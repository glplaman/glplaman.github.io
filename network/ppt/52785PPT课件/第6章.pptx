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fntdata" ContentType="application/x-fontdata"/>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ags/tag1.xml" ContentType="application/vnd.openxmlformats-officedocument.presentationml.tags+xml"/>
  <Override PartName="/ppt/notesSlides/notesSlide4.xml" ContentType="application/vnd.openxmlformats-officedocument.presentationml.notesSlide+xml"/>
  <Override PartName="/ppt/tags/tag2.xml" ContentType="application/vnd.openxmlformats-officedocument.presentationml.tags+xml"/>
  <Override PartName="/ppt/notesSlides/notesSlide5.xml" ContentType="application/vnd.openxmlformats-officedocument.presentationml.notesSlide+xml"/>
  <Override PartName="/ppt/tags/tag3.xml" ContentType="application/vnd.openxmlformats-officedocument.presentationml.tags+xml"/>
  <Override PartName="/ppt/notesSlides/notesSlide6.xml" ContentType="application/vnd.openxmlformats-officedocument.presentationml.notesSlide+xml"/>
  <Override PartName="/ppt/tags/tag4.xml" ContentType="application/vnd.openxmlformats-officedocument.presentationml.tags+xml"/>
  <Override PartName="/ppt/notesSlides/notesSlide7.xml" ContentType="application/vnd.openxmlformats-officedocument.presentationml.notesSlide+xml"/>
  <Override PartName="/ppt/tags/tag5.xml" ContentType="application/vnd.openxmlformats-officedocument.presentationml.tags+xml"/>
  <Override PartName="/ppt/notesSlides/notesSlide8.xml" ContentType="application/vnd.openxmlformats-officedocument.presentationml.notesSlide+xml"/>
  <Override PartName="/ppt/tags/tag6.xml" ContentType="application/vnd.openxmlformats-officedocument.presentationml.tags+xml"/>
  <Override PartName="/ppt/notesSlides/notesSlide9.xml" ContentType="application/vnd.openxmlformats-officedocument.presentationml.notesSlide+xml"/>
  <Override PartName="/ppt/tags/tag7.xml" ContentType="application/vnd.openxmlformats-officedocument.presentationml.tags+xml"/>
  <Override PartName="/ppt/notesSlides/notesSlide10.xml" ContentType="application/vnd.openxmlformats-officedocument.presentationml.notesSlide+xml"/>
  <Override PartName="/ppt/tags/tag8.xml" ContentType="application/vnd.openxmlformats-officedocument.presentationml.tags+xml"/>
  <Override PartName="/ppt/notesSlides/notesSlide11.xml" ContentType="application/vnd.openxmlformats-officedocument.presentationml.notesSlide+xml"/>
  <Override PartName="/ppt/tags/tag9.xml" ContentType="application/vnd.openxmlformats-officedocument.presentationml.tags+xml"/>
  <Override PartName="/ppt/notesSlides/notesSlide12.xml" ContentType="application/vnd.openxmlformats-officedocument.presentationml.notesSlide+xml"/>
  <Override PartName="/ppt/tags/tag10.xml" ContentType="application/vnd.openxmlformats-officedocument.presentationml.tags+xml"/>
  <Override PartName="/ppt/notesSlides/notesSlide13.xml" ContentType="application/vnd.openxmlformats-officedocument.presentationml.notesSlide+xml"/>
  <Override PartName="/ppt/tags/tag11.xml" ContentType="application/vnd.openxmlformats-officedocument.presentationml.tag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tags/tag12.xml" ContentType="application/vnd.openxmlformats-officedocument.presentationml.tags+xml"/>
  <Override PartName="/ppt/notesSlides/notesSlide17.xml" ContentType="application/vnd.openxmlformats-officedocument.presentationml.notesSlide+xml"/>
  <Override PartName="/ppt/tags/tag13.xml" ContentType="application/vnd.openxmlformats-officedocument.presentationml.tags+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ags/tag14.xml" ContentType="application/vnd.openxmlformats-officedocument.presentationml.tags+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tags/tag15.xml" ContentType="application/vnd.openxmlformats-officedocument.presentationml.tags+xml"/>
  <Override PartName="/ppt/notesSlides/notesSlide23.xml" ContentType="application/vnd.openxmlformats-officedocument.presentationml.notesSlide+xml"/>
  <Override PartName="/ppt/tags/tag16.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tags/tag17.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18.xml" ContentType="application/vnd.openxmlformats-officedocument.presentationml.tags+xml"/>
  <Override PartName="/ppt/notesSlides/notesSlide28.xml" ContentType="application/vnd.openxmlformats-officedocument.presentationml.notesSlide+xml"/>
  <Override PartName="/ppt/tags/tag19.xml" ContentType="application/vnd.openxmlformats-officedocument.presentationml.tags+xml"/>
  <Override PartName="/ppt/notesSlides/notesSlide29.xml" ContentType="application/vnd.openxmlformats-officedocument.presentationml.notesSlide+xml"/>
  <Override PartName="/ppt/tags/tag20.xml" ContentType="application/vnd.openxmlformats-officedocument.presentationml.tags+xml"/>
  <Override PartName="/ppt/notesSlides/notesSlide30.xml" ContentType="application/vnd.openxmlformats-officedocument.presentationml.notesSlide+xml"/>
  <Override PartName="/ppt/tags/tag21.xml" ContentType="application/vnd.openxmlformats-officedocument.presentationml.tags+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tags/tag22.xml" ContentType="application/vnd.openxmlformats-officedocument.presentationml.tags+xml"/>
  <Override PartName="/ppt/notesSlides/notesSlide33.xml" ContentType="application/vnd.openxmlformats-officedocument.presentationml.notesSlide+xml"/>
  <Override PartName="/ppt/tags/tag23.xml" ContentType="application/vnd.openxmlformats-officedocument.presentationml.tags+xml"/>
  <Override PartName="/ppt/notesSlides/notesSlide34.xml" ContentType="application/vnd.openxmlformats-officedocument.presentationml.notesSlide+xml"/>
  <Override PartName="/ppt/tags/tag24.xml" ContentType="application/vnd.openxmlformats-officedocument.presentationml.tags+xml"/>
  <Override PartName="/ppt/notesSlides/notesSlide35.xml" ContentType="application/vnd.openxmlformats-officedocument.presentationml.notesSlide+xml"/>
  <Override PartName="/ppt/tags/tag25.xml" ContentType="application/vnd.openxmlformats-officedocument.presentationml.tags+xml"/>
  <Override PartName="/ppt/notesSlides/notesSlide36.xml" ContentType="application/vnd.openxmlformats-officedocument.presentationml.notesSlide+xml"/>
  <Override PartName="/ppt/tags/tag26.xml" ContentType="application/vnd.openxmlformats-officedocument.presentationml.tags+xml"/>
  <Override PartName="/ppt/notesSlides/notesSlide37.xml" ContentType="application/vnd.openxmlformats-officedocument.presentationml.notesSlide+xml"/>
  <Override PartName="/ppt/tags/tag27.xml" ContentType="application/vnd.openxmlformats-officedocument.presentationml.tags+xml"/>
  <Override PartName="/ppt/notesSlides/notesSlide38.xml" ContentType="application/vnd.openxmlformats-officedocument.presentationml.notesSlide+xml"/>
  <Override PartName="/ppt/tags/tag28.xml" ContentType="application/vnd.openxmlformats-officedocument.presentationml.tags+xml"/>
  <Override PartName="/ppt/notesSlides/notesSlide39.xml" ContentType="application/vnd.openxmlformats-officedocument.presentationml.notesSlide+xml"/>
  <Override PartName="/ppt/tags/tag29.xml" ContentType="application/vnd.openxmlformats-officedocument.presentationml.tags+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tags/tag30.xml" ContentType="application/vnd.openxmlformats-officedocument.presentationml.tags+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tags/tag31.xml" ContentType="application/vnd.openxmlformats-officedocument.presentationml.tags+xml"/>
  <Override PartName="/ppt/notesSlides/notesSlide49.xml" ContentType="application/vnd.openxmlformats-officedocument.presentationml.notesSlide+xml"/>
  <Override PartName="/ppt/tags/tag32.xml" ContentType="application/vnd.openxmlformats-officedocument.presentationml.tags+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tags/tag33.xml" ContentType="application/vnd.openxmlformats-officedocument.presentationml.tags+xml"/>
  <Override PartName="/ppt/notesSlides/notesSlide52.xml" ContentType="application/vnd.openxmlformats-officedocument.presentationml.notesSlide+xml"/>
  <Override PartName="/ppt/tags/tag34.xml" ContentType="application/vnd.openxmlformats-officedocument.presentationml.tags+xml"/>
  <Override PartName="/ppt/notesSlides/notesSlide53.xml" ContentType="application/vnd.openxmlformats-officedocument.presentationml.notesSlide+xml"/>
  <Override PartName="/ppt/tags/tag35.xml" ContentType="application/vnd.openxmlformats-officedocument.presentationml.tags+xml"/>
  <Override PartName="/ppt/notesSlides/notesSlide54.xml" ContentType="application/vnd.openxmlformats-officedocument.presentationml.notesSlide+xml"/>
  <Override PartName="/ppt/tags/tag36.xml" ContentType="application/vnd.openxmlformats-officedocument.presentationml.tags+xml"/>
  <Override PartName="/ppt/notesSlides/notesSlide55.xml" ContentType="application/vnd.openxmlformats-officedocument.presentationml.notesSlide+xml"/>
  <Override PartName="/ppt/tags/tag37.xml" ContentType="application/vnd.openxmlformats-officedocument.presentationml.tags+xml"/>
  <Override PartName="/ppt/notesSlides/notesSlide56.xml" ContentType="application/vnd.openxmlformats-officedocument.presentationml.notesSlide+xml"/>
  <Override PartName="/ppt/tags/tag38.xml" ContentType="application/vnd.openxmlformats-officedocument.presentationml.tags+xml"/>
  <Override PartName="/ppt/notesSlides/notesSlide57.xml" ContentType="application/vnd.openxmlformats-officedocument.presentationml.notesSlide+xml"/>
  <Override PartName="/ppt/tags/tag39.xml" ContentType="application/vnd.openxmlformats-officedocument.presentationml.tags+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tags/tag40.xml" ContentType="application/vnd.openxmlformats-officedocument.presentationml.tags+xml"/>
  <Override PartName="/ppt/notesSlides/notesSlide61.xml" ContentType="application/vnd.openxmlformats-officedocument.presentationml.notesSlide+xml"/>
  <Override PartName="/ppt/tags/tag41.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tags/tag42.xml" ContentType="application/vnd.openxmlformats-officedocument.presentationml.tags+xml"/>
  <Override PartName="/ppt/notesSlides/notesSlide66.xml" ContentType="application/vnd.openxmlformats-officedocument.presentationml.notesSlide+xml"/>
  <Override PartName="/ppt/tags/tag43.xml" ContentType="application/vnd.openxmlformats-officedocument.presentationml.tags+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tags/tag44.xml" ContentType="application/vnd.openxmlformats-officedocument.presentationml.tags+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tags/tag45.xml" ContentType="application/vnd.openxmlformats-officedocument.presentationml.tags+xml"/>
  <Override PartName="/ppt/notesSlides/notesSlide75.xml" ContentType="application/vnd.openxmlformats-officedocument.presentationml.notesSlide+xml"/>
  <Override PartName="/ppt/tags/tag46.xml" ContentType="application/vnd.openxmlformats-officedocument.presentationml.tags+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tags/tag47.xml" ContentType="application/vnd.openxmlformats-officedocument.presentationml.tags+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tags/tag48.xml" ContentType="application/vnd.openxmlformats-officedocument.presentationml.tags+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tags/tag49.xml" ContentType="application/vnd.openxmlformats-officedocument.presentationml.tags+xml"/>
  <Override PartName="/ppt/notesSlides/notesSlide103.xml" ContentType="application/vnd.openxmlformats-officedocument.presentationml.notesSlide+xml"/>
  <Override PartName="/ppt/tags/tag50.xml" ContentType="application/vnd.openxmlformats-officedocument.presentationml.tags+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tags/tag51.xml" ContentType="application/vnd.openxmlformats-officedocument.presentationml.tags+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tags/tag52.xml" ContentType="application/vnd.openxmlformats-officedocument.presentationml.tags+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tags/tag53.xml" ContentType="application/vnd.openxmlformats-officedocument.presentationml.tags+xml"/>
  <Override PartName="/ppt/notesSlides/notesSlide112.xml" ContentType="application/vnd.openxmlformats-officedocument.presentationml.notesSlide+xml"/>
  <Override PartName="/ppt/tags/tag54.xml" ContentType="application/vnd.openxmlformats-officedocument.presentationml.tags+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tags/tag55.xml" ContentType="application/vnd.openxmlformats-officedocument.presentationml.tags+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tags/tag56.xml" ContentType="application/vnd.openxmlformats-officedocument.presentationml.tags+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tags/tag57.xml" ContentType="application/vnd.openxmlformats-officedocument.presentationml.tags+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tags/tag58.xml" ContentType="application/vnd.openxmlformats-officedocument.presentationml.tags+xml"/>
  <Override PartName="/ppt/notesSlides/notesSlide125.xml" ContentType="application/vnd.openxmlformats-officedocument.presentationml.notesSlide+xml"/>
  <Override PartName="/ppt/tags/tag59.xml" ContentType="application/vnd.openxmlformats-officedocument.presentationml.tags+xml"/>
  <Override PartName="/ppt/notesSlides/notesSlide126.xml" ContentType="application/vnd.openxmlformats-officedocument.presentationml.notesSlide+xml"/>
  <Override PartName="/ppt/tags/tag60.xml" ContentType="application/vnd.openxmlformats-officedocument.presentationml.tags+xml"/>
  <Override PartName="/ppt/notesSlides/notesSlide127.xml" ContentType="application/vnd.openxmlformats-officedocument.presentationml.notesSlide+xml"/>
  <Override PartName="/ppt/tags/tag61.xml" ContentType="application/vnd.openxmlformats-officedocument.presentationml.tags+xml"/>
  <Override PartName="/ppt/notesSlides/notesSlide128.xml" ContentType="application/vnd.openxmlformats-officedocument.presentationml.notesSlide+xml"/>
  <Override PartName="/ppt/tags/tag62.xml" ContentType="application/vnd.openxmlformats-officedocument.presentationml.tags+xml"/>
  <Override PartName="/ppt/notesSlides/notesSlide129.xml" ContentType="application/vnd.openxmlformats-officedocument.presentationml.notesSlide+xml"/>
  <Override PartName="/ppt/tags/tag63.xml" ContentType="application/vnd.openxmlformats-officedocument.presentationml.tags+xml"/>
  <Override PartName="/ppt/notesSlides/notesSlide130.xml" ContentType="application/vnd.openxmlformats-officedocument.presentationml.notesSlide+xml"/>
  <Override PartName="/ppt/tags/tag64.xml" ContentType="application/vnd.openxmlformats-officedocument.presentationml.tags+xml"/>
  <Override PartName="/ppt/notesSlides/notesSlide131.xml" ContentType="application/vnd.openxmlformats-officedocument.presentationml.notesSlide+xml"/>
  <Override PartName="/ppt/tags/tag65.xml" ContentType="application/vnd.openxmlformats-officedocument.presentationml.tags+xml"/>
  <Override PartName="/ppt/notesSlides/notesSlide132.xml" ContentType="application/vnd.openxmlformats-officedocument.presentationml.notesSlide+xml"/>
  <Override PartName="/ppt/tags/tag66.xml" ContentType="application/vnd.openxmlformats-officedocument.presentationml.tags+xml"/>
  <Override PartName="/ppt/notesSlides/notesSlide133.xml" ContentType="application/vnd.openxmlformats-officedocument.presentationml.notesSlide+xml"/>
  <Override PartName="/ppt/tags/tag67.xml" ContentType="application/vnd.openxmlformats-officedocument.presentationml.tags+xml"/>
  <Override PartName="/ppt/notesSlides/notesSlide134.xml" ContentType="application/vnd.openxmlformats-officedocument.presentationml.notesSlide+xml"/>
  <Override PartName="/ppt/tags/tag68.xml" ContentType="application/vnd.openxmlformats-officedocument.presentationml.tags+xml"/>
  <Override PartName="/ppt/notesSlides/notesSlide135.xml" ContentType="application/vnd.openxmlformats-officedocument.presentationml.notesSlide+xml"/>
  <Override PartName="/ppt/tags/tag69.xml" ContentType="application/vnd.openxmlformats-officedocument.presentationml.tags+xml"/>
  <Override PartName="/ppt/notesSlides/notesSlide136.xml" ContentType="application/vnd.openxmlformats-officedocument.presentationml.notesSlide+xml"/>
  <Override PartName="/ppt/tags/tag70.xml" ContentType="application/vnd.openxmlformats-officedocument.presentationml.tags+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tags/tag71.xml" ContentType="application/vnd.openxmlformats-officedocument.presentationml.tags+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tags/tag72.xml" ContentType="application/vnd.openxmlformats-officedocument.presentationml.tags+xml"/>
  <Override PartName="/ppt/notesSlides/notesSlide144.xml" ContentType="application/vnd.openxmlformats-officedocument.presentationml.notesSlide+xml"/>
  <Override PartName="/ppt/tags/tag73.xml" ContentType="application/vnd.openxmlformats-officedocument.presentationml.tags+xml"/>
  <Override PartName="/ppt/notesSlides/notesSlide145.xml" ContentType="application/vnd.openxmlformats-officedocument.presentationml.notesSlide+xml"/>
  <Override PartName="/ppt/tags/tag74.xml" ContentType="application/vnd.openxmlformats-officedocument.presentationml.tags+xml"/>
  <Override PartName="/ppt/notesSlides/notesSlide146.xml" ContentType="application/vnd.openxmlformats-officedocument.presentationml.notesSlide+xml"/>
  <Override PartName="/ppt/tags/tag75.xml" ContentType="application/vnd.openxmlformats-officedocument.presentationml.tags+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tags/tag76.xml" ContentType="application/vnd.openxmlformats-officedocument.presentationml.tags+xml"/>
  <Override PartName="/ppt/notesSlides/notesSlide149.xml" ContentType="application/vnd.openxmlformats-officedocument.presentationml.notesSlide+xml"/>
  <Override PartName="/ppt/tags/tag77.xml" ContentType="application/vnd.openxmlformats-officedocument.presentationml.tags+xml"/>
  <Override PartName="/ppt/notesSlides/notesSlide150.xml" ContentType="application/vnd.openxmlformats-officedocument.presentationml.notesSlide+xml"/>
  <Override PartName="/ppt/tags/tag78.xml" ContentType="application/vnd.openxmlformats-officedocument.presentationml.tags+xml"/>
  <Override PartName="/ppt/notesSlides/notesSlide151.xml" ContentType="application/vnd.openxmlformats-officedocument.presentationml.notesSlide+xml"/>
  <Override PartName="/ppt/tags/tag79.xml" ContentType="application/vnd.openxmlformats-officedocument.presentationml.tags+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tags/tag80.xml" ContentType="application/vnd.openxmlformats-officedocument.presentationml.tags+xml"/>
  <Override PartName="/ppt/notesSlides/notesSlide154.xml" ContentType="application/vnd.openxmlformats-officedocument.presentationml.notesSlide+xml"/>
  <Override PartName="/ppt/tags/tag81.xml" ContentType="application/vnd.openxmlformats-officedocument.presentationml.tags+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tags/tag82.xml" ContentType="application/vnd.openxmlformats-officedocument.presentationml.tags+xml"/>
  <Override PartName="/ppt/notesSlides/notesSlide157.xml" ContentType="application/vnd.openxmlformats-officedocument.presentationml.notesSlide+xml"/>
  <Override PartName="/ppt/tags/tag83.xml" ContentType="application/vnd.openxmlformats-officedocument.presentationml.tags+xml"/>
  <Override PartName="/ppt/notesSlides/notesSlide158.xml" ContentType="application/vnd.openxmlformats-officedocument.presentationml.notesSlide+xml"/>
  <Override PartName="/ppt/tags/tag84.xml" ContentType="application/vnd.openxmlformats-officedocument.presentationml.tags+xml"/>
  <Override PartName="/ppt/notesSlides/notesSlide159.xml" ContentType="application/vnd.openxmlformats-officedocument.presentationml.notesSlide+xml"/>
  <Override PartName="/ppt/tags/tag85.xml" ContentType="application/vnd.openxmlformats-officedocument.presentationml.tags+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tags/tag86.xml" ContentType="application/vnd.openxmlformats-officedocument.presentationml.tags+xml"/>
  <Override PartName="/ppt/notesSlides/notesSlide164.xml" ContentType="application/vnd.openxmlformats-officedocument.presentationml.notesSlide+xml"/>
  <Override PartName="/ppt/tags/tag87.xml" ContentType="application/vnd.openxmlformats-officedocument.presentationml.tags+xml"/>
  <Override PartName="/ppt/notesSlides/notesSlide165.xml" ContentType="application/vnd.openxmlformats-officedocument.presentationml.notesSlide+xml"/>
  <Override PartName="/ppt/tags/tag88.xml" ContentType="application/vnd.openxmlformats-officedocument.presentationml.tags+xml"/>
  <Override PartName="/ppt/notesSlides/notesSlide166.xml" ContentType="application/vnd.openxmlformats-officedocument.presentationml.notesSlide+xml"/>
  <Override PartName="/ppt/tags/tag89.xml" ContentType="application/vnd.openxmlformats-officedocument.presentationml.tags+xml"/>
  <Override PartName="/ppt/notesSlides/notesSlide167.xml" ContentType="application/vnd.openxmlformats-officedocument.presentationml.notesSlide+xml"/>
  <Override PartName="/ppt/tags/tag90.xml" ContentType="application/vnd.openxmlformats-officedocument.presentationml.tags+xml"/>
  <Override PartName="/ppt/notesSlides/notesSlide168.xml" ContentType="application/vnd.openxmlformats-officedocument.presentationml.notesSlide+xml"/>
  <Override PartName="/ppt/tags/tag91.xml" ContentType="application/vnd.openxmlformats-officedocument.presentationml.tags+xml"/>
  <Override PartName="/ppt/notesSlides/notesSlide169.xml" ContentType="application/vnd.openxmlformats-officedocument.presentationml.notesSlide+xml"/>
  <Override PartName="/ppt/tags/tag92.xml" ContentType="application/vnd.openxmlformats-officedocument.presentationml.tags+xml"/>
  <Override PartName="/ppt/notesSlides/notesSlide170.xml" ContentType="application/vnd.openxmlformats-officedocument.presentationml.notesSlide+xml"/>
  <Override PartName="/ppt/tags/tag93.xml" ContentType="application/vnd.openxmlformats-officedocument.presentationml.tags+xml"/>
  <Override PartName="/ppt/notesSlides/notesSlide171.xml" ContentType="application/vnd.openxmlformats-officedocument.presentationml.notesSlide+xml"/>
  <Override PartName="/ppt/tags/tag94.xml" ContentType="application/vnd.openxmlformats-officedocument.presentationml.tags+xml"/>
  <Override PartName="/ppt/notesSlides/notesSlide172.xml" ContentType="application/vnd.openxmlformats-officedocument.presentationml.notesSlide+xml"/>
  <Override PartName="/ppt/tags/tag95.xml" ContentType="application/vnd.openxmlformats-officedocument.presentationml.tags+xml"/>
  <Override PartName="/ppt/notesSlides/notesSlide173.xml" ContentType="application/vnd.openxmlformats-officedocument.presentationml.notesSlide+xml"/>
  <Override PartName="/ppt/tags/tag96.xml" ContentType="application/vnd.openxmlformats-officedocument.presentationml.tags+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tags/tag97.xml" ContentType="application/vnd.openxmlformats-officedocument.presentationml.tags+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tags/tag98.xml" ContentType="application/vnd.openxmlformats-officedocument.presentationml.tags+xml"/>
  <Override PartName="/ppt/notesSlides/notesSlide178.xml" ContentType="application/vnd.openxmlformats-officedocument.presentationml.notesSlide+xml"/>
  <Override PartName="/ppt/tags/tag99.xml" ContentType="application/vnd.openxmlformats-officedocument.presentationml.tags+xml"/>
  <Override PartName="/ppt/notesSlides/notesSlide179.xml" ContentType="application/vnd.openxmlformats-officedocument.presentationml.notesSlide+xml"/>
  <Override PartName="/ppt/tags/tag100.xml" ContentType="application/vnd.openxmlformats-officedocument.presentationml.tags+xml"/>
  <Override PartName="/ppt/notesSlides/notesSlide180.xml" ContentType="application/vnd.openxmlformats-officedocument.presentationml.notesSlide+xml"/>
  <Override PartName="/ppt/tags/tag101.xml" ContentType="application/vnd.openxmlformats-officedocument.presentationml.tags+xml"/>
  <Override PartName="/ppt/notesSlides/notesSlide181.xml" ContentType="application/vnd.openxmlformats-officedocument.presentationml.notesSlide+xml"/>
  <Override PartName="/ppt/tags/tag102.xml" ContentType="application/vnd.openxmlformats-officedocument.presentationml.tags+xml"/>
  <Override PartName="/ppt/notesSlides/notesSlide182.xml" ContentType="application/vnd.openxmlformats-officedocument.presentationml.notesSlide+xml"/>
  <Override PartName="/ppt/tags/tag103.xml" ContentType="application/vnd.openxmlformats-officedocument.presentationml.tags+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tags/tag104.xml" ContentType="application/vnd.openxmlformats-officedocument.presentationml.tags+xml"/>
  <Override PartName="/ppt/notesSlides/notesSlide187.xml" ContentType="application/vnd.openxmlformats-officedocument.presentationml.notesSlide+xml"/>
  <Override PartName="/ppt/tags/tag105.xml" ContentType="application/vnd.openxmlformats-officedocument.presentationml.tags+xml"/>
  <Override PartName="/ppt/notesSlides/notesSlide188.xml" ContentType="application/vnd.openxmlformats-officedocument.presentationml.notesSlide+xml"/>
  <Override PartName="/ppt/tags/tag106.xml" ContentType="application/vnd.openxmlformats-officedocument.presentationml.tags+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tags/tag107.xml" ContentType="application/vnd.openxmlformats-officedocument.presentationml.tags+xml"/>
  <Override PartName="/ppt/notesSlides/notesSlide191.xml" ContentType="application/vnd.openxmlformats-officedocument.presentationml.notesSlide+xml"/>
  <Override PartName="/ppt/tags/tag108.xml" ContentType="application/vnd.openxmlformats-officedocument.presentationml.tags+xml"/>
  <Override PartName="/ppt/notesSlides/notesSlide192.xml" ContentType="application/vnd.openxmlformats-officedocument.presentationml.notesSlide+xml"/>
  <Override PartName="/ppt/tags/tag109.xml" ContentType="application/vnd.openxmlformats-officedocument.presentationml.tags+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tags/tag110.xml" ContentType="application/vnd.openxmlformats-officedocument.presentationml.tags+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tags/tag111.xml" ContentType="application/vnd.openxmlformats-officedocument.presentationml.tags+xml"/>
  <Override PartName="/ppt/notesSlides/notesSlide200.xml" ContentType="application/vnd.openxmlformats-officedocument.presentationml.notesSlide+xml"/>
  <Override PartName="/ppt/tags/tag112.xml" ContentType="application/vnd.openxmlformats-officedocument.presentationml.tags+xml"/>
  <Override PartName="/ppt/notesSlides/notesSlide201.xml" ContentType="application/vnd.openxmlformats-officedocument.presentationml.notesSlide+xml"/>
  <Override PartName="/ppt/tags/tag113.xml" ContentType="application/vnd.openxmlformats-officedocument.presentationml.tags+xml"/>
  <Override PartName="/ppt/notesSlides/notesSlide202.xml" ContentType="application/vnd.openxmlformats-officedocument.presentationml.notesSlide+xml"/>
  <Override PartName="/ppt/tags/tag114.xml" ContentType="application/vnd.openxmlformats-officedocument.presentationml.tags+xml"/>
  <Override PartName="/ppt/notesSlides/notesSlide203.xml" ContentType="application/vnd.openxmlformats-officedocument.presentationml.notesSlide+xml"/>
  <Override PartName="/ppt/tags/tag115.xml" ContentType="application/vnd.openxmlformats-officedocument.presentationml.tags+xml"/>
  <Override PartName="/ppt/notesSlides/notesSlide204.xml" ContentType="application/vnd.openxmlformats-officedocument.presentationml.notesSlide+xml"/>
  <Override PartName="/ppt/tags/tag116.xml" ContentType="application/vnd.openxmlformats-officedocument.presentationml.tags+xml"/>
  <Override PartName="/ppt/notesSlides/notesSlide205.xml" ContentType="application/vnd.openxmlformats-officedocument.presentationml.notesSlide+xml"/>
  <Override PartName="/ppt/tags/tag117.xml" ContentType="application/vnd.openxmlformats-officedocument.presentationml.tags+xml"/>
  <Override PartName="/ppt/notesSlides/notesSlide206.xml" ContentType="application/vnd.openxmlformats-officedocument.presentationml.notesSlide+xml"/>
  <Override PartName="/ppt/tags/tag118.xml" ContentType="application/vnd.openxmlformats-officedocument.presentationml.tags+xml"/>
  <Override PartName="/ppt/notesSlides/notesSlide207.xml" ContentType="application/vnd.openxmlformats-officedocument.presentationml.notesSlide+xml"/>
  <Override PartName="/ppt/tags/tag119.xml" ContentType="application/vnd.openxmlformats-officedocument.presentationml.tags+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tags/tag120.xml" ContentType="application/vnd.openxmlformats-officedocument.presentationml.tags+xml"/>
  <Override PartName="/ppt/notesSlides/notesSlide212.xml" ContentType="application/vnd.openxmlformats-officedocument.presentationml.notesSlide+xml"/>
  <Override PartName="/ppt/tags/tag121.xml" ContentType="application/vnd.openxmlformats-officedocument.presentationml.tags+xml"/>
  <Override PartName="/ppt/notesSlides/notesSlide213.xml" ContentType="application/vnd.openxmlformats-officedocument.presentationml.notesSlide+xml"/>
  <Override PartName="/ppt/tags/tag122.xml" ContentType="application/vnd.openxmlformats-officedocument.presentationml.tags+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tags/tag123.xml" ContentType="application/vnd.openxmlformats-officedocument.presentationml.tags+xml"/>
  <Override PartName="/ppt/notesSlides/notesSlide216.xml" ContentType="application/vnd.openxmlformats-officedocument.presentationml.notesSlide+xml"/>
  <Override PartName="/ppt/tags/tag124.xml" ContentType="application/vnd.openxmlformats-officedocument.presentationml.tags+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tags/tag125.xml" ContentType="application/vnd.openxmlformats-officedocument.presentationml.tags+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tags/tag126.xml" ContentType="application/vnd.openxmlformats-officedocument.presentationml.tags+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tags/tag127.xml" ContentType="application/vnd.openxmlformats-officedocument.presentationml.tags+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tags/tag128.xml" ContentType="application/vnd.openxmlformats-officedocument.presentationml.tags+xml"/>
  <Override PartName="/ppt/notesSlides/notesSlide234.xml" ContentType="application/vnd.openxmlformats-officedocument.presentationml.notesSlide+xml"/>
  <Override PartName="/ppt/tags/tag129.xml" ContentType="application/vnd.openxmlformats-officedocument.presentationml.tags+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tags/tag130.xml" ContentType="application/vnd.openxmlformats-officedocument.presentationml.tags+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tags/tag131.xml" ContentType="application/vnd.openxmlformats-officedocument.presentationml.tags+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tags/tag132.xml" ContentType="application/vnd.openxmlformats-officedocument.presentationml.tags+xml"/>
  <Override PartName="/ppt/notesSlides/notesSlide247.xml" ContentType="application/vnd.openxmlformats-officedocument.presentationml.notesSlide+xml"/>
  <Override PartName="/ppt/tags/tag133.xml" ContentType="application/vnd.openxmlformats-officedocument.presentationml.tags+xml"/>
  <Override PartName="/ppt/notesSlides/notesSlide248.xml" ContentType="application/vnd.openxmlformats-officedocument.presentationml.notesSlide+xml"/>
  <Override PartName="/ppt/tags/tag134.xml" ContentType="application/vnd.openxmlformats-officedocument.presentationml.tags+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tags/tag135.xml" ContentType="application/vnd.openxmlformats-officedocument.presentationml.tags+xml"/>
  <Override PartName="/ppt/notesSlides/notesSlide251.xml" ContentType="application/vnd.openxmlformats-officedocument.presentationml.notesSlide+xml"/>
  <Override PartName="/ppt/tags/tag136.xml" ContentType="application/vnd.openxmlformats-officedocument.presentationml.tags+xml"/>
  <Override PartName="/ppt/notesSlides/notesSlide252.xml" ContentType="application/vnd.openxmlformats-officedocument.presentationml.notesSlide+xml"/>
  <Override PartName="/ppt/tags/tag137.xml" ContentType="application/vnd.openxmlformats-officedocument.presentationml.tags+xml"/>
  <Override PartName="/ppt/notesSlides/notesSlide253.xml" ContentType="application/vnd.openxmlformats-officedocument.presentationml.notesSlide+xml"/>
  <Override PartName="/ppt/tags/tag138.xml" ContentType="application/vnd.openxmlformats-officedocument.presentationml.tags+xml"/>
  <Override PartName="/ppt/notesSlides/notesSlide254.xml" ContentType="application/vnd.openxmlformats-officedocument.presentationml.notesSlide+xml"/>
  <Override PartName="/ppt/tags/tag139.xml" ContentType="application/vnd.openxmlformats-officedocument.presentationml.tags+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tags/tag140.xml" ContentType="application/vnd.openxmlformats-officedocument.presentationml.tags+xml"/>
  <Override PartName="/ppt/notesSlides/notesSlide257.xml" ContentType="application/vnd.openxmlformats-officedocument.presentationml.notesSlide+xml"/>
  <Override PartName="/ppt/tags/tag141.xml" ContentType="application/vnd.openxmlformats-officedocument.presentationml.tags+xml"/>
  <Override PartName="/ppt/notesSlides/notesSlide258.xml" ContentType="application/vnd.openxmlformats-officedocument.presentationml.notesSlide+xml"/>
  <Override PartName="/ppt/tags/tag142.xml" ContentType="application/vnd.openxmlformats-officedocument.presentationml.tags+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tags/tag143.xml" ContentType="application/vnd.openxmlformats-officedocument.presentationml.tags+xml"/>
  <Override PartName="/ppt/notesSlides/notesSlide261.xml" ContentType="application/vnd.openxmlformats-officedocument.presentationml.notesSlide+xml"/>
  <Override PartName="/ppt/tags/tag144.xml" ContentType="application/vnd.openxmlformats-officedocument.presentationml.tags+xml"/>
  <Override PartName="/ppt/notesSlides/notesSlide262.xml" ContentType="application/vnd.openxmlformats-officedocument.presentationml.notesSlide+xml"/>
  <Override PartName="/ppt/tags/tag145.xml" ContentType="application/vnd.openxmlformats-officedocument.presentationml.tags+xml"/>
  <Override PartName="/ppt/notesSlides/notesSlide263.xml" ContentType="application/vnd.openxmlformats-officedocument.presentationml.notesSlide+xml"/>
  <Override PartName="/ppt/tags/tag146.xml" ContentType="application/vnd.openxmlformats-officedocument.presentationml.tags+xml"/>
  <Override PartName="/ppt/notesSlides/notesSlide264.xml" ContentType="application/vnd.openxmlformats-officedocument.presentationml.notesSlide+xml"/>
  <Override PartName="/ppt/tags/tag147.xml" ContentType="application/vnd.openxmlformats-officedocument.presentationml.tags+xml"/>
  <Override PartName="/ppt/notesSlides/notesSlide265.xml" ContentType="application/vnd.openxmlformats-officedocument.presentationml.notesSlide+xml"/>
  <Override PartName="/ppt/tags/tag148.xml" ContentType="application/vnd.openxmlformats-officedocument.presentationml.tags+xml"/>
  <Override PartName="/ppt/notesSlides/notesSlide266.xml" ContentType="application/vnd.openxmlformats-officedocument.presentationml.notesSlide+xml"/>
  <Override PartName="/ppt/tags/tag149.xml" ContentType="application/vnd.openxmlformats-officedocument.presentationml.tags+xml"/>
  <Override PartName="/ppt/notesSlides/notesSlide267.xml" ContentType="application/vnd.openxmlformats-officedocument.presentationml.notesSlide+xml"/>
  <Override PartName="/ppt/tags/tag150.xml" ContentType="application/vnd.openxmlformats-officedocument.presentationml.tags+xml"/>
  <Override PartName="/ppt/notesSlides/notesSlide268.xml" ContentType="application/vnd.openxmlformats-officedocument.presentationml.notesSlide+xml"/>
  <Override PartName="/ppt/tags/tag151.xml" ContentType="application/vnd.openxmlformats-officedocument.presentationml.tags+xml"/>
  <Override PartName="/ppt/notesSlides/notesSlide269.xml" ContentType="application/vnd.openxmlformats-officedocument.presentationml.notesSlide+xml"/>
  <Override PartName="/ppt/tags/tag152.xml" ContentType="application/vnd.openxmlformats-officedocument.presentationml.tags+xml"/>
  <Override PartName="/ppt/notesSlides/notesSlide270.xml" ContentType="application/vnd.openxmlformats-officedocument.presentationml.notesSlide+xml"/>
  <Override PartName="/ppt/tags/tag153.xml" ContentType="application/vnd.openxmlformats-officedocument.presentationml.tags+xml"/>
  <Override PartName="/ppt/notesSlides/notesSlide27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318"/>
  </p:notesMasterIdLst>
  <p:sldIdLst>
    <p:sldId id="257" r:id="rId2"/>
    <p:sldId id="646" r:id="rId3"/>
    <p:sldId id="647" r:id="rId4"/>
    <p:sldId id="648" r:id="rId5"/>
    <p:sldId id="649" r:id="rId6"/>
    <p:sldId id="650" r:id="rId7"/>
    <p:sldId id="260" r:id="rId8"/>
    <p:sldId id="577" r:id="rId9"/>
    <p:sldId id="575" r:id="rId10"/>
    <p:sldId id="261" r:id="rId11"/>
    <p:sldId id="582" r:id="rId12"/>
    <p:sldId id="584" r:id="rId13"/>
    <p:sldId id="267" r:id="rId14"/>
    <p:sldId id="585" r:id="rId15"/>
    <p:sldId id="645" r:id="rId16"/>
    <p:sldId id="651" r:id="rId17"/>
    <p:sldId id="652" r:id="rId18"/>
    <p:sldId id="653" r:id="rId19"/>
    <p:sldId id="654" r:id="rId20"/>
    <p:sldId id="655" r:id="rId21"/>
    <p:sldId id="656" r:id="rId22"/>
    <p:sldId id="657" r:id="rId23"/>
    <p:sldId id="658" r:id="rId24"/>
    <p:sldId id="659" r:id="rId25"/>
    <p:sldId id="660" r:id="rId26"/>
    <p:sldId id="661" r:id="rId27"/>
    <p:sldId id="662" r:id="rId28"/>
    <p:sldId id="663" r:id="rId29"/>
    <p:sldId id="664" r:id="rId30"/>
    <p:sldId id="665" r:id="rId31"/>
    <p:sldId id="666" r:id="rId32"/>
    <p:sldId id="667" r:id="rId33"/>
    <p:sldId id="668" r:id="rId34"/>
    <p:sldId id="907" r:id="rId35"/>
    <p:sldId id="669" r:id="rId36"/>
    <p:sldId id="670" r:id="rId37"/>
    <p:sldId id="671" r:id="rId38"/>
    <p:sldId id="672" r:id="rId39"/>
    <p:sldId id="673" r:id="rId40"/>
    <p:sldId id="674" r:id="rId41"/>
    <p:sldId id="675" r:id="rId42"/>
    <p:sldId id="676" r:id="rId43"/>
    <p:sldId id="677" r:id="rId44"/>
    <p:sldId id="678" r:id="rId45"/>
    <p:sldId id="679" r:id="rId46"/>
    <p:sldId id="680" r:id="rId47"/>
    <p:sldId id="681" r:id="rId48"/>
    <p:sldId id="682" r:id="rId49"/>
    <p:sldId id="683" r:id="rId50"/>
    <p:sldId id="684" r:id="rId51"/>
    <p:sldId id="685" r:id="rId52"/>
    <p:sldId id="686" r:id="rId53"/>
    <p:sldId id="687" r:id="rId54"/>
    <p:sldId id="688" r:id="rId55"/>
    <p:sldId id="689" r:id="rId56"/>
    <p:sldId id="690" r:id="rId57"/>
    <p:sldId id="691" r:id="rId58"/>
    <p:sldId id="692" r:id="rId59"/>
    <p:sldId id="693" r:id="rId60"/>
    <p:sldId id="694" r:id="rId61"/>
    <p:sldId id="695" r:id="rId62"/>
    <p:sldId id="696" r:id="rId63"/>
    <p:sldId id="697" r:id="rId64"/>
    <p:sldId id="698" r:id="rId65"/>
    <p:sldId id="699" r:id="rId66"/>
    <p:sldId id="700" r:id="rId67"/>
    <p:sldId id="701" r:id="rId68"/>
    <p:sldId id="702" r:id="rId69"/>
    <p:sldId id="703" r:id="rId70"/>
    <p:sldId id="704" r:id="rId71"/>
    <p:sldId id="705" r:id="rId72"/>
    <p:sldId id="706" r:id="rId73"/>
    <p:sldId id="707" r:id="rId74"/>
    <p:sldId id="708" r:id="rId75"/>
    <p:sldId id="709" r:id="rId76"/>
    <p:sldId id="710" r:id="rId77"/>
    <p:sldId id="711" r:id="rId78"/>
    <p:sldId id="712" r:id="rId79"/>
    <p:sldId id="713" r:id="rId80"/>
    <p:sldId id="714" r:id="rId81"/>
    <p:sldId id="908" r:id="rId82"/>
    <p:sldId id="909" r:id="rId83"/>
    <p:sldId id="910" r:id="rId84"/>
    <p:sldId id="911" r:id="rId85"/>
    <p:sldId id="912" r:id="rId86"/>
    <p:sldId id="913" r:id="rId87"/>
    <p:sldId id="914" r:id="rId88"/>
    <p:sldId id="915" r:id="rId89"/>
    <p:sldId id="916" r:id="rId90"/>
    <p:sldId id="917" r:id="rId91"/>
    <p:sldId id="918" r:id="rId92"/>
    <p:sldId id="919" r:id="rId93"/>
    <p:sldId id="920" r:id="rId94"/>
    <p:sldId id="921" r:id="rId95"/>
    <p:sldId id="922" r:id="rId96"/>
    <p:sldId id="923" r:id="rId97"/>
    <p:sldId id="924" r:id="rId98"/>
    <p:sldId id="925" r:id="rId99"/>
    <p:sldId id="926" r:id="rId100"/>
    <p:sldId id="927" r:id="rId101"/>
    <p:sldId id="928" r:id="rId102"/>
    <p:sldId id="929" r:id="rId103"/>
    <p:sldId id="930" r:id="rId104"/>
    <p:sldId id="931" r:id="rId105"/>
    <p:sldId id="715" r:id="rId106"/>
    <p:sldId id="716" r:id="rId107"/>
    <p:sldId id="717" r:id="rId108"/>
    <p:sldId id="718" r:id="rId109"/>
    <p:sldId id="719" r:id="rId110"/>
    <p:sldId id="720" r:id="rId111"/>
    <p:sldId id="721" r:id="rId112"/>
    <p:sldId id="722" r:id="rId113"/>
    <p:sldId id="723" r:id="rId114"/>
    <p:sldId id="724" r:id="rId115"/>
    <p:sldId id="725" r:id="rId116"/>
    <p:sldId id="726" r:id="rId117"/>
    <p:sldId id="727" r:id="rId118"/>
    <p:sldId id="728" r:id="rId119"/>
    <p:sldId id="729" r:id="rId120"/>
    <p:sldId id="730" r:id="rId121"/>
    <p:sldId id="731" r:id="rId122"/>
    <p:sldId id="732" r:id="rId123"/>
    <p:sldId id="733" r:id="rId124"/>
    <p:sldId id="734" r:id="rId125"/>
    <p:sldId id="735" r:id="rId126"/>
    <p:sldId id="736" r:id="rId127"/>
    <p:sldId id="737" r:id="rId128"/>
    <p:sldId id="738" r:id="rId129"/>
    <p:sldId id="739" r:id="rId130"/>
    <p:sldId id="740" r:id="rId131"/>
    <p:sldId id="741" r:id="rId132"/>
    <p:sldId id="742" r:id="rId133"/>
    <p:sldId id="743" r:id="rId134"/>
    <p:sldId id="744" r:id="rId135"/>
    <p:sldId id="745" r:id="rId136"/>
    <p:sldId id="746" r:id="rId137"/>
    <p:sldId id="747" r:id="rId138"/>
    <p:sldId id="748" r:id="rId139"/>
    <p:sldId id="749" r:id="rId140"/>
    <p:sldId id="750" r:id="rId141"/>
    <p:sldId id="751" r:id="rId142"/>
    <p:sldId id="752" r:id="rId143"/>
    <p:sldId id="753" r:id="rId144"/>
    <p:sldId id="754" r:id="rId145"/>
    <p:sldId id="755" r:id="rId146"/>
    <p:sldId id="756" r:id="rId147"/>
    <p:sldId id="932" r:id="rId148"/>
    <p:sldId id="933" r:id="rId149"/>
    <p:sldId id="934" r:id="rId150"/>
    <p:sldId id="935" r:id="rId151"/>
    <p:sldId id="757" r:id="rId152"/>
    <p:sldId id="758" r:id="rId153"/>
    <p:sldId id="759" r:id="rId154"/>
    <p:sldId id="936" r:id="rId155"/>
    <p:sldId id="832" r:id="rId156"/>
    <p:sldId id="833" r:id="rId157"/>
    <p:sldId id="834" r:id="rId158"/>
    <p:sldId id="835" r:id="rId159"/>
    <p:sldId id="836" r:id="rId160"/>
    <p:sldId id="837" r:id="rId161"/>
    <p:sldId id="838" r:id="rId162"/>
    <p:sldId id="839" r:id="rId163"/>
    <p:sldId id="840" r:id="rId164"/>
    <p:sldId id="841" r:id="rId165"/>
    <p:sldId id="842" r:id="rId166"/>
    <p:sldId id="843" r:id="rId167"/>
    <p:sldId id="844" r:id="rId168"/>
    <p:sldId id="845" r:id="rId169"/>
    <p:sldId id="846" r:id="rId170"/>
    <p:sldId id="847" r:id="rId171"/>
    <p:sldId id="848" r:id="rId172"/>
    <p:sldId id="849" r:id="rId173"/>
    <p:sldId id="850" r:id="rId174"/>
    <p:sldId id="851" r:id="rId175"/>
    <p:sldId id="852" r:id="rId176"/>
    <p:sldId id="853" r:id="rId177"/>
    <p:sldId id="854" r:id="rId178"/>
    <p:sldId id="855" r:id="rId179"/>
    <p:sldId id="856" r:id="rId180"/>
    <p:sldId id="857" r:id="rId181"/>
    <p:sldId id="858" r:id="rId182"/>
    <p:sldId id="859" r:id="rId183"/>
    <p:sldId id="860" r:id="rId184"/>
    <p:sldId id="861" r:id="rId185"/>
    <p:sldId id="862" r:id="rId186"/>
    <p:sldId id="863" r:id="rId187"/>
    <p:sldId id="864" r:id="rId188"/>
    <p:sldId id="865" r:id="rId189"/>
    <p:sldId id="866" r:id="rId190"/>
    <p:sldId id="867" r:id="rId191"/>
    <p:sldId id="868" r:id="rId192"/>
    <p:sldId id="869" r:id="rId193"/>
    <p:sldId id="870" r:id="rId194"/>
    <p:sldId id="871" r:id="rId195"/>
    <p:sldId id="872" r:id="rId196"/>
    <p:sldId id="873" r:id="rId197"/>
    <p:sldId id="874" r:id="rId198"/>
    <p:sldId id="875" r:id="rId199"/>
    <p:sldId id="876" r:id="rId200"/>
    <p:sldId id="877" r:id="rId201"/>
    <p:sldId id="878" r:id="rId202"/>
    <p:sldId id="879" r:id="rId203"/>
    <p:sldId id="880" r:id="rId204"/>
    <p:sldId id="881" r:id="rId205"/>
    <p:sldId id="882" r:id="rId206"/>
    <p:sldId id="883" r:id="rId207"/>
    <p:sldId id="884" r:id="rId208"/>
    <p:sldId id="885" r:id="rId209"/>
    <p:sldId id="886" r:id="rId210"/>
    <p:sldId id="887" r:id="rId211"/>
    <p:sldId id="888" r:id="rId212"/>
    <p:sldId id="937" r:id="rId213"/>
    <p:sldId id="760" r:id="rId214"/>
    <p:sldId id="761" r:id="rId215"/>
    <p:sldId id="762" r:id="rId216"/>
    <p:sldId id="763" r:id="rId217"/>
    <p:sldId id="764" r:id="rId218"/>
    <p:sldId id="765" r:id="rId219"/>
    <p:sldId id="766" r:id="rId220"/>
    <p:sldId id="767" r:id="rId221"/>
    <p:sldId id="768" r:id="rId222"/>
    <p:sldId id="769" r:id="rId223"/>
    <p:sldId id="770" r:id="rId224"/>
    <p:sldId id="771" r:id="rId225"/>
    <p:sldId id="772" r:id="rId226"/>
    <p:sldId id="773" r:id="rId227"/>
    <p:sldId id="774" r:id="rId228"/>
    <p:sldId id="775" r:id="rId229"/>
    <p:sldId id="776" r:id="rId230"/>
    <p:sldId id="777" r:id="rId231"/>
    <p:sldId id="778" r:id="rId232"/>
    <p:sldId id="779" r:id="rId233"/>
    <p:sldId id="780" r:id="rId234"/>
    <p:sldId id="938" r:id="rId235"/>
    <p:sldId id="939" r:id="rId236"/>
    <p:sldId id="940" r:id="rId237"/>
    <p:sldId id="941" r:id="rId238"/>
    <p:sldId id="942" r:id="rId239"/>
    <p:sldId id="943" r:id="rId240"/>
    <p:sldId id="944" r:id="rId241"/>
    <p:sldId id="781" r:id="rId242"/>
    <p:sldId id="782" r:id="rId243"/>
    <p:sldId id="783" r:id="rId244"/>
    <p:sldId id="950" r:id="rId245"/>
    <p:sldId id="951" r:id="rId246"/>
    <p:sldId id="784" r:id="rId247"/>
    <p:sldId id="785" r:id="rId248"/>
    <p:sldId id="786" r:id="rId249"/>
    <p:sldId id="787" r:id="rId250"/>
    <p:sldId id="788" r:id="rId251"/>
    <p:sldId id="789" r:id="rId252"/>
    <p:sldId id="790" r:id="rId253"/>
    <p:sldId id="945" r:id="rId254"/>
    <p:sldId id="946" r:id="rId255"/>
    <p:sldId id="947" r:id="rId256"/>
    <p:sldId id="948" r:id="rId257"/>
    <p:sldId id="889" r:id="rId258"/>
    <p:sldId id="890" r:id="rId259"/>
    <p:sldId id="891" r:id="rId260"/>
    <p:sldId id="892" r:id="rId261"/>
    <p:sldId id="893" r:id="rId262"/>
    <p:sldId id="894" r:id="rId263"/>
    <p:sldId id="895" r:id="rId264"/>
    <p:sldId id="896" r:id="rId265"/>
    <p:sldId id="897" r:id="rId266"/>
    <p:sldId id="898" r:id="rId267"/>
    <p:sldId id="899" r:id="rId268"/>
    <p:sldId id="900" r:id="rId269"/>
    <p:sldId id="901" r:id="rId270"/>
    <p:sldId id="902" r:id="rId271"/>
    <p:sldId id="903" r:id="rId272"/>
    <p:sldId id="904" r:id="rId273"/>
    <p:sldId id="905" r:id="rId274"/>
    <p:sldId id="906" r:id="rId275"/>
    <p:sldId id="949" r:id="rId276"/>
    <p:sldId id="791" r:id="rId277"/>
    <p:sldId id="792" r:id="rId278"/>
    <p:sldId id="793" r:id="rId279"/>
    <p:sldId id="794" r:id="rId280"/>
    <p:sldId id="795" r:id="rId281"/>
    <p:sldId id="796" r:id="rId282"/>
    <p:sldId id="797" r:id="rId283"/>
    <p:sldId id="798" r:id="rId284"/>
    <p:sldId id="799" r:id="rId285"/>
    <p:sldId id="800" r:id="rId286"/>
    <p:sldId id="801" r:id="rId287"/>
    <p:sldId id="802" r:id="rId288"/>
    <p:sldId id="803" r:id="rId289"/>
    <p:sldId id="804" r:id="rId290"/>
    <p:sldId id="805" r:id="rId291"/>
    <p:sldId id="806" r:id="rId292"/>
    <p:sldId id="807" r:id="rId293"/>
    <p:sldId id="808" r:id="rId294"/>
    <p:sldId id="809" r:id="rId295"/>
    <p:sldId id="810" r:id="rId296"/>
    <p:sldId id="811" r:id="rId297"/>
    <p:sldId id="812" r:id="rId298"/>
    <p:sldId id="813" r:id="rId299"/>
    <p:sldId id="814" r:id="rId300"/>
    <p:sldId id="815" r:id="rId301"/>
    <p:sldId id="816" r:id="rId302"/>
    <p:sldId id="817" r:id="rId303"/>
    <p:sldId id="818" r:id="rId304"/>
    <p:sldId id="819" r:id="rId305"/>
    <p:sldId id="820" r:id="rId306"/>
    <p:sldId id="821" r:id="rId307"/>
    <p:sldId id="822" r:id="rId308"/>
    <p:sldId id="823" r:id="rId309"/>
    <p:sldId id="824" r:id="rId310"/>
    <p:sldId id="825" r:id="rId311"/>
    <p:sldId id="826" r:id="rId312"/>
    <p:sldId id="827" r:id="rId313"/>
    <p:sldId id="828" r:id="rId314"/>
    <p:sldId id="829" r:id="rId315"/>
    <p:sldId id="830" r:id="rId316"/>
    <p:sldId id="831" r:id="rId317"/>
  </p:sldIdLst>
  <p:sldSz cx="9144000" cy="5143500" type="screen16x9"/>
  <p:notesSz cx="6858000" cy="9144000"/>
  <p:embeddedFontLst>
    <p:embeddedFont>
      <p:font typeface="Comic Sans MS" panose="030F0702030302020204" pitchFamily="66" charset="0"/>
      <p:regular r:id="rId319"/>
      <p:bold r:id="rId320"/>
      <p:italic r:id="rId321"/>
      <p:boldItalic r:id="rId322"/>
    </p:embeddedFont>
    <p:embeddedFont>
      <p:font typeface="MS PGothic" panose="020B0600070205080204" pitchFamily="34" charset="-128"/>
      <p:regular r:id="rId323"/>
    </p:embeddedFont>
    <p:embeddedFont>
      <p:font typeface="微软雅黑" panose="020B0503020204020204" pitchFamily="34" charset="-122"/>
      <p:regular r:id="rId324"/>
      <p:bold r:id="rId325"/>
    </p:embeddedFont>
    <p:embeddedFont>
      <p:font typeface="굴림" panose="02010600030101010101" charset="-122"/>
      <p:regular r:id="rId326"/>
    </p:embeddedFont>
    <p:embeddedFont>
      <p:font typeface="Calibri" panose="020F0502020204030204" pitchFamily="34" charset="0"/>
      <p:regular r:id="rId327"/>
      <p:bold r:id="rId328"/>
      <p:italic r:id="rId329"/>
      <p:boldItalic r:id="rId330"/>
    </p:embeddedFont>
    <p:embeddedFont>
      <p:font typeface="Wingdings 2" panose="05020102010507070707" pitchFamily="18" charset="2"/>
      <p:regular r:id="rId331"/>
    </p:embeddedFont>
    <p:embeddedFont>
      <p:font typeface="Webdings" panose="05030102010509060703" pitchFamily="18" charset="2"/>
      <p:regular r:id="rId332"/>
    </p:embeddedFont>
    <p:embeddedFont>
      <p:font typeface="黑体" panose="02010609060101010101" pitchFamily="49" charset="-122"/>
      <p:regular r:id="rId333"/>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FF66"/>
    <a:srgbClr val="0000FF"/>
    <a:srgbClr val="CC00CC"/>
    <a:srgbClr val="FFFF66"/>
    <a:srgbClr val="0000CC"/>
    <a:srgbClr val="FFFF00"/>
    <a:srgbClr val="000099"/>
    <a:srgbClr val="9900CC"/>
    <a:srgbClr val="FFFF99"/>
    <a:srgbClr val="CC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5758FB7-9AC5-4552-8A53-C91805E547FA}" styleName="主题样式 1 - 强调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8FD4443E-F989-4FC4-A0C8-D5A2AF1F390B}" styleName="深色样式 1 - 强调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AF606853-7671-496A-8E4F-DF71F8EC918B}" styleName="深色样式 1 - 强调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113A9D2-9D6B-4929-AA2D-F23B5EE8CBE7}" styleName="主题样式 2 - 强调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主题样式 2 - 强调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7446" autoAdjust="0"/>
    <p:restoredTop sz="76601" autoAdjust="0"/>
  </p:normalViewPr>
  <p:slideViewPr>
    <p:cSldViewPr snapToGrid="0">
      <p:cViewPr varScale="1">
        <p:scale>
          <a:sx n="88" d="100"/>
          <a:sy n="88" d="100"/>
        </p:scale>
        <p:origin x="115" y="77"/>
      </p:cViewPr>
      <p:guideLst>
        <p:guide orient="horz" pos="1620"/>
        <p:guide pos="2880"/>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font" Target="fonts/font6.fntdata"/><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viewProps" Target="viewProps.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font" Target="fonts/font7.fntdata"/><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theme" Target="theme/theme1.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font" Target="fonts/font8.fntdata"/><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tableStyles" Target="tableStyles.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font" Target="fonts/font9.fntdata"/><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slide" Target="slides/slide292.xml"/><Relationship Id="rId302" Type="http://schemas.openxmlformats.org/officeDocument/2006/relationships/slide" Target="slides/slide301.xml"/><Relationship Id="rId307" Type="http://schemas.openxmlformats.org/officeDocument/2006/relationships/slide" Target="slides/slide306.xml"/><Relationship Id="rId323" Type="http://schemas.openxmlformats.org/officeDocument/2006/relationships/font" Target="fonts/font5.fntdata"/><Relationship Id="rId328" Type="http://schemas.openxmlformats.org/officeDocument/2006/relationships/font" Target="fonts/font10.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313" Type="http://schemas.openxmlformats.org/officeDocument/2006/relationships/slide" Target="slides/slide312.xml"/><Relationship Id="rId318" Type="http://schemas.openxmlformats.org/officeDocument/2006/relationships/notesMaster" Target="notesMasters/notesMaster1.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334"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font" Target="fonts/font11.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font" Target="fonts/font1.fntdata"/><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font" Target="fonts/font12.fntdata"/><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font" Target="fonts/font2.fntdata"/><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font" Target="fonts/font13.fntdata"/><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font" Target="fonts/font3.fntdata"/><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font" Target="fonts/font14.fntdata"/><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font" Target="fonts/font4.fntdata"/><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font" Target="fonts/font15.fntdata"/><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2" csCatId="colorful" phldr="1"/>
      <dgm:spPr/>
      <dgm:t>
        <a:bodyPr/>
        <a:lstStyle/>
        <a:p>
          <a:endParaRPr lang="zh-CN" altLang="en-US"/>
        </a:p>
      </dgm:t>
    </dgm:pt>
    <dgm:pt modelId="{078891F9-34FA-4EF4-89D8-5A412AD764F4}">
      <dgm:prSet phldrT="[文本]" custT="1"/>
      <dgm:spPr/>
      <dgm:t>
        <a:bodyPr/>
        <a:lstStyle/>
        <a:p>
          <a:pPr>
            <a:spcAft>
              <a:spcPts val="0"/>
            </a:spcAft>
          </a:pPr>
          <a:r>
            <a:rPr lang="zh-CN" sz="1400" b="1" dirty="0" smtClean="0">
              <a:latin typeface="微软雅黑" panose="020B0503020204020204" pitchFamily="34" charset="-122"/>
              <a:ea typeface="微软雅黑" panose="020B0503020204020204" pitchFamily="34" charset="-122"/>
            </a:rPr>
            <a:t>万维网</a:t>
          </a:r>
          <a:endParaRPr lang="en-US" altLang="zh-CN" sz="1400" b="1" dirty="0" smtClean="0">
            <a:latin typeface="微软雅黑" panose="020B0503020204020204" pitchFamily="34" charset="-122"/>
            <a:ea typeface="微软雅黑" panose="020B0503020204020204" pitchFamily="34" charset="-122"/>
          </a:endParaRP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SMTP</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en-US" sz="1400" b="1" dirty="0" smtClean="0">
              <a:latin typeface="微软雅黑" panose="020B0503020204020204" pitchFamily="34" charset="-122"/>
              <a:ea typeface="微软雅黑" panose="020B0503020204020204" pitchFamily="34" charset="-122"/>
            </a:rPr>
            <a:t>HTTP</a:t>
          </a:r>
          <a:endParaRPr lang="en-US" altLang="zh-CN" sz="1400" b="1" dirty="0" smtClean="0">
            <a:latin typeface="微软雅黑" panose="020B0503020204020204" pitchFamily="34" charset="-122"/>
            <a:ea typeface="微软雅黑" panose="020B0503020204020204" pitchFamily="34" charset="-122"/>
          </a:endParaRP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电子邮件</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文件传输</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不同于网络应用</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F99D0580-FAE8-4372-9FCA-57C11D86F9D1}" srcId="{078891F9-34FA-4EF4-89D8-5A412AD764F4}" destId="{0453551A-5977-423D-B5EC-B8426DA6E162}" srcOrd="0" destOrd="0" parTransId="{647AE668-B33C-4713-93F9-613FF5C0205D}" sibTransId="{6411E134-4EF0-49CA-87DE-3BB911E496CF}"/>
    <dgm:cxn modelId="{8B5B757C-9AA4-494F-8111-E33687EF58A9}" type="presOf" srcId="{2832C718-DAF0-4C4D-A446-27C1389A0F92}" destId="{E5B734C7-BD06-4002-8C05-19CC466CF4FE}" srcOrd="0" destOrd="0" presId="urn:microsoft.com/office/officeart/2005/8/layout/hierarchy4"/>
    <dgm:cxn modelId="{13DAA706-1759-414C-A9E1-D7C4BBDA2A67}" srcId="{FA7BE1A0-586E-4E75-A7A2-8E8D9C81DB65}" destId="{194B30E0-BBF3-4013-AA95-F36A73A99BE9}" srcOrd="0" destOrd="0" parTransId="{F1920C41-8FA1-43C2-947F-37DE49CDBC93}" sibTransId="{7339F0ED-B46A-44B7-8FEC-EC74442AAED0}"/>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5BA3F38E-E1B0-4D0C-BD88-A468FB0818F2}" type="presOf" srcId="{4AC447A3-3923-4C66-9E6E-9E85452007A2}" destId="{D772C529-9144-4F64-AC62-C41998E87A93}" srcOrd="0" destOrd="0" presId="urn:microsoft.com/office/officeart/2005/8/layout/hierarchy4"/>
    <dgm:cxn modelId="{EB0C08B8-3AB8-4F5F-8218-34C18BD26F98}" type="presOf" srcId="{5A02E71B-2C78-495B-B0C5-EECEC8CAF54C}" destId="{7908BCB8-DE9B-4BF1-8D07-3A3FD24C7968}" srcOrd="0" destOrd="0" presId="urn:microsoft.com/office/officeart/2005/8/layout/hierarchy4"/>
    <dgm:cxn modelId="{A7553C0C-489D-471C-AAB6-F8FE0699A02E}" type="presOf" srcId="{078891F9-34FA-4EF4-89D8-5A412AD764F4}" destId="{F381CC4E-322C-45E6-B7E7-4ED70FA8CF2E}" srcOrd="0" destOrd="0" presId="urn:microsoft.com/office/officeart/2005/8/layout/hierarchy4"/>
    <dgm:cxn modelId="{8B8FD01C-7374-4520-A993-CABF85F0D4E0}" type="presOf" srcId="{0453551A-5977-423D-B5EC-B8426DA6E162}" destId="{49899EA7-F8C0-4BB7-A6AD-5F40B1731420}"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61668259-2802-4CF5-97DB-A927910C09B7}" type="presOf" srcId="{FA7BE1A0-586E-4E75-A7A2-8E8D9C81DB65}" destId="{07CD9CA8-8213-4B82-96DE-5A2E23AB39DC}"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A0DB19-E670-45E1-97DE-A8F3744E3D69}" srcId="{2832C718-DAF0-4C4D-A446-27C1389A0F92}" destId="{5A02E71B-2C78-495B-B0C5-EECEC8CAF54C}" srcOrd="0" destOrd="0" parTransId="{28DD6B13-3ADE-4F3E-8AB8-43B85AB567B6}" sibTransId="{D9B750CA-5D66-4BE3-A57A-7E529C9C9314}"/>
    <dgm:cxn modelId="{DFB0CF12-3CDA-449C-8B95-F600015C40A7}" type="presOf" srcId="{354A271C-6390-4DF4-9AC0-ADE68E742430}" destId="{1F36E606-4D05-483A-959D-7AFAA3F99964}"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3" csCatId="colorful" phldr="1"/>
      <dgm:spPr/>
      <dgm:t>
        <a:bodyPr/>
        <a:lstStyle/>
        <a:p>
          <a:endParaRPr lang="zh-CN" altLang="en-US"/>
        </a:p>
      </dgm:t>
    </dgm:pt>
    <dgm:pt modelId="{078891F9-34FA-4EF4-89D8-5A412AD764F4}">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客户 </a:t>
          </a:r>
          <a:r>
            <a:rPr lang="en-US" altLang="zh-CN" sz="1400" b="1" dirty="0" smtClean="0">
              <a:latin typeface="微软雅黑" panose="020B0503020204020204" pitchFamily="34" charset="-122"/>
              <a:ea typeface="微软雅黑" panose="020B0503020204020204" pitchFamily="34" charset="-122"/>
            </a:rPr>
            <a:t>(client)</a:t>
          </a: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服务器 </a:t>
          </a:r>
          <a:r>
            <a:rPr lang="en-US" altLang="zh-CN" sz="1400" b="1" dirty="0" smtClean="0">
              <a:latin typeface="微软雅黑" panose="020B0503020204020204" pitchFamily="34" charset="-122"/>
              <a:ea typeface="微软雅黑" panose="020B0503020204020204" pitchFamily="34" charset="-122"/>
            </a:rPr>
            <a:t>(server)</a:t>
          </a: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服务请求方</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许多都基于客户</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服务器方式</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F99D0580-FAE8-4372-9FCA-57C11D86F9D1}" srcId="{078891F9-34FA-4EF4-89D8-5A412AD764F4}" destId="{0453551A-5977-423D-B5EC-B8426DA6E162}" srcOrd="0" destOrd="0" parTransId="{647AE668-B33C-4713-93F9-613FF5C0205D}" sibTransId="{6411E134-4EF0-49CA-87DE-3BB911E496CF}"/>
    <dgm:cxn modelId="{8B5B757C-9AA4-494F-8111-E33687EF58A9}" type="presOf" srcId="{2832C718-DAF0-4C4D-A446-27C1389A0F92}" destId="{E5B734C7-BD06-4002-8C05-19CC466CF4FE}" srcOrd="0" destOrd="0" presId="urn:microsoft.com/office/officeart/2005/8/layout/hierarchy4"/>
    <dgm:cxn modelId="{13DAA706-1759-414C-A9E1-D7C4BBDA2A67}" srcId="{FA7BE1A0-586E-4E75-A7A2-8E8D9C81DB65}" destId="{194B30E0-BBF3-4013-AA95-F36A73A99BE9}" srcOrd="0" destOrd="0" parTransId="{F1920C41-8FA1-43C2-947F-37DE49CDBC93}" sibTransId="{7339F0ED-B46A-44B7-8FEC-EC74442AAED0}"/>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5BA3F38E-E1B0-4D0C-BD88-A468FB0818F2}" type="presOf" srcId="{4AC447A3-3923-4C66-9E6E-9E85452007A2}" destId="{D772C529-9144-4F64-AC62-C41998E87A93}" srcOrd="0" destOrd="0" presId="urn:microsoft.com/office/officeart/2005/8/layout/hierarchy4"/>
    <dgm:cxn modelId="{EB0C08B8-3AB8-4F5F-8218-34C18BD26F98}" type="presOf" srcId="{5A02E71B-2C78-495B-B0C5-EECEC8CAF54C}" destId="{7908BCB8-DE9B-4BF1-8D07-3A3FD24C7968}" srcOrd="0" destOrd="0" presId="urn:microsoft.com/office/officeart/2005/8/layout/hierarchy4"/>
    <dgm:cxn modelId="{A7553C0C-489D-471C-AAB6-F8FE0699A02E}" type="presOf" srcId="{078891F9-34FA-4EF4-89D8-5A412AD764F4}" destId="{F381CC4E-322C-45E6-B7E7-4ED70FA8CF2E}" srcOrd="0" destOrd="0" presId="urn:microsoft.com/office/officeart/2005/8/layout/hierarchy4"/>
    <dgm:cxn modelId="{8B8FD01C-7374-4520-A993-CABF85F0D4E0}" type="presOf" srcId="{0453551A-5977-423D-B5EC-B8426DA6E162}" destId="{49899EA7-F8C0-4BB7-A6AD-5F40B1731420}"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61668259-2802-4CF5-97DB-A927910C09B7}" type="presOf" srcId="{FA7BE1A0-586E-4E75-A7A2-8E8D9C81DB65}" destId="{07CD9CA8-8213-4B82-96DE-5A2E23AB39DC}"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A0DB19-E670-45E1-97DE-A8F3744E3D69}" srcId="{2832C718-DAF0-4C4D-A446-27C1389A0F92}" destId="{5A02E71B-2C78-495B-B0C5-EECEC8CAF54C}" srcOrd="0" destOrd="0" parTransId="{28DD6B13-3ADE-4F3E-8AB8-43B85AB567B6}" sibTransId="{D9B750CA-5D66-4BE3-A57A-7E529C9C9314}"/>
    <dgm:cxn modelId="{DFB0CF12-3CDA-449C-8B95-F600015C40A7}" type="presOf" srcId="{354A271C-6390-4DF4-9AC0-ADE68E742430}" destId="{1F36E606-4D05-483A-959D-7AFAA3F99964}"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61C9BC5-B29F-48D4-9051-8080622C2265}" type="doc">
      <dgm:prSet loTypeId="urn:microsoft.com/office/officeart/2005/8/layout/hList1" loCatId="list" qsTypeId="urn:microsoft.com/office/officeart/2005/8/quickstyle/simple1" qsCatId="simple" csTypeId="urn:microsoft.com/office/officeart/2005/8/colors/colorful4" csCatId="colorful" phldr="1"/>
      <dgm:spPr/>
      <dgm:t>
        <a:bodyPr/>
        <a:lstStyle/>
        <a:p>
          <a:endParaRPr lang="zh-CN" altLang="en-US"/>
        </a:p>
      </dgm:t>
    </dgm:pt>
    <dgm:pt modelId="{1F6D49FA-F901-4B50-ADEC-FB4488F0ECDE}">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递归查询</a:t>
          </a:r>
          <a:endParaRPr lang="zh-CN" altLang="en-US" sz="1800" b="1" dirty="0">
            <a:latin typeface="微软雅黑" panose="020B0503020204020204" pitchFamily="34" charset="-122"/>
            <a:ea typeface="微软雅黑" panose="020B0503020204020204" pitchFamily="34" charset="-122"/>
          </a:endParaRPr>
        </a:p>
      </dgm:t>
    </dgm:pt>
    <dgm:pt modelId="{3BCE62CD-17F6-4BDE-88CF-B2E57C113250}" type="parTrans" cxnId="{B8FBCF65-8CE6-4959-A94A-4AFCB263801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12D40E-2867-4325-981C-5EED6888713A}" type="sibTrans" cxnId="{B8FBCF65-8CE6-4959-A94A-4AFCB263801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7353B7C-3B7F-483A-9D5D-EF2CA979FE0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通常，主机向本地域名服务器查询时使用。</a:t>
          </a:r>
          <a:endParaRPr lang="zh-CN" altLang="en-US" sz="1600" b="1" dirty="0">
            <a:latin typeface="微软雅黑" panose="020B0503020204020204" pitchFamily="34" charset="-122"/>
            <a:ea typeface="微软雅黑" panose="020B0503020204020204" pitchFamily="34" charset="-122"/>
          </a:endParaRPr>
        </a:p>
      </dgm:t>
    </dgm:pt>
    <dgm:pt modelId="{BCE185A7-04EA-450F-8DE8-10725E84408C}" type="parTrans" cxnId="{D31F8A4A-4BE7-48FE-B7E3-22A5225B721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49DC585-CA63-48CC-A0DD-6DDF763B9D5E}" type="sibTrans" cxnId="{D31F8A4A-4BE7-48FE-B7E3-22A5225B721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3C1C06F-F101-4097-8E76-7221602C9DCD}">
      <dgm:prSet phldrT="[文本]" custT="1"/>
      <dgm:spPr/>
      <dgm:t>
        <a:bodyPr/>
        <a:lstStyle/>
        <a:p>
          <a:r>
            <a:rPr lang="zh-CN" sz="1600" b="1" dirty="0" smtClean="0">
              <a:latin typeface="微软雅黑" panose="020B0503020204020204" pitchFamily="34" charset="-122"/>
              <a:ea typeface="微软雅黑" panose="020B0503020204020204" pitchFamily="34" charset="-122"/>
            </a:rPr>
            <a:t>主机只需发送一次请求</a:t>
          </a:r>
          <a:r>
            <a:rPr lang="zh-CN" altLang="en-US" sz="1600" b="1" dirty="0" smtClean="0">
              <a:latin typeface="微软雅黑" panose="020B0503020204020204" pitchFamily="34" charset="-122"/>
              <a:ea typeface="微软雅黑" panose="020B0503020204020204" pitchFamily="34" charset="-122"/>
            </a:rPr>
            <a:t>，</a:t>
          </a:r>
          <a:r>
            <a:rPr lang="zh-CN" sz="1600" b="1" dirty="0" smtClean="0">
              <a:latin typeface="微软雅黑" panose="020B0503020204020204" pitchFamily="34" charset="-122"/>
              <a:ea typeface="微软雅黑" panose="020B0503020204020204" pitchFamily="34" charset="-122"/>
            </a:rPr>
            <a:t>然后就能得到本地域名服务器的查询结果</a:t>
          </a:r>
          <a:r>
            <a:rPr lang="zh-CN" altLang="en-US" sz="1600" b="1" dirty="0" smtClean="0">
              <a:latin typeface="微软雅黑" panose="020B0503020204020204" pitchFamily="34" charset="-122"/>
              <a:ea typeface="微软雅黑" panose="020B0503020204020204" pitchFamily="34" charset="-122"/>
            </a:rPr>
            <a:t>，</a:t>
          </a:r>
          <a:r>
            <a:rPr lang="zh-CN" sz="1600" b="1" dirty="0" smtClean="0">
              <a:latin typeface="微软雅黑" panose="020B0503020204020204" pitchFamily="34" charset="-122"/>
              <a:ea typeface="微软雅黑" panose="020B0503020204020204" pitchFamily="34" charset="-122"/>
            </a:rPr>
            <a:t>主机不关心也不参与</a:t>
          </a:r>
          <a:r>
            <a:rPr lang="zh-CN" altLang="en-US" sz="1600" b="1" dirty="0" smtClean="0">
              <a:latin typeface="微软雅黑" panose="020B0503020204020204" pitchFamily="34" charset="-122"/>
              <a:ea typeface="微软雅黑" panose="020B0503020204020204" pitchFamily="34" charset="-122"/>
            </a:rPr>
            <a:t>后续</a:t>
          </a:r>
          <a:r>
            <a:rPr lang="zh-CN" sz="1600" b="1" dirty="0" smtClean="0">
              <a:latin typeface="微软雅黑" panose="020B0503020204020204" pitchFamily="34" charset="-122"/>
              <a:ea typeface="微软雅黑" panose="020B0503020204020204" pitchFamily="34" charset="-122"/>
            </a:rPr>
            <a:t>查询的过程。</a:t>
          </a:r>
          <a:endParaRPr lang="zh-CN" altLang="en-US" sz="1600" b="1" dirty="0">
            <a:latin typeface="微软雅黑" panose="020B0503020204020204" pitchFamily="34" charset="-122"/>
            <a:ea typeface="微软雅黑" panose="020B0503020204020204" pitchFamily="34" charset="-122"/>
          </a:endParaRPr>
        </a:p>
      </dgm:t>
    </dgm:pt>
    <dgm:pt modelId="{394E42C2-1DBF-4E2F-9E18-2CBF2BCF68B0}" type="parTrans" cxnId="{EE3D05E0-647B-4AE0-9969-EF9A6CEF939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12E8C54-A45B-4F19-A2E1-DFAF120AE3AC}" type="sibTrans" cxnId="{EE3D05E0-647B-4AE0-9969-EF9A6CEF939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4C27B1A-540E-4AE1-A0FA-2373F8C7C00D}">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迭代查询</a:t>
          </a:r>
          <a:endParaRPr lang="zh-CN" altLang="en-US" sz="1800" b="1" dirty="0">
            <a:latin typeface="微软雅黑" panose="020B0503020204020204" pitchFamily="34" charset="-122"/>
            <a:ea typeface="微软雅黑" panose="020B0503020204020204" pitchFamily="34" charset="-122"/>
          </a:endParaRPr>
        </a:p>
      </dgm:t>
    </dgm:pt>
    <dgm:pt modelId="{2AF68E5C-339F-43E9-9BD8-1A6F133890E6}" type="parTrans" cxnId="{E3527060-511E-407B-94F7-F1B7A8110B4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0BBCA65-D6FF-4282-863E-E4E8ADE1401C}" type="sibTrans" cxnId="{E3527060-511E-407B-94F7-F1B7A8110B4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4ED0C5A-041D-4179-B2D9-667F95556395}">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本地域名服务器向根域名服务器等查询时使用。</a:t>
          </a:r>
          <a:endParaRPr lang="zh-CN" altLang="en-US" sz="1600" b="1" dirty="0">
            <a:latin typeface="微软雅黑" panose="020B0503020204020204" pitchFamily="34" charset="-122"/>
            <a:ea typeface="微软雅黑" panose="020B0503020204020204" pitchFamily="34" charset="-122"/>
          </a:endParaRPr>
        </a:p>
      </dgm:t>
    </dgm:pt>
    <dgm:pt modelId="{9EA42626-615E-4243-9D5E-9458C4479806}" type="parTrans" cxnId="{AC98711B-30F1-4F9A-90F2-E5CCA3B9A35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42AF108-920E-4047-82C5-21EF27E335D8}" type="sibTrans" cxnId="{AC98711B-30F1-4F9A-90F2-E5CCA3B9A35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99DE165-A6A2-4E3C-8084-9A776539F414}">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要么给出所要查询的 </a:t>
          </a:r>
          <a:r>
            <a:rPr lang="en-US" altLang="en-US"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地址，要么告诉下一个要查询的域名服务器的 </a:t>
          </a:r>
          <a:r>
            <a:rPr lang="en-US" altLang="zh-CN"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a:t>
          </a:r>
        </a:p>
      </dgm:t>
    </dgm:pt>
    <dgm:pt modelId="{15A961B9-3A0A-4FA7-8F0F-40C05929148C}" type="parTrans" cxnId="{8797336C-4331-4DC2-AE25-347037722617}">
      <dgm:prSet/>
      <dgm:spPr/>
      <dgm:t>
        <a:bodyPr/>
        <a:lstStyle/>
        <a:p>
          <a:endParaRPr lang="zh-CN" altLang="en-US" sz="1600"/>
        </a:p>
      </dgm:t>
    </dgm:pt>
    <dgm:pt modelId="{39426DE8-50A8-4767-823C-76D6C28D84CD}" type="sibTrans" cxnId="{8797336C-4331-4DC2-AE25-347037722617}">
      <dgm:prSet/>
      <dgm:spPr/>
      <dgm:t>
        <a:bodyPr/>
        <a:lstStyle/>
        <a:p>
          <a:endParaRPr lang="zh-CN" altLang="en-US" sz="1600"/>
        </a:p>
      </dgm:t>
    </dgm:pt>
    <dgm:pt modelId="{888A2276-89F3-4140-9592-FE63CBE9FC6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本地域名服务器继续后续查询。</a:t>
          </a:r>
        </a:p>
      </dgm:t>
    </dgm:pt>
    <dgm:pt modelId="{818B4799-89CB-4238-BB9D-472D60B40326}" type="parTrans" cxnId="{748B2594-474D-425B-8D6A-157BB949C56E}">
      <dgm:prSet/>
      <dgm:spPr/>
      <dgm:t>
        <a:bodyPr/>
        <a:lstStyle/>
        <a:p>
          <a:endParaRPr lang="zh-CN" altLang="en-US"/>
        </a:p>
      </dgm:t>
    </dgm:pt>
    <dgm:pt modelId="{91715877-E58D-486D-8BF0-DC8A4048A0A2}" type="sibTrans" cxnId="{748B2594-474D-425B-8D6A-157BB949C56E}">
      <dgm:prSet/>
      <dgm:spPr/>
      <dgm:t>
        <a:bodyPr/>
        <a:lstStyle/>
        <a:p>
          <a:endParaRPr lang="zh-CN" altLang="en-US"/>
        </a:p>
      </dgm:t>
    </dgm:pt>
    <dgm:pt modelId="{855C61C3-9681-46A9-85A5-1E65B56A782C}" type="pres">
      <dgm:prSet presAssocID="{361C9BC5-B29F-48D4-9051-8080622C2265}" presName="Name0" presStyleCnt="0">
        <dgm:presLayoutVars>
          <dgm:dir/>
          <dgm:animLvl val="lvl"/>
          <dgm:resizeHandles val="exact"/>
        </dgm:presLayoutVars>
      </dgm:prSet>
      <dgm:spPr/>
      <dgm:t>
        <a:bodyPr/>
        <a:lstStyle/>
        <a:p>
          <a:endParaRPr lang="zh-CN" altLang="en-US"/>
        </a:p>
      </dgm:t>
    </dgm:pt>
    <dgm:pt modelId="{C9C28BD1-EF4F-4CA1-9BA9-72A7B8BFFCFD}" type="pres">
      <dgm:prSet presAssocID="{1F6D49FA-F901-4B50-ADEC-FB4488F0ECDE}" presName="composite" presStyleCnt="0"/>
      <dgm:spPr/>
    </dgm:pt>
    <dgm:pt modelId="{CD69D0B0-1884-46A2-8F10-145B05B89842}" type="pres">
      <dgm:prSet presAssocID="{1F6D49FA-F901-4B50-ADEC-FB4488F0ECDE}" presName="parTx" presStyleLbl="alignNode1" presStyleIdx="0" presStyleCnt="2">
        <dgm:presLayoutVars>
          <dgm:chMax val="0"/>
          <dgm:chPref val="0"/>
          <dgm:bulletEnabled val="1"/>
        </dgm:presLayoutVars>
      </dgm:prSet>
      <dgm:spPr/>
      <dgm:t>
        <a:bodyPr/>
        <a:lstStyle/>
        <a:p>
          <a:endParaRPr lang="zh-CN" altLang="en-US"/>
        </a:p>
      </dgm:t>
    </dgm:pt>
    <dgm:pt modelId="{03A5736B-9407-4E51-943F-C4127641647B}" type="pres">
      <dgm:prSet presAssocID="{1F6D49FA-F901-4B50-ADEC-FB4488F0ECDE}" presName="desTx" presStyleLbl="alignAccFollowNode1" presStyleIdx="0" presStyleCnt="2" custScaleY="100000">
        <dgm:presLayoutVars>
          <dgm:bulletEnabled val="1"/>
        </dgm:presLayoutVars>
      </dgm:prSet>
      <dgm:spPr/>
      <dgm:t>
        <a:bodyPr/>
        <a:lstStyle/>
        <a:p>
          <a:endParaRPr lang="zh-CN" altLang="en-US"/>
        </a:p>
      </dgm:t>
    </dgm:pt>
    <dgm:pt modelId="{E002B729-091C-462E-96C9-907AFB120A8D}" type="pres">
      <dgm:prSet presAssocID="{C712D40E-2867-4325-981C-5EED6888713A}" presName="space" presStyleCnt="0"/>
      <dgm:spPr/>
    </dgm:pt>
    <dgm:pt modelId="{7C58811D-8D19-40CE-89EC-CCE20868CD33}" type="pres">
      <dgm:prSet presAssocID="{B4C27B1A-540E-4AE1-A0FA-2373F8C7C00D}" presName="composite" presStyleCnt="0"/>
      <dgm:spPr/>
    </dgm:pt>
    <dgm:pt modelId="{B2079A84-D30A-43B1-81D6-28B09A3A7626}" type="pres">
      <dgm:prSet presAssocID="{B4C27B1A-540E-4AE1-A0FA-2373F8C7C00D}" presName="parTx" presStyleLbl="alignNode1" presStyleIdx="1" presStyleCnt="2">
        <dgm:presLayoutVars>
          <dgm:chMax val="0"/>
          <dgm:chPref val="0"/>
          <dgm:bulletEnabled val="1"/>
        </dgm:presLayoutVars>
      </dgm:prSet>
      <dgm:spPr/>
      <dgm:t>
        <a:bodyPr/>
        <a:lstStyle/>
        <a:p>
          <a:endParaRPr lang="zh-CN" altLang="en-US"/>
        </a:p>
      </dgm:t>
    </dgm:pt>
    <dgm:pt modelId="{802EC7D4-495D-4461-A980-1E7E46187315}" type="pres">
      <dgm:prSet presAssocID="{B4C27B1A-540E-4AE1-A0FA-2373F8C7C00D}" presName="desTx" presStyleLbl="alignAccFollowNode1" presStyleIdx="1" presStyleCnt="2">
        <dgm:presLayoutVars>
          <dgm:bulletEnabled val="1"/>
        </dgm:presLayoutVars>
      </dgm:prSet>
      <dgm:spPr/>
      <dgm:t>
        <a:bodyPr/>
        <a:lstStyle/>
        <a:p>
          <a:endParaRPr lang="zh-CN" altLang="en-US"/>
        </a:p>
      </dgm:t>
    </dgm:pt>
  </dgm:ptLst>
  <dgm:cxnLst>
    <dgm:cxn modelId="{8797336C-4331-4DC2-AE25-347037722617}" srcId="{B4C27B1A-540E-4AE1-A0FA-2373F8C7C00D}" destId="{C99DE165-A6A2-4E3C-8084-9A776539F414}" srcOrd="1" destOrd="0" parTransId="{15A961B9-3A0A-4FA7-8F0F-40C05929148C}" sibTransId="{39426DE8-50A8-4767-823C-76D6C28D84CD}"/>
    <dgm:cxn modelId="{748B2594-474D-425B-8D6A-157BB949C56E}" srcId="{B4C27B1A-540E-4AE1-A0FA-2373F8C7C00D}" destId="{888A2276-89F3-4140-9592-FE63CBE9FC6F}" srcOrd="2" destOrd="0" parTransId="{818B4799-89CB-4238-BB9D-472D60B40326}" sibTransId="{91715877-E58D-486D-8BF0-DC8A4048A0A2}"/>
    <dgm:cxn modelId="{7588A984-A004-4D3A-B9AD-8EBCD3E5E060}" type="presOf" srcId="{1F6D49FA-F901-4B50-ADEC-FB4488F0ECDE}" destId="{CD69D0B0-1884-46A2-8F10-145B05B89842}" srcOrd="0" destOrd="0" presId="urn:microsoft.com/office/officeart/2005/8/layout/hList1"/>
    <dgm:cxn modelId="{BE63DE9B-CDE6-4C28-B84D-A080B2864CB1}" type="presOf" srcId="{B4C27B1A-540E-4AE1-A0FA-2373F8C7C00D}" destId="{B2079A84-D30A-43B1-81D6-28B09A3A7626}" srcOrd="0" destOrd="0" presId="urn:microsoft.com/office/officeart/2005/8/layout/hList1"/>
    <dgm:cxn modelId="{0E812949-F4E6-4FAE-A911-F22FFCB65A29}" type="presOf" srcId="{A7353B7C-3B7F-483A-9D5D-EF2CA979FE0F}" destId="{03A5736B-9407-4E51-943F-C4127641647B}" srcOrd="0" destOrd="0" presId="urn:microsoft.com/office/officeart/2005/8/layout/hList1"/>
    <dgm:cxn modelId="{C8999BBC-2F22-4036-BE2F-27BE3D94CD58}" type="presOf" srcId="{C99DE165-A6A2-4E3C-8084-9A776539F414}" destId="{802EC7D4-495D-4461-A980-1E7E46187315}" srcOrd="0" destOrd="1" presId="urn:microsoft.com/office/officeart/2005/8/layout/hList1"/>
    <dgm:cxn modelId="{EE3D05E0-647B-4AE0-9969-EF9A6CEF939E}" srcId="{1F6D49FA-F901-4B50-ADEC-FB4488F0ECDE}" destId="{B3C1C06F-F101-4097-8E76-7221602C9DCD}" srcOrd="1" destOrd="0" parTransId="{394E42C2-1DBF-4E2F-9E18-2CBF2BCF68B0}" sibTransId="{512E8C54-A45B-4F19-A2E1-DFAF120AE3AC}"/>
    <dgm:cxn modelId="{E3527060-511E-407B-94F7-F1B7A8110B43}" srcId="{361C9BC5-B29F-48D4-9051-8080622C2265}" destId="{B4C27B1A-540E-4AE1-A0FA-2373F8C7C00D}" srcOrd="1" destOrd="0" parTransId="{2AF68E5C-339F-43E9-9BD8-1A6F133890E6}" sibTransId="{D0BBCA65-D6FF-4282-863E-E4E8ADE1401C}"/>
    <dgm:cxn modelId="{AC98711B-30F1-4F9A-90F2-E5CCA3B9A35E}" srcId="{B4C27B1A-540E-4AE1-A0FA-2373F8C7C00D}" destId="{E4ED0C5A-041D-4179-B2D9-667F95556395}" srcOrd="0" destOrd="0" parTransId="{9EA42626-615E-4243-9D5E-9458C4479806}" sibTransId="{242AF108-920E-4047-82C5-21EF27E335D8}"/>
    <dgm:cxn modelId="{90A5E980-4063-4E8B-B918-C4BAF3B1F2BA}" type="presOf" srcId="{B3C1C06F-F101-4097-8E76-7221602C9DCD}" destId="{03A5736B-9407-4E51-943F-C4127641647B}" srcOrd="0" destOrd="1" presId="urn:microsoft.com/office/officeart/2005/8/layout/hList1"/>
    <dgm:cxn modelId="{FB5B8E72-0B22-4D45-99E3-6EC7140F0AB3}" type="presOf" srcId="{361C9BC5-B29F-48D4-9051-8080622C2265}" destId="{855C61C3-9681-46A9-85A5-1E65B56A782C}" srcOrd="0" destOrd="0" presId="urn:microsoft.com/office/officeart/2005/8/layout/hList1"/>
    <dgm:cxn modelId="{B8FBCF65-8CE6-4959-A94A-4AFCB263801D}" srcId="{361C9BC5-B29F-48D4-9051-8080622C2265}" destId="{1F6D49FA-F901-4B50-ADEC-FB4488F0ECDE}" srcOrd="0" destOrd="0" parTransId="{3BCE62CD-17F6-4BDE-88CF-B2E57C113250}" sibTransId="{C712D40E-2867-4325-981C-5EED6888713A}"/>
    <dgm:cxn modelId="{5D0AE4FB-E321-463C-B9B1-FD65C5AF83CD}" type="presOf" srcId="{E4ED0C5A-041D-4179-B2D9-667F95556395}" destId="{802EC7D4-495D-4461-A980-1E7E46187315}" srcOrd="0" destOrd="0" presId="urn:microsoft.com/office/officeart/2005/8/layout/hList1"/>
    <dgm:cxn modelId="{9018C1BE-37B3-488E-A8BA-C8A16612C9FC}" type="presOf" srcId="{888A2276-89F3-4140-9592-FE63CBE9FC6F}" destId="{802EC7D4-495D-4461-A980-1E7E46187315}" srcOrd="0" destOrd="2" presId="urn:microsoft.com/office/officeart/2005/8/layout/hList1"/>
    <dgm:cxn modelId="{D31F8A4A-4BE7-48FE-B7E3-22A5225B721F}" srcId="{1F6D49FA-F901-4B50-ADEC-FB4488F0ECDE}" destId="{A7353B7C-3B7F-483A-9D5D-EF2CA979FE0F}" srcOrd="0" destOrd="0" parTransId="{BCE185A7-04EA-450F-8DE8-10725E84408C}" sibTransId="{949DC585-CA63-48CC-A0DD-6DDF763B9D5E}"/>
    <dgm:cxn modelId="{88BF604C-1904-459E-B3C1-82432CC3C6AA}" type="presParOf" srcId="{855C61C3-9681-46A9-85A5-1E65B56A782C}" destId="{C9C28BD1-EF4F-4CA1-9BA9-72A7B8BFFCFD}" srcOrd="0" destOrd="0" presId="urn:microsoft.com/office/officeart/2005/8/layout/hList1"/>
    <dgm:cxn modelId="{8D44B271-6CFA-498C-9A7C-9B0866F8B7E8}" type="presParOf" srcId="{C9C28BD1-EF4F-4CA1-9BA9-72A7B8BFFCFD}" destId="{CD69D0B0-1884-46A2-8F10-145B05B89842}" srcOrd="0" destOrd="0" presId="urn:microsoft.com/office/officeart/2005/8/layout/hList1"/>
    <dgm:cxn modelId="{E6030247-9935-40B7-97A0-29A74D32B9B3}" type="presParOf" srcId="{C9C28BD1-EF4F-4CA1-9BA9-72A7B8BFFCFD}" destId="{03A5736B-9407-4E51-943F-C4127641647B}" srcOrd="1" destOrd="0" presId="urn:microsoft.com/office/officeart/2005/8/layout/hList1"/>
    <dgm:cxn modelId="{7A0C3FFE-0952-48F8-A6F9-DFCD5564103D}" type="presParOf" srcId="{855C61C3-9681-46A9-85A5-1E65B56A782C}" destId="{E002B729-091C-462E-96C9-907AFB120A8D}" srcOrd="1" destOrd="0" presId="urn:microsoft.com/office/officeart/2005/8/layout/hList1"/>
    <dgm:cxn modelId="{607FB96D-1A3C-4ABF-B086-75C824EE5DFA}" type="presParOf" srcId="{855C61C3-9681-46A9-85A5-1E65B56A782C}" destId="{7C58811D-8D19-40CE-89EC-CCE20868CD33}" srcOrd="2" destOrd="0" presId="urn:microsoft.com/office/officeart/2005/8/layout/hList1"/>
    <dgm:cxn modelId="{CD61260C-10A3-495F-B435-EF004E25E192}" type="presParOf" srcId="{7C58811D-8D19-40CE-89EC-CCE20868CD33}" destId="{B2079A84-D30A-43B1-81D6-28B09A3A7626}" srcOrd="0" destOrd="0" presId="urn:microsoft.com/office/officeart/2005/8/layout/hList1"/>
    <dgm:cxn modelId="{D65B1510-D8CD-42E0-B790-D98AD9EADCD5}" type="presParOf" srcId="{7C58811D-8D19-40CE-89EC-CCE20868CD33}" destId="{802EC7D4-495D-4461-A980-1E7E46187315}"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lvl="0" algn="ctr" defTabSz="711200">
            <a:lnSpc>
              <a:spcPct val="90000"/>
            </a:lnSpc>
            <a:spcBef>
              <a:spcPct val="0"/>
            </a:spcBef>
            <a:spcAft>
              <a:spcPct val="35000"/>
            </a:spcAft>
          </a:pPr>
          <a:r>
            <a:rPr lang="zh-CN" altLang="en-US" sz="1600" b="1" kern="1200" dirty="0" smtClean="0">
              <a:latin typeface="微软雅黑" panose="020B0503020204020204" pitchFamily="34" charset="-122"/>
              <a:ea typeface="微软雅黑" panose="020B0503020204020204" pitchFamily="34" charset="-122"/>
            </a:rPr>
            <a:t>不同于网络应用</a:t>
          </a:r>
          <a:endParaRPr lang="zh-CN" altLang="en-US" sz="1600" b="1" kern="1200" dirty="0">
            <a:latin typeface="微软雅黑" panose="020B0503020204020204" pitchFamily="34" charset="-122"/>
            <a:ea typeface="微软雅黑" panose="020B0503020204020204" pitchFamily="34" charset="-122"/>
          </a:endParaRP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sz="1400" b="1" kern="1200" dirty="0" smtClean="0">
              <a:latin typeface="微软雅黑" panose="020B0503020204020204" pitchFamily="34" charset="-122"/>
              <a:ea typeface="微软雅黑" panose="020B0503020204020204" pitchFamily="34" charset="-122"/>
            </a:rPr>
            <a:t>万维网</a:t>
          </a:r>
          <a:endParaRPr lang="en-US" altLang="zh-CN" sz="1400" b="1" kern="1200" dirty="0" smtClean="0">
            <a:latin typeface="微软雅黑" panose="020B0503020204020204" pitchFamily="34" charset="-122"/>
            <a:ea typeface="微软雅黑" panose="020B0503020204020204" pitchFamily="34" charset="-122"/>
          </a:endParaRP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zh-CN" sz="1400" b="1" kern="1200" dirty="0" smtClean="0">
              <a:latin typeface="微软雅黑" panose="020B0503020204020204" pitchFamily="34" charset="-122"/>
              <a:ea typeface="微软雅黑" panose="020B0503020204020204" pitchFamily="34" charset="-122"/>
            </a:rPr>
            <a:t>电子邮件</a:t>
          </a:r>
          <a:endParaRPr lang="en-US" altLang="zh-CN" sz="1400" b="1" kern="1200" dirty="0" smtClean="0">
            <a:latin typeface="微软雅黑" panose="020B0503020204020204" pitchFamily="34" charset="-122"/>
            <a:ea typeface="微软雅黑" panose="020B0503020204020204"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文件传输</a:t>
          </a:r>
          <a:endParaRPr lang="en-US" altLang="zh-CN" sz="1400" b="1" kern="1200" dirty="0" smtClean="0">
            <a:latin typeface="微软雅黑" panose="020B0503020204020204" pitchFamily="34" charset="-122"/>
            <a:ea typeface="微软雅黑" panose="020B0503020204020204"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en-US" sz="1400" b="1" kern="1200" dirty="0" smtClean="0">
              <a:latin typeface="微软雅黑" panose="020B0503020204020204" pitchFamily="34" charset="-122"/>
              <a:ea typeface="微软雅黑" panose="020B0503020204020204" pitchFamily="34" charset="-122"/>
            </a:rPr>
            <a:t>HTTP</a:t>
          </a:r>
          <a:endParaRPr lang="en-US" altLang="zh-CN" sz="1400" b="1" kern="1200" dirty="0" smtClean="0">
            <a:latin typeface="微软雅黑" panose="020B0503020204020204" pitchFamily="34" charset="-122"/>
            <a:ea typeface="微软雅黑" panose="020B0503020204020204" pitchFamily="34" charset="-122"/>
          </a:endParaRP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en-US" altLang="zh-CN" sz="1400" b="1" kern="1200" dirty="0" smtClean="0">
              <a:latin typeface="微软雅黑" panose="020B0503020204020204" pitchFamily="34" charset="-122"/>
              <a:ea typeface="微软雅黑" panose="020B0503020204020204" pitchFamily="34" charset="-122"/>
            </a:rPr>
            <a:t>SMTP</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smtClean="0">
              <a:latin typeface="微软雅黑" panose="020B0503020204020204" pitchFamily="34" charset="-122"/>
              <a:ea typeface="微软雅黑" panose="020B0503020204020204" pitchFamily="34" charset="-122"/>
            </a:rPr>
            <a:t>POP3</a:t>
          </a:r>
          <a:endParaRPr lang="zh-CN" altLang="en-US" sz="1400" b="1" kern="1200" dirty="0">
            <a:latin typeface="微软雅黑" panose="020B0503020204020204" pitchFamily="34" charset="-122"/>
            <a:ea typeface="微软雅黑" panose="020B0503020204020204"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en-US" altLang="zh-CN" sz="1400" b="1" kern="1200" dirty="0" smtClean="0">
              <a:latin typeface="微软雅黑" panose="020B0503020204020204" pitchFamily="34" charset="-122"/>
              <a:ea typeface="微软雅黑" panose="020B0503020204020204" pitchFamily="34" charset="-122"/>
            </a:rPr>
            <a:t>FTP</a:t>
          </a:r>
          <a:endParaRPr lang="zh-CN" altLang="en-US" sz="1400" b="1" kern="1200" dirty="0">
            <a:latin typeface="微软雅黑" panose="020B0503020204020204" pitchFamily="34" charset="-122"/>
            <a:ea typeface="微软雅黑" panose="020B0503020204020204" pitchFamily="34" charset="-122"/>
          </a:endParaRPr>
        </a:p>
      </dsp:txBody>
      <dsp:txXfrm>
        <a:off x="1992007" y="1273099"/>
        <a:ext cx="1808551" cy="30570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2">
                <a:hueOff val="0"/>
                <a:satOff val="0"/>
                <a:lumOff val="0"/>
                <a:alphaOff val="0"/>
                <a:tint val="50000"/>
                <a:satMod val="300000"/>
              </a:schemeClr>
            </a:gs>
            <a:gs pos="35000">
              <a:schemeClr val="accent2">
                <a:hueOff val="0"/>
                <a:satOff val="0"/>
                <a:lumOff val="0"/>
                <a:alphaOff val="0"/>
                <a:tint val="37000"/>
                <a:satMod val="300000"/>
              </a:schemeClr>
            </a:gs>
            <a:gs pos="100000">
              <a:schemeClr val="accent2">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lvl="0" algn="ctr" defTabSz="711200">
            <a:lnSpc>
              <a:spcPct val="90000"/>
            </a:lnSpc>
            <a:spcBef>
              <a:spcPct val="0"/>
            </a:spcBef>
            <a:spcAft>
              <a:spcPct val="35000"/>
            </a:spcAft>
          </a:pPr>
          <a:r>
            <a:rPr lang="zh-CN" altLang="en-US" sz="1600" b="1" kern="1200" dirty="0" smtClean="0">
              <a:latin typeface="微软雅黑" panose="020B0503020204020204" pitchFamily="34" charset="-122"/>
              <a:ea typeface="微软雅黑" panose="020B0503020204020204" pitchFamily="34" charset="-122"/>
            </a:rPr>
            <a:t>许多都基于客户</a:t>
          </a:r>
          <a:r>
            <a:rPr lang="en-US" altLang="zh-CN" sz="1600" b="1" kern="1200" dirty="0" smtClean="0">
              <a:latin typeface="微软雅黑" panose="020B0503020204020204" pitchFamily="34" charset="-122"/>
              <a:ea typeface="微软雅黑" panose="020B0503020204020204" pitchFamily="34" charset="-122"/>
            </a:rPr>
            <a:t>-</a:t>
          </a:r>
          <a:r>
            <a:rPr lang="zh-CN" altLang="en-US" sz="1600" b="1" kern="1200" dirty="0" smtClean="0">
              <a:latin typeface="微软雅黑" panose="020B0503020204020204" pitchFamily="34" charset="-122"/>
              <a:ea typeface="微软雅黑" panose="020B0503020204020204" pitchFamily="34" charset="-122"/>
            </a:rPr>
            <a:t>服务器方式</a:t>
          </a:r>
          <a:endParaRPr lang="zh-CN" altLang="en-US" sz="1600" b="1" kern="1200" dirty="0">
            <a:latin typeface="微软雅黑" panose="020B0503020204020204" pitchFamily="34" charset="-122"/>
            <a:ea typeface="微软雅黑" panose="020B0503020204020204" pitchFamily="34" charset="-122"/>
          </a:endParaRP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客户 </a:t>
          </a:r>
          <a:r>
            <a:rPr lang="en-US" altLang="zh-CN" sz="1400" b="1" kern="1200" dirty="0" smtClean="0">
              <a:latin typeface="微软雅黑" panose="020B0503020204020204" pitchFamily="34" charset="-122"/>
              <a:ea typeface="微软雅黑" panose="020B0503020204020204" pitchFamily="34" charset="-122"/>
            </a:rPr>
            <a:t>(client)</a:t>
          </a: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zh-CN" sz="1400" b="1" kern="1200" dirty="0" smtClean="0">
              <a:latin typeface="微软雅黑" panose="020B0503020204020204" pitchFamily="34" charset="-122"/>
              <a:ea typeface="微软雅黑" panose="020B0503020204020204" pitchFamily="34" charset="-122"/>
            </a:rPr>
            <a:t>服务请求方</a:t>
          </a:r>
          <a:endParaRPr lang="en-US" altLang="zh-CN" sz="1400" b="1" kern="1200" dirty="0" smtClean="0">
            <a:latin typeface="微软雅黑" panose="020B0503020204020204" pitchFamily="34" charset="-122"/>
            <a:ea typeface="微软雅黑" panose="020B0503020204020204"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应用进程</a:t>
          </a:r>
          <a:endParaRPr lang="en-US" altLang="zh-CN" sz="1400" b="1" kern="1200" dirty="0" smtClean="0">
            <a:latin typeface="微软雅黑" panose="020B0503020204020204" pitchFamily="34" charset="-122"/>
            <a:ea typeface="微软雅黑" panose="020B0503020204020204"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服务器 </a:t>
          </a:r>
          <a:r>
            <a:rPr lang="en-US" altLang="zh-CN" sz="1400" b="1" kern="1200" dirty="0" smtClean="0">
              <a:latin typeface="微软雅黑" panose="020B0503020204020204" pitchFamily="34" charset="-122"/>
              <a:ea typeface="微软雅黑" panose="020B0503020204020204" pitchFamily="34" charset="-122"/>
            </a:rPr>
            <a:t>(server)</a:t>
          </a: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服务提供方</a:t>
          </a:r>
          <a:endParaRPr lang="zh-CN" altLang="en-US" sz="1400" b="1" kern="1200" dirty="0">
            <a:latin typeface="微软雅黑" panose="020B0503020204020204" pitchFamily="34" charset="-122"/>
            <a:ea typeface="微软雅黑" panose="020B0503020204020204"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应用进程</a:t>
          </a:r>
          <a:endParaRPr lang="zh-CN" altLang="en-US" sz="1400" b="1" kern="1200" dirty="0">
            <a:latin typeface="微软雅黑" panose="020B0503020204020204" pitchFamily="34" charset="-122"/>
            <a:ea typeface="微软雅黑" panose="020B0503020204020204" pitchFamily="34" charset="-122"/>
          </a:endParaRPr>
        </a:p>
      </dsp:txBody>
      <dsp:txXfrm>
        <a:off x="1992007" y="1273099"/>
        <a:ext cx="1808551" cy="30570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69D0B0-1884-46A2-8F10-145B05B89842}">
      <dsp:nvSpPr>
        <dsp:cNvPr id="0" name=""/>
        <dsp:cNvSpPr/>
      </dsp:nvSpPr>
      <dsp:spPr>
        <a:xfrm>
          <a:off x="31" y="1007"/>
          <a:ext cx="3025569" cy="5760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smtClean="0">
              <a:latin typeface="微软雅黑" panose="020B0503020204020204" pitchFamily="34" charset="-122"/>
              <a:ea typeface="微软雅黑" panose="020B0503020204020204" pitchFamily="34" charset="-122"/>
            </a:rPr>
            <a:t>递归查询</a:t>
          </a:r>
          <a:endParaRPr lang="zh-CN" altLang="en-US" sz="1800" b="1" kern="1200" dirty="0">
            <a:latin typeface="微软雅黑" panose="020B0503020204020204" pitchFamily="34" charset="-122"/>
            <a:ea typeface="微软雅黑" panose="020B0503020204020204" pitchFamily="34" charset="-122"/>
          </a:endParaRPr>
        </a:p>
      </dsp:txBody>
      <dsp:txXfrm>
        <a:off x="31" y="1007"/>
        <a:ext cx="3025569" cy="576000"/>
      </dsp:txXfrm>
    </dsp:sp>
    <dsp:sp modelId="{03A5736B-9407-4E51-943F-C4127641647B}">
      <dsp:nvSpPr>
        <dsp:cNvPr id="0" name=""/>
        <dsp:cNvSpPr/>
      </dsp:nvSpPr>
      <dsp:spPr>
        <a:xfrm>
          <a:off x="31" y="577007"/>
          <a:ext cx="3025569" cy="2264624"/>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通常，主机向本地域名服务器查询时使用。</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主机只需发送一次请求，然后就能得到本地域名服务器的查询结果，主机不关心也不参与后续查询的过程。</a:t>
          </a:r>
          <a:endParaRPr lang="zh-CN" altLang="en-US" sz="1600" b="1" kern="1200" dirty="0">
            <a:latin typeface="微软雅黑" panose="020B0503020204020204" pitchFamily="34" charset="-122"/>
            <a:ea typeface="微软雅黑" panose="020B0503020204020204" pitchFamily="34" charset="-122"/>
          </a:endParaRPr>
        </a:p>
      </dsp:txBody>
      <dsp:txXfrm>
        <a:off x="31" y="577007"/>
        <a:ext cx="3025569" cy="2264624"/>
      </dsp:txXfrm>
    </dsp:sp>
    <dsp:sp modelId="{B2079A84-D30A-43B1-81D6-28B09A3A7626}">
      <dsp:nvSpPr>
        <dsp:cNvPr id="0" name=""/>
        <dsp:cNvSpPr/>
      </dsp:nvSpPr>
      <dsp:spPr>
        <a:xfrm>
          <a:off x="3449180" y="1007"/>
          <a:ext cx="3025569" cy="5760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smtClean="0">
              <a:latin typeface="微软雅黑" panose="020B0503020204020204" pitchFamily="34" charset="-122"/>
              <a:ea typeface="微软雅黑" panose="020B0503020204020204" pitchFamily="34" charset="-122"/>
            </a:rPr>
            <a:t>迭代查询</a:t>
          </a:r>
          <a:endParaRPr lang="zh-CN" altLang="en-US" sz="1800" b="1" kern="1200" dirty="0">
            <a:latin typeface="微软雅黑" panose="020B0503020204020204" pitchFamily="34" charset="-122"/>
            <a:ea typeface="微软雅黑" panose="020B0503020204020204" pitchFamily="34" charset="-122"/>
          </a:endParaRPr>
        </a:p>
      </dsp:txBody>
      <dsp:txXfrm>
        <a:off x="3449180" y="1007"/>
        <a:ext cx="3025569" cy="576000"/>
      </dsp:txXfrm>
    </dsp:sp>
    <dsp:sp modelId="{802EC7D4-495D-4461-A980-1E7E46187315}">
      <dsp:nvSpPr>
        <dsp:cNvPr id="0" name=""/>
        <dsp:cNvSpPr/>
      </dsp:nvSpPr>
      <dsp:spPr>
        <a:xfrm>
          <a:off x="3449180" y="577007"/>
          <a:ext cx="3025569" cy="2264624"/>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本地域名服务器向根域名服务器等查询时使用。</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要么给出所要查询的 </a:t>
          </a:r>
          <a:r>
            <a:rPr lang="en-US" altLang="en-US" sz="1600" b="1" kern="1200" dirty="0" smtClean="0">
              <a:latin typeface="微软雅黑" panose="020B0503020204020204" pitchFamily="34" charset="-122"/>
              <a:ea typeface="微软雅黑" panose="020B0503020204020204" pitchFamily="34" charset="-122"/>
            </a:rPr>
            <a:t>IP </a:t>
          </a:r>
          <a:r>
            <a:rPr lang="zh-CN" altLang="en-US" sz="1600" b="1" kern="1200" dirty="0" smtClean="0">
              <a:latin typeface="微软雅黑" panose="020B0503020204020204" pitchFamily="34" charset="-122"/>
              <a:ea typeface="微软雅黑" panose="020B0503020204020204" pitchFamily="34" charset="-122"/>
            </a:rPr>
            <a:t>地址，要么告诉下一个要查询的域名服务器的 </a:t>
          </a:r>
          <a:r>
            <a:rPr lang="en-US" altLang="zh-CN" sz="1600" b="1" kern="1200" dirty="0" smtClean="0">
              <a:latin typeface="微软雅黑" panose="020B0503020204020204" pitchFamily="34" charset="-122"/>
              <a:ea typeface="微软雅黑" panose="020B0503020204020204" pitchFamily="34" charset="-122"/>
            </a:rPr>
            <a:t>IP </a:t>
          </a:r>
          <a:r>
            <a:rPr lang="zh-CN" altLang="en-US" sz="1600" b="1" kern="1200" dirty="0" smtClean="0">
              <a:latin typeface="微软雅黑" panose="020B0503020204020204" pitchFamily="34" charset="-122"/>
              <a:ea typeface="微软雅黑" panose="020B0503020204020204" pitchFamily="34" charset="-122"/>
            </a:rPr>
            <a:t>地址。</a:t>
          </a: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本地域名服务器继续后续查询。</a:t>
          </a:r>
        </a:p>
      </dsp:txBody>
      <dsp:txXfrm>
        <a:off x="3449180" y="577007"/>
        <a:ext cx="3025569" cy="2264624"/>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7.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11.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image" Target="../media/image14.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20.e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image" Target="../media/image18.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32.v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image" Target="../media/image43.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2026/6/27</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a:t>
            </a:fld>
            <a:endParaRPr lang="zh-CN" altLang="en-US"/>
          </a:p>
        </p:txBody>
      </p:sp>
    </p:spTree>
    <p:extLst>
      <p:ext uri="{BB962C8B-B14F-4D97-AF65-F5344CB8AC3E}">
        <p14:creationId xmlns:p14="http://schemas.microsoft.com/office/powerpoint/2010/main" val="30674579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16897144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a:t>
            </a:fld>
            <a:endParaRPr lang="zh-CN" altLang="en-US"/>
          </a:p>
        </p:txBody>
      </p:sp>
    </p:spTree>
    <p:extLst>
      <p:ext uri="{BB962C8B-B14F-4D97-AF65-F5344CB8AC3E}">
        <p14:creationId xmlns:p14="http://schemas.microsoft.com/office/powerpoint/2010/main" val="270421449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a:t>
            </a:fld>
            <a:endParaRPr lang="zh-CN" altLang="en-US"/>
          </a:p>
        </p:txBody>
      </p:sp>
    </p:spTree>
    <p:extLst>
      <p:ext uri="{BB962C8B-B14F-4D97-AF65-F5344CB8AC3E}">
        <p14:creationId xmlns:p14="http://schemas.microsoft.com/office/powerpoint/2010/main" val="6515972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zh-CN" sz="1200" b="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169478836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a:t>
            </a:fld>
            <a:endParaRPr lang="zh-CN" altLang="en-US"/>
          </a:p>
        </p:txBody>
      </p:sp>
    </p:spTree>
    <p:extLst>
      <p:ext uri="{BB962C8B-B14F-4D97-AF65-F5344CB8AC3E}">
        <p14:creationId xmlns:p14="http://schemas.microsoft.com/office/powerpoint/2010/main" val="102838178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a:t>
            </a:fld>
            <a:endParaRPr lang="zh-CN" altLang="en-US"/>
          </a:p>
        </p:txBody>
      </p:sp>
    </p:spTree>
    <p:extLst>
      <p:ext uri="{BB962C8B-B14F-4D97-AF65-F5344CB8AC3E}">
        <p14:creationId xmlns:p14="http://schemas.microsoft.com/office/powerpoint/2010/main" val="136822252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40226429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a:t>
            </a:fld>
            <a:endParaRPr lang="zh-CN" altLang="en-US"/>
          </a:p>
        </p:txBody>
      </p:sp>
    </p:spTree>
    <p:extLst>
      <p:ext uri="{BB962C8B-B14F-4D97-AF65-F5344CB8AC3E}">
        <p14:creationId xmlns:p14="http://schemas.microsoft.com/office/powerpoint/2010/main" val="178985387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a:t>
            </a:fld>
            <a:endParaRPr lang="zh-CN" altLang="en-US"/>
          </a:p>
        </p:txBody>
      </p:sp>
    </p:spTree>
    <p:extLst>
      <p:ext uri="{BB962C8B-B14F-4D97-AF65-F5344CB8AC3E}">
        <p14:creationId xmlns:p14="http://schemas.microsoft.com/office/powerpoint/2010/main" val="354822048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a:t>
            </a:fld>
            <a:endParaRPr lang="zh-CN" altLang="en-US"/>
          </a:p>
        </p:txBody>
      </p:sp>
    </p:spTree>
    <p:extLst>
      <p:ext uri="{BB962C8B-B14F-4D97-AF65-F5344CB8AC3E}">
        <p14:creationId xmlns:p14="http://schemas.microsoft.com/office/powerpoint/2010/main" val="247174088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a:t>
            </a:fld>
            <a:endParaRPr lang="zh-CN" altLang="en-US"/>
          </a:p>
        </p:txBody>
      </p:sp>
    </p:spTree>
    <p:extLst>
      <p:ext uri="{BB962C8B-B14F-4D97-AF65-F5344CB8AC3E}">
        <p14:creationId xmlns:p14="http://schemas.microsoft.com/office/powerpoint/2010/main" val="256496036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a:t>
            </a:fld>
            <a:endParaRPr lang="zh-CN" altLang="en-US"/>
          </a:p>
        </p:txBody>
      </p:sp>
    </p:spTree>
    <p:extLst>
      <p:ext uri="{BB962C8B-B14F-4D97-AF65-F5344CB8AC3E}">
        <p14:creationId xmlns:p14="http://schemas.microsoft.com/office/powerpoint/2010/main" val="274241071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a:t>
            </a:fld>
            <a:endParaRPr lang="zh-CN" altLang="en-US"/>
          </a:p>
        </p:txBody>
      </p:sp>
    </p:spTree>
    <p:extLst>
      <p:ext uri="{BB962C8B-B14F-4D97-AF65-F5344CB8AC3E}">
        <p14:creationId xmlns:p14="http://schemas.microsoft.com/office/powerpoint/2010/main" val="9024474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a:t>
            </a:fld>
            <a:endParaRPr lang="zh-CN" altLang="en-US"/>
          </a:p>
        </p:txBody>
      </p:sp>
    </p:spTree>
    <p:extLst>
      <p:ext uri="{BB962C8B-B14F-4D97-AF65-F5344CB8AC3E}">
        <p14:creationId xmlns:p14="http://schemas.microsoft.com/office/powerpoint/2010/main" val="283879024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322308012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179184548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12364302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a:t>
            </a:fld>
            <a:endParaRPr lang="zh-CN" altLang="en-US"/>
          </a:p>
        </p:txBody>
      </p:sp>
    </p:spTree>
    <p:extLst>
      <p:ext uri="{BB962C8B-B14F-4D97-AF65-F5344CB8AC3E}">
        <p14:creationId xmlns:p14="http://schemas.microsoft.com/office/powerpoint/2010/main" val="28793945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311887036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a:t>
            </a:fld>
            <a:endParaRPr lang="zh-CN" altLang="en-US"/>
          </a:p>
        </p:txBody>
      </p:sp>
    </p:spTree>
    <p:extLst>
      <p:ext uri="{BB962C8B-B14F-4D97-AF65-F5344CB8AC3E}">
        <p14:creationId xmlns:p14="http://schemas.microsoft.com/office/powerpoint/2010/main" val="24278054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a:t>
            </a:fld>
            <a:endParaRPr lang="zh-CN" altLang="en-US"/>
          </a:p>
        </p:txBody>
      </p:sp>
    </p:spTree>
    <p:extLst>
      <p:ext uri="{BB962C8B-B14F-4D97-AF65-F5344CB8AC3E}">
        <p14:creationId xmlns:p14="http://schemas.microsoft.com/office/powerpoint/2010/main" val="9416243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73982072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a:t>
            </a:fld>
            <a:endParaRPr lang="zh-CN" altLang="en-US"/>
          </a:p>
        </p:txBody>
      </p:sp>
    </p:spTree>
    <p:extLst>
      <p:ext uri="{BB962C8B-B14F-4D97-AF65-F5344CB8AC3E}">
        <p14:creationId xmlns:p14="http://schemas.microsoft.com/office/powerpoint/2010/main" val="38304047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sz="1200" b="1" dirty="0" smtClean="0">
              <a:solidFill>
                <a:schemeClr val="bg1"/>
              </a:solidFill>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149113393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a:t>
            </a:fld>
            <a:endParaRPr lang="zh-CN" altLang="en-US"/>
          </a:p>
        </p:txBody>
      </p:sp>
    </p:spTree>
    <p:extLst>
      <p:ext uri="{BB962C8B-B14F-4D97-AF65-F5344CB8AC3E}">
        <p14:creationId xmlns:p14="http://schemas.microsoft.com/office/powerpoint/2010/main" val="17034002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a:t>
            </a:fld>
            <a:endParaRPr lang="zh-CN" altLang="en-US"/>
          </a:p>
        </p:txBody>
      </p:sp>
    </p:spTree>
    <p:extLst>
      <p:ext uri="{BB962C8B-B14F-4D97-AF65-F5344CB8AC3E}">
        <p14:creationId xmlns:p14="http://schemas.microsoft.com/office/powerpoint/2010/main" val="188400187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a:t>
            </a:fld>
            <a:endParaRPr lang="zh-CN" altLang="en-US"/>
          </a:p>
        </p:txBody>
      </p:sp>
    </p:spTree>
    <p:extLst>
      <p:ext uri="{BB962C8B-B14F-4D97-AF65-F5344CB8AC3E}">
        <p14:creationId xmlns:p14="http://schemas.microsoft.com/office/powerpoint/2010/main" val="17944431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32</a:t>
            </a:fld>
            <a:endParaRPr lang="zh-CN" altLang="en-US"/>
          </a:p>
        </p:txBody>
      </p:sp>
    </p:spTree>
    <p:extLst>
      <p:ext uri="{BB962C8B-B14F-4D97-AF65-F5344CB8AC3E}">
        <p14:creationId xmlns:p14="http://schemas.microsoft.com/office/powerpoint/2010/main" val="1425468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a:t>
            </a:fld>
            <a:endParaRPr lang="zh-CN" altLang="en-US"/>
          </a:p>
        </p:txBody>
      </p:sp>
    </p:spTree>
    <p:extLst>
      <p:ext uri="{BB962C8B-B14F-4D97-AF65-F5344CB8AC3E}">
        <p14:creationId xmlns:p14="http://schemas.microsoft.com/office/powerpoint/2010/main" val="20722664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35</a:t>
            </a:fld>
            <a:endParaRPr lang="zh-CN" altLang="en-US"/>
          </a:p>
        </p:txBody>
      </p:sp>
    </p:spTree>
    <p:extLst>
      <p:ext uri="{BB962C8B-B14F-4D97-AF65-F5344CB8AC3E}">
        <p14:creationId xmlns:p14="http://schemas.microsoft.com/office/powerpoint/2010/main" val="428435030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36</a:t>
            </a:fld>
            <a:endParaRPr lang="zh-CN" altLang="en-US"/>
          </a:p>
        </p:txBody>
      </p:sp>
    </p:spTree>
    <p:extLst>
      <p:ext uri="{BB962C8B-B14F-4D97-AF65-F5344CB8AC3E}">
        <p14:creationId xmlns:p14="http://schemas.microsoft.com/office/powerpoint/2010/main" val="123568008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37</a:t>
            </a:fld>
            <a:endParaRPr lang="zh-CN" altLang="en-US"/>
          </a:p>
        </p:txBody>
      </p:sp>
    </p:spTree>
    <p:extLst>
      <p:ext uri="{BB962C8B-B14F-4D97-AF65-F5344CB8AC3E}">
        <p14:creationId xmlns:p14="http://schemas.microsoft.com/office/powerpoint/2010/main" val="77843985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38</a:t>
            </a:fld>
            <a:endParaRPr lang="zh-CN" altLang="en-US"/>
          </a:p>
        </p:txBody>
      </p:sp>
    </p:spTree>
    <p:extLst>
      <p:ext uri="{BB962C8B-B14F-4D97-AF65-F5344CB8AC3E}">
        <p14:creationId xmlns:p14="http://schemas.microsoft.com/office/powerpoint/2010/main" val="179872167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39</a:t>
            </a:fld>
            <a:endParaRPr lang="zh-CN" altLang="en-US"/>
          </a:p>
        </p:txBody>
      </p:sp>
    </p:spTree>
    <p:extLst>
      <p:ext uri="{BB962C8B-B14F-4D97-AF65-F5344CB8AC3E}">
        <p14:creationId xmlns:p14="http://schemas.microsoft.com/office/powerpoint/2010/main" val="418703993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40</a:t>
            </a:fld>
            <a:endParaRPr lang="zh-CN" altLang="en-US"/>
          </a:p>
        </p:txBody>
      </p:sp>
    </p:spTree>
    <p:extLst>
      <p:ext uri="{BB962C8B-B14F-4D97-AF65-F5344CB8AC3E}">
        <p14:creationId xmlns:p14="http://schemas.microsoft.com/office/powerpoint/2010/main" val="92044467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41</a:t>
            </a:fld>
            <a:endParaRPr lang="zh-CN" altLang="en-US"/>
          </a:p>
        </p:txBody>
      </p:sp>
    </p:spTree>
    <p:extLst>
      <p:ext uri="{BB962C8B-B14F-4D97-AF65-F5344CB8AC3E}">
        <p14:creationId xmlns:p14="http://schemas.microsoft.com/office/powerpoint/2010/main" val="318081698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42</a:t>
            </a:fld>
            <a:endParaRPr lang="zh-CN" altLang="en-US"/>
          </a:p>
        </p:txBody>
      </p:sp>
    </p:spTree>
    <p:extLst>
      <p:ext uri="{BB962C8B-B14F-4D97-AF65-F5344CB8AC3E}">
        <p14:creationId xmlns:p14="http://schemas.microsoft.com/office/powerpoint/2010/main" val="11218586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b="0"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43</a:t>
            </a:fld>
            <a:endParaRPr lang="zh-CN" altLang="en-US"/>
          </a:p>
        </p:txBody>
      </p:sp>
    </p:spTree>
    <p:extLst>
      <p:ext uri="{BB962C8B-B14F-4D97-AF65-F5344CB8AC3E}">
        <p14:creationId xmlns:p14="http://schemas.microsoft.com/office/powerpoint/2010/main" val="217184680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44</a:t>
            </a:fld>
            <a:endParaRPr lang="zh-CN" altLang="en-US"/>
          </a:p>
        </p:txBody>
      </p:sp>
    </p:spTree>
    <p:extLst>
      <p:ext uri="{BB962C8B-B14F-4D97-AF65-F5344CB8AC3E}">
        <p14:creationId xmlns:p14="http://schemas.microsoft.com/office/powerpoint/2010/main" val="45102874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45</a:t>
            </a:fld>
            <a:endParaRPr lang="zh-CN" altLang="en-US"/>
          </a:p>
        </p:txBody>
      </p:sp>
    </p:spTree>
    <p:extLst>
      <p:ext uri="{BB962C8B-B14F-4D97-AF65-F5344CB8AC3E}">
        <p14:creationId xmlns:p14="http://schemas.microsoft.com/office/powerpoint/2010/main" val="162825961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46</a:t>
            </a:fld>
            <a:endParaRPr lang="zh-CN" altLang="en-US"/>
          </a:p>
        </p:txBody>
      </p:sp>
    </p:spTree>
    <p:extLst>
      <p:ext uri="{BB962C8B-B14F-4D97-AF65-F5344CB8AC3E}">
        <p14:creationId xmlns:p14="http://schemas.microsoft.com/office/powerpoint/2010/main" val="174694029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47</a:t>
            </a:fld>
            <a:endParaRPr lang="zh-CN" altLang="en-US"/>
          </a:p>
        </p:txBody>
      </p:sp>
    </p:spTree>
    <p:extLst>
      <p:ext uri="{BB962C8B-B14F-4D97-AF65-F5344CB8AC3E}">
        <p14:creationId xmlns:p14="http://schemas.microsoft.com/office/powerpoint/2010/main" val="38298024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48</a:t>
            </a:fld>
            <a:endParaRPr lang="zh-CN" altLang="en-US"/>
          </a:p>
        </p:txBody>
      </p:sp>
    </p:spTree>
    <p:extLst>
      <p:ext uri="{BB962C8B-B14F-4D97-AF65-F5344CB8AC3E}">
        <p14:creationId xmlns:p14="http://schemas.microsoft.com/office/powerpoint/2010/main" val="319657970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49</a:t>
            </a:fld>
            <a:endParaRPr lang="zh-CN" altLang="en-US"/>
          </a:p>
        </p:txBody>
      </p:sp>
    </p:spTree>
    <p:extLst>
      <p:ext uri="{BB962C8B-B14F-4D97-AF65-F5344CB8AC3E}">
        <p14:creationId xmlns:p14="http://schemas.microsoft.com/office/powerpoint/2010/main" val="75195965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50</a:t>
            </a:fld>
            <a:endParaRPr lang="zh-CN" altLang="en-US"/>
          </a:p>
        </p:txBody>
      </p:sp>
    </p:spTree>
    <p:extLst>
      <p:ext uri="{BB962C8B-B14F-4D97-AF65-F5344CB8AC3E}">
        <p14:creationId xmlns:p14="http://schemas.microsoft.com/office/powerpoint/2010/main" val="190290621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51</a:t>
            </a:fld>
            <a:endParaRPr lang="zh-CN" altLang="en-US"/>
          </a:p>
        </p:txBody>
      </p:sp>
    </p:spTree>
    <p:extLst>
      <p:ext uri="{BB962C8B-B14F-4D97-AF65-F5344CB8AC3E}">
        <p14:creationId xmlns:p14="http://schemas.microsoft.com/office/powerpoint/2010/main" val="277585042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52</a:t>
            </a:fld>
            <a:endParaRPr lang="zh-CN" altLang="en-US"/>
          </a:p>
        </p:txBody>
      </p:sp>
    </p:spTree>
    <p:extLst>
      <p:ext uri="{BB962C8B-B14F-4D97-AF65-F5344CB8AC3E}">
        <p14:creationId xmlns:p14="http://schemas.microsoft.com/office/powerpoint/2010/main" val="395986450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53</a:t>
            </a:fld>
            <a:endParaRPr lang="zh-CN" altLang="en-US"/>
          </a:p>
        </p:txBody>
      </p:sp>
    </p:spTree>
    <p:extLst>
      <p:ext uri="{BB962C8B-B14F-4D97-AF65-F5344CB8AC3E}">
        <p14:creationId xmlns:p14="http://schemas.microsoft.com/office/powerpoint/2010/main" val="30794836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54</a:t>
            </a:fld>
            <a:endParaRPr lang="zh-CN" altLang="en-US"/>
          </a:p>
        </p:txBody>
      </p:sp>
    </p:spTree>
    <p:extLst>
      <p:ext uri="{BB962C8B-B14F-4D97-AF65-F5344CB8AC3E}">
        <p14:creationId xmlns:p14="http://schemas.microsoft.com/office/powerpoint/2010/main" val="210922547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55</a:t>
            </a:fld>
            <a:endParaRPr lang="zh-CN" altLang="en-US"/>
          </a:p>
        </p:txBody>
      </p:sp>
    </p:spTree>
    <p:extLst>
      <p:ext uri="{BB962C8B-B14F-4D97-AF65-F5344CB8AC3E}">
        <p14:creationId xmlns:p14="http://schemas.microsoft.com/office/powerpoint/2010/main" val="1469347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56</a:t>
            </a:fld>
            <a:endParaRPr lang="zh-CN" altLang="en-US"/>
          </a:p>
        </p:txBody>
      </p:sp>
    </p:spTree>
    <p:extLst>
      <p:ext uri="{BB962C8B-B14F-4D97-AF65-F5344CB8AC3E}">
        <p14:creationId xmlns:p14="http://schemas.microsoft.com/office/powerpoint/2010/main" val="122846412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160764370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27037299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126025325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392574289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333977624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106623980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344714916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81738426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65</a:t>
            </a:fld>
            <a:endParaRPr lang="zh-CN" altLang="en-US"/>
          </a:p>
        </p:txBody>
      </p:sp>
    </p:spTree>
    <p:extLst>
      <p:ext uri="{BB962C8B-B14F-4D97-AF65-F5344CB8AC3E}">
        <p14:creationId xmlns:p14="http://schemas.microsoft.com/office/powerpoint/2010/main" val="111399067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66</a:t>
            </a:fld>
            <a:endParaRPr lang="zh-CN" altLang="en-US"/>
          </a:p>
        </p:txBody>
      </p:sp>
    </p:spTree>
    <p:extLst>
      <p:ext uri="{BB962C8B-B14F-4D97-AF65-F5344CB8AC3E}">
        <p14:creationId xmlns:p14="http://schemas.microsoft.com/office/powerpoint/2010/main" val="119114982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67</a:t>
            </a:fld>
            <a:endParaRPr lang="zh-CN" altLang="en-US"/>
          </a:p>
        </p:txBody>
      </p:sp>
    </p:spTree>
    <p:extLst>
      <p:ext uri="{BB962C8B-B14F-4D97-AF65-F5344CB8AC3E}">
        <p14:creationId xmlns:p14="http://schemas.microsoft.com/office/powerpoint/2010/main" val="415137622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68</a:t>
            </a:fld>
            <a:endParaRPr lang="zh-CN" altLang="en-US"/>
          </a:p>
        </p:txBody>
      </p:sp>
    </p:spTree>
    <p:extLst>
      <p:ext uri="{BB962C8B-B14F-4D97-AF65-F5344CB8AC3E}">
        <p14:creationId xmlns:p14="http://schemas.microsoft.com/office/powerpoint/2010/main" val="388140649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69</a:t>
            </a:fld>
            <a:endParaRPr lang="zh-CN" altLang="en-US"/>
          </a:p>
        </p:txBody>
      </p:sp>
    </p:spTree>
    <p:extLst>
      <p:ext uri="{BB962C8B-B14F-4D97-AF65-F5344CB8AC3E}">
        <p14:creationId xmlns:p14="http://schemas.microsoft.com/office/powerpoint/2010/main" val="230571802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70</a:t>
            </a:fld>
            <a:endParaRPr lang="zh-CN" altLang="en-US"/>
          </a:p>
        </p:txBody>
      </p:sp>
    </p:spTree>
    <p:extLst>
      <p:ext uri="{BB962C8B-B14F-4D97-AF65-F5344CB8AC3E}">
        <p14:creationId xmlns:p14="http://schemas.microsoft.com/office/powerpoint/2010/main" val="312914376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71</a:t>
            </a:fld>
            <a:endParaRPr lang="zh-CN" altLang="en-US"/>
          </a:p>
        </p:txBody>
      </p:sp>
    </p:spTree>
    <p:extLst>
      <p:ext uri="{BB962C8B-B14F-4D97-AF65-F5344CB8AC3E}">
        <p14:creationId xmlns:p14="http://schemas.microsoft.com/office/powerpoint/2010/main" val="163064279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72</a:t>
            </a:fld>
            <a:endParaRPr lang="zh-CN" altLang="en-US"/>
          </a:p>
        </p:txBody>
      </p:sp>
    </p:spTree>
    <p:extLst>
      <p:ext uri="{BB962C8B-B14F-4D97-AF65-F5344CB8AC3E}">
        <p14:creationId xmlns:p14="http://schemas.microsoft.com/office/powerpoint/2010/main" val="233086593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73</a:t>
            </a:fld>
            <a:endParaRPr lang="zh-CN" altLang="en-US"/>
          </a:p>
        </p:txBody>
      </p:sp>
    </p:spTree>
    <p:extLst>
      <p:ext uri="{BB962C8B-B14F-4D97-AF65-F5344CB8AC3E}">
        <p14:creationId xmlns:p14="http://schemas.microsoft.com/office/powerpoint/2010/main" val="370766765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74</a:t>
            </a:fld>
            <a:endParaRPr lang="zh-CN" altLang="en-US"/>
          </a:p>
        </p:txBody>
      </p:sp>
    </p:spTree>
    <p:extLst>
      <p:ext uri="{BB962C8B-B14F-4D97-AF65-F5344CB8AC3E}">
        <p14:creationId xmlns:p14="http://schemas.microsoft.com/office/powerpoint/2010/main" val="30412574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75</a:t>
            </a:fld>
            <a:endParaRPr lang="zh-CN" altLang="en-US"/>
          </a:p>
        </p:txBody>
      </p:sp>
    </p:spTree>
    <p:extLst>
      <p:ext uri="{BB962C8B-B14F-4D97-AF65-F5344CB8AC3E}">
        <p14:creationId xmlns:p14="http://schemas.microsoft.com/office/powerpoint/2010/main" val="376986199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76</a:t>
            </a:fld>
            <a:endParaRPr lang="zh-CN" altLang="en-US"/>
          </a:p>
        </p:txBody>
      </p:sp>
    </p:spTree>
    <p:extLst>
      <p:ext uri="{BB962C8B-B14F-4D97-AF65-F5344CB8AC3E}">
        <p14:creationId xmlns:p14="http://schemas.microsoft.com/office/powerpoint/2010/main" val="389604301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77</a:t>
            </a:fld>
            <a:endParaRPr lang="zh-CN" altLang="en-US"/>
          </a:p>
        </p:txBody>
      </p:sp>
    </p:spTree>
    <p:extLst>
      <p:ext uri="{BB962C8B-B14F-4D97-AF65-F5344CB8AC3E}">
        <p14:creationId xmlns:p14="http://schemas.microsoft.com/office/powerpoint/2010/main" val="281544731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78</a:t>
            </a:fld>
            <a:endParaRPr lang="zh-CN" altLang="en-US"/>
          </a:p>
        </p:txBody>
      </p:sp>
    </p:spTree>
    <p:extLst>
      <p:ext uri="{BB962C8B-B14F-4D97-AF65-F5344CB8AC3E}">
        <p14:creationId xmlns:p14="http://schemas.microsoft.com/office/powerpoint/2010/main" val="302161562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79</a:t>
            </a:fld>
            <a:endParaRPr lang="zh-CN" altLang="en-US"/>
          </a:p>
        </p:txBody>
      </p:sp>
    </p:spTree>
    <p:extLst>
      <p:ext uri="{BB962C8B-B14F-4D97-AF65-F5344CB8AC3E}">
        <p14:creationId xmlns:p14="http://schemas.microsoft.com/office/powerpoint/2010/main" val="15854904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80</a:t>
            </a:fld>
            <a:endParaRPr lang="zh-CN" altLang="en-US"/>
          </a:p>
        </p:txBody>
      </p:sp>
    </p:spTree>
    <p:extLst>
      <p:ext uri="{BB962C8B-B14F-4D97-AF65-F5344CB8AC3E}">
        <p14:creationId xmlns:p14="http://schemas.microsoft.com/office/powerpoint/2010/main" val="302619653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13977998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87330569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184225776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105</a:t>
            </a:fld>
            <a:endParaRPr lang="zh-CN" altLang="en-US"/>
          </a:p>
        </p:txBody>
      </p:sp>
    </p:spTree>
    <p:extLst>
      <p:ext uri="{BB962C8B-B14F-4D97-AF65-F5344CB8AC3E}">
        <p14:creationId xmlns:p14="http://schemas.microsoft.com/office/powerpoint/2010/main" val="379578323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241879009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107</a:t>
            </a:fld>
            <a:endParaRPr lang="zh-CN" altLang="en-US"/>
          </a:p>
        </p:txBody>
      </p:sp>
    </p:spTree>
    <p:extLst>
      <p:ext uri="{BB962C8B-B14F-4D97-AF65-F5344CB8AC3E}">
        <p14:creationId xmlns:p14="http://schemas.microsoft.com/office/powerpoint/2010/main" val="359443722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p14="http://schemas.microsoft.com/office/powerpoint/2010/main" val="25512771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187767425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77985630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7317427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312380092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354795835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204373622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60396769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281907651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49665061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p14="http://schemas.microsoft.com/office/powerpoint/2010/main" val="79852042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800" b="1" kern="1200" dirty="0">
              <a:solidFill>
                <a:srgbClr val="C00000"/>
              </a:solidFill>
              <a:latin typeface="微软雅黑" pitchFamily="34" charset="-122"/>
              <a:ea typeface="微软雅黑" pitchFamily="34" charset="-122"/>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119</a:t>
            </a:fld>
            <a:endParaRPr lang="zh-CN" altLang="en-US"/>
          </a:p>
        </p:txBody>
      </p:sp>
    </p:spTree>
    <p:extLst>
      <p:ext uri="{BB962C8B-B14F-4D97-AF65-F5344CB8AC3E}">
        <p14:creationId xmlns:p14="http://schemas.microsoft.com/office/powerpoint/2010/main" val="372157883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392988580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121</a:t>
            </a:fld>
            <a:endParaRPr lang="zh-CN" altLang="en-US"/>
          </a:p>
        </p:txBody>
      </p:sp>
    </p:spTree>
    <p:extLst>
      <p:ext uri="{BB962C8B-B14F-4D97-AF65-F5344CB8AC3E}">
        <p14:creationId xmlns:p14="http://schemas.microsoft.com/office/powerpoint/2010/main" val="25503644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165341736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69755573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124</a:t>
            </a:fld>
            <a:endParaRPr lang="zh-CN" altLang="en-US"/>
          </a:p>
        </p:txBody>
      </p:sp>
    </p:spTree>
    <p:extLst>
      <p:ext uri="{BB962C8B-B14F-4D97-AF65-F5344CB8AC3E}">
        <p14:creationId xmlns:p14="http://schemas.microsoft.com/office/powerpoint/2010/main" val="8713973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125</a:t>
            </a:fld>
            <a:endParaRPr lang="zh-CN" altLang="en-US"/>
          </a:p>
        </p:txBody>
      </p:sp>
    </p:spTree>
    <p:extLst>
      <p:ext uri="{BB962C8B-B14F-4D97-AF65-F5344CB8AC3E}">
        <p14:creationId xmlns:p14="http://schemas.microsoft.com/office/powerpoint/2010/main" val="294630158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126</a:t>
            </a:fld>
            <a:endParaRPr lang="zh-CN" altLang="en-US"/>
          </a:p>
        </p:txBody>
      </p:sp>
    </p:spTree>
    <p:extLst>
      <p:ext uri="{BB962C8B-B14F-4D97-AF65-F5344CB8AC3E}">
        <p14:creationId xmlns:p14="http://schemas.microsoft.com/office/powerpoint/2010/main" val="136235989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127</a:t>
            </a:fld>
            <a:endParaRPr lang="zh-CN" altLang="en-US"/>
          </a:p>
        </p:txBody>
      </p:sp>
    </p:spTree>
    <p:extLst>
      <p:ext uri="{BB962C8B-B14F-4D97-AF65-F5344CB8AC3E}">
        <p14:creationId xmlns:p14="http://schemas.microsoft.com/office/powerpoint/2010/main" val="230017630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128</a:t>
            </a:fld>
            <a:endParaRPr lang="zh-CN" altLang="en-US"/>
          </a:p>
        </p:txBody>
      </p:sp>
    </p:spTree>
    <p:extLst>
      <p:ext uri="{BB962C8B-B14F-4D97-AF65-F5344CB8AC3E}">
        <p14:creationId xmlns:p14="http://schemas.microsoft.com/office/powerpoint/2010/main" val="36815986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129</a:t>
            </a:fld>
            <a:endParaRPr lang="zh-CN" altLang="en-US"/>
          </a:p>
        </p:txBody>
      </p:sp>
    </p:spTree>
    <p:extLst>
      <p:ext uri="{BB962C8B-B14F-4D97-AF65-F5344CB8AC3E}">
        <p14:creationId xmlns:p14="http://schemas.microsoft.com/office/powerpoint/2010/main" val="20413042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130</a:t>
            </a:fld>
            <a:endParaRPr lang="zh-CN" altLang="en-US"/>
          </a:p>
        </p:txBody>
      </p:sp>
    </p:spTree>
    <p:extLst>
      <p:ext uri="{BB962C8B-B14F-4D97-AF65-F5344CB8AC3E}">
        <p14:creationId xmlns:p14="http://schemas.microsoft.com/office/powerpoint/2010/main" val="398650638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131</a:t>
            </a:fld>
            <a:endParaRPr lang="zh-CN" altLang="en-US"/>
          </a:p>
        </p:txBody>
      </p:sp>
    </p:spTree>
    <p:extLst>
      <p:ext uri="{BB962C8B-B14F-4D97-AF65-F5344CB8AC3E}">
        <p14:creationId xmlns:p14="http://schemas.microsoft.com/office/powerpoint/2010/main" val="222091225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132</a:t>
            </a:fld>
            <a:endParaRPr lang="zh-CN" altLang="en-US"/>
          </a:p>
        </p:txBody>
      </p:sp>
    </p:spTree>
    <p:extLst>
      <p:ext uri="{BB962C8B-B14F-4D97-AF65-F5344CB8AC3E}">
        <p14:creationId xmlns:p14="http://schemas.microsoft.com/office/powerpoint/2010/main" val="349787387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399168688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nSpc>
                <a:spcPts val="2700"/>
              </a:lnSpc>
              <a:buClr>
                <a:srgbClr val="0066FF"/>
              </a:buClr>
              <a:buFont typeface="Wingdings" pitchFamily="2" charset="2"/>
              <a:buNone/>
            </a:pPr>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380502153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135</a:t>
            </a:fld>
            <a:endParaRPr lang="zh-CN" altLang="en-US"/>
          </a:p>
        </p:txBody>
      </p:sp>
    </p:spTree>
    <p:extLst>
      <p:ext uri="{BB962C8B-B14F-4D97-AF65-F5344CB8AC3E}">
        <p14:creationId xmlns:p14="http://schemas.microsoft.com/office/powerpoint/2010/main" val="381706149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136</a:t>
            </a:fld>
            <a:endParaRPr lang="zh-CN" altLang="en-US"/>
          </a:p>
        </p:txBody>
      </p:sp>
    </p:spTree>
    <p:extLst>
      <p:ext uri="{BB962C8B-B14F-4D97-AF65-F5344CB8AC3E}">
        <p14:creationId xmlns:p14="http://schemas.microsoft.com/office/powerpoint/2010/main" val="193089005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137</a:t>
            </a:fld>
            <a:endParaRPr lang="zh-CN" altLang="en-US"/>
          </a:p>
        </p:txBody>
      </p:sp>
    </p:spTree>
    <p:extLst>
      <p:ext uri="{BB962C8B-B14F-4D97-AF65-F5344CB8AC3E}">
        <p14:creationId xmlns:p14="http://schemas.microsoft.com/office/powerpoint/2010/main" val="79158023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138</a:t>
            </a:fld>
            <a:endParaRPr lang="zh-CN" altLang="en-US"/>
          </a:p>
        </p:txBody>
      </p:sp>
    </p:spTree>
    <p:extLst>
      <p:ext uri="{BB962C8B-B14F-4D97-AF65-F5344CB8AC3E}">
        <p14:creationId xmlns:p14="http://schemas.microsoft.com/office/powerpoint/2010/main" val="168978418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139</a:t>
            </a:fld>
            <a:endParaRPr lang="zh-CN" altLang="en-US"/>
          </a:p>
        </p:txBody>
      </p:sp>
    </p:spTree>
    <p:extLst>
      <p:ext uri="{BB962C8B-B14F-4D97-AF65-F5344CB8AC3E}">
        <p14:creationId xmlns:p14="http://schemas.microsoft.com/office/powerpoint/2010/main" val="359018919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140</a:t>
            </a:fld>
            <a:endParaRPr lang="zh-CN" altLang="en-US"/>
          </a:p>
        </p:txBody>
      </p:sp>
    </p:spTree>
    <p:extLst>
      <p:ext uri="{BB962C8B-B14F-4D97-AF65-F5344CB8AC3E}">
        <p14:creationId xmlns:p14="http://schemas.microsoft.com/office/powerpoint/2010/main" val="118026248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141</a:t>
            </a:fld>
            <a:endParaRPr lang="zh-CN" altLang="en-US"/>
          </a:p>
        </p:txBody>
      </p:sp>
    </p:spTree>
    <p:extLst>
      <p:ext uri="{BB962C8B-B14F-4D97-AF65-F5344CB8AC3E}">
        <p14:creationId xmlns:p14="http://schemas.microsoft.com/office/powerpoint/2010/main" val="396912563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142</a:t>
            </a:fld>
            <a:endParaRPr lang="zh-CN" altLang="en-US"/>
          </a:p>
        </p:txBody>
      </p:sp>
    </p:spTree>
    <p:extLst>
      <p:ext uri="{BB962C8B-B14F-4D97-AF65-F5344CB8AC3E}">
        <p14:creationId xmlns:p14="http://schemas.microsoft.com/office/powerpoint/2010/main" val="48360091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143</a:t>
            </a:fld>
            <a:endParaRPr lang="zh-CN" altLang="en-US"/>
          </a:p>
        </p:txBody>
      </p:sp>
    </p:spTree>
    <p:extLst>
      <p:ext uri="{BB962C8B-B14F-4D97-AF65-F5344CB8AC3E}">
        <p14:creationId xmlns:p14="http://schemas.microsoft.com/office/powerpoint/2010/main" val="45500439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144</a:t>
            </a:fld>
            <a:endParaRPr lang="zh-CN" altLang="en-US"/>
          </a:p>
        </p:txBody>
      </p:sp>
    </p:spTree>
    <p:extLst>
      <p:ext uri="{BB962C8B-B14F-4D97-AF65-F5344CB8AC3E}">
        <p14:creationId xmlns:p14="http://schemas.microsoft.com/office/powerpoint/2010/main" val="279557877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sz="1200" kern="1200" dirty="0" smtClean="0">
              <a:solidFill>
                <a:schemeClr val="tx1"/>
              </a:solidFill>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145</a:t>
            </a:fld>
            <a:endParaRPr lang="zh-CN" altLang="en-US"/>
          </a:p>
        </p:txBody>
      </p:sp>
    </p:spTree>
    <p:extLst>
      <p:ext uri="{BB962C8B-B14F-4D97-AF65-F5344CB8AC3E}">
        <p14:creationId xmlns:p14="http://schemas.microsoft.com/office/powerpoint/2010/main" val="364844220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200" kern="1200" dirty="0">
              <a:solidFill>
                <a:schemeClr val="tx1"/>
              </a:solidFill>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146</a:t>
            </a:fld>
            <a:endParaRPr lang="zh-CN" altLang="en-US"/>
          </a:p>
        </p:txBody>
      </p:sp>
    </p:spTree>
    <p:extLst>
      <p:ext uri="{BB962C8B-B14F-4D97-AF65-F5344CB8AC3E}">
        <p14:creationId xmlns:p14="http://schemas.microsoft.com/office/powerpoint/2010/main" val="171133456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151</a:t>
            </a:fld>
            <a:endParaRPr lang="zh-CN" altLang="en-US"/>
          </a:p>
        </p:txBody>
      </p:sp>
    </p:spTree>
    <p:extLst>
      <p:ext uri="{BB962C8B-B14F-4D97-AF65-F5344CB8AC3E}">
        <p14:creationId xmlns:p14="http://schemas.microsoft.com/office/powerpoint/2010/main" val="368236388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b="0"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152</a:t>
            </a:fld>
            <a:endParaRPr lang="zh-CN" altLang="en-US"/>
          </a:p>
        </p:txBody>
      </p:sp>
    </p:spTree>
    <p:extLst>
      <p:ext uri="{BB962C8B-B14F-4D97-AF65-F5344CB8AC3E}">
        <p14:creationId xmlns:p14="http://schemas.microsoft.com/office/powerpoint/2010/main" val="94670062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153</a:t>
            </a:fld>
            <a:endParaRPr lang="zh-CN" altLang="en-US"/>
          </a:p>
        </p:txBody>
      </p:sp>
    </p:spTree>
    <p:extLst>
      <p:ext uri="{BB962C8B-B14F-4D97-AF65-F5344CB8AC3E}">
        <p14:creationId xmlns:p14="http://schemas.microsoft.com/office/powerpoint/2010/main" val="220217166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155</a:t>
            </a:fld>
            <a:endParaRPr lang="zh-CN" altLang="en-US"/>
          </a:p>
        </p:txBody>
      </p:sp>
    </p:spTree>
    <p:extLst>
      <p:ext uri="{BB962C8B-B14F-4D97-AF65-F5344CB8AC3E}">
        <p14:creationId xmlns:p14="http://schemas.microsoft.com/office/powerpoint/2010/main" val="65179514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156</a:t>
            </a:fld>
            <a:endParaRPr lang="zh-CN" altLang="en-US"/>
          </a:p>
        </p:txBody>
      </p:sp>
    </p:spTree>
    <p:extLst>
      <p:ext uri="{BB962C8B-B14F-4D97-AF65-F5344CB8AC3E}">
        <p14:creationId xmlns:p14="http://schemas.microsoft.com/office/powerpoint/2010/main" val="199982970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157</a:t>
            </a:fld>
            <a:endParaRPr lang="zh-CN" altLang="en-US"/>
          </a:p>
        </p:txBody>
      </p:sp>
    </p:spTree>
    <p:extLst>
      <p:ext uri="{BB962C8B-B14F-4D97-AF65-F5344CB8AC3E}">
        <p14:creationId xmlns:p14="http://schemas.microsoft.com/office/powerpoint/2010/main" val="407916000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158</a:t>
            </a:fld>
            <a:endParaRPr lang="zh-CN" altLang="en-US"/>
          </a:p>
        </p:txBody>
      </p:sp>
    </p:spTree>
    <p:extLst>
      <p:ext uri="{BB962C8B-B14F-4D97-AF65-F5344CB8AC3E}">
        <p14:creationId xmlns:p14="http://schemas.microsoft.com/office/powerpoint/2010/main" val="13000303"/>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159</a:t>
            </a:fld>
            <a:endParaRPr lang="zh-CN" altLang="en-US"/>
          </a:p>
        </p:txBody>
      </p:sp>
    </p:spTree>
    <p:extLst>
      <p:ext uri="{BB962C8B-B14F-4D97-AF65-F5344CB8AC3E}">
        <p14:creationId xmlns:p14="http://schemas.microsoft.com/office/powerpoint/2010/main" val="378136449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160</a:t>
            </a:fld>
            <a:endParaRPr lang="zh-CN" altLang="en-US"/>
          </a:p>
        </p:txBody>
      </p:sp>
    </p:spTree>
    <p:extLst>
      <p:ext uri="{BB962C8B-B14F-4D97-AF65-F5344CB8AC3E}">
        <p14:creationId xmlns:p14="http://schemas.microsoft.com/office/powerpoint/2010/main" val="372207737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161</a:t>
            </a:fld>
            <a:endParaRPr lang="zh-CN" altLang="en-US"/>
          </a:p>
        </p:txBody>
      </p:sp>
    </p:spTree>
    <p:extLst>
      <p:ext uri="{BB962C8B-B14F-4D97-AF65-F5344CB8AC3E}">
        <p14:creationId xmlns:p14="http://schemas.microsoft.com/office/powerpoint/2010/main" val="171077920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162</a:t>
            </a:fld>
            <a:endParaRPr lang="zh-CN" altLang="en-US"/>
          </a:p>
        </p:txBody>
      </p:sp>
    </p:spTree>
    <p:extLst>
      <p:ext uri="{BB962C8B-B14F-4D97-AF65-F5344CB8AC3E}">
        <p14:creationId xmlns:p14="http://schemas.microsoft.com/office/powerpoint/2010/main" val="109759322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163</a:t>
            </a:fld>
            <a:endParaRPr lang="zh-CN" altLang="en-US"/>
          </a:p>
        </p:txBody>
      </p:sp>
    </p:spTree>
    <p:extLst>
      <p:ext uri="{BB962C8B-B14F-4D97-AF65-F5344CB8AC3E}">
        <p14:creationId xmlns:p14="http://schemas.microsoft.com/office/powerpoint/2010/main" val="111216555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164</a:t>
            </a:fld>
            <a:endParaRPr lang="zh-CN" altLang="en-US"/>
          </a:p>
        </p:txBody>
      </p:sp>
    </p:spTree>
    <p:extLst>
      <p:ext uri="{BB962C8B-B14F-4D97-AF65-F5344CB8AC3E}">
        <p14:creationId xmlns:p14="http://schemas.microsoft.com/office/powerpoint/2010/main" val="331949252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165</a:t>
            </a:fld>
            <a:endParaRPr lang="zh-CN" altLang="en-US"/>
          </a:p>
        </p:txBody>
      </p:sp>
    </p:spTree>
    <p:extLst>
      <p:ext uri="{BB962C8B-B14F-4D97-AF65-F5344CB8AC3E}">
        <p14:creationId xmlns:p14="http://schemas.microsoft.com/office/powerpoint/2010/main" val="296919360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166</a:t>
            </a:fld>
            <a:endParaRPr lang="zh-CN" altLang="en-US"/>
          </a:p>
        </p:txBody>
      </p:sp>
    </p:spTree>
    <p:extLst>
      <p:ext uri="{BB962C8B-B14F-4D97-AF65-F5344CB8AC3E}">
        <p14:creationId xmlns:p14="http://schemas.microsoft.com/office/powerpoint/2010/main" val="210749468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195002670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zh-CN" altLang="en-US" sz="1200" b="1" dirty="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168</a:t>
            </a:fld>
            <a:endParaRPr lang="zh-CN" altLang="en-US"/>
          </a:p>
        </p:txBody>
      </p:sp>
    </p:spTree>
    <p:extLst>
      <p:ext uri="{BB962C8B-B14F-4D97-AF65-F5344CB8AC3E}">
        <p14:creationId xmlns:p14="http://schemas.microsoft.com/office/powerpoint/2010/main" val="27723774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197874185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170</a:t>
            </a:fld>
            <a:endParaRPr lang="zh-CN" altLang="en-US"/>
          </a:p>
        </p:txBody>
      </p:sp>
    </p:spTree>
    <p:extLst>
      <p:ext uri="{BB962C8B-B14F-4D97-AF65-F5344CB8AC3E}">
        <p14:creationId xmlns:p14="http://schemas.microsoft.com/office/powerpoint/2010/main" val="1217083238"/>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403869144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172</a:t>
            </a:fld>
            <a:endParaRPr lang="zh-CN" altLang="en-US"/>
          </a:p>
        </p:txBody>
      </p:sp>
    </p:spTree>
    <p:extLst>
      <p:ext uri="{BB962C8B-B14F-4D97-AF65-F5344CB8AC3E}">
        <p14:creationId xmlns:p14="http://schemas.microsoft.com/office/powerpoint/2010/main" val="41525940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173</a:t>
            </a:fld>
            <a:endParaRPr lang="zh-CN" altLang="en-US"/>
          </a:p>
        </p:txBody>
      </p:sp>
    </p:spTree>
    <p:extLst>
      <p:ext uri="{BB962C8B-B14F-4D97-AF65-F5344CB8AC3E}">
        <p14:creationId xmlns:p14="http://schemas.microsoft.com/office/powerpoint/2010/main" val="252348093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4277312003"/>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175</a:t>
            </a:fld>
            <a:endParaRPr lang="zh-CN" altLang="en-US"/>
          </a:p>
        </p:txBody>
      </p:sp>
    </p:spTree>
    <p:extLst>
      <p:ext uri="{BB962C8B-B14F-4D97-AF65-F5344CB8AC3E}">
        <p14:creationId xmlns:p14="http://schemas.microsoft.com/office/powerpoint/2010/main" val="3961738232"/>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176</a:t>
            </a:fld>
            <a:endParaRPr lang="zh-CN" altLang="en-US"/>
          </a:p>
        </p:txBody>
      </p:sp>
    </p:spTree>
    <p:extLst>
      <p:ext uri="{BB962C8B-B14F-4D97-AF65-F5344CB8AC3E}">
        <p14:creationId xmlns:p14="http://schemas.microsoft.com/office/powerpoint/2010/main" val="300881136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177</a:t>
            </a:fld>
            <a:endParaRPr lang="zh-CN" altLang="en-US"/>
          </a:p>
        </p:txBody>
      </p:sp>
    </p:spTree>
    <p:extLst>
      <p:ext uri="{BB962C8B-B14F-4D97-AF65-F5344CB8AC3E}">
        <p14:creationId xmlns:p14="http://schemas.microsoft.com/office/powerpoint/2010/main" val="69063202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178</a:t>
            </a:fld>
            <a:endParaRPr lang="zh-CN" altLang="en-US"/>
          </a:p>
        </p:txBody>
      </p:sp>
    </p:spTree>
    <p:extLst>
      <p:ext uri="{BB962C8B-B14F-4D97-AF65-F5344CB8AC3E}">
        <p14:creationId xmlns:p14="http://schemas.microsoft.com/office/powerpoint/2010/main" val="237276433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179</a:t>
            </a:fld>
            <a:endParaRPr lang="zh-CN" altLang="en-US"/>
          </a:p>
        </p:txBody>
      </p:sp>
    </p:spTree>
    <p:extLst>
      <p:ext uri="{BB962C8B-B14F-4D97-AF65-F5344CB8AC3E}">
        <p14:creationId xmlns:p14="http://schemas.microsoft.com/office/powerpoint/2010/main" val="185849552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180</a:t>
            </a:fld>
            <a:endParaRPr lang="zh-CN" altLang="en-US"/>
          </a:p>
        </p:txBody>
      </p:sp>
    </p:spTree>
    <p:extLst>
      <p:ext uri="{BB962C8B-B14F-4D97-AF65-F5344CB8AC3E}">
        <p14:creationId xmlns:p14="http://schemas.microsoft.com/office/powerpoint/2010/main" val="46783411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181</a:t>
            </a:fld>
            <a:endParaRPr lang="zh-CN" altLang="en-US"/>
          </a:p>
        </p:txBody>
      </p:sp>
    </p:spTree>
    <p:extLst>
      <p:ext uri="{BB962C8B-B14F-4D97-AF65-F5344CB8AC3E}">
        <p14:creationId xmlns:p14="http://schemas.microsoft.com/office/powerpoint/2010/main" val="32295734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182</a:t>
            </a:fld>
            <a:endParaRPr lang="zh-CN" altLang="en-US"/>
          </a:p>
        </p:txBody>
      </p:sp>
    </p:spTree>
    <p:extLst>
      <p:ext uri="{BB962C8B-B14F-4D97-AF65-F5344CB8AC3E}">
        <p14:creationId xmlns:p14="http://schemas.microsoft.com/office/powerpoint/2010/main" val="57738636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183</a:t>
            </a:fld>
            <a:endParaRPr lang="zh-CN" altLang="en-US"/>
          </a:p>
        </p:txBody>
      </p:sp>
    </p:spTree>
    <p:extLst>
      <p:ext uri="{BB962C8B-B14F-4D97-AF65-F5344CB8AC3E}">
        <p14:creationId xmlns:p14="http://schemas.microsoft.com/office/powerpoint/2010/main" val="372332082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184</a:t>
            </a:fld>
            <a:endParaRPr lang="zh-CN" altLang="en-US"/>
          </a:p>
        </p:txBody>
      </p:sp>
    </p:spTree>
    <p:extLst>
      <p:ext uri="{BB962C8B-B14F-4D97-AF65-F5344CB8AC3E}">
        <p14:creationId xmlns:p14="http://schemas.microsoft.com/office/powerpoint/2010/main" val="423735237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185</a:t>
            </a:fld>
            <a:endParaRPr lang="zh-CN" altLang="en-US"/>
          </a:p>
        </p:txBody>
      </p:sp>
    </p:spTree>
    <p:extLst>
      <p:ext uri="{BB962C8B-B14F-4D97-AF65-F5344CB8AC3E}">
        <p14:creationId xmlns:p14="http://schemas.microsoft.com/office/powerpoint/2010/main" val="729045969"/>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186</a:t>
            </a:fld>
            <a:endParaRPr lang="zh-CN" altLang="en-US"/>
          </a:p>
        </p:txBody>
      </p:sp>
    </p:spTree>
    <p:extLst>
      <p:ext uri="{BB962C8B-B14F-4D97-AF65-F5344CB8AC3E}">
        <p14:creationId xmlns:p14="http://schemas.microsoft.com/office/powerpoint/2010/main" val="2890129425"/>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187</a:t>
            </a:fld>
            <a:endParaRPr lang="zh-CN" altLang="en-US"/>
          </a:p>
        </p:txBody>
      </p:sp>
    </p:spTree>
    <p:extLst>
      <p:ext uri="{BB962C8B-B14F-4D97-AF65-F5344CB8AC3E}">
        <p14:creationId xmlns:p14="http://schemas.microsoft.com/office/powerpoint/2010/main" val="192115286"/>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188</a:t>
            </a:fld>
            <a:endParaRPr lang="zh-CN" altLang="en-US"/>
          </a:p>
        </p:txBody>
      </p:sp>
    </p:spTree>
    <p:extLst>
      <p:ext uri="{BB962C8B-B14F-4D97-AF65-F5344CB8AC3E}">
        <p14:creationId xmlns:p14="http://schemas.microsoft.com/office/powerpoint/2010/main" val="199310067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189</a:t>
            </a:fld>
            <a:endParaRPr lang="zh-CN" altLang="en-US"/>
          </a:p>
        </p:txBody>
      </p:sp>
    </p:spTree>
    <p:extLst>
      <p:ext uri="{BB962C8B-B14F-4D97-AF65-F5344CB8AC3E}">
        <p14:creationId xmlns:p14="http://schemas.microsoft.com/office/powerpoint/2010/main" val="230059850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190</a:t>
            </a:fld>
            <a:endParaRPr lang="zh-CN" altLang="en-US"/>
          </a:p>
        </p:txBody>
      </p:sp>
    </p:spTree>
    <p:extLst>
      <p:ext uri="{BB962C8B-B14F-4D97-AF65-F5344CB8AC3E}">
        <p14:creationId xmlns:p14="http://schemas.microsoft.com/office/powerpoint/2010/main" val="120858267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191</a:t>
            </a:fld>
            <a:endParaRPr lang="zh-CN" altLang="en-US"/>
          </a:p>
        </p:txBody>
      </p:sp>
    </p:spTree>
    <p:extLst>
      <p:ext uri="{BB962C8B-B14F-4D97-AF65-F5344CB8AC3E}">
        <p14:creationId xmlns:p14="http://schemas.microsoft.com/office/powerpoint/2010/main" val="149248986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192</a:t>
            </a:fld>
            <a:endParaRPr lang="zh-CN" altLang="en-US"/>
          </a:p>
        </p:txBody>
      </p:sp>
    </p:spTree>
    <p:extLst>
      <p:ext uri="{BB962C8B-B14F-4D97-AF65-F5344CB8AC3E}">
        <p14:creationId xmlns:p14="http://schemas.microsoft.com/office/powerpoint/2010/main" val="425516373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193</a:t>
            </a:fld>
            <a:endParaRPr lang="zh-CN" altLang="en-US"/>
          </a:p>
        </p:txBody>
      </p:sp>
    </p:spTree>
    <p:extLst>
      <p:ext uri="{BB962C8B-B14F-4D97-AF65-F5344CB8AC3E}">
        <p14:creationId xmlns:p14="http://schemas.microsoft.com/office/powerpoint/2010/main" val="73114755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194</a:t>
            </a:fld>
            <a:endParaRPr lang="zh-CN" altLang="en-US"/>
          </a:p>
        </p:txBody>
      </p:sp>
    </p:spTree>
    <p:extLst>
      <p:ext uri="{BB962C8B-B14F-4D97-AF65-F5344CB8AC3E}">
        <p14:creationId xmlns:p14="http://schemas.microsoft.com/office/powerpoint/2010/main" val="1812871649"/>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195</a:t>
            </a:fld>
            <a:endParaRPr lang="zh-CN" altLang="en-US"/>
          </a:p>
        </p:txBody>
      </p:sp>
    </p:spTree>
    <p:extLst>
      <p:ext uri="{BB962C8B-B14F-4D97-AF65-F5344CB8AC3E}">
        <p14:creationId xmlns:p14="http://schemas.microsoft.com/office/powerpoint/2010/main" val="35519363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196</a:t>
            </a:fld>
            <a:endParaRPr lang="zh-CN" altLang="en-US"/>
          </a:p>
        </p:txBody>
      </p:sp>
    </p:spTree>
    <p:extLst>
      <p:ext uri="{BB962C8B-B14F-4D97-AF65-F5344CB8AC3E}">
        <p14:creationId xmlns:p14="http://schemas.microsoft.com/office/powerpoint/2010/main" val="412711311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197</a:t>
            </a:fld>
            <a:endParaRPr lang="zh-CN" altLang="en-US"/>
          </a:p>
        </p:txBody>
      </p:sp>
    </p:spTree>
    <p:extLst>
      <p:ext uri="{BB962C8B-B14F-4D97-AF65-F5344CB8AC3E}">
        <p14:creationId xmlns:p14="http://schemas.microsoft.com/office/powerpoint/2010/main" val="4255924339"/>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en-US" altLang="zh-CN" b="1" dirty="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198</a:t>
            </a:fld>
            <a:endParaRPr lang="zh-CN" altLang="en-US"/>
          </a:p>
        </p:txBody>
      </p:sp>
    </p:spTree>
    <p:extLst>
      <p:ext uri="{BB962C8B-B14F-4D97-AF65-F5344CB8AC3E}">
        <p14:creationId xmlns:p14="http://schemas.microsoft.com/office/powerpoint/2010/main" val="366662504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199</a:t>
            </a:fld>
            <a:endParaRPr lang="zh-CN" altLang="en-US"/>
          </a:p>
        </p:txBody>
      </p:sp>
    </p:spTree>
    <p:extLst>
      <p:ext uri="{BB962C8B-B14F-4D97-AF65-F5344CB8AC3E}">
        <p14:creationId xmlns:p14="http://schemas.microsoft.com/office/powerpoint/2010/main" val="104511967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200</a:t>
            </a:fld>
            <a:endParaRPr lang="zh-CN" altLang="en-US"/>
          </a:p>
        </p:txBody>
      </p:sp>
    </p:spTree>
    <p:extLst>
      <p:ext uri="{BB962C8B-B14F-4D97-AF65-F5344CB8AC3E}">
        <p14:creationId xmlns:p14="http://schemas.microsoft.com/office/powerpoint/2010/main" val="150775613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201</a:t>
            </a:fld>
            <a:endParaRPr lang="zh-CN" altLang="en-US"/>
          </a:p>
        </p:txBody>
      </p:sp>
    </p:spTree>
    <p:extLst>
      <p:ext uri="{BB962C8B-B14F-4D97-AF65-F5344CB8AC3E}">
        <p14:creationId xmlns:p14="http://schemas.microsoft.com/office/powerpoint/2010/main" val="1264258404"/>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202</a:t>
            </a:fld>
            <a:endParaRPr lang="zh-CN" altLang="en-US"/>
          </a:p>
        </p:txBody>
      </p:sp>
    </p:spTree>
    <p:extLst>
      <p:ext uri="{BB962C8B-B14F-4D97-AF65-F5344CB8AC3E}">
        <p14:creationId xmlns:p14="http://schemas.microsoft.com/office/powerpoint/2010/main" val="71451347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203</a:t>
            </a:fld>
            <a:endParaRPr lang="zh-CN" altLang="en-US"/>
          </a:p>
        </p:txBody>
      </p:sp>
    </p:spTree>
    <p:extLst>
      <p:ext uri="{BB962C8B-B14F-4D97-AF65-F5344CB8AC3E}">
        <p14:creationId xmlns:p14="http://schemas.microsoft.com/office/powerpoint/2010/main" val="306612110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204</a:t>
            </a:fld>
            <a:endParaRPr lang="zh-CN" altLang="en-US"/>
          </a:p>
        </p:txBody>
      </p:sp>
    </p:spTree>
    <p:extLst>
      <p:ext uri="{BB962C8B-B14F-4D97-AF65-F5344CB8AC3E}">
        <p14:creationId xmlns:p14="http://schemas.microsoft.com/office/powerpoint/2010/main" val="210578070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205</a:t>
            </a:fld>
            <a:endParaRPr lang="zh-CN" altLang="en-US"/>
          </a:p>
        </p:txBody>
      </p:sp>
    </p:spTree>
    <p:extLst>
      <p:ext uri="{BB962C8B-B14F-4D97-AF65-F5344CB8AC3E}">
        <p14:creationId xmlns:p14="http://schemas.microsoft.com/office/powerpoint/2010/main" val="99959320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206</a:t>
            </a:fld>
            <a:endParaRPr lang="zh-CN" altLang="en-US"/>
          </a:p>
        </p:txBody>
      </p:sp>
    </p:spTree>
    <p:extLst>
      <p:ext uri="{BB962C8B-B14F-4D97-AF65-F5344CB8AC3E}">
        <p14:creationId xmlns:p14="http://schemas.microsoft.com/office/powerpoint/2010/main" val="408702740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207</a:t>
            </a:fld>
            <a:endParaRPr lang="zh-CN" altLang="en-US"/>
          </a:p>
        </p:txBody>
      </p:sp>
    </p:spTree>
    <p:extLst>
      <p:ext uri="{BB962C8B-B14F-4D97-AF65-F5344CB8AC3E}">
        <p14:creationId xmlns:p14="http://schemas.microsoft.com/office/powerpoint/2010/main" val="690010914"/>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208</a:t>
            </a:fld>
            <a:endParaRPr lang="zh-CN" altLang="en-US"/>
          </a:p>
        </p:txBody>
      </p:sp>
    </p:spTree>
    <p:extLst>
      <p:ext uri="{BB962C8B-B14F-4D97-AF65-F5344CB8AC3E}">
        <p14:creationId xmlns:p14="http://schemas.microsoft.com/office/powerpoint/2010/main" val="427494103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hangingPunct="0">
              <a:lnSpc>
                <a:spcPts val="3000"/>
              </a:lnSpc>
              <a:buClr>
                <a:srgbClr val="0070C0"/>
              </a:buClr>
              <a:buFont typeface="Wingdings" pitchFamily="2" charset="2"/>
              <a:buNone/>
            </a:pPr>
            <a:endParaRPr lang="zh-CN" altLang="en-US" b="1" dirty="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209</a:t>
            </a:fld>
            <a:endParaRPr lang="zh-CN" altLang="en-US"/>
          </a:p>
        </p:txBody>
      </p:sp>
    </p:spTree>
    <p:extLst>
      <p:ext uri="{BB962C8B-B14F-4D97-AF65-F5344CB8AC3E}">
        <p14:creationId xmlns:p14="http://schemas.microsoft.com/office/powerpoint/2010/main" val="390023134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gn="just" hangingPunct="0">
              <a:lnSpc>
                <a:spcPts val="3000"/>
              </a:lnSpc>
              <a:buClr>
                <a:srgbClr val="0070C0"/>
              </a:buClr>
              <a:buFont typeface="Wingdings" pitchFamily="2" charset="2"/>
              <a:buNone/>
            </a:pPr>
            <a:endParaRPr lang="en-US" altLang="zh-CN" sz="16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210</a:t>
            </a:fld>
            <a:endParaRPr lang="zh-CN" altLang="en-US"/>
          </a:p>
        </p:txBody>
      </p:sp>
    </p:spTree>
    <p:extLst>
      <p:ext uri="{BB962C8B-B14F-4D97-AF65-F5344CB8AC3E}">
        <p14:creationId xmlns:p14="http://schemas.microsoft.com/office/powerpoint/2010/main" val="301894828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211</a:t>
            </a:fld>
            <a:endParaRPr lang="zh-CN" altLang="en-US"/>
          </a:p>
        </p:txBody>
      </p:sp>
    </p:spTree>
    <p:extLst>
      <p:ext uri="{BB962C8B-B14F-4D97-AF65-F5344CB8AC3E}">
        <p14:creationId xmlns:p14="http://schemas.microsoft.com/office/powerpoint/2010/main" val="294639998"/>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213</a:t>
            </a:fld>
            <a:endParaRPr lang="zh-CN" altLang="en-US"/>
          </a:p>
        </p:txBody>
      </p:sp>
    </p:spTree>
    <p:extLst>
      <p:ext uri="{BB962C8B-B14F-4D97-AF65-F5344CB8AC3E}">
        <p14:creationId xmlns:p14="http://schemas.microsoft.com/office/powerpoint/2010/main" val="3858451544"/>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214</a:t>
            </a:fld>
            <a:endParaRPr lang="zh-CN" altLang="en-US"/>
          </a:p>
        </p:txBody>
      </p:sp>
    </p:spTree>
    <p:extLst>
      <p:ext uri="{BB962C8B-B14F-4D97-AF65-F5344CB8AC3E}">
        <p14:creationId xmlns:p14="http://schemas.microsoft.com/office/powerpoint/2010/main" val="3681072574"/>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215</a:t>
            </a:fld>
            <a:endParaRPr lang="zh-CN" altLang="en-US"/>
          </a:p>
        </p:txBody>
      </p:sp>
    </p:spTree>
    <p:extLst>
      <p:ext uri="{BB962C8B-B14F-4D97-AF65-F5344CB8AC3E}">
        <p14:creationId xmlns:p14="http://schemas.microsoft.com/office/powerpoint/2010/main" val="1889262274"/>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216</a:t>
            </a:fld>
            <a:endParaRPr lang="zh-CN" altLang="en-US"/>
          </a:p>
        </p:txBody>
      </p:sp>
    </p:spTree>
    <p:extLst>
      <p:ext uri="{BB962C8B-B14F-4D97-AF65-F5344CB8AC3E}">
        <p14:creationId xmlns:p14="http://schemas.microsoft.com/office/powerpoint/2010/main" val="3270065525"/>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217</a:t>
            </a:fld>
            <a:endParaRPr lang="zh-CN" altLang="en-US"/>
          </a:p>
        </p:txBody>
      </p:sp>
    </p:spTree>
    <p:extLst>
      <p:ext uri="{BB962C8B-B14F-4D97-AF65-F5344CB8AC3E}">
        <p14:creationId xmlns:p14="http://schemas.microsoft.com/office/powerpoint/2010/main" val="2962143182"/>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218</a:t>
            </a:fld>
            <a:endParaRPr lang="zh-CN" altLang="en-US"/>
          </a:p>
        </p:txBody>
      </p:sp>
    </p:spTree>
    <p:extLst>
      <p:ext uri="{BB962C8B-B14F-4D97-AF65-F5344CB8AC3E}">
        <p14:creationId xmlns:p14="http://schemas.microsoft.com/office/powerpoint/2010/main" val="234481924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219</a:t>
            </a:fld>
            <a:endParaRPr lang="zh-CN" altLang="en-US"/>
          </a:p>
        </p:txBody>
      </p:sp>
    </p:spTree>
    <p:extLst>
      <p:ext uri="{BB962C8B-B14F-4D97-AF65-F5344CB8AC3E}">
        <p14:creationId xmlns:p14="http://schemas.microsoft.com/office/powerpoint/2010/main" val="1959515560"/>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220</a:t>
            </a:fld>
            <a:endParaRPr lang="zh-CN" altLang="en-US"/>
          </a:p>
        </p:txBody>
      </p:sp>
    </p:spTree>
    <p:extLst>
      <p:ext uri="{BB962C8B-B14F-4D97-AF65-F5344CB8AC3E}">
        <p14:creationId xmlns:p14="http://schemas.microsoft.com/office/powerpoint/2010/main" val="138780643"/>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221</a:t>
            </a:fld>
            <a:endParaRPr lang="zh-CN" altLang="en-US"/>
          </a:p>
        </p:txBody>
      </p:sp>
    </p:spTree>
    <p:extLst>
      <p:ext uri="{BB962C8B-B14F-4D97-AF65-F5344CB8AC3E}">
        <p14:creationId xmlns:p14="http://schemas.microsoft.com/office/powerpoint/2010/main" val="3145765544"/>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222</a:t>
            </a:fld>
            <a:endParaRPr lang="zh-CN" altLang="en-US"/>
          </a:p>
        </p:txBody>
      </p:sp>
    </p:spTree>
    <p:extLst>
      <p:ext uri="{BB962C8B-B14F-4D97-AF65-F5344CB8AC3E}">
        <p14:creationId xmlns:p14="http://schemas.microsoft.com/office/powerpoint/2010/main" val="340525037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223</a:t>
            </a:fld>
            <a:endParaRPr lang="zh-CN" altLang="en-US"/>
          </a:p>
        </p:txBody>
      </p:sp>
    </p:spTree>
    <p:extLst>
      <p:ext uri="{BB962C8B-B14F-4D97-AF65-F5344CB8AC3E}">
        <p14:creationId xmlns:p14="http://schemas.microsoft.com/office/powerpoint/2010/main" val="12224545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224</a:t>
            </a:fld>
            <a:endParaRPr lang="zh-CN" altLang="en-US"/>
          </a:p>
        </p:txBody>
      </p:sp>
    </p:spTree>
    <p:extLst>
      <p:ext uri="{BB962C8B-B14F-4D97-AF65-F5344CB8AC3E}">
        <p14:creationId xmlns:p14="http://schemas.microsoft.com/office/powerpoint/2010/main" val="2402842059"/>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225</a:t>
            </a:fld>
            <a:endParaRPr lang="zh-CN" altLang="en-US"/>
          </a:p>
        </p:txBody>
      </p:sp>
    </p:spTree>
    <p:extLst>
      <p:ext uri="{BB962C8B-B14F-4D97-AF65-F5344CB8AC3E}">
        <p14:creationId xmlns:p14="http://schemas.microsoft.com/office/powerpoint/2010/main" val="648774803"/>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226</a:t>
            </a:fld>
            <a:endParaRPr lang="zh-CN" altLang="en-US"/>
          </a:p>
        </p:txBody>
      </p:sp>
    </p:spTree>
    <p:extLst>
      <p:ext uri="{BB962C8B-B14F-4D97-AF65-F5344CB8AC3E}">
        <p14:creationId xmlns:p14="http://schemas.microsoft.com/office/powerpoint/2010/main" val="3166563527"/>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227</a:t>
            </a:fld>
            <a:endParaRPr lang="zh-CN" altLang="en-US"/>
          </a:p>
        </p:txBody>
      </p:sp>
    </p:spTree>
    <p:extLst>
      <p:ext uri="{BB962C8B-B14F-4D97-AF65-F5344CB8AC3E}">
        <p14:creationId xmlns:p14="http://schemas.microsoft.com/office/powerpoint/2010/main" val="109710581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tabLst/>
              <a:defRPr/>
            </a:pPr>
            <a:endParaRPr lang="en-US" altLang="zh-CN"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228</a:t>
            </a:fld>
            <a:endParaRPr lang="zh-CN" altLang="en-US"/>
          </a:p>
        </p:txBody>
      </p:sp>
    </p:spTree>
    <p:extLst>
      <p:ext uri="{BB962C8B-B14F-4D97-AF65-F5344CB8AC3E}">
        <p14:creationId xmlns:p14="http://schemas.microsoft.com/office/powerpoint/2010/main" val="388153035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229</a:t>
            </a:fld>
            <a:endParaRPr lang="zh-CN" altLang="en-US"/>
          </a:p>
        </p:txBody>
      </p:sp>
    </p:spTree>
    <p:extLst>
      <p:ext uri="{BB962C8B-B14F-4D97-AF65-F5344CB8AC3E}">
        <p14:creationId xmlns:p14="http://schemas.microsoft.com/office/powerpoint/2010/main" val="1448427129"/>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zh-CN" sz="1200" b="1" dirty="0" smtClean="0">
              <a:effectLst/>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230</a:t>
            </a:fld>
            <a:endParaRPr lang="zh-CN" altLang="en-US"/>
          </a:p>
        </p:txBody>
      </p:sp>
    </p:spTree>
    <p:extLst>
      <p:ext uri="{BB962C8B-B14F-4D97-AF65-F5344CB8AC3E}">
        <p14:creationId xmlns:p14="http://schemas.microsoft.com/office/powerpoint/2010/main" val="1820489736"/>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231</a:t>
            </a:fld>
            <a:endParaRPr lang="zh-CN" altLang="en-US"/>
          </a:p>
        </p:txBody>
      </p:sp>
    </p:spTree>
    <p:extLst>
      <p:ext uri="{BB962C8B-B14F-4D97-AF65-F5344CB8AC3E}">
        <p14:creationId xmlns:p14="http://schemas.microsoft.com/office/powerpoint/2010/main" val="2052029033"/>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zh-CN" altLang="en-US"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232</a:t>
            </a:fld>
            <a:endParaRPr lang="zh-CN" altLang="en-US"/>
          </a:p>
        </p:txBody>
      </p:sp>
    </p:spTree>
    <p:extLst>
      <p:ext uri="{BB962C8B-B14F-4D97-AF65-F5344CB8AC3E}">
        <p14:creationId xmlns:p14="http://schemas.microsoft.com/office/powerpoint/2010/main" val="196264633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233</a:t>
            </a:fld>
            <a:endParaRPr lang="zh-CN" altLang="en-US"/>
          </a:p>
        </p:txBody>
      </p:sp>
    </p:spTree>
    <p:extLst>
      <p:ext uri="{BB962C8B-B14F-4D97-AF65-F5344CB8AC3E}">
        <p14:creationId xmlns:p14="http://schemas.microsoft.com/office/powerpoint/2010/main" val="4248905903"/>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36720900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242</a:t>
            </a:fld>
            <a:endParaRPr lang="zh-CN" altLang="en-US"/>
          </a:p>
        </p:txBody>
      </p:sp>
    </p:spTree>
    <p:extLst>
      <p:ext uri="{BB962C8B-B14F-4D97-AF65-F5344CB8AC3E}">
        <p14:creationId xmlns:p14="http://schemas.microsoft.com/office/powerpoint/2010/main" val="3347693538"/>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243</a:t>
            </a:fld>
            <a:endParaRPr lang="zh-CN" altLang="en-US"/>
          </a:p>
        </p:txBody>
      </p:sp>
    </p:spTree>
    <p:extLst>
      <p:ext uri="{BB962C8B-B14F-4D97-AF65-F5344CB8AC3E}">
        <p14:creationId xmlns:p14="http://schemas.microsoft.com/office/powerpoint/2010/main" val="2381454307"/>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246</a:t>
            </a:fld>
            <a:endParaRPr lang="zh-CN" altLang="en-US"/>
          </a:p>
        </p:txBody>
      </p:sp>
    </p:spTree>
    <p:extLst>
      <p:ext uri="{BB962C8B-B14F-4D97-AF65-F5344CB8AC3E}">
        <p14:creationId xmlns:p14="http://schemas.microsoft.com/office/powerpoint/2010/main" val="3799134070"/>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247</a:t>
            </a:fld>
            <a:endParaRPr lang="zh-CN" altLang="en-US"/>
          </a:p>
        </p:txBody>
      </p:sp>
    </p:spTree>
    <p:extLst>
      <p:ext uri="{BB962C8B-B14F-4D97-AF65-F5344CB8AC3E}">
        <p14:creationId xmlns:p14="http://schemas.microsoft.com/office/powerpoint/2010/main" val="20346178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248</a:t>
            </a:fld>
            <a:endParaRPr lang="zh-CN" altLang="en-US"/>
          </a:p>
        </p:txBody>
      </p:sp>
    </p:spTree>
    <p:extLst>
      <p:ext uri="{BB962C8B-B14F-4D97-AF65-F5344CB8AC3E}">
        <p14:creationId xmlns:p14="http://schemas.microsoft.com/office/powerpoint/2010/main" val="40083229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200" b="1" dirty="0" smtClean="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249</a:t>
            </a:fld>
            <a:endParaRPr lang="zh-CN" altLang="en-US"/>
          </a:p>
        </p:txBody>
      </p:sp>
    </p:spTree>
    <p:extLst>
      <p:ext uri="{BB962C8B-B14F-4D97-AF65-F5344CB8AC3E}">
        <p14:creationId xmlns:p14="http://schemas.microsoft.com/office/powerpoint/2010/main" val="105859062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250</a:t>
            </a:fld>
            <a:endParaRPr lang="zh-CN" altLang="en-US"/>
          </a:p>
        </p:txBody>
      </p:sp>
    </p:spTree>
    <p:extLst>
      <p:ext uri="{BB962C8B-B14F-4D97-AF65-F5344CB8AC3E}">
        <p14:creationId xmlns:p14="http://schemas.microsoft.com/office/powerpoint/2010/main" val="135207704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251</a:t>
            </a:fld>
            <a:endParaRPr lang="zh-CN" altLang="en-US"/>
          </a:p>
        </p:txBody>
      </p:sp>
    </p:spTree>
    <p:extLst>
      <p:ext uri="{BB962C8B-B14F-4D97-AF65-F5344CB8AC3E}">
        <p14:creationId xmlns:p14="http://schemas.microsoft.com/office/powerpoint/2010/main" val="2620757275"/>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zh-CN" sz="1200" kern="1200" dirty="0" smtClean="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252</a:t>
            </a:fld>
            <a:endParaRPr lang="zh-CN" altLang="en-US"/>
          </a:p>
        </p:txBody>
      </p:sp>
    </p:spTree>
    <p:extLst>
      <p:ext uri="{BB962C8B-B14F-4D97-AF65-F5344CB8AC3E}">
        <p14:creationId xmlns:p14="http://schemas.microsoft.com/office/powerpoint/2010/main" val="1876113023"/>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257</a:t>
            </a:fld>
            <a:endParaRPr lang="zh-CN" altLang="en-US"/>
          </a:p>
        </p:txBody>
      </p:sp>
    </p:spTree>
    <p:extLst>
      <p:ext uri="{BB962C8B-B14F-4D97-AF65-F5344CB8AC3E}">
        <p14:creationId xmlns:p14="http://schemas.microsoft.com/office/powerpoint/2010/main" val="3151787272"/>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258</a:t>
            </a:fld>
            <a:endParaRPr lang="zh-CN" altLang="en-US"/>
          </a:p>
        </p:txBody>
      </p:sp>
    </p:spTree>
    <p:extLst>
      <p:ext uri="{BB962C8B-B14F-4D97-AF65-F5344CB8AC3E}">
        <p14:creationId xmlns:p14="http://schemas.microsoft.com/office/powerpoint/2010/main" val="190744014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259</a:t>
            </a:fld>
            <a:endParaRPr lang="zh-CN" altLang="en-US"/>
          </a:p>
        </p:txBody>
      </p:sp>
    </p:spTree>
    <p:extLst>
      <p:ext uri="{BB962C8B-B14F-4D97-AF65-F5344CB8AC3E}">
        <p14:creationId xmlns:p14="http://schemas.microsoft.com/office/powerpoint/2010/main" val="1968391333"/>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260</a:t>
            </a:fld>
            <a:endParaRPr lang="zh-CN" altLang="en-US"/>
          </a:p>
        </p:txBody>
      </p:sp>
    </p:spTree>
    <p:extLst>
      <p:ext uri="{BB962C8B-B14F-4D97-AF65-F5344CB8AC3E}">
        <p14:creationId xmlns:p14="http://schemas.microsoft.com/office/powerpoint/2010/main" val="1997985738"/>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261</a:t>
            </a:fld>
            <a:endParaRPr lang="zh-CN" altLang="en-US"/>
          </a:p>
        </p:txBody>
      </p:sp>
    </p:spTree>
    <p:extLst>
      <p:ext uri="{BB962C8B-B14F-4D97-AF65-F5344CB8AC3E}">
        <p14:creationId xmlns:p14="http://schemas.microsoft.com/office/powerpoint/2010/main" val="181106187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262</a:t>
            </a:fld>
            <a:endParaRPr lang="zh-CN" altLang="en-US"/>
          </a:p>
        </p:txBody>
      </p:sp>
    </p:spTree>
    <p:extLst>
      <p:ext uri="{BB962C8B-B14F-4D97-AF65-F5344CB8AC3E}">
        <p14:creationId xmlns:p14="http://schemas.microsoft.com/office/powerpoint/2010/main" val="3308511315"/>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263</a:t>
            </a:fld>
            <a:endParaRPr lang="zh-CN" altLang="en-US"/>
          </a:p>
        </p:txBody>
      </p:sp>
    </p:spTree>
    <p:extLst>
      <p:ext uri="{BB962C8B-B14F-4D97-AF65-F5344CB8AC3E}">
        <p14:creationId xmlns:p14="http://schemas.microsoft.com/office/powerpoint/2010/main" val="272411057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264</a:t>
            </a:fld>
            <a:endParaRPr lang="zh-CN" altLang="en-US"/>
          </a:p>
        </p:txBody>
      </p:sp>
    </p:spTree>
    <p:extLst>
      <p:ext uri="{BB962C8B-B14F-4D97-AF65-F5344CB8AC3E}">
        <p14:creationId xmlns:p14="http://schemas.microsoft.com/office/powerpoint/2010/main" val="1222998120"/>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265</a:t>
            </a:fld>
            <a:endParaRPr lang="zh-CN" altLang="en-US"/>
          </a:p>
        </p:txBody>
      </p:sp>
    </p:spTree>
    <p:extLst>
      <p:ext uri="{BB962C8B-B14F-4D97-AF65-F5344CB8AC3E}">
        <p14:creationId xmlns:p14="http://schemas.microsoft.com/office/powerpoint/2010/main" val="3827859387"/>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266</a:t>
            </a:fld>
            <a:endParaRPr lang="zh-CN" altLang="en-US"/>
          </a:p>
        </p:txBody>
      </p:sp>
    </p:spTree>
    <p:extLst>
      <p:ext uri="{BB962C8B-B14F-4D97-AF65-F5344CB8AC3E}">
        <p14:creationId xmlns:p14="http://schemas.microsoft.com/office/powerpoint/2010/main" val="2929682969"/>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267</a:t>
            </a:fld>
            <a:endParaRPr lang="zh-CN" altLang="en-US"/>
          </a:p>
        </p:txBody>
      </p:sp>
    </p:spTree>
    <p:extLst>
      <p:ext uri="{BB962C8B-B14F-4D97-AF65-F5344CB8AC3E}">
        <p14:creationId xmlns:p14="http://schemas.microsoft.com/office/powerpoint/2010/main" val="3000035208"/>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268</a:t>
            </a:fld>
            <a:endParaRPr lang="zh-CN" altLang="en-US"/>
          </a:p>
        </p:txBody>
      </p:sp>
    </p:spTree>
    <p:extLst>
      <p:ext uri="{BB962C8B-B14F-4D97-AF65-F5344CB8AC3E}">
        <p14:creationId xmlns:p14="http://schemas.microsoft.com/office/powerpoint/2010/main" val="1147626073"/>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269</a:t>
            </a:fld>
            <a:endParaRPr lang="zh-CN" altLang="en-US"/>
          </a:p>
        </p:txBody>
      </p:sp>
    </p:spTree>
    <p:extLst>
      <p:ext uri="{BB962C8B-B14F-4D97-AF65-F5344CB8AC3E}">
        <p14:creationId xmlns:p14="http://schemas.microsoft.com/office/powerpoint/2010/main" val="2238259970"/>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hangingPunct="0"/>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270</a:t>
            </a:fld>
            <a:endParaRPr lang="zh-CN" altLang="en-US"/>
          </a:p>
        </p:txBody>
      </p:sp>
    </p:spTree>
    <p:extLst>
      <p:ext uri="{BB962C8B-B14F-4D97-AF65-F5344CB8AC3E}">
        <p14:creationId xmlns:p14="http://schemas.microsoft.com/office/powerpoint/2010/main" val="2525041149"/>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271</a:t>
            </a:fld>
            <a:endParaRPr lang="zh-CN" altLang="en-US"/>
          </a:p>
        </p:txBody>
      </p:sp>
    </p:spTree>
    <p:extLst>
      <p:ext uri="{BB962C8B-B14F-4D97-AF65-F5344CB8AC3E}">
        <p14:creationId xmlns:p14="http://schemas.microsoft.com/office/powerpoint/2010/main" val="3669365443"/>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hangingPunct="0"/>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272</a:t>
            </a:fld>
            <a:endParaRPr lang="zh-CN" altLang="en-US"/>
          </a:p>
        </p:txBody>
      </p:sp>
    </p:spTree>
    <p:extLst>
      <p:ext uri="{BB962C8B-B14F-4D97-AF65-F5344CB8AC3E}">
        <p14:creationId xmlns:p14="http://schemas.microsoft.com/office/powerpoint/2010/main" val="2959485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hangingPunct="0"/>
            <a:endParaRPr lang="zh-CN" altLang="zh-CN" sz="1200" kern="1200" dirty="0">
              <a:solidFill>
                <a:schemeClr val="tx1"/>
              </a:solidFill>
              <a:effectLst/>
              <a:latin typeface="+mn-lt"/>
              <a:ea typeface="+mn-ea"/>
              <a:cs typeface="+mn-cs"/>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273</a:t>
            </a:fld>
            <a:endParaRPr lang="zh-CN" altLang="en-US"/>
          </a:p>
        </p:txBody>
      </p:sp>
    </p:spTree>
    <p:extLst>
      <p:ext uri="{BB962C8B-B14F-4D97-AF65-F5344CB8AC3E}">
        <p14:creationId xmlns:p14="http://schemas.microsoft.com/office/powerpoint/2010/main" val="1468932047"/>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274</a:t>
            </a:fld>
            <a:endParaRPr lang="zh-CN" altLang="en-US"/>
          </a:p>
        </p:txBody>
      </p:sp>
    </p:spTree>
    <p:extLst>
      <p:ext uri="{BB962C8B-B14F-4D97-AF65-F5344CB8AC3E}">
        <p14:creationId xmlns:p14="http://schemas.microsoft.com/office/powerpoint/2010/main" val="230426363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CD1CD96A-A6EF-4B0B-9885-C22D65D2CD20}" type="slidenum">
              <a:rPr lang="zh-CN" altLang="en-US" smtClean="0"/>
              <a:pPr>
                <a:defRPr/>
              </a:pPr>
              <a:t>276</a:t>
            </a:fld>
            <a:endParaRPr lang="zh-CN" altLang="en-US"/>
          </a:p>
        </p:txBody>
      </p:sp>
    </p:spTree>
    <p:extLst>
      <p:ext uri="{BB962C8B-B14F-4D97-AF65-F5344CB8AC3E}">
        <p14:creationId xmlns:p14="http://schemas.microsoft.com/office/powerpoint/2010/main" val="990598030"/>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ts val="2900"/>
              </a:lnSpc>
            </a:pPr>
            <a:endParaRPr lang="en-US" altLang="zh-CN" b="1" dirty="0" smtClean="0">
              <a:solidFill>
                <a:srgbClr val="C00000"/>
              </a:solidFill>
              <a:latin typeface="微软雅黑" panose="020B0503020204020204" pitchFamily="34" charset="-122"/>
              <a:ea typeface="微软雅黑" panose="020B0503020204020204"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277</a:t>
            </a:fld>
            <a:endParaRPr lang="zh-CN" altLang="en-US"/>
          </a:p>
        </p:txBody>
      </p:sp>
    </p:spTree>
    <p:extLst>
      <p:ext uri="{BB962C8B-B14F-4D97-AF65-F5344CB8AC3E}">
        <p14:creationId xmlns:p14="http://schemas.microsoft.com/office/powerpoint/2010/main" val="3612096938"/>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278</a:t>
            </a:fld>
            <a:endParaRPr lang="zh-CN" altLang="en-US"/>
          </a:p>
        </p:txBody>
      </p:sp>
    </p:spTree>
    <p:extLst>
      <p:ext uri="{BB962C8B-B14F-4D97-AF65-F5344CB8AC3E}">
        <p14:creationId xmlns:p14="http://schemas.microsoft.com/office/powerpoint/2010/main" val="3830601644"/>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279</a:t>
            </a:fld>
            <a:endParaRPr lang="zh-CN" altLang="en-US"/>
          </a:p>
        </p:txBody>
      </p:sp>
    </p:spTree>
    <p:extLst>
      <p:ext uri="{BB962C8B-B14F-4D97-AF65-F5344CB8AC3E}">
        <p14:creationId xmlns:p14="http://schemas.microsoft.com/office/powerpoint/2010/main" val="1065915649"/>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280</a:t>
            </a:fld>
            <a:endParaRPr lang="zh-CN" altLang="en-US"/>
          </a:p>
        </p:txBody>
      </p:sp>
    </p:spTree>
    <p:extLst>
      <p:ext uri="{BB962C8B-B14F-4D97-AF65-F5344CB8AC3E}">
        <p14:creationId xmlns:p14="http://schemas.microsoft.com/office/powerpoint/2010/main" val="38151355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ts val="2200"/>
              </a:lnSpc>
            </a:pPr>
            <a:endParaRPr lang="zh-CN" altLang="en-US" sz="1200" b="1" dirty="0">
              <a:solidFill>
                <a:schemeClr val="bg1"/>
              </a:solidFill>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281</a:t>
            </a:fld>
            <a:endParaRPr lang="zh-CN" altLang="en-US"/>
          </a:p>
        </p:txBody>
      </p:sp>
    </p:spTree>
    <p:extLst>
      <p:ext uri="{BB962C8B-B14F-4D97-AF65-F5344CB8AC3E}">
        <p14:creationId xmlns:p14="http://schemas.microsoft.com/office/powerpoint/2010/main" val="174822869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282</a:t>
            </a:fld>
            <a:endParaRPr lang="zh-CN" altLang="en-US"/>
          </a:p>
        </p:txBody>
      </p:sp>
    </p:spTree>
    <p:extLst>
      <p:ext uri="{BB962C8B-B14F-4D97-AF65-F5344CB8AC3E}">
        <p14:creationId xmlns:p14="http://schemas.microsoft.com/office/powerpoint/2010/main" val="708773686"/>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283</a:t>
            </a:fld>
            <a:endParaRPr lang="zh-CN" altLang="en-US"/>
          </a:p>
        </p:txBody>
      </p:sp>
    </p:spTree>
    <p:extLst>
      <p:ext uri="{BB962C8B-B14F-4D97-AF65-F5344CB8AC3E}">
        <p14:creationId xmlns:p14="http://schemas.microsoft.com/office/powerpoint/2010/main" val="2305080063"/>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452438">
              <a:lnSpc>
                <a:spcPts val="2200"/>
              </a:lnSpc>
            </a:pPr>
            <a:endParaRPr lang="zh-CN" altLang="en-US" sz="1200" b="1" dirty="0">
              <a:solidFill>
                <a:schemeClr val="bg1"/>
              </a:solidFill>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284</a:t>
            </a:fld>
            <a:endParaRPr lang="zh-CN" altLang="en-US"/>
          </a:p>
        </p:txBody>
      </p:sp>
    </p:spTree>
    <p:extLst>
      <p:ext uri="{BB962C8B-B14F-4D97-AF65-F5344CB8AC3E}">
        <p14:creationId xmlns:p14="http://schemas.microsoft.com/office/powerpoint/2010/main" val="893907698"/>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285</a:t>
            </a:fld>
            <a:endParaRPr lang="zh-CN" altLang="en-US"/>
          </a:p>
        </p:txBody>
      </p:sp>
    </p:spTree>
    <p:extLst>
      <p:ext uri="{BB962C8B-B14F-4D97-AF65-F5344CB8AC3E}">
        <p14:creationId xmlns:p14="http://schemas.microsoft.com/office/powerpoint/2010/main" val="304960441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286</a:t>
            </a:fld>
            <a:endParaRPr lang="zh-CN" altLang="en-US"/>
          </a:p>
        </p:txBody>
      </p:sp>
    </p:spTree>
    <p:extLst>
      <p:ext uri="{BB962C8B-B14F-4D97-AF65-F5344CB8AC3E}">
        <p14:creationId xmlns:p14="http://schemas.microsoft.com/office/powerpoint/2010/main" val="127328479"/>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287</a:t>
            </a:fld>
            <a:endParaRPr lang="zh-CN" altLang="en-US"/>
          </a:p>
        </p:txBody>
      </p:sp>
    </p:spTree>
    <p:extLst>
      <p:ext uri="{BB962C8B-B14F-4D97-AF65-F5344CB8AC3E}">
        <p14:creationId xmlns:p14="http://schemas.microsoft.com/office/powerpoint/2010/main" val="311232794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3300"/>
              </a:lnSpc>
              <a:buClr>
                <a:srgbClr val="0070C0"/>
              </a:buClr>
              <a:buFont typeface="Wingdings" pitchFamily="2" charset="2"/>
              <a:buNone/>
            </a:pPr>
            <a:endParaRPr lang="zh-CN" altLang="en-US" sz="1200" b="1" dirty="0">
              <a:latin typeface="微软雅黑" pitchFamily="34" charset="-122"/>
              <a:ea typeface="微软雅黑" pitchFamily="34" charset="-122"/>
            </a:endParaRP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288</a:t>
            </a:fld>
            <a:endParaRPr lang="zh-CN" altLang="en-US"/>
          </a:p>
        </p:txBody>
      </p:sp>
    </p:spTree>
    <p:extLst>
      <p:ext uri="{BB962C8B-B14F-4D97-AF65-F5344CB8AC3E}">
        <p14:creationId xmlns:p14="http://schemas.microsoft.com/office/powerpoint/2010/main" val="2959143855"/>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C280E360-851D-48C8-B84B-FBCEE14E1BD0}" type="slidenum">
              <a:rPr lang="en-US" altLang="zh-CN" sz="1300">
                <a:latin typeface="Calibri" panose="020F0502020204030204" pitchFamily="34" charset="0"/>
              </a:rPr>
              <a:pPr>
                <a:spcBef>
                  <a:spcPct val="0"/>
                </a:spcBef>
              </a:pPr>
              <a:t>289</a:t>
            </a:fld>
            <a:endParaRPr lang="en-US" altLang="zh-CN" sz="1300">
              <a:latin typeface="Calibri" panose="020F0502020204030204" pitchFamily="34" charset="0"/>
            </a:endParaRPr>
          </a:p>
        </p:txBody>
      </p:sp>
      <p:sp>
        <p:nvSpPr>
          <p:cNvPr id="37891" name="Rectangle 2"/>
          <p:cNvSpPr>
            <a:spLocks noGrp="1" noRot="1" noChangeAspect="1" noChangeArrowheads="1" noTextEdit="1"/>
          </p:cNvSpPr>
          <p:nvPr>
            <p:ph type="sldImg"/>
          </p:nvPr>
        </p:nvSpPr>
        <p:spPr>
          <a:ln/>
        </p:spPr>
      </p:sp>
      <p:sp>
        <p:nvSpPr>
          <p:cNvPr id="37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3446770192"/>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5EC38A80-A126-4586-8959-7FA01657A051}" type="slidenum">
              <a:rPr lang="en-US" altLang="zh-CN" sz="1300">
                <a:latin typeface="Calibri" panose="020F0502020204030204" pitchFamily="34" charset="0"/>
              </a:rPr>
              <a:pPr>
                <a:spcBef>
                  <a:spcPct val="0"/>
                </a:spcBef>
              </a:pPr>
              <a:t>290</a:t>
            </a:fld>
            <a:endParaRPr lang="en-US" altLang="zh-CN" sz="1300">
              <a:latin typeface="Calibri" panose="020F0502020204030204" pitchFamily="34" charset="0"/>
            </a:endParaRPr>
          </a:p>
        </p:txBody>
      </p:sp>
      <p:sp>
        <p:nvSpPr>
          <p:cNvPr id="39939" name="Rectangle 2"/>
          <p:cNvSpPr>
            <a:spLocks noGrp="1" noRot="1" noChangeAspect="1" noChangeArrowheads="1" noTextEdit="1"/>
          </p:cNvSpPr>
          <p:nvPr>
            <p:ph type="sldImg"/>
          </p:nvPr>
        </p:nvSpPr>
        <p:spPr>
          <a:ln/>
        </p:spPr>
      </p:sp>
      <p:sp>
        <p:nvSpPr>
          <p:cNvPr id="399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903891877"/>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5EC38A80-A126-4586-8959-7FA01657A051}" type="slidenum">
              <a:rPr lang="en-US" altLang="zh-CN" sz="1300">
                <a:latin typeface="Calibri" panose="020F0502020204030204" pitchFamily="34" charset="0"/>
              </a:rPr>
              <a:pPr>
                <a:spcBef>
                  <a:spcPct val="0"/>
                </a:spcBef>
              </a:pPr>
              <a:t>291</a:t>
            </a:fld>
            <a:endParaRPr lang="en-US" altLang="zh-CN" sz="1300">
              <a:latin typeface="Calibri" panose="020F0502020204030204" pitchFamily="34" charset="0"/>
            </a:endParaRPr>
          </a:p>
        </p:txBody>
      </p:sp>
      <p:sp>
        <p:nvSpPr>
          <p:cNvPr id="39939" name="Rectangle 2"/>
          <p:cNvSpPr>
            <a:spLocks noGrp="1" noRot="1" noChangeAspect="1" noChangeArrowheads="1" noTextEdit="1"/>
          </p:cNvSpPr>
          <p:nvPr>
            <p:ph type="sldImg"/>
          </p:nvPr>
        </p:nvSpPr>
        <p:spPr>
          <a:ln/>
        </p:spPr>
      </p:sp>
      <p:sp>
        <p:nvSpPr>
          <p:cNvPr id="399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1920123242"/>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AD941B85-5CB8-4945-BE23-00247A7E837F}" type="slidenum">
              <a:rPr lang="en-US" altLang="zh-CN" sz="1300"/>
              <a:pPr>
                <a:spcBef>
                  <a:spcPct val="0"/>
                </a:spcBef>
              </a:pPr>
              <a:t>292</a:t>
            </a:fld>
            <a:endParaRPr lang="en-US" altLang="zh-CN" sz="1300"/>
          </a:p>
        </p:txBody>
      </p:sp>
      <p:sp>
        <p:nvSpPr>
          <p:cNvPr id="44035" name="Rectangle 2"/>
          <p:cNvSpPr>
            <a:spLocks noGrp="1" noRot="1" noChangeAspect="1" noChangeArrowheads="1" noTextEdit="1"/>
          </p:cNvSpPr>
          <p:nvPr>
            <p:ph type="sldImg"/>
          </p:nvPr>
        </p:nvSpPr>
        <p:spPr>
          <a:ln/>
        </p:spPr>
      </p:sp>
      <p:sp>
        <p:nvSpPr>
          <p:cNvPr id="440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610536696"/>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36BD9382-DB05-4270-B2AC-CCBE0C352236}" type="slidenum">
              <a:rPr lang="en-US" altLang="zh-CN" sz="1300"/>
              <a:pPr>
                <a:spcBef>
                  <a:spcPct val="0"/>
                </a:spcBef>
              </a:pPr>
              <a:t>293</a:t>
            </a:fld>
            <a:endParaRPr lang="en-US" altLang="zh-CN" sz="1300"/>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2794969068"/>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36BD9382-DB05-4270-B2AC-CCBE0C352236}" type="slidenum">
              <a:rPr lang="en-US" altLang="zh-CN" sz="1300"/>
              <a:pPr>
                <a:spcBef>
                  <a:spcPct val="0"/>
                </a:spcBef>
              </a:pPr>
              <a:t>294</a:t>
            </a:fld>
            <a:endParaRPr lang="en-US" altLang="zh-CN" sz="1300"/>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2794435337"/>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36BD9382-DB05-4270-B2AC-CCBE0C352236}" type="slidenum">
              <a:rPr lang="en-US" altLang="zh-CN" sz="1300"/>
              <a:pPr>
                <a:spcBef>
                  <a:spcPct val="0"/>
                </a:spcBef>
              </a:pPr>
              <a:t>295</a:t>
            </a:fld>
            <a:endParaRPr lang="en-US" altLang="zh-CN" sz="1300"/>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smtClean="0"/>
          </a:p>
        </p:txBody>
      </p:sp>
    </p:spTree>
    <p:extLst>
      <p:ext uri="{BB962C8B-B14F-4D97-AF65-F5344CB8AC3E}">
        <p14:creationId xmlns:p14="http://schemas.microsoft.com/office/powerpoint/2010/main" val="1367623577"/>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36BD9382-DB05-4270-B2AC-CCBE0C352236}" type="slidenum">
              <a:rPr lang="en-US" altLang="zh-CN" sz="1300"/>
              <a:pPr>
                <a:spcBef>
                  <a:spcPct val="0"/>
                </a:spcBef>
              </a:pPr>
              <a:t>296</a:t>
            </a:fld>
            <a:endParaRPr lang="en-US" altLang="zh-CN" sz="1300"/>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1395159112"/>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1pPr>
            <a:lvl2pPr marL="742950" indent="-28575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2pPr>
            <a:lvl3pPr marL="11430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3pPr>
            <a:lvl4pPr marL="16002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4pPr>
            <a:lvl5pPr marL="2057400" indent="-228600" defTabSz="957263">
              <a:spcBef>
                <a:spcPct val="30000"/>
              </a:spcBef>
              <a:defRPr sz="1200">
                <a:solidFill>
                  <a:schemeClr val="tx1"/>
                </a:solidFill>
                <a:latin typeface="Times New Roman" panose="02020603050405020304" pitchFamily="18" charset="0"/>
                <a:ea typeface="ＭＳ Ｐゴシック" panose="020B0600070205080204" pitchFamily="34" charset="-128"/>
              </a:defRPr>
            </a:lvl5pPr>
            <a:lvl6pPr marL="25146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6pPr>
            <a:lvl7pPr marL="29718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7pPr>
            <a:lvl8pPr marL="34290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8pPr>
            <a:lvl9pPr marL="3886200" indent="-228600" defTabSz="957263" eaLnBrk="0" fontAlgn="base" hangingPunct="0">
              <a:spcBef>
                <a:spcPct val="30000"/>
              </a:spcBef>
              <a:spcAft>
                <a:spcPct val="0"/>
              </a:spcAft>
              <a:defRPr sz="1200">
                <a:solidFill>
                  <a:schemeClr val="tx1"/>
                </a:solidFill>
                <a:latin typeface="Times New Roman" panose="02020603050405020304" pitchFamily="18" charset="0"/>
                <a:ea typeface="ＭＳ Ｐゴシック" panose="020B0600070205080204" pitchFamily="34" charset="-128"/>
              </a:defRPr>
            </a:lvl9pPr>
          </a:lstStyle>
          <a:p>
            <a:pPr>
              <a:spcBef>
                <a:spcPct val="0"/>
              </a:spcBef>
            </a:pPr>
            <a:fld id="{36BD9382-DB05-4270-B2AC-CCBE0C352236}" type="slidenum">
              <a:rPr lang="en-US" altLang="zh-CN" sz="1300"/>
              <a:pPr>
                <a:spcBef>
                  <a:spcPct val="0"/>
                </a:spcBef>
              </a:pPr>
              <a:t>297</a:t>
            </a:fld>
            <a:endParaRPr lang="en-US" altLang="zh-CN" sz="1300"/>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dirty="0" smtClean="0">
              <a:latin typeface="Times New Roman" panose="02020603050405020304" pitchFamily="18" charset="0"/>
            </a:endParaRPr>
          </a:p>
        </p:txBody>
      </p:sp>
    </p:spTree>
    <p:extLst>
      <p:ext uri="{BB962C8B-B14F-4D97-AF65-F5344CB8AC3E}">
        <p14:creationId xmlns:p14="http://schemas.microsoft.com/office/powerpoint/2010/main" val="4377764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298</a:t>
            </a:fld>
            <a:endParaRPr lang="zh-CN" altLang="en-US"/>
          </a:p>
        </p:txBody>
      </p:sp>
    </p:spTree>
    <p:extLst>
      <p:ext uri="{BB962C8B-B14F-4D97-AF65-F5344CB8AC3E}">
        <p14:creationId xmlns:p14="http://schemas.microsoft.com/office/powerpoint/2010/main" val="3307665924"/>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299</a:t>
            </a:fld>
            <a:endParaRPr lang="zh-CN" altLang="en-US"/>
          </a:p>
        </p:txBody>
      </p:sp>
    </p:spTree>
    <p:extLst>
      <p:ext uri="{BB962C8B-B14F-4D97-AF65-F5344CB8AC3E}">
        <p14:creationId xmlns:p14="http://schemas.microsoft.com/office/powerpoint/2010/main" val="1858610836"/>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300</a:t>
            </a:fld>
            <a:endParaRPr lang="zh-CN" altLang="en-US"/>
          </a:p>
        </p:txBody>
      </p:sp>
    </p:spTree>
    <p:extLst>
      <p:ext uri="{BB962C8B-B14F-4D97-AF65-F5344CB8AC3E}">
        <p14:creationId xmlns:p14="http://schemas.microsoft.com/office/powerpoint/2010/main" val="1037205894"/>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301</a:t>
            </a:fld>
            <a:endParaRPr lang="zh-CN" altLang="en-US"/>
          </a:p>
        </p:txBody>
      </p:sp>
    </p:spTree>
    <p:extLst>
      <p:ext uri="{BB962C8B-B14F-4D97-AF65-F5344CB8AC3E}">
        <p14:creationId xmlns:p14="http://schemas.microsoft.com/office/powerpoint/2010/main" val="3338383196"/>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302</a:t>
            </a:fld>
            <a:endParaRPr lang="zh-CN" altLang="en-US"/>
          </a:p>
        </p:txBody>
      </p:sp>
    </p:spTree>
    <p:extLst>
      <p:ext uri="{BB962C8B-B14F-4D97-AF65-F5344CB8AC3E}">
        <p14:creationId xmlns:p14="http://schemas.microsoft.com/office/powerpoint/2010/main" val="2457288457"/>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303</a:t>
            </a:fld>
            <a:endParaRPr lang="zh-CN" altLang="en-US"/>
          </a:p>
        </p:txBody>
      </p:sp>
    </p:spTree>
    <p:extLst>
      <p:ext uri="{BB962C8B-B14F-4D97-AF65-F5344CB8AC3E}">
        <p14:creationId xmlns:p14="http://schemas.microsoft.com/office/powerpoint/2010/main" val="2171938416"/>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304</a:t>
            </a:fld>
            <a:endParaRPr lang="zh-CN" altLang="en-US"/>
          </a:p>
        </p:txBody>
      </p:sp>
    </p:spTree>
    <p:extLst>
      <p:ext uri="{BB962C8B-B14F-4D97-AF65-F5344CB8AC3E}">
        <p14:creationId xmlns:p14="http://schemas.microsoft.com/office/powerpoint/2010/main" val="411923763"/>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305</a:t>
            </a:fld>
            <a:endParaRPr lang="zh-CN" altLang="en-US"/>
          </a:p>
        </p:txBody>
      </p:sp>
    </p:spTree>
    <p:extLst>
      <p:ext uri="{BB962C8B-B14F-4D97-AF65-F5344CB8AC3E}">
        <p14:creationId xmlns:p14="http://schemas.microsoft.com/office/powerpoint/2010/main" val="24396285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306</a:t>
            </a:fld>
            <a:endParaRPr lang="zh-CN" altLang="en-US"/>
          </a:p>
        </p:txBody>
      </p:sp>
    </p:spTree>
    <p:extLst>
      <p:ext uri="{BB962C8B-B14F-4D97-AF65-F5344CB8AC3E}">
        <p14:creationId xmlns:p14="http://schemas.microsoft.com/office/powerpoint/2010/main" val="795754885"/>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307</a:t>
            </a:fld>
            <a:endParaRPr lang="zh-CN" altLang="en-US"/>
          </a:p>
        </p:txBody>
      </p:sp>
    </p:spTree>
    <p:extLst>
      <p:ext uri="{BB962C8B-B14F-4D97-AF65-F5344CB8AC3E}">
        <p14:creationId xmlns:p14="http://schemas.microsoft.com/office/powerpoint/2010/main" val="1308877639"/>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308</a:t>
            </a:fld>
            <a:endParaRPr lang="zh-CN" altLang="en-US"/>
          </a:p>
        </p:txBody>
      </p:sp>
    </p:spTree>
    <p:extLst>
      <p:ext uri="{BB962C8B-B14F-4D97-AF65-F5344CB8AC3E}">
        <p14:creationId xmlns:p14="http://schemas.microsoft.com/office/powerpoint/2010/main" val="4003457924"/>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309</a:t>
            </a:fld>
            <a:endParaRPr lang="zh-CN" altLang="en-US"/>
          </a:p>
        </p:txBody>
      </p:sp>
    </p:spTree>
    <p:extLst>
      <p:ext uri="{BB962C8B-B14F-4D97-AF65-F5344CB8AC3E}">
        <p14:creationId xmlns:p14="http://schemas.microsoft.com/office/powerpoint/2010/main" val="2693972190"/>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310</a:t>
            </a:fld>
            <a:endParaRPr lang="zh-CN" altLang="en-US"/>
          </a:p>
        </p:txBody>
      </p:sp>
    </p:spTree>
    <p:extLst>
      <p:ext uri="{BB962C8B-B14F-4D97-AF65-F5344CB8AC3E}">
        <p14:creationId xmlns:p14="http://schemas.microsoft.com/office/powerpoint/2010/main" val="2795433912"/>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311</a:t>
            </a:fld>
            <a:endParaRPr lang="zh-CN" altLang="en-US"/>
          </a:p>
        </p:txBody>
      </p:sp>
    </p:spTree>
    <p:extLst>
      <p:ext uri="{BB962C8B-B14F-4D97-AF65-F5344CB8AC3E}">
        <p14:creationId xmlns:p14="http://schemas.microsoft.com/office/powerpoint/2010/main" val="4174239430"/>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312</a:t>
            </a:fld>
            <a:endParaRPr lang="zh-CN" altLang="en-US"/>
          </a:p>
        </p:txBody>
      </p:sp>
    </p:spTree>
    <p:extLst>
      <p:ext uri="{BB962C8B-B14F-4D97-AF65-F5344CB8AC3E}">
        <p14:creationId xmlns:p14="http://schemas.microsoft.com/office/powerpoint/2010/main" val="2294103162"/>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313</a:t>
            </a:fld>
            <a:endParaRPr lang="zh-CN" altLang="en-US"/>
          </a:p>
        </p:txBody>
      </p:sp>
    </p:spTree>
    <p:extLst>
      <p:ext uri="{BB962C8B-B14F-4D97-AF65-F5344CB8AC3E}">
        <p14:creationId xmlns:p14="http://schemas.microsoft.com/office/powerpoint/2010/main" val="626590143"/>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314</a:t>
            </a:fld>
            <a:endParaRPr lang="zh-CN" altLang="en-US"/>
          </a:p>
        </p:txBody>
      </p:sp>
    </p:spTree>
    <p:extLst>
      <p:ext uri="{BB962C8B-B14F-4D97-AF65-F5344CB8AC3E}">
        <p14:creationId xmlns:p14="http://schemas.microsoft.com/office/powerpoint/2010/main" val="2263380206"/>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eaLnBrk="0" hangingPunct="0">
              <a:lnSpc>
                <a:spcPts val="2700"/>
              </a:lnSpc>
              <a:buClr>
                <a:srgbClr val="0070C0"/>
              </a:buClr>
              <a:buFont typeface="Wingdings" pitchFamily="2" charset="2"/>
              <a:buNone/>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315</a:t>
            </a:fld>
            <a:endParaRPr lang="zh-CN" altLang="en-US"/>
          </a:p>
        </p:txBody>
      </p:sp>
    </p:spTree>
    <p:extLst>
      <p:ext uri="{BB962C8B-B14F-4D97-AF65-F5344CB8AC3E}">
        <p14:creationId xmlns:p14="http://schemas.microsoft.com/office/powerpoint/2010/main" val="354896633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316</a:t>
            </a:fld>
            <a:endParaRPr lang="zh-CN" altLang="en-US"/>
          </a:p>
        </p:txBody>
      </p:sp>
    </p:spTree>
    <p:extLst>
      <p:ext uri="{BB962C8B-B14F-4D97-AF65-F5344CB8AC3E}">
        <p14:creationId xmlns:p14="http://schemas.microsoft.com/office/powerpoint/2010/main" val="589560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2026/6/27</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
        <p:nvSpPr>
          <p:cNvPr id="4" name="AutoShape 5"/>
          <p:cNvSpPr>
            <a:spLocks noChangeArrowheads="1"/>
          </p:cNvSpPr>
          <p:nvPr/>
        </p:nvSpPr>
        <p:spPr bwMode="auto">
          <a:xfrm>
            <a:off x="466344" y="609269"/>
            <a:ext cx="8129016" cy="354012"/>
          </a:xfrm>
          <a:prstGeom prst="roundRect">
            <a:avLst>
              <a:gd name="adj" fmla="val 16667"/>
            </a:avLst>
          </a:prstGeom>
          <a:solidFill>
            <a:srgbClr val="0070C0"/>
          </a:solidFill>
          <a:ln>
            <a:noFill/>
          </a:ln>
          <a:effectLst/>
        </p:spPr>
        <p:txBody>
          <a:bodyPr wrap="none" anchor="ctr"/>
          <a:lstStyle/>
          <a:p>
            <a:endParaRPr lang="zh-CN" altLang="en-US"/>
          </a:p>
        </p:txBody>
      </p:sp>
      <p:sp>
        <p:nvSpPr>
          <p:cNvPr id="8" name="内容占位符 7"/>
          <p:cNvSpPr>
            <a:spLocks noGrp="1"/>
          </p:cNvSpPr>
          <p:nvPr>
            <p:ph sz="quarter" idx="10"/>
          </p:nvPr>
        </p:nvSpPr>
        <p:spPr>
          <a:xfrm>
            <a:off x="466344" y="969626"/>
            <a:ext cx="8129016" cy="3389873"/>
          </a:xfrm>
          <a:prstGeom prst="rect">
            <a:avLst/>
          </a:prstGeom>
        </p:spPr>
        <p:txBody>
          <a:bodyPr/>
          <a:lstStyle>
            <a:lvl1pPr marL="342900" indent="-342900">
              <a:lnSpc>
                <a:spcPts val="3000"/>
              </a:lnSpc>
              <a:spcBef>
                <a:spcPts val="0"/>
              </a:spcBef>
              <a:buClr>
                <a:srgbClr val="0066CC"/>
              </a:buClr>
              <a:buFont typeface="Wingdings" panose="05000000000000000000" pitchFamily="2" charset="2"/>
              <a:buChar char="l"/>
              <a:defRPr lang="zh-CN" altLang="en-US" sz="2000" b="1" kern="1200" dirty="0" smtClean="0">
                <a:solidFill>
                  <a:schemeClr val="tx1"/>
                </a:solidFill>
                <a:latin typeface="微软雅黑" pitchFamily="34" charset="-122"/>
                <a:ea typeface="微软雅黑" pitchFamily="34" charset="-122"/>
                <a:cs typeface="+mn-cs"/>
              </a:defRPr>
            </a:lvl1pPr>
            <a:lvl2pPr marL="742950" indent="-285750">
              <a:lnSpc>
                <a:spcPts val="3000"/>
              </a:lnSpc>
              <a:spcBef>
                <a:spcPts val="0"/>
              </a:spcBef>
              <a:buClr>
                <a:schemeClr val="accent6">
                  <a:lumMod val="50000"/>
                </a:schemeClr>
              </a:buClr>
              <a:buFont typeface="Wingdings" panose="05000000000000000000" pitchFamily="2" charset="2"/>
              <a:buChar char="u"/>
              <a:defRPr sz="1800" b="1">
                <a:latin typeface="微软雅黑" panose="020B0503020204020204" pitchFamily="34" charset="-122"/>
                <a:ea typeface="微软雅黑" panose="020B0503020204020204" pitchFamily="34" charset="-122"/>
              </a:defRPr>
            </a:lvl2pPr>
            <a:lvl3pPr marL="1143000" indent="-228600">
              <a:lnSpc>
                <a:spcPts val="3000"/>
              </a:lnSpc>
              <a:spcBef>
                <a:spcPts val="0"/>
              </a:spcBef>
              <a:buClr>
                <a:srgbClr val="006600"/>
              </a:buClr>
              <a:buFont typeface="Wingdings" panose="05000000000000000000" pitchFamily="2" charset="2"/>
              <a:buChar char="Ø"/>
              <a:defRPr sz="1600" b="1">
                <a:latin typeface="微软雅黑" panose="020B0503020204020204" pitchFamily="34" charset="-122"/>
                <a:ea typeface="微软雅黑" panose="020B0503020204020204" pitchFamily="34" charset="-122"/>
              </a:defRPr>
            </a:lvl3pPr>
            <a:lvl4pPr>
              <a:lnSpc>
                <a:spcPts val="3000"/>
              </a:lnSpc>
              <a:spcBef>
                <a:spcPts val="0"/>
              </a:spcBef>
              <a:defRPr sz="1400" b="1">
                <a:latin typeface="微软雅黑" panose="020B0503020204020204" pitchFamily="34" charset="-122"/>
                <a:ea typeface="微软雅黑" panose="020B0503020204020204" pitchFamily="34" charset="-122"/>
              </a:defRPr>
            </a:lvl4pPr>
            <a:lvl5pPr>
              <a:lnSpc>
                <a:spcPts val="3000"/>
              </a:lnSpc>
              <a:spcBef>
                <a:spcPts val="0"/>
              </a:spcBef>
              <a:defRPr sz="1400" b="1">
                <a:latin typeface="微软雅黑" panose="020B0503020204020204" pitchFamily="34" charset="-122"/>
                <a:ea typeface="微软雅黑" panose="020B0503020204020204" pitchFamily="34"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6" name="文本占位符 11"/>
          <p:cNvSpPr>
            <a:spLocks noGrp="1"/>
          </p:cNvSpPr>
          <p:nvPr>
            <p:ph type="body" sz="quarter" idx="11"/>
          </p:nvPr>
        </p:nvSpPr>
        <p:spPr>
          <a:xfrm>
            <a:off x="1249591" y="609269"/>
            <a:ext cx="6632575" cy="354012"/>
          </a:xfrm>
          <a:prstGeom prst="rect">
            <a:avLst/>
          </a:prstGeom>
        </p:spPr>
        <p:txBody>
          <a:bodyPr anchor="ctr"/>
          <a:lstStyle>
            <a:lvl1pPr marL="0" indent="0" algn="ctr">
              <a:buFontTx/>
              <a:buNone/>
              <a:defRPr sz="2000" b="1">
                <a:solidFill>
                  <a:schemeClr val="bg1"/>
                </a:solidFill>
                <a:latin typeface="微软雅黑" panose="020B0503020204020204" pitchFamily="34" charset="-122"/>
                <a:ea typeface="微软雅黑" panose="020B0503020204020204" pitchFamily="34" charset="-122"/>
              </a:defRPr>
            </a:lvl1pPr>
          </a:lstStyle>
          <a:p>
            <a:pPr lvl="0"/>
            <a:r>
              <a:rPr lang="zh-CN" altLang="en-US" dirty="0"/>
              <a:t>编辑母版文本样式</a:t>
            </a:r>
          </a:p>
        </p:txBody>
      </p:sp>
    </p:spTree>
    <p:extLst>
      <p:ext uri="{BB962C8B-B14F-4D97-AF65-F5344CB8AC3E}">
        <p14:creationId xmlns:p14="http://schemas.microsoft.com/office/powerpoint/2010/main" val="732710173"/>
      </p:ext>
    </p:extLst>
  </p:cSld>
  <p:clrMapOvr>
    <a:masterClrMapping/>
  </p:clrMapOvr>
  <mc:AlternateContent xmlns:mc="http://schemas.openxmlformats.org/markup-compatibility/2006" xmlns:p14="http://schemas.microsoft.com/office/powerpoint/2010/main">
    <mc:Choice Requires="p14">
      <p:transition spd="slow" p14:dur="2000" advClick="0" advTm="2000"/>
    </mc:Choice>
    <mc:Fallback xmlns="">
      <p:transition spd="slow" advClick="0"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3.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2.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30"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 name="矩形 20"/>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3" name="Rectangle 4"/>
          <p:cNvSpPr>
            <a:spLocks noChangeArrowheads="1"/>
          </p:cNvSpPr>
          <p:nvPr userDrawn="1"/>
        </p:nvSpPr>
        <p:spPr bwMode="auto">
          <a:xfrm>
            <a:off x="4810742" y="164227"/>
            <a:ext cx="174880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0" hangingPunct="0"/>
            <a:r>
              <a:rPr lang="zh-CN" altLang="en-US" sz="1100" b="1" dirty="0" smtClean="0">
                <a:solidFill>
                  <a:srgbClr val="0070C0"/>
                </a:solidFill>
                <a:latin typeface="微软雅黑" pitchFamily="34" charset="-122"/>
                <a:ea typeface="微软雅黑" pitchFamily="34" charset="-122"/>
              </a:rPr>
              <a:t>第</a:t>
            </a:r>
            <a:r>
              <a:rPr lang="en-US" altLang="zh-CN" sz="1100" b="1" dirty="0" smtClean="0">
                <a:solidFill>
                  <a:srgbClr val="0070C0"/>
                </a:solidFill>
                <a:latin typeface="微软雅黑" pitchFamily="34" charset="-122"/>
                <a:ea typeface="微软雅黑" pitchFamily="34" charset="-122"/>
              </a:rPr>
              <a:t>6</a:t>
            </a:r>
            <a:r>
              <a:rPr lang="zh-CN" altLang="en-US" sz="1100" b="1" dirty="0" smtClean="0">
                <a:solidFill>
                  <a:srgbClr val="0070C0"/>
                </a:solidFill>
                <a:latin typeface="微软雅黑" pitchFamily="34" charset="-122"/>
                <a:ea typeface="微软雅黑" pitchFamily="34" charset="-122"/>
              </a:rPr>
              <a:t>章 应用层</a:t>
            </a:r>
            <a:endParaRPr lang="en-US" altLang="zh-CN" sz="1100" b="1" dirty="0" smtClean="0">
              <a:solidFill>
                <a:srgbClr val="0070C0"/>
              </a:solidFill>
              <a:latin typeface="微软雅黑" pitchFamily="34" charset="-122"/>
              <a:ea typeface="微软雅黑" pitchFamily="34" charset="-122"/>
            </a:endParaRPr>
          </a:p>
        </p:txBody>
      </p:sp>
      <p:sp>
        <p:nvSpPr>
          <p:cNvPr id="24"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altLang="zh-CN" sz="1100" b="1" dirty="0" smtClean="0">
                <a:solidFill>
                  <a:srgbClr val="0070C0"/>
                </a:solidFill>
                <a:latin typeface="微软雅黑" pitchFamily="34" charset="-122"/>
                <a:ea typeface="微软雅黑" pitchFamily="34" charset="-122"/>
              </a:rPr>
              <a:t>计算机网络 </a:t>
            </a:r>
            <a:r>
              <a:rPr lang="en-US" altLang="zh-CN" sz="1100" b="1" dirty="0" smtClean="0">
                <a:solidFill>
                  <a:srgbClr val="0070C0"/>
                </a:solidFill>
                <a:latin typeface="微软雅黑" pitchFamily="34" charset="-122"/>
                <a:ea typeface="微软雅黑" pitchFamily="34" charset="-122"/>
              </a:rPr>
              <a:t>(</a:t>
            </a:r>
            <a:r>
              <a:rPr lang="zh-CN" altLang="en-US" sz="1100" b="1" dirty="0" smtClean="0">
                <a:solidFill>
                  <a:srgbClr val="0070C0"/>
                </a:solidFill>
                <a:latin typeface="微软雅黑" pitchFamily="34" charset="-122"/>
                <a:ea typeface="微软雅黑" pitchFamily="34" charset="-122"/>
              </a:rPr>
              <a:t>第 </a:t>
            </a:r>
            <a:r>
              <a:rPr lang="en-US" altLang="zh-CN" sz="1100" b="1" dirty="0" smtClean="0">
                <a:solidFill>
                  <a:srgbClr val="0070C0"/>
                </a:solidFill>
                <a:latin typeface="微软雅黑" pitchFamily="34" charset="-122"/>
                <a:ea typeface="微软雅黑" pitchFamily="34" charset="-122"/>
              </a:rPr>
              <a:t>9 </a:t>
            </a:r>
            <a:r>
              <a:rPr lang="zh-CN" altLang="en-US" sz="1100" b="1" dirty="0" smtClean="0">
                <a:solidFill>
                  <a:srgbClr val="0070C0"/>
                </a:solidFill>
                <a:latin typeface="微软雅黑" pitchFamily="34" charset="-122"/>
                <a:ea typeface="微软雅黑" pitchFamily="34" charset="-122"/>
              </a:rPr>
              <a:t>版</a:t>
            </a:r>
            <a:r>
              <a:rPr lang="en-US" altLang="zh-CN" sz="1100" b="1" dirty="0" smtClean="0">
                <a:solidFill>
                  <a:srgbClr val="0070C0"/>
                </a:solidFill>
                <a:latin typeface="微软雅黑" pitchFamily="34" charset="-122"/>
                <a:ea typeface="微软雅黑" pitchFamily="34" charset="-122"/>
              </a:rPr>
              <a:t>)</a:t>
            </a:r>
            <a:endParaRPr lang="fr-FR" altLang="zh-CN" sz="1100" b="1" dirty="0">
              <a:solidFill>
                <a:srgbClr val="0070C0"/>
              </a:solidFill>
              <a:latin typeface="微软雅黑" pitchFamily="34" charset="-122"/>
              <a:ea typeface="微软雅黑" pitchFamily="34" charset="-122"/>
            </a:endParaRPr>
          </a:p>
        </p:txBody>
      </p:sp>
      <p:sp>
        <p:nvSpPr>
          <p:cNvPr id="25" name="椭圆 24"/>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26" name="Line 3"/>
          <p:cNvSpPr>
            <a:spLocks noChangeShapeType="1"/>
          </p:cNvSpPr>
          <p:nvPr userDrawn="1"/>
        </p:nvSpPr>
        <p:spPr bwMode="auto">
          <a:xfrm>
            <a:off x="5982478" y="301530"/>
            <a:ext cx="3161522"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7" name="椭圆 26"/>
          <p:cNvSpPr/>
          <p:nvPr userDrawn="1"/>
        </p:nvSpPr>
        <p:spPr>
          <a:xfrm>
            <a:off x="5897780"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32" name="图片 31"/>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pic>
        <p:nvPicPr>
          <p:cNvPr id="15" name="图片 14">
            <a:extLst>
              <a:ext uri="{FF2B5EF4-FFF2-40B4-BE49-F238E27FC236}">
                <a16:creationId xmlns:a16="http://schemas.microsoft.com/office/drawing/2014/main" id="{F18D8E1A-03C8-3B3E-BD52-8897D9FCB21A}"/>
              </a:ext>
            </a:extLst>
          </p:cNvPr>
          <p:cNvPicPr>
            <a:picLocks noChangeAspect="1"/>
          </p:cNvPicPr>
          <p:nvPr userDrawn="1"/>
        </p:nvPicPr>
        <p:blipFill>
          <a:blip r:embed="rId16" cstate="print">
            <a:extLst>
              <a:ext uri="{28A0092B-C50C-407E-A947-70E740481C1C}">
                <a14:useLocalDpi xmlns:a14="http://schemas.microsoft.com/office/drawing/2010/main" val="0"/>
              </a:ext>
            </a:extLst>
          </a:blip>
          <a:srcRect t="21526"/>
          <a:stretch>
            <a:fillRect/>
          </a:stretch>
        </p:blipFill>
        <p:spPr>
          <a:xfrm>
            <a:off x="8323244" y="4509575"/>
            <a:ext cx="545473" cy="531048"/>
          </a:xfrm>
          <a:prstGeom prst="rect">
            <a:avLst/>
          </a:prstGeom>
          <a:solidFill>
            <a:schemeClr val="bg1"/>
          </a:solidFill>
          <a:ln w="25400" algn="ctr">
            <a:solidFill>
              <a:srgbClr val="85D1F7"/>
            </a:solidFill>
            <a:miter lim="800000"/>
            <a:headEnd/>
            <a:tailEnd/>
          </a:ln>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8" Type="http://schemas.openxmlformats.org/officeDocument/2006/relationships/diagramData" Target="../diagrams/data2.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tags" Target="../tags/tag1.xml"/><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4.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xml"/><Relationship Id="rId1" Type="http://schemas.openxmlformats.org/officeDocument/2006/relationships/tags" Target="../tags/tag5.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6.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xml"/><Relationship Id="rId1" Type="http://schemas.openxmlformats.org/officeDocument/2006/relationships/tags" Target="../tags/tag7.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ags" Target="../tags/tag8.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9.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0.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1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2.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1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ags" Target="../tags/tag15.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16.xml"/></Relationships>
</file>

<file path=ppt/slides/_rels/slide28.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17.xml"/><Relationship Id="rId5" Type="http://schemas.openxmlformats.org/officeDocument/2006/relationships/image" Target="../media/image7.png"/><Relationship Id="rId4" Type="http://schemas.openxmlformats.org/officeDocument/2006/relationships/image" Target="../media/image8.png"/></Relationships>
</file>

<file path=ppt/slides/_rels/slide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21.xml"/></Relationships>
</file>

<file path=ppt/slides/_rels/slide3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22.xml"/><Relationship Id="rId5" Type="http://schemas.openxmlformats.org/officeDocument/2006/relationships/image" Target="../media/image11.jpeg"/><Relationship Id="rId4" Type="http://schemas.openxmlformats.org/officeDocument/2006/relationships/image" Target="../media/image10.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24.xml"/><Relationship Id="rId6" Type="http://schemas.openxmlformats.org/officeDocument/2006/relationships/image" Target="../media/image13.png"/><Relationship Id="rId5" Type="http://schemas.openxmlformats.org/officeDocument/2006/relationships/image" Target="../media/image8.png"/><Relationship Id="rId4" Type="http://schemas.openxmlformats.org/officeDocument/2006/relationships/image" Target="../media/image12.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tags" Target="../tags/tag25.xml"/><Relationship Id="rId5" Type="http://schemas.openxmlformats.org/officeDocument/2006/relationships/image" Target="../media/image12.png"/><Relationship Id="rId4" Type="http://schemas.openxmlformats.org/officeDocument/2006/relationships/image" Target="../media/image9.pn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2.xml"/><Relationship Id="rId1" Type="http://schemas.openxmlformats.org/officeDocument/2006/relationships/tags" Target="../tags/tag27.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ags" Target="../tags/tag28.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tags" Target="../tags/tag30.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47.xml"/><Relationship Id="rId7" Type="http://schemas.openxmlformats.org/officeDocument/2006/relationships/image" Target="../media/image14.wmf"/><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8.png"/><Relationship Id="rId4" Type="http://schemas.openxmlformats.org/officeDocument/2006/relationships/image" Target="../media/image7.png"/></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48.xml"/><Relationship Id="rId7" Type="http://schemas.openxmlformats.org/officeDocument/2006/relationships/image" Target="../media/image14.w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image" Target="../media/image8.png"/><Relationship Id="rId4" Type="http://schemas.openxmlformats.org/officeDocument/2006/relationships/image" Target="../media/image7.png"/></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ags" Target="../tags/tag31.xml"/></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2.xml"/><Relationship Id="rId1" Type="http://schemas.openxmlformats.org/officeDocument/2006/relationships/tags" Target="../tags/tag32.xml"/><Relationship Id="rId5" Type="http://schemas.openxmlformats.org/officeDocument/2006/relationships/image" Target="../media/image7.png"/><Relationship Id="rId4" Type="http://schemas.openxmlformats.org/officeDocument/2006/relationships/image" Target="../media/image8.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2.xml"/><Relationship Id="rId1" Type="http://schemas.openxmlformats.org/officeDocument/2006/relationships/tags" Target="../tags/tag33.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ags" Target="../tags/tag34.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2.xml"/><Relationship Id="rId1" Type="http://schemas.openxmlformats.org/officeDocument/2006/relationships/tags" Target="../tags/tag35.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2.xml"/><Relationship Id="rId1" Type="http://schemas.openxmlformats.org/officeDocument/2006/relationships/tags" Target="../tags/tag36.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2.xml"/><Relationship Id="rId1" Type="http://schemas.openxmlformats.org/officeDocument/2006/relationships/tags" Target="../tags/tag37.xml"/></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tags" Target="../tags/tag38.xml"/></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2.xml"/><Relationship Id="rId1" Type="http://schemas.openxmlformats.org/officeDocument/2006/relationships/tags" Target="../tags/tag3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slideLayout" Target="../slideLayouts/slideLayout2.xml"/><Relationship Id="rId7" Type="http://schemas.openxmlformats.org/officeDocument/2006/relationships/image" Target="../media/image15.png"/><Relationship Id="rId2" Type="http://schemas.openxmlformats.org/officeDocument/2006/relationships/tags" Target="../tags/tag40.xml"/><Relationship Id="rId1" Type="http://schemas.openxmlformats.org/officeDocument/2006/relationships/vmlDrawing" Target="../drawings/vmlDrawing3.vml"/><Relationship Id="rId6" Type="http://schemas.openxmlformats.org/officeDocument/2006/relationships/image" Target="../media/image14.wmf"/><Relationship Id="rId5" Type="http://schemas.openxmlformats.org/officeDocument/2006/relationships/oleObject" Target="../embeddings/oleObject3.bin"/><Relationship Id="rId4" Type="http://schemas.openxmlformats.org/officeDocument/2006/relationships/notesSlide" Target="../notesSlides/notesSlide61.xml"/></Relationships>
</file>

<file path=ppt/slides/_rels/slide66.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slideLayout" Target="../slideLayouts/slideLayout2.xml"/><Relationship Id="rId7" Type="http://schemas.openxmlformats.org/officeDocument/2006/relationships/image" Target="../media/image14.wmf"/><Relationship Id="rId2" Type="http://schemas.openxmlformats.org/officeDocument/2006/relationships/tags" Target="../tags/tag41.xml"/><Relationship Id="rId1" Type="http://schemas.openxmlformats.org/officeDocument/2006/relationships/vmlDrawing" Target="../drawings/vmlDrawing4.vml"/><Relationship Id="rId6" Type="http://schemas.openxmlformats.org/officeDocument/2006/relationships/oleObject" Target="../embeddings/oleObject4.bin"/><Relationship Id="rId5" Type="http://schemas.openxmlformats.org/officeDocument/2006/relationships/image" Target="../media/image7.png"/><Relationship Id="rId4" Type="http://schemas.openxmlformats.org/officeDocument/2006/relationships/notesSlide" Target="../notesSlides/notesSlide62.xm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3.xml"/><Relationship Id="rId7" Type="http://schemas.openxmlformats.org/officeDocument/2006/relationships/image" Target="../media/image15.png"/><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image" Target="../media/image14.wmf"/><Relationship Id="rId5" Type="http://schemas.openxmlformats.org/officeDocument/2006/relationships/oleObject" Target="../embeddings/oleObject5.bin"/><Relationship Id="rId4" Type="http://schemas.openxmlformats.org/officeDocument/2006/relationships/image" Target="../media/image7.png"/></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4.xml"/><Relationship Id="rId7" Type="http://schemas.openxmlformats.org/officeDocument/2006/relationships/image" Target="../media/image14.wmf"/><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oleObject" Target="../embeddings/oleObject6.bin"/><Relationship Id="rId5" Type="http://schemas.openxmlformats.org/officeDocument/2006/relationships/image" Target="../media/image15.png"/><Relationship Id="rId4" Type="http://schemas.openxmlformats.org/officeDocument/2006/relationships/image" Target="../media/image7.png"/></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5.xml"/><Relationship Id="rId7" Type="http://schemas.openxmlformats.org/officeDocument/2006/relationships/image" Target="../media/image14.wmf"/><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oleObject" Target="../embeddings/oleObject7.bin"/><Relationship Id="rId5" Type="http://schemas.openxmlformats.org/officeDocument/2006/relationships/image" Target="../media/image15.png"/><Relationship Id="rId4" Type="http://schemas.openxmlformats.org/officeDocument/2006/relationships/image" Target="../media/image7.png"/></Relationships>
</file>

<file path=ppt/slides/_rels/slide70.xml.rels><?xml version="1.0" encoding="UTF-8" standalone="yes"?>
<Relationships xmlns="http://schemas.openxmlformats.org/package/2006/relationships"><Relationship Id="rId8" Type="http://schemas.openxmlformats.org/officeDocument/2006/relationships/image" Target="../media/image14.wmf"/><Relationship Id="rId3" Type="http://schemas.openxmlformats.org/officeDocument/2006/relationships/slideLayout" Target="../slideLayouts/slideLayout2.xml"/><Relationship Id="rId7" Type="http://schemas.openxmlformats.org/officeDocument/2006/relationships/oleObject" Target="../embeddings/oleObject8.bin"/><Relationship Id="rId2" Type="http://schemas.openxmlformats.org/officeDocument/2006/relationships/tags" Target="../tags/tag42.xml"/><Relationship Id="rId1" Type="http://schemas.openxmlformats.org/officeDocument/2006/relationships/vmlDrawing" Target="../drawings/vmlDrawing8.vml"/><Relationship Id="rId6" Type="http://schemas.openxmlformats.org/officeDocument/2006/relationships/image" Target="../media/image15.png"/><Relationship Id="rId5" Type="http://schemas.openxmlformats.org/officeDocument/2006/relationships/image" Target="../media/image7.png"/><Relationship Id="rId4" Type="http://schemas.openxmlformats.org/officeDocument/2006/relationships/notesSlide" Target="../notesSlides/notesSlide66.xml"/></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2.xml"/><Relationship Id="rId1" Type="http://schemas.openxmlformats.org/officeDocument/2006/relationships/tags" Target="../tags/tag4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2.xml"/><Relationship Id="rId1" Type="http://schemas.openxmlformats.org/officeDocument/2006/relationships/tags" Target="../tags/tag4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2.xml"/><Relationship Id="rId1" Type="http://schemas.openxmlformats.org/officeDocument/2006/relationships/tags" Target="../tags/tag45.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2.xml"/><Relationship Id="rId1" Type="http://schemas.openxmlformats.org/officeDocument/2006/relationships/tags" Target="../tags/tag4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slideLayout" Target="../slideLayouts/slideLayout2.xml"/><Relationship Id="rId1" Type="http://schemas.openxmlformats.org/officeDocument/2006/relationships/vmlDrawing" Target="../drawings/vmlDrawing9.vml"/><Relationship Id="rId5" Type="http://schemas.openxmlformats.org/officeDocument/2006/relationships/image" Target="../media/image17.wmf"/><Relationship Id="rId4" Type="http://schemas.openxmlformats.org/officeDocument/2006/relationships/oleObject" Target="../embeddings/oleObject9.bin"/></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2.xml"/><Relationship Id="rId1" Type="http://schemas.openxmlformats.org/officeDocument/2006/relationships/tags" Target="../tags/tag47.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81.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10.vml"/><Relationship Id="rId6" Type="http://schemas.openxmlformats.org/officeDocument/2006/relationships/oleObject" Target="../embeddings/oleObject11.bin"/><Relationship Id="rId5" Type="http://schemas.openxmlformats.org/officeDocument/2006/relationships/image" Target="../media/image18.emf"/><Relationship Id="rId4" Type="http://schemas.openxmlformats.org/officeDocument/2006/relationships/oleObject" Target="../embeddings/oleObject10.bin"/></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82.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oleObject" Target="../embeddings/oleObject13.bin"/><Relationship Id="rId5" Type="http://schemas.openxmlformats.org/officeDocument/2006/relationships/image" Target="../media/image18.emf"/><Relationship Id="rId4" Type="http://schemas.openxmlformats.org/officeDocument/2006/relationships/oleObject" Target="../embeddings/oleObject12.bin"/></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83.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oleObject" Target="../embeddings/oleObject15.bin"/><Relationship Id="rId5" Type="http://schemas.openxmlformats.org/officeDocument/2006/relationships/image" Target="../media/image18.emf"/><Relationship Id="rId4" Type="http://schemas.openxmlformats.org/officeDocument/2006/relationships/oleObject" Target="../embeddings/oleObject14.bin"/></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84.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13.vml"/><Relationship Id="rId6" Type="http://schemas.openxmlformats.org/officeDocument/2006/relationships/oleObject" Target="../embeddings/oleObject17.bin"/><Relationship Id="rId5" Type="http://schemas.openxmlformats.org/officeDocument/2006/relationships/image" Target="../media/image18.emf"/><Relationship Id="rId4" Type="http://schemas.openxmlformats.org/officeDocument/2006/relationships/oleObject" Target="../embeddings/oleObject16.bin"/></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85.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14.vml"/><Relationship Id="rId6" Type="http://schemas.openxmlformats.org/officeDocument/2006/relationships/oleObject" Target="../embeddings/oleObject19.bin"/><Relationship Id="rId5" Type="http://schemas.openxmlformats.org/officeDocument/2006/relationships/image" Target="../media/image18.emf"/><Relationship Id="rId4" Type="http://schemas.openxmlformats.org/officeDocument/2006/relationships/oleObject" Target="../embeddings/oleObject18.bin"/></Relationships>
</file>

<file path=ppt/slides/_rels/slide111.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86.xml"/><Relationship Id="rId7" Type="http://schemas.openxmlformats.org/officeDocument/2006/relationships/oleObject" Target="../embeddings/oleObject22.bin"/><Relationship Id="rId2" Type="http://schemas.openxmlformats.org/officeDocument/2006/relationships/slideLayout" Target="../slideLayouts/slideLayout2.xml"/><Relationship Id="rId1" Type="http://schemas.openxmlformats.org/officeDocument/2006/relationships/vmlDrawing" Target="../drawings/vmlDrawing15.vml"/><Relationship Id="rId6" Type="http://schemas.openxmlformats.org/officeDocument/2006/relationships/oleObject" Target="../embeddings/oleObject21.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20.bin"/><Relationship Id="rId9" Type="http://schemas.openxmlformats.org/officeDocument/2006/relationships/oleObject" Target="../embeddings/oleObject23.bin"/></Relationships>
</file>

<file path=ppt/slides/_rels/slide112.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87.xml"/><Relationship Id="rId7" Type="http://schemas.openxmlformats.org/officeDocument/2006/relationships/oleObject" Target="../embeddings/oleObject26.bin"/><Relationship Id="rId2" Type="http://schemas.openxmlformats.org/officeDocument/2006/relationships/slideLayout" Target="../slideLayouts/slideLayout2.xml"/><Relationship Id="rId1" Type="http://schemas.openxmlformats.org/officeDocument/2006/relationships/vmlDrawing" Target="../drawings/vmlDrawing16.vml"/><Relationship Id="rId6" Type="http://schemas.openxmlformats.org/officeDocument/2006/relationships/oleObject" Target="../embeddings/oleObject25.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24.bin"/><Relationship Id="rId9" Type="http://schemas.openxmlformats.org/officeDocument/2006/relationships/oleObject" Target="../embeddings/oleObject27.bin"/></Relationships>
</file>

<file path=ppt/slides/_rels/slide113.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88.xml"/><Relationship Id="rId7" Type="http://schemas.openxmlformats.org/officeDocument/2006/relationships/oleObject" Target="../embeddings/oleObject30.bin"/><Relationship Id="rId2" Type="http://schemas.openxmlformats.org/officeDocument/2006/relationships/slideLayout" Target="../slideLayouts/slideLayout2.xml"/><Relationship Id="rId1" Type="http://schemas.openxmlformats.org/officeDocument/2006/relationships/vmlDrawing" Target="../drawings/vmlDrawing17.vml"/><Relationship Id="rId6" Type="http://schemas.openxmlformats.org/officeDocument/2006/relationships/oleObject" Target="../embeddings/oleObject29.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28.bin"/><Relationship Id="rId9" Type="http://schemas.openxmlformats.org/officeDocument/2006/relationships/oleObject" Target="../embeddings/oleObject31.bin"/></Relationships>
</file>

<file path=ppt/slides/_rels/slide114.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89.xml"/><Relationship Id="rId7" Type="http://schemas.openxmlformats.org/officeDocument/2006/relationships/oleObject" Target="../embeddings/oleObject34.bin"/><Relationship Id="rId2" Type="http://schemas.openxmlformats.org/officeDocument/2006/relationships/slideLayout" Target="../slideLayouts/slideLayout2.xml"/><Relationship Id="rId1" Type="http://schemas.openxmlformats.org/officeDocument/2006/relationships/vmlDrawing" Target="../drawings/vmlDrawing18.vml"/><Relationship Id="rId6" Type="http://schemas.openxmlformats.org/officeDocument/2006/relationships/oleObject" Target="../embeddings/oleObject33.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32.bin"/><Relationship Id="rId9" Type="http://schemas.openxmlformats.org/officeDocument/2006/relationships/oleObject" Target="../embeddings/oleObject35.bin"/></Relationships>
</file>

<file path=ppt/slides/_rels/slide115.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90.xml"/><Relationship Id="rId7" Type="http://schemas.openxmlformats.org/officeDocument/2006/relationships/oleObject" Target="../embeddings/oleObject38.bin"/><Relationship Id="rId2" Type="http://schemas.openxmlformats.org/officeDocument/2006/relationships/slideLayout" Target="../slideLayouts/slideLayout2.xml"/><Relationship Id="rId1" Type="http://schemas.openxmlformats.org/officeDocument/2006/relationships/vmlDrawing" Target="../drawings/vmlDrawing19.vml"/><Relationship Id="rId6" Type="http://schemas.openxmlformats.org/officeDocument/2006/relationships/oleObject" Target="../embeddings/oleObject37.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36.bin"/><Relationship Id="rId9" Type="http://schemas.openxmlformats.org/officeDocument/2006/relationships/oleObject" Target="../embeddings/oleObject39.bin"/></Relationships>
</file>

<file path=ppt/slides/_rels/slide116.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notesSlide" Target="../notesSlides/notesSlide91.xml"/><Relationship Id="rId7" Type="http://schemas.openxmlformats.org/officeDocument/2006/relationships/oleObject" Target="../embeddings/oleObject42.bin"/><Relationship Id="rId2" Type="http://schemas.openxmlformats.org/officeDocument/2006/relationships/slideLayout" Target="../slideLayouts/slideLayout2.xml"/><Relationship Id="rId1" Type="http://schemas.openxmlformats.org/officeDocument/2006/relationships/vmlDrawing" Target="../drawings/vmlDrawing20.vml"/><Relationship Id="rId6" Type="http://schemas.openxmlformats.org/officeDocument/2006/relationships/oleObject" Target="../embeddings/oleObject41.bin"/><Relationship Id="rId5" Type="http://schemas.openxmlformats.org/officeDocument/2006/relationships/image" Target="../media/image14.wmf"/><Relationship Id="rId10" Type="http://schemas.openxmlformats.org/officeDocument/2006/relationships/image" Target="../media/image19.emf"/><Relationship Id="rId4" Type="http://schemas.openxmlformats.org/officeDocument/2006/relationships/oleObject" Target="../embeddings/oleObject40.bin"/><Relationship Id="rId9" Type="http://schemas.openxmlformats.org/officeDocument/2006/relationships/oleObject" Target="../embeddings/oleObject43.bin"/></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2.xml"/><Relationship Id="rId1" Type="http://schemas.openxmlformats.org/officeDocument/2006/relationships/tags" Target="../tags/tag48.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96.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21.vml"/><Relationship Id="rId6" Type="http://schemas.openxmlformats.org/officeDocument/2006/relationships/oleObject" Target="../embeddings/oleObject45.bin"/><Relationship Id="rId5" Type="http://schemas.openxmlformats.org/officeDocument/2006/relationships/image" Target="../media/image18.emf"/><Relationship Id="rId4" Type="http://schemas.openxmlformats.org/officeDocument/2006/relationships/oleObject" Target="../embeddings/oleObject44.bin"/></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49.xml"/></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50.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notesSlide" Target="../notesSlides/notesSlide106.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22.vml"/><Relationship Id="rId6" Type="http://schemas.openxmlformats.org/officeDocument/2006/relationships/oleObject" Target="../embeddings/oleObject47.bin"/><Relationship Id="rId5" Type="http://schemas.openxmlformats.org/officeDocument/2006/relationships/image" Target="../media/image18.emf"/><Relationship Id="rId4" Type="http://schemas.openxmlformats.org/officeDocument/2006/relationships/oleObject" Target="../embeddings/oleObject46.bin"/></Relationships>
</file>

<file path=ppt/slides/_rels/slide13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1.xml"/><Relationship Id="rId1" Type="http://schemas.openxmlformats.org/officeDocument/2006/relationships/vmlDrawing" Target="../drawings/vmlDrawing23.vml"/><Relationship Id="rId6" Type="http://schemas.openxmlformats.org/officeDocument/2006/relationships/image" Target="../media/image20.emf"/><Relationship Id="rId5" Type="http://schemas.openxmlformats.org/officeDocument/2006/relationships/oleObject" Target="../embeddings/oleObject48.bin"/><Relationship Id="rId4" Type="http://schemas.openxmlformats.org/officeDocument/2006/relationships/notesSlide" Target="../notesSlides/notesSlide107.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5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2.xml"/><Relationship Id="rId1" Type="http://schemas.openxmlformats.org/officeDocument/2006/relationships/tags" Target="../tags/tag53.xml"/><Relationship Id="rId4" Type="http://schemas.openxmlformats.org/officeDocument/2006/relationships/image" Target="../media/image21.png"/></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2.xml"/><Relationship Id="rId1" Type="http://schemas.openxmlformats.org/officeDocument/2006/relationships/tags" Target="../tags/tag54.xml"/></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114.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24.vml"/><Relationship Id="rId6" Type="http://schemas.openxmlformats.org/officeDocument/2006/relationships/oleObject" Target="../embeddings/oleObject50.bin"/><Relationship Id="rId5" Type="http://schemas.openxmlformats.org/officeDocument/2006/relationships/image" Target="../media/image18.emf"/><Relationship Id="rId4" Type="http://schemas.openxmlformats.org/officeDocument/2006/relationships/oleObject" Target="../embeddings/oleObject49.bin"/></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115.xml"/><Relationship Id="rId7" Type="http://schemas.openxmlformats.org/officeDocument/2006/relationships/image" Target="../media/image19.emf"/><Relationship Id="rId2" Type="http://schemas.openxmlformats.org/officeDocument/2006/relationships/slideLayout" Target="../slideLayouts/slideLayout2.xml"/><Relationship Id="rId1" Type="http://schemas.openxmlformats.org/officeDocument/2006/relationships/vmlDrawing" Target="../drawings/vmlDrawing25.vml"/><Relationship Id="rId6" Type="http://schemas.openxmlformats.org/officeDocument/2006/relationships/oleObject" Target="../embeddings/oleObject52.bin"/><Relationship Id="rId5" Type="http://schemas.openxmlformats.org/officeDocument/2006/relationships/image" Target="../media/image18.emf"/><Relationship Id="rId4" Type="http://schemas.openxmlformats.org/officeDocument/2006/relationships/oleObject" Target="../embeddings/oleObject51.bin"/></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55.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2.xml"/><Relationship Id="rId1" Type="http://schemas.openxmlformats.org/officeDocument/2006/relationships/tags" Target="../tags/tag56.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2.xml"/><Relationship Id="rId1" Type="http://schemas.openxmlformats.org/officeDocument/2006/relationships/tags" Target="../tags/tag5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2.xml"/><Relationship Id="rId1" Type="http://schemas.openxmlformats.org/officeDocument/2006/relationships/tags" Target="../tags/tag58.xml"/></Relationships>
</file>

<file path=ppt/slides/_rels/slide156.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2.xml"/><Relationship Id="rId1" Type="http://schemas.openxmlformats.org/officeDocument/2006/relationships/tags" Target="../tags/tag59.xml"/></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127.xml"/><Relationship Id="rId2" Type="http://schemas.openxmlformats.org/officeDocument/2006/relationships/slideLayout" Target="../slideLayouts/slideLayout2.xml"/><Relationship Id="rId1" Type="http://schemas.openxmlformats.org/officeDocument/2006/relationships/tags" Target="../tags/tag60.xml"/></Relationships>
</file>

<file path=ppt/slides/_rels/slide158.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2.xml"/><Relationship Id="rId1" Type="http://schemas.openxmlformats.org/officeDocument/2006/relationships/tags" Target="../tags/tag61.xml"/></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2.xml"/><Relationship Id="rId1" Type="http://schemas.openxmlformats.org/officeDocument/2006/relationships/tags" Target="../tags/tag62.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2.xml"/><Relationship Id="rId1" Type="http://schemas.openxmlformats.org/officeDocument/2006/relationships/tags" Target="../tags/tag63.xml"/></Relationships>
</file>

<file path=ppt/slides/_rels/slide161.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2.xml"/><Relationship Id="rId1" Type="http://schemas.openxmlformats.org/officeDocument/2006/relationships/tags" Target="../tags/tag64.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32.xml"/><Relationship Id="rId2" Type="http://schemas.openxmlformats.org/officeDocument/2006/relationships/slideLayout" Target="../slideLayouts/slideLayout2.xml"/><Relationship Id="rId1" Type="http://schemas.openxmlformats.org/officeDocument/2006/relationships/tags" Target="../tags/tag65.xml"/></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133.xml"/><Relationship Id="rId2" Type="http://schemas.openxmlformats.org/officeDocument/2006/relationships/slideLayout" Target="../slideLayouts/slideLayout2.xml"/><Relationship Id="rId1" Type="http://schemas.openxmlformats.org/officeDocument/2006/relationships/tags" Target="../tags/tag66.xml"/></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134.xml"/><Relationship Id="rId2" Type="http://schemas.openxmlformats.org/officeDocument/2006/relationships/slideLayout" Target="../slideLayouts/slideLayout2.xml"/><Relationship Id="rId1" Type="http://schemas.openxmlformats.org/officeDocument/2006/relationships/tags" Target="../tags/tag67.xml"/></Relationships>
</file>

<file path=ppt/slides/_rels/slide165.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2.xml"/><Relationship Id="rId1" Type="http://schemas.openxmlformats.org/officeDocument/2006/relationships/tags" Target="../tags/tag68.xml"/></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36.xml"/><Relationship Id="rId2" Type="http://schemas.openxmlformats.org/officeDocument/2006/relationships/slideLayout" Target="../slideLayouts/slideLayout2.xml"/><Relationship Id="rId1" Type="http://schemas.openxmlformats.org/officeDocument/2006/relationships/tags" Target="../tags/tag69.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137.xml"/><Relationship Id="rId2" Type="http://schemas.openxmlformats.org/officeDocument/2006/relationships/slideLayout" Target="../slideLayouts/slideLayout2.xml"/><Relationship Id="rId1" Type="http://schemas.openxmlformats.org/officeDocument/2006/relationships/tags" Target="../tags/tag70.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notesSlide" Target="../notesSlides/notesSlide139.xml"/><Relationship Id="rId2" Type="http://schemas.openxmlformats.org/officeDocument/2006/relationships/slideLayout" Target="../slideLayouts/slideLayout2.xml"/><Relationship Id="rId1" Type="http://schemas.openxmlformats.org/officeDocument/2006/relationships/tags" Target="../tags/tag71.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2.xml"/><Relationship Id="rId1" Type="http://schemas.openxmlformats.org/officeDocument/2006/relationships/tags" Target="../tags/tag72.xml"/></Relationships>
</file>

<file path=ppt/slides/_rels/slide175.xml.rels><?xml version="1.0" encoding="UTF-8" standalone="yes"?>
<Relationships xmlns="http://schemas.openxmlformats.org/package/2006/relationships"><Relationship Id="rId3" Type="http://schemas.openxmlformats.org/officeDocument/2006/relationships/notesSlide" Target="../notesSlides/notesSlide145.xml"/><Relationship Id="rId2" Type="http://schemas.openxmlformats.org/officeDocument/2006/relationships/slideLayout" Target="../slideLayouts/slideLayout2.xml"/><Relationship Id="rId1" Type="http://schemas.openxmlformats.org/officeDocument/2006/relationships/tags" Target="../tags/tag73.xml"/></Relationships>
</file>

<file path=ppt/slides/_rels/slide176.xml.rels><?xml version="1.0" encoding="UTF-8" standalone="yes"?>
<Relationships xmlns="http://schemas.openxmlformats.org/package/2006/relationships"><Relationship Id="rId3" Type="http://schemas.openxmlformats.org/officeDocument/2006/relationships/notesSlide" Target="../notesSlides/notesSlide146.xml"/><Relationship Id="rId2" Type="http://schemas.openxmlformats.org/officeDocument/2006/relationships/slideLayout" Target="../slideLayouts/slideLayout2.xml"/><Relationship Id="rId1" Type="http://schemas.openxmlformats.org/officeDocument/2006/relationships/tags" Target="../tags/tag74.xml"/></Relationships>
</file>

<file path=ppt/slides/_rels/slide177.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2.xml"/><Relationship Id="rId1" Type="http://schemas.openxmlformats.org/officeDocument/2006/relationships/tags" Target="../tags/tag75.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3" Type="http://schemas.openxmlformats.org/officeDocument/2006/relationships/notesSlide" Target="../notesSlides/notesSlide149.xml"/><Relationship Id="rId2" Type="http://schemas.openxmlformats.org/officeDocument/2006/relationships/slideLayout" Target="../slideLayouts/slideLayout2.xml"/><Relationship Id="rId1" Type="http://schemas.openxmlformats.org/officeDocument/2006/relationships/tags" Target="../tags/tag76.xml"/></Relationships>
</file>

<file path=ppt/slides/_rels/slide180.xml.rels><?xml version="1.0" encoding="UTF-8" standalone="yes"?>
<Relationships xmlns="http://schemas.openxmlformats.org/package/2006/relationships"><Relationship Id="rId3" Type="http://schemas.openxmlformats.org/officeDocument/2006/relationships/notesSlide" Target="../notesSlides/notesSlide150.xml"/><Relationship Id="rId2" Type="http://schemas.openxmlformats.org/officeDocument/2006/relationships/slideLayout" Target="../slideLayouts/slideLayout2.xml"/><Relationship Id="rId1" Type="http://schemas.openxmlformats.org/officeDocument/2006/relationships/tags" Target="../tags/tag77.xml"/></Relationships>
</file>

<file path=ppt/slides/_rels/slide181.xml.rels><?xml version="1.0" encoding="UTF-8" standalone="yes"?>
<Relationships xmlns="http://schemas.openxmlformats.org/package/2006/relationships"><Relationship Id="rId3" Type="http://schemas.openxmlformats.org/officeDocument/2006/relationships/notesSlide" Target="../notesSlides/notesSlide151.xml"/><Relationship Id="rId2" Type="http://schemas.openxmlformats.org/officeDocument/2006/relationships/slideLayout" Target="../slideLayouts/slideLayout2.xml"/><Relationship Id="rId1" Type="http://schemas.openxmlformats.org/officeDocument/2006/relationships/tags" Target="../tags/tag78.xml"/></Relationships>
</file>

<file path=ppt/slides/_rels/slide182.xml.rels><?xml version="1.0" encoding="UTF-8" standalone="yes"?>
<Relationships xmlns="http://schemas.openxmlformats.org/package/2006/relationships"><Relationship Id="rId3" Type="http://schemas.openxmlformats.org/officeDocument/2006/relationships/notesSlide" Target="../notesSlides/notesSlide152.xml"/><Relationship Id="rId2" Type="http://schemas.openxmlformats.org/officeDocument/2006/relationships/slideLayout" Target="../slideLayouts/slideLayout2.xml"/><Relationship Id="rId1" Type="http://schemas.openxmlformats.org/officeDocument/2006/relationships/tags" Target="../tags/tag79.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notesSlide" Target="../notesSlides/notesSlide154.xml"/><Relationship Id="rId2" Type="http://schemas.openxmlformats.org/officeDocument/2006/relationships/slideLayout" Target="../slideLayouts/slideLayout2.xml"/><Relationship Id="rId1" Type="http://schemas.openxmlformats.org/officeDocument/2006/relationships/tags" Target="../tags/tag80.xml"/></Relationships>
</file>

<file path=ppt/slides/_rels/slide185.xml.rels><?xml version="1.0" encoding="UTF-8" standalone="yes"?>
<Relationships xmlns="http://schemas.openxmlformats.org/package/2006/relationships"><Relationship Id="rId3" Type="http://schemas.openxmlformats.org/officeDocument/2006/relationships/notesSlide" Target="../notesSlides/notesSlide155.xml"/><Relationship Id="rId2" Type="http://schemas.openxmlformats.org/officeDocument/2006/relationships/slideLayout" Target="../slideLayouts/slideLayout2.xml"/><Relationship Id="rId1" Type="http://schemas.openxmlformats.org/officeDocument/2006/relationships/tags" Target="../tags/tag8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3" Type="http://schemas.openxmlformats.org/officeDocument/2006/relationships/notesSlide" Target="../notesSlides/notesSlide157.xml"/><Relationship Id="rId2" Type="http://schemas.openxmlformats.org/officeDocument/2006/relationships/slideLayout" Target="../slideLayouts/slideLayout2.xml"/><Relationship Id="rId1" Type="http://schemas.openxmlformats.org/officeDocument/2006/relationships/tags" Target="../tags/tag82.xml"/></Relationships>
</file>

<file path=ppt/slides/_rels/slide188.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2.xml"/><Relationship Id="rId1" Type="http://schemas.openxmlformats.org/officeDocument/2006/relationships/tags" Target="../tags/tag83.xml"/></Relationships>
</file>

<file path=ppt/slides/_rels/slide189.xml.rels><?xml version="1.0" encoding="UTF-8" standalone="yes"?>
<Relationships xmlns="http://schemas.openxmlformats.org/package/2006/relationships"><Relationship Id="rId3" Type="http://schemas.openxmlformats.org/officeDocument/2006/relationships/notesSlide" Target="../notesSlides/notesSlide159.xml"/><Relationship Id="rId2" Type="http://schemas.openxmlformats.org/officeDocument/2006/relationships/slideLayout" Target="../slideLayouts/slideLayout2.xml"/><Relationship Id="rId1" Type="http://schemas.openxmlformats.org/officeDocument/2006/relationships/tags" Target="../tags/tag84.xml"/></Relationships>
</file>

<file path=ppt/slides/_rels/slide190.xml.rels><?xml version="1.0" encoding="UTF-8" standalone="yes"?>
<Relationships xmlns="http://schemas.openxmlformats.org/package/2006/relationships"><Relationship Id="rId3" Type="http://schemas.openxmlformats.org/officeDocument/2006/relationships/notesSlide" Target="../notesSlides/notesSlide160.xml"/><Relationship Id="rId2" Type="http://schemas.openxmlformats.org/officeDocument/2006/relationships/slideLayout" Target="../slideLayouts/slideLayout2.xml"/><Relationship Id="rId1" Type="http://schemas.openxmlformats.org/officeDocument/2006/relationships/tags" Target="../tags/tag85.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notesSlide" Target="../notesSlides/notesSlide164.xml"/><Relationship Id="rId2" Type="http://schemas.openxmlformats.org/officeDocument/2006/relationships/slideLayout" Target="../slideLayouts/slideLayout2.xml"/><Relationship Id="rId1" Type="http://schemas.openxmlformats.org/officeDocument/2006/relationships/tags" Target="../tags/tag86.xml"/></Relationships>
</file>

<file path=ppt/slides/_rels/slide195.xml.rels><?xml version="1.0" encoding="UTF-8" standalone="yes"?>
<Relationships xmlns="http://schemas.openxmlformats.org/package/2006/relationships"><Relationship Id="rId3" Type="http://schemas.openxmlformats.org/officeDocument/2006/relationships/notesSlide" Target="../notesSlides/notesSlide165.xml"/><Relationship Id="rId2" Type="http://schemas.openxmlformats.org/officeDocument/2006/relationships/slideLayout" Target="../slideLayouts/slideLayout2.xml"/><Relationship Id="rId1" Type="http://schemas.openxmlformats.org/officeDocument/2006/relationships/tags" Target="../tags/tag87.xml"/></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166.xml"/><Relationship Id="rId2" Type="http://schemas.openxmlformats.org/officeDocument/2006/relationships/slideLayout" Target="../slideLayouts/slideLayout2.xml"/><Relationship Id="rId1" Type="http://schemas.openxmlformats.org/officeDocument/2006/relationships/tags" Target="../tags/tag88.xml"/></Relationships>
</file>

<file path=ppt/slides/_rels/slide197.xml.rels><?xml version="1.0" encoding="UTF-8" standalone="yes"?>
<Relationships xmlns="http://schemas.openxmlformats.org/package/2006/relationships"><Relationship Id="rId3" Type="http://schemas.openxmlformats.org/officeDocument/2006/relationships/notesSlide" Target="../notesSlides/notesSlide167.xml"/><Relationship Id="rId2" Type="http://schemas.openxmlformats.org/officeDocument/2006/relationships/slideLayout" Target="../slideLayouts/slideLayout2.xml"/><Relationship Id="rId1" Type="http://schemas.openxmlformats.org/officeDocument/2006/relationships/tags" Target="../tags/tag89.xml"/></Relationships>
</file>

<file path=ppt/slides/_rels/slide198.xml.rels><?xml version="1.0" encoding="UTF-8" standalone="yes"?>
<Relationships xmlns="http://schemas.openxmlformats.org/package/2006/relationships"><Relationship Id="rId3" Type="http://schemas.openxmlformats.org/officeDocument/2006/relationships/notesSlide" Target="../notesSlides/notesSlide168.xml"/><Relationship Id="rId2" Type="http://schemas.openxmlformats.org/officeDocument/2006/relationships/slideLayout" Target="../slideLayouts/slideLayout2.xml"/><Relationship Id="rId1" Type="http://schemas.openxmlformats.org/officeDocument/2006/relationships/tags" Target="../tags/tag90.xml"/></Relationships>
</file>

<file path=ppt/slides/_rels/slide199.xml.rels><?xml version="1.0" encoding="UTF-8" standalone="yes"?>
<Relationships xmlns="http://schemas.openxmlformats.org/package/2006/relationships"><Relationship Id="rId3" Type="http://schemas.openxmlformats.org/officeDocument/2006/relationships/notesSlide" Target="../notesSlides/notesSlide169.xml"/><Relationship Id="rId2" Type="http://schemas.openxmlformats.org/officeDocument/2006/relationships/slideLayout" Target="../slideLayouts/slideLayout2.xml"/><Relationship Id="rId1" Type="http://schemas.openxmlformats.org/officeDocument/2006/relationships/tags" Target="../tags/tag91.xml"/></Relationships>
</file>

<file path=ppt/slides/_rels/slide200.xml.rels><?xml version="1.0" encoding="UTF-8" standalone="yes"?>
<Relationships xmlns="http://schemas.openxmlformats.org/package/2006/relationships"><Relationship Id="rId3" Type="http://schemas.openxmlformats.org/officeDocument/2006/relationships/notesSlide" Target="../notesSlides/notesSlide170.xml"/><Relationship Id="rId2" Type="http://schemas.openxmlformats.org/officeDocument/2006/relationships/slideLayout" Target="../slideLayouts/slideLayout2.xml"/><Relationship Id="rId1" Type="http://schemas.openxmlformats.org/officeDocument/2006/relationships/tags" Target="../tags/tag92.xml"/></Relationships>
</file>

<file path=ppt/slides/_rels/slide201.xml.rels><?xml version="1.0" encoding="UTF-8" standalone="yes"?>
<Relationships xmlns="http://schemas.openxmlformats.org/package/2006/relationships"><Relationship Id="rId3" Type="http://schemas.openxmlformats.org/officeDocument/2006/relationships/notesSlide" Target="../notesSlides/notesSlide171.xml"/><Relationship Id="rId2" Type="http://schemas.openxmlformats.org/officeDocument/2006/relationships/slideLayout" Target="../slideLayouts/slideLayout2.xml"/><Relationship Id="rId1" Type="http://schemas.openxmlformats.org/officeDocument/2006/relationships/tags" Target="../tags/tag93.xml"/></Relationships>
</file>

<file path=ppt/slides/_rels/slide202.xml.rels><?xml version="1.0" encoding="UTF-8" standalone="yes"?>
<Relationships xmlns="http://schemas.openxmlformats.org/package/2006/relationships"><Relationship Id="rId3" Type="http://schemas.openxmlformats.org/officeDocument/2006/relationships/notesSlide" Target="../notesSlides/notesSlide172.xml"/><Relationship Id="rId2" Type="http://schemas.openxmlformats.org/officeDocument/2006/relationships/slideLayout" Target="../slideLayouts/slideLayout2.xml"/><Relationship Id="rId1" Type="http://schemas.openxmlformats.org/officeDocument/2006/relationships/tags" Target="../tags/tag94.xml"/></Relationships>
</file>

<file path=ppt/slides/_rels/slide203.xml.rels><?xml version="1.0" encoding="UTF-8" standalone="yes"?>
<Relationships xmlns="http://schemas.openxmlformats.org/package/2006/relationships"><Relationship Id="rId3" Type="http://schemas.openxmlformats.org/officeDocument/2006/relationships/notesSlide" Target="../notesSlides/notesSlide173.xml"/><Relationship Id="rId2" Type="http://schemas.openxmlformats.org/officeDocument/2006/relationships/slideLayout" Target="../slideLayouts/slideLayout2.xml"/><Relationship Id="rId1" Type="http://schemas.openxmlformats.org/officeDocument/2006/relationships/tags" Target="../tags/tag95.xml"/></Relationships>
</file>

<file path=ppt/slides/_rels/slide204.xml.rels><?xml version="1.0" encoding="UTF-8" standalone="yes"?>
<Relationships xmlns="http://schemas.openxmlformats.org/package/2006/relationships"><Relationship Id="rId3" Type="http://schemas.openxmlformats.org/officeDocument/2006/relationships/notesSlide" Target="../notesSlides/notesSlide174.xml"/><Relationship Id="rId2" Type="http://schemas.openxmlformats.org/officeDocument/2006/relationships/slideLayout" Target="../slideLayouts/slideLayout2.xml"/><Relationship Id="rId1" Type="http://schemas.openxmlformats.org/officeDocument/2006/relationships/tags" Target="../tags/tag96.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3" Type="http://schemas.openxmlformats.org/officeDocument/2006/relationships/notesSlide" Target="../notesSlides/notesSlide176.xml"/><Relationship Id="rId2" Type="http://schemas.openxmlformats.org/officeDocument/2006/relationships/slideLayout" Target="../slideLayouts/slideLayout2.xml"/><Relationship Id="rId1" Type="http://schemas.openxmlformats.org/officeDocument/2006/relationships/tags" Target="../tags/tag97.xml"/></Relationships>
</file>

<file path=ppt/slides/_rels/slide20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77.xml"/><Relationship Id="rId1" Type="http://schemas.openxmlformats.org/officeDocument/2006/relationships/slideLayout" Target="../slideLayouts/slideLayout2.xml"/><Relationship Id="rId6" Type="http://schemas.microsoft.com/office/2007/relationships/hdphoto" Target="../media/hdphoto1.wdp"/><Relationship Id="rId5" Type="http://schemas.openxmlformats.org/officeDocument/2006/relationships/image" Target="../media/image25.png"/><Relationship Id="rId4" Type="http://schemas.openxmlformats.org/officeDocument/2006/relationships/image" Target="../media/image24.png"/></Relationships>
</file>

<file path=ppt/slides/_rels/slide208.xml.rels><?xml version="1.0" encoding="UTF-8" standalone="yes"?>
<Relationships xmlns="http://schemas.openxmlformats.org/package/2006/relationships"><Relationship Id="rId3" Type="http://schemas.openxmlformats.org/officeDocument/2006/relationships/notesSlide" Target="../notesSlides/notesSlide178.xml"/><Relationship Id="rId2" Type="http://schemas.openxmlformats.org/officeDocument/2006/relationships/slideLayout" Target="../slideLayouts/slideLayout2.xml"/><Relationship Id="rId1" Type="http://schemas.openxmlformats.org/officeDocument/2006/relationships/tags" Target="../tags/tag98.xml"/></Relationships>
</file>

<file path=ppt/slides/_rels/slide209.xml.rels><?xml version="1.0" encoding="UTF-8" standalone="yes"?>
<Relationships xmlns="http://schemas.openxmlformats.org/package/2006/relationships"><Relationship Id="rId3" Type="http://schemas.openxmlformats.org/officeDocument/2006/relationships/notesSlide" Target="../notesSlides/notesSlide179.xml"/><Relationship Id="rId2" Type="http://schemas.openxmlformats.org/officeDocument/2006/relationships/slideLayout" Target="../slideLayouts/slideLayout2.xml"/><Relationship Id="rId1" Type="http://schemas.openxmlformats.org/officeDocument/2006/relationships/tags" Target="../tags/tag99.xml"/></Relationships>
</file>

<file path=ppt/slides/_rels/slide210.xml.rels><?xml version="1.0" encoding="UTF-8" standalone="yes"?>
<Relationships xmlns="http://schemas.openxmlformats.org/package/2006/relationships"><Relationship Id="rId3" Type="http://schemas.openxmlformats.org/officeDocument/2006/relationships/notesSlide" Target="../notesSlides/notesSlide180.xml"/><Relationship Id="rId2" Type="http://schemas.openxmlformats.org/officeDocument/2006/relationships/slideLayout" Target="../slideLayouts/slideLayout2.xml"/><Relationship Id="rId1" Type="http://schemas.openxmlformats.org/officeDocument/2006/relationships/tags" Target="../tags/tag100.xml"/></Relationships>
</file>

<file path=ppt/slides/_rels/slide211.xml.rels><?xml version="1.0" encoding="UTF-8" standalone="yes"?>
<Relationships xmlns="http://schemas.openxmlformats.org/package/2006/relationships"><Relationship Id="rId3" Type="http://schemas.openxmlformats.org/officeDocument/2006/relationships/notesSlide" Target="../notesSlides/notesSlide181.xml"/><Relationship Id="rId2" Type="http://schemas.openxmlformats.org/officeDocument/2006/relationships/slideLayout" Target="../slideLayouts/slideLayout2.xml"/><Relationship Id="rId1" Type="http://schemas.openxmlformats.org/officeDocument/2006/relationships/tags" Target="../tags/tag10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notesSlide" Target="../notesSlides/notesSlide182.xml"/><Relationship Id="rId2" Type="http://schemas.openxmlformats.org/officeDocument/2006/relationships/slideLayout" Target="../slideLayouts/slideLayout2.xml"/><Relationship Id="rId1" Type="http://schemas.openxmlformats.org/officeDocument/2006/relationships/tags" Target="../tags/tag102.xml"/></Relationships>
</file>

<file path=ppt/slides/_rels/slide214.xml.rels><?xml version="1.0" encoding="UTF-8" standalone="yes"?>
<Relationships xmlns="http://schemas.openxmlformats.org/package/2006/relationships"><Relationship Id="rId3" Type="http://schemas.openxmlformats.org/officeDocument/2006/relationships/notesSlide" Target="../notesSlides/notesSlide183.xml"/><Relationship Id="rId2" Type="http://schemas.openxmlformats.org/officeDocument/2006/relationships/slideLayout" Target="../slideLayouts/slideLayout2.xml"/><Relationship Id="rId1" Type="http://schemas.openxmlformats.org/officeDocument/2006/relationships/tags" Target="../tags/tag103.xml"/><Relationship Id="rId6" Type="http://schemas.openxmlformats.org/officeDocument/2006/relationships/image" Target="../media/image15.png"/><Relationship Id="rId5" Type="http://schemas.openxmlformats.org/officeDocument/2006/relationships/image" Target="../media/image26.wmf"/><Relationship Id="rId4" Type="http://schemas.openxmlformats.org/officeDocument/2006/relationships/image" Target="../media/image7.png"/></Relationships>
</file>

<file path=ppt/slides/_rels/slide2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84.xml"/><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26.wmf"/></Relationships>
</file>

<file path=ppt/slides/_rels/slide2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85.xml"/><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26.wmf"/></Relationships>
</file>

<file path=ppt/slides/_rels/slide2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86.xml"/><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26.wmf"/></Relationships>
</file>

<file path=ppt/slides/_rels/slide218.xml.rels><?xml version="1.0" encoding="UTF-8" standalone="yes"?>
<Relationships xmlns="http://schemas.openxmlformats.org/package/2006/relationships"><Relationship Id="rId3" Type="http://schemas.openxmlformats.org/officeDocument/2006/relationships/notesSlide" Target="../notesSlides/notesSlide187.xml"/><Relationship Id="rId2" Type="http://schemas.openxmlformats.org/officeDocument/2006/relationships/slideLayout" Target="../slideLayouts/slideLayout2.xml"/><Relationship Id="rId1" Type="http://schemas.openxmlformats.org/officeDocument/2006/relationships/tags" Target="../tags/tag104.xml"/></Relationships>
</file>

<file path=ppt/slides/_rels/slide219.xml.rels><?xml version="1.0" encoding="UTF-8" standalone="yes"?>
<Relationships xmlns="http://schemas.openxmlformats.org/package/2006/relationships"><Relationship Id="rId3" Type="http://schemas.openxmlformats.org/officeDocument/2006/relationships/notesSlide" Target="../notesSlides/notesSlide188.xml"/><Relationship Id="rId2" Type="http://schemas.openxmlformats.org/officeDocument/2006/relationships/slideLayout" Target="../slideLayouts/slideLayout2.xml"/><Relationship Id="rId1" Type="http://schemas.openxmlformats.org/officeDocument/2006/relationships/tags" Target="../tags/tag105.xml"/></Relationships>
</file>

<file path=ppt/slides/_rels/slide220.xml.rels><?xml version="1.0" encoding="UTF-8" standalone="yes"?>
<Relationships xmlns="http://schemas.openxmlformats.org/package/2006/relationships"><Relationship Id="rId3" Type="http://schemas.openxmlformats.org/officeDocument/2006/relationships/notesSlide" Target="../notesSlides/notesSlide189.xml"/><Relationship Id="rId2" Type="http://schemas.openxmlformats.org/officeDocument/2006/relationships/slideLayout" Target="../slideLayouts/slideLayout2.xml"/><Relationship Id="rId1" Type="http://schemas.openxmlformats.org/officeDocument/2006/relationships/tags" Target="../tags/tag106.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3" Type="http://schemas.openxmlformats.org/officeDocument/2006/relationships/notesSlide" Target="../notesSlides/notesSlide191.xml"/><Relationship Id="rId2" Type="http://schemas.openxmlformats.org/officeDocument/2006/relationships/slideLayout" Target="../slideLayouts/slideLayout2.xml"/><Relationship Id="rId1" Type="http://schemas.openxmlformats.org/officeDocument/2006/relationships/tags" Target="../tags/tag107.xml"/></Relationships>
</file>

<file path=ppt/slides/_rels/slide223.xml.rels><?xml version="1.0" encoding="UTF-8" standalone="yes"?>
<Relationships xmlns="http://schemas.openxmlformats.org/package/2006/relationships"><Relationship Id="rId3" Type="http://schemas.openxmlformats.org/officeDocument/2006/relationships/notesSlide" Target="../notesSlides/notesSlide192.xml"/><Relationship Id="rId2" Type="http://schemas.openxmlformats.org/officeDocument/2006/relationships/slideLayout" Target="../slideLayouts/slideLayout2.xml"/><Relationship Id="rId1" Type="http://schemas.openxmlformats.org/officeDocument/2006/relationships/tags" Target="../tags/tag108.xml"/></Relationships>
</file>

<file path=ppt/slides/_rels/slide224.xml.rels><?xml version="1.0" encoding="UTF-8" standalone="yes"?>
<Relationships xmlns="http://schemas.openxmlformats.org/package/2006/relationships"><Relationship Id="rId3" Type="http://schemas.openxmlformats.org/officeDocument/2006/relationships/notesSlide" Target="../notesSlides/notesSlide193.xml"/><Relationship Id="rId2" Type="http://schemas.openxmlformats.org/officeDocument/2006/relationships/slideLayout" Target="../slideLayouts/slideLayout2.xml"/><Relationship Id="rId1" Type="http://schemas.openxmlformats.org/officeDocument/2006/relationships/tags" Target="../tags/tag109.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3" Type="http://schemas.openxmlformats.org/officeDocument/2006/relationships/notesSlide" Target="../notesSlides/notesSlide197.xml"/><Relationship Id="rId2" Type="http://schemas.openxmlformats.org/officeDocument/2006/relationships/slideLayout" Target="../slideLayouts/slideLayout2.xml"/><Relationship Id="rId1" Type="http://schemas.openxmlformats.org/officeDocument/2006/relationships/tags" Target="../tags/tag110.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notesSlide" Target="../notesSlides/notesSlide200.xml"/><Relationship Id="rId2" Type="http://schemas.openxmlformats.org/officeDocument/2006/relationships/slideLayout" Target="../slideLayouts/slideLayout2.xml"/><Relationship Id="rId1" Type="http://schemas.openxmlformats.org/officeDocument/2006/relationships/tags" Target="../tags/tag111.xml"/></Relationships>
</file>

<file path=ppt/slides/_rels/slide232.xml.rels><?xml version="1.0" encoding="UTF-8" standalone="yes"?>
<Relationships xmlns="http://schemas.openxmlformats.org/package/2006/relationships"><Relationship Id="rId3" Type="http://schemas.openxmlformats.org/officeDocument/2006/relationships/notesSlide" Target="../notesSlides/notesSlide201.xml"/><Relationship Id="rId2" Type="http://schemas.openxmlformats.org/officeDocument/2006/relationships/slideLayout" Target="../slideLayouts/slideLayout2.xml"/><Relationship Id="rId1" Type="http://schemas.openxmlformats.org/officeDocument/2006/relationships/tags" Target="../tags/tag112.xml"/></Relationships>
</file>

<file path=ppt/slides/_rels/slide233.xml.rels><?xml version="1.0" encoding="UTF-8" standalone="yes"?>
<Relationships xmlns="http://schemas.openxmlformats.org/package/2006/relationships"><Relationship Id="rId3" Type="http://schemas.openxmlformats.org/officeDocument/2006/relationships/notesSlide" Target="../notesSlides/notesSlide202.xml"/><Relationship Id="rId2" Type="http://schemas.openxmlformats.org/officeDocument/2006/relationships/slideLayout" Target="../slideLayouts/slideLayout2.xml"/><Relationship Id="rId1" Type="http://schemas.openxmlformats.org/officeDocument/2006/relationships/tags" Target="../tags/tag11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3" Type="http://schemas.openxmlformats.org/officeDocument/2006/relationships/notesSlide" Target="../notesSlides/notesSlide203.xml"/><Relationship Id="rId2" Type="http://schemas.openxmlformats.org/officeDocument/2006/relationships/slideLayout" Target="../slideLayouts/slideLayout2.xml"/><Relationship Id="rId1" Type="http://schemas.openxmlformats.org/officeDocument/2006/relationships/tags" Target="../tags/tag114.xml"/></Relationships>
</file>

<file path=ppt/slides/_rels/slide242.xml.rels><?xml version="1.0" encoding="UTF-8" standalone="yes"?>
<Relationships xmlns="http://schemas.openxmlformats.org/package/2006/relationships"><Relationship Id="rId3" Type="http://schemas.openxmlformats.org/officeDocument/2006/relationships/notesSlide" Target="../notesSlides/notesSlide204.xml"/><Relationship Id="rId2" Type="http://schemas.openxmlformats.org/officeDocument/2006/relationships/slideLayout" Target="../slideLayouts/slideLayout2.xml"/><Relationship Id="rId1" Type="http://schemas.openxmlformats.org/officeDocument/2006/relationships/tags" Target="../tags/tag115.xml"/></Relationships>
</file>

<file path=ppt/slides/_rels/slide243.xml.rels><?xml version="1.0" encoding="UTF-8" standalone="yes"?>
<Relationships xmlns="http://schemas.openxmlformats.org/package/2006/relationships"><Relationship Id="rId3" Type="http://schemas.openxmlformats.org/officeDocument/2006/relationships/notesSlide" Target="../notesSlides/notesSlide205.xml"/><Relationship Id="rId2" Type="http://schemas.openxmlformats.org/officeDocument/2006/relationships/slideLayout" Target="../slideLayouts/slideLayout2.xml"/><Relationship Id="rId1" Type="http://schemas.openxmlformats.org/officeDocument/2006/relationships/tags" Target="../tags/tag116.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3" Type="http://schemas.openxmlformats.org/officeDocument/2006/relationships/notesSlide" Target="../notesSlides/notesSlide206.xml"/><Relationship Id="rId2" Type="http://schemas.openxmlformats.org/officeDocument/2006/relationships/slideLayout" Target="../slideLayouts/slideLayout2.xml"/><Relationship Id="rId1" Type="http://schemas.openxmlformats.org/officeDocument/2006/relationships/tags" Target="../tags/tag117.xml"/></Relationships>
</file>

<file path=ppt/slides/_rels/slide247.xml.rels><?xml version="1.0" encoding="UTF-8" standalone="yes"?>
<Relationships xmlns="http://schemas.openxmlformats.org/package/2006/relationships"><Relationship Id="rId3" Type="http://schemas.openxmlformats.org/officeDocument/2006/relationships/notesSlide" Target="../notesSlides/notesSlide207.xml"/><Relationship Id="rId2" Type="http://schemas.openxmlformats.org/officeDocument/2006/relationships/slideLayout" Target="../slideLayouts/slideLayout2.xml"/><Relationship Id="rId1" Type="http://schemas.openxmlformats.org/officeDocument/2006/relationships/tags" Target="../tags/tag118.xml"/></Relationships>
</file>

<file path=ppt/slides/_rels/slide248.xml.rels><?xml version="1.0" encoding="UTF-8" standalone="yes"?>
<Relationships xmlns="http://schemas.openxmlformats.org/package/2006/relationships"><Relationship Id="rId3" Type="http://schemas.openxmlformats.org/officeDocument/2006/relationships/notesSlide" Target="../notesSlides/notesSlide208.xml"/><Relationship Id="rId2" Type="http://schemas.openxmlformats.org/officeDocument/2006/relationships/slideLayout" Target="../slideLayouts/slideLayout2.xml"/><Relationship Id="rId1" Type="http://schemas.openxmlformats.org/officeDocument/2006/relationships/tags" Target="../tags/tag119.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3" Type="http://schemas.openxmlformats.org/officeDocument/2006/relationships/notesSlide" Target="../notesSlides/notesSlide212.xml"/><Relationship Id="rId2" Type="http://schemas.openxmlformats.org/officeDocument/2006/relationships/slideLayout" Target="../slideLayouts/slideLayout2.xml"/><Relationship Id="rId1" Type="http://schemas.openxmlformats.org/officeDocument/2006/relationships/tags" Target="../tags/tag12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3" Type="http://schemas.openxmlformats.org/officeDocument/2006/relationships/notesSlide" Target="../notesSlides/notesSlide213.xml"/><Relationship Id="rId2" Type="http://schemas.openxmlformats.org/officeDocument/2006/relationships/slideLayout" Target="../slideLayouts/slideLayout2.xml"/><Relationship Id="rId1" Type="http://schemas.openxmlformats.org/officeDocument/2006/relationships/tags" Target="../tags/tag121.xml"/></Relationships>
</file>

<file path=ppt/slides/_rels/slide258.xml.rels><?xml version="1.0" encoding="UTF-8" standalone="yes"?>
<Relationships xmlns="http://schemas.openxmlformats.org/package/2006/relationships"><Relationship Id="rId3" Type="http://schemas.openxmlformats.org/officeDocument/2006/relationships/notesSlide" Target="../notesSlides/notesSlide214.xml"/><Relationship Id="rId2" Type="http://schemas.openxmlformats.org/officeDocument/2006/relationships/slideLayout" Target="../slideLayouts/slideLayout2.xml"/><Relationship Id="rId1" Type="http://schemas.openxmlformats.org/officeDocument/2006/relationships/tags" Target="../tags/tag12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3" Type="http://schemas.openxmlformats.org/officeDocument/2006/relationships/notesSlide" Target="../notesSlides/notesSlide216.xml"/><Relationship Id="rId2" Type="http://schemas.openxmlformats.org/officeDocument/2006/relationships/slideLayout" Target="../slideLayouts/slideLayout2.xml"/><Relationship Id="rId1" Type="http://schemas.openxmlformats.org/officeDocument/2006/relationships/tags" Target="../tags/tag123.xml"/></Relationships>
</file>

<file path=ppt/slides/_rels/slide261.xml.rels><?xml version="1.0" encoding="UTF-8" standalone="yes"?>
<Relationships xmlns="http://schemas.openxmlformats.org/package/2006/relationships"><Relationship Id="rId3" Type="http://schemas.openxmlformats.org/officeDocument/2006/relationships/notesSlide" Target="../notesSlides/notesSlide217.xml"/><Relationship Id="rId2" Type="http://schemas.openxmlformats.org/officeDocument/2006/relationships/slideLayout" Target="../slideLayouts/slideLayout2.xml"/><Relationship Id="rId1" Type="http://schemas.openxmlformats.org/officeDocument/2006/relationships/tags" Target="../tags/tag124.xml"/></Relationships>
</file>

<file path=ppt/slides/_rels/slide262.xml.rels><?xml version="1.0" encoding="UTF-8" standalone="yes"?>
<Relationships xmlns="http://schemas.openxmlformats.org/package/2006/relationships"><Relationship Id="rId3" Type="http://schemas.openxmlformats.org/officeDocument/2006/relationships/notesSlide" Target="../notesSlides/notesSlide218.xml"/><Relationship Id="rId7" Type="http://schemas.openxmlformats.org/officeDocument/2006/relationships/image" Target="../media/image15.png"/><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image" Target="../media/image7.png"/><Relationship Id="rId5" Type="http://schemas.openxmlformats.org/officeDocument/2006/relationships/image" Target="../media/image14.wmf"/><Relationship Id="rId4" Type="http://schemas.openxmlformats.org/officeDocument/2006/relationships/oleObject" Target="../embeddings/oleObject53.bin"/></Relationships>
</file>

<file path=ppt/slides/_rels/slide263.xml.rels><?xml version="1.0" encoding="UTF-8" standalone="yes"?>
<Relationships xmlns="http://schemas.openxmlformats.org/package/2006/relationships"><Relationship Id="rId3" Type="http://schemas.openxmlformats.org/officeDocument/2006/relationships/notesSlide" Target="../notesSlides/notesSlide219.xml"/><Relationship Id="rId2" Type="http://schemas.openxmlformats.org/officeDocument/2006/relationships/slideLayout" Target="../slideLayouts/slideLayout2.xml"/><Relationship Id="rId1" Type="http://schemas.openxmlformats.org/officeDocument/2006/relationships/tags" Target="../tags/tag125.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3" Type="http://schemas.openxmlformats.org/officeDocument/2006/relationships/notesSlide" Target="../notesSlides/notesSlide222.xml"/><Relationship Id="rId2" Type="http://schemas.openxmlformats.org/officeDocument/2006/relationships/slideLayout" Target="../slideLayouts/slideLayout2.xml"/><Relationship Id="rId1" Type="http://schemas.openxmlformats.org/officeDocument/2006/relationships/tags" Target="../tags/tag126.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3" Type="http://schemas.openxmlformats.org/officeDocument/2006/relationships/notesSlide" Target="../notesSlides/notesSlide231.xml"/><Relationship Id="rId2" Type="http://schemas.openxmlformats.org/officeDocument/2006/relationships/slideLayout" Target="../slideLayouts/slideLayout12.xml"/><Relationship Id="rId1" Type="http://schemas.openxmlformats.org/officeDocument/2006/relationships/tags" Target="../tags/tag127.xml"/><Relationship Id="rId5" Type="http://schemas.openxmlformats.org/officeDocument/2006/relationships/image" Target="../media/image28.png"/><Relationship Id="rId4" Type="http://schemas.openxmlformats.org/officeDocument/2006/relationships/image" Target="../media/image27.png"/></Relationships>
</file>

<file path=ppt/slides/_rels/slide27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32.xml"/><Relationship Id="rId1" Type="http://schemas.openxmlformats.org/officeDocument/2006/relationships/slideLayout" Target="../slideLayouts/slideLayout12.xml"/></Relationships>
</file>

<file path=ppt/slides/_rels/slide278.xml.rels><?xml version="1.0" encoding="UTF-8" standalone="yes"?>
<Relationships xmlns="http://schemas.openxmlformats.org/package/2006/relationships"><Relationship Id="rId8" Type="http://schemas.openxmlformats.org/officeDocument/2006/relationships/image" Target="../media/image34.jpg"/><Relationship Id="rId3" Type="http://schemas.openxmlformats.org/officeDocument/2006/relationships/image" Target="../media/image29.png"/><Relationship Id="rId7" Type="http://schemas.openxmlformats.org/officeDocument/2006/relationships/image" Target="../media/image33.jpg"/><Relationship Id="rId12" Type="http://schemas.openxmlformats.org/officeDocument/2006/relationships/image" Target="../media/image38.jpg"/><Relationship Id="rId2" Type="http://schemas.openxmlformats.org/officeDocument/2006/relationships/notesSlide" Target="../notesSlides/notesSlide233.xml"/><Relationship Id="rId1" Type="http://schemas.openxmlformats.org/officeDocument/2006/relationships/slideLayout" Target="../slideLayouts/slideLayout12.xml"/><Relationship Id="rId6" Type="http://schemas.openxmlformats.org/officeDocument/2006/relationships/image" Target="../media/image32.png"/><Relationship Id="rId11" Type="http://schemas.openxmlformats.org/officeDocument/2006/relationships/image" Target="../media/image37.jpg"/><Relationship Id="rId5" Type="http://schemas.openxmlformats.org/officeDocument/2006/relationships/image" Target="../media/image31.jpg"/><Relationship Id="rId10" Type="http://schemas.openxmlformats.org/officeDocument/2006/relationships/image" Target="../media/image36.jpeg"/><Relationship Id="rId4" Type="http://schemas.openxmlformats.org/officeDocument/2006/relationships/image" Target="../media/image30.jpg"/><Relationship Id="rId9" Type="http://schemas.openxmlformats.org/officeDocument/2006/relationships/image" Target="../media/image35.jpg"/></Relationships>
</file>

<file path=ppt/slides/_rels/slide279.xml.rels><?xml version="1.0" encoding="UTF-8" standalone="yes"?>
<Relationships xmlns="http://schemas.openxmlformats.org/package/2006/relationships"><Relationship Id="rId3" Type="http://schemas.openxmlformats.org/officeDocument/2006/relationships/notesSlide" Target="../notesSlides/notesSlide234.xml"/><Relationship Id="rId2" Type="http://schemas.openxmlformats.org/officeDocument/2006/relationships/slideLayout" Target="../slideLayouts/slideLayout12.xml"/><Relationship Id="rId1" Type="http://schemas.openxmlformats.org/officeDocument/2006/relationships/tags" Target="../tags/tag128.xml"/><Relationship Id="rId5" Type="http://schemas.openxmlformats.org/officeDocument/2006/relationships/image" Target="../media/image39.png"/><Relationship Id="rId4" Type="http://schemas.openxmlformats.org/officeDocument/2006/relationships/image" Target="../media/image31.jpg"/></Relationships>
</file>

<file path=ppt/slides/_rels/slide280.xml.rels><?xml version="1.0" encoding="UTF-8" standalone="yes"?>
<Relationships xmlns="http://schemas.openxmlformats.org/package/2006/relationships"><Relationship Id="rId3" Type="http://schemas.openxmlformats.org/officeDocument/2006/relationships/notesSlide" Target="../notesSlides/notesSlide235.xml"/><Relationship Id="rId2" Type="http://schemas.openxmlformats.org/officeDocument/2006/relationships/slideLayout" Target="../slideLayouts/slideLayout12.xml"/><Relationship Id="rId1" Type="http://schemas.openxmlformats.org/officeDocument/2006/relationships/tags" Target="../tags/tag129.xml"/><Relationship Id="rId6" Type="http://schemas.openxmlformats.org/officeDocument/2006/relationships/image" Target="../media/image42.jpeg"/><Relationship Id="rId5" Type="http://schemas.openxmlformats.org/officeDocument/2006/relationships/image" Target="../media/image41.jpeg"/><Relationship Id="rId4" Type="http://schemas.openxmlformats.org/officeDocument/2006/relationships/image" Target="../media/image40.png"/></Relationships>
</file>

<file path=ppt/slides/_rels/slide281.xml.rels><?xml version="1.0" encoding="UTF-8" standalone="yes"?>
<Relationships xmlns="http://schemas.openxmlformats.org/package/2006/relationships"><Relationship Id="rId3" Type="http://schemas.openxmlformats.org/officeDocument/2006/relationships/notesSlide" Target="../notesSlides/notesSlide236.xml"/><Relationship Id="rId2" Type="http://schemas.openxmlformats.org/officeDocument/2006/relationships/slideLayout" Target="../slideLayouts/slideLayout2.xml"/><Relationship Id="rId1" Type="http://schemas.openxmlformats.org/officeDocument/2006/relationships/vmlDrawing" Target="../drawings/vmlDrawing27.vml"/><Relationship Id="rId6" Type="http://schemas.openxmlformats.org/officeDocument/2006/relationships/image" Target="../media/image22.wmf"/><Relationship Id="rId5" Type="http://schemas.openxmlformats.org/officeDocument/2006/relationships/image" Target="../media/image43.wmf"/><Relationship Id="rId4" Type="http://schemas.openxmlformats.org/officeDocument/2006/relationships/oleObject" Target="../embeddings/oleObject54.bin"/></Relationships>
</file>

<file path=ppt/slides/_rels/slide282.xml.rels><?xml version="1.0" encoding="UTF-8" standalone="yes"?>
<Relationships xmlns="http://schemas.openxmlformats.org/package/2006/relationships"><Relationship Id="rId3" Type="http://schemas.openxmlformats.org/officeDocument/2006/relationships/notesSlide" Target="../notesSlides/notesSlide237.xml"/><Relationship Id="rId2" Type="http://schemas.openxmlformats.org/officeDocument/2006/relationships/slideLayout" Target="../slideLayouts/slideLayout2.xml"/><Relationship Id="rId1" Type="http://schemas.openxmlformats.org/officeDocument/2006/relationships/vmlDrawing" Target="../drawings/vmlDrawing28.vml"/><Relationship Id="rId6" Type="http://schemas.openxmlformats.org/officeDocument/2006/relationships/image" Target="../media/image22.wmf"/><Relationship Id="rId5" Type="http://schemas.openxmlformats.org/officeDocument/2006/relationships/image" Target="../media/image43.wmf"/><Relationship Id="rId4" Type="http://schemas.openxmlformats.org/officeDocument/2006/relationships/oleObject" Target="../embeddings/oleObject54.bin"/></Relationships>
</file>

<file path=ppt/slides/_rels/slide283.xml.rels><?xml version="1.0" encoding="UTF-8" standalone="yes"?>
<Relationships xmlns="http://schemas.openxmlformats.org/package/2006/relationships"><Relationship Id="rId3" Type="http://schemas.openxmlformats.org/officeDocument/2006/relationships/notesSlide" Target="../notesSlides/notesSlide238.xml"/><Relationship Id="rId2" Type="http://schemas.openxmlformats.org/officeDocument/2006/relationships/slideLayout" Target="../slideLayouts/slideLayout2.xml"/><Relationship Id="rId1" Type="http://schemas.openxmlformats.org/officeDocument/2006/relationships/vmlDrawing" Target="../drawings/vmlDrawing29.vml"/><Relationship Id="rId6" Type="http://schemas.openxmlformats.org/officeDocument/2006/relationships/image" Target="../media/image22.wmf"/><Relationship Id="rId5" Type="http://schemas.openxmlformats.org/officeDocument/2006/relationships/image" Target="../media/image43.wmf"/><Relationship Id="rId4" Type="http://schemas.openxmlformats.org/officeDocument/2006/relationships/oleObject" Target="../embeddings/oleObject54.bin"/></Relationships>
</file>

<file path=ppt/slides/_rels/slide284.xml.rels><?xml version="1.0" encoding="UTF-8" standalone="yes"?>
<Relationships xmlns="http://schemas.openxmlformats.org/package/2006/relationships"><Relationship Id="rId3" Type="http://schemas.openxmlformats.org/officeDocument/2006/relationships/notesSlide" Target="../notesSlides/notesSlide239.xml"/><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image" Target="../media/image22.wmf"/><Relationship Id="rId5" Type="http://schemas.openxmlformats.org/officeDocument/2006/relationships/image" Target="../media/image43.wmf"/><Relationship Id="rId4" Type="http://schemas.openxmlformats.org/officeDocument/2006/relationships/oleObject" Target="../embeddings/oleObject54.bin"/></Relationships>
</file>

<file path=ppt/slides/_rels/slide285.xml.rels><?xml version="1.0" encoding="UTF-8" standalone="yes"?>
<Relationships xmlns="http://schemas.openxmlformats.org/package/2006/relationships"><Relationship Id="rId3" Type="http://schemas.openxmlformats.org/officeDocument/2006/relationships/notesSlide" Target="../notesSlides/notesSlide240.xml"/><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image" Target="../media/image22.wmf"/><Relationship Id="rId5" Type="http://schemas.openxmlformats.org/officeDocument/2006/relationships/image" Target="../media/image43.wmf"/><Relationship Id="rId4" Type="http://schemas.openxmlformats.org/officeDocument/2006/relationships/oleObject" Target="../embeddings/oleObject54.bin"/></Relationships>
</file>

<file path=ppt/slides/_rels/slide286.xml.rels><?xml version="1.0" encoding="UTF-8" standalone="yes"?>
<Relationships xmlns="http://schemas.openxmlformats.org/package/2006/relationships"><Relationship Id="rId3" Type="http://schemas.openxmlformats.org/officeDocument/2006/relationships/notesSlide" Target="../notesSlides/notesSlide241.xml"/><Relationship Id="rId2" Type="http://schemas.openxmlformats.org/officeDocument/2006/relationships/slideLayout" Target="../slideLayouts/slideLayout2.xml"/><Relationship Id="rId1" Type="http://schemas.openxmlformats.org/officeDocument/2006/relationships/tags" Target="../tags/tag130.xml"/></Relationships>
</file>

<file path=ppt/slides/_rels/slide28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42.xml"/><Relationship Id="rId1" Type="http://schemas.openxmlformats.org/officeDocument/2006/relationships/slideLayout" Target="../slideLayouts/slideLayout12.xml"/><Relationship Id="rId6" Type="http://schemas.openxmlformats.org/officeDocument/2006/relationships/image" Target="../media/image47.jpeg"/><Relationship Id="rId5" Type="http://schemas.openxmlformats.org/officeDocument/2006/relationships/image" Target="../media/image46.png"/><Relationship Id="rId4" Type="http://schemas.openxmlformats.org/officeDocument/2006/relationships/image" Target="../media/image45.jpeg"/></Relationships>
</file>

<file path=ppt/slides/_rels/slide288.xml.rels><?xml version="1.0" encoding="UTF-8" standalone="yes"?>
<Relationships xmlns="http://schemas.openxmlformats.org/package/2006/relationships"><Relationship Id="rId3" Type="http://schemas.openxmlformats.org/officeDocument/2006/relationships/notesSlide" Target="../notesSlides/notesSlide243.xml"/><Relationship Id="rId2" Type="http://schemas.openxmlformats.org/officeDocument/2006/relationships/slideLayout" Target="../slideLayouts/slideLayout12.xml"/><Relationship Id="rId1" Type="http://schemas.openxmlformats.org/officeDocument/2006/relationships/tags" Target="../tags/tag131.xml"/></Relationships>
</file>

<file path=ppt/slides/_rels/slide289.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244.xml"/><Relationship Id="rId1" Type="http://schemas.openxmlformats.org/officeDocument/2006/relationships/slideLayout" Target="../slideLayouts/slideLayout12.xml"/></Relationships>
</file>

<file path=ppt/slides/_rels/slide290.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245.xml"/><Relationship Id="rId1" Type="http://schemas.openxmlformats.org/officeDocument/2006/relationships/slideLayout" Target="../slideLayouts/slideLayout12.xml"/></Relationships>
</file>

<file path=ppt/slides/_rels/slide291.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246.xml"/><Relationship Id="rId1" Type="http://schemas.openxmlformats.org/officeDocument/2006/relationships/slideLayout" Target="../slideLayouts/slideLayout12.xml"/></Relationships>
</file>

<file path=ppt/slides/_rels/slide292.xml.rels><?xml version="1.0" encoding="UTF-8" standalone="yes"?>
<Relationships xmlns="http://schemas.openxmlformats.org/package/2006/relationships"><Relationship Id="rId3" Type="http://schemas.openxmlformats.org/officeDocument/2006/relationships/notesSlide" Target="../notesSlides/notesSlide247.xml"/><Relationship Id="rId2" Type="http://schemas.openxmlformats.org/officeDocument/2006/relationships/slideLayout" Target="../slideLayouts/slideLayout12.xml"/><Relationship Id="rId1" Type="http://schemas.openxmlformats.org/officeDocument/2006/relationships/tags" Target="../tags/tag132.xml"/></Relationships>
</file>

<file path=ppt/slides/_rels/slide293.xml.rels><?xml version="1.0" encoding="UTF-8" standalone="yes"?>
<Relationships xmlns="http://schemas.openxmlformats.org/package/2006/relationships"><Relationship Id="rId3" Type="http://schemas.openxmlformats.org/officeDocument/2006/relationships/notesSlide" Target="../notesSlides/notesSlide248.xml"/><Relationship Id="rId2" Type="http://schemas.openxmlformats.org/officeDocument/2006/relationships/slideLayout" Target="../slideLayouts/slideLayout12.xml"/><Relationship Id="rId1" Type="http://schemas.openxmlformats.org/officeDocument/2006/relationships/tags" Target="../tags/tag133.xml"/><Relationship Id="rId6" Type="http://schemas.openxmlformats.org/officeDocument/2006/relationships/image" Target="../media/image51.jpeg"/><Relationship Id="rId5" Type="http://schemas.openxmlformats.org/officeDocument/2006/relationships/image" Target="../media/image50.jpg"/><Relationship Id="rId4" Type="http://schemas.openxmlformats.org/officeDocument/2006/relationships/image" Target="../media/image49.jpeg"/></Relationships>
</file>

<file path=ppt/slides/_rels/slide294.xml.rels><?xml version="1.0" encoding="UTF-8" standalone="yes"?>
<Relationships xmlns="http://schemas.openxmlformats.org/package/2006/relationships"><Relationship Id="rId3" Type="http://schemas.openxmlformats.org/officeDocument/2006/relationships/notesSlide" Target="../notesSlides/notesSlide249.xml"/><Relationship Id="rId2" Type="http://schemas.openxmlformats.org/officeDocument/2006/relationships/slideLayout" Target="../slideLayouts/slideLayout12.xml"/><Relationship Id="rId1" Type="http://schemas.openxmlformats.org/officeDocument/2006/relationships/tags" Target="../tags/tag134.xml"/><Relationship Id="rId5" Type="http://schemas.openxmlformats.org/officeDocument/2006/relationships/image" Target="../media/image51.jpeg"/><Relationship Id="rId4" Type="http://schemas.openxmlformats.org/officeDocument/2006/relationships/image" Target="../media/image50.jpg"/></Relationships>
</file>

<file path=ppt/slides/_rels/slide295.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250.xml"/><Relationship Id="rId1" Type="http://schemas.openxmlformats.org/officeDocument/2006/relationships/slideLayout" Target="../slideLayouts/slideLayout12.xml"/><Relationship Id="rId4" Type="http://schemas.openxmlformats.org/officeDocument/2006/relationships/image" Target="../media/image52.png"/></Relationships>
</file>

<file path=ppt/slides/_rels/slide296.xml.rels><?xml version="1.0" encoding="UTF-8" standalone="yes"?>
<Relationships xmlns="http://schemas.openxmlformats.org/package/2006/relationships"><Relationship Id="rId3" Type="http://schemas.openxmlformats.org/officeDocument/2006/relationships/notesSlide" Target="../notesSlides/notesSlide251.xml"/><Relationship Id="rId2" Type="http://schemas.openxmlformats.org/officeDocument/2006/relationships/slideLayout" Target="../slideLayouts/slideLayout12.xml"/><Relationship Id="rId1" Type="http://schemas.openxmlformats.org/officeDocument/2006/relationships/tags" Target="../tags/tag135.xml"/><Relationship Id="rId5" Type="http://schemas.openxmlformats.org/officeDocument/2006/relationships/image" Target="../media/image52.png"/><Relationship Id="rId4" Type="http://schemas.openxmlformats.org/officeDocument/2006/relationships/image" Target="../media/image48.wmf"/></Relationships>
</file>

<file path=ppt/slides/_rels/slide297.xml.rels><?xml version="1.0" encoding="UTF-8" standalone="yes"?>
<Relationships xmlns="http://schemas.openxmlformats.org/package/2006/relationships"><Relationship Id="rId3" Type="http://schemas.openxmlformats.org/officeDocument/2006/relationships/notesSlide" Target="../notesSlides/notesSlide252.xml"/><Relationship Id="rId2" Type="http://schemas.openxmlformats.org/officeDocument/2006/relationships/slideLayout" Target="../slideLayouts/slideLayout12.xml"/><Relationship Id="rId1" Type="http://schemas.openxmlformats.org/officeDocument/2006/relationships/tags" Target="../tags/tag136.xml"/><Relationship Id="rId5" Type="http://schemas.openxmlformats.org/officeDocument/2006/relationships/image" Target="../media/image52.png"/><Relationship Id="rId4" Type="http://schemas.openxmlformats.org/officeDocument/2006/relationships/image" Target="../media/image48.wmf"/></Relationships>
</file>

<file path=ppt/slides/_rels/slide298.xml.rels><?xml version="1.0" encoding="UTF-8" standalone="yes"?>
<Relationships xmlns="http://schemas.openxmlformats.org/package/2006/relationships"><Relationship Id="rId3" Type="http://schemas.openxmlformats.org/officeDocument/2006/relationships/notesSlide" Target="../notesSlides/notesSlide253.xml"/><Relationship Id="rId2" Type="http://schemas.openxmlformats.org/officeDocument/2006/relationships/slideLayout" Target="../slideLayouts/slideLayout12.xml"/><Relationship Id="rId1" Type="http://schemas.openxmlformats.org/officeDocument/2006/relationships/tags" Target="../tags/tag137.xml"/></Relationships>
</file>

<file path=ppt/slides/_rels/slide299.xml.rels><?xml version="1.0" encoding="UTF-8" standalone="yes"?>
<Relationships xmlns="http://schemas.openxmlformats.org/package/2006/relationships"><Relationship Id="rId3" Type="http://schemas.openxmlformats.org/officeDocument/2006/relationships/notesSlide" Target="../notesSlides/notesSlide254.xml"/><Relationship Id="rId2" Type="http://schemas.openxmlformats.org/officeDocument/2006/relationships/slideLayout" Target="../slideLayouts/slideLayout2.xml"/><Relationship Id="rId1" Type="http://schemas.openxmlformats.org/officeDocument/2006/relationships/tags" Target="../tags/tag138.xml"/><Relationship Id="rId5" Type="http://schemas.openxmlformats.org/officeDocument/2006/relationships/image" Target="../media/image15.png"/><Relationship Id="rId4" Type="http://schemas.openxmlformats.org/officeDocument/2006/relationships/image" Target="../media/image7.png"/></Relationships>
</file>

<file path=ppt/slides/_rels/slide300.xml.rels><?xml version="1.0" encoding="UTF-8" standalone="yes"?>
<Relationships xmlns="http://schemas.openxmlformats.org/package/2006/relationships"><Relationship Id="rId3" Type="http://schemas.openxmlformats.org/officeDocument/2006/relationships/notesSlide" Target="../notesSlides/notesSlide255.xml"/><Relationship Id="rId2" Type="http://schemas.openxmlformats.org/officeDocument/2006/relationships/slideLayout" Target="../slideLayouts/slideLayout2.xml"/><Relationship Id="rId1" Type="http://schemas.openxmlformats.org/officeDocument/2006/relationships/tags" Target="../tags/tag139.xml"/><Relationship Id="rId5" Type="http://schemas.openxmlformats.org/officeDocument/2006/relationships/image" Target="../media/image15.png"/><Relationship Id="rId4" Type="http://schemas.openxmlformats.org/officeDocument/2006/relationships/image" Target="../media/image7.png"/></Relationships>
</file>

<file path=ppt/slides/_rels/slide301.xml.rels><?xml version="1.0" encoding="UTF-8" standalone="yes"?>
<Relationships xmlns="http://schemas.openxmlformats.org/package/2006/relationships"><Relationship Id="rId8" Type="http://schemas.openxmlformats.org/officeDocument/2006/relationships/oleObject" Target="../embeddings/oleObject57.bin"/><Relationship Id="rId3" Type="http://schemas.openxmlformats.org/officeDocument/2006/relationships/notesSlide" Target="../notesSlides/notesSlide256.xml"/><Relationship Id="rId7" Type="http://schemas.openxmlformats.org/officeDocument/2006/relationships/image" Target="../media/image14.wmf"/><Relationship Id="rId2" Type="http://schemas.openxmlformats.org/officeDocument/2006/relationships/slideLayout" Target="../slideLayouts/slideLayout2.xml"/><Relationship Id="rId1" Type="http://schemas.openxmlformats.org/officeDocument/2006/relationships/vmlDrawing" Target="../drawings/vmlDrawing32.vml"/><Relationship Id="rId6" Type="http://schemas.openxmlformats.org/officeDocument/2006/relationships/oleObject" Target="../embeddings/oleObject56.bin"/><Relationship Id="rId5" Type="http://schemas.openxmlformats.org/officeDocument/2006/relationships/image" Target="../media/image43.wmf"/><Relationship Id="rId10" Type="http://schemas.openxmlformats.org/officeDocument/2006/relationships/oleObject" Target="../embeddings/oleObject59.bin"/><Relationship Id="rId4" Type="http://schemas.openxmlformats.org/officeDocument/2006/relationships/oleObject" Target="../embeddings/oleObject55.bin"/><Relationship Id="rId9" Type="http://schemas.openxmlformats.org/officeDocument/2006/relationships/oleObject" Target="../embeddings/oleObject58.bin"/></Relationships>
</file>

<file path=ppt/slides/_rels/slide302.xml.rels><?xml version="1.0" encoding="UTF-8" standalone="yes"?>
<Relationships xmlns="http://schemas.openxmlformats.org/package/2006/relationships"><Relationship Id="rId3" Type="http://schemas.openxmlformats.org/officeDocument/2006/relationships/notesSlide" Target="../notesSlides/notesSlide257.xml"/><Relationship Id="rId2" Type="http://schemas.openxmlformats.org/officeDocument/2006/relationships/slideLayout" Target="../slideLayouts/slideLayout2.xml"/><Relationship Id="rId1" Type="http://schemas.openxmlformats.org/officeDocument/2006/relationships/tags" Target="../tags/tag140.xml"/></Relationships>
</file>

<file path=ppt/slides/_rels/slide303.xml.rels><?xml version="1.0" encoding="UTF-8" standalone="yes"?>
<Relationships xmlns="http://schemas.openxmlformats.org/package/2006/relationships"><Relationship Id="rId3" Type="http://schemas.openxmlformats.org/officeDocument/2006/relationships/notesSlide" Target="../notesSlides/notesSlide258.xml"/><Relationship Id="rId2" Type="http://schemas.openxmlformats.org/officeDocument/2006/relationships/slideLayout" Target="../slideLayouts/slideLayout2.xml"/><Relationship Id="rId1" Type="http://schemas.openxmlformats.org/officeDocument/2006/relationships/tags" Target="../tags/tag141.xml"/></Relationships>
</file>

<file path=ppt/slides/_rels/slide304.xml.rels><?xml version="1.0" encoding="UTF-8" standalone="yes"?>
<Relationships xmlns="http://schemas.openxmlformats.org/package/2006/relationships"><Relationship Id="rId3" Type="http://schemas.openxmlformats.org/officeDocument/2006/relationships/notesSlide" Target="../notesSlides/notesSlide259.xml"/><Relationship Id="rId2" Type="http://schemas.openxmlformats.org/officeDocument/2006/relationships/slideLayout" Target="../slideLayouts/slideLayout2.xml"/><Relationship Id="rId1" Type="http://schemas.openxmlformats.org/officeDocument/2006/relationships/tags" Target="../tags/tag142.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3" Type="http://schemas.openxmlformats.org/officeDocument/2006/relationships/notesSlide" Target="../notesSlides/notesSlide261.xml"/><Relationship Id="rId2" Type="http://schemas.openxmlformats.org/officeDocument/2006/relationships/slideLayout" Target="../slideLayouts/slideLayout2.xml"/><Relationship Id="rId1" Type="http://schemas.openxmlformats.org/officeDocument/2006/relationships/tags" Target="../tags/tag143.xml"/><Relationship Id="rId5" Type="http://schemas.openxmlformats.org/officeDocument/2006/relationships/image" Target="../media/image7.png"/><Relationship Id="rId4" Type="http://schemas.openxmlformats.org/officeDocument/2006/relationships/image" Target="../media/image15.png"/></Relationships>
</file>

<file path=ppt/slides/_rels/slide307.xml.rels><?xml version="1.0" encoding="UTF-8" standalone="yes"?>
<Relationships xmlns="http://schemas.openxmlformats.org/package/2006/relationships"><Relationship Id="rId3" Type="http://schemas.openxmlformats.org/officeDocument/2006/relationships/notesSlide" Target="../notesSlides/notesSlide262.xml"/><Relationship Id="rId2" Type="http://schemas.openxmlformats.org/officeDocument/2006/relationships/slideLayout" Target="../slideLayouts/slideLayout2.xml"/><Relationship Id="rId1" Type="http://schemas.openxmlformats.org/officeDocument/2006/relationships/tags" Target="../tags/tag144.xml"/></Relationships>
</file>

<file path=ppt/slides/_rels/slide308.xml.rels><?xml version="1.0" encoding="UTF-8" standalone="yes"?>
<Relationships xmlns="http://schemas.openxmlformats.org/package/2006/relationships"><Relationship Id="rId3" Type="http://schemas.openxmlformats.org/officeDocument/2006/relationships/notesSlide" Target="../notesSlides/notesSlide263.xml"/><Relationship Id="rId2" Type="http://schemas.openxmlformats.org/officeDocument/2006/relationships/slideLayout" Target="../slideLayouts/slideLayout2.xml"/><Relationship Id="rId1" Type="http://schemas.openxmlformats.org/officeDocument/2006/relationships/tags" Target="../tags/tag145.xml"/></Relationships>
</file>

<file path=ppt/slides/_rels/slide309.xml.rels><?xml version="1.0" encoding="UTF-8" standalone="yes"?>
<Relationships xmlns="http://schemas.openxmlformats.org/package/2006/relationships"><Relationship Id="rId3" Type="http://schemas.openxmlformats.org/officeDocument/2006/relationships/notesSlide" Target="../notesSlides/notesSlide264.xml"/><Relationship Id="rId2" Type="http://schemas.openxmlformats.org/officeDocument/2006/relationships/slideLayout" Target="../slideLayouts/slideLayout2.xml"/><Relationship Id="rId1" Type="http://schemas.openxmlformats.org/officeDocument/2006/relationships/tags" Target="../tags/tag146.xml"/></Relationships>
</file>

<file path=ppt/slides/_rels/slide310.xml.rels><?xml version="1.0" encoding="UTF-8" standalone="yes"?>
<Relationships xmlns="http://schemas.openxmlformats.org/package/2006/relationships"><Relationship Id="rId3" Type="http://schemas.openxmlformats.org/officeDocument/2006/relationships/notesSlide" Target="../notesSlides/notesSlide265.xml"/><Relationship Id="rId2" Type="http://schemas.openxmlformats.org/officeDocument/2006/relationships/slideLayout" Target="../slideLayouts/slideLayout2.xml"/><Relationship Id="rId1" Type="http://schemas.openxmlformats.org/officeDocument/2006/relationships/tags" Target="../tags/tag147.xml"/></Relationships>
</file>

<file path=ppt/slides/_rels/slide311.xml.rels><?xml version="1.0" encoding="UTF-8" standalone="yes"?>
<Relationships xmlns="http://schemas.openxmlformats.org/package/2006/relationships"><Relationship Id="rId3" Type="http://schemas.openxmlformats.org/officeDocument/2006/relationships/notesSlide" Target="../notesSlides/notesSlide266.xml"/><Relationship Id="rId2" Type="http://schemas.openxmlformats.org/officeDocument/2006/relationships/slideLayout" Target="../slideLayouts/slideLayout2.xml"/><Relationship Id="rId1" Type="http://schemas.openxmlformats.org/officeDocument/2006/relationships/tags" Target="../tags/tag148.xml"/></Relationships>
</file>

<file path=ppt/slides/_rels/slide312.xml.rels><?xml version="1.0" encoding="UTF-8" standalone="yes"?>
<Relationships xmlns="http://schemas.openxmlformats.org/package/2006/relationships"><Relationship Id="rId3" Type="http://schemas.openxmlformats.org/officeDocument/2006/relationships/notesSlide" Target="../notesSlides/notesSlide267.xml"/><Relationship Id="rId2" Type="http://schemas.openxmlformats.org/officeDocument/2006/relationships/slideLayout" Target="../slideLayouts/slideLayout2.xml"/><Relationship Id="rId1" Type="http://schemas.openxmlformats.org/officeDocument/2006/relationships/tags" Target="../tags/tag149.xml"/></Relationships>
</file>

<file path=ppt/slides/_rels/slide313.xml.rels><?xml version="1.0" encoding="UTF-8" standalone="yes"?>
<Relationships xmlns="http://schemas.openxmlformats.org/package/2006/relationships"><Relationship Id="rId3" Type="http://schemas.openxmlformats.org/officeDocument/2006/relationships/notesSlide" Target="../notesSlides/notesSlide268.xml"/><Relationship Id="rId2" Type="http://schemas.openxmlformats.org/officeDocument/2006/relationships/slideLayout" Target="../slideLayouts/slideLayout2.xml"/><Relationship Id="rId1" Type="http://schemas.openxmlformats.org/officeDocument/2006/relationships/tags" Target="../tags/tag150.xml"/></Relationships>
</file>

<file path=ppt/slides/_rels/slide314.xml.rels><?xml version="1.0" encoding="UTF-8" standalone="yes"?>
<Relationships xmlns="http://schemas.openxmlformats.org/package/2006/relationships"><Relationship Id="rId3" Type="http://schemas.openxmlformats.org/officeDocument/2006/relationships/notesSlide" Target="../notesSlides/notesSlide269.xml"/><Relationship Id="rId2" Type="http://schemas.openxmlformats.org/officeDocument/2006/relationships/slideLayout" Target="../slideLayouts/slideLayout2.xml"/><Relationship Id="rId1" Type="http://schemas.openxmlformats.org/officeDocument/2006/relationships/tags" Target="../tags/tag151.xml"/></Relationships>
</file>

<file path=ppt/slides/_rels/slide315.xml.rels><?xml version="1.0" encoding="UTF-8" standalone="yes"?>
<Relationships xmlns="http://schemas.openxmlformats.org/package/2006/relationships"><Relationship Id="rId3" Type="http://schemas.openxmlformats.org/officeDocument/2006/relationships/notesSlide" Target="../notesSlides/notesSlide270.xml"/><Relationship Id="rId2" Type="http://schemas.openxmlformats.org/officeDocument/2006/relationships/slideLayout" Target="../slideLayouts/slideLayout2.xml"/><Relationship Id="rId1" Type="http://schemas.openxmlformats.org/officeDocument/2006/relationships/tags" Target="../tags/tag152.xml"/></Relationships>
</file>

<file path=ppt/slides/_rels/slide316.xml.rels><?xml version="1.0" encoding="UTF-8" standalone="yes"?>
<Relationships xmlns="http://schemas.openxmlformats.org/package/2006/relationships"><Relationship Id="rId3" Type="http://schemas.openxmlformats.org/officeDocument/2006/relationships/notesSlide" Target="../notesSlides/notesSlide271.xml"/><Relationship Id="rId2" Type="http://schemas.openxmlformats.org/officeDocument/2006/relationships/slideLayout" Target="../slideLayouts/slideLayout12.xml"/><Relationship Id="rId1" Type="http://schemas.openxmlformats.org/officeDocument/2006/relationships/tags" Target="../tags/tag15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11" name="Rectangle 4"/>
          <p:cNvSpPr>
            <a:spLocks noChangeArrowheads="1"/>
          </p:cNvSpPr>
          <p:nvPr/>
        </p:nvSpPr>
        <p:spPr bwMode="auto">
          <a:xfrm>
            <a:off x="377456" y="2583673"/>
            <a:ext cx="2030818"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1200" b="1" dirty="0">
                <a:solidFill>
                  <a:srgbClr val="00B0F0"/>
                </a:solidFill>
                <a:latin typeface="微软雅黑" pitchFamily="34" charset="-122"/>
                <a:ea typeface="微软雅黑" pitchFamily="34" charset="-122"/>
              </a:rPr>
              <a:t>谢希仁 </a:t>
            </a:r>
            <a:r>
              <a:rPr lang="zh-CN" altLang="en-US" sz="1200" b="1" dirty="0">
                <a:solidFill>
                  <a:srgbClr val="00B0F0"/>
                </a:solidFill>
                <a:latin typeface="微软雅黑" pitchFamily="34" charset="-122"/>
                <a:ea typeface="微软雅黑" pitchFamily="34" charset="-122"/>
              </a:rPr>
              <a:t>谢钧 邢长友 </a:t>
            </a:r>
            <a:r>
              <a:rPr lang="fr-FR" altLang="zh-CN" sz="1200" b="1" dirty="0">
                <a:solidFill>
                  <a:srgbClr val="00B0F0"/>
                </a:solidFill>
                <a:latin typeface="微软雅黑" pitchFamily="34" charset="-122"/>
                <a:ea typeface="微软雅黑" pitchFamily="34" charset="-122"/>
              </a:rPr>
              <a:t>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altLang="zh-CN" sz="1600" b="1" dirty="0">
                <a:solidFill>
                  <a:srgbClr val="00B0F0"/>
                </a:solidFill>
                <a:latin typeface="微软雅黑" pitchFamily="34" charset="-122"/>
                <a:ea typeface="微软雅黑" pitchFamily="34" charset="-122"/>
              </a:rPr>
              <a:t>计算机网络（第 </a:t>
            </a:r>
            <a:r>
              <a:rPr lang="en-US" altLang="zh-CN" sz="1600" b="1" dirty="0">
                <a:solidFill>
                  <a:srgbClr val="00B0F0"/>
                </a:solidFill>
                <a:latin typeface="微软雅黑" pitchFamily="34" charset="-122"/>
                <a:ea typeface="微软雅黑" pitchFamily="34" charset="-122"/>
              </a:rPr>
              <a:t>9</a:t>
            </a:r>
            <a:r>
              <a:rPr lang="fr-FR" altLang="zh-CN" sz="1600" b="1" dirty="0">
                <a:solidFill>
                  <a:srgbClr val="00B0F0"/>
                </a:solidFill>
                <a:latin typeface="微软雅黑" pitchFamily="34" charset="-122"/>
                <a:ea typeface="微软雅黑" pitchFamily="34" charset="-122"/>
              </a:rPr>
              <a:t>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矩形 9"/>
          <p:cNvSpPr/>
          <p:nvPr/>
        </p:nvSpPr>
        <p:spPr>
          <a:xfrm>
            <a:off x="4992742" y="2219222"/>
            <a:ext cx="2483372" cy="938719"/>
          </a:xfrm>
          <a:prstGeom prst="rect">
            <a:avLst/>
          </a:prstGeom>
        </p:spPr>
        <p:txBody>
          <a:bodyPr wrap="none">
            <a:spAutoFit/>
          </a:bodyPr>
          <a:lstStyle/>
          <a:p>
            <a:pPr algn="ctr" eaLnBrk="0" hangingPunct="0"/>
            <a:r>
              <a:rPr lang="zh-CN" altLang="en-US" sz="5500" b="1" dirty="0" smtClean="0">
                <a:solidFill>
                  <a:schemeClr val="bg1"/>
                </a:solidFill>
                <a:latin typeface="微软雅黑" pitchFamily="34" charset="-122"/>
                <a:ea typeface="微软雅黑" pitchFamily="34" charset="-122"/>
              </a:rPr>
              <a:t>应</a:t>
            </a:r>
            <a:r>
              <a:rPr lang="zh-CN" altLang="en-US" sz="2400"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用</a:t>
            </a:r>
            <a:r>
              <a:rPr lang="zh-CN" altLang="en-US" sz="2400"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层</a:t>
            </a:r>
            <a:endParaRPr lang="fr-FR" altLang="zh-CN" sz="5500" b="1" dirty="0">
              <a:solidFill>
                <a:schemeClr val="bg1"/>
              </a:solidFill>
              <a:latin typeface="微软雅黑" pitchFamily="34" charset="-122"/>
              <a:ea typeface="微软雅黑" pitchFamily="34" charset="-122"/>
            </a:endParaRPr>
          </a:p>
        </p:txBody>
      </p:sp>
      <p:sp>
        <p:nvSpPr>
          <p:cNvPr id="15" name="矩形 14"/>
          <p:cNvSpPr/>
          <p:nvPr/>
        </p:nvSpPr>
        <p:spPr>
          <a:xfrm>
            <a:off x="5565012" y="1736604"/>
            <a:ext cx="1338828" cy="523220"/>
          </a:xfrm>
          <a:prstGeom prst="rect">
            <a:avLst/>
          </a:prstGeom>
        </p:spPr>
        <p:txBody>
          <a:bodyPr wrap="none">
            <a:spAutoFit/>
          </a:bodyPr>
          <a:lstStyle/>
          <a:p>
            <a:pPr algn="ctr" eaLnBrk="0" hangingPunct="0"/>
            <a:r>
              <a:rPr lang="fr-FR" altLang="zh-CN" sz="2800" b="1" dirty="0" smtClean="0">
                <a:solidFill>
                  <a:schemeClr val="bg1"/>
                </a:solidFill>
                <a:latin typeface="微软雅黑" pitchFamily="34" charset="-122"/>
                <a:ea typeface="微软雅黑" pitchFamily="34" charset="-122"/>
              </a:rPr>
              <a:t>第 6 章</a:t>
            </a:r>
            <a:endParaRPr lang="fr-FR" altLang="zh-CN" sz="28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ea typeface="微软雅黑" pitchFamily="34" charset="-122"/>
              </a:rPr>
              <a:t>计算机网络体系结构</a:t>
            </a:r>
            <a:endParaRPr lang="zh-CN" altLang="en-US" sz="2000" b="1" dirty="0">
              <a:solidFill>
                <a:schemeClr val="bg1"/>
              </a:solidFill>
              <a:ea typeface="微软雅黑" pitchFamily="34" charset="-122"/>
            </a:endParaRPr>
          </a:p>
        </p:txBody>
      </p:sp>
      <p:sp>
        <p:nvSpPr>
          <p:cNvPr id="48" name="圆角矩形 47"/>
          <p:cNvSpPr/>
          <p:nvPr/>
        </p:nvSpPr>
        <p:spPr>
          <a:xfrm>
            <a:off x="505072" y="108165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3473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应用层</a:t>
              </a:r>
            </a:p>
          </p:txBody>
        </p:sp>
        <p:sp>
          <p:nvSpPr>
            <p:cNvPr id="58" name="Text Box 23"/>
            <p:cNvSpPr txBox="1">
              <a:spLocks noChangeArrowheads="1"/>
            </p:cNvSpPr>
            <p:nvPr/>
          </p:nvSpPr>
          <p:spPr bwMode="auto">
            <a:xfrm>
              <a:off x="2006602" y="2706561"/>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smtClean="0">
                  <a:latin typeface="微软雅黑" panose="020B0503020204020204" pitchFamily="34" charset="-122"/>
                  <a:ea typeface="微软雅黑" panose="020B0503020204020204" pitchFamily="34" charset="-122"/>
                </a:rPr>
                <a:t>传输层</a:t>
              </a:r>
              <a:endParaRPr kumimoji="1" lang="zh-CN" altLang="en-US" sz="1100" b="1" dirty="0">
                <a:latin typeface="微软雅黑" panose="020B0503020204020204" pitchFamily="34" charset="-122"/>
                <a:ea typeface="微软雅黑" panose="020B0503020204020204" pitchFamily="34" charset="-122"/>
              </a:endParaRP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网络层</a:t>
              </a: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p>
            <a:p>
              <a:pPr>
                <a:lnSpc>
                  <a:spcPct val="185000"/>
                </a:lnSpc>
              </a:pPr>
              <a:r>
                <a:rPr kumimoji="1" lang="en-US" altLang="zh-CN" sz="1100" b="1" dirty="0">
                  <a:latin typeface="微软雅黑" panose="020B0503020204020204" pitchFamily="34" charset="-122"/>
                  <a:ea typeface="微软雅黑" panose="020B0503020204020204" pitchFamily="34" charset="-122"/>
                </a:rPr>
                <a:t>6</a:t>
              </a:r>
            </a:p>
            <a:p>
              <a:pPr>
                <a:lnSpc>
                  <a:spcPct val="185000"/>
                </a:lnSpc>
              </a:pPr>
              <a:r>
                <a:rPr kumimoji="1" lang="en-US" altLang="zh-CN" sz="1100" b="1" dirty="0">
                  <a:latin typeface="微软雅黑" panose="020B0503020204020204" pitchFamily="34" charset="-122"/>
                  <a:ea typeface="微软雅黑" panose="020B0503020204020204" pitchFamily="34" charset="-122"/>
                </a:rPr>
                <a:t>5</a:t>
              </a:r>
            </a:p>
            <a:p>
              <a:pPr>
                <a:lnSpc>
                  <a:spcPct val="185000"/>
                </a:lnSpc>
              </a:pPr>
              <a:r>
                <a:rPr kumimoji="1" lang="en-US" altLang="zh-CN" sz="1100" b="1" dirty="0">
                  <a:latin typeface="微软雅黑" panose="020B0503020204020204" pitchFamily="34" charset="-122"/>
                  <a:ea typeface="微软雅黑" panose="020B0503020204020204" pitchFamily="34" charset="-122"/>
                </a:rPr>
                <a:t>4</a:t>
              </a:r>
            </a:p>
            <a:p>
              <a:pPr>
                <a:lnSpc>
                  <a:spcPct val="185000"/>
                </a:lnSpc>
              </a:pPr>
              <a:r>
                <a:rPr kumimoji="1" lang="en-US" altLang="zh-CN" sz="1100" b="1" dirty="0">
                  <a:latin typeface="微软雅黑" panose="020B0503020204020204" pitchFamily="34" charset="-122"/>
                  <a:ea typeface="微软雅黑" panose="020B0503020204020204" pitchFamily="34" charset="-122"/>
                </a:rPr>
                <a:t>3</a:t>
              </a:r>
            </a:p>
            <a:p>
              <a:pPr>
                <a:lnSpc>
                  <a:spcPct val="185000"/>
                </a:lnSpc>
              </a:pPr>
              <a:r>
                <a:rPr kumimoji="1" lang="en-US" altLang="zh-CN" sz="1100" b="1" dirty="0">
                  <a:latin typeface="微软雅黑" panose="020B0503020204020204" pitchFamily="34" charset="-122"/>
                  <a:ea typeface="微软雅黑" panose="020B0503020204020204" pitchFamily="34" charset="-122"/>
                </a:rPr>
                <a:t>2</a:t>
              </a:r>
            </a:p>
            <a:p>
              <a:pPr>
                <a:lnSpc>
                  <a:spcPct val="185000"/>
                </a:lnSpc>
              </a:pPr>
              <a:r>
                <a:rPr kumimoji="1" lang="en-US" altLang="zh-CN" sz="1100" b="1" dirty="0">
                  <a:latin typeface="微软雅黑" panose="020B0503020204020204" pitchFamily="34" charset="-122"/>
                  <a:ea typeface="微软雅黑" panose="020B0503020204020204" pitchFamily="34" charset="-122"/>
                </a:rPr>
                <a:t>1</a:t>
              </a:r>
            </a:p>
          </p:txBody>
        </p:sp>
      </p:grpSp>
      <p:sp>
        <p:nvSpPr>
          <p:cNvPr id="65" name="Text Box 13"/>
          <p:cNvSpPr txBox="1">
            <a:spLocks noChangeArrowheads="1"/>
          </p:cNvSpPr>
          <p:nvPr/>
        </p:nvSpPr>
        <p:spPr bwMode="auto">
          <a:xfrm>
            <a:off x="1156623" y="119818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smtClean="0">
                <a:solidFill>
                  <a:srgbClr val="000099"/>
                </a:solidFill>
                <a:latin typeface="微软雅黑" panose="020B0503020204020204" pitchFamily="34" charset="-122"/>
                <a:ea typeface="微软雅黑" panose="020B0503020204020204" pitchFamily="34" charset="-122"/>
              </a:rPr>
              <a:t>的</a:t>
            </a:r>
            <a:r>
              <a:rPr kumimoji="1" lang="zh-CN" altLang="en-US" sz="1400" b="1" dirty="0">
                <a:solidFill>
                  <a:srgbClr val="000099"/>
                </a:solidFill>
                <a:latin typeface="微软雅黑" panose="020B0503020204020204" pitchFamily="34" charset="-122"/>
                <a:ea typeface="微软雅黑" panose="020B0503020204020204" pitchFamily="34" charset="-122"/>
              </a:rPr>
              <a:t>七</a:t>
            </a:r>
            <a:r>
              <a:rPr kumimoji="1" lang="zh-CN" altLang="en-US" sz="1400" b="1" dirty="0" smtClean="0">
                <a:solidFill>
                  <a:srgbClr val="000099"/>
                </a:solidFill>
                <a:latin typeface="微软雅黑" panose="020B0503020204020204" pitchFamily="34" charset="-122"/>
                <a:ea typeface="微软雅黑" panose="020B0503020204020204" pitchFamily="34" charset="-122"/>
              </a:rPr>
              <a:t>层</a:t>
            </a:r>
            <a:r>
              <a:rPr kumimoji="1" lang="zh-CN" altLang="en-US" sz="1400" b="1" dirty="0">
                <a:solidFill>
                  <a:srgbClr val="000099"/>
                </a:solidFill>
                <a:latin typeface="微软雅黑" panose="020B0503020204020204" pitchFamily="34" charset="-122"/>
                <a:ea typeface="微软雅黑" panose="020B0503020204020204" pitchFamily="34" charset="-122"/>
              </a:rPr>
              <a:t>协议</a:t>
            </a:r>
            <a:r>
              <a:rPr kumimoji="1" lang="zh-CN" altLang="en-US" sz="1400" b="1" dirty="0" smtClean="0">
                <a:solidFill>
                  <a:srgbClr val="000099"/>
                </a:solidFill>
                <a:latin typeface="微软雅黑" panose="020B0503020204020204" pitchFamily="34" charset="-122"/>
                <a:ea typeface="微软雅黑" panose="020B0503020204020204" pitchFamily="34" charset="-122"/>
              </a:rPr>
              <a:t>体系结构</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66" name="Text Box 12"/>
          <p:cNvSpPr txBox="1">
            <a:spLocks noChangeArrowheads="1"/>
          </p:cNvSpPr>
          <p:nvPr/>
        </p:nvSpPr>
        <p:spPr bwMode="auto">
          <a:xfrm>
            <a:off x="3432593" y="118706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smtClean="0">
                <a:latin typeface="微软雅黑" panose="020B0503020204020204" pitchFamily="34" charset="-122"/>
                <a:ea typeface="微软雅黑" panose="020B0503020204020204" pitchFamily="34" charset="-122"/>
              </a:rPr>
              <a:t>的四层协议体系结构</a:t>
            </a:r>
            <a:endParaRPr kumimoji="1" lang="zh-CN" altLang="en-US" sz="1400" b="1" dirty="0">
              <a:latin typeface="微软雅黑" panose="020B0503020204020204" pitchFamily="34" charset="-122"/>
              <a:ea typeface="微软雅黑" panose="020B0503020204020204" pitchFamily="34" charset="-122"/>
            </a:endParaRPr>
          </a:p>
        </p:txBody>
      </p:sp>
      <p:sp>
        <p:nvSpPr>
          <p:cNvPr id="67" name="Text Box 95"/>
          <p:cNvSpPr txBox="1">
            <a:spLocks noChangeArrowheads="1"/>
          </p:cNvSpPr>
          <p:nvPr/>
        </p:nvSpPr>
        <p:spPr bwMode="auto">
          <a:xfrm>
            <a:off x="1993066" y="383660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p>
        </p:txBody>
      </p:sp>
      <p:sp>
        <p:nvSpPr>
          <p:cNvPr id="68" name="Text Box 96"/>
          <p:cNvSpPr txBox="1">
            <a:spLocks noChangeArrowheads="1"/>
          </p:cNvSpPr>
          <p:nvPr/>
        </p:nvSpPr>
        <p:spPr bwMode="auto">
          <a:xfrm>
            <a:off x="4328191" y="383660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p>
        </p:txBody>
      </p:sp>
      <p:sp>
        <p:nvSpPr>
          <p:cNvPr id="69" name="Text Box 97"/>
          <p:cNvSpPr txBox="1">
            <a:spLocks noChangeArrowheads="1"/>
          </p:cNvSpPr>
          <p:nvPr/>
        </p:nvSpPr>
        <p:spPr bwMode="auto">
          <a:xfrm>
            <a:off x="6655970" y="384462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p>
        </p:txBody>
      </p:sp>
      <p:sp>
        <p:nvSpPr>
          <p:cNvPr id="70" name="Text Box 113"/>
          <p:cNvSpPr txBox="1">
            <a:spLocks noChangeArrowheads="1"/>
          </p:cNvSpPr>
          <p:nvPr/>
        </p:nvSpPr>
        <p:spPr bwMode="auto">
          <a:xfrm>
            <a:off x="5946357" y="118230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p>
        </p:txBody>
      </p:sp>
      <p:grpSp>
        <p:nvGrpSpPr>
          <p:cNvPr id="71" name="组合 70"/>
          <p:cNvGrpSpPr/>
          <p:nvPr/>
        </p:nvGrpSpPr>
        <p:grpSpPr>
          <a:xfrm>
            <a:off x="3578724" y="150298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4    </a:t>
              </a:r>
              <a:r>
                <a:rPr kumimoji="1" lang="zh-CN" altLang="en-US" sz="1100" b="1" dirty="0" smtClean="0">
                  <a:solidFill>
                    <a:srgbClr val="C00000"/>
                  </a:solidFill>
                  <a:latin typeface="微软雅黑" panose="020B0503020204020204" pitchFamily="34" charset="-122"/>
                  <a:ea typeface="微软雅黑" panose="020B0503020204020204" pitchFamily="34" charset="-122"/>
                </a:rPr>
                <a:t>应用层</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1    </a:t>
              </a:r>
              <a:r>
                <a:rPr kumimoji="1" lang="zh-CN" altLang="en-US" sz="1100" b="1" dirty="0" smtClean="0">
                  <a:latin typeface="微软雅黑" panose="020B0503020204020204" pitchFamily="34" charset="-122"/>
                  <a:ea typeface="微软雅黑" panose="020B0503020204020204" pitchFamily="34" charset="-122"/>
                </a:rPr>
                <a:t>网络</a:t>
              </a:r>
              <a:r>
                <a:rPr kumimoji="1" lang="zh-CN" altLang="en-US" sz="1100" b="1" dirty="0">
                  <a:latin typeface="微软雅黑" panose="020B0503020204020204" pitchFamily="34" charset="-122"/>
                  <a:ea typeface="微软雅黑" panose="020B0503020204020204" pitchFamily="34" charset="-122"/>
                </a:rPr>
                <a:t>接口层</a:t>
              </a: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2    </a:t>
              </a:r>
              <a:r>
                <a:rPr kumimoji="1" lang="zh-CN" altLang="en-US" sz="1100" b="1" dirty="0" smtClean="0">
                  <a:latin typeface="微软雅黑" panose="020B0503020204020204" pitchFamily="34" charset="-122"/>
                  <a:ea typeface="微软雅黑" panose="020B0503020204020204" pitchFamily="34" charset="-122"/>
                </a:rPr>
                <a:t>网</a:t>
              </a:r>
              <a:r>
                <a:rPr kumimoji="1" lang="zh-CN" altLang="en-US" sz="1100" b="1" dirty="0">
                  <a:latin typeface="微软雅黑" panose="020B0503020204020204" pitchFamily="34" charset="-122"/>
                  <a:ea typeface="微软雅黑" panose="020B0503020204020204" pitchFamily="34" charset="-122"/>
                </a:rPr>
                <a:t>际层 </a:t>
              </a:r>
              <a:r>
                <a:rPr kumimoji="1" lang="en-US" altLang="zh-CN" sz="1100" b="1" dirty="0">
                  <a:latin typeface="微软雅黑" panose="020B0503020204020204" pitchFamily="34" charset="-122"/>
                  <a:ea typeface="微软雅黑" panose="020B0503020204020204" pitchFamily="34" charset="-122"/>
                </a:rPr>
                <a:t>IP</a:t>
              </a: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smtClean="0">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r>
                <a:rPr kumimoji="1" lang="zh-CN" altLang="en-US" sz="1100" b="1" dirty="0" smtClean="0">
                  <a:latin typeface="微软雅黑" panose="020B0503020204020204" pitchFamily="34" charset="-122"/>
                  <a:ea typeface="微软雅黑" panose="020B0503020204020204" pitchFamily="34" charset="-122"/>
                </a:rPr>
                <a:t>传输层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p>
          </p:txBody>
        </p:sp>
      </p:grpSp>
      <p:cxnSp>
        <p:nvCxnSpPr>
          <p:cNvPr id="82" name="直接连接符 81"/>
          <p:cNvCxnSpPr/>
          <p:nvPr/>
        </p:nvCxnSpPr>
        <p:spPr>
          <a:xfrm>
            <a:off x="5334249" y="320494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3368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3481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smtClean="0">
                  <a:solidFill>
                    <a:schemeClr val="bg1"/>
                  </a:solidFill>
                  <a:latin typeface="微软雅黑" panose="020B0503020204020204" pitchFamily="34" charset="-122"/>
                  <a:ea typeface="微软雅黑" panose="020B0503020204020204" pitchFamily="34" charset="-122"/>
                </a:rPr>
                <a:t>传输层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网络层</a:t>
              </a: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应用层</a:t>
              </a: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p>
          </p:txBody>
        </p:sp>
      </p:grpSp>
    </p:spTree>
    <p:extLst>
      <p:ext uri="{BB962C8B-B14F-4D97-AF65-F5344CB8AC3E}">
        <p14:creationId xmlns:p14="http://schemas.microsoft.com/office/powerpoint/2010/main" val="13816496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0"/>
          <p:cNvSpPr>
            <a:spLocks noChangeArrowheads="1"/>
          </p:cNvSpPr>
          <p:nvPr/>
        </p:nvSpPr>
        <p:spPr bwMode="auto">
          <a:xfrm>
            <a:off x="1684337" y="3062644"/>
            <a:ext cx="5775325" cy="330200"/>
          </a:xfrm>
          <a:prstGeom prst="rect">
            <a:avLst/>
          </a:prstGeom>
          <a:solidFill>
            <a:srgbClr val="1956B9"/>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3" name="Rectangle 11"/>
          <p:cNvSpPr>
            <a:spLocks noChangeArrowheads="1"/>
          </p:cNvSpPr>
          <p:nvPr/>
        </p:nvSpPr>
        <p:spPr bwMode="auto">
          <a:xfrm>
            <a:off x="1684337" y="3470342"/>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6" name="Rectangle 9"/>
          <p:cNvSpPr>
            <a:spLocks noChangeArrowheads="1"/>
          </p:cNvSpPr>
          <p:nvPr/>
        </p:nvSpPr>
        <p:spPr bwMode="auto">
          <a:xfrm>
            <a:off x="1684337" y="1034315"/>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7" name="Rectangle 10"/>
          <p:cNvSpPr>
            <a:spLocks noChangeArrowheads="1"/>
          </p:cNvSpPr>
          <p:nvPr/>
        </p:nvSpPr>
        <p:spPr bwMode="auto">
          <a:xfrm>
            <a:off x="1684337" y="1450428"/>
            <a:ext cx="5775325" cy="330200"/>
          </a:xfrm>
          <a:prstGeom prst="rect">
            <a:avLst/>
          </a:prstGeom>
          <a:solidFill>
            <a:srgbClr val="1956B9"/>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8" name="Rectangle 11"/>
          <p:cNvSpPr>
            <a:spLocks noChangeArrowheads="1"/>
          </p:cNvSpPr>
          <p:nvPr/>
        </p:nvSpPr>
        <p:spPr bwMode="auto">
          <a:xfrm>
            <a:off x="1684337" y="1848982"/>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9" name="Rectangle 12"/>
          <p:cNvSpPr>
            <a:spLocks noChangeArrowheads="1"/>
          </p:cNvSpPr>
          <p:nvPr/>
        </p:nvSpPr>
        <p:spPr bwMode="auto">
          <a:xfrm>
            <a:off x="1684337" y="2264324"/>
            <a:ext cx="5775325" cy="330200"/>
          </a:xfrm>
          <a:prstGeom prst="rect">
            <a:avLst/>
          </a:prstGeom>
          <a:solidFill>
            <a:srgbClr val="1956B9"/>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20" name="Rectangle 13"/>
          <p:cNvSpPr>
            <a:spLocks noChangeArrowheads="1"/>
          </p:cNvSpPr>
          <p:nvPr/>
        </p:nvSpPr>
        <p:spPr bwMode="auto">
          <a:xfrm>
            <a:off x="1684337" y="2662844"/>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21" name="Rectangle 17"/>
          <p:cNvSpPr>
            <a:spLocks noChangeArrowheads="1"/>
          </p:cNvSpPr>
          <p:nvPr/>
        </p:nvSpPr>
        <p:spPr bwMode="auto">
          <a:xfrm>
            <a:off x="1716084" y="937524"/>
            <a:ext cx="5662177"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lnSpc>
                <a:spcPts val="3200"/>
              </a:lnSpc>
            </a:pPr>
            <a:r>
              <a:rPr lang="en-US" altLang="zh-CN" sz="2000" b="1" dirty="0">
                <a:solidFill>
                  <a:schemeClr val="bg1"/>
                </a:solidFill>
                <a:latin typeface="微软雅黑" pitchFamily="34" charset="-122"/>
                <a:ea typeface="微软雅黑" pitchFamily="34" charset="-122"/>
              </a:rPr>
              <a:t>6.1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域名</a:t>
            </a:r>
            <a:r>
              <a:rPr lang="zh-CN" altLang="en-US" sz="2000" b="1" dirty="0">
                <a:solidFill>
                  <a:schemeClr val="bg1"/>
                </a:solidFill>
                <a:latin typeface="微软雅黑" pitchFamily="34" charset="-122"/>
                <a:ea typeface="微软雅黑" pitchFamily="34" charset="-122"/>
              </a:rPr>
              <a:t>系统 </a:t>
            </a:r>
            <a:r>
              <a:rPr lang="en-US" altLang="zh-CN" sz="2000" b="1" dirty="0" smtClean="0">
                <a:solidFill>
                  <a:schemeClr val="bg1"/>
                </a:solidFill>
                <a:latin typeface="微软雅黑" pitchFamily="34" charset="-122"/>
                <a:ea typeface="微软雅黑" pitchFamily="34" charset="-122"/>
              </a:rPr>
              <a:t>DNS   </a:t>
            </a:r>
            <a:endParaRPr lang="en-US" altLang="zh-CN"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6.2                                          </a:t>
            </a:r>
            <a:r>
              <a:rPr lang="zh-CN" altLang="en-US" sz="2000" b="1" dirty="0" smtClean="0">
                <a:solidFill>
                  <a:schemeClr val="bg1"/>
                </a:solidFill>
                <a:latin typeface="微软雅黑" pitchFamily="34" charset="-122"/>
                <a:ea typeface="微软雅黑" pitchFamily="34" charset="-122"/>
              </a:rPr>
              <a:t>万维网 </a:t>
            </a:r>
            <a:r>
              <a:rPr lang="en-US" altLang="zh-CN" sz="2000" b="1" dirty="0">
                <a:solidFill>
                  <a:schemeClr val="bg1"/>
                </a:solidFill>
                <a:latin typeface="微软雅黑" pitchFamily="34" charset="-122"/>
                <a:ea typeface="微软雅黑" pitchFamily="34" charset="-122"/>
              </a:rPr>
              <a:t>WWW</a:t>
            </a:r>
            <a:endParaRPr lang="zh-CN" altLang="en-US" sz="2000" b="1" dirty="0" smtClean="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6.3                                                  </a:t>
            </a:r>
            <a:r>
              <a:rPr lang="zh-CN" altLang="en-US" sz="2000" b="1" dirty="0" smtClean="0">
                <a:solidFill>
                  <a:schemeClr val="bg1"/>
                </a:solidFill>
                <a:latin typeface="微软雅黑" pitchFamily="34" charset="-122"/>
                <a:ea typeface="微软雅黑" pitchFamily="34" charset="-122"/>
              </a:rPr>
              <a:t>电子邮件</a:t>
            </a:r>
            <a:endParaRPr lang="en-US" altLang="zh-CN"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6.4                    </a:t>
            </a:r>
            <a:r>
              <a:rPr lang="zh-CN" altLang="en-US" sz="2000" b="1" dirty="0" smtClean="0">
                <a:solidFill>
                  <a:schemeClr val="bg1"/>
                </a:solidFill>
                <a:latin typeface="微软雅黑" pitchFamily="34" charset="-122"/>
                <a:ea typeface="微软雅黑" pitchFamily="34" charset="-122"/>
              </a:rPr>
              <a:t>多媒体</a:t>
            </a:r>
            <a:r>
              <a:rPr lang="zh-CN" altLang="en-US" sz="2000" b="1" dirty="0">
                <a:solidFill>
                  <a:schemeClr val="bg1"/>
                </a:solidFill>
                <a:latin typeface="微软雅黑" pitchFamily="34" charset="-122"/>
                <a:ea typeface="微软雅黑" pitchFamily="34" charset="-122"/>
              </a:rPr>
              <a:t>内容在互联网上的</a:t>
            </a:r>
            <a:r>
              <a:rPr lang="zh-CN" altLang="en-US" sz="2000" b="1" dirty="0" smtClean="0">
                <a:solidFill>
                  <a:schemeClr val="bg1"/>
                </a:solidFill>
                <a:latin typeface="微软雅黑" pitchFamily="34" charset="-122"/>
                <a:ea typeface="微软雅黑" pitchFamily="34" charset="-122"/>
              </a:rPr>
              <a:t>传输</a:t>
            </a:r>
            <a:endParaRPr lang="en-US" altLang="zh-CN"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6.5                         </a:t>
            </a:r>
            <a:r>
              <a:rPr lang="zh-CN" altLang="en-US" sz="2000" b="1" dirty="0" smtClean="0">
                <a:solidFill>
                  <a:schemeClr val="bg1"/>
                </a:solidFill>
                <a:latin typeface="微软雅黑" pitchFamily="34" charset="-122"/>
                <a:ea typeface="微软雅黑" pitchFamily="34" charset="-122"/>
              </a:rPr>
              <a:t>简单</a:t>
            </a:r>
            <a:r>
              <a:rPr lang="zh-CN" altLang="en-US" sz="2000" b="1" dirty="0">
                <a:solidFill>
                  <a:schemeClr val="bg1"/>
                </a:solidFill>
                <a:latin typeface="微软雅黑" pitchFamily="34" charset="-122"/>
                <a:ea typeface="微软雅黑" pitchFamily="34" charset="-122"/>
              </a:rPr>
              <a:t>网络管理协议 </a:t>
            </a:r>
            <a:r>
              <a:rPr lang="en-US" altLang="zh-CN" sz="2000" b="1" dirty="0">
                <a:solidFill>
                  <a:schemeClr val="bg1"/>
                </a:solidFill>
                <a:latin typeface="微软雅黑" pitchFamily="34" charset="-122"/>
                <a:ea typeface="微软雅黑" pitchFamily="34" charset="-122"/>
              </a:rPr>
              <a:t>SNMP</a:t>
            </a:r>
            <a:endParaRPr lang="zh-CN" altLang="en-US" sz="2000" b="1" dirty="0" smtClean="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6.6                           </a:t>
            </a:r>
            <a:r>
              <a:rPr lang="zh-CN" altLang="en-US" sz="2000" b="1" dirty="0" smtClean="0">
                <a:solidFill>
                  <a:schemeClr val="bg1"/>
                </a:solidFill>
                <a:latin typeface="微软雅黑" pitchFamily="34" charset="-122"/>
                <a:ea typeface="微软雅黑" pitchFamily="34" charset="-122"/>
              </a:rPr>
              <a:t>应用</a:t>
            </a:r>
            <a:r>
              <a:rPr lang="zh-CN" altLang="en-US" sz="2000" b="1" dirty="0">
                <a:solidFill>
                  <a:schemeClr val="bg1"/>
                </a:solidFill>
                <a:latin typeface="微软雅黑" pitchFamily="34" charset="-122"/>
                <a:ea typeface="微软雅黑" pitchFamily="34" charset="-122"/>
              </a:rPr>
              <a:t>进程跨越网络的</a:t>
            </a:r>
            <a:r>
              <a:rPr lang="zh-CN" altLang="en-US" sz="2000" b="1" dirty="0" smtClean="0">
                <a:solidFill>
                  <a:schemeClr val="bg1"/>
                </a:solidFill>
                <a:latin typeface="微软雅黑" pitchFamily="34" charset="-122"/>
                <a:ea typeface="微软雅黑" pitchFamily="34" charset="-122"/>
              </a:rPr>
              <a:t>通信</a:t>
            </a:r>
            <a:endParaRPr lang="en-US" altLang="zh-CN" sz="2000" b="1" dirty="0" smtClean="0">
              <a:solidFill>
                <a:schemeClr val="bg1"/>
              </a:solidFill>
              <a:latin typeface="微软雅黑" pitchFamily="34" charset="-122"/>
              <a:ea typeface="微软雅黑" pitchFamily="34" charset="-122"/>
            </a:endParaRPr>
          </a:p>
          <a:p>
            <a:pPr eaLnBrk="0" hangingPunct="0">
              <a:lnSpc>
                <a:spcPts val="3200"/>
              </a:lnSpc>
            </a:pPr>
            <a:r>
              <a:rPr lang="en-US" altLang="zh-CN" sz="2000" b="1" dirty="0" smtClean="0">
                <a:solidFill>
                  <a:schemeClr val="bg1"/>
                </a:solidFill>
                <a:latin typeface="微软雅黑" pitchFamily="34" charset="-122"/>
                <a:ea typeface="微软雅黑" pitchFamily="34" charset="-122"/>
              </a:rPr>
              <a:t>6.7                                                 P2P </a:t>
            </a:r>
            <a:r>
              <a:rPr lang="zh-CN" altLang="en-US" sz="2000" b="1" dirty="0" smtClean="0">
                <a:solidFill>
                  <a:schemeClr val="bg1"/>
                </a:solidFill>
                <a:latin typeface="微软雅黑" pitchFamily="34" charset="-122"/>
                <a:ea typeface="微软雅黑" pitchFamily="34" charset="-122"/>
              </a:rPr>
              <a:t>应用</a:t>
            </a:r>
            <a:endParaRPr lang="en-US"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395810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应用层</a:t>
            </a:r>
            <a:r>
              <a:rPr lang="zh-CN" altLang="en-US" sz="2400" b="1" dirty="0" smtClean="0">
                <a:solidFill>
                  <a:schemeClr val="bg1"/>
                </a:solidFill>
                <a:latin typeface="微软雅黑" pitchFamily="34" charset="-122"/>
                <a:ea typeface="微软雅黑" pitchFamily="34" charset="-122"/>
              </a:rPr>
              <a:t>协议</a:t>
            </a:r>
            <a:endParaRPr lang="zh-CN" altLang="en-US" sz="2400" b="1" dirty="0">
              <a:solidFill>
                <a:schemeClr val="bg1"/>
              </a:solidFill>
              <a:latin typeface="微软雅黑" pitchFamily="34" charset="-122"/>
              <a:ea typeface="微软雅黑" pitchFamily="34" charset="-122"/>
            </a:endParaRPr>
          </a:p>
        </p:txBody>
      </p:sp>
      <p:sp>
        <p:nvSpPr>
          <p:cNvPr id="13" name="Rectangle 8"/>
          <p:cNvSpPr>
            <a:spLocks noChangeArrowheads="1"/>
          </p:cNvSpPr>
          <p:nvPr/>
        </p:nvSpPr>
        <p:spPr bwMode="auto">
          <a:xfrm>
            <a:off x="545143" y="1009181"/>
            <a:ext cx="8053711" cy="2365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精确定义</a:t>
            </a:r>
            <a:r>
              <a:rPr lang="zh-CN" altLang="en-US" sz="2000" b="1" dirty="0" smtClean="0">
                <a:solidFill>
                  <a:srgbClr val="0000FF"/>
                </a:solidFill>
                <a:latin typeface="微软雅黑" pitchFamily="34" charset="-122"/>
                <a:ea typeface="微软雅黑" pitchFamily="34" charset="-122"/>
              </a:rPr>
              <a:t>不同</a:t>
            </a:r>
            <a:r>
              <a:rPr lang="zh-CN" altLang="en-US" sz="2000" b="1" dirty="0">
                <a:solidFill>
                  <a:srgbClr val="0000FF"/>
                </a:solidFill>
                <a:latin typeface="微软雅黑" pitchFamily="34" charset="-122"/>
                <a:ea typeface="微软雅黑" pitchFamily="34" charset="-122"/>
              </a:rPr>
              <a:t>主机中的多个</a:t>
            </a:r>
            <a:r>
              <a:rPr lang="zh-CN" altLang="en-US" sz="2000" b="1" dirty="0">
                <a:solidFill>
                  <a:srgbClr val="C00000"/>
                </a:solidFill>
                <a:latin typeface="微软雅黑" pitchFamily="34" charset="-122"/>
                <a:ea typeface="微软雅黑" pitchFamily="34" charset="-122"/>
              </a:rPr>
              <a:t>应用进程之间</a:t>
            </a:r>
            <a:r>
              <a:rPr lang="zh-CN" altLang="en-US" sz="2000" b="1" dirty="0">
                <a:solidFill>
                  <a:srgbClr val="0000FF"/>
                </a:solidFill>
                <a:latin typeface="微软雅黑" pitchFamily="34" charset="-122"/>
                <a:ea typeface="微软雅黑" pitchFamily="34" charset="-122"/>
              </a:rPr>
              <a:t>的</a:t>
            </a:r>
            <a:r>
              <a:rPr lang="zh-CN" altLang="en-US" sz="2000" b="1" dirty="0" smtClean="0">
                <a:solidFill>
                  <a:srgbClr val="0000FF"/>
                </a:solidFill>
                <a:latin typeface="微软雅黑" pitchFamily="34" charset="-122"/>
                <a:ea typeface="微软雅黑" pitchFamily="34" charset="-122"/>
              </a:rPr>
              <a:t>通信规则。</a:t>
            </a:r>
            <a:endParaRPr lang="en-US" altLang="zh-CN" sz="2000" b="1" dirty="0" smtClean="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包括：</a:t>
            </a:r>
            <a:endParaRPr lang="en-US" altLang="zh-CN" sz="2000" b="1" dirty="0" smtClean="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应用进程交换的报文类型，如请求报文和响应报文。</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各种报文类型的语法，如报文中的各个字段及其详细描述。</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字段的</a:t>
            </a:r>
            <a:r>
              <a:rPr lang="zh-CN" altLang="en-US" sz="2000" b="1" dirty="0" smtClean="0">
                <a:latin typeface="微软雅黑" pitchFamily="34" charset="-122"/>
                <a:ea typeface="微软雅黑" pitchFamily="34" charset="-122"/>
              </a:rPr>
              <a:t>语义，即包含在字段中的信息的含义。</a:t>
            </a:r>
            <a:endParaRPr lang="zh-CN" altLang="en-US"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进程何时、如何发送报文，以及对报文进行响应的规则。</a:t>
            </a:r>
          </a:p>
        </p:txBody>
      </p:sp>
    </p:spTree>
    <p:extLst>
      <p:ext uri="{BB962C8B-B14F-4D97-AF65-F5344CB8AC3E}">
        <p14:creationId xmlns:p14="http://schemas.microsoft.com/office/powerpoint/2010/main" val="15836895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应用层</a:t>
            </a:r>
            <a:r>
              <a:rPr lang="zh-CN" altLang="en-US" sz="2400" b="1" dirty="0" smtClean="0">
                <a:solidFill>
                  <a:schemeClr val="bg1"/>
                </a:solidFill>
                <a:latin typeface="微软雅黑" pitchFamily="34" charset="-122"/>
                <a:ea typeface="微软雅黑" pitchFamily="34" charset="-122"/>
              </a:rPr>
              <a:t>协议</a:t>
            </a:r>
            <a:endParaRPr lang="zh-CN" altLang="en-US" sz="2400" b="1" dirty="0">
              <a:solidFill>
                <a:schemeClr val="bg1"/>
              </a:solidFill>
              <a:latin typeface="微软雅黑" pitchFamily="34" charset="-122"/>
              <a:ea typeface="微软雅黑" pitchFamily="34" charset="-122"/>
            </a:endParaRPr>
          </a:p>
        </p:txBody>
      </p:sp>
      <p:graphicFrame>
        <p:nvGraphicFramePr>
          <p:cNvPr id="2" name="图示 1"/>
          <p:cNvGraphicFramePr/>
          <p:nvPr>
            <p:extLst/>
          </p:nvPr>
        </p:nvGraphicFramePr>
        <p:xfrm>
          <a:off x="689500" y="1207367"/>
          <a:ext cx="3811477" cy="15891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6" name="图示 5"/>
          <p:cNvGraphicFramePr/>
          <p:nvPr>
            <p:extLst/>
          </p:nvPr>
        </p:nvGraphicFramePr>
        <p:xfrm>
          <a:off x="4702207" y="1207367"/>
          <a:ext cx="3811477" cy="15891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31602116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graphicEl>
                                              <a:dgm id="{7908BCB8-DE9B-4BF1-8D07-3A3FD24C7968}"/>
                                            </p:graphicEl>
                                          </p:spTgt>
                                        </p:tgtEl>
                                        <p:attrNameLst>
                                          <p:attrName>style.visibility</p:attrName>
                                        </p:attrNameLst>
                                      </p:cBhvr>
                                      <p:to>
                                        <p:strVal val="visible"/>
                                      </p:to>
                                    </p:set>
                                    <p:animEffect transition="in" filter="wipe(up)">
                                      <p:cBhvr>
                                        <p:cTn id="7" dur="1000"/>
                                        <p:tgtEl>
                                          <p:spTgt spid="2">
                                            <p:graphicEl>
                                              <a:dgm id="{7908BCB8-DE9B-4BF1-8D07-3A3FD24C7968}"/>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
                                            <p:graphicEl>
                                              <a:dgm id="{F381CC4E-322C-45E6-B7E7-4ED70FA8CF2E}"/>
                                            </p:graphicEl>
                                          </p:spTgt>
                                        </p:tgtEl>
                                        <p:attrNameLst>
                                          <p:attrName>style.visibility</p:attrName>
                                        </p:attrNameLst>
                                      </p:cBhvr>
                                      <p:to>
                                        <p:strVal val="visible"/>
                                      </p:to>
                                    </p:set>
                                    <p:animEffect transition="in" filter="wipe(up)">
                                      <p:cBhvr>
                                        <p:cTn id="12" dur="1000"/>
                                        <p:tgtEl>
                                          <p:spTgt spid="2">
                                            <p:graphicEl>
                                              <a:dgm id="{F381CC4E-322C-45E6-B7E7-4ED70FA8CF2E}"/>
                                            </p:graphicEl>
                                          </p:spTgt>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
                                            <p:graphicEl>
                                              <a:dgm id="{1F36E606-4D05-483A-959D-7AFAA3F99964}"/>
                                            </p:graphicEl>
                                          </p:spTgt>
                                        </p:tgtEl>
                                        <p:attrNameLst>
                                          <p:attrName>style.visibility</p:attrName>
                                        </p:attrNameLst>
                                      </p:cBhvr>
                                      <p:to>
                                        <p:strVal val="visible"/>
                                      </p:to>
                                    </p:set>
                                    <p:animEffect transition="in" filter="wipe(up)">
                                      <p:cBhvr>
                                        <p:cTn id="16" dur="1000"/>
                                        <p:tgtEl>
                                          <p:spTgt spid="2">
                                            <p:graphicEl>
                                              <a:dgm id="{1F36E606-4D05-483A-959D-7AFAA3F99964}"/>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
                                            <p:graphicEl>
                                              <a:dgm id="{49899EA7-F8C0-4BB7-A6AD-5F40B1731420}"/>
                                            </p:graphicEl>
                                          </p:spTgt>
                                        </p:tgtEl>
                                        <p:attrNameLst>
                                          <p:attrName>style.visibility</p:attrName>
                                        </p:attrNameLst>
                                      </p:cBhvr>
                                      <p:to>
                                        <p:strVal val="visible"/>
                                      </p:to>
                                    </p:set>
                                    <p:animEffect transition="in" filter="wipe(up)">
                                      <p:cBhvr>
                                        <p:cTn id="21" dur="1000"/>
                                        <p:tgtEl>
                                          <p:spTgt spid="2">
                                            <p:graphicEl>
                                              <a:dgm id="{49899EA7-F8C0-4BB7-A6AD-5F40B1731420}"/>
                                            </p:graphicEl>
                                          </p:spTgt>
                                        </p:tgtEl>
                                      </p:cBhvr>
                                    </p:animEffect>
                                  </p:childTnLst>
                                </p:cTn>
                              </p:par>
                            </p:childTnLst>
                          </p:cTn>
                        </p:par>
                        <p:par>
                          <p:cTn id="22" fill="hold">
                            <p:stCondLst>
                              <p:cond delay="1000"/>
                            </p:stCondLst>
                            <p:childTnLst>
                              <p:par>
                                <p:cTn id="23" presetID="22" presetClass="entr" presetSubtype="1" fill="hold" grpId="0" nodeType="afterEffect">
                                  <p:stCondLst>
                                    <p:cond delay="0"/>
                                  </p:stCondLst>
                                  <p:childTnLst>
                                    <p:set>
                                      <p:cBhvr>
                                        <p:cTn id="24" dur="1" fill="hold">
                                          <p:stCondLst>
                                            <p:cond delay="0"/>
                                          </p:stCondLst>
                                        </p:cTn>
                                        <p:tgtEl>
                                          <p:spTgt spid="2">
                                            <p:graphicEl>
                                              <a:dgm id="{07CD9CA8-8213-4B82-96DE-5A2E23AB39DC}"/>
                                            </p:graphicEl>
                                          </p:spTgt>
                                        </p:tgtEl>
                                        <p:attrNameLst>
                                          <p:attrName>style.visibility</p:attrName>
                                        </p:attrNameLst>
                                      </p:cBhvr>
                                      <p:to>
                                        <p:strVal val="visible"/>
                                      </p:to>
                                    </p:set>
                                    <p:animEffect transition="in" filter="wipe(up)">
                                      <p:cBhvr>
                                        <p:cTn id="25" dur="1000"/>
                                        <p:tgtEl>
                                          <p:spTgt spid="2">
                                            <p:graphicEl>
                                              <a:dgm id="{07CD9CA8-8213-4B82-96DE-5A2E23AB39DC}"/>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2">
                                            <p:graphicEl>
                                              <a:dgm id="{D772C529-9144-4F64-AC62-C41998E87A93}"/>
                                            </p:graphicEl>
                                          </p:spTgt>
                                        </p:tgtEl>
                                        <p:attrNameLst>
                                          <p:attrName>style.visibility</p:attrName>
                                        </p:attrNameLst>
                                      </p:cBhvr>
                                      <p:to>
                                        <p:strVal val="visible"/>
                                      </p:to>
                                    </p:set>
                                    <p:animEffect transition="in" filter="wipe(up)">
                                      <p:cBhvr>
                                        <p:cTn id="30" dur="1000"/>
                                        <p:tgtEl>
                                          <p:spTgt spid="2">
                                            <p:graphicEl>
                                              <a:dgm id="{D772C529-9144-4F64-AC62-C41998E87A93}"/>
                                            </p:graphicEl>
                                          </p:spTgt>
                                        </p:tgtEl>
                                      </p:cBhvr>
                                    </p:animEffect>
                                  </p:childTnLst>
                                </p:cTn>
                              </p:par>
                            </p:childTnLst>
                          </p:cTn>
                        </p:par>
                        <p:par>
                          <p:cTn id="31" fill="hold">
                            <p:stCondLst>
                              <p:cond delay="1000"/>
                            </p:stCondLst>
                            <p:childTnLst>
                              <p:par>
                                <p:cTn id="32" presetID="22" presetClass="entr" presetSubtype="1" fill="hold" grpId="0" nodeType="afterEffect">
                                  <p:stCondLst>
                                    <p:cond delay="0"/>
                                  </p:stCondLst>
                                  <p:childTnLst>
                                    <p:set>
                                      <p:cBhvr>
                                        <p:cTn id="33" dur="1" fill="hold">
                                          <p:stCondLst>
                                            <p:cond delay="0"/>
                                          </p:stCondLst>
                                        </p:cTn>
                                        <p:tgtEl>
                                          <p:spTgt spid="2">
                                            <p:graphicEl>
                                              <a:dgm id="{629FD194-4F20-42AB-A0D3-D63455B286FC}"/>
                                            </p:graphicEl>
                                          </p:spTgt>
                                        </p:tgtEl>
                                        <p:attrNameLst>
                                          <p:attrName>style.visibility</p:attrName>
                                        </p:attrNameLst>
                                      </p:cBhvr>
                                      <p:to>
                                        <p:strVal val="visible"/>
                                      </p:to>
                                    </p:set>
                                    <p:animEffect transition="in" filter="wipe(up)">
                                      <p:cBhvr>
                                        <p:cTn id="34" dur="1000"/>
                                        <p:tgtEl>
                                          <p:spTgt spid="2">
                                            <p:graphicEl>
                                              <a:dgm id="{629FD194-4F20-42AB-A0D3-D63455B286F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6">
                                            <p:graphicEl>
                                              <a:dgm id="{7908BCB8-DE9B-4BF1-8D07-3A3FD24C7968}"/>
                                            </p:graphicEl>
                                          </p:spTgt>
                                        </p:tgtEl>
                                        <p:attrNameLst>
                                          <p:attrName>style.visibility</p:attrName>
                                        </p:attrNameLst>
                                      </p:cBhvr>
                                      <p:to>
                                        <p:strVal val="visible"/>
                                      </p:to>
                                    </p:set>
                                    <p:animEffect transition="in" filter="wipe(up)">
                                      <p:cBhvr>
                                        <p:cTn id="39" dur="1000"/>
                                        <p:tgtEl>
                                          <p:spTgt spid="6">
                                            <p:graphicEl>
                                              <a:dgm id="{7908BCB8-DE9B-4BF1-8D07-3A3FD24C7968}"/>
                                            </p:graphicEl>
                                          </p:spTgt>
                                        </p:tgtEl>
                                      </p:cBhvr>
                                    </p:animEffect>
                                  </p:childTnLst>
                                </p:cTn>
                              </p:par>
                            </p:childTnLst>
                          </p:cTn>
                        </p:par>
                        <p:par>
                          <p:cTn id="40" fill="hold">
                            <p:stCondLst>
                              <p:cond delay="1000"/>
                            </p:stCondLst>
                            <p:childTnLst>
                              <p:par>
                                <p:cTn id="41" presetID="22" presetClass="entr" presetSubtype="1" fill="hold" grpId="0" nodeType="afterEffect">
                                  <p:stCondLst>
                                    <p:cond delay="0"/>
                                  </p:stCondLst>
                                  <p:childTnLst>
                                    <p:set>
                                      <p:cBhvr>
                                        <p:cTn id="42" dur="1" fill="hold">
                                          <p:stCondLst>
                                            <p:cond delay="0"/>
                                          </p:stCondLst>
                                        </p:cTn>
                                        <p:tgtEl>
                                          <p:spTgt spid="6">
                                            <p:graphicEl>
                                              <a:dgm id="{F381CC4E-322C-45E6-B7E7-4ED70FA8CF2E}"/>
                                            </p:graphicEl>
                                          </p:spTgt>
                                        </p:tgtEl>
                                        <p:attrNameLst>
                                          <p:attrName>style.visibility</p:attrName>
                                        </p:attrNameLst>
                                      </p:cBhvr>
                                      <p:to>
                                        <p:strVal val="visible"/>
                                      </p:to>
                                    </p:set>
                                    <p:animEffect transition="in" filter="wipe(up)">
                                      <p:cBhvr>
                                        <p:cTn id="43" dur="1000"/>
                                        <p:tgtEl>
                                          <p:spTgt spid="6">
                                            <p:graphicEl>
                                              <a:dgm id="{F381CC4E-322C-45E6-B7E7-4ED70FA8CF2E}"/>
                                            </p:graphicEl>
                                          </p:spTgt>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6">
                                            <p:graphicEl>
                                              <a:dgm id="{1F36E606-4D05-483A-959D-7AFAA3F99964}"/>
                                            </p:graphicEl>
                                          </p:spTgt>
                                        </p:tgtEl>
                                        <p:attrNameLst>
                                          <p:attrName>style.visibility</p:attrName>
                                        </p:attrNameLst>
                                      </p:cBhvr>
                                      <p:to>
                                        <p:strVal val="visible"/>
                                      </p:to>
                                    </p:set>
                                    <p:animEffect transition="in" filter="wipe(up)">
                                      <p:cBhvr>
                                        <p:cTn id="47" dur="1000"/>
                                        <p:tgtEl>
                                          <p:spTgt spid="6">
                                            <p:graphicEl>
                                              <a:dgm id="{1F36E606-4D05-483A-959D-7AFAA3F99964}"/>
                                            </p:graphicEl>
                                          </p:spTgt>
                                        </p:tgtEl>
                                      </p:cBhvr>
                                    </p:animEffect>
                                  </p:childTnLst>
                                </p:cTn>
                              </p:par>
                            </p:childTnLst>
                          </p:cTn>
                        </p:par>
                        <p:par>
                          <p:cTn id="48" fill="hold">
                            <p:stCondLst>
                              <p:cond delay="3000"/>
                            </p:stCondLst>
                            <p:childTnLst>
                              <p:par>
                                <p:cTn id="49" presetID="22" presetClass="entr" presetSubtype="1" fill="hold" grpId="0" nodeType="afterEffect">
                                  <p:stCondLst>
                                    <p:cond delay="0"/>
                                  </p:stCondLst>
                                  <p:childTnLst>
                                    <p:set>
                                      <p:cBhvr>
                                        <p:cTn id="50" dur="1" fill="hold">
                                          <p:stCondLst>
                                            <p:cond delay="0"/>
                                          </p:stCondLst>
                                        </p:cTn>
                                        <p:tgtEl>
                                          <p:spTgt spid="6">
                                            <p:graphicEl>
                                              <a:dgm id="{49899EA7-F8C0-4BB7-A6AD-5F40B1731420}"/>
                                            </p:graphicEl>
                                          </p:spTgt>
                                        </p:tgtEl>
                                        <p:attrNameLst>
                                          <p:attrName>style.visibility</p:attrName>
                                        </p:attrNameLst>
                                      </p:cBhvr>
                                      <p:to>
                                        <p:strVal val="visible"/>
                                      </p:to>
                                    </p:set>
                                    <p:animEffect transition="in" filter="wipe(up)">
                                      <p:cBhvr>
                                        <p:cTn id="51" dur="1000"/>
                                        <p:tgtEl>
                                          <p:spTgt spid="6">
                                            <p:graphicEl>
                                              <a:dgm id="{49899EA7-F8C0-4BB7-A6AD-5F40B1731420}"/>
                                            </p:graphicEl>
                                          </p:spTgt>
                                        </p:tgtEl>
                                      </p:cBhvr>
                                    </p:animEffect>
                                  </p:childTnLst>
                                </p:cTn>
                              </p:par>
                            </p:childTnLst>
                          </p:cTn>
                        </p:par>
                        <p:par>
                          <p:cTn id="52" fill="hold">
                            <p:stCondLst>
                              <p:cond delay="4000"/>
                            </p:stCondLst>
                            <p:childTnLst>
                              <p:par>
                                <p:cTn id="53" presetID="22" presetClass="entr" presetSubtype="1" fill="hold" grpId="0" nodeType="afterEffect">
                                  <p:stCondLst>
                                    <p:cond delay="0"/>
                                  </p:stCondLst>
                                  <p:childTnLst>
                                    <p:set>
                                      <p:cBhvr>
                                        <p:cTn id="54" dur="1" fill="hold">
                                          <p:stCondLst>
                                            <p:cond delay="0"/>
                                          </p:stCondLst>
                                        </p:cTn>
                                        <p:tgtEl>
                                          <p:spTgt spid="6">
                                            <p:graphicEl>
                                              <a:dgm id="{07CD9CA8-8213-4B82-96DE-5A2E23AB39DC}"/>
                                            </p:graphicEl>
                                          </p:spTgt>
                                        </p:tgtEl>
                                        <p:attrNameLst>
                                          <p:attrName>style.visibility</p:attrName>
                                        </p:attrNameLst>
                                      </p:cBhvr>
                                      <p:to>
                                        <p:strVal val="visible"/>
                                      </p:to>
                                    </p:set>
                                    <p:animEffect transition="in" filter="wipe(up)">
                                      <p:cBhvr>
                                        <p:cTn id="55" dur="1000"/>
                                        <p:tgtEl>
                                          <p:spTgt spid="6">
                                            <p:graphicEl>
                                              <a:dgm id="{07CD9CA8-8213-4B82-96DE-5A2E23AB39DC}"/>
                                            </p:graphicEl>
                                          </p:spTgt>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6">
                                            <p:graphicEl>
                                              <a:dgm id="{D772C529-9144-4F64-AC62-C41998E87A93}"/>
                                            </p:graphicEl>
                                          </p:spTgt>
                                        </p:tgtEl>
                                        <p:attrNameLst>
                                          <p:attrName>style.visibility</p:attrName>
                                        </p:attrNameLst>
                                      </p:cBhvr>
                                      <p:to>
                                        <p:strVal val="visible"/>
                                      </p:to>
                                    </p:set>
                                    <p:animEffect transition="in" filter="wipe(up)">
                                      <p:cBhvr>
                                        <p:cTn id="59" dur="1000"/>
                                        <p:tgtEl>
                                          <p:spTgt spid="6">
                                            <p:graphicEl>
                                              <a:dgm id="{D772C529-9144-4F64-AC62-C41998E87A93}"/>
                                            </p:graphicEl>
                                          </p:spTgt>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6">
                                            <p:graphicEl>
                                              <a:dgm id="{629FD194-4F20-42AB-A0D3-D63455B286FC}"/>
                                            </p:graphicEl>
                                          </p:spTgt>
                                        </p:tgtEl>
                                        <p:attrNameLst>
                                          <p:attrName>style.visibility</p:attrName>
                                        </p:attrNameLst>
                                      </p:cBhvr>
                                      <p:to>
                                        <p:strVal val="visible"/>
                                      </p:to>
                                    </p:set>
                                    <p:animEffect transition="in" filter="wipe(up)">
                                      <p:cBhvr>
                                        <p:cTn id="63" dur="1000"/>
                                        <p:tgtEl>
                                          <p:spTgt spid="6">
                                            <p:graphicEl>
                                              <a:dgm id="{629FD194-4F20-42AB-A0D3-D63455B286FC}"/>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Dgm bld="lvlOne"/>
        </p:bldSub>
      </p:bldGraphic>
      <p:bldGraphic spid="6" grpId="0" uiExpand="1">
        <p:bldSub>
          <a:bldDgm bld="lvlOne"/>
        </p:bldSub>
      </p:bldGraphic>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29135" y="138340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29135" y="1989829"/>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1"/>
          <p:cNvSpPr>
            <a:spLocks noChangeArrowheads="1"/>
          </p:cNvSpPr>
          <p:nvPr/>
        </p:nvSpPr>
        <p:spPr bwMode="auto">
          <a:xfrm>
            <a:off x="2629135" y="260736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6" name="Line 16"/>
          <p:cNvSpPr>
            <a:spLocks noChangeShapeType="1"/>
          </p:cNvSpPr>
          <p:nvPr/>
        </p:nvSpPr>
        <p:spPr bwMode="auto">
          <a:xfrm>
            <a:off x="3637198" y="1311966"/>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1129404"/>
            <a:ext cx="5472113"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6.1.1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域名</a:t>
            </a:r>
            <a:r>
              <a:rPr lang="zh-CN" altLang="en-US" sz="2000" b="1" dirty="0">
                <a:solidFill>
                  <a:schemeClr val="bg1"/>
                </a:solidFill>
                <a:latin typeface="微软雅黑" pitchFamily="34" charset="-122"/>
                <a:ea typeface="微软雅黑" pitchFamily="34" charset="-122"/>
              </a:rPr>
              <a:t>系统概述</a:t>
            </a:r>
          </a:p>
          <a:p>
            <a:pPr eaLnBrk="0" hangingPunct="0">
              <a:lnSpc>
                <a:spcPct val="200000"/>
              </a:lnSpc>
            </a:pPr>
            <a:r>
              <a:rPr lang="en-US" altLang="zh-CN" sz="2000" b="1" dirty="0">
                <a:solidFill>
                  <a:schemeClr val="bg1"/>
                </a:solidFill>
                <a:latin typeface="微软雅黑" pitchFamily="34" charset="-122"/>
                <a:ea typeface="微软雅黑" pitchFamily="34" charset="-122"/>
              </a:rPr>
              <a:t>6.1.2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互联网</a:t>
            </a:r>
            <a:r>
              <a:rPr lang="zh-CN" altLang="en-US" sz="2000" b="1" dirty="0">
                <a:solidFill>
                  <a:schemeClr val="bg1"/>
                </a:solidFill>
                <a:latin typeface="微软雅黑" pitchFamily="34" charset="-122"/>
                <a:ea typeface="微软雅黑" pitchFamily="34" charset="-122"/>
              </a:rPr>
              <a:t>的域名结构</a:t>
            </a:r>
          </a:p>
          <a:p>
            <a:pPr eaLnBrk="0" hangingPunct="0">
              <a:lnSpc>
                <a:spcPct val="200000"/>
              </a:lnSpc>
            </a:pPr>
            <a:r>
              <a:rPr lang="en-US" altLang="zh-CN" sz="2000" b="1" dirty="0">
                <a:solidFill>
                  <a:schemeClr val="bg1"/>
                </a:solidFill>
                <a:latin typeface="微软雅黑" pitchFamily="34" charset="-122"/>
                <a:ea typeface="微软雅黑" pitchFamily="34" charset="-122"/>
              </a:rPr>
              <a:t>6.1.3 </a:t>
            </a:r>
            <a:r>
              <a:rPr lang="en-US" altLang="zh-CN" sz="2000" b="1" dirty="0" smtClean="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域名服务器</a:t>
            </a:r>
          </a:p>
        </p:txBody>
      </p:sp>
      <p:sp>
        <p:nvSpPr>
          <p:cNvPr id="18" name="Rectangle 27"/>
          <p:cNvSpPr>
            <a:spLocks noChangeArrowheads="1"/>
          </p:cNvSpPr>
          <p:nvPr/>
        </p:nvSpPr>
        <p:spPr bwMode="auto">
          <a:xfrm>
            <a:off x="639730" y="1383404"/>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9" name="Rectangle 29"/>
          <p:cNvSpPr>
            <a:spLocks noChangeArrowheads="1"/>
          </p:cNvSpPr>
          <p:nvPr/>
        </p:nvSpPr>
        <p:spPr bwMode="auto">
          <a:xfrm>
            <a:off x="648619" y="1478336"/>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itchFamily="34" charset="-122"/>
                <a:ea typeface="微软雅黑" pitchFamily="34" charset="-122"/>
              </a:rPr>
              <a:t>6.1</a:t>
            </a:r>
          </a:p>
          <a:p>
            <a:pPr eaLnBrk="0" hangingPunct="0"/>
            <a:r>
              <a:rPr lang="zh-CN" altLang="en-US" sz="2000" b="1" dirty="0">
                <a:solidFill>
                  <a:schemeClr val="bg1"/>
                </a:solidFill>
                <a:latin typeface="微软雅黑" pitchFamily="34" charset="-122"/>
                <a:ea typeface="微软雅黑" pitchFamily="34" charset="-122"/>
              </a:rPr>
              <a:t>域名系统 </a:t>
            </a:r>
            <a:r>
              <a:rPr lang="en-US" altLang="zh-CN" sz="2000" b="1" dirty="0">
                <a:solidFill>
                  <a:schemeClr val="bg1"/>
                </a:solidFill>
                <a:latin typeface="微软雅黑" pitchFamily="34" charset="-122"/>
                <a:ea typeface="微软雅黑" pitchFamily="34" charset="-122"/>
              </a:rPr>
              <a:t>DNS</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438540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807867" y="2522620"/>
            <a:ext cx="7279689" cy="188957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556338" y="572536"/>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域名</a:t>
            </a:r>
            <a:r>
              <a:rPr lang="zh-CN" altLang="en-US" sz="2400" b="1" dirty="0">
                <a:solidFill>
                  <a:schemeClr val="bg1"/>
                </a:solidFill>
                <a:latin typeface="微软雅黑" pitchFamily="34" charset="-122"/>
                <a:ea typeface="微软雅黑" pitchFamily="34" charset="-122"/>
              </a:rPr>
              <a:t>系统概述</a:t>
            </a:r>
          </a:p>
        </p:txBody>
      </p:sp>
      <p:sp>
        <p:nvSpPr>
          <p:cNvPr id="15" name="Rectangle 8"/>
          <p:cNvSpPr>
            <a:spLocks noChangeArrowheads="1"/>
          </p:cNvSpPr>
          <p:nvPr/>
        </p:nvSpPr>
        <p:spPr bwMode="auto">
          <a:xfrm>
            <a:off x="545143" y="1003858"/>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域名</a:t>
            </a:r>
            <a:r>
              <a:rPr lang="zh-CN" altLang="en-US" sz="2000" b="1" dirty="0" smtClean="0">
                <a:solidFill>
                  <a:srgbClr val="C00000"/>
                </a:solidFill>
                <a:latin typeface="微软雅黑" pitchFamily="34" charset="-122"/>
                <a:ea typeface="微软雅黑" pitchFamily="34" charset="-122"/>
              </a:rPr>
              <a:t>系统 </a:t>
            </a:r>
            <a:r>
              <a:rPr lang="en-US" altLang="zh-CN" sz="2000" b="1" dirty="0" smtClean="0">
                <a:solidFill>
                  <a:srgbClr val="C00000"/>
                </a:solidFill>
                <a:latin typeface="微软雅黑" pitchFamily="34" charset="-122"/>
                <a:ea typeface="微软雅黑" pitchFamily="34" charset="-122"/>
              </a:rPr>
              <a:t>DNS </a:t>
            </a:r>
            <a:r>
              <a:rPr lang="en-US" altLang="zh-CN" sz="2000" b="1" dirty="0">
                <a:latin typeface="微软雅黑" pitchFamily="34" charset="-122"/>
                <a:ea typeface="微软雅黑" pitchFamily="34" charset="-122"/>
              </a:rPr>
              <a:t>(Domain Name System</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互联网使用的命名</a:t>
            </a:r>
            <a:r>
              <a:rPr lang="zh-CN" altLang="en-US" sz="2000" b="1" dirty="0" smtClean="0">
                <a:latin typeface="微软雅黑" pitchFamily="34" charset="-122"/>
                <a:ea typeface="微软雅黑" pitchFamily="34" charset="-122"/>
              </a:rPr>
              <a:t>系统。</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用来把人们使用</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主机</a:t>
            </a:r>
            <a:r>
              <a:rPr lang="zh-CN" altLang="en-US" sz="2000" b="1" dirty="0" smtClean="0">
                <a:solidFill>
                  <a:srgbClr val="0000FF"/>
                </a:solidFill>
                <a:latin typeface="微软雅黑" pitchFamily="34" charset="-122"/>
                <a:ea typeface="微软雅黑" pitchFamily="34" charset="-122"/>
              </a:rPr>
              <a:t>名字</a:t>
            </a:r>
            <a:r>
              <a:rPr lang="zh-CN" altLang="en-US" sz="2000" b="1" dirty="0">
                <a:solidFill>
                  <a:srgbClr val="0000FF"/>
                </a:solidFill>
                <a:latin typeface="微软雅黑" pitchFamily="34" charset="-122"/>
                <a:ea typeface="微软雅黑" pitchFamily="34" charset="-122"/>
              </a:rPr>
              <a:t>（域名）转换为 </a:t>
            </a:r>
            <a:r>
              <a:rPr lang="en-US" altLang="zh-CN" sz="2000" b="1" dirty="0">
                <a:solidFill>
                  <a:srgbClr val="0000FF"/>
                </a:solidFill>
                <a:latin typeface="微软雅黑" pitchFamily="34" charset="-122"/>
                <a:ea typeface="微软雅黑" pitchFamily="34" charset="-122"/>
              </a:rPr>
              <a:t>IP </a:t>
            </a:r>
            <a:r>
              <a:rPr lang="zh-CN" altLang="en-US" sz="2000" b="1" dirty="0" smtClean="0">
                <a:solidFill>
                  <a:srgbClr val="0000FF"/>
                </a:solidFill>
                <a:latin typeface="微软雅黑" pitchFamily="34" charset="-122"/>
                <a:ea typeface="微软雅黑" pitchFamily="34" charset="-122"/>
              </a:rPr>
              <a:t>地址。</a:t>
            </a:r>
            <a:endParaRPr lang="en-US" altLang="zh-CN" sz="2000" b="1" dirty="0">
              <a:solidFill>
                <a:srgbClr val="0000FF"/>
              </a:solidFill>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为互联网的各种网络应用提供了核心服务。</a:t>
            </a:r>
            <a:endParaRPr lang="en-US" altLang="zh-CN" sz="2000" b="1" dirty="0">
              <a:latin typeface="微软雅黑" pitchFamily="34" charset="-122"/>
              <a:ea typeface="微软雅黑" pitchFamily="34" charset="-122"/>
            </a:endParaRPr>
          </a:p>
        </p:txBody>
      </p:sp>
      <p:sp>
        <p:nvSpPr>
          <p:cNvPr id="8" name="矩形 7"/>
          <p:cNvSpPr/>
          <p:nvPr/>
        </p:nvSpPr>
        <p:spPr>
          <a:xfrm>
            <a:off x="2240258" y="2665944"/>
            <a:ext cx="2909323" cy="276999"/>
          </a:xfrm>
          <a:prstGeom prst="rect">
            <a:avLst/>
          </a:prstGeom>
        </p:spPr>
        <p:txBody>
          <a:bodyPr wrap="none">
            <a:spAutoFit/>
          </a:bodyPr>
          <a:lstStyle/>
          <a:p>
            <a:pPr algn="ctr"/>
            <a:r>
              <a:rPr lang="zh-CN" altLang="en-US" sz="1200" b="1" dirty="0" smtClean="0">
                <a:latin typeface="微软雅黑" pitchFamily="34" charset="-122"/>
                <a:ea typeface="微软雅黑" pitchFamily="34" charset="-122"/>
              </a:rPr>
              <a:t>查询 </a:t>
            </a:r>
            <a:r>
              <a:rPr lang="en-US" altLang="zh-CN" sz="1200" b="1" dirty="0" smtClean="0">
                <a:latin typeface="微软雅黑" pitchFamily="34" charset="-122"/>
                <a:ea typeface="微软雅黑" pitchFamily="34" charset="-122"/>
              </a:rPr>
              <a:t>www.myschool.edu </a:t>
            </a:r>
            <a:r>
              <a:rPr lang="zh-CN" altLang="en-US" sz="1200" b="1" dirty="0" smtClean="0">
                <a:latin typeface="微软雅黑" pitchFamily="34" charset="-122"/>
                <a:ea typeface="微软雅黑" pitchFamily="34" charset="-122"/>
              </a:rPr>
              <a:t>的 </a:t>
            </a:r>
            <a:r>
              <a:rPr lang="en-US" altLang="zh-CN" sz="1200" b="1" dirty="0" smtClean="0">
                <a:latin typeface="微软雅黑" pitchFamily="34" charset="-122"/>
                <a:ea typeface="微软雅黑" pitchFamily="34" charset="-122"/>
              </a:rPr>
              <a:t>IP </a:t>
            </a:r>
            <a:r>
              <a:rPr lang="zh-CN" altLang="en-US" sz="1200" b="1" dirty="0" smtClean="0">
                <a:latin typeface="微软雅黑" pitchFamily="34" charset="-122"/>
                <a:ea typeface="微软雅黑" pitchFamily="34" charset="-122"/>
              </a:rPr>
              <a:t>地址</a:t>
            </a:r>
            <a:endParaRPr lang="zh-CN" altLang="en-US" sz="1200" dirty="0"/>
          </a:p>
        </p:txBody>
      </p:sp>
      <p:sp>
        <p:nvSpPr>
          <p:cNvPr id="16" name="矩形 15"/>
          <p:cNvSpPr/>
          <p:nvPr/>
        </p:nvSpPr>
        <p:spPr>
          <a:xfrm>
            <a:off x="5148740" y="4008251"/>
            <a:ext cx="1165704" cy="276999"/>
          </a:xfrm>
          <a:prstGeom prst="rect">
            <a:avLst/>
          </a:prstGeom>
        </p:spPr>
        <p:txBody>
          <a:bodyPr wrap="none">
            <a:spAutoFit/>
          </a:bodyPr>
          <a:lstStyle/>
          <a:p>
            <a:pPr algn="ctr"/>
            <a:r>
              <a:rPr lang="en-US" altLang="zh-CN" sz="1200" b="1" dirty="0" smtClean="0">
                <a:latin typeface="微软雅黑" pitchFamily="34" charset="-122"/>
                <a:ea typeface="微软雅黑" pitchFamily="34" charset="-122"/>
              </a:rPr>
              <a:t>211.44.55.66</a:t>
            </a:r>
            <a:endParaRPr lang="zh-CN" altLang="en-US" sz="1200" dirty="0"/>
          </a:p>
        </p:txBody>
      </p:sp>
      <p:sp>
        <p:nvSpPr>
          <p:cNvPr id="10" name="云形 9"/>
          <p:cNvSpPr/>
          <p:nvPr/>
        </p:nvSpPr>
        <p:spPr>
          <a:xfrm>
            <a:off x="5318528" y="2683699"/>
            <a:ext cx="1787626" cy="1219649"/>
          </a:xfrm>
          <a:prstGeom prst="cloud">
            <a:avLst/>
          </a:prstGeom>
          <a:solidFill>
            <a:schemeClr val="bg1"/>
          </a:solidFill>
          <a:ln w="12700">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18" name="图片 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44615" y="3640097"/>
            <a:ext cx="297954" cy="417136"/>
          </a:xfrm>
          <a:prstGeom prst="rect">
            <a:avLst/>
          </a:prstGeom>
        </p:spPr>
      </p:pic>
      <p:sp>
        <p:nvSpPr>
          <p:cNvPr id="3" name="圆角矩形 2"/>
          <p:cNvSpPr/>
          <p:nvPr/>
        </p:nvSpPr>
        <p:spPr>
          <a:xfrm>
            <a:off x="5145486" y="2759941"/>
            <a:ext cx="773085" cy="406121"/>
          </a:xfrm>
          <a:prstGeom prst="roundRect">
            <a:avLst/>
          </a:prstGeom>
          <a:solidFill>
            <a:srgbClr val="00B0F0"/>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latin typeface="微软雅黑" panose="020B0503020204020204" pitchFamily="34" charset="-122"/>
                <a:ea typeface="微软雅黑" panose="020B0503020204020204" pitchFamily="34" charset="-122"/>
              </a:rPr>
              <a:t>DNS</a:t>
            </a:r>
            <a:endParaRPr lang="zh-CN" altLang="en-US" sz="1600" b="1" dirty="0">
              <a:latin typeface="微软雅黑" panose="020B0503020204020204" pitchFamily="34" charset="-122"/>
              <a:ea typeface="微软雅黑" panose="020B0503020204020204" pitchFamily="34" charset="-122"/>
            </a:endParaRPr>
          </a:p>
        </p:txBody>
      </p:sp>
      <p:sp>
        <p:nvSpPr>
          <p:cNvPr id="23" name="矩形 22"/>
          <p:cNvSpPr/>
          <p:nvPr/>
        </p:nvSpPr>
        <p:spPr>
          <a:xfrm>
            <a:off x="2764650" y="2969044"/>
            <a:ext cx="1919116" cy="276999"/>
          </a:xfrm>
          <a:prstGeom prst="rect">
            <a:avLst/>
          </a:prstGeom>
        </p:spPr>
        <p:txBody>
          <a:bodyPr wrap="none">
            <a:spAutoFit/>
          </a:bodyPr>
          <a:lstStyle/>
          <a:p>
            <a:pPr algn="ctr"/>
            <a:r>
              <a:rPr lang="en-US" altLang="zh-CN" sz="1200" b="1" dirty="0" smtClean="0">
                <a:latin typeface="微软雅黑" pitchFamily="34" charset="-122"/>
                <a:ea typeface="微软雅黑" pitchFamily="34" charset="-122"/>
              </a:rPr>
              <a:t>IP </a:t>
            </a:r>
            <a:r>
              <a:rPr lang="zh-CN" altLang="en-US" sz="1200" b="1" dirty="0" smtClean="0">
                <a:latin typeface="微软雅黑" pitchFamily="34" charset="-122"/>
                <a:ea typeface="微软雅黑" pitchFamily="34" charset="-122"/>
              </a:rPr>
              <a:t>地址为 </a:t>
            </a:r>
            <a:r>
              <a:rPr lang="en-US" altLang="zh-CN" sz="1200" b="1" dirty="0" smtClean="0">
                <a:latin typeface="微软雅黑" pitchFamily="34" charset="-122"/>
                <a:ea typeface="微软雅黑" pitchFamily="34" charset="-122"/>
              </a:rPr>
              <a:t>211.44.55.66</a:t>
            </a:r>
            <a:endParaRPr lang="zh-CN" altLang="en-US" sz="1200" dirty="0"/>
          </a:p>
        </p:txBody>
      </p:sp>
      <p:grpSp>
        <p:nvGrpSpPr>
          <p:cNvPr id="26" name="组合 25"/>
          <p:cNvGrpSpPr/>
          <p:nvPr/>
        </p:nvGrpSpPr>
        <p:grpSpPr>
          <a:xfrm>
            <a:off x="1696121" y="2698471"/>
            <a:ext cx="640530" cy="640531"/>
            <a:chOff x="1749336" y="2998394"/>
            <a:chExt cx="640530" cy="640531"/>
          </a:xfrm>
        </p:grpSpPr>
        <p:pic>
          <p:nvPicPr>
            <p:cNvPr id="19"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49336" y="2998394"/>
              <a:ext cx="640530" cy="640531"/>
            </a:xfrm>
            <a:prstGeom prst="rect">
              <a:avLst/>
            </a:prstGeom>
            <a:noFill/>
            <a:extLst>
              <a:ext uri="{909E8E84-426E-40DD-AFC4-6F175D3DCCD1}">
                <a14:hiddenFill xmlns:a14="http://schemas.microsoft.com/office/drawing/2010/main">
                  <a:solidFill>
                    <a:srgbClr val="FFFFFF"/>
                  </a:solidFill>
                </a14:hiddenFill>
              </a:ext>
            </a:extLst>
          </p:spPr>
        </p:pic>
        <p:sp>
          <p:nvSpPr>
            <p:cNvPr id="24" name="文本框 23"/>
            <p:cNvSpPr txBox="1"/>
            <p:nvPr/>
          </p:nvSpPr>
          <p:spPr>
            <a:xfrm>
              <a:off x="1763811" y="3117525"/>
              <a:ext cx="602363" cy="261610"/>
            </a:xfrm>
            <a:prstGeom prst="rect">
              <a:avLst/>
            </a:prstGeom>
            <a:noFill/>
          </p:spPr>
          <p:txBody>
            <a:bodyPr wrap="square" rtlCol="0">
              <a:spAutoFit/>
            </a:bodyPr>
            <a:lstStyle/>
            <a:p>
              <a:pPr algn="ctr"/>
              <a:r>
                <a:rPr lang="zh-CN" altLang="en-US" sz="1100" b="1" dirty="0" smtClean="0">
                  <a:solidFill>
                    <a:srgbClr val="FFFF00"/>
                  </a:solidFill>
                  <a:latin typeface="微软雅黑" panose="020B0503020204020204" pitchFamily="34" charset="-122"/>
                  <a:ea typeface="微软雅黑" panose="020B0503020204020204" pitchFamily="34" charset="-122"/>
                </a:rPr>
                <a:t>浏览器</a:t>
              </a:r>
              <a:endParaRPr lang="zh-CN" altLang="en-US" sz="1100" b="1" dirty="0">
                <a:solidFill>
                  <a:srgbClr val="FFFF00"/>
                </a:solidFill>
                <a:latin typeface="微软雅黑" panose="020B0503020204020204" pitchFamily="34" charset="-122"/>
                <a:ea typeface="微软雅黑" panose="020B0503020204020204" pitchFamily="34" charset="-122"/>
              </a:endParaRPr>
            </a:p>
          </p:txBody>
        </p:sp>
      </p:grpSp>
      <p:sp>
        <p:nvSpPr>
          <p:cNvPr id="25" name="矩形 24"/>
          <p:cNvSpPr/>
          <p:nvPr/>
        </p:nvSpPr>
        <p:spPr>
          <a:xfrm>
            <a:off x="5869485" y="3154596"/>
            <a:ext cx="723275" cy="307777"/>
          </a:xfrm>
          <a:prstGeom prst="rect">
            <a:avLst/>
          </a:prstGeom>
        </p:spPr>
        <p:txBody>
          <a:bodyPr wrap="none">
            <a:spAutoFit/>
          </a:bodyPr>
          <a:lstStyle/>
          <a:p>
            <a:r>
              <a:rPr lang="zh-CN" altLang="en-US" sz="1400" b="1" dirty="0">
                <a:solidFill>
                  <a:srgbClr val="000066"/>
                </a:solidFill>
                <a:latin typeface="微软雅黑" panose="020B0503020204020204" pitchFamily="34" charset="-122"/>
                <a:ea typeface="微软雅黑" panose="020B0503020204020204" pitchFamily="34" charset="-122"/>
              </a:rPr>
              <a:t>互联网</a:t>
            </a:r>
          </a:p>
        </p:txBody>
      </p:sp>
      <p:cxnSp>
        <p:nvCxnSpPr>
          <p:cNvPr id="27" name="直接箭头连接符 26"/>
          <p:cNvCxnSpPr/>
          <p:nvPr/>
        </p:nvCxnSpPr>
        <p:spPr>
          <a:xfrm>
            <a:off x="2312959" y="3146458"/>
            <a:ext cx="3192435" cy="756890"/>
          </a:xfrm>
          <a:prstGeom prst="straightConnector1">
            <a:avLst/>
          </a:prstGeom>
          <a:ln w="19050">
            <a:solidFill>
              <a:schemeClr val="tx1"/>
            </a:solidFill>
            <a:prstDash val="sysDash"/>
            <a:tailEnd type="triangle"/>
          </a:ln>
        </p:spPr>
        <p:style>
          <a:lnRef idx="1">
            <a:schemeClr val="dk1"/>
          </a:lnRef>
          <a:fillRef idx="0">
            <a:schemeClr val="dk1"/>
          </a:fillRef>
          <a:effectRef idx="0">
            <a:schemeClr val="dk1"/>
          </a:effectRef>
          <a:fontRef idx="minor">
            <a:schemeClr val="tx1"/>
          </a:fontRef>
        </p:style>
      </p:cxnSp>
      <p:pic>
        <p:nvPicPr>
          <p:cNvPr id="33" name="图片 3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20787" y="3286709"/>
            <a:ext cx="297954" cy="417136"/>
          </a:xfrm>
          <a:prstGeom prst="rect">
            <a:avLst/>
          </a:prstGeom>
        </p:spPr>
      </p:pic>
      <p:sp>
        <p:nvSpPr>
          <p:cNvPr id="34" name="矩形 33"/>
          <p:cNvSpPr/>
          <p:nvPr/>
        </p:nvSpPr>
        <p:spPr>
          <a:xfrm>
            <a:off x="6639405" y="3648022"/>
            <a:ext cx="1165704" cy="276999"/>
          </a:xfrm>
          <a:prstGeom prst="rect">
            <a:avLst/>
          </a:prstGeom>
        </p:spPr>
        <p:txBody>
          <a:bodyPr wrap="none">
            <a:spAutoFit/>
          </a:bodyPr>
          <a:lstStyle/>
          <a:p>
            <a:pPr algn="ctr"/>
            <a:r>
              <a:rPr lang="en-US" altLang="zh-CN" sz="1200" b="1" dirty="0" smtClean="0">
                <a:latin typeface="微软雅黑" pitchFamily="34" charset="-122"/>
                <a:ea typeface="微软雅黑" pitchFamily="34" charset="-122"/>
              </a:rPr>
              <a:t>200.11.22.33</a:t>
            </a:r>
            <a:endParaRPr lang="zh-CN" altLang="en-US" sz="1200" dirty="0"/>
          </a:p>
        </p:txBody>
      </p:sp>
      <p:sp>
        <p:nvSpPr>
          <p:cNvPr id="35" name="矩形 34"/>
          <p:cNvSpPr/>
          <p:nvPr/>
        </p:nvSpPr>
        <p:spPr>
          <a:xfrm>
            <a:off x="4909155" y="4181705"/>
            <a:ext cx="1691039" cy="276999"/>
          </a:xfrm>
          <a:prstGeom prst="rect">
            <a:avLst/>
          </a:prstGeom>
        </p:spPr>
        <p:txBody>
          <a:bodyPr wrap="none">
            <a:spAutoFit/>
          </a:bodyPr>
          <a:lstStyle/>
          <a:p>
            <a:pPr algn="ctr"/>
            <a:r>
              <a:rPr lang="en-US" altLang="zh-CN" sz="1200" b="1" dirty="0" smtClean="0">
                <a:latin typeface="微软雅黑" pitchFamily="34" charset="-122"/>
                <a:ea typeface="微软雅黑" pitchFamily="34" charset="-122"/>
              </a:rPr>
              <a:t>www.myschool.edu</a:t>
            </a:r>
            <a:endParaRPr lang="zh-CN" altLang="en-US" sz="1200" dirty="0"/>
          </a:p>
        </p:txBody>
      </p:sp>
      <p:cxnSp>
        <p:nvCxnSpPr>
          <p:cNvPr id="5" name="直接箭头连接符 4"/>
          <p:cNvCxnSpPr/>
          <p:nvPr/>
        </p:nvCxnSpPr>
        <p:spPr>
          <a:xfrm>
            <a:off x="2284350" y="2920745"/>
            <a:ext cx="2861961" cy="0"/>
          </a:xfrm>
          <a:prstGeom prst="straightConnector1">
            <a:avLst/>
          </a:prstGeom>
          <a:ln w="19050">
            <a:solidFill>
              <a:srgbClr val="CC00CC"/>
            </a:solidFill>
            <a:tailEnd type="triangle"/>
          </a:ln>
        </p:spPr>
        <p:style>
          <a:lnRef idx="1">
            <a:schemeClr val="dk1"/>
          </a:lnRef>
          <a:fillRef idx="0">
            <a:schemeClr val="dk1"/>
          </a:fillRef>
          <a:effectRef idx="0">
            <a:schemeClr val="dk1"/>
          </a:effectRef>
          <a:fontRef idx="minor">
            <a:schemeClr val="tx1"/>
          </a:fontRef>
        </p:style>
      </p:cxnSp>
      <p:cxnSp>
        <p:nvCxnSpPr>
          <p:cNvPr id="9" name="直接箭头连接符 8"/>
          <p:cNvCxnSpPr/>
          <p:nvPr/>
        </p:nvCxnSpPr>
        <p:spPr>
          <a:xfrm>
            <a:off x="2284350" y="3008065"/>
            <a:ext cx="2861961" cy="0"/>
          </a:xfrm>
          <a:prstGeom prst="straightConnector1">
            <a:avLst/>
          </a:prstGeom>
          <a:ln w="19050">
            <a:solidFill>
              <a:srgbClr val="000099"/>
            </a:solidFill>
            <a:headEnd type="triangle" w="med" len="med"/>
            <a:tailEnd type="none" w="med" len="med"/>
          </a:ln>
        </p:spPr>
        <p:style>
          <a:lnRef idx="1">
            <a:schemeClr val="dk1"/>
          </a:lnRef>
          <a:fillRef idx="0">
            <a:schemeClr val="dk1"/>
          </a:fillRef>
          <a:effectRef idx="0">
            <a:schemeClr val="dk1"/>
          </a:effectRef>
          <a:fontRef idx="minor">
            <a:schemeClr val="tx1"/>
          </a:fontRef>
        </p:style>
      </p:cxnSp>
    </p:spTree>
    <p:custDataLst>
      <p:tags r:id="rId1"/>
    </p:custDataLst>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right)">
                                      <p:cBhvr>
                                        <p:cTn id="14" dur="500"/>
                                        <p:tgtEl>
                                          <p:spTgt spid="9"/>
                                        </p:tgtEl>
                                      </p:cBhvr>
                                    </p:animEffect>
                                  </p:childTnLst>
                                </p:cTn>
                              </p:par>
                              <p:par>
                                <p:cTn id="15" presetID="22" presetClass="entr" presetSubtype="2"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wipe(right)">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wipe(left)">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xEl>
                                              <p:pRg st="3" end="3"/>
                                            </p:txEl>
                                          </p:spTgt>
                                        </p:tgtEl>
                                        <p:attrNameLst>
                                          <p:attrName>style.visibility</p:attrName>
                                        </p:attrNameLst>
                                      </p:cBhvr>
                                      <p:to>
                                        <p:strVal val="visible"/>
                                      </p:to>
                                    </p:set>
                                    <p:animEffect transition="in" filter="fade">
                                      <p:cBhvr>
                                        <p:cTn id="27" dur="500"/>
                                        <p:tgtEl>
                                          <p:spTgt spid="1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2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556338" y="572536"/>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域名</a:t>
            </a:r>
            <a:r>
              <a:rPr lang="zh-CN" altLang="en-US" sz="2400" b="1" dirty="0">
                <a:solidFill>
                  <a:schemeClr val="bg1"/>
                </a:solidFill>
                <a:latin typeface="微软雅黑" pitchFamily="34" charset="-122"/>
                <a:ea typeface="微软雅黑" pitchFamily="34" charset="-122"/>
              </a:rPr>
              <a:t>系统概述</a:t>
            </a:r>
          </a:p>
        </p:txBody>
      </p:sp>
      <p:sp>
        <p:nvSpPr>
          <p:cNvPr id="15" name="Rectangle 8"/>
          <p:cNvSpPr>
            <a:spLocks noChangeArrowheads="1"/>
          </p:cNvSpPr>
          <p:nvPr/>
        </p:nvSpPr>
        <p:spPr bwMode="auto">
          <a:xfrm>
            <a:off x="545143" y="1003858"/>
            <a:ext cx="8053711" cy="826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如何维护互联网</a:t>
            </a:r>
            <a:r>
              <a:rPr lang="zh-CN" altLang="en-US" sz="2000" b="1" dirty="0">
                <a:latin typeface="微软雅黑" pitchFamily="34" charset="-122"/>
                <a:ea typeface="微软雅黑" pitchFamily="34" charset="-122"/>
              </a:rPr>
              <a:t>中的海量域名呢</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域名</a:t>
            </a:r>
            <a:r>
              <a:rPr lang="zh-CN" altLang="en-US" sz="2000" b="1" dirty="0" smtClean="0">
                <a:latin typeface="微软雅黑" pitchFamily="34" charset="-122"/>
                <a:ea typeface="微软雅黑" pitchFamily="34" charset="-122"/>
              </a:rPr>
              <a:t>采用层次</a:t>
            </a:r>
            <a:r>
              <a:rPr lang="zh-CN" altLang="en-US" sz="2000" b="1" dirty="0">
                <a:solidFill>
                  <a:srgbClr val="C00000"/>
                </a:solidFill>
                <a:latin typeface="微软雅黑" pitchFamily="34" charset="-122"/>
                <a:ea typeface="微软雅黑" pitchFamily="34" charset="-122"/>
              </a:rPr>
              <a:t>树状结构</a:t>
            </a:r>
            <a:r>
              <a:rPr lang="zh-CN" altLang="en-US" sz="2000" b="1" dirty="0">
                <a:latin typeface="微软雅黑" pitchFamily="34" charset="-122"/>
                <a:ea typeface="微软雅黑" pitchFamily="34" charset="-122"/>
              </a:rPr>
              <a:t>的命名</a:t>
            </a:r>
            <a:r>
              <a:rPr lang="zh-CN" altLang="en-US" sz="2000" b="1" dirty="0" smtClean="0">
                <a:latin typeface="微软雅黑" pitchFamily="34" charset="-122"/>
                <a:ea typeface="微软雅黑" pitchFamily="34" charset="-122"/>
              </a:rPr>
              <a:t>方法：</a:t>
            </a:r>
            <a:r>
              <a:rPr lang="en-US" altLang="zh-CN" sz="2000" b="1" dirty="0">
                <a:latin typeface="微软雅黑" pitchFamily="34" charset="-122"/>
                <a:ea typeface="微软雅黑" pitchFamily="34" charset="-122"/>
              </a:rPr>
              <a:t>www.myschool.edu</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grpSp>
        <p:nvGrpSpPr>
          <p:cNvPr id="2" name="组合 1"/>
          <p:cNvGrpSpPr/>
          <p:nvPr/>
        </p:nvGrpSpPr>
        <p:grpSpPr>
          <a:xfrm>
            <a:off x="6746578" y="2139045"/>
            <a:ext cx="2236132" cy="1862998"/>
            <a:chOff x="4235802" y="1499417"/>
            <a:chExt cx="2236132" cy="1862998"/>
          </a:xfrm>
        </p:grpSpPr>
        <p:sp>
          <p:nvSpPr>
            <p:cNvPr id="5" name="Rectangle 122"/>
            <p:cNvSpPr>
              <a:spLocks noChangeArrowheads="1"/>
            </p:cNvSpPr>
            <p:nvPr/>
          </p:nvSpPr>
          <p:spPr bwMode="auto">
            <a:xfrm>
              <a:off x="4774221" y="1499417"/>
              <a:ext cx="409790" cy="324229"/>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rgbClr val="0000FF"/>
                  </a:solidFill>
                  <a:latin typeface="微软雅黑" pitchFamily="34" charset="-122"/>
                  <a:ea typeface="微软雅黑" pitchFamily="34" charset="-122"/>
                </a:rPr>
                <a:t>根</a:t>
              </a:r>
            </a:p>
          </p:txBody>
        </p:sp>
        <p:sp>
          <p:nvSpPr>
            <p:cNvPr id="19" name="Text Box 105"/>
            <p:cNvSpPr txBox="1">
              <a:spLocks noChangeArrowheads="1"/>
            </p:cNvSpPr>
            <p:nvPr/>
          </p:nvSpPr>
          <p:spPr bwMode="auto">
            <a:xfrm>
              <a:off x="5796446" y="2634960"/>
              <a:ext cx="357612" cy="307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25" name="Text Box 124"/>
            <p:cNvSpPr txBox="1">
              <a:spLocks noChangeArrowheads="1"/>
            </p:cNvSpPr>
            <p:nvPr/>
          </p:nvSpPr>
          <p:spPr bwMode="auto">
            <a:xfrm>
              <a:off x="4868740" y="2687209"/>
              <a:ext cx="10502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smtClean="0">
                  <a:solidFill>
                    <a:schemeClr val="tx1"/>
                  </a:solidFill>
                  <a:latin typeface="微软雅黑" pitchFamily="34" charset="-122"/>
                  <a:ea typeface="微软雅黑" pitchFamily="34" charset="-122"/>
                </a:rPr>
                <a:t>myschool</a:t>
              </a:r>
              <a:endParaRPr kumimoji="1" lang="en-US" altLang="zh-CN" sz="1400" b="1" dirty="0">
                <a:solidFill>
                  <a:schemeClr val="tx1"/>
                </a:solidFill>
                <a:latin typeface="微软雅黑" pitchFamily="34" charset="-122"/>
                <a:ea typeface="微软雅黑" pitchFamily="34" charset="-122"/>
              </a:endParaRPr>
            </a:p>
          </p:txBody>
        </p:sp>
        <p:sp>
          <p:nvSpPr>
            <p:cNvPr id="28" name="Line 142"/>
            <p:cNvSpPr>
              <a:spLocks noChangeShapeType="1"/>
            </p:cNvSpPr>
            <p:nvPr/>
          </p:nvSpPr>
          <p:spPr bwMode="auto">
            <a:xfrm>
              <a:off x="5304275" y="2420677"/>
              <a:ext cx="81165" cy="3242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143"/>
            <p:cNvSpPr>
              <a:spLocks noChangeShapeType="1"/>
            </p:cNvSpPr>
            <p:nvPr/>
          </p:nvSpPr>
          <p:spPr bwMode="auto">
            <a:xfrm>
              <a:off x="5304275" y="2433600"/>
              <a:ext cx="557632" cy="291127"/>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144"/>
            <p:cNvSpPr>
              <a:spLocks noChangeShapeType="1"/>
            </p:cNvSpPr>
            <p:nvPr/>
          </p:nvSpPr>
          <p:spPr bwMode="auto">
            <a:xfrm flipV="1">
              <a:off x="4893212" y="2445345"/>
              <a:ext cx="411062" cy="27938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5" name="Group 162"/>
            <p:cNvGrpSpPr>
              <a:grpSpLocks/>
            </p:cNvGrpSpPr>
            <p:nvPr/>
          </p:nvGrpSpPr>
          <p:grpSpPr bwMode="auto">
            <a:xfrm>
              <a:off x="4566141" y="2421987"/>
              <a:ext cx="341067" cy="118649"/>
              <a:chOff x="2875" y="1143"/>
              <a:chExt cx="330" cy="132"/>
            </a:xfrm>
          </p:grpSpPr>
          <p:sp>
            <p:nvSpPr>
              <p:cNvPr id="56" name="Line 16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Line 16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8" name="Line 16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Line 16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8" name="Group 177"/>
            <p:cNvGrpSpPr>
              <a:grpSpLocks/>
            </p:cNvGrpSpPr>
            <p:nvPr/>
          </p:nvGrpSpPr>
          <p:grpSpPr bwMode="auto">
            <a:xfrm>
              <a:off x="5642797" y="2421987"/>
              <a:ext cx="341067" cy="118649"/>
              <a:chOff x="2875" y="1143"/>
              <a:chExt cx="330" cy="132"/>
            </a:xfrm>
          </p:grpSpPr>
          <p:sp>
            <p:nvSpPr>
              <p:cNvPr id="44" name="Line 17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5" name="Line 17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6" name="Line 18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7" name="Line 18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73" name="Text Box 150"/>
            <p:cNvSpPr txBox="1">
              <a:spLocks noChangeArrowheads="1"/>
            </p:cNvSpPr>
            <p:nvPr/>
          </p:nvSpPr>
          <p:spPr bwMode="auto">
            <a:xfrm>
              <a:off x="5268039" y="3054633"/>
              <a:ext cx="641410" cy="30778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www</a:t>
              </a:r>
            </a:p>
          </p:txBody>
        </p:sp>
        <p:sp>
          <p:nvSpPr>
            <p:cNvPr id="74" name="Text Box 152"/>
            <p:cNvSpPr txBox="1">
              <a:spLocks noChangeArrowheads="1"/>
            </p:cNvSpPr>
            <p:nvPr/>
          </p:nvSpPr>
          <p:spPr bwMode="auto">
            <a:xfrm>
              <a:off x="4632836" y="263460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76" name="Line 154"/>
            <p:cNvSpPr>
              <a:spLocks noChangeShapeType="1"/>
            </p:cNvSpPr>
            <p:nvPr/>
          </p:nvSpPr>
          <p:spPr bwMode="auto">
            <a:xfrm>
              <a:off x="5469063" y="2955536"/>
              <a:ext cx="130465" cy="186024"/>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0" name="Text Box 107"/>
            <p:cNvSpPr txBox="1">
              <a:spLocks noChangeArrowheads="1"/>
            </p:cNvSpPr>
            <p:nvPr/>
          </p:nvSpPr>
          <p:spPr bwMode="auto">
            <a:xfrm>
              <a:off x="4521599" y="2165889"/>
              <a:ext cx="5725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smtClean="0">
                  <a:solidFill>
                    <a:schemeClr val="tx1"/>
                  </a:solidFill>
                  <a:latin typeface="微软雅黑" pitchFamily="34" charset="-122"/>
                  <a:ea typeface="微软雅黑" pitchFamily="34" charset="-122"/>
                </a:rPr>
                <a:t>com</a:t>
              </a:r>
              <a:endParaRPr kumimoji="1" lang="en-US" altLang="zh-CN" sz="1400" b="1" dirty="0">
                <a:solidFill>
                  <a:schemeClr val="tx1"/>
                </a:solidFill>
                <a:latin typeface="微软雅黑" pitchFamily="34" charset="-122"/>
                <a:ea typeface="微软雅黑" pitchFamily="34" charset="-122"/>
              </a:endParaRPr>
            </a:p>
          </p:txBody>
        </p:sp>
        <p:sp>
          <p:nvSpPr>
            <p:cNvPr id="102" name="Text Box 109"/>
            <p:cNvSpPr txBox="1">
              <a:spLocks noChangeArrowheads="1"/>
            </p:cNvSpPr>
            <p:nvPr/>
          </p:nvSpPr>
          <p:spPr bwMode="auto">
            <a:xfrm>
              <a:off x="5053565" y="2165889"/>
              <a:ext cx="524328"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103" name="Text Box 110"/>
            <p:cNvSpPr txBox="1">
              <a:spLocks noChangeArrowheads="1"/>
            </p:cNvSpPr>
            <p:nvPr/>
          </p:nvSpPr>
          <p:spPr bwMode="auto">
            <a:xfrm>
              <a:off x="5599528" y="2165889"/>
              <a:ext cx="525600"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gov</a:t>
              </a:r>
            </a:p>
          </p:txBody>
        </p:sp>
        <p:sp>
          <p:nvSpPr>
            <p:cNvPr id="110" name="Line 134"/>
            <p:cNvSpPr>
              <a:spLocks noChangeShapeType="1"/>
            </p:cNvSpPr>
            <p:nvPr/>
          </p:nvSpPr>
          <p:spPr bwMode="auto">
            <a:xfrm flipH="1">
              <a:off x="4427415" y="1791531"/>
              <a:ext cx="559882" cy="4361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Line 135"/>
            <p:cNvSpPr>
              <a:spLocks noChangeShapeType="1"/>
            </p:cNvSpPr>
            <p:nvPr/>
          </p:nvSpPr>
          <p:spPr bwMode="auto">
            <a:xfrm flipH="1">
              <a:off x="4785027" y="1800409"/>
              <a:ext cx="187090" cy="42727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2" name="Line 136"/>
            <p:cNvSpPr>
              <a:spLocks noChangeShapeType="1"/>
            </p:cNvSpPr>
            <p:nvPr/>
          </p:nvSpPr>
          <p:spPr bwMode="auto">
            <a:xfrm>
              <a:off x="4987388" y="1809942"/>
              <a:ext cx="316887" cy="42878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137"/>
            <p:cNvSpPr>
              <a:spLocks noChangeShapeType="1"/>
            </p:cNvSpPr>
            <p:nvPr/>
          </p:nvSpPr>
          <p:spPr bwMode="auto">
            <a:xfrm>
              <a:off x="4984843" y="1800544"/>
              <a:ext cx="866668" cy="4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38"/>
            <p:cNvSpPr>
              <a:spLocks noChangeShapeType="1"/>
            </p:cNvSpPr>
            <p:nvPr/>
          </p:nvSpPr>
          <p:spPr bwMode="auto">
            <a:xfrm>
              <a:off x="5001387" y="1792321"/>
              <a:ext cx="1259701" cy="43935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Text Box 141"/>
            <p:cNvSpPr txBox="1">
              <a:spLocks noChangeArrowheads="1"/>
            </p:cNvSpPr>
            <p:nvPr/>
          </p:nvSpPr>
          <p:spPr bwMode="auto">
            <a:xfrm>
              <a:off x="423580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118" name="Text Box 207"/>
            <p:cNvSpPr txBox="1">
              <a:spLocks noChangeArrowheads="1"/>
            </p:cNvSpPr>
            <p:nvPr/>
          </p:nvSpPr>
          <p:spPr bwMode="auto">
            <a:xfrm>
              <a:off x="611432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grpSp>
      <p:sp>
        <p:nvSpPr>
          <p:cNvPr id="119" name="Rectangle 8"/>
          <p:cNvSpPr>
            <a:spLocks noChangeArrowheads="1"/>
          </p:cNvSpPr>
          <p:nvPr/>
        </p:nvSpPr>
        <p:spPr bwMode="auto">
          <a:xfrm>
            <a:off x="545143" y="2041610"/>
            <a:ext cx="5786583"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DNS </a:t>
            </a:r>
            <a:r>
              <a:rPr lang="zh-CN" altLang="en-US" sz="2000" b="1" dirty="0" smtClean="0">
                <a:latin typeface="微软雅黑" pitchFamily="34" charset="-122"/>
                <a:ea typeface="微软雅黑" pitchFamily="34" charset="-122"/>
              </a:rPr>
              <a:t>是一个联机</a:t>
            </a:r>
            <a:r>
              <a:rPr lang="zh-CN" altLang="en-US" sz="2000" b="1" dirty="0">
                <a:solidFill>
                  <a:srgbClr val="C00000"/>
                </a:solidFill>
                <a:latin typeface="微软雅黑" pitchFamily="34" charset="-122"/>
                <a:ea typeface="微软雅黑" pitchFamily="34" charset="-122"/>
              </a:rPr>
              <a:t>分布式数据库系统</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a:t>
            </a:r>
            <a:endParaRPr lang="en-US" altLang="zh-CN" sz="2000" b="1" dirty="0" smtClean="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域名</a:t>
            </a:r>
            <a:r>
              <a:rPr lang="zh-CN" altLang="en-US" sz="2000" b="1" dirty="0" smtClean="0">
                <a:latin typeface="微软雅黑" pitchFamily="34" charset="-122"/>
                <a:ea typeface="微软雅黑" pitchFamily="34" charset="-122"/>
              </a:rPr>
              <a:t>到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地址</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解析是</a:t>
            </a:r>
            <a:r>
              <a:rPr lang="zh-CN" altLang="en-US" sz="2000" b="1" dirty="0">
                <a:latin typeface="微软雅黑" pitchFamily="34" charset="-122"/>
                <a:ea typeface="微软雅黑" pitchFamily="34" charset="-122"/>
              </a:rPr>
              <a:t>由若干个</a:t>
            </a:r>
            <a:r>
              <a:rPr lang="zh-CN" altLang="en-US" sz="2000" b="1" dirty="0">
                <a:solidFill>
                  <a:srgbClr val="C00000"/>
                </a:solidFill>
                <a:latin typeface="微软雅黑" pitchFamily="34" charset="-122"/>
                <a:ea typeface="微软雅黑" pitchFamily="34" charset="-122"/>
              </a:rPr>
              <a:t>域名服务器程序</a:t>
            </a:r>
            <a:r>
              <a:rPr lang="zh-CN" altLang="en-US" sz="2000" b="1" dirty="0">
                <a:latin typeface="微软雅黑" pitchFamily="34" charset="-122"/>
                <a:ea typeface="微软雅黑" pitchFamily="34" charset="-122"/>
              </a:rPr>
              <a:t>共同</a:t>
            </a:r>
            <a:r>
              <a:rPr lang="zh-CN" altLang="en-US" sz="2000" b="1" dirty="0" smtClean="0">
                <a:latin typeface="微软雅黑" pitchFamily="34" charset="-122"/>
                <a:ea typeface="微软雅黑" pitchFamily="34" charset="-122"/>
              </a:rPr>
              <a:t>完成。</a:t>
            </a:r>
            <a:endParaRPr lang="en-US" altLang="zh-CN" sz="2000" b="1" dirty="0" smtClean="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域名</a:t>
            </a:r>
            <a:r>
              <a:rPr lang="zh-CN" altLang="en-US" sz="2000" b="1" dirty="0">
                <a:latin typeface="微软雅黑" pitchFamily="34" charset="-122"/>
                <a:ea typeface="微软雅黑" pitchFamily="34" charset="-122"/>
              </a:rPr>
              <a:t>服务器程序在专设</a:t>
            </a:r>
            <a:r>
              <a:rPr lang="zh-CN" altLang="en-US" sz="2000" b="1" dirty="0" smtClean="0">
                <a:latin typeface="微软雅黑" pitchFamily="34" charset="-122"/>
                <a:ea typeface="微软雅黑" pitchFamily="34" charset="-122"/>
              </a:rPr>
              <a:t>的节点上</a:t>
            </a:r>
            <a:r>
              <a:rPr lang="zh-CN" altLang="en-US" sz="2000" b="1" dirty="0">
                <a:latin typeface="微软雅黑" pitchFamily="34" charset="-122"/>
                <a:ea typeface="微软雅黑" pitchFamily="34" charset="-122"/>
              </a:rPr>
              <a:t>运行，运行该程序的机器称为</a:t>
            </a:r>
            <a:r>
              <a:rPr lang="zh-CN" altLang="en-US" sz="2000" b="1" dirty="0">
                <a:solidFill>
                  <a:srgbClr val="C00000"/>
                </a:solidFill>
                <a:latin typeface="微软雅黑" pitchFamily="34" charset="-122"/>
                <a:ea typeface="微软雅黑" pitchFamily="34" charset="-122"/>
              </a:rPr>
              <a:t>域名服务器。</a:t>
            </a:r>
            <a:r>
              <a:rPr lang="zh-CN" altLang="en-US" sz="2000" b="1" dirty="0">
                <a:latin typeface="微软雅黑" pitchFamily="34" charset="-122"/>
                <a:ea typeface="微软雅黑" pitchFamily="34" charset="-122"/>
              </a:rPr>
              <a:t> </a:t>
            </a:r>
          </a:p>
        </p:txBody>
      </p:sp>
      <p:sp>
        <p:nvSpPr>
          <p:cNvPr id="37" name="任意多边形 36"/>
          <p:cNvSpPr/>
          <p:nvPr/>
        </p:nvSpPr>
        <p:spPr>
          <a:xfrm>
            <a:off x="888204" y="1463016"/>
            <a:ext cx="4039396" cy="1000258"/>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defTabSz="622300">
              <a:spcBef>
                <a:spcPct val="0"/>
              </a:spcBef>
              <a:spcAft>
                <a:spcPts val="0"/>
              </a:spcAft>
            </a:pPr>
            <a:r>
              <a:rPr lang="zh-CN" altLang="en-US" b="1" kern="1200" dirty="0" smtClean="0">
                <a:solidFill>
                  <a:srgbClr val="FF0000"/>
                </a:solidFill>
                <a:latin typeface="微软雅黑" panose="020B0503020204020204" pitchFamily="34" charset="-122"/>
                <a:ea typeface="微软雅黑" panose="020B0503020204020204" pitchFamily="34" charset="-122"/>
              </a:rPr>
              <a:t> 全世界使用</a:t>
            </a:r>
            <a:r>
              <a:rPr lang="en-US" altLang="zh-CN" b="1" kern="1200" dirty="0" smtClean="0">
                <a:solidFill>
                  <a:srgbClr val="FF0000"/>
                </a:solidFill>
                <a:latin typeface="微软雅黑" panose="020B0503020204020204" pitchFamily="34" charset="-122"/>
                <a:ea typeface="微软雅黑" panose="020B0503020204020204" pitchFamily="34" charset="-122"/>
              </a:rPr>
              <a:t>1</a:t>
            </a:r>
            <a:r>
              <a:rPr lang="zh-CN" altLang="en-US" b="1" kern="1200" dirty="0" smtClean="0">
                <a:solidFill>
                  <a:srgbClr val="FF0000"/>
                </a:solidFill>
                <a:latin typeface="微软雅黑" panose="020B0503020204020204" pitchFamily="34" charset="-122"/>
                <a:ea typeface="微软雅黑" panose="020B0503020204020204" pitchFamily="34" charset="-122"/>
              </a:rPr>
              <a:t>台域名服务器？</a:t>
            </a:r>
            <a:endParaRPr lang="en-US" altLang="zh-CN" b="1" kern="1200" dirty="0" smtClean="0">
              <a:solidFill>
                <a:srgbClr val="FF0000"/>
              </a:solidFill>
              <a:latin typeface="微软雅黑" panose="020B0503020204020204" pitchFamily="34" charset="-122"/>
              <a:ea typeface="微软雅黑" panose="020B0503020204020204" pitchFamily="34" charset="-122"/>
            </a:endParaRPr>
          </a:p>
          <a:p>
            <a:pPr lvl="0" defTabSz="622300">
              <a:lnSpc>
                <a:spcPct val="120000"/>
              </a:lnSpc>
              <a:spcBef>
                <a:spcPct val="0"/>
              </a:spcBef>
              <a:spcAft>
                <a:spcPts val="0"/>
              </a:spcAft>
            </a:pPr>
            <a:r>
              <a:rPr lang="zh-CN" altLang="en-US" b="1" dirty="0" smtClean="0">
                <a:solidFill>
                  <a:srgbClr val="FF0000"/>
                </a:solidFill>
                <a:latin typeface="微软雅黑" panose="020B0503020204020204" pitchFamily="34" charset="-122"/>
                <a:ea typeface="微软雅黑" panose="020B0503020204020204" pitchFamily="34" charset="-122"/>
              </a:rPr>
              <a:t>   </a:t>
            </a:r>
            <a:r>
              <a:rPr lang="zh-CN" altLang="en-US" sz="1600" b="1" dirty="0" smtClean="0">
                <a:solidFill>
                  <a:srgbClr val="FF0000"/>
                </a:solidFill>
                <a:latin typeface="微软雅黑" panose="020B0503020204020204" pitchFamily="34" charset="-122"/>
                <a:ea typeface="微软雅黑" panose="020B0503020204020204" pitchFamily="34" charset="-122"/>
              </a:rPr>
              <a:t>性能</a:t>
            </a:r>
            <a:r>
              <a:rPr lang="zh-CN" altLang="en-US" sz="1600" b="1" dirty="0">
                <a:solidFill>
                  <a:srgbClr val="FF0000"/>
                </a:solidFill>
                <a:latin typeface="微软雅黑" panose="020B0503020204020204" pitchFamily="34" charset="-122"/>
                <a:ea typeface="微软雅黑" panose="020B0503020204020204" pitchFamily="34" charset="-122"/>
              </a:rPr>
              <a:t>瓶颈</a:t>
            </a:r>
            <a:r>
              <a:rPr lang="zh-CN" altLang="en-US" sz="1600" b="1" dirty="0" smtClean="0">
                <a:solidFill>
                  <a:srgbClr val="FF0000"/>
                </a:solidFill>
                <a:latin typeface="微软雅黑" panose="020B0503020204020204" pitchFamily="34" charset="-122"/>
                <a:ea typeface="微软雅黑" panose="020B0503020204020204" pitchFamily="34" charset="-122"/>
              </a:rPr>
              <a:t>问题</a:t>
            </a:r>
            <a:endParaRPr lang="en-US" altLang="zh-CN" sz="1600" b="1" dirty="0" smtClean="0">
              <a:solidFill>
                <a:srgbClr val="FF0000"/>
              </a:solidFill>
              <a:latin typeface="微软雅黑" panose="020B0503020204020204" pitchFamily="34" charset="-122"/>
              <a:ea typeface="微软雅黑" panose="020B0503020204020204" pitchFamily="34" charset="-122"/>
            </a:endParaRPr>
          </a:p>
          <a:p>
            <a:pPr lvl="0" defTabSz="622300">
              <a:lnSpc>
                <a:spcPct val="120000"/>
              </a:lnSpc>
              <a:spcBef>
                <a:spcPct val="0"/>
              </a:spcBef>
              <a:spcAft>
                <a:spcPts val="0"/>
              </a:spcAft>
            </a:pPr>
            <a:r>
              <a:rPr lang="zh-CN" altLang="en-US" sz="1600" b="1" kern="1200" dirty="0" smtClean="0">
                <a:solidFill>
                  <a:srgbClr val="FF0000"/>
                </a:solidFill>
                <a:latin typeface="微软雅黑" panose="020B0503020204020204" pitchFamily="34" charset="-122"/>
                <a:ea typeface="微软雅黑" panose="020B0503020204020204" pitchFamily="34" charset="-122"/>
              </a:rPr>
              <a:t>   单点故障问题</a:t>
            </a:r>
            <a:endParaRPr lang="zh-CN" altLang="en-US" sz="1600" b="1" kern="1200" dirty="0">
              <a:solidFill>
                <a:srgbClr val="FF0000"/>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40240448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7">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7">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37"/>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37">
                                            <p:txEl>
                                              <p:pRg st="0" end="0"/>
                                            </p:txEl>
                                          </p:spTgt>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37">
                                            <p:txEl>
                                              <p:pRg st="1" end="1"/>
                                            </p:txEl>
                                          </p:spTgt>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37">
                                            <p:txEl>
                                              <p:pRg st="2" end="2"/>
                                            </p:txEl>
                                          </p:spTgt>
                                        </p:tgtEl>
                                        <p:attrNameLst>
                                          <p:attrName>style.visibility</p:attrName>
                                        </p:attrNameLst>
                                      </p:cBhvr>
                                      <p:to>
                                        <p:strVal val="hidden"/>
                                      </p:to>
                                    </p:set>
                                  </p:childTnLst>
                                </p:cTn>
                              </p:par>
                            </p:childTnLst>
                          </p:cTn>
                        </p:par>
                        <p:par>
                          <p:cTn id="25" fill="hold">
                            <p:stCondLst>
                              <p:cond delay="0"/>
                            </p:stCondLst>
                            <p:childTnLst>
                              <p:par>
                                <p:cTn id="26" presetID="10" presetClass="entr" presetSubtype="0" fill="hold" nodeType="afterEffect">
                                  <p:stCondLst>
                                    <p:cond delay="0"/>
                                  </p:stCondLst>
                                  <p:childTnLst>
                                    <p:set>
                                      <p:cBhvr>
                                        <p:cTn id="27" dur="1" fill="hold">
                                          <p:stCondLst>
                                            <p:cond delay="0"/>
                                          </p:stCondLst>
                                        </p:cTn>
                                        <p:tgtEl>
                                          <p:spTgt spid="15">
                                            <p:txEl>
                                              <p:pRg st="1" end="1"/>
                                            </p:txEl>
                                          </p:spTgt>
                                        </p:tgtEl>
                                        <p:attrNameLst>
                                          <p:attrName>style.visibility</p:attrName>
                                        </p:attrNameLst>
                                      </p:cBhvr>
                                      <p:to>
                                        <p:strVal val="visible"/>
                                      </p:to>
                                    </p:set>
                                    <p:animEffect transition="in" filter="fade">
                                      <p:cBhvr>
                                        <p:cTn id="28" dur="500"/>
                                        <p:tgtEl>
                                          <p:spTgt spid="15">
                                            <p:txEl>
                                              <p:pRg st="1" end="1"/>
                                            </p:txEl>
                                          </p:spTgt>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wipe(up)">
                                      <p:cBhvr>
                                        <p:cTn id="32" dur="10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119">
                                            <p:txEl>
                                              <p:pRg st="0" end="0"/>
                                            </p:txEl>
                                          </p:spTgt>
                                        </p:tgtEl>
                                        <p:attrNameLst>
                                          <p:attrName>style.visibility</p:attrName>
                                        </p:attrNameLst>
                                      </p:cBhvr>
                                      <p:to>
                                        <p:strVal val="visible"/>
                                      </p:to>
                                    </p:set>
                                    <p:animEffect transition="in" filter="wipe(up)">
                                      <p:cBhvr>
                                        <p:cTn id="37" dur="1000"/>
                                        <p:tgtEl>
                                          <p:spTgt spid="119">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19">
                                            <p:txEl>
                                              <p:pRg st="1" end="1"/>
                                            </p:txEl>
                                          </p:spTgt>
                                        </p:tgtEl>
                                        <p:attrNameLst>
                                          <p:attrName>style.visibility</p:attrName>
                                        </p:attrNameLst>
                                      </p:cBhvr>
                                      <p:to>
                                        <p:strVal val="visible"/>
                                      </p:to>
                                    </p:set>
                                    <p:animEffect transition="in" filter="wipe(up)">
                                      <p:cBhvr>
                                        <p:cTn id="42" dur="1000"/>
                                        <p:tgtEl>
                                          <p:spTgt spid="119">
                                            <p:txEl>
                                              <p:pRg st="1" end="1"/>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19">
                                            <p:txEl>
                                              <p:pRg st="2" end="2"/>
                                            </p:txEl>
                                          </p:spTgt>
                                        </p:tgtEl>
                                        <p:attrNameLst>
                                          <p:attrName>style.visibility</p:attrName>
                                        </p:attrNameLst>
                                      </p:cBhvr>
                                      <p:to>
                                        <p:strVal val="visible"/>
                                      </p:to>
                                    </p:set>
                                    <p:animEffect transition="in" filter="wipe(up)">
                                      <p:cBhvr>
                                        <p:cTn id="47" dur="1000"/>
                                        <p:tgtEl>
                                          <p:spTgt spid="11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uiExpand="1" build="p"/>
      <p:bldP spid="37" grpId="0" animBg="1"/>
      <p:bldP spid="37"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1008"/>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463099" y="577797"/>
            <a:ext cx="22365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域名</a:t>
            </a:r>
            <a:r>
              <a:rPr lang="zh-CN" altLang="en-US" sz="2000" b="1" dirty="0">
                <a:solidFill>
                  <a:schemeClr val="bg1"/>
                </a:solidFill>
                <a:latin typeface="微软雅黑" pitchFamily="34" charset="-122"/>
                <a:ea typeface="微软雅黑" pitchFamily="34" charset="-122"/>
              </a:rPr>
              <a:t>解析过程要点</a:t>
            </a:r>
            <a:endParaRPr lang="zh-CN" altLang="en-US" sz="2000" b="1" dirty="0" smtClean="0">
              <a:solidFill>
                <a:schemeClr val="bg1"/>
              </a:solidFill>
              <a:latin typeface="微软雅黑" pitchFamily="34" charset="-122"/>
              <a:ea typeface="微软雅黑" pitchFamily="34" charset="-122"/>
            </a:endParaRPr>
          </a:p>
        </p:txBody>
      </p:sp>
      <p:sp>
        <p:nvSpPr>
          <p:cNvPr id="7" name="圆角矩形 6"/>
          <p:cNvSpPr/>
          <p:nvPr/>
        </p:nvSpPr>
        <p:spPr>
          <a:xfrm>
            <a:off x="807867" y="1008671"/>
            <a:ext cx="7279689" cy="34923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文本框 7"/>
          <p:cNvSpPr txBox="1"/>
          <p:nvPr/>
        </p:nvSpPr>
        <p:spPr>
          <a:xfrm>
            <a:off x="2714425" y="1321580"/>
            <a:ext cx="504892" cy="276999"/>
          </a:xfrm>
          <a:prstGeom prst="rect">
            <a:avLst/>
          </a:prstGeom>
          <a:noFill/>
          <a:ln>
            <a:noFill/>
          </a:ln>
        </p:spPr>
        <p:txBody>
          <a:bodyPr wrap="square" rtlCol="0" anchor="ctr">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rPr>
              <a:t>客户</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grpSp>
        <p:nvGrpSpPr>
          <p:cNvPr id="21" name="Group 233"/>
          <p:cNvGrpSpPr>
            <a:grpSpLocks/>
          </p:cNvGrpSpPr>
          <p:nvPr/>
        </p:nvGrpSpPr>
        <p:grpSpPr bwMode="auto">
          <a:xfrm>
            <a:off x="5317724" y="3466759"/>
            <a:ext cx="488272" cy="699122"/>
            <a:chOff x="1441" y="3172"/>
            <a:chExt cx="355" cy="585"/>
          </a:xfrm>
        </p:grpSpPr>
        <p:sp>
          <p:nvSpPr>
            <p:cNvPr id="22" name="Freeform 234"/>
            <p:cNvSpPr>
              <a:spLocks/>
            </p:cNvSpPr>
            <p:nvPr/>
          </p:nvSpPr>
          <p:spPr bwMode="auto">
            <a:xfrm>
              <a:off x="1441" y="3172"/>
              <a:ext cx="355" cy="585"/>
            </a:xfrm>
            <a:custGeom>
              <a:avLst/>
              <a:gdLst>
                <a:gd name="T0" fmla="*/ 355 w 7809"/>
                <a:gd name="T1" fmla="*/ 0 h 12860"/>
                <a:gd name="T2" fmla="*/ 355 w 7809"/>
                <a:gd name="T3" fmla="*/ 0 h 12860"/>
                <a:gd name="T4" fmla="*/ 355 w 7809"/>
                <a:gd name="T5" fmla="*/ 0 h 12860"/>
                <a:gd name="T6" fmla="*/ 355 w 7809"/>
                <a:gd name="T7" fmla="*/ 466 h 12860"/>
                <a:gd name="T8" fmla="*/ 235 w 7809"/>
                <a:gd name="T9" fmla="*/ 585 h 12860"/>
                <a:gd name="T10" fmla="*/ 0 w 7809"/>
                <a:gd name="T11" fmla="*/ 585 h 12860"/>
                <a:gd name="T12" fmla="*/ 0 w 7809"/>
                <a:gd name="T13" fmla="*/ 119 h 12860"/>
                <a:gd name="T14" fmla="*/ 119 w 7809"/>
                <a:gd name="T15" fmla="*/ 0 h 12860"/>
                <a:gd name="T16" fmla="*/ 355 w 7809"/>
                <a:gd name="T17" fmla="*/ 0 h 128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09" h="12860">
                  <a:moveTo>
                    <a:pt x="7809" y="0"/>
                  </a:moveTo>
                  <a:lnTo>
                    <a:pt x="7809" y="0"/>
                  </a:lnTo>
                  <a:lnTo>
                    <a:pt x="7809" y="10235"/>
                  </a:lnTo>
                  <a:lnTo>
                    <a:pt x="5174" y="12860"/>
                  </a:lnTo>
                  <a:lnTo>
                    <a:pt x="0" y="12860"/>
                  </a:lnTo>
                  <a:lnTo>
                    <a:pt x="0" y="2625"/>
                  </a:lnTo>
                  <a:lnTo>
                    <a:pt x="2628" y="1"/>
                  </a:lnTo>
                  <a:lnTo>
                    <a:pt x="7809" y="0"/>
                  </a:lnTo>
                  <a:close/>
                </a:path>
              </a:pathLst>
            </a:custGeom>
            <a:solidFill>
              <a:srgbClr val="5781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 name="Rectangle 235"/>
            <p:cNvSpPr>
              <a:spLocks noChangeArrowheads="1"/>
            </p:cNvSpPr>
            <p:nvPr/>
          </p:nvSpPr>
          <p:spPr bwMode="auto">
            <a:xfrm>
              <a:off x="1441" y="3292"/>
              <a:ext cx="235" cy="465"/>
            </a:xfrm>
            <a:prstGeom prst="rect">
              <a:avLst/>
            </a:prstGeom>
            <a:solidFill>
              <a:srgbClr val="5781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4" name="Freeform 236"/>
            <p:cNvSpPr>
              <a:spLocks/>
            </p:cNvSpPr>
            <p:nvPr/>
          </p:nvSpPr>
          <p:spPr bwMode="auto">
            <a:xfrm>
              <a:off x="1676" y="3172"/>
              <a:ext cx="120" cy="585"/>
            </a:xfrm>
            <a:custGeom>
              <a:avLst/>
              <a:gdLst>
                <a:gd name="T0" fmla="*/ 120 w 2635"/>
                <a:gd name="T1" fmla="*/ 0 h 12860"/>
                <a:gd name="T2" fmla="*/ 0 w 2635"/>
                <a:gd name="T3" fmla="*/ 119 h 12860"/>
                <a:gd name="T4" fmla="*/ 0 w 2635"/>
                <a:gd name="T5" fmla="*/ 585 h 12860"/>
                <a:gd name="T6" fmla="*/ 120 w 2635"/>
                <a:gd name="T7" fmla="*/ 466 h 12860"/>
                <a:gd name="T8" fmla="*/ 120 w 2635"/>
                <a:gd name="T9" fmla="*/ 0 h 128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35" h="12860">
                  <a:moveTo>
                    <a:pt x="2635" y="0"/>
                  </a:moveTo>
                  <a:lnTo>
                    <a:pt x="0" y="2625"/>
                  </a:lnTo>
                  <a:lnTo>
                    <a:pt x="0" y="12860"/>
                  </a:lnTo>
                  <a:lnTo>
                    <a:pt x="2635" y="10235"/>
                  </a:lnTo>
                  <a:lnTo>
                    <a:pt x="2635" y="0"/>
                  </a:lnTo>
                  <a:close/>
                </a:path>
              </a:pathLst>
            </a:custGeom>
            <a:solidFill>
              <a:srgbClr val="325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 name="Freeform 237"/>
            <p:cNvSpPr>
              <a:spLocks/>
            </p:cNvSpPr>
            <p:nvPr/>
          </p:nvSpPr>
          <p:spPr bwMode="auto">
            <a:xfrm>
              <a:off x="1441" y="3172"/>
              <a:ext cx="355" cy="120"/>
            </a:xfrm>
            <a:custGeom>
              <a:avLst/>
              <a:gdLst>
                <a:gd name="T0" fmla="*/ 0 w 7809"/>
                <a:gd name="T1" fmla="*/ 120 h 2625"/>
                <a:gd name="T2" fmla="*/ 235 w 7809"/>
                <a:gd name="T3" fmla="*/ 120 h 2625"/>
                <a:gd name="T4" fmla="*/ 355 w 7809"/>
                <a:gd name="T5" fmla="*/ 0 h 2625"/>
                <a:gd name="T6" fmla="*/ 119 w 7809"/>
                <a:gd name="T7" fmla="*/ 0 h 2625"/>
                <a:gd name="T8" fmla="*/ 0 w 7809"/>
                <a:gd name="T9" fmla="*/ 120 h 2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09" h="2625">
                  <a:moveTo>
                    <a:pt x="0" y="2625"/>
                  </a:moveTo>
                  <a:lnTo>
                    <a:pt x="5174" y="2625"/>
                  </a:lnTo>
                  <a:lnTo>
                    <a:pt x="7809" y="0"/>
                  </a:lnTo>
                  <a:lnTo>
                    <a:pt x="2628" y="1"/>
                  </a:lnTo>
                  <a:lnTo>
                    <a:pt x="0" y="2625"/>
                  </a:lnTo>
                  <a:close/>
                </a:path>
              </a:pathLst>
            </a:custGeom>
            <a:solidFill>
              <a:srgbClr val="83A7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 name="Rectangle 238"/>
            <p:cNvSpPr>
              <a:spLocks noChangeArrowheads="1"/>
            </p:cNvSpPr>
            <p:nvPr/>
          </p:nvSpPr>
          <p:spPr bwMode="auto">
            <a:xfrm>
              <a:off x="1515" y="3304"/>
              <a:ext cx="154" cy="57"/>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7" name="Rectangle 239"/>
            <p:cNvSpPr>
              <a:spLocks noChangeArrowheads="1"/>
            </p:cNvSpPr>
            <p:nvPr/>
          </p:nvSpPr>
          <p:spPr bwMode="auto">
            <a:xfrm>
              <a:off x="1530" y="3317"/>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8" name="Rectangle 240"/>
            <p:cNvSpPr>
              <a:spLocks noChangeArrowheads="1"/>
            </p:cNvSpPr>
            <p:nvPr/>
          </p:nvSpPr>
          <p:spPr bwMode="auto">
            <a:xfrm>
              <a:off x="1530" y="3317"/>
              <a:ext cx="127" cy="12"/>
            </a:xfrm>
            <a:prstGeom prst="rect">
              <a:avLst/>
            </a:prstGeom>
            <a:noFill/>
            <a:ln w="3175">
              <a:solidFill>
                <a:srgbClr val="1F1A17"/>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9" name="Rectangle 241"/>
            <p:cNvSpPr>
              <a:spLocks noChangeArrowheads="1"/>
            </p:cNvSpPr>
            <p:nvPr/>
          </p:nvSpPr>
          <p:spPr bwMode="auto">
            <a:xfrm>
              <a:off x="1515" y="3373"/>
              <a:ext cx="154" cy="116"/>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0" name="Rectangle 242"/>
            <p:cNvSpPr>
              <a:spLocks noChangeArrowheads="1"/>
            </p:cNvSpPr>
            <p:nvPr/>
          </p:nvSpPr>
          <p:spPr bwMode="auto">
            <a:xfrm>
              <a:off x="1515" y="3499"/>
              <a:ext cx="154" cy="231"/>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1" name="Rectangle 243"/>
            <p:cNvSpPr>
              <a:spLocks noChangeArrowheads="1"/>
            </p:cNvSpPr>
            <p:nvPr/>
          </p:nvSpPr>
          <p:spPr bwMode="auto">
            <a:xfrm>
              <a:off x="1530" y="3400"/>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2" name="Rectangle 244"/>
            <p:cNvSpPr>
              <a:spLocks noChangeArrowheads="1"/>
            </p:cNvSpPr>
            <p:nvPr/>
          </p:nvSpPr>
          <p:spPr bwMode="auto">
            <a:xfrm>
              <a:off x="1530" y="3400"/>
              <a:ext cx="127" cy="12"/>
            </a:xfrm>
            <a:prstGeom prst="rect">
              <a:avLst/>
            </a:prstGeom>
            <a:noFill/>
            <a:ln w="3175">
              <a:solidFill>
                <a:srgbClr val="1F1A17"/>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33" name="矩形 32"/>
          <p:cNvSpPr/>
          <p:nvPr/>
        </p:nvSpPr>
        <p:spPr>
          <a:xfrm>
            <a:off x="5665317" y="3664804"/>
            <a:ext cx="815070" cy="276999"/>
          </a:xfrm>
          <a:prstGeom prst="rect">
            <a:avLst/>
          </a:prstGeom>
        </p:spPr>
        <p:txBody>
          <a:bodyPr wrap="square">
            <a:spAutoFit/>
          </a:bodyPr>
          <a:lstStyle/>
          <a:p>
            <a:pPr algn="ctr"/>
            <a:r>
              <a:rPr lang="zh-CN" altLang="en-US" sz="1200" b="1" dirty="0" smtClean="0">
                <a:latin typeface="微软雅黑" pitchFamily="34" charset="-122"/>
                <a:ea typeface="微软雅黑" pitchFamily="34" charset="-122"/>
              </a:rPr>
              <a:t>服务器</a:t>
            </a:r>
            <a:endParaRPr lang="zh-CN" altLang="en-US" sz="1200" dirty="0"/>
          </a:p>
        </p:txBody>
      </p:sp>
      <p:cxnSp>
        <p:nvCxnSpPr>
          <p:cNvPr id="34" name="直接箭头连接符 33"/>
          <p:cNvCxnSpPr/>
          <p:nvPr/>
        </p:nvCxnSpPr>
        <p:spPr>
          <a:xfrm>
            <a:off x="3169328" y="2417626"/>
            <a:ext cx="953457" cy="0"/>
          </a:xfrm>
          <a:prstGeom prst="straightConnector1">
            <a:avLst/>
          </a:prstGeom>
          <a:ln w="38100">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nvCxnSpPr>
        <p:spPr>
          <a:xfrm>
            <a:off x="3170724" y="2259928"/>
            <a:ext cx="960116" cy="1"/>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6050932" y="1175504"/>
            <a:ext cx="523017" cy="718723"/>
            <a:chOff x="5309611" y="1717945"/>
            <a:chExt cx="523017" cy="718723"/>
          </a:xfrm>
        </p:grpSpPr>
        <p:grpSp>
          <p:nvGrpSpPr>
            <p:cNvPr id="10" name="组合 9"/>
            <p:cNvGrpSpPr/>
            <p:nvPr/>
          </p:nvGrpSpPr>
          <p:grpSpPr>
            <a:xfrm>
              <a:off x="5309611" y="1717945"/>
              <a:ext cx="523017" cy="718723"/>
              <a:chOff x="5309612" y="1480331"/>
              <a:chExt cx="585650" cy="956337"/>
            </a:xfrm>
          </p:grpSpPr>
          <p:sp>
            <p:nvSpPr>
              <p:cNvPr id="12"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4"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7"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8"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9"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11"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20" name="矩形 19"/>
          <p:cNvSpPr/>
          <p:nvPr/>
        </p:nvSpPr>
        <p:spPr>
          <a:xfrm>
            <a:off x="6544499" y="1389508"/>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cxnSp>
        <p:nvCxnSpPr>
          <p:cNvPr id="36" name="直接箭头连接符 35"/>
          <p:cNvCxnSpPr/>
          <p:nvPr/>
        </p:nvCxnSpPr>
        <p:spPr>
          <a:xfrm flipV="1">
            <a:off x="4792931" y="1467848"/>
            <a:ext cx="1209158" cy="617697"/>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4797661" y="1600666"/>
            <a:ext cx="1177012" cy="612650"/>
          </a:xfrm>
          <a:prstGeom prst="straightConnector1">
            <a:avLst/>
          </a:prstGeom>
          <a:ln w="38100">
            <a:solidFill>
              <a:srgbClr val="0070C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1673555" y="2224041"/>
            <a:ext cx="559954" cy="597887"/>
            <a:chOff x="2004574" y="2821838"/>
            <a:chExt cx="559954" cy="597887"/>
          </a:xfrm>
        </p:grpSpPr>
        <p:grpSp>
          <p:nvGrpSpPr>
            <p:cNvPr id="39" name="组合 38"/>
            <p:cNvGrpSpPr/>
            <p:nvPr/>
          </p:nvGrpSpPr>
          <p:grpSpPr>
            <a:xfrm>
              <a:off x="2007378" y="2821838"/>
              <a:ext cx="557150" cy="597887"/>
              <a:chOff x="1143777" y="1614707"/>
              <a:chExt cx="557150" cy="597887"/>
            </a:xfrm>
          </p:grpSpPr>
          <p:sp>
            <p:nvSpPr>
              <p:cNvPr id="41" name="Freeform 124"/>
              <p:cNvSpPr>
                <a:spLocks noEditPoints="1"/>
              </p:cNvSpPr>
              <p:nvPr/>
            </p:nvSpPr>
            <p:spPr bwMode="auto">
              <a:xfrm>
                <a:off x="1143777" y="1614707"/>
                <a:ext cx="557150" cy="497542"/>
              </a:xfrm>
              <a:custGeom>
                <a:avLst/>
                <a:gdLst>
                  <a:gd name="T0" fmla="*/ 0 w 2287"/>
                  <a:gd name="T1" fmla="*/ 0 h 1907"/>
                  <a:gd name="T2" fmla="*/ 571 w 2287"/>
                  <a:gd name="T3" fmla="*/ 0 h 1907"/>
                  <a:gd name="T4" fmla="*/ 571 w 2287"/>
                  <a:gd name="T5" fmla="*/ 476 h 1907"/>
                  <a:gd name="T6" fmla="*/ 0 w 2287"/>
                  <a:gd name="T7" fmla="*/ 476 h 1907"/>
                  <a:gd name="T8" fmla="*/ 0 w 2287"/>
                  <a:gd name="T9" fmla="*/ 0 h 1907"/>
                  <a:gd name="T10" fmla="*/ 50 w 2287"/>
                  <a:gd name="T11" fmla="*/ 48 h 1907"/>
                  <a:gd name="T12" fmla="*/ 525 w 2287"/>
                  <a:gd name="T13" fmla="*/ 48 h 1907"/>
                  <a:gd name="T14" fmla="*/ 525 w 2287"/>
                  <a:gd name="T15" fmla="*/ 403 h 1907"/>
                  <a:gd name="T16" fmla="*/ 50 w 2287"/>
                  <a:gd name="T17" fmla="*/ 403 h 1907"/>
                  <a:gd name="T18" fmla="*/ 50 w 2287"/>
                  <a:gd name="T19" fmla="*/ 48 h 19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87" h="1907">
                    <a:moveTo>
                      <a:pt x="0" y="0"/>
                    </a:moveTo>
                    <a:lnTo>
                      <a:pt x="2287" y="0"/>
                    </a:lnTo>
                    <a:lnTo>
                      <a:pt x="2287" y="1907"/>
                    </a:lnTo>
                    <a:lnTo>
                      <a:pt x="0" y="1907"/>
                    </a:lnTo>
                    <a:lnTo>
                      <a:pt x="0" y="0"/>
                    </a:lnTo>
                    <a:close/>
                    <a:moveTo>
                      <a:pt x="202" y="194"/>
                    </a:moveTo>
                    <a:lnTo>
                      <a:pt x="2104" y="194"/>
                    </a:lnTo>
                    <a:lnTo>
                      <a:pt x="2104" y="1615"/>
                    </a:lnTo>
                    <a:lnTo>
                      <a:pt x="202" y="1615"/>
                    </a:lnTo>
                    <a:lnTo>
                      <a:pt x="202" y="194"/>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2" name="Rectangle 128"/>
              <p:cNvSpPr>
                <a:spLocks noChangeArrowheads="1"/>
              </p:cNvSpPr>
              <p:nvPr/>
            </p:nvSpPr>
            <p:spPr bwMode="auto">
              <a:xfrm>
                <a:off x="1241351" y="2171829"/>
                <a:ext cx="374686" cy="40765"/>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3" name="Rectangle 130"/>
              <p:cNvSpPr>
                <a:spLocks noChangeArrowheads="1"/>
              </p:cNvSpPr>
              <p:nvPr/>
            </p:nvSpPr>
            <p:spPr bwMode="auto">
              <a:xfrm>
                <a:off x="1321362" y="2114340"/>
                <a:ext cx="222470" cy="33448"/>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4" name="Rectangle 131"/>
              <p:cNvSpPr>
                <a:spLocks noChangeArrowheads="1"/>
              </p:cNvSpPr>
              <p:nvPr/>
            </p:nvSpPr>
            <p:spPr bwMode="auto">
              <a:xfrm>
                <a:off x="1339902" y="2147788"/>
                <a:ext cx="182464" cy="19860"/>
              </a:xfrm>
              <a:prstGeom prst="rect">
                <a:avLst/>
              </a:prstGeom>
              <a:solidFill>
                <a:srgbClr val="00426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nvGrpSpPr>
              <p:cNvPr id="45" name="组合 44"/>
              <p:cNvGrpSpPr/>
              <p:nvPr/>
            </p:nvGrpSpPr>
            <p:grpSpPr>
              <a:xfrm>
                <a:off x="1178904" y="1656517"/>
                <a:ext cx="490799" cy="391971"/>
                <a:chOff x="1892703" y="3643061"/>
                <a:chExt cx="490799" cy="391971"/>
              </a:xfrm>
            </p:grpSpPr>
            <p:sp>
              <p:nvSpPr>
                <p:cNvPr id="46" name="Rectangle 123"/>
                <p:cNvSpPr>
                  <a:spLocks noChangeArrowheads="1"/>
                </p:cNvSpPr>
                <p:nvPr/>
              </p:nvSpPr>
              <p:spPr bwMode="auto">
                <a:xfrm>
                  <a:off x="1892703" y="3643061"/>
                  <a:ext cx="490799" cy="391971"/>
                </a:xfrm>
                <a:prstGeom prst="rect">
                  <a:avLst/>
                </a:prstGeom>
                <a:solidFill>
                  <a:srgbClr val="CCBF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7" name="Rectangle 125"/>
                <p:cNvSpPr>
                  <a:spLocks noChangeArrowheads="1"/>
                </p:cNvSpPr>
                <p:nvPr/>
              </p:nvSpPr>
              <p:spPr bwMode="auto">
                <a:xfrm>
                  <a:off x="1906363" y="3651423"/>
                  <a:ext cx="464454" cy="9407"/>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8" name="Rectangle 126"/>
                <p:cNvSpPr>
                  <a:spLocks noChangeArrowheads="1"/>
                </p:cNvSpPr>
                <p:nvPr/>
              </p:nvSpPr>
              <p:spPr bwMode="auto">
                <a:xfrm>
                  <a:off x="1906363" y="3653514"/>
                  <a:ext cx="9757" cy="36584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9" name="Rectangle 127"/>
                <p:cNvSpPr>
                  <a:spLocks noChangeArrowheads="1"/>
                </p:cNvSpPr>
                <p:nvPr/>
              </p:nvSpPr>
              <p:spPr bwMode="auto">
                <a:xfrm>
                  <a:off x="1906363" y="4014128"/>
                  <a:ext cx="463479" cy="83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0" name="Rectangle 129"/>
                <p:cNvSpPr>
                  <a:spLocks noChangeArrowheads="1"/>
                </p:cNvSpPr>
                <p:nvPr/>
              </p:nvSpPr>
              <p:spPr bwMode="auto">
                <a:xfrm>
                  <a:off x="2362036" y="3651423"/>
                  <a:ext cx="8782" cy="3710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grpSp>
        <p:sp>
          <p:nvSpPr>
            <p:cNvPr id="40" name="文本框 39"/>
            <p:cNvSpPr txBox="1"/>
            <p:nvPr/>
          </p:nvSpPr>
          <p:spPr>
            <a:xfrm>
              <a:off x="2004574" y="2859996"/>
              <a:ext cx="547674" cy="415498"/>
            </a:xfrm>
            <a:prstGeom prst="rect">
              <a:avLst/>
            </a:prstGeom>
            <a:noFill/>
            <a:ln>
              <a:noFill/>
            </a:ln>
          </p:spPr>
          <p:txBody>
            <a:bodyPr wrap="square" rtlCol="0" anchor="ctr">
              <a:spAutoFit/>
            </a:bodyPr>
            <a:lstStyle/>
            <a:p>
              <a:pPr algn="ctr"/>
              <a:r>
                <a:rPr lang="zh-CN" altLang="en-US" sz="1050" b="1" dirty="0" smtClean="0">
                  <a:latin typeface="微软雅黑" panose="020B0503020204020204" pitchFamily="34" charset="-122"/>
                  <a:ea typeface="微软雅黑" panose="020B0503020204020204" pitchFamily="34" charset="-122"/>
                </a:rPr>
                <a:t>应用进程</a:t>
              </a:r>
              <a:endParaRPr lang="zh-CN" altLang="en-US" sz="1050" b="1" dirty="0">
                <a:latin typeface="微软雅黑" panose="020B0503020204020204" pitchFamily="34" charset="-122"/>
                <a:ea typeface="微软雅黑" panose="020B0503020204020204" pitchFamily="34" charset="-122"/>
              </a:endParaRPr>
            </a:p>
          </p:txBody>
        </p:sp>
      </p:grpSp>
      <p:sp>
        <p:nvSpPr>
          <p:cNvPr id="73" name="矩形 72"/>
          <p:cNvSpPr/>
          <p:nvPr/>
        </p:nvSpPr>
        <p:spPr>
          <a:xfrm>
            <a:off x="2793891" y="1596600"/>
            <a:ext cx="345961" cy="1440162"/>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ysClr val="windowText" lastClr="000000"/>
                </a:solidFill>
                <a:latin typeface="微软雅黑" panose="020B0503020204020204" pitchFamily="34" charset="-122"/>
                <a:ea typeface="微软雅黑" panose="020B0503020204020204" pitchFamily="34" charset="-122"/>
              </a:rPr>
              <a:t>解析程序</a:t>
            </a:r>
            <a:endParaRPr lang="zh-CN" altLang="en-US" sz="1400" dirty="0">
              <a:solidFill>
                <a:sysClr val="windowText" lastClr="000000"/>
              </a:solidFill>
            </a:endParaRPr>
          </a:p>
        </p:txBody>
      </p:sp>
      <p:sp>
        <p:nvSpPr>
          <p:cNvPr id="74" name="圆角右箭头 73"/>
          <p:cNvSpPr/>
          <p:nvPr/>
        </p:nvSpPr>
        <p:spPr>
          <a:xfrm>
            <a:off x="1869235" y="1746270"/>
            <a:ext cx="901666" cy="461528"/>
          </a:xfrm>
          <a:prstGeom prst="bentArrow">
            <a:avLst>
              <a:gd name="adj1" fmla="val 11913"/>
              <a:gd name="adj2" fmla="val 15020"/>
              <a:gd name="adj3" fmla="val 25000"/>
              <a:gd name="adj4" fmla="val 41706"/>
            </a:avLst>
          </a:prstGeom>
          <a:solidFill>
            <a:srgbClr val="0099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1" name="组合 50"/>
          <p:cNvGrpSpPr/>
          <p:nvPr/>
        </p:nvGrpSpPr>
        <p:grpSpPr>
          <a:xfrm>
            <a:off x="6046202" y="1961446"/>
            <a:ext cx="523017" cy="718723"/>
            <a:chOff x="5309611" y="1717945"/>
            <a:chExt cx="523017" cy="718723"/>
          </a:xfrm>
        </p:grpSpPr>
        <p:grpSp>
          <p:nvGrpSpPr>
            <p:cNvPr id="52" name="组合 51"/>
            <p:cNvGrpSpPr/>
            <p:nvPr/>
          </p:nvGrpSpPr>
          <p:grpSpPr>
            <a:xfrm>
              <a:off x="5309611" y="1717945"/>
              <a:ext cx="523017" cy="718723"/>
              <a:chOff x="5309612" y="1480331"/>
              <a:chExt cx="585650" cy="956337"/>
            </a:xfrm>
          </p:grpSpPr>
          <p:sp>
            <p:nvSpPr>
              <p:cNvPr id="54"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6"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53"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5" name="直接箭头连接符 74"/>
          <p:cNvCxnSpPr/>
          <p:nvPr/>
        </p:nvCxnSpPr>
        <p:spPr>
          <a:xfrm>
            <a:off x="4792931" y="2321087"/>
            <a:ext cx="1204428" cy="1527"/>
          </a:xfrm>
          <a:prstGeom prst="straightConnector1">
            <a:avLst/>
          </a:prstGeom>
          <a:ln w="38100">
            <a:solidFill>
              <a:srgbClr val="80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792931" y="2426967"/>
            <a:ext cx="1141500" cy="0"/>
          </a:xfrm>
          <a:prstGeom prst="straightConnector1">
            <a:avLst/>
          </a:prstGeom>
          <a:ln w="38100">
            <a:solidFill>
              <a:srgbClr val="CC66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6539769" y="2161348"/>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grpSp>
        <p:nvGrpSpPr>
          <p:cNvPr id="62" name="组合 61"/>
          <p:cNvGrpSpPr/>
          <p:nvPr/>
        </p:nvGrpSpPr>
        <p:grpSpPr>
          <a:xfrm>
            <a:off x="6034957" y="2759441"/>
            <a:ext cx="523017" cy="718723"/>
            <a:chOff x="5309611" y="1717945"/>
            <a:chExt cx="523017" cy="718723"/>
          </a:xfrm>
        </p:grpSpPr>
        <p:grpSp>
          <p:nvGrpSpPr>
            <p:cNvPr id="63" name="组合 62"/>
            <p:cNvGrpSpPr/>
            <p:nvPr/>
          </p:nvGrpSpPr>
          <p:grpSpPr>
            <a:xfrm>
              <a:off x="5309611" y="1717945"/>
              <a:ext cx="523017" cy="718723"/>
              <a:chOff x="5309612" y="1480331"/>
              <a:chExt cx="585650" cy="956337"/>
            </a:xfrm>
          </p:grpSpPr>
          <p:sp>
            <p:nvSpPr>
              <p:cNvPr id="65"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6"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7"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8"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9"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0"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1"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2"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64"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7" name="直接箭头连接符 76"/>
          <p:cNvCxnSpPr/>
          <p:nvPr/>
        </p:nvCxnSpPr>
        <p:spPr>
          <a:xfrm>
            <a:off x="4798091" y="2547446"/>
            <a:ext cx="1188023" cy="512659"/>
          </a:xfrm>
          <a:prstGeom prst="straightConnector1">
            <a:avLst/>
          </a:prstGeom>
          <a:ln w="38100">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a:off x="4792931" y="2656744"/>
            <a:ext cx="1130255" cy="500667"/>
          </a:xfrm>
          <a:prstGeom prst="straightConnector1">
            <a:avLst/>
          </a:prstGeom>
          <a:ln w="38100">
            <a:solidFill>
              <a:srgbClr val="0099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6528524" y="2961690"/>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grpSp>
        <p:nvGrpSpPr>
          <p:cNvPr id="81" name="组合 80"/>
          <p:cNvGrpSpPr/>
          <p:nvPr/>
        </p:nvGrpSpPr>
        <p:grpSpPr>
          <a:xfrm>
            <a:off x="4158256" y="2032844"/>
            <a:ext cx="523017" cy="718723"/>
            <a:chOff x="5309611" y="1717945"/>
            <a:chExt cx="523017" cy="718723"/>
          </a:xfrm>
        </p:grpSpPr>
        <p:grpSp>
          <p:nvGrpSpPr>
            <p:cNvPr id="82" name="组合 81"/>
            <p:cNvGrpSpPr/>
            <p:nvPr/>
          </p:nvGrpSpPr>
          <p:grpSpPr>
            <a:xfrm>
              <a:off x="5309611" y="1717945"/>
              <a:ext cx="523017" cy="718723"/>
              <a:chOff x="5309612" y="1480331"/>
              <a:chExt cx="585650" cy="956337"/>
            </a:xfrm>
          </p:grpSpPr>
          <p:sp>
            <p:nvSpPr>
              <p:cNvPr id="84"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6"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7"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83"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92" name="矩形 91"/>
          <p:cNvSpPr/>
          <p:nvPr/>
        </p:nvSpPr>
        <p:spPr>
          <a:xfrm>
            <a:off x="3947988" y="1596600"/>
            <a:ext cx="954107" cy="461665"/>
          </a:xfrm>
          <a:prstGeom prst="rect">
            <a:avLst/>
          </a:prstGeom>
        </p:spPr>
        <p:txBody>
          <a:bodyPr wrap="none">
            <a:spAutoFit/>
          </a:bodyPr>
          <a:lstStyle/>
          <a:p>
            <a:pPr algn="ctr"/>
            <a:r>
              <a:rPr lang="zh-CN" altLang="en-US" sz="1200" b="1" dirty="0" smtClean="0">
                <a:solidFill>
                  <a:srgbClr val="0000FF"/>
                </a:solidFill>
                <a:latin typeface="微软雅黑" pitchFamily="34" charset="-122"/>
                <a:ea typeface="微软雅黑" pitchFamily="34" charset="-122"/>
              </a:rPr>
              <a:t>本地</a:t>
            </a:r>
            <a:endParaRPr lang="en-US" altLang="zh-CN" sz="1200" b="1" dirty="0" smtClean="0">
              <a:solidFill>
                <a:srgbClr val="0000FF"/>
              </a:solidFill>
              <a:latin typeface="微软雅黑" pitchFamily="34" charset="-122"/>
              <a:ea typeface="微软雅黑" pitchFamily="34" charset="-122"/>
            </a:endParaRPr>
          </a:p>
          <a:p>
            <a:pPr algn="ctr"/>
            <a:r>
              <a:rPr lang="zh-CN" altLang="en-US" sz="1200" b="1" dirty="0" smtClean="0">
                <a:solidFill>
                  <a:srgbClr val="0000FF"/>
                </a:solidFill>
                <a:latin typeface="微软雅黑" pitchFamily="34" charset="-122"/>
                <a:ea typeface="微软雅黑" pitchFamily="34" charset="-122"/>
              </a:rPr>
              <a:t>域名</a:t>
            </a:r>
            <a:r>
              <a:rPr lang="zh-CN" altLang="en-US" sz="1200" b="1" dirty="0">
                <a:solidFill>
                  <a:srgbClr val="0000FF"/>
                </a:solidFill>
                <a:latin typeface="微软雅黑" pitchFamily="34" charset="-122"/>
                <a:ea typeface="微软雅黑" pitchFamily="34" charset="-122"/>
              </a:rPr>
              <a:t>服务器</a:t>
            </a:r>
            <a:endParaRPr lang="zh-CN" altLang="en-US" sz="1200" dirty="0">
              <a:solidFill>
                <a:srgbClr val="0000FF"/>
              </a:solidFill>
            </a:endParaRPr>
          </a:p>
        </p:txBody>
      </p:sp>
      <p:sp>
        <p:nvSpPr>
          <p:cNvPr id="93" name="圆角右箭头 92"/>
          <p:cNvSpPr/>
          <p:nvPr/>
        </p:nvSpPr>
        <p:spPr>
          <a:xfrm flipV="1">
            <a:off x="2054947" y="2902529"/>
            <a:ext cx="3213933" cy="928144"/>
          </a:xfrm>
          <a:prstGeom prst="bentArrow">
            <a:avLst>
              <a:gd name="adj1" fmla="val 5245"/>
              <a:gd name="adj2" fmla="val 6893"/>
              <a:gd name="adj3" fmla="val 14998"/>
              <a:gd name="adj4" fmla="val 41706"/>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圆角右箭头 93"/>
          <p:cNvSpPr/>
          <p:nvPr/>
        </p:nvSpPr>
        <p:spPr>
          <a:xfrm rot="5400000" flipH="1" flipV="1">
            <a:off x="3020293" y="1710968"/>
            <a:ext cx="1065272" cy="3396398"/>
          </a:xfrm>
          <a:prstGeom prst="bentArrow">
            <a:avLst>
              <a:gd name="adj1" fmla="val 5245"/>
              <a:gd name="adj2" fmla="val 6088"/>
              <a:gd name="adj3" fmla="val 12584"/>
              <a:gd name="adj4" fmla="val 41706"/>
            </a:avLst>
          </a:prstGeom>
          <a:solidFill>
            <a:srgbClr val="9933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圆角右箭头 94"/>
          <p:cNvSpPr/>
          <p:nvPr/>
        </p:nvSpPr>
        <p:spPr>
          <a:xfrm rot="16200000" flipH="1">
            <a:off x="2228242" y="1689761"/>
            <a:ext cx="282418" cy="785149"/>
          </a:xfrm>
          <a:prstGeom prst="bentArrow">
            <a:avLst>
              <a:gd name="adj1" fmla="val 19310"/>
              <a:gd name="adj2" fmla="val 25803"/>
              <a:gd name="adj3" fmla="val 36096"/>
              <a:gd name="adj4" fmla="val 23212"/>
            </a:avLst>
          </a:prstGeom>
          <a:solidFill>
            <a:srgbClr val="0066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矩形 1"/>
          <p:cNvSpPr/>
          <p:nvPr/>
        </p:nvSpPr>
        <p:spPr>
          <a:xfrm>
            <a:off x="4659179" y="4117443"/>
            <a:ext cx="1691040" cy="276999"/>
          </a:xfrm>
          <a:prstGeom prst="rect">
            <a:avLst/>
          </a:prstGeom>
        </p:spPr>
        <p:txBody>
          <a:bodyPr wrap="none">
            <a:spAutoFit/>
          </a:bodyPr>
          <a:lstStyle/>
          <a:p>
            <a:r>
              <a:rPr lang="en-US" altLang="zh-CN" sz="1200" b="1" dirty="0">
                <a:latin typeface="微软雅黑" pitchFamily="34" charset="-122"/>
                <a:ea typeface="微软雅黑" pitchFamily="34" charset="-122"/>
              </a:rPr>
              <a:t>www.myschool.edu</a:t>
            </a:r>
            <a:endParaRPr lang="zh-CN" altLang="en-US" sz="1200" dirty="0"/>
          </a:p>
        </p:txBody>
      </p:sp>
      <p:sp>
        <p:nvSpPr>
          <p:cNvPr id="4" name="矩形 3"/>
          <p:cNvSpPr/>
          <p:nvPr/>
        </p:nvSpPr>
        <p:spPr>
          <a:xfrm>
            <a:off x="2526185" y="2989214"/>
            <a:ext cx="904799" cy="307777"/>
          </a:xfrm>
          <a:prstGeom prst="rect">
            <a:avLst/>
          </a:prstGeom>
        </p:spPr>
        <p:txBody>
          <a:bodyPr wrap="none">
            <a:spAutoFit/>
          </a:bodyPr>
          <a:lstStyle/>
          <a:p>
            <a:pPr algn="ctr"/>
            <a:r>
              <a:rPr lang="en-US" altLang="zh-CN" sz="1400" b="1" dirty="0" smtClean="0">
                <a:latin typeface="微软雅黑" pitchFamily="34" charset="-122"/>
                <a:ea typeface="微软雅黑" pitchFamily="34" charset="-122"/>
              </a:rPr>
              <a:t>resolver</a:t>
            </a:r>
            <a:endParaRPr lang="zh-CN" altLang="en-US" sz="1400" b="1" dirty="0">
              <a:latin typeface="微软雅黑" pitchFamily="34" charset="-122"/>
              <a:ea typeface="微软雅黑" pitchFamily="34" charset="-122"/>
            </a:endParaRPr>
          </a:p>
        </p:txBody>
      </p:sp>
      <p:sp>
        <p:nvSpPr>
          <p:cNvPr id="3" name="矩形 2"/>
          <p:cNvSpPr/>
          <p:nvPr/>
        </p:nvSpPr>
        <p:spPr>
          <a:xfrm>
            <a:off x="3280042" y="1056188"/>
            <a:ext cx="2385275" cy="338554"/>
          </a:xfrm>
          <a:prstGeom prst="rect">
            <a:avLst/>
          </a:prstGeom>
          <a:solidFill>
            <a:srgbClr val="000099"/>
          </a:solidFill>
          <a:ln>
            <a:noFill/>
          </a:ln>
        </p:spPr>
        <p:txBody>
          <a:bodyPr wrap="square">
            <a:spAutoFit/>
          </a:bodyP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DNS </a:t>
            </a:r>
            <a:r>
              <a:rPr lang="zh-CN" altLang="en-US" sz="1600" b="1" dirty="0" smtClean="0">
                <a:solidFill>
                  <a:schemeClr val="bg1"/>
                </a:solidFill>
                <a:latin typeface="微软雅黑" panose="020B0503020204020204" pitchFamily="34" charset="-122"/>
                <a:ea typeface="微软雅黑" panose="020B0503020204020204" pitchFamily="34" charset="-122"/>
              </a:rPr>
              <a:t>使用 </a:t>
            </a:r>
            <a:r>
              <a:rPr lang="en-US" altLang="zh-CN" sz="1600" b="1" dirty="0" smtClean="0">
                <a:solidFill>
                  <a:schemeClr val="bg1"/>
                </a:solidFill>
                <a:latin typeface="微软雅黑" panose="020B0503020204020204" pitchFamily="34" charset="-122"/>
                <a:ea typeface="微软雅黑" panose="020B0503020204020204" pitchFamily="34" charset="-122"/>
              </a:rPr>
              <a:t>UDP </a:t>
            </a:r>
            <a:r>
              <a:rPr lang="zh-CN" altLang="en-US" sz="1600" b="1" dirty="0" smtClean="0">
                <a:solidFill>
                  <a:schemeClr val="bg1"/>
                </a:solidFill>
                <a:latin typeface="微软雅黑" panose="020B0503020204020204" pitchFamily="34" charset="-122"/>
                <a:ea typeface="微软雅黑" panose="020B0503020204020204" pitchFamily="34" charset="-122"/>
              </a:rPr>
              <a:t>通信</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22001897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000"/>
                                        <p:tgtEl>
                                          <p:spTgt spid="74"/>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right)">
                                      <p:cBhvr>
                                        <p:cTn id="16" dur="1000"/>
                                        <p:tgtEl>
                                          <p:spTgt spid="34"/>
                                        </p:tgtEl>
                                      </p:cBhvr>
                                    </p:animEffect>
                                  </p:childTnLst>
                                </p:cTn>
                              </p:par>
                            </p:childTnLst>
                          </p:cTn>
                        </p:par>
                        <p:par>
                          <p:cTn id="17" fill="hold">
                            <p:stCondLst>
                              <p:cond delay="1000"/>
                            </p:stCondLst>
                            <p:childTnLst>
                              <p:par>
                                <p:cTn id="18" presetID="22" presetClass="entr" presetSubtype="2" fill="hold" grpId="0" nodeType="afterEffect">
                                  <p:stCondLst>
                                    <p:cond delay="0"/>
                                  </p:stCondLst>
                                  <p:childTnLst>
                                    <p:set>
                                      <p:cBhvr>
                                        <p:cTn id="19" dur="1" fill="hold">
                                          <p:stCondLst>
                                            <p:cond delay="0"/>
                                          </p:stCondLst>
                                        </p:cTn>
                                        <p:tgtEl>
                                          <p:spTgt spid="95"/>
                                        </p:tgtEl>
                                        <p:attrNameLst>
                                          <p:attrName>style.visibility</p:attrName>
                                        </p:attrNameLst>
                                      </p:cBhvr>
                                      <p:to>
                                        <p:strVal val="visible"/>
                                      </p:to>
                                    </p:set>
                                    <p:animEffect transition="in" filter="wipe(right)">
                                      <p:cBhvr>
                                        <p:cTn id="20" dur="1000"/>
                                        <p:tgtEl>
                                          <p:spTgt spid="9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wipe(left)">
                                      <p:cBhvr>
                                        <p:cTn id="25" dur="1000"/>
                                        <p:tgtEl>
                                          <p:spTgt spid="93"/>
                                        </p:tgtEl>
                                      </p:cBhvr>
                                    </p:animEffect>
                                  </p:childTnLst>
                                </p:cTn>
                              </p:par>
                            </p:childTnLst>
                          </p:cTn>
                        </p:par>
                        <p:par>
                          <p:cTn id="26" fill="hold">
                            <p:stCondLst>
                              <p:cond delay="1000"/>
                            </p:stCondLst>
                            <p:childTnLst>
                              <p:par>
                                <p:cTn id="27" presetID="22" presetClass="entr" presetSubtype="2" fill="hold" grpId="0"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right)">
                                      <p:cBhvr>
                                        <p:cTn id="29" dur="1000"/>
                                        <p:tgtEl>
                                          <p:spTgt spid="9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1000"/>
                                        <p:tgtEl>
                                          <p:spTgt spid="36"/>
                                        </p:tgtEl>
                                      </p:cBhvr>
                                    </p:animEffect>
                                  </p:childTnLst>
                                </p:cTn>
                              </p:par>
                            </p:childTnLst>
                          </p:cTn>
                        </p:par>
                        <p:par>
                          <p:cTn id="35" fill="hold">
                            <p:stCondLst>
                              <p:cond delay="1000"/>
                            </p:stCondLst>
                            <p:childTnLst>
                              <p:par>
                                <p:cTn id="36" presetID="22" presetClass="entr" presetSubtype="2"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right)">
                                      <p:cBhvr>
                                        <p:cTn id="38" dur="1000"/>
                                        <p:tgtEl>
                                          <p:spTgt spid="37"/>
                                        </p:tgtEl>
                                      </p:cBhvr>
                                    </p:animEffect>
                                  </p:childTnLst>
                                </p:cTn>
                              </p:par>
                            </p:childTnLst>
                          </p:cTn>
                        </p:par>
                        <p:par>
                          <p:cTn id="39" fill="hold">
                            <p:stCondLst>
                              <p:cond delay="2000"/>
                            </p:stCondLst>
                            <p:childTnLst>
                              <p:par>
                                <p:cTn id="40" presetID="22" presetClass="entr" presetSubtype="8" fill="hold" nodeType="after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left)">
                                      <p:cBhvr>
                                        <p:cTn id="42" dur="1000"/>
                                        <p:tgtEl>
                                          <p:spTgt spid="75"/>
                                        </p:tgtEl>
                                      </p:cBhvr>
                                    </p:animEffect>
                                  </p:childTnLst>
                                </p:cTn>
                              </p:par>
                            </p:childTnLst>
                          </p:cTn>
                        </p:par>
                        <p:par>
                          <p:cTn id="43" fill="hold">
                            <p:stCondLst>
                              <p:cond delay="3000"/>
                            </p:stCondLst>
                            <p:childTnLst>
                              <p:par>
                                <p:cTn id="44" presetID="22" presetClass="entr" presetSubtype="2"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right)">
                                      <p:cBhvr>
                                        <p:cTn id="46" dur="1000"/>
                                        <p:tgtEl>
                                          <p:spTgt spid="76"/>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77"/>
                                        </p:tgtEl>
                                        <p:attrNameLst>
                                          <p:attrName>style.visibility</p:attrName>
                                        </p:attrNameLst>
                                      </p:cBhvr>
                                      <p:to>
                                        <p:strVal val="visible"/>
                                      </p:to>
                                    </p:set>
                                    <p:animEffect transition="in" filter="wipe(left)">
                                      <p:cBhvr>
                                        <p:cTn id="50" dur="1000"/>
                                        <p:tgtEl>
                                          <p:spTgt spid="77"/>
                                        </p:tgtEl>
                                      </p:cBhvr>
                                    </p:animEffect>
                                  </p:childTnLst>
                                </p:cTn>
                              </p:par>
                            </p:childTnLst>
                          </p:cTn>
                        </p:par>
                        <p:par>
                          <p:cTn id="51" fill="hold">
                            <p:stCondLst>
                              <p:cond delay="5000"/>
                            </p:stCondLst>
                            <p:childTnLst>
                              <p:par>
                                <p:cTn id="52" presetID="22" presetClass="entr" presetSubtype="2" fill="hold" nodeType="after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right)">
                                      <p:cBhvr>
                                        <p:cTn id="54"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3" grpId="0" animBg="1"/>
      <p:bldP spid="94" grpId="0" animBg="1"/>
      <p:bldP spid="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09" name="Rectangle 6"/>
          <p:cNvSpPr>
            <a:spLocks noChangeArrowheads="1"/>
          </p:cNvSpPr>
          <p:nvPr/>
        </p:nvSpPr>
        <p:spPr bwMode="auto">
          <a:xfrm>
            <a:off x="3248563" y="573213"/>
            <a:ext cx="264687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互联网</a:t>
            </a:r>
            <a:r>
              <a:rPr lang="zh-CN" altLang="en-US" sz="2400" b="1" dirty="0">
                <a:solidFill>
                  <a:schemeClr val="bg1"/>
                </a:solidFill>
                <a:latin typeface="微软雅黑" pitchFamily="34" charset="-122"/>
                <a:ea typeface="微软雅黑" pitchFamily="34" charset="-122"/>
              </a:rPr>
              <a:t>的域名结构</a:t>
            </a:r>
          </a:p>
        </p:txBody>
      </p:sp>
      <p:sp>
        <p:nvSpPr>
          <p:cNvPr id="110" name="Rectangle 8"/>
          <p:cNvSpPr>
            <a:spLocks noChangeArrowheads="1"/>
          </p:cNvSpPr>
          <p:nvPr/>
        </p:nvSpPr>
        <p:spPr bwMode="auto">
          <a:xfrm>
            <a:off x="545143" y="1028509"/>
            <a:ext cx="8053711" cy="27853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命名</a:t>
            </a:r>
            <a:r>
              <a:rPr lang="zh-CN" altLang="en-US" sz="2000" b="1" dirty="0" smtClean="0">
                <a:solidFill>
                  <a:srgbClr val="C00000"/>
                </a:solidFill>
                <a:latin typeface="微软雅黑" pitchFamily="34" charset="-122"/>
                <a:ea typeface="微软雅黑" pitchFamily="34" charset="-122"/>
              </a:rPr>
              <a:t>方法：</a:t>
            </a:r>
            <a:r>
              <a:rPr lang="zh-CN" altLang="en-US" sz="2000" b="1" dirty="0" smtClean="0">
                <a:latin typeface="微软雅黑" pitchFamily="34" charset="-122"/>
                <a:ea typeface="微软雅黑" pitchFamily="34" charset="-122"/>
              </a:rPr>
              <a:t>层次</a:t>
            </a:r>
            <a:r>
              <a:rPr lang="zh-CN" altLang="en-US" sz="2000" b="1" dirty="0">
                <a:solidFill>
                  <a:srgbClr val="0000FF"/>
                </a:solidFill>
                <a:latin typeface="微软雅黑" pitchFamily="34" charset="-122"/>
                <a:ea typeface="微软雅黑" pitchFamily="34" charset="-122"/>
              </a:rPr>
              <a:t>树状</a:t>
            </a:r>
            <a:r>
              <a:rPr lang="zh-CN" altLang="en-US" sz="2000" b="1" dirty="0" smtClean="0">
                <a:latin typeface="微软雅黑" pitchFamily="34" charset="-122"/>
                <a:ea typeface="微软雅黑" pitchFamily="34" charset="-122"/>
              </a:rPr>
              <a:t>结构方法。</a:t>
            </a:r>
            <a:endParaRPr lang="zh-CN" altLang="en-US"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任何一个连接在互联网上的主机或路由器，都有一个</a:t>
            </a:r>
            <a:r>
              <a:rPr lang="zh-CN" altLang="en-US" sz="2000" b="1" dirty="0">
                <a:solidFill>
                  <a:srgbClr val="0000FF"/>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的层次结构的名字，即</a:t>
            </a:r>
            <a:r>
              <a:rPr lang="zh-CN" altLang="en-US" sz="2000" b="1" dirty="0" smtClean="0">
                <a:solidFill>
                  <a:srgbClr val="0000FF"/>
                </a:solidFill>
                <a:latin typeface="微软雅黑" pitchFamily="34" charset="-122"/>
                <a:ea typeface="微软雅黑" pitchFamily="34" charset="-122"/>
              </a:rPr>
              <a:t>域名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domain name)</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域 </a:t>
            </a:r>
            <a:r>
              <a:rPr lang="en-US" altLang="zh-CN" sz="2000" b="1" dirty="0" smtClean="0">
                <a:solidFill>
                  <a:srgbClr val="C00000"/>
                </a:solidFill>
                <a:latin typeface="微软雅黑" pitchFamily="34" charset="-122"/>
                <a:ea typeface="微软雅黑" pitchFamily="34" charset="-122"/>
              </a:rPr>
              <a:t>(</a:t>
            </a:r>
            <a:r>
              <a:rPr lang="en-US" altLang="zh-CN" sz="2000" b="1" dirty="0">
                <a:solidFill>
                  <a:srgbClr val="C00000"/>
                </a:solidFill>
                <a:latin typeface="微软雅黑" pitchFamily="34" charset="-122"/>
                <a:ea typeface="微软雅黑" pitchFamily="34" charset="-122"/>
              </a:rPr>
              <a:t>domain</a:t>
            </a:r>
            <a:r>
              <a:rPr lang="en-US" altLang="zh-CN" sz="2000" b="1" dirty="0" smtClean="0">
                <a:solidFill>
                  <a:srgbClr val="C00000"/>
                </a:solidFill>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名字空间中一个</a:t>
            </a:r>
            <a:r>
              <a:rPr lang="zh-CN" altLang="en-US" sz="2000" b="1" dirty="0">
                <a:solidFill>
                  <a:srgbClr val="0000FF"/>
                </a:solidFill>
                <a:latin typeface="微软雅黑" pitchFamily="34" charset="-122"/>
                <a:ea typeface="微软雅黑" pitchFamily="34" charset="-122"/>
              </a:rPr>
              <a:t>可被管理</a:t>
            </a:r>
            <a:r>
              <a:rPr lang="zh-CN" altLang="en-US" sz="2000" b="1" dirty="0">
                <a:latin typeface="微软雅黑" pitchFamily="34" charset="-122"/>
                <a:ea typeface="微软雅黑" pitchFamily="34" charset="-122"/>
              </a:rPr>
              <a:t>的划分。</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可以</a:t>
            </a:r>
            <a:r>
              <a:rPr lang="zh-CN" altLang="en-US" sz="2000" b="1" dirty="0">
                <a:latin typeface="微软雅黑" pitchFamily="34" charset="-122"/>
                <a:ea typeface="微软雅黑" pitchFamily="34" charset="-122"/>
              </a:rPr>
              <a:t>划分为</a:t>
            </a:r>
            <a:r>
              <a:rPr lang="zh-CN" altLang="en-US" sz="2000" b="1" dirty="0">
                <a:solidFill>
                  <a:srgbClr val="0000FF"/>
                </a:solidFill>
                <a:latin typeface="微软雅黑" pitchFamily="34" charset="-122"/>
                <a:ea typeface="微软雅黑" pitchFamily="34" charset="-122"/>
              </a:rPr>
              <a:t>子域，</a:t>
            </a:r>
            <a:r>
              <a:rPr lang="zh-CN" altLang="en-US" sz="2000" b="1" dirty="0">
                <a:latin typeface="微软雅黑" pitchFamily="34" charset="-122"/>
                <a:ea typeface="微软雅黑" pitchFamily="34" charset="-122"/>
              </a:rPr>
              <a:t>而子域还可继续划分为子域的子域，这样就形成了顶级域、二级域、三级域，等等。</a:t>
            </a:r>
          </a:p>
        </p:txBody>
      </p:sp>
    </p:spTree>
    <p:custDataLst>
      <p:tags r:id="rId1"/>
    </p:custDataLst>
    <p:extLst>
      <p:ext uri="{BB962C8B-B14F-4D97-AF65-F5344CB8AC3E}">
        <p14:creationId xmlns:p14="http://schemas.microsoft.com/office/powerpoint/2010/main" val="32354610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0">
                                            <p:txEl>
                                              <p:pRg st="1" end="1"/>
                                            </p:txEl>
                                          </p:spTgt>
                                        </p:tgtEl>
                                        <p:attrNameLst>
                                          <p:attrName>style.visibility</p:attrName>
                                        </p:attrNameLst>
                                      </p:cBhvr>
                                      <p:to>
                                        <p:strVal val="visible"/>
                                      </p:to>
                                    </p:set>
                                    <p:animEffect transition="in" filter="fade">
                                      <p:cBhvr>
                                        <p:cTn id="7" dur="500"/>
                                        <p:tgtEl>
                                          <p:spTgt spid="1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0">
                                            <p:txEl>
                                              <p:pRg st="2" end="2"/>
                                            </p:txEl>
                                          </p:spTgt>
                                        </p:tgtEl>
                                        <p:attrNameLst>
                                          <p:attrName>style.visibility</p:attrName>
                                        </p:attrNameLst>
                                      </p:cBhvr>
                                      <p:to>
                                        <p:strVal val="visible"/>
                                      </p:to>
                                    </p:set>
                                    <p:animEffect transition="in" filter="fade">
                                      <p:cBhvr>
                                        <p:cTn id="12" dur="500"/>
                                        <p:tgtEl>
                                          <p:spTgt spid="110">
                                            <p:txEl>
                                              <p:pRg st="2" end="2"/>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10">
                                            <p:txEl>
                                              <p:pRg st="3" end="3"/>
                                            </p:txEl>
                                          </p:spTgt>
                                        </p:tgtEl>
                                        <p:attrNameLst>
                                          <p:attrName>style.visibility</p:attrName>
                                        </p:attrNameLst>
                                      </p:cBhvr>
                                      <p:to>
                                        <p:strVal val="visible"/>
                                      </p:to>
                                    </p:set>
                                    <p:animEffect transition="in" filter="fade">
                                      <p:cBhvr>
                                        <p:cTn id="15" dur="500"/>
                                        <p:tgtEl>
                                          <p:spTgt spid="110">
                                            <p:txEl>
                                              <p:pRg st="3" end="3"/>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110">
                                            <p:txEl>
                                              <p:pRg st="4" end="4"/>
                                            </p:txEl>
                                          </p:spTgt>
                                        </p:tgtEl>
                                        <p:attrNameLst>
                                          <p:attrName>style.visibility</p:attrName>
                                        </p:attrNameLst>
                                      </p:cBhvr>
                                      <p:to>
                                        <p:strVal val="visible"/>
                                      </p:to>
                                    </p:set>
                                    <p:animEffect transition="in" filter="fade">
                                      <p:cBhvr>
                                        <p:cTn id="18" dur="500"/>
                                        <p:tgtEl>
                                          <p:spTgt spid="1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545143" y="1922839"/>
            <a:ext cx="8053711" cy="23206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09" name="Rectangle 6"/>
          <p:cNvSpPr>
            <a:spLocks noChangeArrowheads="1"/>
          </p:cNvSpPr>
          <p:nvPr/>
        </p:nvSpPr>
        <p:spPr bwMode="auto">
          <a:xfrm>
            <a:off x="3248563" y="573213"/>
            <a:ext cx="264687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互联网</a:t>
            </a:r>
            <a:r>
              <a:rPr lang="zh-CN" altLang="en-US" sz="2400" b="1" dirty="0">
                <a:solidFill>
                  <a:schemeClr val="bg1"/>
                </a:solidFill>
                <a:latin typeface="微软雅黑" pitchFamily="34" charset="-122"/>
                <a:ea typeface="微软雅黑" pitchFamily="34" charset="-122"/>
              </a:rPr>
              <a:t>的域名结构</a:t>
            </a:r>
          </a:p>
        </p:txBody>
      </p:sp>
      <p:sp>
        <p:nvSpPr>
          <p:cNvPr id="110" name="Rectangle 8"/>
          <p:cNvSpPr>
            <a:spLocks noChangeArrowheads="1"/>
          </p:cNvSpPr>
          <p:nvPr/>
        </p:nvSpPr>
        <p:spPr bwMode="auto">
          <a:xfrm>
            <a:off x="545143" y="1028509"/>
            <a:ext cx="8053711"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域名结构</a:t>
            </a:r>
            <a:r>
              <a:rPr lang="zh-CN" altLang="en-US" sz="2000" b="1" dirty="0">
                <a:solidFill>
                  <a:srgbClr val="C00000"/>
                </a:solidFill>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层次结构。</a:t>
            </a:r>
            <a:r>
              <a:rPr lang="zh-CN" altLang="en-US" sz="2000" b="1" dirty="0" smtClean="0">
                <a:latin typeface="微软雅黑" pitchFamily="34" charset="-122"/>
                <a:ea typeface="微软雅黑" pitchFamily="34" charset="-122"/>
              </a:rPr>
              <a:t>由标签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label</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序列</a:t>
            </a:r>
            <a:r>
              <a:rPr lang="zh-CN" altLang="en-US" sz="2000" b="1" dirty="0">
                <a:latin typeface="微软雅黑" pitchFamily="34" charset="-122"/>
                <a:ea typeface="微软雅黑" pitchFamily="34" charset="-122"/>
              </a:rPr>
              <a:t>组成，</a:t>
            </a:r>
            <a:r>
              <a:rPr lang="zh-CN" altLang="en-US" sz="2000" b="1" dirty="0" smtClean="0">
                <a:latin typeface="微软雅黑" pitchFamily="34" charset="-122"/>
                <a:ea typeface="微软雅黑" pitchFamily="34" charset="-122"/>
              </a:rPr>
              <a:t>各标签之间</a:t>
            </a:r>
            <a:r>
              <a:rPr lang="zh-CN" altLang="en-US" sz="2000" b="1" dirty="0">
                <a:latin typeface="微软雅黑" pitchFamily="34" charset="-122"/>
                <a:ea typeface="微软雅黑" pitchFamily="34" charset="-122"/>
              </a:rPr>
              <a:t>用</a:t>
            </a:r>
            <a:r>
              <a:rPr lang="zh-CN" altLang="en-US" sz="2000" b="1" dirty="0" smtClean="0">
                <a:latin typeface="微软雅黑" pitchFamily="34" charset="-122"/>
                <a:ea typeface="微软雅黑" pitchFamily="34" charset="-122"/>
              </a:rPr>
              <a:t>点（</a:t>
            </a:r>
            <a:r>
              <a:rPr lang="en-US" altLang="zh-CN"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隔开，各标签分别</a:t>
            </a:r>
            <a:r>
              <a:rPr lang="zh-CN" altLang="en-US" sz="2000" b="1" dirty="0">
                <a:latin typeface="微软雅黑" pitchFamily="34" charset="-122"/>
                <a:ea typeface="微软雅黑" pitchFamily="34" charset="-122"/>
              </a:rPr>
              <a:t>代表不同级别的域名</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7" name="矩形 16"/>
          <p:cNvSpPr/>
          <p:nvPr/>
        </p:nvSpPr>
        <p:spPr>
          <a:xfrm>
            <a:off x="2902003" y="2848210"/>
            <a:ext cx="2134148" cy="400110"/>
          </a:xfrm>
          <a:prstGeom prst="rect">
            <a:avLst/>
          </a:prstGeom>
          <a:noFill/>
          <a:ln w="38100">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7"/>
          <p:cNvSpPr txBox="1">
            <a:spLocks noChangeArrowheads="1"/>
          </p:cNvSpPr>
          <p:nvPr/>
        </p:nvSpPr>
        <p:spPr bwMode="auto">
          <a:xfrm>
            <a:off x="3021625" y="2848210"/>
            <a:ext cx="2014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rgbClr val="C00000"/>
                </a:solidFill>
                <a:latin typeface="微软雅黑" panose="020B0503020204020204" pitchFamily="34" charset="-122"/>
                <a:ea typeface="微软雅黑" panose="020B0503020204020204" pitchFamily="34" charset="-122"/>
              </a:rPr>
              <a:t>mail.cctv.com </a:t>
            </a:r>
          </a:p>
        </p:txBody>
      </p:sp>
      <p:grpSp>
        <p:nvGrpSpPr>
          <p:cNvPr id="14" name="组合 13"/>
          <p:cNvGrpSpPr/>
          <p:nvPr/>
        </p:nvGrpSpPr>
        <p:grpSpPr>
          <a:xfrm>
            <a:off x="2242227" y="3156184"/>
            <a:ext cx="3654627" cy="914180"/>
            <a:chOff x="2014957" y="2987504"/>
            <a:chExt cx="3654627" cy="914180"/>
          </a:xfrm>
        </p:grpSpPr>
        <p:sp>
          <p:nvSpPr>
            <p:cNvPr id="7" name="Text Box 8"/>
            <p:cNvSpPr txBox="1">
              <a:spLocks noChangeArrowheads="1"/>
            </p:cNvSpPr>
            <p:nvPr/>
          </p:nvSpPr>
          <p:spPr bwMode="auto">
            <a:xfrm>
              <a:off x="2123250" y="3274842"/>
              <a:ext cx="336181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b="1" dirty="0">
                  <a:latin typeface="微软雅黑" panose="020B0503020204020204" pitchFamily="34" charset="-122"/>
                  <a:ea typeface="微软雅黑" panose="020B0503020204020204" pitchFamily="34" charset="-122"/>
                </a:rPr>
                <a:t>三级域名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二</a:t>
              </a:r>
              <a:r>
                <a:rPr lang="zh-CN" altLang="en-US" b="1" dirty="0">
                  <a:latin typeface="微软雅黑" panose="020B0503020204020204" pitchFamily="34" charset="-122"/>
                  <a:ea typeface="微软雅黑" panose="020B0503020204020204" pitchFamily="34" charset="-122"/>
                </a:rPr>
                <a:t>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顶级</a:t>
              </a:r>
              <a:r>
                <a:rPr lang="zh-CN" altLang="en-US" b="1" dirty="0">
                  <a:latin typeface="微软雅黑" panose="020B0503020204020204" pitchFamily="34" charset="-122"/>
                  <a:ea typeface="微软雅黑" panose="020B0503020204020204" pitchFamily="34" charset="-122"/>
                </a:rPr>
                <a:t>域名</a:t>
              </a:r>
            </a:p>
          </p:txBody>
        </p:sp>
        <p:sp>
          <p:nvSpPr>
            <p:cNvPr id="8" name="Line 9"/>
            <p:cNvSpPr>
              <a:spLocks noChangeShapeType="1"/>
            </p:cNvSpPr>
            <p:nvPr/>
          </p:nvSpPr>
          <p:spPr bwMode="auto">
            <a:xfrm flipV="1">
              <a:off x="3784308" y="2987504"/>
              <a:ext cx="0"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10"/>
            <p:cNvSpPr>
              <a:spLocks noChangeShapeType="1"/>
            </p:cNvSpPr>
            <p:nvPr/>
          </p:nvSpPr>
          <p:spPr bwMode="auto">
            <a:xfrm flipV="1">
              <a:off x="2674733" y="3013694"/>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1"/>
            <p:cNvSpPr>
              <a:spLocks noChangeShapeType="1"/>
            </p:cNvSpPr>
            <p:nvPr/>
          </p:nvSpPr>
          <p:spPr bwMode="auto">
            <a:xfrm flipH="1" flipV="1">
              <a:off x="4276776" y="3013698"/>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 name="矩形 2"/>
            <p:cNvSpPr/>
            <p:nvPr/>
          </p:nvSpPr>
          <p:spPr>
            <a:xfrm>
              <a:off x="2014957" y="3563130"/>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smtClean="0">
                  <a:solidFill>
                    <a:srgbClr val="0000FF"/>
                  </a:solidFill>
                  <a:latin typeface="微软雅黑" panose="020B0503020204020204" pitchFamily="34" charset="-122"/>
                  <a:ea typeface="微软雅黑" panose="020B0503020204020204" pitchFamily="34" charset="-122"/>
                </a:rPr>
                <a:t>级别最低）</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2" name="矩形 11"/>
            <p:cNvSpPr/>
            <p:nvPr/>
          </p:nvSpPr>
          <p:spPr>
            <a:xfrm>
              <a:off x="4253812" y="3563130"/>
              <a:ext cx="1415772" cy="338554"/>
            </a:xfrm>
            <a:prstGeom prst="rect">
              <a:avLst/>
            </a:prstGeom>
          </p:spPr>
          <p:txBody>
            <a:bodyPr wrap="none">
              <a:spAutoFit/>
            </a:bodyPr>
            <a:lstStyle/>
            <a:p>
              <a:r>
                <a:rPr lang="zh-CN" altLang="en-US" sz="1600" b="1" dirty="0" smtClean="0">
                  <a:solidFill>
                    <a:srgbClr val="9900FF"/>
                  </a:solidFill>
                  <a:latin typeface="微软雅黑" panose="020B0503020204020204" pitchFamily="34" charset="-122"/>
                  <a:ea typeface="微软雅黑" panose="020B0503020204020204" pitchFamily="34" charset="-122"/>
                </a:rPr>
                <a:t>（级别最高）</a:t>
              </a:r>
              <a:endParaRPr lang="zh-CN" altLang="en-US" sz="1600" b="1" dirty="0">
                <a:solidFill>
                  <a:srgbClr val="9900FF"/>
                </a:solidFill>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316609" y="2062198"/>
            <a:ext cx="2816797" cy="916986"/>
            <a:chOff x="3660125" y="2092751"/>
            <a:chExt cx="2816797" cy="1090208"/>
          </a:xfrm>
        </p:grpSpPr>
        <p:sp>
          <p:nvSpPr>
            <p:cNvPr id="4" name="矩形 3"/>
            <p:cNvSpPr/>
            <p:nvPr/>
          </p:nvSpPr>
          <p:spPr>
            <a:xfrm>
              <a:off x="3660125" y="2092751"/>
              <a:ext cx="2816797" cy="402508"/>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每一</a:t>
              </a:r>
              <a:r>
                <a:rPr lang="zh-CN" altLang="en-US" sz="1600" b="1" dirty="0" smtClean="0">
                  <a:latin typeface="微软雅黑" panose="020B0503020204020204" pitchFamily="34" charset="-122"/>
                  <a:ea typeface="微软雅黑" panose="020B0503020204020204" pitchFamily="34" charset="-122"/>
                </a:rPr>
                <a:t>个标签不超过 </a:t>
              </a:r>
              <a:r>
                <a:rPr lang="en-US" altLang="zh-CN" sz="1600" b="1" dirty="0" smtClean="0">
                  <a:latin typeface="微软雅黑" panose="020B0503020204020204" pitchFamily="34" charset="-122"/>
                  <a:ea typeface="微软雅黑" panose="020B0503020204020204" pitchFamily="34" charset="-122"/>
                </a:rPr>
                <a:t>63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p>
          </p:txBody>
        </p:sp>
        <p:sp>
          <p:nvSpPr>
            <p:cNvPr id="20" name="Line 11"/>
            <p:cNvSpPr>
              <a:spLocks noChangeShapeType="1"/>
            </p:cNvSpPr>
            <p:nvPr/>
          </p:nvSpPr>
          <p:spPr bwMode="auto">
            <a:xfrm>
              <a:off x="6104848" y="2502619"/>
              <a:ext cx="220054" cy="68034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19" name="组合 18"/>
          <p:cNvGrpSpPr/>
          <p:nvPr/>
        </p:nvGrpSpPr>
        <p:grpSpPr>
          <a:xfrm>
            <a:off x="1751022" y="2400264"/>
            <a:ext cx="1826141" cy="556780"/>
            <a:chOff x="4242919" y="2380321"/>
            <a:chExt cx="1826141" cy="661958"/>
          </a:xfrm>
        </p:grpSpPr>
        <p:sp>
          <p:nvSpPr>
            <p:cNvPr id="5" name="矩形 4"/>
            <p:cNvSpPr/>
            <p:nvPr/>
          </p:nvSpPr>
          <p:spPr>
            <a:xfrm>
              <a:off x="4242919" y="2380321"/>
              <a:ext cx="1826141" cy="338555"/>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不区分大小写字母</a:t>
              </a:r>
            </a:p>
          </p:txBody>
        </p:sp>
        <p:sp>
          <p:nvSpPr>
            <p:cNvPr id="21" name="Line 11"/>
            <p:cNvSpPr>
              <a:spLocks noChangeShapeType="1"/>
            </p:cNvSpPr>
            <p:nvPr/>
          </p:nvSpPr>
          <p:spPr bwMode="auto">
            <a:xfrm>
              <a:off x="5797824" y="2718876"/>
              <a:ext cx="100900" cy="323403"/>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22" name="组合 21"/>
          <p:cNvGrpSpPr/>
          <p:nvPr/>
        </p:nvGrpSpPr>
        <p:grpSpPr>
          <a:xfrm>
            <a:off x="4912310" y="2212153"/>
            <a:ext cx="3148621" cy="630485"/>
            <a:chOff x="4928337" y="2765085"/>
            <a:chExt cx="3148621" cy="630485"/>
          </a:xfrm>
        </p:grpSpPr>
        <p:sp>
          <p:nvSpPr>
            <p:cNvPr id="11" name="矩形 10"/>
            <p:cNvSpPr/>
            <p:nvPr/>
          </p:nvSpPr>
          <p:spPr>
            <a:xfrm>
              <a:off x="4928339" y="2765085"/>
              <a:ext cx="3148619"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完整域名总共不</a:t>
              </a:r>
              <a:r>
                <a:rPr lang="zh-CN" altLang="en-US" sz="1600" b="1" dirty="0" smtClean="0">
                  <a:latin typeface="微软雅黑" panose="020B0503020204020204" pitchFamily="34" charset="-122"/>
                  <a:ea typeface="微软雅黑" panose="020B0503020204020204" pitchFamily="34" charset="-122"/>
                </a:rPr>
                <a:t>超过 </a:t>
              </a:r>
              <a:r>
                <a:rPr lang="en-US" altLang="zh-CN" sz="1600" b="1" dirty="0" smtClean="0">
                  <a:latin typeface="微软雅黑" panose="020B0503020204020204" pitchFamily="34" charset="-122"/>
                  <a:ea typeface="微软雅黑" panose="020B0503020204020204" pitchFamily="34" charset="-122"/>
                </a:rPr>
                <a:t>255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p>
          </p:txBody>
        </p:sp>
        <p:sp>
          <p:nvSpPr>
            <p:cNvPr id="23" name="Line 11"/>
            <p:cNvSpPr>
              <a:spLocks noChangeShapeType="1"/>
            </p:cNvSpPr>
            <p:nvPr/>
          </p:nvSpPr>
          <p:spPr bwMode="auto">
            <a:xfrm flipH="1">
              <a:off x="4928337" y="3047553"/>
              <a:ext cx="197159" cy="348017"/>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24" name="矩形 23"/>
          <p:cNvSpPr/>
          <p:nvPr/>
        </p:nvSpPr>
        <p:spPr>
          <a:xfrm>
            <a:off x="6136955" y="2716147"/>
            <a:ext cx="2050884" cy="1015663"/>
          </a:xfrm>
          <a:prstGeom prst="rect">
            <a:avLst/>
          </a:prstGeom>
          <a:solidFill>
            <a:schemeClr val="bg1"/>
          </a:solidFill>
        </p:spPr>
        <p:txBody>
          <a:bodyPr wrap="square">
            <a:spAutoFit/>
          </a:bodyPr>
          <a:lstStyle/>
          <a:p>
            <a:pPr>
              <a:lnSpc>
                <a:spcPts val="2400"/>
              </a:lnSpc>
            </a:pPr>
            <a:r>
              <a:rPr lang="zh-CN" altLang="en-US" sz="1600" b="1" dirty="0" smtClean="0">
                <a:solidFill>
                  <a:srgbClr val="C00000"/>
                </a:solidFill>
                <a:latin typeface="微软雅黑" panose="020B0503020204020204" pitchFamily="34" charset="-122"/>
                <a:ea typeface="微软雅黑" panose="020B0503020204020204" pitchFamily="34" charset="-122"/>
              </a:rPr>
              <a:t>注意：</a:t>
            </a:r>
            <a:r>
              <a:rPr lang="zh-CN" altLang="en-US" sz="1600" b="1" dirty="0" smtClean="0">
                <a:latin typeface="微软雅黑" panose="020B0503020204020204" pitchFamily="34" charset="-122"/>
                <a:ea typeface="微软雅黑" panose="020B0503020204020204" pitchFamily="34" charset="-122"/>
              </a:rPr>
              <a:t>域名</a:t>
            </a:r>
            <a:r>
              <a:rPr lang="zh-CN" altLang="en-US" sz="1600" b="1" dirty="0">
                <a:latin typeface="微软雅黑" panose="020B0503020204020204" pitchFamily="34" charset="-122"/>
                <a:ea typeface="微软雅黑" panose="020B0503020204020204" pitchFamily="34" charset="-122"/>
              </a:rPr>
              <a:t>只是个逻辑概念，并不代表计算机所在的物理地点。</a:t>
            </a:r>
          </a:p>
        </p:txBody>
      </p:sp>
    </p:spTree>
    <p:custDataLst>
      <p:tags r:id="rId1"/>
    </p:custDataLst>
    <p:extLst>
      <p:ext uri="{BB962C8B-B14F-4D97-AF65-F5344CB8AC3E}">
        <p14:creationId xmlns:p14="http://schemas.microsoft.com/office/powerpoint/2010/main" val="10733735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1000"/>
                                        <p:tgtEl>
                                          <p:spTgt spid="18"/>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10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7"/>
                                        </p:tgtEl>
                                        <p:attrNameLst>
                                          <p:attrName>style.visibility</p:attrName>
                                        </p:attrNameLst>
                                      </p:cBhvr>
                                      <p:tavLst>
                                        <p:tav tm="0">
                                          <p:val>
                                            <p:strVal val="hidden"/>
                                          </p:val>
                                        </p:tav>
                                        <p:tav tm="50000">
                                          <p:val>
                                            <p:strVal val="visible"/>
                                          </p:val>
                                        </p:tav>
                                      </p:tavLst>
                                    </p:anim>
                                  </p:childTnLst>
                                </p:cTn>
                              </p:par>
                              <p:par>
                                <p:cTn id="24" presetID="22" presetClass="entr" presetSubtype="1"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10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2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59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 name="Rectangle 6"/>
          <p:cNvSpPr>
            <a:spLocks noChangeArrowheads="1"/>
          </p:cNvSpPr>
          <p:nvPr/>
        </p:nvSpPr>
        <p:spPr bwMode="auto">
          <a:xfrm>
            <a:off x="2396716" y="577386"/>
            <a:ext cx="43692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顶级</a:t>
            </a:r>
            <a:r>
              <a:rPr lang="zh-CN" altLang="en-US" sz="2000" b="1" dirty="0">
                <a:solidFill>
                  <a:schemeClr val="bg1"/>
                </a:solidFill>
                <a:latin typeface="微软雅黑" pitchFamily="34" charset="-122"/>
                <a:ea typeface="微软雅黑" pitchFamily="34" charset="-122"/>
              </a:rPr>
              <a:t>域名 </a:t>
            </a:r>
            <a:r>
              <a:rPr lang="en-US" altLang="zh-CN" sz="2000" b="1" dirty="0">
                <a:solidFill>
                  <a:schemeClr val="bg1"/>
                </a:solidFill>
                <a:latin typeface="微软雅黑" pitchFamily="34" charset="-122"/>
                <a:ea typeface="微软雅黑" pitchFamily="34" charset="-122"/>
              </a:rPr>
              <a:t>TLD (Top Level Domain)</a:t>
            </a:r>
            <a:endParaRPr lang="zh-CN" altLang="en-US" sz="2000" b="1" dirty="0" smtClean="0">
              <a:solidFill>
                <a:schemeClr val="bg1"/>
              </a:solidFill>
              <a:latin typeface="微软雅黑" pitchFamily="34" charset="-122"/>
              <a:ea typeface="微软雅黑" pitchFamily="34" charset="-122"/>
            </a:endParaRPr>
          </a:p>
        </p:txBody>
      </p:sp>
      <p:grpSp>
        <p:nvGrpSpPr>
          <p:cNvPr id="2" name="组合 1"/>
          <p:cNvGrpSpPr/>
          <p:nvPr/>
        </p:nvGrpSpPr>
        <p:grpSpPr>
          <a:xfrm>
            <a:off x="1064087" y="1019586"/>
            <a:ext cx="1695570" cy="2984244"/>
            <a:chOff x="1064087" y="1019586"/>
            <a:chExt cx="1695570" cy="2984244"/>
          </a:xfrm>
        </p:grpSpPr>
        <p:sp>
          <p:nvSpPr>
            <p:cNvPr id="4" name="任意多边形 3"/>
            <p:cNvSpPr/>
            <p:nvPr/>
          </p:nvSpPr>
          <p:spPr>
            <a:xfrm>
              <a:off x="1064087"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endParaRPr lang="en-US" altLang="zh-CN" sz="1400" b="1" kern="1200" dirty="0" smtClean="0">
                <a:latin typeface="微软雅黑" panose="020B0503020204020204" pitchFamily="34" charset="-122"/>
                <a:ea typeface="微软雅黑" panose="020B0503020204020204" pitchFamily="34" charset="-122"/>
              </a:endParaRPr>
            </a:p>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国家顶级域名 </a:t>
              </a:r>
              <a:r>
                <a:rPr lang="en-US" altLang="zh-CN" sz="1400" b="1" dirty="0" err="1" smtClean="0">
                  <a:latin typeface="微软雅黑" panose="020B0503020204020204" pitchFamily="34" charset="-122"/>
                  <a:ea typeface="微软雅黑" panose="020B0503020204020204" pitchFamily="34" charset="-122"/>
                </a:rPr>
                <a:t>cc</a:t>
              </a:r>
              <a:r>
                <a:rPr lang="en-US" altLang="en-US" sz="1400" b="1" kern="1200" dirty="0" err="1" smtClean="0">
                  <a:latin typeface="微软雅黑" panose="020B0503020204020204" pitchFamily="34" charset="-122"/>
                  <a:ea typeface="微软雅黑" panose="020B0503020204020204" pitchFamily="34" charset="-122"/>
                </a:rPr>
                <a:t>TLD</a:t>
              </a:r>
              <a:endParaRPr lang="zh-CN" altLang="en-US" sz="1400"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233644" y="1859180"/>
              <a:ext cx="1356456" cy="60399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采用 </a:t>
              </a:r>
              <a:r>
                <a:rPr lang="en-US" altLang="en-US" sz="1400" b="1" kern="1200" dirty="0" smtClean="0">
                  <a:latin typeface="微软雅黑" panose="020B0503020204020204" pitchFamily="34" charset="-122"/>
                  <a:ea typeface="微软雅黑" panose="020B0503020204020204" pitchFamily="34" charset="-122"/>
                </a:rPr>
                <a:t>ISO 3166</a:t>
              </a:r>
              <a:r>
                <a:rPr lang="zh-CN" altLang="en-US" sz="1400" b="1" kern="1200" dirty="0" smtClean="0">
                  <a:latin typeface="微软雅黑" panose="020B0503020204020204" pitchFamily="34" charset="-122"/>
                  <a:ea typeface="微软雅黑" panose="020B0503020204020204" pitchFamily="34" charset="-122"/>
                </a:rPr>
                <a:t>的规定</a:t>
              </a:r>
              <a:endParaRPr lang="zh-CN" altLang="en-US" sz="1400" b="1" kern="1200" dirty="0">
                <a:latin typeface="微软雅黑" panose="020B0503020204020204" pitchFamily="34" charset="-122"/>
                <a:ea typeface="微软雅黑" panose="020B0503020204020204" pitchFamily="34" charset="-122"/>
              </a:endParaRPr>
            </a:p>
          </p:txBody>
        </p:sp>
        <p:sp>
          <p:nvSpPr>
            <p:cNvPr id="9" name="任意多边形 8"/>
            <p:cNvSpPr/>
            <p:nvPr/>
          </p:nvSpPr>
          <p:spPr>
            <a:xfrm>
              <a:off x="1233644" y="2967264"/>
              <a:ext cx="1356456" cy="60399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2483469"/>
                <a:satOff val="9953"/>
                <a:lumOff val="2157"/>
                <a:alphaOff val="0"/>
              </a:schemeClr>
            </a:fillRef>
            <a:effectRef idx="1">
              <a:schemeClr val="accent5">
                <a:hueOff val="-2483469"/>
                <a:satOff val="9953"/>
                <a:lumOff val="2157"/>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200" b="1" kern="1200" dirty="0" smtClean="0">
                  <a:latin typeface="微软雅黑" panose="020B0503020204020204" pitchFamily="34" charset="-122"/>
                  <a:ea typeface="微软雅黑" panose="020B0503020204020204" pitchFamily="34" charset="-122"/>
                </a:rPr>
                <a:t>总数已达 </a:t>
              </a:r>
              <a:r>
                <a:rPr lang="en-US" altLang="en-US" sz="1200" b="1" kern="1200" dirty="0" smtClean="0">
                  <a:latin typeface="微软雅黑" panose="020B0503020204020204" pitchFamily="34" charset="-122"/>
                  <a:ea typeface="微软雅黑" panose="020B0503020204020204" pitchFamily="34" charset="-122"/>
                </a:rPr>
                <a:t>316 </a:t>
              </a:r>
              <a:r>
                <a:rPr lang="zh-CN" altLang="en-US" sz="1200" b="1" kern="1200" dirty="0" smtClean="0">
                  <a:latin typeface="微软雅黑" panose="020B0503020204020204" pitchFamily="34" charset="-122"/>
                  <a:ea typeface="微软雅黑" panose="020B0503020204020204" pitchFamily="34" charset="-122"/>
                </a:rPr>
                <a:t>个</a:t>
              </a:r>
              <a:endParaRPr lang="zh-CN" altLang="en-US" sz="1200" b="1" kern="1200" dirty="0">
                <a:latin typeface="微软雅黑" panose="020B0503020204020204" pitchFamily="34" charset="-122"/>
                <a:ea typeface="微软雅黑" panose="020B0503020204020204" pitchFamily="34" charset="-122"/>
              </a:endParaRPr>
            </a:p>
          </p:txBody>
        </p:sp>
      </p:grpSp>
      <p:grpSp>
        <p:nvGrpSpPr>
          <p:cNvPr id="3" name="组合 2"/>
          <p:cNvGrpSpPr/>
          <p:nvPr/>
        </p:nvGrpSpPr>
        <p:grpSpPr>
          <a:xfrm>
            <a:off x="2886825" y="1019586"/>
            <a:ext cx="1695570" cy="2984244"/>
            <a:chOff x="2886825" y="1019586"/>
            <a:chExt cx="1695570" cy="2984244"/>
          </a:xfrm>
        </p:grpSpPr>
        <p:sp>
          <p:nvSpPr>
            <p:cNvPr id="10" name="任意多边形 9"/>
            <p:cNvSpPr/>
            <p:nvPr/>
          </p:nvSpPr>
          <p:spPr>
            <a:xfrm>
              <a:off x="2886825"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通用顶级域名 </a:t>
              </a:r>
              <a:r>
                <a:rPr lang="en-US" altLang="en-US" sz="1400" b="1" kern="1200" dirty="0" err="1" smtClean="0">
                  <a:latin typeface="微软雅黑" panose="020B0503020204020204" pitchFamily="34" charset="-122"/>
                  <a:ea typeface="微软雅黑" panose="020B0503020204020204" pitchFamily="34" charset="-122"/>
                </a:rPr>
                <a:t>gTLD</a:t>
              </a:r>
              <a:endParaRPr lang="zh-CN" altLang="en-US" sz="1400" b="1" kern="1200" dirty="0">
                <a:latin typeface="微软雅黑" panose="020B0503020204020204" pitchFamily="34" charset="-122"/>
                <a:ea typeface="微软雅黑" panose="020B0503020204020204" pitchFamily="34" charset="-122"/>
              </a:endParaRPr>
            </a:p>
          </p:txBody>
        </p:sp>
        <p:sp>
          <p:nvSpPr>
            <p:cNvPr id="11" name="任意多边形 10"/>
            <p:cNvSpPr/>
            <p:nvPr/>
          </p:nvSpPr>
          <p:spPr>
            <a:xfrm>
              <a:off x="3056382" y="1828068"/>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3725204"/>
                <a:satOff val="14929"/>
                <a:lumOff val="3235"/>
                <a:alphaOff val="0"/>
              </a:schemeClr>
            </a:fillRef>
            <a:effectRef idx="1">
              <a:schemeClr val="accent5">
                <a:hueOff val="-3725204"/>
                <a:satOff val="14929"/>
                <a:lumOff val="3235"/>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en-US" altLang="en-US" sz="1400" b="1" kern="1200" dirty="0" smtClean="0">
                  <a:latin typeface="微软雅黑" panose="020B0503020204020204" pitchFamily="34" charset="-122"/>
                  <a:ea typeface="微软雅黑" panose="020B0503020204020204" pitchFamily="34" charset="-122"/>
                </a:rPr>
                <a:t>com</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net</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smtClean="0">
                  <a:latin typeface="微软雅黑" panose="020B0503020204020204" pitchFamily="34" charset="-122"/>
                  <a:ea typeface="微软雅黑" panose="020B0503020204020204" pitchFamily="34" charset="-122"/>
                </a:rPr>
                <a:t>org</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err="1" smtClean="0">
                  <a:latin typeface="微软雅黑" panose="020B0503020204020204" pitchFamily="34" charset="-122"/>
                  <a:ea typeface="微软雅黑" panose="020B0503020204020204" pitchFamily="34" charset="-122"/>
                </a:rPr>
                <a:t>edu</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err="1" smtClean="0">
                  <a:latin typeface="微软雅黑" panose="020B0503020204020204" pitchFamily="34" charset="-122"/>
                  <a:ea typeface="微软雅黑" panose="020B0503020204020204" pitchFamily="34" charset="-122"/>
                </a:rPr>
                <a:t>gov</a:t>
              </a:r>
              <a:r>
                <a:rPr lang="en-US" altLang="zh-CN" sz="1400" b="1" kern="1200" dirty="0" smtClean="0">
                  <a:latin typeface="微软雅黑" panose="020B0503020204020204" pitchFamily="34" charset="-122"/>
                  <a:ea typeface="微软雅黑" panose="020B0503020204020204" pitchFamily="34" charset="-122"/>
                </a:rPr>
                <a:t> </a:t>
              </a:r>
              <a:r>
                <a:rPr lang="zh-CN" altLang="en-US" sz="1400" b="1" kern="1200" dirty="0" smtClean="0">
                  <a:latin typeface="微软雅黑" panose="020B0503020204020204" pitchFamily="34" charset="-122"/>
                  <a:ea typeface="微软雅黑" panose="020B0503020204020204" pitchFamily="34" charset="-122"/>
                </a:rPr>
                <a:t>等</a:t>
              </a:r>
              <a:endParaRPr lang="zh-CN" altLang="en-US" sz="1400" b="1" kern="1200" dirty="0">
                <a:latin typeface="微软雅黑" panose="020B0503020204020204" pitchFamily="34" charset="-122"/>
                <a:ea typeface="微软雅黑" panose="020B0503020204020204" pitchFamily="34" charset="-122"/>
              </a:endParaRPr>
            </a:p>
          </p:txBody>
        </p:sp>
        <p:sp>
          <p:nvSpPr>
            <p:cNvPr id="12" name="任意多边形 11"/>
            <p:cNvSpPr/>
            <p:nvPr/>
          </p:nvSpPr>
          <p:spPr>
            <a:xfrm>
              <a:off x="3056382" y="2897650"/>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4966938"/>
                <a:satOff val="19906"/>
                <a:lumOff val="4314"/>
                <a:alphaOff val="0"/>
              </a:schemeClr>
            </a:fillRef>
            <a:effectRef idx="1">
              <a:schemeClr val="accent5">
                <a:hueOff val="-4966938"/>
                <a:satOff val="19906"/>
                <a:lumOff val="4314"/>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总数已达 </a:t>
              </a:r>
              <a:r>
                <a:rPr lang="en-US" altLang="en-US" sz="1400" b="1" kern="1200" dirty="0" smtClean="0">
                  <a:latin typeface="微软雅黑" panose="020B0503020204020204" pitchFamily="34" charset="-122"/>
                  <a:ea typeface="微软雅黑" panose="020B0503020204020204" pitchFamily="34" charset="-122"/>
                </a:rPr>
                <a:t>20 </a:t>
              </a:r>
              <a:r>
                <a:rPr lang="zh-CN" altLang="en-US" sz="1400" b="1" kern="1200" dirty="0" smtClean="0">
                  <a:latin typeface="微软雅黑" panose="020B0503020204020204" pitchFamily="34" charset="-122"/>
                  <a:ea typeface="微软雅黑" panose="020B0503020204020204" pitchFamily="34" charset="-122"/>
                </a:rPr>
                <a:t>个</a:t>
              </a:r>
              <a:endParaRPr lang="zh-CN" altLang="en-US" sz="1400" b="1" kern="1200" dirty="0">
                <a:latin typeface="微软雅黑" panose="020B0503020204020204" pitchFamily="34" charset="-122"/>
                <a:ea typeface="微软雅黑" panose="020B0503020204020204" pitchFamily="34" charset="-122"/>
              </a:endParaRPr>
            </a:p>
          </p:txBody>
        </p:sp>
      </p:grpSp>
      <p:grpSp>
        <p:nvGrpSpPr>
          <p:cNvPr id="8" name="组合 7"/>
          <p:cNvGrpSpPr/>
          <p:nvPr/>
        </p:nvGrpSpPr>
        <p:grpSpPr>
          <a:xfrm>
            <a:off x="4709563" y="1019586"/>
            <a:ext cx="1695570" cy="2984244"/>
            <a:chOff x="4709563" y="1019586"/>
            <a:chExt cx="1695570" cy="2984244"/>
          </a:xfrm>
        </p:grpSpPr>
        <p:sp>
          <p:nvSpPr>
            <p:cNvPr id="13" name="任意多边形 12"/>
            <p:cNvSpPr/>
            <p:nvPr/>
          </p:nvSpPr>
          <p:spPr>
            <a:xfrm>
              <a:off x="4709563"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t"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基础结构域名</a:t>
              </a:r>
              <a:r>
                <a:rPr lang="en-US" altLang="en-US" sz="1400" b="1" kern="1200" dirty="0" smtClean="0">
                  <a:latin typeface="微软雅黑" panose="020B0503020204020204" pitchFamily="34" charset="-122"/>
                  <a:ea typeface="微软雅黑" panose="020B0503020204020204" pitchFamily="34" charset="-122"/>
                </a:rPr>
                <a:t>(infrastructure domain)</a:t>
              </a:r>
              <a:endParaRPr lang="zh-CN" altLang="en-US" sz="1400" b="1" kern="1200" dirty="0">
                <a:latin typeface="微软雅黑" panose="020B0503020204020204" pitchFamily="34" charset="-122"/>
                <a:ea typeface="微软雅黑" panose="020B0503020204020204" pitchFamily="34" charset="-122"/>
              </a:endParaRPr>
            </a:p>
          </p:txBody>
        </p:sp>
        <p:sp>
          <p:nvSpPr>
            <p:cNvPr id="14" name="任意多边形 13"/>
            <p:cNvSpPr/>
            <p:nvPr/>
          </p:nvSpPr>
          <p:spPr>
            <a:xfrm>
              <a:off x="4879120" y="1828068"/>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6208672"/>
                <a:satOff val="24882"/>
                <a:lumOff val="5392"/>
                <a:alphaOff val="0"/>
              </a:schemeClr>
            </a:fillRef>
            <a:effectRef idx="1">
              <a:schemeClr val="accent5">
                <a:hueOff val="-6208672"/>
                <a:satOff val="24882"/>
                <a:lumOff val="5392"/>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只有一个：</a:t>
              </a:r>
              <a:r>
                <a:rPr lang="en-US" altLang="en-US" sz="1400" b="1" kern="1200" dirty="0" err="1" smtClean="0">
                  <a:latin typeface="微软雅黑" panose="020B0503020204020204" pitchFamily="34" charset="-122"/>
                  <a:ea typeface="微软雅黑" panose="020B0503020204020204" pitchFamily="34" charset="-122"/>
                </a:rPr>
                <a:t>arpa</a:t>
              </a:r>
              <a:endParaRPr lang="zh-CN" altLang="en-US" sz="1400" b="1" kern="1200" dirty="0">
                <a:latin typeface="微软雅黑" panose="020B0503020204020204" pitchFamily="34" charset="-122"/>
                <a:ea typeface="微软雅黑" panose="020B0503020204020204" pitchFamily="34" charset="-122"/>
              </a:endParaRPr>
            </a:p>
          </p:txBody>
        </p:sp>
        <p:sp>
          <p:nvSpPr>
            <p:cNvPr id="15" name="任意多边形 14"/>
            <p:cNvSpPr/>
            <p:nvPr/>
          </p:nvSpPr>
          <p:spPr>
            <a:xfrm>
              <a:off x="4879120" y="2897650"/>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7450407"/>
                <a:satOff val="29858"/>
                <a:lumOff val="6471"/>
                <a:alphaOff val="0"/>
              </a:schemeClr>
            </a:fillRef>
            <a:effectRef idx="1">
              <a:schemeClr val="accent5">
                <a:hueOff val="-7450407"/>
                <a:satOff val="29858"/>
                <a:lumOff val="6471"/>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用于反向域名解析，又称为反向域名</a:t>
              </a:r>
              <a:endParaRPr lang="zh-CN" altLang="en-US" sz="1400" b="1" kern="1200"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6532301" y="1019586"/>
            <a:ext cx="1695570" cy="2984244"/>
            <a:chOff x="6532301" y="1019585"/>
            <a:chExt cx="1695570" cy="3232819"/>
          </a:xfrm>
        </p:grpSpPr>
        <p:sp>
          <p:nvSpPr>
            <p:cNvPr id="16" name="任意多边形 15"/>
            <p:cNvSpPr/>
            <p:nvPr/>
          </p:nvSpPr>
          <p:spPr>
            <a:xfrm>
              <a:off x="6532301"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a:ln w="19050">
              <a:solidFill>
                <a:srgbClr val="000066"/>
              </a:solidFill>
              <a:prstDash val="sysDash"/>
            </a:ln>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新通用顶级域名</a:t>
              </a:r>
              <a:endParaRPr lang="en-US" altLang="zh-CN" sz="1400" b="1" kern="1200" dirty="0" smtClean="0">
                <a:latin typeface="微软雅黑" panose="020B0503020204020204" pitchFamily="34" charset="-122"/>
                <a:ea typeface="微软雅黑" panose="020B0503020204020204" pitchFamily="34" charset="-122"/>
              </a:endParaRPr>
            </a:p>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New </a:t>
              </a:r>
              <a:r>
                <a:rPr lang="en-US" altLang="en-US" sz="1400" b="1" kern="1200" dirty="0" err="1" smtClean="0">
                  <a:latin typeface="微软雅黑" panose="020B0503020204020204" pitchFamily="34" charset="-122"/>
                  <a:ea typeface="微软雅黑" panose="020B0503020204020204" pitchFamily="34" charset="-122"/>
                </a:rPr>
                <a:t>gTLD</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p:txBody>
        </p:sp>
        <p:sp>
          <p:nvSpPr>
            <p:cNvPr id="17" name="任意多边形 16"/>
            <p:cNvSpPr/>
            <p:nvPr/>
          </p:nvSpPr>
          <p:spPr>
            <a:xfrm>
              <a:off x="6701858"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8692142"/>
                <a:satOff val="34835"/>
                <a:lumOff val="7549"/>
                <a:alphaOff val="0"/>
              </a:schemeClr>
            </a:fillRef>
            <a:effectRef idx="1">
              <a:schemeClr val="accent5">
                <a:hueOff val="-8692142"/>
                <a:satOff val="34835"/>
                <a:lumOff val="7549"/>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任何公司、机构都有权向</a:t>
              </a:r>
              <a:r>
                <a:rPr lang="en-US" altLang="en-US" sz="1400" b="1" kern="1200" dirty="0" smtClean="0">
                  <a:latin typeface="微软雅黑" panose="020B0503020204020204" pitchFamily="34" charset="-122"/>
                  <a:ea typeface="微软雅黑" panose="020B0503020204020204" pitchFamily="34" charset="-122"/>
                </a:rPr>
                <a:t>ICANN </a:t>
              </a:r>
              <a:r>
                <a:rPr lang="zh-CN" altLang="en-US" sz="1400" b="1" kern="1200" dirty="0" smtClean="0">
                  <a:latin typeface="微软雅黑" panose="020B0503020204020204" pitchFamily="34" charset="-122"/>
                  <a:ea typeface="微软雅黑" panose="020B0503020204020204" pitchFamily="34" charset="-122"/>
                </a:rPr>
                <a:t>申请新的顶级域</a:t>
              </a:r>
              <a:r>
                <a:rPr lang="zh-CN" altLang="en-US" sz="1400" b="1" dirty="0">
                  <a:latin typeface="微软雅黑" panose="020B0503020204020204" pitchFamily="34" charset="-122"/>
                  <a:ea typeface="微软雅黑" panose="020B0503020204020204" pitchFamily="34" charset="-122"/>
                </a:rPr>
                <a:t>名</a:t>
              </a:r>
              <a:endParaRPr lang="zh-CN" altLang="en-US" sz="1400" b="1" kern="1200" dirty="0">
                <a:latin typeface="微软雅黑" panose="020B0503020204020204" pitchFamily="34" charset="-122"/>
                <a:ea typeface="微软雅黑" panose="020B0503020204020204" pitchFamily="34" charset="-122"/>
              </a:endParaRPr>
            </a:p>
          </p:txBody>
        </p:sp>
        <p:sp>
          <p:nvSpPr>
            <p:cNvPr id="18" name="任意多边形 17"/>
            <p:cNvSpPr/>
            <p:nvPr/>
          </p:nvSpPr>
          <p:spPr>
            <a:xfrm>
              <a:off x="6701858"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9933876"/>
                <a:satOff val="39811"/>
                <a:lumOff val="8628"/>
                <a:alphaOff val="0"/>
              </a:schemeClr>
            </a:fillRef>
            <a:effectRef idx="1">
              <a:schemeClr val="accent5">
                <a:hueOff val="-9933876"/>
                <a:satOff val="39811"/>
                <a:lumOff val="8628"/>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真正的企业网络商标</a:t>
              </a:r>
              <a:endParaRPr lang="zh-CN" altLang="en-US" sz="1400" b="1" kern="1200" dirty="0">
                <a:latin typeface="微软雅黑" panose="020B0503020204020204" pitchFamily="34" charset="-122"/>
                <a:ea typeface="微软雅黑" panose="020B0503020204020204" pitchFamily="34" charset="-122"/>
              </a:endParaRPr>
            </a:p>
          </p:txBody>
        </p:sp>
      </p:grpSp>
      <p:sp>
        <p:nvSpPr>
          <p:cNvPr id="20" name="矩形 19"/>
          <p:cNvSpPr/>
          <p:nvPr/>
        </p:nvSpPr>
        <p:spPr>
          <a:xfrm>
            <a:off x="1389888" y="4023377"/>
            <a:ext cx="6668426" cy="707886"/>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在国家顶级域名下注册的二级域名均由该国家自行确定</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我国把二级域名划分为“</a:t>
            </a:r>
            <a:r>
              <a:rPr lang="zh-CN" altLang="en-US" sz="1600" b="1" dirty="0">
                <a:solidFill>
                  <a:srgbClr val="0000CC"/>
                </a:solidFill>
                <a:latin typeface="微软雅黑" panose="020B0503020204020204" pitchFamily="34" charset="-122"/>
                <a:ea typeface="微软雅黑" panose="020B0503020204020204" pitchFamily="34" charset="-122"/>
              </a:rPr>
              <a:t>类别域名</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0000CC"/>
                </a:solidFill>
                <a:latin typeface="微软雅黑" panose="020B0503020204020204" pitchFamily="34" charset="-122"/>
                <a:ea typeface="微软雅黑" panose="020B0503020204020204" pitchFamily="34" charset="-122"/>
              </a:rPr>
              <a:t>行政区域名</a:t>
            </a:r>
            <a:r>
              <a:rPr lang="zh-CN" altLang="en-US" sz="1600" b="1" dirty="0">
                <a:latin typeface="微软雅黑" panose="020B0503020204020204" pitchFamily="34" charset="-122"/>
                <a:ea typeface="微软雅黑" panose="020B0503020204020204" pitchFamily="34" charset="-122"/>
              </a:rPr>
              <a:t>”两大类。</a:t>
            </a:r>
          </a:p>
        </p:txBody>
      </p:sp>
    </p:spTree>
    <p:custDataLst>
      <p:tags r:id="rId1"/>
    </p:custDataLst>
    <p:extLst>
      <p:ext uri="{BB962C8B-B14F-4D97-AF65-F5344CB8AC3E}">
        <p14:creationId xmlns:p14="http://schemas.microsoft.com/office/powerpoint/2010/main" val="22009552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10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wipe(up)">
                                      <p:cBhvr>
                                        <p:cTn id="27"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互联网的域名</a:t>
            </a:r>
            <a:r>
              <a:rPr lang="zh-CN" altLang="en-US" sz="2000" b="1" dirty="0" smtClean="0">
                <a:solidFill>
                  <a:schemeClr val="bg1"/>
                </a:solidFill>
                <a:latin typeface="微软雅黑" pitchFamily="34" charset="-122"/>
                <a:ea typeface="微软雅黑" pitchFamily="34" charset="-122"/>
              </a:rPr>
              <a:t>空间</a:t>
            </a:r>
            <a:r>
              <a:rPr lang="zh-CN" altLang="en-US" sz="2000" b="1" dirty="0">
                <a:solidFill>
                  <a:schemeClr val="bg1"/>
                </a:solidFill>
                <a:latin typeface="微软雅黑" pitchFamily="34" charset="-122"/>
                <a:ea typeface="微软雅黑" pitchFamily="34" charset="-122"/>
              </a:rPr>
              <a:t>结构</a:t>
            </a:r>
            <a:endParaRPr lang="zh-CN" altLang="en-US" sz="2000" b="1" dirty="0" smtClean="0">
              <a:solidFill>
                <a:schemeClr val="bg1"/>
              </a:solidFill>
              <a:latin typeface="微软雅黑" pitchFamily="34" charset="-122"/>
              <a:ea typeface="微软雅黑" pitchFamily="34" charset="-122"/>
            </a:endParaRPr>
          </a:p>
        </p:txBody>
      </p:sp>
      <p:sp>
        <p:nvSpPr>
          <p:cNvPr id="80" name="圆角矩形 79"/>
          <p:cNvSpPr/>
          <p:nvPr/>
        </p:nvSpPr>
        <p:spPr>
          <a:xfrm>
            <a:off x="556963" y="1006405"/>
            <a:ext cx="8048776" cy="318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Rectangle 122"/>
          <p:cNvSpPr>
            <a:spLocks noChangeArrowheads="1"/>
          </p:cNvSpPr>
          <p:nvPr/>
        </p:nvSpPr>
        <p:spPr bwMode="auto">
          <a:xfrm>
            <a:off x="4927416" y="1019374"/>
            <a:ext cx="1675702" cy="324229"/>
          </a:xfrm>
          <a:prstGeom prst="rect">
            <a:avLst/>
          </a:prstGeom>
          <a:solidFill>
            <a:srgbClr val="C3E3F9"/>
          </a:solidFill>
          <a:ln>
            <a:noFill/>
          </a:ln>
          <a:effectLst/>
          <a:extLst/>
        </p:spPr>
        <p:txBody>
          <a:bodyPr wrap="none" anchor="ctr"/>
          <a:lstStyle/>
          <a:p>
            <a:pPr algn="ctr"/>
            <a:r>
              <a:rPr kumimoji="1" lang="zh-CN" altLang="en-US" sz="1600" b="1" dirty="0" smtClean="0">
                <a:solidFill>
                  <a:srgbClr val="C00000"/>
                </a:solidFill>
                <a:latin typeface="微软雅黑" pitchFamily="34" charset="-122"/>
                <a:ea typeface="微软雅黑" pitchFamily="34" charset="-122"/>
              </a:rPr>
              <a:t>根</a:t>
            </a:r>
            <a:r>
              <a:rPr kumimoji="1" lang="zh-CN" altLang="en-US" sz="1600" b="1" dirty="0">
                <a:latin typeface="微软雅黑" pitchFamily="34" charset="-122"/>
                <a:ea typeface="微软雅黑" pitchFamily="34" charset="-122"/>
              </a:rPr>
              <a:t>（根没有名字）</a:t>
            </a:r>
          </a:p>
        </p:txBody>
      </p:sp>
      <p:grpSp>
        <p:nvGrpSpPr>
          <p:cNvPr id="82" name="Group 216"/>
          <p:cNvGrpSpPr>
            <a:grpSpLocks/>
          </p:cNvGrpSpPr>
          <p:nvPr/>
        </p:nvGrpSpPr>
        <p:grpSpPr bwMode="auto">
          <a:xfrm>
            <a:off x="1111677" y="3394713"/>
            <a:ext cx="6369560" cy="756537"/>
            <a:chOff x="113" y="2435"/>
            <a:chExt cx="5005" cy="644"/>
          </a:xfrm>
        </p:grpSpPr>
        <p:sp>
          <p:nvSpPr>
            <p:cNvPr id="84" name="Rectangle 130"/>
            <p:cNvSpPr>
              <a:spLocks noChangeArrowheads="1"/>
            </p:cNvSpPr>
            <p:nvPr/>
          </p:nvSpPr>
          <p:spPr bwMode="auto">
            <a:xfrm>
              <a:off x="113" y="2811"/>
              <a:ext cx="708" cy="260"/>
            </a:xfrm>
            <a:prstGeom prst="rect">
              <a:avLst/>
            </a:prstGeom>
            <a:solidFill>
              <a:srgbClr val="008000"/>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四级域名</a:t>
              </a:r>
            </a:p>
          </p:txBody>
        </p:sp>
        <p:sp>
          <p:nvSpPr>
            <p:cNvPr id="85" name="Text Box 131"/>
            <p:cNvSpPr txBox="1">
              <a:spLocks noChangeArrowheads="1"/>
            </p:cNvSpPr>
            <p:nvPr/>
          </p:nvSpPr>
          <p:spPr bwMode="auto">
            <a:xfrm>
              <a:off x="3556" y="2817"/>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pitchFamily="34" charset="-122"/>
                  <a:ea typeface="微软雅黑" pitchFamily="34" charset="-122"/>
                </a:rPr>
                <a:t>mail</a:t>
              </a:r>
            </a:p>
          </p:txBody>
        </p:sp>
        <p:sp>
          <p:nvSpPr>
            <p:cNvPr id="86" name="Text Box 132"/>
            <p:cNvSpPr txBox="1">
              <a:spLocks noChangeArrowheads="1"/>
            </p:cNvSpPr>
            <p:nvPr/>
          </p:nvSpPr>
          <p:spPr bwMode="auto">
            <a:xfrm>
              <a:off x="4165" y="2801"/>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87" name="Text Box 151"/>
            <p:cNvSpPr txBox="1">
              <a:spLocks noChangeArrowheads="1"/>
            </p:cNvSpPr>
            <p:nvPr/>
          </p:nvSpPr>
          <p:spPr bwMode="auto">
            <a:xfrm>
              <a:off x="4614" y="2817"/>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rgbClr val="0000CC"/>
                  </a:solidFill>
                  <a:latin typeface="微软雅黑" pitchFamily="34" charset="-122"/>
                  <a:ea typeface="微软雅黑" pitchFamily="34" charset="-122"/>
                </a:rPr>
                <a:t>www</a:t>
              </a:r>
            </a:p>
          </p:txBody>
        </p:sp>
        <p:sp>
          <p:nvSpPr>
            <p:cNvPr id="88" name="Line 155"/>
            <p:cNvSpPr>
              <a:spLocks noChangeShapeType="1"/>
            </p:cNvSpPr>
            <p:nvPr/>
          </p:nvSpPr>
          <p:spPr bwMode="auto">
            <a:xfrm>
              <a:off x="4381" y="2435"/>
              <a:ext cx="437" cy="4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9" name="Line 156"/>
            <p:cNvSpPr>
              <a:spLocks noChangeShapeType="1"/>
            </p:cNvSpPr>
            <p:nvPr/>
          </p:nvSpPr>
          <p:spPr bwMode="auto">
            <a:xfrm flipH="1">
              <a:off x="3819" y="2440"/>
              <a:ext cx="560"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0" name="Group 214"/>
          <p:cNvGrpSpPr>
            <a:grpSpLocks/>
          </p:cNvGrpSpPr>
          <p:nvPr/>
        </p:nvGrpSpPr>
        <p:grpSpPr bwMode="auto">
          <a:xfrm>
            <a:off x="1111677" y="1962694"/>
            <a:ext cx="6915523" cy="765934"/>
            <a:chOff x="113" y="1216"/>
            <a:chExt cx="5434" cy="652"/>
          </a:xfrm>
        </p:grpSpPr>
        <p:sp>
          <p:nvSpPr>
            <p:cNvPr id="92" name="Text Box 105"/>
            <p:cNvSpPr txBox="1">
              <a:spLocks noChangeArrowheads="1"/>
            </p:cNvSpPr>
            <p:nvPr/>
          </p:nvSpPr>
          <p:spPr bwMode="auto">
            <a:xfrm>
              <a:off x="1882"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93" name="Text Box 115"/>
            <p:cNvSpPr txBox="1">
              <a:spLocks noChangeArrowheads="1"/>
            </p:cNvSpPr>
            <p:nvPr/>
          </p:nvSpPr>
          <p:spPr bwMode="auto">
            <a:xfrm>
              <a:off x="3956" y="1593"/>
              <a:ext cx="28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bj</a:t>
              </a:r>
            </a:p>
          </p:txBody>
        </p:sp>
        <p:sp>
          <p:nvSpPr>
            <p:cNvPr id="94" name="Text Box 116"/>
            <p:cNvSpPr txBox="1">
              <a:spLocks noChangeArrowheads="1"/>
            </p:cNvSpPr>
            <p:nvPr/>
          </p:nvSpPr>
          <p:spPr bwMode="auto">
            <a:xfrm>
              <a:off x="4554" y="1592"/>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95" name="Text Box 117"/>
            <p:cNvSpPr txBox="1">
              <a:spLocks noChangeArrowheads="1"/>
            </p:cNvSpPr>
            <p:nvPr/>
          </p:nvSpPr>
          <p:spPr bwMode="auto">
            <a:xfrm>
              <a:off x="5097" y="1592"/>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com</a:t>
              </a:r>
            </a:p>
          </p:txBody>
        </p:sp>
        <p:sp>
          <p:nvSpPr>
            <p:cNvPr id="96" name="Text Box 118"/>
            <p:cNvSpPr txBox="1">
              <a:spLocks noChangeArrowheads="1"/>
            </p:cNvSpPr>
            <p:nvPr/>
          </p:nvSpPr>
          <p:spPr bwMode="auto">
            <a:xfrm>
              <a:off x="4277"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97" name="Text Box 123"/>
            <p:cNvSpPr txBox="1">
              <a:spLocks noChangeArrowheads="1"/>
            </p:cNvSpPr>
            <p:nvPr/>
          </p:nvSpPr>
          <p:spPr bwMode="auto">
            <a:xfrm>
              <a:off x="1437" y="1592"/>
              <a:ext cx="43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cctv</a:t>
              </a:r>
            </a:p>
          </p:txBody>
        </p:sp>
        <p:sp>
          <p:nvSpPr>
            <p:cNvPr id="98" name="Text Box 124"/>
            <p:cNvSpPr txBox="1">
              <a:spLocks noChangeArrowheads="1"/>
            </p:cNvSpPr>
            <p:nvPr/>
          </p:nvSpPr>
          <p:spPr bwMode="auto">
            <a:xfrm>
              <a:off x="2185" y="1591"/>
              <a:ext cx="42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ibm</a:t>
              </a:r>
            </a:p>
          </p:txBody>
        </p:sp>
        <p:sp>
          <p:nvSpPr>
            <p:cNvPr id="99" name="Text Box 125"/>
            <p:cNvSpPr txBox="1">
              <a:spLocks noChangeArrowheads="1"/>
            </p:cNvSpPr>
            <p:nvPr/>
          </p:nvSpPr>
          <p:spPr bwMode="auto">
            <a:xfrm>
              <a:off x="2546" y="1592"/>
              <a:ext cx="65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pitchFamily="34" charset="-122"/>
                  <a:ea typeface="微软雅黑" pitchFamily="34" charset="-122"/>
                </a:rPr>
                <a:t>h</a:t>
              </a:r>
              <a:r>
                <a:rPr kumimoji="1" lang="en-US" altLang="zh-CN" sz="1400" b="1" dirty="0" err="1" smtClean="0">
                  <a:solidFill>
                    <a:schemeClr val="tx1"/>
                  </a:solidFill>
                  <a:latin typeface="微软雅黑" pitchFamily="34" charset="-122"/>
                  <a:ea typeface="微软雅黑" pitchFamily="34" charset="-122"/>
                </a:rPr>
                <a:t>uawei</a:t>
              </a:r>
              <a:endParaRPr kumimoji="1" lang="en-US" altLang="zh-CN" sz="1400" b="1" dirty="0">
                <a:solidFill>
                  <a:schemeClr val="tx1"/>
                </a:solidFill>
                <a:latin typeface="微软雅黑" pitchFamily="34" charset="-122"/>
                <a:ea typeface="微软雅黑" pitchFamily="34" charset="-122"/>
              </a:endParaRPr>
            </a:p>
          </p:txBody>
        </p:sp>
        <p:sp>
          <p:nvSpPr>
            <p:cNvPr id="100" name="Rectangle 127"/>
            <p:cNvSpPr>
              <a:spLocks noChangeArrowheads="1"/>
            </p:cNvSpPr>
            <p:nvPr/>
          </p:nvSpPr>
          <p:spPr bwMode="auto">
            <a:xfrm>
              <a:off x="113" y="1608"/>
              <a:ext cx="708" cy="260"/>
            </a:xfrm>
            <a:prstGeom prst="rect">
              <a:avLst/>
            </a:prstGeom>
            <a:solidFill>
              <a:srgbClr val="0066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二级域名</a:t>
              </a:r>
            </a:p>
          </p:txBody>
        </p:sp>
        <p:sp>
          <p:nvSpPr>
            <p:cNvPr id="101" name="Line 142"/>
            <p:cNvSpPr>
              <a:spLocks noChangeShapeType="1"/>
            </p:cNvSpPr>
            <p:nvPr/>
          </p:nvSpPr>
          <p:spPr bwMode="auto">
            <a:xfrm>
              <a:off x="2180" y="1274"/>
              <a:ext cx="213" cy="3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2" name="Line 143"/>
            <p:cNvSpPr>
              <a:spLocks noChangeShapeType="1"/>
            </p:cNvSpPr>
            <p:nvPr/>
          </p:nvSpPr>
          <p:spPr bwMode="auto">
            <a:xfrm>
              <a:off x="2173" y="1269"/>
              <a:ext cx="546" cy="3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3" name="Line 144"/>
            <p:cNvSpPr>
              <a:spLocks noChangeShapeType="1"/>
            </p:cNvSpPr>
            <p:nvPr/>
          </p:nvSpPr>
          <p:spPr bwMode="auto">
            <a:xfrm flipV="1">
              <a:off x="1672" y="1279"/>
              <a:ext cx="501" cy="34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4" name="Line 145"/>
            <p:cNvSpPr>
              <a:spLocks noChangeShapeType="1"/>
            </p:cNvSpPr>
            <p:nvPr/>
          </p:nvSpPr>
          <p:spPr bwMode="auto">
            <a:xfrm>
              <a:off x="4662" y="1216"/>
              <a:ext cx="111" cy="43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5" name="Line 146"/>
            <p:cNvSpPr>
              <a:spLocks noChangeShapeType="1"/>
            </p:cNvSpPr>
            <p:nvPr/>
          </p:nvSpPr>
          <p:spPr bwMode="auto">
            <a:xfrm>
              <a:off x="4665" y="1224"/>
              <a:ext cx="626" cy="40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6" name="Line 147"/>
            <p:cNvSpPr>
              <a:spLocks noChangeShapeType="1"/>
            </p:cNvSpPr>
            <p:nvPr/>
          </p:nvSpPr>
          <p:spPr bwMode="auto">
            <a:xfrm flipH="1">
              <a:off x="4090" y="1224"/>
              <a:ext cx="572" cy="39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07" name="Group 157"/>
            <p:cNvGrpSpPr>
              <a:grpSpLocks/>
            </p:cNvGrpSpPr>
            <p:nvPr/>
          </p:nvGrpSpPr>
          <p:grpSpPr bwMode="auto">
            <a:xfrm>
              <a:off x="1168" y="1244"/>
              <a:ext cx="268" cy="101"/>
              <a:chOff x="2875" y="1143"/>
              <a:chExt cx="330" cy="132"/>
            </a:xfrm>
          </p:grpSpPr>
          <p:sp>
            <p:nvSpPr>
              <p:cNvPr id="133" name="Line 15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Line 15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Line 16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6" name="Line 16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8" name="Group 162"/>
            <p:cNvGrpSpPr>
              <a:grpSpLocks/>
            </p:cNvGrpSpPr>
            <p:nvPr/>
          </p:nvGrpSpPr>
          <p:grpSpPr bwMode="auto">
            <a:xfrm>
              <a:off x="2507" y="1244"/>
              <a:ext cx="268" cy="101"/>
              <a:chOff x="2875" y="1143"/>
              <a:chExt cx="330" cy="132"/>
            </a:xfrm>
          </p:grpSpPr>
          <p:sp>
            <p:nvSpPr>
              <p:cNvPr id="129" name="Line 16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0" name="Line 16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1" name="Line 16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2" name="Line 16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9" name="Group 167"/>
            <p:cNvGrpSpPr>
              <a:grpSpLocks/>
            </p:cNvGrpSpPr>
            <p:nvPr/>
          </p:nvGrpSpPr>
          <p:grpSpPr bwMode="auto">
            <a:xfrm>
              <a:off x="2936" y="1244"/>
              <a:ext cx="268" cy="101"/>
              <a:chOff x="2875" y="1143"/>
              <a:chExt cx="330" cy="132"/>
            </a:xfrm>
          </p:grpSpPr>
          <p:sp>
            <p:nvSpPr>
              <p:cNvPr id="125" name="Line 16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6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7" name="Line 17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8" name="Line 17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0" name="Group 172"/>
            <p:cNvGrpSpPr>
              <a:grpSpLocks/>
            </p:cNvGrpSpPr>
            <p:nvPr/>
          </p:nvGrpSpPr>
          <p:grpSpPr bwMode="auto">
            <a:xfrm>
              <a:off x="3363" y="1244"/>
              <a:ext cx="268" cy="101"/>
              <a:chOff x="2875" y="1143"/>
              <a:chExt cx="330" cy="132"/>
            </a:xfrm>
          </p:grpSpPr>
          <p:sp>
            <p:nvSpPr>
              <p:cNvPr id="121" name="Line 17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17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7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7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1" name="Group 177"/>
            <p:cNvGrpSpPr>
              <a:grpSpLocks/>
            </p:cNvGrpSpPr>
            <p:nvPr/>
          </p:nvGrpSpPr>
          <p:grpSpPr bwMode="auto">
            <a:xfrm>
              <a:off x="3792" y="1244"/>
              <a:ext cx="268" cy="101"/>
              <a:chOff x="2875" y="1143"/>
              <a:chExt cx="330" cy="132"/>
            </a:xfrm>
          </p:grpSpPr>
          <p:sp>
            <p:nvSpPr>
              <p:cNvPr id="117" name="Line 17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8" name="Line 17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8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18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182"/>
            <p:cNvGrpSpPr>
              <a:grpSpLocks/>
            </p:cNvGrpSpPr>
            <p:nvPr/>
          </p:nvGrpSpPr>
          <p:grpSpPr bwMode="auto">
            <a:xfrm>
              <a:off x="4935" y="1244"/>
              <a:ext cx="268" cy="101"/>
              <a:chOff x="2875" y="1143"/>
              <a:chExt cx="330" cy="132"/>
            </a:xfrm>
          </p:grpSpPr>
          <p:sp>
            <p:nvSpPr>
              <p:cNvPr id="113" name="Line 18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8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8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8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37" name="Group 215"/>
          <p:cNvGrpSpPr>
            <a:grpSpLocks/>
          </p:cNvGrpSpPr>
          <p:nvPr/>
        </p:nvGrpSpPr>
        <p:grpSpPr bwMode="auto">
          <a:xfrm>
            <a:off x="1111677" y="2617023"/>
            <a:ext cx="6939704" cy="815271"/>
            <a:chOff x="113" y="1773"/>
            <a:chExt cx="5453" cy="694"/>
          </a:xfrm>
        </p:grpSpPr>
        <p:sp>
          <p:nvSpPr>
            <p:cNvPr id="139" name="Text Box 119"/>
            <p:cNvSpPr txBox="1">
              <a:spLocks noChangeArrowheads="1"/>
            </p:cNvSpPr>
            <p:nvPr/>
          </p:nvSpPr>
          <p:spPr bwMode="auto">
            <a:xfrm>
              <a:off x="5150" y="2205"/>
              <a:ext cx="41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pku</a:t>
              </a:r>
            </a:p>
          </p:txBody>
        </p:sp>
        <p:sp>
          <p:nvSpPr>
            <p:cNvPr id="140" name="Text Box 120"/>
            <p:cNvSpPr txBox="1">
              <a:spLocks noChangeArrowheads="1"/>
            </p:cNvSpPr>
            <p:nvPr/>
          </p:nvSpPr>
          <p:spPr bwMode="auto">
            <a:xfrm>
              <a:off x="3924" y="2205"/>
              <a:ext cx="764"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pitchFamily="34" charset="-122"/>
                  <a:ea typeface="微软雅黑" pitchFamily="34" charset="-122"/>
                </a:rPr>
                <a:t>tsinghua</a:t>
              </a:r>
              <a:endParaRPr kumimoji="1" lang="en-US" altLang="zh-CN" sz="1400" b="1" dirty="0">
                <a:solidFill>
                  <a:schemeClr val="tx1"/>
                </a:solidFill>
                <a:latin typeface="微软雅黑" pitchFamily="34" charset="-122"/>
                <a:ea typeface="微软雅黑" pitchFamily="34" charset="-122"/>
              </a:endParaRPr>
            </a:p>
          </p:txBody>
        </p:sp>
        <p:sp>
          <p:nvSpPr>
            <p:cNvPr id="141" name="Text Box 121"/>
            <p:cNvSpPr txBox="1">
              <a:spLocks noChangeArrowheads="1"/>
            </p:cNvSpPr>
            <p:nvPr/>
          </p:nvSpPr>
          <p:spPr bwMode="auto">
            <a:xfrm>
              <a:off x="4754"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42" name="Rectangle 128"/>
            <p:cNvSpPr>
              <a:spLocks noChangeArrowheads="1"/>
            </p:cNvSpPr>
            <p:nvPr/>
          </p:nvSpPr>
          <p:spPr bwMode="auto">
            <a:xfrm>
              <a:off x="113" y="2182"/>
              <a:ext cx="708" cy="260"/>
            </a:xfrm>
            <a:prstGeom prst="rect">
              <a:avLst/>
            </a:prstGeom>
            <a:solidFill>
              <a:srgbClr val="CC00CC"/>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三级域名</a:t>
              </a:r>
            </a:p>
          </p:txBody>
        </p:sp>
        <p:sp>
          <p:nvSpPr>
            <p:cNvPr id="143" name="Text Box 129"/>
            <p:cNvSpPr txBox="1">
              <a:spLocks noChangeArrowheads="1"/>
            </p:cNvSpPr>
            <p:nvPr/>
          </p:nvSpPr>
          <p:spPr bwMode="auto">
            <a:xfrm>
              <a:off x="1064" y="2205"/>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pitchFamily="34" charset="-122"/>
                  <a:ea typeface="微软雅黑" pitchFamily="34" charset="-122"/>
                </a:rPr>
                <a:t>mail</a:t>
              </a:r>
            </a:p>
          </p:txBody>
        </p:sp>
        <p:sp>
          <p:nvSpPr>
            <p:cNvPr id="144" name="Line 148"/>
            <p:cNvSpPr>
              <a:spLocks noChangeShapeType="1"/>
            </p:cNvSpPr>
            <p:nvPr/>
          </p:nvSpPr>
          <p:spPr bwMode="auto">
            <a:xfrm flipH="1">
              <a:off x="4386" y="1773"/>
              <a:ext cx="387" cy="42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5" name="Line 149"/>
            <p:cNvSpPr>
              <a:spLocks noChangeShapeType="1"/>
            </p:cNvSpPr>
            <p:nvPr/>
          </p:nvSpPr>
          <p:spPr bwMode="auto">
            <a:xfrm>
              <a:off x="4792" y="1784"/>
              <a:ext cx="548" cy="43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6" name="Text Box 150"/>
            <p:cNvSpPr txBox="1">
              <a:spLocks noChangeArrowheads="1"/>
            </p:cNvSpPr>
            <p:nvPr/>
          </p:nvSpPr>
          <p:spPr bwMode="auto">
            <a:xfrm>
              <a:off x="1826" y="2205"/>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rgbClr val="0000CC"/>
                  </a:solidFill>
                  <a:latin typeface="微软雅黑" pitchFamily="34" charset="-122"/>
                  <a:ea typeface="微软雅黑" pitchFamily="34" charset="-122"/>
                </a:rPr>
                <a:t>www</a:t>
              </a:r>
            </a:p>
          </p:txBody>
        </p:sp>
        <p:sp>
          <p:nvSpPr>
            <p:cNvPr id="147" name="Text Box 152"/>
            <p:cNvSpPr txBox="1">
              <a:spLocks noChangeArrowheads="1"/>
            </p:cNvSpPr>
            <p:nvPr/>
          </p:nvSpPr>
          <p:spPr bwMode="auto">
            <a:xfrm>
              <a:off x="1519"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48" name="Line 153"/>
            <p:cNvSpPr>
              <a:spLocks noChangeShapeType="1"/>
            </p:cNvSpPr>
            <p:nvPr/>
          </p:nvSpPr>
          <p:spPr bwMode="auto">
            <a:xfrm flipV="1">
              <a:off x="1274" y="1794"/>
              <a:ext cx="383"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9" name="Line 154"/>
            <p:cNvSpPr>
              <a:spLocks noChangeShapeType="1"/>
            </p:cNvSpPr>
            <p:nvPr/>
          </p:nvSpPr>
          <p:spPr bwMode="auto">
            <a:xfrm>
              <a:off x="1657" y="1794"/>
              <a:ext cx="361" cy="4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0" name="Group 187"/>
            <p:cNvGrpSpPr>
              <a:grpSpLocks/>
            </p:cNvGrpSpPr>
            <p:nvPr/>
          </p:nvGrpSpPr>
          <p:grpSpPr bwMode="auto">
            <a:xfrm>
              <a:off x="2613" y="1797"/>
              <a:ext cx="269" cy="101"/>
              <a:chOff x="2875" y="1143"/>
              <a:chExt cx="330" cy="132"/>
            </a:xfrm>
          </p:grpSpPr>
          <p:sp>
            <p:nvSpPr>
              <p:cNvPr id="166" name="Line 18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Line 18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8" name="Line 19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9" name="Line 19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1" name="Group 192"/>
            <p:cNvGrpSpPr>
              <a:grpSpLocks/>
            </p:cNvGrpSpPr>
            <p:nvPr/>
          </p:nvGrpSpPr>
          <p:grpSpPr bwMode="auto">
            <a:xfrm>
              <a:off x="5131" y="1797"/>
              <a:ext cx="268" cy="101"/>
              <a:chOff x="2875" y="1143"/>
              <a:chExt cx="330" cy="132"/>
            </a:xfrm>
          </p:grpSpPr>
          <p:sp>
            <p:nvSpPr>
              <p:cNvPr id="162" name="Line 19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3" name="Line 19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4" name="Line 19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5" name="Line 19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2" name="Group 197"/>
            <p:cNvGrpSpPr>
              <a:grpSpLocks/>
            </p:cNvGrpSpPr>
            <p:nvPr/>
          </p:nvGrpSpPr>
          <p:grpSpPr bwMode="auto">
            <a:xfrm>
              <a:off x="2239" y="1797"/>
              <a:ext cx="268" cy="101"/>
              <a:chOff x="2875" y="1143"/>
              <a:chExt cx="330" cy="132"/>
            </a:xfrm>
          </p:grpSpPr>
          <p:sp>
            <p:nvSpPr>
              <p:cNvPr id="158" name="Line 19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9" name="Line 19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0" name="Line 20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1" name="Line 20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3" name="Group 202"/>
            <p:cNvGrpSpPr>
              <a:grpSpLocks/>
            </p:cNvGrpSpPr>
            <p:nvPr/>
          </p:nvGrpSpPr>
          <p:grpSpPr bwMode="auto">
            <a:xfrm>
              <a:off x="3953" y="1797"/>
              <a:ext cx="268" cy="101"/>
              <a:chOff x="2875" y="1143"/>
              <a:chExt cx="330" cy="132"/>
            </a:xfrm>
          </p:grpSpPr>
          <p:sp>
            <p:nvSpPr>
              <p:cNvPr id="154" name="Line 20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5" name="Line 20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6" name="Line 20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7" name="Line 20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70" name="Group 213"/>
          <p:cNvGrpSpPr>
            <a:grpSpLocks/>
          </p:cNvGrpSpPr>
          <p:nvPr/>
        </p:nvGrpSpPr>
        <p:grpSpPr bwMode="auto">
          <a:xfrm>
            <a:off x="1111677" y="1364746"/>
            <a:ext cx="6902798" cy="682525"/>
            <a:chOff x="113" y="707"/>
            <a:chExt cx="5424" cy="581"/>
          </a:xfrm>
        </p:grpSpPr>
        <p:sp>
          <p:nvSpPr>
            <p:cNvPr id="172" name="Text Box 106"/>
            <p:cNvSpPr txBox="1">
              <a:spLocks noChangeArrowheads="1"/>
            </p:cNvSpPr>
            <p:nvPr/>
          </p:nvSpPr>
          <p:spPr bwMode="auto">
            <a:xfrm>
              <a:off x="1975" y="1026"/>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com</a:t>
              </a:r>
            </a:p>
          </p:txBody>
        </p:sp>
        <p:sp>
          <p:nvSpPr>
            <p:cNvPr id="173" name="Text Box 107"/>
            <p:cNvSpPr txBox="1">
              <a:spLocks noChangeArrowheads="1"/>
            </p:cNvSpPr>
            <p:nvPr/>
          </p:nvSpPr>
          <p:spPr bwMode="auto">
            <a:xfrm>
              <a:off x="2472" y="1026"/>
              <a:ext cx="37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net</a:t>
              </a:r>
            </a:p>
          </p:txBody>
        </p:sp>
        <p:sp>
          <p:nvSpPr>
            <p:cNvPr id="174" name="Text Box 108"/>
            <p:cNvSpPr txBox="1">
              <a:spLocks noChangeArrowheads="1"/>
            </p:cNvSpPr>
            <p:nvPr/>
          </p:nvSpPr>
          <p:spPr bwMode="auto">
            <a:xfrm>
              <a:off x="2900" y="1026"/>
              <a:ext cx="39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org</a:t>
              </a:r>
            </a:p>
          </p:txBody>
        </p:sp>
        <p:sp>
          <p:nvSpPr>
            <p:cNvPr id="175" name="Text Box 109"/>
            <p:cNvSpPr txBox="1">
              <a:spLocks noChangeArrowheads="1"/>
            </p:cNvSpPr>
            <p:nvPr/>
          </p:nvSpPr>
          <p:spPr bwMode="auto">
            <a:xfrm>
              <a:off x="3329" y="1026"/>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176" name="Text Box 110"/>
            <p:cNvSpPr txBox="1">
              <a:spLocks noChangeArrowheads="1"/>
            </p:cNvSpPr>
            <p:nvPr/>
          </p:nvSpPr>
          <p:spPr bwMode="auto">
            <a:xfrm>
              <a:off x="3758" y="1026"/>
              <a:ext cx="41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gov</a:t>
              </a:r>
            </a:p>
          </p:txBody>
        </p:sp>
        <p:sp>
          <p:nvSpPr>
            <p:cNvPr id="177" name="Text Box 111"/>
            <p:cNvSpPr txBox="1">
              <a:spLocks noChangeArrowheads="1"/>
            </p:cNvSpPr>
            <p:nvPr/>
          </p:nvSpPr>
          <p:spPr bwMode="auto">
            <a:xfrm>
              <a:off x="1114" y="1026"/>
              <a:ext cx="46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aero</a:t>
              </a:r>
            </a:p>
          </p:txBody>
        </p:sp>
        <p:sp>
          <p:nvSpPr>
            <p:cNvPr id="178" name="Text Box 112"/>
            <p:cNvSpPr txBox="1">
              <a:spLocks noChangeArrowheads="1"/>
            </p:cNvSpPr>
            <p:nvPr/>
          </p:nvSpPr>
          <p:spPr bwMode="auto">
            <a:xfrm>
              <a:off x="4489" y="1026"/>
              <a:ext cx="31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cn</a:t>
              </a:r>
            </a:p>
          </p:txBody>
        </p:sp>
        <p:sp>
          <p:nvSpPr>
            <p:cNvPr id="179" name="Text Box 113"/>
            <p:cNvSpPr txBox="1">
              <a:spLocks noChangeArrowheads="1"/>
            </p:cNvSpPr>
            <p:nvPr/>
          </p:nvSpPr>
          <p:spPr bwMode="auto">
            <a:xfrm>
              <a:off x="4918" y="1026"/>
              <a:ext cx="32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uk</a:t>
              </a:r>
            </a:p>
          </p:txBody>
        </p:sp>
        <p:sp>
          <p:nvSpPr>
            <p:cNvPr id="180" name="Text Box 114"/>
            <p:cNvSpPr txBox="1">
              <a:spLocks noChangeArrowheads="1"/>
            </p:cNvSpPr>
            <p:nvPr/>
          </p:nvSpPr>
          <p:spPr bwMode="auto">
            <a:xfrm>
              <a:off x="5256" y="987"/>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81" name="Rectangle 126"/>
            <p:cNvSpPr>
              <a:spLocks noChangeArrowheads="1"/>
            </p:cNvSpPr>
            <p:nvPr/>
          </p:nvSpPr>
          <p:spPr bwMode="auto">
            <a:xfrm>
              <a:off x="113" y="1005"/>
              <a:ext cx="708" cy="260"/>
            </a:xfrm>
            <a:prstGeom prst="rect">
              <a:avLst/>
            </a:prstGeom>
            <a:solidFill>
              <a:srgbClr val="0000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顶级域名</a:t>
              </a:r>
            </a:p>
          </p:txBody>
        </p:sp>
        <p:sp>
          <p:nvSpPr>
            <p:cNvPr id="182" name="Line 133"/>
            <p:cNvSpPr>
              <a:spLocks noChangeShapeType="1"/>
            </p:cNvSpPr>
            <p:nvPr/>
          </p:nvSpPr>
          <p:spPr bwMode="auto">
            <a:xfrm flipH="1">
              <a:off x="2201" y="712"/>
              <a:ext cx="1068" cy="38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3" name="Line 134"/>
            <p:cNvSpPr>
              <a:spLocks noChangeShapeType="1"/>
            </p:cNvSpPr>
            <p:nvPr/>
          </p:nvSpPr>
          <p:spPr bwMode="auto">
            <a:xfrm flipH="1">
              <a:off x="2681" y="730"/>
              <a:ext cx="575" cy="35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4" name="Line 135"/>
            <p:cNvSpPr>
              <a:spLocks noChangeShapeType="1"/>
            </p:cNvSpPr>
            <p:nvPr/>
          </p:nvSpPr>
          <p:spPr bwMode="auto">
            <a:xfrm flipH="1">
              <a:off x="3134" y="730"/>
              <a:ext cx="131" cy="344"/>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5" name="Line 136"/>
            <p:cNvSpPr>
              <a:spLocks noChangeShapeType="1"/>
            </p:cNvSpPr>
            <p:nvPr/>
          </p:nvSpPr>
          <p:spPr bwMode="auto">
            <a:xfrm>
              <a:off x="3277" y="723"/>
              <a:ext cx="249" cy="36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6" name="Line 137"/>
            <p:cNvSpPr>
              <a:spLocks noChangeShapeType="1"/>
            </p:cNvSpPr>
            <p:nvPr/>
          </p:nvSpPr>
          <p:spPr bwMode="auto">
            <a:xfrm>
              <a:off x="3275" y="715"/>
              <a:ext cx="681" cy="37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7" name="Line 138"/>
            <p:cNvSpPr>
              <a:spLocks noChangeShapeType="1"/>
            </p:cNvSpPr>
            <p:nvPr/>
          </p:nvSpPr>
          <p:spPr bwMode="auto">
            <a:xfrm>
              <a:off x="3288" y="708"/>
              <a:ext cx="1353" cy="377"/>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8" name="Line 139"/>
            <p:cNvSpPr>
              <a:spLocks noChangeShapeType="1"/>
            </p:cNvSpPr>
            <p:nvPr/>
          </p:nvSpPr>
          <p:spPr bwMode="auto">
            <a:xfrm flipH="1">
              <a:off x="1358" y="707"/>
              <a:ext cx="1933" cy="3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9" name="Line 140"/>
            <p:cNvSpPr>
              <a:spLocks noChangeShapeType="1"/>
            </p:cNvSpPr>
            <p:nvPr/>
          </p:nvSpPr>
          <p:spPr bwMode="auto">
            <a:xfrm>
              <a:off x="3250" y="709"/>
              <a:ext cx="1777" cy="35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0" name="Text Box 141"/>
            <p:cNvSpPr txBox="1">
              <a:spLocks noChangeArrowheads="1"/>
            </p:cNvSpPr>
            <p:nvPr/>
          </p:nvSpPr>
          <p:spPr bwMode="auto">
            <a:xfrm>
              <a:off x="1647" y="98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191" name="Text Box 207"/>
            <p:cNvSpPr txBox="1">
              <a:spLocks noChangeArrowheads="1"/>
            </p:cNvSpPr>
            <p:nvPr/>
          </p:nvSpPr>
          <p:spPr bwMode="auto">
            <a:xfrm>
              <a:off x="4147" y="985"/>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grpSp>
      <p:sp>
        <p:nvSpPr>
          <p:cNvPr id="2" name="矩形 1"/>
          <p:cNvSpPr/>
          <p:nvPr/>
        </p:nvSpPr>
        <p:spPr>
          <a:xfrm>
            <a:off x="1447060" y="4218679"/>
            <a:ext cx="6702641" cy="369332"/>
          </a:xfrm>
          <a:prstGeom prst="rect">
            <a:avLst/>
          </a:prstGeom>
        </p:spPr>
        <p:txBody>
          <a:bodyPr wrap="square">
            <a:spAutoFit/>
          </a:bodyPr>
          <a:lstStyle/>
          <a:p>
            <a:r>
              <a:rPr lang="zh-CN" altLang="en-US" b="1" dirty="0">
                <a:latin typeface="微软雅黑" panose="020B0503020204020204" pitchFamily="34" charset="-122"/>
                <a:ea typeface="微软雅黑" panose="020B0503020204020204" pitchFamily="34" charset="-122"/>
              </a:rPr>
              <a:t>域名树的</a:t>
            </a:r>
            <a:r>
              <a:rPr lang="zh-CN" altLang="en-US" b="1" dirty="0">
                <a:solidFill>
                  <a:srgbClr val="C00000"/>
                </a:solidFill>
                <a:latin typeface="微软雅黑" panose="020B0503020204020204" pitchFamily="34" charset="-122"/>
                <a:ea typeface="微软雅黑" panose="020B0503020204020204" pitchFamily="34" charset="-122"/>
              </a:rPr>
              <a:t>树叶</a:t>
            </a:r>
            <a:r>
              <a:rPr lang="zh-CN" altLang="en-US" b="1" dirty="0" smtClean="0">
                <a:latin typeface="微软雅黑" panose="020B0503020204020204" pitchFamily="34" charset="-122"/>
                <a:ea typeface="微软雅黑" panose="020B0503020204020204" pitchFamily="34" charset="-122"/>
              </a:rPr>
              <a:t>就是计算机</a:t>
            </a:r>
            <a:r>
              <a:rPr lang="zh-CN" altLang="en-US" b="1" dirty="0">
                <a:latin typeface="微软雅黑" panose="020B0503020204020204" pitchFamily="34" charset="-122"/>
                <a:ea typeface="微软雅黑" panose="020B0503020204020204" pitchFamily="34" charset="-122"/>
              </a:rPr>
              <a:t>的名字，它不能再继续往下划分子域了。</a:t>
            </a:r>
          </a:p>
        </p:txBody>
      </p:sp>
      <p:sp>
        <p:nvSpPr>
          <p:cNvPr id="4" name="圆角矩形 3"/>
          <p:cNvSpPr/>
          <p:nvPr/>
        </p:nvSpPr>
        <p:spPr>
          <a:xfrm>
            <a:off x="2821387" y="2433839"/>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2" name="圆角矩形 191"/>
          <p:cNvSpPr/>
          <p:nvPr/>
        </p:nvSpPr>
        <p:spPr>
          <a:xfrm>
            <a:off x="3732741" y="2422770"/>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圆角矩形 192"/>
          <p:cNvSpPr/>
          <p:nvPr/>
        </p:nvSpPr>
        <p:spPr>
          <a:xfrm>
            <a:off x="4258969" y="2436290"/>
            <a:ext cx="714727" cy="257105"/>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圆角矩形 193"/>
          <p:cNvSpPr/>
          <p:nvPr/>
        </p:nvSpPr>
        <p:spPr>
          <a:xfrm>
            <a:off x="5911013" y="2430548"/>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圆角矩形 194"/>
          <p:cNvSpPr/>
          <p:nvPr/>
        </p:nvSpPr>
        <p:spPr>
          <a:xfrm>
            <a:off x="6775779" y="2428644"/>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6" name="圆角矩形 195"/>
          <p:cNvSpPr/>
          <p:nvPr/>
        </p:nvSpPr>
        <p:spPr>
          <a:xfrm>
            <a:off x="7492162" y="2424698"/>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圆角矩形 196"/>
          <p:cNvSpPr/>
          <p:nvPr/>
        </p:nvSpPr>
        <p:spPr>
          <a:xfrm>
            <a:off x="6015411" y="3128963"/>
            <a:ext cx="852413" cy="326728"/>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圆角矩形 197"/>
          <p:cNvSpPr/>
          <p:nvPr/>
        </p:nvSpPr>
        <p:spPr>
          <a:xfrm>
            <a:off x="7521245" y="3158481"/>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9" name="圆角矩形 198"/>
          <p:cNvSpPr/>
          <p:nvPr/>
        </p:nvSpPr>
        <p:spPr>
          <a:xfrm>
            <a:off x="5529228" y="3872937"/>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1" name="圆角矩形 200"/>
          <p:cNvSpPr/>
          <p:nvPr/>
        </p:nvSpPr>
        <p:spPr>
          <a:xfrm>
            <a:off x="6903520" y="3888459"/>
            <a:ext cx="499705" cy="268687"/>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wipe(up)">
                                      <p:cBhvr>
                                        <p:cTn id="7" dur="10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up)">
                                      <p:cBhvr>
                                        <p:cTn id="12" dur="1000"/>
                                        <p:tgtEl>
                                          <p:spTgt spid="90"/>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37"/>
                                        </p:tgtEl>
                                        <p:attrNameLst>
                                          <p:attrName>style.visibility</p:attrName>
                                        </p:attrNameLst>
                                      </p:cBhvr>
                                      <p:to>
                                        <p:strVal val="visible"/>
                                      </p:to>
                                    </p:set>
                                    <p:animEffect transition="in" filter="wipe(up)">
                                      <p:cBhvr>
                                        <p:cTn id="16" dur="1000"/>
                                        <p:tgtEl>
                                          <p:spTgt spid="137"/>
                                        </p:tgtEl>
                                      </p:cBhvr>
                                    </p:animEffect>
                                  </p:childTnLst>
                                </p:cTn>
                              </p:par>
                            </p:childTnLst>
                          </p:cTn>
                        </p:par>
                        <p:par>
                          <p:cTn id="17" fill="hold">
                            <p:stCondLst>
                              <p:cond delay="2000"/>
                            </p:stCondLst>
                            <p:childTnLst>
                              <p:par>
                                <p:cTn id="18" presetID="22" presetClass="entr" presetSubtype="1" fill="hold" nodeType="afterEffect">
                                  <p:stCondLst>
                                    <p:cond delay="0"/>
                                  </p:stCondLst>
                                  <p:childTnLst>
                                    <p:set>
                                      <p:cBhvr>
                                        <p:cTn id="19" dur="1" fill="hold">
                                          <p:stCondLst>
                                            <p:cond delay="0"/>
                                          </p:stCondLst>
                                        </p:cTn>
                                        <p:tgtEl>
                                          <p:spTgt spid="82"/>
                                        </p:tgtEl>
                                        <p:attrNameLst>
                                          <p:attrName>style.visibility</p:attrName>
                                        </p:attrNameLst>
                                      </p:cBhvr>
                                      <p:to>
                                        <p:strVal val="visible"/>
                                      </p:to>
                                    </p:set>
                                    <p:animEffect transition="in" filter="wipe(up)">
                                      <p:cBhvr>
                                        <p:cTn id="20" dur="1000"/>
                                        <p:tgtEl>
                                          <p:spTgt spid="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1"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par>
                                <p:cTn id="26" presetID="10" presetClass="entr" presetSubtype="0" fill="hold" grpId="1" nodeType="withEffect">
                                  <p:stCondLst>
                                    <p:cond delay="0"/>
                                  </p:stCondLst>
                                  <p:childTnLst>
                                    <p:set>
                                      <p:cBhvr>
                                        <p:cTn id="27" dur="1" fill="hold">
                                          <p:stCondLst>
                                            <p:cond delay="0"/>
                                          </p:stCondLst>
                                        </p:cTn>
                                        <p:tgtEl>
                                          <p:spTgt spid="192"/>
                                        </p:tgtEl>
                                        <p:attrNameLst>
                                          <p:attrName>style.visibility</p:attrName>
                                        </p:attrNameLst>
                                      </p:cBhvr>
                                      <p:to>
                                        <p:strVal val="visible"/>
                                      </p:to>
                                    </p:set>
                                    <p:animEffect transition="in" filter="fade">
                                      <p:cBhvr>
                                        <p:cTn id="28" dur="500"/>
                                        <p:tgtEl>
                                          <p:spTgt spid="192"/>
                                        </p:tgtEl>
                                      </p:cBhvr>
                                    </p:animEffect>
                                  </p:childTnLst>
                                </p:cTn>
                              </p:par>
                              <p:par>
                                <p:cTn id="29" presetID="10" presetClass="entr" presetSubtype="0" fill="hold" grpId="1"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fad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0" nodeType="clickEffect">
                                  <p:stCondLst>
                                    <p:cond delay="0"/>
                                  </p:stCondLst>
                                  <p:childTnLst>
                                    <p:animEffect transition="out" filter="fade">
                                      <p:cBhvr>
                                        <p:cTn id="35" dur="500"/>
                                        <p:tgtEl>
                                          <p:spTgt spid="4"/>
                                        </p:tgtEl>
                                      </p:cBhvr>
                                    </p:animEffect>
                                    <p:set>
                                      <p:cBhvr>
                                        <p:cTn id="36" dur="1" fill="hold">
                                          <p:stCondLst>
                                            <p:cond delay="499"/>
                                          </p:stCondLst>
                                        </p:cTn>
                                        <p:tgtEl>
                                          <p:spTgt spid="4"/>
                                        </p:tgtEl>
                                        <p:attrNameLst>
                                          <p:attrName>style.visibility</p:attrName>
                                        </p:attrNameLst>
                                      </p:cBhvr>
                                      <p:to>
                                        <p:strVal val="hidden"/>
                                      </p:to>
                                    </p:set>
                                  </p:childTnLst>
                                </p:cTn>
                              </p:par>
                              <p:par>
                                <p:cTn id="37" presetID="10" presetClass="exit" presetSubtype="0" fill="hold" grpId="0" nodeType="withEffect">
                                  <p:stCondLst>
                                    <p:cond delay="0"/>
                                  </p:stCondLst>
                                  <p:childTnLst>
                                    <p:animEffect transition="out" filter="fade">
                                      <p:cBhvr>
                                        <p:cTn id="38" dur="500"/>
                                        <p:tgtEl>
                                          <p:spTgt spid="192"/>
                                        </p:tgtEl>
                                      </p:cBhvr>
                                    </p:animEffect>
                                    <p:set>
                                      <p:cBhvr>
                                        <p:cTn id="39" dur="1" fill="hold">
                                          <p:stCondLst>
                                            <p:cond delay="499"/>
                                          </p:stCondLst>
                                        </p:cTn>
                                        <p:tgtEl>
                                          <p:spTgt spid="192"/>
                                        </p:tgtEl>
                                        <p:attrNameLst>
                                          <p:attrName>style.visibility</p:attrName>
                                        </p:attrNameLst>
                                      </p:cBhvr>
                                      <p:to>
                                        <p:strVal val="hidden"/>
                                      </p:to>
                                    </p:set>
                                  </p:childTnLst>
                                </p:cTn>
                              </p:par>
                              <p:par>
                                <p:cTn id="40" presetID="10" presetClass="exit" presetSubtype="0" fill="hold" grpId="0" nodeType="withEffect">
                                  <p:stCondLst>
                                    <p:cond delay="0"/>
                                  </p:stCondLst>
                                  <p:childTnLst>
                                    <p:animEffect transition="out" filter="fade">
                                      <p:cBhvr>
                                        <p:cTn id="41" dur="500"/>
                                        <p:tgtEl>
                                          <p:spTgt spid="193"/>
                                        </p:tgtEl>
                                      </p:cBhvr>
                                    </p:animEffect>
                                    <p:set>
                                      <p:cBhvr>
                                        <p:cTn id="42" dur="1" fill="hold">
                                          <p:stCondLst>
                                            <p:cond delay="499"/>
                                          </p:stCondLst>
                                        </p:cTn>
                                        <p:tgtEl>
                                          <p:spTgt spid="193"/>
                                        </p:tgtEl>
                                        <p:attrNameLst>
                                          <p:attrName>style.visibility</p:attrName>
                                        </p:attrNameLst>
                                      </p:cBhvr>
                                      <p:to>
                                        <p:strVal val="hidden"/>
                                      </p:to>
                                    </p:set>
                                  </p:childTnLst>
                                </p:cTn>
                              </p:par>
                            </p:childTnLst>
                          </p:cTn>
                        </p:par>
                        <p:par>
                          <p:cTn id="43" fill="hold">
                            <p:stCondLst>
                              <p:cond delay="500"/>
                            </p:stCondLst>
                            <p:childTnLst>
                              <p:par>
                                <p:cTn id="44" presetID="10" presetClass="entr" presetSubtype="0" fill="hold" grpId="1" nodeType="afterEffect">
                                  <p:stCondLst>
                                    <p:cond delay="0"/>
                                  </p:stCondLst>
                                  <p:childTnLst>
                                    <p:set>
                                      <p:cBhvr>
                                        <p:cTn id="45" dur="1" fill="hold">
                                          <p:stCondLst>
                                            <p:cond delay="0"/>
                                          </p:stCondLst>
                                        </p:cTn>
                                        <p:tgtEl>
                                          <p:spTgt spid="194"/>
                                        </p:tgtEl>
                                        <p:attrNameLst>
                                          <p:attrName>style.visibility</p:attrName>
                                        </p:attrNameLst>
                                      </p:cBhvr>
                                      <p:to>
                                        <p:strVal val="visible"/>
                                      </p:to>
                                    </p:set>
                                    <p:animEffect transition="in" filter="fade">
                                      <p:cBhvr>
                                        <p:cTn id="46" dur="500"/>
                                        <p:tgtEl>
                                          <p:spTgt spid="194"/>
                                        </p:tgtEl>
                                      </p:cBhvr>
                                    </p:animEffect>
                                  </p:childTnLst>
                                </p:cTn>
                              </p:par>
                              <p:par>
                                <p:cTn id="47" presetID="10" presetClass="entr" presetSubtype="0" fill="hold" grpId="1" nodeType="withEffect">
                                  <p:stCondLst>
                                    <p:cond delay="0"/>
                                  </p:stCondLst>
                                  <p:childTnLst>
                                    <p:set>
                                      <p:cBhvr>
                                        <p:cTn id="48" dur="1" fill="hold">
                                          <p:stCondLst>
                                            <p:cond delay="0"/>
                                          </p:stCondLst>
                                        </p:cTn>
                                        <p:tgtEl>
                                          <p:spTgt spid="195"/>
                                        </p:tgtEl>
                                        <p:attrNameLst>
                                          <p:attrName>style.visibility</p:attrName>
                                        </p:attrNameLst>
                                      </p:cBhvr>
                                      <p:to>
                                        <p:strVal val="visible"/>
                                      </p:to>
                                    </p:set>
                                    <p:animEffect transition="in" filter="fade">
                                      <p:cBhvr>
                                        <p:cTn id="49" dur="500"/>
                                        <p:tgtEl>
                                          <p:spTgt spid="195"/>
                                        </p:tgtEl>
                                      </p:cBhvr>
                                    </p:animEffect>
                                  </p:childTnLst>
                                </p:cTn>
                              </p:par>
                              <p:par>
                                <p:cTn id="50" presetID="10" presetClass="entr" presetSubtype="0" fill="hold" grpId="1" nodeType="withEffect">
                                  <p:stCondLst>
                                    <p:cond delay="0"/>
                                  </p:stCondLst>
                                  <p:childTnLst>
                                    <p:set>
                                      <p:cBhvr>
                                        <p:cTn id="51" dur="1" fill="hold">
                                          <p:stCondLst>
                                            <p:cond delay="0"/>
                                          </p:stCondLst>
                                        </p:cTn>
                                        <p:tgtEl>
                                          <p:spTgt spid="196"/>
                                        </p:tgtEl>
                                        <p:attrNameLst>
                                          <p:attrName>style.visibility</p:attrName>
                                        </p:attrNameLst>
                                      </p:cBhvr>
                                      <p:to>
                                        <p:strVal val="visible"/>
                                      </p:to>
                                    </p:set>
                                    <p:animEffect transition="in" filter="fade">
                                      <p:cBhvr>
                                        <p:cTn id="52" dur="500"/>
                                        <p:tgtEl>
                                          <p:spTgt spid="19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grpId="0" nodeType="clickEffect">
                                  <p:stCondLst>
                                    <p:cond delay="0"/>
                                  </p:stCondLst>
                                  <p:childTnLst>
                                    <p:animEffect transition="out" filter="fade">
                                      <p:cBhvr>
                                        <p:cTn id="56" dur="500"/>
                                        <p:tgtEl>
                                          <p:spTgt spid="194"/>
                                        </p:tgtEl>
                                      </p:cBhvr>
                                    </p:animEffect>
                                    <p:set>
                                      <p:cBhvr>
                                        <p:cTn id="57" dur="1" fill="hold">
                                          <p:stCondLst>
                                            <p:cond delay="499"/>
                                          </p:stCondLst>
                                        </p:cTn>
                                        <p:tgtEl>
                                          <p:spTgt spid="194"/>
                                        </p:tgtEl>
                                        <p:attrNameLst>
                                          <p:attrName>style.visibility</p:attrName>
                                        </p:attrNameLst>
                                      </p:cBhvr>
                                      <p:to>
                                        <p:strVal val="hidden"/>
                                      </p:to>
                                    </p:set>
                                  </p:childTnLst>
                                </p:cTn>
                              </p:par>
                              <p:par>
                                <p:cTn id="58" presetID="10" presetClass="exit" presetSubtype="0" fill="hold" grpId="0" nodeType="withEffect">
                                  <p:stCondLst>
                                    <p:cond delay="0"/>
                                  </p:stCondLst>
                                  <p:childTnLst>
                                    <p:animEffect transition="out" filter="fade">
                                      <p:cBhvr>
                                        <p:cTn id="59" dur="500"/>
                                        <p:tgtEl>
                                          <p:spTgt spid="195"/>
                                        </p:tgtEl>
                                      </p:cBhvr>
                                    </p:animEffect>
                                    <p:set>
                                      <p:cBhvr>
                                        <p:cTn id="60" dur="1" fill="hold">
                                          <p:stCondLst>
                                            <p:cond delay="499"/>
                                          </p:stCondLst>
                                        </p:cTn>
                                        <p:tgtEl>
                                          <p:spTgt spid="195"/>
                                        </p:tgtEl>
                                        <p:attrNameLst>
                                          <p:attrName>style.visibility</p:attrName>
                                        </p:attrNameLst>
                                      </p:cBhvr>
                                      <p:to>
                                        <p:strVal val="hidden"/>
                                      </p:to>
                                    </p:set>
                                  </p:childTnLst>
                                </p:cTn>
                              </p:par>
                              <p:par>
                                <p:cTn id="61" presetID="10" presetClass="exit" presetSubtype="0" fill="hold" grpId="0" nodeType="withEffect">
                                  <p:stCondLst>
                                    <p:cond delay="0"/>
                                  </p:stCondLst>
                                  <p:childTnLst>
                                    <p:animEffect transition="out" filter="fade">
                                      <p:cBhvr>
                                        <p:cTn id="62" dur="500"/>
                                        <p:tgtEl>
                                          <p:spTgt spid="196"/>
                                        </p:tgtEl>
                                      </p:cBhvr>
                                    </p:animEffect>
                                    <p:set>
                                      <p:cBhvr>
                                        <p:cTn id="63" dur="1" fill="hold">
                                          <p:stCondLst>
                                            <p:cond delay="499"/>
                                          </p:stCondLst>
                                        </p:cTn>
                                        <p:tgtEl>
                                          <p:spTgt spid="196"/>
                                        </p:tgtEl>
                                        <p:attrNameLst>
                                          <p:attrName>style.visibility</p:attrName>
                                        </p:attrNameLst>
                                      </p:cBhvr>
                                      <p:to>
                                        <p:strVal val="hidden"/>
                                      </p:to>
                                    </p:set>
                                  </p:childTnLst>
                                </p:cTn>
                              </p:par>
                            </p:childTnLst>
                          </p:cTn>
                        </p:par>
                        <p:par>
                          <p:cTn id="64" fill="hold">
                            <p:stCondLst>
                              <p:cond delay="500"/>
                            </p:stCondLst>
                            <p:childTnLst>
                              <p:par>
                                <p:cTn id="65" presetID="10" presetClass="entr" presetSubtype="0" fill="hold" grpId="1" nodeType="afterEffect">
                                  <p:stCondLst>
                                    <p:cond delay="0"/>
                                  </p:stCondLst>
                                  <p:childTnLst>
                                    <p:set>
                                      <p:cBhvr>
                                        <p:cTn id="66" dur="1" fill="hold">
                                          <p:stCondLst>
                                            <p:cond delay="0"/>
                                          </p:stCondLst>
                                        </p:cTn>
                                        <p:tgtEl>
                                          <p:spTgt spid="197"/>
                                        </p:tgtEl>
                                        <p:attrNameLst>
                                          <p:attrName>style.visibility</p:attrName>
                                        </p:attrNameLst>
                                      </p:cBhvr>
                                      <p:to>
                                        <p:strVal val="visible"/>
                                      </p:to>
                                    </p:set>
                                    <p:animEffect transition="in" filter="fade">
                                      <p:cBhvr>
                                        <p:cTn id="67" dur="500"/>
                                        <p:tgtEl>
                                          <p:spTgt spid="197"/>
                                        </p:tgtEl>
                                      </p:cBhvr>
                                    </p:animEffect>
                                  </p:childTnLst>
                                </p:cTn>
                              </p:par>
                              <p:par>
                                <p:cTn id="68" presetID="10" presetClass="entr" presetSubtype="0" fill="hold" grpId="1" nodeType="withEffect">
                                  <p:stCondLst>
                                    <p:cond delay="0"/>
                                  </p:stCondLst>
                                  <p:childTnLst>
                                    <p:set>
                                      <p:cBhvr>
                                        <p:cTn id="69" dur="1" fill="hold">
                                          <p:stCondLst>
                                            <p:cond delay="0"/>
                                          </p:stCondLst>
                                        </p:cTn>
                                        <p:tgtEl>
                                          <p:spTgt spid="198"/>
                                        </p:tgtEl>
                                        <p:attrNameLst>
                                          <p:attrName>style.visibility</p:attrName>
                                        </p:attrNameLst>
                                      </p:cBhvr>
                                      <p:to>
                                        <p:strVal val="visible"/>
                                      </p:to>
                                    </p:set>
                                    <p:animEffect transition="in" filter="fade">
                                      <p:cBhvr>
                                        <p:cTn id="70" dur="500"/>
                                        <p:tgtEl>
                                          <p:spTgt spid="198"/>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0" nodeType="clickEffect">
                                  <p:stCondLst>
                                    <p:cond delay="0"/>
                                  </p:stCondLst>
                                  <p:childTnLst>
                                    <p:animEffect transition="out" filter="fade">
                                      <p:cBhvr>
                                        <p:cTn id="74" dur="500"/>
                                        <p:tgtEl>
                                          <p:spTgt spid="197"/>
                                        </p:tgtEl>
                                      </p:cBhvr>
                                    </p:animEffect>
                                    <p:set>
                                      <p:cBhvr>
                                        <p:cTn id="75" dur="1" fill="hold">
                                          <p:stCondLst>
                                            <p:cond delay="499"/>
                                          </p:stCondLst>
                                        </p:cTn>
                                        <p:tgtEl>
                                          <p:spTgt spid="197"/>
                                        </p:tgtEl>
                                        <p:attrNameLst>
                                          <p:attrName>style.visibility</p:attrName>
                                        </p:attrNameLst>
                                      </p:cBhvr>
                                      <p:to>
                                        <p:strVal val="hidden"/>
                                      </p:to>
                                    </p:set>
                                  </p:childTnLst>
                                </p:cTn>
                              </p:par>
                              <p:par>
                                <p:cTn id="76" presetID="10" presetClass="exit" presetSubtype="0" fill="hold" grpId="0" nodeType="withEffect">
                                  <p:stCondLst>
                                    <p:cond delay="0"/>
                                  </p:stCondLst>
                                  <p:childTnLst>
                                    <p:animEffect transition="out" filter="fade">
                                      <p:cBhvr>
                                        <p:cTn id="77" dur="500"/>
                                        <p:tgtEl>
                                          <p:spTgt spid="198"/>
                                        </p:tgtEl>
                                      </p:cBhvr>
                                    </p:animEffect>
                                    <p:set>
                                      <p:cBhvr>
                                        <p:cTn id="78" dur="1" fill="hold">
                                          <p:stCondLst>
                                            <p:cond delay="499"/>
                                          </p:stCondLst>
                                        </p:cTn>
                                        <p:tgtEl>
                                          <p:spTgt spid="198"/>
                                        </p:tgtEl>
                                        <p:attrNameLst>
                                          <p:attrName>style.visibility</p:attrName>
                                        </p:attrNameLst>
                                      </p:cBhvr>
                                      <p:to>
                                        <p:strVal val="hidden"/>
                                      </p:to>
                                    </p:set>
                                  </p:childTnLst>
                                </p:cTn>
                              </p:par>
                            </p:childTnLst>
                          </p:cTn>
                        </p:par>
                        <p:par>
                          <p:cTn id="79" fill="hold">
                            <p:stCondLst>
                              <p:cond delay="500"/>
                            </p:stCondLst>
                            <p:childTnLst>
                              <p:par>
                                <p:cTn id="80" presetID="10" presetClass="entr" presetSubtype="0" fill="hold" grpId="0" nodeType="afterEffect">
                                  <p:stCondLst>
                                    <p:cond delay="0"/>
                                  </p:stCondLst>
                                  <p:childTnLst>
                                    <p:set>
                                      <p:cBhvr>
                                        <p:cTn id="81" dur="1" fill="hold">
                                          <p:stCondLst>
                                            <p:cond delay="0"/>
                                          </p:stCondLst>
                                        </p:cTn>
                                        <p:tgtEl>
                                          <p:spTgt spid="199"/>
                                        </p:tgtEl>
                                        <p:attrNameLst>
                                          <p:attrName>style.visibility</p:attrName>
                                        </p:attrNameLst>
                                      </p:cBhvr>
                                      <p:to>
                                        <p:strVal val="visible"/>
                                      </p:to>
                                    </p:set>
                                    <p:animEffect transition="in" filter="fade">
                                      <p:cBhvr>
                                        <p:cTn id="82" dur="500"/>
                                        <p:tgtEl>
                                          <p:spTgt spid="199"/>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01"/>
                                        </p:tgtEl>
                                        <p:attrNameLst>
                                          <p:attrName>style.visibility</p:attrName>
                                        </p:attrNameLst>
                                      </p:cBhvr>
                                      <p:to>
                                        <p:strVal val="visible"/>
                                      </p:to>
                                    </p:set>
                                    <p:animEffect transition="in" filter="fade">
                                      <p:cBhvr>
                                        <p:cTn id="85" dur="500"/>
                                        <p:tgtEl>
                                          <p:spTgt spid="20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
                                        </p:tgtEl>
                                        <p:attrNameLst>
                                          <p:attrName>style.visibility</p:attrName>
                                        </p:attrNameLst>
                                      </p:cBhvr>
                                      <p:to>
                                        <p:strVal val="visible"/>
                                      </p:to>
                                    </p:set>
                                    <p:animEffect transition="in" filter="fade">
                                      <p:cBhvr>
                                        <p:cTn id="90"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4" grpId="1" animBg="1"/>
      <p:bldP spid="192" grpId="0" animBg="1"/>
      <p:bldP spid="192" grpId="1" animBg="1"/>
      <p:bldP spid="193" grpId="0" animBg="1"/>
      <p:bldP spid="193" grpId="1" animBg="1"/>
      <p:bldP spid="194" grpId="0" animBg="1"/>
      <p:bldP spid="194" grpId="1" animBg="1"/>
      <p:bldP spid="195" grpId="0" animBg="1"/>
      <p:bldP spid="195" grpId="1" animBg="1"/>
      <p:bldP spid="196" grpId="0" animBg="1"/>
      <p:bldP spid="196" grpId="1" animBg="1"/>
      <p:bldP spid="197" grpId="0" animBg="1"/>
      <p:bldP spid="197" grpId="1" animBg="1"/>
      <p:bldP spid="198" grpId="0" animBg="1"/>
      <p:bldP spid="198" grpId="1" animBg="1"/>
      <p:bldP spid="199" grpId="0" animBg="1"/>
      <p:bldP spid="201"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互联网的域名</a:t>
            </a:r>
            <a:r>
              <a:rPr lang="zh-CN" altLang="en-US" sz="2000" b="1" dirty="0" smtClean="0">
                <a:solidFill>
                  <a:schemeClr val="bg1"/>
                </a:solidFill>
                <a:latin typeface="微软雅黑" pitchFamily="34" charset="-122"/>
                <a:ea typeface="微软雅黑" pitchFamily="34" charset="-122"/>
              </a:rPr>
              <a:t>空间</a:t>
            </a:r>
            <a:r>
              <a:rPr lang="zh-CN" altLang="en-US" sz="2000" b="1" dirty="0">
                <a:solidFill>
                  <a:schemeClr val="bg1"/>
                </a:solidFill>
                <a:latin typeface="微软雅黑" pitchFamily="34" charset="-122"/>
                <a:ea typeface="微软雅黑" pitchFamily="34" charset="-122"/>
              </a:rPr>
              <a:t>结构</a:t>
            </a:r>
            <a:endParaRPr lang="zh-CN" altLang="en-US" sz="2000" b="1" dirty="0" smtClean="0">
              <a:solidFill>
                <a:schemeClr val="bg1"/>
              </a:solidFill>
              <a:latin typeface="微软雅黑" pitchFamily="34" charset="-122"/>
              <a:ea typeface="微软雅黑" pitchFamily="34" charset="-122"/>
            </a:endParaRPr>
          </a:p>
        </p:txBody>
      </p:sp>
      <p:sp>
        <p:nvSpPr>
          <p:cNvPr id="8" name="Rectangle 8"/>
          <p:cNvSpPr>
            <a:spLocks noChangeArrowheads="1"/>
          </p:cNvSpPr>
          <p:nvPr/>
        </p:nvSpPr>
        <p:spPr bwMode="auto">
          <a:xfrm>
            <a:off x="545143" y="1028509"/>
            <a:ext cx="8053711"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每</a:t>
            </a:r>
            <a:r>
              <a:rPr lang="zh-CN" altLang="en-US" sz="2000" b="1" dirty="0">
                <a:latin typeface="微软雅黑" pitchFamily="34" charset="-122"/>
                <a:ea typeface="微软雅黑" pitchFamily="34" charset="-122"/>
              </a:rPr>
              <a:t>一个完整的域名，</a:t>
            </a:r>
            <a:r>
              <a:rPr lang="zh-CN" altLang="en-US" sz="2000" b="1" dirty="0" smtClean="0">
                <a:latin typeface="微软雅黑" pitchFamily="34" charset="-122"/>
                <a:ea typeface="微软雅黑" pitchFamily="34" charset="-122"/>
              </a:rPr>
              <a:t>例如 </a:t>
            </a:r>
            <a:r>
              <a:rPr lang="en-US" altLang="zh-CN" sz="2000" b="1" dirty="0" smtClean="0">
                <a:latin typeface="微软雅黑" pitchFamily="34" charset="-122"/>
                <a:ea typeface="微软雅黑" pitchFamily="34" charset="-122"/>
              </a:rPr>
              <a:t>www.tsinghua.edu.cn. </a:t>
            </a:r>
            <a:r>
              <a:rPr lang="zh-CN" altLang="en-US" sz="2000" b="1" dirty="0" smtClean="0">
                <a:latin typeface="微软雅黑" pitchFamily="34" charset="-122"/>
                <a:ea typeface="微软雅黑" pitchFamily="34" charset="-122"/>
              </a:rPr>
              <a:t>即</a:t>
            </a:r>
            <a:r>
              <a:rPr lang="zh-CN" altLang="en-US" sz="2000" b="1" dirty="0">
                <a:latin typeface="微软雅黑" pitchFamily="34" charset="-122"/>
                <a:ea typeface="微软雅黑" pitchFamily="34" charset="-122"/>
              </a:rPr>
              <a:t>（主机名或四级域名</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三级域名</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二级域名</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顶级域名</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），称为</a:t>
            </a:r>
            <a:r>
              <a:rPr lang="zh-CN" altLang="en-US" sz="2000" b="1" dirty="0">
                <a:solidFill>
                  <a:srgbClr val="C00000"/>
                </a:solidFill>
                <a:latin typeface="微软雅黑" pitchFamily="34" charset="-122"/>
                <a:ea typeface="微软雅黑" pitchFamily="34" charset="-122"/>
              </a:rPr>
              <a:t>完全限定</a:t>
            </a:r>
            <a:r>
              <a:rPr lang="zh-CN" altLang="en-US" sz="2000" b="1" dirty="0" smtClean="0">
                <a:solidFill>
                  <a:srgbClr val="C00000"/>
                </a:solidFill>
                <a:latin typeface="微软雅黑" pitchFamily="34" charset="-122"/>
                <a:ea typeface="微软雅黑" pitchFamily="34" charset="-122"/>
              </a:rPr>
              <a:t>域名 </a:t>
            </a:r>
            <a:r>
              <a:rPr lang="en-US" altLang="zh-CN" sz="2000" b="1" dirty="0" smtClean="0">
                <a:solidFill>
                  <a:srgbClr val="C00000"/>
                </a:solidFill>
                <a:latin typeface="微软雅黑" pitchFamily="34" charset="-122"/>
                <a:ea typeface="微软雅黑" pitchFamily="34" charset="-122"/>
              </a:rPr>
              <a:t>FQDN </a:t>
            </a:r>
            <a:r>
              <a:rPr lang="en-US" altLang="zh-CN" sz="2000" b="1" dirty="0">
                <a:solidFill>
                  <a:srgbClr val="C00000"/>
                </a:solidFill>
                <a:latin typeface="微软雅黑" pitchFamily="34" charset="-122"/>
                <a:ea typeface="微软雅黑" pitchFamily="34" charset="-122"/>
              </a:rPr>
              <a:t>(Fully Qualified Domain Name)</a:t>
            </a:r>
            <a:r>
              <a:rPr lang="zh-CN" altLang="en-US" sz="2000" b="1" dirty="0">
                <a:latin typeface="微软雅黑" pitchFamily="34" charset="-122"/>
                <a:ea typeface="微软雅黑" pitchFamily="34" charset="-122"/>
              </a:rPr>
              <a:t>。它指明了</a:t>
            </a:r>
            <a:r>
              <a:rPr lang="zh-CN" altLang="en-US" sz="2000" b="1" dirty="0">
                <a:solidFill>
                  <a:srgbClr val="0000FF"/>
                </a:solidFill>
                <a:latin typeface="微软雅黑" pitchFamily="34" charset="-122"/>
                <a:ea typeface="微软雅黑" pitchFamily="34" charset="-122"/>
              </a:rPr>
              <a:t>一个完整的互联网域名，明确规定了从顶级域名到主机名的一整串路径。</a:t>
            </a:r>
          </a:p>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注意：</a:t>
            </a:r>
            <a:endParaRPr lang="en-US" altLang="zh-CN" sz="2000"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在 </a:t>
            </a:r>
            <a:r>
              <a:rPr lang="en-US" altLang="zh-CN" b="1" dirty="0" smtClean="0">
                <a:latin typeface="微软雅黑" pitchFamily="34" charset="-122"/>
                <a:ea typeface="微软雅黑" pitchFamily="34" charset="-122"/>
              </a:rPr>
              <a:t>DNS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标准中，在顶级域名后面还有一个点</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，这个点表示根域名。但大多数现代操作系统都会忽略 </a:t>
            </a:r>
            <a:r>
              <a:rPr lang="en-US" altLang="zh-CN" b="1" dirty="0">
                <a:latin typeface="微软雅黑" pitchFamily="34" charset="-122"/>
                <a:ea typeface="微软雅黑" pitchFamily="34" charset="-122"/>
              </a:rPr>
              <a:t>FQDN </a:t>
            </a:r>
            <a:r>
              <a:rPr lang="zh-CN" altLang="en-US" b="1" dirty="0">
                <a:latin typeface="微软雅黑" pitchFamily="34" charset="-122"/>
                <a:ea typeface="微软雅黑" pitchFamily="34" charset="-122"/>
              </a:rPr>
              <a:t>末尾的点</a:t>
            </a:r>
            <a:r>
              <a:rPr lang="zh-CN" altLang="en-US" b="1" dirty="0" smtClean="0">
                <a:latin typeface="微软雅黑" pitchFamily="34" charset="-122"/>
                <a:ea typeface="微软雅黑" pitchFamily="34" charset="-122"/>
              </a:rPr>
              <a:t>，方便用户</a:t>
            </a:r>
            <a:r>
              <a:rPr lang="zh-CN" altLang="en-US" b="1" dirty="0">
                <a:latin typeface="微软雅黑" pitchFamily="34" charset="-122"/>
                <a:ea typeface="微软雅黑" pitchFamily="34" charset="-122"/>
              </a:rPr>
              <a:t>和</a:t>
            </a:r>
            <a:r>
              <a:rPr lang="zh-CN" altLang="en-US" b="1" dirty="0" smtClean="0">
                <a:latin typeface="微软雅黑" pitchFamily="34" charset="-122"/>
                <a:ea typeface="微软雅黑" pitchFamily="34" charset="-122"/>
              </a:rPr>
              <a:t>系统的处理。</a:t>
            </a:r>
            <a:endParaRPr lang="zh-CN" altLang="en-US"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811348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xEl>
                                              <p:pRg st="2" end="2"/>
                                            </p:txEl>
                                          </p:spTgt>
                                        </p:tgtEl>
                                        <p:attrNameLst>
                                          <p:attrName>style.visibility</p:attrName>
                                        </p:attrNameLst>
                                      </p:cBhvr>
                                      <p:to>
                                        <p:strVal val="visible"/>
                                      </p:to>
                                    </p:set>
                                    <p:animEffect transition="in" filter="fade">
                                      <p:cBhvr>
                                        <p:cTn id="10"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9" name="Rectangle 6"/>
          <p:cNvSpPr>
            <a:spLocks noChangeArrowheads="1"/>
          </p:cNvSpPr>
          <p:nvPr/>
        </p:nvSpPr>
        <p:spPr bwMode="auto">
          <a:xfrm>
            <a:off x="4232540" y="582898"/>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小结</a:t>
            </a:r>
          </a:p>
        </p:txBody>
      </p:sp>
      <p:sp>
        <p:nvSpPr>
          <p:cNvPr id="8" name="Rectangle 8"/>
          <p:cNvSpPr>
            <a:spLocks noChangeArrowheads="1"/>
          </p:cNvSpPr>
          <p:nvPr/>
        </p:nvSpPr>
        <p:spPr bwMode="auto">
          <a:xfrm>
            <a:off x="545143" y="1028509"/>
            <a:ext cx="8053711"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DNS </a:t>
            </a: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互联网使用的命名</a:t>
            </a:r>
            <a:r>
              <a:rPr lang="zh-CN" altLang="en-US" sz="2000" b="1" dirty="0" smtClean="0">
                <a:latin typeface="微软雅黑" pitchFamily="34" charset="-122"/>
                <a:ea typeface="微软雅黑" pitchFamily="34" charset="-122"/>
              </a:rPr>
              <a:t>系统，负责域名到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地址的解析。</a:t>
            </a:r>
            <a:endParaRPr lang="en-US" altLang="zh-CN" sz="2000"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r>
              <a:rPr lang="zh-CN" altLang="zh-CN" b="1" dirty="0">
                <a:latin typeface="微软雅黑" pitchFamily="34" charset="-122"/>
                <a:ea typeface="微软雅黑" pitchFamily="34" charset="-122"/>
              </a:rPr>
              <a:t>分布式的域名</a:t>
            </a:r>
            <a:r>
              <a:rPr lang="zh-CN" altLang="zh-CN" b="1" dirty="0" smtClean="0">
                <a:latin typeface="微软雅黑" pitchFamily="34" charset="-122"/>
                <a:ea typeface="微软雅黑" pitchFamily="34" charset="-122"/>
              </a:rPr>
              <a:t>系统</a:t>
            </a:r>
            <a:endParaRPr lang="en-US" altLang="zh-CN"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客户服务器的工作机制</a:t>
            </a:r>
            <a:endParaRPr lang="zh-CN" altLang="en-US"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注意：</a:t>
            </a:r>
            <a:endParaRPr lang="en-US" altLang="zh-CN" sz="2000"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层次树状结构</a:t>
            </a:r>
            <a:endParaRPr lang="en-US" altLang="zh-CN"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顶级</a:t>
            </a:r>
            <a:r>
              <a:rPr lang="zh-CN" altLang="en-US" b="1" dirty="0" smtClean="0">
                <a:latin typeface="微软雅黑" pitchFamily="34" charset="-122"/>
                <a:ea typeface="微软雅黑" pitchFamily="34" charset="-122"/>
              </a:rPr>
              <a:t>域名、二级域名、三级域名、四级域名</a:t>
            </a:r>
            <a:r>
              <a:rPr lang="en-US" altLang="zh-CN" b="1" dirty="0" smtClean="0">
                <a:latin typeface="微软雅黑" pitchFamily="34" charset="-122"/>
                <a:ea typeface="微软雅黑" pitchFamily="34" charset="-122"/>
              </a:rPr>
              <a:t>……</a:t>
            </a:r>
          </a:p>
          <a:p>
            <a:pPr marL="742950" lvl="1" indent="-28575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不同域名标签之间通过</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隔开</a:t>
            </a:r>
            <a:endParaRPr lang="en-US" altLang="zh-CN" b="1" dirty="0" smtClean="0">
              <a:latin typeface="微软雅黑" pitchFamily="34" charset="-122"/>
              <a:ea typeface="微软雅黑" pitchFamily="34" charset="-122"/>
            </a:endParaRPr>
          </a:p>
          <a:p>
            <a:pPr marL="742950" lvl="1" indent="-285750">
              <a:lnSpc>
                <a:spcPts val="3000"/>
              </a:lnSpc>
              <a:buClr>
                <a:srgbClr val="0070C0"/>
              </a:buClr>
              <a:buFont typeface="Wingdings" pitchFamily="2" charset="2"/>
              <a:buChar char="l"/>
            </a:pPr>
            <a:endParaRPr lang="zh-CN" altLang="en-US"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6401498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500"/>
                                        <p:tgtEl>
                                          <p:spTgt spid="8">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xEl>
                                              <p:pRg st="1" end="1"/>
                                            </p:txEl>
                                          </p:spTgt>
                                        </p:tgtEl>
                                        <p:attrNameLst>
                                          <p:attrName>style.visibility</p:attrName>
                                        </p:attrNameLst>
                                      </p:cBhvr>
                                      <p:to>
                                        <p:strVal val="visible"/>
                                      </p:to>
                                    </p:set>
                                    <p:animEffect transition="in" filter="fade">
                                      <p:cBhvr>
                                        <p:cTn id="11" dur="500"/>
                                        <p:tgtEl>
                                          <p:spTgt spid="8">
                                            <p:txEl>
                                              <p:pRg st="1" end="1"/>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fade">
                                      <p:cBhvr>
                                        <p:cTn id="15" dur="500"/>
                                        <p:tgtEl>
                                          <p:spTgt spid="8">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8">
                                            <p:txEl>
                                              <p:pRg st="3" end="3"/>
                                            </p:txEl>
                                          </p:spTgt>
                                        </p:tgtEl>
                                        <p:attrNameLst>
                                          <p:attrName>style.visibility</p:attrName>
                                        </p:attrNameLst>
                                      </p:cBhvr>
                                      <p:to>
                                        <p:strVal val="visible"/>
                                      </p:to>
                                    </p:set>
                                    <p:animEffect transition="in" filter="fade">
                                      <p:cBhvr>
                                        <p:cTn id="20" dur="500"/>
                                        <p:tgtEl>
                                          <p:spTgt spid="8">
                                            <p:txEl>
                                              <p:pRg st="3" end="3"/>
                                            </p:txEl>
                                          </p:spTgt>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8">
                                            <p:txEl>
                                              <p:pRg st="4" end="4"/>
                                            </p:txEl>
                                          </p:spTgt>
                                        </p:tgtEl>
                                        <p:attrNameLst>
                                          <p:attrName>style.visibility</p:attrName>
                                        </p:attrNameLst>
                                      </p:cBhvr>
                                      <p:to>
                                        <p:strVal val="visible"/>
                                      </p:to>
                                    </p:set>
                                    <p:animEffect transition="in" filter="fade">
                                      <p:cBhvr>
                                        <p:cTn id="24" dur="500"/>
                                        <p:tgtEl>
                                          <p:spTgt spid="8">
                                            <p:txEl>
                                              <p:pRg st="4" end="4"/>
                                            </p:txEl>
                                          </p:spTgt>
                                        </p:tgtEl>
                                      </p:cBhvr>
                                    </p:animEffect>
                                  </p:childTnLst>
                                </p:cTn>
                              </p:par>
                            </p:childTnLst>
                          </p:cTn>
                        </p:par>
                        <p:par>
                          <p:cTn id="25" fill="hold">
                            <p:stCondLst>
                              <p:cond delay="1000"/>
                            </p:stCondLst>
                            <p:childTnLst>
                              <p:par>
                                <p:cTn id="26" presetID="10" presetClass="entr" presetSubtype="0" fill="hold" nodeType="afterEffect">
                                  <p:stCondLst>
                                    <p:cond delay="0"/>
                                  </p:stCondLst>
                                  <p:childTnLst>
                                    <p:set>
                                      <p:cBhvr>
                                        <p:cTn id="27" dur="1" fill="hold">
                                          <p:stCondLst>
                                            <p:cond delay="0"/>
                                          </p:stCondLst>
                                        </p:cTn>
                                        <p:tgtEl>
                                          <p:spTgt spid="8">
                                            <p:txEl>
                                              <p:pRg st="5" end="5"/>
                                            </p:txEl>
                                          </p:spTgt>
                                        </p:tgtEl>
                                        <p:attrNameLst>
                                          <p:attrName>style.visibility</p:attrName>
                                        </p:attrNameLst>
                                      </p:cBhvr>
                                      <p:to>
                                        <p:strVal val="visible"/>
                                      </p:to>
                                    </p:set>
                                    <p:animEffect transition="in" filter="fade">
                                      <p:cBhvr>
                                        <p:cTn id="28" dur="500"/>
                                        <p:tgtEl>
                                          <p:spTgt spid="8">
                                            <p:txEl>
                                              <p:pRg st="5" end="5"/>
                                            </p:txEl>
                                          </p:spTgt>
                                        </p:tgtEl>
                                      </p:cBhvr>
                                    </p:animEffect>
                                  </p:childTnLst>
                                </p:cTn>
                              </p:par>
                            </p:childTnLst>
                          </p:cTn>
                        </p:par>
                        <p:par>
                          <p:cTn id="29" fill="hold">
                            <p:stCondLst>
                              <p:cond delay="1500"/>
                            </p:stCondLst>
                            <p:childTnLst>
                              <p:par>
                                <p:cTn id="30" presetID="10" presetClass="entr" presetSubtype="0" fill="hold" nodeType="afterEffect">
                                  <p:stCondLst>
                                    <p:cond delay="0"/>
                                  </p:stCondLst>
                                  <p:childTnLst>
                                    <p:set>
                                      <p:cBhvr>
                                        <p:cTn id="31" dur="1" fill="hold">
                                          <p:stCondLst>
                                            <p:cond delay="0"/>
                                          </p:stCondLst>
                                        </p:cTn>
                                        <p:tgtEl>
                                          <p:spTgt spid="8">
                                            <p:txEl>
                                              <p:pRg st="6" end="6"/>
                                            </p:txEl>
                                          </p:spTgt>
                                        </p:tgtEl>
                                        <p:attrNameLst>
                                          <p:attrName>style.visibility</p:attrName>
                                        </p:attrNameLst>
                                      </p:cBhvr>
                                      <p:to>
                                        <p:strVal val="visible"/>
                                      </p:to>
                                    </p:set>
                                    <p:animEffect transition="in" filter="fade">
                                      <p:cBhvr>
                                        <p:cTn id="32" dur="500"/>
                                        <p:tgtEl>
                                          <p:spTgt spid="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对角圆角矩形 8"/>
          <p:cNvSpPr/>
          <p:nvPr/>
        </p:nvSpPr>
        <p:spPr>
          <a:xfrm>
            <a:off x="1708847" y="3568959"/>
            <a:ext cx="5295641" cy="990877"/>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45143" y="616659"/>
            <a:ext cx="8053711"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3710227" y="574388"/>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域名服务器</a:t>
            </a:r>
            <a:endParaRPr lang="zh-CN" altLang="en-US" sz="2400" b="1" dirty="0">
              <a:solidFill>
                <a:schemeClr val="bg1"/>
              </a:solidFill>
              <a:latin typeface="微软雅黑" pitchFamily="34" charset="-122"/>
              <a:ea typeface="微软雅黑" pitchFamily="34" charset="-122"/>
            </a:endParaRPr>
          </a:p>
        </p:txBody>
      </p:sp>
      <p:sp>
        <p:nvSpPr>
          <p:cNvPr id="8" name="Rectangle 8"/>
          <p:cNvSpPr>
            <a:spLocks noChangeArrowheads="1"/>
          </p:cNvSpPr>
          <p:nvPr/>
        </p:nvSpPr>
        <p:spPr bwMode="auto">
          <a:xfrm>
            <a:off x="545143" y="1014588"/>
            <a:ext cx="8053711" cy="25673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域名系统的</a:t>
            </a:r>
            <a:r>
              <a:rPr lang="zh-CN" altLang="en-US" sz="2000" b="1" dirty="0" smtClean="0">
                <a:latin typeface="微软雅黑" pitchFamily="34" charset="-122"/>
                <a:ea typeface="微软雅黑" pitchFamily="34" charset="-122"/>
              </a:rPr>
              <a:t>实现依赖于分布</a:t>
            </a:r>
            <a:r>
              <a:rPr lang="zh-CN" altLang="en-US" sz="2000" b="1" dirty="0">
                <a:latin typeface="微软雅黑" pitchFamily="34" charset="-122"/>
                <a:ea typeface="微软雅黑" pitchFamily="34" charset="-122"/>
              </a:rPr>
              <a:t>在各地的</a:t>
            </a:r>
            <a:r>
              <a:rPr lang="zh-CN" altLang="en-US" sz="2000" b="1" dirty="0">
                <a:solidFill>
                  <a:srgbClr val="C00000"/>
                </a:solidFill>
                <a:latin typeface="微软雅黑" pitchFamily="34" charset="-122"/>
                <a:ea typeface="微软雅黑" pitchFamily="34" charset="-122"/>
              </a:rPr>
              <a:t>域名</a:t>
            </a:r>
            <a:r>
              <a:rPr lang="zh-CN" altLang="en-US" sz="2000" b="1" dirty="0" smtClean="0">
                <a:solidFill>
                  <a:srgbClr val="C00000"/>
                </a:solidFill>
                <a:latin typeface="微软雅黑" pitchFamily="34" charset="-122"/>
                <a:ea typeface="微软雅黑" pitchFamily="34" charset="-122"/>
              </a:rPr>
              <a:t>服务器</a:t>
            </a:r>
            <a:r>
              <a:rPr lang="zh-CN" altLang="en-US" sz="2000" b="1" dirty="0" smtClean="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DNS </a:t>
            </a:r>
            <a:r>
              <a:rPr lang="zh-CN" altLang="en-US" sz="2000" b="1" dirty="0" smtClean="0">
                <a:latin typeface="微软雅黑" pitchFamily="34" charset="-122"/>
                <a:ea typeface="微软雅黑" pitchFamily="34" charset="-122"/>
              </a:rPr>
              <a:t>服务器）。</a:t>
            </a:r>
            <a:endParaRPr lang="en-US" altLang="zh-CN" sz="2000" b="1" dirty="0" smtClean="0">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sz="2000" b="1" dirty="0" smtClean="0">
                <a:latin typeface="微软雅黑" pitchFamily="34" charset="-122"/>
                <a:ea typeface="微软雅黑" pitchFamily="34" charset="-122"/>
              </a:rPr>
              <a:t>一个域名服务器所服务</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范围叫做</a:t>
            </a:r>
            <a:r>
              <a:rPr lang="zh-CN" altLang="en-US" sz="2000" b="1" dirty="0">
                <a:solidFill>
                  <a:srgbClr val="C00000"/>
                </a:solidFill>
                <a:latin typeface="微软雅黑" pitchFamily="34" charset="-122"/>
                <a:ea typeface="微软雅黑" pitchFamily="34" charset="-122"/>
              </a:rPr>
              <a:t>区</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(zone)</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各单位根据具体情况来划分</a:t>
            </a:r>
            <a:r>
              <a:rPr lang="zh-CN" altLang="en-US" sz="2000" b="1" dirty="0" smtClean="0">
                <a:latin typeface="微软雅黑" pitchFamily="34" charset="-122"/>
                <a:ea typeface="微软雅黑" pitchFamily="34" charset="-122"/>
              </a:rPr>
              <a:t>自己</a:t>
            </a:r>
            <a:r>
              <a:rPr lang="zh-CN" altLang="en-US" sz="2000" b="1" dirty="0">
                <a:latin typeface="微软雅黑" pitchFamily="34" charset="-122"/>
                <a:ea typeface="微软雅黑" pitchFamily="34" charset="-122"/>
              </a:rPr>
              <a:t>负责</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区</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一个区中的所有节点必须是能够</a:t>
            </a:r>
            <a:r>
              <a:rPr lang="zh-CN" altLang="en-US" sz="2000" b="1" dirty="0">
                <a:solidFill>
                  <a:srgbClr val="C00000"/>
                </a:solidFill>
                <a:latin typeface="微软雅黑" pitchFamily="34" charset="-122"/>
                <a:ea typeface="微软雅黑" pitchFamily="34" charset="-122"/>
              </a:rPr>
              <a:t>连通</a:t>
            </a:r>
            <a:r>
              <a:rPr lang="zh-CN" altLang="en-US" sz="2000" b="1" dirty="0">
                <a:latin typeface="微软雅黑" pitchFamily="34" charset="-122"/>
                <a:ea typeface="微软雅黑" pitchFamily="34" charset="-122"/>
              </a:rPr>
              <a:t>的。</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每一个区设置相应</a:t>
            </a:r>
            <a:r>
              <a:rPr lang="zh-CN" altLang="en-US" sz="2000" b="1" dirty="0" smtClean="0">
                <a:latin typeface="微软雅黑" pitchFamily="34" charset="-122"/>
                <a:ea typeface="微软雅黑" pitchFamily="34" charset="-122"/>
              </a:rPr>
              <a:t>的</a:t>
            </a:r>
            <a:r>
              <a:rPr lang="zh-CN" altLang="en-US" sz="2000" b="1" dirty="0" smtClean="0">
                <a:solidFill>
                  <a:srgbClr val="C00000"/>
                </a:solidFill>
                <a:latin typeface="微软雅黑" pitchFamily="34" charset="-122"/>
                <a:ea typeface="微软雅黑" pitchFamily="34" charset="-122"/>
              </a:rPr>
              <a:t>权威域名服务器，</a:t>
            </a:r>
            <a:r>
              <a:rPr lang="zh-CN" altLang="en-US" sz="2000" b="1" dirty="0">
                <a:latin typeface="微软雅黑" pitchFamily="34" charset="-122"/>
                <a:ea typeface="微软雅黑" pitchFamily="34" charset="-122"/>
              </a:rPr>
              <a:t>用来</a:t>
            </a:r>
            <a:r>
              <a:rPr lang="zh-CN" altLang="en-US" sz="2000" b="1" dirty="0">
                <a:solidFill>
                  <a:srgbClr val="C00000"/>
                </a:solidFill>
                <a:latin typeface="微软雅黑" pitchFamily="34" charset="-122"/>
                <a:ea typeface="微软雅黑" pitchFamily="34" charset="-122"/>
              </a:rPr>
              <a:t>保存</a:t>
            </a:r>
            <a:r>
              <a:rPr lang="zh-CN" altLang="en-US" sz="2000" b="1" dirty="0">
                <a:latin typeface="微软雅黑" pitchFamily="34" charset="-122"/>
                <a:ea typeface="微软雅黑" pitchFamily="34" charset="-122"/>
              </a:rPr>
              <a:t>该区中的所有主机的域名到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地址的映射</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2" name="矩形 1"/>
          <p:cNvSpPr/>
          <p:nvPr/>
        </p:nvSpPr>
        <p:spPr>
          <a:xfrm>
            <a:off x="1890947" y="3692509"/>
            <a:ext cx="5078029" cy="730777"/>
          </a:xfrm>
          <a:prstGeom prst="rect">
            <a:avLst/>
          </a:prstGeom>
        </p:spPr>
        <p:txBody>
          <a:bodyPr wrap="square">
            <a:spAutoFit/>
          </a:bodyPr>
          <a:lstStyle/>
          <a:p>
            <a:pPr>
              <a:lnSpc>
                <a:spcPts val="2600"/>
              </a:lnSpc>
              <a:buClr>
                <a:srgbClr val="0070C0"/>
              </a:buClr>
            </a:pPr>
            <a:r>
              <a:rPr lang="en-US" altLang="zh-CN" b="1" dirty="0">
                <a:solidFill>
                  <a:schemeClr val="bg1"/>
                </a:solidFill>
                <a:latin typeface="微软雅黑" pitchFamily="34" charset="-122"/>
                <a:ea typeface="微软雅黑" pitchFamily="34" charset="-122"/>
              </a:rPr>
              <a:t>DNS </a:t>
            </a:r>
            <a:r>
              <a:rPr lang="zh-CN" altLang="en-US" b="1" dirty="0">
                <a:solidFill>
                  <a:schemeClr val="bg1"/>
                </a:solidFill>
                <a:latin typeface="微软雅黑" pitchFamily="34" charset="-122"/>
                <a:ea typeface="微软雅黑" pitchFamily="34" charset="-122"/>
              </a:rPr>
              <a:t>服务器的管辖范围不是以“域”为单位，而是</a:t>
            </a:r>
            <a:r>
              <a:rPr lang="zh-CN" altLang="en-US" b="1" dirty="0">
                <a:solidFill>
                  <a:srgbClr val="FFFF00"/>
                </a:solidFill>
                <a:latin typeface="微软雅黑" pitchFamily="34" charset="-122"/>
                <a:ea typeface="微软雅黑" pitchFamily="34" charset="-122"/>
              </a:rPr>
              <a:t>以“区”为单位。 </a:t>
            </a:r>
            <a:endParaRPr lang="en-US" altLang="zh-CN" b="1" dirty="0">
              <a:solidFill>
                <a:srgbClr val="FFFF0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7837522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fad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7154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AutoShape 95"/>
          <p:cNvSpPr>
            <a:spLocks noChangeArrowheads="1"/>
          </p:cNvSpPr>
          <p:nvPr/>
        </p:nvSpPr>
        <p:spPr bwMode="auto">
          <a:xfrm>
            <a:off x="1691868" y="2331607"/>
            <a:ext cx="2761795" cy="1592984"/>
          </a:xfrm>
          <a:prstGeom prst="roundRect">
            <a:avLst>
              <a:gd name="adj" fmla="val 9319"/>
            </a:avLst>
          </a:prstGeom>
          <a:solidFill>
            <a:srgbClr val="0000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31" name="Group 173"/>
          <p:cNvGrpSpPr>
            <a:grpSpLocks/>
          </p:cNvGrpSpPr>
          <p:nvPr/>
        </p:nvGrpSpPr>
        <p:grpSpPr bwMode="auto">
          <a:xfrm>
            <a:off x="4689084" y="1287169"/>
            <a:ext cx="2775277" cy="2956210"/>
            <a:chOff x="2971" y="709"/>
            <a:chExt cx="2676" cy="3088"/>
          </a:xfrm>
        </p:grpSpPr>
        <p:sp>
          <p:nvSpPr>
            <p:cNvPr id="38" name="AutoShape 117"/>
            <p:cNvSpPr>
              <a:spLocks noChangeArrowheads="1"/>
            </p:cNvSpPr>
            <p:nvPr/>
          </p:nvSpPr>
          <p:spPr bwMode="auto">
            <a:xfrm>
              <a:off x="2971" y="1800"/>
              <a:ext cx="2665" cy="1664"/>
            </a:xfrm>
            <a:prstGeom prst="roundRect">
              <a:avLst>
                <a:gd name="adj" fmla="val 9319"/>
              </a:avLst>
            </a:prstGeom>
            <a:solidFill>
              <a:schemeClr val="accent6">
                <a:lumMod val="50000"/>
              </a:schemeClr>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32" name="Group 89"/>
            <p:cNvGrpSpPr>
              <a:grpSpLocks/>
            </p:cNvGrpSpPr>
            <p:nvPr/>
          </p:nvGrpSpPr>
          <p:grpSpPr bwMode="auto">
            <a:xfrm>
              <a:off x="4196" y="1530"/>
              <a:ext cx="256" cy="98"/>
              <a:chOff x="1519" y="813"/>
              <a:chExt cx="227" cy="77"/>
            </a:xfrm>
          </p:grpSpPr>
          <p:sp>
            <p:nvSpPr>
              <p:cNvPr id="73" name="Line 9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4" name="Line 9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3" name="Text Box 112"/>
            <p:cNvSpPr txBox="1">
              <a:spLocks noChangeArrowheads="1"/>
            </p:cNvSpPr>
            <p:nvPr/>
          </p:nvSpPr>
          <p:spPr bwMode="auto">
            <a:xfrm>
              <a:off x="3892" y="3476"/>
              <a:ext cx="1061"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区 </a:t>
              </a:r>
              <a:r>
                <a:rPr kumimoji="1" lang="en-US" altLang="zh-CN" sz="1400" b="1" dirty="0">
                  <a:latin typeface="微软雅黑" pitchFamily="34" charset="-122"/>
                  <a:ea typeface="微软雅黑" pitchFamily="34" charset="-122"/>
                </a:rPr>
                <a:t>&lt; </a:t>
              </a:r>
              <a:r>
                <a:rPr kumimoji="1" lang="zh-CN" altLang="en-US" sz="1400" b="1" dirty="0">
                  <a:latin typeface="微软雅黑" pitchFamily="34" charset="-122"/>
                  <a:ea typeface="微软雅黑" pitchFamily="34" charset="-122"/>
                </a:rPr>
                <a:t>域</a:t>
              </a:r>
            </a:p>
          </p:txBody>
        </p:sp>
        <p:sp>
          <p:nvSpPr>
            <p:cNvPr id="34" name="Line 113"/>
            <p:cNvSpPr>
              <a:spLocks noChangeShapeType="1"/>
            </p:cNvSpPr>
            <p:nvPr/>
          </p:nvSpPr>
          <p:spPr bwMode="auto">
            <a:xfrm>
              <a:off x="4328" y="1523"/>
              <a:ext cx="5" cy="50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114"/>
            <p:cNvSpPr txBox="1">
              <a:spLocks noChangeArrowheads="1"/>
            </p:cNvSpPr>
            <p:nvPr/>
          </p:nvSpPr>
          <p:spPr bwMode="auto">
            <a:xfrm>
              <a:off x="3061" y="1806"/>
              <a:ext cx="994"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域 </a:t>
              </a:r>
              <a:r>
                <a:rPr kumimoji="1" lang="en-US" altLang="zh-CN" sz="1200" b="1" dirty="0">
                  <a:solidFill>
                    <a:schemeClr val="bg1"/>
                  </a:solidFill>
                  <a:latin typeface="微软雅黑" pitchFamily="34" charset="-122"/>
                  <a:ea typeface="微软雅黑" pitchFamily="34" charset="-122"/>
                </a:rPr>
                <a:t>abc.com</a:t>
              </a:r>
            </a:p>
          </p:txBody>
        </p:sp>
        <p:sp>
          <p:nvSpPr>
            <p:cNvPr id="36" name="Freeform 115"/>
            <p:cNvSpPr>
              <a:spLocks/>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Freeform 116"/>
            <p:cNvSpPr>
              <a:spLocks/>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00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9" name="Text Box 118"/>
            <p:cNvSpPr txBox="1">
              <a:spLocks noChangeArrowheads="1"/>
            </p:cNvSpPr>
            <p:nvPr/>
          </p:nvSpPr>
          <p:spPr bwMode="auto">
            <a:xfrm>
              <a:off x="2990" y="2131"/>
              <a:ext cx="801" cy="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pitchFamily="34" charset="-122"/>
                  <a:ea typeface="微软雅黑" pitchFamily="34" charset="-122"/>
                </a:rPr>
                <a:t> 区</a:t>
              </a:r>
              <a:endParaRPr kumimoji="1" lang="zh-CN" altLang="en-US" sz="1200" b="1" dirty="0">
                <a:solidFill>
                  <a:schemeClr val="bg1"/>
                </a:solidFill>
                <a:latin typeface="微软雅黑" pitchFamily="34" charset="-122"/>
                <a:ea typeface="微软雅黑" pitchFamily="34" charset="-122"/>
              </a:endParaRPr>
            </a:p>
            <a:p>
              <a:pPr algn="ctr" eaLnBrk="1" hangingPunct="1">
                <a:lnSpc>
                  <a:spcPct val="70000"/>
                </a:lnSpc>
              </a:pPr>
              <a:r>
                <a:rPr kumimoji="1" lang="en-US" altLang="zh-CN" sz="1200" b="1" dirty="0">
                  <a:solidFill>
                    <a:schemeClr val="bg1"/>
                  </a:solidFill>
                  <a:latin typeface="微软雅黑" pitchFamily="34" charset="-122"/>
                  <a:ea typeface="微软雅黑" pitchFamily="34" charset="-122"/>
                </a:rPr>
                <a:t>abc.com</a:t>
              </a:r>
            </a:p>
          </p:txBody>
        </p:sp>
        <p:sp>
          <p:nvSpPr>
            <p:cNvPr id="40" name="Text Box 119"/>
            <p:cNvSpPr txBox="1">
              <a:spLocks noChangeArrowheads="1"/>
            </p:cNvSpPr>
            <p:nvPr/>
          </p:nvSpPr>
          <p:spPr bwMode="auto">
            <a:xfrm>
              <a:off x="4649" y="1950"/>
              <a:ext cx="998" cy="3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5000"/>
                </a:lnSpc>
              </a:pPr>
              <a:r>
                <a:rPr kumimoji="1" lang="zh-CN" altLang="en-US" sz="1200" b="1">
                  <a:solidFill>
                    <a:schemeClr val="bg1"/>
                  </a:solidFill>
                  <a:latin typeface="微软雅黑" pitchFamily="34" charset="-122"/>
                  <a:ea typeface="微软雅黑" pitchFamily="34" charset="-122"/>
                </a:rPr>
                <a:t>区</a:t>
              </a:r>
            </a:p>
            <a:p>
              <a:pPr algn="ctr" eaLnBrk="1" hangingPunct="1">
                <a:lnSpc>
                  <a:spcPct val="75000"/>
                </a:lnSpc>
              </a:pPr>
              <a:r>
                <a:rPr kumimoji="1" lang="en-US" altLang="zh-CN" sz="1200" b="1">
                  <a:solidFill>
                    <a:schemeClr val="bg1"/>
                  </a:solidFill>
                  <a:latin typeface="微软雅黑" pitchFamily="34" charset="-122"/>
                  <a:ea typeface="微软雅黑" pitchFamily="34" charset="-122"/>
                </a:rPr>
                <a:t>y.abc.com</a:t>
              </a:r>
            </a:p>
          </p:txBody>
        </p:sp>
        <p:sp>
          <p:nvSpPr>
            <p:cNvPr id="41" name="Line 120"/>
            <p:cNvSpPr>
              <a:spLocks noChangeShapeType="1"/>
            </p:cNvSpPr>
            <p:nvPr/>
          </p:nvSpPr>
          <p:spPr bwMode="auto">
            <a:xfrm>
              <a:off x="3382" y="2470"/>
              <a:ext cx="156" cy="227"/>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121"/>
            <p:cNvSpPr>
              <a:spLocks noChangeShapeType="1"/>
            </p:cNvSpPr>
            <p:nvPr/>
          </p:nvSpPr>
          <p:spPr bwMode="auto">
            <a:xfrm rot="10800000" flipV="1">
              <a:off x="5103" y="2316"/>
              <a:ext cx="124" cy="426"/>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122"/>
            <p:cNvSpPr>
              <a:spLocks noChangeShapeType="1"/>
            </p:cNvSpPr>
            <p:nvPr/>
          </p:nvSpPr>
          <p:spPr bwMode="auto">
            <a:xfrm flipH="1">
              <a:off x="4054" y="2124"/>
              <a:ext cx="226" cy="417"/>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123"/>
            <p:cNvSpPr>
              <a:spLocks noChangeShapeType="1"/>
            </p:cNvSpPr>
            <p:nvPr/>
          </p:nvSpPr>
          <p:spPr bwMode="auto">
            <a:xfrm>
              <a:off x="4407" y="2143"/>
              <a:ext cx="297" cy="38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124"/>
            <p:cNvSpPr>
              <a:spLocks noChangeShapeType="1"/>
            </p:cNvSpPr>
            <p:nvPr/>
          </p:nvSpPr>
          <p:spPr bwMode="auto">
            <a:xfrm>
              <a:off x="4754" y="2610"/>
              <a:ext cx="319" cy="49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125"/>
            <p:cNvSpPr>
              <a:spLocks noChangeShapeType="1"/>
            </p:cNvSpPr>
            <p:nvPr/>
          </p:nvSpPr>
          <p:spPr bwMode="auto">
            <a:xfrm>
              <a:off x="4068" y="2622"/>
              <a:ext cx="388" cy="44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126"/>
            <p:cNvSpPr>
              <a:spLocks noChangeShapeType="1"/>
            </p:cNvSpPr>
            <p:nvPr/>
          </p:nvSpPr>
          <p:spPr bwMode="auto">
            <a:xfrm flipH="1">
              <a:off x="4002" y="2629"/>
              <a:ext cx="11" cy="380"/>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127"/>
            <p:cNvSpPr>
              <a:spLocks noChangeShapeType="1"/>
            </p:cNvSpPr>
            <p:nvPr/>
          </p:nvSpPr>
          <p:spPr bwMode="auto">
            <a:xfrm flipH="1">
              <a:off x="3528" y="2578"/>
              <a:ext cx="470" cy="48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Oval 128"/>
            <p:cNvSpPr>
              <a:spLocks noChangeArrowheads="1"/>
            </p:cNvSpPr>
            <p:nvPr/>
          </p:nvSpPr>
          <p:spPr bwMode="auto">
            <a:xfrm>
              <a:off x="4121" y="1982"/>
              <a:ext cx="410" cy="24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abc</a:t>
              </a:r>
            </a:p>
          </p:txBody>
        </p:sp>
        <p:sp>
          <p:nvSpPr>
            <p:cNvPr id="50" name="Oval 129"/>
            <p:cNvSpPr>
              <a:spLocks noChangeArrowheads="1"/>
            </p:cNvSpPr>
            <p:nvPr/>
          </p:nvSpPr>
          <p:spPr bwMode="auto">
            <a:xfrm>
              <a:off x="3844"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x</a:t>
              </a:r>
            </a:p>
          </p:txBody>
        </p:sp>
        <p:sp>
          <p:nvSpPr>
            <p:cNvPr id="51" name="Oval 130"/>
            <p:cNvSpPr>
              <a:spLocks noChangeArrowheads="1"/>
            </p:cNvSpPr>
            <p:nvPr/>
          </p:nvSpPr>
          <p:spPr bwMode="auto">
            <a:xfrm>
              <a:off x="3332"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u</a:t>
              </a:r>
            </a:p>
          </p:txBody>
        </p:sp>
        <p:sp>
          <p:nvSpPr>
            <p:cNvPr id="52" name="Oval 131"/>
            <p:cNvSpPr>
              <a:spLocks noChangeArrowheads="1"/>
            </p:cNvSpPr>
            <p:nvPr/>
          </p:nvSpPr>
          <p:spPr bwMode="auto">
            <a:xfrm>
              <a:off x="3810"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v</a:t>
              </a:r>
            </a:p>
          </p:txBody>
        </p:sp>
        <p:sp>
          <p:nvSpPr>
            <p:cNvPr id="53" name="Oval 132"/>
            <p:cNvSpPr>
              <a:spLocks noChangeArrowheads="1"/>
            </p:cNvSpPr>
            <p:nvPr/>
          </p:nvSpPr>
          <p:spPr bwMode="auto">
            <a:xfrm>
              <a:off x="428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w</a:t>
              </a:r>
            </a:p>
          </p:txBody>
        </p:sp>
        <p:sp>
          <p:nvSpPr>
            <p:cNvPr id="54" name="Oval 133"/>
            <p:cNvSpPr>
              <a:spLocks noChangeArrowheads="1"/>
            </p:cNvSpPr>
            <p:nvPr/>
          </p:nvSpPr>
          <p:spPr bwMode="auto">
            <a:xfrm>
              <a:off x="486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t</a:t>
              </a:r>
            </a:p>
          </p:txBody>
        </p:sp>
        <p:sp>
          <p:nvSpPr>
            <p:cNvPr id="55" name="Oval 134"/>
            <p:cNvSpPr>
              <a:spLocks noChangeArrowheads="1"/>
            </p:cNvSpPr>
            <p:nvPr/>
          </p:nvSpPr>
          <p:spPr bwMode="auto">
            <a:xfrm>
              <a:off x="4560"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y</a:t>
              </a:r>
            </a:p>
          </p:txBody>
        </p:sp>
        <p:sp>
          <p:nvSpPr>
            <p:cNvPr id="56" name="AutoShape 135"/>
            <p:cNvSpPr>
              <a:spLocks noChangeArrowheads="1"/>
            </p:cNvSpPr>
            <p:nvPr/>
          </p:nvSpPr>
          <p:spPr bwMode="auto">
            <a:xfrm>
              <a:off x="4063" y="1232"/>
              <a:ext cx="522" cy="303"/>
            </a:xfrm>
            <a:prstGeom prst="roundRect">
              <a:avLst>
                <a:gd name="adj" fmla="val 34167"/>
              </a:avLst>
            </a:prstGeom>
            <a:solidFill>
              <a:srgbClr val="66FF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com</a:t>
              </a:r>
            </a:p>
          </p:txBody>
        </p:sp>
        <p:sp>
          <p:nvSpPr>
            <p:cNvPr id="57" name="AutoShape 136"/>
            <p:cNvSpPr>
              <a:spLocks noChangeArrowheads="1"/>
            </p:cNvSpPr>
            <p:nvPr/>
          </p:nvSpPr>
          <p:spPr bwMode="auto">
            <a:xfrm>
              <a:off x="4909" y="1225"/>
              <a:ext cx="522" cy="304"/>
            </a:xfrm>
            <a:prstGeom prst="roundRect">
              <a:avLst>
                <a:gd name="adj" fmla="val 34167"/>
              </a:avLst>
            </a:prstGeom>
            <a:solidFill>
              <a:srgbClr val="00B0F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edu</a:t>
              </a:r>
            </a:p>
          </p:txBody>
        </p:sp>
        <p:sp>
          <p:nvSpPr>
            <p:cNvPr id="58" name="AutoShape 137"/>
            <p:cNvSpPr>
              <a:spLocks noChangeArrowheads="1"/>
            </p:cNvSpPr>
            <p:nvPr/>
          </p:nvSpPr>
          <p:spPr bwMode="auto">
            <a:xfrm>
              <a:off x="3220" y="1225"/>
              <a:ext cx="522" cy="304"/>
            </a:xfrm>
            <a:prstGeom prst="roundRect">
              <a:avLst>
                <a:gd name="adj" fmla="val 34167"/>
              </a:avLst>
            </a:prstGeom>
            <a:solidFill>
              <a:srgbClr val="00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org</a:t>
              </a:r>
            </a:p>
          </p:txBody>
        </p:sp>
        <p:grpSp>
          <p:nvGrpSpPr>
            <p:cNvPr id="59" name="Group 138"/>
            <p:cNvGrpSpPr>
              <a:grpSpLocks/>
            </p:cNvGrpSpPr>
            <p:nvPr/>
          </p:nvGrpSpPr>
          <p:grpSpPr bwMode="auto">
            <a:xfrm>
              <a:off x="5042" y="1530"/>
              <a:ext cx="256" cy="98"/>
              <a:chOff x="2875" y="1143"/>
              <a:chExt cx="330" cy="132"/>
            </a:xfrm>
          </p:grpSpPr>
          <p:sp>
            <p:nvSpPr>
              <p:cNvPr id="69" name="Line 139"/>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0" name="Line 140"/>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1" name="Line 141"/>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2" name="Line 142"/>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60" name="Group 143"/>
            <p:cNvGrpSpPr>
              <a:grpSpLocks/>
            </p:cNvGrpSpPr>
            <p:nvPr/>
          </p:nvGrpSpPr>
          <p:grpSpPr bwMode="auto">
            <a:xfrm>
              <a:off x="3353" y="1530"/>
              <a:ext cx="256" cy="98"/>
              <a:chOff x="2875" y="1143"/>
              <a:chExt cx="330" cy="132"/>
            </a:xfrm>
          </p:grpSpPr>
          <p:sp>
            <p:nvSpPr>
              <p:cNvPr id="65" name="Line 14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6" name="Line 14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Line 14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8" name="Line 14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1" name="AutoShape 148"/>
            <p:cNvSpPr>
              <a:spLocks noChangeArrowheads="1"/>
            </p:cNvSpPr>
            <p:nvPr/>
          </p:nvSpPr>
          <p:spPr bwMode="auto">
            <a:xfrm>
              <a:off x="4049" y="709"/>
              <a:ext cx="523" cy="304"/>
            </a:xfrm>
            <a:prstGeom prst="roundRect">
              <a:avLst>
                <a:gd name="adj" fmla="val 34167"/>
              </a:avLst>
            </a:prstGeom>
            <a:solidFill>
              <a:srgbClr val="FF66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200" b="1">
                  <a:latin typeface="微软雅黑" pitchFamily="34" charset="-122"/>
                  <a:ea typeface="微软雅黑" pitchFamily="34" charset="-122"/>
                </a:rPr>
                <a:t>根</a:t>
              </a:r>
            </a:p>
          </p:txBody>
        </p:sp>
        <p:sp>
          <p:nvSpPr>
            <p:cNvPr id="62" name="Line 149"/>
            <p:cNvSpPr>
              <a:spLocks noChangeShapeType="1"/>
            </p:cNvSpPr>
            <p:nvPr/>
          </p:nvSpPr>
          <p:spPr bwMode="auto">
            <a:xfrm>
              <a:off x="4375" y="1010"/>
              <a:ext cx="792"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3" name="Line 150"/>
            <p:cNvSpPr>
              <a:spLocks noChangeShapeType="1"/>
            </p:cNvSpPr>
            <p:nvPr/>
          </p:nvSpPr>
          <p:spPr bwMode="auto">
            <a:xfrm flipV="1">
              <a:off x="3481" y="1010"/>
              <a:ext cx="779"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4" name="Line 151"/>
            <p:cNvSpPr>
              <a:spLocks noChangeShapeType="1"/>
            </p:cNvSpPr>
            <p:nvPr/>
          </p:nvSpPr>
          <p:spPr bwMode="auto">
            <a:xfrm>
              <a:off x="4321" y="1010"/>
              <a:ext cx="0"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168145" y="582898"/>
            <a:ext cx="2826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区的不同划分方法</a:t>
            </a:r>
            <a:r>
              <a:rPr lang="zh-CN" altLang="en-US" sz="2000" b="1" dirty="0" smtClean="0">
                <a:solidFill>
                  <a:schemeClr val="bg1"/>
                </a:solidFill>
                <a:latin typeface="微软雅黑" pitchFamily="34" charset="-122"/>
                <a:ea typeface="微软雅黑" pitchFamily="34" charset="-122"/>
              </a:rPr>
              <a:t>举例</a:t>
            </a:r>
          </a:p>
        </p:txBody>
      </p:sp>
      <p:sp>
        <p:nvSpPr>
          <p:cNvPr id="8" name="Line 92"/>
          <p:cNvSpPr>
            <a:spLocks noChangeShapeType="1"/>
          </p:cNvSpPr>
          <p:nvPr/>
        </p:nvSpPr>
        <p:spPr bwMode="auto">
          <a:xfrm>
            <a:off x="3129287" y="2056856"/>
            <a:ext cx="6223" cy="48249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Text Box 93"/>
          <p:cNvSpPr txBox="1">
            <a:spLocks noChangeArrowheads="1"/>
          </p:cNvSpPr>
          <p:nvPr/>
        </p:nvSpPr>
        <p:spPr bwMode="auto">
          <a:xfrm>
            <a:off x="1771725" y="2316383"/>
            <a:ext cx="10310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域 </a:t>
            </a:r>
            <a:r>
              <a:rPr kumimoji="1" lang="en-US" altLang="zh-CN" sz="1200" b="1" dirty="0">
                <a:solidFill>
                  <a:schemeClr val="bg1"/>
                </a:solidFill>
                <a:latin typeface="微软雅黑" pitchFamily="34" charset="-122"/>
                <a:ea typeface="微软雅黑" pitchFamily="34" charset="-122"/>
              </a:rPr>
              <a:t>abc.com</a:t>
            </a:r>
          </a:p>
        </p:txBody>
      </p:sp>
      <p:sp>
        <p:nvSpPr>
          <p:cNvPr id="13" name="Freeform 94"/>
          <p:cNvSpPr>
            <a:spLocks/>
          </p:cNvSpPr>
          <p:nvPr/>
        </p:nvSpPr>
        <p:spPr bwMode="auto">
          <a:xfrm>
            <a:off x="1968773" y="2405322"/>
            <a:ext cx="2243246" cy="1384288"/>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Text Box 96"/>
          <p:cNvSpPr txBox="1">
            <a:spLocks noChangeArrowheads="1"/>
          </p:cNvSpPr>
          <p:nvPr/>
        </p:nvSpPr>
        <p:spPr bwMode="auto">
          <a:xfrm>
            <a:off x="1699665" y="2652311"/>
            <a:ext cx="830677" cy="350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pitchFamily="34" charset="-122"/>
                <a:ea typeface="微软雅黑" pitchFamily="34" charset="-122"/>
              </a:rPr>
              <a:t> 区</a:t>
            </a:r>
            <a:endParaRPr kumimoji="1" lang="zh-CN" altLang="en-US" sz="1200" b="1" dirty="0">
              <a:solidFill>
                <a:schemeClr val="bg1"/>
              </a:solidFill>
              <a:latin typeface="微软雅黑" pitchFamily="34" charset="-122"/>
              <a:ea typeface="微软雅黑" pitchFamily="34" charset="-122"/>
            </a:endParaRPr>
          </a:p>
          <a:p>
            <a:pPr algn="ctr" eaLnBrk="1" hangingPunct="1">
              <a:lnSpc>
                <a:spcPct val="70000"/>
              </a:lnSpc>
            </a:pPr>
            <a:r>
              <a:rPr kumimoji="1" lang="en-US" altLang="zh-CN" sz="1200" b="1" dirty="0">
                <a:solidFill>
                  <a:schemeClr val="bg1"/>
                </a:solidFill>
                <a:latin typeface="微软雅黑" pitchFamily="34" charset="-122"/>
                <a:ea typeface="微软雅黑" pitchFamily="34" charset="-122"/>
              </a:rPr>
              <a:t>abc.com</a:t>
            </a:r>
          </a:p>
        </p:txBody>
      </p:sp>
      <p:sp>
        <p:nvSpPr>
          <p:cNvPr id="16" name="Freeform 97"/>
          <p:cNvSpPr>
            <a:spLocks/>
          </p:cNvSpPr>
          <p:nvPr/>
        </p:nvSpPr>
        <p:spPr bwMode="auto">
          <a:xfrm>
            <a:off x="2099448" y="2968227"/>
            <a:ext cx="86079" cy="351337"/>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12700">
            <a:solidFill>
              <a:srgbClr val="FFFF00"/>
            </a:solidFill>
            <a:round/>
            <a:headE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Line 98"/>
          <p:cNvSpPr>
            <a:spLocks noChangeShapeType="1"/>
          </p:cNvSpPr>
          <p:nvPr/>
        </p:nvSpPr>
        <p:spPr bwMode="auto">
          <a:xfrm flipH="1">
            <a:off x="2837863" y="2641780"/>
            <a:ext cx="235422" cy="3992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Line 99"/>
          <p:cNvSpPr>
            <a:spLocks noChangeShapeType="1"/>
          </p:cNvSpPr>
          <p:nvPr/>
        </p:nvSpPr>
        <p:spPr bwMode="auto">
          <a:xfrm>
            <a:off x="3203958" y="2659970"/>
            <a:ext cx="308018" cy="37239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00"/>
          <p:cNvSpPr>
            <a:spLocks noChangeShapeType="1"/>
          </p:cNvSpPr>
          <p:nvPr/>
        </p:nvSpPr>
        <p:spPr bwMode="auto">
          <a:xfrm>
            <a:off x="3564869" y="3107039"/>
            <a:ext cx="329798" cy="4777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01"/>
          <p:cNvSpPr>
            <a:spLocks noChangeShapeType="1"/>
          </p:cNvSpPr>
          <p:nvPr/>
        </p:nvSpPr>
        <p:spPr bwMode="auto">
          <a:xfrm>
            <a:off x="2853419" y="3118526"/>
            <a:ext cx="402394" cy="425051"/>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102"/>
          <p:cNvSpPr>
            <a:spLocks noChangeShapeType="1"/>
          </p:cNvSpPr>
          <p:nvPr/>
        </p:nvSpPr>
        <p:spPr bwMode="auto">
          <a:xfrm flipH="1">
            <a:off x="2783933" y="3125228"/>
            <a:ext cx="11408" cy="363782"/>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103"/>
          <p:cNvSpPr>
            <a:spLocks noChangeShapeType="1"/>
          </p:cNvSpPr>
          <p:nvPr/>
        </p:nvSpPr>
        <p:spPr bwMode="auto">
          <a:xfrm flipH="1">
            <a:off x="2292348" y="3076404"/>
            <a:ext cx="488474" cy="467173"/>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Oval 104"/>
          <p:cNvSpPr>
            <a:spLocks noChangeArrowheads="1"/>
          </p:cNvSpPr>
          <p:nvPr/>
        </p:nvSpPr>
        <p:spPr bwMode="auto">
          <a:xfrm>
            <a:off x="2908385" y="2505840"/>
            <a:ext cx="424174" cy="23167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abc</a:t>
            </a:r>
          </a:p>
        </p:txBody>
      </p:sp>
      <p:sp>
        <p:nvSpPr>
          <p:cNvPr id="24" name="Oval 105"/>
          <p:cNvSpPr>
            <a:spLocks noChangeArrowheads="1"/>
          </p:cNvSpPr>
          <p:nvPr/>
        </p:nvSpPr>
        <p:spPr bwMode="auto">
          <a:xfrm>
            <a:off x="2620071" y="2983544"/>
            <a:ext cx="372319"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x</a:t>
            </a:r>
          </a:p>
        </p:txBody>
      </p:sp>
      <p:sp>
        <p:nvSpPr>
          <p:cNvPr id="25" name="Oval 106"/>
          <p:cNvSpPr>
            <a:spLocks noChangeArrowheads="1"/>
          </p:cNvSpPr>
          <p:nvPr/>
        </p:nvSpPr>
        <p:spPr bwMode="auto">
          <a:xfrm>
            <a:off x="2090114" y="3491882"/>
            <a:ext cx="372318"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u</a:t>
            </a:r>
          </a:p>
        </p:txBody>
      </p:sp>
      <p:sp>
        <p:nvSpPr>
          <p:cNvPr id="26" name="Oval 107"/>
          <p:cNvSpPr>
            <a:spLocks noChangeArrowheads="1"/>
          </p:cNvSpPr>
          <p:nvPr/>
        </p:nvSpPr>
        <p:spPr bwMode="auto">
          <a:xfrm>
            <a:off x="2584810" y="3491882"/>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v</a:t>
            </a:r>
          </a:p>
        </p:txBody>
      </p:sp>
      <p:sp>
        <p:nvSpPr>
          <p:cNvPr id="27" name="Oval 108"/>
          <p:cNvSpPr>
            <a:spLocks noChangeArrowheads="1"/>
          </p:cNvSpPr>
          <p:nvPr/>
        </p:nvSpPr>
        <p:spPr bwMode="auto">
          <a:xfrm>
            <a:off x="3080544" y="3491882"/>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w</a:t>
            </a:r>
          </a:p>
        </p:txBody>
      </p:sp>
      <p:sp>
        <p:nvSpPr>
          <p:cNvPr id="28" name="Oval 109"/>
          <p:cNvSpPr>
            <a:spLocks noChangeArrowheads="1"/>
          </p:cNvSpPr>
          <p:nvPr/>
        </p:nvSpPr>
        <p:spPr bwMode="auto">
          <a:xfrm>
            <a:off x="3682061" y="3491882"/>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t</a:t>
            </a:r>
          </a:p>
        </p:txBody>
      </p:sp>
      <p:sp>
        <p:nvSpPr>
          <p:cNvPr id="29" name="Oval 110"/>
          <p:cNvSpPr>
            <a:spLocks noChangeArrowheads="1"/>
          </p:cNvSpPr>
          <p:nvPr/>
        </p:nvSpPr>
        <p:spPr bwMode="auto">
          <a:xfrm>
            <a:off x="3363672" y="2983544"/>
            <a:ext cx="372318"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y</a:t>
            </a:r>
          </a:p>
        </p:txBody>
      </p:sp>
      <p:sp>
        <p:nvSpPr>
          <p:cNvPr id="30" name="Text Box 111"/>
          <p:cNvSpPr txBox="1">
            <a:spLocks noChangeArrowheads="1"/>
          </p:cNvSpPr>
          <p:nvPr/>
        </p:nvSpPr>
        <p:spPr bwMode="auto">
          <a:xfrm>
            <a:off x="2584029" y="3936080"/>
            <a:ext cx="1083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区 </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域</a:t>
            </a:r>
          </a:p>
        </p:txBody>
      </p:sp>
      <p:sp>
        <p:nvSpPr>
          <p:cNvPr id="75" name="AutoShape 152"/>
          <p:cNvSpPr>
            <a:spLocks noChangeArrowheads="1"/>
          </p:cNvSpPr>
          <p:nvPr/>
        </p:nvSpPr>
        <p:spPr bwMode="auto">
          <a:xfrm>
            <a:off x="2858604" y="1787849"/>
            <a:ext cx="542403" cy="290069"/>
          </a:xfrm>
          <a:prstGeom prst="roundRect">
            <a:avLst>
              <a:gd name="adj" fmla="val 34167"/>
            </a:avLst>
          </a:prstGeom>
          <a:solidFill>
            <a:srgbClr val="66FF66"/>
          </a:solidFill>
          <a:ln>
            <a:noFill/>
          </a:ln>
          <a:effectLst/>
          <a:extLst/>
        </p:spPr>
        <p:txBody>
          <a:bodyPr wrap="none" anchor="ctr"/>
          <a:lstStyle/>
          <a:p>
            <a:pPr algn="ctr" eaLnBrk="1" hangingPunct="1"/>
            <a:r>
              <a:rPr kumimoji="1" lang="en-US" altLang="zh-CN" sz="1200" b="1">
                <a:latin typeface="微软雅黑" pitchFamily="34" charset="-122"/>
                <a:ea typeface="微软雅黑" pitchFamily="34" charset="-122"/>
              </a:rPr>
              <a:t>com</a:t>
            </a:r>
          </a:p>
        </p:txBody>
      </p:sp>
      <p:sp>
        <p:nvSpPr>
          <p:cNvPr id="76" name="AutoShape 153"/>
          <p:cNvSpPr>
            <a:spLocks noChangeArrowheads="1"/>
          </p:cNvSpPr>
          <p:nvPr/>
        </p:nvSpPr>
        <p:spPr bwMode="auto">
          <a:xfrm>
            <a:off x="3737028" y="1781147"/>
            <a:ext cx="541366" cy="291026"/>
          </a:xfrm>
          <a:prstGeom prst="roundRect">
            <a:avLst>
              <a:gd name="adj" fmla="val 34167"/>
            </a:avLst>
          </a:prstGeom>
          <a:solidFill>
            <a:srgbClr val="00B0F0"/>
          </a:solidFill>
          <a:ln>
            <a:noFill/>
          </a:ln>
          <a:effectLst/>
          <a:extLst/>
        </p:spPr>
        <p:txBody>
          <a:bodyPr wrap="none" anchor="ctr"/>
          <a:lstStyle/>
          <a:p>
            <a:pPr algn="ctr" eaLnBrk="1" hangingPunct="1"/>
            <a:r>
              <a:rPr kumimoji="1" lang="en-US" altLang="zh-CN" sz="1200" b="1">
                <a:latin typeface="微软雅黑" pitchFamily="34" charset="-122"/>
                <a:ea typeface="微软雅黑" pitchFamily="34" charset="-122"/>
              </a:rPr>
              <a:t>edu</a:t>
            </a:r>
          </a:p>
        </p:txBody>
      </p:sp>
      <p:sp>
        <p:nvSpPr>
          <p:cNvPr id="77" name="AutoShape 154"/>
          <p:cNvSpPr>
            <a:spLocks noChangeArrowheads="1"/>
          </p:cNvSpPr>
          <p:nvPr/>
        </p:nvSpPr>
        <p:spPr bwMode="auto">
          <a:xfrm>
            <a:off x="1984330" y="1781147"/>
            <a:ext cx="542403" cy="291026"/>
          </a:xfrm>
          <a:prstGeom prst="roundRect">
            <a:avLst>
              <a:gd name="adj" fmla="val 34167"/>
            </a:avLst>
          </a:prstGeom>
          <a:solidFill>
            <a:srgbClr val="00FFCC"/>
          </a:solidFill>
          <a:ln>
            <a:noFill/>
          </a:ln>
          <a:effectLst/>
          <a:extLst/>
        </p:spPr>
        <p:txBody>
          <a:bodyPr wrap="none" anchor="ctr"/>
          <a:lstStyle/>
          <a:p>
            <a:pPr algn="ctr" eaLnBrk="1" hangingPunct="1"/>
            <a:r>
              <a:rPr kumimoji="1" lang="en-US" altLang="zh-CN" sz="1200" b="1">
                <a:latin typeface="微软雅黑" pitchFamily="34" charset="-122"/>
                <a:ea typeface="微软雅黑" pitchFamily="34" charset="-122"/>
              </a:rPr>
              <a:t>org</a:t>
            </a:r>
          </a:p>
        </p:txBody>
      </p:sp>
      <p:grpSp>
        <p:nvGrpSpPr>
          <p:cNvPr id="78" name="Group 155"/>
          <p:cNvGrpSpPr>
            <a:grpSpLocks/>
          </p:cNvGrpSpPr>
          <p:nvPr/>
        </p:nvGrpSpPr>
        <p:grpSpPr bwMode="auto">
          <a:xfrm>
            <a:off x="3874961" y="2073131"/>
            <a:ext cx="265498" cy="93818"/>
            <a:chOff x="2875" y="1143"/>
            <a:chExt cx="330" cy="132"/>
          </a:xfrm>
        </p:grpSpPr>
        <p:sp>
          <p:nvSpPr>
            <p:cNvPr id="79" name="Line 156"/>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0" name="Line 157"/>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1" name="Line 158"/>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2" name="Line 159"/>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83" name="Group 160"/>
          <p:cNvGrpSpPr>
            <a:grpSpLocks/>
          </p:cNvGrpSpPr>
          <p:nvPr/>
        </p:nvGrpSpPr>
        <p:grpSpPr bwMode="auto">
          <a:xfrm>
            <a:off x="2123301" y="2073131"/>
            <a:ext cx="265498" cy="93818"/>
            <a:chOff x="2875" y="1143"/>
            <a:chExt cx="330" cy="132"/>
          </a:xfrm>
        </p:grpSpPr>
        <p:sp>
          <p:nvSpPr>
            <p:cNvPr id="84" name="Line 161"/>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5" name="Line 162"/>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6" name="Line 163"/>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7" name="Line 164"/>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88" name="AutoShape 165"/>
          <p:cNvSpPr>
            <a:spLocks noChangeArrowheads="1"/>
          </p:cNvSpPr>
          <p:nvPr/>
        </p:nvSpPr>
        <p:spPr bwMode="auto">
          <a:xfrm>
            <a:off x="2845123" y="1287169"/>
            <a:ext cx="541366" cy="291026"/>
          </a:xfrm>
          <a:prstGeom prst="roundRect">
            <a:avLst>
              <a:gd name="adj" fmla="val 34167"/>
            </a:avLst>
          </a:prstGeom>
          <a:solidFill>
            <a:srgbClr val="FF66FF"/>
          </a:solidFill>
          <a:ln>
            <a:noFill/>
          </a:ln>
          <a:effectLst/>
          <a:extLst/>
        </p:spPr>
        <p:txBody>
          <a:bodyPr wrap="none" anchor="ctr"/>
          <a:lstStyle/>
          <a:p>
            <a:pPr algn="ctr" eaLnBrk="1" hangingPunct="1"/>
            <a:r>
              <a:rPr kumimoji="1" lang="zh-CN" altLang="en-US" sz="1200" b="1">
                <a:latin typeface="微软雅黑" pitchFamily="34" charset="-122"/>
                <a:ea typeface="微软雅黑" pitchFamily="34" charset="-122"/>
              </a:rPr>
              <a:t>根</a:t>
            </a:r>
          </a:p>
        </p:txBody>
      </p:sp>
      <p:sp>
        <p:nvSpPr>
          <p:cNvPr id="89" name="Line 166"/>
          <p:cNvSpPr>
            <a:spLocks noChangeShapeType="1"/>
          </p:cNvSpPr>
          <p:nvPr/>
        </p:nvSpPr>
        <p:spPr bwMode="auto">
          <a:xfrm>
            <a:off x="3183216" y="1575323"/>
            <a:ext cx="821382"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0" name="Line 167"/>
          <p:cNvSpPr>
            <a:spLocks noChangeShapeType="1"/>
          </p:cNvSpPr>
          <p:nvPr/>
        </p:nvSpPr>
        <p:spPr bwMode="auto">
          <a:xfrm flipV="1">
            <a:off x="2256049" y="1575323"/>
            <a:ext cx="80790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1" name="Line 168"/>
          <p:cNvSpPr>
            <a:spLocks noChangeShapeType="1"/>
          </p:cNvSpPr>
          <p:nvPr/>
        </p:nvSpPr>
        <p:spPr bwMode="auto">
          <a:xfrm>
            <a:off x="3127213" y="1575323"/>
            <a:ext cx="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92" name="Group 169"/>
          <p:cNvGrpSpPr>
            <a:grpSpLocks/>
          </p:cNvGrpSpPr>
          <p:nvPr/>
        </p:nvGrpSpPr>
        <p:grpSpPr bwMode="auto">
          <a:xfrm>
            <a:off x="2993427" y="2073131"/>
            <a:ext cx="265498" cy="93818"/>
            <a:chOff x="1519" y="813"/>
            <a:chExt cx="227" cy="77"/>
          </a:xfrm>
        </p:grpSpPr>
        <p:sp>
          <p:nvSpPr>
            <p:cNvPr id="93" name="Line 17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4" name="Line 17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24165993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up)">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圆角矩形 188"/>
          <p:cNvSpPr/>
          <p:nvPr/>
        </p:nvSpPr>
        <p:spPr>
          <a:xfrm>
            <a:off x="556963" y="1003805"/>
            <a:ext cx="8048776" cy="30799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236" name="Rectangle 6"/>
          <p:cNvSpPr>
            <a:spLocks noChangeArrowheads="1"/>
          </p:cNvSpPr>
          <p:nvPr/>
        </p:nvSpPr>
        <p:spPr bwMode="auto">
          <a:xfrm>
            <a:off x="2803462" y="582898"/>
            <a:ext cx="35557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树状结构的 </a:t>
            </a:r>
            <a:r>
              <a:rPr lang="en-US" altLang="zh-CN" sz="2000" b="1" dirty="0">
                <a:solidFill>
                  <a:schemeClr val="bg1"/>
                </a:solidFill>
                <a:latin typeface="微软雅黑" pitchFamily="34" charset="-122"/>
                <a:ea typeface="微软雅黑" pitchFamily="34" charset="-122"/>
              </a:rPr>
              <a:t>DNS </a:t>
            </a:r>
            <a:r>
              <a:rPr lang="zh-CN" altLang="en-US" sz="2000" b="1" dirty="0">
                <a:solidFill>
                  <a:schemeClr val="bg1"/>
                </a:solidFill>
                <a:latin typeface="微软雅黑" pitchFamily="34" charset="-122"/>
                <a:ea typeface="微软雅黑" pitchFamily="34" charset="-122"/>
              </a:rPr>
              <a:t>域名</a:t>
            </a:r>
            <a:r>
              <a:rPr lang="zh-CN" altLang="en-US" sz="2000" b="1" dirty="0" smtClean="0">
                <a:solidFill>
                  <a:schemeClr val="bg1"/>
                </a:solidFill>
                <a:latin typeface="微软雅黑" pitchFamily="34" charset="-122"/>
                <a:ea typeface="微软雅黑" pitchFamily="34" charset="-122"/>
              </a:rPr>
              <a:t>服务器</a:t>
            </a:r>
          </a:p>
        </p:txBody>
      </p:sp>
      <p:grpSp>
        <p:nvGrpSpPr>
          <p:cNvPr id="2" name="组合 1"/>
          <p:cNvGrpSpPr/>
          <p:nvPr/>
        </p:nvGrpSpPr>
        <p:grpSpPr>
          <a:xfrm>
            <a:off x="1124956" y="1129683"/>
            <a:ext cx="6831277" cy="2755833"/>
            <a:chOff x="128464" y="1556792"/>
            <a:chExt cx="9873325" cy="3983038"/>
          </a:xfrm>
        </p:grpSpPr>
        <p:sp>
          <p:nvSpPr>
            <p:cNvPr id="276" name="AutoShape 31"/>
            <p:cNvSpPr>
              <a:spLocks noChangeArrowheads="1"/>
            </p:cNvSpPr>
            <p:nvPr/>
          </p:nvSpPr>
          <p:spPr bwMode="auto">
            <a:xfrm>
              <a:off x="4154498" y="3455442"/>
              <a:ext cx="2858294" cy="2084388"/>
            </a:xfrm>
            <a:prstGeom prst="roundRect">
              <a:avLst>
                <a:gd name="adj" fmla="val 16667"/>
              </a:avLst>
            </a:prstGeom>
            <a:solidFill>
              <a:srgbClr val="00FFCC"/>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277" name="Group 5"/>
            <p:cNvGrpSpPr>
              <a:grpSpLocks/>
            </p:cNvGrpSpPr>
            <p:nvPr/>
          </p:nvGrpSpPr>
          <p:grpSpPr bwMode="auto">
            <a:xfrm>
              <a:off x="3540531" y="2136615"/>
              <a:ext cx="4677833" cy="415541"/>
              <a:chOff x="2294" y="553"/>
              <a:chExt cx="2450" cy="337"/>
            </a:xfrm>
          </p:grpSpPr>
          <p:sp>
            <p:nvSpPr>
              <p:cNvPr id="278" name="Line 6"/>
              <p:cNvSpPr>
                <a:spLocks noChangeShapeType="1"/>
              </p:cNvSpPr>
              <p:nvPr/>
            </p:nvSpPr>
            <p:spPr bwMode="auto">
              <a:xfrm flipV="1">
                <a:off x="2294" y="553"/>
                <a:ext cx="1074"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9" name="Line 7"/>
              <p:cNvSpPr>
                <a:spLocks noChangeShapeType="1"/>
              </p:cNvSpPr>
              <p:nvPr/>
            </p:nvSpPr>
            <p:spPr bwMode="auto">
              <a:xfrm>
                <a:off x="3474" y="553"/>
                <a:ext cx="0"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0" name="Line 8"/>
              <p:cNvSpPr>
                <a:spLocks noChangeShapeType="1"/>
              </p:cNvSpPr>
              <p:nvPr/>
            </p:nvSpPr>
            <p:spPr bwMode="auto">
              <a:xfrm flipH="1" flipV="1">
                <a:off x="3595" y="553"/>
                <a:ext cx="1149"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81" name="Rectangle 9"/>
            <p:cNvSpPr>
              <a:spLocks noChangeArrowheads="1"/>
            </p:cNvSpPr>
            <p:nvPr/>
          </p:nvSpPr>
          <p:spPr bwMode="auto">
            <a:xfrm>
              <a:off x="4847573" y="1639342"/>
              <a:ext cx="1905529" cy="496888"/>
            </a:xfrm>
            <a:prstGeom prst="rect">
              <a:avLst/>
            </a:prstGeom>
            <a:solidFill>
              <a:srgbClr val="CC00CC"/>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根域名服务器</a:t>
              </a:r>
            </a:p>
          </p:txBody>
        </p:sp>
        <p:sp>
          <p:nvSpPr>
            <p:cNvPr id="282" name="Rectangle 10"/>
            <p:cNvSpPr>
              <a:spLocks noChangeArrowheads="1"/>
            </p:cNvSpPr>
            <p:nvPr/>
          </p:nvSpPr>
          <p:spPr bwMode="auto">
            <a:xfrm>
              <a:off x="2413379" y="2552157"/>
              <a:ext cx="2096082" cy="496887"/>
            </a:xfrm>
            <a:prstGeom prst="rect">
              <a:avLst/>
            </a:prstGeom>
            <a:solidFill>
              <a:srgbClr val="008000"/>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org </a:t>
              </a:r>
              <a:r>
                <a:rPr kumimoji="1" lang="zh-CN" altLang="en-US" sz="1400" b="1" dirty="0">
                  <a:solidFill>
                    <a:schemeClr val="bg1"/>
                  </a:solidFill>
                  <a:latin typeface="微软雅黑" pitchFamily="34" charset="-122"/>
                  <a:ea typeface="微软雅黑" pitchFamily="34" charset="-122"/>
                </a:rPr>
                <a:t>域名服务器</a:t>
              </a:r>
            </a:p>
          </p:txBody>
        </p:sp>
        <p:sp>
          <p:nvSpPr>
            <p:cNvPr id="283" name="Rectangle 11"/>
            <p:cNvSpPr>
              <a:spLocks noChangeArrowheads="1"/>
            </p:cNvSpPr>
            <p:nvPr/>
          </p:nvSpPr>
          <p:spPr bwMode="auto">
            <a:xfrm>
              <a:off x="4752297" y="2552157"/>
              <a:ext cx="2096082" cy="496887"/>
            </a:xfrm>
            <a:prstGeom prst="rect">
              <a:avLst/>
            </a:prstGeom>
            <a:solidFill>
              <a:srgbClr val="0000FF"/>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com </a:t>
              </a:r>
              <a:r>
                <a:rPr kumimoji="1" lang="zh-CN" altLang="en-US" sz="1400" b="1" dirty="0">
                  <a:solidFill>
                    <a:schemeClr val="bg1"/>
                  </a:solidFill>
                  <a:latin typeface="微软雅黑" pitchFamily="34" charset="-122"/>
                  <a:ea typeface="微软雅黑" pitchFamily="34" charset="-122"/>
                </a:rPr>
                <a:t>域名服务器</a:t>
              </a:r>
            </a:p>
          </p:txBody>
        </p:sp>
        <p:sp>
          <p:nvSpPr>
            <p:cNvPr id="284" name="Rectangle 12"/>
            <p:cNvSpPr>
              <a:spLocks noChangeArrowheads="1"/>
            </p:cNvSpPr>
            <p:nvPr/>
          </p:nvSpPr>
          <p:spPr bwMode="auto">
            <a:xfrm>
              <a:off x="7092934" y="2552157"/>
              <a:ext cx="2096082" cy="496887"/>
            </a:xfrm>
            <a:prstGeom prst="rect">
              <a:avLst/>
            </a:prstGeom>
            <a:solidFill>
              <a:srgbClr val="7030A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err="1">
                  <a:solidFill>
                    <a:schemeClr val="bg1"/>
                  </a:solidFill>
                  <a:latin typeface="微软雅黑" pitchFamily="34" charset="-122"/>
                  <a:ea typeface="微软雅黑" pitchFamily="34" charset="-122"/>
                </a:rPr>
                <a:t>edu</a:t>
              </a: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域名服务器</a:t>
              </a:r>
            </a:p>
          </p:txBody>
        </p:sp>
        <p:grpSp>
          <p:nvGrpSpPr>
            <p:cNvPr id="285" name="Group 13"/>
            <p:cNvGrpSpPr>
              <a:grpSpLocks/>
            </p:cNvGrpSpPr>
            <p:nvPr/>
          </p:nvGrpSpPr>
          <p:grpSpPr bwMode="auto">
            <a:xfrm>
              <a:off x="7704147" y="3049042"/>
              <a:ext cx="866775" cy="249238"/>
              <a:chOff x="2875" y="1143"/>
              <a:chExt cx="330" cy="132"/>
            </a:xfrm>
          </p:grpSpPr>
          <p:sp>
            <p:nvSpPr>
              <p:cNvPr id="286" name="Line 1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7" name="Line 1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8" name="Line 1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9" name="Line 1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0" name="Text Box 18"/>
            <p:cNvSpPr txBox="1">
              <a:spLocks noChangeArrowheads="1"/>
            </p:cNvSpPr>
            <p:nvPr/>
          </p:nvSpPr>
          <p:spPr bwMode="auto">
            <a:xfrm>
              <a:off x="9263996" y="2533411"/>
              <a:ext cx="480049" cy="4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pitchFamily="34" charset="-122"/>
                  <a:ea typeface="微软雅黑" pitchFamily="34" charset="-122"/>
                </a:rPr>
                <a:t>…</a:t>
              </a:r>
            </a:p>
          </p:txBody>
        </p:sp>
        <p:grpSp>
          <p:nvGrpSpPr>
            <p:cNvPr id="291" name="Group 19"/>
            <p:cNvGrpSpPr>
              <a:grpSpLocks/>
            </p:cNvGrpSpPr>
            <p:nvPr/>
          </p:nvGrpSpPr>
          <p:grpSpPr bwMode="auto">
            <a:xfrm>
              <a:off x="3028033" y="3049042"/>
              <a:ext cx="866775" cy="249238"/>
              <a:chOff x="2875" y="1143"/>
              <a:chExt cx="330" cy="132"/>
            </a:xfrm>
          </p:grpSpPr>
          <p:sp>
            <p:nvSpPr>
              <p:cNvPr id="292" name="Line 20"/>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3" name="Line 21"/>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4" name="Line 22"/>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5" name="Line 23"/>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6" name="Line 24"/>
            <p:cNvSpPr>
              <a:spLocks noChangeShapeType="1"/>
            </p:cNvSpPr>
            <p:nvPr/>
          </p:nvSpPr>
          <p:spPr bwMode="auto">
            <a:xfrm>
              <a:off x="5943081" y="3049042"/>
              <a:ext cx="37663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7" name="Line 25"/>
            <p:cNvSpPr>
              <a:spLocks noChangeShapeType="1"/>
            </p:cNvSpPr>
            <p:nvPr/>
          </p:nvSpPr>
          <p:spPr bwMode="auto">
            <a:xfrm>
              <a:off x="5913843" y="3049043"/>
              <a:ext cx="98029" cy="244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8" name="Line 26"/>
            <p:cNvSpPr>
              <a:spLocks noChangeShapeType="1"/>
            </p:cNvSpPr>
            <p:nvPr/>
          </p:nvSpPr>
          <p:spPr bwMode="auto">
            <a:xfrm flipH="1">
              <a:off x="5452940" y="3049042"/>
              <a:ext cx="37835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9" name="Line 27"/>
            <p:cNvSpPr>
              <a:spLocks noChangeShapeType="1"/>
            </p:cNvSpPr>
            <p:nvPr/>
          </p:nvSpPr>
          <p:spPr bwMode="auto">
            <a:xfrm flipH="1">
              <a:off x="5590523" y="3049042"/>
              <a:ext cx="282046" cy="6683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1" name="Line 30"/>
            <p:cNvSpPr>
              <a:spLocks noChangeShapeType="1"/>
            </p:cNvSpPr>
            <p:nvPr/>
          </p:nvSpPr>
          <p:spPr bwMode="auto">
            <a:xfrm>
              <a:off x="5538929" y="4211093"/>
              <a:ext cx="0" cy="498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2" name="Line 32"/>
            <p:cNvSpPr>
              <a:spLocks noChangeShapeType="1"/>
            </p:cNvSpPr>
            <p:nvPr/>
          </p:nvSpPr>
          <p:spPr bwMode="auto">
            <a:xfrm flipH="1" flipV="1">
              <a:off x="6557046" y="3918993"/>
              <a:ext cx="1394752" cy="180975"/>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3" name="Text Box 33"/>
            <p:cNvSpPr txBox="1">
              <a:spLocks noChangeArrowheads="1"/>
            </p:cNvSpPr>
            <p:nvPr/>
          </p:nvSpPr>
          <p:spPr bwMode="auto">
            <a:xfrm>
              <a:off x="7849639" y="3831681"/>
              <a:ext cx="2099521" cy="756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abc</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公司有两个</a:t>
              </a:r>
            </a:p>
            <a:p>
              <a:pPr algn="ctr" eaLnBrk="1" hangingPunct="1"/>
              <a:r>
                <a:rPr lang="zh-CN" altLang="en-US" sz="1400" b="1" dirty="0" smtClean="0">
                  <a:solidFill>
                    <a:srgbClr val="0000FF"/>
                  </a:solidFill>
                  <a:latin typeface="微软雅黑" pitchFamily="34" charset="-122"/>
                  <a:ea typeface="微软雅黑" pitchFamily="34" charset="-122"/>
                </a:rPr>
                <a:t>权威域名服务器</a:t>
              </a:r>
              <a:endParaRPr lang="zh-CN" altLang="en-US" sz="1400" b="1" dirty="0">
                <a:solidFill>
                  <a:srgbClr val="0000FF"/>
                </a:solidFill>
                <a:latin typeface="微软雅黑" pitchFamily="34" charset="-122"/>
                <a:ea typeface="微软雅黑" pitchFamily="34" charset="-122"/>
              </a:endParaRPr>
            </a:p>
          </p:txBody>
        </p:sp>
        <p:grpSp>
          <p:nvGrpSpPr>
            <p:cNvPr id="304" name="Group 34"/>
            <p:cNvGrpSpPr>
              <a:grpSpLocks/>
            </p:cNvGrpSpPr>
            <p:nvPr/>
          </p:nvGrpSpPr>
          <p:grpSpPr bwMode="auto">
            <a:xfrm>
              <a:off x="128464" y="2385468"/>
              <a:ext cx="9873325" cy="830263"/>
              <a:chOff x="158" y="799"/>
              <a:chExt cx="5444" cy="454"/>
            </a:xfrm>
          </p:grpSpPr>
          <p:sp>
            <p:nvSpPr>
              <p:cNvPr id="305" name="Line 35"/>
              <p:cNvSpPr>
                <a:spLocks noChangeShapeType="1"/>
              </p:cNvSpPr>
              <p:nvPr/>
            </p:nvSpPr>
            <p:spPr bwMode="auto">
              <a:xfrm>
                <a:off x="158" y="799"/>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6" name="Line 36"/>
              <p:cNvSpPr>
                <a:spLocks noChangeShapeType="1"/>
              </p:cNvSpPr>
              <p:nvPr/>
            </p:nvSpPr>
            <p:spPr bwMode="auto">
              <a:xfrm>
                <a:off x="158" y="1253"/>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07" name="Text Box 37"/>
            <p:cNvSpPr txBox="1">
              <a:spLocks noChangeArrowheads="1"/>
            </p:cNvSpPr>
            <p:nvPr/>
          </p:nvSpPr>
          <p:spPr bwMode="auto">
            <a:xfrm>
              <a:off x="147065" y="406345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latin typeface="微软雅黑" pitchFamily="34" charset="-122"/>
                  <a:ea typeface="微软雅黑" pitchFamily="34" charset="-122"/>
                </a:rPr>
                <a:t>权威域名服务器</a:t>
              </a:r>
              <a:endParaRPr lang="zh-CN" altLang="en-US" sz="1400" b="1" dirty="0">
                <a:latin typeface="微软雅黑" pitchFamily="34" charset="-122"/>
                <a:ea typeface="微软雅黑" pitchFamily="34" charset="-122"/>
              </a:endParaRPr>
            </a:p>
          </p:txBody>
        </p:sp>
        <p:sp>
          <p:nvSpPr>
            <p:cNvPr id="308" name="Text Box 38"/>
            <p:cNvSpPr txBox="1">
              <a:spLocks noChangeArrowheads="1"/>
            </p:cNvSpPr>
            <p:nvPr/>
          </p:nvSpPr>
          <p:spPr bwMode="auto">
            <a:xfrm>
              <a:off x="265628" y="1696493"/>
              <a:ext cx="1823817"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a:latin typeface="微软雅黑" pitchFamily="34" charset="-122"/>
                  <a:ea typeface="微软雅黑" pitchFamily="34" charset="-122"/>
                </a:rPr>
                <a:t>根域名服务器</a:t>
              </a:r>
            </a:p>
          </p:txBody>
        </p:sp>
        <p:sp>
          <p:nvSpPr>
            <p:cNvPr id="309" name="Text Box 39"/>
            <p:cNvSpPr txBox="1">
              <a:spLocks noChangeArrowheads="1"/>
            </p:cNvSpPr>
            <p:nvPr/>
          </p:nvSpPr>
          <p:spPr bwMode="auto">
            <a:xfrm>
              <a:off x="146205" y="258390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latin typeface="微软雅黑" pitchFamily="34" charset="-122"/>
                  <a:ea typeface="微软雅黑" pitchFamily="34" charset="-122"/>
                </a:rPr>
                <a:t>顶级域名服务器</a:t>
              </a:r>
            </a:p>
          </p:txBody>
        </p:sp>
        <p:sp>
          <p:nvSpPr>
            <p:cNvPr id="310" name="Line 40"/>
            <p:cNvSpPr>
              <a:spLocks noChangeShapeType="1"/>
            </p:cNvSpPr>
            <p:nvPr/>
          </p:nvSpPr>
          <p:spPr bwMode="auto">
            <a:xfrm>
              <a:off x="2242089" y="1556792"/>
              <a:ext cx="0" cy="39830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1" name="Line 41"/>
            <p:cNvSpPr>
              <a:spLocks noChangeShapeType="1"/>
            </p:cNvSpPr>
            <p:nvPr/>
          </p:nvSpPr>
          <p:spPr bwMode="auto">
            <a:xfrm flipH="1">
              <a:off x="6531250" y="4377780"/>
              <a:ext cx="1427427" cy="658812"/>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2" name="Rectangle 43"/>
            <p:cNvSpPr>
              <a:spLocks noChangeArrowheads="1"/>
            </p:cNvSpPr>
            <p:nvPr/>
          </p:nvSpPr>
          <p:spPr bwMode="auto">
            <a:xfrm>
              <a:off x="4575844" y="3683931"/>
              <a:ext cx="1907249" cy="73675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itchFamily="34" charset="-122"/>
                  <a:ea typeface="微软雅黑" pitchFamily="34" charset="-122"/>
                </a:rPr>
                <a:t>abc.com</a:t>
              </a:r>
            </a:p>
            <a:p>
              <a:pPr algn="ctr" eaLnBrk="1" hangingPunct="1"/>
              <a:r>
                <a:rPr lang="zh-CN" altLang="en-US" sz="1400" b="1" dirty="0">
                  <a:solidFill>
                    <a:srgbClr val="0000FF"/>
                  </a:solidFill>
                  <a:latin typeface="微软雅黑" pitchFamily="34" charset="-122"/>
                  <a:ea typeface="微软雅黑" pitchFamily="34" charset="-122"/>
                </a:rPr>
                <a:t>域名服务器</a:t>
              </a:r>
            </a:p>
          </p:txBody>
        </p:sp>
        <p:sp>
          <p:nvSpPr>
            <p:cNvPr id="300" name="Rectangle 29"/>
            <p:cNvSpPr>
              <a:spLocks noChangeArrowheads="1"/>
            </p:cNvSpPr>
            <p:nvPr/>
          </p:nvSpPr>
          <p:spPr bwMode="auto">
            <a:xfrm>
              <a:off x="4587885" y="4654449"/>
              <a:ext cx="1907248" cy="72378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itchFamily="34" charset="-122"/>
                  <a:ea typeface="微软雅黑" pitchFamily="34" charset="-122"/>
                </a:rPr>
                <a:t>y.abc.com</a:t>
              </a:r>
            </a:p>
            <a:p>
              <a:pPr algn="ctr" eaLnBrk="1" hangingPunct="1"/>
              <a:r>
                <a:rPr lang="zh-CN" altLang="en-US" sz="1400" b="1" dirty="0">
                  <a:solidFill>
                    <a:srgbClr val="0000FF"/>
                  </a:solidFill>
                  <a:latin typeface="微软雅黑" pitchFamily="34" charset="-122"/>
                  <a:ea typeface="微软雅黑" pitchFamily="34" charset="-122"/>
                </a:rPr>
                <a:t>域名服务器</a:t>
              </a:r>
            </a:p>
          </p:txBody>
        </p:sp>
      </p:grpSp>
      <p:sp>
        <p:nvSpPr>
          <p:cNvPr id="3" name="矩形 2"/>
          <p:cNvSpPr/>
          <p:nvPr/>
        </p:nvSpPr>
        <p:spPr>
          <a:xfrm>
            <a:off x="1811045" y="4095615"/>
            <a:ext cx="6145188" cy="369332"/>
          </a:xfrm>
          <a:prstGeom prst="rect">
            <a:avLst/>
          </a:prstGeom>
        </p:spPr>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每个</a:t>
            </a:r>
            <a:r>
              <a:rPr lang="zh-CN" altLang="en-US" b="1" dirty="0">
                <a:latin typeface="微软雅黑" panose="020B0503020204020204" pitchFamily="34" charset="-122"/>
                <a:ea typeface="微软雅黑" panose="020B0503020204020204" pitchFamily="34" charset="-122"/>
              </a:rPr>
              <a:t>域名服务器都只对域名体系中的</a:t>
            </a:r>
            <a:r>
              <a:rPr lang="zh-CN" altLang="en-US" b="1" dirty="0">
                <a:solidFill>
                  <a:srgbClr val="C00000"/>
                </a:solidFill>
                <a:latin typeface="微软雅黑" panose="020B0503020204020204" pitchFamily="34" charset="-122"/>
                <a:ea typeface="微软雅黑" panose="020B0503020204020204" pitchFamily="34" charset="-122"/>
              </a:rPr>
              <a:t>一部分</a:t>
            </a:r>
            <a:r>
              <a:rPr lang="zh-CN" altLang="en-US" b="1" dirty="0" smtClean="0">
                <a:latin typeface="微软雅黑" panose="020B0503020204020204" pitchFamily="34" charset="-122"/>
                <a:ea typeface="微软雅黑" panose="020B0503020204020204" pitchFamily="34" charset="-122"/>
              </a:rPr>
              <a:t>进行解析。</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646897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AutoShape 5"/>
          <p:cNvSpPr>
            <a:spLocks noChangeArrowheads="1"/>
          </p:cNvSpPr>
          <p:nvPr/>
        </p:nvSpPr>
        <p:spPr bwMode="auto">
          <a:xfrm>
            <a:off x="556963" y="61208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2" name="Rectangle 6"/>
          <p:cNvSpPr>
            <a:spLocks noChangeArrowheads="1"/>
          </p:cNvSpPr>
          <p:nvPr/>
        </p:nvSpPr>
        <p:spPr bwMode="auto">
          <a:xfrm>
            <a:off x="3591338" y="578871"/>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域名</a:t>
            </a:r>
            <a:r>
              <a:rPr lang="zh-CN" altLang="en-US" sz="2000" b="1" dirty="0" smtClean="0">
                <a:solidFill>
                  <a:schemeClr val="bg1"/>
                </a:solidFill>
                <a:latin typeface="微软雅黑" pitchFamily="34" charset="-122"/>
                <a:ea typeface="微软雅黑" pitchFamily="34" charset="-122"/>
              </a:rPr>
              <a:t>服务器类型</a:t>
            </a:r>
          </a:p>
        </p:txBody>
      </p:sp>
      <p:sp>
        <p:nvSpPr>
          <p:cNvPr id="43" name="Rectangle 68"/>
          <p:cNvSpPr>
            <a:spLocks noChangeArrowheads="1"/>
          </p:cNvSpPr>
          <p:nvPr/>
        </p:nvSpPr>
        <p:spPr bwMode="auto">
          <a:xfrm>
            <a:off x="556963" y="10574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根据所</a:t>
            </a:r>
            <a:r>
              <a:rPr lang="zh-CN" altLang="en-US" sz="2000" b="1" dirty="0">
                <a:latin typeface="微软雅黑" pitchFamily="34" charset="-122"/>
                <a:ea typeface="微软雅黑" pitchFamily="34" charset="-122"/>
              </a:rPr>
              <a:t>起的作用</a:t>
            </a:r>
            <a:r>
              <a:rPr lang="zh-CN" altLang="en-US" sz="2000" b="1" dirty="0" smtClean="0">
                <a:latin typeface="微软雅黑" pitchFamily="34" charset="-122"/>
                <a:ea typeface="微软雅黑" pitchFamily="34" charset="-122"/>
              </a:rPr>
              <a:t>，域名服务器可以分为四种类型</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66700" indent="-266700" eaLnBrk="0" hangingPunct="0">
              <a:lnSpc>
                <a:spcPts val="3300"/>
              </a:lnSpc>
              <a:buClr>
                <a:srgbClr val="9900CC"/>
              </a:buClr>
              <a:buSzPct val="90000"/>
              <a:buFont typeface="+mj-lt"/>
              <a:buAutoNum type="arabicPeriod"/>
            </a:pPr>
            <a:r>
              <a:rPr lang="zh-CN" altLang="en-US" sz="2000" b="1" dirty="0" smtClean="0">
                <a:latin typeface="微软雅黑" pitchFamily="34" charset="-122"/>
                <a:ea typeface="微软雅黑" pitchFamily="34" charset="-122"/>
              </a:rPr>
              <a:t>根</a:t>
            </a:r>
            <a:r>
              <a:rPr lang="zh-CN" altLang="en-US" sz="2000" b="1" dirty="0">
                <a:latin typeface="微软雅黑" pitchFamily="34" charset="-122"/>
                <a:ea typeface="微软雅黑" pitchFamily="34" charset="-122"/>
              </a:rPr>
              <a:t>域名服务器 </a:t>
            </a:r>
          </a:p>
          <a:p>
            <a:pPr marL="266700" indent="-266700" eaLnBrk="0" hangingPunct="0">
              <a:lnSpc>
                <a:spcPts val="3300"/>
              </a:lnSpc>
              <a:buClr>
                <a:srgbClr val="9900CC"/>
              </a:buClr>
              <a:buSzPct val="90000"/>
              <a:buFont typeface="+mj-lt"/>
              <a:buAutoNum type="arabicPeriod"/>
            </a:pPr>
            <a:r>
              <a:rPr lang="zh-CN" altLang="en-US" sz="2000" b="1" dirty="0">
                <a:latin typeface="微软雅黑" pitchFamily="34" charset="-122"/>
                <a:ea typeface="微软雅黑" pitchFamily="34" charset="-122"/>
              </a:rPr>
              <a:t>顶级域名服务器 </a:t>
            </a:r>
          </a:p>
          <a:p>
            <a:pPr marL="266700" indent="-266700" eaLnBrk="0" hangingPunct="0">
              <a:lnSpc>
                <a:spcPts val="3300"/>
              </a:lnSpc>
              <a:buClr>
                <a:srgbClr val="9900CC"/>
              </a:buClr>
              <a:buSzPct val="90000"/>
              <a:buFont typeface="+mj-lt"/>
              <a:buAutoNum type="arabicPeriod"/>
            </a:pPr>
            <a:r>
              <a:rPr lang="zh-CN" altLang="en-US" sz="2000" b="1" dirty="0" smtClean="0">
                <a:latin typeface="微软雅黑" pitchFamily="34" charset="-122"/>
                <a:ea typeface="微软雅黑" pitchFamily="34" charset="-122"/>
              </a:rPr>
              <a:t>权威域名服务器 </a:t>
            </a:r>
            <a:endParaRPr lang="zh-CN" altLang="en-US" sz="2000" b="1" dirty="0">
              <a:latin typeface="微软雅黑" pitchFamily="34" charset="-122"/>
              <a:ea typeface="微软雅黑"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itchFamily="34" charset="-122"/>
                <a:ea typeface="微软雅黑" pitchFamily="34" charset="-122"/>
              </a:rPr>
              <a:t>本地域名服务器（不</a:t>
            </a:r>
            <a:r>
              <a:rPr lang="zh-CN" altLang="en-US" sz="2000" b="1" dirty="0" smtClean="0">
                <a:latin typeface="微软雅黑" pitchFamily="34" charset="-122"/>
                <a:ea typeface="微软雅黑" pitchFamily="34" charset="-122"/>
              </a:rPr>
              <a:t>属于</a:t>
            </a:r>
            <a:r>
              <a:rPr lang="en-US" altLang="zh-CN" sz="2000" b="1" dirty="0" smtClean="0">
                <a:latin typeface="微软雅黑" pitchFamily="34" charset="-122"/>
                <a:ea typeface="微软雅黑" pitchFamily="34" charset="-122"/>
              </a:rPr>
              <a:t>DNS</a:t>
            </a:r>
            <a:r>
              <a:rPr lang="zh-CN" altLang="en-US" sz="2000" b="1" dirty="0" smtClean="0">
                <a:latin typeface="微软雅黑" pitchFamily="34" charset="-122"/>
                <a:ea typeface="微软雅黑" pitchFamily="34" charset="-122"/>
              </a:rPr>
              <a:t>层次结构，但十分关键） </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1098258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076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564888" y="577549"/>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1. </a:t>
            </a:r>
            <a:r>
              <a:rPr lang="zh-CN" altLang="en-US" sz="2000" b="1" dirty="0" smtClean="0">
                <a:solidFill>
                  <a:schemeClr val="bg1"/>
                </a:solidFill>
                <a:latin typeface="微软雅黑" pitchFamily="34" charset="-122"/>
                <a:ea typeface="微软雅黑" pitchFamily="34" charset="-122"/>
              </a:rPr>
              <a:t>根</a:t>
            </a:r>
            <a:r>
              <a:rPr lang="zh-CN" altLang="en-US" sz="2000" b="1" dirty="0">
                <a:solidFill>
                  <a:schemeClr val="bg1"/>
                </a:solidFill>
                <a:latin typeface="微软雅黑" pitchFamily="34" charset="-122"/>
                <a:ea typeface="微软雅黑" pitchFamily="34" charset="-122"/>
              </a:rPr>
              <a:t>域名服务器</a:t>
            </a:r>
            <a:endParaRPr lang="zh-CN" altLang="en-US" sz="2000" b="1" dirty="0" smtClean="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483810" y="976253"/>
            <a:ext cx="8245143"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最高层次，最</a:t>
            </a:r>
            <a:r>
              <a:rPr lang="zh-CN" altLang="en-US" sz="2000" b="1" dirty="0">
                <a:solidFill>
                  <a:srgbClr val="C00000"/>
                </a:solidFill>
                <a:latin typeface="微软雅黑" pitchFamily="34" charset="-122"/>
                <a:ea typeface="微软雅黑" pitchFamily="34" charset="-122"/>
              </a:rPr>
              <a:t>为</a:t>
            </a:r>
            <a:r>
              <a:rPr lang="zh-CN" altLang="en-US" sz="2000" b="1" dirty="0" smtClean="0">
                <a:solidFill>
                  <a:srgbClr val="C00000"/>
                </a:solidFill>
                <a:latin typeface="微软雅黑" pitchFamily="34" charset="-122"/>
                <a:ea typeface="微软雅黑" pitchFamily="34" charset="-122"/>
              </a:rPr>
              <a:t>重要。</a:t>
            </a:r>
            <a:endParaRPr lang="en-US" altLang="zh-CN" sz="2000" b="1" dirty="0" smtClean="0">
              <a:solidFill>
                <a:srgbClr val="C00000"/>
              </a:solidFill>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根域名服务器有一个</a:t>
            </a:r>
            <a:r>
              <a:rPr lang="zh-CN" altLang="en-US" sz="2000" b="1" dirty="0">
                <a:solidFill>
                  <a:srgbClr val="C00000"/>
                </a:solidFill>
                <a:latin typeface="微软雅黑" pitchFamily="34" charset="-122"/>
                <a:ea typeface="微软雅黑" pitchFamily="34" charset="-122"/>
              </a:rPr>
              <a:t>域名根区文件</a:t>
            </a:r>
            <a:r>
              <a:rPr lang="en-US" altLang="zh-CN" sz="2000" b="1" dirty="0">
                <a:latin typeface="微软雅黑" pitchFamily="34" charset="-122"/>
                <a:ea typeface="微软雅黑" pitchFamily="34" charset="-122"/>
              </a:rPr>
              <a:t>(Root Zone File)</a:t>
            </a:r>
            <a:r>
              <a:rPr lang="zh-CN" altLang="en-US" sz="2000" b="1" dirty="0">
                <a:latin typeface="微软雅黑" pitchFamily="34" charset="-122"/>
                <a:ea typeface="微软雅黑" pitchFamily="34" charset="-122"/>
              </a:rPr>
              <a:t>，是互联网域名系统的</a:t>
            </a:r>
            <a:r>
              <a:rPr lang="zh-CN" altLang="en-US" sz="2000" b="1" dirty="0">
                <a:solidFill>
                  <a:srgbClr val="C00000"/>
                </a:solidFill>
                <a:latin typeface="微软雅黑" pitchFamily="34" charset="-122"/>
                <a:ea typeface="微软雅黑" pitchFamily="34" charset="-122"/>
              </a:rPr>
              <a:t>最顶层目录</a:t>
            </a:r>
            <a:r>
              <a:rPr lang="zh-CN" altLang="en-US" sz="2000" b="1" dirty="0">
                <a:latin typeface="微软雅黑" pitchFamily="34" charset="-122"/>
                <a:ea typeface="微软雅黑" pitchFamily="34" charset="-122"/>
              </a:rPr>
              <a:t>。它存储了互联网中</a:t>
            </a:r>
            <a:r>
              <a:rPr lang="zh-CN" altLang="en-US" sz="2000" b="1" dirty="0">
                <a:solidFill>
                  <a:srgbClr val="C00000"/>
                </a:solidFill>
                <a:latin typeface="微软雅黑" pitchFamily="34" charset="-122"/>
                <a:ea typeface="微软雅黑" pitchFamily="34" charset="-122"/>
              </a:rPr>
              <a:t>所有顶级域名服务器的</a:t>
            </a:r>
            <a:r>
              <a:rPr lang="en-US" altLang="zh-CN" sz="2000" b="1" dirty="0">
                <a:solidFill>
                  <a:srgbClr val="C00000"/>
                </a:solidFill>
                <a:latin typeface="微软雅黑" pitchFamily="34" charset="-122"/>
                <a:ea typeface="微软雅黑" pitchFamily="34" charset="-122"/>
              </a:rPr>
              <a:t>IP</a:t>
            </a:r>
            <a:r>
              <a:rPr lang="zh-CN" altLang="en-US" sz="2000" b="1" dirty="0">
                <a:solidFill>
                  <a:srgbClr val="C00000"/>
                </a:solidFill>
                <a:latin typeface="微软雅黑" pitchFamily="34" charset="-122"/>
                <a:ea typeface="微软雅黑" pitchFamily="34" charset="-122"/>
              </a:rPr>
              <a:t>地址、顶级域的域名服务器</a:t>
            </a:r>
            <a:r>
              <a:rPr lang="zh-CN" altLang="en-US" sz="2000" b="1" dirty="0" smtClean="0">
                <a:solidFill>
                  <a:srgbClr val="C00000"/>
                </a:solidFill>
                <a:latin typeface="微软雅黑" pitchFamily="34" charset="-122"/>
                <a:ea typeface="微软雅黑" pitchFamily="34" charset="-122"/>
              </a:rPr>
              <a:t>记录</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以及其他一些重要信息</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当需要解析域名</a:t>
            </a:r>
            <a:r>
              <a:rPr lang="en-US" altLang="zh-CN" sz="2000" b="1" dirty="0" smtClean="0">
                <a:latin typeface="微软雅黑" pitchFamily="34" charset="-122"/>
                <a:ea typeface="微软雅黑" pitchFamily="34" charset="-122"/>
              </a:rPr>
              <a:t>www.abc.com</a:t>
            </a:r>
            <a:r>
              <a:rPr lang="zh-CN" altLang="en-US" sz="2000" b="1" dirty="0" smtClean="0">
                <a:latin typeface="微软雅黑" pitchFamily="34" charset="-122"/>
                <a:ea typeface="微软雅黑" pitchFamily="34" charset="-122"/>
              </a:rPr>
              <a:t>对应的</a:t>
            </a:r>
            <a:r>
              <a:rPr lang="en-US" altLang="zh-CN" sz="2000" b="1" dirty="0" smtClean="0">
                <a:latin typeface="微软雅黑" pitchFamily="34" charset="-122"/>
                <a:ea typeface="微软雅黑" pitchFamily="34" charset="-122"/>
              </a:rPr>
              <a:t>IP</a:t>
            </a:r>
            <a:r>
              <a:rPr lang="zh-CN" altLang="en-US" sz="2000" b="1" dirty="0" smtClean="0">
                <a:latin typeface="微软雅黑" pitchFamily="34" charset="-122"/>
                <a:ea typeface="微软雅黑" pitchFamily="34" charset="-122"/>
              </a:rPr>
              <a:t>地址时，</a:t>
            </a:r>
            <a:r>
              <a:rPr lang="en-US" altLang="zh-CN" sz="2000" b="1" dirty="0" smtClean="0">
                <a:latin typeface="微软雅黑" pitchFamily="34" charset="-122"/>
                <a:ea typeface="微软雅黑" pitchFamily="34" charset="-122"/>
              </a:rPr>
              <a:t>DNS</a:t>
            </a:r>
            <a:r>
              <a:rPr lang="zh-CN" altLang="en-US" sz="2000" b="1" dirty="0">
                <a:latin typeface="微软雅黑" pitchFamily="34" charset="-122"/>
                <a:ea typeface="微软雅黑" pitchFamily="34" charset="-122"/>
              </a:rPr>
              <a:t>系统会先查询根区文件，找到</a:t>
            </a:r>
            <a:r>
              <a:rPr lang="en-US" altLang="zh-CN" sz="2000" b="1" dirty="0">
                <a:latin typeface="微软雅黑" pitchFamily="34" charset="-122"/>
                <a:ea typeface="微软雅黑" pitchFamily="34" charset="-122"/>
              </a:rPr>
              <a:t>.com</a:t>
            </a:r>
            <a:r>
              <a:rPr lang="zh-CN" altLang="en-US" sz="2000" b="1" dirty="0">
                <a:latin typeface="微软雅黑" pitchFamily="34" charset="-122"/>
                <a:ea typeface="微软雅黑" pitchFamily="34" charset="-122"/>
              </a:rPr>
              <a:t>域的</a:t>
            </a:r>
            <a:r>
              <a:rPr lang="zh-CN" altLang="en-US" sz="2000" b="1" dirty="0" smtClean="0">
                <a:latin typeface="微软雅黑" pitchFamily="34" charset="-122"/>
                <a:ea typeface="微软雅黑" pitchFamily="34" charset="-122"/>
              </a:rPr>
              <a:t>权威域名服务器</a:t>
            </a:r>
            <a:r>
              <a:rPr lang="zh-CN" altLang="en-US" sz="2000" b="1" dirty="0">
                <a:latin typeface="微软雅黑" pitchFamily="34" charset="-122"/>
                <a:ea typeface="微软雅黑" pitchFamily="34" charset="-122"/>
              </a:rPr>
              <a:t>，然后再逐步查找</a:t>
            </a:r>
            <a:r>
              <a:rPr lang="en-US" altLang="zh-CN" sz="2000" b="1" dirty="0">
                <a:latin typeface="微软雅黑" pitchFamily="34" charset="-122"/>
                <a:ea typeface="微软雅黑" pitchFamily="34" charset="-122"/>
              </a:rPr>
              <a:t>abc.com</a:t>
            </a:r>
            <a:r>
              <a:rPr lang="zh-CN" altLang="en-US" sz="2000" b="1" dirty="0">
                <a:latin typeface="微软雅黑" pitchFamily="34" charset="-122"/>
                <a:ea typeface="微软雅黑" pitchFamily="34" charset="-122"/>
              </a:rPr>
              <a:t>的信息</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类似于</a:t>
            </a:r>
            <a:r>
              <a:rPr lang="zh-CN" altLang="en-US" b="1" dirty="0" smtClean="0">
                <a:latin typeface="微软雅黑" pitchFamily="34" charset="-122"/>
                <a:ea typeface="微软雅黑" pitchFamily="34" charset="-122"/>
              </a:rPr>
              <a:t>使用</a:t>
            </a:r>
            <a:r>
              <a:rPr lang="zh-CN" altLang="en-US" b="1" dirty="0">
                <a:latin typeface="微软雅黑" pitchFamily="34" charset="-122"/>
                <a:ea typeface="微软雅黑" pitchFamily="34" charset="-122"/>
              </a:rPr>
              <a:t>图书馆的总索引找书：先查大类，再找</a:t>
            </a:r>
            <a:r>
              <a:rPr lang="zh-CN" altLang="en-US" b="1" dirty="0" smtClean="0">
                <a:latin typeface="微软雅黑" pitchFamily="34" charset="-122"/>
                <a:ea typeface="微软雅黑" pitchFamily="34" charset="-122"/>
              </a:rPr>
              <a:t>具体位置。</a:t>
            </a:r>
            <a:endParaRPr lang="en-US" altLang="zh-CN"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6890039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500"/>
                                        <p:tgtEl>
                                          <p:spTgt spid="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2" end="2"/>
                                            </p:txEl>
                                          </p:spTgt>
                                        </p:tgtEl>
                                        <p:attrNameLst>
                                          <p:attrName>style.visibility</p:attrName>
                                        </p:attrNameLst>
                                      </p:cBhvr>
                                      <p:to>
                                        <p:strVal val="visible"/>
                                      </p:to>
                                    </p:set>
                                    <p:animEffect transition="in" filter="fade">
                                      <p:cBhvr>
                                        <p:cTn id="12" dur="500"/>
                                        <p:tgtEl>
                                          <p:spTgt spid="7">
                                            <p:txEl>
                                              <p:pRg st="2" end="2"/>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7">
                                            <p:txEl>
                                              <p:pRg st="3" end="3"/>
                                            </p:txEl>
                                          </p:spTgt>
                                        </p:tgtEl>
                                        <p:attrNameLst>
                                          <p:attrName>style.visibility</p:attrName>
                                        </p:attrNameLst>
                                      </p:cBhvr>
                                      <p:to>
                                        <p:strVal val="visible"/>
                                      </p:to>
                                    </p:set>
                                    <p:animEffect transition="in" filter="fade">
                                      <p:cBhvr>
                                        <p:cTn id="15"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2" name="Rectangle 6"/>
          <p:cNvSpPr>
            <a:spLocks noChangeArrowheads="1"/>
          </p:cNvSpPr>
          <p:nvPr/>
        </p:nvSpPr>
        <p:spPr bwMode="auto">
          <a:xfrm>
            <a:off x="2591641" y="579805"/>
            <a:ext cx="39794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目前</a:t>
            </a:r>
            <a:r>
              <a:rPr lang="zh-CN" altLang="en-US" sz="2000" b="1" dirty="0" smtClean="0">
                <a:solidFill>
                  <a:schemeClr val="bg1"/>
                </a:solidFill>
                <a:latin typeface="微软雅黑" pitchFamily="34" charset="-122"/>
                <a:ea typeface="微软雅黑" pitchFamily="34" charset="-122"/>
              </a:rPr>
              <a:t>共有</a:t>
            </a:r>
            <a:r>
              <a:rPr lang="en-US" altLang="zh-CN" sz="2000" b="1" dirty="0">
                <a:solidFill>
                  <a:schemeClr val="bg1"/>
                </a:solidFill>
                <a:latin typeface="微软雅黑" pitchFamily="34" charset="-122"/>
                <a:ea typeface="微软雅黑" pitchFamily="34" charset="-122"/>
              </a:rPr>
              <a:t>13</a:t>
            </a:r>
            <a:r>
              <a:rPr lang="zh-CN" altLang="en-US" sz="2000" b="1" dirty="0">
                <a:solidFill>
                  <a:schemeClr val="bg1"/>
                </a:solidFill>
                <a:latin typeface="微软雅黑" pitchFamily="34" charset="-122"/>
                <a:ea typeface="微软雅黑" pitchFamily="34" charset="-122"/>
              </a:rPr>
              <a:t>组根域名服务器系统</a:t>
            </a:r>
            <a:endParaRPr lang="zh-CN" altLang="en-US" sz="2000" b="1" dirty="0" smtClean="0">
              <a:solidFill>
                <a:schemeClr val="bg1"/>
              </a:solidFill>
              <a:latin typeface="微软雅黑" pitchFamily="34" charset="-122"/>
              <a:ea typeface="微软雅黑" pitchFamily="34" charset="-122"/>
            </a:endParaRPr>
          </a:p>
        </p:txBody>
      </p:sp>
      <p:sp>
        <p:nvSpPr>
          <p:cNvPr id="33" name="Rectangle 68"/>
          <p:cNvSpPr>
            <a:spLocks noChangeArrowheads="1"/>
          </p:cNvSpPr>
          <p:nvPr/>
        </p:nvSpPr>
        <p:spPr bwMode="auto">
          <a:xfrm>
            <a:off x="556962" y="965641"/>
            <a:ext cx="7986337" cy="11695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根域名服务器的域名共有</a:t>
            </a:r>
            <a:r>
              <a:rPr lang="en-US" altLang="zh-CN" b="1" dirty="0">
                <a:latin typeface="微软雅黑" pitchFamily="34" charset="-122"/>
                <a:ea typeface="微软雅黑" pitchFamily="34" charset="-122"/>
              </a:rPr>
              <a:t>13 </a:t>
            </a:r>
            <a:r>
              <a:rPr lang="zh-CN" altLang="en-US" b="1" dirty="0">
                <a:latin typeface="微软雅黑" pitchFamily="34" charset="-122"/>
                <a:ea typeface="微软雅黑" pitchFamily="34" charset="-122"/>
              </a:rPr>
              <a:t>个，或者</a:t>
            </a:r>
            <a:r>
              <a:rPr lang="zh-CN" altLang="en-US" b="1" dirty="0" smtClean="0">
                <a:latin typeface="微软雅黑" pitchFamily="34" charset="-122"/>
                <a:ea typeface="微软雅黑" pitchFamily="34" charset="-122"/>
              </a:rPr>
              <a:t>说共有</a:t>
            </a:r>
            <a:r>
              <a:rPr lang="en-US" altLang="zh-CN" b="1" dirty="0">
                <a:latin typeface="微软雅黑" pitchFamily="34" charset="-122"/>
                <a:ea typeface="微软雅黑" pitchFamily="34" charset="-122"/>
              </a:rPr>
              <a:t>13</a:t>
            </a:r>
            <a:r>
              <a:rPr lang="zh-CN" altLang="en-US" b="1" dirty="0">
                <a:latin typeface="微软雅黑" pitchFamily="34" charset="-122"/>
                <a:ea typeface="微软雅黑" pitchFamily="34" charset="-122"/>
              </a:rPr>
              <a:t>组根域名服务器系统</a:t>
            </a:r>
            <a:r>
              <a:rPr lang="zh-CN" altLang="en-US" b="1" dirty="0" smtClean="0">
                <a:latin typeface="微软雅黑" pitchFamily="34" charset="-122"/>
                <a:ea typeface="微软雅黑" pitchFamily="34" charset="-122"/>
              </a:rPr>
              <a:t>。每</a:t>
            </a:r>
            <a:r>
              <a:rPr lang="zh-CN" altLang="en-US" b="1" dirty="0">
                <a:latin typeface="微软雅黑" pitchFamily="34" charset="-122"/>
                <a:ea typeface="微软雅黑" pitchFamily="34" charset="-122"/>
              </a:rPr>
              <a:t>一组根域名服务器系统都有许多</a:t>
            </a:r>
            <a:r>
              <a:rPr lang="zh-CN" altLang="en-US" b="1" dirty="0">
                <a:solidFill>
                  <a:srgbClr val="C00000"/>
                </a:solidFill>
                <a:latin typeface="微软雅黑" pitchFamily="34" charset="-122"/>
                <a:ea typeface="微软雅黑" pitchFamily="34" charset="-122"/>
              </a:rPr>
              <a:t>使用同一个域名</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镜像根域名服务器</a:t>
            </a:r>
            <a:r>
              <a:rPr lang="zh-CN" altLang="en-US" b="1" dirty="0">
                <a:latin typeface="微软雅黑" pitchFamily="34" charset="-122"/>
                <a:ea typeface="微软雅黑" pitchFamily="34" charset="-122"/>
              </a:rPr>
              <a:t>，分布在</a:t>
            </a:r>
            <a:r>
              <a:rPr lang="zh-CN" altLang="en-US" b="1" dirty="0">
                <a:solidFill>
                  <a:srgbClr val="C00000"/>
                </a:solidFill>
                <a:latin typeface="微软雅黑" pitchFamily="34" charset="-122"/>
                <a:ea typeface="微软雅黑" pitchFamily="34" charset="-122"/>
              </a:rPr>
              <a:t>全球的不同地点</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graphicFrame>
        <p:nvGraphicFramePr>
          <p:cNvPr id="2" name="表格 1"/>
          <p:cNvGraphicFramePr>
            <a:graphicFrameLocks noGrp="1"/>
          </p:cNvGraphicFramePr>
          <p:nvPr>
            <p:extLst/>
          </p:nvPr>
        </p:nvGraphicFramePr>
        <p:xfrm>
          <a:off x="1383761" y="2180456"/>
          <a:ext cx="6636200" cy="2543748"/>
        </p:xfrm>
        <a:graphic>
          <a:graphicData uri="http://schemas.openxmlformats.org/drawingml/2006/table">
            <a:tbl>
              <a:tblPr firstRow="1">
                <a:tableStyleId>{B301B821-A1FF-4177-AEE7-76D212191A09}</a:tableStyleId>
              </a:tblPr>
              <a:tblGrid>
                <a:gridCol w="2216191">
                  <a:extLst>
                    <a:ext uri="{9D8B030D-6E8A-4147-A177-3AD203B41FA5}">
                      <a16:colId xmlns:a16="http://schemas.microsoft.com/office/drawing/2014/main" val="408908172"/>
                    </a:ext>
                  </a:extLst>
                </a:gridCol>
                <a:gridCol w="2216191">
                  <a:extLst>
                    <a:ext uri="{9D8B030D-6E8A-4147-A177-3AD203B41FA5}">
                      <a16:colId xmlns:a16="http://schemas.microsoft.com/office/drawing/2014/main" val="3439813314"/>
                    </a:ext>
                  </a:extLst>
                </a:gridCol>
                <a:gridCol w="2203818">
                  <a:extLst>
                    <a:ext uri="{9D8B030D-6E8A-4147-A177-3AD203B41FA5}">
                      <a16:colId xmlns:a16="http://schemas.microsoft.com/office/drawing/2014/main" val="1803728834"/>
                    </a:ext>
                  </a:extLst>
                </a:gridCol>
              </a:tblGrid>
              <a:tr h="155768">
                <a:tc>
                  <a:txBody>
                    <a:bodyPr/>
                    <a:lstStyle/>
                    <a:p>
                      <a:pPr algn="ctr" fontAlgn="b">
                        <a:lnSpc>
                          <a:spcPct val="80000"/>
                        </a:lnSpc>
                      </a:pPr>
                      <a:r>
                        <a:rPr lang="zh-CN" altLang="en-US" sz="1200" b="1" i="0" cap="all" dirty="0" smtClean="0">
                          <a:solidFill>
                            <a:schemeClr val="lt1"/>
                          </a:solidFill>
                          <a:effectLst/>
                          <a:latin typeface="+mn-lt"/>
                        </a:rPr>
                        <a:t>域名</a:t>
                      </a:r>
                      <a:endParaRPr lang="en-US" sz="1200" b="1" i="0" cap="all" dirty="0">
                        <a:solidFill>
                          <a:schemeClr val="tx1"/>
                        </a:solidFill>
                        <a:effectLst/>
                        <a:latin typeface="+mn-lt"/>
                      </a:endParaRPr>
                    </a:p>
                  </a:txBody>
                  <a:tcPr marL="24941" marR="24941" marT="12471" marB="12471" anchor="b"/>
                </a:tc>
                <a:tc>
                  <a:txBody>
                    <a:bodyPr/>
                    <a:lstStyle/>
                    <a:p>
                      <a:pPr algn="ctr" fontAlgn="b">
                        <a:lnSpc>
                          <a:spcPct val="80000"/>
                        </a:lnSpc>
                      </a:pPr>
                      <a:r>
                        <a:rPr lang="en-US" sz="1200" cap="all" dirty="0">
                          <a:effectLst/>
                        </a:rPr>
                        <a:t>IP </a:t>
                      </a:r>
                      <a:r>
                        <a:rPr lang="zh-CN" altLang="en-US" sz="1200" cap="all" dirty="0" smtClean="0">
                          <a:effectLst/>
                        </a:rPr>
                        <a:t>地址</a:t>
                      </a:r>
                      <a:endParaRPr lang="en-US" sz="1200" b="1" i="0" cap="all" dirty="0">
                        <a:solidFill>
                          <a:schemeClr val="tx1"/>
                        </a:solidFill>
                        <a:effectLst/>
                        <a:latin typeface="+mn-lt"/>
                      </a:endParaRPr>
                    </a:p>
                  </a:txBody>
                  <a:tcPr marL="12471" marR="24941" marT="12471" marB="12471" anchor="b"/>
                </a:tc>
                <a:tc>
                  <a:txBody>
                    <a:bodyPr/>
                    <a:lstStyle/>
                    <a:p>
                      <a:pPr algn="ctr" fontAlgn="b">
                        <a:lnSpc>
                          <a:spcPct val="80000"/>
                        </a:lnSpc>
                      </a:pPr>
                      <a:r>
                        <a:rPr lang="zh-CN" altLang="en-US" sz="1200" cap="all" dirty="0" smtClean="0">
                          <a:effectLst/>
                        </a:rPr>
                        <a:t>运营商</a:t>
                      </a:r>
                      <a:endParaRPr lang="en-US" sz="1200" b="1" i="0" cap="all" dirty="0">
                        <a:solidFill>
                          <a:schemeClr val="tx1"/>
                        </a:solidFill>
                        <a:effectLst/>
                        <a:latin typeface="+mn-lt"/>
                      </a:endParaRPr>
                    </a:p>
                  </a:txBody>
                  <a:tcPr marL="12471" marR="24941" marT="12471" marB="12471" anchor="b"/>
                </a:tc>
                <a:extLst>
                  <a:ext uri="{0D108BD9-81ED-4DB2-BD59-A6C34878D82A}">
                    <a16:rowId xmlns:a16="http://schemas.microsoft.com/office/drawing/2014/main" val="1140239074"/>
                  </a:ext>
                </a:extLst>
              </a:tr>
              <a:tr h="155768">
                <a:tc>
                  <a:txBody>
                    <a:bodyPr/>
                    <a:lstStyle/>
                    <a:p>
                      <a:pPr fontAlgn="t">
                        <a:lnSpc>
                          <a:spcPct val="80000"/>
                        </a:lnSpc>
                      </a:pPr>
                      <a:r>
                        <a:rPr lang="en-US" sz="1200" dirty="0">
                          <a:effectLst/>
                        </a:rPr>
                        <a:t>a.root-servers.net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198.41.0.4, 2001:503:ba3e::2:30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Verisign, Inc.</a:t>
                      </a:r>
                      <a:endParaRPr lang="en-US" sz="1200" b="0" i="0" dirty="0">
                        <a:solidFill>
                          <a:schemeClr val="tx1"/>
                        </a:solidFill>
                        <a:effectLst/>
                        <a:latin typeface="+mn-lt"/>
                      </a:endParaRPr>
                    </a:p>
                  </a:txBody>
                  <a:tcPr marL="12471" marR="24941" marT="12471" marB="12471"/>
                </a:tc>
                <a:extLst>
                  <a:ext uri="{0D108BD9-81ED-4DB2-BD59-A6C34878D82A}">
                    <a16:rowId xmlns:a16="http://schemas.microsoft.com/office/drawing/2014/main" val="3799934463"/>
                  </a:ext>
                </a:extLst>
              </a:tr>
              <a:tr h="288848">
                <a:tc>
                  <a:txBody>
                    <a:bodyPr/>
                    <a:lstStyle/>
                    <a:p>
                      <a:pPr fontAlgn="t">
                        <a:lnSpc>
                          <a:spcPct val="80000"/>
                        </a:lnSpc>
                      </a:pPr>
                      <a:r>
                        <a:rPr lang="en-US" sz="1200" dirty="0">
                          <a:effectLst/>
                        </a:rPr>
                        <a:t>b.root-servers.net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199.9.14.201, 2001:500:200::b</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Southern California,</a:t>
                      </a:r>
                      <a:br>
                        <a:rPr lang="en-US" sz="1200">
                          <a:effectLst/>
                        </a:rPr>
                      </a:br>
                      <a:r>
                        <a:rPr lang="en-US" sz="1200">
                          <a:effectLst/>
                        </a:rPr>
                        <a:t>Information Sciences Institute</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810033780"/>
                  </a:ext>
                </a:extLst>
              </a:tr>
              <a:tr h="155768">
                <a:tc>
                  <a:txBody>
                    <a:bodyPr/>
                    <a:lstStyle/>
                    <a:p>
                      <a:pPr fontAlgn="t">
                        <a:lnSpc>
                          <a:spcPct val="80000"/>
                        </a:lnSpc>
                      </a:pPr>
                      <a:r>
                        <a:rPr lang="en-US" sz="1200">
                          <a:effectLst/>
                        </a:rPr>
                        <a:t>c.root-servers.net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192.33.4.12, 2001:500:2::c</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Cogent Communications</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551130435"/>
                  </a:ext>
                </a:extLst>
              </a:tr>
              <a:tr h="155768">
                <a:tc>
                  <a:txBody>
                    <a:bodyPr/>
                    <a:lstStyle/>
                    <a:p>
                      <a:pPr fontAlgn="t">
                        <a:lnSpc>
                          <a:spcPct val="80000"/>
                        </a:lnSpc>
                      </a:pPr>
                      <a:r>
                        <a:rPr lang="en-US" sz="1200" dirty="0">
                          <a:effectLst/>
                        </a:rPr>
                        <a:t>d.root-servers.net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199.7.91.13, 2001:500:2d::d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Maryland</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602981751"/>
                  </a:ext>
                </a:extLst>
              </a:tr>
              <a:tr h="155768">
                <a:tc>
                  <a:txBody>
                    <a:bodyPr/>
                    <a:lstStyle/>
                    <a:p>
                      <a:pPr fontAlgn="t">
                        <a:lnSpc>
                          <a:spcPct val="80000"/>
                        </a:lnSpc>
                      </a:pPr>
                      <a:r>
                        <a:rPr lang="en-US" sz="1200">
                          <a:effectLst/>
                        </a:rPr>
                        <a:t>e.root-servers.net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192.203.230.10, 2001:500:a8::e</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NASA (Ames Research Center)</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222640583"/>
                  </a:ext>
                </a:extLst>
              </a:tr>
              <a:tr h="155768">
                <a:tc>
                  <a:txBody>
                    <a:bodyPr/>
                    <a:lstStyle/>
                    <a:p>
                      <a:pPr fontAlgn="t">
                        <a:lnSpc>
                          <a:spcPct val="80000"/>
                        </a:lnSpc>
                      </a:pPr>
                      <a:r>
                        <a:rPr lang="en-US" sz="1200" dirty="0">
                          <a:effectLst/>
                        </a:rPr>
                        <a:t>f.root-servers.net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192.5.5.241, 2001:500:2f::f</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Internet Systems Consortium, Inc.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728933610"/>
                  </a:ext>
                </a:extLst>
              </a:tr>
              <a:tr h="155768">
                <a:tc>
                  <a:txBody>
                    <a:bodyPr/>
                    <a:lstStyle/>
                    <a:p>
                      <a:pPr fontAlgn="t">
                        <a:lnSpc>
                          <a:spcPct val="80000"/>
                        </a:lnSpc>
                      </a:pPr>
                      <a:r>
                        <a:rPr lang="en-US" sz="1200">
                          <a:effectLst/>
                        </a:rPr>
                        <a:t>g.root-servers.net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192.112.36.4, 2001:500:12::d0d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Department of Defense (NIC)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200553252"/>
                  </a:ext>
                </a:extLst>
              </a:tr>
              <a:tr h="155768">
                <a:tc>
                  <a:txBody>
                    <a:bodyPr/>
                    <a:lstStyle/>
                    <a:p>
                      <a:pPr fontAlgn="t">
                        <a:lnSpc>
                          <a:spcPct val="80000"/>
                        </a:lnSpc>
                      </a:pPr>
                      <a:r>
                        <a:rPr lang="en-US" sz="1200">
                          <a:effectLst/>
                        </a:rPr>
                        <a:t>h.root-servers.net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altLang="zh-CN" sz="1200">
                          <a:effectLst/>
                        </a:rPr>
                        <a:t>198.97.190.53, 2001:500:1::53</a:t>
                      </a:r>
                      <a:endParaRPr lang="en-US" altLang="zh-CN"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Army (Research Lab)</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979510661"/>
                  </a:ext>
                </a:extLst>
              </a:tr>
              <a:tr h="155768">
                <a:tc>
                  <a:txBody>
                    <a:bodyPr/>
                    <a:lstStyle/>
                    <a:p>
                      <a:pPr fontAlgn="t">
                        <a:lnSpc>
                          <a:spcPct val="80000"/>
                        </a:lnSpc>
                      </a:pPr>
                      <a:r>
                        <a:rPr lang="en-US" sz="1200">
                          <a:effectLst/>
                        </a:rPr>
                        <a:t>i.root-servers.net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192.36.148.17, 2001:7fe::53</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Netnod</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406046716"/>
                  </a:ext>
                </a:extLst>
              </a:tr>
              <a:tr h="155768">
                <a:tc>
                  <a:txBody>
                    <a:bodyPr/>
                    <a:lstStyle/>
                    <a:p>
                      <a:pPr fontAlgn="t">
                        <a:lnSpc>
                          <a:spcPct val="80000"/>
                        </a:lnSpc>
                      </a:pPr>
                      <a:r>
                        <a:rPr lang="en-US" sz="1200" dirty="0" err="1">
                          <a:effectLst/>
                        </a:rPr>
                        <a:t>j.root-servers.net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192.58.128.30, 2001:503:c27::2:30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Verisign, Inc.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077151531"/>
                  </a:ext>
                </a:extLst>
              </a:tr>
              <a:tr h="155768">
                <a:tc>
                  <a:txBody>
                    <a:bodyPr/>
                    <a:lstStyle/>
                    <a:p>
                      <a:pPr fontAlgn="t">
                        <a:lnSpc>
                          <a:spcPct val="80000"/>
                        </a:lnSpc>
                      </a:pPr>
                      <a:r>
                        <a:rPr lang="en-US" sz="1200">
                          <a:effectLst/>
                        </a:rPr>
                        <a:t>k.root-servers.net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193.0.14.129, 2001:7fd::1</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RIPE NCC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109581213"/>
                  </a:ext>
                </a:extLst>
              </a:tr>
              <a:tr h="155768">
                <a:tc>
                  <a:txBody>
                    <a:bodyPr/>
                    <a:lstStyle/>
                    <a:p>
                      <a:pPr fontAlgn="t">
                        <a:lnSpc>
                          <a:spcPct val="80000"/>
                        </a:lnSpc>
                      </a:pPr>
                      <a:r>
                        <a:rPr lang="en-US" sz="1200">
                          <a:effectLst/>
                        </a:rPr>
                        <a:t>l.root-servers.net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199.7.83.42, 2001:500:9f::42</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ICANN</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659636611"/>
                  </a:ext>
                </a:extLst>
              </a:tr>
              <a:tr h="155768">
                <a:tc>
                  <a:txBody>
                    <a:bodyPr/>
                    <a:lstStyle/>
                    <a:p>
                      <a:pPr fontAlgn="t">
                        <a:lnSpc>
                          <a:spcPct val="80000"/>
                        </a:lnSpc>
                      </a:pPr>
                      <a:r>
                        <a:rPr lang="en-US" sz="1200">
                          <a:effectLst/>
                        </a:rPr>
                        <a:t>m.root-servers.net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202.12.27.33, 2001:dc3::35</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WIDE Project</a:t>
                      </a:r>
                      <a:endParaRPr lang="en-US" sz="1200" b="0" i="0" dirty="0">
                        <a:solidFill>
                          <a:schemeClr val="tx1"/>
                        </a:solidFill>
                        <a:effectLst/>
                        <a:latin typeface="+mn-lt"/>
                      </a:endParaRPr>
                    </a:p>
                  </a:txBody>
                  <a:tcPr marL="12471" marR="24941" marT="12471" marB="12471"/>
                </a:tc>
                <a:extLst>
                  <a:ext uri="{0D108BD9-81ED-4DB2-BD59-A6C34878D82A}">
                    <a16:rowId xmlns:a16="http://schemas.microsoft.com/office/drawing/2014/main" val="2430741343"/>
                  </a:ext>
                </a:extLst>
              </a:tr>
            </a:tbl>
          </a:graphicData>
        </a:graphic>
      </p:graphicFrame>
    </p:spTree>
    <p:custDataLst>
      <p:tags r:id="rId1"/>
    </p:custDataLst>
    <p:extLst>
      <p:ext uri="{BB962C8B-B14F-4D97-AF65-F5344CB8AC3E}">
        <p14:creationId xmlns:p14="http://schemas.microsoft.com/office/powerpoint/2010/main" val="5974231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886183" y="3045666"/>
            <a:ext cx="5175682" cy="759182"/>
          </a:xfrm>
          <a:prstGeom prst="rect">
            <a:avLst/>
          </a:prstGeom>
        </p:spPr>
        <p:txBody>
          <a:bodyPr wrap="square">
            <a:spAutoFit/>
          </a:bodyPr>
          <a:lstStyle/>
          <a:p>
            <a:pPr algn="ctr">
              <a:lnSpc>
                <a:spcPts val="2600"/>
              </a:lnSpc>
            </a:pPr>
            <a:r>
              <a:rPr lang="zh-CN" altLang="en-US" b="1" dirty="0">
                <a:solidFill>
                  <a:srgbClr val="C00000"/>
                </a:solidFill>
                <a:latin typeface="微软雅黑" pitchFamily="34" charset="-122"/>
                <a:ea typeface="微软雅黑" pitchFamily="34" charset="-122"/>
              </a:rPr>
              <a:t>截至 </a:t>
            </a:r>
            <a:r>
              <a:rPr lang="en-US" altLang="zh-CN" b="1" dirty="0">
                <a:solidFill>
                  <a:srgbClr val="C00000"/>
                </a:solidFill>
                <a:latin typeface="微软雅黑" pitchFamily="34" charset="-122"/>
                <a:ea typeface="微软雅黑" pitchFamily="34" charset="-122"/>
              </a:rPr>
              <a:t>2025</a:t>
            </a:r>
            <a:r>
              <a:rPr lang="zh-CN" altLang="en-US" b="1" dirty="0">
                <a:solidFill>
                  <a:srgbClr val="C00000"/>
                </a:solidFill>
                <a:latin typeface="微软雅黑" pitchFamily="34" charset="-122"/>
                <a:ea typeface="微软雅黑" pitchFamily="34" charset="-122"/>
              </a:rPr>
              <a:t>年</a:t>
            </a:r>
            <a:r>
              <a:rPr lang="en-US" altLang="zh-CN" b="1" dirty="0">
                <a:solidFill>
                  <a:srgbClr val="C00000"/>
                </a:solidFill>
                <a:latin typeface="微软雅黑" pitchFamily="34" charset="-122"/>
                <a:ea typeface="微软雅黑" pitchFamily="34" charset="-122"/>
              </a:rPr>
              <a:t>5</a:t>
            </a:r>
            <a:r>
              <a:rPr lang="zh-CN" altLang="en-US" b="1" dirty="0">
                <a:solidFill>
                  <a:srgbClr val="C00000"/>
                </a:solidFill>
                <a:latin typeface="微软雅黑" pitchFamily="34" charset="-122"/>
                <a:ea typeface="微软雅黑" pitchFamily="34" charset="-122"/>
              </a:rPr>
              <a:t>月，全球共有 </a:t>
            </a:r>
            <a:r>
              <a:rPr lang="en-US" altLang="zh-CN" b="1" dirty="0">
                <a:solidFill>
                  <a:srgbClr val="C00000"/>
                </a:solidFill>
                <a:latin typeface="微软雅黑" pitchFamily="34" charset="-122"/>
                <a:ea typeface="微软雅黑" pitchFamily="34" charset="-122"/>
              </a:rPr>
              <a:t>1952 </a:t>
            </a:r>
            <a:r>
              <a:rPr lang="zh-CN" altLang="en-US" b="1" dirty="0">
                <a:solidFill>
                  <a:srgbClr val="C00000"/>
                </a:solidFill>
                <a:latin typeface="微软雅黑" pitchFamily="34" charset="-122"/>
                <a:ea typeface="微软雅黑" pitchFamily="34" charset="-122"/>
              </a:rPr>
              <a:t>个根域名服务器在运行，分布在</a:t>
            </a:r>
            <a:r>
              <a:rPr lang="en-US" altLang="zh-CN" b="1" dirty="0">
                <a:solidFill>
                  <a:srgbClr val="C00000"/>
                </a:solidFill>
                <a:latin typeface="微软雅黑" pitchFamily="34" charset="-122"/>
                <a:ea typeface="微软雅黑" pitchFamily="34" charset="-122"/>
              </a:rPr>
              <a:t>60</a:t>
            </a:r>
            <a:r>
              <a:rPr lang="zh-CN" altLang="en-US" b="1" dirty="0">
                <a:solidFill>
                  <a:srgbClr val="C00000"/>
                </a:solidFill>
                <a:latin typeface="微软雅黑" pitchFamily="34" charset="-122"/>
                <a:ea typeface="微软雅黑" pitchFamily="34" charset="-122"/>
              </a:rPr>
              <a:t>多个国家和地区。</a:t>
            </a:r>
          </a:p>
        </p:txBody>
      </p:sp>
      <p:sp>
        <p:nvSpPr>
          <p:cNvPr id="1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根域名服务器共有 </a:t>
            </a:r>
            <a:r>
              <a:rPr lang="en-US" altLang="zh-CN" sz="2000" b="1" dirty="0">
                <a:solidFill>
                  <a:schemeClr val="bg1"/>
                </a:solidFill>
                <a:latin typeface="微软雅黑" pitchFamily="34" charset="-122"/>
                <a:ea typeface="微软雅黑" pitchFamily="34" charset="-122"/>
              </a:rPr>
              <a:t>13 </a:t>
            </a:r>
            <a:r>
              <a:rPr lang="zh-CN" altLang="en-US" sz="2000" b="1" dirty="0">
                <a:solidFill>
                  <a:schemeClr val="bg1"/>
                </a:solidFill>
                <a:latin typeface="微软雅黑" pitchFamily="34" charset="-122"/>
                <a:ea typeface="微软雅黑" pitchFamily="34" charset="-122"/>
              </a:rPr>
              <a:t>套装置</a:t>
            </a:r>
            <a:endParaRPr lang="zh-CN" altLang="en-US" sz="2000" b="1" dirty="0" smtClean="0">
              <a:solidFill>
                <a:schemeClr val="bg1"/>
              </a:solidFill>
              <a:latin typeface="微软雅黑" pitchFamily="34" charset="-122"/>
              <a:ea typeface="微软雅黑" pitchFamily="34" charset="-122"/>
            </a:endParaRPr>
          </a:p>
        </p:txBody>
      </p:sp>
      <p:sp>
        <p:nvSpPr>
          <p:cNvPr id="7" name="矩形 6"/>
          <p:cNvSpPr/>
          <p:nvPr/>
        </p:nvSpPr>
        <p:spPr>
          <a:xfrm>
            <a:off x="1048028" y="1224725"/>
            <a:ext cx="7295177" cy="1211357"/>
          </a:xfrm>
          <a:prstGeom prst="rect">
            <a:avLst/>
          </a:prstGeom>
        </p:spPr>
        <p:txBody>
          <a:bodyPr wrap="square">
            <a:spAutoFit/>
          </a:bodyPr>
          <a:lstStyle/>
          <a:p>
            <a:pPr>
              <a:lnSpc>
                <a:spcPts val="3000"/>
              </a:lnSpc>
            </a:pPr>
            <a:r>
              <a:rPr lang="zh-CN" altLang="zh-CN" sz="2000" b="1" dirty="0" smtClean="0">
                <a:latin typeface="微软雅黑" pitchFamily="34" charset="-122"/>
                <a:ea typeface="微软雅黑" pitchFamily="34" charset="-122"/>
              </a:rPr>
              <a:t>根</a:t>
            </a:r>
            <a:r>
              <a:rPr lang="zh-CN" altLang="zh-CN" sz="2000" b="1" dirty="0">
                <a:latin typeface="微软雅黑" pitchFamily="34" charset="-122"/>
                <a:ea typeface="微软雅黑" pitchFamily="34" charset="-122"/>
              </a:rPr>
              <a:t>域名服务器</a:t>
            </a:r>
            <a:r>
              <a:rPr lang="zh-CN" altLang="zh-CN" sz="2000" b="1" dirty="0" smtClean="0">
                <a:latin typeface="微软雅黑" pitchFamily="34" charset="-122"/>
                <a:ea typeface="微软雅黑" pitchFamily="34" charset="-122"/>
              </a:rPr>
              <a:t>采</a:t>
            </a:r>
            <a:r>
              <a:rPr lang="zh-CN" altLang="en-US" sz="2000" b="1" dirty="0" smtClean="0">
                <a:latin typeface="微软雅黑" pitchFamily="34" charset="-122"/>
                <a:ea typeface="微软雅黑" pitchFamily="34" charset="-122"/>
              </a:rPr>
              <a:t>用</a:t>
            </a:r>
            <a:r>
              <a:rPr lang="zh-CN" altLang="zh-CN" sz="2000" b="1" dirty="0" smtClean="0">
                <a:solidFill>
                  <a:srgbClr val="C00000"/>
                </a:solidFill>
                <a:latin typeface="微软雅黑" pitchFamily="34" charset="-122"/>
                <a:ea typeface="微软雅黑" pitchFamily="34" charset="-122"/>
              </a:rPr>
              <a:t>任播</a:t>
            </a:r>
            <a:r>
              <a:rPr lang="en-US" altLang="zh-CN" sz="2000" b="1" dirty="0" smtClean="0">
                <a:latin typeface="微软雅黑" pitchFamily="34" charset="-122"/>
                <a:ea typeface="微软雅黑" pitchFamily="34" charset="-122"/>
              </a:rPr>
              <a:t> (</a:t>
            </a:r>
            <a:r>
              <a:rPr lang="en-US" altLang="zh-CN" sz="2000" b="1" dirty="0" err="1">
                <a:latin typeface="微软雅黑" pitchFamily="34" charset="-122"/>
                <a:ea typeface="微软雅黑" pitchFamily="34" charset="-122"/>
              </a:rPr>
              <a:t>anycast</a:t>
            </a:r>
            <a:r>
              <a:rPr lang="en-US" altLang="zh-CN" sz="2000" b="1" dirty="0" smtClean="0">
                <a:latin typeface="微软雅黑" pitchFamily="34" charset="-122"/>
                <a:ea typeface="微软雅黑" pitchFamily="34" charset="-122"/>
              </a:rPr>
              <a:t>) </a:t>
            </a:r>
            <a:r>
              <a:rPr lang="zh-CN" altLang="zh-CN" sz="2000" b="1" dirty="0" smtClean="0">
                <a:latin typeface="微软雅黑" pitchFamily="34" charset="-122"/>
                <a:ea typeface="微软雅黑" pitchFamily="34" charset="-122"/>
              </a:rPr>
              <a:t>技术</a:t>
            </a:r>
            <a:r>
              <a:rPr lang="zh-CN" altLang="en-US" sz="2000" b="1" dirty="0" smtClean="0">
                <a:latin typeface="微软雅黑" pitchFamily="34" charset="-122"/>
                <a:ea typeface="微软雅黑" pitchFamily="34" charset="-122"/>
              </a:rPr>
              <a:t>，</a:t>
            </a:r>
            <a:r>
              <a:rPr lang="zh-CN" altLang="zh-CN" sz="2000" b="1" dirty="0" smtClean="0">
                <a:latin typeface="微软雅黑" pitchFamily="34" charset="-122"/>
                <a:ea typeface="微软雅黑" pitchFamily="34" charset="-122"/>
              </a:rPr>
              <a:t>当</a:t>
            </a:r>
            <a:r>
              <a:rPr lang="en-US" altLang="zh-CN" sz="2000" b="1" dirty="0" smtClean="0">
                <a:latin typeface="微软雅黑" pitchFamily="34" charset="-122"/>
                <a:ea typeface="微软雅黑" pitchFamily="34" charset="-122"/>
              </a:rPr>
              <a:t>DNS </a:t>
            </a:r>
            <a:r>
              <a:rPr lang="zh-CN" altLang="zh-CN" sz="2000" b="1" dirty="0" smtClean="0">
                <a:latin typeface="微软雅黑" pitchFamily="34" charset="-122"/>
                <a:ea typeface="微软雅黑" pitchFamily="34" charset="-122"/>
              </a:rPr>
              <a:t>客户</a:t>
            </a:r>
            <a:r>
              <a:rPr lang="zh-CN" altLang="zh-CN" sz="2000" b="1" dirty="0">
                <a:latin typeface="微软雅黑" pitchFamily="34" charset="-122"/>
                <a:ea typeface="微软雅黑" pitchFamily="34" charset="-122"/>
              </a:rPr>
              <a:t>向某个根域名</a:t>
            </a:r>
            <a:r>
              <a:rPr lang="zh-CN" altLang="zh-CN" sz="2000" b="1" dirty="0" smtClean="0">
                <a:latin typeface="微软雅黑" pitchFamily="34" charset="-122"/>
                <a:ea typeface="微软雅黑" pitchFamily="34" charset="-122"/>
              </a:rPr>
              <a:t>服务器发出</a:t>
            </a:r>
            <a:r>
              <a:rPr lang="zh-CN" altLang="zh-CN" sz="2000" b="1" dirty="0">
                <a:latin typeface="微软雅黑" pitchFamily="34" charset="-122"/>
                <a:ea typeface="微软雅黑" pitchFamily="34" charset="-122"/>
              </a:rPr>
              <a:t>查询报文时</a:t>
            </a:r>
            <a:r>
              <a:rPr lang="zh-CN" altLang="zh-CN" sz="2000" b="1" dirty="0" smtClean="0">
                <a:latin typeface="微软雅黑" pitchFamily="34" charset="-122"/>
                <a:ea typeface="微软雅黑" pitchFamily="34" charset="-122"/>
              </a:rPr>
              <a:t>，路由器能</a:t>
            </a:r>
            <a:r>
              <a:rPr lang="zh-CN" altLang="zh-CN" sz="2000" b="1" dirty="0">
                <a:latin typeface="微软雅黑" pitchFamily="34" charset="-122"/>
                <a:ea typeface="微软雅黑" pitchFamily="34" charset="-122"/>
              </a:rPr>
              <a:t>找到离</a:t>
            </a:r>
            <a:r>
              <a:rPr lang="zh-CN" altLang="zh-CN" sz="2000" b="1" dirty="0" smtClean="0">
                <a:latin typeface="微软雅黑" pitchFamily="34" charset="-122"/>
                <a:ea typeface="微软雅黑" pitchFamily="34" charset="-122"/>
              </a:rPr>
              <a:t>这个</a:t>
            </a:r>
            <a:r>
              <a:rPr lang="en-US" altLang="zh-CN" sz="2000" b="1" dirty="0" smtClean="0">
                <a:latin typeface="微软雅黑" pitchFamily="34" charset="-122"/>
                <a:ea typeface="微软雅黑" pitchFamily="34" charset="-122"/>
              </a:rPr>
              <a:t> DNS </a:t>
            </a:r>
            <a:r>
              <a:rPr lang="zh-CN" altLang="zh-CN" sz="2000" b="1" dirty="0" smtClean="0">
                <a:latin typeface="微软雅黑" pitchFamily="34" charset="-122"/>
                <a:ea typeface="微软雅黑" pitchFamily="34" charset="-122"/>
              </a:rPr>
              <a:t>客户</a:t>
            </a:r>
            <a:r>
              <a:rPr lang="zh-CN" altLang="zh-CN" sz="2000" b="1" dirty="0">
                <a:solidFill>
                  <a:srgbClr val="C00000"/>
                </a:solidFill>
                <a:latin typeface="微软雅黑" pitchFamily="34" charset="-122"/>
                <a:ea typeface="微软雅黑" pitchFamily="34" charset="-122"/>
              </a:rPr>
              <a:t>最近</a:t>
            </a:r>
            <a:r>
              <a:rPr lang="zh-CN" altLang="zh-CN" sz="2000" b="1" dirty="0">
                <a:latin typeface="微软雅黑" pitchFamily="34" charset="-122"/>
                <a:ea typeface="微软雅黑" pitchFamily="34" charset="-122"/>
              </a:rPr>
              <a:t>的一个根域名服务器</a:t>
            </a:r>
            <a:r>
              <a:rPr lang="zh-CN" altLang="zh-CN" sz="2000" b="1" dirty="0" smtClean="0">
                <a:latin typeface="微软雅黑" pitchFamily="34" charset="-122"/>
                <a:ea typeface="微软雅黑" pitchFamily="34" charset="-122"/>
              </a:rPr>
              <a:t>。</a:t>
            </a:r>
            <a:endParaRPr lang="zh-CN"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6357074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根域名服务器共有 </a:t>
            </a:r>
            <a:r>
              <a:rPr lang="en-US" altLang="zh-CN" sz="2000" b="1" dirty="0">
                <a:solidFill>
                  <a:schemeClr val="bg1"/>
                </a:solidFill>
                <a:latin typeface="微软雅黑" pitchFamily="34" charset="-122"/>
                <a:ea typeface="微软雅黑" pitchFamily="34" charset="-122"/>
              </a:rPr>
              <a:t>13 </a:t>
            </a:r>
            <a:r>
              <a:rPr lang="zh-CN" altLang="en-US" sz="2000" b="1" dirty="0">
                <a:solidFill>
                  <a:schemeClr val="bg1"/>
                </a:solidFill>
                <a:latin typeface="微软雅黑" pitchFamily="34" charset="-122"/>
                <a:ea typeface="微软雅黑" pitchFamily="34" charset="-122"/>
              </a:rPr>
              <a:t>套装置</a:t>
            </a:r>
            <a:endParaRPr lang="zh-CN" altLang="en-US" sz="2000" b="1" dirty="0" smtClean="0">
              <a:solidFill>
                <a:schemeClr val="bg1"/>
              </a:solidFill>
              <a:latin typeface="微软雅黑" pitchFamily="34" charset="-122"/>
              <a:ea typeface="微软雅黑" pitchFamily="34" charset="-122"/>
            </a:endParaRPr>
          </a:p>
        </p:txBody>
      </p:sp>
      <p:sp>
        <p:nvSpPr>
          <p:cNvPr id="10" name="对角圆角矩形 9"/>
          <p:cNvSpPr/>
          <p:nvPr/>
        </p:nvSpPr>
        <p:spPr>
          <a:xfrm>
            <a:off x="744879" y="1468315"/>
            <a:ext cx="7488420" cy="176529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68"/>
          <p:cNvSpPr>
            <a:spLocks noChangeArrowheads="1"/>
          </p:cNvSpPr>
          <p:nvPr/>
        </p:nvSpPr>
        <p:spPr bwMode="auto">
          <a:xfrm>
            <a:off x="997998" y="1581413"/>
            <a:ext cx="7057748" cy="152862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smtClean="0">
                <a:solidFill>
                  <a:srgbClr val="FFFF00"/>
                </a:solidFill>
                <a:latin typeface="微软雅黑" pitchFamily="34" charset="-122"/>
                <a:ea typeface="微软雅黑" pitchFamily="34" charset="-122"/>
              </a:rPr>
              <a:t>注意：</a:t>
            </a:r>
            <a:endParaRPr lang="en-US" altLang="zh-CN" b="1" dirty="0" smtClean="0">
              <a:solidFill>
                <a:srgbClr val="FFFF00"/>
              </a:solidFill>
              <a:latin typeface="微软雅黑" pitchFamily="34" charset="-122"/>
              <a:ea typeface="微软雅黑" pitchFamily="34" charset="-122"/>
            </a:endParaRPr>
          </a:p>
          <a:p>
            <a:pPr eaLnBrk="0" hangingPunct="0">
              <a:lnSpc>
                <a:spcPts val="2800"/>
              </a:lnSpc>
              <a:buClr>
                <a:srgbClr val="0070C0"/>
              </a:buClr>
            </a:pPr>
            <a:r>
              <a:rPr lang="zh-CN" altLang="en-US" b="1" dirty="0" smtClean="0">
                <a:solidFill>
                  <a:schemeClr val="bg1"/>
                </a:solidFill>
                <a:latin typeface="微软雅黑" pitchFamily="34" charset="-122"/>
                <a:ea typeface="微软雅黑" pitchFamily="34" charset="-122"/>
              </a:rPr>
              <a:t>根</a:t>
            </a:r>
            <a:r>
              <a:rPr lang="zh-CN" altLang="en-US" b="1" dirty="0">
                <a:solidFill>
                  <a:schemeClr val="bg1"/>
                </a:solidFill>
                <a:latin typeface="微软雅黑" pitchFamily="34" charset="-122"/>
                <a:ea typeface="微软雅黑" pitchFamily="34" charset="-122"/>
              </a:rPr>
              <a:t>域名服务器并</a:t>
            </a:r>
            <a:r>
              <a:rPr lang="zh-CN" altLang="en-US" b="1" dirty="0">
                <a:solidFill>
                  <a:srgbClr val="FFFF00"/>
                </a:solidFill>
                <a:latin typeface="微软雅黑" pitchFamily="34" charset="-122"/>
                <a:ea typeface="微软雅黑" pitchFamily="34" charset="-122"/>
              </a:rPr>
              <a:t>不直接</a:t>
            </a:r>
            <a:r>
              <a:rPr lang="zh-CN" altLang="en-US" b="1" dirty="0">
                <a:solidFill>
                  <a:schemeClr val="bg1"/>
                </a:solidFill>
                <a:latin typeface="微软雅黑" pitchFamily="34" charset="-122"/>
                <a:ea typeface="微软雅黑" pitchFamily="34" charset="-122"/>
              </a:rPr>
              <a:t>把</a:t>
            </a:r>
            <a:r>
              <a:rPr lang="zh-CN" altLang="en-US" b="1" dirty="0" smtClean="0">
                <a:solidFill>
                  <a:schemeClr val="bg1"/>
                </a:solidFill>
                <a:latin typeface="微软雅黑" pitchFamily="34" charset="-122"/>
                <a:ea typeface="微软雅黑" pitchFamily="34" charset="-122"/>
              </a:rPr>
              <a:t>域名转换</a:t>
            </a:r>
            <a:r>
              <a:rPr lang="zh-CN" altLang="en-US" b="1" dirty="0">
                <a:solidFill>
                  <a:schemeClr val="bg1"/>
                </a:solidFill>
                <a:latin typeface="微软雅黑" pitchFamily="34" charset="-122"/>
                <a:ea typeface="微软雅黑" pitchFamily="34" charset="-122"/>
              </a:rPr>
              <a:t>成 </a:t>
            </a:r>
            <a:r>
              <a:rPr lang="en-US" altLang="zh-CN" b="1" dirty="0">
                <a:solidFill>
                  <a:schemeClr val="bg1"/>
                </a:solidFill>
                <a:latin typeface="微软雅黑" pitchFamily="34" charset="-122"/>
                <a:ea typeface="微软雅黑" pitchFamily="34" charset="-122"/>
              </a:rPr>
              <a:t>IP </a:t>
            </a:r>
            <a:r>
              <a:rPr lang="zh-CN" altLang="en-US" b="1" dirty="0" smtClean="0">
                <a:solidFill>
                  <a:schemeClr val="bg1"/>
                </a:solidFill>
                <a:latin typeface="微软雅黑" pitchFamily="34" charset="-122"/>
                <a:ea typeface="微软雅黑" pitchFamily="34" charset="-122"/>
              </a:rPr>
              <a:t>地址（</a:t>
            </a:r>
            <a:r>
              <a:rPr lang="zh-CN" altLang="en-US" b="1" dirty="0">
                <a:solidFill>
                  <a:schemeClr val="bg1"/>
                </a:solidFill>
                <a:latin typeface="微软雅黑" pitchFamily="34" charset="-122"/>
                <a:ea typeface="微软雅黑" pitchFamily="34" charset="-122"/>
              </a:rPr>
              <a:t>根域名服务器也没有存放这种信息</a:t>
            </a:r>
            <a:r>
              <a:rPr lang="zh-CN" altLang="en-US" b="1" dirty="0" smtClean="0">
                <a:solidFill>
                  <a:schemeClr val="bg1"/>
                </a:solidFill>
                <a:latin typeface="微软雅黑" pitchFamily="34" charset="-122"/>
                <a:ea typeface="微软雅黑" pitchFamily="34" charset="-122"/>
              </a:rPr>
              <a:t>），而是</a:t>
            </a:r>
            <a:r>
              <a:rPr lang="zh-CN" altLang="en-US" b="1" dirty="0">
                <a:solidFill>
                  <a:srgbClr val="FFC000"/>
                </a:solidFill>
                <a:latin typeface="微软雅黑" pitchFamily="34" charset="-122"/>
                <a:ea typeface="微软雅黑" pitchFamily="34" charset="-122"/>
              </a:rPr>
              <a:t>告诉</a:t>
            </a:r>
            <a:r>
              <a:rPr lang="zh-CN" altLang="en-US" b="1" dirty="0">
                <a:solidFill>
                  <a:srgbClr val="FFFF00"/>
                </a:solidFill>
                <a:latin typeface="微软雅黑" pitchFamily="34" charset="-122"/>
                <a:ea typeface="微软雅黑" pitchFamily="34" charset="-122"/>
              </a:rPr>
              <a:t>本地域名服务器</a:t>
            </a:r>
            <a:r>
              <a:rPr lang="zh-CN" altLang="en-US" b="1" dirty="0">
                <a:solidFill>
                  <a:schemeClr val="bg1"/>
                </a:solidFill>
                <a:latin typeface="微软雅黑" pitchFamily="34" charset="-122"/>
                <a:ea typeface="微软雅黑" pitchFamily="34" charset="-122"/>
              </a:rPr>
              <a:t>下一步应当找哪一个</a:t>
            </a:r>
            <a:r>
              <a:rPr lang="zh-CN" altLang="en-US" b="1" dirty="0">
                <a:solidFill>
                  <a:srgbClr val="FFC000"/>
                </a:solidFill>
                <a:latin typeface="微软雅黑" pitchFamily="34" charset="-122"/>
                <a:ea typeface="微软雅黑" pitchFamily="34" charset="-122"/>
              </a:rPr>
              <a:t>顶级域名服务器</a:t>
            </a:r>
            <a:r>
              <a:rPr lang="zh-CN" altLang="en-US" b="1" dirty="0">
                <a:solidFill>
                  <a:schemeClr val="bg1"/>
                </a:solidFill>
                <a:latin typeface="微软雅黑" pitchFamily="34" charset="-122"/>
                <a:ea typeface="微软雅黑" pitchFamily="34" charset="-122"/>
              </a:rPr>
              <a:t>进行查询</a:t>
            </a:r>
            <a:r>
              <a:rPr lang="zh-CN" altLang="en-US" b="1" dirty="0" smtClean="0">
                <a:solidFill>
                  <a:schemeClr val="bg1"/>
                </a:solidFill>
                <a:latin typeface="微软雅黑" pitchFamily="34" charset="-122"/>
                <a:ea typeface="微软雅黑" pitchFamily="34" charset="-122"/>
              </a:rPr>
              <a:t>。</a:t>
            </a:r>
            <a:endParaRPr lang="zh-CN" altLang="en-US"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443624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981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436648" y="585484"/>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2. </a:t>
            </a:r>
            <a:r>
              <a:rPr lang="zh-CN" altLang="en-US" sz="2000" b="1" dirty="0" smtClean="0">
                <a:solidFill>
                  <a:schemeClr val="bg1"/>
                </a:solidFill>
                <a:latin typeface="微软雅黑" pitchFamily="34" charset="-122"/>
                <a:ea typeface="微软雅黑" pitchFamily="34" charset="-122"/>
              </a:rPr>
              <a:t>顶级</a:t>
            </a:r>
            <a:r>
              <a:rPr lang="zh-CN" altLang="en-US" sz="2000" b="1" dirty="0">
                <a:solidFill>
                  <a:schemeClr val="bg1"/>
                </a:solidFill>
                <a:latin typeface="微软雅黑" pitchFamily="34" charset="-122"/>
                <a:ea typeface="微软雅黑" pitchFamily="34" charset="-122"/>
              </a:rPr>
              <a:t>域名服务器</a:t>
            </a:r>
            <a:endParaRPr lang="zh-CN" altLang="en-US" sz="2000" b="1" dirty="0" smtClean="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2" y="966432"/>
            <a:ext cx="8205297" cy="22595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顶级域名服务器（即 </a:t>
            </a:r>
            <a:r>
              <a:rPr lang="en-US" altLang="zh-CN" sz="2000" b="1" dirty="0">
                <a:solidFill>
                  <a:srgbClr val="0000FF"/>
                </a:solidFill>
                <a:latin typeface="微软雅黑" pitchFamily="34" charset="-122"/>
                <a:ea typeface="微软雅黑" pitchFamily="34" charset="-122"/>
              </a:rPr>
              <a:t>TLD </a:t>
            </a:r>
            <a:r>
              <a:rPr lang="zh-CN" altLang="en-US" sz="2000" b="1" dirty="0">
                <a:solidFill>
                  <a:srgbClr val="0000FF"/>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）负责管理在该顶级域名服务器注册的</a:t>
            </a:r>
            <a:r>
              <a:rPr lang="zh-CN" altLang="en-US" sz="2000" b="1" dirty="0">
                <a:solidFill>
                  <a:srgbClr val="0000FF"/>
                </a:solidFill>
                <a:latin typeface="微软雅黑" pitchFamily="34" charset="-122"/>
                <a:ea typeface="微软雅黑" pitchFamily="34" charset="-122"/>
              </a:rPr>
              <a:t>所有二级域名</a:t>
            </a:r>
            <a:r>
              <a:rPr lang="zh-CN" altLang="en-US" sz="2000" b="1" dirty="0">
                <a:latin typeface="微软雅黑" pitchFamily="34" charset="-122"/>
                <a:ea typeface="微软雅黑" pitchFamily="34" charset="-122"/>
              </a:rPr>
              <a:t>。</a:t>
            </a:r>
          </a:p>
          <a:p>
            <a:pPr marL="285750" indent="-285750" eaLnBrk="0" hangingPunct="0">
              <a:lnSpc>
                <a:spcPts val="3500"/>
              </a:lnSpc>
              <a:buClr>
                <a:srgbClr val="0070C0"/>
              </a:buClr>
              <a:buFont typeface="Wingdings" pitchFamily="2" charset="2"/>
              <a:buChar char="l"/>
            </a:pPr>
            <a:r>
              <a:rPr lang="zh-CN" altLang="en-US" sz="2000" b="1" dirty="0">
                <a:latin typeface="微软雅黑" pitchFamily="34" charset="-122"/>
                <a:ea typeface="微软雅黑" pitchFamily="34" charset="-122"/>
              </a:rPr>
              <a:t>当收到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查询请求时，就给出相应的回答（可能是最后的结果，也可能是下一步应当找的域名服务器的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顶级域名服务器同样设有许多镜像顶级域名服务器。</a:t>
            </a:r>
          </a:p>
        </p:txBody>
      </p:sp>
    </p:spTree>
    <p:custDataLst>
      <p:tags r:id="rId1"/>
    </p:custDataLst>
    <p:extLst>
      <p:ext uri="{BB962C8B-B14F-4D97-AF65-F5344CB8AC3E}">
        <p14:creationId xmlns:p14="http://schemas.microsoft.com/office/powerpoint/2010/main" val="5038183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500"/>
                                        <p:tgtEl>
                                          <p:spTgt spid="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2" end="2"/>
                                            </p:txEl>
                                          </p:spTgt>
                                        </p:tgtEl>
                                        <p:attrNameLst>
                                          <p:attrName>style.visibility</p:attrName>
                                        </p:attrNameLst>
                                      </p:cBhvr>
                                      <p:to>
                                        <p:strVal val="visible"/>
                                      </p:to>
                                    </p:set>
                                    <p:animEffect transition="in" filter="fade">
                                      <p:cBhvr>
                                        <p:cTn id="12"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5"/>
          <p:cNvSpPr>
            <a:spLocks noChangeArrowheads="1"/>
          </p:cNvSpPr>
          <p:nvPr/>
        </p:nvSpPr>
        <p:spPr bwMode="auto">
          <a:xfrm>
            <a:off x="556963" y="61379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3" name="Rectangle 6"/>
          <p:cNvSpPr>
            <a:spLocks noChangeArrowheads="1"/>
          </p:cNvSpPr>
          <p:nvPr/>
        </p:nvSpPr>
        <p:spPr bwMode="auto">
          <a:xfrm>
            <a:off x="3436648" y="580586"/>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3. </a:t>
            </a:r>
            <a:r>
              <a:rPr lang="zh-CN" altLang="en-US" sz="2000" b="1" dirty="0" smtClean="0">
                <a:solidFill>
                  <a:schemeClr val="bg1"/>
                </a:solidFill>
                <a:latin typeface="微软雅黑" pitchFamily="34" charset="-122"/>
                <a:ea typeface="微软雅黑" pitchFamily="34" charset="-122"/>
              </a:rPr>
              <a:t>权威域名服务器</a:t>
            </a:r>
          </a:p>
        </p:txBody>
      </p:sp>
      <p:sp>
        <p:nvSpPr>
          <p:cNvPr id="14" name="Rectangle 68"/>
          <p:cNvSpPr>
            <a:spLocks noChangeArrowheads="1"/>
          </p:cNvSpPr>
          <p:nvPr/>
        </p:nvSpPr>
        <p:spPr bwMode="auto">
          <a:xfrm>
            <a:off x="556963" y="1065789"/>
            <a:ext cx="8048776" cy="18365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500"/>
              </a:lnSpc>
              <a:buClr>
                <a:srgbClr val="0070C0"/>
              </a:buClr>
              <a:buFont typeface="Wingdings" pitchFamily="2" charset="2"/>
              <a:buChar char="l"/>
            </a:pPr>
            <a:r>
              <a:rPr lang="zh-CN" altLang="en-US" sz="2000" b="1" dirty="0">
                <a:latin typeface="微软雅黑" pitchFamily="34" charset="-122"/>
                <a:ea typeface="微软雅黑" pitchFamily="34" charset="-122"/>
              </a:rPr>
              <a:t>权威域名</a:t>
            </a:r>
            <a:r>
              <a:rPr lang="zh-CN" altLang="en-US" sz="2000" b="1" dirty="0" smtClean="0">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等级比顶级域名服务器更低一级，</a:t>
            </a:r>
            <a:r>
              <a:rPr lang="zh-CN" altLang="en-US" sz="2000" b="1" dirty="0" smtClean="0">
                <a:latin typeface="微软雅黑" pitchFamily="34" charset="-122"/>
                <a:ea typeface="微软雅黑" pitchFamily="34" charset="-122"/>
              </a:rPr>
              <a:t>保存有所负责区中</a:t>
            </a:r>
            <a:r>
              <a:rPr lang="zh-CN" altLang="en-US" sz="2000" b="1" dirty="0" smtClean="0">
                <a:solidFill>
                  <a:srgbClr val="C00000"/>
                </a:solidFill>
                <a:latin typeface="微软雅黑" pitchFamily="34" charset="-122"/>
                <a:ea typeface="微软雅黑" pitchFamily="34" charset="-122"/>
              </a:rPr>
              <a:t>全部主机</a:t>
            </a:r>
            <a:r>
              <a:rPr lang="zh-CN" altLang="en-US" sz="2000" b="1" dirty="0">
                <a:solidFill>
                  <a:srgbClr val="C00000"/>
                </a:solidFill>
                <a:latin typeface="微软雅黑" pitchFamily="34" charset="-122"/>
                <a:ea typeface="微软雅黑" pitchFamily="34" charset="-122"/>
              </a:rPr>
              <a:t>的域名到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地址的</a:t>
            </a:r>
            <a:r>
              <a:rPr lang="zh-CN" altLang="en-US" sz="2000" b="1" dirty="0" smtClean="0">
                <a:solidFill>
                  <a:srgbClr val="C00000"/>
                </a:solidFill>
                <a:latin typeface="微软雅黑" pitchFamily="34" charset="-122"/>
                <a:ea typeface="微软雅黑" pitchFamily="34" charset="-122"/>
              </a:rPr>
              <a:t>映射</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其功能</a:t>
            </a:r>
            <a:r>
              <a:rPr lang="zh-CN" altLang="en-US" sz="2000" b="1" dirty="0" smtClean="0">
                <a:latin typeface="微软雅黑" pitchFamily="34" charset="-122"/>
                <a:ea typeface="微软雅黑" pitchFamily="34" charset="-122"/>
              </a:rPr>
              <a:t>是提供所负责</a:t>
            </a:r>
            <a:r>
              <a:rPr lang="zh-CN" altLang="en-US" sz="2000" b="1" dirty="0">
                <a:latin typeface="微软雅黑" pitchFamily="34" charset="-122"/>
                <a:ea typeface="微软雅黑" pitchFamily="34" charset="-122"/>
              </a:rPr>
              <a:t>的特定域名</a:t>
            </a:r>
            <a:r>
              <a:rPr lang="zh-CN" altLang="en-US" sz="2000" b="1" dirty="0" smtClean="0">
                <a:latin typeface="微软雅黑" pitchFamily="34" charset="-122"/>
                <a:ea typeface="微软雅黑" pitchFamily="34" charset="-122"/>
              </a:rPr>
              <a:t>区域</a:t>
            </a:r>
            <a:r>
              <a:rPr lang="zh-CN" altLang="en-US" sz="2000" b="1" dirty="0" smtClean="0">
                <a:solidFill>
                  <a:srgbClr val="C00000"/>
                </a:solidFill>
                <a:latin typeface="微软雅黑" pitchFamily="34" charset="-122"/>
                <a:ea typeface="微软雅黑" pitchFamily="34" charset="-122"/>
              </a:rPr>
              <a:t>最终</a:t>
            </a:r>
            <a:r>
              <a:rPr lang="zh-CN" altLang="en-US" sz="2000" b="1" dirty="0">
                <a:solidFill>
                  <a:srgbClr val="C00000"/>
                </a:solidFill>
                <a:latin typeface="微软雅黑" pitchFamily="34" charset="-122"/>
                <a:ea typeface="微软雅黑" pitchFamily="34" charset="-122"/>
              </a:rPr>
              <a:t>的</a:t>
            </a:r>
            <a:r>
              <a:rPr lang="en-US" altLang="zh-CN" sz="2000" b="1" dirty="0">
                <a:solidFill>
                  <a:srgbClr val="C00000"/>
                </a:solidFill>
                <a:latin typeface="微软雅黑" pitchFamily="34" charset="-122"/>
                <a:ea typeface="微软雅黑" pitchFamily="34" charset="-122"/>
              </a:rPr>
              <a:t>DNS</a:t>
            </a:r>
            <a:r>
              <a:rPr lang="zh-CN" altLang="en-US" sz="2000" b="1" dirty="0">
                <a:solidFill>
                  <a:srgbClr val="C00000"/>
                </a:solidFill>
                <a:latin typeface="微软雅黑" pitchFamily="34" charset="-122"/>
                <a:ea typeface="微软雅黑" pitchFamily="34" charset="-122"/>
              </a:rPr>
              <a:t>记录查询和管理服务</a:t>
            </a:r>
            <a:r>
              <a:rPr lang="zh-CN" altLang="en-US" sz="2000" b="1" dirty="0">
                <a:latin typeface="微软雅黑" pitchFamily="34" charset="-122"/>
                <a:ea typeface="微软雅黑" pitchFamily="34" charset="-122"/>
              </a:rPr>
              <a:t>。</a:t>
            </a:r>
          </a:p>
          <a:p>
            <a:pPr marL="285750" indent="-285750" hangingPunct="0">
              <a:lnSpc>
                <a:spcPts val="35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20673385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543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436648" y="582222"/>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4. </a:t>
            </a:r>
            <a:r>
              <a:rPr lang="zh-CN" altLang="en-US" sz="2000" b="1" dirty="0" smtClean="0">
                <a:solidFill>
                  <a:schemeClr val="bg1"/>
                </a:solidFill>
                <a:latin typeface="微软雅黑" pitchFamily="34" charset="-122"/>
                <a:ea typeface="微软雅黑" pitchFamily="34" charset="-122"/>
              </a:rPr>
              <a:t>本地</a:t>
            </a:r>
            <a:r>
              <a:rPr lang="zh-CN" altLang="en-US" sz="2000" b="1" dirty="0">
                <a:solidFill>
                  <a:schemeClr val="bg1"/>
                </a:solidFill>
                <a:latin typeface="微软雅黑" pitchFamily="34" charset="-122"/>
                <a:ea typeface="微软雅黑" pitchFamily="34" charset="-122"/>
              </a:rPr>
              <a:t>域名</a:t>
            </a:r>
            <a:r>
              <a:rPr lang="zh-CN" altLang="en-US" sz="2000" b="1" dirty="0" smtClean="0">
                <a:solidFill>
                  <a:schemeClr val="bg1"/>
                </a:solidFill>
                <a:latin typeface="微软雅黑" pitchFamily="34" charset="-122"/>
                <a:ea typeface="微软雅黑" pitchFamily="34" charset="-122"/>
              </a:rPr>
              <a:t>服务器</a:t>
            </a:r>
          </a:p>
        </p:txBody>
      </p:sp>
      <p:sp>
        <p:nvSpPr>
          <p:cNvPr id="10" name="Rectangle 68"/>
          <p:cNvSpPr>
            <a:spLocks noChangeArrowheads="1"/>
          </p:cNvSpPr>
          <p:nvPr/>
        </p:nvSpPr>
        <p:spPr bwMode="auto">
          <a:xfrm>
            <a:off x="556963" y="972048"/>
            <a:ext cx="8048776" cy="37856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本地域名</a:t>
            </a:r>
            <a:r>
              <a:rPr lang="zh-CN" altLang="en-US" sz="2000" b="1" dirty="0" smtClean="0">
                <a:latin typeface="微软雅黑" pitchFamily="34" charset="-122"/>
                <a:ea typeface="微软雅黑" pitchFamily="34" charset="-122"/>
              </a:rPr>
              <a:t>服务器是用户</a:t>
            </a:r>
            <a:r>
              <a:rPr lang="zh-CN" altLang="en-US" sz="2000" b="1" dirty="0">
                <a:latin typeface="微软雅黑" pitchFamily="34" charset="-122"/>
                <a:ea typeface="微软雅黑" pitchFamily="34" charset="-122"/>
              </a:rPr>
              <a:t>进行域名解析的</a:t>
            </a:r>
            <a:r>
              <a:rPr lang="zh-CN" altLang="en-US" sz="2000" b="1" dirty="0" smtClean="0">
                <a:latin typeface="微软雅黑" pitchFamily="34" charset="-122"/>
                <a:ea typeface="微软雅黑" pitchFamily="34" charset="-122"/>
              </a:rPr>
              <a:t>“第一站”，</a:t>
            </a:r>
            <a:r>
              <a:rPr lang="zh-CN" altLang="en-US" sz="2000" b="1" dirty="0" smtClean="0">
                <a:solidFill>
                  <a:srgbClr val="C00000"/>
                </a:solidFill>
                <a:latin typeface="微软雅黑" pitchFamily="34" charset="-122"/>
                <a:ea typeface="微软雅黑" pitchFamily="34" charset="-122"/>
              </a:rPr>
              <a:t>非常</a:t>
            </a:r>
            <a:r>
              <a:rPr lang="zh-CN" altLang="en-US" sz="2000" b="1" dirty="0">
                <a:solidFill>
                  <a:srgbClr val="C00000"/>
                </a:solidFill>
                <a:latin typeface="微软雅黑" pitchFamily="34" charset="-122"/>
                <a:ea typeface="微软雅黑" pitchFamily="34" charset="-122"/>
              </a:rPr>
              <a:t>重要。</a:t>
            </a:r>
          </a:p>
          <a:p>
            <a:pPr marL="285750" indent="-28575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通常</a:t>
            </a:r>
            <a:r>
              <a:rPr lang="zh-CN" altLang="en-US" sz="2000" b="1" dirty="0">
                <a:latin typeface="微软雅黑" pitchFamily="34" charset="-122"/>
                <a:ea typeface="微软雅黑" pitchFamily="34" charset="-122"/>
              </a:rPr>
              <a:t>由</a:t>
            </a:r>
            <a:r>
              <a:rPr lang="en-US" altLang="zh-CN" sz="2000" b="1" dirty="0">
                <a:latin typeface="微软雅黑" pitchFamily="34" charset="-122"/>
                <a:ea typeface="微软雅黑" pitchFamily="34" charset="-122"/>
              </a:rPr>
              <a:t>ISP</a:t>
            </a:r>
            <a:r>
              <a:rPr lang="zh-CN" altLang="en-US" sz="2000" b="1" dirty="0">
                <a:latin typeface="微软雅黑" pitchFamily="34" charset="-122"/>
                <a:ea typeface="微软雅黑" pitchFamily="34" charset="-122"/>
              </a:rPr>
              <a:t>提供</a:t>
            </a:r>
            <a:r>
              <a:rPr lang="zh-CN" altLang="en-US" sz="2000" b="1" dirty="0" smtClean="0">
                <a:latin typeface="微软雅黑" pitchFamily="34" charset="-122"/>
                <a:ea typeface="微软雅黑" pitchFamily="34" charset="-122"/>
              </a:rPr>
              <a:t>，也可以在局域网</a:t>
            </a:r>
            <a:r>
              <a:rPr lang="zh-CN" altLang="en-US" sz="2000" b="1" dirty="0">
                <a:latin typeface="微软雅黑" pitchFamily="34" charset="-122"/>
                <a:ea typeface="微软雅黑" pitchFamily="34" charset="-122"/>
              </a:rPr>
              <a:t>内自行</a:t>
            </a:r>
            <a:r>
              <a:rPr lang="zh-CN" altLang="en-US" sz="2000" b="1" dirty="0" smtClean="0">
                <a:latin typeface="微软雅黑" pitchFamily="34" charset="-122"/>
                <a:ea typeface="微软雅黑" pitchFamily="34" charset="-122"/>
              </a:rPr>
              <a:t>设置。</a:t>
            </a:r>
            <a:endParaRPr lang="en-US" altLang="zh-CN" sz="2000" b="1" dirty="0" smtClean="0">
              <a:latin typeface="微软雅黑" pitchFamily="34" charset="-122"/>
              <a:ea typeface="微软雅黑" pitchFamily="34" charset="-122"/>
            </a:endParaRPr>
          </a:p>
          <a:p>
            <a:pPr marL="742950" lvl="1" indent="-285750" hangingPunct="0">
              <a:lnSpc>
                <a:spcPts val="3200"/>
              </a:lnSpc>
              <a:buClr>
                <a:srgbClr val="0070C0"/>
              </a:buClr>
              <a:buFont typeface="Wingdings" pitchFamily="2" charset="2"/>
              <a:buChar char="l"/>
            </a:pPr>
            <a:r>
              <a:rPr lang="zh-CN" altLang="en-US" b="1" dirty="0">
                <a:latin typeface="微软雅黑" pitchFamily="34" charset="-122"/>
                <a:ea typeface="微软雅黑" pitchFamily="34" charset="-122"/>
              </a:rPr>
              <a:t>家用路由器通常也</a:t>
            </a:r>
            <a:r>
              <a:rPr lang="zh-CN" altLang="en-US" b="1" dirty="0" smtClean="0">
                <a:latin typeface="微软雅黑" pitchFamily="34" charset="-122"/>
                <a:ea typeface="微软雅黑" pitchFamily="34" charset="-122"/>
              </a:rPr>
              <a:t>充当家庭网络的本地</a:t>
            </a:r>
            <a:r>
              <a:rPr lang="zh-CN" altLang="en-US" b="1" dirty="0">
                <a:latin typeface="微软雅黑" pitchFamily="34" charset="-122"/>
                <a:ea typeface="微软雅黑" pitchFamily="34" charset="-122"/>
              </a:rPr>
              <a:t>域名</a:t>
            </a:r>
            <a:r>
              <a:rPr lang="zh-CN" altLang="en-US" b="1" dirty="0" smtClean="0">
                <a:latin typeface="微软雅黑" pitchFamily="34" charset="-122"/>
                <a:ea typeface="微软雅黑" pitchFamily="34" charset="-122"/>
              </a:rPr>
              <a:t>服务器。</a:t>
            </a:r>
            <a:endParaRPr lang="en-US" altLang="zh-CN" b="1" dirty="0" smtClean="0">
              <a:latin typeface="微软雅黑" pitchFamily="34" charset="-122"/>
              <a:ea typeface="微软雅黑" pitchFamily="34" charset="-122"/>
            </a:endParaRPr>
          </a:p>
          <a:p>
            <a:pPr marL="285750" indent="-28575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当</a:t>
            </a:r>
            <a:r>
              <a:rPr lang="zh-CN" altLang="en-US" sz="2000" b="1" dirty="0">
                <a:latin typeface="微软雅黑" pitchFamily="34" charset="-122"/>
                <a:ea typeface="微软雅黑" pitchFamily="34" charset="-122"/>
              </a:rPr>
              <a:t>一个主机发出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查询请求时</a:t>
            </a:r>
            <a:r>
              <a:rPr lang="zh-CN" altLang="en-US" sz="2000" b="1" dirty="0" smtClean="0">
                <a:latin typeface="微软雅黑" pitchFamily="34" charset="-122"/>
                <a:ea typeface="微软雅黑" pitchFamily="34" charset="-122"/>
              </a:rPr>
              <a:t>，该查询</a:t>
            </a:r>
            <a:r>
              <a:rPr lang="zh-CN" altLang="en-US" sz="2000" b="1" dirty="0">
                <a:latin typeface="微软雅黑" pitchFamily="34" charset="-122"/>
                <a:ea typeface="微软雅黑" pitchFamily="34" charset="-122"/>
              </a:rPr>
              <a:t>请求报文</a:t>
            </a:r>
            <a:r>
              <a:rPr lang="zh-CN" altLang="en-US" sz="2000" b="1" dirty="0" smtClean="0">
                <a:latin typeface="微软雅黑" pitchFamily="34" charset="-122"/>
                <a:ea typeface="微软雅黑" pitchFamily="34" charset="-122"/>
              </a:rPr>
              <a:t>就首先</a:t>
            </a:r>
            <a:r>
              <a:rPr lang="zh-CN" altLang="en-US" sz="2000" b="1" dirty="0" smtClean="0">
                <a:solidFill>
                  <a:srgbClr val="C00000"/>
                </a:solidFill>
                <a:latin typeface="微软雅黑" pitchFamily="34" charset="-122"/>
                <a:ea typeface="微软雅黑" pitchFamily="34" charset="-122"/>
              </a:rPr>
              <a:t>发送</a:t>
            </a:r>
            <a:r>
              <a:rPr lang="zh-CN" altLang="en-US" sz="2000" b="1" dirty="0" smtClean="0">
                <a:latin typeface="微软雅黑" pitchFamily="34" charset="-122"/>
                <a:ea typeface="微软雅黑" pitchFamily="34" charset="-122"/>
              </a:rPr>
              <a:t>给该主机的本地</a:t>
            </a:r>
            <a:r>
              <a:rPr lang="zh-CN" altLang="en-US" sz="2000" b="1" dirty="0">
                <a:latin typeface="微软雅黑" pitchFamily="34" charset="-122"/>
                <a:ea typeface="微软雅黑" pitchFamily="34" charset="-122"/>
              </a:rPr>
              <a:t>域名服务器。</a:t>
            </a:r>
          </a:p>
          <a:p>
            <a:pPr marL="285750" indent="-28575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本地域名服务器有一个</a:t>
            </a:r>
            <a:r>
              <a:rPr lang="zh-CN" altLang="en-US" sz="2000" b="1" dirty="0">
                <a:solidFill>
                  <a:srgbClr val="C00000"/>
                </a:solidFill>
                <a:latin typeface="微软雅黑" pitchFamily="34" charset="-122"/>
                <a:ea typeface="微软雅黑" pitchFamily="34" charset="-122"/>
              </a:rPr>
              <a:t>高速缓存</a:t>
            </a:r>
            <a:r>
              <a:rPr lang="zh-CN" altLang="en-US" sz="2000" b="1" dirty="0">
                <a:latin typeface="微软雅黑" pitchFamily="34" charset="-122"/>
                <a:ea typeface="微软雅黑" pitchFamily="34" charset="-122"/>
              </a:rPr>
              <a:t>，里面存放有主机最近进行的</a:t>
            </a:r>
            <a:r>
              <a:rPr lang="en-US" altLang="zh-CN" sz="2000" b="1" dirty="0">
                <a:latin typeface="微软雅黑" pitchFamily="34" charset="-122"/>
                <a:ea typeface="微软雅黑" pitchFamily="34" charset="-122"/>
              </a:rPr>
              <a:t>DNS</a:t>
            </a:r>
            <a:r>
              <a:rPr lang="zh-CN" altLang="en-US" sz="2000" b="1" dirty="0">
                <a:latin typeface="微软雅黑" pitchFamily="34" charset="-122"/>
                <a:ea typeface="微软雅黑" pitchFamily="34" charset="-122"/>
              </a:rPr>
              <a:t>查询</a:t>
            </a:r>
            <a:r>
              <a:rPr lang="zh-CN" altLang="en-US" sz="2000" b="1" dirty="0" smtClean="0">
                <a:latin typeface="微软雅黑" pitchFamily="34" charset="-122"/>
                <a:ea typeface="微软雅黑" pitchFamily="34" charset="-122"/>
              </a:rPr>
              <a:t>结果。</a:t>
            </a:r>
            <a:endParaRPr lang="en-US" altLang="zh-CN" sz="2000" b="1" dirty="0" smtClean="0">
              <a:latin typeface="微软雅黑" pitchFamily="34" charset="-122"/>
              <a:ea typeface="微软雅黑" pitchFamily="34" charset="-122"/>
            </a:endParaRPr>
          </a:p>
          <a:p>
            <a:pPr marL="742950" lvl="1" indent="-28575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缓存中有查询结果，直接返回。</a:t>
            </a:r>
            <a:endParaRPr lang="en-US" altLang="zh-CN" sz="2000" b="1" dirty="0" smtClean="0">
              <a:latin typeface="微软雅黑" pitchFamily="34" charset="-122"/>
              <a:ea typeface="微软雅黑" pitchFamily="34" charset="-122"/>
            </a:endParaRPr>
          </a:p>
          <a:p>
            <a:pPr marL="742950" lvl="1" indent="-28575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否则，全权代表该</a:t>
            </a:r>
            <a:r>
              <a:rPr lang="zh-CN" altLang="en-US" sz="2000" b="1" dirty="0" smtClean="0">
                <a:latin typeface="微软雅黑" pitchFamily="34" charset="-122"/>
                <a:ea typeface="微软雅黑" pitchFamily="34" charset="-122"/>
              </a:rPr>
              <a:t>主机</a:t>
            </a:r>
            <a:r>
              <a:rPr lang="zh-CN" altLang="en-US" sz="2000" b="1" dirty="0">
                <a:solidFill>
                  <a:srgbClr val="C00000"/>
                </a:solidFill>
                <a:latin typeface="微软雅黑" pitchFamily="34" charset="-122"/>
                <a:ea typeface="微软雅黑" pitchFamily="34" charset="-122"/>
              </a:rPr>
              <a:t>向根域名服务器查询</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5810729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0">
                                            <p:txEl>
                                              <p:pRg st="2" end="2"/>
                                            </p:txEl>
                                          </p:spTgt>
                                        </p:tgtEl>
                                        <p:attrNameLst>
                                          <p:attrName>style.visibility</p:attrName>
                                        </p:attrNameLst>
                                      </p:cBhvr>
                                      <p:to>
                                        <p:strVal val="visible"/>
                                      </p:to>
                                    </p:set>
                                    <p:animEffect transition="in" filter="fade">
                                      <p:cBhvr>
                                        <p:cTn id="10" dur="500"/>
                                        <p:tgtEl>
                                          <p:spTgt spid="10">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xEl>
                                              <p:pRg st="3" end="3"/>
                                            </p:txEl>
                                          </p:spTgt>
                                        </p:tgtEl>
                                        <p:attrNameLst>
                                          <p:attrName>style.visibility</p:attrName>
                                        </p:attrNameLst>
                                      </p:cBhvr>
                                      <p:to>
                                        <p:strVal val="visible"/>
                                      </p:to>
                                    </p:set>
                                    <p:animEffect transition="in" filter="fade">
                                      <p:cBhvr>
                                        <p:cTn id="15" dur="500"/>
                                        <p:tgtEl>
                                          <p:spTgt spid="10">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0">
                                            <p:txEl>
                                              <p:pRg st="4" end="4"/>
                                            </p:txEl>
                                          </p:spTgt>
                                        </p:tgtEl>
                                        <p:attrNameLst>
                                          <p:attrName>style.visibility</p:attrName>
                                        </p:attrNameLst>
                                      </p:cBhvr>
                                      <p:to>
                                        <p:strVal val="visible"/>
                                      </p:to>
                                    </p:set>
                                    <p:animEffect transition="in" filter="fade">
                                      <p:cBhvr>
                                        <p:cTn id="20" dur="500"/>
                                        <p:tgtEl>
                                          <p:spTgt spid="10">
                                            <p:txEl>
                                              <p:pRg st="4" end="4"/>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xEl>
                                              <p:pRg st="5" end="5"/>
                                            </p:txEl>
                                          </p:spTgt>
                                        </p:tgtEl>
                                        <p:attrNameLst>
                                          <p:attrName>style.visibility</p:attrName>
                                        </p:attrNameLst>
                                      </p:cBhvr>
                                      <p:to>
                                        <p:strVal val="visible"/>
                                      </p:to>
                                    </p:set>
                                    <p:animEffect transition="in" filter="fade">
                                      <p:cBhvr>
                                        <p:cTn id="23" dur="500"/>
                                        <p:tgtEl>
                                          <p:spTgt spid="10">
                                            <p:txEl>
                                              <p:pRg st="5" end="5"/>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0">
                                            <p:txEl>
                                              <p:pRg st="6" end="6"/>
                                            </p:txEl>
                                          </p:spTgt>
                                        </p:tgtEl>
                                        <p:attrNameLst>
                                          <p:attrName>style.visibility</p:attrName>
                                        </p:attrNameLst>
                                      </p:cBhvr>
                                      <p:to>
                                        <p:strVal val="visible"/>
                                      </p:to>
                                    </p:set>
                                    <p:animEffect transition="in" filter="fade">
                                      <p:cBhvr>
                                        <p:cTn id="26" dur="500"/>
                                        <p:tgtEl>
                                          <p:spTgt spid="10">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549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 name="Rectangle 6"/>
          <p:cNvSpPr>
            <a:spLocks noChangeArrowheads="1"/>
          </p:cNvSpPr>
          <p:nvPr/>
        </p:nvSpPr>
        <p:spPr bwMode="auto">
          <a:xfrm>
            <a:off x="3078377" y="582285"/>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提高域名服务器的可靠性</a:t>
            </a:r>
            <a:endParaRPr lang="zh-CN" altLang="en-US" sz="2000" b="1" dirty="0" smtClean="0">
              <a:solidFill>
                <a:schemeClr val="bg1"/>
              </a:solidFill>
              <a:latin typeface="微软雅黑" pitchFamily="34" charset="-122"/>
              <a:ea typeface="微软雅黑" pitchFamily="34" charset="-122"/>
            </a:endParaRPr>
          </a:p>
        </p:txBody>
      </p:sp>
      <p:sp>
        <p:nvSpPr>
          <p:cNvPr id="8" name="Rectangle 68"/>
          <p:cNvSpPr>
            <a:spLocks noChangeArrowheads="1"/>
          </p:cNvSpPr>
          <p:nvPr/>
        </p:nvSpPr>
        <p:spPr bwMode="auto">
          <a:xfrm>
            <a:off x="556963" y="96323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域名服务器都把数据复制到几个域名服务器来保存，其中的一个是</a:t>
            </a:r>
            <a:r>
              <a:rPr lang="zh-CN" altLang="en-US" sz="2000" b="1" dirty="0">
                <a:solidFill>
                  <a:srgbClr val="C00000"/>
                </a:solidFill>
                <a:latin typeface="微软雅黑" pitchFamily="34" charset="-122"/>
                <a:ea typeface="微软雅黑" pitchFamily="34" charset="-122"/>
              </a:rPr>
              <a:t>主域名服务器，</a:t>
            </a:r>
            <a:r>
              <a:rPr lang="zh-CN" altLang="en-US" sz="2000" b="1" dirty="0">
                <a:latin typeface="微软雅黑" pitchFamily="34" charset="-122"/>
                <a:ea typeface="微软雅黑" pitchFamily="34" charset="-122"/>
              </a:rPr>
              <a:t>其他的是</a:t>
            </a:r>
            <a:r>
              <a:rPr lang="zh-CN" altLang="en-US" sz="2000" b="1" dirty="0">
                <a:solidFill>
                  <a:srgbClr val="C00000"/>
                </a:solidFill>
                <a:latin typeface="微软雅黑" pitchFamily="34" charset="-122"/>
                <a:ea typeface="微软雅黑" pitchFamily="34" charset="-122"/>
              </a:rPr>
              <a:t>辅助域名服务器。</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当主域名服务器出故障时，辅助域名服务器可以保证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的查询工作不会中断。</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主域名服务器</a:t>
            </a:r>
            <a:r>
              <a:rPr lang="zh-CN" altLang="en-US" sz="2000" b="1" dirty="0">
                <a:solidFill>
                  <a:srgbClr val="C00000"/>
                </a:solidFill>
                <a:latin typeface="微软雅黑" pitchFamily="34" charset="-122"/>
                <a:ea typeface="微软雅黑" pitchFamily="34" charset="-122"/>
              </a:rPr>
              <a:t>定期</a:t>
            </a:r>
            <a:r>
              <a:rPr lang="zh-CN" altLang="en-US" sz="2000" b="1" dirty="0">
                <a:latin typeface="微软雅黑" pitchFamily="34" charset="-122"/>
                <a:ea typeface="微软雅黑" pitchFamily="34" charset="-122"/>
              </a:rPr>
              <a:t>把数据复制到辅助域名服务器中，而</a:t>
            </a:r>
            <a:r>
              <a:rPr lang="zh-CN" altLang="en-US" sz="2000" b="1" dirty="0">
                <a:solidFill>
                  <a:srgbClr val="C00000"/>
                </a:solidFill>
                <a:latin typeface="微软雅黑" pitchFamily="34" charset="-122"/>
                <a:ea typeface="微软雅黑" pitchFamily="34" charset="-122"/>
              </a:rPr>
              <a:t>更改</a:t>
            </a:r>
            <a:r>
              <a:rPr lang="zh-CN" altLang="en-US" sz="2000" b="1" dirty="0">
                <a:latin typeface="微软雅黑" pitchFamily="34" charset="-122"/>
                <a:ea typeface="微软雅黑" pitchFamily="34" charset="-122"/>
              </a:rPr>
              <a:t>数据</a:t>
            </a:r>
            <a:r>
              <a:rPr lang="zh-CN" altLang="en-US" sz="2000" b="1" dirty="0">
                <a:solidFill>
                  <a:srgbClr val="C00000"/>
                </a:solidFill>
                <a:latin typeface="微软雅黑" pitchFamily="34" charset="-122"/>
                <a:ea typeface="微软雅黑" pitchFamily="34" charset="-122"/>
              </a:rPr>
              <a:t>只能</a:t>
            </a:r>
            <a:r>
              <a:rPr lang="zh-CN" altLang="en-US" sz="2000" b="1" dirty="0">
                <a:latin typeface="微软雅黑" pitchFamily="34" charset="-122"/>
                <a:ea typeface="微软雅黑" pitchFamily="34" charset="-122"/>
              </a:rPr>
              <a:t>在主域名服务器中</a:t>
            </a:r>
            <a:r>
              <a:rPr lang="zh-CN" altLang="en-US" sz="2000" b="1" dirty="0" smtClean="0">
                <a:latin typeface="微软雅黑" pitchFamily="34" charset="-122"/>
                <a:ea typeface="微软雅黑" pitchFamily="34" charset="-122"/>
              </a:rPr>
              <a:t>进行</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保证</a:t>
            </a:r>
            <a:r>
              <a:rPr lang="zh-CN" altLang="en-US" sz="2000" b="1" dirty="0">
                <a:latin typeface="微软雅黑" pitchFamily="34" charset="-122"/>
                <a:ea typeface="微软雅黑" pitchFamily="34" charset="-122"/>
              </a:rPr>
              <a:t>了数据的一致性</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6844831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778"/>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591338" y="583567"/>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域名的解析</a:t>
            </a:r>
            <a:r>
              <a:rPr lang="zh-CN" altLang="en-US" sz="2000" b="1" dirty="0" smtClean="0">
                <a:solidFill>
                  <a:schemeClr val="bg1"/>
                </a:solidFill>
                <a:latin typeface="微软雅黑" pitchFamily="34" charset="-122"/>
                <a:ea typeface="微软雅黑" pitchFamily="34" charset="-122"/>
              </a:rPr>
              <a:t>过程</a:t>
            </a:r>
          </a:p>
        </p:txBody>
      </p:sp>
      <p:graphicFrame>
        <p:nvGraphicFramePr>
          <p:cNvPr id="2" name="图示 1"/>
          <p:cNvGraphicFramePr/>
          <p:nvPr>
            <p:extLst/>
          </p:nvPr>
        </p:nvGraphicFramePr>
        <p:xfrm>
          <a:off x="1417466" y="1201058"/>
          <a:ext cx="6474781" cy="28426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021763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0" name="Rectangle 6"/>
          <p:cNvSpPr>
            <a:spLocks noChangeArrowheads="1"/>
          </p:cNvSpPr>
          <p:nvPr/>
        </p:nvSpPr>
        <p:spPr bwMode="auto">
          <a:xfrm>
            <a:off x="3649848" y="582898"/>
            <a:ext cx="18630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DNS </a:t>
            </a:r>
            <a:r>
              <a:rPr lang="zh-CN" altLang="en-US" sz="2000" b="1" dirty="0" smtClean="0">
                <a:solidFill>
                  <a:schemeClr val="bg1"/>
                </a:solidFill>
                <a:latin typeface="微软雅黑" pitchFamily="34" charset="-122"/>
                <a:ea typeface="微软雅黑" pitchFamily="34" charset="-122"/>
              </a:rPr>
              <a:t>查询</a:t>
            </a:r>
            <a:r>
              <a:rPr lang="zh-CN" altLang="en-US" sz="2000" b="1" dirty="0">
                <a:solidFill>
                  <a:schemeClr val="bg1"/>
                </a:solidFill>
                <a:latin typeface="微软雅黑" pitchFamily="34" charset="-122"/>
                <a:ea typeface="微软雅黑" pitchFamily="34" charset="-122"/>
              </a:rPr>
              <a:t>过程</a:t>
            </a:r>
            <a:endParaRPr lang="zh-CN" altLang="en-US" sz="2000" b="1" dirty="0" smtClean="0">
              <a:solidFill>
                <a:schemeClr val="bg1"/>
              </a:solidFill>
              <a:latin typeface="微软雅黑" pitchFamily="34" charset="-122"/>
              <a:ea typeface="微软雅黑"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00FF"/>
                </a:solidFill>
                <a:latin typeface="微软雅黑" pitchFamily="34" charset="-122"/>
                <a:ea typeface="微软雅黑" pitchFamily="34" charset="-122"/>
              </a:rPr>
              <a:t>顶级域名服务器</a:t>
            </a:r>
          </a:p>
          <a:p>
            <a:pPr algn="ctr" eaLnBrk="1" hangingPunct="1"/>
            <a:r>
              <a:rPr kumimoji="1" lang="en-US" altLang="zh-CN" sz="1400" b="1" dirty="0">
                <a:solidFill>
                  <a:srgbClr val="9900FF"/>
                </a:solidFill>
                <a:latin typeface="微软雅黑" pitchFamily="34" charset="-122"/>
                <a:ea typeface="微软雅黑" pitchFamily="34" charset="-122"/>
              </a:rPr>
              <a:t>dns.com</a:t>
            </a: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rgbClr val="993300"/>
                </a:solidFill>
                <a:latin typeface="微软雅黑" pitchFamily="34" charset="-122"/>
                <a:ea typeface="微软雅黑" pitchFamily="34" charset="-122"/>
              </a:rPr>
              <a:t>权威</a:t>
            </a:r>
            <a:r>
              <a:rPr kumimoji="1" lang="zh-CN" altLang="zh-CN" sz="1400" b="1" dirty="0" smtClean="0">
                <a:solidFill>
                  <a:srgbClr val="993300"/>
                </a:solidFill>
                <a:latin typeface="微软雅黑" pitchFamily="34" charset="-122"/>
                <a:ea typeface="微软雅黑" pitchFamily="34" charset="-122"/>
              </a:rPr>
              <a:t>域名服务</a:t>
            </a:r>
            <a:r>
              <a:rPr kumimoji="1" lang="zh-CN" altLang="en-US" sz="1400" b="1" dirty="0" smtClean="0">
                <a:solidFill>
                  <a:srgbClr val="993300"/>
                </a:solidFill>
                <a:latin typeface="微软雅黑" pitchFamily="34" charset="-122"/>
                <a:ea typeface="微软雅黑" pitchFamily="34" charset="-122"/>
              </a:rPr>
              <a:t>器</a:t>
            </a:r>
            <a:r>
              <a:rPr kumimoji="1" lang="en-US" altLang="zh-CN" sz="1400" b="1" dirty="0" smtClean="0">
                <a:solidFill>
                  <a:srgbClr val="993300"/>
                </a:solidFill>
                <a:latin typeface="微软雅黑" pitchFamily="34" charset="-122"/>
                <a:ea typeface="微软雅黑" pitchFamily="34" charset="-122"/>
              </a:rPr>
              <a:t>dns.abc.com</a:t>
            </a:r>
            <a:endParaRPr kumimoji="1" lang="en-US" altLang="zh-CN" sz="1400" b="1" dirty="0">
              <a:solidFill>
                <a:srgbClr val="993300"/>
              </a:solidFill>
              <a:latin typeface="微软雅黑" pitchFamily="34" charset="-122"/>
              <a:ea typeface="微软雅黑" pitchFamily="34" charset="-122"/>
            </a:endParaRP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0000FF"/>
                </a:solidFill>
                <a:latin typeface="微软雅黑" pitchFamily="34" charset="-122"/>
                <a:ea typeface="微软雅黑" pitchFamily="34" charset="-122"/>
              </a:rPr>
              <a:t>本地域名服务器</a:t>
            </a:r>
          </a:p>
          <a:p>
            <a:pPr algn="ctr" eaLnBrk="1" hangingPunct="1"/>
            <a:r>
              <a:rPr kumimoji="1" lang="en-US" altLang="zh-CN" sz="1400" b="1" dirty="0">
                <a:solidFill>
                  <a:srgbClr val="0000FF"/>
                </a:solidFill>
                <a:latin typeface="微软雅黑" pitchFamily="34" charset="-122"/>
                <a:ea typeface="微软雅黑" pitchFamily="34" charset="-122"/>
              </a:rPr>
              <a:t>dns.xyz.com</a:t>
            </a: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C00000"/>
                </a:solidFill>
                <a:latin typeface="微软雅黑" pitchFamily="34" charset="-122"/>
                <a:ea typeface="微软雅黑" pitchFamily="34" charset="-122"/>
              </a:rPr>
              <a:t>根域名服务器</a:t>
            </a:r>
          </a:p>
        </p:txBody>
      </p:sp>
      <p:grpSp>
        <p:nvGrpSpPr>
          <p:cNvPr id="19" name="Group 40"/>
          <p:cNvGrpSpPr>
            <a:grpSpLocks/>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2" name="Group 41"/>
          <p:cNvGrpSpPr>
            <a:grpSpLocks/>
          </p:cNvGrpSpPr>
          <p:nvPr/>
        </p:nvGrpSpPr>
        <p:grpSpPr bwMode="auto">
          <a:xfrm>
            <a:off x="3762814" y="1733885"/>
            <a:ext cx="367662" cy="680813"/>
            <a:chOff x="2035" y="1831"/>
            <a:chExt cx="331" cy="664"/>
          </a:xfrm>
        </p:grpSpPr>
        <p:sp>
          <p:nvSpPr>
            <p:cNvPr id="23" name="Text Box 19"/>
            <p:cNvSpPr txBox="1">
              <a:spLocks noChangeArrowheads="1"/>
            </p:cNvSpPr>
            <p:nvPr/>
          </p:nvSpPr>
          <p:spPr bwMode="auto">
            <a:xfrm flipH="1">
              <a:off x="2035"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5" name="Group 42"/>
          <p:cNvGrpSpPr>
            <a:grpSpLocks/>
          </p:cNvGrpSpPr>
          <p:nvPr/>
        </p:nvGrpSpPr>
        <p:grpSpPr bwMode="auto">
          <a:xfrm>
            <a:off x="3886112" y="1743115"/>
            <a:ext cx="1224062" cy="718750"/>
            <a:chOff x="2146" y="1840"/>
            <a:chExt cx="1102" cy="701"/>
          </a:xfrm>
        </p:grpSpPr>
        <p:sp>
          <p:nvSpPr>
            <p:cNvPr id="26" name="Text Box 14"/>
            <p:cNvSpPr txBox="1">
              <a:spLocks noChangeArrowheads="1"/>
            </p:cNvSpPr>
            <p:nvPr/>
          </p:nvSpPr>
          <p:spPr bwMode="auto">
            <a:xfrm flipH="1">
              <a:off x="2146" y="2178"/>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7" name="Line 22"/>
            <p:cNvSpPr>
              <a:spLocks noChangeShapeType="1"/>
            </p:cNvSpPr>
            <p:nvPr/>
          </p:nvSpPr>
          <p:spPr bwMode="auto">
            <a:xfrm rot="10800000" flipH="1">
              <a:off x="2213" y="1840"/>
              <a:ext cx="1035" cy="701"/>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8" name="Group 43"/>
          <p:cNvGrpSpPr>
            <a:grpSpLocks/>
          </p:cNvGrpSpPr>
          <p:nvPr/>
        </p:nvGrpSpPr>
        <p:grpSpPr bwMode="auto">
          <a:xfrm>
            <a:off x="3983859" y="1733885"/>
            <a:ext cx="1417335" cy="819231"/>
            <a:chOff x="2234" y="1831"/>
            <a:chExt cx="1276" cy="799"/>
          </a:xfrm>
        </p:grpSpPr>
        <p:sp>
          <p:nvSpPr>
            <p:cNvPr id="29" name="Text Box 13"/>
            <p:cNvSpPr txBox="1">
              <a:spLocks noChangeArrowheads="1"/>
            </p:cNvSpPr>
            <p:nvPr/>
          </p:nvSpPr>
          <p:spPr bwMode="auto">
            <a:xfrm flipH="1">
              <a:off x="3179"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30" name="Line 23"/>
            <p:cNvSpPr>
              <a:spLocks noChangeShapeType="1"/>
            </p:cNvSpPr>
            <p:nvPr/>
          </p:nvSpPr>
          <p:spPr bwMode="auto">
            <a:xfrm flipH="1">
              <a:off x="2234" y="1870"/>
              <a:ext cx="1100" cy="76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2" name="Group 45"/>
          <p:cNvGrpSpPr>
            <a:grpSpLocks/>
          </p:cNvGrpSpPr>
          <p:nvPr/>
        </p:nvGrpSpPr>
        <p:grpSpPr bwMode="auto">
          <a:xfrm>
            <a:off x="3983859" y="2436240"/>
            <a:ext cx="1119651" cy="338357"/>
            <a:chOff x="2234" y="2516"/>
            <a:chExt cx="1008" cy="330"/>
          </a:xfrm>
        </p:grpSpPr>
        <p:sp>
          <p:nvSpPr>
            <p:cNvPr id="33" name="Text Box 25"/>
            <p:cNvSpPr txBox="1">
              <a:spLocks noChangeArrowheads="1"/>
            </p:cNvSpPr>
            <p:nvPr/>
          </p:nvSpPr>
          <p:spPr bwMode="auto">
            <a:xfrm flipH="1">
              <a:off x="2275" y="2516"/>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34" name="Line 27"/>
            <p:cNvSpPr>
              <a:spLocks noChangeShapeType="1"/>
            </p:cNvSpPr>
            <p:nvPr/>
          </p:nvSpPr>
          <p:spPr bwMode="auto">
            <a:xfrm rot="16200000" flipH="1">
              <a:off x="2738" y="2283"/>
              <a:ext cx="0" cy="100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5" name="Group 46"/>
          <p:cNvGrpSpPr>
            <a:grpSpLocks/>
          </p:cNvGrpSpPr>
          <p:nvPr/>
        </p:nvGrpSpPr>
        <p:grpSpPr bwMode="auto">
          <a:xfrm>
            <a:off x="3983856" y="2768446"/>
            <a:ext cx="1186296" cy="338357"/>
            <a:chOff x="2234" y="2840"/>
            <a:chExt cx="1068" cy="330"/>
          </a:xfrm>
        </p:grpSpPr>
        <p:sp>
          <p:nvSpPr>
            <p:cNvPr id="36" name="Line 28"/>
            <p:cNvSpPr>
              <a:spLocks noChangeShapeType="1"/>
            </p:cNvSpPr>
            <p:nvPr/>
          </p:nvSpPr>
          <p:spPr bwMode="auto">
            <a:xfrm rot="5400000">
              <a:off x="2738" y="2379"/>
              <a:ext cx="0" cy="100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9"/>
            <p:cNvSpPr txBox="1">
              <a:spLocks noChangeArrowheads="1"/>
            </p:cNvSpPr>
            <p:nvPr/>
          </p:nvSpPr>
          <p:spPr bwMode="auto">
            <a:xfrm flipH="1">
              <a:off x="2971" y="284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grpSp>
      <p:grpSp>
        <p:nvGrpSpPr>
          <p:cNvPr id="39" name="Group 49"/>
          <p:cNvGrpSpPr>
            <a:grpSpLocks/>
          </p:cNvGrpSpPr>
          <p:nvPr/>
        </p:nvGrpSpPr>
        <p:grpSpPr bwMode="auto">
          <a:xfrm>
            <a:off x="3782810" y="3031942"/>
            <a:ext cx="1856087" cy="653129"/>
            <a:chOff x="2053" y="3097"/>
            <a:chExt cx="1671" cy="637"/>
          </a:xfrm>
        </p:grpSpPr>
        <p:grpSp>
          <p:nvGrpSpPr>
            <p:cNvPr id="40" name="Group 48"/>
            <p:cNvGrpSpPr>
              <a:grpSpLocks/>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43" name="Group 47"/>
              <p:cNvGrpSpPr>
                <a:grpSpLocks/>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dirty="0">
                  <a:latin typeface="微软雅黑" pitchFamily="34" charset="-122"/>
                  <a:ea typeface="微软雅黑" pitchFamily="34" charset="-122"/>
                </a:rPr>
                <a:t> 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 </a:t>
              </a: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a:latin typeface="微软雅黑" pitchFamily="34" charset="-122"/>
                <a:ea typeface="微软雅黑" pitchFamily="34" charset="-122"/>
              </a:rPr>
              <a:t>m.xyz.com </a:t>
            </a: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递归查询</a:t>
            </a:r>
            <a:endParaRPr kumimoji="1" lang="zh-CN" altLang="en-US" sz="1200" b="1" dirty="0">
              <a:solidFill>
                <a:srgbClr val="FF0000"/>
              </a:solidFill>
              <a:latin typeface="微软雅黑" pitchFamily="34" charset="-122"/>
              <a:ea typeface="微软雅黑" pitchFamily="34" charset="-122"/>
            </a:endParaRPr>
          </a:p>
        </p:txBody>
      </p:sp>
      <p:grpSp>
        <p:nvGrpSpPr>
          <p:cNvPr id="49" name="Group 39"/>
          <p:cNvGrpSpPr>
            <a:grpSpLocks/>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latin typeface="微软雅黑" pitchFamily="34" charset="-122"/>
                <a:ea typeface="微软雅黑" pitchFamily="34" charset="-122"/>
              </a:rPr>
              <a:t>查询 </a:t>
            </a:r>
            <a:endParaRPr kumimoji="1" lang="en-US" altLang="zh-CN" sz="1200" b="1" dirty="0" smtClean="0">
              <a:latin typeface="微软雅黑" pitchFamily="34" charset="-122"/>
              <a:ea typeface="微软雅黑" pitchFamily="34" charset="-122"/>
            </a:endParaRPr>
          </a:p>
          <a:p>
            <a:pPr algn="ctr" eaLnBrk="1" hangingPunct="1"/>
            <a:r>
              <a:rPr kumimoji="1" lang="en-US" altLang="zh-CN" sz="1200" b="1" dirty="0" smtClean="0">
                <a:latin typeface="微软雅黑" pitchFamily="34" charset="-122"/>
                <a:ea typeface="微软雅黑" pitchFamily="34" charset="-122"/>
              </a:rPr>
              <a:t>y.abc.com </a:t>
            </a:r>
            <a:r>
              <a:rPr kumimoji="1" lang="zh-CN" altLang="en-US" sz="1200" b="1" dirty="0" smtClean="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pic>
        <p:nvPicPr>
          <p:cNvPr id="53" name="图片 5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smtClean="0">
                  <a:latin typeface="微软雅黑" pitchFamily="34" charset="-122"/>
                  <a:ea typeface="微软雅黑" pitchFamily="34" charset="-122"/>
                </a:rPr>
                <a:t>查询请求，域名</a:t>
              </a:r>
              <a:endParaRPr kumimoji="1" lang="zh-CN" altLang="en-US" sz="1200" b="1" dirty="0">
                <a:latin typeface="微软雅黑" pitchFamily="34" charset="-122"/>
                <a:ea typeface="微软雅黑"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smtClean="0">
                  <a:latin typeface="微软雅黑" pitchFamily="34" charset="-122"/>
                  <a:ea typeface="微软雅黑" pitchFamily="34" charset="-122"/>
                </a:rPr>
                <a:t>查询响应，</a:t>
              </a:r>
              <a:r>
                <a:rPr kumimoji="1" lang="en-US" altLang="zh-CN" sz="1200" b="1" dirty="0" smtClean="0">
                  <a:latin typeface="微软雅黑" pitchFamily="34" charset="-122"/>
                  <a:ea typeface="微软雅黑" pitchFamily="34" charset="-122"/>
                </a:rPr>
                <a:t>IP </a:t>
              </a:r>
              <a:r>
                <a:rPr kumimoji="1" lang="zh-CN" altLang="en-US" sz="1200" b="1" dirty="0" smtClean="0">
                  <a:latin typeface="微软雅黑" pitchFamily="34" charset="-122"/>
                  <a:ea typeface="微软雅黑" pitchFamily="34" charset="-122"/>
                </a:rPr>
                <a:t>地址</a:t>
              </a:r>
              <a:endParaRPr kumimoji="1" lang="zh-CN" altLang="en-US" sz="1200" b="1" dirty="0">
                <a:latin typeface="微软雅黑" pitchFamily="34" charset="-122"/>
                <a:ea typeface="微软雅黑" pitchFamily="34" charset="-122"/>
              </a:endParaRPr>
            </a:p>
          </p:txBody>
        </p:sp>
      </p:grpSp>
      <p:sp>
        <p:nvSpPr>
          <p:cNvPr id="62" name="Text Box 31"/>
          <p:cNvSpPr txBox="1">
            <a:spLocks noChangeArrowheads="1"/>
          </p:cNvSpPr>
          <p:nvPr/>
        </p:nvSpPr>
        <p:spPr bwMode="auto">
          <a:xfrm flipH="1">
            <a:off x="2889486" y="1887545"/>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迭代查询</a:t>
            </a:r>
            <a:endParaRPr kumimoji="1" lang="zh-CN" altLang="en-US" sz="1200" b="1" dirty="0">
              <a:solidFill>
                <a:srgbClr val="FF0000"/>
              </a:solidFill>
              <a:latin typeface="微软雅黑" pitchFamily="34" charset="-122"/>
              <a:ea typeface="微软雅黑" pitchFamily="34" charset="-122"/>
            </a:endParaRPr>
          </a:p>
        </p:txBody>
      </p:sp>
      <p:sp>
        <p:nvSpPr>
          <p:cNvPr id="63" name="Text Box 31"/>
          <p:cNvSpPr txBox="1">
            <a:spLocks noChangeArrowheads="1"/>
          </p:cNvSpPr>
          <p:nvPr/>
        </p:nvSpPr>
        <p:spPr bwMode="auto">
          <a:xfrm rot="19647745" flipH="1">
            <a:off x="4104513" y="1814982"/>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迭代查询</a:t>
            </a:r>
            <a:endParaRPr kumimoji="1" lang="zh-CN" altLang="en-US" sz="1200" b="1" dirty="0">
              <a:solidFill>
                <a:srgbClr val="FF0000"/>
              </a:solidFill>
              <a:latin typeface="微软雅黑" pitchFamily="34" charset="-122"/>
              <a:ea typeface="微软雅黑" pitchFamily="34" charset="-122"/>
            </a:endParaRPr>
          </a:p>
        </p:txBody>
      </p:sp>
      <p:sp>
        <p:nvSpPr>
          <p:cNvPr id="64" name="Text Box 31"/>
          <p:cNvSpPr txBox="1">
            <a:spLocks noChangeArrowheads="1"/>
          </p:cNvSpPr>
          <p:nvPr/>
        </p:nvSpPr>
        <p:spPr bwMode="auto">
          <a:xfrm flipH="1">
            <a:off x="4284044" y="2433070"/>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迭代查询</a:t>
            </a:r>
            <a:endParaRPr kumimoji="1" lang="zh-CN" altLang="en-US" sz="1200" b="1" dirty="0">
              <a:solidFill>
                <a:srgbClr val="FF000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887640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ipe(down)">
                                      <p:cBhvr>
                                        <p:cTn id="15" dur="750"/>
                                        <p:tgtEl>
                                          <p:spTgt spid="19"/>
                                        </p:tgtEl>
                                      </p:cBhvr>
                                    </p:animEffect>
                                  </p:childTnLst>
                                </p:cTn>
                              </p:par>
                            </p:childTnLst>
                          </p:cTn>
                        </p:par>
                        <p:par>
                          <p:cTn id="16" fill="hold">
                            <p:stCondLst>
                              <p:cond delay="750"/>
                            </p:stCondLst>
                            <p:childTnLst>
                              <p:par>
                                <p:cTn id="17" presetID="1" presetClass="entr" presetSubtype="0"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wipe(up)">
                                      <p:cBhvr>
                                        <p:cTn id="23" dur="750"/>
                                        <p:tgtEl>
                                          <p:spTgt spid="22"/>
                                        </p:tgtEl>
                                      </p:cBhvr>
                                    </p:animEffect>
                                  </p:childTnLst>
                                </p:cTn>
                              </p:par>
                            </p:childTnLst>
                          </p:cTn>
                        </p:par>
                        <p:par>
                          <p:cTn id="24" fill="hold">
                            <p:stCondLst>
                              <p:cond delay="750"/>
                            </p:stCondLst>
                            <p:childTnLst>
                              <p:par>
                                <p:cTn id="25" presetID="22" presetClass="entr" presetSubtype="8" fill="hold" nodeType="afterEffect">
                                  <p:stCondLst>
                                    <p:cond delay="25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750"/>
                                        <p:tgtEl>
                                          <p:spTgt spid="25"/>
                                        </p:tgtEl>
                                      </p:cBhvr>
                                    </p:animEffect>
                                  </p:childTnLst>
                                </p:cTn>
                              </p:par>
                            </p:childTnLst>
                          </p:cTn>
                        </p:par>
                        <p:par>
                          <p:cTn id="28" fill="hold">
                            <p:stCondLst>
                              <p:cond delay="1750"/>
                            </p:stCondLst>
                            <p:childTnLst>
                              <p:par>
                                <p:cTn id="29" presetID="1" presetClass="entr" presetSubtype="0" fill="hold" grpId="0" nodeType="afterEffect">
                                  <p:stCondLst>
                                    <p:cond delay="0"/>
                                  </p:stCondLst>
                                  <p:childTnLst>
                                    <p:set>
                                      <p:cBhvr>
                                        <p:cTn id="30" dur="1" fill="hold">
                                          <p:stCondLst>
                                            <p:cond delay="0"/>
                                          </p:stCondLst>
                                        </p:cTn>
                                        <p:tgtEl>
                                          <p:spTgt spid="6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nodeType="click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wipe(right)">
                                      <p:cBhvr>
                                        <p:cTn id="35" dur="750"/>
                                        <p:tgtEl>
                                          <p:spTgt spid="28"/>
                                        </p:tgtEl>
                                      </p:cBhvr>
                                    </p:animEffect>
                                  </p:childTnLst>
                                </p:cTn>
                              </p:par>
                            </p:childTnLst>
                          </p:cTn>
                        </p:par>
                        <p:par>
                          <p:cTn id="36" fill="hold">
                            <p:stCondLst>
                              <p:cond delay="750"/>
                            </p:stCondLst>
                            <p:childTnLst>
                              <p:par>
                                <p:cTn id="37" presetID="22" presetClass="entr" presetSubtype="8" fill="hold" nodeType="afterEffect">
                                  <p:stCondLst>
                                    <p:cond delay="250"/>
                                  </p:stCondLst>
                                  <p:childTnLst>
                                    <p:set>
                                      <p:cBhvr>
                                        <p:cTn id="38" dur="1" fill="hold">
                                          <p:stCondLst>
                                            <p:cond delay="0"/>
                                          </p:stCondLst>
                                        </p:cTn>
                                        <p:tgtEl>
                                          <p:spTgt spid="32"/>
                                        </p:tgtEl>
                                        <p:attrNameLst>
                                          <p:attrName>style.visibility</p:attrName>
                                        </p:attrNameLst>
                                      </p:cBhvr>
                                      <p:to>
                                        <p:strVal val="visible"/>
                                      </p:to>
                                    </p:set>
                                    <p:animEffect transition="in" filter="wipe(left)">
                                      <p:cBhvr>
                                        <p:cTn id="39" dur="750"/>
                                        <p:tgtEl>
                                          <p:spTgt spid="32"/>
                                        </p:tgtEl>
                                      </p:cBhvr>
                                    </p:animEffect>
                                  </p:childTnLst>
                                </p:cTn>
                              </p:par>
                            </p:childTnLst>
                          </p:cTn>
                        </p:par>
                        <p:par>
                          <p:cTn id="40" fill="hold">
                            <p:stCondLst>
                              <p:cond delay="1750"/>
                            </p:stCondLst>
                            <p:childTnLst>
                              <p:par>
                                <p:cTn id="41" presetID="1" presetClass="entr" presetSubtype="0" fill="hold" grpId="0" nodeType="afterEffect">
                                  <p:stCondLst>
                                    <p:cond delay="0"/>
                                  </p:stCondLst>
                                  <p:childTnLst>
                                    <p:set>
                                      <p:cBhvr>
                                        <p:cTn id="42" dur="1" fill="hold">
                                          <p:stCondLst>
                                            <p:cond delay="0"/>
                                          </p:stCondLst>
                                        </p:cTn>
                                        <p:tgtEl>
                                          <p:spTgt spid="6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2" fill="hold" nodeType="click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wipe(right)">
                                      <p:cBhvr>
                                        <p:cTn id="47" dur="750"/>
                                        <p:tgtEl>
                                          <p:spTgt spid="35"/>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wipe(up)">
                                      <p:cBhvr>
                                        <p:cTn id="52"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2" grpId="0"/>
      <p:bldP spid="63" grpId="0"/>
      <p:bldP spid="6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0" name="Rectangle 6"/>
          <p:cNvSpPr>
            <a:spLocks noChangeArrowheads="1"/>
          </p:cNvSpPr>
          <p:nvPr/>
        </p:nvSpPr>
        <p:spPr bwMode="auto">
          <a:xfrm>
            <a:off x="3168146" y="582898"/>
            <a:ext cx="28264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递归查询（比较少用） </a:t>
            </a:r>
            <a:endParaRPr lang="zh-CN" altLang="en-US" sz="2000" b="1" dirty="0" smtClean="0">
              <a:solidFill>
                <a:schemeClr val="bg1"/>
              </a:solidFill>
              <a:latin typeface="微软雅黑" pitchFamily="34" charset="-122"/>
              <a:ea typeface="微软雅黑"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00FF"/>
                </a:solidFill>
                <a:latin typeface="微软雅黑" pitchFamily="34" charset="-122"/>
                <a:ea typeface="微软雅黑" pitchFamily="34" charset="-122"/>
              </a:rPr>
              <a:t>顶级域名服务器</a:t>
            </a:r>
          </a:p>
          <a:p>
            <a:pPr algn="ctr" eaLnBrk="1" hangingPunct="1"/>
            <a:r>
              <a:rPr kumimoji="1" lang="en-US" altLang="zh-CN" sz="1400" b="1" dirty="0">
                <a:solidFill>
                  <a:srgbClr val="9900FF"/>
                </a:solidFill>
                <a:latin typeface="微软雅黑" pitchFamily="34" charset="-122"/>
                <a:ea typeface="微软雅黑" pitchFamily="34" charset="-122"/>
              </a:rPr>
              <a:t>dns.com</a:t>
            </a: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rgbClr val="993300"/>
                </a:solidFill>
                <a:latin typeface="微软雅黑" pitchFamily="34" charset="-122"/>
                <a:ea typeface="微软雅黑" pitchFamily="34" charset="-122"/>
              </a:rPr>
              <a:t>权威</a:t>
            </a:r>
            <a:r>
              <a:rPr kumimoji="1" lang="zh-CN" altLang="zh-CN" sz="1400" b="1" dirty="0" smtClean="0">
                <a:solidFill>
                  <a:srgbClr val="993300"/>
                </a:solidFill>
                <a:latin typeface="微软雅黑" pitchFamily="34" charset="-122"/>
                <a:ea typeface="微软雅黑" pitchFamily="34" charset="-122"/>
              </a:rPr>
              <a:t>域名</a:t>
            </a:r>
            <a:r>
              <a:rPr kumimoji="1" lang="zh-CN" altLang="zh-CN" sz="1400" b="1" dirty="0">
                <a:solidFill>
                  <a:srgbClr val="993300"/>
                </a:solidFill>
                <a:latin typeface="微软雅黑" pitchFamily="34" charset="-122"/>
                <a:ea typeface="微软雅黑" pitchFamily="34" charset="-122"/>
              </a:rPr>
              <a:t>服务</a:t>
            </a:r>
            <a:r>
              <a:rPr kumimoji="1" lang="en-US" altLang="zh-CN" sz="1400" b="1" dirty="0">
                <a:solidFill>
                  <a:srgbClr val="993300"/>
                </a:solidFill>
                <a:latin typeface="微软雅黑" pitchFamily="34" charset="-122"/>
                <a:ea typeface="微软雅黑" pitchFamily="34" charset="-122"/>
              </a:rPr>
              <a:t>dns.abc.com</a:t>
            </a: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0000FF"/>
                </a:solidFill>
                <a:latin typeface="微软雅黑" pitchFamily="34" charset="-122"/>
                <a:ea typeface="微软雅黑" pitchFamily="34" charset="-122"/>
              </a:rPr>
              <a:t>本地域名服务器</a:t>
            </a:r>
          </a:p>
          <a:p>
            <a:pPr algn="ctr" eaLnBrk="1" hangingPunct="1"/>
            <a:r>
              <a:rPr kumimoji="1" lang="en-US" altLang="zh-CN" sz="1400" b="1" dirty="0">
                <a:solidFill>
                  <a:srgbClr val="0000FF"/>
                </a:solidFill>
                <a:latin typeface="微软雅黑" pitchFamily="34" charset="-122"/>
                <a:ea typeface="微软雅黑" pitchFamily="34" charset="-122"/>
              </a:rPr>
              <a:t>dns.xyz.com</a:t>
            </a: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C00000"/>
                </a:solidFill>
                <a:latin typeface="微软雅黑" pitchFamily="34" charset="-122"/>
                <a:ea typeface="微软雅黑" pitchFamily="34" charset="-122"/>
              </a:rPr>
              <a:t>根域名服务器</a:t>
            </a:r>
          </a:p>
        </p:txBody>
      </p:sp>
      <p:grpSp>
        <p:nvGrpSpPr>
          <p:cNvPr id="19" name="Group 40"/>
          <p:cNvGrpSpPr>
            <a:grpSpLocks/>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2" name="Group 41"/>
          <p:cNvGrpSpPr>
            <a:grpSpLocks/>
          </p:cNvGrpSpPr>
          <p:nvPr/>
        </p:nvGrpSpPr>
        <p:grpSpPr bwMode="auto">
          <a:xfrm>
            <a:off x="3762808" y="1752341"/>
            <a:ext cx="367661" cy="662357"/>
            <a:chOff x="2035" y="1849"/>
            <a:chExt cx="331" cy="646"/>
          </a:xfrm>
        </p:grpSpPr>
        <p:sp>
          <p:nvSpPr>
            <p:cNvPr id="23" name="Text Box 19"/>
            <p:cNvSpPr txBox="1">
              <a:spLocks noChangeArrowheads="1"/>
            </p:cNvSpPr>
            <p:nvPr/>
          </p:nvSpPr>
          <p:spPr bwMode="auto">
            <a:xfrm flipH="1">
              <a:off x="2035" y="184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smtClean="0">
                  <a:latin typeface="微软雅黑" pitchFamily="34" charset="-122"/>
                  <a:ea typeface="微软雅黑" pitchFamily="34" charset="-122"/>
                  <a:sym typeface="Wingdings" pitchFamily="2" charset="2"/>
                </a:rPr>
                <a:t></a:t>
              </a:r>
              <a:endParaRPr kumimoji="1" lang="en-US" altLang="zh-CN" sz="1600" b="1" dirty="0">
                <a:latin typeface="微软雅黑" pitchFamily="34" charset="-122"/>
                <a:ea typeface="微软雅黑" pitchFamily="34" charset="-122"/>
                <a:sym typeface="Wingdings" pitchFamily="2" charset="2"/>
              </a:endParaRP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5" name="Group 42"/>
          <p:cNvGrpSpPr>
            <a:grpSpLocks/>
          </p:cNvGrpSpPr>
          <p:nvPr/>
        </p:nvGrpSpPr>
        <p:grpSpPr bwMode="auto">
          <a:xfrm>
            <a:off x="3967275" y="1157636"/>
            <a:ext cx="1057447" cy="338354"/>
            <a:chOff x="2296" y="1719"/>
            <a:chExt cx="952" cy="330"/>
          </a:xfrm>
        </p:grpSpPr>
        <p:sp>
          <p:nvSpPr>
            <p:cNvPr id="26" name="Text Box 14"/>
            <p:cNvSpPr txBox="1">
              <a:spLocks noChangeArrowheads="1"/>
            </p:cNvSpPr>
            <p:nvPr/>
          </p:nvSpPr>
          <p:spPr bwMode="auto">
            <a:xfrm flipH="1">
              <a:off x="2296" y="171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smtClean="0">
                  <a:latin typeface="微软雅黑" pitchFamily="34" charset="-122"/>
                  <a:ea typeface="微软雅黑" pitchFamily="34" charset="-122"/>
                  <a:sym typeface="Wingdings" pitchFamily="2" charset="2"/>
                </a:rPr>
                <a:t></a:t>
              </a:r>
              <a:endParaRPr kumimoji="1" lang="en-US" altLang="zh-CN" sz="1600" b="1" dirty="0">
                <a:latin typeface="微软雅黑" pitchFamily="34" charset="-122"/>
                <a:ea typeface="微软雅黑" pitchFamily="34" charset="-122"/>
                <a:sym typeface="Wingdings" pitchFamily="2" charset="2"/>
              </a:endParaRPr>
            </a:p>
          </p:txBody>
        </p:sp>
        <p:sp>
          <p:nvSpPr>
            <p:cNvPr id="27" name="Line 22"/>
            <p:cNvSpPr>
              <a:spLocks noChangeShapeType="1"/>
            </p:cNvSpPr>
            <p:nvPr/>
          </p:nvSpPr>
          <p:spPr bwMode="auto">
            <a:xfrm rot="10800000" flipH="1">
              <a:off x="2299" y="1993"/>
              <a:ext cx="949"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8" name="Group 43"/>
          <p:cNvGrpSpPr>
            <a:grpSpLocks/>
          </p:cNvGrpSpPr>
          <p:nvPr/>
        </p:nvGrpSpPr>
        <p:grpSpPr bwMode="auto">
          <a:xfrm>
            <a:off x="3983716" y="1514726"/>
            <a:ext cx="1075219" cy="338356"/>
            <a:chOff x="2392" y="1825"/>
            <a:chExt cx="968" cy="330"/>
          </a:xfrm>
        </p:grpSpPr>
        <p:sp>
          <p:nvSpPr>
            <p:cNvPr id="29" name="Text Box 13"/>
            <p:cNvSpPr txBox="1">
              <a:spLocks noChangeArrowheads="1"/>
            </p:cNvSpPr>
            <p:nvPr/>
          </p:nvSpPr>
          <p:spPr bwMode="auto">
            <a:xfrm flipH="1">
              <a:off x="3029" y="1825"/>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sp>
          <p:nvSpPr>
            <p:cNvPr id="30" name="Line 23"/>
            <p:cNvSpPr>
              <a:spLocks noChangeShapeType="1"/>
            </p:cNvSpPr>
            <p:nvPr/>
          </p:nvSpPr>
          <p:spPr bwMode="auto">
            <a:xfrm flipH="1" flipV="1">
              <a:off x="2392" y="1869"/>
              <a:ext cx="942" cy="1"/>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2" name="Group 45"/>
          <p:cNvGrpSpPr>
            <a:grpSpLocks/>
          </p:cNvGrpSpPr>
          <p:nvPr/>
        </p:nvGrpSpPr>
        <p:grpSpPr bwMode="auto">
          <a:xfrm>
            <a:off x="5297892" y="1774626"/>
            <a:ext cx="367663" cy="620321"/>
            <a:chOff x="3144" y="2182"/>
            <a:chExt cx="331" cy="605"/>
          </a:xfrm>
        </p:grpSpPr>
        <p:sp>
          <p:nvSpPr>
            <p:cNvPr id="33" name="Text Box 25"/>
            <p:cNvSpPr txBox="1">
              <a:spLocks noChangeArrowheads="1"/>
            </p:cNvSpPr>
            <p:nvPr/>
          </p:nvSpPr>
          <p:spPr bwMode="auto">
            <a:xfrm flipH="1">
              <a:off x="3144" y="2182"/>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smtClean="0">
                  <a:latin typeface="微软雅黑" pitchFamily="34" charset="-122"/>
                  <a:ea typeface="微软雅黑" pitchFamily="34" charset="-122"/>
                  <a:sym typeface="Wingdings" pitchFamily="2" charset="2"/>
                </a:rPr>
                <a:t></a:t>
              </a:r>
              <a:endParaRPr kumimoji="1" lang="en-US" altLang="zh-CN" sz="1600" b="1" dirty="0">
                <a:latin typeface="微软雅黑" pitchFamily="34" charset="-122"/>
                <a:ea typeface="微软雅黑" pitchFamily="34" charset="-122"/>
                <a:sym typeface="Wingdings" pitchFamily="2" charset="2"/>
              </a:endParaRPr>
            </a:p>
          </p:txBody>
        </p:sp>
        <p:sp>
          <p:nvSpPr>
            <p:cNvPr id="34" name="Line 27"/>
            <p:cNvSpPr>
              <a:spLocks noChangeShapeType="1"/>
            </p:cNvSpPr>
            <p:nvPr/>
          </p:nvSpPr>
          <p:spPr bwMode="auto">
            <a:xfrm rot="16200000" flipH="1">
              <a:off x="2918" y="2495"/>
              <a:ext cx="584"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5" name="Group 46"/>
          <p:cNvGrpSpPr>
            <a:grpSpLocks/>
          </p:cNvGrpSpPr>
          <p:nvPr/>
        </p:nvGrpSpPr>
        <p:grpSpPr bwMode="auto">
          <a:xfrm>
            <a:off x="4929644" y="1804451"/>
            <a:ext cx="367663" cy="626473"/>
            <a:chOff x="2971" y="2343"/>
            <a:chExt cx="331" cy="611"/>
          </a:xfrm>
        </p:grpSpPr>
        <p:sp>
          <p:nvSpPr>
            <p:cNvPr id="36" name="Line 28"/>
            <p:cNvSpPr>
              <a:spLocks noChangeShapeType="1"/>
            </p:cNvSpPr>
            <p:nvPr/>
          </p:nvSpPr>
          <p:spPr bwMode="auto">
            <a:xfrm rot="5400000" flipH="1" flipV="1">
              <a:off x="2974" y="2614"/>
              <a:ext cx="541" cy="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9"/>
            <p:cNvSpPr txBox="1">
              <a:spLocks noChangeArrowheads="1"/>
            </p:cNvSpPr>
            <p:nvPr/>
          </p:nvSpPr>
          <p:spPr bwMode="auto">
            <a:xfrm flipH="1">
              <a:off x="2971" y="2624"/>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smtClean="0">
                  <a:latin typeface="微软雅黑" pitchFamily="34" charset="-122"/>
                  <a:ea typeface="微软雅黑" pitchFamily="34" charset="-122"/>
                  <a:sym typeface="Wingdings" pitchFamily="2" charset="2"/>
                </a:rPr>
                <a:t></a:t>
              </a:r>
              <a:endParaRPr kumimoji="1" lang="en-US" altLang="zh-CN" sz="1600" b="1" dirty="0">
                <a:latin typeface="微软雅黑" pitchFamily="34" charset="-122"/>
                <a:ea typeface="微软雅黑" pitchFamily="34" charset="-122"/>
                <a:sym typeface="Wingdings" pitchFamily="2" charset="2"/>
              </a:endParaRPr>
            </a:p>
          </p:txBody>
        </p:sp>
      </p:grpSp>
      <p:grpSp>
        <p:nvGrpSpPr>
          <p:cNvPr id="39" name="Group 49"/>
          <p:cNvGrpSpPr>
            <a:grpSpLocks/>
          </p:cNvGrpSpPr>
          <p:nvPr/>
        </p:nvGrpSpPr>
        <p:grpSpPr bwMode="auto">
          <a:xfrm>
            <a:off x="3782810" y="3031942"/>
            <a:ext cx="1856087" cy="653129"/>
            <a:chOff x="2053" y="3097"/>
            <a:chExt cx="1671" cy="637"/>
          </a:xfrm>
        </p:grpSpPr>
        <p:grpSp>
          <p:nvGrpSpPr>
            <p:cNvPr id="40" name="Group 48"/>
            <p:cNvGrpSpPr>
              <a:grpSpLocks/>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43" name="Group 47"/>
              <p:cNvGrpSpPr>
                <a:grpSpLocks/>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dirty="0">
                  <a:latin typeface="微软雅黑" pitchFamily="34" charset="-122"/>
                  <a:ea typeface="微软雅黑" pitchFamily="34" charset="-122"/>
                </a:rPr>
                <a:t> 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 </a:t>
              </a: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a:latin typeface="微软雅黑" pitchFamily="34" charset="-122"/>
                <a:ea typeface="微软雅黑" pitchFamily="34" charset="-122"/>
              </a:rPr>
              <a:t>m.xyz.com </a:t>
            </a: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递归查询</a:t>
            </a:r>
            <a:endParaRPr kumimoji="1" lang="zh-CN" altLang="en-US" sz="1200" b="1" dirty="0">
              <a:solidFill>
                <a:srgbClr val="FF0000"/>
              </a:solidFill>
              <a:latin typeface="微软雅黑" pitchFamily="34" charset="-122"/>
              <a:ea typeface="微软雅黑" pitchFamily="34" charset="-122"/>
            </a:endParaRPr>
          </a:p>
        </p:txBody>
      </p:sp>
      <p:grpSp>
        <p:nvGrpSpPr>
          <p:cNvPr id="49" name="Group 39"/>
          <p:cNvGrpSpPr>
            <a:grpSpLocks/>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latin typeface="微软雅黑" pitchFamily="34" charset="-122"/>
                <a:ea typeface="微软雅黑" pitchFamily="34" charset="-122"/>
              </a:rPr>
              <a:t>查询 </a:t>
            </a:r>
            <a:endParaRPr kumimoji="1" lang="en-US" altLang="zh-CN" sz="1200" b="1" dirty="0" smtClean="0">
              <a:latin typeface="微软雅黑" pitchFamily="34" charset="-122"/>
              <a:ea typeface="微软雅黑" pitchFamily="34" charset="-122"/>
            </a:endParaRPr>
          </a:p>
          <a:p>
            <a:pPr algn="ctr" eaLnBrk="1" hangingPunct="1"/>
            <a:r>
              <a:rPr kumimoji="1" lang="en-US" altLang="zh-CN" sz="1200" b="1" dirty="0" smtClean="0">
                <a:latin typeface="微软雅黑" pitchFamily="34" charset="-122"/>
                <a:ea typeface="微软雅黑" pitchFamily="34" charset="-122"/>
              </a:rPr>
              <a:t>y.abc.com </a:t>
            </a:r>
            <a:r>
              <a:rPr kumimoji="1" lang="zh-CN" altLang="en-US" sz="1200" b="1" dirty="0" smtClean="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pic>
        <p:nvPicPr>
          <p:cNvPr id="53" name="图片 5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smtClean="0">
                  <a:latin typeface="微软雅黑" pitchFamily="34" charset="-122"/>
                  <a:ea typeface="微软雅黑" pitchFamily="34" charset="-122"/>
                </a:rPr>
                <a:t>查询请求，域名</a:t>
              </a:r>
              <a:endParaRPr kumimoji="1" lang="zh-CN" altLang="en-US" sz="1200" b="1" dirty="0">
                <a:latin typeface="微软雅黑" pitchFamily="34" charset="-122"/>
                <a:ea typeface="微软雅黑"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smtClean="0">
                  <a:latin typeface="微软雅黑" pitchFamily="34" charset="-122"/>
                  <a:ea typeface="微软雅黑" pitchFamily="34" charset="-122"/>
                </a:rPr>
                <a:t>查询响应，</a:t>
              </a:r>
              <a:r>
                <a:rPr kumimoji="1" lang="en-US" altLang="zh-CN" sz="1200" b="1" dirty="0" smtClean="0">
                  <a:latin typeface="微软雅黑" pitchFamily="34" charset="-122"/>
                  <a:ea typeface="微软雅黑" pitchFamily="34" charset="-122"/>
                </a:rPr>
                <a:t>IP </a:t>
              </a:r>
              <a:r>
                <a:rPr kumimoji="1" lang="zh-CN" altLang="en-US" sz="1200" b="1" dirty="0" smtClean="0">
                  <a:latin typeface="微软雅黑" pitchFamily="34" charset="-122"/>
                  <a:ea typeface="微软雅黑" pitchFamily="34" charset="-122"/>
                </a:rPr>
                <a:t>地址</a:t>
              </a:r>
              <a:endParaRPr kumimoji="1" lang="zh-CN" altLang="en-US" sz="1200" b="1" dirty="0">
                <a:latin typeface="微软雅黑" pitchFamily="34" charset="-122"/>
                <a:ea typeface="微软雅黑" pitchFamily="34" charset="-122"/>
              </a:endParaRPr>
            </a:p>
          </p:txBody>
        </p:sp>
      </p:grpSp>
      <p:sp>
        <p:nvSpPr>
          <p:cNvPr id="62" name="Text Box 31"/>
          <p:cNvSpPr txBox="1">
            <a:spLocks noChangeArrowheads="1"/>
          </p:cNvSpPr>
          <p:nvPr/>
        </p:nvSpPr>
        <p:spPr bwMode="auto">
          <a:xfrm flipH="1">
            <a:off x="2902000" y="1903486"/>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递归查询</a:t>
            </a:r>
            <a:endParaRPr kumimoji="1" lang="zh-CN" altLang="en-US" sz="1200" b="1" dirty="0">
              <a:solidFill>
                <a:srgbClr val="FF0000"/>
              </a:solidFill>
              <a:latin typeface="微软雅黑" pitchFamily="34" charset="-122"/>
              <a:ea typeface="微软雅黑" pitchFamily="34" charset="-122"/>
            </a:endParaRPr>
          </a:p>
        </p:txBody>
      </p:sp>
      <p:sp>
        <p:nvSpPr>
          <p:cNvPr id="63" name="Text Box 31"/>
          <p:cNvSpPr txBox="1">
            <a:spLocks noChangeArrowheads="1"/>
          </p:cNvSpPr>
          <p:nvPr/>
        </p:nvSpPr>
        <p:spPr bwMode="auto">
          <a:xfrm flipH="1">
            <a:off x="4220730" y="1138383"/>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递归查询</a:t>
            </a:r>
            <a:endParaRPr kumimoji="1" lang="zh-CN" altLang="en-US" sz="1200" b="1" dirty="0">
              <a:solidFill>
                <a:srgbClr val="FF0000"/>
              </a:solidFill>
              <a:latin typeface="微软雅黑" pitchFamily="34" charset="-122"/>
              <a:ea typeface="微软雅黑" pitchFamily="34" charset="-122"/>
            </a:endParaRPr>
          </a:p>
        </p:txBody>
      </p:sp>
      <p:sp>
        <p:nvSpPr>
          <p:cNvPr id="64" name="Text Box 31"/>
          <p:cNvSpPr txBox="1">
            <a:spLocks noChangeArrowheads="1"/>
          </p:cNvSpPr>
          <p:nvPr/>
        </p:nvSpPr>
        <p:spPr bwMode="auto">
          <a:xfrm flipH="1">
            <a:off x="5373278" y="2026691"/>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FF0000"/>
                </a:solidFill>
                <a:latin typeface="微软雅黑" pitchFamily="34" charset="-122"/>
                <a:ea typeface="微软雅黑" pitchFamily="34" charset="-122"/>
              </a:rPr>
              <a:t>递归查询</a:t>
            </a:r>
            <a:endParaRPr kumimoji="1" lang="zh-CN" altLang="en-US" sz="1200" b="1" dirty="0">
              <a:solidFill>
                <a:srgbClr val="FF0000"/>
              </a:solidFill>
              <a:latin typeface="微软雅黑" pitchFamily="34" charset="-122"/>
              <a:ea typeface="微软雅黑" pitchFamily="34" charset="-122"/>
            </a:endParaRPr>
          </a:p>
        </p:txBody>
      </p:sp>
    </p:spTree>
    <p:extLst>
      <p:ext uri="{BB962C8B-B14F-4D97-AF65-F5344CB8AC3E}">
        <p14:creationId xmlns:p14="http://schemas.microsoft.com/office/powerpoint/2010/main" val="6761409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50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500"/>
                            </p:stCondLst>
                            <p:childTnLst>
                              <p:par>
                                <p:cTn id="16" presetID="1" presetClass="entr" presetSubtype="0" fill="hold" grpId="0" nodeType="afterEffect">
                                  <p:stCondLst>
                                    <p:cond delay="0"/>
                                  </p:stCondLst>
                                  <p:childTnLst>
                                    <p:set>
                                      <p:cBhvr>
                                        <p:cTn id="17" dur="1" fill="hold">
                                          <p:stCondLst>
                                            <p:cond delay="0"/>
                                          </p:stCondLst>
                                        </p:cTn>
                                        <p:tgtEl>
                                          <p:spTgt spid="62"/>
                                        </p:tgtEl>
                                        <p:attrNameLst>
                                          <p:attrName>style.visibility</p:attrName>
                                        </p:attrNameLst>
                                      </p:cBhvr>
                                      <p:to>
                                        <p:strVal val="visible"/>
                                      </p:to>
                                    </p:set>
                                  </p:childTnLst>
                                </p:cTn>
                              </p:par>
                            </p:childTnLst>
                          </p:cTn>
                        </p:par>
                        <p:par>
                          <p:cTn id="18" fill="hold">
                            <p:stCondLst>
                              <p:cond delay="2500"/>
                            </p:stCondLst>
                            <p:childTnLst>
                              <p:par>
                                <p:cTn id="19" presetID="22" presetClass="entr" presetSubtype="8" fill="hold"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wipe(left)">
                                      <p:cBhvr>
                                        <p:cTn id="21" dur="750"/>
                                        <p:tgtEl>
                                          <p:spTgt spid="25"/>
                                        </p:tgtEl>
                                      </p:cBhvr>
                                    </p:animEffect>
                                  </p:childTnLst>
                                </p:cTn>
                              </p:par>
                            </p:childTnLst>
                          </p:cTn>
                        </p:par>
                        <p:par>
                          <p:cTn id="22" fill="hold">
                            <p:stCondLst>
                              <p:cond delay="3250"/>
                            </p:stCondLst>
                            <p:childTnLst>
                              <p:par>
                                <p:cTn id="23" presetID="1" presetClass="entr" presetSubtype="0" fill="hold" grpId="0" nodeType="afterEffect">
                                  <p:stCondLst>
                                    <p:cond delay="0"/>
                                  </p:stCondLst>
                                  <p:childTnLst>
                                    <p:set>
                                      <p:cBhvr>
                                        <p:cTn id="24" dur="1" fill="hold">
                                          <p:stCondLst>
                                            <p:cond delay="0"/>
                                          </p:stCondLst>
                                        </p:cTn>
                                        <p:tgtEl>
                                          <p:spTgt spid="63"/>
                                        </p:tgtEl>
                                        <p:attrNameLst>
                                          <p:attrName>style.visibility</p:attrName>
                                        </p:attrNameLst>
                                      </p:cBhvr>
                                      <p:to>
                                        <p:strVal val="visible"/>
                                      </p:to>
                                    </p:set>
                                  </p:childTnLst>
                                </p:cTn>
                              </p:par>
                            </p:childTnLst>
                          </p:cTn>
                        </p:par>
                        <p:par>
                          <p:cTn id="25" fill="hold">
                            <p:stCondLst>
                              <p:cond delay="3250"/>
                            </p:stCondLst>
                            <p:childTnLst>
                              <p:par>
                                <p:cTn id="26" presetID="22" presetClass="entr" presetSubtype="1" fill="hold" nodeType="after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wipe(up)">
                                      <p:cBhvr>
                                        <p:cTn id="28" dur="750"/>
                                        <p:tgtEl>
                                          <p:spTgt spid="32"/>
                                        </p:tgtEl>
                                      </p:cBhvr>
                                    </p:animEffect>
                                  </p:childTnLst>
                                </p:cTn>
                              </p:par>
                            </p:childTnLst>
                          </p:cTn>
                        </p:par>
                        <p:par>
                          <p:cTn id="29" fill="hold">
                            <p:stCondLst>
                              <p:cond delay="4000"/>
                            </p:stCondLst>
                            <p:childTnLst>
                              <p:par>
                                <p:cTn id="30" presetID="1" presetClass="entr" presetSubtype="0" fill="hold" grpId="0" nodeType="afterEffect">
                                  <p:stCondLst>
                                    <p:cond delay="0"/>
                                  </p:stCondLst>
                                  <p:childTnLst>
                                    <p:set>
                                      <p:cBhvr>
                                        <p:cTn id="31" dur="1" fill="hold">
                                          <p:stCondLst>
                                            <p:cond delay="0"/>
                                          </p:stCondLst>
                                        </p:cTn>
                                        <p:tgtEl>
                                          <p:spTgt spid="64"/>
                                        </p:tgtEl>
                                        <p:attrNameLst>
                                          <p:attrName>style.visibility</p:attrName>
                                        </p:attrNameLst>
                                      </p:cBhvr>
                                      <p:to>
                                        <p:strVal val="visible"/>
                                      </p:to>
                                    </p:set>
                                  </p:childTnLst>
                                </p:cTn>
                              </p:par>
                            </p:childTnLst>
                          </p:cTn>
                        </p:par>
                        <p:par>
                          <p:cTn id="32" fill="hold">
                            <p:stCondLst>
                              <p:cond delay="4000"/>
                            </p:stCondLst>
                            <p:childTnLst>
                              <p:par>
                                <p:cTn id="33" presetID="22" presetClass="entr" presetSubtype="4" fill="hold"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down)">
                                      <p:cBhvr>
                                        <p:cTn id="35" dur="750"/>
                                        <p:tgtEl>
                                          <p:spTgt spid="35"/>
                                        </p:tgtEl>
                                      </p:cBhvr>
                                    </p:animEffect>
                                  </p:childTnLst>
                                </p:cTn>
                              </p:par>
                            </p:childTnLst>
                          </p:cTn>
                        </p:par>
                        <p:par>
                          <p:cTn id="36" fill="hold">
                            <p:stCondLst>
                              <p:cond delay="4750"/>
                            </p:stCondLst>
                            <p:childTnLst>
                              <p:par>
                                <p:cTn id="37" presetID="22" presetClass="entr" presetSubtype="2" fill="hold" nodeType="after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wipe(right)">
                                      <p:cBhvr>
                                        <p:cTn id="39" dur="750"/>
                                        <p:tgtEl>
                                          <p:spTgt spid="28"/>
                                        </p:tgtEl>
                                      </p:cBhvr>
                                    </p:animEffect>
                                  </p:childTnLst>
                                </p:cTn>
                              </p:par>
                            </p:childTnLst>
                          </p:cTn>
                        </p:par>
                        <p:par>
                          <p:cTn id="40" fill="hold">
                            <p:stCondLst>
                              <p:cond delay="5500"/>
                            </p:stCondLst>
                            <p:childTnLst>
                              <p:par>
                                <p:cTn id="41" presetID="22" presetClass="entr" presetSubtype="1"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wipe(up)">
                                      <p:cBhvr>
                                        <p:cTn id="43" dur="750"/>
                                        <p:tgtEl>
                                          <p:spTgt spid="22"/>
                                        </p:tgtEl>
                                      </p:cBhvr>
                                    </p:animEffect>
                                  </p:childTnLst>
                                </p:cTn>
                              </p:par>
                            </p:childTnLst>
                          </p:cTn>
                        </p:par>
                        <p:par>
                          <p:cTn id="44" fill="hold">
                            <p:stCondLst>
                              <p:cond delay="6250"/>
                            </p:stCondLst>
                            <p:childTnLst>
                              <p:par>
                                <p:cTn id="45" presetID="22" presetClass="entr" presetSubtype="1" fill="hold" nodeType="after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wipe(up)">
                                      <p:cBhvr>
                                        <p:cTn id="47"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2" grpId="0"/>
      <p:bldP spid="63" grpId="0"/>
      <p:bldP spid="6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976058" y="57526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高速缓存</a:t>
            </a:r>
          </a:p>
        </p:txBody>
      </p:sp>
      <p:sp>
        <p:nvSpPr>
          <p:cNvPr id="10" name="Rectangle 68"/>
          <p:cNvSpPr>
            <a:spLocks noChangeArrowheads="1"/>
          </p:cNvSpPr>
          <p:nvPr/>
        </p:nvSpPr>
        <p:spPr bwMode="auto">
          <a:xfrm>
            <a:off x="556963" y="944138"/>
            <a:ext cx="8048776" cy="39395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高速缓存，</a:t>
            </a:r>
            <a:r>
              <a:rPr lang="zh-CN" altLang="en-US" b="1" dirty="0">
                <a:latin typeface="微软雅黑" pitchFamily="34" charset="-122"/>
                <a:ea typeface="微软雅黑" pitchFamily="34" charset="-122"/>
              </a:rPr>
              <a:t>也称为</a:t>
            </a:r>
            <a:r>
              <a:rPr lang="zh-CN" altLang="en-US" b="1" dirty="0">
                <a:solidFill>
                  <a:srgbClr val="C00000"/>
                </a:solidFill>
                <a:latin typeface="微软雅黑" pitchFamily="34" charset="-122"/>
                <a:ea typeface="微软雅黑" pitchFamily="34" charset="-122"/>
              </a:rPr>
              <a:t>高速缓存域名服务器</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在</a:t>
            </a:r>
            <a:r>
              <a:rPr lang="zh-CN" altLang="en-US" b="1" dirty="0">
                <a:solidFill>
                  <a:srgbClr val="C00000"/>
                </a:solidFill>
                <a:latin typeface="微软雅黑" pitchFamily="34" charset="-122"/>
                <a:ea typeface="微软雅黑" pitchFamily="34" charset="-122"/>
              </a:rPr>
              <a:t>本地域名服务器</a:t>
            </a:r>
            <a:r>
              <a:rPr lang="zh-CN" altLang="en-US" b="1" dirty="0">
                <a:latin typeface="微软雅黑" pitchFamily="34" charset="-122"/>
                <a:ea typeface="微软雅黑" pitchFamily="34" charset="-122"/>
              </a:rPr>
              <a:t>中</a:t>
            </a:r>
            <a:r>
              <a:rPr lang="zh-CN" altLang="en-US" b="1" dirty="0" smtClean="0">
                <a:latin typeface="微软雅黑" pitchFamily="34" charset="-122"/>
                <a:ea typeface="微软雅黑" pitchFamily="34" charset="-122"/>
              </a:rPr>
              <a:t>广泛使用，</a:t>
            </a:r>
            <a:r>
              <a:rPr lang="zh-CN" altLang="en-US" b="1" dirty="0">
                <a:latin typeface="微软雅黑" pitchFamily="34" charset="-122"/>
                <a:ea typeface="微软雅黑" pitchFamily="34" charset="-122"/>
              </a:rPr>
              <a:t>存放</a:t>
            </a:r>
            <a:r>
              <a:rPr lang="zh-CN" altLang="en-US" b="1" dirty="0">
                <a:solidFill>
                  <a:srgbClr val="C00000"/>
                </a:solidFill>
                <a:latin typeface="微软雅黑" pitchFamily="34" charset="-122"/>
                <a:ea typeface="微软雅黑" pitchFamily="34" charset="-122"/>
              </a:rPr>
              <a:t>最近查询过的域名</a:t>
            </a:r>
            <a:r>
              <a:rPr lang="zh-CN" altLang="en-US" b="1" dirty="0">
                <a:latin typeface="微软雅黑" pitchFamily="34" charset="-122"/>
                <a:ea typeface="微软雅黑" pitchFamily="34" charset="-122"/>
              </a:rPr>
              <a:t>以及从何处获得域名映射信息的记录</a:t>
            </a:r>
            <a:r>
              <a:rPr lang="zh-CN" altLang="en-US" b="1" dirty="0" smtClean="0">
                <a:latin typeface="微软雅黑" pitchFamily="34" charset="-122"/>
                <a:ea typeface="微软雅黑" pitchFamily="34" charset="-122"/>
              </a:rPr>
              <a:t>。</a:t>
            </a:r>
          </a:p>
          <a:p>
            <a:pPr marL="285750"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高速缓存的作用：</a:t>
            </a:r>
            <a:endParaRPr lang="en-US" altLang="zh-CN" b="1" dirty="0" smtClean="0">
              <a:latin typeface="微软雅黑" pitchFamily="34" charset="-122"/>
              <a:ea typeface="微软雅黑" pitchFamily="34" charset="-122"/>
            </a:endParaRPr>
          </a:p>
          <a:p>
            <a:pPr marL="742950" lvl="1"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提高查询效率。</a:t>
            </a:r>
            <a:endParaRPr lang="en-US" altLang="zh-CN" b="1" dirty="0" smtClean="0">
              <a:latin typeface="微软雅黑" pitchFamily="34" charset="-122"/>
              <a:ea typeface="微软雅黑" pitchFamily="34" charset="-122"/>
            </a:endParaRPr>
          </a:p>
          <a:p>
            <a:pPr marL="742950" lvl="1"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减轻</a:t>
            </a:r>
            <a:r>
              <a:rPr lang="zh-CN" altLang="en-US" b="1" dirty="0">
                <a:latin typeface="微软雅黑" pitchFamily="34" charset="-122"/>
                <a:ea typeface="微软雅黑" pitchFamily="34" charset="-122"/>
              </a:rPr>
              <a:t>根域名服务器的</a:t>
            </a:r>
            <a:r>
              <a:rPr lang="zh-CN" altLang="en-US" b="1" dirty="0" smtClean="0">
                <a:latin typeface="微软雅黑" pitchFamily="34" charset="-122"/>
                <a:ea typeface="微软雅黑" pitchFamily="34" charset="-122"/>
              </a:rPr>
              <a:t>负荷。</a:t>
            </a:r>
            <a:endParaRPr lang="en-US" altLang="zh-CN" b="1" dirty="0" smtClean="0">
              <a:latin typeface="微软雅黑" pitchFamily="34" charset="-122"/>
              <a:ea typeface="微软雅黑" pitchFamily="34" charset="-122"/>
            </a:endParaRPr>
          </a:p>
          <a:p>
            <a:pPr marL="742950" lvl="1"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减少</a:t>
            </a:r>
            <a:r>
              <a:rPr lang="zh-CN" altLang="en-US" b="1" dirty="0">
                <a:latin typeface="微软雅黑" pitchFamily="34" charset="-122"/>
                <a:ea typeface="微软雅黑" pitchFamily="34" charset="-122"/>
              </a:rPr>
              <a:t>互联网上的</a:t>
            </a:r>
            <a:r>
              <a:rPr lang="en-US" altLang="zh-CN" b="1" dirty="0">
                <a:latin typeface="微软雅黑" pitchFamily="34" charset="-122"/>
                <a:ea typeface="微软雅黑" pitchFamily="34" charset="-122"/>
              </a:rPr>
              <a:t>DNS</a:t>
            </a:r>
            <a:r>
              <a:rPr lang="zh-CN" altLang="en-US" b="1" dirty="0">
                <a:latin typeface="微软雅黑" pitchFamily="34" charset="-122"/>
                <a:ea typeface="微软雅黑" pitchFamily="34" charset="-122"/>
              </a:rPr>
              <a:t>查询报文</a:t>
            </a:r>
            <a:r>
              <a:rPr lang="zh-CN" altLang="en-US" b="1" dirty="0" smtClean="0">
                <a:latin typeface="微软雅黑" pitchFamily="34" charset="-122"/>
                <a:ea typeface="微软雅黑" pitchFamily="34" charset="-122"/>
              </a:rPr>
              <a:t>数量。</a:t>
            </a:r>
            <a:endParaRPr lang="en-US" altLang="zh-CN" b="1" dirty="0" smtClean="0">
              <a:solidFill>
                <a:srgbClr val="C00000"/>
              </a:solidFill>
              <a:latin typeface="微软雅黑" pitchFamily="34" charset="-122"/>
              <a:ea typeface="微软雅黑" pitchFamily="34" charset="-122"/>
            </a:endParaRPr>
          </a:p>
          <a:p>
            <a:pPr marL="285750"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域名</a:t>
            </a:r>
            <a:r>
              <a:rPr lang="zh-CN" altLang="en-US" b="1" dirty="0">
                <a:latin typeface="微软雅黑" pitchFamily="34" charset="-122"/>
                <a:ea typeface="微软雅黑" pitchFamily="34" charset="-122"/>
              </a:rPr>
              <a:t>服务器应为每项内容设置</a:t>
            </a:r>
            <a:r>
              <a:rPr lang="zh-CN" altLang="en-US" b="1" dirty="0" smtClean="0">
                <a:solidFill>
                  <a:srgbClr val="C00000"/>
                </a:solidFill>
                <a:latin typeface="微软雅黑" pitchFamily="34" charset="-122"/>
                <a:ea typeface="微软雅黑" pitchFamily="34" charset="-122"/>
              </a:rPr>
              <a:t>计时器</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并处理超过合理时间的</a:t>
            </a:r>
            <a:r>
              <a:rPr lang="zh-CN" altLang="en-US" b="1" dirty="0" smtClean="0">
                <a:latin typeface="微软雅黑" pitchFamily="34" charset="-122"/>
                <a:ea typeface="微软雅黑" pitchFamily="34" charset="-122"/>
              </a:rPr>
              <a:t>项。</a:t>
            </a:r>
            <a:endParaRPr lang="zh-CN" altLang="en-US" b="1" dirty="0">
              <a:latin typeface="微软雅黑" pitchFamily="34" charset="-122"/>
              <a:ea typeface="微软雅黑" pitchFamily="34" charset="-122"/>
            </a:endParaRPr>
          </a:p>
          <a:p>
            <a:pPr marL="285750"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当权威域名服务器回答</a:t>
            </a:r>
            <a:r>
              <a:rPr lang="zh-CN" altLang="en-US" b="1" dirty="0">
                <a:latin typeface="微软雅黑" pitchFamily="34" charset="-122"/>
                <a:ea typeface="微软雅黑" pitchFamily="34" charset="-122"/>
              </a:rPr>
              <a:t>一个查询请求时</a:t>
            </a:r>
            <a:r>
              <a:rPr lang="zh-CN" altLang="en-US" b="1" dirty="0" smtClean="0">
                <a:latin typeface="微软雅黑" pitchFamily="34" charset="-122"/>
                <a:ea typeface="微软雅黑" pitchFamily="34" charset="-122"/>
              </a:rPr>
              <a:t>，指明绑定</a:t>
            </a:r>
            <a:r>
              <a:rPr lang="zh-CN" altLang="en-US" b="1" dirty="0" smtClean="0">
                <a:solidFill>
                  <a:srgbClr val="C00000"/>
                </a:solidFill>
                <a:latin typeface="微软雅黑" pitchFamily="34" charset="-122"/>
                <a:ea typeface="微软雅黑" pitchFamily="34" charset="-122"/>
              </a:rPr>
              <a:t>有效</a:t>
            </a:r>
            <a:r>
              <a:rPr lang="zh-CN" altLang="en-US" b="1" dirty="0">
                <a:solidFill>
                  <a:srgbClr val="C00000"/>
                </a:solidFill>
                <a:latin typeface="微软雅黑" pitchFamily="34" charset="-122"/>
                <a:ea typeface="微软雅黑" pitchFamily="34" charset="-122"/>
              </a:rPr>
              <a:t>存在的时间值</a:t>
            </a:r>
            <a:r>
              <a:rPr lang="zh-CN" altLang="en-US" b="1" dirty="0" smtClean="0">
                <a:solidFill>
                  <a:srgbClr val="C00000"/>
                </a:solidFill>
                <a:latin typeface="微软雅黑" pitchFamily="34" charset="-122"/>
                <a:ea typeface="微软雅黑" pitchFamily="34" charset="-122"/>
              </a:rPr>
              <a:t>。</a:t>
            </a:r>
            <a:endParaRPr lang="en-US" altLang="zh-CN" b="1" dirty="0" smtClean="0">
              <a:solidFill>
                <a:srgbClr val="C00000"/>
              </a:solidFill>
              <a:latin typeface="微软雅黑" pitchFamily="34" charset="-122"/>
              <a:ea typeface="微软雅黑" pitchFamily="34" charset="-122"/>
            </a:endParaRPr>
          </a:p>
          <a:p>
            <a:pPr marL="742950" lvl="1" indent="-28575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需要综合考虑时间值设置的</a:t>
            </a:r>
            <a:r>
              <a:rPr lang="zh-CN" altLang="en-US" b="1" dirty="0">
                <a:solidFill>
                  <a:srgbClr val="C00000"/>
                </a:solidFill>
                <a:latin typeface="微软雅黑" pitchFamily="34" charset="-122"/>
                <a:ea typeface="微软雅黑" pitchFamily="34" charset="-122"/>
              </a:rPr>
              <a:t>合理性</a:t>
            </a:r>
            <a:r>
              <a:rPr lang="zh-CN" altLang="en-US" b="1" dirty="0" smtClean="0">
                <a:latin typeface="微软雅黑" pitchFamily="34" charset="-122"/>
                <a:ea typeface="微软雅黑" pitchFamily="34" charset="-122"/>
              </a:rPr>
              <a:t>。增加</a:t>
            </a:r>
            <a:r>
              <a:rPr lang="zh-CN" altLang="en-US" b="1" dirty="0">
                <a:latin typeface="微软雅黑" pitchFamily="34" charset="-122"/>
                <a:ea typeface="微软雅黑" pitchFamily="34" charset="-122"/>
              </a:rPr>
              <a:t>此时间值可减少网络开销，而减少此时间值可提高</a:t>
            </a:r>
            <a:r>
              <a:rPr lang="zh-CN" altLang="en-US" b="1" dirty="0" smtClean="0">
                <a:latin typeface="微软雅黑" pitchFamily="34" charset="-122"/>
                <a:ea typeface="微软雅黑" pitchFamily="34" charset="-122"/>
              </a:rPr>
              <a:t>域名解析的</a:t>
            </a:r>
            <a:r>
              <a:rPr lang="zh-CN" altLang="en-US" b="1" dirty="0">
                <a:latin typeface="微软雅黑" pitchFamily="34" charset="-122"/>
                <a:ea typeface="微软雅黑" pitchFamily="34" charset="-122"/>
              </a:rPr>
              <a:t>准确性。 </a:t>
            </a:r>
          </a:p>
        </p:txBody>
      </p:sp>
    </p:spTree>
    <p:custDataLst>
      <p:tags r:id="rId1"/>
    </p:custDataLst>
    <p:extLst>
      <p:ext uri="{BB962C8B-B14F-4D97-AF65-F5344CB8AC3E}">
        <p14:creationId xmlns:p14="http://schemas.microsoft.com/office/powerpoint/2010/main" val="111480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0">
                                            <p:txEl>
                                              <p:pRg st="2" end="2"/>
                                            </p:txEl>
                                          </p:spTgt>
                                        </p:tgtEl>
                                        <p:attrNameLst>
                                          <p:attrName>style.visibility</p:attrName>
                                        </p:attrNameLst>
                                      </p:cBhvr>
                                      <p:to>
                                        <p:strVal val="visible"/>
                                      </p:to>
                                    </p:set>
                                    <p:animEffect transition="in" filter="fade">
                                      <p:cBhvr>
                                        <p:cTn id="10" dur="500"/>
                                        <p:tgtEl>
                                          <p:spTgt spid="10">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xEl>
                                              <p:pRg st="3" end="3"/>
                                            </p:txEl>
                                          </p:spTgt>
                                        </p:tgtEl>
                                        <p:attrNameLst>
                                          <p:attrName>style.visibility</p:attrName>
                                        </p:attrNameLst>
                                      </p:cBhvr>
                                      <p:to>
                                        <p:strVal val="visible"/>
                                      </p:to>
                                    </p:set>
                                    <p:animEffect transition="in" filter="fade">
                                      <p:cBhvr>
                                        <p:cTn id="13" dur="500"/>
                                        <p:tgtEl>
                                          <p:spTgt spid="10">
                                            <p:txEl>
                                              <p:pRg st="3" end="3"/>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xEl>
                                              <p:pRg st="4" end="4"/>
                                            </p:txEl>
                                          </p:spTgt>
                                        </p:tgtEl>
                                        <p:attrNameLst>
                                          <p:attrName>style.visibility</p:attrName>
                                        </p:attrNameLst>
                                      </p:cBhvr>
                                      <p:to>
                                        <p:strVal val="visible"/>
                                      </p:to>
                                    </p:set>
                                    <p:animEffect transition="in" filter="fade">
                                      <p:cBhvr>
                                        <p:cTn id="16" dur="500"/>
                                        <p:tgtEl>
                                          <p:spTgt spid="10">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0">
                                            <p:txEl>
                                              <p:pRg st="5" end="5"/>
                                            </p:txEl>
                                          </p:spTgt>
                                        </p:tgtEl>
                                        <p:attrNameLst>
                                          <p:attrName>style.visibility</p:attrName>
                                        </p:attrNameLst>
                                      </p:cBhvr>
                                      <p:to>
                                        <p:strVal val="visible"/>
                                      </p:to>
                                    </p:set>
                                    <p:animEffect transition="in" filter="fade">
                                      <p:cBhvr>
                                        <p:cTn id="21" dur="500"/>
                                        <p:tgtEl>
                                          <p:spTgt spid="10">
                                            <p:txEl>
                                              <p:pRg st="5" end="5"/>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0">
                                            <p:txEl>
                                              <p:pRg st="6" end="6"/>
                                            </p:txEl>
                                          </p:spTgt>
                                        </p:tgtEl>
                                        <p:attrNameLst>
                                          <p:attrName>style.visibility</p:attrName>
                                        </p:attrNameLst>
                                      </p:cBhvr>
                                      <p:to>
                                        <p:strVal val="visible"/>
                                      </p:to>
                                    </p:set>
                                    <p:animEffect transition="in" filter="fade">
                                      <p:cBhvr>
                                        <p:cTn id="26" dur="500"/>
                                        <p:tgtEl>
                                          <p:spTgt spid="10">
                                            <p:txEl>
                                              <p:pRg st="6" end="6"/>
                                            </p:txEl>
                                          </p:spTgt>
                                        </p:tgtEl>
                                      </p:cBhvr>
                                    </p:animEffect>
                                  </p:childTnLst>
                                </p:cTn>
                              </p:par>
                            </p:childTnLst>
                          </p:cTn>
                        </p:par>
                        <p:par>
                          <p:cTn id="27" fill="hold">
                            <p:stCondLst>
                              <p:cond delay="500"/>
                            </p:stCondLst>
                            <p:childTnLst>
                              <p:par>
                                <p:cTn id="28" presetID="10" presetClass="entr" presetSubtype="0" fill="hold" nodeType="after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fade">
                                      <p:cBhvr>
                                        <p:cTn id="30"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649850" y="575260"/>
            <a:ext cx="18630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DNS </a:t>
            </a:r>
            <a:r>
              <a:rPr lang="zh-CN" altLang="en-US" sz="2000" b="1" dirty="0" smtClean="0">
                <a:solidFill>
                  <a:schemeClr val="bg1"/>
                </a:solidFill>
                <a:latin typeface="微软雅黑" pitchFamily="34" charset="-122"/>
                <a:ea typeface="微软雅黑" pitchFamily="34" charset="-122"/>
              </a:rPr>
              <a:t>资源记录</a:t>
            </a:r>
          </a:p>
        </p:txBody>
      </p:sp>
      <p:sp>
        <p:nvSpPr>
          <p:cNvPr id="10" name="Rectangle 68"/>
          <p:cNvSpPr>
            <a:spLocks noChangeArrowheads="1"/>
          </p:cNvSpPr>
          <p:nvPr/>
        </p:nvSpPr>
        <p:spPr bwMode="auto">
          <a:xfrm>
            <a:off x="556963" y="944138"/>
            <a:ext cx="8048776"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000"/>
              </a:lnSpc>
              <a:buClr>
                <a:srgbClr val="0070C0"/>
              </a:buClr>
              <a:buFont typeface="Wingdings" pitchFamily="2" charset="2"/>
              <a:buChar char="l"/>
            </a:pPr>
            <a:r>
              <a:rPr lang="en-US" altLang="zh-CN" b="1" dirty="0" smtClean="0">
                <a:solidFill>
                  <a:srgbClr val="C00000"/>
                </a:solidFill>
                <a:latin typeface="微软雅黑" pitchFamily="34" charset="-122"/>
                <a:ea typeface="微软雅黑" pitchFamily="34" charset="-122"/>
              </a:rPr>
              <a:t>DNS </a:t>
            </a:r>
            <a:r>
              <a:rPr lang="zh-CN" altLang="en-US" b="1" dirty="0" smtClean="0">
                <a:solidFill>
                  <a:srgbClr val="C00000"/>
                </a:solidFill>
                <a:latin typeface="微软雅黑" pitchFamily="34" charset="-122"/>
                <a:ea typeface="微软雅黑" pitchFamily="34" charset="-122"/>
              </a:rPr>
              <a:t>资源记录 </a:t>
            </a:r>
            <a:r>
              <a:rPr lang="en-US" altLang="zh-CN" b="1" dirty="0" smtClean="0">
                <a:solidFill>
                  <a:srgbClr val="C00000"/>
                </a:solidFill>
                <a:latin typeface="微软雅黑" pitchFamily="34" charset="-122"/>
                <a:ea typeface="微软雅黑" pitchFamily="34" charset="-122"/>
              </a:rPr>
              <a:t>RR</a:t>
            </a:r>
            <a:r>
              <a:rPr lang="en-US" altLang="zh-CN" b="1" dirty="0" smtClean="0">
                <a:latin typeface="微软雅黑" pitchFamily="34" charset="-122"/>
                <a:ea typeface="微软雅黑" pitchFamily="34" charset="-122"/>
              </a:rPr>
              <a:t> </a:t>
            </a:r>
            <a:r>
              <a:rPr lang="en-US" altLang="zh-CN" b="1" dirty="0">
                <a:latin typeface="微软雅黑" pitchFamily="34" charset="-122"/>
                <a:ea typeface="微软雅黑" pitchFamily="34" charset="-122"/>
              </a:rPr>
              <a:t>(Resource Record)</a:t>
            </a:r>
            <a:r>
              <a:rPr lang="zh-CN" altLang="en-US" b="1" dirty="0">
                <a:latin typeface="微软雅黑" pitchFamily="34" charset="-122"/>
                <a:ea typeface="微软雅黑" pitchFamily="34" charset="-122"/>
              </a:rPr>
              <a:t>是域名系统中的基本信息</a:t>
            </a:r>
            <a:r>
              <a:rPr lang="zh-CN" altLang="en-US" b="1" dirty="0" smtClean="0">
                <a:latin typeface="微软雅黑" pitchFamily="34" charset="-122"/>
                <a:ea typeface="微软雅黑" pitchFamily="34" charset="-122"/>
              </a:rPr>
              <a:t>存储单元，简称 </a:t>
            </a:r>
            <a:r>
              <a:rPr lang="en-US" altLang="zh-CN" b="1" dirty="0" smtClean="0">
                <a:solidFill>
                  <a:srgbClr val="C00000"/>
                </a:solidFill>
                <a:latin typeface="微软雅黑" pitchFamily="34" charset="-122"/>
                <a:ea typeface="微软雅黑" pitchFamily="34" charset="-122"/>
              </a:rPr>
              <a:t>DNS </a:t>
            </a:r>
            <a:r>
              <a:rPr lang="zh-CN" altLang="en-US" b="1" dirty="0" smtClean="0">
                <a:solidFill>
                  <a:srgbClr val="C00000"/>
                </a:solidFill>
                <a:latin typeface="微软雅黑" pitchFamily="34" charset="-122"/>
                <a:ea typeface="微软雅黑" pitchFamily="34" charset="-122"/>
              </a:rPr>
              <a:t>记录</a:t>
            </a:r>
            <a:r>
              <a:rPr lang="zh-CN" altLang="en-US" b="1" dirty="0">
                <a:latin typeface="微软雅黑" pitchFamily="34" charset="-122"/>
                <a:ea typeface="微软雅黑" pitchFamily="34" charset="-122"/>
              </a:rPr>
              <a:t>。</a:t>
            </a:r>
            <a:endParaRPr lang="en-US" altLang="zh-CN" b="1" dirty="0" smtClean="0">
              <a:solidFill>
                <a:srgbClr val="C00000"/>
              </a:solidFill>
              <a:latin typeface="微软雅黑" pitchFamily="34" charset="-122"/>
              <a:ea typeface="微软雅黑" pitchFamily="34" charset="-122"/>
            </a:endParaRPr>
          </a:p>
          <a:p>
            <a:pPr marL="285750" indent="-285750" algn="just"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格式：</a:t>
            </a:r>
            <a:r>
              <a:rPr lang="zh-CN" altLang="en-US" b="1" dirty="0">
                <a:solidFill>
                  <a:srgbClr val="C00000"/>
                </a:solidFill>
                <a:latin typeface="微软雅黑" pitchFamily="34" charset="-122"/>
                <a:ea typeface="微软雅黑" pitchFamily="34" charset="-122"/>
              </a:rPr>
              <a:t>域名 </a:t>
            </a:r>
            <a:r>
              <a:rPr lang="en-US" altLang="zh-CN" b="1" dirty="0">
                <a:solidFill>
                  <a:srgbClr val="C00000"/>
                </a:solidFill>
                <a:latin typeface="微软雅黑" pitchFamily="34" charset="-122"/>
                <a:ea typeface="微软雅黑" pitchFamily="34" charset="-122"/>
              </a:rPr>
              <a:t>NAME</a:t>
            </a:r>
            <a:r>
              <a:rPr lang="zh-CN" altLang="en-US" b="1" dirty="0">
                <a:solidFill>
                  <a:srgbClr val="C00000"/>
                </a:solidFill>
                <a:latin typeface="微软雅黑" pitchFamily="34" charset="-122"/>
                <a:ea typeface="微软雅黑" pitchFamily="34" charset="-122"/>
              </a:rPr>
              <a:t>，类型 </a:t>
            </a:r>
            <a:r>
              <a:rPr lang="en-US" altLang="zh-CN" b="1" dirty="0">
                <a:solidFill>
                  <a:srgbClr val="C00000"/>
                </a:solidFill>
                <a:latin typeface="微软雅黑" pitchFamily="34" charset="-122"/>
                <a:ea typeface="微软雅黑" pitchFamily="34" charset="-122"/>
              </a:rPr>
              <a:t>TYPE</a:t>
            </a:r>
            <a:r>
              <a:rPr lang="zh-CN" altLang="en-US" b="1" dirty="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类别 </a:t>
            </a:r>
            <a:r>
              <a:rPr lang="en-US" altLang="zh-CN" b="1" dirty="0" smtClean="0">
                <a:latin typeface="微软雅黑" pitchFamily="34" charset="-122"/>
                <a:ea typeface="微软雅黑" pitchFamily="34" charset="-122"/>
              </a:rPr>
              <a:t>CLASS</a:t>
            </a:r>
            <a:r>
              <a:rPr lang="zh-CN" altLang="en-US" b="1" dirty="0">
                <a:latin typeface="微软雅黑" pitchFamily="34" charset="-122"/>
                <a:ea typeface="微软雅黑" pitchFamily="34" charset="-122"/>
              </a:rPr>
              <a:t>，生存时</a:t>
            </a:r>
            <a:r>
              <a:rPr lang="zh-CN" altLang="en-US" b="1" dirty="0" smtClean="0">
                <a:latin typeface="微软雅黑" pitchFamily="34" charset="-122"/>
                <a:ea typeface="微软雅黑" pitchFamily="34" charset="-122"/>
              </a:rPr>
              <a:t>间 </a:t>
            </a:r>
            <a:r>
              <a:rPr lang="en-US" altLang="zh-CN" b="1" dirty="0" smtClean="0">
                <a:latin typeface="微软雅黑" pitchFamily="34" charset="-122"/>
                <a:ea typeface="微软雅黑" pitchFamily="34" charset="-122"/>
              </a:rPr>
              <a:t>TTL</a:t>
            </a:r>
            <a:r>
              <a:rPr lang="zh-CN" altLang="en-US" b="1" dirty="0">
                <a:latin typeface="微软雅黑" pitchFamily="34" charset="-122"/>
                <a:ea typeface="微软雅黑" pitchFamily="34" charset="-122"/>
              </a:rPr>
              <a:t>，记录数据</a:t>
            </a:r>
            <a:r>
              <a:rPr lang="zh-CN" altLang="en-US" b="1" dirty="0" smtClean="0">
                <a:latin typeface="微软雅黑" pitchFamily="34" charset="-122"/>
                <a:ea typeface="微软雅黑" pitchFamily="34" charset="-122"/>
              </a:rPr>
              <a:t>长度 </a:t>
            </a:r>
            <a:r>
              <a:rPr lang="en-US" altLang="zh-CN" b="1" dirty="0" smtClean="0">
                <a:latin typeface="微软雅黑" pitchFamily="34" charset="-122"/>
                <a:ea typeface="微软雅黑" pitchFamily="34" charset="-122"/>
              </a:rPr>
              <a:t>RDLENGTH</a:t>
            </a:r>
            <a:r>
              <a:rPr lang="zh-CN" altLang="en-US" b="1" dirty="0">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资源数据 </a:t>
            </a:r>
            <a:r>
              <a:rPr lang="en-US" altLang="zh-CN" b="1" dirty="0">
                <a:solidFill>
                  <a:srgbClr val="C00000"/>
                </a:solidFill>
                <a:latin typeface="微软雅黑" pitchFamily="34" charset="-122"/>
                <a:ea typeface="微软雅黑" pitchFamily="34" charset="-122"/>
              </a:rPr>
              <a:t>RDATA</a:t>
            </a:r>
            <a:r>
              <a:rPr lang="zh-CN" altLang="en-US" b="1" dirty="0">
                <a:latin typeface="微软雅黑" pitchFamily="34" charset="-122"/>
                <a:ea typeface="微软雅黑" pitchFamily="34" charset="-122"/>
              </a:rPr>
              <a:t>（其格式随</a:t>
            </a:r>
            <a:r>
              <a:rPr lang="en-US" altLang="zh-CN" b="1" dirty="0">
                <a:latin typeface="微软雅黑" pitchFamily="34" charset="-122"/>
                <a:ea typeface="微软雅黑" pitchFamily="34" charset="-122"/>
              </a:rPr>
              <a:t>TYPE</a:t>
            </a:r>
            <a:r>
              <a:rPr lang="zh-CN" altLang="en-US" b="1" dirty="0">
                <a:latin typeface="微软雅黑" pitchFamily="34" charset="-122"/>
                <a:ea typeface="微软雅黑" pitchFamily="34" charset="-122"/>
              </a:rPr>
              <a:t>变化）等。 </a:t>
            </a:r>
            <a:endParaRPr lang="en-US" altLang="zh-CN" b="1" dirty="0" smtClean="0">
              <a:latin typeface="微软雅黑" pitchFamily="34" charset="-122"/>
              <a:ea typeface="微软雅黑" pitchFamily="34" charset="-122"/>
            </a:endParaRPr>
          </a:p>
          <a:p>
            <a:pPr marL="742950" lvl="1" indent="-28575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域名 </a:t>
            </a:r>
            <a:r>
              <a:rPr lang="en-US" altLang="zh-CN" sz="1600" b="1" dirty="0" smtClean="0">
                <a:latin typeface="微软雅黑" pitchFamily="34" charset="-122"/>
                <a:ea typeface="微软雅黑" pitchFamily="34" charset="-122"/>
              </a:rPr>
              <a:t>NAME</a:t>
            </a:r>
            <a:r>
              <a:rPr lang="zh-CN" altLang="en-US" sz="1600" b="1" dirty="0" smtClean="0">
                <a:latin typeface="微软雅黑" pitchFamily="34" charset="-122"/>
                <a:ea typeface="微软雅黑" pitchFamily="34" charset="-122"/>
              </a:rPr>
              <a:t>：标识记录</a:t>
            </a:r>
            <a:r>
              <a:rPr lang="zh-CN" altLang="en-US" sz="1600" b="1" dirty="0">
                <a:latin typeface="微软雅黑" pitchFamily="34" charset="-122"/>
                <a:ea typeface="微软雅黑" pitchFamily="34" charset="-122"/>
              </a:rPr>
              <a:t>所属的</a:t>
            </a:r>
            <a:r>
              <a:rPr lang="zh-CN" altLang="en-US" sz="1600" b="1" dirty="0" smtClean="0">
                <a:latin typeface="微软雅黑" pitchFamily="34" charset="-122"/>
                <a:ea typeface="微软雅黑" pitchFamily="34" charset="-122"/>
              </a:rPr>
              <a:t>域名。</a:t>
            </a:r>
            <a:endParaRPr lang="en-US" altLang="zh-CN" sz="1600" b="1" dirty="0" smtClean="0">
              <a:latin typeface="微软雅黑" pitchFamily="34" charset="-122"/>
              <a:ea typeface="微软雅黑" pitchFamily="34" charset="-122"/>
            </a:endParaRPr>
          </a:p>
          <a:p>
            <a:pPr marL="742950" lvl="1" indent="-28575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类型 </a:t>
            </a:r>
            <a:r>
              <a:rPr lang="en-US" altLang="zh-CN" sz="1600" b="1" dirty="0" smtClean="0">
                <a:latin typeface="微软雅黑" pitchFamily="34" charset="-122"/>
                <a:ea typeface="微软雅黑" pitchFamily="34" charset="-122"/>
              </a:rPr>
              <a:t>TYPE</a:t>
            </a:r>
            <a:r>
              <a:rPr lang="zh-CN" altLang="en-US" sz="1600" b="1" dirty="0" smtClean="0">
                <a:latin typeface="微软雅黑" pitchFamily="34" charset="-122"/>
                <a:ea typeface="微软雅黑" pitchFamily="34" charset="-122"/>
              </a:rPr>
              <a:t>：指明记录</a:t>
            </a:r>
            <a:r>
              <a:rPr lang="zh-CN" altLang="en-US" sz="1600" b="1" dirty="0">
                <a:latin typeface="微软雅黑" pitchFamily="34" charset="-122"/>
                <a:ea typeface="微软雅黑" pitchFamily="34" charset="-122"/>
              </a:rPr>
              <a:t>的数据格式和</a:t>
            </a:r>
            <a:r>
              <a:rPr lang="zh-CN" altLang="en-US" sz="1600" b="1" dirty="0" smtClean="0">
                <a:latin typeface="微软雅黑" pitchFamily="34" charset="-122"/>
                <a:ea typeface="微软雅黑" pitchFamily="34" charset="-122"/>
              </a:rPr>
              <a:t>功能。</a:t>
            </a:r>
            <a:endParaRPr lang="en-US" altLang="zh-CN" sz="1600" b="1" dirty="0" smtClean="0">
              <a:latin typeface="微软雅黑" pitchFamily="34" charset="-122"/>
              <a:ea typeface="微软雅黑" pitchFamily="34" charset="-122"/>
            </a:endParaRPr>
          </a:p>
          <a:p>
            <a:pPr marL="742950" lvl="1" indent="-285750" algn="just" hangingPunct="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资源</a:t>
            </a:r>
            <a:r>
              <a:rPr lang="zh-CN" altLang="en-US" sz="1600" b="1" dirty="0" smtClean="0">
                <a:latin typeface="微软雅黑" pitchFamily="34" charset="-122"/>
                <a:ea typeface="微软雅黑" pitchFamily="34" charset="-122"/>
              </a:rPr>
              <a:t>数据 </a:t>
            </a:r>
            <a:r>
              <a:rPr lang="en-US" altLang="zh-CN" sz="1600" b="1" dirty="0" smtClean="0">
                <a:latin typeface="微软雅黑" pitchFamily="34" charset="-122"/>
                <a:ea typeface="微软雅黑" pitchFamily="34" charset="-122"/>
              </a:rPr>
              <a:t>RDATA</a:t>
            </a:r>
            <a:r>
              <a:rPr lang="zh-CN" altLang="en-US" sz="1600" b="1" dirty="0" smtClean="0">
                <a:latin typeface="微软雅黑" pitchFamily="34" charset="-122"/>
                <a:ea typeface="微软雅黑" pitchFamily="34" charset="-122"/>
              </a:rPr>
              <a:t>：</a:t>
            </a:r>
            <a:r>
              <a:rPr lang="zh-CN" altLang="en-US" sz="1600" b="1" dirty="0">
                <a:latin typeface="微软雅黑" pitchFamily="34" charset="-122"/>
                <a:ea typeface="微软雅黑" pitchFamily="34" charset="-122"/>
              </a:rPr>
              <a:t>存储具体的解析</a:t>
            </a:r>
            <a:r>
              <a:rPr lang="zh-CN" altLang="en-US" sz="1600" b="1" dirty="0" smtClean="0">
                <a:latin typeface="微软雅黑" pitchFamily="34" charset="-122"/>
                <a:ea typeface="微软雅黑" pitchFamily="34" charset="-122"/>
              </a:rPr>
              <a:t>结果，数据格式和含义取决于 </a:t>
            </a:r>
            <a:r>
              <a:rPr lang="en-US" altLang="zh-CN" sz="1600" b="1" dirty="0">
                <a:latin typeface="微软雅黑" pitchFamily="34" charset="-122"/>
                <a:ea typeface="微软雅黑" pitchFamily="34" charset="-122"/>
              </a:rPr>
              <a:t>TYPE </a:t>
            </a:r>
            <a:r>
              <a:rPr lang="zh-CN" altLang="en-US" sz="1600" b="1" dirty="0" smtClean="0">
                <a:latin typeface="微软雅黑" pitchFamily="34" charset="-122"/>
                <a:ea typeface="微软雅黑" pitchFamily="34" charset="-122"/>
              </a:rPr>
              <a:t>值</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marL="742950" lvl="1" indent="-285750" algn="just"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3721738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fad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3" end="3"/>
                                            </p:txEl>
                                          </p:spTgt>
                                        </p:tgtEl>
                                        <p:attrNameLst>
                                          <p:attrName>style.visibility</p:attrName>
                                        </p:attrNameLst>
                                      </p:cBhvr>
                                      <p:to>
                                        <p:strVal val="visible"/>
                                      </p:to>
                                    </p:set>
                                    <p:animEffect transition="in" filter="fade">
                                      <p:cBhvr>
                                        <p:cTn id="17" dur="500"/>
                                        <p:tgtEl>
                                          <p:spTgt spid="10">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xEl>
                                              <p:pRg st="4" end="4"/>
                                            </p:txEl>
                                          </p:spTgt>
                                        </p:tgtEl>
                                        <p:attrNameLst>
                                          <p:attrName>style.visibility</p:attrName>
                                        </p:attrNameLst>
                                      </p:cBhvr>
                                      <p:to>
                                        <p:strVal val="visible"/>
                                      </p:to>
                                    </p:set>
                                    <p:animEffect transition="in" filter="fade">
                                      <p:cBhvr>
                                        <p:cTn id="22"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688322" y="575260"/>
            <a:ext cx="17860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DNS</a:t>
            </a:r>
            <a:r>
              <a:rPr lang="zh-CN" altLang="en-US" sz="2000" b="1" dirty="0" smtClean="0">
                <a:solidFill>
                  <a:schemeClr val="bg1"/>
                </a:solidFill>
                <a:latin typeface="微软雅黑" pitchFamily="34" charset="-122"/>
                <a:ea typeface="微软雅黑" pitchFamily="34" charset="-122"/>
              </a:rPr>
              <a:t>资源记录</a:t>
            </a:r>
          </a:p>
        </p:txBody>
      </p:sp>
      <p:sp>
        <p:nvSpPr>
          <p:cNvPr id="10" name="Rectangle 68"/>
          <p:cNvSpPr>
            <a:spLocks noChangeArrowheads="1"/>
          </p:cNvSpPr>
          <p:nvPr/>
        </p:nvSpPr>
        <p:spPr bwMode="auto">
          <a:xfrm>
            <a:off x="556963" y="944138"/>
            <a:ext cx="8299654" cy="39010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典型 </a:t>
            </a:r>
            <a:r>
              <a:rPr lang="en-US" altLang="zh-CN" sz="2000" b="1" dirty="0" smtClean="0">
                <a:latin typeface="微软雅黑" pitchFamily="34" charset="-122"/>
                <a:ea typeface="微软雅黑" pitchFamily="34" charset="-122"/>
              </a:rPr>
              <a:t>DNS </a:t>
            </a:r>
            <a:r>
              <a:rPr lang="zh-CN" altLang="en-US" sz="2000" b="1" dirty="0" smtClean="0">
                <a:latin typeface="微软雅黑" pitchFamily="34" charset="-122"/>
                <a:ea typeface="微软雅黑" pitchFamily="34" charset="-122"/>
              </a:rPr>
              <a:t>记录</a:t>
            </a:r>
            <a:r>
              <a:rPr lang="zh-CN" altLang="en-US" sz="2000" b="1" dirty="0">
                <a:latin typeface="微软雅黑" pitchFamily="34" charset="-122"/>
                <a:ea typeface="微软雅黑" pitchFamily="34" charset="-122"/>
              </a:rPr>
              <a:t>类型及其</a:t>
            </a:r>
            <a:r>
              <a:rPr lang="zh-CN" altLang="en-US" sz="2000" b="1" dirty="0" smtClean="0">
                <a:latin typeface="微软雅黑" pitchFamily="34" charset="-122"/>
                <a:ea typeface="微软雅黑" pitchFamily="34" charset="-122"/>
              </a:rPr>
              <a:t>用途</a:t>
            </a:r>
            <a:endParaRPr lang="en-US" altLang="zh-CN" sz="2000" b="1" dirty="0" smtClean="0">
              <a:latin typeface="微软雅黑" pitchFamily="34" charset="-122"/>
              <a:ea typeface="微软雅黑" pitchFamily="34" charset="-122"/>
            </a:endParaRPr>
          </a:p>
          <a:p>
            <a:pPr marL="742950" lvl="1" indent="-285750" algn="just" hangingPunct="0">
              <a:lnSpc>
                <a:spcPts val="3300"/>
              </a:lnSpc>
              <a:buClr>
                <a:srgbClr val="0070C0"/>
              </a:buClr>
              <a:buFont typeface="Wingdings" pitchFamily="2" charset="2"/>
              <a:buChar char="l"/>
            </a:pPr>
            <a:r>
              <a:rPr lang="en-US" altLang="zh-CN" b="1" dirty="0" smtClean="0">
                <a:solidFill>
                  <a:srgbClr val="C00000"/>
                </a:solidFill>
                <a:latin typeface="微软雅黑" pitchFamily="34" charset="-122"/>
                <a:ea typeface="微软雅黑" pitchFamily="34" charset="-122"/>
              </a:rPr>
              <a:t>A </a:t>
            </a:r>
            <a:r>
              <a:rPr lang="zh-CN" altLang="en-US" b="1" dirty="0" smtClean="0">
                <a:solidFill>
                  <a:srgbClr val="C00000"/>
                </a:solidFill>
                <a:latin typeface="微软雅黑" pitchFamily="34" charset="-122"/>
                <a:ea typeface="微软雅黑" pitchFamily="34" charset="-122"/>
              </a:rPr>
              <a:t>记录</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TYPE = 1</a:t>
            </a:r>
            <a:r>
              <a:rPr lang="zh-CN" altLang="en-US" b="1" dirty="0" smtClean="0">
                <a:latin typeface="微软雅黑" pitchFamily="34" charset="-122"/>
                <a:ea typeface="微软雅黑" pitchFamily="34" charset="-122"/>
              </a:rPr>
              <a:t>）：最</a:t>
            </a:r>
            <a:r>
              <a:rPr lang="zh-CN" altLang="en-US" b="1" dirty="0">
                <a:latin typeface="微软雅黑" pitchFamily="34" charset="-122"/>
                <a:ea typeface="微软雅黑" pitchFamily="34" charset="-122"/>
              </a:rPr>
              <a:t>基础的记录类型</a:t>
            </a:r>
            <a:r>
              <a:rPr lang="zh-CN" altLang="en-US" b="1" dirty="0" smtClean="0">
                <a:latin typeface="微软雅黑" pitchFamily="34" charset="-122"/>
                <a:ea typeface="微软雅黑" pitchFamily="34" charset="-122"/>
              </a:rPr>
              <a:t>，此时</a:t>
            </a:r>
            <a:r>
              <a:rPr lang="en-US" altLang="zh-CN" b="1" dirty="0" smtClean="0">
                <a:latin typeface="微软雅黑" pitchFamily="34" charset="-122"/>
                <a:ea typeface="微软雅黑" pitchFamily="34" charset="-122"/>
              </a:rPr>
              <a:t>RDATA = </a:t>
            </a:r>
            <a:r>
              <a:rPr lang="en-US" altLang="zh-CN" b="1" dirty="0">
                <a:solidFill>
                  <a:srgbClr val="C00000"/>
                </a:solidFill>
                <a:latin typeface="微软雅黑" pitchFamily="34" charset="-122"/>
                <a:ea typeface="微软雅黑" pitchFamily="34" charset="-122"/>
              </a:rPr>
              <a:t>IPv4</a:t>
            </a:r>
            <a:r>
              <a:rPr lang="zh-CN" altLang="en-US" b="1" dirty="0">
                <a:solidFill>
                  <a:srgbClr val="C00000"/>
                </a:solidFill>
                <a:latin typeface="微软雅黑" pitchFamily="34" charset="-122"/>
                <a:ea typeface="微软雅黑" pitchFamily="34" charset="-122"/>
              </a:rPr>
              <a:t>地址</a:t>
            </a:r>
            <a:r>
              <a:rPr lang="zh-CN" altLang="en-US" b="1" dirty="0" smtClean="0">
                <a:latin typeface="微软雅黑" pitchFamily="34" charset="-122"/>
                <a:ea typeface="微软雅黑" pitchFamily="34" charset="-122"/>
              </a:rPr>
              <a:t>，用于将域名</a:t>
            </a:r>
            <a:r>
              <a:rPr lang="zh-CN" altLang="en-US" b="1" dirty="0">
                <a:latin typeface="微软雅黑" pitchFamily="34" charset="-122"/>
                <a:ea typeface="微软雅黑" pitchFamily="34" charset="-122"/>
              </a:rPr>
              <a:t>映射为</a:t>
            </a:r>
            <a:r>
              <a:rPr lang="en-US" altLang="zh-CN" b="1" dirty="0">
                <a:latin typeface="微软雅黑" pitchFamily="34" charset="-122"/>
                <a:ea typeface="微软雅黑" pitchFamily="34" charset="-122"/>
              </a:rPr>
              <a:t>IPv4</a:t>
            </a:r>
            <a:r>
              <a:rPr lang="zh-CN" altLang="en-US" b="1" dirty="0">
                <a:latin typeface="微软雅黑" pitchFamily="34" charset="-122"/>
                <a:ea typeface="微软雅黑" pitchFamily="34" charset="-122"/>
              </a:rPr>
              <a:t>地址</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gn="just" hangingPunct="0">
              <a:lnSpc>
                <a:spcPts val="3300"/>
              </a:lnSpc>
              <a:buClr>
                <a:srgbClr val="0070C0"/>
              </a:buClr>
              <a:buFont typeface="Wingdings" pitchFamily="2" charset="2"/>
              <a:buChar char="l"/>
            </a:pPr>
            <a:r>
              <a:rPr lang="en-US" altLang="zh-CN" b="1" dirty="0" smtClean="0">
                <a:solidFill>
                  <a:srgbClr val="C00000"/>
                </a:solidFill>
                <a:latin typeface="微软雅黑" pitchFamily="34" charset="-122"/>
                <a:ea typeface="微软雅黑" pitchFamily="34" charset="-122"/>
              </a:rPr>
              <a:t>AAAA </a:t>
            </a:r>
            <a:r>
              <a:rPr lang="zh-CN" altLang="en-US" b="1" dirty="0" smtClean="0">
                <a:solidFill>
                  <a:srgbClr val="C00000"/>
                </a:solidFill>
                <a:latin typeface="微软雅黑" pitchFamily="34" charset="-122"/>
                <a:ea typeface="微软雅黑" pitchFamily="34" charset="-122"/>
              </a:rPr>
              <a:t>记录</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TYPE = 28</a:t>
            </a:r>
            <a:r>
              <a:rPr lang="zh-CN" altLang="en-US" b="1" dirty="0" smtClean="0">
                <a:latin typeface="微软雅黑" pitchFamily="34" charset="-122"/>
                <a:ea typeface="微软雅黑" pitchFamily="34" charset="-122"/>
              </a:rPr>
              <a:t>）：最</a:t>
            </a:r>
            <a:r>
              <a:rPr lang="zh-CN" altLang="en-US" b="1" dirty="0">
                <a:latin typeface="微软雅黑" pitchFamily="34" charset="-122"/>
                <a:ea typeface="微软雅黑" pitchFamily="34" charset="-122"/>
              </a:rPr>
              <a:t>基础的记录类型，</a:t>
            </a:r>
            <a:r>
              <a:rPr lang="zh-CN" altLang="en-US" b="1" dirty="0" smtClean="0">
                <a:latin typeface="微软雅黑" pitchFamily="34" charset="-122"/>
                <a:ea typeface="微软雅黑" pitchFamily="34" charset="-122"/>
              </a:rPr>
              <a:t>此时</a:t>
            </a:r>
            <a:r>
              <a:rPr lang="en-US" altLang="zh-CN" b="1" dirty="0" smtClean="0">
                <a:latin typeface="微软雅黑" pitchFamily="34" charset="-122"/>
                <a:ea typeface="微软雅黑" pitchFamily="34" charset="-122"/>
              </a:rPr>
              <a:t>RDATA = </a:t>
            </a:r>
            <a:r>
              <a:rPr lang="en-US" altLang="zh-CN" b="1" dirty="0">
                <a:solidFill>
                  <a:srgbClr val="C00000"/>
                </a:solidFill>
                <a:latin typeface="微软雅黑" pitchFamily="34" charset="-122"/>
                <a:ea typeface="微软雅黑" pitchFamily="34" charset="-122"/>
              </a:rPr>
              <a:t>IPv6</a:t>
            </a:r>
            <a:r>
              <a:rPr lang="zh-CN" altLang="en-US" b="1" dirty="0">
                <a:solidFill>
                  <a:srgbClr val="C00000"/>
                </a:solidFill>
                <a:latin typeface="微软雅黑" pitchFamily="34" charset="-122"/>
                <a:ea typeface="微软雅黑" pitchFamily="34" charset="-122"/>
              </a:rPr>
              <a:t>地址</a:t>
            </a:r>
            <a:r>
              <a:rPr lang="zh-CN" altLang="en-US" b="1" dirty="0" smtClean="0">
                <a:latin typeface="微软雅黑" pitchFamily="34" charset="-122"/>
                <a:ea typeface="微软雅黑" pitchFamily="34" charset="-122"/>
              </a:rPr>
              <a:t>，用于将域名</a:t>
            </a:r>
            <a:r>
              <a:rPr lang="zh-CN" altLang="en-US" b="1" dirty="0">
                <a:latin typeface="微软雅黑" pitchFamily="34" charset="-122"/>
                <a:ea typeface="微软雅黑" pitchFamily="34" charset="-122"/>
              </a:rPr>
              <a:t>映射为</a:t>
            </a:r>
            <a:r>
              <a:rPr lang="en-US" altLang="zh-CN" b="1" dirty="0">
                <a:latin typeface="微软雅黑" pitchFamily="34" charset="-122"/>
                <a:ea typeface="微软雅黑" pitchFamily="34" charset="-122"/>
              </a:rPr>
              <a:t>IPv6</a:t>
            </a:r>
            <a:r>
              <a:rPr lang="zh-CN" altLang="en-US" b="1" dirty="0">
                <a:latin typeface="微软雅黑" pitchFamily="34" charset="-122"/>
                <a:ea typeface="微软雅黑" pitchFamily="34" charset="-122"/>
              </a:rPr>
              <a:t>地址。 </a:t>
            </a:r>
            <a:endParaRPr lang="en-US" altLang="zh-CN" b="1" dirty="0" smtClean="0">
              <a:latin typeface="微软雅黑" pitchFamily="34" charset="-122"/>
              <a:ea typeface="微软雅黑" pitchFamily="34" charset="-122"/>
            </a:endParaRPr>
          </a:p>
          <a:p>
            <a:pPr marL="742950" lvl="1" indent="-285750" algn="just" hangingPunct="0">
              <a:lnSpc>
                <a:spcPts val="3300"/>
              </a:lnSpc>
              <a:buClr>
                <a:srgbClr val="0070C0"/>
              </a:buClr>
              <a:buFont typeface="Wingdings" pitchFamily="2" charset="2"/>
              <a:buChar char="l"/>
            </a:pPr>
            <a:r>
              <a:rPr lang="en-US" altLang="zh-CN" b="1" dirty="0" smtClean="0">
                <a:solidFill>
                  <a:srgbClr val="C00000"/>
                </a:solidFill>
                <a:latin typeface="微软雅黑" pitchFamily="34" charset="-122"/>
                <a:ea typeface="微软雅黑" pitchFamily="34" charset="-122"/>
              </a:rPr>
              <a:t>NS </a:t>
            </a:r>
            <a:r>
              <a:rPr lang="zh-CN" altLang="en-US" b="1" dirty="0" smtClean="0">
                <a:solidFill>
                  <a:srgbClr val="C00000"/>
                </a:solidFill>
                <a:latin typeface="微软雅黑" pitchFamily="34" charset="-122"/>
                <a:ea typeface="微软雅黑" pitchFamily="34" charset="-122"/>
              </a:rPr>
              <a:t>记录</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TYPE = 2</a:t>
            </a:r>
            <a:r>
              <a:rPr lang="zh-CN" altLang="en-US" b="1" dirty="0" smtClean="0">
                <a:latin typeface="微软雅黑" pitchFamily="34" charset="-122"/>
                <a:ea typeface="微软雅黑" pitchFamily="34" charset="-122"/>
              </a:rPr>
              <a:t>）：此时</a:t>
            </a:r>
            <a:r>
              <a:rPr lang="en-US" altLang="zh-CN" b="1" dirty="0" smtClean="0">
                <a:latin typeface="微软雅黑" pitchFamily="34" charset="-122"/>
                <a:ea typeface="微软雅黑" pitchFamily="34" charset="-122"/>
              </a:rPr>
              <a:t>RDATA = </a:t>
            </a:r>
            <a:r>
              <a:rPr lang="zh-CN" altLang="en-US" b="1" dirty="0">
                <a:solidFill>
                  <a:srgbClr val="C00000"/>
                </a:solidFill>
                <a:latin typeface="微软雅黑" pitchFamily="34" charset="-122"/>
                <a:ea typeface="微软雅黑" pitchFamily="34" charset="-122"/>
              </a:rPr>
              <a:t>权威域名服务器的域名</a:t>
            </a:r>
            <a:r>
              <a:rPr lang="zh-CN" altLang="en-US" b="1" dirty="0" smtClean="0">
                <a:latin typeface="微软雅黑" pitchFamily="34" charset="-122"/>
                <a:ea typeface="微软雅黑" pitchFamily="34" charset="-122"/>
              </a:rPr>
              <a:t>，用于指明</a:t>
            </a:r>
            <a:r>
              <a:rPr lang="zh-CN" altLang="en-US" b="1" dirty="0">
                <a:latin typeface="微软雅黑" pitchFamily="34" charset="-122"/>
                <a:ea typeface="微软雅黑" pitchFamily="34" charset="-122"/>
              </a:rPr>
              <a:t>由哪个权威域名服务器</a:t>
            </a:r>
            <a:r>
              <a:rPr lang="zh-CN" altLang="en-US" b="1" dirty="0" smtClean="0">
                <a:latin typeface="微软雅黑" pitchFamily="34" charset="-122"/>
                <a:ea typeface="微软雅黑" pitchFamily="34" charset="-122"/>
              </a:rPr>
              <a:t>管理域名</a:t>
            </a:r>
            <a:r>
              <a:rPr lang="en-US" altLang="zh-CN" b="1" dirty="0" smtClean="0">
                <a:latin typeface="微软雅黑" pitchFamily="34" charset="-122"/>
                <a:ea typeface="微软雅黑" pitchFamily="34" charset="-122"/>
              </a:rPr>
              <a:t>NAME</a:t>
            </a:r>
            <a:r>
              <a:rPr lang="zh-CN" altLang="en-US" b="1" dirty="0" smtClean="0">
                <a:latin typeface="微软雅黑" pitchFamily="34" charset="-122"/>
                <a:ea typeface="微软雅黑" pitchFamily="34" charset="-122"/>
              </a:rPr>
              <a:t>中给出的域。</a:t>
            </a:r>
            <a:endParaRPr lang="en-US" altLang="zh-CN" b="1" dirty="0" smtClean="0">
              <a:latin typeface="微软雅黑" pitchFamily="34" charset="-122"/>
              <a:ea typeface="微软雅黑" pitchFamily="34" charset="-122"/>
            </a:endParaRPr>
          </a:p>
          <a:p>
            <a:pPr marL="742950" lvl="1" indent="-285750" algn="just" hangingPunct="0">
              <a:lnSpc>
                <a:spcPts val="3300"/>
              </a:lnSpc>
              <a:buClr>
                <a:srgbClr val="0070C0"/>
              </a:buClr>
              <a:buFont typeface="Wingdings" pitchFamily="2" charset="2"/>
              <a:buChar char="l"/>
            </a:pPr>
            <a:r>
              <a:rPr lang="en-US" altLang="zh-CN" b="1" dirty="0">
                <a:solidFill>
                  <a:srgbClr val="C00000"/>
                </a:solidFill>
                <a:latin typeface="微软雅黑" pitchFamily="34" charset="-122"/>
                <a:ea typeface="微软雅黑" pitchFamily="34" charset="-122"/>
              </a:rPr>
              <a:t>MX</a:t>
            </a:r>
            <a:r>
              <a:rPr lang="zh-CN" altLang="en-US" b="1" dirty="0">
                <a:solidFill>
                  <a:srgbClr val="C00000"/>
                </a:solidFill>
                <a:latin typeface="微软雅黑" pitchFamily="34" charset="-122"/>
                <a:ea typeface="微软雅黑" pitchFamily="34" charset="-122"/>
              </a:rPr>
              <a:t>记录</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TYPE=15</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此时</a:t>
            </a:r>
            <a:r>
              <a:rPr lang="en-US" altLang="zh-CN" b="1" dirty="0">
                <a:latin typeface="微软雅黑" pitchFamily="34" charset="-122"/>
                <a:ea typeface="微软雅黑" pitchFamily="34" charset="-122"/>
              </a:rPr>
              <a:t>RDATA </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与域名</a:t>
            </a:r>
            <a:r>
              <a:rPr lang="en-US" altLang="zh-CN" b="1" dirty="0" smtClean="0">
                <a:latin typeface="微软雅黑" pitchFamily="34" charset="-122"/>
                <a:ea typeface="微软雅黑" pitchFamily="34" charset="-122"/>
              </a:rPr>
              <a:t>NAME</a:t>
            </a:r>
            <a:r>
              <a:rPr lang="zh-CN" altLang="en-US" b="1" dirty="0" smtClean="0">
                <a:latin typeface="微软雅黑" pitchFamily="34" charset="-122"/>
                <a:ea typeface="微软雅黑" pitchFamily="34" charset="-122"/>
              </a:rPr>
              <a:t>相关联的</a:t>
            </a:r>
            <a:r>
              <a:rPr lang="zh-CN" altLang="en-US" b="1" dirty="0" smtClean="0">
                <a:solidFill>
                  <a:srgbClr val="C00000"/>
                </a:solidFill>
                <a:latin typeface="微软雅黑" pitchFamily="34" charset="-122"/>
                <a:ea typeface="微软雅黑" pitchFamily="34" charset="-122"/>
              </a:rPr>
              <a:t>邮件服务器</a:t>
            </a:r>
            <a:r>
              <a:rPr lang="zh-CN" altLang="en-US" b="1" dirty="0" smtClean="0">
                <a:latin typeface="微软雅黑" pitchFamily="34" charset="-122"/>
                <a:ea typeface="微软雅黑" pitchFamily="34" charset="-122"/>
              </a:rPr>
              <a:t>，用于查找域名对应的邮件服务器。</a:t>
            </a:r>
            <a:endParaRPr lang="en-US" altLang="zh-CN"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1151410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fad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3" end="3"/>
                                            </p:txEl>
                                          </p:spTgt>
                                        </p:tgtEl>
                                        <p:attrNameLst>
                                          <p:attrName>style.visibility</p:attrName>
                                        </p:attrNameLst>
                                      </p:cBhvr>
                                      <p:to>
                                        <p:strVal val="visible"/>
                                      </p:to>
                                    </p:set>
                                    <p:animEffect transition="in" filter="fade">
                                      <p:cBhvr>
                                        <p:cTn id="17" dur="500"/>
                                        <p:tgtEl>
                                          <p:spTgt spid="10">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xEl>
                                              <p:pRg st="4" end="4"/>
                                            </p:txEl>
                                          </p:spTgt>
                                        </p:tgtEl>
                                        <p:attrNameLst>
                                          <p:attrName>style.visibility</p:attrName>
                                        </p:attrNameLst>
                                      </p:cBhvr>
                                      <p:to>
                                        <p:strVal val="visible"/>
                                      </p:to>
                                    </p:set>
                                    <p:animEffect transition="in" filter="fade">
                                      <p:cBhvr>
                                        <p:cTn id="22"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Rectangle 9"/>
          <p:cNvSpPr>
            <a:spLocks noChangeArrowheads="1"/>
          </p:cNvSpPr>
          <p:nvPr/>
        </p:nvSpPr>
        <p:spPr bwMode="auto">
          <a:xfrm>
            <a:off x="2629135" y="274056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5" name="Rectangle 10"/>
          <p:cNvSpPr>
            <a:spLocks noChangeArrowheads="1"/>
          </p:cNvSpPr>
          <p:nvPr/>
        </p:nvSpPr>
        <p:spPr bwMode="auto">
          <a:xfrm>
            <a:off x="2629135" y="228201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6" name="Rectangle 9"/>
          <p:cNvSpPr>
            <a:spLocks noChangeArrowheads="1"/>
          </p:cNvSpPr>
          <p:nvPr/>
        </p:nvSpPr>
        <p:spPr bwMode="auto">
          <a:xfrm>
            <a:off x="2629135" y="18263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7" name="Rectangle 9"/>
          <p:cNvSpPr>
            <a:spLocks noChangeArrowheads="1"/>
          </p:cNvSpPr>
          <p:nvPr/>
        </p:nvSpPr>
        <p:spPr bwMode="auto">
          <a:xfrm>
            <a:off x="2629135" y="90400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9" name="Rectangle 10"/>
          <p:cNvSpPr>
            <a:spLocks noChangeArrowheads="1"/>
          </p:cNvSpPr>
          <p:nvPr/>
        </p:nvSpPr>
        <p:spPr bwMode="auto">
          <a:xfrm>
            <a:off x="2629135" y="136775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0" name="Line 16"/>
          <p:cNvSpPr>
            <a:spLocks noChangeShapeType="1"/>
          </p:cNvSpPr>
          <p:nvPr/>
        </p:nvSpPr>
        <p:spPr bwMode="auto">
          <a:xfrm>
            <a:off x="3637198" y="832562"/>
            <a:ext cx="0" cy="3357124"/>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 name="Rectangle 27"/>
          <p:cNvSpPr>
            <a:spLocks noChangeArrowheads="1"/>
          </p:cNvSpPr>
          <p:nvPr/>
        </p:nvSpPr>
        <p:spPr bwMode="auto">
          <a:xfrm>
            <a:off x="639730" y="90400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3" name="Rectangle 29"/>
          <p:cNvSpPr>
            <a:spLocks noChangeArrowheads="1"/>
          </p:cNvSpPr>
          <p:nvPr/>
        </p:nvSpPr>
        <p:spPr bwMode="auto">
          <a:xfrm>
            <a:off x="648619" y="99893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6.2</a:t>
            </a:r>
          </a:p>
          <a:p>
            <a:pPr eaLnBrk="0" hangingPunct="0"/>
            <a:r>
              <a:rPr lang="zh-CN" altLang="en-US" sz="2000" b="1" dirty="0">
                <a:solidFill>
                  <a:schemeClr val="bg1"/>
                </a:solidFill>
                <a:latin typeface="微软雅黑" pitchFamily="34" charset="-122"/>
                <a:ea typeface="微软雅黑" pitchFamily="34" charset="-122"/>
              </a:rPr>
              <a:t>万维网 </a:t>
            </a:r>
            <a:r>
              <a:rPr lang="en-US" altLang="zh-CN" sz="2000" b="1" dirty="0">
                <a:solidFill>
                  <a:schemeClr val="bg1"/>
                </a:solidFill>
                <a:latin typeface="微软雅黑" pitchFamily="34" charset="-122"/>
                <a:ea typeface="微软雅黑" pitchFamily="34" charset="-122"/>
              </a:rPr>
              <a:t>WWW</a:t>
            </a:r>
            <a:endParaRPr lang="zh-CN" altLang="fr-FR" sz="2000" b="1" dirty="0">
              <a:solidFill>
                <a:schemeClr val="bg1"/>
              </a:solidFill>
              <a:latin typeface="微软雅黑" pitchFamily="34" charset="-122"/>
              <a:ea typeface="微软雅黑" pitchFamily="34" charset="-122"/>
            </a:endParaRPr>
          </a:p>
        </p:txBody>
      </p:sp>
      <p:sp>
        <p:nvSpPr>
          <p:cNvPr id="68" name="Rectangle 8"/>
          <p:cNvSpPr>
            <a:spLocks noChangeArrowheads="1"/>
          </p:cNvSpPr>
          <p:nvPr/>
        </p:nvSpPr>
        <p:spPr bwMode="auto">
          <a:xfrm>
            <a:off x="2700573" y="779699"/>
            <a:ext cx="5756006"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6.2.1                                                </a:t>
            </a:r>
            <a:r>
              <a:rPr lang="zh-CN" altLang="en-US" sz="2000" b="1" dirty="0" smtClean="0">
                <a:solidFill>
                  <a:schemeClr val="bg1"/>
                </a:solidFill>
                <a:latin typeface="微软雅黑" pitchFamily="34" charset="-122"/>
                <a:ea typeface="微软雅黑" pitchFamily="34" charset="-122"/>
              </a:rPr>
              <a:t>万维网</a:t>
            </a:r>
            <a:r>
              <a:rPr lang="zh-CN" altLang="en-US" sz="2000" b="1" dirty="0">
                <a:solidFill>
                  <a:schemeClr val="bg1"/>
                </a:solidFill>
                <a:latin typeface="微软雅黑" pitchFamily="34" charset="-122"/>
                <a:ea typeface="微软雅黑" pitchFamily="34" charset="-122"/>
              </a:rPr>
              <a:t>概述</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6.2.2                                 </a:t>
            </a:r>
            <a:r>
              <a:rPr lang="zh-CN" altLang="en-US" sz="2000" b="1" dirty="0" smtClean="0">
                <a:solidFill>
                  <a:schemeClr val="bg1"/>
                </a:solidFill>
                <a:latin typeface="微软雅黑" pitchFamily="34" charset="-122"/>
                <a:ea typeface="微软雅黑" pitchFamily="34" charset="-122"/>
              </a:rPr>
              <a:t>统一</a:t>
            </a:r>
            <a:r>
              <a:rPr lang="zh-CN" altLang="en-US" sz="2000" b="1" dirty="0">
                <a:solidFill>
                  <a:schemeClr val="bg1"/>
                </a:solidFill>
                <a:latin typeface="微软雅黑" pitchFamily="34" charset="-122"/>
                <a:ea typeface="微软雅黑" pitchFamily="34" charset="-122"/>
              </a:rPr>
              <a:t>资源定位符 </a:t>
            </a:r>
            <a:r>
              <a:rPr lang="en-US" altLang="zh-CN" sz="2000" b="1" dirty="0">
                <a:solidFill>
                  <a:schemeClr val="bg1"/>
                </a:solidFill>
                <a:latin typeface="微软雅黑" pitchFamily="34" charset="-122"/>
                <a:ea typeface="微软雅黑" pitchFamily="34" charset="-122"/>
              </a:rPr>
              <a:t>URL</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6.2.3                               </a:t>
            </a:r>
            <a:r>
              <a:rPr lang="zh-CN" altLang="en-US" sz="2000" b="1" dirty="0" smtClean="0">
                <a:solidFill>
                  <a:schemeClr val="bg1"/>
                </a:solidFill>
                <a:latin typeface="微软雅黑" pitchFamily="34" charset="-122"/>
                <a:ea typeface="微软雅黑" pitchFamily="34" charset="-122"/>
              </a:rPr>
              <a:t>超文本</a:t>
            </a:r>
            <a:r>
              <a:rPr lang="zh-CN" altLang="en-US" sz="2000" b="1" dirty="0">
                <a:solidFill>
                  <a:schemeClr val="bg1"/>
                </a:solidFill>
                <a:latin typeface="微软雅黑" pitchFamily="34" charset="-122"/>
                <a:ea typeface="微软雅黑" pitchFamily="34" charset="-122"/>
              </a:rPr>
              <a:t>传送协议 </a:t>
            </a:r>
            <a:r>
              <a:rPr lang="en-US" altLang="zh-CN" sz="2000" b="1" dirty="0" smtClean="0">
                <a:solidFill>
                  <a:schemeClr val="bg1"/>
                </a:solidFill>
                <a:latin typeface="微软雅黑" pitchFamily="34" charset="-122"/>
                <a:ea typeface="微软雅黑" pitchFamily="34" charset="-122"/>
              </a:rPr>
              <a:t>HTTP</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6.2.4                                             </a:t>
            </a:r>
            <a:r>
              <a:rPr lang="zh-CN" altLang="en-US" sz="2000" b="1" dirty="0" smtClean="0">
                <a:solidFill>
                  <a:schemeClr val="bg1"/>
                </a:solidFill>
                <a:latin typeface="微软雅黑" pitchFamily="34" charset="-122"/>
                <a:ea typeface="微软雅黑" pitchFamily="34" charset="-122"/>
              </a:rPr>
              <a:t>万维网的演进</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6.2.5                                             </a:t>
            </a:r>
            <a:r>
              <a:rPr lang="zh-CN" altLang="en-US" sz="2000" b="1" dirty="0" smtClean="0">
                <a:solidFill>
                  <a:schemeClr val="bg1"/>
                </a:solidFill>
                <a:latin typeface="微软雅黑" pitchFamily="34" charset="-122"/>
                <a:ea typeface="微软雅黑" pitchFamily="34" charset="-122"/>
              </a:rPr>
              <a:t>万维网的应用</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0687057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10" name="Rectangle 6"/>
          <p:cNvSpPr>
            <a:spLocks noChangeArrowheads="1"/>
          </p:cNvSpPr>
          <p:nvPr/>
        </p:nvSpPr>
        <p:spPr bwMode="auto">
          <a:xfrm>
            <a:off x="3838468" y="60535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latin typeface="微软雅黑" pitchFamily="34" charset="-122"/>
                <a:ea typeface="微软雅黑" pitchFamily="34" charset="-122"/>
              </a:rPr>
              <a:t>万维网概述</a:t>
            </a:r>
            <a:endParaRPr lang="zh-CN" altLang="en-US" sz="2000" b="1" dirty="0">
              <a:solidFill>
                <a:schemeClr val="bg1"/>
              </a:solidFill>
              <a:latin typeface="微软雅黑" pitchFamily="34" charset="-122"/>
              <a:ea typeface="微软雅黑" pitchFamily="34" charset="-122"/>
            </a:endParaRPr>
          </a:p>
        </p:txBody>
      </p:sp>
      <p:sp>
        <p:nvSpPr>
          <p:cNvPr id="111" name="Rectangle 8"/>
          <p:cNvSpPr>
            <a:spLocks noChangeArrowheads="1"/>
          </p:cNvSpPr>
          <p:nvPr/>
        </p:nvSpPr>
        <p:spPr bwMode="auto">
          <a:xfrm>
            <a:off x="556963" y="1115519"/>
            <a:ext cx="8048776"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万维网 </a:t>
            </a:r>
            <a:r>
              <a:rPr lang="en-US" altLang="zh-CN" sz="2000" b="1" dirty="0">
                <a:solidFill>
                  <a:srgbClr val="C00000"/>
                </a:solidFill>
                <a:latin typeface="微软雅黑" pitchFamily="34" charset="-122"/>
                <a:ea typeface="微软雅黑" pitchFamily="34" charset="-122"/>
              </a:rPr>
              <a:t>WWW (World Wide Web)</a:t>
            </a:r>
            <a:r>
              <a:rPr lang="zh-CN" altLang="en-US" sz="2000" b="1" dirty="0">
                <a:latin typeface="微软雅黑" pitchFamily="34" charset="-122"/>
                <a:ea typeface="微软雅黑" pitchFamily="34" charset="-122"/>
              </a:rPr>
              <a:t>，简称为</a:t>
            </a:r>
            <a:r>
              <a:rPr lang="en-US" altLang="zh-CN" sz="2000" b="1" dirty="0">
                <a:latin typeface="微软雅黑" pitchFamily="34" charset="-122"/>
                <a:ea typeface="微软雅黑" pitchFamily="34" charset="-122"/>
              </a:rPr>
              <a:t>Web</a:t>
            </a:r>
            <a:r>
              <a:rPr lang="zh-CN" altLang="en-US" sz="2000" b="1" dirty="0">
                <a:latin typeface="微软雅黑" pitchFamily="34" charset="-122"/>
                <a:ea typeface="微软雅黑" pitchFamily="34" charset="-122"/>
              </a:rPr>
              <a:t>，并非某种特殊的</a:t>
            </a:r>
            <a:r>
              <a:rPr lang="zh-CN" altLang="en-US" sz="2000" b="1" dirty="0" smtClean="0">
                <a:latin typeface="微软雅黑" pitchFamily="34" charset="-122"/>
                <a:ea typeface="微软雅黑" pitchFamily="34" charset="-122"/>
              </a:rPr>
              <a:t>计算机网络，而是</a:t>
            </a:r>
            <a:r>
              <a:rPr lang="zh-CN" altLang="en-US" sz="2000" b="1" dirty="0">
                <a:latin typeface="微软雅黑" pitchFamily="34" charset="-122"/>
                <a:ea typeface="微软雅黑" pitchFamily="34" charset="-122"/>
              </a:rPr>
              <a:t>运行在互联网上的一种</a:t>
            </a:r>
            <a:r>
              <a:rPr lang="zh-CN" altLang="en-US" sz="2000" b="1" dirty="0">
                <a:solidFill>
                  <a:srgbClr val="C00000"/>
                </a:solidFill>
                <a:latin typeface="微软雅黑" pitchFamily="34" charset="-122"/>
                <a:ea typeface="微软雅黑" pitchFamily="34" charset="-122"/>
              </a:rPr>
              <a:t>网络</a:t>
            </a:r>
            <a:r>
              <a:rPr lang="zh-CN" altLang="en-US" sz="2000" b="1" dirty="0" smtClean="0">
                <a:solidFill>
                  <a:srgbClr val="C00000"/>
                </a:solidFill>
                <a:latin typeface="微软雅黑" pitchFamily="34" charset="-122"/>
                <a:ea typeface="微软雅黑" pitchFamily="34" charset="-122"/>
              </a:rPr>
              <a:t>应用。</a:t>
            </a:r>
            <a:endParaRPr lang="en-US" altLang="zh-CN" sz="2000" b="1" dirty="0" smtClean="0">
              <a:solidFill>
                <a:srgbClr val="C00000"/>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万维网中以</a:t>
            </a:r>
            <a:r>
              <a:rPr lang="zh-CN" altLang="en-US" sz="2000" b="1" dirty="0">
                <a:solidFill>
                  <a:srgbClr val="C00000"/>
                </a:solidFill>
                <a:latin typeface="微软雅黑" pitchFamily="34" charset="-122"/>
                <a:ea typeface="微软雅黑" pitchFamily="34" charset="-122"/>
              </a:rPr>
              <a:t>文档</a:t>
            </a:r>
            <a:r>
              <a:rPr lang="zh-CN" altLang="en-US" sz="2000" b="1" dirty="0" smtClean="0">
                <a:latin typeface="微软雅黑" pitchFamily="34" charset="-122"/>
                <a:ea typeface="微软雅黑" pitchFamily="34" charset="-122"/>
              </a:rPr>
              <a:t>的形式记录了大量的</a:t>
            </a:r>
            <a:r>
              <a:rPr lang="zh-CN" altLang="en-US" sz="2000" b="1" dirty="0">
                <a:latin typeface="微软雅黑" pitchFamily="34" charset="-122"/>
                <a:ea typeface="微软雅黑" pitchFamily="34" charset="-122"/>
              </a:rPr>
              <a:t>信息</a:t>
            </a:r>
            <a:r>
              <a:rPr lang="zh-CN" altLang="en-US" sz="2000" b="1" dirty="0" smtClean="0">
                <a:latin typeface="微软雅黑" pitchFamily="34" charset="-122"/>
                <a:ea typeface="微软雅黑" pitchFamily="34" charset="-122"/>
              </a:rPr>
              <a:t>，而这些文档又被存储在不同的</a:t>
            </a:r>
            <a:r>
              <a:rPr lang="zh-CN" altLang="en-US" sz="2000" b="1" dirty="0" smtClean="0">
                <a:solidFill>
                  <a:srgbClr val="C00000"/>
                </a:solidFill>
                <a:latin typeface="微软雅黑" pitchFamily="34" charset="-122"/>
                <a:ea typeface="微软雅黑" pitchFamily="34" charset="-122"/>
              </a:rPr>
              <a:t>站点</a:t>
            </a:r>
            <a:r>
              <a:rPr lang="zh-CN" altLang="en-US" sz="2000" b="1" dirty="0">
                <a:latin typeface="微软雅黑" pitchFamily="34" charset="-122"/>
                <a:ea typeface="微软雅黑" pitchFamily="34" charset="-122"/>
              </a:rPr>
              <a:t>中</a:t>
            </a:r>
            <a:r>
              <a:rPr lang="zh-CN" altLang="en-US" sz="2000" b="1" dirty="0" smtClean="0">
                <a:latin typeface="微软雅黑" pitchFamily="34" charset="-122"/>
                <a:ea typeface="微软雅黑" pitchFamily="34" charset="-122"/>
              </a:rPr>
              <a:t>，因此可以将万维网看作</a:t>
            </a:r>
            <a:r>
              <a:rPr lang="zh-CN" altLang="en-US" sz="2000" b="1" dirty="0">
                <a:latin typeface="微软雅黑" pitchFamily="34" charset="-122"/>
                <a:ea typeface="微软雅黑" pitchFamily="34" charset="-122"/>
              </a:rPr>
              <a:t>是一个大规模的、联机式的</a:t>
            </a:r>
            <a:r>
              <a:rPr lang="zh-CN" altLang="en-US" sz="2000" b="1" dirty="0">
                <a:solidFill>
                  <a:srgbClr val="C00000"/>
                </a:solidFill>
                <a:latin typeface="微软雅黑" pitchFamily="34" charset="-122"/>
                <a:ea typeface="微软雅黑" pitchFamily="34" charset="-122"/>
              </a:rPr>
              <a:t>信息储藏所</a:t>
            </a:r>
            <a:r>
              <a:rPr lang="zh-CN" altLang="en-US" sz="2000" b="1" dirty="0">
                <a:latin typeface="微软雅黑" pitchFamily="34" charset="-122"/>
                <a:ea typeface="微软雅黑" pitchFamily="34" charset="-122"/>
              </a:rPr>
              <a:t>，用于提供信息服务。</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万维网通过</a:t>
            </a:r>
            <a:r>
              <a:rPr lang="zh-CN" altLang="en-US" sz="2000" b="1" dirty="0" smtClean="0">
                <a:solidFill>
                  <a:srgbClr val="C00000"/>
                </a:solidFill>
                <a:latin typeface="微软雅黑" pitchFamily="34" charset="-122"/>
                <a:ea typeface="微软雅黑" pitchFamily="34" charset="-122"/>
              </a:rPr>
              <a:t>链接</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方法将这些文档互连在一起，</a:t>
            </a:r>
            <a:r>
              <a:rPr lang="zh-CN" altLang="en-US" sz="2000" b="1" dirty="0">
                <a:latin typeface="微软雅黑" pitchFamily="34" charset="-122"/>
                <a:ea typeface="微软雅黑" pitchFamily="34" charset="-122"/>
              </a:rPr>
              <a:t>支持</a:t>
            </a:r>
            <a:r>
              <a:rPr lang="zh-CN" altLang="en-US" sz="2000" b="1" dirty="0" smtClean="0">
                <a:latin typeface="微软雅黑" pitchFamily="34" charset="-122"/>
                <a:ea typeface="微软雅黑" pitchFamily="34" charset="-122"/>
              </a:rPr>
              <a:t>用户在</a:t>
            </a:r>
            <a:r>
              <a:rPr lang="zh-CN" altLang="en-US" sz="2000" b="1" dirty="0">
                <a:latin typeface="微软雅黑" pitchFamily="34" charset="-122"/>
                <a:ea typeface="微软雅黑" pitchFamily="34" charset="-122"/>
              </a:rPr>
              <a:t>不同站点</a:t>
            </a:r>
            <a:r>
              <a:rPr lang="zh-CN" altLang="en-US" sz="2000" b="1" dirty="0" smtClean="0">
                <a:latin typeface="微软雅黑" pitchFamily="34" charset="-122"/>
                <a:ea typeface="微软雅黑" pitchFamily="34" charset="-122"/>
              </a:rPr>
              <a:t>之间跳转访问，主动按</a:t>
            </a:r>
            <a:r>
              <a:rPr lang="zh-CN" altLang="en-US" sz="2000" b="1" dirty="0">
                <a:latin typeface="微软雅黑" pitchFamily="34" charset="-122"/>
                <a:ea typeface="微软雅黑" pitchFamily="34" charset="-122"/>
              </a:rPr>
              <a:t>需</a:t>
            </a:r>
            <a:r>
              <a:rPr lang="zh-CN" altLang="en-US" sz="2000" b="1" dirty="0" smtClean="0">
                <a:latin typeface="微软雅黑" pitchFamily="34" charset="-122"/>
                <a:ea typeface="微软雅黑" pitchFamily="34" charset="-122"/>
              </a:rPr>
              <a:t>获取信息。</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774945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1">
                                            <p:txEl>
                                              <p:pRg st="1" end="1"/>
                                            </p:txEl>
                                          </p:spTgt>
                                        </p:tgtEl>
                                        <p:attrNameLst>
                                          <p:attrName>style.visibility</p:attrName>
                                        </p:attrNameLst>
                                      </p:cBhvr>
                                      <p:to>
                                        <p:strVal val="visible"/>
                                      </p:to>
                                    </p:set>
                                    <p:animEffect transition="in" filter="fade">
                                      <p:cBhvr>
                                        <p:cTn id="7" dur="500"/>
                                        <p:tgtEl>
                                          <p:spTgt spid="11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1">
                                            <p:txEl>
                                              <p:pRg st="2" end="2"/>
                                            </p:txEl>
                                          </p:spTgt>
                                        </p:tgtEl>
                                        <p:attrNameLst>
                                          <p:attrName>style.visibility</p:attrName>
                                        </p:attrNameLst>
                                      </p:cBhvr>
                                      <p:to>
                                        <p:strVal val="visible"/>
                                      </p:to>
                                    </p:set>
                                    <p:animEffect transition="in" filter="fade">
                                      <p:cBhvr>
                                        <p:cTn id="12" dur="500"/>
                                        <p:tgtEl>
                                          <p:spTgt spid="11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圆角矩形 134"/>
          <p:cNvSpPr/>
          <p:nvPr/>
        </p:nvSpPr>
        <p:spPr>
          <a:xfrm>
            <a:off x="556963" y="1126156"/>
            <a:ext cx="8048776" cy="34494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Text Box 5"/>
          <p:cNvSpPr txBox="1">
            <a:spLocks noChangeArrowheads="1"/>
          </p:cNvSpPr>
          <p:nvPr/>
        </p:nvSpPr>
        <p:spPr bwMode="auto">
          <a:xfrm>
            <a:off x="3191972" y="2775724"/>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39" name="Text Box 6"/>
          <p:cNvSpPr txBox="1">
            <a:spLocks noChangeArrowheads="1"/>
          </p:cNvSpPr>
          <p:nvPr/>
        </p:nvSpPr>
        <p:spPr bwMode="auto">
          <a:xfrm>
            <a:off x="1675400" y="132350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sp>
        <p:nvSpPr>
          <p:cNvPr id="140" name="Text Box 7"/>
          <p:cNvSpPr txBox="1">
            <a:spLocks noChangeArrowheads="1"/>
          </p:cNvSpPr>
          <p:nvPr/>
        </p:nvSpPr>
        <p:spPr bwMode="auto">
          <a:xfrm>
            <a:off x="4167703" y="123820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41" name="Text Box 8"/>
          <p:cNvSpPr txBox="1">
            <a:spLocks noChangeArrowheads="1"/>
          </p:cNvSpPr>
          <p:nvPr/>
        </p:nvSpPr>
        <p:spPr bwMode="auto">
          <a:xfrm>
            <a:off x="5575858" y="2723412"/>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63" name="Text Box 9"/>
          <p:cNvSpPr txBox="1">
            <a:spLocks noChangeArrowheads="1"/>
          </p:cNvSpPr>
          <p:nvPr/>
        </p:nvSpPr>
        <p:spPr bwMode="auto">
          <a:xfrm>
            <a:off x="6838642" y="1354205"/>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74" name="Text Box 11"/>
          <p:cNvSpPr txBox="1">
            <a:spLocks noChangeArrowheads="1"/>
          </p:cNvSpPr>
          <p:nvPr/>
        </p:nvSpPr>
        <p:spPr bwMode="auto">
          <a:xfrm>
            <a:off x="1574520" y="2269232"/>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A</a:t>
            </a:r>
          </a:p>
        </p:txBody>
      </p:sp>
      <p:sp>
        <p:nvSpPr>
          <p:cNvPr id="179" name="Text Box 16"/>
          <p:cNvSpPr txBox="1">
            <a:spLocks noChangeArrowheads="1"/>
          </p:cNvSpPr>
          <p:nvPr/>
        </p:nvSpPr>
        <p:spPr bwMode="auto">
          <a:xfrm>
            <a:off x="6897913" y="2640274"/>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C</a:t>
            </a:r>
          </a:p>
        </p:txBody>
      </p:sp>
      <p:sp>
        <p:nvSpPr>
          <p:cNvPr id="180" name="Text Box 17"/>
          <p:cNvSpPr txBox="1">
            <a:spLocks noChangeArrowheads="1"/>
          </p:cNvSpPr>
          <p:nvPr/>
        </p:nvSpPr>
        <p:spPr bwMode="auto">
          <a:xfrm>
            <a:off x="5409096" y="3985880"/>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E</a:t>
            </a:r>
          </a:p>
        </p:txBody>
      </p:sp>
      <p:sp>
        <p:nvSpPr>
          <p:cNvPr id="181" name="Text Box 18"/>
          <p:cNvSpPr txBox="1">
            <a:spLocks noChangeArrowheads="1"/>
          </p:cNvSpPr>
          <p:nvPr/>
        </p:nvSpPr>
        <p:spPr bwMode="auto">
          <a:xfrm>
            <a:off x="3003803" y="4040034"/>
            <a:ext cx="112242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D</a:t>
            </a:r>
          </a:p>
        </p:txBody>
      </p:sp>
      <p:sp>
        <p:nvSpPr>
          <p:cNvPr id="182" name="Text Box 19"/>
          <p:cNvSpPr txBox="1">
            <a:spLocks noChangeArrowheads="1"/>
          </p:cNvSpPr>
          <p:nvPr/>
        </p:nvSpPr>
        <p:spPr bwMode="auto">
          <a:xfrm>
            <a:off x="3992573" y="2484173"/>
            <a:ext cx="11063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万维网站点 </a:t>
            </a:r>
            <a:r>
              <a:rPr kumimoji="1" lang="en-US" altLang="zh-CN" sz="1200" b="1">
                <a:latin typeface="微软雅黑" pitchFamily="34" charset="-122"/>
                <a:ea typeface="微软雅黑" pitchFamily="34" charset="-122"/>
              </a:rPr>
              <a:t>B</a:t>
            </a:r>
          </a:p>
        </p:txBody>
      </p:sp>
      <p:grpSp>
        <p:nvGrpSpPr>
          <p:cNvPr id="183" name="Group 53"/>
          <p:cNvGrpSpPr>
            <a:grpSpLocks/>
          </p:cNvGrpSpPr>
          <p:nvPr/>
        </p:nvGrpSpPr>
        <p:grpSpPr bwMode="auto">
          <a:xfrm>
            <a:off x="2087328" y="1413727"/>
            <a:ext cx="2344463" cy="358225"/>
            <a:chOff x="833" y="1417"/>
            <a:chExt cx="1903" cy="315"/>
          </a:xfrm>
        </p:grpSpPr>
        <p:sp>
          <p:nvSpPr>
            <p:cNvPr id="184" name="Line 25"/>
            <p:cNvSpPr>
              <a:spLocks noChangeShapeType="1"/>
            </p:cNvSpPr>
            <p:nvPr/>
          </p:nvSpPr>
          <p:spPr bwMode="auto">
            <a:xfrm flipV="1">
              <a:off x="833" y="1564"/>
              <a:ext cx="1903" cy="168"/>
            </a:xfrm>
            <a:prstGeom prst="line">
              <a:avLst/>
            </a:prstGeom>
            <a:noFill/>
            <a:ln w="38100">
              <a:solidFill>
                <a:srgbClr val="CC00CC"/>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5" name="Text Box 26"/>
            <p:cNvSpPr txBox="1">
              <a:spLocks noChangeArrowheads="1"/>
            </p:cNvSpPr>
            <p:nvPr/>
          </p:nvSpPr>
          <p:spPr bwMode="auto">
            <a:xfrm rot="21377422">
              <a:off x="1550" y="1417"/>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6" name="Group 55"/>
          <p:cNvGrpSpPr>
            <a:grpSpLocks/>
          </p:cNvGrpSpPr>
          <p:nvPr/>
        </p:nvGrpSpPr>
        <p:grpSpPr bwMode="auto">
          <a:xfrm>
            <a:off x="3495485" y="1824252"/>
            <a:ext cx="845140" cy="1299839"/>
            <a:chOff x="1976" y="1778"/>
            <a:chExt cx="686" cy="1143"/>
          </a:xfrm>
        </p:grpSpPr>
        <p:sp>
          <p:nvSpPr>
            <p:cNvPr id="187" name="Line 22"/>
            <p:cNvSpPr>
              <a:spLocks noChangeShapeType="1"/>
            </p:cNvSpPr>
            <p:nvPr/>
          </p:nvSpPr>
          <p:spPr bwMode="auto">
            <a:xfrm flipH="1">
              <a:off x="1976" y="1778"/>
              <a:ext cx="686"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8" name="Text Box 27"/>
            <p:cNvSpPr txBox="1">
              <a:spLocks noChangeArrowheads="1"/>
            </p:cNvSpPr>
            <p:nvPr/>
          </p:nvSpPr>
          <p:spPr bwMode="auto">
            <a:xfrm rot="18143965">
              <a:off x="2090" y="1960"/>
              <a:ext cx="568"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9" name="Group 54"/>
          <p:cNvGrpSpPr>
            <a:grpSpLocks/>
          </p:cNvGrpSpPr>
          <p:nvPr/>
        </p:nvGrpSpPr>
        <p:grpSpPr bwMode="auto">
          <a:xfrm>
            <a:off x="2130448" y="1947069"/>
            <a:ext cx="3737837" cy="1457910"/>
            <a:chOff x="868" y="1886"/>
            <a:chExt cx="3034" cy="1282"/>
          </a:xfrm>
        </p:grpSpPr>
        <p:sp>
          <p:nvSpPr>
            <p:cNvPr id="190" name="Line 20"/>
            <p:cNvSpPr>
              <a:spLocks noChangeShapeType="1"/>
            </p:cNvSpPr>
            <p:nvPr/>
          </p:nvSpPr>
          <p:spPr bwMode="auto">
            <a:xfrm>
              <a:off x="868" y="1886"/>
              <a:ext cx="3034" cy="1282"/>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1" name="Text Box 28"/>
            <p:cNvSpPr txBox="1">
              <a:spLocks noChangeArrowheads="1"/>
            </p:cNvSpPr>
            <p:nvPr/>
          </p:nvSpPr>
          <p:spPr bwMode="auto">
            <a:xfrm rot="1357240">
              <a:off x="1504" y="2030"/>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2" name="Group 58"/>
          <p:cNvGrpSpPr>
            <a:grpSpLocks/>
          </p:cNvGrpSpPr>
          <p:nvPr/>
        </p:nvGrpSpPr>
        <p:grpSpPr bwMode="auto">
          <a:xfrm>
            <a:off x="3691370" y="1947069"/>
            <a:ext cx="3379329" cy="1486341"/>
            <a:chOff x="2135" y="1886"/>
            <a:chExt cx="2743" cy="1307"/>
          </a:xfrm>
        </p:grpSpPr>
        <p:sp>
          <p:nvSpPr>
            <p:cNvPr id="193" name="Line 21"/>
            <p:cNvSpPr>
              <a:spLocks noChangeShapeType="1"/>
            </p:cNvSpPr>
            <p:nvPr/>
          </p:nvSpPr>
          <p:spPr bwMode="auto">
            <a:xfrm flipV="1">
              <a:off x="2135" y="1886"/>
              <a:ext cx="2743" cy="1307"/>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4" name="Text Box 29"/>
            <p:cNvSpPr txBox="1">
              <a:spLocks noChangeArrowheads="1"/>
            </p:cNvSpPr>
            <p:nvPr/>
          </p:nvSpPr>
          <p:spPr bwMode="auto">
            <a:xfrm rot="20118828">
              <a:off x="3664" y="209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5" name="Group 57"/>
          <p:cNvGrpSpPr>
            <a:grpSpLocks/>
          </p:cNvGrpSpPr>
          <p:nvPr/>
        </p:nvGrpSpPr>
        <p:grpSpPr bwMode="auto">
          <a:xfrm>
            <a:off x="1935794" y="2009615"/>
            <a:ext cx="1495627" cy="1299837"/>
            <a:chOff x="710" y="1941"/>
            <a:chExt cx="1214" cy="1143"/>
          </a:xfrm>
        </p:grpSpPr>
        <p:sp>
          <p:nvSpPr>
            <p:cNvPr id="196" name="Line 24"/>
            <p:cNvSpPr>
              <a:spLocks noChangeShapeType="1"/>
            </p:cNvSpPr>
            <p:nvPr/>
          </p:nvSpPr>
          <p:spPr bwMode="auto">
            <a:xfrm flipH="1" flipV="1">
              <a:off x="710" y="1941"/>
              <a:ext cx="1214"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7" name="Text Box 30"/>
            <p:cNvSpPr txBox="1">
              <a:spLocks noChangeArrowheads="1"/>
            </p:cNvSpPr>
            <p:nvPr/>
          </p:nvSpPr>
          <p:spPr bwMode="auto">
            <a:xfrm rot="2570439">
              <a:off x="1202" y="2383"/>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8" name="Group 56"/>
          <p:cNvGrpSpPr>
            <a:grpSpLocks/>
          </p:cNvGrpSpPr>
          <p:nvPr/>
        </p:nvGrpSpPr>
        <p:grpSpPr bwMode="auto">
          <a:xfrm>
            <a:off x="4600574" y="2009615"/>
            <a:ext cx="1170384" cy="1114471"/>
            <a:chOff x="2873" y="1941"/>
            <a:chExt cx="950" cy="980"/>
          </a:xfrm>
        </p:grpSpPr>
        <p:sp>
          <p:nvSpPr>
            <p:cNvPr id="199" name="Line 23"/>
            <p:cNvSpPr>
              <a:spLocks noChangeShapeType="1"/>
            </p:cNvSpPr>
            <p:nvPr/>
          </p:nvSpPr>
          <p:spPr bwMode="auto">
            <a:xfrm>
              <a:off x="2873" y="1941"/>
              <a:ext cx="950" cy="980"/>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200" name="Text Box 31"/>
            <p:cNvSpPr txBox="1">
              <a:spLocks noChangeArrowheads="1"/>
            </p:cNvSpPr>
            <p:nvPr/>
          </p:nvSpPr>
          <p:spPr bwMode="auto">
            <a:xfrm rot="2686426">
              <a:off x="3064" y="211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201" name="Group 34"/>
          <p:cNvGrpSpPr>
            <a:grpSpLocks/>
          </p:cNvGrpSpPr>
          <p:nvPr/>
        </p:nvGrpSpPr>
        <p:grpSpPr bwMode="auto">
          <a:xfrm>
            <a:off x="4262172" y="1554480"/>
            <a:ext cx="322607" cy="277280"/>
            <a:chOff x="806" y="3124"/>
            <a:chExt cx="237" cy="214"/>
          </a:xfrm>
        </p:grpSpPr>
        <p:sp>
          <p:nvSpPr>
            <p:cNvPr id="202"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3"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000099"/>
                  </a:solidFill>
                  <a:latin typeface="微软雅黑" pitchFamily="34" charset="-122"/>
                  <a:ea typeface="微软雅黑" pitchFamily="34" charset="-122"/>
                  <a:sym typeface="Wingdings" pitchFamily="2" charset="2"/>
                </a:rPr>
                <a:t></a:t>
              </a:r>
            </a:p>
          </p:txBody>
        </p:sp>
      </p:grpSp>
      <p:grpSp>
        <p:nvGrpSpPr>
          <p:cNvPr id="204" name="Group 37"/>
          <p:cNvGrpSpPr>
            <a:grpSpLocks/>
          </p:cNvGrpSpPr>
          <p:nvPr/>
        </p:nvGrpSpPr>
        <p:grpSpPr bwMode="auto">
          <a:xfrm>
            <a:off x="3477635" y="3338366"/>
            <a:ext cx="323170" cy="277280"/>
            <a:chOff x="800" y="3198"/>
            <a:chExt cx="239" cy="214"/>
          </a:xfrm>
        </p:grpSpPr>
        <p:sp>
          <p:nvSpPr>
            <p:cNvPr id="205"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6" name="Text Box 39"/>
            <p:cNvSpPr txBox="1">
              <a:spLocks noChangeArrowheads="1"/>
            </p:cNvSpPr>
            <p:nvPr/>
          </p:nvSpPr>
          <p:spPr bwMode="auto">
            <a:xfrm>
              <a:off x="800" y="3198"/>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07" name="Group 40"/>
          <p:cNvGrpSpPr>
            <a:grpSpLocks/>
          </p:cNvGrpSpPr>
          <p:nvPr/>
        </p:nvGrpSpPr>
        <p:grpSpPr bwMode="auto">
          <a:xfrm>
            <a:off x="1864300" y="1630609"/>
            <a:ext cx="323170" cy="277280"/>
            <a:chOff x="796" y="3199"/>
            <a:chExt cx="239" cy="214"/>
          </a:xfrm>
        </p:grpSpPr>
        <p:sp>
          <p:nvSpPr>
            <p:cNvPr id="20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9"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0" name="Group 43"/>
          <p:cNvGrpSpPr>
            <a:grpSpLocks/>
          </p:cNvGrpSpPr>
          <p:nvPr/>
        </p:nvGrpSpPr>
        <p:grpSpPr bwMode="auto">
          <a:xfrm>
            <a:off x="1922182" y="1787115"/>
            <a:ext cx="322607" cy="277611"/>
            <a:chOff x="796" y="3199"/>
            <a:chExt cx="237" cy="215"/>
          </a:xfrm>
        </p:grpSpPr>
        <p:sp>
          <p:nvSpPr>
            <p:cNvPr id="211"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2"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3" name="Group 46"/>
          <p:cNvGrpSpPr>
            <a:grpSpLocks/>
          </p:cNvGrpSpPr>
          <p:nvPr/>
        </p:nvGrpSpPr>
        <p:grpSpPr bwMode="auto">
          <a:xfrm>
            <a:off x="4365895" y="1806599"/>
            <a:ext cx="323170" cy="277611"/>
            <a:chOff x="800" y="3194"/>
            <a:chExt cx="239" cy="215"/>
          </a:xfrm>
        </p:grpSpPr>
        <p:sp>
          <p:nvSpPr>
            <p:cNvPr id="21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5"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6" name="Group 49"/>
          <p:cNvGrpSpPr>
            <a:grpSpLocks/>
          </p:cNvGrpSpPr>
          <p:nvPr/>
        </p:nvGrpSpPr>
        <p:grpSpPr bwMode="auto">
          <a:xfrm>
            <a:off x="3298308" y="3215549"/>
            <a:ext cx="322607" cy="277280"/>
            <a:chOff x="796" y="3199"/>
            <a:chExt cx="237" cy="214"/>
          </a:xfrm>
        </p:grpSpPr>
        <p:sp>
          <p:nvSpPr>
            <p:cNvPr id="217"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8" name="Text Box 51"/>
            <p:cNvSpPr txBox="1">
              <a:spLocks noChangeArrowheads="1"/>
            </p:cNvSpPr>
            <p:nvPr/>
          </p:nvSpPr>
          <p:spPr bwMode="auto">
            <a:xfrm>
              <a:off x="796" y="3199"/>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pic>
        <p:nvPicPr>
          <p:cNvPr id="21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08281" y="3572517"/>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83968" y="204670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61234" y="217640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97515" y="3520637"/>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56" name="Rectangle 6"/>
          <p:cNvSpPr>
            <a:spLocks noChangeArrowheads="1"/>
          </p:cNvSpPr>
          <p:nvPr/>
        </p:nvSpPr>
        <p:spPr bwMode="auto">
          <a:xfrm>
            <a:off x="3838468" y="605358"/>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latin typeface="微软雅黑" pitchFamily="34" charset="-122"/>
                <a:ea typeface="微软雅黑" pitchFamily="34" charset="-122"/>
              </a:rPr>
              <a:t>万维网概述</a:t>
            </a:r>
            <a:endParaRPr lang="zh-CN" altLang="en-US" sz="2000" b="1" dirty="0">
              <a:solidFill>
                <a:schemeClr val="bg1"/>
              </a:solidFill>
              <a:latin typeface="微软雅黑" pitchFamily="34" charset="-122"/>
              <a:ea typeface="微软雅黑" pitchFamily="34" charset="-122"/>
            </a:endParaRPr>
          </a:p>
        </p:txBody>
      </p:sp>
      <p:sp>
        <p:nvSpPr>
          <p:cNvPr id="2" name="矩形 1"/>
          <p:cNvSpPr/>
          <p:nvPr/>
        </p:nvSpPr>
        <p:spPr>
          <a:xfrm>
            <a:off x="660953" y="3220478"/>
            <a:ext cx="2504428" cy="1220847"/>
          </a:xfrm>
          <a:prstGeom prst="rect">
            <a:avLst/>
          </a:prstGeom>
        </p:spPr>
        <p:txBody>
          <a:bodyPr wrap="square">
            <a:spAutoFit/>
          </a:bodyPr>
          <a:lstStyle/>
          <a:p>
            <a:pPr>
              <a:lnSpc>
                <a:spcPts val="2200"/>
              </a:lnSpc>
            </a:pPr>
            <a:r>
              <a:rPr lang="zh-CN" altLang="en-US" sz="1400" b="1" dirty="0">
                <a:solidFill>
                  <a:srgbClr val="000099"/>
                </a:solidFill>
                <a:latin typeface="微软雅黑" panose="020B0503020204020204" pitchFamily="34" charset="-122"/>
                <a:ea typeface="微软雅黑" panose="020B0503020204020204" pitchFamily="34" charset="-122"/>
              </a:rPr>
              <a:t>万维网 </a:t>
            </a:r>
            <a:r>
              <a:rPr lang="en-US" altLang="zh-CN" sz="1400" b="1" dirty="0">
                <a:solidFill>
                  <a:srgbClr val="000099"/>
                </a:solidFill>
                <a:latin typeface="微软雅黑" panose="020B0503020204020204" pitchFamily="34" charset="-122"/>
                <a:ea typeface="微软雅黑" panose="020B0503020204020204" pitchFamily="34" charset="-122"/>
              </a:rPr>
              <a:t>WWW (World Wide Web</a:t>
            </a:r>
            <a:r>
              <a:rPr lang="en-US" altLang="zh-CN" sz="1400" b="1" dirty="0" smtClean="0">
                <a:solidFill>
                  <a:srgbClr val="000099"/>
                </a:solidFill>
                <a:latin typeface="微软雅黑" panose="020B0503020204020204" pitchFamily="34" charset="-122"/>
                <a:ea typeface="微软雅黑" panose="020B0503020204020204" pitchFamily="34" charset="-122"/>
              </a:rPr>
              <a:t>) </a:t>
            </a:r>
            <a:r>
              <a:rPr lang="zh-CN" altLang="en-US" sz="1400" b="1" dirty="0" smtClean="0">
                <a:solidFill>
                  <a:srgbClr val="000099"/>
                </a:solidFill>
                <a:latin typeface="微软雅黑" panose="020B0503020204020204" pitchFamily="34" charset="-122"/>
                <a:ea typeface="微软雅黑" panose="020B0503020204020204" pitchFamily="34" charset="-122"/>
              </a:rPr>
              <a:t>是</a:t>
            </a:r>
            <a:r>
              <a:rPr lang="zh-CN" altLang="en-US" sz="1400" b="1" dirty="0">
                <a:solidFill>
                  <a:srgbClr val="000099"/>
                </a:solidFill>
                <a:latin typeface="微软雅黑" panose="020B0503020204020204" pitchFamily="34" charset="-122"/>
                <a:ea typeface="微软雅黑" panose="020B0503020204020204" pitchFamily="34" charset="-122"/>
              </a:rPr>
              <a:t>一个大规模的、联机式的信息储藏</a:t>
            </a:r>
            <a:r>
              <a:rPr lang="zh-CN" altLang="en-US" sz="1400" b="1" dirty="0" smtClean="0">
                <a:solidFill>
                  <a:srgbClr val="000099"/>
                </a:solidFill>
                <a:latin typeface="微软雅黑" panose="020B0503020204020204" pitchFamily="34" charset="-122"/>
                <a:ea typeface="微软雅黑" panose="020B0503020204020204" pitchFamily="34" charset="-122"/>
              </a:rPr>
              <a:t>所</a:t>
            </a:r>
            <a:r>
              <a:rPr lang="zh-CN" altLang="en-US" sz="1400" b="1" dirty="0">
                <a:solidFill>
                  <a:srgbClr val="000099"/>
                </a:solidFill>
                <a:latin typeface="微软雅黑" panose="020B0503020204020204" pitchFamily="34" charset="-122"/>
                <a:ea typeface="微软雅黑" panose="020B0503020204020204" pitchFamily="34" charset="-122"/>
              </a:rPr>
              <a:t>，</a:t>
            </a:r>
            <a:r>
              <a:rPr lang="zh-CN" altLang="en-US" sz="1400" b="1" dirty="0" smtClean="0">
                <a:solidFill>
                  <a:srgbClr val="000099"/>
                </a:solidFill>
                <a:latin typeface="微软雅黑" panose="020B0503020204020204" pitchFamily="34" charset="-122"/>
                <a:ea typeface="微软雅黑" panose="020B0503020204020204" pitchFamily="34" charset="-122"/>
              </a:rPr>
              <a:t>并非</a:t>
            </a:r>
            <a:r>
              <a:rPr lang="zh-CN" altLang="en-US" sz="1400" b="1" dirty="0">
                <a:solidFill>
                  <a:srgbClr val="000099"/>
                </a:solidFill>
                <a:latin typeface="微软雅黑" panose="020B0503020204020204" pitchFamily="34" charset="-122"/>
                <a:ea typeface="微软雅黑" panose="020B0503020204020204" pitchFamily="34" charset="-122"/>
              </a:rPr>
              <a:t>某种特殊的计算机网络</a:t>
            </a:r>
            <a:r>
              <a:rPr lang="zh-CN" altLang="en-US" sz="1400" b="1" dirty="0" smtClean="0">
                <a:solidFill>
                  <a:srgbClr val="000099"/>
                </a:solidFill>
                <a:latin typeface="微软雅黑" panose="020B0503020204020204" pitchFamily="34" charset="-122"/>
                <a:ea typeface="微软雅黑" panose="020B0503020204020204" pitchFamily="34" charset="-122"/>
              </a:rPr>
              <a:t>。</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 name="矩形 2"/>
          <p:cNvSpPr/>
          <p:nvPr/>
        </p:nvSpPr>
        <p:spPr>
          <a:xfrm>
            <a:off x="6605246" y="3500093"/>
            <a:ext cx="1792760" cy="656590"/>
          </a:xfrm>
          <a:prstGeom prst="rect">
            <a:avLst/>
          </a:prstGeom>
          <a:noFill/>
        </p:spPr>
        <p:txBody>
          <a:bodyPr wrap="square">
            <a:spAutoFit/>
          </a:bodyPr>
          <a:lstStyle/>
          <a:p>
            <a:pPr>
              <a:lnSpc>
                <a:spcPts val="2200"/>
              </a:lnSpc>
            </a:pPr>
            <a:r>
              <a:rPr lang="zh-CN" altLang="en-US" sz="1400" b="1" dirty="0" smtClean="0">
                <a:solidFill>
                  <a:srgbClr val="C00000"/>
                </a:solidFill>
                <a:latin typeface="微软雅黑" panose="020B0503020204020204" pitchFamily="34" charset="-122"/>
                <a:ea typeface="微软雅黑" panose="020B0503020204020204" pitchFamily="34" charset="-122"/>
              </a:rPr>
              <a:t>访问方法：链接。</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提供分布式</a:t>
            </a:r>
            <a:r>
              <a:rPr lang="zh-CN" altLang="en-US" sz="1400" b="1" dirty="0" smtClean="0">
                <a:solidFill>
                  <a:srgbClr val="C00000"/>
                </a:solidFill>
                <a:latin typeface="微软雅黑" panose="020B0503020204020204" pitchFamily="34" charset="-122"/>
                <a:ea typeface="微软雅黑" panose="020B0503020204020204" pitchFamily="34" charset="-122"/>
              </a:rPr>
              <a:t>服务。</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57" name="矩形 56">
            <a:extLst>
              <a:ext uri="{FF2B5EF4-FFF2-40B4-BE49-F238E27FC236}">
                <a16:creationId xmlns:a16="http://schemas.microsoft.com/office/drawing/2014/main" id="{CBF34F6D-5160-4DAF-BB02-EF2D7F17C491}"/>
              </a:ext>
            </a:extLst>
          </p:cNvPr>
          <p:cNvSpPr/>
          <p:nvPr/>
        </p:nvSpPr>
        <p:spPr>
          <a:xfrm>
            <a:off x="6605246" y="1213412"/>
            <a:ext cx="16870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smtClean="0">
                <a:solidFill>
                  <a:srgbClr val="C00000"/>
                </a:solidFill>
                <a:latin typeface="微软雅黑" pitchFamily="34" charset="-122"/>
                <a:ea typeface="微软雅黑" pitchFamily="34" charset="-122"/>
              </a:rPr>
              <a:t>超媒体</a:t>
            </a:r>
            <a:r>
              <a:rPr kumimoji="1" lang="en-US" altLang="zh-CN" sz="1200" b="1" dirty="0">
                <a:solidFill>
                  <a:srgbClr val="C00000"/>
                </a:solidFill>
                <a:latin typeface="微软雅黑" pitchFamily="34" charset="-122"/>
                <a:ea typeface="微软雅黑" pitchFamily="34" charset="-122"/>
              </a:rPr>
              <a:t>(hypermedia)</a:t>
            </a:r>
            <a:endParaRPr kumimoji="1" lang="zh-CN" altLang="en-US" sz="12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21142419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wipe(left)">
                                      <p:cBhvr>
                                        <p:cTn id="7" dur="1500"/>
                                        <p:tgtEl>
                                          <p:spTgt spid="183"/>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89"/>
                                        </p:tgtEl>
                                        <p:attrNameLst>
                                          <p:attrName>style.visibility</p:attrName>
                                        </p:attrNameLst>
                                      </p:cBhvr>
                                      <p:to>
                                        <p:strVal val="visible"/>
                                      </p:to>
                                    </p:set>
                                    <p:animEffect transition="in" filter="wipe(left)">
                                      <p:cBhvr>
                                        <p:cTn id="11" dur="1500"/>
                                        <p:tgtEl>
                                          <p:spTgt spid="189"/>
                                        </p:tgtEl>
                                      </p:cBhvr>
                                    </p:animEffect>
                                  </p:childTnLst>
                                </p:cTn>
                              </p:par>
                            </p:childTnLst>
                          </p:cTn>
                        </p:par>
                        <p:par>
                          <p:cTn id="12" fill="hold">
                            <p:stCondLst>
                              <p:cond delay="3000"/>
                            </p:stCondLst>
                            <p:childTnLst>
                              <p:par>
                                <p:cTn id="13" presetID="22" presetClass="entr" presetSubtype="1" fill="hold" nodeType="after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up)">
                                      <p:cBhvr>
                                        <p:cTn id="15" dur="1500"/>
                                        <p:tgtEl>
                                          <p:spTgt spid="186"/>
                                        </p:tgtEl>
                                      </p:cBhvr>
                                    </p:animEffect>
                                  </p:childTnLst>
                                </p:cTn>
                              </p:par>
                            </p:childTnLst>
                          </p:cTn>
                        </p:par>
                        <p:par>
                          <p:cTn id="16" fill="hold">
                            <p:stCondLst>
                              <p:cond delay="4500"/>
                            </p:stCondLst>
                            <p:childTnLst>
                              <p:par>
                                <p:cTn id="17" presetID="22" presetClass="entr" presetSubtype="1" fill="hold"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up)">
                                      <p:cBhvr>
                                        <p:cTn id="19" dur="1500"/>
                                        <p:tgtEl>
                                          <p:spTgt spid="198"/>
                                        </p:tgtEl>
                                      </p:cBhvr>
                                    </p:animEffect>
                                  </p:childTnLst>
                                </p:cTn>
                              </p:par>
                            </p:childTnLst>
                          </p:cTn>
                        </p:par>
                        <p:par>
                          <p:cTn id="20" fill="hold">
                            <p:stCondLst>
                              <p:cond delay="6000"/>
                            </p:stCondLst>
                            <p:childTnLst>
                              <p:par>
                                <p:cTn id="21" presetID="22" presetClass="entr" presetSubtype="2" fill="hold" nodeType="afterEffect">
                                  <p:stCondLst>
                                    <p:cond delay="0"/>
                                  </p:stCondLst>
                                  <p:childTnLst>
                                    <p:set>
                                      <p:cBhvr>
                                        <p:cTn id="22" dur="1" fill="hold">
                                          <p:stCondLst>
                                            <p:cond delay="0"/>
                                          </p:stCondLst>
                                        </p:cTn>
                                        <p:tgtEl>
                                          <p:spTgt spid="195"/>
                                        </p:tgtEl>
                                        <p:attrNameLst>
                                          <p:attrName>style.visibility</p:attrName>
                                        </p:attrNameLst>
                                      </p:cBhvr>
                                      <p:to>
                                        <p:strVal val="visible"/>
                                      </p:to>
                                    </p:set>
                                    <p:animEffect transition="in" filter="wipe(right)">
                                      <p:cBhvr>
                                        <p:cTn id="23" dur="1500"/>
                                        <p:tgtEl>
                                          <p:spTgt spid="195"/>
                                        </p:tgtEl>
                                      </p:cBhvr>
                                    </p:animEffect>
                                  </p:childTnLst>
                                </p:cTn>
                              </p:par>
                            </p:childTnLst>
                          </p:cTn>
                        </p:par>
                        <p:par>
                          <p:cTn id="24" fill="hold">
                            <p:stCondLst>
                              <p:cond delay="7500"/>
                            </p:stCondLst>
                            <p:childTnLst>
                              <p:par>
                                <p:cTn id="25" presetID="22" presetClass="entr" presetSubtype="8" fill="hold" nodeType="afterEffect">
                                  <p:stCondLst>
                                    <p:cond delay="0"/>
                                  </p:stCondLst>
                                  <p:childTnLst>
                                    <p:set>
                                      <p:cBhvr>
                                        <p:cTn id="26" dur="1" fill="hold">
                                          <p:stCondLst>
                                            <p:cond delay="0"/>
                                          </p:stCondLst>
                                        </p:cTn>
                                        <p:tgtEl>
                                          <p:spTgt spid="192"/>
                                        </p:tgtEl>
                                        <p:attrNameLst>
                                          <p:attrName>style.visibility</p:attrName>
                                        </p:attrNameLst>
                                      </p:cBhvr>
                                      <p:to>
                                        <p:strVal val="visible"/>
                                      </p:to>
                                    </p:set>
                                    <p:animEffect transition="in" filter="wipe(left)">
                                      <p:cBhvr>
                                        <p:cTn id="27" dur="1500"/>
                                        <p:tgtEl>
                                          <p:spTgt spid="192"/>
                                        </p:tgtEl>
                                      </p:cBhvr>
                                    </p:animEffect>
                                  </p:childTnLst>
                                </p:cTn>
                              </p:par>
                            </p:childTnLst>
                          </p:cTn>
                        </p:par>
                        <p:par>
                          <p:cTn id="28" fill="hold">
                            <p:stCondLst>
                              <p:cond delay="9000"/>
                            </p:stCondLst>
                            <p:childTnLst>
                              <p:par>
                                <p:cTn id="29" presetID="53" presetClass="entr" presetSubtype="16" fill="hold" grpId="0" nodeType="afterEffect">
                                  <p:stCondLst>
                                    <p:cond delay="0"/>
                                  </p:stCondLst>
                                  <p:childTnLst>
                                    <p:set>
                                      <p:cBhvr>
                                        <p:cTn id="30" dur="1" fill="hold">
                                          <p:stCondLst>
                                            <p:cond delay="0"/>
                                          </p:stCondLst>
                                        </p:cTn>
                                        <p:tgtEl>
                                          <p:spTgt spid="57"/>
                                        </p:tgtEl>
                                        <p:attrNameLst>
                                          <p:attrName>style.visibility</p:attrName>
                                        </p:attrNameLst>
                                      </p:cBhvr>
                                      <p:to>
                                        <p:strVal val="visible"/>
                                      </p:to>
                                    </p:set>
                                    <p:anim calcmode="lin" valueType="num">
                                      <p:cBhvr>
                                        <p:cTn id="31" dur="500" fill="hold"/>
                                        <p:tgtEl>
                                          <p:spTgt spid="57"/>
                                        </p:tgtEl>
                                        <p:attrNameLst>
                                          <p:attrName>ppt_w</p:attrName>
                                        </p:attrNameLst>
                                      </p:cBhvr>
                                      <p:tavLst>
                                        <p:tav tm="0">
                                          <p:val>
                                            <p:fltVal val="0"/>
                                          </p:val>
                                        </p:tav>
                                        <p:tav tm="100000">
                                          <p:val>
                                            <p:strVal val="#ppt_w"/>
                                          </p:val>
                                        </p:tav>
                                      </p:tavLst>
                                    </p:anim>
                                    <p:anim calcmode="lin" valueType="num">
                                      <p:cBhvr>
                                        <p:cTn id="32" dur="500" fill="hold"/>
                                        <p:tgtEl>
                                          <p:spTgt spid="57"/>
                                        </p:tgtEl>
                                        <p:attrNameLst>
                                          <p:attrName>ppt_h</p:attrName>
                                        </p:attrNameLst>
                                      </p:cBhvr>
                                      <p:tavLst>
                                        <p:tav tm="0">
                                          <p:val>
                                            <p:fltVal val="0"/>
                                          </p:val>
                                        </p:tav>
                                        <p:tav tm="100000">
                                          <p:val>
                                            <p:strVal val="#ppt_h"/>
                                          </p:val>
                                        </p:tav>
                                      </p:tavLst>
                                    </p:anim>
                                    <p:animEffect transition="in" filter="fade">
                                      <p:cBhvr>
                                        <p:cTn id="3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884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1950346" y="585636"/>
            <a:ext cx="540924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zh-CN" altLang="en-US" sz="2000" b="1" dirty="0">
                <a:solidFill>
                  <a:schemeClr val="bg1"/>
                </a:solidFill>
                <a:latin typeface="微软雅黑" pitchFamily="34" charset="-122"/>
                <a:ea typeface="微软雅黑" pitchFamily="34" charset="-122"/>
              </a:rPr>
              <a:t>万维网 </a:t>
            </a:r>
            <a:r>
              <a:rPr lang="en-US" altLang="zh-CN" sz="2000" b="1" dirty="0">
                <a:solidFill>
                  <a:schemeClr val="bg1"/>
                </a:solidFill>
                <a:latin typeface="微软雅黑" pitchFamily="34" charset="-122"/>
                <a:ea typeface="微软雅黑" pitchFamily="34" charset="-122"/>
              </a:rPr>
              <a:t>WWW</a:t>
            </a:r>
            <a:endParaRPr lang="zh-CN" altLang="en-US" sz="2000" b="1" dirty="0" smtClean="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81148"/>
            <a:ext cx="511165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万维网由</a:t>
            </a:r>
            <a:r>
              <a:rPr lang="zh-CN" altLang="en-US" b="1" dirty="0">
                <a:latin typeface="微软雅黑" pitchFamily="34" charset="-122"/>
                <a:ea typeface="微软雅黑" pitchFamily="34" charset="-122"/>
              </a:rPr>
              <a:t>欧洲粒子物理实验室的蒂姆</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伯纳斯</a:t>
            </a:r>
            <a:r>
              <a:rPr lang="en-US" altLang="zh-CN"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李</a:t>
            </a:r>
            <a:r>
              <a:rPr lang="zh-CN" altLang="en-US" b="1" dirty="0">
                <a:latin typeface="微软雅黑" pitchFamily="34" charset="-122"/>
                <a:ea typeface="微软雅黑" pitchFamily="34" charset="-122"/>
              </a:rPr>
              <a:t>在</a:t>
            </a:r>
            <a:r>
              <a:rPr lang="en-US" altLang="zh-CN" b="1" dirty="0">
                <a:latin typeface="微软雅黑" pitchFamily="34" charset="-122"/>
                <a:ea typeface="微软雅黑" pitchFamily="34" charset="-122"/>
              </a:rPr>
              <a:t>1989</a:t>
            </a:r>
            <a:r>
              <a:rPr lang="zh-CN" altLang="en-US" b="1" dirty="0">
                <a:latin typeface="微软雅黑" pitchFamily="34" charset="-122"/>
                <a:ea typeface="微软雅黑" pitchFamily="34" charset="-122"/>
              </a:rPr>
              <a:t>年</a:t>
            </a:r>
            <a:r>
              <a:rPr lang="en-US" altLang="zh-CN" b="1" dirty="0">
                <a:latin typeface="微软雅黑" pitchFamily="34" charset="-122"/>
                <a:ea typeface="微软雅黑" pitchFamily="34" charset="-122"/>
              </a:rPr>
              <a:t>3</a:t>
            </a:r>
            <a:r>
              <a:rPr lang="zh-CN" altLang="en-US" b="1" dirty="0">
                <a:latin typeface="微软雅黑" pitchFamily="34" charset="-122"/>
                <a:ea typeface="微软雅黑" pitchFamily="34" charset="-122"/>
              </a:rPr>
              <a:t>月</a:t>
            </a:r>
            <a:r>
              <a:rPr lang="zh-CN" altLang="en-US" b="1" dirty="0" smtClean="0">
                <a:latin typeface="微软雅黑" pitchFamily="34" charset="-122"/>
                <a:ea typeface="微软雅黑" pitchFamily="34" charset="-122"/>
              </a:rPr>
              <a:t>提出。</a:t>
            </a:r>
            <a:endParaRPr lang="en-US" altLang="zh-CN"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1993</a:t>
            </a:r>
            <a:r>
              <a:rPr lang="zh-CN" altLang="en-US" b="1" dirty="0" smtClean="0">
                <a:latin typeface="微软雅黑" pitchFamily="34" charset="-122"/>
                <a:ea typeface="微软雅黑" pitchFamily="34" charset="-122"/>
              </a:rPr>
              <a:t>年</a:t>
            </a:r>
            <a:r>
              <a:rPr lang="en-US" altLang="zh-CN" b="1" dirty="0" smtClean="0">
                <a:latin typeface="微软雅黑" pitchFamily="34" charset="-122"/>
                <a:ea typeface="微软雅黑" pitchFamily="34" charset="-122"/>
              </a:rPr>
              <a:t>2</a:t>
            </a:r>
            <a:r>
              <a:rPr lang="zh-CN" altLang="en-US" b="1" dirty="0" smtClean="0">
                <a:latin typeface="微软雅黑" pitchFamily="34" charset="-122"/>
                <a:ea typeface="微软雅黑" pitchFamily="34" charset="-122"/>
              </a:rPr>
              <a:t>月，第一个</a:t>
            </a:r>
            <a:r>
              <a:rPr lang="zh-CN" altLang="en-US" b="1" dirty="0">
                <a:solidFill>
                  <a:srgbClr val="C00000"/>
                </a:solidFill>
                <a:latin typeface="微软雅黑" pitchFamily="34" charset="-122"/>
                <a:ea typeface="微软雅黑" pitchFamily="34" charset="-122"/>
              </a:rPr>
              <a:t>图形界面的浏览器</a:t>
            </a:r>
            <a:r>
              <a:rPr lang="zh-CN" altLang="en-US" b="1" dirty="0" smtClean="0">
                <a:latin typeface="微软雅黑" pitchFamily="34" charset="-122"/>
                <a:ea typeface="微软雅黑" pitchFamily="34" charset="-122"/>
              </a:rPr>
              <a:t>问世。</a:t>
            </a:r>
          </a:p>
          <a:p>
            <a:pPr marL="285750" indent="-28575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万维网</a:t>
            </a:r>
            <a:r>
              <a:rPr lang="zh-CN" altLang="en-US" b="1" dirty="0">
                <a:latin typeface="微软雅黑" pitchFamily="34" charset="-122"/>
                <a:ea typeface="微软雅黑" pitchFamily="34" charset="-122"/>
              </a:rPr>
              <a:t>使计算机的操作发生了革命性变化</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网站数迅速按指数规律增长</a:t>
            </a:r>
            <a:r>
              <a:rPr lang="zh-CN" altLang="en-US" b="1" dirty="0" smtClean="0">
                <a:latin typeface="微软雅黑" pitchFamily="34" charset="-122"/>
                <a:ea typeface="微软雅黑" pitchFamily="34" charset="-122"/>
              </a:rPr>
              <a:t>，使得互联网</a:t>
            </a:r>
            <a:r>
              <a:rPr lang="zh-CN" altLang="en-US" b="1" dirty="0">
                <a:latin typeface="微软雅黑" pitchFamily="34" charset="-122"/>
                <a:ea typeface="微软雅黑" pitchFamily="34" charset="-122"/>
              </a:rPr>
              <a:t>变为普通百姓也能利用的信息资源</a:t>
            </a:r>
            <a:r>
              <a:rPr lang="zh-CN" altLang="en-US" b="1" dirty="0" smtClean="0">
                <a:latin typeface="微软雅黑" pitchFamily="34" charset="-122"/>
                <a:ea typeface="微软雅黑" pitchFamily="34" charset="-122"/>
              </a:rPr>
              <a:t>。因而万维网是互联网</a:t>
            </a:r>
            <a:r>
              <a:rPr lang="zh-CN" altLang="en-US" b="1" dirty="0">
                <a:latin typeface="微软雅黑" pitchFamily="34" charset="-122"/>
                <a:ea typeface="微软雅黑" pitchFamily="34" charset="-122"/>
              </a:rPr>
              <a:t>发展中的一个重要的里程碑</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grpSp>
        <p:nvGrpSpPr>
          <p:cNvPr id="5" name="组合 4">
            <a:extLst>
              <a:ext uri="{FF2B5EF4-FFF2-40B4-BE49-F238E27FC236}">
                <a16:creationId xmlns:a16="http://schemas.microsoft.com/office/drawing/2014/main" id="{AC1B4216-7F9C-430B-94A5-DE628E4A654E}"/>
              </a:ext>
            </a:extLst>
          </p:cNvPr>
          <p:cNvGrpSpPr/>
          <p:nvPr/>
        </p:nvGrpSpPr>
        <p:grpSpPr>
          <a:xfrm>
            <a:off x="6112932" y="1100667"/>
            <a:ext cx="2316947" cy="1357119"/>
            <a:chOff x="5543010" y="2787765"/>
            <a:chExt cx="3286035" cy="1845235"/>
          </a:xfrm>
        </p:grpSpPr>
        <p:pic>
          <p:nvPicPr>
            <p:cNvPr id="6" name="Picture 2" descr="H:\教学\互联网时代\001ec949ffca156bd20202.jpg">
              <a:extLst>
                <a:ext uri="{FF2B5EF4-FFF2-40B4-BE49-F238E27FC236}">
                  <a16:creationId xmlns:a16="http://schemas.microsoft.com/office/drawing/2014/main" id="{BE56E8CC-190C-4CF1-81DD-B1CC722A13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3010" y="2787765"/>
              <a:ext cx="3286035" cy="184523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3" descr="H:\教学\互联网时代\001ec949ffca156bd20201.jpg">
              <a:extLst>
                <a:ext uri="{FF2B5EF4-FFF2-40B4-BE49-F238E27FC236}">
                  <a16:creationId xmlns:a16="http://schemas.microsoft.com/office/drawing/2014/main" id="{8AF5FF7A-86AE-44AC-BDFB-60DEFE12A8F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43010" y="2787765"/>
              <a:ext cx="1062290" cy="1420813"/>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矩形 7">
            <a:extLst>
              <a:ext uri="{FF2B5EF4-FFF2-40B4-BE49-F238E27FC236}">
                <a16:creationId xmlns:a16="http://schemas.microsoft.com/office/drawing/2014/main" id="{F0DA8413-EAB5-43D3-899A-B523DF00FA92}"/>
              </a:ext>
            </a:extLst>
          </p:cNvPr>
          <p:cNvSpPr/>
          <p:nvPr/>
        </p:nvSpPr>
        <p:spPr>
          <a:xfrm>
            <a:off x="5668619" y="2718582"/>
            <a:ext cx="3205573" cy="1938992"/>
          </a:xfrm>
          <a:prstGeom prst="rect">
            <a:avLst/>
          </a:prstGeom>
        </p:spPr>
        <p:txBody>
          <a:bodyPr wrap="square">
            <a:spAutoFit/>
          </a:bodyPr>
          <a:lstStyle/>
          <a:p>
            <a:pPr algn="ctr">
              <a:lnSpc>
                <a:spcPct val="150000"/>
              </a:lnSpc>
            </a:pPr>
            <a:r>
              <a:rPr lang="zh-CN" altLang="en-US" sz="2000" b="1" dirty="0">
                <a:latin typeface="微软雅黑" pitchFamily="34" charset="-122"/>
                <a:ea typeface="微软雅黑" pitchFamily="34" charset="-122"/>
                <a:sym typeface="宋体" pitchFamily="2" charset="-122"/>
              </a:rPr>
              <a:t>蒂姆</a:t>
            </a:r>
            <a:r>
              <a:rPr lang="en-US" altLang="zh-CN" sz="2000" b="1" dirty="0">
                <a:latin typeface="微软雅黑" pitchFamily="34" charset="-122"/>
                <a:ea typeface="微软雅黑" pitchFamily="34" charset="-122"/>
                <a:sym typeface="宋体" pitchFamily="2" charset="-122"/>
              </a:rPr>
              <a:t>·</a:t>
            </a:r>
            <a:r>
              <a:rPr lang="zh-CN" altLang="en-US" sz="2000" b="1" dirty="0">
                <a:latin typeface="微软雅黑" pitchFamily="34" charset="-122"/>
                <a:ea typeface="微软雅黑" pitchFamily="34" charset="-122"/>
                <a:sym typeface="宋体" pitchFamily="2" charset="-122"/>
              </a:rPr>
              <a:t>伯纳斯</a:t>
            </a:r>
            <a:r>
              <a:rPr lang="en-US" altLang="zh-CN" sz="2000" b="1" dirty="0">
                <a:latin typeface="微软雅黑" pitchFamily="34" charset="-122"/>
                <a:ea typeface="微软雅黑" pitchFamily="34" charset="-122"/>
                <a:sym typeface="宋体" pitchFamily="2" charset="-122"/>
              </a:rPr>
              <a:t>·</a:t>
            </a:r>
            <a:r>
              <a:rPr lang="zh-CN" altLang="en-US" sz="2000" b="1" dirty="0">
                <a:latin typeface="微软雅黑" pitchFamily="34" charset="-122"/>
                <a:ea typeface="微软雅黑" pitchFamily="34" charset="-122"/>
                <a:sym typeface="宋体" pitchFamily="2" charset="-122"/>
              </a:rPr>
              <a:t>李 爵士</a:t>
            </a:r>
            <a:endParaRPr lang="en-US" altLang="zh-CN" sz="2000" b="1" dirty="0">
              <a:latin typeface="微软雅黑" pitchFamily="34" charset="-122"/>
              <a:ea typeface="微软雅黑" pitchFamily="34" charset="-122"/>
              <a:sym typeface="宋体" pitchFamily="2" charset="-122"/>
            </a:endParaRPr>
          </a:p>
          <a:p>
            <a:pPr algn="ctr">
              <a:lnSpc>
                <a:spcPct val="150000"/>
              </a:lnSpc>
            </a:pPr>
            <a:r>
              <a:rPr lang="zh-CN" altLang="en-US" sz="2000" b="1" dirty="0">
                <a:solidFill>
                  <a:srgbClr val="0000FF"/>
                </a:solidFill>
                <a:latin typeface="微软雅黑" pitchFamily="34" charset="-122"/>
                <a:ea typeface="微软雅黑" pitchFamily="34" charset="-122"/>
                <a:sym typeface="宋体" pitchFamily="2" charset="-122"/>
              </a:rPr>
              <a:t>图灵奖</a:t>
            </a:r>
            <a:r>
              <a:rPr lang="zh-CN" altLang="en-US" sz="2000" b="1" dirty="0">
                <a:latin typeface="微软雅黑" pitchFamily="34" charset="-122"/>
                <a:ea typeface="微软雅黑" pitchFamily="34" charset="-122"/>
                <a:sym typeface="宋体" pitchFamily="2" charset="-122"/>
              </a:rPr>
              <a:t>获得者</a:t>
            </a:r>
            <a:endParaRPr lang="en-US" altLang="zh-CN" sz="2000" b="1" dirty="0">
              <a:latin typeface="微软雅黑" pitchFamily="34" charset="-122"/>
              <a:ea typeface="微软雅黑" pitchFamily="34" charset="-122"/>
              <a:sym typeface="宋体" pitchFamily="2" charset="-122"/>
            </a:endParaRPr>
          </a:p>
          <a:p>
            <a:pPr algn="ctr">
              <a:lnSpc>
                <a:spcPct val="150000"/>
              </a:lnSpc>
            </a:pPr>
            <a:r>
              <a:rPr lang="zh-CN" altLang="en-US" sz="2000" b="1" dirty="0">
                <a:solidFill>
                  <a:srgbClr val="C00000"/>
                </a:solidFill>
                <a:latin typeface="微软雅黑" pitchFamily="34" charset="-122"/>
                <a:ea typeface="微软雅黑" pitchFamily="34" charset="-122"/>
                <a:sym typeface="宋体" pitchFamily="2" charset="-122"/>
              </a:rPr>
              <a:t>将他的发明无偿奉献给了全世界</a:t>
            </a:r>
            <a:endParaRPr lang="zh-CN" altLang="en-US" sz="2000" b="1" dirty="0">
              <a:solidFill>
                <a:srgbClr val="C0000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0454336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884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1950346" y="585636"/>
            <a:ext cx="540924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zh-CN" altLang="en-US" sz="2000" b="1" dirty="0" smtClean="0">
                <a:solidFill>
                  <a:schemeClr val="bg1"/>
                </a:solidFill>
                <a:latin typeface="微软雅黑" pitchFamily="34" charset="-122"/>
                <a:ea typeface="微软雅黑" pitchFamily="34" charset="-122"/>
              </a:rPr>
              <a:t>分布式</a:t>
            </a:r>
            <a:r>
              <a:rPr lang="zh-CN" altLang="en-US" sz="2000" b="1" dirty="0">
                <a:solidFill>
                  <a:schemeClr val="bg1"/>
                </a:solidFill>
                <a:latin typeface="微软雅黑" pitchFamily="34" charset="-122"/>
                <a:ea typeface="微软雅黑" pitchFamily="34" charset="-122"/>
              </a:rPr>
              <a:t>超媒体 </a:t>
            </a:r>
            <a:r>
              <a:rPr lang="en-US" altLang="zh-CN" sz="2000" b="1" dirty="0">
                <a:solidFill>
                  <a:schemeClr val="bg1"/>
                </a:solidFill>
                <a:latin typeface="微软雅黑" pitchFamily="34" charset="-122"/>
                <a:ea typeface="微软雅黑" pitchFamily="34" charset="-122"/>
              </a:rPr>
              <a:t>(hypermedia) </a:t>
            </a:r>
            <a:r>
              <a:rPr lang="zh-CN" altLang="en-US" sz="2000" b="1" dirty="0" smtClean="0">
                <a:solidFill>
                  <a:schemeClr val="bg1"/>
                </a:solidFill>
                <a:latin typeface="微软雅黑" pitchFamily="34" charset="-122"/>
                <a:ea typeface="微软雅黑" pitchFamily="34" charset="-122"/>
              </a:rPr>
              <a:t>系统</a:t>
            </a:r>
          </a:p>
        </p:txBody>
      </p:sp>
      <p:sp>
        <p:nvSpPr>
          <p:cNvPr id="4" name="Rectangle 68"/>
          <p:cNvSpPr>
            <a:spLocks noChangeArrowheads="1"/>
          </p:cNvSpPr>
          <p:nvPr/>
        </p:nvSpPr>
        <p:spPr bwMode="auto">
          <a:xfrm>
            <a:off x="556963" y="981148"/>
            <a:ext cx="8048776" cy="390440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超文本</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(hypertext) </a:t>
            </a:r>
            <a:r>
              <a:rPr lang="zh-CN" altLang="en-US" sz="2000" b="1" dirty="0">
                <a:latin typeface="微软雅黑" pitchFamily="34" charset="-122"/>
                <a:ea typeface="微软雅黑" pitchFamily="34" charset="-122"/>
              </a:rPr>
              <a:t>系统的</a:t>
            </a:r>
            <a:r>
              <a:rPr lang="zh-CN" altLang="en-US" sz="2000" b="1" dirty="0">
                <a:solidFill>
                  <a:srgbClr val="C00000"/>
                </a:solidFill>
                <a:latin typeface="微软雅黑" pitchFamily="34" charset="-122"/>
                <a:ea typeface="微软雅黑" pitchFamily="34" charset="-122"/>
              </a:rPr>
              <a:t>扩充。</a:t>
            </a:r>
          </a:p>
          <a:p>
            <a:pPr marL="285750" indent="-28575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超文本</a:t>
            </a:r>
            <a:endParaRPr lang="en-US" altLang="zh-CN" sz="2000" b="1" dirty="0" smtClean="0">
              <a:solidFill>
                <a:srgbClr val="C00000"/>
              </a:solidFill>
              <a:latin typeface="微软雅黑" pitchFamily="34" charset="-122"/>
              <a:ea typeface="微软雅黑" pitchFamily="34" charset="-122"/>
            </a:endParaRPr>
          </a:p>
          <a:p>
            <a:pPr marL="742950" lvl="1" indent="-285750"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由多个信息源</a:t>
            </a:r>
            <a:r>
              <a:rPr lang="zh-CN" altLang="en-US" b="1" dirty="0" smtClean="0">
                <a:solidFill>
                  <a:srgbClr val="0000FF"/>
                </a:solidFill>
                <a:latin typeface="微软雅黑" pitchFamily="34" charset="-122"/>
                <a:ea typeface="微软雅黑" pitchFamily="34" charset="-122"/>
              </a:rPr>
              <a:t>链接</a:t>
            </a:r>
            <a:r>
              <a:rPr lang="zh-CN" altLang="en-US" b="1" dirty="0">
                <a:latin typeface="微软雅黑" pitchFamily="34" charset="-122"/>
                <a:ea typeface="微软雅黑" pitchFamily="34" charset="-122"/>
              </a:rPr>
              <a:t>而</a:t>
            </a:r>
            <a:r>
              <a:rPr lang="zh-CN" altLang="en-US" b="1" dirty="0" smtClean="0">
                <a:latin typeface="微软雅黑" pitchFamily="34" charset="-122"/>
                <a:ea typeface="微软雅黑" pitchFamily="34" charset="-122"/>
              </a:rPr>
              <a:t>成，且这些信息源可能分布在世界各地。</a:t>
            </a:r>
            <a:endParaRPr lang="en-US" altLang="zh-CN" b="1" dirty="0" smtClean="0">
              <a:latin typeface="微软雅黑" pitchFamily="34" charset="-122"/>
              <a:ea typeface="微软雅黑" pitchFamily="34" charset="-122"/>
            </a:endParaRPr>
          </a:p>
          <a:p>
            <a:pPr marL="742950" lvl="1" indent="-285750" eaLnBrk="0" hangingPunct="0">
              <a:lnSpc>
                <a:spcPts val="3000"/>
              </a:lnSpc>
              <a:buClr>
                <a:srgbClr val="0070C0"/>
              </a:buClr>
              <a:buFont typeface="Wingdings" pitchFamily="2" charset="2"/>
              <a:buChar char="l"/>
            </a:pPr>
            <a:r>
              <a:rPr lang="zh-CN" altLang="en-US" b="1" dirty="0" smtClean="0">
                <a:solidFill>
                  <a:srgbClr val="0000FF"/>
                </a:solidFill>
                <a:latin typeface="微软雅黑" pitchFamily="34" charset="-122"/>
                <a:ea typeface="微软雅黑" pitchFamily="34" charset="-122"/>
              </a:rPr>
              <a:t>万维网的基础。</a:t>
            </a:r>
          </a:p>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超媒体</a:t>
            </a:r>
            <a:r>
              <a:rPr lang="zh-CN" altLang="en-US" sz="2000" b="1" dirty="0">
                <a:latin typeface="微软雅黑" pitchFamily="34" charset="-122"/>
                <a:ea typeface="微软雅黑" pitchFamily="34" charset="-122"/>
              </a:rPr>
              <a:t>与超文本的</a:t>
            </a:r>
            <a:r>
              <a:rPr lang="zh-CN" altLang="en-US" sz="2000" b="1" dirty="0" smtClean="0">
                <a:solidFill>
                  <a:srgbClr val="C00000"/>
                </a:solidFill>
                <a:latin typeface="微软雅黑" pitchFamily="34" charset="-122"/>
                <a:ea typeface="微软雅黑" pitchFamily="34" charset="-122"/>
              </a:rPr>
              <a:t>区别：</a:t>
            </a:r>
            <a:r>
              <a:rPr lang="zh-CN" altLang="en-US" sz="2000" b="1" dirty="0" smtClean="0">
                <a:solidFill>
                  <a:srgbClr val="0000FF"/>
                </a:solidFill>
                <a:latin typeface="微软雅黑" pitchFamily="34" charset="-122"/>
                <a:ea typeface="微软雅黑" pitchFamily="34" charset="-122"/>
              </a:rPr>
              <a:t>文档</a:t>
            </a:r>
            <a:r>
              <a:rPr lang="zh-CN" altLang="en-US" sz="2000" b="1" dirty="0">
                <a:solidFill>
                  <a:srgbClr val="0000FF"/>
                </a:solidFill>
                <a:latin typeface="微软雅黑" pitchFamily="34" charset="-122"/>
                <a:ea typeface="微软雅黑" pitchFamily="34" charset="-122"/>
              </a:rPr>
              <a:t>内容不同</a:t>
            </a:r>
            <a:r>
              <a:rPr lang="zh-CN" altLang="en-US" sz="2000" b="1" dirty="0" smtClean="0">
                <a:solidFill>
                  <a:srgbClr val="0000FF"/>
                </a:solidFill>
                <a:latin typeface="微软雅黑" pitchFamily="34" charset="-122"/>
                <a:ea typeface="微软雅黑" pitchFamily="34" charset="-122"/>
              </a:rPr>
              <a:t>。</a:t>
            </a:r>
            <a:endParaRPr lang="en-US" altLang="zh-CN" sz="2000" b="1" dirty="0" smtClean="0">
              <a:solidFill>
                <a:srgbClr val="0000FF"/>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超文本</a:t>
            </a:r>
            <a:r>
              <a:rPr lang="zh-CN" altLang="en-US" sz="2000" b="1" dirty="0" smtClean="0">
                <a:latin typeface="微软雅黑" pitchFamily="34" charset="-122"/>
                <a:ea typeface="微软雅黑" pitchFamily="34" charset="-122"/>
              </a:rPr>
              <a:t>文档仅包含文本信息。</a:t>
            </a:r>
            <a:endParaRPr lang="en-US" altLang="zh-CN" sz="2000" b="1" dirty="0" smtClean="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超媒体文档还包含其他信息，如图形、图像、声音、动画，甚至活动视频图像等。</a:t>
            </a:r>
            <a:endParaRPr lang="en-US" altLang="zh-CN" sz="2000" b="1" dirty="0" smtClean="0">
              <a:latin typeface="微软雅黑" pitchFamily="34" charset="-122"/>
              <a:ea typeface="微软雅黑" pitchFamily="34" charset="-122"/>
            </a:endParaRPr>
          </a:p>
          <a:p>
            <a:pPr marL="285750" lvl="1" indent="-285750" eaLnBrk="0" hangingPunct="0">
              <a:lnSpc>
                <a:spcPts val="3000"/>
              </a:lnSpc>
              <a:buClr>
                <a:srgbClr val="0070C0"/>
              </a:buClr>
              <a:buSzPct val="85000"/>
              <a:buFont typeface="Wingdings" pitchFamily="2" charset="2"/>
              <a:buChar char="l"/>
            </a:pPr>
            <a:r>
              <a:rPr lang="zh-CN" altLang="en-US" sz="2000" b="1" dirty="0" smtClean="0">
                <a:solidFill>
                  <a:srgbClr val="C00000"/>
                </a:solidFill>
                <a:latin typeface="微软雅黑" pitchFamily="34" charset="-122"/>
                <a:ea typeface="微软雅黑" pitchFamily="34" charset="-122"/>
              </a:rPr>
              <a:t>分布式系统</a:t>
            </a:r>
            <a:endParaRPr lang="en-US" altLang="zh-CN" sz="2000" b="1" dirty="0" smtClean="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信息分布在整个互联网上。每台主机上的文档都独立进行管理。</a:t>
            </a:r>
          </a:p>
        </p:txBody>
      </p:sp>
    </p:spTree>
    <p:custDataLst>
      <p:tags r:id="rId1"/>
    </p:custDataLst>
    <p:extLst>
      <p:ext uri="{BB962C8B-B14F-4D97-AF65-F5344CB8AC3E}">
        <p14:creationId xmlns:p14="http://schemas.microsoft.com/office/powerpoint/2010/main" val="13534547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fade">
                                      <p:cBhvr>
                                        <p:cTn id="11" dur="500"/>
                                        <p:tgtEl>
                                          <p:spTgt spid="4">
                                            <p:txEl>
                                              <p:pRg st="2" end="2"/>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animEffect transition="in" filter="fade">
                                      <p:cBhvr>
                                        <p:cTn id="15" dur="500"/>
                                        <p:tgtEl>
                                          <p:spTgt spid="4">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
                                            <p:txEl>
                                              <p:pRg st="4" end="4"/>
                                            </p:txEl>
                                          </p:spTgt>
                                        </p:tgtEl>
                                        <p:attrNameLst>
                                          <p:attrName>style.visibility</p:attrName>
                                        </p:attrNameLst>
                                      </p:cBhvr>
                                      <p:to>
                                        <p:strVal val="visible"/>
                                      </p:to>
                                    </p:set>
                                    <p:animEffect transition="in" filter="fade">
                                      <p:cBhvr>
                                        <p:cTn id="20" dur="500"/>
                                        <p:tgtEl>
                                          <p:spTgt spid="4">
                                            <p:txEl>
                                              <p:pRg st="4" end="4"/>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4">
                                            <p:txEl>
                                              <p:pRg st="5" end="5"/>
                                            </p:txEl>
                                          </p:spTgt>
                                        </p:tgtEl>
                                        <p:attrNameLst>
                                          <p:attrName>style.visibility</p:attrName>
                                        </p:attrNameLst>
                                      </p:cBhvr>
                                      <p:to>
                                        <p:strVal val="visible"/>
                                      </p:to>
                                    </p:set>
                                    <p:animEffect transition="in" filter="fade">
                                      <p:cBhvr>
                                        <p:cTn id="23" dur="500"/>
                                        <p:tgtEl>
                                          <p:spTgt spid="4">
                                            <p:txEl>
                                              <p:pRg st="5" end="5"/>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
                                            <p:txEl>
                                              <p:pRg st="6" end="6"/>
                                            </p:txEl>
                                          </p:spTgt>
                                        </p:tgtEl>
                                        <p:attrNameLst>
                                          <p:attrName>style.visibility</p:attrName>
                                        </p:attrNameLst>
                                      </p:cBhvr>
                                      <p:to>
                                        <p:strVal val="visible"/>
                                      </p:to>
                                    </p:set>
                                    <p:animEffect transition="in" filter="fade">
                                      <p:cBhvr>
                                        <p:cTn id="26" dur="500"/>
                                        <p:tgtEl>
                                          <p:spTgt spid="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4">
                                            <p:txEl>
                                              <p:pRg st="7" end="7"/>
                                            </p:txEl>
                                          </p:spTgt>
                                        </p:tgtEl>
                                        <p:attrNameLst>
                                          <p:attrName>style.visibility</p:attrName>
                                        </p:attrNameLst>
                                      </p:cBhvr>
                                      <p:to>
                                        <p:strVal val="visible"/>
                                      </p:to>
                                    </p:set>
                                    <p:animEffect transition="in" filter="fade">
                                      <p:cBhvr>
                                        <p:cTn id="31" dur="500"/>
                                        <p:tgtEl>
                                          <p:spTgt spid="4">
                                            <p:txEl>
                                              <p:pRg st="7" end="7"/>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4">
                                            <p:txEl>
                                              <p:pRg st="8" end="8"/>
                                            </p:txEl>
                                          </p:spTgt>
                                        </p:tgtEl>
                                        <p:attrNameLst>
                                          <p:attrName>style.visibility</p:attrName>
                                        </p:attrNameLst>
                                      </p:cBhvr>
                                      <p:to>
                                        <p:strVal val="visible"/>
                                      </p:to>
                                    </p:set>
                                    <p:animEffect transition="in" filter="fade">
                                      <p:cBhvr>
                                        <p:cTn id="34"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98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70739" y="588772"/>
            <a:ext cx="2621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万维网的工作</a:t>
            </a:r>
            <a:r>
              <a:rPr lang="zh-CN" altLang="en-US" sz="2000" b="1" dirty="0" smtClean="0">
                <a:solidFill>
                  <a:schemeClr val="bg1"/>
                </a:solidFill>
                <a:latin typeface="微软雅黑" pitchFamily="34" charset="-122"/>
                <a:ea typeface="微软雅黑" pitchFamily="34" charset="-122"/>
              </a:rPr>
              <a:t>方式</a:t>
            </a:r>
          </a:p>
        </p:txBody>
      </p:sp>
      <p:sp>
        <p:nvSpPr>
          <p:cNvPr id="4" name="Rectangle 68"/>
          <p:cNvSpPr>
            <a:spLocks noChangeArrowheads="1"/>
          </p:cNvSpPr>
          <p:nvPr/>
        </p:nvSpPr>
        <p:spPr bwMode="auto">
          <a:xfrm>
            <a:off x="499212" y="1006726"/>
            <a:ext cx="5335007"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以</a:t>
            </a:r>
            <a:r>
              <a:rPr lang="zh-CN" altLang="en-US" sz="2000" b="1" dirty="0" smtClean="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方式工作。</a:t>
            </a:r>
          </a:p>
          <a:p>
            <a:pPr marL="742950" lvl="1" indent="-285750" eaLnBrk="0" hangingPunct="0">
              <a:lnSpc>
                <a:spcPts val="33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客户</a:t>
            </a:r>
            <a:r>
              <a:rPr lang="zh-CN" altLang="en-US" b="1" dirty="0" smtClean="0">
                <a:solidFill>
                  <a:srgbClr val="C00000"/>
                </a:solidFill>
                <a:latin typeface="微软雅黑" pitchFamily="34" charset="-122"/>
                <a:ea typeface="微软雅黑" pitchFamily="34" charset="-122"/>
              </a:rPr>
              <a:t>程序</a:t>
            </a:r>
            <a:r>
              <a:rPr lang="zh-CN" altLang="en-US" b="1" dirty="0">
                <a:solidFill>
                  <a:srgbClr val="C00000"/>
                </a:solidFill>
                <a:latin typeface="微软雅黑" pitchFamily="34" charset="-122"/>
                <a:ea typeface="微软雅黑" pitchFamily="34" charset="-122"/>
              </a:rPr>
              <a:t>：</a:t>
            </a:r>
            <a:r>
              <a:rPr lang="zh-CN" altLang="en-US" b="1" dirty="0" smtClean="0">
                <a:solidFill>
                  <a:srgbClr val="0000FF"/>
                </a:solidFill>
                <a:latin typeface="微软雅黑" pitchFamily="34" charset="-122"/>
                <a:ea typeface="微软雅黑" pitchFamily="34" charset="-122"/>
              </a:rPr>
              <a:t>浏览器。</a:t>
            </a:r>
            <a:endParaRPr lang="en-US" altLang="zh-CN" b="1" dirty="0" smtClean="0">
              <a:solidFill>
                <a:srgbClr val="0000FF"/>
              </a:solidFill>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服务器程序</a:t>
            </a:r>
            <a:r>
              <a:rPr lang="zh-CN" altLang="en-US" b="1" dirty="0" smtClean="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在万维网</a:t>
            </a:r>
            <a:r>
              <a:rPr lang="zh-CN" altLang="en-US" b="1" dirty="0">
                <a:latin typeface="微软雅黑" pitchFamily="34" charset="-122"/>
                <a:ea typeface="微软雅黑" pitchFamily="34" charset="-122"/>
              </a:rPr>
              <a:t>文档所驻留的</a:t>
            </a:r>
            <a:r>
              <a:rPr lang="zh-CN" altLang="en-US" b="1" dirty="0" smtClean="0">
                <a:latin typeface="微软雅黑" pitchFamily="34" charset="-122"/>
                <a:ea typeface="微软雅黑" pitchFamily="34" charset="-122"/>
              </a:rPr>
              <a:t>主机上运行。</a:t>
            </a:r>
            <a:r>
              <a:rPr lang="zh-CN" altLang="en-US" b="1" dirty="0">
                <a:latin typeface="微软雅黑" pitchFamily="34" charset="-122"/>
                <a:ea typeface="微软雅黑" pitchFamily="34" charset="-122"/>
              </a:rPr>
              <a:t>这个计算机也称为</a:t>
            </a:r>
            <a:r>
              <a:rPr lang="zh-CN" altLang="en-US" b="1" dirty="0">
                <a:solidFill>
                  <a:srgbClr val="0000FF"/>
                </a:solidFill>
                <a:latin typeface="微软雅黑" pitchFamily="34" charset="-122"/>
                <a:ea typeface="微软雅黑" pitchFamily="34" charset="-122"/>
              </a:rPr>
              <a:t>万维网服务器。</a:t>
            </a: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客户</a:t>
            </a:r>
            <a:r>
              <a:rPr lang="zh-CN" altLang="en-US" sz="2000" b="1" dirty="0">
                <a:latin typeface="微软雅黑" pitchFamily="34" charset="-122"/>
                <a:ea typeface="微软雅黑" pitchFamily="34" charset="-122"/>
              </a:rPr>
              <a:t>程序向服务器程序发出请求，服务器程序向客户程序送回客户所要的</a:t>
            </a:r>
            <a:r>
              <a:rPr lang="zh-CN" altLang="en-US" sz="2000" b="1" dirty="0">
                <a:solidFill>
                  <a:srgbClr val="C00000"/>
                </a:solidFill>
                <a:latin typeface="微软雅黑" pitchFamily="34" charset="-122"/>
                <a:ea typeface="微软雅黑" pitchFamily="34" charset="-122"/>
              </a:rPr>
              <a:t>万维网文档。</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在一个客户程序主窗口上显示出的万维网文档称为</a:t>
            </a:r>
            <a:r>
              <a:rPr lang="zh-CN" altLang="en-US" sz="2000" b="1" dirty="0">
                <a:solidFill>
                  <a:srgbClr val="C00000"/>
                </a:solidFill>
                <a:latin typeface="微软雅黑" pitchFamily="34" charset="-122"/>
                <a:ea typeface="微软雅黑" pitchFamily="34" charset="-122"/>
              </a:rPr>
              <a:t>页面</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(page)</a:t>
            </a:r>
            <a:r>
              <a:rPr lang="zh-CN" altLang="en-US" sz="2000" b="1" dirty="0">
                <a:latin typeface="微软雅黑" pitchFamily="34" charset="-122"/>
                <a:ea typeface="微软雅黑" pitchFamily="34" charset="-122"/>
              </a:rPr>
              <a:t>。</a:t>
            </a:r>
          </a:p>
        </p:txBody>
      </p:sp>
      <p:grpSp>
        <p:nvGrpSpPr>
          <p:cNvPr id="5" name="Group 35">
            <a:extLst>
              <a:ext uri="{FF2B5EF4-FFF2-40B4-BE49-F238E27FC236}">
                <a16:creationId xmlns:a16="http://schemas.microsoft.com/office/drawing/2014/main" id="{9F18C3DA-1F75-254F-8252-0752283DD6D8}"/>
              </a:ext>
            </a:extLst>
          </p:cNvPr>
          <p:cNvGrpSpPr>
            <a:grpSpLocks/>
          </p:cNvGrpSpPr>
          <p:nvPr/>
        </p:nvGrpSpPr>
        <p:grpSpPr bwMode="auto">
          <a:xfrm>
            <a:off x="6992856" y="2100021"/>
            <a:ext cx="1252468" cy="627641"/>
            <a:chOff x="3640" y="1264"/>
            <a:chExt cx="1324" cy="678"/>
          </a:xfrm>
        </p:grpSpPr>
        <p:sp>
          <p:nvSpPr>
            <p:cNvPr id="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4134" y="1264"/>
              <a:ext cx="575"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0" cap="none" spc="0" normalizeH="0" baseline="0" noProof="0" dirty="0" smtClean="0">
                  <a:ln>
                    <a:noFill/>
                  </a:ln>
                  <a:solidFill>
                    <a:srgbClr val="CC0000"/>
                  </a:solidFill>
                  <a:effectLst/>
                  <a:uLnTx/>
                  <a:uFillTx/>
                  <a:latin typeface="微软雅黑" panose="020B0503020204020204" pitchFamily="34" charset="-122"/>
                  <a:ea typeface="微软雅黑" panose="020B0503020204020204" pitchFamily="34" charset="-122"/>
                </a:rPr>
                <a:t>请求</a:t>
              </a:r>
              <a:endParaRPr kumimoji="0" lang="en-US" altLang="en-US" b="1" i="0" u="none" strike="noStrike" kern="0" cap="none" spc="0" normalizeH="0" baseline="0" noProof="0" dirty="0">
                <a:ln>
                  <a:noFill/>
                </a:ln>
                <a:solidFill>
                  <a:srgbClr val="CC0000"/>
                </a:solidFill>
                <a:effectLst/>
                <a:uLnTx/>
                <a:uFillTx/>
                <a:latin typeface="微软雅黑" panose="020B0503020204020204" pitchFamily="34" charset="-122"/>
                <a:ea typeface="微软雅黑" panose="020B0503020204020204" pitchFamily="34" charset="-122"/>
              </a:endParaRPr>
            </a:p>
          </p:txBody>
        </p:sp>
      </p:grpSp>
      <p:grpSp>
        <p:nvGrpSpPr>
          <p:cNvPr id="8" name="Group 36">
            <a:extLst>
              <a:ext uri="{FF2B5EF4-FFF2-40B4-BE49-F238E27FC236}">
                <a16:creationId xmlns:a16="http://schemas.microsoft.com/office/drawing/2014/main" id="{CCF7DC4F-F784-E14E-9279-0C9C13F3B891}"/>
              </a:ext>
            </a:extLst>
          </p:cNvPr>
          <p:cNvGrpSpPr>
            <a:grpSpLocks/>
          </p:cNvGrpSpPr>
          <p:nvPr/>
        </p:nvGrpSpPr>
        <p:grpSpPr bwMode="auto">
          <a:xfrm>
            <a:off x="6878946" y="2319013"/>
            <a:ext cx="1347328" cy="609662"/>
            <a:chOff x="4141" y="394"/>
            <a:chExt cx="1242" cy="604"/>
          </a:xfrm>
        </p:grpSpPr>
        <p:sp>
          <p:nvSpPr>
            <p:cNvPr id="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491" y="693"/>
              <a:ext cx="501"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0" cap="none" spc="0" normalizeH="0" baseline="0" noProof="0" dirty="0" smtClean="0">
                  <a:ln>
                    <a:noFill/>
                  </a:ln>
                  <a:solidFill>
                    <a:srgbClr val="CC0000"/>
                  </a:solidFill>
                  <a:effectLst/>
                  <a:uLnTx/>
                  <a:uFillTx/>
                  <a:latin typeface="微软雅黑" panose="020B0503020204020204" pitchFamily="34" charset="-122"/>
                  <a:ea typeface="微软雅黑" panose="020B0503020204020204" pitchFamily="34" charset="-122"/>
                </a:rPr>
                <a:t>响应</a:t>
              </a:r>
              <a:endParaRPr kumimoji="0" lang="en-US" altLang="en-US" b="1" i="0" u="none" strike="noStrike" kern="0" cap="none" spc="0" normalizeH="0" baseline="0" noProof="0" dirty="0">
                <a:ln>
                  <a:noFill/>
                </a:ln>
                <a:solidFill>
                  <a:srgbClr val="CC0000"/>
                </a:solidFill>
                <a:effectLst/>
                <a:uLnTx/>
                <a:uFillTx/>
                <a:latin typeface="微软雅黑" panose="020B0503020204020204" pitchFamily="34" charset="-122"/>
                <a:ea typeface="微软雅黑" panose="020B0503020204020204" pitchFamily="34" charset="-122"/>
              </a:endParaRPr>
            </a:p>
          </p:txBody>
        </p:sp>
      </p:grpSp>
      <p:grpSp>
        <p:nvGrpSpPr>
          <p:cNvPr id="1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6888988" y="3169171"/>
            <a:ext cx="1279525" cy="668338"/>
            <a:chOff x="4158" y="1521"/>
            <a:chExt cx="806" cy="421"/>
          </a:xfrm>
        </p:grpSpPr>
        <p:sp>
          <p:nvSpPr>
            <p:cNvPr id="12" name="Line 19">
              <a:extLst>
                <a:ext uri="{FF2B5EF4-FFF2-40B4-BE49-F238E27FC236}">
                  <a16:creationId xmlns:a16="http://schemas.microsoft.com/office/drawing/2014/main" id="{69FABD09-8D01-A244-A69C-7220481CAE7B}"/>
                </a:ext>
              </a:extLst>
            </p:cNvPr>
            <p:cNvSpPr>
              <a:spLocks noChangeShapeType="1"/>
            </p:cNvSpPr>
            <p:nvPr/>
          </p:nvSpPr>
          <p:spPr bwMode="auto">
            <a:xfrm>
              <a:off x="4158" y="1523"/>
              <a:ext cx="806" cy="4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4387" y="1521"/>
              <a:ext cx="38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0" cap="none" spc="0" normalizeH="0" baseline="0" noProof="0" dirty="0" smtClean="0">
                  <a:ln>
                    <a:noFill/>
                  </a:ln>
                  <a:solidFill>
                    <a:srgbClr val="CC0000"/>
                  </a:solidFill>
                  <a:effectLst/>
                  <a:uLnTx/>
                  <a:uFillTx/>
                  <a:latin typeface="微软雅黑" panose="020B0503020204020204" pitchFamily="34" charset="-122"/>
                  <a:ea typeface="微软雅黑" panose="020B0503020204020204" pitchFamily="34" charset="-122"/>
                </a:rPr>
                <a:t>请求</a:t>
              </a:r>
              <a:endParaRPr kumimoji="0" lang="en-US" altLang="en-US" b="1" i="0" u="none" strike="noStrike" kern="0" cap="none" spc="0" normalizeH="0" baseline="0" noProof="0" dirty="0">
                <a:ln>
                  <a:noFill/>
                </a:ln>
                <a:solidFill>
                  <a:srgbClr val="CC0000"/>
                </a:solidFill>
                <a:effectLst/>
                <a:uLnTx/>
                <a:uFillTx/>
                <a:latin typeface="微软雅黑" panose="020B0503020204020204" pitchFamily="34" charset="-122"/>
                <a:ea typeface="微软雅黑" panose="020B0503020204020204" pitchFamily="34" charset="-122"/>
              </a:endParaRPr>
            </a:p>
          </p:txBody>
        </p:sp>
      </p:grpSp>
      <p:grpSp>
        <p:nvGrpSpPr>
          <p:cNvPr id="1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6944249" y="3320698"/>
            <a:ext cx="1263239" cy="731223"/>
            <a:chOff x="4660" y="563"/>
            <a:chExt cx="723" cy="411"/>
          </a:xfrm>
        </p:grpSpPr>
        <p:sp>
          <p:nvSpPr>
            <p:cNvPr id="1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660" y="563"/>
              <a:ext cx="723" cy="40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833" y="801"/>
              <a:ext cx="311"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0" cap="none" spc="0" normalizeH="0" baseline="0" noProof="0" dirty="0" smtClean="0">
                  <a:ln>
                    <a:noFill/>
                  </a:ln>
                  <a:solidFill>
                    <a:srgbClr val="CC0000"/>
                  </a:solidFill>
                  <a:effectLst/>
                  <a:uLnTx/>
                  <a:uFillTx/>
                  <a:latin typeface="微软雅黑" panose="020B0503020204020204" pitchFamily="34" charset="-122"/>
                  <a:ea typeface="微软雅黑" panose="020B0503020204020204" pitchFamily="34" charset="-122"/>
                </a:rPr>
                <a:t>响应</a:t>
              </a:r>
              <a:endParaRPr kumimoji="0" lang="en-US" altLang="en-US" b="1" i="0" u="none" strike="noStrike" kern="0" cap="none" spc="0" normalizeH="0" baseline="0" noProof="0" dirty="0">
                <a:ln>
                  <a:noFill/>
                </a:ln>
                <a:solidFill>
                  <a:srgbClr val="CC0000"/>
                </a:solidFill>
                <a:effectLst/>
                <a:uLnTx/>
                <a:uFillTx/>
                <a:latin typeface="微软雅黑" panose="020B0503020204020204" pitchFamily="34" charset="-122"/>
                <a:ea typeface="微软雅黑" panose="020B0503020204020204" pitchFamily="34" charset="-122"/>
              </a:endParaRPr>
            </a:p>
          </p:txBody>
        </p:sp>
      </p:grpSp>
      <p:grpSp>
        <p:nvGrpSpPr>
          <p:cNvPr id="22" name="Group 44">
            <a:extLst>
              <a:ext uri="{FF2B5EF4-FFF2-40B4-BE49-F238E27FC236}">
                <a16:creationId xmlns:a16="http://schemas.microsoft.com/office/drawing/2014/main" id="{9EAD6FC3-A72E-8241-AA6C-FE53B680C4A5}"/>
              </a:ext>
            </a:extLst>
          </p:cNvPr>
          <p:cNvGrpSpPr>
            <a:grpSpLocks/>
          </p:cNvGrpSpPr>
          <p:nvPr/>
        </p:nvGrpSpPr>
        <p:grpSpPr bwMode="auto">
          <a:xfrm>
            <a:off x="6048058" y="1911774"/>
            <a:ext cx="859742" cy="704184"/>
            <a:chOff x="-44" y="1473"/>
            <a:chExt cx="981" cy="1105"/>
          </a:xfrm>
        </p:grpSpPr>
        <p:pic>
          <p:nvPicPr>
            <p:cNvPr id="23"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26"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8451109" y="3563354"/>
            <a:ext cx="578843" cy="625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lvl="0" algn="ctr" eaLnBrk="0" fontAlgn="base" hangingPunct="0">
              <a:lnSpc>
                <a:spcPct val="130000"/>
              </a:lnSpc>
              <a:spcBef>
                <a:spcPct val="0"/>
              </a:spcBef>
              <a:spcAft>
                <a:spcPct val="0"/>
              </a:spcAft>
              <a:defRPr/>
            </a:pPr>
            <a:r>
              <a:rPr lang="zh-CN" altLang="en-US" sz="1400" b="1" kern="0" dirty="0" smtClean="0">
                <a:solidFill>
                  <a:srgbClr val="000000"/>
                </a:solidFill>
                <a:latin typeface="微软雅黑" panose="020B0503020204020204" pitchFamily="34" charset="-122"/>
                <a:ea typeface="微软雅黑" panose="020B0503020204020204" pitchFamily="34" charset="-122"/>
              </a:rPr>
              <a:t>万维网</a:t>
            </a:r>
            <a:endParaRPr lang="en-US" altLang="zh-CN" sz="1400" b="1" kern="0" dirty="0" smtClean="0">
              <a:solidFill>
                <a:srgbClr val="000000"/>
              </a:solidFill>
              <a:latin typeface="微软雅黑" panose="020B0503020204020204" pitchFamily="34" charset="-122"/>
              <a:ea typeface="微软雅黑" panose="020B0503020204020204" pitchFamily="34" charset="-122"/>
            </a:endParaRPr>
          </a:p>
          <a:p>
            <a:pPr lvl="0" algn="ctr" eaLnBrk="0" fontAlgn="base" hangingPunct="0">
              <a:lnSpc>
                <a:spcPct val="130000"/>
              </a:lnSpc>
              <a:spcBef>
                <a:spcPct val="0"/>
              </a:spcBef>
              <a:spcAft>
                <a:spcPct val="0"/>
              </a:spcAft>
              <a:defRPr/>
            </a:pPr>
            <a:r>
              <a:rPr lang="zh-CN" altLang="en-US" sz="1400" b="1" kern="0" dirty="0" smtClean="0">
                <a:solidFill>
                  <a:srgbClr val="000000"/>
                </a:solidFill>
                <a:latin typeface="微软雅黑" panose="020B0503020204020204" pitchFamily="34" charset="-122"/>
                <a:ea typeface="微软雅黑" panose="020B0503020204020204" pitchFamily="34" charset="-122"/>
              </a:rPr>
              <a:t>服务器</a:t>
            </a:r>
            <a:endParaRPr kumimoji="0" lang="en-US" alt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60" name="图片 5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451109" y="2676103"/>
            <a:ext cx="606053" cy="848474"/>
          </a:xfrm>
          <a:prstGeom prst="rect">
            <a:avLst/>
          </a:prstGeom>
        </p:spPr>
      </p:pic>
      <p:pic>
        <p:nvPicPr>
          <p:cNvPr id="62" name="Picture 4"/>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323242" y="3464779"/>
            <a:ext cx="501607" cy="827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5923573" y="1338460"/>
            <a:ext cx="1366337" cy="587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20000"/>
              </a:lnSpc>
              <a:spcBef>
                <a:spcPct val="0"/>
              </a:spcBef>
              <a:spcAft>
                <a:spcPct val="0"/>
              </a:spcAft>
              <a:buClrTx/>
              <a:buSzTx/>
              <a:buFontTx/>
              <a:buNone/>
              <a:tabLst/>
              <a:defRPr/>
            </a:pPr>
            <a:r>
              <a:rPr kumimoji="0" lang="zh-CN" altLang="en-US" sz="14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运行</a:t>
            </a:r>
            <a:r>
              <a:rPr kumimoji="0" lang="en-US" altLang="zh-CN" sz="14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Chrome</a:t>
            </a:r>
            <a:r>
              <a:rPr kumimoji="0" lang="zh-CN" altLang="en-US" sz="14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浏览器的主机</a:t>
            </a:r>
            <a:endParaRPr kumimoji="0" lang="en-US" alt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4"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5920673" y="4254946"/>
            <a:ext cx="1366337"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lvl="0" algn="ctr" eaLnBrk="0" fontAlgn="base" hangingPunct="0">
              <a:lnSpc>
                <a:spcPct val="120000"/>
              </a:lnSpc>
              <a:spcBef>
                <a:spcPct val="0"/>
              </a:spcBef>
              <a:spcAft>
                <a:spcPct val="0"/>
              </a:spcAft>
              <a:defRPr/>
            </a:pPr>
            <a:r>
              <a:rPr kumimoji="0" lang="zh-CN" altLang="en-US" sz="14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运行</a:t>
            </a:r>
            <a:r>
              <a:rPr lang="en-US" altLang="zh-CN" sz="1400" b="1" kern="0" dirty="0" smtClean="0">
                <a:solidFill>
                  <a:srgbClr val="000000"/>
                </a:solidFill>
                <a:latin typeface="微软雅黑" panose="020B0503020204020204" pitchFamily="34" charset="-122"/>
                <a:ea typeface="微软雅黑" panose="020B0503020204020204" pitchFamily="34" charset="-122"/>
              </a:rPr>
              <a:t>Safari</a:t>
            </a:r>
          </a:p>
          <a:p>
            <a:pPr lvl="0" algn="ctr" eaLnBrk="0" fontAlgn="base" hangingPunct="0">
              <a:lnSpc>
                <a:spcPct val="120000"/>
              </a:lnSpc>
              <a:spcBef>
                <a:spcPct val="0"/>
              </a:spcBef>
              <a:spcAft>
                <a:spcPct val="0"/>
              </a:spcAft>
              <a:defRPr/>
            </a:pPr>
            <a:r>
              <a:rPr kumimoji="0" lang="zh-CN" altLang="en-US" sz="14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浏览器的手机</a:t>
            </a:r>
            <a:endParaRPr kumimoji="0" lang="en-US" altLang="en-US"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13464141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3" end="3"/>
                                            </p:txEl>
                                          </p:spTgt>
                                        </p:tgtEl>
                                        <p:attrNameLst>
                                          <p:attrName>style.visibility</p:attrName>
                                        </p:attrNameLst>
                                      </p:cBhvr>
                                      <p:to>
                                        <p:strVal val="visible"/>
                                      </p:to>
                                    </p:set>
                                    <p:animEffect transition="in" filter="fade">
                                      <p:cBhvr>
                                        <p:cTn id="7" dur="500"/>
                                        <p:tgtEl>
                                          <p:spTgt spid="4">
                                            <p:txEl>
                                              <p:pRg st="3" end="3"/>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right)">
                                      <p:cBhvr>
                                        <p:cTn id="15" dur="500"/>
                                        <p:tgtEl>
                                          <p:spTgt spid="8"/>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right)">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
                                            <p:txEl>
                                              <p:pRg st="4" end="4"/>
                                            </p:txEl>
                                          </p:spTgt>
                                        </p:tgtEl>
                                        <p:attrNameLst>
                                          <p:attrName>style.visibility</p:attrName>
                                        </p:attrNameLst>
                                      </p:cBhvr>
                                      <p:to>
                                        <p:strVal val="visible"/>
                                      </p:to>
                                    </p:set>
                                    <p:animEffect transition="in" filter="fade">
                                      <p:cBhvr>
                                        <p:cTn id="28"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圆角矩形 134"/>
          <p:cNvSpPr/>
          <p:nvPr/>
        </p:nvSpPr>
        <p:spPr>
          <a:xfrm>
            <a:off x="556963" y="1113456"/>
            <a:ext cx="8048776" cy="34494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Text Box 5"/>
          <p:cNvSpPr txBox="1">
            <a:spLocks noChangeArrowheads="1"/>
          </p:cNvSpPr>
          <p:nvPr/>
        </p:nvSpPr>
        <p:spPr bwMode="auto">
          <a:xfrm>
            <a:off x="3191972" y="2775724"/>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41" name="Text Box 8"/>
          <p:cNvSpPr txBox="1">
            <a:spLocks noChangeArrowheads="1"/>
          </p:cNvSpPr>
          <p:nvPr/>
        </p:nvSpPr>
        <p:spPr bwMode="auto">
          <a:xfrm>
            <a:off x="5575858" y="2723412"/>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63" name="Text Box 9"/>
          <p:cNvSpPr txBox="1">
            <a:spLocks noChangeArrowheads="1"/>
          </p:cNvSpPr>
          <p:nvPr/>
        </p:nvSpPr>
        <p:spPr bwMode="auto">
          <a:xfrm>
            <a:off x="6838642" y="1354205"/>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74" name="Text Box 11"/>
          <p:cNvSpPr txBox="1">
            <a:spLocks noChangeArrowheads="1"/>
          </p:cNvSpPr>
          <p:nvPr/>
        </p:nvSpPr>
        <p:spPr bwMode="auto">
          <a:xfrm>
            <a:off x="1072858" y="1543665"/>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A</a:t>
            </a:r>
          </a:p>
        </p:txBody>
      </p:sp>
      <p:sp>
        <p:nvSpPr>
          <p:cNvPr id="179" name="Text Box 16"/>
          <p:cNvSpPr txBox="1">
            <a:spLocks noChangeArrowheads="1"/>
          </p:cNvSpPr>
          <p:nvPr/>
        </p:nvSpPr>
        <p:spPr bwMode="auto">
          <a:xfrm>
            <a:off x="6897913" y="2640274"/>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C</a:t>
            </a:r>
          </a:p>
        </p:txBody>
      </p:sp>
      <p:sp>
        <p:nvSpPr>
          <p:cNvPr id="180" name="Text Box 17"/>
          <p:cNvSpPr txBox="1">
            <a:spLocks noChangeArrowheads="1"/>
          </p:cNvSpPr>
          <p:nvPr/>
        </p:nvSpPr>
        <p:spPr bwMode="auto">
          <a:xfrm>
            <a:off x="5409096" y="3985880"/>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E</a:t>
            </a:r>
          </a:p>
        </p:txBody>
      </p:sp>
      <p:sp>
        <p:nvSpPr>
          <p:cNvPr id="181" name="Text Box 18"/>
          <p:cNvSpPr txBox="1">
            <a:spLocks noChangeArrowheads="1"/>
          </p:cNvSpPr>
          <p:nvPr/>
        </p:nvSpPr>
        <p:spPr bwMode="auto">
          <a:xfrm>
            <a:off x="3003803" y="4040034"/>
            <a:ext cx="112242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D</a:t>
            </a:r>
          </a:p>
        </p:txBody>
      </p:sp>
      <p:sp>
        <p:nvSpPr>
          <p:cNvPr id="182" name="Text Box 19"/>
          <p:cNvSpPr txBox="1">
            <a:spLocks noChangeArrowheads="1"/>
          </p:cNvSpPr>
          <p:nvPr/>
        </p:nvSpPr>
        <p:spPr bwMode="auto">
          <a:xfrm>
            <a:off x="3992573" y="2484173"/>
            <a:ext cx="11063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万维网站点 </a:t>
            </a:r>
            <a:r>
              <a:rPr kumimoji="1" lang="en-US" altLang="zh-CN" sz="1200" b="1">
                <a:latin typeface="微软雅黑" pitchFamily="34" charset="-122"/>
                <a:ea typeface="微软雅黑" pitchFamily="34" charset="-122"/>
              </a:rPr>
              <a:t>B</a:t>
            </a:r>
          </a:p>
        </p:txBody>
      </p:sp>
      <p:grpSp>
        <p:nvGrpSpPr>
          <p:cNvPr id="183" name="Group 53"/>
          <p:cNvGrpSpPr>
            <a:grpSpLocks/>
          </p:cNvGrpSpPr>
          <p:nvPr/>
        </p:nvGrpSpPr>
        <p:grpSpPr bwMode="auto">
          <a:xfrm>
            <a:off x="2087328" y="1413727"/>
            <a:ext cx="2344463" cy="358225"/>
            <a:chOff x="833" y="1417"/>
            <a:chExt cx="1903" cy="315"/>
          </a:xfrm>
        </p:grpSpPr>
        <p:sp>
          <p:nvSpPr>
            <p:cNvPr id="184" name="Line 25"/>
            <p:cNvSpPr>
              <a:spLocks noChangeShapeType="1"/>
            </p:cNvSpPr>
            <p:nvPr/>
          </p:nvSpPr>
          <p:spPr bwMode="auto">
            <a:xfrm flipV="1">
              <a:off x="833" y="1564"/>
              <a:ext cx="1903" cy="168"/>
            </a:xfrm>
            <a:prstGeom prst="line">
              <a:avLst/>
            </a:prstGeom>
            <a:noFill/>
            <a:ln w="38100">
              <a:solidFill>
                <a:srgbClr val="CC00CC"/>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5" name="Text Box 26"/>
            <p:cNvSpPr txBox="1">
              <a:spLocks noChangeArrowheads="1"/>
            </p:cNvSpPr>
            <p:nvPr/>
          </p:nvSpPr>
          <p:spPr bwMode="auto">
            <a:xfrm rot="21377422">
              <a:off x="1550" y="1417"/>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6" name="Group 55"/>
          <p:cNvGrpSpPr>
            <a:grpSpLocks/>
          </p:cNvGrpSpPr>
          <p:nvPr/>
        </p:nvGrpSpPr>
        <p:grpSpPr bwMode="auto">
          <a:xfrm>
            <a:off x="3495485" y="1824252"/>
            <a:ext cx="845140" cy="1299839"/>
            <a:chOff x="1976" y="1778"/>
            <a:chExt cx="686" cy="1143"/>
          </a:xfrm>
        </p:grpSpPr>
        <p:sp>
          <p:nvSpPr>
            <p:cNvPr id="187" name="Line 22"/>
            <p:cNvSpPr>
              <a:spLocks noChangeShapeType="1"/>
            </p:cNvSpPr>
            <p:nvPr/>
          </p:nvSpPr>
          <p:spPr bwMode="auto">
            <a:xfrm flipH="1">
              <a:off x="1976" y="1778"/>
              <a:ext cx="686"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8" name="Text Box 27"/>
            <p:cNvSpPr txBox="1">
              <a:spLocks noChangeArrowheads="1"/>
            </p:cNvSpPr>
            <p:nvPr/>
          </p:nvSpPr>
          <p:spPr bwMode="auto">
            <a:xfrm rot="18143965">
              <a:off x="2090" y="1960"/>
              <a:ext cx="568"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9" name="Group 54"/>
          <p:cNvGrpSpPr>
            <a:grpSpLocks/>
          </p:cNvGrpSpPr>
          <p:nvPr/>
        </p:nvGrpSpPr>
        <p:grpSpPr bwMode="auto">
          <a:xfrm>
            <a:off x="2130448" y="1947069"/>
            <a:ext cx="3737837" cy="1457910"/>
            <a:chOff x="868" y="1886"/>
            <a:chExt cx="3034" cy="1282"/>
          </a:xfrm>
        </p:grpSpPr>
        <p:sp>
          <p:nvSpPr>
            <p:cNvPr id="190" name="Line 20"/>
            <p:cNvSpPr>
              <a:spLocks noChangeShapeType="1"/>
            </p:cNvSpPr>
            <p:nvPr/>
          </p:nvSpPr>
          <p:spPr bwMode="auto">
            <a:xfrm>
              <a:off x="868" y="1886"/>
              <a:ext cx="3034" cy="1282"/>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1" name="Text Box 28"/>
            <p:cNvSpPr txBox="1">
              <a:spLocks noChangeArrowheads="1"/>
            </p:cNvSpPr>
            <p:nvPr/>
          </p:nvSpPr>
          <p:spPr bwMode="auto">
            <a:xfrm rot="1357240">
              <a:off x="1504" y="2030"/>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2" name="Group 58"/>
          <p:cNvGrpSpPr>
            <a:grpSpLocks/>
          </p:cNvGrpSpPr>
          <p:nvPr/>
        </p:nvGrpSpPr>
        <p:grpSpPr bwMode="auto">
          <a:xfrm>
            <a:off x="3691370" y="1947069"/>
            <a:ext cx="3379329" cy="1486341"/>
            <a:chOff x="2135" y="1886"/>
            <a:chExt cx="2743" cy="1307"/>
          </a:xfrm>
        </p:grpSpPr>
        <p:sp>
          <p:nvSpPr>
            <p:cNvPr id="193" name="Line 21"/>
            <p:cNvSpPr>
              <a:spLocks noChangeShapeType="1"/>
            </p:cNvSpPr>
            <p:nvPr/>
          </p:nvSpPr>
          <p:spPr bwMode="auto">
            <a:xfrm flipV="1">
              <a:off x="2135" y="1886"/>
              <a:ext cx="2743" cy="1307"/>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4" name="Text Box 29"/>
            <p:cNvSpPr txBox="1">
              <a:spLocks noChangeArrowheads="1"/>
            </p:cNvSpPr>
            <p:nvPr/>
          </p:nvSpPr>
          <p:spPr bwMode="auto">
            <a:xfrm rot="20118828">
              <a:off x="3664" y="209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5" name="Group 57"/>
          <p:cNvGrpSpPr>
            <a:grpSpLocks/>
          </p:cNvGrpSpPr>
          <p:nvPr/>
        </p:nvGrpSpPr>
        <p:grpSpPr bwMode="auto">
          <a:xfrm>
            <a:off x="1935794" y="2009615"/>
            <a:ext cx="1495627" cy="1299837"/>
            <a:chOff x="710" y="1941"/>
            <a:chExt cx="1214" cy="1143"/>
          </a:xfrm>
        </p:grpSpPr>
        <p:sp>
          <p:nvSpPr>
            <p:cNvPr id="196" name="Line 24"/>
            <p:cNvSpPr>
              <a:spLocks noChangeShapeType="1"/>
            </p:cNvSpPr>
            <p:nvPr/>
          </p:nvSpPr>
          <p:spPr bwMode="auto">
            <a:xfrm flipH="1" flipV="1">
              <a:off x="710" y="1941"/>
              <a:ext cx="1214"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7" name="Text Box 30"/>
            <p:cNvSpPr txBox="1">
              <a:spLocks noChangeArrowheads="1"/>
            </p:cNvSpPr>
            <p:nvPr/>
          </p:nvSpPr>
          <p:spPr bwMode="auto">
            <a:xfrm rot="2570439">
              <a:off x="1202" y="2383"/>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8" name="Group 56"/>
          <p:cNvGrpSpPr>
            <a:grpSpLocks/>
          </p:cNvGrpSpPr>
          <p:nvPr/>
        </p:nvGrpSpPr>
        <p:grpSpPr bwMode="auto">
          <a:xfrm>
            <a:off x="4600574" y="2009615"/>
            <a:ext cx="1170384" cy="1114471"/>
            <a:chOff x="2873" y="1941"/>
            <a:chExt cx="950" cy="980"/>
          </a:xfrm>
        </p:grpSpPr>
        <p:sp>
          <p:nvSpPr>
            <p:cNvPr id="199" name="Line 23"/>
            <p:cNvSpPr>
              <a:spLocks noChangeShapeType="1"/>
            </p:cNvSpPr>
            <p:nvPr/>
          </p:nvSpPr>
          <p:spPr bwMode="auto">
            <a:xfrm>
              <a:off x="2873" y="1941"/>
              <a:ext cx="950" cy="980"/>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200" name="Text Box 31"/>
            <p:cNvSpPr txBox="1">
              <a:spLocks noChangeArrowheads="1"/>
            </p:cNvSpPr>
            <p:nvPr/>
          </p:nvSpPr>
          <p:spPr bwMode="auto">
            <a:xfrm rot="2686426">
              <a:off x="3064" y="211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204" name="Group 37"/>
          <p:cNvGrpSpPr>
            <a:grpSpLocks/>
          </p:cNvGrpSpPr>
          <p:nvPr/>
        </p:nvGrpSpPr>
        <p:grpSpPr bwMode="auto">
          <a:xfrm>
            <a:off x="3477635" y="3338366"/>
            <a:ext cx="323170" cy="277280"/>
            <a:chOff x="800" y="3198"/>
            <a:chExt cx="239" cy="214"/>
          </a:xfrm>
        </p:grpSpPr>
        <p:sp>
          <p:nvSpPr>
            <p:cNvPr id="205"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6" name="Text Box 39"/>
            <p:cNvSpPr txBox="1">
              <a:spLocks noChangeArrowheads="1"/>
            </p:cNvSpPr>
            <p:nvPr/>
          </p:nvSpPr>
          <p:spPr bwMode="auto">
            <a:xfrm>
              <a:off x="800" y="3198"/>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9" name="组合 8"/>
          <p:cNvGrpSpPr/>
          <p:nvPr/>
        </p:nvGrpSpPr>
        <p:grpSpPr>
          <a:xfrm>
            <a:off x="1675400" y="1323500"/>
            <a:ext cx="723275" cy="1015663"/>
            <a:chOff x="1675400" y="1323500"/>
            <a:chExt cx="723275" cy="1015663"/>
          </a:xfrm>
        </p:grpSpPr>
        <p:sp>
          <p:nvSpPr>
            <p:cNvPr id="139" name="Text Box 6"/>
            <p:cNvSpPr txBox="1">
              <a:spLocks noChangeArrowheads="1"/>
            </p:cNvSpPr>
            <p:nvPr/>
          </p:nvSpPr>
          <p:spPr bwMode="auto">
            <a:xfrm>
              <a:off x="1675400" y="132350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grpSp>
          <p:nvGrpSpPr>
            <p:cNvPr id="207" name="Group 40"/>
            <p:cNvGrpSpPr>
              <a:grpSpLocks/>
            </p:cNvGrpSpPr>
            <p:nvPr/>
          </p:nvGrpSpPr>
          <p:grpSpPr bwMode="auto">
            <a:xfrm>
              <a:off x="1864300" y="1630609"/>
              <a:ext cx="323170" cy="277280"/>
              <a:chOff x="796" y="3199"/>
              <a:chExt cx="239" cy="214"/>
            </a:xfrm>
          </p:grpSpPr>
          <p:sp>
            <p:nvSpPr>
              <p:cNvPr id="20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9"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0" name="Group 43"/>
            <p:cNvGrpSpPr>
              <a:grpSpLocks/>
            </p:cNvGrpSpPr>
            <p:nvPr/>
          </p:nvGrpSpPr>
          <p:grpSpPr bwMode="auto">
            <a:xfrm>
              <a:off x="1922182" y="1787115"/>
              <a:ext cx="322607" cy="277611"/>
              <a:chOff x="796" y="3199"/>
              <a:chExt cx="237" cy="215"/>
            </a:xfrm>
          </p:grpSpPr>
          <p:sp>
            <p:nvSpPr>
              <p:cNvPr id="211"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2"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grpSp>
        <p:nvGrpSpPr>
          <p:cNvPr id="11" name="组合 10"/>
          <p:cNvGrpSpPr/>
          <p:nvPr/>
        </p:nvGrpSpPr>
        <p:grpSpPr>
          <a:xfrm>
            <a:off x="4167703" y="1238209"/>
            <a:ext cx="723275" cy="1015663"/>
            <a:chOff x="4167703" y="1238209"/>
            <a:chExt cx="723275" cy="1015663"/>
          </a:xfrm>
        </p:grpSpPr>
        <p:sp>
          <p:nvSpPr>
            <p:cNvPr id="140" name="Text Box 7"/>
            <p:cNvSpPr txBox="1">
              <a:spLocks noChangeArrowheads="1"/>
            </p:cNvSpPr>
            <p:nvPr/>
          </p:nvSpPr>
          <p:spPr bwMode="auto">
            <a:xfrm>
              <a:off x="4167703" y="123820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grpSp>
          <p:nvGrpSpPr>
            <p:cNvPr id="201" name="Group 34"/>
            <p:cNvGrpSpPr>
              <a:grpSpLocks/>
            </p:cNvGrpSpPr>
            <p:nvPr/>
          </p:nvGrpSpPr>
          <p:grpSpPr bwMode="auto">
            <a:xfrm>
              <a:off x="4262172" y="1554480"/>
              <a:ext cx="322607" cy="277280"/>
              <a:chOff x="806" y="3124"/>
              <a:chExt cx="237" cy="214"/>
            </a:xfrm>
          </p:grpSpPr>
          <p:sp>
            <p:nvSpPr>
              <p:cNvPr id="202"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3"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000099"/>
                    </a:solidFill>
                    <a:latin typeface="微软雅黑" pitchFamily="34" charset="-122"/>
                    <a:ea typeface="微软雅黑" pitchFamily="34" charset="-122"/>
                    <a:sym typeface="Wingdings" pitchFamily="2" charset="2"/>
                  </a:rPr>
                  <a:t></a:t>
                </a:r>
              </a:p>
            </p:txBody>
          </p:sp>
        </p:grpSp>
        <p:grpSp>
          <p:nvGrpSpPr>
            <p:cNvPr id="213" name="Group 46"/>
            <p:cNvGrpSpPr>
              <a:grpSpLocks/>
            </p:cNvGrpSpPr>
            <p:nvPr/>
          </p:nvGrpSpPr>
          <p:grpSpPr bwMode="auto">
            <a:xfrm>
              <a:off x="4365895" y="1806599"/>
              <a:ext cx="323170" cy="277611"/>
              <a:chOff x="800" y="3194"/>
              <a:chExt cx="239" cy="215"/>
            </a:xfrm>
          </p:grpSpPr>
          <p:sp>
            <p:nvSpPr>
              <p:cNvPr id="21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5"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grpSp>
        <p:nvGrpSpPr>
          <p:cNvPr id="216" name="Group 49"/>
          <p:cNvGrpSpPr>
            <a:grpSpLocks/>
          </p:cNvGrpSpPr>
          <p:nvPr/>
        </p:nvGrpSpPr>
        <p:grpSpPr bwMode="auto">
          <a:xfrm>
            <a:off x="3298308" y="3215549"/>
            <a:ext cx="322607" cy="277280"/>
            <a:chOff x="796" y="3199"/>
            <a:chExt cx="237" cy="214"/>
          </a:xfrm>
        </p:grpSpPr>
        <p:sp>
          <p:nvSpPr>
            <p:cNvPr id="217"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8" name="Text Box 51"/>
            <p:cNvSpPr txBox="1">
              <a:spLocks noChangeArrowheads="1"/>
            </p:cNvSpPr>
            <p:nvPr/>
          </p:nvSpPr>
          <p:spPr bwMode="auto">
            <a:xfrm>
              <a:off x="796" y="3199"/>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pic>
        <p:nvPicPr>
          <p:cNvPr id="219"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8281" y="3572517"/>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3968" y="204670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61234" y="217640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97515" y="3520637"/>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56" name="Rectangle 6"/>
          <p:cNvSpPr>
            <a:spLocks noChangeArrowheads="1"/>
          </p:cNvSpPr>
          <p:nvPr/>
        </p:nvSpPr>
        <p:spPr bwMode="auto">
          <a:xfrm>
            <a:off x="3838468" y="605358"/>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latin typeface="微软雅黑" pitchFamily="34" charset="-122"/>
                <a:ea typeface="微软雅黑" pitchFamily="34" charset="-122"/>
              </a:rPr>
              <a:t>万维网概述</a:t>
            </a:r>
            <a:endParaRPr lang="zh-CN" altLang="en-US" sz="2000" b="1" dirty="0">
              <a:solidFill>
                <a:schemeClr val="bg1"/>
              </a:solidFill>
              <a:latin typeface="微软雅黑" pitchFamily="34" charset="-122"/>
              <a:ea typeface="微软雅黑" pitchFamily="34" charset="-122"/>
            </a:endParaRPr>
          </a:p>
        </p:txBody>
      </p:sp>
      <p:sp>
        <p:nvSpPr>
          <p:cNvPr id="3" name="矩形 2"/>
          <p:cNvSpPr/>
          <p:nvPr/>
        </p:nvSpPr>
        <p:spPr>
          <a:xfrm>
            <a:off x="6605246" y="3500093"/>
            <a:ext cx="1792760" cy="656590"/>
          </a:xfrm>
          <a:prstGeom prst="rect">
            <a:avLst/>
          </a:prstGeom>
          <a:noFill/>
        </p:spPr>
        <p:txBody>
          <a:bodyPr wrap="square">
            <a:spAutoFit/>
          </a:bodyPr>
          <a:lstStyle/>
          <a:p>
            <a:pPr>
              <a:lnSpc>
                <a:spcPts val="2200"/>
              </a:lnSpc>
            </a:pPr>
            <a:r>
              <a:rPr lang="zh-CN" altLang="en-US" sz="1400" b="1" dirty="0" smtClean="0">
                <a:solidFill>
                  <a:srgbClr val="C00000"/>
                </a:solidFill>
                <a:latin typeface="微软雅黑" panose="020B0503020204020204" pitchFamily="34" charset="-122"/>
                <a:ea typeface="微软雅黑" panose="020B0503020204020204" pitchFamily="34" charset="-122"/>
              </a:rPr>
              <a:t>访问方法：链接。</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提供分布式</a:t>
            </a:r>
            <a:r>
              <a:rPr lang="zh-CN" altLang="en-US" sz="1400" b="1" dirty="0" smtClean="0">
                <a:solidFill>
                  <a:srgbClr val="C00000"/>
                </a:solidFill>
                <a:latin typeface="微软雅黑" panose="020B0503020204020204" pitchFamily="34" charset="-122"/>
                <a:ea typeface="微软雅黑" panose="020B0503020204020204" pitchFamily="34" charset="-122"/>
              </a:rPr>
              <a:t>服务。</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57" name="矩形 56">
            <a:extLst>
              <a:ext uri="{FF2B5EF4-FFF2-40B4-BE49-F238E27FC236}">
                <a16:creationId xmlns:a16="http://schemas.microsoft.com/office/drawing/2014/main" id="{CBF34F6D-5160-4DAF-BB02-EF2D7F17C491}"/>
              </a:ext>
            </a:extLst>
          </p:cNvPr>
          <p:cNvSpPr/>
          <p:nvPr/>
        </p:nvSpPr>
        <p:spPr>
          <a:xfrm>
            <a:off x="6605246" y="1213412"/>
            <a:ext cx="15263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客户</a:t>
            </a:r>
            <a:r>
              <a:rPr kumimoji="1" lang="en-US" altLang="zh-CN" sz="1400" b="1" dirty="0">
                <a:solidFill>
                  <a:srgbClr val="C00000"/>
                </a:solidFill>
                <a:latin typeface="微软雅黑" pitchFamily="34" charset="-122"/>
                <a:ea typeface="微软雅黑" pitchFamily="34" charset="-122"/>
              </a:rPr>
              <a:t>/</a:t>
            </a:r>
            <a:r>
              <a:rPr kumimoji="1" lang="zh-CN" altLang="en-US" sz="1400" b="1" dirty="0">
                <a:solidFill>
                  <a:srgbClr val="C00000"/>
                </a:solidFill>
                <a:latin typeface="微软雅黑" pitchFamily="34" charset="-122"/>
                <a:ea typeface="微软雅黑" pitchFamily="34" charset="-122"/>
              </a:rPr>
              <a:t>服务器方式</a:t>
            </a:r>
          </a:p>
        </p:txBody>
      </p:sp>
      <p:grpSp>
        <p:nvGrpSpPr>
          <p:cNvPr id="58" name="Group 44">
            <a:extLst>
              <a:ext uri="{FF2B5EF4-FFF2-40B4-BE49-F238E27FC236}">
                <a16:creationId xmlns:a16="http://schemas.microsoft.com/office/drawing/2014/main" id="{9EAD6FC3-A72E-8241-AA6C-FE53B680C4A5}"/>
              </a:ext>
            </a:extLst>
          </p:cNvPr>
          <p:cNvGrpSpPr>
            <a:grpSpLocks/>
          </p:cNvGrpSpPr>
          <p:nvPr/>
        </p:nvGrpSpPr>
        <p:grpSpPr bwMode="auto">
          <a:xfrm>
            <a:off x="1041951" y="3760301"/>
            <a:ext cx="859742" cy="704184"/>
            <a:chOff x="-44" y="1473"/>
            <a:chExt cx="981" cy="1105"/>
          </a:xfrm>
        </p:grpSpPr>
        <p:pic>
          <p:nvPicPr>
            <p:cNvPr id="5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61" name="直接箭头连接符 60">
            <a:extLst>
              <a:ext uri="{FF2B5EF4-FFF2-40B4-BE49-F238E27FC236}">
                <a16:creationId xmlns:a16="http://schemas.microsoft.com/office/drawing/2014/main" id="{C300B2EE-558A-4F7E-974A-4847B12E2A4E}"/>
              </a:ext>
            </a:extLst>
          </p:cNvPr>
          <p:cNvCxnSpPr/>
          <p:nvPr/>
        </p:nvCxnSpPr>
        <p:spPr>
          <a:xfrm flipV="1">
            <a:off x="1510416" y="2225496"/>
            <a:ext cx="363767" cy="1485569"/>
          </a:xfrm>
          <a:prstGeom prst="straightConnector1">
            <a:avLst/>
          </a:prstGeom>
          <a:ln w="28575">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7D73F150-9629-43DD-A82B-51EEAEE98558}"/>
              </a:ext>
            </a:extLst>
          </p:cNvPr>
          <p:cNvCxnSpPr/>
          <p:nvPr/>
        </p:nvCxnSpPr>
        <p:spPr>
          <a:xfrm flipH="1">
            <a:off x="1705070" y="2351664"/>
            <a:ext cx="324833" cy="1423090"/>
          </a:xfrm>
          <a:prstGeom prst="straightConnector1">
            <a:avLst/>
          </a:prstGeom>
          <a:ln w="28575">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69" name="组合 68"/>
          <p:cNvGrpSpPr/>
          <p:nvPr/>
        </p:nvGrpSpPr>
        <p:grpSpPr>
          <a:xfrm>
            <a:off x="1675400" y="1323500"/>
            <a:ext cx="723275" cy="1015663"/>
            <a:chOff x="1675400" y="1323500"/>
            <a:chExt cx="723275" cy="1015663"/>
          </a:xfrm>
        </p:grpSpPr>
        <p:sp>
          <p:nvSpPr>
            <p:cNvPr id="70" name="Text Box 6"/>
            <p:cNvSpPr txBox="1">
              <a:spLocks noChangeArrowheads="1"/>
            </p:cNvSpPr>
            <p:nvPr/>
          </p:nvSpPr>
          <p:spPr bwMode="auto">
            <a:xfrm>
              <a:off x="1675400" y="132350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grpSp>
          <p:nvGrpSpPr>
            <p:cNvPr id="71" name="Group 40"/>
            <p:cNvGrpSpPr>
              <a:grpSpLocks/>
            </p:cNvGrpSpPr>
            <p:nvPr/>
          </p:nvGrpSpPr>
          <p:grpSpPr bwMode="auto">
            <a:xfrm>
              <a:off x="1864300" y="1630609"/>
              <a:ext cx="323170" cy="277280"/>
              <a:chOff x="796" y="3199"/>
              <a:chExt cx="239" cy="214"/>
            </a:xfrm>
          </p:grpSpPr>
          <p:sp>
            <p:nvSpPr>
              <p:cNvPr id="75"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76"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72" name="Group 43"/>
            <p:cNvGrpSpPr>
              <a:grpSpLocks/>
            </p:cNvGrpSpPr>
            <p:nvPr/>
          </p:nvGrpSpPr>
          <p:grpSpPr bwMode="auto">
            <a:xfrm>
              <a:off x="1922182" y="1787115"/>
              <a:ext cx="322607" cy="277611"/>
              <a:chOff x="796" y="3199"/>
              <a:chExt cx="237" cy="215"/>
            </a:xfrm>
          </p:grpSpPr>
          <p:sp>
            <p:nvSpPr>
              <p:cNvPr id="73"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74"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cxnSp>
        <p:nvCxnSpPr>
          <p:cNvPr id="87" name="直接箭头连接符 86">
            <a:extLst>
              <a:ext uri="{FF2B5EF4-FFF2-40B4-BE49-F238E27FC236}">
                <a16:creationId xmlns:a16="http://schemas.microsoft.com/office/drawing/2014/main" id="{C300B2EE-558A-4F7E-974A-4847B12E2A4E}"/>
              </a:ext>
            </a:extLst>
          </p:cNvPr>
          <p:cNvCxnSpPr/>
          <p:nvPr/>
        </p:nvCxnSpPr>
        <p:spPr>
          <a:xfrm flipV="1">
            <a:off x="1871103" y="2361861"/>
            <a:ext cx="2391069" cy="1367541"/>
          </a:xfrm>
          <a:prstGeom prst="straightConnector1">
            <a:avLst/>
          </a:prstGeom>
          <a:ln w="28575">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7D73F150-9629-43DD-A82B-51EEAEE98558}"/>
              </a:ext>
            </a:extLst>
          </p:cNvPr>
          <p:cNvCxnSpPr/>
          <p:nvPr/>
        </p:nvCxnSpPr>
        <p:spPr>
          <a:xfrm flipH="1">
            <a:off x="1972148" y="2472773"/>
            <a:ext cx="2426336" cy="1366408"/>
          </a:xfrm>
          <a:prstGeom prst="straightConnector1">
            <a:avLst/>
          </a:prstGeom>
          <a:ln w="28575">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79" name="组合 78"/>
          <p:cNvGrpSpPr/>
          <p:nvPr/>
        </p:nvGrpSpPr>
        <p:grpSpPr>
          <a:xfrm>
            <a:off x="4167703" y="1238209"/>
            <a:ext cx="723275" cy="1015663"/>
            <a:chOff x="4167703" y="1238209"/>
            <a:chExt cx="723275" cy="1015663"/>
          </a:xfrm>
        </p:grpSpPr>
        <p:sp>
          <p:nvSpPr>
            <p:cNvPr id="80" name="Text Box 7"/>
            <p:cNvSpPr txBox="1">
              <a:spLocks noChangeArrowheads="1"/>
            </p:cNvSpPr>
            <p:nvPr/>
          </p:nvSpPr>
          <p:spPr bwMode="auto">
            <a:xfrm>
              <a:off x="4167703" y="123820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grpSp>
          <p:nvGrpSpPr>
            <p:cNvPr id="81" name="Group 34"/>
            <p:cNvGrpSpPr>
              <a:grpSpLocks/>
            </p:cNvGrpSpPr>
            <p:nvPr/>
          </p:nvGrpSpPr>
          <p:grpSpPr bwMode="auto">
            <a:xfrm>
              <a:off x="4262172" y="1554480"/>
              <a:ext cx="322607" cy="277280"/>
              <a:chOff x="806" y="3124"/>
              <a:chExt cx="237" cy="214"/>
            </a:xfrm>
          </p:grpSpPr>
          <p:sp>
            <p:nvSpPr>
              <p:cNvPr id="85"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86"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000099"/>
                    </a:solidFill>
                    <a:latin typeface="微软雅黑" pitchFamily="34" charset="-122"/>
                    <a:ea typeface="微软雅黑" pitchFamily="34" charset="-122"/>
                    <a:sym typeface="Wingdings" pitchFamily="2" charset="2"/>
                  </a:rPr>
                  <a:t></a:t>
                </a:r>
              </a:p>
            </p:txBody>
          </p:sp>
        </p:grpSp>
        <p:grpSp>
          <p:nvGrpSpPr>
            <p:cNvPr id="82" name="Group 46"/>
            <p:cNvGrpSpPr>
              <a:grpSpLocks/>
            </p:cNvGrpSpPr>
            <p:nvPr/>
          </p:nvGrpSpPr>
          <p:grpSpPr bwMode="auto">
            <a:xfrm>
              <a:off x="4365895" y="1806599"/>
              <a:ext cx="323170" cy="277611"/>
              <a:chOff x="800" y="3194"/>
              <a:chExt cx="239" cy="215"/>
            </a:xfrm>
          </p:grpSpPr>
          <p:sp>
            <p:nvSpPr>
              <p:cNvPr id="83"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84"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sp>
        <p:nvSpPr>
          <p:cNvPr id="97"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708197" y="3827852"/>
            <a:ext cx="819217" cy="295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lvl="0" algn="ctr" eaLnBrk="0" fontAlgn="base" hangingPunct="0">
              <a:lnSpc>
                <a:spcPct val="120000"/>
              </a:lnSpc>
              <a:spcBef>
                <a:spcPct val="0"/>
              </a:spcBef>
              <a:spcAft>
                <a:spcPct val="0"/>
              </a:spcAft>
              <a:defRPr/>
            </a:pPr>
            <a:r>
              <a:rPr kumimoji="0" lang="zh-CN" altLang="en-US" sz="1200" b="1" i="0" u="none" strike="noStrike" kern="0" cap="none" spc="0" normalizeH="0" baseline="0" noProof="0" dirty="0" smtClean="0">
                <a:ln>
                  <a:noFill/>
                </a:ln>
                <a:solidFill>
                  <a:srgbClr val="000000"/>
                </a:solidFill>
                <a:effectLst/>
                <a:uLnTx/>
                <a:uFillTx/>
                <a:latin typeface="微软雅黑" panose="020B0503020204020204" pitchFamily="34" charset="-122"/>
                <a:ea typeface="微软雅黑" panose="020B0503020204020204" pitchFamily="34" charset="-122"/>
              </a:rPr>
              <a:t>浏览器</a:t>
            </a:r>
            <a:endParaRPr kumimoji="0" lang="en-US" altLang="en-US" sz="18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34421360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500" fill="hold"/>
                                        <p:tgtEl>
                                          <p:spTgt spid="57"/>
                                        </p:tgtEl>
                                        <p:attrNameLst>
                                          <p:attrName>ppt_w</p:attrName>
                                        </p:attrNameLst>
                                      </p:cBhvr>
                                      <p:tavLst>
                                        <p:tav tm="0">
                                          <p:val>
                                            <p:fltVal val="0"/>
                                          </p:val>
                                        </p:tav>
                                        <p:tav tm="100000">
                                          <p:val>
                                            <p:strVal val="#ppt_w"/>
                                          </p:val>
                                        </p:tav>
                                      </p:tavLst>
                                    </p:anim>
                                    <p:anim calcmode="lin" valueType="num">
                                      <p:cBhvr>
                                        <p:cTn id="8" dur="500" fill="hold"/>
                                        <p:tgtEl>
                                          <p:spTgt spid="57"/>
                                        </p:tgtEl>
                                        <p:attrNameLst>
                                          <p:attrName>ppt_h</p:attrName>
                                        </p:attrNameLst>
                                      </p:cBhvr>
                                      <p:tavLst>
                                        <p:tav tm="0">
                                          <p:val>
                                            <p:fltVal val="0"/>
                                          </p:val>
                                        </p:tav>
                                        <p:tav tm="100000">
                                          <p:val>
                                            <p:strVal val="#ppt_h"/>
                                          </p:val>
                                        </p:tav>
                                      </p:tavLst>
                                    </p:anim>
                                    <p:animEffect transition="in" filter="fade">
                                      <p:cBhvr>
                                        <p:cTn id="9" dur="500"/>
                                        <p:tgtEl>
                                          <p:spTgt spid="57"/>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61"/>
                                        </p:tgtEl>
                                        <p:attrNameLst>
                                          <p:attrName>style.visibility</p:attrName>
                                        </p:attrNameLst>
                                      </p:cBhvr>
                                      <p:to>
                                        <p:strVal val="visible"/>
                                      </p:to>
                                    </p:set>
                                    <p:animEffect transition="in" filter="wipe(down)">
                                      <p:cBhvr>
                                        <p:cTn id="14" dur="500"/>
                                        <p:tgtEl>
                                          <p:spTgt spid="61"/>
                                        </p:tgtEl>
                                      </p:cBhvr>
                                    </p:animEffect>
                                  </p:childTnLst>
                                </p:cTn>
                              </p:par>
                            </p:childTnLst>
                          </p:cTn>
                        </p:par>
                        <p:par>
                          <p:cTn id="15" fill="hold">
                            <p:stCondLst>
                              <p:cond delay="500"/>
                            </p:stCondLst>
                            <p:childTnLst>
                              <p:par>
                                <p:cTn id="16" presetID="22" presetClass="entr" presetSubtype="1" fill="hold" nodeType="afterEffect">
                                  <p:stCondLst>
                                    <p:cond delay="0"/>
                                  </p:stCondLst>
                                  <p:childTnLst>
                                    <p:set>
                                      <p:cBhvr>
                                        <p:cTn id="17" dur="1" fill="hold">
                                          <p:stCondLst>
                                            <p:cond delay="0"/>
                                          </p:stCondLst>
                                        </p:cTn>
                                        <p:tgtEl>
                                          <p:spTgt spid="62"/>
                                        </p:tgtEl>
                                        <p:attrNameLst>
                                          <p:attrName>style.visibility</p:attrName>
                                        </p:attrNameLst>
                                      </p:cBhvr>
                                      <p:to>
                                        <p:strVal val="visible"/>
                                      </p:to>
                                    </p:set>
                                    <p:animEffect transition="in" filter="wipe(up)">
                                      <p:cBhvr>
                                        <p:cTn id="18" dur="500"/>
                                        <p:tgtEl>
                                          <p:spTgt spid="62"/>
                                        </p:tgtEl>
                                      </p:cBhvr>
                                    </p:animEffect>
                                  </p:childTnLst>
                                </p:cTn>
                              </p:par>
                            </p:childTnLst>
                          </p:cTn>
                        </p:par>
                        <p:par>
                          <p:cTn id="19" fill="hold">
                            <p:stCondLst>
                              <p:cond delay="1000"/>
                            </p:stCondLst>
                            <p:childTnLst>
                              <p:par>
                                <p:cTn id="20" presetID="42" presetClass="path" presetSubtype="0" accel="50000" decel="50000" fill="hold" nodeType="afterEffect">
                                  <p:stCondLst>
                                    <p:cond delay="0"/>
                                  </p:stCondLst>
                                  <p:childTnLst>
                                    <p:animMotion origin="layout" path="M -3.05556E-6 -4.19753E-6 L 0.0007 0.41914 " pathEditMode="relative" rAng="0" ptsTypes="AA">
                                      <p:cBhvr>
                                        <p:cTn id="21" dur="2000" fill="hold"/>
                                        <p:tgtEl>
                                          <p:spTgt spid="69"/>
                                        </p:tgtEl>
                                        <p:attrNameLst>
                                          <p:attrName>ppt_x</p:attrName>
                                          <p:attrName>ppt_y</p:attrName>
                                        </p:attrNameLst>
                                      </p:cBhvr>
                                      <p:rCtr x="35" y="20957"/>
                                    </p:animMotion>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nodeType="clickEffect">
                                  <p:stCondLst>
                                    <p:cond delay="0"/>
                                  </p:stCondLst>
                                  <p:childTnLst>
                                    <p:set>
                                      <p:cBhvr>
                                        <p:cTn id="25" dur="1" fill="hold">
                                          <p:stCondLst>
                                            <p:cond delay="0"/>
                                          </p:stCondLst>
                                        </p:cTn>
                                        <p:tgtEl>
                                          <p:spTgt spid="69"/>
                                        </p:tgtEl>
                                        <p:attrNameLst>
                                          <p:attrName>style.visibility</p:attrName>
                                        </p:attrNameLst>
                                      </p:cBhvr>
                                      <p:to>
                                        <p:strVal val="hidden"/>
                                      </p:to>
                                    </p:set>
                                  </p:childTnLst>
                                </p:cTn>
                              </p:par>
                            </p:childTnLst>
                          </p:cTn>
                        </p:par>
                        <p:par>
                          <p:cTn id="26" fill="hold">
                            <p:stCondLst>
                              <p:cond delay="0"/>
                            </p:stCondLst>
                            <p:childTnLst>
                              <p:par>
                                <p:cTn id="27" presetID="22" presetClass="entr" presetSubtype="4" fill="hold" nodeType="afterEffect">
                                  <p:stCondLst>
                                    <p:cond delay="0"/>
                                  </p:stCondLst>
                                  <p:childTnLst>
                                    <p:set>
                                      <p:cBhvr>
                                        <p:cTn id="28" dur="1" fill="hold">
                                          <p:stCondLst>
                                            <p:cond delay="0"/>
                                          </p:stCondLst>
                                        </p:cTn>
                                        <p:tgtEl>
                                          <p:spTgt spid="87"/>
                                        </p:tgtEl>
                                        <p:attrNameLst>
                                          <p:attrName>style.visibility</p:attrName>
                                        </p:attrNameLst>
                                      </p:cBhvr>
                                      <p:to>
                                        <p:strVal val="visible"/>
                                      </p:to>
                                    </p:set>
                                    <p:animEffect transition="in" filter="wipe(down)">
                                      <p:cBhvr>
                                        <p:cTn id="29" dur="500"/>
                                        <p:tgtEl>
                                          <p:spTgt spid="87"/>
                                        </p:tgtEl>
                                      </p:cBhvr>
                                    </p:animEffect>
                                  </p:childTnLst>
                                </p:cTn>
                              </p:par>
                            </p:childTnLst>
                          </p:cTn>
                        </p:par>
                        <p:par>
                          <p:cTn id="30" fill="hold">
                            <p:stCondLst>
                              <p:cond delay="500"/>
                            </p:stCondLst>
                            <p:childTnLst>
                              <p:par>
                                <p:cTn id="31" presetID="22" presetClass="entr" presetSubtype="1" fill="hold" nodeType="after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wipe(up)">
                                      <p:cBhvr>
                                        <p:cTn id="33" dur="500"/>
                                        <p:tgtEl>
                                          <p:spTgt spid="88"/>
                                        </p:tgtEl>
                                      </p:cBhvr>
                                    </p:animEffect>
                                  </p:childTnLst>
                                </p:cTn>
                              </p:par>
                            </p:childTnLst>
                          </p:cTn>
                        </p:par>
                        <p:par>
                          <p:cTn id="34" fill="hold">
                            <p:stCondLst>
                              <p:cond delay="1000"/>
                            </p:stCondLst>
                            <p:childTnLst>
                              <p:par>
                                <p:cTn id="35" presetID="42" presetClass="path" presetSubtype="0" accel="50000" decel="50000" fill="hold" nodeType="afterEffect">
                                  <p:stCondLst>
                                    <p:cond delay="0"/>
                                  </p:stCondLst>
                                  <p:childTnLst>
                                    <p:animMotion origin="layout" path="M 3.05556E-6 -3.45679E-6 L -0.27257 0.39166 " pathEditMode="relative" rAng="0" ptsTypes="AA">
                                      <p:cBhvr>
                                        <p:cTn id="36" dur="2000" fill="hold"/>
                                        <p:tgtEl>
                                          <p:spTgt spid="79"/>
                                        </p:tgtEl>
                                        <p:attrNameLst>
                                          <p:attrName>ppt_x</p:attrName>
                                          <p:attrName>ppt_y</p:attrName>
                                        </p:attrNameLst>
                                      </p:cBhvr>
                                      <p:rCtr x="-13663" y="1953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281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30529" y="589600"/>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万维网必须解决的</a:t>
            </a:r>
            <a:r>
              <a:rPr lang="zh-CN" altLang="en-US" sz="2000" b="1" dirty="0" smtClean="0">
                <a:solidFill>
                  <a:schemeClr val="bg1"/>
                </a:solidFill>
                <a:latin typeface="微软雅黑" pitchFamily="34" charset="-122"/>
                <a:ea typeface="微软雅黑" pitchFamily="34" charset="-122"/>
              </a:rPr>
              <a:t>问题（</a:t>
            </a:r>
            <a:r>
              <a:rPr lang="en-US" altLang="zh-CN" sz="2000" b="1" dirty="0" smtClean="0">
                <a:solidFill>
                  <a:schemeClr val="bg1"/>
                </a:solidFill>
                <a:latin typeface="微软雅黑" pitchFamily="34" charset="-122"/>
                <a:ea typeface="微软雅黑" pitchFamily="34" charset="-122"/>
              </a:rPr>
              <a:t>1/2</a:t>
            </a:r>
            <a:r>
              <a:rPr lang="zh-CN" altLang="en-US" sz="2000" b="1" dirty="0" smtClean="0">
                <a:solidFill>
                  <a:schemeClr val="bg1"/>
                </a:solidFill>
                <a:latin typeface="微软雅黑" pitchFamily="34" charset="-122"/>
                <a:ea typeface="微软雅黑" pitchFamily="34" charset="-122"/>
              </a:rPr>
              <a:t>）</a:t>
            </a:r>
          </a:p>
        </p:txBody>
      </p:sp>
      <p:sp>
        <p:nvSpPr>
          <p:cNvPr id="4" name="Rectangle 68"/>
          <p:cNvSpPr>
            <a:spLocks noChangeArrowheads="1"/>
          </p:cNvSpPr>
          <p:nvPr/>
        </p:nvSpPr>
        <p:spPr bwMode="auto">
          <a:xfrm>
            <a:off x="556964" y="988304"/>
            <a:ext cx="8048775" cy="2728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500"/>
              </a:lnSpc>
              <a:buClr>
                <a:srgbClr val="0070C0"/>
              </a:buClr>
            </a:pPr>
            <a:r>
              <a:rPr lang="en-US" altLang="zh-CN" sz="2000" b="1" dirty="0">
                <a:solidFill>
                  <a:srgbClr val="9900CC"/>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怎样</a:t>
            </a:r>
            <a:r>
              <a:rPr lang="zh-CN" altLang="en-US" sz="2000" b="1" dirty="0">
                <a:solidFill>
                  <a:srgbClr val="C00000"/>
                </a:solidFill>
                <a:latin typeface="微软雅黑" pitchFamily="34" charset="-122"/>
                <a:ea typeface="微软雅黑" pitchFamily="34" charset="-122"/>
              </a:rPr>
              <a:t>标志</a:t>
            </a:r>
            <a:r>
              <a:rPr lang="zh-CN" altLang="en-US" sz="2000" b="1" dirty="0">
                <a:latin typeface="微软雅黑" pitchFamily="34" charset="-122"/>
                <a:ea typeface="微软雅黑" pitchFamily="34" charset="-122"/>
              </a:rPr>
              <a:t>分布在整个互联网上的万维网文档？ </a:t>
            </a:r>
          </a:p>
          <a:p>
            <a:pPr marL="742950" lvl="1" indent="-285750" eaLnBrk="0" hangingPunct="0">
              <a:lnSpc>
                <a:spcPts val="3500"/>
              </a:lnSpc>
              <a:buClr>
                <a:srgbClr val="0070C0"/>
              </a:buClr>
              <a:buFont typeface="Wingdings" pitchFamily="2" charset="2"/>
              <a:buChar char="l"/>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统一资源定位符 </a:t>
            </a:r>
            <a:r>
              <a:rPr lang="en-US" altLang="zh-CN" b="1" dirty="0">
                <a:solidFill>
                  <a:srgbClr val="C00000"/>
                </a:solidFill>
                <a:latin typeface="微软雅黑" pitchFamily="34" charset="-122"/>
                <a:ea typeface="微软雅黑" pitchFamily="34" charset="-122"/>
              </a:rPr>
              <a:t>URL </a:t>
            </a:r>
            <a:r>
              <a:rPr lang="en-US" altLang="zh-CN" b="1" dirty="0">
                <a:latin typeface="微软雅黑" pitchFamily="34" charset="-122"/>
                <a:ea typeface="微软雅黑" pitchFamily="34" charset="-122"/>
              </a:rPr>
              <a:t>(Uniform Resource Locator) </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a:p>
            <a:pPr marL="742950" lvl="1" indent="-285750" eaLnBrk="0" hangingPunct="0">
              <a:lnSpc>
                <a:spcPts val="3500"/>
              </a:lnSpc>
              <a:buClr>
                <a:srgbClr val="0070C0"/>
              </a:buClr>
              <a:buFont typeface="Wingdings" pitchFamily="2" charset="2"/>
              <a:buChar char="l"/>
            </a:pPr>
            <a:r>
              <a:rPr lang="zh-CN" altLang="en-US" b="1" dirty="0" smtClean="0">
                <a:latin typeface="微软雅黑" pitchFamily="34" charset="-122"/>
                <a:ea typeface="微软雅黑" pitchFamily="34" charset="-122"/>
              </a:rPr>
              <a:t>使每</a:t>
            </a:r>
            <a:r>
              <a:rPr lang="zh-CN" altLang="en-US" b="1" dirty="0">
                <a:latin typeface="微软雅黑" pitchFamily="34" charset="-122"/>
                <a:ea typeface="微软雅黑" pitchFamily="34" charset="-122"/>
              </a:rPr>
              <a:t>一个文档在整个互联网的范围内具有</a:t>
            </a:r>
            <a:r>
              <a:rPr lang="zh-CN" altLang="en-US" b="1" dirty="0">
                <a:solidFill>
                  <a:srgbClr val="0000FF"/>
                </a:solidFill>
                <a:latin typeface="微软雅黑" pitchFamily="34" charset="-122"/>
                <a:ea typeface="微软雅黑" pitchFamily="34" charset="-122"/>
              </a:rPr>
              <a:t>唯一</a:t>
            </a:r>
            <a:r>
              <a:rPr lang="zh-CN" altLang="en-US" b="1" dirty="0">
                <a:latin typeface="微软雅黑" pitchFamily="34" charset="-122"/>
                <a:ea typeface="微软雅黑" pitchFamily="34" charset="-122"/>
              </a:rPr>
              <a:t>的标识符 </a:t>
            </a:r>
            <a:r>
              <a:rPr lang="en-US" altLang="zh-CN" b="1" dirty="0">
                <a:latin typeface="微软雅黑" pitchFamily="34" charset="-122"/>
                <a:ea typeface="微软雅黑" pitchFamily="34" charset="-122"/>
              </a:rPr>
              <a:t>URL</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eaLnBrk="0" hangingPunct="0">
              <a:lnSpc>
                <a:spcPts val="3500"/>
              </a:lnSpc>
              <a:buClr>
                <a:srgbClr val="0070C0"/>
              </a:buClr>
            </a:pPr>
            <a:r>
              <a:rPr lang="en-US" altLang="zh-CN" sz="2000" b="1" dirty="0" smtClean="0">
                <a:solidFill>
                  <a:srgbClr val="9900CC"/>
                </a:solidFill>
                <a:latin typeface="微软雅黑" pitchFamily="34" charset="-122"/>
                <a:ea typeface="微软雅黑" pitchFamily="34" charset="-122"/>
              </a:rPr>
              <a:t>(</a:t>
            </a:r>
            <a:r>
              <a:rPr lang="en-US" altLang="zh-CN" sz="2000" b="1" dirty="0">
                <a:solidFill>
                  <a:srgbClr val="9900CC"/>
                </a:solidFill>
                <a:latin typeface="微软雅黑" pitchFamily="34" charset="-122"/>
                <a:ea typeface="微软雅黑" pitchFamily="34" charset="-122"/>
              </a:rPr>
              <a:t>2</a:t>
            </a:r>
            <a:r>
              <a:rPr lang="en-US" altLang="zh-CN" sz="2000" b="1" dirty="0" smtClean="0">
                <a:solidFill>
                  <a:srgbClr val="9900CC"/>
                </a:solidFill>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用什么</a:t>
            </a:r>
            <a:r>
              <a:rPr lang="zh-CN" altLang="en-US" sz="2000" b="1" dirty="0" smtClean="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来实现万维网上的各种链接</a:t>
            </a:r>
            <a:r>
              <a:rPr lang="zh-CN" altLang="en-US" sz="2000" b="1" dirty="0" smtClean="0">
                <a:latin typeface="微软雅黑" pitchFamily="34" charset="-122"/>
                <a:ea typeface="微软雅黑" pitchFamily="34" charset="-122"/>
              </a:rPr>
              <a:t>？ </a:t>
            </a:r>
            <a:endParaRPr lang="zh-CN" altLang="en-US" sz="2000" b="1" dirty="0">
              <a:latin typeface="微软雅黑" pitchFamily="34" charset="-122"/>
              <a:ea typeface="微软雅黑" pitchFamily="34" charset="-122"/>
            </a:endParaRPr>
          </a:p>
          <a:p>
            <a:pPr marL="742950" lvl="1" indent="-285750" eaLnBrk="0" hangingPunct="0">
              <a:lnSpc>
                <a:spcPts val="3500"/>
              </a:lnSpc>
              <a:buClr>
                <a:srgbClr val="0070C0"/>
              </a:buClr>
              <a:buFont typeface="Wingdings" pitchFamily="2" charset="2"/>
              <a:buChar char="l"/>
            </a:pPr>
            <a:r>
              <a:rPr lang="zh-CN" altLang="en-US" b="1" dirty="0">
                <a:latin typeface="微软雅黑" pitchFamily="34" charset="-122"/>
                <a:ea typeface="微软雅黑" pitchFamily="34" charset="-122"/>
              </a:rPr>
              <a:t>使用</a:t>
            </a:r>
            <a:r>
              <a:rPr lang="zh-CN" altLang="en-US" b="1" dirty="0" smtClean="0">
                <a:solidFill>
                  <a:srgbClr val="C00000"/>
                </a:solidFill>
                <a:latin typeface="微软雅黑" pitchFamily="34" charset="-122"/>
                <a:ea typeface="微软雅黑" pitchFamily="34" charset="-122"/>
              </a:rPr>
              <a:t>超文本</a:t>
            </a:r>
            <a:r>
              <a:rPr lang="zh-CN" altLang="en-US" b="1" dirty="0">
                <a:solidFill>
                  <a:srgbClr val="C00000"/>
                </a:solidFill>
                <a:latin typeface="微软雅黑" pitchFamily="34" charset="-122"/>
                <a:ea typeface="微软雅黑" pitchFamily="34" charset="-122"/>
              </a:rPr>
              <a:t>传送协议 </a:t>
            </a:r>
            <a:r>
              <a:rPr lang="en-US" altLang="zh-CN" b="1" dirty="0">
                <a:solidFill>
                  <a:srgbClr val="C00000"/>
                </a:solidFill>
                <a:latin typeface="微软雅黑" pitchFamily="34" charset="-122"/>
                <a:ea typeface="微软雅黑" pitchFamily="34" charset="-122"/>
              </a:rPr>
              <a:t>HTTP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HyperText</a:t>
            </a:r>
            <a:r>
              <a:rPr lang="en-US" altLang="zh-CN" b="1" dirty="0">
                <a:latin typeface="微软雅黑" pitchFamily="34" charset="-122"/>
                <a:ea typeface="微软雅黑" pitchFamily="34" charset="-122"/>
              </a:rPr>
              <a:t> Transfer Protocol)</a:t>
            </a:r>
            <a:r>
              <a:rPr lang="zh-CN" altLang="en-US" b="1" dirty="0">
                <a:latin typeface="微软雅黑" pitchFamily="34" charset="-122"/>
                <a:ea typeface="微软雅黑" pitchFamily="34" charset="-122"/>
              </a:rPr>
              <a:t>。</a:t>
            </a:r>
          </a:p>
          <a:p>
            <a:pPr marL="742950" lvl="1" indent="-285750" eaLnBrk="0" hangingPunct="0">
              <a:lnSpc>
                <a:spcPts val="3500"/>
              </a:lnSpc>
              <a:buClr>
                <a:srgbClr val="0070C0"/>
              </a:buClr>
              <a:buFont typeface="Wingdings" pitchFamily="2" charset="2"/>
              <a:buChar char="l"/>
            </a:pP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是一个应用层协议</a:t>
            </a:r>
            <a:r>
              <a:rPr lang="zh-CN" altLang="en-US" b="1" dirty="0" smtClean="0">
                <a:latin typeface="微软雅黑" pitchFamily="34" charset="-122"/>
                <a:ea typeface="微软雅黑" pitchFamily="34" charset="-122"/>
              </a:rPr>
              <a:t>，使用 </a:t>
            </a:r>
            <a:r>
              <a:rPr lang="en-US" altLang="zh-CN" b="1" dirty="0">
                <a:solidFill>
                  <a:srgbClr val="0000FF"/>
                </a:solidFill>
                <a:latin typeface="微软雅黑" pitchFamily="34" charset="-122"/>
                <a:ea typeface="微软雅黑" pitchFamily="34" charset="-122"/>
              </a:rPr>
              <a:t>TCP</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连接进行可靠的传送。 </a:t>
            </a:r>
          </a:p>
        </p:txBody>
      </p:sp>
    </p:spTree>
    <p:custDataLst>
      <p:tags r:id="rId1"/>
    </p:custDataLst>
    <p:extLst>
      <p:ext uri="{BB962C8B-B14F-4D97-AF65-F5344CB8AC3E}">
        <p14:creationId xmlns:p14="http://schemas.microsoft.com/office/powerpoint/2010/main" val="14820283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46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30529" y="597133"/>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万维网必须解决的</a:t>
            </a:r>
            <a:r>
              <a:rPr lang="zh-CN" altLang="en-US" sz="2000" b="1" dirty="0" smtClean="0">
                <a:solidFill>
                  <a:schemeClr val="bg1"/>
                </a:solidFill>
                <a:latin typeface="微软雅黑" pitchFamily="34" charset="-122"/>
                <a:ea typeface="微软雅黑" pitchFamily="34" charset="-122"/>
              </a:rPr>
              <a:t>问题（</a:t>
            </a:r>
            <a:r>
              <a:rPr lang="en-US" altLang="zh-CN" sz="2000" b="1" dirty="0" smtClean="0">
                <a:solidFill>
                  <a:schemeClr val="bg1"/>
                </a:solidFill>
                <a:latin typeface="微软雅黑" pitchFamily="34" charset="-122"/>
                <a:ea typeface="微软雅黑" pitchFamily="34" charset="-122"/>
              </a:rPr>
              <a:t>2/2</a:t>
            </a:r>
            <a:r>
              <a:rPr lang="zh-CN" altLang="en-US" sz="2000" b="1" dirty="0" smtClean="0">
                <a:solidFill>
                  <a:schemeClr val="bg1"/>
                </a:solidFill>
                <a:latin typeface="微软雅黑" pitchFamily="34" charset="-122"/>
                <a:ea typeface="微软雅黑" pitchFamily="34" charset="-122"/>
              </a:rPr>
              <a:t>）</a:t>
            </a:r>
          </a:p>
        </p:txBody>
      </p:sp>
      <p:sp>
        <p:nvSpPr>
          <p:cNvPr id="4" name="Rectangle 68"/>
          <p:cNvSpPr>
            <a:spLocks noChangeArrowheads="1"/>
          </p:cNvSpPr>
          <p:nvPr/>
        </p:nvSpPr>
        <p:spPr bwMode="auto">
          <a:xfrm>
            <a:off x="556963" y="978081"/>
            <a:ext cx="8048776" cy="22792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500"/>
              </a:lnSpc>
              <a:buClr>
                <a:srgbClr val="0070C0"/>
              </a:buClr>
            </a:pPr>
            <a:r>
              <a:rPr lang="en-US" altLang="zh-CN" sz="2000" b="1" dirty="0">
                <a:solidFill>
                  <a:srgbClr val="9900CC"/>
                </a:solidFill>
                <a:latin typeface="微软雅黑" pitchFamily="34" charset="-122"/>
                <a:ea typeface="微软雅黑" pitchFamily="34" charset="-122"/>
              </a:rPr>
              <a:t>(3</a:t>
            </a:r>
            <a:r>
              <a:rPr lang="en-US" altLang="zh-CN" sz="2000" b="1" dirty="0" smtClean="0">
                <a:solidFill>
                  <a:srgbClr val="9900CC"/>
                </a:solidFill>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怎样</a:t>
            </a:r>
            <a:r>
              <a:rPr lang="zh-CN" altLang="en-US" sz="2000" b="1" dirty="0">
                <a:latin typeface="微软雅黑" pitchFamily="34" charset="-122"/>
                <a:ea typeface="微软雅黑" pitchFamily="34" charset="-122"/>
              </a:rPr>
              <a:t>使不同作者</a:t>
            </a:r>
            <a:r>
              <a:rPr lang="zh-CN" altLang="en-US" sz="2000" b="1" dirty="0">
                <a:solidFill>
                  <a:srgbClr val="C00000"/>
                </a:solidFill>
                <a:latin typeface="微软雅黑" pitchFamily="34" charset="-122"/>
                <a:ea typeface="微软雅黑" pitchFamily="34" charset="-122"/>
              </a:rPr>
              <a:t>创作</a:t>
            </a:r>
            <a:r>
              <a:rPr lang="zh-CN" altLang="en-US" sz="2000" b="1" dirty="0">
                <a:latin typeface="微软雅黑" pitchFamily="34" charset="-122"/>
                <a:ea typeface="微软雅黑" pitchFamily="34" charset="-122"/>
              </a:rPr>
              <a:t>的不同风格的万维网</a:t>
            </a:r>
            <a:r>
              <a:rPr lang="zh-CN" altLang="en-US" sz="2000" b="1" dirty="0" smtClean="0">
                <a:latin typeface="微软雅黑" pitchFamily="34" charset="-122"/>
                <a:ea typeface="微软雅黑" pitchFamily="34" charset="-122"/>
              </a:rPr>
              <a:t>文档都</a:t>
            </a:r>
            <a:r>
              <a:rPr lang="zh-CN" altLang="en-US" sz="2000" b="1" dirty="0">
                <a:latin typeface="微软雅黑" pitchFamily="34" charset="-122"/>
                <a:ea typeface="微软雅黑" pitchFamily="34" charset="-122"/>
              </a:rPr>
              <a:t>能在互联网上的各种主机上</a:t>
            </a:r>
            <a:r>
              <a:rPr lang="zh-CN" altLang="en-US" sz="2000" b="1" dirty="0">
                <a:solidFill>
                  <a:srgbClr val="C00000"/>
                </a:solidFill>
                <a:latin typeface="微软雅黑" pitchFamily="34" charset="-122"/>
                <a:ea typeface="微软雅黑" pitchFamily="34" charset="-122"/>
              </a:rPr>
              <a:t>显示</a:t>
            </a:r>
            <a:r>
              <a:rPr lang="zh-CN" altLang="en-US" sz="2000" b="1" dirty="0">
                <a:latin typeface="微软雅黑" pitchFamily="34" charset="-122"/>
                <a:ea typeface="微软雅黑" pitchFamily="34" charset="-122"/>
              </a:rPr>
              <a:t>出来，同时使用户清楚地知道在什么地方存在着</a:t>
            </a:r>
            <a:r>
              <a:rPr lang="zh-CN" altLang="en-US" sz="2000" b="1" dirty="0">
                <a:solidFill>
                  <a:srgbClr val="C00000"/>
                </a:solidFill>
                <a:latin typeface="微软雅黑" pitchFamily="34" charset="-122"/>
                <a:ea typeface="微软雅黑" pitchFamily="34" charset="-122"/>
              </a:rPr>
              <a:t>链接</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eaLnBrk="0" hangingPunct="0">
              <a:lnSpc>
                <a:spcPts val="3500"/>
              </a:lnSpc>
              <a:buClr>
                <a:srgbClr val="0070C0"/>
              </a:buClr>
              <a:buFont typeface="Wingdings" pitchFamily="2" charset="2"/>
              <a:buChar char="l"/>
            </a:pPr>
            <a:r>
              <a:rPr lang="zh-CN" altLang="en-US" b="1" dirty="0">
                <a:latin typeface="微软雅黑" pitchFamily="34" charset="-122"/>
                <a:ea typeface="微软雅黑" pitchFamily="34" charset="-122"/>
              </a:rPr>
              <a:t>使用</a:t>
            </a:r>
            <a:r>
              <a:rPr lang="zh-CN" altLang="en-US" b="1" dirty="0" smtClean="0">
                <a:solidFill>
                  <a:srgbClr val="C00000"/>
                </a:solidFill>
                <a:latin typeface="微软雅黑" pitchFamily="34" charset="-122"/>
                <a:ea typeface="微软雅黑" pitchFamily="34" charset="-122"/>
              </a:rPr>
              <a:t>超文本</a:t>
            </a:r>
            <a:r>
              <a:rPr lang="zh-CN" altLang="en-US" b="1" dirty="0">
                <a:solidFill>
                  <a:srgbClr val="C00000"/>
                </a:solidFill>
                <a:latin typeface="微软雅黑" pitchFamily="34" charset="-122"/>
                <a:ea typeface="微软雅黑" pitchFamily="34" charset="-122"/>
              </a:rPr>
              <a:t>标记语言 </a:t>
            </a:r>
            <a:r>
              <a:rPr lang="en-US" altLang="zh-CN" b="1" dirty="0">
                <a:solidFill>
                  <a:srgbClr val="C00000"/>
                </a:solidFill>
                <a:latin typeface="微软雅黑" pitchFamily="34" charset="-122"/>
                <a:ea typeface="微软雅黑" pitchFamily="34" charset="-122"/>
              </a:rPr>
              <a:t>HTML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HyperText</a:t>
            </a:r>
            <a:r>
              <a:rPr lang="en-US" altLang="zh-CN" b="1" dirty="0">
                <a:latin typeface="微软雅黑" pitchFamily="34" charset="-122"/>
                <a:ea typeface="微软雅黑" pitchFamily="34" charset="-122"/>
              </a:rPr>
              <a:t> Markup Language) </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eaLnBrk="0" hangingPunct="0">
              <a:lnSpc>
                <a:spcPts val="3500"/>
              </a:lnSpc>
              <a:buClr>
                <a:srgbClr val="0070C0"/>
              </a:buClr>
            </a:pPr>
            <a:r>
              <a:rPr lang="en-US" altLang="zh-CN" sz="2000" b="1" dirty="0">
                <a:solidFill>
                  <a:srgbClr val="9900CC"/>
                </a:solidFill>
                <a:latin typeface="微软雅黑" pitchFamily="34" charset="-122"/>
                <a:ea typeface="微软雅黑" pitchFamily="34" charset="-122"/>
              </a:rPr>
              <a:t>(4) </a:t>
            </a:r>
            <a:r>
              <a:rPr lang="zh-CN" altLang="en-US" sz="2000" b="1" dirty="0">
                <a:latin typeface="微软雅黑" pitchFamily="34" charset="-122"/>
                <a:ea typeface="微软雅黑" pitchFamily="34" charset="-122"/>
              </a:rPr>
              <a:t>怎样使用户能够很方便地</a:t>
            </a:r>
            <a:r>
              <a:rPr lang="zh-CN" altLang="en-US" sz="2000" b="1" dirty="0">
                <a:solidFill>
                  <a:srgbClr val="C00000"/>
                </a:solidFill>
                <a:latin typeface="微软雅黑" pitchFamily="34" charset="-122"/>
                <a:ea typeface="微软雅黑" pitchFamily="34" charset="-122"/>
              </a:rPr>
              <a:t>找到</a:t>
            </a:r>
            <a:r>
              <a:rPr lang="zh-CN" altLang="en-US" sz="2000" b="1" dirty="0">
                <a:latin typeface="微软雅黑" pitchFamily="34" charset="-122"/>
                <a:ea typeface="微软雅黑" pitchFamily="34" charset="-122"/>
              </a:rPr>
              <a:t>所需的信息？ </a:t>
            </a:r>
          </a:p>
          <a:p>
            <a:pPr marL="742950" lvl="1" indent="-285750" eaLnBrk="0" hangingPunct="0">
              <a:lnSpc>
                <a:spcPts val="3500"/>
              </a:lnSpc>
              <a:buClr>
                <a:srgbClr val="0070C0"/>
              </a:buClr>
              <a:buFont typeface="Wingdings" pitchFamily="2" charset="2"/>
              <a:buChar char="l"/>
            </a:pPr>
            <a:r>
              <a:rPr lang="zh-CN" altLang="en-US" b="1" dirty="0" smtClean="0">
                <a:latin typeface="微软雅黑" pitchFamily="34" charset="-122"/>
                <a:ea typeface="微软雅黑" pitchFamily="34" charset="-122"/>
              </a:rPr>
              <a:t>使用</a:t>
            </a:r>
            <a:r>
              <a:rPr lang="zh-CN" altLang="en-US" b="1" dirty="0">
                <a:latin typeface="微软雅黑" pitchFamily="34" charset="-122"/>
                <a:ea typeface="微软雅黑" pitchFamily="34" charset="-122"/>
              </a:rPr>
              <a:t>各种的</a:t>
            </a:r>
            <a:r>
              <a:rPr lang="zh-CN" altLang="en-US" b="1" dirty="0">
                <a:solidFill>
                  <a:srgbClr val="C00000"/>
                </a:solidFill>
                <a:latin typeface="微软雅黑" pitchFamily="34" charset="-122"/>
                <a:ea typeface="微软雅黑" pitchFamily="34" charset="-122"/>
              </a:rPr>
              <a:t>搜索工具</a:t>
            </a:r>
            <a:r>
              <a:rPr lang="zh-CN" altLang="en-US" b="1" dirty="0">
                <a:latin typeface="微软雅黑" pitchFamily="34" charset="-122"/>
                <a:ea typeface="微软雅黑" pitchFamily="34" charset="-122"/>
              </a:rPr>
              <a:t>（即</a:t>
            </a:r>
            <a:r>
              <a:rPr lang="zh-CN" altLang="en-US" b="1" dirty="0">
                <a:solidFill>
                  <a:srgbClr val="0000FF"/>
                </a:solidFill>
                <a:latin typeface="微软雅黑" pitchFamily="34" charset="-122"/>
                <a:ea typeface="微软雅黑" pitchFamily="34" charset="-122"/>
              </a:rPr>
              <a:t>搜索引擎</a:t>
            </a:r>
            <a:r>
              <a:rPr lang="zh-CN" altLang="en-US" b="1" dirty="0">
                <a:latin typeface="微软雅黑" pitchFamily="34" charset="-122"/>
                <a:ea typeface="微软雅黑" pitchFamily="34" charset="-122"/>
              </a:rPr>
              <a:t>）。 </a:t>
            </a:r>
          </a:p>
        </p:txBody>
      </p:sp>
    </p:spTree>
    <p:custDataLst>
      <p:tags r:id="rId1"/>
    </p:custDataLst>
    <p:extLst>
      <p:ext uri="{BB962C8B-B14F-4D97-AF65-F5344CB8AC3E}">
        <p14:creationId xmlns:p14="http://schemas.microsoft.com/office/powerpoint/2010/main" val="23912889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810323" y="3336225"/>
            <a:ext cx="7898670" cy="119026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2616"/>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045784" y="570345"/>
            <a:ext cx="30524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统一</a:t>
            </a:r>
            <a:r>
              <a:rPr lang="zh-CN" altLang="en-US" sz="2400" b="1" dirty="0">
                <a:solidFill>
                  <a:schemeClr val="bg1"/>
                </a:solidFill>
                <a:latin typeface="微软雅黑" pitchFamily="34" charset="-122"/>
                <a:ea typeface="微软雅黑" pitchFamily="34" charset="-122"/>
              </a:rPr>
              <a:t>资源定位符 </a:t>
            </a:r>
            <a:r>
              <a:rPr lang="en-US" altLang="zh-CN" sz="2400" b="1" dirty="0">
                <a:solidFill>
                  <a:schemeClr val="bg1"/>
                </a:solidFill>
                <a:latin typeface="微软雅黑" pitchFamily="34" charset="-122"/>
                <a:ea typeface="微软雅黑" pitchFamily="34" charset="-122"/>
              </a:rPr>
              <a:t>URL</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2" y="1012135"/>
            <a:ext cx="8152031"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用于表示</a:t>
            </a:r>
            <a:r>
              <a:rPr lang="zh-CN" altLang="en-US" sz="2000" b="1" dirty="0">
                <a:latin typeface="微软雅黑" pitchFamily="34" charset="-122"/>
                <a:ea typeface="微软雅黑" pitchFamily="34" charset="-122"/>
              </a:rPr>
              <a:t>从互联网</a:t>
            </a:r>
            <a:r>
              <a:rPr lang="zh-CN" altLang="en-US" sz="2000" b="1" dirty="0" smtClean="0">
                <a:latin typeface="微软雅黑" pitchFamily="34" charset="-122"/>
                <a:ea typeface="微软雅黑" pitchFamily="34" charset="-122"/>
              </a:rPr>
              <a:t>上</a:t>
            </a:r>
            <a:r>
              <a:rPr lang="zh-CN" altLang="en-US" sz="2000" b="1" dirty="0" smtClean="0">
                <a:solidFill>
                  <a:srgbClr val="C00000"/>
                </a:solidFill>
                <a:latin typeface="微软雅黑" pitchFamily="34" charset="-122"/>
                <a:ea typeface="微软雅黑" pitchFamily="34" charset="-122"/>
              </a:rPr>
              <a:t>获取资源的位置</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访问这些资源的方法</a:t>
            </a:r>
            <a:r>
              <a:rPr lang="zh-CN" altLang="en-US" sz="2000" b="1" dirty="0">
                <a:latin typeface="微软雅黑" pitchFamily="34" charset="-122"/>
                <a:ea typeface="微软雅黑" pitchFamily="34" charset="-122"/>
              </a:rPr>
              <a:t>。</a:t>
            </a:r>
          </a:p>
          <a:p>
            <a:pPr marL="285750" indent="-28575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实际上就是互联网</a:t>
            </a:r>
            <a:r>
              <a:rPr lang="zh-CN" altLang="en-US" sz="2000" b="1" dirty="0">
                <a:latin typeface="微软雅黑" pitchFamily="34" charset="-122"/>
                <a:ea typeface="微软雅黑" pitchFamily="34" charset="-122"/>
              </a:rPr>
              <a:t>上的</a:t>
            </a:r>
            <a:r>
              <a:rPr lang="zh-CN" altLang="en-US" sz="2000" b="1" dirty="0">
                <a:solidFill>
                  <a:srgbClr val="C00000"/>
                </a:solidFill>
                <a:latin typeface="微软雅黑" pitchFamily="34" charset="-122"/>
                <a:ea typeface="微软雅黑" pitchFamily="34" charset="-122"/>
              </a:rPr>
              <a:t>资源的地址</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互联网</a:t>
            </a:r>
            <a:r>
              <a:rPr lang="zh-CN" altLang="en-US" sz="2000" b="1" dirty="0">
                <a:latin typeface="微软雅黑" pitchFamily="34" charset="-122"/>
                <a:ea typeface="微软雅黑" pitchFamily="34" charset="-122"/>
              </a:rPr>
              <a:t>上的所有</a:t>
            </a:r>
            <a:r>
              <a:rPr lang="zh-CN" altLang="en-US" sz="2000" b="1" dirty="0" smtClean="0">
                <a:latin typeface="微软雅黑" pitchFamily="34" charset="-122"/>
                <a:ea typeface="微软雅黑" pitchFamily="34" charset="-122"/>
              </a:rPr>
              <a:t>资源都</a:t>
            </a:r>
            <a:r>
              <a:rPr lang="zh-CN" altLang="en-US" sz="2000" b="1" dirty="0">
                <a:latin typeface="微软雅黑" pitchFamily="34" charset="-122"/>
                <a:ea typeface="微软雅黑" pitchFamily="34" charset="-122"/>
              </a:rPr>
              <a:t>有一个</a:t>
            </a:r>
            <a:r>
              <a:rPr lang="zh-CN" altLang="en-US" sz="2000" b="1" dirty="0">
                <a:solidFill>
                  <a:srgbClr val="C00000"/>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确定的</a:t>
            </a: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资源：</a:t>
            </a:r>
            <a:r>
              <a:rPr lang="zh-CN" altLang="en-US" sz="2000" b="1" dirty="0" smtClean="0">
                <a:latin typeface="微软雅黑" pitchFamily="34" charset="-122"/>
                <a:ea typeface="微软雅黑" pitchFamily="34" charset="-122"/>
              </a:rPr>
              <a:t>指</a:t>
            </a:r>
            <a:r>
              <a:rPr lang="zh-CN" altLang="en-US" sz="2000" b="1" dirty="0">
                <a:latin typeface="微软雅黑" pitchFamily="34" charset="-122"/>
                <a:ea typeface="微软雅黑" pitchFamily="34" charset="-122"/>
              </a:rPr>
              <a:t>在互联网上可以被访问的任何对象，包括文件目录、文件</a:t>
            </a:r>
            <a:r>
              <a:rPr lang="zh-CN" altLang="en-US" sz="2000" b="1" dirty="0" smtClean="0">
                <a:latin typeface="微软雅黑" pitchFamily="34" charset="-122"/>
                <a:ea typeface="微软雅黑" pitchFamily="34" charset="-122"/>
              </a:rPr>
              <a:t>、图像</a:t>
            </a:r>
            <a:r>
              <a:rPr lang="zh-CN" altLang="en-US" sz="2000" b="1" dirty="0">
                <a:latin typeface="微软雅黑" pitchFamily="34" charset="-122"/>
                <a:ea typeface="微软雅黑" pitchFamily="34" charset="-122"/>
              </a:rPr>
              <a:t>、声音等，以及与互联网相连的</a:t>
            </a:r>
            <a:r>
              <a:rPr lang="zh-CN" altLang="en-US" sz="2000" b="1" dirty="0">
                <a:solidFill>
                  <a:srgbClr val="C00000"/>
                </a:solidFill>
                <a:latin typeface="微软雅黑" pitchFamily="34" charset="-122"/>
                <a:ea typeface="微软雅黑" pitchFamily="34" charset="-122"/>
              </a:rPr>
              <a:t>任何形式</a:t>
            </a:r>
            <a:r>
              <a:rPr lang="zh-CN" altLang="en-US" sz="2000" b="1" dirty="0">
                <a:latin typeface="微软雅黑" pitchFamily="34" charset="-122"/>
                <a:ea typeface="微软雅黑" pitchFamily="34" charset="-122"/>
              </a:rPr>
              <a:t>的数据</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4" name="矩形 3"/>
          <p:cNvSpPr/>
          <p:nvPr/>
        </p:nvSpPr>
        <p:spPr>
          <a:xfrm>
            <a:off x="884663" y="3433879"/>
            <a:ext cx="7824330" cy="1092607"/>
          </a:xfrm>
          <a:prstGeom prst="rect">
            <a:avLst/>
          </a:prstGeom>
        </p:spPr>
        <p:txBody>
          <a:bodyPr wrap="square">
            <a:spAutoFit/>
          </a:bodyPr>
          <a:lstStyle/>
          <a:p>
            <a:pPr>
              <a:lnSpc>
                <a:spcPts val="2600"/>
              </a:lnSpc>
            </a:pPr>
            <a:r>
              <a:rPr lang="en-US" altLang="zh-CN" b="1" dirty="0" smtClean="0">
                <a:solidFill>
                  <a:schemeClr val="bg1"/>
                </a:solidFill>
                <a:latin typeface="微软雅黑" panose="020B0503020204020204" pitchFamily="34" charset="-122"/>
                <a:ea typeface="微软雅黑" panose="020B0503020204020204" pitchFamily="34" charset="-122"/>
              </a:rPr>
              <a:t>URL </a:t>
            </a:r>
            <a:r>
              <a:rPr lang="zh-CN" altLang="en-US" b="1" dirty="0" smtClean="0">
                <a:solidFill>
                  <a:schemeClr val="bg1"/>
                </a:solidFill>
                <a:latin typeface="微软雅黑" panose="020B0503020204020204" pitchFamily="34" charset="-122"/>
                <a:ea typeface="微软雅黑" panose="020B0503020204020204" pitchFamily="34" charset="-122"/>
              </a:rPr>
              <a:t>相当于</a:t>
            </a:r>
            <a:r>
              <a:rPr lang="zh-CN" altLang="en-US" b="1" dirty="0">
                <a:solidFill>
                  <a:schemeClr val="bg1"/>
                </a:solidFill>
                <a:latin typeface="微软雅黑" panose="020B0503020204020204" pitchFamily="34" charset="-122"/>
                <a:ea typeface="微软雅黑" panose="020B0503020204020204" pitchFamily="34" charset="-122"/>
              </a:rPr>
              <a:t>一个文件名在</a:t>
            </a:r>
            <a:r>
              <a:rPr lang="zh-CN" altLang="en-US" b="1" dirty="0">
                <a:solidFill>
                  <a:srgbClr val="FFFF00"/>
                </a:solidFill>
                <a:latin typeface="微软雅黑" panose="020B0503020204020204" pitchFamily="34" charset="-122"/>
                <a:ea typeface="微软雅黑" panose="020B0503020204020204" pitchFamily="34" charset="-122"/>
              </a:rPr>
              <a:t>网络范围的</a:t>
            </a:r>
            <a:r>
              <a:rPr lang="zh-CN" altLang="en-US" b="1" dirty="0" smtClean="0">
                <a:solidFill>
                  <a:srgbClr val="FFFF00"/>
                </a:solidFill>
                <a:latin typeface="微软雅黑" panose="020B0503020204020204" pitchFamily="34" charset="-122"/>
                <a:ea typeface="微软雅黑" panose="020B0503020204020204" pitchFamily="34" charset="-122"/>
              </a:rPr>
              <a:t>扩展</a:t>
            </a:r>
            <a:r>
              <a:rPr lang="zh-CN" altLang="en-US" b="1" dirty="0" smtClean="0">
                <a:solidFill>
                  <a:schemeClr val="bg1"/>
                </a:solidFill>
                <a:latin typeface="微软雅黑" panose="020B0503020204020204" pitchFamily="34" charset="-122"/>
                <a:ea typeface="微软雅黑" panose="020B0503020204020204" pitchFamily="34" charset="-122"/>
              </a:rPr>
              <a:t>，标识了与</a:t>
            </a:r>
            <a:r>
              <a:rPr lang="zh-CN" altLang="en-US" b="1" dirty="0">
                <a:solidFill>
                  <a:schemeClr val="bg1"/>
                </a:solidFill>
                <a:latin typeface="微软雅黑" panose="020B0503020204020204" pitchFamily="34" charset="-122"/>
                <a:ea typeface="微软雅黑" panose="020B0503020204020204" pitchFamily="34" charset="-122"/>
              </a:rPr>
              <a:t>互联网相连的机器上的任何可访问</a:t>
            </a:r>
            <a:r>
              <a:rPr lang="zh-CN" altLang="en-US" b="1" dirty="0" smtClean="0">
                <a:solidFill>
                  <a:schemeClr val="bg1"/>
                </a:solidFill>
                <a:latin typeface="微软雅黑" panose="020B0503020204020204" pitchFamily="34" charset="-122"/>
                <a:ea typeface="微软雅黑" panose="020B0503020204020204" pitchFamily="34" charset="-122"/>
              </a:rPr>
              <a:t>对象。由于</a:t>
            </a:r>
            <a:r>
              <a:rPr lang="zh-CN" altLang="en-US" b="1" dirty="0">
                <a:solidFill>
                  <a:schemeClr val="bg1"/>
                </a:solidFill>
                <a:latin typeface="微软雅黑" panose="020B0503020204020204" pitchFamily="34" charset="-122"/>
                <a:ea typeface="微软雅黑" panose="020B0503020204020204" pitchFamily="34" charset="-122"/>
              </a:rPr>
              <a:t>访问不同对象所使用的协议不同，所以</a:t>
            </a:r>
            <a:r>
              <a:rPr lang="en-US" altLang="zh-CN" b="1" dirty="0">
                <a:solidFill>
                  <a:schemeClr val="bg1"/>
                </a:solidFill>
                <a:latin typeface="微软雅黑" panose="020B0503020204020204" pitchFamily="34" charset="-122"/>
                <a:ea typeface="微软雅黑" panose="020B0503020204020204" pitchFamily="34" charset="-122"/>
              </a:rPr>
              <a:t>URL</a:t>
            </a:r>
            <a:r>
              <a:rPr lang="zh-CN" altLang="en-US" b="1" dirty="0">
                <a:solidFill>
                  <a:schemeClr val="bg1"/>
                </a:solidFill>
                <a:latin typeface="微软雅黑" panose="020B0503020204020204" pitchFamily="34" charset="-122"/>
                <a:ea typeface="微软雅黑" panose="020B0503020204020204" pitchFamily="34" charset="-122"/>
              </a:rPr>
              <a:t>还</a:t>
            </a:r>
            <a:r>
              <a:rPr lang="zh-CN" altLang="en-US" b="1" dirty="0" smtClean="0">
                <a:solidFill>
                  <a:schemeClr val="bg1"/>
                </a:solidFill>
                <a:latin typeface="微软雅黑" panose="020B0503020204020204" pitchFamily="34" charset="-122"/>
                <a:ea typeface="微软雅黑" panose="020B0503020204020204" pitchFamily="34" charset="-122"/>
              </a:rPr>
              <a:t>指出了</a:t>
            </a:r>
            <a:r>
              <a:rPr lang="zh-CN" altLang="en-US" b="1" dirty="0" smtClean="0">
                <a:solidFill>
                  <a:srgbClr val="FFFF00"/>
                </a:solidFill>
                <a:latin typeface="微软雅黑" panose="020B0503020204020204" pitchFamily="34" charset="-122"/>
                <a:ea typeface="微软雅黑" panose="020B0503020204020204" pitchFamily="34" charset="-122"/>
              </a:rPr>
              <a:t>访问某个</a:t>
            </a:r>
            <a:r>
              <a:rPr lang="zh-CN" altLang="en-US" b="1" dirty="0">
                <a:solidFill>
                  <a:srgbClr val="FFFF00"/>
                </a:solidFill>
                <a:latin typeface="微软雅黑" panose="020B0503020204020204" pitchFamily="34" charset="-122"/>
                <a:ea typeface="微软雅黑" panose="020B0503020204020204" pitchFamily="34" charset="-122"/>
              </a:rPr>
              <a:t>对象时所使用</a:t>
            </a:r>
            <a:r>
              <a:rPr lang="zh-CN" altLang="en-US" b="1" dirty="0" smtClean="0">
                <a:solidFill>
                  <a:srgbClr val="FFFF00"/>
                </a:solidFill>
                <a:latin typeface="微软雅黑" panose="020B0503020204020204" pitchFamily="34" charset="-122"/>
                <a:ea typeface="微软雅黑" panose="020B0503020204020204" pitchFamily="34" charset="-122"/>
              </a:rPr>
              <a:t>的方法</a:t>
            </a:r>
            <a:r>
              <a:rPr lang="zh-CN" altLang="en-US" b="1" dirty="0" smtClean="0">
                <a:solidFill>
                  <a:schemeClr val="bg1"/>
                </a:solidFill>
                <a:latin typeface="微软雅黑" panose="020B0503020204020204" pitchFamily="34" charset="-122"/>
                <a:ea typeface="微软雅黑" panose="020B0503020204020204" pitchFamily="34" charset="-122"/>
              </a:rPr>
              <a:t>。</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38367860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fade">
                                      <p:cBhvr>
                                        <p:cTn id="7" dur="500"/>
                                        <p:tgtEl>
                                          <p:spTgt spid="7">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3" end="3"/>
                                            </p:txEl>
                                          </p:spTgt>
                                        </p:tgtEl>
                                        <p:attrNameLst>
                                          <p:attrName>style.visibility</p:attrName>
                                        </p:attrNameLst>
                                      </p:cBhvr>
                                      <p:to>
                                        <p:strVal val="visible"/>
                                      </p:to>
                                    </p:set>
                                    <p:animEffect transition="in" filter="fade">
                                      <p:cBhvr>
                                        <p:cTn id="12" dur="500"/>
                                        <p:tgtEl>
                                          <p:spTgt spid="7">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2270477"/>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1246495"/>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URL</a:t>
            </a:r>
            <a:r>
              <a:rPr lang="zh-CN" altLang="en-US" sz="2000" b="1" dirty="0" smtClean="0">
                <a:latin typeface="微软雅黑" pitchFamily="34" charset="-122"/>
                <a:ea typeface="微软雅黑" pitchFamily="34" charset="-122"/>
              </a:rPr>
              <a:t>通常由</a:t>
            </a:r>
            <a:r>
              <a:rPr lang="zh-CN" altLang="en-US" sz="2000" b="1" dirty="0">
                <a:latin typeface="微软雅黑" pitchFamily="34" charset="-122"/>
                <a:ea typeface="微软雅黑" pitchFamily="34" charset="-122"/>
              </a:rPr>
              <a:t>四个</a:t>
            </a:r>
            <a:r>
              <a:rPr lang="zh-CN" altLang="en-US" sz="2000" b="1" dirty="0" smtClean="0">
                <a:latin typeface="微软雅黑" pitchFamily="34" charset="-122"/>
                <a:ea typeface="微软雅黑" pitchFamily="34" charset="-122"/>
              </a:rPr>
              <a:t>部分组成</a:t>
            </a:r>
            <a:endParaRPr lang="en-US" altLang="zh-CN" sz="2000" b="1" dirty="0" smtClean="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协议、主机名、端口、路径</a:t>
            </a:r>
            <a:endParaRPr lang="en-US" altLang="zh-CN" sz="2000" b="1" dirty="0" smtClean="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协议</a:t>
            </a:r>
            <a:r>
              <a:rPr lang="zh-CN" altLang="en-US" sz="2000" b="1" dirty="0" smtClean="0">
                <a:latin typeface="微软雅黑" pitchFamily="34" charset="-122"/>
                <a:ea typeface="微软雅黑" pitchFamily="34" charset="-122"/>
              </a:rPr>
              <a:t>和</a:t>
            </a:r>
            <a:r>
              <a:rPr lang="zh-CN" altLang="en-US" sz="2000" b="1" dirty="0" smtClean="0">
                <a:solidFill>
                  <a:srgbClr val="C00000"/>
                </a:solidFill>
                <a:latin typeface="微软雅黑" pitchFamily="34" charset="-122"/>
                <a:ea typeface="微软雅黑" pitchFamily="34" charset="-122"/>
              </a:rPr>
              <a:t>主机名</a:t>
            </a:r>
            <a:r>
              <a:rPr lang="zh-CN" altLang="en-US" sz="2000" b="1" dirty="0" smtClean="0">
                <a:latin typeface="微软雅黑" pitchFamily="34" charset="-122"/>
                <a:ea typeface="微软雅黑" pitchFamily="34" charset="-122"/>
              </a:rPr>
              <a:t>部分不</a:t>
            </a:r>
            <a:r>
              <a:rPr lang="zh-CN" altLang="en-US" sz="2000" b="1" dirty="0">
                <a:latin typeface="微软雅黑" pitchFamily="34" charset="-122"/>
                <a:ea typeface="微软雅黑" pitchFamily="34" charset="-122"/>
              </a:rPr>
              <a:t>区分大</a:t>
            </a:r>
            <a:r>
              <a:rPr lang="zh-CN" altLang="en-US" sz="2000" b="1" dirty="0" smtClean="0">
                <a:latin typeface="微软雅黑" pitchFamily="34" charset="-122"/>
                <a:ea typeface="微软雅黑" pitchFamily="34" charset="-122"/>
              </a:rPr>
              <a:t>小写，</a:t>
            </a:r>
            <a:r>
              <a:rPr lang="zh-CN" altLang="en-US" sz="2000" b="1" dirty="0" smtClean="0">
                <a:solidFill>
                  <a:srgbClr val="C00000"/>
                </a:solidFill>
                <a:latin typeface="微软雅黑" pitchFamily="34" charset="-122"/>
                <a:ea typeface="微软雅黑" pitchFamily="34" charset="-122"/>
              </a:rPr>
              <a:t>路径</a:t>
            </a:r>
            <a:r>
              <a:rPr lang="zh-CN" altLang="en-US" sz="2000" b="1" dirty="0" smtClean="0">
                <a:latin typeface="微软雅黑" pitchFamily="34" charset="-122"/>
                <a:ea typeface="微软雅黑" pitchFamily="34" charset="-122"/>
              </a:rPr>
              <a:t>部分有时区分</a:t>
            </a:r>
            <a:r>
              <a:rPr lang="zh-CN" altLang="en-US" sz="2000" b="1" dirty="0">
                <a:latin typeface="微软雅黑" pitchFamily="34" charset="-122"/>
                <a:ea typeface="微软雅黑" pitchFamily="34" charset="-122"/>
              </a:rPr>
              <a:t>大小写</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0" name="Text Box 25"/>
          <p:cNvSpPr txBox="1">
            <a:spLocks noChangeArrowheads="1"/>
          </p:cNvSpPr>
          <p:nvPr/>
        </p:nvSpPr>
        <p:spPr bwMode="auto">
          <a:xfrm>
            <a:off x="2444254" y="2547112"/>
            <a:ext cx="4283117"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smtClean="0">
                <a:solidFill>
                  <a:schemeClr val="bg1"/>
                </a:solidFill>
                <a:latin typeface="微软雅黑" pitchFamily="34" charset="-122"/>
                <a:ea typeface="微软雅黑" pitchFamily="34" charset="-122"/>
              </a:rPr>
              <a:t>主机名</a:t>
            </a:r>
            <a:r>
              <a:rPr lang="en-US" altLang="zh-CN" sz="1800" b="1" dirty="0" smtClean="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1" name="Group 31"/>
          <p:cNvGrpSpPr>
            <a:grpSpLocks/>
          </p:cNvGrpSpPr>
          <p:nvPr/>
        </p:nvGrpSpPr>
        <p:grpSpPr bwMode="auto">
          <a:xfrm>
            <a:off x="2664707" y="2915097"/>
            <a:ext cx="4502624" cy="1164111"/>
            <a:chOff x="1519" y="2568"/>
            <a:chExt cx="4213" cy="1180"/>
          </a:xfrm>
        </p:grpSpPr>
        <p:sp>
          <p:nvSpPr>
            <p:cNvPr id="12" name="Line 26"/>
            <p:cNvSpPr>
              <a:spLocks noChangeShapeType="1"/>
            </p:cNvSpPr>
            <p:nvPr/>
          </p:nvSpPr>
          <p:spPr bwMode="auto">
            <a:xfrm>
              <a:off x="1519" y="2568"/>
              <a:ext cx="65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3" name="Freeform 27"/>
            <p:cNvSpPr>
              <a:spLocks/>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4" name="AutoShape 28"/>
            <p:cNvSpPr>
              <a:spLocks/>
            </p:cNvSpPr>
            <p:nvPr/>
          </p:nvSpPr>
          <p:spPr bwMode="auto">
            <a:xfrm>
              <a:off x="2176" y="2841"/>
              <a:ext cx="82" cy="907"/>
            </a:xfrm>
            <a:prstGeom prst="leftBrace">
              <a:avLst>
                <a:gd name="adj1" fmla="val 9217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solidFill>
                  <a:srgbClr val="000099"/>
                </a:solidFill>
                <a:latin typeface="微软雅黑" pitchFamily="34" charset="-122"/>
                <a:ea typeface="微软雅黑" pitchFamily="34" charset="-122"/>
              </a:endParaRPr>
            </a:p>
          </p:txBody>
        </p:sp>
        <p:sp>
          <p:nvSpPr>
            <p:cNvPr id="15" name="Text Box 29"/>
            <p:cNvSpPr txBox="1">
              <a:spLocks noChangeArrowheads="1"/>
            </p:cNvSpPr>
            <p:nvPr/>
          </p:nvSpPr>
          <p:spPr bwMode="auto">
            <a:xfrm>
              <a:off x="2328" y="2790"/>
              <a:ext cx="3404" cy="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ct val="150000"/>
                </a:lnSpc>
              </a:pPr>
              <a:r>
                <a:rPr lang="en-US" altLang="zh-CN" sz="1800" b="1" dirty="0">
                  <a:solidFill>
                    <a:srgbClr val="000099"/>
                  </a:solidFill>
                  <a:latin typeface="微软雅黑" pitchFamily="34" charset="-122"/>
                  <a:ea typeface="微软雅黑" pitchFamily="34" charset="-122"/>
                </a:rPr>
                <a:t>http —— </a:t>
              </a:r>
              <a:r>
                <a:rPr lang="zh-CN" altLang="en-US" sz="1800" b="1" dirty="0">
                  <a:solidFill>
                    <a:srgbClr val="0000FF"/>
                  </a:solidFill>
                  <a:latin typeface="微软雅黑" pitchFamily="34" charset="-122"/>
                  <a:ea typeface="微软雅黑" pitchFamily="34" charset="-122"/>
                </a:rPr>
                <a:t>超文本传送协议 </a:t>
              </a:r>
              <a:r>
                <a:rPr lang="en-US" altLang="zh-CN" sz="1800" b="1" dirty="0">
                  <a:solidFill>
                    <a:srgbClr val="0000FF"/>
                  </a:solidFill>
                  <a:latin typeface="微软雅黑" pitchFamily="34" charset="-122"/>
                  <a:ea typeface="微软雅黑" pitchFamily="34" charset="-122"/>
                </a:rPr>
                <a:t>HTTP</a:t>
              </a:r>
            </a:p>
            <a:p>
              <a:pPr eaLnBrk="1" hangingPunct="1">
                <a:lnSpc>
                  <a:spcPct val="150000"/>
                </a:lnSpc>
              </a:pPr>
              <a:r>
                <a:rPr lang="en-US" altLang="zh-CN" sz="1800" b="1" dirty="0" smtClean="0">
                  <a:solidFill>
                    <a:srgbClr val="000099"/>
                  </a:solidFill>
                  <a:latin typeface="微软雅黑" pitchFamily="34" charset="-122"/>
                  <a:ea typeface="微软雅黑" pitchFamily="34" charset="-122"/>
                </a:rPr>
                <a:t>ftp </a:t>
              </a:r>
              <a:r>
                <a:rPr lang="en-US" altLang="zh-CN" sz="1800" b="1" dirty="0">
                  <a:solidFill>
                    <a:srgbClr val="000099"/>
                  </a:solidFill>
                  <a:latin typeface="微软雅黑" pitchFamily="34" charset="-122"/>
                  <a:ea typeface="微软雅黑" pitchFamily="34" charset="-122"/>
                </a:rPr>
                <a:t>—— </a:t>
              </a:r>
              <a:r>
                <a:rPr lang="zh-CN" altLang="en-US" sz="1800" b="1" dirty="0">
                  <a:solidFill>
                    <a:srgbClr val="0000FF"/>
                  </a:solidFill>
                  <a:latin typeface="微软雅黑" pitchFamily="34" charset="-122"/>
                  <a:ea typeface="微软雅黑" pitchFamily="34" charset="-122"/>
                </a:rPr>
                <a:t>文件传送协议 </a:t>
              </a:r>
              <a:r>
                <a:rPr lang="en-US" altLang="zh-CN" sz="1800" b="1" dirty="0" smtClean="0">
                  <a:solidFill>
                    <a:srgbClr val="0000FF"/>
                  </a:solidFill>
                  <a:latin typeface="微软雅黑" pitchFamily="34" charset="-122"/>
                  <a:ea typeface="微软雅黑" pitchFamily="34" charset="-122"/>
                </a:rPr>
                <a:t>FTP</a:t>
              </a:r>
              <a:endParaRPr lang="en-US" altLang="zh-CN" sz="1800" b="1" dirty="0">
                <a:solidFill>
                  <a:srgbClr val="0000FF"/>
                </a:solidFill>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22673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2270480"/>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1246495"/>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通常由四个部分组成</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协议、主机名、端口、路径</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主机名</a:t>
            </a:r>
            <a:r>
              <a:rPr lang="zh-CN" altLang="en-US" sz="2000" b="1" dirty="0">
                <a:latin typeface="微软雅黑" pitchFamily="34" charset="-122"/>
                <a:ea typeface="微软雅黑" pitchFamily="34" charset="-122"/>
              </a:rPr>
              <a:t>部分不区分大小写，</a:t>
            </a:r>
            <a:r>
              <a:rPr lang="zh-CN" altLang="en-US" sz="2000" b="1" dirty="0">
                <a:solidFill>
                  <a:srgbClr val="C00000"/>
                </a:solidFill>
                <a:latin typeface="微软雅黑" pitchFamily="34" charset="-122"/>
                <a:ea typeface="微软雅黑" pitchFamily="34" charset="-122"/>
              </a:rPr>
              <a:t>路径</a:t>
            </a:r>
            <a:r>
              <a:rPr lang="zh-CN" altLang="en-US" sz="2000" b="1" dirty="0">
                <a:latin typeface="微软雅黑" pitchFamily="34" charset="-122"/>
                <a:ea typeface="微软雅黑" pitchFamily="34" charset="-122"/>
              </a:rPr>
              <a:t>部分有时区分大小写。</a:t>
            </a:r>
          </a:p>
        </p:txBody>
      </p:sp>
      <p:sp>
        <p:nvSpPr>
          <p:cNvPr id="10" name="Text Box 25"/>
          <p:cNvSpPr txBox="1">
            <a:spLocks noChangeArrowheads="1"/>
          </p:cNvSpPr>
          <p:nvPr/>
        </p:nvSpPr>
        <p:spPr bwMode="auto">
          <a:xfrm>
            <a:off x="2392002" y="2547115"/>
            <a:ext cx="4322305"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smtClean="0">
                <a:solidFill>
                  <a:schemeClr val="bg1"/>
                </a:solidFill>
                <a:latin typeface="微软雅黑" pitchFamily="34" charset="-122"/>
                <a:ea typeface="微软雅黑" pitchFamily="34" charset="-122"/>
              </a:rPr>
              <a:t>主机名</a:t>
            </a:r>
            <a:r>
              <a:rPr lang="en-US" altLang="zh-CN" sz="1800" b="1" dirty="0" smtClean="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6" name="Group 31"/>
          <p:cNvGrpSpPr>
            <a:grpSpLocks/>
          </p:cNvGrpSpPr>
          <p:nvPr/>
        </p:nvGrpSpPr>
        <p:grpSpPr bwMode="auto">
          <a:xfrm>
            <a:off x="3356099" y="2916447"/>
            <a:ext cx="1917338" cy="896766"/>
            <a:chOff x="1619" y="2568"/>
            <a:chExt cx="1794" cy="909"/>
          </a:xfrm>
        </p:grpSpPr>
        <p:sp>
          <p:nvSpPr>
            <p:cNvPr id="17" name="Line 26"/>
            <p:cNvSpPr>
              <a:spLocks noChangeShapeType="1"/>
            </p:cNvSpPr>
            <p:nvPr/>
          </p:nvSpPr>
          <p:spPr bwMode="auto">
            <a:xfrm>
              <a:off x="1619" y="2568"/>
              <a:ext cx="315"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Freeform 27"/>
            <p:cNvSpPr>
              <a:spLocks/>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9" name="Text Box 29"/>
            <p:cNvSpPr txBox="1">
              <a:spLocks noChangeArrowheads="1"/>
            </p:cNvSpPr>
            <p:nvPr/>
          </p:nvSpPr>
          <p:spPr bwMode="auto">
            <a:xfrm>
              <a:off x="2160" y="3103"/>
              <a:ext cx="1253" cy="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rgbClr val="000099"/>
                  </a:solidFill>
                  <a:latin typeface="微软雅黑" pitchFamily="34" charset="-122"/>
                  <a:ea typeface="微软雅黑" pitchFamily="34" charset="-122"/>
                </a:rPr>
                <a:t>规定的格式</a:t>
              </a:r>
            </a:p>
          </p:txBody>
        </p:sp>
      </p:grpSp>
    </p:spTree>
    <p:extLst>
      <p:ext uri="{BB962C8B-B14F-4D97-AF65-F5344CB8AC3E}">
        <p14:creationId xmlns:p14="http://schemas.microsoft.com/office/powerpoint/2010/main" val="23544915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2270472"/>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1305"/>
            <a:ext cx="8048776" cy="1246495"/>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通常由四个部分组成</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协议、主机名、端口、路径</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主机名</a:t>
            </a:r>
            <a:r>
              <a:rPr lang="zh-CN" altLang="en-US" sz="2000" b="1" dirty="0">
                <a:latin typeface="微软雅黑" pitchFamily="34" charset="-122"/>
                <a:ea typeface="微软雅黑" pitchFamily="34" charset="-122"/>
              </a:rPr>
              <a:t>部分不区分大小写，</a:t>
            </a:r>
            <a:r>
              <a:rPr lang="zh-CN" altLang="en-US" sz="2000" b="1" dirty="0">
                <a:solidFill>
                  <a:srgbClr val="C00000"/>
                </a:solidFill>
                <a:latin typeface="微软雅黑" pitchFamily="34" charset="-122"/>
                <a:ea typeface="微软雅黑" pitchFamily="34" charset="-122"/>
              </a:rPr>
              <a:t>路径</a:t>
            </a:r>
            <a:r>
              <a:rPr lang="zh-CN" altLang="en-US" sz="2000" b="1" dirty="0">
                <a:latin typeface="微软雅黑" pitchFamily="34" charset="-122"/>
                <a:ea typeface="微软雅黑" pitchFamily="34" charset="-122"/>
              </a:rPr>
              <a:t>部分有时区分大小写。</a:t>
            </a:r>
          </a:p>
        </p:txBody>
      </p:sp>
      <p:sp>
        <p:nvSpPr>
          <p:cNvPr id="10" name="Text Box 25"/>
          <p:cNvSpPr txBox="1">
            <a:spLocks noChangeArrowheads="1"/>
          </p:cNvSpPr>
          <p:nvPr/>
        </p:nvSpPr>
        <p:spPr bwMode="auto">
          <a:xfrm>
            <a:off x="2403569" y="2547107"/>
            <a:ext cx="4288535"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smtClean="0">
                <a:solidFill>
                  <a:schemeClr val="bg1"/>
                </a:solidFill>
                <a:latin typeface="微软雅黑" pitchFamily="34" charset="-122"/>
                <a:ea typeface="微软雅黑" pitchFamily="34" charset="-122"/>
              </a:rPr>
              <a:t>主机名</a:t>
            </a:r>
            <a:r>
              <a:rPr lang="en-US" altLang="zh-CN" sz="1800" b="1" dirty="0" smtClean="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1" name="Group 31"/>
          <p:cNvGrpSpPr>
            <a:grpSpLocks/>
          </p:cNvGrpSpPr>
          <p:nvPr/>
        </p:nvGrpSpPr>
        <p:grpSpPr bwMode="auto">
          <a:xfrm>
            <a:off x="3748368" y="2916439"/>
            <a:ext cx="3776963" cy="1273622"/>
            <a:chOff x="1899" y="2568"/>
            <a:chExt cx="3534" cy="1291"/>
          </a:xfrm>
        </p:grpSpPr>
        <p:sp>
          <p:nvSpPr>
            <p:cNvPr id="12" name="Line 26"/>
            <p:cNvSpPr>
              <a:spLocks noChangeShapeType="1"/>
            </p:cNvSpPr>
            <p:nvPr/>
          </p:nvSpPr>
          <p:spPr bwMode="auto">
            <a:xfrm>
              <a:off x="1899" y="2568"/>
              <a:ext cx="64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3" name="Freeform 27"/>
            <p:cNvSpPr>
              <a:spLocks/>
            </p:cNvSpPr>
            <p:nvPr/>
          </p:nvSpPr>
          <p:spPr bwMode="auto">
            <a:xfrm>
              <a:off x="2246"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4" name="Text Box 29"/>
            <p:cNvSpPr txBox="1">
              <a:spLocks noChangeArrowheads="1"/>
            </p:cNvSpPr>
            <p:nvPr/>
          </p:nvSpPr>
          <p:spPr bwMode="auto">
            <a:xfrm>
              <a:off x="2595" y="2923"/>
              <a:ext cx="2838" cy="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smtClean="0">
                  <a:solidFill>
                    <a:srgbClr val="000099"/>
                  </a:solidFill>
                  <a:latin typeface="微软雅黑" pitchFamily="34" charset="-122"/>
                  <a:ea typeface="微软雅黑" pitchFamily="34" charset="-122"/>
                </a:rPr>
                <a:t>存放</a:t>
              </a:r>
              <a:r>
                <a:rPr lang="zh-CN" altLang="en-US" sz="1800" b="1" dirty="0">
                  <a:solidFill>
                    <a:srgbClr val="000099"/>
                  </a:solidFill>
                  <a:latin typeface="微软雅黑" pitchFamily="34" charset="-122"/>
                  <a:ea typeface="微软雅黑" pitchFamily="34" charset="-122"/>
                </a:rPr>
                <a:t>资源的</a:t>
              </a:r>
              <a:r>
                <a:rPr lang="zh-CN" altLang="en-US" sz="1800" b="1" dirty="0" smtClean="0">
                  <a:solidFill>
                    <a:srgbClr val="000099"/>
                  </a:solidFill>
                  <a:latin typeface="微软雅黑" pitchFamily="34" charset="-122"/>
                  <a:ea typeface="微软雅黑" pitchFamily="34" charset="-122"/>
                </a:rPr>
                <a:t>主机在</a:t>
              </a:r>
              <a:r>
                <a:rPr lang="zh-CN" altLang="en-US" sz="1800" b="1" dirty="0">
                  <a:solidFill>
                    <a:srgbClr val="000099"/>
                  </a:solidFill>
                  <a:latin typeface="微软雅黑" pitchFamily="34" charset="-122"/>
                  <a:ea typeface="微软雅黑" pitchFamily="34" charset="-122"/>
                </a:rPr>
                <a:t>互联网中的</a:t>
              </a:r>
              <a:r>
                <a:rPr lang="zh-CN" altLang="en-US" sz="1800" b="1" dirty="0" smtClean="0">
                  <a:solidFill>
                    <a:srgbClr val="000099"/>
                  </a:solidFill>
                  <a:latin typeface="微软雅黑" pitchFamily="34" charset="-122"/>
                  <a:ea typeface="微软雅黑" pitchFamily="34" charset="-122"/>
                </a:rPr>
                <a:t>域名，也可以采用点</a:t>
              </a:r>
              <a:r>
                <a:rPr lang="zh-CN" altLang="en-US" sz="1800" b="1" dirty="0">
                  <a:solidFill>
                    <a:srgbClr val="000099"/>
                  </a:solidFill>
                  <a:latin typeface="微软雅黑" pitchFamily="34" charset="-122"/>
                  <a:ea typeface="微软雅黑" pitchFamily="34" charset="-122"/>
                </a:rPr>
                <a:t>分十进制</a:t>
              </a:r>
              <a:r>
                <a:rPr lang="zh-CN" altLang="en-US" sz="1800" b="1" dirty="0" smtClean="0">
                  <a:solidFill>
                    <a:srgbClr val="000099"/>
                  </a:solidFill>
                  <a:latin typeface="微软雅黑" pitchFamily="34" charset="-122"/>
                  <a:ea typeface="微软雅黑" pitchFamily="34" charset="-122"/>
                </a:rPr>
                <a:t>的 </a:t>
              </a:r>
              <a:r>
                <a:rPr lang="en-US" altLang="zh-CN" sz="1800" b="1" dirty="0" smtClean="0">
                  <a:solidFill>
                    <a:srgbClr val="000099"/>
                  </a:solidFill>
                  <a:latin typeface="微软雅黑" pitchFamily="34" charset="-122"/>
                  <a:ea typeface="微软雅黑" pitchFamily="34" charset="-122"/>
                </a:rPr>
                <a:t>IP </a:t>
              </a:r>
              <a:r>
                <a:rPr lang="zh-CN" altLang="en-US" sz="1800" b="1" dirty="0" smtClean="0">
                  <a:solidFill>
                    <a:srgbClr val="000099"/>
                  </a:solidFill>
                  <a:latin typeface="微软雅黑" pitchFamily="34" charset="-122"/>
                  <a:ea typeface="微软雅黑" pitchFamily="34" charset="-122"/>
                </a:rPr>
                <a:t>地址</a:t>
              </a:r>
              <a:r>
                <a:rPr lang="zh-CN" altLang="en-US" sz="1800" b="1" dirty="0">
                  <a:solidFill>
                    <a:srgbClr val="000099"/>
                  </a:solidFill>
                  <a:latin typeface="微软雅黑" pitchFamily="34" charset="-122"/>
                  <a:ea typeface="微软雅黑" pitchFamily="34" charset="-122"/>
                </a:rPr>
                <a:t>。</a:t>
              </a:r>
            </a:p>
          </p:txBody>
        </p:sp>
      </p:grpSp>
    </p:spTree>
    <p:extLst>
      <p:ext uri="{BB962C8B-B14F-4D97-AF65-F5344CB8AC3E}">
        <p14:creationId xmlns:p14="http://schemas.microsoft.com/office/powerpoint/2010/main" val="1140137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2270476"/>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1246495"/>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通常由四个部分组成</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协议、主机名、端口、路径</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主机名</a:t>
            </a:r>
            <a:r>
              <a:rPr lang="zh-CN" altLang="en-US" sz="2000" b="1" dirty="0">
                <a:latin typeface="微软雅黑" pitchFamily="34" charset="-122"/>
                <a:ea typeface="微软雅黑" pitchFamily="34" charset="-122"/>
              </a:rPr>
              <a:t>部分不区分大小写，</a:t>
            </a:r>
            <a:r>
              <a:rPr lang="zh-CN" altLang="en-US" sz="2000" b="1" dirty="0">
                <a:solidFill>
                  <a:srgbClr val="C00000"/>
                </a:solidFill>
                <a:latin typeface="微软雅黑" pitchFamily="34" charset="-122"/>
                <a:ea typeface="微软雅黑" pitchFamily="34" charset="-122"/>
              </a:rPr>
              <a:t>路径</a:t>
            </a:r>
            <a:r>
              <a:rPr lang="zh-CN" altLang="en-US" sz="2000" b="1" dirty="0">
                <a:latin typeface="微软雅黑" pitchFamily="34" charset="-122"/>
                <a:ea typeface="微软雅黑" pitchFamily="34" charset="-122"/>
              </a:rPr>
              <a:t>部分有时区分大小写。</a:t>
            </a:r>
          </a:p>
        </p:txBody>
      </p:sp>
      <p:sp>
        <p:nvSpPr>
          <p:cNvPr id="10" name="Text Box 25"/>
          <p:cNvSpPr txBox="1">
            <a:spLocks noChangeArrowheads="1"/>
          </p:cNvSpPr>
          <p:nvPr/>
        </p:nvSpPr>
        <p:spPr bwMode="auto">
          <a:xfrm>
            <a:off x="2246812" y="2547111"/>
            <a:ext cx="417096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smtClean="0">
                <a:solidFill>
                  <a:schemeClr val="bg1"/>
                </a:solidFill>
                <a:latin typeface="微软雅黑" pitchFamily="34" charset="-122"/>
                <a:ea typeface="微软雅黑" pitchFamily="34" charset="-122"/>
              </a:rPr>
              <a:t>主机名</a:t>
            </a:r>
            <a:r>
              <a:rPr lang="en-US" altLang="zh-CN" sz="1800" b="1" dirty="0" smtClean="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5" name="Group 31"/>
          <p:cNvGrpSpPr>
            <a:grpSpLocks/>
          </p:cNvGrpSpPr>
          <p:nvPr/>
        </p:nvGrpSpPr>
        <p:grpSpPr bwMode="auto">
          <a:xfrm>
            <a:off x="4593834" y="2916443"/>
            <a:ext cx="2730656" cy="1173984"/>
            <a:chOff x="1467" y="2568"/>
            <a:chExt cx="2555" cy="1190"/>
          </a:xfrm>
        </p:grpSpPr>
        <p:sp>
          <p:nvSpPr>
            <p:cNvPr id="16" name="Line 26"/>
            <p:cNvSpPr>
              <a:spLocks noChangeShapeType="1"/>
            </p:cNvSpPr>
            <p:nvPr/>
          </p:nvSpPr>
          <p:spPr bwMode="auto">
            <a:xfrm>
              <a:off x="1467" y="2568"/>
              <a:ext cx="70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7" name="Freeform 27"/>
            <p:cNvSpPr>
              <a:spLocks/>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Text Box 29"/>
            <p:cNvSpPr txBox="1">
              <a:spLocks noChangeArrowheads="1"/>
            </p:cNvSpPr>
            <p:nvPr/>
          </p:nvSpPr>
          <p:spPr bwMode="auto">
            <a:xfrm>
              <a:off x="2169" y="3103"/>
              <a:ext cx="1853" cy="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rgbClr val="000099"/>
                  </a:solidFill>
                  <a:latin typeface="微软雅黑" pitchFamily="34" charset="-122"/>
                  <a:ea typeface="微软雅黑" pitchFamily="34" charset="-122"/>
                </a:rPr>
                <a:t>端口</a:t>
              </a:r>
              <a:r>
                <a:rPr lang="zh-CN" altLang="en-US" sz="1800" b="1" dirty="0" smtClean="0">
                  <a:solidFill>
                    <a:srgbClr val="000099"/>
                  </a:solidFill>
                  <a:latin typeface="微软雅黑" pitchFamily="34" charset="-122"/>
                  <a:ea typeface="微软雅黑" pitchFamily="34" charset="-122"/>
                </a:rPr>
                <a:t>号。</a:t>
              </a:r>
              <a:r>
                <a:rPr lang="zh-CN" altLang="en-US" sz="1800" b="1" dirty="0">
                  <a:solidFill>
                    <a:srgbClr val="000099"/>
                  </a:solidFill>
                  <a:latin typeface="微软雅黑" pitchFamily="34" charset="-122"/>
                  <a:ea typeface="微软雅黑" pitchFamily="34" charset="-122"/>
                </a:rPr>
                <a:t>省略</a:t>
              </a:r>
              <a:r>
                <a:rPr lang="zh-CN" altLang="en-US" sz="1800" b="1" dirty="0" smtClean="0">
                  <a:solidFill>
                    <a:srgbClr val="000099"/>
                  </a:solidFill>
                  <a:latin typeface="微软雅黑" pitchFamily="34" charset="-122"/>
                  <a:ea typeface="微软雅黑" pitchFamily="34" charset="-122"/>
                </a:rPr>
                <a:t>时使用默认</a:t>
              </a:r>
              <a:r>
                <a:rPr lang="zh-CN" altLang="en-US" sz="1800" b="1" dirty="0">
                  <a:solidFill>
                    <a:srgbClr val="000099"/>
                  </a:solidFill>
                  <a:latin typeface="微软雅黑" pitchFamily="34" charset="-122"/>
                  <a:ea typeface="微软雅黑" pitchFamily="34" charset="-122"/>
                </a:rPr>
                <a:t>端口</a:t>
              </a:r>
              <a:r>
                <a:rPr lang="zh-CN" altLang="en-US" sz="1800" b="1" dirty="0" smtClean="0">
                  <a:solidFill>
                    <a:srgbClr val="000099"/>
                  </a:solidFill>
                  <a:latin typeface="微软雅黑" pitchFamily="34" charset="-122"/>
                  <a:ea typeface="微软雅黑" pitchFamily="34" charset="-122"/>
                </a:rPr>
                <a:t>号。</a:t>
              </a:r>
              <a:endParaRPr lang="zh-CN" altLang="en-US" sz="1800" b="1" dirty="0">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41951531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2255612"/>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1246495"/>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通常由四个部分组成</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协议、主机名、端口、路径</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主机名</a:t>
            </a:r>
            <a:r>
              <a:rPr lang="zh-CN" altLang="en-US" sz="2000" b="1" dirty="0">
                <a:latin typeface="微软雅黑" pitchFamily="34" charset="-122"/>
                <a:ea typeface="微软雅黑" pitchFamily="34" charset="-122"/>
              </a:rPr>
              <a:t>部分不区分大小写，</a:t>
            </a:r>
            <a:r>
              <a:rPr lang="zh-CN" altLang="en-US" sz="2000" b="1" dirty="0">
                <a:solidFill>
                  <a:srgbClr val="C00000"/>
                </a:solidFill>
                <a:latin typeface="微软雅黑" pitchFamily="34" charset="-122"/>
                <a:ea typeface="微软雅黑" pitchFamily="34" charset="-122"/>
              </a:rPr>
              <a:t>路径</a:t>
            </a:r>
            <a:r>
              <a:rPr lang="zh-CN" altLang="en-US" sz="2000" b="1" dirty="0">
                <a:latin typeface="微软雅黑" pitchFamily="34" charset="-122"/>
                <a:ea typeface="微软雅黑" pitchFamily="34" charset="-122"/>
              </a:rPr>
              <a:t>部分有时区分大小写。</a:t>
            </a:r>
          </a:p>
        </p:txBody>
      </p:sp>
      <p:sp>
        <p:nvSpPr>
          <p:cNvPr id="10" name="Text Box 25"/>
          <p:cNvSpPr txBox="1">
            <a:spLocks noChangeArrowheads="1"/>
          </p:cNvSpPr>
          <p:nvPr/>
        </p:nvSpPr>
        <p:spPr bwMode="auto">
          <a:xfrm>
            <a:off x="2155373" y="2532247"/>
            <a:ext cx="4275472"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smtClean="0">
                <a:solidFill>
                  <a:schemeClr val="bg1"/>
                </a:solidFill>
                <a:latin typeface="微软雅黑" pitchFamily="34" charset="-122"/>
                <a:ea typeface="微软雅黑" pitchFamily="34" charset="-122"/>
              </a:rPr>
              <a:t>主机名</a:t>
            </a:r>
            <a:r>
              <a:rPr lang="en-US" altLang="zh-CN" sz="1800" b="1" dirty="0" smtClean="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5" name="Group 31"/>
          <p:cNvGrpSpPr>
            <a:grpSpLocks/>
          </p:cNvGrpSpPr>
          <p:nvPr/>
        </p:nvGrpSpPr>
        <p:grpSpPr bwMode="auto">
          <a:xfrm>
            <a:off x="5511255" y="2901578"/>
            <a:ext cx="2940131" cy="1402861"/>
            <a:chOff x="1467" y="2568"/>
            <a:chExt cx="2751" cy="1422"/>
          </a:xfrm>
        </p:grpSpPr>
        <p:sp>
          <p:nvSpPr>
            <p:cNvPr id="16" name="Line 26"/>
            <p:cNvSpPr>
              <a:spLocks noChangeShapeType="1"/>
            </p:cNvSpPr>
            <p:nvPr/>
          </p:nvSpPr>
          <p:spPr bwMode="auto">
            <a:xfrm>
              <a:off x="1467" y="2568"/>
              <a:ext cx="70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7" name="Freeform 27"/>
            <p:cNvSpPr>
              <a:spLocks/>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Text Box 29"/>
            <p:cNvSpPr txBox="1">
              <a:spLocks noChangeArrowheads="1"/>
            </p:cNvSpPr>
            <p:nvPr/>
          </p:nvSpPr>
          <p:spPr bwMode="auto">
            <a:xfrm>
              <a:off x="2169" y="2649"/>
              <a:ext cx="2049" cy="1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smtClean="0">
                  <a:solidFill>
                    <a:srgbClr val="000099"/>
                  </a:solidFill>
                  <a:latin typeface="微软雅黑" pitchFamily="34" charset="-122"/>
                  <a:ea typeface="微软雅黑" pitchFamily="34" charset="-122"/>
                </a:rPr>
                <a:t>资源所在目录位置。有时区分大小写。省略时使用所定义的默认路径。后面</a:t>
              </a:r>
              <a:r>
                <a:rPr lang="zh-CN" altLang="en-US" sz="1600" b="1" dirty="0">
                  <a:solidFill>
                    <a:srgbClr val="000099"/>
                  </a:solidFill>
                  <a:latin typeface="微软雅黑" pitchFamily="34" charset="-122"/>
                  <a:ea typeface="微软雅黑" pitchFamily="34" charset="-122"/>
                </a:rPr>
                <a:t>可能还有一些</a:t>
              </a:r>
              <a:r>
                <a:rPr lang="zh-CN" altLang="en-US" sz="1600" b="1" dirty="0" smtClean="0">
                  <a:solidFill>
                    <a:srgbClr val="000099"/>
                  </a:solidFill>
                  <a:latin typeface="微软雅黑" pitchFamily="34" charset="-122"/>
                  <a:ea typeface="微软雅黑" pitchFamily="34" charset="-122"/>
                </a:rPr>
                <a:t>选项。</a:t>
              </a:r>
              <a:endParaRPr lang="zh-CN" altLang="en-US" sz="1600" b="1" dirty="0">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0273267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56963" y="1010569"/>
            <a:ext cx="8048776" cy="34371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56963" y="61045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222360" y="577248"/>
            <a:ext cx="27179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HTTP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URL</a:t>
            </a:r>
            <a:endParaRPr lang="zh-CN" altLang="en-US" sz="2000" b="1" dirty="0">
              <a:solidFill>
                <a:schemeClr val="bg1"/>
              </a:solidFill>
              <a:latin typeface="微软雅黑" pitchFamily="34" charset="-122"/>
              <a:ea typeface="微软雅黑" pitchFamily="34" charset="-122"/>
            </a:endParaRPr>
          </a:p>
        </p:txBody>
      </p:sp>
      <p:sp>
        <p:nvSpPr>
          <p:cNvPr id="2" name="矩形 1"/>
          <p:cNvSpPr/>
          <p:nvPr/>
        </p:nvSpPr>
        <p:spPr>
          <a:xfrm>
            <a:off x="2311915" y="2390985"/>
            <a:ext cx="3881191" cy="369332"/>
          </a:xfrm>
          <a:prstGeom prst="rect">
            <a:avLst/>
          </a:prstGeom>
          <a:solidFill>
            <a:srgbClr val="0000FF"/>
          </a:solidFill>
        </p:spPr>
        <p:txBody>
          <a:bodyPr wrap="none">
            <a:spAutoFit/>
          </a:bodyPr>
          <a:lstStyle/>
          <a:p>
            <a:pPr algn="ctr" eaLnBrk="0" hangingPunct="0">
              <a:buClr>
                <a:srgbClr val="0070C0"/>
              </a:buClr>
            </a:pPr>
            <a:r>
              <a:rPr lang="en-US" altLang="zh-CN" b="1" dirty="0">
                <a:solidFill>
                  <a:schemeClr val="bg1"/>
                </a:solidFill>
                <a:latin typeface="微软雅黑" pitchFamily="34" charset="-122"/>
                <a:ea typeface="微软雅黑" pitchFamily="34" charset="-122"/>
              </a:rPr>
              <a:t>http://&lt;</a:t>
            </a:r>
            <a:r>
              <a:rPr lang="zh-CN" altLang="en-US" b="1" dirty="0" smtClean="0">
                <a:solidFill>
                  <a:schemeClr val="bg1"/>
                </a:solidFill>
                <a:latin typeface="微软雅黑" pitchFamily="34" charset="-122"/>
                <a:ea typeface="微软雅黑" pitchFamily="34" charset="-122"/>
              </a:rPr>
              <a:t>主机名</a:t>
            </a:r>
            <a:r>
              <a:rPr lang="en-US" altLang="zh-CN" b="1" dirty="0" smtClean="0">
                <a:solidFill>
                  <a:schemeClr val="bg1"/>
                </a:solidFill>
                <a:latin typeface="微软雅黑" pitchFamily="34" charset="-122"/>
                <a:ea typeface="微软雅黑" pitchFamily="34" charset="-122"/>
              </a:rPr>
              <a:t>&gt;:&lt;</a:t>
            </a:r>
            <a:r>
              <a:rPr lang="zh-CN" altLang="en-US" b="1" dirty="0">
                <a:solidFill>
                  <a:schemeClr val="bg1"/>
                </a:solidFill>
                <a:latin typeface="微软雅黑" pitchFamily="34" charset="-122"/>
                <a:ea typeface="微软雅黑" pitchFamily="34" charset="-122"/>
              </a:rPr>
              <a:t>端口</a:t>
            </a:r>
            <a:r>
              <a:rPr lang="en-US" altLang="zh-CN" b="1" dirty="0">
                <a:solidFill>
                  <a:schemeClr val="bg1"/>
                </a:solidFill>
                <a:latin typeface="微软雅黑" pitchFamily="34" charset="-122"/>
                <a:ea typeface="微软雅黑" pitchFamily="34" charset="-122"/>
              </a:rPr>
              <a:t>&gt;/&lt;</a:t>
            </a:r>
            <a:r>
              <a:rPr lang="zh-CN" altLang="en-US" b="1" dirty="0">
                <a:solidFill>
                  <a:schemeClr val="bg1"/>
                </a:solidFill>
                <a:latin typeface="微软雅黑" pitchFamily="34" charset="-122"/>
                <a:ea typeface="微软雅黑" pitchFamily="34" charset="-122"/>
              </a:rPr>
              <a:t>路径</a:t>
            </a:r>
            <a:r>
              <a:rPr lang="en-US" altLang="zh-CN" b="1" dirty="0">
                <a:solidFill>
                  <a:schemeClr val="bg1"/>
                </a:solidFill>
                <a:latin typeface="微软雅黑" pitchFamily="34" charset="-122"/>
                <a:ea typeface="微软雅黑" pitchFamily="34" charset="-122"/>
              </a:rPr>
              <a:t>&gt; </a:t>
            </a:r>
          </a:p>
        </p:txBody>
      </p:sp>
      <p:grpSp>
        <p:nvGrpSpPr>
          <p:cNvPr id="12" name="Group 9"/>
          <p:cNvGrpSpPr>
            <a:grpSpLocks/>
          </p:cNvGrpSpPr>
          <p:nvPr/>
        </p:nvGrpSpPr>
        <p:grpSpPr bwMode="auto">
          <a:xfrm>
            <a:off x="2458569" y="1029707"/>
            <a:ext cx="1899003" cy="1758800"/>
            <a:chOff x="1134" y="529"/>
            <a:chExt cx="1491" cy="1496"/>
          </a:xfrm>
        </p:grpSpPr>
        <p:grpSp>
          <p:nvGrpSpPr>
            <p:cNvPr id="13" name="Group 5"/>
            <p:cNvGrpSpPr>
              <a:grpSpLocks/>
            </p:cNvGrpSpPr>
            <p:nvPr/>
          </p:nvGrpSpPr>
          <p:grpSpPr bwMode="auto">
            <a:xfrm>
              <a:off x="1134" y="817"/>
              <a:ext cx="443" cy="1208"/>
              <a:chOff x="1140" y="723"/>
              <a:chExt cx="325" cy="1208"/>
            </a:xfrm>
          </p:grpSpPr>
          <p:sp>
            <p:nvSpPr>
              <p:cNvPr id="15" name="Rectangle 6"/>
              <p:cNvSpPr>
                <a:spLocks noChangeArrowheads="1"/>
              </p:cNvSpPr>
              <p:nvPr/>
            </p:nvSpPr>
            <p:spPr bwMode="auto">
              <a:xfrm>
                <a:off x="1140" y="1570"/>
                <a:ext cx="325"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16" name="Line 7"/>
              <p:cNvSpPr>
                <a:spLocks noChangeShapeType="1"/>
              </p:cNvSpPr>
              <p:nvPr/>
            </p:nvSpPr>
            <p:spPr bwMode="auto">
              <a:xfrm flipV="1">
                <a:off x="1303" y="723"/>
                <a:ext cx="0" cy="847"/>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14" name="Text Box 8"/>
            <p:cNvSpPr txBox="1">
              <a:spLocks noChangeArrowheads="1"/>
            </p:cNvSpPr>
            <p:nvPr/>
          </p:nvSpPr>
          <p:spPr bwMode="auto">
            <a:xfrm>
              <a:off x="1136" y="529"/>
              <a:ext cx="1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smtClean="0">
                  <a:solidFill>
                    <a:srgbClr val="000099"/>
                  </a:solidFill>
                  <a:latin typeface="微软雅黑" pitchFamily="34" charset="-122"/>
                  <a:ea typeface="微软雅黑" pitchFamily="34" charset="-122"/>
                </a:rPr>
                <a:t>使用 </a:t>
              </a:r>
              <a:r>
                <a:rPr lang="en-US" altLang="zh-CN" sz="1600" b="1" dirty="0">
                  <a:solidFill>
                    <a:srgbClr val="000099"/>
                  </a:solidFill>
                  <a:latin typeface="微软雅黑" pitchFamily="34" charset="-122"/>
                  <a:ea typeface="微软雅黑" pitchFamily="34" charset="-122"/>
                </a:rPr>
                <a:t>HTTP </a:t>
              </a:r>
              <a:r>
                <a:rPr lang="zh-CN" altLang="en-US" sz="1600" b="1" dirty="0" smtClean="0">
                  <a:solidFill>
                    <a:srgbClr val="000099"/>
                  </a:solidFill>
                  <a:latin typeface="微软雅黑" pitchFamily="34" charset="-122"/>
                  <a:ea typeface="微软雅黑" pitchFamily="34" charset="-122"/>
                </a:rPr>
                <a:t>协议。</a:t>
              </a:r>
              <a:endParaRPr lang="zh-CN" altLang="en-US" sz="1600" b="1" dirty="0">
                <a:solidFill>
                  <a:srgbClr val="000099"/>
                </a:solidFill>
                <a:latin typeface="微软雅黑" pitchFamily="34" charset="-122"/>
                <a:ea typeface="微软雅黑" pitchFamily="34" charset="-122"/>
              </a:endParaRPr>
            </a:p>
          </p:txBody>
        </p:sp>
      </p:grpSp>
      <p:grpSp>
        <p:nvGrpSpPr>
          <p:cNvPr id="17" name="组合 16"/>
          <p:cNvGrpSpPr/>
          <p:nvPr/>
        </p:nvGrpSpPr>
        <p:grpSpPr>
          <a:xfrm>
            <a:off x="897028" y="3736373"/>
            <a:ext cx="7436338" cy="711340"/>
            <a:chOff x="265563" y="3877237"/>
            <a:chExt cx="10483512" cy="1002823"/>
          </a:xfrm>
        </p:grpSpPr>
        <p:sp>
          <p:nvSpPr>
            <p:cNvPr id="18" name="矩形 17"/>
            <p:cNvSpPr/>
            <p:nvPr/>
          </p:nvSpPr>
          <p:spPr>
            <a:xfrm>
              <a:off x="265563" y="3877237"/>
              <a:ext cx="10483512" cy="433894"/>
            </a:xfrm>
            <a:prstGeom prst="rect">
              <a:avLst/>
            </a:prstGeom>
          </p:spPr>
          <p:txBody>
            <a:bodyPr wrap="square">
              <a:spAutoFit/>
            </a:bodyPr>
            <a:lstStyle/>
            <a:p>
              <a:r>
                <a:rPr lang="en-US" altLang="zh-CN" sz="1400" b="1" dirty="0">
                  <a:latin typeface="微软雅黑" pitchFamily="34" charset="-122"/>
                  <a:ea typeface="微软雅黑" pitchFamily="34" charset="-122"/>
                  <a:cs typeface="Times New Roman" pitchFamily="18" charset="0"/>
                </a:rPr>
                <a:t>http://www.tsinghua.edu.cn/publish/newthu/newthu_cnt/faculties/index.html</a:t>
              </a:r>
              <a:endParaRPr lang="zh-CN" altLang="zh-CN" sz="1400" b="1" dirty="0">
                <a:latin typeface="微软雅黑" pitchFamily="34" charset="-122"/>
                <a:ea typeface="微软雅黑" pitchFamily="34" charset="-122"/>
                <a:cs typeface="Times New Roman" pitchFamily="18" charset="0"/>
              </a:endParaRPr>
            </a:p>
          </p:txBody>
        </p:sp>
        <p:sp>
          <p:nvSpPr>
            <p:cNvPr id="19" name="左大括号 18"/>
            <p:cNvSpPr/>
            <p:nvPr/>
          </p:nvSpPr>
          <p:spPr>
            <a:xfrm rot="16200000">
              <a:off x="2463162" y="3024028"/>
              <a:ext cx="165502" cy="2592000"/>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itchFamily="34" charset="-122"/>
                <a:ea typeface="微软雅黑" pitchFamily="34" charset="-122"/>
              </a:endParaRPr>
            </a:p>
          </p:txBody>
        </p:sp>
        <p:sp>
          <p:nvSpPr>
            <p:cNvPr id="20" name="左大括号 19"/>
            <p:cNvSpPr/>
            <p:nvPr/>
          </p:nvSpPr>
          <p:spPr>
            <a:xfrm rot="16200000">
              <a:off x="7059606" y="1234436"/>
              <a:ext cx="165505" cy="6171181"/>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itchFamily="34" charset="-122"/>
                <a:ea typeface="微软雅黑" pitchFamily="34" charset="-122"/>
              </a:endParaRPr>
            </a:p>
          </p:txBody>
        </p:sp>
        <p:sp>
          <p:nvSpPr>
            <p:cNvPr id="21" name="TextBox 17"/>
            <p:cNvSpPr txBox="1"/>
            <p:nvPr/>
          </p:nvSpPr>
          <p:spPr>
            <a:xfrm>
              <a:off x="1830183" y="4402778"/>
              <a:ext cx="1417385" cy="477282"/>
            </a:xfrm>
            <a:prstGeom prst="rect">
              <a:avLst/>
            </a:prstGeom>
            <a:noFill/>
          </p:spPr>
          <p:txBody>
            <a:bodyPr wrap="none" rtlCol="0">
              <a:spAutoFit/>
            </a:bodyPr>
            <a:lstStyle/>
            <a:p>
              <a:r>
                <a:rPr lang="zh-CN" altLang="en-US" sz="1600" b="1" dirty="0" smtClean="0">
                  <a:solidFill>
                    <a:srgbClr val="0000FF"/>
                  </a:solidFill>
                  <a:latin typeface="微软雅黑" pitchFamily="34" charset="-122"/>
                  <a:ea typeface="微软雅黑" pitchFamily="34" charset="-122"/>
                </a:rPr>
                <a:t>主机域名</a:t>
              </a:r>
              <a:endParaRPr lang="zh-CN" altLang="en-US" sz="1600" b="1" dirty="0">
                <a:solidFill>
                  <a:srgbClr val="0000FF"/>
                </a:solidFill>
                <a:latin typeface="微软雅黑" pitchFamily="34" charset="-122"/>
                <a:ea typeface="微软雅黑" pitchFamily="34" charset="-122"/>
              </a:endParaRPr>
            </a:p>
          </p:txBody>
        </p:sp>
        <p:sp>
          <p:nvSpPr>
            <p:cNvPr id="22" name="TextBox 18"/>
            <p:cNvSpPr txBox="1"/>
            <p:nvPr/>
          </p:nvSpPr>
          <p:spPr>
            <a:xfrm>
              <a:off x="6559571" y="4402777"/>
              <a:ext cx="1469070" cy="477282"/>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r>
                <a:rPr lang="zh-CN" altLang="en-US" sz="1600" dirty="0">
                  <a:solidFill>
                    <a:srgbClr val="0000FF"/>
                  </a:solidFill>
                  <a:latin typeface="微软雅黑" pitchFamily="34" charset="-122"/>
                  <a:ea typeface="微软雅黑" pitchFamily="34" charset="-122"/>
                </a:rPr>
                <a:t>路径名</a:t>
              </a:r>
            </a:p>
          </p:txBody>
        </p:sp>
      </p:grpSp>
      <p:grpSp>
        <p:nvGrpSpPr>
          <p:cNvPr id="28" name="Group 9"/>
          <p:cNvGrpSpPr>
            <a:grpSpLocks/>
          </p:cNvGrpSpPr>
          <p:nvPr/>
        </p:nvGrpSpPr>
        <p:grpSpPr bwMode="auto">
          <a:xfrm>
            <a:off x="2920865" y="1322749"/>
            <a:ext cx="1416291" cy="1466052"/>
            <a:chOff x="1207" y="782"/>
            <a:chExt cx="1112" cy="1247"/>
          </a:xfrm>
        </p:grpSpPr>
        <p:grpSp>
          <p:nvGrpSpPr>
            <p:cNvPr id="29" name="Group 5"/>
            <p:cNvGrpSpPr>
              <a:grpSpLocks/>
            </p:cNvGrpSpPr>
            <p:nvPr/>
          </p:nvGrpSpPr>
          <p:grpSpPr bwMode="auto">
            <a:xfrm>
              <a:off x="1289" y="1046"/>
              <a:ext cx="248" cy="983"/>
              <a:chOff x="1254" y="952"/>
              <a:chExt cx="182" cy="983"/>
            </a:xfrm>
          </p:grpSpPr>
          <p:sp>
            <p:nvSpPr>
              <p:cNvPr id="31" name="Rectangle 6"/>
              <p:cNvSpPr>
                <a:spLocks noChangeArrowheads="1"/>
              </p:cNvSpPr>
              <p:nvPr/>
            </p:nvSpPr>
            <p:spPr bwMode="auto">
              <a:xfrm>
                <a:off x="1254" y="1574"/>
                <a:ext cx="182"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32" name="Line 7"/>
              <p:cNvSpPr>
                <a:spLocks noChangeShapeType="1"/>
              </p:cNvSpPr>
              <p:nvPr/>
            </p:nvSpPr>
            <p:spPr bwMode="auto">
              <a:xfrm flipV="1">
                <a:off x="1343" y="952"/>
                <a:ext cx="0" cy="613"/>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30" name="Text Box 8"/>
            <p:cNvSpPr txBox="1">
              <a:spLocks noChangeArrowheads="1"/>
            </p:cNvSpPr>
            <p:nvPr/>
          </p:nvSpPr>
          <p:spPr bwMode="auto">
            <a:xfrm>
              <a:off x="1207" y="782"/>
              <a:ext cx="11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smtClean="0">
                  <a:solidFill>
                    <a:srgbClr val="000099"/>
                  </a:solidFill>
                  <a:latin typeface="微软雅黑" pitchFamily="34" charset="-122"/>
                  <a:ea typeface="微软雅黑" pitchFamily="34" charset="-122"/>
                </a:rPr>
                <a:t>规定</a:t>
              </a:r>
              <a:r>
                <a:rPr lang="zh-CN" altLang="en-US" sz="1600" b="1" dirty="0">
                  <a:solidFill>
                    <a:srgbClr val="000099"/>
                  </a:solidFill>
                  <a:latin typeface="微软雅黑" pitchFamily="34" charset="-122"/>
                  <a:ea typeface="微软雅黑" pitchFamily="34" charset="-122"/>
                </a:rPr>
                <a:t>的格式。</a:t>
              </a:r>
            </a:p>
          </p:txBody>
        </p:sp>
      </p:grpSp>
      <p:grpSp>
        <p:nvGrpSpPr>
          <p:cNvPr id="33" name="Group 9"/>
          <p:cNvGrpSpPr>
            <a:grpSpLocks/>
          </p:cNvGrpSpPr>
          <p:nvPr/>
        </p:nvGrpSpPr>
        <p:grpSpPr bwMode="auto">
          <a:xfrm>
            <a:off x="3341090" y="1632850"/>
            <a:ext cx="2151185" cy="1155683"/>
            <a:chOff x="1102" y="1036"/>
            <a:chExt cx="1689" cy="983"/>
          </a:xfrm>
        </p:grpSpPr>
        <p:grpSp>
          <p:nvGrpSpPr>
            <p:cNvPr id="34" name="Group 5"/>
            <p:cNvGrpSpPr>
              <a:grpSpLocks/>
            </p:cNvGrpSpPr>
            <p:nvPr/>
          </p:nvGrpSpPr>
          <p:grpSpPr bwMode="auto">
            <a:xfrm>
              <a:off x="1105" y="1303"/>
              <a:ext cx="583" cy="716"/>
              <a:chOff x="1119" y="1209"/>
              <a:chExt cx="428" cy="716"/>
            </a:xfrm>
          </p:grpSpPr>
          <p:sp>
            <p:nvSpPr>
              <p:cNvPr id="36" name="Rectangle 6"/>
              <p:cNvSpPr>
                <a:spLocks noChangeArrowheads="1"/>
              </p:cNvSpPr>
              <p:nvPr/>
            </p:nvSpPr>
            <p:spPr bwMode="auto">
              <a:xfrm>
                <a:off x="1119" y="1564"/>
                <a:ext cx="428"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37" name="Line 7"/>
              <p:cNvSpPr>
                <a:spLocks noChangeShapeType="1"/>
              </p:cNvSpPr>
              <p:nvPr/>
            </p:nvSpPr>
            <p:spPr bwMode="auto">
              <a:xfrm flipV="1">
                <a:off x="1338" y="1209"/>
                <a:ext cx="0" cy="355"/>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35" name="Text Box 8"/>
            <p:cNvSpPr txBox="1">
              <a:spLocks noChangeArrowheads="1"/>
            </p:cNvSpPr>
            <p:nvPr/>
          </p:nvSpPr>
          <p:spPr bwMode="auto">
            <a:xfrm>
              <a:off x="1102" y="1036"/>
              <a:ext cx="16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smtClean="0">
                  <a:solidFill>
                    <a:srgbClr val="000099"/>
                  </a:solidFill>
                  <a:latin typeface="微软雅黑" pitchFamily="34" charset="-122"/>
                  <a:ea typeface="微软雅黑" pitchFamily="34" charset="-122"/>
                </a:rPr>
                <a:t>主机域名或 </a:t>
              </a:r>
              <a:r>
                <a:rPr lang="en-US" altLang="zh-CN" sz="1600" b="1" dirty="0" smtClean="0">
                  <a:solidFill>
                    <a:srgbClr val="000099"/>
                  </a:solidFill>
                  <a:latin typeface="微软雅黑" pitchFamily="34" charset="-122"/>
                  <a:ea typeface="微软雅黑" pitchFamily="34" charset="-122"/>
                </a:rPr>
                <a:t>IP </a:t>
              </a:r>
              <a:r>
                <a:rPr lang="zh-CN" altLang="en-US" sz="1600" b="1" dirty="0" smtClean="0">
                  <a:solidFill>
                    <a:srgbClr val="000099"/>
                  </a:solidFill>
                  <a:latin typeface="微软雅黑" pitchFamily="34" charset="-122"/>
                  <a:ea typeface="微软雅黑" pitchFamily="34" charset="-122"/>
                </a:rPr>
                <a:t>地址。</a:t>
              </a:r>
              <a:endParaRPr lang="zh-CN" altLang="en-US" sz="1600" b="1" dirty="0">
                <a:solidFill>
                  <a:srgbClr val="000099"/>
                </a:solidFill>
                <a:latin typeface="微软雅黑" pitchFamily="34" charset="-122"/>
                <a:ea typeface="微软雅黑" pitchFamily="34" charset="-122"/>
              </a:endParaRPr>
            </a:p>
          </p:txBody>
        </p:sp>
      </p:grpSp>
      <p:grpSp>
        <p:nvGrpSpPr>
          <p:cNvPr id="38" name="Group 9"/>
          <p:cNvGrpSpPr>
            <a:grpSpLocks/>
          </p:cNvGrpSpPr>
          <p:nvPr/>
        </p:nvGrpSpPr>
        <p:grpSpPr bwMode="auto">
          <a:xfrm>
            <a:off x="4162931" y="1937876"/>
            <a:ext cx="3585306" cy="851184"/>
            <a:chOff x="1058" y="1303"/>
            <a:chExt cx="2815" cy="724"/>
          </a:xfrm>
        </p:grpSpPr>
        <p:grpSp>
          <p:nvGrpSpPr>
            <p:cNvPr id="39" name="Group 5"/>
            <p:cNvGrpSpPr>
              <a:grpSpLocks/>
            </p:cNvGrpSpPr>
            <p:nvPr/>
          </p:nvGrpSpPr>
          <p:grpSpPr bwMode="auto">
            <a:xfrm>
              <a:off x="1108" y="1507"/>
              <a:ext cx="568" cy="520"/>
              <a:chOff x="1120" y="1413"/>
              <a:chExt cx="417" cy="520"/>
            </a:xfrm>
          </p:grpSpPr>
          <p:sp>
            <p:nvSpPr>
              <p:cNvPr id="41" name="Rectangle 6"/>
              <p:cNvSpPr>
                <a:spLocks noChangeArrowheads="1"/>
              </p:cNvSpPr>
              <p:nvPr/>
            </p:nvSpPr>
            <p:spPr bwMode="auto">
              <a:xfrm>
                <a:off x="1120" y="1572"/>
                <a:ext cx="417"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42" name="Line 7"/>
              <p:cNvSpPr>
                <a:spLocks noChangeShapeType="1"/>
              </p:cNvSpPr>
              <p:nvPr/>
            </p:nvSpPr>
            <p:spPr bwMode="auto">
              <a:xfrm flipV="1">
                <a:off x="1338" y="1413"/>
                <a:ext cx="0" cy="159"/>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40" name="Text Box 8"/>
            <p:cNvSpPr txBox="1">
              <a:spLocks noChangeArrowheads="1"/>
            </p:cNvSpPr>
            <p:nvPr/>
          </p:nvSpPr>
          <p:spPr bwMode="auto">
            <a:xfrm>
              <a:off x="1058" y="1303"/>
              <a:ext cx="28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en-US" altLang="zh-CN" sz="1600" b="1" dirty="0">
                  <a:solidFill>
                    <a:srgbClr val="000099"/>
                  </a:solidFill>
                  <a:latin typeface="微软雅黑" pitchFamily="34" charset="-122"/>
                  <a:ea typeface="微软雅黑" pitchFamily="34" charset="-122"/>
                </a:rPr>
                <a:t>HTTP </a:t>
              </a:r>
              <a:r>
                <a:rPr lang="zh-CN" altLang="en-US" sz="1600" b="1" dirty="0">
                  <a:solidFill>
                    <a:srgbClr val="000099"/>
                  </a:solidFill>
                  <a:latin typeface="微软雅黑" pitchFamily="34" charset="-122"/>
                  <a:ea typeface="微软雅黑" pitchFamily="34" charset="-122"/>
                </a:rPr>
                <a:t>的默认端口号是 </a:t>
              </a:r>
              <a:r>
                <a:rPr lang="en-US" altLang="zh-CN" sz="1600" b="1" dirty="0">
                  <a:solidFill>
                    <a:srgbClr val="000099"/>
                  </a:solidFill>
                  <a:latin typeface="微软雅黑" pitchFamily="34" charset="-122"/>
                  <a:ea typeface="微软雅黑" pitchFamily="34" charset="-122"/>
                </a:rPr>
                <a:t>80</a:t>
              </a:r>
              <a:r>
                <a:rPr lang="zh-CN" altLang="en-US" sz="1600" b="1" dirty="0" smtClean="0">
                  <a:solidFill>
                    <a:srgbClr val="000099"/>
                  </a:solidFill>
                  <a:latin typeface="微软雅黑" pitchFamily="34" charset="-122"/>
                  <a:ea typeface="微软雅黑" pitchFamily="34" charset="-122"/>
                </a:rPr>
                <a:t>，可</a:t>
              </a:r>
              <a:r>
                <a:rPr lang="zh-CN" altLang="en-US" sz="1600" b="1" dirty="0">
                  <a:solidFill>
                    <a:srgbClr val="000099"/>
                  </a:solidFill>
                  <a:latin typeface="微软雅黑" pitchFamily="34" charset="-122"/>
                  <a:ea typeface="微软雅黑" pitchFamily="34" charset="-122"/>
                </a:rPr>
                <a:t>省略。</a:t>
              </a:r>
            </a:p>
          </p:txBody>
        </p:sp>
      </p:grpSp>
      <p:grpSp>
        <p:nvGrpSpPr>
          <p:cNvPr id="43" name="Group 9"/>
          <p:cNvGrpSpPr>
            <a:grpSpLocks/>
          </p:cNvGrpSpPr>
          <p:nvPr/>
        </p:nvGrpSpPr>
        <p:grpSpPr bwMode="auto">
          <a:xfrm>
            <a:off x="3809948" y="2364507"/>
            <a:ext cx="3949568" cy="1390817"/>
            <a:chOff x="915" y="1658"/>
            <a:chExt cx="3101" cy="1183"/>
          </a:xfrm>
        </p:grpSpPr>
        <p:grpSp>
          <p:nvGrpSpPr>
            <p:cNvPr id="44" name="Group 5"/>
            <p:cNvGrpSpPr>
              <a:grpSpLocks/>
            </p:cNvGrpSpPr>
            <p:nvPr/>
          </p:nvGrpSpPr>
          <p:grpSpPr bwMode="auto">
            <a:xfrm>
              <a:off x="1818" y="1658"/>
              <a:ext cx="582" cy="528"/>
              <a:chOff x="1646" y="1564"/>
              <a:chExt cx="428" cy="528"/>
            </a:xfrm>
          </p:grpSpPr>
          <p:sp>
            <p:nvSpPr>
              <p:cNvPr id="46" name="Rectangle 6"/>
              <p:cNvSpPr>
                <a:spLocks noChangeArrowheads="1"/>
              </p:cNvSpPr>
              <p:nvPr/>
            </p:nvSpPr>
            <p:spPr bwMode="auto">
              <a:xfrm>
                <a:off x="1646" y="1564"/>
                <a:ext cx="428" cy="36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47" name="Line 7"/>
              <p:cNvSpPr>
                <a:spLocks noChangeShapeType="1"/>
              </p:cNvSpPr>
              <p:nvPr/>
            </p:nvSpPr>
            <p:spPr bwMode="auto">
              <a:xfrm flipV="1">
                <a:off x="1846" y="1933"/>
                <a:ext cx="0" cy="159"/>
              </a:xfrm>
              <a:prstGeom prst="line">
                <a:avLst/>
              </a:prstGeom>
              <a:noFill/>
              <a:ln w="38100">
                <a:solidFill>
                  <a:srgbClr val="CC00CC"/>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45" name="Text Box 8"/>
            <p:cNvSpPr txBox="1">
              <a:spLocks noChangeArrowheads="1"/>
            </p:cNvSpPr>
            <p:nvPr/>
          </p:nvSpPr>
          <p:spPr bwMode="auto">
            <a:xfrm>
              <a:off x="915" y="2134"/>
              <a:ext cx="3101" cy="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smtClean="0">
                  <a:solidFill>
                    <a:srgbClr val="000099"/>
                  </a:solidFill>
                  <a:latin typeface="微软雅黑" pitchFamily="34" charset="-122"/>
                  <a:ea typeface="微软雅黑" pitchFamily="34" charset="-122"/>
                </a:rPr>
                <a:t>省略时指</a:t>
              </a:r>
              <a:r>
                <a:rPr lang="zh-CN" altLang="en-US" sz="1600" b="1" dirty="0">
                  <a:solidFill>
                    <a:srgbClr val="000099"/>
                  </a:solidFill>
                  <a:latin typeface="微软雅黑" pitchFamily="34" charset="-122"/>
                  <a:ea typeface="微软雅黑" pitchFamily="34" charset="-122"/>
                </a:rPr>
                <a:t>到互联网上的某个主页 </a:t>
              </a:r>
              <a:r>
                <a:rPr lang="en-US" altLang="zh-CN" sz="1600" b="1" dirty="0">
                  <a:solidFill>
                    <a:srgbClr val="000099"/>
                  </a:solidFill>
                  <a:latin typeface="微软雅黑" pitchFamily="34" charset="-122"/>
                  <a:ea typeface="微软雅黑" pitchFamily="34" charset="-122"/>
                </a:rPr>
                <a:t>(home page)</a:t>
              </a:r>
              <a:r>
                <a:rPr lang="zh-CN" altLang="en-US" sz="1600" b="1" dirty="0" smtClean="0">
                  <a:solidFill>
                    <a:srgbClr val="000099"/>
                  </a:solidFill>
                  <a:latin typeface="微软雅黑" pitchFamily="34" charset="-122"/>
                  <a:ea typeface="微软雅黑" pitchFamily="34" charset="-122"/>
                </a:rPr>
                <a:t>。更</a:t>
              </a:r>
              <a:r>
                <a:rPr lang="zh-CN" altLang="en-US" sz="1600" b="1" dirty="0">
                  <a:solidFill>
                    <a:srgbClr val="000099"/>
                  </a:solidFill>
                  <a:latin typeface="微软雅黑" pitchFamily="34" charset="-122"/>
                  <a:ea typeface="微软雅黑" pitchFamily="34" charset="-122"/>
                </a:rPr>
                <a:t>复杂一些的路径是指向层次结构的从属页面</a:t>
              </a:r>
              <a:r>
                <a:rPr lang="zh-CN" altLang="en-US" sz="1600" b="1" dirty="0" smtClean="0">
                  <a:solidFill>
                    <a:srgbClr val="000099"/>
                  </a:solidFill>
                  <a:latin typeface="微软雅黑" pitchFamily="34" charset="-122"/>
                  <a:ea typeface="微软雅黑" pitchFamily="34" charset="-122"/>
                </a:rPr>
                <a:t>。</a:t>
              </a:r>
              <a:endParaRPr lang="zh-CN" altLang="en-US" sz="1600" b="1" dirty="0">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8420889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down)">
                                      <p:cBhvr>
                                        <p:cTn id="11" dur="1000"/>
                                        <p:tgtEl>
                                          <p:spTgt spid="28"/>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down)">
                                      <p:cBhvr>
                                        <p:cTn id="15" dur="1000"/>
                                        <p:tgtEl>
                                          <p:spTgt spid="33"/>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1000"/>
                                        <p:tgtEl>
                                          <p:spTgt spid="38"/>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up)">
                                      <p:cBhvr>
                                        <p:cTn id="23"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166833" y="3659815"/>
            <a:ext cx="6911847"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AutoShape 5"/>
          <p:cNvSpPr>
            <a:spLocks noChangeArrowheads="1"/>
          </p:cNvSpPr>
          <p:nvPr/>
        </p:nvSpPr>
        <p:spPr bwMode="auto">
          <a:xfrm>
            <a:off x="556963" y="612642"/>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2" name="Rectangle 6"/>
          <p:cNvSpPr>
            <a:spLocks noChangeArrowheads="1"/>
          </p:cNvSpPr>
          <p:nvPr/>
        </p:nvSpPr>
        <p:spPr bwMode="auto">
          <a:xfrm>
            <a:off x="2933542" y="570371"/>
            <a:ext cx="32769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超文本</a:t>
            </a:r>
            <a:r>
              <a:rPr lang="zh-CN" altLang="en-US" sz="2400" b="1" dirty="0">
                <a:solidFill>
                  <a:schemeClr val="bg1"/>
                </a:solidFill>
                <a:latin typeface="微软雅黑" pitchFamily="34" charset="-122"/>
                <a:ea typeface="微软雅黑" pitchFamily="34" charset="-122"/>
              </a:rPr>
              <a:t>传送协议 </a:t>
            </a:r>
            <a:r>
              <a:rPr lang="en-US" altLang="zh-CN" sz="2400" b="1" dirty="0" smtClean="0">
                <a:solidFill>
                  <a:schemeClr val="bg1"/>
                </a:solidFill>
                <a:latin typeface="微软雅黑" pitchFamily="34" charset="-122"/>
                <a:ea typeface="微软雅黑" pitchFamily="34" charset="-122"/>
              </a:rPr>
              <a:t>HTTP</a:t>
            </a:r>
            <a:endParaRPr lang="zh-CN" altLang="en-US" sz="2400" b="1" dirty="0">
              <a:solidFill>
                <a:schemeClr val="bg1"/>
              </a:solidFill>
              <a:latin typeface="微软雅黑" pitchFamily="34" charset="-122"/>
              <a:ea typeface="微软雅黑" pitchFamily="34" charset="-122"/>
            </a:endParaRPr>
          </a:p>
        </p:txBody>
      </p:sp>
      <p:sp>
        <p:nvSpPr>
          <p:cNvPr id="15" name="Rectangle 68"/>
          <p:cNvSpPr>
            <a:spLocks noChangeArrowheads="1"/>
          </p:cNvSpPr>
          <p:nvPr/>
        </p:nvSpPr>
        <p:spPr bwMode="auto">
          <a:xfrm>
            <a:off x="648070" y="1049202"/>
            <a:ext cx="7957669" cy="25771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URL</a:t>
            </a:r>
            <a:r>
              <a:rPr lang="zh-CN" altLang="en-US" sz="2000" b="1" dirty="0" smtClean="0">
                <a:latin typeface="微软雅黑" pitchFamily="34" charset="-122"/>
                <a:ea typeface="微软雅黑" pitchFamily="34" charset="-122"/>
              </a:rPr>
              <a:t>标识了互联网上的万维网资源，但浏览器如何从</a:t>
            </a:r>
            <a:r>
              <a:rPr lang="en-US" altLang="zh-CN" sz="2000" b="1" dirty="0" smtClean="0">
                <a:latin typeface="微软雅黑" pitchFamily="34" charset="-122"/>
                <a:ea typeface="微软雅黑" pitchFamily="34" charset="-122"/>
              </a:rPr>
              <a:t>Web</a:t>
            </a:r>
            <a:r>
              <a:rPr lang="zh-CN" altLang="en-US" sz="2000" b="1" dirty="0" smtClean="0">
                <a:latin typeface="微软雅黑" pitchFamily="34" charset="-122"/>
                <a:ea typeface="微软雅黑" pitchFamily="34" charset="-122"/>
              </a:rPr>
              <a:t>服务器处获取这些资源？</a:t>
            </a:r>
            <a:endParaRPr lang="en-US" altLang="zh-CN" sz="2000" b="1" dirty="0" smtClean="0">
              <a:latin typeface="微软雅黑" pitchFamily="34" charset="-122"/>
              <a:ea typeface="微软雅黑" pitchFamily="34" charset="-122"/>
            </a:endParaRPr>
          </a:p>
          <a:p>
            <a:pPr marL="742950" lvl="1" indent="-285750" hangingPunct="0">
              <a:lnSpc>
                <a:spcPts val="28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超文本传送协议 </a:t>
            </a:r>
            <a:r>
              <a:rPr lang="en-US" altLang="zh-CN" b="1" dirty="0" smtClean="0">
                <a:solidFill>
                  <a:srgbClr val="C00000"/>
                </a:solidFill>
                <a:latin typeface="微软雅黑" pitchFamily="34" charset="-122"/>
                <a:ea typeface="微软雅黑" pitchFamily="34" charset="-122"/>
              </a:rPr>
              <a:t>HTTP </a:t>
            </a:r>
          </a:p>
          <a:p>
            <a:pPr marL="742950" lvl="1" indent="-28575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浏览器向 </a:t>
            </a:r>
            <a:r>
              <a:rPr lang="en-US" altLang="zh-CN" b="1" dirty="0" smtClean="0">
                <a:latin typeface="微软雅黑" pitchFamily="34" charset="-122"/>
                <a:ea typeface="微软雅黑" pitchFamily="34" charset="-122"/>
              </a:rPr>
              <a:t>Web </a:t>
            </a:r>
            <a:r>
              <a:rPr lang="zh-CN" altLang="en-US" b="1" dirty="0" smtClean="0">
                <a:latin typeface="微软雅黑" pitchFamily="34" charset="-122"/>
                <a:ea typeface="微软雅黑" pitchFamily="34" charset="-122"/>
              </a:rPr>
              <a:t>服务器</a:t>
            </a:r>
            <a:r>
              <a:rPr lang="zh-CN" altLang="en-US" b="1" dirty="0">
                <a:latin typeface="微软雅黑" pitchFamily="34" charset="-122"/>
                <a:ea typeface="微软雅黑" pitchFamily="34" charset="-122"/>
              </a:rPr>
              <a:t>请求万维网文档所使用的</a:t>
            </a:r>
            <a:r>
              <a:rPr lang="zh-CN" altLang="en-US" b="1" dirty="0">
                <a:solidFill>
                  <a:srgbClr val="C00000"/>
                </a:solidFill>
                <a:latin typeface="微软雅黑" pitchFamily="34" charset="-122"/>
                <a:ea typeface="微软雅黑" pitchFamily="34" charset="-122"/>
              </a:rPr>
              <a:t>应用层</a:t>
            </a:r>
            <a:r>
              <a:rPr lang="zh-CN" altLang="en-US" b="1" dirty="0" smtClean="0">
                <a:solidFill>
                  <a:srgbClr val="C00000"/>
                </a:solidFill>
                <a:latin typeface="微软雅黑" pitchFamily="34" charset="-122"/>
                <a:ea typeface="微软雅黑" pitchFamily="34" charset="-122"/>
              </a:rPr>
              <a:t>协议</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定义</a:t>
            </a:r>
            <a:r>
              <a:rPr lang="zh-CN" altLang="en-US" b="1" dirty="0">
                <a:latin typeface="微软雅黑" pitchFamily="34" charset="-122"/>
                <a:ea typeface="微软雅黑" pitchFamily="34" charset="-122"/>
              </a:rPr>
              <a:t>了</a:t>
            </a:r>
            <a:r>
              <a:rPr lang="zh-CN" altLang="en-US" b="1" dirty="0" smtClean="0">
                <a:latin typeface="微软雅黑" pitchFamily="34" charset="-122"/>
                <a:ea typeface="微软雅黑" pitchFamily="34" charset="-122"/>
              </a:rPr>
              <a:t>浏览器与万维网服务器通信的格式和规则。</a:t>
            </a:r>
            <a:endParaRPr lang="en-US" altLang="zh-CN" b="1" dirty="0" smtClean="0">
              <a:latin typeface="微软雅黑" pitchFamily="34" charset="-122"/>
              <a:ea typeface="微软雅黑" pitchFamily="34" charset="-122"/>
            </a:endParaRPr>
          </a:p>
          <a:p>
            <a:pPr marL="285750" indent="-28575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运行在 </a:t>
            </a:r>
            <a:r>
              <a:rPr lang="en-US" altLang="zh-CN" sz="2000" b="1" dirty="0">
                <a:solidFill>
                  <a:srgbClr val="C00000"/>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之上，是</a:t>
            </a:r>
            <a:r>
              <a:rPr lang="zh-CN" altLang="en-US" sz="2000" b="1" dirty="0">
                <a:latin typeface="微软雅黑" pitchFamily="34" charset="-122"/>
                <a:ea typeface="微软雅黑" pitchFamily="34" charset="-122"/>
              </a:rPr>
              <a:t>万维网</a:t>
            </a:r>
            <a:r>
              <a:rPr lang="zh-CN" altLang="en-US" sz="2000" b="1" dirty="0" smtClean="0">
                <a:latin typeface="微软雅黑" pitchFamily="34" charset="-122"/>
                <a:ea typeface="微软雅黑" pitchFamily="34" charset="-122"/>
              </a:rPr>
              <a:t>上</a:t>
            </a:r>
            <a:r>
              <a:rPr lang="zh-CN" altLang="en-US" sz="2000" b="1" dirty="0" smtClean="0">
                <a:solidFill>
                  <a:srgbClr val="C00000"/>
                </a:solidFill>
                <a:latin typeface="微软雅黑" pitchFamily="34" charset="-122"/>
                <a:ea typeface="微软雅黑" pitchFamily="34" charset="-122"/>
              </a:rPr>
              <a:t>可靠交换数据</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包括文本、声音、图像等各种多媒体文件）的重要基础</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2" name="矩形 1"/>
          <p:cNvSpPr/>
          <p:nvPr/>
        </p:nvSpPr>
        <p:spPr>
          <a:xfrm>
            <a:off x="1322774" y="3784019"/>
            <a:ext cx="6755906" cy="759182"/>
          </a:xfrm>
          <a:prstGeom prst="rect">
            <a:avLst/>
          </a:prstGeom>
        </p:spPr>
        <p:txBody>
          <a:bodyPr wrap="square">
            <a:spAutoFit/>
          </a:bodyPr>
          <a:lstStyle/>
          <a:p>
            <a:pPr eaLnBrk="0" hangingPunct="0">
              <a:lnSpc>
                <a:spcPts val="2600"/>
              </a:lnSpc>
              <a:buClr>
                <a:srgbClr val="0070C0"/>
              </a:buClr>
            </a:pPr>
            <a:r>
              <a:rPr lang="en-US" altLang="zh-CN" b="1" dirty="0" smtClean="0">
                <a:solidFill>
                  <a:schemeClr val="bg1"/>
                </a:solidFill>
                <a:latin typeface="微软雅黑" pitchFamily="34" charset="-122"/>
                <a:ea typeface="微软雅黑" pitchFamily="34" charset="-122"/>
              </a:rPr>
              <a:t>HTTP </a:t>
            </a:r>
            <a:r>
              <a:rPr lang="zh-CN" altLang="en-US" b="1" dirty="0" smtClean="0">
                <a:solidFill>
                  <a:schemeClr val="bg1"/>
                </a:solidFill>
                <a:latin typeface="微软雅黑" pitchFamily="34" charset="-122"/>
                <a:ea typeface="微软雅黑" pitchFamily="34" charset="-122"/>
              </a:rPr>
              <a:t>不仅</a:t>
            </a:r>
            <a:r>
              <a:rPr lang="zh-CN" altLang="en-US" b="1" dirty="0">
                <a:solidFill>
                  <a:schemeClr val="bg1"/>
                </a:solidFill>
                <a:latin typeface="微软雅黑" pitchFamily="34" charset="-122"/>
                <a:ea typeface="微软雅黑" pitchFamily="34" charset="-122"/>
              </a:rPr>
              <a:t>传送完成超文本跳转所必需的信息，而且也传送任何可从互联网上得到的信息，如文本、超文本、声音和图像等。</a:t>
            </a:r>
          </a:p>
        </p:txBody>
      </p:sp>
    </p:spTree>
    <p:custDataLst>
      <p:tags r:id="rId1"/>
    </p:custDataLst>
    <p:extLst>
      <p:ext uri="{BB962C8B-B14F-4D97-AF65-F5344CB8AC3E}">
        <p14:creationId xmlns:p14="http://schemas.microsoft.com/office/powerpoint/2010/main" val="26869526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xEl>
                                              <p:pRg st="1" end="1"/>
                                            </p:txEl>
                                          </p:spTgt>
                                        </p:tgtEl>
                                        <p:attrNameLst>
                                          <p:attrName>style.visibility</p:attrName>
                                        </p:attrNameLst>
                                      </p:cBhvr>
                                      <p:to>
                                        <p:strVal val="visible"/>
                                      </p:to>
                                    </p:set>
                                    <p:animEffect transition="in" filter="fade">
                                      <p:cBhvr>
                                        <p:cTn id="7" dur="500"/>
                                        <p:tgtEl>
                                          <p:spTgt spid="15">
                                            <p:txEl>
                                              <p:pRg st="1" end="1"/>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
                                            <p:txEl>
                                              <p:pRg st="2" end="2"/>
                                            </p:txEl>
                                          </p:spTgt>
                                        </p:tgtEl>
                                        <p:attrNameLst>
                                          <p:attrName>style.visibility</p:attrName>
                                        </p:attrNameLst>
                                      </p:cBhvr>
                                      <p:to>
                                        <p:strVal val="visible"/>
                                      </p:to>
                                    </p:set>
                                    <p:animEffect transition="in" filter="fade">
                                      <p:cBhvr>
                                        <p:cTn id="11" dur="500"/>
                                        <p:tgtEl>
                                          <p:spTgt spid="15">
                                            <p:txEl>
                                              <p:pRg st="2" end="2"/>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5">
                                            <p:txEl>
                                              <p:pRg st="3" end="3"/>
                                            </p:txEl>
                                          </p:spTgt>
                                        </p:tgtEl>
                                        <p:attrNameLst>
                                          <p:attrName>style.visibility</p:attrName>
                                        </p:attrNameLst>
                                      </p:cBhvr>
                                      <p:to>
                                        <p:strVal val="visible"/>
                                      </p:to>
                                    </p:set>
                                    <p:animEffect transition="in" filter="fade">
                                      <p:cBhvr>
                                        <p:cTn id="15" dur="500"/>
                                        <p:tgtEl>
                                          <p:spTgt spid="15">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5">
                                            <p:txEl>
                                              <p:pRg st="4" end="4"/>
                                            </p:txEl>
                                          </p:spTgt>
                                        </p:tgtEl>
                                        <p:attrNameLst>
                                          <p:attrName>style.visibility</p:attrName>
                                        </p:attrNameLst>
                                      </p:cBhvr>
                                      <p:to>
                                        <p:strVal val="visible"/>
                                      </p:to>
                                    </p:set>
                                    <p:animEffect transition="in" filter="fade">
                                      <p:cBhvr>
                                        <p:cTn id="20" dur="500"/>
                                        <p:tgtEl>
                                          <p:spTgt spid="15">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269939" y="583618"/>
            <a:ext cx="2622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smtClean="0">
                <a:solidFill>
                  <a:schemeClr val="bg1"/>
                </a:solidFill>
                <a:latin typeface="微软雅黑" pitchFamily="34" charset="-122"/>
                <a:ea typeface="微软雅黑" pitchFamily="34" charset="-122"/>
              </a:rPr>
              <a:t>万维网的工作过程</a:t>
            </a:r>
            <a:endParaRPr lang="zh-CN" altLang="en-US" sz="2000" b="1" dirty="0">
              <a:solidFill>
                <a:schemeClr val="bg1"/>
              </a:solidFill>
              <a:latin typeface="微软雅黑" pitchFamily="34" charset="-122"/>
              <a:ea typeface="微软雅黑" pitchFamily="34" charset="-122"/>
            </a:endParaRP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67456"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2186228"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6742049" y="1906021"/>
            <a:ext cx="723275" cy="10156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pic>
        <p:nvPicPr>
          <p:cNvPr id="16" name="图片 1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916149" y="1342814"/>
            <a:ext cx="808942" cy="1132519"/>
          </a:xfrm>
          <a:prstGeom prst="rect">
            <a:avLst/>
          </a:prstGeom>
        </p:spPr>
      </p:pic>
      <p:graphicFrame>
        <p:nvGraphicFramePr>
          <p:cNvPr id="17" name="Object 66"/>
          <p:cNvGraphicFramePr>
            <a:graphicFrameLocks noChangeAspect="1"/>
          </p:cNvGraphicFramePr>
          <p:nvPr>
            <p:extLst/>
          </p:nvPr>
        </p:nvGraphicFramePr>
        <p:xfrm>
          <a:off x="3478498" y="2050412"/>
          <a:ext cx="2148903" cy="873047"/>
        </p:xfrm>
        <a:graphic>
          <a:graphicData uri="http://schemas.openxmlformats.org/presentationml/2006/ole">
            <mc:AlternateContent xmlns:mc="http://schemas.openxmlformats.org/markup-compatibility/2006">
              <mc:Choice xmlns:v="urn:schemas-microsoft-com:vml" Requires="v">
                <p:oleObj spid="_x0000_s1049" name="VISIO" r:id="rId6" imgW="1687068" imgH="964692" progId="">
                  <p:embed/>
                </p:oleObj>
              </mc:Choice>
              <mc:Fallback>
                <p:oleObj name="VISIO" r:id="rId6" imgW="1687068" imgH="964692" progId="">
                  <p:embed/>
                  <p:pic>
                    <p:nvPicPr>
                      <p:cNvPr id="17" name="Object 6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78498"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8" name="Freeform 70"/>
          <p:cNvSpPr>
            <a:spLocks/>
          </p:cNvSpPr>
          <p:nvPr/>
        </p:nvSpPr>
        <p:spPr bwMode="auto">
          <a:xfrm>
            <a:off x="5374535"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19" name="Freeform 71"/>
          <p:cNvSpPr>
            <a:spLocks/>
          </p:cNvSpPr>
          <p:nvPr/>
        </p:nvSpPr>
        <p:spPr bwMode="auto">
          <a:xfrm>
            <a:off x="2436996"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0" name="Rectangle 72"/>
          <p:cNvSpPr>
            <a:spLocks noChangeArrowheads="1"/>
          </p:cNvSpPr>
          <p:nvPr/>
        </p:nvSpPr>
        <p:spPr bwMode="auto">
          <a:xfrm>
            <a:off x="4205471"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互联网</a:t>
            </a:r>
          </a:p>
        </p:txBody>
      </p:sp>
      <p:sp>
        <p:nvSpPr>
          <p:cNvPr id="21" name="Rectangle 73"/>
          <p:cNvSpPr>
            <a:spLocks noChangeArrowheads="1"/>
          </p:cNvSpPr>
          <p:nvPr/>
        </p:nvSpPr>
        <p:spPr bwMode="auto">
          <a:xfrm>
            <a:off x="5411168"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itchFamily="34" charset="-122"/>
                <a:ea typeface="微软雅黑" pitchFamily="34" charset="-122"/>
              </a:rPr>
              <a:t>服务器</a:t>
            </a:r>
          </a:p>
          <a:p>
            <a:pPr algn="ctr">
              <a:lnSpc>
                <a:spcPct val="80000"/>
              </a:lnSpc>
            </a:pPr>
            <a:r>
              <a:rPr kumimoji="1" lang="en-US" altLang="zh-CN" sz="1050" b="1" dirty="0">
                <a:latin typeface="微软雅黑" pitchFamily="34" charset="-122"/>
                <a:ea typeface="微软雅黑" pitchFamily="34" charset="-122"/>
              </a:rPr>
              <a:t>www.tsinghua.edu.cn</a:t>
            </a:r>
          </a:p>
        </p:txBody>
      </p:sp>
      <p:sp>
        <p:nvSpPr>
          <p:cNvPr id="22" name="Rectangle 74"/>
          <p:cNvSpPr>
            <a:spLocks noChangeArrowheads="1"/>
          </p:cNvSpPr>
          <p:nvPr/>
        </p:nvSpPr>
        <p:spPr bwMode="auto">
          <a:xfrm>
            <a:off x="3592402"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itchFamily="34" charset="-122"/>
                <a:ea typeface="微软雅黑" pitchFamily="34" charset="-122"/>
              </a:rPr>
              <a:t>链接到</a:t>
            </a:r>
            <a:r>
              <a:rPr kumimoji="1" lang="en-US" altLang="zh-CN" sz="1050" b="1" dirty="0" smtClean="0">
                <a:solidFill>
                  <a:srgbClr val="000099"/>
                </a:solidFill>
                <a:latin typeface="微软雅黑" pitchFamily="34" charset="-122"/>
                <a:ea typeface="微软雅黑" pitchFamily="34" charset="-122"/>
              </a:rPr>
              <a:t> URL </a:t>
            </a:r>
            <a:r>
              <a:rPr kumimoji="1" lang="zh-CN" altLang="en-US" sz="1050" b="1" dirty="0" smtClean="0">
                <a:solidFill>
                  <a:srgbClr val="000099"/>
                </a:solidFill>
                <a:latin typeface="微软雅黑" pitchFamily="34" charset="-122"/>
                <a:ea typeface="微软雅黑" pitchFamily="34" charset="-122"/>
              </a:rPr>
              <a:t>的</a:t>
            </a:r>
            <a:r>
              <a:rPr kumimoji="1" lang="zh-CN" altLang="en-US" sz="1050" b="1" dirty="0">
                <a:solidFill>
                  <a:srgbClr val="000099"/>
                </a:solidFill>
                <a:latin typeface="微软雅黑" pitchFamily="34" charset="-122"/>
                <a:ea typeface="微软雅黑" pitchFamily="34" charset="-122"/>
              </a:rPr>
              <a:t>超链</a:t>
            </a:r>
          </a:p>
        </p:txBody>
      </p:sp>
      <p:sp>
        <p:nvSpPr>
          <p:cNvPr id="23" name="Rectangle 75"/>
          <p:cNvSpPr>
            <a:spLocks noChangeArrowheads="1"/>
          </p:cNvSpPr>
          <p:nvPr/>
        </p:nvSpPr>
        <p:spPr bwMode="auto">
          <a:xfrm>
            <a:off x="3785483"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使用此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sp>
        <p:nvSpPr>
          <p:cNvPr id="24" name="Rectangle 76"/>
          <p:cNvSpPr>
            <a:spLocks noChangeArrowheads="1"/>
          </p:cNvSpPr>
          <p:nvPr/>
        </p:nvSpPr>
        <p:spPr bwMode="auto">
          <a:xfrm>
            <a:off x="2877471"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浏览器</a:t>
            </a:r>
          </a:p>
          <a:p>
            <a:pPr>
              <a:lnSpc>
                <a:spcPct val="90000"/>
              </a:lnSpc>
            </a:pPr>
            <a:r>
              <a:rPr kumimoji="1" lang="zh-CN" altLang="en-US" sz="1050" b="1" dirty="0">
                <a:solidFill>
                  <a:srgbClr val="000099"/>
                </a:solidFill>
                <a:latin typeface="微软雅黑" pitchFamily="34" charset="-122"/>
                <a:ea typeface="微软雅黑" pitchFamily="34" charset="-122"/>
              </a:rPr>
              <a:t> 程序</a:t>
            </a:r>
          </a:p>
        </p:txBody>
      </p:sp>
      <p:sp>
        <p:nvSpPr>
          <p:cNvPr id="25" name="Rectangle 77"/>
          <p:cNvSpPr>
            <a:spLocks noChangeArrowheads="1"/>
          </p:cNvSpPr>
          <p:nvPr/>
        </p:nvSpPr>
        <p:spPr bwMode="auto">
          <a:xfrm>
            <a:off x="4626444"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itchFamily="34" charset="-122"/>
                <a:ea typeface="微软雅黑" pitchFamily="34" charset="-122"/>
              </a:rPr>
              <a:t>服务器程序</a:t>
            </a:r>
            <a:endParaRPr kumimoji="1" lang="en-US" altLang="zh-CN" sz="1050" b="1" dirty="0" smtClean="0">
              <a:solidFill>
                <a:srgbClr val="000099"/>
              </a:solidFill>
              <a:latin typeface="微软雅黑" pitchFamily="34" charset="-122"/>
              <a:ea typeface="微软雅黑" pitchFamily="34" charset="-122"/>
            </a:endParaRPr>
          </a:p>
          <a:p>
            <a:pPr>
              <a:lnSpc>
                <a:spcPct val="90000"/>
              </a:lnSpc>
            </a:pPr>
            <a:r>
              <a:rPr kumimoji="1" lang="zh-CN" altLang="en-US" sz="1050" b="1" dirty="0">
                <a:solidFill>
                  <a:srgbClr val="000099"/>
                </a:solidFill>
                <a:latin typeface="微软雅黑" pitchFamily="34" charset="-122"/>
                <a:ea typeface="微软雅黑" pitchFamily="34" charset="-122"/>
              </a:rPr>
              <a:t>监听</a:t>
            </a:r>
            <a:r>
              <a:rPr kumimoji="1" lang="en-US" altLang="zh-CN" sz="1050" b="1" dirty="0" smtClean="0">
                <a:solidFill>
                  <a:srgbClr val="000099"/>
                </a:solidFill>
                <a:latin typeface="微软雅黑" pitchFamily="34" charset="-122"/>
                <a:ea typeface="微软雅黑" pitchFamily="34" charset="-122"/>
              </a:rPr>
              <a:t>TCP </a:t>
            </a:r>
            <a:r>
              <a:rPr kumimoji="1" lang="zh-CN" altLang="en-US" sz="1050" b="1" dirty="0" smtClean="0">
                <a:solidFill>
                  <a:srgbClr val="000099"/>
                </a:solidFill>
                <a:latin typeface="微软雅黑" pitchFamily="34" charset="-122"/>
                <a:ea typeface="微软雅黑" pitchFamily="34" charset="-122"/>
              </a:rPr>
              <a:t>端口</a:t>
            </a:r>
            <a:r>
              <a:rPr kumimoji="1" lang="en-US" altLang="zh-CN" sz="1050" b="1" dirty="0">
                <a:solidFill>
                  <a:srgbClr val="000099"/>
                </a:solidFill>
                <a:latin typeface="微软雅黑" pitchFamily="34" charset="-122"/>
                <a:ea typeface="微软雅黑" pitchFamily="34" charset="-122"/>
              </a:rPr>
              <a:t>80</a:t>
            </a:r>
            <a:endParaRPr kumimoji="1" lang="zh-CN" altLang="en-US" sz="1050" b="1" dirty="0">
              <a:solidFill>
                <a:srgbClr val="000099"/>
              </a:solidFill>
              <a:latin typeface="微软雅黑" pitchFamily="34" charset="-122"/>
              <a:ea typeface="微软雅黑" pitchFamily="34" charset="-122"/>
            </a:endParaRPr>
          </a:p>
        </p:txBody>
      </p:sp>
      <p:sp>
        <p:nvSpPr>
          <p:cNvPr id="26" name="Rectangle 78"/>
          <p:cNvSpPr>
            <a:spLocks noChangeArrowheads="1"/>
          </p:cNvSpPr>
          <p:nvPr/>
        </p:nvSpPr>
        <p:spPr bwMode="auto">
          <a:xfrm>
            <a:off x="3803474"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itchFamily="34" charset="-122"/>
                <a:ea typeface="微软雅黑" pitchFamily="34" charset="-122"/>
              </a:rPr>
              <a:t>HTTP</a:t>
            </a:r>
          </a:p>
        </p:txBody>
      </p:sp>
      <p:sp>
        <p:nvSpPr>
          <p:cNvPr id="27" name="Rectangle 79"/>
          <p:cNvSpPr>
            <a:spLocks noChangeArrowheads="1"/>
          </p:cNvSpPr>
          <p:nvPr/>
        </p:nvSpPr>
        <p:spPr bwMode="auto">
          <a:xfrm>
            <a:off x="2852104"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itchFamily="34" charset="-122"/>
                <a:ea typeface="微软雅黑" pitchFamily="34" charset="-122"/>
              </a:rPr>
              <a:t>客户</a:t>
            </a:r>
          </a:p>
        </p:txBody>
      </p:sp>
      <p:sp>
        <p:nvSpPr>
          <p:cNvPr id="28" name="Freeform 81"/>
          <p:cNvSpPr>
            <a:spLocks/>
          </p:cNvSpPr>
          <p:nvPr/>
        </p:nvSpPr>
        <p:spPr bwMode="auto">
          <a:xfrm>
            <a:off x="2897353"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9" name="Rectangle 82"/>
          <p:cNvSpPr>
            <a:spLocks noChangeArrowheads="1"/>
          </p:cNvSpPr>
          <p:nvPr/>
        </p:nvSpPr>
        <p:spPr bwMode="auto">
          <a:xfrm>
            <a:off x="2138861"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清华大学</a:t>
            </a:r>
          </a:p>
          <a:p>
            <a:r>
              <a:rPr kumimoji="1" lang="zh-CN" altLang="en-US" sz="1050" b="1" dirty="0">
                <a:latin typeface="微软雅黑" pitchFamily="34" charset="-122"/>
                <a:ea typeface="微软雅黑" pitchFamily="34" charset="-122"/>
              </a:rPr>
              <a:t>院系设置</a:t>
            </a:r>
          </a:p>
        </p:txBody>
      </p:sp>
      <p:sp>
        <p:nvSpPr>
          <p:cNvPr id="30" name="Line 83"/>
          <p:cNvSpPr>
            <a:spLocks noChangeShapeType="1"/>
          </p:cNvSpPr>
          <p:nvPr/>
        </p:nvSpPr>
        <p:spPr bwMode="auto">
          <a:xfrm>
            <a:off x="2186229" y="1950360"/>
            <a:ext cx="665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1" name="Oval 84"/>
          <p:cNvSpPr>
            <a:spLocks noChangeArrowheads="1"/>
          </p:cNvSpPr>
          <p:nvPr/>
        </p:nvSpPr>
        <p:spPr bwMode="auto">
          <a:xfrm>
            <a:off x="2353708" y="1978958"/>
            <a:ext cx="331829" cy="130220"/>
          </a:xfrm>
          <a:prstGeom prst="ellipse">
            <a:avLst/>
          </a:prstGeom>
          <a:solidFill>
            <a:srgbClr val="00FFCC"/>
          </a:solidFill>
          <a:ln w="12700">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2" name="Line 85"/>
          <p:cNvSpPr>
            <a:spLocks noChangeShapeType="1"/>
          </p:cNvSpPr>
          <p:nvPr/>
        </p:nvSpPr>
        <p:spPr bwMode="auto">
          <a:xfrm>
            <a:off x="5752623" y="1871871"/>
            <a:ext cx="284805"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3" name="Line 86"/>
          <p:cNvSpPr>
            <a:spLocks noChangeShapeType="1"/>
          </p:cNvSpPr>
          <p:nvPr/>
        </p:nvSpPr>
        <p:spPr bwMode="auto">
          <a:xfrm flipH="1">
            <a:off x="2629236" y="1871870"/>
            <a:ext cx="306600"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4" name="Oval 87"/>
          <p:cNvSpPr>
            <a:spLocks noChangeArrowheads="1"/>
          </p:cNvSpPr>
          <p:nvPr/>
        </p:nvSpPr>
        <p:spPr bwMode="auto">
          <a:xfrm>
            <a:off x="5989516" y="1959503"/>
            <a:ext cx="332716" cy="130220"/>
          </a:xfrm>
          <a:prstGeom prst="ellipse">
            <a:avLst/>
          </a:prstGeom>
          <a:solidFill>
            <a:srgbClr val="00FFCC"/>
          </a:solidFill>
          <a:ln w="12700">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5" name="Freeform 88"/>
          <p:cNvSpPr>
            <a:spLocks/>
          </p:cNvSpPr>
          <p:nvPr/>
        </p:nvSpPr>
        <p:spPr bwMode="auto">
          <a:xfrm>
            <a:off x="2579668"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6" name="Line 89"/>
          <p:cNvSpPr>
            <a:spLocks noChangeShapeType="1"/>
          </p:cNvSpPr>
          <p:nvPr/>
        </p:nvSpPr>
        <p:spPr bwMode="auto">
          <a:xfrm flipV="1">
            <a:off x="2685536"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7" name="Line 90"/>
          <p:cNvSpPr>
            <a:spLocks noChangeShapeType="1"/>
          </p:cNvSpPr>
          <p:nvPr/>
        </p:nvSpPr>
        <p:spPr bwMode="auto">
          <a:xfrm rot="16200000" flipH="1">
            <a:off x="6268111" y="2054438"/>
            <a:ext cx="149057" cy="108244"/>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8" name="Freeform 91"/>
          <p:cNvSpPr>
            <a:spLocks/>
          </p:cNvSpPr>
          <p:nvPr/>
        </p:nvSpPr>
        <p:spPr bwMode="auto">
          <a:xfrm rot="216073">
            <a:off x="2782982"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9" name="Line 92"/>
          <p:cNvSpPr>
            <a:spLocks noChangeShapeType="1"/>
          </p:cNvSpPr>
          <p:nvPr/>
        </p:nvSpPr>
        <p:spPr bwMode="auto">
          <a:xfrm>
            <a:off x="3087223"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0" name="Line 93"/>
          <p:cNvSpPr>
            <a:spLocks noChangeShapeType="1"/>
          </p:cNvSpPr>
          <p:nvPr/>
        </p:nvSpPr>
        <p:spPr bwMode="auto">
          <a:xfrm>
            <a:off x="5961891"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1" name="Group 116"/>
          <p:cNvGrpSpPr>
            <a:grpSpLocks/>
          </p:cNvGrpSpPr>
          <p:nvPr/>
        </p:nvGrpSpPr>
        <p:grpSpPr bwMode="auto">
          <a:xfrm>
            <a:off x="3087223"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建立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sp>
        <p:nvSpPr>
          <p:cNvPr id="44" name="Line 108"/>
          <p:cNvSpPr>
            <a:spLocks noChangeShapeType="1"/>
          </p:cNvSpPr>
          <p:nvPr/>
        </p:nvSpPr>
        <p:spPr bwMode="auto">
          <a:xfrm>
            <a:off x="6544941" y="2237276"/>
            <a:ext cx="289241" cy="82718"/>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5" name="AutoShape 111"/>
          <p:cNvSpPr>
            <a:spLocks noChangeArrowheads="1"/>
          </p:cNvSpPr>
          <p:nvPr/>
        </p:nvSpPr>
        <p:spPr bwMode="auto">
          <a:xfrm>
            <a:off x="6233509" y="2151967"/>
            <a:ext cx="332716" cy="130220"/>
          </a:xfrm>
          <a:prstGeom prst="can">
            <a:avLst>
              <a:gd name="adj" fmla="val 39583"/>
            </a:avLst>
          </a:prstGeom>
          <a:solidFill>
            <a:srgbClr val="FF00FF"/>
          </a:solidFill>
          <a:ln w="9525">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grpSp>
        <p:nvGrpSpPr>
          <p:cNvPr id="46" name="Group 117"/>
          <p:cNvGrpSpPr>
            <a:grpSpLocks/>
          </p:cNvGrpSpPr>
          <p:nvPr/>
        </p:nvGrpSpPr>
        <p:grpSpPr bwMode="auto">
          <a:xfrm>
            <a:off x="2349926"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8" name="Group 95"/>
            <p:cNvGrpSpPr>
              <a:grpSpLocks/>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请求报文</a:t>
                </a: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浏览器</a:t>
              </a:r>
              <a:endParaRPr kumimoji="1" lang="en-US" altLang="zh-CN" sz="1050" b="1" dirty="0" smtClean="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发出</a:t>
              </a:r>
              <a:r>
                <a:rPr kumimoji="1" lang="zh-CN" altLang="en-US" sz="1050" b="1" dirty="0" smtClean="0">
                  <a:solidFill>
                    <a:srgbClr val="000099"/>
                  </a:solidFill>
                  <a:latin typeface="微软雅黑" pitchFamily="34" charset="-122"/>
                  <a:ea typeface="微软雅黑" pitchFamily="34" charset="-122"/>
                </a:rPr>
                <a:t>请求</a:t>
              </a:r>
              <a:endParaRPr kumimoji="1" lang="zh-CN" altLang="en-US" sz="1050" b="1" dirty="0">
                <a:solidFill>
                  <a:srgbClr val="000099"/>
                </a:solidFill>
                <a:latin typeface="微软雅黑" pitchFamily="34" charset="-122"/>
                <a:ea typeface="微软雅黑" pitchFamily="34" charset="-122"/>
              </a:endParaRPr>
            </a:p>
          </p:txBody>
        </p:sp>
      </p:grpSp>
      <p:grpSp>
        <p:nvGrpSpPr>
          <p:cNvPr id="52" name="Group 120"/>
          <p:cNvGrpSpPr>
            <a:grpSpLocks/>
          </p:cNvGrpSpPr>
          <p:nvPr/>
        </p:nvGrpSpPr>
        <p:grpSpPr bwMode="auto">
          <a:xfrm>
            <a:off x="3087223"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释放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grpSp>
        <p:nvGrpSpPr>
          <p:cNvPr id="55" name="组合 54"/>
          <p:cNvGrpSpPr/>
          <p:nvPr/>
        </p:nvGrpSpPr>
        <p:grpSpPr>
          <a:xfrm>
            <a:off x="3099929"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服务器</a:t>
              </a:r>
              <a:endParaRPr kumimoji="1" lang="en-US" altLang="zh-CN" sz="1050" b="1" dirty="0" smtClean="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返回</a:t>
              </a:r>
              <a:r>
                <a:rPr kumimoji="1" lang="zh-CN" altLang="en-US" sz="1050" b="1" dirty="0" smtClean="0">
                  <a:solidFill>
                    <a:srgbClr val="000099"/>
                  </a:solidFill>
                  <a:latin typeface="微软雅黑" pitchFamily="34" charset="-122"/>
                  <a:ea typeface="微软雅黑" pitchFamily="34" charset="-122"/>
                </a:rPr>
                <a:t>响应</a:t>
              </a:r>
              <a:endParaRPr kumimoji="1" lang="zh-CN" altLang="en-US" sz="1050" b="1" dirty="0">
                <a:solidFill>
                  <a:srgbClr val="000099"/>
                </a:solidFill>
                <a:latin typeface="微软雅黑" pitchFamily="34" charset="-122"/>
                <a:ea typeface="微软雅黑"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itchFamily="34" charset="-122"/>
                  <a:ea typeface="微软雅黑" pitchFamily="34" charset="-122"/>
                  <a:sym typeface="Wingdings" pitchFamily="2" charset="2"/>
                </a:rPr>
                <a:t></a:t>
              </a:r>
              <a:endParaRPr lang="zh-CN" altLang="en-US" sz="4000" dirty="0">
                <a:solidFill>
                  <a:srgbClr val="009900"/>
                </a:solidFill>
                <a:latin typeface="微软雅黑" pitchFamily="34" charset="-122"/>
                <a:ea typeface="微软雅黑" pitchFamily="34" charset="-122"/>
              </a:endParaRPr>
            </a:p>
          </p:txBody>
        </p:sp>
        <p:grpSp>
          <p:nvGrpSpPr>
            <p:cNvPr id="60" name="Group 99"/>
            <p:cNvGrpSpPr>
              <a:grpSpLocks/>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响应报文</a:t>
                </a:r>
              </a:p>
            </p:txBody>
          </p:sp>
        </p:grpSp>
      </p:grpSp>
    </p:spTree>
    <p:extLst>
      <p:ext uri="{BB962C8B-B14F-4D97-AF65-F5344CB8AC3E}">
        <p14:creationId xmlns:p14="http://schemas.microsoft.com/office/powerpoint/2010/main" val="15592958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500" fill="hold"/>
                                        <p:tgtEl>
                                          <p:spTgt spid="41"/>
                                        </p:tgtEl>
                                        <p:attrNameLst>
                                          <p:attrName>style.visibility</p:attrName>
                                        </p:attrNameLst>
                                      </p:cBhvr>
                                      <p:tavLst>
                                        <p:tav tm="0">
                                          <p:val>
                                            <p:strVal val="hidden"/>
                                          </p:val>
                                        </p:tav>
                                        <p:tav tm="50000">
                                          <p:val>
                                            <p:strVal val="visible"/>
                                          </p:val>
                                        </p:tav>
                                      </p:tavLst>
                                    </p:anim>
                                  </p:childTnLst>
                                </p:cTn>
                              </p:par>
                            </p:childTnLst>
                          </p:cTn>
                        </p:par>
                        <p:par>
                          <p:cTn id="7" fill="hold">
                            <p:stCondLst>
                              <p:cond delay="2000"/>
                            </p:stCondLst>
                            <p:childTnLst>
                              <p:par>
                                <p:cTn id="8" presetID="22" presetClass="entr" presetSubtype="8" fill="hold" nodeType="afterEffect">
                                  <p:stCondLst>
                                    <p:cond delay="500"/>
                                  </p:stCondLst>
                                  <p:childTnLst>
                                    <p:set>
                                      <p:cBhvr>
                                        <p:cTn id="9" dur="1" fill="hold">
                                          <p:stCondLst>
                                            <p:cond delay="0"/>
                                          </p:stCondLst>
                                        </p:cTn>
                                        <p:tgtEl>
                                          <p:spTgt spid="46"/>
                                        </p:tgtEl>
                                        <p:attrNameLst>
                                          <p:attrName>style.visibility</p:attrName>
                                        </p:attrNameLst>
                                      </p:cBhvr>
                                      <p:to>
                                        <p:strVal val="visible"/>
                                      </p:to>
                                    </p:set>
                                    <p:animEffect transition="in" filter="wipe(left)">
                                      <p:cBhvr>
                                        <p:cTn id="10" dur="2000"/>
                                        <p:tgtEl>
                                          <p:spTgt spid="46"/>
                                        </p:tgtEl>
                                      </p:cBhvr>
                                    </p:animEffect>
                                  </p:childTnLst>
                                </p:cTn>
                              </p:par>
                            </p:childTnLst>
                          </p:cTn>
                        </p:par>
                        <p:par>
                          <p:cTn id="11" fill="hold">
                            <p:stCondLst>
                              <p:cond delay="4500"/>
                            </p:stCondLst>
                            <p:childTnLst>
                              <p:par>
                                <p:cTn id="12" presetID="22" presetClass="entr" presetSubtype="2"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right)">
                                      <p:cBhvr>
                                        <p:cTn id="14" dur="2000"/>
                                        <p:tgtEl>
                                          <p:spTgt spid="55"/>
                                        </p:tgtEl>
                                      </p:cBhvr>
                                    </p:animEffect>
                                  </p:childTnLst>
                                </p:cTn>
                              </p:par>
                            </p:childTnLst>
                          </p:cTn>
                        </p:par>
                        <p:par>
                          <p:cTn id="15" fill="hold">
                            <p:stCondLst>
                              <p:cond delay="6500"/>
                            </p:stCondLst>
                            <p:childTnLst>
                              <p:par>
                                <p:cTn id="16" presetID="1" presetClass="entr" presetSubtype="0" fill="hold" nodeType="afterEffect">
                                  <p:stCondLst>
                                    <p:cond delay="500"/>
                                  </p:stCondLst>
                                  <p:childTnLst>
                                    <p:set>
                                      <p:cBhvr>
                                        <p:cTn id="17" dur="1" fill="hold">
                                          <p:stCondLst>
                                            <p:cond delay="0"/>
                                          </p:stCondLst>
                                        </p:cTn>
                                        <p:tgtEl>
                                          <p:spTgt spid="52"/>
                                        </p:tgtEl>
                                        <p:attrNameLst>
                                          <p:attrName>style.visibility</p:attrName>
                                        </p:attrNameLst>
                                      </p:cBhvr>
                                      <p:to>
                                        <p:strVal val="visible"/>
                                      </p:to>
                                    </p:set>
                                  </p:childTnLst>
                                </p:cTn>
                              </p:par>
                            </p:childTnLst>
                          </p:cTn>
                        </p:par>
                        <p:par>
                          <p:cTn id="18" fill="hold">
                            <p:stCondLst>
                              <p:cond delay="7000"/>
                            </p:stCondLst>
                            <p:childTnLst>
                              <p:par>
                                <p:cTn id="19" presetID="35" presetClass="emph" presetSubtype="0" repeatCount="3000" fill="hold" nodeType="afterEffect">
                                  <p:stCondLst>
                                    <p:cond delay="0"/>
                                  </p:stCondLst>
                                  <p:childTnLst>
                                    <p:anim calcmode="discrete" valueType="str">
                                      <p:cBhvr>
                                        <p:cTn id="20" dur="5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HTTP </a:t>
            </a:r>
            <a:r>
              <a:rPr lang="zh-CN" altLang="en-US" sz="2000" b="1" dirty="0">
                <a:solidFill>
                  <a:schemeClr val="bg1"/>
                </a:solidFill>
                <a:latin typeface="微软雅黑" pitchFamily="34" charset="-122"/>
                <a:ea typeface="微软雅黑" pitchFamily="34" charset="-122"/>
              </a:rPr>
              <a:t>的操作过程</a:t>
            </a: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6827"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925599"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5481420" y="1906021"/>
            <a:ext cx="723275" cy="10156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pic>
        <p:nvPicPr>
          <p:cNvPr id="16" name="图片 1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655520" y="1342814"/>
            <a:ext cx="808942" cy="1132519"/>
          </a:xfrm>
          <a:prstGeom prst="rect">
            <a:avLst/>
          </a:prstGeom>
        </p:spPr>
      </p:pic>
      <p:graphicFrame>
        <p:nvGraphicFramePr>
          <p:cNvPr id="17" name="Object 66"/>
          <p:cNvGraphicFramePr>
            <a:graphicFrameLocks noChangeAspect="1"/>
          </p:cNvGraphicFramePr>
          <p:nvPr>
            <p:extLst/>
          </p:nvPr>
        </p:nvGraphicFramePr>
        <p:xfrm>
          <a:off x="2217869" y="2050412"/>
          <a:ext cx="2148903" cy="873047"/>
        </p:xfrm>
        <a:graphic>
          <a:graphicData uri="http://schemas.openxmlformats.org/presentationml/2006/ole">
            <mc:AlternateContent xmlns:mc="http://schemas.openxmlformats.org/markup-compatibility/2006">
              <mc:Choice xmlns:v="urn:schemas-microsoft-com:vml" Requires="v">
                <p:oleObj spid="_x0000_s2073" name="VISIO" r:id="rId6" imgW="1687068" imgH="964692" progId="">
                  <p:embed/>
                </p:oleObj>
              </mc:Choice>
              <mc:Fallback>
                <p:oleObj name="VISIO" r:id="rId6" imgW="1687068" imgH="964692" progId="">
                  <p:embed/>
                  <p:pic>
                    <p:nvPicPr>
                      <p:cNvPr id="17" name="Object 6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17869"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8" name="Freeform 70"/>
          <p:cNvSpPr>
            <a:spLocks/>
          </p:cNvSpPr>
          <p:nvPr/>
        </p:nvSpPr>
        <p:spPr bwMode="auto">
          <a:xfrm>
            <a:off x="4113906"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19" name="Freeform 71"/>
          <p:cNvSpPr>
            <a:spLocks/>
          </p:cNvSpPr>
          <p:nvPr/>
        </p:nvSpPr>
        <p:spPr bwMode="auto">
          <a:xfrm>
            <a:off x="1176367"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0" name="Rectangle 72"/>
          <p:cNvSpPr>
            <a:spLocks noChangeArrowheads="1"/>
          </p:cNvSpPr>
          <p:nvPr/>
        </p:nvSpPr>
        <p:spPr bwMode="auto">
          <a:xfrm>
            <a:off x="2944842"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互联网</a:t>
            </a:r>
          </a:p>
        </p:txBody>
      </p:sp>
      <p:sp>
        <p:nvSpPr>
          <p:cNvPr id="21" name="Rectangle 73"/>
          <p:cNvSpPr>
            <a:spLocks noChangeArrowheads="1"/>
          </p:cNvSpPr>
          <p:nvPr/>
        </p:nvSpPr>
        <p:spPr bwMode="auto">
          <a:xfrm>
            <a:off x="4150539"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itchFamily="34" charset="-122"/>
                <a:ea typeface="微软雅黑" pitchFamily="34" charset="-122"/>
              </a:rPr>
              <a:t>服务器</a:t>
            </a:r>
          </a:p>
          <a:p>
            <a:pPr algn="ctr">
              <a:lnSpc>
                <a:spcPct val="80000"/>
              </a:lnSpc>
            </a:pPr>
            <a:r>
              <a:rPr kumimoji="1" lang="en-US" altLang="zh-CN" sz="1050" b="1" dirty="0">
                <a:latin typeface="微软雅黑" pitchFamily="34" charset="-122"/>
                <a:ea typeface="微软雅黑" pitchFamily="34" charset="-122"/>
              </a:rPr>
              <a:t>www.tsinghua.edu.cn</a:t>
            </a:r>
          </a:p>
        </p:txBody>
      </p:sp>
      <p:sp>
        <p:nvSpPr>
          <p:cNvPr id="22" name="Rectangle 74"/>
          <p:cNvSpPr>
            <a:spLocks noChangeArrowheads="1"/>
          </p:cNvSpPr>
          <p:nvPr/>
        </p:nvSpPr>
        <p:spPr bwMode="auto">
          <a:xfrm>
            <a:off x="2331773"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itchFamily="34" charset="-122"/>
                <a:ea typeface="微软雅黑" pitchFamily="34" charset="-122"/>
              </a:rPr>
              <a:t>链接到</a:t>
            </a:r>
            <a:r>
              <a:rPr kumimoji="1" lang="en-US" altLang="zh-CN" sz="1050" b="1" dirty="0" smtClean="0">
                <a:solidFill>
                  <a:srgbClr val="000099"/>
                </a:solidFill>
                <a:latin typeface="微软雅黑" pitchFamily="34" charset="-122"/>
                <a:ea typeface="微软雅黑" pitchFamily="34" charset="-122"/>
              </a:rPr>
              <a:t> URL </a:t>
            </a:r>
            <a:r>
              <a:rPr kumimoji="1" lang="zh-CN" altLang="en-US" sz="1050" b="1" dirty="0" smtClean="0">
                <a:solidFill>
                  <a:srgbClr val="000099"/>
                </a:solidFill>
                <a:latin typeface="微软雅黑" pitchFamily="34" charset="-122"/>
                <a:ea typeface="微软雅黑" pitchFamily="34" charset="-122"/>
              </a:rPr>
              <a:t>的</a:t>
            </a:r>
            <a:r>
              <a:rPr kumimoji="1" lang="zh-CN" altLang="en-US" sz="1050" b="1" dirty="0">
                <a:solidFill>
                  <a:srgbClr val="000099"/>
                </a:solidFill>
                <a:latin typeface="微软雅黑" pitchFamily="34" charset="-122"/>
                <a:ea typeface="微软雅黑" pitchFamily="34" charset="-122"/>
              </a:rPr>
              <a:t>超链</a:t>
            </a:r>
          </a:p>
        </p:txBody>
      </p:sp>
      <p:sp>
        <p:nvSpPr>
          <p:cNvPr id="23" name="Rectangle 75"/>
          <p:cNvSpPr>
            <a:spLocks noChangeArrowheads="1"/>
          </p:cNvSpPr>
          <p:nvPr/>
        </p:nvSpPr>
        <p:spPr bwMode="auto">
          <a:xfrm>
            <a:off x="2524854"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使用此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sp>
        <p:nvSpPr>
          <p:cNvPr id="24" name="Rectangle 76"/>
          <p:cNvSpPr>
            <a:spLocks noChangeArrowheads="1"/>
          </p:cNvSpPr>
          <p:nvPr/>
        </p:nvSpPr>
        <p:spPr bwMode="auto">
          <a:xfrm>
            <a:off x="1616842"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浏览器</a:t>
            </a:r>
          </a:p>
          <a:p>
            <a:pPr>
              <a:lnSpc>
                <a:spcPct val="90000"/>
              </a:lnSpc>
            </a:pPr>
            <a:r>
              <a:rPr kumimoji="1" lang="zh-CN" altLang="en-US" sz="1050" b="1" dirty="0">
                <a:solidFill>
                  <a:srgbClr val="000099"/>
                </a:solidFill>
                <a:latin typeface="微软雅黑" pitchFamily="34" charset="-122"/>
                <a:ea typeface="微软雅黑" pitchFamily="34" charset="-122"/>
              </a:rPr>
              <a:t> 程序</a:t>
            </a:r>
          </a:p>
        </p:txBody>
      </p:sp>
      <p:sp>
        <p:nvSpPr>
          <p:cNvPr id="25" name="Rectangle 77"/>
          <p:cNvSpPr>
            <a:spLocks noChangeArrowheads="1"/>
          </p:cNvSpPr>
          <p:nvPr/>
        </p:nvSpPr>
        <p:spPr bwMode="auto">
          <a:xfrm>
            <a:off x="3365815"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itchFamily="34" charset="-122"/>
                <a:ea typeface="微软雅黑" pitchFamily="34" charset="-122"/>
              </a:rPr>
              <a:t>服务器程序</a:t>
            </a:r>
            <a:endParaRPr kumimoji="1" lang="en-US" altLang="zh-CN" sz="1050" b="1" dirty="0" smtClean="0">
              <a:solidFill>
                <a:srgbClr val="000099"/>
              </a:solidFill>
              <a:latin typeface="微软雅黑" pitchFamily="34" charset="-122"/>
              <a:ea typeface="微软雅黑" pitchFamily="34" charset="-122"/>
            </a:endParaRPr>
          </a:p>
          <a:p>
            <a:pPr>
              <a:lnSpc>
                <a:spcPct val="90000"/>
              </a:lnSpc>
            </a:pPr>
            <a:r>
              <a:rPr kumimoji="1" lang="zh-CN" altLang="en-US" sz="1050" b="1" dirty="0">
                <a:solidFill>
                  <a:srgbClr val="000099"/>
                </a:solidFill>
                <a:latin typeface="微软雅黑" pitchFamily="34" charset="-122"/>
                <a:ea typeface="微软雅黑" pitchFamily="34" charset="-122"/>
              </a:rPr>
              <a:t>监听</a:t>
            </a:r>
            <a:r>
              <a:rPr kumimoji="1" lang="en-US" altLang="zh-CN" sz="1050" b="1" dirty="0" smtClean="0">
                <a:solidFill>
                  <a:srgbClr val="000099"/>
                </a:solidFill>
                <a:latin typeface="微软雅黑" pitchFamily="34" charset="-122"/>
                <a:ea typeface="微软雅黑" pitchFamily="34" charset="-122"/>
              </a:rPr>
              <a:t>TCP </a:t>
            </a:r>
            <a:r>
              <a:rPr kumimoji="1" lang="zh-CN" altLang="en-US" sz="1050" b="1" dirty="0" smtClean="0">
                <a:solidFill>
                  <a:srgbClr val="000099"/>
                </a:solidFill>
                <a:latin typeface="微软雅黑" pitchFamily="34" charset="-122"/>
                <a:ea typeface="微软雅黑" pitchFamily="34" charset="-122"/>
              </a:rPr>
              <a:t>端口</a:t>
            </a:r>
            <a:r>
              <a:rPr kumimoji="1" lang="en-US" altLang="zh-CN" sz="1050" b="1" dirty="0">
                <a:solidFill>
                  <a:srgbClr val="000099"/>
                </a:solidFill>
                <a:latin typeface="微软雅黑" pitchFamily="34" charset="-122"/>
                <a:ea typeface="微软雅黑" pitchFamily="34" charset="-122"/>
              </a:rPr>
              <a:t>80</a:t>
            </a:r>
            <a:endParaRPr kumimoji="1" lang="zh-CN" altLang="en-US" sz="1050" b="1" dirty="0">
              <a:solidFill>
                <a:srgbClr val="000099"/>
              </a:solidFill>
              <a:latin typeface="微软雅黑" pitchFamily="34" charset="-122"/>
              <a:ea typeface="微软雅黑" pitchFamily="34" charset="-122"/>
            </a:endParaRPr>
          </a:p>
        </p:txBody>
      </p:sp>
      <p:sp>
        <p:nvSpPr>
          <p:cNvPr id="26" name="Rectangle 78"/>
          <p:cNvSpPr>
            <a:spLocks noChangeArrowheads="1"/>
          </p:cNvSpPr>
          <p:nvPr/>
        </p:nvSpPr>
        <p:spPr bwMode="auto">
          <a:xfrm>
            <a:off x="2542845"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itchFamily="34" charset="-122"/>
                <a:ea typeface="微软雅黑" pitchFamily="34" charset="-122"/>
              </a:rPr>
              <a:t>HTTP</a:t>
            </a:r>
          </a:p>
        </p:txBody>
      </p:sp>
      <p:sp>
        <p:nvSpPr>
          <p:cNvPr id="27" name="Rectangle 79"/>
          <p:cNvSpPr>
            <a:spLocks noChangeArrowheads="1"/>
          </p:cNvSpPr>
          <p:nvPr/>
        </p:nvSpPr>
        <p:spPr bwMode="auto">
          <a:xfrm>
            <a:off x="1591475"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itchFamily="34" charset="-122"/>
                <a:ea typeface="微软雅黑" pitchFamily="34" charset="-122"/>
              </a:rPr>
              <a:t>客户</a:t>
            </a:r>
          </a:p>
        </p:txBody>
      </p:sp>
      <p:sp>
        <p:nvSpPr>
          <p:cNvPr id="28" name="Freeform 81"/>
          <p:cNvSpPr>
            <a:spLocks/>
          </p:cNvSpPr>
          <p:nvPr/>
        </p:nvSpPr>
        <p:spPr bwMode="auto">
          <a:xfrm>
            <a:off x="1636724"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9" name="Rectangle 82"/>
          <p:cNvSpPr>
            <a:spLocks noChangeArrowheads="1"/>
          </p:cNvSpPr>
          <p:nvPr/>
        </p:nvSpPr>
        <p:spPr bwMode="auto">
          <a:xfrm>
            <a:off x="878232"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清华大学</a:t>
            </a:r>
          </a:p>
          <a:p>
            <a:r>
              <a:rPr kumimoji="1" lang="zh-CN" altLang="en-US" sz="1050" b="1" dirty="0">
                <a:latin typeface="微软雅黑" pitchFamily="34" charset="-122"/>
                <a:ea typeface="微软雅黑" pitchFamily="34" charset="-122"/>
              </a:rPr>
              <a:t>院系设置</a:t>
            </a:r>
          </a:p>
        </p:txBody>
      </p:sp>
      <p:sp>
        <p:nvSpPr>
          <p:cNvPr id="30" name="Line 83"/>
          <p:cNvSpPr>
            <a:spLocks noChangeShapeType="1"/>
          </p:cNvSpPr>
          <p:nvPr/>
        </p:nvSpPr>
        <p:spPr bwMode="auto">
          <a:xfrm>
            <a:off x="925600" y="1950360"/>
            <a:ext cx="665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1" name="Oval 84"/>
          <p:cNvSpPr>
            <a:spLocks noChangeArrowheads="1"/>
          </p:cNvSpPr>
          <p:nvPr/>
        </p:nvSpPr>
        <p:spPr bwMode="auto">
          <a:xfrm>
            <a:off x="1093079" y="1978958"/>
            <a:ext cx="331829" cy="130220"/>
          </a:xfrm>
          <a:prstGeom prst="ellipse">
            <a:avLst/>
          </a:prstGeom>
          <a:solidFill>
            <a:srgbClr val="00FFCC"/>
          </a:solidFill>
          <a:ln w="12700">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2" name="Line 85"/>
          <p:cNvSpPr>
            <a:spLocks noChangeShapeType="1"/>
          </p:cNvSpPr>
          <p:nvPr/>
        </p:nvSpPr>
        <p:spPr bwMode="auto">
          <a:xfrm>
            <a:off x="4491994" y="1871871"/>
            <a:ext cx="284805"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3" name="Line 86"/>
          <p:cNvSpPr>
            <a:spLocks noChangeShapeType="1"/>
          </p:cNvSpPr>
          <p:nvPr/>
        </p:nvSpPr>
        <p:spPr bwMode="auto">
          <a:xfrm flipH="1">
            <a:off x="1368607" y="1871870"/>
            <a:ext cx="306600"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4" name="Oval 87"/>
          <p:cNvSpPr>
            <a:spLocks noChangeArrowheads="1"/>
          </p:cNvSpPr>
          <p:nvPr/>
        </p:nvSpPr>
        <p:spPr bwMode="auto">
          <a:xfrm>
            <a:off x="4728887" y="1959503"/>
            <a:ext cx="332716" cy="130220"/>
          </a:xfrm>
          <a:prstGeom prst="ellipse">
            <a:avLst/>
          </a:prstGeom>
          <a:solidFill>
            <a:srgbClr val="00FFCC"/>
          </a:solidFill>
          <a:ln w="12700">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5" name="Freeform 88"/>
          <p:cNvSpPr>
            <a:spLocks/>
          </p:cNvSpPr>
          <p:nvPr/>
        </p:nvSpPr>
        <p:spPr bwMode="auto">
          <a:xfrm>
            <a:off x="1319039"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6" name="Line 89"/>
          <p:cNvSpPr>
            <a:spLocks noChangeShapeType="1"/>
          </p:cNvSpPr>
          <p:nvPr/>
        </p:nvSpPr>
        <p:spPr bwMode="auto">
          <a:xfrm flipV="1">
            <a:off x="1424907"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7" name="Line 90"/>
          <p:cNvSpPr>
            <a:spLocks noChangeShapeType="1"/>
          </p:cNvSpPr>
          <p:nvPr/>
        </p:nvSpPr>
        <p:spPr bwMode="auto">
          <a:xfrm rot="16200000" flipH="1">
            <a:off x="5007482" y="2054438"/>
            <a:ext cx="149057" cy="108244"/>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8" name="Freeform 91"/>
          <p:cNvSpPr>
            <a:spLocks/>
          </p:cNvSpPr>
          <p:nvPr/>
        </p:nvSpPr>
        <p:spPr bwMode="auto">
          <a:xfrm rot="216073">
            <a:off x="1522353"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9" name="Line 92"/>
          <p:cNvSpPr>
            <a:spLocks noChangeShapeType="1"/>
          </p:cNvSpPr>
          <p:nvPr/>
        </p:nvSpPr>
        <p:spPr bwMode="auto">
          <a:xfrm>
            <a:off x="1826594"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0" name="Line 93"/>
          <p:cNvSpPr>
            <a:spLocks noChangeShapeType="1"/>
          </p:cNvSpPr>
          <p:nvPr/>
        </p:nvSpPr>
        <p:spPr bwMode="auto">
          <a:xfrm>
            <a:off x="4701262"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1" name="Group 116"/>
          <p:cNvGrpSpPr>
            <a:grpSpLocks/>
          </p:cNvGrpSpPr>
          <p:nvPr/>
        </p:nvGrpSpPr>
        <p:grpSpPr bwMode="auto">
          <a:xfrm>
            <a:off x="1826594"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建立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sp>
        <p:nvSpPr>
          <p:cNvPr id="44" name="Line 108"/>
          <p:cNvSpPr>
            <a:spLocks noChangeShapeType="1"/>
          </p:cNvSpPr>
          <p:nvPr/>
        </p:nvSpPr>
        <p:spPr bwMode="auto">
          <a:xfrm>
            <a:off x="5284312" y="2237276"/>
            <a:ext cx="289241" cy="82718"/>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5" name="AutoShape 111"/>
          <p:cNvSpPr>
            <a:spLocks noChangeArrowheads="1"/>
          </p:cNvSpPr>
          <p:nvPr/>
        </p:nvSpPr>
        <p:spPr bwMode="auto">
          <a:xfrm>
            <a:off x="4972880" y="2151967"/>
            <a:ext cx="332716" cy="130220"/>
          </a:xfrm>
          <a:prstGeom prst="can">
            <a:avLst>
              <a:gd name="adj" fmla="val 39583"/>
            </a:avLst>
          </a:prstGeom>
          <a:solidFill>
            <a:srgbClr val="FF00FF"/>
          </a:solidFill>
          <a:ln w="9525">
            <a:solidFill>
              <a:schemeClr val="tx1"/>
            </a:solidFill>
            <a:round/>
            <a:headEnd/>
            <a:tailEnd/>
          </a:ln>
          <a:effectLs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grpSp>
        <p:nvGrpSpPr>
          <p:cNvPr id="46" name="Group 117"/>
          <p:cNvGrpSpPr>
            <a:grpSpLocks/>
          </p:cNvGrpSpPr>
          <p:nvPr/>
        </p:nvGrpSpPr>
        <p:grpSpPr bwMode="auto">
          <a:xfrm>
            <a:off x="1089297"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8" name="Group 95"/>
            <p:cNvGrpSpPr>
              <a:grpSpLocks/>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请求报文</a:t>
                </a: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浏览器</a:t>
              </a:r>
              <a:endParaRPr kumimoji="1" lang="en-US" altLang="zh-CN" sz="1050" b="1" dirty="0" smtClean="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发出</a:t>
              </a:r>
              <a:r>
                <a:rPr kumimoji="1" lang="zh-CN" altLang="en-US" sz="1050" b="1" dirty="0" smtClean="0">
                  <a:solidFill>
                    <a:srgbClr val="000099"/>
                  </a:solidFill>
                  <a:latin typeface="微软雅黑" pitchFamily="34" charset="-122"/>
                  <a:ea typeface="微软雅黑" pitchFamily="34" charset="-122"/>
                </a:rPr>
                <a:t>请求</a:t>
              </a:r>
              <a:endParaRPr kumimoji="1" lang="zh-CN" altLang="en-US" sz="1050" b="1" dirty="0">
                <a:solidFill>
                  <a:srgbClr val="000099"/>
                </a:solidFill>
                <a:latin typeface="微软雅黑" pitchFamily="34" charset="-122"/>
                <a:ea typeface="微软雅黑" pitchFamily="34" charset="-122"/>
              </a:endParaRPr>
            </a:p>
          </p:txBody>
        </p:sp>
      </p:grpSp>
      <p:grpSp>
        <p:nvGrpSpPr>
          <p:cNvPr id="52" name="Group 120"/>
          <p:cNvGrpSpPr>
            <a:grpSpLocks/>
          </p:cNvGrpSpPr>
          <p:nvPr/>
        </p:nvGrpSpPr>
        <p:grpSpPr bwMode="auto">
          <a:xfrm>
            <a:off x="1826594"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释放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grpSp>
        <p:nvGrpSpPr>
          <p:cNvPr id="55" name="组合 54"/>
          <p:cNvGrpSpPr/>
          <p:nvPr/>
        </p:nvGrpSpPr>
        <p:grpSpPr>
          <a:xfrm>
            <a:off x="1839300"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smtClean="0">
                  <a:solidFill>
                    <a:srgbClr val="000099"/>
                  </a:solidFill>
                  <a:latin typeface="微软雅黑" pitchFamily="34" charset="-122"/>
                  <a:ea typeface="微软雅黑" pitchFamily="34" charset="-122"/>
                  <a:sym typeface="Wingdings" pitchFamily="2" charset="2"/>
                </a:rPr>
                <a:t>服务器</a:t>
              </a:r>
              <a:endParaRPr kumimoji="1" lang="en-US" altLang="zh-CN" sz="1050" b="1" dirty="0" smtClean="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返回</a:t>
              </a:r>
              <a:r>
                <a:rPr kumimoji="1" lang="zh-CN" altLang="en-US" sz="1050" b="1" dirty="0" smtClean="0">
                  <a:solidFill>
                    <a:srgbClr val="000099"/>
                  </a:solidFill>
                  <a:latin typeface="微软雅黑" pitchFamily="34" charset="-122"/>
                  <a:ea typeface="微软雅黑" pitchFamily="34" charset="-122"/>
                </a:rPr>
                <a:t>响应</a:t>
              </a:r>
              <a:endParaRPr kumimoji="1" lang="zh-CN" altLang="en-US" sz="1050" b="1" dirty="0">
                <a:solidFill>
                  <a:srgbClr val="000099"/>
                </a:solidFill>
                <a:latin typeface="微软雅黑" pitchFamily="34" charset="-122"/>
                <a:ea typeface="微软雅黑"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itchFamily="34" charset="-122"/>
                  <a:ea typeface="微软雅黑" pitchFamily="34" charset="-122"/>
                  <a:sym typeface="Wingdings" pitchFamily="2" charset="2"/>
                </a:rPr>
                <a:t></a:t>
              </a:r>
              <a:endParaRPr lang="zh-CN" altLang="en-US" sz="4000" dirty="0">
                <a:solidFill>
                  <a:srgbClr val="009900"/>
                </a:solidFill>
                <a:latin typeface="微软雅黑" pitchFamily="34" charset="-122"/>
                <a:ea typeface="微软雅黑" pitchFamily="34" charset="-122"/>
              </a:endParaRPr>
            </a:p>
          </p:txBody>
        </p:sp>
        <p:grpSp>
          <p:nvGrpSpPr>
            <p:cNvPr id="60" name="Group 99"/>
            <p:cNvGrpSpPr>
              <a:grpSpLocks/>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响应报文</a:t>
                </a:r>
              </a:p>
            </p:txBody>
          </p:sp>
        </p:grpSp>
      </p:grpSp>
      <p:sp>
        <p:nvSpPr>
          <p:cNvPr id="2" name="矩形 1"/>
          <p:cNvSpPr/>
          <p:nvPr/>
        </p:nvSpPr>
        <p:spPr>
          <a:xfrm>
            <a:off x="5709342" y="2737041"/>
            <a:ext cx="2780983" cy="1477328"/>
          </a:xfrm>
          <a:prstGeom prst="rect">
            <a:avLst/>
          </a:prstGeom>
          <a:solidFill>
            <a:schemeClr val="bg1"/>
          </a:solidFill>
        </p:spPr>
        <p:txBody>
          <a:bodyPr wrap="square">
            <a:spAutoFit/>
          </a:bodyPr>
          <a:lstStyle/>
          <a:p>
            <a:pPr>
              <a:lnSpc>
                <a:spcPts val="1800"/>
              </a:lnSpc>
            </a:pPr>
            <a:r>
              <a:rPr lang="en-US" altLang="zh-CN" sz="1400" b="1" dirty="0">
                <a:solidFill>
                  <a:srgbClr val="0000FF"/>
                </a:solidFill>
                <a:latin typeface="微软雅黑" panose="020B0503020204020204" pitchFamily="34" charset="-122"/>
                <a:ea typeface="微软雅黑" panose="020B0503020204020204" pitchFamily="34" charset="-122"/>
              </a:rPr>
              <a:t>HTTP/2</a:t>
            </a:r>
            <a:r>
              <a:rPr lang="zh-CN" altLang="en-US" sz="1400" b="1" dirty="0">
                <a:solidFill>
                  <a:srgbClr val="0000FF"/>
                </a:solidFill>
                <a:latin typeface="微软雅黑" panose="020B0503020204020204" pitchFamily="34" charset="-122"/>
                <a:ea typeface="微软雅黑" panose="020B0503020204020204" pitchFamily="34" charset="-122"/>
              </a:rPr>
              <a:t>以前的版本规定：</a:t>
            </a:r>
            <a:r>
              <a:rPr lang="zh-CN" altLang="en-US" sz="1400" b="1" dirty="0" smtClean="0">
                <a:latin typeface="微软雅黑" panose="020B0503020204020204" pitchFamily="34" charset="-122"/>
                <a:ea typeface="微软雅黑" panose="020B0503020204020204" pitchFamily="34" charset="-122"/>
              </a:rPr>
              <a:t>在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客户与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之间的每次交互，都由一</a:t>
            </a:r>
            <a:r>
              <a:rPr lang="zh-CN" altLang="en-US" sz="1400" b="1" dirty="0" smtClean="0">
                <a:latin typeface="微软雅黑" panose="020B0503020204020204" pitchFamily="34" charset="-122"/>
                <a:ea typeface="微软雅黑" panose="020B0503020204020204" pitchFamily="34" charset="-122"/>
              </a:rPr>
              <a:t>个 </a:t>
            </a:r>
            <a:r>
              <a:rPr lang="en-US" altLang="zh-CN" sz="1400" b="1" dirty="0" smtClean="0">
                <a:solidFill>
                  <a:srgbClr val="C00000"/>
                </a:solidFill>
                <a:latin typeface="微软雅黑" panose="020B0503020204020204" pitchFamily="34" charset="-122"/>
                <a:ea typeface="微软雅黑" panose="020B0503020204020204" pitchFamily="34" charset="-122"/>
              </a:rPr>
              <a:t>ASCII</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码</a:t>
            </a:r>
            <a:r>
              <a:rPr lang="zh-CN" altLang="en-US" sz="1400" b="1" dirty="0">
                <a:latin typeface="微软雅黑" panose="020B0503020204020204" pitchFamily="34" charset="-122"/>
                <a:ea typeface="微软雅黑" panose="020B0503020204020204" pitchFamily="34" charset="-122"/>
              </a:rPr>
              <a:t>串构成的</a:t>
            </a:r>
            <a:r>
              <a:rPr lang="zh-CN" altLang="en-US" sz="1400" b="1" dirty="0">
                <a:solidFill>
                  <a:srgbClr val="C00000"/>
                </a:solidFill>
                <a:latin typeface="微软雅黑" panose="020B0503020204020204" pitchFamily="34" charset="-122"/>
                <a:ea typeface="微软雅黑" panose="020B0503020204020204" pitchFamily="34" charset="-122"/>
              </a:rPr>
              <a:t>请求</a:t>
            </a:r>
            <a:r>
              <a:rPr lang="zh-CN" altLang="en-US" sz="1400" b="1" dirty="0">
                <a:latin typeface="微软雅黑" panose="020B0503020204020204" pitchFamily="34" charset="-122"/>
                <a:ea typeface="微软雅黑" panose="020B0503020204020204" pitchFamily="34" charset="-122"/>
              </a:rPr>
              <a:t>和一个</a:t>
            </a:r>
            <a:r>
              <a:rPr lang="zh-CN" altLang="en-US" sz="1400" b="1" dirty="0" smtClean="0">
                <a:latin typeface="微软雅黑" panose="020B0503020204020204" pitchFamily="34" charset="-122"/>
                <a:ea typeface="微软雅黑" panose="020B0503020204020204" pitchFamily="34" charset="-122"/>
              </a:rPr>
              <a:t>类似的</a:t>
            </a:r>
            <a:r>
              <a:rPr lang="zh-CN" altLang="en-US" sz="1400" b="1" dirty="0">
                <a:solidFill>
                  <a:srgbClr val="C00000"/>
                </a:solidFill>
                <a:latin typeface="微软雅黑" panose="020B0503020204020204" pitchFamily="34" charset="-122"/>
                <a:ea typeface="微软雅黑" panose="020B0503020204020204" pitchFamily="34" charset="-122"/>
              </a:rPr>
              <a:t>响应</a:t>
            </a:r>
            <a:r>
              <a:rPr lang="zh-CN" altLang="en-US" sz="1400" b="1" dirty="0">
                <a:latin typeface="微软雅黑" panose="020B0503020204020204" pitchFamily="34" charset="-122"/>
                <a:ea typeface="微软雅黑" panose="020B0503020204020204" pitchFamily="34" charset="-122"/>
              </a:rPr>
              <a:t>组成。</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报文使用</a:t>
            </a:r>
            <a:r>
              <a:rPr lang="en-US" altLang="zh-CN" sz="1400" b="1" dirty="0">
                <a:latin typeface="微软雅黑" panose="020B0503020204020204" pitchFamily="34" charset="-122"/>
                <a:ea typeface="微软雅黑" panose="020B0503020204020204" pitchFamily="34" charset="-122"/>
              </a:rPr>
              <a:t>TCP</a:t>
            </a:r>
            <a:r>
              <a:rPr lang="zh-CN" altLang="en-US" sz="1400" b="1" dirty="0">
                <a:latin typeface="微软雅黑" panose="020B0503020204020204" pitchFamily="34" charset="-122"/>
                <a:ea typeface="微软雅黑" panose="020B0503020204020204" pitchFamily="34" charset="-122"/>
              </a:rPr>
              <a:t>连接进行可靠传输。</a:t>
            </a:r>
          </a:p>
        </p:txBody>
      </p:sp>
    </p:spTree>
    <p:extLst>
      <p:ext uri="{BB962C8B-B14F-4D97-AF65-F5344CB8AC3E}">
        <p14:creationId xmlns:p14="http://schemas.microsoft.com/office/powerpoint/2010/main" val="31207358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8"/>
          <p:cNvSpPr>
            <a:spLocks noChangeArrowheads="1"/>
          </p:cNvSpPr>
          <p:nvPr/>
        </p:nvSpPr>
        <p:spPr bwMode="auto">
          <a:xfrm>
            <a:off x="556963" y="934358"/>
            <a:ext cx="8210901"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使用</a:t>
            </a:r>
            <a:r>
              <a:rPr lang="zh-CN" altLang="en-US" sz="2000" b="1" dirty="0">
                <a:latin typeface="微软雅黑" pitchFamily="34" charset="-122"/>
                <a:ea typeface="微软雅黑" pitchFamily="34" charset="-122"/>
              </a:rPr>
              <a:t>了面向连接</a:t>
            </a:r>
            <a:r>
              <a:rPr lang="zh-CN" altLang="en-US" sz="2000" b="1" dirty="0" smtClean="0">
                <a:latin typeface="微软雅黑" pitchFamily="34" charset="-122"/>
                <a:ea typeface="微软雅黑" pitchFamily="34" charset="-122"/>
              </a:rPr>
              <a:t>的 </a:t>
            </a:r>
            <a:r>
              <a:rPr lang="en-US" altLang="zh-CN" sz="2000" b="1" dirty="0" smtClean="0">
                <a:solidFill>
                  <a:srgbClr val="C00000"/>
                </a:solidFill>
                <a:latin typeface="微软雅黑" pitchFamily="34" charset="-122"/>
                <a:ea typeface="微软雅黑" pitchFamily="34" charset="-122"/>
              </a:rPr>
              <a:t>TCP</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作为传输层协议</a:t>
            </a:r>
            <a:r>
              <a:rPr lang="zh-CN" altLang="en-US" sz="2000" b="1" dirty="0">
                <a:latin typeface="微软雅黑" pitchFamily="34" charset="-122"/>
                <a:ea typeface="微软雅黑" pitchFamily="34" charset="-122"/>
              </a:rPr>
              <a:t>，保证了数据的可靠传输</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本身是</a:t>
            </a:r>
            <a:r>
              <a:rPr lang="zh-CN" altLang="en-US" sz="2000" b="1" dirty="0">
                <a:solidFill>
                  <a:srgbClr val="C00000"/>
                </a:solidFill>
                <a:latin typeface="微软雅黑" pitchFamily="34" charset="-122"/>
                <a:ea typeface="微软雅黑" pitchFamily="34" charset="-122"/>
              </a:rPr>
              <a:t>无连接</a:t>
            </a:r>
            <a:r>
              <a:rPr lang="zh-CN" altLang="en-US" sz="2000" b="1" dirty="0" smtClean="0">
                <a:solidFill>
                  <a:srgbClr val="C00000"/>
                </a:solidFill>
                <a:latin typeface="微软雅黑" pitchFamily="34" charset="-122"/>
                <a:ea typeface="微软雅黑" pitchFamily="34" charset="-122"/>
              </a:rPr>
              <a:t>的。</a:t>
            </a:r>
            <a:endParaRPr lang="zh-CN" altLang="en-US" sz="2000" b="1" dirty="0">
              <a:solidFill>
                <a:srgbClr val="C00000"/>
              </a:solidFill>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无状态的 </a:t>
            </a:r>
            <a:r>
              <a:rPr lang="en-US" altLang="zh-CN" sz="2000" b="1" dirty="0">
                <a:latin typeface="微软雅黑" pitchFamily="34" charset="-122"/>
                <a:ea typeface="微软雅黑" pitchFamily="34" charset="-122"/>
              </a:rPr>
              <a:t>(stateless</a:t>
            </a:r>
            <a:r>
              <a:rPr lang="en-US" altLang="zh-CN"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简化</a:t>
            </a:r>
            <a:r>
              <a:rPr lang="zh-CN" altLang="en-US" sz="2000" b="1" dirty="0">
                <a:latin typeface="微软雅黑" pitchFamily="34" charset="-122"/>
                <a:ea typeface="微软雅黑" pitchFamily="34" charset="-122"/>
              </a:rPr>
              <a:t>了服务器的设计，使服务器更容易支持大量并发</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请求</a:t>
            </a:r>
            <a:r>
              <a:rPr lang="zh-CN" altLang="en-US" sz="2000" b="1" dirty="0">
                <a:latin typeface="微软雅黑" pitchFamily="34" charset="-122"/>
                <a:ea typeface="微软雅黑" pitchFamily="34" charset="-122"/>
              </a:rPr>
              <a:t>。 </a:t>
            </a:r>
          </a:p>
        </p:txBody>
      </p:sp>
      <p:sp>
        <p:nvSpPr>
          <p:cNvPr id="8" name="AutoShape 5"/>
          <p:cNvSpPr>
            <a:spLocks noChangeArrowheads="1"/>
          </p:cNvSpPr>
          <p:nvPr/>
        </p:nvSpPr>
        <p:spPr bwMode="auto">
          <a:xfrm>
            <a:off x="556963" y="614243"/>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矩形 8"/>
          <p:cNvSpPr/>
          <p:nvPr/>
        </p:nvSpPr>
        <p:spPr>
          <a:xfrm>
            <a:off x="645268" y="572003"/>
            <a:ext cx="224830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的主要特点</a:t>
            </a:r>
          </a:p>
        </p:txBody>
      </p:sp>
    </p:spTree>
    <p:custDataLst>
      <p:tags r:id="rId1"/>
    </p:custDataLst>
    <p:extLst>
      <p:ext uri="{BB962C8B-B14F-4D97-AF65-F5344CB8AC3E}">
        <p14:creationId xmlns:p14="http://schemas.microsoft.com/office/powerpoint/2010/main" val="41704896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500"/>
                                        <p:tgtEl>
                                          <p:spTgt spid="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2" end="2"/>
                                            </p:txEl>
                                          </p:spTgt>
                                        </p:tgtEl>
                                        <p:attrNameLst>
                                          <p:attrName>style.visibility</p:attrName>
                                        </p:attrNameLst>
                                      </p:cBhvr>
                                      <p:to>
                                        <p:strVal val="visible"/>
                                      </p:to>
                                    </p:set>
                                    <p:animEffect transition="in" filter="fade">
                                      <p:cBhvr>
                                        <p:cTn id="12"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1009863"/>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Line 20"/>
          <p:cNvSpPr>
            <a:spLocks noChangeShapeType="1"/>
          </p:cNvSpPr>
          <p:nvPr/>
        </p:nvSpPr>
        <p:spPr bwMode="auto">
          <a:xfrm flipH="1">
            <a:off x="2620467" y="2719097"/>
            <a:ext cx="3270" cy="615774"/>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8" name="Text Box 26"/>
          <p:cNvSpPr txBox="1">
            <a:spLocks noChangeArrowheads="1"/>
          </p:cNvSpPr>
          <p:nvPr/>
        </p:nvSpPr>
        <p:spPr bwMode="auto">
          <a:xfrm>
            <a:off x="2372297" y="2905978"/>
            <a:ext cx="484235" cy="276999"/>
          </a:xfrm>
          <a:prstGeom prst="rect">
            <a:avLst/>
          </a:prstGeom>
          <a:solidFill>
            <a:srgbClr val="C3E3F9"/>
          </a:solidFill>
          <a:ln>
            <a:noFill/>
          </a:ln>
          <a:effectLs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RTT</a:t>
            </a:r>
          </a:p>
        </p:txBody>
      </p:sp>
      <p:sp>
        <p:nvSpPr>
          <p:cNvPr id="59" name="Line 19"/>
          <p:cNvSpPr>
            <a:spLocks noChangeShapeType="1"/>
          </p:cNvSpPr>
          <p:nvPr/>
        </p:nvSpPr>
        <p:spPr bwMode="auto">
          <a:xfrm flipH="1">
            <a:off x="2623736" y="2100305"/>
            <a:ext cx="4360" cy="614768"/>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Text Box 23"/>
          <p:cNvSpPr txBox="1">
            <a:spLocks noChangeArrowheads="1"/>
          </p:cNvSpPr>
          <p:nvPr/>
        </p:nvSpPr>
        <p:spPr bwMode="auto">
          <a:xfrm>
            <a:off x="2374074" y="2276908"/>
            <a:ext cx="484235" cy="276999"/>
          </a:xfrm>
          <a:prstGeom prst="rect">
            <a:avLst/>
          </a:prstGeom>
          <a:solidFill>
            <a:srgbClr val="C3E3F9"/>
          </a:solidFill>
          <a:ln>
            <a:noFill/>
          </a:ln>
          <a:effectLs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RTT</a:t>
            </a:r>
          </a:p>
        </p:txBody>
      </p:sp>
      <p:sp>
        <p:nvSpPr>
          <p:cNvPr id="62" name="Freeform 4"/>
          <p:cNvSpPr>
            <a:spLocks/>
          </p:cNvSpPr>
          <p:nvPr/>
        </p:nvSpPr>
        <p:spPr bwMode="auto">
          <a:xfrm>
            <a:off x="2804679" y="3036039"/>
            <a:ext cx="2196376" cy="519182"/>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rgbClr val="0099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4" name="Rectangle 6"/>
          <p:cNvSpPr>
            <a:spLocks noChangeArrowheads="1"/>
          </p:cNvSpPr>
          <p:nvPr/>
        </p:nvSpPr>
        <p:spPr bwMode="auto">
          <a:xfrm>
            <a:off x="4388354" y="1161220"/>
            <a:ext cx="1106073" cy="237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200" b="1" dirty="0">
                <a:latin typeface="微软雅黑" pitchFamily="34" charset="-122"/>
                <a:ea typeface="微软雅黑" pitchFamily="34" charset="-122"/>
              </a:rPr>
              <a:t>万维网服务器</a:t>
            </a:r>
          </a:p>
        </p:txBody>
      </p:sp>
      <p:sp>
        <p:nvSpPr>
          <p:cNvPr id="65" name="Rectangle 7"/>
          <p:cNvSpPr>
            <a:spLocks noChangeArrowheads="1"/>
          </p:cNvSpPr>
          <p:nvPr/>
        </p:nvSpPr>
        <p:spPr bwMode="auto">
          <a:xfrm>
            <a:off x="2354504" y="1209516"/>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67" name="Line 9"/>
          <p:cNvSpPr>
            <a:spLocks noChangeShapeType="1"/>
          </p:cNvSpPr>
          <p:nvPr/>
        </p:nvSpPr>
        <p:spPr bwMode="auto">
          <a:xfrm>
            <a:off x="2805768" y="2051003"/>
            <a:ext cx="0" cy="1893606"/>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8" name="Text Box 10"/>
          <p:cNvSpPr txBox="1">
            <a:spLocks noChangeArrowheads="1"/>
          </p:cNvSpPr>
          <p:nvPr/>
        </p:nvSpPr>
        <p:spPr bwMode="auto">
          <a:xfrm>
            <a:off x="1078774" y="1971515"/>
            <a:ext cx="1352677"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chemeClr val="bg1"/>
                </a:solidFill>
                <a:latin typeface="微软雅黑" pitchFamily="34" charset="-122"/>
                <a:ea typeface="微软雅黑" pitchFamily="34" charset="-122"/>
              </a:rPr>
              <a:t>发起 </a:t>
            </a:r>
            <a:r>
              <a:rPr kumimoji="1" lang="en-US" altLang="zh-CN" sz="1400" b="1" dirty="0">
                <a:solidFill>
                  <a:schemeClr val="bg1"/>
                </a:solidFill>
                <a:latin typeface="微软雅黑" pitchFamily="34" charset="-122"/>
                <a:ea typeface="微软雅黑" pitchFamily="34" charset="-122"/>
              </a:rPr>
              <a:t>TCP </a:t>
            </a:r>
            <a:r>
              <a:rPr kumimoji="1" lang="zh-CN" altLang="en-US" sz="1400" b="1" dirty="0">
                <a:solidFill>
                  <a:schemeClr val="bg1"/>
                </a:solidFill>
                <a:latin typeface="微软雅黑" pitchFamily="34" charset="-122"/>
                <a:ea typeface="微软雅黑" pitchFamily="34" charset="-122"/>
              </a:rPr>
              <a:t>连接</a:t>
            </a:r>
          </a:p>
        </p:txBody>
      </p:sp>
      <p:sp>
        <p:nvSpPr>
          <p:cNvPr id="69" name="Text Box 11"/>
          <p:cNvSpPr txBox="1">
            <a:spLocks noChangeArrowheads="1"/>
          </p:cNvSpPr>
          <p:nvPr/>
        </p:nvSpPr>
        <p:spPr bwMode="auto">
          <a:xfrm>
            <a:off x="981440" y="2568173"/>
            <a:ext cx="1450011"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sp>
        <p:nvSpPr>
          <p:cNvPr id="70" name="Line 12"/>
          <p:cNvSpPr>
            <a:spLocks noChangeShapeType="1"/>
          </p:cNvSpPr>
          <p:nvPr/>
        </p:nvSpPr>
        <p:spPr bwMode="auto">
          <a:xfrm>
            <a:off x="2805768" y="2100304"/>
            <a:ext cx="2196375" cy="287764"/>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1" name="Line 13"/>
          <p:cNvSpPr>
            <a:spLocks noChangeShapeType="1"/>
          </p:cNvSpPr>
          <p:nvPr/>
        </p:nvSpPr>
        <p:spPr bwMode="auto">
          <a:xfrm flipH="1">
            <a:off x="2798139" y="2415235"/>
            <a:ext cx="2196376" cy="288770"/>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2" name="Line 14"/>
          <p:cNvSpPr>
            <a:spLocks noChangeShapeType="1"/>
          </p:cNvSpPr>
          <p:nvPr/>
        </p:nvSpPr>
        <p:spPr bwMode="auto">
          <a:xfrm>
            <a:off x="2805768" y="2731172"/>
            <a:ext cx="2196375" cy="287764"/>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Line 15"/>
          <p:cNvSpPr>
            <a:spLocks noChangeShapeType="1"/>
          </p:cNvSpPr>
          <p:nvPr/>
        </p:nvSpPr>
        <p:spPr bwMode="auto">
          <a:xfrm>
            <a:off x="2510375" y="2100304"/>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Line 16"/>
          <p:cNvSpPr>
            <a:spLocks noChangeShapeType="1"/>
          </p:cNvSpPr>
          <p:nvPr/>
        </p:nvSpPr>
        <p:spPr bwMode="auto">
          <a:xfrm>
            <a:off x="2514735" y="2715072"/>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Line 17"/>
          <p:cNvSpPr>
            <a:spLocks noChangeShapeType="1"/>
          </p:cNvSpPr>
          <p:nvPr/>
        </p:nvSpPr>
        <p:spPr bwMode="auto">
          <a:xfrm>
            <a:off x="2502745" y="3557233"/>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6" name="Line 18"/>
          <p:cNvSpPr>
            <a:spLocks noChangeShapeType="1"/>
          </p:cNvSpPr>
          <p:nvPr/>
        </p:nvSpPr>
        <p:spPr bwMode="auto">
          <a:xfrm>
            <a:off x="2502745" y="3326822"/>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8" name="Text Box 28"/>
          <p:cNvSpPr txBox="1">
            <a:spLocks noChangeArrowheads="1"/>
          </p:cNvSpPr>
          <p:nvPr/>
        </p:nvSpPr>
        <p:spPr bwMode="auto">
          <a:xfrm>
            <a:off x="1169568" y="3431464"/>
            <a:ext cx="1261883"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chemeClr val="bg1"/>
                </a:solidFill>
                <a:latin typeface="微软雅黑" pitchFamily="34" charset="-122"/>
                <a:ea typeface="微软雅黑" pitchFamily="34" charset="-122"/>
              </a:rPr>
              <a:t>整个文档收到</a:t>
            </a:r>
          </a:p>
        </p:txBody>
      </p:sp>
      <p:sp>
        <p:nvSpPr>
          <p:cNvPr id="79" name="AutoShape 29"/>
          <p:cNvSpPr>
            <a:spLocks noChangeArrowheads="1"/>
          </p:cNvSpPr>
          <p:nvPr/>
        </p:nvSpPr>
        <p:spPr bwMode="auto">
          <a:xfrm rot="21154273">
            <a:off x="3620008" y="3206082"/>
            <a:ext cx="652918" cy="173061"/>
          </a:xfrm>
          <a:prstGeom prst="leftArrow">
            <a:avLst>
              <a:gd name="adj1" fmla="val 50000"/>
              <a:gd name="adj2" fmla="val 87064"/>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80" name="Line 30"/>
          <p:cNvSpPr>
            <a:spLocks noChangeShapeType="1"/>
          </p:cNvSpPr>
          <p:nvPr/>
        </p:nvSpPr>
        <p:spPr bwMode="auto">
          <a:xfrm>
            <a:off x="4995603" y="2047983"/>
            <a:ext cx="0" cy="18926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1" name="Text Box 31"/>
          <p:cNvSpPr txBox="1">
            <a:spLocks noChangeArrowheads="1"/>
          </p:cNvSpPr>
          <p:nvPr/>
        </p:nvSpPr>
        <p:spPr bwMode="auto">
          <a:xfrm>
            <a:off x="2594306" y="3907049"/>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时间</a:t>
            </a:r>
          </a:p>
        </p:txBody>
      </p:sp>
      <p:sp>
        <p:nvSpPr>
          <p:cNvPr id="82" name="Text Box 32"/>
          <p:cNvSpPr txBox="1">
            <a:spLocks noChangeArrowheads="1"/>
          </p:cNvSpPr>
          <p:nvPr/>
        </p:nvSpPr>
        <p:spPr bwMode="auto">
          <a:xfrm>
            <a:off x="4778692" y="3907049"/>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时间</a:t>
            </a:r>
          </a:p>
        </p:txBody>
      </p:sp>
      <p:sp>
        <p:nvSpPr>
          <p:cNvPr id="83" name="Text Box 33"/>
          <p:cNvSpPr txBox="1">
            <a:spLocks noChangeArrowheads="1"/>
          </p:cNvSpPr>
          <p:nvPr/>
        </p:nvSpPr>
        <p:spPr bwMode="auto">
          <a:xfrm rot="21159151">
            <a:off x="3227947" y="3386068"/>
            <a:ext cx="14500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FF"/>
                </a:solidFill>
                <a:latin typeface="微软雅黑" pitchFamily="34" charset="-122"/>
                <a:ea typeface="微软雅黑" pitchFamily="34" charset="-122"/>
              </a:rPr>
              <a:t>HTTP </a:t>
            </a:r>
            <a:r>
              <a:rPr kumimoji="1" lang="zh-CN" altLang="en-US" sz="1400" b="1" dirty="0">
                <a:solidFill>
                  <a:srgbClr val="0000FF"/>
                </a:solidFill>
                <a:latin typeface="微软雅黑" pitchFamily="34" charset="-122"/>
                <a:ea typeface="微软雅黑" pitchFamily="34" charset="-122"/>
              </a:rPr>
              <a:t>响应报文</a:t>
            </a:r>
          </a:p>
        </p:txBody>
      </p:sp>
      <p:grpSp>
        <p:nvGrpSpPr>
          <p:cNvPr id="2" name="组合 1"/>
          <p:cNvGrpSpPr/>
          <p:nvPr/>
        </p:nvGrpSpPr>
        <p:grpSpPr>
          <a:xfrm>
            <a:off x="5027214" y="2983051"/>
            <a:ext cx="1663497" cy="307777"/>
            <a:chOff x="5027214" y="2932603"/>
            <a:chExt cx="1663497" cy="307777"/>
          </a:xfrm>
        </p:grpSpPr>
        <p:sp>
          <p:nvSpPr>
            <p:cNvPr id="77" name="Text Box 27"/>
            <p:cNvSpPr txBox="1">
              <a:spLocks noChangeArrowheads="1"/>
            </p:cNvSpPr>
            <p:nvPr/>
          </p:nvSpPr>
          <p:spPr bwMode="auto">
            <a:xfrm>
              <a:off x="5249291" y="2932603"/>
              <a:ext cx="1441420"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400" b="1" dirty="0">
                  <a:solidFill>
                    <a:schemeClr val="bg1"/>
                  </a:solidFill>
                  <a:latin typeface="微软雅黑" pitchFamily="34" charset="-122"/>
                  <a:ea typeface="微软雅黑" pitchFamily="34" charset="-122"/>
                </a:rPr>
                <a:t>文档的传输</a:t>
              </a:r>
              <a:r>
                <a:rPr kumimoji="1" lang="zh-CN" altLang="en-US" sz="1400" b="1" dirty="0" smtClean="0">
                  <a:solidFill>
                    <a:schemeClr val="bg1"/>
                  </a:solidFill>
                  <a:latin typeface="微软雅黑" pitchFamily="34" charset="-122"/>
                  <a:ea typeface="微软雅黑" pitchFamily="34" charset="-122"/>
                </a:rPr>
                <a:t>时间</a:t>
              </a:r>
              <a:endParaRPr kumimoji="1" lang="zh-CN" altLang="en-US" sz="1400" b="1" dirty="0">
                <a:solidFill>
                  <a:schemeClr val="bg1"/>
                </a:solidFill>
                <a:latin typeface="微软雅黑" pitchFamily="34" charset="-122"/>
                <a:ea typeface="微软雅黑" pitchFamily="34" charset="-122"/>
              </a:endParaRPr>
            </a:p>
          </p:txBody>
        </p:sp>
        <p:sp>
          <p:nvSpPr>
            <p:cNvPr id="84" name="AutoShape 34"/>
            <p:cNvSpPr>
              <a:spLocks/>
            </p:cNvSpPr>
            <p:nvPr/>
          </p:nvSpPr>
          <p:spPr bwMode="auto">
            <a:xfrm>
              <a:off x="5027214" y="2972512"/>
              <a:ext cx="59950" cy="231418"/>
            </a:xfrm>
            <a:prstGeom prst="rightBracket">
              <a:avLst>
                <a:gd name="adj" fmla="val 34849"/>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85" name="Line 35"/>
            <p:cNvSpPr>
              <a:spLocks noChangeShapeType="1"/>
            </p:cNvSpPr>
            <p:nvPr/>
          </p:nvSpPr>
          <p:spPr bwMode="auto">
            <a:xfrm>
              <a:off x="5087164" y="3088220"/>
              <a:ext cx="16212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87" name="图片 8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37706" y="1384085"/>
            <a:ext cx="511585" cy="716219"/>
          </a:xfrm>
          <a:prstGeom prst="rect">
            <a:avLst/>
          </a:prstGeom>
        </p:spPr>
      </p:pic>
      <p:pic>
        <p:nvPicPr>
          <p:cNvPr id="88"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584110" y="1447982"/>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89"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矩形 89"/>
          <p:cNvSpPr/>
          <p:nvPr/>
        </p:nvSpPr>
        <p:spPr>
          <a:xfrm>
            <a:off x="645268" y="569908"/>
            <a:ext cx="377539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请求一个万维网文档所需的时间</a:t>
            </a:r>
          </a:p>
        </p:txBody>
      </p:sp>
      <p:sp>
        <p:nvSpPr>
          <p:cNvPr id="3" name="矩形 2"/>
          <p:cNvSpPr/>
          <p:nvPr/>
        </p:nvSpPr>
        <p:spPr>
          <a:xfrm>
            <a:off x="5332431" y="1512090"/>
            <a:ext cx="3107597" cy="1374735"/>
          </a:xfrm>
          <a:prstGeom prst="rect">
            <a:avLst/>
          </a:prstGeom>
          <a:solidFill>
            <a:schemeClr val="bg1"/>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smtClean="0">
                <a:latin typeface="微软雅黑" panose="020B0503020204020204" pitchFamily="34" charset="-122"/>
                <a:ea typeface="微软雅黑" panose="020B0503020204020204" pitchFamily="34" charset="-122"/>
              </a:rPr>
              <a:t>&gt;= </a:t>
            </a:r>
          </a:p>
          <a:p>
            <a:pPr>
              <a:lnSpc>
                <a:spcPts val="2000"/>
              </a:lnSpc>
            </a:pP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（三报文</a:t>
            </a:r>
            <a:r>
              <a:rPr lang="zh-CN" altLang="en-US" sz="1400" b="1" dirty="0" smtClean="0">
                <a:latin typeface="微软雅黑" panose="020B0503020204020204" pitchFamily="34" charset="-122"/>
                <a:ea typeface="微软雅黑" panose="020B0503020204020204" pitchFamily="34" charset="-122"/>
              </a:rPr>
              <a:t>握手建立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 </a:t>
            </a:r>
          </a:p>
          <a:p>
            <a:pPr>
              <a:lnSpc>
                <a:spcPts val="2000"/>
              </a:lnSpc>
            </a:pP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（请求和</a:t>
            </a:r>
            <a:r>
              <a:rPr lang="zh-CN" altLang="en-US" sz="1400" b="1" dirty="0" smtClean="0">
                <a:latin typeface="微软雅黑" panose="020B0503020204020204" pitchFamily="34" charset="-122"/>
                <a:ea typeface="微软雅黑" panose="020B0503020204020204" pitchFamily="34" charset="-122"/>
              </a:rPr>
              <a:t>接收文档</a:t>
            </a:r>
            <a:r>
              <a:rPr lang="zh-CN" altLang="en-US" sz="1400" b="1" dirty="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r>
              <a:rPr lang="zh-CN" altLang="en-US" sz="1400" b="1" dirty="0">
                <a:latin typeface="微软雅黑" panose="020B0503020204020204" pitchFamily="34" charset="-122"/>
                <a:ea typeface="微软雅黑" panose="020B0503020204020204" pitchFamily="34" charset="-122"/>
              </a:rPr>
              <a:t>文档的传输时间</a:t>
            </a:r>
            <a:endParaRPr lang="zh-CN" altLang="en-US" sz="1400" dirty="0"/>
          </a:p>
        </p:txBody>
      </p:sp>
    </p:spTree>
    <p:custDataLst>
      <p:tags r:id="rId1"/>
    </p:custDataLst>
    <p:extLst>
      <p:ext uri="{BB962C8B-B14F-4D97-AF65-F5344CB8AC3E}">
        <p14:creationId xmlns:p14="http://schemas.microsoft.com/office/powerpoint/2010/main" val="11490124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0"/>
                                        </p:tgtEl>
                                        <p:attrNameLst>
                                          <p:attrName>style.visibility</p:attrName>
                                        </p:attrNameLst>
                                      </p:cBhvr>
                                      <p:to>
                                        <p:strVal val="visible"/>
                                      </p:to>
                                    </p:set>
                                    <p:animEffect transition="in" filter="wipe(left)">
                                      <p:cBhvr>
                                        <p:cTn id="11" dur="500"/>
                                        <p:tgtEl>
                                          <p:spTgt spid="70"/>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wipe(right)">
                                      <p:cBhvr>
                                        <p:cTn id="15" dur="500"/>
                                        <p:tgtEl>
                                          <p:spTgt spid="7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fade">
                                      <p:cBhvr>
                                        <p:cTn id="19" dur="500"/>
                                        <p:tgtEl>
                                          <p:spTgt spid="7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500"/>
                                        <p:tgtEl>
                                          <p:spTgt spid="74"/>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fade">
                                      <p:cBhvr>
                                        <p:cTn id="26" dur="500"/>
                                        <p:tgtEl>
                                          <p:spTgt spid="59"/>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fade">
                                      <p:cBhvr>
                                        <p:cTn id="30" dur="500"/>
                                        <p:tgtEl>
                                          <p:spTgt spid="6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9"/>
                                        </p:tgtEl>
                                        <p:attrNameLst>
                                          <p:attrName>style.visibility</p:attrName>
                                        </p:attrNameLst>
                                      </p:cBhvr>
                                      <p:to>
                                        <p:strVal val="visible"/>
                                      </p:to>
                                    </p:set>
                                    <p:animEffect transition="in" filter="fade">
                                      <p:cBhvr>
                                        <p:cTn id="35" dur="500"/>
                                        <p:tgtEl>
                                          <p:spTgt spid="69"/>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72"/>
                                        </p:tgtEl>
                                        <p:attrNameLst>
                                          <p:attrName>style.visibility</p:attrName>
                                        </p:attrNameLst>
                                      </p:cBhvr>
                                      <p:to>
                                        <p:strVal val="visible"/>
                                      </p:to>
                                    </p:set>
                                    <p:animEffect transition="in" filter="wipe(left)">
                                      <p:cBhvr>
                                        <p:cTn id="39" dur="500"/>
                                        <p:tgtEl>
                                          <p:spTgt spid="72"/>
                                        </p:tgtEl>
                                      </p:cBhvr>
                                    </p:animEffect>
                                  </p:childTnLst>
                                </p:cTn>
                              </p:par>
                            </p:childTnLst>
                          </p:cTn>
                        </p:par>
                        <p:par>
                          <p:cTn id="40" fill="hold">
                            <p:stCondLst>
                              <p:cond delay="1000"/>
                            </p:stCondLst>
                            <p:childTnLst>
                              <p:par>
                                <p:cTn id="41" presetID="22" presetClass="entr" presetSubtype="2" fill="hold" grpId="0" nodeType="afterEffect">
                                  <p:stCondLst>
                                    <p:cond delay="0"/>
                                  </p:stCondLst>
                                  <p:childTnLst>
                                    <p:set>
                                      <p:cBhvr>
                                        <p:cTn id="42" dur="1" fill="hold">
                                          <p:stCondLst>
                                            <p:cond delay="0"/>
                                          </p:stCondLst>
                                        </p:cTn>
                                        <p:tgtEl>
                                          <p:spTgt spid="83"/>
                                        </p:tgtEl>
                                        <p:attrNameLst>
                                          <p:attrName>style.visibility</p:attrName>
                                        </p:attrNameLst>
                                      </p:cBhvr>
                                      <p:to>
                                        <p:strVal val="visible"/>
                                      </p:to>
                                    </p:set>
                                    <p:animEffect transition="in" filter="wipe(right)">
                                      <p:cBhvr>
                                        <p:cTn id="43" dur="500"/>
                                        <p:tgtEl>
                                          <p:spTgt spid="83"/>
                                        </p:tgtEl>
                                      </p:cBhvr>
                                    </p:animEffect>
                                  </p:childTnLst>
                                </p:cTn>
                              </p:par>
                              <p:par>
                                <p:cTn id="44" presetID="22" presetClass="entr" presetSubtype="2" fill="hold" grpId="0" nodeType="withEffect">
                                  <p:stCondLst>
                                    <p:cond delay="0"/>
                                  </p:stCondLst>
                                  <p:childTnLst>
                                    <p:set>
                                      <p:cBhvr>
                                        <p:cTn id="45" dur="1" fill="hold">
                                          <p:stCondLst>
                                            <p:cond delay="0"/>
                                          </p:stCondLst>
                                        </p:cTn>
                                        <p:tgtEl>
                                          <p:spTgt spid="79"/>
                                        </p:tgtEl>
                                        <p:attrNameLst>
                                          <p:attrName>style.visibility</p:attrName>
                                        </p:attrNameLst>
                                      </p:cBhvr>
                                      <p:to>
                                        <p:strVal val="visible"/>
                                      </p:to>
                                    </p:set>
                                    <p:animEffect transition="in" filter="wipe(right)">
                                      <p:cBhvr>
                                        <p:cTn id="46" dur="500"/>
                                        <p:tgtEl>
                                          <p:spTgt spid="79"/>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62"/>
                                        </p:tgtEl>
                                        <p:attrNameLst>
                                          <p:attrName>style.visibility</p:attrName>
                                        </p:attrNameLst>
                                      </p:cBhvr>
                                      <p:to>
                                        <p:strVal val="visible"/>
                                      </p:to>
                                    </p:set>
                                    <p:animEffect transition="in" filter="wipe(right)">
                                      <p:cBhvr>
                                        <p:cTn id="49" dur="500"/>
                                        <p:tgtEl>
                                          <p:spTgt spid="62"/>
                                        </p:tgtEl>
                                      </p:cBhvr>
                                    </p:animEffect>
                                  </p:childTnLst>
                                </p:cTn>
                              </p:par>
                            </p:childTnLst>
                          </p:cTn>
                        </p:par>
                        <p:par>
                          <p:cTn id="50" fill="hold">
                            <p:stCondLst>
                              <p:cond delay="1500"/>
                            </p:stCondLst>
                            <p:childTnLst>
                              <p:par>
                                <p:cTn id="51" presetID="10" presetClass="entr" presetSubtype="0" fill="hold" grpId="0" nodeType="afterEffect">
                                  <p:stCondLst>
                                    <p:cond delay="0"/>
                                  </p:stCondLst>
                                  <p:childTnLst>
                                    <p:set>
                                      <p:cBhvr>
                                        <p:cTn id="52" dur="1" fill="hold">
                                          <p:stCondLst>
                                            <p:cond delay="0"/>
                                          </p:stCondLst>
                                        </p:cTn>
                                        <p:tgtEl>
                                          <p:spTgt spid="76"/>
                                        </p:tgtEl>
                                        <p:attrNameLst>
                                          <p:attrName>style.visibility</p:attrName>
                                        </p:attrNameLst>
                                      </p:cBhvr>
                                      <p:to>
                                        <p:strVal val="visible"/>
                                      </p:to>
                                    </p:set>
                                    <p:animEffect transition="in" filter="fade">
                                      <p:cBhvr>
                                        <p:cTn id="53" dur="500"/>
                                        <p:tgtEl>
                                          <p:spTgt spid="7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56"/>
                                        </p:tgtEl>
                                        <p:attrNameLst>
                                          <p:attrName>style.visibility</p:attrName>
                                        </p:attrNameLst>
                                      </p:cBhvr>
                                      <p:to>
                                        <p:strVal val="visible"/>
                                      </p:to>
                                    </p:set>
                                    <p:animEffect transition="in" filter="fade">
                                      <p:cBhvr>
                                        <p:cTn id="56" dur="500"/>
                                        <p:tgtEl>
                                          <p:spTgt spid="5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8"/>
                                        </p:tgtEl>
                                        <p:attrNameLst>
                                          <p:attrName>style.visibility</p:attrName>
                                        </p:attrNameLst>
                                      </p:cBhvr>
                                      <p:to>
                                        <p:strVal val="visible"/>
                                      </p:to>
                                    </p:set>
                                    <p:animEffect transition="in" filter="fade">
                                      <p:cBhvr>
                                        <p:cTn id="59" dur="500"/>
                                        <p:tgtEl>
                                          <p:spTgt spid="58"/>
                                        </p:tgtEl>
                                      </p:cBhvr>
                                    </p:animEffect>
                                  </p:childTnLst>
                                </p:cTn>
                              </p:par>
                            </p:childTnLst>
                          </p:cTn>
                        </p:par>
                        <p:par>
                          <p:cTn id="60" fill="hold">
                            <p:stCondLst>
                              <p:cond delay="2000"/>
                            </p:stCondLst>
                            <p:childTnLst>
                              <p:par>
                                <p:cTn id="61" presetID="10" presetClass="entr" presetSubtype="0" fill="hold" nodeType="afterEffect">
                                  <p:stCondLst>
                                    <p:cond delay="0"/>
                                  </p:stCondLst>
                                  <p:childTnLst>
                                    <p:set>
                                      <p:cBhvr>
                                        <p:cTn id="62" dur="1" fill="hold">
                                          <p:stCondLst>
                                            <p:cond delay="0"/>
                                          </p:stCondLst>
                                        </p:cTn>
                                        <p:tgtEl>
                                          <p:spTgt spid="2"/>
                                        </p:tgtEl>
                                        <p:attrNameLst>
                                          <p:attrName>style.visibility</p:attrName>
                                        </p:attrNameLst>
                                      </p:cBhvr>
                                      <p:to>
                                        <p:strVal val="visible"/>
                                      </p:to>
                                    </p:set>
                                    <p:animEffect transition="in" filter="fade">
                                      <p:cBhvr>
                                        <p:cTn id="63" dur="500"/>
                                        <p:tgtEl>
                                          <p:spTgt spid="2"/>
                                        </p:tgtEl>
                                      </p:cBhvr>
                                    </p:animEffect>
                                  </p:childTnLst>
                                </p:cTn>
                              </p:par>
                            </p:childTnLst>
                          </p:cTn>
                        </p:par>
                        <p:par>
                          <p:cTn id="64" fill="hold">
                            <p:stCondLst>
                              <p:cond delay="2500"/>
                            </p:stCondLst>
                            <p:childTnLst>
                              <p:par>
                                <p:cTn id="65" presetID="10" presetClass="entr" presetSubtype="0" fill="hold" grpId="0" nodeType="afterEffect">
                                  <p:stCondLst>
                                    <p:cond delay="0"/>
                                  </p:stCondLst>
                                  <p:childTnLst>
                                    <p:set>
                                      <p:cBhvr>
                                        <p:cTn id="66" dur="1" fill="hold">
                                          <p:stCondLst>
                                            <p:cond delay="0"/>
                                          </p:stCondLst>
                                        </p:cTn>
                                        <p:tgtEl>
                                          <p:spTgt spid="75"/>
                                        </p:tgtEl>
                                        <p:attrNameLst>
                                          <p:attrName>style.visibility</p:attrName>
                                        </p:attrNameLst>
                                      </p:cBhvr>
                                      <p:to>
                                        <p:strVal val="visible"/>
                                      </p:to>
                                    </p:set>
                                    <p:animEffect transition="in" filter="fade">
                                      <p:cBhvr>
                                        <p:cTn id="67" dur="500"/>
                                        <p:tgtEl>
                                          <p:spTgt spid="7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78"/>
                                        </p:tgtEl>
                                        <p:attrNameLst>
                                          <p:attrName>style.visibility</p:attrName>
                                        </p:attrNameLst>
                                      </p:cBhvr>
                                      <p:to>
                                        <p:strVal val="visible"/>
                                      </p:to>
                                    </p:set>
                                    <p:animEffect transition="in" filter="fade">
                                      <p:cBhvr>
                                        <p:cTn id="70" dur="500"/>
                                        <p:tgtEl>
                                          <p:spTgt spid="78"/>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3"/>
                                        </p:tgtEl>
                                        <p:attrNameLst>
                                          <p:attrName>style.visibility</p:attrName>
                                        </p:attrNameLst>
                                      </p:cBhvr>
                                      <p:to>
                                        <p:strVal val="visible"/>
                                      </p:to>
                                    </p:set>
                                    <p:animEffect transition="in" filter="fade">
                                      <p:cBhvr>
                                        <p:cTn id="7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8" grpId="0" animBg="1"/>
      <p:bldP spid="59" grpId="0" animBg="1"/>
      <p:bldP spid="61" grpId="0" animBg="1"/>
      <p:bldP spid="62" grpId="0" animBg="1"/>
      <p:bldP spid="68" grpId="0" animBg="1"/>
      <p:bldP spid="69" grpId="0" animBg="1"/>
      <p:bldP spid="70" grpId="0" animBg="1"/>
      <p:bldP spid="71" grpId="0" animBg="1"/>
      <p:bldP spid="72" grpId="0" animBg="1"/>
      <p:bldP spid="73" grpId="0" animBg="1"/>
      <p:bldP spid="74" grpId="0" animBg="1"/>
      <p:bldP spid="75" grpId="0" animBg="1"/>
      <p:bldP spid="76" grpId="0" animBg="1"/>
      <p:bldP spid="78" grpId="0" animBg="1"/>
      <p:bldP spid="79" grpId="0" animBg="1"/>
      <p:bldP spid="83" grpId="0"/>
      <p:bldP spid="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8"/>
          <p:cNvSpPr>
            <a:spLocks noChangeArrowheads="1"/>
          </p:cNvSpPr>
          <p:nvPr/>
        </p:nvSpPr>
        <p:spPr bwMode="auto">
          <a:xfrm>
            <a:off x="556963" y="965888"/>
            <a:ext cx="8210901" cy="17338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非持续</a:t>
            </a:r>
            <a:r>
              <a:rPr lang="zh-CN" altLang="en-US" sz="2000" b="1" dirty="0" smtClean="0">
                <a:latin typeface="微软雅黑" pitchFamily="34" charset="-122"/>
                <a:ea typeface="微软雅黑" pitchFamily="34" charset="-122"/>
              </a:rPr>
              <a:t>连接</a:t>
            </a:r>
            <a:endParaRPr lang="en-US" altLang="zh-CN" sz="2000" b="1" dirty="0" smtClean="0">
              <a:latin typeface="微软雅黑" pitchFamily="34" charset="-122"/>
              <a:ea typeface="微软雅黑" pitchFamily="34" charset="-122"/>
            </a:endParaRPr>
          </a:p>
          <a:p>
            <a:pPr marL="742950" lvl="1"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客户（浏览器）每发送一个请求，</a:t>
            </a:r>
            <a:r>
              <a:rPr lang="en-US" altLang="zh-CN" sz="2000" b="1" dirty="0">
                <a:latin typeface="微软雅黑" pitchFamily="34" charset="-122"/>
                <a:ea typeface="微软雅黑" pitchFamily="34" charset="-122"/>
              </a:rPr>
              <a:t>Web</a:t>
            </a:r>
            <a:r>
              <a:rPr lang="zh-CN" altLang="en-US" sz="2000" b="1" dirty="0">
                <a:latin typeface="微软雅黑" pitchFamily="34" charset="-122"/>
                <a:ea typeface="微软雅黑" pitchFamily="34" charset="-122"/>
              </a:rPr>
              <a:t>服务器在发送响应后就关闭这条</a:t>
            </a:r>
            <a:r>
              <a:rPr lang="zh-CN" altLang="en-US" sz="2000" b="1" dirty="0" smtClean="0">
                <a:latin typeface="微软雅黑" pitchFamily="34" charset="-122"/>
                <a:ea typeface="微软雅黑" pitchFamily="34" charset="-122"/>
              </a:rPr>
              <a:t>连接</a:t>
            </a:r>
            <a:r>
              <a:rPr lang="zh-CN" altLang="en-US" sz="2000" b="1" dirty="0">
                <a:latin typeface="微软雅黑" pitchFamily="34" charset="-122"/>
                <a:ea typeface="微软雅黑" pitchFamily="34" charset="-122"/>
              </a:rPr>
              <a:t>。</a:t>
            </a:r>
          </a:p>
          <a:p>
            <a:pPr marL="285750" indent="-28575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HTTP/1.0 </a:t>
            </a:r>
            <a:r>
              <a:rPr lang="zh-CN" altLang="en-US" sz="2000" b="1" dirty="0">
                <a:latin typeface="微软雅黑" pitchFamily="34" charset="-122"/>
                <a:ea typeface="微软雅黑" pitchFamily="34" charset="-122"/>
              </a:rPr>
              <a:t>协议使用非持续连接</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8" name="AutoShape 5"/>
          <p:cNvSpPr>
            <a:spLocks noChangeArrowheads="1"/>
          </p:cNvSpPr>
          <p:nvPr/>
        </p:nvSpPr>
        <p:spPr bwMode="auto">
          <a:xfrm>
            <a:off x="556963" y="614243"/>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矩形 8"/>
          <p:cNvSpPr/>
          <p:nvPr/>
        </p:nvSpPr>
        <p:spPr>
          <a:xfrm>
            <a:off x="645268" y="572003"/>
            <a:ext cx="288091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非持续连接 </a:t>
            </a:r>
            <a:r>
              <a:rPr lang="en-US" altLang="zh-CN" sz="2000" b="1" dirty="0">
                <a:latin typeface="微软雅黑" pitchFamily="34" charset="-122"/>
                <a:ea typeface="微软雅黑" pitchFamily="34" charset="-122"/>
              </a:rPr>
              <a:t>&amp; </a:t>
            </a:r>
            <a:r>
              <a:rPr lang="zh-CN" altLang="en-US" sz="2000" b="1" dirty="0">
                <a:latin typeface="微软雅黑" pitchFamily="34" charset="-122"/>
                <a:ea typeface="微软雅黑" pitchFamily="34" charset="-122"/>
              </a:rPr>
              <a:t>持续</a:t>
            </a:r>
            <a:r>
              <a:rPr lang="zh-CN" altLang="en-US" sz="2000" b="1" dirty="0" smtClean="0">
                <a:latin typeface="微软雅黑" pitchFamily="34" charset="-122"/>
                <a:ea typeface="微软雅黑" pitchFamily="34" charset="-122"/>
              </a:rPr>
              <a:t>连接</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565153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53292"/>
            <a:ext cx="2973112" cy="28751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100"/>
              </a:lnSpc>
              <a:buClr>
                <a:srgbClr val="0070C0"/>
              </a:buClr>
              <a:buFont typeface="Wingdings" pitchFamily="2" charset="2"/>
              <a:buChar char="l"/>
            </a:pPr>
            <a:r>
              <a:rPr lang="zh-CN" altLang="en-US" b="1" dirty="0">
                <a:latin typeface="微软雅黑" pitchFamily="34" charset="-122"/>
                <a:ea typeface="微软雅黑" pitchFamily="34" charset="-122"/>
              </a:rPr>
              <a:t>每请求一个文档就要有</a:t>
            </a:r>
            <a:r>
              <a:rPr lang="zh-CN" altLang="en-US" b="1" dirty="0" smtClean="0">
                <a:latin typeface="微软雅黑" pitchFamily="34" charset="-122"/>
                <a:ea typeface="微软雅黑" pitchFamily="34" charset="-122"/>
              </a:rPr>
              <a:t>两倍 </a:t>
            </a:r>
            <a:r>
              <a:rPr lang="en-US" altLang="zh-CN" b="1" dirty="0" smtClean="0">
                <a:latin typeface="微软雅黑" pitchFamily="34" charset="-122"/>
                <a:ea typeface="微软雅黑" pitchFamily="34" charset="-122"/>
              </a:rPr>
              <a:t>RTT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开销</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285750" indent="-285750" eaLnBrk="0" hangingPunct="0">
              <a:lnSpc>
                <a:spcPts val="3100"/>
              </a:lnSpc>
              <a:buClr>
                <a:srgbClr val="0070C0"/>
              </a:buClr>
              <a:buFont typeface="Wingdings" pitchFamily="2" charset="2"/>
              <a:buChar char="l"/>
            </a:pPr>
            <a:r>
              <a:rPr lang="zh-CN" altLang="en-US" b="1" dirty="0" smtClean="0">
                <a:latin typeface="微软雅黑" pitchFamily="34" charset="-122"/>
                <a:ea typeface="微软雅黑" pitchFamily="34" charset="-122"/>
              </a:rPr>
              <a:t>这种</a:t>
            </a:r>
            <a:r>
              <a:rPr lang="zh-CN" altLang="en-US" b="1" dirty="0">
                <a:solidFill>
                  <a:srgbClr val="C00000"/>
                </a:solidFill>
                <a:latin typeface="微软雅黑" pitchFamily="34" charset="-122"/>
                <a:ea typeface="微软雅黑" pitchFamily="34" charset="-122"/>
              </a:rPr>
              <a:t>非持续</a:t>
            </a:r>
            <a:r>
              <a:rPr lang="zh-CN" altLang="en-US" b="1" dirty="0" smtClean="0">
                <a:solidFill>
                  <a:srgbClr val="C00000"/>
                </a:solidFill>
                <a:latin typeface="微软雅黑" pitchFamily="34" charset="-122"/>
                <a:ea typeface="微软雅黑" pitchFamily="34" charset="-122"/>
              </a:rPr>
              <a:t>连接</a:t>
            </a:r>
            <a:r>
              <a:rPr lang="zh-CN" altLang="en-US" b="1" dirty="0">
                <a:latin typeface="微软雅黑" pitchFamily="34" charset="-122"/>
                <a:ea typeface="微软雅黑" pitchFamily="34" charset="-122"/>
              </a:rPr>
              <a:t>请求一</a:t>
            </a:r>
            <a:r>
              <a:rPr lang="zh-CN" altLang="en-US" b="1" dirty="0" smtClean="0">
                <a:latin typeface="微软雅黑" pitchFamily="34" charset="-122"/>
                <a:ea typeface="微软雅黑" pitchFamily="34" charset="-122"/>
              </a:rPr>
              <a:t>个包括多个对象的网页时要</a:t>
            </a:r>
            <a:r>
              <a:rPr lang="zh-CN" altLang="en-US" b="1" dirty="0">
                <a:latin typeface="微软雅黑" pitchFamily="34" charset="-122"/>
                <a:ea typeface="微软雅黑" pitchFamily="34" charset="-122"/>
              </a:rPr>
              <a:t>多次</a:t>
            </a:r>
            <a:r>
              <a:rPr lang="zh-CN" altLang="en-US" b="1" dirty="0" smtClean="0">
                <a:latin typeface="微软雅黑" pitchFamily="34" charset="-122"/>
                <a:ea typeface="微软雅黑" pitchFamily="34" charset="-122"/>
              </a:rPr>
              <a:t>建立连接</a:t>
            </a:r>
            <a:r>
              <a:rPr lang="zh-CN" altLang="en-US" b="1" dirty="0">
                <a:latin typeface="微软雅黑" pitchFamily="34" charset="-122"/>
                <a:ea typeface="微软雅黑" pitchFamily="34" charset="-122"/>
              </a:rPr>
              <a:t>，效率太</a:t>
            </a:r>
            <a:r>
              <a:rPr lang="zh-CN" altLang="en-US" b="1" dirty="0" smtClean="0">
                <a:latin typeface="微软雅黑" pitchFamily="34" charset="-122"/>
                <a:ea typeface="微软雅黑" pitchFamily="34" charset="-122"/>
              </a:rPr>
              <a:t>低，并且服务器</a:t>
            </a:r>
            <a:r>
              <a:rPr lang="zh-CN" altLang="en-US" b="1" dirty="0">
                <a:latin typeface="微软雅黑" pitchFamily="34" charset="-122"/>
                <a:ea typeface="微软雅黑" pitchFamily="34" charset="-122"/>
              </a:rPr>
              <a:t>的负担很重。</a:t>
            </a:r>
            <a:endParaRPr lang="en-US" altLang="zh-CN"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9908"/>
            <a:ext cx="335117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HTTP/1.0 </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主要缺点</a:t>
            </a:r>
          </a:p>
        </p:txBody>
      </p:sp>
      <p:sp>
        <p:nvSpPr>
          <p:cNvPr id="7" name="Text Box 4"/>
          <p:cNvSpPr txBox="1">
            <a:spLocks noChangeArrowheads="1"/>
          </p:cNvSpPr>
          <p:nvPr/>
        </p:nvSpPr>
        <p:spPr bwMode="auto">
          <a:xfrm>
            <a:off x="6908190" y="1122804"/>
            <a:ext cx="2026123" cy="2067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nSpc>
                <a:spcPts val="2200"/>
              </a:lnSpc>
            </a:pPr>
            <a:r>
              <a:rPr lang="zh-CN" altLang="en-US" sz="1600" b="1" dirty="0">
                <a:latin typeface="微软雅黑" panose="020B0503020204020204" pitchFamily="34" charset="-122"/>
                <a:ea typeface="微软雅黑" panose="020B0503020204020204" pitchFamily="34" charset="-122"/>
              </a:rPr>
              <a:t>假设</a:t>
            </a:r>
            <a:r>
              <a:rPr lang="zh-CN" altLang="en-US" sz="1600" b="1" dirty="0" smtClean="0">
                <a:latin typeface="微软雅黑" panose="020B0503020204020204" pitchFamily="34" charset="-122"/>
                <a:ea typeface="微软雅黑" panose="020B0503020204020204" pitchFamily="34" charset="-122"/>
              </a:rPr>
              <a:t>一</a:t>
            </a:r>
            <a:r>
              <a:rPr lang="zh-CN" altLang="en-US" sz="1600" b="1" dirty="0">
                <a:latin typeface="微软雅黑" panose="020B0503020204020204" pitchFamily="34" charset="-122"/>
                <a:ea typeface="微软雅黑" panose="020B0503020204020204" pitchFamily="34" charset="-122"/>
              </a:rPr>
              <a:t>个</a:t>
            </a:r>
            <a:r>
              <a:rPr lang="zh-CN" altLang="en-US" sz="1600" b="1" dirty="0" smtClean="0">
                <a:latin typeface="微软雅黑" panose="020B0503020204020204" pitchFamily="34" charset="-122"/>
                <a:ea typeface="微软雅黑" panose="020B0503020204020204" pitchFamily="34" charset="-122"/>
              </a:rPr>
              <a:t>主页</a:t>
            </a:r>
            <a:r>
              <a:rPr lang="en-US" altLang="zh-CN" sz="1600" b="1" dirty="0" smtClean="0">
                <a:latin typeface="微软雅黑" panose="020B0503020204020204" pitchFamily="34" charset="-122"/>
                <a:ea typeface="微软雅黑" panose="020B0503020204020204" pitchFamily="34" charset="-122"/>
              </a:rPr>
              <a:t>page.html </a:t>
            </a:r>
            <a:r>
              <a:rPr lang="zh-CN" altLang="en-US" sz="1600" b="1" dirty="0" smtClean="0">
                <a:latin typeface="微软雅黑" panose="020B0503020204020204" pitchFamily="34" charset="-122"/>
                <a:ea typeface="微软雅黑" panose="020B0503020204020204" pitchFamily="34" charset="-122"/>
              </a:rPr>
              <a:t>上有 </a:t>
            </a:r>
            <a:r>
              <a:rPr lang="en-US" altLang="zh-CN" sz="1600" b="1" dirty="0" smtClean="0">
                <a:latin typeface="微软雅黑" panose="020B0503020204020204" pitchFamily="34" charset="-122"/>
                <a:ea typeface="微软雅黑" panose="020B0503020204020204" pitchFamily="34" charset="-122"/>
              </a:rPr>
              <a:t>10 </a:t>
            </a:r>
            <a:r>
              <a:rPr lang="zh-CN" altLang="en-US" sz="1600" b="1" dirty="0" smtClean="0">
                <a:latin typeface="微软雅黑" panose="020B0503020204020204" pitchFamily="34" charset="-122"/>
                <a:ea typeface="微软雅黑" panose="020B0503020204020204" pitchFamily="34" charset="-122"/>
              </a:rPr>
              <a:t>个链接的图片：</a:t>
            </a:r>
            <a:r>
              <a:rPr lang="en-US" altLang="zh-CN" sz="1600" b="1" dirty="0" smtClean="0">
                <a:latin typeface="微软雅黑" panose="020B0503020204020204" pitchFamily="34" charset="-122"/>
                <a:ea typeface="微软雅黑" panose="020B0503020204020204" pitchFamily="34" charset="-122"/>
              </a:rPr>
              <a:t>page1.jpg</a:t>
            </a:r>
            <a:r>
              <a:rPr lang="en-US" altLang="zh-CN" sz="1600" b="1" dirty="0">
                <a:latin typeface="微软雅黑" panose="020B0503020204020204" pitchFamily="34" charset="-122"/>
                <a:ea typeface="微软雅黑" panose="020B0503020204020204" pitchFamily="34" charset="-122"/>
              </a:rPr>
              <a:t>, page2.jpg, </a:t>
            </a:r>
            <a:r>
              <a:rPr lang="en-US" altLang="zh-CN" sz="1600" b="1" dirty="0" smtClean="0">
                <a:latin typeface="微软雅黑" panose="020B0503020204020204" pitchFamily="34" charset="-122"/>
                <a:ea typeface="微软雅黑" panose="020B0503020204020204" pitchFamily="34" charset="-122"/>
              </a:rPr>
              <a:t>page3.jpg,</a:t>
            </a:r>
          </a:p>
          <a:p>
            <a:pPr>
              <a:lnSpc>
                <a:spcPts val="2200"/>
              </a:lnSpc>
            </a:pPr>
            <a:r>
              <a:rPr lang="en-US" altLang="zh-CN" sz="1600" b="1" dirty="0" smtClean="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8" name="Line 5"/>
          <p:cNvSpPr>
            <a:spLocks noChangeShapeType="1"/>
          </p:cNvSpPr>
          <p:nvPr/>
        </p:nvSpPr>
        <p:spPr bwMode="auto">
          <a:xfrm>
            <a:off x="4715307" y="1281829"/>
            <a:ext cx="6384" cy="3260286"/>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Line 6"/>
          <p:cNvSpPr>
            <a:spLocks noChangeShapeType="1"/>
          </p:cNvSpPr>
          <p:nvPr/>
        </p:nvSpPr>
        <p:spPr bwMode="auto">
          <a:xfrm flipH="1">
            <a:off x="5835636" y="1277495"/>
            <a:ext cx="12767" cy="3267871"/>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2" name="组合 51"/>
          <p:cNvGrpSpPr/>
          <p:nvPr/>
        </p:nvGrpSpPr>
        <p:grpSpPr>
          <a:xfrm>
            <a:off x="3338004" y="1266224"/>
            <a:ext cx="3595617" cy="1578522"/>
            <a:chOff x="3338004" y="1266224"/>
            <a:chExt cx="3595617" cy="1578522"/>
          </a:xfrm>
        </p:grpSpPr>
        <p:sp>
          <p:nvSpPr>
            <p:cNvPr id="18" name="Text Box 12"/>
            <p:cNvSpPr txBox="1">
              <a:spLocks noChangeArrowheads="1"/>
            </p:cNvSpPr>
            <p:nvPr/>
          </p:nvSpPr>
          <p:spPr bwMode="auto">
            <a:xfrm>
              <a:off x="5902120" y="2198103"/>
              <a:ext cx="10315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传输 </a:t>
              </a:r>
              <a:r>
                <a:rPr lang="en-US" altLang="zh-CN" sz="1200" b="1" dirty="0" smtClean="0">
                  <a:solidFill>
                    <a:srgbClr val="0000CC"/>
                  </a:solidFill>
                  <a:latin typeface="微软雅黑" panose="020B0503020204020204" pitchFamily="34" charset="-122"/>
                  <a:ea typeface="微软雅黑" panose="020B0503020204020204" pitchFamily="34" charset="-122"/>
                </a:rPr>
                <a:t>page.html </a:t>
              </a:r>
              <a:r>
                <a:rPr lang="zh-CN" altLang="en-US" sz="1200" b="1" dirty="0" smtClean="0">
                  <a:solidFill>
                    <a:srgbClr val="0000CC"/>
                  </a:solidFill>
                  <a:latin typeface="微软雅黑" panose="020B0503020204020204" pitchFamily="34" charset="-122"/>
                  <a:ea typeface="微软雅黑" panose="020B0503020204020204" pitchFamily="34" charset="-122"/>
                </a:rPr>
                <a:t>的时间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3338004" y="1266224"/>
              <a:ext cx="2613601" cy="1578522"/>
              <a:chOff x="3338004" y="1266224"/>
              <a:chExt cx="2613601" cy="1578522"/>
            </a:xfrm>
          </p:grpSpPr>
          <p:sp>
            <p:nvSpPr>
              <p:cNvPr id="13" name="Line 7"/>
              <p:cNvSpPr>
                <a:spLocks noChangeShapeType="1"/>
              </p:cNvSpPr>
              <p:nvPr/>
            </p:nvSpPr>
            <p:spPr bwMode="auto">
              <a:xfrm>
                <a:off x="4724883" y="1440021"/>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8"/>
              <p:cNvSpPr>
                <a:spLocks noChangeShapeType="1"/>
              </p:cNvSpPr>
              <p:nvPr/>
            </p:nvSpPr>
            <p:spPr bwMode="auto">
              <a:xfrm flipH="1">
                <a:off x="4715307" y="1739071"/>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
              <p:cNvSpPr>
                <a:spLocks noChangeShapeType="1"/>
              </p:cNvSpPr>
              <p:nvPr/>
            </p:nvSpPr>
            <p:spPr bwMode="auto">
              <a:xfrm>
                <a:off x="4720627" y="2085794"/>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10"/>
              <p:cNvSpPr>
                <a:spLocks noChangeShapeType="1"/>
              </p:cNvSpPr>
              <p:nvPr/>
            </p:nvSpPr>
            <p:spPr bwMode="auto">
              <a:xfrm flipH="1">
                <a:off x="4731266" y="2432938"/>
                <a:ext cx="1121392" cy="258959"/>
              </a:xfrm>
              <a:prstGeom prst="line">
                <a:avLst/>
              </a:prstGeom>
              <a:noFill/>
              <a:ln w="1270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AutoShape 11"/>
              <p:cNvSpPr>
                <a:spLocks/>
              </p:cNvSpPr>
              <p:nvPr/>
            </p:nvSpPr>
            <p:spPr bwMode="auto">
              <a:xfrm>
                <a:off x="5901600" y="2366634"/>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 name="Text Box 14"/>
              <p:cNvSpPr txBox="1">
                <a:spLocks noChangeArrowheads="1"/>
              </p:cNvSpPr>
              <p:nvPr/>
            </p:nvSpPr>
            <p:spPr bwMode="auto">
              <a:xfrm>
                <a:off x="3338004" y="1266224"/>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sp>
            <p:nvSpPr>
              <p:cNvPr id="20" name="Text Box 17"/>
              <p:cNvSpPr txBox="1">
                <a:spLocks noChangeArrowheads="1"/>
              </p:cNvSpPr>
              <p:nvPr/>
            </p:nvSpPr>
            <p:spPr bwMode="auto">
              <a:xfrm>
                <a:off x="4738206" y="1926570"/>
                <a:ext cx="1097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solidFill>
                      <a:srgbClr val="C00000"/>
                    </a:solidFill>
                    <a:latin typeface="微软雅黑" panose="020B0503020204020204" pitchFamily="34" charset="-122"/>
                    <a:ea typeface="微软雅黑" panose="020B0503020204020204" pitchFamily="34" charset="-122"/>
                  </a:rPr>
                  <a:t>GET </a:t>
                </a:r>
                <a:r>
                  <a:rPr lang="en-US" altLang="zh-CN" sz="1200" b="1" dirty="0" smtClean="0">
                    <a:solidFill>
                      <a:srgbClr val="C00000"/>
                    </a:solidFill>
                    <a:latin typeface="微软雅黑" panose="020B0503020204020204" pitchFamily="34" charset="-122"/>
                    <a:ea typeface="微软雅黑" panose="020B0503020204020204" pitchFamily="34" charset="-122"/>
                  </a:rPr>
                  <a:t>page.html</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3751375" y="2567747"/>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smtClean="0"/>
                  <a:t>收到文档</a:t>
                </a:r>
                <a:endParaRPr lang="zh-CN" altLang="en-US" dirty="0"/>
              </a:p>
            </p:txBody>
          </p:sp>
          <p:sp>
            <p:nvSpPr>
              <p:cNvPr id="24" name="Line 13"/>
              <p:cNvSpPr>
                <a:spLocks noChangeShapeType="1"/>
              </p:cNvSpPr>
              <p:nvPr/>
            </p:nvSpPr>
            <p:spPr bwMode="auto">
              <a:xfrm>
                <a:off x="4453578" y="1422685"/>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AutoShape 15"/>
              <p:cNvSpPr>
                <a:spLocks/>
              </p:cNvSpPr>
              <p:nvPr/>
            </p:nvSpPr>
            <p:spPr bwMode="auto">
              <a:xfrm>
                <a:off x="4544013" y="1457357"/>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Text Box 16"/>
              <p:cNvSpPr txBox="1">
                <a:spLocks noChangeArrowheads="1"/>
              </p:cNvSpPr>
              <p:nvPr/>
            </p:nvSpPr>
            <p:spPr bwMode="auto">
              <a:xfrm>
                <a:off x="4115245" y="159604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27" name="AutoShape 18"/>
              <p:cNvSpPr>
                <a:spLocks/>
              </p:cNvSpPr>
              <p:nvPr/>
            </p:nvSpPr>
            <p:spPr bwMode="auto">
              <a:xfrm>
                <a:off x="4548268" y="2078210"/>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19"/>
              <p:cNvSpPr txBox="1">
                <a:spLocks noChangeArrowheads="1"/>
              </p:cNvSpPr>
              <p:nvPr/>
            </p:nvSpPr>
            <p:spPr bwMode="auto">
              <a:xfrm>
                <a:off x="4128013" y="222556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29" name="Line 20"/>
              <p:cNvSpPr>
                <a:spLocks noChangeShapeType="1"/>
              </p:cNvSpPr>
              <p:nvPr/>
            </p:nvSpPr>
            <p:spPr bwMode="auto">
              <a:xfrm flipH="1">
                <a:off x="4494007" y="2733070"/>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23"/>
              <p:cNvSpPr>
                <a:spLocks noChangeShapeType="1"/>
              </p:cNvSpPr>
              <p:nvPr/>
            </p:nvSpPr>
            <p:spPr bwMode="auto">
              <a:xfrm flipH="1">
                <a:off x="4480176" y="2077126"/>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grpSp>
        <p:nvGrpSpPr>
          <p:cNvPr id="53" name="组合 52"/>
          <p:cNvGrpSpPr/>
          <p:nvPr/>
        </p:nvGrpSpPr>
        <p:grpSpPr>
          <a:xfrm>
            <a:off x="5253660" y="4257392"/>
            <a:ext cx="68093" cy="273778"/>
            <a:chOff x="5253660" y="4257392"/>
            <a:chExt cx="68093" cy="273778"/>
          </a:xfrm>
        </p:grpSpPr>
        <p:sp>
          <p:nvSpPr>
            <p:cNvPr id="37"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8"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9"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360550" y="2749191"/>
            <a:ext cx="3547641" cy="1507486"/>
            <a:chOff x="3360550" y="2749191"/>
            <a:chExt cx="3547641" cy="1507486"/>
          </a:xfrm>
        </p:grpSpPr>
        <p:grpSp>
          <p:nvGrpSpPr>
            <p:cNvPr id="4" name="组合 3"/>
            <p:cNvGrpSpPr/>
            <p:nvPr/>
          </p:nvGrpSpPr>
          <p:grpSpPr>
            <a:xfrm>
              <a:off x="3751375" y="2885392"/>
              <a:ext cx="3156816" cy="1371285"/>
              <a:chOff x="3751375" y="2841002"/>
              <a:chExt cx="3156816" cy="1371285"/>
            </a:xfrm>
          </p:grpSpPr>
          <p:sp>
            <p:nvSpPr>
              <p:cNvPr id="22" name="Line 22"/>
              <p:cNvSpPr>
                <a:spLocks noChangeShapeType="1"/>
              </p:cNvSpPr>
              <p:nvPr/>
            </p:nvSpPr>
            <p:spPr bwMode="auto">
              <a:xfrm>
                <a:off x="4723818" y="2843169"/>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24"/>
              <p:cNvSpPr>
                <a:spLocks noChangeShapeType="1"/>
              </p:cNvSpPr>
              <p:nvPr/>
            </p:nvSpPr>
            <p:spPr bwMode="auto">
              <a:xfrm flipH="1">
                <a:off x="4695092" y="3143302"/>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Line 25"/>
              <p:cNvSpPr>
                <a:spLocks noChangeShapeType="1"/>
              </p:cNvSpPr>
              <p:nvPr/>
            </p:nvSpPr>
            <p:spPr bwMode="auto">
              <a:xfrm>
                <a:off x="4716371" y="3466188"/>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3" name="Line 26"/>
              <p:cNvSpPr>
                <a:spLocks noChangeShapeType="1"/>
              </p:cNvSpPr>
              <p:nvPr/>
            </p:nvSpPr>
            <p:spPr bwMode="auto">
              <a:xfrm flipH="1">
                <a:off x="4704667" y="3785824"/>
                <a:ext cx="1121392" cy="25896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27"/>
              <p:cNvSpPr txBox="1">
                <a:spLocks noChangeArrowheads="1"/>
              </p:cNvSpPr>
              <p:nvPr/>
            </p:nvSpPr>
            <p:spPr bwMode="auto">
              <a:xfrm>
                <a:off x="4741906" y="3285853"/>
                <a:ext cx="1078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C00000"/>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en-US" altLang="zh-CN" dirty="0"/>
                  <a:t>GET page1.jpg</a:t>
                </a:r>
              </a:p>
            </p:txBody>
          </p:sp>
          <p:sp>
            <p:nvSpPr>
              <p:cNvPr id="35" name="Text Box 28"/>
              <p:cNvSpPr txBox="1">
                <a:spLocks noChangeArrowheads="1"/>
              </p:cNvSpPr>
              <p:nvPr/>
            </p:nvSpPr>
            <p:spPr bwMode="auto">
              <a:xfrm>
                <a:off x="5902121" y="3550702"/>
                <a:ext cx="100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smtClean="0"/>
                  <a:t>传输 </a:t>
                </a:r>
                <a:r>
                  <a:rPr lang="en-US" altLang="zh-CN" dirty="0" smtClean="0"/>
                  <a:t>page1.jpg</a:t>
                </a:r>
                <a:endParaRPr lang="en-US" altLang="zh-CN" dirty="0"/>
              </a:p>
              <a:p>
                <a:r>
                  <a:rPr lang="zh-CN" altLang="en-US" dirty="0"/>
                  <a:t>的时间</a:t>
                </a:r>
              </a:p>
            </p:txBody>
          </p:sp>
          <p:sp>
            <p:nvSpPr>
              <p:cNvPr id="36" name="AutoShape 29"/>
              <p:cNvSpPr>
                <a:spLocks/>
              </p:cNvSpPr>
              <p:nvPr/>
            </p:nvSpPr>
            <p:spPr bwMode="auto">
              <a:xfrm>
                <a:off x="5875001" y="3735982"/>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3"/>
              <p:cNvSpPr>
                <a:spLocks noChangeShapeType="1"/>
              </p:cNvSpPr>
              <p:nvPr/>
            </p:nvSpPr>
            <p:spPr bwMode="auto">
              <a:xfrm>
                <a:off x="4453578" y="2841002"/>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15"/>
              <p:cNvSpPr>
                <a:spLocks/>
              </p:cNvSpPr>
              <p:nvPr/>
            </p:nvSpPr>
            <p:spPr bwMode="auto">
              <a:xfrm>
                <a:off x="4544013" y="2875659"/>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Text Box 16"/>
              <p:cNvSpPr txBox="1">
                <a:spLocks noChangeArrowheads="1"/>
              </p:cNvSpPr>
              <p:nvPr/>
            </p:nvSpPr>
            <p:spPr bwMode="auto">
              <a:xfrm>
                <a:off x="4115245" y="301428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44" name="AutoShape 18"/>
              <p:cNvSpPr>
                <a:spLocks/>
              </p:cNvSpPr>
              <p:nvPr/>
            </p:nvSpPr>
            <p:spPr bwMode="auto">
              <a:xfrm>
                <a:off x="4548268" y="3444768"/>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Text Box 19"/>
              <p:cNvSpPr txBox="1">
                <a:spLocks noChangeArrowheads="1"/>
              </p:cNvSpPr>
              <p:nvPr/>
            </p:nvSpPr>
            <p:spPr bwMode="auto">
              <a:xfrm>
                <a:off x="4128013" y="3592061"/>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47" name="Line 23"/>
              <p:cNvSpPr>
                <a:spLocks noChangeShapeType="1"/>
              </p:cNvSpPr>
              <p:nvPr/>
            </p:nvSpPr>
            <p:spPr bwMode="auto">
              <a:xfrm flipH="1">
                <a:off x="4480176" y="3443685"/>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Text Box 21"/>
              <p:cNvSpPr txBox="1">
                <a:spLocks noChangeArrowheads="1"/>
              </p:cNvSpPr>
              <p:nvPr/>
            </p:nvSpPr>
            <p:spPr bwMode="auto">
              <a:xfrm>
                <a:off x="3751375" y="3935288"/>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smtClean="0"/>
                  <a:t>收到</a:t>
                </a:r>
                <a:r>
                  <a:rPr lang="zh-CN" altLang="en-US" dirty="0"/>
                  <a:t>文档</a:t>
                </a:r>
              </a:p>
            </p:txBody>
          </p:sp>
          <p:sp>
            <p:nvSpPr>
              <p:cNvPr id="49" name="Line 20"/>
              <p:cNvSpPr>
                <a:spLocks noChangeShapeType="1"/>
              </p:cNvSpPr>
              <p:nvPr/>
            </p:nvSpPr>
            <p:spPr bwMode="auto">
              <a:xfrm flipH="1">
                <a:off x="4494007" y="4100611"/>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0" name="Text Box 14"/>
            <p:cNvSpPr txBox="1">
              <a:spLocks noChangeArrowheads="1"/>
            </p:cNvSpPr>
            <p:nvPr/>
          </p:nvSpPr>
          <p:spPr bwMode="auto">
            <a:xfrm>
              <a:off x="3360550" y="2749191"/>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4" name="Rectangle 6"/>
          <p:cNvSpPr>
            <a:spLocks noChangeArrowheads="1"/>
          </p:cNvSpPr>
          <p:nvPr/>
        </p:nvSpPr>
        <p:spPr bwMode="auto">
          <a:xfrm>
            <a:off x="5358745" y="1016583"/>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55" name="Rectangle 7"/>
          <p:cNvSpPr>
            <a:spLocks noChangeArrowheads="1"/>
          </p:cNvSpPr>
          <p:nvPr/>
        </p:nvSpPr>
        <p:spPr bwMode="auto">
          <a:xfrm>
            <a:off x="4239214" y="1016583"/>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56" name="矩形 55"/>
          <p:cNvSpPr/>
          <p:nvPr/>
        </p:nvSpPr>
        <p:spPr>
          <a:xfrm>
            <a:off x="6828676" y="3251849"/>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p>
          <a:p>
            <a:pPr>
              <a:lnSpc>
                <a:spcPts val="2000"/>
              </a:lnSpc>
            </a:pPr>
            <a:r>
              <a:rPr lang="en-US" altLang="zh-CN" sz="1400" b="1" dirty="0" smtClean="0">
                <a:latin typeface="微软雅黑" panose="020B0503020204020204" pitchFamily="34" charset="-122"/>
                <a:ea typeface="微软雅黑" panose="020B0503020204020204" pitchFamily="34" charset="-122"/>
              </a:rPr>
              <a:t>   22 RTT </a:t>
            </a:r>
          </a:p>
          <a:p>
            <a:pPr>
              <a:lnSpc>
                <a:spcPts val="2000"/>
              </a:lnSpc>
            </a:pPr>
            <a:r>
              <a:rPr lang="en-US" altLang="zh-CN" sz="1400" b="1" dirty="0" smtClean="0">
                <a:latin typeface="微软雅黑" panose="020B0503020204020204" pitchFamily="34" charset="-122"/>
                <a:ea typeface="微软雅黑" panose="020B0503020204020204" pitchFamily="34" charset="-122"/>
              </a:rPr>
              <a:t>+ 11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的传输时间</a:t>
            </a:r>
            <a:endParaRPr lang="zh-CN" altLang="en-US" sz="1400" dirty="0"/>
          </a:p>
        </p:txBody>
      </p:sp>
    </p:spTree>
    <p:custDataLst>
      <p:tags r:id="rId1"/>
    </p:custDataLst>
    <p:extLst>
      <p:ext uri="{BB962C8B-B14F-4D97-AF65-F5344CB8AC3E}">
        <p14:creationId xmlns:p14="http://schemas.microsoft.com/office/powerpoint/2010/main" val="26633934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up)">
                                      <p:cBhvr>
                                        <p:cTn id="11" dur="1000"/>
                                        <p:tgtEl>
                                          <p:spTgt spid="52"/>
                                        </p:tgtEl>
                                      </p:cBhvr>
                                    </p:animEffect>
                                  </p:childTnLst>
                                </p:cTn>
                              </p:par>
                            </p:childTnLst>
                          </p:cTn>
                        </p:par>
                        <p:par>
                          <p:cTn id="12" fill="hold">
                            <p:stCondLst>
                              <p:cond delay="1500"/>
                            </p:stCondLst>
                            <p:childTnLst>
                              <p:par>
                                <p:cTn id="13" presetID="22" presetClass="entr" presetSubtype="1" fill="hold" nodeType="after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wipe(up)">
                                      <p:cBhvr>
                                        <p:cTn id="15" dur="1000"/>
                                        <p:tgtEl>
                                          <p:spTgt spid="51"/>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up)">
                                      <p:cBhvr>
                                        <p:cTn id="19" dur="1000"/>
                                        <p:tgtEl>
                                          <p:spTgt spid="53"/>
                                        </p:tgtEl>
                                      </p:cBhvr>
                                    </p:animEffect>
                                  </p:childTnLst>
                                </p:cTn>
                              </p:par>
                            </p:childTnLst>
                          </p:cTn>
                        </p:par>
                        <p:par>
                          <p:cTn id="20" fill="hold">
                            <p:stCondLst>
                              <p:cond delay="35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1000"/>
                                        <p:tgtEl>
                                          <p:spTgt spid="56"/>
                                        </p:tgtEl>
                                      </p:cBhvr>
                                    </p:animEffect>
                                  </p:childTnLst>
                                </p:cTn>
                              </p:par>
                            </p:childTnLst>
                          </p:cTn>
                        </p:par>
                        <p:par>
                          <p:cTn id="24" fill="hold">
                            <p:stCondLst>
                              <p:cond delay="4500"/>
                            </p:stCondLst>
                            <p:childTnLst>
                              <p:par>
                                <p:cTn id="25" presetID="10" presetClass="entr" presetSubtype="0" fill="hold" nodeType="afterEffect">
                                  <p:stCondLst>
                                    <p:cond delay="0"/>
                                  </p:stCondLst>
                                  <p:childTnLst>
                                    <p:set>
                                      <p:cBhvr>
                                        <p:cTn id="26" dur="1" fill="hold">
                                          <p:stCondLst>
                                            <p:cond delay="0"/>
                                          </p:stCondLst>
                                        </p:cTn>
                                        <p:tgtEl>
                                          <p:spTgt spid="10">
                                            <p:txEl>
                                              <p:pRg st="1" end="1"/>
                                            </p:txEl>
                                          </p:spTgt>
                                        </p:tgtEl>
                                        <p:attrNameLst>
                                          <p:attrName>style.visibility</p:attrName>
                                        </p:attrNameLst>
                                      </p:cBhvr>
                                      <p:to>
                                        <p:strVal val="visible"/>
                                      </p:to>
                                    </p:set>
                                    <p:animEffect transition="in" filter="fade">
                                      <p:cBhvr>
                                        <p:cTn id="27" dur="500"/>
                                        <p:tgtEl>
                                          <p:spTgt spid="1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56"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持续</a:t>
            </a:r>
            <a:r>
              <a:rPr lang="zh-CN" altLang="en-US" sz="2000" b="1" dirty="0" smtClean="0">
                <a:solidFill>
                  <a:srgbClr val="C00000"/>
                </a:solidFill>
                <a:latin typeface="微软雅黑" pitchFamily="34" charset="-122"/>
                <a:ea typeface="微软雅黑" pitchFamily="34" charset="-122"/>
              </a:rPr>
              <a:t>连接</a:t>
            </a:r>
            <a:r>
              <a:rPr lang="zh-CN" altLang="en-US"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persistent connection</a:t>
            </a:r>
            <a:r>
              <a:rPr lang="zh-CN" altLang="en-US" sz="2000" b="1" dirty="0" smtClean="0">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在发送响应后仍然在一段时间内</a:t>
            </a:r>
            <a:r>
              <a:rPr lang="zh-CN" altLang="en-US" sz="2000" b="1" dirty="0">
                <a:solidFill>
                  <a:srgbClr val="0000FF"/>
                </a:solidFill>
                <a:latin typeface="微软雅黑" pitchFamily="34" charset="-122"/>
                <a:ea typeface="微软雅黑" pitchFamily="34" charset="-122"/>
              </a:rPr>
              <a:t>保持</a:t>
            </a:r>
            <a:r>
              <a:rPr lang="zh-CN" altLang="en-US" sz="2000" b="1" dirty="0">
                <a:latin typeface="微软雅黑" pitchFamily="34" charset="-122"/>
                <a:ea typeface="微软雅黑" pitchFamily="34" charset="-122"/>
              </a:rPr>
              <a:t>这条</a:t>
            </a:r>
            <a:r>
              <a:rPr lang="zh-CN" altLang="en-US" sz="2000" b="1" dirty="0" smtClean="0">
                <a:latin typeface="微软雅黑" pitchFamily="34" charset="-122"/>
                <a:ea typeface="微软雅黑" pitchFamily="34" charset="-122"/>
              </a:rPr>
              <a:t>连接（不释放），</a:t>
            </a:r>
            <a:r>
              <a:rPr lang="zh-CN" altLang="en-US" sz="2000" b="1" dirty="0">
                <a:latin typeface="微软雅黑" pitchFamily="34" charset="-122"/>
                <a:ea typeface="微软雅黑" pitchFamily="34" charset="-122"/>
              </a:rPr>
              <a:t>使同一个客户（浏览器）和该服务器可以继续在这条连接上传送后续</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请求</a:t>
            </a:r>
            <a:r>
              <a:rPr lang="zh-CN" altLang="en-US" sz="2000" b="1" dirty="0">
                <a:latin typeface="微软雅黑" pitchFamily="34" charset="-122"/>
                <a:ea typeface="微软雅黑" pitchFamily="34" charset="-122"/>
              </a:rPr>
              <a:t>报文和响应报文</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只要文档</a:t>
            </a:r>
            <a:r>
              <a:rPr lang="zh-CN" altLang="en-US" sz="2000" b="1" dirty="0">
                <a:latin typeface="微软雅黑" pitchFamily="34" charset="-122"/>
                <a:ea typeface="微软雅黑" pitchFamily="34" charset="-122"/>
              </a:rPr>
              <a:t>都在同一个服务器</a:t>
            </a:r>
            <a:r>
              <a:rPr lang="zh-CN" altLang="en-US" sz="2000" b="1" dirty="0" smtClean="0">
                <a:latin typeface="微软雅黑" pitchFamily="34" charset="-122"/>
                <a:ea typeface="微软雅黑" pitchFamily="34" charset="-122"/>
              </a:rPr>
              <a:t>上，就可以继续使用该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连接。</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两种工作</a:t>
            </a:r>
            <a:r>
              <a:rPr lang="zh-CN" altLang="en-US" sz="2000" b="1" dirty="0" smtClean="0">
                <a:solidFill>
                  <a:srgbClr val="0000FF"/>
                </a:solidFill>
                <a:latin typeface="微软雅黑" pitchFamily="34" charset="-122"/>
                <a:ea typeface="微软雅黑" pitchFamily="34" charset="-122"/>
              </a:rPr>
              <a:t>方式：</a:t>
            </a:r>
            <a:endParaRPr lang="en-US" altLang="zh-CN" sz="2000" b="1" dirty="0" smtClean="0">
              <a:solidFill>
                <a:srgbClr val="0000FF"/>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非流水线方式 </a:t>
            </a:r>
            <a:r>
              <a:rPr lang="en-US" altLang="zh-CN" sz="2000" b="1" dirty="0">
                <a:latin typeface="微软雅黑" pitchFamily="34" charset="-122"/>
                <a:ea typeface="微软雅黑" pitchFamily="34" charset="-122"/>
              </a:rPr>
              <a:t>(without pipelining)</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流水线方式 </a:t>
            </a:r>
            <a:r>
              <a:rPr lang="en-US" altLang="zh-CN" sz="2000" b="1" dirty="0">
                <a:latin typeface="微软雅黑" pitchFamily="34" charset="-122"/>
                <a:ea typeface="微软雅黑" pitchFamily="34" charset="-122"/>
              </a:rPr>
              <a:t>(with pipelining)</a:t>
            </a:r>
            <a:r>
              <a:rPr lang="zh-CN" altLang="en-US" sz="2000" b="1" dirty="0">
                <a:latin typeface="微软雅黑" pitchFamily="34" charset="-122"/>
                <a:ea typeface="微软雅黑" pitchFamily="34" charset="-122"/>
              </a:rPr>
              <a:t>。</a:t>
            </a: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68459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HTTP/1.1 </a:t>
            </a:r>
            <a:r>
              <a:rPr lang="zh-CN" altLang="en-US" sz="2000" b="1" dirty="0" smtClean="0">
                <a:latin typeface="微软雅黑" pitchFamily="34" charset="-122"/>
                <a:ea typeface="微软雅黑" pitchFamily="34" charset="-122"/>
              </a:rPr>
              <a:t>使用</a:t>
            </a:r>
            <a:r>
              <a:rPr lang="zh-CN" altLang="en-US" sz="2000" b="1" dirty="0" smtClean="0">
                <a:solidFill>
                  <a:srgbClr val="0000CC"/>
                </a:solidFill>
                <a:latin typeface="微软雅黑" pitchFamily="34" charset="-122"/>
                <a:ea typeface="微软雅黑" pitchFamily="34" charset="-122"/>
              </a:rPr>
              <a:t>持续连接</a:t>
            </a:r>
            <a:endParaRPr lang="zh-CN" altLang="en-US" sz="2000" b="1" dirty="0">
              <a:solidFill>
                <a:srgbClr val="0000CC"/>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9066106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fade">
                                      <p:cBhvr>
                                        <p:cTn id="12" dur="500"/>
                                        <p:tgtEl>
                                          <p:spTgt spid="10">
                                            <p:txEl>
                                              <p:pRg st="2" end="2"/>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xEl>
                                              <p:pRg st="3" end="3"/>
                                            </p:txEl>
                                          </p:spTgt>
                                        </p:tgtEl>
                                        <p:attrNameLst>
                                          <p:attrName>style.visibility</p:attrName>
                                        </p:attrNameLst>
                                      </p:cBhvr>
                                      <p:to>
                                        <p:strVal val="visible"/>
                                      </p:to>
                                    </p:set>
                                    <p:animEffect transition="in" filter="fade">
                                      <p:cBhvr>
                                        <p:cTn id="15" dur="500"/>
                                        <p:tgtEl>
                                          <p:spTgt spid="10">
                                            <p:txEl>
                                              <p:pRg st="3" end="3"/>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xEl>
                                              <p:pRg st="4" end="4"/>
                                            </p:txEl>
                                          </p:spTgt>
                                        </p:tgtEl>
                                        <p:attrNameLst>
                                          <p:attrName>style.visibility</p:attrName>
                                        </p:attrNameLst>
                                      </p:cBhvr>
                                      <p:to>
                                        <p:strVal val="visible"/>
                                      </p:to>
                                    </p:set>
                                    <p:animEffect transition="in" filter="fade">
                                      <p:cBhvr>
                                        <p:cTn id="18"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客户在收到前一个</a:t>
            </a:r>
            <a:r>
              <a:rPr lang="zh-CN" altLang="en-US" sz="2000" b="1" dirty="0" smtClean="0">
                <a:latin typeface="微软雅黑" pitchFamily="34" charset="-122"/>
                <a:ea typeface="微软雅黑" pitchFamily="34" charset="-122"/>
              </a:rPr>
              <a:t>响应</a:t>
            </a:r>
            <a:r>
              <a:rPr lang="zh-CN" altLang="en-US" sz="2000" b="1" dirty="0" smtClean="0">
                <a:solidFill>
                  <a:srgbClr val="C00000"/>
                </a:solidFill>
                <a:latin typeface="微软雅黑" pitchFamily="34" charset="-122"/>
                <a:ea typeface="微软雅黑" pitchFamily="34" charset="-122"/>
              </a:rPr>
              <a:t>之后</a:t>
            </a:r>
            <a:r>
              <a:rPr lang="zh-CN" altLang="en-US" sz="2000" b="1" dirty="0">
                <a:latin typeface="微软雅黑" pitchFamily="34" charset="-122"/>
                <a:ea typeface="微软雅黑" pitchFamily="34" charset="-122"/>
              </a:rPr>
              <a:t>才能发出下一个</a:t>
            </a:r>
            <a:r>
              <a:rPr lang="zh-CN" altLang="en-US" sz="2000" b="1" dirty="0" smtClean="0">
                <a:latin typeface="微软雅黑" pitchFamily="34" charset="-122"/>
                <a:ea typeface="微软雅黑" pitchFamily="34" charset="-122"/>
              </a:rPr>
              <a:t>请求。</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类似于停等协议</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缺点：</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连接空闲状态。</a:t>
            </a:r>
            <a:endParaRPr lang="zh-CN" altLang="en-US" sz="2000" b="1" dirty="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8289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持续</a:t>
            </a:r>
            <a:r>
              <a:rPr lang="zh-CN" altLang="en-US" sz="2000" b="1" dirty="0">
                <a:latin typeface="微软雅黑" pitchFamily="34" charset="-122"/>
                <a:ea typeface="微软雅黑" pitchFamily="34" charset="-122"/>
              </a:rPr>
              <a:t>连接：非流水线方式 </a:t>
            </a: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grpSp>
        <p:nvGrpSpPr>
          <p:cNvPr id="54" name="组合 53"/>
          <p:cNvGrpSpPr/>
          <p:nvPr/>
        </p:nvGrpSpPr>
        <p:grpSpPr>
          <a:xfrm>
            <a:off x="3775648" y="1248914"/>
            <a:ext cx="2769774" cy="861437"/>
            <a:chOff x="3775648" y="1248914"/>
            <a:chExt cx="2769774" cy="861437"/>
          </a:xfrm>
        </p:grpSpPr>
        <p:grpSp>
          <p:nvGrpSpPr>
            <p:cNvPr id="49" name="组合 48"/>
            <p:cNvGrpSpPr/>
            <p:nvPr/>
          </p:nvGrpSpPr>
          <p:grpSpPr>
            <a:xfrm>
              <a:off x="5016247" y="1762124"/>
              <a:ext cx="1503604" cy="348227"/>
              <a:chOff x="5442383" y="1762124"/>
              <a:chExt cx="1503604" cy="348227"/>
            </a:xfrm>
          </p:grpSpPr>
          <p:sp>
            <p:nvSpPr>
              <p:cNvPr id="26" name="Rectangle 21"/>
              <p:cNvSpPr>
                <a:spLocks noChangeArrowheads="1"/>
              </p:cNvSpPr>
              <p:nvPr/>
            </p:nvSpPr>
            <p:spPr bwMode="auto">
              <a:xfrm rot="21230751">
                <a:off x="5442383" y="1762124"/>
                <a:ext cx="1503604" cy="348227"/>
              </a:xfrm>
              <a:prstGeom prst="rect">
                <a:avLst/>
              </a:prstGeom>
              <a:solidFill>
                <a:schemeClr val="tx2">
                  <a:lumMod val="60000"/>
                  <a:lumOff val="40000"/>
                </a:schemeClr>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grpSp>
      <p:grpSp>
        <p:nvGrpSpPr>
          <p:cNvPr id="44" name="组合 43"/>
          <p:cNvGrpSpPr/>
          <p:nvPr/>
        </p:nvGrpSpPr>
        <p:grpSpPr>
          <a:xfrm>
            <a:off x="5700971" y="36092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3" name="矩形 52"/>
          <p:cNvSpPr/>
          <p:nvPr/>
        </p:nvSpPr>
        <p:spPr>
          <a:xfrm>
            <a:off x="6661084" y="1881928"/>
            <a:ext cx="2105638" cy="1631216"/>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p>
          <a:p>
            <a:pPr>
              <a:lnSpc>
                <a:spcPts val="2000"/>
              </a:lnSpc>
            </a:pPr>
            <a:r>
              <a:rPr lang="en-US" altLang="zh-CN" sz="1400" b="1" dirty="0" smtClean="0">
                <a:latin typeface="微软雅黑" panose="020B0503020204020204" pitchFamily="34" charset="-122"/>
                <a:ea typeface="微软雅黑" panose="020B0503020204020204" pitchFamily="34" charset="-122"/>
              </a:rPr>
              <a:t>+ page.html </a:t>
            </a:r>
            <a:r>
              <a:rPr lang="zh-CN" altLang="en-US" sz="1400" b="1" dirty="0" smtClean="0">
                <a:latin typeface="微软雅黑" panose="020B0503020204020204" pitchFamily="34" charset="-122"/>
                <a:ea typeface="微软雅黑" panose="020B0503020204020204" pitchFamily="34" charset="-122"/>
              </a:rPr>
              <a:t>传输时间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+ 10 RTT</a:t>
            </a:r>
          </a:p>
          <a:p>
            <a:pPr>
              <a:lnSpc>
                <a:spcPts val="2000"/>
              </a:lnSpc>
            </a:pPr>
            <a:r>
              <a:rPr lang="en-US" altLang="zh-CN" sz="1400" b="1" dirty="0" smtClean="0">
                <a:latin typeface="微软雅黑" panose="020B0503020204020204" pitchFamily="34" charset="-122"/>
                <a:ea typeface="微软雅黑" panose="020B0503020204020204" pitchFamily="34" charset="-122"/>
              </a:rPr>
              <a:t>+ 10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空闲时间</a:t>
            </a:r>
            <a:endParaRPr lang="zh-CN" altLang="en-US" sz="1400" dirty="0"/>
          </a:p>
        </p:txBody>
      </p:sp>
      <p:grpSp>
        <p:nvGrpSpPr>
          <p:cNvPr id="63" name="组合 62"/>
          <p:cNvGrpSpPr/>
          <p:nvPr/>
        </p:nvGrpSpPr>
        <p:grpSpPr>
          <a:xfrm>
            <a:off x="4308273" y="2070235"/>
            <a:ext cx="2203727" cy="807585"/>
            <a:chOff x="4308273" y="2070235"/>
            <a:chExt cx="2203727" cy="807585"/>
          </a:xfrm>
        </p:grpSpPr>
        <p:grpSp>
          <p:nvGrpSpPr>
            <p:cNvPr id="50" name="组合 49"/>
            <p:cNvGrpSpPr/>
            <p:nvPr/>
          </p:nvGrpSpPr>
          <p:grpSpPr>
            <a:xfrm>
              <a:off x="4308273" y="2070235"/>
              <a:ext cx="2201256" cy="723594"/>
              <a:chOff x="4734409" y="1919309"/>
              <a:chExt cx="2201256" cy="723594"/>
            </a:xfrm>
          </p:grpSpPr>
          <p:grpSp>
            <p:nvGrpSpPr>
              <p:cNvPr id="31" name="Group 26"/>
              <p:cNvGrpSpPr>
                <a:grpSpLocks/>
              </p:cNvGrpSpPr>
              <p:nvPr/>
            </p:nvGrpSpPr>
            <p:grpSpPr bwMode="auto">
              <a:xfrm>
                <a:off x="5443288" y="2294674"/>
                <a:ext cx="1492377" cy="348229"/>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B050"/>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sp>
            <p:nvSpPr>
              <p:cNvPr id="32" name="Text Box 29"/>
              <p:cNvSpPr txBox="1">
                <a:spLocks noChangeArrowheads="1"/>
              </p:cNvSpPr>
              <p:nvPr/>
            </p:nvSpPr>
            <p:spPr bwMode="auto">
              <a:xfrm>
                <a:off x="4734409" y="191930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226133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58" name="直接连接符 57"/>
            <p:cNvCxnSpPr/>
            <p:nvPr/>
          </p:nvCxnSpPr>
          <p:spPr>
            <a:xfrm>
              <a:off x="4785064" y="2223945"/>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785064" y="2877820"/>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flipV="1">
              <a:off x="4986740" y="2175669"/>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grpSp>
        <p:nvGrpSpPr>
          <p:cNvPr id="64" name="组合 63"/>
          <p:cNvGrpSpPr/>
          <p:nvPr/>
        </p:nvGrpSpPr>
        <p:grpSpPr>
          <a:xfrm>
            <a:off x="4308273" y="2735353"/>
            <a:ext cx="2210259" cy="742899"/>
            <a:chOff x="4308273" y="2735353"/>
            <a:chExt cx="2210259" cy="742899"/>
          </a:xfrm>
        </p:grpSpPr>
        <p:grpSp>
          <p:nvGrpSpPr>
            <p:cNvPr id="51" name="组合 50"/>
            <p:cNvGrpSpPr/>
            <p:nvPr/>
          </p:nvGrpSpPr>
          <p:grpSpPr>
            <a:xfrm>
              <a:off x="4308273" y="2735353"/>
              <a:ext cx="2210259" cy="742899"/>
              <a:chOff x="4734409" y="2531159"/>
              <a:chExt cx="2210259" cy="742899"/>
            </a:xfrm>
          </p:grpSpPr>
          <p:grpSp>
            <p:nvGrpSpPr>
              <p:cNvPr id="36" name="Group 31"/>
              <p:cNvGrpSpPr>
                <a:grpSpLocks/>
              </p:cNvGrpSpPr>
              <p:nvPr/>
            </p:nvGrpSpPr>
            <p:grpSpPr bwMode="auto">
              <a:xfrm>
                <a:off x="5440713" y="2925831"/>
                <a:ext cx="1503955" cy="348227"/>
                <a:chOff x="1145" y="3634"/>
                <a:chExt cx="1169" cy="384"/>
              </a:xfrm>
            </p:grpSpPr>
            <p:sp>
              <p:nvSpPr>
                <p:cNvPr id="38" name="Rectangle 32"/>
                <p:cNvSpPr>
                  <a:spLocks noChangeArrowheads="1"/>
                </p:cNvSpPr>
                <p:nvPr/>
              </p:nvSpPr>
              <p:spPr bwMode="auto">
                <a:xfrm rot="21347042">
                  <a:off x="1145" y="3634"/>
                  <a:ext cx="1169" cy="384"/>
                </a:xfrm>
                <a:prstGeom prst="rect">
                  <a:avLst/>
                </a:prstGeom>
                <a:solidFill>
                  <a:srgbClr val="FFC000"/>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734409" y="253115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6" name="Line 18"/>
            <p:cNvSpPr>
              <a:spLocks noChangeShapeType="1"/>
            </p:cNvSpPr>
            <p:nvPr/>
          </p:nvSpPr>
          <p:spPr bwMode="auto">
            <a:xfrm>
              <a:off x="4977710" y="2935942"/>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62" name="直接连接符 61"/>
            <p:cNvCxnSpPr/>
            <p:nvPr/>
          </p:nvCxnSpPr>
          <p:spPr>
            <a:xfrm flipV="1">
              <a:off x="4986740" y="2815624"/>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spTree>
    <p:custDataLst>
      <p:tags r:id="rId1"/>
    </p:custDataLst>
    <p:extLst>
      <p:ext uri="{BB962C8B-B14F-4D97-AF65-F5344CB8AC3E}">
        <p14:creationId xmlns:p14="http://schemas.microsoft.com/office/powerpoint/2010/main" val="25334113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up)">
                                      <p:cBhvr>
                                        <p:cTn id="7" dur="1000"/>
                                        <p:tgtEl>
                                          <p:spTgt spid="5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3"/>
                                        </p:tgtEl>
                                        <p:attrNameLst>
                                          <p:attrName>style.visibility</p:attrName>
                                        </p:attrNameLst>
                                      </p:cBhvr>
                                      <p:to>
                                        <p:strVal val="visible"/>
                                      </p:to>
                                    </p:set>
                                    <p:animEffect transition="in" filter="wipe(up)">
                                      <p:cBhvr>
                                        <p:cTn id="11" dur="1000"/>
                                        <p:tgtEl>
                                          <p:spTgt spid="63"/>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wipe(up)">
                                      <p:cBhvr>
                                        <p:cTn id="15" dur="1000"/>
                                        <p:tgtEl>
                                          <p:spTgt spid="64"/>
                                        </p:tgtEl>
                                      </p:cBhvr>
                                    </p:animEffect>
                                  </p:childTnLst>
                                </p:cTn>
                              </p:par>
                            </p:childTnLst>
                          </p:cTn>
                        </p:par>
                        <p:par>
                          <p:cTn id="16" fill="hold">
                            <p:stCondLst>
                              <p:cond delay="3000"/>
                            </p:stCondLst>
                            <p:childTnLst>
                              <p:par>
                                <p:cTn id="17" presetID="22" presetClass="entr" presetSubtype="1" fill="hold"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wipe(up)">
                                      <p:cBhvr>
                                        <p:cTn id="19" dur="1000"/>
                                        <p:tgtEl>
                                          <p:spTgt spid="44"/>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wipe(up)">
                                      <p:cBhvr>
                                        <p:cTn id="23" dur="1000"/>
                                        <p:tgtEl>
                                          <p:spTgt spid="52"/>
                                        </p:tgtEl>
                                      </p:cBhvr>
                                    </p:animEffect>
                                  </p:childTnLst>
                                </p:cTn>
                              </p:par>
                            </p:childTnLst>
                          </p:cTn>
                        </p:par>
                        <p:par>
                          <p:cTn id="24" fill="hold">
                            <p:stCondLst>
                              <p:cond delay="5000"/>
                            </p:stCondLst>
                            <p:childTnLst>
                              <p:par>
                                <p:cTn id="25" presetID="10" presetClass="entr" presetSubtype="0"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10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0">
                                            <p:txEl>
                                              <p:pRg st="2" end="2"/>
                                            </p:txEl>
                                          </p:spTgt>
                                        </p:tgtEl>
                                        <p:attrNameLst>
                                          <p:attrName>style.visibility</p:attrName>
                                        </p:attrNameLst>
                                      </p:cBhvr>
                                      <p:to>
                                        <p:strVal val="visible"/>
                                      </p:to>
                                    </p:set>
                                    <p:animEffect transition="in" filter="fade">
                                      <p:cBhvr>
                                        <p:cTn id="32" dur="500"/>
                                        <p:tgtEl>
                                          <p:spTgt spid="1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p:cNvSpPr txBox="1"/>
          <p:nvPr/>
        </p:nvSpPr>
        <p:spPr>
          <a:xfrm>
            <a:off x="5615850" y="2503141"/>
            <a:ext cx="369332" cy="268073"/>
          </a:xfrm>
          <a:prstGeom prst="rect">
            <a:avLst/>
          </a:prstGeom>
          <a:noFill/>
        </p:spPr>
        <p:txBody>
          <a:bodyPr vert="eaVert" wrap="square" rtlCol="0">
            <a:spAutoFit/>
          </a:bodyPr>
          <a:lstStyle/>
          <a:p>
            <a:r>
              <a:rPr lang="en-US" altLang="zh-CN" sz="1200" b="1" dirty="0" smtClean="0"/>
              <a:t>...</a:t>
            </a:r>
            <a:endParaRPr lang="zh-CN" altLang="en-US" sz="1200" b="1" dirty="0"/>
          </a:p>
        </p:txBody>
      </p:sp>
      <p:sp>
        <p:nvSpPr>
          <p:cNvPr id="10" name="Rectangle 68"/>
          <p:cNvSpPr>
            <a:spLocks noChangeArrowheads="1"/>
          </p:cNvSpPr>
          <p:nvPr/>
        </p:nvSpPr>
        <p:spPr bwMode="auto">
          <a:xfrm>
            <a:off x="556963" y="921762"/>
            <a:ext cx="3045773"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客户</a:t>
            </a:r>
            <a:r>
              <a:rPr lang="zh-CN" altLang="en-US" sz="2000" b="1" dirty="0">
                <a:latin typeface="微软雅黑" pitchFamily="34" charset="-122"/>
                <a:ea typeface="微软雅黑" pitchFamily="34" charset="-122"/>
              </a:rPr>
              <a:t>在</a:t>
            </a:r>
            <a:r>
              <a:rPr lang="zh-CN" altLang="en-US" sz="2000" b="1" dirty="0" smtClean="0">
                <a:latin typeface="微软雅黑" pitchFamily="34" charset="-122"/>
                <a:ea typeface="微软雅黑" pitchFamily="34" charset="-122"/>
              </a:rPr>
              <a:t>收到响应</a:t>
            </a:r>
            <a:r>
              <a:rPr lang="zh-CN" altLang="en-US" sz="2000" b="1" dirty="0">
                <a:latin typeface="微软雅黑" pitchFamily="34" charset="-122"/>
                <a:ea typeface="微软雅黑" pitchFamily="34" charset="-122"/>
              </a:rPr>
              <a:t>报文</a:t>
            </a:r>
            <a:r>
              <a:rPr lang="zh-CN" altLang="en-US" sz="2000" b="1" dirty="0">
                <a:solidFill>
                  <a:srgbClr val="C00000"/>
                </a:solidFill>
                <a:latin typeface="微软雅黑" pitchFamily="34" charset="-122"/>
                <a:ea typeface="微软雅黑" pitchFamily="34" charset="-122"/>
              </a:rPr>
              <a:t>之前</a:t>
            </a:r>
            <a:r>
              <a:rPr lang="zh-CN" altLang="en-US" sz="2000" b="1" dirty="0">
                <a:latin typeface="微软雅黑" pitchFamily="34" charset="-122"/>
                <a:ea typeface="微软雅黑" pitchFamily="34" charset="-122"/>
              </a:rPr>
              <a:t>就能够接着发送新的请求报文</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连续的多个请求</a:t>
            </a:r>
            <a:r>
              <a:rPr lang="zh-CN" altLang="en-US" sz="2000" b="1" dirty="0">
                <a:latin typeface="微软雅黑" pitchFamily="34" charset="-122"/>
                <a:ea typeface="微软雅黑" pitchFamily="34" charset="-122"/>
              </a:rPr>
              <a:t>报文到达服务器后，服务器就可连续发回响应报文</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下载效率</a:t>
            </a:r>
            <a:r>
              <a:rPr lang="zh-CN" altLang="en-US" sz="2000" b="1" dirty="0">
                <a:latin typeface="微软雅黑" pitchFamily="34" charset="-122"/>
                <a:ea typeface="微软雅黑" pitchFamily="34" charset="-122"/>
              </a:rPr>
              <a:t>提高</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282641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持续</a:t>
            </a:r>
            <a:r>
              <a:rPr lang="zh-CN" altLang="en-US" sz="2000" b="1" dirty="0">
                <a:latin typeface="微软雅黑" pitchFamily="34" charset="-122"/>
                <a:ea typeface="微软雅黑" pitchFamily="34" charset="-122"/>
              </a:rPr>
              <a:t>连接</a:t>
            </a:r>
            <a:r>
              <a:rPr lang="zh-CN" altLang="en-US" sz="2000" b="1" dirty="0" smtClean="0">
                <a:latin typeface="微软雅黑" pitchFamily="34" charset="-122"/>
                <a:ea typeface="微软雅黑" pitchFamily="34" charset="-122"/>
              </a:rPr>
              <a:t>：流水线</a:t>
            </a:r>
            <a:r>
              <a:rPr lang="zh-CN" altLang="en-US" sz="2000" b="1" dirty="0">
                <a:latin typeface="微软雅黑" pitchFamily="34" charset="-122"/>
                <a:ea typeface="微软雅黑" pitchFamily="34" charset="-122"/>
              </a:rPr>
              <a:t>方式 </a:t>
            </a: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23" name="Line 18"/>
          <p:cNvSpPr>
            <a:spLocks noChangeShapeType="1"/>
          </p:cNvSpPr>
          <p:nvPr/>
        </p:nvSpPr>
        <p:spPr bwMode="auto">
          <a:xfrm>
            <a:off x="4985561"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4995609" y="1491214"/>
            <a:ext cx="1493552" cy="9520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011132" y="1656841"/>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3876153" y="1131631"/>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3" name="矩形 52"/>
          <p:cNvSpPr/>
          <p:nvPr/>
        </p:nvSpPr>
        <p:spPr>
          <a:xfrm>
            <a:off x="6951134" y="2028285"/>
            <a:ext cx="2105638" cy="1374735"/>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2 </a:t>
            </a:r>
            <a:r>
              <a:rPr lang="en-US" altLang="zh-CN" sz="1400" b="1" dirty="0" smtClean="0">
                <a:latin typeface="微软雅黑" panose="020B0503020204020204" pitchFamily="34" charset="-122"/>
                <a:ea typeface="微软雅黑" panose="020B0503020204020204" pitchFamily="34" charset="-122"/>
              </a:rPr>
              <a:t>RTT </a:t>
            </a:r>
          </a:p>
          <a:p>
            <a:pPr>
              <a:lnSpc>
                <a:spcPts val="2000"/>
              </a:lnSpc>
            </a:pPr>
            <a:r>
              <a:rPr lang="en-US" altLang="zh-CN" sz="1400" b="1" dirty="0">
                <a:latin typeface="微软雅黑" panose="020B0503020204020204" pitchFamily="34" charset="-122"/>
                <a:ea typeface="微软雅黑" panose="020B0503020204020204" pitchFamily="34" charset="-122"/>
              </a:rPr>
              <a:t>+ page.html </a:t>
            </a:r>
            <a:r>
              <a:rPr lang="zh-CN" altLang="en-US" sz="1400" b="1" dirty="0">
                <a:latin typeface="微软雅黑" panose="020B0503020204020204" pitchFamily="34" charset="-122"/>
                <a:ea typeface="微软雅黑" panose="020B0503020204020204" pitchFamily="34" charset="-122"/>
              </a:rPr>
              <a:t>传输时间</a:t>
            </a:r>
            <a:endParaRPr lang="en-US" altLang="zh-CN" sz="1400" b="1" dirty="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1 </a:t>
            </a:r>
            <a:r>
              <a:rPr lang="en-US" altLang="zh-CN" sz="1400" b="1" dirty="0">
                <a:latin typeface="微软雅黑" panose="020B0503020204020204" pitchFamily="34" charset="-122"/>
                <a:ea typeface="微软雅黑" panose="020B0503020204020204" pitchFamily="34" charset="-122"/>
              </a:rPr>
              <a:t>RTT</a:t>
            </a:r>
          </a:p>
          <a:p>
            <a:pPr>
              <a:lnSpc>
                <a:spcPts val="2000"/>
              </a:lnSpc>
            </a:pPr>
            <a:r>
              <a:rPr lang="en-US" altLang="zh-CN" sz="1400" b="1" dirty="0">
                <a:latin typeface="微软雅黑" panose="020B0503020204020204" pitchFamily="34" charset="-122"/>
                <a:ea typeface="微软雅黑" panose="020B0503020204020204" pitchFamily="34" charset="-122"/>
              </a:rPr>
              <a:t>+ 10 </a:t>
            </a:r>
            <a:r>
              <a:rPr lang="zh-CN" altLang="en-US" sz="1400" b="1" dirty="0">
                <a:latin typeface="微软雅黑" panose="020B0503020204020204" pitchFamily="34" charset="-122"/>
                <a:ea typeface="微软雅黑" panose="020B0503020204020204" pitchFamily="34" charset="-122"/>
              </a:rPr>
              <a:t>个文档的传输</a:t>
            </a:r>
            <a:r>
              <a:rPr lang="zh-CN" altLang="en-US" sz="1400" b="1" dirty="0" smtClean="0">
                <a:latin typeface="微软雅黑" panose="020B0503020204020204" pitchFamily="34" charset="-122"/>
                <a:ea typeface="微软雅黑" panose="020B0503020204020204" pitchFamily="34" charset="-122"/>
              </a:rPr>
              <a:t>时间</a:t>
            </a:r>
          </a:p>
        </p:txBody>
      </p:sp>
      <p:sp>
        <p:nvSpPr>
          <p:cNvPr id="55" name="Line 18"/>
          <p:cNvSpPr>
            <a:spLocks noChangeShapeType="1"/>
          </p:cNvSpPr>
          <p:nvPr/>
        </p:nvSpPr>
        <p:spPr bwMode="auto">
          <a:xfrm>
            <a:off x="4977710" y="232760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18"/>
          <p:cNvSpPr>
            <a:spLocks noChangeShapeType="1"/>
          </p:cNvSpPr>
          <p:nvPr/>
        </p:nvSpPr>
        <p:spPr bwMode="auto">
          <a:xfrm>
            <a:off x="4977710" y="2442738"/>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6" name="Line 18"/>
          <p:cNvSpPr>
            <a:spLocks noChangeShapeType="1"/>
          </p:cNvSpPr>
          <p:nvPr/>
        </p:nvSpPr>
        <p:spPr bwMode="auto">
          <a:xfrm>
            <a:off x="4977710" y="265458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9" name="组合 48"/>
          <p:cNvGrpSpPr/>
          <p:nvPr/>
        </p:nvGrpSpPr>
        <p:grpSpPr>
          <a:xfrm>
            <a:off x="5010942" y="1870430"/>
            <a:ext cx="1503604" cy="315710"/>
            <a:chOff x="5442383" y="1762124"/>
            <a:chExt cx="1503604" cy="348227"/>
          </a:xfrm>
        </p:grpSpPr>
        <p:sp>
          <p:nvSpPr>
            <p:cNvPr id="26" name="Rectangle 21"/>
            <p:cNvSpPr>
              <a:spLocks noChangeArrowheads="1"/>
            </p:cNvSpPr>
            <p:nvPr/>
          </p:nvSpPr>
          <p:spPr bwMode="auto">
            <a:xfrm rot="21373145">
              <a:off x="5442383" y="1762124"/>
              <a:ext cx="1503604" cy="348227"/>
            </a:xfrm>
            <a:prstGeom prst="rect">
              <a:avLst/>
            </a:prstGeom>
            <a:solidFill>
              <a:schemeClr val="tx2">
                <a:lumMod val="60000"/>
                <a:lumOff val="40000"/>
              </a:schemeClr>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31" name="Group 26"/>
          <p:cNvGrpSpPr>
            <a:grpSpLocks/>
          </p:cNvGrpSpPr>
          <p:nvPr/>
        </p:nvGrpSpPr>
        <p:grpSpPr bwMode="auto">
          <a:xfrm>
            <a:off x="5035060" y="2492276"/>
            <a:ext cx="1492377" cy="315712"/>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B050"/>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grpSp>
        <p:nvGrpSpPr>
          <p:cNvPr id="36" name="Group 31"/>
          <p:cNvGrpSpPr>
            <a:grpSpLocks/>
          </p:cNvGrpSpPr>
          <p:nvPr/>
        </p:nvGrpSpPr>
        <p:grpSpPr bwMode="auto">
          <a:xfrm>
            <a:off x="5036054" y="2862999"/>
            <a:ext cx="1503955" cy="315710"/>
            <a:chOff x="1145" y="3634"/>
            <a:chExt cx="1169" cy="384"/>
          </a:xfrm>
          <a:solidFill>
            <a:schemeClr val="accent6">
              <a:lumMod val="60000"/>
              <a:lumOff val="40000"/>
            </a:schemeClr>
          </a:solidFill>
        </p:grpSpPr>
        <p:sp>
          <p:nvSpPr>
            <p:cNvPr id="38" name="Rectangle 32"/>
            <p:cNvSpPr>
              <a:spLocks noChangeArrowheads="1"/>
            </p:cNvSpPr>
            <p:nvPr/>
          </p:nvSpPr>
          <p:spPr bwMode="auto">
            <a:xfrm rot="21347042">
              <a:off x="1145" y="3634"/>
              <a:ext cx="1169" cy="384"/>
            </a:xfrm>
            <a:prstGeom prst="rect">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3792097" y="2567439"/>
            <a:ext cx="1194305" cy="1286075"/>
            <a:chOff x="3822241" y="2567439"/>
            <a:chExt cx="1194305" cy="1326332"/>
          </a:xfrm>
        </p:grpSpPr>
        <p:sp>
          <p:nvSpPr>
            <p:cNvPr id="67" name="AutoShape 15"/>
            <p:cNvSpPr>
              <a:spLocks/>
            </p:cNvSpPr>
            <p:nvPr/>
          </p:nvSpPr>
          <p:spPr bwMode="auto">
            <a:xfrm>
              <a:off x="4827117" y="2567439"/>
              <a:ext cx="189429" cy="1326332"/>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9" name="Text Box 12"/>
            <p:cNvSpPr txBox="1">
              <a:spLocks noChangeArrowheads="1"/>
            </p:cNvSpPr>
            <p:nvPr/>
          </p:nvSpPr>
          <p:spPr bwMode="auto">
            <a:xfrm>
              <a:off x="3822241" y="2885567"/>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200" b="1" dirty="0" smtClean="0">
                  <a:solidFill>
                    <a:srgbClr val="0000CC"/>
                  </a:solidFill>
                  <a:latin typeface="微软雅黑" panose="020B0503020204020204" pitchFamily="34" charset="-122"/>
                  <a:ea typeface="微软雅黑" panose="020B0503020204020204" pitchFamily="34" charset="-122"/>
                </a:rPr>
                <a:t>传输</a:t>
              </a:r>
              <a:r>
                <a:rPr lang="zh-CN" altLang="en-US" sz="1200" b="1" dirty="0" smtClean="0">
                  <a:solidFill>
                    <a:srgbClr val="0000CC"/>
                  </a:solidFill>
                  <a:latin typeface="微软雅黑" panose="020B0503020204020204" pitchFamily="34" charset="-122"/>
                  <a:ea typeface="微软雅黑" panose="020B0503020204020204" pitchFamily="34" charset="-122"/>
                </a:rPr>
                <a:t>文档</a:t>
              </a:r>
              <a:endParaRPr lang="en-US" altLang="zh-CN" sz="1200" b="1" dirty="0" smtClean="0">
                <a:solidFill>
                  <a:srgbClr val="0000CC"/>
                </a:solidFill>
                <a:latin typeface="微软雅黑" panose="020B0503020204020204" pitchFamily="34" charset="-122"/>
                <a:ea typeface="微软雅黑" panose="020B0503020204020204" pitchFamily="34" charset="-122"/>
              </a:endParaRPr>
            </a:p>
            <a:p>
              <a:pPr algn="r"/>
              <a:r>
                <a:rPr lang="zh-CN" altLang="en-US" sz="1200" b="1" dirty="0" smtClean="0">
                  <a:solidFill>
                    <a:srgbClr val="0000CC"/>
                  </a:solidFill>
                  <a:latin typeface="微软雅黑" panose="020B0503020204020204" pitchFamily="34" charset="-122"/>
                  <a:ea typeface="微软雅黑" panose="020B0503020204020204" pitchFamily="34" charset="-122"/>
                </a:rPr>
                <a:t>的</a:t>
              </a:r>
              <a:r>
                <a:rPr lang="zh-CN" altLang="en-US" sz="1200" b="1" dirty="0" smtClean="0">
                  <a:solidFill>
                    <a:srgbClr val="0000CC"/>
                  </a:solidFill>
                  <a:latin typeface="微软雅黑" panose="020B0503020204020204" pitchFamily="34" charset="-122"/>
                  <a:ea typeface="微软雅黑" panose="020B0503020204020204" pitchFamily="34" charset="-122"/>
                </a:rPr>
                <a:t>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4410185" y="1371510"/>
            <a:ext cx="582521" cy="322593"/>
            <a:chOff x="4410185" y="1371510"/>
            <a:chExt cx="582521" cy="322593"/>
          </a:xfrm>
        </p:grpSpPr>
        <p:sp>
          <p:nvSpPr>
            <p:cNvPr id="61" name="Text Box 16"/>
            <p:cNvSpPr txBox="1">
              <a:spLocks noChangeArrowheads="1"/>
            </p:cNvSpPr>
            <p:nvPr/>
          </p:nvSpPr>
          <p:spPr bwMode="auto">
            <a:xfrm>
              <a:off x="4410185" y="139133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51" name="AutoShape 15"/>
            <p:cNvSpPr>
              <a:spLocks/>
            </p:cNvSpPr>
            <p:nvPr/>
          </p:nvSpPr>
          <p:spPr bwMode="auto">
            <a:xfrm>
              <a:off x="4870888" y="1371510"/>
              <a:ext cx="121818" cy="230138"/>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7" name="组合 6"/>
          <p:cNvGrpSpPr/>
          <p:nvPr/>
        </p:nvGrpSpPr>
        <p:grpSpPr>
          <a:xfrm>
            <a:off x="4401814" y="1664318"/>
            <a:ext cx="558089" cy="302766"/>
            <a:chOff x="4401814" y="1664318"/>
            <a:chExt cx="558089" cy="302766"/>
          </a:xfrm>
        </p:grpSpPr>
        <p:sp>
          <p:nvSpPr>
            <p:cNvPr id="57" name="AutoShape 15"/>
            <p:cNvSpPr>
              <a:spLocks/>
            </p:cNvSpPr>
            <p:nvPr/>
          </p:nvSpPr>
          <p:spPr bwMode="auto">
            <a:xfrm>
              <a:off x="4870888" y="1675590"/>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Text Box 16"/>
            <p:cNvSpPr txBox="1">
              <a:spLocks noChangeArrowheads="1"/>
            </p:cNvSpPr>
            <p:nvPr/>
          </p:nvSpPr>
          <p:spPr bwMode="auto">
            <a:xfrm>
              <a:off x="4401814" y="166431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grpSp>
        <p:nvGrpSpPr>
          <p:cNvPr id="16" name="组合 15"/>
          <p:cNvGrpSpPr/>
          <p:nvPr/>
        </p:nvGrpSpPr>
        <p:grpSpPr>
          <a:xfrm>
            <a:off x="4403487" y="2329186"/>
            <a:ext cx="558089" cy="302766"/>
            <a:chOff x="4403487" y="2329186"/>
            <a:chExt cx="558089" cy="302766"/>
          </a:xfrm>
        </p:grpSpPr>
        <p:sp>
          <p:nvSpPr>
            <p:cNvPr id="58" name="AutoShape 15"/>
            <p:cNvSpPr>
              <a:spLocks/>
            </p:cNvSpPr>
            <p:nvPr/>
          </p:nvSpPr>
          <p:spPr bwMode="auto">
            <a:xfrm>
              <a:off x="4872561" y="2340458"/>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Text Box 16"/>
            <p:cNvSpPr txBox="1">
              <a:spLocks noChangeArrowheads="1"/>
            </p:cNvSpPr>
            <p:nvPr/>
          </p:nvSpPr>
          <p:spPr bwMode="auto">
            <a:xfrm>
              <a:off x="4403487" y="2329186"/>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sp>
        <p:nvSpPr>
          <p:cNvPr id="60" name="文本框 59"/>
          <p:cNvSpPr txBox="1"/>
          <p:nvPr/>
        </p:nvSpPr>
        <p:spPr>
          <a:xfrm>
            <a:off x="5607904" y="3236946"/>
            <a:ext cx="369332" cy="268073"/>
          </a:xfrm>
          <a:prstGeom prst="rect">
            <a:avLst/>
          </a:prstGeom>
          <a:noFill/>
        </p:spPr>
        <p:txBody>
          <a:bodyPr vert="eaVert" wrap="square" rtlCol="0">
            <a:spAutoFit/>
          </a:bodyPr>
          <a:lstStyle/>
          <a:p>
            <a:r>
              <a:rPr lang="en-US" altLang="zh-CN" sz="1200" b="1" dirty="0" smtClean="0"/>
              <a:t>...</a:t>
            </a:r>
            <a:endParaRPr lang="zh-CN" altLang="en-US" sz="1200" b="1" dirty="0"/>
          </a:p>
        </p:txBody>
      </p:sp>
      <p:grpSp>
        <p:nvGrpSpPr>
          <p:cNvPr id="18" name="组合 17"/>
          <p:cNvGrpSpPr/>
          <p:nvPr/>
        </p:nvGrpSpPr>
        <p:grpSpPr>
          <a:xfrm>
            <a:off x="5026317" y="3489048"/>
            <a:ext cx="1503955" cy="315710"/>
            <a:chOff x="5026317" y="3509150"/>
            <a:chExt cx="1503955" cy="315710"/>
          </a:xfrm>
        </p:grpSpPr>
        <p:sp>
          <p:nvSpPr>
            <p:cNvPr id="63" name="Rectangle 32"/>
            <p:cNvSpPr>
              <a:spLocks noChangeArrowheads="1"/>
            </p:cNvSpPr>
            <p:nvPr/>
          </p:nvSpPr>
          <p:spPr bwMode="auto">
            <a:xfrm rot="21347042">
              <a:off x="5026317" y="3509150"/>
              <a:ext cx="1503955" cy="315710"/>
            </a:xfrm>
            <a:prstGeom prst="rect">
              <a:avLst/>
            </a:prstGeom>
            <a:solidFill>
              <a:srgbClr val="66FF66"/>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64" name="Text Box 33"/>
            <p:cNvSpPr txBox="1">
              <a:spLocks noChangeArrowheads="1"/>
            </p:cNvSpPr>
            <p:nvPr/>
          </p:nvSpPr>
          <p:spPr bwMode="auto">
            <a:xfrm>
              <a:off x="5162689" y="3511616"/>
              <a:ext cx="1278812" cy="30748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page10.jpg</a:t>
              </a:r>
              <a:endParaRPr lang="en-CA" altLang="zh-CN" sz="1400" b="1" dirty="0">
                <a:latin typeface="微软雅黑" panose="020B0503020204020204" pitchFamily="34" charset="-122"/>
                <a:ea typeface="微软雅黑" panose="020B0503020204020204" pitchFamily="34" charset="-122"/>
              </a:endParaRPr>
            </a:p>
          </p:txBody>
        </p:sp>
      </p:grpSp>
    </p:spTree>
    <p:custDataLst>
      <p:tags r:id="rId1"/>
    </p:custDataLst>
    <p:extLst>
      <p:ext uri="{BB962C8B-B14F-4D97-AF65-F5344CB8AC3E}">
        <p14:creationId xmlns:p14="http://schemas.microsoft.com/office/powerpoint/2010/main" val="33467875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right)">
                                      <p:cBhvr>
                                        <p:cTn id="15" dur="500"/>
                                        <p:tgtEl>
                                          <p:spTgt spid="2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25"/>
                                        </p:tgtEl>
                                        <p:attrNameLst>
                                          <p:attrName>style.visibility</p:attrName>
                                        </p:attrNameLst>
                                      </p:cBhvr>
                                      <p:to>
                                        <p:strVal val="visible"/>
                                      </p:to>
                                    </p:set>
                                    <p:animEffect transition="in" filter="wipe(left)">
                                      <p:cBhvr>
                                        <p:cTn id="24" dur="500"/>
                                        <p:tgtEl>
                                          <p:spTgt spid="25"/>
                                        </p:tgtEl>
                                      </p:cBhvr>
                                    </p:animEffect>
                                  </p:childTnLst>
                                </p:cTn>
                              </p:par>
                            </p:childTnLst>
                          </p:cTn>
                        </p:par>
                        <p:par>
                          <p:cTn id="25" fill="hold">
                            <p:stCondLst>
                              <p:cond delay="500"/>
                            </p:stCondLst>
                            <p:childTnLst>
                              <p:par>
                                <p:cTn id="26" presetID="22" presetClass="entr" presetSubtype="2" fill="hold"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wipe(right)">
                                      <p:cBhvr>
                                        <p:cTn id="28" dur="500"/>
                                        <p:tgtEl>
                                          <p:spTgt spid="49"/>
                                        </p:tgtEl>
                                      </p:cBhvr>
                                    </p:animEffect>
                                  </p:childTnLst>
                                </p:cTn>
                              </p:par>
                            </p:childTnLst>
                          </p:cTn>
                        </p:par>
                        <p:par>
                          <p:cTn id="29" fill="hold">
                            <p:stCondLst>
                              <p:cond delay="1000"/>
                            </p:stCondLst>
                            <p:childTnLst>
                              <p:par>
                                <p:cTn id="30" presetID="10" presetClass="entr" presetSubtype="0" fill="hold" nodeType="after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wipe(left)">
                                      <p:cBhvr>
                                        <p:cTn id="37" dur="500"/>
                                        <p:tgtEl>
                                          <p:spTgt spid="55"/>
                                        </p:tgtEl>
                                      </p:cBhvr>
                                    </p:animEffect>
                                  </p:childTnLst>
                                </p:cTn>
                              </p:par>
                            </p:childTnLst>
                          </p:cTn>
                        </p:par>
                        <p:par>
                          <p:cTn id="38" fill="hold">
                            <p:stCondLst>
                              <p:cond delay="500"/>
                            </p:stCondLst>
                            <p:childTnLst>
                              <p:par>
                                <p:cTn id="39" presetID="22" presetClass="entr" presetSubtype="8" fill="hold" grpId="0" nodeType="after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wipe(left)">
                                      <p:cBhvr>
                                        <p:cTn id="41" dur="500"/>
                                        <p:tgtEl>
                                          <p:spTgt spid="56"/>
                                        </p:tgtEl>
                                      </p:cBhvr>
                                    </p:animEffect>
                                  </p:childTnLst>
                                </p:cTn>
                              </p:par>
                            </p:childTnLst>
                          </p:cTn>
                        </p:par>
                        <p:par>
                          <p:cTn id="42" fill="hold">
                            <p:stCondLst>
                              <p:cond delay="1000"/>
                            </p:stCondLst>
                            <p:childTnLst>
                              <p:par>
                                <p:cTn id="43" presetID="22" presetClass="entr" presetSubtype="4" fill="hold" grpId="0" nodeType="afterEffect">
                                  <p:stCondLst>
                                    <p:cond delay="0"/>
                                  </p:stCondLst>
                                  <p:childTnLst>
                                    <p:set>
                                      <p:cBhvr>
                                        <p:cTn id="44" dur="1" fill="hold">
                                          <p:stCondLst>
                                            <p:cond delay="0"/>
                                          </p:stCondLst>
                                        </p:cTn>
                                        <p:tgtEl>
                                          <p:spTgt spid="50"/>
                                        </p:tgtEl>
                                        <p:attrNameLst>
                                          <p:attrName>style.visibility</p:attrName>
                                        </p:attrNameLst>
                                      </p:cBhvr>
                                      <p:to>
                                        <p:strVal val="visible"/>
                                      </p:to>
                                    </p:set>
                                    <p:animEffect transition="in" filter="wipe(down)">
                                      <p:cBhvr>
                                        <p:cTn id="45" dur="500"/>
                                        <p:tgtEl>
                                          <p:spTgt spid="50"/>
                                        </p:tgtEl>
                                      </p:cBhvr>
                                    </p:animEffect>
                                  </p:childTnLst>
                                </p:cTn>
                              </p:par>
                            </p:childTnLst>
                          </p:cTn>
                        </p:par>
                        <p:par>
                          <p:cTn id="46" fill="hold">
                            <p:stCondLst>
                              <p:cond delay="1500"/>
                            </p:stCondLst>
                            <p:childTnLst>
                              <p:par>
                                <p:cTn id="47" presetID="22" presetClass="entr" presetSubtype="8" fill="hold" grpId="0" nodeType="afterEffect">
                                  <p:stCondLst>
                                    <p:cond delay="0"/>
                                  </p:stCondLst>
                                  <p:childTnLst>
                                    <p:set>
                                      <p:cBhvr>
                                        <p:cTn id="48" dur="1" fill="hold">
                                          <p:stCondLst>
                                            <p:cond delay="0"/>
                                          </p:stCondLst>
                                        </p:cTn>
                                        <p:tgtEl>
                                          <p:spTgt spid="66"/>
                                        </p:tgtEl>
                                        <p:attrNameLst>
                                          <p:attrName>style.visibility</p:attrName>
                                        </p:attrNameLst>
                                      </p:cBhvr>
                                      <p:to>
                                        <p:strVal val="visible"/>
                                      </p:to>
                                    </p:set>
                                    <p:animEffect transition="in" filter="wipe(left)">
                                      <p:cBhvr>
                                        <p:cTn id="49" dur="500"/>
                                        <p:tgtEl>
                                          <p:spTgt spid="66"/>
                                        </p:tgtEl>
                                      </p:cBhvr>
                                    </p:animEffect>
                                  </p:childTnLst>
                                </p:cTn>
                              </p:par>
                            </p:childTnLst>
                          </p:cTn>
                        </p:par>
                        <p:par>
                          <p:cTn id="50" fill="hold">
                            <p:stCondLst>
                              <p:cond delay="2000"/>
                            </p:stCondLst>
                            <p:childTnLst>
                              <p:par>
                                <p:cTn id="51" presetID="22" presetClass="entr" presetSubtype="2" fill="hold" nodeType="after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wipe(right)">
                                      <p:cBhvr>
                                        <p:cTn id="53" dur="500"/>
                                        <p:tgtEl>
                                          <p:spTgt spid="31"/>
                                        </p:tgtEl>
                                      </p:cBhvr>
                                    </p:animEffect>
                                  </p:childTnLst>
                                </p:cTn>
                              </p:par>
                            </p:childTnLst>
                          </p:cTn>
                        </p:par>
                        <p:par>
                          <p:cTn id="54" fill="hold">
                            <p:stCondLst>
                              <p:cond delay="2500"/>
                            </p:stCondLst>
                            <p:childTnLst>
                              <p:par>
                                <p:cTn id="55" presetID="22" presetClass="entr" presetSubtype="2" fill="hold" nodeType="afterEffect">
                                  <p:stCondLst>
                                    <p:cond delay="0"/>
                                  </p:stCondLst>
                                  <p:childTnLst>
                                    <p:set>
                                      <p:cBhvr>
                                        <p:cTn id="56" dur="1" fill="hold">
                                          <p:stCondLst>
                                            <p:cond delay="0"/>
                                          </p:stCondLst>
                                        </p:cTn>
                                        <p:tgtEl>
                                          <p:spTgt spid="36"/>
                                        </p:tgtEl>
                                        <p:attrNameLst>
                                          <p:attrName>style.visibility</p:attrName>
                                        </p:attrNameLst>
                                      </p:cBhvr>
                                      <p:to>
                                        <p:strVal val="visible"/>
                                      </p:to>
                                    </p:set>
                                    <p:animEffect transition="in" filter="wipe(right)">
                                      <p:cBhvr>
                                        <p:cTn id="57" dur="500"/>
                                        <p:tgtEl>
                                          <p:spTgt spid="36"/>
                                        </p:tgtEl>
                                      </p:cBhvr>
                                    </p:animEffect>
                                  </p:childTnLst>
                                </p:cTn>
                              </p:par>
                            </p:childTnLst>
                          </p:cTn>
                        </p:par>
                        <p:par>
                          <p:cTn id="58" fill="hold">
                            <p:stCondLst>
                              <p:cond delay="3000"/>
                            </p:stCondLst>
                            <p:childTnLst>
                              <p:par>
                                <p:cTn id="59" presetID="22" presetClass="entr" presetSubtype="2" fill="hold" grpId="0" nodeType="after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wipe(right)">
                                      <p:cBhvr>
                                        <p:cTn id="61" dur="500"/>
                                        <p:tgtEl>
                                          <p:spTgt spid="60"/>
                                        </p:tgtEl>
                                      </p:cBhvr>
                                    </p:animEffect>
                                  </p:childTnLst>
                                </p:cTn>
                              </p:par>
                            </p:childTnLst>
                          </p:cTn>
                        </p:par>
                        <p:par>
                          <p:cTn id="62" fill="hold">
                            <p:stCondLst>
                              <p:cond delay="3500"/>
                            </p:stCondLst>
                            <p:childTnLst>
                              <p:par>
                                <p:cTn id="63" presetID="22" presetClass="entr" presetSubtype="2" fill="hold" nodeType="afterEffect">
                                  <p:stCondLst>
                                    <p:cond delay="0"/>
                                  </p:stCondLst>
                                  <p:childTnLst>
                                    <p:set>
                                      <p:cBhvr>
                                        <p:cTn id="64" dur="1" fill="hold">
                                          <p:stCondLst>
                                            <p:cond delay="0"/>
                                          </p:stCondLst>
                                        </p:cTn>
                                        <p:tgtEl>
                                          <p:spTgt spid="18"/>
                                        </p:tgtEl>
                                        <p:attrNameLst>
                                          <p:attrName>style.visibility</p:attrName>
                                        </p:attrNameLst>
                                      </p:cBhvr>
                                      <p:to>
                                        <p:strVal val="visible"/>
                                      </p:to>
                                    </p:set>
                                    <p:animEffect transition="in" filter="wipe(right)">
                                      <p:cBhvr>
                                        <p:cTn id="65" dur="500"/>
                                        <p:tgtEl>
                                          <p:spTgt spid="18"/>
                                        </p:tgtEl>
                                      </p:cBhvr>
                                    </p:animEffect>
                                  </p:childTnLst>
                                </p:cTn>
                              </p:par>
                            </p:childTnLst>
                          </p:cTn>
                        </p:par>
                        <p:par>
                          <p:cTn id="66" fill="hold">
                            <p:stCondLst>
                              <p:cond delay="4000"/>
                            </p:stCondLst>
                            <p:childTnLst>
                              <p:par>
                                <p:cTn id="67" presetID="10" presetClass="entr" presetSubtype="0" fill="hold"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fade">
                                      <p:cBhvr>
                                        <p:cTn id="69" dur="500"/>
                                        <p:tgtEl>
                                          <p:spTgt spid="16"/>
                                        </p:tgtEl>
                                      </p:cBhvr>
                                    </p:animEffect>
                                  </p:childTnLst>
                                </p:cTn>
                              </p:par>
                            </p:childTnLst>
                          </p:cTn>
                        </p:par>
                        <p:par>
                          <p:cTn id="70" fill="hold">
                            <p:stCondLst>
                              <p:cond delay="4500"/>
                            </p:stCondLst>
                            <p:childTnLst>
                              <p:par>
                                <p:cTn id="71" presetID="10" presetClass="entr" presetSubtype="0" fill="hold" nodeType="afterEffect">
                                  <p:stCondLst>
                                    <p:cond delay="0"/>
                                  </p:stCondLst>
                                  <p:childTnLst>
                                    <p:set>
                                      <p:cBhvr>
                                        <p:cTn id="72" dur="1" fill="hold">
                                          <p:stCondLst>
                                            <p:cond delay="0"/>
                                          </p:stCondLst>
                                        </p:cTn>
                                        <p:tgtEl>
                                          <p:spTgt spid="17"/>
                                        </p:tgtEl>
                                        <p:attrNameLst>
                                          <p:attrName>style.visibility</p:attrName>
                                        </p:attrNameLst>
                                      </p:cBhvr>
                                      <p:to>
                                        <p:strVal val="visible"/>
                                      </p:to>
                                    </p:set>
                                    <p:animEffect transition="in" filter="fade">
                                      <p:cBhvr>
                                        <p:cTn id="73" dur="500"/>
                                        <p:tgtEl>
                                          <p:spTgt spid="17"/>
                                        </p:tgtEl>
                                      </p:cBhvr>
                                    </p:animEffect>
                                  </p:childTnLst>
                                </p:cTn>
                              </p:par>
                            </p:childTnLst>
                          </p:cTn>
                        </p:par>
                        <p:par>
                          <p:cTn id="74" fill="hold">
                            <p:stCondLst>
                              <p:cond delay="5000"/>
                            </p:stCondLst>
                            <p:childTnLst>
                              <p:par>
                                <p:cTn id="75" presetID="22" presetClass="entr" presetSubtype="1" fill="hold" nodeType="afterEffect">
                                  <p:stCondLst>
                                    <p:cond delay="0"/>
                                  </p:stCondLst>
                                  <p:childTnLst>
                                    <p:set>
                                      <p:cBhvr>
                                        <p:cTn id="76" dur="1" fill="hold">
                                          <p:stCondLst>
                                            <p:cond delay="0"/>
                                          </p:stCondLst>
                                        </p:cTn>
                                        <p:tgtEl>
                                          <p:spTgt spid="52"/>
                                        </p:tgtEl>
                                        <p:attrNameLst>
                                          <p:attrName>style.visibility</p:attrName>
                                        </p:attrNameLst>
                                      </p:cBhvr>
                                      <p:to>
                                        <p:strVal val="visible"/>
                                      </p:to>
                                    </p:set>
                                    <p:animEffect transition="in" filter="wipe(up)">
                                      <p:cBhvr>
                                        <p:cTn id="77" dur="1000"/>
                                        <p:tgtEl>
                                          <p:spTgt spid="52"/>
                                        </p:tgtEl>
                                      </p:cBhvr>
                                    </p:animEffect>
                                  </p:childTnLst>
                                </p:cTn>
                              </p:par>
                            </p:childTnLst>
                          </p:cTn>
                        </p:par>
                        <p:par>
                          <p:cTn id="78" fill="hold">
                            <p:stCondLst>
                              <p:cond delay="6000"/>
                            </p:stCondLst>
                            <p:childTnLst>
                              <p:par>
                                <p:cTn id="79" presetID="10" presetClass="entr" presetSubtype="0" fill="hold" grpId="0" nodeType="afterEffect">
                                  <p:stCondLst>
                                    <p:cond delay="0"/>
                                  </p:stCondLst>
                                  <p:childTnLst>
                                    <p:set>
                                      <p:cBhvr>
                                        <p:cTn id="80" dur="1" fill="hold">
                                          <p:stCondLst>
                                            <p:cond delay="0"/>
                                          </p:stCondLst>
                                        </p:cTn>
                                        <p:tgtEl>
                                          <p:spTgt spid="53"/>
                                        </p:tgtEl>
                                        <p:attrNameLst>
                                          <p:attrName>style.visibility</p:attrName>
                                        </p:attrNameLst>
                                      </p:cBhvr>
                                      <p:to>
                                        <p:strVal val="visible"/>
                                      </p:to>
                                    </p:set>
                                    <p:animEffect transition="in" filter="fade">
                                      <p:cBhvr>
                                        <p:cTn id="81"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23" grpId="0" animBg="1"/>
      <p:bldP spid="24" grpId="0" animBg="1"/>
      <p:bldP spid="25" grpId="0" animBg="1"/>
      <p:bldP spid="42" grpId="0"/>
      <p:bldP spid="53" grpId="0" animBg="1"/>
      <p:bldP spid="55" grpId="0" animBg="1"/>
      <p:bldP spid="56" grpId="0" animBg="1"/>
      <p:bldP spid="66" grpId="0" animBg="1"/>
      <p:bldP spid="6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59598"/>
            <a:ext cx="4726530"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尽管</a:t>
            </a:r>
            <a:r>
              <a:rPr lang="en-US" altLang="zh-CN" b="1" dirty="0" smtClean="0">
                <a:latin typeface="微软雅黑" pitchFamily="34" charset="-122"/>
                <a:ea typeface="微软雅黑" pitchFamily="34" charset="-122"/>
              </a:rPr>
              <a:t>HTTP/1.1</a:t>
            </a:r>
            <a:r>
              <a:rPr lang="zh-CN" altLang="en-US" b="1" dirty="0" smtClean="0">
                <a:latin typeface="微软雅黑" pitchFamily="34" charset="-122"/>
                <a:ea typeface="微软雅黑" pitchFamily="34" charset="-122"/>
              </a:rPr>
              <a:t>支持在同一条</a:t>
            </a:r>
            <a:r>
              <a:rPr lang="en-US" altLang="zh-CN" b="1" dirty="0" smtClean="0">
                <a:latin typeface="微软雅黑" pitchFamily="34" charset="-122"/>
                <a:ea typeface="微软雅黑" pitchFamily="34" charset="-122"/>
              </a:rPr>
              <a:t>TCP</a:t>
            </a:r>
            <a:r>
              <a:rPr lang="zh-CN" altLang="en-US" b="1" dirty="0" smtClean="0">
                <a:latin typeface="微软雅黑" pitchFamily="34" charset="-122"/>
                <a:ea typeface="微软雅黑" pitchFamily="34" charset="-122"/>
              </a:rPr>
              <a:t>连接上以流水线方式传输多个</a:t>
            </a:r>
            <a:r>
              <a:rPr lang="en-US" altLang="zh-CN" b="1" dirty="0">
                <a:latin typeface="微软雅黑" pitchFamily="34" charset="-122"/>
                <a:ea typeface="微软雅黑" pitchFamily="34" charset="-122"/>
              </a:rPr>
              <a:t>HTTP</a:t>
            </a:r>
            <a:r>
              <a:rPr lang="zh-CN" altLang="en-US" b="1" dirty="0" smtClean="0">
                <a:latin typeface="微软雅黑" pitchFamily="34" charset="-122"/>
                <a:ea typeface="微软雅黑" pitchFamily="34" charset="-122"/>
              </a:rPr>
              <a:t>对象，但请求和响应依然是顺序进行的。</a:t>
            </a:r>
            <a:endParaRPr lang="en-US" altLang="zh-CN" b="1" dirty="0" smtClean="0">
              <a:latin typeface="微软雅黑" pitchFamily="34" charset="-122"/>
              <a:ea typeface="微软雅黑" pitchFamily="34" charset="-122"/>
            </a:endParaRPr>
          </a:p>
          <a:p>
            <a:pPr marL="285750" indent="-285750" algn="just"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若</a:t>
            </a:r>
            <a:r>
              <a:rPr lang="en-US" altLang="zh-CN" b="1" dirty="0" smtClean="0">
                <a:latin typeface="微软雅黑" pitchFamily="34" charset="-122"/>
                <a:ea typeface="微软雅黑" pitchFamily="34" charset="-122"/>
              </a:rPr>
              <a:t>page1.jpg</a:t>
            </a:r>
            <a:r>
              <a:rPr lang="zh-CN" altLang="en-US" b="1" dirty="0" smtClean="0">
                <a:latin typeface="微软雅黑" pitchFamily="34" charset="-122"/>
                <a:ea typeface="微软雅黑" pitchFamily="34" charset="-122"/>
              </a:rPr>
              <a:t>非常</a:t>
            </a:r>
            <a:r>
              <a:rPr lang="zh-CN" altLang="en-US" b="1" dirty="0" smtClean="0">
                <a:latin typeface="微软雅黑" pitchFamily="34" charset="-122"/>
                <a:ea typeface="微软雅黑" pitchFamily="34" charset="-122"/>
              </a:rPr>
              <a:t>大，则</a:t>
            </a:r>
            <a:r>
              <a:rPr lang="en-US" altLang="zh-CN" b="1" dirty="0" smtClean="0">
                <a:latin typeface="微软雅黑" pitchFamily="34" charset="-122"/>
                <a:ea typeface="微软雅黑" pitchFamily="34" charset="-122"/>
              </a:rPr>
              <a:t>page2.jpg</a:t>
            </a:r>
            <a:r>
              <a:rPr lang="zh-CN" altLang="en-US" b="1" dirty="0" smtClean="0">
                <a:latin typeface="微软雅黑" pitchFamily="34" charset="-122"/>
                <a:ea typeface="微软雅黑" pitchFamily="34" charset="-122"/>
              </a:rPr>
              <a:t>和后续的文档需要</a:t>
            </a:r>
            <a:r>
              <a:rPr lang="zh-CN" altLang="en-US" b="1" dirty="0" smtClean="0">
                <a:latin typeface="微软雅黑" pitchFamily="34" charset="-122"/>
                <a:ea typeface="微软雅黑" pitchFamily="34" charset="-122"/>
              </a:rPr>
              <a:t>等待很长时间才能够传输成功</a:t>
            </a:r>
            <a:r>
              <a:rPr lang="zh-CN" altLang="en-US" b="1" dirty="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gn="just" eaLnBrk="0" hangingPunct="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队头</a:t>
            </a:r>
            <a:r>
              <a:rPr lang="zh-CN" altLang="en-US" sz="1600" b="1" dirty="0" smtClean="0">
                <a:latin typeface="微软雅黑" pitchFamily="34" charset="-122"/>
                <a:ea typeface="微软雅黑" pitchFamily="34" charset="-122"/>
              </a:rPr>
              <a:t>阻塞问题 </a:t>
            </a:r>
            <a:r>
              <a:rPr lang="en-US" altLang="zh-CN" sz="1600" b="1" dirty="0">
                <a:latin typeface="微软雅黑" pitchFamily="34" charset="-122"/>
                <a:ea typeface="微软雅黑" pitchFamily="34" charset="-122"/>
              </a:rPr>
              <a:t>(Head-of-Line </a:t>
            </a:r>
            <a:r>
              <a:rPr lang="en-US" altLang="zh-CN" sz="1600" b="1" dirty="0" smtClean="0">
                <a:latin typeface="微软雅黑" pitchFamily="34" charset="-122"/>
                <a:ea typeface="微软雅黑" pitchFamily="34" charset="-122"/>
              </a:rPr>
              <a:t>blocking)</a:t>
            </a:r>
            <a:endParaRPr lang="zh-CN" altLang="en-US" sz="1600" b="1" dirty="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17749"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HTTP/1.1</a:t>
            </a:r>
            <a:r>
              <a:rPr lang="zh-CN" altLang="en-US" sz="2000" b="1" dirty="0" smtClean="0">
                <a:latin typeface="微软雅黑" pitchFamily="34" charset="-122"/>
                <a:ea typeface="微软雅黑" pitchFamily="34" charset="-122"/>
              </a:rPr>
              <a:t>面临问题</a:t>
            </a:r>
            <a:endParaRPr lang="en-US" altLang="zh-CN" sz="2000" b="1" dirty="0">
              <a:latin typeface="微软雅黑" pitchFamily="34" charset="-122"/>
              <a:ea typeface="微软雅黑" pitchFamily="34" charset="-122"/>
            </a:endParaRPr>
          </a:p>
        </p:txBody>
      </p:sp>
      <p:sp>
        <p:nvSpPr>
          <p:cNvPr id="50" name="文本框 49"/>
          <p:cNvSpPr txBox="1"/>
          <p:nvPr/>
        </p:nvSpPr>
        <p:spPr>
          <a:xfrm>
            <a:off x="7203492" y="2503141"/>
            <a:ext cx="369332" cy="268073"/>
          </a:xfrm>
          <a:prstGeom prst="rect">
            <a:avLst/>
          </a:prstGeom>
          <a:noFill/>
        </p:spPr>
        <p:txBody>
          <a:bodyPr vert="eaVert" wrap="square" rtlCol="0">
            <a:spAutoFit/>
          </a:bodyPr>
          <a:lstStyle/>
          <a:p>
            <a:r>
              <a:rPr lang="en-US" altLang="zh-CN" sz="1200" b="1" dirty="0" smtClean="0"/>
              <a:t>...</a:t>
            </a:r>
            <a:endParaRPr lang="zh-CN" altLang="en-US" sz="1200" b="1" dirty="0"/>
          </a:p>
        </p:txBody>
      </p:sp>
      <p:sp>
        <p:nvSpPr>
          <p:cNvPr id="51" name="Line 2"/>
          <p:cNvSpPr>
            <a:spLocks noChangeShapeType="1"/>
          </p:cNvSpPr>
          <p:nvPr/>
        </p:nvSpPr>
        <p:spPr bwMode="auto">
          <a:xfrm>
            <a:off x="6580348"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3"/>
          <p:cNvSpPr>
            <a:spLocks noChangeShapeType="1"/>
          </p:cNvSpPr>
          <p:nvPr/>
        </p:nvSpPr>
        <p:spPr bwMode="auto">
          <a:xfrm>
            <a:off x="8133064"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Rectangle 6"/>
          <p:cNvSpPr>
            <a:spLocks noChangeArrowheads="1"/>
          </p:cNvSpPr>
          <p:nvPr/>
        </p:nvSpPr>
        <p:spPr bwMode="auto">
          <a:xfrm>
            <a:off x="7564878"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58" name="Rectangle 7"/>
          <p:cNvSpPr>
            <a:spLocks noChangeArrowheads="1"/>
          </p:cNvSpPr>
          <p:nvPr/>
        </p:nvSpPr>
        <p:spPr bwMode="auto">
          <a:xfrm>
            <a:off x="6090228"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59" name="Line 18"/>
          <p:cNvSpPr>
            <a:spLocks noChangeShapeType="1"/>
          </p:cNvSpPr>
          <p:nvPr/>
        </p:nvSpPr>
        <p:spPr bwMode="auto">
          <a:xfrm>
            <a:off x="6573203"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19"/>
          <p:cNvSpPr>
            <a:spLocks noChangeShapeType="1"/>
          </p:cNvSpPr>
          <p:nvPr/>
        </p:nvSpPr>
        <p:spPr bwMode="auto">
          <a:xfrm flipH="1">
            <a:off x="6583251" y="1491214"/>
            <a:ext cx="1493552" cy="9520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Line 20"/>
          <p:cNvSpPr>
            <a:spLocks noChangeShapeType="1"/>
          </p:cNvSpPr>
          <p:nvPr/>
        </p:nvSpPr>
        <p:spPr bwMode="auto">
          <a:xfrm>
            <a:off x="6598774" y="1656841"/>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3" name="Text Box 14"/>
          <p:cNvSpPr txBox="1">
            <a:spLocks noChangeArrowheads="1"/>
          </p:cNvSpPr>
          <p:nvPr/>
        </p:nvSpPr>
        <p:spPr bwMode="auto">
          <a:xfrm>
            <a:off x="5463795" y="1131631"/>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nvGrpSpPr>
          <p:cNvPr id="64" name="组合 63"/>
          <p:cNvGrpSpPr/>
          <p:nvPr/>
        </p:nvGrpSpPr>
        <p:grpSpPr>
          <a:xfrm>
            <a:off x="5358360" y="4067972"/>
            <a:ext cx="2743829" cy="389521"/>
            <a:chOff x="4196854" y="4067972"/>
            <a:chExt cx="2743829" cy="389521"/>
          </a:xfrm>
        </p:grpSpPr>
        <p:grpSp>
          <p:nvGrpSpPr>
            <p:cNvPr id="68" name="组合 67"/>
            <p:cNvGrpSpPr/>
            <p:nvPr/>
          </p:nvGrpSpPr>
          <p:grpSpPr>
            <a:xfrm>
              <a:off x="5429646" y="4067972"/>
              <a:ext cx="1511037" cy="272914"/>
              <a:chOff x="5474036" y="4254409"/>
              <a:chExt cx="1511037" cy="272914"/>
            </a:xfrm>
          </p:grpSpPr>
          <p:sp>
            <p:nvSpPr>
              <p:cNvPr id="71"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70"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74" name="Line 18"/>
          <p:cNvSpPr>
            <a:spLocks noChangeShapeType="1"/>
          </p:cNvSpPr>
          <p:nvPr/>
        </p:nvSpPr>
        <p:spPr bwMode="auto">
          <a:xfrm>
            <a:off x="6565352" y="232760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8"/>
          <p:cNvSpPr>
            <a:spLocks noChangeShapeType="1"/>
          </p:cNvSpPr>
          <p:nvPr/>
        </p:nvSpPr>
        <p:spPr bwMode="auto">
          <a:xfrm>
            <a:off x="6565352" y="2442738"/>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8"/>
          <p:cNvSpPr>
            <a:spLocks noChangeShapeType="1"/>
          </p:cNvSpPr>
          <p:nvPr/>
        </p:nvSpPr>
        <p:spPr bwMode="auto">
          <a:xfrm>
            <a:off x="6565352" y="265458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77" name="组合 76"/>
          <p:cNvGrpSpPr/>
          <p:nvPr/>
        </p:nvGrpSpPr>
        <p:grpSpPr>
          <a:xfrm>
            <a:off x="6598584" y="1870430"/>
            <a:ext cx="1503604" cy="315710"/>
            <a:chOff x="5442383" y="1762124"/>
            <a:chExt cx="1503604" cy="348227"/>
          </a:xfrm>
        </p:grpSpPr>
        <p:sp>
          <p:nvSpPr>
            <p:cNvPr id="78" name="Rectangle 21"/>
            <p:cNvSpPr>
              <a:spLocks noChangeArrowheads="1"/>
            </p:cNvSpPr>
            <p:nvPr/>
          </p:nvSpPr>
          <p:spPr bwMode="auto">
            <a:xfrm rot="21373145">
              <a:off x="5442383" y="1762124"/>
              <a:ext cx="1503604" cy="348227"/>
            </a:xfrm>
            <a:prstGeom prst="rect">
              <a:avLst/>
            </a:prstGeom>
            <a:solidFill>
              <a:schemeClr val="tx2">
                <a:lumMod val="60000"/>
                <a:lumOff val="40000"/>
              </a:schemeClr>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9"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80" name="Group 26"/>
          <p:cNvGrpSpPr>
            <a:grpSpLocks/>
          </p:cNvGrpSpPr>
          <p:nvPr/>
        </p:nvGrpSpPr>
        <p:grpSpPr bwMode="auto">
          <a:xfrm>
            <a:off x="6622702" y="2492275"/>
            <a:ext cx="1492377" cy="630172"/>
            <a:chOff x="1159" y="2266"/>
            <a:chExt cx="1160" cy="384"/>
          </a:xfrm>
        </p:grpSpPr>
        <p:sp>
          <p:nvSpPr>
            <p:cNvPr id="81" name="Rectangle 27"/>
            <p:cNvSpPr>
              <a:spLocks noChangeArrowheads="1"/>
            </p:cNvSpPr>
            <p:nvPr/>
          </p:nvSpPr>
          <p:spPr bwMode="auto">
            <a:xfrm rot="21395996">
              <a:off x="1159" y="2266"/>
              <a:ext cx="1160" cy="384"/>
            </a:xfrm>
            <a:prstGeom prst="rect">
              <a:avLst/>
            </a:prstGeom>
            <a:solidFill>
              <a:srgbClr val="00B050"/>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82" name="Text Box 28"/>
            <p:cNvSpPr txBox="1">
              <a:spLocks noChangeArrowheads="1"/>
            </p:cNvSpPr>
            <p:nvPr/>
          </p:nvSpPr>
          <p:spPr bwMode="auto">
            <a:xfrm>
              <a:off x="1255" y="2277"/>
              <a:ext cx="970" cy="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endParaRPr lang="en-US" altLang="zh-CN" sz="1050" b="1" dirty="0" smtClean="0">
                <a:latin typeface="微软雅黑" panose="020B0503020204020204" pitchFamily="34" charset="-122"/>
                <a:ea typeface="微软雅黑" panose="020B0503020204020204" pitchFamily="34" charset="-122"/>
              </a:endParaRPr>
            </a:p>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grpSp>
        <p:nvGrpSpPr>
          <p:cNvPr id="83" name="Group 31"/>
          <p:cNvGrpSpPr>
            <a:grpSpLocks/>
          </p:cNvGrpSpPr>
          <p:nvPr/>
        </p:nvGrpSpPr>
        <p:grpSpPr bwMode="auto">
          <a:xfrm>
            <a:off x="6623696" y="3144351"/>
            <a:ext cx="1503955" cy="340375"/>
            <a:chOff x="1145" y="3634"/>
            <a:chExt cx="1169" cy="414"/>
          </a:xfrm>
          <a:solidFill>
            <a:schemeClr val="accent6">
              <a:lumMod val="60000"/>
              <a:lumOff val="40000"/>
            </a:schemeClr>
          </a:solidFill>
        </p:grpSpPr>
        <p:sp>
          <p:nvSpPr>
            <p:cNvPr id="84" name="Rectangle 32"/>
            <p:cNvSpPr>
              <a:spLocks noChangeArrowheads="1"/>
            </p:cNvSpPr>
            <p:nvPr/>
          </p:nvSpPr>
          <p:spPr bwMode="auto">
            <a:xfrm rot="21347042">
              <a:off x="1145" y="3634"/>
              <a:ext cx="1169" cy="384"/>
            </a:xfrm>
            <a:prstGeom prst="rect">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85" name="Text Box 33"/>
            <p:cNvSpPr txBox="1">
              <a:spLocks noChangeArrowheads="1"/>
            </p:cNvSpPr>
            <p:nvPr/>
          </p:nvSpPr>
          <p:spPr bwMode="auto">
            <a:xfrm>
              <a:off x="1251" y="3709"/>
              <a:ext cx="994" cy="33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grpSp>
        <p:nvGrpSpPr>
          <p:cNvPr id="86" name="组合 85"/>
          <p:cNvGrpSpPr/>
          <p:nvPr/>
        </p:nvGrpSpPr>
        <p:grpSpPr>
          <a:xfrm>
            <a:off x="5379739" y="2567438"/>
            <a:ext cx="1194305" cy="1500533"/>
            <a:chOff x="3822241" y="2567439"/>
            <a:chExt cx="1194305" cy="1326332"/>
          </a:xfrm>
        </p:grpSpPr>
        <p:sp>
          <p:nvSpPr>
            <p:cNvPr id="87" name="AutoShape 15"/>
            <p:cNvSpPr>
              <a:spLocks/>
            </p:cNvSpPr>
            <p:nvPr/>
          </p:nvSpPr>
          <p:spPr bwMode="auto">
            <a:xfrm>
              <a:off x="4827117" y="2567439"/>
              <a:ext cx="189429" cy="1326332"/>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8" name="Text Box 12"/>
            <p:cNvSpPr txBox="1">
              <a:spLocks noChangeArrowheads="1"/>
            </p:cNvSpPr>
            <p:nvPr/>
          </p:nvSpPr>
          <p:spPr bwMode="auto">
            <a:xfrm>
              <a:off x="3822241" y="2885567"/>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200" b="1" dirty="0" smtClean="0">
                  <a:solidFill>
                    <a:srgbClr val="0000CC"/>
                  </a:solidFill>
                  <a:latin typeface="微软雅黑" panose="020B0503020204020204" pitchFamily="34" charset="-122"/>
                  <a:ea typeface="微软雅黑" panose="020B0503020204020204" pitchFamily="34" charset="-122"/>
                </a:rPr>
                <a:t>传输</a:t>
              </a:r>
              <a:r>
                <a:rPr lang="zh-CN" altLang="en-US" sz="1200" b="1" dirty="0" smtClean="0">
                  <a:solidFill>
                    <a:srgbClr val="0000CC"/>
                  </a:solidFill>
                  <a:latin typeface="微软雅黑" panose="020B0503020204020204" pitchFamily="34" charset="-122"/>
                  <a:ea typeface="微软雅黑" panose="020B0503020204020204" pitchFamily="34" charset="-122"/>
                </a:rPr>
                <a:t>文档</a:t>
              </a:r>
              <a:endParaRPr lang="en-US" altLang="zh-CN" sz="1200" b="1" dirty="0" smtClean="0">
                <a:solidFill>
                  <a:srgbClr val="0000CC"/>
                </a:solidFill>
                <a:latin typeface="微软雅黑" panose="020B0503020204020204" pitchFamily="34" charset="-122"/>
                <a:ea typeface="微软雅黑" panose="020B0503020204020204" pitchFamily="34" charset="-122"/>
              </a:endParaRPr>
            </a:p>
            <a:p>
              <a:pPr algn="r"/>
              <a:r>
                <a:rPr lang="zh-CN" altLang="en-US" sz="1200" b="1" dirty="0" smtClean="0">
                  <a:solidFill>
                    <a:srgbClr val="0000CC"/>
                  </a:solidFill>
                  <a:latin typeface="微软雅黑" panose="020B0503020204020204" pitchFamily="34" charset="-122"/>
                  <a:ea typeface="微软雅黑" panose="020B0503020204020204" pitchFamily="34" charset="-122"/>
                </a:rPr>
                <a:t>的</a:t>
              </a:r>
              <a:r>
                <a:rPr lang="zh-CN" altLang="en-US" sz="1200" b="1" dirty="0" smtClean="0">
                  <a:solidFill>
                    <a:srgbClr val="0000CC"/>
                  </a:solidFill>
                  <a:latin typeface="微软雅黑" panose="020B0503020204020204" pitchFamily="34" charset="-122"/>
                  <a:ea typeface="微软雅黑" panose="020B0503020204020204" pitchFamily="34" charset="-122"/>
                </a:rPr>
                <a:t>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nvGrpSpPr>
          <p:cNvPr id="89" name="组合 88"/>
          <p:cNvGrpSpPr/>
          <p:nvPr/>
        </p:nvGrpSpPr>
        <p:grpSpPr>
          <a:xfrm>
            <a:off x="5997827" y="1371510"/>
            <a:ext cx="582521" cy="322593"/>
            <a:chOff x="4410185" y="1371510"/>
            <a:chExt cx="582521" cy="322593"/>
          </a:xfrm>
        </p:grpSpPr>
        <p:sp>
          <p:nvSpPr>
            <p:cNvPr id="90" name="Text Box 16"/>
            <p:cNvSpPr txBox="1">
              <a:spLocks noChangeArrowheads="1"/>
            </p:cNvSpPr>
            <p:nvPr/>
          </p:nvSpPr>
          <p:spPr bwMode="auto">
            <a:xfrm>
              <a:off x="4410185" y="139133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91" name="AutoShape 15"/>
            <p:cNvSpPr>
              <a:spLocks/>
            </p:cNvSpPr>
            <p:nvPr/>
          </p:nvSpPr>
          <p:spPr bwMode="auto">
            <a:xfrm>
              <a:off x="4870888" y="1371510"/>
              <a:ext cx="121818" cy="230138"/>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92" name="组合 91"/>
          <p:cNvGrpSpPr/>
          <p:nvPr/>
        </p:nvGrpSpPr>
        <p:grpSpPr>
          <a:xfrm>
            <a:off x="5989456" y="1664318"/>
            <a:ext cx="558089" cy="302766"/>
            <a:chOff x="4401814" y="1664318"/>
            <a:chExt cx="558089" cy="302766"/>
          </a:xfrm>
        </p:grpSpPr>
        <p:sp>
          <p:nvSpPr>
            <p:cNvPr id="93" name="AutoShape 15"/>
            <p:cNvSpPr>
              <a:spLocks/>
            </p:cNvSpPr>
            <p:nvPr/>
          </p:nvSpPr>
          <p:spPr bwMode="auto">
            <a:xfrm>
              <a:off x="4870888" y="1675590"/>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4" name="Text Box 16"/>
            <p:cNvSpPr txBox="1">
              <a:spLocks noChangeArrowheads="1"/>
            </p:cNvSpPr>
            <p:nvPr/>
          </p:nvSpPr>
          <p:spPr bwMode="auto">
            <a:xfrm>
              <a:off x="4401814" y="166431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grpSp>
        <p:nvGrpSpPr>
          <p:cNvPr id="95" name="组合 94"/>
          <p:cNvGrpSpPr/>
          <p:nvPr/>
        </p:nvGrpSpPr>
        <p:grpSpPr>
          <a:xfrm>
            <a:off x="5991129" y="2329186"/>
            <a:ext cx="558089" cy="302766"/>
            <a:chOff x="4403487" y="2329186"/>
            <a:chExt cx="558089" cy="302766"/>
          </a:xfrm>
        </p:grpSpPr>
        <p:sp>
          <p:nvSpPr>
            <p:cNvPr id="96" name="AutoShape 15"/>
            <p:cNvSpPr>
              <a:spLocks/>
            </p:cNvSpPr>
            <p:nvPr/>
          </p:nvSpPr>
          <p:spPr bwMode="auto">
            <a:xfrm>
              <a:off x="4872561" y="2340458"/>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7" name="Text Box 16"/>
            <p:cNvSpPr txBox="1">
              <a:spLocks noChangeArrowheads="1"/>
            </p:cNvSpPr>
            <p:nvPr/>
          </p:nvSpPr>
          <p:spPr bwMode="auto">
            <a:xfrm>
              <a:off x="4403487" y="2329186"/>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sp>
        <p:nvSpPr>
          <p:cNvPr id="98" name="文本框 97"/>
          <p:cNvSpPr txBox="1"/>
          <p:nvPr/>
        </p:nvSpPr>
        <p:spPr>
          <a:xfrm>
            <a:off x="7195546" y="3508248"/>
            <a:ext cx="369332" cy="268073"/>
          </a:xfrm>
          <a:prstGeom prst="rect">
            <a:avLst/>
          </a:prstGeom>
          <a:noFill/>
        </p:spPr>
        <p:txBody>
          <a:bodyPr vert="eaVert" wrap="square" rtlCol="0">
            <a:spAutoFit/>
          </a:bodyPr>
          <a:lstStyle/>
          <a:p>
            <a:r>
              <a:rPr lang="en-US" altLang="zh-CN" sz="1200" b="1" dirty="0" smtClean="0"/>
              <a:t>...</a:t>
            </a:r>
            <a:endParaRPr lang="zh-CN" altLang="en-US" sz="1200" b="1" dirty="0"/>
          </a:p>
        </p:txBody>
      </p:sp>
      <p:grpSp>
        <p:nvGrpSpPr>
          <p:cNvPr id="99" name="组合 98"/>
          <p:cNvGrpSpPr/>
          <p:nvPr/>
        </p:nvGrpSpPr>
        <p:grpSpPr>
          <a:xfrm>
            <a:off x="6613959" y="3690014"/>
            <a:ext cx="1503955" cy="315710"/>
            <a:chOff x="5026317" y="3509150"/>
            <a:chExt cx="1503955" cy="315710"/>
          </a:xfrm>
        </p:grpSpPr>
        <p:sp>
          <p:nvSpPr>
            <p:cNvPr id="100" name="Rectangle 32"/>
            <p:cNvSpPr>
              <a:spLocks noChangeArrowheads="1"/>
            </p:cNvSpPr>
            <p:nvPr/>
          </p:nvSpPr>
          <p:spPr bwMode="auto">
            <a:xfrm rot="21347042">
              <a:off x="5026317" y="3509150"/>
              <a:ext cx="1503955" cy="315710"/>
            </a:xfrm>
            <a:prstGeom prst="rect">
              <a:avLst/>
            </a:prstGeom>
            <a:solidFill>
              <a:srgbClr val="66FF66"/>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101" name="Text Box 33"/>
            <p:cNvSpPr txBox="1">
              <a:spLocks noChangeArrowheads="1"/>
            </p:cNvSpPr>
            <p:nvPr/>
          </p:nvSpPr>
          <p:spPr bwMode="auto">
            <a:xfrm>
              <a:off x="5162689" y="3511616"/>
              <a:ext cx="1278812" cy="30748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latin typeface="微软雅黑" panose="020B0503020204020204" pitchFamily="34" charset="-122"/>
                  <a:ea typeface="微软雅黑" panose="020B0503020204020204" pitchFamily="34" charset="-122"/>
                </a:rPr>
                <a:t>page10.jpg</a:t>
              </a:r>
              <a:endParaRPr lang="en-CA" altLang="zh-CN" sz="1400" b="1" dirty="0">
                <a:latin typeface="微软雅黑" panose="020B0503020204020204" pitchFamily="34" charset="-122"/>
                <a:ea typeface="微软雅黑" panose="020B0503020204020204" pitchFamily="34" charset="-122"/>
              </a:endParaRPr>
            </a:p>
          </p:txBody>
        </p:sp>
      </p:grpSp>
    </p:spTree>
    <p:custDataLst>
      <p:tags r:id="rId1"/>
    </p:custDataLst>
    <p:extLst>
      <p:ext uri="{BB962C8B-B14F-4D97-AF65-F5344CB8AC3E}">
        <p14:creationId xmlns:p14="http://schemas.microsoft.com/office/powerpoint/2010/main" val="29460212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0">
                                            <p:txEl>
                                              <p:pRg st="2" end="2"/>
                                            </p:txEl>
                                          </p:spTgt>
                                        </p:tgtEl>
                                        <p:attrNameLst>
                                          <p:attrName>style.visibility</p:attrName>
                                        </p:attrNameLst>
                                      </p:cBhvr>
                                      <p:to>
                                        <p:strVal val="visible"/>
                                      </p:to>
                                    </p:set>
                                    <p:animEffect transition="in" filter="fade">
                                      <p:cBhvr>
                                        <p:cTn id="10" dur="500"/>
                                        <p:tgtEl>
                                          <p:spTgt spid="10">
                                            <p:txEl>
                                              <p:pRg st="2" end="2"/>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animEffect transition="in" filter="fade">
                                      <p:cBhvr>
                                        <p:cTn id="13" dur="500"/>
                                        <p:tgtEl>
                                          <p:spTgt spid="63"/>
                                        </p:tgtEl>
                                      </p:cBhvr>
                                    </p:animEffect>
                                  </p:childTnLst>
                                </p:cTn>
                              </p:par>
                            </p:childTnLst>
                          </p:cTn>
                        </p:par>
                        <p:par>
                          <p:cTn id="14" fill="hold">
                            <p:stCondLst>
                              <p:cond delay="500"/>
                            </p:stCondLst>
                            <p:childTnLst>
                              <p:par>
                                <p:cTn id="15" presetID="22" presetClass="entr" presetSubtype="8" fill="hold" grpId="0" nodeType="after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wipe(left)">
                                      <p:cBhvr>
                                        <p:cTn id="17" dur="500"/>
                                        <p:tgtEl>
                                          <p:spTgt spid="59"/>
                                        </p:tgtEl>
                                      </p:cBhvr>
                                    </p:animEffect>
                                  </p:childTnLst>
                                </p:cTn>
                              </p:par>
                            </p:childTnLst>
                          </p:cTn>
                        </p:par>
                        <p:par>
                          <p:cTn id="18" fill="hold">
                            <p:stCondLst>
                              <p:cond delay="1000"/>
                            </p:stCondLst>
                            <p:childTnLst>
                              <p:par>
                                <p:cTn id="19" presetID="22" presetClass="entr" presetSubtype="2" fill="hold" grpId="0" nodeType="after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wipe(right)">
                                      <p:cBhvr>
                                        <p:cTn id="21" dur="500"/>
                                        <p:tgtEl>
                                          <p:spTgt spid="60"/>
                                        </p:tgtEl>
                                      </p:cBhvr>
                                    </p:animEffect>
                                  </p:childTnLst>
                                </p:cTn>
                              </p:par>
                            </p:childTnLst>
                          </p:cTn>
                        </p:par>
                        <p:par>
                          <p:cTn id="22" fill="hold">
                            <p:stCondLst>
                              <p:cond delay="1500"/>
                            </p:stCondLst>
                            <p:childTnLst>
                              <p:par>
                                <p:cTn id="23" presetID="10" presetClass="entr" presetSubtype="0" fill="hold" nodeType="afterEffect">
                                  <p:stCondLst>
                                    <p:cond delay="0"/>
                                  </p:stCondLst>
                                  <p:childTnLst>
                                    <p:set>
                                      <p:cBhvr>
                                        <p:cTn id="24" dur="1" fill="hold">
                                          <p:stCondLst>
                                            <p:cond delay="0"/>
                                          </p:stCondLst>
                                        </p:cTn>
                                        <p:tgtEl>
                                          <p:spTgt spid="89"/>
                                        </p:tgtEl>
                                        <p:attrNameLst>
                                          <p:attrName>style.visibility</p:attrName>
                                        </p:attrNameLst>
                                      </p:cBhvr>
                                      <p:to>
                                        <p:strVal val="visible"/>
                                      </p:to>
                                    </p:set>
                                    <p:animEffect transition="in" filter="fade">
                                      <p:cBhvr>
                                        <p:cTn id="25" dur="500"/>
                                        <p:tgtEl>
                                          <p:spTgt spid="89"/>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62"/>
                                        </p:tgtEl>
                                        <p:attrNameLst>
                                          <p:attrName>style.visibility</p:attrName>
                                        </p:attrNameLst>
                                      </p:cBhvr>
                                      <p:to>
                                        <p:strVal val="visible"/>
                                      </p:to>
                                    </p:set>
                                    <p:animEffect transition="in" filter="wipe(left)">
                                      <p:cBhvr>
                                        <p:cTn id="29" dur="500"/>
                                        <p:tgtEl>
                                          <p:spTgt spid="62"/>
                                        </p:tgtEl>
                                      </p:cBhvr>
                                    </p:animEffect>
                                  </p:childTnLst>
                                </p:cTn>
                              </p:par>
                            </p:childTnLst>
                          </p:cTn>
                        </p:par>
                        <p:par>
                          <p:cTn id="30" fill="hold">
                            <p:stCondLst>
                              <p:cond delay="2500"/>
                            </p:stCondLst>
                            <p:childTnLst>
                              <p:par>
                                <p:cTn id="31" presetID="22" presetClass="entr" presetSubtype="2" fill="hold" nodeType="afterEffect">
                                  <p:stCondLst>
                                    <p:cond delay="0"/>
                                  </p:stCondLst>
                                  <p:childTnLst>
                                    <p:set>
                                      <p:cBhvr>
                                        <p:cTn id="32" dur="1" fill="hold">
                                          <p:stCondLst>
                                            <p:cond delay="0"/>
                                          </p:stCondLst>
                                        </p:cTn>
                                        <p:tgtEl>
                                          <p:spTgt spid="77"/>
                                        </p:tgtEl>
                                        <p:attrNameLst>
                                          <p:attrName>style.visibility</p:attrName>
                                        </p:attrNameLst>
                                      </p:cBhvr>
                                      <p:to>
                                        <p:strVal val="visible"/>
                                      </p:to>
                                    </p:set>
                                    <p:animEffect transition="in" filter="wipe(right)">
                                      <p:cBhvr>
                                        <p:cTn id="33" dur="500"/>
                                        <p:tgtEl>
                                          <p:spTgt spid="77"/>
                                        </p:tgtEl>
                                      </p:cBhvr>
                                    </p:animEffect>
                                  </p:childTnLst>
                                </p:cTn>
                              </p:par>
                            </p:childTnLst>
                          </p:cTn>
                        </p:par>
                        <p:par>
                          <p:cTn id="34" fill="hold">
                            <p:stCondLst>
                              <p:cond delay="3000"/>
                            </p:stCondLst>
                            <p:childTnLst>
                              <p:par>
                                <p:cTn id="35" presetID="10" presetClass="entr" presetSubtype="0" fill="hold" nodeType="after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fade">
                                      <p:cBhvr>
                                        <p:cTn id="37" dur="500"/>
                                        <p:tgtEl>
                                          <p:spTgt spid="92"/>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74"/>
                                        </p:tgtEl>
                                        <p:attrNameLst>
                                          <p:attrName>style.visibility</p:attrName>
                                        </p:attrNameLst>
                                      </p:cBhvr>
                                      <p:to>
                                        <p:strVal val="visible"/>
                                      </p:to>
                                    </p:set>
                                    <p:animEffect transition="in" filter="wipe(left)">
                                      <p:cBhvr>
                                        <p:cTn id="41" dur="500"/>
                                        <p:tgtEl>
                                          <p:spTgt spid="74"/>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wipe(left)">
                                      <p:cBhvr>
                                        <p:cTn id="45" dur="500"/>
                                        <p:tgtEl>
                                          <p:spTgt spid="75"/>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down)">
                                      <p:cBhvr>
                                        <p:cTn id="49" dur="500"/>
                                        <p:tgtEl>
                                          <p:spTgt spid="50"/>
                                        </p:tgtEl>
                                      </p:cBhvr>
                                    </p:animEffect>
                                  </p:childTnLst>
                                </p:cTn>
                              </p:par>
                            </p:childTnLst>
                          </p:cTn>
                        </p:par>
                        <p:par>
                          <p:cTn id="50" fill="hold">
                            <p:stCondLst>
                              <p:cond delay="5000"/>
                            </p:stCondLst>
                            <p:childTnLst>
                              <p:par>
                                <p:cTn id="51" presetID="22" presetClass="entr" presetSubtype="8" fill="hold" grpId="0" nodeType="afterEffect">
                                  <p:stCondLst>
                                    <p:cond delay="0"/>
                                  </p:stCondLst>
                                  <p:childTnLst>
                                    <p:set>
                                      <p:cBhvr>
                                        <p:cTn id="52" dur="1" fill="hold">
                                          <p:stCondLst>
                                            <p:cond delay="0"/>
                                          </p:stCondLst>
                                        </p:cTn>
                                        <p:tgtEl>
                                          <p:spTgt spid="76"/>
                                        </p:tgtEl>
                                        <p:attrNameLst>
                                          <p:attrName>style.visibility</p:attrName>
                                        </p:attrNameLst>
                                      </p:cBhvr>
                                      <p:to>
                                        <p:strVal val="visible"/>
                                      </p:to>
                                    </p:set>
                                    <p:animEffect transition="in" filter="wipe(left)">
                                      <p:cBhvr>
                                        <p:cTn id="53" dur="500"/>
                                        <p:tgtEl>
                                          <p:spTgt spid="76"/>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80"/>
                                        </p:tgtEl>
                                        <p:attrNameLst>
                                          <p:attrName>style.visibility</p:attrName>
                                        </p:attrNameLst>
                                      </p:cBhvr>
                                      <p:to>
                                        <p:strVal val="visible"/>
                                      </p:to>
                                    </p:set>
                                    <p:animEffect transition="in" filter="wipe(right)">
                                      <p:cBhvr>
                                        <p:cTn id="57" dur="500"/>
                                        <p:tgtEl>
                                          <p:spTgt spid="80"/>
                                        </p:tgtEl>
                                      </p:cBhvr>
                                    </p:animEffect>
                                  </p:childTnLst>
                                </p:cTn>
                              </p:par>
                            </p:childTnLst>
                          </p:cTn>
                        </p:par>
                        <p:par>
                          <p:cTn id="58" fill="hold">
                            <p:stCondLst>
                              <p:cond delay="6000"/>
                            </p:stCondLst>
                            <p:childTnLst>
                              <p:par>
                                <p:cTn id="59" presetID="22" presetClass="entr" presetSubtype="2" fill="hold" nodeType="afterEffect">
                                  <p:stCondLst>
                                    <p:cond delay="0"/>
                                  </p:stCondLst>
                                  <p:childTnLst>
                                    <p:set>
                                      <p:cBhvr>
                                        <p:cTn id="60" dur="1" fill="hold">
                                          <p:stCondLst>
                                            <p:cond delay="0"/>
                                          </p:stCondLst>
                                        </p:cTn>
                                        <p:tgtEl>
                                          <p:spTgt spid="83"/>
                                        </p:tgtEl>
                                        <p:attrNameLst>
                                          <p:attrName>style.visibility</p:attrName>
                                        </p:attrNameLst>
                                      </p:cBhvr>
                                      <p:to>
                                        <p:strVal val="visible"/>
                                      </p:to>
                                    </p:set>
                                    <p:animEffect transition="in" filter="wipe(right)">
                                      <p:cBhvr>
                                        <p:cTn id="61" dur="500"/>
                                        <p:tgtEl>
                                          <p:spTgt spid="83"/>
                                        </p:tgtEl>
                                      </p:cBhvr>
                                    </p:animEffect>
                                  </p:childTnLst>
                                </p:cTn>
                              </p:par>
                            </p:childTnLst>
                          </p:cTn>
                        </p:par>
                        <p:par>
                          <p:cTn id="62" fill="hold">
                            <p:stCondLst>
                              <p:cond delay="6500"/>
                            </p:stCondLst>
                            <p:childTnLst>
                              <p:par>
                                <p:cTn id="63" presetID="22" presetClass="entr" presetSubtype="2" fill="hold" grpId="0" nodeType="afterEffect">
                                  <p:stCondLst>
                                    <p:cond delay="0"/>
                                  </p:stCondLst>
                                  <p:childTnLst>
                                    <p:set>
                                      <p:cBhvr>
                                        <p:cTn id="64" dur="1" fill="hold">
                                          <p:stCondLst>
                                            <p:cond delay="0"/>
                                          </p:stCondLst>
                                        </p:cTn>
                                        <p:tgtEl>
                                          <p:spTgt spid="98"/>
                                        </p:tgtEl>
                                        <p:attrNameLst>
                                          <p:attrName>style.visibility</p:attrName>
                                        </p:attrNameLst>
                                      </p:cBhvr>
                                      <p:to>
                                        <p:strVal val="visible"/>
                                      </p:to>
                                    </p:set>
                                    <p:animEffect transition="in" filter="wipe(right)">
                                      <p:cBhvr>
                                        <p:cTn id="65" dur="500"/>
                                        <p:tgtEl>
                                          <p:spTgt spid="98"/>
                                        </p:tgtEl>
                                      </p:cBhvr>
                                    </p:animEffect>
                                  </p:childTnLst>
                                </p:cTn>
                              </p:par>
                            </p:childTnLst>
                          </p:cTn>
                        </p:par>
                        <p:par>
                          <p:cTn id="66" fill="hold">
                            <p:stCondLst>
                              <p:cond delay="7000"/>
                            </p:stCondLst>
                            <p:childTnLst>
                              <p:par>
                                <p:cTn id="67" presetID="22" presetClass="entr" presetSubtype="2" fill="hold" nodeType="afterEffect">
                                  <p:stCondLst>
                                    <p:cond delay="0"/>
                                  </p:stCondLst>
                                  <p:childTnLst>
                                    <p:set>
                                      <p:cBhvr>
                                        <p:cTn id="68" dur="1" fill="hold">
                                          <p:stCondLst>
                                            <p:cond delay="0"/>
                                          </p:stCondLst>
                                        </p:cTn>
                                        <p:tgtEl>
                                          <p:spTgt spid="99"/>
                                        </p:tgtEl>
                                        <p:attrNameLst>
                                          <p:attrName>style.visibility</p:attrName>
                                        </p:attrNameLst>
                                      </p:cBhvr>
                                      <p:to>
                                        <p:strVal val="visible"/>
                                      </p:to>
                                    </p:set>
                                    <p:animEffect transition="in" filter="wipe(right)">
                                      <p:cBhvr>
                                        <p:cTn id="69" dur="500"/>
                                        <p:tgtEl>
                                          <p:spTgt spid="99"/>
                                        </p:tgtEl>
                                      </p:cBhvr>
                                    </p:animEffect>
                                  </p:childTnLst>
                                </p:cTn>
                              </p:par>
                            </p:childTnLst>
                          </p:cTn>
                        </p:par>
                        <p:par>
                          <p:cTn id="70" fill="hold">
                            <p:stCondLst>
                              <p:cond delay="7500"/>
                            </p:stCondLst>
                            <p:childTnLst>
                              <p:par>
                                <p:cTn id="71" presetID="10" presetClass="entr" presetSubtype="0" fill="hold" nodeType="afterEffect">
                                  <p:stCondLst>
                                    <p:cond delay="0"/>
                                  </p:stCondLst>
                                  <p:childTnLst>
                                    <p:set>
                                      <p:cBhvr>
                                        <p:cTn id="72" dur="1" fill="hold">
                                          <p:stCondLst>
                                            <p:cond delay="0"/>
                                          </p:stCondLst>
                                        </p:cTn>
                                        <p:tgtEl>
                                          <p:spTgt spid="95"/>
                                        </p:tgtEl>
                                        <p:attrNameLst>
                                          <p:attrName>style.visibility</p:attrName>
                                        </p:attrNameLst>
                                      </p:cBhvr>
                                      <p:to>
                                        <p:strVal val="visible"/>
                                      </p:to>
                                    </p:set>
                                    <p:animEffect transition="in" filter="fade">
                                      <p:cBhvr>
                                        <p:cTn id="73" dur="500"/>
                                        <p:tgtEl>
                                          <p:spTgt spid="95"/>
                                        </p:tgtEl>
                                      </p:cBhvr>
                                    </p:animEffect>
                                  </p:childTnLst>
                                </p:cTn>
                              </p:par>
                            </p:childTnLst>
                          </p:cTn>
                        </p:par>
                        <p:par>
                          <p:cTn id="74" fill="hold">
                            <p:stCondLst>
                              <p:cond delay="8000"/>
                            </p:stCondLst>
                            <p:childTnLst>
                              <p:par>
                                <p:cTn id="75" presetID="10" presetClass="entr" presetSubtype="0" fill="hold" nodeType="afterEffect">
                                  <p:stCondLst>
                                    <p:cond delay="0"/>
                                  </p:stCondLst>
                                  <p:childTnLst>
                                    <p:set>
                                      <p:cBhvr>
                                        <p:cTn id="76" dur="1" fill="hold">
                                          <p:stCondLst>
                                            <p:cond delay="0"/>
                                          </p:stCondLst>
                                        </p:cTn>
                                        <p:tgtEl>
                                          <p:spTgt spid="86"/>
                                        </p:tgtEl>
                                        <p:attrNameLst>
                                          <p:attrName>style.visibility</p:attrName>
                                        </p:attrNameLst>
                                      </p:cBhvr>
                                      <p:to>
                                        <p:strVal val="visible"/>
                                      </p:to>
                                    </p:set>
                                    <p:animEffect transition="in" filter="fade">
                                      <p:cBhvr>
                                        <p:cTn id="77" dur="500"/>
                                        <p:tgtEl>
                                          <p:spTgt spid="86"/>
                                        </p:tgtEl>
                                      </p:cBhvr>
                                    </p:animEffect>
                                  </p:childTnLst>
                                </p:cTn>
                              </p:par>
                            </p:childTnLst>
                          </p:cTn>
                        </p:par>
                        <p:par>
                          <p:cTn id="78" fill="hold">
                            <p:stCondLst>
                              <p:cond delay="8500"/>
                            </p:stCondLst>
                            <p:childTnLst>
                              <p:par>
                                <p:cTn id="79" presetID="22" presetClass="entr" presetSubtype="1" fill="hold" nodeType="afterEffect">
                                  <p:stCondLst>
                                    <p:cond delay="0"/>
                                  </p:stCondLst>
                                  <p:childTnLst>
                                    <p:set>
                                      <p:cBhvr>
                                        <p:cTn id="80" dur="1" fill="hold">
                                          <p:stCondLst>
                                            <p:cond delay="0"/>
                                          </p:stCondLst>
                                        </p:cTn>
                                        <p:tgtEl>
                                          <p:spTgt spid="64"/>
                                        </p:tgtEl>
                                        <p:attrNameLst>
                                          <p:attrName>style.visibility</p:attrName>
                                        </p:attrNameLst>
                                      </p:cBhvr>
                                      <p:to>
                                        <p:strVal val="visible"/>
                                      </p:to>
                                    </p:set>
                                    <p:animEffect transition="in" filter="wipe(up)">
                                      <p:cBhvr>
                                        <p:cTn id="81" dur="10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9" grpId="0" animBg="1"/>
      <p:bldP spid="60" grpId="0" animBg="1"/>
      <p:bldP spid="62" grpId="0" animBg="1"/>
      <p:bldP spid="63" grpId="0"/>
      <p:bldP spid="74" grpId="0" animBg="1"/>
      <p:bldP spid="75" grpId="0" animBg="1"/>
      <p:bldP spid="76" grpId="0" animBg="1"/>
      <p:bldP spid="9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59598"/>
            <a:ext cx="5208581" cy="37768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2700"/>
              </a:lnSpc>
              <a:buClr>
                <a:srgbClr val="0070C0"/>
              </a:buClr>
              <a:buFont typeface="Wingdings" pitchFamily="2" charset="2"/>
              <a:buChar char="l"/>
            </a:pPr>
            <a:r>
              <a:rPr lang="zh-CN" altLang="en-US" b="1" dirty="0" smtClean="0">
                <a:latin typeface="微软雅黑" pitchFamily="34" charset="-122"/>
                <a:ea typeface="微软雅黑" pitchFamily="34" charset="-122"/>
              </a:rPr>
              <a:t>优化了</a:t>
            </a:r>
            <a:r>
              <a:rPr lang="zh-CN" altLang="en-US" b="1" dirty="0">
                <a:solidFill>
                  <a:srgbClr val="C00000"/>
                </a:solidFill>
                <a:latin typeface="微软雅黑" pitchFamily="34" charset="-122"/>
                <a:ea typeface="微软雅黑" pitchFamily="34" charset="-122"/>
              </a:rPr>
              <a:t>报文格式</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把报文划分为较小</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二进制编码的帧</a:t>
            </a:r>
            <a:r>
              <a:rPr lang="zh-CN" altLang="en-US" b="1" dirty="0" smtClean="0">
                <a:latin typeface="微软雅黑" pitchFamily="34" charset="-122"/>
                <a:ea typeface="微软雅黑" pitchFamily="34" charset="-122"/>
              </a:rPr>
              <a:t>，既降低传输的数据量，又为后续处理带来了灵活性。</a:t>
            </a:r>
            <a:endParaRPr lang="zh-CN" altLang="en-US" b="1" dirty="0">
              <a:latin typeface="微软雅黑" pitchFamily="34" charset="-122"/>
              <a:ea typeface="微软雅黑" pitchFamily="34" charset="-122"/>
            </a:endParaRPr>
          </a:p>
          <a:p>
            <a:pPr marL="285750" indent="-285750" algn="just" hangingPunct="0">
              <a:lnSpc>
                <a:spcPts val="2700"/>
              </a:lnSpc>
              <a:buClr>
                <a:srgbClr val="0070C0"/>
              </a:buClr>
              <a:buFont typeface="Wingdings" pitchFamily="2" charset="2"/>
              <a:buChar char="l"/>
            </a:pPr>
            <a:r>
              <a:rPr lang="zh-CN" altLang="en-US" b="1" dirty="0" smtClean="0">
                <a:latin typeface="微软雅黑" pitchFamily="34" charset="-122"/>
                <a:ea typeface="微软雅黑" pitchFamily="34" charset="-122"/>
              </a:rPr>
              <a:t>引入多路复用的概念</a:t>
            </a:r>
            <a:endParaRPr lang="en-US" altLang="zh-CN" b="1" dirty="0" smtClean="0">
              <a:latin typeface="微软雅黑" pitchFamily="34" charset="-122"/>
              <a:ea typeface="微软雅黑" pitchFamily="34" charset="-122"/>
            </a:endParaRPr>
          </a:p>
          <a:p>
            <a:pPr marL="742950" lvl="1" indent="-285750" algn="just" hangingPunct="0">
              <a:lnSpc>
                <a:spcPts val="2600"/>
              </a:lnSpc>
              <a:buClr>
                <a:srgbClr val="0070C0"/>
              </a:buClr>
              <a:buFont typeface="Wingdings" pitchFamily="2" charset="2"/>
              <a:buChar char="l"/>
            </a:pPr>
            <a:r>
              <a:rPr lang="zh-CN" altLang="en-US" sz="1600" b="1" dirty="0">
                <a:latin typeface="微软雅黑" pitchFamily="34" charset="-122"/>
                <a:ea typeface="微软雅黑" pitchFamily="34" charset="-122"/>
              </a:rPr>
              <a:t>在同一个 </a:t>
            </a:r>
            <a:r>
              <a:rPr lang="en-US" altLang="zh-CN" sz="1600" b="1" dirty="0">
                <a:latin typeface="微软雅黑" pitchFamily="34" charset="-122"/>
                <a:ea typeface="微软雅黑" pitchFamily="34" charset="-122"/>
              </a:rPr>
              <a:t>TCP </a:t>
            </a:r>
            <a:r>
              <a:rPr lang="zh-CN" altLang="en-US" sz="1600" b="1" dirty="0">
                <a:latin typeface="微软雅黑" pitchFamily="34" charset="-122"/>
                <a:ea typeface="微软雅黑" pitchFamily="34" charset="-122"/>
              </a:rPr>
              <a:t>连接内</a:t>
            </a:r>
            <a:r>
              <a:rPr lang="zh-CN" altLang="en-US" sz="1600" b="1" dirty="0" smtClean="0">
                <a:latin typeface="微软雅黑" pitchFamily="34" charset="-122"/>
                <a:ea typeface="微软雅黑" pitchFamily="34" charset="-122"/>
              </a:rPr>
              <a:t>，</a:t>
            </a:r>
            <a:r>
              <a:rPr lang="zh-CN" altLang="en-US" sz="1600" b="1" dirty="0" smtClean="0">
                <a:solidFill>
                  <a:srgbClr val="C00000"/>
                </a:solidFill>
                <a:latin typeface="微软雅黑" pitchFamily="34" charset="-122"/>
                <a:ea typeface="微软雅黑" pitchFamily="34" charset="-122"/>
              </a:rPr>
              <a:t>并行</a:t>
            </a:r>
            <a:r>
              <a:rPr lang="zh-CN" altLang="en-US" sz="1600" b="1" dirty="0">
                <a:solidFill>
                  <a:srgbClr val="C00000"/>
                </a:solidFill>
                <a:latin typeface="微软雅黑" pitchFamily="34" charset="-122"/>
                <a:ea typeface="微软雅黑" pitchFamily="34" charset="-122"/>
              </a:rPr>
              <a:t>发送多个请求和接收多个响应</a:t>
            </a:r>
            <a:r>
              <a:rPr lang="zh-CN" altLang="en-US" sz="1600" b="1" dirty="0">
                <a:latin typeface="微软雅黑" pitchFamily="34" charset="-122"/>
                <a:ea typeface="微软雅黑" pitchFamily="34" charset="-122"/>
              </a:rPr>
              <a:t>。</a:t>
            </a:r>
          </a:p>
          <a:p>
            <a:pPr marL="742950" lvl="1" indent="-285750" algn="just"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给</a:t>
            </a:r>
            <a:r>
              <a:rPr lang="zh-CN" altLang="en-US" sz="1600" b="1" dirty="0">
                <a:latin typeface="微软雅黑" pitchFamily="34" charset="-122"/>
                <a:ea typeface="微软雅黑" pitchFamily="34" charset="-122"/>
              </a:rPr>
              <a:t>每个帧</a:t>
            </a:r>
            <a:r>
              <a:rPr lang="zh-CN" altLang="en-US" sz="1600" b="1" dirty="0" smtClean="0">
                <a:latin typeface="微软雅黑" pitchFamily="34" charset="-122"/>
                <a:ea typeface="微软雅黑" pitchFamily="34" charset="-122"/>
              </a:rPr>
              <a:t>标记流 </a:t>
            </a:r>
            <a:r>
              <a:rPr lang="en-US" altLang="zh-CN" sz="1600" b="1" dirty="0" smtClean="0">
                <a:latin typeface="微软雅黑" pitchFamily="34" charset="-122"/>
                <a:ea typeface="微软雅黑" pitchFamily="34" charset="-122"/>
              </a:rPr>
              <a:t>ID</a:t>
            </a:r>
            <a:r>
              <a:rPr lang="zh-CN" altLang="en-US" sz="1600" b="1" dirty="0" smtClean="0">
                <a:latin typeface="微软雅黑" pitchFamily="34" charset="-122"/>
                <a:ea typeface="微软雅黑" pitchFamily="34" charset="-122"/>
              </a:rPr>
              <a:t>，客户和</a:t>
            </a:r>
            <a:r>
              <a:rPr lang="zh-CN" altLang="en-US" sz="1600" b="1" dirty="0">
                <a:latin typeface="微软雅黑" pitchFamily="34" charset="-122"/>
                <a:ea typeface="微软雅黑" pitchFamily="34" charset="-122"/>
              </a:rPr>
              <a:t>服务器可以</a:t>
            </a:r>
            <a:r>
              <a:rPr lang="zh-CN" altLang="en-US" sz="1600" b="1" dirty="0">
                <a:solidFill>
                  <a:srgbClr val="C00000"/>
                </a:solidFill>
                <a:latin typeface="微软雅黑" pitchFamily="34" charset="-122"/>
                <a:ea typeface="微软雅黑" pitchFamily="34" charset="-122"/>
              </a:rPr>
              <a:t>区分哪些帧属于哪个</a:t>
            </a:r>
            <a:r>
              <a:rPr lang="zh-CN" altLang="en-US" sz="1600" b="1" dirty="0" smtClean="0">
                <a:solidFill>
                  <a:srgbClr val="C00000"/>
                </a:solidFill>
                <a:latin typeface="微软雅黑" pitchFamily="34" charset="-122"/>
                <a:ea typeface="微软雅黑" pitchFamily="34" charset="-122"/>
              </a:rPr>
              <a:t>请求</a:t>
            </a:r>
            <a:r>
              <a:rPr lang="zh-CN" altLang="en-US" sz="1600" b="1" dirty="0" smtClean="0">
                <a:latin typeface="微软雅黑" pitchFamily="34" charset="-122"/>
                <a:ea typeface="微软雅黑" pitchFamily="34" charset="-122"/>
              </a:rPr>
              <a:t>，不同流的帧可以</a:t>
            </a:r>
            <a:r>
              <a:rPr lang="zh-CN" altLang="en-US" sz="1600" b="1" dirty="0" smtClean="0">
                <a:solidFill>
                  <a:srgbClr val="C00000"/>
                </a:solidFill>
                <a:latin typeface="微软雅黑" pitchFamily="34" charset="-122"/>
                <a:ea typeface="微软雅黑" pitchFamily="34" charset="-122"/>
              </a:rPr>
              <a:t>交错传输</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a:p>
            <a:pPr marL="742950" lvl="1" indent="-285750" algn="just"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右</a:t>
            </a:r>
            <a:r>
              <a:rPr lang="zh-CN" altLang="en-US" sz="1600" b="1" dirty="0">
                <a:latin typeface="微软雅黑" pitchFamily="34" charset="-122"/>
                <a:ea typeface="微软雅黑" pitchFamily="34" charset="-122"/>
              </a:rPr>
              <a:t>图中尽管</a:t>
            </a:r>
            <a:r>
              <a:rPr lang="en-US" altLang="zh-CN" sz="1600" b="1" dirty="0" smtClean="0">
                <a:latin typeface="微软雅黑" pitchFamily="34" charset="-122"/>
                <a:ea typeface="微软雅黑" pitchFamily="34" charset="-122"/>
              </a:rPr>
              <a:t>page1.jpg</a:t>
            </a:r>
            <a:r>
              <a:rPr lang="zh-CN" altLang="en-US" sz="1600" b="1" dirty="0" smtClean="0">
                <a:latin typeface="微软雅黑" pitchFamily="34" charset="-122"/>
                <a:ea typeface="微软雅黑" pitchFamily="34" charset="-122"/>
              </a:rPr>
              <a:t>页面</a:t>
            </a:r>
            <a:r>
              <a:rPr lang="zh-CN" altLang="en-US" sz="1600" b="1" dirty="0">
                <a:latin typeface="微软雅黑" pitchFamily="34" charset="-122"/>
                <a:ea typeface="微软雅黑" pitchFamily="34" charset="-122"/>
              </a:rPr>
              <a:t>很大，但不</a:t>
            </a:r>
            <a:r>
              <a:rPr lang="zh-CN" altLang="en-US" sz="1600" b="1" dirty="0" smtClean="0">
                <a:latin typeface="微软雅黑" pitchFamily="34" charset="-122"/>
                <a:ea typeface="微软雅黑" pitchFamily="34" charset="-122"/>
              </a:rPr>
              <a:t>影响</a:t>
            </a:r>
            <a:r>
              <a:rPr lang="en-US" altLang="zh-CN" sz="1600" b="1" dirty="0" smtClean="0">
                <a:latin typeface="微软雅黑" pitchFamily="34" charset="-122"/>
                <a:ea typeface="微软雅黑" pitchFamily="34" charset="-122"/>
              </a:rPr>
              <a:t>page2.jpg</a:t>
            </a:r>
            <a:r>
              <a:rPr lang="zh-CN" altLang="en-US" sz="1600" b="1" dirty="0" smtClean="0">
                <a:latin typeface="微软雅黑" pitchFamily="34" charset="-122"/>
                <a:ea typeface="微软雅黑" pitchFamily="34" charset="-122"/>
              </a:rPr>
              <a:t>等其他文档的</a:t>
            </a:r>
            <a:r>
              <a:rPr lang="zh-CN" altLang="en-US" sz="1600" b="1" dirty="0">
                <a:latin typeface="微软雅黑" pitchFamily="34" charset="-122"/>
                <a:ea typeface="微软雅黑" pitchFamily="34" charset="-122"/>
              </a:rPr>
              <a:t>传输时间</a:t>
            </a:r>
            <a:r>
              <a:rPr lang="zh-CN" altLang="en-US" sz="1600" b="1" dirty="0" smtClean="0">
                <a:latin typeface="微软雅黑" pitchFamily="34" charset="-122"/>
                <a:ea typeface="微软雅黑" pitchFamily="34" charset="-122"/>
              </a:rPr>
              <a:t>。消除</a:t>
            </a:r>
            <a:r>
              <a:rPr lang="zh-CN" altLang="en-US" sz="1600" b="1" dirty="0">
                <a:latin typeface="微软雅黑" pitchFamily="34" charset="-122"/>
                <a:ea typeface="微软雅黑" pitchFamily="34" charset="-122"/>
              </a:rPr>
              <a:t>了</a:t>
            </a:r>
            <a:r>
              <a:rPr lang="zh-CN" altLang="en-US" sz="1600" b="1" dirty="0">
                <a:solidFill>
                  <a:srgbClr val="C00000"/>
                </a:solidFill>
                <a:latin typeface="微软雅黑" pitchFamily="34" charset="-122"/>
                <a:ea typeface="微软雅黑" pitchFamily="34" charset="-122"/>
              </a:rPr>
              <a:t>应用层的队头阻塞</a:t>
            </a:r>
            <a:r>
              <a:rPr lang="zh-CN" altLang="en-US" sz="1600" b="1" dirty="0">
                <a:latin typeface="微软雅黑" pitchFamily="34" charset="-122"/>
                <a:ea typeface="微软雅黑" pitchFamily="34" charset="-122"/>
              </a:rPr>
              <a:t>，显著提升了页面加载</a:t>
            </a:r>
            <a:r>
              <a:rPr lang="zh-CN" altLang="en-US" sz="1600" b="1" dirty="0" smtClean="0">
                <a:latin typeface="微软雅黑" pitchFamily="34" charset="-122"/>
                <a:ea typeface="微软雅黑" pitchFamily="34" charset="-122"/>
              </a:rPr>
              <a:t>速度。</a:t>
            </a:r>
            <a:endParaRPr lang="en-US" altLang="zh-CN" sz="1600" b="1" dirty="0" smtClean="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175939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HTTP/2</a:t>
            </a:r>
            <a:endParaRPr lang="zh-CN" altLang="en-US" sz="2000" b="1" dirty="0">
              <a:latin typeface="微软雅黑" pitchFamily="34" charset="-122"/>
              <a:ea typeface="微软雅黑" pitchFamily="34" charset="-122"/>
            </a:endParaRPr>
          </a:p>
        </p:txBody>
      </p:sp>
      <p:sp>
        <p:nvSpPr>
          <p:cNvPr id="26" name="Rectangle 21"/>
          <p:cNvSpPr>
            <a:spLocks noChangeArrowheads="1"/>
          </p:cNvSpPr>
          <p:nvPr/>
        </p:nvSpPr>
        <p:spPr bwMode="auto">
          <a:xfrm rot="21373145">
            <a:off x="6958217" y="2555377"/>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rot="21373145">
            <a:off x="6958217" y="2626869"/>
            <a:ext cx="1503604" cy="57510"/>
          </a:xfrm>
          <a:prstGeom prst="rect">
            <a:avLst/>
          </a:prstGeom>
          <a:solidFill>
            <a:srgbClr val="66FF66"/>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rot="21373145">
            <a:off x="6958217" y="2698361"/>
            <a:ext cx="1503604" cy="57510"/>
          </a:xfrm>
          <a:prstGeom prst="rect">
            <a:avLst/>
          </a:prstGeom>
          <a:solidFill>
            <a:schemeClr val="accent6">
              <a:lumMod val="60000"/>
              <a:lumOff val="40000"/>
            </a:schemeClr>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51" name="Rectangle 21"/>
          <p:cNvSpPr>
            <a:spLocks noChangeArrowheads="1"/>
          </p:cNvSpPr>
          <p:nvPr/>
        </p:nvSpPr>
        <p:spPr bwMode="auto">
          <a:xfrm rot="21373145">
            <a:off x="6958217" y="2769853"/>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53" name="Rectangle 21"/>
          <p:cNvSpPr>
            <a:spLocks noChangeArrowheads="1"/>
          </p:cNvSpPr>
          <p:nvPr/>
        </p:nvSpPr>
        <p:spPr bwMode="auto">
          <a:xfrm rot="21373145">
            <a:off x="6958217" y="2841345"/>
            <a:ext cx="1503604" cy="57510"/>
          </a:xfrm>
          <a:prstGeom prst="rect">
            <a:avLst/>
          </a:prstGeom>
          <a:solidFill>
            <a:srgbClr val="66FF66"/>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54" name="Rectangle 21"/>
          <p:cNvSpPr>
            <a:spLocks noChangeArrowheads="1"/>
          </p:cNvSpPr>
          <p:nvPr/>
        </p:nvSpPr>
        <p:spPr bwMode="auto">
          <a:xfrm rot="21373145">
            <a:off x="6958217" y="2912837"/>
            <a:ext cx="1503604" cy="57510"/>
          </a:xfrm>
          <a:prstGeom prst="rect">
            <a:avLst/>
          </a:prstGeom>
          <a:solidFill>
            <a:schemeClr val="accent6">
              <a:lumMod val="60000"/>
              <a:lumOff val="40000"/>
            </a:schemeClr>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64" name="Rectangle 21"/>
          <p:cNvSpPr>
            <a:spLocks noChangeArrowheads="1"/>
          </p:cNvSpPr>
          <p:nvPr/>
        </p:nvSpPr>
        <p:spPr bwMode="auto">
          <a:xfrm rot="21373145">
            <a:off x="6958217" y="3055821"/>
            <a:ext cx="1503604" cy="57510"/>
          </a:xfrm>
          <a:prstGeom prst="rect">
            <a:avLst/>
          </a:prstGeom>
          <a:solidFill>
            <a:srgbClr val="66FF66"/>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68" name="Rectangle 21"/>
          <p:cNvSpPr>
            <a:spLocks noChangeArrowheads="1"/>
          </p:cNvSpPr>
          <p:nvPr/>
        </p:nvSpPr>
        <p:spPr bwMode="auto">
          <a:xfrm rot="21373145">
            <a:off x="6958217" y="3127313"/>
            <a:ext cx="1503604" cy="57510"/>
          </a:xfrm>
          <a:prstGeom prst="rect">
            <a:avLst/>
          </a:prstGeom>
          <a:solidFill>
            <a:schemeClr val="accent6">
              <a:lumMod val="60000"/>
              <a:lumOff val="40000"/>
            </a:schemeClr>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0" name="Rectangle 21"/>
          <p:cNvSpPr>
            <a:spLocks noChangeArrowheads="1"/>
          </p:cNvSpPr>
          <p:nvPr/>
        </p:nvSpPr>
        <p:spPr bwMode="auto">
          <a:xfrm rot="21373145">
            <a:off x="6958217" y="2984329"/>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1" name="Rectangle 21"/>
          <p:cNvSpPr>
            <a:spLocks noChangeArrowheads="1"/>
          </p:cNvSpPr>
          <p:nvPr/>
        </p:nvSpPr>
        <p:spPr bwMode="auto">
          <a:xfrm rot="21373145">
            <a:off x="6958217" y="3198805"/>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2" name="Rectangle 21"/>
          <p:cNvSpPr>
            <a:spLocks noChangeArrowheads="1"/>
          </p:cNvSpPr>
          <p:nvPr/>
        </p:nvSpPr>
        <p:spPr bwMode="auto">
          <a:xfrm rot="21373145">
            <a:off x="6958217" y="3270297"/>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3" name="Rectangle 21"/>
          <p:cNvSpPr>
            <a:spLocks noChangeArrowheads="1"/>
          </p:cNvSpPr>
          <p:nvPr/>
        </p:nvSpPr>
        <p:spPr bwMode="auto">
          <a:xfrm rot="21373145">
            <a:off x="6958217" y="3341789"/>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4" name="Rectangle 21"/>
          <p:cNvSpPr>
            <a:spLocks noChangeArrowheads="1"/>
          </p:cNvSpPr>
          <p:nvPr/>
        </p:nvSpPr>
        <p:spPr bwMode="auto">
          <a:xfrm rot="21373145">
            <a:off x="6958217" y="3413281"/>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5" name="Rectangle 21"/>
          <p:cNvSpPr>
            <a:spLocks noChangeArrowheads="1"/>
          </p:cNvSpPr>
          <p:nvPr/>
        </p:nvSpPr>
        <p:spPr bwMode="auto">
          <a:xfrm rot="21373145">
            <a:off x="6958217" y="3484779"/>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6" name="Rectangle 21"/>
          <p:cNvSpPr>
            <a:spLocks noChangeArrowheads="1"/>
          </p:cNvSpPr>
          <p:nvPr/>
        </p:nvSpPr>
        <p:spPr bwMode="auto">
          <a:xfrm rot="21373145">
            <a:off x="6958217" y="3558938"/>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7" name="Rectangle 21"/>
          <p:cNvSpPr>
            <a:spLocks noChangeArrowheads="1"/>
          </p:cNvSpPr>
          <p:nvPr/>
        </p:nvSpPr>
        <p:spPr bwMode="auto">
          <a:xfrm rot="21373145">
            <a:off x="6958217" y="3639403"/>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78" name="Rectangle 21"/>
          <p:cNvSpPr>
            <a:spLocks noChangeArrowheads="1"/>
          </p:cNvSpPr>
          <p:nvPr/>
        </p:nvSpPr>
        <p:spPr bwMode="auto">
          <a:xfrm rot="21373145">
            <a:off x="6958217" y="3800333"/>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80" name="Rectangle 21"/>
          <p:cNvSpPr>
            <a:spLocks noChangeArrowheads="1"/>
          </p:cNvSpPr>
          <p:nvPr/>
        </p:nvSpPr>
        <p:spPr bwMode="auto">
          <a:xfrm rot="21373145">
            <a:off x="6958217" y="3719868"/>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81" name="Rectangle 21"/>
          <p:cNvSpPr>
            <a:spLocks noChangeArrowheads="1"/>
          </p:cNvSpPr>
          <p:nvPr/>
        </p:nvSpPr>
        <p:spPr bwMode="auto">
          <a:xfrm rot="21373145">
            <a:off x="6958217" y="3880798"/>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84" name="Rectangle 21"/>
          <p:cNvSpPr>
            <a:spLocks noChangeArrowheads="1"/>
          </p:cNvSpPr>
          <p:nvPr/>
        </p:nvSpPr>
        <p:spPr bwMode="auto">
          <a:xfrm rot="21373145">
            <a:off x="6958217" y="3961266"/>
            <a:ext cx="1503604" cy="57510"/>
          </a:xfrm>
          <a:prstGeom prst="rect">
            <a:avLst/>
          </a:prstGeom>
          <a:solidFill>
            <a:srgbClr val="009900"/>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58" name="文本框 57"/>
          <p:cNvSpPr txBox="1"/>
          <p:nvPr/>
        </p:nvSpPr>
        <p:spPr>
          <a:xfrm>
            <a:off x="7562079" y="2503141"/>
            <a:ext cx="369332" cy="268073"/>
          </a:xfrm>
          <a:prstGeom prst="rect">
            <a:avLst/>
          </a:prstGeom>
          <a:noFill/>
        </p:spPr>
        <p:txBody>
          <a:bodyPr vert="eaVert" wrap="square" rtlCol="0">
            <a:spAutoFit/>
          </a:bodyPr>
          <a:lstStyle/>
          <a:p>
            <a:r>
              <a:rPr lang="en-US" altLang="zh-CN" sz="1200" b="1" dirty="0" smtClean="0"/>
              <a:t>...</a:t>
            </a:r>
            <a:endParaRPr lang="zh-CN" altLang="en-US" sz="1200" b="1" dirty="0"/>
          </a:p>
        </p:txBody>
      </p:sp>
      <p:sp>
        <p:nvSpPr>
          <p:cNvPr id="59" name="Line 2"/>
          <p:cNvSpPr>
            <a:spLocks noChangeShapeType="1"/>
          </p:cNvSpPr>
          <p:nvPr/>
        </p:nvSpPr>
        <p:spPr bwMode="auto">
          <a:xfrm>
            <a:off x="6938935"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3"/>
          <p:cNvSpPr>
            <a:spLocks noChangeShapeType="1"/>
          </p:cNvSpPr>
          <p:nvPr/>
        </p:nvSpPr>
        <p:spPr bwMode="auto">
          <a:xfrm>
            <a:off x="8491651"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Rectangle 6"/>
          <p:cNvSpPr>
            <a:spLocks noChangeArrowheads="1"/>
          </p:cNvSpPr>
          <p:nvPr/>
        </p:nvSpPr>
        <p:spPr bwMode="auto">
          <a:xfrm>
            <a:off x="7923465"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63" name="Rectangle 7"/>
          <p:cNvSpPr>
            <a:spLocks noChangeArrowheads="1"/>
          </p:cNvSpPr>
          <p:nvPr/>
        </p:nvSpPr>
        <p:spPr bwMode="auto">
          <a:xfrm>
            <a:off x="6448815"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67" name="Line 18"/>
          <p:cNvSpPr>
            <a:spLocks noChangeShapeType="1"/>
          </p:cNvSpPr>
          <p:nvPr/>
        </p:nvSpPr>
        <p:spPr bwMode="auto">
          <a:xfrm>
            <a:off x="6931790"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9"/>
          <p:cNvSpPr>
            <a:spLocks noChangeShapeType="1"/>
          </p:cNvSpPr>
          <p:nvPr/>
        </p:nvSpPr>
        <p:spPr bwMode="auto">
          <a:xfrm flipH="1">
            <a:off x="6941838" y="1491214"/>
            <a:ext cx="1493552" cy="9520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20"/>
          <p:cNvSpPr>
            <a:spLocks noChangeShapeType="1"/>
          </p:cNvSpPr>
          <p:nvPr/>
        </p:nvSpPr>
        <p:spPr bwMode="auto">
          <a:xfrm>
            <a:off x="6957361" y="1656841"/>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2" name="Text Box 14"/>
          <p:cNvSpPr txBox="1">
            <a:spLocks noChangeArrowheads="1"/>
          </p:cNvSpPr>
          <p:nvPr/>
        </p:nvSpPr>
        <p:spPr bwMode="auto">
          <a:xfrm>
            <a:off x="5822382" y="1131631"/>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nvGrpSpPr>
          <p:cNvPr id="83" name="组合 82"/>
          <p:cNvGrpSpPr/>
          <p:nvPr/>
        </p:nvGrpSpPr>
        <p:grpSpPr>
          <a:xfrm>
            <a:off x="5716947" y="4067972"/>
            <a:ext cx="2743829" cy="389521"/>
            <a:chOff x="4196854" y="4067972"/>
            <a:chExt cx="2743829" cy="389521"/>
          </a:xfrm>
        </p:grpSpPr>
        <p:grpSp>
          <p:nvGrpSpPr>
            <p:cNvPr id="85" name="组合 84"/>
            <p:cNvGrpSpPr/>
            <p:nvPr/>
          </p:nvGrpSpPr>
          <p:grpSpPr>
            <a:xfrm>
              <a:off x="5429646" y="4067972"/>
              <a:ext cx="1511037" cy="272914"/>
              <a:chOff x="5474036" y="4254409"/>
              <a:chExt cx="1511037" cy="272914"/>
            </a:xfrm>
          </p:grpSpPr>
          <p:sp>
            <p:nvSpPr>
              <p:cNvPr id="87"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86"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90" name="Line 18"/>
          <p:cNvSpPr>
            <a:spLocks noChangeShapeType="1"/>
          </p:cNvSpPr>
          <p:nvPr/>
        </p:nvSpPr>
        <p:spPr bwMode="auto">
          <a:xfrm>
            <a:off x="6923939" y="232760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18"/>
          <p:cNvSpPr>
            <a:spLocks noChangeShapeType="1"/>
          </p:cNvSpPr>
          <p:nvPr/>
        </p:nvSpPr>
        <p:spPr bwMode="auto">
          <a:xfrm>
            <a:off x="6923939" y="2442738"/>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18"/>
          <p:cNvSpPr>
            <a:spLocks noChangeShapeType="1"/>
          </p:cNvSpPr>
          <p:nvPr/>
        </p:nvSpPr>
        <p:spPr bwMode="auto">
          <a:xfrm>
            <a:off x="6923939" y="2654583"/>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3" name="组合 92"/>
          <p:cNvGrpSpPr/>
          <p:nvPr/>
        </p:nvGrpSpPr>
        <p:grpSpPr>
          <a:xfrm>
            <a:off x="6957171" y="1870430"/>
            <a:ext cx="1503604" cy="315710"/>
            <a:chOff x="5442383" y="1762124"/>
            <a:chExt cx="1503604" cy="348227"/>
          </a:xfrm>
        </p:grpSpPr>
        <p:sp>
          <p:nvSpPr>
            <p:cNvPr id="94" name="Rectangle 21"/>
            <p:cNvSpPr>
              <a:spLocks noChangeArrowheads="1"/>
            </p:cNvSpPr>
            <p:nvPr/>
          </p:nvSpPr>
          <p:spPr bwMode="auto">
            <a:xfrm rot="21373145">
              <a:off x="5442383" y="1762124"/>
              <a:ext cx="1503604" cy="348227"/>
            </a:xfrm>
            <a:prstGeom prst="rect">
              <a:avLst/>
            </a:prstGeom>
            <a:solidFill>
              <a:schemeClr val="tx2">
                <a:lumMod val="60000"/>
                <a:lumOff val="40000"/>
              </a:schemeClr>
            </a:solidFill>
            <a:ln w="9525">
              <a:noFill/>
              <a:miter lim="800000"/>
              <a:headEnd/>
              <a:tailEnd/>
            </a:ln>
            <a:effectLs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95"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102" name="组合 101"/>
          <p:cNvGrpSpPr/>
          <p:nvPr/>
        </p:nvGrpSpPr>
        <p:grpSpPr>
          <a:xfrm>
            <a:off x="5738326" y="2567438"/>
            <a:ext cx="1194305" cy="1500533"/>
            <a:chOff x="3822241" y="2567439"/>
            <a:chExt cx="1194305" cy="1326332"/>
          </a:xfrm>
        </p:grpSpPr>
        <p:sp>
          <p:nvSpPr>
            <p:cNvPr id="103" name="AutoShape 15"/>
            <p:cNvSpPr>
              <a:spLocks/>
            </p:cNvSpPr>
            <p:nvPr/>
          </p:nvSpPr>
          <p:spPr bwMode="auto">
            <a:xfrm>
              <a:off x="4827117" y="2567439"/>
              <a:ext cx="189429" cy="1326332"/>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Text Box 12"/>
            <p:cNvSpPr txBox="1">
              <a:spLocks noChangeArrowheads="1"/>
            </p:cNvSpPr>
            <p:nvPr/>
          </p:nvSpPr>
          <p:spPr bwMode="auto">
            <a:xfrm>
              <a:off x="3822241" y="2885567"/>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200" b="1" dirty="0" smtClean="0">
                  <a:solidFill>
                    <a:srgbClr val="0000CC"/>
                  </a:solidFill>
                  <a:latin typeface="微软雅黑" panose="020B0503020204020204" pitchFamily="34" charset="-122"/>
                  <a:ea typeface="微软雅黑" panose="020B0503020204020204" pitchFamily="34" charset="-122"/>
                </a:rPr>
                <a:t>传输</a:t>
              </a:r>
              <a:r>
                <a:rPr lang="zh-CN" altLang="en-US" sz="1200" b="1" dirty="0" smtClean="0">
                  <a:solidFill>
                    <a:srgbClr val="0000CC"/>
                  </a:solidFill>
                  <a:latin typeface="微软雅黑" panose="020B0503020204020204" pitchFamily="34" charset="-122"/>
                  <a:ea typeface="微软雅黑" panose="020B0503020204020204" pitchFamily="34" charset="-122"/>
                </a:rPr>
                <a:t>文档</a:t>
              </a:r>
              <a:endParaRPr lang="en-US" altLang="zh-CN" sz="1200" b="1" dirty="0" smtClean="0">
                <a:solidFill>
                  <a:srgbClr val="0000CC"/>
                </a:solidFill>
                <a:latin typeface="微软雅黑" panose="020B0503020204020204" pitchFamily="34" charset="-122"/>
                <a:ea typeface="微软雅黑" panose="020B0503020204020204" pitchFamily="34" charset="-122"/>
              </a:endParaRPr>
            </a:p>
            <a:p>
              <a:pPr algn="r"/>
              <a:r>
                <a:rPr lang="zh-CN" altLang="en-US" sz="1200" b="1" dirty="0" smtClean="0">
                  <a:solidFill>
                    <a:srgbClr val="0000CC"/>
                  </a:solidFill>
                  <a:latin typeface="微软雅黑" panose="020B0503020204020204" pitchFamily="34" charset="-122"/>
                  <a:ea typeface="微软雅黑" panose="020B0503020204020204" pitchFamily="34" charset="-122"/>
                </a:rPr>
                <a:t>的</a:t>
              </a:r>
              <a:r>
                <a:rPr lang="zh-CN" altLang="en-US" sz="1200" b="1" dirty="0" smtClean="0">
                  <a:solidFill>
                    <a:srgbClr val="0000CC"/>
                  </a:solidFill>
                  <a:latin typeface="微软雅黑" panose="020B0503020204020204" pitchFamily="34" charset="-122"/>
                  <a:ea typeface="微软雅黑" panose="020B0503020204020204" pitchFamily="34" charset="-122"/>
                </a:rPr>
                <a:t>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nvGrpSpPr>
          <p:cNvPr id="105" name="组合 104"/>
          <p:cNvGrpSpPr/>
          <p:nvPr/>
        </p:nvGrpSpPr>
        <p:grpSpPr>
          <a:xfrm>
            <a:off x="6356414" y="1371510"/>
            <a:ext cx="582521" cy="322593"/>
            <a:chOff x="4410185" y="1371510"/>
            <a:chExt cx="582521" cy="322593"/>
          </a:xfrm>
        </p:grpSpPr>
        <p:sp>
          <p:nvSpPr>
            <p:cNvPr id="106" name="Text Box 16"/>
            <p:cNvSpPr txBox="1">
              <a:spLocks noChangeArrowheads="1"/>
            </p:cNvSpPr>
            <p:nvPr/>
          </p:nvSpPr>
          <p:spPr bwMode="auto">
            <a:xfrm>
              <a:off x="4410185" y="139133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107" name="AutoShape 15"/>
            <p:cNvSpPr>
              <a:spLocks/>
            </p:cNvSpPr>
            <p:nvPr/>
          </p:nvSpPr>
          <p:spPr bwMode="auto">
            <a:xfrm>
              <a:off x="4870888" y="1371510"/>
              <a:ext cx="121818" cy="230138"/>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108" name="组合 107"/>
          <p:cNvGrpSpPr/>
          <p:nvPr/>
        </p:nvGrpSpPr>
        <p:grpSpPr>
          <a:xfrm>
            <a:off x="6348043" y="1664318"/>
            <a:ext cx="558089" cy="302766"/>
            <a:chOff x="4401814" y="1664318"/>
            <a:chExt cx="558089" cy="302766"/>
          </a:xfrm>
        </p:grpSpPr>
        <p:sp>
          <p:nvSpPr>
            <p:cNvPr id="109" name="AutoShape 15"/>
            <p:cNvSpPr>
              <a:spLocks/>
            </p:cNvSpPr>
            <p:nvPr/>
          </p:nvSpPr>
          <p:spPr bwMode="auto">
            <a:xfrm>
              <a:off x="4870888" y="1675590"/>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0" name="Text Box 16"/>
            <p:cNvSpPr txBox="1">
              <a:spLocks noChangeArrowheads="1"/>
            </p:cNvSpPr>
            <p:nvPr/>
          </p:nvSpPr>
          <p:spPr bwMode="auto">
            <a:xfrm>
              <a:off x="4401814" y="166431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grpSp>
        <p:nvGrpSpPr>
          <p:cNvPr id="111" name="组合 110"/>
          <p:cNvGrpSpPr/>
          <p:nvPr/>
        </p:nvGrpSpPr>
        <p:grpSpPr>
          <a:xfrm>
            <a:off x="6349716" y="2329186"/>
            <a:ext cx="558089" cy="302766"/>
            <a:chOff x="4403487" y="2329186"/>
            <a:chExt cx="558089" cy="302766"/>
          </a:xfrm>
        </p:grpSpPr>
        <p:sp>
          <p:nvSpPr>
            <p:cNvPr id="112" name="AutoShape 15"/>
            <p:cNvSpPr>
              <a:spLocks/>
            </p:cNvSpPr>
            <p:nvPr/>
          </p:nvSpPr>
          <p:spPr bwMode="auto">
            <a:xfrm>
              <a:off x="4872561" y="2340458"/>
              <a:ext cx="89015" cy="22698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3" name="Text Box 16"/>
            <p:cNvSpPr txBox="1">
              <a:spLocks noChangeArrowheads="1"/>
            </p:cNvSpPr>
            <p:nvPr/>
          </p:nvSpPr>
          <p:spPr bwMode="auto">
            <a:xfrm>
              <a:off x="4403487" y="2329186"/>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grpSp>
    </p:spTree>
    <p:custDataLst>
      <p:tags r:id="rId1"/>
    </p:custDataLst>
    <p:extLst>
      <p:ext uri="{BB962C8B-B14F-4D97-AF65-F5344CB8AC3E}">
        <p14:creationId xmlns:p14="http://schemas.microsoft.com/office/powerpoint/2010/main" val="41508928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500"/>
                                        <p:tgtEl>
                                          <p:spTgt spid="10">
                                            <p:txEl>
                                              <p:pRg st="1" end="1"/>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
                                            <p:txEl>
                                              <p:pRg st="2" end="2"/>
                                            </p:txEl>
                                          </p:spTgt>
                                        </p:tgtEl>
                                        <p:attrNameLst>
                                          <p:attrName>style.visibility</p:attrName>
                                        </p:attrNameLst>
                                      </p:cBhvr>
                                      <p:to>
                                        <p:strVal val="visible"/>
                                      </p:to>
                                    </p:set>
                                    <p:animEffect transition="in" filter="fade">
                                      <p:cBhvr>
                                        <p:cTn id="11" dur="500"/>
                                        <p:tgtEl>
                                          <p:spTgt spid="10">
                                            <p:txEl>
                                              <p:pRg st="2" end="2"/>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fade">
                                      <p:cBhvr>
                                        <p:cTn id="16" dur="500"/>
                                        <p:tgtEl>
                                          <p:spTgt spid="10">
                                            <p:txEl>
                                              <p:pRg st="3" end="3"/>
                                            </p:txEl>
                                          </p:spTgt>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10">
                                            <p:txEl>
                                              <p:pRg st="4" end="4"/>
                                            </p:txEl>
                                          </p:spTgt>
                                        </p:tgtEl>
                                        <p:attrNameLst>
                                          <p:attrName>style.visibility</p:attrName>
                                        </p:attrNameLst>
                                      </p:cBhvr>
                                      <p:to>
                                        <p:strVal val="visible"/>
                                      </p:to>
                                    </p:set>
                                    <p:animEffect transition="in" filter="fade">
                                      <p:cBhvr>
                                        <p:cTn id="20" dur="500"/>
                                        <p:tgtEl>
                                          <p:spTgt spid="10">
                                            <p:txEl>
                                              <p:pRg st="4" end="4"/>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2"/>
                                        </p:tgtEl>
                                        <p:attrNameLst>
                                          <p:attrName>style.visibility</p:attrName>
                                        </p:attrNameLst>
                                      </p:cBhvr>
                                      <p:to>
                                        <p:strVal val="visible"/>
                                      </p:to>
                                    </p:set>
                                    <p:animEffect transition="in" filter="fade">
                                      <p:cBhvr>
                                        <p:cTn id="23" dur="500"/>
                                        <p:tgtEl>
                                          <p:spTgt spid="82"/>
                                        </p:tgtEl>
                                      </p:cBhvr>
                                    </p:animEffect>
                                  </p:childTnLst>
                                </p:cTn>
                              </p:par>
                            </p:childTnLst>
                          </p:cTn>
                        </p:par>
                        <p:par>
                          <p:cTn id="24" fill="hold">
                            <p:stCondLst>
                              <p:cond delay="1000"/>
                            </p:stCondLst>
                            <p:childTnLst>
                              <p:par>
                                <p:cTn id="25" presetID="22" presetClass="entr" presetSubtype="8" fill="hold" grpId="0" nodeType="afterEffect">
                                  <p:stCondLst>
                                    <p:cond delay="0"/>
                                  </p:stCondLst>
                                  <p:childTnLst>
                                    <p:set>
                                      <p:cBhvr>
                                        <p:cTn id="26" dur="1" fill="hold">
                                          <p:stCondLst>
                                            <p:cond delay="0"/>
                                          </p:stCondLst>
                                        </p:cTn>
                                        <p:tgtEl>
                                          <p:spTgt spid="67"/>
                                        </p:tgtEl>
                                        <p:attrNameLst>
                                          <p:attrName>style.visibility</p:attrName>
                                        </p:attrNameLst>
                                      </p:cBhvr>
                                      <p:to>
                                        <p:strVal val="visible"/>
                                      </p:to>
                                    </p:set>
                                    <p:animEffect transition="in" filter="wipe(left)">
                                      <p:cBhvr>
                                        <p:cTn id="27" dur="500"/>
                                        <p:tgtEl>
                                          <p:spTgt spid="67"/>
                                        </p:tgtEl>
                                      </p:cBhvr>
                                    </p:animEffect>
                                  </p:childTnLst>
                                </p:cTn>
                              </p:par>
                            </p:childTnLst>
                          </p:cTn>
                        </p:par>
                        <p:par>
                          <p:cTn id="28" fill="hold">
                            <p:stCondLst>
                              <p:cond delay="1500"/>
                            </p:stCondLst>
                            <p:childTnLst>
                              <p:par>
                                <p:cTn id="29" presetID="22" presetClass="entr" presetSubtype="2"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Effect transition="in" filter="wipe(right)">
                                      <p:cBhvr>
                                        <p:cTn id="31" dur="500"/>
                                        <p:tgtEl>
                                          <p:spTgt spid="69"/>
                                        </p:tgtEl>
                                      </p:cBhvr>
                                    </p:animEffect>
                                  </p:childTnLst>
                                </p:cTn>
                              </p:par>
                            </p:childTnLst>
                          </p:cTn>
                        </p:par>
                        <p:par>
                          <p:cTn id="32" fill="hold">
                            <p:stCondLst>
                              <p:cond delay="2000"/>
                            </p:stCondLst>
                            <p:childTnLst>
                              <p:par>
                                <p:cTn id="33" presetID="10" presetClass="entr" presetSubtype="0" fill="hold" nodeType="afterEffect">
                                  <p:stCondLst>
                                    <p:cond delay="0"/>
                                  </p:stCondLst>
                                  <p:childTnLst>
                                    <p:set>
                                      <p:cBhvr>
                                        <p:cTn id="34" dur="1" fill="hold">
                                          <p:stCondLst>
                                            <p:cond delay="0"/>
                                          </p:stCondLst>
                                        </p:cTn>
                                        <p:tgtEl>
                                          <p:spTgt spid="105"/>
                                        </p:tgtEl>
                                        <p:attrNameLst>
                                          <p:attrName>style.visibility</p:attrName>
                                        </p:attrNameLst>
                                      </p:cBhvr>
                                      <p:to>
                                        <p:strVal val="visible"/>
                                      </p:to>
                                    </p:set>
                                    <p:animEffect transition="in" filter="fade">
                                      <p:cBhvr>
                                        <p:cTn id="35" dur="500"/>
                                        <p:tgtEl>
                                          <p:spTgt spid="105"/>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wipe(left)">
                                      <p:cBhvr>
                                        <p:cTn id="39" dur="500"/>
                                        <p:tgtEl>
                                          <p:spTgt spid="79"/>
                                        </p:tgtEl>
                                      </p:cBhvr>
                                    </p:animEffect>
                                  </p:childTnLst>
                                </p:cTn>
                              </p:par>
                            </p:childTnLst>
                          </p:cTn>
                        </p:par>
                        <p:par>
                          <p:cTn id="40" fill="hold">
                            <p:stCondLst>
                              <p:cond delay="3000"/>
                            </p:stCondLst>
                            <p:childTnLst>
                              <p:par>
                                <p:cTn id="41" presetID="22" presetClass="entr" presetSubtype="2" fill="hold" nodeType="after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wipe(right)">
                                      <p:cBhvr>
                                        <p:cTn id="43" dur="500"/>
                                        <p:tgtEl>
                                          <p:spTgt spid="93"/>
                                        </p:tgtEl>
                                      </p:cBhvr>
                                    </p:animEffect>
                                  </p:childTnLst>
                                </p:cTn>
                              </p:par>
                            </p:childTnLst>
                          </p:cTn>
                        </p:par>
                        <p:par>
                          <p:cTn id="44" fill="hold">
                            <p:stCondLst>
                              <p:cond delay="3500"/>
                            </p:stCondLst>
                            <p:childTnLst>
                              <p:par>
                                <p:cTn id="45" presetID="10" presetClass="entr" presetSubtype="0" fill="hold" nodeType="afterEffect">
                                  <p:stCondLst>
                                    <p:cond delay="0"/>
                                  </p:stCondLst>
                                  <p:childTnLst>
                                    <p:set>
                                      <p:cBhvr>
                                        <p:cTn id="46" dur="1" fill="hold">
                                          <p:stCondLst>
                                            <p:cond delay="0"/>
                                          </p:stCondLst>
                                        </p:cTn>
                                        <p:tgtEl>
                                          <p:spTgt spid="108"/>
                                        </p:tgtEl>
                                        <p:attrNameLst>
                                          <p:attrName>style.visibility</p:attrName>
                                        </p:attrNameLst>
                                      </p:cBhvr>
                                      <p:to>
                                        <p:strVal val="visible"/>
                                      </p:to>
                                    </p:set>
                                    <p:animEffect transition="in" filter="fade">
                                      <p:cBhvr>
                                        <p:cTn id="47" dur="500"/>
                                        <p:tgtEl>
                                          <p:spTgt spid="108"/>
                                        </p:tgtEl>
                                      </p:cBhvr>
                                    </p:animEffect>
                                  </p:childTnLst>
                                </p:cTn>
                              </p:par>
                            </p:childTnLst>
                          </p:cTn>
                        </p:par>
                        <p:par>
                          <p:cTn id="48" fill="hold">
                            <p:stCondLst>
                              <p:cond delay="4000"/>
                            </p:stCondLst>
                            <p:childTnLst>
                              <p:par>
                                <p:cTn id="49" presetID="22" presetClass="entr" presetSubtype="8" fill="hold" grpId="0" nodeType="afterEffect">
                                  <p:stCondLst>
                                    <p:cond delay="0"/>
                                  </p:stCondLst>
                                  <p:childTnLst>
                                    <p:set>
                                      <p:cBhvr>
                                        <p:cTn id="50" dur="1" fill="hold">
                                          <p:stCondLst>
                                            <p:cond delay="0"/>
                                          </p:stCondLst>
                                        </p:cTn>
                                        <p:tgtEl>
                                          <p:spTgt spid="90"/>
                                        </p:tgtEl>
                                        <p:attrNameLst>
                                          <p:attrName>style.visibility</p:attrName>
                                        </p:attrNameLst>
                                      </p:cBhvr>
                                      <p:to>
                                        <p:strVal val="visible"/>
                                      </p:to>
                                    </p:set>
                                    <p:animEffect transition="in" filter="wipe(left)">
                                      <p:cBhvr>
                                        <p:cTn id="51" dur="500"/>
                                        <p:tgtEl>
                                          <p:spTgt spid="90"/>
                                        </p:tgtEl>
                                      </p:cBhvr>
                                    </p:animEffect>
                                  </p:childTnLst>
                                </p:cTn>
                              </p:par>
                            </p:childTnLst>
                          </p:cTn>
                        </p:par>
                        <p:par>
                          <p:cTn id="52" fill="hold">
                            <p:stCondLst>
                              <p:cond delay="4500"/>
                            </p:stCondLst>
                            <p:childTnLst>
                              <p:par>
                                <p:cTn id="53" presetID="22" presetClass="entr" presetSubtype="8" fill="hold" grpId="0" nodeType="afterEffect">
                                  <p:stCondLst>
                                    <p:cond delay="0"/>
                                  </p:stCondLst>
                                  <p:childTnLst>
                                    <p:set>
                                      <p:cBhvr>
                                        <p:cTn id="54" dur="1" fill="hold">
                                          <p:stCondLst>
                                            <p:cond delay="0"/>
                                          </p:stCondLst>
                                        </p:cTn>
                                        <p:tgtEl>
                                          <p:spTgt spid="91"/>
                                        </p:tgtEl>
                                        <p:attrNameLst>
                                          <p:attrName>style.visibility</p:attrName>
                                        </p:attrNameLst>
                                      </p:cBhvr>
                                      <p:to>
                                        <p:strVal val="visible"/>
                                      </p:to>
                                    </p:set>
                                    <p:animEffect transition="in" filter="wipe(left)">
                                      <p:cBhvr>
                                        <p:cTn id="55" dur="500"/>
                                        <p:tgtEl>
                                          <p:spTgt spid="91"/>
                                        </p:tgtEl>
                                      </p:cBhvr>
                                    </p:animEffect>
                                  </p:childTnLst>
                                </p:cTn>
                              </p:par>
                            </p:childTnLst>
                          </p:cTn>
                        </p:par>
                        <p:par>
                          <p:cTn id="56" fill="hold">
                            <p:stCondLst>
                              <p:cond delay="5000"/>
                            </p:stCondLst>
                            <p:childTnLst>
                              <p:par>
                                <p:cTn id="57" presetID="22" presetClass="entr" presetSubtype="4" fill="hold" grpId="0" nodeType="afterEffect">
                                  <p:stCondLst>
                                    <p:cond delay="0"/>
                                  </p:stCondLst>
                                  <p:childTnLst>
                                    <p:set>
                                      <p:cBhvr>
                                        <p:cTn id="58" dur="1" fill="hold">
                                          <p:stCondLst>
                                            <p:cond delay="0"/>
                                          </p:stCondLst>
                                        </p:cTn>
                                        <p:tgtEl>
                                          <p:spTgt spid="58"/>
                                        </p:tgtEl>
                                        <p:attrNameLst>
                                          <p:attrName>style.visibility</p:attrName>
                                        </p:attrNameLst>
                                      </p:cBhvr>
                                      <p:to>
                                        <p:strVal val="visible"/>
                                      </p:to>
                                    </p:set>
                                    <p:animEffect transition="in" filter="wipe(down)">
                                      <p:cBhvr>
                                        <p:cTn id="59" dur="500"/>
                                        <p:tgtEl>
                                          <p:spTgt spid="58"/>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92"/>
                                        </p:tgtEl>
                                        <p:attrNameLst>
                                          <p:attrName>style.visibility</p:attrName>
                                        </p:attrNameLst>
                                      </p:cBhvr>
                                      <p:to>
                                        <p:strVal val="visible"/>
                                      </p:to>
                                    </p:set>
                                    <p:animEffect transition="in" filter="wipe(left)">
                                      <p:cBhvr>
                                        <p:cTn id="63" dur="500"/>
                                        <p:tgtEl>
                                          <p:spTgt spid="92"/>
                                        </p:tgtEl>
                                      </p:cBhvr>
                                    </p:animEffect>
                                  </p:childTnLst>
                                </p:cTn>
                              </p:par>
                            </p:childTnLst>
                          </p:cTn>
                        </p:par>
                        <p:par>
                          <p:cTn id="64" fill="hold">
                            <p:stCondLst>
                              <p:cond delay="6000"/>
                            </p:stCondLst>
                            <p:childTnLst>
                              <p:par>
                                <p:cTn id="65" presetID="10" presetClass="entr" presetSubtype="0"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fade">
                                      <p:cBhvr>
                                        <p:cTn id="67" dur="500"/>
                                        <p:tgtEl>
                                          <p:spTgt spid="111"/>
                                        </p:tgtEl>
                                      </p:cBhvr>
                                    </p:animEffect>
                                  </p:childTnLst>
                                </p:cTn>
                              </p:par>
                            </p:childTnLst>
                          </p:cTn>
                        </p:par>
                        <p:par>
                          <p:cTn id="68" fill="hold">
                            <p:stCondLst>
                              <p:cond delay="6500"/>
                            </p:stCondLst>
                            <p:childTnLst>
                              <p:par>
                                <p:cTn id="69" presetID="10" presetClass="entr" presetSubtype="0" fill="hold" nodeType="afterEffect">
                                  <p:stCondLst>
                                    <p:cond delay="0"/>
                                  </p:stCondLst>
                                  <p:childTnLst>
                                    <p:set>
                                      <p:cBhvr>
                                        <p:cTn id="70" dur="1" fill="hold">
                                          <p:stCondLst>
                                            <p:cond delay="0"/>
                                          </p:stCondLst>
                                        </p:cTn>
                                        <p:tgtEl>
                                          <p:spTgt spid="102"/>
                                        </p:tgtEl>
                                        <p:attrNameLst>
                                          <p:attrName>style.visibility</p:attrName>
                                        </p:attrNameLst>
                                      </p:cBhvr>
                                      <p:to>
                                        <p:strVal val="visible"/>
                                      </p:to>
                                    </p:set>
                                    <p:animEffect transition="in" filter="fade">
                                      <p:cBhvr>
                                        <p:cTn id="71" dur="500"/>
                                        <p:tgtEl>
                                          <p:spTgt spid="102"/>
                                        </p:tgtEl>
                                      </p:cBhvr>
                                    </p:animEffect>
                                  </p:childTnLst>
                                </p:cTn>
                              </p:par>
                              <p:par>
                                <p:cTn id="72" presetID="22" presetClass="entr" presetSubtype="2" fill="hold" grpId="0" nodeType="with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wipe(right)">
                                      <p:cBhvr>
                                        <p:cTn id="74" dur="500"/>
                                        <p:tgtEl>
                                          <p:spTgt spid="26"/>
                                        </p:tgtEl>
                                      </p:cBhvr>
                                    </p:animEffect>
                                  </p:childTnLst>
                                </p:cTn>
                              </p:par>
                            </p:childTnLst>
                          </p:cTn>
                        </p:par>
                        <p:par>
                          <p:cTn id="75" fill="hold">
                            <p:stCondLst>
                              <p:cond delay="7000"/>
                            </p:stCondLst>
                            <p:childTnLst>
                              <p:par>
                                <p:cTn id="76" presetID="22" presetClass="entr" presetSubtype="2" fill="hold" grpId="0" nodeType="afterEffect">
                                  <p:stCondLst>
                                    <p:cond delay="0"/>
                                  </p:stCondLst>
                                  <p:childTnLst>
                                    <p:set>
                                      <p:cBhvr>
                                        <p:cTn id="77" dur="1" fill="hold">
                                          <p:stCondLst>
                                            <p:cond delay="0"/>
                                          </p:stCondLst>
                                        </p:cTn>
                                        <p:tgtEl>
                                          <p:spTgt spid="43"/>
                                        </p:tgtEl>
                                        <p:attrNameLst>
                                          <p:attrName>style.visibility</p:attrName>
                                        </p:attrNameLst>
                                      </p:cBhvr>
                                      <p:to>
                                        <p:strVal val="visible"/>
                                      </p:to>
                                    </p:set>
                                    <p:animEffect transition="in" filter="wipe(right)">
                                      <p:cBhvr>
                                        <p:cTn id="78" dur="500"/>
                                        <p:tgtEl>
                                          <p:spTgt spid="43"/>
                                        </p:tgtEl>
                                      </p:cBhvr>
                                    </p:animEffect>
                                  </p:childTnLst>
                                </p:cTn>
                              </p:par>
                            </p:childTnLst>
                          </p:cTn>
                        </p:par>
                        <p:par>
                          <p:cTn id="79" fill="hold">
                            <p:stCondLst>
                              <p:cond delay="7500"/>
                            </p:stCondLst>
                            <p:childTnLst>
                              <p:par>
                                <p:cTn id="80" presetID="22" presetClass="entr" presetSubtype="2" fill="hold" grpId="0" nodeType="afterEffect">
                                  <p:stCondLst>
                                    <p:cond delay="0"/>
                                  </p:stCondLst>
                                  <p:childTnLst>
                                    <p:set>
                                      <p:cBhvr>
                                        <p:cTn id="81" dur="1" fill="hold">
                                          <p:stCondLst>
                                            <p:cond delay="0"/>
                                          </p:stCondLst>
                                        </p:cTn>
                                        <p:tgtEl>
                                          <p:spTgt spid="50"/>
                                        </p:tgtEl>
                                        <p:attrNameLst>
                                          <p:attrName>style.visibility</p:attrName>
                                        </p:attrNameLst>
                                      </p:cBhvr>
                                      <p:to>
                                        <p:strVal val="visible"/>
                                      </p:to>
                                    </p:set>
                                    <p:animEffect transition="in" filter="wipe(right)">
                                      <p:cBhvr>
                                        <p:cTn id="82" dur="500"/>
                                        <p:tgtEl>
                                          <p:spTgt spid="50"/>
                                        </p:tgtEl>
                                      </p:cBhvr>
                                    </p:animEffect>
                                  </p:childTnLst>
                                </p:cTn>
                              </p:par>
                            </p:childTnLst>
                          </p:cTn>
                        </p:par>
                        <p:par>
                          <p:cTn id="83" fill="hold">
                            <p:stCondLst>
                              <p:cond delay="8000"/>
                            </p:stCondLst>
                            <p:childTnLst>
                              <p:par>
                                <p:cTn id="84" presetID="22" presetClass="entr" presetSubtype="2" fill="hold" grpId="0" nodeType="afterEffect">
                                  <p:stCondLst>
                                    <p:cond delay="0"/>
                                  </p:stCondLst>
                                  <p:childTnLst>
                                    <p:set>
                                      <p:cBhvr>
                                        <p:cTn id="85" dur="1" fill="hold">
                                          <p:stCondLst>
                                            <p:cond delay="0"/>
                                          </p:stCondLst>
                                        </p:cTn>
                                        <p:tgtEl>
                                          <p:spTgt spid="51"/>
                                        </p:tgtEl>
                                        <p:attrNameLst>
                                          <p:attrName>style.visibility</p:attrName>
                                        </p:attrNameLst>
                                      </p:cBhvr>
                                      <p:to>
                                        <p:strVal val="visible"/>
                                      </p:to>
                                    </p:set>
                                    <p:animEffect transition="in" filter="wipe(right)">
                                      <p:cBhvr>
                                        <p:cTn id="86" dur="500"/>
                                        <p:tgtEl>
                                          <p:spTgt spid="51"/>
                                        </p:tgtEl>
                                      </p:cBhvr>
                                    </p:animEffect>
                                  </p:childTnLst>
                                </p:cTn>
                              </p:par>
                            </p:childTnLst>
                          </p:cTn>
                        </p:par>
                        <p:par>
                          <p:cTn id="87" fill="hold">
                            <p:stCondLst>
                              <p:cond delay="8500"/>
                            </p:stCondLst>
                            <p:childTnLst>
                              <p:par>
                                <p:cTn id="88" presetID="22" presetClass="entr" presetSubtype="2" fill="hold" grpId="0" nodeType="afterEffect">
                                  <p:stCondLst>
                                    <p:cond delay="0"/>
                                  </p:stCondLst>
                                  <p:childTnLst>
                                    <p:set>
                                      <p:cBhvr>
                                        <p:cTn id="89" dur="1" fill="hold">
                                          <p:stCondLst>
                                            <p:cond delay="0"/>
                                          </p:stCondLst>
                                        </p:cTn>
                                        <p:tgtEl>
                                          <p:spTgt spid="53"/>
                                        </p:tgtEl>
                                        <p:attrNameLst>
                                          <p:attrName>style.visibility</p:attrName>
                                        </p:attrNameLst>
                                      </p:cBhvr>
                                      <p:to>
                                        <p:strVal val="visible"/>
                                      </p:to>
                                    </p:set>
                                    <p:animEffect transition="in" filter="wipe(right)">
                                      <p:cBhvr>
                                        <p:cTn id="90" dur="500"/>
                                        <p:tgtEl>
                                          <p:spTgt spid="53"/>
                                        </p:tgtEl>
                                      </p:cBhvr>
                                    </p:animEffect>
                                  </p:childTnLst>
                                </p:cTn>
                              </p:par>
                            </p:childTnLst>
                          </p:cTn>
                        </p:par>
                        <p:par>
                          <p:cTn id="91" fill="hold">
                            <p:stCondLst>
                              <p:cond delay="9000"/>
                            </p:stCondLst>
                            <p:childTnLst>
                              <p:par>
                                <p:cTn id="92" presetID="22" presetClass="entr" presetSubtype="2" fill="hold" grpId="0" nodeType="afterEffect">
                                  <p:stCondLst>
                                    <p:cond delay="0"/>
                                  </p:stCondLst>
                                  <p:childTnLst>
                                    <p:set>
                                      <p:cBhvr>
                                        <p:cTn id="93" dur="1" fill="hold">
                                          <p:stCondLst>
                                            <p:cond delay="0"/>
                                          </p:stCondLst>
                                        </p:cTn>
                                        <p:tgtEl>
                                          <p:spTgt spid="54"/>
                                        </p:tgtEl>
                                        <p:attrNameLst>
                                          <p:attrName>style.visibility</p:attrName>
                                        </p:attrNameLst>
                                      </p:cBhvr>
                                      <p:to>
                                        <p:strVal val="visible"/>
                                      </p:to>
                                    </p:set>
                                    <p:animEffect transition="in" filter="wipe(right)">
                                      <p:cBhvr>
                                        <p:cTn id="94" dur="500"/>
                                        <p:tgtEl>
                                          <p:spTgt spid="54"/>
                                        </p:tgtEl>
                                      </p:cBhvr>
                                    </p:animEffect>
                                  </p:childTnLst>
                                </p:cTn>
                              </p:par>
                            </p:childTnLst>
                          </p:cTn>
                        </p:par>
                        <p:par>
                          <p:cTn id="95" fill="hold">
                            <p:stCondLst>
                              <p:cond delay="9500"/>
                            </p:stCondLst>
                            <p:childTnLst>
                              <p:par>
                                <p:cTn id="96" presetID="22" presetClass="entr" presetSubtype="2" fill="hold" grpId="0" nodeType="afterEffect">
                                  <p:stCondLst>
                                    <p:cond delay="0"/>
                                  </p:stCondLst>
                                  <p:childTnLst>
                                    <p:set>
                                      <p:cBhvr>
                                        <p:cTn id="97" dur="1" fill="hold">
                                          <p:stCondLst>
                                            <p:cond delay="0"/>
                                          </p:stCondLst>
                                        </p:cTn>
                                        <p:tgtEl>
                                          <p:spTgt spid="70"/>
                                        </p:tgtEl>
                                        <p:attrNameLst>
                                          <p:attrName>style.visibility</p:attrName>
                                        </p:attrNameLst>
                                      </p:cBhvr>
                                      <p:to>
                                        <p:strVal val="visible"/>
                                      </p:to>
                                    </p:set>
                                    <p:animEffect transition="in" filter="wipe(right)">
                                      <p:cBhvr>
                                        <p:cTn id="98" dur="500"/>
                                        <p:tgtEl>
                                          <p:spTgt spid="70"/>
                                        </p:tgtEl>
                                      </p:cBhvr>
                                    </p:animEffect>
                                  </p:childTnLst>
                                </p:cTn>
                              </p:par>
                            </p:childTnLst>
                          </p:cTn>
                        </p:par>
                        <p:par>
                          <p:cTn id="99" fill="hold">
                            <p:stCondLst>
                              <p:cond delay="10000"/>
                            </p:stCondLst>
                            <p:childTnLst>
                              <p:par>
                                <p:cTn id="100" presetID="22" presetClass="entr" presetSubtype="2" fill="hold" grpId="0" nodeType="afterEffect">
                                  <p:stCondLst>
                                    <p:cond delay="0"/>
                                  </p:stCondLst>
                                  <p:childTnLst>
                                    <p:set>
                                      <p:cBhvr>
                                        <p:cTn id="101" dur="1" fill="hold">
                                          <p:stCondLst>
                                            <p:cond delay="0"/>
                                          </p:stCondLst>
                                        </p:cTn>
                                        <p:tgtEl>
                                          <p:spTgt spid="64"/>
                                        </p:tgtEl>
                                        <p:attrNameLst>
                                          <p:attrName>style.visibility</p:attrName>
                                        </p:attrNameLst>
                                      </p:cBhvr>
                                      <p:to>
                                        <p:strVal val="visible"/>
                                      </p:to>
                                    </p:set>
                                    <p:animEffect transition="in" filter="wipe(right)">
                                      <p:cBhvr>
                                        <p:cTn id="102" dur="500"/>
                                        <p:tgtEl>
                                          <p:spTgt spid="64"/>
                                        </p:tgtEl>
                                      </p:cBhvr>
                                    </p:animEffect>
                                  </p:childTnLst>
                                </p:cTn>
                              </p:par>
                            </p:childTnLst>
                          </p:cTn>
                        </p:par>
                        <p:par>
                          <p:cTn id="103" fill="hold">
                            <p:stCondLst>
                              <p:cond delay="10500"/>
                            </p:stCondLst>
                            <p:childTnLst>
                              <p:par>
                                <p:cTn id="104" presetID="22" presetClass="entr" presetSubtype="2" fill="hold" grpId="0" nodeType="afterEffect">
                                  <p:stCondLst>
                                    <p:cond delay="0"/>
                                  </p:stCondLst>
                                  <p:childTnLst>
                                    <p:set>
                                      <p:cBhvr>
                                        <p:cTn id="105" dur="1" fill="hold">
                                          <p:stCondLst>
                                            <p:cond delay="0"/>
                                          </p:stCondLst>
                                        </p:cTn>
                                        <p:tgtEl>
                                          <p:spTgt spid="68"/>
                                        </p:tgtEl>
                                        <p:attrNameLst>
                                          <p:attrName>style.visibility</p:attrName>
                                        </p:attrNameLst>
                                      </p:cBhvr>
                                      <p:to>
                                        <p:strVal val="visible"/>
                                      </p:to>
                                    </p:set>
                                    <p:animEffect transition="in" filter="wipe(right)">
                                      <p:cBhvr>
                                        <p:cTn id="106" dur="500"/>
                                        <p:tgtEl>
                                          <p:spTgt spid="68"/>
                                        </p:tgtEl>
                                      </p:cBhvr>
                                    </p:animEffect>
                                  </p:childTnLst>
                                </p:cTn>
                              </p:par>
                            </p:childTnLst>
                          </p:cTn>
                        </p:par>
                        <p:par>
                          <p:cTn id="107" fill="hold">
                            <p:stCondLst>
                              <p:cond delay="11000"/>
                            </p:stCondLst>
                            <p:childTnLst>
                              <p:par>
                                <p:cTn id="108" presetID="22" presetClass="entr" presetSubtype="2" fill="hold" grpId="0"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right)">
                                      <p:cBhvr>
                                        <p:cTn id="110" dur="500"/>
                                        <p:tgtEl>
                                          <p:spTgt spid="71"/>
                                        </p:tgtEl>
                                      </p:cBhvr>
                                    </p:animEffect>
                                  </p:childTnLst>
                                </p:cTn>
                              </p:par>
                            </p:childTnLst>
                          </p:cTn>
                        </p:par>
                        <p:par>
                          <p:cTn id="111" fill="hold">
                            <p:stCondLst>
                              <p:cond delay="11500"/>
                            </p:stCondLst>
                            <p:childTnLst>
                              <p:par>
                                <p:cTn id="112" presetID="22" presetClass="entr" presetSubtype="2" fill="hold" grpId="0" nodeType="afterEffect">
                                  <p:stCondLst>
                                    <p:cond delay="0"/>
                                  </p:stCondLst>
                                  <p:childTnLst>
                                    <p:set>
                                      <p:cBhvr>
                                        <p:cTn id="113" dur="1" fill="hold">
                                          <p:stCondLst>
                                            <p:cond delay="0"/>
                                          </p:stCondLst>
                                        </p:cTn>
                                        <p:tgtEl>
                                          <p:spTgt spid="72"/>
                                        </p:tgtEl>
                                        <p:attrNameLst>
                                          <p:attrName>style.visibility</p:attrName>
                                        </p:attrNameLst>
                                      </p:cBhvr>
                                      <p:to>
                                        <p:strVal val="visible"/>
                                      </p:to>
                                    </p:set>
                                    <p:animEffect transition="in" filter="wipe(right)">
                                      <p:cBhvr>
                                        <p:cTn id="114" dur="500"/>
                                        <p:tgtEl>
                                          <p:spTgt spid="72"/>
                                        </p:tgtEl>
                                      </p:cBhvr>
                                    </p:animEffect>
                                  </p:childTnLst>
                                </p:cTn>
                              </p:par>
                            </p:childTnLst>
                          </p:cTn>
                        </p:par>
                        <p:par>
                          <p:cTn id="115" fill="hold">
                            <p:stCondLst>
                              <p:cond delay="12000"/>
                            </p:stCondLst>
                            <p:childTnLst>
                              <p:par>
                                <p:cTn id="116" presetID="22" presetClass="entr" presetSubtype="2" fill="hold" grpId="0" nodeType="afterEffect">
                                  <p:stCondLst>
                                    <p:cond delay="0"/>
                                  </p:stCondLst>
                                  <p:childTnLst>
                                    <p:set>
                                      <p:cBhvr>
                                        <p:cTn id="117" dur="1" fill="hold">
                                          <p:stCondLst>
                                            <p:cond delay="0"/>
                                          </p:stCondLst>
                                        </p:cTn>
                                        <p:tgtEl>
                                          <p:spTgt spid="73"/>
                                        </p:tgtEl>
                                        <p:attrNameLst>
                                          <p:attrName>style.visibility</p:attrName>
                                        </p:attrNameLst>
                                      </p:cBhvr>
                                      <p:to>
                                        <p:strVal val="visible"/>
                                      </p:to>
                                    </p:set>
                                    <p:animEffect transition="in" filter="wipe(right)">
                                      <p:cBhvr>
                                        <p:cTn id="118" dur="500"/>
                                        <p:tgtEl>
                                          <p:spTgt spid="73"/>
                                        </p:tgtEl>
                                      </p:cBhvr>
                                    </p:animEffect>
                                  </p:childTnLst>
                                </p:cTn>
                              </p:par>
                            </p:childTnLst>
                          </p:cTn>
                        </p:par>
                        <p:par>
                          <p:cTn id="119" fill="hold">
                            <p:stCondLst>
                              <p:cond delay="12500"/>
                            </p:stCondLst>
                            <p:childTnLst>
                              <p:par>
                                <p:cTn id="120" presetID="22" presetClass="entr" presetSubtype="2" fill="hold" grpId="0" nodeType="afterEffect">
                                  <p:stCondLst>
                                    <p:cond delay="0"/>
                                  </p:stCondLst>
                                  <p:childTnLst>
                                    <p:set>
                                      <p:cBhvr>
                                        <p:cTn id="121" dur="1" fill="hold">
                                          <p:stCondLst>
                                            <p:cond delay="0"/>
                                          </p:stCondLst>
                                        </p:cTn>
                                        <p:tgtEl>
                                          <p:spTgt spid="74"/>
                                        </p:tgtEl>
                                        <p:attrNameLst>
                                          <p:attrName>style.visibility</p:attrName>
                                        </p:attrNameLst>
                                      </p:cBhvr>
                                      <p:to>
                                        <p:strVal val="visible"/>
                                      </p:to>
                                    </p:set>
                                    <p:animEffect transition="in" filter="wipe(right)">
                                      <p:cBhvr>
                                        <p:cTn id="122" dur="500"/>
                                        <p:tgtEl>
                                          <p:spTgt spid="74"/>
                                        </p:tgtEl>
                                      </p:cBhvr>
                                    </p:animEffect>
                                  </p:childTnLst>
                                </p:cTn>
                              </p:par>
                            </p:childTnLst>
                          </p:cTn>
                        </p:par>
                        <p:par>
                          <p:cTn id="123" fill="hold">
                            <p:stCondLst>
                              <p:cond delay="13000"/>
                            </p:stCondLst>
                            <p:childTnLst>
                              <p:par>
                                <p:cTn id="124" presetID="22" presetClass="entr" presetSubtype="2" fill="hold" grpId="0" nodeType="afterEffect">
                                  <p:stCondLst>
                                    <p:cond delay="0"/>
                                  </p:stCondLst>
                                  <p:childTnLst>
                                    <p:set>
                                      <p:cBhvr>
                                        <p:cTn id="125" dur="1" fill="hold">
                                          <p:stCondLst>
                                            <p:cond delay="0"/>
                                          </p:stCondLst>
                                        </p:cTn>
                                        <p:tgtEl>
                                          <p:spTgt spid="75"/>
                                        </p:tgtEl>
                                        <p:attrNameLst>
                                          <p:attrName>style.visibility</p:attrName>
                                        </p:attrNameLst>
                                      </p:cBhvr>
                                      <p:to>
                                        <p:strVal val="visible"/>
                                      </p:to>
                                    </p:set>
                                    <p:animEffect transition="in" filter="wipe(right)">
                                      <p:cBhvr>
                                        <p:cTn id="126" dur="500"/>
                                        <p:tgtEl>
                                          <p:spTgt spid="75"/>
                                        </p:tgtEl>
                                      </p:cBhvr>
                                    </p:animEffect>
                                  </p:childTnLst>
                                </p:cTn>
                              </p:par>
                            </p:childTnLst>
                          </p:cTn>
                        </p:par>
                        <p:par>
                          <p:cTn id="127" fill="hold">
                            <p:stCondLst>
                              <p:cond delay="13500"/>
                            </p:stCondLst>
                            <p:childTnLst>
                              <p:par>
                                <p:cTn id="128" presetID="22" presetClass="entr" presetSubtype="2" fill="hold" grpId="0" nodeType="afterEffect">
                                  <p:stCondLst>
                                    <p:cond delay="0"/>
                                  </p:stCondLst>
                                  <p:childTnLst>
                                    <p:set>
                                      <p:cBhvr>
                                        <p:cTn id="129" dur="1" fill="hold">
                                          <p:stCondLst>
                                            <p:cond delay="0"/>
                                          </p:stCondLst>
                                        </p:cTn>
                                        <p:tgtEl>
                                          <p:spTgt spid="76"/>
                                        </p:tgtEl>
                                        <p:attrNameLst>
                                          <p:attrName>style.visibility</p:attrName>
                                        </p:attrNameLst>
                                      </p:cBhvr>
                                      <p:to>
                                        <p:strVal val="visible"/>
                                      </p:to>
                                    </p:set>
                                    <p:animEffect transition="in" filter="wipe(right)">
                                      <p:cBhvr>
                                        <p:cTn id="130" dur="500"/>
                                        <p:tgtEl>
                                          <p:spTgt spid="76"/>
                                        </p:tgtEl>
                                      </p:cBhvr>
                                    </p:animEffect>
                                  </p:childTnLst>
                                </p:cTn>
                              </p:par>
                            </p:childTnLst>
                          </p:cTn>
                        </p:par>
                        <p:par>
                          <p:cTn id="131" fill="hold">
                            <p:stCondLst>
                              <p:cond delay="14000"/>
                            </p:stCondLst>
                            <p:childTnLst>
                              <p:par>
                                <p:cTn id="132" presetID="22" presetClass="entr" presetSubtype="2" fill="hold" grpId="0" nodeType="afterEffect">
                                  <p:stCondLst>
                                    <p:cond delay="0"/>
                                  </p:stCondLst>
                                  <p:childTnLst>
                                    <p:set>
                                      <p:cBhvr>
                                        <p:cTn id="133" dur="1" fill="hold">
                                          <p:stCondLst>
                                            <p:cond delay="0"/>
                                          </p:stCondLst>
                                        </p:cTn>
                                        <p:tgtEl>
                                          <p:spTgt spid="77"/>
                                        </p:tgtEl>
                                        <p:attrNameLst>
                                          <p:attrName>style.visibility</p:attrName>
                                        </p:attrNameLst>
                                      </p:cBhvr>
                                      <p:to>
                                        <p:strVal val="visible"/>
                                      </p:to>
                                    </p:set>
                                    <p:animEffect transition="in" filter="wipe(right)">
                                      <p:cBhvr>
                                        <p:cTn id="134" dur="500"/>
                                        <p:tgtEl>
                                          <p:spTgt spid="77"/>
                                        </p:tgtEl>
                                      </p:cBhvr>
                                    </p:animEffect>
                                  </p:childTnLst>
                                </p:cTn>
                              </p:par>
                            </p:childTnLst>
                          </p:cTn>
                        </p:par>
                        <p:par>
                          <p:cTn id="135" fill="hold">
                            <p:stCondLst>
                              <p:cond delay="14500"/>
                            </p:stCondLst>
                            <p:childTnLst>
                              <p:par>
                                <p:cTn id="136" presetID="22" presetClass="entr" presetSubtype="2" fill="hold" grpId="0" nodeType="afterEffect">
                                  <p:stCondLst>
                                    <p:cond delay="0"/>
                                  </p:stCondLst>
                                  <p:childTnLst>
                                    <p:set>
                                      <p:cBhvr>
                                        <p:cTn id="137" dur="1" fill="hold">
                                          <p:stCondLst>
                                            <p:cond delay="0"/>
                                          </p:stCondLst>
                                        </p:cTn>
                                        <p:tgtEl>
                                          <p:spTgt spid="80"/>
                                        </p:tgtEl>
                                        <p:attrNameLst>
                                          <p:attrName>style.visibility</p:attrName>
                                        </p:attrNameLst>
                                      </p:cBhvr>
                                      <p:to>
                                        <p:strVal val="visible"/>
                                      </p:to>
                                    </p:set>
                                    <p:animEffect transition="in" filter="wipe(right)">
                                      <p:cBhvr>
                                        <p:cTn id="138" dur="500"/>
                                        <p:tgtEl>
                                          <p:spTgt spid="80"/>
                                        </p:tgtEl>
                                      </p:cBhvr>
                                    </p:animEffect>
                                  </p:childTnLst>
                                </p:cTn>
                              </p:par>
                            </p:childTnLst>
                          </p:cTn>
                        </p:par>
                        <p:par>
                          <p:cTn id="139" fill="hold">
                            <p:stCondLst>
                              <p:cond delay="15000"/>
                            </p:stCondLst>
                            <p:childTnLst>
                              <p:par>
                                <p:cTn id="140" presetID="22" presetClass="entr" presetSubtype="2" fill="hold" grpId="0" nodeType="afterEffect">
                                  <p:stCondLst>
                                    <p:cond delay="0"/>
                                  </p:stCondLst>
                                  <p:childTnLst>
                                    <p:set>
                                      <p:cBhvr>
                                        <p:cTn id="141" dur="1" fill="hold">
                                          <p:stCondLst>
                                            <p:cond delay="0"/>
                                          </p:stCondLst>
                                        </p:cTn>
                                        <p:tgtEl>
                                          <p:spTgt spid="78"/>
                                        </p:tgtEl>
                                        <p:attrNameLst>
                                          <p:attrName>style.visibility</p:attrName>
                                        </p:attrNameLst>
                                      </p:cBhvr>
                                      <p:to>
                                        <p:strVal val="visible"/>
                                      </p:to>
                                    </p:set>
                                    <p:animEffect transition="in" filter="wipe(right)">
                                      <p:cBhvr>
                                        <p:cTn id="142" dur="500"/>
                                        <p:tgtEl>
                                          <p:spTgt spid="78"/>
                                        </p:tgtEl>
                                      </p:cBhvr>
                                    </p:animEffect>
                                  </p:childTnLst>
                                </p:cTn>
                              </p:par>
                            </p:childTnLst>
                          </p:cTn>
                        </p:par>
                        <p:par>
                          <p:cTn id="143" fill="hold">
                            <p:stCondLst>
                              <p:cond delay="15500"/>
                            </p:stCondLst>
                            <p:childTnLst>
                              <p:par>
                                <p:cTn id="144" presetID="22" presetClass="entr" presetSubtype="2" fill="hold" grpId="0" nodeType="afterEffect">
                                  <p:stCondLst>
                                    <p:cond delay="0"/>
                                  </p:stCondLst>
                                  <p:childTnLst>
                                    <p:set>
                                      <p:cBhvr>
                                        <p:cTn id="145" dur="1" fill="hold">
                                          <p:stCondLst>
                                            <p:cond delay="0"/>
                                          </p:stCondLst>
                                        </p:cTn>
                                        <p:tgtEl>
                                          <p:spTgt spid="81"/>
                                        </p:tgtEl>
                                        <p:attrNameLst>
                                          <p:attrName>style.visibility</p:attrName>
                                        </p:attrNameLst>
                                      </p:cBhvr>
                                      <p:to>
                                        <p:strVal val="visible"/>
                                      </p:to>
                                    </p:set>
                                    <p:animEffect transition="in" filter="wipe(right)">
                                      <p:cBhvr>
                                        <p:cTn id="146" dur="500"/>
                                        <p:tgtEl>
                                          <p:spTgt spid="81"/>
                                        </p:tgtEl>
                                      </p:cBhvr>
                                    </p:animEffect>
                                  </p:childTnLst>
                                </p:cTn>
                              </p:par>
                            </p:childTnLst>
                          </p:cTn>
                        </p:par>
                        <p:par>
                          <p:cTn id="147" fill="hold">
                            <p:stCondLst>
                              <p:cond delay="16000"/>
                            </p:stCondLst>
                            <p:childTnLst>
                              <p:par>
                                <p:cTn id="148" presetID="22" presetClass="entr" presetSubtype="2" fill="hold" grpId="0" nodeType="afterEffect">
                                  <p:stCondLst>
                                    <p:cond delay="0"/>
                                  </p:stCondLst>
                                  <p:childTnLst>
                                    <p:set>
                                      <p:cBhvr>
                                        <p:cTn id="149" dur="1" fill="hold">
                                          <p:stCondLst>
                                            <p:cond delay="0"/>
                                          </p:stCondLst>
                                        </p:cTn>
                                        <p:tgtEl>
                                          <p:spTgt spid="84"/>
                                        </p:tgtEl>
                                        <p:attrNameLst>
                                          <p:attrName>style.visibility</p:attrName>
                                        </p:attrNameLst>
                                      </p:cBhvr>
                                      <p:to>
                                        <p:strVal val="visible"/>
                                      </p:to>
                                    </p:set>
                                    <p:animEffect transition="in" filter="wipe(right)">
                                      <p:cBhvr>
                                        <p:cTn id="150" dur="500"/>
                                        <p:tgtEl>
                                          <p:spTgt spid="84"/>
                                        </p:tgtEl>
                                      </p:cBhvr>
                                    </p:animEffect>
                                  </p:childTnLst>
                                </p:cTn>
                              </p:par>
                            </p:childTnLst>
                          </p:cTn>
                        </p:par>
                        <p:par>
                          <p:cTn id="151" fill="hold">
                            <p:stCondLst>
                              <p:cond delay="16500"/>
                            </p:stCondLst>
                            <p:childTnLst>
                              <p:par>
                                <p:cTn id="152" presetID="22" presetClass="entr" presetSubtype="1" fill="hold" nodeType="afterEffect">
                                  <p:stCondLst>
                                    <p:cond delay="0"/>
                                  </p:stCondLst>
                                  <p:childTnLst>
                                    <p:set>
                                      <p:cBhvr>
                                        <p:cTn id="153" dur="1" fill="hold">
                                          <p:stCondLst>
                                            <p:cond delay="0"/>
                                          </p:stCondLst>
                                        </p:cTn>
                                        <p:tgtEl>
                                          <p:spTgt spid="83"/>
                                        </p:tgtEl>
                                        <p:attrNameLst>
                                          <p:attrName>style.visibility</p:attrName>
                                        </p:attrNameLst>
                                      </p:cBhvr>
                                      <p:to>
                                        <p:strVal val="visible"/>
                                      </p:to>
                                    </p:set>
                                    <p:animEffect transition="in" filter="wipe(up)">
                                      <p:cBhvr>
                                        <p:cTn id="154" dur="1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43" grpId="0" animBg="1"/>
      <p:bldP spid="50" grpId="0" animBg="1"/>
      <p:bldP spid="51" grpId="0" animBg="1"/>
      <p:bldP spid="53" grpId="0" animBg="1"/>
      <p:bldP spid="54" grpId="0" animBg="1"/>
      <p:bldP spid="64" grpId="0" animBg="1"/>
      <p:bldP spid="68" grpId="0" animBg="1"/>
      <p:bldP spid="70" grpId="0" animBg="1"/>
      <p:bldP spid="71" grpId="0" animBg="1"/>
      <p:bldP spid="72" grpId="0" animBg="1"/>
      <p:bldP spid="73" grpId="0" animBg="1"/>
      <p:bldP spid="74" grpId="0" animBg="1"/>
      <p:bldP spid="75" grpId="0" animBg="1"/>
      <p:bldP spid="76" grpId="0" animBg="1"/>
      <p:bldP spid="77" grpId="0" animBg="1"/>
      <p:bldP spid="78" grpId="0" animBg="1"/>
      <p:bldP spid="80" grpId="0" animBg="1"/>
      <p:bldP spid="81" grpId="0" animBg="1"/>
      <p:bldP spid="84" grpId="0" animBg="1"/>
      <p:bldP spid="58" grpId="0"/>
      <p:bldP spid="67" grpId="0" animBg="1"/>
      <p:bldP spid="69" grpId="0" animBg="1"/>
      <p:bldP spid="79" grpId="0" animBg="1"/>
      <p:bldP spid="82" grpId="0"/>
      <p:bldP spid="90" grpId="0" animBg="1"/>
      <p:bldP spid="91" grpId="0" animBg="1"/>
      <p:bldP spid="9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4964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hangingPunct="0">
              <a:lnSpc>
                <a:spcPts val="3300"/>
              </a:lnSpc>
              <a:buClr>
                <a:srgbClr val="9900CC"/>
              </a:buClr>
              <a:buSzPct val="95000"/>
              <a:buFont typeface="+mj-lt"/>
              <a:buAutoNum type="arabicPeriod"/>
            </a:pPr>
            <a:r>
              <a:rPr lang="zh-CN" altLang="en-US" sz="2000" b="1" dirty="0" smtClean="0">
                <a:latin typeface="微软雅黑" pitchFamily="34" charset="-122"/>
                <a:ea typeface="微软雅黑" pitchFamily="34" charset="-122"/>
              </a:rPr>
              <a:t>协议的方法</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状态码</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语义等都没有</a:t>
            </a:r>
            <a:r>
              <a:rPr lang="zh-CN" altLang="en-US" sz="2000" b="1" dirty="0" smtClean="0">
                <a:latin typeface="微软雅黑" pitchFamily="34" charset="-122"/>
                <a:ea typeface="微软雅黑" pitchFamily="34" charset="-122"/>
              </a:rPr>
              <a:t>改变。</a:t>
            </a:r>
            <a:endParaRPr lang="en-US" altLang="zh-CN" sz="2000" b="1" dirty="0" smtClean="0">
              <a:latin typeface="微软雅黑" pitchFamily="34" charset="-122"/>
              <a:ea typeface="微软雅黑" pitchFamily="34" charset="-122"/>
            </a:endParaRPr>
          </a:p>
          <a:p>
            <a:pPr marL="355600" indent="-355600" hangingPunct="0">
              <a:lnSpc>
                <a:spcPts val="3300"/>
              </a:lnSpc>
              <a:buClr>
                <a:srgbClr val="9900CC"/>
              </a:buClr>
              <a:buSzPct val="95000"/>
              <a:buFont typeface="+mj-lt"/>
              <a:buAutoNum type="arabicPeriod"/>
            </a:pPr>
            <a:r>
              <a:rPr lang="zh-CN" altLang="en-US" sz="2000" b="1" dirty="0" smtClean="0">
                <a:latin typeface="微软雅黑" pitchFamily="34" charset="-122"/>
                <a:ea typeface="微软雅黑" pitchFamily="34" charset="-122"/>
              </a:rPr>
              <a:t>采用</a:t>
            </a:r>
            <a:r>
              <a:rPr lang="en-US" altLang="zh-CN" sz="2000" b="1" dirty="0" smtClean="0">
                <a:latin typeface="微软雅黑" pitchFamily="34" charset="-122"/>
                <a:ea typeface="微软雅黑" pitchFamily="34" charset="-122"/>
              </a:rPr>
              <a:t>HPACK</a:t>
            </a:r>
            <a:r>
              <a:rPr lang="zh-CN" altLang="en-US" sz="2000" b="1" dirty="0">
                <a:latin typeface="微软雅黑" pitchFamily="34" charset="-122"/>
                <a:ea typeface="微软雅黑" pitchFamily="34" charset="-122"/>
              </a:rPr>
              <a:t>算法</a:t>
            </a:r>
            <a:r>
              <a:rPr lang="zh-CN" altLang="en-US" sz="2000" b="1" dirty="0">
                <a:solidFill>
                  <a:srgbClr val="C00000"/>
                </a:solidFill>
                <a:latin typeface="微软雅黑" pitchFamily="34" charset="-122"/>
                <a:ea typeface="微软雅黑" pitchFamily="34" charset="-122"/>
              </a:rPr>
              <a:t>对帧首部进行动态压缩</a:t>
            </a:r>
            <a:r>
              <a:rPr lang="zh-CN" altLang="en-US" sz="2000" b="1" dirty="0" smtClean="0">
                <a:latin typeface="微软雅黑" pitchFamily="34" charset="-122"/>
                <a:ea typeface="微软雅黑" pitchFamily="34" charset="-122"/>
              </a:rPr>
              <a:t>，减小</a:t>
            </a:r>
            <a:r>
              <a:rPr lang="zh-CN" altLang="en-US" sz="2000" b="1" dirty="0">
                <a:latin typeface="微软雅黑" pitchFamily="34" charset="-122"/>
                <a:ea typeface="微软雅黑" pitchFamily="34" charset="-122"/>
              </a:rPr>
              <a:t>了传输数据量，提升了整体通信效率</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55600" indent="-355600" hangingPunct="0">
              <a:lnSpc>
                <a:spcPts val="3300"/>
              </a:lnSpc>
              <a:buClr>
                <a:srgbClr val="9900CC"/>
              </a:buClr>
              <a:buSzPct val="95000"/>
              <a:buFont typeface="+mj-lt"/>
              <a:buAutoNum type="arabicPeriod"/>
            </a:pPr>
            <a:r>
              <a:rPr lang="zh-CN" altLang="en-US" sz="2000" b="1" dirty="0" smtClean="0">
                <a:latin typeface="微软雅黑" pitchFamily="34" charset="-122"/>
                <a:ea typeface="微软雅黑" pitchFamily="34" charset="-122"/>
              </a:rPr>
              <a:t>引入</a:t>
            </a:r>
            <a:r>
              <a:rPr lang="zh-CN" altLang="en-US" sz="2000" b="1" dirty="0">
                <a:latin typeface="微软雅黑" pitchFamily="34" charset="-122"/>
                <a:ea typeface="微软雅黑" pitchFamily="34" charset="-122"/>
              </a:rPr>
              <a:t>了服务器推送</a:t>
            </a:r>
            <a:r>
              <a:rPr lang="en-US" altLang="zh-CN" sz="2000" b="1" dirty="0">
                <a:latin typeface="微软雅黑" pitchFamily="34" charset="-122"/>
                <a:ea typeface="微软雅黑" pitchFamily="34" charset="-122"/>
              </a:rPr>
              <a:t>(Server Push)</a:t>
            </a:r>
            <a:r>
              <a:rPr lang="zh-CN" altLang="en-US" sz="2000" b="1" dirty="0">
                <a:latin typeface="微软雅黑" pitchFamily="34" charset="-122"/>
                <a:ea typeface="微软雅黑" pitchFamily="34" charset="-122"/>
              </a:rPr>
              <a:t>的概念，服务器可以</a:t>
            </a:r>
            <a:r>
              <a:rPr lang="zh-CN" altLang="en-US" sz="2000" b="1" dirty="0">
                <a:solidFill>
                  <a:srgbClr val="C00000"/>
                </a:solidFill>
                <a:latin typeface="微软雅黑" pitchFamily="34" charset="-122"/>
                <a:ea typeface="微软雅黑" pitchFamily="34" charset="-122"/>
              </a:rPr>
              <a:t>预测</a:t>
            </a:r>
            <a:r>
              <a:rPr lang="zh-CN" altLang="en-US" sz="2000" b="1" dirty="0" smtClean="0">
                <a:solidFill>
                  <a:srgbClr val="C00000"/>
                </a:solidFill>
                <a:latin typeface="微软雅黑" pitchFamily="34" charset="-122"/>
                <a:ea typeface="微软雅黑" pitchFamily="34" charset="-122"/>
              </a:rPr>
              <a:t>客户端下一步需求</a:t>
            </a:r>
            <a:r>
              <a:rPr lang="zh-CN" altLang="en-US" sz="2000" b="1" dirty="0">
                <a:latin typeface="微软雅黑" pitchFamily="34" charset="-122"/>
                <a:ea typeface="微软雅黑" pitchFamily="34" charset="-122"/>
              </a:rPr>
              <a:t>，并</a:t>
            </a:r>
            <a:r>
              <a:rPr lang="zh-CN" altLang="en-US" sz="2000" b="1" dirty="0" smtClean="0">
                <a:solidFill>
                  <a:srgbClr val="C00000"/>
                </a:solidFill>
                <a:latin typeface="微软雅黑" pitchFamily="34" charset="-122"/>
                <a:ea typeface="微软雅黑" pitchFamily="34" charset="-122"/>
              </a:rPr>
              <a:t>主动推</a:t>
            </a:r>
            <a:r>
              <a:rPr lang="zh-CN" altLang="en-US" sz="2000" b="1" dirty="0">
                <a:solidFill>
                  <a:srgbClr val="C00000"/>
                </a:solidFill>
                <a:latin typeface="微软雅黑" pitchFamily="34" charset="-122"/>
                <a:ea typeface="微软雅黑" pitchFamily="34" charset="-122"/>
              </a:rPr>
              <a:t>送相关</a:t>
            </a:r>
            <a:r>
              <a:rPr lang="zh-CN" altLang="en-US" sz="2000" b="1" dirty="0" smtClean="0">
                <a:solidFill>
                  <a:srgbClr val="C00000"/>
                </a:solidFill>
                <a:latin typeface="微软雅黑" pitchFamily="34" charset="-122"/>
                <a:ea typeface="微软雅黑" pitchFamily="34" charset="-122"/>
              </a:rPr>
              <a:t>资源</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55600" indent="-355600" hangingPunct="0">
              <a:lnSpc>
                <a:spcPts val="3300"/>
              </a:lnSpc>
              <a:buClr>
                <a:srgbClr val="9900CC"/>
              </a:buClr>
              <a:buSzPct val="95000"/>
              <a:buFont typeface="+mj-lt"/>
              <a:buAutoNum type="arabicPeriod"/>
            </a:pPr>
            <a:r>
              <a:rPr lang="zh-CN" altLang="en-US" sz="2000" b="1" dirty="0" smtClean="0">
                <a:latin typeface="微软雅黑" pitchFamily="34" charset="-122"/>
                <a:ea typeface="微软雅黑" pitchFamily="34" charset="-122"/>
              </a:rPr>
              <a:t>出于安全性考虑，经常与</a:t>
            </a:r>
            <a:r>
              <a:rPr lang="en-US" altLang="zh-CN" sz="2000" b="1" dirty="0">
                <a:latin typeface="微软雅黑" pitchFamily="34" charset="-122"/>
                <a:ea typeface="微软雅黑" pitchFamily="34" charset="-122"/>
              </a:rPr>
              <a:t>TLS</a:t>
            </a:r>
            <a:r>
              <a:rPr lang="zh-CN" altLang="en-US" sz="2000" b="1" dirty="0">
                <a:latin typeface="微软雅黑" pitchFamily="34" charset="-122"/>
                <a:ea typeface="微软雅黑" pitchFamily="34" charset="-122"/>
              </a:rPr>
              <a:t>一起</a:t>
            </a:r>
            <a:r>
              <a:rPr lang="zh-CN" altLang="en-US" sz="2000" b="1" dirty="0" smtClean="0">
                <a:latin typeface="微软雅黑" pitchFamily="34" charset="-122"/>
                <a:ea typeface="微软雅黑" pitchFamily="34" charset="-122"/>
              </a:rPr>
              <a:t>使用。</a:t>
            </a:r>
            <a:endParaRPr lang="en-US" altLang="zh-CN" sz="2000" b="1" dirty="0">
              <a:latin typeface="微软雅黑" pitchFamily="34" charset="-122"/>
              <a:ea typeface="微软雅黑" pitchFamily="34" charset="-122"/>
            </a:endParaRPr>
          </a:p>
          <a:p>
            <a:pPr marL="355600" indent="-355600" hangingPunct="0">
              <a:lnSpc>
                <a:spcPts val="3300"/>
              </a:lnSpc>
              <a:buClr>
                <a:srgbClr val="9900CC"/>
              </a:buClr>
              <a:buSzPct val="95000"/>
              <a:buFont typeface="+mj-lt"/>
              <a:buAutoNum type="arabicPeriod"/>
            </a:pPr>
            <a:r>
              <a:rPr lang="zh-CN" altLang="en-US" sz="2000" b="1" dirty="0" smtClean="0">
                <a:latin typeface="微软雅黑" pitchFamily="34" charset="-122"/>
                <a:ea typeface="微软雅黑" pitchFamily="34" charset="-122"/>
              </a:rPr>
              <a:t>向后</a:t>
            </a:r>
            <a:r>
              <a:rPr lang="zh-CN" altLang="en-US" sz="2000" b="1" dirty="0">
                <a:latin typeface="微软雅黑" pitchFamily="34" charset="-122"/>
                <a:ea typeface="微软雅黑" pitchFamily="34" charset="-122"/>
              </a:rPr>
              <a:t>兼容</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4179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HTTP/2</a:t>
            </a:r>
            <a:r>
              <a:rPr lang="zh-CN" altLang="en-US" sz="2000" b="1" dirty="0" smtClean="0">
                <a:latin typeface="微软雅黑" pitchFamily="34" charset="-122"/>
                <a:ea typeface="微软雅黑" pitchFamily="34" charset="-122"/>
              </a:rPr>
              <a:t>的其他特性</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1317203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fade">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fade">
                                      <p:cBhvr>
                                        <p:cTn id="17" dur="5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fade">
                                      <p:cBhvr>
                                        <p:cTn id="22" dur="500"/>
                                        <p:tgtEl>
                                          <p:spTgt spid="10">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xEl>
                                              <p:pRg st="4" end="4"/>
                                            </p:txEl>
                                          </p:spTgt>
                                        </p:tgtEl>
                                        <p:attrNameLst>
                                          <p:attrName>style.visibility</p:attrName>
                                        </p:attrNameLst>
                                      </p:cBhvr>
                                      <p:to>
                                        <p:strVal val="visible"/>
                                      </p:to>
                                    </p:set>
                                    <p:animEffect transition="in" filter="fade">
                                      <p:cBhvr>
                                        <p:cTn id="27"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圆角矩形 43"/>
          <p:cNvSpPr/>
          <p:nvPr/>
        </p:nvSpPr>
        <p:spPr>
          <a:xfrm>
            <a:off x="543900" y="1894120"/>
            <a:ext cx="8048776" cy="2704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89356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HTTP/3 </a:t>
            </a:r>
            <a:r>
              <a:rPr lang="zh-CN" altLang="en-US" sz="2000" b="1" dirty="0" smtClean="0">
                <a:latin typeface="微软雅黑" pitchFamily="34" charset="-122"/>
                <a:ea typeface="微软雅黑" pitchFamily="34" charset="-122"/>
              </a:rPr>
              <a:t>与 </a:t>
            </a:r>
            <a:r>
              <a:rPr lang="en-US" altLang="zh-CN" sz="2000" b="1" dirty="0" smtClean="0">
                <a:latin typeface="微软雅黑" pitchFamily="34" charset="-122"/>
                <a:ea typeface="微软雅黑" pitchFamily="34" charset="-122"/>
              </a:rPr>
              <a:t>HTTP/2 </a:t>
            </a:r>
            <a:r>
              <a:rPr lang="zh-CN" altLang="en-US" sz="2000" b="1" dirty="0" smtClean="0">
                <a:latin typeface="微软雅黑" pitchFamily="34" charset="-122"/>
                <a:ea typeface="微软雅黑" pitchFamily="34" charset="-122"/>
              </a:rPr>
              <a:t>对比</a:t>
            </a:r>
            <a:endParaRPr lang="zh-CN" altLang="en-US" sz="2000" b="1" dirty="0">
              <a:latin typeface="微软雅黑" pitchFamily="34" charset="-122"/>
              <a:ea typeface="微软雅黑" pitchFamily="34" charset="-122"/>
            </a:endParaRPr>
          </a:p>
        </p:txBody>
      </p:sp>
      <p:sp>
        <p:nvSpPr>
          <p:cNvPr id="5" name="矩形 4">
            <a:extLst>
              <a:ext uri="{FF2B5EF4-FFF2-40B4-BE49-F238E27FC236}">
                <a16:creationId xmlns:a16="http://schemas.microsoft.com/office/drawing/2014/main" id="{B12B60BB-7712-CD8F-19E3-6865EA47AE90}"/>
              </a:ext>
            </a:extLst>
          </p:cNvPr>
          <p:cNvSpPr/>
          <p:nvPr/>
        </p:nvSpPr>
        <p:spPr>
          <a:xfrm>
            <a:off x="4305921" y="2429671"/>
            <a:ext cx="1945919" cy="1040765"/>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AB81E5AE-3152-45FD-68CF-E617BDD52602}"/>
              </a:ext>
            </a:extLst>
          </p:cNvPr>
          <p:cNvSpPr/>
          <p:nvPr/>
        </p:nvSpPr>
        <p:spPr>
          <a:xfrm>
            <a:off x="4305921" y="2739435"/>
            <a:ext cx="1680278" cy="281251"/>
          </a:xfrm>
          <a:prstGeom prst="rect">
            <a:avLst/>
          </a:prstGeom>
          <a:solidFill>
            <a:schemeClr val="bg2">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Text Box 20">
            <a:extLst>
              <a:ext uri="{FF2B5EF4-FFF2-40B4-BE49-F238E27FC236}">
                <a16:creationId xmlns:a16="http://schemas.microsoft.com/office/drawing/2014/main" id="{17C47A7E-95A9-B2DD-B11C-864933943825}"/>
              </a:ext>
            </a:extLst>
          </p:cNvPr>
          <p:cNvSpPr txBox="1">
            <a:spLocks noChangeArrowheads="1"/>
          </p:cNvSpPr>
          <p:nvPr/>
        </p:nvSpPr>
        <p:spPr bwMode="auto">
          <a:xfrm flipH="1">
            <a:off x="2105441" y="3180091"/>
            <a:ext cx="203686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dirty="0"/>
              <a:t>TCP</a:t>
            </a:r>
          </a:p>
          <a:p>
            <a:pPr algn="ctr" eaLnBrk="1" hangingPunct="1">
              <a:spcBef>
                <a:spcPct val="0"/>
              </a:spcBef>
              <a:buFontTx/>
              <a:buNone/>
            </a:pPr>
            <a:r>
              <a:rPr lang="zh-CN" altLang="en-US" sz="1600" dirty="0"/>
              <a:t>可靠传输，拥塞控制</a:t>
            </a:r>
          </a:p>
        </p:txBody>
      </p:sp>
      <p:sp>
        <p:nvSpPr>
          <p:cNvPr id="8" name="Text Box 18">
            <a:extLst>
              <a:ext uri="{FF2B5EF4-FFF2-40B4-BE49-F238E27FC236}">
                <a16:creationId xmlns:a16="http://schemas.microsoft.com/office/drawing/2014/main" id="{BF9A94BA-EFC5-D8D6-6AF7-245D5962C5F4}"/>
              </a:ext>
            </a:extLst>
          </p:cNvPr>
          <p:cNvSpPr txBox="1">
            <a:spLocks noChangeArrowheads="1"/>
          </p:cNvSpPr>
          <p:nvPr/>
        </p:nvSpPr>
        <p:spPr bwMode="auto">
          <a:xfrm flipH="1">
            <a:off x="4023418" y="3927268"/>
            <a:ext cx="449192" cy="27662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IP</a:t>
            </a:r>
            <a:endParaRPr lang="zh-CN" altLang="en-US" sz="1600" dirty="0"/>
          </a:p>
        </p:txBody>
      </p:sp>
      <p:sp>
        <p:nvSpPr>
          <p:cNvPr id="9" name="矩形 8">
            <a:extLst>
              <a:ext uri="{FF2B5EF4-FFF2-40B4-BE49-F238E27FC236}">
                <a16:creationId xmlns:a16="http://schemas.microsoft.com/office/drawing/2014/main" id="{A0E3D575-079A-8CB3-6EFE-9D8498AB4BC7}"/>
              </a:ext>
            </a:extLst>
          </p:cNvPr>
          <p:cNvSpPr/>
          <p:nvPr/>
        </p:nvSpPr>
        <p:spPr>
          <a:xfrm>
            <a:off x="2147334" y="3770417"/>
            <a:ext cx="4095854" cy="590326"/>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14AC9CCB-41BC-8916-905B-9BC1B8373CC2}"/>
              </a:ext>
            </a:extLst>
          </p:cNvPr>
          <p:cNvSpPr/>
          <p:nvPr/>
        </p:nvSpPr>
        <p:spPr>
          <a:xfrm>
            <a:off x="2147334" y="2091677"/>
            <a:ext cx="1938778" cy="1678740"/>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F1CE5FEF-F41F-78B4-8319-34F40B65F5F9}"/>
              </a:ext>
            </a:extLst>
          </p:cNvPr>
          <p:cNvSpPr/>
          <p:nvPr/>
        </p:nvSpPr>
        <p:spPr>
          <a:xfrm>
            <a:off x="4305921" y="2091677"/>
            <a:ext cx="1938778" cy="1678740"/>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155073E5-3E71-BB1F-4510-C4DE56F24809}"/>
              </a:ext>
            </a:extLst>
          </p:cNvPr>
          <p:cNvCxnSpPr/>
          <p:nvPr/>
        </p:nvCxnSpPr>
        <p:spPr>
          <a:xfrm>
            <a:off x="2147334" y="2682003"/>
            <a:ext cx="19387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B0AB89C1-722A-8896-C58C-12A8F1CDCA23}"/>
              </a:ext>
            </a:extLst>
          </p:cNvPr>
          <p:cNvCxnSpPr/>
          <p:nvPr/>
        </p:nvCxnSpPr>
        <p:spPr>
          <a:xfrm>
            <a:off x="2147334" y="3203151"/>
            <a:ext cx="19387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D125E529-3AEF-0D5F-6335-22D2AD4192B9}"/>
              </a:ext>
            </a:extLst>
          </p:cNvPr>
          <p:cNvCxnSpPr/>
          <p:nvPr/>
        </p:nvCxnSpPr>
        <p:spPr>
          <a:xfrm>
            <a:off x="4305921" y="2429672"/>
            <a:ext cx="19387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4E511EFA-C5D9-9E01-7B08-B74458EC5A98}"/>
              </a:ext>
            </a:extLst>
          </p:cNvPr>
          <p:cNvCxnSpPr/>
          <p:nvPr/>
        </p:nvCxnSpPr>
        <p:spPr>
          <a:xfrm>
            <a:off x="4305921" y="3467354"/>
            <a:ext cx="19387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任意多边形: 形状 13">
            <a:extLst>
              <a:ext uri="{FF2B5EF4-FFF2-40B4-BE49-F238E27FC236}">
                <a16:creationId xmlns:a16="http://schemas.microsoft.com/office/drawing/2014/main" id="{2653BA5F-0414-8C7E-A94B-0003BC8907A4}"/>
              </a:ext>
            </a:extLst>
          </p:cNvPr>
          <p:cNvSpPr/>
          <p:nvPr/>
        </p:nvSpPr>
        <p:spPr>
          <a:xfrm>
            <a:off x="4294009" y="2747671"/>
            <a:ext cx="1699750" cy="285940"/>
          </a:xfrm>
          <a:custGeom>
            <a:avLst/>
            <a:gdLst>
              <a:gd name="connsiteX0" fmla="*/ 22578 w 2167467"/>
              <a:gd name="connsiteY0" fmla="*/ 0 h 349956"/>
              <a:gd name="connsiteX1" fmla="*/ 2156178 w 2167467"/>
              <a:gd name="connsiteY1" fmla="*/ 11289 h 349956"/>
              <a:gd name="connsiteX2" fmla="*/ 2167467 w 2167467"/>
              <a:gd name="connsiteY2" fmla="*/ 338667 h 349956"/>
              <a:gd name="connsiteX3" fmla="*/ 0 w 2167467"/>
              <a:gd name="connsiteY3" fmla="*/ 349956 h 349956"/>
            </a:gdLst>
            <a:ahLst/>
            <a:cxnLst>
              <a:cxn ang="0">
                <a:pos x="connsiteX0" y="connsiteY0"/>
              </a:cxn>
              <a:cxn ang="0">
                <a:pos x="connsiteX1" y="connsiteY1"/>
              </a:cxn>
              <a:cxn ang="0">
                <a:pos x="connsiteX2" y="connsiteY2"/>
              </a:cxn>
              <a:cxn ang="0">
                <a:pos x="connsiteX3" y="connsiteY3"/>
              </a:cxn>
            </a:cxnLst>
            <a:rect l="l" t="t" r="r" b="b"/>
            <a:pathLst>
              <a:path w="2167467" h="349956">
                <a:moveTo>
                  <a:pt x="22578" y="0"/>
                </a:moveTo>
                <a:lnTo>
                  <a:pt x="2156178" y="11289"/>
                </a:lnTo>
                <a:lnTo>
                  <a:pt x="2167467" y="338667"/>
                </a:lnTo>
                <a:lnTo>
                  <a:pt x="0" y="349956"/>
                </a:ln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Text Box 20">
            <a:extLst>
              <a:ext uri="{FF2B5EF4-FFF2-40B4-BE49-F238E27FC236}">
                <a16:creationId xmlns:a16="http://schemas.microsoft.com/office/drawing/2014/main" id="{F6CD5D1D-120D-900C-6C99-A37D4FF2CD82}"/>
              </a:ext>
            </a:extLst>
          </p:cNvPr>
          <p:cNvSpPr txBox="1">
            <a:spLocks noChangeArrowheads="1"/>
          </p:cNvSpPr>
          <p:nvPr/>
        </p:nvSpPr>
        <p:spPr bwMode="auto">
          <a:xfrm flipH="1">
            <a:off x="2510990" y="2766318"/>
            <a:ext cx="151242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TLS</a:t>
            </a:r>
            <a:r>
              <a:rPr lang="zh-CN" altLang="en-US" sz="1600" dirty="0"/>
              <a:t>（加密）</a:t>
            </a:r>
          </a:p>
        </p:txBody>
      </p:sp>
      <p:sp>
        <p:nvSpPr>
          <p:cNvPr id="21" name="Text Box 20">
            <a:extLst>
              <a:ext uri="{FF2B5EF4-FFF2-40B4-BE49-F238E27FC236}">
                <a16:creationId xmlns:a16="http://schemas.microsoft.com/office/drawing/2014/main" id="{524AB18F-351A-03E6-3C0B-88A472AB6AB4}"/>
              </a:ext>
            </a:extLst>
          </p:cNvPr>
          <p:cNvSpPr txBox="1">
            <a:spLocks noChangeArrowheads="1"/>
          </p:cNvSpPr>
          <p:nvPr/>
        </p:nvSpPr>
        <p:spPr bwMode="auto">
          <a:xfrm flipH="1">
            <a:off x="2653343" y="2242313"/>
            <a:ext cx="92675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HTTP/2</a:t>
            </a:r>
            <a:endParaRPr lang="zh-CN" altLang="en-US" sz="1600" dirty="0"/>
          </a:p>
        </p:txBody>
      </p:sp>
      <p:sp>
        <p:nvSpPr>
          <p:cNvPr id="22" name="Text Box 20">
            <a:extLst>
              <a:ext uri="{FF2B5EF4-FFF2-40B4-BE49-F238E27FC236}">
                <a16:creationId xmlns:a16="http://schemas.microsoft.com/office/drawing/2014/main" id="{92D3EE25-3049-FF73-603C-DDC9B19F3228}"/>
              </a:ext>
            </a:extLst>
          </p:cNvPr>
          <p:cNvSpPr txBox="1">
            <a:spLocks noChangeArrowheads="1"/>
          </p:cNvSpPr>
          <p:nvPr/>
        </p:nvSpPr>
        <p:spPr bwMode="auto">
          <a:xfrm flipH="1">
            <a:off x="4811931" y="2100900"/>
            <a:ext cx="92675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HTTP/3</a:t>
            </a:r>
            <a:endParaRPr lang="zh-CN" altLang="en-US" sz="1600" dirty="0"/>
          </a:p>
        </p:txBody>
      </p:sp>
      <p:sp>
        <p:nvSpPr>
          <p:cNvPr id="23" name="Text Box 20">
            <a:extLst>
              <a:ext uri="{FF2B5EF4-FFF2-40B4-BE49-F238E27FC236}">
                <a16:creationId xmlns:a16="http://schemas.microsoft.com/office/drawing/2014/main" id="{33E91693-7AA5-AA7D-53B9-414F9F1E5588}"/>
              </a:ext>
            </a:extLst>
          </p:cNvPr>
          <p:cNvSpPr txBox="1">
            <a:spLocks noChangeArrowheads="1"/>
          </p:cNvSpPr>
          <p:nvPr/>
        </p:nvSpPr>
        <p:spPr bwMode="auto">
          <a:xfrm flipH="1">
            <a:off x="4953315" y="3444050"/>
            <a:ext cx="6583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UDP</a:t>
            </a:r>
            <a:endParaRPr lang="zh-CN" altLang="en-US" sz="1600" dirty="0"/>
          </a:p>
        </p:txBody>
      </p:sp>
      <p:sp>
        <p:nvSpPr>
          <p:cNvPr id="24" name="Text Box 20">
            <a:extLst>
              <a:ext uri="{FF2B5EF4-FFF2-40B4-BE49-F238E27FC236}">
                <a16:creationId xmlns:a16="http://schemas.microsoft.com/office/drawing/2014/main" id="{07092BF1-F20C-2CE6-9558-65649D93F9C5}"/>
              </a:ext>
            </a:extLst>
          </p:cNvPr>
          <p:cNvSpPr txBox="1">
            <a:spLocks noChangeArrowheads="1"/>
          </p:cNvSpPr>
          <p:nvPr/>
        </p:nvSpPr>
        <p:spPr bwMode="auto">
          <a:xfrm flipH="1">
            <a:off x="4385430" y="2728119"/>
            <a:ext cx="16234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TLS 1.3</a:t>
            </a:r>
            <a:r>
              <a:rPr lang="zh-CN" altLang="en-US" sz="1600" dirty="0"/>
              <a:t>（加密）</a:t>
            </a:r>
          </a:p>
        </p:txBody>
      </p:sp>
      <p:sp>
        <p:nvSpPr>
          <p:cNvPr id="25" name="Text Box 20">
            <a:extLst>
              <a:ext uri="{FF2B5EF4-FFF2-40B4-BE49-F238E27FC236}">
                <a16:creationId xmlns:a16="http://schemas.microsoft.com/office/drawing/2014/main" id="{A48E73E3-6ECB-ECC0-596E-C28860A5CD69}"/>
              </a:ext>
            </a:extLst>
          </p:cNvPr>
          <p:cNvSpPr txBox="1">
            <a:spLocks noChangeArrowheads="1"/>
          </p:cNvSpPr>
          <p:nvPr/>
        </p:nvSpPr>
        <p:spPr bwMode="auto">
          <a:xfrm flipH="1">
            <a:off x="4873417" y="2429910"/>
            <a:ext cx="69048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QUIC</a:t>
            </a:r>
            <a:endParaRPr lang="zh-CN" altLang="en-US" sz="1600" dirty="0"/>
          </a:p>
        </p:txBody>
      </p:sp>
      <p:sp>
        <p:nvSpPr>
          <p:cNvPr id="26" name="Text Box 18">
            <a:extLst>
              <a:ext uri="{FF2B5EF4-FFF2-40B4-BE49-F238E27FC236}">
                <a16:creationId xmlns:a16="http://schemas.microsoft.com/office/drawing/2014/main" id="{753383FD-2F8C-9FAC-A9C4-A5548B67A2AB}"/>
              </a:ext>
            </a:extLst>
          </p:cNvPr>
          <p:cNvSpPr txBox="1">
            <a:spLocks noChangeArrowheads="1"/>
          </p:cNvSpPr>
          <p:nvPr/>
        </p:nvSpPr>
        <p:spPr bwMode="auto">
          <a:xfrm flipH="1">
            <a:off x="6275659" y="2100900"/>
            <a:ext cx="1562051"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dirty="0"/>
              <a:t>帧，报文，流</a:t>
            </a:r>
          </a:p>
        </p:txBody>
      </p:sp>
      <p:sp>
        <p:nvSpPr>
          <p:cNvPr id="27" name="Text Box 18">
            <a:extLst>
              <a:ext uri="{FF2B5EF4-FFF2-40B4-BE49-F238E27FC236}">
                <a16:creationId xmlns:a16="http://schemas.microsoft.com/office/drawing/2014/main" id="{87FB6AF9-E2AC-7313-A688-79C6C5AB6957}"/>
              </a:ext>
            </a:extLst>
          </p:cNvPr>
          <p:cNvSpPr txBox="1">
            <a:spLocks noChangeArrowheads="1"/>
          </p:cNvSpPr>
          <p:nvPr/>
        </p:nvSpPr>
        <p:spPr bwMode="auto">
          <a:xfrm flipH="1">
            <a:off x="6248365" y="2764892"/>
            <a:ext cx="1589344"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dirty="0"/>
              <a:t>帧，分组，流</a:t>
            </a:r>
          </a:p>
        </p:txBody>
      </p:sp>
      <p:sp>
        <p:nvSpPr>
          <p:cNvPr id="28" name="Text Box 18">
            <a:extLst>
              <a:ext uri="{FF2B5EF4-FFF2-40B4-BE49-F238E27FC236}">
                <a16:creationId xmlns:a16="http://schemas.microsoft.com/office/drawing/2014/main" id="{B2CEDC6F-9B64-0E2E-043C-C3EF7D16A373}"/>
              </a:ext>
            </a:extLst>
          </p:cNvPr>
          <p:cNvSpPr txBox="1">
            <a:spLocks noChangeArrowheads="1"/>
          </p:cNvSpPr>
          <p:nvPr/>
        </p:nvSpPr>
        <p:spPr bwMode="auto">
          <a:xfrm flipH="1">
            <a:off x="4305628" y="3114267"/>
            <a:ext cx="2047084"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dirty="0"/>
              <a:t>可靠传输，拥塞控制</a:t>
            </a:r>
          </a:p>
        </p:txBody>
      </p:sp>
      <p:sp>
        <p:nvSpPr>
          <p:cNvPr id="29" name="Text Box 18">
            <a:extLst>
              <a:ext uri="{FF2B5EF4-FFF2-40B4-BE49-F238E27FC236}">
                <a16:creationId xmlns:a16="http://schemas.microsoft.com/office/drawing/2014/main" id="{7D6F6590-AC13-125E-827E-C356D7B7CEEF}"/>
              </a:ext>
            </a:extLst>
          </p:cNvPr>
          <p:cNvSpPr txBox="1">
            <a:spLocks noChangeArrowheads="1"/>
          </p:cNvSpPr>
          <p:nvPr/>
        </p:nvSpPr>
        <p:spPr bwMode="auto">
          <a:xfrm flipH="1">
            <a:off x="6275659" y="3455724"/>
            <a:ext cx="1308895"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dirty="0"/>
              <a:t>用户数据报</a:t>
            </a:r>
          </a:p>
        </p:txBody>
      </p:sp>
      <p:sp>
        <p:nvSpPr>
          <p:cNvPr id="30" name="Text Box 18">
            <a:extLst>
              <a:ext uri="{FF2B5EF4-FFF2-40B4-BE49-F238E27FC236}">
                <a16:creationId xmlns:a16="http://schemas.microsoft.com/office/drawing/2014/main" id="{B2A17F9D-25E1-51BD-410C-541BB63D407D}"/>
              </a:ext>
            </a:extLst>
          </p:cNvPr>
          <p:cNvSpPr txBox="1">
            <a:spLocks noChangeArrowheads="1"/>
          </p:cNvSpPr>
          <p:nvPr/>
        </p:nvSpPr>
        <p:spPr bwMode="auto">
          <a:xfrm flipH="1">
            <a:off x="755325" y="2234362"/>
            <a:ext cx="1502796"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dirty="0"/>
              <a:t>帧，报文，流</a:t>
            </a:r>
          </a:p>
        </p:txBody>
      </p:sp>
      <p:sp>
        <p:nvSpPr>
          <p:cNvPr id="31" name="Text Box 18">
            <a:extLst>
              <a:ext uri="{FF2B5EF4-FFF2-40B4-BE49-F238E27FC236}">
                <a16:creationId xmlns:a16="http://schemas.microsoft.com/office/drawing/2014/main" id="{452904B0-CCD1-9FC8-0DAF-F4E3D4BDD705}"/>
              </a:ext>
            </a:extLst>
          </p:cNvPr>
          <p:cNvSpPr txBox="1">
            <a:spLocks noChangeArrowheads="1"/>
          </p:cNvSpPr>
          <p:nvPr/>
        </p:nvSpPr>
        <p:spPr bwMode="auto">
          <a:xfrm flipH="1">
            <a:off x="1293786" y="3295617"/>
            <a:ext cx="839142"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r" eaLnBrk="1" hangingPunct="1">
              <a:spcBef>
                <a:spcPct val="0"/>
              </a:spcBef>
              <a:buFontTx/>
              <a:buNone/>
            </a:pPr>
            <a:r>
              <a:rPr lang="zh-CN" altLang="en-US" sz="1600" dirty="0"/>
              <a:t>报文段</a:t>
            </a:r>
          </a:p>
        </p:txBody>
      </p:sp>
      <p:sp>
        <p:nvSpPr>
          <p:cNvPr id="32" name="Text Box 18">
            <a:extLst>
              <a:ext uri="{FF2B5EF4-FFF2-40B4-BE49-F238E27FC236}">
                <a16:creationId xmlns:a16="http://schemas.microsoft.com/office/drawing/2014/main" id="{4E177813-A3A8-10AB-C28D-999FBBE44CE7}"/>
              </a:ext>
            </a:extLst>
          </p:cNvPr>
          <p:cNvSpPr txBox="1">
            <a:spLocks noChangeArrowheads="1"/>
          </p:cNvSpPr>
          <p:nvPr/>
        </p:nvSpPr>
        <p:spPr bwMode="auto">
          <a:xfrm flipH="1">
            <a:off x="6275660" y="3865337"/>
            <a:ext cx="1124728"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IP </a:t>
            </a:r>
            <a:r>
              <a:rPr lang="zh-CN" altLang="en-US" sz="1600" dirty="0"/>
              <a:t>数据报</a:t>
            </a:r>
          </a:p>
        </p:txBody>
      </p:sp>
      <p:sp>
        <p:nvSpPr>
          <p:cNvPr id="33" name="Text Box 18">
            <a:extLst>
              <a:ext uri="{FF2B5EF4-FFF2-40B4-BE49-F238E27FC236}">
                <a16:creationId xmlns:a16="http://schemas.microsoft.com/office/drawing/2014/main" id="{112FD958-8824-1B76-D8FC-EF00B7E991E9}"/>
              </a:ext>
            </a:extLst>
          </p:cNvPr>
          <p:cNvSpPr txBox="1">
            <a:spLocks noChangeArrowheads="1"/>
          </p:cNvSpPr>
          <p:nvPr/>
        </p:nvSpPr>
        <p:spPr bwMode="auto">
          <a:xfrm flipH="1">
            <a:off x="1116068" y="3863601"/>
            <a:ext cx="1036460" cy="338554"/>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dirty="0"/>
              <a:t>IP </a:t>
            </a:r>
            <a:r>
              <a:rPr lang="zh-CN" altLang="en-US" sz="1600" dirty="0"/>
              <a:t>数据报</a:t>
            </a:r>
          </a:p>
        </p:txBody>
      </p:sp>
      <p:cxnSp>
        <p:nvCxnSpPr>
          <p:cNvPr id="34" name="直接连接符 33">
            <a:extLst>
              <a:ext uri="{FF2B5EF4-FFF2-40B4-BE49-F238E27FC236}">
                <a16:creationId xmlns:a16="http://schemas.microsoft.com/office/drawing/2014/main" id="{0D5BB1DE-B9E5-184B-A567-22A75BCC2CE0}"/>
              </a:ext>
            </a:extLst>
          </p:cNvPr>
          <p:cNvCxnSpPr>
            <a:cxnSpLocks/>
          </p:cNvCxnSpPr>
          <p:nvPr/>
        </p:nvCxnSpPr>
        <p:spPr>
          <a:xfrm flipV="1">
            <a:off x="6275589" y="3742813"/>
            <a:ext cx="1562120" cy="1237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1739BB2E-688B-AFD2-2B05-186A976AD481}"/>
              </a:ext>
            </a:extLst>
          </p:cNvPr>
          <p:cNvCxnSpPr>
            <a:cxnSpLocks/>
          </p:cNvCxnSpPr>
          <p:nvPr/>
        </p:nvCxnSpPr>
        <p:spPr>
          <a:xfrm flipV="1">
            <a:off x="704426" y="3210143"/>
            <a:ext cx="1401015" cy="526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CE2B5377-1739-202D-41E9-4B08E5FB881D}"/>
              </a:ext>
            </a:extLst>
          </p:cNvPr>
          <p:cNvCxnSpPr>
            <a:cxnSpLocks/>
          </p:cNvCxnSpPr>
          <p:nvPr/>
        </p:nvCxnSpPr>
        <p:spPr>
          <a:xfrm>
            <a:off x="728106" y="3742813"/>
            <a:ext cx="1385288" cy="1405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0C9BAA2A-BB05-EA6D-9C5E-2271ADC012A4}"/>
              </a:ext>
            </a:extLst>
          </p:cNvPr>
          <p:cNvCxnSpPr>
            <a:cxnSpLocks/>
          </p:cNvCxnSpPr>
          <p:nvPr/>
        </p:nvCxnSpPr>
        <p:spPr>
          <a:xfrm flipV="1">
            <a:off x="6259104" y="3470436"/>
            <a:ext cx="1578605" cy="397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7BA4EA42-2C03-EEEB-6B7E-98693CE49145}"/>
              </a:ext>
            </a:extLst>
          </p:cNvPr>
          <p:cNvCxnSpPr>
            <a:cxnSpLocks/>
          </p:cNvCxnSpPr>
          <p:nvPr/>
        </p:nvCxnSpPr>
        <p:spPr>
          <a:xfrm>
            <a:off x="6275589" y="2441882"/>
            <a:ext cx="1593081" cy="46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5" name="Rectangle 68"/>
          <p:cNvSpPr>
            <a:spLocks noChangeArrowheads="1"/>
          </p:cNvSpPr>
          <p:nvPr/>
        </p:nvSpPr>
        <p:spPr bwMode="auto">
          <a:xfrm>
            <a:off x="556963" y="1052392"/>
            <a:ext cx="8048776" cy="5155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9900CC"/>
              </a:buClr>
              <a:buSzPct val="95000"/>
            </a:pPr>
            <a:r>
              <a:rPr lang="en-US" altLang="zh-CN" sz="2000" b="1" dirty="0" smtClean="0">
                <a:latin typeface="微软雅黑" pitchFamily="34" charset="-122"/>
                <a:ea typeface="微软雅黑" pitchFamily="34" charset="-122"/>
              </a:rPr>
              <a:t>HTTP/3</a:t>
            </a:r>
            <a:r>
              <a:rPr lang="zh-CN" altLang="en-US" sz="2000" b="1" dirty="0" smtClean="0">
                <a:latin typeface="微软雅黑" pitchFamily="34" charset="-122"/>
                <a:ea typeface="微软雅黑" pitchFamily="34" charset="-122"/>
              </a:rPr>
              <a:t>不再使用</a:t>
            </a:r>
            <a:r>
              <a:rPr lang="en-US" altLang="zh-CN" sz="2000" b="1" dirty="0" smtClean="0">
                <a:latin typeface="微软雅黑" pitchFamily="34" charset="-122"/>
                <a:ea typeface="微软雅黑" pitchFamily="34" charset="-122"/>
              </a:rPr>
              <a:t>TCP</a:t>
            </a:r>
            <a:r>
              <a:rPr lang="zh-CN" altLang="en-US" sz="2000" b="1" dirty="0" smtClean="0">
                <a:latin typeface="微软雅黑" pitchFamily="34" charset="-122"/>
                <a:ea typeface="微软雅黑" pitchFamily="34" charset="-122"/>
              </a:rPr>
              <a:t>，而是把</a:t>
            </a:r>
            <a:r>
              <a:rPr lang="zh-CN" altLang="en-US" sz="2000" b="1" dirty="0">
                <a:latin typeface="微软雅黑" pitchFamily="34" charset="-122"/>
                <a:ea typeface="微软雅黑" pitchFamily="34" charset="-122"/>
              </a:rPr>
              <a:t>二进制的帧复用在</a:t>
            </a:r>
            <a:r>
              <a:rPr lang="en-US" altLang="zh-CN" sz="2000" b="1" dirty="0">
                <a:latin typeface="微软雅黑" pitchFamily="34" charset="-122"/>
                <a:ea typeface="微软雅黑" pitchFamily="34" charset="-122"/>
              </a:rPr>
              <a:t>QUIC</a:t>
            </a:r>
            <a:r>
              <a:rPr lang="zh-CN" altLang="en-US" sz="2000" b="1" dirty="0">
                <a:latin typeface="微软雅黑" pitchFamily="34" charset="-122"/>
                <a:ea typeface="微软雅黑" pitchFamily="34" charset="-122"/>
              </a:rPr>
              <a:t>连接上</a:t>
            </a:r>
            <a:r>
              <a:rPr lang="zh-CN" altLang="en-US" sz="2000" b="1" dirty="0" smtClean="0">
                <a:latin typeface="微软雅黑" pitchFamily="34" charset="-122"/>
                <a:ea typeface="微软雅黑" pitchFamily="34" charset="-122"/>
              </a:rPr>
              <a:t>传输。</a:t>
            </a:r>
            <a:endParaRPr lang="en-US" altLang="zh-CN" sz="2000" b="1" dirty="0" smtClean="0">
              <a:latin typeface="微软雅黑" pitchFamily="34" charset="-122"/>
              <a:ea typeface="微软雅黑" pitchFamily="34" charset="-122"/>
            </a:endParaRPr>
          </a:p>
        </p:txBody>
      </p:sp>
    </p:spTree>
    <p:extLst>
      <p:ext uri="{BB962C8B-B14F-4D97-AF65-F5344CB8AC3E}">
        <p14:creationId xmlns:p14="http://schemas.microsoft.com/office/powerpoint/2010/main" val="18326779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5814"/>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693129" y="572603"/>
            <a:ext cx="17764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代理服务器</a:t>
            </a:r>
          </a:p>
        </p:txBody>
      </p:sp>
      <p:sp>
        <p:nvSpPr>
          <p:cNvPr id="10" name="Rectangle 68"/>
          <p:cNvSpPr>
            <a:spLocks noChangeArrowheads="1"/>
          </p:cNvSpPr>
          <p:nvPr/>
        </p:nvSpPr>
        <p:spPr bwMode="auto">
          <a:xfrm>
            <a:off x="483810" y="966904"/>
            <a:ext cx="8206233"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代理服务器 </a:t>
            </a:r>
            <a:r>
              <a:rPr lang="en-US" altLang="zh-CN" sz="2000" b="1" dirty="0">
                <a:latin typeface="微软雅黑" pitchFamily="34" charset="-122"/>
                <a:ea typeface="微软雅黑" pitchFamily="34" charset="-122"/>
              </a:rPr>
              <a:t>(proxy server) </a:t>
            </a: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万维网高速缓存 </a:t>
            </a:r>
            <a:r>
              <a:rPr lang="en-US" altLang="zh-CN" sz="2000" b="1" dirty="0">
                <a:latin typeface="微软雅黑" pitchFamily="34" charset="-122"/>
                <a:ea typeface="微软雅黑" pitchFamily="34" charset="-122"/>
              </a:rPr>
              <a:t>(Web cache)</a:t>
            </a:r>
            <a:r>
              <a:rPr lang="zh-CN" altLang="en-US" sz="2000" b="1" dirty="0">
                <a:latin typeface="微软雅黑" pitchFamily="34" charset="-122"/>
                <a:ea typeface="微软雅黑" pitchFamily="34" charset="-122"/>
              </a:rPr>
              <a:t>，它代表浏览器发出 </a:t>
            </a: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使用高速缓存可</a:t>
            </a:r>
            <a:r>
              <a:rPr lang="zh-CN" altLang="en-US" sz="2000" b="1" dirty="0">
                <a:solidFill>
                  <a:srgbClr val="C00000"/>
                </a:solidFill>
                <a:latin typeface="微软雅黑" pitchFamily="34" charset="-122"/>
                <a:ea typeface="微软雅黑" pitchFamily="34" charset="-122"/>
              </a:rPr>
              <a:t>减少</a:t>
            </a:r>
            <a:r>
              <a:rPr lang="zh-CN" altLang="en-US" sz="2000" b="1" dirty="0">
                <a:latin typeface="微软雅黑" pitchFamily="34" charset="-122"/>
                <a:ea typeface="微软雅黑" pitchFamily="34" charset="-122"/>
              </a:rPr>
              <a:t>访问互联网服务器的</a:t>
            </a:r>
            <a:r>
              <a:rPr lang="zh-CN" altLang="en-US" sz="2000" b="1" dirty="0" smtClean="0">
                <a:solidFill>
                  <a:srgbClr val="C00000"/>
                </a:solidFill>
                <a:latin typeface="微软雅黑" pitchFamily="34" charset="-122"/>
                <a:ea typeface="微软雅黑" pitchFamily="34" charset="-122"/>
              </a:rPr>
              <a:t>时延。</a:t>
            </a:r>
            <a:endParaRPr lang="zh-CN" altLang="en-US"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7261306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2" name="Group 1504"/>
          <p:cNvGrpSpPr>
            <a:grpSpLocks/>
          </p:cNvGrpSpPr>
          <p:nvPr/>
        </p:nvGrpSpPr>
        <p:grpSpPr bwMode="auto">
          <a:xfrm>
            <a:off x="697569"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3" name="Group 1505"/>
            <p:cNvGrpSpPr>
              <a:grpSpLocks/>
            </p:cNvGrpSpPr>
            <p:nvPr/>
          </p:nvGrpSpPr>
          <p:grpSpPr bwMode="auto">
            <a:xfrm>
              <a:off x="109" y="1226"/>
              <a:ext cx="2516" cy="1675"/>
              <a:chOff x="109" y="1226"/>
              <a:chExt cx="2516" cy="1675"/>
            </a:xfrm>
            <a:grpFill/>
          </p:grpSpPr>
          <p:grpSp>
            <p:nvGrpSpPr>
              <p:cNvPr id="135" name="Group 1506"/>
              <p:cNvGrpSpPr>
                <a:grpSpLocks/>
              </p:cNvGrpSpPr>
              <p:nvPr/>
            </p:nvGrpSpPr>
            <p:grpSpPr bwMode="auto">
              <a:xfrm>
                <a:off x="109" y="1226"/>
                <a:ext cx="2516" cy="1675"/>
                <a:chOff x="109" y="1226"/>
                <a:chExt cx="2516" cy="1675"/>
              </a:xfrm>
              <a:grpFill/>
            </p:grpSpPr>
            <p:sp>
              <p:nvSpPr>
                <p:cNvPr id="137"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8"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9"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0"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1"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2"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3"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4"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6"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51886"/>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不</a:t>
            </a:r>
            <a:r>
              <a:rPr lang="zh-CN" altLang="en-US" sz="2000" b="1" dirty="0">
                <a:latin typeface="微软雅黑" pitchFamily="34" charset="-122"/>
                <a:ea typeface="微软雅黑" pitchFamily="34" charset="-122"/>
              </a:rPr>
              <a:t>使用代理服务器的情况</a:t>
            </a:r>
          </a:p>
        </p:txBody>
      </p:sp>
      <p:graphicFrame>
        <p:nvGraphicFramePr>
          <p:cNvPr id="31" name="Object 44"/>
          <p:cNvGraphicFramePr>
            <a:graphicFrameLocks noChangeAspect="1"/>
          </p:cNvGraphicFramePr>
          <p:nvPr>
            <p:extLst/>
          </p:nvPr>
        </p:nvGraphicFramePr>
        <p:xfrm>
          <a:off x="6185200" y="2209150"/>
          <a:ext cx="1509164" cy="951134"/>
        </p:xfrm>
        <a:graphic>
          <a:graphicData uri="http://schemas.openxmlformats.org/presentationml/2006/ole">
            <mc:AlternateContent xmlns:mc="http://schemas.openxmlformats.org/markup-compatibility/2006">
              <mc:Choice xmlns:v="urn:schemas-microsoft-com:vml" Requires="v">
                <p:oleObj spid="_x0000_s3097" name="VISIO" r:id="rId5" imgW="1687068" imgH="964692" progId="">
                  <p:embed/>
                </p:oleObj>
              </mc:Choice>
              <mc:Fallback>
                <p:oleObj name="VISIO" r:id="rId5" imgW="1687068" imgH="964692" progId="">
                  <p:embed/>
                  <p:pic>
                    <p:nvPicPr>
                      <p:cNvPr id="31" name="Object 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85200" y="2209150"/>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790053" y="2673908"/>
            <a:ext cx="2154462"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46"/>
          <p:cNvSpPr>
            <a:spLocks noChangeShapeType="1"/>
          </p:cNvSpPr>
          <p:nvPr/>
        </p:nvSpPr>
        <p:spPr bwMode="auto">
          <a:xfrm>
            <a:off x="7119321" y="3095434"/>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47"/>
          <p:cNvSpPr>
            <a:spLocks noChangeShapeType="1"/>
          </p:cNvSpPr>
          <p:nvPr/>
        </p:nvSpPr>
        <p:spPr bwMode="auto">
          <a:xfrm>
            <a:off x="7439368" y="2864856"/>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48"/>
          <p:cNvSpPr>
            <a:spLocks noChangeShapeType="1"/>
          </p:cNvSpPr>
          <p:nvPr/>
        </p:nvSpPr>
        <p:spPr bwMode="auto">
          <a:xfrm flipV="1">
            <a:off x="7464087" y="2301622"/>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49"/>
          <p:cNvSpPr>
            <a:spLocks noChangeShapeType="1"/>
          </p:cNvSpPr>
          <p:nvPr/>
        </p:nvSpPr>
        <p:spPr bwMode="auto">
          <a:xfrm flipV="1">
            <a:off x="7093301" y="1790027"/>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2"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Line 119"/>
          <p:cNvSpPr>
            <a:spLocks noChangeShapeType="1"/>
          </p:cNvSpPr>
          <p:nvPr/>
        </p:nvSpPr>
        <p:spPr bwMode="auto">
          <a:xfrm>
            <a:off x="2416194" y="2667905"/>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06" name="Group 120"/>
          <p:cNvGrpSpPr>
            <a:grpSpLocks/>
          </p:cNvGrpSpPr>
          <p:nvPr/>
        </p:nvGrpSpPr>
        <p:grpSpPr bwMode="auto">
          <a:xfrm>
            <a:off x="3483017" y="2506981"/>
            <a:ext cx="477468" cy="309839"/>
            <a:chOff x="2154" y="3033"/>
            <a:chExt cx="309" cy="192"/>
          </a:xfrm>
        </p:grpSpPr>
        <p:sp>
          <p:nvSpPr>
            <p:cNvPr id="107"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8"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9"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0"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111" name="Group 125"/>
            <p:cNvGrpSpPr>
              <a:grpSpLocks/>
            </p:cNvGrpSpPr>
            <p:nvPr/>
          </p:nvGrpSpPr>
          <p:grpSpPr bwMode="auto">
            <a:xfrm>
              <a:off x="2201" y="3046"/>
              <a:ext cx="214" cy="86"/>
              <a:chOff x="2201" y="3046"/>
              <a:chExt cx="214" cy="86"/>
            </a:xfrm>
          </p:grpSpPr>
          <p:grpSp>
            <p:nvGrpSpPr>
              <p:cNvPr id="114" name="Group 126"/>
              <p:cNvGrpSpPr>
                <a:grpSpLocks/>
              </p:cNvGrpSpPr>
              <p:nvPr/>
            </p:nvGrpSpPr>
            <p:grpSpPr bwMode="auto">
              <a:xfrm>
                <a:off x="2201" y="3046"/>
                <a:ext cx="212" cy="84"/>
                <a:chOff x="2201" y="3046"/>
                <a:chExt cx="212" cy="84"/>
              </a:xfrm>
            </p:grpSpPr>
            <p:sp>
              <p:nvSpPr>
                <p:cNvPr id="124"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5"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6"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7"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8"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9"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0"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1"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5" name="Group 135"/>
              <p:cNvGrpSpPr>
                <a:grpSpLocks/>
              </p:cNvGrpSpPr>
              <p:nvPr/>
            </p:nvGrpSpPr>
            <p:grpSpPr bwMode="auto">
              <a:xfrm>
                <a:off x="2203" y="3048"/>
                <a:ext cx="212" cy="84"/>
                <a:chOff x="2203" y="3048"/>
                <a:chExt cx="212" cy="84"/>
              </a:xfrm>
            </p:grpSpPr>
            <p:sp>
              <p:nvSpPr>
                <p:cNvPr id="116"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7"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9"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0"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1"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2"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3"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112"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3"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40" name="Rectangle 254"/>
          <p:cNvSpPr>
            <a:spLocks noChangeArrowheads="1"/>
          </p:cNvSpPr>
          <p:nvPr/>
        </p:nvSpPr>
        <p:spPr bwMode="auto">
          <a:xfrm>
            <a:off x="2626957" y="1864485"/>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41" name="Rectangle 255"/>
          <p:cNvSpPr>
            <a:spLocks noChangeArrowheads="1"/>
          </p:cNvSpPr>
          <p:nvPr/>
        </p:nvSpPr>
        <p:spPr bwMode="auto">
          <a:xfrm>
            <a:off x="2668104" y="1546706"/>
            <a:ext cx="7342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263" name="Rectangle 279"/>
          <p:cNvSpPr>
            <a:spLocks noChangeArrowheads="1"/>
          </p:cNvSpPr>
          <p:nvPr/>
        </p:nvSpPr>
        <p:spPr bwMode="auto">
          <a:xfrm>
            <a:off x="6603463" y="1564493"/>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smtClean="0">
                <a:latin typeface="微软雅黑" pitchFamily="34" charset="-122"/>
                <a:ea typeface="微软雅黑" pitchFamily="34" charset="-122"/>
              </a:rPr>
              <a:t>源点服务器</a:t>
            </a:r>
            <a:endParaRPr kumimoji="1" lang="zh-CN" altLang="en-US" sz="1200" b="1" dirty="0">
              <a:latin typeface="微软雅黑" pitchFamily="34" charset="-122"/>
              <a:ea typeface="微软雅黑" pitchFamily="34" charset="-122"/>
            </a:endParaRPr>
          </a:p>
        </p:txBody>
      </p:sp>
      <p:sp>
        <p:nvSpPr>
          <p:cNvPr id="264" name="Rectangle 280"/>
          <p:cNvSpPr>
            <a:spLocks noChangeArrowheads="1"/>
          </p:cNvSpPr>
          <p:nvPr/>
        </p:nvSpPr>
        <p:spPr bwMode="auto">
          <a:xfrm>
            <a:off x="4168645" y="2346056"/>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5" name="Rectangle 281"/>
          <p:cNvSpPr>
            <a:spLocks noChangeArrowheads="1"/>
          </p:cNvSpPr>
          <p:nvPr/>
        </p:nvSpPr>
        <p:spPr bwMode="auto">
          <a:xfrm>
            <a:off x="4728140" y="2400097"/>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266" name="Group 282"/>
          <p:cNvGrpSpPr>
            <a:grpSpLocks/>
          </p:cNvGrpSpPr>
          <p:nvPr/>
        </p:nvGrpSpPr>
        <p:grpSpPr bwMode="auto">
          <a:xfrm>
            <a:off x="5783191" y="2506981"/>
            <a:ext cx="477468" cy="309839"/>
            <a:chOff x="3202" y="3033"/>
            <a:chExt cx="309" cy="192"/>
          </a:xfrm>
        </p:grpSpPr>
        <p:sp>
          <p:nvSpPr>
            <p:cNvPr id="267"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8"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9"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70"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71" name="Group 287"/>
            <p:cNvGrpSpPr>
              <a:grpSpLocks/>
            </p:cNvGrpSpPr>
            <p:nvPr/>
          </p:nvGrpSpPr>
          <p:grpSpPr bwMode="auto">
            <a:xfrm>
              <a:off x="3249" y="3046"/>
              <a:ext cx="214" cy="86"/>
              <a:chOff x="3249" y="3046"/>
              <a:chExt cx="214" cy="86"/>
            </a:xfrm>
          </p:grpSpPr>
          <p:grpSp>
            <p:nvGrpSpPr>
              <p:cNvPr id="274" name="Group 288"/>
              <p:cNvGrpSpPr>
                <a:grpSpLocks/>
              </p:cNvGrpSpPr>
              <p:nvPr/>
            </p:nvGrpSpPr>
            <p:grpSpPr bwMode="auto">
              <a:xfrm>
                <a:off x="3249" y="3046"/>
                <a:ext cx="212" cy="84"/>
                <a:chOff x="3249" y="3046"/>
                <a:chExt cx="212" cy="84"/>
              </a:xfrm>
            </p:grpSpPr>
            <p:sp>
              <p:nvSpPr>
                <p:cNvPr id="284"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5"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6"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9"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0"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1"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75" name="Group 297"/>
              <p:cNvGrpSpPr>
                <a:grpSpLocks/>
              </p:cNvGrpSpPr>
              <p:nvPr/>
            </p:nvGrpSpPr>
            <p:grpSpPr bwMode="auto">
              <a:xfrm>
                <a:off x="3251" y="3048"/>
                <a:ext cx="212" cy="84"/>
                <a:chOff x="3251" y="3048"/>
                <a:chExt cx="212" cy="84"/>
              </a:xfrm>
            </p:grpSpPr>
            <p:sp>
              <p:nvSpPr>
                <p:cNvPr id="276"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8"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9"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0"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1"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2"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3"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72"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3"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92" name="Rectangle 308"/>
          <p:cNvSpPr>
            <a:spLocks noChangeArrowheads="1"/>
          </p:cNvSpPr>
          <p:nvPr/>
        </p:nvSpPr>
        <p:spPr bwMode="auto">
          <a:xfrm>
            <a:off x="6269767" y="2156310"/>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3" name="Rectangle 309"/>
          <p:cNvSpPr>
            <a:spLocks noChangeArrowheads="1"/>
          </p:cNvSpPr>
          <p:nvPr/>
        </p:nvSpPr>
        <p:spPr bwMode="auto">
          <a:xfrm>
            <a:off x="6652101" y="2597050"/>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294" name="Rectangle 310"/>
          <p:cNvSpPr>
            <a:spLocks noChangeArrowheads="1"/>
          </p:cNvSpPr>
          <p:nvPr/>
        </p:nvSpPr>
        <p:spPr bwMode="auto">
          <a:xfrm>
            <a:off x="3748421" y="2229566"/>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5" name="Rectangle 311"/>
          <p:cNvSpPr>
            <a:spLocks noChangeArrowheads="1"/>
          </p:cNvSpPr>
          <p:nvPr/>
        </p:nvSpPr>
        <p:spPr bwMode="auto">
          <a:xfrm>
            <a:off x="3047180" y="2813216"/>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7" name="Rectangle 313"/>
          <p:cNvSpPr>
            <a:spLocks noChangeArrowheads="1"/>
          </p:cNvSpPr>
          <p:nvPr/>
        </p:nvSpPr>
        <p:spPr bwMode="auto">
          <a:xfrm>
            <a:off x="1078421" y="2396014"/>
            <a:ext cx="5506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sp>
        <p:nvSpPr>
          <p:cNvPr id="298" name="Rectangle 314"/>
          <p:cNvSpPr>
            <a:spLocks noChangeArrowheads="1"/>
          </p:cNvSpPr>
          <p:nvPr/>
        </p:nvSpPr>
        <p:spPr bwMode="auto">
          <a:xfrm>
            <a:off x="3744519" y="22499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299" name="Rectangle 315"/>
          <p:cNvSpPr>
            <a:spLocks noChangeArrowheads="1"/>
          </p:cNvSpPr>
          <p:nvPr/>
        </p:nvSpPr>
        <p:spPr bwMode="auto">
          <a:xfrm>
            <a:off x="5892475" y="22511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grpSp>
        <p:nvGrpSpPr>
          <p:cNvPr id="301" name="Group 327"/>
          <p:cNvGrpSpPr>
            <a:grpSpLocks/>
          </p:cNvGrpSpPr>
          <p:nvPr/>
        </p:nvGrpSpPr>
        <p:grpSpPr bwMode="auto">
          <a:xfrm>
            <a:off x="4257114" y="1243238"/>
            <a:ext cx="2023638" cy="816364"/>
            <a:chOff x="2981" y="1888"/>
            <a:chExt cx="1066" cy="452"/>
          </a:xfrm>
        </p:grpSpPr>
        <p:sp>
          <p:nvSpPr>
            <p:cNvPr id="302" name="AutoShape 318"/>
            <p:cNvSpPr>
              <a:spLocks noChangeArrowheads="1"/>
            </p:cNvSpPr>
            <p:nvPr/>
          </p:nvSpPr>
          <p:spPr bwMode="auto">
            <a:xfrm>
              <a:off x="2981" y="1888"/>
              <a:ext cx="1066" cy="452"/>
            </a:xfrm>
            <a:prstGeom prst="wedgeRoundRectCallout">
              <a:avLst>
                <a:gd name="adj1" fmla="val -71127"/>
                <a:gd name="adj2" fmla="val 121631"/>
                <a:gd name="adj3" fmla="val 16667"/>
              </a:avLst>
            </a:prstGeom>
            <a:solidFill>
              <a:srgbClr val="66FF66"/>
            </a:solidFill>
            <a:ln w="9525">
              <a:solidFill>
                <a:schemeClr val="tx1"/>
              </a:solidFill>
              <a:miter lim="800000"/>
              <a:headEnd/>
              <a:tailEnd/>
            </a:ln>
            <a:effectLst/>
          </p:spPr>
          <p:txBody>
            <a:bodyPr/>
            <a:lstStyle/>
            <a:p>
              <a:pPr algn="ctr" eaLnBrk="1" hangingPunct="1"/>
              <a:endParaRPr kumimoji="1" lang="zh-CN" altLang="zh-CN" sz="1400" b="1">
                <a:solidFill>
                  <a:srgbClr val="000099"/>
                </a:solidFill>
                <a:latin typeface="微软雅黑" pitchFamily="34" charset="-122"/>
                <a:ea typeface="微软雅黑" pitchFamily="34" charset="-122"/>
              </a:endParaRPr>
            </a:p>
          </p:txBody>
        </p:sp>
        <p:sp>
          <p:nvSpPr>
            <p:cNvPr id="303" name="Rectangle 319"/>
            <p:cNvSpPr>
              <a:spLocks noChangeArrowheads="1"/>
            </p:cNvSpPr>
            <p:nvPr/>
          </p:nvSpPr>
          <p:spPr bwMode="auto">
            <a:xfrm>
              <a:off x="3086" y="1936"/>
              <a:ext cx="867"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lnSpc>
                  <a:spcPct val="120000"/>
                </a:lnSpc>
              </a:pPr>
              <a:r>
                <a:rPr kumimoji="1" lang="zh-CN" altLang="en-US" sz="1400" b="1" dirty="0">
                  <a:latin typeface="微软雅黑" pitchFamily="34" charset="-122"/>
                  <a:ea typeface="微软雅黑" pitchFamily="34" charset="-122"/>
                </a:rPr>
                <a:t>这条</a:t>
              </a:r>
              <a:r>
                <a:rPr kumimoji="1" lang="zh-CN" altLang="en-US" sz="1400" b="1" dirty="0" smtClean="0">
                  <a:latin typeface="微软雅黑" pitchFamily="34" charset="-122"/>
                  <a:ea typeface="微软雅黑" pitchFamily="34" charset="-122"/>
                </a:rPr>
                <a:t>链路通信量很大，导致时延增加。</a:t>
              </a:r>
              <a:endParaRPr kumimoji="1" lang="zh-CN" altLang="en-US" sz="1400" b="1" dirty="0">
                <a:latin typeface="微软雅黑" pitchFamily="34" charset="-122"/>
                <a:ea typeface="微软雅黑" pitchFamily="34" charset="-122"/>
              </a:endParaRPr>
            </a:p>
          </p:txBody>
        </p:sp>
      </p:grpSp>
      <p:pic>
        <p:nvPicPr>
          <p:cNvPr id="312" name="图片 311"/>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555184" y="1298671"/>
            <a:ext cx="441076" cy="617506"/>
          </a:xfrm>
          <a:prstGeom prst="rect">
            <a:avLst/>
          </a:prstGeom>
        </p:spPr>
      </p:pic>
      <p:pic>
        <p:nvPicPr>
          <p:cNvPr id="314" name="Picture 197"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5" name="Picture 197"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6" name="Picture 197"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7" name="Picture 197"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8" name="图片 317"/>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812360" y="1961158"/>
            <a:ext cx="441076" cy="617506"/>
          </a:xfrm>
          <a:prstGeom prst="rect">
            <a:avLst/>
          </a:prstGeom>
        </p:spPr>
      </p:pic>
      <p:pic>
        <p:nvPicPr>
          <p:cNvPr id="319" name="图片 318"/>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812360" y="2681238"/>
            <a:ext cx="441076" cy="617506"/>
          </a:xfrm>
          <a:prstGeom prst="rect">
            <a:avLst/>
          </a:prstGeom>
        </p:spPr>
      </p:pic>
      <p:pic>
        <p:nvPicPr>
          <p:cNvPr id="320" name="图片 319"/>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555184" y="3257302"/>
            <a:ext cx="441076" cy="617506"/>
          </a:xfrm>
          <a:prstGeom prst="rect">
            <a:avLst/>
          </a:prstGeom>
        </p:spPr>
      </p:pic>
      <p:sp>
        <p:nvSpPr>
          <p:cNvPr id="300" name="Freeform 316"/>
          <p:cNvSpPr>
            <a:spLocks/>
          </p:cNvSpPr>
          <p:nvPr/>
        </p:nvSpPr>
        <p:spPr bwMode="auto">
          <a:xfrm>
            <a:off x="3832987" y="1866886"/>
            <a:ext cx="3801532" cy="879078"/>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38100"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4" name="Freeform 320"/>
          <p:cNvSpPr>
            <a:spLocks/>
          </p:cNvSpPr>
          <p:nvPr/>
        </p:nvSpPr>
        <p:spPr bwMode="auto">
          <a:xfrm>
            <a:off x="1938726" y="1746794"/>
            <a:ext cx="1615846" cy="877877"/>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5" name="Freeform 321"/>
          <p:cNvSpPr>
            <a:spLocks/>
          </p:cNvSpPr>
          <p:nvPr/>
        </p:nvSpPr>
        <p:spPr bwMode="auto">
          <a:xfrm>
            <a:off x="2079234" y="2332845"/>
            <a:ext cx="1403783" cy="36628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6" name="Freeform 322"/>
          <p:cNvSpPr>
            <a:spLocks/>
          </p:cNvSpPr>
          <p:nvPr/>
        </p:nvSpPr>
        <p:spPr bwMode="auto">
          <a:xfrm>
            <a:off x="1437840" y="2741160"/>
            <a:ext cx="2079004" cy="28822"/>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7" name="Freeform 323"/>
          <p:cNvSpPr>
            <a:spLocks/>
          </p:cNvSpPr>
          <p:nvPr/>
        </p:nvSpPr>
        <p:spPr bwMode="auto">
          <a:xfrm>
            <a:off x="1938725" y="2794001"/>
            <a:ext cx="1628856" cy="489978"/>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308" name="Group 330"/>
          <p:cNvGrpSpPr>
            <a:grpSpLocks/>
          </p:cNvGrpSpPr>
          <p:nvPr/>
        </p:nvGrpSpPr>
        <p:grpSpPr bwMode="auto">
          <a:xfrm>
            <a:off x="4257114" y="2677477"/>
            <a:ext cx="1621051" cy="1008780"/>
            <a:chOff x="2712" y="2750"/>
            <a:chExt cx="1246" cy="840"/>
          </a:xfrm>
        </p:grpSpPr>
        <p:sp>
          <p:nvSpPr>
            <p:cNvPr id="309" name="Text Box 328"/>
            <p:cNvSpPr txBox="1">
              <a:spLocks noChangeArrowheads="1"/>
            </p:cNvSpPr>
            <p:nvPr/>
          </p:nvSpPr>
          <p:spPr bwMode="auto">
            <a:xfrm>
              <a:off x="2712" y="3154"/>
              <a:ext cx="1246" cy="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000099"/>
                  </a:solidFill>
                  <a:latin typeface="微软雅黑" pitchFamily="34" charset="-122"/>
                  <a:ea typeface="微软雅黑" pitchFamily="34" charset="-122"/>
                </a:rPr>
                <a:t>所有万维网通信量</a:t>
              </a:r>
            </a:p>
            <a:p>
              <a:pPr algn="ctr" eaLnBrk="1" hangingPunct="1"/>
              <a:r>
                <a:rPr lang="zh-CN" altLang="en-US" sz="1400" b="1" dirty="0">
                  <a:solidFill>
                    <a:srgbClr val="000099"/>
                  </a:solidFill>
                  <a:latin typeface="微软雅黑" pitchFamily="34" charset="-122"/>
                  <a:ea typeface="微软雅黑" pitchFamily="34" charset="-122"/>
                </a:rPr>
                <a:t>都经过这条链路</a:t>
              </a:r>
            </a:p>
          </p:txBody>
        </p:sp>
        <p:sp>
          <p:nvSpPr>
            <p:cNvPr id="310" name="Line 329"/>
            <p:cNvSpPr>
              <a:spLocks noChangeShapeType="1"/>
            </p:cNvSpPr>
            <p:nvPr/>
          </p:nvSpPr>
          <p:spPr bwMode="auto">
            <a:xfrm flipV="1">
              <a:off x="3334" y="2750"/>
              <a:ext cx="0" cy="402"/>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Tree>
    <p:custDataLst>
      <p:tags r:id="rId2"/>
    </p:custDataLst>
    <p:extLst>
      <p:ext uri="{BB962C8B-B14F-4D97-AF65-F5344CB8AC3E}">
        <p14:creationId xmlns:p14="http://schemas.microsoft.com/office/powerpoint/2010/main" val="31381091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500"/>
                                  </p:stCondLst>
                                  <p:childTnLst>
                                    <p:set>
                                      <p:cBhvr>
                                        <p:cTn id="9" dur="1" fill="hold">
                                          <p:stCondLst>
                                            <p:cond delay="0"/>
                                          </p:stCondLst>
                                        </p:cTn>
                                        <p:tgtEl>
                                          <p:spTgt spid="301"/>
                                        </p:tgtEl>
                                        <p:attrNameLst>
                                          <p:attrName>style.visibility</p:attrName>
                                        </p:attrNameLst>
                                      </p:cBhvr>
                                      <p:to>
                                        <p:strVal val="visible"/>
                                      </p:to>
                                    </p:set>
                                  </p:childTnLst>
                                </p:cTn>
                              </p:par>
                            </p:childTnLst>
                          </p:cTn>
                        </p:par>
                        <p:par>
                          <p:cTn id="10" fill="hold">
                            <p:stCondLst>
                              <p:cond delay="500"/>
                            </p:stCondLst>
                            <p:childTnLst>
                              <p:par>
                                <p:cTn id="11" presetID="35" presetClass="emph" presetSubtype="0" repeatCount="4000" fill="hold" nodeType="afterEffect">
                                  <p:stCondLst>
                                    <p:cond delay="0"/>
                                  </p:stCondLst>
                                  <p:childTnLst>
                                    <p:anim calcmode="discrete" valueType="str">
                                      <p:cBhvr>
                                        <p:cTn id="12" dur="500" fill="hold"/>
                                        <p:tgtEl>
                                          <p:spTgt spid="3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0"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1" name="Group 1505"/>
            <p:cNvGrpSpPr>
              <a:grpSpLocks/>
            </p:cNvGrpSpPr>
            <p:nvPr/>
          </p:nvGrpSpPr>
          <p:grpSpPr bwMode="auto">
            <a:xfrm>
              <a:off x="109" y="1226"/>
              <a:ext cx="2516" cy="1675"/>
              <a:chOff x="109" y="1226"/>
              <a:chExt cx="2516" cy="1675"/>
            </a:xfrm>
            <a:grpFill/>
          </p:grpSpPr>
          <p:grpSp>
            <p:nvGrpSpPr>
              <p:cNvPr id="123" name="Group 1506"/>
              <p:cNvGrpSpPr>
                <a:grpSpLocks/>
              </p:cNvGrpSpPr>
              <p:nvPr/>
            </p:nvGrpSpPr>
            <p:grpSpPr bwMode="auto">
              <a:xfrm>
                <a:off x="109" y="1226"/>
                <a:ext cx="2516" cy="1675"/>
                <a:chOff x="109" y="1226"/>
                <a:chExt cx="2516" cy="1675"/>
              </a:xfrm>
              <a:grpFill/>
            </p:grpSpPr>
            <p:sp>
              <p:nvSpPr>
                <p:cNvPr id="125"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1"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2"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3"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4"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4"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2"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7"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8"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9"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0"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4"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5"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4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48"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49"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1"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 name="矩形 9"/>
          <p:cNvSpPr/>
          <p:nvPr/>
        </p:nvSpPr>
        <p:spPr>
          <a:xfrm>
            <a:off x="645268" y="551886"/>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使用代理服务器的情况</a:t>
            </a:r>
          </a:p>
        </p:txBody>
      </p:sp>
      <p:graphicFrame>
        <p:nvGraphicFramePr>
          <p:cNvPr id="31" name="Object 44"/>
          <p:cNvGraphicFramePr>
            <a:graphicFrameLocks noChangeAspect="1"/>
          </p:cNvGraphicFramePr>
          <p:nvPr>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4121" name="VISIO" r:id="rId6" imgW="1687068" imgH="964692" progId="">
                  <p:embed/>
                </p:oleObj>
              </mc:Choice>
              <mc:Fallback>
                <p:oleObj name="VISIO" r:id="rId6" imgW="1687068" imgH="964692" progId="">
                  <p:embed/>
                  <p:pic>
                    <p:nvPicPr>
                      <p:cNvPr id="31" name="Object 4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43" name="Group 120"/>
          <p:cNvGrpSpPr>
            <a:grpSpLocks/>
          </p:cNvGrpSpPr>
          <p:nvPr/>
        </p:nvGrpSpPr>
        <p:grpSpPr bwMode="auto">
          <a:xfrm>
            <a:off x="3321527" y="2753930"/>
            <a:ext cx="477468" cy="309839"/>
            <a:chOff x="2154" y="3033"/>
            <a:chExt cx="309" cy="192"/>
          </a:xfrm>
        </p:grpSpPr>
        <p:sp>
          <p:nvSpPr>
            <p:cNvPr id="4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48" name="Group 125"/>
            <p:cNvGrpSpPr>
              <a:grpSpLocks/>
            </p:cNvGrpSpPr>
            <p:nvPr/>
          </p:nvGrpSpPr>
          <p:grpSpPr bwMode="auto">
            <a:xfrm>
              <a:off x="2201" y="3046"/>
              <a:ext cx="214" cy="86"/>
              <a:chOff x="2201" y="3046"/>
              <a:chExt cx="214" cy="86"/>
            </a:xfrm>
          </p:grpSpPr>
          <p:grpSp>
            <p:nvGrpSpPr>
              <p:cNvPr id="51" name="Group 126"/>
              <p:cNvGrpSpPr>
                <a:grpSpLocks/>
              </p:cNvGrpSpPr>
              <p:nvPr/>
            </p:nvGrpSpPr>
            <p:grpSpPr bwMode="auto">
              <a:xfrm>
                <a:off x="2201" y="3046"/>
                <a:ext cx="212" cy="84"/>
                <a:chOff x="2201" y="3046"/>
                <a:chExt cx="212" cy="84"/>
              </a:xfrm>
            </p:grpSpPr>
            <p:sp>
              <p:nvSpPr>
                <p:cNvPr id="6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52" name="Group 135"/>
              <p:cNvGrpSpPr>
                <a:grpSpLocks/>
              </p:cNvGrpSpPr>
              <p:nvPr/>
            </p:nvGrpSpPr>
            <p:grpSpPr bwMode="auto">
              <a:xfrm>
                <a:off x="2203" y="3048"/>
                <a:ext cx="212" cy="84"/>
                <a:chOff x="2203" y="3048"/>
                <a:chExt cx="212" cy="84"/>
              </a:xfrm>
            </p:grpSpPr>
            <p:sp>
              <p:nvSpPr>
                <p:cNvPr id="5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4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69" name="Rectangle 254"/>
          <p:cNvSpPr>
            <a:spLocks noChangeArrowheads="1"/>
          </p:cNvSpPr>
          <p:nvPr/>
        </p:nvSpPr>
        <p:spPr bwMode="auto">
          <a:xfrm>
            <a:off x="2513605" y="2079127"/>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1"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7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74" name="Group 282"/>
          <p:cNvGrpSpPr>
            <a:grpSpLocks/>
          </p:cNvGrpSpPr>
          <p:nvPr/>
        </p:nvGrpSpPr>
        <p:grpSpPr bwMode="auto">
          <a:xfrm>
            <a:off x="5669839" y="2721623"/>
            <a:ext cx="477468" cy="309839"/>
            <a:chOff x="3202" y="3033"/>
            <a:chExt cx="309" cy="192"/>
          </a:xfrm>
        </p:grpSpPr>
        <p:sp>
          <p:nvSpPr>
            <p:cNvPr id="7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79" name="Group 287"/>
            <p:cNvGrpSpPr>
              <a:grpSpLocks/>
            </p:cNvGrpSpPr>
            <p:nvPr/>
          </p:nvGrpSpPr>
          <p:grpSpPr bwMode="auto">
            <a:xfrm>
              <a:off x="3249" y="3046"/>
              <a:ext cx="214" cy="86"/>
              <a:chOff x="3249" y="3046"/>
              <a:chExt cx="214" cy="86"/>
            </a:xfrm>
          </p:grpSpPr>
          <p:grpSp>
            <p:nvGrpSpPr>
              <p:cNvPr id="82" name="Group 288"/>
              <p:cNvGrpSpPr>
                <a:grpSpLocks/>
              </p:cNvGrpSpPr>
              <p:nvPr/>
            </p:nvGrpSpPr>
            <p:grpSpPr bwMode="auto">
              <a:xfrm>
                <a:off x="3249" y="3046"/>
                <a:ext cx="212" cy="84"/>
                <a:chOff x="3249" y="3046"/>
                <a:chExt cx="212" cy="84"/>
              </a:xfrm>
            </p:grpSpPr>
            <p:sp>
              <p:nvSpPr>
                <p:cNvPr id="9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83" name="Group 297"/>
              <p:cNvGrpSpPr>
                <a:grpSpLocks/>
              </p:cNvGrpSpPr>
              <p:nvPr/>
            </p:nvGrpSpPr>
            <p:grpSpPr bwMode="auto">
              <a:xfrm>
                <a:off x="3251" y="3048"/>
                <a:ext cx="212" cy="84"/>
                <a:chOff x="3251" y="3048"/>
                <a:chExt cx="212" cy="84"/>
              </a:xfrm>
            </p:grpSpPr>
            <p:sp>
              <p:nvSpPr>
                <p:cNvPr id="8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8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0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02"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3" name="Rectangle 311"/>
          <p:cNvSpPr>
            <a:spLocks noChangeArrowheads="1"/>
          </p:cNvSpPr>
          <p:nvPr/>
        </p:nvSpPr>
        <p:spPr bwMode="auto">
          <a:xfrm>
            <a:off x="2933828" y="3027858"/>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0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12" name="图片 111"/>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17" name="图片 116"/>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18" name="图片 117"/>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19" name="图片 118"/>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pic>
        <p:nvPicPr>
          <p:cNvPr id="128" name="图片 127"/>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639810" y="3452412"/>
            <a:ext cx="441076" cy="617506"/>
          </a:xfrm>
          <a:prstGeom prst="rect">
            <a:avLst/>
          </a:prstGeom>
        </p:spPr>
      </p:pic>
      <p:cxnSp>
        <p:nvCxnSpPr>
          <p:cNvPr id="3" name="直接箭头连接符 2"/>
          <p:cNvCxnSpPr/>
          <p:nvPr/>
        </p:nvCxnSpPr>
        <p:spPr>
          <a:xfrm>
            <a:off x="1825374" y="1963801"/>
            <a:ext cx="1034974" cy="1620917"/>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接箭头连接符 128"/>
          <p:cNvCxnSpPr/>
          <p:nvPr/>
        </p:nvCxnSpPr>
        <p:spPr>
          <a:xfrm>
            <a:off x="1825374" y="2560698"/>
            <a:ext cx="881176" cy="1024020"/>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直接箭头连接符 129"/>
          <p:cNvCxnSpPr/>
          <p:nvPr/>
        </p:nvCxnSpPr>
        <p:spPr>
          <a:xfrm>
            <a:off x="1290296" y="2967888"/>
            <a:ext cx="1483088" cy="740362"/>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接箭头连接符 134"/>
          <p:cNvCxnSpPr/>
          <p:nvPr/>
        </p:nvCxnSpPr>
        <p:spPr>
          <a:xfrm>
            <a:off x="1775935" y="3573454"/>
            <a:ext cx="952317" cy="269593"/>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3322932" y="1058794"/>
            <a:ext cx="3563345" cy="867930"/>
          </a:xfrm>
          <a:prstGeom prst="rect">
            <a:avLst/>
          </a:prstGeom>
          <a:solidFill>
            <a:srgbClr val="66FF66"/>
          </a:solidFill>
          <a:ln>
            <a:solidFill>
              <a:schemeClr val="tx1"/>
            </a:solidFill>
          </a:ln>
        </p:spPr>
        <p:txBody>
          <a:bodyPr wrap="square">
            <a:spAutoFit/>
          </a:bodyPr>
          <a:lstStyle/>
          <a:p>
            <a:pPr algn="just">
              <a:lnSpc>
                <a:spcPct val="120000"/>
              </a:lnSpc>
            </a:pPr>
            <a:r>
              <a:rPr kumimoji="1" lang="en-US" altLang="zh-CN" sz="1400" b="1" dirty="0">
                <a:latin typeface="微软雅黑" pitchFamily="34" charset="-122"/>
                <a:ea typeface="微软雅黑" pitchFamily="34" charset="-122"/>
              </a:rPr>
              <a:t>(1) </a:t>
            </a:r>
            <a:r>
              <a:rPr kumimoji="1" lang="zh-CN" altLang="en-US" sz="1400" b="1" dirty="0">
                <a:latin typeface="微软雅黑" pitchFamily="34" charset="-122"/>
                <a:ea typeface="微软雅黑" pitchFamily="34" charset="-122"/>
              </a:rPr>
              <a:t>浏览器访问互联网的服务器时，先与校园网的代理服务器建立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连接，并向代理服务器发出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请求报文。</a:t>
            </a:r>
          </a:p>
        </p:txBody>
      </p:sp>
      <p:sp>
        <p:nvSpPr>
          <p:cNvPr id="143" name="Text Box 328"/>
          <p:cNvSpPr txBox="1">
            <a:spLocks noChangeArrowheads="1"/>
          </p:cNvSpPr>
          <p:nvPr/>
        </p:nvSpPr>
        <p:spPr bwMode="auto">
          <a:xfrm>
            <a:off x="3719642" y="3548615"/>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a:t>
            </a:r>
            <a:r>
              <a:rPr lang="zh-CN" altLang="en-US" sz="1400" b="1" dirty="0" smtClean="0">
                <a:solidFill>
                  <a:srgbClr val="000099"/>
                </a:solidFill>
                <a:latin typeface="微软雅黑" pitchFamily="34" charset="-122"/>
                <a:ea typeface="微软雅黑" pitchFamily="34" charset="-122"/>
              </a:rPr>
              <a:t>的</a:t>
            </a:r>
            <a:endParaRPr lang="en-US" altLang="zh-CN" sz="1400" b="1" dirty="0" smtClean="0">
              <a:solidFill>
                <a:srgbClr val="000099"/>
              </a:solidFill>
              <a:latin typeface="微软雅黑" pitchFamily="34" charset="-122"/>
              <a:ea typeface="微软雅黑" pitchFamily="34" charset="-122"/>
            </a:endParaRPr>
          </a:p>
          <a:p>
            <a:pPr algn="ctr"/>
            <a:r>
              <a:rPr lang="zh-CN" altLang="en-US" sz="1400" b="1" dirty="0" smtClean="0">
                <a:solidFill>
                  <a:srgbClr val="000099"/>
                </a:solidFill>
                <a:latin typeface="微软雅黑" pitchFamily="34" charset="-122"/>
                <a:ea typeface="微软雅黑" pitchFamily="34" charset="-122"/>
              </a:rPr>
              <a:t>代理服务器</a:t>
            </a:r>
            <a:endParaRPr lang="zh-CN" altLang="en-US" sz="1400" b="1" dirty="0">
              <a:solidFill>
                <a:srgbClr val="000099"/>
              </a:solidFill>
              <a:latin typeface="微软雅黑" pitchFamily="34" charset="-122"/>
              <a:ea typeface="微软雅黑" pitchFamily="34" charset="-122"/>
            </a:endParaRPr>
          </a:p>
        </p:txBody>
      </p:sp>
      <p:cxnSp>
        <p:nvCxnSpPr>
          <p:cNvPr id="147" name="直接箭头连接符 146"/>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2"/>
    </p:custDataLst>
    <p:extLst>
      <p:ext uri="{BB962C8B-B14F-4D97-AF65-F5344CB8AC3E}">
        <p14:creationId xmlns:p14="http://schemas.microsoft.com/office/powerpoint/2010/main" val="13790770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000"/>
                                        <p:tgtEl>
                                          <p:spTgt spid="3"/>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129"/>
                                        </p:tgtEl>
                                        <p:attrNameLst>
                                          <p:attrName>style.visibility</p:attrName>
                                        </p:attrNameLst>
                                      </p:cBhvr>
                                      <p:to>
                                        <p:strVal val="visible"/>
                                      </p:to>
                                    </p:set>
                                    <p:animEffect transition="in" filter="wipe(up)">
                                      <p:cBhvr>
                                        <p:cTn id="11" dur="2000"/>
                                        <p:tgtEl>
                                          <p:spTgt spid="129"/>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130"/>
                                        </p:tgtEl>
                                        <p:attrNameLst>
                                          <p:attrName>style.visibility</p:attrName>
                                        </p:attrNameLst>
                                      </p:cBhvr>
                                      <p:to>
                                        <p:strVal val="visible"/>
                                      </p:to>
                                    </p:set>
                                    <p:animEffect transition="in" filter="wipe(up)">
                                      <p:cBhvr>
                                        <p:cTn id="15" dur="2000"/>
                                        <p:tgtEl>
                                          <p:spTgt spid="130"/>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35"/>
                                        </p:tgtEl>
                                        <p:attrNameLst>
                                          <p:attrName>style.visibility</p:attrName>
                                        </p:attrNameLst>
                                      </p:cBhvr>
                                      <p:to>
                                        <p:strVal val="visible"/>
                                      </p:to>
                                    </p:set>
                                    <p:animEffect transition="in" filter="wipe(up)">
                                      <p:cBhvr>
                                        <p:cTn id="19" dur="20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圆角矩形 114"/>
          <p:cNvSpPr/>
          <p:nvPr/>
        </p:nvSpPr>
        <p:spPr>
          <a:xfrm>
            <a:off x="556963" y="950538"/>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9"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0" name="Group 1505"/>
            <p:cNvGrpSpPr>
              <a:grpSpLocks/>
            </p:cNvGrpSpPr>
            <p:nvPr/>
          </p:nvGrpSpPr>
          <p:grpSpPr bwMode="auto">
            <a:xfrm>
              <a:off x="109" y="1226"/>
              <a:ext cx="2516" cy="1675"/>
              <a:chOff x="109" y="1226"/>
              <a:chExt cx="2516" cy="1675"/>
            </a:xfrm>
            <a:grpFill/>
          </p:grpSpPr>
          <p:grpSp>
            <p:nvGrpSpPr>
              <p:cNvPr id="122" name="Group 1506"/>
              <p:cNvGrpSpPr>
                <a:grpSpLocks/>
              </p:cNvGrpSpPr>
              <p:nvPr/>
            </p:nvGrpSpPr>
            <p:grpSpPr bwMode="auto">
              <a:xfrm>
                <a:off x="109" y="1226"/>
                <a:ext cx="2516" cy="1675"/>
                <a:chOff x="109" y="1226"/>
                <a:chExt cx="2516" cy="1675"/>
              </a:xfrm>
              <a:grpFill/>
            </p:grpSpPr>
            <p:sp>
              <p:nvSpPr>
                <p:cNvPr id="124"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5"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8"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9"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0"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3"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1"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1"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2"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4"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5"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6"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7"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38"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9"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40"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2"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3"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4"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5"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90"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矩形 190"/>
          <p:cNvSpPr/>
          <p:nvPr/>
        </p:nvSpPr>
        <p:spPr>
          <a:xfrm>
            <a:off x="645268" y="55215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使用代理服务器的情况</a:t>
            </a:r>
          </a:p>
        </p:txBody>
      </p:sp>
      <p:graphicFrame>
        <p:nvGraphicFramePr>
          <p:cNvPr id="192" name="Object 44"/>
          <p:cNvGraphicFramePr>
            <a:graphicFrameLocks noChangeAspect="1"/>
          </p:cNvGraphicFramePr>
          <p:nvPr>
            <p:extLst/>
          </p:nvPr>
        </p:nvGraphicFramePr>
        <p:xfrm>
          <a:off x="6071848" y="2423794"/>
          <a:ext cx="1509164" cy="951134"/>
        </p:xfrm>
        <a:graphic>
          <a:graphicData uri="http://schemas.openxmlformats.org/presentationml/2006/ole">
            <mc:AlternateContent xmlns:mc="http://schemas.openxmlformats.org/markup-compatibility/2006">
              <mc:Choice xmlns:v="urn:schemas-microsoft-com:vml" Requires="v">
                <p:oleObj spid="_x0000_s5145" name="VISIO" r:id="rId5" imgW="1687068" imgH="964692" progId="">
                  <p:embed/>
                </p:oleObj>
              </mc:Choice>
              <mc:Fallback>
                <p:oleObj name="VISIO" r:id="rId5" imgW="1687068" imgH="964692" progId="">
                  <p:embed/>
                  <p:pic>
                    <p:nvPicPr>
                      <p:cNvPr id="192" name="Object 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71848" y="2423794"/>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93" name="Line 45"/>
          <p:cNvSpPr>
            <a:spLocks noChangeShapeType="1"/>
          </p:cNvSpPr>
          <p:nvPr/>
        </p:nvSpPr>
        <p:spPr bwMode="auto">
          <a:xfrm>
            <a:off x="3676701" y="2888552"/>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4" name="Line 46"/>
          <p:cNvSpPr>
            <a:spLocks noChangeShapeType="1"/>
          </p:cNvSpPr>
          <p:nvPr/>
        </p:nvSpPr>
        <p:spPr bwMode="auto">
          <a:xfrm>
            <a:off x="7005969" y="3310078"/>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Line 47"/>
          <p:cNvSpPr>
            <a:spLocks noChangeShapeType="1"/>
          </p:cNvSpPr>
          <p:nvPr/>
        </p:nvSpPr>
        <p:spPr bwMode="auto">
          <a:xfrm>
            <a:off x="7326016" y="3079500"/>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Line 48"/>
          <p:cNvSpPr>
            <a:spLocks noChangeShapeType="1"/>
          </p:cNvSpPr>
          <p:nvPr/>
        </p:nvSpPr>
        <p:spPr bwMode="auto">
          <a:xfrm flipV="1">
            <a:off x="7350735" y="2516266"/>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Line 49"/>
          <p:cNvSpPr>
            <a:spLocks noChangeShapeType="1"/>
          </p:cNvSpPr>
          <p:nvPr/>
        </p:nvSpPr>
        <p:spPr bwMode="auto">
          <a:xfrm flipV="1">
            <a:off x="6979949" y="2004671"/>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04" name="Group 120"/>
          <p:cNvGrpSpPr>
            <a:grpSpLocks/>
          </p:cNvGrpSpPr>
          <p:nvPr/>
        </p:nvGrpSpPr>
        <p:grpSpPr bwMode="auto">
          <a:xfrm>
            <a:off x="3321527" y="2753932"/>
            <a:ext cx="477468" cy="309839"/>
            <a:chOff x="2154" y="3033"/>
            <a:chExt cx="309" cy="192"/>
          </a:xfrm>
        </p:grpSpPr>
        <p:sp>
          <p:nvSpPr>
            <p:cNvPr id="205"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6"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7"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8"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09" name="Group 125"/>
            <p:cNvGrpSpPr>
              <a:grpSpLocks/>
            </p:cNvGrpSpPr>
            <p:nvPr/>
          </p:nvGrpSpPr>
          <p:grpSpPr bwMode="auto">
            <a:xfrm>
              <a:off x="2201" y="3046"/>
              <a:ext cx="214" cy="86"/>
              <a:chOff x="2201" y="3046"/>
              <a:chExt cx="214" cy="86"/>
            </a:xfrm>
          </p:grpSpPr>
          <p:grpSp>
            <p:nvGrpSpPr>
              <p:cNvPr id="212" name="Group 126"/>
              <p:cNvGrpSpPr>
                <a:grpSpLocks/>
              </p:cNvGrpSpPr>
              <p:nvPr/>
            </p:nvGrpSpPr>
            <p:grpSpPr bwMode="auto">
              <a:xfrm>
                <a:off x="2201" y="3046"/>
                <a:ext cx="212" cy="84"/>
                <a:chOff x="2201" y="3046"/>
                <a:chExt cx="212" cy="84"/>
              </a:xfrm>
            </p:grpSpPr>
            <p:sp>
              <p:nvSpPr>
                <p:cNvPr id="222"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3"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4"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5"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6"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7"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8"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9"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13" name="Group 135"/>
              <p:cNvGrpSpPr>
                <a:grpSpLocks/>
              </p:cNvGrpSpPr>
              <p:nvPr/>
            </p:nvGrpSpPr>
            <p:grpSpPr bwMode="auto">
              <a:xfrm>
                <a:off x="2203" y="3048"/>
                <a:ext cx="212" cy="84"/>
                <a:chOff x="2203" y="3048"/>
                <a:chExt cx="212" cy="84"/>
              </a:xfrm>
            </p:grpSpPr>
            <p:sp>
              <p:nvSpPr>
                <p:cNvPr id="214"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5"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6"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7"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8"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9"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0"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10"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1"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30"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3" name="Rectangle 280"/>
          <p:cNvSpPr>
            <a:spLocks noChangeArrowheads="1"/>
          </p:cNvSpPr>
          <p:nvPr/>
        </p:nvSpPr>
        <p:spPr bwMode="auto">
          <a:xfrm>
            <a:off x="4055293" y="2560700"/>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4" name="Rectangle 281"/>
          <p:cNvSpPr>
            <a:spLocks noChangeArrowheads="1"/>
          </p:cNvSpPr>
          <p:nvPr/>
        </p:nvSpPr>
        <p:spPr bwMode="auto">
          <a:xfrm>
            <a:off x="4374843" y="2614741"/>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235" name="Group 282"/>
          <p:cNvGrpSpPr>
            <a:grpSpLocks/>
          </p:cNvGrpSpPr>
          <p:nvPr/>
        </p:nvGrpSpPr>
        <p:grpSpPr bwMode="auto">
          <a:xfrm>
            <a:off x="5669839" y="2721625"/>
            <a:ext cx="477468" cy="309839"/>
            <a:chOff x="3202" y="3033"/>
            <a:chExt cx="309" cy="192"/>
          </a:xfrm>
        </p:grpSpPr>
        <p:sp>
          <p:nvSpPr>
            <p:cNvPr id="236"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7"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8"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9"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40" name="Group 287"/>
            <p:cNvGrpSpPr>
              <a:grpSpLocks/>
            </p:cNvGrpSpPr>
            <p:nvPr/>
          </p:nvGrpSpPr>
          <p:grpSpPr bwMode="auto">
            <a:xfrm>
              <a:off x="3249" y="3046"/>
              <a:ext cx="214" cy="86"/>
              <a:chOff x="3249" y="3046"/>
              <a:chExt cx="214" cy="86"/>
            </a:xfrm>
          </p:grpSpPr>
          <p:grpSp>
            <p:nvGrpSpPr>
              <p:cNvPr id="243" name="Group 288"/>
              <p:cNvGrpSpPr>
                <a:grpSpLocks/>
              </p:cNvGrpSpPr>
              <p:nvPr/>
            </p:nvGrpSpPr>
            <p:grpSpPr bwMode="auto">
              <a:xfrm>
                <a:off x="3249" y="3046"/>
                <a:ext cx="212" cy="84"/>
                <a:chOff x="3249" y="3046"/>
                <a:chExt cx="212" cy="84"/>
              </a:xfrm>
            </p:grpSpPr>
            <p:sp>
              <p:nvSpPr>
                <p:cNvPr id="253"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4"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5"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6"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7"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8"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9"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0"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297"/>
              <p:cNvGrpSpPr>
                <a:grpSpLocks/>
              </p:cNvGrpSpPr>
              <p:nvPr/>
            </p:nvGrpSpPr>
            <p:grpSpPr bwMode="auto">
              <a:xfrm>
                <a:off x="3251" y="3048"/>
                <a:ext cx="212" cy="84"/>
                <a:chOff x="3251" y="3048"/>
                <a:chExt cx="212" cy="84"/>
              </a:xfrm>
            </p:grpSpPr>
            <p:sp>
              <p:nvSpPr>
                <p:cNvPr id="245"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6"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7"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8"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9"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0"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1"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2"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41"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2"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61" name="Rectangle 308"/>
          <p:cNvSpPr>
            <a:spLocks noChangeArrowheads="1"/>
          </p:cNvSpPr>
          <p:nvPr/>
        </p:nvSpPr>
        <p:spPr bwMode="auto">
          <a:xfrm>
            <a:off x="6156415" y="2370954"/>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2" name="Rectangle 309"/>
          <p:cNvSpPr>
            <a:spLocks noChangeArrowheads="1"/>
          </p:cNvSpPr>
          <p:nvPr/>
        </p:nvSpPr>
        <p:spPr bwMode="auto">
          <a:xfrm>
            <a:off x="6538749" y="2811694"/>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263" name="Rectangle 310"/>
          <p:cNvSpPr>
            <a:spLocks noChangeArrowheads="1"/>
          </p:cNvSpPr>
          <p:nvPr/>
        </p:nvSpPr>
        <p:spPr bwMode="auto">
          <a:xfrm>
            <a:off x="3635069" y="2444210"/>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4"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7" name="Rectangle 314"/>
          <p:cNvSpPr>
            <a:spLocks noChangeArrowheads="1"/>
          </p:cNvSpPr>
          <p:nvPr/>
        </p:nvSpPr>
        <p:spPr bwMode="auto">
          <a:xfrm>
            <a:off x="3631167" y="24646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268" name="Rectangle 315"/>
          <p:cNvSpPr>
            <a:spLocks noChangeArrowheads="1"/>
          </p:cNvSpPr>
          <p:nvPr/>
        </p:nvSpPr>
        <p:spPr bwMode="auto">
          <a:xfrm>
            <a:off x="5779123" y="24658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269" name="图片 268"/>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441832" y="1513315"/>
            <a:ext cx="441076" cy="617506"/>
          </a:xfrm>
          <a:prstGeom prst="rect">
            <a:avLst/>
          </a:prstGeom>
        </p:spPr>
      </p:pic>
      <p:pic>
        <p:nvPicPr>
          <p:cNvPr id="274" name="图片 27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699008" y="2175802"/>
            <a:ext cx="441076" cy="617506"/>
          </a:xfrm>
          <a:prstGeom prst="rect">
            <a:avLst/>
          </a:prstGeom>
        </p:spPr>
      </p:pic>
      <p:pic>
        <p:nvPicPr>
          <p:cNvPr id="275" name="图片 27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699008" y="2895882"/>
            <a:ext cx="441076" cy="617506"/>
          </a:xfrm>
          <a:prstGeom prst="rect">
            <a:avLst/>
          </a:prstGeom>
        </p:spPr>
      </p:pic>
      <p:pic>
        <p:nvPicPr>
          <p:cNvPr id="276" name="图片 275"/>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441832" y="3471946"/>
            <a:ext cx="441076" cy="617506"/>
          </a:xfrm>
          <a:prstGeom prst="rect">
            <a:avLst/>
          </a:prstGeom>
        </p:spPr>
      </p:pic>
      <p:pic>
        <p:nvPicPr>
          <p:cNvPr id="277" name="图片 276"/>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cxnSp>
        <p:nvCxnSpPr>
          <p:cNvPr id="278" name="直接箭头连接符 277"/>
          <p:cNvCxnSpPr/>
          <p:nvPr/>
        </p:nvCxnSpPr>
        <p:spPr>
          <a:xfrm>
            <a:off x="1825374" y="1963803"/>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接箭头连接符 278"/>
          <p:cNvCxnSpPr/>
          <p:nvPr/>
        </p:nvCxnSpPr>
        <p:spPr>
          <a:xfrm>
            <a:off x="1825374" y="2560700"/>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接箭头连接符 279"/>
          <p:cNvCxnSpPr/>
          <p:nvPr/>
        </p:nvCxnSpPr>
        <p:spPr>
          <a:xfrm>
            <a:off x="1290296" y="2967890"/>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接箭头连接符 280"/>
          <p:cNvCxnSpPr/>
          <p:nvPr/>
        </p:nvCxnSpPr>
        <p:spPr>
          <a:xfrm>
            <a:off x="1775935" y="3573456"/>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直接箭头连接符 283"/>
          <p:cNvCxnSpPr/>
          <p:nvPr/>
        </p:nvCxnSpPr>
        <p:spPr>
          <a:xfrm flipH="1">
            <a:off x="2977610" y="3708252"/>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6" name="矩形 145"/>
          <p:cNvSpPr/>
          <p:nvPr/>
        </p:nvSpPr>
        <p:spPr>
          <a:xfrm>
            <a:off x="3322932" y="1058794"/>
            <a:ext cx="3563345" cy="867930"/>
          </a:xfrm>
          <a:prstGeom prst="rect">
            <a:avLst/>
          </a:prstGeom>
          <a:solidFill>
            <a:srgbClr val="66FF66"/>
          </a:solidFill>
          <a:ln>
            <a:solidFill>
              <a:schemeClr val="tx1"/>
            </a:solidFill>
          </a:ln>
        </p:spPr>
        <p:txBody>
          <a:bodyPr wrap="square">
            <a:spAutoFit/>
          </a:bodyPr>
          <a:lstStyle/>
          <a:p>
            <a:pPr algn="just">
              <a:lnSpc>
                <a:spcPct val="120000"/>
              </a:lnSpc>
            </a:pPr>
            <a:r>
              <a:rPr kumimoji="1" lang="en-US" altLang="zh-CN" sz="1400" b="1" dirty="0">
                <a:latin typeface="微软雅黑" pitchFamily="34" charset="-122"/>
                <a:ea typeface="微软雅黑" pitchFamily="34" charset="-122"/>
              </a:rPr>
              <a:t>(2) </a:t>
            </a:r>
            <a:r>
              <a:rPr kumimoji="1" lang="zh-CN" altLang="en-US" sz="1400" b="1" dirty="0">
                <a:latin typeface="微软雅黑" pitchFamily="34" charset="-122"/>
                <a:ea typeface="微软雅黑" pitchFamily="34" charset="-122"/>
              </a:rPr>
              <a:t>若代理服务器已经存放了所请求的对象，则将此对象放入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响应报文中返回给浏览器。</a:t>
            </a:r>
          </a:p>
        </p:txBody>
      </p:sp>
      <p:sp>
        <p:nvSpPr>
          <p:cNvPr id="111" name="Text Box 328"/>
          <p:cNvSpPr txBox="1">
            <a:spLocks noChangeArrowheads="1"/>
          </p:cNvSpPr>
          <p:nvPr/>
        </p:nvSpPr>
        <p:spPr bwMode="auto">
          <a:xfrm>
            <a:off x="3719642" y="3548615"/>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a:t>
            </a:r>
            <a:r>
              <a:rPr lang="zh-CN" altLang="en-US" sz="1400" b="1" dirty="0" smtClean="0">
                <a:solidFill>
                  <a:srgbClr val="000099"/>
                </a:solidFill>
                <a:latin typeface="微软雅黑" pitchFamily="34" charset="-122"/>
                <a:ea typeface="微软雅黑" pitchFamily="34" charset="-122"/>
              </a:rPr>
              <a:t>的</a:t>
            </a:r>
            <a:endParaRPr lang="en-US" altLang="zh-CN" sz="1400" b="1" dirty="0" smtClean="0">
              <a:solidFill>
                <a:srgbClr val="000099"/>
              </a:solidFill>
              <a:latin typeface="微软雅黑" pitchFamily="34" charset="-122"/>
              <a:ea typeface="微软雅黑" pitchFamily="34" charset="-122"/>
            </a:endParaRPr>
          </a:p>
          <a:p>
            <a:pPr algn="ctr"/>
            <a:r>
              <a:rPr lang="zh-CN" altLang="en-US" sz="1400" b="1" dirty="0" smtClean="0">
                <a:solidFill>
                  <a:srgbClr val="000099"/>
                </a:solidFill>
                <a:latin typeface="微软雅黑" pitchFamily="34" charset="-122"/>
                <a:ea typeface="微软雅黑" pitchFamily="34" charset="-122"/>
              </a:rPr>
              <a:t>代理服务器</a:t>
            </a:r>
            <a:endParaRPr lang="zh-CN" altLang="en-US" sz="1400" b="1" dirty="0">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10469767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78"/>
                                        </p:tgtEl>
                                        <p:attrNameLst>
                                          <p:attrName>style.visibility</p:attrName>
                                        </p:attrNameLst>
                                      </p:cBhvr>
                                      <p:to>
                                        <p:strVal val="visible"/>
                                      </p:to>
                                    </p:set>
                                    <p:animEffect transition="in" filter="wipe(down)">
                                      <p:cBhvr>
                                        <p:cTn id="7" dur="2000"/>
                                        <p:tgtEl>
                                          <p:spTgt spid="278"/>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279"/>
                                        </p:tgtEl>
                                        <p:attrNameLst>
                                          <p:attrName>style.visibility</p:attrName>
                                        </p:attrNameLst>
                                      </p:cBhvr>
                                      <p:to>
                                        <p:strVal val="visible"/>
                                      </p:to>
                                    </p:set>
                                    <p:animEffect transition="in" filter="wipe(down)">
                                      <p:cBhvr>
                                        <p:cTn id="11" dur="2000"/>
                                        <p:tgtEl>
                                          <p:spTgt spid="279"/>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280"/>
                                        </p:tgtEl>
                                        <p:attrNameLst>
                                          <p:attrName>style.visibility</p:attrName>
                                        </p:attrNameLst>
                                      </p:cBhvr>
                                      <p:to>
                                        <p:strVal val="visible"/>
                                      </p:to>
                                    </p:set>
                                    <p:animEffect transition="in" filter="wipe(down)">
                                      <p:cBhvr>
                                        <p:cTn id="15" dur="2000"/>
                                        <p:tgtEl>
                                          <p:spTgt spid="280"/>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281"/>
                                        </p:tgtEl>
                                        <p:attrNameLst>
                                          <p:attrName>style.visibility</p:attrName>
                                        </p:attrNameLst>
                                      </p:cBhvr>
                                      <p:to>
                                        <p:strVal val="visible"/>
                                      </p:to>
                                    </p:set>
                                    <p:animEffect transition="in" filter="wipe(down)">
                                      <p:cBhvr>
                                        <p:cTn id="19" dur="20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6169" name="VISIO" r:id="rId6" imgW="1687068" imgH="964692" progId="">
                  <p:embed/>
                </p:oleObj>
              </mc:Choice>
              <mc:Fallback>
                <p:oleObj name="VISIO" r:id="rId6" imgW="1687068" imgH="964692" progId="">
                  <p:embed/>
                  <p:pic>
                    <p:nvPicPr>
                      <p:cNvPr id="41" name="Object 4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Freeform 325"/>
          <p:cNvSpPr>
            <a:spLocks/>
          </p:cNvSpPr>
          <p:nvPr/>
        </p:nvSpPr>
        <p:spPr bwMode="auto">
          <a:xfrm>
            <a:off x="2860347" y="1930663"/>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使用代理服务器的情况</a:t>
            </a:r>
          </a:p>
        </p:txBody>
      </p:sp>
      <p:sp>
        <p:nvSpPr>
          <p:cNvPr id="171" name="矩形 170"/>
          <p:cNvSpPr/>
          <p:nvPr/>
        </p:nvSpPr>
        <p:spPr>
          <a:xfrm>
            <a:off x="3322933" y="1058794"/>
            <a:ext cx="3570525" cy="867930"/>
          </a:xfrm>
          <a:prstGeom prst="rect">
            <a:avLst/>
          </a:prstGeom>
          <a:solidFill>
            <a:srgbClr val="66FF66"/>
          </a:solidFill>
          <a:ln>
            <a:solidFill>
              <a:schemeClr val="tx1"/>
            </a:solidFill>
          </a:ln>
        </p:spPr>
        <p:txBody>
          <a:bodyPr wrap="square">
            <a:spAutoFit/>
          </a:bodyPr>
          <a:lstStyle/>
          <a:p>
            <a:pPr algn="just">
              <a:lnSpc>
                <a:spcPct val="120000"/>
              </a:lnSpc>
            </a:pPr>
            <a:r>
              <a:rPr kumimoji="1" lang="en-US" altLang="zh-CN" sz="1400" b="1" dirty="0">
                <a:latin typeface="微软雅黑" pitchFamily="34" charset="-122"/>
                <a:ea typeface="微软雅黑" pitchFamily="34" charset="-122"/>
              </a:rPr>
              <a:t>(3) </a:t>
            </a:r>
            <a:r>
              <a:rPr kumimoji="1" lang="zh-CN" altLang="en-US" sz="1400" b="1" dirty="0" smtClean="0">
                <a:latin typeface="微软雅黑" pitchFamily="34" charset="-122"/>
                <a:ea typeface="微软雅黑" pitchFamily="34" charset="-122"/>
              </a:rPr>
              <a:t>若未存放</a:t>
            </a:r>
            <a:r>
              <a:rPr kumimoji="1" lang="zh-CN" altLang="en-US" sz="1400" b="1" dirty="0">
                <a:latin typeface="微软雅黑" pitchFamily="34" charset="-122"/>
                <a:ea typeface="微软雅黑" pitchFamily="34" charset="-122"/>
              </a:rPr>
              <a:t>，代理服务器就</a:t>
            </a:r>
            <a:r>
              <a:rPr kumimoji="1" lang="zh-CN" altLang="en-US" sz="1400" b="1" dirty="0" smtClean="0">
                <a:latin typeface="微软雅黑" pitchFamily="34" charset="-122"/>
                <a:ea typeface="微软雅黑" pitchFamily="34" charset="-122"/>
              </a:rPr>
              <a:t>代表浏览器与</a:t>
            </a:r>
            <a:r>
              <a:rPr kumimoji="1" lang="zh-CN" altLang="en-US" sz="1400" b="1" dirty="0">
                <a:latin typeface="微软雅黑" pitchFamily="34" charset="-122"/>
                <a:ea typeface="微软雅黑" pitchFamily="34" charset="-122"/>
              </a:rPr>
              <a:t>互联网上的源点服务器建立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连接，并发送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请求报文。</a:t>
            </a:r>
          </a:p>
        </p:txBody>
      </p:sp>
      <p:sp>
        <p:nvSpPr>
          <p:cNvPr id="112" name="Text Box 328"/>
          <p:cNvSpPr txBox="1">
            <a:spLocks noChangeArrowheads="1"/>
          </p:cNvSpPr>
          <p:nvPr/>
        </p:nvSpPr>
        <p:spPr bwMode="auto">
          <a:xfrm>
            <a:off x="3719642" y="3548615"/>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a:t>
            </a:r>
            <a:r>
              <a:rPr lang="zh-CN" altLang="en-US" sz="1400" b="1" dirty="0" smtClean="0">
                <a:solidFill>
                  <a:srgbClr val="000099"/>
                </a:solidFill>
                <a:latin typeface="微软雅黑" pitchFamily="34" charset="-122"/>
                <a:ea typeface="微软雅黑" pitchFamily="34" charset="-122"/>
              </a:rPr>
              <a:t>的</a:t>
            </a:r>
            <a:endParaRPr lang="en-US" altLang="zh-CN" sz="1400" b="1" dirty="0" smtClean="0">
              <a:solidFill>
                <a:srgbClr val="000099"/>
              </a:solidFill>
              <a:latin typeface="微软雅黑" pitchFamily="34" charset="-122"/>
              <a:ea typeface="微软雅黑" pitchFamily="34" charset="-122"/>
            </a:endParaRPr>
          </a:p>
          <a:p>
            <a:pPr algn="ctr"/>
            <a:r>
              <a:rPr lang="zh-CN" altLang="en-US" sz="1400" b="1" dirty="0" smtClean="0">
                <a:solidFill>
                  <a:srgbClr val="000099"/>
                </a:solidFill>
                <a:latin typeface="微软雅黑" pitchFamily="34" charset="-122"/>
                <a:ea typeface="微软雅黑" pitchFamily="34" charset="-122"/>
              </a:rPr>
              <a:t>代理服务器</a:t>
            </a:r>
            <a:endParaRPr lang="zh-CN" altLang="en-US" sz="1400" b="1" dirty="0">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19031580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4"/>
                                        </p:tgtEl>
                                        <p:attrNameLst>
                                          <p:attrName>style.visibility</p:attrName>
                                        </p:attrNameLst>
                                      </p:cBhvr>
                                      <p:to>
                                        <p:strVal val="visible"/>
                                      </p:to>
                                    </p:set>
                                    <p:animEffect transition="in" filter="wipe(left)">
                                      <p:cBhvr>
                                        <p:cTn id="7" dur="2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7193" name="VISIO" r:id="rId6" imgW="1687068" imgH="964692" progId="">
                  <p:embed/>
                </p:oleObj>
              </mc:Choice>
              <mc:Fallback>
                <p:oleObj name="VISIO" r:id="rId6" imgW="1687068" imgH="964692" progId="">
                  <p:embed/>
                  <p:pic>
                    <p:nvPicPr>
                      <p:cNvPr id="41" name="Object 4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使用代理服务器的情况</a:t>
            </a:r>
          </a:p>
        </p:txBody>
      </p:sp>
      <p:sp>
        <p:nvSpPr>
          <p:cNvPr id="171" name="矩形 170"/>
          <p:cNvSpPr/>
          <p:nvPr/>
        </p:nvSpPr>
        <p:spPr>
          <a:xfrm>
            <a:off x="3322933" y="1058794"/>
            <a:ext cx="3469578" cy="867930"/>
          </a:xfrm>
          <a:prstGeom prst="rect">
            <a:avLst/>
          </a:prstGeom>
          <a:solidFill>
            <a:srgbClr val="66FF66"/>
          </a:solidFill>
          <a:ln>
            <a:solidFill>
              <a:schemeClr val="tx1"/>
            </a:solidFill>
          </a:ln>
        </p:spPr>
        <p:txBody>
          <a:bodyPr wrap="square">
            <a:spAutoFit/>
          </a:bodyPr>
          <a:lstStyle/>
          <a:p>
            <a:pPr algn="just">
              <a:lnSpc>
                <a:spcPct val="120000"/>
              </a:lnSpc>
            </a:pPr>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源点服务器将所请求的对象放在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响应报文中返回给校园网的代理服务器。</a:t>
            </a:r>
          </a:p>
        </p:txBody>
      </p:sp>
      <p:sp>
        <p:nvSpPr>
          <p:cNvPr id="112" name="Freeform 325"/>
          <p:cNvSpPr>
            <a:spLocks/>
          </p:cNvSpPr>
          <p:nvPr/>
        </p:nvSpPr>
        <p:spPr bwMode="auto">
          <a:xfrm>
            <a:off x="2860347" y="2037199"/>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3" name="Text Box 328"/>
          <p:cNvSpPr txBox="1">
            <a:spLocks noChangeArrowheads="1"/>
          </p:cNvSpPr>
          <p:nvPr/>
        </p:nvSpPr>
        <p:spPr bwMode="auto">
          <a:xfrm>
            <a:off x="3719642" y="3548615"/>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a:t>
            </a:r>
            <a:r>
              <a:rPr lang="zh-CN" altLang="en-US" sz="1400" b="1" dirty="0" smtClean="0">
                <a:solidFill>
                  <a:srgbClr val="000099"/>
                </a:solidFill>
                <a:latin typeface="微软雅黑" pitchFamily="34" charset="-122"/>
                <a:ea typeface="微软雅黑" pitchFamily="34" charset="-122"/>
              </a:rPr>
              <a:t>的</a:t>
            </a:r>
            <a:endParaRPr lang="en-US" altLang="zh-CN" sz="1400" b="1" dirty="0" smtClean="0">
              <a:solidFill>
                <a:srgbClr val="000099"/>
              </a:solidFill>
              <a:latin typeface="微软雅黑" pitchFamily="34" charset="-122"/>
              <a:ea typeface="微软雅黑" pitchFamily="34" charset="-122"/>
            </a:endParaRPr>
          </a:p>
          <a:p>
            <a:pPr algn="ctr"/>
            <a:r>
              <a:rPr lang="zh-CN" altLang="en-US" sz="1400" b="1" dirty="0" smtClean="0">
                <a:solidFill>
                  <a:srgbClr val="000099"/>
                </a:solidFill>
                <a:latin typeface="微软雅黑" pitchFamily="34" charset="-122"/>
                <a:ea typeface="微软雅黑" pitchFamily="34" charset="-122"/>
              </a:rPr>
              <a:t>代理服务器</a:t>
            </a:r>
            <a:endParaRPr lang="zh-CN" altLang="en-US" sz="1400" b="1" dirty="0">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32539600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wipe(right)">
                                      <p:cBhvr>
                                        <p:cTn id="7"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8217" name="VISIO" r:id="rId7" imgW="1687068" imgH="964692" progId="">
                  <p:embed/>
                </p:oleObj>
              </mc:Choice>
              <mc:Fallback>
                <p:oleObj name="VISIO" r:id="rId7" imgW="1687068" imgH="964692" progId="">
                  <p:embed/>
                  <p:pic>
                    <p:nvPicPr>
                      <p:cNvPr id="41" name="Object 4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a:t>
            </a:r>
            <a:r>
              <a:rPr kumimoji="1" lang="en-US" altLang="zh-CN" sz="1400" b="1" dirty="0" smtClean="0">
                <a:solidFill>
                  <a:srgbClr val="000099"/>
                </a:solidFill>
                <a:latin typeface="微软雅黑" pitchFamily="34" charset="-122"/>
                <a:ea typeface="微软雅黑" pitchFamily="34" charset="-122"/>
              </a:rPr>
              <a:t>Mbit/s</a:t>
            </a:r>
            <a:endParaRPr kumimoji="1" lang="en-US" altLang="zh-CN" sz="1400" b="1" dirty="0">
              <a:solidFill>
                <a:srgbClr val="000099"/>
              </a:solidFill>
              <a:latin typeface="微软雅黑" pitchFamily="34" charset="-122"/>
              <a:ea typeface="微软雅黑"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使用代理服务器的情况</a:t>
            </a:r>
          </a:p>
        </p:txBody>
      </p:sp>
      <p:sp>
        <p:nvSpPr>
          <p:cNvPr id="171" name="矩形 170"/>
          <p:cNvSpPr/>
          <p:nvPr/>
        </p:nvSpPr>
        <p:spPr>
          <a:xfrm>
            <a:off x="3322932" y="1058794"/>
            <a:ext cx="3680189" cy="1126462"/>
          </a:xfrm>
          <a:prstGeom prst="rect">
            <a:avLst/>
          </a:prstGeom>
          <a:solidFill>
            <a:srgbClr val="66FF66"/>
          </a:solidFill>
          <a:ln>
            <a:solidFill>
              <a:schemeClr val="tx1"/>
            </a:solidFill>
          </a:ln>
        </p:spPr>
        <p:txBody>
          <a:bodyPr wrap="square">
            <a:spAutoFit/>
          </a:bodyPr>
          <a:lstStyle/>
          <a:p>
            <a:pPr algn="just">
              <a:lnSpc>
                <a:spcPct val="120000"/>
              </a:lnSpc>
            </a:pPr>
            <a:r>
              <a:rPr kumimoji="1" lang="en-US" altLang="zh-CN" sz="1400" b="1" dirty="0">
                <a:latin typeface="微软雅黑" pitchFamily="34" charset="-122"/>
                <a:ea typeface="微软雅黑" pitchFamily="34" charset="-122"/>
              </a:rPr>
              <a:t>(5)</a:t>
            </a:r>
            <a:r>
              <a:rPr kumimoji="1" lang="zh-CN" altLang="en-US" sz="1400" b="1" dirty="0">
                <a:latin typeface="微软雅黑" pitchFamily="34" charset="-122"/>
                <a:ea typeface="微软雅黑" pitchFamily="34" charset="-122"/>
              </a:rPr>
              <a:t>代理服务器收到对象后，先复制到本地存储器中（留待以后用），然后将该对象放在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响应报文中，通过已建立的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连接，返回给请求该对象的浏览器。</a:t>
            </a:r>
          </a:p>
        </p:txBody>
      </p:sp>
      <p:cxnSp>
        <p:nvCxnSpPr>
          <p:cNvPr id="113" name="直接箭头连接符 112"/>
          <p:cNvCxnSpPr/>
          <p:nvPr/>
        </p:nvCxnSpPr>
        <p:spPr>
          <a:xfrm>
            <a:off x="1825374" y="1963801"/>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箭头连接符 113"/>
          <p:cNvCxnSpPr/>
          <p:nvPr/>
        </p:nvCxnSpPr>
        <p:spPr>
          <a:xfrm>
            <a:off x="1825374" y="2560698"/>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a:xfrm>
            <a:off x="1290296" y="2967888"/>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a:xfrm>
            <a:off x="1775935" y="3573454"/>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Text Box 328"/>
          <p:cNvSpPr txBox="1">
            <a:spLocks noChangeArrowheads="1"/>
          </p:cNvSpPr>
          <p:nvPr/>
        </p:nvSpPr>
        <p:spPr bwMode="auto">
          <a:xfrm>
            <a:off x="3719642" y="3548615"/>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a:t>
            </a:r>
            <a:r>
              <a:rPr lang="zh-CN" altLang="en-US" sz="1400" b="1" dirty="0" smtClean="0">
                <a:solidFill>
                  <a:srgbClr val="000099"/>
                </a:solidFill>
                <a:latin typeface="微软雅黑" pitchFamily="34" charset="-122"/>
                <a:ea typeface="微软雅黑" pitchFamily="34" charset="-122"/>
              </a:rPr>
              <a:t>的</a:t>
            </a:r>
            <a:endParaRPr lang="en-US" altLang="zh-CN" sz="1400" b="1" dirty="0" smtClean="0">
              <a:solidFill>
                <a:srgbClr val="000099"/>
              </a:solidFill>
              <a:latin typeface="微软雅黑" pitchFamily="34" charset="-122"/>
              <a:ea typeface="微软雅黑" pitchFamily="34" charset="-122"/>
            </a:endParaRPr>
          </a:p>
          <a:p>
            <a:pPr algn="ctr"/>
            <a:r>
              <a:rPr lang="zh-CN" altLang="en-US" sz="1400" b="1" dirty="0" smtClean="0">
                <a:solidFill>
                  <a:srgbClr val="000099"/>
                </a:solidFill>
                <a:latin typeface="微软雅黑" pitchFamily="34" charset="-122"/>
                <a:ea typeface="微软雅黑" pitchFamily="34" charset="-122"/>
              </a:rPr>
              <a:t>代理服务器</a:t>
            </a:r>
            <a:endParaRPr lang="zh-CN" altLang="en-US" sz="1400" b="1" dirty="0">
              <a:solidFill>
                <a:srgbClr val="000099"/>
              </a:solidFill>
              <a:latin typeface="微软雅黑" pitchFamily="34" charset="-122"/>
              <a:ea typeface="微软雅黑" pitchFamily="34" charset="-122"/>
            </a:endParaRPr>
          </a:p>
        </p:txBody>
      </p:sp>
    </p:spTree>
    <p:custDataLst>
      <p:tags r:id="rId2"/>
    </p:custDataLst>
    <p:extLst>
      <p:ext uri="{BB962C8B-B14F-4D97-AF65-F5344CB8AC3E}">
        <p14:creationId xmlns:p14="http://schemas.microsoft.com/office/powerpoint/2010/main" val="14883207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down)">
                                      <p:cBhvr>
                                        <p:cTn id="7" dur="2000"/>
                                        <p:tgtEl>
                                          <p:spTgt spid="113"/>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down)">
                                      <p:cBhvr>
                                        <p:cTn id="11" dur="2000"/>
                                        <p:tgtEl>
                                          <p:spTgt spid="114"/>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wipe(down)">
                                      <p:cBhvr>
                                        <p:cTn id="15" dur="2000"/>
                                        <p:tgtEl>
                                          <p:spTgt spid="115"/>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down)">
                                      <p:cBhvr>
                                        <p:cTn id="19" dur="2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033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9" name="Rectangle 6"/>
          <p:cNvSpPr>
            <a:spLocks noChangeArrowheads="1"/>
          </p:cNvSpPr>
          <p:nvPr/>
        </p:nvSpPr>
        <p:spPr bwMode="auto">
          <a:xfrm>
            <a:off x="3264037" y="567122"/>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HTTP </a:t>
            </a:r>
            <a:r>
              <a:rPr lang="zh-CN" altLang="en-US" sz="2000" b="1" dirty="0">
                <a:solidFill>
                  <a:schemeClr val="bg1"/>
                </a:solidFill>
                <a:latin typeface="微软雅黑" pitchFamily="34" charset="-122"/>
                <a:ea typeface="微软雅黑" pitchFamily="34" charset="-122"/>
              </a:rPr>
              <a:t>的报文</a:t>
            </a:r>
            <a:r>
              <a:rPr lang="zh-CN" altLang="en-US" sz="2000" b="1" dirty="0" smtClean="0">
                <a:solidFill>
                  <a:schemeClr val="bg1"/>
                </a:solidFill>
                <a:latin typeface="微软雅黑" pitchFamily="34" charset="-122"/>
                <a:ea typeface="微软雅黑" pitchFamily="34" charset="-122"/>
              </a:rPr>
              <a:t>结构</a:t>
            </a:r>
            <a:endParaRPr lang="zh-CN" altLang="en-US" sz="2000" b="1" dirty="0">
              <a:solidFill>
                <a:schemeClr val="bg1"/>
              </a:solidFill>
              <a:latin typeface="微软雅黑" pitchFamily="34" charset="-122"/>
              <a:ea typeface="微软雅黑" pitchFamily="34" charset="-122"/>
            </a:endParaRPr>
          </a:p>
        </p:txBody>
      </p:sp>
      <p:sp>
        <p:nvSpPr>
          <p:cNvPr id="10" name="Rectangle 68"/>
          <p:cNvSpPr>
            <a:spLocks noChangeArrowheads="1"/>
          </p:cNvSpPr>
          <p:nvPr/>
        </p:nvSpPr>
        <p:spPr bwMode="auto">
          <a:xfrm>
            <a:off x="556964" y="961423"/>
            <a:ext cx="8048775" cy="37315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600"/>
              </a:lnSpc>
              <a:buClr>
                <a:srgbClr val="0070C0"/>
              </a:buClr>
            </a:pPr>
            <a:r>
              <a:rPr lang="zh-CN" altLang="en-US" b="1" dirty="0" smtClean="0">
                <a:solidFill>
                  <a:srgbClr val="0000FF"/>
                </a:solidFill>
                <a:latin typeface="微软雅黑" pitchFamily="34" charset="-122"/>
                <a:ea typeface="微软雅黑" pitchFamily="34" charset="-122"/>
              </a:rPr>
              <a:t>两</a:t>
            </a:r>
            <a:r>
              <a:rPr lang="zh-CN" altLang="en-US" b="1" dirty="0">
                <a:solidFill>
                  <a:srgbClr val="0000FF"/>
                </a:solidFill>
                <a:latin typeface="微软雅黑" pitchFamily="34" charset="-122"/>
                <a:ea typeface="微软雅黑" pitchFamily="34" charset="-122"/>
              </a:rPr>
              <a:t>类报文：</a:t>
            </a:r>
          </a:p>
          <a:p>
            <a:pPr marL="285750" indent="-285750" eaLnBrk="0" hangingPunct="0">
              <a:lnSpc>
                <a:spcPts val="26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请求</a:t>
            </a:r>
            <a:r>
              <a:rPr lang="zh-CN" altLang="en-US" b="1" dirty="0" smtClean="0">
                <a:solidFill>
                  <a:srgbClr val="C00000"/>
                </a:solidFill>
                <a:latin typeface="微软雅黑" pitchFamily="34" charset="-122"/>
                <a:ea typeface="微软雅黑" pitchFamily="34" charset="-122"/>
              </a:rPr>
              <a:t>报文</a:t>
            </a:r>
            <a:r>
              <a:rPr lang="zh-CN" altLang="en-US" b="1" dirty="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从</a:t>
            </a:r>
            <a:r>
              <a:rPr lang="zh-CN" altLang="en-US" b="1" dirty="0">
                <a:latin typeface="微软雅黑" pitchFamily="34" charset="-122"/>
                <a:ea typeface="微软雅黑" pitchFamily="34" charset="-122"/>
              </a:rPr>
              <a:t>客户向</a:t>
            </a:r>
            <a:r>
              <a:rPr lang="zh-CN" altLang="en-US" b="1" dirty="0" smtClean="0">
                <a:latin typeface="微软雅黑" pitchFamily="34" charset="-122"/>
                <a:ea typeface="微软雅黑" pitchFamily="34" charset="-122"/>
              </a:rPr>
              <a:t>服务器的请求。</a:t>
            </a:r>
            <a:endParaRPr lang="zh-CN" altLang="en-US" b="1" dirty="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响应</a:t>
            </a:r>
            <a:r>
              <a:rPr lang="zh-CN" altLang="en-US" b="1" dirty="0" smtClean="0">
                <a:solidFill>
                  <a:srgbClr val="C00000"/>
                </a:solidFill>
                <a:latin typeface="微软雅黑" pitchFamily="34" charset="-122"/>
                <a:ea typeface="微软雅黑" pitchFamily="34" charset="-122"/>
              </a:rPr>
              <a:t>报文：</a:t>
            </a:r>
            <a:r>
              <a:rPr lang="zh-CN" altLang="en-US" b="1" dirty="0" smtClean="0">
                <a:latin typeface="微软雅黑" pitchFamily="34" charset="-122"/>
                <a:ea typeface="微软雅黑" pitchFamily="34" charset="-122"/>
              </a:rPr>
              <a:t>从</a:t>
            </a:r>
            <a:r>
              <a:rPr lang="zh-CN" altLang="en-US" b="1" dirty="0">
                <a:latin typeface="微软雅黑" pitchFamily="34" charset="-122"/>
                <a:ea typeface="微软雅黑" pitchFamily="34" charset="-122"/>
              </a:rPr>
              <a:t>服务器到客户的回答。</a:t>
            </a:r>
          </a:p>
          <a:p>
            <a:pPr marL="285750" indent="-285750" eaLnBrk="0" hangingPunct="0">
              <a:lnSpc>
                <a:spcPts val="2600"/>
              </a:lnSpc>
              <a:buClr>
                <a:srgbClr val="0070C0"/>
              </a:buClr>
              <a:buFont typeface="Wingdings" pitchFamily="2" charset="2"/>
              <a:buChar char="l"/>
            </a:pPr>
            <a:r>
              <a:rPr lang="zh-CN" altLang="en-US" b="1" dirty="0">
                <a:latin typeface="微软雅黑" pitchFamily="34" charset="-122"/>
                <a:ea typeface="微软雅黑" pitchFamily="34" charset="-122"/>
              </a:rPr>
              <a:t>由于 </a:t>
            </a: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是</a:t>
            </a:r>
            <a:r>
              <a:rPr lang="zh-CN" altLang="en-US" b="1" dirty="0" smtClean="0">
                <a:latin typeface="微软雅黑" pitchFamily="34" charset="-122"/>
                <a:ea typeface="微软雅黑" pitchFamily="34" charset="-122"/>
              </a:rPr>
              <a:t>面向文本的 </a:t>
            </a:r>
            <a:r>
              <a:rPr lang="en-US" altLang="zh-CN" b="1" dirty="0">
                <a:latin typeface="微软雅黑" pitchFamily="34" charset="-122"/>
                <a:ea typeface="微软雅黑" pitchFamily="34" charset="-122"/>
              </a:rPr>
              <a:t>(text-oriented)</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因此报文中的每</a:t>
            </a:r>
            <a:r>
              <a:rPr lang="zh-CN" altLang="en-US" b="1" dirty="0">
                <a:latin typeface="微软雅黑" pitchFamily="34" charset="-122"/>
                <a:ea typeface="微软雅黑" pitchFamily="34" charset="-122"/>
              </a:rPr>
              <a:t>一个</a:t>
            </a:r>
            <a:r>
              <a:rPr lang="zh-CN" altLang="en-US" b="1" dirty="0" smtClean="0">
                <a:latin typeface="微软雅黑" pitchFamily="34" charset="-122"/>
                <a:ea typeface="微软雅黑" pitchFamily="34" charset="-122"/>
              </a:rPr>
              <a:t>字段都是</a:t>
            </a:r>
            <a:r>
              <a:rPr lang="zh-CN" altLang="en-US" b="1" dirty="0">
                <a:latin typeface="微软雅黑" pitchFamily="34" charset="-122"/>
                <a:ea typeface="微软雅黑" pitchFamily="34" charset="-122"/>
              </a:rPr>
              <a:t>一些 </a:t>
            </a:r>
            <a:r>
              <a:rPr lang="en-US" altLang="zh-CN" b="1" dirty="0">
                <a:solidFill>
                  <a:srgbClr val="C00000"/>
                </a:solidFill>
                <a:latin typeface="微软雅黑" pitchFamily="34" charset="-122"/>
                <a:ea typeface="微软雅黑" pitchFamily="34" charset="-122"/>
              </a:rPr>
              <a:t>ASCII </a:t>
            </a:r>
            <a:r>
              <a:rPr lang="zh-CN" altLang="en-US" b="1" dirty="0">
                <a:solidFill>
                  <a:srgbClr val="C00000"/>
                </a:solidFill>
                <a:latin typeface="微软雅黑" pitchFamily="34" charset="-122"/>
                <a:ea typeface="微软雅黑" pitchFamily="34" charset="-122"/>
              </a:rPr>
              <a:t>码串</a:t>
            </a:r>
            <a:r>
              <a:rPr lang="zh-CN" altLang="en-US" b="1" dirty="0">
                <a:latin typeface="微软雅黑" pitchFamily="34" charset="-122"/>
                <a:ea typeface="微软雅黑" pitchFamily="34" charset="-122"/>
              </a:rPr>
              <a:t>，故而各</a:t>
            </a:r>
            <a:r>
              <a:rPr lang="zh-CN" altLang="en-US" b="1" dirty="0" smtClean="0">
                <a:latin typeface="微软雅黑" pitchFamily="34" charset="-122"/>
                <a:ea typeface="微软雅黑" pitchFamily="34" charset="-122"/>
              </a:rPr>
              <a:t>个字段</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长度都是不确定的</a:t>
            </a:r>
            <a:r>
              <a:rPr lang="zh-CN" altLang="en-US" b="1" dirty="0" smtClean="0">
                <a:solidFill>
                  <a:srgbClr val="C00000"/>
                </a:solidFill>
                <a:latin typeface="微软雅黑" pitchFamily="34" charset="-122"/>
                <a:ea typeface="微软雅黑" pitchFamily="34" charset="-122"/>
              </a:rPr>
              <a:t>。</a:t>
            </a:r>
            <a:endParaRPr lang="en-US" altLang="zh-CN" b="1" dirty="0" smtClean="0">
              <a:solidFill>
                <a:srgbClr val="C00000"/>
              </a:solidFill>
              <a:latin typeface="微软雅黑" pitchFamily="34" charset="-122"/>
              <a:ea typeface="微软雅黑" pitchFamily="34" charset="-122"/>
            </a:endParaRPr>
          </a:p>
          <a:p>
            <a:pPr eaLnBrk="0" hangingPunct="0">
              <a:lnSpc>
                <a:spcPts val="2600"/>
              </a:lnSpc>
              <a:buClr>
                <a:srgbClr val="0070C0"/>
              </a:buClr>
            </a:pPr>
            <a:r>
              <a:rPr lang="zh-CN" altLang="en-US" b="1" dirty="0" smtClean="0">
                <a:solidFill>
                  <a:srgbClr val="0000FF"/>
                </a:solidFill>
                <a:latin typeface="微软雅黑" pitchFamily="34" charset="-122"/>
                <a:ea typeface="微软雅黑" pitchFamily="34" charset="-122"/>
              </a:rPr>
              <a:t>三个组成部分：</a:t>
            </a:r>
            <a:endParaRPr lang="en-US" altLang="zh-CN" b="1" dirty="0" smtClean="0">
              <a:solidFill>
                <a:srgbClr val="0000FF"/>
              </a:solidFill>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起始行：</a:t>
            </a:r>
            <a:r>
              <a:rPr lang="zh-CN" altLang="en-US" b="1" dirty="0" smtClean="0">
                <a:latin typeface="微软雅黑" pitchFamily="34" charset="-122"/>
                <a:ea typeface="微软雅黑" pitchFamily="34" charset="-122"/>
              </a:rPr>
              <a:t>用于区分</a:t>
            </a:r>
            <a:r>
              <a:rPr lang="zh-CN" altLang="en-US" b="1" dirty="0">
                <a:latin typeface="微软雅黑" pitchFamily="34" charset="-122"/>
                <a:ea typeface="微软雅黑" pitchFamily="34" charset="-122"/>
              </a:rPr>
              <a:t>是请求报文还是响应报文。</a:t>
            </a:r>
            <a:endParaRPr lang="en-US" altLang="zh-CN" b="1" dirty="0" smtClean="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首部：</a:t>
            </a:r>
            <a:r>
              <a:rPr lang="zh-CN" altLang="en-US" b="1" dirty="0">
                <a:latin typeface="微软雅黑" pitchFamily="34" charset="-122"/>
                <a:ea typeface="微软雅黑" pitchFamily="34" charset="-122"/>
              </a:rPr>
              <a:t>说明浏览器、服务器或报文主体的一些信息</a:t>
            </a:r>
            <a:r>
              <a:rPr lang="zh-CN" altLang="en-US" b="1" dirty="0" smtClean="0">
                <a:latin typeface="微软雅黑" pitchFamily="34" charset="-122"/>
                <a:ea typeface="微软雅黑" pitchFamily="34" charset="-122"/>
              </a:rPr>
              <a:t>。可以有多行，也</a:t>
            </a:r>
            <a:r>
              <a:rPr lang="zh-CN" altLang="en-US" b="1" dirty="0">
                <a:latin typeface="微软雅黑" pitchFamily="34" charset="-122"/>
                <a:ea typeface="微软雅黑" pitchFamily="34" charset="-122"/>
              </a:rPr>
              <a:t>可以不使用。</a:t>
            </a:r>
            <a:endParaRPr lang="en-US" altLang="zh-CN" b="1" dirty="0" smtClean="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报文主体</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请求报文中</a:t>
            </a:r>
            <a:r>
              <a:rPr lang="zh-CN" altLang="en-US" b="1" dirty="0" smtClean="0">
                <a:latin typeface="微软雅黑" pitchFamily="34" charset="-122"/>
                <a:ea typeface="微软雅黑" pitchFamily="34" charset="-122"/>
              </a:rPr>
              <a:t>一般不用</a:t>
            </a:r>
            <a:r>
              <a:rPr lang="zh-CN" altLang="en-US" b="1" dirty="0">
                <a:latin typeface="微软雅黑" pitchFamily="34" charset="-122"/>
                <a:ea typeface="微软雅黑" pitchFamily="34" charset="-122"/>
              </a:rPr>
              <a:t>，响应报文中是否</a:t>
            </a:r>
            <a:r>
              <a:rPr lang="zh-CN" altLang="en-US" b="1" dirty="0" smtClean="0">
                <a:latin typeface="微软雅黑" pitchFamily="34" charset="-122"/>
                <a:ea typeface="微软雅黑" pitchFamily="34" charset="-122"/>
              </a:rPr>
              <a:t>包含取决于</a:t>
            </a:r>
            <a:r>
              <a:rPr lang="en-US" altLang="zh-CN" b="1" dirty="0">
                <a:latin typeface="微软雅黑" pitchFamily="34" charset="-122"/>
                <a:ea typeface="微软雅黑" pitchFamily="34" charset="-122"/>
              </a:rPr>
              <a:t>HTTP</a:t>
            </a:r>
            <a:r>
              <a:rPr lang="zh-CN" altLang="en-US" b="1" dirty="0">
                <a:latin typeface="微软雅黑" pitchFamily="34" charset="-122"/>
                <a:ea typeface="微软雅黑" pitchFamily="34" charset="-122"/>
              </a:rPr>
              <a:t>响应的语义。</a:t>
            </a:r>
            <a:endParaRPr lang="en-US" altLang="zh-CN"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5698318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fade">
                                      <p:cBhvr>
                                        <p:cTn id="7" dur="500"/>
                                        <p:tgtEl>
                                          <p:spTgt spid="10">
                                            <p:txEl>
                                              <p:pRg st="4" end="4"/>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fade">
                                      <p:cBhvr>
                                        <p:cTn id="10" dur="500"/>
                                        <p:tgtEl>
                                          <p:spTgt spid="10">
                                            <p:txEl>
                                              <p:pRg st="5" end="5"/>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fade">
                                      <p:cBhvr>
                                        <p:cTn id="13" dur="500"/>
                                        <p:tgtEl>
                                          <p:spTgt spid="10">
                                            <p:txEl>
                                              <p:pRg st="6" end="6"/>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xEl>
                                              <p:pRg st="7" end="7"/>
                                            </p:txEl>
                                          </p:spTgt>
                                        </p:tgtEl>
                                        <p:attrNameLst>
                                          <p:attrName>style.visibility</p:attrName>
                                        </p:attrNameLst>
                                      </p:cBhvr>
                                      <p:to>
                                        <p:strVal val="visible"/>
                                      </p:to>
                                    </p:set>
                                    <p:animEffect transition="in" filter="fade">
                                      <p:cBhvr>
                                        <p:cTn id="16"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41"/>
          <p:cNvSpPr txBox="1">
            <a:spLocks noChangeArrowheads="1"/>
          </p:cNvSpPr>
          <p:nvPr/>
        </p:nvSpPr>
        <p:spPr bwMode="auto">
          <a:xfrm>
            <a:off x="3802295" y="1414998"/>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3" name="Text Box 47"/>
          <p:cNvSpPr txBox="1">
            <a:spLocks noChangeArrowheads="1"/>
          </p:cNvSpPr>
          <p:nvPr/>
        </p:nvSpPr>
        <p:spPr bwMode="auto">
          <a:xfrm>
            <a:off x="1876736" y="194753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3" name="Text Box 58"/>
          <p:cNvSpPr txBox="1">
            <a:spLocks noChangeArrowheads="1"/>
          </p:cNvSpPr>
          <p:nvPr/>
        </p:nvSpPr>
        <p:spPr bwMode="auto">
          <a:xfrm>
            <a:off x="3809577" y="2796426"/>
            <a:ext cx="126188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chemeClr val="bg1"/>
                </a:solidFill>
                <a:latin typeface="微软雅黑" pitchFamily="34" charset="-122"/>
                <a:ea typeface="微软雅黑" pitchFamily="34" charset="-122"/>
              </a:rPr>
              <a:t>报文主体</a:t>
            </a:r>
            <a:endParaRPr kumimoji="1" lang="zh-CN" altLang="en-US" sz="1400" b="1" dirty="0">
              <a:solidFill>
                <a:schemeClr val="bg1"/>
              </a:solidFill>
              <a:latin typeface="微软雅黑" pitchFamily="34" charset="-122"/>
              <a:ea typeface="微软雅黑" pitchFamily="34" charset="-122"/>
            </a:endParaRPr>
          </a:p>
          <a:p>
            <a:pPr algn="ctr" eaLnBrk="1" hangingPunct="1"/>
            <a:r>
              <a:rPr kumimoji="1" lang="zh-CN" altLang="en-US" sz="1400" b="1" dirty="0">
                <a:solidFill>
                  <a:schemeClr val="bg1"/>
                </a:solidFill>
                <a:latin typeface="微软雅黑" pitchFamily="34" charset="-122"/>
                <a:ea typeface="微软雅黑" pitchFamily="34" charset="-122"/>
              </a:rPr>
              <a:t>（通常不用）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grpSp>
        <p:nvGrpSpPr>
          <p:cNvPr id="201" name="Group 134"/>
          <p:cNvGrpSpPr>
            <a:grpSpLocks/>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smtClean="0">
                  <a:latin typeface="微软雅黑" pitchFamily="34" charset="-122"/>
                  <a:ea typeface="微软雅黑" pitchFamily="34" charset="-122"/>
                </a:rPr>
                <a:t>请求行</a:t>
              </a:r>
              <a:endParaRPr lang="zh-CN" altLang="en-US" sz="1400" b="1" dirty="0">
                <a:latin typeface="微软雅黑" pitchFamily="34" charset="-122"/>
                <a:ea typeface="微软雅黑"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6" name="矩形 205"/>
          <p:cNvSpPr/>
          <p:nvPr/>
        </p:nvSpPr>
        <p:spPr>
          <a:xfrm>
            <a:off x="1346773" y="3552318"/>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itchFamily="34" charset="-122"/>
                <a:ea typeface="微软雅黑" pitchFamily="34" charset="-122"/>
              </a:rPr>
              <a:t>在</a:t>
            </a:r>
            <a:r>
              <a:rPr kumimoji="1" lang="zh-CN" altLang="en-US" sz="1400" b="1" dirty="0">
                <a:latin typeface="微软雅黑" pitchFamily="34" charset="-122"/>
                <a:ea typeface="微软雅黑" pitchFamily="34" charset="-122"/>
              </a:rPr>
              <a:t>请求报文中</a:t>
            </a:r>
            <a:r>
              <a:rPr kumimoji="1" lang="zh-CN" altLang="en-US" sz="1400" b="1" dirty="0" smtClean="0">
                <a:latin typeface="微软雅黑" pitchFamily="34" charset="-122"/>
                <a:ea typeface="微软雅黑" pitchFamily="34" charset="-122"/>
              </a:rPr>
              <a:t>，起始行就是</a:t>
            </a:r>
            <a:r>
              <a:rPr kumimoji="1" lang="zh-CN" altLang="en-US" sz="1400" b="1" dirty="0">
                <a:latin typeface="微软雅黑" pitchFamily="34" charset="-122"/>
                <a:ea typeface="微软雅黑" pitchFamily="34" charset="-122"/>
              </a:rPr>
              <a:t>请求行。</a:t>
            </a:r>
          </a:p>
        </p:txBody>
      </p:sp>
    </p:spTree>
    <p:extLst>
      <p:ext uri="{BB962C8B-B14F-4D97-AF65-F5344CB8AC3E}">
        <p14:creationId xmlns:p14="http://schemas.microsoft.com/office/powerpoint/2010/main" val="2851425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chemeClr val="bg1"/>
                </a:solidFill>
                <a:latin typeface="微软雅黑" pitchFamily="34" charset="-122"/>
                <a:ea typeface="微软雅黑" pitchFamily="34" charset="-122"/>
              </a:rPr>
              <a:t>报文主体</a:t>
            </a:r>
            <a:endParaRPr kumimoji="1" lang="zh-CN" altLang="en-US" sz="1200" b="1" dirty="0">
              <a:solidFill>
                <a:schemeClr val="bg1"/>
              </a:solidFill>
              <a:latin typeface="微软雅黑" pitchFamily="34" charset="-122"/>
              <a:ea typeface="微软雅黑" pitchFamily="34" charset="-122"/>
            </a:endParaRP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7" name="Rectangle 132"/>
          <p:cNvSpPr>
            <a:spLocks noChangeArrowheads="1"/>
          </p:cNvSpPr>
          <p:nvPr/>
        </p:nvSpPr>
        <p:spPr bwMode="auto">
          <a:xfrm>
            <a:off x="2622487" y="1393059"/>
            <a:ext cx="1029240"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itchFamily="34" charset="-122"/>
                <a:ea typeface="微软雅黑" pitchFamily="34" charset="-122"/>
              </a:rPr>
              <a:t>方法：对</a:t>
            </a:r>
            <a:r>
              <a:rPr kumimoji="1" lang="zh-CN" altLang="en-US" sz="1400" b="1" dirty="0">
                <a:latin typeface="微软雅黑" pitchFamily="34" charset="-122"/>
                <a:ea typeface="微软雅黑" pitchFamily="34" charset="-122"/>
              </a:rPr>
              <a:t>所请求的对象进行的操作</a:t>
            </a:r>
            <a:r>
              <a:rPr kumimoji="1" lang="zh-CN" altLang="en-US" sz="1400" b="1" dirty="0" smtClean="0">
                <a:latin typeface="微软雅黑" pitchFamily="34" charset="-122"/>
                <a:ea typeface="微软雅黑" pitchFamily="34" charset="-122"/>
              </a:rPr>
              <a:t>，实际上就是</a:t>
            </a:r>
            <a:r>
              <a:rPr kumimoji="1" lang="zh-CN" altLang="en-US" sz="1400" b="1" dirty="0">
                <a:latin typeface="微软雅黑" pitchFamily="34" charset="-122"/>
                <a:ea typeface="微软雅黑" pitchFamily="34" charset="-122"/>
              </a:rPr>
              <a:t>一些命令</a:t>
            </a:r>
            <a:r>
              <a:rPr kumimoji="1" lang="zh-CN" altLang="en-US" sz="1400" b="1" dirty="0" smtClean="0">
                <a:latin typeface="微软雅黑" pitchFamily="34" charset="-122"/>
                <a:ea typeface="微软雅黑" pitchFamily="34" charset="-122"/>
              </a:rPr>
              <a:t>。</a:t>
            </a:r>
            <a:endParaRPr kumimoji="1" lang="en-US" altLang="zh-CN" sz="1400" b="1" dirty="0" smtClean="0">
              <a:latin typeface="微软雅黑" pitchFamily="34" charset="-122"/>
              <a:ea typeface="微软雅黑" pitchFamily="34" charset="-122"/>
            </a:endParaRPr>
          </a:p>
          <a:p>
            <a:pPr>
              <a:lnSpc>
                <a:spcPts val="2000"/>
              </a:lnSpc>
            </a:pPr>
            <a:r>
              <a:rPr kumimoji="1" lang="zh-CN" altLang="en-US" sz="1400" b="1" dirty="0" smtClean="0">
                <a:latin typeface="微软雅黑" pitchFamily="34" charset="-122"/>
                <a:ea typeface="微软雅黑" pitchFamily="34" charset="-122"/>
              </a:rPr>
              <a:t>请求</a:t>
            </a:r>
            <a:r>
              <a:rPr kumimoji="1" lang="zh-CN" altLang="en-US" sz="1400" b="1" dirty="0">
                <a:latin typeface="微软雅黑" pitchFamily="34" charset="-122"/>
                <a:ea typeface="微软雅黑" pitchFamily="34" charset="-122"/>
              </a:rPr>
              <a:t>报文的类型是由它所采用的方法决定的。 </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smtClean="0">
                <a:latin typeface="微软雅黑" pitchFamily="34" charset="-122"/>
                <a:ea typeface="微软雅黑" pitchFamily="34" charset="-122"/>
              </a:rPr>
              <a:t>请求行</a:t>
            </a:r>
            <a:endParaRPr lang="zh-CN" altLang="en-US" sz="1400" b="1" dirty="0">
              <a:latin typeface="微软雅黑" pitchFamily="34" charset="-122"/>
              <a:ea typeface="微软雅黑" pitchFamily="34" charset="-122"/>
            </a:endParaRPr>
          </a:p>
        </p:txBody>
      </p:sp>
      <p:sp>
        <p:nvSpPr>
          <p:cNvPr id="70" name="Text Box 47"/>
          <p:cNvSpPr txBox="1">
            <a:spLocks noChangeArrowheads="1"/>
          </p:cNvSpPr>
          <p:nvPr/>
        </p:nvSpPr>
        <p:spPr bwMode="auto">
          <a:xfrm>
            <a:off x="1876736" y="194753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24775283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矩形 2"/>
          <p:cNvSpPr/>
          <p:nvPr/>
        </p:nvSpPr>
        <p:spPr>
          <a:xfrm>
            <a:off x="645268" y="560764"/>
            <a:ext cx="327423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a:t>
            </a:r>
            <a:r>
              <a:rPr lang="zh-CN" altLang="en-US" sz="2000" b="1" dirty="0" smtClean="0">
                <a:latin typeface="微软雅黑" pitchFamily="34" charset="-122"/>
                <a:ea typeface="微软雅黑" pitchFamily="34" charset="-122"/>
              </a:rPr>
              <a:t>报文常用的方法</a:t>
            </a:r>
            <a:endParaRPr lang="zh-CN" altLang="en-US" sz="2000" b="1" dirty="0">
              <a:latin typeface="微软雅黑" pitchFamily="34" charset="-122"/>
              <a:ea typeface="微软雅黑" pitchFamily="34" charset="-122"/>
            </a:endParaRPr>
          </a:p>
        </p:txBody>
      </p:sp>
      <p:cxnSp>
        <p:nvCxnSpPr>
          <p:cNvPr id="9" name="直接连接符 8"/>
          <p:cNvCxnSpPr/>
          <p:nvPr/>
        </p:nvCxnSpPr>
        <p:spPr>
          <a:xfrm>
            <a:off x="3060406" y="960874"/>
            <a:ext cx="0" cy="338600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4" name="表格 3"/>
          <p:cNvGraphicFramePr>
            <a:graphicFrameLocks noGrp="1"/>
          </p:cNvGraphicFramePr>
          <p:nvPr>
            <p:extLst/>
          </p:nvPr>
        </p:nvGraphicFramePr>
        <p:xfrm>
          <a:off x="745789" y="1083013"/>
          <a:ext cx="7717281" cy="3544200"/>
        </p:xfrm>
        <a:graphic>
          <a:graphicData uri="http://schemas.openxmlformats.org/drawingml/2006/table">
            <a:tbl>
              <a:tblPr>
                <a:tableStyleId>{35758FB7-9AC5-4552-8A53-C91805E547FA}</a:tableStyleId>
              </a:tblPr>
              <a:tblGrid>
                <a:gridCol w="1643964">
                  <a:extLst>
                    <a:ext uri="{9D8B030D-6E8A-4147-A177-3AD203B41FA5}">
                      <a16:colId xmlns:a16="http://schemas.microsoft.com/office/drawing/2014/main" val="2728557820"/>
                    </a:ext>
                  </a:extLst>
                </a:gridCol>
                <a:gridCol w="3865782">
                  <a:extLst>
                    <a:ext uri="{9D8B030D-6E8A-4147-A177-3AD203B41FA5}">
                      <a16:colId xmlns:a16="http://schemas.microsoft.com/office/drawing/2014/main" val="1769449518"/>
                    </a:ext>
                  </a:extLst>
                </a:gridCol>
                <a:gridCol w="2207535">
                  <a:extLst>
                    <a:ext uri="{9D8B030D-6E8A-4147-A177-3AD203B41FA5}">
                      <a16:colId xmlns:a16="http://schemas.microsoft.com/office/drawing/2014/main" val="1575223471"/>
                    </a:ext>
                  </a:extLst>
                </a:gridCol>
              </a:tblGrid>
              <a:tr h="343747">
                <a:tc>
                  <a:txBody>
                    <a:bodyPr/>
                    <a:lstStyle/>
                    <a:p>
                      <a:pPr algn="ctr">
                        <a:lnSpc>
                          <a:spcPts val="1400"/>
                        </a:lnSpc>
                        <a:spcAft>
                          <a:spcPts val="0"/>
                        </a:spcAft>
                      </a:pPr>
                      <a:r>
                        <a:rPr lang="zh-CN" sz="1600" b="1" kern="100" dirty="0">
                          <a:effectLst/>
                          <a:latin typeface="微软雅黑" panose="020B0503020204020204" pitchFamily="34" charset="-122"/>
                          <a:ea typeface="微软雅黑" panose="020B0503020204020204" pitchFamily="34" charset="-122"/>
                        </a:rPr>
                        <a:t>方法（操作）</a:t>
                      </a:r>
                    </a:p>
                  </a:txBody>
                  <a:tcPr marL="68580" marR="68580" marT="108000" marB="108000" anchor="ctr"/>
                </a:tc>
                <a:tc>
                  <a:txBody>
                    <a:bodyPr/>
                    <a:lstStyle/>
                    <a:p>
                      <a:pPr algn="ctr">
                        <a:lnSpc>
                          <a:spcPts val="1400"/>
                        </a:lnSpc>
                        <a:spcAft>
                          <a:spcPts val="0"/>
                        </a:spcAft>
                      </a:pPr>
                      <a:r>
                        <a:rPr lang="zh-CN" sz="1600" b="1" kern="100" dirty="0">
                          <a:effectLst/>
                          <a:latin typeface="微软雅黑" panose="020B0503020204020204" pitchFamily="34" charset="-122"/>
                          <a:ea typeface="微软雅黑" panose="020B0503020204020204" pitchFamily="34" charset="-122"/>
                        </a:rPr>
                        <a:t>描述</a:t>
                      </a:r>
                    </a:p>
                  </a:txBody>
                  <a:tcPr marL="68580" marR="68580" marT="108000" marB="108000" anchor="ctr"/>
                </a:tc>
                <a:tc>
                  <a:txBody>
                    <a:bodyPr/>
                    <a:lstStyle/>
                    <a:p>
                      <a:pPr algn="ctr">
                        <a:lnSpc>
                          <a:spcPts val="1400"/>
                        </a:lnSpc>
                        <a:spcAft>
                          <a:spcPts val="0"/>
                        </a:spcAft>
                      </a:pPr>
                      <a:r>
                        <a:rPr lang="zh-CN" sz="1600" b="1" kern="100" dirty="0">
                          <a:effectLst/>
                          <a:latin typeface="微软雅黑" panose="020B0503020204020204" pitchFamily="34" charset="-122"/>
                          <a:ea typeface="微软雅黑" panose="020B0503020204020204" pitchFamily="34" charset="-122"/>
                        </a:rPr>
                        <a:t>报文主体</a:t>
                      </a:r>
                    </a:p>
                  </a:txBody>
                  <a:tcPr marL="68580" marR="68580" marT="108000" marB="108000" anchor="ctr"/>
                </a:tc>
                <a:extLst>
                  <a:ext uri="{0D108BD9-81ED-4DB2-BD59-A6C34878D82A}">
                    <a16:rowId xmlns:a16="http://schemas.microsoft.com/office/drawing/2014/main" val="2572445277"/>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OPTION</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请求一些选项的信息</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2234277822"/>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GET</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请求读取由</a:t>
                      </a:r>
                      <a:r>
                        <a:rPr lang="en-US" sz="1600" kern="100" dirty="0">
                          <a:effectLst/>
                          <a:latin typeface="微软雅黑" panose="020B0503020204020204" pitchFamily="34" charset="-122"/>
                          <a:ea typeface="微软雅黑" panose="020B0503020204020204" pitchFamily="34" charset="-122"/>
                        </a:rPr>
                        <a:t>URL</a:t>
                      </a:r>
                      <a:r>
                        <a:rPr lang="zh-CN" sz="1600" kern="100" dirty="0">
                          <a:effectLst/>
                          <a:latin typeface="微软雅黑" panose="020B0503020204020204" pitchFamily="34" charset="-122"/>
                          <a:ea typeface="微软雅黑" panose="020B0503020204020204" pitchFamily="34" charset="-122"/>
                        </a:rPr>
                        <a:t>所标志的信息</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3225503099"/>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HEAD</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请求读取由</a:t>
                      </a:r>
                      <a:r>
                        <a:rPr lang="en-US" sz="1600" kern="100" dirty="0">
                          <a:effectLst/>
                          <a:latin typeface="微软雅黑" panose="020B0503020204020204" pitchFamily="34" charset="-122"/>
                          <a:ea typeface="微软雅黑" panose="020B0503020204020204" pitchFamily="34" charset="-122"/>
                        </a:rPr>
                        <a:t>URL</a:t>
                      </a:r>
                      <a:r>
                        <a:rPr lang="zh-CN" sz="1600" kern="100" dirty="0">
                          <a:effectLst/>
                          <a:latin typeface="微软雅黑" panose="020B0503020204020204" pitchFamily="34" charset="-122"/>
                          <a:ea typeface="微软雅黑" panose="020B0503020204020204" pitchFamily="34" charset="-122"/>
                        </a:rPr>
                        <a:t>所标志的信息的首部</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3435694984"/>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POST</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向服务器提交数据（例如，文件或表单）</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提交的文件或表单</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1656733795"/>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PUT</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在指明的</a:t>
                      </a:r>
                      <a:r>
                        <a:rPr lang="en-US" sz="1600" kern="100" dirty="0">
                          <a:effectLst/>
                          <a:latin typeface="微软雅黑" panose="020B0503020204020204" pitchFamily="34" charset="-122"/>
                          <a:ea typeface="微软雅黑" panose="020B0503020204020204" pitchFamily="34" charset="-122"/>
                        </a:rPr>
                        <a:t>URL</a:t>
                      </a:r>
                      <a:r>
                        <a:rPr lang="zh-CN" sz="1600" kern="100" dirty="0">
                          <a:effectLst/>
                          <a:latin typeface="微软雅黑" panose="020B0503020204020204" pitchFamily="34" charset="-122"/>
                          <a:ea typeface="微软雅黑" panose="020B0503020204020204" pitchFamily="34" charset="-122"/>
                        </a:rPr>
                        <a:t>下更新或替换一个文件</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要更新或替换的文件</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3819060243"/>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DELETE</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a:effectLst/>
                          <a:latin typeface="微软雅黑" panose="020B0503020204020204" pitchFamily="34" charset="-122"/>
                          <a:ea typeface="微软雅黑" panose="020B0503020204020204" pitchFamily="34" charset="-122"/>
                        </a:rPr>
                        <a:t>删除指明的</a:t>
                      </a:r>
                      <a:r>
                        <a:rPr lang="en-US" sz="1600" kern="100">
                          <a:effectLst/>
                          <a:latin typeface="微软雅黑" panose="020B0503020204020204" pitchFamily="34" charset="-122"/>
                          <a:ea typeface="微软雅黑" panose="020B0503020204020204" pitchFamily="34" charset="-122"/>
                        </a:rPr>
                        <a:t>URL</a:t>
                      </a:r>
                      <a:r>
                        <a:rPr lang="zh-CN" sz="1600" kern="100">
                          <a:effectLst/>
                          <a:latin typeface="微软雅黑" panose="020B0503020204020204" pitchFamily="34" charset="-122"/>
                          <a:ea typeface="微软雅黑" panose="020B0503020204020204" pitchFamily="34" charset="-122"/>
                        </a:rPr>
                        <a:t>所标志的资源</a:t>
                      </a:r>
                      <a:endParaRPr lang="zh-CN" sz="1600" b="0" kern="10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通常不包含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1791818141"/>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TRACE</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用来进行环回测试的请求报文</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1593982537"/>
                  </a:ext>
                </a:extLst>
              </a:tr>
              <a:tr h="351234">
                <a:tc>
                  <a:txBody>
                    <a:bodyPr/>
                    <a:lstStyle/>
                    <a:p>
                      <a:pPr algn="ctr">
                        <a:lnSpc>
                          <a:spcPts val="1400"/>
                        </a:lnSpc>
                        <a:spcAft>
                          <a:spcPts val="0"/>
                        </a:spcAft>
                      </a:pPr>
                      <a:r>
                        <a:rPr lang="en-US" sz="1600" kern="100" dirty="0">
                          <a:effectLst/>
                          <a:latin typeface="微软雅黑" panose="020B0503020204020204" pitchFamily="34" charset="-122"/>
                          <a:ea typeface="微软雅黑" panose="020B0503020204020204" pitchFamily="34" charset="-122"/>
                        </a:rPr>
                        <a:t>CONNECT</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用于代理服务器</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tc>
                  <a:txBody>
                    <a:bodyPr/>
                    <a:lstStyle/>
                    <a:p>
                      <a:pPr algn="just">
                        <a:lnSpc>
                          <a:spcPts val="1400"/>
                        </a:lnSpc>
                        <a:spcAft>
                          <a:spcPts val="0"/>
                        </a:spcAft>
                      </a:pPr>
                      <a:r>
                        <a:rPr lang="zh-CN" sz="1600" kern="100" dirty="0">
                          <a:effectLst/>
                          <a:latin typeface="微软雅黑" panose="020B0503020204020204" pitchFamily="34" charset="-122"/>
                          <a:ea typeface="微软雅黑" panose="020B0503020204020204" pitchFamily="34" charset="-122"/>
                        </a:rPr>
                        <a:t>不包含</a:t>
                      </a:r>
                      <a:endParaRPr lang="zh-CN" sz="1600" b="0" kern="100" dirty="0">
                        <a:effectLst/>
                        <a:latin typeface="微软雅黑" panose="020B0503020204020204" pitchFamily="34" charset="-122"/>
                        <a:ea typeface="微软雅黑" panose="020B0503020204020204" pitchFamily="34" charset="-122"/>
                      </a:endParaRPr>
                    </a:p>
                  </a:txBody>
                  <a:tcPr marL="68580" marR="68580" marT="108000" marB="108000" anchor="ctr"/>
                </a:tc>
                <a:extLst>
                  <a:ext uri="{0D108BD9-81ED-4DB2-BD59-A6C34878D82A}">
                    <a16:rowId xmlns:a16="http://schemas.microsoft.com/office/drawing/2014/main" val="1921195582"/>
                  </a:ext>
                </a:extLst>
              </a:tr>
            </a:tbl>
          </a:graphicData>
        </a:graphic>
      </p:graphicFrame>
    </p:spTree>
    <p:extLst>
      <p:ext uri="{BB962C8B-B14F-4D97-AF65-F5344CB8AC3E}">
        <p14:creationId xmlns:p14="http://schemas.microsoft.com/office/powerpoint/2010/main" val="21037000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chemeClr val="bg1"/>
                </a:solidFill>
                <a:latin typeface="微软雅黑" pitchFamily="34" charset="-122"/>
                <a:ea typeface="微软雅黑" pitchFamily="34" charset="-122"/>
              </a:rPr>
              <a:t>报文主体</a:t>
            </a:r>
            <a:endParaRPr kumimoji="1" lang="zh-CN" altLang="en-US" sz="1200" b="1" dirty="0">
              <a:solidFill>
                <a:schemeClr val="bg1"/>
              </a:solidFill>
              <a:latin typeface="微软雅黑" pitchFamily="34" charset="-122"/>
              <a:ea typeface="微软雅黑" pitchFamily="34" charset="-122"/>
            </a:endParaRP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en-US" altLang="zh-CN" sz="1400" b="1" dirty="0" smtClean="0">
                <a:latin typeface="微软雅黑" pitchFamily="34" charset="-122"/>
                <a:ea typeface="微软雅黑" pitchFamily="34" charset="-122"/>
              </a:rPr>
              <a:t>URL</a:t>
            </a:r>
            <a:r>
              <a:rPr kumimoji="1" lang="zh-CN" altLang="en-US" sz="1400" b="1" dirty="0" smtClean="0">
                <a:latin typeface="微软雅黑" pitchFamily="34" charset="-122"/>
                <a:ea typeface="微软雅黑" pitchFamily="34" charset="-122"/>
              </a:rPr>
              <a:t>：所</a:t>
            </a:r>
            <a:r>
              <a:rPr kumimoji="1" lang="zh-CN" altLang="en-US" sz="1400" b="1" dirty="0">
                <a:latin typeface="微软雅黑" pitchFamily="34" charset="-122"/>
                <a:ea typeface="微软雅黑" pitchFamily="34" charset="-122"/>
              </a:rPr>
              <a:t>请求的资源的 </a:t>
            </a:r>
            <a:r>
              <a:rPr kumimoji="1" lang="en-US" altLang="zh-CN" sz="1400" b="1" dirty="0">
                <a:latin typeface="微软雅黑" pitchFamily="34" charset="-122"/>
                <a:ea typeface="微软雅黑" pitchFamily="34" charset="-122"/>
              </a:rPr>
              <a:t>URL</a:t>
            </a:r>
            <a:r>
              <a:rPr kumimoji="1" lang="zh-CN" altLang="en-US" sz="1400" b="1" dirty="0">
                <a:latin typeface="微软雅黑" pitchFamily="34" charset="-122"/>
                <a:ea typeface="微软雅黑" pitchFamily="34" charset="-122"/>
              </a:rPr>
              <a:t>。</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smtClean="0">
                <a:latin typeface="微软雅黑" pitchFamily="34" charset="-122"/>
                <a:ea typeface="微软雅黑" pitchFamily="34" charset="-122"/>
              </a:rPr>
              <a:t>请求行</a:t>
            </a:r>
            <a:endParaRPr lang="zh-CN" altLang="en-US" sz="1400" b="1" dirty="0">
              <a:latin typeface="微软雅黑" pitchFamily="34" charset="-122"/>
              <a:ea typeface="微软雅黑" pitchFamily="34" charset="-122"/>
            </a:endParaRPr>
          </a:p>
        </p:txBody>
      </p:sp>
      <p:sp>
        <p:nvSpPr>
          <p:cNvPr id="70" name="Text Box 47"/>
          <p:cNvSpPr txBox="1">
            <a:spLocks noChangeArrowheads="1"/>
          </p:cNvSpPr>
          <p:nvPr/>
        </p:nvSpPr>
        <p:spPr bwMode="auto">
          <a:xfrm>
            <a:off x="1876736" y="194753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3" name="Rectangle 132"/>
          <p:cNvSpPr>
            <a:spLocks noChangeArrowheads="1"/>
          </p:cNvSpPr>
          <p:nvPr/>
        </p:nvSpPr>
        <p:spPr bwMode="auto">
          <a:xfrm>
            <a:off x="3592182" y="1395872"/>
            <a:ext cx="1006775"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7561589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chemeClr val="bg1"/>
                </a:solidFill>
                <a:latin typeface="微软雅黑" pitchFamily="34" charset="-122"/>
                <a:ea typeface="微软雅黑" pitchFamily="34" charset="-122"/>
              </a:rPr>
              <a:t>报文主体</a:t>
            </a:r>
            <a:endParaRPr kumimoji="1" lang="zh-CN" altLang="en-US" sz="1200" b="1" dirty="0">
              <a:solidFill>
                <a:schemeClr val="bg1"/>
              </a:solidFill>
              <a:latin typeface="微软雅黑" pitchFamily="34" charset="-122"/>
              <a:ea typeface="微软雅黑" pitchFamily="34" charset="-122"/>
            </a:endParaRP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itchFamily="34" charset="-122"/>
                <a:ea typeface="微软雅黑" pitchFamily="34" charset="-122"/>
              </a:rPr>
              <a:t>版本：</a:t>
            </a:r>
            <a:r>
              <a:rPr kumimoji="1" lang="en-US" altLang="zh-CN" sz="1400" b="1" dirty="0" smtClean="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的版本。</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smtClean="0">
                <a:latin typeface="微软雅黑" pitchFamily="34" charset="-122"/>
                <a:ea typeface="微软雅黑" pitchFamily="34" charset="-122"/>
              </a:rPr>
              <a:t>请求行</a:t>
            </a:r>
            <a:endParaRPr lang="zh-CN" altLang="en-US" sz="1400" b="1" dirty="0">
              <a:latin typeface="微软雅黑" pitchFamily="34" charset="-122"/>
              <a:ea typeface="微软雅黑" pitchFamily="34" charset="-122"/>
            </a:endParaRPr>
          </a:p>
        </p:txBody>
      </p:sp>
      <p:sp>
        <p:nvSpPr>
          <p:cNvPr id="70" name="Text Box 47"/>
          <p:cNvSpPr txBox="1">
            <a:spLocks noChangeArrowheads="1"/>
          </p:cNvSpPr>
          <p:nvPr/>
        </p:nvSpPr>
        <p:spPr bwMode="auto">
          <a:xfrm>
            <a:off x="1876736" y="194753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4" name="Rectangle 132"/>
          <p:cNvSpPr>
            <a:spLocks noChangeArrowheads="1"/>
          </p:cNvSpPr>
          <p:nvPr/>
        </p:nvSpPr>
        <p:spPr bwMode="auto">
          <a:xfrm>
            <a:off x="4555129" y="1395872"/>
            <a:ext cx="948557"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2143029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25047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smtClean="0">
                <a:latin typeface="微软雅黑" pitchFamily="34" charset="-122"/>
                <a:ea typeface="微软雅黑" pitchFamily="34" charset="-122"/>
              </a:rPr>
              <a:t>请求报文举例</a:t>
            </a:r>
            <a:endParaRPr lang="zh-CN" altLang="en-US" sz="2000" b="1" dirty="0">
              <a:latin typeface="微软雅黑" pitchFamily="34" charset="-122"/>
              <a:ea typeface="微软雅黑" pitchFamily="34" charset="-122"/>
            </a:endParaRPr>
          </a:p>
        </p:txBody>
      </p:sp>
      <p:sp>
        <p:nvSpPr>
          <p:cNvPr id="2" name="矩形 1"/>
          <p:cNvSpPr/>
          <p:nvPr/>
        </p:nvSpPr>
        <p:spPr>
          <a:xfrm>
            <a:off x="1615736" y="1012260"/>
            <a:ext cx="3400148" cy="2092881"/>
          </a:xfrm>
          <a:prstGeom prst="rect">
            <a:avLst/>
          </a:prstGeom>
        </p:spPr>
        <p:txBody>
          <a:bodyPr wrap="square">
            <a:spAutoFit/>
          </a:bodyPr>
          <a:lstStyle/>
          <a:p>
            <a:pPr>
              <a:lnSpc>
                <a:spcPts val="2600"/>
              </a:lnSpc>
              <a:spcAft>
                <a:spcPts val="0"/>
              </a:spcAft>
            </a:pPr>
            <a:r>
              <a:rPr lang="en-US" altLang="zh-CN" b="1" kern="500" dirty="0">
                <a:solidFill>
                  <a:srgbClr val="C00000"/>
                </a:solidFill>
                <a:cs typeface="Times New Roman" panose="02020603050405020304" pitchFamily="18" charset="0"/>
              </a:rPr>
              <a:t>GET /</a:t>
            </a:r>
            <a:r>
              <a:rPr lang="en-US" altLang="zh-CN" b="1" kern="500" dirty="0" err="1">
                <a:solidFill>
                  <a:srgbClr val="C00000"/>
                </a:solidFill>
                <a:cs typeface="Times New Roman" panose="02020603050405020304" pitchFamily="18" charset="0"/>
              </a:rPr>
              <a:t>dir</a:t>
            </a:r>
            <a:r>
              <a:rPr lang="en-US" altLang="zh-CN" b="1" kern="500" dirty="0">
                <a:solidFill>
                  <a:srgbClr val="C00000"/>
                </a:solidFill>
                <a:cs typeface="Times New Roman" panose="02020603050405020304" pitchFamily="18" charset="0"/>
              </a:rPr>
              <a:t>/index.htm </a:t>
            </a:r>
            <a:r>
              <a:rPr lang="en-US" altLang="zh-CN" b="1" kern="500" dirty="0" smtClean="0">
                <a:solidFill>
                  <a:srgbClr val="C00000"/>
                </a:solidFill>
                <a:cs typeface="Times New Roman" panose="02020603050405020304" pitchFamily="18" charset="0"/>
              </a:rPr>
              <a:t>HTTP/1.1</a:t>
            </a:r>
          </a:p>
          <a:p>
            <a:pPr>
              <a:lnSpc>
                <a:spcPts val="2600"/>
              </a:lnSpc>
              <a:spcAft>
                <a:spcPts val="0"/>
              </a:spcAft>
            </a:pPr>
            <a:r>
              <a:rPr lang="en-US" altLang="zh-CN" b="1" kern="500" dirty="0" smtClean="0">
                <a:solidFill>
                  <a:srgbClr val="000099"/>
                </a:solidFill>
                <a:cs typeface="Times New Roman" panose="02020603050405020304" pitchFamily="18" charset="0"/>
              </a:rPr>
              <a:t>Host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www.xyz.edu.cn</a:t>
            </a:r>
          </a:p>
          <a:p>
            <a:pPr>
              <a:lnSpc>
                <a:spcPts val="2600"/>
              </a:lnSpc>
              <a:spcAft>
                <a:spcPts val="0"/>
              </a:spcAft>
            </a:pPr>
            <a:r>
              <a:rPr lang="en-US" altLang="zh-CN" b="1" kern="500" dirty="0" smtClean="0">
                <a:solidFill>
                  <a:srgbClr val="000099"/>
                </a:solidFill>
                <a:cs typeface="Times New Roman" panose="02020603050405020304" pitchFamily="18" charset="0"/>
              </a:rPr>
              <a:t>Connection</a:t>
            </a:r>
            <a:r>
              <a:rPr lang="en-US" altLang="zh-CN" b="1" kern="500" dirty="0">
                <a:solidFill>
                  <a:srgbClr val="000099"/>
                </a:solidFill>
                <a:cs typeface="Times New Roman" panose="02020603050405020304" pitchFamily="18" charset="0"/>
              </a:rPr>
              <a:t>: keep-alive</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User-Agent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Mozilla/5.0</a:t>
            </a:r>
          </a:p>
          <a:p>
            <a:pPr>
              <a:lnSpc>
                <a:spcPts val="2600"/>
              </a:lnSpc>
              <a:spcAft>
                <a:spcPts val="0"/>
              </a:spcAft>
            </a:pPr>
            <a:r>
              <a:rPr lang="en-US" altLang="zh-CN" b="1" kern="500" dirty="0" smtClean="0">
                <a:solidFill>
                  <a:srgbClr val="000099"/>
                </a:solidFill>
                <a:cs typeface="Times New Roman" panose="02020603050405020304" pitchFamily="18" charset="0"/>
              </a:rPr>
              <a:t>Accept-Language</a:t>
            </a:r>
            <a:r>
              <a:rPr lang="en-US" altLang="zh-CN" b="1" kern="500" dirty="0">
                <a:solidFill>
                  <a:srgbClr val="000099"/>
                </a:solidFill>
                <a:cs typeface="Times New Roman" panose="02020603050405020304" pitchFamily="18" charset="0"/>
              </a:rPr>
              <a:t>: </a:t>
            </a:r>
            <a:r>
              <a:rPr lang="en-US" altLang="zh-CN" b="1" kern="500" dirty="0" err="1" smtClean="0">
                <a:solidFill>
                  <a:srgbClr val="000099"/>
                </a:solidFill>
                <a:cs typeface="Times New Roman" panose="02020603050405020304" pitchFamily="18" charset="0"/>
              </a:rPr>
              <a:t>cn</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chemeClr val="tx1">
                    <a:lumMod val="95000"/>
                    <a:lumOff val="5000"/>
                  </a:schemeClr>
                </a:solidFill>
                <a:cs typeface="Times New Roman" panose="02020603050405020304" pitchFamily="18" charset="0"/>
              </a:rPr>
              <a:t>CRLF</a:t>
            </a:r>
          </a:p>
        </p:txBody>
      </p:sp>
      <p:sp>
        <p:nvSpPr>
          <p:cNvPr id="3" name="矩形 2"/>
          <p:cNvSpPr/>
          <p:nvPr/>
        </p:nvSpPr>
        <p:spPr>
          <a:xfrm>
            <a:off x="4898150" y="1056648"/>
            <a:ext cx="1685077" cy="338554"/>
          </a:xfrm>
          <a:prstGeom prst="rect">
            <a:avLst/>
          </a:prstGeom>
        </p:spPr>
        <p:txBody>
          <a:bodyPr wrap="none">
            <a:spAutoFit/>
          </a:bodyPr>
          <a:lstStyle/>
          <a:p>
            <a:r>
              <a:rPr lang="zh-CN" altLang="en-US" sz="1600" b="1" dirty="0" smtClean="0">
                <a:latin typeface="微软雅黑" panose="020B0503020204020204" pitchFamily="34" charset="-122"/>
                <a:ea typeface="微软雅黑" panose="020B0503020204020204" pitchFamily="34" charset="-122"/>
              </a:rPr>
              <a:t>使用</a:t>
            </a:r>
            <a:r>
              <a:rPr lang="zh-CN" altLang="en-US" sz="1600" b="1" dirty="0">
                <a:latin typeface="微软雅黑" panose="020B0503020204020204" pitchFamily="34" charset="-122"/>
                <a:ea typeface="微软雅黑" panose="020B0503020204020204" pitchFamily="34" charset="-122"/>
              </a:rPr>
              <a:t>了</a:t>
            </a:r>
            <a:r>
              <a:rPr lang="zh-CN" altLang="en-US" sz="1600" b="1" dirty="0" smtClean="0">
                <a:latin typeface="微软雅黑" panose="020B0503020204020204" pitchFamily="34" charset="-122"/>
                <a:ea typeface="微软雅黑" panose="020B0503020204020204" pitchFamily="34" charset="-122"/>
              </a:rPr>
              <a:t>相对 </a:t>
            </a:r>
            <a:r>
              <a:rPr lang="en-US" altLang="zh-CN" sz="1600" b="1" dirty="0" smtClean="0">
                <a:latin typeface="微软雅黑" panose="020B0503020204020204" pitchFamily="34" charset="-122"/>
                <a:ea typeface="微软雅黑" panose="020B0503020204020204" pitchFamily="34" charset="-122"/>
              </a:rPr>
              <a:t>URL</a:t>
            </a:r>
            <a:endParaRPr lang="zh-CN" altLang="en-US" sz="1600" b="1" dirty="0">
              <a:latin typeface="微软雅黑" panose="020B0503020204020204" pitchFamily="34" charset="-122"/>
              <a:ea typeface="微软雅黑" panose="020B0503020204020204" pitchFamily="34" charset="-122"/>
            </a:endParaRPr>
          </a:p>
        </p:txBody>
      </p:sp>
      <p:sp>
        <p:nvSpPr>
          <p:cNvPr id="63" name="Text Box 133"/>
          <p:cNvSpPr txBox="1">
            <a:spLocks noChangeArrowheads="1"/>
          </p:cNvSpPr>
          <p:nvPr/>
        </p:nvSpPr>
        <p:spPr bwMode="auto">
          <a:xfrm>
            <a:off x="759679" y="1087150"/>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smtClean="0">
                <a:latin typeface="微软雅黑" pitchFamily="34" charset="-122"/>
                <a:ea typeface="微软雅黑" pitchFamily="34" charset="-122"/>
              </a:rPr>
              <a:t>请求行</a:t>
            </a:r>
            <a:endParaRPr lang="zh-CN" altLang="en-US" sz="1400" b="1" dirty="0">
              <a:latin typeface="微软雅黑" pitchFamily="34" charset="-122"/>
              <a:ea typeface="微软雅黑" pitchFamily="34" charset="-122"/>
            </a:endParaRPr>
          </a:p>
        </p:txBody>
      </p:sp>
      <p:sp>
        <p:nvSpPr>
          <p:cNvPr id="65" name="Text Box 47"/>
          <p:cNvSpPr txBox="1">
            <a:spLocks noChangeArrowheads="1"/>
          </p:cNvSpPr>
          <p:nvPr/>
        </p:nvSpPr>
        <p:spPr bwMode="auto">
          <a:xfrm>
            <a:off x="745412" y="1850973"/>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66" name="AutoShape 56"/>
          <p:cNvSpPr>
            <a:spLocks/>
          </p:cNvSpPr>
          <p:nvPr/>
        </p:nvSpPr>
        <p:spPr bwMode="auto">
          <a:xfrm flipH="1">
            <a:off x="1433175" y="1474518"/>
            <a:ext cx="167949" cy="114439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2" name="矩形 71"/>
          <p:cNvSpPr/>
          <p:nvPr/>
        </p:nvSpPr>
        <p:spPr>
          <a:xfrm>
            <a:off x="4898150" y="1396606"/>
            <a:ext cx="2852063" cy="338554"/>
          </a:xfrm>
          <a:prstGeom prst="rect">
            <a:avLst/>
          </a:prstGeom>
        </p:spPr>
        <p:txBody>
          <a:bodyPr wrap="none">
            <a:spAutoFit/>
          </a:bodyPr>
          <a:lstStyle/>
          <a:p>
            <a:r>
              <a:rPr lang="zh-CN" altLang="en-US" sz="1600" b="1" dirty="0" smtClean="0">
                <a:latin typeface="微软雅黑" panose="020B0503020204020204" pitchFamily="34" charset="-122"/>
                <a:ea typeface="微软雅黑" panose="020B0503020204020204" pitchFamily="34" charset="-122"/>
              </a:rPr>
              <a:t>首部开始。给出服务器的域名</a:t>
            </a:r>
            <a:endParaRPr lang="zh-CN" altLang="en-US" sz="1600" b="1" dirty="0">
              <a:latin typeface="微软雅黑" panose="020B0503020204020204" pitchFamily="34" charset="-122"/>
              <a:ea typeface="微软雅黑" panose="020B0503020204020204" pitchFamily="34" charset="-122"/>
            </a:endParaRPr>
          </a:p>
        </p:txBody>
      </p:sp>
      <p:sp>
        <p:nvSpPr>
          <p:cNvPr id="73" name="矩形 72"/>
          <p:cNvSpPr/>
          <p:nvPr/>
        </p:nvSpPr>
        <p:spPr>
          <a:xfrm>
            <a:off x="4898150" y="1712542"/>
            <a:ext cx="4083169"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告诉服务器发送完请求的文档后要保持连接</a:t>
            </a:r>
          </a:p>
        </p:txBody>
      </p:sp>
      <p:sp>
        <p:nvSpPr>
          <p:cNvPr id="74" name="矩形 73"/>
          <p:cNvSpPr/>
          <p:nvPr/>
        </p:nvSpPr>
        <p:spPr>
          <a:xfrm>
            <a:off x="4898150" y="2052500"/>
            <a:ext cx="3922549" cy="338554"/>
          </a:xfrm>
          <a:prstGeom prst="rect">
            <a:avLst/>
          </a:prstGeom>
        </p:spPr>
        <p:txBody>
          <a:bodyPr wrap="none">
            <a:spAutoFit/>
          </a:bodyPr>
          <a:lstStyle/>
          <a:p>
            <a:r>
              <a:rPr lang="zh-CN" altLang="en-US" sz="1600" b="1" dirty="0" smtClean="0">
                <a:latin typeface="微软雅黑" panose="020B0503020204020204" pitchFamily="34" charset="-122"/>
                <a:ea typeface="微软雅黑" panose="020B0503020204020204" pitchFamily="34" charset="-122"/>
              </a:rPr>
              <a:t>表明客户端使用的是火狐浏览器 </a:t>
            </a:r>
            <a:r>
              <a:rPr lang="en-US" altLang="zh-CN" sz="1600" b="1" dirty="0" smtClean="0">
                <a:latin typeface="微软雅黑" panose="020B0503020204020204" pitchFamily="34" charset="-122"/>
                <a:ea typeface="微软雅黑" panose="020B0503020204020204" pitchFamily="34" charset="-122"/>
              </a:rPr>
              <a:t>Firefox</a:t>
            </a:r>
            <a:endParaRPr lang="zh-CN" altLang="en-US" sz="1600" b="1" dirty="0">
              <a:latin typeface="微软雅黑" panose="020B0503020204020204" pitchFamily="34" charset="-122"/>
              <a:ea typeface="微软雅黑" panose="020B0503020204020204" pitchFamily="34" charset="-122"/>
            </a:endParaRPr>
          </a:p>
        </p:txBody>
      </p:sp>
      <p:sp>
        <p:nvSpPr>
          <p:cNvPr id="75" name="矩形 74"/>
          <p:cNvSpPr/>
          <p:nvPr/>
        </p:nvSpPr>
        <p:spPr>
          <a:xfrm>
            <a:off x="4898150" y="2396862"/>
            <a:ext cx="285206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表示客户端的语言偏好是中文</a:t>
            </a:r>
          </a:p>
        </p:txBody>
      </p:sp>
      <p:sp>
        <p:nvSpPr>
          <p:cNvPr id="76" name="矩形 75"/>
          <p:cNvSpPr/>
          <p:nvPr/>
        </p:nvSpPr>
        <p:spPr>
          <a:xfrm>
            <a:off x="4898150" y="2736820"/>
            <a:ext cx="3467616"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请求报文的首部结束后还有一个空行</a:t>
            </a:r>
          </a:p>
        </p:txBody>
      </p:sp>
      <p:sp>
        <p:nvSpPr>
          <p:cNvPr id="77" name="矩形 76"/>
          <p:cNvSpPr/>
          <p:nvPr/>
        </p:nvSpPr>
        <p:spPr>
          <a:xfrm>
            <a:off x="4898150" y="3071423"/>
            <a:ext cx="1415772" cy="338554"/>
          </a:xfrm>
          <a:prstGeom prst="rect">
            <a:avLst/>
          </a:prstGeom>
        </p:spPr>
        <p:txBody>
          <a:bodyPr wrap="none">
            <a:spAutoFit/>
          </a:bodyPr>
          <a:lstStyle/>
          <a:p>
            <a:r>
              <a:rPr lang="zh-CN" altLang="en-US" sz="1600" b="1" dirty="0" smtClean="0">
                <a:solidFill>
                  <a:srgbClr val="0000FF"/>
                </a:solidFill>
                <a:latin typeface="微软雅黑" panose="020B0503020204020204" pitchFamily="34" charset="-122"/>
                <a:ea typeface="微软雅黑" panose="020B0503020204020204" pitchFamily="34" charset="-122"/>
              </a:rPr>
              <a:t>没有报文主体</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11170316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xEl>
                                              <p:pRg st="0" end="0"/>
                                            </p:txEl>
                                          </p:spTgt>
                                        </p:tgtEl>
                                        <p:attrNameLst>
                                          <p:attrName>style.visibility</p:attrName>
                                        </p:attrNameLst>
                                      </p:cBhvr>
                                      <p:to>
                                        <p:strVal val="visible"/>
                                      </p:to>
                                    </p:set>
                                    <p:animEffect transition="in" filter="fade">
                                      <p:cBhvr>
                                        <p:cTn id="12" dur="1000"/>
                                        <p:tgtEl>
                                          <p:spTgt spid="72">
                                            <p:txEl>
                                              <p:pRg st="0" end="0"/>
                                            </p:txEl>
                                          </p:spTgt>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73">
                                            <p:txEl>
                                              <p:pRg st="0" end="0"/>
                                            </p:txEl>
                                          </p:spTgt>
                                        </p:tgtEl>
                                        <p:attrNameLst>
                                          <p:attrName>style.visibility</p:attrName>
                                        </p:attrNameLst>
                                      </p:cBhvr>
                                      <p:to>
                                        <p:strVal val="visible"/>
                                      </p:to>
                                    </p:set>
                                    <p:animEffect transition="in" filter="fade">
                                      <p:cBhvr>
                                        <p:cTn id="16" dur="1000"/>
                                        <p:tgtEl>
                                          <p:spTgt spid="73">
                                            <p:txEl>
                                              <p:pRg st="0" end="0"/>
                                            </p:txEl>
                                          </p:spTgt>
                                        </p:tgtEl>
                                      </p:cBhvr>
                                    </p:animEffect>
                                  </p:childTnLst>
                                </p:cTn>
                              </p:par>
                            </p:childTnLst>
                          </p:cTn>
                        </p:par>
                        <p:par>
                          <p:cTn id="17" fill="hold">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74">
                                            <p:txEl>
                                              <p:pRg st="0" end="0"/>
                                            </p:txEl>
                                          </p:spTgt>
                                        </p:tgtEl>
                                        <p:attrNameLst>
                                          <p:attrName>style.visibility</p:attrName>
                                        </p:attrNameLst>
                                      </p:cBhvr>
                                      <p:to>
                                        <p:strVal val="visible"/>
                                      </p:to>
                                    </p:set>
                                    <p:animEffect transition="in" filter="fade">
                                      <p:cBhvr>
                                        <p:cTn id="20" dur="1000"/>
                                        <p:tgtEl>
                                          <p:spTgt spid="74">
                                            <p:txEl>
                                              <p:pRg st="0" end="0"/>
                                            </p:txEl>
                                          </p:spTgt>
                                        </p:tgtEl>
                                      </p:cBhvr>
                                    </p:animEffect>
                                  </p:childTnLst>
                                </p:cTn>
                              </p:par>
                            </p:childTnLst>
                          </p:cTn>
                        </p:par>
                        <p:par>
                          <p:cTn id="21" fill="hold">
                            <p:stCondLst>
                              <p:cond delay="3000"/>
                            </p:stCondLst>
                            <p:childTnLst>
                              <p:par>
                                <p:cTn id="22" presetID="10" presetClass="entr" presetSubtype="0" fill="hold" grpId="0" nodeType="afterEffect">
                                  <p:stCondLst>
                                    <p:cond delay="0"/>
                                  </p:stCondLst>
                                  <p:childTnLst>
                                    <p:set>
                                      <p:cBhvr>
                                        <p:cTn id="23" dur="1" fill="hold">
                                          <p:stCondLst>
                                            <p:cond delay="0"/>
                                          </p:stCondLst>
                                        </p:cTn>
                                        <p:tgtEl>
                                          <p:spTgt spid="75">
                                            <p:txEl>
                                              <p:pRg st="0" end="0"/>
                                            </p:txEl>
                                          </p:spTgt>
                                        </p:tgtEl>
                                        <p:attrNameLst>
                                          <p:attrName>style.visibility</p:attrName>
                                        </p:attrNameLst>
                                      </p:cBhvr>
                                      <p:to>
                                        <p:strVal val="visible"/>
                                      </p:to>
                                    </p:set>
                                    <p:animEffect transition="in" filter="fade">
                                      <p:cBhvr>
                                        <p:cTn id="24" dur="1000"/>
                                        <p:tgtEl>
                                          <p:spTgt spid="75">
                                            <p:txEl>
                                              <p:pRg st="0" end="0"/>
                                            </p:txEl>
                                          </p:spTgt>
                                        </p:tgtEl>
                                      </p:cBhvr>
                                    </p:animEffect>
                                  </p:childTnLst>
                                </p:cTn>
                              </p:par>
                            </p:childTnLst>
                          </p:cTn>
                        </p:par>
                        <p:par>
                          <p:cTn id="25" fill="hold">
                            <p:stCondLst>
                              <p:cond delay="4000"/>
                            </p:stCondLst>
                            <p:childTnLst>
                              <p:par>
                                <p:cTn id="26" presetID="10" presetClass="entr" presetSubtype="0" fill="hold" grpId="0" nodeType="afterEffect">
                                  <p:stCondLst>
                                    <p:cond delay="0"/>
                                  </p:stCondLst>
                                  <p:childTnLst>
                                    <p:set>
                                      <p:cBhvr>
                                        <p:cTn id="27" dur="1" fill="hold">
                                          <p:stCondLst>
                                            <p:cond delay="0"/>
                                          </p:stCondLst>
                                        </p:cTn>
                                        <p:tgtEl>
                                          <p:spTgt spid="76">
                                            <p:txEl>
                                              <p:pRg st="0" end="0"/>
                                            </p:txEl>
                                          </p:spTgt>
                                        </p:tgtEl>
                                        <p:attrNameLst>
                                          <p:attrName>style.visibility</p:attrName>
                                        </p:attrNameLst>
                                      </p:cBhvr>
                                      <p:to>
                                        <p:strVal val="visible"/>
                                      </p:to>
                                    </p:set>
                                    <p:animEffect transition="in" filter="fade">
                                      <p:cBhvr>
                                        <p:cTn id="28" dur="1000"/>
                                        <p:tgtEl>
                                          <p:spTgt spid="76">
                                            <p:txEl>
                                              <p:pRg st="0" end="0"/>
                                            </p:txEl>
                                          </p:spTgt>
                                        </p:tgtEl>
                                      </p:cBhvr>
                                    </p:animEffect>
                                  </p:childTnLst>
                                </p:cTn>
                              </p:par>
                            </p:childTnLst>
                          </p:cTn>
                        </p:par>
                        <p:par>
                          <p:cTn id="29" fill="hold">
                            <p:stCondLst>
                              <p:cond delay="5000"/>
                            </p:stCondLst>
                            <p:childTnLst>
                              <p:par>
                                <p:cTn id="30" presetID="10" presetClass="entr" presetSubtype="0" fill="hold" grpId="0" nodeType="afterEffect">
                                  <p:stCondLst>
                                    <p:cond delay="0"/>
                                  </p:stCondLst>
                                  <p:childTnLst>
                                    <p:set>
                                      <p:cBhvr>
                                        <p:cTn id="31" dur="1" fill="hold">
                                          <p:stCondLst>
                                            <p:cond delay="0"/>
                                          </p:stCondLst>
                                        </p:cTn>
                                        <p:tgtEl>
                                          <p:spTgt spid="77">
                                            <p:txEl>
                                              <p:pRg st="0" end="0"/>
                                            </p:txEl>
                                          </p:spTgt>
                                        </p:tgtEl>
                                        <p:attrNameLst>
                                          <p:attrName>style.visibility</p:attrName>
                                        </p:attrNameLst>
                                      </p:cBhvr>
                                      <p:to>
                                        <p:strVal val="visible"/>
                                      </p:to>
                                    </p:set>
                                    <p:animEffect transition="in" filter="fade">
                                      <p:cBhvr>
                                        <p:cTn id="32" dur="1000"/>
                                        <p:tgtEl>
                                          <p:spTgt spid="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2" grpId="0" build="p"/>
      <p:bldP spid="73" grpId="0" build="p"/>
      <p:bldP spid="74" grpId="0" build="p"/>
      <p:bldP spid="75" grpId="0" build="p"/>
      <p:bldP spid="76" grpId="0" build="p"/>
      <p:bldP spid="77"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的报文结构（响应报文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版   本</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41"/>
          <p:cNvSpPr txBox="1">
            <a:spLocks noChangeArrowheads="1"/>
          </p:cNvSpPr>
          <p:nvPr/>
        </p:nvSpPr>
        <p:spPr bwMode="auto">
          <a:xfrm>
            <a:off x="3802295" y="1414998"/>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状态码</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短   语</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3" name="Text Box 47"/>
          <p:cNvSpPr txBox="1">
            <a:spLocks noChangeArrowheads="1"/>
          </p:cNvSpPr>
          <p:nvPr/>
        </p:nvSpPr>
        <p:spPr bwMode="auto">
          <a:xfrm>
            <a:off x="1876736" y="194753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smtClean="0">
                <a:latin typeface="微软雅黑" pitchFamily="34" charset="-122"/>
                <a:ea typeface="微软雅黑" pitchFamily="34" charset="-122"/>
              </a:rPr>
              <a:t>首部</a:t>
            </a:r>
            <a:endParaRPr kumimoji="1" lang="zh-CN" altLang="en-US" sz="1400" b="1" dirty="0">
              <a:latin typeface="微软雅黑" pitchFamily="34" charset="-122"/>
              <a:ea typeface="微软雅黑"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3" name="Text Box 58"/>
          <p:cNvSpPr txBox="1">
            <a:spLocks noChangeArrowheads="1"/>
          </p:cNvSpPr>
          <p:nvPr/>
        </p:nvSpPr>
        <p:spPr bwMode="auto">
          <a:xfrm>
            <a:off x="3450505" y="2796426"/>
            <a:ext cx="198002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chemeClr val="bg1"/>
                </a:solidFill>
                <a:latin typeface="微软雅黑" pitchFamily="34" charset="-122"/>
                <a:ea typeface="微软雅黑" pitchFamily="34" charset="-122"/>
              </a:rPr>
              <a:t>报文主体</a:t>
            </a:r>
            <a:endParaRPr kumimoji="1" lang="zh-CN" altLang="en-US" sz="1400" b="1" dirty="0">
              <a:solidFill>
                <a:schemeClr val="bg1"/>
              </a:solidFill>
              <a:latin typeface="微软雅黑" pitchFamily="34" charset="-122"/>
              <a:ea typeface="微软雅黑" pitchFamily="34" charset="-122"/>
            </a:endParaRPr>
          </a:p>
          <a:p>
            <a:pPr algn="ctr"/>
            <a:r>
              <a:rPr kumimoji="1" lang="zh-CN" altLang="en-US" sz="1400" b="1" dirty="0">
                <a:solidFill>
                  <a:schemeClr val="bg1"/>
                </a:solidFill>
                <a:latin typeface="微软雅黑" pitchFamily="34" charset="-122"/>
                <a:ea typeface="微软雅黑" pitchFamily="34" charset="-122"/>
              </a:rPr>
              <a:t>（有些响应报文不用）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grpSp>
        <p:nvGrpSpPr>
          <p:cNvPr id="201" name="Group 134"/>
          <p:cNvGrpSpPr>
            <a:grpSpLocks/>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dirty="0">
                  <a:latin typeface="微软雅黑" pitchFamily="34" charset="-122"/>
                  <a:ea typeface="微软雅黑" pitchFamily="34" charset="-122"/>
                </a:rPr>
                <a:t>状态</a:t>
              </a:r>
              <a:r>
                <a:rPr lang="zh-CN" altLang="en-US" sz="1400" b="1" dirty="0" smtClean="0">
                  <a:latin typeface="微软雅黑" pitchFamily="34" charset="-122"/>
                  <a:ea typeface="微软雅黑" pitchFamily="34" charset="-122"/>
                </a:rPr>
                <a:t>行</a:t>
              </a:r>
              <a:endParaRPr lang="zh-CN" altLang="en-US" sz="1400" b="1" dirty="0">
                <a:latin typeface="微软雅黑" pitchFamily="34" charset="-122"/>
                <a:ea typeface="微软雅黑"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6" name="矩形 205"/>
          <p:cNvSpPr/>
          <p:nvPr/>
        </p:nvSpPr>
        <p:spPr>
          <a:xfrm>
            <a:off x="1346773" y="3454660"/>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itchFamily="34" charset="-122"/>
                <a:ea typeface="微软雅黑" pitchFamily="34" charset="-122"/>
              </a:rPr>
              <a:t>在响应报文</a:t>
            </a:r>
            <a:r>
              <a:rPr kumimoji="1" lang="zh-CN" altLang="en-US" sz="1400" b="1" dirty="0">
                <a:latin typeface="微软雅黑" pitchFamily="34" charset="-122"/>
                <a:ea typeface="微软雅黑" pitchFamily="34" charset="-122"/>
              </a:rPr>
              <a:t>中</a:t>
            </a:r>
            <a:r>
              <a:rPr kumimoji="1" lang="zh-CN" altLang="en-US" sz="1400" b="1" dirty="0" smtClean="0">
                <a:latin typeface="微软雅黑" pitchFamily="34" charset="-122"/>
                <a:ea typeface="微软雅黑" pitchFamily="34" charset="-122"/>
              </a:rPr>
              <a:t>，开始行是状态行。</a:t>
            </a:r>
            <a:endParaRPr kumimoji="1" lang="en-US" altLang="zh-CN" sz="1400" b="1" dirty="0" smtClean="0">
              <a:latin typeface="微软雅黑" pitchFamily="34" charset="-122"/>
              <a:ea typeface="微软雅黑" pitchFamily="34" charset="-122"/>
            </a:endParaRPr>
          </a:p>
          <a:p>
            <a:pPr>
              <a:lnSpc>
                <a:spcPts val="2000"/>
              </a:lnSpc>
            </a:pPr>
            <a:r>
              <a:rPr kumimoji="1" lang="zh-CN" altLang="en-US" sz="1400" b="1" dirty="0">
                <a:latin typeface="微软雅黑" pitchFamily="34" charset="-122"/>
                <a:ea typeface="微软雅黑" pitchFamily="34" charset="-122"/>
              </a:rPr>
              <a:t>版本：</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的版本</a:t>
            </a:r>
            <a:r>
              <a:rPr kumimoji="1" lang="zh-CN" altLang="en-US" sz="1400" b="1" dirty="0" smtClean="0">
                <a:latin typeface="微软雅黑" pitchFamily="34" charset="-122"/>
                <a:ea typeface="微软雅黑" pitchFamily="34" charset="-122"/>
              </a:rPr>
              <a:t>。状态码：服务器操作完成的状态。短语</a:t>
            </a:r>
            <a:r>
              <a:rPr kumimoji="1" lang="zh-CN" altLang="en-US" sz="1400" b="1" dirty="0">
                <a:latin typeface="微软雅黑" pitchFamily="34" charset="-122"/>
                <a:ea typeface="微软雅黑" pitchFamily="34" charset="-122"/>
              </a:rPr>
              <a:t>：解释状态</a:t>
            </a:r>
            <a:r>
              <a:rPr kumimoji="1" lang="zh-CN" altLang="en-US" sz="1400" b="1" dirty="0" smtClean="0">
                <a:latin typeface="微软雅黑" pitchFamily="34" charset="-122"/>
                <a:ea typeface="微软雅黑" pitchFamily="34" charset="-122"/>
              </a:rPr>
              <a:t>码。</a:t>
            </a:r>
            <a:endParaRPr kumimoji="1" lang="zh-CN" altLang="en-US" sz="1400" b="1" dirty="0">
              <a:latin typeface="微软雅黑" pitchFamily="34" charset="-122"/>
              <a:ea typeface="微软雅黑" pitchFamily="34" charset="-122"/>
            </a:endParaRPr>
          </a:p>
        </p:txBody>
      </p:sp>
    </p:spTree>
    <p:extLst>
      <p:ext uri="{BB962C8B-B14F-4D97-AF65-F5344CB8AC3E}">
        <p14:creationId xmlns:p14="http://schemas.microsoft.com/office/powerpoint/2010/main" val="2963622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9132"/>
            <a:ext cx="8081200"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1xx </a:t>
            </a:r>
            <a:r>
              <a:rPr lang="zh-CN" altLang="en-US" sz="2000" b="1" dirty="0">
                <a:solidFill>
                  <a:srgbClr val="0000FF"/>
                </a:solidFill>
                <a:latin typeface="微软雅黑" pitchFamily="34" charset="-122"/>
                <a:ea typeface="微软雅黑" pitchFamily="34" charset="-122"/>
              </a:rPr>
              <a:t>表示通知</a:t>
            </a:r>
            <a:r>
              <a:rPr lang="zh-CN" altLang="en-US" sz="2000" b="1" dirty="0" smtClean="0">
                <a:solidFill>
                  <a:srgbClr val="0000FF"/>
                </a:solidFill>
                <a:latin typeface="微软雅黑" pitchFamily="34" charset="-122"/>
                <a:ea typeface="微软雅黑" pitchFamily="34" charset="-122"/>
              </a:rPr>
              <a:t>信息</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如请求收到了或正在进行处理。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2xx </a:t>
            </a:r>
            <a:r>
              <a:rPr lang="zh-CN" altLang="en-US" sz="2000" b="1" dirty="0">
                <a:solidFill>
                  <a:srgbClr val="0000FF"/>
                </a:solidFill>
                <a:latin typeface="微软雅黑" pitchFamily="34" charset="-122"/>
                <a:ea typeface="微软雅黑" pitchFamily="34" charset="-122"/>
              </a:rPr>
              <a:t>表示成功</a:t>
            </a:r>
            <a:r>
              <a:rPr lang="zh-CN" altLang="en-US" sz="2000" b="1" dirty="0">
                <a:latin typeface="微软雅黑" pitchFamily="34" charset="-122"/>
                <a:ea typeface="微软雅黑" pitchFamily="34" charset="-122"/>
              </a:rPr>
              <a:t>，如接受或知道了。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3xx </a:t>
            </a:r>
            <a:r>
              <a:rPr lang="zh-CN" altLang="en-US" sz="2000" b="1" dirty="0">
                <a:solidFill>
                  <a:srgbClr val="0000FF"/>
                </a:solidFill>
                <a:latin typeface="微软雅黑" pitchFamily="34" charset="-122"/>
                <a:ea typeface="微软雅黑" pitchFamily="34" charset="-122"/>
              </a:rPr>
              <a:t>表示重定向</a:t>
            </a:r>
            <a:r>
              <a:rPr lang="zh-CN" altLang="en-US" sz="2000" b="1" dirty="0">
                <a:latin typeface="微软雅黑" pitchFamily="34" charset="-122"/>
                <a:ea typeface="微软雅黑" pitchFamily="34" charset="-122"/>
              </a:rPr>
              <a:t>，表示要完成请求还必须采取进一步的行动。</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4xx </a:t>
            </a:r>
            <a:r>
              <a:rPr lang="zh-CN" altLang="en-US" sz="2000" b="1" dirty="0">
                <a:solidFill>
                  <a:srgbClr val="0000FF"/>
                </a:solidFill>
                <a:latin typeface="微软雅黑" pitchFamily="34" charset="-122"/>
                <a:ea typeface="微软雅黑" pitchFamily="34" charset="-122"/>
              </a:rPr>
              <a:t>表示客户的差错</a:t>
            </a:r>
            <a:r>
              <a:rPr lang="zh-CN" altLang="en-US" sz="2000" b="1" dirty="0">
                <a:latin typeface="微软雅黑" pitchFamily="34" charset="-122"/>
                <a:ea typeface="微软雅黑" pitchFamily="34" charset="-122"/>
              </a:rPr>
              <a:t>，如请求中有错误的语法或不能完成。</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5xx </a:t>
            </a:r>
            <a:r>
              <a:rPr lang="zh-CN" altLang="en-US" sz="2000" b="1" dirty="0">
                <a:solidFill>
                  <a:srgbClr val="0000FF"/>
                </a:solidFill>
                <a:latin typeface="微软雅黑" pitchFamily="34" charset="-122"/>
                <a:ea typeface="微软雅黑" pitchFamily="34" charset="-122"/>
              </a:rPr>
              <a:t>表示服务器的差错</a:t>
            </a:r>
            <a:r>
              <a:rPr lang="zh-CN" altLang="en-US" sz="2000" b="1" dirty="0">
                <a:latin typeface="微软雅黑" pitchFamily="34" charset="-122"/>
                <a:ea typeface="微软雅黑" pitchFamily="34" charset="-122"/>
              </a:rPr>
              <a:t>，如服务器失效无法完成请求。</a:t>
            </a:r>
          </a:p>
        </p:txBody>
      </p:sp>
      <p:sp>
        <p:nvSpPr>
          <p:cNvPr id="3" name="AutoShape 5"/>
          <p:cNvSpPr>
            <a:spLocks noChangeArrowheads="1"/>
          </p:cNvSpPr>
          <p:nvPr/>
        </p:nvSpPr>
        <p:spPr bwMode="auto">
          <a:xfrm>
            <a:off x="556963" y="61328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2756"/>
            <a:ext cx="476444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状态</a:t>
            </a:r>
            <a:r>
              <a:rPr lang="zh-CN" altLang="en-US" sz="2000" b="1" dirty="0" smtClean="0">
                <a:latin typeface="微软雅黑" pitchFamily="34" charset="-122"/>
                <a:ea typeface="微软雅黑" pitchFamily="34" charset="-122"/>
              </a:rPr>
              <a:t>码</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都是</a:t>
            </a:r>
            <a:r>
              <a:rPr lang="zh-CN" altLang="en-US" sz="2000" b="1" dirty="0">
                <a:latin typeface="微软雅黑" pitchFamily="34" charset="-122"/>
                <a:ea typeface="微软雅黑" pitchFamily="34" charset="-122"/>
              </a:rPr>
              <a:t>三位</a:t>
            </a:r>
            <a:r>
              <a:rPr lang="zh-CN" altLang="en-US" sz="2000" b="1" dirty="0" smtClean="0">
                <a:latin typeface="微软雅黑" pitchFamily="34" charset="-122"/>
                <a:ea typeface="微软雅黑" pitchFamily="34" charset="-122"/>
              </a:rPr>
              <a:t>数字，分为</a:t>
            </a:r>
            <a:r>
              <a:rPr lang="en-US" altLang="zh-CN" sz="2000" b="1" dirty="0">
                <a:latin typeface="微软雅黑" pitchFamily="34" charset="-122"/>
                <a:ea typeface="微软雅黑" pitchFamily="34" charset="-122"/>
              </a:rPr>
              <a:t>5</a:t>
            </a:r>
            <a:r>
              <a:rPr lang="zh-CN" altLang="en-US" sz="2000" b="1" dirty="0">
                <a:latin typeface="微软雅黑" pitchFamily="34" charset="-122"/>
                <a:ea typeface="微软雅黑" pitchFamily="34" charset="-122"/>
              </a:rPr>
              <a:t>大</a:t>
            </a:r>
            <a:r>
              <a:rPr lang="zh-CN" altLang="en-US" sz="2000" b="1" dirty="0" smtClean="0">
                <a:latin typeface="微软雅黑" pitchFamily="34" charset="-122"/>
                <a:ea typeface="微软雅黑" pitchFamily="34" charset="-122"/>
              </a:rPr>
              <a:t>类</a:t>
            </a:r>
            <a:r>
              <a:rPr lang="en-US" altLang="zh-CN" sz="2000" b="1" dirty="0" smtClean="0">
                <a:latin typeface="微软雅黑" pitchFamily="34" charset="-122"/>
                <a:ea typeface="微软雅黑" pitchFamily="34" charset="-122"/>
              </a:rPr>
              <a:t>45</a:t>
            </a:r>
            <a:r>
              <a:rPr lang="zh-CN" altLang="en-US" sz="2000" b="1" dirty="0" smtClean="0">
                <a:latin typeface="微软雅黑" pitchFamily="34" charset="-122"/>
                <a:ea typeface="微软雅黑" pitchFamily="34" charset="-122"/>
              </a:rPr>
              <a:t>种</a:t>
            </a:r>
            <a:endParaRPr lang="zh-CN" altLang="en-US" sz="2000" b="1" dirty="0">
              <a:latin typeface="微软雅黑" pitchFamily="34" charset="-122"/>
              <a:ea typeface="微软雅黑" pitchFamily="34" charset="-122"/>
            </a:endParaRPr>
          </a:p>
        </p:txBody>
      </p:sp>
      <p:sp>
        <p:nvSpPr>
          <p:cNvPr id="5" name="矩形 4"/>
          <p:cNvSpPr/>
          <p:nvPr/>
        </p:nvSpPr>
        <p:spPr>
          <a:xfrm>
            <a:off x="834501" y="2916840"/>
            <a:ext cx="6951216" cy="1426031"/>
          </a:xfrm>
          <a:prstGeom prst="rect">
            <a:avLst/>
          </a:prstGeom>
        </p:spPr>
        <p:txBody>
          <a:bodyPr wrap="square">
            <a:spAutoFit/>
          </a:bodyPr>
          <a:lstStyle/>
          <a:p>
            <a:pPr algn="just">
              <a:lnSpc>
                <a:spcPts val="2600"/>
              </a:lnSpc>
              <a:spcAft>
                <a:spcPts val="0"/>
              </a:spcAft>
            </a:pPr>
            <a:r>
              <a:rPr lang="zh-CN" altLang="zh-CN" b="1" kern="500" dirty="0" smtClean="0">
                <a:latin typeface="微软雅黑" panose="020B0503020204020204" pitchFamily="34" charset="-122"/>
                <a:ea typeface="微软雅黑" panose="020B0503020204020204" pitchFamily="34" charset="-122"/>
              </a:rPr>
              <a:t>响应</a:t>
            </a:r>
            <a:r>
              <a:rPr lang="zh-CN" altLang="zh-CN" b="1" kern="500" dirty="0">
                <a:latin typeface="微软雅黑" panose="020B0503020204020204" pitchFamily="34" charset="-122"/>
                <a:ea typeface="微软雅黑" panose="020B0503020204020204" pitchFamily="34" charset="-122"/>
              </a:rPr>
              <a:t>报文</a:t>
            </a:r>
            <a:r>
              <a:rPr lang="zh-CN" altLang="zh-CN" b="1" kern="500" dirty="0" smtClean="0">
                <a:latin typeface="微软雅黑" panose="020B0503020204020204" pitchFamily="34" charset="-122"/>
                <a:ea typeface="微软雅黑" panose="020B0503020204020204" pitchFamily="34" charset="-122"/>
              </a:rPr>
              <a:t>中常</a:t>
            </a:r>
            <a:r>
              <a:rPr lang="zh-CN" altLang="zh-CN" b="1" kern="500" dirty="0">
                <a:latin typeface="微软雅黑" panose="020B0503020204020204" pitchFamily="34" charset="-122"/>
                <a:ea typeface="微软雅黑" panose="020B0503020204020204" pitchFamily="34" charset="-122"/>
              </a:rPr>
              <a:t>见到的</a:t>
            </a:r>
            <a:r>
              <a:rPr lang="zh-CN" altLang="zh-CN" b="1" kern="500" dirty="0" smtClean="0">
                <a:latin typeface="微软雅黑" panose="020B0503020204020204" pitchFamily="34" charset="-122"/>
                <a:ea typeface="微软雅黑" panose="020B0503020204020204" pitchFamily="34" charset="-122"/>
              </a:rPr>
              <a:t>三</a:t>
            </a:r>
            <a:r>
              <a:rPr lang="zh-CN" altLang="zh-CN" b="1" kern="500" dirty="0">
                <a:latin typeface="微软雅黑" panose="020B0503020204020204" pitchFamily="34" charset="-122"/>
                <a:ea typeface="微软雅黑" panose="020B0503020204020204" pitchFamily="34" charset="-122"/>
              </a:rPr>
              <a:t>种</a:t>
            </a:r>
            <a:r>
              <a:rPr lang="zh-CN" altLang="zh-CN" b="1" kern="500" dirty="0" smtClean="0">
                <a:latin typeface="微软雅黑" panose="020B0503020204020204" pitchFamily="34" charset="-122"/>
                <a:ea typeface="微软雅黑" panose="020B0503020204020204" pitchFamily="34" charset="-122"/>
              </a:rPr>
              <a:t>状态行</a:t>
            </a:r>
            <a:r>
              <a:rPr lang="zh-CN" altLang="en-US" b="1" kern="500" dirty="0" smtClean="0">
                <a:latin typeface="微软雅黑" panose="020B0503020204020204" pitchFamily="34" charset="-122"/>
                <a:ea typeface="微软雅黑" panose="020B0503020204020204" pitchFamily="34" charset="-122"/>
              </a:rPr>
              <a:t>：</a:t>
            </a:r>
            <a:endParaRPr lang="zh-CN" altLang="zh-CN" b="1" kern="500" dirty="0">
              <a:latin typeface="微软雅黑" panose="020B0503020204020204" pitchFamily="34" charset="-122"/>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HTTP/1.1 202 </a:t>
            </a:r>
            <a:r>
              <a:rPr lang="en-US" altLang="zh-CN" b="1" kern="500" dirty="0" smtClean="0">
                <a:solidFill>
                  <a:srgbClr val="000099"/>
                </a:solidFill>
                <a:ea typeface="微软雅黑" panose="020B0503020204020204" pitchFamily="34" charset="-122"/>
                <a:cs typeface="Times New Roman" panose="02020603050405020304" pitchFamily="18" charset="0"/>
              </a:rPr>
              <a:t>Accepted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接受</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HTTP/1.1 400 Bad Request</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错误</a:t>
            </a:r>
            <a:r>
              <a:rPr lang="zh-CN" altLang="zh-CN" b="1" kern="500" dirty="0">
                <a:ea typeface="微软雅黑" panose="020B0503020204020204" pitchFamily="34" charset="-122"/>
              </a:rPr>
              <a:t>的</a:t>
            </a:r>
            <a:r>
              <a:rPr lang="zh-CN" altLang="zh-CN" b="1" kern="500" dirty="0" smtClean="0">
                <a:ea typeface="微软雅黑" panose="020B0503020204020204" pitchFamily="34" charset="-122"/>
              </a:rPr>
              <a:t>请求</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Http/1.1 404 Not Found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找不到</a:t>
            </a:r>
            <a:endParaRPr lang="zh-CN" altLang="zh-CN" b="1" kern="500" dirty="0">
              <a:ea typeface="微软雅黑" panose="020B0503020204020204" pitchFamily="34" charset="-122"/>
            </a:endParaRPr>
          </a:p>
        </p:txBody>
      </p:sp>
    </p:spTree>
    <p:custDataLst>
      <p:tags r:id="rId1"/>
    </p:custDataLst>
    <p:extLst>
      <p:ext uri="{BB962C8B-B14F-4D97-AF65-F5344CB8AC3E}">
        <p14:creationId xmlns:p14="http://schemas.microsoft.com/office/powerpoint/2010/main" val="21763362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圆角矩形 57"/>
          <p:cNvSpPr/>
          <p:nvPr/>
        </p:nvSpPr>
        <p:spPr>
          <a:xfrm>
            <a:off x="556963" y="1820530"/>
            <a:ext cx="8048775" cy="326152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592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95447" y="572714"/>
            <a:ext cx="35718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在服务器上存放用户的信息</a:t>
            </a:r>
          </a:p>
        </p:txBody>
      </p:sp>
      <p:sp>
        <p:nvSpPr>
          <p:cNvPr id="4" name="Rectangle 68"/>
          <p:cNvSpPr>
            <a:spLocks noChangeArrowheads="1"/>
          </p:cNvSpPr>
          <p:nvPr/>
        </p:nvSpPr>
        <p:spPr bwMode="auto">
          <a:xfrm>
            <a:off x="556963" y="967015"/>
            <a:ext cx="8048776" cy="8104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HTTP</a:t>
            </a:r>
            <a:r>
              <a:rPr lang="zh-CN" altLang="en-US" b="1" dirty="0" smtClean="0">
                <a:latin typeface="微软雅黑" pitchFamily="34" charset="-122"/>
                <a:ea typeface="微软雅黑" pitchFamily="34" charset="-122"/>
              </a:rPr>
              <a:t>是无状态的，万维网使用 </a:t>
            </a:r>
            <a:r>
              <a:rPr lang="en-US" altLang="zh-CN" b="1" dirty="0">
                <a:solidFill>
                  <a:srgbClr val="C00000"/>
                </a:solidFill>
                <a:latin typeface="微软雅黑" pitchFamily="34" charset="-122"/>
                <a:ea typeface="微软雅黑" pitchFamily="34" charset="-122"/>
              </a:rPr>
              <a:t>Cookie</a:t>
            </a:r>
            <a:r>
              <a:rPr lang="en-US" altLang="zh-CN" b="1" dirty="0">
                <a:latin typeface="微软雅黑" pitchFamily="34" charset="-122"/>
                <a:ea typeface="微软雅黑" pitchFamily="34" charset="-122"/>
              </a:rPr>
              <a:t> </a:t>
            </a:r>
            <a:r>
              <a:rPr lang="zh-CN" altLang="en-US" b="1" dirty="0" smtClean="0">
                <a:latin typeface="微软雅黑" pitchFamily="34" charset="-122"/>
                <a:ea typeface="微软雅黑" pitchFamily="34" charset="-122"/>
              </a:rPr>
              <a:t>跟踪在 </a:t>
            </a: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服务器和客户之间传递的</a:t>
            </a:r>
            <a:r>
              <a:rPr lang="zh-CN" altLang="en-US" b="1" dirty="0">
                <a:solidFill>
                  <a:srgbClr val="C00000"/>
                </a:solidFill>
                <a:latin typeface="微软雅黑" pitchFamily="34" charset="-122"/>
                <a:ea typeface="微软雅黑" pitchFamily="34" charset="-122"/>
              </a:rPr>
              <a:t>状态</a:t>
            </a:r>
            <a:r>
              <a:rPr lang="zh-CN" altLang="en-US" b="1" dirty="0">
                <a:latin typeface="微软雅黑" pitchFamily="34" charset="-122"/>
                <a:ea typeface="微软雅黑" pitchFamily="34" charset="-122"/>
              </a:rPr>
              <a:t>信息</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grpSp>
        <p:nvGrpSpPr>
          <p:cNvPr id="7" name="Group 5"/>
          <p:cNvGrpSpPr>
            <a:grpSpLocks/>
          </p:cNvGrpSpPr>
          <p:nvPr/>
        </p:nvGrpSpPr>
        <p:grpSpPr bwMode="auto">
          <a:xfrm>
            <a:off x="2353913" y="3704967"/>
            <a:ext cx="2956331" cy="318744"/>
            <a:chOff x="1285" y="2720"/>
            <a:chExt cx="2219" cy="340"/>
          </a:xfrm>
        </p:grpSpPr>
        <p:sp>
          <p:nvSpPr>
            <p:cNvPr id="8" name="Line 6"/>
            <p:cNvSpPr>
              <a:spLocks noChangeShapeType="1"/>
            </p:cNvSpPr>
            <p:nvPr/>
          </p:nvSpPr>
          <p:spPr bwMode="auto">
            <a:xfrm flipH="1">
              <a:off x="1285" y="2720"/>
              <a:ext cx="2219" cy="19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1" name="Text Box 9"/>
            <p:cNvSpPr txBox="1">
              <a:spLocks noChangeArrowheads="1"/>
            </p:cNvSpPr>
            <p:nvPr/>
          </p:nvSpPr>
          <p:spPr bwMode="auto">
            <a:xfrm>
              <a:off x="1456" y="2732"/>
              <a:ext cx="1532"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p>
          </p:txBody>
        </p:sp>
      </p:grpSp>
      <p:grpSp>
        <p:nvGrpSpPr>
          <p:cNvPr id="12" name="Group 10"/>
          <p:cNvGrpSpPr>
            <a:grpSpLocks/>
          </p:cNvGrpSpPr>
          <p:nvPr/>
        </p:nvGrpSpPr>
        <p:grpSpPr bwMode="auto">
          <a:xfrm>
            <a:off x="2354415" y="4617926"/>
            <a:ext cx="2944341" cy="348742"/>
            <a:chOff x="1365" y="3581"/>
            <a:chExt cx="2210" cy="372"/>
          </a:xfrm>
        </p:grpSpPr>
        <p:sp>
          <p:nvSpPr>
            <p:cNvPr id="13" name="Line 11"/>
            <p:cNvSpPr>
              <a:spLocks noChangeShapeType="1"/>
            </p:cNvSpPr>
            <p:nvPr/>
          </p:nvSpPr>
          <p:spPr bwMode="auto">
            <a:xfrm flipH="1">
              <a:off x="1365" y="3581"/>
              <a:ext cx="2210" cy="293"/>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1545" y="3625"/>
              <a:ext cx="1522"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p>
          </p:txBody>
        </p:sp>
      </p:grpSp>
      <p:sp>
        <p:nvSpPr>
          <p:cNvPr id="17" name="Text Box 15"/>
          <p:cNvSpPr txBox="1">
            <a:spLocks noChangeArrowheads="1"/>
          </p:cNvSpPr>
          <p:nvPr/>
        </p:nvSpPr>
        <p:spPr bwMode="auto">
          <a:xfrm>
            <a:off x="1138081" y="2635045"/>
            <a:ext cx="127055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cookie file</a:t>
            </a:r>
          </a:p>
        </p:txBody>
      </p:sp>
      <p:grpSp>
        <p:nvGrpSpPr>
          <p:cNvPr id="19" name="Group 17"/>
          <p:cNvGrpSpPr>
            <a:grpSpLocks/>
          </p:cNvGrpSpPr>
          <p:nvPr/>
        </p:nvGrpSpPr>
        <p:grpSpPr bwMode="auto">
          <a:xfrm>
            <a:off x="2325178" y="3242590"/>
            <a:ext cx="5145616" cy="535302"/>
            <a:chOff x="1392" y="2261"/>
            <a:chExt cx="3555" cy="571"/>
          </a:xfrm>
        </p:grpSpPr>
        <p:sp>
          <p:nvSpPr>
            <p:cNvPr id="20" name="Line 18"/>
            <p:cNvSpPr>
              <a:spLocks noChangeShapeType="1"/>
            </p:cNvSpPr>
            <p:nvPr/>
          </p:nvSpPr>
          <p:spPr bwMode="auto">
            <a:xfrm>
              <a:off x="1392" y="2357"/>
              <a:ext cx="2082" cy="24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1562" y="2261"/>
              <a:ext cx="1417" cy="55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a:p>
              <a:pPr algn="ctr"/>
              <a:r>
                <a:rPr lang="en-US" altLang="zh-CN" sz="1400" b="1" dirty="0">
                  <a:solidFill>
                    <a:srgbClr val="0000FF"/>
                  </a:solidFill>
                  <a:latin typeface="微软雅黑" panose="020B0503020204020204" pitchFamily="34" charset="-122"/>
                  <a:ea typeface="微软雅黑" panose="020B0503020204020204" pitchFamily="34" charset="-122"/>
                </a:rPr>
                <a:t>cookie: </a:t>
              </a:r>
              <a:r>
                <a:rPr lang="en-US" altLang="zh-CN" sz="1400" b="1" dirty="0" smtClean="0">
                  <a:solidFill>
                    <a:srgbClr val="0000FF"/>
                  </a:solidFill>
                  <a:latin typeface="微软雅黑" panose="020B0503020204020204" pitchFamily="34" charset="-122"/>
                  <a:ea typeface="微软雅黑" panose="020B0503020204020204" pitchFamily="34" charset="-122"/>
                </a:rPr>
                <a:t>ad42</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2" name="Text Box 20"/>
            <p:cNvSpPr txBox="1">
              <a:spLocks noChangeArrowheads="1"/>
            </p:cNvSpPr>
            <p:nvPr/>
          </p:nvSpPr>
          <p:spPr bwMode="auto">
            <a:xfrm>
              <a:off x="3508" y="2504"/>
              <a:ext cx="411"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smtClean="0">
                  <a:solidFill>
                    <a:srgbClr val="0000FF"/>
                  </a:solidFill>
                  <a:latin typeface="微软雅黑" panose="020B0503020204020204" pitchFamily="34" charset="-122"/>
                  <a:ea typeface="微软雅黑" panose="020B0503020204020204" pitchFamily="34" charset="-122"/>
                </a:rPr>
                <a:t>处理</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3" name="Line 21"/>
            <p:cNvSpPr>
              <a:spLocks noChangeShapeType="1"/>
            </p:cNvSpPr>
            <p:nvPr/>
          </p:nvSpPr>
          <p:spPr bwMode="auto">
            <a:xfrm flipV="1">
              <a:off x="3967" y="2439"/>
              <a:ext cx="980" cy="228"/>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4252" y="2400"/>
              <a:ext cx="34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latin typeface="微软雅黑" panose="020B0503020204020204" pitchFamily="34" charset="-122"/>
                  <a:ea typeface="微软雅黑" panose="020B0503020204020204" pitchFamily="34" charset="-122"/>
                </a:rPr>
                <a:t>访问</a:t>
              </a:r>
              <a:endParaRPr lang="en-US" altLang="zh-CN" sz="1200" b="1" dirty="0">
                <a:latin typeface="微软雅黑" panose="020B0503020204020204" pitchFamily="34" charset="-122"/>
                <a:ea typeface="微软雅黑" panose="020B0503020204020204" pitchFamily="34" charset="-122"/>
              </a:endParaRPr>
            </a:p>
          </p:txBody>
        </p:sp>
      </p:grpSp>
      <p:grpSp>
        <p:nvGrpSpPr>
          <p:cNvPr id="27" name="Group 25"/>
          <p:cNvGrpSpPr>
            <a:grpSpLocks/>
          </p:cNvGrpSpPr>
          <p:nvPr/>
        </p:nvGrpSpPr>
        <p:grpSpPr bwMode="auto">
          <a:xfrm>
            <a:off x="1119464" y="2188863"/>
            <a:ext cx="1139100" cy="455617"/>
            <a:chOff x="527" y="1047"/>
            <a:chExt cx="855" cy="486"/>
          </a:xfrm>
        </p:grpSpPr>
        <p:sp>
          <p:nvSpPr>
            <p:cNvPr id="28" name="AutoShape 26"/>
            <p:cNvSpPr>
              <a:spLocks noChangeArrowheads="1"/>
            </p:cNvSpPr>
            <p:nvPr/>
          </p:nvSpPr>
          <p:spPr bwMode="auto">
            <a:xfrm>
              <a:off x="527" y="1047"/>
              <a:ext cx="855"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7"/>
            <p:cNvSpPr txBox="1">
              <a:spLocks noChangeArrowheads="1"/>
            </p:cNvSpPr>
            <p:nvPr/>
          </p:nvSpPr>
          <p:spPr bwMode="auto">
            <a:xfrm>
              <a:off x="560" y="1134"/>
              <a:ext cx="81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100" b="1" dirty="0" err="1" smtClean="0">
                  <a:solidFill>
                    <a:schemeClr val="bg1"/>
                  </a:solidFill>
                  <a:latin typeface="微软雅黑" panose="020B0503020204020204" pitchFamily="34" charset="-122"/>
                  <a:ea typeface="微软雅黑" panose="020B0503020204020204" pitchFamily="34" charset="-122"/>
                </a:rPr>
                <a:t>taobao</a:t>
              </a:r>
              <a:r>
                <a:rPr lang="en-US" altLang="zh-CN" sz="1100" b="1" dirty="0" smtClean="0">
                  <a:solidFill>
                    <a:schemeClr val="bg1"/>
                  </a:solidFill>
                  <a:latin typeface="微软雅黑" panose="020B0503020204020204" pitchFamily="34" charset="-122"/>
                  <a:ea typeface="微软雅黑" panose="020B0503020204020204" pitchFamily="34" charset="-122"/>
                </a:rPr>
                <a:t> 1234</a:t>
              </a:r>
              <a:endParaRPr lang="en-US" altLang="zh-CN" sz="1100" b="1" dirty="0">
                <a:solidFill>
                  <a:schemeClr val="bg1"/>
                </a:solidFill>
                <a:latin typeface="微软雅黑" panose="020B0503020204020204" pitchFamily="34" charset="-122"/>
                <a:ea typeface="微软雅黑" panose="020B0503020204020204" pitchFamily="34" charset="-122"/>
              </a:endParaRPr>
            </a:p>
          </p:txBody>
        </p:sp>
      </p:grpSp>
      <p:sp>
        <p:nvSpPr>
          <p:cNvPr id="30" name="AutoShape 28"/>
          <p:cNvSpPr>
            <a:spLocks noChangeArrowheads="1"/>
          </p:cNvSpPr>
          <p:nvPr/>
        </p:nvSpPr>
        <p:spPr bwMode="auto">
          <a:xfrm>
            <a:off x="7565597" y="3088842"/>
            <a:ext cx="544020" cy="516595"/>
          </a:xfrm>
          <a:prstGeom prst="can">
            <a:avLst>
              <a:gd name="adj" fmla="val 39157"/>
            </a:avLst>
          </a:prstGeom>
          <a:solidFill>
            <a:srgbClr val="00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9"/>
          <p:cNvGrpSpPr>
            <a:grpSpLocks/>
          </p:cNvGrpSpPr>
          <p:nvPr/>
        </p:nvGrpSpPr>
        <p:grpSpPr bwMode="auto">
          <a:xfrm>
            <a:off x="2243909" y="2303233"/>
            <a:ext cx="5227598" cy="996543"/>
            <a:chOff x="1386" y="1259"/>
            <a:chExt cx="3595" cy="1063"/>
          </a:xfrm>
        </p:grpSpPr>
        <p:sp>
          <p:nvSpPr>
            <p:cNvPr id="32" name="Line 30"/>
            <p:cNvSpPr>
              <a:spLocks noChangeShapeType="1"/>
            </p:cNvSpPr>
            <p:nvPr/>
          </p:nvSpPr>
          <p:spPr bwMode="auto">
            <a:xfrm>
              <a:off x="1386" y="1364"/>
              <a:ext cx="2109" cy="20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Text Box 31"/>
            <p:cNvSpPr txBox="1">
              <a:spLocks noChangeArrowheads="1"/>
            </p:cNvSpPr>
            <p:nvPr/>
          </p:nvSpPr>
          <p:spPr bwMode="auto">
            <a:xfrm>
              <a:off x="1627" y="1259"/>
              <a:ext cx="1381"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p:txBody>
        </p:sp>
        <p:sp>
          <p:nvSpPr>
            <p:cNvPr id="34" name="Text Box 32"/>
            <p:cNvSpPr txBox="1">
              <a:spLocks noChangeArrowheads="1"/>
            </p:cNvSpPr>
            <p:nvPr/>
          </p:nvSpPr>
          <p:spPr bwMode="auto">
            <a:xfrm>
              <a:off x="3467" y="1364"/>
              <a:ext cx="982" cy="6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b="1" dirty="0" smtClean="0">
                  <a:solidFill>
                    <a:srgbClr val="0000FF"/>
                  </a:solidFill>
                  <a:latin typeface="微软雅黑" panose="020B0503020204020204" pitchFamily="34" charset="-122"/>
                  <a:ea typeface="微软雅黑" panose="020B0503020204020204" pitchFamily="34" charset="-122"/>
                </a:rPr>
                <a:t>JD </a:t>
              </a:r>
              <a:r>
                <a:rPr lang="zh-CN" altLang="en-US" sz="1200" b="1" dirty="0" smtClean="0">
                  <a:solidFill>
                    <a:srgbClr val="0000FF"/>
                  </a:solidFill>
                  <a:latin typeface="微软雅黑" panose="020B0503020204020204" pitchFamily="34" charset="-122"/>
                  <a:ea typeface="微软雅黑" panose="020B0503020204020204" pitchFamily="34" charset="-122"/>
                </a:rPr>
                <a:t>服务器为</a:t>
              </a:r>
              <a:r>
                <a:rPr lang="zh-CN" altLang="en-US" sz="1200" b="1" dirty="0">
                  <a:solidFill>
                    <a:srgbClr val="0000FF"/>
                  </a:solidFill>
                  <a:latin typeface="微软雅黑" panose="020B0503020204020204" pitchFamily="34" charset="-122"/>
                  <a:ea typeface="微软雅黑" panose="020B0503020204020204" pitchFamily="34" charset="-122"/>
                </a:rPr>
                <a:t>用户创建</a:t>
              </a:r>
              <a:r>
                <a:rPr lang="zh-CN" altLang="en-US" sz="1200" b="1" dirty="0" smtClean="0">
                  <a:solidFill>
                    <a:srgbClr val="C00000"/>
                  </a:solidFill>
                  <a:latin typeface="微软雅黑" panose="020B0503020204020204" pitchFamily="34" charset="-122"/>
                  <a:ea typeface="微软雅黑" panose="020B0503020204020204" pitchFamily="34" charset="-122"/>
                </a:rPr>
                <a:t>唯一</a:t>
              </a:r>
              <a:r>
                <a:rPr lang="zh-CN" altLang="en-US" sz="1200" b="1" dirty="0" smtClean="0">
                  <a:solidFill>
                    <a:srgbClr val="0000FF"/>
                  </a:solidFill>
                  <a:latin typeface="微软雅黑" panose="020B0503020204020204" pitchFamily="34" charset="-122"/>
                  <a:ea typeface="微软雅黑" panose="020B0503020204020204" pitchFamily="34" charset="-122"/>
                </a:rPr>
                <a:t>识别码</a:t>
              </a:r>
              <a:r>
                <a:rPr lang="en-US" altLang="zh-CN" sz="1200" b="1" dirty="0" smtClean="0">
                  <a:solidFill>
                    <a:srgbClr val="0000FF"/>
                  </a:solidFill>
                  <a:latin typeface="微软雅黑" panose="020B0503020204020204" pitchFamily="34" charset="-122"/>
                  <a:ea typeface="微软雅黑" panose="020B0503020204020204" pitchFamily="34" charset="-122"/>
                </a:rPr>
                <a:t>ad42</a:t>
              </a:r>
              <a:endParaRPr lang="en-US" altLang="zh-CN" sz="1200" b="1" dirty="0">
                <a:solidFill>
                  <a:srgbClr val="0000FF"/>
                </a:solidFill>
                <a:latin typeface="微软雅黑" panose="020B0503020204020204" pitchFamily="34" charset="-122"/>
                <a:ea typeface="微软雅黑" panose="020B0503020204020204" pitchFamily="34" charset="-122"/>
              </a:endParaRPr>
            </a:p>
          </p:txBody>
        </p:sp>
        <p:grpSp>
          <p:nvGrpSpPr>
            <p:cNvPr id="35" name="Group 33"/>
            <p:cNvGrpSpPr>
              <a:grpSpLocks/>
            </p:cNvGrpSpPr>
            <p:nvPr/>
          </p:nvGrpSpPr>
          <p:grpSpPr bwMode="auto">
            <a:xfrm>
              <a:off x="4407" y="1723"/>
              <a:ext cx="574" cy="599"/>
              <a:chOff x="4407" y="1633"/>
              <a:chExt cx="574" cy="599"/>
            </a:xfrm>
          </p:grpSpPr>
          <p:sp>
            <p:nvSpPr>
              <p:cNvPr id="36" name="Line 34"/>
              <p:cNvSpPr>
                <a:spLocks noChangeShapeType="1"/>
              </p:cNvSpPr>
              <p:nvPr/>
            </p:nvSpPr>
            <p:spPr bwMode="auto">
              <a:xfrm>
                <a:off x="4407" y="1633"/>
                <a:ext cx="574" cy="59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Text Box 36"/>
              <p:cNvSpPr txBox="1">
                <a:spLocks noChangeArrowheads="1"/>
              </p:cNvSpPr>
              <p:nvPr/>
            </p:nvSpPr>
            <p:spPr bwMode="auto">
              <a:xfrm>
                <a:off x="4479" y="1733"/>
                <a:ext cx="438" cy="39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200" b="1" dirty="0" smtClean="0">
                    <a:latin typeface="微软雅黑" panose="020B0503020204020204" pitchFamily="34" charset="-122"/>
                    <a:ea typeface="微软雅黑" panose="020B0503020204020204" pitchFamily="34" charset="-122"/>
                  </a:rPr>
                  <a:t>创建一</a:t>
                </a:r>
                <a:endParaRPr lang="en-US" altLang="zh-CN" sz="1200" b="1" dirty="0" smtClean="0">
                  <a:latin typeface="微软雅黑" panose="020B0503020204020204" pitchFamily="34" charset="-122"/>
                  <a:ea typeface="微软雅黑" panose="020B0503020204020204" pitchFamily="34" charset="-122"/>
                </a:endParaRPr>
              </a:p>
              <a:p>
                <a:pPr algn="ctr"/>
                <a:r>
                  <a:rPr lang="zh-CN" altLang="en-US" sz="1200" b="1" dirty="0" smtClean="0">
                    <a:latin typeface="微软雅黑" panose="020B0503020204020204" pitchFamily="34" charset="-122"/>
                    <a:ea typeface="微软雅黑" panose="020B0503020204020204" pitchFamily="34" charset="-122"/>
                  </a:rPr>
                  <a:t>条记录</a:t>
                </a:r>
                <a:endParaRPr lang="en-US" altLang="zh-CN" sz="1200" b="1" dirty="0">
                  <a:latin typeface="微软雅黑" panose="020B0503020204020204" pitchFamily="34" charset="-122"/>
                  <a:ea typeface="微软雅黑" panose="020B0503020204020204" pitchFamily="34" charset="-122"/>
                </a:endParaRPr>
              </a:p>
            </p:txBody>
          </p:sp>
        </p:grpSp>
      </p:grpSp>
      <p:grpSp>
        <p:nvGrpSpPr>
          <p:cNvPr id="39" name="Group 37"/>
          <p:cNvGrpSpPr>
            <a:grpSpLocks/>
          </p:cNvGrpSpPr>
          <p:nvPr/>
        </p:nvGrpSpPr>
        <p:grpSpPr bwMode="auto">
          <a:xfrm>
            <a:off x="1139448" y="2678939"/>
            <a:ext cx="4130071" cy="724673"/>
            <a:chOff x="195" y="1584"/>
            <a:chExt cx="3100" cy="773"/>
          </a:xfrm>
        </p:grpSpPr>
        <p:sp>
          <p:nvSpPr>
            <p:cNvPr id="40" name="Line 38"/>
            <p:cNvSpPr>
              <a:spLocks noChangeShapeType="1"/>
            </p:cNvSpPr>
            <p:nvPr/>
          </p:nvSpPr>
          <p:spPr bwMode="auto">
            <a:xfrm flipH="1">
              <a:off x="1057" y="1683"/>
              <a:ext cx="2238" cy="406"/>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Text Box 39"/>
            <p:cNvSpPr txBox="1">
              <a:spLocks noChangeArrowheads="1"/>
            </p:cNvSpPr>
            <p:nvPr/>
          </p:nvSpPr>
          <p:spPr bwMode="auto">
            <a:xfrm>
              <a:off x="1271" y="1584"/>
              <a:ext cx="1523" cy="55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响应</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a:latin typeface="微软雅黑" panose="020B0503020204020204" pitchFamily="34" charset="-122"/>
                <a:ea typeface="微软雅黑" panose="020B0503020204020204" pitchFamily="34" charset="-122"/>
              </a:endParaRPr>
            </a:p>
            <a:p>
              <a:pPr algn="ctr"/>
              <a:r>
                <a:rPr lang="en-US" altLang="zh-CN" sz="1400" b="1" dirty="0" smtClean="0">
                  <a:solidFill>
                    <a:srgbClr val="0000FF"/>
                  </a:solidFill>
                  <a:latin typeface="微软雅黑" panose="020B0503020204020204" pitchFamily="34" charset="-122"/>
                  <a:ea typeface="微软雅黑" panose="020B0503020204020204" pitchFamily="34" charset="-122"/>
                </a:rPr>
                <a:t>set-cookie</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ad42 </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grpSp>
          <p:nvGrpSpPr>
            <p:cNvPr id="42" name="Group 40"/>
            <p:cNvGrpSpPr>
              <a:grpSpLocks/>
            </p:cNvGrpSpPr>
            <p:nvPr/>
          </p:nvGrpSpPr>
          <p:grpSpPr bwMode="auto">
            <a:xfrm>
              <a:off x="195" y="1836"/>
              <a:ext cx="853" cy="521"/>
              <a:chOff x="420" y="1746"/>
              <a:chExt cx="853" cy="521"/>
            </a:xfrm>
          </p:grpSpPr>
          <p:sp>
            <p:nvSpPr>
              <p:cNvPr id="43" name="AutoShape 41"/>
              <p:cNvSpPr>
                <a:spLocks noChangeArrowheads="1"/>
              </p:cNvSpPr>
              <p:nvPr/>
            </p:nvSpPr>
            <p:spPr bwMode="auto">
              <a:xfrm>
                <a:off x="420" y="1746"/>
                <a:ext cx="829"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4" name="Text Box 42"/>
              <p:cNvSpPr txBox="1">
                <a:spLocks noChangeArrowheads="1"/>
              </p:cNvSpPr>
              <p:nvPr/>
            </p:nvSpPr>
            <p:spPr bwMode="auto">
              <a:xfrm>
                <a:off x="455" y="1807"/>
                <a:ext cx="818"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sz="1100" b="1">
                    <a:solidFill>
                      <a:schemeClr val="bg1"/>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en-US" altLang="zh-CN" dirty="0" err="1" smtClean="0"/>
                  <a:t>taobao</a:t>
                </a:r>
                <a:r>
                  <a:rPr lang="en-US" altLang="zh-CN" dirty="0" smtClean="0"/>
                  <a:t> </a:t>
                </a:r>
                <a:r>
                  <a:rPr lang="en-US" altLang="zh-CN" dirty="0"/>
                  <a:t>1234</a:t>
                </a:r>
              </a:p>
              <a:p>
                <a:r>
                  <a:rPr lang="en-US" altLang="zh-CN" dirty="0" smtClean="0"/>
                  <a:t>JD  ad42</a:t>
                </a:r>
                <a:endParaRPr lang="en-US" altLang="zh-CN" dirty="0"/>
              </a:p>
            </p:txBody>
          </p:sp>
        </p:grpSp>
      </p:grpSp>
      <p:grpSp>
        <p:nvGrpSpPr>
          <p:cNvPr id="45" name="Group 43"/>
          <p:cNvGrpSpPr>
            <a:grpSpLocks/>
          </p:cNvGrpSpPr>
          <p:nvPr/>
        </p:nvGrpSpPr>
        <p:grpSpPr bwMode="auto">
          <a:xfrm>
            <a:off x="2332972" y="3537184"/>
            <a:ext cx="5171915" cy="1170914"/>
            <a:chOff x="1374" y="2480"/>
            <a:chExt cx="3882" cy="1249"/>
          </a:xfrm>
        </p:grpSpPr>
        <p:sp>
          <p:nvSpPr>
            <p:cNvPr id="46" name="Line 44"/>
            <p:cNvSpPr>
              <a:spLocks noChangeShapeType="1"/>
            </p:cNvSpPr>
            <p:nvPr/>
          </p:nvSpPr>
          <p:spPr bwMode="auto">
            <a:xfrm>
              <a:off x="1374" y="3293"/>
              <a:ext cx="2235" cy="15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7" name="Text Box 45"/>
            <p:cNvSpPr txBox="1">
              <a:spLocks noChangeArrowheads="1"/>
            </p:cNvSpPr>
            <p:nvPr/>
          </p:nvSpPr>
          <p:spPr bwMode="auto">
            <a:xfrm>
              <a:off x="1561" y="3171"/>
              <a:ext cx="1531" cy="55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p>
            <a:p>
              <a:pPr algn="ctr"/>
              <a:r>
                <a:rPr lang="en-US" altLang="zh-CN" sz="1400" b="1" dirty="0">
                  <a:latin typeface="微软雅黑" panose="020B0503020204020204" pitchFamily="34" charset="-122"/>
                  <a:ea typeface="微软雅黑" panose="020B0503020204020204" pitchFamily="34" charset="-122"/>
                </a:rPr>
                <a:t>cookie: ad42</a:t>
              </a:r>
            </a:p>
          </p:txBody>
        </p:sp>
        <p:sp>
          <p:nvSpPr>
            <p:cNvPr id="48" name="Text Box 46"/>
            <p:cNvSpPr txBox="1">
              <a:spLocks noChangeArrowheads="1"/>
            </p:cNvSpPr>
            <p:nvPr/>
          </p:nvSpPr>
          <p:spPr bwMode="auto">
            <a:xfrm>
              <a:off x="3706" y="3372"/>
              <a:ext cx="408"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处理</a:t>
              </a:r>
            </a:p>
          </p:txBody>
        </p:sp>
        <p:sp>
          <p:nvSpPr>
            <p:cNvPr id="49" name="Line 47"/>
            <p:cNvSpPr>
              <a:spLocks noChangeShapeType="1"/>
            </p:cNvSpPr>
            <p:nvPr/>
          </p:nvSpPr>
          <p:spPr bwMode="auto">
            <a:xfrm flipV="1">
              <a:off x="4211" y="2480"/>
              <a:ext cx="1045" cy="971"/>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0" name="Text Box 48"/>
            <p:cNvSpPr txBox="1">
              <a:spLocks noChangeArrowheads="1"/>
            </p:cNvSpPr>
            <p:nvPr/>
          </p:nvSpPr>
          <p:spPr bwMode="auto">
            <a:xfrm>
              <a:off x="4494" y="2844"/>
              <a:ext cx="37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smtClean="0">
                  <a:latin typeface="微软雅黑" panose="020B0503020204020204" pitchFamily="34" charset="-122"/>
                  <a:ea typeface="微软雅黑" panose="020B0503020204020204" pitchFamily="34" charset="-122"/>
                </a:rPr>
                <a:t>访问</a:t>
              </a:r>
              <a:endParaRPr lang="zh-CN" altLang="en-US" sz="1200" b="1" dirty="0">
                <a:latin typeface="微软雅黑" panose="020B0503020204020204" pitchFamily="34" charset="-122"/>
                <a:ea typeface="微软雅黑" panose="020B0503020204020204" pitchFamily="34" charset="-122"/>
              </a:endParaRPr>
            </a:p>
          </p:txBody>
        </p:sp>
      </p:grpSp>
      <p:grpSp>
        <p:nvGrpSpPr>
          <p:cNvPr id="59" name="组合 58"/>
          <p:cNvGrpSpPr/>
          <p:nvPr/>
        </p:nvGrpSpPr>
        <p:grpSpPr>
          <a:xfrm>
            <a:off x="777810" y="3861894"/>
            <a:ext cx="1613074" cy="786040"/>
            <a:chOff x="777810" y="3396225"/>
            <a:chExt cx="1613074" cy="786040"/>
          </a:xfrm>
        </p:grpSpPr>
        <p:sp>
          <p:nvSpPr>
            <p:cNvPr id="18" name="Text Box 16"/>
            <p:cNvSpPr txBox="1">
              <a:spLocks noChangeArrowheads="1"/>
            </p:cNvSpPr>
            <p:nvPr/>
          </p:nvSpPr>
          <p:spPr bwMode="auto">
            <a:xfrm>
              <a:off x="777810" y="339622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panose="020B0503020204020204" pitchFamily="34" charset="-122"/>
                  <a:ea typeface="微软雅黑" panose="020B0503020204020204" pitchFamily="34" charset="-122"/>
                </a:rPr>
                <a:t>几天后</a:t>
              </a:r>
              <a:endParaRPr lang="en-US" altLang="zh-CN" sz="1400" b="1" dirty="0">
                <a:latin typeface="微软雅黑" panose="020B0503020204020204" pitchFamily="34" charset="-122"/>
                <a:ea typeface="微软雅黑" panose="020B0503020204020204" pitchFamily="34" charset="-122"/>
              </a:endParaRPr>
            </a:p>
          </p:txBody>
        </p:sp>
        <p:grpSp>
          <p:nvGrpSpPr>
            <p:cNvPr id="51" name="Group 49"/>
            <p:cNvGrpSpPr>
              <a:grpSpLocks/>
            </p:cNvGrpSpPr>
            <p:nvPr/>
          </p:nvGrpSpPr>
          <p:grpSpPr bwMode="auto">
            <a:xfrm>
              <a:off x="1053274" y="3696649"/>
              <a:ext cx="1337610" cy="485616"/>
              <a:chOff x="666" y="1746"/>
              <a:chExt cx="1004" cy="518"/>
            </a:xfrm>
          </p:grpSpPr>
          <p:sp>
            <p:nvSpPr>
              <p:cNvPr id="52" name="AutoShape 50"/>
              <p:cNvSpPr>
                <a:spLocks noChangeArrowheads="1"/>
              </p:cNvSpPr>
              <p:nvPr/>
            </p:nvSpPr>
            <p:spPr bwMode="auto">
              <a:xfrm>
                <a:off x="735" y="1746"/>
                <a:ext cx="829"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3" name="Text Box 51"/>
              <p:cNvSpPr txBox="1">
                <a:spLocks noChangeArrowheads="1"/>
              </p:cNvSpPr>
              <p:nvPr/>
            </p:nvSpPr>
            <p:spPr bwMode="auto">
              <a:xfrm>
                <a:off x="666" y="1804"/>
                <a:ext cx="1004"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sz="1100" b="1">
                    <a:solidFill>
                      <a:schemeClr val="bg1"/>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en-US" altLang="zh-CN" dirty="0" err="1" smtClean="0"/>
                  <a:t>taobao</a:t>
                </a:r>
                <a:r>
                  <a:rPr lang="en-US" altLang="zh-CN" dirty="0" smtClean="0"/>
                  <a:t> </a:t>
                </a:r>
                <a:r>
                  <a:rPr lang="en-US" altLang="zh-CN" dirty="0"/>
                  <a:t>1234</a:t>
                </a:r>
              </a:p>
              <a:p>
                <a:r>
                  <a:rPr lang="en-US" altLang="zh-CN" dirty="0" smtClean="0"/>
                  <a:t>JD  ad42</a:t>
                </a:r>
                <a:endParaRPr lang="en-US" altLang="zh-CN" dirty="0"/>
              </a:p>
            </p:txBody>
          </p:sp>
        </p:grpSp>
      </p:grpSp>
      <p:sp>
        <p:nvSpPr>
          <p:cNvPr id="54" name="Text Box 52"/>
          <p:cNvSpPr txBox="1">
            <a:spLocks noChangeArrowheads="1"/>
          </p:cNvSpPr>
          <p:nvPr/>
        </p:nvSpPr>
        <p:spPr bwMode="auto">
          <a:xfrm>
            <a:off x="7504887" y="3624145"/>
            <a:ext cx="723275" cy="523220"/>
          </a:xfrm>
          <a:prstGeom prst="rect">
            <a:avLst/>
          </a:prstGeom>
          <a:noFill/>
          <a:ln>
            <a:noFill/>
          </a:ln>
          <a:effectLs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smtClean="0">
                <a:solidFill>
                  <a:srgbClr val="C00000"/>
                </a:solidFill>
                <a:latin typeface="微软雅黑" panose="020B0503020204020204" pitchFamily="34" charset="-122"/>
                <a:ea typeface="微软雅黑" panose="020B0503020204020204" pitchFamily="34" charset="-122"/>
              </a:rPr>
              <a:t>后台</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r>
              <a:rPr lang="zh-CN" altLang="en-US" sz="1400" b="1" dirty="0" smtClean="0">
                <a:solidFill>
                  <a:srgbClr val="C00000"/>
                </a:solidFill>
                <a:latin typeface="微软雅黑" panose="020B0503020204020204" pitchFamily="34" charset="-122"/>
                <a:ea typeface="微软雅黑" panose="020B0503020204020204" pitchFamily="34" charset="-122"/>
              </a:rPr>
              <a:t>数据库</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56" name="Rectangle 6"/>
          <p:cNvSpPr>
            <a:spLocks noChangeArrowheads="1"/>
          </p:cNvSpPr>
          <p:nvPr/>
        </p:nvSpPr>
        <p:spPr bwMode="auto">
          <a:xfrm>
            <a:off x="5592513" y="1865455"/>
            <a:ext cx="100187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dirty="0" smtClean="0">
                <a:latin typeface="微软雅黑" panose="020B0503020204020204" pitchFamily="34" charset="-122"/>
                <a:ea typeface="微软雅黑" panose="020B0503020204020204" pitchFamily="34" charset="-122"/>
              </a:rPr>
              <a:t>JD </a:t>
            </a:r>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itchFamily="34" charset="-122"/>
              <a:ea typeface="微软雅黑" pitchFamily="34" charset="-122"/>
            </a:endParaRPr>
          </a:p>
        </p:txBody>
      </p:sp>
      <p:sp>
        <p:nvSpPr>
          <p:cNvPr id="57" name="Rectangle 7"/>
          <p:cNvSpPr>
            <a:spLocks noChangeArrowheads="1"/>
          </p:cNvSpPr>
          <p:nvPr/>
        </p:nvSpPr>
        <p:spPr bwMode="auto">
          <a:xfrm>
            <a:off x="1403785" y="1865455"/>
            <a:ext cx="72936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smtClean="0">
                <a:latin typeface="微软雅黑" pitchFamily="34" charset="-122"/>
                <a:ea typeface="微软雅黑" pitchFamily="34" charset="-122"/>
              </a:rPr>
              <a:t>用户 </a:t>
            </a:r>
            <a:r>
              <a:rPr kumimoji="1" lang="en-US" altLang="zh-CN" sz="1400" b="1" dirty="0" smtClean="0">
                <a:latin typeface="微软雅黑" pitchFamily="34" charset="-122"/>
                <a:ea typeface="微软雅黑" pitchFamily="34" charset="-122"/>
              </a:rPr>
              <a:t>A</a:t>
            </a:r>
            <a:endParaRPr kumimoji="1" lang="zh-CN" altLang="en-US" sz="14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2954098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right)">
                                      <p:cBhvr>
                                        <p:cTn id="12" dur="1000"/>
                                        <p:tgtEl>
                                          <p:spTgt spid="39"/>
                                        </p:tgtEl>
                                      </p:cBhvr>
                                    </p:animEffect>
                                  </p:childTnLst>
                                </p:cTn>
                              </p:par>
                            </p:childTnLst>
                          </p:cTn>
                        </p:par>
                        <p:par>
                          <p:cTn id="13" fill="hold">
                            <p:stCondLst>
                              <p:cond delay="1000"/>
                            </p:stCondLst>
                            <p:childTnLst>
                              <p:par>
                                <p:cTn id="14" presetID="1" presetClass="entr" presetSubtype="0"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wipe(left)">
                                      <p:cBhvr>
                                        <p:cTn id="20" dur="1000"/>
                                        <p:tgtEl>
                                          <p:spTgt spid="19"/>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wipe(right)">
                                      <p:cBhvr>
                                        <p:cTn id="24" dur="10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wipe(left)">
                                      <p:cBhvr>
                                        <p:cTn id="33" dur="1000"/>
                                        <p:tgtEl>
                                          <p:spTgt spid="45"/>
                                        </p:tgtEl>
                                      </p:cBhvr>
                                    </p:animEffect>
                                  </p:childTnLst>
                                </p:cTn>
                              </p:par>
                            </p:childTnLst>
                          </p:cTn>
                        </p:par>
                        <p:par>
                          <p:cTn id="34" fill="hold">
                            <p:stCondLst>
                              <p:cond delay="1000"/>
                            </p:stCondLst>
                            <p:childTnLst>
                              <p:par>
                                <p:cTn id="35" presetID="22" presetClass="entr" presetSubtype="2" fill="hold"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right)">
                                      <p:cBhvr>
                                        <p:cTn id="37"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234"/>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093073" y="57010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6.2.4  </a:t>
            </a:r>
            <a:r>
              <a:rPr lang="zh-CN" altLang="en-US" sz="2400" b="1" dirty="0">
                <a:solidFill>
                  <a:schemeClr val="bg1"/>
                </a:solidFill>
                <a:latin typeface="微软雅黑" pitchFamily="34" charset="-122"/>
                <a:ea typeface="微软雅黑" pitchFamily="34" charset="-122"/>
              </a:rPr>
              <a:t>万维网</a:t>
            </a:r>
            <a:r>
              <a:rPr lang="zh-CN" altLang="en-US" sz="2400" b="1" dirty="0" smtClean="0">
                <a:solidFill>
                  <a:schemeClr val="bg1"/>
                </a:solidFill>
                <a:latin typeface="微软雅黑" pitchFamily="34" charset="-122"/>
                <a:ea typeface="微软雅黑" pitchFamily="34" charset="-122"/>
              </a:rPr>
              <a:t>的演进</a:t>
            </a:r>
            <a:endParaRPr lang="zh-CN" altLang="en-US" sz="2400" b="1" dirty="0">
              <a:solidFill>
                <a:schemeClr val="bg1"/>
              </a:solidFill>
              <a:latin typeface="微软雅黑" pitchFamily="34" charset="-122"/>
              <a:ea typeface="微软雅黑" pitchFamily="34" charset="-122"/>
            </a:endParaRPr>
          </a:p>
        </p:txBody>
      </p:sp>
      <p:sp>
        <p:nvSpPr>
          <p:cNvPr id="6" name="Rectangle 68"/>
          <p:cNvSpPr>
            <a:spLocks noChangeArrowheads="1"/>
          </p:cNvSpPr>
          <p:nvPr/>
        </p:nvSpPr>
        <p:spPr bwMode="auto">
          <a:xfrm>
            <a:off x="556963" y="991955"/>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第</a:t>
            </a:r>
            <a:r>
              <a:rPr lang="zh-CN" altLang="en-US" sz="2000" b="1" dirty="0" smtClean="0">
                <a:latin typeface="微软雅黑" pitchFamily="34" charset="-122"/>
                <a:ea typeface="微软雅黑" pitchFamily="34" charset="-122"/>
              </a:rPr>
              <a:t>一代万维网</a:t>
            </a:r>
            <a:endParaRPr lang="en-US" altLang="zh-CN" sz="2000"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静态</a:t>
            </a:r>
            <a:r>
              <a:rPr lang="zh-CN" altLang="en-US" b="1" dirty="0" smtClean="0">
                <a:latin typeface="微软雅黑" pitchFamily="34" charset="-122"/>
                <a:ea typeface="微软雅黑" pitchFamily="34" charset="-122"/>
              </a:rPr>
              <a:t>万维网（</a:t>
            </a:r>
            <a:r>
              <a:rPr lang="en-US" altLang="zh-CN" b="1" dirty="0">
                <a:latin typeface="微软雅黑" pitchFamily="34" charset="-122"/>
                <a:ea typeface="微软雅黑" pitchFamily="34" charset="-122"/>
              </a:rPr>
              <a:t> Web 1.0 </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1990</a:t>
            </a:r>
            <a:r>
              <a:rPr lang="zh-CN" altLang="en-US" b="1" dirty="0">
                <a:latin typeface="微软雅黑" pitchFamily="34" charset="-122"/>
                <a:ea typeface="微软雅黑" pitchFamily="34" charset="-122"/>
              </a:rPr>
              <a:t>年代到</a:t>
            </a:r>
            <a:r>
              <a:rPr lang="en-US" altLang="zh-CN" b="1" dirty="0">
                <a:latin typeface="微软雅黑" pitchFamily="34" charset="-122"/>
                <a:ea typeface="微软雅黑" pitchFamily="34" charset="-122"/>
              </a:rPr>
              <a:t>2000</a:t>
            </a:r>
            <a:r>
              <a:rPr lang="zh-CN" altLang="en-US" b="1" dirty="0">
                <a:latin typeface="微软雅黑" pitchFamily="34" charset="-122"/>
                <a:ea typeface="微软雅黑" pitchFamily="34" charset="-122"/>
              </a:rPr>
              <a:t>年代</a:t>
            </a:r>
            <a:r>
              <a:rPr lang="zh-CN" altLang="en-US" b="1" dirty="0" smtClean="0">
                <a:latin typeface="微软雅黑" pitchFamily="34" charset="-122"/>
                <a:ea typeface="微软雅黑" pitchFamily="34" charset="-122"/>
              </a:rPr>
              <a:t>早期。</a:t>
            </a:r>
            <a:endParaRPr lang="en-US" altLang="zh-CN"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内容</a:t>
            </a:r>
            <a:r>
              <a:rPr lang="zh-CN" altLang="en-US" b="1" dirty="0" smtClean="0">
                <a:latin typeface="微软雅黑" pitchFamily="34" charset="-122"/>
                <a:ea typeface="微软雅黑" pitchFamily="34" charset="-122"/>
              </a:rPr>
              <a:t>更新</a:t>
            </a:r>
            <a:r>
              <a:rPr lang="zh-CN" altLang="en-US" b="1" dirty="0">
                <a:latin typeface="微软雅黑" pitchFamily="34" charset="-122"/>
                <a:ea typeface="微软雅黑" pitchFamily="34" charset="-122"/>
              </a:rPr>
              <a:t>较</a:t>
            </a:r>
            <a:r>
              <a:rPr lang="zh-CN" altLang="en-US" b="1" dirty="0" smtClean="0">
                <a:latin typeface="微软雅黑" pitchFamily="34" charset="-122"/>
                <a:ea typeface="微软雅黑" pitchFamily="34" charset="-122"/>
              </a:rPr>
              <a:t>慢，所以</a:t>
            </a:r>
            <a:r>
              <a:rPr lang="zh-CN" altLang="en-US" b="1" dirty="0">
                <a:latin typeface="微软雅黑" pitchFamily="34" charset="-122"/>
                <a:ea typeface="微软雅黑" pitchFamily="34" charset="-122"/>
              </a:rPr>
              <a:t>称为</a:t>
            </a:r>
            <a:r>
              <a:rPr lang="zh-CN" altLang="en-US" b="1" dirty="0" smtClean="0">
                <a:latin typeface="微软雅黑" pitchFamily="34" charset="-122"/>
                <a:ea typeface="微软雅黑" pitchFamily="34" charset="-122"/>
              </a:rPr>
              <a:t>静态，并且内容是</a:t>
            </a:r>
            <a:r>
              <a:rPr lang="zh-CN" altLang="en-US" b="1" dirty="0">
                <a:latin typeface="微软雅黑" pitchFamily="34" charset="-122"/>
                <a:ea typeface="微软雅黑" pitchFamily="34" charset="-122"/>
              </a:rPr>
              <a:t>只读</a:t>
            </a:r>
            <a:r>
              <a:rPr lang="zh-CN" altLang="en-US" b="1" dirty="0" smtClean="0">
                <a:latin typeface="微软雅黑" pitchFamily="34" charset="-122"/>
                <a:ea typeface="微软雅黑" pitchFamily="34" charset="-122"/>
              </a:rPr>
              <a:t>的。</a:t>
            </a:r>
            <a:endParaRPr lang="en-US" altLang="zh-CN"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在一个客户程序主窗口上显示出的万维网文档称为</a:t>
            </a:r>
            <a:r>
              <a:rPr lang="zh-CN" altLang="en-US" b="1" dirty="0">
                <a:solidFill>
                  <a:srgbClr val="C00000"/>
                </a:solidFill>
                <a:latin typeface="微软雅黑" pitchFamily="34" charset="-122"/>
                <a:ea typeface="微软雅黑" pitchFamily="34" charset="-122"/>
              </a:rPr>
              <a:t>页面</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(page)</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页面制作的标准语言：</a:t>
            </a:r>
            <a:r>
              <a:rPr lang="zh-CN" altLang="en-US" b="1" dirty="0">
                <a:solidFill>
                  <a:srgbClr val="C00000"/>
                </a:solidFill>
                <a:latin typeface="微软雅黑" pitchFamily="34" charset="-122"/>
                <a:ea typeface="微软雅黑" pitchFamily="34" charset="-122"/>
              </a:rPr>
              <a:t>超文本标记</a:t>
            </a:r>
            <a:r>
              <a:rPr lang="zh-CN" altLang="en-US" b="1" dirty="0" smtClean="0">
                <a:solidFill>
                  <a:srgbClr val="C00000"/>
                </a:solidFill>
                <a:latin typeface="微软雅黑" pitchFamily="34" charset="-122"/>
                <a:ea typeface="微软雅黑" pitchFamily="34" charset="-122"/>
              </a:rPr>
              <a:t>语言 </a:t>
            </a:r>
            <a:r>
              <a:rPr lang="en-US" altLang="zh-CN" b="1" dirty="0">
                <a:solidFill>
                  <a:srgbClr val="C00000"/>
                </a:solidFill>
                <a:latin typeface="微软雅黑" pitchFamily="34" charset="-122"/>
                <a:ea typeface="微软雅黑" pitchFamily="34" charset="-122"/>
              </a:rPr>
              <a:t>HTML (</a:t>
            </a:r>
            <a:r>
              <a:rPr lang="en-US" altLang="zh-CN" b="1" dirty="0" err="1">
                <a:solidFill>
                  <a:srgbClr val="C00000"/>
                </a:solidFill>
                <a:latin typeface="微软雅黑" pitchFamily="34" charset="-122"/>
                <a:ea typeface="微软雅黑" pitchFamily="34" charset="-122"/>
              </a:rPr>
              <a:t>HyperText</a:t>
            </a:r>
            <a:r>
              <a:rPr lang="en-US" altLang="zh-CN" b="1" dirty="0">
                <a:solidFill>
                  <a:srgbClr val="C00000"/>
                </a:solidFill>
                <a:latin typeface="微软雅黑" pitchFamily="34" charset="-122"/>
                <a:ea typeface="微软雅黑" pitchFamily="34" charset="-122"/>
              </a:rPr>
              <a:t> Markup Language)</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HTML</a:t>
            </a:r>
            <a:r>
              <a:rPr lang="zh-CN" altLang="en-US" b="1" dirty="0">
                <a:latin typeface="微软雅黑" pitchFamily="34" charset="-122"/>
                <a:ea typeface="微软雅黑" pitchFamily="34" charset="-122"/>
              </a:rPr>
              <a:t>并</a:t>
            </a:r>
            <a:r>
              <a:rPr lang="zh-CN" altLang="en-US" b="1" dirty="0">
                <a:solidFill>
                  <a:srgbClr val="C00000"/>
                </a:solidFill>
                <a:latin typeface="微软雅黑" pitchFamily="34" charset="-122"/>
                <a:ea typeface="微软雅黑" pitchFamily="34" charset="-122"/>
              </a:rPr>
              <a:t>不是</a:t>
            </a:r>
            <a:r>
              <a:rPr lang="zh-CN" altLang="en-US" b="1" dirty="0">
                <a:latin typeface="微软雅黑" pitchFamily="34" charset="-122"/>
                <a:ea typeface="微软雅黑" pitchFamily="34" charset="-122"/>
              </a:rPr>
              <a:t>应用层的协议，它只是万维网</a:t>
            </a:r>
            <a:r>
              <a:rPr lang="zh-CN" altLang="en-US" b="1" dirty="0">
                <a:solidFill>
                  <a:srgbClr val="C00000"/>
                </a:solidFill>
                <a:latin typeface="微软雅黑" pitchFamily="34" charset="-122"/>
                <a:ea typeface="微软雅黑" pitchFamily="34" charset="-122"/>
              </a:rPr>
              <a:t>浏览器使用的一种语言</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en-US" altLang="zh-CN" b="1" dirty="0">
                <a:solidFill>
                  <a:srgbClr val="C00000"/>
                </a:solidFill>
                <a:latin typeface="微软雅黑" pitchFamily="34" charset="-122"/>
                <a:ea typeface="微软雅黑" pitchFamily="34" charset="-122"/>
              </a:rPr>
              <a:t>HTML5 </a:t>
            </a:r>
            <a:r>
              <a:rPr lang="zh-CN" altLang="en-US" b="1" dirty="0">
                <a:latin typeface="微软雅黑" pitchFamily="34" charset="-122"/>
                <a:ea typeface="微软雅黑" pitchFamily="34" charset="-122"/>
              </a:rPr>
              <a:t>是现代网页和浏览器的主流标准，支持视频的播放。</a:t>
            </a:r>
            <a:endParaRPr lang="en-US" altLang="zh-CN" b="1" dirty="0" smtClean="0">
              <a:latin typeface="微软雅黑" pitchFamily="34" charset="-122"/>
              <a:ea typeface="微软雅黑" pitchFamily="34" charset="-122"/>
            </a:endParaRPr>
          </a:p>
        </p:txBody>
      </p:sp>
    </p:spTree>
    <p:extLst>
      <p:ext uri="{BB962C8B-B14F-4D97-AF65-F5344CB8AC3E}">
        <p14:creationId xmlns:p14="http://schemas.microsoft.com/office/powerpoint/2010/main" val="11159372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5"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超文本标记语言 </a:t>
            </a:r>
            <a:r>
              <a:rPr lang="en-US" altLang="zh-CN" sz="2000" b="1" dirty="0">
                <a:solidFill>
                  <a:schemeClr val="bg1"/>
                </a:solidFill>
                <a:latin typeface="微软雅黑" pitchFamily="34" charset="-122"/>
                <a:ea typeface="微软雅黑" pitchFamily="34" charset="-122"/>
              </a:rPr>
              <a:t>HTML</a:t>
            </a:r>
          </a:p>
        </p:txBody>
      </p:sp>
      <p:sp>
        <p:nvSpPr>
          <p:cNvPr id="6" name="Rectangle 68"/>
          <p:cNvSpPr>
            <a:spLocks noChangeArrowheads="1"/>
          </p:cNvSpPr>
          <p:nvPr/>
        </p:nvSpPr>
        <p:spPr bwMode="auto">
          <a:xfrm>
            <a:off x="556963" y="96851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HTML </a:t>
            </a:r>
            <a:r>
              <a:rPr lang="zh-CN" altLang="en-US" sz="2000" b="1" dirty="0">
                <a:latin typeface="微软雅黑" pitchFamily="34" charset="-122"/>
                <a:ea typeface="微软雅黑" pitchFamily="34" charset="-122"/>
              </a:rPr>
              <a:t>定义了许多用于</a:t>
            </a:r>
            <a:r>
              <a:rPr lang="zh-CN" altLang="en-US" sz="2000" b="1" dirty="0">
                <a:solidFill>
                  <a:srgbClr val="C00000"/>
                </a:solidFill>
                <a:latin typeface="微软雅黑" pitchFamily="34" charset="-122"/>
                <a:ea typeface="微软雅黑" pitchFamily="34" charset="-122"/>
              </a:rPr>
              <a:t>排版的命令</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标签</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把各种标签嵌入到万维网的页面</a:t>
            </a:r>
            <a:r>
              <a:rPr lang="zh-CN" altLang="en-US" sz="2000" b="1" dirty="0" smtClean="0">
                <a:latin typeface="微软雅黑" pitchFamily="34" charset="-122"/>
                <a:ea typeface="微软雅黑" pitchFamily="34" charset="-122"/>
              </a:rPr>
              <a:t>中，构成</a:t>
            </a:r>
            <a:r>
              <a:rPr lang="zh-CN" altLang="en-US" sz="2000" b="1" dirty="0">
                <a:latin typeface="微软雅黑" pitchFamily="34" charset="-122"/>
                <a:ea typeface="微软雅黑" pitchFamily="34" charset="-122"/>
              </a:rPr>
              <a:t>了所谓的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HTML </a:t>
            </a:r>
            <a:r>
              <a:rPr lang="zh-CN" altLang="en-US" sz="2000" b="1" dirty="0" smtClean="0">
                <a:latin typeface="微软雅黑" pitchFamily="34" charset="-122"/>
                <a:ea typeface="微软雅黑" pitchFamily="34" charset="-122"/>
              </a:rPr>
              <a:t>文档是</a:t>
            </a:r>
            <a:r>
              <a:rPr lang="zh-CN" altLang="en-US" sz="2000" b="1" dirty="0">
                <a:latin typeface="微软雅黑" pitchFamily="34" charset="-122"/>
                <a:ea typeface="微软雅黑" pitchFamily="34" charset="-122"/>
              </a:rPr>
              <a:t>一种可以用任何文本编辑器创建的 </a:t>
            </a:r>
            <a:r>
              <a:rPr lang="en-US" altLang="zh-CN" sz="2000" b="1" dirty="0">
                <a:solidFill>
                  <a:srgbClr val="C00000"/>
                </a:solidFill>
                <a:latin typeface="微软雅黑" pitchFamily="34" charset="-122"/>
                <a:ea typeface="微软雅黑" pitchFamily="34" charset="-122"/>
              </a:rPr>
              <a:t>ASCII </a:t>
            </a:r>
            <a:r>
              <a:rPr lang="zh-CN" altLang="en-US" sz="2000" b="1" dirty="0">
                <a:solidFill>
                  <a:srgbClr val="C00000"/>
                </a:solidFill>
                <a:latin typeface="微软雅黑" pitchFamily="34" charset="-122"/>
                <a:ea typeface="微软雅黑" pitchFamily="34" charset="-122"/>
              </a:rPr>
              <a:t>码文件</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HTML </a:t>
            </a:r>
            <a:r>
              <a:rPr lang="zh-CN" altLang="en-US" sz="2000" b="1" dirty="0" smtClean="0">
                <a:latin typeface="微软雅黑" pitchFamily="34" charset="-122"/>
                <a:ea typeface="微软雅黑" pitchFamily="34" charset="-122"/>
              </a:rPr>
              <a:t>文档的</a:t>
            </a:r>
            <a:r>
              <a:rPr lang="zh-CN" altLang="en-US" sz="2000" b="1" dirty="0" smtClean="0">
                <a:solidFill>
                  <a:srgbClr val="C00000"/>
                </a:solidFill>
                <a:latin typeface="微软雅黑" pitchFamily="34" charset="-122"/>
                <a:ea typeface="微软雅黑" pitchFamily="34" charset="-122"/>
              </a:rPr>
              <a:t>后缀：</a:t>
            </a:r>
            <a:r>
              <a:rPr lang="en-US" altLang="zh-CN" sz="2000" b="1" dirty="0" smtClean="0">
                <a:latin typeface="微软雅黑" pitchFamily="34" charset="-122"/>
                <a:ea typeface="微软雅黑" pitchFamily="34" charset="-122"/>
              </a:rPr>
              <a:t>.html </a:t>
            </a:r>
            <a:r>
              <a:rPr lang="zh-CN" altLang="en-US" sz="2000" b="1" dirty="0" smtClean="0">
                <a:latin typeface="微软雅黑" pitchFamily="34" charset="-122"/>
                <a:ea typeface="微软雅黑" pitchFamily="34" charset="-122"/>
              </a:rPr>
              <a:t>或 </a:t>
            </a:r>
            <a:r>
              <a:rPr lang="en-US" altLang="zh-CN" sz="2000" b="1" dirty="0" smtClean="0">
                <a:latin typeface="微软雅黑" pitchFamily="34" charset="-122"/>
                <a:ea typeface="微软雅黑" pitchFamily="34" charset="-122"/>
              </a:rPr>
              <a:t>.</a:t>
            </a:r>
            <a:r>
              <a:rPr lang="en-US" altLang="zh-CN" sz="2000" b="1" dirty="0" err="1" smtClean="0">
                <a:latin typeface="微软雅黑" pitchFamily="34" charset="-122"/>
                <a:ea typeface="微软雅黑" pitchFamily="34" charset="-122"/>
              </a:rPr>
              <a:t>htm</a:t>
            </a:r>
            <a:r>
              <a:rPr lang="zh-CN" altLang="en-US" sz="2000" b="1" dirty="0" smtClean="0">
                <a:latin typeface="微软雅黑" pitchFamily="34" charset="-122"/>
                <a:ea typeface="微软雅黑" pitchFamily="34" charset="-122"/>
              </a:rPr>
              <a:t>。 </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8013530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pic>
        <p:nvPicPr>
          <p:cNvPr id="25" name="Picture 5" descr="HTML"/>
          <p:cNvPicPr>
            <a:picLocks noChangeAspect="1" noChangeArrowheads="1"/>
          </p:cNvPicPr>
          <p:nvPr/>
        </p:nvPicPr>
        <p:blipFill>
          <a:blip r:embed="rId2">
            <a:extLst>
              <a:ext uri="{28A0092B-C50C-407E-A947-70E740481C1C}">
                <a14:useLocalDpi xmlns:a14="http://schemas.microsoft.com/office/drawing/2010/main" val="0"/>
              </a:ext>
            </a:extLst>
          </a:blip>
          <a:srcRect r="39665" b="65755"/>
          <a:stretch>
            <a:fillRect/>
          </a:stretch>
        </p:blipFill>
        <p:spPr bwMode="auto">
          <a:xfrm>
            <a:off x="5337736" y="2697912"/>
            <a:ext cx="3078295" cy="13103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274333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9" name="Group 9"/>
          <p:cNvGrpSpPr>
            <a:grpSpLocks/>
          </p:cNvGrpSpPr>
          <p:nvPr/>
        </p:nvGrpSpPr>
        <p:grpSpPr bwMode="auto">
          <a:xfrm>
            <a:off x="3360317" y="1033391"/>
            <a:ext cx="4176159" cy="369368"/>
            <a:chOff x="1426" y="630"/>
            <a:chExt cx="4686" cy="449"/>
          </a:xfrm>
        </p:grpSpPr>
        <p:sp>
          <p:nvSpPr>
            <p:cNvPr id="20"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1800" b="1" dirty="0">
                  <a:solidFill>
                    <a:sysClr val="windowText" lastClr="000000"/>
                  </a:solidFill>
                  <a:latin typeface="微软雅黑" pitchFamily="34" charset="-122"/>
                  <a:ea typeface="微软雅黑" pitchFamily="34" charset="-122"/>
                </a:rPr>
                <a:t>HTML </a:t>
              </a:r>
              <a:r>
                <a:rPr lang="zh-CN" altLang="en-US" sz="1800" b="1" dirty="0">
                  <a:solidFill>
                    <a:sysClr val="windowText" lastClr="000000"/>
                  </a:solidFill>
                  <a:latin typeface="微软雅黑" pitchFamily="34" charset="-122"/>
                  <a:ea typeface="微软雅黑" pitchFamily="34" charset="-122"/>
                </a:rPr>
                <a:t>文档开始</a:t>
              </a:r>
            </a:p>
          </p:txBody>
        </p:sp>
        <p:sp>
          <p:nvSpPr>
            <p:cNvPr id="21"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22" name="Group 9"/>
          <p:cNvGrpSpPr>
            <a:grpSpLocks/>
          </p:cNvGrpSpPr>
          <p:nvPr/>
        </p:nvGrpSpPr>
        <p:grpSpPr bwMode="auto">
          <a:xfrm>
            <a:off x="3360317" y="3466604"/>
            <a:ext cx="4176159" cy="369368"/>
            <a:chOff x="1426" y="630"/>
            <a:chExt cx="4686" cy="449"/>
          </a:xfrm>
        </p:grpSpPr>
        <p:sp>
          <p:nvSpPr>
            <p:cNvPr id="23"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en-US" altLang="zh-CN" sz="1800" b="1" dirty="0">
                  <a:solidFill>
                    <a:sysClr val="windowText" lastClr="000000"/>
                  </a:solidFill>
                  <a:latin typeface="微软雅黑" pitchFamily="34" charset="-122"/>
                  <a:ea typeface="微软雅黑" pitchFamily="34" charset="-122"/>
                </a:rPr>
                <a:t>HTML </a:t>
              </a:r>
              <a:r>
                <a:rPr lang="zh-CN" altLang="en-US" sz="1800" b="1" dirty="0">
                  <a:solidFill>
                    <a:sysClr val="windowText" lastClr="000000"/>
                  </a:solidFill>
                  <a:latin typeface="微软雅黑" pitchFamily="34" charset="-122"/>
                  <a:ea typeface="微软雅黑" pitchFamily="34" charset="-122"/>
                </a:rPr>
                <a:t>文档结束</a:t>
              </a:r>
            </a:p>
          </p:txBody>
        </p:sp>
        <p:sp>
          <p:nvSpPr>
            <p:cNvPr id="24"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10933483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5" name="Group 9"/>
          <p:cNvGrpSpPr>
            <a:grpSpLocks/>
          </p:cNvGrpSpPr>
          <p:nvPr/>
        </p:nvGrpSpPr>
        <p:grpSpPr bwMode="auto">
          <a:xfrm>
            <a:off x="3271543" y="1311151"/>
            <a:ext cx="3409728" cy="369368"/>
            <a:chOff x="1426" y="630"/>
            <a:chExt cx="3826" cy="449"/>
          </a:xfrm>
        </p:grpSpPr>
        <p:sp>
          <p:nvSpPr>
            <p:cNvPr id="26"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首部开始</a:t>
              </a:r>
            </a:p>
          </p:txBody>
        </p:sp>
        <p:sp>
          <p:nvSpPr>
            <p:cNvPr id="27"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31" name="Group 9"/>
          <p:cNvGrpSpPr>
            <a:grpSpLocks/>
          </p:cNvGrpSpPr>
          <p:nvPr/>
        </p:nvGrpSpPr>
        <p:grpSpPr bwMode="auto">
          <a:xfrm>
            <a:off x="3279507" y="1852127"/>
            <a:ext cx="3409728" cy="369368"/>
            <a:chOff x="1426" y="630"/>
            <a:chExt cx="3826" cy="449"/>
          </a:xfrm>
        </p:grpSpPr>
        <p:sp>
          <p:nvSpPr>
            <p:cNvPr id="32"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首部结束</a:t>
              </a:r>
            </a:p>
          </p:txBody>
        </p:sp>
        <p:sp>
          <p:nvSpPr>
            <p:cNvPr id="33"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20027542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463312" y="1580951"/>
            <a:ext cx="4007387" cy="777521"/>
            <a:chOff x="2610222" y="1700563"/>
            <a:chExt cx="4007387" cy="777521"/>
          </a:xfrm>
        </p:grpSpPr>
        <p:grpSp>
          <p:nvGrpSpPr>
            <p:cNvPr id="22" name="Group 9"/>
            <p:cNvGrpSpPr>
              <a:grpSpLocks/>
            </p:cNvGrpSpPr>
            <p:nvPr/>
          </p:nvGrpSpPr>
          <p:grpSpPr bwMode="auto">
            <a:xfrm>
              <a:off x="4398525" y="2029742"/>
              <a:ext cx="2219084" cy="448342"/>
              <a:chOff x="3021" y="534"/>
              <a:chExt cx="2490" cy="545"/>
            </a:xfrm>
          </p:grpSpPr>
          <p:sp>
            <p:nvSpPr>
              <p:cNvPr id="24" name="Text Box 5"/>
              <p:cNvSpPr txBox="1">
                <a:spLocks noChangeArrowheads="1"/>
              </p:cNvSpPr>
              <p:nvPr/>
            </p:nvSpPr>
            <p:spPr bwMode="auto">
              <a:xfrm>
                <a:off x="4009" y="630"/>
                <a:ext cx="1502"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smtClean="0">
                    <a:solidFill>
                      <a:sysClr val="windowText" lastClr="000000"/>
                    </a:solidFill>
                    <a:latin typeface="微软雅黑" pitchFamily="34" charset="-122"/>
                    <a:ea typeface="微软雅黑" pitchFamily="34" charset="-122"/>
                  </a:rPr>
                  <a:t>文档的标题</a:t>
                </a:r>
                <a:endParaRPr lang="zh-CN" altLang="en-US" sz="1800" b="1" dirty="0">
                  <a:solidFill>
                    <a:sysClr val="windowText" lastClr="000000"/>
                  </a:solidFill>
                  <a:latin typeface="微软雅黑" pitchFamily="34" charset="-122"/>
                  <a:ea typeface="微软雅黑" pitchFamily="34" charset="-122"/>
                </a:endParaRPr>
              </a:p>
            </p:txBody>
          </p:sp>
          <p:sp>
            <p:nvSpPr>
              <p:cNvPr id="28" name="Line 6"/>
              <p:cNvSpPr>
                <a:spLocks noChangeShapeType="1"/>
              </p:cNvSpPr>
              <p:nvPr/>
            </p:nvSpPr>
            <p:spPr bwMode="auto">
              <a:xfrm flipH="1" flipV="1">
                <a:off x="3021" y="534"/>
                <a:ext cx="988" cy="31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610222" y="1700563"/>
              <a:ext cx="1788042"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42763714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Group 9"/>
          <p:cNvGrpSpPr>
            <a:grpSpLocks/>
          </p:cNvGrpSpPr>
          <p:nvPr/>
        </p:nvGrpSpPr>
        <p:grpSpPr bwMode="auto">
          <a:xfrm>
            <a:off x="3279507" y="2125847"/>
            <a:ext cx="3409728" cy="369368"/>
            <a:chOff x="1426" y="630"/>
            <a:chExt cx="3826" cy="449"/>
          </a:xfrm>
        </p:grpSpPr>
        <p:sp>
          <p:nvSpPr>
            <p:cNvPr id="25"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主体开始</a:t>
              </a:r>
            </a:p>
          </p:txBody>
        </p:sp>
        <p:sp>
          <p:nvSpPr>
            <p:cNvPr id="26"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27" name="Group 9"/>
          <p:cNvGrpSpPr>
            <a:grpSpLocks/>
          </p:cNvGrpSpPr>
          <p:nvPr/>
        </p:nvGrpSpPr>
        <p:grpSpPr bwMode="auto">
          <a:xfrm>
            <a:off x="3279507" y="3191982"/>
            <a:ext cx="3409728" cy="369368"/>
            <a:chOff x="1426" y="630"/>
            <a:chExt cx="3826" cy="449"/>
          </a:xfrm>
        </p:grpSpPr>
        <p:sp>
          <p:nvSpPr>
            <p:cNvPr id="29"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主体结束</a:t>
              </a:r>
            </a:p>
          </p:txBody>
        </p:sp>
        <p:sp>
          <p:nvSpPr>
            <p:cNvPr id="30"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18136053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186458" y="1881194"/>
            <a:ext cx="4232691" cy="836219"/>
            <a:chOff x="2335902" y="1998481"/>
            <a:chExt cx="4232691" cy="836219"/>
          </a:xfrm>
        </p:grpSpPr>
        <p:grpSp>
          <p:nvGrpSpPr>
            <p:cNvPr id="22" name="Group 9"/>
            <p:cNvGrpSpPr>
              <a:grpSpLocks/>
            </p:cNvGrpSpPr>
            <p:nvPr/>
          </p:nvGrpSpPr>
          <p:grpSpPr bwMode="auto">
            <a:xfrm>
              <a:off x="4124038" y="1998481"/>
              <a:ext cx="2444555" cy="506750"/>
              <a:chOff x="2713" y="496"/>
              <a:chExt cx="2743" cy="616"/>
            </a:xfrm>
          </p:grpSpPr>
          <p:sp>
            <p:nvSpPr>
              <p:cNvPr id="24" name="Text Box 5"/>
              <p:cNvSpPr txBox="1">
                <a:spLocks noChangeArrowheads="1"/>
              </p:cNvSpPr>
              <p:nvPr/>
            </p:nvSpPr>
            <p:spPr bwMode="auto">
              <a:xfrm>
                <a:off x="3380" y="496"/>
                <a:ext cx="2076"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smtClean="0">
                    <a:solidFill>
                      <a:sysClr val="windowText" lastClr="000000"/>
                    </a:solidFill>
                    <a:latin typeface="微软雅黑" pitchFamily="34" charset="-122"/>
                    <a:ea typeface="微软雅黑" pitchFamily="34" charset="-122"/>
                  </a:rPr>
                  <a:t>主体的 </a:t>
                </a:r>
                <a:r>
                  <a:rPr lang="en-US" altLang="zh-CN" sz="1800" b="1" dirty="0" smtClean="0">
                    <a:solidFill>
                      <a:sysClr val="windowText" lastClr="000000"/>
                    </a:solidFill>
                    <a:latin typeface="微软雅黑" pitchFamily="34" charset="-122"/>
                    <a:ea typeface="微软雅黑" pitchFamily="34" charset="-122"/>
                  </a:rPr>
                  <a:t>1 </a:t>
                </a:r>
                <a:r>
                  <a:rPr lang="zh-CN" altLang="en-US" sz="1800" b="1" dirty="0" smtClean="0">
                    <a:solidFill>
                      <a:sysClr val="windowText" lastClr="000000"/>
                    </a:solidFill>
                    <a:latin typeface="微软雅黑" pitchFamily="34" charset="-122"/>
                    <a:ea typeface="微软雅黑" pitchFamily="34" charset="-122"/>
                  </a:rPr>
                  <a:t>级题头</a:t>
                </a:r>
                <a:endParaRPr lang="zh-CN" altLang="en-US" sz="1800" b="1" dirty="0">
                  <a:solidFill>
                    <a:sysClr val="windowText" lastClr="000000"/>
                  </a:solidFill>
                  <a:latin typeface="微软雅黑" pitchFamily="34" charset="-122"/>
                  <a:ea typeface="微软雅黑" pitchFamily="34" charset="-122"/>
                </a:endParaRPr>
              </a:p>
            </p:txBody>
          </p:sp>
          <p:sp>
            <p:nvSpPr>
              <p:cNvPr id="28" name="Line 6"/>
              <p:cNvSpPr>
                <a:spLocks noChangeShapeType="1"/>
              </p:cNvSpPr>
              <p:nvPr/>
            </p:nvSpPr>
            <p:spPr bwMode="auto">
              <a:xfrm flipH="1">
                <a:off x="2713" y="711"/>
                <a:ext cx="667" cy="40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335902" y="2505295"/>
              <a:ext cx="1788042"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33599116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3059611" y="2193246"/>
            <a:ext cx="4599122" cy="799418"/>
            <a:chOff x="2189598" y="2849098"/>
            <a:chExt cx="4599122" cy="799418"/>
          </a:xfrm>
        </p:grpSpPr>
        <p:grpSp>
          <p:nvGrpSpPr>
            <p:cNvPr id="25" name="Group 9"/>
            <p:cNvGrpSpPr>
              <a:grpSpLocks/>
            </p:cNvGrpSpPr>
            <p:nvPr/>
          </p:nvGrpSpPr>
          <p:grpSpPr bwMode="auto">
            <a:xfrm>
              <a:off x="3837964" y="2849098"/>
              <a:ext cx="2950756" cy="580788"/>
              <a:chOff x="2392" y="1530"/>
              <a:chExt cx="3311" cy="706"/>
            </a:xfrm>
          </p:grpSpPr>
          <p:sp>
            <p:nvSpPr>
              <p:cNvPr id="27" name="Text Box 5"/>
              <p:cNvSpPr txBox="1">
                <a:spLocks noChangeArrowheads="1"/>
              </p:cNvSpPr>
              <p:nvPr/>
            </p:nvSpPr>
            <p:spPr bwMode="auto">
              <a:xfrm>
                <a:off x="3424" y="1530"/>
                <a:ext cx="2279"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smtClean="0">
                    <a:solidFill>
                      <a:sysClr val="windowText" lastClr="000000"/>
                    </a:solidFill>
                    <a:latin typeface="微软雅黑" pitchFamily="34" charset="-122"/>
                    <a:ea typeface="微软雅黑" pitchFamily="34" charset="-122"/>
                  </a:rPr>
                  <a:t>主体的第一个</a:t>
                </a:r>
                <a:r>
                  <a:rPr lang="zh-CN" altLang="en-US" sz="1800" b="1" dirty="0">
                    <a:solidFill>
                      <a:sysClr val="windowText" lastClr="000000"/>
                    </a:solidFill>
                    <a:latin typeface="微软雅黑" pitchFamily="34" charset="-122"/>
                    <a:ea typeface="微软雅黑" pitchFamily="34" charset="-122"/>
                  </a:rPr>
                  <a:t>段落</a:t>
                </a:r>
              </a:p>
            </p:txBody>
          </p:sp>
          <p:sp>
            <p:nvSpPr>
              <p:cNvPr id="29" name="Line 6"/>
              <p:cNvSpPr>
                <a:spLocks noChangeShapeType="1"/>
              </p:cNvSpPr>
              <p:nvPr/>
            </p:nvSpPr>
            <p:spPr bwMode="auto">
              <a:xfrm flipH="1">
                <a:off x="2392" y="1745"/>
                <a:ext cx="1032" cy="49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6" name="Rectangle 8"/>
            <p:cNvSpPr>
              <a:spLocks noChangeArrowheads="1"/>
            </p:cNvSpPr>
            <p:nvPr/>
          </p:nvSpPr>
          <p:spPr bwMode="auto">
            <a:xfrm>
              <a:off x="2189598" y="3319111"/>
              <a:ext cx="1645554"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2841408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zh-CN" altLang="en-US" sz="1600" b="1" dirty="0" smtClean="0">
                <a:solidFill>
                  <a:srgbClr val="0000FF"/>
                </a:solidFill>
                <a:latin typeface="微软雅黑" pitchFamily="34" charset="-122"/>
                <a:ea typeface="微软雅黑" pitchFamily="34" charset="-122"/>
              </a:rPr>
              <a:t>。</a:t>
            </a:r>
            <a:r>
              <a:rPr lang="en-US" altLang="zh-CN" sz="1600" b="1" dirty="0" smtClean="0">
                <a:solidFill>
                  <a:srgbClr val="0000FF"/>
                </a:solidFill>
                <a:latin typeface="微软雅黑" pitchFamily="34" charset="-122"/>
                <a:ea typeface="微软雅黑" pitchFamily="34" charset="-122"/>
              </a:rPr>
              <a:t>&lt;/</a:t>
            </a:r>
            <a:r>
              <a:rPr lang="en-US" altLang="zh-CN" sz="1600" b="1" dirty="0">
                <a:solidFill>
                  <a:srgbClr val="0000FF"/>
                </a:solidFill>
                <a:latin typeface="微软雅黑" pitchFamily="34" charset="-122"/>
                <a:ea typeface="微软雅黑" pitchFamily="34" charset="-122"/>
              </a:rPr>
              <a: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a:t>
            </a:r>
            <a:r>
              <a:rPr lang="en-US" altLang="zh-CN" sz="1600" b="1" dirty="0" smtClean="0">
                <a:solidFill>
                  <a:srgbClr val="0000FF"/>
                </a:solidFill>
                <a:latin typeface="微软雅黑" pitchFamily="34" charset="-122"/>
                <a:ea typeface="微软雅黑" pitchFamily="34" charset="-122"/>
              </a:rPr>
              <a:t>&gt;</a:t>
            </a:r>
            <a:endParaRPr lang="en-US" altLang="zh-CN" sz="1600" b="1" dirty="0">
              <a:solidFill>
                <a:srgbClr val="0000FF"/>
              </a:solidFill>
              <a:latin typeface="微软雅黑" pitchFamily="34" charset="-122"/>
              <a:ea typeface="微软雅黑"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059611" y="2455852"/>
            <a:ext cx="4600905" cy="799418"/>
            <a:chOff x="2189598" y="2849098"/>
            <a:chExt cx="4600905" cy="799418"/>
          </a:xfrm>
        </p:grpSpPr>
        <p:grpSp>
          <p:nvGrpSpPr>
            <p:cNvPr id="22" name="Group 9"/>
            <p:cNvGrpSpPr>
              <a:grpSpLocks/>
            </p:cNvGrpSpPr>
            <p:nvPr/>
          </p:nvGrpSpPr>
          <p:grpSpPr bwMode="auto">
            <a:xfrm>
              <a:off x="3837964" y="2849098"/>
              <a:ext cx="2952539" cy="580788"/>
              <a:chOff x="2392" y="1530"/>
              <a:chExt cx="3313" cy="706"/>
            </a:xfrm>
          </p:grpSpPr>
          <p:sp>
            <p:nvSpPr>
              <p:cNvPr id="24" name="Text Box 5"/>
              <p:cNvSpPr txBox="1">
                <a:spLocks noChangeArrowheads="1"/>
              </p:cNvSpPr>
              <p:nvPr/>
            </p:nvSpPr>
            <p:spPr bwMode="auto">
              <a:xfrm>
                <a:off x="3424" y="1530"/>
                <a:ext cx="2281"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smtClean="0">
                    <a:solidFill>
                      <a:sysClr val="windowText" lastClr="000000"/>
                    </a:solidFill>
                    <a:latin typeface="微软雅黑" pitchFamily="34" charset="-122"/>
                    <a:ea typeface="微软雅黑" pitchFamily="34" charset="-122"/>
                  </a:rPr>
                  <a:t>主体的第二个</a:t>
                </a:r>
                <a:r>
                  <a:rPr lang="zh-CN" altLang="en-US" sz="1800" b="1" dirty="0">
                    <a:solidFill>
                      <a:sysClr val="windowText" lastClr="000000"/>
                    </a:solidFill>
                    <a:latin typeface="微软雅黑" pitchFamily="34" charset="-122"/>
                    <a:ea typeface="微软雅黑" pitchFamily="34" charset="-122"/>
                  </a:rPr>
                  <a:t>段落</a:t>
                </a:r>
              </a:p>
            </p:txBody>
          </p:sp>
          <p:sp>
            <p:nvSpPr>
              <p:cNvPr id="28" name="Line 6"/>
              <p:cNvSpPr>
                <a:spLocks noChangeShapeType="1"/>
              </p:cNvSpPr>
              <p:nvPr/>
            </p:nvSpPr>
            <p:spPr bwMode="auto">
              <a:xfrm flipH="1">
                <a:off x="2392" y="1745"/>
                <a:ext cx="1032" cy="49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189598" y="3319111"/>
              <a:ext cx="1645554"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23831916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20544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&lt;</a:t>
            </a:r>
            <a:r>
              <a:rPr lang="en-US" altLang="zh-CN" sz="2000" b="1" dirty="0" err="1" smtClean="0">
                <a:solidFill>
                  <a:srgbClr val="C00000"/>
                </a:solidFill>
                <a:latin typeface="微软雅黑" pitchFamily="34" charset="-122"/>
                <a:ea typeface="微软雅黑" pitchFamily="34" charset="-122"/>
              </a:rPr>
              <a:t>img</a:t>
            </a:r>
            <a:r>
              <a:rPr lang="en-US" altLang="zh-CN" sz="2000" b="1" dirty="0" smtClean="0">
                <a:solidFill>
                  <a:srgbClr val="C00000"/>
                </a:solidFill>
                <a:latin typeface="微软雅黑" pitchFamily="34" charset="-122"/>
                <a:ea typeface="微软雅黑" pitchFamily="34" charset="-122"/>
              </a:rPr>
              <a:t>&gt;</a:t>
            </a:r>
            <a:r>
              <a:rPr lang="zh-CN" altLang="en-US" sz="2000" b="1" dirty="0" smtClean="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图像标</a:t>
            </a:r>
            <a:r>
              <a:rPr lang="zh-CN" altLang="en-US" sz="2000" b="1" dirty="0" smtClean="0">
                <a:latin typeface="微软雅黑" pitchFamily="34" charset="-122"/>
                <a:ea typeface="微软雅黑" pitchFamily="34" charset="-122"/>
              </a:rPr>
              <a:t>签。</a:t>
            </a:r>
            <a:endParaRPr lang="en-US" altLang="zh-CN" sz="2000" b="1" dirty="0" smtClean="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允许在万维网页面中插入图像。</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一个页面本身带有的图像称为</a:t>
            </a:r>
            <a:r>
              <a:rPr lang="zh-CN" altLang="en-US" sz="2000" b="1" dirty="0">
                <a:solidFill>
                  <a:srgbClr val="C00000"/>
                </a:solidFill>
                <a:latin typeface="微软雅黑" pitchFamily="34" charset="-122"/>
                <a:ea typeface="微软雅黑" pitchFamily="34" charset="-122"/>
              </a:rPr>
              <a:t>内含</a:t>
            </a:r>
            <a:r>
              <a:rPr lang="zh-CN" altLang="en-US" sz="2000" b="1" dirty="0" smtClean="0">
                <a:solidFill>
                  <a:srgbClr val="C00000"/>
                </a:solidFill>
                <a:latin typeface="微软雅黑" pitchFamily="34" charset="-122"/>
                <a:ea typeface="微软雅黑" pitchFamily="34" charset="-122"/>
              </a:rPr>
              <a:t>图像</a:t>
            </a:r>
            <a:r>
              <a:rPr lang="zh-CN" altLang="en-US" sz="2000" b="1" dirty="0" smtClean="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inline image)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smtClean="0">
                <a:latin typeface="微软雅黑" pitchFamily="34" charset="-122"/>
                <a:ea typeface="微软雅黑" pitchFamily="34" charset="-122"/>
              </a:rPr>
              <a:t>HTML </a:t>
            </a:r>
            <a:r>
              <a:rPr lang="zh-CN" altLang="en-US" sz="2000" b="1" dirty="0" smtClean="0">
                <a:latin typeface="微软雅黑" pitchFamily="34" charset="-122"/>
                <a:ea typeface="微软雅黑" pitchFamily="34" charset="-122"/>
              </a:rPr>
              <a:t>标准没有</a:t>
            </a:r>
            <a:r>
              <a:rPr lang="zh-CN" altLang="en-US" sz="2000" b="1" dirty="0">
                <a:latin typeface="微软雅黑" pitchFamily="34" charset="-122"/>
                <a:ea typeface="微软雅黑" pitchFamily="34" charset="-122"/>
              </a:rPr>
              <a:t>规定该图像的格式</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大多数</a:t>
            </a:r>
            <a:r>
              <a:rPr lang="zh-CN" altLang="en-US" sz="2000" b="1" dirty="0">
                <a:latin typeface="微软雅黑" pitchFamily="34" charset="-122"/>
                <a:ea typeface="微软雅黑" pitchFamily="34" charset="-122"/>
              </a:rPr>
              <a:t>浏览器都支持 </a:t>
            </a:r>
            <a:r>
              <a:rPr lang="en-US" altLang="zh-CN" sz="2000" b="1" dirty="0">
                <a:latin typeface="微软雅黑" pitchFamily="34" charset="-122"/>
                <a:ea typeface="微软雅黑" pitchFamily="34" charset="-122"/>
              </a:rPr>
              <a:t>GIF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JPEG </a:t>
            </a:r>
            <a:r>
              <a:rPr lang="zh-CN" altLang="en-US" sz="2000" b="1" dirty="0">
                <a:latin typeface="微软雅黑" pitchFamily="34" charset="-122"/>
                <a:ea typeface="微软雅黑" pitchFamily="34" charset="-122"/>
              </a:rPr>
              <a:t>文件。</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8785108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&lt;a&gt;</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链接标签。</a:t>
            </a:r>
            <a:endParaRPr lang="en-US" altLang="zh-CN" sz="2000" b="1" dirty="0" smtClean="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每个链接都有一个起点和终点</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smtClean="0">
                <a:solidFill>
                  <a:srgbClr val="0000FF"/>
                </a:solidFill>
                <a:latin typeface="微软雅黑" pitchFamily="34" charset="-122"/>
                <a:ea typeface="微软雅黑" pitchFamily="34" charset="-122"/>
              </a:rPr>
              <a:t>起点：</a:t>
            </a:r>
            <a:r>
              <a:rPr lang="zh-CN" altLang="en-US" sz="2000" b="1" dirty="0" smtClean="0">
                <a:latin typeface="微软雅黑" pitchFamily="34" charset="-122"/>
                <a:ea typeface="微软雅黑" pitchFamily="34" charset="-122"/>
              </a:rPr>
              <a:t>说明</a:t>
            </a:r>
            <a:r>
              <a:rPr lang="zh-CN" altLang="en-US" sz="2000" b="1" dirty="0">
                <a:latin typeface="微软雅黑" pitchFamily="34" charset="-122"/>
                <a:ea typeface="微软雅黑" pitchFamily="34" charset="-122"/>
              </a:rPr>
              <a:t>在万维网页面中的什么地方可</a:t>
            </a:r>
            <a:r>
              <a:rPr lang="zh-CN" altLang="en-US" sz="2000" b="1" dirty="0">
                <a:solidFill>
                  <a:srgbClr val="C00000"/>
                </a:solidFill>
                <a:latin typeface="微软雅黑" pitchFamily="34" charset="-122"/>
                <a:ea typeface="微软雅黑" pitchFamily="34" charset="-122"/>
              </a:rPr>
              <a:t>引出</a:t>
            </a:r>
            <a:r>
              <a:rPr lang="zh-CN" altLang="en-US" sz="2000" b="1" dirty="0">
                <a:latin typeface="微软雅黑" pitchFamily="34" charset="-122"/>
                <a:ea typeface="微软雅黑" pitchFamily="34" charset="-122"/>
              </a:rPr>
              <a:t>一个链接</a:t>
            </a:r>
            <a:r>
              <a:rPr lang="zh-CN" altLang="en-US" sz="2000" b="1" dirty="0" smtClean="0">
                <a:latin typeface="微软雅黑" pitchFamily="34" charset="-122"/>
                <a:ea typeface="微软雅黑" pitchFamily="34" charset="-122"/>
              </a:rPr>
              <a:t>。可以</a:t>
            </a:r>
            <a:r>
              <a:rPr lang="zh-CN" altLang="en-US" sz="2000" b="1" dirty="0">
                <a:latin typeface="微软雅黑" pitchFamily="34" charset="-122"/>
                <a:ea typeface="微软雅黑" pitchFamily="34" charset="-122"/>
              </a:rPr>
              <a:t>是一个字或几个字，或是一幅图，或是一段文字</a:t>
            </a:r>
            <a:r>
              <a:rPr lang="zh-CN" altLang="en-US" sz="2000" b="1" dirty="0" smtClean="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 </a:t>
            </a:r>
            <a:endParaRPr lang="en-US" altLang="zh-CN" sz="2000" b="1" dirty="0" smtClean="0">
              <a:latin typeface="微软雅黑" pitchFamily="34" charset="-122"/>
              <a:ea typeface="微软雅黑" pitchFamily="34" charset="-122"/>
            </a:endParaRPr>
          </a:p>
          <a:p>
            <a:pPr marL="288925" lvl="1">
              <a:lnSpc>
                <a:spcPts val="2800"/>
              </a:lnSpc>
              <a:buClr>
                <a:srgbClr val="9900CC"/>
              </a:buClr>
              <a:buSzPct val="85000"/>
            </a:pPr>
            <a:r>
              <a:rPr lang="en-US" altLang="zh-CN" b="1" dirty="0" smtClean="0">
                <a:ea typeface="微软雅黑" pitchFamily="34" charset="-122"/>
              </a:rPr>
              <a:t>	</a:t>
            </a:r>
            <a:r>
              <a:rPr lang="en-US" altLang="zh-CN" sz="2000" b="1" dirty="0" smtClean="0">
                <a:ea typeface="微软雅黑" pitchFamily="34" charset="-122"/>
              </a:rPr>
              <a:t>&lt;</a:t>
            </a:r>
            <a:r>
              <a:rPr lang="en-US" altLang="zh-CN" sz="2000" b="1" dirty="0">
                <a:ea typeface="微软雅黑" pitchFamily="34" charset="-122"/>
              </a:rPr>
              <a:t>a </a:t>
            </a:r>
            <a:r>
              <a:rPr lang="en-US" altLang="zh-CN" sz="2000" b="1" dirty="0" err="1" smtClean="0">
                <a:ea typeface="微软雅黑" pitchFamily="34" charset="-122"/>
              </a:rPr>
              <a:t>href</a:t>
            </a:r>
            <a:r>
              <a:rPr lang="en-US" altLang="zh-CN" sz="2000" b="1" dirty="0" smtClean="0">
                <a:ea typeface="微软雅黑" pitchFamily="34" charset="-122"/>
              </a:rPr>
              <a:t>=“</a:t>
            </a:r>
            <a:r>
              <a:rPr lang="en-US" altLang="zh-CN" sz="2000" b="1" u="sng" dirty="0" smtClean="0">
                <a:solidFill>
                  <a:srgbClr val="0033CC"/>
                </a:solidFill>
                <a:ea typeface="微软雅黑" pitchFamily="34" charset="-122"/>
              </a:rPr>
              <a:t>http</a:t>
            </a:r>
            <a:r>
              <a:rPr lang="en-US" altLang="zh-CN" sz="2000" b="1" u="sng" dirty="0">
                <a:solidFill>
                  <a:srgbClr val="0033CC"/>
                </a:solidFill>
                <a:ea typeface="微软雅黑" pitchFamily="34" charset="-122"/>
              </a:rPr>
              <a:t>://</a:t>
            </a:r>
            <a:r>
              <a:rPr lang="en-US" altLang="zh-CN" sz="2000" b="1" u="sng" dirty="0" smtClean="0">
                <a:solidFill>
                  <a:srgbClr val="0033CC"/>
                </a:solidFill>
                <a:ea typeface="微软雅黑" pitchFamily="34" charset="-122"/>
              </a:rPr>
              <a:t>www.tsinghua.edu.cn</a:t>
            </a:r>
            <a:r>
              <a:rPr lang="en-US" altLang="zh-CN" sz="2000" b="1" dirty="0" smtClean="0">
                <a:ea typeface="微软雅黑" pitchFamily="34" charset="-122"/>
              </a:rPr>
              <a:t>”&gt;</a:t>
            </a:r>
            <a:r>
              <a:rPr lang="zh-CN" altLang="en-US" sz="2000" b="1" dirty="0" smtClean="0">
                <a:latin typeface="微软雅黑" pitchFamily="34" charset="-122"/>
                <a:ea typeface="微软雅黑" pitchFamily="34" charset="-122"/>
              </a:rPr>
              <a:t>清华大学主页</a:t>
            </a:r>
            <a:r>
              <a:rPr lang="en-US" altLang="zh-CN" sz="2000" b="1" dirty="0">
                <a:ea typeface="微软雅黑" pitchFamily="34" charset="-122"/>
              </a:rPr>
              <a:t>&lt;/a&gt;</a:t>
            </a: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终点：</a:t>
            </a:r>
            <a:endParaRPr lang="en-US" altLang="zh-CN" sz="2000" b="1" dirty="0">
              <a:solidFill>
                <a:srgbClr val="0000FF"/>
              </a:solidFill>
              <a:latin typeface="微软雅黑" pitchFamily="34" charset="-122"/>
              <a:ea typeface="微软雅黑" pitchFamily="34" charset="-122"/>
            </a:endParaRPr>
          </a:p>
          <a:p>
            <a:pPr marL="985838" lvl="2" indent="-239713">
              <a:lnSpc>
                <a:spcPts val="2800"/>
              </a:lnSpc>
              <a:buClr>
                <a:srgbClr val="993300"/>
              </a:buClr>
              <a:buSzPct val="85000"/>
              <a:buFont typeface="Wingdings" panose="05000000000000000000" pitchFamily="2" charset="2"/>
              <a:buChar char="p"/>
            </a:pPr>
            <a:r>
              <a:rPr lang="zh-CN" altLang="en-US" b="1" dirty="0" smtClean="0">
                <a:latin typeface="微软雅黑" pitchFamily="34" charset="-122"/>
                <a:ea typeface="微软雅黑" pitchFamily="34" charset="-122"/>
              </a:rPr>
              <a:t>可以</a:t>
            </a:r>
            <a:r>
              <a:rPr lang="zh-CN" altLang="en-US" b="1" dirty="0">
                <a:latin typeface="微软雅黑" pitchFamily="34" charset="-122"/>
                <a:ea typeface="微软雅黑" pitchFamily="34" charset="-122"/>
              </a:rPr>
              <a:t>是其他网站上的页面。这种链接方式叫做</a:t>
            </a:r>
            <a:r>
              <a:rPr lang="zh-CN" altLang="en-US" b="1" dirty="0">
                <a:solidFill>
                  <a:srgbClr val="C00000"/>
                </a:solidFill>
                <a:latin typeface="微软雅黑" pitchFamily="34" charset="-122"/>
                <a:ea typeface="微软雅黑" pitchFamily="34" charset="-122"/>
              </a:rPr>
              <a:t>远程链接</a:t>
            </a:r>
            <a:r>
              <a:rPr lang="zh-CN" altLang="en-US" b="1" dirty="0" smtClean="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这时</a:t>
            </a:r>
            <a:r>
              <a:rPr lang="zh-CN" altLang="en-US" b="1" dirty="0" smtClean="0">
                <a:latin typeface="微软雅黑" pitchFamily="34" charset="-122"/>
                <a:ea typeface="微软雅黑" pitchFamily="34" charset="-122"/>
              </a:rPr>
              <a:t>必须指明</a:t>
            </a:r>
            <a:r>
              <a:rPr lang="zh-CN" altLang="en-US" b="1" dirty="0">
                <a:latin typeface="微软雅黑" pitchFamily="34" charset="-122"/>
                <a:ea typeface="微软雅黑" pitchFamily="34" charset="-122"/>
              </a:rPr>
              <a:t>链接到的</a:t>
            </a:r>
            <a:r>
              <a:rPr lang="zh-CN" altLang="en-US" b="1" dirty="0">
                <a:solidFill>
                  <a:srgbClr val="C00000"/>
                </a:solidFill>
                <a:latin typeface="微软雅黑" pitchFamily="34" charset="-122"/>
                <a:ea typeface="微软雅黑" pitchFamily="34" charset="-122"/>
              </a:rPr>
              <a:t>网站</a:t>
            </a:r>
            <a:r>
              <a:rPr lang="zh-CN" altLang="en-US" b="1" dirty="0" smtClean="0">
                <a:solidFill>
                  <a:srgbClr val="C00000"/>
                </a:solidFill>
                <a:latin typeface="微软雅黑" pitchFamily="34" charset="-122"/>
                <a:ea typeface="微软雅黑" pitchFamily="34" charset="-122"/>
              </a:rPr>
              <a:t>的 </a:t>
            </a:r>
            <a:r>
              <a:rPr lang="en-US" altLang="zh-CN" b="1" dirty="0" smtClean="0">
                <a:solidFill>
                  <a:srgbClr val="C00000"/>
                </a:solidFill>
                <a:latin typeface="微软雅黑" pitchFamily="34" charset="-122"/>
                <a:ea typeface="微软雅黑" pitchFamily="34" charset="-122"/>
              </a:rPr>
              <a:t>URL</a:t>
            </a:r>
            <a:r>
              <a:rPr lang="zh-CN" altLang="en-US" b="1" dirty="0">
                <a:solidFill>
                  <a:srgbClr val="C00000"/>
                </a:solidFill>
                <a:latin typeface="微软雅黑" pitchFamily="34" charset="-122"/>
                <a:ea typeface="微软雅黑" pitchFamily="34" charset="-122"/>
              </a:rPr>
              <a:t>。</a:t>
            </a:r>
            <a:endParaRPr lang="en-US" altLang="zh-CN" b="1" dirty="0" smtClean="0">
              <a:solidFill>
                <a:srgbClr val="C00000"/>
              </a:solidFill>
              <a:latin typeface="微软雅黑" pitchFamily="34" charset="-122"/>
              <a:ea typeface="微软雅黑" pitchFamily="34" charset="-122"/>
            </a:endParaRPr>
          </a:p>
          <a:p>
            <a:pPr marL="985838" lvl="2" indent="-239713">
              <a:lnSpc>
                <a:spcPts val="2800"/>
              </a:lnSpc>
              <a:buClr>
                <a:srgbClr val="993300"/>
              </a:buClr>
              <a:buSzPct val="85000"/>
              <a:buFont typeface="Wingdings" panose="05000000000000000000" pitchFamily="2" charset="2"/>
              <a:buChar char="p"/>
            </a:pPr>
            <a:r>
              <a:rPr lang="zh-CN" altLang="en-US" b="1" dirty="0" smtClean="0">
                <a:latin typeface="微软雅黑" pitchFamily="34" charset="-122"/>
                <a:ea typeface="微软雅黑" pitchFamily="34" charset="-122"/>
              </a:rPr>
              <a:t>可以</a:t>
            </a:r>
            <a:r>
              <a:rPr lang="zh-CN" altLang="en-US" b="1" dirty="0">
                <a:latin typeface="微软雅黑" pitchFamily="34" charset="-122"/>
                <a:ea typeface="微软雅黑" pitchFamily="34" charset="-122"/>
              </a:rPr>
              <a:t>指向本计算机中的某一个文件或本文件中的某处，这种链接方式叫做</a:t>
            </a:r>
            <a:r>
              <a:rPr lang="zh-CN" altLang="en-US" b="1" dirty="0">
                <a:solidFill>
                  <a:srgbClr val="C00000"/>
                </a:solidFill>
                <a:latin typeface="微软雅黑" pitchFamily="34" charset="-122"/>
                <a:ea typeface="微软雅黑" pitchFamily="34" charset="-122"/>
              </a:rPr>
              <a:t>本地链接。</a:t>
            </a:r>
            <a:r>
              <a:rPr lang="zh-CN" altLang="en-US" b="1" dirty="0">
                <a:latin typeface="微软雅黑" pitchFamily="34" charset="-122"/>
                <a:ea typeface="微软雅黑" pitchFamily="34" charset="-122"/>
              </a:rPr>
              <a:t>这时必须</a:t>
            </a:r>
            <a:r>
              <a:rPr lang="zh-CN" altLang="en-US" b="1" dirty="0" smtClean="0">
                <a:latin typeface="微软雅黑" pitchFamily="34" charset="-122"/>
                <a:ea typeface="微软雅黑" pitchFamily="34" charset="-122"/>
              </a:rPr>
              <a:t>指明</a:t>
            </a:r>
            <a:r>
              <a:rPr lang="zh-CN" altLang="en-US" b="1" dirty="0">
                <a:latin typeface="微软雅黑" pitchFamily="34" charset="-122"/>
                <a:ea typeface="微软雅黑" pitchFamily="34" charset="-122"/>
              </a:rPr>
              <a:t>链接的</a:t>
            </a:r>
            <a:r>
              <a:rPr lang="zh-CN" altLang="en-US" b="1" dirty="0">
                <a:solidFill>
                  <a:srgbClr val="C00000"/>
                </a:solidFill>
                <a:latin typeface="微软雅黑" pitchFamily="34" charset="-122"/>
                <a:ea typeface="微软雅黑" pitchFamily="34" charset="-122"/>
              </a:rPr>
              <a:t>路径。</a:t>
            </a:r>
            <a:endParaRPr lang="en-US" altLang="zh-CN" b="1" dirty="0">
              <a:solidFill>
                <a:srgbClr val="C00000"/>
              </a:solidFill>
              <a:latin typeface="微软雅黑" pitchFamily="34" charset="-122"/>
              <a:ea typeface="微软雅黑"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a:t>
            </a:r>
            <a:r>
              <a:rPr lang="zh-CN" altLang="en-US" sz="2000" b="1" dirty="0" smtClean="0">
                <a:latin typeface="微软雅黑" pitchFamily="34" charset="-122"/>
                <a:ea typeface="微软雅黑" pitchFamily="34" charset="-122"/>
              </a:rPr>
              <a:t>用法</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26120189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5076"/>
            <a:ext cx="817866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层叠样式</a:t>
            </a:r>
            <a:r>
              <a:rPr lang="zh-CN" altLang="en-US" sz="2000" b="1" dirty="0" smtClean="0">
                <a:solidFill>
                  <a:srgbClr val="C00000"/>
                </a:solidFill>
                <a:latin typeface="微软雅黑" pitchFamily="34" charset="-122"/>
                <a:ea typeface="微软雅黑" pitchFamily="34" charset="-122"/>
              </a:rPr>
              <a:t>表 </a:t>
            </a:r>
            <a:r>
              <a:rPr lang="en-US" altLang="zh-CN" sz="2000" b="1" dirty="0" smtClean="0">
                <a:solidFill>
                  <a:srgbClr val="C00000"/>
                </a:solidFill>
                <a:latin typeface="微软雅黑" pitchFamily="34" charset="-122"/>
                <a:ea typeface="微软雅黑" pitchFamily="34" charset="-122"/>
              </a:rPr>
              <a:t>CSS </a:t>
            </a:r>
            <a:r>
              <a:rPr lang="en-US" altLang="zh-CN" sz="2000" b="1" dirty="0">
                <a:latin typeface="微软雅黑" pitchFamily="34" charset="-122"/>
                <a:ea typeface="微软雅黑" pitchFamily="34" charset="-122"/>
              </a:rPr>
              <a:t>(Cascading Style Sheets) </a:t>
            </a: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一种专门设计网页样式的</a:t>
            </a:r>
            <a:r>
              <a:rPr lang="zh-CN" altLang="en-US" sz="2000" b="1" dirty="0">
                <a:solidFill>
                  <a:srgbClr val="C00000"/>
                </a:solidFill>
                <a:latin typeface="微软雅黑" pitchFamily="34" charset="-122"/>
                <a:ea typeface="微软雅黑" pitchFamily="34" charset="-122"/>
              </a:rPr>
              <a:t>标记语言</a:t>
            </a:r>
            <a:r>
              <a:rPr lang="zh-CN" altLang="en-US" sz="2000" b="1" dirty="0">
                <a:latin typeface="微软雅黑" pitchFamily="34" charset="-122"/>
                <a:ea typeface="微软雅黑" pitchFamily="34" charset="-122"/>
              </a:rPr>
              <a:t>或</a:t>
            </a:r>
            <a:r>
              <a:rPr lang="zh-CN" altLang="en-US" sz="2000" b="1" dirty="0">
                <a:solidFill>
                  <a:srgbClr val="C00000"/>
                </a:solidFill>
                <a:latin typeface="微软雅黑" pitchFamily="34" charset="-122"/>
                <a:ea typeface="微软雅黑" pitchFamily="34" charset="-122"/>
              </a:rPr>
              <a:t>规则语言</a:t>
            </a:r>
            <a:r>
              <a:rPr lang="zh-CN" altLang="en-US" sz="2000" b="1" dirty="0">
                <a:latin typeface="微软雅黑" pitchFamily="34" charset="-122"/>
                <a:ea typeface="微软雅黑" pitchFamily="34" charset="-122"/>
              </a:rPr>
              <a:t>，用于为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a:t>
            </a:r>
            <a:r>
              <a:rPr lang="zh-CN" altLang="en-US" sz="2000" b="1" dirty="0" smtClean="0">
                <a:solidFill>
                  <a:srgbClr val="C00000"/>
                </a:solidFill>
                <a:latin typeface="微软雅黑" pitchFamily="34" charset="-122"/>
                <a:ea typeface="微软雅黑" pitchFamily="34" charset="-122"/>
              </a:rPr>
              <a:t>定义外观和布局</a:t>
            </a:r>
            <a:r>
              <a:rPr lang="zh-CN" altLang="en-US" sz="2000" b="1" dirty="0">
                <a:solidFill>
                  <a:srgbClr val="C00000"/>
                </a:solidFill>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CSS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的</a:t>
            </a:r>
            <a:r>
              <a:rPr lang="zh-CN" altLang="en-US" sz="2000" b="1" dirty="0" smtClean="0">
                <a:solidFill>
                  <a:srgbClr val="C00000"/>
                </a:solidFill>
                <a:latin typeface="微软雅黑" pitchFamily="34" charset="-122"/>
                <a:ea typeface="微软雅黑" pitchFamily="34" charset="-122"/>
              </a:rPr>
              <a:t>区别：</a:t>
            </a:r>
            <a:r>
              <a:rPr lang="en-US" altLang="zh-CN" sz="2000" b="1" dirty="0">
                <a:latin typeface="微软雅黑" pitchFamily="34" charset="-122"/>
                <a:ea typeface="微软雅黑" pitchFamily="34" charset="-122"/>
              </a:rPr>
              <a:t>HTML </a:t>
            </a:r>
            <a:r>
              <a:rPr lang="zh-CN" altLang="en-US" sz="2000" b="1" dirty="0" smtClean="0">
                <a:latin typeface="微软雅黑" pitchFamily="34" charset="-122"/>
                <a:ea typeface="微软雅黑" pitchFamily="34" charset="-122"/>
              </a:rPr>
              <a:t>负责</a:t>
            </a:r>
            <a:r>
              <a:rPr lang="zh-CN" altLang="en-US" sz="2000" b="1" dirty="0">
                <a:solidFill>
                  <a:srgbClr val="C00000"/>
                </a:solidFill>
                <a:latin typeface="微软雅黑" pitchFamily="34" charset="-122"/>
                <a:ea typeface="微软雅黑" pitchFamily="34" charset="-122"/>
              </a:rPr>
              <a:t>网页的结构和内容</a:t>
            </a:r>
            <a:r>
              <a:rPr lang="zh-CN" altLang="en-US" sz="2000" b="1" dirty="0">
                <a:latin typeface="微软雅黑" pitchFamily="34" charset="-122"/>
                <a:ea typeface="微软雅黑" pitchFamily="34" charset="-122"/>
              </a:rPr>
              <a:t>，而 </a:t>
            </a:r>
            <a:r>
              <a:rPr lang="en-US" altLang="zh-CN" sz="2000" b="1" dirty="0">
                <a:latin typeface="微软雅黑" pitchFamily="34" charset="-122"/>
                <a:ea typeface="微软雅黑" pitchFamily="34" charset="-122"/>
              </a:rPr>
              <a:t>CSS </a:t>
            </a:r>
            <a:r>
              <a:rPr lang="zh-CN" altLang="en-US" sz="2000" b="1" dirty="0">
                <a:latin typeface="微软雅黑" pitchFamily="34" charset="-122"/>
                <a:ea typeface="微软雅黑" pitchFamily="34" charset="-122"/>
              </a:rPr>
              <a:t>则负责</a:t>
            </a:r>
            <a:r>
              <a:rPr lang="zh-CN" altLang="en-US" sz="2000" b="1" dirty="0">
                <a:solidFill>
                  <a:srgbClr val="C00000"/>
                </a:solidFill>
                <a:latin typeface="微软雅黑" pitchFamily="34" charset="-122"/>
                <a:ea typeface="微软雅黑" pitchFamily="34" charset="-122"/>
              </a:rPr>
              <a:t>页面的布局和美化视觉效果（包括动画）</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例如：在</a:t>
            </a:r>
            <a:r>
              <a:rPr lang="zh-CN" altLang="en-US" sz="2000" b="1" dirty="0">
                <a:latin typeface="微软雅黑" pitchFamily="34" charset="-122"/>
                <a:ea typeface="微软雅黑" pitchFamily="34" charset="-122"/>
              </a:rPr>
              <a:t>浏览器上显示的字体、颜色、边距、高度、宽度、背景图像</a:t>
            </a:r>
            <a:r>
              <a:rPr lang="zh-CN" altLang="en-US" sz="2000" b="1" dirty="0" smtClean="0">
                <a:latin typeface="微软雅黑" pitchFamily="34" charset="-122"/>
                <a:ea typeface="微软雅黑" pitchFamily="34" charset="-122"/>
              </a:rPr>
              <a:t>等。</a:t>
            </a:r>
            <a:endParaRPr lang="zh-CN" altLang="en-US" sz="2000" b="1" dirty="0">
              <a:latin typeface="微软雅黑" pitchFamily="34" charset="-122"/>
              <a:ea typeface="微软雅黑" pitchFamily="34" charset="-122"/>
            </a:endParaRPr>
          </a:p>
        </p:txBody>
      </p:sp>
      <p:sp>
        <p:nvSpPr>
          <p:cNvPr id="3" name="AutoShape 5"/>
          <p:cNvSpPr>
            <a:spLocks noChangeArrowheads="1"/>
          </p:cNvSpPr>
          <p:nvPr/>
        </p:nvSpPr>
        <p:spPr bwMode="auto">
          <a:xfrm>
            <a:off x="556963" y="61392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80828"/>
            <a:ext cx="66556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CSS</a:t>
            </a:r>
            <a:endParaRPr lang="zh-CN" altLang="en-US" sz="2000" b="1" dirty="0">
              <a:latin typeface="微软雅黑" pitchFamily="34" charset="-122"/>
              <a:ea typeface="微软雅黑" pitchFamily="34" charset="-122"/>
            </a:endParaRPr>
          </a:p>
        </p:txBody>
      </p:sp>
      <p:grpSp>
        <p:nvGrpSpPr>
          <p:cNvPr id="5" name="组合 4"/>
          <p:cNvGrpSpPr/>
          <p:nvPr/>
        </p:nvGrpSpPr>
        <p:grpSpPr>
          <a:xfrm>
            <a:off x="1154100" y="3756784"/>
            <a:ext cx="6684885" cy="824269"/>
            <a:chOff x="1154100" y="3809875"/>
            <a:chExt cx="6684885" cy="824269"/>
          </a:xfrm>
        </p:grpSpPr>
        <p:sp>
          <p:nvSpPr>
            <p:cNvPr id="6" name="对角圆角矩形 5"/>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zh-CN" altLang="en-US" b="1" dirty="0" smtClean="0">
                  <a:solidFill>
                    <a:schemeClr val="bg1"/>
                  </a:solidFill>
                  <a:latin typeface="微软雅黑" pitchFamily="34" charset="-122"/>
                  <a:ea typeface="微软雅黑" pitchFamily="34" charset="-122"/>
                </a:rPr>
                <a:t>总体上，第</a:t>
              </a:r>
              <a:r>
                <a:rPr lang="zh-CN" altLang="en-US" b="1" dirty="0">
                  <a:solidFill>
                    <a:schemeClr val="bg1"/>
                  </a:solidFill>
                  <a:latin typeface="微软雅黑" pitchFamily="34" charset="-122"/>
                  <a:ea typeface="微软雅黑" pitchFamily="34" charset="-122"/>
                </a:rPr>
                <a:t>一代静态万维网的特点是</a:t>
              </a:r>
              <a:r>
                <a:rPr lang="zh-CN" altLang="en-US" b="1" dirty="0">
                  <a:solidFill>
                    <a:srgbClr val="FFFF66"/>
                  </a:solidFill>
                  <a:latin typeface="微软雅黑" pitchFamily="34" charset="-122"/>
                  <a:ea typeface="微软雅黑" pitchFamily="34" charset="-122"/>
                </a:rPr>
                <a:t>单向传播</a:t>
              </a:r>
              <a:r>
                <a:rPr lang="zh-CN" altLang="en-US" b="1" dirty="0">
                  <a:solidFill>
                    <a:schemeClr val="bg1"/>
                  </a:solidFill>
                  <a:latin typeface="微软雅黑" pitchFamily="34" charset="-122"/>
                  <a:ea typeface="微软雅黑" pitchFamily="34" charset="-122"/>
                </a:rPr>
                <a:t>，互动性差，类似电子版的报纸。</a:t>
              </a:r>
              <a:endParaRPr lang="zh-CN" altLang="en-US" b="1" dirty="0">
                <a:solidFill>
                  <a:srgbClr val="FFC000"/>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0024932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29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564888" y="57608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第二</a:t>
            </a:r>
            <a:r>
              <a:rPr lang="zh-CN" altLang="en-US" sz="2000" b="1" dirty="0">
                <a:solidFill>
                  <a:schemeClr val="bg1"/>
                </a:solidFill>
                <a:latin typeface="微软雅黑" pitchFamily="34" charset="-122"/>
                <a:ea typeface="微软雅黑" pitchFamily="34" charset="-122"/>
              </a:rPr>
              <a:t>代万维网</a:t>
            </a:r>
          </a:p>
        </p:txBody>
      </p:sp>
      <p:sp>
        <p:nvSpPr>
          <p:cNvPr id="4" name="Rectangle 68"/>
          <p:cNvSpPr>
            <a:spLocks noChangeArrowheads="1"/>
          </p:cNvSpPr>
          <p:nvPr/>
        </p:nvSpPr>
        <p:spPr bwMode="auto">
          <a:xfrm>
            <a:off x="556963" y="970389"/>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第</a:t>
            </a:r>
            <a:r>
              <a:rPr lang="zh-CN" altLang="en-US" sz="2000" b="1" dirty="0" smtClean="0">
                <a:latin typeface="微软雅黑" pitchFamily="34" charset="-122"/>
                <a:ea typeface="微软雅黑" pitchFamily="34" charset="-122"/>
              </a:rPr>
              <a:t>一代万维网最大</a:t>
            </a:r>
            <a:r>
              <a:rPr lang="zh-CN" altLang="en-US" sz="2000" b="1" dirty="0">
                <a:latin typeface="微软雅黑" pitchFamily="34" charset="-122"/>
                <a:ea typeface="微软雅黑" pitchFamily="34" charset="-122"/>
              </a:rPr>
              <a:t>优点是</a:t>
            </a:r>
            <a:r>
              <a:rPr lang="zh-CN" altLang="en-US" sz="2000" b="1" dirty="0" smtClean="0">
                <a:latin typeface="微软雅黑" pitchFamily="34" charset="-122"/>
                <a:ea typeface="微软雅黑" pitchFamily="34" charset="-122"/>
              </a:rPr>
              <a:t>简单，但许多</a:t>
            </a:r>
            <a:r>
              <a:rPr lang="zh-CN" altLang="en-US" sz="2000" b="1" dirty="0">
                <a:latin typeface="微软雅黑" pitchFamily="34" charset="-122"/>
                <a:ea typeface="微软雅黑" pitchFamily="34" charset="-122"/>
              </a:rPr>
              <a:t>情况下，</a:t>
            </a:r>
            <a:r>
              <a:rPr lang="zh-CN" altLang="en-US" sz="2000" b="1" dirty="0" smtClean="0">
                <a:latin typeface="微软雅黑" pitchFamily="34" charset="-122"/>
                <a:ea typeface="微软雅黑" pitchFamily="34" charset="-122"/>
              </a:rPr>
              <a:t>用户希望获取正在</a:t>
            </a:r>
            <a:r>
              <a:rPr lang="zh-CN" altLang="en-US" sz="2000" b="1" dirty="0">
                <a:latin typeface="微软雅黑" pitchFamily="34" charset="-122"/>
                <a:ea typeface="微软雅黑" pitchFamily="34" charset="-122"/>
              </a:rPr>
              <a:t>变化的</a:t>
            </a:r>
            <a:r>
              <a:rPr lang="zh-CN" altLang="en-US" sz="2000" b="1" dirty="0" smtClean="0">
                <a:latin typeface="微软雅黑" pitchFamily="34" charset="-122"/>
                <a:ea typeface="微软雅黑" pitchFamily="34" charset="-122"/>
              </a:rPr>
              <a:t>信息。</a:t>
            </a:r>
            <a:endParaRPr lang="en-US" altLang="zh-CN" sz="2000" b="1" dirty="0" smtClean="0">
              <a:latin typeface="微软雅黑" pitchFamily="34" charset="-122"/>
              <a:ea typeface="微软雅黑" pitchFamily="34" charset="-122"/>
            </a:endParaRPr>
          </a:p>
          <a:p>
            <a:pPr marL="742950" lvl="1" indent="-28575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股市</a:t>
            </a:r>
            <a:r>
              <a:rPr lang="zh-CN" altLang="en-US" b="1" dirty="0">
                <a:latin typeface="微软雅黑" pitchFamily="34" charset="-122"/>
                <a:ea typeface="微软雅黑" pitchFamily="34" charset="-122"/>
              </a:rPr>
              <a:t>行情、天气预报或航班售票情况</a:t>
            </a:r>
            <a:r>
              <a:rPr lang="zh-CN" altLang="en-US" b="1" dirty="0" smtClean="0">
                <a:latin typeface="微软雅黑" pitchFamily="34" charset="-122"/>
                <a:ea typeface="微软雅黑" pitchFamily="34" charset="-122"/>
              </a:rPr>
              <a:t>等。</a:t>
            </a:r>
            <a:endParaRPr lang="en-US" altLang="zh-CN" b="1" dirty="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第二代</a:t>
            </a:r>
            <a:r>
              <a:rPr lang="zh-CN" altLang="en-US" sz="2000" b="1" dirty="0" smtClean="0">
                <a:latin typeface="微软雅黑" pitchFamily="34" charset="-122"/>
                <a:ea typeface="微软雅黑" pitchFamily="34" charset="-122"/>
              </a:rPr>
              <a:t>万维网能够满足这一需求，简称 </a:t>
            </a:r>
            <a:r>
              <a:rPr lang="en-US" altLang="zh-CN" sz="2000" b="1" dirty="0">
                <a:latin typeface="微软雅黑" pitchFamily="34" charset="-122"/>
                <a:ea typeface="微软雅黑" pitchFamily="34" charset="-122"/>
              </a:rPr>
              <a:t>Web </a:t>
            </a:r>
            <a:r>
              <a:rPr lang="en-US" altLang="zh-CN" sz="2000" b="1" dirty="0" smtClean="0">
                <a:latin typeface="微软雅黑" pitchFamily="34" charset="-122"/>
                <a:ea typeface="微软雅黑" pitchFamily="34" charset="-122"/>
              </a:rPr>
              <a:t>2.0</a:t>
            </a:r>
          </a:p>
        </p:txBody>
      </p:sp>
    </p:spTree>
    <p:extLst>
      <p:ext uri="{BB962C8B-B14F-4D97-AF65-F5344CB8AC3E}">
        <p14:creationId xmlns:p14="http://schemas.microsoft.com/office/powerpoint/2010/main" val="29858737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95160" y="109468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280380" y="1914973"/>
            <a:ext cx="478719" cy="670206"/>
          </a:xfrm>
          <a:prstGeom prst="rect">
            <a:avLst/>
          </a:prstGeom>
        </p:spPr>
      </p:pic>
      <p:sp>
        <p:nvSpPr>
          <p:cNvPr id="6"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63675"/>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第二</a:t>
            </a:r>
            <a:r>
              <a:rPr lang="zh-CN" altLang="en-US" sz="2000" b="1" dirty="0">
                <a:latin typeface="微软雅黑" pitchFamily="34" charset="-122"/>
                <a:ea typeface="微软雅黑" pitchFamily="34" charset="-122"/>
              </a:rPr>
              <a:t>代</a:t>
            </a:r>
            <a:r>
              <a:rPr lang="zh-CN" altLang="en-US" sz="2000" b="1" dirty="0" smtClean="0">
                <a:latin typeface="微软雅黑" pitchFamily="34" charset="-122"/>
                <a:ea typeface="微软雅黑" pitchFamily="34" charset="-122"/>
              </a:rPr>
              <a:t>万维网的特点</a:t>
            </a:r>
            <a:endParaRPr lang="zh-CN" altLang="en-US" sz="2000" b="1" dirty="0">
              <a:latin typeface="微软雅黑" pitchFamily="34" charset="-122"/>
              <a:ea typeface="微软雅黑" pitchFamily="34" charset="-122"/>
            </a:endParaRPr>
          </a:p>
        </p:txBody>
      </p:sp>
      <p:sp>
        <p:nvSpPr>
          <p:cNvPr id="14" name="AutoShape 5"/>
          <p:cNvSpPr>
            <a:spLocks noChangeArrowheads="1"/>
          </p:cNvSpPr>
          <p:nvPr/>
        </p:nvSpPr>
        <p:spPr bwMode="auto">
          <a:xfrm>
            <a:off x="6850961" y="2778545"/>
            <a:ext cx="546370" cy="329762"/>
          </a:xfrm>
          <a:prstGeom prst="can">
            <a:avLst>
              <a:gd name="adj" fmla="val 39583"/>
            </a:avLst>
          </a:prstGeom>
          <a:solidFill>
            <a:srgbClr val="00CC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6369769" y="2584118"/>
            <a:ext cx="475681" cy="190167"/>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9" name="Line 32"/>
          <p:cNvSpPr>
            <a:spLocks noChangeShapeType="1"/>
          </p:cNvSpPr>
          <p:nvPr/>
        </p:nvSpPr>
        <p:spPr bwMode="auto">
          <a:xfrm flipH="1">
            <a:off x="3078161" y="2522118"/>
            <a:ext cx="2529070" cy="1266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Rectangle 39"/>
          <p:cNvSpPr>
            <a:spLocks noChangeArrowheads="1"/>
          </p:cNvSpPr>
          <p:nvPr/>
        </p:nvSpPr>
        <p:spPr bwMode="auto">
          <a:xfrm flipH="1">
            <a:off x="3654626" y="2396672"/>
            <a:ext cx="1548590" cy="276233"/>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smtClean="0">
                <a:solidFill>
                  <a:schemeClr val="bg1"/>
                </a:solidFill>
                <a:latin typeface="微软雅黑" pitchFamily="34" charset="-122"/>
                <a:ea typeface="微软雅黑" pitchFamily="34" charset="-122"/>
              </a:rPr>
              <a:t>③ </a:t>
            </a:r>
            <a:r>
              <a:rPr kumimoji="1" lang="en-US" altLang="zh-CN" sz="1400" b="1" dirty="0" smtClean="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响应报文</a:t>
            </a:r>
          </a:p>
        </p:txBody>
      </p:sp>
      <p:sp>
        <p:nvSpPr>
          <p:cNvPr id="32" name="Rectangle 16"/>
          <p:cNvSpPr>
            <a:spLocks noChangeArrowheads="1"/>
          </p:cNvSpPr>
          <p:nvPr/>
        </p:nvSpPr>
        <p:spPr bwMode="auto">
          <a:xfrm>
            <a:off x="6764420" y="3117568"/>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数据库</a:t>
            </a:r>
          </a:p>
        </p:txBody>
      </p:sp>
      <p:sp>
        <p:nvSpPr>
          <p:cNvPr id="41" name="Line 23"/>
          <p:cNvSpPr>
            <a:spLocks noChangeShapeType="1"/>
          </p:cNvSpPr>
          <p:nvPr/>
        </p:nvSpPr>
        <p:spPr bwMode="auto">
          <a:xfrm flipV="1">
            <a:off x="3081125" y="2139444"/>
            <a:ext cx="2551199" cy="852"/>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5" name="Rectangle 26"/>
          <p:cNvSpPr>
            <a:spLocks noChangeArrowheads="1"/>
          </p:cNvSpPr>
          <p:nvPr/>
        </p:nvSpPr>
        <p:spPr bwMode="auto">
          <a:xfrm>
            <a:off x="3654626" y="1944034"/>
            <a:ext cx="1508447" cy="31689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dirty="0" smtClean="0">
                <a:solidFill>
                  <a:schemeClr val="bg1"/>
                </a:solidFill>
                <a:latin typeface="微软雅黑" pitchFamily="34" charset="-122"/>
                <a:ea typeface="微软雅黑" pitchFamily="34" charset="-122"/>
              </a:rPr>
              <a:t>① </a:t>
            </a:r>
            <a:r>
              <a:rPr kumimoji="1" lang="en-US" altLang="zh-CN" sz="1400" b="1" dirty="0" smtClean="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sp>
        <p:nvSpPr>
          <p:cNvPr id="53" name="Rectangle 159"/>
          <p:cNvSpPr>
            <a:spLocks noChangeArrowheads="1"/>
          </p:cNvSpPr>
          <p:nvPr/>
        </p:nvSpPr>
        <p:spPr bwMode="auto">
          <a:xfrm>
            <a:off x="6266998" y="1446741"/>
            <a:ext cx="1259961"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a:spcBef>
                <a:spcPct val="0"/>
              </a:spcBef>
              <a:buNone/>
            </a:pPr>
            <a:r>
              <a:rPr lang="zh-CN" altLang="en-US" sz="1400" b="1" dirty="0">
                <a:latin typeface="微软雅黑" pitchFamily="34" charset="-122"/>
                <a:ea typeface="微软雅黑" pitchFamily="34" charset="-122"/>
              </a:rPr>
              <a:t>万维网服务器</a:t>
            </a:r>
          </a:p>
        </p:txBody>
      </p:sp>
      <p:sp>
        <p:nvSpPr>
          <p:cNvPr id="55" name="Rectangle 155"/>
          <p:cNvSpPr>
            <a:spLocks noChangeArrowheads="1"/>
          </p:cNvSpPr>
          <p:nvPr/>
        </p:nvSpPr>
        <p:spPr bwMode="auto">
          <a:xfrm>
            <a:off x="1735137" y="1142575"/>
            <a:ext cx="1514794"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a:spcBef>
                <a:spcPct val="0"/>
              </a:spcBef>
              <a:buNone/>
            </a:pPr>
            <a:r>
              <a:rPr lang="zh-CN" altLang="en-US" sz="1400" b="1" dirty="0">
                <a:latin typeface="微软雅黑" pitchFamily="34" charset="-122"/>
                <a:ea typeface="微软雅黑" pitchFamily="34" charset="-122"/>
              </a:rPr>
              <a:t>万维网客户端</a:t>
            </a:r>
            <a:endParaRPr lang="en-US" altLang="zh-CN" sz="1400" b="1" dirty="0">
              <a:latin typeface="微软雅黑" pitchFamily="34" charset="-122"/>
              <a:ea typeface="微软雅黑" pitchFamily="34" charset="-122"/>
            </a:endParaRPr>
          </a:p>
          <a:p>
            <a:pPr algn="ctr">
              <a:spcBef>
                <a:spcPct val="0"/>
              </a:spcBef>
              <a:buNone/>
            </a:pPr>
            <a:r>
              <a:rPr lang="zh-CN" altLang="en-US" sz="1400" b="1" dirty="0">
                <a:latin typeface="微软雅黑" pitchFamily="34" charset="-122"/>
                <a:ea typeface="微软雅黑" pitchFamily="34" charset="-122"/>
              </a:rPr>
              <a:t>（浏览器端）</a:t>
            </a:r>
          </a:p>
        </p:txBody>
      </p:sp>
      <p:sp>
        <p:nvSpPr>
          <p:cNvPr id="58" name="Text Box 301"/>
          <p:cNvSpPr txBox="1">
            <a:spLocks noChangeArrowheads="1"/>
          </p:cNvSpPr>
          <p:nvPr/>
        </p:nvSpPr>
        <p:spPr bwMode="auto">
          <a:xfrm>
            <a:off x="6425331" y="2323343"/>
            <a:ext cx="4143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fontAlgn="ctr" hangingPunct="1">
              <a:spcBef>
                <a:spcPct val="0"/>
              </a:spcBef>
              <a:buFontTx/>
              <a:buNone/>
            </a:pPr>
            <a:r>
              <a:rPr lang="en-US" altLang="zh-CN" sz="2000" dirty="0">
                <a:sym typeface="Wingdings" panose="05000000000000000000" pitchFamily="2" charset="2"/>
              </a:rPr>
              <a:t></a:t>
            </a:r>
            <a:endParaRPr lang="zh-CN" altLang="en-US" sz="1600" dirty="0"/>
          </a:p>
        </p:txBody>
      </p:sp>
      <p:grpSp>
        <p:nvGrpSpPr>
          <p:cNvPr id="9" name="组合 8"/>
          <p:cNvGrpSpPr/>
          <p:nvPr/>
        </p:nvGrpSpPr>
        <p:grpSpPr>
          <a:xfrm>
            <a:off x="5622547" y="2764487"/>
            <a:ext cx="965200" cy="1433513"/>
            <a:chOff x="6886185" y="3253174"/>
            <a:chExt cx="965200" cy="1433513"/>
          </a:xfrm>
        </p:grpSpPr>
        <p:sp>
          <p:nvSpPr>
            <p:cNvPr id="62" name="Text Box 285"/>
            <p:cNvSpPr txBox="1">
              <a:spLocks noChangeArrowheads="1"/>
            </p:cNvSpPr>
            <p:nvPr/>
          </p:nvSpPr>
          <p:spPr bwMode="auto">
            <a:xfrm>
              <a:off x="6886185" y="3253174"/>
              <a:ext cx="965200" cy="143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8800" dirty="0">
                  <a:sym typeface="Wingdings" panose="05000000000000000000" pitchFamily="2" charset="2"/>
                </a:rPr>
                <a:t></a:t>
              </a:r>
              <a:endParaRPr lang="en-US" altLang="zh-CN" sz="8800" dirty="0"/>
            </a:p>
          </p:txBody>
        </p:sp>
        <p:grpSp>
          <p:nvGrpSpPr>
            <p:cNvPr id="63" name="Group 305"/>
            <p:cNvGrpSpPr>
              <a:grpSpLocks/>
            </p:cNvGrpSpPr>
            <p:nvPr/>
          </p:nvGrpSpPr>
          <p:grpSpPr bwMode="auto">
            <a:xfrm>
              <a:off x="7080895" y="3852041"/>
              <a:ext cx="544513" cy="307975"/>
              <a:chOff x="1807" y="3405"/>
              <a:chExt cx="343" cy="194"/>
            </a:xfrm>
          </p:grpSpPr>
          <p:sp>
            <p:nvSpPr>
              <p:cNvPr id="64" name="Rectangle 304"/>
              <p:cNvSpPr>
                <a:spLocks noChangeArrowheads="1"/>
              </p:cNvSpPr>
              <p:nvPr/>
            </p:nvSpPr>
            <p:spPr bwMode="auto">
              <a:xfrm>
                <a:off x="1847" y="3436"/>
                <a:ext cx="282" cy="1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a:p>
            </p:txBody>
          </p:sp>
          <p:sp>
            <p:nvSpPr>
              <p:cNvPr id="65" name="Text Box 303"/>
              <p:cNvSpPr txBox="1">
                <a:spLocks noChangeArrowheads="1"/>
              </p:cNvSpPr>
              <p:nvPr/>
            </p:nvSpPr>
            <p:spPr bwMode="auto">
              <a:xfrm>
                <a:off x="1807" y="3405"/>
                <a:ext cx="3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400" b="1" dirty="0">
                    <a:latin typeface="微软雅黑" pitchFamily="34" charset="-122"/>
                    <a:ea typeface="微软雅黑" pitchFamily="34" charset="-122"/>
                  </a:rPr>
                  <a:t>程序</a:t>
                </a:r>
              </a:p>
            </p:txBody>
          </p:sp>
        </p:grpSp>
      </p:grpSp>
      <p:grpSp>
        <p:nvGrpSpPr>
          <p:cNvPr id="66" name="组合 1"/>
          <p:cNvGrpSpPr>
            <a:grpSpLocks/>
          </p:cNvGrpSpPr>
          <p:nvPr/>
        </p:nvGrpSpPr>
        <p:grpSpPr bwMode="auto">
          <a:xfrm>
            <a:off x="5583957" y="1702328"/>
            <a:ext cx="965200" cy="1433513"/>
            <a:chOff x="8110537" y="654148"/>
            <a:chExt cx="965200" cy="1433512"/>
          </a:xfrm>
        </p:grpSpPr>
        <p:sp>
          <p:nvSpPr>
            <p:cNvPr id="67" name="Text Box 300"/>
            <p:cNvSpPr txBox="1">
              <a:spLocks noChangeArrowheads="1"/>
            </p:cNvSpPr>
            <p:nvPr/>
          </p:nvSpPr>
          <p:spPr bwMode="auto">
            <a:xfrm>
              <a:off x="8110537" y="654148"/>
              <a:ext cx="965200" cy="143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8800">
                  <a:sym typeface="Wingdings" panose="05000000000000000000" pitchFamily="2" charset="2"/>
                </a:rPr>
                <a:t></a:t>
              </a:r>
              <a:endParaRPr lang="en-US" altLang="zh-CN" sz="8800"/>
            </a:p>
          </p:txBody>
        </p:sp>
        <p:grpSp>
          <p:nvGrpSpPr>
            <p:cNvPr id="68" name="Group 306"/>
            <p:cNvGrpSpPr>
              <a:grpSpLocks/>
            </p:cNvGrpSpPr>
            <p:nvPr/>
          </p:nvGrpSpPr>
          <p:grpSpPr bwMode="auto">
            <a:xfrm>
              <a:off x="8305802" y="1181100"/>
              <a:ext cx="544513" cy="307975"/>
              <a:chOff x="1688" y="3064"/>
              <a:chExt cx="343" cy="194"/>
            </a:xfrm>
          </p:grpSpPr>
          <p:sp>
            <p:nvSpPr>
              <p:cNvPr id="69" name="Rectangle 307"/>
              <p:cNvSpPr>
                <a:spLocks noChangeArrowheads="1"/>
              </p:cNvSpPr>
              <p:nvPr/>
            </p:nvSpPr>
            <p:spPr bwMode="auto">
              <a:xfrm>
                <a:off x="1728" y="3102"/>
                <a:ext cx="282" cy="1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a:p>
            </p:txBody>
          </p:sp>
          <p:sp>
            <p:nvSpPr>
              <p:cNvPr id="70" name="Text Box 308"/>
              <p:cNvSpPr txBox="1">
                <a:spLocks noChangeArrowheads="1"/>
              </p:cNvSpPr>
              <p:nvPr/>
            </p:nvSpPr>
            <p:spPr bwMode="auto">
              <a:xfrm>
                <a:off x="1688" y="3064"/>
                <a:ext cx="3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400" b="1" dirty="0">
                    <a:latin typeface="微软雅黑" pitchFamily="34" charset="-122"/>
                    <a:ea typeface="微软雅黑" pitchFamily="34" charset="-122"/>
                  </a:rPr>
                  <a:t>程序</a:t>
                </a:r>
              </a:p>
            </p:txBody>
          </p:sp>
        </p:grpSp>
      </p:grpSp>
      <p:graphicFrame>
        <p:nvGraphicFramePr>
          <p:cNvPr id="72" name="Object 526">
            <a:hlinkClick r:id="" action="ppaction://ole?verb=0"/>
          </p:cNvPr>
          <p:cNvGraphicFramePr>
            <a:graphicFrameLocks/>
          </p:cNvGraphicFramePr>
          <p:nvPr>
            <p:extLst/>
          </p:nvPr>
        </p:nvGraphicFramePr>
        <p:xfrm>
          <a:off x="642936" y="2250015"/>
          <a:ext cx="1076325" cy="1096963"/>
        </p:xfrm>
        <a:graphic>
          <a:graphicData uri="http://schemas.openxmlformats.org/presentationml/2006/ole">
            <mc:AlternateContent xmlns:mc="http://schemas.openxmlformats.org/markup-compatibility/2006">
              <mc:Choice xmlns:v="urn:schemas-microsoft-com:vml" Requires="v">
                <p:oleObj spid="_x0000_s31765" name="Microsoft ClipArt Gallery" r:id="rId4" imgW="4716463" imgH="4808538" progId="MS_ClipArt_Gallery">
                  <p:embed/>
                </p:oleObj>
              </mc:Choice>
              <mc:Fallback>
                <p:oleObj name="Microsoft ClipArt Gallery" r:id="rId4" imgW="4716463" imgH="4808538" progId="MS_ClipArt_Gallery">
                  <p:embed/>
                  <p:pic>
                    <p:nvPicPr>
                      <p:cNvPr id="72" name="Object 526">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2936" y="2250015"/>
                        <a:ext cx="1076325" cy="1096963"/>
                      </a:xfrm>
                      <a:prstGeom prst="rect">
                        <a:avLst/>
                      </a:prstGeom>
                      <a:noFill/>
                      <a:ln>
                        <a:noFill/>
                      </a:ln>
                      <a:effectLst/>
                    </p:spPr>
                  </p:pic>
                </p:oleObj>
              </mc:Fallback>
            </mc:AlternateContent>
          </a:graphicData>
        </a:graphic>
      </p:graphicFrame>
      <p:grpSp>
        <p:nvGrpSpPr>
          <p:cNvPr id="74" name="组合 1"/>
          <p:cNvGrpSpPr>
            <a:grpSpLocks/>
          </p:cNvGrpSpPr>
          <p:nvPr/>
        </p:nvGrpSpPr>
        <p:grpSpPr bwMode="auto">
          <a:xfrm>
            <a:off x="2081211" y="2040465"/>
            <a:ext cx="965200" cy="606425"/>
            <a:chOff x="8928100" y="2686050"/>
            <a:chExt cx="965200" cy="606425"/>
          </a:xfrm>
        </p:grpSpPr>
        <p:sp>
          <p:nvSpPr>
            <p:cNvPr id="75" name="流程图: 文档 2"/>
            <p:cNvSpPr>
              <a:spLocks noChangeArrowheads="1"/>
            </p:cNvSpPr>
            <p:nvPr/>
          </p:nvSpPr>
          <p:spPr bwMode="auto">
            <a:xfrm>
              <a:off x="8928100" y="2686050"/>
              <a:ext cx="965200" cy="606425"/>
            </a:xfrm>
            <a:prstGeom prst="flowChartDocument">
              <a:avLst/>
            </a:prstGeom>
            <a:solidFill>
              <a:schemeClr val="bg1"/>
            </a:solidFill>
            <a:ln w="28575"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a:p>
          </p:txBody>
        </p:sp>
        <p:cxnSp>
          <p:nvCxnSpPr>
            <p:cNvPr id="76" name="直接连接符 4"/>
            <p:cNvCxnSpPr>
              <a:cxnSpLocks/>
            </p:cNvCxnSpPr>
            <p:nvPr/>
          </p:nvCxnSpPr>
          <p:spPr bwMode="auto">
            <a:xfrm>
              <a:off x="8975725" y="2781300"/>
              <a:ext cx="865188" cy="0"/>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7" name="直接连接符 6"/>
            <p:cNvCxnSpPr>
              <a:cxnSpLocks/>
            </p:cNvCxnSpPr>
            <p:nvPr/>
          </p:nvCxnSpPr>
          <p:spPr bwMode="auto">
            <a:xfrm>
              <a:off x="8972550" y="2865438"/>
              <a:ext cx="863600" cy="0"/>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8" name="直接连接符 7"/>
            <p:cNvCxnSpPr>
              <a:cxnSpLocks/>
            </p:cNvCxnSpPr>
            <p:nvPr/>
          </p:nvCxnSpPr>
          <p:spPr bwMode="auto">
            <a:xfrm>
              <a:off x="8980488" y="2949575"/>
              <a:ext cx="865187" cy="0"/>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9" name="直接连接符 8"/>
            <p:cNvCxnSpPr>
              <a:cxnSpLocks/>
            </p:cNvCxnSpPr>
            <p:nvPr/>
          </p:nvCxnSpPr>
          <p:spPr bwMode="auto">
            <a:xfrm>
              <a:off x="8983663" y="3019425"/>
              <a:ext cx="863600" cy="0"/>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80" name="直接连接符 9"/>
            <p:cNvCxnSpPr>
              <a:cxnSpLocks/>
            </p:cNvCxnSpPr>
            <p:nvPr/>
          </p:nvCxnSpPr>
          <p:spPr bwMode="auto">
            <a:xfrm>
              <a:off x="8978900" y="3103563"/>
              <a:ext cx="423863" cy="1587"/>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grpSp>
      <p:sp>
        <p:nvSpPr>
          <p:cNvPr id="81" name="Rectangle 207"/>
          <p:cNvSpPr>
            <a:spLocks noChangeArrowheads="1"/>
          </p:cNvSpPr>
          <p:nvPr/>
        </p:nvSpPr>
        <p:spPr bwMode="auto">
          <a:xfrm>
            <a:off x="2290761" y="1735665"/>
            <a:ext cx="541816" cy="28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90488" tIns="44450" rIns="90488" bIns="44450">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nSpc>
                <a:spcPct val="90000"/>
              </a:lnSpc>
              <a:spcBef>
                <a:spcPct val="0"/>
              </a:spcBef>
              <a:buFontTx/>
              <a:buNone/>
            </a:pPr>
            <a:r>
              <a:rPr lang="zh-CN" altLang="en-US" sz="1400" b="1" dirty="0">
                <a:latin typeface="微软雅黑" pitchFamily="34" charset="-122"/>
                <a:ea typeface="微软雅黑" pitchFamily="34" charset="-122"/>
              </a:rPr>
              <a:t>网页</a:t>
            </a:r>
          </a:p>
        </p:txBody>
      </p:sp>
      <p:sp>
        <p:nvSpPr>
          <p:cNvPr id="82" name="任意多边形: 形状 7"/>
          <p:cNvSpPr/>
          <p:nvPr/>
        </p:nvSpPr>
        <p:spPr bwMode="auto">
          <a:xfrm>
            <a:off x="1306511" y="2032528"/>
            <a:ext cx="771525" cy="579437"/>
          </a:xfrm>
          <a:custGeom>
            <a:avLst/>
            <a:gdLst>
              <a:gd name="connsiteX0" fmla="*/ 13648 w 771099"/>
              <a:gd name="connsiteY0" fmla="*/ 307074 h 559558"/>
              <a:gd name="connsiteX1" fmla="*/ 771099 w 771099"/>
              <a:gd name="connsiteY1" fmla="*/ 0 h 559558"/>
              <a:gd name="connsiteX2" fmla="*/ 771099 w 771099"/>
              <a:gd name="connsiteY2" fmla="*/ 559558 h 559558"/>
              <a:gd name="connsiteX3" fmla="*/ 0 w 771099"/>
              <a:gd name="connsiteY3" fmla="*/ 470848 h 559558"/>
              <a:gd name="connsiteX4" fmla="*/ 13648 w 771099"/>
              <a:gd name="connsiteY4" fmla="*/ 307074 h 559558"/>
              <a:gd name="connsiteX0" fmla="*/ 13648 w 771099"/>
              <a:gd name="connsiteY0" fmla="*/ 307074 h 580030"/>
              <a:gd name="connsiteX1" fmla="*/ 771099 w 771099"/>
              <a:gd name="connsiteY1" fmla="*/ 0 h 580030"/>
              <a:gd name="connsiteX2" fmla="*/ 771099 w 771099"/>
              <a:gd name="connsiteY2" fmla="*/ 580030 h 580030"/>
              <a:gd name="connsiteX3" fmla="*/ 0 w 771099"/>
              <a:gd name="connsiteY3" fmla="*/ 470848 h 580030"/>
              <a:gd name="connsiteX4" fmla="*/ 13648 w 771099"/>
              <a:gd name="connsiteY4" fmla="*/ 307074 h 580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099" h="580030">
                <a:moveTo>
                  <a:pt x="13648" y="307074"/>
                </a:moveTo>
                <a:lnTo>
                  <a:pt x="771099" y="0"/>
                </a:lnTo>
                <a:lnTo>
                  <a:pt x="771099" y="580030"/>
                </a:lnTo>
                <a:lnTo>
                  <a:pt x="0" y="470848"/>
                </a:lnTo>
                <a:lnTo>
                  <a:pt x="13648" y="307074"/>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10800000" scaled="1"/>
            <a:tileRect/>
          </a:gra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dirty="0"/>
          </a:p>
        </p:txBody>
      </p:sp>
      <p:sp>
        <p:nvSpPr>
          <p:cNvPr id="84" name="矩形 8"/>
          <p:cNvSpPr>
            <a:spLocks noChangeArrowheads="1"/>
          </p:cNvSpPr>
          <p:nvPr/>
        </p:nvSpPr>
        <p:spPr bwMode="auto">
          <a:xfrm>
            <a:off x="1797049" y="1665815"/>
            <a:ext cx="1404938" cy="2699733"/>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a:p>
        </p:txBody>
      </p:sp>
      <p:sp>
        <p:nvSpPr>
          <p:cNvPr id="85" name="矩形 9"/>
          <p:cNvSpPr>
            <a:spLocks noChangeArrowheads="1"/>
          </p:cNvSpPr>
          <p:nvPr/>
        </p:nvSpPr>
        <p:spPr bwMode="auto">
          <a:xfrm>
            <a:off x="5621583" y="1844095"/>
            <a:ext cx="2460466" cy="2182333"/>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a:p>
        </p:txBody>
      </p:sp>
      <p:grpSp>
        <p:nvGrpSpPr>
          <p:cNvPr id="92" name="组合 10"/>
          <p:cNvGrpSpPr>
            <a:grpSpLocks/>
          </p:cNvGrpSpPr>
          <p:nvPr/>
        </p:nvGrpSpPr>
        <p:grpSpPr bwMode="auto">
          <a:xfrm>
            <a:off x="2264164" y="2804035"/>
            <a:ext cx="965200" cy="1433513"/>
            <a:chOff x="7924269" y="561011"/>
            <a:chExt cx="965201" cy="1433512"/>
          </a:xfrm>
        </p:grpSpPr>
        <p:sp>
          <p:nvSpPr>
            <p:cNvPr id="93" name="Text Box 300"/>
            <p:cNvSpPr txBox="1">
              <a:spLocks noChangeArrowheads="1"/>
            </p:cNvSpPr>
            <p:nvPr/>
          </p:nvSpPr>
          <p:spPr bwMode="auto">
            <a:xfrm>
              <a:off x="7924269" y="561011"/>
              <a:ext cx="965201" cy="143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8800" dirty="0" smtClean="0">
                  <a:sym typeface="Wingdings" panose="05000000000000000000" pitchFamily="2" charset="2"/>
                </a:rPr>
                <a:t></a:t>
              </a:r>
              <a:endParaRPr lang="en-US" altLang="zh-CN" sz="8800" dirty="0"/>
            </a:p>
          </p:txBody>
        </p:sp>
        <p:sp>
          <p:nvSpPr>
            <p:cNvPr id="95" name="Rectangle 307"/>
            <p:cNvSpPr>
              <a:spLocks noChangeArrowheads="1"/>
            </p:cNvSpPr>
            <p:nvPr/>
          </p:nvSpPr>
          <p:spPr bwMode="auto">
            <a:xfrm>
              <a:off x="8191529" y="1232986"/>
              <a:ext cx="447676" cy="22860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rIns="0"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a:spcBef>
                  <a:spcPct val="0"/>
                </a:spcBef>
                <a:buNone/>
              </a:pPr>
              <a:r>
                <a:rPr lang="zh-CN" altLang="en-US" sz="1400" b="1" dirty="0">
                  <a:latin typeface="微软雅黑" pitchFamily="34" charset="-122"/>
                  <a:ea typeface="微软雅黑" pitchFamily="34" charset="-122"/>
                </a:rPr>
                <a:t>程序</a:t>
              </a:r>
            </a:p>
          </p:txBody>
        </p:sp>
      </p:grpSp>
      <p:sp>
        <p:nvSpPr>
          <p:cNvPr id="100" name="Text Box 301"/>
          <p:cNvSpPr txBox="1">
            <a:spLocks noChangeArrowheads="1"/>
          </p:cNvSpPr>
          <p:nvPr/>
        </p:nvSpPr>
        <p:spPr bwMode="auto">
          <a:xfrm>
            <a:off x="6350083" y="2940241"/>
            <a:ext cx="414337"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fontAlgn="ctr" hangingPunct="1">
              <a:spcBef>
                <a:spcPct val="0"/>
              </a:spcBef>
              <a:buFontTx/>
              <a:buNone/>
            </a:pPr>
            <a:r>
              <a:rPr lang="en-US" altLang="zh-CN" sz="2000" dirty="0">
                <a:sym typeface="Wingdings 2" panose="05020102010507070707" pitchFamily="18" charset="2"/>
              </a:rPr>
              <a:t></a:t>
            </a:r>
            <a:endParaRPr lang="zh-CN" altLang="en-US" sz="1600" dirty="0"/>
          </a:p>
        </p:txBody>
      </p:sp>
      <p:sp>
        <p:nvSpPr>
          <p:cNvPr id="101" name="Text Box 301"/>
          <p:cNvSpPr txBox="1">
            <a:spLocks noChangeArrowheads="1"/>
          </p:cNvSpPr>
          <p:nvPr/>
        </p:nvSpPr>
        <p:spPr bwMode="auto">
          <a:xfrm>
            <a:off x="2552698" y="2629428"/>
            <a:ext cx="4143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fontAlgn="ctr" hangingPunct="1">
              <a:spcBef>
                <a:spcPct val="0"/>
              </a:spcBef>
              <a:buFontTx/>
              <a:buNone/>
            </a:pPr>
            <a:r>
              <a:rPr lang="en-US" altLang="zh-CN" sz="2000">
                <a:sym typeface="Wingdings" panose="05000000000000000000" pitchFamily="2" charset="2"/>
              </a:rPr>
              <a:t></a:t>
            </a:r>
            <a:endParaRPr lang="zh-CN" altLang="en-US" sz="1600"/>
          </a:p>
        </p:txBody>
      </p:sp>
      <p:sp>
        <p:nvSpPr>
          <p:cNvPr id="102" name="Line 14"/>
          <p:cNvSpPr>
            <a:spLocks noChangeShapeType="1"/>
          </p:cNvSpPr>
          <p:nvPr/>
        </p:nvSpPr>
        <p:spPr bwMode="auto">
          <a:xfrm>
            <a:off x="2364842" y="2654828"/>
            <a:ext cx="297077" cy="437408"/>
          </a:xfrm>
          <a:prstGeom prst="line">
            <a:avLst/>
          </a:prstGeom>
          <a:noFill/>
          <a:ln w="28575">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Line 32"/>
          <p:cNvSpPr>
            <a:spLocks noChangeShapeType="1"/>
          </p:cNvSpPr>
          <p:nvPr/>
        </p:nvSpPr>
        <p:spPr bwMode="auto">
          <a:xfrm flipH="1">
            <a:off x="3077820" y="3788248"/>
            <a:ext cx="2529070" cy="1266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6" name="Rectangle 39"/>
          <p:cNvSpPr>
            <a:spLocks noChangeArrowheads="1"/>
          </p:cNvSpPr>
          <p:nvPr/>
        </p:nvSpPr>
        <p:spPr bwMode="auto">
          <a:xfrm flipH="1">
            <a:off x="3654626" y="3662802"/>
            <a:ext cx="1548590" cy="276233"/>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⑦</a:t>
            </a:r>
            <a:r>
              <a:rPr kumimoji="1" lang="zh-CN" altLang="en-US" sz="1400" b="1" dirty="0" smtClean="0">
                <a:solidFill>
                  <a:schemeClr val="bg1"/>
                </a:solidFill>
                <a:latin typeface="微软雅黑" pitchFamily="34" charset="-122"/>
                <a:ea typeface="微软雅黑" pitchFamily="34" charset="-122"/>
              </a:rPr>
              <a:t> </a:t>
            </a:r>
            <a:r>
              <a:rPr kumimoji="1" lang="en-US" altLang="zh-CN" sz="1400" b="1" dirty="0" smtClean="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响应报文</a:t>
            </a:r>
          </a:p>
        </p:txBody>
      </p:sp>
      <p:sp>
        <p:nvSpPr>
          <p:cNvPr id="107" name="Line 23"/>
          <p:cNvSpPr>
            <a:spLocks noChangeShapeType="1"/>
          </p:cNvSpPr>
          <p:nvPr/>
        </p:nvSpPr>
        <p:spPr bwMode="auto">
          <a:xfrm flipV="1">
            <a:off x="3080784" y="3405574"/>
            <a:ext cx="2551199" cy="852"/>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Rectangle 26"/>
          <p:cNvSpPr>
            <a:spLocks noChangeArrowheads="1"/>
          </p:cNvSpPr>
          <p:nvPr/>
        </p:nvSpPr>
        <p:spPr bwMode="auto">
          <a:xfrm>
            <a:off x="3654626" y="3210164"/>
            <a:ext cx="1508447" cy="31689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dirty="0">
                <a:solidFill>
                  <a:schemeClr val="bg1"/>
                </a:solidFill>
                <a:latin typeface="微软雅黑" pitchFamily="34" charset="-122"/>
                <a:ea typeface="微软雅黑" pitchFamily="34" charset="-122"/>
              </a:rPr>
              <a:t>⑤</a:t>
            </a:r>
            <a:r>
              <a:rPr kumimoji="1" lang="zh-CN" altLang="en-US" sz="1400" b="1" dirty="0" smtClean="0">
                <a:solidFill>
                  <a:schemeClr val="bg1"/>
                </a:solidFill>
                <a:latin typeface="微软雅黑" pitchFamily="34" charset="-122"/>
                <a:ea typeface="微软雅黑" pitchFamily="34" charset="-122"/>
              </a:rPr>
              <a:t> </a:t>
            </a:r>
            <a:r>
              <a:rPr kumimoji="1" lang="en-US" altLang="zh-CN" sz="1400" b="1" dirty="0" smtClean="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sp>
        <p:nvSpPr>
          <p:cNvPr id="111" name="Line 14"/>
          <p:cNvSpPr>
            <a:spLocks noChangeShapeType="1"/>
          </p:cNvSpPr>
          <p:nvPr/>
        </p:nvSpPr>
        <p:spPr bwMode="auto">
          <a:xfrm flipV="1">
            <a:off x="6441207" y="3044546"/>
            <a:ext cx="384175" cy="348567"/>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Tree>
    <p:extLst>
      <p:ext uri="{BB962C8B-B14F-4D97-AF65-F5344CB8AC3E}">
        <p14:creationId xmlns:p14="http://schemas.microsoft.com/office/powerpoint/2010/main" val="14128344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
          <p:cNvSpPr>
            <a:spLocks noChangeArrowheads="1"/>
          </p:cNvSpPr>
          <p:nvPr/>
        </p:nvSpPr>
        <p:spPr bwMode="auto">
          <a:xfrm>
            <a:off x="3334857" y="576088"/>
            <a:ext cx="24929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第二代万维网的特点</a:t>
            </a:r>
          </a:p>
        </p:txBody>
      </p:sp>
      <p:sp>
        <p:nvSpPr>
          <p:cNvPr id="4" name="Rectangle 68"/>
          <p:cNvSpPr>
            <a:spLocks noChangeArrowheads="1"/>
          </p:cNvSpPr>
          <p:nvPr/>
        </p:nvSpPr>
        <p:spPr bwMode="auto">
          <a:xfrm>
            <a:off x="556963" y="970389"/>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panose="05000000000000000000" pitchFamily="2" charset="2"/>
              </a:rPr>
              <a:t></a:t>
            </a:r>
            <a:r>
              <a:rPr lang="zh-CN" altLang="zh-CN" sz="2000" b="1" dirty="0" smtClean="0">
                <a:latin typeface="微软雅黑" pitchFamily="34" charset="-122"/>
                <a:ea typeface="微软雅黑" pitchFamily="34" charset="-122"/>
              </a:rPr>
              <a:t>浏览器</a:t>
            </a:r>
            <a:r>
              <a:rPr lang="zh-CN" altLang="zh-CN" sz="2000" b="1" dirty="0">
                <a:latin typeface="微软雅黑" pitchFamily="34" charset="-122"/>
                <a:ea typeface="微软雅黑" pitchFamily="34" charset="-122"/>
              </a:rPr>
              <a:t>发送</a:t>
            </a:r>
            <a:r>
              <a:rPr lang="zh-CN" altLang="zh-CN" sz="2000" b="1" dirty="0" smtClean="0">
                <a:latin typeface="微软雅黑" pitchFamily="34" charset="-122"/>
                <a:ea typeface="微软雅黑" pitchFamily="34" charset="-122"/>
              </a:rPr>
              <a:t>的</a:t>
            </a:r>
            <a:r>
              <a:rPr lang="en-US" altLang="zh-CN" sz="2000" b="1" dirty="0" smtClean="0">
                <a:latin typeface="微软雅黑" pitchFamily="34" charset="-122"/>
                <a:ea typeface="微软雅黑" pitchFamily="34" charset="-122"/>
              </a:rPr>
              <a:t> HTTP </a:t>
            </a:r>
            <a:r>
              <a:rPr lang="zh-CN" altLang="zh-CN" sz="2000" b="1" dirty="0" smtClean="0">
                <a:latin typeface="微软雅黑" pitchFamily="34" charset="-122"/>
                <a:ea typeface="微软雅黑" pitchFamily="34" charset="-122"/>
              </a:rPr>
              <a:t>请求报文到达</a:t>
            </a:r>
            <a:r>
              <a:rPr lang="zh-CN" altLang="zh-CN" sz="2000" b="1" dirty="0">
                <a:latin typeface="微软雅黑" pitchFamily="34" charset="-122"/>
                <a:ea typeface="微软雅黑" pitchFamily="34" charset="-122"/>
              </a:rPr>
              <a:t>万维网</a:t>
            </a:r>
            <a:r>
              <a:rPr lang="zh-CN" altLang="zh-CN" sz="2000" b="1" dirty="0" smtClean="0">
                <a:latin typeface="微软雅黑" pitchFamily="34" charset="-122"/>
                <a:ea typeface="微软雅黑" pitchFamily="34" charset="-122"/>
              </a:rPr>
              <a:t>服务器</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panose="05000000000000000000" pitchFamily="2" charset="2"/>
              </a:rPr>
              <a:t></a:t>
            </a:r>
            <a:r>
              <a:rPr lang="zh-CN" altLang="zh-CN" sz="2000" b="1" dirty="0" smtClean="0">
                <a:latin typeface="微软雅黑" pitchFamily="34" charset="-122"/>
                <a:ea typeface="微软雅黑" pitchFamily="34" charset="-122"/>
              </a:rPr>
              <a:t>服务器</a:t>
            </a:r>
            <a:r>
              <a:rPr lang="zh-CN" altLang="zh-CN" sz="2000" b="1" dirty="0">
                <a:latin typeface="微软雅黑" pitchFamily="34" charset="-122"/>
                <a:ea typeface="微软雅黑" pitchFamily="34" charset="-122"/>
              </a:rPr>
              <a:t>可能需要调用</a:t>
            </a:r>
            <a:r>
              <a:rPr lang="zh-CN" altLang="zh-CN" sz="2000" b="1" dirty="0" smtClean="0">
                <a:latin typeface="微软雅黑" pitchFamily="34" charset="-122"/>
                <a:ea typeface="微软雅黑" pitchFamily="34" charset="-122"/>
              </a:rPr>
              <a:t>后台程序</a:t>
            </a:r>
            <a:r>
              <a:rPr lang="zh-CN" altLang="en-US" sz="2000" b="1" dirty="0" smtClean="0">
                <a:latin typeface="微软雅黑" pitchFamily="34" charset="-122"/>
                <a:ea typeface="微软雅黑" pitchFamily="34" charset="-122"/>
              </a:rPr>
              <a:t>生成响应数据。</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panose="05000000000000000000" pitchFamily="2" charset="2"/>
              </a:rPr>
              <a:t></a:t>
            </a:r>
            <a:r>
              <a:rPr lang="zh-CN" altLang="en-US" sz="2000" b="1" dirty="0" smtClean="0">
                <a:latin typeface="微软雅黑" pitchFamily="34" charset="-122"/>
                <a:ea typeface="微软雅黑" pitchFamily="34" charset="-122"/>
                <a:sym typeface="Wingdings" panose="05000000000000000000" pitchFamily="2" charset="2"/>
              </a:rPr>
              <a:t>服务器</a:t>
            </a:r>
            <a:r>
              <a:rPr lang="zh-CN" altLang="zh-CN" sz="2000" b="1" dirty="0" smtClean="0">
                <a:latin typeface="微软雅黑" pitchFamily="34" charset="-122"/>
                <a:ea typeface="微软雅黑" pitchFamily="34" charset="-122"/>
              </a:rPr>
              <a:t>将</a:t>
            </a:r>
            <a:r>
              <a:rPr lang="zh-CN" altLang="zh-CN" sz="2000" b="1" dirty="0">
                <a:latin typeface="微软雅黑" pitchFamily="34" charset="-122"/>
                <a:ea typeface="微软雅黑" pitchFamily="34" charset="-122"/>
              </a:rPr>
              <a:t>结果封装在</a:t>
            </a:r>
            <a:r>
              <a:rPr lang="en-US" altLang="zh-CN" sz="2000" b="1" dirty="0">
                <a:latin typeface="微软雅黑" pitchFamily="34" charset="-122"/>
                <a:ea typeface="微软雅黑" pitchFamily="34" charset="-122"/>
              </a:rPr>
              <a:t> HTTP </a:t>
            </a:r>
            <a:r>
              <a:rPr lang="zh-CN" altLang="zh-CN" sz="2000" b="1" dirty="0">
                <a:latin typeface="微软雅黑" pitchFamily="34" charset="-122"/>
                <a:ea typeface="微软雅黑" pitchFamily="34" charset="-122"/>
              </a:rPr>
              <a:t>响应报文中返回给浏览器</a:t>
            </a:r>
            <a:r>
              <a:rPr lang="zh-CN" altLang="zh-CN"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zh-CN" b="1" dirty="0" smtClean="0">
                <a:latin typeface="微软雅黑" pitchFamily="34" charset="-122"/>
                <a:ea typeface="微软雅黑" pitchFamily="34" charset="-122"/>
              </a:rPr>
              <a:t>这种</a:t>
            </a:r>
            <a:r>
              <a:rPr lang="zh-CN" altLang="zh-CN" b="1" dirty="0">
                <a:latin typeface="微软雅黑" pitchFamily="34" charset="-122"/>
                <a:ea typeface="微软雅黑" pitchFamily="34" charset="-122"/>
              </a:rPr>
              <a:t>返回给浏览器的文档常称为动态文档</a:t>
            </a:r>
            <a:r>
              <a:rPr lang="en-US" altLang="zh-CN" b="1" dirty="0">
                <a:latin typeface="微软雅黑" pitchFamily="34" charset="-122"/>
                <a:ea typeface="微软雅黑" pitchFamily="34" charset="-122"/>
              </a:rPr>
              <a:t>(dynamic document)</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5"/>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第二</a:t>
            </a:r>
            <a:r>
              <a:rPr lang="zh-CN" altLang="en-US" sz="2000" b="1" dirty="0">
                <a:latin typeface="微软雅黑" pitchFamily="34" charset="-122"/>
                <a:ea typeface="微软雅黑" pitchFamily="34" charset="-122"/>
              </a:rPr>
              <a:t>代</a:t>
            </a:r>
            <a:r>
              <a:rPr lang="zh-CN" altLang="en-US" sz="2000" b="1" dirty="0" smtClean="0">
                <a:latin typeface="微软雅黑" pitchFamily="34" charset="-122"/>
                <a:ea typeface="微软雅黑" pitchFamily="34" charset="-122"/>
              </a:rPr>
              <a:t>万维网的特点</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28152847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
          <p:cNvSpPr>
            <a:spLocks noChangeArrowheads="1"/>
          </p:cNvSpPr>
          <p:nvPr/>
        </p:nvSpPr>
        <p:spPr bwMode="auto">
          <a:xfrm>
            <a:off x="3334857" y="576088"/>
            <a:ext cx="24929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第二代万维网的特点</a:t>
            </a:r>
          </a:p>
        </p:txBody>
      </p:sp>
      <p:sp>
        <p:nvSpPr>
          <p:cNvPr id="4" name="Rectangle 68"/>
          <p:cNvSpPr>
            <a:spLocks noChangeArrowheads="1"/>
          </p:cNvSpPr>
          <p:nvPr/>
        </p:nvSpPr>
        <p:spPr bwMode="auto">
          <a:xfrm>
            <a:off x="556963" y="970389"/>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zh-CN" altLang="zh-CN" sz="2000" b="1" dirty="0" smtClean="0">
                <a:latin typeface="微软雅黑" pitchFamily="34" charset="-122"/>
                <a:ea typeface="微软雅黑" pitchFamily="34" charset="-122"/>
              </a:rPr>
              <a:t>为</a:t>
            </a:r>
            <a:r>
              <a:rPr lang="zh-CN" altLang="zh-CN" sz="2000" b="1" dirty="0">
                <a:latin typeface="微软雅黑" pitchFamily="34" charset="-122"/>
                <a:ea typeface="微软雅黑" pitchFamily="34" charset="-122"/>
              </a:rPr>
              <a:t>实现动态交互效果，万维网服务器返回给浏览器的</a:t>
            </a:r>
            <a:r>
              <a:rPr lang="en-US" altLang="zh-CN" sz="2000" b="1" dirty="0">
                <a:latin typeface="微软雅黑" pitchFamily="34" charset="-122"/>
                <a:ea typeface="微软雅黑" pitchFamily="34" charset="-122"/>
              </a:rPr>
              <a:t>HTML</a:t>
            </a:r>
            <a:r>
              <a:rPr lang="zh-CN" altLang="zh-CN" sz="2000" b="1" dirty="0">
                <a:latin typeface="微软雅黑" pitchFamily="34" charset="-122"/>
                <a:ea typeface="微软雅黑" pitchFamily="34" charset="-122"/>
              </a:rPr>
              <a:t>文档中，通常会嵌入客户端脚本（如</a:t>
            </a:r>
            <a:r>
              <a:rPr lang="en-US" altLang="zh-CN" sz="2000" b="1" dirty="0" err="1">
                <a:latin typeface="微软雅黑" pitchFamily="34" charset="-122"/>
                <a:ea typeface="微软雅黑" pitchFamily="34" charset="-122"/>
              </a:rPr>
              <a:t>JavaScipt</a:t>
            </a:r>
            <a:r>
              <a:rPr lang="zh-CN" altLang="zh-CN" sz="2000" b="1" dirty="0">
                <a:latin typeface="微软雅黑" pitchFamily="34" charset="-122"/>
                <a:ea typeface="微软雅黑" pitchFamily="34" charset="-122"/>
              </a:rPr>
              <a:t>代码</a:t>
            </a:r>
            <a:r>
              <a:rPr lang="zh-CN" altLang="zh-CN"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panose="05000000000000000000" pitchFamily="2" charset="2"/>
              </a:rPr>
              <a:t></a:t>
            </a:r>
            <a:r>
              <a:rPr lang="zh-CN" altLang="zh-CN" sz="2000" b="1" dirty="0" smtClean="0">
                <a:latin typeface="微软雅黑" pitchFamily="34" charset="-122"/>
                <a:ea typeface="微软雅黑" pitchFamily="34" charset="-122"/>
              </a:rPr>
              <a:t>用户</a:t>
            </a:r>
            <a:r>
              <a:rPr lang="zh-CN" altLang="en-US" sz="2000" b="1" dirty="0" smtClean="0">
                <a:latin typeface="微软雅黑" pitchFamily="34" charset="-122"/>
                <a:ea typeface="微软雅黑" pitchFamily="34" charset="-122"/>
              </a:rPr>
              <a:t>结合</a:t>
            </a:r>
            <a:r>
              <a:rPr lang="zh-CN" altLang="zh-CN" sz="2000" b="1" dirty="0" smtClean="0">
                <a:latin typeface="微软雅黑" pitchFamily="34" charset="-122"/>
                <a:ea typeface="微软雅黑" pitchFamily="34" charset="-122"/>
              </a:rPr>
              <a:t>实时</a:t>
            </a:r>
            <a:r>
              <a:rPr lang="zh-CN" altLang="zh-CN" sz="2000" b="1" dirty="0">
                <a:latin typeface="微软雅黑" pitchFamily="34" charset="-122"/>
                <a:ea typeface="微软雅黑" pitchFamily="34" charset="-122"/>
              </a:rPr>
              <a:t>表</a:t>
            </a:r>
            <a:r>
              <a:rPr lang="zh-CN" altLang="zh-CN" sz="2000" b="1" dirty="0" smtClean="0">
                <a:latin typeface="微软雅黑" pitchFamily="34" charset="-122"/>
                <a:ea typeface="微软雅黑" pitchFamily="34" charset="-122"/>
              </a:rPr>
              <a:t>单或</a:t>
            </a:r>
            <a:r>
              <a:rPr lang="zh-CN" altLang="zh-CN" sz="2000" b="1" dirty="0">
                <a:latin typeface="微软雅黑" pitchFamily="34" charset="-122"/>
                <a:ea typeface="微软雅黑" pitchFamily="34" charset="-122"/>
              </a:rPr>
              <a:t>交互菜单</a:t>
            </a:r>
            <a:r>
              <a:rPr lang="zh-CN" altLang="zh-CN" sz="2000" b="1" dirty="0" smtClean="0">
                <a:latin typeface="微软雅黑" pitchFamily="34" charset="-122"/>
                <a:ea typeface="微软雅黑" pitchFamily="34" charset="-122"/>
              </a:rPr>
              <a:t>等填写信息</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panose="05000000000000000000" pitchFamily="2" charset="2"/>
              </a:rPr>
              <a:t></a:t>
            </a:r>
            <a:r>
              <a:rPr lang="zh-CN" altLang="zh-CN" sz="2000" b="1" dirty="0" smtClean="0">
                <a:latin typeface="微软雅黑" pitchFamily="34" charset="-122"/>
                <a:ea typeface="微软雅黑" pitchFamily="34" charset="-122"/>
              </a:rPr>
              <a:t>浏览器</a:t>
            </a:r>
            <a:r>
              <a:rPr lang="zh-CN" altLang="zh-CN" sz="2000" b="1" dirty="0">
                <a:latin typeface="微软雅黑" pitchFamily="34" charset="-122"/>
                <a:ea typeface="微软雅黑" pitchFamily="34" charset="-122"/>
              </a:rPr>
              <a:t>生成</a:t>
            </a:r>
            <a:r>
              <a:rPr lang="en-US" altLang="zh-CN" sz="2000" b="1" dirty="0">
                <a:latin typeface="微软雅黑" pitchFamily="34" charset="-122"/>
                <a:ea typeface="微软雅黑" pitchFamily="34" charset="-122"/>
              </a:rPr>
              <a:t>HTTP</a:t>
            </a:r>
            <a:r>
              <a:rPr lang="zh-CN" altLang="zh-CN" sz="2000" b="1" dirty="0">
                <a:latin typeface="微软雅黑" pitchFamily="34" charset="-122"/>
                <a:ea typeface="微软雅黑" pitchFamily="34" charset="-122"/>
              </a:rPr>
              <a:t>请求</a:t>
            </a:r>
            <a:r>
              <a:rPr lang="zh-CN" altLang="zh-CN" sz="2000" b="1" dirty="0" smtClean="0">
                <a:latin typeface="微软雅黑" pitchFamily="34" charset="-122"/>
                <a:ea typeface="微软雅黑" pitchFamily="34" charset="-122"/>
              </a:rPr>
              <a:t>报文</a:t>
            </a:r>
            <a:r>
              <a:rPr lang="zh-CN" altLang="en-US" sz="2000" b="1" dirty="0" smtClean="0">
                <a:latin typeface="微软雅黑" pitchFamily="34" charset="-122"/>
                <a:ea typeface="微软雅黑" pitchFamily="34" charset="-122"/>
              </a:rPr>
              <a:t>并</a:t>
            </a:r>
            <a:r>
              <a:rPr lang="zh-CN" altLang="zh-CN" sz="2000" b="1" dirty="0" smtClean="0">
                <a:latin typeface="微软雅黑" pitchFamily="34" charset="-122"/>
                <a:ea typeface="微软雅黑" pitchFamily="34" charset="-122"/>
              </a:rPr>
              <a:t>发送</a:t>
            </a:r>
            <a:r>
              <a:rPr lang="zh-CN" altLang="zh-CN" sz="2000" b="1" dirty="0">
                <a:latin typeface="微软雅黑" pitchFamily="34" charset="-122"/>
                <a:ea typeface="微软雅黑" pitchFamily="34" charset="-122"/>
              </a:rPr>
              <a:t>给</a:t>
            </a:r>
            <a:r>
              <a:rPr lang="zh-CN" altLang="zh-CN" sz="2000" b="1" dirty="0" smtClean="0">
                <a:latin typeface="微软雅黑" pitchFamily="34" charset="-122"/>
                <a:ea typeface="微软雅黑" pitchFamily="34" charset="-122"/>
              </a:rPr>
              <a:t>服务器。</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a:t>
            </a:r>
            <a:r>
              <a:rPr lang="zh-CN" altLang="zh-CN" sz="2000" b="1" dirty="0" smtClean="0">
                <a:latin typeface="微软雅黑" pitchFamily="34" charset="-122"/>
                <a:ea typeface="微软雅黑" pitchFamily="34" charset="-122"/>
              </a:rPr>
              <a:t>服务器</a:t>
            </a:r>
            <a:r>
              <a:rPr lang="zh-CN" altLang="zh-CN" sz="2000" b="1" dirty="0">
                <a:latin typeface="微软雅黑" pitchFamily="34" charset="-122"/>
                <a:ea typeface="微软雅黑" pitchFamily="34" charset="-122"/>
              </a:rPr>
              <a:t>处理</a:t>
            </a:r>
            <a:r>
              <a:rPr lang="zh-CN" altLang="zh-CN" sz="2000" b="1" dirty="0" smtClean="0">
                <a:latin typeface="微软雅黑" pitchFamily="34" charset="-122"/>
                <a:ea typeface="微软雅黑" pitchFamily="34" charset="-122"/>
              </a:rPr>
              <a:t>后</a:t>
            </a:r>
            <a:r>
              <a:rPr lang="zh-CN" altLang="en-US" sz="2000" b="1" dirty="0" smtClean="0">
                <a:latin typeface="微软雅黑" pitchFamily="34" charset="-122"/>
                <a:ea typeface="微软雅黑" pitchFamily="34" charset="-122"/>
              </a:rPr>
              <a:t>生成响应数据。</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panose="05000000000000000000" pitchFamily="2" charset="2"/>
              </a:rPr>
              <a:t></a:t>
            </a:r>
            <a:r>
              <a:rPr lang="zh-CN" altLang="en-US" sz="2000" b="1" dirty="0" smtClean="0">
                <a:latin typeface="微软雅黑" pitchFamily="34" charset="-122"/>
                <a:ea typeface="微软雅黑" pitchFamily="34" charset="-122"/>
                <a:sym typeface="Wingdings" panose="05000000000000000000" pitchFamily="2" charset="2"/>
              </a:rPr>
              <a:t>服务器</a:t>
            </a:r>
            <a:r>
              <a:rPr lang="zh-CN" altLang="zh-CN" sz="2000" b="1" dirty="0" smtClean="0">
                <a:latin typeface="微软雅黑" pitchFamily="34" charset="-122"/>
                <a:ea typeface="微软雅黑" pitchFamily="34" charset="-122"/>
              </a:rPr>
              <a:t>发送</a:t>
            </a:r>
            <a:r>
              <a:rPr lang="en-US" altLang="zh-CN" sz="2000" b="1" dirty="0">
                <a:latin typeface="微软雅黑" pitchFamily="34" charset="-122"/>
                <a:ea typeface="微软雅黑" pitchFamily="34" charset="-122"/>
              </a:rPr>
              <a:t>HTTP</a:t>
            </a:r>
            <a:r>
              <a:rPr lang="zh-CN" altLang="zh-CN" sz="2000" b="1" dirty="0">
                <a:latin typeface="微软雅黑" pitchFamily="34" charset="-122"/>
                <a:ea typeface="微软雅黑" pitchFamily="34" charset="-122"/>
              </a:rPr>
              <a:t>响应</a:t>
            </a:r>
            <a:r>
              <a:rPr lang="zh-CN" altLang="zh-CN" sz="2000" b="1" dirty="0" smtClean="0">
                <a:latin typeface="微软雅黑" pitchFamily="34" charset="-122"/>
                <a:ea typeface="微软雅黑" pitchFamily="34" charset="-122"/>
              </a:rPr>
              <a:t>报文返回</a:t>
            </a:r>
            <a:r>
              <a:rPr lang="zh-CN" altLang="zh-CN" sz="2000" b="1" dirty="0">
                <a:latin typeface="微软雅黑" pitchFamily="34" charset="-122"/>
                <a:ea typeface="微软雅黑" pitchFamily="34" charset="-122"/>
              </a:rPr>
              <a:t>给浏览器</a:t>
            </a:r>
            <a:r>
              <a:rPr lang="zh-CN" altLang="zh-CN"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5"/>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第二</a:t>
            </a:r>
            <a:r>
              <a:rPr lang="zh-CN" altLang="en-US" sz="2000" b="1" dirty="0">
                <a:latin typeface="微软雅黑" pitchFamily="34" charset="-122"/>
                <a:ea typeface="微软雅黑" pitchFamily="34" charset="-122"/>
              </a:rPr>
              <a:t>代</a:t>
            </a:r>
            <a:r>
              <a:rPr lang="zh-CN" altLang="en-US" sz="2000" b="1" dirty="0" smtClean="0">
                <a:latin typeface="微软雅黑" pitchFamily="34" charset="-122"/>
                <a:ea typeface="微软雅黑" pitchFamily="34" charset="-122"/>
              </a:rPr>
              <a:t>万维网的特点</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0822733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
          <p:cNvSpPr>
            <a:spLocks noChangeArrowheads="1"/>
          </p:cNvSpPr>
          <p:nvPr/>
        </p:nvSpPr>
        <p:spPr bwMode="auto">
          <a:xfrm>
            <a:off x="3398176" y="576088"/>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动态万维网</a:t>
            </a:r>
            <a:r>
              <a:rPr lang="zh-CN" altLang="en-US" sz="2000" b="1" dirty="0" smtClean="0">
                <a:solidFill>
                  <a:schemeClr val="bg1"/>
                </a:solidFill>
                <a:latin typeface="微软雅黑" pitchFamily="34" charset="-122"/>
                <a:ea typeface="微软雅黑" pitchFamily="34" charset="-122"/>
              </a:rPr>
              <a:t>文档</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0389"/>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静态</a:t>
            </a:r>
            <a:r>
              <a:rPr lang="zh-CN" altLang="en-US" sz="2000" b="1" dirty="0" smtClean="0">
                <a:solidFill>
                  <a:srgbClr val="C00000"/>
                </a:solidFill>
                <a:latin typeface="微软雅黑" pitchFamily="34" charset="-122"/>
                <a:ea typeface="微软雅黑" pitchFamily="34" charset="-122"/>
              </a:rPr>
              <a:t>文档：</a:t>
            </a:r>
            <a:r>
              <a:rPr lang="zh-CN" altLang="en-US" sz="2000" b="1" dirty="0" smtClean="0">
                <a:latin typeface="微软雅黑" pitchFamily="34" charset="-122"/>
                <a:ea typeface="微软雅黑" pitchFamily="34" charset="-122"/>
              </a:rPr>
              <a:t>该</a:t>
            </a:r>
            <a:r>
              <a:rPr lang="zh-CN" altLang="en-US" sz="2000" b="1" dirty="0">
                <a:latin typeface="微软雅黑" pitchFamily="34" charset="-122"/>
                <a:ea typeface="微软雅黑" pitchFamily="34" charset="-122"/>
              </a:rPr>
              <a:t>文档创作完毕后就存放在万维网服务器中，在被用户浏览的过程中，内容不会改变。 </a:t>
            </a: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动态</a:t>
            </a:r>
            <a:r>
              <a:rPr lang="zh-CN" altLang="en-US" sz="2000" b="1" dirty="0" smtClean="0">
                <a:solidFill>
                  <a:srgbClr val="C00000"/>
                </a:solidFill>
                <a:latin typeface="微软雅黑" pitchFamily="34" charset="-122"/>
                <a:ea typeface="微软雅黑" pitchFamily="34" charset="-122"/>
              </a:rPr>
              <a:t>文档：</a:t>
            </a:r>
            <a:r>
              <a:rPr lang="zh-CN" altLang="en-US" sz="2000" b="1" dirty="0" smtClean="0">
                <a:latin typeface="微软雅黑" pitchFamily="34" charset="-122"/>
                <a:ea typeface="微软雅黑" pitchFamily="34" charset="-122"/>
              </a:rPr>
              <a:t>文档</a:t>
            </a:r>
            <a:r>
              <a:rPr lang="zh-CN" altLang="en-US" sz="2000" b="1" dirty="0">
                <a:latin typeface="微软雅黑" pitchFamily="34" charset="-122"/>
                <a:ea typeface="微软雅黑" pitchFamily="34" charset="-122"/>
              </a:rPr>
              <a:t>的内容是在浏览器访问万维网服务器时才由应用程序动态创建。</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动态文档和静态文档之间的</a:t>
            </a:r>
            <a:r>
              <a:rPr lang="zh-CN" altLang="en-US" sz="2000" b="1" dirty="0">
                <a:solidFill>
                  <a:srgbClr val="C00000"/>
                </a:solidFill>
                <a:latin typeface="微软雅黑" pitchFamily="34" charset="-122"/>
                <a:ea typeface="微软雅黑" pitchFamily="34" charset="-122"/>
              </a:rPr>
              <a:t>主要差别</a:t>
            </a:r>
            <a:r>
              <a:rPr lang="zh-CN" altLang="en-US" sz="2000" b="1" dirty="0">
                <a:latin typeface="微软雅黑" pitchFamily="34" charset="-122"/>
                <a:ea typeface="微软雅黑" pitchFamily="34" charset="-122"/>
              </a:rPr>
              <a:t>体现在</a:t>
            </a:r>
            <a:r>
              <a:rPr lang="zh-CN" altLang="en-US" sz="2000" b="1" dirty="0" smtClean="0">
                <a:solidFill>
                  <a:srgbClr val="0000FF"/>
                </a:solidFill>
                <a:latin typeface="微软雅黑" pitchFamily="34" charset="-122"/>
                <a:ea typeface="微软雅黑" pitchFamily="34" charset="-122"/>
              </a:rPr>
              <a:t>服务器端：</a:t>
            </a:r>
            <a:r>
              <a:rPr lang="zh-CN" altLang="en-US" sz="2000" b="1" dirty="0" smtClean="0">
                <a:latin typeface="微软雅黑" pitchFamily="34" charset="-122"/>
                <a:ea typeface="微软雅黑" pitchFamily="34" charset="-122"/>
              </a:rPr>
              <a:t>文档</a:t>
            </a:r>
            <a:r>
              <a:rPr lang="zh-CN" altLang="en-US" sz="2000" b="1" dirty="0">
                <a:latin typeface="微软雅黑" pitchFamily="34" charset="-122"/>
                <a:ea typeface="微软雅黑" pitchFamily="34" charset="-122"/>
              </a:rPr>
              <a:t>内容的生成方法不同</a:t>
            </a:r>
            <a:r>
              <a:rPr lang="zh-CN" altLang="en-US" sz="2000" b="1" dirty="0" smtClean="0">
                <a:latin typeface="微软雅黑" pitchFamily="34" charset="-122"/>
                <a:ea typeface="微软雅黑" pitchFamily="34" charset="-122"/>
              </a:rPr>
              <a:t>。从</a:t>
            </a:r>
            <a:r>
              <a:rPr lang="zh-CN" altLang="en-US" sz="2000" b="1" dirty="0">
                <a:latin typeface="微软雅黑" pitchFamily="34" charset="-122"/>
                <a:ea typeface="微软雅黑" pitchFamily="34" charset="-122"/>
              </a:rPr>
              <a:t>浏览器的角度看，这两种文档并没有区别。 </a:t>
            </a:r>
          </a:p>
        </p:txBody>
      </p:sp>
      <p:sp>
        <p:nvSpPr>
          <p:cNvPr id="5"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5"/>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itchFamily="34" charset="-122"/>
                <a:ea typeface="微软雅黑" pitchFamily="34" charset="-122"/>
              </a:rPr>
              <a:t>第二</a:t>
            </a:r>
            <a:r>
              <a:rPr lang="zh-CN" altLang="en-US" sz="2000" b="1" dirty="0">
                <a:latin typeface="微软雅黑" pitchFamily="34" charset="-122"/>
                <a:ea typeface="微软雅黑" pitchFamily="34" charset="-122"/>
              </a:rPr>
              <a:t>代</a:t>
            </a:r>
            <a:r>
              <a:rPr lang="zh-CN" altLang="en-US" sz="2000" b="1" dirty="0" smtClean="0">
                <a:latin typeface="微软雅黑" pitchFamily="34" charset="-122"/>
                <a:ea typeface="微软雅黑" pitchFamily="34" charset="-122"/>
              </a:rPr>
              <a:t>万维网的特点</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2262996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54011"/>
            <a:ext cx="8120693"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a:t>
            </a:r>
            <a:r>
              <a:rPr lang="en-US" altLang="zh-CN" sz="2000" b="1" dirty="0" smtClean="0">
                <a:latin typeface="微软雅黑" pitchFamily="34" charset="-122"/>
                <a:ea typeface="微软雅黑" pitchFamily="34" charset="-122"/>
              </a:rPr>
              <a:t>) </a:t>
            </a:r>
            <a:r>
              <a:rPr lang="zh-CN" altLang="en-US" sz="2000" b="1" dirty="0">
                <a:solidFill>
                  <a:srgbClr val="C00000"/>
                </a:solidFill>
                <a:latin typeface="微软雅黑" pitchFamily="34" charset="-122"/>
                <a:ea typeface="微软雅黑" pitchFamily="34" charset="-122"/>
              </a:rPr>
              <a:t>从静态内容变成动态内容</a:t>
            </a:r>
            <a:r>
              <a:rPr lang="zh-CN" altLang="en-US" sz="2000" b="1" dirty="0">
                <a:latin typeface="微软雅黑" pitchFamily="34" charset="-122"/>
                <a:ea typeface="微软雅黑" pitchFamily="34" charset="-122"/>
              </a:rPr>
              <a:t>，可根据用户的交互而经常更新</a:t>
            </a:r>
            <a:r>
              <a:rPr lang="zh-CN" altLang="en-US" sz="2000" b="1" dirty="0" smtClean="0">
                <a:latin typeface="微软雅黑" pitchFamily="34" charset="-122"/>
                <a:ea typeface="微软雅黑" pitchFamily="34" charset="-122"/>
              </a:rPr>
              <a:t>内容。</a:t>
            </a:r>
            <a:endParaRPr lang="zh-CN" altLang="en-US" sz="2000" b="1" dirty="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从</a:t>
            </a:r>
            <a:r>
              <a:rPr lang="zh-CN" altLang="en-US" sz="2000" b="1" dirty="0">
                <a:latin typeface="微软雅黑" pitchFamily="34" charset="-122"/>
                <a:ea typeface="微软雅黑" pitchFamily="34" charset="-122"/>
              </a:rPr>
              <a:t>“浏览和阅读”的</a:t>
            </a:r>
            <a:r>
              <a:rPr lang="zh-CN" altLang="en-US" sz="2000" b="1" dirty="0">
                <a:solidFill>
                  <a:srgbClr val="C00000"/>
                </a:solidFill>
                <a:latin typeface="微软雅黑" pitchFamily="34" charset="-122"/>
                <a:ea typeface="微软雅黑" pitchFamily="34" charset="-122"/>
              </a:rPr>
              <a:t>只读模式</a:t>
            </a:r>
            <a:r>
              <a:rPr lang="zh-CN" altLang="en-US" sz="2000" b="1" dirty="0">
                <a:latin typeface="微软雅黑" pitchFamily="34" charset="-122"/>
                <a:ea typeface="微软雅黑" pitchFamily="34" charset="-122"/>
              </a:rPr>
              <a:t>，发展到用户参与的“</a:t>
            </a:r>
            <a:r>
              <a:rPr lang="zh-CN" altLang="en-US" sz="2000" b="1" dirty="0">
                <a:solidFill>
                  <a:srgbClr val="C00000"/>
                </a:solidFill>
                <a:latin typeface="微软雅黑" pitchFamily="34" charset="-122"/>
                <a:ea typeface="微软雅黑" pitchFamily="34" charset="-122"/>
              </a:rPr>
              <a:t>读写网络”</a:t>
            </a:r>
            <a:r>
              <a:rPr lang="zh-CN" altLang="en-US" sz="2000" b="1" dirty="0">
                <a:latin typeface="微软雅黑" pitchFamily="34" charset="-122"/>
                <a:ea typeface="微软雅黑" pitchFamily="34" charset="-122"/>
              </a:rPr>
              <a:t>，用户既是内容消费者也是内容的创造者</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(3) </a:t>
            </a:r>
            <a:r>
              <a:rPr lang="zh-CN" altLang="en-US" sz="2000" b="1" dirty="0">
                <a:solidFill>
                  <a:srgbClr val="C00000"/>
                </a:solidFill>
                <a:latin typeface="微软雅黑" pitchFamily="34" charset="-122"/>
                <a:ea typeface="微软雅黑" pitchFamily="34" charset="-122"/>
              </a:rPr>
              <a:t>高交互性</a:t>
            </a:r>
            <a:r>
              <a:rPr lang="zh-CN" altLang="en-US" sz="2000" b="1" dirty="0">
                <a:latin typeface="微软雅黑" pitchFamily="34" charset="-122"/>
                <a:ea typeface="微软雅黑" pitchFamily="34" charset="-122"/>
              </a:rPr>
              <a:t>：网站通过表单、游戏和多媒体等交互元素提供丰富的用户体验。</a:t>
            </a:r>
          </a:p>
          <a:p>
            <a:pPr marL="285750" indent="-28575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(4) </a:t>
            </a:r>
            <a:r>
              <a:rPr lang="zh-CN" altLang="en-US" sz="2000" b="1" dirty="0">
                <a:solidFill>
                  <a:srgbClr val="C00000"/>
                </a:solidFill>
                <a:latin typeface="微软雅黑" pitchFamily="34" charset="-122"/>
                <a:ea typeface="微软雅黑" pitchFamily="34" charset="-122"/>
              </a:rPr>
              <a:t>鼓励用户创建和共享内容</a:t>
            </a:r>
            <a:r>
              <a:rPr lang="zh-CN" altLang="en-US" sz="2000" b="1" dirty="0">
                <a:latin typeface="微软雅黑" pitchFamily="34" charset="-122"/>
                <a:ea typeface="微软雅黑" pitchFamily="34" charset="-122"/>
              </a:rPr>
              <a:t>，从而催生了博客、社交媒体和维基百科。</a:t>
            </a:r>
          </a:p>
          <a:p>
            <a:pPr marL="285750" indent="-28575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3" name="AutoShape 5"/>
          <p:cNvSpPr>
            <a:spLocks noChangeArrowheads="1"/>
          </p:cNvSpPr>
          <p:nvPr/>
        </p:nvSpPr>
        <p:spPr bwMode="auto">
          <a:xfrm>
            <a:off x="556963" y="6128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1475"/>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第二代万维网的特点</a:t>
            </a:r>
          </a:p>
        </p:txBody>
      </p:sp>
      <p:grpSp>
        <p:nvGrpSpPr>
          <p:cNvPr id="5" name="组合 4"/>
          <p:cNvGrpSpPr/>
          <p:nvPr/>
        </p:nvGrpSpPr>
        <p:grpSpPr>
          <a:xfrm>
            <a:off x="1389050" y="3790825"/>
            <a:ext cx="6684885" cy="824269"/>
            <a:chOff x="1154100" y="3809875"/>
            <a:chExt cx="6684885" cy="824269"/>
          </a:xfrm>
        </p:grpSpPr>
        <p:sp>
          <p:nvSpPr>
            <p:cNvPr id="6" name="对角圆角矩形 5"/>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zh-CN" altLang="en-US" b="1" dirty="0">
                  <a:solidFill>
                    <a:schemeClr val="bg1"/>
                  </a:solidFill>
                  <a:latin typeface="微软雅黑" pitchFamily="34" charset="-122"/>
                  <a:ea typeface="微软雅黑" pitchFamily="34" charset="-122"/>
                </a:rPr>
                <a:t>第二代万维网是在第一代万维网的基础上的扩展，而并非要完全替代前者。</a:t>
              </a:r>
              <a:endParaRPr lang="zh-CN" altLang="en-US" b="1" dirty="0">
                <a:solidFill>
                  <a:srgbClr val="FFC000"/>
                </a:solidFill>
                <a:latin typeface="微软雅黑" pitchFamily="34" charset="-122"/>
                <a:ea typeface="微软雅黑" pitchFamily="34" charset="-122"/>
              </a:endParaRPr>
            </a:p>
          </p:txBody>
        </p:sp>
      </p:grpSp>
    </p:spTree>
    <p:extLst>
      <p:ext uri="{BB962C8B-B14F-4D97-AF65-F5344CB8AC3E}">
        <p14:creationId xmlns:p14="http://schemas.microsoft.com/office/powerpoint/2010/main" val="3979432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34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Web </a:t>
            </a:r>
            <a:r>
              <a:rPr lang="en-US" altLang="zh-CN" sz="2000" b="1" dirty="0">
                <a:latin typeface="微软雅黑" pitchFamily="34" charset="-122"/>
                <a:ea typeface="微软雅黑" pitchFamily="34" charset="-122"/>
              </a:rPr>
              <a:t>3.0</a:t>
            </a:r>
            <a:r>
              <a:rPr lang="zh-CN" altLang="en-US" sz="2000" b="1" dirty="0">
                <a:latin typeface="微软雅黑" pitchFamily="34" charset="-122"/>
                <a:ea typeface="微软雅黑" pitchFamily="34" charset="-122"/>
              </a:rPr>
              <a:t>强调</a:t>
            </a:r>
            <a:r>
              <a:rPr lang="zh-CN" altLang="en-US" sz="2000" b="1" dirty="0">
                <a:solidFill>
                  <a:srgbClr val="C00000"/>
                </a:solidFill>
                <a:latin typeface="微软雅黑" pitchFamily="34" charset="-122"/>
                <a:ea typeface="微软雅黑" pitchFamily="34" charset="-122"/>
              </a:rPr>
              <a:t>去中心化</a:t>
            </a:r>
            <a:r>
              <a:rPr lang="zh-CN" altLang="en-US" sz="2000" b="1" dirty="0" smtClean="0">
                <a:latin typeface="微软雅黑" pitchFamily="34" charset="-122"/>
                <a:ea typeface="微软雅黑" pitchFamily="34" charset="-122"/>
              </a:rPr>
              <a:t>，通过</a:t>
            </a:r>
            <a:r>
              <a:rPr lang="zh-CN" altLang="en-US" sz="2000" b="1" dirty="0">
                <a:latin typeface="微软雅黑" pitchFamily="34" charset="-122"/>
                <a:ea typeface="微软雅黑" pitchFamily="34" charset="-122"/>
              </a:rPr>
              <a:t>区块链等技术</a:t>
            </a:r>
            <a:r>
              <a:rPr lang="zh-CN" altLang="en-US" sz="2000" b="1" dirty="0">
                <a:solidFill>
                  <a:srgbClr val="C00000"/>
                </a:solidFill>
                <a:latin typeface="微软雅黑" pitchFamily="34" charset="-122"/>
                <a:ea typeface="微软雅黑" pitchFamily="34" charset="-122"/>
              </a:rPr>
              <a:t>赋予用户更多控制权</a:t>
            </a:r>
            <a:r>
              <a:rPr lang="zh-CN" altLang="en-US" sz="2000" b="1" dirty="0">
                <a:latin typeface="微软雅黑" pitchFamily="34" charset="-122"/>
                <a:ea typeface="微软雅黑" pitchFamily="34" charset="-122"/>
              </a:rPr>
              <a:t>，以创建一个更</a:t>
            </a:r>
            <a:r>
              <a:rPr lang="zh-CN" altLang="en-US" sz="2000" b="1" dirty="0">
                <a:solidFill>
                  <a:srgbClr val="C00000"/>
                </a:solidFill>
                <a:latin typeface="微软雅黑" pitchFamily="34" charset="-122"/>
                <a:ea typeface="微软雅黑" pitchFamily="34" charset="-122"/>
              </a:rPr>
              <a:t>开放、透明、安全</a:t>
            </a:r>
            <a:r>
              <a:rPr lang="zh-CN" altLang="en-US" sz="2000" b="1" dirty="0">
                <a:latin typeface="微软雅黑" pitchFamily="34" charset="-122"/>
                <a:ea typeface="微软雅黑" pitchFamily="34" charset="-122"/>
              </a:rPr>
              <a:t>且</a:t>
            </a:r>
            <a:r>
              <a:rPr lang="zh-CN" altLang="en-US" sz="2000" b="1" dirty="0">
                <a:solidFill>
                  <a:srgbClr val="C00000"/>
                </a:solidFill>
                <a:latin typeface="微软雅黑" pitchFamily="34" charset="-122"/>
                <a:ea typeface="微软雅黑" pitchFamily="34" charset="-122"/>
              </a:rPr>
              <a:t>由用户主导</a:t>
            </a:r>
            <a:r>
              <a:rPr lang="zh-CN" altLang="en-US" sz="2000" b="1" dirty="0">
                <a:latin typeface="微软雅黑" pitchFamily="34" charset="-122"/>
                <a:ea typeface="微软雅黑" pitchFamily="34" charset="-122"/>
              </a:rPr>
              <a:t>的互联网生态系统</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目前对</a:t>
            </a:r>
            <a:r>
              <a:rPr lang="en-US" altLang="zh-CN" sz="2000" b="1" dirty="0">
                <a:latin typeface="微软雅黑" pitchFamily="34" charset="-122"/>
                <a:ea typeface="微软雅黑" pitchFamily="34" charset="-122"/>
              </a:rPr>
              <a:t>Web </a:t>
            </a:r>
            <a:r>
              <a:rPr lang="en-US" altLang="zh-CN" sz="2000" b="1" dirty="0" smtClean="0">
                <a:latin typeface="微软雅黑" pitchFamily="34" charset="-122"/>
                <a:ea typeface="微软雅黑" pitchFamily="34" charset="-122"/>
              </a:rPr>
              <a:t>3.0</a:t>
            </a:r>
            <a:r>
              <a:rPr lang="zh-CN" altLang="en-US" sz="2000" b="1" dirty="0" smtClean="0">
                <a:latin typeface="微软雅黑" pitchFamily="34" charset="-122"/>
                <a:ea typeface="微软雅黑" pitchFamily="34" charset="-122"/>
              </a:rPr>
              <a:t>的定义</a:t>
            </a:r>
            <a:r>
              <a:rPr lang="zh-CN" altLang="en-US" sz="2000" b="1" dirty="0">
                <a:latin typeface="微软雅黑" pitchFamily="34" charset="-122"/>
                <a:ea typeface="微软雅黑" pitchFamily="34" charset="-122"/>
              </a:rPr>
              <a:t>和实现方式仍</a:t>
            </a:r>
            <a:r>
              <a:rPr lang="zh-CN" altLang="en-US" sz="2000" b="1" dirty="0">
                <a:solidFill>
                  <a:srgbClr val="C00000"/>
                </a:solidFill>
                <a:latin typeface="微软雅黑" pitchFamily="34" charset="-122"/>
                <a:ea typeface="微软雅黑" pitchFamily="34" charset="-122"/>
              </a:rPr>
              <a:t>存在不同观点</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受</a:t>
            </a:r>
            <a:r>
              <a:rPr lang="zh-CN" altLang="en-US" sz="2000" b="1" dirty="0">
                <a:latin typeface="微软雅黑" pitchFamily="34" charset="-122"/>
                <a:ea typeface="微软雅黑" pitchFamily="34" charset="-122"/>
              </a:rPr>
              <a:t>技术、用户接受度、行政监管等多方面因素的限制，</a:t>
            </a:r>
            <a:r>
              <a:rPr lang="en-US" altLang="zh-CN" sz="2000" b="1" dirty="0">
                <a:latin typeface="微软雅黑" pitchFamily="34" charset="-122"/>
                <a:ea typeface="微软雅黑" pitchFamily="34" charset="-122"/>
              </a:rPr>
              <a:t>Web 3.0</a:t>
            </a:r>
            <a:r>
              <a:rPr lang="zh-CN" altLang="en-US" sz="2000" b="1" dirty="0">
                <a:latin typeface="微软雅黑" pitchFamily="34" charset="-122"/>
                <a:ea typeface="微软雅黑" pitchFamily="34" charset="-122"/>
              </a:rPr>
              <a:t>的全面普及还需要时间。</a:t>
            </a:r>
          </a:p>
        </p:txBody>
      </p:sp>
      <p:sp>
        <p:nvSpPr>
          <p:cNvPr id="3" name="AutoShape 5"/>
          <p:cNvSpPr>
            <a:spLocks noChangeArrowheads="1"/>
          </p:cNvSpPr>
          <p:nvPr/>
        </p:nvSpPr>
        <p:spPr bwMode="auto">
          <a:xfrm>
            <a:off x="556963" y="6129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708"/>
            <a:ext cx="124181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itchFamily="34" charset="-122"/>
                <a:ea typeface="微软雅黑" pitchFamily="34" charset="-122"/>
              </a:rPr>
              <a:t>Web 3.0</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2130810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093074" y="57259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6.2.5  </a:t>
            </a:r>
            <a:r>
              <a:rPr lang="zh-CN" altLang="en-US" sz="2400" b="1" dirty="0">
                <a:solidFill>
                  <a:schemeClr val="bg1"/>
                </a:solidFill>
                <a:latin typeface="微软雅黑" pitchFamily="34" charset="-122"/>
                <a:ea typeface="微软雅黑" pitchFamily="34" charset="-122"/>
              </a:rPr>
              <a:t>万维网</a:t>
            </a:r>
            <a:r>
              <a:rPr lang="zh-CN" altLang="en-US" sz="2400" b="1" dirty="0" smtClean="0">
                <a:solidFill>
                  <a:schemeClr val="bg1"/>
                </a:solidFill>
                <a:latin typeface="微软雅黑" pitchFamily="34" charset="-122"/>
                <a:ea typeface="微软雅黑" pitchFamily="34" charset="-122"/>
              </a:rPr>
              <a:t>的应用</a:t>
            </a:r>
            <a:endParaRPr lang="zh-CN" altLang="en-US" sz="2400" b="1" dirty="0">
              <a:solidFill>
                <a:schemeClr val="bg1"/>
              </a:solidFill>
              <a:latin typeface="微软雅黑" pitchFamily="34" charset="-122"/>
              <a:ea typeface="微软雅黑" pitchFamily="34" charset="-122"/>
            </a:endParaRPr>
          </a:p>
        </p:txBody>
      </p:sp>
      <p:sp>
        <p:nvSpPr>
          <p:cNvPr id="9" name="Rectangle 68"/>
          <p:cNvSpPr>
            <a:spLocks noChangeArrowheads="1"/>
          </p:cNvSpPr>
          <p:nvPr/>
        </p:nvSpPr>
        <p:spPr bwMode="auto">
          <a:xfrm>
            <a:off x="556963" y="1042091"/>
            <a:ext cx="8048776" cy="32726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(1</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信息检索</a:t>
            </a:r>
            <a:r>
              <a:rPr lang="zh-CN" altLang="en-US" sz="2000" b="1" dirty="0">
                <a:latin typeface="微软雅黑" pitchFamily="34" charset="-122"/>
                <a:ea typeface="微软雅黑" pitchFamily="34" charset="-122"/>
              </a:rPr>
              <a:t>与查询：如百度、搜狗、</a:t>
            </a:r>
            <a:r>
              <a:rPr lang="en-US" altLang="zh-CN" sz="2000" b="1" dirty="0">
                <a:latin typeface="微软雅黑" pitchFamily="34" charset="-122"/>
                <a:ea typeface="微软雅黑" pitchFamily="34" charset="-122"/>
              </a:rPr>
              <a:t>360</a:t>
            </a:r>
            <a:r>
              <a:rPr lang="zh-CN" altLang="en-US" sz="2000" b="1" dirty="0">
                <a:latin typeface="微软雅黑" pitchFamily="34" charset="-122"/>
                <a:ea typeface="微软雅黑" pitchFamily="34" charset="-122"/>
              </a:rPr>
              <a:t>搜索等。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(2</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电子商务</a:t>
            </a:r>
            <a:r>
              <a:rPr lang="zh-CN" altLang="en-US" sz="2000" b="1" dirty="0">
                <a:latin typeface="微软雅黑" pitchFamily="34" charset="-122"/>
                <a:ea typeface="微软雅黑" pitchFamily="34" charset="-122"/>
              </a:rPr>
              <a:t>：如阿里巴巴（淘宝、天猫）、京东、美团等。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(3</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社交</a:t>
            </a:r>
            <a:r>
              <a:rPr lang="zh-CN" altLang="en-US" sz="2000" b="1" dirty="0">
                <a:latin typeface="微软雅黑" pitchFamily="34" charset="-122"/>
                <a:ea typeface="微软雅黑" pitchFamily="34" charset="-122"/>
              </a:rPr>
              <a:t>媒体：如微信</a:t>
            </a:r>
            <a:r>
              <a:rPr lang="en-US" altLang="zh-CN" sz="2000" b="1" dirty="0">
                <a:latin typeface="微软雅黑" pitchFamily="34" charset="-122"/>
                <a:ea typeface="微软雅黑" pitchFamily="34" charset="-122"/>
              </a:rPr>
              <a:t>(WeChat)</a:t>
            </a:r>
            <a:r>
              <a:rPr lang="zh-CN" altLang="en-US" sz="2000" b="1" dirty="0">
                <a:latin typeface="微软雅黑" pitchFamily="34" charset="-122"/>
                <a:ea typeface="微软雅黑" pitchFamily="34" charset="-122"/>
              </a:rPr>
              <a:t>、博客</a:t>
            </a:r>
            <a:r>
              <a:rPr lang="en-US" altLang="zh-CN" sz="2000" b="1" dirty="0">
                <a:latin typeface="微软雅黑" pitchFamily="34" charset="-122"/>
                <a:ea typeface="微软雅黑" pitchFamily="34" charset="-122"/>
              </a:rPr>
              <a:t>(blog)</a:t>
            </a:r>
            <a:r>
              <a:rPr lang="zh-CN" altLang="en-US" sz="2000" b="1" dirty="0">
                <a:latin typeface="微软雅黑" pitchFamily="34" charset="-122"/>
                <a:ea typeface="微软雅黑" pitchFamily="34" charset="-122"/>
              </a:rPr>
              <a:t>、微博</a:t>
            </a:r>
            <a:r>
              <a:rPr lang="en-US" altLang="zh-CN" sz="2000" b="1" dirty="0">
                <a:latin typeface="微软雅黑" pitchFamily="34" charset="-122"/>
                <a:ea typeface="微软雅黑" pitchFamily="34" charset="-122"/>
              </a:rPr>
              <a:t>(microblog)</a:t>
            </a:r>
            <a:r>
              <a:rPr lang="zh-CN" altLang="en-US" sz="2000" b="1" dirty="0">
                <a:latin typeface="微软雅黑" pitchFamily="34" charset="-122"/>
                <a:ea typeface="微软雅黑" pitchFamily="34" charset="-122"/>
              </a:rPr>
              <a:t>、抖音</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TikTok</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等。 </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(4</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娱乐</a:t>
            </a:r>
            <a:r>
              <a:rPr lang="zh-CN" altLang="en-US" sz="2000" b="1" dirty="0">
                <a:latin typeface="微软雅黑" pitchFamily="34" charset="-122"/>
                <a:ea typeface="微软雅黑" pitchFamily="34" charset="-122"/>
              </a:rPr>
              <a:t>媒体：如爱奇艺、优酷、</a:t>
            </a:r>
            <a:r>
              <a:rPr lang="en-US" altLang="zh-CN" sz="2000" b="1" dirty="0">
                <a:latin typeface="微软雅黑" pitchFamily="34" charset="-122"/>
                <a:ea typeface="微软雅黑" pitchFamily="34" charset="-122"/>
              </a:rPr>
              <a:t>B</a:t>
            </a:r>
            <a:r>
              <a:rPr lang="zh-CN" altLang="en-US" sz="2000" b="1" dirty="0">
                <a:latin typeface="微软雅黑" pitchFamily="34" charset="-122"/>
                <a:ea typeface="微软雅黑" pitchFamily="34" charset="-122"/>
              </a:rPr>
              <a:t>站（哔哩哔哩）、西瓜视频、</a:t>
            </a:r>
            <a:r>
              <a:rPr lang="en-US" altLang="zh-CN" sz="2000" b="1" dirty="0">
                <a:latin typeface="微软雅黑" pitchFamily="34" charset="-122"/>
                <a:ea typeface="微软雅黑" pitchFamily="34" charset="-122"/>
              </a:rPr>
              <a:t>QQ</a:t>
            </a:r>
            <a:r>
              <a:rPr lang="zh-CN" altLang="en-US" sz="2000" b="1" dirty="0">
                <a:latin typeface="微软雅黑" pitchFamily="34" charset="-122"/>
                <a:ea typeface="微软雅黑" pitchFamily="34" charset="-122"/>
              </a:rPr>
              <a:t>音乐等。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(5</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教育</a:t>
            </a:r>
            <a:r>
              <a:rPr lang="zh-CN" altLang="en-US" sz="2000" b="1" dirty="0">
                <a:latin typeface="微软雅黑" pitchFamily="34" charset="-122"/>
                <a:ea typeface="微软雅黑" pitchFamily="34" charset="-122"/>
              </a:rPr>
              <a:t>与学习：如知乎、学习通、中国大学</a:t>
            </a:r>
            <a:r>
              <a:rPr lang="en-US" altLang="zh-CN" sz="2000" b="1" dirty="0">
                <a:latin typeface="微软雅黑" pitchFamily="34" charset="-122"/>
                <a:ea typeface="微软雅黑" pitchFamily="34" charset="-122"/>
              </a:rPr>
              <a:t>MOOC</a:t>
            </a:r>
            <a:r>
              <a:rPr lang="zh-CN" altLang="en-US" sz="2000" b="1" dirty="0">
                <a:latin typeface="微软雅黑" pitchFamily="34" charset="-122"/>
                <a:ea typeface="微软雅黑" pitchFamily="34" charset="-122"/>
              </a:rPr>
              <a:t>（慕课）、高考网</a:t>
            </a:r>
            <a:r>
              <a:rPr lang="zh-CN" altLang="en-US" sz="2000" b="1" dirty="0" smtClean="0">
                <a:latin typeface="微软雅黑" pitchFamily="34" charset="-122"/>
                <a:ea typeface="微软雅黑" pitchFamily="34" charset="-122"/>
              </a:rPr>
              <a:t>等。</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32528528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093074" y="57259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6.2.5  </a:t>
            </a:r>
            <a:r>
              <a:rPr lang="zh-CN" altLang="en-US" sz="2400" b="1" dirty="0">
                <a:solidFill>
                  <a:schemeClr val="bg1"/>
                </a:solidFill>
                <a:latin typeface="微软雅黑" pitchFamily="34" charset="-122"/>
                <a:ea typeface="微软雅黑" pitchFamily="34" charset="-122"/>
              </a:rPr>
              <a:t>万维网</a:t>
            </a:r>
            <a:r>
              <a:rPr lang="zh-CN" altLang="en-US" sz="2400" b="1" dirty="0" smtClean="0">
                <a:solidFill>
                  <a:schemeClr val="bg1"/>
                </a:solidFill>
                <a:latin typeface="微软雅黑" pitchFamily="34" charset="-122"/>
                <a:ea typeface="微软雅黑" pitchFamily="34" charset="-122"/>
              </a:rPr>
              <a:t>的应用</a:t>
            </a:r>
            <a:endParaRPr lang="zh-CN" altLang="en-US" sz="2400" b="1" dirty="0">
              <a:solidFill>
                <a:schemeClr val="bg1"/>
              </a:solidFill>
              <a:latin typeface="微软雅黑" pitchFamily="34" charset="-122"/>
              <a:ea typeface="微软雅黑" pitchFamily="34" charset="-122"/>
            </a:endParaRPr>
          </a:p>
        </p:txBody>
      </p:sp>
      <p:sp>
        <p:nvSpPr>
          <p:cNvPr id="9" name="Rectangle 68"/>
          <p:cNvSpPr>
            <a:spLocks noChangeArrowheads="1"/>
          </p:cNvSpPr>
          <p:nvPr/>
        </p:nvSpPr>
        <p:spPr bwMode="auto">
          <a:xfrm>
            <a:off x="556963" y="1048441"/>
            <a:ext cx="8048776" cy="247760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100"/>
              </a:lnSpc>
              <a:buClr>
                <a:srgbClr val="0070C0"/>
              </a:buClr>
              <a:buFont typeface="Wingdings" pitchFamily="2" charset="2"/>
              <a:buChar char="l"/>
            </a:pP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6</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政务</a:t>
            </a:r>
            <a:r>
              <a:rPr lang="zh-CN" altLang="en-US" sz="2000" b="1" dirty="0">
                <a:latin typeface="微软雅黑" pitchFamily="34" charset="-122"/>
                <a:ea typeface="微软雅黑" pitchFamily="34" charset="-122"/>
              </a:rPr>
              <a:t>与服务：如各级政府网站、国家政务服务平台等。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(7</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金融</a:t>
            </a:r>
            <a:r>
              <a:rPr lang="zh-CN" altLang="en-US" sz="2000" b="1" dirty="0">
                <a:latin typeface="微软雅黑" pitchFamily="34" charset="-122"/>
                <a:ea typeface="微软雅黑" pitchFamily="34" charset="-122"/>
              </a:rPr>
              <a:t>与银行：如各银行网站、证券交易平台（如东方财富）、支付宝等。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(8</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旅游</a:t>
            </a:r>
            <a:r>
              <a:rPr lang="zh-CN" altLang="en-US" sz="2000" b="1" dirty="0">
                <a:latin typeface="微软雅黑" pitchFamily="34" charset="-122"/>
                <a:ea typeface="微软雅黑" pitchFamily="34" charset="-122"/>
              </a:rPr>
              <a:t>与出行：如携程、同程旅游、</a:t>
            </a:r>
            <a:r>
              <a:rPr lang="en-US" altLang="zh-CN" sz="2000" b="1" dirty="0">
                <a:latin typeface="微软雅黑" pitchFamily="34" charset="-122"/>
                <a:ea typeface="微软雅黑" pitchFamily="34" charset="-122"/>
              </a:rPr>
              <a:t>12306</a:t>
            </a:r>
            <a:r>
              <a:rPr lang="zh-CN" altLang="en-US" sz="2000" b="1" dirty="0">
                <a:latin typeface="微软雅黑" pitchFamily="34" charset="-122"/>
                <a:ea typeface="微软雅黑" pitchFamily="34" charset="-122"/>
              </a:rPr>
              <a:t>（火车票预订网站）等。</a:t>
            </a:r>
          </a:p>
          <a:p>
            <a:pPr marL="285750" indent="-285750" hangingPunct="0">
              <a:lnSpc>
                <a:spcPts val="3100"/>
              </a:lnSpc>
              <a:buClr>
                <a:srgbClr val="0070C0"/>
              </a:buClr>
              <a:buFont typeface="Wingdings" pitchFamily="2" charset="2"/>
              <a:buChar char="l"/>
            </a:pPr>
            <a:r>
              <a:rPr lang="en-US" altLang="zh-CN" sz="2000" b="1" dirty="0">
                <a:latin typeface="微软雅黑" pitchFamily="34" charset="-122"/>
                <a:ea typeface="微软雅黑" pitchFamily="34" charset="-122"/>
              </a:rPr>
              <a:t>(9</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健康</a:t>
            </a:r>
            <a:r>
              <a:rPr lang="zh-CN" altLang="en-US" sz="2000" b="1" dirty="0">
                <a:latin typeface="微软雅黑" pitchFamily="34" charset="-122"/>
                <a:ea typeface="微软雅黑" pitchFamily="34" charset="-122"/>
              </a:rPr>
              <a:t>与医疗：如各医院的预约挂号网、平安好医生等</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6386275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093074" y="57259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6.2.5  </a:t>
            </a:r>
            <a:r>
              <a:rPr lang="zh-CN" altLang="en-US" sz="2400" b="1" dirty="0">
                <a:solidFill>
                  <a:schemeClr val="bg1"/>
                </a:solidFill>
                <a:latin typeface="微软雅黑" pitchFamily="34" charset="-122"/>
                <a:ea typeface="微软雅黑" pitchFamily="34" charset="-122"/>
              </a:rPr>
              <a:t>万维网</a:t>
            </a:r>
            <a:r>
              <a:rPr lang="zh-CN" altLang="en-US" sz="2400" b="1" dirty="0" smtClean="0">
                <a:solidFill>
                  <a:schemeClr val="bg1"/>
                </a:solidFill>
                <a:latin typeface="微软雅黑" pitchFamily="34" charset="-122"/>
                <a:ea typeface="微软雅黑" pitchFamily="34" charset="-122"/>
              </a:rPr>
              <a:t>的应用</a:t>
            </a:r>
            <a:endParaRPr lang="zh-CN" altLang="en-US" sz="2400" b="1" dirty="0">
              <a:solidFill>
                <a:schemeClr val="bg1"/>
              </a:solidFill>
              <a:latin typeface="微软雅黑" pitchFamily="34" charset="-122"/>
              <a:ea typeface="微软雅黑" pitchFamily="34" charset="-122"/>
            </a:endParaRPr>
          </a:p>
        </p:txBody>
      </p:sp>
      <p:sp>
        <p:nvSpPr>
          <p:cNvPr id="9" name="Rectangle 68"/>
          <p:cNvSpPr>
            <a:spLocks noChangeArrowheads="1"/>
          </p:cNvSpPr>
          <p:nvPr/>
        </p:nvSpPr>
        <p:spPr bwMode="auto">
          <a:xfrm>
            <a:off x="374650" y="1010341"/>
            <a:ext cx="8547100"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一种网络应用往往具有多重属性，可能同时属于多个类别</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抖</a:t>
            </a:r>
            <a:r>
              <a:rPr lang="zh-CN" altLang="en-US" b="1" dirty="0">
                <a:latin typeface="微软雅黑" pitchFamily="34" charset="-122"/>
                <a:ea typeface="微软雅黑" pitchFamily="34" charset="-122"/>
              </a:rPr>
              <a:t>音既是短视频社交媒体</a:t>
            </a:r>
            <a:r>
              <a:rPr lang="zh-CN" altLang="en-US" b="1" dirty="0" smtClean="0">
                <a:latin typeface="微软雅黑" pitchFamily="34" charset="-122"/>
                <a:ea typeface="微软雅黑" pitchFamily="34" charset="-122"/>
              </a:rPr>
              <a:t>，也</a:t>
            </a:r>
            <a:r>
              <a:rPr lang="zh-CN" altLang="en-US" b="1" dirty="0">
                <a:latin typeface="微软雅黑" pitchFamily="34" charset="-122"/>
                <a:ea typeface="微软雅黑" pitchFamily="34" charset="-122"/>
              </a:rPr>
              <a:t>是娱乐媒体</a:t>
            </a:r>
            <a:r>
              <a:rPr lang="zh-CN" altLang="en-US" b="1" dirty="0" smtClean="0">
                <a:latin typeface="微软雅黑" pitchFamily="34" charset="-122"/>
                <a:ea typeface="微软雅黑" pitchFamily="34" charset="-122"/>
              </a:rPr>
              <a:t>。还</a:t>
            </a:r>
            <a:r>
              <a:rPr lang="zh-CN" altLang="en-US" b="1" dirty="0">
                <a:latin typeface="微软雅黑" pitchFamily="34" charset="-122"/>
                <a:ea typeface="微软雅黑" pitchFamily="34" charset="-122"/>
              </a:rPr>
              <a:t>融入了</a:t>
            </a:r>
            <a:r>
              <a:rPr lang="en-US" altLang="zh-CN" b="1" dirty="0">
                <a:latin typeface="微软雅黑" pitchFamily="34" charset="-122"/>
                <a:ea typeface="微软雅黑" pitchFamily="34" charset="-122"/>
              </a:rPr>
              <a:t>Web 3.0</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部分</a:t>
            </a:r>
            <a:r>
              <a:rPr lang="zh-CN" altLang="en-US" b="1" dirty="0" smtClean="0">
                <a:latin typeface="微软雅黑" pitchFamily="34" charset="-122"/>
                <a:ea typeface="微软雅黑" pitchFamily="34" charset="-122"/>
              </a:rPr>
              <a:t>特征。</a:t>
            </a:r>
            <a:endParaRPr lang="en-US" altLang="zh-CN"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微信既是社交媒体，但也具有和支付宝类似的功能属性。</a:t>
            </a:r>
            <a:endParaRPr lang="en-US" altLang="zh-CN" b="1" dirty="0" smtClean="0">
              <a:latin typeface="微软雅黑" pitchFamily="34" charset="-122"/>
              <a:ea typeface="微软雅黑" pitchFamily="34" charset="-122"/>
            </a:endParaRPr>
          </a:p>
          <a:p>
            <a:pPr marL="285750" indent="-28575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微</a:t>
            </a:r>
            <a:r>
              <a:rPr lang="zh-CN" altLang="en-US" sz="2000" b="1" dirty="0" smtClean="0">
                <a:latin typeface="微软雅黑" pitchFamily="34" charset="-122"/>
                <a:ea typeface="微软雅黑" pitchFamily="34" charset="-122"/>
              </a:rPr>
              <a:t>信本质上也是</a:t>
            </a:r>
            <a:r>
              <a:rPr lang="zh-CN" altLang="en-US" sz="2000" b="1" dirty="0">
                <a:latin typeface="微软雅黑" pitchFamily="34" charset="-122"/>
                <a:ea typeface="微软雅黑" pitchFamily="34" charset="-122"/>
              </a:rPr>
              <a:t>万维网的一种特定</a:t>
            </a:r>
            <a:r>
              <a:rPr lang="zh-CN" altLang="en-US" sz="2000" b="1" dirty="0" smtClean="0">
                <a:latin typeface="微软雅黑" pitchFamily="34" charset="-122"/>
                <a:ea typeface="微软雅黑" pitchFamily="34" charset="-122"/>
              </a:rPr>
              <a:t>应用。</a:t>
            </a:r>
            <a:endParaRPr lang="en-US" altLang="zh-CN" sz="2000"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依赖</a:t>
            </a:r>
            <a:r>
              <a:rPr lang="zh-CN" altLang="en-US" b="1" dirty="0">
                <a:latin typeface="微软雅黑" pitchFamily="34" charset="-122"/>
                <a:ea typeface="微软雅黑" pitchFamily="34" charset="-122"/>
              </a:rPr>
              <a:t>万维网的核心技术（如 </a:t>
            </a:r>
            <a:r>
              <a:rPr lang="en-US" altLang="zh-CN" b="1" dirty="0">
                <a:latin typeface="微软雅黑" pitchFamily="34" charset="-122"/>
                <a:ea typeface="微软雅黑" pitchFamily="34" charset="-122"/>
              </a:rPr>
              <a:t>HTTP</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HTML</a:t>
            </a:r>
            <a:r>
              <a:rPr lang="zh-CN" altLang="en-US" b="1" dirty="0">
                <a:latin typeface="微软雅黑" pitchFamily="34" charset="-122"/>
                <a:ea typeface="微软雅黑" pitchFamily="34" charset="-122"/>
              </a:rPr>
              <a:t>、浏览器）来运行</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用户</a:t>
            </a:r>
            <a:r>
              <a:rPr lang="zh-CN" altLang="en-US" b="1" dirty="0">
                <a:latin typeface="微软雅黑" pitchFamily="34" charset="-122"/>
                <a:ea typeface="微软雅黑" pitchFamily="34" charset="-122"/>
              </a:rPr>
              <a:t>通过互联网和万维网的有关协议来访问微信的内容</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所有</a:t>
            </a:r>
            <a:r>
              <a:rPr lang="zh-CN" altLang="en-US" b="1" dirty="0">
                <a:latin typeface="微软雅黑" pitchFamily="34" charset="-122"/>
                <a:ea typeface="微软雅黑" pitchFamily="34" charset="-122"/>
              </a:rPr>
              <a:t>微信公众号文章都有唯一的</a:t>
            </a:r>
            <a:r>
              <a:rPr lang="en-US" altLang="zh-CN" b="1" dirty="0">
                <a:latin typeface="微软雅黑" pitchFamily="34" charset="-122"/>
                <a:ea typeface="微软雅黑" pitchFamily="34" charset="-122"/>
              </a:rPr>
              <a:t>URL</a:t>
            </a:r>
            <a:r>
              <a:rPr lang="zh-CN" altLang="en-US" b="1" dirty="0" smtClean="0">
                <a:latin typeface="微软雅黑" pitchFamily="34" charset="-122"/>
                <a:ea typeface="微软雅黑" pitchFamily="34" charset="-122"/>
              </a:rPr>
              <a:t>，朋友</a:t>
            </a:r>
            <a:r>
              <a:rPr lang="zh-CN" altLang="en-US" b="1" dirty="0">
                <a:latin typeface="微软雅黑" pitchFamily="34" charset="-122"/>
                <a:ea typeface="微软雅黑" pitchFamily="34" charset="-122"/>
              </a:rPr>
              <a:t>圈分享的链接本质上也是使用</a:t>
            </a:r>
            <a:r>
              <a:rPr lang="en-US" altLang="zh-CN" b="1" dirty="0">
                <a:latin typeface="微软雅黑" pitchFamily="34" charset="-122"/>
                <a:ea typeface="微软雅黑" pitchFamily="34" charset="-122"/>
              </a:rPr>
              <a:t>URL</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微</a:t>
            </a:r>
            <a:r>
              <a:rPr lang="zh-CN" altLang="en-US" b="1" dirty="0" smtClean="0">
                <a:latin typeface="微软雅黑" pitchFamily="34" charset="-122"/>
                <a:ea typeface="微软雅黑" pitchFamily="34" charset="-122"/>
              </a:rPr>
              <a:t>信中</a:t>
            </a:r>
            <a:r>
              <a:rPr lang="en-US" altLang="zh-CN" b="1" dirty="0" smtClean="0">
                <a:latin typeface="微软雅黑" pitchFamily="34" charset="-122"/>
                <a:ea typeface="微软雅黑" pitchFamily="34" charset="-122"/>
              </a:rPr>
              <a:t>URL</a:t>
            </a:r>
            <a:r>
              <a:rPr lang="zh-CN" altLang="en-US" b="1" dirty="0" smtClean="0">
                <a:latin typeface="微软雅黑" pitchFamily="34" charset="-122"/>
                <a:ea typeface="微软雅黑" pitchFamily="34" charset="-122"/>
              </a:rPr>
              <a:t>相对隐蔽的原因主要出于</a:t>
            </a:r>
            <a:r>
              <a:rPr lang="zh-CN" altLang="en-US" b="1" dirty="0">
                <a:latin typeface="微软雅黑" pitchFamily="34" charset="-122"/>
                <a:ea typeface="微软雅黑" pitchFamily="34" charset="-122"/>
              </a:rPr>
              <a:t>用户体验和商业策略的考虑，</a:t>
            </a:r>
            <a:r>
              <a:rPr lang="zh-CN" altLang="en-US" b="1" dirty="0" smtClean="0">
                <a:latin typeface="微软雅黑" pitchFamily="34" charset="-122"/>
                <a:ea typeface="微软雅黑" pitchFamily="34" charset="-122"/>
              </a:rPr>
              <a:t>而非技术因素。</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6395712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p:cNvSpPr>
            <a:spLocks noChangeArrowheads="1"/>
          </p:cNvSpPr>
          <p:nvPr/>
        </p:nvSpPr>
        <p:spPr bwMode="auto">
          <a:xfrm>
            <a:off x="2629135" y="3313838"/>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9"/>
          <p:cNvSpPr>
            <a:spLocks noChangeArrowheads="1"/>
          </p:cNvSpPr>
          <p:nvPr/>
        </p:nvSpPr>
        <p:spPr bwMode="auto">
          <a:xfrm>
            <a:off x="2629135" y="28628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240434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9"/>
          <p:cNvSpPr>
            <a:spLocks noChangeArrowheads="1"/>
          </p:cNvSpPr>
          <p:nvPr/>
        </p:nvSpPr>
        <p:spPr bwMode="auto">
          <a:xfrm>
            <a:off x="2629135" y="194864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9"/>
          <p:cNvSpPr>
            <a:spLocks noChangeArrowheads="1"/>
          </p:cNvSpPr>
          <p:nvPr/>
        </p:nvSpPr>
        <p:spPr bwMode="auto">
          <a:xfrm>
            <a:off x="2629135" y="102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Rectangle 10"/>
          <p:cNvSpPr>
            <a:spLocks noChangeArrowheads="1"/>
          </p:cNvSpPr>
          <p:nvPr/>
        </p:nvSpPr>
        <p:spPr bwMode="auto">
          <a:xfrm>
            <a:off x="2629135" y="14900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Line 16"/>
          <p:cNvSpPr>
            <a:spLocks noChangeShapeType="1"/>
          </p:cNvSpPr>
          <p:nvPr/>
        </p:nvSpPr>
        <p:spPr bwMode="auto">
          <a:xfrm>
            <a:off x="3637198" y="954899"/>
            <a:ext cx="0" cy="3357124"/>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Rectangle 27"/>
          <p:cNvSpPr>
            <a:spLocks noChangeArrowheads="1"/>
          </p:cNvSpPr>
          <p:nvPr/>
        </p:nvSpPr>
        <p:spPr bwMode="auto">
          <a:xfrm>
            <a:off x="639730" y="102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1" name="Rectangle 29"/>
          <p:cNvSpPr>
            <a:spLocks noChangeArrowheads="1"/>
          </p:cNvSpPr>
          <p:nvPr/>
        </p:nvSpPr>
        <p:spPr bwMode="auto">
          <a:xfrm>
            <a:off x="648619" y="112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6.3</a:t>
            </a:r>
          </a:p>
          <a:p>
            <a:pPr eaLnBrk="0" hangingPunct="0"/>
            <a:r>
              <a:rPr lang="zh-CN" altLang="en-US" sz="2000" b="1" dirty="0">
                <a:solidFill>
                  <a:schemeClr val="bg1"/>
                </a:solidFill>
                <a:latin typeface="微软雅黑" pitchFamily="34" charset="-122"/>
                <a:ea typeface="微软雅黑" pitchFamily="34" charset="-122"/>
              </a:rPr>
              <a:t>电子邮件</a:t>
            </a:r>
            <a:endParaRPr lang="zh-CN" altLang="fr-FR" sz="2000" b="1" dirty="0">
              <a:solidFill>
                <a:schemeClr val="bg1"/>
              </a:solidFill>
              <a:latin typeface="微软雅黑" pitchFamily="34" charset="-122"/>
              <a:ea typeface="微软雅黑" pitchFamily="34" charset="-122"/>
            </a:endParaRPr>
          </a:p>
        </p:txBody>
      </p:sp>
      <p:sp>
        <p:nvSpPr>
          <p:cNvPr id="12" name="Rectangle 8"/>
          <p:cNvSpPr>
            <a:spLocks noChangeArrowheads="1"/>
          </p:cNvSpPr>
          <p:nvPr/>
        </p:nvSpPr>
        <p:spPr bwMode="auto">
          <a:xfrm>
            <a:off x="2700573" y="902036"/>
            <a:ext cx="5756006"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6.3.1                                           </a:t>
            </a:r>
            <a:r>
              <a:rPr lang="zh-CN" altLang="en-US" sz="2000" b="1" dirty="0" smtClean="0">
                <a:solidFill>
                  <a:schemeClr val="bg1"/>
                </a:solidFill>
                <a:latin typeface="微软雅黑" pitchFamily="34" charset="-122"/>
                <a:ea typeface="微软雅黑" pitchFamily="34" charset="-122"/>
              </a:rPr>
              <a:t>电子邮件</a:t>
            </a:r>
            <a:r>
              <a:rPr lang="zh-CN" altLang="en-US" sz="2000" b="1" dirty="0">
                <a:solidFill>
                  <a:schemeClr val="bg1"/>
                </a:solidFill>
                <a:latin typeface="微软雅黑" pitchFamily="34" charset="-122"/>
                <a:ea typeface="微软雅黑" pitchFamily="34" charset="-122"/>
              </a:rPr>
              <a:t>概述</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6.3.2                          </a:t>
            </a:r>
            <a:r>
              <a:rPr lang="zh-CN" altLang="en-US" sz="2000" b="1" dirty="0" smtClean="0">
                <a:solidFill>
                  <a:schemeClr val="bg1"/>
                </a:solidFill>
                <a:latin typeface="微软雅黑" pitchFamily="34" charset="-122"/>
                <a:ea typeface="微软雅黑" pitchFamily="34" charset="-122"/>
              </a:rPr>
              <a:t>简单邮件传送协议 </a:t>
            </a:r>
            <a:r>
              <a:rPr lang="en-US" altLang="zh-CN" sz="2000" b="1" dirty="0">
                <a:solidFill>
                  <a:schemeClr val="bg1"/>
                </a:solidFill>
                <a:latin typeface="微软雅黑" pitchFamily="34" charset="-122"/>
                <a:ea typeface="微软雅黑" pitchFamily="34" charset="-122"/>
              </a:rPr>
              <a:t>SMTP</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6.3.3                                 </a:t>
            </a:r>
            <a:r>
              <a:rPr lang="zh-CN" altLang="en-US" sz="2000" b="1" dirty="0" smtClean="0">
                <a:solidFill>
                  <a:schemeClr val="bg1"/>
                </a:solidFill>
                <a:latin typeface="微软雅黑" pitchFamily="34" charset="-122"/>
                <a:ea typeface="微软雅黑" pitchFamily="34" charset="-122"/>
              </a:rPr>
              <a:t>电子邮件</a:t>
            </a:r>
            <a:r>
              <a:rPr lang="zh-CN" altLang="en-US" sz="2000" b="1" dirty="0">
                <a:solidFill>
                  <a:schemeClr val="bg1"/>
                </a:solidFill>
                <a:latin typeface="微软雅黑" pitchFamily="34" charset="-122"/>
                <a:ea typeface="微软雅黑" pitchFamily="34" charset="-122"/>
              </a:rPr>
              <a:t>的信息格式</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6.3.4                   </a:t>
            </a:r>
            <a:r>
              <a:rPr lang="zh-CN" altLang="en-US" sz="2000" b="1" dirty="0" smtClean="0">
                <a:solidFill>
                  <a:schemeClr val="bg1"/>
                </a:solidFill>
                <a:latin typeface="微软雅黑" pitchFamily="34" charset="-122"/>
                <a:ea typeface="微软雅黑" pitchFamily="34" charset="-122"/>
              </a:rPr>
              <a:t>邮件</a:t>
            </a:r>
            <a:r>
              <a:rPr lang="zh-CN" altLang="en-US" sz="2000" b="1" dirty="0">
                <a:solidFill>
                  <a:schemeClr val="bg1"/>
                </a:solidFill>
                <a:latin typeface="微软雅黑" pitchFamily="34" charset="-122"/>
                <a:ea typeface="微软雅黑" pitchFamily="34" charset="-122"/>
              </a:rPr>
              <a:t>读取协议 </a:t>
            </a:r>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和 </a:t>
            </a:r>
            <a:r>
              <a:rPr lang="en-US" altLang="zh-CN" sz="2000" b="1" dirty="0">
                <a:solidFill>
                  <a:schemeClr val="bg1"/>
                </a:solidFill>
                <a:latin typeface="微软雅黑" pitchFamily="34" charset="-122"/>
                <a:ea typeface="微软雅黑" pitchFamily="34" charset="-122"/>
              </a:rPr>
              <a:t>IMAP</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6.3.5                              </a:t>
            </a:r>
            <a:r>
              <a:rPr lang="zh-CN" altLang="en-US" sz="2000" b="1" dirty="0" smtClean="0">
                <a:solidFill>
                  <a:schemeClr val="bg1"/>
                </a:solidFill>
                <a:latin typeface="微软雅黑" pitchFamily="34" charset="-122"/>
                <a:ea typeface="微软雅黑" pitchFamily="34" charset="-122"/>
              </a:rPr>
              <a:t>基于</a:t>
            </a:r>
            <a:r>
              <a:rPr lang="zh-CN" altLang="en-US" sz="2000" b="1" dirty="0">
                <a:solidFill>
                  <a:schemeClr val="bg1"/>
                </a:solidFill>
                <a:latin typeface="微软雅黑" pitchFamily="34" charset="-122"/>
                <a:ea typeface="微软雅黑" pitchFamily="34" charset="-122"/>
              </a:rPr>
              <a:t>万维网的电子邮件</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6.3.6                       </a:t>
            </a:r>
            <a:r>
              <a:rPr lang="zh-CN" altLang="en-US" sz="2000" b="1" dirty="0" smtClean="0">
                <a:solidFill>
                  <a:schemeClr val="bg1"/>
                </a:solidFill>
                <a:latin typeface="微软雅黑" pitchFamily="34" charset="-122"/>
                <a:ea typeface="微软雅黑" pitchFamily="34" charset="-122"/>
              </a:rPr>
              <a:t>通用</a:t>
            </a:r>
            <a:r>
              <a:rPr lang="zh-CN" altLang="en-US" sz="2000" b="1" dirty="0">
                <a:solidFill>
                  <a:schemeClr val="bg1"/>
                </a:solidFill>
                <a:latin typeface="微软雅黑" pitchFamily="34" charset="-122"/>
                <a:ea typeface="微软雅黑" pitchFamily="34" charset="-122"/>
              </a:rPr>
              <a:t>互联网邮件扩充 </a:t>
            </a:r>
            <a:r>
              <a:rPr lang="en-US" altLang="zh-CN" sz="2000" b="1" dirty="0">
                <a:solidFill>
                  <a:schemeClr val="bg1"/>
                </a:solidFill>
                <a:latin typeface="微软雅黑" pitchFamily="34" charset="-122"/>
                <a:ea typeface="微软雅黑" pitchFamily="34" charset="-122"/>
              </a:rPr>
              <a:t>MIME</a:t>
            </a:r>
          </a:p>
        </p:txBody>
      </p:sp>
    </p:spTree>
    <p:extLst>
      <p:ext uri="{BB962C8B-B14F-4D97-AF65-F5344CB8AC3E}">
        <p14:creationId xmlns:p14="http://schemas.microsoft.com/office/powerpoint/2010/main" val="27781331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095"/>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556340" y="567968"/>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电子邮件概述</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82683"/>
            <a:ext cx="8048776" cy="39395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电子邮件</a:t>
            </a:r>
            <a:r>
              <a:rPr lang="zh-CN" altLang="en-US"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(E-mail)</a:t>
            </a:r>
            <a:r>
              <a:rPr lang="zh-CN" altLang="en-US" sz="2000" b="1" dirty="0">
                <a:latin typeface="微软雅黑" pitchFamily="34" charset="-122"/>
                <a:ea typeface="微软雅黑" pitchFamily="34" charset="-122"/>
              </a:rPr>
              <a:t>：指使用电子设备交换的邮件及其方法</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把邮件发送到收件人使用的邮件服务器</a:t>
            </a:r>
            <a:r>
              <a:rPr lang="zh-CN" altLang="en-US" b="1" dirty="0" smtClean="0">
                <a:latin typeface="微软雅黑" pitchFamily="34" charset="-122"/>
                <a:ea typeface="微软雅黑" pitchFamily="34" charset="-122"/>
              </a:rPr>
              <a:t>，放</a:t>
            </a:r>
            <a:r>
              <a:rPr lang="zh-CN" altLang="en-US" b="1" dirty="0">
                <a:latin typeface="微软雅黑" pitchFamily="34" charset="-122"/>
                <a:ea typeface="微软雅黑" pitchFamily="34" charset="-122"/>
              </a:rPr>
              <a:t>在对应的收件人邮箱中，收件人可在自己方便</a:t>
            </a:r>
            <a:r>
              <a:rPr lang="zh-CN" altLang="en-US" b="1" dirty="0" smtClean="0">
                <a:latin typeface="微软雅黑" pitchFamily="34" charset="-122"/>
                <a:ea typeface="微软雅黑" pitchFamily="34" charset="-122"/>
              </a:rPr>
              <a:t>时再进行</a:t>
            </a:r>
            <a:r>
              <a:rPr lang="zh-CN" altLang="en-US" b="1" dirty="0">
                <a:latin typeface="微软雅黑" pitchFamily="34" charset="-122"/>
                <a:ea typeface="微软雅黑" pitchFamily="34" charset="-122"/>
              </a:rPr>
              <a:t>读取。</a:t>
            </a:r>
            <a:endParaRPr lang="en-US" altLang="zh-CN"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优点</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使用</a:t>
            </a:r>
            <a:r>
              <a:rPr lang="zh-CN" altLang="en-US" sz="2000" b="1" dirty="0" smtClean="0">
                <a:latin typeface="微软雅黑" pitchFamily="34" charset="-122"/>
                <a:ea typeface="微软雅黑" pitchFamily="34" charset="-122"/>
              </a:rPr>
              <a:t>方便，传递迅速，费用低廉，可以传送多种类型的信息（包括：文字</a:t>
            </a:r>
            <a:r>
              <a:rPr lang="zh-CN" altLang="en-US" sz="2000" b="1" dirty="0">
                <a:latin typeface="微软雅黑" pitchFamily="34" charset="-122"/>
                <a:ea typeface="微软雅黑" pitchFamily="34" charset="-122"/>
              </a:rPr>
              <a:t>信息</a:t>
            </a:r>
            <a:r>
              <a:rPr lang="zh-CN" altLang="en-US" sz="2000" b="1" dirty="0" smtClean="0">
                <a:latin typeface="微软雅黑" pitchFamily="34" charset="-122"/>
                <a:ea typeface="微软雅黑" pitchFamily="34" charset="-122"/>
              </a:rPr>
              <a:t>，声音</a:t>
            </a:r>
            <a:r>
              <a:rPr lang="zh-CN" altLang="en-US" sz="2000" b="1" dirty="0">
                <a:latin typeface="微软雅黑" pitchFamily="34" charset="-122"/>
                <a:ea typeface="微软雅黑" pitchFamily="34" charset="-122"/>
              </a:rPr>
              <a:t>和</a:t>
            </a:r>
            <a:r>
              <a:rPr lang="zh-CN" altLang="en-US" sz="2000" b="1" dirty="0" smtClean="0">
                <a:latin typeface="微软雅黑" pitchFamily="34" charset="-122"/>
                <a:ea typeface="微软雅黑" pitchFamily="34" charset="-122"/>
              </a:rPr>
              <a:t>图像等）。</a:t>
            </a:r>
            <a:endParaRPr lang="en-US" altLang="zh-CN" sz="2000" b="1" dirty="0" smtClean="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重要</a:t>
            </a:r>
            <a:r>
              <a:rPr lang="zh-CN" altLang="en-US" sz="2000" b="1" dirty="0" smtClean="0">
                <a:solidFill>
                  <a:srgbClr val="C00000"/>
                </a:solidFill>
                <a:latin typeface="微软雅黑" pitchFamily="34" charset="-122"/>
                <a:ea typeface="微软雅黑" pitchFamily="34" charset="-122"/>
              </a:rPr>
              <a:t>标准：</a:t>
            </a:r>
            <a:endParaRPr lang="en-US" altLang="zh-CN" sz="2000" b="1" dirty="0" smtClean="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简单</a:t>
            </a:r>
            <a:r>
              <a:rPr lang="zh-CN" altLang="en-US" b="1" dirty="0" smtClean="0">
                <a:latin typeface="微软雅黑" pitchFamily="34" charset="-122"/>
                <a:ea typeface="微软雅黑" pitchFamily="34" charset="-122"/>
              </a:rPr>
              <a:t>邮件传送协议</a:t>
            </a:r>
            <a:r>
              <a:rPr lang="zh-CN" altLang="en-US" b="1" dirty="0">
                <a:latin typeface="微软雅黑" pitchFamily="34" charset="-122"/>
                <a:ea typeface="微软雅黑" pitchFamily="34" charset="-122"/>
              </a:rPr>
              <a:t>：</a:t>
            </a:r>
            <a:r>
              <a:rPr lang="en-US" altLang="zh-CN" b="1" dirty="0" smtClean="0">
                <a:latin typeface="微软雅黑" pitchFamily="34" charset="-122"/>
                <a:ea typeface="微软雅黑" pitchFamily="34" charset="-122"/>
              </a:rPr>
              <a:t>SMTP </a:t>
            </a:r>
            <a:endParaRPr lang="en-US" altLang="zh-CN"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互联网文本报文格式</a:t>
            </a:r>
          </a:p>
          <a:p>
            <a:pPr marL="631825" lvl="1" indent="-34290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通用互联网邮件扩充 </a:t>
            </a:r>
            <a:r>
              <a:rPr lang="en-US" altLang="zh-CN" b="1" dirty="0">
                <a:latin typeface="微软雅黑" pitchFamily="34" charset="-122"/>
                <a:ea typeface="微软雅黑" pitchFamily="34" charset="-122"/>
              </a:rPr>
              <a:t>MIME</a:t>
            </a:r>
          </a:p>
          <a:p>
            <a:pPr marL="631825" lvl="1" indent="-34290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邮件读取协议：</a:t>
            </a:r>
            <a:r>
              <a:rPr lang="en-US" altLang="zh-CN" b="1" dirty="0">
                <a:latin typeface="微软雅黑" pitchFamily="34" charset="-122"/>
                <a:ea typeface="微软雅黑" pitchFamily="34" charset="-122"/>
              </a:rPr>
              <a:t>POP3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IMAP</a:t>
            </a:r>
            <a:endParaRPr lang="zh-CN" altLang="en-US" b="1" dirty="0">
              <a:latin typeface="微软雅黑" pitchFamily="34" charset="-122"/>
              <a:ea typeface="微软雅黑" pitchFamily="34" charset="-122"/>
            </a:endParaRPr>
          </a:p>
        </p:txBody>
      </p:sp>
      <p:sp>
        <p:nvSpPr>
          <p:cNvPr id="5"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custDataLst>
      <p:tags r:id="rId1"/>
    </p:custDataLst>
    <p:extLst>
      <p:ext uri="{BB962C8B-B14F-4D97-AF65-F5344CB8AC3E}">
        <p14:creationId xmlns:p14="http://schemas.microsoft.com/office/powerpoint/2010/main" val="13753014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3" end="3"/>
                                            </p:txEl>
                                          </p:spTgt>
                                        </p:tgtEl>
                                        <p:attrNameLst>
                                          <p:attrName>style.visibility</p:attrName>
                                        </p:attrNameLst>
                                      </p:cBhvr>
                                      <p:to>
                                        <p:strVal val="visible"/>
                                      </p:to>
                                    </p:set>
                                    <p:animEffect transition="in" filter="fade">
                                      <p:cBhvr>
                                        <p:cTn id="12" dur="500"/>
                                        <p:tgtEl>
                                          <p:spTgt spid="4">
                                            <p:txEl>
                                              <p:pRg st="3" end="3"/>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animEffect transition="in" filter="fade">
                                      <p:cBhvr>
                                        <p:cTn id="15" dur="500"/>
                                        <p:tgtEl>
                                          <p:spTgt spid="4">
                                            <p:txEl>
                                              <p:pRg st="4" end="4"/>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4">
                                            <p:txEl>
                                              <p:pRg st="5" end="5"/>
                                            </p:txEl>
                                          </p:spTgt>
                                        </p:tgtEl>
                                        <p:attrNameLst>
                                          <p:attrName>style.visibility</p:attrName>
                                        </p:attrNameLst>
                                      </p:cBhvr>
                                      <p:to>
                                        <p:strVal val="visible"/>
                                      </p:to>
                                    </p:set>
                                    <p:animEffect transition="in" filter="fade">
                                      <p:cBhvr>
                                        <p:cTn id="18" dur="500"/>
                                        <p:tgtEl>
                                          <p:spTgt spid="4">
                                            <p:txEl>
                                              <p:pRg st="5" end="5"/>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4">
                                            <p:txEl>
                                              <p:pRg st="6" end="6"/>
                                            </p:txEl>
                                          </p:spTgt>
                                        </p:tgtEl>
                                        <p:attrNameLst>
                                          <p:attrName>style.visibility</p:attrName>
                                        </p:attrNameLst>
                                      </p:cBhvr>
                                      <p:to>
                                        <p:strVal val="visible"/>
                                      </p:to>
                                    </p:set>
                                    <p:animEffect transition="in" filter="fade">
                                      <p:cBhvr>
                                        <p:cTn id="21" dur="500"/>
                                        <p:tgtEl>
                                          <p:spTgt spid="4">
                                            <p:txEl>
                                              <p:pRg st="6" end="6"/>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4">
                                            <p:txEl>
                                              <p:pRg st="7" end="7"/>
                                            </p:txEl>
                                          </p:spTgt>
                                        </p:tgtEl>
                                        <p:attrNameLst>
                                          <p:attrName>style.visibility</p:attrName>
                                        </p:attrNameLst>
                                      </p:cBhvr>
                                      <p:to>
                                        <p:strVal val="visible"/>
                                      </p:to>
                                    </p:set>
                                    <p:animEffect transition="in" filter="fade">
                                      <p:cBhvr>
                                        <p:cTn id="24" dur="5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437177" y="574020"/>
            <a:ext cx="4288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电子邮件系统的</a:t>
            </a:r>
            <a:r>
              <a:rPr lang="zh-CN" altLang="en-US" sz="2000" b="1" dirty="0" smtClean="0">
                <a:solidFill>
                  <a:schemeClr val="bg1"/>
                </a:solidFill>
                <a:latin typeface="微软雅黑" pitchFamily="34" charset="-122"/>
                <a:ea typeface="微软雅黑" pitchFamily="34" charset="-122"/>
              </a:rPr>
              <a:t>组成：三个主要构件</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372" name="Rectangle 386"/>
          <p:cNvSpPr>
            <a:spLocks noChangeArrowheads="1"/>
          </p:cNvSpPr>
          <p:nvPr/>
        </p:nvSpPr>
        <p:spPr bwMode="auto">
          <a:xfrm>
            <a:off x="3019580" y="2138386"/>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3" name="Rectangle 387"/>
          <p:cNvSpPr>
            <a:spLocks noChangeArrowheads="1"/>
          </p:cNvSpPr>
          <p:nvPr/>
        </p:nvSpPr>
        <p:spPr bwMode="auto">
          <a:xfrm>
            <a:off x="1657456" y="2138386"/>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4" name="Line 388"/>
          <p:cNvSpPr>
            <a:spLocks noChangeShapeType="1"/>
          </p:cNvSpPr>
          <p:nvPr/>
        </p:nvSpPr>
        <p:spPr bwMode="auto">
          <a:xfrm>
            <a:off x="2134011" y="2481158"/>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77" name="Text Box 391"/>
          <p:cNvSpPr txBox="1">
            <a:spLocks noChangeArrowheads="1"/>
          </p:cNvSpPr>
          <p:nvPr/>
        </p:nvSpPr>
        <p:spPr bwMode="auto">
          <a:xfrm>
            <a:off x="2394683" y="17942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408816" y="250746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83" name="Oval 397"/>
          <p:cNvSpPr>
            <a:spLocks noChangeArrowheads="1"/>
          </p:cNvSpPr>
          <p:nvPr/>
        </p:nvSpPr>
        <p:spPr bwMode="auto">
          <a:xfrm>
            <a:off x="1713742" y="2202272"/>
            <a:ext cx="566615"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391" name="Oval 405"/>
          <p:cNvSpPr>
            <a:spLocks noChangeArrowheads="1"/>
          </p:cNvSpPr>
          <p:nvPr/>
        </p:nvSpPr>
        <p:spPr bwMode="auto">
          <a:xfrm>
            <a:off x="3077118" y="2202272"/>
            <a:ext cx="566615" cy="556545"/>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392" name="Oval 406"/>
          <p:cNvSpPr>
            <a:spLocks noChangeArrowheads="1"/>
          </p:cNvSpPr>
          <p:nvPr/>
        </p:nvSpPr>
        <p:spPr bwMode="auto">
          <a:xfrm>
            <a:off x="3077118" y="2815331"/>
            <a:ext cx="566615"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396" name="Text Box 399"/>
          <p:cNvSpPr txBox="1">
            <a:spLocks noChangeArrowheads="1"/>
          </p:cNvSpPr>
          <p:nvPr/>
        </p:nvSpPr>
        <p:spPr bwMode="auto">
          <a:xfrm>
            <a:off x="729032" y="1770040"/>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发件人</a:t>
            </a:r>
          </a:p>
        </p:txBody>
      </p:sp>
      <p:graphicFrame>
        <p:nvGraphicFramePr>
          <p:cNvPr id="412" name="对象 411"/>
          <p:cNvGraphicFramePr>
            <a:graphicFrameLocks noChangeAspect="1"/>
          </p:cNvGraphicFramePr>
          <p:nvPr>
            <p:extLst/>
          </p:nvPr>
        </p:nvGraphicFramePr>
        <p:xfrm>
          <a:off x="875180" y="2178372"/>
          <a:ext cx="546759" cy="666388"/>
        </p:xfrm>
        <a:graphic>
          <a:graphicData uri="http://schemas.openxmlformats.org/presentationml/2006/ole">
            <mc:AlternateContent xmlns:mc="http://schemas.openxmlformats.org/markup-compatibility/2006">
              <mc:Choice xmlns:v="urn:schemas-microsoft-com:vml" Requires="v">
                <p:oleObj spid="_x0000_s9264" name="Visio" r:id="rId4" imgW="3561172" imgH="4347469" progId="">
                  <p:embed/>
                </p:oleObj>
              </mc:Choice>
              <mc:Fallback>
                <p:oleObj name="Visio" r:id="rId4" imgW="3561172" imgH="4347469" progId="">
                  <p:embed/>
                  <p:pic>
                    <p:nvPicPr>
                      <p:cNvPr id="412" name="对象 411"/>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875180" y="2178372"/>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1" name="Rectangle 385"/>
          <p:cNvSpPr>
            <a:spLocks noChangeArrowheads="1"/>
          </p:cNvSpPr>
          <p:nvPr/>
        </p:nvSpPr>
        <p:spPr bwMode="auto">
          <a:xfrm>
            <a:off x="6835923" y="2146987"/>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9" name="Text Box 393"/>
          <p:cNvSpPr txBox="1">
            <a:spLocks noChangeArrowheads="1"/>
          </p:cNvSpPr>
          <p:nvPr/>
        </p:nvSpPr>
        <p:spPr bwMode="auto">
          <a:xfrm>
            <a:off x="6201910" y="18128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81" name="Text Box 395"/>
          <p:cNvSpPr txBox="1">
            <a:spLocks noChangeArrowheads="1"/>
          </p:cNvSpPr>
          <p:nvPr/>
        </p:nvSpPr>
        <p:spPr bwMode="auto">
          <a:xfrm>
            <a:off x="6217922" y="24856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84" name="Oval 398"/>
          <p:cNvSpPr>
            <a:spLocks noChangeArrowheads="1"/>
          </p:cNvSpPr>
          <p:nvPr/>
        </p:nvSpPr>
        <p:spPr bwMode="auto">
          <a:xfrm>
            <a:off x="6892210" y="2202272"/>
            <a:ext cx="566614"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387" name="Rectangle 401"/>
          <p:cNvSpPr>
            <a:spLocks noChangeArrowheads="1"/>
          </p:cNvSpPr>
          <p:nvPr/>
        </p:nvSpPr>
        <p:spPr bwMode="auto">
          <a:xfrm>
            <a:off x="5475048" y="2146987"/>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88" name="Oval 402"/>
          <p:cNvSpPr>
            <a:spLocks noChangeArrowheads="1"/>
          </p:cNvSpPr>
          <p:nvPr/>
        </p:nvSpPr>
        <p:spPr bwMode="auto">
          <a:xfrm>
            <a:off x="5531335" y="2815331"/>
            <a:ext cx="566614" cy="55654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389" name="Oval 403"/>
          <p:cNvSpPr>
            <a:spLocks noChangeArrowheads="1"/>
          </p:cNvSpPr>
          <p:nvPr/>
        </p:nvSpPr>
        <p:spPr bwMode="auto">
          <a:xfrm>
            <a:off x="5531335" y="2202272"/>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sp>
        <p:nvSpPr>
          <p:cNvPr id="394" name="Line 408"/>
          <p:cNvSpPr>
            <a:spLocks noChangeShapeType="1"/>
          </p:cNvSpPr>
          <p:nvPr/>
        </p:nvSpPr>
        <p:spPr bwMode="auto">
          <a:xfrm flipV="1">
            <a:off x="6097949" y="2481158"/>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414" name="对象 413"/>
          <p:cNvGraphicFramePr>
            <a:graphicFrameLocks noChangeAspect="1"/>
          </p:cNvGraphicFramePr>
          <p:nvPr>
            <p:extLst/>
          </p:nvPr>
        </p:nvGraphicFramePr>
        <p:xfrm>
          <a:off x="7744964" y="2178372"/>
          <a:ext cx="551626" cy="666388"/>
        </p:xfrm>
        <a:graphic>
          <a:graphicData uri="http://schemas.openxmlformats.org/presentationml/2006/ole">
            <mc:AlternateContent xmlns:mc="http://schemas.openxmlformats.org/markup-compatibility/2006">
              <mc:Choice xmlns:v="urn:schemas-microsoft-com:vml" Requires="v">
                <p:oleObj spid="_x0000_s9265" name="Visio" r:id="rId6" imgW="3561172" imgH="4347469" progId="">
                  <p:embed/>
                </p:oleObj>
              </mc:Choice>
              <mc:Fallback>
                <p:oleObj name="Visio" r:id="rId6" imgW="3561172" imgH="4347469" progId="">
                  <p:embed/>
                  <p:pic>
                    <p:nvPicPr>
                      <p:cNvPr id="414" name="对象 413"/>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744964" y="2178372"/>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815300" y="1770040"/>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收件人</a:t>
            </a:r>
          </a:p>
        </p:txBody>
      </p:sp>
      <p:sp>
        <p:nvSpPr>
          <p:cNvPr id="378" name="Text Box 392"/>
          <p:cNvSpPr txBox="1">
            <a:spLocks noChangeArrowheads="1"/>
          </p:cNvSpPr>
          <p:nvPr/>
        </p:nvSpPr>
        <p:spPr bwMode="auto">
          <a:xfrm>
            <a:off x="4143646" y="281410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a:t>
            </a:r>
            <a:r>
              <a:rPr kumimoji="1" lang="zh-CN" altLang="en-US" sz="1200" b="1" dirty="0" smtClean="0">
                <a:solidFill>
                  <a:srgbClr val="0000FF"/>
                </a:solidFill>
                <a:latin typeface="微软雅黑" pitchFamily="34" charset="-122"/>
                <a:ea typeface="微软雅黑" pitchFamily="34" charset="-122"/>
              </a:rPr>
              <a:t>邮件</a:t>
            </a:r>
            <a:endParaRPr kumimoji="1" lang="en-US" altLang="zh-CN" sz="1200" b="1" dirty="0">
              <a:solidFill>
                <a:srgbClr val="C00000"/>
              </a:solidFill>
              <a:latin typeface="微软雅黑" pitchFamily="34" charset="-122"/>
              <a:ea typeface="微软雅黑" pitchFamily="34" charset="-122"/>
            </a:endParaRPr>
          </a:p>
        </p:txBody>
      </p:sp>
      <p:sp>
        <p:nvSpPr>
          <p:cNvPr id="390" name="Line 404"/>
          <p:cNvSpPr>
            <a:spLocks noChangeShapeType="1"/>
          </p:cNvSpPr>
          <p:nvPr/>
        </p:nvSpPr>
        <p:spPr bwMode="auto">
          <a:xfrm flipV="1">
            <a:off x="3628236" y="3094217"/>
            <a:ext cx="1928643"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395" name="Text Box 409"/>
          <p:cNvSpPr txBox="1">
            <a:spLocks noChangeArrowheads="1"/>
          </p:cNvSpPr>
          <p:nvPr/>
        </p:nvSpPr>
        <p:spPr bwMode="auto">
          <a:xfrm>
            <a:off x="4289492" y="3111416"/>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endParaRPr kumimoji="1" lang="en-US" altLang="zh-CN" sz="1200" b="1" dirty="0" smtClean="0">
              <a:solidFill>
                <a:srgbClr val="0000FF"/>
              </a:solidFill>
              <a:latin typeface="微软雅黑" pitchFamily="34" charset="-122"/>
              <a:ea typeface="微软雅黑" pitchFamily="34" charset="-122"/>
            </a:endParaRPr>
          </a:p>
          <a:p>
            <a:pPr algn="ctr" eaLnBrk="1" hangingPunct="1"/>
            <a:r>
              <a:rPr kumimoji="1" lang="zh-CN" altLang="en-US" sz="1200" b="1" dirty="0" smtClean="0">
                <a:solidFill>
                  <a:srgbClr val="0000FF"/>
                </a:solidFill>
                <a:latin typeface="微软雅黑" pitchFamily="34" charset="-122"/>
                <a:ea typeface="微软雅黑" pitchFamily="34" charset="-122"/>
              </a:rPr>
              <a:t>连接</a:t>
            </a:r>
            <a:endParaRPr kumimoji="1" lang="zh-CN" altLang="en-US" sz="1200" b="1" dirty="0">
              <a:solidFill>
                <a:srgbClr val="0000FF"/>
              </a:solidFill>
              <a:latin typeface="微软雅黑" pitchFamily="34" charset="-122"/>
              <a:ea typeface="微软雅黑" pitchFamily="34" charset="-122"/>
            </a:endParaRPr>
          </a:p>
        </p:txBody>
      </p:sp>
      <p:sp>
        <p:nvSpPr>
          <p:cNvPr id="419" name="圆角矩形 418"/>
          <p:cNvSpPr/>
          <p:nvPr/>
        </p:nvSpPr>
        <p:spPr>
          <a:xfrm>
            <a:off x="1484031" y="1568391"/>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9" name="矩形 428"/>
          <p:cNvSpPr/>
          <p:nvPr/>
        </p:nvSpPr>
        <p:spPr>
          <a:xfrm>
            <a:off x="1096460" y="1078183"/>
            <a:ext cx="7188224" cy="477054"/>
          </a:xfrm>
          <a:prstGeom prst="rect">
            <a:avLst/>
          </a:prstGeom>
        </p:spPr>
        <p:txBody>
          <a:bodyPr wrap="square" anchor="ctr">
            <a:spAutoFit/>
          </a:bodyPr>
          <a:lstStyle/>
          <a:p>
            <a:pPr algn="ctr">
              <a:lnSpc>
                <a:spcPts val="3000"/>
              </a:lnSpc>
            </a:pPr>
            <a:r>
              <a:rPr lang="zh-CN" altLang="en-US" sz="2000" b="1" dirty="0" smtClean="0">
                <a:solidFill>
                  <a:srgbClr val="C00000"/>
                </a:solidFill>
                <a:latin typeface="微软雅黑" pitchFamily="34" charset="-122"/>
                <a:ea typeface="微软雅黑" pitchFamily="34" charset="-122"/>
              </a:rPr>
              <a:t>用户代理</a:t>
            </a:r>
            <a:r>
              <a:rPr lang="zh-CN" altLang="en-US" sz="2000" b="1" dirty="0">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邮件</a:t>
            </a:r>
            <a:r>
              <a:rPr lang="zh-CN" altLang="en-US" sz="2000" b="1" dirty="0">
                <a:solidFill>
                  <a:srgbClr val="C00000"/>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，以及</a:t>
            </a:r>
            <a:r>
              <a:rPr lang="zh-CN" altLang="en-US" sz="2000" b="1" dirty="0" smtClean="0">
                <a:solidFill>
                  <a:srgbClr val="C00000"/>
                </a:solidFill>
                <a:latin typeface="微软雅黑" pitchFamily="34" charset="-122"/>
                <a:ea typeface="微软雅黑" pitchFamily="34" charset="-122"/>
              </a:rPr>
              <a:t>邮件发送和读取协议</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grpSp>
        <p:nvGrpSpPr>
          <p:cNvPr id="3" name="组合 2"/>
          <p:cNvGrpSpPr/>
          <p:nvPr/>
        </p:nvGrpSpPr>
        <p:grpSpPr>
          <a:xfrm>
            <a:off x="1621814" y="1666614"/>
            <a:ext cx="5935195" cy="1424487"/>
            <a:chOff x="1621814" y="1666614"/>
            <a:chExt cx="5935195" cy="1424487"/>
          </a:xfrm>
        </p:grpSpPr>
        <p:grpSp>
          <p:nvGrpSpPr>
            <p:cNvPr id="420" name="组合 419"/>
            <p:cNvGrpSpPr/>
            <p:nvPr/>
          </p:nvGrpSpPr>
          <p:grpSpPr>
            <a:xfrm>
              <a:off x="1621814" y="1666614"/>
              <a:ext cx="5935195" cy="799911"/>
              <a:chOff x="1509292" y="1797262"/>
              <a:chExt cx="5935195" cy="799911"/>
            </a:xfrm>
          </p:grpSpPr>
          <p:sp>
            <p:nvSpPr>
              <p:cNvPr id="375" name="Text Box 389"/>
              <p:cNvSpPr txBox="1">
                <a:spLocks noChangeArrowheads="1"/>
              </p:cNvSpPr>
              <p:nvPr/>
            </p:nvSpPr>
            <p:spPr bwMode="auto">
              <a:xfrm>
                <a:off x="2239475" y="231248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sp>
            <p:nvSpPr>
              <p:cNvPr id="382" name="Text Box 396"/>
              <p:cNvSpPr txBox="1">
                <a:spLocks noChangeArrowheads="1"/>
              </p:cNvSpPr>
              <p:nvPr/>
            </p:nvSpPr>
            <p:spPr bwMode="auto">
              <a:xfrm>
                <a:off x="2805314"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385" name="Text Box 399"/>
              <p:cNvSpPr txBox="1">
                <a:spLocks noChangeArrowheads="1"/>
              </p:cNvSpPr>
              <p:nvPr/>
            </p:nvSpPr>
            <p:spPr bwMode="auto">
              <a:xfrm>
                <a:off x="1509292"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发件人</a:t>
                </a:r>
                <a:endParaRPr kumimoji="1" lang="zh-CN" altLang="en-US"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76" name="Text Box 390"/>
              <p:cNvSpPr txBox="1">
                <a:spLocks noChangeArrowheads="1"/>
              </p:cNvSpPr>
              <p:nvPr/>
            </p:nvSpPr>
            <p:spPr bwMode="auto">
              <a:xfrm>
                <a:off x="6055753" y="2311432"/>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sp>
            <p:nvSpPr>
              <p:cNvPr id="386" name="Text Box 400"/>
              <p:cNvSpPr txBox="1">
                <a:spLocks noChangeArrowheads="1"/>
              </p:cNvSpPr>
              <p:nvPr/>
            </p:nvSpPr>
            <p:spPr bwMode="auto">
              <a:xfrm>
                <a:off x="5248753"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393" name="Text Box 407"/>
              <p:cNvSpPr txBox="1">
                <a:spLocks noChangeArrowheads="1"/>
              </p:cNvSpPr>
              <p:nvPr/>
            </p:nvSpPr>
            <p:spPr bwMode="auto">
              <a:xfrm>
                <a:off x="6695564"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收件人</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用户</a:t>
                </a:r>
                <a:r>
                  <a:rPr kumimoji="1" lang="zh-CN" altLang="en-US" sz="1100" b="1" dirty="0">
                    <a:solidFill>
                      <a:srgbClr val="C00000"/>
                    </a:solidFill>
                    <a:latin typeface="微软雅黑" pitchFamily="34" charset="-122"/>
                    <a:ea typeface="微软雅黑" pitchFamily="34" charset="-122"/>
                  </a:rPr>
                  <a:t>代理</a:t>
                </a:r>
              </a:p>
            </p:txBody>
          </p:sp>
        </p:grpSp>
        <p:sp>
          <p:nvSpPr>
            <p:cNvPr id="41" name="Text Box 392"/>
            <p:cNvSpPr txBox="1">
              <a:spLocks noChangeArrowheads="1"/>
            </p:cNvSpPr>
            <p:nvPr/>
          </p:nvSpPr>
          <p:spPr bwMode="auto">
            <a:xfrm>
              <a:off x="4736682" y="2814102"/>
              <a:ext cx="6799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solidFill>
                    <a:srgbClr val="0000FF"/>
                  </a:solidFill>
                  <a:latin typeface="微软雅黑" pitchFamily="34" charset="-122"/>
                  <a:ea typeface="微软雅黑" pitchFamily="34" charset="-122"/>
                </a:rPr>
                <a:t> </a:t>
              </a:r>
              <a:r>
                <a:rPr kumimoji="1" lang="en-US" altLang="zh-CN" sz="1200" b="1" dirty="0">
                  <a:solidFill>
                    <a:srgbClr val="C00000"/>
                  </a:solidFill>
                  <a:latin typeface="微软雅黑" pitchFamily="34" charset="-122"/>
                  <a:ea typeface="微软雅黑" pitchFamily="34" charset="-122"/>
                </a:rPr>
                <a:t>SMTP</a:t>
              </a:r>
            </a:p>
          </p:txBody>
        </p:sp>
      </p:grpSp>
      <p:sp>
        <p:nvSpPr>
          <p:cNvPr id="42"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17829586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885023" y="574020"/>
            <a:ext cx="3392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用户代理 </a:t>
            </a:r>
            <a:r>
              <a:rPr lang="en-US" altLang="zh-CN" sz="2000" b="1" dirty="0">
                <a:solidFill>
                  <a:schemeClr val="bg1"/>
                </a:solidFill>
                <a:latin typeface="微软雅黑" pitchFamily="34" charset="-122"/>
                <a:ea typeface="微软雅黑" pitchFamily="34" charset="-122"/>
              </a:rPr>
              <a:t>UA (User Agent)</a:t>
            </a:r>
          </a:p>
        </p:txBody>
      </p:sp>
      <p:sp>
        <p:nvSpPr>
          <p:cNvPr id="371" name="Rectangle 385"/>
          <p:cNvSpPr>
            <a:spLocks noChangeArrowheads="1"/>
          </p:cNvSpPr>
          <p:nvPr/>
        </p:nvSpPr>
        <p:spPr bwMode="auto">
          <a:xfrm>
            <a:off x="6814430" y="1436259"/>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29754"/>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29754"/>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88998"/>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62613"/>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61820"/>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69452"/>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87541"/>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8351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088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69237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78072"/>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78072"/>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36259"/>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41739"/>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78072"/>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52665"/>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78072"/>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41739"/>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4"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88998"/>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12405"/>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endParaRPr kumimoji="1" lang="en-US" altLang="zh-CN" sz="1200" b="1" dirty="0" smtClean="0">
              <a:solidFill>
                <a:srgbClr val="0000FF"/>
              </a:solidFill>
              <a:latin typeface="微软雅黑" pitchFamily="34" charset="-122"/>
              <a:ea typeface="微软雅黑" pitchFamily="34" charset="-122"/>
            </a:endParaRPr>
          </a:p>
          <a:p>
            <a:pPr algn="ctr" eaLnBrk="1" hangingPunct="1"/>
            <a:r>
              <a:rPr kumimoji="1" lang="zh-CN" altLang="en-US" sz="1200" b="1" dirty="0" smtClean="0">
                <a:solidFill>
                  <a:srgbClr val="0000FF"/>
                </a:solidFill>
                <a:latin typeface="微软雅黑" pitchFamily="34" charset="-122"/>
                <a:ea typeface="微软雅黑" pitchFamily="34" charset="-122"/>
              </a:rPr>
              <a:t>连接</a:t>
            </a:r>
            <a:endParaRPr kumimoji="1" lang="zh-CN" altLang="en-US" sz="1200" b="1" dirty="0">
              <a:solidFill>
                <a:srgbClr val="0000FF"/>
              </a:solidFill>
              <a:latin typeface="微软雅黑" pitchFamily="34" charset="-122"/>
              <a:ea typeface="微软雅黑" pitchFamily="34" charset="-122"/>
            </a:endParaRPr>
          </a:p>
        </p:txBody>
      </p:sp>
      <p:sp>
        <p:nvSpPr>
          <p:cNvPr id="396" name="Text Box 399"/>
          <p:cNvSpPr txBox="1">
            <a:spLocks noChangeArrowheads="1"/>
          </p:cNvSpPr>
          <p:nvPr/>
        </p:nvSpPr>
        <p:spPr bwMode="auto">
          <a:xfrm>
            <a:off x="1096459" y="10729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59996"/>
          <a:ext cx="440021" cy="504000"/>
        </p:xfrm>
        <a:graphic>
          <a:graphicData uri="http://schemas.openxmlformats.org/presentationml/2006/ole">
            <mc:AlternateContent xmlns:mc="http://schemas.openxmlformats.org/markup-compatibility/2006">
              <mc:Choice xmlns:v="urn:schemas-microsoft-com:vml" Requires="v">
                <p:oleObj spid="_x0000_s10288" name="Visio" r:id="rId4" imgW="3561172" imgH="4347469" progId="">
                  <p:embed/>
                </p:oleObj>
              </mc:Choice>
              <mc:Fallback>
                <p:oleObj name="Visio" r:id="rId4" imgW="3561172" imgH="4347469" progId="">
                  <p:embed/>
                  <p:pic>
                    <p:nvPicPr>
                      <p:cNvPr id="412" name="对象 411"/>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1234937" y="1459996"/>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59996"/>
          <a:ext cx="443938" cy="504000"/>
        </p:xfrm>
        <a:graphic>
          <a:graphicData uri="http://schemas.openxmlformats.org/presentationml/2006/ole">
            <mc:AlternateContent xmlns:mc="http://schemas.openxmlformats.org/markup-compatibility/2006">
              <mc:Choice xmlns:v="urn:schemas-microsoft-com:vml" Requires="v">
                <p:oleObj spid="_x0000_s10289" name="Visio" r:id="rId6" imgW="3561172" imgH="4347469" progId="">
                  <p:embed/>
                </p:oleObj>
              </mc:Choice>
              <mc:Fallback>
                <p:oleObj name="Visio" r:id="rId6" imgW="3561172" imgH="4347469" progId="">
                  <p:embed/>
                  <p:pic>
                    <p:nvPicPr>
                      <p:cNvPr id="414" name="对象 413"/>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436052" y="1459996"/>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729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1096460" y="2624004"/>
            <a:ext cx="7188224" cy="861774"/>
          </a:xfrm>
          <a:prstGeom prst="rect">
            <a:avLst/>
          </a:prstGeom>
        </p:spPr>
        <p:txBody>
          <a:bodyPr wrap="square">
            <a:spAutoFit/>
          </a:bodyPr>
          <a:lstStyle/>
          <a:p>
            <a:pPr>
              <a:lnSpc>
                <a:spcPts val="3000"/>
              </a:lnSpc>
            </a:pPr>
            <a:r>
              <a:rPr lang="zh-CN" altLang="en-US" b="1" dirty="0" smtClean="0">
                <a:latin typeface="微软雅黑" pitchFamily="34" charset="-122"/>
                <a:ea typeface="微软雅黑" pitchFamily="34" charset="-122"/>
              </a:rPr>
              <a:t>用户</a:t>
            </a:r>
            <a:r>
              <a:rPr lang="zh-CN" altLang="en-US" b="1" dirty="0">
                <a:latin typeface="微软雅黑" pitchFamily="34" charset="-122"/>
                <a:ea typeface="微软雅黑" pitchFamily="34" charset="-122"/>
              </a:rPr>
              <a:t>与电子邮件系统的</a:t>
            </a:r>
            <a:r>
              <a:rPr lang="zh-CN" altLang="en-US" b="1" dirty="0" smtClean="0">
                <a:latin typeface="微软雅黑" pitchFamily="34" charset="-122"/>
                <a:ea typeface="微软雅黑" pitchFamily="34" charset="-122"/>
              </a:rPr>
              <a:t>接口。</a:t>
            </a:r>
            <a:r>
              <a:rPr lang="zh-CN" altLang="en-US" b="1" dirty="0">
                <a:latin typeface="微软雅黑" pitchFamily="34" charset="-122"/>
                <a:ea typeface="微软雅黑" pitchFamily="34" charset="-122"/>
              </a:rPr>
              <a:t>又被称为</a:t>
            </a:r>
            <a:r>
              <a:rPr lang="zh-CN" altLang="en-US" b="1" dirty="0">
                <a:solidFill>
                  <a:srgbClr val="0000FF"/>
                </a:solidFill>
                <a:latin typeface="微软雅黑" pitchFamily="34" charset="-122"/>
                <a:ea typeface="微软雅黑" pitchFamily="34" charset="-122"/>
              </a:rPr>
              <a:t>电子邮件客户端软件。</a:t>
            </a:r>
          </a:p>
          <a:p>
            <a:pPr>
              <a:lnSpc>
                <a:spcPts val="3000"/>
              </a:lnSpc>
            </a:pPr>
            <a:r>
              <a:rPr lang="zh-CN" altLang="en-US" b="1" dirty="0" smtClean="0">
                <a:solidFill>
                  <a:srgbClr val="C00000"/>
                </a:solidFill>
                <a:latin typeface="微软雅黑" pitchFamily="34" charset="-122"/>
                <a:ea typeface="微软雅黑" pitchFamily="34" charset="-122"/>
              </a:rPr>
              <a:t>基本功能</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撰写、显示、</a:t>
            </a:r>
            <a:r>
              <a:rPr lang="zh-CN" altLang="en-US" b="1" dirty="0" smtClean="0">
                <a:latin typeface="微软雅黑" pitchFamily="34" charset="-122"/>
                <a:ea typeface="微软雅黑" pitchFamily="34" charset="-122"/>
              </a:rPr>
              <a:t>处理、通信。</a:t>
            </a:r>
            <a:endParaRPr lang="en-US" altLang="zh-CN" b="1" dirty="0" smtClean="0">
              <a:latin typeface="微软雅黑" pitchFamily="34" charset="-122"/>
              <a:ea typeface="微软雅黑" pitchFamily="34" charset="-122"/>
            </a:endParaRPr>
          </a:p>
        </p:txBody>
      </p:sp>
      <p:sp>
        <p:nvSpPr>
          <p:cNvPr id="38"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13681118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7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3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animBg="1"/>
      <p:bldP spid="373"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977260" y="582898"/>
            <a:ext cx="3208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a:t>
            </a:r>
            <a:r>
              <a:rPr lang="zh-CN" altLang="en-US" sz="2000" b="1" dirty="0" smtClean="0">
                <a:solidFill>
                  <a:schemeClr val="bg1"/>
                </a:solidFill>
                <a:latin typeface="微软雅黑" pitchFamily="34" charset="-122"/>
                <a:ea typeface="微软雅黑" pitchFamily="34" charset="-122"/>
              </a:rPr>
              <a:t>服务器</a:t>
            </a:r>
            <a:r>
              <a:rPr lang="en-US" altLang="zh-CN" sz="2000" b="1" dirty="0" smtClean="0">
                <a:solidFill>
                  <a:schemeClr val="bg1"/>
                </a:solidFill>
                <a:latin typeface="微软雅黑" pitchFamily="34" charset="-122"/>
                <a:ea typeface="微软雅黑" pitchFamily="34" charset="-122"/>
              </a:rPr>
              <a:t> (Mail Server)</a:t>
            </a:r>
            <a:endParaRPr lang="en-US" altLang="zh-CN" sz="2000" b="1" dirty="0">
              <a:solidFill>
                <a:schemeClr val="bg1"/>
              </a:solidFill>
              <a:latin typeface="微软雅黑" pitchFamily="34" charset="-122"/>
              <a:ea typeface="微软雅黑"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1"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endParaRPr kumimoji="1" lang="en-US" altLang="zh-CN" sz="1200" b="1" dirty="0" smtClean="0">
              <a:solidFill>
                <a:srgbClr val="0000FF"/>
              </a:solidFill>
              <a:latin typeface="微软雅黑" pitchFamily="34" charset="-122"/>
              <a:ea typeface="微软雅黑" pitchFamily="34" charset="-122"/>
            </a:endParaRPr>
          </a:p>
          <a:p>
            <a:pPr algn="ctr" eaLnBrk="1" hangingPunct="1"/>
            <a:r>
              <a:rPr kumimoji="1" lang="zh-CN" altLang="en-US" sz="1200" b="1" dirty="0" smtClean="0">
                <a:solidFill>
                  <a:srgbClr val="0000FF"/>
                </a:solidFill>
                <a:latin typeface="微软雅黑" pitchFamily="34" charset="-122"/>
                <a:ea typeface="微软雅黑" pitchFamily="34" charset="-122"/>
              </a:rPr>
              <a:t>连接</a:t>
            </a:r>
            <a:endParaRPr kumimoji="1" lang="zh-CN" altLang="en-US" sz="1200" b="1" dirty="0">
              <a:solidFill>
                <a:srgbClr val="0000FF"/>
              </a:solidFill>
              <a:latin typeface="微软雅黑" pitchFamily="34" charset="-122"/>
              <a:ea typeface="微软雅黑" pitchFamily="34" charset="-122"/>
            </a:endParaRP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1312" name="Visio" r:id="rId4" imgW="3561172" imgH="4347469" progId="">
                  <p:embed/>
                </p:oleObj>
              </mc:Choice>
              <mc:Fallback>
                <p:oleObj name="Visio" r:id="rId4" imgW="3561172" imgH="4347469" progId="">
                  <p:embed/>
                  <p:pic>
                    <p:nvPicPr>
                      <p:cNvPr id="412" name="对象 411"/>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1313" name="Visio" r:id="rId6" imgW="3561172" imgH="4347469" progId="">
                  <p:embed/>
                </p:oleObj>
              </mc:Choice>
              <mc:Fallback>
                <p:oleObj name="Visio" r:id="rId6" imgW="3561172" imgH="4347469" progId="">
                  <p:embed/>
                  <p:pic>
                    <p:nvPicPr>
                      <p:cNvPr id="414" name="对象 413"/>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1019340" y="2586786"/>
            <a:ext cx="7353477" cy="1246495"/>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又被称为</a:t>
            </a:r>
            <a:r>
              <a:rPr lang="zh-CN" altLang="en-US" b="1" dirty="0">
                <a:solidFill>
                  <a:srgbClr val="0000FF"/>
                </a:solidFill>
                <a:latin typeface="微软雅黑" pitchFamily="34" charset="-122"/>
                <a:ea typeface="微软雅黑" pitchFamily="34" charset="-122"/>
              </a:rPr>
              <a:t>邮件传输代理。</a:t>
            </a:r>
            <a:endParaRPr lang="en-US" altLang="zh-CN" b="1" dirty="0">
              <a:solidFill>
                <a:srgbClr val="0000FF"/>
              </a:solidFill>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smtClean="0">
                <a:solidFill>
                  <a:srgbClr val="C00000"/>
                </a:solidFill>
                <a:latin typeface="微软雅黑" pitchFamily="34" charset="-122"/>
                <a:ea typeface="微软雅黑" pitchFamily="34" charset="-122"/>
              </a:rPr>
              <a:t>功能：</a:t>
            </a:r>
            <a:r>
              <a:rPr lang="zh-CN" altLang="en-US" b="1" dirty="0" smtClean="0">
                <a:latin typeface="微软雅黑" pitchFamily="34" charset="-122"/>
                <a:ea typeface="微软雅黑" pitchFamily="34" charset="-122"/>
              </a:rPr>
              <a:t>发送</a:t>
            </a:r>
            <a:r>
              <a:rPr lang="zh-CN" altLang="en-US" b="1" dirty="0">
                <a:latin typeface="微软雅黑" pitchFamily="34" charset="-122"/>
                <a:ea typeface="微软雅黑" pitchFamily="34" charset="-122"/>
              </a:rPr>
              <a:t>和接收邮件，同时还要向发信人报告邮件传送的</a:t>
            </a:r>
            <a:r>
              <a:rPr lang="zh-CN" altLang="en-US" b="1" dirty="0" smtClean="0">
                <a:latin typeface="微软雅黑" pitchFamily="34" charset="-122"/>
                <a:ea typeface="微软雅黑" pitchFamily="34" charset="-122"/>
              </a:rPr>
              <a:t>情况。</a:t>
            </a:r>
            <a:endParaRPr lang="zh-CN" altLang="en-US"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smtClean="0">
                <a:latin typeface="微软雅黑" pitchFamily="34" charset="-122"/>
                <a:ea typeface="微软雅黑" pitchFamily="34" charset="-122"/>
              </a:rPr>
              <a:t>按照</a:t>
            </a:r>
            <a:r>
              <a:rPr lang="zh-CN" altLang="en-US" b="1" dirty="0" smtClean="0">
                <a:solidFill>
                  <a:srgbClr val="CC00CC"/>
                </a:solidFill>
                <a:latin typeface="微软雅黑" pitchFamily="34" charset="-122"/>
                <a:ea typeface="微软雅黑" pitchFamily="34" charset="-122"/>
              </a:rPr>
              <a:t>客户服务器</a:t>
            </a:r>
            <a:r>
              <a:rPr lang="zh-CN" altLang="en-US" b="1" dirty="0">
                <a:latin typeface="微软雅黑" pitchFamily="34" charset="-122"/>
                <a:ea typeface="微软雅黑" pitchFamily="34" charset="-122"/>
              </a:rPr>
              <a:t>方式工作</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38"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4590471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7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3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animBg="1"/>
      <p:bldP spid="387"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邮件发送</a:t>
            </a:r>
            <a:r>
              <a:rPr lang="zh-CN" altLang="en-US" sz="2000" b="1" dirty="0">
                <a:solidFill>
                  <a:schemeClr val="bg1"/>
                </a:solidFill>
                <a:latin typeface="微软雅黑" pitchFamily="34" charset="-122"/>
                <a:ea typeface="微软雅黑" pitchFamily="34" charset="-122"/>
              </a:rPr>
              <a:t>和</a:t>
            </a:r>
            <a:r>
              <a:rPr lang="zh-CN" altLang="en-US" sz="2000" b="1" dirty="0" smtClean="0">
                <a:solidFill>
                  <a:schemeClr val="bg1"/>
                </a:solidFill>
                <a:latin typeface="微软雅黑" pitchFamily="34" charset="-122"/>
                <a:ea typeface="微软雅黑" pitchFamily="34" charset="-122"/>
              </a:rPr>
              <a:t>读取协议</a:t>
            </a:r>
            <a:endParaRPr lang="en-US" altLang="zh-CN" sz="2000" b="1" dirty="0">
              <a:solidFill>
                <a:schemeClr val="bg1"/>
              </a:solidFill>
              <a:latin typeface="微软雅黑" pitchFamily="34" charset="-122"/>
              <a:ea typeface="微软雅黑"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endParaRPr kumimoji="1" lang="en-US" altLang="zh-CN" sz="1200" b="1" dirty="0" smtClean="0">
              <a:solidFill>
                <a:srgbClr val="0000FF"/>
              </a:solidFill>
              <a:latin typeface="微软雅黑" pitchFamily="34" charset="-122"/>
              <a:ea typeface="微软雅黑" pitchFamily="34" charset="-122"/>
            </a:endParaRPr>
          </a:p>
          <a:p>
            <a:pPr algn="ctr" eaLnBrk="1" hangingPunct="1"/>
            <a:r>
              <a:rPr kumimoji="1" lang="zh-CN" altLang="en-US" sz="1200" b="1" dirty="0" smtClean="0">
                <a:solidFill>
                  <a:srgbClr val="0000FF"/>
                </a:solidFill>
                <a:latin typeface="微软雅黑" pitchFamily="34" charset="-122"/>
                <a:ea typeface="微软雅黑" pitchFamily="34" charset="-122"/>
              </a:rPr>
              <a:t>连接</a:t>
            </a:r>
            <a:endParaRPr kumimoji="1" lang="zh-CN" altLang="en-US" sz="1200" b="1" dirty="0">
              <a:solidFill>
                <a:srgbClr val="0000FF"/>
              </a:solidFill>
              <a:latin typeface="微软雅黑" pitchFamily="34" charset="-122"/>
              <a:ea typeface="微软雅黑" pitchFamily="34" charset="-122"/>
            </a:endParaRP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2336" name="Visio" r:id="rId4" imgW="3561172" imgH="4347469" progId="">
                  <p:embed/>
                </p:oleObj>
              </mc:Choice>
              <mc:Fallback>
                <p:oleObj name="Visio" r:id="rId4" imgW="3561172" imgH="4347469" progId="">
                  <p:embed/>
                  <p:pic>
                    <p:nvPicPr>
                      <p:cNvPr id="412" name="对象 411"/>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2337" name="Visio" r:id="rId6" imgW="3561172" imgH="4347469" progId="">
                  <p:embed/>
                </p:oleObj>
              </mc:Choice>
              <mc:Fallback>
                <p:oleObj name="Visio" r:id="rId6" imgW="3561172" imgH="4347469" progId="">
                  <p:embed/>
                  <p:pic>
                    <p:nvPicPr>
                      <p:cNvPr id="414" name="对象 413"/>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1019340" y="2586786"/>
            <a:ext cx="7353477" cy="1631216"/>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邮件发送和读取使用不同的</a:t>
            </a:r>
            <a:r>
              <a:rPr lang="zh-CN" altLang="en-US" b="1" dirty="0" smtClean="0">
                <a:latin typeface="微软雅黑" pitchFamily="34" charset="-122"/>
                <a:ea typeface="微软雅黑" pitchFamily="34" charset="-122"/>
              </a:rPr>
              <a:t>协议。</a:t>
            </a:r>
            <a:endParaRPr lang="en-US" altLang="zh-CN" b="1" dirty="0" smtClean="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smtClean="0">
                <a:solidFill>
                  <a:srgbClr val="C00000"/>
                </a:solidFill>
                <a:latin typeface="微软雅黑" pitchFamily="34" charset="-122"/>
                <a:ea typeface="微软雅黑" pitchFamily="34" charset="-122"/>
              </a:rPr>
              <a:t>简单邮件传送协议 </a:t>
            </a:r>
            <a:r>
              <a:rPr lang="en-US" altLang="zh-CN" b="1" dirty="0" smtClean="0">
                <a:solidFill>
                  <a:srgbClr val="C00000"/>
                </a:solidFill>
                <a:latin typeface="微软雅黑" pitchFamily="34" charset="-122"/>
                <a:ea typeface="微软雅黑" pitchFamily="34" charset="-122"/>
              </a:rPr>
              <a:t>SMTP</a:t>
            </a:r>
            <a:r>
              <a:rPr lang="zh-CN" altLang="en-US" b="1" dirty="0" smtClean="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用于在用户代理向邮件服务器或邮件</a:t>
            </a:r>
            <a:r>
              <a:rPr lang="zh-CN" altLang="en-US" b="1" dirty="0">
                <a:latin typeface="微软雅黑" pitchFamily="34" charset="-122"/>
                <a:ea typeface="微软雅黑" pitchFamily="34" charset="-122"/>
              </a:rPr>
              <a:t>服务器之间</a:t>
            </a:r>
            <a:r>
              <a:rPr lang="zh-CN" altLang="en-US" b="1" dirty="0">
                <a:solidFill>
                  <a:srgbClr val="0000FF"/>
                </a:solidFill>
                <a:latin typeface="微软雅黑" pitchFamily="34" charset="-122"/>
                <a:ea typeface="微软雅黑" pitchFamily="34" charset="-122"/>
              </a:rPr>
              <a:t>发送</a:t>
            </a:r>
            <a:r>
              <a:rPr lang="zh-CN" altLang="en-US" b="1" dirty="0" smtClean="0">
                <a:latin typeface="微软雅黑" pitchFamily="34" charset="-122"/>
                <a:ea typeface="微软雅黑" pitchFamily="34" charset="-122"/>
              </a:rPr>
              <a:t>邮件。</a:t>
            </a:r>
            <a:endParaRPr lang="en-US" altLang="zh-CN" b="1" dirty="0" smtClean="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a:solidFill>
                  <a:srgbClr val="C00000"/>
                </a:solidFill>
                <a:latin typeface="微软雅黑" pitchFamily="34" charset="-122"/>
                <a:ea typeface="微软雅黑" pitchFamily="34" charset="-122"/>
              </a:rPr>
              <a:t>邮局</a:t>
            </a:r>
            <a:r>
              <a:rPr lang="zh-CN" altLang="en-US" b="1" dirty="0" smtClean="0">
                <a:solidFill>
                  <a:srgbClr val="C00000"/>
                </a:solidFill>
                <a:latin typeface="微软雅黑" pitchFamily="34" charset="-122"/>
                <a:ea typeface="微软雅黑" pitchFamily="34" charset="-122"/>
              </a:rPr>
              <a:t>协议 </a:t>
            </a:r>
            <a:r>
              <a:rPr lang="en-US" altLang="zh-CN" b="1" dirty="0" smtClean="0">
                <a:solidFill>
                  <a:srgbClr val="C00000"/>
                </a:solidFill>
                <a:latin typeface="微软雅黑" pitchFamily="34" charset="-122"/>
                <a:ea typeface="微软雅黑" pitchFamily="34" charset="-122"/>
              </a:rPr>
              <a:t>POP3</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用于用户代理从邮件服务器</a:t>
            </a:r>
            <a:r>
              <a:rPr lang="zh-CN" altLang="en-US" b="1" dirty="0">
                <a:solidFill>
                  <a:srgbClr val="0000FF"/>
                </a:solidFill>
                <a:latin typeface="微软雅黑" pitchFamily="34" charset="-122"/>
                <a:ea typeface="微软雅黑" pitchFamily="34" charset="-122"/>
              </a:rPr>
              <a:t>读取</a:t>
            </a:r>
            <a:r>
              <a:rPr lang="zh-CN" altLang="en-US" b="1" dirty="0" smtClean="0">
                <a:latin typeface="微软雅黑" pitchFamily="34" charset="-122"/>
                <a:ea typeface="微软雅黑" pitchFamily="34" charset="-122"/>
              </a:rPr>
              <a:t>邮件。</a:t>
            </a:r>
            <a:endParaRPr lang="zh-CN" altLang="en-US" b="1" dirty="0">
              <a:latin typeface="微软雅黑" pitchFamily="34" charset="-122"/>
              <a:ea typeface="微软雅黑" pitchFamily="34" charset="-122"/>
            </a:endParaRPr>
          </a:p>
        </p:txBody>
      </p:sp>
      <p:sp>
        <p:nvSpPr>
          <p:cNvPr id="40"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2689890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378"/>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应当注意</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POP3</a:t>
            </a:r>
          </a:p>
          <a:p>
            <a:pPr algn="ctr" eaLnBrk="1" hangingPunct="1"/>
            <a:r>
              <a:rPr kumimoji="1" lang="zh-CN" altLang="en-US" sz="900" b="1" dirty="0">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endParaRPr kumimoji="1" lang="en-US" altLang="zh-CN" sz="1200" b="1" dirty="0" smtClean="0">
              <a:solidFill>
                <a:srgbClr val="0000FF"/>
              </a:solidFill>
              <a:latin typeface="微软雅黑" pitchFamily="34" charset="-122"/>
              <a:ea typeface="微软雅黑" pitchFamily="34" charset="-122"/>
            </a:endParaRPr>
          </a:p>
          <a:p>
            <a:pPr algn="ctr" eaLnBrk="1" hangingPunct="1"/>
            <a:r>
              <a:rPr kumimoji="1" lang="zh-CN" altLang="en-US" sz="1200" b="1" dirty="0" smtClean="0">
                <a:solidFill>
                  <a:srgbClr val="0000FF"/>
                </a:solidFill>
                <a:latin typeface="微软雅黑" pitchFamily="34" charset="-122"/>
                <a:ea typeface="微软雅黑" pitchFamily="34" charset="-122"/>
              </a:rPr>
              <a:t>连接</a:t>
            </a:r>
            <a:endParaRPr kumimoji="1" lang="zh-CN" altLang="en-US" sz="1200" b="1" dirty="0">
              <a:solidFill>
                <a:srgbClr val="0000FF"/>
              </a:solidFill>
              <a:latin typeface="微软雅黑" pitchFamily="34" charset="-122"/>
              <a:ea typeface="微软雅黑" pitchFamily="34" charset="-122"/>
            </a:endParaRP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3360" name="Visio" r:id="rId4" imgW="3561172" imgH="4347469" progId="">
                  <p:embed/>
                </p:oleObj>
              </mc:Choice>
              <mc:Fallback>
                <p:oleObj name="Visio" r:id="rId4" imgW="3561172" imgH="4347469" progId="">
                  <p:embed/>
                  <p:pic>
                    <p:nvPicPr>
                      <p:cNvPr id="412" name="对象 411"/>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3361" name="Visio" r:id="rId6" imgW="3561172" imgH="4347469" progId="">
                  <p:embed/>
                </p:oleObj>
              </mc:Choice>
              <mc:Fallback>
                <p:oleObj name="Visio" r:id="rId6" imgW="3561172" imgH="4347469" progId="">
                  <p:embed/>
                  <p:pic>
                    <p:nvPicPr>
                      <p:cNvPr id="414" name="对象 413"/>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1019340" y="2790417"/>
            <a:ext cx="7353477" cy="861774"/>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邮件服务器必须能够</a:t>
            </a:r>
            <a:r>
              <a:rPr lang="zh-CN" altLang="en-US" b="1" dirty="0">
                <a:solidFill>
                  <a:srgbClr val="C00000"/>
                </a:solidFill>
                <a:latin typeface="微软雅黑" pitchFamily="34" charset="-122"/>
                <a:ea typeface="微软雅黑" pitchFamily="34" charset="-122"/>
              </a:rPr>
              <a:t>同时充当</a:t>
            </a:r>
            <a:r>
              <a:rPr lang="zh-CN" altLang="en-US" b="1" dirty="0">
                <a:latin typeface="微软雅黑" pitchFamily="34" charset="-122"/>
                <a:ea typeface="微软雅黑" pitchFamily="34" charset="-122"/>
              </a:rPr>
              <a:t>客户和</a:t>
            </a:r>
            <a:r>
              <a:rPr lang="zh-CN" altLang="en-US" b="1" dirty="0" smtClean="0">
                <a:latin typeface="微软雅黑" pitchFamily="34" charset="-122"/>
                <a:ea typeface="微软雅黑" pitchFamily="34" charset="-122"/>
              </a:rPr>
              <a:t>服务器。</a:t>
            </a:r>
            <a:endParaRPr lang="en-US" altLang="zh-CN" b="1" dirty="0" smtClean="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en-US" altLang="zh-CN" b="1" dirty="0" smtClean="0">
                <a:solidFill>
                  <a:srgbClr val="0000FF"/>
                </a:solidFill>
                <a:latin typeface="微软雅黑" pitchFamily="34" charset="-122"/>
                <a:ea typeface="微软雅黑" pitchFamily="34" charset="-122"/>
              </a:rPr>
              <a:t>SMTP </a:t>
            </a:r>
            <a:r>
              <a:rPr lang="zh-CN" altLang="en-US" b="1" dirty="0" smtClean="0">
                <a:solidFill>
                  <a:srgbClr val="0000FF"/>
                </a:solidFill>
                <a:latin typeface="微软雅黑" pitchFamily="34" charset="-122"/>
                <a:ea typeface="微软雅黑" pitchFamily="34" charset="-122"/>
              </a:rPr>
              <a:t>和 </a:t>
            </a:r>
            <a:r>
              <a:rPr lang="en-US" altLang="zh-CN" b="1" dirty="0" smtClean="0">
                <a:solidFill>
                  <a:srgbClr val="0000FF"/>
                </a:solidFill>
                <a:latin typeface="微软雅黑" pitchFamily="34" charset="-122"/>
                <a:ea typeface="微软雅黑" pitchFamily="34" charset="-122"/>
              </a:rPr>
              <a:t>POP3</a:t>
            </a:r>
            <a:r>
              <a:rPr lang="zh-CN" altLang="en-US" b="1" dirty="0">
                <a:solidFill>
                  <a:srgbClr val="0000FF"/>
                </a:solidFill>
                <a:latin typeface="微软雅黑" pitchFamily="34" charset="-122"/>
                <a:ea typeface="微软雅黑" pitchFamily="34" charset="-122"/>
              </a:rPr>
              <a:t>（</a:t>
            </a:r>
            <a:r>
              <a:rPr lang="zh-CN" altLang="en-US" b="1" dirty="0" smtClean="0">
                <a:solidFill>
                  <a:srgbClr val="0000FF"/>
                </a:solidFill>
                <a:latin typeface="微软雅黑" pitchFamily="34" charset="-122"/>
                <a:ea typeface="微软雅黑" pitchFamily="34" charset="-122"/>
              </a:rPr>
              <a:t>或 </a:t>
            </a:r>
            <a:r>
              <a:rPr lang="en-US" altLang="zh-CN" b="1" dirty="0" smtClean="0">
                <a:solidFill>
                  <a:srgbClr val="0000FF"/>
                </a:solidFill>
                <a:latin typeface="微软雅黑" pitchFamily="34" charset="-122"/>
                <a:ea typeface="微软雅黑" pitchFamily="34" charset="-122"/>
              </a:rPr>
              <a:t>IMAP</a:t>
            </a:r>
            <a:r>
              <a:rPr lang="zh-CN" altLang="en-US" b="1" dirty="0">
                <a:solidFill>
                  <a:srgbClr val="0000FF"/>
                </a:solidFill>
                <a:latin typeface="微软雅黑" pitchFamily="34" charset="-122"/>
                <a:ea typeface="微软雅黑" pitchFamily="34" charset="-122"/>
              </a:rPr>
              <a:t>）</a:t>
            </a:r>
            <a:r>
              <a:rPr lang="zh-CN" altLang="en-US" b="1" dirty="0" smtClean="0">
                <a:solidFill>
                  <a:srgbClr val="0000FF"/>
                </a:solidFill>
                <a:latin typeface="微软雅黑" pitchFamily="34" charset="-122"/>
                <a:ea typeface="微软雅黑" pitchFamily="34" charset="-122"/>
              </a:rPr>
              <a:t>都使用 </a:t>
            </a:r>
            <a:r>
              <a:rPr lang="en-US" altLang="zh-CN" b="1" dirty="0" smtClean="0">
                <a:solidFill>
                  <a:srgbClr val="C00000"/>
                </a:solidFill>
                <a:latin typeface="微软雅黑" pitchFamily="34" charset="-122"/>
                <a:ea typeface="微软雅黑" pitchFamily="34" charset="-122"/>
              </a:rPr>
              <a:t>TCP </a:t>
            </a:r>
            <a:r>
              <a:rPr lang="zh-CN" altLang="en-US" b="1" dirty="0" smtClean="0">
                <a:solidFill>
                  <a:srgbClr val="C00000"/>
                </a:solidFill>
                <a:latin typeface="微软雅黑" pitchFamily="34" charset="-122"/>
                <a:ea typeface="微软雅黑" pitchFamily="34" charset="-122"/>
              </a:rPr>
              <a:t>连接</a:t>
            </a:r>
            <a:r>
              <a:rPr lang="zh-CN" altLang="en-US" b="1" dirty="0" smtClean="0">
                <a:solidFill>
                  <a:srgbClr val="0000FF"/>
                </a:solidFill>
                <a:latin typeface="微软雅黑" pitchFamily="34" charset="-122"/>
                <a:ea typeface="微软雅黑" pitchFamily="34" charset="-122"/>
              </a:rPr>
              <a:t>可靠</a:t>
            </a:r>
            <a:r>
              <a:rPr lang="zh-CN" altLang="en-US" b="1" dirty="0">
                <a:solidFill>
                  <a:srgbClr val="0000FF"/>
                </a:solidFill>
                <a:latin typeface="微软雅黑" pitchFamily="34" charset="-122"/>
                <a:ea typeface="微软雅黑" pitchFamily="34" charset="-122"/>
              </a:rPr>
              <a:t>地传送</a:t>
            </a:r>
            <a:r>
              <a:rPr lang="zh-CN" altLang="en-US" b="1" dirty="0" smtClean="0">
                <a:solidFill>
                  <a:srgbClr val="0000FF"/>
                </a:solidFill>
                <a:latin typeface="微软雅黑" pitchFamily="34" charset="-122"/>
                <a:ea typeface="微软雅黑" pitchFamily="34" charset="-122"/>
              </a:rPr>
              <a:t>邮件。</a:t>
            </a:r>
            <a:endParaRPr lang="zh-CN" altLang="en-US" b="1" dirty="0">
              <a:solidFill>
                <a:srgbClr val="0000FF"/>
              </a:solidFill>
              <a:latin typeface="微软雅黑" pitchFamily="34" charset="-122"/>
              <a:ea typeface="微软雅黑" pitchFamily="34" charset="-122"/>
            </a:endParaRPr>
          </a:p>
        </p:txBody>
      </p:sp>
      <p:sp>
        <p:nvSpPr>
          <p:cNvPr id="40"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12558060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2000"/>
                                  </p:stCondLst>
                                  <p:childTnLst>
                                    <p:anim calcmode="discrete" valueType="str">
                                      <p:cBhvr>
                                        <p:cTn id="6" dur="1000" fill="hold"/>
                                        <p:tgtEl>
                                          <p:spTgt spid="38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2000"/>
                                  </p:stCondLst>
                                  <p:childTnLst>
                                    <p:anim calcmode="discrete" valueType="str">
                                      <p:cBhvr>
                                        <p:cTn id="8" dur="1000" fill="hold"/>
                                        <p:tgtEl>
                                          <p:spTgt spid="39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2000"/>
                                  </p:stCondLst>
                                  <p:childTnLst>
                                    <p:anim calcmode="discrete" valueType="str">
                                      <p:cBhvr>
                                        <p:cTn id="10" dur="1000" fill="hold"/>
                                        <p:tgtEl>
                                          <p:spTgt spid="384"/>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2000"/>
                                  </p:stCondLst>
                                  <p:childTnLst>
                                    <p:anim calcmode="discrete" valueType="str">
                                      <p:cBhvr>
                                        <p:cTn id="12" dur="1000" fill="hold"/>
                                        <p:tgtEl>
                                          <p:spTgt spid="389"/>
                                        </p:tgtEl>
                                        <p:attrNameLst>
                                          <p:attrName>style.visibility</p:attrName>
                                        </p:attrNameLst>
                                      </p:cBhvr>
                                      <p:tavLst>
                                        <p:tav tm="0">
                                          <p:val>
                                            <p:strVal val="hidden"/>
                                          </p:val>
                                        </p:tav>
                                        <p:tav tm="50000">
                                          <p:val>
                                            <p:strVal val="visible"/>
                                          </p:val>
                                        </p:tav>
                                      </p:tavLst>
                                    </p:anim>
                                  </p:childTnLst>
                                </p:cTn>
                              </p:par>
                            </p:childTnLst>
                          </p:cTn>
                        </p:par>
                        <p:par>
                          <p:cTn id="13" fill="hold">
                            <p:stCondLst>
                              <p:cond delay="5000"/>
                            </p:stCondLst>
                            <p:childTnLst>
                              <p:par>
                                <p:cTn id="14" presetID="35" presetClass="emph" presetSubtype="0" repeatCount="3000" fill="hold" grpId="0" nodeType="afterEffect">
                                  <p:stCondLst>
                                    <p:cond delay="1000"/>
                                  </p:stCondLst>
                                  <p:childTnLst>
                                    <p:anim calcmode="discrete" valueType="str">
                                      <p:cBhvr>
                                        <p:cTn id="15" dur="1000" fill="hold"/>
                                        <p:tgtEl>
                                          <p:spTgt spid="39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1000"/>
                                  </p:stCondLst>
                                  <p:childTnLst>
                                    <p:anim calcmode="discrete" valueType="str">
                                      <p:cBhvr>
                                        <p:cTn id="17" dur="1000" fill="hold"/>
                                        <p:tgtEl>
                                          <p:spTgt spid="3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 grpId="0" animBg="1"/>
      <p:bldP spid="384" grpId="0" animBg="1"/>
      <p:bldP spid="388" grpId="0" animBg="1"/>
      <p:bldP spid="389" grpId="0" animBg="1"/>
      <p:bldP spid="391" grpId="0" animBg="1"/>
      <p:bldP spid="39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93656"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a:t>
            </a:r>
            <a:r>
              <a:rPr lang="zh-CN" altLang="en-US" sz="2000" b="1" dirty="0" smtClean="0">
                <a:solidFill>
                  <a:schemeClr val="bg1"/>
                </a:solidFill>
                <a:latin typeface="微软雅黑" pitchFamily="34" charset="-122"/>
                <a:ea typeface="微软雅黑" pitchFamily="34" charset="-122"/>
              </a:rPr>
              <a:t>的重要</a:t>
            </a:r>
            <a:r>
              <a:rPr lang="zh-CN" altLang="en-US" sz="2000" b="1" dirty="0">
                <a:solidFill>
                  <a:schemeClr val="bg1"/>
                </a:solidFill>
                <a:latin typeface="微软雅黑" pitchFamily="34" charset="-122"/>
                <a:ea typeface="微软雅黑" pitchFamily="34" charset="-122"/>
              </a:rPr>
              <a:t>步骤</a:t>
            </a: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4430"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4431"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3" name="组合 2"/>
          <p:cNvGrpSpPr/>
          <p:nvPr/>
        </p:nvGrpSpPr>
        <p:grpSpPr>
          <a:xfrm>
            <a:off x="1700784" y="2860589"/>
            <a:ext cx="760001" cy="1209725"/>
            <a:chOff x="1700784" y="2878345"/>
            <a:chExt cx="760001" cy="1209725"/>
          </a:xfrm>
        </p:grpSpPr>
        <p:sp>
          <p:nvSpPr>
            <p:cNvPr id="14" name="Text Box 7"/>
            <p:cNvSpPr txBox="1">
              <a:spLocks noChangeArrowheads="1"/>
            </p:cNvSpPr>
            <p:nvPr/>
          </p:nvSpPr>
          <p:spPr bwMode="auto">
            <a:xfrm>
              <a:off x="1700784" y="28783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grpSp>
          <p:nvGrpSpPr>
            <p:cNvPr id="52" name="Group 45"/>
            <p:cNvGrpSpPr>
              <a:grpSpLocks/>
            </p:cNvGrpSpPr>
            <p:nvPr/>
          </p:nvGrpSpPr>
          <p:grpSpPr bwMode="auto">
            <a:xfrm>
              <a:off x="1900095" y="3171970"/>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69534"/>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211925"/>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81166"/>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65947"/>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99750"/>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700679"/>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80814"/>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28780"/>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53514"/>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63736"/>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504620"/>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94399"/>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88824"/>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31567"/>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50598"/>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215641"/>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211925"/>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98916"/>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90553"/>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80333"/>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89625"/>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85908"/>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216571"/>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35731"/>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36660"/>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53162"/>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28651"/>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97763"/>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74309"/>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76168"/>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36084"/>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1" name="Oval 194"/>
            <p:cNvSpPr>
              <a:spLocks noChangeArrowheads="1"/>
            </p:cNvSpPr>
            <p:nvPr/>
          </p:nvSpPr>
          <p:spPr bwMode="auto">
            <a:xfrm>
              <a:off x="2135645" y="3298340"/>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48516"/>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572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gr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4432"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4433"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01"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1238287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93657"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a:t>
            </a:r>
            <a:r>
              <a:rPr lang="zh-CN" altLang="en-US" sz="2000" b="1" dirty="0" smtClean="0">
                <a:solidFill>
                  <a:schemeClr val="bg1"/>
                </a:solidFill>
                <a:latin typeface="微软雅黑" pitchFamily="34" charset="-122"/>
                <a:ea typeface="微软雅黑" pitchFamily="34" charset="-122"/>
              </a:rPr>
              <a:t>的重要</a:t>
            </a:r>
            <a:r>
              <a:rPr lang="zh-CN" altLang="en-US" sz="2000" b="1" dirty="0">
                <a:solidFill>
                  <a:schemeClr val="bg1"/>
                </a:solidFill>
                <a:latin typeface="微软雅黑" pitchFamily="34" charset="-122"/>
                <a:ea typeface="微软雅黑" pitchFamily="34" charset="-122"/>
              </a:rPr>
              <a:t>步骤</a:t>
            </a: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5454"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5455"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5456"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5457"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400"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39944436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1000"/>
                                        <p:tgtEl>
                                          <p:spTgt spid="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6478"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6479"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6480"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6481"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400"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41200471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2"/>
                                        </p:tgtEl>
                                        <p:attrNameLst>
                                          <p:attrName>style.visibility</p:attrName>
                                        </p:attrNameLst>
                                      </p:cBhvr>
                                      <p:to>
                                        <p:strVal val="visible"/>
                                      </p:to>
                                    </p:set>
                                    <p:animEffect transition="in" filter="wipe(left)">
                                      <p:cBhvr>
                                        <p:cTn id="7" dur="10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7502"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7503"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7504"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7505"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7554133" y="2754331"/>
            <a:ext cx="874666" cy="1323439"/>
          </a:xfrm>
          <a:prstGeom prst="rect">
            <a:avLst/>
          </a:prstGeom>
          <a:solidFill>
            <a:srgbClr val="FFFF99"/>
          </a:solidFill>
        </p:spPr>
        <p:txBody>
          <a:bodyPr wrap="square">
            <a:spAutoFit/>
          </a:bodyPr>
          <a:lstStyle/>
          <a:p>
            <a:pPr>
              <a:lnSpc>
                <a:spcPts val="1600"/>
              </a:lnSpc>
            </a:pPr>
            <a:r>
              <a:rPr lang="zh-CN" altLang="en-US" sz="1200" b="1" dirty="0" smtClean="0">
                <a:solidFill>
                  <a:srgbClr val="C00000"/>
                </a:solidFill>
                <a:latin typeface="微软雅黑" pitchFamily="34" charset="-122"/>
                <a:ea typeface="微软雅黑" pitchFamily="34" charset="-122"/>
              </a:rPr>
              <a:t>注意：</a:t>
            </a:r>
            <a:r>
              <a:rPr lang="zh-CN" altLang="en-US" sz="1200" b="1" dirty="0" smtClean="0">
                <a:latin typeface="微软雅黑" pitchFamily="34" charset="-122"/>
                <a:ea typeface="微软雅黑" pitchFamily="34" charset="-122"/>
              </a:rPr>
              <a:t>邮件</a:t>
            </a:r>
            <a:r>
              <a:rPr lang="zh-CN" altLang="en-US" sz="1200" b="1" dirty="0">
                <a:latin typeface="微软雅黑" pitchFamily="34" charset="-122"/>
                <a:ea typeface="微软雅黑" pitchFamily="34" charset="-122"/>
              </a:rPr>
              <a:t>不会在互联网中的某个中间邮件服务器落地。</a:t>
            </a:r>
          </a:p>
        </p:txBody>
      </p:sp>
      <p:sp>
        <p:nvSpPr>
          <p:cNvPr id="401"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17013850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8526"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8527"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8528"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8529"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400"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36157739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两种不同的通信方式</a:t>
            </a:r>
            <a:endParaRPr lang="zh-CN" altLang="en-US" sz="2000" b="1" dirty="0" smtClean="0">
              <a:solidFill>
                <a:schemeClr val="bg1"/>
              </a:solidFill>
              <a:latin typeface="微软雅黑" pitchFamily="34" charset="-122"/>
              <a:ea typeface="微软雅黑" pitchFamily="34" charset="-122"/>
            </a:endParaRPr>
          </a:p>
        </p:txBody>
      </p:sp>
      <p:graphicFrame>
        <p:nvGraphicFramePr>
          <p:cNvPr id="8" name="Object 383"/>
          <p:cNvGraphicFramePr>
            <a:graphicFrameLocks noChangeAspect="1"/>
          </p:cNvGraphicFramePr>
          <p:nvPr>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9550" name="VISIO" r:id="rId4" imgW="1687068" imgH="964692" progId="">
                  <p:embed/>
                </p:oleObj>
              </mc:Choice>
              <mc:Fallback>
                <p:oleObj name="VISIO" r:id="rId4" imgW="1687068" imgH="964692" progId="">
                  <p:embed/>
                  <p:pic>
                    <p:nvPicPr>
                      <p:cNvPr id="8"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9551" name="VISIO" r:id="rId6" imgW="1687068" imgH="964692" progId="">
                  <p:embed/>
                </p:oleObj>
              </mc:Choice>
              <mc:Fallback>
                <p:oleObj name="VISIO" r:id="rId6" imgW="1687068" imgH="964692" progId="">
                  <p:embed/>
                  <p:pic>
                    <p:nvPicPr>
                      <p:cNvPr id="9" name="Object 3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267183" y="3949601"/>
            <a:ext cx="76174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solidFill>
                  <a:srgbClr val="0000FF"/>
                </a:solidFill>
                <a:latin typeface="微软雅黑" pitchFamily="34" charset="-122"/>
                <a:ea typeface="微软雅黑" pitchFamily="34" charset="-122"/>
              </a:rPr>
              <a:t>邮件缓冲区</a:t>
            </a:r>
            <a:endParaRPr kumimoji="1" lang="zh-CN" altLang="en-US" sz="900" b="1" dirty="0">
              <a:solidFill>
                <a:srgbClr val="0000FF"/>
              </a:solidFill>
              <a:latin typeface="微软雅黑" pitchFamily="34" charset="-122"/>
              <a:ea typeface="微软雅黑"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endParaRPr kumimoji="1" lang="zh-CN" altLang="en-US"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900" b="1" dirty="0" smtClean="0">
                <a:latin typeface="微软雅黑" pitchFamily="34" charset="-122"/>
                <a:ea typeface="微软雅黑" pitchFamily="34" charset="-122"/>
              </a:rPr>
              <a:t>收件人</a:t>
            </a:r>
            <a:endParaRPr kumimoji="1" lang="en-US" altLang="zh-CN" sz="900" b="1" dirty="0" smtClean="0">
              <a:latin typeface="微软雅黑" pitchFamily="34" charset="-122"/>
              <a:ea typeface="微软雅黑" pitchFamily="34" charset="-122"/>
            </a:endParaRPr>
          </a:p>
          <a:p>
            <a:pPr algn="ctr" eaLnBrk="1" hangingPunct="1"/>
            <a:r>
              <a:rPr kumimoji="1" lang="zh-CN" altLang="en-US" sz="900" b="1" dirty="0" smtClean="0">
                <a:solidFill>
                  <a:srgbClr val="C00000"/>
                </a:solidFill>
                <a:latin typeface="微软雅黑" pitchFamily="34" charset="-122"/>
                <a:ea typeface="微软雅黑" pitchFamily="34" charset="-122"/>
              </a:rPr>
              <a:t>用户</a:t>
            </a:r>
            <a:r>
              <a:rPr kumimoji="1" lang="zh-CN" altLang="en-US" sz="900" b="1" dirty="0">
                <a:solidFill>
                  <a:srgbClr val="C00000"/>
                </a:solidFill>
                <a:latin typeface="微软雅黑" pitchFamily="34" charset="-122"/>
                <a:ea typeface="微软雅黑" pitchFamily="34" charset="-122"/>
              </a:rPr>
              <a:t>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9552" name="Visio" r:id="rId7" imgW="3561172" imgH="4347469" progId="">
                  <p:embed/>
                </p:oleObj>
              </mc:Choice>
              <mc:Fallback>
                <p:oleObj name="Visio" r:id="rId7" imgW="3561172" imgH="4347469" progId="">
                  <p:embed/>
                  <p:pic>
                    <p:nvPicPr>
                      <p:cNvPr id="412" name="对象 411"/>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9553" name="Visio" r:id="rId9" imgW="3561172" imgH="4347469" progId="">
                  <p:embed/>
                </p:oleObj>
              </mc:Choice>
              <mc:Fallback>
                <p:oleObj name="Visio" r:id="rId9" imgW="3561172" imgH="4347469" progId="">
                  <p:embed/>
                  <p:pic>
                    <p:nvPicPr>
                      <p:cNvPr id="414" name="对象 413"/>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smtClean="0">
                <a:latin typeface="微软雅黑" pitchFamily="34" charset="-122"/>
                <a:ea typeface="微软雅黑" pitchFamily="34" charset="-122"/>
              </a:rPr>
              <a:t>收件人</a:t>
            </a:r>
          </a:p>
        </p:txBody>
      </p:sp>
      <p:sp>
        <p:nvSpPr>
          <p:cNvPr id="3" name="矩形 2"/>
          <p:cNvSpPr/>
          <p:nvPr/>
        </p:nvSpPr>
        <p:spPr>
          <a:xfrm>
            <a:off x="825927" y="3114718"/>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itchFamily="34" charset="-122"/>
                <a:ea typeface="微软雅黑" pitchFamily="34" charset="-122"/>
              </a:rPr>
              <a:t>“推”</a:t>
            </a:r>
            <a:endParaRPr lang="en-US" altLang="zh-CN" sz="1400" b="1" dirty="0" smtClean="0">
              <a:solidFill>
                <a:srgbClr val="C00000"/>
              </a:solidFill>
              <a:latin typeface="微软雅黑" pitchFamily="34" charset="-122"/>
              <a:ea typeface="微软雅黑" pitchFamily="34" charset="-122"/>
            </a:endParaRPr>
          </a:p>
          <a:p>
            <a:pPr algn="ctr">
              <a:lnSpc>
                <a:spcPts val="1600"/>
              </a:lnSpc>
            </a:pPr>
            <a:r>
              <a:rPr lang="en-US" altLang="zh-CN" sz="1400" b="1" dirty="0" smtClean="0">
                <a:solidFill>
                  <a:srgbClr val="C00000"/>
                </a:solidFill>
                <a:latin typeface="微软雅黑" pitchFamily="34" charset="-122"/>
                <a:ea typeface="微软雅黑" pitchFamily="34" charset="-122"/>
              </a:rPr>
              <a:t>(</a:t>
            </a:r>
            <a:r>
              <a:rPr lang="en-US" altLang="zh-CN" sz="1400" b="1" dirty="0">
                <a:solidFill>
                  <a:srgbClr val="C00000"/>
                </a:solidFill>
                <a:latin typeface="微软雅黑" pitchFamily="34" charset="-122"/>
                <a:ea typeface="微软雅黑" pitchFamily="34" charset="-122"/>
              </a:rPr>
              <a:t>push)</a:t>
            </a:r>
            <a:endParaRPr lang="zh-CN" altLang="en-US" sz="1400" b="1" dirty="0">
              <a:solidFill>
                <a:srgbClr val="C00000"/>
              </a:solidFill>
              <a:latin typeface="微软雅黑" pitchFamily="34" charset="-122"/>
              <a:ea typeface="微软雅黑" pitchFamily="34" charset="-122"/>
            </a:endParaRPr>
          </a:p>
        </p:txBody>
      </p:sp>
      <p:sp>
        <p:nvSpPr>
          <p:cNvPr id="401" name="矩形 400"/>
          <p:cNvSpPr/>
          <p:nvPr/>
        </p:nvSpPr>
        <p:spPr>
          <a:xfrm>
            <a:off x="7399348" y="3132925"/>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itchFamily="34" charset="-122"/>
                <a:ea typeface="微软雅黑" pitchFamily="34" charset="-122"/>
              </a:rPr>
              <a:t>“拉”</a:t>
            </a:r>
            <a:endParaRPr lang="en-US" altLang="zh-CN" sz="1400" b="1" dirty="0" smtClean="0">
              <a:solidFill>
                <a:srgbClr val="C00000"/>
              </a:solidFill>
              <a:latin typeface="微软雅黑" pitchFamily="34" charset="-122"/>
              <a:ea typeface="微软雅黑" pitchFamily="34" charset="-122"/>
            </a:endParaRPr>
          </a:p>
          <a:p>
            <a:pPr algn="ctr">
              <a:lnSpc>
                <a:spcPts val="1600"/>
              </a:lnSpc>
            </a:pPr>
            <a:r>
              <a:rPr lang="en-US" altLang="zh-CN" sz="1400" b="1" dirty="0" smtClean="0">
                <a:solidFill>
                  <a:srgbClr val="C00000"/>
                </a:solidFill>
                <a:latin typeface="微软雅黑" pitchFamily="34" charset="-122"/>
                <a:ea typeface="微软雅黑" pitchFamily="34" charset="-122"/>
              </a:rPr>
              <a:t>(pull)</a:t>
            </a:r>
            <a:endParaRPr lang="zh-CN" altLang="en-US" sz="1400" b="1" dirty="0">
              <a:solidFill>
                <a:srgbClr val="C00000"/>
              </a:solidFill>
              <a:latin typeface="微软雅黑" pitchFamily="34" charset="-122"/>
              <a:ea typeface="微软雅黑" pitchFamily="34" charset="-122"/>
            </a:endParaRPr>
          </a:p>
        </p:txBody>
      </p:sp>
      <p:sp>
        <p:nvSpPr>
          <p:cNvPr id="402"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25404416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par>
                                <p:cTn id="8" presetID="22" presetClass="entr" presetSubtype="8" repeatCount="3000"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35" presetClass="emph" presetSubtype="0" repeatCount="3000" fill="hold" grpId="0" nodeType="with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4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P spid="353" grpId="0" animBg="1"/>
      <p:bldP spid="3" grpId="0"/>
      <p:bldP spid="401"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591341" y="57962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电子邮件的组成</a:t>
            </a:r>
          </a:p>
        </p:txBody>
      </p:sp>
      <p:sp>
        <p:nvSpPr>
          <p:cNvPr id="4" name="Rectangle 68"/>
          <p:cNvSpPr>
            <a:spLocks noChangeArrowheads="1"/>
          </p:cNvSpPr>
          <p:nvPr/>
        </p:nvSpPr>
        <p:spPr bwMode="auto">
          <a:xfrm>
            <a:off x="556963" y="973927"/>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电子邮件由</a:t>
            </a:r>
            <a:r>
              <a:rPr lang="zh-CN" altLang="en-US" sz="2000" b="1" dirty="0">
                <a:solidFill>
                  <a:srgbClr val="C00000"/>
                </a:solidFill>
                <a:latin typeface="微软雅黑" pitchFamily="34" charset="-122"/>
                <a:ea typeface="微软雅黑" pitchFamily="34" charset="-122"/>
              </a:rPr>
              <a:t>信封</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(envelope)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内容</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(content) </a:t>
            </a:r>
            <a:r>
              <a:rPr lang="zh-CN" altLang="en-US" sz="2000" b="1" dirty="0">
                <a:latin typeface="微软雅黑" pitchFamily="34" charset="-122"/>
                <a:ea typeface="微软雅黑" pitchFamily="34" charset="-122"/>
              </a:rPr>
              <a:t>两部分组成。</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电子邮件的传输程序根据邮件信封上的信息来传送邮件</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用户</a:t>
            </a:r>
            <a:r>
              <a:rPr lang="zh-CN" altLang="en-US" sz="2000" b="1" dirty="0">
                <a:latin typeface="微软雅黑" pitchFamily="34" charset="-122"/>
                <a:ea typeface="微软雅黑" pitchFamily="34" charset="-122"/>
              </a:rPr>
              <a:t>在从自己的邮箱中读取邮件时才能见到邮件的内容</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28153198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416"/>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34861" y="578205"/>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电子邮件地址的格式</a:t>
            </a:r>
          </a:p>
        </p:txBody>
      </p:sp>
      <p:sp>
        <p:nvSpPr>
          <p:cNvPr id="4" name="Rectangle 68"/>
          <p:cNvSpPr>
            <a:spLocks noChangeArrowheads="1"/>
          </p:cNvSpPr>
          <p:nvPr/>
        </p:nvSpPr>
        <p:spPr bwMode="auto">
          <a:xfrm>
            <a:off x="556963" y="972506"/>
            <a:ext cx="8048776"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在邮件的信封上，最重要的就是收件人的地址。 </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体系的电子邮件系统规定电子邮件地址的格式如下</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smtClean="0">
                <a:latin typeface="微软雅黑" pitchFamily="34" charset="-122"/>
                <a:ea typeface="微软雅黑" pitchFamily="34" charset="-122"/>
              </a:rPr>
              <a:t>例如：</a:t>
            </a:r>
            <a:r>
              <a:rPr lang="en-US" altLang="zh-CN" sz="2000" b="1" dirty="0" smtClean="0">
                <a:latin typeface="微软雅黑" pitchFamily="34" charset="-122"/>
                <a:ea typeface="微软雅黑" pitchFamily="34" charset="-122"/>
              </a:rPr>
              <a:t>	xiexiren@tsinghua.org.cn</a:t>
            </a:r>
            <a:endParaRPr lang="en-US" altLang="zh-CN" sz="2000" b="1" dirty="0">
              <a:latin typeface="微软雅黑" pitchFamily="34" charset="-122"/>
              <a:ea typeface="微软雅黑" pitchFamily="34" charset="-122"/>
            </a:endParaRPr>
          </a:p>
        </p:txBody>
      </p:sp>
      <p:grpSp>
        <p:nvGrpSpPr>
          <p:cNvPr id="16" name="组合 15"/>
          <p:cNvGrpSpPr/>
          <p:nvPr/>
        </p:nvGrpSpPr>
        <p:grpSpPr>
          <a:xfrm>
            <a:off x="1521181" y="2804542"/>
            <a:ext cx="5393247" cy="1052712"/>
            <a:chOff x="2570495" y="4437112"/>
            <a:chExt cx="8856921" cy="1728787"/>
          </a:xfrm>
        </p:grpSpPr>
        <p:grpSp>
          <p:nvGrpSpPr>
            <p:cNvPr id="6" name="Group 5"/>
            <p:cNvGrpSpPr>
              <a:grpSpLocks/>
            </p:cNvGrpSpPr>
            <p:nvPr/>
          </p:nvGrpSpPr>
          <p:grpSpPr bwMode="auto">
            <a:xfrm>
              <a:off x="6202693" y="4437112"/>
              <a:ext cx="5224723" cy="1728787"/>
              <a:chOff x="3696" y="2931"/>
              <a:chExt cx="3038" cy="1089"/>
            </a:xfrm>
          </p:grpSpPr>
          <p:sp>
            <p:nvSpPr>
              <p:cNvPr id="7" name="Line 6"/>
              <p:cNvSpPr>
                <a:spLocks noChangeShapeType="1"/>
              </p:cNvSpPr>
              <p:nvPr/>
            </p:nvSpPr>
            <p:spPr bwMode="auto">
              <a:xfrm>
                <a:off x="3696" y="2931"/>
                <a:ext cx="1998" cy="1"/>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nvGrpSpPr>
              <p:cNvPr id="8" name="Group 7"/>
              <p:cNvGrpSpPr>
                <a:grpSpLocks/>
              </p:cNvGrpSpPr>
              <p:nvPr/>
            </p:nvGrpSpPr>
            <p:grpSpPr bwMode="auto">
              <a:xfrm>
                <a:off x="4330" y="3339"/>
                <a:ext cx="2404" cy="681"/>
                <a:chOff x="4330" y="3339"/>
                <a:chExt cx="2404" cy="681"/>
              </a:xfrm>
            </p:grpSpPr>
            <p:sp>
              <p:nvSpPr>
                <p:cNvPr id="9" name="AutoShape 8"/>
                <p:cNvSpPr>
                  <a:spLocks noChangeArrowheads="1"/>
                </p:cNvSpPr>
                <p:nvPr/>
              </p:nvSpPr>
              <p:spPr bwMode="auto">
                <a:xfrm>
                  <a:off x="4330" y="3339"/>
                  <a:ext cx="2404" cy="681"/>
                </a:xfrm>
                <a:prstGeom prst="wedgeRoundRectCallout">
                  <a:avLst>
                    <a:gd name="adj1" fmla="val -39328"/>
                    <a:gd name="adj2" fmla="val -106799"/>
                    <a:gd name="adj3" fmla="val 16667"/>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latin typeface="微软雅黑" pitchFamily="34" charset="-122"/>
                    <a:ea typeface="微软雅黑" pitchFamily="34" charset="-122"/>
                  </a:endParaRPr>
                </a:p>
              </p:txBody>
            </p:sp>
            <p:sp>
              <p:nvSpPr>
                <p:cNvPr id="10" name="Text Box 9"/>
                <p:cNvSpPr txBox="1">
                  <a:spLocks noChangeArrowheads="1"/>
                </p:cNvSpPr>
                <p:nvPr/>
              </p:nvSpPr>
              <p:spPr bwMode="auto">
                <a:xfrm>
                  <a:off x="4429" y="3386"/>
                  <a:ext cx="2194"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smtClean="0">
                      <a:latin typeface="微软雅黑" pitchFamily="34" charset="-122"/>
                      <a:ea typeface="微软雅黑" pitchFamily="34" charset="-122"/>
                    </a:rPr>
                    <a:t>邮件服务器的域名</a:t>
                  </a:r>
                  <a:r>
                    <a:rPr lang="zh-CN" altLang="en-US" sz="1600" b="1" dirty="0">
                      <a:latin typeface="微软雅黑" pitchFamily="34" charset="-122"/>
                      <a:ea typeface="微软雅黑" pitchFamily="34" charset="-122"/>
                    </a:rPr>
                    <a:t>，</a:t>
                  </a:r>
                </a:p>
                <a:p>
                  <a:pPr algn="ctr" eaLnBrk="1" hangingPunct="1"/>
                  <a:r>
                    <a:rPr lang="zh-CN" altLang="en-US" sz="1600" b="1" dirty="0">
                      <a:latin typeface="微软雅黑" pitchFamily="34" charset="-122"/>
                      <a:ea typeface="微软雅黑" pitchFamily="34" charset="-122"/>
                    </a:rPr>
                    <a:t>在全世界必须是唯一的 </a:t>
                  </a:r>
                </a:p>
              </p:txBody>
            </p:sp>
          </p:grpSp>
        </p:grpSp>
        <p:grpSp>
          <p:nvGrpSpPr>
            <p:cNvPr id="11" name="Group 10"/>
            <p:cNvGrpSpPr>
              <a:grpSpLocks/>
            </p:cNvGrpSpPr>
            <p:nvPr/>
          </p:nvGrpSpPr>
          <p:grpSpPr bwMode="auto">
            <a:xfrm>
              <a:off x="2570495" y="4437113"/>
              <a:ext cx="3823106" cy="1666875"/>
              <a:chOff x="1630" y="2931"/>
              <a:chExt cx="2223" cy="1050"/>
            </a:xfrm>
          </p:grpSpPr>
          <p:sp>
            <p:nvSpPr>
              <p:cNvPr id="12" name="Line 11"/>
              <p:cNvSpPr>
                <a:spLocks noChangeShapeType="1"/>
              </p:cNvSpPr>
              <p:nvPr/>
            </p:nvSpPr>
            <p:spPr bwMode="auto">
              <a:xfrm flipV="1">
                <a:off x="2537" y="2931"/>
                <a:ext cx="978" cy="1"/>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nvGrpSpPr>
              <p:cNvPr id="13" name="Group 12"/>
              <p:cNvGrpSpPr>
                <a:grpSpLocks/>
              </p:cNvGrpSpPr>
              <p:nvPr/>
            </p:nvGrpSpPr>
            <p:grpSpPr bwMode="auto">
              <a:xfrm>
                <a:off x="1630" y="3300"/>
                <a:ext cx="2223" cy="681"/>
                <a:chOff x="1630" y="3300"/>
                <a:chExt cx="2223" cy="681"/>
              </a:xfrm>
            </p:grpSpPr>
            <p:sp>
              <p:nvSpPr>
                <p:cNvPr id="14" name="AutoShape 13"/>
                <p:cNvSpPr>
                  <a:spLocks noChangeArrowheads="1"/>
                </p:cNvSpPr>
                <p:nvPr/>
              </p:nvSpPr>
              <p:spPr bwMode="auto">
                <a:xfrm>
                  <a:off x="1630" y="3300"/>
                  <a:ext cx="2223" cy="681"/>
                </a:xfrm>
                <a:prstGeom prst="wedgeRoundRectCallout">
                  <a:avLst>
                    <a:gd name="adj1" fmla="val 8694"/>
                    <a:gd name="adj2" fmla="val -101405"/>
                    <a:gd name="adj3" fmla="val 16667"/>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solidFill>
                      <a:srgbClr val="000099"/>
                    </a:solidFill>
                    <a:latin typeface="微软雅黑" pitchFamily="34" charset="-122"/>
                    <a:ea typeface="微软雅黑" pitchFamily="34" charset="-122"/>
                  </a:endParaRPr>
                </a:p>
              </p:txBody>
            </p:sp>
            <p:sp>
              <p:nvSpPr>
                <p:cNvPr id="15" name="Text Box 14"/>
                <p:cNvSpPr txBox="1">
                  <a:spLocks noChangeArrowheads="1"/>
                </p:cNvSpPr>
                <p:nvPr/>
              </p:nvSpPr>
              <p:spPr bwMode="auto">
                <a:xfrm>
                  <a:off x="1673" y="3339"/>
                  <a:ext cx="2136"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smtClean="0">
                      <a:latin typeface="微软雅黑" pitchFamily="34" charset="-122"/>
                      <a:ea typeface="微软雅黑" pitchFamily="34" charset="-122"/>
                    </a:rPr>
                    <a:t>用户名</a:t>
                  </a:r>
                  <a:r>
                    <a:rPr lang="zh-CN" altLang="en-US" sz="1600" b="1" dirty="0">
                      <a:latin typeface="微软雅黑" pitchFamily="34" charset="-122"/>
                      <a:ea typeface="微软雅黑" pitchFamily="34" charset="-122"/>
                    </a:rPr>
                    <a:t>在</a:t>
                  </a:r>
                  <a:r>
                    <a:rPr lang="zh-CN" altLang="en-US" sz="1600" b="1" dirty="0" smtClean="0">
                      <a:latin typeface="微软雅黑" pitchFamily="34" charset="-122"/>
                      <a:ea typeface="微软雅黑" pitchFamily="34" charset="-122"/>
                    </a:rPr>
                    <a:t>该邮件服务器</a:t>
                  </a:r>
                  <a:endParaRPr lang="zh-CN" altLang="en-US" sz="1600" b="1" dirty="0">
                    <a:latin typeface="微软雅黑" pitchFamily="34" charset="-122"/>
                    <a:ea typeface="微软雅黑" pitchFamily="34" charset="-122"/>
                  </a:endParaRPr>
                </a:p>
                <a:p>
                  <a:pPr algn="ctr" eaLnBrk="1" hangingPunct="1"/>
                  <a:r>
                    <a:rPr lang="zh-CN" altLang="en-US" sz="1600" b="1" dirty="0">
                      <a:latin typeface="微软雅黑" pitchFamily="34" charset="-122"/>
                      <a:ea typeface="微软雅黑" pitchFamily="34" charset="-122"/>
                    </a:rPr>
                    <a:t>的范围内是唯一的。 </a:t>
                  </a:r>
                </a:p>
              </p:txBody>
            </p:sp>
          </p:grpSp>
        </p:grpSp>
      </p:grpSp>
      <p:sp>
        <p:nvSpPr>
          <p:cNvPr id="5" name="矩形 4"/>
          <p:cNvSpPr/>
          <p:nvPr/>
        </p:nvSpPr>
        <p:spPr>
          <a:xfrm>
            <a:off x="1047565" y="1876976"/>
            <a:ext cx="6880196" cy="409101"/>
          </a:xfrm>
          <a:prstGeom prst="rect">
            <a:avLst/>
          </a:prstGeom>
          <a:solidFill>
            <a:srgbClr val="FFFF66"/>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itchFamily="34" charset="-122"/>
                <a:ea typeface="微软雅黑" pitchFamily="34" charset="-122"/>
              </a:rPr>
              <a:t>用户</a:t>
            </a:r>
            <a:r>
              <a:rPr lang="zh-CN" altLang="en-US" b="1" dirty="0" smtClean="0">
                <a:solidFill>
                  <a:srgbClr val="000099"/>
                </a:solidFill>
                <a:latin typeface="微软雅黑" pitchFamily="34" charset="-122"/>
                <a:ea typeface="微软雅黑" pitchFamily="34" charset="-122"/>
              </a:rPr>
              <a:t>名</a:t>
            </a:r>
            <a:r>
              <a:rPr lang="en-US" altLang="zh-CN" b="1" dirty="0" smtClean="0">
                <a:solidFill>
                  <a:srgbClr val="000099"/>
                </a:solidFill>
                <a:latin typeface="微软雅黑" pitchFamily="34" charset="-122"/>
                <a:ea typeface="微软雅黑" pitchFamily="34" charset="-122"/>
              </a:rPr>
              <a:t>@</a:t>
            </a:r>
            <a:r>
              <a:rPr lang="zh-CN" altLang="en-US" b="1" dirty="0">
                <a:solidFill>
                  <a:srgbClr val="000099"/>
                </a:solidFill>
                <a:latin typeface="微软雅黑" pitchFamily="34" charset="-122"/>
                <a:ea typeface="微软雅黑" pitchFamily="34" charset="-122"/>
              </a:rPr>
              <a:t>邮件服务器</a:t>
            </a:r>
            <a:r>
              <a:rPr lang="zh-CN" altLang="en-US" b="1" dirty="0" smtClean="0">
                <a:solidFill>
                  <a:srgbClr val="000099"/>
                </a:solidFill>
                <a:latin typeface="微软雅黑" pitchFamily="34" charset="-122"/>
                <a:ea typeface="微软雅黑" pitchFamily="34" charset="-122"/>
              </a:rPr>
              <a:t>的</a:t>
            </a:r>
            <a:r>
              <a:rPr lang="zh-CN" altLang="en-US" b="1" dirty="0">
                <a:solidFill>
                  <a:srgbClr val="000099"/>
                </a:solidFill>
                <a:latin typeface="微软雅黑" pitchFamily="34" charset="-122"/>
                <a:ea typeface="微软雅黑" pitchFamily="34" charset="-122"/>
              </a:rPr>
              <a:t>域名    </a:t>
            </a:r>
            <a:r>
              <a:rPr lang="zh-CN" altLang="en-US" b="1" dirty="0" smtClean="0">
                <a:solidFill>
                  <a:srgbClr val="000099"/>
                </a:solidFill>
                <a:latin typeface="微软雅黑" pitchFamily="34" charset="-122"/>
                <a:ea typeface="微软雅黑" pitchFamily="34" charset="-122"/>
              </a:rPr>
              <a:t>          </a:t>
            </a:r>
            <a:endParaRPr lang="en-US" altLang="zh-CN" b="1" dirty="0">
              <a:solidFill>
                <a:srgbClr val="000099"/>
              </a:solidFill>
              <a:latin typeface="微软雅黑" pitchFamily="34" charset="-122"/>
              <a:ea typeface="微软雅黑" pitchFamily="34" charset="-122"/>
            </a:endParaRPr>
          </a:p>
        </p:txBody>
      </p:sp>
      <p:sp>
        <p:nvSpPr>
          <p:cNvPr id="17" name="Rectangle 4"/>
          <p:cNvSpPr>
            <a:spLocks noChangeArrowheads="1"/>
          </p:cNvSpPr>
          <p:nvPr/>
        </p:nvSpPr>
        <p:spPr bwMode="auto">
          <a:xfrm>
            <a:off x="7802880" y="37227"/>
            <a:ext cx="1338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电子邮件概述</a:t>
            </a:r>
          </a:p>
        </p:txBody>
      </p:sp>
    </p:spTree>
    <p:extLst>
      <p:ext uri="{BB962C8B-B14F-4D97-AF65-F5344CB8AC3E}">
        <p14:creationId xmlns:p14="http://schemas.microsoft.com/office/powerpoint/2010/main" val="27959598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436915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Rectangle 6"/>
          <p:cNvSpPr>
            <a:spLocks noChangeArrowheads="1"/>
          </p:cNvSpPr>
          <p:nvPr/>
        </p:nvSpPr>
        <p:spPr bwMode="auto">
          <a:xfrm>
            <a:off x="4785259" y="2191369"/>
            <a:ext cx="3035300" cy="1917261"/>
          </a:xfrm>
          <a:prstGeom prst="rect">
            <a:avLst/>
          </a:prstGeom>
          <a:solidFill>
            <a:schemeClr val="bg1"/>
          </a:solidFill>
          <a:ln w="19050">
            <a:solidFill>
              <a:schemeClr val="tx1"/>
            </a:solidFill>
            <a:miter lim="800000"/>
            <a:headEnd/>
            <a:tailEnd/>
          </a:ln>
          <a:effectLst/>
          <a:extLst/>
        </p:spPr>
        <p:txBody>
          <a:bodyPr wrap="none" anchor="ctr"/>
          <a:lstStyle/>
          <a:p>
            <a:endParaRPr lang="zh-CN" altLang="en-US"/>
          </a:p>
        </p:txBody>
      </p:sp>
      <p:sp>
        <p:nvSpPr>
          <p:cNvPr id="2" name="AutoShape 5"/>
          <p:cNvSpPr>
            <a:spLocks noChangeArrowheads="1"/>
          </p:cNvSpPr>
          <p:nvPr/>
        </p:nvSpPr>
        <p:spPr bwMode="auto">
          <a:xfrm>
            <a:off x="556963" y="61500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25507" y="57273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电子邮件的信息格式</a:t>
            </a:r>
          </a:p>
        </p:txBody>
      </p:sp>
      <p:sp>
        <p:nvSpPr>
          <p:cNvPr id="5" name="Rectangle 4"/>
          <p:cNvSpPr>
            <a:spLocks noChangeArrowheads="1"/>
          </p:cNvSpPr>
          <p:nvPr/>
        </p:nvSpPr>
        <p:spPr bwMode="auto">
          <a:xfrm>
            <a:off x="4890359" y="2323624"/>
            <a:ext cx="2832100" cy="369326"/>
          </a:xfrm>
          <a:prstGeom prst="rect">
            <a:avLst/>
          </a:prstGeom>
          <a:solidFill>
            <a:srgbClr val="00FFCC"/>
          </a:solidFill>
          <a:ln w="12700">
            <a:solidFill>
              <a:schemeClr val="tx1"/>
            </a:solidFill>
            <a:miter lim="800000"/>
            <a:headEnd/>
            <a:tailEnd/>
          </a:ln>
          <a:effectLst/>
          <a:extLst/>
        </p:spPr>
        <p:txBody>
          <a:bodyPr wrap="none" anchor="ctr"/>
          <a:lstStyle/>
          <a:p>
            <a:pPr algn="ctr"/>
            <a:r>
              <a:rPr lang="zh-CN" altLang="en-US" b="1" dirty="0" smtClean="0">
                <a:latin typeface="微软雅黑" pitchFamily="34" charset="-122"/>
                <a:ea typeface="微软雅黑" pitchFamily="34" charset="-122"/>
              </a:rPr>
              <a:t>首部 </a:t>
            </a:r>
            <a:r>
              <a:rPr lang="en-US" altLang="zh-CN" b="1" dirty="0" smtClean="0">
                <a:latin typeface="微软雅黑" pitchFamily="34" charset="-122"/>
                <a:ea typeface="微软雅黑" pitchFamily="34" charset="-122"/>
              </a:rPr>
              <a:t>(header)</a:t>
            </a:r>
            <a:endParaRPr lang="en-US" altLang="zh-CN" b="1" dirty="0">
              <a:latin typeface="微软雅黑" pitchFamily="34" charset="-122"/>
              <a:ea typeface="微软雅黑" pitchFamily="34" charset="-122"/>
            </a:endParaRPr>
          </a:p>
        </p:txBody>
      </p:sp>
      <p:sp>
        <p:nvSpPr>
          <p:cNvPr id="6" name="Rectangle 5"/>
          <p:cNvSpPr>
            <a:spLocks noChangeArrowheads="1"/>
          </p:cNvSpPr>
          <p:nvPr/>
        </p:nvSpPr>
        <p:spPr bwMode="auto">
          <a:xfrm>
            <a:off x="4890359" y="2936735"/>
            <a:ext cx="2832100" cy="1056289"/>
          </a:xfrm>
          <a:prstGeom prst="rect">
            <a:avLst/>
          </a:prstGeom>
          <a:solidFill>
            <a:srgbClr val="FFFF66"/>
          </a:solidFill>
          <a:ln w="12700">
            <a:solidFill>
              <a:schemeClr val="tx1"/>
            </a:solidFill>
            <a:miter lim="800000"/>
            <a:headEnd/>
            <a:tailEnd/>
          </a:ln>
          <a:effectLst/>
          <a:extLst/>
        </p:spPr>
        <p:txBody>
          <a:bodyPr wrap="none" anchor="ctr"/>
          <a:lstStyle/>
          <a:p>
            <a:pPr algn="ctr"/>
            <a:r>
              <a:rPr lang="zh-CN" altLang="en-US" b="1" dirty="0" smtClean="0">
                <a:latin typeface="微软雅黑" pitchFamily="34" charset="-122"/>
                <a:ea typeface="微软雅黑" pitchFamily="34" charset="-122"/>
              </a:rPr>
              <a:t>主体 </a:t>
            </a:r>
            <a:r>
              <a:rPr lang="en-US" altLang="zh-CN" b="1" dirty="0" smtClean="0">
                <a:latin typeface="微软雅黑" pitchFamily="34" charset="-122"/>
                <a:ea typeface="微软雅黑" pitchFamily="34" charset="-122"/>
              </a:rPr>
              <a:t>(body)</a:t>
            </a:r>
            <a:endParaRPr lang="en-US" altLang="zh-CN" b="1" dirty="0">
              <a:latin typeface="微软雅黑" pitchFamily="34" charset="-122"/>
              <a:ea typeface="微软雅黑" pitchFamily="34" charset="-122"/>
            </a:endParaRPr>
          </a:p>
        </p:txBody>
      </p:sp>
      <p:sp>
        <p:nvSpPr>
          <p:cNvPr id="8" name="Text Box 7"/>
          <p:cNvSpPr txBox="1">
            <a:spLocks noChangeArrowheads="1"/>
          </p:cNvSpPr>
          <p:nvPr/>
        </p:nvSpPr>
        <p:spPr bwMode="auto">
          <a:xfrm>
            <a:off x="541845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smtClean="0">
                <a:latin typeface="微软雅黑" pitchFamily="34" charset="-122"/>
                <a:ea typeface="微软雅黑" pitchFamily="34" charset="-122"/>
              </a:rPr>
              <a:t>空行</a:t>
            </a:r>
            <a:endParaRPr lang="en-US" altLang="zh-CN" sz="1400" b="1" dirty="0">
              <a:latin typeface="微软雅黑" pitchFamily="34" charset="-122"/>
              <a:ea typeface="微软雅黑" pitchFamily="34" charset="-122"/>
            </a:endParaRPr>
          </a:p>
        </p:txBody>
      </p:sp>
      <p:sp>
        <p:nvSpPr>
          <p:cNvPr id="10" name="Rectangle 6"/>
          <p:cNvSpPr>
            <a:spLocks noChangeArrowheads="1"/>
          </p:cNvSpPr>
          <p:nvPr/>
        </p:nvSpPr>
        <p:spPr bwMode="auto">
          <a:xfrm>
            <a:off x="4785259" y="1335334"/>
            <a:ext cx="3035300" cy="860409"/>
          </a:xfrm>
          <a:prstGeom prst="rect">
            <a:avLst/>
          </a:prstGeom>
          <a:solidFill>
            <a:srgbClr val="0066FF"/>
          </a:solidFill>
          <a:ln w="19050">
            <a:solidFill>
              <a:schemeClr val="tx1"/>
            </a:solidFill>
            <a:miter lim="800000"/>
            <a:headEnd/>
            <a:tailEnd/>
          </a:ln>
          <a:effectLst/>
          <a:extLst/>
        </p:spPr>
        <p:txBody>
          <a:bodyPr wrap="none" anchor="ctr"/>
          <a:lstStyle/>
          <a:p>
            <a:pPr>
              <a:lnSpc>
                <a:spcPts val="1600"/>
              </a:lnSpc>
            </a:pPr>
            <a:r>
              <a:rPr lang="en-US" altLang="zh-CN" sz="1200" b="1" dirty="0" smtClean="0">
                <a:solidFill>
                  <a:schemeClr val="bg1"/>
                </a:solidFill>
                <a:latin typeface="微软雅黑" pitchFamily="34" charset="-122"/>
                <a:ea typeface="微软雅黑" pitchFamily="34" charset="-122"/>
              </a:rPr>
              <a:t>MAIL FROM: one@abc.edu</a:t>
            </a:r>
          </a:p>
          <a:p>
            <a:pPr>
              <a:lnSpc>
                <a:spcPts val="1600"/>
              </a:lnSpc>
            </a:pPr>
            <a:r>
              <a:rPr lang="en-US" altLang="zh-CN" sz="1200" b="1" dirty="0" smtClean="0">
                <a:solidFill>
                  <a:schemeClr val="bg1"/>
                </a:solidFill>
                <a:latin typeface="微软雅黑" pitchFamily="34" charset="-122"/>
                <a:ea typeface="微软雅黑" pitchFamily="34" charset="-122"/>
              </a:rPr>
              <a:t>RCPT TO: two@xyz.com</a:t>
            </a:r>
            <a:endParaRPr lang="zh-CN" altLang="en-US" sz="1200" b="1" dirty="0">
              <a:solidFill>
                <a:schemeClr val="bg1"/>
              </a:solidFill>
              <a:latin typeface="微软雅黑" pitchFamily="34" charset="-122"/>
              <a:ea typeface="微软雅黑" pitchFamily="34" charset="-122"/>
            </a:endParaRPr>
          </a:p>
        </p:txBody>
      </p:sp>
      <p:sp>
        <p:nvSpPr>
          <p:cNvPr id="11" name="矩形 10"/>
          <p:cNvSpPr/>
          <p:nvPr/>
        </p:nvSpPr>
        <p:spPr>
          <a:xfrm>
            <a:off x="7838111" y="1601892"/>
            <a:ext cx="745679" cy="369332"/>
          </a:xfrm>
          <a:prstGeom prst="rect">
            <a:avLst/>
          </a:prstGeom>
          <a:noFill/>
          <a:ln w="12700">
            <a:noFill/>
            <a:miter lim="800000"/>
            <a:headEnd/>
            <a:tailEnd/>
          </a:ln>
          <a:effectLst/>
        </p:spPr>
        <p:txBody>
          <a:bodyPr wrap="none" anchor="ctr"/>
          <a:lstStyle/>
          <a:p>
            <a:pPr algn="r"/>
            <a:r>
              <a:rPr lang="zh-CN" altLang="en-US" sz="1600" b="1" dirty="0" smtClean="0">
                <a:latin typeface="微软雅黑" pitchFamily="34" charset="-122"/>
                <a:ea typeface="微软雅黑" pitchFamily="34" charset="-122"/>
              </a:rPr>
              <a:t>信封</a:t>
            </a:r>
            <a:endParaRPr lang="en-US" altLang="zh-CN" sz="1600" b="1" dirty="0">
              <a:latin typeface="微软雅黑" pitchFamily="34" charset="-122"/>
              <a:ea typeface="微软雅黑" pitchFamily="34" charset="-122"/>
            </a:endParaRPr>
          </a:p>
        </p:txBody>
      </p:sp>
      <p:sp>
        <p:nvSpPr>
          <p:cNvPr id="12" name="矩形 11"/>
          <p:cNvSpPr/>
          <p:nvPr/>
        </p:nvSpPr>
        <p:spPr>
          <a:xfrm>
            <a:off x="7838111" y="2936735"/>
            <a:ext cx="745679" cy="369332"/>
          </a:xfrm>
          <a:prstGeom prst="rect">
            <a:avLst/>
          </a:prstGeom>
          <a:noFill/>
          <a:ln w="12700">
            <a:noFill/>
            <a:miter lim="800000"/>
            <a:headEnd/>
            <a:tailEnd/>
          </a:ln>
          <a:effectLst/>
        </p:spPr>
        <p:txBody>
          <a:bodyPr wrap="none" anchor="ctr"/>
          <a:lstStyle/>
          <a:p>
            <a:pPr algn="r"/>
            <a:r>
              <a:rPr lang="zh-CN" altLang="en-US" sz="1600" b="1" dirty="0" smtClean="0">
                <a:latin typeface="微软雅黑" pitchFamily="34" charset="-122"/>
                <a:ea typeface="微软雅黑" pitchFamily="34" charset="-122"/>
              </a:rPr>
              <a:t>内容</a:t>
            </a:r>
            <a:endParaRPr lang="en-US" altLang="zh-CN" sz="1600" b="1" dirty="0">
              <a:latin typeface="微软雅黑" pitchFamily="34" charset="-122"/>
              <a:ea typeface="微软雅黑" pitchFamily="34" charset="-122"/>
            </a:endParaRPr>
          </a:p>
        </p:txBody>
      </p:sp>
      <p:grpSp>
        <p:nvGrpSpPr>
          <p:cNvPr id="24" name="组合 23"/>
          <p:cNvGrpSpPr/>
          <p:nvPr/>
        </p:nvGrpSpPr>
        <p:grpSpPr>
          <a:xfrm>
            <a:off x="7869640" y="1335334"/>
            <a:ext cx="714150" cy="2768917"/>
            <a:chOff x="7200140" y="1468504"/>
            <a:chExt cx="807016" cy="2768917"/>
          </a:xfrm>
        </p:grpSpPr>
        <p:cxnSp>
          <p:nvCxnSpPr>
            <p:cNvPr id="14" name="直接连接符 13"/>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16"/>
          <p:cNvCxnSpPr/>
          <p:nvPr/>
        </p:nvCxnSpPr>
        <p:spPr>
          <a:xfrm>
            <a:off x="802501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802501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56963" y="1004641"/>
            <a:ext cx="3714088"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电子邮件的</a:t>
            </a:r>
            <a:r>
              <a:rPr lang="zh-CN" altLang="en-US" b="1" dirty="0" smtClean="0">
                <a:solidFill>
                  <a:srgbClr val="C00000"/>
                </a:solidFill>
                <a:latin typeface="微软雅黑" pitchFamily="34" charset="-122"/>
                <a:ea typeface="微软雅黑" pitchFamily="34" charset="-122"/>
              </a:rPr>
              <a:t>内容部分</a:t>
            </a:r>
            <a:r>
              <a:rPr lang="zh-CN" altLang="en-US" b="1" dirty="0" smtClean="0">
                <a:latin typeface="微软雅黑" pitchFamily="34" charset="-122"/>
                <a:ea typeface="微软雅黑" pitchFamily="34" charset="-122"/>
              </a:rPr>
              <a:t>包括了</a:t>
            </a:r>
            <a:r>
              <a:rPr lang="zh-CN" altLang="en-US" b="1" dirty="0">
                <a:solidFill>
                  <a:srgbClr val="C00000"/>
                </a:solidFill>
                <a:latin typeface="微软雅黑" pitchFamily="34" charset="-122"/>
                <a:ea typeface="微软雅黑" pitchFamily="34" charset="-122"/>
              </a:rPr>
              <a:t>首部</a:t>
            </a:r>
            <a:r>
              <a:rPr lang="zh-CN" altLang="en-US" b="1" dirty="0" smtClean="0">
                <a:latin typeface="微软雅黑" pitchFamily="34" charset="-122"/>
                <a:ea typeface="微软雅黑" pitchFamily="34" charset="-122"/>
              </a:rPr>
              <a:t>和</a:t>
            </a:r>
            <a:r>
              <a:rPr lang="zh-CN" altLang="en-US" b="1" dirty="0">
                <a:solidFill>
                  <a:srgbClr val="C00000"/>
                </a:solidFill>
                <a:latin typeface="微软雅黑" pitchFamily="34" charset="-122"/>
                <a:ea typeface="微软雅黑" pitchFamily="34" charset="-122"/>
              </a:rPr>
              <a:t>主体</a:t>
            </a:r>
            <a:r>
              <a:rPr lang="zh-CN" altLang="en-US" b="1" dirty="0" smtClean="0">
                <a:latin typeface="微软雅黑" pitchFamily="34" charset="-122"/>
                <a:ea typeface="微软雅黑" pitchFamily="34" charset="-122"/>
              </a:rPr>
              <a:t>两部分内容。</a:t>
            </a:r>
            <a:endParaRPr lang="en-US" altLang="zh-CN" b="1" dirty="0" smtClean="0">
              <a:latin typeface="微软雅黑" pitchFamily="34" charset="-122"/>
              <a:ea typeface="微软雅黑" pitchFamily="34" charset="-122"/>
            </a:endParaRPr>
          </a:p>
          <a:p>
            <a:pPr marL="285750" indent="-285750" hangingPunct="0">
              <a:lnSpc>
                <a:spcPts val="2900"/>
              </a:lnSpc>
              <a:buClr>
                <a:srgbClr val="0070C0"/>
              </a:buClr>
              <a:buFont typeface="Wingdings" pitchFamily="2" charset="2"/>
              <a:buChar char="l"/>
            </a:pPr>
            <a:r>
              <a:rPr lang="en-US" altLang="zh-CN" b="1" dirty="0" smtClean="0">
                <a:latin typeface="微软雅黑" pitchFamily="34" charset="-122"/>
                <a:ea typeface="微软雅黑" pitchFamily="34" charset="-122"/>
              </a:rPr>
              <a:t>RFC 5322 </a:t>
            </a:r>
            <a:r>
              <a:rPr lang="zh-CN" altLang="en-US" b="1" dirty="0">
                <a:latin typeface="微软雅黑" pitchFamily="34" charset="-122"/>
                <a:ea typeface="微软雅黑" pitchFamily="34" charset="-122"/>
              </a:rPr>
              <a:t>只规定了邮件内容中的</a:t>
            </a:r>
            <a:r>
              <a:rPr lang="zh-CN" altLang="en-US" b="1" dirty="0">
                <a:solidFill>
                  <a:srgbClr val="C00000"/>
                </a:solidFill>
                <a:latin typeface="微软雅黑" pitchFamily="34" charset="-122"/>
                <a:ea typeface="微软雅黑" pitchFamily="34" charset="-122"/>
              </a:rPr>
              <a:t>首部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(header) </a:t>
            </a:r>
            <a:r>
              <a:rPr lang="zh-CN" altLang="en-US" b="1" dirty="0" smtClean="0">
                <a:latin typeface="微软雅黑" pitchFamily="34" charset="-122"/>
                <a:ea typeface="微软雅黑" pitchFamily="34" charset="-122"/>
              </a:rPr>
              <a:t>格式。</a:t>
            </a:r>
            <a:endParaRPr lang="en-US" altLang="zh-CN" b="1" dirty="0" smtClean="0">
              <a:latin typeface="微软雅黑" pitchFamily="34" charset="-122"/>
              <a:ea typeface="微软雅黑" pitchFamily="34" charset="-122"/>
            </a:endParaRPr>
          </a:p>
          <a:p>
            <a:pPr marL="742950" lvl="1" indent="-285750" hangingPunct="0">
              <a:lnSpc>
                <a:spcPts val="2900"/>
              </a:lnSpc>
              <a:buClr>
                <a:srgbClr val="0070C0"/>
              </a:buClr>
              <a:buFont typeface="Wingdings" pitchFamily="2" charset="2"/>
              <a:buChar char="l"/>
            </a:pPr>
            <a:r>
              <a:rPr lang="zh-CN" altLang="en-US" sz="1600" b="1" dirty="0">
                <a:latin typeface="微软雅黑" pitchFamily="34" charset="-122"/>
                <a:ea typeface="微软雅黑" pitchFamily="34" charset="-122"/>
              </a:rPr>
              <a:t>用户写好首部后，邮件</a:t>
            </a:r>
            <a:r>
              <a:rPr lang="zh-CN" altLang="en-US" sz="1600" b="1" dirty="0" smtClean="0">
                <a:latin typeface="微软雅黑" pitchFamily="34" charset="-122"/>
                <a:ea typeface="微软雅黑" pitchFamily="34" charset="-122"/>
              </a:rPr>
              <a:t>系统会自动将</a:t>
            </a:r>
            <a:r>
              <a:rPr lang="zh-CN" altLang="en-US" sz="1600" b="1" dirty="0">
                <a:latin typeface="微软雅黑" pitchFamily="34" charset="-122"/>
                <a:ea typeface="微软雅黑" pitchFamily="34" charset="-122"/>
              </a:rPr>
              <a:t>信封所需的信息提取出来并写在信封</a:t>
            </a:r>
            <a:r>
              <a:rPr lang="zh-CN" altLang="en-US" sz="1600" b="1" dirty="0" smtClean="0">
                <a:latin typeface="微软雅黑" pitchFamily="34" charset="-122"/>
                <a:ea typeface="微软雅黑" pitchFamily="34" charset="-122"/>
              </a:rPr>
              <a:t>上。</a:t>
            </a:r>
            <a:endParaRPr lang="en-US" altLang="zh-CN" sz="1600" b="1" dirty="0" smtClean="0">
              <a:latin typeface="微软雅黑" pitchFamily="34" charset="-122"/>
              <a:ea typeface="微软雅黑" pitchFamily="34" charset="-122"/>
            </a:endParaRPr>
          </a:p>
          <a:p>
            <a:pPr marL="285750" indent="-28575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邮件</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主体</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a:t>
            </a:r>
            <a:r>
              <a:rPr lang="en-US" altLang="zh-CN" b="1" dirty="0" smtClean="0">
                <a:latin typeface="微软雅黑" pitchFamily="34" charset="-122"/>
                <a:ea typeface="微软雅黑" pitchFamily="34" charset="-122"/>
              </a:rPr>
              <a:t>body) </a:t>
            </a:r>
            <a:r>
              <a:rPr lang="zh-CN" altLang="en-US" b="1" dirty="0" smtClean="0">
                <a:latin typeface="微软雅黑" pitchFamily="34" charset="-122"/>
                <a:ea typeface="微软雅黑" pitchFamily="34" charset="-122"/>
              </a:rPr>
              <a:t>部分则由用户</a:t>
            </a:r>
            <a:r>
              <a:rPr lang="zh-CN" altLang="en-US" b="1" dirty="0">
                <a:latin typeface="微软雅黑" pitchFamily="34" charset="-122"/>
                <a:ea typeface="微软雅黑" pitchFamily="34" charset="-122"/>
              </a:rPr>
              <a:t>自由撰写</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19"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电子邮件的信息格式</a:t>
            </a:r>
          </a:p>
        </p:txBody>
      </p:sp>
    </p:spTree>
    <p:custDataLst>
      <p:tags r:id="rId1"/>
    </p:custDataLst>
    <p:extLst>
      <p:ext uri="{BB962C8B-B14F-4D97-AF65-F5344CB8AC3E}">
        <p14:creationId xmlns:p14="http://schemas.microsoft.com/office/powerpoint/2010/main" val="33674720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5">
                                            <p:txEl>
                                              <p:pRg st="1" end="1"/>
                                            </p:txEl>
                                          </p:spTgt>
                                        </p:tgtEl>
                                        <p:attrNameLst>
                                          <p:attrName>style.visibility</p:attrName>
                                        </p:attrNameLst>
                                      </p:cBhvr>
                                      <p:to>
                                        <p:strVal val="visible"/>
                                      </p:to>
                                    </p:set>
                                    <p:animEffect transition="in" filter="fade">
                                      <p:cBhvr>
                                        <p:cTn id="13" dur="500"/>
                                        <p:tgtEl>
                                          <p:spTgt spid="25">
                                            <p:txEl>
                                              <p:pRg st="1" end="1"/>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5">
                                            <p:txEl>
                                              <p:pRg st="2" end="2"/>
                                            </p:txEl>
                                          </p:spTgt>
                                        </p:tgtEl>
                                        <p:attrNameLst>
                                          <p:attrName>style.visibility</p:attrName>
                                        </p:attrNameLst>
                                      </p:cBhvr>
                                      <p:to>
                                        <p:strVal val="visible"/>
                                      </p:to>
                                    </p:set>
                                    <p:animEffect transition="in" filter="fade">
                                      <p:cBhvr>
                                        <p:cTn id="16" dur="500"/>
                                        <p:tgtEl>
                                          <p:spTgt spid="25">
                                            <p:txEl>
                                              <p:pRg st="2" end="2"/>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5">
                                            <p:txEl>
                                              <p:pRg st="3" end="3"/>
                                            </p:txEl>
                                          </p:spTgt>
                                        </p:tgtEl>
                                        <p:attrNameLst>
                                          <p:attrName>style.visibility</p:attrName>
                                        </p:attrNameLst>
                                      </p:cBhvr>
                                      <p:to>
                                        <p:strVal val="visible"/>
                                      </p:to>
                                    </p:set>
                                    <p:animEffect transition="in" filter="fade">
                                      <p:cBhvr>
                                        <p:cTn id="21" dur="500"/>
                                        <p:tgtEl>
                                          <p:spTgt spid="2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56963" y="611416"/>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28" name="Rectangle 6"/>
          <p:cNvSpPr>
            <a:spLocks noChangeArrowheads="1"/>
          </p:cNvSpPr>
          <p:nvPr/>
        </p:nvSpPr>
        <p:spPr bwMode="auto">
          <a:xfrm>
            <a:off x="3552869" y="578205"/>
            <a:ext cx="20569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邮件内容的</a:t>
            </a:r>
            <a:r>
              <a:rPr lang="zh-CN" altLang="en-US" sz="2000" b="1" dirty="0" smtClean="0">
                <a:solidFill>
                  <a:schemeClr val="bg1"/>
                </a:solidFill>
                <a:latin typeface="微软雅黑" pitchFamily="34" charset="-122"/>
                <a:ea typeface="微软雅黑" pitchFamily="34" charset="-122"/>
              </a:rPr>
              <a:t>首部</a:t>
            </a:r>
            <a:endParaRPr lang="zh-CN" altLang="en-US" sz="2000" b="1" dirty="0">
              <a:solidFill>
                <a:schemeClr val="bg1"/>
              </a:solidFill>
              <a:latin typeface="微软雅黑" pitchFamily="34" charset="-122"/>
              <a:ea typeface="微软雅黑" pitchFamily="34" charset="-122"/>
            </a:endParaRPr>
          </a:p>
        </p:txBody>
      </p:sp>
      <p:sp>
        <p:nvSpPr>
          <p:cNvPr id="29" name="圆角矩形 28"/>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0"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headEnd/>
            <a:tailEnd/>
          </a:ln>
          <a:effectLst/>
          <a:extLst/>
        </p:spPr>
        <p:txBody>
          <a:bodyPr wrap="none" anchor="ctr"/>
          <a:lstStyle/>
          <a:p>
            <a:endParaRPr lang="zh-CN" altLang="en-US"/>
          </a:p>
        </p:txBody>
      </p:sp>
      <p:sp>
        <p:nvSpPr>
          <p:cNvPr id="31"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headEnd/>
            <a:tailEnd/>
          </a:ln>
          <a:effectLst/>
          <a:extLst/>
        </p:spPr>
        <p:txBody>
          <a:bodyPr wrap="none" anchor="ctr"/>
          <a:lstStyle/>
          <a:p>
            <a:pPr algn="ctr"/>
            <a:r>
              <a:rPr lang="zh-CN" altLang="en-US" b="1" dirty="0" smtClean="0">
                <a:latin typeface="微软雅黑" pitchFamily="34" charset="-122"/>
                <a:ea typeface="微软雅黑" pitchFamily="34" charset="-122"/>
              </a:rPr>
              <a:t>首部 </a:t>
            </a:r>
            <a:r>
              <a:rPr lang="en-US" altLang="zh-CN" b="1" dirty="0" smtClean="0">
                <a:latin typeface="微软雅黑" pitchFamily="34" charset="-122"/>
                <a:ea typeface="微软雅黑" pitchFamily="34" charset="-122"/>
              </a:rPr>
              <a:t>(header)</a:t>
            </a:r>
            <a:endParaRPr lang="en-US" altLang="zh-CN" b="1" dirty="0">
              <a:latin typeface="微软雅黑" pitchFamily="34" charset="-122"/>
              <a:ea typeface="微软雅黑" pitchFamily="34" charset="-122"/>
            </a:endParaRPr>
          </a:p>
        </p:txBody>
      </p:sp>
      <p:sp>
        <p:nvSpPr>
          <p:cNvPr id="32" name="Rectangle 5"/>
          <p:cNvSpPr>
            <a:spLocks noChangeArrowheads="1"/>
          </p:cNvSpPr>
          <p:nvPr/>
        </p:nvSpPr>
        <p:spPr bwMode="auto">
          <a:xfrm>
            <a:off x="4494119" y="2936735"/>
            <a:ext cx="2832100" cy="1056289"/>
          </a:xfrm>
          <a:prstGeom prst="rect">
            <a:avLst/>
          </a:prstGeom>
          <a:solidFill>
            <a:srgbClr val="FFFF66"/>
          </a:solidFill>
          <a:ln w="12700">
            <a:solidFill>
              <a:schemeClr val="tx1"/>
            </a:solidFill>
            <a:miter lim="800000"/>
            <a:headEnd/>
            <a:tailEnd/>
          </a:ln>
          <a:effectLst/>
          <a:extLst/>
        </p:spPr>
        <p:txBody>
          <a:bodyPr wrap="none" anchor="ctr"/>
          <a:lstStyle/>
          <a:p>
            <a:pPr algn="ctr"/>
            <a:r>
              <a:rPr lang="zh-CN" altLang="en-US" b="1" dirty="0" smtClean="0">
                <a:latin typeface="微软雅黑" pitchFamily="34" charset="-122"/>
                <a:ea typeface="微软雅黑" pitchFamily="34" charset="-122"/>
              </a:rPr>
              <a:t>主体 </a:t>
            </a:r>
            <a:r>
              <a:rPr lang="en-US" altLang="zh-CN" b="1" dirty="0" smtClean="0">
                <a:latin typeface="微软雅黑" pitchFamily="34" charset="-122"/>
                <a:ea typeface="微软雅黑" pitchFamily="34" charset="-122"/>
              </a:rPr>
              <a:t>(body)</a:t>
            </a:r>
            <a:endParaRPr lang="en-US" altLang="zh-CN" b="1" dirty="0">
              <a:latin typeface="微软雅黑" pitchFamily="34" charset="-122"/>
              <a:ea typeface="微软雅黑" pitchFamily="34" charset="-122"/>
            </a:endParaRPr>
          </a:p>
        </p:txBody>
      </p:sp>
      <p:sp>
        <p:nvSpPr>
          <p:cNvPr id="33"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smtClean="0">
                <a:latin typeface="微软雅黑" pitchFamily="34" charset="-122"/>
                <a:ea typeface="微软雅黑" pitchFamily="34" charset="-122"/>
              </a:rPr>
              <a:t>空行</a:t>
            </a:r>
            <a:endParaRPr lang="en-US" altLang="zh-CN" sz="1400" b="1" dirty="0">
              <a:latin typeface="微软雅黑" pitchFamily="34" charset="-122"/>
              <a:ea typeface="微软雅黑" pitchFamily="34" charset="-122"/>
            </a:endParaRPr>
          </a:p>
        </p:txBody>
      </p:sp>
      <p:sp>
        <p:nvSpPr>
          <p:cNvPr id="34"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headEnd/>
            <a:tailEnd/>
          </a:ln>
          <a:effectLst/>
          <a:extLst/>
        </p:spPr>
        <p:txBody>
          <a:bodyPr wrap="none" anchor="ctr"/>
          <a:lstStyle/>
          <a:p>
            <a:pPr>
              <a:lnSpc>
                <a:spcPts val="1600"/>
              </a:lnSpc>
            </a:pPr>
            <a:r>
              <a:rPr lang="en-US" altLang="zh-CN" sz="1200" b="1" dirty="0" smtClean="0">
                <a:solidFill>
                  <a:schemeClr val="bg1"/>
                </a:solidFill>
                <a:latin typeface="微软雅黑" pitchFamily="34" charset="-122"/>
                <a:ea typeface="微软雅黑" pitchFamily="34" charset="-122"/>
              </a:rPr>
              <a:t>MAIL FROM: one@abc.edu</a:t>
            </a:r>
          </a:p>
          <a:p>
            <a:pPr>
              <a:lnSpc>
                <a:spcPts val="1600"/>
              </a:lnSpc>
            </a:pPr>
            <a:r>
              <a:rPr lang="en-US" altLang="zh-CN" sz="1200" b="1" dirty="0" smtClean="0">
                <a:solidFill>
                  <a:schemeClr val="bg1"/>
                </a:solidFill>
                <a:latin typeface="微软雅黑" pitchFamily="34" charset="-122"/>
                <a:ea typeface="微软雅黑" pitchFamily="34" charset="-122"/>
              </a:rPr>
              <a:t>RCPT TO: two@xyz.com</a:t>
            </a:r>
            <a:endParaRPr lang="zh-CN" altLang="en-US" sz="1200" b="1" dirty="0">
              <a:solidFill>
                <a:schemeClr val="bg1"/>
              </a:solidFill>
              <a:latin typeface="微软雅黑" pitchFamily="34" charset="-122"/>
              <a:ea typeface="微软雅黑" pitchFamily="34" charset="-122"/>
            </a:endParaRPr>
          </a:p>
        </p:txBody>
      </p:sp>
      <p:sp>
        <p:nvSpPr>
          <p:cNvPr id="35" name="矩形 34"/>
          <p:cNvSpPr/>
          <p:nvPr/>
        </p:nvSpPr>
        <p:spPr>
          <a:xfrm>
            <a:off x="7441871" y="1601892"/>
            <a:ext cx="745679" cy="369332"/>
          </a:xfrm>
          <a:prstGeom prst="rect">
            <a:avLst/>
          </a:prstGeom>
          <a:noFill/>
          <a:ln w="12700">
            <a:noFill/>
            <a:miter lim="800000"/>
            <a:headEnd/>
            <a:tailEnd/>
          </a:ln>
          <a:effectLst/>
        </p:spPr>
        <p:txBody>
          <a:bodyPr wrap="none" anchor="ctr"/>
          <a:lstStyle/>
          <a:p>
            <a:pPr algn="r"/>
            <a:r>
              <a:rPr lang="zh-CN" altLang="en-US" sz="1600" b="1" dirty="0" smtClean="0">
                <a:latin typeface="微软雅黑" pitchFamily="34" charset="-122"/>
                <a:ea typeface="微软雅黑" pitchFamily="34" charset="-122"/>
              </a:rPr>
              <a:t>信封</a:t>
            </a:r>
            <a:endParaRPr lang="en-US" altLang="zh-CN" sz="1600" b="1" dirty="0">
              <a:latin typeface="微软雅黑" pitchFamily="34" charset="-122"/>
              <a:ea typeface="微软雅黑" pitchFamily="34" charset="-122"/>
            </a:endParaRPr>
          </a:p>
        </p:txBody>
      </p:sp>
      <p:sp>
        <p:nvSpPr>
          <p:cNvPr id="36" name="矩形 35"/>
          <p:cNvSpPr/>
          <p:nvPr/>
        </p:nvSpPr>
        <p:spPr>
          <a:xfrm>
            <a:off x="7441871" y="2936735"/>
            <a:ext cx="745679" cy="369332"/>
          </a:xfrm>
          <a:prstGeom prst="rect">
            <a:avLst/>
          </a:prstGeom>
          <a:noFill/>
          <a:ln w="12700">
            <a:noFill/>
            <a:miter lim="800000"/>
            <a:headEnd/>
            <a:tailEnd/>
          </a:ln>
          <a:effectLst/>
        </p:spPr>
        <p:txBody>
          <a:bodyPr wrap="none" anchor="ctr"/>
          <a:lstStyle/>
          <a:p>
            <a:pPr algn="r"/>
            <a:r>
              <a:rPr lang="zh-CN" altLang="en-US" sz="1600" b="1" dirty="0" smtClean="0">
                <a:latin typeface="微软雅黑" pitchFamily="34" charset="-122"/>
                <a:ea typeface="微软雅黑" pitchFamily="34" charset="-122"/>
              </a:rPr>
              <a:t>内容</a:t>
            </a:r>
            <a:endParaRPr lang="en-US" altLang="zh-CN" sz="1600" b="1" dirty="0">
              <a:latin typeface="微软雅黑" pitchFamily="34" charset="-122"/>
              <a:ea typeface="微软雅黑" pitchFamily="34" charset="-122"/>
            </a:endParaRPr>
          </a:p>
        </p:txBody>
      </p:sp>
      <p:grpSp>
        <p:nvGrpSpPr>
          <p:cNvPr id="37" name="组合 36"/>
          <p:cNvGrpSpPr/>
          <p:nvPr/>
        </p:nvGrpSpPr>
        <p:grpSpPr>
          <a:xfrm>
            <a:off x="7473400" y="1335334"/>
            <a:ext cx="714150" cy="2768917"/>
            <a:chOff x="7200140" y="1468504"/>
            <a:chExt cx="807016" cy="2768917"/>
          </a:xfrm>
        </p:grpSpPr>
        <p:cxnSp>
          <p:nvCxnSpPr>
            <p:cNvPr id="38" name="直接连接符 37"/>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 name="直接连接符 40"/>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25511" y="1192910"/>
            <a:ext cx="3289738" cy="1759456"/>
          </a:xfrm>
          <a:prstGeom prst="rect">
            <a:avLst/>
          </a:prstGeom>
          <a:solidFill>
            <a:srgbClr val="00FFCC"/>
          </a:solidFill>
          <a:ln w="9525" algn="ctr">
            <a:solidFill>
              <a:srgbClr val="000000"/>
            </a:solidFill>
            <a:miter lim="1000000"/>
            <a:headEnd/>
            <a:tailEnd/>
          </a:ln>
          <a:effectLst/>
          <a:extLst/>
        </p:spPr>
        <p:txBody>
          <a:bodyPr wrap="square">
            <a:spAutoFit/>
          </a:bodyPr>
          <a:lstStyle/>
          <a:p>
            <a:pPr marL="285750" indent="-285750" eaLnBrk="0" hangingPunct="0">
              <a:lnSpc>
                <a:spcPts val="2600"/>
              </a:lnSpc>
              <a:buClr>
                <a:srgbClr val="0070C0"/>
              </a:buClr>
              <a:buFont typeface="Wingdings" pitchFamily="2" charset="2"/>
              <a:buChar char="l"/>
            </a:pPr>
            <a:r>
              <a:rPr lang="en-US" altLang="zh-CN" sz="1600" b="1" dirty="0" smtClean="0">
                <a:latin typeface="微软雅黑" pitchFamily="34" charset="-122"/>
                <a:ea typeface="微软雅黑" pitchFamily="34" charset="-122"/>
              </a:rPr>
              <a:t>From: </a:t>
            </a:r>
            <a:r>
              <a:rPr lang="en-US" altLang="zh-CN" sz="1600" b="1" dirty="0">
                <a:latin typeface="微软雅黑" pitchFamily="34" charset="-122"/>
                <a:ea typeface="微软雅黑" pitchFamily="34" charset="-122"/>
              </a:rPr>
              <a:t>one</a:t>
            </a:r>
            <a:r>
              <a:rPr lang="en-US" altLang="zh-CN" sz="1600" b="1" dirty="0" smtClean="0">
                <a:latin typeface="微软雅黑" pitchFamily="34" charset="-122"/>
                <a:ea typeface="微软雅黑" pitchFamily="34" charset="-122"/>
              </a:rPr>
              <a:t>@abc.edu</a:t>
            </a:r>
          </a:p>
          <a:p>
            <a:pPr marL="285750" indent="-285750" eaLnBrk="0" hangingPunct="0">
              <a:lnSpc>
                <a:spcPts val="2600"/>
              </a:lnSpc>
              <a:buClr>
                <a:srgbClr val="0070C0"/>
              </a:buClr>
              <a:buFont typeface="Wingdings" pitchFamily="2" charset="2"/>
              <a:buChar char="l"/>
            </a:pPr>
            <a:r>
              <a:rPr lang="en-US" altLang="zh-CN" sz="1600" b="1" dirty="0" smtClean="0">
                <a:solidFill>
                  <a:srgbClr val="C00000"/>
                </a:solidFill>
                <a:latin typeface="微软雅黑" pitchFamily="34" charset="-122"/>
                <a:ea typeface="微软雅黑" pitchFamily="34" charset="-122"/>
              </a:rPr>
              <a:t>To</a:t>
            </a:r>
            <a:r>
              <a:rPr lang="en-US" altLang="zh-CN" sz="1600" b="1" dirty="0">
                <a:solidFill>
                  <a:srgbClr val="C00000"/>
                </a:solidFill>
                <a:latin typeface="微软雅黑" pitchFamily="34" charset="-122"/>
                <a:ea typeface="微软雅黑" pitchFamily="34" charset="-122"/>
              </a:rPr>
              <a:t>: </a:t>
            </a:r>
            <a:r>
              <a:rPr lang="en-US" altLang="zh-CN" sz="1600" b="1" dirty="0">
                <a:latin typeface="微软雅黑" pitchFamily="34" charset="-122"/>
                <a:ea typeface="微软雅黑" pitchFamily="34" charset="-122"/>
              </a:rPr>
              <a:t>two</a:t>
            </a:r>
            <a:r>
              <a:rPr lang="en-US" altLang="zh-CN" sz="1600" b="1" dirty="0" smtClean="0">
                <a:latin typeface="微软雅黑" pitchFamily="34" charset="-122"/>
                <a:ea typeface="微软雅黑" pitchFamily="34" charset="-122"/>
              </a:rPr>
              <a:t>@xyz.com</a:t>
            </a:r>
            <a:endParaRPr lang="en-US" altLang="zh-CN" sz="1600" b="1" dirty="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en-US" altLang="zh-CN" sz="1600" b="1" dirty="0" smtClean="0">
                <a:latin typeface="微软雅黑" pitchFamily="34" charset="-122"/>
                <a:ea typeface="微软雅黑" pitchFamily="34" charset="-122"/>
              </a:rPr>
              <a:t>Date: 2026-03-20</a:t>
            </a:r>
          </a:p>
          <a:p>
            <a:pPr marL="285750" indent="-285750" eaLnBrk="0" hangingPunct="0">
              <a:lnSpc>
                <a:spcPts val="2600"/>
              </a:lnSpc>
              <a:buClr>
                <a:srgbClr val="0070C0"/>
              </a:buClr>
              <a:buFont typeface="Wingdings" pitchFamily="2" charset="2"/>
              <a:buChar char="l"/>
            </a:pPr>
            <a:r>
              <a:rPr lang="en-US" altLang="zh-CN" sz="1600" b="1" dirty="0" smtClean="0">
                <a:solidFill>
                  <a:srgbClr val="C00000"/>
                </a:solidFill>
                <a:latin typeface="微软雅黑" pitchFamily="34" charset="-122"/>
                <a:ea typeface="微软雅黑" pitchFamily="34" charset="-122"/>
              </a:rPr>
              <a:t>Subject</a:t>
            </a:r>
            <a:r>
              <a:rPr lang="en-US" altLang="zh-CN" sz="1600" b="1" dirty="0">
                <a:solidFill>
                  <a:srgbClr val="C00000"/>
                </a:solidFill>
                <a:latin typeface="微软雅黑" pitchFamily="34" charset="-122"/>
                <a:ea typeface="微软雅黑" pitchFamily="34" charset="-122"/>
              </a:rPr>
              <a:t>:</a:t>
            </a:r>
            <a:r>
              <a:rPr lang="en-US" altLang="zh-CN" sz="1600" b="1" dirty="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Greetings</a:t>
            </a:r>
          </a:p>
          <a:p>
            <a:pPr marL="285750" indent="-285750" eaLnBrk="0" hangingPunct="0">
              <a:lnSpc>
                <a:spcPts val="2600"/>
              </a:lnSpc>
              <a:buClr>
                <a:srgbClr val="0070C0"/>
              </a:buClr>
              <a:buFont typeface="Wingdings" pitchFamily="2" charset="2"/>
              <a:buChar char="l"/>
            </a:pPr>
            <a:r>
              <a:rPr lang="en-US" altLang="zh-CN" sz="1600" b="1" dirty="0" smtClean="0">
                <a:latin typeface="微软雅黑" pitchFamily="34" charset="-122"/>
                <a:ea typeface="微软雅黑" pitchFamily="34" charset="-122"/>
              </a:rPr>
              <a:t>Cc: Manager@zoo.com</a:t>
            </a:r>
            <a:endParaRPr lang="en-US" altLang="zh-CN" sz="1600" b="1" dirty="0">
              <a:latin typeface="微软雅黑" pitchFamily="34" charset="-122"/>
              <a:ea typeface="微软雅黑" pitchFamily="34" charset="-122"/>
            </a:endParaRPr>
          </a:p>
        </p:txBody>
      </p:sp>
      <p:cxnSp>
        <p:nvCxnSpPr>
          <p:cNvPr id="9" name="直接箭头连接符 8"/>
          <p:cNvCxnSpPr/>
          <p:nvPr/>
        </p:nvCxnSpPr>
        <p:spPr>
          <a:xfrm>
            <a:off x="3447391" y="2244640"/>
            <a:ext cx="1282262" cy="316918"/>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6" name="Rectangle 68"/>
          <p:cNvSpPr>
            <a:spLocks noChangeArrowheads="1"/>
          </p:cNvSpPr>
          <p:nvPr/>
        </p:nvSpPr>
        <p:spPr bwMode="auto">
          <a:xfrm>
            <a:off x="525511" y="3352769"/>
            <a:ext cx="3289738" cy="759182"/>
          </a:xfrm>
          <a:prstGeom prst="rect">
            <a:avLst/>
          </a:prstGeom>
          <a:solidFill>
            <a:srgbClr val="FFFF66"/>
          </a:solidFill>
          <a:ln w="9525" algn="ctr">
            <a:solidFill>
              <a:srgbClr val="000000"/>
            </a:solidFill>
            <a:miter lim="1000000"/>
            <a:headEnd/>
            <a:tailEnd/>
          </a:ln>
          <a:effectLst/>
          <a:extLst/>
        </p:spPr>
        <p:txBody>
          <a:bodyPr wrap="square">
            <a:spAutoFit/>
          </a:bodyPr>
          <a:lstStyle/>
          <a:p>
            <a:pPr marL="285750" indent="-285750" eaLnBrk="0"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纯文本信息 （</a:t>
            </a:r>
            <a:r>
              <a:rPr lang="en-US" altLang="zh-CN" sz="1600" b="1" dirty="0" smtClean="0">
                <a:latin typeface="微软雅黑" pitchFamily="34" charset="-122"/>
                <a:ea typeface="微软雅黑" pitchFamily="34" charset="-122"/>
              </a:rPr>
              <a:t>ASCII</a:t>
            </a:r>
            <a:r>
              <a:rPr lang="zh-CN" altLang="en-US" sz="1600" b="1" dirty="0" smtClean="0">
                <a:latin typeface="微软雅黑" pitchFamily="34" charset="-122"/>
                <a:ea typeface="微软雅黑" pitchFamily="34" charset="-122"/>
              </a:rPr>
              <a:t>编码）。</a:t>
            </a:r>
            <a:endParaRPr lang="en-US" altLang="zh-CN" sz="1600" b="1" dirty="0" smtClean="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无特定结构和含义。</a:t>
            </a:r>
            <a:endParaRPr lang="en-US" altLang="zh-CN" sz="1600" b="1" dirty="0">
              <a:latin typeface="微软雅黑" pitchFamily="34" charset="-122"/>
              <a:ea typeface="微软雅黑" pitchFamily="34" charset="-122"/>
            </a:endParaRPr>
          </a:p>
        </p:txBody>
      </p:sp>
      <p:cxnSp>
        <p:nvCxnSpPr>
          <p:cNvPr id="27" name="直接箭头连接符 26"/>
          <p:cNvCxnSpPr/>
          <p:nvPr/>
        </p:nvCxnSpPr>
        <p:spPr>
          <a:xfrm flipV="1">
            <a:off x="3447391" y="3518150"/>
            <a:ext cx="1282262" cy="276883"/>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3"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电子邮件的信息格式</a:t>
            </a:r>
          </a:p>
        </p:txBody>
      </p:sp>
    </p:spTree>
    <p:extLst>
      <p:ext uri="{BB962C8B-B14F-4D97-AF65-F5344CB8AC3E}">
        <p14:creationId xmlns:p14="http://schemas.microsoft.com/office/powerpoint/2010/main" val="11068140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54839" y="566248"/>
            <a:ext cx="36343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简单邮件传送协议 </a:t>
            </a:r>
            <a:r>
              <a:rPr lang="en-US" altLang="zh-CN" sz="2400" b="1" dirty="0" smtClean="0">
                <a:solidFill>
                  <a:schemeClr val="bg1"/>
                </a:solidFill>
                <a:latin typeface="微软雅黑" pitchFamily="34" charset="-122"/>
                <a:ea typeface="微软雅黑" pitchFamily="34" charset="-122"/>
              </a:rPr>
              <a:t>SMTP</a:t>
            </a:r>
            <a:endParaRPr lang="zh-CN" altLang="en-US" sz="2400" b="1" dirty="0">
              <a:solidFill>
                <a:schemeClr val="bg1"/>
              </a:solidFill>
              <a:latin typeface="微软雅黑" pitchFamily="34" charset="-122"/>
              <a:ea typeface="微软雅黑" pitchFamily="34" charset="-122"/>
            </a:endParaRPr>
          </a:p>
        </p:txBody>
      </p:sp>
      <p:sp>
        <p:nvSpPr>
          <p:cNvPr id="5" name="圆角矩形 4"/>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14899"/>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 name="Rectangle 387"/>
          <p:cNvSpPr>
            <a:spLocks noChangeArrowheads="1"/>
          </p:cNvSpPr>
          <p:nvPr/>
        </p:nvSpPr>
        <p:spPr bwMode="auto">
          <a:xfrm>
            <a:off x="1544934" y="1814899"/>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 name="Line 388"/>
          <p:cNvSpPr>
            <a:spLocks noChangeShapeType="1"/>
          </p:cNvSpPr>
          <p:nvPr/>
        </p:nvSpPr>
        <p:spPr bwMode="auto">
          <a:xfrm>
            <a:off x="2021489" y="2157671"/>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 name="Oval 397"/>
          <p:cNvSpPr>
            <a:spLocks noChangeArrowheads="1"/>
          </p:cNvSpPr>
          <p:nvPr/>
        </p:nvSpPr>
        <p:spPr bwMode="auto">
          <a:xfrm>
            <a:off x="1601220" y="1878785"/>
            <a:ext cx="566615"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12" name="Oval 405"/>
          <p:cNvSpPr>
            <a:spLocks noChangeArrowheads="1"/>
          </p:cNvSpPr>
          <p:nvPr/>
        </p:nvSpPr>
        <p:spPr bwMode="auto">
          <a:xfrm>
            <a:off x="2964596" y="1878785"/>
            <a:ext cx="566615" cy="556545"/>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13" name="Oval 406"/>
          <p:cNvSpPr>
            <a:spLocks noChangeArrowheads="1"/>
          </p:cNvSpPr>
          <p:nvPr/>
        </p:nvSpPr>
        <p:spPr bwMode="auto">
          <a:xfrm>
            <a:off x="2964596" y="2491844"/>
            <a:ext cx="566615"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nvPr>
        </p:nvGraphicFramePr>
        <p:xfrm>
          <a:off x="762658" y="1854885"/>
          <a:ext cx="546759" cy="666388"/>
        </p:xfrm>
        <a:graphic>
          <a:graphicData uri="http://schemas.openxmlformats.org/presentationml/2006/ole">
            <mc:AlternateContent xmlns:mc="http://schemas.openxmlformats.org/markup-compatibility/2006">
              <mc:Choice xmlns:v="urn:schemas-microsoft-com:vml" Requires="v">
                <p:oleObj spid="_x0000_s20528" name="Visio" r:id="rId4" imgW="3561172" imgH="4347469" progId="">
                  <p:embed/>
                </p:oleObj>
              </mc:Choice>
              <mc:Fallback>
                <p:oleObj name="Visio" r:id="rId4" imgW="3561172" imgH="4347469" progId="">
                  <p:embed/>
                  <p:pic>
                    <p:nvPicPr>
                      <p:cNvPr id="15" name="对象 14"/>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762658" y="185488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723401" y="1823500"/>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19" name="Oval 398"/>
          <p:cNvSpPr>
            <a:spLocks noChangeArrowheads="1"/>
          </p:cNvSpPr>
          <p:nvPr/>
        </p:nvSpPr>
        <p:spPr bwMode="auto">
          <a:xfrm>
            <a:off x="6779688" y="1878785"/>
            <a:ext cx="566614"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5362526" y="1823500"/>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5418813" y="2491844"/>
            <a:ext cx="566614" cy="55654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5418813" y="1878785"/>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grpSp>
        <p:nvGrpSpPr>
          <p:cNvPr id="4" name="组合 3"/>
          <p:cNvGrpSpPr/>
          <p:nvPr/>
        </p:nvGrpSpPr>
        <p:grpSpPr>
          <a:xfrm>
            <a:off x="2239475" y="1470728"/>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SMTP</a:t>
              </a:r>
              <a:endParaRPr kumimoji="1" lang="en-US" altLang="zh-CN" sz="1100" b="1" dirty="0">
                <a:solidFill>
                  <a:srgbClr val="C00000"/>
                </a:solidFill>
                <a:latin typeface="微软雅黑" pitchFamily="34" charset="-122"/>
                <a:ea typeface="微软雅黑" pitchFamily="34" charset="-122"/>
              </a:endParaRPr>
            </a:p>
          </p:txBody>
        </p:sp>
      </p:grpSp>
      <p:sp>
        <p:nvSpPr>
          <p:cNvPr id="25" name="Text Box 396"/>
          <p:cNvSpPr txBox="1">
            <a:spLocks noChangeArrowheads="1"/>
          </p:cNvSpPr>
          <p:nvPr/>
        </p:nvSpPr>
        <p:spPr bwMode="auto">
          <a:xfrm>
            <a:off x="2805314"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6" name="Text Box 399"/>
          <p:cNvSpPr txBox="1">
            <a:spLocks noChangeArrowheads="1"/>
          </p:cNvSpPr>
          <p:nvPr/>
        </p:nvSpPr>
        <p:spPr bwMode="auto">
          <a:xfrm>
            <a:off x="1509292"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发件人</a:t>
            </a:r>
            <a:endParaRPr kumimoji="1" lang="zh-CN" altLang="en-US"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sp>
        <p:nvSpPr>
          <p:cNvPr id="28" name="Text Box 400"/>
          <p:cNvSpPr txBox="1">
            <a:spLocks noChangeArrowheads="1"/>
          </p:cNvSpPr>
          <p:nvPr/>
        </p:nvSpPr>
        <p:spPr bwMode="auto">
          <a:xfrm>
            <a:off x="5248753"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695563"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接收方</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用户</a:t>
            </a:r>
            <a:r>
              <a:rPr kumimoji="1" lang="zh-CN" altLang="en-US" sz="1100" b="1" dirty="0">
                <a:solidFill>
                  <a:srgbClr val="C00000"/>
                </a:solidFill>
                <a:latin typeface="微软雅黑" pitchFamily="34" charset="-122"/>
                <a:ea typeface="微软雅黑" pitchFamily="34" charset="-122"/>
              </a:rPr>
              <a:t>代理</a:t>
            </a:r>
          </a:p>
        </p:txBody>
      </p:sp>
      <p:sp>
        <p:nvSpPr>
          <p:cNvPr id="30" name="Line 408"/>
          <p:cNvSpPr>
            <a:spLocks noChangeShapeType="1"/>
          </p:cNvSpPr>
          <p:nvPr/>
        </p:nvSpPr>
        <p:spPr bwMode="auto">
          <a:xfrm flipV="1">
            <a:off x="5985427" y="2157671"/>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1" name="对象 30"/>
          <p:cNvGraphicFramePr>
            <a:graphicFrameLocks noChangeAspect="1"/>
          </p:cNvGraphicFramePr>
          <p:nvPr>
            <p:extLst/>
          </p:nvPr>
        </p:nvGraphicFramePr>
        <p:xfrm>
          <a:off x="7632442" y="1854885"/>
          <a:ext cx="551626" cy="666388"/>
        </p:xfrm>
        <a:graphic>
          <a:graphicData uri="http://schemas.openxmlformats.org/presentationml/2006/ole">
            <mc:AlternateContent xmlns:mc="http://schemas.openxmlformats.org/markup-compatibility/2006">
              <mc:Choice xmlns:v="urn:schemas-microsoft-com:vml" Requires="v">
                <p:oleObj spid="_x0000_s20529" name="Visio" r:id="rId6" imgW="3561172" imgH="4347469" progId="">
                  <p:embed/>
                </p:oleObj>
              </mc:Choice>
              <mc:Fallback>
                <p:oleObj name="Visio" r:id="rId6" imgW="3561172" imgH="4347469" progId="">
                  <p:embed/>
                  <p:pic>
                    <p:nvPicPr>
                      <p:cNvPr id="31" name="对象 30"/>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632442" y="185488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399"/>
          <p:cNvSpPr txBox="1">
            <a:spLocks noChangeArrowheads="1"/>
          </p:cNvSpPr>
          <p:nvPr/>
        </p:nvSpPr>
        <p:spPr bwMode="auto">
          <a:xfrm>
            <a:off x="7702778"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latin typeface="微软雅黑" pitchFamily="34" charset="-122"/>
                <a:ea typeface="微软雅黑" pitchFamily="34" charset="-122"/>
              </a:rPr>
              <a:t>收件人</a:t>
            </a:r>
          </a:p>
        </p:txBody>
      </p:sp>
      <p:sp>
        <p:nvSpPr>
          <p:cNvPr id="35" name="Line 404"/>
          <p:cNvSpPr>
            <a:spLocks noChangeShapeType="1"/>
          </p:cNvSpPr>
          <p:nvPr/>
        </p:nvSpPr>
        <p:spPr bwMode="auto">
          <a:xfrm flipV="1">
            <a:off x="3515714" y="2770730"/>
            <a:ext cx="1928643"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grpSp>
        <p:nvGrpSpPr>
          <p:cNvPr id="39" name="组合 38"/>
          <p:cNvGrpSpPr/>
          <p:nvPr/>
        </p:nvGrpSpPr>
        <p:grpSpPr>
          <a:xfrm>
            <a:off x="3884017" y="2490615"/>
            <a:ext cx="1200971" cy="728201"/>
            <a:chOff x="3884017" y="2490615"/>
            <a:chExt cx="1200971" cy="728201"/>
          </a:xfrm>
        </p:grpSpPr>
        <p:sp>
          <p:nvSpPr>
            <p:cNvPr id="34" name="Text Box 392"/>
            <p:cNvSpPr txBox="1">
              <a:spLocks noChangeArrowheads="1"/>
            </p:cNvSpPr>
            <p:nvPr/>
          </p:nvSpPr>
          <p:spPr bwMode="auto">
            <a:xfrm>
              <a:off x="3884017" y="2490615"/>
              <a:ext cx="12009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6" name="Text Box 409"/>
            <p:cNvSpPr txBox="1">
              <a:spLocks noChangeArrowheads="1"/>
            </p:cNvSpPr>
            <p:nvPr/>
          </p:nvSpPr>
          <p:spPr bwMode="auto">
            <a:xfrm>
              <a:off x="4242453" y="2787929"/>
              <a:ext cx="50206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endParaRPr kumimoji="1" lang="en-US" altLang="zh-CN" sz="1100" b="1" dirty="0" smtClean="0">
                <a:solidFill>
                  <a:srgbClr val="0000FF"/>
                </a:solidFill>
                <a:latin typeface="微软雅黑" pitchFamily="34" charset="-122"/>
                <a:ea typeface="微软雅黑" pitchFamily="34" charset="-122"/>
              </a:endParaRPr>
            </a:p>
            <a:p>
              <a:pPr algn="ctr" eaLnBrk="1" hangingPunct="1"/>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grpSp>
      <p:sp>
        <p:nvSpPr>
          <p:cNvPr id="37" name="圆角矩形 36"/>
          <p:cNvSpPr/>
          <p:nvPr/>
        </p:nvSpPr>
        <p:spPr>
          <a:xfrm>
            <a:off x="1371509" y="1244904"/>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1470662" y="3400777"/>
            <a:ext cx="6599140" cy="938719"/>
          </a:xfrm>
          <a:prstGeom prst="rect">
            <a:avLst/>
          </a:prstGeom>
        </p:spPr>
        <p:txBody>
          <a:bodyPr wrap="square" anchor="ctr">
            <a:spAutoFit/>
          </a:bodyPr>
          <a:lstStyle/>
          <a:p>
            <a:pPr marL="285750" indent="-285750">
              <a:lnSpc>
                <a:spcPts val="2200"/>
              </a:lnSpc>
              <a:buClr>
                <a:srgbClr val="0066FF"/>
              </a:buClr>
              <a:buFont typeface="Wingdings" pitchFamily="2" charset="2"/>
              <a:buChar char="l"/>
            </a:pPr>
            <a:r>
              <a:rPr lang="en-US" altLang="zh-CN" sz="1600" b="1" dirty="0" smtClean="0">
                <a:latin typeface="微软雅黑" pitchFamily="34" charset="-122"/>
                <a:ea typeface="微软雅黑" pitchFamily="34" charset="-122"/>
              </a:rPr>
              <a:t>SMTP </a:t>
            </a:r>
            <a:r>
              <a:rPr lang="zh-CN" altLang="en-US" sz="1600" b="1" dirty="0" smtClean="0">
                <a:latin typeface="微软雅黑" pitchFamily="34" charset="-122"/>
                <a:ea typeface="微软雅黑" pitchFamily="34" charset="-122"/>
              </a:rPr>
              <a:t>规定</a:t>
            </a:r>
            <a:r>
              <a:rPr lang="zh-CN" altLang="en-US" sz="1600" b="1" dirty="0">
                <a:latin typeface="微软雅黑" pitchFamily="34" charset="-122"/>
                <a:ea typeface="微软雅黑" pitchFamily="34" charset="-122"/>
              </a:rPr>
              <a:t>了在两个相互通信</a:t>
            </a:r>
            <a:r>
              <a:rPr lang="zh-CN" altLang="en-US" sz="1600" b="1" dirty="0" smtClean="0">
                <a:latin typeface="微软雅黑" pitchFamily="34" charset="-122"/>
                <a:ea typeface="微软雅黑" pitchFamily="34" charset="-122"/>
              </a:rPr>
              <a:t>的 </a:t>
            </a:r>
            <a:r>
              <a:rPr lang="en-US" altLang="zh-CN" sz="1600" b="1" dirty="0" smtClean="0">
                <a:latin typeface="微软雅黑" pitchFamily="34" charset="-122"/>
                <a:ea typeface="微软雅黑" pitchFamily="34" charset="-122"/>
              </a:rPr>
              <a:t>SMTP </a:t>
            </a:r>
            <a:r>
              <a:rPr lang="zh-CN" altLang="en-US" sz="1600" b="1" dirty="0" smtClean="0">
                <a:latin typeface="微软雅黑" pitchFamily="34" charset="-122"/>
                <a:ea typeface="微软雅黑" pitchFamily="34" charset="-122"/>
              </a:rPr>
              <a:t>进程之间交换信息的方法。</a:t>
            </a:r>
            <a:endParaRPr lang="en-US" altLang="zh-CN" sz="1600" b="1" dirty="0" smtClean="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smtClean="0">
                <a:latin typeface="微软雅黑" pitchFamily="34" charset="-122"/>
                <a:ea typeface="微软雅黑" pitchFamily="34" charset="-122"/>
              </a:rPr>
              <a:t>SMTP </a:t>
            </a:r>
            <a:r>
              <a:rPr lang="zh-CN" altLang="en-US" sz="1600" b="1" dirty="0" smtClean="0">
                <a:latin typeface="微软雅黑" pitchFamily="34" charset="-122"/>
                <a:ea typeface="微软雅黑" pitchFamily="34" charset="-122"/>
              </a:rPr>
              <a:t>使用</a:t>
            </a:r>
            <a:r>
              <a:rPr lang="zh-CN" altLang="en-US" sz="1600" b="1" dirty="0" smtClean="0">
                <a:solidFill>
                  <a:srgbClr val="C00000"/>
                </a:solidFill>
                <a:latin typeface="微软雅黑" pitchFamily="34" charset="-122"/>
                <a:ea typeface="微软雅黑" pitchFamily="34" charset="-122"/>
              </a:rPr>
              <a:t>客户服务器</a:t>
            </a:r>
            <a:r>
              <a:rPr lang="zh-CN" altLang="en-US" sz="1600" b="1" dirty="0" smtClean="0">
                <a:latin typeface="微软雅黑" pitchFamily="34" charset="-122"/>
                <a:ea typeface="微软雅黑" pitchFamily="34" charset="-122"/>
              </a:rPr>
              <a:t>方式。</a:t>
            </a:r>
            <a:endParaRPr lang="en-US" altLang="zh-CN" sz="1600" b="1" dirty="0" smtClean="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smtClean="0">
                <a:latin typeface="微软雅黑" pitchFamily="34" charset="-122"/>
                <a:ea typeface="微软雅黑" pitchFamily="34" charset="-122"/>
              </a:rPr>
              <a:t>SMTP </a:t>
            </a:r>
            <a:r>
              <a:rPr lang="zh-CN" altLang="en-US" sz="1600" b="1" dirty="0" smtClean="0">
                <a:solidFill>
                  <a:srgbClr val="C00000"/>
                </a:solidFill>
                <a:latin typeface="微软雅黑" pitchFamily="34" charset="-122"/>
                <a:ea typeface="微软雅黑" pitchFamily="34" charset="-122"/>
              </a:rPr>
              <a:t>基于 </a:t>
            </a:r>
            <a:r>
              <a:rPr lang="en-US" altLang="zh-CN" sz="1600" b="1" dirty="0" smtClean="0">
                <a:solidFill>
                  <a:srgbClr val="C00000"/>
                </a:solidFill>
                <a:latin typeface="微软雅黑" pitchFamily="34" charset="-122"/>
                <a:ea typeface="微软雅黑" pitchFamily="34" charset="-122"/>
              </a:rPr>
              <a:t>TCP </a:t>
            </a:r>
            <a:r>
              <a:rPr lang="zh-CN" altLang="en-US" sz="1600" b="1" dirty="0" smtClean="0">
                <a:latin typeface="微软雅黑" pitchFamily="34" charset="-122"/>
                <a:ea typeface="微软雅黑" pitchFamily="34" charset="-122"/>
              </a:rPr>
              <a:t>实现客户与服务器的通信。</a:t>
            </a:r>
            <a:endParaRPr lang="en-US" altLang="zh-CN" sz="1600" b="1" dirty="0" smtClean="0">
              <a:latin typeface="微软雅黑" pitchFamily="34" charset="-122"/>
              <a:ea typeface="微软雅黑" pitchFamily="34" charset="-122"/>
            </a:endParaRPr>
          </a:p>
        </p:txBody>
      </p:sp>
      <p:sp>
        <p:nvSpPr>
          <p:cNvPr id="40"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33770465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54839" y="566248"/>
            <a:ext cx="36343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简单邮件传送协议 </a:t>
            </a:r>
            <a:r>
              <a:rPr lang="en-US" altLang="zh-CN" sz="2400" b="1" dirty="0" smtClean="0">
                <a:solidFill>
                  <a:schemeClr val="bg1"/>
                </a:solidFill>
                <a:latin typeface="微软雅黑" pitchFamily="34" charset="-122"/>
                <a:ea typeface="微软雅黑" pitchFamily="34" charset="-122"/>
              </a:rPr>
              <a:t>SMTP</a:t>
            </a:r>
            <a:endParaRPr lang="zh-CN" altLang="en-US" sz="2400" b="1" dirty="0">
              <a:solidFill>
                <a:schemeClr val="bg1"/>
              </a:solidFill>
              <a:latin typeface="微软雅黑" pitchFamily="34" charset="-122"/>
              <a:ea typeface="微软雅黑" pitchFamily="34" charset="-122"/>
            </a:endParaRPr>
          </a:p>
        </p:txBody>
      </p:sp>
      <p:sp>
        <p:nvSpPr>
          <p:cNvPr id="38" name="矩形 37"/>
          <p:cNvSpPr/>
          <p:nvPr/>
        </p:nvSpPr>
        <p:spPr>
          <a:xfrm>
            <a:off x="1576552" y="2525778"/>
            <a:ext cx="6708131" cy="861774"/>
          </a:xfrm>
          <a:prstGeom prst="rect">
            <a:avLst/>
          </a:prstGeom>
        </p:spPr>
        <p:txBody>
          <a:bodyPr wrap="square" anchor="ctr">
            <a:spAutoFit/>
          </a:bodyPr>
          <a:lstStyle/>
          <a:p>
            <a:pPr marL="285750" indent="-285750">
              <a:lnSpc>
                <a:spcPts val="3000"/>
              </a:lnSpc>
              <a:buClr>
                <a:srgbClr val="0066FF"/>
              </a:buClr>
              <a:buFont typeface="Wingdings" pitchFamily="2" charset="2"/>
              <a:buChar char="l"/>
            </a:pPr>
            <a:r>
              <a:rPr lang="en-US" altLang="zh-CN" b="1" dirty="0" smtClean="0">
                <a:latin typeface="微软雅黑" pitchFamily="34" charset="-122"/>
                <a:ea typeface="微软雅黑" pitchFamily="34" charset="-122"/>
              </a:rPr>
              <a:t>SMTP </a:t>
            </a:r>
            <a:r>
              <a:rPr lang="zh-CN" altLang="en-US" b="1" dirty="0" smtClean="0">
                <a:latin typeface="微软雅黑" pitchFamily="34" charset="-122"/>
                <a:ea typeface="微软雅黑" pitchFamily="34" charset="-122"/>
              </a:rPr>
              <a:t>是</a:t>
            </a:r>
            <a:r>
              <a:rPr lang="zh-CN" altLang="en-US" b="1" dirty="0">
                <a:latin typeface="微软雅黑" pitchFamily="34" charset="-122"/>
                <a:ea typeface="微软雅黑" pitchFamily="34" charset="-122"/>
              </a:rPr>
              <a:t>一个</a:t>
            </a:r>
            <a:r>
              <a:rPr lang="zh-CN" altLang="en-US" b="1" dirty="0">
                <a:solidFill>
                  <a:srgbClr val="C00000"/>
                </a:solidFill>
                <a:latin typeface="微软雅黑" pitchFamily="34" charset="-122"/>
                <a:ea typeface="微软雅黑" pitchFamily="34" charset="-122"/>
              </a:rPr>
              <a:t>基于</a:t>
            </a:r>
            <a:r>
              <a:rPr lang="zh-CN" altLang="en-US" b="1" dirty="0" smtClean="0">
                <a:solidFill>
                  <a:srgbClr val="C00000"/>
                </a:solidFill>
                <a:latin typeface="微软雅黑" pitchFamily="34" charset="-122"/>
                <a:ea typeface="微软雅黑" pitchFamily="34" charset="-122"/>
              </a:rPr>
              <a:t>文本</a:t>
            </a:r>
            <a:r>
              <a:rPr lang="zh-CN" altLang="en-US" b="1" dirty="0" smtClean="0">
                <a:latin typeface="微软雅黑" pitchFamily="34" charset="-122"/>
                <a:ea typeface="微软雅黑" pitchFamily="34" charset="-122"/>
              </a:rPr>
              <a:t>（即 </a:t>
            </a:r>
            <a:r>
              <a:rPr lang="en-US" altLang="zh-CN" b="1" dirty="0" smtClean="0">
                <a:latin typeface="微软雅黑" pitchFamily="34" charset="-122"/>
                <a:ea typeface="微软雅黑" pitchFamily="34" charset="-122"/>
              </a:rPr>
              <a:t>ASCII </a:t>
            </a:r>
            <a:r>
              <a:rPr lang="zh-CN" altLang="en-US" b="1" dirty="0" smtClean="0">
                <a:latin typeface="微软雅黑" pitchFamily="34" charset="-122"/>
                <a:ea typeface="微软雅黑" pitchFamily="34" charset="-122"/>
              </a:rPr>
              <a:t>码） </a:t>
            </a:r>
            <a:r>
              <a:rPr lang="zh-CN" altLang="en-US" b="1" dirty="0">
                <a:latin typeface="微软雅黑" pitchFamily="34" charset="-122"/>
                <a:ea typeface="微软雅黑" pitchFamily="34" charset="-122"/>
              </a:rPr>
              <a:t>的协议。 </a:t>
            </a:r>
            <a:endParaRPr lang="en-US" altLang="zh-CN" b="1" dirty="0" smtClean="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en-US" altLang="zh-CN" b="1" dirty="0" smtClean="0">
                <a:latin typeface="微软雅黑" pitchFamily="34" charset="-122"/>
                <a:ea typeface="微软雅黑" pitchFamily="34" charset="-122"/>
              </a:rPr>
              <a:t>SMTP </a:t>
            </a:r>
            <a:r>
              <a:rPr lang="zh-CN" altLang="en-US" b="1" dirty="0" smtClean="0">
                <a:latin typeface="微软雅黑" pitchFamily="34" charset="-122"/>
                <a:ea typeface="微软雅黑" pitchFamily="34" charset="-122"/>
              </a:rPr>
              <a:t>客户</a:t>
            </a:r>
            <a:r>
              <a:rPr lang="zh-CN" altLang="en-US" b="1" dirty="0">
                <a:latin typeface="微软雅黑" pitchFamily="34" charset="-122"/>
                <a:ea typeface="微软雅黑" pitchFamily="34" charset="-122"/>
              </a:rPr>
              <a:t>与服务器之间采用</a:t>
            </a:r>
            <a:r>
              <a:rPr lang="zh-CN" altLang="en-US" b="1" dirty="0">
                <a:solidFill>
                  <a:srgbClr val="C00000"/>
                </a:solidFill>
                <a:latin typeface="微软雅黑" pitchFamily="34" charset="-122"/>
                <a:ea typeface="微软雅黑" pitchFamily="34" charset="-122"/>
              </a:rPr>
              <a:t>命令</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响应</a:t>
            </a:r>
            <a:r>
              <a:rPr lang="zh-CN" altLang="en-US" b="1" dirty="0">
                <a:latin typeface="微软雅黑" pitchFamily="34" charset="-122"/>
                <a:ea typeface="微软雅黑" pitchFamily="34" charset="-122"/>
              </a:rPr>
              <a:t>方式进行交互</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smtClean="0">
                <a:solidFill>
                  <a:schemeClr val="tx1"/>
                </a:solidFill>
                <a:latin typeface="微软雅黑" pitchFamily="34" charset="-122"/>
                <a:ea typeface="微软雅黑" pitchFamily="34" charset="-122"/>
              </a:rPr>
              <a:t>SMTP</a:t>
            </a:r>
          </a:p>
          <a:p>
            <a:pPr algn="ctr"/>
            <a:r>
              <a:rPr lang="zh-CN" altLang="en-US" sz="1600" b="1" dirty="0">
                <a:solidFill>
                  <a:schemeClr val="tx1"/>
                </a:solidFill>
                <a:latin typeface="微软雅黑" pitchFamily="34" charset="-122"/>
                <a:ea typeface="微软雅黑" pitchFamily="34" charset="-122"/>
              </a:rPr>
              <a:t>客户</a:t>
            </a: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smtClean="0">
                <a:solidFill>
                  <a:schemeClr val="bg1"/>
                </a:solidFill>
                <a:latin typeface="微软雅黑" pitchFamily="34" charset="-122"/>
                <a:ea typeface="微软雅黑" pitchFamily="34" charset="-122"/>
              </a:rPr>
              <a:t>SMTP</a:t>
            </a:r>
          </a:p>
          <a:p>
            <a:pPr algn="ctr"/>
            <a:r>
              <a:rPr lang="zh-CN" altLang="en-US" sz="1600" b="1" dirty="0" smtClean="0">
                <a:solidFill>
                  <a:schemeClr val="bg1"/>
                </a:solidFill>
                <a:latin typeface="微软雅黑" pitchFamily="34" charset="-122"/>
                <a:ea typeface="微软雅黑" pitchFamily="34" charset="-122"/>
              </a:rPr>
              <a:t>服务器</a:t>
            </a:r>
            <a:endParaRPr lang="zh-CN" altLang="en-US" sz="1600" b="1" dirty="0">
              <a:solidFill>
                <a:schemeClr val="bg1"/>
              </a:solidFill>
              <a:latin typeface="微软雅黑" pitchFamily="34" charset="-122"/>
              <a:ea typeface="微软雅黑" pitchFamily="34" charset="-122"/>
            </a:endParaRPr>
          </a:p>
        </p:txBody>
      </p:sp>
      <p:grpSp>
        <p:nvGrpSpPr>
          <p:cNvPr id="5" name="组合 4"/>
          <p:cNvGrpSpPr/>
          <p:nvPr/>
        </p:nvGrpSpPr>
        <p:grpSpPr>
          <a:xfrm>
            <a:off x="2650180" y="1374875"/>
            <a:ext cx="3950006" cy="338554"/>
            <a:chOff x="2650180" y="1374875"/>
            <a:chExt cx="3950006" cy="338554"/>
          </a:xfrm>
        </p:grpSpPr>
        <p:cxnSp>
          <p:nvCxnSpPr>
            <p:cNvPr id="41" name="直接箭头连接符 40"/>
            <p:cNvCxnSpPr/>
            <p:nvPr/>
          </p:nvCxnSpPr>
          <p:spPr>
            <a:xfrm>
              <a:off x="2650180" y="1665897"/>
              <a:ext cx="3950006"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4432137" y="1374875"/>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dirty="0" smtClean="0">
                  <a:latin typeface="微软雅黑" pitchFamily="34" charset="-122"/>
                  <a:ea typeface="微软雅黑" pitchFamily="34" charset="-122"/>
                </a:rPr>
                <a:t>命令</a:t>
              </a:r>
              <a:endParaRPr kumimoji="1" lang="zh-CN" altLang="en-US" sz="1600" b="1" dirty="0">
                <a:latin typeface="微软雅黑" pitchFamily="34" charset="-122"/>
                <a:ea typeface="微软雅黑" pitchFamily="34" charset="-122"/>
              </a:endParaRPr>
            </a:p>
          </p:txBody>
        </p:sp>
      </p:grpSp>
      <p:grpSp>
        <p:nvGrpSpPr>
          <p:cNvPr id="6" name="组合 5"/>
          <p:cNvGrpSpPr/>
          <p:nvPr/>
        </p:nvGrpSpPr>
        <p:grpSpPr>
          <a:xfrm>
            <a:off x="2650180" y="1879872"/>
            <a:ext cx="3950006" cy="338555"/>
            <a:chOff x="2650180" y="1879872"/>
            <a:chExt cx="3950006" cy="338555"/>
          </a:xfrm>
        </p:grpSpPr>
        <p:cxnSp>
          <p:nvCxnSpPr>
            <p:cNvPr id="43" name="直接箭头连接符 42"/>
            <p:cNvCxnSpPr/>
            <p:nvPr/>
          </p:nvCxnSpPr>
          <p:spPr>
            <a:xfrm>
              <a:off x="2650180" y="1879872"/>
              <a:ext cx="3950006" cy="0"/>
            </a:xfrm>
            <a:prstGeom prst="straightConnector1">
              <a:avLst/>
            </a:prstGeom>
            <a:ln w="28575">
              <a:solidFill>
                <a:srgbClr val="3333FF"/>
              </a:solidFill>
              <a:headEnd type="stealth" w="lg" len="lg"/>
              <a:tailEnd type="none" w="med" len="med"/>
            </a:ln>
          </p:spPr>
          <p:style>
            <a:lnRef idx="1">
              <a:schemeClr val="accent1"/>
            </a:lnRef>
            <a:fillRef idx="0">
              <a:schemeClr val="accent1"/>
            </a:fillRef>
            <a:effectRef idx="0">
              <a:schemeClr val="accent1"/>
            </a:effectRef>
            <a:fontRef idx="minor">
              <a:schemeClr val="tx1"/>
            </a:fontRef>
          </p:style>
        </p:cxnSp>
        <p:sp>
          <p:nvSpPr>
            <p:cNvPr id="45" name="Text Box 409"/>
            <p:cNvSpPr txBox="1">
              <a:spLocks noChangeArrowheads="1"/>
            </p:cNvSpPr>
            <p:nvPr/>
          </p:nvSpPr>
          <p:spPr bwMode="auto">
            <a:xfrm>
              <a:off x="4432137" y="1879873"/>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dirty="0" smtClean="0">
                  <a:solidFill>
                    <a:srgbClr val="0000FF"/>
                  </a:solidFill>
                  <a:latin typeface="微软雅黑" pitchFamily="34" charset="-122"/>
                  <a:ea typeface="微软雅黑" pitchFamily="34" charset="-122"/>
                </a:rPr>
                <a:t>响应</a:t>
              </a:r>
              <a:endParaRPr kumimoji="1" lang="zh-CN" altLang="en-US" sz="1600" b="1" dirty="0">
                <a:solidFill>
                  <a:srgbClr val="0000FF"/>
                </a:solidFill>
                <a:latin typeface="微软雅黑" pitchFamily="34" charset="-122"/>
                <a:ea typeface="微软雅黑" pitchFamily="34" charset="-122"/>
              </a:endParaRPr>
            </a:p>
          </p:txBody>
        </p:sp>
      </p:grpSp>
      <p:sp>
        <p:nvSpPr>
          <p:cNvPr id="14"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7327824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392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itchFamily="34" charset="-122"/>
                <a:ea typeface="微软雅黑" pitchFamily="34" charset="-122"/>
              </a:rPr>
              <a:t>连接建立</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连接是在发送主机的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客户和接收主机的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服务器之间建立的。</a:t>
            </a:r>
            <a:r>
              <a:rPr lang="en-US" altLang="zh-CN" sz="2000" b="1" dirty="0" smtClean="0">
                <a:latin typeface="微软雅黑" pitchFamily="34" charset="-122"/>
                <a:ea typeface="微软雅黑" pitchFamily="34" charset="-122"/>
              </a:rPr>
              <a:t>SMTP </a:t>
            </a:r>
            <a:r>
              <a:rPr lang="zh-CN" altLang="en-US" sz="2000" b="1" dirty="0" smtClean="0">
                <a:latin typeface="微软雅黑" pitchFamily="34" charset="-122"/>
                <a:ea typeface="微软雅黑" pitchFamily="34" charset="-122"/>
              </a:rPr>
              <a:t>不</a:t>
            </a:r>
            <a:r>
              <a:rPr lang="zh-CN" altLang="en-US" sz="2000" b="1" dirty="0">
                <a:latin typeface="微软雅黑" pitchFamily="34" charset="-122"/>
                <a:ea typeface="微软雅黑" pitchFamily="34" charset="-122"/>
              </a:rPr>
              <a:t>使用中间的邮件服务器。   </a:t>
            </a: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itchFamily="34" charset="-122"/>
                <a:ea typeface="微软雅黑" pitchFamily="34" charset="-122"/>
              </a:rPr>
              <a:t>邮件</a:t>
            </a:r>
            <a:r>
              <a:rPr lang="zh-CN" altLang="en-US" sz="2000" b="1" dirty="0">
                <a:solidFill>
                  <a:srgbClr val="0000FF"/>
                </a:solidFill>
                <a:latin typeface="微软雅黑" pitchFamily="34" charset="-122"/>
                <a:ea typeface="微软雅黑" pitchFamily="34" charset="-122"/>
              </a:rPr>
              <a:t>传送：</a:t>
            </a:r>
            <a:r>
              <a:rPr lang="zh-CN" altLang="en-US" sz="2000" b="1" dirty="0">
                <a:latin typeface="微软雅黑" pitchFamily="34" charset="-122"/>
                <a:ea typeface="微软雅黑" pitchFamily="34" charset="-122"/>
              </a:rPr>
              <a:t>发送方邮件服务器利用</a:t>
            </a:r>
            <a:r>
              <a:rPr lang="en-US" altLang="zh-CN" sz="2000" b="1" dirty="0">
                <a:latin typeface="微软雅黑" pitchFamily="34" charset="-122"/>
                <a:ea typeface="微软雅黑" pitchFamily="34" charset="-122"/>
              </a:rPr>
              <a:t>SMTP</a:t>
            </a:r>
            <a:r>
              <a:rPr lang="zh-CN" altLang="en-US" sz="2000" b="1" dirty="0">
                <a:latin typeface="微软雅黑" pitchFamily="34" charset="-122"/>
                <a:ea typeface="微软雅黑" pitchFamily="34" charset="-122"/>
              </a:rPr>
              <a:t>协议将邮件传送至接收方的邮件服务器。</a:t>
            </a: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itchFamily="34" charset="-122"/>
                <a:ea typeface="微软雅黑" pitchFamily="34" charset="-122"/>
              </a:rPr>
              <a:t>连接释放</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邮件发送完毕后，</a:t>
            </a:r>
            <a:r>
              <a:rPr lang="en-US" altLang="zh-CN" sz="2000" b="1" dirty="0">
                <a:latin typeface="微软雅黑" pitchFamily="34" charset="-122"/>
                <a:ea typeface="微软雅黑" pitchFamily="34" charset="-122"/>
              </a:rPr>
              <a:t>SMTP </a:t>
            </a:r>
            <a:r>
              <a:rPr lang="zh-CN" altLang="en-US" sz="2000" b="1" dirty="0" smtClean="0">
                <a:latin typeface="微软雅黑" pitchFamily="34" charset="-122"/>
                <a:ea typeface="微软雅黑" pitchFamily="34" charset="-122"/>
              </a:rPr>
              <a:t>释放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 </a:t>
            </a:r>
          </a:p>
        </p:txBody>
      </p:sp>
      <p:sp>
        <p:nvSpPr>
          <p:cNvPr id="5"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5454139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连接建立</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14" name="矩形 13"/>
          <p:cNvSpPr/>
          <p:nvPr/>
        </p:nvSpPr>
        <p:spPr>
          <a:xfrm>
            <a:off x="7108668" y="1588846"/>
            <a:ext cx="1836689"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a:t>
            </a:r>
            <a:r>
              <a:rPr lang="zh-CN" altLang="en-US" sz="1400" b="1" dirty="0">
                <a:latin typeface="微软雅黑" panose="020B0503020204020204" pitchFamily="34" charset="-122"/>
                <a:ea typeface="微软雅黑" panose="020B0503020204020204" pitchFamily="34" charset="-122"/>
              </a:rPr>
              <a:t>首先</a:t>
            </a:r>
            <a:r>
              <a:rPr lang="zh-CN" altLang="en-US" sz="1400" b="1" dirty="0" smtClean="0">
                <a:latin typeface="微软雅黑" panose="020B0503020204020204" pitchFamily="34" charset="-122"/>
                <a:ea typeface="微软雅黑" panose="020B0503020204020204" pitchFamily="34" charset="-122"/>
              </a:rPr>
              <a:t>使用熟知端口 </a:t>
            </a:r>
            <a:r>
              <a:rPr lang="en-US" altLang="zh-CN" sz="1400" b="1" dirty="0" smtClean="0">
                <a:latin typeface="微软雅黑" panose="020B0503020204020204" pitchFamily="34" charset="-122"/>
                <a:ea typeface="微软雅黑" panose="020B0503020204020204" pitchFamily="34" charset="-122"/>
              </a:rPr>
              <a:t>25 </a:t>
            </a:r>
            <a:r>
              <a:rPr lang="zh-CN" altLang="en-US" sz="1400" b="1" dirty="0" smtClean="0">
                <a:latin typeface="微软雅黑" panose="020B0503020204020204" pitchFamily="34" charset="-122"/>
                <a:ea typeface="微软雅黑" panose="020B0503020204020204" pitchFamily="34" charset="-122"/>
              </a:rPr>
              <a:t>与</a:t>
            </a:r>
            <a:r>
              <a:rPr lang="zh-CN" altLang="en-US" sz="1400" b="1" dirty="0">
                <a:latin typeface="微软雅黑" panose="020B0503020204020204" pitchFamily="34" charset="-122"/>
                <a:ea typeface="微软雅黑" panose="020B0503020204020204" pitchFamily="34" charset="-122"/>
              </a:rPr>
              <a:t>接收</a:t>
            </a:r>
            <a:r>
              <a:rPr lang="zh-CN" altLang="en-US" sz="1400" b="1" dirty="0" smtClean="0">
                <a:latin typeface="微软雅黑" panose="020B0503020204020204" pitchFamily="34" charset="-122"/>
                <a:ea typeface="微软雅黑" panose="020B0503020204020204" pitchFamily="34" charset="-122"/>
              </a:rPr>
              <a:t>方的 </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p>
        </p:txBody>
      </p:sp>
      <p:sp>
        <p:nvSpPr>
          <p:cNvPr id="15" name="矩形 14"/>
          <p:cNvSpPr/>
          <p:nvPr/>
        </p:nvSpPr>
        <p:spPr>
          <a:xfrm>
            <a:off x="7108668" y="2542953"/>
            <a:ext cx="1836689" cy="523220"/>
          </a:xfrm>
          <a:prstGeom prst="rect">
            <a:avLst/>
          </a:prstGeom>
          <a:solidFill>
            <a:srgbClr val="FFFF66"/>
          </a:solidFill>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注意：</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不使用中间的邮件服务器。 </a:t>
            </a:r>
          </a:p>
        </p:txBody>
      </p:sp>
      <p:sp>
        <p:nvSpPr>
          <p:cNvPr id="19"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14861455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连接建立</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14" name="矩形 13"/>
          <p:cNvSpPr/>
          <p:nvPr/>
        </p:nvSpPr>
        <p:spPr>
          <a:xfrm>
            <a:off x="7108668" y="1642114"/>
            <a:ext cx="1680223" cy="523220"/>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服务器发出服务</a:t>
            </a:r>
            <a:r>
              <a:rPr lang="zh-CN" altLang="en-US" sz="1400" b="1" dirty="0">
                <a:latin typeface="微软雅黑" panose="020B0503020204020204" pitchFamily="34" charset="-122"/>
                <a:ea typeface="微软雅黑" panose="020B0503020204020204" pitchFamily="34" charset="-122"/>
              </a:rPr>
              <a:t>就绪。</a:t>
            </a:r>
          </a:p>
        </p:txBody>
      </p:sp>
      <p:sp>
        <p:nvSpPr>
          <p:cNvPr id="19"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36554909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连接建立</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HELO abc.edu.cn</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14" name="矩形 13"/>
          <p:cNvSpPr/>
          <p:nvPr/>
        </p:nvSpPr>
        <p:spPr>
          <a:xfrm>
            <a:off x="7108668" y="1642114"/>
            <a:ext cx="1680223"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客户向服务器发送问候 </a:t>
            </a:r>
            <a:r>
              <a:rPr lang="en-US" altLang="zh-CN" sz="1400" b="1" dirty="0" smtClean="0">
                <a:latin typeface="微软雅黑" panose="020B0503020204020204" pitchFamily="34" charset="-122"/>
                <a:ea typeface="微软雅黑" panose="020B0503020204020204" pitchFamily="34" charset="-122"/>
              </a:rPr>
              <a:t>(HELO</a:t>
            </a:r>
            <a:r>
              <a:rPr lang="zh-CN" altLang="en-US" sz="1400" b="1" dirty="0" smtClean="0">
                <a:latin typeface="微软雅黑" panose="020B0503020204020204" pitchFamily="34" charset="-122"/>
                <a:ea typeface="微软雅黑" panose="020B0503020204020204" pitchFamily="34" charset="-122"/>
              </a:rPr>
              <a:t>命令），</a:t>
            </a:r>
            <a:r>
              <a:rPr lang="zh-CN" altLang="en-US" sz="1400" b="1" dirty="0">
                <a:latin typeface="微软雅黑" panose="020B0503020204020204" pitchFamily="34" charset="-122"/>
                <a:ea typeface="微软雅黑" panose="020B0503020204020204" pitchFamily="34" charset="-122"/>
              </a:rPr>
              <a:t>附上发送方的主机名</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27"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33670479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连接建立</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HELO abc.edu</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2014274"/>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14" name="矩形 13"/>
          <p:cNvSpPr/>
          <p:nvPr/>
        </p:nvSpPr>
        <p:spPr>
          <a:xfrm>
            <a:off x="7108668" y="1642114"/>
            <a:ext cx="1742367"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若有能力接收邮件，则回答：“</a:t>
            </a:r>
            <a:r>
              <a:rPr lang="en-US" altLang="zh-CN" sz="1400" b="1" dirty="0">
                <a:latin typeface="微软雅黑" panose="020B0503020204020204" pitchFamily="34" charset="-122"/>
                <a:ea typeface="微软雅黑" panose="020B0503020204020204" pitchFamily="34" charset="-122"/>
              </a:rPr>
              <a:t>250 OK”</a:t>
            </a:r>
            <a:r>
              <a:rPr lang="zh-CN" altLang="en-US" sz="1400" b="1" dirty="0">
                <a:latin typeface="微软雅黑" panose="020B0503020204020204" pitchFamily="34" charset="-122"/>
                <a:ea typeface="微软雅黑" panose="020B0503020204020204" pitchFamily="34" charset="-122"/>
              </a:rPr>
              <a:t>，表示已准备好接收</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32"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extLst>
      <p:ext uri="{BB962C8B-B14F-4D97-AF65-F5344CB8AC3E}">
        <p14:creationId xmlns:p14="http://schemas.microsoft.com/office/powerpoint/2010/main" val="13098326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矩形 85"/>
          <p:cNvSpPr/>
          <p:nvPr/>
        </p:nvSpPr>
        <p:spPr>
          <a:xfrm>
            <a:off x="2117646" y="3566713"/>
            <a:ext cx="5891237" cy="1022400"/>
          </a:xfrm>
          <a:prstGeom prst="rect">
            <a:avLst/>
          </a:prstGeom>
          <a:solidFill>
            <a:srgbClr val="FF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2117646" y="2141768"/>
            <a:ext cx="5891237" cy="1197386"/>
          </a:xfrm>
          <a:prstGeom prst="rect">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2117646" y="1332913"/>
            <a:ext cx="5891237" cy="800765"/>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0424" y="2006812"/>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27622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邮件传送</a:t>
            </a:r>
          </a:p>
        </p:txBody>
      </p:sp>
      <p:sp>
        <p:nvSpPr>
          <p:cNvPr id="6" name="矩形 5"/>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10" name="矩形 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grpSp>
        <p:nvGrpSpPr>
          <p:cNvPr id="4" name="组合 3"/>
          <p:cNvGrpSpPr/>
          <p:nvPr/>
        </p:nvGrpSpPr>
        <p:grpSpPr>
          <a:xfrm>
            <a:off x="2719604" y="1266738"/>
            <a:ext cx="4350993" cy="3411794"/>
            <a:chOff x="2719604" y="944102"/>
            <a:chExt cx="4350993" cy="2580075"/>
          </a:xfrm>
        </p:grpSpPr>
        <p:cxnSp>
          <p:nvCxnSpPr>
            <p:cNvPr id="7" name="直接箭头连接符 6"/>
            <p:cNvCxnSpPr>
              <a:stCxn id="10" idx="2"/>
            </p:cNvCxnSpPr>
            <p:nvPr/>
          </p:nvCxnSpPr>
          <p:spPr>
            <a:xfrm>
              <a:off x="2719604"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4" name="组合 23"/>
          <p:cNvGrpSpPr/>
          <p:nvPr/>
        </p:nvGrpSpPr>
        <p:grpSpPr>
          <a:xfrm>
            <a:off x="2727397" y="1332913"/>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MAIL FROM: Lion@abc.edu</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1535481"/>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grpSp>
        <p:nvGrpSpPr>
          <p:cNvPr id="30" name="组合 29"/>
          <p:cNvGrpSpPr/>
          <p:nvPr/>
        </p:nvGrpSpPr>
        <p:grpSpPr>
          <a:xfrm>
            <a:off x="2727397" y="1744808"/>
            <a:ext cx="4337778" cy="180000"/>
            <a:chOff x="2144264" y="2285523"/>
            <a:chExt cx="4926338" cy="292388"/>
          </a:xfrm>
        </p:grpSpPr>
        <p:sp>
          <p:nvSpPr>
            <p:cNvPr id="3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38" name="矩形 3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RCPT TO: Tiger@xyz.com</a:t>
              </a:r>
              <a:endParaRPr lang="zh-CN" altLang="en-US" sz="1100" b="1" dirty="0">
                <a:solidFill>
                  <a:schemeClr val="tx1"/>
                </a:solidFill>
                <a:latin typeface="微软雅黑" pitchFamily="34" charset="-122"/>
                <a:ea typeface="微软雅黑" pitchFamily="34" charset="-122"/>
              </a:endParaRPr>
            </a:p>
          </p:txBody>
        </p:sp>
      </p:grpSp>
      <p:grpSp>
        <p:nvGrpSpPr>
          <p:cNvPr id="40" name="组合 39"/>
          <p:cNvGrpSpPr/>
          <p:nvPr/>
        </p:nvGrpSpPr>
        <p:grpSpPr>
          <a:xfrm>
            <a:off x="2727397" y="1947376"/>
            <a:ext cx="4337778" cy="180000"/>
            <a:chOff x="2144264" y="2285523"/>
            <a:chExt cx="4926338" cy="292388"/>
          </a:xfrm>
        </p:grpSpPr>
        <p:sp>
          <p:nvSpPr>
            <p:cNvPr id="41" name="Line 55"/>
            <p:cNvSpPr>
              <a:spLocks noChangeShapeType="1"/>
            </p:cNvSpPr>
            <p:nvPr/>
          </p:nvSpPr>
          <p:spPr bwMode="auto">
            <a:xfrm>
              <a:off x="2144264" y="2409068"/>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42" name="矩形 4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grpSp>
        <p:nvGrpSpPr>
          <p:cNvPr id="52" name="组合 51"/>
          <p:cNvGrpSpPr/>
          <p:nvPr/>
        </p:nvGrpSpPr>
        <p:grpSpPr>
          <a:xfrm>
            <a:off x="2727397" y="2154698"/>
            <a:ext cx="4337778" cy="180000"/>
            <a:chOff x="2144264" y="2285523"/>
            <a:chExt cx="4926338" cy="292388"/>
          </a:xfrm>
        </p:grpSpPr>
        <p:sp>
          <p:nvSpPr>
            <p:cNvPr id="53"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54" name="矩形 53"/>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DATA</a:t>
              </a:r>
              <a:endParaRPr lang="zh-CN" altLang="en-US" sz="1100" b="1" dirty="0">
                <a:solidFill>
                  <a:schemeClr val="tx1"/>
                </a:solidFill>
                <a:latin typeface="微软雅黑" pitchFamily="34" charset="-122"/>
                <a:ea typeface="微软雅黑" pitchFamily="34" charset="-122"/>
              </a:endParaRPr>
            </a:p>
          </p:txBody>
        </p:sp>
      </p:grpSp>
      <p:grpSp>
        <p:nvGrpSpPr>
          <p:cNvPr id="55" name="组合 54"/>
          <p:cNvGrpSpPr/>
          <p:nvPr/>
        </p:nvGrpSpPr>
        <p:grpSpPr>
          <a:xfrm>
            <a:off x="2727397" y="2357266"/>
            <a:ext cx="4337778" cy="180000"/>
            <a:chOff x="2144264" y="2285523"/>
            <a:chExt cx="4926338" cy="292388"/>
          </a:xfrm>
        </p:grpSpPr>
        <p:sp>
          <p:nvSpPr>
            <p:cNvPr id="56"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57" name="矩形 56"/>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50" b="1" dirty="0">
                  <a:solidFill>
                    <a:schemeClr val="tx1"/>
                  </a:solidFill>
                  <a:latin typeface="微软雅黑" pitchFamily="34" charset="-122"/>
                  <a:ea typeface="微软雅黑" pitchFamily="34" charset="-122"/>
                </a:rPr>
                <a:t>354 Start mail input; end with &lt;CRLF&gt;.&lt;CRLF&gt;</a:t>
              </a:r>
              <a:endParaRPr lang="zh-CN" altLang="en-US" sz="950" b="1" dirty="0">
                <a:solidFill>
                  <a:schemeClr val="tx1"/>
                </a:solidFill>
                <a:latin typeface="微软雅黑" pitchFamily="34" charset="-122"/>
                <a:ea typeface="微软雅黑" pitchFamily="34" charset="-122"/>
              </a:endParaRPr>
            </a:p>
          </p:txBody>
        </p:sp>
      </p:grpSp>
      <p:grpSp>
        <p:nvGrpSpPr>
          <p:cNvPr id="58" name="组合 57"/>
          <p:cNvGrpSpPr/>
          <p:nvPr/>
        </p:nvGrpSpPr>
        <p:grpSpPr>
          <a:xfrm>
            <a:off x="2727397" y="2558913"/>
            <a:ext cx="4337778" cy="180000"/>
            <a:chOff x="2144264" y="2285523"/>
            <a:chExt cx="4926338" cy="292388"/>
          </a:xfrm>
        </p:grpSpPr>
        <p:sp>
          <p:nvSpPr>
            <p:cNvPr id="59"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0" name="矩形 59"/>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From: Lion@abc.edu</a:t>
              </a:r>
              <a:endParaRPr lang="zh-CN" altLang="en-US" sz="1100" b="1" dirty="0">
                <a:solidFill>
                  <a:schemeClr val="tx1"/>
                </a:solidFill>
                <a:latin typeface="微软雅黑" pitchFamily="34" charset="-122"/>
                <a:ea typeface="微软雅黑" pitchFamily="34" charset="-122"/>
              </a:endParaRPr>
            </a:p>
          </p:txBody>
        </p:sp>
      </p:grpSp>
      <p:grpSp>
        <p:nvGrpSpPr>
          <p:cNvPr id="61" name="组合 60"/>
          <p:cNvGrpSpPr/>
          <p:nvPr/>
        </p:nvGrpSpPr>
        <p:grpSpPr>
          <a:xfrm>
            <a:off x="2727397" y="2756503"/>
            <a:ext cx="4337778" cy="180000"/>
            <a:chOff x="2144264" y="2285523"/>
            <a:chExt cx="4926338" cy="292388"/>
          </a:xfrm>
        </p:grpSpPr>
        <p:sp>
          <p:nvSpPr>
            <p:cNvPr id="62"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3" name="矩形 62"/>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To: Tiger@xyz.com</a:t>
              </a:r>
              <a:endParaRPr lang="zh-CN" altLang="en-US" sz="1100" b="1" dirty="0">
                <a:solidFill>
                  <a:schemeClr val="tx1"/>
                </a:solidFill>
                <a:latin typeface="微软雅黑" pitchFamily="34" charset="-122"/>
                <a:ea typeface="微软雅黑" pitchFamily="34" charset="-122"/>
              </a:endParaRPr>
            </a:p>
          </p:txBody>
        </p:sp>
      </p:grpSp>
      <p:grpSp>
        <p:nvGrpSpPr>
          <p:cNvPr id="64" name="组合 63"/>
          <p:cNvGrpSpPr/>
          <p:nvPr/>
        </p:nvGrpSpPr>
        <p:grpSpPr>
          <a:xfrm>
            <a:off x="2727397" y="2952686"/>
            <a:ext cx="4337778" cy="180000"/>
            <a:chOff x="2144264" y="2285523"/>
            <a:chExt cx="4926338" cy="292388"/>
          </a:xfrm>
        </p:grpSpPr>
        <p:sp>
          <p:nvSpPr>
            <p:cNvPr id="6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6" name="矩形 6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Date: 2026-02-02</a:t>
              </a:r>
              <a:endParaRPr lang="zh-CN" altLang="en-US" sz="1100" b="1" dirty="0">
                <a:solidFill>
                  <a:schemeClr val="tx1"/>
                </a:solidFill>
                <a:latin typeface="微软雅黑" pitchFamily="34" charset="-122"/>
                <a:ea typeface="微软雅黑" pitchFamily="34" charset="-122"/>
              </a:endParaRPr>
            </a:p>
          </p:txBody>
        </p:sp>
      </p:grpSp>
      <p:grpSp>
        <p:nvGrpSpPr>
          <p:cNvPr id="67" name="组合 66"/>
          <p:cNvGrpSpPr/>
          <p:nvPr/>
        </p:nvGrpSpPr>
        <p:grpSpPr>
          <a:xfrm>
            <a:off x="2727397" y="3159154"/>
            <a:ext cx="4337778" cy="180000"/>
            <a:chOff x="2144264" y="2285523"/>
            <a:chExt cx="4926338" cy="292388"/>
          </a:xfrm>
        </p:grpSpPr>
        <p:sp>
          <p:nvSpPr>
            <p:cNvPr id="68"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9" name="矩形 68"/>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Subject: Greetings</a:t>
              </a:r>
              <a:endParaRPr lang="zh-CN" altLang="en-US" sz="1100" b="1" dirty="0">
                <a:solidFill>
                  <a:schemeClr val="tx1"/>
                </a:solidFill>
                <a:latin typeface="微软雅黑" pitchFamily="34" charset="-122"/>
                <a:ea typeface="微软雅黑" pitchFamily="34" charset="-122"/>
              </a:endParaRPr>
            </a:p>
          </p:txBody>
        </p:sp>
      </p:grpSp>
      <p:grpSp>
        <p:nvGrpSpPr>
          <p:cNvPr id="70" name="组合 69"/>
          <p:cNvGrpSpPr/>
          <p:nvPr/>
        </p:nvGrpSpPr>
        <p:grpSpPr>
          <a:xfrm>
            <a:off x="2727397" y="3365693"/>
            <a:ext cx="4337778" cy="180000"/>
            <a:chOff x="2144264" y="2285523"/>
            <a:chExt cx="4926338" cy="292388"/>
          </a:xfrm>
        </p:grpSpPr>
        <p:sp>
          <p:nvSpPr>
            <p:cNvPr id="71"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2" name="矩形 71"/>
            <p:cNvSpPr/>
            <p:nvPr/>
          </p:nvSpPr>
          <p:spPr>
            <a:xfrm>
              <a:off x="2827283" y="2285523"/>
              <a:ext cx="3626069" cy="29238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b="1" dirty="0">
                <a:solidFill>
                  <a:schemeClr val="tx1"/>
                </a:solidFill>
                <a:latin typeface="微软雅黑" pitchFamily="34" charset="-122"/>
                <a:ea typeface="微软雅黑" pitchFamily="34" charset="-122"/>
              </a:endParaRPr>
            </a:p>
          </p:txBody>
        </p:sp>
      </p:grpSp>
      <p:grpSp>
        <p:nvGrpSpPr>
          <p:cNvPr id="73" name="组合 72"/>
          <p:cNvGrpSpPr/>
          <p:nvPr/>
        </p:nvGrpSpPr>
        <p:grpSpPr>
          <a:xfrm>
            <a:off x="2727397" y="3566713"/>
            <a:ext cx="4337778" cy="180000"/>
            <a:chOff x="2144264" y="2285523"/>
            <a:chExt cx="4926338" cy="292388"/>
          </a:xfrm>
        </p:grpSpPr>
        <p:sp>
          <p:nvSpPr>
            <p:cNvPr id="74"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5" name="矩形 74"/>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Dear Mr. Tiger, </a:t>
              </a:r>
              <a:endParaRPr lang="zh-CN" altLang="en-US" sz="1100" b="1" dirty="0">
                <a:solidFill>
                  <a:schemeClr val="tx1"/>
                </a:solidFill>
                <a:latin typeface="微软雅黑" pitchFamily="34" charset="-122"/>
                <a:ea typeface="微软雅黑" pitchFamily="34" charset="-122"/>
              </a:endParaRPr>
            </a:p>
          </p:txBody>
        </p:sp>
      </p:grpSp>
      <p:grpSp>
        <p:nvGrpSpPr>
          <p:cNvPr id="76" name="组合 75"/>
          <p:cNvGrpSpPr/>
          <p:nvPr/>
        </p:nvGrpSpPr>
        <p:grpSpPr>
          <a:xfrm>
            <a:off x="2727397" y="3773181"/>
            <a:ext cx="4337778" cy="180000"/>
            <a:chOff x="2144264" y="2285523"/>
            <a:chExt cx="4926338" cy="292388"/>
          </a:xfrm>
        </p:grpSpPr>
        <p:sp>
          <p:nvSpPr>
            <p:cNvPr id="7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8" name="矩形 7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Welcome you back.</a:t>
              </a:r>
              <a:endParaRPr lang="zh-CN" altLang="en-US" sz="1100" b="1" dirty="0">
                <a:solidFill>
                  <a:schemeClr val="tx1"/>
                </a:solidFill>
                <a:latin typeface="微软雅黑" pitchFamily="34" charset="-122"/>
                <a:ea typeface="微软雅黑" pitchFamily="34" charset="-122"/>
              </a:endParaRPr>
            </a:p>
          </p:txBody>
        </p:sp>
      </p:grpSp>
      <p:grpSp>
        <p:nvGrpSpPr>
          <p:cNvPr id="79" name="组合 78"/>
          <p:cNvGrpSpPr/>
          <p:nvPr/>
        </p:nvGrpSpPr>
        <p:grpSpPr>
          <a:xfrm>
            <a:off x="2727397" y="4183123"/>
            <a:ext cx="4337778" cy="180000"/>
            <a:chOff x="2144264" y="2285523"/>
            <a:chExt cx="4926338" cy="292388"/>
          </a:xfrm>
        </p:grpSpPr>
        <p:sp>
          <p:nvSpPr>
            <p:cNvPr id="80"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81" name="矩形 80"/>
            <p:cNvSpPr/>
            <p:nvPr/>
          </p:nvSpPr>
          <p:spPr>
            <a:xfrm>
              <a:off x="2827283" y="2285523"/>
              <a:ext cx="3626069" cy="292388"/>
            </a:xfrm>
            <a:prstGeom prst="rect">
              <a:avLst/>
            </a:prstGeom>
            <a:solidFill>
              <a:schemeClr val="tx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solidFill>
                    <a:schemeClr val="bg1"/>
                  </a:solidFill>
                  <a:latin typeface="微软雅黑" pitchFamily="34" charset="-122"/>
                  <a:ea typeface="微软雅黑" pitchFamily="34" charset="-122"/>
                </a:rPr>
                <a:t>.</a:t>
              </a:r>
              <a:endParaRPr lang="zh-CN" altLang="en-US" sz="1600" b="1" dirty="0">
                <a:solidFill>
                  <a:schemeClr val="bg1"/>
                </a:solidFill>
                <a:latin typeface="微软雅黑" pitchFamily="34" charset="-122"/>
                <a:ea typeface="微软雅黑" pitchFamily="34" charset="-122"/>
              </a:endParaRPr>
            </a:p>
          </p:txBody>
        </p:sp>
      </p:grpSp>
      <p:grpSp>
        <p:nvGrpSpPr>
          <p:cNvPr id="82" name="组合 81"/>
          <p:cNvGrpSpPr/>
          <p:nvPr/>
        </p:nvGrpSpPr>
        <p:grpSpPr>
          <a:xfrm>
            <a:off x="2727397" y="4384219"/>
            <a:ext cx="4337778" cy="180000"/>
            <a:chOff x="2144264" y="2285523"/>
            <a:chExt cx="4926338" cy="292388"/>
          </a:xfrm>
        </p:grpSpPr>
        <p:sp>
          <p:nvSpPr>
            <p:cNvPr id="83"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84" name="矩形 83"/>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sp>
        <p:nvSpPr>
          <p:cNvPr id="87" name="Text Box 409"/>
          <p:cNvSpPr txBox="1">
            <a:spLocks noChangeArrowheads="1"/>
          </p:cNvSpPr>
          <p:nvPr/>
        </p:nvSpPr>
        <p:spPr bwMode="auto">
          <a:xfrm>
            <a:off x="7086640" y="158104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rgbClr val="3333FF"/>
                </a:solidFill>
                <a:latin typeface="微软雅黑" pitchFamily="34" charset="-122"/>
                <a:ea typeface="微软雅黑" pitchFamily="34" charset="-122"/>
              </a:rPr>
              <a:t>信封</a:t>
            </a:r>
            <a:endParaRPr kumimoji="1" lang="zh-CN" altLang="en-US" sz="1400" b="1" dirty="0">
              <a:solidFill>
                <a:srgbClr val="3333FF"/>
              </a:solidFill>
              <a:latin typeface="微软雅黑" pitchFamily="34" charset="-122"/>
              <a:ea typeface="微软雅黑" pitchFamily="34" charset="-122"/>
            </a:endParaRPr>
          </a:p>
        </p:txBody>
      </p:sp>
      <p:sp>
        <p:nvSpPr>
          <p:cNvPr id="88" name="Text Box 409"/>
          <p:cNvSpPr txBox="1">
            <a:spLocks noChangeArrowheads="1"/>
          </p:cNvSpPr>
          <p:nvPr/>
        </p:nvSpPr>
        <p:spPr bwMode="auto">
          <a:xfrm>
            <a:off x="7086640" y="258390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smtClean="0">
                <a:solidFill>
                  <a:srgbClr val="3333FF"/>
                </a:solidFill>
                <a:latin typeface="微软雅黑" pitchFamily="34" charset="-122"/>
                <a:ea typeface="微软雅黑" pitchFamily="34" charset="-122"/>
              </a:rPr>
              <a:t>首部</a:t>
            </a:r>
            <a:endParaRPr kumimoji="1" lang="zh-CN" altLang="en-US" sz="1400" b="1" dirty="0">
              <a:solidFill>
                <a:srgbClr val="3333FF"/>
              </a:solidFill>
              <a:latin typeface="微软雅黑" pitchFamily="34" charset="-122"/>
              <a:ea typeface="微软雅黑" pitchFamily="34" charset="-122"/>
            </a:endParaRPr>
          </a:p>
        </p:txBody>
      </p:sp>
      <p:sp>
        <p:nvSpPr>
          <p:cNvPr id="89" name="Text Box 409"/>
          <p:cNvSpPr txBox="1">
            <a:spLocks noChangeArrowheads="1"/>
          </p:cNvSpPr>
          <p:nvPr/>
        </p:nvSpPr>
        <p:spPr bwMode="auto">
          <a:xfrm>
            <a:off x="7086640" y="3911141"/>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333399"/>
                </a:solidFill>
                <a:latin typeface="微软雅黑" pitchFamily="34" charset="-122"/>
                <a:ea typeface="微软雅黑" pitchFamily="34" charset="-122"/>
              </a:rPr>
              <a:t>主体</a:t>
            </a:r>
          </a:p>
        </p:txBody>
      </p:sp>
      <p:sp>
        <p:nvSpPr>
          <p:cNvPr id="90" name="Text Box 409"/>
          <p:cNvSpPr txBox="1">
            <a:spLocks noChangeArrowheads="1"/>
          </p:cNvSpPr>
          <p:nvPr/>
        </p:nvSpPr>
        <p:spPr bwMode="auto">
          <a:xfrm>
            <a:off x="7086640" y="3311697"/>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smtClean="0">
                <a:latin typeface="微软雅黑" pitchFamily="34" charset="-122"/>
                <a:ea typeface="微软雅黑" pitchFamily="34" charset="-122"/>
              </a:rPr>
              <a:t>空行</a:t>
            </a:r>
            <a:endParaRPr kumimoji="1" lang="zh-CN" altLang="en-US" sz="1200" b="1" dirty="0">
              <a:latin typeface="微软雅黑" pitchFamily="34" charset="-122"/>
              <a:ea typeface="微软雅黑" pitchFamily="34" charset="-122"/>
            </a:endParaRPr>
          </a:p>
        </p:txBody>
      </p:sp>
      <p:sp>
        <p:nvSpPr>
          <p:cNvPr id="91"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9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9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94"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custDataLst>
      <p:tags r:id="rId1"/>
    </p:custDataLst>
    <p:extLst>
      <p:ext uri="{BB962C8B-B14F-4D97-AF65-F5344CB8AC3E}">
        <p14:creationId xmlns:p14="http://schemas.microsoft.com/office/powerpoint/2010/main" val="25822198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right)">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wipe(left)">
                                      <p:cBhvr>
                                        <p:cTn id="17" dur="500"/>
                                        <p:tgtEl>
                                          <p:spTgt spid="3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wipe(right)">
                                      <p:cBhvr>
                                        <p:cTn id="22" dur="500"/>
                                        <p:tgtEl>
                                          <p:spTgt spid="4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left)">
                                      <p:cBhvr>
                                        <p:cTn id="27" dur="500"/>
                                        <p:tgtEl>
                                          <p:spTgt spid="52"/>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wipe(right)">
                                      <p:cBhvr>
                                        <p:cTn id="31" dur="500"/>
                                        <p:tgtEl>
                                          <p:spTgt spid="55"/>
                                        </p:tgtEl>
                                      </p:cBhvr>
                                    </p:animEffect>
                                  </p:childTnLst>
                                </p:cTn>
                              </p:par>
                            </p:childTnLst>
                          </p:cTn>
                        </p:par>
                        <p:par>
                          <p:cTn id="32" fill="hold">
                            <p:stCondLst>
                              <p:cond delay="1000"/>
                            </p:stCondLst>
                            <p:childTnLst>
                              <p:par>
                                <p:cTn id="33" presetID="22" presetClass="entr" presetSubtype="8" fill="hold" nodeType="afterEffect">
                                  <p:stCondLst>
                                    <p:cond delay="0"/>
                                  </p:stCondLst>
                                  <p:childTnLst>
                                    <p:set>
                                      <p:cBhvr>
                                        <p:cTn id="34" dur="1" fill="hold">
                                          <p:stCondLst>
                                            <p:cond delay="0"/>
                                          </p:stCondLst>
                                        </p:cTn>
                                        <p:tgtEl>
                                          <p:spTgt spid="58"/>
                                        </p:tgtEl>
                                        <p:attrNameLst>
                                          <p:attrName>style.visibility</p:attrName>
                                        </p:attrNameLst>
                                      </p:cBhvr>
                                      <p:to>
                                        <p:strVal val="visible"/>
                                      </p:to>
                                    </p:set>
                                    <p:animEffect transition="in" filter="wipe(left)">
                                      <p:cBhvr>
                                        <p:cTn id="35" dur="500"/>
                                        <p:tgtEl>
                                          <p:spTgt spid="58"/>
                                        </p:tgtEl>
                                      </p:cBhvr>
                                    </p:animEffect>
                                  </p:childTnLst>
                                </p:cTn>
                              </p:par>
                            </p:childTnLst>
                          </p:cTn>
                        </p:par>
                        <p:par>
                          <p:cTn id="36" fill="hold">
                            <p:stCondLst>
                              <p:cond delay="1500"/>
                            </p:stCondLst>
                            <p:childTnLst>
                              <p:par>
                                <p:cTn id="37" presetID="22" presetClass="entr" presetSubtype="8" fill="hold" nodeType="after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wipe(left)">
                                      <p:cBhvr>
                                        <p:cTn id="39" dur="500"/>
                                        <p:tgtEl>
                                          <p:spTgt spid="61"/>
                                        </p:tgtEl>
                                      </p:cBhvr>
                                    </p:animEffect>
                                  </p:childTnLst>
                                </p:cTn>
                              </p:par>
                            </p:childTnLst>
                          </p:cTn>
                        </p:par>
                        <p:par>
                          <p:cTn id="40" fill="hold">
                            <p:stCondLst>
                              <p:cond delay="2000"/>
                            </p:stCondLst>
                            <p:childTnLst>
                              <p:par>
                                <p:cTn id="41" presetID="22" presetClass="entr" presetSubtype="8" fill="hold" nodeType="afterEffect">
                                  <p:stCondLst>
                                    <p:cond delay="0"/>
                                  </p:stCondLst>
                                  <p:childTnLst>
                                    <p:set>
                                      <p:cBhvr>
                                        <p:cTn id="42" dur="1" fill="hold">
                                          <p:stCondLst>
                                            <p:cond delay="0"/>
                                          </p:stCondLst>
                                        </p:cTn>
                                        <p:tgtEl>
                                          <p:spTgt spid="64"/>
                                        </p:tgtEl>
                                        <p:attrNameLst>
                                          <p:attrName>style.visibility</p:attrName>
                                        </p:attrNameLst>
                                      </p:cBhvr>
                                      <p:to>
                                        <p:strVal val="visible"/>
                                      </p:to>
                                    </p:set>
                                    <p:animEffect transition="in" filter="wipe(left)">
                                      <p:cBhvr>
                                        <p:cTn id="43" dur="500"/>
                                        <p:tgtEl>
                                          <p:spTgt spid="64"/>
                                        </p:tgtEl>
                                      </p:cBhvr>
                                    </p:animEffect>
                                  </p:childTnLst>
                                </p:cTn>
                              </p:par>
                            </p:childTnLst>
                          </p:cTn>
                        </p:par>
                        <p:par>
                          <p:cTn id="44" fill="hold">
                            <p:stCondLst>
                              <p:cond delay="2500"/>
                            </p:stCondLst>
                            <p:childTnLst>
                              <p:par>
                                <p:cTn id="45" presetID="22" presetClass="entr" presetSubtype="8" fill="hold" nodeType="afterEffect">
                                  <p:stCondLst>
                                    <p:cond delay="0"/>
                                  </p:stCondLst>
                                  <p:childTnLst>
                                    <p:set>
                                      <p:cBhvr>
                                        <p:cTn id="46" dur="1" fill="hold">
                                          <p:stCondLst>
                                            <p:cond delay="0"/>
                                          </p:stCondLst>
                                        </p:cTn>
                                        <p:tgtEl>
                                          <p:spTgt spid="67"/>
                                        </p:tgtEl>
                                        <p:attrNameLst>
                                          <p:attrName>style.visibility</p:attrName>
                                        </p:attrNameLst>
                                      </p:cBhvr>
                                      <p:to>
                                        <p:strVal val="visible"/>
                                      </p:to>
                                    </p:set>
                                    <p:animEffect transition="in" filter="wipe(left)">
                                      <p:cBhvr>
                                        <p:cTn id="47" dur="500"/>
                                        <p:tgtEl>
                                          <p:spTgt spid="67"/>
                                        </p:tgtEl>
                                      </p:cBhvr>
                                    </p:animEffect>
                                  </p:childTnLst>
                                </p:cTn>
                              </p:par>
                            </p:childTnLst>
                          </p:cTn>
                        </p:par>
                        <p:par>
                          <p:cTn id="48" fill="hold">
                            <p:stCondLst>
                              <p:cond delay="3000"/>
                            </p:stCondLst>
                            <p:childTnLst>
                              <p:par>
                                <p:cTn id="49" presetID="22" presetClass="entr" presetSubtype="8"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left)">
                                      <p:cBhvr>
                                        <p:cTn id="51" dur="500"/>
                                        <p:tgtEl>
                                          <p:spTgt spid="70"/>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wipe(left)">
                                      <p:cBhvr>
                                        <p:cTn id="55" dur="500"/>
                                        <p:tgtEl>
                                          <p:spTgt spid="73"/>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76"/>
                                        </p:tgtEl>
                                        <p:attrNameLst>
                                          <p:attrName>style.visibility</p:attrName>
                                        </p:attrNameLst>
                                      </p:cBhvr>
                                      <p:to>
                                        <p:strVal val="visible"/>
                                      </p:to>
                                    </p:set>
                                    <p:animEffect transition="in" filter="wipe(left)">
                                      <p:cBhvr>
                                        <p:cTn id="59" dur="500"/>
                                        <p:tgtEl>
                                          <p:spTgt spid="76"/>
                                        </p:tgtEl>
                                      </p:cBhvr>
                                    </p:animEffect>
                                  </p:childTnLst>
                                </p:cTn>
                              </p:par>
                            </p:childTnLst>
                          </p:cTn>
                        </p:par>
                        <p:par>
                          <p:cTn id="60" fill="hold">
                            <p:stCondLst>
                              <p:cond delay="4500"/>
                            </p:stCondLst>
                            <p:childTnLst>
                              <p:par>
                                <p:cTn id="61" presetID="22" presetClass="entr" presetSubtype="8" fill="hold" nodeType="afterEffect">
                                  <p:stCondLst>
                                    <p:cond delay="0"/>
                                  </p:stCondLst>
                                  <p:childTnLst>
                                    <p:set>
                                      <p:cBhvr>
                                        <p:cTn id="62" dur="1" fill="hold">
                                          <p:stCondLst>
                                            <p:cond delay="0"/>
                                          </p:stCondLst>
                                        </p:cTn>
                                        <p:tgtEl>
                                          <p:spTgt spid="79"/>
                                        </p:tgtEl>
                                        <p:attrNameLst>
                                          <p:attrName>style.visibility</p:attrName>
                                        </p:attrNameLst>
                                      </p:cBhvr>
                                      <p:to>
                                        <p:strVal val="visible"/>
                                      </p:to>
                                    </p:set>
                                    <p:animEffect transition="in" filter="wipe(left)">
                                      <p:cBhvr>
                                        <p:cTn id="63" dur="500"/>
                                        <p:tgtEl>
                                          <p:spTgt spid="79"/>
                                        </p:tgtEl>
                                      </p:cBhvr>
                                    </p:animEffect>
                                  </p:childTnLst>
                                </p:cTn>
                              </p:par>
                            </p:childTnLst>
                          </p:cTn>
                        </p:par>
                        <p:par>
                          <p:cTn id="64" fill="hold">
                            <p:stCondLst>
                              <p:cond delay="5000"/>
                            </p:stCondLst>
                            <p:childTnLst>
                              <p:par>
                                <p:cTn id="65" presetID="22" presetClass="entr" presetSubtype="2" fill="hold" nodeType="afterEffect">
                                  <p:stCondLst>
                                    <p:cond delay="0"/>
                                  </p:stCondLst>
                                  <p:childTnLst>
                                    <p:set>
                                      <p:cBhvr>
                                        <p:cTn id="66" dur="1" fill="hold">
                                          <p:stCondLst>
                                            <p:cond delay="0"/>
                                          </p:stCondLst>
                                        </p:cTn>
                                        <p:tgtEl>
                                          <p:spTgt spid="82"/>
                                        </p:tgtEl>
                                        <p:attrNameLst>
                                          <p:attrName>style.visibility</p:attrName>
                                        </p:attrNameLst>
                                      </p:cBhvr>
                                      <p:to>
                                        <p:strVal val="visible"/>
                                      </p:to>
                                    </p:set>
                                    <p:animEffect transition="in" filter="wipe(right)">
                                      <p:cBhvr>
                                        <p:cTn id="67"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1731607"/>
            <a:ext cx="1372969" cy="966894"/>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636727" y="200102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连接释放</a:t>
            </a:r>
            <a:endParaRPr lang="zh-CN" altLang="en-US" sz="2000" b="1" dirty="0">
              <a:solidFill>
                <a:schemeClr val="bg1"/>
              </a:solidFill>
              <a:latin typeface="微软雅黑" pitchFamily="34" charset="-122"/>
              <a:ea typeface="微软雅黑" pitchFamily="34" charset="-122"/>
            </a:endParaRPr>
          </a:p>
        </p:txBody>
      </p:sp>
      <p:grpSp>
        <p:nvGrpSpPr>
          <p:cNvPr id="4" name="组合 3"/>
          <p:cNvGrpSpPr/>
          <p:nvPr/>
        </p:nvGrpSpPr>
        <p:grpSpPr>
          <a:xfrm>
            <a:off x="2719604" y="1266738"/>
            <a:ext cx="4350993" cy="1645138"/>
            <a:chOff x="2719604" y="991533"/>
            <a:chExt cx="4350993" cy="2348869"/>
          </a:xfrm>
        </p:grpSpPr>
        <p:cxnSp>
          <p:nvCxnSpPr>
            <p:cNvPr id="7" name="直接箭头连接符 6"/>
            <p:cNvCxnSpPr/>
            <p:nvPr/>
          </p:nvCxnSpPr>
          <p:spPr>
            <a:xfrm>
              <a:off x="2719604"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7070597"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2290113"/>
            <a:ext cx="4337778" cy="276999"/>
            <a:chOff x="2144264" y="1950857"/>
            <a:chExt cx="4926338" cy="426271"/>
          </a:xfrm>
        </p:grpSpPr>
        <p:sp>
          <p:nvSpPr>
            <p:cNvPr id="17" name="Text Box 52"/>
            <p:cNvSpPr txBox="1">
              <a:spLocks noChangeArrowheads="1"/>
            </p:cNvSpPr>
            <p:nvPr/>
          </p:nvSpPr>
          <p:spPr bwMode="auto">
            <a:xfrm>
              <a:off x="3888314" y="1950857"/>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smtClean="0"/>
                <a:t>释放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dash"/>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4" name="组合 23"/>
          <p:cNvGrpSpPr/>
          <p:nvPr/>
        </p:nvGrpSpPr>
        <p:grpSpPr>
          <a:xfrm>
            <a:off x="2727397" y="1446578"/>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12700">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QUIT</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1670166"/>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itchFamily="34" charset="-122"/>
                  <a:ea typeface="微软雅黑" pitchFamily="34" charset="-122"/>
                </a:rPr>
                <a:t>221 Service closed</a:t>
              </a:r>
              <a:endParaRPr lang="zh-CN" altLang="en-US" sz="1100" b="1" dirty="0">
                <a:solidFill>
                  <a:schemeClr val="tx1"/>
                </a:solidFill>
                <a:latin typeface="微软雅黑" pitchFamily="34" charset="-122"/>
                <a:ea typeface="微软雅黑" pitchFamily="34" charset="-122"/>
              </a:endParaRPr>
            </a:p>
          </p:txBody>
        </p:sp>
      </p:grpSp>
      <p:sp>
        <p:nvSpPr>
          <p:cNvPr id="19" name="矩形 18"/>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itchFamily="34" charset="-122"/>
                <a:ea typeface="微软雅黑" pitchFamily="34" charset="-122"/>
              </a:rPr>
              <a:t>SMTP </a:t>
            </a: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20" name="矩形 1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itchFamily="34" charset="-122"/>
                <a:ea typeface="微软雅黑" pitchFamily="34" charset="-122"/>
              </a:rPr>
              <a:t>SMTP </a:t>
            </a:r>
            <a:r>
              <a:rPr lang="zh-CN" altLang="en-US" sz="1200" b="1" dirty="0" smtClean="0">
                <a:solidFill>
                  <a:schemeClr val="tx1"/>
                </a:solidFill>
                <a:latin typeface="微软雅黑" pitchFamily="34" charset="-122"/>
                <a:ea typeface="微软雅黑" pitchFamily="34" charset="-122"/>
              </a:rPr>
              <a:t>客户</a:t>
            </a:r>
            <a:endParaRPr lang="zh-CN" altLang="en-US" sz="1200" b="1" dirty="0">
              <a:solidFill>
                <a:schemeClr val="tx1"/>
              </a:solidFill>
              <a:latin typeface="微软雅黑" pitchFamily="34" charset="-122"/>
              <a:ea typeface="微软雅黑" pitchFamily="34" charset="-122"/>
            </a:endParaRPr>
          </a:p>
        </p:txBody>
      </p:sp>
      <p:sp>
        <p:nvSpPr>
          <p:cNvPr id="21" name="AutoShape 5"/>
          <p:cNvSpPr>
            <a:spLocks noChangeArrowheads="1"/>
          </p:cNvSpPr>
          <p:nvPr/>
        </p:nvSpPr>
        <p:spPr bwMode="auto">
          <a:xfrm>
            <a:off x="556963" y="612837"/>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2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a:t>
            </a:r>
            <a:r>
              <a:rPr lang="zh-CN" altLang="en-US" sz="2000" b="1" dirty="0" smtClean="0">
                <a:solidFill>
                  <a:schemeClr val="bg1"/>
                </a:solidFill>
                <a:latin typeface="微软雅黑" pitchFamily="34" charset="-122"/>
                <a:ea typeface="微软雅黑" pitchFamily="34" charset="-122"/>
              </a:rPr>
              <a:t>阶段</a:t>
            </a:r>
            <a:endParaRPr lang="zh-CN" altLang="en-US" sz="2000" b="1" dirty="0">
              <a:solidFill>
                <a:schemeClr val="bg1"/>
              </a:solidFill>
              <a:latin typeface="微软雅黑" pitchFamily="34" charset="-122"/>
              <a:ea typeface="微软雅黑" pitchFamily="34" charset="-122"/>
            </a:endParaRPr>
          </a:p>
        </p:txBody>
      </p:sp>
      <p:sp>
        <p:nvSpPr>
          <p:cNvPr id="2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rgbClr val="CC00CC"/>
                </a:solidFill>
                <a:latin typeface="微软雅黑" pitchFamily="34" charset="-122"/>
                <a:ea typeface="微软雅黑" pitchFamily="34" charset="-122"/>
              </a:rPr>
              <a:t>TCP </a:t>
            </a:r>
            <a:r>
              <a:rPr kumimoji="1" lang="zh-CN" altLang="en-US" sz="1100" b="1" dirty="0" smtClean="0">
                <a:solidFill>
                  <a:srgbClr val="CC00CC"/>
                </a:solidFill>
                <a:latin typeface="微软雅黑" pitchFamily="34" charset="-122"/>
                <a:ea typeface="微软雅黑" pitchFamily="34" charset="-122"/>
              </a:rPr>
              <a:t>端口 </a:t>
            </a:r>
            <a:r>
              <a:rPr kumimoji="1" lang="en-US" altLang="zh-CN" sz="1100" b="1" dirty="0" smtClean="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grpSp>
        <p:nvGrpSpPr>
          <p:cNvPr id="30" name="组合 29"/>
          <p:cNvGrpSpPr/>
          <p:nvPr/>
        </p:nvGrpSpPr>
        <p:grpSpPr>
          <a:xfrm>
            <a:off x="1352360" y="3447353"/>
            <a:ext cx="6684885" cy="824269"/>
            <a:chOff x="1154100" y="3809875"/>
            <a:chExt cx="6684885" cy="824269"/>
          </a:xfrm>
        </p:grpSpPr>
        <p:sp>
          <p:nvSpPr>
            <p:cNvPr id="31" name="对角圆角矩形 30"/>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zh-CN" altLang="en-US" b="1" dirty="0">
                  <a:solidFill>
                    <a:srgbClr val="FFFF66"/>
                  </a:solidFill>
                  <a:latin typeface="微软雅黑" pitchFamily="34" charset="-122"/>
                  <a:ea typeface="微软雅黑" pitchFamily="34" charset="-122"/>
                </a:rPr>
                <a:t>使用电子邮件的用户看不见以上这些过程</a:t>
              </a:r>
              <a:r>
                <a:rPr lang="zh-CN" altLang="en-US" b="1" dirty="0">
                  <a:solidFill>
                    <a:schemeClr val="bg1"/>
                  </a:solidFill>
                  <a:latin typeface="微软雅黑" pitchFamily="34" charset="-122"/>
                  <a:ea typeface="微软雅黑" pitchFamily="34" charset="-122"/>
                </a:rPr>
                <a:t>，所有这些复杂过程都被电子邮件的用户代理</a:t>
              </a:r>
              <a:r>
                <a:rPr lang="zh-CN" altLang="en-US" b="1" dirty="0" smtClean="0">
                  <a:solidFill>
                    <a:schemeClr val="bg1"/>
                  </a:solidFill>
                  <a:latin typeface="微软雅黑" pitchFamily="34" charset="-122"/>
                  <a:ea typeface="微软雅黑" pitchFamily="34" charset="-122"/>
                </a:rPr>
                <a:t>屏蔽。</a:t>
              </a:r>
              <a:endParaRPr lang="zh-CN" altLang="en-US" b="1" dirty="0">
                <a:solidFill>
                  <a:srgbClr val="FFC000"/>
                </a:solidFill>
                <a:latin typeface="微软雅黑" pitchFamily="34" charset="-122"/>
                <a:ea typeface="微软雅黑" pitchFamily="34" charset="-122"/>
              </a:endParaRPr>
            </a:p>
          </p:txBody>
        </p:sp>
      </p:grpSp>
      <p:sp>
        <p:nvSpPr>
          <p:cNvPr id="33" name="Rectangle 4"/>
          <p:cNvSpPr>
            <a:spLocks noChangeArrowheads="1"/>
          </p:cNvSpPr>
          <p:nvPr/>
        </p:nvSpPr>
        <p:spPr bwMode="auto">
          <a:xfrm>
            <a:off x="7279640" y="37227"/>
            <a:ext cx="18618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简单邮件传送协议 </a:t>
            </a:r>
            <a:r>
              <a:rPr lang="en-US" altLang="zh-CN" sz="1100" b="1" dirty="0">
                <a:solidFill>
                  <a:srgbClr val="0070C0"/>
                </a:solidFill>
                <a:latin typeface="微软雅黑" pitchFamily="34" charset="-122"/>
                <a:ea typeface="微软雅黑" pitchFamily="34" charset="-122"/>
              </a:rPr>
              <a:t>SMTP</a:t>
            </a:r>
          </a:p>
        </p:txBody>
      </p:sp>
    </p:spTree>
    <p:custDataLst>
      <p:tags r:id="rId1"/>
    </p:custDataLst>
    <p:extLst>
      <p:ext uri="{BB962C8B-B14F-4D97-AF65-F5344CB8AC3E}">
        <p14:creationId xmlns:p14="http://schemas.microsoft.com/office/powerpoint/2010/main" val="25931810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547"/>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417407" y="559276"/>
            <a:ext cx="43091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邮件</a:t>
            </a:r>
            <a:r>
              <a:rPr lang="zh-CN" altLang="en-US" sz="2400" b="1" dirty="0">
                <a:solidFill>
                  <a:schemeClr val="bg1"/>
                </a:solidFill>
                <a:latin typeface="微软雅黑" pitchFamily="34" charset="-122"/>
                <a:ea typeface="微软雅黑" pitchFamily="34" charset="-122"/>
              </a:rPr>
              <a:t>读取</a:t>
            </a:r>
            <a:r>
              <a:rPr lang="zh-CN" altLang="en-US" sz="2400" b="1" dirty="0" smtClean="0">
                <a:solidFill>
                  <a:schemeClr val="bg1"/>
                </a:solidFill>
                <a:latin typeface="微软雅黑" pitchFamily="34" charset="-122"/>
                <a:ea typeface="微软雅黑" pitchFamily="34" charset="-122"/>
              </a:rPr>
              <a:t>协议 </a:t>
            </a:r>
            <a:r>
              <a:rPr lang="en-US" altLang="zh-CN" sz="2400" b="1" dirty="0" smtClean="0">
                <a:solidFill>
                  <a:schemeClr val="bg1"/>
                </a:solidFill>
                <a:latin typeface="微软雅黑" pitchFamily="34" charset="-122"/>
                <a:ea typeface="微软雅黑" pitchFamily="34" charset="-122"/>
              </a:rPr>
              <a:t>POP3 </a:t>
            </a:r>
            <a:r>
              <a:rPr lang="zh-CN" altLang="en-US" sz="2400" b="1" dirty="0">
                <a:solidFill>
                  <a:schemeClr val="bg1"/>
                </a:solidFill>
                <a:latin typeface="微软雅黑" pitchFamily="34" charset="-122"/>
                <a:ea typeface="微软雅黑" pitchFamily="34" charset="-122"/>
              </a:rPr>
              <a:t>和 </a:t>
            </a:r>
            <a:r>
              <a:rPr lang="en-US" altLang="zh-CN" sz="2400" b="1" dirty="0">
                <a:solidFill>
                  <a:schemeClr val="bg1"/>
                </a:solidFill>
                <a:latin typeface="微软雅黑" pitchFamily="34" charset="-122"/>
                <a:ea typeface="微软雅黑" pitchFamily="34" charset="-122"/>
              </a:rPr>
              <a:t>IMAP</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1007303"/>
            <a:ext cx="823193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itchFamily="34" charset="-122"/>
                <a:ea typeface="微软雅黑" pitchFamily="34" charset="-122"/>
              </a:rPr>
              <a:t>两</a:t>
            </a:r>
            <a:r>
              <a:rPr lang="zh-CN" altLang="en-US" sz="2000" b="1" dirty="0">
                <a:latin typeface="微软雅黑" pitchFamily="34" charset="-122"/>
                <a:ea typeface="微软雅黑" pitchFamily="34" charset="-122"/>
              </a:rPr>
              <a:t>个</a:t>
            </a:r>
            <a:r>
              <a:rPr lang="zh-CN" altLang="en-US" sz="2000" b="1" dirty="0" smtClean="0">
                <a:latin typeface="微软雅黑" pitchFamily="34" charset="-122"/>
                <a:ea typeface="微软雅黑" pitchFamily="34" charset="-122"/>
              </a:rPr>
              <a:t>常用</a:t>
            </a:r>
            <a:r>
              <a:rPr lang="zh-CN" altLang="en-US" sz="2000" b="1" dirty="0">
                <a:latin typeface="微软雅黑" pitchFamily="34" charset="-122"/>
                <a:ea typeface="微软雅黑" pitchFamily="34" charset="-122"/>
              </a:rPr>
              <a:t>的邮件读取</a:t>
            </a:r>
            <a:r>
              <a:rPr lang="zh-CN" altLang="en-US" sz="2000" b="1" dirty="0" smtClean="0">
                <a:latin typeface="微软雅黑" pitchFamily="34" charset="-122"/>
                <a:ea typeface="微软雅黑" pitchFamily="34" charset="-122"/>
              </a:rPr>
              <a:t>协议：</a:t>
            </a:r>
            <a:endParaRPr lang="en-US" altLang="zh-CN" sz="2000" b="1" dirty="0" smtClean="0">
              <a:latin typeface="微软雅黑" pitchFamily="34" charset="-122"/>
              <a:ea typeface="微软雅黑" pitchFamily="34" charset="-122"/>
            </a:endParaRPr>
          </a:p>
          <a:p>
            <a:pPr marL="357188" indent="-357188" eaLnBrk="0" hangingPunct="0">
              <a:lnSpc>
                <a:spcPts val="3300"/>
              </a:lnSpc>
              <a:buClr>
                <a:srgbClr val="9900CC"/>
              </a:buClr>
              <a:buFont typeface="+mj-lt"/>
              <a:buAutoNum type="arabicPeriod"/>
            </a:pPr>
            <a:r>
              <a:rPr lang="en-US" altLang="zh-CN" sz="2000" b="1" dirty="0" smtClean="0">
                <a:solidFill>
                  <a:srgbClr val="C00000"/>
                </a:solidFill>
                <a:latin typeface="微软雅黑" pitchFamily="34" charset="-122"/>
                <a:ea typeface="微软雅黑" pitchFamily="34" charset="-122"/>
              </a:rPr>
              <a:t>POP3</a:t>
            </a:r>
            <a:r>
              <a:rPr lang="zh-CN" altLang="en-US" sz="2000" b="1" dirty="0" smtClean="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邮局</a:t>
            </a:r>
            <a:r>
              <a:rPr lang="zh-CN" altLang="en-US" sz="2000" b="1" dirty="0" smtClean="0">
                <a:latin typeface="微软雅黑" pitchFamily="34" charset="-122"/>
                <a:ea typeface="微软雅黑" pitchFamily="34" charset="-122"/>
              </a:rPr>
              <a:t>协议 </a:t>
            </a:r>
            <a:r>
              <a:rPr lang="en-US" altLang="zh-CN" sz="2000" b="1" dirty="0" smtClean="0">
                <a:latin typeface="微软雅黑" pitchFamily="34" charset="-122"/>
                <a:ea typeface="微软雅黑" pitchFamily="34" charset="-122"/>
              </a:rPr>
              <a:t>(Post Office Protocol) </a:t>
            </a:r>
            <a:r>
              <a:rPr lang="zh-CN" altLang="en-US" sz="2000" b="1" dirty="0" smtClean="0">
                <a:latin typeface="微软雅黑" pitchFamily="34" charset="-122"/>
                <a:ea typeface="微软雅黑" pitchFamily="34" charset="-122"/>
              </a:rPr>
              <a:t>第</a:t>
            </a:r>
            <a:r>
              <a:rPr lang="en-US" altLang="zh-CN" sz="2000" b="1" dirty="0">
                <a:latin typeface="微软雅黑" pitchFamily="34" charset="-122"/>
                <a:ea typeface="微软雅黑" pitchFamily="34" charset="-122"/>
              </a:rPr>
              <a:t>3</a:t>
            </a:r>
            <a:r>
              <a:rPr lang="zh-CN" altLang="en-US" sz="2000" b="1" dirty="0">
                <a:latin typeface="微软雅黑" pitchFamily="34" charset="-122"/>
                <a:ea typeface="微软雅黑" pitchFamily="34" charset="-122"/>
              </a:rPr>
              <a:t>个版本 </a:t>
            </a:r>
            <a:endParaRPr lang="en-US" altLang="zh-CN" sz="2000" b="1" dirty="0" smtClean="0">
              <a:latin typeface="微软雅黑" pitchFamily="34" charset="-122"/>
              <a:ea typeface="微软雅黑" pitchFamily="34" charset="-122"/>
            </a:endParaRPr>
          </a:p>
          <a:p>
            <a:pPr marL="357188" indent="-357188" eaLnBrk="0" hangingPunct="0">
              <a:lnSpc>
                <a:spcPts val="3300"/>
              </a:lnSpc>
              <a:buClr>
                <a:srgbClr val="9900CC"/>
              </a:buClr>
              <a:buFont typeface="+mj-lt"/>
              <a:buAutoNum type="arabicPeriod"/>
            </a:pPr>
            <a:r>
              <a:rPr lang="en-US" altLang="zh-CN" sz="2000" b="1" dirty="0" smtClean="0">
                <a:solidFill>
                  <a:srgbClr val="C00000"/>
                </a:solidFill>
                <a:latin typeface="微软雅黑" pitchFamily="34" charset="-122"/>
                <a:ea typeface="微软雅黑" pitchFamily="34" charset="-122"/>
              </a:rPr>
              <a:t>IMAP</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网</a:t>
            </a:r>
            <a:r>
              <a:rPr lang="zh-CN" altLang="en-US" sz="2000" b="1" dirty="0">
                <a:latin typeface="微软雅黑" pitchFamily="34" charset="-122"/>
                <a:ea typeface="微软雅黑" pitchFamily="34" charset="-122"/>
              </a:rPr>
              <a:t>际报文存取</a:t>
            </a:r>
            <a:r>
              <a:rPr lang="zh-CN" altLang="en-US" sz="2000" b="1" dirty="0" smtClean="0">
                <a:latin typeface="微软雅黑" pitchFamily="34" charset="-122"/>
                <a:ea typeface="微软雅黑" pitchFamily="34" charset="-122"/>
              </a:rPr>
              <a:t>协议</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Message Access Protocol)</a:t>
            </a:r>
            <a:endParaRPr lang="zh-CN" altLang="en-US" sz="2000" b="1" dirty="0">
              <a:latin typeface="微软雅黑" pitchFamily="34" charset="-122"/>
              <a:ea typeface="微软雅黑" pitchFamily="34" charset="-122"/>
            </a:endParaRPr>
          </a:p>
        </p:txBody>
      </p:sp>
      <p:sp>
        <p:nvSpPr>
          <p:cNvPr id="6"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extLst>
      <p:ext uri="{BB962C8B-B14F-4D97-AF65-F5344CB8AC3E}">
        <p14:creationId xmlns:p14="http://schemas.microsoft.com/office/powerpoint/2010/main" val="14572962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圆角矩形 36"/>
          <p:cNvSpPr/>
          <p:nvPr/>
        </p:nvSpPr>
        <p:spPr>
          <a:xfrm>
            <a:off x="1371509" y="1288278"/>
            <a:ext cx="6194639" cy="2126256"/>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58273"/>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 name="Rectangle 387"/>
          <p:cNvSpPr>
            <a:spLocks noChangeArrowheads="1"/>
          </p:cNvSpPr>
          <p:nvPr/>
        </p:nvSpPr>
        <p:spPr bwMode="auto">
          <a:xfrm>
            <a:off x="1544934" y="1858273"/>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 name="Line 388"/>
          <p:cNvSpPr>
            <a:spLocks noChangeShapeType="1"/>
          </p:cNvSpPr>
          <p:nvPr/>
        </p:nvSpPr>
        <p:spPr bwMode="auto">
          <a:xfrm>
            <a:off x="2021489" y="2201045"/>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 name="Oval 397"/>
          <p:cNvSpPr>
            <a:spLocks noChangeArrowheads="1"/>
          </p:cNvSpPr>
          <p:nvPr/>
        </p:nvSpPr>
        <p:spPr bwMode="auto">
          <a:xfrm>
            <a:off x="1601220" y="1922159"/>
            <a:ext cx="566615"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12" name="Oval 405"/>
          <p:cNvSpPr>
            <a:spLocks noChangeArrowheads="1"/>
          </p:cNvSpPr>
          <p:nvPr/>
        </p:nvSpPr>
        <p:spPr bwMode="auto">
          <a:xfrm>
            <a:off x="2964596" y="1922159"/>
            <a:ext cx="566615" cy="556545"/>
          </a:xfrm>
          <a:prstGeom prst="ellipse">
            <a:avLst/>
          </a:prstGeom>
          <a:solidFill>
            <a:schemeClr val="bg1"/>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13" name="Oval 406"/>
          <p:cNvSpPr>
            <a:spLocks noChangeArrowheads="1"/>
          </p:cNvSpPr>
          <p:nvPr/>
        </p:nvSpPr>
        <p:spPr bwMode="auto">
          <a:xfrm>
            <a:off x="2964596" y="2535218"/>
            <a:ext cx="566615"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nvPr>
        </p:nvGraphicFramePr>
        <p:xfrm>
          <a:off x="762658" y="1898259"/>
          <a:ext cx="546759" cy="666388"/>
        </p:xfrm>
        <a:graphic>
          <a:graphicData uri="http://schemas.openxmlformats.org/presentationml/2006/ole">
            <mc:AlternateContent xmlns:mc="http://schemas.openxmlformats.org/markup-compatibility/2006">
              <mc:Choice xmlns:v="urn:schemas-microsoft-com:vml" Requires="v">
                <p:oleObj spid="_x0000_s21552" name="Visio" r:id="rId4" imgW="3561172" imgH="4347469" progId="">
                  <p:embed/>
                </p:oleObj>
              </mc:Choice>
              <mc:Fallback>
                <p:oleObj name="Visio" r:id="rId4" imgW="3561172" imgH="4347469" progId="">
                  <p:embed/>
                  <p:pic>
                    <p:nvPicPr>
                      <p:cNvPr id="15" name="对象 14"/>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762658" y="189825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723401" y="1866874"/>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779688" y="1922159"/>
            <a:ext cx="566614"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5362526" y="1866874"/>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5418813" y="2535218"/>
            <a:ext cx="566614" cy="55654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5418813" y="1922159"/>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grpSp>
        <p:nvGrpSpPr>
          <p:cNvPr id="4" name="组合 3"/>
          <p:cNvGrpSpPr/>
          <p:nvPr/>
        </p:nvGrpSpPr>
        <p:grpSpPr>
          <a:xfrm>
            <a:off x="2239475" y="1514102"/>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SMTP</a:t>
              </a:r>
              <a:endParaRPr kumimoji="1" lang="en-US" altLang="zh-CN" sz="1100" b="1" dirty="0">
                <a:solidFill>
                  <a:srgbClr val="C00000"/>
                </a:solidFill>
                <a:latin typeface="微软雅黑" pitchFamily="34" charset="-122"/>
                <a:ea typeface="微软雅黑" pitchFamily="34" charset="-122"/>
              </a:endParaRPr>
            </a:p>
          </p:txBody>
        </p:sp>
      </p:grpSp>
      <p:sp>
        <p:nvSpPr>
          <p:cNvPr id="25" name="Text Box 396"/>
          <p:cNvSpPr txBox="1">
            <a:spLocks noChangeArrowheads="1"/>
          </p:cNvSpPr>
          <p:nvPr/>
        </p:nvSpPr>
        <p:spPr bwMode="auto">
          <a:xfrm>
            <a:off x="2805314"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6" name="Text Box 399"/>
          <p:cNvSpPr txBox="1">
            <a:spLocks noChangeArrowheads="1"/>
          </p:cNvSpPr>
          <p:nvPr/>
        </p:nvSpPr>
        <p:spPr bwMode="auto">
          <a:xfrm>
            <a:off x="1509292"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a:t>
            </a:r>
            <a:r>
              <a:rPr kumimoji="1" lang="zh-CN" altLang="en-US" sz="1100" b="1" dirty="0" smtClean="0">
                <a:latin typeface="微软雅黑" pitchFamily="34" charset="-122"/>
                <a:ea typeface="微软雅黑" pitchFamily="34" charset="-122"/>
              </a:rPr>
              <a:t>件方</a:t>
            </a:r>
            <a:endParaRPr kumimoji="1" lang="zh-CN" altLang="en-US"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grpSp>
        <p:nvGrpSpPr>
          <p:cNvPr id="23" name="组合 22"/>
          <p:cNvGrpSpPr/>
          <p:nvPr/>
        </p:nvGrpSpPr>
        <p:grpSpPr>
          <a:xfrm>
            <a:off x="6055753" y="1532702"/>
            <a:ext cx="572593" cy="1149867"/>
            <a:chOff x="6055753" y="1489328"/>
            <a:chExt cx="572593" cy="1149867"/>
          </a:xfrm>
        </p:grpSpPr>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grpSp>
      <p:sp>
        <p:nvSpPr>
          <p:cNvPr id="28" name="Text Box 400"/>
          <p:cNvSpPr txBox="1">
            <a:spLocks noChangeArrowheads="1"/>
          </p:cNvSpPr>
          <p:nvPr/>
        </p:nvSpPr>
        <p:spPr bwMode="auto">
          <a:xfrm>
            <a:off x="5248753"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695568"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收件人</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用户</a:t>
            </a:r>
            <a:r>
              <a:rPr kumimoji="1" lang="zh-CN" altLang="en-US" sz="1100" b="1" dirty="0">
                <a:solidFill>
                  <a:srgbClr val="C00000"/>
                </a:solidFill>
                <a:latin typeface="微软雅黑" pitchFamily="34" charset="-122"/>
                <a:ea typeface="微软雅黑" pitchFamily="34" charset="-122"/>
              </a:rPr>
              <a:t>代理</a:t>
            </a:r>
          </a:p>
        </p:txBody>
      </p:sp>
      <p:sp>
        <p:nvSpPr>
          <p:cNvPr id="30" name="Line 408"/>
          <p:cNvSpPr>
            <a:spLocks noChangeShapeType="1"/>
          </p:cNvSpPr>
          <p:nvPr/>
        </p:nvSpPr>
        <p:spPr bwMode="auto">
          <a:xfrm flipV="1">
            <a:off x="5985427" y="2201045"/>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1" name="对象 30"/>
          <p:cNvGraphicFramePr>
            <a:graphicFrameLocks noChangeAspect="1"/>
          </p:cNvGraphicFramePr>
          <p:nvPr>
            <p:extLst/>
          </p:nvPr>
        </p:nvGraphicFramePr>
        <p:xfrm>
          <a:off x="7632442" y="1898259"/>
          <a:ext cx="551626" cy="666388"/>
        </p:xfrm>
        <a:graphic>
          <a:graphicData uri="http://schemas.openxmlformats.org/presentationml/2006/ole">
            <mc:AlternateContent xmlns:mc="http://schemas.openxmlformats.org/markup-compatibility/2006">
              <mc:Choice xmlns:v="urn:schemas-microsoft-com:vml" Requires="v">
                <p:oleObj spid="_x0000_s21553" name="Visio" r:id="rId6" imgW="3561172" imgH="4347469" progId="">
                  <p:embed/>
                </p:oleObj>
              </mc:Choice>
              <mc:Fallback>
                <p:oleObj name="Visio" r:id="rId6" imgW="3561172" imgH="4347469" progId="">
                  <p:embed/>
                  <p:pic>
                    <p:nvPicPr>
                      <p:cNvPr id="31" name="对象 30"/>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632442" y="189825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399"/>
          <p:cNvSpPr txBox="1">
            <a:spLocks noChangeArrowheads="1"/>
          </p:cNvSpPr>
          <p:nvPr/>
        </p:nvSpPr>
        <p:spPr bwMode="auto">
          <a:xfrm>
            <a:off x="7702778"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latin typeface="微软雅黑" pitchFamily="34" charset="-122"/>
                <a:ea typeface="微软雅黑" pitchFamily="34" charset="-122"/>
              </a:rPr>
              <a:t>收件人</a:t>
            </a:r>
          </a:p>
        </p:txBody>
      </p:sp>
      <p:grpSp>
        <p:nvGrpSpPr>
          <p:cNvPr id="33" name="组合 32"/>
          <p:cNvGrpSpPr/>
          <p:nvPr/>
        </p:nvGrpSpPr>
        <p:grpSpPr>
          <a:xfrm>
            <a:off x="3515714" y="2533989"/>
            <a:ext cx="1928643" cy="728201"/>
            <a:chOff x="3473673" y="2734550"/>
            <a:chExt cx="3063219" cy="728201"/>
          </a:xfrm>
        </p:grpSpPr>
        <p:sp>
          <p:nvSpPr>
            <p:cNvPr id="34"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5"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36"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endParaRPr kumimoji="1" lang="en-US" altLang="zh-CN" sz="1100" b="1" dirty="0" smtClean="0">
                <a:solidFill>
                  <a:srgbClr val="0000FF"/>
                </a:solidFill>
                <a:latin typeface="微软雅黑" pitchFamily="34" charset="-122"/>
                <a:ea typeface="微软雅黑" pitchFamily="34" charset="-122"/>
              </a:endParaRPr>
            </a:p>
            <a:p>
              <a:pPr algn="ctr" eaLnBrk="1" hangingPunct="1"/>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grpSp>
      <p:sp>
        <p:nvSpPr>
          <p:cNvPr id="38" name="矩形 37"/>
          <p:cNvSpPr/>
          <p:nvPr/>
        </p:nvSpPr>
        <p:spPr>
          <a:xfrm>
            <a:off x="1470662" y="3539946"/>
            <a:ext cx="6331270" cy="747128"/>
          </a:xfrm>
          <a:prstGeom prst="rect">
            <a:avLst/>
          </a:prstGeom>
        </p:spPr>
        <p:txBody>
          <a:bodyPr wrap="square" anchor="ctr">
            <a:spAutoFit/>
          </a:bodyPr>
          <a:lstStyle/>
          <a:p>
            <a:pPr marL="285750" indent="-285750">
              <a:lnSpc>
                <a:spcPts val="2700"/>
              </a:lnSpc>
              <a:buClr>
                <a:srgbClr val="0066FF"/>
              </a:buClr>
              <a:buFont typeface="Wingdings" pitchFamily="2" charset="2"/>
              <a:buChar char="l"/>
            </a:pPr>
            <a:r>
              <a:rPr lang="en-US" altLang="zh-CN" sz="1600" b="1" dirty="0" smtClean="0">
                <a:latin typeface="微软雅黑" pitchFamily="34" charset="-122"/>
                <a:ea typeface="微软雅黑" pitchFamily="34" charset="-122"/>
              </a:rPr>
              <a:t>POP3 </a:t>
            </a:r>
            <a:r>
              <a:rPr lang="zh-CN" altLang="en-US" sz="1600" b="1" dirty="0" smtClean="0">
                <a:latin typeface="微软雅黑" pitchFamily="34" charset="-122"/>
                <a:ea typeface="微软雅黑" pitchFamily="34" charset="-122"/>
              </a:rPr>
              <a:t>使用</a:t>
            </a:r>
            <a:r>
              <a:rPr lang="zh-CN" altLang="en-US" sz="1600" b="1" dirty="0" smtClean="0">
                <a:solidFill>
                  <a:srgbClr val="C00000"/>
                </a:solidFill>
                <a:latin typeface="微软雅黑" pitchFamily="34" charset="-122"/>
                <a:ea typeface="微软雅黑" pitchFamily="34" charset="-122"/>
              </a:rPr>
              <a:t>客户服务器</a:t>
            </a:r>
            <a:r>
              <a:rPr lang="zh-CN" altLang="en-US" sz="1600" b="1" dirty="0" smtClean="0">
                <a:latin typeface="微软雅黑" pitchFamily="34" charset="-122"/>
                <a:ea typeface="微软雅黑" pitchFamily="34" charset="-122"/>
              </a:rPr>
              <a:t>方式。</a:t>
            </a:r>
            <a:endParaRPr lang="en-US" altLang="zh-CN" sz="1600" b="1" dirty="0" smtClean="0">
              <a:latin typeface="微软雅黑" pitchFamily="34" charset="-122"/>
              <a:ea typeface="微软雅黑" pitchFamily="34" charset="-122"/>
            </a:endParaRPr>
          </a:p>
          <a:p>
            <a:pPr marL="285750" indent="-285750">
              <a:lnSpc>
                <a:spcPts val="2700"/>
              </a:lnSpc>
              <a:buClr>
                <a:srgbClr val="0066FF"/>
              </a:buClr>
              <a:buFont typeface="Wingdings" pitchFamily="2" charset="2"/>
              <a:buChar char="l"/>
            </a:pPr>
            <a:r>
              <a:rPr lang="en-US" altLang="zh-CN" sz="1600" b="1" dirty="0" smtClean="0">
                <a:latin typeface="微软雅黑" pitchFamily="34" charset="-122"/>
                <a:ea typeface="微软雅黑" pitchFamily="34" charset="-122"/>
              </a:rPr>
              <a:t>POP3 </a:t>
            </a:r>
            <a:r>
              <a:rPr lang="zh-CN" altLang="en-US" sz="1600" b="1" dirty="0" smtClean="0">
                <a:solidFill>
                  <a:srgbClr val="C00000"/>
                </a:solidFill>
                <a:latin typeface="微软雅黑" pitchFamily="34" charset="-122"/>
                <a:ea typeface="微软雅黑" pitchFamily="34" charset="-122"/>
              </a:rPr>
              <a:t>基于 </a:t>
            </a:r>
            <a:r>
              <a:rPr lang="en-US" altLang="zh-CN" sz="1600" b="1" dirty="0" smtClean="0">
                <a:solidFill>
                  <a:srgbClr val="C00000"/>
                </a:solidFill>
                <a:latin typeface="微软雅黑" pitchFamily="34" charset="-122"/>
                <a:ea typeface="微软雅黑" pitchFamily="34" charset="-122"/>
              </a:rPr>
              <a:t>TCP </a:t>
            </a:r>
            <a:r>
              <a:rPr lang="zh-CN" altLang="en-US" sz="1600" b="1" dirty="0" smtClean="0">
                <a:latin typeface="微软雅黑" pitchFamily="34" charset="-122"/>
                <a:ea typeface="微软雅黑" pitchFamily="34" charset="-122"/>
              </a:rPr>
              <a:t>实现客户与服务器的</a:t>
            </a:r>
            <a:r>
              <a:rPr lang="zh-CN" altLang="en-US" sz="1600" b="1" dirty="0">
                <a:latin typeface="微软雅黑" pitchFamily="34" charset="-122"/>
                <a:ea typeface="微软雅黑" pitchFamily="34" charset="-122"/>
              </a:rPr>
              <a:t>通信，服务器端口</a:t>
            </a:r>
            <a:r>
              <a:rPr lang="en-US" altLang="zh-CN" sz="1600" b="1" dirty="0">
                <a:latin typeface="微软雅黑" pitchFamily="34" charset="-122"/>
                <a:ea typeface="微软雅黑" pitchFamily="34" charset="-122"/>
              </a:rPr>
              <a:t>110</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p:txBody>
      </p:sp>
      <p:sp>
        <p:nvSpPr>
          <p:cNvPr id="41"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2"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协议</a:t>
            </a:r>
          </a:p>
        </p:txBody>
      </p:sp>
      <p:sp>
        <p:nvSpPr>
          <p:cNvPr id="39"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extLst>
      <p:ext uri="{BB962C8B-B14F-4D97-AF65-F5344CB8AC3E}">
        <p14:creationId xmlns:p14="http://schemas.microsoft.com/office/powerpoint/2010/main" val="33014509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5746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616062"/>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147709" y="1671347"/>
            <a:ext cx="566614"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2377527" y="1616062"/>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2433814" y="2284406"/>
            <a:ext cx="566614" cy="55654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2433814" y="1671347"/>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sp>
        <p:nvSpPr>
          <p:cNvPr id="17" name="Text Box 393"/>
          <p:cNvSpPr txBox="1">
            <a:spLocks noChangeArrowheads="1"/>
          </p:cNvSpPr>
          <p:nvPr/>
        </p:nvSpPr>
        <p:spPr bwMode="auto">
          <a:xfrm>
            <a:off x="3455860" y="1331871"/>
            <a:ext cx="2339102"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lnSpc>
                <a:spcPts val="1500"/>
              </a:lnSpc>
            </a:pPr>
            <a:r>
              <a:rPr kumimoji="1" lang="zh-CN" altLang="en-US" sz="1400" b="1" dirty="0">
                <a:solidFill>
                  <a:srgbClr val="0000FF"/>
                </a:solidFill>
                <a:latin typeface="微软雅黑" pitchFamily="34" charset="-122"/>
                <a:ea typeface="微软雅黑" pitchFamily="34" charset="-122"/>
              </a:rPr>
              <a:t>你是谁？（用户名和口令）</a:t>
            </a:r>
          </a:p>
        </p:txBody>
      </p:sp>
      <p:sp>
        <p:nvSpPr>
          <p:cNvPr id="27" name="Text Box 390"/>
          <p:cNvSpPr txBox="1">
            <a:spLocks noChangeArrowheads="1"/>
          </p:cNvSpPr>
          <p:nvPr/>
        </p:nvSpPr>
        <p:spPr bwMode="auto">
          <a:xfrm>
            <a:off x="4419449" y="1708635"/>
            <a:ext cx="679994"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400" b="1" dirty="0">
                <a:solidFill>
                  <a:srgbClr val="C00000"/>
                </a:solidFill>
                <a:latin typeface="微软雅黑" pitchFamily="34" charset="-122"/>
                <a:ea typeface="微软雅黑" pitchFamily="34" charset="-122"/>
              </a:rPr>
              <a:t>POP3</a:t>
            </a:r>
          </a:p>
        </p:txBody>
      </p:sp>
      <p:sp>
        <p:nvSpPr>
          <p:cNvPr id="28" name="Text Box 400"/>
          <p:cNvSpPr txBox="1">
            <a:spLocks noChangeArrowheads="1"/>
          </p:cNvSpPr>
          <p:nvPr/>
        </p:nvSpPr>
        <p:spPr bwMode="auto">
          <a:xfrm>
            <a:off x="2263754" y="1135689"/>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063584" y="1135689"/>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接收方</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用户</a:t>
            </a:r>
            <a:r>
              <a:rPr kumimoji="1" lang="zh-CN" altLang="en-US" sz="1100" b="1" dirty="0">
                <a:solidFill>
                  <a:srgbClr val="C00000"/>
                </a:solidFill>
                <a:latin typeface="微软雅黑" pitchFamily="34" charset="-122"/>
                <a:ea typeface="微软雅黑" pitchFamily="34" charset="-122"/>
              </a:rPr>
              <a:t>代理</a:t>
            </a:r>
          </a:p>
        </p:txBody>
      </p:sp>
      <p:sp>
        <p:nvSpPr>
          <p:cNvPr id="30" name="Line 408"/>
          <p:cNvSpPr>
            <a:spLocks noChangeShapeType="1"/>
          </p:cNvSpPr>
          <p:nvPr/>
        </p:nvSpPr>
        <p:spPr bwMode="auto">
          <a:xfrm flipV="1">
            <a:off x="3000429" y="1950233"/>
            <a:ext cx="314728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8" name="矩形 37"/>
          <p:cNvSpPr/>
          <p:nvPr/>
        </p:nvSpPr>
        <p:spPr>
          <a:xfrm>
            <a:off x="1536072" y="2955468"/>
            <a:ext cx="7069667" cy="1695336"/>
          </a:xfrm>
          <a:prstGeom prst="rect">
            <a:avLst/>
          </a:prstGeom>
        </p:spPr>
        <p:txBody>
          <a:bodyPr wrap="square" anchor="ctr">
            <a:spAutoFit/>
          </a:bodyPr>
          <a:lstStyle/>
          <a:p>
            <a:pPr marL="285750" indent="-285750">
              <a:lnSpc>
                <a:spcPts val="25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smtClean="0">
                <a:latin typeface="微软雅黑" pitchFamily="34" charset="-122"/>
                <a:ea typeface="微软雅黑" pitchFamily="34" charset="-122"/>
              </a:rPr>
              <a:t>支持</a:t>
            </a:r>
            <a:r>
              <a:rPr lang="zh-CN" altLang="en-US" sz="1600" b="1" dirty="0">
                <a:latin typeface="微软雅黑" pitchFamily="34" charset="-122"/>
                <a:ea typeface="微软雅黑" pitchFamily="34" charset="-122"/>
              </a:rPr>
              <a:t>用户</a:t>
            </a:r>
            <a:r>
              <a:rPr lang="zh-CN" altLang="en-US" sz="1600" b="1" dirty="0">
                <a:solidFill>
                  <a:srgbClr val="C00000"/>
                </a:solidFill>
                <a:latin typeface="微软雅黑" pitchFamily="34" charset="-122"/>
                <a:ea typeface="微软雅黑" pitchFamily="34" charset="-122"/>
              </a:rPr>
              <a:t>鉴别</a:t>
            </a:r>
            <a:r>
              <a:rPr lang="zh-CN" altLang="en-US" sz="1600" b="1" dirty="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285750" indent="-285750">
              <a:lnSpc>
                <a:spcPts val="25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smtClean="0">
                <a:latin typeface="微软雅黑" pitchFamily="34" charset="-122"/>
                <a:ea typeface="微软雅黑" pitchFamily="34" charset="-122"/>
              </a:rPr>
              <a:t>目前支持两种邮件读取模式</a:t>
            </a:r>
            <a:endParaRPr lang="en-US" altLang="zh-CN" sz="1600" b="1" dirty="0" smtClean="0">
              <a:latin typeface="微软雅黑" pitchFamily="34" charset="-122"/>
              <a:ea typeface="微软雅黑" pitchFamily="34" charset="-122"/>
            </a:endParaRPr>
          </a:p>
          <a:p>
            <a:pPr marL="742950" lvl="1" indent="-285750">
              <a:lnSpc>
                <a:spcPts val="2500"/>
              </a:lnSpc>
              <a:buClr>
                <a:srgbClr val="0066FF"/>
              </a:buClr>
              <a:buFont typeface="Wingdings" pitchFamily="2" charset="2"/>
              <a:buChar char="l"/>
            </a:pPr>
            <a:r>
              <a:rPr lang="zh-CN" altLang="en-US" sz="1600" b="1" dirty="0">
                <a:latin typeface="微软雅黑" pitchFamily="34" charset="-122"/>
                <a:ea typeface="微软雅黑" pitchFamily="34" charset="-122"/>
              </a:rPr>
              <a:t>“下载并删除”</a:t>
            </a:r>
            <a:r>
              <a:rPr lang="zh-CN" altLang="en-US" sz="1600" b="1" dirty="0" smtClean="0">
                <a:latin typeface="微软雅黑" pitchFamily="34" charset="-122"/>
                <a:ea typeface="微软雅黑" pitchFamily="34" charset="-122"/>
              </a:rPr>
              <a:t>模式：用户</a:t>
            </a:r>
            <a:r>
              <a:rPr lang="zh-CN" altLang="en-US" sz="1600" b="1" dirty="0">
                <a:latin typeface="微软雅黑" pitchFamily="34" charset="-122"/>
                <a:ea typeface="微软雅黑" pitchFamily="34" charset="-122"/>
              </a:rPr>
              <a:t>不能从其他用户代理重读邮件</a:t>
            </a:r>
          </a:p>
          <a:p>
            <a:pPr marL="742950" lvl="1" indent="-285750">
              <a:lnSpc>
                <a:spcPts val="2500"/>
              </a:lnSpc>
              <a:buClr>
                <a:srgbClr val="0066FF"/>
              </a:buClr>
              <a:buFont typeface="Wingdings" pitchFamily="2" charset="2"/>
              <a:buChar char="l"/>
            </a:pPr>
            <a:r>
              <a:rPr lang="zh-CN" altLang="en-US" sz="1600" b="1" dirty="0">
                <a:latin typeface="微软雅黑" pitchFamily="34" charset="-122"/>
                <a:ea typeface="微软雅黑" pitchFamily="34" charset="-122"/>
              </a:rPr>
              <a:t>“下载并保存”</a:t>
            </a:r>
            <a:r>
              <a:rPr lang="zh-CN" altLang="en-US" sz="1600" b="1" dirty="0" smtClean="0">
                <a:latin typeface="微软雅黑" pitchFamily="34" charset="-122"/>
                <a:ea typeface="微软雅黑" pitchFamily="34" charset="-122"/>
              </a:rPr>
              <a:t>模式：用户</a:t>
            </a:r>
            <a:r>
              <a:rPr lang="zh-CN" altLang="en-US" sz="1600" b="1" dirty="0">
                <a:latin typeface="微软雅黑" pitchFamily="34" charset="-122"/>
                <a:ea typeface="微软雅黑" pitchFamily="34" charset="-122"/>
              </a:rPr>
              <a:t>可以在不同用户代理重复读取</a:t>
            </a:r>
            <a:r>
              <a:rPr lang="zh-CN" altLang="en-US" sz="1600" b="1" dirty="0" smtClean="0">
                <a:latin typeface="微软雅黑" pitchFamily="34" charset="-122"/>
                <a:ea typeface="微软雅黑" pitchFamily="34" charset="-122"/>
              </a:rPr>
              <a:t>邮件</a:t>
            </a:r>
            <a:endParaRPr lang="en-US" altLang="zh-CN" sz="1600" b="1" dirty="0" smtClean="0">
              <a:latin typeface="微软雅黑" pitchFamily="34" charset="-122"/>
              <a:ea typeface="微软雅黑" pitchFamily="34" charset="-122"/>
            </a:endParaRPr>
          </a:p>
          <a:p>
            <a:pPr marL="285750" indent="-285750">
              <a:lnSpc>
                <a:spcPts val="2500"/>
              </a:lnSpc>
              <a:buClr>
                <a:srgbClr val="0066FF"/>
              </a:buClr>
              <a:buFont typeface="Wingdings" pitchFamily="2" charset="2"/>
              <a:buChar char="l"/>
            </a:pPr>
            <a:r>
              <a:rPr lang="zh-CN" altLang="en-US" sz="1600" b="1" dirty="0">
                <a:latin typeface="微软雅黑" pitchFamily="34" charset="-122"/>
                <a:ea typeface="微软雅黑" pitchFamily="34" charset="-122"/>
              </a:rPr>
              <a:t>但不论使用哪种方式都必须将邮件下载到本地进行管理和处理</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0"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协议</a:t>
            </a: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nvPr>
        </p:nvGraphicFramePr>
        <p:xfrm>
          <a:off x="4006897" y="1636602"/>
          <a:ext cx="325507" cy="529316"/>
        </p:xfrm>
        <a:graphic>
          <a:graphicData uri="http://schemas.openxmlformats.org/presentationml/2006/ole">
            <mc:AlternateContent xmlns:mc="http://schemas.openxmlformats.org/markup-compatibility/2006">
              <mc:Choice xmlns:v="urn:schemas-microsoft-com:vml" Requires="v">
                <p:oleObj spid="_x0000_s22553" name="Visio" r:id="rId5" imgW="795436" imgH="1560250" progId="">
                  <p:embed/>
                </p:oleObj>
              </mc:Choice>
              <mc:Fallback>
                <p:oleObj name="Visio" r:id="rId5" imgW="795436" imgH="1560250" progId="">
                  <p:embed/>
                  <p:pic>
                    <p:nvPicPr>
                      <p:cNvPr id="3" name="对象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6897" y="1636602"/>
                        <a:ext cx="325507" cy="5293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Text Box 395"/>
          <p:cNvSpPr txBox="1">
            <a:spLocks noChangeArrowheads="1"/>
          </p:cNvSpPr>
          <p:nvPr/>
        </p:nvSpPr>
        <p:spPr bwMode="auto">
          <a:xfrm>
            <a:off x="4303388" y="1931842"/>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0000FF"/>
                </a:solidFill>
                <a:latin typeface="微软雅黑" pitchFamily="34" charset="-122"/>
                <a:ea typeface="微软雅黑" pitchFamily="34" charset="-122"/>
              </a:rPr>
              <a:t>TCP </a:t>
            </a:r>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sp>
        <p:nvSpPr>
          <p:cNvPr id="23"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custDataLst>
      <p:tags r:id="rId2"/>
    </p:custDataLst>
    <p:extLst>
      <p:ext uri="{BB962C8B-B14F-4D97-AF65-F5344CB8AC3E}">
        <p14:creationId xmlns:p14="http://schemas.microsoft.com/office/powerpoint/2010/main" val="12232358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
                                            <p:txEl>
                                              <p:pRg st="1" end="1"/>
                                            </p:txEl>
                                          </p:spTgt>
                                        </p:tgtEl>
                                        <p:attrNameLst>
                                          <p:attrName>style.visibility</p:attrName>
                                        </p:attrNameLst>
                                      </p:cBhvr>
                                      <p:to>
                                        <p:strVal val="visible"/>
                                      </p:to>
                                    </p:set>
                                    <p:animEffect transition="in" filter="fade">
                                      <p:cBhvr>
                                        <p:cTn id="7" dur="500"/>
                                        <p:tgtEl>
                                          <p:spTgt spid="38">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8">
                                            <p:txEl>
                                              <p:pRg st="2" end="2"/>
                                            </p:txEl>
                                          </p:spTgt>
                                        </p:tgtEl>
                                        <p:attrNameLst>
                                          <p:attrName>style.visibility</p:attrName>
                                        </p:attrNameLst>
                                      </p:cBhvr>
                                      <p:to>
                                        <p:strVal val="visible"/>
                                      </p:to>
                                    </p:set>
                                    <p:animEffect transition="in" filter="fade">
                                      <p:cBhvr>
                                        <p:cTn id="10" dur="500"/>
                                        <p:tgtEl>
                                          <p:spTgt spid="38">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8">
                                            <p:txEl>
                                              <p:pRg st="3" end="3"/>
                                            </p:txEl>
                                          </p:spTgt>
                                        </p:tgtEl>
                                        <p:attrNameLst>
                                          <p:attrName>style.visibility</p:attrName>
                                        </p:attrNameLst>
                                      </p:cBhvr>
                                      <p:to>
                                        <p:strVal val="visible"/>
                                      </p:to>
                                    </p:set>
                                    <p:animEffect transition="in" filter="fade">
                                      <p:cBhvr>
                                        <p:cTn id="13" dur="500"/>
                                        <p:tgtEl>
                                          <p:spTgt spid="38">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8">
                                            <p:txEl>
                                              <p:pRg st="4" end="4"/>
                                            </p:txEl>
                                          </p:spTgt>
                                        </p:tgtEl>
                                        <p:attrNameLst>
                                          <p:attrName>style.visibility</p:attrName>
                                        </p:attrNameLst>
                                      </p:cBhvr>
                                      <p:to>
                                        <p:strVal val="visible"/>
                                      </p:to>
                                    </p:set>
                                    <p:animEffect transition="in" filter="fade">
                                      <p:cBhvr>
                                        <p:cTn id="18" dur="500"/>
                                        <p:tgtEl>
                                          <p:spTgt spid="3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5830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618677"/>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147709" y="1673962"/>
            <a:ext cx="566614" cy="556545"/>
          </a:xfrm>
          <a:prstGeom prst="ellipse">
            <a:avLst/>
          </a:prstGeom>
          <a:solidFill>
            <a:srgbClr val="FFFF00"/>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IMAP</a:t>
            </a:r>
            <a:endParaRPr kumimoji="1" lang="en-US" altLang="zh-CN" sz="1100" b="1" dirty="0">
              <a:latin typeface="微软雅黑" pitchFamily="34" charset="-122"/>
              <a:ea typeface="微软雅黑" pitchFamily="34" charset="-122"/>
            </a:endParaRPr>
          </a:p>
          <a:p>
            <a:pPr algn="ctr" eaLnBrk="1" hangingPunct="1"/>
            <a:r>
              <a:rPr kumimoji="1" lang="zh-CN" altLang="en-US" sz="1100" b="1" dirty="0">
                <a:latin typeface="微软雅黑" pitchFamily="34" charset="-122"/>
                <a:ea typeface="微软雅黑" pitchFamily="34" charset="-122"/>
              </a:rPr>
              <a:t>客户</a:t>
            </a:r>
          </a:p>
        </p:txBody>
      </p:sp>
      <p:sp>
        <p:nvSpPr>
          <p:cNvPr id="20" name="Rectangle 401"/>
          <p:cNvSpPr>
            <a:spLocks noChangeArrowheads="1"/>
          </p:cNvSpPr>
          <p:nvPr/>
        </p:nvSpPr>
        <p:spPr bwMode="auto">
          <a:xfrm>
            <a:off x="2377527" y="1618677"/>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2433814" y="2287021"/>
            <a:ext cx="566614" cy="556543"/>
          </a:xfrm>
          <a:prstGeom prst="ellipse">
            <a:avLst/>
          </a:prstGeom>
          <a:solidFill>
            <a:schemeClr val="bg1"/>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2433814" y="1673962"/>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IMAP</a:t>
            </a:r>
            <a:endParaRPr kumimoji="1" lang="en-US" altLang="zh-CN" sz="1100" b="1" dirty="0">
              <a:latin typeface="微软雅黑" pitchFamily="34" charset="-122"/>
              <a:ea typeface="微软雅黑" pitchFamily="34" charset="-122"/>
            </a:endParaRPr>
          </a:p>
          <a:p>
            <a:pPr algn="ctr" eaLnBrk="1" hangingPunct="1"/>
            <a:r>
              <a:rPr kumimoji="1" lang="zh-CN" altLang="en-US" sz="1100" b="1" dirty="0">
                <a:latin typeface="微软雅黑" pitchFamily="34" charset="-122"/>
                <a:ea typeface="微软雅黑" pitchFamily="34" charset="-122"/>
              </a:rPr>
              <a:t>服务器</a:t>
            </a:r>
          </a:p>
        </p:txBody>
      </p:sp>
      <p:sp>
        <p:nvSpPr>
          <p:cNvPr id="27" name="Text Box 390"/>
          <p:cNvSpPr txBox="1">
            <a:spLocks noChangeArrowheads="1"/>
          </p:cNvSpPr>
          <p:nvPr/>
        </p:nvSpPr>
        <p:spPr bwMode="auto">
          <a:xfrm>
            <a:off x="4276941" y="1689324"/>
            <a:ext cx="683200"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400" b="1" dirty="0" smtClean="0">
                <a:solidFill>
                  <a:srgbClr val="C00000"/>
                </a:solidFill>
                <a:latin typeface="微软雅黑" pitchFamily="34" charset="-122"/>
                <a:ea typeface="微软雅黑" pitchFamily="34" charset="-122"/>
              </a:rPr>
              <a:t>IMAP</a:t>
            </a:r>
            <a:endParaRPr kumimoji="1" lang="en-US" altLang="zh-CN" sz="1400" b="1" dirty="0">
              <a:solidFill>
                <a:srgbClr val="C00000"/>
              </a:solidFill>
              <a:latin typeface="微软雅黑" pitchFamily="34" charset="-122"/>
              <a:ea typeface="微软雅黑" pitchFamily="34" charset="-122"/>
            </a:endParaRPr>
          </a:p>
        </p:txBody>
      </p:sp>
      <p:sp>
        <p:nvSpPr>
          <p:cNvPr id="28" name="Text Box 400"/>
          <p:cNvSpPr txBox="1">
            <a:spLocks noChangeArrowheads="1"/>
          </p:cNvSpPr>
          <p:nvPr/>
        </p:nvSpPr>
        <p:spPr bwMode="auto">
          <a:xfrm>
            <a:off x="2263754" y="1138304"/>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063584" y="1138304"/>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接收方</a:t>
            </a:r>
            <a:endParaRPr kumimoji="1" lang="en-US" altLang="zh-CN" sz="1100" b="1" dirty="0" smtClean="0">
              <a:latin typeface="微软雅黑" pitchFamily="34" charset="-122"/>
              <a:ea typeface="微软雅黑" pitchFamily="34" charset="-122"/>
            </a:endParaRP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用户</a:t>
            </a:r>
            <a:r>
              <a:rPr kumimoji="1" lang="zh-CN" altLang="en-US" sz="1100" b="1" dirty="0">
                <a:solidFill>
                  <a:srgbClr val="C00000"/>
                </a:solidFill>
                <a:latin typeface="微软雅黑" pitchFamily="34" charset="-122"/>
                <a:ea typeface="微软雅黑" pitchFamily="34" charset="-122"/>
              </a:rPr>
              <a:t>代理</a:t>
            </a:r>
          </a:p>
        </p:txBody>
      </p:sp>
      <p:sp>
        <p:nvSpPr>
          <p:cNvPr id="30" name="Line 408"/>
          <p:cNvSpPr>
            <a:spLocks noChangeShapeType="1"/>
          </p:cNvSpPr>
          <p:nvPr/>
        </p:nvSpPr>
        <p:spPr bwMode="auto">
          <a:xfrm flipV="1">
            <a:off x="3000429" y="1952848"/>
            <a:ext cx="314728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8" name="矩形 37"/>
          <p:cNvSpPr/>
          <p:nvPr/>
        </p:nvSpPr>
        <p:spPr>
          <a:xfrm>
            <a:off x="1744132" y="3086074"/>
            <a:ext cx="5562601" cy="1477328"/>
          </a:xfrm>
          <a:prstGeom prst="rect">
            <a:avLst/>
          </a:prstGeom>
        </p:spPr>
        <p:txBody>
          <a:bodyPr wrap="square" anchor="ctr">
            <a:spAutoFit/>
          </a:bodyPr>
          <a:lstStyle/>
          <a:p>
            <a:pPr marL="285750" indent="-285750">
              <a:lnSpc>
                <a:spcPts val="2700"/>
              </a:lnSpc>
              <a:buClr>
                <a:srgbClr val="0066FF"/>
              </a:buClr>
              <a:buFont typeface="Wingdings" pitchFamily="2" charset="2"/>
              <a:buChar char="l"/>
            </a:pPr>
            <a:r>
              <a:rPr lang="en-US" altLang="zh-CN" sz="1600" b="1" dirty="0" smtClean="0">
                <a:latin typeface="微软雅黑" pitchFamily="34" charset="-122"/>
                <a:ea typeface="微软雅黑" pitchFamily="34" charset="-122"/>
              </a:rPr>
              <a:t>IMAP </a:t>
            </a:r>
            <a:r>
              <a:rPr lang="zh-CN" altLang="en-US" sz="1600" b="1" dirty="0" smtClean="0">
                <a:latin typeface="微软雅黑" pitchFamily="34" charset="-122"/>
                <a:ea typeface="微软雅黑" pitchFamily="34" charset="-122"/>
              </a:rPr>
              <a:t>同样使用</a:t>
            </a:r>
            <a:r>
              <a:rPr lang="zh-CN" altLang="en-US" sz="1600" b="1" dirty="0" smtClean="0">
                <a:solidFill>
                  <a:srgbClr val="C00000"/>
                </a:solidFill>
                <a:latin typeface="微软雅黑" pitchFamily="34" charset="-122"/>
                <a:ea typeface="微软雅黑" pitchFamily="34" charset="-122"/>
              </a:rPr>
              <a:t>客户</a:t>
            </a:r>
            <a:r>
              <a:rPr lang="zh-CN" altLang="en-US" sz="1600" b="1" dirty="0">
                <a:solidFill>
                  <a:srgbClr val="C00000"/>
                </a:solidFill>
                <a:latin typeface="微软雅黑" pitchFamily="34" charset="-122"/>
                <a:ea typeface="微软雅黑" pitchFamily="34" charset="-122"/>
              </a:rPr>
              <a:t>服务器</a:t>
            </a:r>
            <a:r>
              <a:rPr lang="zh-CN" altLang="en-US" sz="1600" b="1" dirty="0" smtClean="0">
                <a:latin typeface="微软雅黑" pitchFamily="34" charset="-122"/>
                <a:ea typeface="微软雅黑" pitchFamily="34" charset="-122"/>
              </a:rPr>
              <a:t>方式，并</a:t>
            </a:r>
            <a:r>
              <a:rPr lang="zh-CN" altLang="en-US" sz="1600" b="1" dirty="0" smtClean="0">
                <a:solidFill>
                  <a:srgbClr val="C00000"/>
                </a:solidFill>
                <a:latin typeface="微软雅黑" pitchFamily="34" charset="-122"/>
                <a:ea typeface="微软雅黑" pitchFamily="34" charset="-122"/>
              </a:rPr>
              <a:t>基于 </a:t>
            </a:r>
            <a:r>
              <a:rPr lang="en-US" altLang="zh-CN" sz="1600" b="1" dirty="0" smtClean="0">
                <a:solidFill>
                  <a:srgbClr val="C00000"/>
                </a:solidFill>
                <a:latin typeface="微软雅黑" pitchFamily="34" charset="-122"/>
                <a:ea typeface="微软雅黑" pitchFamily="34" charset="-122"/>
              </a:rPr>
              <a:t>TCP </a:t>
            </a:r>
            <a:r>
              <a:rPr lang="zh-CN" altLang="en-US" sz="1600" b="1" dirty="0" smtClean="0">
                <a:latin typeface="微软雅黑" pitchFamily="34" charset="-122"/>
                <a:ea typeface="微软雅黑" pitchFamily="34" charset="-122"/>
              </a:rPr>
              <a:t>实现</a:t>
            </a:r>
            <a:r>
              <a:rPr lang="zh-CN" altLang="en-US" sz="1600" b="1" dirty="0">
                <a:latin typeface="微软雅黑" pitchFamily="34" charset="-122"/>
                <a:ea typeface="微软雅黑" pitchFamily="34" charset="-122"/>
              </a:rPr>
              <a:t>客户与服务器的通信</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285750" indent="-285750">
              <a:lnSpc>
                <a:spcPts val="2700"/>
              </a:lnSpc>
              <a:buClr>
                <a:srgbClr val="0066FF"/>
              </a:buClr>
              <a:buFont typeface="Wingdings" pitchFamily="2" charset="2"/>
              <a:buChar char="l"/>
            </a:pPr>
            <a:r>
              <a:rPr lang="en-US" altLang="zh-CN" sz="1600" b="1" dirty="0" smtClean="0">
                <a:latin typeface="微软雅黑" pitchFamily="34" charset="-122"/>
                <a:ea typeface="微软雅黑" pitchFamily="34" charset="-122"/>
              </a:rPr>
              <a:t>IMAP </a:t>
            </a:r>
            <a:r>
              <a:rPr lang="zh-CN" altLang="en-US" sz="1600" b="1" dirty="0" smtClean="0">
                <a:latin typeface="微软雅黑" pitchFamily="34" charset="-122"/>
                <a:ea typeface="微软雅黑" pitchFamily="34" charset="-122"/>
              </a:rPr>
              <a:t>是</a:t>
            </a:r>
            <a:r>
              <a:rPr lang="zh-CN" altLang="en-US" sz="1600" b="1" dirty="0">
                <a:latin typeface="微软雅黑" pitchFamily="34" charset="-122"/>
                <a:ea typeface="微软雅黑" pitchFamily="34" charset="-122"/>
              </a:rPr>
              <a:t>一个</a:t>
            </a:r>
            <a:r>
              <a:rPr lang="zh-CN" altLang="en-US" sz="1600" b="1" dirty="0">
                <a:solidFill>
                  <a:srgbClr val="C00000"/>
                </a:solidFill>
                <a:latin typeface="微软雅黑" pitchFamily="34" charset="-122"/>
                <a:ea typeface="微软雅黑" pitchFamily="34" charset="-122"/>
              </a:rPr>
              <a:t>联机</a:t>
            </a:r>
            <a:r>
              <a:rPr lang="zh-CN" altLang="en-US" sz="1600" b="1" dirty="0">
                <a:latin typeface="微软雅黑" pitchFamily="34" charset="-122"/>
                <a:ea typeface="微软雅黑" pitchFamily="34" charset="-122"/>
              </a:rPr>
              <a:t>协议，用户在自己的计算机上就可以操纵邮件服务器的</a:t>
            </a:r>
            <a:r>
              <a:rPr lang="zh-CN" altLang="en-US" sz="1600" b="1" dirty="0" smtClean="0">
                <a:latin typeface="微软雅黑" pitchFamily="34" charset="-122"/>
                <a:ea typeface="微软雅黑" pitchFamily="34" charset="-122"/>
              </a:rPr>
              <a:t>邮箱。</a:t>
            </a:r>
            <a:endParaRPr lang="en-US" altLang="zh-CN" sz="1600" b="1" dirty="0" smtClean="0">
              <a:latin typeface="微软雅黑" pitchFamily="34" charset="-122"/>
              <a:ea typeface="微软雅黑"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0" name="Rectangle 6"/>
          <p:cNvSpPr>
            <a:spLocks noChangeArrowheads="1"/>
          </p:cNvSpPr>
          <p:nvPr/>
        </p:nvSpPr>
        <p:spPr bwMode="auto">
          <a:xfrm>
            <a:off x="3825141" y="567770"/>
            <a:ext cx="14863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协议</a:t>
            </a: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17" name="Text Box 395"/>
          <p:cNvSpPr txBox="1">
            <a:spLocks noChangeArrowheads="1"/>
          </p:cNvSpPr>
          <p:nvPr/>
        </p:nvSpPr>
        <p:spPr bwMode="auto">
          <a:xfrm>
            <a:off x="4170222" y="1936610"/>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0000FF"/>
                </a:solidFill>
                <a:latin typeface="微软雅黑" pitchFamily="34" charset="-122"/>
                <a:ea typeface="微软雅黑" pitchFamily="34" charset="-122"/>
              </a:rPr>
              <a:t>TCP </a:t>
            </a:r>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sp>
        <p:nvSpPr>
          <p:cNvPr id="18"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extLst>
      <p:ext uri="{BB962C8B-B14F-4D97-AF65-F5344CB8AC3E}">
        <p14:creationId xmlns:p14="http://schemas.microsoft.com/office/powerpoint/2010/main" val="20807422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84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709962" y="573636"/>
            <a:ext cx="17427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的特点</a:t>
            </a:r>
          </a:p>
        </p:txBody>
      </p:sp>
      <p:sp>
        <p:nvSpPr>
          <p:cNvPr id="4" name="Rectangle 68"/>
          <p:cNvSpPr>
            <a:spLocks noChangeArrowheads="1"/>
          </p:cNvSpPr>
          <p:nvPr/>
        </p:nvSpPr>
        <p:spPr bwMode="auto">
          <a:xfrm>
            <a:off x="556963" y="967937"/>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连接</a:t>
            </a:r>
            <a:r>
              <a:rPr lang="zh-CN" altLang="en-US" sz="2000" b="1" dirty="0">
                <a:latin typeface="微软雅黑" pitchFamily="34" charset="-122"/>
                <a:ea typeface="微软雅黑" pitchFamily="34" charset="-122"/>
              </a:rPr>
              <a:t>后只下载</a:t>
            </a:r>
            <a:r>
              <a:rPr lang="zh-CN" altLang="en-US" sz="2000" b="1" dirty="0">
                <a:solidFill>
                  <a:srgbClr val="C00000"/>
                </a:solidFill>
                <a:latin typeface="微软雅黑" pitchFamily="34" charset="-122"/>
                <a:ea typeface="微软雅黑" pitchFamily="34" charset="-122"/>
              </a:rPr>
              <a:t>邮件首部</a:t>
            </a:r>
            <a:r>
              <a:rPr lang="zh-CN" altLang="en-US" sz="2000" b="1" dirty="0">
                <a:latin typeface="微软雅黑" pitchFamily="34" charset="-122"/>
                <a:ea typeface="微软雅黑" pitchFamily="34" charset="-122"/>
              </a:rPr>
              <a:t>（部分下载</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用户直接</a:t>
            </a:r>
            <a:r>
              <a:rPr lang="zh-CN" altLang="en-US" sz="2000" b="1" dirty="0" smtClean="0">
                <a:latin typeface="微软雅黑" pitchFamily="34" charset="-122"/>
                <a:ea typeface="微软雅黑" pitchFamily="34" charset="-122"/>
              </a:rPr>
              <a:t>在 </a:t>
            </a:r>
            <a:r>
              <a:rPr lang="en-US" altLang="zh-CN" sz="2000" b="1" dirty="0" smtClean="0">
                <a:latin typeface="微软雅黑" pitchFamily="34" charset="-122"/>
                <a:ea typeface="微软雅黑" pitchFamily="34" charset="-122"/>
              </a:rPr>
              <a:t>IMAP </a:t>
            </a:r>
            <a:r>
              <a:rPr lang="zh-CN" altLang="en-US" sz="2000" b="1" dirty="0" smtClean="0">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上</a:t>
            </a:r>
            <a:r>
              <a:rPr lang="zh-CN" altLang="en-US" sz="2000" b="1" dirty="0">
                <a:solidFill>
                  <a:srgbClr val="C00000"/>
                </a:solidFill>
                <a:latin typeface="微软雅黑" pitchFamily="34" charset="-122"/>
                <a:ea typeface="微软雅黑" pitchFamily="34" charset="-122"/>
              </a:rPr>
              <a:t>创建和管理</a:t>
            </a:r>
            <a:r>
              <a:rPr lang="zh-CN" altLang="en-US" sz="2000" b="1" dirty="0" smtClean="0">
                <a:latin typeface="微软雅黑" pitchFamily="34" charset="-122"/>
                <a:ea typeface="微软雅黑" pitchFamily="34" charset="-122"/>
              </a:rPr>
              <a:t>文件夹。</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用户可以</a:t>
            </a:r>
            <a:r>
              <a:rPr lang="zh-CN" altLang="en-US" sz="2000" b="1" dirty="0">
                <a:solidFill>
                  <a:srgbClr val="C00000"/>
                </a:solidFill>
                <a:latin typeface="微软雅黑" pitchFamily="34" charset="-122"/>
                <a:ea typeface="微软雅黑" pitchFamily="34" charset="-122"/>
              </a:rPr>
              <a:t>搜索</a:t>
            </a:r>
            <a:r>
              <a:rPr lang="zh-CN" altLang="en-US" sz="2000" b="1" dirty="0">
                <a:latin typeface="微软雅黑" pitchFamily="34" charset="-122"/>
                <a:ea typeface="微软雅黑" pitchFamily="34" charset="-122"/>
              </a:rPr>
              <a:t>邮件内容</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用户可以在</a:t>
            </a:r>
            <a:r>
              <a:rPr lang="zh-CN" altLang="en-US" sz="2000" b="1" dirty="0" smtClean="0">
                <a:latin typeface="微软雅黑" pitchFamily="34" charset="-122"/>
                <a:ea typeface="微软雅黑" pitchFamily="34" charset="-122"/>
              </a:rPr>
              <a:t>不同</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地方</a:t>
            </a:r>
            <a:r>
              <a:rPr lang="zh-CN" altLang="en-US" sz="2000" b="1" dirty="0">
                <a:latin typeface="微软雅黑" pitchFamily="34" charset="-122"/>
                <a:ea typeface="微软雅黑" pitchFamily="34" charset="-122"/>
              </a:rPr>
              <a:t>使用</a:t>
            </a:r>
            <a:r>
              <a:rPr lang="zh-CN" altLang="en-US" sz="2000" b="1" dirty="0" smtClean="0">
                <a:latin typeface="微软雅黑" pitchFamily="34" charset="-122"/>
                <a:ea typeface="微软雅黑" pitchFamily="34" charset="-122"/>
              </a:rPr>
              <a:t>不同的计算机</a:t>
            </a:r>
            <a:r>
              <a:rPr lang="zh-CN" altLang="en-US" sz="2000" b="1" dirty="0">
                <a:latin typeface="微软雅黑" pitchFamily="34" charset="-122"/>
                <a:ea typeface="微软雅黑" pitchFamily="34" charset="-122"/>
              </a:rPr>
              <a:t>随时上网阅读和处理自己的</a:t>
            </a:r>
            <a:r>
              <a:rPr lang="zh-CN" altLang="en-US" sz="2000" b="1" dirty="0" smtClean="0">
                <a:latin typeface="微软雅黑" pitchFamily="34" charset="-122"/>
                <a:ea typeface="微软雅黑" pitchFamily="34" charset="-122"/>
              </a:rPr>
              <a:t>邮件。</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允许收信人</a:t>
            </a:r>
            <a:r>
              <a:rPr lang="zh-CN" altLang="en-US" sz="2000" b="1" dirty="0">
                <a:solidFill>
                  <a:srgbClr val="C00000"/>
                </a:solidFill>
                <a:latin typeface="微软雅黑" pitchFamily="34" charset="-122"/>
                <a:ea typeface="微软雅黑" pitchFamily="34" charset="-122"/>
              </a:rPr>
              <a:t>只读取</a:t>
            </a:r>
            <a:r>
              <a:rPr lang="zh-CN" altLang="en-US" sz="2000" b="1" dirty="0">
                <a:latin typeface="微软雅黑" pitchFamily="34" charset="-122"/>
                <a:ea typeface="微软雅黑" pitchFamily="34" charset="-122"/>
              </a:rPr>
              <a:t>邮件中的某一个</a:t>
            </a:r>
            <a:r>
              <a:rPr lang="zh-CN" altLang="en-US" sz="2000" b="1" dirty="0" smtClean="0">
                <a:latin typeface="微软雅黑" pitchFamily="34" charset="-122"/>
                <a:ea typeface="微软雅黑" pitchFamily="34" charset="-122"/>
              </a:rPr>
              <a:t>部分。</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C00CC"/>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：要想</a:t>
            </a:r>
            <a:r>
              <a:rPr lang="zh-CN" altLang="en-US" sz="2000" b="1" dirty="0" smtClean="0">
                <a:latin typeface="微软雅黑" pitchFamily="34" charset="-122"/>
                <a:ea typeface="微软雅黑" pitchFamily="34" charset="-122"/>
              </a:rPr>
              <a:t>查阅邮件</a:t>
            </a:r>
            <a:r>
              <a:rPr lang="zh-CN" altLang="en-US" sz="2000" b="1" dirty="0">
                <a:latin typeface="微软雅黑" pitchFamily="34" charset="-122"/>
                <a:ea typeface="微软雅黑" pitchFamily="34" charset="-122"/>
              </a:rPr>
              <a:t>，必须</a:t>
            </a:r>
            <a:r>
              <a:rPr lang="zh-CN" altLang="en-US" sz="2000" b="1" dirty="0" smtClean="0">
                <a:latin typeface="微软雅黑" pitchFamily="34" charset="-122"/>
                <a:ea typeface="微软雅黑" pitchFamily="34" charset="-122"/>
              </a:rPr>
              <a:t>先联网。</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custDataLst>
      <p:tags r:id="rId1"/>
    </p:custDataLst>
    <p:extLst>
      <p:ext uri="{BB962C8B-B14F-4D97-AF65-F5344CB8AC3E}">
        <p14:creationId xmlns:p14="http://schemas.microsoft.com/office/powerpoint/2010/main" val="15320436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fade">
                                      <p:cBhvr>
                                        <p:cTn id="11" dur="500"/>
                                        <p:tgtEl>
                                          <p:spTgt spid="4">
                                            <p:txEl>
                                              <p:pRg st="2" end="2"/>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fade">
                                      <p:cBhvr>
                                        <p:cTn id="16" dur="500"/>
                                        <p:tgtEl>
                                          <p:spTgt spid="4">
                                            <p:txEl>
                                              <p:pRg st="3" end="3"/>
                                            </p:txEl>
                                          </p:spTgt>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xEl>
                                              <p:pRg st="4" end="4"/>
                                            </p:txEl>
                                          </p:spTgt>
                                        </p:tgtEl>
                                        <p:attrNameLst>
                                          <p:attrName>style.visibility</p:attrName>
                                        </p:attrNameLst>
                                      </p:cBhvr>
                                      <p:to>
                                        <p:strVal val="visible"/>
                                      </p:to>
                                    </p:set>
                                    <p:animEffect transition="in" filter="fade">
                                      <p:cBhvr>
                                        <p:cTn id="20" dur="500"/>
                                        <p:tgtEl>
                                          <p:spTgt spid="4">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animEffect transition="in" filter="fade">
                                      <p:cBhvr>
                                        <p:cTn id="25" dur="500"/>
                                        <p:tgtEl>
                                          <p:spTgt spid="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40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80360" y="570189"/>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IMAP </a:t>
            </a:r>
            <a:r>
              <a:rPr lang="zh-CN" altLang="en-US" sz="2000" b="1" dirty="0" smtClean="0">
                <a:solidFill>
                  <a:schemeClr val="bg1"/>
                </a:solidFill>
                <a:latin typeface="微软雅黑" pitchFamily="34" charset="-122"/>
                <a:ea typeface="微软雅黑" pitchFamily="34" charset="-122"/>
              </a:rPr>
              <a:t>与 </a:t>
            </a:r>
            <a:r>
              <a:rPr lang="en-US" altLang="zh-CN" sz="2000" b="1" dirty="0" smtClean="0">
                <a:solidFill>
                  <a:schemeClr val="bg1"/>
                </a:solidFill>
                <a:latin typeface="微软雅黑" pitchFamily="34" charset="-122"/>
                <a:ea typeface="微软雅黑" pitchFamily="34" charset="-122"/>
              </a:rPr>
              <a:t>POP3 </a:t>
            </a:r>
            <a:r>
              <a:rPr lang="zh-CN" altLang="en-US" sz="2000" b="1" dirty="0" smtClean="0">
                <a:solidFill>
                  <a:schemeClr val="bg1"/>
                </a:solidFill>
                <a:latin typeface="微软雅黑" pitchFamily="34" charset="-122"/>
                <a:ea typeface="微软雅黑" pitchFamily="34" charset="-122"/>
              </a:rPr>
              <a:t>比较</a:t>
            </a:r>
            <a:endParaRPr lang="zh-CN" altLang="en-US" sz="2000" b="1" dirty="0">
              <a:solidFill>
                <a:schemeClr val="bg1"/>
              </a:solidFill>
              <a:latin typeface="微软雅黑" pitchFamily="34" charset="-122"/>
              <a:ea typeface="微软雅黑" pitchFamily="34" charset="-122"/>
            </a:endParaRPr>
          </a:p>
        </p:txBody>
      </p:sp>
      <p:graphicFrame>
        <p:nvGraphicFramePr>
          <p:cNvPr id="7" name="表格 6"/>
          <p:cNvGraphicFramePr>
            <a:graphicFrameLocks noGrp="1"/>
          </p:cNvGraphicFramePr>
          <p:nvPr>
            <p:extLst/>
          </p:nvPr>
        </p:nvGraphicFramePr>
        <p:xfrm>
          <a:off x="556963" y="1069695"/>
          <a:ext cx="8048775" cy="2548154"/>
        </p:xfrm>
        <a:graphic>
          <a:graphicData uri="http://schemas.openxmlformats.org/drawingml/2006/table">
            <a:tbl>
              <a:tblPr firstRow="1" bandRow="1">
                <a:tableStyleId>{5C22544A-7EE6-4342-B048-85BDC9FD1C3A}</a:tableStyleId>
              </a:tblPr>
              <a:tblGrid>
                <a:gridCol w="1354838">
                  <a:extLst>
                    <a:ext uri="{9D8B030D-6E8A-4147-A177-3AD203B41FA5}">
                      <a16:colId xmlns:a16="http://schemas.microsoft.com/office/drawing/2014/main" val="20000"/>
                    </a:ext>
                  </a:extLst>
                </a:gridCol>
                <a:gridCol w="3025325">
                  <a:extLst>
                    <a:ext uri="{9D8B030D-6E8A-4147-A177-3AD203B41FA5}">
                      <a16:colId xmlns:a16="http://schemas.microsoft.com/office/drawing/2014/main" val="20001"/>
                    </a:ext>
                  </a:extLst>
                </a:gridCol>
                <a:gridCol w="2279548">
                  <a:extLst>
                    <a:ext uri="{9D8B030D-6E8A-4147-A177-3AD203B41FA5}">
                      <a16:colId xmlns:a16="http://schemas.microsoft.com/office/drawing/2014/main" val="20002"/>
                    </a:ext>
                  </a:extLst>
                </a:gridCol>
                <a:gridCol w="1389064">
                  <a:extLst>
                    <a:ext uri="{9D8B030D-6E8A-4147-A177-3AD203B41FA5}">
                      <a16:colId xmlns:a16="http://schemas.microsoft.com/office/drawing/2014/main" val="20003"/>
                    </a:ext>
                  </a:extLst>
                </a:gridCol>
              </a:tblGrid>
              <a:tr h="364022">
                <a:tc>
                  <a:txBody>
                    <a:bodyPr/>
                    <a:lstStyle/>
                    <a:p>
                      <a:pPr algn="ctr"/>
                      <a:r>
                        <a:rPr lang="zh-CN" altLang="en-US" sz="1600" b="1" dirty="0" smtClean="0">
                          <a:latin typeface="微软雅黑" pitchFamily="34" charset="-122"/>
                          <a:ea typeface="微软雅黑" pitchFamily="34" charset="-122"/>
                        </a:rPr>
                        <a:t>操作位置</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smtClean="0">
                          <a:latin typeface="微软雅黑" pitchFamily="34" charset="-122"/>
                          <a:ea typeface="微软雅黑" pitchFamily="34" charset="-122"/>
                        </a:rPr>
                        <a:t>操作内容</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600" b="1" dirty="0" smtClean="0">
                          <a:latin typeface="微软雅黑" pitchFamily="34" charset="-122"/>
                          <a:ea typeface="微软雅黑" pitchFamily="34" charset="-122"/>
                        </a:rPr>
                        <a:t>IMAP</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600" b="1" dirty="0" smtClean="0">
                          <a:latin typeface="微软雅黑" pitchFamily="34" charset="-122"/>
                          <a:ea typeface="微软雅黑" pitchFamily="34" charset="-122"/>
                        </a:rPr>
                        <a:t>POP3</a:t>
                      </a:r>
                      <a:endParaRPr lang="zh-CN" altLang="en-US" sz="1600" b="1" dirty="0" smtClean="0">
                        <a:latin typeface="微软雅黑" pitchFamily="34" charset="-122"/>
                        <a:ea typeface="微软雅黑" pitchFamily="34" charset="-122"/>
                      </a:endParaRPr>
                    </a:p>
                  </a:txBody>
                  <a:tcPr anchor="ctr">
                    <a:solidFill>
                      <a:schemeClr val="accent5">
                        <a:lumMod val="75000"/>
                      </a:schemeClr>
                    </a:solidFill>
                  </a:tcPr>
                </a:tc>
                <a:extLst>
                  <a:ext uri="{0D108BD9-81ED-4DB2-BD59-A6C34878D82A}">
                    <a16:rowId xmlns:a16="http://schemas.microsoft.com/office/drawing/2014/main" val="10000"/>
                  </a:ext>
                </a:extLst>
              </a:tr>
              <a:tr h="364022">
                <a:tc>
                  <a:txBody>
                    <a:bodyPr/>
                    <a:lstStyle/>
                    <a:p>
                      <a:pPr algn="l"/>
                      <a:r>
                        <a:rPr lang="zh-CN" altLang="en-US" sz="1400" b="1" dirty="0" smtClean="0">
                          <a:latin typeface="微软雅黑" pitchFamily="34" charset="-122"/>
                          <a:ea typeface="微软雅黑" pitchFamily="34" charset="-122"/>
                        </a:rPr>
                        <a:t>收件箱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阅读、标记、移动、删除邮件等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客户端与邮箱更新同步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仅在客户端内</a:t>
                      </a:r>
                      <a:endParaRPr lang="zh-CN" altLang="en-US" sz="1400" b="1" dirty="0">
                        <a:latin typeface="微软雅黑" pitchFamily="34" charset="-122"/>
                        <a:ea typeface="微软雅黑" pitchFamily="34" charset="-122"/>
                      </a:endParaRPr>
                    </a:p>
                  </a:txBody>
                  <a:tcPr anchor="ctr"/>
                </a:tc>
                <a:extLst>
                  <a:ext uri="{0D108BD9-81ED-4DB2-BD59-A6C34878D82A}">
                    <a16:rowId xmlns:a16="http://schemas.microsoft.com/office/drawing/2014/main" val="10001"/>
                  </a:ext>
                </a:extLst>
              </a:tr>
              <a:tr h="364022">
                <a:tc>
                  <a:txBody>
                    <a:bodyPr/>
                    <a:lstStyle/>
                    <a:p>
                      <a:pPr algn="l"/>
                      <a:r>
                        <a:rPr lang="zh-CN" altLang="en-US" sz="1400" b="1" dirty="0" smtClean="0">
                          <a:latin typeface="微软雅黑" pitchFamily="34" charset="-122"/>
                          <a:ea typeface="微软雅黑" pitchFamily="34" charset="-122"/>
                        </a:rPr>
                        <a:t>发件箱</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保存到已发送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客户端与邮箱更新同步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仅在客户端内</a:t>
                      </a:r>
                      <a:endParaRPr lang="zh-CN" altLang="en-US" sz="1400" b="1" dirty="0">
                        <a:latin typeface="微软雅黑" pitchFamily="34" charset="-122"/>
                        <a:ea typeface="微软雅黑" pitchFamily="34" charset="-122"/>
                      </a:endParaRPr>
                    </a:p>
                  </a:txBody>
                  <a:tcPr anchor="ctr">
                    <a:solidFill>
                      <a:srgbClr val="00FFCC"/>
                    </a:solidFill>
                  </a:tcPr>
                </a:tc>
                <a:extLst>
                  <a:ext uri="{0D108BD9-81ED-4DB2-BD59-A6C34878D82A}">
                    <a16:rowId xmlns:a16="http://schemas.microsoft.com/office/drawing/2014/main" val="10002"/>
                  </a:ext>
                </a:extLst>
              </a:tr>
              <a:tr h="364022">
                <a:tc>
                  <a:txBody>
                    <a:bodyPr/>
                    <a:lstStyle/>
                    <a:p>
                      <a:pPr algn="l"/>
                      <a:r>
                        <a:rPr lang="zh-CN" altLang="en-US" sz="1400" b="1" dirty="0" smtClean="0">
                          <a:latin typeface="微软雅黑" pitchFamily="34" charset="-122"/>
                          <a:ea typeface="微软雅黑" pitchFamily="34" charset="-122"/>
                        </a:rPr>
                        <a:t>创建文件夹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新建自定义的文件夹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客户端与邮箱更新同步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仅在客户端内</a:t>
                      </a:r>
                      <a:endParaRPr lang="zh-CN" altLang="en-US" sz="1400" b="1" dirty="0">
                        <a:latin typeface="微软雅黑" pitchFamily="34" charset="-122"/>
                        <a:ea typeface="微软雅黑" pitchFamily="34" charset="-122"/>
                      </a:endParaRPr>
                    </a:p>
                  </a:txBody>
                  <a:tcPr anchor="ctr"/>
                </a:tc>
                <a:extLst>
                  <a:ext uri="{0D108BD9-81ED-4DB2-BD59-A6C34878D82A}">
                    <a16:rowId xmlns:a16="http://schemas.microsoft.com/office/drawing/2014/main" val="10003"/>
                  </a:ext>
                </a:extLst>
              </a:tr>
              <a:tr h="364022">
                <a:tc>
                  <a:txBody>
                    <a:bodyPr/>
                    <a:lstStyle/>
                    <a:p>
                      <a:pPr algn="l"/>
                      <a:r>
                        <a:rPr lang="zh-CN" altLang="en-US" sz="1400" b="1" dirty="0" smtClean="0">
                          <a:latin typeface="微软雅黑" pitchFamily="34" charset="-122"/>
                          <a:ea typeface="微软雅黑" pitchFamily="34" charset="-122"/>
                        </a:rPr>
                        <a:t>草稿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保存草稿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客户端与邮箱更新同步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仅在客户端内</a:t>
                      </a:r>
                      <a:endParaRPr lang="zh-CN" altLang="en-US" sz="1400" b="1" dirty="0">
                        <a:latin typeface="微软雅黑" pitchFamily="34" charset="-122"/>
                        <a:ea typeface="微软雅黑" pitchFamily="34" charset="-122"/>
                      </a:endParaRPr>
                    </a:p>
                  </a:txBody>
                  <a:tcPr anchor="ctr">
                    <a:solidFill>
                      <a:srgbClr val="00FFCC"/>
                    </a:solidFill>
                  </a:tcPr>
                </a:tc>
                <a:extLst>
                  <a:ext uri="{0D108BD9-81ED-4DB2-BD59-A6C34878D82A}">
                    <a16:rowId xmlns:a16="http://schemas.microsoft.com/office/drawing/2014/main" val="10004"/>
                  </a:ext>
                </a:extLst>
              </a:tr>
              <a:tr h="364022">
                <a:tc>
                  <a:txBody>
                    <a:bodyPr/>
                    <a:lstStyle/>
                    <a:p>
                      <a:pPr algn="l"/>
                      <a:r>
                        <a:rPr lang="zh-CN" altLang="en-US" sz="1400" b="1" dirty="0" smtClean="0">
                          <a:latin typeface="微软雅黑" pitchFamily="34" charset="-122"/>
                          <a:ea typeface="微软雅黑" pitchFamily="34" charset="-122"/>
                        </a:rPr>
                        <a:t>垃圾文件夹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接收并移入垃圾文件夹的邮件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支持 </a:t>
                      </a:r>
                      <a:endParaRPr lang="zh-CN" altLang="en-US" sz="1400" b="1" dirty="0">
                        <a:latin typeface="微软雅黑" pitchFamily="34" charset="-122"/>
                        <a:ea typeface="微软雅黑" pitchFamily="34" charset="-122"/>
                      </a:endParaRPr>
                    </a:p>
                  </a:txBody>
                  <a:tcPr anchor="ctr"/>
                </a:tc>
                <a:tc>
                  <a:txBody>
                    <a:bodyPr/>
                    <a:lstStyle/>
                    <a:p>
                      <a:pPr algn="l"/>
                      <a:r>
                        <a:rPr lang="zh-CN" altLang="en-US" sz="1400" b="1" dirty="0" smtClean="0">
                          <a:latin typeface="微软雅黑" pitchFamily="34" charset="-122"/>
                          <a:ea typeface="微软雅黑" pitchFamily="34" charset="-122"/>
                        </a:rPr>
                        <a:t>不支持 </a:t>
                      </a:r>
                      <a:endParaRPr lang="zh-CN" altLang="en-US" sz="1400" b="1" dirty="0">
                        <a:latin typeface="微软雅黑" pitchFamily="34" charset="-122"/>
                        <a:ea typeface="微软雅黑" pitchFamily="34" charset="-122"/>
                      </a:endParaRPr>
                    </a:p>
                  </a:txBody>
                  <a:tcPr anchor="ctr"/>
                </a:tc>
                <a:extLst>
                  <a:ext uri="{0D108BD9-81ED-4DB2-BD59-A6C34878D82A}">
                    <a16:rowId xmlns:a16="http://schemas.microsoft.com/office/drawing/2014/main" val="10005"/>
                  </a:ext>
                </a:extLst>
              </a:tr>
              <a:tr h="364022">
                <a:tc>
                  <a:txBody>
                    <a:bodyPr/>
                    <a:lstStyle/>
                    <a:p>
                      <a:pPr algn="l"/>
                      <a:r>
                        <a:rPr lang="zh-CN" altLang="en-US" sz="1400" b="1" dirty="0" smtClean="0">
                          <a:latin typeface="微软雅黑" pitchFamily="34" charset="-122"/>
                          <a:ea typeface="微软雅黑" pitchFamily="34" charset="-122"/>
                        </a:rPr>
                        <a:t>广告邮件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接收并移入广告邮件夹的邮件</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支持 </a:t>
                      </a:r>
                      <a:endParaRPr lang="zh-CN" altLang="en-US" sz="1400" b="1" dirty="0">
                        <a:latin typeface="微软雅黑" pitchFamily="34" charset="-122"/>
                        <a:ea typeface="微软雅黑" pitchFamily="34" charset="-122"/>
                      </a:endParaRPr>
                    </a:p>
                  </a:txBody>
                  <a:tcPr anchor="ctr">
                    <a:solidFill>
                      <a:srgbClr val="00FFCC"/>
                    </a:solidFill>
                  </a:tcPr>
                </a:tc>
                <a:tc>
                  <a:txBody>
                    <a:bodyPr/>
                    <a:lstStyle/>
                    <a:p>
                      <a:pPr algn="l"/>
                      <a:r>
                        <a:rPr lang="zh-CN" altLang="en-US" sz="1400" b="1" dirty="0" smtClean="0">
                          <a:latin typeface="微软雅黑" pitchFamily="34" charset="-122"/>
                          <a:ea typeface="微软雅黑" pitchFamily="34" charset="-122"/>
                        </a:rPr>
                        <a:t>不支持 </a:t>
                      </a:r>
                      <a:endParaRPr lang="zh-CN" altLang="en-US" sz="1400" b="1" dirty="0">
                        <a:latin typeface="微软雅黑" pitchFamily="34" charset="-122"/>
                        <a:ea typeface="微软雅黑" pitchFamily="34" charset="-122"/>
                      </a:endParaRPr>
                    </a:p>
                  </a:txBody>
                  <a:tcPr anchor="ctr">
                    <a:solidFill>
                      <a:srgbClr val="00FFCC"/>
                    </a:solidFill>
                  </a:tcPr>
                </a:tc>
                <a:extLst>
                  <a:ext uri="{0D108BD9-81ED-4DB2-BD59-A6C34878D82A}">
                    <a16:rowId xmlns:a16="http://schemas.microsoft.com/office/drawing/2014/main" val="10006"/>
                  </a:ext>
                </a:extLst>
              </a:tr>
            </a:tbl>
          </a:graphicData>
        </a:graphic>
      </p:graphicFrame>
      <p:sp>
        <p:nvSpPr>
          <p:cNvPr id="5"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extLst>
      <p:ext uri="{BB962C8B-B14F-4D97-AF65-F5344CB8AC3E}">
        <p14:creationId xmlns:p14="http://schemas.microsoft.com/office/powerpoint/2010/main" val="7397721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5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80360" y="571240"/>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IMAP </a:t>
            </a:r>
            <a:r>
              <a:rPr lang="zh-CN" altLang="en-US" sz="2000" b="1" dirty="0" smtClean="0">
                <a:solidFill>
                  <a:schemeClr val="bg1"/>
                </a:solidFill>
                <a:latin typeface="微软雅黑" pitchFamily="34" charset="-122"/>
                <a:ea typeface="微软雅黑" pitchFamily="34" charset="-122"/>
              </a:rPr>
              <a:t>与 </a:t>
            </a:r>
            <a:r>
              <a:rPr lang="en-US" altLang="zh-CN" sz="2000" b="1" dirty="0" smtClean="0">
                <a:solidFill>
                  <a:schemeClr val="bg1"/>
                </a:solidFill>
                <a:latin typeface="微软雅黑" pitchFamily="34" charset="-122"/>
                <a:ea typeface="微软雅黑" pitchFamily="34" charset="-122"/>
              </a:rPr>
              <a:t>POP3 </a:t>
            </a:r>
            <a:r>
              <a:rPr lang="zh-CN" altLang="en-US" sz="2000" b="1" dirty="0" smtClean="0">
                <a:solidFill>
                  <a:schemeClr val="bg1"/>
                </a:solidFill>
                <a:latin typeface="微软雅黑" pitchFamily="34" charset="-122"/>
                <a:ea typeface="微软雅黑" pitchFamily="34" charset="-122"/>
              </a:rPr>
              <a:t>比较</a:t>
            </a:r>
            <a:endParaRPr lang="zh-CN" altLang="en-US" sz="2000" b="1" dirty="0">
              <a:solidFill>
                <a:schemeClr val="bg1"/>
              </a:solidFill>
              <a:latin typeface="微软雅黑" pitchFamily="34" charset="-122"/>
              <a:ea typeface="微软雅黑" pitchFamily="34" charset="-122"/>
            </a:endParaRPr>
          </a:p>
        </p:txBody>
      </p:sp>
      <p:sp>
        <p:nvSpPr>
          <p:cNvPr id="5" name="圆角矩形 4"/>
          <p:cNvSpPr/>
          <p:nvPr/>
        </p:nvSpPr>
        <p:spPr>
          <a:xfrm>
            <a:off x="556963" y="1053588"/>
            <a:ext cx="8048776" cy="31843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9"/>
          <p:cNvSpPr>
            <a:spLocks noChangeArrowheads="1"/>
          </p:cNvSpPr>
          <p:nvPr/>
        </p:nvSpPr>
        <p:spPr bwMode="auto">
          <a:xfrm>
            <a:off x="2464906" y="120858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邮件</a:t>
            </a:r>
            <a:r>
              <a:rPr kumimoji="0" lang="zh-CN" altLang="en-US" sz="1200" b="1" dirty="0" smtClean="0">
                <a:solidFill>
                  <a:srgbClr val="25221E"/>
                </a:solidFill>
                <a:latin typeface="微软雅黑" pitchFamily="34" charset="-122"/>
                <a:ea typeface="微软雅黑" pitchFamily="34" charset="-122"/>
              </a:rPr>
              <a:t>服务器</a:t>
            </a:r>
            <a:endParaRPr kumimoji="0" lang="zh-CN" altLang="en-US" sz="1200" b="1" dirty="0">
              <a:solidFill>
                <a:srgbClr val="25221E"/>
              </a:solidFill>
              <a:latin typeface="微软雅黑" pitchFamily="34" charset="-122"/>
              <a:ea typeface="微软雅黑" pitchFamily="34" charset="-122"/>
            </a:endParaRPr>
          </a:p>
        </p:txBody>
      </p:sp>
      <p:pic>
        <p:nvPicPr>
          <p:cNvPr id="37"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80620" y="1604648"/>
            <a:ext cx="407130" cy="40713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9"/>
          <p:cNvSpPr>
            <a:spLocks noChangeArrowheads="1"/>
          </p:cNvSpPr>
          <p:nvPr/>
        </p:nvSpPr>
        <p:spPr bwMode="auto">
          <a:xfrm>
            <a:off x="2464906" y="2657367"/>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邮件</a:t>
            </a:r>
            <a:r>
              <a:rPr kumimoji="0" lang="zh-CN" altLang="en-US" sz="1200" b="1" dirty="0" smtClean="0">
                <a:solidFill>
                  <a:srgbClr val="25221E"/>
                </a:solidFill>
                <a:latin typeface="微软雅黑" pitchFamily="34" charset="-122"/>
                <a:ea typeface="微软雅黑" pitchFamily="34" charset="-122"/>
              </a:rPr>
              <a:t>服务器</a:t>
            </a:r>
            <a:endParaRPr kumimoji="0" lang="zh-CN" altLang="en-US" sz="1200" b="1" dirty="0">
              <a:solidFill>
                <a:srgbClr val="25221E"/>
              </a:solidFill>
              <a:latin typeface="微软雅黑" pitchFamily="34" charset="-122"/>
              <a:ea typeface="微软雅黑" pitchFamily="34" charset="-122"/>
            </a:endParaRPr>
          </a:p>
        </p:txBody>
      </p:sp>
      <p:pic>
        <p:nvPicPr>
          <p:cNvPr id="52"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59314" y="254119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66444" y="3048804"/>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59314" y="3557816"/>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56" name="直接连接符 55"/>
          <p:cNvCxnSpPr>
            <a:stCxn id="11" idx="3"/>
          </p:cNvCxnSpPr>
          <p:nvPr/>
        </p:nvCxnSpPr>
        <p:spPr>
          <a:xfrm>
            <a:off x="2986409" y="1830103"/>
            <a:ext cx="1165177"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直接连接符 56"/>
          <p:cNvCxnSpPr>
            <a:endCxn id="37" idx="1"/>
          </p:cNvCxnSpPr>
          <p:nvPr/>
        </p:nvCxnSpPr>
        <p:spPr>
          <a:xfrm>
            <a:off x="4882375" y="1808213"/>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Group 50"/>
          <p:cNvGrpSpPr>
            <a:grpSpLocks noChangeAspect="1"/>
          </p:cNvGrpSpPr>
          <p:nvPr/>
        </p:nvGrpSpPr>
        <p:grpSpPr bwMode="auto">
          <a:xfrm>
            <a:off x="2590426" y="1436477"/>
            <a:ext cx="478479" cy="734218"/>
            <a:chOff x="3104" y="1028"/>
            <a:chExt cx="406" cy="623"/>
          </a:xfrm>
        </p:grpSpPr>
        <p:sp>
          <p:nvSpPr>
            <p:cNvPr id="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8"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36" name="Freeform 1208"/>
          <p:cNvSpPr>
            <a:spLocks/>
          </p:cNvSpPr>
          <p:nvPr/>
        </p:nvSpPr>
        <p:spPr bwMode="ltGray">
          <a:xfrm>
            <a:off x="3802790" y="1489510"/>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itchFamily="34" charset="-122"/>
                <a:ea typeface="微软雅黑" pitchFamily="34" charset="-122"/>
              </a:rPr>
              <a:t>互联网</a:t>
            </a:r>
            <a:endParaRPr lang="zh-CN" altLang="en-US" sz="1200" b="1" dirty="0">
              <a:latin typeface="微软雅黑" pitchFamily="34" charset="-122"/>
              <a:ea typeface="微软雅黑" pitchFamily="34" charset="-122"/>
            </a:endParaRPr>
          </a:p>
        </p:txBody>
      </p:sp>
      <p:cxnSp>
        <p:nvCxnSpPr>
          <p:cNvPr id="64" name="直接连接符 63"/>
          <p:cNvCxnSpPr>
            <a:stCxn id="42" idx="3"/>
          </p:cNvCxnSpPr>
          <p:nvPr/>
        </p:nvCxnSpPr>
        <p:spPr>
          <a:xfrm>
            <a:off x="2986409" y="3278886"/>
            <a:ext cx="1757041"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50"/>
          <p:cNvGrpSpPr>
            <a:grpSpLocks noChangeAspect="1"/>
          </p:cNvGrpSpPr>
          <p:nvPr/>
        </p:nvGrpSpPr>
        <p:grpSpPr bwMode="auto">
          <a:xfrm>
            <a:off x="2590426" y="2885260"/>
            <a:ext cx="478479" cy="734218"/>
            <a:chOff x="3104" y="1028"/>
            <a:chExt cx="406" cy="623"/>
          </a:xfrm>
        </p:grpSpPr>
        <p:sp>
          <p:nvSpPr>
            <p:cNvPr id="40"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1"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2"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3"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4"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5"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6"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7"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8"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9"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cxnSp>
        <p:nvCxnSpPr>
          <p:cNvPr id="67" name="直接连接符 66"/>
          <p:cNvCxnSpPr>
            <a:endCxn id="53" idx="1"/>
          </p:cNvCxnSpPr>
          <p:nvPr/>
        </p:nvCxnSpPr>
        <p:spPr>
          <a:xfrm>
            <a:off x="5568199" y="3252369"/>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0" name="直接连接符 69"/>
          <p:cNvCxnSpPr>
            <a:endCxn id="52" idx="1"/>
          </p:cNvCxnSpPr>
          <p:nvPr/>
        </p:nvCxnSpPr>
        <p:spPr>
          <a:xfrm flipV="1">
            <a:off x="5452585" y="2744755"/>
            <a:ext cx="1606729" cy="45399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2" name="直接连接符 71"/>
          <p:cNvCxnSpPr>
            <a:endCxn id="55" idx="1"/>
          </p:cNvCxnSpPr>
          <p:nvPr/>
        </p:nvCxnSpPr>
        <p:spPr>
          <a:xfrm>
            <a:off x="5452585" y="3293028"/>
            <a:ext cx="1606729" cy="4683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Freeform 1208"/>
          <p:cNvSpPr>
            <a:spLocks/>
          </p:cNvSpPr>
          <p:nvPr/>
        </p:nvSpPr>
        <p:spPr bwMode="ltGray">
          <a:xfrm>
            <a:off x="4488614" y="2938293"/>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itchFamily="34" charset="-122"/>
                <a:ea typeface="微软雅黑" pitchFamily="34" charset="-122"/>
              </a:rPr>
              <a:t>互联网</a:t>
            </a:r>
            <a:endParaRPr lang="zh-CN" altLang="en-US" sz="1200" b="1" dirty="0">
              <a:latin typeface="微软雅黑" pitchFamily="34" charset="-122"/>
              <a:ea typeface="微软雅黑" pitchFamily="34" charset="-122"/>
            </a:endParaRPr>
          </a:p>
        </p:txBody>
      </p:sp>
      <p:sp>
        <p:nvSpPr>
          <p:cNvPr id="75" name="Rectangle 9"/>
          <p:cNvSpPr>
            <a:spLocks noChangeArrowheads="1"/>
          </p:cNvSpPr>
          <p:nvPr/>
        </p:nvSpPr>
        <p:spPr bwMode="auto">
          <a:xfrm>
            <a:off x="5568200" y="1597211"/>
            <a:ext cx="8282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itchFamily="34" charset="-122"/>
                <a:ea typeface="微软雅黑" pitchFamily="34" charset="-122"/>
              </a:rPr>
              <a:t>整个邮件</a:t>
            </a:r>
            <a:endParaRPr kumimoji="0" lang="zh-CN" altLang="en-US" sz="1200" b="1" dirty="0">
              <a:solidFill>
                <a:srgbClr val="25221E"/>
              </a:solidFill>
              <a:latin typeface="微软雅黑" pitchFamily="34" charset="-122"/>
              <a:ea typeface="微软雅黑" pitchFamily="34" charset="-122"/>
            </a:endParaRPr>
          </a:p>
        </p:txBody>
      </p:sp>
      <p:sp>
        <p:nvSpPr>
          <p:cNvPr id="76" name="Documents"/>
          <p:cNvSpPr>
            <a:spLocks noEditPoints="1" noChangeArrowheads="1"/>
          </p:cNvSpPr>
          <p:nvPr/>
        </p:nvSpPr>
        <p:spPr bwMode="auto">
          <a:xfrm>
            <a:off x="7315192" y="1378584"/>
            <a:ext cx="871546" cy="451373"/>
          </a:xfrm>
          <a:custGeom>
            <a:avLst/>
            <a:gdLst>
              <a:gd name="T0" fmla="*/ 0 w 21600"/>
              <a:gd name="T1" fmla="*/ 2800 h 21600"/>
              <a:gd name="T2" fmla="*/ 3468 w 21600"/>
              <a:gd name="T3" fmla="*/ 0 h 21600"/>
              <a:gd name="T4" fmla="*/ 21653 w 21600"/>
              <a:gd name="T5" fmla="*/ 18828 h 21600"/>
              <a:gd name="T6" fmla="*/ 19954 w 21600"/>
              <a:gd name="T7" fmla="*/ 20214 h 21600"/>
              <a:gd name="T8" fmla="*/ 18256 w 21600"/>
              <a:gd name="T9" fmla="*/ 21628 h 21600"/>
              <a:gd name="T10" fmla="*/ 19954 w 21600"/>
              <a:gd name="T11" fmla="*/ 1428 h 21600"/>
              <a:gd name="T12" fmla="*/ 18256 w 21600"/>
              <a:gd name="T13" fmla="*/ 2800 h 21600"/>
              <a:gd name="T14" fmla="*/ 1645 w 21600"/>
              <a:gd name="T15" fmla="*/ 1428 h 21600"/>
              <a:gd name="T16" fmla="*/ 21600 w 21600"/>
              <a:gd name="T17" fmla="*/ 0 h 21600"/>
              <a:gd name="T18" fmla="*/ 10800 w 21600"/>
              <a:gd name="T19" fmla="*/ 0 h 21600"/>
              <a:gd name="T20" fmla="*/ 0 w 21600"/>
              <a:gd name="T21" fmla="*/ 10800 h 21600"/>
              <a:gd name="T22" fmla="*/ 21600 w 21600"/>
              <a:gd name="T23" fmla="*/ 10800 h 21600"/>
              <a:gd name="T24" fmla="*/ 1645 w 21600"/>
              <a:gd name="T25" fmla="*/ 4171 h 21600"/>
              <a:gd name="T26" fmla="*/ 16522 w 21600"/>
              <a:gd name="T27" fmla="*/ 17314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00FFCC"/>
          </a:solid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77" name="Rectangle 9"/>
          <p:cNvSpPr>
            <a:spLocks noChangeArrowheads="1"/>
          </p:cNvSpPr>
          <p:nvPr/>
        </p:nvSpPr>
        <p:spPr bwMode="auto">
          <a:xfrm>
            <a:off x="7314047" y="1513192"/>
            <a:ext cx="77267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100" b="1" dirty="0" smtClean="0">
                <a:solidFill>
                  <a:srgbClr val="25221E"/>
                </a:solidFill>
                <a:latin typeface="微软雅黑" pitchFamily="34" charset="-122"/>
                <a:ea typeface="微软雅黑" pitchFamily="34" charset="-122"/>
              </a:rPr>
              <a:t>所有邮件</a:t>
            </a:r>
            <a:endParaRPr kumimoji="0" lang="zh-CN" altLang="en-US" sz="1100" b="1" dirty="0">
              <a:solidFill>
                <a:srgbClr val="25221E"/>
              </a:solidFill>
              <a:latin typeface="微软雅黑" pitchFamily="34" charset="-122"/>
              <a:ea typeface="微软雅黑" pitchFamily="34" charset="-122"/>
            </a:endParaRPr>
          </a:p>
        </p:txBody>
      </p:sp>
      <p:sp>
        <p:nvSpPr>
          <p:cNvPr id="78" name="Rectangle 9"/>
          <p:cNvSpPr>
            <a:spLocks noChangeArrowheads="1"/>
          </p:cNvSpPr>
          <p:nvPr/>
        </p:nvSpPr>
        <p:spPr bwMode="auto">
          <a:xfrm rot="20578601">
            <a:off x="6004789" y="2694178"/>
            <a:ext cx="7694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itchFamily="34" charset="-122"/>
                <a:ea typeface="微软雅黑" pitchFamily="34" charset="-122"/>
              </a:rPr>
              <a:t>邮件首部</a:t>
            </a:r>
            <a:endParaRPr kumimoji="0" lang="zh-CN" altLang="en-US" sz="1200" b="1" dirty="0">
              <a:solidFill>
                <a:srgbClr val="25221E"/>
              </a:solidFill>
              <a:latin typeface="微软雅黑" pitchFamily="34" charset="-122"/>
              <a:ea typeface="微软雅黑" pitchFamily="34" charset="-122"/>
            </a:endParaRPr>
          </a:p>
        </p:txBody>
      </p:sp>
      <p:grpSp>
        <p:nvGrpSpPr>
          <p:cNvPr id="88" name="组合 87"/>
          <p:cNvGrpSpPr/>
          <p:nvPr/>
        </p:nvGrpSpPr>
        <p:grpSpPr>
          <a:xfrm>
            <a:off x="3149855" y="3381313"/>
            <a:ext cx="715074" cy="395003"/>
            <a:chOff x="3420280" y="3918130"/>
            <a:chExt cx="512274" cy="390821"/>
          </a:xfrm>
          <a:solidFill>
            <a:srgbClr val="00FFCC"/>
          </a:solidFill>
        </p:grpSpPr>
        <p:sp>
          <p:nvSpPr>
            <p:cNvPr id="86"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87"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itchFamily="34" charset="-122"/>
                  <a:ea typeface="微软雅黑" pitchFamily="34" charset="-122"/>
                </a:rPr>
                <a:t>工作</a:t>
              </a:r>
              <a:endParaRPr kumimoji="0" lang="zh-CN" altLang="en-US" sz="1100" b="1" dirty="0">
                <a:solidFill>
                  <a:srgbClr val="25221E"/>
                </a:solidFill>
                <a:latin typeface="微软雅黑" pitchFamily="34" charset="-122"/>
                <a:ea typeface="微软雅黑" pitchFamily="34" charset="-122"/>
              </a:endParaRPr>
            </a:p>
          </p:txBody>
        </p:sp>
      </p:grpSp>
      <p:grpSp>
        <p:nvGrpSpPr>
          <p:cNvPr id="89" name="组合 88"/>
          <p:cNvGrpSpPr/>
          <p:nvPr/>
        </p:nvGrpSpPr>
        <p:grpSpPr>
          <a:xfrm>
            <a:off x="2905346" y="3619587"/>
            <a:ext cx="715074" cy="395003"/>
            <a:chOff x="3420280" y="3918130"/>
            <a:chExt cx="512274" cy="390821"/>
          </a:xfrm>
          <a:solidFill>
            <a:srgbClr val="00FFCC"/>
          </a:solidFill>
        </p:grpSpPr>
        <p:sp>
          <p:nvSpPr>
            <p:cNvPr id="90"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itchFamily="34" charset="-122"/>
                  <a:ea typeface="微软雅黑" pitchFamily="34" charset="-122"/>
                </a:rPr>
                <a:t>好友</a:t>
              </a:r>
              <a:endParaRPr kumimoji="0" lang="zh-CN" altLang="en-US" sz="1100" b="1" dirty="0">
                <a:solidFill>
                  <a:srgbClr val="25221E"/>
                </a:solidFill>
                <a:latin typeface="微软雅黑" pitchFamily="34" charset="-122"/>
                <a:ea typeface="微软雅黑" pitchFamily="34" charset="-122"/>
              </a:endParaRPr>
            </a:p>
          </p:txBody>
        </p:sp>
      </p:grpSp>
      <p:sp>
        <p:nvSpPr>
          <p:cNvPr id="92" name="Rectangle 9"/>
          <p:cNvSpPr>
            <a:spLocks noChangeArrowheads="1"/>
          </p:cNvSpPr>
          <p:nvPr/>
        </p:nvSpPr>
        <p:spPr bwMode="auto">
          <a:xfrm>
            <a:off x="949635" y="1572753"/>
            <a:ext cx="14343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itchFamily="34" charset="-122"/>
                <a:ea typeface="微软雅黑" pitchFamily="34" charset="-122"/>
              </a:rPr>
              <a:t>使用 </a:t>
            </a:r>
            <a:r>
              <a:rPr kumimoji="0" lang="en-US" altLang="zh-CN" sz="1600" b="1" dirty="0" smtClean="0">
                <a:solidFill>
                  <a:srgbClr val="0000FF"/>
                </a:solidFill>
                <a:latin typeface="微软雅黑" pitchFamily="34" charset="-122"/>
                <a:ea typeface="微软雅黑" pitchFamily="34" charset="-122"/>
              </a:rPr>
              <a:t>POP3</a:t>
            </a:r>
          </a:p>
          <a:p>
            <a:pPr algn="ctr" eaLnBrk="1" hangingPunct="1">
              <a:lnSpc>
                <a:spcPts val="1800"/>
              </a:lnSpc>
            </a:pPr>
            <a:r>
              <a:rPr kumimoji="0" lang="zh-CN" altLang="en-US" sz="1600" b="1" dirty="0" smtClean="0">
                <a:solidFill>
                  <a:srgbClr val="0000FF"/>
                </a:solidFill>
                <a:latin typeface="微软雅黑" pitchFamily="34" charset="-122"/>
                <a:ea typeface="微软雅黑" pitchFamily="34" charset="-122"/>
              </a:rPr>
              <a:t>读取邮件</a:t>
            </a:r>
            <a:endParaRPr kumimoji="0" lang="zh-CN" altLang="en-US" sz="1600" b="1" dirty="0">
              <a:solidFill>
                <a:srgbClr val="0000FF"/>
              </a:solidFill>
              <a:latin typeface="微软雅黑" pitchFamily="34" charset="-122"/>
              <a:ea typeface="微软雅黑" pitchFamily="34" charset="-122"/>
            </a:endParaRPr>
          </a:p>
        </p:txBody>
      </p:sp>
      <p:sp>
        <p:nvSpPr>
          <p:cNvPr id="93" name="Rectangle 9"/>
          <p:cNvSpPr>
            <a:spLocks noChangeArrowheads="1"/>
          </p:cNvSpPr>
          <p:nvPr/>
        </p:nvSpPr>
        <p:spPr bwMode="auto">
          <a:xfrm>
            <a:off x="942975" y="3021536"/>
            <a:ext cx="1440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itchFamily="34" charset="-122"/>
                <a:ea typeface="微软雅黑" pitchFamily="34" charset="-122"/>
              </a:rPr>
              <a:t>使用 </a:t>
            </a:r>
            <a:r>
              <a:rPr kumimoji="0" lang="en-US" altLang="zh-CN" sz="1600" b="1" dirty="0" smtClean="0">
                <a:solidFill>
                  <a:srgbClr val="0000FF"/>
                </a:solidFill>
                <a:latin typeface="微软雅黑" pitchFamily="34" charset="-122"/>
                <a:ea typeface="微软雅黑" pitchFamily="34" charset="-122"/>
              </a:rPr>
              <a:t>IMAP</a:t>
            </a:r>
          </a:p>
          <a:p>
            <a:pPr algn="ctr" eaLnBrk="1" hangingPunct="1">
              <a:lnSpc>
                <a:spcPts val="1800"/>
              </a:lnSpc>
            </a:pPr>
            <a:r>
              <a:rPr kumimoji="0" lang="zh-CN" altLang="en-US" sz="1600" b="1" dirty="0" smtClean="0">
                <a:solidFill>
                  <a:srgbClr val="0000FF"/>
                </a:solidFill>
                <a:latin typeface="微软雅黑" pitchFamily="34" charset="-122"/>
                <a:ea typeface="微软雅黑" pitchFamily="34" charset="-122"/>
              </a:rPr>
              <a:t>读取邮件</a:t>
            </a:r>
            <a:endParaRPr kumimoji="0" lang="zh-CN" altLang="en-US" sz="1600" b="1" dirty="0">
              <a:solidFill>
                <a:srgbClr val="0000FF"/>
              </a:solidFill>
              <a:latin typeface="微软雅黑" pitchFamily="34" charset="-122"/>
              <a:ea typeface="微软雅黑" pitchFamily="34" charset="-122"/>
            </a:endParaRPr>
          </a:p>
        </p:txBody>
      </p:sp>
      <p:sp>
        <p:nvSpPr>
          <p:cNvPr id="58"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extLst>
      <p:ext uri="{BB962C8B-B14F-4D97-AF65-F5344CB8AC3E}">
        <p14:creationId xmlns:p14="http://schemas.microsoft.com/office/powerpoint/2010/main" val="42338019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2953462"/>
            <a:ext cx="8048776" cy="13522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441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976061" y="571202"/>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必须注意</a:t>
            </a:r>
          </a:p>
        </p:txBody>
      </p:sp>
      <p:sp>
        <p:nvSpPr>
          <p:cNvPr id="4" name="Rectangle 68"/>
          <p:cNvSpPr>
            <a:spLocks noChangeArrowheads="1"/>
          </p:cNvSpPr>
          <p:nvPr/>
        </p:nvSpPr>
        <p:spPr bwMode="auto">
          <a:xfrm>
            <a:off x="556963" y="965503"/>
            <a:ext cx="804877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邮件</a:t>
            </a:r>
            <a:r>
              <a:rPr lang="zh-CN" altLang="en-US" sz="2000" b="1" dirty="0">
                <a:latin typeface="微软雅黑" pitchFamily="34" charset="-122"/>
                <a:ea typeface="微软雅黑" pitchFamily="34" charset="-122"/>
              </a:rPr>
              <a:t>读取协议 </a:t>
            </a:r>
            <a:r>
              <a:rPr lang="en-US" altLang="zh-CN" sz="2000" b="1" dirty="0" smtClean="0">
                <a:latin typeface="微软雅黑" pitchFamily="34" charset="-122"/>
                <a:ea typeface="微软雅黑" pitchFamily="34" charset="-122"/>
              </a:rPr>
              <a:t>POP3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IMAP </a:t>
            </a:r>
            <a:r>
              <a:rPr lang="zh-CN" altLang="en-US" sz="2000" b="1" dirty="0">
                <a:latin typeface="微软雅黑" pitchFamily="34" charset="-122"/>
                <a:ea typeface="微软雅黑" pitchFamily="34" charset="-122"/>
              </a:rPr>
              <a:t>与邮件传送协议 </a:t>
            </a:r>
            <a:r>
              <a:rPr lang="en-US" altLang="zh-CN" sz="2000" b="1" dirty="0">
                <a:latin typeface="微软雅黑" pitchFamily="34" charset="-122"/>
                <a:ea typeface="微软雅黑" pitchFamily="34" charset="-122"/>
              </a:rPr>
              <a:t>SMTP </a:t>
            </a:r>
            <a:r>
              <a:rPr lang="zh-CN" altLang="en-US" sz="2000" b="1" dirty="0" smtClean="0">
                <a:latin typeface="微软雅黑" pitchFamily="34" charset="-122"/>
                <a:ea typeface="微软雅黑" pitchFamily="34" charset="-122"/>
              </a:rPr>
              <a:t>完全不同。</a:t>
            </a: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发信人的用户代理向源邮件服务器发送邮件，以及源邮件服务器向目的邮件服务器发送邮件，都是使用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协议。</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而 </a:t>
            </a:r>
            <a:r>
              <a:rPr lang="en-US" altLang="zh-CN" sz="2000" b="1" dirty="0">
                <a:latin typeface="微软雅黑" pitchFamily="34" charset="-122"/>
                <a:ea typeface="微软雅黑" pitchFamily="34" charset="-122"/>
              </a:rPr>
              <a:t>POP </a:t>
            </a:r>
            <a:r>
              <a:rPr lang="zh-CN" altLang="en-US" sz="2000" b="1" dirty="0">
                <a:latin typeface="微软雅黑" pitchFamily="34" charset="-122"/>
                <a:ea typeface="微软雅黑" pitchFamily="34" charset="-122"/>
              </a:rPr>
              <a:t>协议或 </a:t>
            </a:r>
            <a:r>
              <a:rPr lang="en-US" altLang="zh-CN" sz="2000" b="1" dirty="0">
                <a:latin typeface="微软雅黑" pitchFamily="34" charset="-122"/>
                <a:ea typeface="微软雅黑" pitchFamily="34" charset="-122"/>
              </a:rPr>
              <a:t>IMAP </a:t>
            </a:r>
            <a:r>
              <a:rPr lang="zh-CN" altLang="en-US" sz="2000" b="1" dirty="0">
                <a:latin typeface="微软雅黑" pitchFamily="34" charset="-122"/>
                <a:ea typeface="微软雅黑" pitchFamily="34" charset="-122"/>
              </a:rPr>
              <a:t>协议则是用户从目的邮件服务器上读取邮件所使用的协议。 </a:t>
            </a:r>
          </a:p>
        </p:txBody>
      </p:sp>
      <p:cxnSp>
        <p:nvCxnSpPr>
          <p:cNvPr id="20" name="直接连接符 19"/>
          <p:cNvCxnSpPr/>
          <p:nvPr/>
        </p:nvCxnSpPr>
        <p:spPr>
          <a:xfrm>
            <a:off x="1224019" y="3416863"/>
            <a:ext cx="6697519" cy="0"/>
          </a:xfrm>
          <a:prstGeom prst="line">
            <a:avLst/>
          </a:prstGeom>
          <a:ln w="28575">
            <a:solidFill>
              <a:srgbClr val="CC00CC"/>
            </a:solidFill>
            <a:prstDash val="solid"/>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1251674" y="3027323"/>
            <a:ext cx="4953053" cy="310715"/>
            <a:chOff x="1251674" y="3027323"/>
            <a:chExt cx="4953053" cy="310715"/>
          </a:xfrm>
        </p:grpSpPr>
        <p:cxnSp>
          <p:nvCxnSpPr>
            <p:cNvPr id="24" name="直接连接符 23"/>
            <p:cNvCxnSpPr/>
            <p:nvPr/>
          </p:nvCxnSpPr>
          <p:spPr>
            <a:xfrm>
              <a:off x="1251674"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914993"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6204727"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251674" y="3027323"/>
              <a:ext cx="1663319" cy="270202"/>
              <a:chOff x="1251674" y="3027323"/>
              <a:chExt cx="1663319" cy="270202"/>
            </a:xfrm>
          </p:grpSpPr>
          <p:cxnSp>
            <p:nvCxnSpPr>
              <p:cNvPr id="28" name="直接连接符 27"/>
              <p:cNvCxnSpPr/>
              <p:nvPr/>
            </p:nvCxnSpPr>
            <p:spPr>
              <a:xfrm>
                <a:off x="1251674" y="3264468"/>
                <a:ext cx="1663319"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 Box 390"/>
              <p:cNvSpPr txBox="1">
                <a:spLocks noChangeArrowheads="1"/>
              </p:cNvSpPr>
              <p:nvPr/>
            </p:nvSpPr>
            <p:spPr bwMode="auto">
              <a:xfrm>
                <a:off x="1672136"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SMTP</a:t>
                </a:r>
                <a:endParaRPr kumimoji="1" lang="en-US" altLang="zh-CN" sz="1100" b="1" dirty="0">
                  <a:solidFill>
                    <a:srgbClr val="C00000"/>
                  </a:solidFill>
                  <a:latin typeface="微软雅黑" pitchFamily="34" charset="-122"/>
                  <a:ea typeface="微软雅黑" pitchFamily="34" charset="-122"/>
                </a:endParaRPr>
              </a:p>
            </p:txBody>
          </p:sp>
        </p:grpSp>
        <p:grpSp>
          <p:nvGrpSpPr>
            <p:cNvPr id="14" name="组合 13"/>
            <p:cNvGrpSpPr/>
            <p:nvPr/>
          </p:nvGrpSpPr>
          <p:grpSpPr>
            <a:xfrm>
              <a:off x="2914993" y="3027323"/>
              <a:ext cx="3289734" cy="270202"/>
              <a:chOff x="2914993" y="3027323"/>
              <a:chExt cx="3289734" cy="270202"/>
            </a:xfrm>
          </p:grpSpPr>
          <p:cxnSp>
            <p:nvCxnSpPr>
              <p:cNvPr id="30" name="直接连接符 29"/>
              <p:cNvCxnSpPr/>
              <p:nvPr/>
            </p:nvCxnSpPr>
            <p:spPr>
              <a:xfrm>
                <a:off x="2914993" y="3264468"/>
                <a:ext cx="3289734"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 Box 390"/>
              <p:cNvSpPr txBox="1">
                <a:spLocks noChangeArrowheads="1"/>
              </p:cNvSpPr>
              <p:nvPr/>
            </p:nvSpPr>
            <p:spPr bwMode="auto">
              <a:xfrm>
                <a:off x="4262342"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SMTP</a:t>
                </a:r>
                <a:endParaRPr kumimoji="1" lang="en-US" altLang="zh-CN" sz="1100" b="1" dirty="0">
                  <a:solidFill>
                    <a:srgbClr val="C00000"/>
                  </a:solidFill>
                  <a:latin typeface="微软雅黑" pitchFamily="34" charset="-122"/>
                  <a:ea typeface="微软雅黑" pitchFamily="34" charset="-122"/>
                </a:endParaRPr>
              </a:p>
            </p:txBody>
          </p:sp>
        </p:grpSp>
      </p:grpSp>
      <p:grpSp>
        <p:nvGrpSpPr>
          <p:cNvPr id="19" name="组合 18"/>
          <p:cNvGrpSpPr/>
          <p:nvPr/>
        </p:nvGrpSpPr>
        <p:grpSpPr>
          <a:xfrm>
            <a:off x="6204727" y="3027323"/>
            <a:ext cx="1685268" cy="310715"/>
            <a:chOff x="6204727" y="3027323"/>
            <a:chExt cx="1685268" cy="310715"/>
          </a:xfrm>
        </p:grpSpPr>
        <p:cxnSp>
          <p:nvCxnSpPr>
            <p:cNvPr id="27" name="直接连接符 26"/>
            <p:cNvCxnSpPr/>
            <p:nvPr/>
          </p:nvCxnSpPr>
          <p:spPr>
            <a:xfrm>
              <a:off x="7889995"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组合 17"/>
            <p:cNvGrpSpPr/>
            <p:nvPr/>
          </p:nvGrpSpPr>
          <p:grpSpPr>
            <a:xfrm>
              <a:off x="6204727" y="3027323"/>
              <a:ext cx="1663319" cy="270202"/>
              <a:chOff x="6204727" y="3027323"/>
              <a:chExt cx="1663319" cy="270202"/>
            </a:xfrm>
          </p:grpSpPr>
          <p:cxnSp>
            <p:nvCxnSpPr>
              <p:cNvPr id="32" name="直接连接符 31"/>
              <p:cNvCxnSpPr/>
              <p:nvPr/>
            </p:nvCxnSpPr>
            <p:spPr>
              <a:xfrm>
                <a:off x="6204727" y="3264468"/>
                <a:ext cx="1663319" cy="0"/>
              </a:xfrm>
              <a:prstGeom prst="line">
                <a:avLst/>
              </a:prstGeom>
              <a:ln w="12700">
                <a:solidFill>
                  <a:srgbClr val="0000FF"/>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 Box 390"/>
              <p:cNvSpPr txBox="1">
                <a:spLocks noChangeArrowheads="1"/>
              </p:cNvSpPr>
              <p:nvPr/>
            </p:nvSpPr>
            <p:spPr bwMode="auto">
              <a:xfrm>
                <a:off x="6395761" y="3027323"/>
                <a:ext cx="12298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0000FF"/>
                    </a:solidFill>
                    <a:latin typeface="微软雅黑" pitchFamily="34" charset="-122"/>
                    <a:ea typeface="微软雅黑" pitchFamily="34" charset="-122"/>
                  </a:rPr>
                  <a:t>POP3 </a:t>
                </a:r>
                <a:r>
                  <a:rPr kumimoji="1" lang="en-US" altLang="zh-CN" sz="1100" b="1" dirty="0">
                    <a:solidFill>
                      <a:srgbClr val="0000FF"/>
                    </a:solidFill>
                    <a:latin typeface="微软雅黑" pitchFamily="34" charset="-122"/>
                    <a:ea typeface="微软雅黑" pitchFamily="34" charset="-122"/>
                  </a:rPr>
                  <a:t> </a:t>
                </a:r>
                <a:r>
                  <a:rPr kumimoji="1" lang="zh-CN" altLang="en-US" sz="1100" b="1" dirty="0" smtClean="0">
                    <a:solidFill>
                      <a:srgbClr val="0000FF"/>
                    </a:solidFill>
                    <a:latin typeface="微软雅黑" pitchFamily="34" charset="-122"/>
                    <a:ea typeface="微软雅黑" pitchFamily="34" charset="-122"/>
                  </a:rPr>
                  <a:t>或 </a:t>
                </a:r>
                <a:r>
                  <a:rPr kumimoji="1" lang="en-US" altLang="zh-CN" sz="1100" b="1" dirty="0" smtClean="0">
                    <a:solidFill>
                      <a:srgbClr val="0000FF"/>
                    </a:solidFill>
                    <a:latin typeface="微软雅黑" pitchFamily="34" charset="-122"/>
                    <a:ea typeface="微软雅黑" pitchFamily="34" charset="-122"/>
                  </a:rPr>
                  <a:t>IMAP</a:t>
                </a:r>
                <a:endParaRPr kumimoji="1" lang="en-US" altLang="zh-CN" sz="1100" b="1" dirty="0">
                  <a:solidFill>
                    <a:srgbClr val="0000FF"/>
                  </a:solidFill>
                  <a:latin typeface="微软雅黑" pitchFamily="34" charset="-122"/>
                  <a:ea typeface="微软雅黑" pitchFamily="34" charset="-122"/>
                </a:endParaRPr>
              </a:p>
            </p:txBody>
          </p:sp>
        </p:grpSp>
      </p:grpSp>
      <p:grpSp>
        <p:nvGrpSpPr>
          <p:cNvPr id="15" name="组合 14"/>
          <p:cNvGrpSpPr/>
          <p:nvPr/>
        </p:nvGrpSpPr>
        <p:grpSpPr>
          <a:xfrm>
            <a:off x="967090" y="3464161"/>
            <a:ext cx="7202234" cy="776214"/>
            <a:chOff x="967090" y="3464161"/>
            <a:chExt cx="7202234" cy="776214"/>
          </a:xfrm>
        </p:grpSpPr>
        <p:sp>
          <p:nvSpPr>
            <p:cNvPr id="5" name="矩形 4"/>
            <p:cNvSpPr/>
            <p:nvPr/>
          </p:nvSpPr>
          <p:spPr>
            <a:xfrm>
              <a:off x="2484069"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itchFamily="34" charset="-122"/>
                  <a:ea typeface="微软雅黑" pitchFamily="34" charset="-122"/>
                </a:rPr>
                <a:t>邮件</a:t>
              </a:r>
              <a:endParaRPr lang="en-US" altLang="zh-CN" sz="1200" b="1" dirty="0" smtClean="0">
                <a:solidFill>
                  <a:schemeClr val="bg1"/>
                </a:solidFill>
                <a:latin typeface="微软雅黑" pitchFamily="34" charset="-122"/>
                <a:ea typeface="微软雅黑" pitchFamily="34" charset="-122"/>
              </a:endParaRPr>
            </a:p>
            <a:p>
              <a:pPr algn="ct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sp>
          <p:nvSpPr>
            <p:cNvPr id="6" name="矩形 5"/>
            <p:cNvSpPr/>
            <p:nvPr/>
          </p:nvSpPr>
          <p:spPr>
            <a:xfrm>
              <a:off x="5773811"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itchFamily="34" charset="-122"/>
                  <a:ea typeface="微软雅黑" pitchFamily="34" charset="-122"/>
                </a:rPr>
                <a:t>邮件</a:t>
              </a:r>
              <a:endParaRPr lang="en-US" altLang="zh-CN" sz="1200" b="1" dirty="0" smtClean="0">
                <a:solidFill>
                  <a:schemeClr val="bg1"/>
                </a:solidFill>
                <a:latin typeface="微软雅黑" pitchFamily="34" charset="-122"/>
                <a:ea typeface="微软雅黑" pitchFamily="34" charset="-122"/>
              </a:endParaRPr>
            </a:p>
            <a:p>
              <a:pPr algn="ctr"/>
              <a:r>
                <a:rPr lang="zh-CN" altLang="en-US" sz="1200" b="1" dirty="0" smtClean="0">
                  <a:solidFill>
                    <a:schemeClr val="bg1"/>
                  </a:solidFill>
                  <a:latin typeface="微软雅黑" pitchFamily="34" charset="-122"/>
                  <a:ea typeface="微软雅黑" pitchFamily="34" charset="-122"/>
                </a:rPr>
                <a:t>服务器</a:t>
              </a:r>
              <a:endParaRPr lang="zh-CN" altLang="en-US" sz="1200" b="1" dirty="0">
                <a:solidFill>
                  <a:schemeClr val="bg1"/>
                </a:solidFill>
                <a:latin typeface="微软雅黑" pitchFamily="34" charset="-122"/>
                <a:ea typeface="微软雅黑" pitchFamily="34" charset="-122"/>
              </a:endParaRPr>
            </a:p>
          </p:txBody>
        </p:sp>
        <p:pic>
          <p:nvPicPr>
            <p:cNvPr id="8"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707463" y="353912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8109" y="3539120"/>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p:cNvCxnSpPr>
              <a:stCxn id="5" idx="3"/>
              <a:endCxn id="6" idx="1"/>
            </p:cNvCxnSpPr>
            <p:nvPr/>
          </p:nvCxnSpPr>
          <p:spPr>
            <a:xfrm>
              <a:off x="3345917" y="3742685"/>
              <a:ext cx="2427894"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 name="Freeform 1208"/>
            <p:cNvSpPr>
              <a:spLocks/>
            </p:cNvSpPr>
            <p:nvPr/>
          </p:nvSpPr>
          <p:spPr bwMode="ltGray">
            <a:xfrm>
              <a:off x="3768255" y="3464161"/>
              <a:ext cx="1600702"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400" b="1" dirty="0" smtClean="0">
                  <a:latin typeface="微软雅黑" pitchFamily="34" charset="-122"/>
                  <a:ea typeface="微软雅黑" pitchFamily="34" charset="-122"/>
                </a:rPr>
                <a:t>互联网</a:t>
              </a:r>
              <a:endParaRPr lang="zh-CN" altLang="en-US" sz="1400" b="1" dirty="0">
                <a:latin typeface="微软雅黑" pitchFamily="34" charset="-122"/>
                <a:ea typeface="微软雅黑" pitchFamily="34" charset="-122"/>
              </a:endParaRPr>
            </a:p>
          </p:txBody>
        </p:sp>
        <p:cxnSp>
          <p:nvCxnSpPr>
            <p:cNvPr id="13" name="直接连接符 12"/>
            <p:cNvCxnSpPr>
              <a:stCxn id="9" idx="3"/>
              <a:endCxn id="5" idx="1"/>
            </p:cNvCxnSpPr>
            <p:nvPr/>
          </p:nvCxnSpPr>
          <p:spPr>
            <a:xfrm>
              <a:off x="1455239" y="3742685"/>
              <a:ext cx="102883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a:stCxn id="6" idx="3"/>
              <a:endCxn id="8" idx="1"/>
            </p:cNvCxnSpPr>
            <p:nvPr/>
          </p:nvCxnSpPr>
          <p:spPr>
            <a:xfrm>
              <a:off x="6635659" y="3742685"/>
              <a:ext cx="1071804"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7" name="Text Box 390"/>
            <p:cNvSpPr txBox="1">
              <a:spLocks noChangeArrowheads="1"/>
            </p:cNvSpPr>
            <p:nvPr/>
          </p:nvSpPr>
          <p:spPr bwMode="auto">
            <a:xfrm>
              <a:off x="1429810"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LAN / WAN</a:t>
              </a:r>
              <a:endParaRPr kumimoji="1" lang="en-US" altLang="zh-CN" sz="1100" b="1" dirty="0">
                <a:latin typeface="微软雅黑" pitchFamily="34" charset="-122"/>
                <a:ea typeface="微软雅黑" pitchFamily="34" charset="-122"/>
              </a:endParaRPr>
            </a:p>
          </p:txBody>
        </p:sp>
        <p:sp>
          <p:nvSpPr>
            <p:cNvPr id="38" name="Text Box 390"/>
            <p:cNvSpPr txBox="1">
              <a:spLocks noChangeArrowheads="1"/>
            </p:cNvSpPr>
            <p:nvPr/>
          </p:nvSpPr>
          <p:spPr bwMode="auto">
            <a:xfrm>
              <a:off x="6663249"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LAN / WAN</a:t>
              </a:r>
              <a:endParaRPr kumimoji="1" lang="en-US" altLang="zh-CN" sz="1100" b="1" dirty="0">
                <a:latin typeface="微软雅黑" pitchFamily="34" charset="-122"/>
                <a:ea typeface="微软雅黑" pitchFamily="34" charset="-122"/>
              </a:endParaRPr>
            </a:p>
          </p:txBody>
        </p:sp>
        <p:sp>
          <p:nvSpPr>
            <p:cNvPr id="10" name="矩形 9"/>
            <p:cNvSpPr/>
            <p:nvPr/>
          </p:nvSpPr>
          <p:spPr>
            <a:xfrm>
              <a:off x="967090" y="3932598"/>
              <a:ext cx="543739" cy="307777"/>
            </a:xfrm>
            <a:prstGeom prst="rect">
              <a:avLst/>
            </a:prstGeom>
          </p:spPr>
          <p:txBody>
            <a:bodyPr wrap="none">
              <a:spAutoFit/>
            </a:bodyPr>
            <a:lstStyle/>
            <a:p>
              <a:r>
                <a:rPr lang="zh-CN" altLang="en-US" sz="1400" b="1" dirty="0">
                  <a:latin typeface="微软雅黑" pitchFamily="34" charset="-122"/>
                  <a:ea typeface="微软雅黑" pitchFamily="34" charset="-122"/>
                </a:rPr>
                <a:t>发信</a:t>
              </a:r>
              <a:endParaRPr lang="zh-CN" altLang="en-US" sz="1400" dirty="0"/>
            </a:p>
          </p:txBody>
        </p:sp>
        <p:sp>
          <p:nvSpPr>
            <p:cNvPr id="31" name="矩形 30"/>
            <p:cNvSpPr/>
            <p:nvPr/>
          </p:nvSpPr>
          <p:spPr>
            <a:xfrm>
              <a:off x="7625585" y="3932598"/>
              <a:ext cx="543739" cy="307777"/>
            </a:xfrm>
            <a:prstGeom prst="rect">
              <a:avLst/>
            </a:prstGeom>
          </p:spPr>
          <p:txBody>
            <a:bodyPr wrap="none">
              <a:spAutoFit/>
            </a:bodyPr>
            <a:lstStyle/>
            <a:p>
              <a:r>
                <a:rPr lang="zh-CN" altLang="en-US" sz="1400" b="1" dirty="0">
                  <a:latin typeface="微软雅黑" pitchFamily="34" charset="-122"/>
                  <a:ea typeface="微软雅黑" pitchFamily="34" charset="-122"/>
                </a:rPr>
                <a:t>读取</a:t>
              </a:r>
              <a:endParaRPr lang="zh-CN" altLang="en-US" sz="1400" dirty="0"/>
            </a:p>
          </p:txBody>
        </p:sp>
      </p:grpSp>
      <p:sp>
        <p:nvSpPr>
          <p:cNvPr id="39" name="Rectangle 4"/>
          <p:cNvSpPr>
            <a:spLocks noChangeArrowheads="1"/>
          </p:cNvSpPr>
          <p:nvPr/>
        </p:nvSpPr>
        <p:spPr bwMode="auto">
          <a:xfrm>
            <a:off x="7167880" y="37227"/>
            <a:ext cx="19735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邮件读取协议</a:t>
            </a:r>
            <a:r>
              <a:rPr lang="en-US" altLang="zh-CN" sz="1100" b="1" dirty="0">
                <a:solidFill>
                  <a:srgbClr val="0070C0"/>
                </a:solidFill>
                <a:latin typeface="微软雅黑" pitchFamily="34" charset="-122"/>
                <a:ea typeface="微软雅黑" pitchFamily="34" charset="-122"/>
              </a:rPr>
              <a:t>POP3</a:t>
            </a:r>
            <a:r>
              <a:rPr lang="zh-CN" altLang="en-US" sz="1100" b="1" dirty="0">
                <a:solidFill>
                  <a:srgbClr val="0070C0"/>
                </a:solidFill>
                <a:latin typeface="微软雅黑" pitchFamily="34" charset="-122"/>
                <a:ea typeface="微软雅黑" pitchFamily="34" charset="-122"/>
              </a:rPr>
              <a:t>和</a:t>
            </a:r>
            <a:r>
              <a:rPr lang="en-US" altLang="zh-CN" sz="1100" b="1" dirty="0">
                <a:solidFill>
                  <a:srgbClr val="0070C0"/>
                </a:solidFill>
                <a:latin typeface="微软雅黑" pitchFamily="34" charset="-122"/>
                <a:ea typeface="微软雅黑" pitchFamily="34" charset="-122"/>
              </a:rPr>
              <a:t>IMAP</a:t>
            </a:r>
          </a:p>
        </p:txBody>
      </p:sp>
    </p:spTree>
    <p:custDataLst>
      <p:tags r:id="rId1"/>
    </p:custDataLst>
    <p:extLst>
      <p:ext uri="{BB962C8B-B14F-4D97-AF65-F5344CB8AC3E}">
        <p14:creationId xmlns:p14="http://schemas.microsoft.com/office/powerpoint/2010/main" val="21859107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10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4">
                                            <p:txEl>
                                              <p:pRg st="2" end="2"/>
                                            </p:txEl>
                                          </p:spTgt>
                                        </p:tgtEl>
                                        <p:attrNameLst>
                                          <p:attrName>style.visibility</p:attrName>
                                        </p:attrNameLst>
                                      </p:cBhvr>
                                      <p:to>
                                        <p:strVal val="visible"/>
                                      </p:to>
                                    </p:set>
                                    <p:animEffect transition="in" filter="fade">
                                      <p:cBhvr>
                                        <p:cTn id="16"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070"/>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940786" y="557799"/>
            <a:ext cx="32624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基于</a:t>
            </a:r>
            <a:r>
              <a:rPr lang="zh-CN" altLang="en-US" sz="2400" b="1" dirty="0">
                <a:solidFill>
                  <a:schemeClr val="bg1"/>
                </a:solidFill>
                <a:latin typeface="微软雅黑" pitchFamily="34" charset="-122"/>
                <a:ea typeface="微软雅黑" pitchFamily="34" charset="-122"/>
              </a:rPr>
              <a:t>万维网的电子邮件</a:t>
            </a:r>
          </a:p>
        </p:txBody>
      </p:sp>
      <p:sp>
        <p:nvSpPr>
          <p:cNvPr id="25" name="Rectangle 68"/>
          <p:cNvSpPr>
            <a:spLocks noChangeArrowheads="1"/>
          </p:cNvSpPr>
          <p:nvPr/>
        </p:nvSpPr>
        <p:spPr bwMode="auto">
          <a:xfrm>
            <a:off x="556963" y="981006"/>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itchFamily="34" charset="-122"/>
                <a:ea typeface="微软雅黑" pitchFamily="34" charset="-122"/>
              </a:rPr>
              <a:t>用户代理 </a:t>
            </a:r>
            <a:r>
              <a:rPr lang="en-US" altLang="zh-CN" sz="2000" b="1" dirty="0" smtClean="0">
                <a:latin typeface="微软雅黑" pitchFamily="34" charset="-122"/>
                <a:ea typeface="微软雅黑" pitchFamily="34" charset="-122"/>
              </a:rPr>
              <a:t>(UA) </a:t>
            </a:r>
            <a:r>
              <a:rPr lang="zh-CN" altLang="en-US" sz="2000" b="1" dirty="0" smtClean="0">
                <a:latin typeface="微软雅黑" pitchFamily="34" charset="-122"/>
                <a:ea typeface="微软雅黑" pitchFamily="34" charset="-122"/>
              </a:rPr>
              <a:t>的</a:t>
            </a:r>
            <a:r>
              <a:rPr lang="zh-CN" altLang="en-US" sz="2000" b="1" dirty="0" smtClean="0">
                <a:solidFill>
                  <a:srgbClr val="0000FF"/>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必须</a:t>
            </a:r>
            <a:r>
              <a:rPr lang="zh-CN" altLang="en-US" sz="2000" b="1" dirty="0">
                <a:latin typeface="微软雅黑" pitchFamily="34" charset="-122"/>
                <a:ea typeface="微软雅黑" pitchFamily="34" charset="-122"/>
              </a:rPr>
              <a:t>在计算机中安装用户代理</a:t>
            </a:r>
            <a:r>
              <a:rPr lang="zh-CN" altLang="en-US" sz="2000" b="1" dirty="0" smtClean="0">
                <a:latin typeface="微软雅黑" pitchFamily="34" charset="-122"/>
                <a:ea typeface="微软雅黑" pitchFamily="34" charset="-122"/>
              </a:rPr>
              <a:t>软件。</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收发邮件不方便。</a:t>
            </a:r>
            <a:endParaRPr lang="en-US" altLang="zh-CN" sz="2000" b="1" dirty="0" smtClean="0">
              <a:latin typeface="微软雅黑" pitchFamily="34" charset="-122"/>
              <a:ea typeface="微软雅黑" pitchFamily="34" charset="-122"/>
            </a:endParaRPr>
          </a:p>
          <a:p>
            <a:pPr eaLnBrk="0" hangingPunct="0">
              <a:lnSpc>
                <a:spcPts val="3300"/>
              </a:lnSpc>
              <a:buClr>
                <a:srgbClr val="0070C0"/>
              </a:buClr>
            </a:pPr>
            <a:r>
              <a:rPr lang="zh-CN" altLang="en-US" sz="2000" b="1" dirty="0">
                <a:latin typeface="微软雅黑" pitchFamily="34" charset="-122"/>
                <a:ea typeface="微软雅黑" pitchFamily="34" charset="-122"/>
              </a:rPr>
              <a:t>万维网电子邮件</a:t>
            </a:r>
            <a:r>
              <a:rPr lang="zh-CN" altLang="en-US" sz="2000" b="1" dirty="0" smtClean="0">
                <a:solidFill>
                  <a:srgbClr val="C00000"/>
                </a:solidFill>
                <a:latin typeface="微软雅黑" pitchFamily="34" charset="-122"/>
                <a:ea typeface="微软雅黑" pitchFamily="34" charset="-122"/>
              </a:rPr>
              <a:t>优点：</a:t>
            </a:r>
            <a:endParaRPr lang="zh-CN" altLang="en-US" sz="2000" b="1" dirty="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不需要在计算机中再安装用户代理软件。</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计算机能联网，就能非常方便地收发电子邮件。</a:t>
            </a: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界面</a:t>
            </a:r>
            <a:r>
              <a:rPr lang="zh-CN" altLang="en-US" sz="2000" b="1" dirty="0">
                <a:latin typeface="微软雅黑" pitchFamily="34" charset="-122"/>
                <a:ea typeface="微软雅黑" pitchFamily="34" charset="-122"/>
              </a:rPr>
              <a:t>非常友好。</a:t>
            </a:r>
          </a:p>
          <a:p>
            <a:pPr marL="285750" indent="-285750" eaLnBrk="0" hangingPunct="0">
              <a:lnSpc>
                <a:spcPts val="33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p:txBody>
      </p:sp>
      <p:sp>
        <p:nvSpPr>
          <p:cNvPr id="6" name="Rectangle 4"/>
          <p:cNvSpPr>
            <a:spLocks noChangeArrowheads="1"/>
          </p:cNvSpPr>
          <p:nvPr/>
        </p:nvSpPr>
        <p:spPr bwMode="auto">
          <a:xfrm>
            <a:off x="7381240" y="37227"/>
            <a:ext cx="17602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基于万维网的电子邮件</a:t>
            </a:r>
          </a:p>
        </p:txBody>
      </p:sp>
    </p:spTree>
    <p:custDataLst>
      <p:tags r:id="rId1"/>
    </p:custDataLst>
    <p:extLst>
      <p:ext uri="{BB962C8B-B14F-4D97-AF65-F5344CB8AC3E}">
        <p14:creationId xmlns:p14="http://schemas.microsoft.com/office/powerpoint/2010/main" val="25701493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fade">
                                      <p:cBhvr>
                                        <p:cTn id="7" dur="500"/>
                                        <p:tgtEl>
                                          <p:spTgt spid="25">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5">
                                            <p:txEl>
                                              <p:pRg st="4" end="4"/>
                                            </p:txEl>
                                          </p:spTgt>
                                        </p:tgtEl>
                                        <p:attrNameLst>
                                          <p:attrName>style.visibility</p:attrName>
                                        </p:attrNameLst>
                                      </p:cBhvr>
                                      <p:to>
                                        <p:strVal val="visible"/>
                                      </p:to>
                                    </p:set>
                                    <p:animEffect transition="in" filter="fade">
                                      <p:cBhvr>
                                        <p:cTn id="10" dur="500"/>
                                        <p:tgtEl>
                                          <p:spTgt spid="25">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5">
                                            <p:txEl>
                                              <p:pRg st="5" end="5"/>
                                            </p:txEl>
                                          </p:spTgt>
                                        </p:tgtEl>
                                        <p:attrNameLst>
                                          <p:attrName>style.visibility</p:attrName>
                                        </p:attrNameLst>
                                      </p:cBhvr>
                                      <p:to>
                                        <p:strVal val="visible"/>
                                      </p:to>
                                    </p:set>
                                    <p:animEffect transition="in" filter="fade">
                                      <p:cBhvr>
                                        <p:cTn id="13" dur="500"/>
                                        <p:tgtEl>
                                          <p:spTgt spid="25">
                                            <p:txEl>
                                              <p:pRg st="5" end="5"/>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5">
                                            <p:txEl>
                                              <p:pRg st="6" end="6"/>
                                            </p:txEl>
                                          </p:spTgt>
                                        </p:tgtEl>
                                        <p:attrNameLst>
                                          <p:attrName>style.visibility</p:attrName>
                                        </p:attrNameLst>
                                      </p:cBhvr>
                                      <p:to>
                                        <p:strVal val="visible"/>
                                      </p:to>
                                    </p:set>
                                    <p:animEffect transition="in" filter="fade">
                                      <p:cBhvr>
                                        <p:cTn id="16" dur="500"/>
                                        <p:tgtEl>
                                          <p:spTgt spid="2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206620" y="574096"/>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基于万维网的电子邮件</a:t>
            </a: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HTTP</a:t>
            </a:r>
          </a:p>
          <a:p>
            <a:pPr algn="ctr" eaLnBrk="1" hangingPunct="1"/>
            <a:r>
              <a:rPr kumimoji="1" lang="zh-CN" altLang="en-US" sz="1100" b="1" dirty="0" smtClean="0">
                <a:latin typeface="微软雅黑" pitchFamily="34" charset="-122"/>
                <a:ea typeface="微软雅黑" pitchFamily="34" charset="-122"/>
              </a:rPr>
              <a:t>服务器</a:t>
            </a:r>
            <a:endParaRPr kumimoji="1" lang="zh-CN" altLang="en-US" sz="1100" b="1" dirty="0">
              <a:latin typeface="微软雅黑" pitchFamily="34" charset="-122"/>
              <a:ea typeface="微软雅黑"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463293"/>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3600" name="Visio" r:id="rId4" imgW="3561172" imgH="4347469" progId="">
                  <p:embed/>
                </p:oleObj>
              </mc:Choice>
              <mc:Fallback>
                <p:oleObj name="Visio" r:id="rId4" imgW="3561172" imgH="4347469" progId="">
                  <p:embed/>
                  <p:pic>
                    <p:nvPicPr>
                      <p:cNvPr id="15" name="对象 14"/>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762658" y="187162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服务器</a:t>
            </a: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HTTP</a:t>
            </a:r>
          </a:p>
          <a:p>
            <a:pPr algn="ctr" eaLnBrk="1" hangingPunct="1"/>
            <a:r>
              <a:rPr kumimoji="1" lang="zh-CN" altLang="en-US" sz="1100" b="1" dirty="0" smtClean="0">
                <a:latin typeface="微软雅黑" pitchFamily="34" charset="-122"/>
                <a:ea typeface="微软雅黑" pitchFamily="34" charset="-122"/>
              </a:rPr>
              <a:t>服务器</a:t>
            </a:r>
            <a:endParaRPr kumimoji="1" lang="zh-CN" altLang="en-US" sz="1100" b="1" dirty="0">
              <a:latin typeface="微软雅黑" pitchFamily="34" charset="-122"/>
              <a:ea typeface="微软雅黑" pitchFamily="34" charset="-122"/>
            </a:endParaRPr>
          </a:p>
        </p:txBody>
      </p:sp>
      <p:grpSp>
        <p:nvGrpSpPr>
          <p:cNvPr id="21" name="组合 20"/>
          <p:cNvGrpSpPr/>
          <p:nvPr/>
        </p:nvGrpSpPr>
        <p:grpSpPr>
          <a:xfrm>
            <a:off x="2252299" y="1382964"/>
            <a:ext cx="569388" cy="1183063"/>
            <a:chOff x="2252299" y="1525813"/>
            <a:chExt cx="569388" cy="1183063"/>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23" name="Text Box 394"/>
            <p:cNvSpPr txBox="1">
              <a:spLocks noChangeArrowheads="1"/>
            </p:cNvSpPr>
            <p:nvPr/>
          </p:nvSpPr>
          <p:spPr bwMode="auto">
            <a:xfrm>
              <a:off x="2296294" y="2246313"/>
              <a:ext cx="466794" cy="46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endParaRPr kumimoji="1" lang="en-US" altLang="zh-CN" sz="1100" b="1" dirty="0">
                <a:solidFill>
                  <a:srgbClr val="C00000"/>
                </a:solidFill>
                <a:latin typeface="微软雅黑" pitchFamily="34" charset="-122"/>
                <a:ea typeface="微软雅黑"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grpSp>
        <p:nvGrpSpPr>
          <p:cNvPr id="28" name="组合 27"/>
          <p:cNvGrpSpPr/>
          <p:nvPr/>
        </p:nvGrpSpPr>
        <p:grpSpPr>
          <a:xfrm>
            <a:off x="6148796" y="1401564"/>
            <a:ext cx="569388" cy="1149869"/>
            <a:chOff x="6148796" y="1489328"/>
            <a:chExt cx="569388" cy="1149869"/>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0" name="Text Box 395"/>
            <p:cNvSpPr txBox="1">
              <a:spLocks noChangeArrowheads="1"/>
            </p:cNvSpPr>
            <p:nvPr/>
          </p:nvSpPr>
          <p:spPr bwMode="auto">
            <a:xfrm>
              <a:off x="6222967" y="2162143"/>
              <a:ext cx="466795"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endParaRPr kumimoji="1" lang="en-US" altLang="zh-CN" sz="1100" b="1" dirty="0">
                <a:solidFill>
                  <a:srgbClr val="C00000"/>
                </a:solidFill>
                <a:latin typeface="微软雅黑" pitchFamily="34" charset="-122"/>
                <a:ea typeface="微软雅黑"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5" name="对象 34"/>
          <p:cNvGraphicFramePr>
            <a:graphicFrameLocks noChangeAspect="1"/>
          </p:cNvGraphicFramePr>
          <p:nvPr>
            <p:extLst/>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3601" name="Visio" r:id="rId6" imgW="3561172" imgH="4347469" progId="">
                  <p:embed/>
                </p:oleObj>
              </mc:Choice>
              <mc:Fallback>
                <p:oleObj name="Visio" r:id="rId6" imgW="3561172" imgH="4347469" progId="">
                  <p:embed/>
                  <p:pic>
                    <p:nvPicPr>
                      <p:cNvPr id="35" name="对象 34"/>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632442" y="187162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Text Box 399"/>
          <p:cNvSpPr txBox="1">
            <a:spLocks noChangeArrowheads="1"/>
          </p:cNvSpPr>
          <p:nvPr/>
        </p:nvSpPr>
        <p:spPr bwMode="auto">
          <a:xfrm>
            <a:off x="7702778" y="1463293"/>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收件人</a:t>
            </a: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endParaRPr kumimoji="1" lang="en-US" altLang="zh-CN" sz="1100" b="1" dirty="0" smtClean="0">
                <a:solidFill>
                  <a:srgbClr val="0000FF"/>
                </a:solidFill>
                <a:latin typeface="微软雅黑" pitchFamily="34" charset="-122"/>
                <a:ea typeface="微软雅黑" pitchFamily="34" charset="-122"/>
              </a:endParaRPr>
            </a:p>
            <a:p>
              <a:pPr algn="ctr" eaLnBrk="1" hangingPunct="1"/>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grpSp>
      <p:sp>
        <p:nvSpPr>
          <p:cNvPr id="42" name="矩形 41"/>
          <p:cNvSpPr/>
          <p:nvPr/>
        </p:nvSpPr>
        <p:spPr>
          <a:xfrm>
            <a:off x="1470662" y="3428877"/>
            <a:ext cx="6331270" cy="810478"/>
          </a:xfrm>
          <a:prstGeom prst="rect">
            <a:avLst/>
          </a:prstGeom>
        </p:spPr>
        <p:txBody>
          <a:bodyPr wrap="square" anchor="ctr">
            <a:spAutoFit/>
          </a:bodyPr>
          <a:lstStyle/>
          <a:p>
            <a:pPr marL="285750" indent="-285750">
              <a:lnSpc>
                <a:spcPts val="2800"/>
              </a:lnSpc>
              <a:buClr>
                <a:srgbClr val="0066FF"/>
              </a:buClr>
              <a:buFont typeface="Wingdings" pitchFamily="2" charset="2"/>
              <a:buChar char="l"/>
            </a:pPr>
            <a:r>
              <a:rPr lang="zh-CN" altLang="en-US" b="1" dirty="0" smtClean="0">
                <a:latin typeface="微软雅黑" pitchFamily="34" charset="-122"/>
                <a:ea typeface="微软雅黑" pitchFamily="34" charset="-122"/>
              </a:rPr>
              <a:t>发送、接收电子邮件时使用 </a:t>
            </a: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协议。</a:t>
            </a:r>
          </a:p>
          <a:p>
            <a:pPr marL="285750" indent="-285750">
              <a:lnSpc>
                <a:spcPts val="2800"/>
              </a:lnSpc>
              <a:buClr>
                <a:srgbClr val="0066FF"/>
              </a:buClr>
              <a:buFont typeface="Wingdings" pitchFamily="2" charset="2"/>
              <a:buChar char="l"/>
            </a:pPr>
            <a:r>
              <a:rPr lang="zh-CN" altLang="en-US" b="1" dirty="0">
                <a:latin typeface="微软雅黑" pitchFamily="34" charset="-122"/>
                <a:ea typeface="微软雅黑" pitchFamily="34" charset="-122"/>
              </a:rPr>
              <a:t>两个邮件服务器</a:t>
            </a:r>
            <a:r>
              <a:rPr lang="zh-CN" altLang="en-US" b="1" dirty="0" smtClean="0">
                <a:latin typeface="微软雅黑" pitchFamily="34" charset="-122"/>
                <a:ea typeface="微软雅黑" pitchFamily="34" charset="-122"/>
              </a:rPr>
              <a:t>之间传送邮件时使用 </a:t>
            </a:r>
            <a:r>
              <a:rPr lang="en-US" altLang="zh-CN" b="1" dirty="0">
                <a:latin typeface="微软雅黑" pitchFamily="34" charset="-122"/>
                <a:ea typeface="微软雅黑" pitchFamily="34" charset="-122"/>
              </a:rPr>
              <a:t>SMTP</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ABC </a:t>
            </a:r>
            <a:r>
              <a:rPr kumimoji="1" lang="zh-CN" altLang="en-US" sz="1100" b="1" dirty="0" smtClean="0">
                <a:latin typeface="微软雅黑" pitchFamily="34" charset="-122"/>
                <a:ea typeface="微软雅黑" pitchFamily="34" charset="-122"/>
              </a:rPr>
              <a:t>网站</a:t>
            </a:r>
            <a:endParaRPr kumimoji="1" lang="zh-CN" altLang="en-US" sz="1100" b="1" dirty="0">
              <a:latin typeface="微软雅黑" pitchFamily="34" charset="-122"/>
              <a:ea typeface="微软雅黑"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XYZ </a:t>
            </a:r>
            <a:r>
              <a:rPr kumimoji="1" lang="zh-CN" altLang="en-US" sz="1100" b="1" dirty="0" smtClean="0">
                <a:latin typeface="微软雅黑" pitchFamily="34" charset="-122"/>
                <a:ea typeface="微软雅黑" pitchFamily="34" charset="-122"/>
              </a:rPr>
              <a:t>网站</a:t>
            </a:r>
            <a:endParaRPr kumimoji="1" lang="zh-CN" altLang="en-US" sz="1100" b="1" dirty="0">
              <a:latin typeface="微软雅黑" pitchFamily="34" charset="-122"/>
              <a:ea typeface="微软雅黑" pitchFamily="34" charset="-122"/>
            </a:endParaRPr>
          </a:p>
        </p:txBody>
      </p:sp>
      <p:sp>
        <p:nvSpPr>
          <p:cNvPr id="46" name="Rectangle 4"/>
          <p:cNvSpPr>
            <a:spLocks noChangeArrowheads="1"/>
          </p:cNvSpPr>
          <p:nvPr/>
        </p:nvSpPr>
        <p:spPr bwMode="auto">
          <a:xfrm>
            <a:off x="7381240" y="37227"/>
            <a:ext cx="17602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基于万维网的电子邮件</a:t>
            </a:r>
          </a:p>
        </p:txBody>
      </p:sp>
    </p:spTree>
    <p:extLst>
      <p:ext uri="{BB962C8B-B14F-4D97-AF65-F5344CB8AC3E}">
        <p14:creationId xmlns:p14="http://schemas.microsoft.com/office/powerpoint/2010/main" val="24605538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43"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206620" y="574096"/>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基于万维网的电子邮件</a:t>
            </a: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HTTP</a:t>
            </a:r>
          </a:p>
          <a:p>
            <a:pPr algn="ctr" eaLnBrk="1" hangingPunct="1"/>
            <a:r>
              <a:rPr kumimoji="1" lang="zh-CN" altLang="en-US" sz="1100" b="1" dirty="0" smtClean="0">
                <a:latin typeface="微软雅黑" pitchFamily="34" charset="-122"/>
                <a:ea typeface="微软雅黑" pitchFamily="34" charset="-122"/>
              </a:rPr>
              <a:t>服务器</a:t>
            </a:r>
            <a:endParaRPr kumimoji="1" lang="zh-CN" altLang="en-US" sz="1100" b="1" dirty="0">
              <a:latin typeface="微软雅黑" pitchFamily="34" charset="-122"/>
              <a:ea typeface="微软雅黑"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463293"/>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4624" name="Visio" r:id="rId4" imgW="3561172" imgH="4347469" progId="">
                  <p:embed/>
                </p:oleObj>
              </mc:Choice>
              <mc:Fallback>
                <p:oleObj name="Visio" r:id="rId4" imgW="3561172" imgH="4347469" progId="">
                  <p:embed/>
                  <p:pic>
                    <p:nvPicPr>
                      <p:cNvPr id="15" name="对象 14"/>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762658" y="187162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headEnd/>
            <a:tailEnd/>
          </a:ln>
          <a:effectLst/>
          <a:ex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服务器</a:t>
            </a: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headEnd/>
            <a:tailEnd/>
          </a:ln>
          <a:effectLst/>
          <a:extLst/>
        </p:spPr>
        <p:txBody>
          <a:bodyPr wrap="none" anchor="ctr"/>
          <a:lstStyle/>
          <a:p>
            <a:pPr algn="ctr" eaLnBrk="1" hangingPunct="1"/>
            <a:r>
              <a:rPr kumimoji="1" lang="en-US" altLang="zh-CN" sz="1100" b="1" dirty="0" smtClean="0">
                <a:latin typeface="微软雅黑" pitchFamily="34" charset="-122"/>
                <a:ea typeface="微软雅黑" pitchFamily="34" charset="-122"/>
              </a:rPr>
              <a:t>HTTP</a:t>
            </a:r>
          </a:p>
          <a:p>
            <a:pPr algn="ctr" eaLnBrk="1" hangingPunct="1"/>
            <a:r>
              <a:rPr kumimoji="1" lang="zh-CN" altLang="en-US" sz="1100" b="1" dirty="0" smtClean="0">
                <a:latin typeface="微软雅黑" pitchFamily="34" charset="-122"/>
                <a:ea typeface="微软雅黑" pitchFamily="34" charset="-122"/>
              </a:rPr>
              <a:t>服务器</a:t>
            </a:r>
            <a:endParaRPr kumimoji="1" lang="zh-CN" altLang="en-US" sz="1100" b="1" dirty="0">
              <a:latin typeface="微软雅黑" pitchFamily="34" charset="-122"/>
              <a:ea typeface="微软雅黑" pitchFamily="34" charset="-122"/>
            </a:endParaRPr>
          </a:p>
        </p:txBody>
      </p:sp>
      <p:grpSp>
        <p:nvGrpSpPr>
          <p:cNvPr id="21" name="组合 20"/>
          <p:cNvGrpSpPr/>
          <p:nvPr/>
        </p:nvGrpSpPr>
        <p:grpSpPr>
          <a:xfrm>
            <a:off x="2252299" y="1382964"/>
            <a:ext cx="569388" cy="665064"/>
            <a:chOff x="2252299" y="1525813"/>
            <a:chExt cx="569388" cy="665064"/>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endParaRPr kumimoji="1" lang="en-US" altLang="zh-CN" sz="1100" b="1" dirty="0">
                <a:solidFill>
                  <a:srgbClr val="C00000"/>
                </a:solidFill>
                <a:latin typeface="微软雅黑" pitchFamily="34" charset="-122"/>
                <a:ea typeface="微软雅黑"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grpSp>
        <p:nvGrpSpPr>
          <p:cNvPr id="28" name="组合 27"/>
          <p:cNvGrpSpPr/>
          <p:nvPr/>
        </p:nvGrpSpPr>
        <p:grpSpPr>
          <a:xfrm>
            <a:off x="6148796" y="1401564"/>
            <a:ext cx="569388" cy="652662"/>
            <a:chOff x="6148796" y="1489328"/>
            <a:chExt cx="569388" cy="652662"/>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endParaRPr kumimoji="1" lang="en-US" altLang="zh-CN" sz="1100" b="1" dirty="0">
                <a:solidFill>
                  <a:srgbClr val="C00000"/>
                </a:solidFill>
                <a:latin typeface="微软雅黑" pitchFamily="34" charset="-122"/>
                <a:ea typeface="微软雅黑"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5" name="对象 34"/>
          <p:cNvGraphicFramePr>
            <a:graphicFrameLocks noChangeAspect="1"/>
          </p:cNvGraphicFramePr>
          <p:nvPr>
            <p:extLst/>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4625" name="Visio" r:id="rId6" imgW="3561172" imgH="4347469" progId="">
                  <p:embed/>
                </p:oleObj>
              </mc:Choice>
              <mc:Fallback>
                <p:oleObj name="Visio" r:id="rId6" imgW="3561172" imgH="4347469" progId="">
                  <p:embed/>
                  <p:pic>
                    <p:nvPicPr>
                      <p:cNvPr id="35" name="对象 34"/>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632442" y="187162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Text Box 399"/>
          <p:cNvSpPr txBox="1">
            <a:spLocks noChangeArrowheads="1"/>
          </p:cNvSpPr>
          <p:nvPr/>
        </p:nvSpPr>
        <p:spPr bwMode="auto">
          <a:xfrm>
            <a:off x="7702778" y="1463293"/>
            <a:ext cx="60785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smtClean="0">
                <a:latin typeface="微软雅黑" pitchFamily="34" charset="-122"/>
                <a:ea typeface="微软雅黑" pitchFamily="34" charset="-122"/>
              </a:rPr>
              <a:t>收件人</a:t>
            </a: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endParaRPr kumimoji="1" lang="en-US" altLang="zh-CN" sz="1100" b="1" dirty="0" smtClean="0">
                <a:solidFill>
                  <a:srgbClr val="0000FF"/>
                </a:solidFill>
                <a:latin typeface="微软雅黑" pitchFamily="34" charset="-122"/>
                <a:ea typeface="微软雅黑" pitchFamily="34" charset="-122"/>
              </a:endParaRPr>
            </a:p>
            <a:p>
              <a:pPr algn="ctr" eaLnBrk="1" hangingPunct="1"/>
              <a:r>
                <a:rPr kumimoji="1" lang="zh-CN" altLang="en-US" sz="1100" b="1" dirty="0" smtClean="0">
                  <a:solidFill>
                    <a:srgbClr val="0000FF"/>
                  </a:solidFill>
                  <a:latin typeface="微软雅黑" pitchFamily="34" charset="-122"/>
                  <a:ea typeface="微软雅黑" pitchFamily="34" charset="-122"/>
                </a:rPr>
                <a:t>连接</a:t>
              </a:r>
              <a:endParaRPr kumimoji="1" lang="zh-CN" altLang="en-US" sz="1100" b="1" dirty="0">
                <a:solidFill>
                  <a:srgbClr val="0000FF"/>
                </a:solidFill>
                <a:latin typeface="微软雅黑" pitchFamily="34" charset="-122"/>
                <a:ea typeface="微软雅黑" pitchFamily="34" charset="-122"/>
              </a:endParaRPr>
            </a:p>
          </p:txBody>
        </p:sp>
      </p:grpSp>
      <p:sp>
        <p:nvSpPr>
          <p:cNvPr id="42" name="矩形 41"/>
          <p:cNvSpPr/>
          <p:nvPr/>
        </p:nvSpPr>
        <p:spPr>
          <a:xfrm>
            <a:off x="1470662" y="3420985"/>
            <a:ext cx="6331270" cy="861774"/>
          </a:xfrm>
          <a:prstGeom prst="rect">
            <a:avLst/>
          </a:prstGeom>
        </p:spPr>
        <p:txBody>
          <a:bodyPr wrap="square" anchor="ctr">
            <a:spAutoFit/>
          </a:bodyPr>
          <a:lstStyle/>
          <a:p>
            <a:pPr marL="285750" indent="-285750">
              <a:lnSpc>
                <a:spcPts val="3000"/>
              </a:lnSpc>
              <a:buClr>
                <a:srgbClr val="0066FF"/>
              </a:buClr>
              <a:buFont typeface="Wingdings" pitchFamily="2" charset="2"/>
              <a:buChar char="l"/>
            </a:pPr>
            <a:r>
              <a:rPr lang="zh-CN" altLang="en-US" b="1" dirty="0" smtClean="0">
                <a:latin typeface="微软雅黑" pitchFamily="34" charset="-122"/>
                <a:ea typeface="微软雅黑" pitchFamily="34" charset="-122"/>
              </a:rPr>
              <a:t>使用 </a:t>
            </a:r>
            <a:r>
              <a:rPr lang="en-US" altLang="zh-CN" b="1" dirty="0" smtClean="0">
                <a:latin typeface="微软雅黑" pitchFamily="34" charset="-122"/>
                <a:ea typeface="微软雅黑" pitchFamily="34" charset="-122"/>
              </a:rPr>
              <a:t>HTTP POST </a:t>
            </a:r>
            <a:r>
              <a:rPr lang="zh-CN" altLang="en-US" b="1" dirty="0" smtClean="0">
                <a:latin typeface="微软雅黑" pitchFamily="34" charset="-122"/>
                <a:ea typeface="微软雅黑" pitchFamily="34" charset="-122"/>
              </a:rPr>
              <a:t>方法提交要发送的邮件。</a:t>
            </a:r>
            <a:endParaRPr lang="zh-CN" altLang="en-US"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使用 </a:t>
            </a:r>
            <a:r>
              <a:rPr lang="en-US" altLang="zh-CN" b="1" dirty="0" smtClean="0">
                <a:latin typeface="微软雅黑" pitchFamily="34" charset="-122"/>
                <a:ea typeface="微软雅黑" pitchFamily="34" charset="-122"/>
              </a:rPr>
              <a:t>HTTP GET </a:t>
            </a:r>
            <a:r>
              <a:rPr lang="zh-CN" altLang="en-US" b="1" dirty="0" smtClean="0">
                <a:latin typeface="微软雅黑" pitchFamily="34" charset="-122"/>
                <a:ea typeface="微软雅黑" pitchFamily="34" charset="-122"/>
              </a:rPr>
              <a:t>方法读取邮件。</a:t>
            </a:r>
            <a:endParaRPr lang="zh-CN" altLang="en-US" b="1" dirty="0">
              <a:latin typeface="微软雅黑" pitchFamily="34" charset="-122"/>
              <a:ea typeface="微软雅黑"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ABC </a:t>
            </a:r>
            <a:r>
              <a:rPr kumimoji="1" lang="zh-CN" altLang="en-US" sz="1100" b="1" dirty="0" smtClean="0">
                <a:latin typeface="微软雅黑" pitchFamily="34" charset="-122"/>
                <a:ea typeface="微软雅黑" pitchFamily="34" charset="-122"/>
              </a:rPr>
              <a:t>网站</a:t>
            </a:r>
            <a:endParaRPr kumimoji="1" lang="zh-CN" altLang="en-US" sz="1100" b="1" dirty="0">
              <a:latin typeface="微软雅黑" pitchFamily="34" charset="-122"/>
              <a:ea typeface="微软雅黑"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latin typeface="微软雅黑" pitchFamily="34" charset="-122"/>
                <a:ea typeface="微软雅黑" pitchFamily="34" charset="-122"/>
              </a:rPr>
              <a:t>XYZ </a:t>
            </a:r>
            <a:r>
              <a:rPr kumimoji="1" lang="zh-CN" altLang="en-US" sz="1100" b="1" dirty="0" smtClean="0">
                <a:latin typeface="微软雅黑" pitchFamily="34" charset="-122"/>
                <a:ea typeface="微软雅黑" pitchFamily="34" charset="-122"/>
              </a:rPr>
              <a:t>网站</a:t>
            </a:r>
            <a:endParaRPr kumimoji="1" lang="zh-CN" altLang="en-US" sz="1100" b="1" dirty="0">
              <a:latin typeface="微软雅黑" pitchFamily="34" charset="-122"/>
              <a:ea typeface="微软雅黑" pitchFamily="34" charset="-122"/>
            </a:endParaRPr>
          </a:p>
        </p:txBody>
      </p:sp>
      <p:sp>
        <p:nvSpPr>
          <p:cNvPr id="46" name="Text Box 394"/>
          <p:cNvSpPr txBox="1">
            <a:spLocks noChangeArrowheads="1"/>
          </p:cNvSpPr>
          <p:nvPr/>
        </p:nvSpPr>
        <p:spPr bwMode="auto">
          <a:xfrm>
            <a:off x="2236182" y="2122852"/>
            <a:ext cx="587020"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POST</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提交</a:t>
            </a:r>
          </a:p>
        </p:txBody>
      </p:sp>
      <p:sp>
        <p:nvSpPr>
          <p:cNvPr id="47" name="Text Box 395"/>
          <p:cNvSpPr txBox="1">
            <a:spLocks noChangeArrowheads="1"/>
          </p:cNvSpPr>
          <p:nvPr/>
        </p:nvSpPr>
        <p:spPr bwMode="auto">
          <a:xfrm>
            <a:off x="6222967" y="2109890"/>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smtClean="0">
                <a:solidFill>
                  <a:srgbClr val="C00000"/>
                </a:solidFill>
                <a:latin typeface="微软雅黑" pitchFamily="34" charset="-122"/>
                <a:ea typeface="微软雅黑" pitchFamily="34" charset="-122"/>
              </a:rPr>
              <a:t>GET</a:t>
            </a:r>
          </a:p>
          <a:p>
            <a:pPr algn="ctr" eaLnBrk="1" hangingPunct="1">
              <a:lnSpc>
                <a:spcPts val="1500"/>
              </a:lnSpc>
            </a:pPr>
            <a:r>
              <a:rPr kumimoji="1" lang="zh-CN" altLang="en-US" sz="1100" b="1" dirty="0" smtClean="0">
                <a:solidFill>
                  <a:srgbClr val="C00000"/>
                </a:solidFill>
                <a:latin typeface="微软雅黑" pitchFamily="34" charset="-122"/>
                <a:ea typeface="微软雅黑" pitchFamily="34" charset="-122"/>
              </a:rPr>
              <a:t>下载</a:t>
            </a:r>
            <a:endParaRPr kumimoji="1" lang="zh-CN" altLang="en-US" sz="1100" b="1" dirty="0">
              <a:solidFill>
                <a:srgbClr val="C00000"/>
              </a:solidFill>
              <a:latin typeface="微软雅黑" pitchFamily="34" charset="-122"/>
              <a:ea typeface="微软雅黑" pitchFamily="34" charset="-122"/>
            </a:endParaRPr>
          </a:p>
        </p:txBody>
      </p:sp>
      <p:sp>
        <p:nvSpPr>
          <p:cNvPr id="48" name="Rectangle 4"/>
          <p:cNvSpPr>
            <a:spLocks noChangeArrowheads="1"/>
          </p:cNvSpPr>
          <p:nvPr/>
        </p:nvSpPr>
        <p:spPr bwMode="auto">
          <a:xfrm>
            <a:off x="7381240" y="37227"/>
            <a:ext cx="17602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基于万维网的电子邮件</a:t>
            </a:r>
          </a:p>
        </p:txBody>
      </p:sp>
    </p:spTree>
    <p:extLst>
      <p:ext uri="{BB962C8B-B14F-4D97-AF65-F5344CB8AC3E}">
        <p14:creationId xmlns:p14="http://schemas.microsoft.com/office/powerpoint/2010/main" val="2985333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6"/>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5631"/>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593737" y="563360"/>
            <a:ext cx="39565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通用</a:t>
            </a:r>
            <a:r>
              <a:rPr lang="zh-CN" altLang="en-US" sz="2400" b="1" dirty="0">
                <a:solidFill>
                  <a:schemeClr val="bg1"/>
                </a:solidFill>
                <a:latin typeface="微软雅黑" pitchFamily="34" charset="-122"/>
                <a:ea typeface="微软雅黑" pitchFamily="34" charset="-122"/>
              </a:rPr>
              <a:t>互联网邮件扩充 </a:t>
            </a:r>
            <a:r>
              <a:rPr lang="en-US" altLang="zh-CN" sz="2400" b="1" dirty="0">
                <a:solidFill>
                  <a:schemeClr val="bg1"/>
                </a:solidFill>
                <a:latin typeface="微软雅黑" pitchFamily="34" charset="-122"/>
                <a:ea typeface="微软雅黑" pitchFamily="34" charset="-122"/>
              </a:rPr>
              <a:t>MIME</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99849"/>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hangingPunct="0">
              <a:lnSpc>
                <a:spcPts val="3300"/>
              </a:lnSpc>
              <a:buClr>
                <a:srgbClr val="0070C0"/>
              </a:buClr>
            </a:pPr>
            <a:r>
              <a:rPr lang="zh-CN" altLang="en-US" sz="2000" b="1" dirty="0" smtClean="0">
                <a:latin typeface="微软雅黑" pitchFamily="34" charset="-122"/>
                <a:ea typeface="微软雅黑" pitchFamily="34" charset="-122"/>
              </a:rPr>
              <a:t>由于</a:t>
            </a:r>
            <a:r>
              <a:rPr lang="en-US" altLang="zh-CN" sz="2000" b="1" dirty="0" smtClean="0">
                <a:latin typeface="微软雅黑" pitchFamily="34" charset="-122"/>
                <a:ea typeface="微软雅黑" pitchFamily="34" charset="-122"/>
              </a:rPr>
              <a:t>SMTP </a:t>
            </a:r>
            <a:r>
              <a:rPr lang="zh-CN" altLang="en-US" sz="2000" b="1" dirty="0">
                <a:latin typeface="微软雅黑" pitchFamily="34" charset="-122"/>
                <a:ea typeface="微软雅黑" pitchFamily="34" charset="-122"/>
              </a:rPr>
              <a:t>是一个基于</a:t>
            </a:r>
            <a:r>
              <a:rPr lang="zh-CN" altLang="en-US" sz="2000" b="1" dirty="0" smtClean="0">
                <a:latin typeface="微软雅黑" pitchFamily="34" charset="-122"/>
                <a:ea typeface="微软雅黑" pitchFamily="34" charset="-122"/>
              </a:rPr>
              <a:t>文本的</a:t>
            </a:r>
            <a:r>
              <a:rPr lang="zh-CN" altLang="en-US" sz="2000" b="1" dirty="0">
                <a:latin typeface="微软雅黑" pitchFamily="34" charset="-122"/>
                <a:ea typeface="微软雅黑" pitchFamily="34" charset="-122"/>
              </a:rPr>
              <a:t>协议</a:t>
            </a:r>
            <a:r>
              <a:rPr lang="zh-CN" altLang="en-US" sz="2000" b="1" dirty="0" smtClean="0">
                <a:latin typeface="微软雅黑" pitchFamily="34" charset="-122"/>
                <a:ea typeface="微软雅黑" pitchFamily="34" charset="-122"/>
              </a:rPr>
              <a:t>，导致其存在如下</a:t>
            </a:r>
            <a:r>
              <a:rPr lang="zh-CN" altLang="en-US" sz="2000" b="1" dirty="0" smtClean="0">
                <a:solidFill>
                  <a:srgbClr val="0000FF"/>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a:t>
            </a: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仅限于传送 </a:t>
            </a:r>
            <a:r>
              <a:rPr lang="en-US" altLang="zh-CN" sz="2000" b="1" dirty="0" smtClean="0">
                <a:latin typeface="微软雅黑" pitchFamily="34" charset="-122"/>
                <a:ea typeface="微软雅黑" pitchFamily="34" charset="-122"/>
              </a:rPr>
              <a:t>7 </a:t>
            </a:r>
            <a:r>
              <a:rPr lang="zh-CN" altLang="en-US" sz="2000" b="1" dirty="0" smtClean="0">
                <a:latin typeface="微软雅黑" pitchFamily="34" charset="-122"/>
                <a:ea typeface="微软雅黑" pitchFamily="34" charset="-122"/>
              </a:rPr>
              <a:t>位的 </a:t>
            </a:r>
            <a:r>
              <a:rPr lang="en-US" altLang="zh-CN" sz="2000" b="1" dirty="0" smtClean="0">
                <a:latin typeface="微软雅黑" pitchFamily="34" charset="-122"/>
                <a:ea typeface="微软雅黑" pitchFamily="34" charset="-122"/>
              </a:rPr>
              <a:t>ASCII </a:t>
            </a:r>
            <a:r>
              <a:rPr lang="zh-CN" altLang="en-US" sz="2000" b="1" dirty="0" smtClean="0">
                <a:latin typeface="微软雅黑" pitchFamily="34" charset="-122"/>
                <a:ea typeface="微软雅黑" pitchFamily="34" charset="-122"/>
              </a:rPr>
              <a:t>码，无法传送许多其他非英语国家的文字（如中文、俄文，甚至带重音符号的法文或德文）。</a:t>
            </a: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不能传送图片</a:t>
            </a:r>
            <a:r>
              <a:rPr lang="zh-CN" altLang="en-US" sz="2000" b="1" dirty="0">
                <a:latin typeface="微软雅黑" pitchFamily="34" charset="-122"/>
                <a:ea typeface="微软雅黑" pitchFamily="34" charset="-122"/>
              </a:rPr>
              <a:t>、音频、视频或任何二进制</a:t>
            </a:r>
            <a:r>
              <a:rPr lang="zh-CN" altLang="en-US" sz="2000" b="1" dirty="0" smtClean="0">
                <a:latin typeface="微软雅黑" pitchFamily="34" charset="-122"/>
                <a:ea typeface="微软雅黑" pitchFamily="34" charset="-122"/>
              </a:rPr>
              <a:t>文件。</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会拒绝超过一定长度的邮件</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5829564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69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813356" y="573485"/>
            <a:ext cx="15359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MIME </a:t>
            </a:r>
            <a:r>
              <a:rPr lang="zh-CN" altLang="en-US" sz="2000" b="1" dirty="0">
                <a:solidFill>
                  <a:schemeClr val="bg1"/>
                </a:solidFill>
                <a:latin typeface="微软雅黑" pitchFamily="34" charset="-122"/>
                <a:ea typeface="微软雅黑" pitchFamily="34" charset="-122"/>
              </a:rPr>
              <a:t>概述</a:t>
            </a:r>
          </a:p>
        </p:txBody>
      </p:sp>
      <p:sp>
        <p:nvSpPr>
          <p:cNvPr id="4" name="Rectangle 68"/>
          <p:cNvSpPr>
            <a:spLocks noChangeArrowheads="1"/>
          </p:cNvSpPr>
          <p:nvPr/>
        </p:nvSpPr>
        <p:spPr bwMode="auto">
          <a:xfrm>
            <a:off x="483810" y="1004362"/>
            <a:ext cx="827845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随着电子邮件应用范围</a:t>
            </a:r>
            <a:r>
              <a:rPr lang="zh-CN" altLang="en-US" sz="2000" b="1" dirty="0" smtClean="0">
                <a:latin typeface="微软雅黑" pitchFamily="34" charset="-122"/>
                <a:ea typeface="微软雅黑" pitchFamily="34" charset="-122"/>
              </a:rPr>
              <a:t>的扩大，为 </a:t>
            </a:r>
            <a:r>
              <a:rPr lang="en-US" altLang="zh-CN" sz="2000" b="1" dirty="0" smtClean="0">
                <a:latin typeface="微软雅黑" pitchFamily="34" charset="-122"/>
                <a:ea typeface="微软雅黑" pitchFamily="34" charset="-122"/>
              </a:rPr>
              <a:t>SMTP </a:t>
            </a:r>
            <a:r>
              <a:rPr lang="zh-CN" altLang="en-US" sz="2000" b="1" dirty="0" smtClean="0">
                <a:latin typeface="微软雅黑" pitchFamily="34" charset="-122"/>
                <a:ea typeface="微软雅黑" pitchFamily="34" charset="-122"/>
              </a:rPr>
              <a:t>增加传送非 </a:t>
            </a:r>
            <a:r>
              <a:rPr lang="en-US" altLang="zh-CN" sz="2000" b="1" dirty="0" smtClean="0">
                <a:latin typeface="微软雅黑" pitchFamily="34" charset="-122"/>
                <a:ea typeface="微软雅黑" pitchFamily="34" charset="-122"/>
              </a:rPr>
              <a:t>ASCII </a:t>
            </a:r>
            <a:r>
              <a:rPr lang="zh-CN" altLang="en-US" sz="2000" b="1" dirty="0" smtClean="0">
                <a:latin typeface="微软雅黑" pitchFamily="34" charset="-122"/>
                <a:ea typeface="微软雅黑" pitchFamily="34" charset="-122"/>
              </a:rPr>
              <a:t>码</a:t>
            </a:r>
            <a:r>
              <a:rPr lang="zh-CN" altLang="en-US" sz="2000" b="1" dirty="0">
                <a:latin typeface="微软雅黑" pitchFamily="34" charset="-122"/>
                <a:ea typeface="微软雅黑" pitchFamily="34" charset="-122"/>
              </a:rPr>
              <a:t>数据的处理能力越来越迫切。</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通用</a:t>
            </a:r>
            <a:r>
              <a:rPr lang="zh-CN" altLang="en-US" sz="2000" b="1" dirty="0">
                <a:solidFill>
                  <a:srgbClr val="C00000"/>
                </a:solidFill>
                <a:latin typeface="微软雅黑" pitchFamily="34" charset="-122"/>
                <a:ea typeface="微软雅黑" pitchFamily="34" charset="-122"/>
              </a:rPr>
              <a:t>互联网邮件扩充 </a:t>
            </a:r>
            <a:r>
              <a:rPr lang="en-US" altLang="zh-CN" sz="2000" b="1" dirty="0">
                <a:solidFill>
                  <a:srgbClr val="C00000"/>
                </a:solidFill>
                <a:latin typeface="微软雅黑" pitchFamily="34" charset="-122"/>
                <a:ea typeface="微软雅黑" pitchFamily="34" charset="-122"/>
              </a:rPr>
              <a:t>MIME (Multipurpose Internet Mail Extensions</a:t>
            </a:r>
            <a:r>
              <a:rPr lang="en-US" altLang="zh-CN"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，并没有</a:t>
            </a:r>
            <a:r>
              <a:rPr lang="zh-CN" altLang="en-US" sz="2000" b="1" dirty="0">
                <a:latin typeface="微软雅黑" pitchFamily="34" charset="-122"/>
                <a:ea typeface="微软雅黑" pitchFamily="34" charset="-122"/>
              </a:rPr>
              <a:t>改动或取代</a:t>
            </a:r>
            <a:r>
              <a:rPr lang="en-US" altLang="zh-CN" sz="2000" b="1" dirty="0">
                <a:latin typeface="微软雅黑" pitchFamily="34" charset="-122"/>
                <a:ea typeface="微软雅黑" pitchFamily="34" charset="-122"/>
              </a:rPr>
              <a:t>SMTP</a:t>
            </a:r>
            <a:r>
              <a:rPr lang="zh-CN" altLang="en-US" sz="2000" b="1" dirty="0">
                <a:latin typeface="微软雅黑" pitchFamily="34" charset="-122"/>
                <a:ea typeface="微软雅黑" pitchFamily="34" charset="-122"/>
              </a:rPr>
              <a:t>，而是继续使用原来的邮件格式，但增加了</a:t>
            </a:r>
            <a:r>
              <a:rPr lang="zh-CN" altLang="en-US" sz="2000" b="1" dirty="0">
                <a:solidFill>
                  <a:srgbClr val="C00000"/>
                </a:solidFill>
                <a:latin typeface="微软雅黑" pitchFamily="34" charset="-122"/>
                <a:ea typeface="微软雅黑" pitchFamily="34" charset="-122"/>
              </a:rPr>
              <a:t>邮件主体的结构</a:t>
            </a:r>
            <a:r>
              <a:rPr lang="zh-CN" altLang="en-US" sz="2000" b="1" dirty="0">
                <a:latin typeface="微软雅黑" pitchFamily="34" charset="-122"/>
                <a:ea typeface="微软雅黑" pitchFamily="34" charset="-122"/>
              </a:rPr>
              <a:t>，并定义了</a:t>
            </a:r>
            <a:r>
              <a:rPr lang="zh-CN" altLang="en-US" sz="2000" b="1" dirty="0">
                <a:solidFill>
                  <a:srgbClr val="C00000"/>
                </a:solidFill>
                <a:latin typeface="微软雅黑" pitchFamily="34" charset="-122"/>
                <a:ea typeface="微软雅黑" pitchFamily="34" charset="-122"/>
              </a:rPr>
              <a:t>传送非</a:t>
            </a:r>
            <a:r>
              <a:rPr lang="en-US" altLang="zh-CN" sz="2000" b="1" dirty="0">
                <a:solidFill>
                  <a:srgbClr val="C00000"/>
                </a:solidFill>
                <a:latin typeface="微软雅黑" pitchFamily="34" charset="-122"/>
                <a:ea typeface="微软雅黑" pitchFamily="34" charset="-122"/>
              </a:rPr>
              <a:t>ASCII</a:t>
            </a:r>
            <a:r>
              <a:rPr lang="zh-CN" altLang="en-US" sz="2000" b="1" dirty="0">
                <a:solidFill>
                  <a:srgbClr val="C00000"/>
                </a:solidFill>
                <a:latin typeface="微软雅黑" pitchFamily="34" charset="-122"/>
                <a:ea typeface="微软雅黑" pitchFamily="34" charset="-122"/>
              </a:rPr>
              <a:t>码的编码规则</a:t>
            </a:r>
            <a:r>
              <a:rPr lang="zh-CN" altLang="en-US" sz="2000" b="1" dirty="0">
                <a:latin typeface="微软雅黑" pitchFamily="34" charset="-122"/>
                <a:ea typeface="微软雅黑" pitchFamily="34" charset="-122"/>
              </a:rPr>
              <a:t>。</a:t>
            </a:r>
          </a:p>
        </p:txBody>
      </p:sp>
      <p:sp>
        <p:nvSpPr>
          <p:cNvPr id="5"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custDataLst>
      <p:tags r:id="rId1"/>
    </p:custDataLst>
    <p:extLst>
      <p:ext uri="{BB962C8B-B14F-4D97-AF65-F5344CB8AC3E}">
        <p14:creationId xmlns:p14="http://schemas.microsoft.com/office/powerpoint/2010/main" val="26223056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4165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组合 20"/>
          <p:cNvGrpSpPr/>
          <p:nvPr/>
        </p:nvGrpSpPr>
        <p:grpSpPr>
          <a:xfrm>
            <a:off x="1474462" y="1156605"/>
            <a:ext cx="6187085" cy="2778773"/>
            <a:chOff x="1184473" y="1772816"/>
            <a:chExt cx="7800975" cy="3503611"/>
          </a:xfrm>
        </p:grpSpPr>
        <p:sp>
          <p:nvSpPr>
            <p:cNvPr id="5" name="Text Box 3"/>
            <p:cNvSpPr txBox="1">
              <a:spLocks noChangeArrowheads="1"/>
            </p:cNvSpPr>
            <p:nvPr/>
          </p:nvSpPr>
          <p:spPr bwMode="auto">
            <a:xfrm>
              <a:off x="1839713"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solidFill>
                    <a:srgbClr val="C00000"/>
                  </a:solidFill>
                  <a:latin typeface="微软雅黑" pitchFamily="34" charset="-122"/>
                  <a:ea typeface="微软雅黑" pitchFamily="34" charset="-122"/>
                </a:rPr>
                <a:t>非 </a:t>
              </a:r>
              <a:r>
                <a:rPr kumimoji="1" lang="en-US" altLang="zh-CN" sz="1600" b="1" dirty="0">
                  <a:solidFill>
                    <a:srgbClr val="C00000"/>
                  </a:solidFill>
                  <a:latin typeface="微软雅黑" pitchFamily="34" charset="-122"/>
                  <a:ea typeface="微软雅黑" pitchFamily="34" charset="-122"/>
                </a:rPr>
                <a:t>ASCII </a:t>
              </a:r>
              <a:r>
                <a:rPr kumimoji="1" lang="zh-CN" altLang="en-US" sz="1600" b="1" dirty="0">
                  <a:solidFill>
                    <a:srgbClr val="C00000"/>
                  </a:solidFill>
                  <a:latin typeface="微软雅黑" pitchFamily="34" charset="-122"/>
                  <a:ea typeface="微软雅黑" pitchFamily="34" charset="-122"/>
                </a:rPr>
                <a:t>码</a:t>
              </a:r>
            </a:p>
          </p:txBody>
        </p:sp>
        <p:sp>
          <p:nvSpPr>
            <p:cNvPr id="6" name="Text Box 4"/>
            <p:cNvSpPr txBox="1">
              <a:spLocks noChangeArrowheads="1"/>
            </p:cNvSpPr>
            <p:nvPr/>
          </p:nvSpPr>
          <p:spPr bwMode="auto">
            <a:xfrm>
              <a:off x="1855191" y="3942927"/>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7" name="Rectangle 5"/>
            <p:cNvSpPr>
              <a:spLocks noChangeArrowheads="1"/>
            </p:cNvSpPr>
            <p:nvPr/>
          </p:nvSpPr>
          <p:spPr bwMode="auto">
            <a:xfrm>
              <a:off x="1184473" y="3007890"/>
              <a:ext cx="1281244" cy="596900"/>
            </a:xfrm>
            <a:prstGeom prst="rect">
              <a:avLst/>
            </a:prstGeom>
            <a:solidFill>
              <a:srgbClr val="0000FF"/>
            </a:solidFill>
            <a:ln w="9525">
              <a:solidFill>
                <a:srgbClr val="333399"/>
              </a:solidFill>
              <a:miter lim="800000"/>
              <a:headEnd/>
              <a:tailEnd/>
            </a:ln>
            <a:effectLst/>
          </p:spPr>
          <p:txBody>
            <a:bodyPr wrap="none" anchor="ctr"/>
            <a:lstStyle/>
            <a:p>
              <a:pPr algn="ctr" eaLnBrk="1" hangingPunct="1"/>
              <a:r>
                <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itchFamily="34" charset="-122"/>
                  <a:ea typeface="微软雅黑" pitchFamily="34" charset="-122"/>
                </a:rPr>
                <a:t>MIME</a:t>
              </a:r>
            </a:p>
          </p:txBody>
        </p:sp>
        <p:sp>
          <p:nvSpPr>
            <p:cNvPr id="8" name="Rectangle 6"/>
            <p:cNvSpPr>
              <a:spLocks noChangeArrowheads="1"/>
            </p:cNvSpPr>
            <p:nvPr/>
          </p:nvSpPr>
          <p:spPr bwMode="auto">
            <a:xfrm>
              <a:off x="1184473" y="4679527"/>
              <a:ext cx="1281244" cy="596900"/>
            </a:xfrm>
            <a:prstGeom prst="rect">
              <a:avLst/>
            </a:prstGeom>
            <a:solidFill>
              <a:srgbClr val="00FFCC"/>
            </a:solidFill>
            <a:ln w="9525">
              <a:solidFill>
                <a:srgbClr val="333399"/>
              </a:solidFill>
              <a:miter lim="800000"/>
              <a:headEnd/>
              <a:tailEnd/>
            </a:ln>
            <a:effectLst/>
          </p:spPr>
          <p:txBody>
            <a:bodyPr wrap="none" anchor="ctr"/>
            <a:lstStyle/>
            <a:p>
              <a:pPr algn="ctr" eaLnBrk="1" hangingPunct="1"/>
              <a:r>
                <a:rPr kumimoji="1" lang="en-US" altLang="zh-CN" sz="1600" b="1">
                  <a:latin typeface="微软雅黑" pitchFamily="34" charset="-122"/>
                  <a:ea typeface="微软雅黑" pitchFamily="34" charset="-122"/>
                </a:rPr>
                <a:t>SMTP</a:t>
              </a:r>
            </a:p>
          </p:txBody>
        </p:sp>
        <p:sp>
          <p:nvSpPr>
            <p:cNvPr id="9" name="Rectangle 7"/>
            <p:cNvSpPr>
              <a:spLocks noChangeArrowheads="1"/>
            </p:cNvSpPr>
            <p:nvPr/>
          </p:nvSpPr>
          <p:spPr bwMode="auto">
            <a:xfrm>
              <a:off x="7704203" y="3007890"/>
              <a:ext cx="1281245" cy="596900"/>
            </a:xfrm>
            <a:prstGeom prst="rect">
              <a:avLst/>
            </a:prstGeom>
            <a:solidFill>
              <a:srgbClr val="0000FF"/>
            </a:solidFill>
            <a:ln w="9525">
              <a:solidFill>
                <a:srgbClr val="333399"/>
              </a:solidFill>
              <a:miter lim="800000"/>
              <a:headEnd/>
              <a:tailEnd/>
            </a:ln>
            <a:effectLst/>
          </p:spPr>
          <p:txBody>
            <a:bodyPr wrap="none" anchor="ctr"/>
            <a:lstStyle/>
            <a:p>
              <a:pPr algn="ctr" eaLnBrk="1" hangingPunct="1"/>
              <a:r>
                <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itchFamily="34" charset="-122"/>
                  <a:ea typeface="微软雅黑" pitchFamily="34" charset="-122"/>
                </a:rPr>
                <a:t>MIME</a:t>
              </a:r>
            </a:p>
          </p:txBody>
        </p:sp>
        <p:sp>
          <p:nvSpPr>
            <p:cNvPr id="10" name="Rectangle 8"/>
            <p:cNvSpPr>
              <a:spLocks noChangeArrowheads="1"/>
            </p:cNvSpPr>
            <p:nvPr/>
          </p:nvSpPr>
          <p:spPr bwMode="auto">
            <a:xfrm>
              <a:off x="7704203" y="4679527"/>
              <a:ext cx="1281245" cy="596900"/>
            </a:xfrm>
            <a:prstGeom prst="rect">
              <a:avLst/>
            </a:prstGeom>
            <a:solidFill>
              <a:srgbClr val="00FFCC"/>
            </a:solidFill>
            <a:ln w="9525">
              <a:solidFill>
                <a:srgbClr val="333399"/>
              </a:solidFill>
              <a:miter lim="800000"/>
              <a:headEnd/>
              <a:tailEnd/>
            </a:ln>
            <a:effectLst/>
          </p:spPr>
          <p:txBody>
            <a:bodyPr wrap="none" anchor="ctr"/>
            <a:lstStyle/>
            <a:p>
              <a:pPr algn="ctr" eaLnBrk="1" hangingPunct="1"/>
              <a:r>
                <a:rPr kumimoji="1" lang="en-US" altLang="zh-CN" sz="1600" b="1">
                  <a:latin typeface="微软雅黑" pitchFamily="34" charset="-122"/>
                  <a:ea typeface="微软雅黑" pitchFamily="34" charset="-122"/>
                </a:rPr>
                <a:t>SMTP</a:t>
              </a:r>
            </a:p>
          </p:txBody>
        </p:sp>
        <p:sp>
          <p:nvSpPr>
            <p:cNvPr id="11" name="Line 9"/>
            <p:cNvSpPr>
              <a:spLocks noChangeShapeType="1"/>
            </p:cNvSpPr>
            <p:nvPr/>
          </p:nvSpPr>
          <p:spPr bwMode="auto">
            <a:xfrm>
              <a:off x="2484635" y="4977977"/>
              <a:ext cx="524020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2" name="Line 10"/>
            <p:cNvSpPr>
              <a:spLocks noChangeShapeType="1"/>
            </p:cNvSpPr>
            <p:nvPr/>
          </p:nvSpPr>
          <p:spPr bwMode="auto">
            <a:xfrm rot="5400000" flipH="1" flipV="1">
              <a:off x="128686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3" name="Line 11"/>
            <p:cNvSpPr>
              <a:spLocks noChangeShapeType="1"/>
            </p:cNvSpPr>
            <p:nvPr/>
          </p:nvSpPr>
          <p:spPr bwMode="auto">
            <a:xfrm rot="5400000" flipH="1" flipV="1">
              <a:off x="780831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4" name="Line 12"/>
            <p:cNvSpPr>
              <a:spLocks noChangeShapeType="1"/>
            </p:cNvSpPr>
            <p:nvPr/>
          </p:nvSpPr>
          <p:spPr bwMode="auto">
            <a:xfrm rot="16200000" flipV="1">
              <a:off x="143926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5" name="Line 13"/>
            <p:cNvSpPr>
              <a:spLocks noChangeShapeType="1"/>
            </p:cNvSpPr>
            <p:nvPr/>
          </p:nvSpPr>
          <p:spPr bwMode="auto">
            <a:xfrm rot="16200000" flipV="1">
              <a:off x="796071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6" name="Text Box 14"/>
            <p:cNvSpPr txBox="1">
              <a:spLocks noChangeArrowheads="1"/>
            </p:cNvSpPr>
            <p:nvPr/>
          </p:nvSpPr>
          <p:spPr bwMode="auto">
            <a:xfrm>
              <a:off x="6490030" y="391435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17" name="Text Box 15"/>
            <p:cNvSpPr txBox="1">
              <a:spLocks noChangeArrowheads="1"/>
            </p:cNvSpPr>
            <p:nvPr/>
          </p:nvSpPr>
          <p:spPr bwMode="auto">
            <a:xfrm>
              <a:off x="3955057" y="455570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18" name="Text Box 16"/>
            <p:cNvSpPr txBox="1">
              <a:spLocks noChangeArrowheads="1"/>
            </p:cNvSpPr>
            <p:nvPr/>
          </p:nvSpPr>
          <p:spPr bwMode="auto">
            <a:xfrm>
              <a:off x="6662009"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a:solidFill>
                    <a:srgbClr val="C00000"/>
                  </a:solidFill>
                  <a:latin typeface="微软雅黑" pitchFamily="34" charset="-122"/>
                  <a:ea typeface="微软雅黑" pitchFamily="34" charset="-122"/>
                </a:rPr>
                <a:t>非 </a:t>
              </a:r>
              <a:r>
                <a:rPr kumimoji="1" lang="en-US" altLang="zh-CN" sz="1600" b="1">
                  <a:solidFill>
                    <a:srgbClr val="C00000"/>
                  </a:solidFill>
                  <a:latin typeface="微软雅黑" pitchFamily="34" charset="-122"/>
                  <a:ea typeface="微软雅黑" pitchFamily="34" charset="-122"/>
                </a:rPr>
                <a:t>ASCII </a:t>
              </a:r>
              <a:r>
                <a:rPr kumimoji="1" lang="zh-CN" altLang="en-US" sz="1600" b="1">
                  <a:solidFill>
                    <a:srgbClr val="C00000"/>
                  </a:solidFill>
                  <a:latin typeface="微软雅黑" pitchFamily="34" charset="-122"/>
                  <a:ea typeface="微软雅黑" pitchFamily="34" charset="-122"/>
                </a:rPr>
                <a:t>码</a:t>
              </a:r>
            </a:p>
          </p:txBody>
        </p:sp>
        <p:sp>
          <p:nvSpPr>
            <p:cNvPr id="19" name="Rectangle 17"/>
            <p:cNvSpPr>
              <a:spLocks noChangeArrowheads="1"/>
            </p:cNvSpPr>
            <p:nvPr/>
          </p:nvSpPr>
          <p:spPr bwMode="auto">
            <a:xfrm>
              <a:off x="1301419" y="1772816"/>
              <a:ext cx="1047353" cy="477837"/>
            </a:xfrm>
            <a:prstGeom prst="rect">
              <a:avLst/>
            </a:prstGeom>
            <a:solidFill>
              <a:srgbClr val="99FFCC"/>
            </a:solidFill>
            <a:ln w="9525">
              <a:solidFill>
                <a:srgbClr val="333399"/>
              </a:solidFill>
              <a:miter lim="800000"/>
              <a:headEnd/>
              <a:tailEnd/>
            </a:ln>
            <a:effectLst/>
          </p:spPr>
          <p:txBody>
            <a:bodyPr wrap="none" anchor="ctr"/>
            <a:lstStyle/>
            <a:p>
              <a:pPr algn="ctr" eaLnBrk="1" hangingPunct="1"/>
              <a:r>
                <a:rPr kumimoji="1" lang="zh-CN" altLang="en-US" sz="1600" b="1">
                  <a:latin typeface="微软雅黑" pitchFamily="34" charset="-122"/>
                  <a:ea typeface="微软雅黑" pitchFamily="34" charset="-122"/>
                </a:rPr>
                <a:t>用户</a:t>
              </a:r>
            </a:p>
          </p:txBody>
        </p:sp>
        <p:sp>
          <p:nvSpPr>
            <p:cNvPr id="20" name="Rectangle 18"/>
            <p:cNvSpPr>
              <a:spLocks noChangeArrowheads="1"/>
            </p:cNvSpPr>
            <p:nvPr/>
          </p:nvSpPr>
          <p:spPr bwMode="auto">
            <a:xfrm>
              <a:off x="7821148" y="1772816"/>
              <a:ext cx="1047354" cy="477837"/>
            </a:xfrm>
            <a:prstGeom prst="rect">
              <a:avLst/>
            </a:prstGeom>
            <a:solidFill>
              <a:srgbClr val="99FFCC"/>
            </a:solidFill>
            <a:ln w="9525">
              <a:solidFill>
                <a:srgbClr val="333399"/>
              </a:solidFill>
              <a:miter lim="800000"/>
              <a:headEnd/>
              <a:tailEnd/>
            </a:ln>
            <a:effectLst/>
          </p:spPr>
          <p:txBody>
            <a:bodyPr wrap="none" anchor="ctr"/>
            <a:lstStyle/>
            <a:p>
              <a:pPr algn="ctr" eaLnBrk="1" hangingPunct="1"/>
              <a:r>
                <a:rPr kumimoji="1" lang="zh-CN" altLang="en-US" sz="1600" b="1" dirty="0">
                  <a:latin typeface="微软雅黑" pitchFamily="34" charset="-122"/>
                  <a:ea typeface="微软雅黑" pitchFamily="34" charset="-122"/>
                </a:rPr>
                <a:t>用户</a:t>
              </a:r>
            </a:p>
          </p:txBody>
        </p:sp>
      </p:grpSp>
      <p:sp>
        <p:nvSpPr>
          <p:cNvPr id="22" name="AutoShape 5"/>
          <p:cNvSpPr>
            <a:spLocks noChangeArrowheads="1"/>
          </p:cNvSpPr>
          <p:nvPr/>
        </p:nvSpPr>
        <p:spPr bwMode="auto">
          <a:xfrm>
            <a:off x="556963" y="602576"/>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矩形 22"/>
          <p:cNvSpPr/>
          <p:nvPr/>
        </p:nvSpPr>
        <p:spPr>
          <a:xfrm>
            <a:off x="645268" y="560336"/>
            <a:ext cx="294984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的关系</a:t>
            </a:r>
          </a:p>
        </p:txBody>
      </p:sp>
      <p:sp>
        <p:nvSpPr>
          <p:cNvPr id="24"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39075319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913277"/>
            <a:ext cx="8048776"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900"/>
              </a:lnSpc>
              <a:buClr>
                <a:srgbClr val="0070C0"/>
              </a:buClr>
              <a:buFont typeface="Wingdings" pitchFamily="2" charset="2"/>
              <a:buChar char="l"/>
            </a:pPr>
            <a:r>
              <a:rPr lang="zh-CN" altLang="en-US" sz="2000" b="1" dirty="0" smtClean="0">
                <a:latin typeface="微软雅黑" pitchFamily="34" charset="-122"/>
                <a:ea typeface="微软雅黑" pitchFamily="34" charset="-122"/>
              </a:rPr>
              <a:t>增加了 </a:t>
            </a:r>
            <a:r>
              <a:rPr lang="en-US" altLang="zh-CN" sz="2000" b="1" dirty="0" smtClean="0">
                <a:latin typeface="微软雅黑" pitchFamily="34" charset="-122"/>
                <a:ea typeface="微软雅黑" pitchFamily="34" charset="-122"/>
              </a:rPr>
              <a:t>5 </a:t>
            </a:r>
            <a:r>
              <a:rPr lang="zh-CN" altLang="en-US" sz="2000" b="1" dirty="0">
                <a:latin typeface="微软雅黑" pitchFamily="34" charset="-122"/>
                <a:ea typeface="微软雅黑" pitchFamily="34" charset="-122"/>
              </a:rPr>
              <a:t>个新的邮件</a:t>
            </a:r>
            <a:r>
              <a:rPr lang="zh-CN" altLang="en-US" sz="2000" b="1" dirty="0">
                <a:solidFill>
                  <a:srgbClr val="C00000"/>
                </a:solidFill>
                <a:latin typeface="微软雅黑" pitchFamily="34" charset="-122"/>
                <a:ea typeface="微软雅黑" pitchFamily="34" charset="-122"/>
              </a:rPr>
              <a:t>首部</a:t>
            </a:r>
            <a:r>
              <a:rPr lang="zh-CN" altLang="en-US" sz="2000" b="1" dirty="0" smtClean="0">
                <a:solidFill>
                  <a:srgbClr val="C00000"/>
                </a:solidFill>
                <a:latin typeface="微软雅黑" pitchFamily="34" charset="-122"/>
                <a:ea typeface="微软雅黑" pitchFamily="34" charset="-122"/>
              </a:rPr>
              <a:t>字段</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eaLnBrk="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用于描述</a:t>
            </a:r>
            <a:r>
              <a:rPr lang="zh-CN" altLang="zh-CN" b="1" dirty="0">
                <a:latin typeface="微软雅黑" pitchFamily="34" charset="-122"/>
                <a:ea typeface="微软雅黑" pitchFamily="34" charset="-122"/>
              </a:rPr>
              <a:t>邮件主体的信息</a:t>
            </a:r>
            <a:r>
              <a:rPr lang="zh-CN" altLang="en-US" b="1" dirty="0">
                <a:latin typeface="微软雅黑" pitchFamily="34" charset="-122"/>
                <a:ea typeface="微软雅黑" pitchFamily="34" charset="-122"/>
              </a:rPr>
              <a:t>，比如邮件采用的编码规则等等。</a:t>
            </a:r>
          </a:p>
          <a:p>
            <a:pPr marL="342900" indent="-342900" eaLnBrk="0" hangingPunct="0">
              <a:lnSpc>
                <a:spcPts val="2900"/>
              </a:lnSpc>
              <a:buClr>
                <a:srgbClr val="0070C0"/>
              </a:buClr>
              <a:buFont typeface="Wingdings" pitchFamily="2" charset="2"/>
              <a:buChar char="l"/>
            </a:pPr>
            <a:r>
              <a:rPr lang="zh-CN" altLang="en-US" sz="2000" b="1" dirty="0" smtClean="0">
                <a:latin typeface="微软雅黑" pitchFamily="34" charset="-122"/>
                <a:ea typeface="微软雅黑" pitchFamily="34" charset="-122"/>
              </a:rPr>
              <a:t>定义了</a:t>
            </a:r>
            <a:r>
              <a:rPr lang="zh-CN" altLang="en-US" sz="2000" b="1" dirty="0">
                <a:solidFill>
                  <a:srgbClr val="C00000"/>
                </a:solidFill>
                <a:latin typeface="微软雅黑" pitchFamily="34" charset="-122"/>
                <a:ea typeface="微软雅黑" pitchFamily="34" charset="-122"/>
              </a:rPr>
              <a:t>内容</a:t>
            </a:r>
            <a:r>
              <a:rPr lang="zh-CN" altLang="en-US" sz="2000" b="1" dirty="0" smtClean="0">
                <a:solidFill>
                  <a:srgbClr val="C00000"/>
                </a:solidFill>
                <a:latin typeface="微软雅黑" pitchFamily="34" charset="-122"/>
                <a:ea typeface="微软雅黑" pitchFamily="34" charset="-122"/>
              </a:rPr>
              <a:t>传送编码</a:t>
            </a:r>
            <a:r>
              <a:rPr lang="zh-CN" altLang="en-US" sz="2000" b="1" dirty="0" smtClean="0">
                <a:latin typeface="微软雅黑" pitchFamily="34" charset="-122"/>
                <a:ea typeface="微软雅黑" pitchFamily="34" charset="-122"/>
              </a:rPr>
              <a:t>，也就是将二进制数据或非</a:t>
            </a:r>
            <a:r>
              <a:rPr lang="en-US" altLang="zh-CN" sz="2000" b="1" dirty="0" smtClean="0">
                <a:latin typeface="微软雅黑" pitchFamily="34" charset="-122"/>
                <a:ea typeface="微软雅黑" pitchFamily="34" charset="-122"/>
              </a:rPr>
              <a:t>ASCII</a:t>
            </a:r>
            <a:r>
              <a:rPr lang="zh-CN" altLang="en-US" sz="2000" b="1" dirty="0" smtClean="0">
                <a:latin typeface="微软雅黑" pitchFamily="34" charset="-122"/>
                <a:ea typeface="微软雅黑" pitchFamily="34" charset="-122"/>
              </a:rPr>
              <a:t>字符转换成</a:t>
            </a:r>
            <a:r>
              <a:rPr lang="en-US" altLang="zh-CN" sz="2000" b="1" dirty="0" smtClean="0">
                <a:latin typeface="微软雅黑" pitchFamily="34" charset="-122"/>
                <a:ea typeface="微软雅黑" pitchFamily="34" charset="-122"/>
              </a:rPr>
              <a:t>ASCII</a:t>
            </a:r>
            <a:r>
              <a:rPr lang="zh-CN" altLang="en-US" sz="2000" b="1" dirty="0" smtClean="0">
                <a:latin typeface="微软雅黑" pitchFamily="34" charset="-122"/>
                <a:ea typeface="微软雅黑" pitchFamily="34" charset="-122"/>
              </a:rPr>
              <a:t>编码的方法。</a:t>
            </a:r>
            <a:endParaRPr lang="en-US" altLang="zh-CN" sz="2000" b="1" dirty="0" smtClean="0">
              <a:latin typeface="微软雅黑" pitchFamily="34" charset="-122"/>
              <a:ea typeface="微软雅黑" pitchFamily="34" charset="-122"/>
            </a:endParaRPr>
          </a:p>
          <a:p>
            <a:pPr marL="800100" lvl="1" indent="-342900" eaLnBrk="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标准</a:t>
            </a:r>
            <a:r>
              <a:rPr lang="en-US" altLang="zh-CN" b="1" dirty="0" smtClean="0">
                <a:latin typeface="微软雅黑" pitchFamily="34" charset="-122"/>
                <a:ea typeface="微软雅黑" pitchFamily="34" charset="-122"/>
              </a:rPr>
              <a:t>ASCII</a:t>
            </a:r>
            <a:r>
              <a:rPr lang="zh-CN" altLang="en-US" b="1" dirty="0" smtClean="0">
                <a:latin typeface="微软雅黑" pitchFamily="34" charset="-122"/>
                <a:ea typeface="微软雅黑" pitchFamily="34" charset="-122"/>
              </a:rPr>
              <a:t>编码、</a:t>
            </a:r>
            <a:r>
              <a:rPr lang="en-US" altLang="zh-CN" b="1" dirty="0" smtClean="0">
                <a:latin typeface="微软雅黑" pitchFamily="34" charset="-122"/>
                <a:ea typeface="微软雅黑" pitchFamily="34" charset="-122"/>
              </a:rPr>
              <a:t>quoted-printable</a:t>
            </a:r>
            <a:r>
              <a:rPr lang="zh-CN" altLang="en-US" b="1" dirty="0" smtClean="0">
                <a:latin typeface="微软雅黑" pitchFamily="34" charset="-122"/>
                <a:ea typeface="微软雅黑" pitchFamily="34" charset="-122"/>
              </a:rPr>
              <a:t>编码、</a:t>
            </a:r>
            <a:r>
              <a:rPr lang="en-US" altLang="zh-CN" b="1" dirty="0" smtClean="0">
                <a:latin typeface="微软雅黑" pitchFamily="34" charset="-122"/>
                <a:ea typeface="微软雅黑" pitchFamily="34" charset="-122"/>
              </a:rPr>
              <a:t>base64</a:t>
            </a:r>
            <a:r>
              <a:rPr lang="zh-CN" altLang="en-US" b="1" dirty="0" smtClean="0">
                <a:latin typeface="微软雅黑" pitchFamily="34" charset="-122"/>
                <a:ea typeface="微软雅黑" pitchFamily="34" charset="-122"/>
              </a:rPr>
              <a:t>编码、等等。</a:t>
            </a:r>
          </a:p>
          <a:p>
            <a:pPr marL="342900" indent="-342900" eaLnBrk="0" hangingPunct="0">
              <a:lnSpc>
                <a:spcPts val="2900"/>
              </a:lnSpc>
              <a:buClr>
                <a:srgbClr val="0070C0"/>
              </a:buClr>
              <a:buFont typeface="Wingdings" pitchFamily="2" charset="2"/>
              <a:buChar char="l"/>
            </a:pPr>
            <a:r>
              <a:rPr lang="zh-CN" altLang="en-US" sz="2000" b="1" dirty="0" smtClean="0">
                <a:latin typeface="微软雅黑" pitchFamily="34" charset="-122"/>
                <a:ea typeface="微软雅黑" pitchFamily="34" charset="-122"/>
              </a:rPr>
              <a:t>定义了</a:t>
            </a:r>
            <a:r>
              <a:rPr lang="en-US" altLang="zh-CN" sz="2000" b="1" dirty="0" smtClean="0">
                <a:latin typeface="微软雅黑" pitchFamily="34" charset="-122"/>
                <a:ea typeface="微软雅黑" pitchFamily="34" charset="-122"/>
              </a:rPr>
              <a:t>MIME</a:t>
            </a:r>
            <a:r>
              <a:rPr lang="zh-CN" altLang="en-US" sz="2000" b="1" dirty="0" smtClean="0">
                <a:latin typeface="微软雅黑" pitchFamily="34" charset="-122"/>
                <a:ea typeface="微软雅黑" pitchFamily="34" charset="-122"/>
              </a:rPr>
              <a:t>邮件</a:t>
            </a:r>
            <a:r>
              <a:rPr lang="zh-CN" altLang="en-US" sz="2000" b="1" dirty="0">
                <a:latin typeface="微软雅黑" pitchFamily="34" charset="-122"/>
                <a:ea typeface="微软雅黑" pitchFamily="34" charset="-122"/>
              </a:rPr>
              <a:t>内容的</a:t>
            </a:r>
            <a:r>
              <a:rPr lang="zh-CN" altLang="en-US" sz="2000" b="1" dirty="0">
                <a:solidFill>
                  <a:srgbClr val="C00000"/>
                </a:solidFill>
                <a:latin typeface="微软雅黑" pitchFamily="34" charset="-122"/>
                <a:ea typeface="微软雅黑" pitchFamily="34" charset="-122"/>
              </a:rPr>
              <a:t>格式</a:t>
            </a:r>
            <a:r>
              <a:rPr lang="zh-CN" altLang="en-US" sz="2000" b="1" dirty="0">
                <a:latin typeface="微软雅黑" pitchFamily="34" charset="-122"/>
                <a:ea typeface="微软雅黑" pitchFamily="34" charset="-122"/>
              </a:rPr>
              <a:t>，对多媒体电子邮件的表示方法进行了标准化</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eaLnBrk="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告诉接收</a:t>
            </a:r>
            <a:r>
              <a:rPr lang="zh-CN" altLang="en-US" b="1" dirty="0" smtClean="0">
                <a:latin typeface="微软雅黑" pitchFamily="34" charset="-122"/>
                <a:ea typeface="微软雅黑" pitchFamily="34" charset="-122"/>
              </a:rPr>
              <a:t>方当前邮件中的</a:t>
            </a:r>
            <a:r>
              <a:rPr lang="zh-CN" altLang="en-US" b="1" dirty="0">
                <a:latin typeface="微软雅黑" pitchFamily="34" charset="-122"/>
                <a:ea typeface="微软雅黑" pitchFamily="34" charset="-122"/>
              </a:rPr>
              <a:t>数据是什么格式，以及应该如何处理它。</a:t>
            </a:r>
            <a:endParaRPr lang="en-US" altLang="zh-CN" b="1" dirty="0">
              <a:latin typeface="微软雅黑" pitchFamily="34" charset="-122"/>
              <a:ea typeface="微软雅黑" pitchFamily="34" charset="-122"/>
            </a:endParaRPr>
          </a:p>
          <a:p>
            <a:pPr marL="800100" lvl="1" indent="-342900" eaLnBrk="0" hangingPunct="0">
              <a:lnSpc>
                <a:spcPts val="2900"/>
              </a:lnSpc>
              <a:buClr>
                <a:srgbClr val="0070C0"/>
              </a:buClr>
              <a:buFont typeface="Wingdings" pitchFamily="2" charset="2"/>
              <a:buChar char="l"/>
            </a:pPr>
            <a:endParaRPr lang="zh-CN" altLang="en-US" b="1" dirty="0">
              <a:latin typeface="微软雅黑" pitchFamily="34" charset="-122"/>
              <a:ea typeface="微软雅黑" pitchFamily="34" charset="-122"/>
            </a:endParaRPr>
          </a:p>
        </p:txBody>
      </p:sp>
      <p:sp>
        <p:nvSpPr>
          <p:cNvPr id="5" name="AutoShape 5"/>
          <p:cNvSpPr>
            <a:spLocks noChangeArrowheads="1"/>
          </p:cNvSpPr>
          <p:nvPr/>
        </p:nvSpPr>
        <p:spPr bwMode="auto">
          <a:xfrm>
            <a:off x="556963" y="60433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2954"/>
            <a:ext cx="307488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主要包括三个部分</a:t>
            </a:r>
          </a:p>
        </p:txBody>
      </p:sp>
      <p:sp>
        <p:nvSpPr>
          <p:cNvPr id="7"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custDataLst>
      <p:tags r:id="rId1"/>
    </p:custDataLst>
    <p:extLst>
      <p:ext uri="{BB962C8B-B14F-4D97-AF65-F5344CB8AC3E}">
        <p14:creationId xmlns:p14="http://schemas.microsoft.com/office/powerpoint/2010/main" val="39971185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3" end="3"/>
                                            </p:txEl>
                                          </p:spTgt>
                                        </p:tgtEl>
                                        <p:attrNameLst>
                                          <p:attrName>style.visibility</p:attrName>
                                        </p:attrNameLst>
                                      </p:cBhvr>
                                      <p:to>
                                        <p:strVal val="visible"/>
                                      </p:to>
                                    </p:set>
                                    <p:animEffect transition="in" filter="fade">
                                      <p:cBhvr>
                                        <p:cTn id="10" dur="500"/>
                                        <p:tgtEl>
                                          <p:spTgt spid="4">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animEffect transition="in" filter="fade">
                                      <p:cBhvr>
                                        <p:cTn id="15" dur="500"/>
                                        <p:tgtEl>
                                          <p:spTgt spid="4">
                                            <p:txEl>
                                              <p:pRg st="4" end="4"/>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4">
                                            <p:txEl>
                                              <p:pRg st="5" end="5"/>
                                            </p:txEl>
                                          </p:spTgt>
                                        </p:tgtEl>
                                        <p:attrNameLst>
                                          <p:attrName>style.visibility</p:attrName>
                                        </p:attrNameLst>
                                      </p:cBhvr>
                                      <p:to>
                                        <p:strVal val="visible"/>
                                      </p:to>
                                    </p:set>
                                    <p:animEffect transition="in" filter="fade">
                                      <p:cBhvr>
                                        <p:cTn id="18" dur="500"/>
                                        <p:tgtEl>
                                          <p:spTgt spid="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416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520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4681"/>
            <a:ext cx="3643946" cy="400110"/>
          </a:xfrm>
          <a:prstGeom prst="rect">
            <a:avLst/>
          </a:prstGeom>
        </p:spPr>
        <p:txBody>
          <a:bodyPr wrap="none" anchor="ctr">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增加 </a:t>
            </a:r>
            <a:r>
              <a:rPr lang="en-US" altLang="zh-CN" sz="2000" b="1" dirty="0">
                <a:latin typeface="微软雅黑" pitchFamily="34" charset="-122"/>
                <a:ea typeface="微软雅黑" pitchFamily="34" charset="-122"/>
              </a:rPr>
              <a:t>5 </a:t>
            </a:r>
            <a:r>
              <a:rPr lang="zh-CN" altLang="en-US" sz="2000" b="1" dirty="0">
                <a:latin typeface="微软雅黑" pitchFamily="34" charset="-122"/>
                <a:ea typeface="微软雅黑" pitchFamily="34" charset="-122"/>
              </a:rPr>
              <a:t>个新的邮件首部</a:t>
            </a:r>
          </a:p>
        </p:txBody>
      </p:sp>
      <p:sp>
        <p:nvSpPr>
          <p:cNvPr id="2" name="矩形 1"/>
          <p:cNvSpPr/>
          <p:nvPr/>
        </p:nvSpPr>
        <p:spPr>
          <a:xfrm>
            <a:off x="1789774" y="1273689"/>
            <a:ext cx="6345239" cy="367862"/>
          </a:xfrm>
          <a:prstGeom prst="rect">
            <a:avLst/>
          </a:prstGeom>
          <a:solidFill>
            <a:srgbClr val="0066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bg1"/>
                </a:solidFill>
                <a:latin typeface="微软雅黑" pitchFamily="34" charset="-122"/>
                <a:ea typeface="微软雅黑" pitchFamily="34" charset="-122"/>
              </a:rPr>
              <a:t>邮件首部</a:t>
            </a:r>
            <a:endParaRPr lang="zh-CN" altLang="en-US" sz="1600" b="1" dirty="0">
              <a:solidFill>
                <a:schemeClr val="bg1"/>
              </a:solidFill>
              <a:latin typeface="微软雅黑" pitchFamily="34" charset="-122"/>
              <a:ea typeface="微软雅黑" pitchFamily="34" charset="-122"/>
            </a:endParaRPr>
          </a:p>
        </p:txBody>
      </p:sp>
      <p:sp>
        <p:nvSpPr>
          <p:cNvPr id="7" name="矩形 6"/>
          <p:cNvSpPr/>
          <p:nvPr/>
        </p:nvSpPr>
        <p:spPr>
          <a:xfrm>
            <a:off x="1789774" y="1641551"/>
            <a:ext cx="6345239" cy="192165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789774" y="3563201"/>
            <a:ext cx="6345239" cy="367862"/>
          </a:xfrm>
          <a:prstGeom prst="rect">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tx1"/>
                </a:solidFill>
                <a:latin typeface="微软雅黑" pitchFamily="34" charset="-122"/>
                <a:ea typeface="微软雅黑" pitchFamily="34" charset="-122"/>
              </a:rPr>
              <a:t>邮件主体</a:t>
            </a:r>
            <a:endParaRPr lang="zh-CN" altLang="en-US" sz="1600" b="1" dirty="0">
              <a:solidFill>
                <a:schemeClr val="tx1"/>
              </a:solidFill>
              <a:latin typeface="微软雅黑" pitchFamily="34" charset="-122"/>
              <a:ea typeface="微软雅黑" pitchFamily="34" charset="-122"/>
            </a:endParaRPr>
          </a:p>
        </p:txBody>
      </p:sp>
      <p:sp>
        <p:nvSpPr>
          <p:cNvPr id="3" name="矩形 2"/>
          <p:cNvSpPr/>
          <p:nvPr/>
        </p:nvSpPr>
        <p:spPr>
          <a:xfrm>
            <a:off x="885526" y="2197229"/>
            <a:ext cx="867546" cy="646331"/>
          </a:xfrm>
          <a:prstGeom prst="rect">
            <a:avLst/>
          </a:prstGeom>
        </p:spPr>
        <p:txBody>
          <a:bodyPr wrap="none">
            <a:spAutoFit/>
          </a:bodyPr>
          <a:lstStyle/>
          <a:p>
            <a:pPr algn="ctr"/>
            <a:r>
              <a:rPr lang="en-US" altLang="zh-CN" b="1" dirty="0" smtClean="0">
                <a:solidFill>
                  <a:srgbClr val="0000FF"/>
                </a:solidFill>
                <a:latin typeface="微软雅黑" pitchFamily="34" charset="-122"/>
                <a:ea typeface="微软雅黑" pitchFamily="34" charset="-122"/>
              </a:rPr>
              <a:t>MIME</a:t>
            </a:r>
          </a:p>
          <a:p>
            <a:pPr algn="ctr"/>
            <a:r>
              <a:rPr lang="zh-CN" altLang="en-US" b="1" dirty="0" smtClean="0">
                <a:solidFill>
                  <a:srgbClr val="0000FF"/>
                </a:solidFill>
                <a:latin typeface="微软雅黑" pitchFamily="34" charset="-122"/>
                <a:ea typeface="微软雅黑" pitchFamily="34" charset="-122"/>
              </a:rPr>
              <a:t>首部</a:t>
            </a:r>
            <a:endParaRPr lang="zh-CN" altLang="en-US" b="1" dirty="0">
              <a:solidFill>
                <a:srgbClr val="0000FF"/>
              </a:solidFill>
              <a:latin typeface="微软雅黑" pitchFamily="34" charset="-122"/>
              <a:ea typeface="微软雅黑" pitchFamily="34" charset="-122"/>
            </a:endParaRPr>
          </a:p>
        </p:txBody>
      </p:sp>
      <p:sp>
        <p:nvSpPr>
          <p:cNvPr id="9" name="Rectangle 68"/>
          <p:cNvSpPr>
            <a:spLocks noChangeArrowheads="1"/>
          </p:cNvSpPr>
          <p:nvPr/>
        </p:nvSpPr>
        <p:spPr bwMode="auto">
          <a:xfrm>
            <a:off x="1825141" y="1675198"/>
            <a:ext cx="6383444" cy="17594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MIME-Version</a:t>
            </a:r>
            <a:r>
              <a:rPr lang="zh-CN" altLang="en-US" sz="1600" b="1" dirty="0" smtClean="0">
                <a:solidFill>
                  <a:srgbClr val="0000FF"/>
                </a:solidFill>
                <a:latin typeface="微软雅黑" pitchFamily="34" charset="-122"/>
                <a:ea typeface="微软雅黑" pitchFamily="34" charset="-122"/>
              </a:rPr>
              <a:t>：</a:t>
            </a:r>
            <a:r>
              <a:rPr lang="en-US" altLang="zh-CN" sz="1600" b="1" dirty="0" smtClean="0">
                <a:latin typeface="微软雅黑" pitchFamily="34" charset="-122"/>
                <a:ea typeface="微软雅黑" pitchFamily="34" charset="-122"/>
              </a:rPr>
              <a:t>MIME </a:t>
            </a:r>
            <a:r>
              <a:rPr lang="zh-CN" altLang="en-US" sz="1600" b="1" dirty="0">
                <a:latin typeface="微软雅黑" pitchFamily="34" charset="-122"/>
                <a:ea typeface="微软雅黑" pitchFamily="34" charset="-122"/>
              </a:rPr>
              <a:t>的版本</a:t>
            </a:r>
            <a:r>
              <a:rPr lang="zh-CN" altLang="en-US" sz="1600" b="1" dirty="0" smtClean="0">
                <a:latin typeface="微软雅黑" pitchFamily="34" charset="-122"/>
                <a:ea typeface="微软雅黑" pitchFamily="34" charset="-122"/>
              </a:rPr>
              <a:t>。若</a:t>
            </a:r>
            <a:r>
              <a:rPr lang="zh-CN" altLang="en-US" sz="1600" b="1" dirty="0">
                <a:latin typeface="微软雅黑" pitchFamily="34" charset="-122"/>
                <a:ea typeface="微软雅黑" pitchFamily="34" charset="-122"/>
              </a:rPr>
              <a:t>无此行，则为英文文本。</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Content-Description</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这是可读字符串</a:t>
            </a:r>
            <a:r>
              <a:rPr lang="zh-CN" altLang="en-US" sz="1600" b="1" dirty="0" smtClean="0">
                <a:latin typeface="微软雅黑" pitchFamily="34" charset="-122"/>
                <a:ea typeface="微软雅黑" pitchFamily="34" charset="-122"/>
              </a:rPr>
              <a:t>，此邮件的说明。</a:t>
            </a:r>
            <a:endParaRPr lang="zh-CN" altLang="en-US" sz="1600" b="1" dirty="0">
              <a:latin typeface="微软雅黑" pitchFamily="34" charset="-122"/>
              <a:ea typeface="微软雅黑" pitchFamily="34" charset="-122"/>
            </a:endParaRP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Content-Id</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邮件的唯一标识符。 </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Content-Transfer-Encoding</a:t>
            </a:r>
            <a:r>
              <a:rPr lang="zh-CN" altLang="en-US" sz="1600" b="1" dirty="0" smtClean="0">
                <a:solidFill>
                  <a:srgbClr val="0000FF"/>
                </a:solidFill>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传送</a:t>
            </a:r>
            <a:r>
              <a:rPr lang="zh-CN" altLang="en-US" sz="1600" b="1" dirty="0">
                <a:latin typeface="微软雅黑" pitchFamily="34" charset="-122"/>
                <a:ea typeface="微软雅黑" pitchFamily="34" charset="-122"/>
              </a:rPr>
              <a:t>时</a:t>
            </a:r>
            <a:r>
              <a:rPr lang="zh-CN" altLang="en-US" sz="1600" b="1" dirty="0" smtClean="0">
                <a:latin typeface="微软雅黑" pitchFamily="34" charset="-122"/>
                <a:ea typeface="微软雅黑" pitchFamily="34" charset="-122"/>
              </a:rPr>
              <a:t>邮件主体使用的编码方法。</a:t>
            </a:r>
            <a:endParaRPr lang="zh-CN" altLang="en-US" sz="1600" b="1" dirty="0">
              <a:latin typeface="微软雅黑" pitchFamily="34" charset="-122"/>
              <a:ea typeface="微软雅黑" pitchFamily="34" charset="-122"/>
            </a:endParaRP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Content-Type</a:t>
            </a:r>
            <a:r>
              <a:rPr lang="zh-CN" altLang="en-US" sz="1600" b="1" dirty="0" smtClean="0">
                <a:solidFill>
                  <a:srgbClr val="0000FF"/>
                </a:solidFill>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邮件内容类型 </a:t>
            </a:r>
            <a:r>
              <a:rPr lang="en-US" altLang="zh-CN" sz="1600" b="1" dirty="0" smtClean="0">
                <a:latin typeface="微软雅黑" pitchFamily="34" charset="-122"/>
                <a:ea typeface="微软雅黑" pitchFamily="34" charset="-122"/>
              </a:rPr>
              <a:t>/ </a:t>
            </a:r>
            <a:r>
              <a:rPr lang="zh-CN" altLang="en-US" sz="1600" b="1" dirty="0" smtClean="0">
                <a:latin typeface="微软雅黑" pitchFamily="34" charset="-122"/>
                <a:ea typeface="微软雅黑" pitchFamily="34" charset="-122"/>
              </a:rPr>
              <a:t>子类型。 </a:t>
            </a:r>
            <a:endParaRPr lang="zh-CN" altLang="en-US" sz="1600" b="1" dirty="0">
              <a:latin typeface="微软雅黑" pitchFamily="34" charset="-122"/>
              <a:ea typeface="微软雅黑" pitchFamily="34" charset="-122"/>
            </a:endParaRPr>
          </a:p>
        </p:txBody>
      </p:sp>
      <p:sp>
        <p:nvSpPr>
          <p:cNvPr id="11"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37297550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884"/>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1649079" y="567673"/>
            <a:ext cx="58645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内容传送</a:t>
            </a:r>
            <a:r>
              <a:rPr lang="zh-CN" altLang="en-US" sz="2000" b="1" dirty="0" smtClean="0">
                <a:solidFill>
                  <a:schemeClr val="bg1"/>
                </a:solidFill>
                <a:latin typeface="微软雅黑" pitchFamily="34" charset="-122"/>
                <a:ea typeface="微软雅黑" pitchFamily="34" charset="-122"/>
              </a:rPr>
              <a:t>编码</a:t>
            </a:r>
            <a:r>
              <a:rPr lang="en-US" altLang="zh-CN" sz="2000" b="1" dirty="0" smtClean="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Content-Transfer-Encoding) </a:t>
            </a:r>
            <a:endParaRPr lang="zh-CN" altLang="en-US" sz="2000" b="1" dirty="0">
              <a:solidFill>
                <a:schemeClr val="bg1"/>
              </a:solidFill>
              <a:latin typeface="微软雅黑" pitchFamily="34" charset="-122"/>
              <a:ea typeface="微软雅黑" pitchFamily="34" charset="-122"/>
            </a:endParaRPr>
          </a:p>
        </p:txBody>
      </p:sp>
      <p:graphicFrame>
        <p:nvGraphicFramePr>
          <p:cNvPr id="5" name="Group 34"/>
          <p:cNvGraphicFramePr>
            <a:graphicFrameLocks noGrp="1"/>
          </p:cNvGraphicFramePr>
          <p:nvPr>
            <p:extLst/>
          </p:nvPr>
        </p:nvGraphicFramePr>
        <p:xfrm>
          <a:off x="663499" y="1027960"/>
          <a:ext cx="7814680" cy="3058430"/>
        </p:xfrm>
        <a:graphic>
          <a:graphicData uri="http://schemas.openxmlformats.org/drawingml/2006/table">
            <a:tbl>
              <a:tblPr firstRow="1" bandRow="1">
                <a:tableStyleId>{5C22544A-7EE6-4342-B048-85BDC9FD1C3A}</a:tableStyleId>
              </a:tblPr>
              <a:tblGrid>
                <a:gridCol w="1149825">
                  <a:extLst>
                    <a:ext uri="{9D8B030D-6E8A-4147-A177-3AD203B41FA5}">
                      <a16:colId xmlns:a16="http://schemas.microsoft.com/office/drawing/2014/main" val="20000"/>
                    </a:ext>
                  </a:extLst>
                </a:gridCol>
                <a:gridCol w="6664855">
                  <a:extLst>
                    <a:ext uri="{9D8B030D-6E8A-4147-A177-3AD203B41FA5}">
                      <a16:colId xmlns:a16="http://schemas.microsoft.com/office/drawing/2014/main" val="20001"/>
                    </a:ext>
                  </a:extLst>
                </a:gridCol>
              </a:tblGrid>
              <a:tr h="36603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itchFamily="2" charset="2"/>
                        <a:buNone/>
                        <a:tabLst/>
                      </a:pPr>
                      <a:r>
                        <a:rPr kumimoji="1" lang="zh-CN" altLang="en-US" sz="1600" b="1" i="0" u="none" strike="noStrike" cap="none" normalizeH="0" baseline="0" dirty="0" smtClean="0">
                          <a:ln>
                            <a:noFill/>
                          </a:ln>
                          <a:solidFill>
                            <a:schemeClr val="bg1"/>
                          </a:solidFill>
                          <a:effectLst/>
                          <a:latin typeface="微软雅黑" pitchFamily="34" charset="-122"/>
                          <a:ea typeface="微软雅黑" pitchFamily="34" charset="-122"/>
                        </a:rPr>
                        <a:t>编码方法</a:t>
                      </a:r>
                      <a:endParaRPr kumimoji="1" lang="en-US" altLang="ko-KR" sz="1600" b="1" i="0" u="none" strike="noStrike" cap="none" normalizeH="0" baseline="0" dirty="0" smtClean="0">
                        <a:ln>
                          <a:noFill/>
                        </a:ln>
                        <a:solidFill>
                          <a:schemeClr val="bg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itchFamily="2" charset="2"/>
                        <a:buNone/>
                        <a:tabLst/>
                      </a:pPr>
                      <a:r>
                        <a:rPr kumimoji="1" lang="zh-CN" altLang="en-US" sz="1600" b="1" i="0" u="none" strike="noStrike" cap="none" normalizeH="0" baseline="0" dirty="0" smtClean="0">
                          <a:ln>
                            <a:noFill/>
                          </a:ln>
                          <a:solidFill>
                            <a:schemeClr val="bg1"/>
                          </a:solidFill>
                          <a:effectLst/>
                          <a:latin typeface="微软雅黑" pitchFamily="34" charset="-122"/>
                          <a:ea typeface="微软雅黑" pitchFamily="34" charset="-122"/>
                        </a:rPr>
                        <a:t>说明</a:t>
                      </a:r>
                      <a:endParaRPr kumimoji="1" lang="en-US" altLang="ko-KR" sz="1600" b="1" i="0" u="none" strike="noStrike" cap="none" normalizeH="0" baseline="0" dirty="0" smtClean="0">
                        <a:ln>
                          <a:noFill/>
                        </a:ln>
                        <a:solidFill>
                          <a:schemeClr val="bg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extLst>
                  <a:ext uri="{0D108BD9-81ED-4DB2-BD59-A6C34878D82A}">
                    <a16:rowId xmlns:a16="http://schemas.microsoft.com/office/drawing/2014/main" val="10000"/>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7bit</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7 </a:t>
                      </a:r>
                      <a:r>
                        <a:rPr kumimoji="1" lang="zh-CN" altLang="en-US" sz="1600" b="1" u="none" strike="noStrike" cap="none" normalizeH="0" baseline="0" dirty="0" smtClean="0">
                          <a:ln>
                            <a:noFill/>
                          </a:ln>
                          <a:effectLst/>
                          <a:latin typeface="微软雅黑" pitchFamily="34" charset="-122"/>
                          <a:ea typeface="微软雅黑" pitchFamily="34" charset="-122"/>
                        </a:rPr>
                        <a:t>位 </a:t>
                      </a:r>
                      <a:r>
                        <a:rPr kumimoji="1" lang="en-US" altLang="ko-KR" sz="1600" b="1" u="none" strike="noStrike" cap="none" normalizeH="0" baseline="0" dirty="0" smtClean="0">
                          <a:ln>
                            <a:noFill/>
                          </a:ln>
                          <a:effectLst/>
                          <a:latin typeface="微软雅黑" pitchFamily="34" charset="-122"/>
                          <a:ea typeface="微软雅黑" pitchFamily="34" charset="-122"/>
                        </a:rPr>
                        <a:t>ASCII </a:t>
                      </a:r>
                      <a:r>
                        <a:rPr kumimoji="1" lang="zh-CN" altLang="en-US" sz="1600" b="1" u="none" strike="noStrike" cap="none" normalizeH="0" baseline="0" dirty="0" smtClean="0">
                          <a:ln>
                            <a:noFill/>
                          </a:ln>
                          <a:effectLst/>
                          <a:latin typeface="微软雅黑" pitchFamily="34" charset="-122"/>
                          <a:ea typeface="微软雅黑" pitchFamily="34" charset="-122"/>
                        </a:rPr>
                        <a:t>编码，每行不能超过 </a:t>
                      </a:r>
                      <a:r>
                        <a:rPr kumimoji="1" lang="en-US" altLang="zh-CN" sz="1600" b="1" u="none" strike="noStrike" cap="none" normalizeH="0" baseline="0" dirty="0" smtClean="0">
                          <a:ln>
                            <a:noFill/>
                          </a:ln>
                          <a:effectLst/>
                          <a:latin typeface="微软雅黑" pitchFamily="34" charset="-122"/>
                          <a:ea typeface="微软雅黑" pitchFamily="34" charset="-122"/>
                        </a:rPr>
                        <a:t>1000 </a:t>
                      </a:r>
                      <a:r>
                        <a:rPr kumimoji="1" lang="zh-CN" altLang="en-US" sz="1600" b="1" u="none" strike="noStrike" cap="none" normalizeH="0" baseline="0" dirty="0" smtClean="0">
                          <a:ln>
                            <a:noFill/>
                          </a:ln>
                          <a:effectLst/>
                          <a:latin typeface="微软雅黑" pitchFamily="34" charset="-122"/>
                          <a:ea typeface="微软雅黑" pitchFamily="34" charset="-122"/>
                        </a:rPr>
                        <a:t>个字符（包括回车和换行</a:t>
                      </a:r>
                      <a:r>
                        <a:rPr kumimoji="1" lang="zh-CN" altLang="en-US" sz="1600" b="1" u="none" strike="noStrike" cap="none" normalizeH="0" baseline="0" smtClean="0">
                          <a:ln>
                            <a:noFill/>
                          </a:ln>
                          <a:effectLst/>
                          <a:latin typeface="微软雅黑" pitchFamily="34" charset="-122"/>
                          <a:ea typeface="微软雅黑" pitchFamily="34" charset="-122"/>
                        </a:rPr>
                        <a:t>）。默认编码方法</a:t>
                      </a:r>
                      <a:r>
                        <a:rPr kumimoji="1" lang="zh-CN" altLang="en-US" sz="1600" b="1" u="none" strike="noStrike" cap="none" normalizeH="0" baseline="0" dirty="0" smtClean="0">
                          <a:ln>
                            <a:noFill/>
                          </a:ln>
                          <a:effectLst/>
                          <a:latin typeface="微软雅黑" pitchFamily="34" charset="-122"/>
                          <a:ea typeface="微软雅黑" pitchFamily="34" charset="-122"/>
                        </a:rPr>
                        <a:t>。</a:t>
                      </a:r>
                      <a:endParaRPr kumimoji="1" lang="ko-KR" altLang="en-US" sz="1600" b="1" i="0" u="none" strike="noStrike" cap="none" normalizeH="0" baseline="0" dirty="0" smtClean="0">
                        <a:ln>
                          <a:noFill/>
                        </a:ln>
                        <a:solidFill>
                          <a:schemeClr val="tx1"/>
                        </a:solidFill>
                        <a:effectLst/>
                        <a:latin typeface="微软雅黑" pitchFamily="34" charset="-122"/>
                        <a:ea typeface="굴림" pitchFamily="50"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1"/>
                  </a:ext>
                </a:extLst>
              </a:tr>
              <a:tr h="36734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8bit</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8 </a:t>
                      </a:r>
                      <a:r>
                        <a:rPr kumimoji="1" lang="zh-CN" altLang="en-US" sz="1600" b="1" u="none" strike="noStrike" cap="none" normalizeH="0" baseline="0" dirty="0" smtClean="0">
                          <a:ln>
                            <a:noFill/>
                          </a:ln>
                          <a:effectLst/>
                          <a:latin typeface="微软雅黑" pitchFamily="34" charset="-122"/>
                          <a:ea typeface="微软雅黑" pitchFamily="34" charset="-122"/>
                        </a:rPr>
                        <a:t>位非 </a:t>
                      </a:r>
                      <a:r>
                        <a:rPr kumimoji="1" lang="en-US" altLang="zh-CN" sz="1600" b="1" u="none" strike="noStrike" cap="none" normalizeH="0" baseline="0" dirty="0" smtClean="0">
                          <a:ln>
                            <a:noFill/>
                          </a:ln>
                          <a:effectLst/>
                          <a:latin typeface="微软雅黑" pitchFamily="34" charset="-122"/>
                          <a:ea typeface="微软雅黑" pitchFamily="34" charset="-122"/>
                        </a:rPr>
                        <a:t>ASCII </a:t>
                      </a:r>
                      <a:r>
                        <a:rPr kumimoji="1" lang="zh-CN" altLang="en-US" sz="1600" b="1" u="none" strike="noStrike" cap="none" normalizeH="0" baseline="0" dirty="0" smtClean="0">
                          <a:ln>
                            <a:noFill/>
                          </a:ln>
                          <a:effectLst/>
                          <a:latin typeface="微软雅黑" pitchFamily="34" charset="-122"/>
                          <a:ea typeface="微软雅黑" pitchFamily="34" charset="-122"/>
                        </a:rPr>
                        <a:t>编码，每行不能超过 </a:t>
                      </a:r>
                      <a:r>
                        <a:rPr kumimoji="1" lang="en-US" altLang="zh-CN" sz="1600" b="1" u="none" strike="noStrike" cap="none" normalizeH="0" baseline="0" dirty="0" smtClean="0">
                          <a:ln>
                            <a:noFill/>
                          </a:ln>
                          <a:effectLst/>
                          <a:latin typeface="微软雅黑" pitchFamily="34" charset="-122"/>
                          <a:ea typeface="微软雅黑" pitchFamily="34" charset="-122"/>
                        </a:rPr>
                        <a:t>1000 </a:t>
                      </a:r>
                      <a:r>
                        <a:rPr kumimoji="1" lang="zh-CN" altLang="en-US" sz="1600" b="1" u="none" strike="noStrike" cap="none" normalizeH="0" baseline="0" dirty="0" smtClean="0">
                          <a:ln>
                            <a:noFill/>
                          </a:ln>
                          <a:effectLst/>
                          <a:latin typeface="微软雅黑" pitchFamily="34" charset="-122"/>
                          <a:ea typeface="微软雅黑" pitchFamily="34" charset="-122"/>
                        </a:rPr>
                        <a:t>个字节（包括回车和换行）。</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36734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Binary</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8 </a:t>
                      </a:r>
                      <a:r>
                        <a:rPr kumimoji="1" lang="zh-CN" altLang="en-US" sz="1600" b="1" u="none" strike="noStrike" cap="none" normalizeH="0" baseline="0" dirty="0" smtClean="0">
                          <a:ln>
                            <a:noFill/>
                          </a:ln>
                          <a:effectLst/>
                          <a:latin typeface="微软雅黑" pitchFamily="34" charset="-122"/>
                          <a:ea typeface="微软雅黑" pitchFamily="34" charset="-122"/>
                        </a:rPr>
                        <a:t>位非 </a:t>
                      </a:r>
                      <a:r>
                        <a:rPr kumimoji="1" lang="en-US" altLang="zh-CN" sz="1600" b="1" u="none" strike="noStrike" cap="none" normalizeH="0" baseline="0" dirty="0" smtClean="0">
                          <a:ln>
                            <a:noFill/>
                          </a:ln>
                          <a:effectLst/>
                          <a:latin typeface="微软雅黑" pitchFamily="34" charset="-122"/>
                          <a:ea typeface="微软雅黑" pitchFamily="34" charset="-122"/>
                        </a:rPr>
                        <a:t>ASCII </a:t>
                      </a:r>
                      <a:r>
                        <a:rPr kumimoji="1" lang="zh-CN" altLang="en-US" sz="1600" b="1" u="none" strike="noStrike" cap="none" normalizeH="0" baseline="0" dirty="0" smtClean="0">
                          <a:ln>
                            <a:noFill/>
                          </a:ln>
                          <a:effectLst/>
                          <a:latin typeface="微软雅黑" pitchFamily="34" charset="-122"/>
                          <a:ea typeface="微软雅黑" pitchFamily="34" charset="-122"/>
                        </a:rPr>
                        <a:t>编码，任意长度的字节串。</a:t>
                      </a:r>
                      <a:endParaRPr kumimoji="1" lang="ko-KR" altLang="en-US" sz="1600" b="1" i="0" u="none" strike="noStrike" cap="none" normalizeH="0" baseline="0" dirty="0" smtClean="0">
                        <a:ln>
                          <a:noFill/>
                        </a:ln>
                        <a:solidFill>
                          <a:schemeClr val="tx1"/>
                        </a:solidFill>
                        <a:effectLst/>
                        <a:latin typeface="微软雅黑" pitchFamily="34" charset="-122"/>
                        <a:ea typeface="굴림" pitchFamily="50"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3"/>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Base64</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zh-CN" altLang="en-US" sz="1600" b="1" u="none" strike="noStrike" kern="1200" cap="none" normalizeH="0" baseline="0" dirty="0" smtClean="0">
                          <a:ln>
                            <a:noFill/>
                          </a:ln>
                          <a:solidFill>
                            <a:schemeClr val="dk1"/>
                          </a:solidFill>
                          <a:effectLst/>
                          <a:latin typeface="微软雅黑" pitchFamily="34" charset="-122"/>
                          <a:ea typeface="微软雅黑" pitchFamily="34" charset="-122"/>
                          <a:cs typeface="+mn-cs"/>
                        </a:rPr>
                        <a:t>将任意长度的字节串转换为用 </a:t>
                      </a:r>
                      <a:r>
                        <a:rPr kumimoji="1" lang="en-US" altLang="zh-CN" sz="1600" b="1" u="none" strike="noStrike" kern="1200" cap="none" normalizeH="0" baseline="0" dirty="0" smtClean="0">
                          <a:ln>
                            <a:noFill/>
                          </a:ln>
                          <a:solidFill>
                            <a:schemeClr val="dk1"/>
                          </a:solidFill>
                          <a:effectLst/>
                          <a:latin typeface="微软雅黑" pitchFamily="34" charset="-122"/>
                          <a:ea typeface="微软雅黑" pitchFamily="34" charset="-122"/>
                          <a:cs typeface="+mn-cs"/>
                        </a:rPr>
                        <a:t>7 </a:t>
                      </a:r>
                      <a:r>
                        <a:rPr kumimoji="1" lang="zh-CN" altLang="en-US" sz="1600" b="1" u="none" strike="noStrike" kern="1200" cap="none" normalizeH="0" baseline="0" dirty="0" smtClean="0">
                          <a:ln>
                            <a:noFill/>
                          </a:ln>
                          <a:solidFill>
                            <a:schemeClr val="dk1"/>
                          </a:solidFill>
                          <a:effectLst/>
                          <a:latin typeface="微软雅黑" pitchFamily="34" charset="-122"/>
                          <a:ea typeface="微软雅黑" pitchFamily="34" charset="-122"/>
                          <a:cs typeface="+mn-cs"/>
                        </a:rPr>
                        <a:t>位 </a:t>
                      </a:r>
                      <a:r>
                        <a:rPr kumimoji="1" lang="en-US" altLang="zh-CN" sz="1600" b="1" u="none" strike="noStrike" kern="1200" cap="none" normalizeH="0" baseline="0" dirty="0" smtClean="0">
                          <a:ln>
                            <a:noFill/>
                          </a:ln>
                          <a:solidFill>
                            <a:schemeClr val="dk1"/>
                          </a:solidFill>
                          <a:effectLst/>
                          <a:latin typeface="微软雅黑" pitchFamily="34" charset="-122"/>
                          <a:ea typeface="微软雅黑" pitchFamily="34" charset="-122"/>
                          <a:cs typeface="+mn-cs"/>
                        </a:rPr>
                        <a:t>ASCII </a:t>
                      </a:r>
                      <a:r>
                        <a:rPr kumimoji="1" lang="zh-CN" altLang="en-US" sz="1600" b="1" u="none" strike="noStrike" kern="1200" cap="none" normalizeH="0" baseline="0" dirty="0" smtClean="0">
                          <a:ln>
                            <a:noFill/>
                          </a:ln>
                          <a:solidFill>
                            <a:schemeClr val="dk1"/>
                          </a:solidFill>
                          <a:effectLst/>
                          <a:latin typeface="微软雅黑" pitchFamily="34" charset="-122"/>
                          <a:ea typeface="微软雅黑" pitchFamily="34" charset="-122"/>
                          <a:cs typeface="+mn-cs"/>
                        </a:rPr>
                        <a:t>编码表示的字符串。可用于二进制和非文本数据的编码。</a:t>
                      </a:r>
                      <a:endParaRPr kumimoji="1" lang="ko-KR" altLang="en-US" sz="1600" b="1" u="none" strike="noStrike" kern="1200" cap="none" normalizeH="0" baseline="0" dirty="0" smtClean="0">
                        <a:ln>
                          <a:noFill/>
                        </a:ln>
                        <a:solidFill>
                          <a:schemeClr val="dk1"/>
                        </a:solidFill>
                        <a:effectLst/>
                        <a:latin typeface="微软雅黑" pitchFamily="34" charset="-122"/>
                        <a:ea typeface="微软雅黑" pitchFamily="34" charset="-122"/>
                        <a:cs typeface="+mn-cs"/>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smtClean="0">
                          <a:ln>
                            <a:noFill/>
                          </a:ln>
                          <a:effectLst/>
                          <a:latin typeface="微软雅黑" pitchFamily="34" charset="-122"/>
                          <a:ea typeface="微软雅黑" pitchFamily="34" charset="-122"/>
                        </a:rPr>
                        <a:t>Quoted-printable</a:t>
                      </a:r>
                      <a:endParaRPr kumimoji="1" lang="en-US" altLang="ko-KR" sz="1600" b="1" i="0" u="none" strike="noStrike" cap="none" normalizeH="0" baseline="0" dirty="0" smtClean="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zh-CN" altLang="en-US" sz="1600" b="1" u="none" strike="noStrike" cap="none" normalizeH="0" baseline="0" dirty="0" smtClean="0">
                          <a:ln>
                            <a:noFill/>
                          </a:ln>
                          <a:effectLst/>
                          <a:latin typeface="微软雅黑" pitchFamily="34" charset="-122"/>
                          <a:ea typeface="微软雅黑" pitchFamily="34" charset="-122"/>
                        </a:rPr>
                        <a:t>将任意长度的字节串转换为 </a:t>
                      </a:r>
                      <a:r>
                        <a:rPr kumimoji="1" lang="en-US" altLang="zh-CN" sz="1600" b="1" u="none" strike="noStrike" cap="none" normalizeH="0" baseline="0" dirty="0" smtClean="0">
                          <a:ln>
                            <a:noFill/>
                          </a:ln>
                          <a:effectLst/>
                          <a:latin typeface="微软雅黑" pitchFamily="34" charset="-122"/>
                          <a:ea typeface="微软雅黑" pitchFamily="34" charset="-122"/>
                        </a:rPr>
                        <a:t>ASCII </a:t>
                      </a:r>
                      <a:r>
                        <a:rPr kumimoji="1" lang="zh-CN" altLang="en-US" sz="1600" b="1" u="none" strike="noStrike" cap="none" normalizeH="0" baseline="0" dirty="0" smtClean="0">
                          <a:ln>
                            <a:noFill/>
                          </a:ln>
                          <a:effectLst/>
                          <a:latin typeface="微软雅黑" pitchFamily="34" charset="-122"/>
                          <a:ea typeface="微软雅黑" pitchFamily="34" charset="-122"/>
                        </a:rPr>
                        <a:t>编码表示的字符串。可用于二进制和非文本数据的编码。</a:t>
                      </a: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5"/>
                  </a:ext>
                </a:extLst>
              </a:tr>
            </a:tbl>
          </a:graphicData>
        </a:graphic>
      </p:graphicFrame>
      <p:sp>
        <p:nvSpPr>
          <p:cNvPr id="6"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21476822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4" y="1426737"/>
            <a:ext cx="8048775" cy="240686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Rectangle 68"/>
          <p:cNvSpPr>
            <a:spLocks noChangeArrowheads="1"/>
          </p:cNvSpPr>
          <p:nvPr/>
        </p:nvSpPr>
        <p:spPr bwMode="auto">
          <a:xfrm>
            <a:off x="556964" y="913678"/>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smtClean="0">
                <a:latin typeface="微软雅黑" pitchFamily="34" charset="-122"/>
                <a:ea typeface="微软雅黑" pitchFamily="34" charset="-122"/>
              </a:rPr>
              <a:t>适用于所</a:t>
            </a:r>
            <a:r>
              <a:rPr lang="zh-CN" altLang="en-US" sz="2000" b="1" dirty="0">
                <a:latin typeface="微软雅黑" pitchFamily="34" charset="-122"/>
                <a:ea typeface="微软雅黑" pitchFamily="34" charset="-122"/>
              </a:rPr>
              <a:t>传送的数据中只有</a:t>
            </a:r>
            <a:r>
              <a:rPr lang="zh-CN" altLang="en-US" sz="2000" b="1" dirty="0">
                <a:solidFill>
                  <a:srgbClr val="C00000"/>
                </a:solidFill>
                <a:latin typeface="微软雅黑" pitchFamily="34" charset="-122"/>
                <a:ea typeface="微软雅黑" pitchFamily="34" charset="-122"/>
              </a:rPr>
              <a:t>少量</a:t>
            </a:r>
            <a:r>
              <a:rPr lang="zh-CN" altLang="en-US" sz="2000" b="1" dirty="0">
                <a:latin typeface="微软雅黑" pitchFamily="34" charset="-122"/>
                <a:ea typeface="微软雅黑" pitchFamily="34" charset="-122"/>
              </a:rPr>
              <a:t>的非 </a:t>
            </a:r>
            <a:r>
              <a:rPr lang="en-US" altLang="zh-CN" sz="2000" b="1" dirty="0">
                <a:latin typeface="微软雅黑" pitchFamily="34" charset="-122"/>
                <a:ea typeface="微软雅黑" pitchFamily="34" charset="-122"/>
              </a:rPr>
              <a:t>ASCII </a:t>
            </a:r>
            <a:r>
              <a:rPr lang="zh-CN" altLang="en-US" sz="2000" b="1" dirty="0" smtClean="0">
                <a:latin typeface="微软雅黑" pitchFamily="34" charset="-122"/>
                <a:ea typeface="微软雅黑" pitchFamily="34" charset="-122"/>
              </a:rPr>
              <a:t>码的情况。</a:t>
            </a:r>
            <a:endParaRPr lang="en-US" altLang="zh-CN" sz="2000"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56963" y="59925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7870"/>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itchFamily="34" charset="-122"/>
                <a:ea typeface="微软雅黑" pitchFamily="34" charset="-122"/>
              </a:rPr>
              <a:t>Quoted-printable </a:t>
            </a:r>
            <a:r>
              <a:rPr lang="zh-CN" altLang="en-US" sz="2000" b="1" dirty="0" smtClean="0">
                <a:latin typeface="微软雅黑" pitchFamily="34" charset="-122"/>
                <a:ea typeface="微软雅黑" pitchFamily="34" charset="-122"/>
              </a:rPr>
              <a:t>编码</a:t>
            </a:r>
            <a:endParaRPr lang="zh-CN" altLang="en-US" sz="2000" b="1" dirty="0">
              <a:latin typeface="微软雅黑" pitchFamily="34" charset="-122"/>
              <a:ea typeface="微软雅黑" pitchFamily="34" charset="-122"/>
            </a:endParaRPr>
          </a:p>
        </p:txBody>
      </p:sp>
      <p:sp>
        <p:nvSpPr>
          <p:cNvPr id="8" name="Rectangle 1030"/>
          <p:cNvSpPr>
            <a:spLocks noChangeArrowheads="1"/>
          </p:cNvSpPr>
          <p:nvPr/>
        </p:nvSpPr>
        <p:spPr bwMode="auto">
          <a:xfrm>
            <a:off x="1037781" y="2730424"/>
            <a:ext cx="993646" cy="277470"/>
          </a:xfrm>
          <a:prstGeom prst="rect">
            <a:avLst/>
          </a:prstGeom>
          <a:solidFill>
            <a:srgbClr val="0000FF"/>
          </a:solidFill>
          <a:ln w="9525">
            <a:solidFill>
              <a:srgbClr val="000000"/>
            </a:solidFill>
            <a:miter lim="800000"/>
            <a:headEnd/>
            <a:tailEnd/>
          </a:ln>
          <a:effectLst/>
          <a:ex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a:solidFill>
                  <a:schemeClr val="bg1"/>
                </a:solidFill>
                <a:latin typeface="微软雅黑" pitchFamily="34" charset="-122"/>
                <a:ea typeface="微软雅黑" pitchFamily="34" charset="-122"/>
              </a:rPr>
              <a:t>00111101</a:t>
            </a:r>
          </a:p>
        </p:txBody>
      </p:sp>
      <p:sp>
        <p:nvSpPr>
          <p:cNvPr id="9" name="Rectangle 1031"/>
          <p:cNvSpPr>
            <a:spLocks noChangeArrowheads="1"/>
          </p:cNvSpPr>
          <p:nvPr/>
        </p:nvSpPr>
        <p:spPr bwMode="auto">
          <a:xfrm>
            <a:off x="2039791" y="2730424"/>
            <a:ext cx="993646" cy="277470"/>
          </a:xfrm>
          <a:prstGeom prst="rect">
            <a:avLst/>
          </a:prstGeom>
          <a:solidFill>
            <a:srgbClr val="0000FF"/>
          </a:solidFill>
          <a:ln w="9525">
            <a:solidFill>
              <a:srgbClr val="000000"/>
            </a:solidFill>
            <a:miter lim="800000"/>
            <a:headEnd/>
            <a:tailEnd/>
          </a:ln>
          <a:effectLst/>
          <a:ex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a:solidFill>
                  <a:schemeClr val="bg1"/>
                </a:solidFill>
                <a:latin typeface="微软雅黑" pitchFamily="34" charset="-122"/>
                <a:ea typeface="微软雅黑" pitchFamily="34" charset="-122"/>
              </a:rPr>
              <a:t>00111001</a:t>
            </a:r>
          </a:p>
        </p:txBody>
      </p:sp>
      <p:sp>
        <p:nvSpPr>
          <p:cNvPr id="10" name="Rectangle 1032"/>
          <p:cNvSpPr>
            <a:spLocks noChangeArrowheads="1"/>
          </p:cNvSpPr>
          <p:nvPr/>
        </p:nvSpPr>
        <p:spPr bwMode="auto">
          <a:xfrm>
            <a:off x="3031291" y="2730424"/>
            <a:ext cx="993646" cy="277470"/>
          </a:xfrm>
          <a:prstGeom prst="rect">
            <a:avLst/>
          </a:prstGeom>
          <a:solidFill>
            <a:srgbClr val="0000FF"/>
          </a:solidFill>
          <a:ln w="9525">
            <a:solidFill>
              <a:srgbClr val="000000"/>
            </a:solidFill>
            <a:miter lim="800000"/>
            <a:headEnd/>
            <a:tailEnd/>
          </a:ln>
          <a:effectLst/>
          <a:ex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dirty="0">
                <a:solidFill>
                  <a:schemeClr val="bg1"/>
                </a:solidFill>
                <a:latin typeface="微软雅黑" pitchFamily="34" charset="-122"/>
                <a:ea typeface="微软雅黑" pitchFamily="34" charset="-122"/>
              </a:rPr>
              <a:t>01000100</a:t>
            </a:r>
          </a:p>
        </p:txBody>
      </p:sp>
      <p:sp>
        <p:nvSpPr>
          <p:cNvPr id="11" name="Line 1035"/>
          <p:cNvSpPr>
            <a:spLocks noChangeShapeType="1"/>
          </p:cNvSpPr>
          <p:nvPr/>
        </p:nvSpPr>
        <p:spPr bwMode="auto">
          <a:xfrm flipH="1">
            <a:off x="1546227" y="1999099"/>
            <a:ext cx="738668" cy="731324"/>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2" name="Line 1036"/>
          <p:cNvSpPr>
            <a:spLocks noChangeShapeType="1"/>
          </p:cNvSpPr>
          <p:nvPr/>
        </p:nvSpPr>
        <p:spPr bwMode="auto">
          <a:xfrm flipH="1">
            <a:off x="2487095" y="1945728"/>
            <a:ext cx="0" cy="784695"/>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3" name="Line 1037"/>
          <p:cNvSpPr>
            <a:spLocks noChangeShapeType="1"/>
          </p:cNvSpPr>
          <p:nvPr/>
        </p:nvSpPr>
        <p:spPr bwMode="auto">
          <a:xfrm>
            <a:off x="2757862" y="1818633"/>
            <a:ext cx="791917" cy="911791"/>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4" name="Text Box 1043"/>
          <p:cNvSpPr txBox="1">
            <a:spLocks noChangeArrowheads="1"/>
          </p:cNvSpPr>
          <p:nvPr/>
        </p:nvSpPr>
        <p:spPr bwMode="auto">
          <a:xfrm>
            <a:off x="1268065" y="2422994"/>
            <a:ext cx="42030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a:t>
            </a:r>
          </a:p>
        </p:txBody>
      </p:sp>
      <p:sp>
        <p:nvSpPr>
          <p:cNvPr id="15" name="Text Box 1044"/>
          <p:cNvSpPr txBox="1">
            <a:spLocks noChangeArrowheads="1"/>
          </p:cNvSpPr>
          <p:nvPr/>
        </p:nvSpPr>
        <p:spPr bwMode="auto">
          <a:xfrm>
            <a:off x="2482976" y="2422994"/>
            <a:ext cx="39786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(9)</a:t>
            </a:r>
          </a:p>
        </p:txBody>
      </p:sp>
      <p:sp>
        <p:nvSpPr>
          <p:cNvPr id="16" name="Text Box 1045"/>
          <p:cNvSpPr txBox="1">
            <a:spLocks noChangeArrowheads="1"/>
          </p:cNvSpPr>
          <p:nvPr/>
        </p:nvSpPr>
        <p:spPr bwMode="auto">
          <a:xfrm>
            <a:off x="3445006" y="2422994"/>
            <a:ext cx="4251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(D)</a:t>
            </a:r>
          </a:p>
        </p:txBody>
      </p:sp>
      <p:sp>
        <p:nvSpPr>
          <p:cNvPr id="7" name="Rectangle 1028"/>
          <p:cNvSpPr>
            <a:spLocks noChangeArrowheads="1"/>
          </p:cNvSpPr>
          <p:nvPr/>
        </p:nvSpPr>
        <p:spPr bwMode="auto">
          <a:xfrm>
            <a:off x="943192" y="1818633"/>
            <a:ext cx="3186846" cy="360933"/>
          </a:xfrm>
          <a:prstGeom prst="rect">
            <a:avLst/>
          </a:prstGeom>
          <a:solidFill>
            <a:srgbClr val="00CCFF"/>
          </a:solidFill>
          <a:ln w="9525">
            <a:solidFill>
              <a:srgbClr val="000000"/>
            </a:solidFill>
            <a:miter lim="800000"/>
            <a:headEnd/>
            <a:tailEnd/>
          </a:ln>
          <a:effectLst/>
          <a:ex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dirty="0" smtClean="0">
                <a:solidFill>
                  <a:srgbClr val="020202"/>
                </a:solidFill>
                <a:latin typeface="微软雅黑" pitchFamily="34" charset="-122"/>
                <a:ea typeface="微软雅黑" pitchFamily="34" charset="-122"/>
              </a:rPr>
              <a:t> … 01001100   </a:t>
            </a:r>
            <a:r>
              <a:rPr lang="en-US" altLang="zh-CN" sz="1200" b="1" dirty="0" smtClean="0">
                <a:solidFill>
                  <a:srgbClr val="0000FF"/>
                </a:solidFill>
                <a:latin typeface="微软雅黑" pitchFamily="34" charset="-122"/>
                <a:ea typeface="微软雅黑" pitchFamily="34" charset="-122"/>
              </a:rPr>
              <a:t>1001</a:t>
            </a:r>
            <a:r>
              <a:rPr lang="en-US" altLang="zh-CN" sz="1200" b="1" dirty="0" smtClean="0">
                <a:solidFill>
                  <a:srgbClr val="C00000"/>
                </a:solidFill>
                <a:latin typeface="微软雅黑" pitchFamily="34" charset="-122"/>
                <a:ea typeface="微软雅黑" pitchFamily="34" charset="-122"/>
              </a:rPr>
              <a:t>1101 </a:t>
            </a:r>
            <a:r>
              <a:rPr lang="en-US" altLang="zh-CN" sz="1200" b="1" dirty="0" smtClean="0">
                <a:solidFill>
                  <a:srgbClr val="020202"/>
                </a:solidFill>
                <a:latin typeface="微软雅黑" pitchFamily="34" charset="-122"/>
                <a:ea typeface="微软雅黑" pitchFamily="34" charset="-122"/>
              </a:rPr>
              <a:t>     00111001  … </a:t>
            </a:r>
            <a:endParaRPr lang="en-US" altLang="zh-CN" sz="1200" b="1" dirty="0">
              <a:solidFill>
                <a:srgbClr val="020202"/>
              </a:solidFill>
              <a:latin typeface="微软雅黑" pitchFamily="34" charset="-122"/>
              <a:ea typeface="微软雅黑" pitchFamily="34" charset="-122"/>
            </a:endParaRPr>
          </a:p>
        </p:txBody>
      </p:sp>
      <p:sp>
        <p:nvSpPr>
          <p:cNvPr id="17" name="矩形 16"/>
          <p:cNvSpPr/>
          <p:nvPr/>
        </p:nvSpPr>
        <p:spPr>
          <a:xfrm>
            <a:off x="2092340" y="1860673"/>
            <a:ext cx="951937" cy="288000"/>
          </a:xfrm>
          <a:prstGeom prst="rect">
            <a:avLst/>
          </a:prstGeom>
          <a:solidFill>
            <a:srgbClr val="FFFF00"/>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rgbClr val="0000FF"/>
                </a:solidFill>
                <a:latin typeface="微软雅黑" pitchFamily="34" charset="-122"/>
                <a:ea typeface="微软雅黑" pitchFamily="34" charset="-122"/>
              </a:rPr>
              <a:t>1001</a:t>
            </a:r>
            <a:r>
              <a:rPr lang="en-US" altLang="zh-CN" sz="1200" b="1" dirty="0">
                <a:solidFill>
                  <a:srgbClr val="C00000"/>
                </a:solidFill>
                <a:latin typeface="微软雅黑" pitchFamily="34" charset="-122"/>
                <a:ea typeface="微软雅黑" pitchFamily="34" charset="-122"/>
              </a:rPr>
              <a:t>1101</a:t>
            </a:r>
            <a:endParaRPr lang="zh-CN" altLang="en-US" sz="1200" b="1" dirty="0">
              <a:solidFill>
                <a:srgbClr val="020202"/>
              </a:solidFill>
              <a:latin typeface="微软雅黑" pitchFamily="34" charset="-122"/>
              <a:ea typeface="微软雅黑" pitchFamily="34" charset="-122"/>
            </a:endParaRPr>
          </a:p>
        </p:txBody>
      </p:sp>
      <p:sp>
        <p:nvSpPr>
          <p:cNvPr id="20" name="Line 1036"/>
          <p:cNvSpPr>
            <a:spLocks noChangeShapeType="1"/>
          </p:cNvSpPr>
          <p:nvPr/>
        </p:nvSpPr>
        <p:spPr bwMode="auto">
          <a:xfrm flipH="1">
            <a:off x="6334120" y="2187812"/>
            <a:ext cx="0" cy="469041"/>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8" name="矩形 17"/>
          <p:cNvSpPr/>
          <p:nvPr/>
        </p:nvSpPr>
        <p:spPr>
          <a:xfrm>
            <a:off x="4704345" y="2007813"/>
            <a:ext cx="3350597" cy="360000"/>
          </a:xfrm>
          <a:prstGeom prst="rect">
            <a:avLst/>
          </a:prstGeom>
          <a:solidFill>
            <a:srgbClr val="FFFF00"/>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rgbClr val="020202"/>
                </a:solidFill>
                <a:latin typeface="微软雅黑" pitchFamily="34" charset="-122"/>
                <a:ea typeface="微软雅黑" pitchFamily="34" charset="-122"/>
              </a:rPr>
              <a:t>11001111 10110101 11001101 10110011</a:t>
            </a:r>
            <a:endParaRPr lang="zh-CN" altLang="en-US" sz="1200" b="1" dirty="0">
              <a:solidFill>
                <a:srgbClr val="020202"/>
              </a:solidFill>
              <a:latin typeface="微软雅黑" pitchFamily="34" charset="-122"/>
              <a:ea typeface="微软雅黑" pitchFamily="34" charset="-122"/>
            </a:endParaRPr>
          </a:p>
        </p:txBody>
      </p:sp>
      <p:sp>
        <p:nvSpPr>
          <p:cNvPr id="19" name="矩形 18"/>
          <p:cNvSpPr/>
          <p:nvPr/>
        </p:nvSpPr>
        <p:spPr>
          <a:xfrm>
            <a:off x="5599465" y="2646344"/>
            <a:ext cx="1470274" cy="276999"/>
          </a:xfrm>
          <a:prstGeom prst="rect">
            <a:avLst/>
          </a:prstGeom>
          <a:solidFill>
            <a:srgbClr val="0000FF"/>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chemeClr val="bg1"/>
                </a:solidFill>
                <a:latin typeface="微软雅黑" pitchFamily="34" charset="-122"/>
                <a:ea typeface="微软雅黑" pitchFamily="34" charset="-122"/>
              </a:rPr>
              <a:t>=CF=B5=CD=B3</a:t>
            </a:r>
            <a:endParaRPr lang="zh-CN" altLang="en-US" sz="1200" b="1" dirty="0">
              <a:solidFill>
                <a:schemeClr val="bg1"/>
              </a:solidFill>
              <a:latin typeface="微软雅黑" pitchFamily="34" charset="-122"/>
              <a:ea typeface="微软雅黑" pitchFamily="34" charset="-122"/>
            </a:endParaRPr>
          </a:p>
        </p:txBody>
      </p:sp>
      <p:sp>
        <p:nvSpPr>
          <p:cNvPr id="21" name="矩形 20"/>
          <p:cNvSpPr/>
          <p:nvPr/>
        </p:nvSpPr>
        <p:spPr>
          <a:xfrm>
            <a:off x="6062383" y="1749577"/>
            <a:ext cx="527709" cy="276999"/>
          </a:xfrm>
          <a:prstGeom prst="rect">
            <a:avLst/>
          </a:prstGeom>
        </p:spPr>
        <p:txBody>
          <a:bodyPr wrap="none">
            <a:spAutoFit/>
          </a:bodyPr>
          <a:lstStyle/>
          <a:p>
            <a:r>
              <a:rPr lang="en-US" altLang="zh-CN" sz="1200" b="1" dirty="0">
                <a:solidFill>
                  <a:srgbClr val="020202"/>
                </a:solidFill>
                <a:latin typeface="微软雅黑" pitchFamily="34" charset="-122"/>
                <a:ea typeface="微软雅黑" pitchFamily="34" charset="-122"/>
              </a:rPr>
              <a:t>32</a:t>
            </a:r>
            <a:r>
              <a:rPr lang="zh-CN" altLang="en-US" sz="1200" b="1" dirty="0">
                <a:solidFill>
                  <a:srgbClr val="020202"/>
                </a:solidFill>
                <a:latin typeface="微软雅黑" pitchFamily="34" charset="-122"/>
                <a:ea typeface="微软雅黑" pitchFamily="34" charset="-122"/>
              </a:rPr>
              <a:t>位</a:t>
            </a:r>
          </a:p>
        </p:txBody>
      </p:sp>
      <p:sp>
        <p:nvSpPr>
          <p:cNvPr id="22" name="矩形 21"/>
          <p:cNvSpPr/>
          <p:nvPr/>
        </p:nvSpPr>
        <p:spPr>
          <a:xfrm>
            <a:off x="6072893" y="2942423"/>
            <a:ext cx="527709" cy="276999"/>
          </a:xfrm>
          <a:prstGeom prst="rect">
            <a:avLst/>
          </a:prstGeom>
        </p:spPr>
        <p:txBody>
          <a:bodyPr wrap="none">
            <a:spAutoFit/>
          </a:bodyPr>
          <a:lstStyle/>
          <a:p>
            <a:r>
              <a:rPr lang="en-US" altLang="zh-CN" sz="1200" b="1" dirty="0" smtClean="0">
                <a:solidFill>
                  <a:srgbClr val="020202"/>
                </a:solidFill>
                <a:latin typeface="微软雅黑" pitchFamily="34" charset="-122"/>
                <a:ea typeface="微软雅黑" pitchFamily="34" charset="-122"/>
              </a:rPr>
              <a:t>96</a:t>
            </a:r>
            <a:r>
              <a:rPr lang="zh-CN" altLang="en-US" sz="1200" b="1" dirty="0" smtClean="0">
                <a:solidFill>
                  <a:srgbClr val="020202"/>
                </a:solidFill>
                <a:latin typeface="微软雅黑" pitchFamily="34" charset="-122"/>
                <a:ea typeface="微软雅黑" pitchFamily="34" charset="-122"/>
              </a:rPr>
              <a:t>位</a:t>
            </a:r>
            <a:endParaRPr lang="zh-CN" altLang="en-US" sz="1200" b="1" dirty="0">
              <a:solidFill>
                <a:srgbClr val="020202"/>
              </a:solidFill>
              <a:latin typeface="微软雅黑" pitchFamily="34" charset="-122"/>
              <a:ea typeface="微软雅黑" pitchFamily="34" charset="-122"/>
            </a:endParaRPr>
          </a:p>
        </p:txBody>
      </p:sp>
      <p:sp>
        <p:nvSpPr>
          <p:cNvPr id="23" name="矩形 22"/>
          <p:cNvSpPr/>
          <p:nvPr/>
        </p:nvSpPr>
        <p:spPr>
          <a:xfrm>
            <a:off x="1534604" y="3250851"/>
            <a:ext cx="5776107" cy="369332"/>
          </a:xfrm>
          <a:prstGeom prst="rect">
            <a:avLst/>
          </a:prstGeom>
        </p:spPr>
        <p:txBody>
          <a:bodyPr wrap="square" anchor="ctr">
            <a:spAutoFit/>
          </a:bodyPr>
          <a:lstStyle/>
          <a:p>
            <a:pPr algn="ctr"/>
            <a:r>
              <a:rPr lang="zh-CN" altLang="en-US" b="1" dirty="0" smtClean="0">
                <a:solidFill>
                  <a:srgbClr val="C00000"/>
                </a:solidFill>
                <a:latin typeface="微软雅黑" pitchFamily="34" charset="-122"/>
                <a:ea typeface="微软雅黑" pitchFamily="34" charset="-122"/>
              </a:rPr>
              <a:t>原来 </a:t>
            </a:r>
            <a:r>
              <a:rPr lang="en-US" altLang="zh-CN" b="1" dirty="0" smtClean="0">
                <a:solidFill>
                  <a:srgbClr val="C00000"/>
                </a:solidFill>
                <a:latin typeface="微软雅黑" pitchFamily="34" charset="-122"/>
                <a:ea typeface="微软雅黑" pitchFamily="34" charset="-122"/>
              </a:rPr>
              <a:t>1 </a:t>
            </a:r>
            <a:r>
              <a:rPr lang="zh-CN" altLang="en-US" b="1" dirty="0" smtClean="0">
                <a:solidFill>
                  <a:srgbClr val="C00000"/>
                </a:solidFill>
                <a:latin typeface="微软雅黑" pitchFamily="34" charset="-122"/>
                <a:ea typeface="微软雅黑" pitchFamily="34" charset="-122"/>
              </a:rPr>
              <a:t>个字节，现在需要 </a:t>
            </a:r>
            <a:r>
              <a:rPr lang="en-US" altLang="zh-CN" b="1" dirty="0" smtClean="0">
                <a:solidFill>
                  <a:srgbClr val="C00000"/>
                </a:solidFill>
                <a:latin typeface="微软雅黑" pitchFamily="34" charset="-122"/>
                <a:ea typeface="微软雅黑" pitchFamily="34" charset="-122"/>
              </a:rPr>
              <a:t>3 </a:t>
            </a:r>
            <a:r>
              <a:rPr lang="zh-CN" altLang="en-US" b="1" dirty="0" smtClean="0">
                <a:solidFill>
                  <a:srgbClr val="C00000"/>
                </a:solidFill>
                <a:latin typeface="微软雅黑" pitchFamily="34" charset="-122"/>
                <a:ea typeface="微软雅黑" pitchFamily="34" charset="-122"/>
              </a:rPr>
              <a:t>个字节，开销 </a:t>
            </a:r>
            <a:r>
              <a:rPr lang="en-US" altLang="zh-CN" b="1" dirty="0" smtClean="0">
                <a:solidFill>
                  <a:srgbClr val="C00000"/>
                </a:solidFill>
                <a:latin typeface="微软雅黑" pitchFamily="34" charset="-122"/>
                <a:ea typeface="微软雅黑" pitchFamily="34" charset="-122"/>
              </a:rPr>
              <a:t>= 200%</a:t>
            </a:r>
            <a:endParaRPr lang="zh-CN" altLang="en-US"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15106517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838042"/>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适合</a:t>
            </a:r>
            <a:r>
              <a:rPr lang="zh-CN" altLang="en-US" b="1" dirty="0" smtClean="0">
                <a:solidFill>
                  <a:srgbClr val="C00000"/>
                </a:solidFill>
                <a:latin typeface="微软雅黑" pitchFamily="34" charset="-122"/>
                <a:ea typeface="微软雅黑" pitchFamily="34" charset="-122"/>
              </a:rPr>
              <a:t>任意长度</a:t>
            </a:r>
            <a:r>
              <a:rPr lang="zh-CN" altLang="en-US" b="1" dirty="0" smtClean="0">
                <a:latin typeface="微软雅黑" pitchFamily="34" charset="-122"/>
                <a:ea typeface="微软雅黑" pitchFamily="34" charset="-122"/>
              </a:rPr>
              <a:t>的二进制数据。编码表如下：</a:t>
            </a:r>
            <a:endParaRPr lang="en-US" altLang="zh-CN"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56963" y="594406"/>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3022"/>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itchFamily="34" charset="-122"/>
                <a:ea typeface="微软雅黑" pitchFamily="34" charset="-122"/>
              </a:rPr>
              <a:t>Base64 </a:t>
            </a:r>
            <a:r>
              <a:rPr lang="zh-CN" altLang="en-US" sz="2000" b="1" dirty="0" smtClean="0">
                <a:latin typeface="微软雅黑" pitchFamily="34" charset="-122"/>
                <a:ea typeface="微软雅黑" pitchFamily="34" charset="-122"/>
              </a:rPr>
              <a:t>编码</a:t>
            </a:r>
            <a:endParaRPr lang="zh-CN" altLang="en-US" sz="2000" b="1" dirty="0">
              <a:latin typeface="微软雅黑" pitchFamily="34" charset="-122"/>
              <a:ea typeface="微软雅黑" pitchFamily="34" charset="-122"/>
            </a:endParaRPr>
          </a:p>
        </p:txBody>
      </p:sp>
      <p:graphicFrame>
        <p:nvGraphicFramePr>
          <p:cNvPr id="2" name="表格 1"/>
          <p:cNvGraphicFramePr>
            <a:graphicFrameLocks noGrp="1"/>
          </p:cNvGraphicFramePr>
          <p:nvPr>
            <p:extLst/>
          </p:nvPr>
        </p:nvGraphicFramePr>
        <p:xfrm>
          <a:off x="556963" y="1255083"/>
          <a:ext cx="8048780" cy="3093912"/>
        </p:xfrm>
        <a:graphic>
          <a:graphicData uri="http://schemas.openxmlformats.org/drawingml/2006/table">
            <a:tbl>
              <a:tblPr firstRow="1" bandCol="1">
                <a:tableStyleId>{5C22544A-7EE6-4342-B048-85BDC9FD1C3A}</a:tableStyleId>
              </a:tblPr>
              <a:tblGrid>
                <a:gridCol w="804878">
                  <a:extLst>
                    <a:ext uri="{9D8B030D-6E8A-4147-A177-3AD203B41FA5}">
                      <a16:colId xmlns:a16="http://schemas.microsoft.com/office/drawing/2014/main" val="20000"/>
                    </a:ext>
                  </a:extLst>
                </a:gridCol>
                <a:gridCol w="804878">
                  <a:extLst>
                    <a:ext uri="{9D8B030D-6E8A-4147-A177-3AD203B41FA5}">
                      <a16:colId xmlns:a16="http://schemas.microsoft.com/office/drawing/2014/main" val="20001"/>
                    </a:ext>
                  </a:extLst>
                </a:gridCol>
                <a:gridCol w="804878">
                  <a:extLst>
                    <a:ext uri="{9D8B030D-6E8A-4147-A177-3AD203B41FA5}">
                      <a16:colId xmlns:a16="http://schemas.microsoft.com/office/drawing/2014/main" val="20002"/>
                    </a:ext>
                  </a:extLst>
                </a:gridCol>
                <a:gridCol w="804878">
                  <a:extLst>
                    <a:ext uri="{9D8B030D-6E8A-4147-A177-3AD203B41FA5}">
                      <a16:colId xmlns:a16="http://schemas.microsoft.com/office/drawing/2014/main" val="20003"/>
                    </a:ext>
                  </a:extLst>
                </a:gridCol>
                <a:gridCol w="804878">
                  <a:extLst>
                    <a:ext uri="{9D8B030D-6E8A-4147-A177-3AD203B41FA5}">
                      <a16:colId xmlns:a16="http://schemas.microsoft.com/office/drawing/2014/main" val="20004"/>
                    </a:ext>
                  </a:extLst>
                </a:gridCol>
                <a:gridCol w="804878">
                  <a:extLst>
                    <a:ext uri="{9D8B030D-6E8A-4147-A177-3AD203B41FA5}">
                      <a16:colId xmlns:a16="http://schemas.microsoft.com/office/drawing/2014/main" val="20005"/>
                    </a:ext>
                  </a:extLst>
                </a:gridCol>
                <a:gridCol w="804878">
                  <a:extLst>
                    <a:ext uri="{9D8B030D-6E8A-4147-A177-3AD203B41FA5}">
                      <a16:colId xmlns:a16="http://schemas.microsoft.com/office/drawing/2014/main" val="20006"/>
                    </a:ext>
                  </a:extLst>
                </a:gridCol>
                <a:gridCol w="804878">
                  <a:extLst>
                    <a:ext uri="{9D8B030D-6E8A-4147-A177-3AD203B41FA5}">
                      <a16:colId xmlns:a16="http://schemas.microsoft.com/office/drawing/2014/main" val="20007"/>
                    </a:ext>
                  </a:extLst>
                </a:gridCol>
                <a:gridCol w="804878">
                  <a:extLst>
                    <a:ext uri="{9D8B030D-6E8A-4147-A177-3AD203B41FA5}">
                      <a16:colId xmlns:a16="http://schemas.microsoft.com/office/drawing/2014/main" val="20008"/>
                    </a:ext>
                  </a:extLst>
                </a:gridCol>
                <a:gridCol w="804878">
                  <a:extLst>
                    <a:ext uri="{9D8B030D-6E8A-4147-A177-3AD203B41FA5}">
                      <a16:colId xmlns:a16="http://schemas.microsoft.com/office/drawing/2014/main" val="20009"/>
                    </a:ext>
                  </a:extLst>
                </a:gridCol>
              </a:tblGrid>
              <a:tr h="280205">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216439">
                <a:tc>
                  <a:txBody>
                    <a:bodyPr/>
                    <a:lstStyle/>
                    <a:p>
                      <a:pPr algn="ctr"/>
                      <a:r>
                        <a:rPr lang="en-US" altLang="zh-CN" sz="1200" b="1" dirty="0">
                          <a:effectLst/>
                          <a:latin typeface="微软雅黑" pitchFamily="34" charset="-122"/>
                          <a:ea typeface="微软雅黑" pitchFamily="34" charset="-122"/>
                        </a:rPr>
                        <a:t>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A</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N</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a</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n</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0</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16439">
                <a:tc>
                  <a:txBody>
                    <a:bodyPr/>
                    <a:lstStyle/>
                    <a:p>
                      <a:pPr algn="ctr"/>
                      <a:r>
                        <a:rPr lang="en-US" altLang="zh-CN" sz="1200" b="1" dirty="0">
                          <a:effectLst/>
                          <a:latin typeface="微软雅黑" pitchFamily="34" charset="-122"/>
                          <a:ea typeface="微软雅黑" pitchFamily="34" charset="-122"/>
                        </a:rPr>
                        <a:t>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B</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O</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b</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o</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1</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216439">
                <a:tc>
                  <a:txBody>
                    <a:bodyPr/>
                    <a:lstStyle/>
                    <a:p>
                      <a:pPr algn="ctr"/>
                      <a:r>
                        <a:rPr lang="en-US" altLang="zh-CN" sz="1200" b="1">
                          <a:effectLst/>
                          <a:latin typeface="微软雅黑" pitchFamily="34" charset="-122"/>
                          <a:ea typeface="微软雅黑" pitchFamily="34" charset="-122"/>
                        </a:rPr>
                        <a:t>2</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C</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P</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c</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p</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2</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16439">
                <a:tc>
                  <a:txBody>
                    <a:bodyPr/>
                    <a:lstStyle/>
                    <a:p>
                      <a:pPr algn="ctr"/>
                      <a:r>
                        <a:rPr lang="en-US" altLang="zh-CN" sz="1200" b="1" dirty="0">
                          <a:effectLst/>
                          <a:latin typeface="微软雅黑" pitchFamily="34" charset="-122"/>
                          <a:ea typeface="微软雅黑" pitchFamily="34" charset="-122"/>
                        </a:rPr>
                        <a:t>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D</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Q</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d</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q</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3</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216439">
                <a:tc>
                  <a:txBody>
                    <a:bodyPr/>
                    <a:lstStyle/>
                    <a:p>
                      <a:pPr algn="ctr"/>
                      <a:r>
                        <a:rPr lang="en-US" altLang="zh-CN" sz="1200" b="1">
                          <a:effectLst/>
                          <a:latin typeface="微软雅黑" pitchFamily="34" charset="-122"/>
                          <a:ea typeface="微软雅黑" pitchFamily="34" charset="-122"/>
                        </a:rPr>
                        <a:t>4</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E</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R</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e</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r</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4</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16439">
                <a:tc>
                  <a:txBody>
                    <a:bodyPr/>
                    <a:lstStyle/>
                    <a:p>
                      <a:pPr algn="ctr"/>
                      <a:r>
                        <a:rPr lang="en-US" altLang="zh-CN" sz="1200" b="1" dirty="0">
                          <a:effectLst/>
                          <a:latin typeface="微软雅黑" pitchFamily="34" charset="-122"/>
                          <a:ea typeface="微软雅黑" pitchFamily="34" charset="-122"/>
                        </a:rPr>
                        <a:t>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F</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S</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f</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s</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5</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216439">
                <a:tc>
                  <a:txBody>
                    <a:bodyPr/>
                    <a:lstStyle/>
                    <a:p>
                      <a:pPr algn="ctr"/>
                      <a:r>
                        <a:rPr lang="en-US" altLang="zh-CN" sz="1200" b="1">
                          <a:effectLst/>
                          <a:latin typeface="微软雅黑" pitchFamily="34" charset="-122"/>
                          <a:ea typeface="微软雅黑" pitchFamily="34" charset="-122"/>
                        </a:rPr>
                        <a:t>6</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G</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T</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g</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t</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6</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16439">
                <a:tc>
                  <a:txBody>
                    <a:bodyPr/>
                    <a:lstStyle/>
                    <a:p>
                      <a:pPr algn="ctr"/>
                      <a:r>
                        <a:rPr lang="en-US" altLang="zh-CN" sz="1200" b="1">
                          <a:effectLst/>
                          <a:latin typeface="微软雅黑" pitchFamily="34" charset="-122"/>
                          <a:ea typeface="微软雅黑" pitchFamily="34" charset="-122"/>
                        </a:rPr>
                        <a:t>7</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H</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U</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h</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u</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7</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16439">
                <a:tc>
                  <a:txBody>
                    <a:bodyPr/>
                    <a:lstStyle/>
                    <a:p>
                      <a:pPr algn="ctr"/>
                      <a:r>
                        <a:rPr lang="en-US" altLang="zh-CN" sz="1200" b="1">
                          <a:effectLst/>
                          <a:latin typeface="微软雅黑" pitchFamily="34" charset="-122"/>
                          <a:ea typeface="微软雅黑" pitchFamily="34" charset="-122"/>
                        </a:rPr>
                        <a:t>8</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I</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V</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i</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v</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8</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216439">
                <a:tc>
                  <a:txBody>
                    <a:bodyPr/>
                    <a:lstStyle/>
                    <a:p>
                      <a:pPr algn="ctr"/>
                      <a:r>
                        <a:rPr lang="en-US" altLang="zh-CN" sz="1200" b="1" dirty="0">
                          <a:effectLst/>
                          <a:latin typeface="微软雅黑" pitchFamily="34" charset="-122"/>
                          <a:ea typeface="微软雅黑" pitchFamily="34" charset="-122"/>
                        </a:rPr>
                        <a:t>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J</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W</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j</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w</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9</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216439">
                <a:tc>
                  <a:txBody>
                    <a:bodyPr/>
                    <a:lstStyle/>
                    <a:p>
                      <a:pPr algn="ctr"/>
                      <a:r>
                        <a:rPr lang="en-US" altLang="zh-CN" sz="1200" b="1" dirty="0">
                          <a:effectLst/>
                          <a:latin typeface="微软雅黑" pitchFamily="34" charset="-122"/>
                          <a:ea typeface="微软雅黑" pitchFamily="34" charset="-122"/>
                        </a:rPr>
                        <a:t>10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K</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X</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k</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x</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216439">
                <a:tc>
                  <a:txBody>
                    <a:bodyPr/>
                    <a:lstStyle/>
                    <a:p>
                      <a:pPr algn="ctr"/>
                      <a:r>
                        <a:rPr lang="en-US" altLang="zh-CN" sz="1200" b="1" dirty="0">
                          <a:effectLst/>
                          <a:latin typeface="微软雅黑" pitchFamily="34" charset="-122"/>
                          <a:ea typeface="微软雅黑" pitchFamily="34" charset="-122"/>
                        </a:rPr>
                        <a:t>11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L</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Y</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l</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y</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216439">
                <a:tc>
                  <a:txBody>
                    <a:bodyPr/>
                    <a:lstStyle/>
                    <a:p>
                      <a:pPr algn="ctr"/>
                      <a:r>
                        <a:rPr lang="en-US" altLang="zh-CN" sz="1200" b="1" dirty="0">
                          <a:effectLst/>
                          <a:latin typeface="微软雅黑" pitchFamily="34" charset="-122"/>
                          <a:ea typeface="微软雅黑" pitchFamily="34" charset="-122"/>
                        </a:rPr>
                        <a:t>12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M</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Z</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m</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z</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sz="1200" b="1" dirty="0">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endParaRPr lang="zh-CN" altLang="en-US" sz="1200" b="1" dirty="0">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25" name="矩形 24"/>
          <p:cNvSpPr/>
          <p:nvPr/>
        </p:nvSpPr>
        <p:spPr>
          <a:xfrm>
            <a:off x="459267" y="4337201"/>
            <a:ext cx="7734820" cy="307777"/>
          </a:xfrm>
          <a:prstGeom prst="rect">
            <a:avLst/>
          </a:prstGeom>
        </p:spPr>
        <p:txBody>
          <a:bodyPr wrap="square">
            <a:spAutoFit/>
          </a:bodyPr>
          <a:lstStyle/>
          <a:p>
            <a:r>
              <a:rPr lang="zh-CN" altLang="en-US" sz="1400" b="1" dirty="0" smtClean="0">
                <a:latin typeface="微软雅黑" pitchFamily="34" charset="-122"/>
                <a:ea typeface="微软雅黑" pitchFamily="34" charset="-122"/>
              </a:rPr>
              <a:t>用</a:t>
            </a:r>
            <a:r>
              <a:rPr lang="zh-CN" altLang="en-US" sz="1400" b="1" dirty="0">
                <a:latin typeface="微软雅黑" pitchFamily="34" charset="-122"/>
                <a:ea typeface="微软雅黑" pitchFamily="34" charset="-122"/>
              </a:rPr>
              <a:t>两个连在一起的二个等号“</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和一个等号“</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分别表示最后一组的代码</a:t>
            </a:r>
            <a:r>
              <a:rPr lang="zh-CN" altLang="en-US" sz="1400" b="1" dirty="0" smtClean="0">
                <a:latin typeface="微软雅黑" pitchFamily="34" charset="-122"/>
                <a:ea typeface="微软雅黑" pitchFamily="34" charset="-122"/>
              </a:rPr>
              <a:t>只有 </a:t>
            </a:r>
            <a:r>
              <a:rPr lang="en-US" altLang="zh-CN" sz="1400" b="1" dirty="0" smtClean="0">
                <a:latin typeface="微软雅黑" pitchFamily="34" charset="-122"/>
                <a:ea typeface="微软雅黑" pitchFamily="34" charset="-122"/>
              </a:rPr>
              <a:t>8 </a:t>
            </a:r>
            <a:r>
              <a:rPr lang="zh-CN" altLang="en-US" sz="1400" b="1" dirty="0" smtClean="0">
                <a:latin typeface="微软雅黑" pitchFamily="34" charset="-122"/>
                <a:ea typeface="微软雅黑" pitchFamily="34" charset="-122"/>
              </a:rPr>
              <a:t>位或 </a:t>
            </a:r>
            <a:r>
              <a:rPr lang="en-US" altLang="zh-CN" sz="1400" b="1" dirty="0" smtClean="0">
                <a:latin typeface="微软雅黑" pitchFamily="34" charset="-122"/>
                <a:ea typeface="微软雅黑" pitchFamily="34" charset="-122"/>
              </a:rPr>
              <a:t>16 </a:t>
            </a:r>
            <a:r>
              <a:rPr lang="zh-CN" altLang="en-US" sz="1400" b="1" dirty="0" smtClean="0">
                <a:latin typeface="微软雅黑" pitchFamily="34" charset="-122"/>
                <a:ea typeface="微软雅黑" pitchFamily="34" charset="-122"/>
              </a:rPr>
              <a:t>位</a:t>
            </a:r>
            <a:r>
              <a:rPr lang="zh-CN" altLang="en-US" sz="1400" b="1" dirty="0">
                <a:latin typeface="微软雅黑" pitchFamily="34" charset="-122"/>
                <a:ea typeface="微软雅黑" pitchFamily="34" charset="-122"/>
              </a:rPr>
              <a:t>。</a:t>
            </a:r>
          </a:p>
        </p:txBody>
      </p:sp>
    </p:spTree>
    <p:extLst>
      <p:ext uri="{BB962C8B-B14F-4D97-AF65-F5344CB8AC3E}">
        <p14:creationId xmlns:p14="http://schemas.microsoft.com/office/powerpoint/2010/main" val="5958342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Base64 </a:t>
            </a:r>
            <a:r>
              <a:rPr lang="zh-CN" altLang="en-US" sz="2000" b="1" dirty="0">
                <a:latin typeface="微软雅黑" pitchFamily="34" charset="-122"/>
                <a:ea typeface="微软雅黑" pitchFamily="34" charset="-122"/>
              </a:rPr>
              <a:t>编码</a:t>
            </a:r>
          </a:p>
        </p:txBody>
      </p:sp>
      <p:sp>
        <p:nvSpPr>
          <p:cNvPr id="22" name="矩形 21"/>
          <p:cNvSpPr/>
          <p:nvPr/>
        </p:nvSpPr>
        <p:spPr>
          <a:xfrm>
            <a:off x="804903" y="1341208"/>
            <a:ext cx="800219" cy="276999"/>
          </a:xfrm>
          <a:prstGeom prst="rect">
            <a:avLst/>
          </a:prstGeom>
        </p:spPr>
        <p:txBody>
          <a:bodyPr wrap="none">
            <a:spAutoFit/>
          </a:bodyPr>
          <a:lstStyle/>
          <a:p>
            <a:pPr algn="r"/>
            <a:r>
              <a:rPr lang="zh-CN" altLang="en-US" sz="1200" b="1" dirty="0" smtClean="0">
                <a:solidFill>
                  <a:srgbClr val="020202"/>
                </a:solidFill>
                <a:latin typeface="微软雅黑" pitchFamily="34" charset="-122"/>
                <a:ea typeface="微软雅黑" pitchFamily="34" charset="-122"/>
              </a:rPr>
              <a:t>原始字节</a:t>
            </a:r>
            <a:endParaRPr lang="zh-CN" altLang="en-US" sz="1200" b="1" dirty="0">
              <a:solidFill>
                <a:srgbClr val="020202"/>
              </a:solidFill>
              <a:latin typeface="微软雅黑" pitchFamily="34" charset="-122"/>
              <a:ea typeface="微软雅黑" pitchFamily="34" charset="-122"/>
            </a:endParaRPr>
          </a:p>
        </p:txBody>
      </p:sp>
      <p:sp>
        <p:nvSpPr>
          <p:cNvPr id="23" name="矩形 22"/>
          <p:cNvSpPr/>
          <p:nvPr/>
        </p:nvSpPr>
        <p:spPr>
          <a:xfrm>
            <a:off x="1509216" y="3006326"/>
            <a:ext cx="5650604" cy="369332"/>
          </a:xfrm>
          <a:prstGeom prst="rect">
            <a:avLst/>
          </a:prstGeom>
        </p:spPr>
        <p:txBody>
          <a:bodyPr wrap="square" anchor="ctr">
            <a:spAutoFit/>
          </a:bodyPr>
          <a:lstStyle/>
          <a:p>
            <a:pPr algn="ctr"/>
            <a:r>
              <a:rPr lang="zh-CN" altLang="en-US" b="1" dirty="0" smtClean="0">
                <a:solidFill>
                  <a:srgbClr val="C00000"/>
                </a:solidFill>
                <a:latin typeface="微软雅黑" pitchFamily="34" charset="-122"/>
                <a:ea typeface="微软雅黑" pitchFamily="34" charset="-122"/>
              </a:rPr>
              <a:t>原来为 </a:t>
            </a:r>
            <a:r>
              <a:rPr lang="en-US" altLang="zh-CN" b="1" dirty="0" smtClean="0">
                <a:solidFill>
                  <a:srgbClr val="C00000"/>
                </a:solidFill>
                <a:latin typeface="微软雅黑" pitchFamily="34" charset="-122"/>
                <a:ea typeface="微软雅黑" pitchFamily="34" charset="-122"/>
              </a:rPr>
              <a:t>3 </a:t>
            </a:r>
            <a:r>
              <a:rPr lang="zh-CN" altLang="en-US" b="1" dirty="0" smtClean="0">
                <a:solidFill>
                  <a:srgbClr val="C00000"/>
                </a:solidFill>
                <a:latin typeface="微软雅黑" pitchFamily="34" charset="-122"/>
                <a:ea typeface="微软雅黑" pitchFamily="34" charset="-122"/>
              </a:rPr>
              <a:t>个字节，编码后为 </a:t>
            </a:r>
            <a:r>
              <a:rPr lang="en-US" altLang="zh-CN" b="1" dirty="0" smtClean="0">
                <a:solidFill>
                  <a:srgbClr val="C00000"/>
                </a:solidFill>
                <a:latin typeface="微软雅黑" pitchFamily="34" charset="-122"/>
                <a:ea typeface="微软雅黑" pitchFamily="34" charset="-122"/>
              </a:rPr>
              <a:t>4 </a:t>
            </a:r>
            <a:r>
              <a:rPr lang="zh-CN" altLang="en-US" b="1" dirty="0" smtClean="0">
                <a:solidFill>
                  <a:srgbClr val="C00000"/>
                </a:solidFill>
                <a:latin typeface="微软雅黑" pitchFamily="34" charset="-122"/>
                <a:ea typeface="微软雅黑" pitchFamily="34" charset="-122"/>
              </a:rPr>
              <a:t>个字节，开销 </a:t>
            </a:r>
            <a:r>
              <a:rPr lang="en-US" altLang="zh-CN" b="1" dirty="0" smtClean="0">
                <a:solidFill>
                  <a:srgbClr val="C00000"/>
                </a:solidFill>
                <a:latin typeface="微软雅黑" pitchFamily="34" charset="-122"/>
                <a:ea typeface="微软雅黑" pitchFamily="34" charset="-122"/>
              </a:rPr>
              <a:t>= 25%</a:t>
            </a:r>
            <a:endParaRPr lang="zh-CN" altLang="en-US" b="1" dirty="0">
              <a:solidFill>
                <a:srgbClr val="C00000"/>
              </a:solidFill>
              <a:latin typeface="微软雅黑" pitchFamily="34" charset="-122"/>
              <a:ea typeface="微软雅黑" pitchFamily="34" charset="-122"/>
            </a:endParaRPr>
          </a:p>
        </p:txBody>
      </p:sp>
      <p:graphicFrame>
        <p:nvGraphicFramePr>
          <p:cNvPr id="3" name="表格 2"/>
          <p:cNvGraphicFramePr>
            <a:graphicFrameLocks noGrp="1"/>
          </p:cNvGraphicFramePr>
          <p:nvPr>
            <p:extLst/>
          </p:nvPr>
        </p:nvGraphicFramePr>
        <p:xfrm>
          <a:off x="1566773" y="1351494"/>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bl>
          </a:graphicData>
        </a:graphic>
      </p:graphicFrame>
      <p:graphicFrame>
        <p:nvGraphicFramePr>
          <p:cNvPr id="26" name="表格 25"/>
          <p:cNvGraphicFramePr>
            <a:graphicFrameLocks noGrp="1"/>
          </p:cNvGraphicFramePr>
          <p:nvPr>
            <p:extLst/>
          </p:nvPr>
        </p:nvGraphicFramePr>
        <p:xfrm>
          <a:off x="1566773" y="1750883"/>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27" name="表格 26"/>
          <p:cNvGraphicFramePr>
            <a:graphicFrameLocks noGrp="1"/>
          </p:cNvGraphicFramePr>
          <p:nvPr>
            <p:extLst/>
          </p:nvPr>
        </p:nvGraphicFramePr>
        <p:xfrm>
          <a:off x="1566773" y="2173796"/>
          <a:ext cx="5549904" cy="27432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S</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T</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F</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5</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28" name="表格 27"/>
          <p:cNvGraphicFramePr>
            <a:graphicFrameLocks noGrp="1"/>
          </p:cNvGraphicFramePr>
          <p:nvPr>
            <p:extLst/>
          </p:nvPr>
        </p:nvGraphicFramePr>
        <p:xfrm>
          <a:off x="1566773" y="2625741"/>
          <a:ext cx="6981408" cy="274320"/>
        </p:xfrm>
        <a:graphic>
          <a:graphicData uri="http://schemas.openxmlformats.org/drawingml/2006/table">
            <a:tbl>
              <a:tblPr firstRow="1" bandRow="1">
                <a:tableStyleId>{5C22544A-7EE6-4342-B048-85BDC9FD1C3A}</a:tableStyleId>
              </a:tblPr>
              <a:tblGrid>
                <a:gridCol w="218169">
                  <a:extLst>
                    <a:ext uri="{9D8B030D-6E8A-4147-A177-3AD203B41FA5}">
                      <a16:colId xmlns:a16="http://schemas.microsoft.com/office/drawing/2014/main" val="20000"/>
                    </a:ext>
                  </a:extLst>
                </a:gridCol>
                <a:gridCol w="218169">
                  <a:extLst>
                    <a:ext uri="{9D8B030D-6E8A-4147-A177-3AD203B41FA5}">
                      <a16:colId xmlns:a16="http://schemas.microsoft.com/office/drawing/2014/main" val="20001"/>
                    </a:ext>
                  </a:extLst>
                </a:gridCol>
                <a:gridCol w="218169">
                  <a:extLst>
                    <a:ext uri="{9D8B030D-6E8A-4147-A177-3AD203B41FA5}">
                      <a16:colId xmlns:a16="http://schemas.microsoft.com/office/drawing/2014/main" val="20002"/>
                    </a:ext>
                  </a:extLst>
                </a:gridCol>
                <a:gridCol w="218169">
                  <a:extLst>
                    <a:ext uri="{9D8B030D-6E8A-4147-A177-3AD203B41FA5}">
                      <a16:colId xmlns:a16="http://schemas.microsoft.com/office/drawing/2014/main" val="20003"/>
                    </a:ext>
                  </a:extLst>
                </a:gridCol>
                <a:gridCol w="218169">
                  <a:extLst>
                    <a:ext uri="{9D8B030D-6E8A-4147-A177-3AD203B41FA5}">
                      <a16:colId xmlns:a16="http://schemas.microsoft.com/office/drawing/2014/main" val="20004"/>
                    </a:ext>
                  </a:extLst>
                </a:gridCol>
                <a:gridCol w="218169">
                  <a:extLst>
                    <a:ext uri="{9D8B030D-6E8A-4147-A177-3AD203B41FA5}">
                      <a16:colId xmlns:a16="http://schemas.microsoft.com/office/drawing/2014/main" val="20005"/>
                    </a:ext>
                  </a:extLst>
                </a:gridCol>
                <a:gridCol w="218169">
                  <a:extLst>
                    <a:ext uri="{9D8B030D-6E8A-4147-A177-3AD203B41FA5}">
                      <a16:colId xmlns:a16="http://schemas.microsoft.com/office/drawing/2014/main" val="20006"/>
                    </a:ext>
                  </a:extLst>
                </a:gridCol>
                <a:gridCol w="218169">
                  <a:extLst>
                    <a:ext uri="{9D8B030D-6E8A-4147-A177-3AD203B41FA5}">
                      <a16:colId xmlns:a16="http://schemas.microsoft.com/office/drawing/2014/main" val="20007"/>
                    </a:ext>
                  </a:extLst>
                </a:gridCol>
                <a:gridCol w="218169">
                  <a:extLst>
                    <a:ext uri="{9D8B030D-6E8A-4147-A177-3AD203B41FA5}">
                      <a16:colId xmlns:a16="http://schemas.microsoft.com/office/drawing/2014/main" val="20008"/>
                    </a:ext>
                  </a:extLst>
                </a:gridCol>
                <a:gridCol w="218169">
                  <a:extLst>
                    <a:ext uri="{9D8B030D-6E8A-4147-A177-3AD203B41FA5}">
                      <a16:colId xmlns:a16="http://schemas.microsoft.com/office/drawing/2014/main" val="20009"/>
                    </a:ext>
                  </a:extLst>
                </a:gridCol>
                <a:gridCol w="218169">
                  <a:extLst>
                    <a:ext uri="{9D8B030D-6E8A-4147-A177-3AD203B41FA5}">
                      <a16:colId xmlns:a16="http://schemas.microsoft.com/office/drawing/2014/main" val="20010"/>
                    </a:ext>
                  </a:extLst>
                </a:gridCol>
                <a:gridCol w="218169">
                  <a:extLst>
                    <a:ext uri="{9D8B030D-6E8A-4147-A177-3AD203B41FA5}">
                      <a16:colId xmlns:a16="http://schemas.microsoft.com/office/drawing/2014/main" val="20011"/>
                    </a:ext>
                  </a:extLst>
                </a:gridCol>
                <a:gridCol w="218169">
                  <a:extLst>
                    <a:ext uri="{9D8B030D-6E8A-4147-A177-3AD203B41FA5}">
                      <a16:colId xmlns:a16="http://schemas.microsoft.com/office/drawing/2014/main" val="20012"/>
                    </a:ext>
                  </a:extLst>
                </a:gridCol>
                <a:gridCol w="218169">
                  <a:extLst>
                    <a:ext uri="{9D8B030D-6E8A-4147-A177-3AD203B41FA5}">
                      <a16:colId xmlns:a16="http://schemas.microsoft.com/office/drawing/2014/main" val="20013"/>
                    </a:ext>
                  </a:extLst>
                </a:gridCol>
                <a:gridCol w="218169">
                  <a:extLst>
                    <a:ext uri="{9D8B030D-6E8A-4147-A177-3AD203B41FA5}">
                      <a16:colId xmlns:a16="http://schemas.microsoft.com/office/drawing/2014/main" val="20014"/>
                    </a:ext>
                  </a:extLst>
                </a:gridCol>
                <a:gridCol w="218169">
                  <a:extLst>
                    <a:ext uri="{9D8B030D-6E8A-4147-A177-3AD203B41FA5}">
                      <a16:colId xmlns:a16="http://schemas.microsoft.com/office/drawing/2014/main" val="20015"/>
                    </a:ext>
                  </a:extLst>
                </a:gridCol>
                <a:gridCol w="218169">
                  <a:extLst>
                    <a:ext uri="{9D8B030D-6E8A-4147-A177-3AD203B41FA5}">
                      <a16:colId xmlns:a16="http://schemas.microsoft.com/office/drawing/2014/main" val="20016"/>
                    </a:ext>
                  </a:extLst>
                </a:gridCol>
                <a:gridCol w="218169">
                  <a:extLst>
                    <a:ext uri="{9D8B030D-6E8A-4147-A177-3AD203B41FA5}">
                      <a16:colId xmlns:a16="http://schemas.microsoft.com/office/drawing/2014/main" val="20017"/>
                    </a:ext>
                  </a:extLst>
                </a:gridCol>
                <a:gridCol w="218169">
                  <a:extLst>
                    <a:ext uri="{9D8B030D-6E8A-4147-A177-3AD203B41FA5}">
                      <a16:colId xmlns:a16="http://schemas.microsoft.com/office/drawing/2014/main" val="20018"/>
                    </a:ext>
                  </a:extLst>
                </a:gridCol>
                <a:gridCol w="218169">
                  <a:extLst>
                    <a:ext uri="{9D8B030D-6E8A-4147-A177-3AD203B41FA5}">
                      <a16:colId xmlns:a16="http://schemas.microsoft.com/office/drawing/2014/main" val="20019"/>
                    </a:ext>
                  </a:extLst>
                </a:gridCol>
                <a:gridCol w="218169">
                  <a:extLst>
                    <a:ext uri="{9D8B030D-6E8A-4147-A177-3AD203B41FA5}">
                      <a16:colId xmlns:a16="http://schemas.microsoft.com/office/drawing/2014/main" val="20020"/>
                    </a:ext>
                  </a:extLst>
                </a:gridCol>
                <a:gridCol w="218169">
                  <a:extLst>
                    <a:ext uri="{9D8B030D-6E8A-4147-A177-3AD203B41FA5}">
                      <a16:colId xmlns:a16="http://schemas.microsoft.com/office/drawing/2014/main" val="20021"/>
                    </a:ext>
                  </a:extLst>
                </a:gridCol>
                <a:gridCol w="218169">
                  <a:extLst>
                    <a:ext uri="{9D8B030D-6E8A-4147-A177-3AD203B41FA5}">
                      <a16:colId xmlns:a16="http://schemas.microsoft.com/office/drawing/2014/main" val="20022"/>
                    </a:ext>
                  </a:extLst>
                </a:gridCol>
                <a:gridCol w="218169">
                  <a:extLst>
                    <a:ext uri="{9D8B030D-6E8A-4147-A177-3AD203B41FA5}">
                      <a16:colId xmlns:a16="http://schemas.microsoft.com/office/drawing/2014/main" val="20023"/>
                    </a:ext>
                  </a:extLst>
                </a:gridCol>
                <a:gridCol w="218169">
                  <a:extLst>
                    <a:ext uri="{9D8B030D-6E8A-4147-A177-3AD203B41FA5}">
                      <a16:colId xmlns:a16="http://schemas.microsoft.com/office/drawing/2014/main" val="20024"/>
                    </a:ext>
                  </a:extLst>
                </a:gridCol>
                <a:gridCol w="218169">
                  <a:extLst>
                    <a:ext uri="{9D8B030D-6E8A-4147-A177-3AD203B41FA5}">
                      <a16:colId xmlns:a16="http://schemas.microsoft.com/office/drawing/2014/main" val="20025"/>
                    </a:ext>
                  </a:extLst>
                </a:gridCol>
                <a:gridCol w="218169">
                  <a:extLst>
                    <a:ext uri="{9D8B030D-6E8A-4147-A177-3AD203B41FA5}">
                      <a16:colId xmlns:a16="http://schemas.microsoft.com/office/drawing/2014/main" val="20026"/>
                    </a:ext>
                  </a:extLst>
                </a:gridCol>
                <a:gridCol w="218169">
                  <a:extLst>
                    <a:ext uri="{9D8B030D-6E8A-4147-A177-3AD203B41FA5}">
                      <a16:colId xmlns:a16="http://schemas.microsoft.com/office/drawing/2014/main" val="20027"/>
                    </a:ext>
                  </a:extLst>
                </a:gridCol>
                <a:gridCol w="218169">
                  <a:extLst>
                    <a:ext uri="{9D8B030D-6E8A-4147-A177-3AD203B41FA5}">
                      <a16:colId xmlns:a16="http://schemas.microsoft.com/office/drawing/2014/main" val="20028"/>
                    </a:ext>
                  </a:extLst>
                </a:gridCol>
                <a:gridCol w="218169">
                  <a:extLst>
                    <a:ext uri="{9D8B030D-6E8A-4147-A177-3AD203B41FA5}">
                      <a16:colId xmlns:a16="http://schemas.microsoft.com/office/drawing/2014/main" val="20029"/>
                    </a:ext>
                  </a:extLst>
                </a:gridCol>
                <a:gridCol w="218169">
                  <a:extLst>
                    <a:ext uri="{9D8B030D-6E8A-4147-A177-3AD203B41FA5}">
                      <a16:colId xmlns:a16="http://schemas.microsoft.com/office/drawing/2014/main" val="20030"/>
                    </a:ext>
                  </a:extLst>
                </a:gridCol>
                <a:gridCol w="218169">
                  <a:extLst>
                    <a:ext uri="{9D8B030D-6E8A-4147-A177-3AD203B41FA5}">
                      <a16:colId xmlns:a16="http://schemas.microsoft.com/office/drawing/2014/main" val="20031"/>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29" name="矩形 28"/>
          <p:cNvSpPr/>
          <p:nvPr/>
        </p:nvSpPr>
        <p:spPr>
          <a:xfrm>
            <a:off x="630175" y="1761623"/>
            <a:ext cx="97494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4 </a:t>
            </a:r>
            <a:r>
              <a:rPr lang="zh-CN" altLang="en-US" sz="1200" b="1" dirty="0" smtClean="0">
                <a:solidFill>
                  <a:srgbClr val="020202"/>
                </a:solidFill>
                <a:latin typeface="微软雅黑" pitchFamily="34" charset="-122"/>
                <a:ea typeface="微软雅黑" pitchFamily="34" charset="-122"/>
              </a:rPr>
              <a:t>个 </a:t>
            </a:r>
            <a:r>
              <a:rPr lang="en-US" altLang="zh-CN" sz="1200" b="1" dirty="0" smtClean="0">
                <a:solidFill>
                  <a:srgbClr val="020202"/>
                </a:solidFill>
                <a:latin typeface="微软雅黑" pitchFamily="34" charset="-122"/>
                <a:ea typeface="微软雅黑" pitchFamily="34" charset="-122"/>
              </a:rPr>
              <a:t>6 </a:t>
            </a:r>
            <a:r>
              <a:rPr lang="zh-CN" altLang="en-US" sz="1200" b="1" dirty="0" smtClean="0">
                <a:solidFill>
                  <a:srgbClr val="020202"/>
                </a:solidFill>
                <a:latin typeface="微软雅黑" pitchFamily="34" charset="-122"/>
                <a:ea typeface="微软雅黑" pitchFamily="34" charset="-122"/>
              </a:rPr>
              <a:t>位组</a:t>
            </a:r>
            <a:endParaRPr lang="zh-CN" altLang="en-US" sz="1200" b="1" dirty="0">
              <a:solidFill>
                <a:srgbClr val="020202"/>
              </a:solidFill>
              <a:latin typeface="微软雅黑" pitchFamily="34" charset="-122"/>
              <a:ea typeface="微软雅黑" pitchFamily="34" charset="-122"/>
            </a:endParaRPr>
          </a:p>
        </p:txBody>
      </p:sp>
      <p:sp>
        <p:nvSpPr>
          <p:cNvPr id="30" name="矩形 29"/>
          <p:cNvSpPr/>
          <p:nvPr/>
        </p:nvSpPr>
        <p:spPr>
          <a:xfrm>
            <a:off x="517965" y="2184836"/>
            <a:ext cx="108715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Base64 </a:t>
            </a:r>
            <a:r>
              <a:rPr lang="zh-CN" altLang="en-US" sz="1200" b="1" dirty="0" smtClean="0">
                <a:solidFill>
                  <a:srgbClr val="020202"/>
                </a:solidFill>
                <a:latin typeface="微软雅黑" pitchFamily="34" charset="-122"/>
                <a:ea typeface="微软雅黑" pitchFamily="34" charset="-122"/>
              </a:rPr>
              <a:t>编码</a:t>
            </a:r>
            <a:endParaRPr lang="zh-CN" altLang="en-US" sz="1200" b="1" dirty="0">
              <a:solidFill>
                <a:srgbClr val="020202"/>
              </a:solidFill>
              <a:latin typeface="微软雅黑" pitchFamily="34" charset="-122"/>
              <a:ea typeface="微软雅黑" pitchFamily="34" charset="-122"/>
            </a:endParaRPr>
          </a:p>
        </p:txBody>
      </p:sp>
      <p:sp>
        <p:nvSpPr>
          <p:cNvPr id="31" name="矩形 30"/>
          <p:cNvSpPr/>
          <p:nvPr/>
        </p:nvSpPr>
        <p:spPr>
          <a:xfrm>
            <a:off x="651015" y="2615761"/>
            <a:ext cx="95410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ASCII </a:t>
            </a:r>
            <a:r>
              <a:rPr lang="zh-CN" altLang="en-US" sz="1200" b="1" dirty="0" smtClean="0">
                <a:solidFill>
                  <a:srgbClr val="020202"/>
                </a:solidFill>
                <a:latin typeface="微软雅黑" pitchFamily="34" charset="-122"/>
                <a:ea typeface="微软雅黑" pitchFamily="34" charset="-122"/>
              </a:rPr>
              <a:t>编码</a:t>
            </a:r>
            <a:endParaRPr lang="zh-CN" altLang="en-US" sz="1200" b="1" dirty="0">
              <a:solidFill>
                <a:srgbClr val="020202"/>
              </a:solidFill>
              <a:latin typeface="微软雅黑" pitchFamily="34" charset="-122"/>
              <a:ea typeface="微软雅黑" pitchFamily="34" charset="-122"/>
            </a:endParaRPr>
          </a:p>
        </p:txBody>
      </p:sp>
    </p:spTree>
    <p:extLst>
      <p:ext uri="{BB962C8B-B14F-4D97-AF65-F5344CB8AC3E}">
        <p14:creationId xmlns:p14="http://schemas.microsoft.com/office/powerpoint/2010/main" val="40004024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Base64 </a:t>
            </a:r>
            <a:r>
              <a:rPr lang="zh-CN" altLang="en-US" sz="2000" b="1" dirty="0">
                <a:latin typeface="微软雅黑" pitchFamily="34" charset="-122"/>
                <a:ea typeface="微软雅黑" pitchFamily="34" charset="-122"/>
              </a:rPr>
              <a:t>编码</a:t>
            </a:r>
          </a:p>
        </p:txBody>
      </p:sp>
      <p:sp>
        <p:nvSpPr>
          <p:cNvPr id="14" name="矩形 13"/>
          <p:cNvSpPr/>
          <p:nvPr/>
        </p:nvSpPr>
        <p:spPr>
          <a:xfrm>
            <a:off x="808389" y="1341212"/>
            <a:ext cx="800219" cy="276999"/>
          </a:xfrm>
          <a:prstGeom prst="rect">
            <a:avLst/>
          </a:prstGeom>
        </p:spPr>
        <p:txBody>
          <a:bodyPr wrap="none">
            <a:spAutoFit/>
          </a:bodyPr>
          <a:lstStyle/>
          <a:p>
            <a:pPr algn="r"/>
            <a:r>
              <a:rPr lang="zh-CN" altLang="en-US" sz="1200" b="1" dirty="0" smtClean="0">
                <a:solidFill>
                  <a:srgbClr val="020202"/>
                </a:solidFill>
                <a:latin typeface="微软雅黑" pitchFamily="34" charset="-122"/>
                <a:ea typeface="微软雅黑" pitchFamily="34" charset="-122"/>
              </a:rPr>
              <a:t>原始字节</a:t>
            </a:r>
            <a:endParaRPr lang="zh-CN" altLang="en-US" sz="1200" b="1" dirty="0">
              <a:solidFill>
                <a:srgbClr val="020202"/>
              </a:solidFill>
              <a:latin typeface="微软雅黑" pitchFamily="34" charset="-122"/>
              <a:ea typeface="微软雅黑" pitchFamily="34" charset="-122"/>
            </a:endParaRPr>
          </a:p>
        </p:txBody>
      </p:sp>
      <p:graphicFrame>
        <p:nvGraphicFramePr>
          <p:cNvPr id="15" name="表格 14"/>
          <p:cNvGraphicFramePr>
            <a:graphicFrameLocks noGrp="1"/>
          </p:cNvGraphicFramePr>
          <p:nvPr>
            <p:extLst/>
          </p:nvPr>
        </p:nvGraphicFramePr>
        <p:xfrm>
          <a:off x="1570259" y="1351498"/>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bl>
          </a:graphicData>
        </a:graphic>
      </p:graphicFrame>
      <p:graphicFrame>
        <p:nvGraphicFramePr>
          <p:cNvPr id="16" name="表格 15"/>
          <p:cNvGraphicFramePr>
            <a:graphicFrameLocks noGrp="1"/>
          </p:cNvGraphicFramePr>
          <p:nvPr>
            <p:extLst/>
          </p:nvPr>
        </p:nvGraphicFramePr>
        <p:xfrm>
          <a:off x="1570259" y="1750887"/>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17" name="表格 16"/>
          <p:cNvGraphicFramePr>
            <a:graphicFrameLocks noGrp="1"/>
          </p:cNvGraphicFramePr>
          <p:nvPr>
            <p:extLst/>
          </p:nvPr>
        </p:nvGraphicFramePr>
        <p:xfrm>
          <a:off x="1570259" y="2173800"/>
          <a:ext cx="5549904" cy="27432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195974">
                <a:tc>
                  <a:txBody>
                    <a:bodyPr/>
                    <a:lstStyle/>
                    <a:p>
                      <a:pPr marL="0" algn="ctr" defTabSz="914400" rtl="0" eaLnBrk="1" latinLnBrk="0" hangingPunct="1"/>
                      <a:r>
                        <a:rPr lang="en-US" altLang="zh-CN" sz="1200" b="1" kern="1200" dirty="0" smtClean="0">
                          <a:solidFill>
                            <a:schemeClr val="tx1"/>
                          </a:solidFill>
                          <a:latin typeface="微软雅黑" pitchFamily="34" charset="-122"/>
                          <a:ea typeface="微软雅黑" pitchFamily="34" charset="-122"/>
                          <a:cs typeface="+mn-cs"/>
                        </a:rPr>
                        <a:t>T</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Q</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itchFamily="34" charset="-122"/>
                          <a:ea typeface="微软雅黑" pitchFamily="34" charset="-122"/>
                        </a:rPr>
                        <a:t>=</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itchFamily="34" charset="-122"/>
                          <a:ea typeface="微软雅黑" pitchFamily="34" charset="-122"/>
                        </a:rPr>
                        <a:t>=</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18" name="矩形 17"/>
          <p:cNvSpPr/>
          <p:nvPr/>
        </p:nvSpPr>
        <p:spPr>
          <a:xfrm>
            <a:off x="633661" y="1761627"/>
            <a:ext cx="97494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4 </a:t>
            </a:r>
            <a:r>
              <a:rPr lang="zh-CN" altLang="en-US" sz="1200" b="1" dirty="0" smtClean="0">
                <a:solidFill>
                  <a:srgbClr val="020202"/>
                </a:solidFill>
                <a:latin typeface="微软雅黑" pitchFamily="34" charset="-122"/>
                <a:ea typeface="微软雅黑" pitchFamily="34" charset="-122"/>
              </a:rPr>
              <a:t>个 </a:t>
            </a:r>
            <a:r>
              <a:rPr lang="en-US" altLang="zh-CN" sz="1200" b="1" dirty="0" smtClean="0">
                <a:solidFill>
                  <a:srgbClr val="020202"/>
                </a:solidFill>
                <a:latin typeface="微软雅黑" pitchFamily="34" charset="-122"/>
                <a:ea typeface="微软雅黑" pitchFamily="34" charset="-122"/>
              </a:rPr>
              <a:t>6 </a:t>
            </a:r>
            <a:r>
              <a:rPr lang="zh-CN" altLang="en-US" sz="1200" b="1" dirty="0" smtClean="0">
                <a:solidFill>
                  <a:srgbClr val="020202"/>
                </a:solidFill>
                <a:latin typeface="微软雅黑" pitchFamily="34" charset="-122"/>
                <a:ea typeface="微软雅黑" pitchFamily="34" charset="-122"/>
              </a:rPr>
              <a:t>位组</a:t>
            </a:r>
            <a:endParaRPr lang="zh-CN" altLang="en-US" sz="1200" b="1" dirty="0">
              <a:solidFill>
                <a:srgbClr val="020202"/>
              </a:solidFill>
              <a:latin typeface="微软雅黑" pitchFamily="34" charset="-122"/>
              <a:ea typeface="微软雅黑" pitchFamily="34" charset="-122"/>
            </a:endParaRPr>
          </a:p>
        </p:txBody>
      </p:sp>
      <p:sp>
        <p:nvSpPr>
          <p:cNvPr id="19" name="矩形 18"/>
          <p:cNvSpPr/>
          <p:nvPr/>
        </p:nvSpPr>
        <p:spPr>
          <a:xfrm>
            <a:off x="521451" y="2184840"/>
            <a:ext cx="108715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Base64 </a:t>
            </a:r>
            <a:r>
              <a:rPr lang="zh-CN" altLang="en-US" sz="1200" b="1" dirty="0" smtClean="0">
                <a:solidFill>
                  <a:srgbClr val="020202"/>
                </a:solidFill>
                <a:latin typeface="微软雅黑" pitchFamily="34" charset="-122"/>
                <a:ea typeface="微软雅黑" pitchFamily="34" charset="-122"/>
              </a:rPr>
              <a:t>编码</a:t>
            </a:r>
            <a:endParaRPr lang="zh-CN" altLang="en-US" sz="1200" b="1" dirty="0">
              <a:solidFill>
                <a:srgbClr val="020202"/>
              </a:solidFill>
              <a:latin typeface="微软雅黑" pitchFamily="34" charset="-122"/>
              <a:ea typeface="微软雅黑" pitchFamily="34" charset="-122"/>
            </a:endParaRPr>
          </a:p>
        </p:txBody>
      </p:sp>
      <p:graphicFrame>
        <p:nvGraphicFramePr>
          <p:cNvPr id="20" name="表格 19"/>
          <p:cNvGraphicFramePr>
            <a:graphicFrameLocks noGrp="1"/>
          </p:cNvGraphicFramePr>
          <p:nvPr>
            <p:extLst/>
          </p:nvPr>
        </p:nvGraphicFramePr>
        <p:xfrm>
          <a:off x="1570259" y="2625745"/>
          <a:ext cx="6981408" cy="274320"/>
        </p:xfrm>
        <a:graphic>
          <a:graphicData uri="http://schemas.openxmlformats.org/drawingml/2006/table">
            <a:tbl>
              <a:tblPr firstRow="1" bandRow="1">
                <a:tableStyleId>{5C22544A-7EE6-4342-B048-85BDC9FD1C3A}</a:tableStyleId>
              </a:tblPr>
              <a:tblGrid>
                <a:gridCol w="218169">
                  <a:extLst>
                    <a:ext uri="{9D8B030D-6E8A-4147-A177-3AD203B41FA5}">
                      <a16:colId xmlns:a16="http://schemas.microsoft.com/office/drawing/2014/main" val="20000"/>
                    </a:ext>
                  </a:extLst>
                </a:gridCol>
                <a:gridCol w="218169">
                  <a:extLst>
                    <a:ext uri="{9D8B030D-6E8A-4147-A177-3AD203B41FA5}">
                      <a16:colId xmlns:a16="http://schemas.microsoft.com/office/drawing/2014/main" val="20001"/>
                    </a:ext>
                  </a:extLst>
                </a:gridCol>
                <a:gridCol w="218169">
                  <a:extLst>
                    <a:ext uri="{9D8B030D-6E8A-4147-A177-3AD203B41FA5}">
                      <a16:colId xmlns:a16="http://schemas.microsoft.com/office/drawing/2014/main" val="20002"/>
                    </a:ext>
                  </a:extLst>
                </a:gridCol>
                <a:gridCol w="218169">
                  <a:extLst>
                    <a:ext uri="{9D8B030D-6E8A-4147-A177-3AD203B41FA5}">
                      <a16:colId xmlns:a16="http://schemas.microsoft.com/office/drawing/2014/main" val="20003"/>
                    </a:ext>
                  </a:extLst>
                </a:gridCol>
                <a:gridCol w="218169">
                  <a:extLst>
                    <a:ext uri="{9D8B030D-6E8A-4147-A177-3AD203B41FA5}">
                      <a16:colId xmlns:a16="http://schemas.microsoft.com/office/drawing/2014/main" val="20004"/>
                    </a:ext>
                  </a:extLst>
                </a:gridCol>
                <a:gridCol w="218169">
                  <a:extLst>
                    <a:ext uri="{9D8B030D-6E8A-4147-A177-3AD203B41FA5}">
                      <a16:colId xmlns:a16="http://schemas.microsoft.com/office/drawing/2014/main" val="20005"/>
                    </a:ext>
                  </a:extLst>
                </a:gridCol>
                <a:gridCol w="218169">
                  <a:extLst>
                    <a:ext uri="{9D8B030D-6E8A-4147-A177-3AD203B41FA5}">
                      <a16:colId xmlns:a16="http://schemas.microsoft.com/office/drawing/2014/main" val="20006"/>
                    </a:ext>
                  </a:extLst>
                </a:gridCol>
                <a:gridCol w="218169">
                  <a:extLst>
                    <a:ext uri="{9D8B030D-6E8A-4147-A177-3AD203B41FA5}">
                      <a16:colId xmlns:a16="http://schemas.microsoft.com/office/drawing/2014/main" val="20007"/>
                    </a:ext>
                  </a:extLst>
                </a:gridCol>
                <a:gridCol w="218169">
                  <a:extLst>
                    <a:ext uri="{9D8B030D-6E8A-4147-A177-3AD203B41FA5}">
                      <a16:colId xmlns:a16="http://schemas.microsoft.com/office/drawing/2014/main" val="20008"/>
                    </a:ext>
                  </a:extLst>
                </a:gridCol>
                <a:gridCol w="218169">
                  <a:extLst>
                    <a:ext uri="{9D8B030D-6E8A-4147-A177-3AD203B41FA5}">
                      <a16:colId xmlns:a16="http://schemas.microsoft.com/office/drawing/2014/main" val="20009"/>
                    </a:ext>
                  </a:extLst>
                </a:gridCol>
                <a:gridCol w="218169">
                  <a:extLst>
                    <a:ext uri="{9D8B030D-6E8A-4147-A177-3AD203B41FA5}">
                      <a16:colId xmlns:a16="http://schemas.microsoft.com/office/drawing/2014/main" val="20010"/>
                    </a:ext>
                  </a:extLst>
                </a:gridCol>
                <a:gridCol w="218169">
                  <a:extLst>
                    <a:ext uri="{9D8B030D-6E8A-4147-A177-3AD203B41FA5}">
                      <a16:colId xmlns:a16="http://schemas.microsoft.com/office/drawing/2014/main" val="20011"/>
                    </a:ext>
                  </a:extLst>
                </a:gridCol>
                <a:gridCol w="218169">
                  <a:extLst>
                    <a:ext uri="{9D8B030D-6E8A-4147-A177-3AD203B41FA5}">
                      <a16:colId xmlns:a16="http://schemas.microsoft.com/office/drawing/2014/main" val="20012"/>
                    </a:ext>
                  </a:extLst>
                </a:gridCol>
                <a:gridCol w="218169">
                  <a:extLst>
                    <a:ext uri="{9D8B030D-6E8A-4147-A177-3AD203B41FA5}">
                      <a16:colId xmlns:a16="http://schemas.microsoft.com/office/drawing/2014/main" val="20013"/>
                    </a:ext>
                  </a:extLst>
                </a:gridCol>
                <a:gridCol w="218169">
                  <a:extLst>
                    <a:ext uri="{9D8B030D-6E8A-4147-A177-3AD203B41FA5}">
                      <a16:colId xmlns:a16="http://schemas.microsoft.com/office/drawing/2014/main" val="20014"/>
                    </a:ext>
                  </a:extLst>
                </a:gridCol>
                <a:gridCol w="218169">
                  <a:extLst>
                    <a:ext uri="{9D8B030D-6E8A-4147-A177-3AD203B41FA5}">
                      <a16:colId xmlns:a16="http://schemas.microsoft.com/office/drawing/2014/main" val="20015"/>
                    </a:ext>
                  </a:extLst>
                </a:gridCol>
                <a:gridCol w="218169">
                  <a:extLst>
                    <a:ext uri="{9D8B030D-6E8A-4147-A177-3AD203B41FA5}">
                      <a16:colId xmlns:a16="http://schemas.microsoft.com/office/drawing/2014/main" val="20016"/>
                    </a:ext>
                  </a:extLst>
                </a:gridCol>
                <a:gridCol w="218169">
                  <a:extLst>
                    <a:ext uri="{9D8B030D-6E8A-4147-A177-3AD203B41FA5}">
                      <a16:colId xmlns:a16="http://schemas.microsoft.com/office/drawing/2014/main" val="20017"/>
                    </a:ext>
                  </a:extLst>
                </a:gridCol>
                <a:gridCol w="218169">
                  <a:extLst>
                    <a:ext uri="{9D8B030D-6E8A-4147-A177-3AD203B41FA5}">
                      <a16:colId xmlns:a16="http://schemas.microsoft.com/office/drawing/2014/main" val="20018"/>
                    </a:ext>
                  </a:extLst>
                </a:gridCol>
                <a:gridCol w="218169">
                  <a:extLst>
                    <a:ext uri="{9D8B030D-6E8A-4147-A177-3AD203B41FA5}">
                      <a16:colId xmlns:a16="http://schemas.microsoft.com/office/drawing/2014/main" val="20019"/>
                    </a:ext>
                  </a:extLst>
                </a:gridCol>
                <a:gridCol w="218169">
                  <a:extLst>
                    <a:ext uri="{9D8B030D-6E8A-4147-A177-3AD203B41FA5}">
                      <a16:colId xmlns:a16="http://schemas.microsoft.com/office/drawing/2014/main" val="20020"/>
                    </a:ext>
                  </a:extLst>
                </a:gridCol>
                <a:gridCol w="218169">
                  <a:extLst>
                    <a:ext uri="{9D8B030D-6E8A-4147-A177-3AD203B41FA5}">
                      <a16:colId xmlns:a16="http://schemas.microsoft.com/office/drawing/2014/main" val="20021"/>
                    </a:ext>
                  </a:extLst>
                </a:gridCol>
                <a:gridCol w="218169">
                  <a:extLst>
                    <a:ext uri="{9D8B030D-6E8A-4147-A177-3AD203B41FA5}">
                      <a16:colId xmlns:a16="http://schemas.microsoft.com/office/drawing/2014/main" val="20022"/>
                    </a:ext>
                  </a:extLst>
                </a:gridCol>
                <a:gridCol w="218169">
                  <a:extLst>
                    <a:ext uri="{9D8B030D-6E8A-4147-A177-3AD203B41FA5}">
                      <a16:colId xmlns:a16="http://schemas.microsoft.com/office/drawing/2014/main" val="20023"/>
                    </a:ext>
                  </a:extLst>
                </a:gridCol>
                <a:gridCol w="218169">
                  <a:extLst>
                    <a:ext uri="{9D8B030D-6E8A-4147-A177-3AD203B41FA5}">
                      <a16:colId xmlns:a16="http://schemas.microsoft.com/office/drawing/2014/main" val="20024"/>
                    </a:ext>
                  </a:extLst>
                </a:gridCol>
                <a:gridCol w="218169">
                  <a:extLst>
                    <a:ext uri="{9D8B030D-6E8A-4147-A177-3AD203B41FA5}">
                      <a16:colId xmlns:a16="http://schemas.microsoft.com/office/drawing/2014/main" val="20025"/>
                    </a:ext>
                  </a:extLst>
                </a:gridCol>
                <a:gridCol w="218169">
                  <a:extLst>
                    <a:ext uri="{9D8B030D-6E8A-4147-A177-3AD203B41FA5}">
                      <a16:colId xmlns:a16="http://schemas.microsoft.com/office/drawing/2014/main" val="20026"/>
                    </a:ext>
                  </a:extLst>
                </a:gridCol>
                <a:gridCol w="218169">
                  <a:extLst>
                    <a:ext uri="{9D8B030D-6E8A-4147-A177-3AD203B41FA5}">
                      <a16:colId xmlns:a16="http://schemas.microsoft.com/office/drawing/2014/main" val="20027"/>
                    </a:ext>
                  </a:extLst>
                </a:gridCol>
                <a:gridCol w="218169">
                  <a:extLst>
                    <a:ext uri="{9D8B030D-6E8A-4147-A177-3AD203B41FA5}">
                      <a16:colId xmlns:a16="http://schemas.microsoft.com/office/drawing/2014/main" val="20028"/>
                    </a:ext>
                  </a:extLst>
                </a:gridCol>
                <a:gridCol w="218169">
                  <a:extLst>
                    <a:ext uri="{9D8B030D-6E8A-4147-A177-3AD203B41FA5}">
                      <a16:colId xmlns:a16="http://schemas.microsoft.com/office/drawing/2014/main" val="20029"/>
                    </a:ext>
                  </a:extLst>
                </a:gridCol>
                <a:gridCol w="218169">
                  <a:extLst>
                    <a:ext uri="{9D8B030D-6E8A-4147-A177-3AD203B41FA5}">
                      <a16:colId xmlns:a16="http://schemas.microsoft.com/office/drawing/2014/main" val="20030"/>
                    </a:ext>
                  </a:extLst>
                </a:gridCol>
                <a:gridCol w="218169">
                  <a:extLst>
                    <a:ext uri="{9D8B030D-6E8A-4147-A177-3AD203B41FA5}">
                      <a16:colId xmlns:a16="http://schemas.microsoft.com/office/drawing/2014/main" val="20031"/>
                    </a:ext>
                  </a:extLst>
                </a:gridCol>
              </a:tblGrid>
              <a:tr h="195974">
                <a:tc>
                  <a:txBody>
                    <a:bodyPr/>
                    <a:lstStyle/>
                    <a:p>
                      <a:pPr marL="0" algn="ctr" defTabSz="914400" rtl="0" eaLnBrk="1" latinLnBrk="0" hangingPunct="1"/>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21" name="矩形 20"/>
          <p:cNvSpPr/>
          <p:nvPr/>
        </p:nvSpPr>
        <p:spPr>
          <a:xfrm>
            <a:off x="654502" y="2615765"/>
            <a:ext cx="954107" cy="276999"/>
          </a:xfrm>
          <a:prstGeom prst="rect">
            <a:avLst/>
          </a:prstGeom>
        </p:spPr>
        <p:txBody>
          <a:bodyPr wrap="none">
            <a:spAutoFit/>
          </a:bodyPr>
          <a:lstStyle/>
          <a:p>
            <a:pPr algn="r"/>
            <a:r>
              <a:rPr lang="en-US" altLang="zh-CN" sz="1200" b="1" dirty="0" smtClean="0">
                <a:solidFill>
                  <a:srgbClr val="020202"/>
                </a:solidFill>
                <a:latin typeface="微软雅黑" pitchFamily="34" charset="-122"/>
                <a:ea typeface="微软雅黑" pitchFamily="34" charset="-122"/>
              </a:rPr>
              <a:t>ASCII </a:t>
            </a:r>
            <a:r>
              <a:rPr lang="zh-CN" altLang="en-US" sz="1200" b="1" dirty="0" smtClean="0">
                <a:solidFill>
                  <a:srgbClr val="020202"/>
                </a:solidFill>
                <a:latin typeface="微软雅黑" pitchFamily="34" charset="-122"/>
                <a:ea typeface="微软雅黑" pitchFamily="34" charset="-122"/>
              </a:rPr>
              <a:t>编码</a:t>
            </a:r>
            <a:endParaRPr lang="zh-CN" altLang="en-US" sz="1200" b="1" dirty="0">
              <a:solidFill>
                <a:srgbClr val="020202"/>
              </a:solidFill>
              <a:latin typeface="微软雅黑" pitchFamily="34" charset="-122"/>
              <a:ea typeface="微软雅黑" pitchFamily="34" charset="-122"/>
            </a:endParaRPr>
          </a:p>
        </p:txBody>
      </p:sp>
    </p:spTree>
    <p:extLst>
      <p:ext uri="{BB962C8B-B14F-4D97-AF65-F5344CB8AC3E}">
        <p14:creationId xmlns:p14="http://schemas.microsoft.com/office/powerpoint/2010/main" val="20515084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12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782900" y="579914"/>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内容</a:t>
            </a:r>
            <a:r>
              <a:rPr lang="zh-CN" altLang="en-US" sz="2000" b="1" dirty="0" smtClean="0">
                <a:solidFill>
                  <a:schemeClr val="bg1"/>
                </a:solidFill>
                <a:latin typeface="微软雅黑" pitchFamily="34" charset="-122"/>
                <a:ea typeface="微软雅黑" pitchFamily="34" charset="-122"/>
              </a:rPr>
              <a:t>类型</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4215"/>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Content-Type </a:t>
            </a:r>
            <a:r>
              <a:rPr lang="zh-CN" altLang="en-US" sz="2000" b="1" dirty="0" smtClean="0">
                <a:latin typeface="微软雅黑" pitchFamily="34" charset="-122"/>
                <a:ea typeface="微软雅黑" pitchFamily="34" charset="-122"/>
              </a:rPr>
              <a:t>定义</a:t>
            </a:r>
            <a:r>
              <a:rPr lang="zh-CN" altLang="en-US" sz="2000" b="1" dirty="0">
                <a:latin typeface="微软雅黑" pitchFamily="34" charset="-122"/>
                <a:ea typeface="微软雅黑" pitchFamily="34" charset="-122"/>
              </a:rPr>
              <a:t>了</a:t>
            </a:r>
            <a:r>
              <a:rPr lang="zh-CN" altLang="en-US" sz="2000" b="1" dirty="0" smtClean="0">
                <a:latin typeface="微软雅黑" pitchFamily="34" charset="-122"/>
                <a:ea typeface="微软雅黑" pitchFamily="34" charset="-122"/>
              </a:rPr>
              <a:t>数据的具体媒体类型，是</a:t>
            </a:r>
            <a:r>
              <a:rPr lang="zh-CN" altLang="en-US" sz="2000" b="1" dirty="0">
                <a:latin typeface="微软雅黑" pitchFamily="34" charset="-122"/>
                <a:ea typeface="微软雅黑" pitchFamily="34" charset="-122"/>
              </a:rPr>
              <a:t>实现多媒体支持的关键</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包括</a:t>
            </a:r>
            <a:r>
              <a:rPr lang="zh-CN" altLang="en-US" b="1" dirty="0" smtClean="0">
                <a:solidFill>
                  <a:srgbClr val="C00000"/>
                </a:solidFill>
                <a:latin typeface="微软雅黑" pitchFamily="34" charset="-122"/>
                <a:ea typeface="微软雅黑" pitchFamily="34" charset="-122"/>
              </a:rPr>
              <a:t>内容</a:t>
            </a:r>
            <a:r>
              <a:rPr lang="zh-CN" altLang="en-US" b="1" dirty="0">
                <a:solidFill>
                  <a:srgbClr val="C00000"/>
                </a:solidFill>
                <a:latin typeface="微软雅黑" pitchFamily="34" charset="-122"/>
                <a:ea typeface="微软雅黑" pitchFamily="34" charset="-122"/>
              </a:rPr>
              <a:t>类型 </a:t>
            </a:r>
            <a:r>
              <a:rPr lang="en-US" altLang="zh-CN" b="1" dirty="0">
                <a:solidFill>
                  <a:srgbClr val="C00000"/>
                </a:solidFill>
                <a:latin typeface="微软雅黑" pitchFamily="34" charset="-122"/>
                <a:ea typeface="微软雅黑" pitchFamily="34" charset="-122"/>
              </a:rPr>
              <a:t>(type) </a:t>
            </a:r>
            <a:r>
              <a:rPr lang="zh-CN" altLang="en-US" b="1" dirty="0">
                <a:solidFill>
                  <a:srgbClr val="C00000"/>
                </a:solidFill>
                <a:latin typeface="微软雅黑" pitchFamily="34" charset="-122"/>
                <a:ea typeface="微软雅黑" pitchFamily="34" charset="-122"/>
              </a:rPr>
              <a:t>和子类型 </a:t>
            </a:r>
            <a:r>
              <a:rPr lang="en-US" altLang="zh-CN" b="1" dirty="0">
                <a:solidFill>
                  <a:srgbClr val="C00000"/>
                </a:solidFill>
                <a:latin typeface="微软雅黑" pitchFamily="34" charset="-122"/>
                <a:ea typeface="微软雅黑" pitchFamily="34" charset="-122"/>
              </a:rPr>
              <a:t>(</a:t>
            </a:r>
            <a:r>
              <a:rPr lang="en-US" altLang="zh-CN" b="1" dirty="0" smtClean="0">
                <a:solidFill>
                  <a:srgbClr val="C00000"/>
                </a:solidFill>
                <a:latin typeface="微软雅黑" pitchFamily="34" charset="-122"/>
                <a:ea typeface="微软雅黑" pitchFamily="34" charset="-122"/>
              </a:rPr>
              <a:t>subtype)</a:t>
            </a:r>
            <a:r>
              <a:rPr lang="zh-CN" altLang="en-US" b="1" dirty="0">
                <a:latin typeface="微软雅黑" pitchFamily="34" charset="-122"/>
                <a:ea typeface="微软雅黑" pitchFamily="34" charset="-122"/>
              </a:rPr>
              <a:t>两部分</a:t>
            </a:r>
            <a:r>
              <a:rPr lang="zh-CN" altLang="en-US" b="1" dirty="0" smtClean="0">
                <a:latin typeface="微软雅黑" pitchFamily="34" charset="-122"/>
                <a:ea typeface="微软雅黑" pitchFamily="34" charset="-122"/>
              </a:rPr>
              <a:t>，格式上为</a:t>
            </a:r>
            <a:r>
              <a:rPr lang="en-US" altLang="zh-CN" b="1" dirty="0" smtClean="0">
                <a:solidFill>
                  <a:srgbClr val="C00000"/>
                </a:solidFill>
                <a:latin typeface="微软雅黑" pitchFamily="34" charset="-122"/>
                <a:ea typeface="微软雅黑" pitchFamily="34" charset="-122"/>
              </a:rPr>
              <a:t>type</a:t>
            </a:r>
            <a:r>
              <a:rPr lang="en-US" altLang="zh-CN" b="1" dirty="0" smtClean="0">
                <a:latin typeface="微软雅黑" pitchFamily="34" charset="-122"/>
                <a:ea typeface="微软雅黑" pitchFamily="34" charset="-122"/>
              </a:rPr>
              <a:t>/</a:t>
            </a:r>
            <a:r>
              <a:rPr lang="en-US" altLang="zh-CN" b="1" dirty="0" smtClean="0">
                <a:solidFill>
                  <a:srgbClr val="C00000"/>
                </a:solidFill>
                <a:latin typeface="微软雅黑" pitchFamily="34" charset="-122"/>
                <a:ea typeface="微软雅黑" pitchFamily="34" charset="-122"/>
              </a:rPr>
              <a:t>subtype</a:t>
            </a:r>
            <a:r>
              <a:rPr lang="zh-CN" altLang="en-US" b="1" dirty="0">
                <a:latin typeface="微软雅黑" pitchFamily="34" charset="-122"/>
                <a:ea typeface="微软雅黑" pitchFamily="34" charset="-122"/>
              </a:rPr>
              <a:t>结构。</a:t>
            </a:r>
            <a:endParaRPr lang="en-US" altLang="zh-CN" b="1" dirty="0">
              <a:latin typeface="微软雅黑" pitchFamily="34" charset="-122"/>
              <a:ea typeface="微软雅黑" pitchFamily="34" charset="-122"/>
            </a:endParaRPr>
          </a:p>
          <a:p>
            <a:pPr marL="800100" lvl="1" indent="-342900" hangingPunct="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image/jpeg</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audio/mp4</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video/mpeg</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application/pdf …</a:t>
            </a:r>
            <a:endParaRPr lang="zh-CN" altLang="en-US" b="1" dirty="0">
              <a:latin typeface="微软雅黑" pitchFamily="34" charset="-122"/>
              <a:ea typeface="微软雅黑" pitchFamily="34" charset="-122"/>
            </a:endParaRPr>
          </a:p>
          <a:p>
            <a:pPr marL="342900" indent="-34290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除了标准类型外，</a:t>
            </a:r>
            <a:r>
              <a:rPr lang="en-US" altLang="zh-CN" sz="2000" b="1" dirty="0" smtClean="0">
                <a:latin typeface="微软雅黑" pitchFamily="34" charset="-122"/>
                <a:ea typeface="微软雅黑" pitchFamily="34" charset="-122"/>
              </a:rPr>
              <a:t>MIME </a:t>
            </a:r>
            <a:r>
              <a:rPr lang="zh-CN" altLang="en-US" sz="2000" b="1" dirty="0" smtClean="0">
                <a:latin typeface="微软雅黑" pitchFamily="34" charset="-122"/>
                <a:ea typeface="微软雅黑" pitchFamily="34" charset="-122"/>
              </a:rPr>
              <a:t>允许</a:t>
            </a:r>
            <a:r>
              <a:rPr lang="zh-CN" altLang="en-US" sz="2000" b="1" dirty="0">
                <a:latin typeface="微软雅黑" pitchFamily="34" charset="-122"/>
                <a:ea typeface="微软雅黑" pitchFamily="34" charset="-122"/>
              </a:rPr>
              <a:t>发件人和收件人</a:t>
            </a:r>
            <a:r>
              <a:rPr lang="zh-CN" altLang="en-US" sz="2000" b="1" dirty="0">
                <a:solidFill>
                  <a:srgbClr val="C00000"/>
                </a:solidFill>
                <a:latin typeface="微软雅黑" pitchFamily="34" charset="-122"/>
                <a:ea typeface="微软雅黑" pitchFamily="34" charset="-122"/>
              </a:rPr>
              <a:t>自己定义</a:t>
            </a:r>
            <a:r>
              <a:rPr lang="zh-CN" altLang="en-US" sz="2000" b="1" dirty="0">
                <a:latin typeface="微软雅黑" pitchFamily="34" charset="-122"/>
                <a:ea typeface="微软雅黑" pitchFamily="34" charset="-122"/>
              </a:rPr>
              <a:t>专用的内容类型</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6"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custDataLst>
      <p:tags r:id="rId1"/>
    </p:custDataLst>
    <p:extLst>
      <p:ext uri="{BB962C8B-B14F-4D97-AF65-F5344CB8AC3E}">
        <p14:creationId xmlns:p14="http://schemas.microsoft.com/office/powerpoint/2010/main" val="4678422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3" end="3"/>
                                            </p:txEl>
                                          </p:spTgt>
                                        </p:tgtEl>
                                        <p:attrNameLst>
                                          <p:attrName>style.visibility</p:attrName>
                                        </p:attrNameLst>
                                      </p:cBhvr>
                                      <p:to>
                                        <p:strVal val="visible"/>
                                      </p:to>
                                    </p:set>
                                    <p:animEffect transition="in" filter="fade">
                                      <p:cBhvr>
                                        <p:cTn id="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61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4370"/>
            <a:ext cx="49471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itchFamily="34" charset="-122"/>
                <a:ea typeface="微软雅黑" pitchFamily="34" charset="-122"/>
              </a:rPr>
              <a:t>MIME </a:t>
            </a:r>
            <a:r>
              <a:rPr lang="zh-CN" altLang="en-US" sz="2000" b="1" dirty="0" smtClean="0">
                <a:latin typeface="微软雅黑" pitchFamily="34" charset="-122"/>
                <a:ea typeface="微软雅黑" pitchFamily="34" charset="-122"/>
              </a:rPr>
              <a:t>常用</a:t>
            </a:r>
            <a:r>
              <a:rPr lang="zh-CN" altLang="en-US" sz="2000" b="1" dirty="0">
                <a:latin typeface="微软雅黑" pitchFamily="34" charset="-122"/>
                <a:ea typeface="微软雅黑" pitchFamily="34" charset="-122"/>
              </a:rPr>
              <a:t>的内容类型、</a:t>
            </a:r>
            <a:r>
              <a:rPr lang="zh-CN" altLang="en-US" sz="2000" b="1" dirty="0" smtClean="0">
                <a:latin typeface="微软雅黑" pitchFamily="34" charset="-122"/>
                <a:ea typeface="微软雅黑" pitchFamily="34" charset="-122"/>
              </a:rPr>
              <a:t>子类型及其</a:t>
            </a:r>
            <a:r>
              <a:rPr lang="zh-CN" altLang="en-US" sz="2000" b="1" dirty="0">
                <a:latin typeface="微软雅黑" pitchFamily="34" charset="-122"/>
                <a:ea typeface="微软雅黑" pitchFamily="34" charset="-122"/>
              </a:rPr>
              <a:t>说明 </a:t>
            </a:r>
          </a:p>
        </p:txBody>
      </p:sp>
      <p:graphicFrame>
        <p:nvGraphicFramePr>
          <p:cNvPr id="5" name="内容占位符 4"/>
          <p:cNvGraphicFramePr>
            <a:graphicFrameLocks/>
          </p:cNvGraphicFramePr>
          <p:nvPr>
            <p:extLst/>
          </p:nvPr>
        </p:nvGraphicFramePr>
        <p:xfrm>
          <a:off x="556963" y="1016720"/>
          <a:ext cx="8048775" cy="2995289"/>
        </p:xfrm>
        <a:graphic>
          <a:graphicData uri="http://schemas.openxmlformats.org/drawingml/2006/table">
            <a:tbl>
              <a:tblPr firstRow="1" firstCol="1" bandRow="1" bandCol="1"/>
              <a:tblGrid>
                <a:gridCol w="2327758">
                  <a:extLst>
                    <a:ext uri="{9D8B030D-6E8A-4147-A177-3AD203B41FA5}">
                      <a16:colId xmlns:a16="http://schemas.microsoft.com/office/drawing/2014/main" val="20000"/>
                    </a:ext>
                  </a:extLst>
                </a:gridCol>
                <a:gridCol w="2897348">
                  <a:extLst>
                    <a:ext uri="{9D8B030D-6E8A-4147-A177-3AD203B41FA5}">
                      <a16:colId xmlns:a16="http://schemas.microsoft.com/office/drawing/2014/main" val="20001"/>
                    </a:ext>
                  </a:extLst>
                </a:gridCol>
                <a:gridCol w="2823669">
                  <a:extLst>
                    <a:ext uri="{9D8B030D-6E8A-4147-A177-3AD203B41FA5}">
                      <a16:colId xmlns:a16="http://schemas.microsoft.com/office/drawing/2014/main" val="20002"/>
                    </a:ext>
                  </a:extLst>
                </a:gridCol>
              </a:tblGrid>
              <a:tr h="296779">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内容类型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子类型举例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说明</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extLst>
                  <a:ext uri="{0D108BD9-81ED-4DB2-BD59-A6C34878D82A}">
                    <a16:rowId xmlns:a16="http://schemas.microsoft.com/office/drawing/2014/main" val="10000"/>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text</a:t>
                      </a:r>
                      <a:r>
                        <a:rPr lang="zh-CN" sz="1400" b="1" dirty="0">
                          <a:effectLst/>
                          <a:latin typeface="微软雅黑" pitchFamily="34" charset="-122"/>
                          <a:ea typeface="微软雅黑" pitchFamily="34" charset="-122"/>
                        </a:rPr>
                        <a:t>（文本）</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plain, html, xml, </a:t>
                      </a:r>
                      <a:r>
                        <a:rPr lang="en-US" sz="1400" b="1" dirty="0" err="1">
                          <a:effectLst/>
                          <a:latin typeface="微软雅黑" pitchFamily="34" charset="-122"/>
                          <a:ea typeface="微软雅黑" pitchFamily="34" charset="-122"/>
                        </a:rPr>
                        <a:t>css</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itchFamily="34" charset="-122"/>
                          <a:ea typeface="微软雅黑" pitchFamily="34" charset="-122"/>
                        </a:rPr>
                        <a:t>不同格式的文本</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image</a:t>
                      </a:r>
                      <a:r>
                        <a:rPr lang="zh-CN" sz="1400" b="1" dirty="0">
                          <a:effectLst/>
                          <a:latin typeface="微软雅黑" pitchFamily="34" charset="-122"/>
                          <a:ea typeface="微软雅黑" pitchFamily="34" charset="-122"/>
                        </a:rPr>
                        <a:t>（图像）</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gif, jpeg, tiff</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不同格式的静止图像</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audio</a:t>
                      </a:r>
                      <a:r>
                        <a:rPr lang="zh-CN" sz="1400" b="1" dirty="0">
                          <a:effectLst/>
                          <a:latin typeface="微软雅黑" pitchFamily="34" charset="-122"/>
                          <a:ea typeface="微软雅黑" pitchFamily="34" charset="-122"/>
                        </a:rPr>
                        <a:t>（音频）</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basic, mpeg, mp4</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可听见的声音</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69851">
                <a:tc>
                  <a:txBody>
                    <a:bodyPr/>
                    <a:lstStyle/>
                    <a:p>
                      <a:pPr algn="ctr" hangingPunct="0">
                        <a:lnSpc>
                          <a:spcPct val="100000"/>
                        </a:lnSpc>
                        <a:spcAft>
                          <a:spcPts val="0"/>
                        </a:spcAft>
                      </a:pPr>
                      <a:r>
                        <a:rPr lang="en-US" sz="1400" b="1">
                          <a:effectLst/>
                          <a:latin typeface="微软雅黑" pitchFamily="34" charset="-122"/>
                          <a:ea typeface="微软雅黑" pitchFamily="34" charset="-122"/>
                        </a:rPr>
                        <a:t>video</a:t>
                      </a:r>
                      <a:r>
                        <a:rPr lang="zh-CN" sz="1400" b="1">
                          <a:effectLst/>
                          <a:latin typeface="微软雅黑" pitchFamily="34" charset="-122"/>
                          <a:ea typeface="微软雅黑" pitchFamily="34" charset="-122"/>
                        </a:rPr>
                        <a:t>（视频）</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mpeg, mp4, quicktime</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不同格式的影片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model</a:t>
                      </a:r>
                      <a:r>
                        <a:rPr lang="zh-CN" sz="1400" b="1" dirty="0">
                          <a:effectLst/>
                          <a:latin typeface="微软雅黑" pitchFamily="34" charset="-122"/>
                          <a:ea typeface="微软雅黑" pitchFamily="34" charset="-122"/>
                        </a:rPr>
                        <a:t>（模型）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vrml</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3D</a:t>
                      </a:r>
                      <a:r>
                        <a:rPr lang="zh-CN" sz="1400" b="1">
                          <a:effectLst/>
                          <a:latin typeface="微软雅黑" pitchFamily="34" charset="-122"/>
                          <a:ea typeface="微软雅黑" pitchFamily="34" charset="-122"/>
                        </a:rPr>
                        <a:t>模型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539702">
                <a:tc>
                  <a:txBody>
                    <a:bodyPr/>
                    <a:lstStyle/>
                    <a:p>
                      <a:pPr algn="ctr" hangingPunct="0">
                        <a:lnSpc>
                          <a:spcPct val="100000"/>
                        </a:lnSpc>
                        <a:spcAft>
                          <a:spcPts val="0"/>
                        </a:spcAft>
                      </a:pPr>
                      <a:r>
                        <a:rPr lang="en-US" sz="1400" b="1">
                          <a:effectLst/>
                          <a:latin typeface="微软雅黑" pitchFamily="34" charset="-122"/>
                          <a:ea typeface="微软雅黑" pitchFamily="34" charset="-122"/>
                        </a:rPr>
                        <a:t>application</a:t>
                      </a:r>
                      <a:r>
                        <a:rPr lang="zh-CN" sz="1400" b="1">
                          <a:effectLst/>
                          <a:latin typeface="微软雅黑" pitchFamily="34" charset="-122"/>
                          <a:ea typeface="微软雅黑" pitchFamily="34" charset="-122"/>
                        </a:rPr>
                        <a:t>（应用）</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octet-stream, </a:t>
                      </a:r>
                      <a:r>
                        <a:rPr lang="en-US" sz="1400" b="1" dirty="0" err="1">
                          <a:effectLst/>
                          <a:latin typeface="微软雅黑" pitchFamily="34" charset="-122"/>
                          <a:ea typeface="微软雅黑" pitchFamily="34" charset="-122"/>
                        </a:rPr>
                        <a:t>pdf</a:t>
                      </a:r>
                      <a:r>
                        <a:rPr lang="en-US" sz="1400" b="1" dirty="0">
                          <a:effectLst/>
                          <a:latin typeface="微软雅黑" pitchFamily="34" charset="-122"/>
                          <a:ea typeface="微软雅黑" pitchFamily="34" charset="-122"/>
                        </a:rPr>
                        <a:t>, </a:t>
                      </a:r>
                      <a:r>
                        <a:rPr lang="en-US" sz="1400" b="1" dirty="0" err="1">
                          <a:effectLst/>
                          <a:latin typeface="微软雅黑" pitchFamily="34" charset="-122"/>
                          <a:ea typeface="微软雅黑" pitchFamily="34" charset="-122"/>
                        </a:rPr>
                        <a:t>javascript</a:t>
                      </a:r>
                      <a:r>
                        <a:rPr lang="en-US" sz="1400" b="1" dirty="0">
                          <a:effectLst/>
                          <a:latin typeface="微软雅黑" pitchFamily="34" charset="-122"/>
                          <a:ea typeface="微软雅黑" pitchFamily="34" charset="-122"/>
                        </a:rPr>
                        <a:t>, zip</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不同应用程序产生的数据</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69851">
                <a:tc>
                  <a:txBody>
                    <a:bodyPr/>
                    <a:lstStyle/>
                    <a:p>
                      <a:pPr algn="ctr" hangingPunct="0">
                        <a:lnSpc>
                          <a:spcPct val="100000"/>
                        </a:lnSpc>
                        <a:spcAft>
                          <a:spcPts val="0"/>
                        </a:spcAft>
                      </a:pPr>
                      <a:r>
                        <a:rPr lang="en-US" sz="1400" b="1">
                          <a:effectLst/>
                          <a:latin typeface="微软雅黑" pitchFamily="34" charset="-122"/>
                          <a:ea typeface="微软雅黑" pitchFamily="34" charset="-122"/>
                        </a:rPr>
                        <a:t>message</a:t>
                      </a:r>
                      <a:r>
                        <a:rPr lang="zh-CN" sz="1400" b="1">
                          <a:effectLst/>
                          <a:latin typeface="微软雅黑" pitchFamily="34" charset="-122"/>
                          <a:ea typeface="微软雅黑" pitchFamily="34" charset="-122"/>
                        </a:rPr>
                        <a:t>（报文）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http, rfc822</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itchFamily="34" charset="-122"/>
                          <a:ea typeface="微软雅黑" pitchFamily="34" charset="-122"/>
                        </a:rPr>
                        <a:t>封装的报文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539702">
                <a:tc>
                  <a:txBody>
                    <a:bodyPr/>
                    <a:lstStyle/>
                    <a:p>
                      <a:pPr algn="ctr" hangingPunct="0">
                        <a:lnSpc>
                          <a:spcPct val="100000"/>
                        </a:lnSpc>
                        <a:spcAft>
                          <a:spcPts val="0"/>
                        </a:spcAft>
                      </a:pPr>
                      <a:r>
                        <a:rPr lang="en-US" sz="1400" b="1">
                          <a:effectLst/>
                          <a:latin typeface="微软雅黑" pitchFamily="34" charset="-122"/>
                          <a:ea typeface="微软雅黑" pitchFamily="34" charset="-122"/>
                        </a:rPr>
                        <a:t>multipart</a:t>
                      </a:r>
                      <a:r>
                        <a:rPr lang="zh-CN" sz="1400" b="1">
                          <a:effectLst/>
                          <a:latin typeface="微软雅黑" pitchFamily="34" charset="-122"/>
                          <a:ea typeface="微软雅黑" pitchFamily="34" charset="-122"/>
                        </a:rPr>
                        <a:t>（多部分）</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mixed, alternative, parallel, digest</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多种类型的组合</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bl>
          </a:graphicData>
        </a:graphic>
      </p:graphicFrame>
      <p:sp>
        <p:nvSpPr>
          <p:cNvPr id="2" name="矩形 1"/>
          <p:cNvSpPr/>
          <p:nvPr/>
        </p:nvSpPr>
        <p:spPr>
          <a:xfrm>
            <a:off x="1485262" y="4054249"/>
            <a:ext cx="6211678" cy="369332"/>
          </a:xfrm>
          <a:prstGeom prst="rect">
            <a:avLst/>
          </a:prstGeom>
        </p:spPr>
        <p:txBody>
          <a:bodyPr wrap="square">
            <a:spAutoFit/>
          </a:bodyPr>
          <a:lstStyle/>
          <a:p>
            <a:pPr algn="ctr"/>
            <a:r>
              <a:rPr lang="en-US" altLang="zh-CN" b="1" dirty="0" smtClean="0">
                <a:latin typeface="微软雅黑" panose="020B0503020204020204" pitchFamily="34" charset="-122"/>
                <a:ea typeface="微软雅黑" panose="020B0503020204020204" pitchFamily="34" charset="-122"/>
              </a:rPr>
              <a:t>Multipart </a:t>
            </a:r>
            <a:r>
              <a:rPr lang="zh-CN" altLang="en-US" b="1" dirty="0" smtClean="0">
                <a:latin typeface="微软雅黑" panose="020B0503020204020204" pitchFamily="34" charset="-122"/>
                <a:ea typeface="微软雅黑" panose="020B0503020204020204" pitchFamily="34" charset="-122"/>
              </a:rPr>
              <a:t>很有用，为邮件</a:t>
            </a:r>
            <a:r>
              <a:rPr lang="zh-CN" altLang="en-US" b="1" dirty="0">
                <a:latin typeface="微软雅黑" panose="020B0503020204020204" pitchFamily="34" charset="-122"/>
                <a:ea typeface="微软雅黑" panose="020B0503020204020204" pitchFamily="34" charset="-122"/>
              </a:rPr>
              <a:t>增加了相当大的灵活性。</a:t>
            </a:r>
          </a:p>
        </p:txBody>
      </p:sp>
      <p:sp>
        <p:nvSpPr>
          <p:cNvPr id="6"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27483527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974055"/>
            <a:ext cx="8048776" cy="31198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1373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2348"/>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itchFamily="34" charset="-122"/>
                <a:ea typeface="微软雅黑" pitchFamily="34" charset="-122"/>
              </a:rPr>
              <a:t>MIME </a:t>
            </a:r>
            <a:r>
              <a:rPr lang="zh-CN" altLang="en-US" sz="2000" b="1" dirty="0" smtClean="0">
                <a:latin typeface="微软雅黑" pitchFamily="34" charset="-122"/>
                <a:ea typeface="微软雅黑" pitchFamily="34" charset="-122"/>
              </a:rPr>
              <a:t>举例</a:t>
            </a:r>
            <a:endParaRPr lang="zh-CN" altLang="en-US" sz="2000" b="1" dirty="0">
              <a:latin typeface="微软雅黑" pitchFamily="34" charset="-122"/>
              <a:ea typeface="微软雅黑" pitchFamily="34" charset="-122"/>
            </a:endParaRPr>
          </a:p>
        </p:txBody>
      </p:sp>
      <p:sp>
        <p:nvSpPr>
          <p:cNvPr id="13" name="Text Box 4"/>
          <p:cNvSpPr txBox="1">
            <a:spLocks noChangeArrowheads="1"/>
          </p:cNvSpPr>
          <p:nvPr/>
        </p:nvSpPr>
        <p:spPr bwMode="auto">
          <a:xfrm>
            <a:off x="3158350" y="1227463"/>
            <a:ext cx="4966133" cy="2554545"/>
          </a:xfrm>
          <a:prstGeom prst="rect">
            <a:avLst/>
          </a:prstGeom>
          <a:solidFill>
            <a:srgbClr val="CCFFFF"/>
          </a:solidFill>
          <a:ln w="19050">
            <a:solidFill>
              <a:schemeClr val="tx1"/>
            </a:solidFill>
            <a:miter lim="800000"/>
            <a:headEnd/>
            <a:tailEnd/>
          </a:ln>
          <a:effectLs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600" b="1" dirty="0">
                <a:latin typeface="Courier New" pitchFamily="49" charset="0"/>
                <a:ea typeface="宋体" charset="-122"/>
              </a:rPr>
              <a:t>From: </a:t>
            </a:r>
            <a:r>
              <a:rPr lang="en-US" altLang="zh-CN" sz="1600" b="1" dirty="0" smtClean="0">
                <a:latin typeface="Courier New" pitchFamily="49" charset="0"/>
                <a:ea typeface="宋体" charset="-122"/>
              </a:rPr>
              <a:t>lionking@abc.edu </a:t>
            </a:r>
            <a:endParaRPr lang="en-US" altLang="zh-CN" sz="1600" b="1" dirty="0">
              <a:latin typeface="Courier New" pitchFamily="49" charset="0"/>
              <a:ea typeface="宋体" charset="-122"/>
            </a:endParaRPr>
          </a:p>
          <a:p>
            <a:r>
              <a:rPr lang="en-US" altLang="zh-CN" sz="1600" b="1" dirty="0">
                <a:latin typeface="Courier New" pitchFamily="49" charset="0"/>
                <a:ea typeface="宋体" charset="-122"/>
              </a:rPr>
              <a:t>To: </a:t>
            </a:r>
            <a:r>
              <a:rPr lang="en-US" altLang="zh-CN" sz="1600" b="1" dirty="0" smtClean="0">
                <a:latin typeface="Courier New" pitchFamily="49" charset="0"/>
                <a:ea typeface="宋体" charset="-122"/>
              </a:rPr>
              <a:t>tigerwang@xyz.com </a:t>
            </a:r>
            <a:endParaRPr lang="en-US" altLang="zh-CN" sz="1600" b="1" dirty="0">
              <a:latin typeface="Courier New" pitchFamily="49" charset="0"/>
              <a:ea typeface="宋体" charset="-122"/>
            </a:endParaRPr>
          </a:p>
          <a:p>
            <a:r>
              <a:rPr lang="en-US" altLang="zh-CN" sz="1600" b="1" dirty="0">
                <a:latin typeface="Courier New" pitchFamily="49" charset="0"/>
                <a:ea typeface="宋体" charset="-122"/>
              </a:rPr>
              <a:t>Subject: picture of </a:t>
            </a:r>
            <a:r>
              <a:rPr lang="en-US" altLang="zh-CN" sz="1600" b="1" dirty="0" smtClean="0">
                <a:latin typeface="Courier New" pitchFamily="49" charset="0"/>
                <a:ea typeface="宋体" charset="-122"/>
              </a:rPr>
              <a:t>my new home </a:t>
            </a:r>
            <a:endParaRPr lang="en-US" altLang="zh-CN" sz="1600" b="1" dirty="0">
              <a:latin typeface="Courier New" pitchFamily="49" charset="0"/>
              <a:ea typeface="宋体" charset="-122"/>
            </a:endParaRPr>
          </a:p>
          <a:p>
            <a:r>
              <a:rPr lang="en-US" altLang="zh-CN" sz="1600" b="1" dirty="0">
                <a:solidFill>
                  <a:srgbClr val="FF0000"/>
                </a:solidFill>
                <a:latin typeface="Courier New" pitchFamily="49" charset="0"/>
                <a:ea typeface="宋体" charset="-122"/>
              </a:rPr>
              <a:t>MIME-Version: 1.0</a:t>
            </a:r>
            <a:r>
              <a:rPr lang="en-US" altLang="zh-CN" sz="1600" b="1" dirty="0">
                <a:solidFill>
                  <a:srgbClr val="FF3300"/>
                </a:solidFill>
                <a:latin typeface="Courier New" pitchFamily="49" charset="0"/>
                <a:ea typeface="宋体" charset="-122"/>
              </a:rPr>
              <a:t> </a:t>
            </a:r>
          </a:p>
          <a:p>
            <a:r>
              <a:rPr lang="en-US" altLang="zh-CN" sz="1600" b="1" dirty="0">
                <a:solidFill>
                  <a:srgbClr val="990000"/>
                </a:solidFill>
                <a:latin typeface="Courier New" pitchFamily="49" charset="0"/>
                <a:ea typeface="宋体" charset="-122"/>
              </a:rPr>
              <a:t>Content-Transfer-Encoding: base64</a:t>
            </a:r>
            <a:r>
              <a:rPr lang="en-US" altLang="zh-CN" sz="1600" b="1" dirty="0">
                <a:solidFill>
                  <a:schemeClr val="accent1"/>
                </a:solidFill>
                <a:latin typeface="Courier New" pitchFamily="49" charset="0"/>
                <a:ea typeface="宋体" charset="-122"/>
              </a:rPr>
              <a:t> </a:t>
            </a:r>
          </a:p>
          <a:p>
            <a:r>
              <a:rPr lang="en-US" altLang="zh-CN" sz="1600" b="1" dirty="0">
                <a:solidFill>
                  <a:srgbClr val="0000FF"/>
                </a:solidFill>
                <a:latin typeface="Courier New" pitchFamily="49" charset="0"/>
                <a:ea typeface="宋体" charset="-122"/>
              </a:rPr>
              <a:t>Content-Type: image/jpeg </a:t>
            </a:r>
          </a:p>
          <a:p>
            <a:endParaRPr lang="en-US" altLang="zh-CN" sz="1600" b="1" dirty="0">
              <a:solidFill>
                <a:srgbClr val="0000FF"/>
              </a:solidFill>
              <a:latin typeface="Courier New" pitchFamily="49" charset="0"/>
              <a:ea typeface="宋体" charset="-122"/>
            </a:endParaRPr>
          </a:p>
          <a:p>
            <a:r>
              <a:rPr lang="en-US" altLang="zh-CN" sz="1600" b="1" dirty="0">
                <a:solidFill>
                  <a:srgbClr val="008000"/>
                </a:solidFill>
                <a:latin typeface="Courier New" pitchFamily="49" charset="0"/>
                <a:ea typeface="宋体" charset="-122"/>
              </a:rPr>
              <a:t>base64 encoded data ..... </a:t>
            </a:r>
          </a:p>
          <a:p>
            <a:r>
              <a:rPr lang="en-US" altLang="zh-CN" sz="1600" b="1" dirty="0">
                <a:solidFill>
                  <a:srgbClr val="008000"/>
                </a:solidFill>
                <a:latin typeface="Courier New" pitchFamily="49" charset="0"/>
                <a:ea typeface="宋体" charset="-122"/>
              </a:rPr>
              <a:t>......................... </a:t>
            </a:r>
          </a:p>
          <a:p>
            <a:r>
              <a:rPr lang="en-US" altLang="zh-CN" sz="1600" b="1" dirty="0">
                <a:solidFill>
                  <a:srgbClr val="008000"/>
                </a:solidFill>
                <a:latin typeface="Courier New" pitchFamily="49" charset="0"/>
                <a:ea typeface="宋体" charset="-122"/>
              </a:rPr>
              <a:t>......base64 encoded data</a:t>
            </a:r>
            <a:r>
              <a:rPr lang="en-US" altLang="zh-CN" sz="1600" b="1" dirty="0">
                <a:latin typeface="Courier New" pitchFamily="49" charset="0"/>
                <a:ea typeface="宋体" charset="-122"/>
              </a:rPr>
              <a:t> </a:t>
            </a:r>
          </a:p>
        </p:txBody>
      </p:sp>
      <p:sp>
        <p:nvSpPr>
          <p:cNvPr id="16" name="Text Box 5"/>
          <p:cNvSpPr txBox="1">
            <a:spLocks noChangeArrowheads="1"/>
          </p:cNvSpPr>
          <p:nvPr/>
        </p:nvSpPr>
        <p:spPr bwMode="auto">
          <a:xfrm>
            <a:off x="766943" y="2286429"/>
            <a:ext cx="1526380"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smtClean="0">
                <a:solidFill>
                  <a:srgbClr val="0000FF"/>
                </a:solidFill>
                <a:latin typeface="微软雅黑" pitchFamily="34" charset="-122"/>
                <a:ea typeface="微软雅黑" pitchFamily="34" charset="-122"/>
              </a:rPr>
              <a:t>内容类型</a:t>
            </a:r>
            <a:r>
              <a:rPr lang="en-US" altLang="zh-CN" sz="1400" b="1" dirty="0" smtClean="0">
                <a:solidFill>
                  <a:srgbClr val="0000FF"/>
                </a:solidFill>
                <a:latin typeface="微软雅黑" pitchFamily="34" charset="-122"/>
                <a:ea typeface="微软雅黑" pitchFamily="34" charset="-122"/>
              </a:rPr>
              <a:t>/</a:t>
            </a:r>
            <a:r>
              <a:rPr lang="zh-CN" altLang="en-US" sz="1400" b="1" dirty="0" smtClean="0">
                <a:solidFill>
                  <a:srgbClr val="0000FF"/>
                </a:solidFill>
                <a:latin typeface="微软雅黑" pitchFamily="34" charset="-122"/>
                <a:ea typeface="微软雅黑" pitchFamily="34" charset="-122"/>
              </a:rPr>
              <a:t>子类型</a:t>
            </a:r>
            <a:endParaRPr lang="en-US" altLang="zh-CN" sz="1400" b="1" dirty="0">
              <a:solidFill>
                <a:srgbClr val="0000FF"/>
              </a:solidFill>
              <a:latin typeface="微软雅黑" pitchFamily="34" charset="-122"/>
              <a:ea typeface="微软雅黑" pitchFamily="34" charset="-122"/>
            </a:endParaRPr>
          </a:p>
        </p:txBody>
      </p:sp>
      <p:sp>
        <p:nvSpPr>
          <p:cNvPr id="17" name="Text Box 6"/>
          <p:cNvSpPr txBox="1">
            <a:spLocks noChangeArrowheads="1"/>
          </p:cNvSpPr>
          <p:nvPr/>
        </p:nvSpPr>
        <p:spPr bwMode="auto">
          <a:xfrm>
            <a:off x="1390512" y="1865122"/>
            <a:ext cx="902811"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smtClean="0">
                <a:solidFill>
                  <a:srgbClr val="990000"/>
                </a:solidFill>
                <a:latin typeface="微软雅黑" pitchFamily="34" charset="-122"/>
                <a:ea typeface="微软雅黑" pitchFamily="34" charset="-122"/>
              </a:rPr>
              <a:t>编码方法</a:t>
            </a:r>
            <a:endParaRPr lang="en-US" altLang="zh-CN" sz="1400" b="1" dirty="0">
              <a:solidFill>
                <a:srgbClr val="990000"/>
              </a:solidFill>
              <a:latin typeface="微软雅黑" pitchFamily="34" charset="-122"/>
              <a:ea typeface="微软雅黑" pitchFamily="34" charset="-122"/>
            </a:endParaRPr>
          </a:p>
        </p:txBody>
      </p:sp>
      <p:sp>
        <p:nvSpPr>
          <p:cNvPr id="18" name="Text Box 7"/>
          <p:cNvSpPr txBox="1">
            <a:spLocks noChangeArrowheads="1"/>
          </p:cNvSpPr>
          <p:nvPr/>
        </p:nvSpPr>
        <p:spPr bwMode="auto">
          <a:xfrm>
            <a:off x="1164488" y="1426932"/>
            <a:ext cx="1128835"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en-US" altLang="zh-CN" sz="1400" b="1" dirty="0">
                <a:solidFill>
                  <a:srgbClr val="FF0000"/>
                </a:solidFill>
                <a:latin typeface="微软雅黑" pitchFamily="34" charset="-122"/>
                <a:ea typeface="微软雅黑" pitchFamily="34" charset="-122"/>
              </a:rPr>
              <a:t>MIME </a:t>
            </a:r>
            <a:r>
              <a:rPr lang="zh-CN" altLang="en-US" sz="1400" b="1" dirty="0" smtClean="0">
                <a:solidFill>
                  <a:srgbClr val="FF0000"/>
                </a:solidFill>
                <a:latin typeface="微软雅黑" pitchFamily="34" charset="-122"/>
                <a:ea typeface="微软雅黑" pitchFamily="34" charset="-122"/>
              </a:rPr>
              <a:t>版本</a:t>
            </a:r>
            <a:endParaRPr lang="en-US" altLang="zh-CN" sz="1400" b="1" dirty="0">
              <a:solidFill>
                <a:srgbClr val="FF0000"/>
              </a:solidFill>
              <a:latin typeface="微软雅黑" pitchFamily="34" charset="-122"/>
              <a:ea typeface="微软雅黑" pitchFamily="34" charset="-122"/>
            </a:endParaRPr>
          </a:p>
        </p:txBody>
      </p:sp>
      <p:sp>
        <p:nvSpPr>
          <p:cNvPr id="19" name="Text Box 8"/>
          <p:cNvSpPr txBox="1">
            <a:spLocks noChangeArrowheads="1"/>
          </p:cNvSpPr>
          <p:nvPr/>
        </p:nvSpPr>
        <p:spPr bwMode="auto">
          <a:xfrm>
            <a:off x="1031439" y="2819166"/>
            <a:ext cx="1261884"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smtClean="0">
                <a:solidFill>
                  <a:srgbClr val="008000"/>
                </a:solidFill>
                <a:latin typeface="微软雅黑" pitchFamily="34" charset="-122"/>
                <a:ea typeface="微软雅黑" pitchFamily="34" charset="-122"/>
              </a:rPr>
              <a:t>编码后的数据</a:t>
            </a:r>
            <a:endParaRPr lang="en-US" altLang="zh-CN" sz="1400" b="1" dirty="0">
              <a:solidFill>
                <a:srgbClr val="008000"/>
              </a:solidFill>
              <a:latin typeface="微软雅黑" pitchFamily="34" charset="-122"/>
              <a:ea typeface="微软雅黑" pitchFamily="34" charset="-122"/>
            </a:endParaRPr>
          </a:p>
        </p:txBody>
      </p:sp>
      <p:sp>
        <p:nvSpPr>
          <p:cNvPr id="20" name="Line 9"/>
          <p:cNvSpPr>
            <a:spLocks noChangeShapeType="1"/>
          </p:cNvSpPr>
          <p:nvPr/>
        </p:nvSpPr>
        <p:spPr bwMode="auto">
          <a:xfrm>
            <a:off x="2219753" y="1586452"/>
            <a:ext cx="928688" cy="554038"/>
          </a:xfrm>
          <a:prstGeom prst="line">
            <a:avLst/>
          </a:prstGeom>
          <a:noFill/>
          <a:ln w="25400">
            <a:solidFill>
              <a:srgbClr val="FF0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1" name="Line 10"/>
          <p:cNvSpPr>
            <a:spLocks noChangeShapeType="1"/>
          </p:cNvSpPr>
          <p:nvPr/>
        </p:nvSpPr>
        <p:spPr bwMode="auto">
          <a:xfrm>
            <a:off x="2219753" y="2044031"/>
            <a:ext cx="928688" cy="332968"/>
          </a:xfrm>
          <a:prstGeom prst="line">
            <a:avLst/>
          </a:prstGeom>
          <a:noFill/>
          <a:ln w="25400">
            <a:solidFill>
              <a:srgbClr val="6633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3" name="Line 11"/>
          <p:cNvSpPr>
            <a:spLocks noChangeShapeType="1"/>
          </p:cNvSpPr>
          <p:nvPr/>
        </p:nvSpPr>
        <p:spPr bwMode="auto">
          <a:xfrm>
            <a:off x="2219753" y="2466968"/>
            <a:ext cx="938597" cy="136474"/>
          </a:xfrm>
          <a:prstGeom prst="line">
            <a:avLst/>
          </a:prstGeom>
          <a:noFill/>
          <a:ln w="25400">
            <a:solidFill>
              <a:srgbClr val="0000FF"/>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5" name="Line 12"/>
          <p:cNvSpPr>
            <a:spLocks noChangeShapeType="1"/>
          </p:cNvSpPr>
          <p:nvPr/>
        </p:nvSpPr>
        <p:spPr bwMode="auto">
          <a:xfrm>
            <a:off x="2219753" y="2991065"/>
            <a:ext cx="658812" cy="256573"/>
          </a:xfrm>
          <a:prstGeom prst="line">
            <a:avLst/>
          </a:prstGeom>
          <a:noFill/>
          <a:ln w="25400">
            <a:solidFill>
              <a:srgbClr val="0099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 name="左中括号 8"/>
          <p:cNvSpPr/>
          <p:nvPr/>
        </p:nvSpPr>
        <p:spPr>
          <a:xfrm>
            <a:off x="2933736" y="3043615"/>
            <a:ext cx="163270" cy="684149"/>
          </a:xfrm>
          <a:prstGeom prst="leftBracket">
            <a:avLst>
              <a:gd name="adj" fmla="val 0"/>
            </a:avLst>
          </a:prstGeom>
          <a:ln w="19050">
            <a:solidFill>
              <a:srgbClr val="33993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 name="Rectangle 4"/>
          <p:cNvSpPr>
            <a:spLocks noChangeArrowheads="1"/>
          </p:cNvSpPr>
          <p:nvPr/>
        </p:nvSpPr>
        <p:spPr bwMode="auto">
          <a:xfrm>
            <a:off x="7178040" y="37227"/>
            <a:ext cx="196340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通用互联网邮件扩充 </a:t>
            </a:r>
            <a:r>
              <a:rPr lang="en-US" altLang="zh-CN" sz="1100" b="1" dirty="0">
                <a:solidFill>
                  <a:srgbClr val="0070C0"/>
                </a:solidFill>
                <a:latin typeface="微软雅黑" pitchFamily="34" charset="-122"/>
                <a:ea typeface="微软雅黑" pitchFamily="34" charset="-122"/>
              </a:rPr>
              <a:t>MIME</a:t>
            </a:r>
          </a:p>
        </p:txBody>
      </p:sp>
    </p:spTree>
    <p:extLst>
      <p:ext uri="{BB962C8B-B14F-4D97-AF65-F5344CB8AC3E}">
        <p14:creationId xmlns:p14="http://schemas.microsoft.com/office/powerpoint/2010/main" val="4833464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9"/>
          <p:cNvSpPr>
            <a:spLocks noChangeArrowheads="1"/>
          </p:cNvSpPr>
          <p:nvPr/>
        </p:nvSpPr>
        <p:spPr bwMode="auto">
          <a:xfrm>
            <a:off x="2629135" y="295011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10"/>
          <p:cNvSpPr>
            <a:spLocks noChangeArrowheads="1"/>
          </p:cNvSpPr>
          <p:nvPr/>
        </p:nvSpPr>
        <p:spPr bwMode="auto">
          <a:xfrm>
            <a:off x="2629135" y="25091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9"/>
          <p:cNvSpPr>
            <a:spLocks noChangeArrowheads="1"/>
          </p:cNvSpPr>
          <p:nvPr/>
        </p:nvSpPr>
        <p:spPr bwMode="auto">
          <a:xfrm>
            <a:off x="2629135" y="20534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9"/>
          <p:cNvSpPr>
            <a:spLocks noChangeArrowheads="1"/>
          </p:cNvSpPr>
          <p:nvPr/>
        </p:nvSpPr>
        <p:spPr bwMode="auto">
          <a:xfrm>
            <a:off x="2629135" y="113118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159493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637198" y="1059744"/>
            <a:ext cx="20402" cy="222056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27"/>
          <p:cNvSpPr>
            <a:spLocks noChangeArrowheads="1"/>
          </p:cNvSpPr>
          <p:nvPr/>
        </p:nvSpPr>
        <p:spPr bwMode="auto">
          <a:xfrm>
            <a:off x="639730" y="113118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0" name="Rectangle 29"/>
          <p:cNvSpPr>
            <a:spLocks noChangeArrowheads="1"/>
          </p:cNvSpPr>
          <p:nvPr/>
        </p:nvSpPr>
        <p:spPr bwMode="auto">
          <a:xfrm>
            <a:off x="648619" y="122611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6.4</a:t>
            </a:r>
          </a:p>
          <a:p>
            <a:pPr eaLnBrk="0" hangingPunct="0"/>
            <a:r>
              <a:rPr lang="zh-CN" altLang="en-US" sz="2000" b="1" dirty="0">
                <a:solidFill>
                  <a:schemeClr val="bg1"/>
                </a:solidFill>
                <a:latin typeface="微软雅黑" pitchFamily="34" charset="-122"/>
                <a:ea typeface="微软雅黑" pitchFamily="34" charset="-122"/>
              </a:rPr>
              <a:t>多媒体内容在互联网上的传输</a:t>
            </a:r>
            <a:endParaRPr lang="zh-CN" altLang="fr-FR" sz="2000" b="1" dirty="0">
              <a:solidFill>
                <a:schemeClr val="bg1"/>
              </a:solidFill>
              <a:latin typeface="微软雅黑" pitchFamily="34" charset="-122"/>
              <a:ea typeface="微软雅黑" pitchFamily="34" charset="-122"/>
            </a:endParaRPr>
          </a:p>
        </p:txBody>
      </p:sp>
      <p:sp>
        <p:nvSpPr>
          <p:cNvPr id="11" name="Rectangle 8"/>
          <p:cNvSpPr>
            <a:spLocks noChangeArrowheads="1"/>
          </p:cNvSpPr>
          <p:nvPr/>
        </p:nvSpPr>
        <p:spPr bwMode="auto">
          <a:xfrm>
            <a:off x="2700573" y="1006881"/>
            <a:ext cx="5756006"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6.4.1                                            </a:t>
            </a:r>
            <a:r>
              <a:rPr lang="zh-CN" altLang="en-US" sz="2000" b="1" dirty="0" smtClean="0">
                <a:solidFill>
                  <a:schemeClr val="bg1"/>
                </a:solidFill>
                <a:latin typeface="微软雅黑" pitchFamily="34" charset="-122"/>
                <a:ea typeface="微软雅黑" pitchFamily="34" charset="-122"/>
              </a:rPr>
              <a:t>多媒体</a:t>
            </a:r>
            <a:r>
              <a:rPr lang="zh-CN" altLang="en-US" sz="2000" b="1" dirty="0">
                <a:solidFill>
                  <a:schemeClr val="bg1"/>
                </a:solidFill>
                <a:latin typeface="微软雅黑" pitchFamily="34" charset="-122"/>
                <a:ea typeface="微软雅黑" pitchFamily="34" charset="-122"/>
              </a:rPr>
              <a:t>的特点</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6.4.2                               </a:t>
            </a:r>
            <a:r>
              <a:rPr lang="zh-CN" altLang="en-US" sz="2000" b="1" dirty="0" smtClean="0">
                <a:solidFill>
                  <a:schemeClr val="bg1"/>
                </a:solidFill>
                <a:latin typeface="微软雅黑" pitchFamily="34" charset="-122"/>
                <a:ea typeface="微软雅黑" pitchFamily="34" charset="-122"/>
              </a:rPr>
              <a:t>传统</a:t>
            </a:r>
            <a:r>
              <a:rPr lang="zh-CN" altLang="en-US" sz="2000" b="1" dirty="0">
                <a:solidFill>
                  <a:schemeClr val="bg1"/>
                </a:solidFill>
                <a:latin typeface="微软雅黑" pitchFamily="34" charset="-122"/>
                <a:ea typeface="微软雅黑" pitchFamily="34" charset="-122"/>
              </a:rPr>
              <a:t>的多媒体传输</a:t>
            </a:r>
            <a:r>
              <a:rPr lang="zh-CN" altLang="en-US" sz="2000" b="1" dirty="0" smtClean="0">
                <a:solidFill>
                  <a:schemeClr val="bg1"/>
                </a:solidFill>
                <a:latin typeface="微软雅黑" pitchFamily="34" charset="-122"/>
                <a:ea typeface="微软雅黑" pitchFamily="34" charset="-122"/>
              </a:rPr>
              <a:t>协议</a:t>
            </a:r>
            <a:endParaRPr lang="en-US" altLang="zh-CN" sz="2000" b="1" dirty="0">
              <a:solidFill>
                <a:schemeClr val="bg1"/>
              </a:solidFill>
              <a:latin typeface="微软雅黑" pitchFamily="34" charset="-122"/>
              <a:ea typeface="微软雅黑" pitchFamily="34" charset="-122"/>
            </a:endParaRP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6.4.3                     </a:t>
            </a:r>
            <a:r>
              <a:rPr lang="zh-CN" altLang="en-US" sz="2000" b="1" dirty="0" smtClean="0">
                <a:solidFill>
                  <a:schemeClr val="bg1"/>
                </a:solidFill>
                <a:latin typeface="微软雅黑" pitchFamily="34" charset="-122"/>
                <a:ea typeface="微软雅黑" pitchFamily="34" charset="-122"/>
              </a:rPr>
              <a:t>用于</a:t>
            </a:r>
            <a:r>
              <a:rPr lang="zh-CN" altLang="en-US" sz="2000" b="1" dirty="0">
                <a:solidFill>
                  <a:schemeClr val="bg1"/>
                </a:solidFill>
                <a:latin typeface="微软雅黑" pitchFamily="34" charset="-122"/>
                <a:ea typeface="微软雅黑" pitchFamily="34" charset="-122"/>
              </a:rPr>
              <a:t>交互式多媒体传输的协议</a:t>
            </a:r>
            <a:endParaRPr lang="en-US" altLang="zh-CN" sz="2000" b="1" dirty="0">
              <a:solidFill>
                <a:schemeClr val="bg1"/>
              </a:solidFill>
              <a:latin typeface="微软雅黑" pitchFamily="34" charset="-122"/>
              <a:ea typeface="微软雅黑" pitchFamily="34" charset="-122"/>
            </a:endParaRP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6.4.4                     </a:t>
            </a:r>
            <a:r>
              <a:rPr lang="zh-CN" altLang="en-US" sz="2000" b="1" dirty="0" smtClean="0">
                <a:solidFill>
                  <a:schemeClr val="bg1"/>
                </a:solidFill>
                <a:latin typeface="微软雅黑" pitchFamily="34" charset="-122"/>
                <a:ea typeface="微软雅黑" pitchFamily="34" charset="-122"/>
              </a:rPr>
              <a:t>用于</a:t>
            </a:r>
            <a:r>
              <a:rPr lang="zh-CN" altLang="en-US" sz="2000" b="1" dirty="0">
                <a:solidFill>
                  <a:schemeClr val="bg1"/>
                </a:solidFill>
                <a:latin typeface="微软雅黑" pitchFamily="34" charset="-122"/>
                <a:ea typeface="微软雅黑" pitchFamily="34" charset="-122"/>
              </a:rPr>
              <a:t>非实时多媒体传输的</a:t>
            </a:r>
            <a:r>
              <a:rPr lang="zh-CN" altLang="en-US" sz="2000" b="1" dirty="0" smtClean="0">
                <a:solidFill>
                  <a:schemeClr val="bg1"/>
                </a:solidFill>
                <a:latin typeface="微软雅黑" pitchFamily="34" charset="-122"/>
                <a:ea typeface="微软雅黑" pitchFamily="34" charset="-122"/>
              </a:rPr>
              <a:t>协议</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6.4.5                               </a:t>
            </a:r>
            <a:r>
              <a:rPr lang="zh-CN" altLang="en-US" sz="2000" b="1" dirty="0" smtClean="0">
                <a:solidFill>
                  <a:schemeClr val="bg1"/>
                </a:solidFill>
                <a:latin typeface="微软雅黑" pitchFamily="34" charset="-122"/>
                <a:ea typeface="微软雅黑" pitchFamily="34" charset="-122"/>
              </a:rPr>
              <a:t>用于</a:t>
            </a:r>
            <a:r>
              <a:rPr lang="zh-CN" altLang="en-US" sz="2000" b="1" dirty="0">
                <a:solidFill>
                  <a:schemeClr val="bg1"/>
                </a:solidFill>
                <a:latin typeface="微软雅黑" pitchFamily="34" charset="-122"/>
                <a:ea typeface="微软雅黑" pitchFamily="34" charset="-122"/>
              </a:rPr>
              <a:t>多媒体直播的协议</a:t>
            </a:r>
          </a:p>
        </p:txBody>
      </p:sp>
    </p:spTree>
    <p:extLst>
      <p:ext uri="{BB962C8B-B14F-4D97-AF65-F5344CB8AC3E}">
        <p14:creationId xmlns:p14="http://schemas.microsoft.com/office/powerpoint/2010/main" val="28845192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477875"/>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多媒体内容在互联网上的传输，已成为复杂且关键的通信技术，同时也是互联网通信的重要</a:t>
            </a:r>
            <a:r>
              <a:rPr lang="zh-CN" altLang="en-US" sz="2000" b="1" dirty="0" smtClean="0">
                <a:latin typeface="微软雅黑" pitchFamily="34" charset="-122"/>
                <a:ea typeface="微软雅黑" pitchFamily="34" charset="-122"/>
              </a:rPr>
              <a:t>基石。</a:t>
            </a:r>
            <a:endParaRPr lang="en-US" altLang="zh-CN" sz="2000" b="1" dirty="0" smtClean="0">
              <a:latin typeface="微软雅黑" pitchFamily="34" charset="-122"/>
              <a:ea typeface="微软雅黑" pitchFamily="34" charset="-122"/>
            </a:endParaRP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根据</a:t>
            </a:r>
            <a:r>
              <a:rPr lang="en-US" altLang="zh-CN" sz="2000" b="1" dirty="0">
                <a:latin typeface="微软雅黑" pitchFamily="34" charset="-122"/>
                <a:ea typeface="微软雅黑" pitchFamily="34" charset="-122"/>
              </a:rPr>
              <a:t>2023</a:t>
            </a:r>
            <a:r>
              <a:rPr lang="zh-CN" altLang="en-US" sz="2000" b="1" dirty="0">
                <a:latin typeface="微软雅黑" pitchFamily="34" charset="-122"/>
                <a:ea typeface="微软雅黑" pitchFamily="34" charset="-122"/>
              </a:rPr>
              <a:t>年</a:t>
            </a:r>
            <a:r>
              <a:rPr lang="en-US" altLang="zh-CN" sz="2000" b="1" dirty="0" err="1">
                <a:latin typeface="微软雅黑" pitchFamily="34" charset="-122"/>
                <a:ea typeface="微软雅黑" pitchFamily="34" charset="-122"/>
              </a:rPr>
              <a:t>Sandvine</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全球互联网现象报告</a:t>
            </a:r>
            <a:r>
              <a:rPr lang="en-US" altLang="zh-CN" sz="2000" b="1" dirty="0">
                <a:latin typeface="微软雅黑" pitchFamily="34" charset="-122"/>
                <a:ea typeface="微软雅黑" pitchFamily="34" charset="-122"/>
              </a:rPr>
              <a:t>》(Global Internet Phenomena Report)</a:t>
            </a:r>
            <a:r>
              <a:rPr lang="zh-CN" altLang="en-US" sz="2000" b="1" dirty="0">
                <a:latin typeface="微软雅黑" pitchFamily="34" charset="-122"/>
                <a:ea typeface="微软雅黑" pitchFamily="34" charset="-122"/>
              </a:rPr>
              <a:t>，多媒体内容的传输已占全球互联网</a:t>
            </a:r>
            <a:r>
              <a:rPr lang="zh-CN" altLang="en-US" sz="2000" b="1" dirty="0">
                <a:solidFill>
                  <a:srgbClr val="C00000"/>
                </a:solidFill>
                <a:latin typeface="微软雅黑" pitchFamily="34" charset="-122"/>
                <a:ea typeface="微软雅黑" pitchFamily="34" charset="-122"/>
              </a:rPr>
              <a:t>总流量的 </a:t>
            </a:r>
            <a:r>
              <a:rPr lang="en-US" altLang="zh-CN" sz="2000" b="1" dirty="0">
                <a:solidFill>
                  <a:srgbClr val="C00000"/>
                </a:solidFill>
                <a:latin typeface="微软雅黑" pitchFamily="34" charset="-122"/>
                <a:ea typeface="微软雅黑" pitchFamily="34" charset="-122"/>
              </a:rPr>
              <a:t>65.93</a:t>
            </a:r>
            <a:r>
              <a:rPr lang="en-US" altLang="zh-CN" sz="2000" b="1" dirty="0" smtClean="0">
                <a:solidFill>
                  <a:srgbClr val="C00000"/>
                </a:solidFill>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a:t>
            </a:r>
          </a:p>
          <a:p>
            <a:pPr marL="357188" indent="-357188"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多媒体：</a:t>
            </a:r>
            <a:r>
              <a:rPr lang="zh-CN" altLang="en-US" sz="2000" b="1" dirty="0">
                <a:latin typeface="微软雅黑" pitchFamily="34" charset="-122"/>
                <a:ea typeface="微软雅黑" pitchFamily="34" charset="-122"/>
              </a:rPr>
              <a:t>通过</a:t>
            </a:r>
            <a:r>
              <a:rPr lang="zh-CN" altLang="en-US" sz="2000" b="1" dirty="0">
                <a:solidFill>
                  <a:srgbClr val="C00000"/>
                </a:solidFill>
                <a:latin typeface="微软雅黑" pitchFamily="34" charset="-122"/>
                <a:ea typeface="微软雅黑" pitchFamily="34" charset="-122"/>
              </a:rPr>
              <a:t>数字化技术</a:t>
            </a:r>
            <a:r>
              <a:rPr lang="zh-CN" altLang="en-US" sz="2000" b="1" dirty="0">
                <a:latin typeface="微软雅黑" pitchFamily="34" charset="-122"/>
                <a:ea typeface="微软雅黑" pitchFamily="34" charset="-122"/>
              </a:rPr>
              <a:t>将</a:t>
            </a:r>
            <a:r>
              <a:rPr lang="zh-CN" altLang="en-US" sz="2000" b="1" dirty="0">
                <a:solidFill>
                  <a:srgbClr val="C00000"/>
                </a:solidFill>
                <a:latin typeface="微软雅黑" pitchFamily="34" charset="-122"/>
                <a:ea typeface="微软雅黑" pitchFamily="34" charset="-122"/>
              </a:rPr>
              <a:t>两种或两种以上的媒体形式</a:t>
            </a:r>
            <a:r>
              <a:rPr lang="zh-CN" altLang="en-US" sz="2000" b="1" dirty="0">
                <a:latin typeface="微软雅黑" pitchFamily="34" charset="-122"/>
                <a:ea typeface="微软雅黑" pitchFamily="34" charset="-122"/>
              </a:rPr>
              <a:t>（如文本、图像、音频、</a:t>
            </a:r>
            <a:r>
              <a:rPr lang="zh-CN" altLang="en-US" sz="2000" b="1" dirty="0" smtClean="0">
                <a:latin typeface="微软雅黑" pitchFamily="34" charset="-122"/>
                <a:ea typeface="微软雅黑" pitchFamily="34" charset="-122"/>
              </a:rPr>
              <a:t>视频、</a:t>
            </a:r>
            <a:r>
              <a:rPr lang="zh-CN" altLang="en-US" sz="2000" b="1" dirty="0">
                <a:latin typeface="微软雅黑" pitchFamily="34" charset="-122"/>
                <a:ea typeface="微软雅黑" pitchFamily="34" charset="-122"/>
              </a:rPr>
              <a:t>动画）加以整合，用于</a:t>
            </a:r>
            <a:r>
              <a:rPr lang="zh-CN" altLang="en-US" sz="2000" b="1" dirty="0">
                <a:solidFill>
                  <a:srgbClr val="C00000"/>
                </a:solidFill>
                <a:latin typeface="微软雅黑" pitchFamily="34" charset="-122"/>
                <a:ea typeface="微软雅黑" pitchFamily="34" charset="-122"/>
              </a:rPr>
              <a:t>有效传递</a:t>
            </a:r>
            <a:r>
              <a:rPr lang="zh-CN" altLang="en-US" sz="2000" b="1" dirty="0" smtClean="0">
                <a:solidFill>
                  <a:srgbClr val="C00000"/>
                </a:solidFill>
                <a:latin typeface="微软雅黑" pitchFamily="34" charset="-122"/>
                <a:ea typeface="微软雅黑" pitchFamily="34" charset="-122"/>
              </a:rPr>
              <a:t>信息</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通常</a:t>
            </a:r>
            <a:r>
              <a:rPr lang="zh-CN" altLang="en-US" sz="2000" b="1" dirty="0">
                <a:latin typeface="微软雅黑" pitchFamily="34" charset="-122"/>
                <a:ea typeface="微软雅黑" pitchFamily="34" charset="-122"/>
              </a:rPr>
              <a:t>都包含最重要的</a:t>
            </a:r>
            <a:r>
              <a:rPr lang="zh-CN" altLang="en-US" sz="2000" b="1" dirty="0">
                <a:solidFill>
                  <a:srgbClr val="C00000"/>
                </a:solidFill>
                <a:latin typeface="微软雅黑" pitchFamily="34" charset="-122"/>
                <a:ea typeface="微软雅黑" pitchFamily="34" charset="-122"/>
              </a:rPr>
              <a:t>音频</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视频</a:t>
            </a:r>
            <a:r>
              <a:rPr lang="zh-CN" altLang="en-US" sz="2000" b="1" dirty="0" smtClean="0">
                <a:latin typeface="微软雅黑" pitchFamily="34" charset="-122"/>
                <a:ea typeface="微软雅黑" pitchFamily="34" charset="-122"/>
              </a:rPr>
              <a:t>内容。</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556341" y="569848"/>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多媒体</a:t>
            </a:r>
            <a:r>
              <a:rPr lang="zh-CN" altLang="en-US" sz="2400" b="1" dirty="0">
                <a:solidFill>
                  <a:schemeClr val="bg1"/>
                </a:solidFill>
                <a:latin typeface="微软雅黑" pitchFamily="34" charset="-122"/>
                <a:ea typeface="微软雅黑" pitchFamily="34" charset="-122"/>
              </a:rPr>
              <a:t>的特点</a:t>
            </a:r>
          </a:p>
        </p:txBody>
      </p:sp>
    </p:spTree>
    <p:custDataLst>
      <p:tags r:id="rId1"/>
    </p:custDataLst>
    <p:extLst>
      <p:ext uri="{BB962C8B-B14F-4D97-AF65-F5344CB8AC3E}">
        <p14:creationId xmlns:p14="http://schemas.microsoft.com/office/powerpoint/2010/main" val="34507481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42845"/>
            <a:ext cx="8053711" cy="3952364"/>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视频的数据率主要由</a:t>
            </a:r>
            <a:r>
              <a:rPr lang="zh-CN" altLang="en-US" sz="2000" b="1" dirty="0">
                <a:solidFill>
                  <a:srgbClr val="C00000"/>
                </a:solidFill>
                <a:latin typeface="微软雅黑" pitchFamily="34" charset="-122"/>
                <a:ea typeface="微软雅黑" pitchFamily="34" charset="-122"/>
              </a:rPr>
              <a:t>分辨率、帧率</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色彩深度</a:t>
            </a:r>
            <a:r>
              <a:rPr lang="zh-CN" altLang="en-US" sz="2000" b="1" dirty="0">
                <a:latin typeface="微软雅黑" pitchFamily="34" charset="-122"/>
                <a:ea typeface="微软雅黑" pitchFamily="34" charset="-122"/>
              </a:rPr>
              <a:t>这三个因素决定</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14388" lvl="1" indent="-357188"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分辨率即</a:t>
            </a:r>
            <a:r>
              <a:rPr lang="zh-CN" altLang="en-US" b="1" dirty="0">
                <a:solidFill>
                  <a:srgbClr val="C00000"/>
                </a:solidFill>
                <a:latin typeface="微软雅黑" pitchFamily="34" charset="-122"/>
                <a:ea typeface="微软雅黑" pitchFamily="34" charset="-122"/>
              </a:rPr>
              <a:t>每帧的像素</a:t>
            </a:r>
            <a:r>
              <a:rPr lang="zh-CN" altLang="en-US" b="1" dirty="0" smtClean="0">
                <a:solidFill>
                  <a:srgbClr val="C00000"/>
                </a:solidFill>
                <a:latin typeface="微软雅黑" pitchFamily="34" charset="-122"/>
                <a:ea typeface="微软雅黑" pitchFamily="34" charset="-122"/>
              </a:rPr>
              <a:t>数</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决定</a:t>
            </a:r>
            <a:r>
              <a:rPr lang="zh-CN" altLang="en-US" b="1" dirty="0">
                <a:latin typeface="微软雅黑" pitchFamily="34" charset="-122"/>
                <a:ea typeface="微软雅黑" pitchFamily="34" charset="-122"/>
              </a:rPr>
              <a:t>了</a:t>
            </a:r>
            <a:r>
              <a:rPr lang="zh-CN" altLang="en-US" b="1" dirty="0">
                <a:solidFill>
                  <a:srgbClr val="C00000"/>
                </a:solidFill>
                <a:latin typeface="微软雅黑" pitchFamily="34" charset="-122"/>
                <a:ea typeface="微软雅黑" pitchFamily="34" charset="-122"/>
              </a:rPr>
              <a:t>清晰度</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1271588" lvl="2" indent="-357188" eaLnBrk="0" hangingPunct="0">
              <a:lnSpc>
                <a:spcPts val="2500"/>
              </a:lnSpc>
              <a:buClr>
                <a:srgbClr val="0070C0"/>
              </a:buClr>
              <a:buFont typeface="Wingdings" pitchFamily="2" charset="2"/>
              <a:buChar char="l"/>
            </a:pPr>
            <a:r>
              <a:rPr lang="en-US" altLang="zh-CN" sz="1600" b="1" dirty="0" smtClean="0">
                <a:latin typeface="微软雅黑" pitchFamily="34" charset="-122"/>
                <a:ea typeface="微软雅黑" pitchFamily="34" charset="-122"/>
              </a:rPr>
              <a:t>4K</a:t>
            </a:r>
            <a:r>
              <a:rPr lang="zh-CN" altLang="zh-CN" sz="1600" b="1" dirty="0">
                <a:latin typeface="微软雅黑" pitchFamily="34" charset="-122"/>
                <a:ea typeface="微软雅黑" pitchFamily="34" charset="-122"/>
              </a:rPr>
              <a:t>超高清视频</a:t>
            </a:r>
            <a:r>
              <a:rPr lang="en-US" altLang="zh-CN" sz="1600" b="1" dirty="0">
                <a:latin typeface="微软雅黑" pitchFamily="34" charset="-122"/>
                <a:ea typeface="微软雅黑" pitchFamily="34" charset="-122"/>
              </a:rPr>
              <a:t>UHD (Ultra High Definition)</a:t>
            </a:r>
            <a:r>
              <a:rPr lang="zh-CN" altLang="zh-CN" sz="1600" b="1" dirty="0">
                <a:latin typeface="微软雅黑" pitchFamily="34" charset="-122"/>
                <a:ea typeface="微软雅黑" pitchFamily="34" charset="-122"/>
              </a:rPr>
              <a:t>的分辨率是</a:t>
            </a:r>
            <a:r>
              <a:rPr lang="en-US" altLang="zh-CN" sz="1600" b="1" dirty="0">
                <a:latin typeface="微软雅黑" pitchFamily="34" charset="-122"/>
                <a:ea typeface="微软雅黑" pitchFamily="34" charset="-122"/>
              </a:rPr>
              <a:t>3840 × 2160</a:t>
            </a:r>
            <a:r>
              <a:rPr lang="zh-CN" altLang="zh-CN" sz="1600" b="1" dirty="0" smtClean="0">
                <a:latin typeface="微软雅黑" pitchFamily="34" charset="-122"/>
                <a:ea typeface="微软雅黑" pitchFamily="34" charset="-122"/>
              </a:rPr>
              <a:t>像素</a:t>
            </a:r>
            <a:r>
              <a:rPr lang="zh-CN" altLang="en-US" sz="1600" b="1" dirty="0" smtClean="0">
                <a:latin typeface="微软雅黑" pitchFamily="34" charset="-122"/>
                <a:ea typeface="微软雅黑" pitchFamily="34" charset="-122"/>
              </a:rPr>
              <a:t>，</a:t>
            </a:r>
            <a:r>
              <a:rPr lang="en-US" altLang="zh-CN" sz="1600" b="1" dirty="0" smtClean="0">
                <a:latin typeface="微软雅黑" pitchFamily="34" charset="-122"/>
                <a:ea typeface="微软雅黑" pitchFamily="34" charset="-122"/>
              </a:rPr>
              <a:t>8K</a:t>
            </a:r>
            <a:r>
              <a:rPr lang="zh-CN" altLang="zh-CN" sz="1600" b="1" dirty="0">
                <a:latin typeface="微软雅黑" pitchFamily="34" charset="-122"/>
                <a:ea typeface="微软雅黑" pitchFamily="34" charset="-122"/>
              </a:rPr>
              <a:t>超高清视频</a:t>
            </a:r>
            <a:r>
              <a:rPr lang="en-US" altLang="zh-CN" sz="1600" b="1" dirty="0" smtClean="0">
                <a:latin typeface="微软雅黑" pitchFamily="34" charset="-122"/>
                <a:ea typeface="微软雅黑" pitchFamily="34" charset="-122"/>
              </a:rPr>
              <a:t>UHD</a:t>
            </a:r>
            <a:r>
              <a:rPr lang="zh-CN" altLang="en-US" sz="1600" b="1" dirty="0" smtClean="0">
                <a:latin typeface="微软雅黑" pitchFamily="34" charset="-122"/>
                <a:ea typeface="微软雅黑" pitchFamily="34" charset="-122"/>
              </a:rPr>
              <a:t>的</a:t>
            </a:r>
            <a:r>
              <a:rPr lang="zh-CN" altLang="zh-CN" sz="1600" b="1" dirty="0">
                <a:latin typeface="微软雅黑" pitchFamily="34" charset="-122"/>
                <a:ea typeface="微软雅黑" pitchFamily="34" charset="-122"/>
              </a:rPr>
              <a:t>分辨率是</a:t>
            </a:r>
            <a:r>
              <a:rPr lang="en-US" altLang="zh-CN" sz="1600" b="1" dirty="0" smtClean="0">
                <a:latin typeface="微软雅黑" pitchFamily="34" charset="-122"/>
                <a:ea typeface="微软雅黑" pitchFamily="34" charset="-122"/>
              </a:rPr>
              <a:t>7680 </a:t>
            </a:r>
            <a:r>
              <a:rPr lang="en-US" altLang="zh-CN" sz="1600" b="1" dirty="0">
                <a:latin typeface="微软雅黑" pitchFamily="34" charset="-122"/>
                <a:ea typeface="微软雅黑" pitchFamily="34" charset="-122"/>
              </a:rPr>
              <a:t>× 4320</a:t>
            </a:r>
            <a:r>
              <a:rPr lang="zh-CN" altLang="en-US" sz="1600" b="1" dirty="0" smtClean="0">
                <a:latin typeface="微软雅黑" pitchFamily="34" charset="-122"/>
                <a:ea typeface="微软雅黑" pitchFamily="34" charset="-122"/>
              </a:rPr>
              <a:t>像素。</a:t>
            </a:r>
            <a:endParaRPr lang="en-US" altLang="zh-CN" sz="1600" b="1" dirty="0">
              <a:latin typeface="微软雅黑" pitchFamily="34" charset="-122"/>
              <a:ea typeface="微软雅黑" pitchFamily="34" charset="-122"/>
            </a:endParaRPr>
          </a:p>
          <a:p>
            <a:pPr marL="814388" lvl="1" indent="-357188"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帧率</a:t>
            </a:r>
            <a:r>
              <a:rPr lang="en-US" altLang="zh-CN" b="1" dirty="0">
                <a:latin typeface="微软雅黑" pitchFamily="34" charset="-122"/>
                <a:ea typeface="微软雅黑" pitchFamily="34" charset="-122"/>
              </a:rPr>
              <a:t>(frame rate)</a:t>
            </a:r>
            <a:r>
              <a:rPr lang="zh-CN" altLang="en-US" b="1" dirty="0">
                <a:latin typeface="微软雅黑" pitchFamily="34" charset="-122"/>
                <a:ea typeface="微软雅黑" pitchFamily="34" charset="-122"/>
              </a:rPr>
              <a:t>是</a:t>
            </a:r>
            <a:r>
              <a:rPr lang="zh-CN" altLang="en-US" b="1" dirty="0">
                <a:solidFill>
                  <a:srgbClr val="C00000"/>
                </a:solidFill>
                <a:latin typeface="微软雅黑" pitchFamily="34" charset="-122"/>
                <a:ea typeface="微软雅黑" pitchFamily="34" charset="-122"/>
              </a:rPr>
              <a:t>每秒传送的帧数</a:t>
            </a:r>
            <a:r>
              <a:rPr lang="zh-CN" altLang="en-US" b="1" dirty="0" smtClean="0">
                <a:latin typeface="微软雅黑" pitchFamily="34" charset="-122"/>
                <a:ea typeface="微软雅黑" pitchFamily="34" charset="-122"/>
              </a:rPr>
              <a:t>，影响</a:t>
            </a:r>
            <a:r>
              <a:rPr lang="zh-CN" altLang="en-US" b="1" dirty="0">
                <a:solidFill>
                  <a:srgbClr val="C00000"/>
                </a:solidFill>
                <a:latin typeface="微软雅黑" pitchFamily="34" charset="-122"/>
                <a:ea typeface="微软雅黑" pitchFamily="34" charset="-122"/>
              </a:rPr>
              <a:t>视频的流畅度</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帧率</a:t>
            </a:r>
            <a:r>
              <a:rPr lang="zh-CN" altLang="en-US" b="1" dirty="0" smtClean="0">
                <a:latin typeface="微软雅黑" pitchFamily="34" charset="-122"/>
                <a:ea typeface="微软雅黑" pitchFamily="34" charset="-122"/>
              </a:rPr>
              <a:t>单位</a:t>
            </a:r>
            <a:r>
              <a:rPr lang="zh-CN" altLang="en-US" b="1" dirty="0">
                <a:latin typeface="微软雅黑" pitchFamily="34" charset="-122"/>
                <a:ea typeface="微软雅黑" pitchFamily="34" charset="-122"/>
              </a:rPr>
              <a:t>是</a:t>
            </a:r>
            <a:r>
              <a:rPr lang="en-US" altLang="zh-CN" b="1" dirty="0">
                <a:latin typeface="微软雅黑" pitchFamily="34" charset="-122"/>
                <a:ea typeface="微软雅黑" pitchFamily="34" charset="-122"/>
              </a:rPr>
              <a:t>fps (frame per second</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1271588" lvl="2" indent="-357188" eaLnBrk="0" hangingPunct="0">
              <a:lnSpc>
                <a:spcPts val="2500"/>
              </a:lnSpc>
              <a:buClr>
                <a:srgbClr val="0070C0"/>
              </a:buClr>
              <a:buFont typeface="Wingdings" pitchFamily="2" charset="2"/>
              <a:buChar char="l"/>
            </a:pPr>
            <a:r>
              <a:rPr lang="zh-CN" altLang="en-US" sz="1600" b="1" dirty="0" smtClean="0">
                <a:latin typeface="微软雅黑" pitchFamily="34" charset="-122"/>
                <a:ea typeface="微软雅黑" pitchFamily="34" charset="-122"/>
              </a:rPr>
              <a:t>常用帧率</a:t>
            </a:r>
            <a:r>
              <a:rPr lang="en-US" altLang="zh-CN" sz="1600" b="1" dirty="0" smtClean="0">
                <a:latin typeface="微软雅黑" pitchFamily="34" charset="-122"/>
                <a:ea typeface="微软雅黑" pitchFamily="34" charset="-122"/>
              </a:rPr>
              <a:t>30 </a:t>
            </a:r>
            <a:r>
              <a:rPr lang="en-US" altLang="zh-CN" sz="1600" b="1" dirty="0">
                <a:latin typeface="微软雅黑" pitchFamily="34" charset="-122"/>
                <a:ea typeface="微软雅黑" pitchFamily="34" charset="-122"/>
              </a:rPr>
              <a:t>fps</a:t>
            </a:r>
            <a:r>
              <a:rPr lang="zh-CN" altLang="en-US" sz="1600" b="1" dirty="0">
                <a:latin typeface="微软雅黑" pitchFamily="34" charset="-122"/>
                <a:ea typeface="微软雅黑" pitchFamily="34" charset="-122"/>
              </a:rPr>
              <a:t>，快节奏的视频游戏和体育转播</a:t>
            </a:r>
            <a:r>
              <a:rPr lang="zh-CN" altLang="en-US" sz="1600" b="1" dirty="0" smtClean="0">
                <a:latin typeface="微软雅黑" pitchFamily="34" charset="-122"/>
                <a:ea typeface="微软雅黑" pitchFamily="34" charset="-122"/>
              </a:rPr>
              <a:t>则需要</a:t>
            </a:r>
            <a:r>
              <a:rPr lang="en-US" altLang="zh-CN" sz="1600" b="1" dirty="0" smtClean="0">
                <a:latin typeface="微软雅黑" pitchFamily="34" charset="-122"/>
                <a:ea typeface="微软雅黑" pitchFamily="34" charset="-122"/>
              </a:rPr>
              <a:t>120 </a:t>
            </a:r>
            <a:r>
              <a:rPr lang="en-US" altLang="zh-CN" sz="1600" b="1" dirty="0">
                <a:latin typeface="微软雅黑" pitchFamily="34" charset="-122"/>
                <a:ea typeface="微软雅黑" pitchFamily="34" charset="-122"/>
              </a:rPr>
              <a:t>fps</a:t>
            </a:r>
            <a:r>
              <a:rPr lang="zh-CN" altLang="en-US" sz="1600" b="1" dirty="0">
                <a:latin typeface="微软雅黑" pitchFamily="34" charset="-122"/>
                <a:ea typeface="微软雅黑" pitchFamily="34" charset="-122"/>
              </a:rPr>
              <a:t>的帧率。</a:t>
            </a:r>
            <a:endParaRPr lang="en-US" altLang="zh-CN" sz="1600" b="1" dirty="0">
              <a:latin typeface="微软雅黑" pitchFamily="34" charset="-122"/>
              <a:ea typeface="微软雅黑" pitchFamily="34" charset="-122"/>
            </a:endParaRPr>
          </a:p>
          <a:p>
            <a:pPr marL="814388" lvl="1" indent="-357188"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色彩深度</a:t>
            </a:r>
            <a:r>
              <a:rPr lang="en-US" altLang="zh-CN" b="1" dirty="0">
                <a:latin typeface="微软雅黑" pitchFamily="34" charset="-122"/>
                <a:ea typeface="微软雅黑" pitchFamily="34" charset="-122"/>
              </a:rPr>
              <a:t>(color depth)</a:t>
            </a:r>
            <a:r>
              <a:rPr lang="zh-CN" altLang="en-US" b="1" dirty="0">
                <a:latin typeface="微软雅黑" pitchFamily="34" charset="-122"/>
                <a:ea typeface="微软雅黑" pitchFamily="34" charset="-122"/>
              </a:rPr>
              <a:t>用于表示</a:t>
            </a:r>
            <a:r>
              <a:rPr lang="zh-CN" altLang="en-US" b="1" dirty="0">
                <a:solidFill>
                  <a:srgbClr val="C00000"/>
                </a:solidFill>
                <a:latin typeface="微软雅黑" pitchFamily="34" charset="-122"/>
                <a:ea typeface="微软雅黑" pitchFamily="34" charset="-122"/>
              </a:rPr>
              <a:t>图像每个像素的颜色信息所使用的二进制位数（比特数）</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位数越高，视频的视觉体验越接近人眼所能感知的真实色彩。</a:t>
            </a:r>
            <a:endParaRPr lang="en-US" altLang="zh-CN" b="1" dirty="0">
              <a:latin typeface="微软雅黑" pitchFamily="34" charset="-122"/>
              <a:ea typeface="微软雅黑" pitchFamily="34" charset="-122"/>
            </a:endParaRPr>
          </a:p>
          <a:p>
            <a:pPr marL="1271588" lvl="2" indent="-357188" eaLnBrk="0" hangingPunct="0">
              <a:lnSpc>
                <a:spcPts val="2500"/>
              </a:lnSpc>
              <a:buClr>
                <a:srgbClr val="0070C0"/>
              </a:buClr>
              <a:buFont typeface="Wingdings" pitchFamily="2" charset="2"/>
              <a:buChar char="l"/>
            </a:pPr>
            <a:r>
              <a:rPr lang="zh-CN" altLang="en-US" sz="1600" b="1" dirty="0">
                <a:latin typeface="微软雅黑" pitchFamily="34" charset="-122"/>
                <a:ea typeface="微软雅黑" pitchFamily="34" charset="-122"/>
              </a:rPr>
              <a:t>彩色视频通常用</a:t>
            </a:r>
            <a:r>
              <a:rPr lang="en-US" altLang="zh-CN" sz="1600" b="1" dirty="0">
                <a:solidFill>
                  <a:srgbClr val="C00000"/>
                </a:solidFill>
                <a:latin typeface="微软雅黑" pitchFamily="34" charset="-122"/>
                <a:ea typeface="微软雅黑" pitchFamily="34" charset="-122"/>
              </a:rPr>
              <a:t>RGB</a:t>
            </a:r>
            <a:r>
              <a:rPr lang="zh-CN" altLang="en-US" sz="1600" b="1" dirty="0">
                <a:solidFill>
                  <a:srgbClr val="C00000"/>
                </a:solidFill>
                <a:latin typeface="微软雅黑" pitchFamily="34" charset="-122"/>
                <a:ea typeface="微软雅黑" pitchFamily="34" charset="-122"/>
              </a:rPr>
              <a:t>（红绿蓝）三原色模型</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556341" y="569848"/>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多媒体</a:t>
            </a:r>
            <a:r>
              <a:rPr lang="zh-CN" altLang="en-US" sz="2400" b="1" dirty="0">
                <a:solidFill>
                  <a:schemeClr val="bg1"/>
                </a:solidFill>
                <a:latin typeface="微软雅黑" pitchFamily="34" charset="-122"/>
                <a:ea typeface="微软雅黑" pitchFamily="34" charset="-122"/>
              </a:rPr>
              <a:t>的特点</a:t>
            </a:r>
          </a:p>
        </p:txBody>
      </p:sp>
    </p:spTree>
    <p:custDataLst>
      <p:tags r:id="rId1"/>
    </p:custDataLst>
    <p:extLst>
      <p:ext uri="{BB962C8B-B14F-4D97-AF65-F5344CB8AC3E}">
        <p14:creationId xmlns:p14="http://schemas.microsoft.com/office/powerpoint/2010/main" val="7137997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xEl>
                                              <p:pRg st="2" end="2"/>
                                            </p:txEl>
                                          </p:spTgt>
                                        </p:tgtEl>
                                        <p:attrNameLst>
                                          <p:attrName>style.visibility</p:attrName>
                                        </p:attrNameLst>
                                      </p:cBhvr>
                                      <p:to>
                                        <p:strVal val="visible"/>
                                      </p:to>
                                    </p:set>
                                    <p:animEffect transition="in" filter="fade">
                                      <p:cBhvr>
                                        <p:cTn id="10" dur="500"/>
                                        <p:tgtEl>
                                          <p:spTgt spid="8">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xEl>
                                              <p:pRg st="3" end="3"/>
                                            </p:txEl>
                                          </p:spTgt>
                                        </p:tgtEl>
                                        <p:attrNameLst>
                                          <p:attrName>style.visibility</p:attrName>
                                        </p:attrNameLst>
                                      </p:cBhvr>
                                      <p:to>
                                        <p:strVal val="visible"/>
                                      </p:to>
                                    </p:set>
                                    <p:animEffect transition="in" filter="fade">
                                      <p:cBhvr>
                                        <p:cTn id="15" dur="500"/>
                                        <p:tgtEl>
                                          <p:spTgt spid="8">
                                            <p:txEl>
                                              <p:pRg st="3" end="3"/>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8">
                                            <p:txEl>
                                              <p:pRg st="4" end="4"/>
                                            </p:txEl>
                                          </p:spTgt>
                                        </p:tgtEl>
                                        <p:attrNameLst>
                                          <p:attrName>style.visibility</p:attrName>
                                        </p:attrNameLst>
                                      </p:cBhvr>
                                      <p:to>
                                        <p:strVal val="visible"/>
                                      </p:to>
                                    </p:set>
                                    <p:animEffect transition="in" filter="fade">
                                      <p:cBhvr>
                                        <p:cTn id="18" dur="500"/>
                                        <p:tgtEl>
                                          <p:spTgt spid="8">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8">
                                            <p:txEl>
                                              <p:pRg st="5" end="5"/>
                                            </p:txEl>
                                          </p:spTgt>
                                        </p:tgtEl>
                                        <p:attrNameLst>
                                          <p:attrName>style.visibility</p:attrName>
                                        </p:attrNameLst>
                                      </p:cBhvr>
                                      <p:to>
                                        <p:strVal val="visible"/>
                                      </p:to>
                                    </p:set>
                                    <p:animEffect transition="in" filter="fade">
                                      <p:cBhvr>
                                        <p:cTn id="23" dur="500"/>
                                        <p:tgtEl>
                                          <p:spTgt spid="8">
                                            <p:txEl>
                                              <p:pRg st="5" end="5"/>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8">
                                            <p:txEl>
                                              <p:pRg st="6" end="6"/>
                                            </p:txEl>
                                          </p:spTgt>
                                        </p:tgtEl>
                                        <p:attrNameLst>
                                          <p:attrName>style.visibility</p:attrName>
                                        </p:attrNameLst>
                                      </p:cBhvr>
                                      <p:to>
                                        <p:strVal val="visible"/>
                                      </p:to>
                                    </p:set>
                                    <p:animEffect transition="in" filter="fade">
                                      <p:cBhvr>
                                        <p:cTn id="26" dur="500"/>
                                        <p:tgtEl>
                                          <p:spTgt spid="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593291"/>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对于帧率为 </a:t>
            </a:r>
            <a:r>
              <a:rPr lang="en-US" altLang="zh-CN" sz="2000" b="1" dirty="0" smtClean="0">
                <a:latin typeface="微软雅黑" pitchFamily="34" charset="-122"/>
                <a:ea typeface="微软雅黑" pitchFamily="34" charset="-122"/>
              </a:rPr>
              <a:t>30 fps </a:t>
            </a:r>
            <a:r>
              <a:rPr lang="zh-CN" altLang="en-US" sz="2000" b="1" dirty="0" smtClean="0">
                <a:latin typeface="微软雅黑" pitchFamily="34" charset="-122"/>
                <a:ea typeface="微软雅黑" pitchFamily="34" charset="-122"/>
              </a:rPr>
              <a:t>的</a:t>
            </a:r>
            <a:r>
              <a:rPr lang="en-US" altLang="zh-CN" sz="2000" b="1" dirty="0" smtClean="0">
                <a:latin typeface="微软雅黑" pitchFamily="34" charset="-122"/>
                <a:ea typeface="微软雅黑" pitchFamily="34" charset="-122"/>
              </a:rPr>
              <a:t>4K</a:t>
            </a:r>
            <a:r>
              <a:rPr lang="zh-CN" altLang="en-US" sz="2000" b="1" dirty="0" smtClean="0">
                <a:latin typeface="微软雅黑" pitchFamily="34" charset="-122"/>
                <a:ea typeface="微软雅黑" pitchFamily="34" charset="-122"/>
              </a:rPr>
              <a:t>超高清视频：</a:t>
            </a:r>
            <a:endParaRPr lang="en-US" altLang="zh-CN" sz="2000" b="1" dirty="0" smtClean="0">
              <a:latin typeface="微软雅黑" pitchFamily="34" charset="-122"/>
              <a:ea typeface="微软雅黑" pitchFamily="34" charset="-122"/>
            </a:endParaRPr>
          </a:p>
          <a:p>
            <a:pPr marL="814388" lvl="1" indent="-357188" algn="just" hangingPunct="0">
              <a:lnSpc>
                <a:spcPts val="3000"/>
              </a:lnSpc>
              <a:buClr>
                <a:srgbClr val="0070C0"/>
              </a:buClr>
              <a:buFont typeface="Wingdings" pitchFamily="2" charset="2"/>
              <a:buChar char="l"/>
            </a:pPr>
            <a:r>
              <a:rPr lang="zh-CN" altLang="zh-CN" b="1" dirty="0" smtClean="0">
                <a:latin typeface="微软雅黑" pitchFamily="34" charset="-122"/>
                <a:ea typeface="微软雅黑" pitchFamily="34" charset="-122"/>
              </a:rPr>
              <a:t>若</a:t>
            </a:r>
            <a:r>
              <a:rPr lang="zh-CN" altLang="zh-CN" b="1" dirty="0">
                <a:latin typeface="微软雅黑" pitchFamily="34" charset="-122"/>
                <a:ea typeface="微软雅黑" pitchFamily="34" charset="-122"/>
              </a:rPr>
              <a:t>每个</a:t>
            </a:r>
            <a:r>
              <a:rPr lang="en-US" altLang="zh-CN" b="1" dirty="0">
                <a:latin typeface="微软雅黑" pitchFamily="34" charset="-122"/>
                <a:ea typeface="微软雅黑" pitchFamily="34" charset="-122"/>
              </a:rPr>
              <a:t>RGB</a:t>
            </a:r>
            <a:r>
              <a:rPr lang="zh-CN" altLang="zh-CN" b="1" dirty="0">
                <a:latin typeface="微软雅黑" pitchFamily="34" charset="-122"/>
                <a:ea typeface="微软雅黑" pitchFamily="34" charset="-122"/>
              </a:rPr>
              <a:t>通道使用</a:t>
            </a:r>
            <a:r>
              <a:rPr lang="en-US" altLang="zh-CN" b="1" dirty="0">
                <a:latin typeface="微软雅黑" pitchFamily="34" charset="-122"/>
                <a:ea typeface="微软雅黑" pitchFamily="34" charset="-122"/>
              </a:rPr>
              <a:t>8</a:t>
            </a:r>
            <a:r>
              <a:rPr lang="zh-CN" altLang="zh-CN" b="1" dirty="0">
                <a:latin typeface="微软雅黑" pitchFamily="34" charset="-122"/>
                <a:ea typeface="微软雅黑" pitchFamily="34" charset="-122"/>
              </a:rPr>
              <a:t>位的色彩深度</a:t>
            </a:r>
            <a:r>
              <a:rPr lang="zh-CN"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则</a:t>
            </a:r>
            <a:r>
              <a:rPr lang="zh-CN" altLang="zh-CN" b="1" dirty="0" smtClean="0">
                <a:latin typeface="微软雅黑" pitchFamily="34" charset="-122"/>
                <a:ea typeface="微软雅黑" pitchFamily="34" charset="-122"/>
              </a:rPr>
              <a:t>色彩</a:t>
            </a:r>
            <a:r>
              <a:rPr lang="zh-CN" altLang="zh-CN" b="1" dirty="0">
                <a:latin typeface="微软雅黑" pitchFamily="34" charset="-122"/>
                <a:ea typeface="微软雅黑" pitchFamily="34" charset="-122"/>
              </a:rPr>
              <a:t>的总</a:t>
            </a:r>
            <a:r>
              <a:rPr lang="zh-CN" altLang="zh-CN" b="1" dirty="0" smtClean="0">
                <a:latin typeface="微软雅黑" pitchFamily="34" charset="-122"/>
                <a:ea typeface="微软雅黑" pitchFamily="34" charset="-122"/>
              </a:rPr>
              <a:t>位数</a:t>
            </a:r>
            <a:r>
              <a:rPr lang="zh-CN" altLang="en-US" b="1" dirty="0" smtClean="0">
                <a:latin typeface="微软雅黑" pitchFamily="34" charset="-122"/>
                <a:ea typeface="微软雅黑" pitchFamily="34" charset="-122"/>
              </a:rPr>
              <a:t>为</a:t>
            </a:r>
            <a:r>
              <a:rPr lang="en-US" altLang="zh-CN" b="1" dirty="0" smtClean="0">
                <a:latin typeface="微软雅黑" pitchFamily="34" charset="-122"/>
                <a:ea typeface="微软雅黑" pitchFamily="34" charset="-122"/>
              </a:rPr>
              <a:t>24</a:t>
            </a:r>
            <a:r>
              <a:rPr lang="zh-CN" altLang="zh-CN" b="1" dirty="0" smtClean="0">
                <a:latin typeface="微软雅黑" pitchFamily="34" charset="-122"/>
                <a:ea typeface="微软雅黑" pitchFamily="34" charset="-122"/>
              </a:rPr>
              <a:t>位，</a:t>
            </a:r>
            <a:r>
              <a:rPr lang="zh-CN" altLang="zh-CN" b="1" dirty="0">
                <a:latin typeface="微软雅黑" panose="020B0503020204020204" pitchFamily="34" charset="-122"/>
                <a:ea typeface="微软雅黑" panose="020B0503020204020204" pitchFamily="34" charset="-122"/>
              </a:rPr>
              <a:t>可显示</a:t>
            </a:r>
            <a:r>
              <a:rPr lang="en-US" altLang="zh-CN" b="1" dirty="0">
                <a:latin typeface="微软雅黑" panose="020B0503020204020204" pitchFamily="34" charset="-122"/>
                <a:ea typeface="微软雅黑" panose="020B0503020204020204" pitchFamily="34" charset="-122"/>
              </a:rPr>
              <a:t>2</a:t>
            </a:r>
            <a:r>
              <a:rPr lang="en-US" altLang="zh-CN" b="1" baseline="30000" dirty="0">
                <a:latin typeface="微软雅黑" panose="020B0503020204020204" pitchFamily="34" charset="-122"/>
                <a:ea typeface="微软雅黑" panose="020B0503020204020204" pitchFamily="34" charset="-122"/>
              </a:rPr>
              <a:t>24</a:t>
            </a:r>
            <a:r>
              <a:rPr lang="en-US" altLang="zh-CN" b="1" dirty="0">
                <a:latin typeface="微软雅黑" panose="020B0503020204020204" pitchFamily="34" charset="-122"/>
                <a:ea typeface="微软雅黑" panose="020B0503020204020204" pitchFamily="34" charset="-122"/>
              </a:rPr>
              <a:t> ≈ 1.68 </a:t>
            </a:r>
            <a:r>
              <a:rPr lang="en-US" altLang="zh-CN" b="1" dirty="0">
                <a:latin typeface="微软雅黑" panose="020B0503020204020204" pitchFamily="34" charset="-122"/>
                <a:ea typeface="微软雅黑" panose="020B0503020204020204" pitchFamily="34" charset="-122"/>
                <a:sym typeface="Symbol" panose="05050102010706020507" pitchFamily="18" charset="2"/>
              </a:rPr>
              <a:t></a:t>
            </a:r>
            <a:r>
              <a:rPr lang="en-US" altLang="zh-CN" b="1" dirty="0">
                <a:latin typeface="微软雅黑" panose="020B0503020204020204" pitchFamily="34" charset="-122"/>
                <a:ea typeface="微软雅黑" panose="020B0503020204020204" pitchFamily="34" charset="-122"/>
              </a:rPr>
              <a:t> 10</a:t>
            </a:r>
            <a:r>
              <a:rPr lang="en-US" altLang="zh-CN" b="1" baseline="30000" dirty="0">
                <a:latin typeface="微软雅黑" panose="020B0503020204020204" pitchFamily="34" charset="-122"/>
                <a:ea typeface="微软雅黑" panose="020B0503020204020204" pitchFamily="34" charset="-122"/>
              </a:rPr>
              <a:t>7</a:t>
            </a:r>
            <a:r>
              <a:rPr lang="zh-CN" altLang="zh-CN" b="1" dirty="0">
                <a:latin typeface="微软雅黑" panose="020B0503020204020204" pitchFamily="34" charset="-122"/>
                <a:ea typeface="微软雅黑" panose="020B0503020204020204" pitchFamily="34" charset="-122"/>
              </a:rPr>
              <a:t>种颜色</a:t>
            </a:r>
            <a:r>
              <a:rPr lang="zh-CN" altLang="zh-CN" b="1" dirty="0" smtClean="0">
                <a:latin typeface="微软雅黑" panose="020B0503020204020204" pitchFamily="34" charset="-122"/>
                <a:ea typeface="微软雅黑" panose="020B0503020204020204" pitchFamily="34" charset="-122"/>
              </a:rPr>
              <a:t>。</a:t>
            </a:r>
            <a:endParaRPr lang="en-US" altLang="zh-CN" b="1" dirty="0" smtClean="0">
              <a:latin typeface="微软雅黑" pitchFamily="34" charset="-122"/>
              <a:ea typeface="微软雅黑" pitchFamily="34" charset="-122"/>
            </a:endParaRPr>
          </a:p>
          <a:p>
            <a:pPr marL="814388" lvl="1" indent="-357188" algn="just" hangingPunct="0">
              <a:lnSpc>
                <a:spcPts val="3000"/>
              </a:lnSpc>
              <a:buClr>
                <a:srgbClr val="0070C0"/>
              </a:buClr>
              <a:buFont typeface="Wingdings" pitchFamily="2" charset="2"/>
              <a:buChar char="l"/>
            </a:pPr>
            <a:r>
              <a:rPr lang="zh-CN" altLang="zh-CN" b="1" dirty="0" smtClean="0">
                <a:latin typeface="微软雅黑" pitchFamily="34" charset="-122"/>
                <a:ea typeface="微软雅黑" pitchFamily="34" charset="-122"/>
              </a:rPr>
              <a:t>数据</a:t>
            </a:r>
            <a:r>
              <a:rPr lang="zh-CN" altLang="zh-CN" b="1" dirty="0">
                <a:latin typeface="微软雅黑" pitchFamily="34" charset="-122"/>
                <a:ea typeface="微软雅黑" pitchFamily="34" charset="-122"/>
              </a:rPr>
              <a:t>率</a:t>
            </a:r>
            <a:r>
              <a:rPr lang="en-US" altLang="zh-CN" b="1" dirty="0">
                <a:latin typeface="微软雅黑" pitchFamily="34" charset="-122"/>
                <a:ea typeface="微软雅黑" pitchFamily="34" charset="-122"/>
              </a:rPr>
              <a:t> = 3840 × 2160 × 30 × 24 </a:t>
            </a:r>
            <a:r>
              <a:rPr lang="zh-CN" altLang="en-US" b="1" dirty="0" smtClean="0">
                <a:latin typeface="微软雅黑" pitchFamily="34" charset="-122"/>
                <a:ea typeface="微软雅黑" pitchFamily="34" charset="-122"/>
                <a:sym typeface="Symbol" panose="05050102010706020507" pitchFamily="18" charset="2"/>
              </a:rPr>
              <a:t>≈</a:t>
            </a:r>
            <a:r>
              <a:rPr lang="en-US" altLang="zh-CN" b="1" dirty="0" smtClean="0">
                <a:latin typeface="微软雅黑" pitchFamily="34" charset="-122"/>
                <a:ea typeface="微软雅黑" pitchFamily="34" charset="-122"/>
              </a:rPr>
              <a:t> </a:t>
            </a:r>
            <a:r>
              <a:rPr lang="en-US" altLang="zh-CN" b="1" dirty="0">
                <a:latin typeface="微软雅黑" pitchFamily="34" charset="-122"/>
                <a:ea typeface="微软雅黑" pitchFamily="34" charset="-122"/>
              </a:rPr>
              <a:t>6 </a:t>
            </a:r>
            <a:r>
              <a:rPr lang="en-US" altLang="zh-CN" b="1" dirty="0" err="1" smtClean="0">
                <a:latin typeface="微软雅黑" pitchFamily="34" charset="-122"/>
                <a:ea typeface="微软雅黑" pitchFamily="34" charset="-122"/>
              </a:rPr>
              <a:t>Gbit</a:t>
            </a:r>
            <a:r>
              <a:rPr lang="en-US" altLang="zh-CN" b="1" dirty="0" smtClean="0">
                <a:latin typeface="微软雅黑" pitchFamily="34" charset="-122"/>
                <a:ea typeface="微软雅黑" pitchFamily="34" charset="-122"/>
              </a:rPr>
              <a:t>/s</a:t>
            </a:r>
          </a:p>
          <a:p>
            <a:pPr marL="814388" lvl="1" indent="-357188" algn="just" hangingPunct="0">
              <a:lnSpc>
                <a:spcPts val="3000"/>
              </a:lnSpc>
              <a:buClr>
                <a:srgbClr val="0070C0"/>
              </a:buClr>
              <a:buFont typeface="Wingdings" pitchFamily="2" charset="2"/>
              <a:buChar char="l"/>
            </a:pPr>
            <a:r>
              <a:rPr lang="zh-CN" altLang="zh-CN" b="1" dirty="0" smtClean="0">
                <a:latin typeface="微软雅黑" pitchFamily="34" charset="-122"/>
                <a:ea typeface="微软雅黑" pitchFamily="34" charset="-122"/>
              </a:rPr>
              <a:t>在</a:t>
            </a:r>
            <a:r>
              <a:rPr lang="zh-CN" altLang="zh-CN" b="1" dirty="0">
                <a:latin typeface="微软雅黑" pitchFamily="34" charset="-122"/>
                <a:ea typeface="微软雅黑" pitchFamily="34" charset="-122"/>
              </a:rPr>
              <a:t>实际的多媒体应用中，必须使用很好的</a:t>
            </a:r>
            <a:r>
              <a:rPr lang="zh-CN" altLang="zh-CN" b="1" dirty="0">
                <a:solidFill>
                  <a:srgbClr val="C00000"/>
                </a:solidFill>
                <a:latin typeface="微软雅黑" pitchFamily="34" charset="-122"/>
                <a:ea typeface="微软雅黑" pitchFamily="34" charset="-122"/>
              </a:rPr>
              <a:t>压缩技术</a:t>
            </a:r>
            <a:r>
              <a:rPr lang="zh-CN" altLang="zh-CN" b="1" dirty="0">
                <a:latin typeface="微软雅黑" pitchFamily="34" charset="-122"/>
                <a:ea typeface="微软雅黑" pitchFamily="34" charset="-122"/>
              </a:rPr>
              <a:t>，否则多媒体的存储和传输成本将非常高昂</a:t>
            </a:r>
            <a:r>
              <a:rPr lang="zh-CN" altLang="zh-CN"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algn="just"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目前</a:t>
            </a:r>
            <a:r>
              <a:rPr lang="zh-CN" altLang="zh-CN" b="1" dirty="0" smtClean="0">
                <a:latin typeface="微软雅黑" pitchFamily="34" charset="-122"/>
                <a:ea typeface="微软雅黑" pitchFamily="34" charset="-122"/>
              </a:rPr>
              <a:t>压缩</a:t>
            </a:r>
            <a:r>
              <a:rPr lang="zh-CN" altLang="zh-CN" b="1" dirty="0">
                <a:latin typeface="微软雅黑" pitchFamily="34" charset="-122"/>
                <a:ea typeface="微软雅黑" pitchFamily="34" charset="-122"/>
              </a:rPr>
              <a:t>技术已达到相当高的水平，在家庭点播观看</a:t>
            </a:r>
            <a:r>
              <a:rPr lang="en-US" altLang="zh-CN" b="1" dirty="0">
                <a:latin typeface="微软雅黑" pitchFamily="34" charset="-122"/>
                <a:ea typeface="微软雅黑" pitchFamily="34" charset="-122"/>
              </a:rPr>
              <a:t>4K</a:t>
            </a:r>
            <a:r>
              <a:rPr lang="zh-CN" altLang="zh-CN" b="1" dirty="0">
                <a:latin typeface="微软雅黑" pitchFamily="34" charset="-122"/>
                <a:ea typeface="微软雅黑" pitchFamily="34" charset="-122"/>
              </a:rPr>
              <a:t>视频的网</a:t>
            </a:r>
            <a:r>
              <a:rPr lang="zh-CN" altLang="zh-CN" b="1" dirty="0" smtClean="0">
                <a:latin typeface="微软雅黑" pitchFamily="34" charset="-122"/>
                <a:ea typeface="微软雅黑" pitchFamily="34" charset="-122"/>
              </a:rPr>
              <a:t>速只需达到</a:t>
            </a:r>
            <a:r>
              <a:rPr lang="en-US" altLang="zh-CN" b="1" dirty="0" smtClean="0">
                <a:latin typeface="微软雅黑" pitchFamily="34" charset="-122"/>
                <a:ea typeface="微软雅黑" pitchFamily="34" charset="-122"/>
              </a:rPr>
              <a:t>25 </a:t>
            </a:r>
            <a:r>
              <a:rPr lang="en-US" altLang="zh-CN" b="1" dirty="0">
                <a:latin typeface="微软雅黑" pitchFamily="34" charset="-122"/>
                <a:ea typeface="微软雅黑" pitchFamily="34" charset="-122"/>
              </a:rPr>
              <a:t>~ 100 </a:t>
            </a:r>
            <a:r>
              <a:rPr lang="en-US" altLang="zh-CN" b="1" dirty="0" smtClean="0">
                <a:latin typeface="微软雅黑" pitchFamily="34" charset="-122"/>
                <a:ea typeface="微软雅黑" pitchFamily="34" charset="-122"/>
              </a:rPr>
              <a:t>Mbit/s.</a:t>
            </a:r>
          </a:p>
          <a:p>
            <a:pPr marL="814388" lvl="1" indent="-357188" algn="just" hangingPunct="0">
              <a:lnSpc>
                <a:spcPts val="3000"/>
              </a:lnSpc>
              <a:buClr>
                <a:srgbClr val="0070C0"/>
              </a:buClr>
              <a:buFont typeface="Wingdings" pitchFamily="2" charset="2"/>
              <a:buChar char="l"/>
            </a:pPr>
            <a:r>
              <a:rPr lang="zh-CN" altLang="zh-CN" b="1" dirty="0" smtClean="0">
                <a:latin typeface="微软雅黑" pitchFamily="34" charset="-122"/>
                <a:ea typeface="微软雅黑" pitchFamily="34" charset="-122"/>
              </a:rPr>
              <a:t>在</a:t>
            </a:r>
            <a:r>
              <a:rPr lang="zh-CN" altLang="zh-CN" b="1" dirty="0">
                <a:latin typeface="微软雅黑" pitchFamily="34" charset="-122"/>
                <a:ea typeface="微软雅黑" pitchFamily="34" charset="-122"/>
              </a:rPr>
              <a:t>播放已压缩的视频时，必须进行解压缩后才能进行播放观看</a:t>
            </a:r>
            <a:r>
              <a:rPr lang="zh-CN" altLang="zh-CN" b="1" dirty="0" smtClean="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556341" y="569848"/>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多媒体</a:t>
            </a:r>
            <a:r>
              <a:rPr lang="zh-CN" altLang="en-US" sz="2400" b="1" dirty="0">
                <a:solidFill>
                  <a:schemeClr val="bg1"/>
                </a:solidFill>
                <a:latin typeface="微软雅黑" pitchFamily="34" charset="-122"/>
                <a:ea typeface="微软雅黑" pitchFamily="34" charset="-122"/>
              </a:rPr>
              <a:t>的特点</a:t>
            </a:r>
          </a:p>
        </p:txBody>
      </p:sp>
    </p:spTree>
    <p:custDataLst>
      <p:tags r:id="rId1"/>
    </p:custDataLst>
    <p:extLst>
      <p:ext uri="{BB962C8B-B14F-4D97-AF65-F5344CB8AC3E}">
        <p14:creationId xmlns:p14="http://schemas.microsoft.com/office/powerpoint/2010/main" val="7227696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fad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fad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fade">
                                      <p:cBhvr>
                                        <p:cTn id="17" dur="500"/>
                                        <p:tgtEl>
                                          <p:spTgt spid="8">
                                            <p:txEl>
                                              <p:pRg st="4" end="4"/>
                                            </p:txEl>
                                          </p:spTgt>
                                        </p:tgtEl>
                                      </p:cBhvr>
                                    </p:animEffect>
                                  </p:childTnLst>
                                </p:cTn>
                              </p:par>
                            </p:childTnLst>
                          </p:cTn>
                        </p:par>
                        <p:par>
                          <p:cTn id="18" fill="hold">
                            <p:stCondLst>
                              <p:cond delay="500"/>
                            </p:stCondLst>
                            <p:childTnLst>
                              <p:par>
                                <p:cTn id="19" presetID="10" presetClass="entr" presetSubtype="0" fill="hold" nodeType="afterEffect">
                                  <p:stCondLst>
                                    <p:cond delay="0"/>
                                  </p:stCondLst>
                                  <p:childTnLst>
                                    <p:set>
                                      <p:cBhvr>
                                        <p:cTn id="20" dur="1" fill="hold">
                                          <p:stCondLst>
                                            <p:cond delay="0"/>
                                          </p:stCondLst>
                                        </p:cTn>
                                        <p:tgtEl>
                                          <p:spTgt spid="8">
                                            <p:txEl>
                                              <p:pRg st="5" end="5"/>
                                            </p:txEl>
                                          </p:spTgt>
                                        </p:tgtEl>
                                        <p:attrNameLst>
                                          <p:attrName>style.visibility</p:attrName>
                                        </p:attrNameLst>
                                      </p:cBhvr>
                                      <p:to>
                                        <p:strVal val="visible"/>
                                      </p:to>
                                    </p:set>
                                    <p:animEffect transition="in" filter="fade">
                                      <p:cBhvr>
                                        <p:cTn id="21"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901068"/>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数据压缩可分为</a:t>
            </a:r>
            <a:r>
              <a:rPr lang="zh-CN" altLang="en-US" sz="2000" b="1" dirty="0">
                <a:solidFill>
                  <a:srgbClr val="C00000"/>
                </a:solidFill>
                <a:latin typeface="微软雅黑" pitchFamily="34" charset="-122"/>
                <a:ea typeface="微软雅黑" pitchFamily="34" charset="-122"/>
              </a:rPr>
              <a:t>无损压缩</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有损压缩</a:t>
            </a:r>
            <a:r>
              <a:rPr lang="zh-CN" altLang="en-US" sz="2000" b="1" dirty="0">
                <a:latin typeface="微软雅黑" pitchFamily="34" charset="-122"/>
                <a:ea typeface="微软雅黑" pitchFamily="34" charset="-122"/>
              </a:rPr>
              <a:t>两大类</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无损压缩：对压缩后的数据进行解压缩时，可以完全恢复原始数据，不会丢失任何</a:t>
            </a:r>
            <a:r>
              <a:rPr lang="zh-CN" altLang="en-US" b="1" dirty="0" smtClean="0">
                <a:latin typeface="微软雅黑" pitchFamily="34" charset="-122"/>
                <a:ea typeface="微软雅黑" pitchFamily="34" charset="-122"/>
              </a:rPr>
              <a:t>信息。如：</a:t>
            </a:r>
            <a:r>
              <a:rPr lang="en-US" altLang="zh-CN" b="1" dirty="0" smtClean="0">
                <a:latin typeface="微软雅黑" pitchFamily="34" charset="-122"/>
                <a:ea typeface="微软雅黑" pitchFamily="34" charset="-122"/>
              </a:rPr>
              <a:t>HTTP/2</a:t>
            </a:r>
            <a:r>
              <a:rPr lang="zh-CN" altLang="en-US" b="1" dirty="0">
                <a:latin typeface="微软雅黑" pitchFamily="34" charset="-122"/>
                <a:ea typeface="微软雅黑" pitchFamily="34" charset="-122"/>
              </a:rPr>
              <a:t>对帧</a:t>
            </a:r>
            <a:r>
              <a:rPr lang="zh-CN" altLang="en-US" b="1" dirty="0" smtClean="0">
                <a:latin typeface="微软雅黑" pitchFamily="34" charset="-122"/>
                <a:ea typeface="微软雅黑" pitchFamily="34" charset="-122"/>
              </a:rPr>
              <a:t>首部的压缩方法，</a:t>
            </a:r>
            <a:r>
              <a:rPr lang="en-US" altLang="zh-CN" b="1" dirty="0">
                <a:latin typeface="微软雅黑" pitchFamily="34" charset="-122"/>
                <a:ea typeface="微软雅黑" pitchFamily="34" charset="-122"/>
              </a:rPr>
              <a:t>ZIP</a:t>
            </a:r>
            <a:r>
              <a:rPr lang="zh-CN" altLang="en-US" b="1" dirty="0">
                <a:latin typeface="微软雅黑" pitchFamily="34" charset="-122"/>
                <a:ea typeface="微软雅黑" pitchFamily="34" charset="-122"/>
              </a:rPr>
              <a:t>压缩</a:t>
            </a:r>
            <a:r>
              <a:rPr lang="zh-CN" altLang="en-US" b="1" dirty="0" smtClean="0">
                <a:latin typeface="微软雅黑" pitchFamily="34" charset="-122"/>
                <a:ea typeface="微软雅黑" pitchFamily="34" charset="-122"/>
              </a:rPr>
              <a:t>软件方法等。</a:t>
            </a:r>
            <a:endParaRPr lang="en-US" altLang="zh-CN"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视频有</a:t>
            </a:r>
            <a:r>
              <a:rPr lang="zh-CN" altLang="en-US" b="1" dirty="0">
                <a:latin typeface="微软雅黑" pitchFamily="34" charset="-122"/>
                <a:ea typeface="微软雅黑" pitchFamily="34" charset="-122"/>
              </a:rPr>
              <a:t>损压缩：</a:t>
            </a:r>
            <a:r>
              <a:rPr lang="zh-CN" altLang="en-US" b="1" dirty="0" smtClean="0">
                <a:latin typeface="微软雅黑" pitchFamily="34" charset="-122"/>
                <a:ea typeface="微软雅黑" pitchFamily="34" charset="-122"/>
              </a:rPr>
              <a:t>利用人</a:t>
            </a:r>
            <a:r>
              <a:rPr lang="zh-CN" altLang="en-US" b="1" dirty="0">
                <a:latin typeface="微软雅黑" pitchFamily="34" charset="-122"/>
                <a:ea typeface="微软雅黑" pitchFamily="34" charset="-122"/>
              </a:rPr>
              <a:t>眼对图像细节不敏感的特性，通过识别图像内部的冗余信息，对相似区域进行压缩，只保留关键的图像特征。</a:t>
            </a:r>
            <a:endParaRPr lang="en-US" altLang="zh-CN"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MPEG (Motion Picture Experts Group</a:t>
            </a:r>
            <a:r>
              <a:rPr lang="zh-CN" altLang="en-US" b="1" dirty="0">
                <a:latin typeface="微软雅黑" pitchFamily="34" charset="-122"/>
                <a:ea typeface="微软雅黑" pitchFamily="34" charset="-122"/>
              </a:rPr>
              <a:t>，活动图像专家组</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是制定视频</a:t>
            </a:r>
            <a:r>
              <a:rPr lang="zh-CN" altLang="en-US" b="1" dirty="0">
                <a:latin typeface="微软雅黑" pitchFamily="34" charset="-122"/>
                <a:ea typeface="微软雅黑" pitchFamily="34" charset="-122"/>
              </a:rPr>
              <a:t>有损压缩标准的组织，隶属于</a:t>
            </a:r>
            <a:r>
              <a:rPr lang="en-US" altLang="zh-CN" b="1" dirty="0">
                <a:latin typeface="微软雅黑" pitchFamily="34" charset="-122"/>
                <a:ea typeface="微软雅黑" pitchFamily="34" charset="-122"/>
              </a:rPr>
              <a:t>ISO/IEC</a:t>
            </a:r>
            <a:r>
              <a:rPr lang="zh-CN" altLang="en-US" b="1" dirty="0">
                <a:latin typeface="微软雅黑" pitchFamily="34" charset="-122"/>
                <a:ea typeface="微软雅黑" pitchFamily="34" charset="-122"/>
              </a:rPr>
              <a:t>体系</a:t>
            </a:r>
            <a:r>
              <a:rPr lang="zh-CN" altLang="en-US" b="1" dirty="0" smtClean="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57188" indent="-357188" eaLnBrk="0" hangingPunct="0">
              <a:lnSpc>
                <a:spcPts val="33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094678" y="569848"/>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无损压缩与有损压缩</a:t>
            </a:r>
            <a:endParaRPr lang="zh-CN" altLang="en-US"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2178259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fade">
                                      <p:cBhvr>
                                        <p:cTn id="17"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862596"/>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视频有损</a:t>
            </a:r>
            <a:r>
              <a:rPr lang="zh-CN" altLang="en-US" sz="2000" b="1" dirty="0" smtClean="0">
                <a:latin typeface="微软雅黑" pitchFamily="34" charset="-122"/>
                <a:ea typeface="微软雅黑" pitchFamily="34" charset="-122"/>
              </a:rPr>
              <a:t>压缩常用手段：</a:t>
            </a:r>
            <a:endParaRPr lang="en-US" altLang="zh-CN" sz="2000" b="1" dirty="0" smtClean="0">
              <a:latin typeface="微软雅黑" pitchFamily="34" charset="-122"/>
              <a:ea typeface="微软雅黑" pitchFamily="34" charset="-122"/>
            </a:endParaRPr>
          </a:p>
          <a:p>
            <a:pPr marL="814388" lvl="1" indent="-357188" eaLnBrk="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分析</a:t>
            </a:r>
            <a:r>
              <a:rPr lang="zh-CN" altLang="en-US" b="1" dirty="0">
                <a:latin typeface="微软雅黑" pitchFamily="34" charset="-122"/>
                <a:ea typeface="微软雅黑" pitchFamily="34" charset="-122"/>
              </a:rPr>
              <a:t>连续的</a:t>
            </a:r>
            <a:r>
              <a:rPr lang="zh-CN" altLang="en-US" b="1" dirty="0">
                <a:solidFill>
                  <a:srgbClr val="C00000"/>
                </a:solidFill>
                <a:latin typeface="微软雅黑" pitchFamily="34" charset="-122"/>
                <a:ea typeface="微软雅黑" pitchFamily="34" charset="-122"/>
              </a:rPr>
              <a:t>视频帧间的相似性</a:t>
            </a:r>
            <a:r>
              <a:rPr lang="zh-CN" altLang="en-US" b="1" dirty="0">
                <a:latin typeface="微软雅黑" pitchFamily="34" charset="-122"/>
                <a:ea typeface="微软雅黑" pitchFamily="34" charset="-122"/>
              </a:rPr>
              <a:t>，只记录变化的部分</a:t>
            </a:r>
            <a:r>
              <a:rPr lang="zh-CN" altLang="en-US" b="1" dirty="0" smtClean="0">
                <a:latin typeface="微软雅黑" pitchFamily="34" charset="-122"/>
                <a:ea typeface="微软雅黑" pitchFamily="34" charset="-122"/>
              </a:rPr>
              <a:t>，大幅度</a:t>
            </a:r>
            <a:r>
              <a:rPr lang="zh-CN" altLang="en-US" b="1" dirty="0">
                <a:latin typeface="微软雅黑" pitchFamily="34" charset="-122"/>
                <a:ea typeface="微软雅黑" pitchFamily="34" charset="-122"/>
              </a:rPr>
              <a:t>减少需要存储的数据量</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eaLnBrk="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在</a:t>
            </a:r>
            <a:r>
              <a:rPr lang="zh-CN" altLang="en-US" b="1" dirty="0">
                <a:latin typeface="微软雅黑" pitchFamily="34" charset="-122"/>
                <a:ea typeface="微软雅黑" pitchFamily="34" charset="-122"/>
              </a:rPr>
              <a:t>压缩每一帧的图像时，只需</a:t>
            </a:r>
            <a:r>
              <a:rPr lang="zh-CN" altLang="en-US" b="1" dirty="0">
                <a:solidFill>
                  <a:srgbClr val="C00000"/>
                </a:solidFill>
                <a:latin typeface="微软雅黑" pitchFamily="34" charset="-122"/>
                <a:ea typeface="微软雅黑" pitchFamily="34" charset="-122"/>
              </a:rPr>
              <a:t>牺牲部分图像细节</a:t>
            </a:r>
            <a:r>
              <a:rPr lang="zh-CN" altLang="en-US" b="1" dirty="0">
                <a:latin typeface="微软雅黑" pitchFamily="34" charset="-122"/>
                <a:ea typeface="微软雅黑" pitchFamily="34" charset="-122"/>
              </a:rPr>
              <a:t>，就能在视觉质量和文件大小之间找到合适的平衡点</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eaLnBrk="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利用</a:t>
            </a:r>
            <a:r>
              <a:rPr lang="zh-CN" altLang="en-US" b="1" dirty="0">
                <a:latin typeface="微软雅黑" pitchFamily="34" charset="-122"/>
                <a:ea typeface="微软雅黑" pitchFamily="34" charset="-122"/>
              </a:rPr>
              <a:t>人</a:t>
            </a:r>
            <a:r>
              <a:rPr lang="zh-CN" altLang="en-US" b="1" dirty="0" smtClean="0">
                <a:latin typeface="微软雅黑" pitchFamily="34" charset="-122"/>
                <a:ea typeface="微软雅黑" pitchFamily="34" charset="-122"/>
              </a:rPr>
              <a:t>耳对</a:t>
            </a:r>
            <a:r>
              <a:rPr lang="zh-CN" altLang="en-US" b="1" dirty="0">
                <a:latin typeface="微软雅黑" pitchFamily="34" charset="-122"/>
                <a:ea typeface="微软雅黑" pitchFamily="34" charset="-122"/>
              </a:rPr>
              <a:t>声音的某些高频细节和微弱信号的不敏感，可以</a:t>
            </a:r>
            <a:r>
              <a:rPr lang="zh-CN" altLang="en-US" b="1" dirty="0">
                <a:solidFill>
                  <a:srgbClr val="C00000"/>
                </a:solidFill>
                <a:latin typeface="微软雅黑" pitchFamily="34" charset="-122"/>
                <a:ea typeface="微软雅黑" pitchFamily="34" charset="-122"/>
              </a:rPr>
              <a:t>只保留重要频率分量</a:t>
            </a:r>
            <a:r>
              <a:rPr lang="zh-CN" altLang="en-US" b="1" dirty="0">
                <a:latin typeface="微软雅黑" pitchFamily="34" charset="-122"/>
                <a:ea typeface="微软雅黑" pitchFamily="34" charset="-122"/>
              </a:rPr>
              <a:t>，删除难以察觉的高频信息</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57188" indent="-357188" eaLnBrk="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在这些技术的共同作用下，可以把视频数据压缩至原始大小的很小一部分（例如，压缩到原始数据量的</a:t>
            </a:r>
            <a:r>
              <a:rPr lang="en-US" altLang="zh-CN" sz="2000" b="1" dirty="0">
                <a:latin typeface="微软雅黑" pitchFamily="34" charset="-122"/>
                <a:ea typeface="微软雅黑" pitchFamily="34" charset="-122"/>
              </a:rPr>
              <a:t>1/100</a:t>
            </a:r>
            <a:r>
              <a:rPr lang="zh-CN" altLang="en-US" sz="2000" b="1" dirty="0">
                <a:latin typeface="微软雅黑" pitchFamily="34" charset="-122"/>
                <a:ea typeface="微软雅黑" pitchFamily="34" charset="-122"/>
              </a:rPr>
              <a:t>至</a:t>
            </a:r>
            <a:r>
              <a:rPr lang="en-US" altLang="zh-CN" sz="2000" b="1" dirty="0">
                <a:latin typeface="微软雅黑" pitchFamily="34" charset="-122"/>
                <a:ea typeface="微软雅黑" pitchFamily="34" charset="-122"/>
              </a:rPr>
              <a:t>1/300</a:t>
            </a:r>
            <a:r>
              <a:rPr lang="zh-CN" altLang="en-US" sz="2000" b="1" dirty="0">
                <a:latin typeface="微软雅黑" pitchFamily="34" charset="-122"/>
                <a:ea typeface="微软雅黑" pitchFamily="34" charset="-122"/>
              </a:rPr>
              <a:t>），同时还保持可接受的视觉和听觉的质量。</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094678" y="569848"/>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无损压缩与有损压缩</a:t>
            </a:r>
            <a:endParaRPr lang="zh-CN" altLang="en-US"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4415234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fad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fad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fade">
                                      <p:cBhvr>
                                        <p:cTn id="17" dur="500"/>
                                        <p:tgtEl>
                                          <p:spTgt spid="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477875"/>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在制定视频压缩标准的早期，</a:t>
            </a:r>
            <a:r>
              <a:rPr lang="en-US" altLang="zh-CN" sz="2000" b="1" dirty="0">
                <a:latin typeface="微软雅黑" pitchFamily="34" charset="-122"/>
                <a:ea typeface="微软雅黑" pitchFamily="34" charset="-122"/>
              </a:rPr>
              <a:t>ISO/IEC</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MPEG</a:t>
            </a:r>
            <a:r>
              <a:rPr lang="zh-CN" altLang="en-US" sz="2000" b="1" dirty="0">
                <a:latin typeface="微软雅黑" pitchFamily="34" charset="-122"/>
                <a:ea typeface="微软雅黑" pitchFamily="34" charset="-122"/>
              </a:rPr>
              <a:t>系列和</a:t>
            </a:r>
            <a:r>
              <a:rPr lang="en-US" altLang="zh-CN" sz="2000" b="1" dirty="0">
                <a:latin typeface="微软雅黑" pitchFamily="34" charset="-122"/>
                <a:ea typeface="微软雅黑" pitchFamily="34" charset="-122"/>
              </a:rPr>
              <a:t>ITU-T</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H.26x</a:t>
            </a:r>
            <a:r>
              <a:rPr lang="zh-CN" altLang="en-US" sz="2000" b="1" dirty="0">
                <a:latin typeface="微软雅黑" pitchFamily="34" charset="-122"/>
                <a:ea typeface="微软雅黑" pitchFamily="34" charset="-122"/>
              </a:rPr>
              <a:t>系列是各自独立开发研制的</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57188" indent="-357188"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后来</a:t>
            </a:r>
            <a:r>
              <a:rPr lang="zh-CN" altLang="en-US" sz="2000" b="1" dirty="0">
                <a:latin typeface="微软雅黑" pitchFamily="34" charset="-122"/>
                <a:ea typeface="微软雅黑" pitchFamily="34" charset="-122"/>
              </a:rPr>
              <a:t>这两个机构开始合作开发</a:t>
            </a:r>
            <a:r>
              <a:rPr lang="zh-CN" altLang="en-US" sz="2000" b="1" dirty="0" smtClean="0">
                <a:latin typeface="微软雅黑" pitchFamily="34" charset="-122"/>
                <a:ea typeface="微软雅黑" pitchFamily="34" charset="-122"/>
              </a:rPr>
              <a:t>，确保全球</a:t>
            </a:r>
            <a:r>
              <a:rPr lang="zh-CN" altLang="en-US" sz="2000" b="1" dirty="0">
                <a:latin typeface="微软雅黑" pitchFamily="34" charset="-122"/>
                <a:ea typeface="微软雅黑" pitchFamily="34" charset="-122"/>
              </a:rPr>
              <a:t>视频编码标准的统一性</a:t>
            </a:r>
            <a:r>
              <a:rPr lang="zh-CN" altLang="en-US" sz="2000" b="1" dirty="0" smtClean="0">
                <a:latin typeface="微软雅黑" pitchFamily="34" charset="-122"/>
                <a:ea typeface="微软雅黑" pitchFamily="34" charset="-122"/>
              </a:rPr>
              <a:t>，推动视频技术</a:t>
            </a:r>
            <a:r>
              <a:rPr lang="zh-CN" altLang="en-US" sz="2000" b="1" dirty="0">
                <a:latin typeface="微软雅黑" pitchFamily="34" charset="-122"/>
                <a:ea typeface="微软雅黑" pitchFamily="34" charset="-122"/>
              </a:rPr>
              <a:t>的快速发展，但同一标准有两个不同的</a:t>
            </a:r>
            <a:r>
              <a:rPr lang="zh-CN" altLang="en-US" sz="2000" b="1" dirty="0" smtClean="0">
                <a:latin typeface="微软雅黑" pitchFamily="34" charset="-122"/>
                <a:ea typeface="微软雅黑" pitchFamily="34" charset="-122"/>
              </a:rPr>
              <a:t>名字：</a:t>
            </a:r>
            <a:endParaRPr lang="en-US" altLang="zh-CN" sz="2000"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en-US" altLang="zh-CN" b="1" dirty="0" smtClean="0">
                <a:solidFill>
                  <a:srgbClr val="0000FF"/>
                </a:solidFill>
                <a:latin typeface="微软雅黑" pitchFamily="34" charset="-122"/>
                <a:ea typeface="微软雅黑" pitchFamily="34" charset="-122"/>
              </a:rPr>
              <a:t>H.264 </a:t>
            </a:r>
            <a:r>
              <a:rPr lang="en-US" altLang="zh-CN" b="1" dirty="0">
                <a:latin typeface="微软雅黑" pitchFamily="34" charset="-122"/>
                <a:ea typeface="微软雅黑" pitchFamily="34" charset="-122"/>
              </a:rPr>
              <a:t>= </a:t>
            </a:r>
            <a:r>
              <a:rPr lang="en-US" altLang="zh-CN" b="1" dirty="0">
                <a:solidFill>
                  <a:srgbClr val="0000FF"/>
                </a:solidFill>
                <a:latin typeface="微软雅黑" pitchFamily="34" charset="-122"/>
                <a:ea typeface="微软雅黑" pitchFamily="34" charset="-122"/>
              </a:rPr>
              <a:t>MPEG-4 Part 10/AVC (Advanced Video Coding)</a:t>
            </a:r>
          </a:p>
          <a:p>
            <a:pPr marL="814388" lvl="1" indent="-357188" algn="just" hangingPunct="0">
              <a:lnSpc>
                <a:spcPts val="33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H.265 </a:t>
            </a:r>
            <a:r>
              <a:rPr lang="en-US" altLang="zh-CN" b="1" dirty="0">
                <a:latin typeface="微软雅黑" pitchFamily="34" charset="-122"/>
                <a:ea typeface="微软雅黑" pitchFamily="34" charset="-122"/>
              </a:rPr>
              <a:t>= </a:t>
            </a:r>
            <a:r>
              <a:rPr lang="en-US" altLang="zh-CN" b="1" dirty="0">
                <a:solidFill>
                  <a:srgbClr val="0000FF"/>
                </a:solidFill>
                <a:latin typeface="微软雅黑" pitchFamily="34" charset="-122"/>
                <a:ea typeface="微软雅黑" pitchFamily="34" charset="-122"/>
              </a:rPr>
              <a:t>MPEG-H Part 2/HEVC (High Efficiency Video Coding)</a:t>
            </a:r>
          </a:p>
          <a:p>
            <a:pPr marL="814388" lvl="1" indent="-357188" algn="just" hangingPunct="0">
              <a:lnSpc>
                <a:spcPts val="33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H.266 </a:t>
            </a:r>
            <a:r>
              <a:rPr lang="en-US" altLang="zh-CN" b="1" dirty="0">
                <a:latin typeface="微软雅黑" pitchFamily="34" charset="-122"/>
                <a:ea typeface="微软雅黑" pitchFamily="34" charset="-122"/>
              </a:rPr>
              <a:t>= </a:t>
            </a:r>
            <a:r>
              <a:rPr lang="en-US" altLang="zh-CN" b="1" dirty="0">
                <a:solidFill>
                  <a:srgbClr val="0000FF"/>
                </a:solidFill>
                <a:latin typeface="微软雅黑" pitchFamily="34" charset="-122"/>
                <a:ea typeface="微软雅黑" pitchFamily="34" charset="-122"/>
              </a:rPr>
              <a:t>MPEG-I Part 3/VVC (Versatile Video Coding)</a:t>
            </a: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094678" y="569848"/>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无损压缩与有损压缩</a:t>
            </a:r>
            <a:endParaRPr lang="zh-CN" altLang="en-US"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232969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xEl>
                                              <p:pRg st="2" end="2"/>
                                            </p:txEl>
                                          </p:spTgt>
                                        </p:tgtEl>
                                        <p:attrNameLst>
                                          <p:attrName>style.visibility</p:attrName>
                                        </p:attrNameLst>
                                      </p:cBhvr>
                                      <p:to>
                                        <p:strVal val="visible"/>
                                      </p:to>
                                    </p:set>
                                    <p:animEffect transition="in" filter="fade">
                                      <p:cBhvr>
                                        <p:cTn id="10" dur="500"/>
                                        <p:tgtEl>
                                          <p:spTgt spid="8">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animEffect transition="in" filter="fade">
                                      <p:cBhvr>
                                        <p:cTn id="13" dur="500"/>
                                        <p:tgtEl>
                                          <p:spTgt spid="8">
                                            <p:txEl>
                                              <p:pRg st="3" end="3"/>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8">
                                            <p:txEl>
                                              <p:pRg st="4" end="4"/>
                                            </p:txEl>
                                          </p:spTgt>
                                        </p:tgtEl>
                                        <p:attrNameLst>
                                          <p:attrName>style.visibility</p:attrName>
                                        </p:attrNameLst>
                                      </p:cBhvr>
                                      <p:to>
                                        <p:strVal val="visible"/>
                                      </p:to>
                                    </p:set>
                                    <p:animEffect transition="in" filter="fade">
                                      <p:cBhvr>
                                        <p:cTn id="16" dur="500"/>
                                        <p:tgtEl>
                                          <p:spTgt spid="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811300"/>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从时间同步性需求的角度来看，多媒体可分为</a:t>
            </a:r>
            <a:r>
              <a:rPr lang="zh-CN" altLang="en-US" sz="2000" b="1" dirty="0">
                <a:solidFill>
                  <a:srgbClr val="C00000"/>
                </a:solidFill>
                <a:latin typeface="微软雅黑" pitchFamily="34" charset="-122"/>
                <a:ea typeface="微软雅黑" pitchFamily="34" charset="-122"/>
              </a:rPr>
              <a:t>实时多媒体</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非实时多媒体</a:t>
            </a:r>
            <a:r>
              <a:rPr lang="zh-CN" altLang="en-US" sz="2000" b="1" dirty="0">
                <a:latin typeface="微软雅黑" pitchFamily="34" charset="-122"/>
                <a:ea typeface="微软雅黑" pitchFamily="34" charset="-122"/>
              </a:rPr>
              <a:t>两种</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14388" lvl="1" indent="-357188" algn="just"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实时</a:t>
            </a:r>
            <a:r>
              <a:rPr lang="zh-CN" altLang="en-US" b="1" dirty="0" smtClean="0">
                <a:latin typeface="微软雅黑" pitchFamily="34" charset="-122"/>
                <a:ea typeface="微软雅黑" pitchFamily="34" charset="-122"/>
              </a:rPr>
              <a:t>多媒体：</a:t>
            </a:r>
            <a:r>
              <a:rPr lang="zh-CN" altLang="en-US" b="1" dirty="0" smtClean="0">
                <a:solidFill>
                  <a:srgbClr val="C00000"/>
                </a:solidFill>
                <a:latin typeface="微软雅黑" pitchFamily="34" charset="-122"/>
                <a:ea typeface="微软雅黑" pitchFamily="34" charset="-122"/>
              </a:rPr>
              <a:t>内容</a:t>
            </a:r>
            <a:r>
              <a:rPr lang="zh-CN" altLang="en-US" b="1" dirty="0">
                <a:solidFill>
                  <a:srgbClr val="C00000"/>
                </a:solidFill>
                <a:latin typeface="微软雅黑" pitchFamily="34" charset="-122"/>
                <a:ea typeface="微软雅黑" pitchFamily="34" charset="-122"/>
              </a:rPr>
              <a:t>的产生和播放是同步进行的</a:t>
            </a:r>
            <a:r>
              <a:rPr lang="zh-CN" altLang="en-US" b="1" dirty="0">
                <a:latin typeface="微软雅黑" pitchFamily="34" charset="-122"/>
                <a:ea typeface="微软雅黑" pitchFamily="34" charset="-122"/>
              </a:rPr>
              <a:t>，如视频直播和视频会议，观看内容与内容的产生是同步发生的</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algn="just"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“同步”是</a:t>
            </a:r>
            <a:r>
              <a:rPr lang="zh-CN" altLang="en-US" b="1" dirty="0">
                <a:latin typeface="微软雅黑" pitchFamily="34" charset="-122"/>
                <a:ea typeface="微软雅黑" pitchFamily="34" charset="-122"/>
              </a:rPr>
              <a:t>指在人的感知极限内保持</a:t>
            </a:r>
            <a:r>
              <a:rPr lang="zh-CN" altLang="en-US" b="1" dirty="0" smtClean="0">
                <a:latin typeface="微软雅黑" pitchFamily="34" charset="-122"/>
                <a:ea typeface="微软雅黑" pitchFamily="34" charset="-122"/>
              </a:rPr>
              <a:t>“近似同步”，根据场景不同，实时</a:t>
            </a:r>
            <a:r>
              <a:rPr lang="zh-CN" altLang="en-US" b="1" dirty="0">
                <a:latin typeface="微软雅黑" pitchFamily="34" charset="-122"/>
                <a:ea typeface="微软雅黑" pitchFamily="34" charset="-122"/>
              </a:rPr>
              <a:t>多媒体的同步容许误差大致</a:t>
            </a:r>
            <a:r>
              <a:rPr lang="zh-CN" altLang="en-US" b="1" dirty="0" smtClean="0">
                <a:latin typeface="微软雅黑" pitchFamily="34" charset="-122"/>
                <a:ea typeface="微软雅黑" pitchFamily="34" charset="-122"/>
              </a:rPr>
              <a:t>为 </a:t>
            </a:r>
            <a:r>
              <a:rPr lang="en-US" altLang="zh-CN" b="1" dirty="0" smtClean="0">
                <a:latin typeface="微软雅黑" pitchFamily="34" charset="-122"/>
                <a:ea typeface="微软雅黑" pitchFamily="34" charset="-122"/>
              </a:rPr>
              <a:t>20 </a:t>
            </a:r>
            <a:r>
              <a:rPr lang="en-US" altLang="zh-CN" b="1" dirty="0">
                <a:latin typeface="微软雅黑" pitchFamily="34" charset="-122"/>
                <a:ea typeface="微软雅黑" pitchFamily="34" charset="-122"/>
              </a:rPr>
              <a:t>~ 200 </a:t>
            </a:r>
            <a:r>
              <a:rPr lang="en-US" altLang="zh-CN" b="1" dirty="0" err="1">
                <a:latin typeface="微软雅黑" pitchFamily="34" charset="-122"/>
                <a:ea typeface="微软雅黑" pitchFamily="34" charset="-122"/>
              </a:rPr>
              <a:t>ms</a:t>
            </a:r>
            <a:r>
              <a:rPr lang="zh-CN" altLang="en-US" b="1" dirty="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00100" lvl="1"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传送实时数据时</a:t>
            </a:r>
            <a:r>
              <a:rPr lang="zh-CN" altLang="en-US" b="1" dirty="0" smtClean="0">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宁可丢失少量分组（当然不能丢失太多），也不要太晚到达的分组</a:t>
            </a:r>
            <a:r>
              <a:rPr lang="zh-CN" altLang="en-US" b="1" dirty="0" smtClean="0">
                <a:latin typeface="微软雅黑" pitchFamily="34" charset="-122"/>
                <a:ea typeface="微软雅黑" pitchFamily="34" charset="-122"/>
              </a:rPr>
              <a:t>。少量</a:t>
            </a:r>
            <a:r>
              <a:rPr lang="zh-CN" altLang="en-US" b="1" dirty="0">
                <a:latin typeface="微软雅黑" pitchFamily="34" charset="-122"/>
                <a:ea typeface="微软雅黑" pitchFamily="34" charset="-122"/>
              </a:rPr>
              <a:t>分组的</a:t>
            </a:r>
            <a:r>
              <a:rPr lang="zh-CN" altLang="en-US" b="1" dirty="0">
                <a:solidFill>
                  <a:srgbClr val="0000FF"/>
                </a:solidFill>
                <a:latin typeface="微软雅黑" pitchFamily="34" charset="-122"/>
                <a:ea typeface="微软雅黑" pitchFamily="34" charset="-122"/>
              </a:rPr>
              <a:t>丢失</a:t>
            </a:r>
            <a:r>
              <a:rPr lang="zh-CN" altLang="en-US" b="1" dirty="0">
                <a:latin typeface="微软雅黑" pitchFamily="34" charset="-122"/>
                <a:ea typeface="微软雅黑" pitchFamily="34" charset="-122"/>
              </a:rPr>
              <a:t>对播放效果的影响并不大（因为是由人主观评价的），是可以容忍的</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00100" lvl="1" indent="-342900" eaLnBrk="0" hangingPunct="0">
              <a:lnSpc>
                <a:spcPts val="28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丢失</a:t>
            </a:r>
            <a:r>
              <a:rPr lang="zh-CN" altLang="en-US" b="1" dirty="0">
                <a:solidFill>
                  <a:srgbClr val="C00000"/>
                </a:solidFill>
                <a:latin typeface="微软雅黑" pitchFamily="34" charset="-122"/>
                <a:ea typeface="微软雅黑" pitchFamily="34" charset="-122"/>
              </a:rPr>
              <a:t>容忍 </a:t>
            </a:r>
            <a:r>
              <a:rPr lang="en-US" altLang="zh-CN" b="1" dirty="0">
                <a:solidFill>
                  <a:srgbClr val="0000FF"/>
                </a:solidFill>
                <a:latin typeface="微软雅黑" pitchFamily="34" charset="-122"/>
                <a:ea typeface="微软雅黑" pitchFamily="34" charset="-122"/>
              </a:rPr>
              <a:t>(loss tolerant) </a:t>
            </a:r>
            <a:r>
              <a:rPr lang="zh-CN" altLang="en-US" b="1" dirty="0">
                <a:solidFill>
                  <a:srgbClr val="0000FF"/>
                </a:solidFill>
                <a:latin typeface="微软雅黑" pitchFamily="34" charset="-122"/>
                <a:ea typeface="微软雅黑" pitchFamily="34" charset="-122"/>
              </a:rPr>
              <a:t>是实时数据的另一个重要特点</a:t>
            </a:r>
            <a:r>
              <a:rPr lang="zh-CN" altLang="en-US" b="1" dirty="0" smtClean="0">
                <a:solidFill>
                  <a:srgbClr val="0000FF"/>
                </a:solidFill>
                <a:latin typeface="微软雅黑" pitchFamily="34" charset="-122"/>
                <a:ea typeface="微软雅黑" pitchFamily="34" charset="-122"/>
              </a:rPr>
              <a:t>。</a:t>
            </a:r>
            <a:endParaRPr lang="en-US" altLang="zh-CN" b="1" dirty="0">
              <a:solidFill>
                <a:srgbClr val="0000FF"/>
              </a:solidFill>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633014" y="569848"/>
            <a:ext cx="38779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实时多媒体和非实时多媒体</a:t>
            </a:r>
            <a:endParaRPr lang="zh-CN" altLang="en-US"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42338263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fad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xEl>
                                              <p:pRg st="4" end="4"/>
                                            </p:txEl>
                                          </p:spTgt>
                                        </p:tgtEl>
                                        <p:attrNameLst>
                                          <p:attrName>style.visibility</p:attrName>
                                        </p:attrNameLst>
                                      </p:cBhvr>
                                      <p:to>
                                        <p:strVal val="visible"/>
                                      </p:to>
                                    </p:set>
                                    <p:animEffect transition="in" filter="fade">
                                      <p:cBhvr>
                                        <p:cTn id="22" dur="500"/>
                                        <p:tgtEl>
                                          <p:spTgt spid="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477875"/>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非</a:t>
            </a:r>
            <a:r>
              <a:rPr lang="zh-CN" altLang="en-US" sz="2000" b="1" dirty="0">
                <a:latin typeface="微软雅黑" pitchFamily="34" charset="-122"/>
                <a:ea typeface="微软雅黑" pitchFamily="34" charset="-122"/>
              </a:rPr>
              <a:t>实时多媒体是指不需要即时传输和播放的多媒体</a:t>
            </a:r>
            <a:r>
              <a:rPr lang="zh-CN" altLang="en-US" sz="2000" b="1" dirty="0" smtClean="0">
                <a:latin typeface="微软雅黑" pitchFamily="34" charset="-122"/>
                <a:ea typeface="微软雅黑" pitchFamily="34" charset="-122"/>
              </a:rPr>
              <a:t>内容。</a:t>
            </a:r>
            <a:endParaRPr lang="en-US" altLang="zh-CN" sz="2000"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视频点播</a:t>
            </a:r>
            <a:r>
              <a:rPr lang="en-US" altLang="zh-CN" b="1" dirty="0" err="1">
                <a:solidFill>
                  <a:srgbClr val="C00000"/>
                </a:solidFill>
                <a:latin typeface="微软雅黑" pitchFamily="34" charset="-122"/>
                <a:ea typeface="微软雅黑" pitchFamily="34" charset="-122"/>
              </a:rPr>
              <a:t>VoD</a:t>
            </a:r>
            <a:r>
              <a:rPr lang="en-US" altLang="zh-CN" b="1" dirty="0">
                <a:solidFill>
                  <a:srgbClr val="C00000"/>
                </a:solidFill>
                <a:latin typeface="微软雅黑" pitchFamily="34" charset="-122"/>
                <a:ea typeface="微软雅黑" pitchFamily="34" charset="-122"/>
              </a:rPr>
              <a:t> </a:t>
            </a:r>
            <a:r>
              <a:rPr lang="en-US" altLang="zh-CN" b="1" dirty="0">
                <a:latin typeface="微软雅黑" pitchFamily="34" charset="-122"/>
                <a:ea typeface="微软雅黑" pitchFamily="34" charset="-122"/>
              </a:rPr>
              <a:t>(Video on Demand</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，如</a:t>
            </a:r>
            <a:r>
              <a:rPr lang="zh-CN" altLang="en-US" b="1" dirty="0">
                <a:latin typeface="微软雅黑" pitchFamily="34" charset="-122"/>
                <a:ea typeface="微软雅黑" pitchFamily="34" charset="-122"/>
              </a:rPr>
              <a:t>优酷、爱奇</a:t>
            </a:r>
            <a:r>
              <a:rPr lang="zh-CN" altLang="en-US" b="1" dirty="0" smtClean="0">
                <a:latin typeface="微软雅黑" pitchFamily="34" charset="-122"/>
                <a:ea typeface="微软雅黑" pitchFamily="34" charset="-122"/>
              </a:rPr>
              <a:t>艺；</a:t>
            </a:r>
            <a:r>
              <a:rPr lang="zh-CN" altLang="en-US" b="1" dirty="0" smtClean="0">
                <a:solidFill>
                  <a:srgbClr val="C00000"/>
                </a:solidFill>
                <a:latin typeface="微软雅黑" pitchFamily="34" charset="-122"/>
                <a:ea typeface="微软雅黑" pitchFamily="34" charset="-122"/>
              </a:rPr>
              <a:t>音乐点播</a:t>
            </a:r>
            <a:r>
              <a:rPr lang="en-US" altLang="zh-CN" b="1" dirty="0" err="1">
                <a:solidFill>
                  <a:srgbClr val="C00000"/>
                </a:solidFill>
                <a:latin typeface="微软雅黑" pitchFamily="34" charset="-122"/>
                <a:ea typeface="微软雅黑" pitchFamily="34" charset="-122"/>
              </a:rPr>
              <a:t>AoD</a:t>
            </a:r>
            <a:r>
              <a:rPr lang="en-US" altLang="zh-CN" b="1" dirty="0">
                <a:latin typeface="微软雅黑" pitchFamily="34" charset="-122"/>
                <a:ea typeface="微软雅黑" pitchFamily="34" charset="-122"/>
              </a:rPr>
              <a:t> (Audio on Demand</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，如</a:t>
            </a:r>
            <a:r>
              <a:rPr lang="en-US" altLang="zh-CN" b="1" dirty="0">
                <a:latin typeface="微软雅黑" pitchFamily="34" charset="-122"/>
                <a:ea typeface="微软雅黑" pitchFamily="34" charset="-122"/>
              </a:rPr>
              <a:t>QQ</a:t>
            </a:r>
            <a:r>
              <a:rPr lang="zh-CN" altLang="en-US" b="1" dirty="0">
                <a:latin typeface="微软雅黑" pitchFamily="34" charset="-122"/>
                <a:ea typeface="微软雅黑" pitchFamily="34" charset="-122"/>
              </a:rPr>
              <a:t>音乐、网易云</a:t>
            </a:r>
            <a:r>
              <a:rPr lang="zh-CN" altLang="en-US" b="1" dirty="0" smtClean="0">
                <a:latin typeface="微软雅黑" pitchFamily="34" charset="-122"/>
                <a:ea typeface="微软雅黑" pitchFamily="34" charset="-122"/>
              </a:rPr>
              <a:t>音乐；</a:t>
            </a:r>
            <a:r>
              <a:rPr lang="zh-CN" altLang="en-US" b="1" dirty="0" smtClean="0">
                <a:solidFill>
                  <a:srgbClr val="C00000"/>
                </a:solidFill>
                <a:latin typeface="微软雅黑" pitchFamily="34" charset="-122"/>
                <a:ea typeface="微软雅黑" pitchFamily="34" charset="-122"/>
              </a:rPr>
              <a:t>电子图书</a:t>
            </a:r>
            <a:r>
              <a:rPr lang="zh-CN" altLang="en-US" b="1" dirty="0">
                <a:latin typeface="微软雅黑" pitchFamily="34" charset="-122"/>
                <a:ea typeface="微软雅黑" pitchFamily="34" charset="-122"/>
              </a:rPr>
              <a:t>等预先存储和分发的多媒体形式。</a:t>
            </a:r>
            <a:endParaRPr lang="en-US" altLang="zh-CN" b="1" dirty="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用户可以在方便的时间</a:t>
            </a:r>
            <a:r>
              <a:rPr lang="zh-CN" altLang="en-US" b="1" dirty="0">
                <a:solidFill>
                  <a:srgbClr val="C00000"/>
                </a:solidFill>
                <a:latin typeface="微软雅黑" pitchFamily="34" charset="-122"/>
                <a:ea typeface="微软雅黑" pitchFamily="34" charset="-122"/>
              </a:rPr>
              <a:t>边下载、边播放</a:t>
            </a:r>
            <a:r>
              <a:rPr lang="zh-CN" altLang="en-US" b="1" dirty="0">
                <a:latin typeface="微软雅黑" pitchFamily="34" charset="-122"/>
                <a:ea typeface="微软雅黑" pitchFamily="34" charset="-122"/>
              </a:rPr>
              <a:t>，即不必花费很长的时间把全部的媒体内容都下载完毕后才开始播放，甚至可以随时暂停，隔一段时间后继续播放</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这种边下载、边播放的多媒体常称为</a:t>
            </a:r>
            <a:r>
              <a:rPr lang="zh-CN" altLang="en-US" b="1" dirty="0">
                <a:solidFill>
                  <a:srgbClr val="C00000"/>
                </a:solidFill>
                <a:latin typeface="微软雅黑" pitchFamily="34" charset="-122"/>
                <a:ea typeface="微软雅黑" pitchFamily="34" charset="-122"/>
              </a:rPr>
              <a:t>流媒体</a:t>
            </a:r>
            <a:r>
              <a:rPr lang="en-US" altLang="zh-CN" b="1" dirty="0">
                <a:solidFill>
                  <a:srgbClr val="C00000"/>
                </a:solidFill>
                <a:latin typeface="微软雅黑" pitchFamily="34" charset="-122"/>
                <a:ea typeface="微软雅黑" pitchFamily="34" charset="-122"/>
              </a:rPr>
              <a:t>(stream </a:t>
            </a:r>
            <a:r>
              <a:rPr lang="en-US" altLang="zh-CN" b="1" dirty="0" smtClean="0">
                <a:solidFill>
                  <a:srgbClr val="C00000"/>
                </a:solidFill>
                <a:latin typeface="微软雅黑" pitchFamily="34" charset="-122"/>
                <a:ea typeface="微软雅黑" pitchFamily="34" charset="-122"/>
              </a:rPr>
              <a:t>media)</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633011" y="569848"/>
            <a:ext cx="38779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a:solidFill>
                  <a:schemeClr val="bg1"/>
                </a:solidFill>
                <a:latin typeface="微软雅黑" pitchFamily="34" charset="-122"/>
                <a:ea typeface="微软雅黑" pitchFamily="34" charset="-122"/>
              </a:rPr>
              <a:t>实时多媒体和非实时多媒体</a:t>
            </a:r>
          </a:p>
        </p:txBody>
      </p:sp>
    </p:spTree>
    <p:custDataLst>
      <p:tags r:id="rId1"/>
    </p:custDataLst>
    <p:extLst>
      <p:ext uri="{BB962C8B-B14F-4D97-AF65-F5344CB8AC3E}">
        <p14:creationId xmlns:p14="http://schemas.microsoft.com/office/powerpoint/2010/main" val="13434376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fade">
                                      <p:cBhvr>
                                        <p:cTn id="17"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3477875"/>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多媒体数据在传输时，不仅对时延有严格的要求，而且对抖动</a:t>
            </a:r>
            <a:r>
              <a:rPr lang="en-US" altLang="zh-CN" sz="2000" b="1" dirty="0">
                <a:latin typeface="微软雅黑" pitchFamily="34" charset="-122"/>
                <a:ea typeface="微软雅黑" pitchFamily="34" charset="-122"/>
              </a:rPr>
              <a:t>(jitter)</a:t>
            </a:r>
            <a:r>
              <a:rPr lang="zh-CN" altLang="en-US" sz="2000" b="1" dirty="0">
                <a:latin typeface="微软雅黑" pitchFamily="34" charset="-122"/>
                <a:ea typeface="微软雅黑" pitchFamily="34" charset="-122"/>
              </a:rPr>
              <a:t>也有较高的要求</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抖动就是相邻分组的到达时间间隔的变化量</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在</a:t>
            </a:r>
            <a:r>
              <a:rPr lang="zh-CN" altLang="en-US" b="1" dirty="0">
                <a:latin typeface="微软雅黑" pitchFamily="34" charset="-122"/>
                <a:ea typeface="微软雅黑" pitchFamily="34" charset="-122"/>
              </a:rPr>
              <a:t>数学上可表示为连续分组时延差的统计方差</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音频或视频所构成的数字帧具有</a:t>
            </a:r>
            <a:r>
              <a:rPr lang="zh-CN" altLang="en-US" b="1" dirty="0">
                <a:solidFill>
                  <a:srgbClr val="C00000"/>
                </a:solidFill>
                <a:latin typeface="微软雅黑" pitchFamily="34" charset="-122"/>
                <a:ea typeface="微软雅黑" pitchFamily="34" charset="-122"/>
              </a:rPr>
              <a:t>相等的帧间间隔</a:t>
            </a:r>
            <a:r>
              <a:rPr lang="zh-CN" altLang="en-US" b="1" dirty="0" smtClean="0">
                <a:latin typeface="微软雅黑" pitchFamily="34" charset="-122"/>
                <a:ea typeface="微软雅黑" pitchFamily="34" charset="-122"/>
              </a:rPr>
              <a:t>，但受</a:t>
            </a:r>
            <a:r>
              <a:rPr lang="zh-CN" altLang="en-US" b="1" dirty="0">
                <a:solidFill>
                  <a:srgbClr val="C00000"/>
                </a:solidFill>
                <a:latin typeface="微软雅黑" pitchFamily="34" charset="-122"/>
                <a:ea typeface="微软雅黑" pitchFamily="34" charset="-122"/>
              </a:rPr>
              <a:t>网络</a:t>
            </a:r>
            <a:r>
              <a:rPr lang="zh-CN" altLang="en-US" b="1" dirty="0" smtClean="0">
                <a:solidFill>
                  <a:srgbClr val="C00000"/>
                </a:solidFill>
                <a:latin typeface="微软雅黑" pitchFamily="34" charset="-122"/>
                <a:ea typeface="微软雅黑" pitchFamily="34" charset="-122"/>
              </a:rPr>
              <a:t>时延</a:t>
            </a:r>
            <a:r>
              <a:rPr lang="zh-CN" altLang="en-US" b="1" dirty="0">
                <a:latin typeface="微软雅黑" pitchFamily="34" charset="-122"/>
                <a:ea typeface="微软雅黑" pitchFamily="34" charset="-122"/>
              </a:rPr>
              <a:t>的影响</a:t>
            </a:r>
            <a:r>
              <a:rPr lang="zh-CN" altLang="en-US" b="1" dirty="0" smtClean="0">
                <a:latin typeface="微软雅黑" pitchFamily="34" charset="-122"/>
                <a:ea typeface="微软雅黑" pitchFamily="34" charset="-122"/>
              </a:rPr>
              <a:t>，传输这些帧的分组到达</a:t>
            </a:r>
            <a:r>
              <a:rPr lang="zh-CN" altLang="en-US" b="1" dirty="0">
                <a:latin typeface="微软雅黑" pitchFamily="34" charset="-122"/>
                <a:ea typeface="微软雅黑" pitchFamily="34" charset="-122"/>
              </a:rPr>
              <a:t>接收端</a:t>
            </a:r>
            <a:r>
              <a:rPr lang="zh-CN" altLang="en-US" b="1" dirty="0" smtClean="0">
                <a:latin typeface="微软雅黑" pitchFamily="34" charset="-122"/>
                <a:ea typeface="微软雅黑" pitchFamily="34" charset="-122"/>
              </a:rPr>
              <a:t>时可能会变为</a:t>
            </a:r>
            <a:r>
              <a:rPr lang="zh-CN" altLang="en-US" b="1" dirty="0">
                <a:solidFill>
                  <a:srgbClr val="C00000"/>
                </a:solidFill>
                <a:latin typeface="微软雅黑" pitchFamily="34" charset="-122"/>
                <a:ea typeface="微软雅黑" pitchFamily="34" charset="-122"/>
              </a:rPr>
              <a:t>非等时的</a:t>
            </a:r>
            <a:r>
              <a:rPr lang="zh-CN" altLang="en-US" b="1" dirty="0">
                <a:latin typeface="微软雅黑" pitchFamily="34" charset="-122"/>
                <a:ea typeface="微软雅黑" pitchFamily="34" charset="-122"/>
              </a:rPr>
              <a:t>。</a:t>
            </a:r>
          </a:p>
          <a:p>
            <a:pPr marL="814388" lvl="1" indent="-357188"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接收方的应用层必须把</a:t>
            </a:r>
            <a:r>
              <a:rPr lang="zh-CN" altLang="en-US" b="1" dirty="0" smtClean="0">
                <a:latin typeface="微软雅黑" pitchFamily="34" charset="-122"/>
                <a:ea typeface="微软雅黑" pitchFamily="34" charset="-122"/>
              </a:rPr>
              <a:t>待播放的</a:t>
            </a:r>
            <a:r>
              <a:rPr lang="zh-CN" altLang="en-US" b="1" dirty="0">
                <a:latin typeface="微软雅黑" pitchFamily="34" charset="-122"/>
                <a:ea typeface="微软雅黑" pitchFamily="34" charset="-122"/>
              </a:rPr>
              <a:t>帧，放入</a:t>
            </a:r>
            <a:r>
              <a:rPr lang="zh-CN" altLang="en-US" b="1" dirty="0">
                <a:solidFill>
                  <a:srgbClr val="C00000"/>
                </a:solidFill>
                <a:latin typeface="微软雅黑" pitchFamily="34" charset="-122"/>
                <a:ea typeface="微软雅黑" pitchFamily="34" charset="-122"/>
              </a:rPr>
              <a:t>播放缓冲区</a:t>
            </a:r>
            <a:r>
              <a:rPr lang="en-US" altLang="zh-CN" b="1" dirty="0">
                <a:solidFill>
                  <a:srgbClr val="C00000"/>
                </a:solidFill>
                <a:latin typeface="微软雅黑" pitchFamily="34" charset="-122"/>
                <a:ea typeface="微软雅黑" pitchFamily="34" charset="-122"/>
              </a:rPr>
              <a:t>(playback buffer)</a:t>
            </a:r>
            <a:r>
              <a:rPr lang="zh-CN" altLang="en-US" b="1" dirty="0">
                <a:latin typeface="微软雅黑" pitchFamily="34" charset="-122"/>
                <a:ea typeface="微软雅黑" pitchFamily="34" charset="-122"/>
              </a:rPr>
              <a:t>存放一定的时间后才能开始</a:t>
            </a:r>
            <a:r>
              <a:rPr lang="zh-CN" altLang="en-US" b="1" dirty="0" smtClean="0">
                <a:latin typeface="微软雅黑" pitchFamily="34" charset="-122"/>
                <a:ea typeface="微软雅黑" pitchFamily="34" charset="-122"/>
              </a:rPr>
              <a:t>播放。</a:t>
            </a:r>
            <a:endParaRPr lang="zh-CN" altLang="en-US"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633011" y="569848"/>
            <a:ext cx="38779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a:solidFill>
                  <a:schemeClr val="bg1"/>
                </a:solidFill>
                <a:latin typeface="微软雅黑" pitchFamily="34" charset="-122"/>
                <a:ea typeface="微软雅黑" pitchFamily="34" charset="-122"/>
              </a:rPr>
              <a:t>实时多媒体和非实时多媒体</a:t>
            </a:r>
          </a:p>
        </p:txBody>
      </p:sp>
    </p:spTree>
    <p:custDataLst>
      <p:tags r:id="rId1"/>
    </p:custDataLst>
    <p:extLst>
      <p:ext uri="{BB962C8B-B14F-4D97-AF65-F5344CB8AC3E}">
        <p14:creationId xmlns:p14="http://schemas.microsoft.com/office/powerpoint/2010/main" val="4866463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fad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fade">
                                      <p:cBhvr>
                                        <p:cTn id="12"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5" y="999995"/>
            <a:ext cx="8053711" cy="2015936"/>
          </a:xfrm>
          <a:prstGeom prst="rect">
            <a:avLst/>
          </a:prstGeom>
        </p:spPr>
        <p:txBody>
          <a:bodyPr wrap="square">
            <a:spAutoFit/>
          </a:bodyPr>
          <a:lstStyle/>
          <a:p>
            <a:pPr marL="357188" indent="-357188" algn="just"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解码后的帧按</a:t>
            </a:r>
            <a:r>
              <a:rPr lang="zh-CN" altLang="en-US" b="1" dirty="0" smtClean="0">
                <a:latin typeface="微软雅黑" pitchFamily="34" charset="-122"/>
                <a:ea typeface="微软雅黑" pitchFamily="34" charset="-122"/>
              </a:rPr>
              <a:t>顺序逐个存入</a:t>
            </a:r>
            <a:r>
              <a:rPr lang="zh-CN" altLang="en-US" b="1" dirty="0">
                <a:solidFill>
                  <a:srgbClr val="C00000"/>
                </a:solidFill>
                <a:latin typeface="微软雅黑" pitchFamily="34" charset="-122"/>
                <a:ea typeface="微软雅黑" pitchFamily="34" charset="-122"/>
              </a:rPr>
              <a:t>播放缓冲区</a:t>
            </a:r>
            <a:r>
              <a:rPr lang="zh-CN" altLang="en-US" b="1" dirty="0">
                <a:latin typeface="微软雅黑" pitchFamily="34" charset="-122"/>
                <a:ea typeface="微软雅黑" pitchFamily="34" charset="-122"/>
              </a:rPr>
              <a:t>。当播放缓冲区中存入的帧</a:t>
            </a:r>
            <a:r>
              <a:rPr lang="zh-CN" altLang="en-US" b="1" dirty="0">
                <a:solidFill>
                  <a:srgbClr val="C00000"/>
                </a:solidFill>
                <a:latin typeface="微软雅黑" pitchFamily="34" charset="-122"/>
                <a:ea typeface="微软雅黑" pitchFamily="34" charset="-122"/>
              </a:rPr>
              <a:t>达到一定数量</a:t>
            </a:r>
            <a:r>
              <a:rPr lang="zh-CN" altLang="en-US" b="1" dirty="0">
                <a:latin typeface="微软雅黑" pitchFamily="34" charset="-122"/>
                <a:ea typeface="微软雅黑" pitchFamily="34" charset="-122"/>
              </a:rPr>
              <a:t>时（</a:t>
            </a:r>
            <a:r>
              <a:rPr lang="zh-CN" altLang="en-US" b="1" dirty="0" smtClean="0">
                <a:latin typeface="微软雅黑" pitchFamily="34" charset="-122"/>
                <a:ea typeface="微软雅黑" pitchFamily="34" charset="-122"/>
              </a:rPr>
              <a:t>例如</a:t>
            </a:r>
            <a:r>
              <a:rPr lang="en-US" altLang="zh-CN" b="1" i="1" dirty="0" smtClean="0">
                <a:latin typeface="微软雅黑" pitchFamily="34" charset="-122"/>
                <a:ea typeface="微软雅黑" pitchFamily="34" charset="-122"/>
              </a:rPr>
              <a:t>K</a:t>
            </a:r>
            <a:r>
              <a:rPr lang="zh-CN" altLang="en-US" b="1" dirty="0">
                <a:latin typeface="微软雅黑" pitchFamily="34" charset="-122"/>
                <a:ea typeface="微软雅黑" pitchFamily="34" charset="-122"/>
              </a:rPr>
              <a:t>个</a:t>
            </a:r>
            <a:r>
              <a:rPr lang="zh-CN" altLang="en-US" b="1" dirty="0" smtClean="0">
                <a:latin typeface="微软雅黑" pitchFamily="34" charset="-122"/>
                <a:ea typeface="微软雅黑" pitchFamily="34" charset="-122"/>
              </a:rPr>
              <a:t>单位），</a:t>
            </a:r>
            <a:r>
              <a:rPr lang="zh-CN" altLang="en-US" b="1" dirty="0">
                <a:latin typeface="微软雅黑" pitchFamily="34" charset="-122"/>
                <a:ea typeface="微软雅黑" pitchFamily="34" charset="-122"/>
              </a:rPr>
              <a:t>就开始按照原来的帧率，把一个个帧按</a:t>
            </a:r>
            <a:r>
              <a:rPr lang="zh-CN" altLang="en-US" b="1" dirty="0" smtClean="0">
                <a:latin typeface="微软雅黑" pitchFamily="34" charset="-122"/>
                <a:ea typeface="微软雅黑" pitchFamily="34" charset="-122"/>
              </a:rPr>
              <a:t>顺序读出</a:t>
            </a:r>
            <a:r>
              <a:rPr lang="zh-CN" altLang="en-US" b="1" dirty="0">
                <a:latin typeface="微软雅黑" pitchFamily="34" charset="-122"/>
                <a:ea typeface="微软雅黑" pitchFamily="34" charset="-122"/>
              </a:rPr>
              <a:t>播放</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57188" indent="-357188" algn="just"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由于</a:t>
            </a:r>
            <a:r>
              <a:rPr lang="zh-CN" altLang="en-US" b="1" dirty="0">
                <a:latin typeface="微软雅黑" pitchFamily="34" charset="-122"/>
                <a:ea typeface="微软雅黑" pitchFamily="34" charset="-122"/>
              </a:rPr>
              <a:t>解码后的帧存入播放缓冲区的速率是波动的，因此</a:t>
            </a:r>
            <a:r>
              <a:rPr lang="zh-CN" altLang="en-US" b="1" dirty="0">
                <a:solidFill>
                  <a:srgbClr val="C00000"/>
                </a:solidFill>
                <a:latin typeface="微软雅黑" pitchFamily="34" charset="-122"/>
                <a:ea typeface="微软雅黑" pitchFamily="34" charset="-122"/>
              </a:rPr>
              <a:t>在播放缓冲区中存放的帧的数量</a:t>
            </a:r>
            <a:r>
              <a:rPr lang="zh-CN" altLang="en-US" b="1" dirty="0" smtClean="0">
                <a:solidFill>
                  <a:srgbClr val="C00000"/>
                </a:solidFill>
                <a:latin typeface="微软雅黑" pitchFamily="34" charset="-122"/>
                <a:ea typeface="微软雅黑" pitchFamily="34" charset="-122"/>
              </a:rPr>
              <a:t>也不断</a:t>
            </a:r>
            <a:r>
              <a:rPr lang="zh-CN" altLang="en-US" b="1" dirty="0">
                <a:solidFill>
                  <a:srgbClr val="C00000"/>
                </a:solidFill>
                <a:latin typeface="微软雅黑" pitchFamily="34" charset="-122"/>
                <a:ea typeface="微软雅黑" pitchFamily="34" charset="-122"/>
              </a:rPr>
              <a:t>变化</a:t>
            </a:r>
            <a:r>
              <a:rPr lang="zh-CN" altLang="en-US"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786900" y="569848"/>
            <a:ext cx="35702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a:solidFill>
                  <a:schemeClr val="bg1"/>
                </a:solidFill>
                <a:latin typeface="微软雅黑" pitchFamily="34" charset="-122"/>
                <a:ea typeface="微软雅黑" pitchFamily="34" charset="-122"/>
              </a:rPr>
              <a:t>播放缓冲区工作</a:t>
            </a:r>
            <a:r>
              <a:rPr lang="zh-CN" altLang="en-US" sz="2400" b="1" dirty="0" smtClean="0">
                <a:solidFill>
                  <a:schemeClr val="bg1"/>
                </a:solidFill>
                <a:latin typeface="微软雅黑" pitchFamily="34" charset="-122"/>
                <a:ea typeface="微软雅黑" pitchFamily="34" charset="-122"/>
              </a:rPr>
              <a:t>原理示意</a:t>
            </a:r>
            <a:endParaRPr lang="zh-CN" altLang="en-US" sz="2400" b="1" dirty="0">
              <a:solidFill>
                <a:schemeClr val="bg1"/>
              </a:solidFill>
              <a:latin typeface="微软雅黑" pitchFamily="34" charset="-122"/>
              <a:ea typeface="微软雅黑" pitchFamily="34" charset="-122"/>
            </a:endParaRPr>
          </a:p>
        </p:txBody>
      </p:sp>
      <p:sp>
        <p:nvSpPr>
          <p:cNvPr id="56" name="圆角矩形 55"/>
          <p:cNvSpPr/>
          <p:nvPr/>
        </p:nvSpPr>
        <p:spPr>
          <a:xfrm>
            <a:off x="500006" y="2959893"/>
            <a:ext cx="8129015" cy="17965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Rectangle 120"/>
          <p:cNvSpPr>
            <a:spLocks noChangeArrowheads="1"/>
          </p:cNvSpPr>
          <p:nvPr/>
        </p:nvSpPr>
        <p:spPr bwMode="auto">
          <a:xfrm>
            <a:off x="3893238" y="3699017"/>
            <a:ext cx="1378373" cy="436118"/>
          </a:xfrm>
          <a:prstGeom prst="rect">
            <a:avLst/>
          </a:prstGeom>
          <a:solidFill>
            <a:srgbClr val="00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58" name="Line 86"/>
          <p:cNvSpPr>
            <a:spLocks noChangeShapeType="1"/>
          </p:cNvSpPr>
          <p:nvPr/>
        </p:nvSpPr>
        <p:spPr bwMode="auto">
          <a:xfrm>
            <a:off x="6141402" y="4097792"/>
            <a:ext cx="210079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9" name="Freeform 87"/>
          <p:cNvSpPr>
            <a:spLocks/>
          </p:cNvSpPr>
          <p:nvPr/>
        </p:nvSpPr>
        <p:spPr bwMode="auto">
          <a:xfrm>
            <a:off x="6767015" y="3732360"/>
            <a:ext cx="76576"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FFFF66"/>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0" name="Freeform 88"/>
          <p:cNvSpPr>
            <a:spLocks/>
          </p:cNvSpPr>
          <p:nvPr/>
        </p:nvSpPr>
        <p:spPr bwMode="auto">
          <a:xfrm>
            <a:off x="7154231"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1" name="Freeform 89"/>
          <p:cNvSpPr>
            <a:spLocks/>
          </p:cNvSpPr>
          <p:nvPr/>
        </p:nvSpPr>
        <p:spPr bwMode="auto">
          <a:xfrm>
            <a:off x="7542892"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2" name="Freeform 90"/>
          <p:cNvSpPr>
            <a:spLocks/>
          </p:cNvSpPr>
          <p:nvPr/>
        </p:nvSpPr>
        <p:spPr bwMode="auto">
          <a:xfrm>
            <a:off x="7896717"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3" name="Text Box 91"/>
          <p:cNvSpPr txBox="1">
            <a:spLocks noChangeArrowheads="1"/>
          </p:cNvSpPr>
          <p:nvPr/>
        </p:nvSpPr>
        <p:spPr bwMode="auto">
          <a:xfrm>
            <a:off x="8227744" y="3904726"/>
            <a:ext cx="323643" cy="384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FF"/>
                </a:solidFill>
                <a:latin typeface="微软雅黑" pitchFamily="34" charset="-122"/>
                <a:ea typeface="微软雅黑" pitchFamily="34" charset="-122"/>
              </a:rPr>
              <a:t>t</a:t>
            </a:r>
          </a:p>
        </p:txBody>
      </p:sp>
      <p:sp>
        <p:nvSpPr>
          <p:cNvPr id="64" name="Freeform 94"/>
          <p:cNvSpPr>
            <a:spLocks/>
          </p:cNvSpPr>
          <p:nvPr/>
        </p:nvSpPr>
        <p:spPr bwMode="auto">
          <a:xfrm>
            <a:off x="3345645" y="3691015"/>
            <a:ext cx="1941859" cy="452123"/>
          </a:xfrm>
          <a:custGeom>
            <a:avLst/>
            <a:gdLst>
              <a:gd name="T0" fmla="*/ 0 w 1200"/>
              <a:gd name="T1" fmla="*/ 0 h 240"/>
              <a:gd name="T2" fmla="*/ 1200 w 1200"/>
              <a:gd name="T3" fmla="*/ 0 h 240"/>
              <a:gd name="T4" fmla="*/ 1200 w 1200"/>
              <a:gd name="T5" fmla="*/ 240 h 240"/>
              <a:gd name="T6" fmla="*/ 0 w 1200"/>
              <a:gd name="T7" fmla="*/ 240 h 240"/>
            </a:gdLst>
            <a:ahLst/>
            <a:cxnLst>
              <a:cxn ang="0">
                <a:pos x="T0" y="T1"/>
              </a:cxn>
              <a:cxn ang="0">
                <a:pos x="T2" y="T3"/>
              </a:cxn>
              <a:cxn ang="0">
                <a:pos x="T4" y="T5"/>
              </a:cxn>
              <a:cxn ang="0">
                <a:pos x="T6" y="T7"/>
              </a:cxn>
            </a:cxnLst>
            <a:rect l="0" t="0" r="r" b="b"/>
            <a:pathLst>
              <a:path w="1200" h="240">
                <a:moveTo>
                  <a:pt x="0" y="0"/>
                </a:moveTo>
                <a:lnTo>
                  <a:pt x="1200" y="0"/>
                </a:lnTo>
                <a:lnTo>
                  <a:pt x="1200" y="240"/>
                </a:lnTo>
                <a:lnTo>
                  <a:pt x="0" y="240"/>
                </a:lnTo>
              </a:path>
            </a:pathLst>
          </a:custGeom>
          <a:noFill/>
          <a:ln w="19050" cmpd="sng">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5" name="Line 95"/>
          <p:cNvSpPr>
            <a:spLocks noChangeShapeType="1"/>
          </p:cNvSpPr>
          <p:nvPr/>
        </p:nvSpPr>
        <p:spPr bwMode="auto">
          <a:xfrm>
            <a:off x="5132907"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6" name="Line 96"/>
          <p:cNvSpPr>
            <a:spLocks noChangeShapeType="1"/>
          </p:cNvSpPr>
          <p:nvPr/>
        </p:nvSpPr>
        <p:spPr bwMode="auto">
          <a:xfrm>
            <a:off x="4976864"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7" name="Line 97"/>
          <p:cNvSpPr>
            <a:spLocks noChangeShapeType="1"/>
          </p:cNvSpPr>
          <p:nvPr/>
        </p:nvSpPr>
        <p:spPr bwMode="auto">
          <a:xfrm>
            <a:off x="4822267"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8" name="Line 98"/>
          <p:cNvSpPr>
            <a:spLocks noChangeShapeType="1"/>
          </p:cNvSpPr>
          <p:nvPr/>
        </p:nvSpPr>
        <p:spPr bwMode="auto">
          <a:xfrm>
            <a:off x="4666225"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69" name="Line 99"/>
          <p:cNvSpPr>
            <a:spLocks noChangeShapeType="1"/>
          </p:cNvSpPr>
          <p:nvPr/>
        </p:nvSpPr>
        <p:spPr bwMode="auto">
          <a:xfrm>
            <a:off x="4511627"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70" name="Line 100"/>
          <p:cNvSpPr>
            <a:spLocks noChangeShapeType="1"/>
          </p:cNvSpPr>
          <p:nvPr/>
        </p:nvSpPr>
        <p:spPr bwMode="auto">
          <a:xfrm>
            <a:off x="4355585"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71" name="Line 101"/>
          <p:cNvSpPr>
            <a:spLocks noChangeShapeType="1"/>
          </p:cNvSpPr>
          <p:nvPr/>
        </p:nvSpPr>
        <p:spPr bwMode="auto">
          <a:xfrm>
            <a:off x="4200988"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72" name="Line 102"/>
          <p:cNvSpPr>
            <a:spLocks noChangeShapeType="1"/>
          </p:cNvSpPr>
          <p:nvPr/>
        </p:nvSpPr>
        <p:spPr bwMode="auto">
          <a:xfrm>
            <a:off x="4044946"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73" name="Line 103"/>
          <p:cNvSpPr>
            <a:spLocks noChangeShapeType="1"/>
          </p:cNvSpPr>
          <p:nvPr/>
        </p:nvSpPr>
        <p:spPr bwMode="auto">
          <a:xfrm>
            <a:off x="3890348" y="3691015"/>
            <a:ext cx="0" cy="45212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grpSp>
        <p:nvGrpSpPr>
          <p:cNvPr id="74" name="组合 73"/>
          <p:cNvGrpSpPr/>
          <p:nvPr/>
        </p:nvGrpSpPr>
        <p:grpSpPr>
          <a:xfrm>
            <a:off x="3890348" y="3375876"/>
            <a:ext cx="1434157" cy="1070882"/>
            <a:chOff x="3899816" y="2993650"/>
            <a:chExt cx="1434157" cy="1070882"/>
          </a:xfrm>
        </p:grpSpPr>
        <p:sp>
          <p:nvSpPr>
            <p:cNvPr id="75" name="Line 92"/>
            <p:cNvSpPr>
              <a:spLocks noChangeShapeType="1"/>
            </p:cNvSpPr>
            <p:nvPr/>
          </p:nvSpPr>
          <p:spPr bwMode="auto">
            <a:xfrm>
              <a:off x="3899816" y="3893962"/>
              <a:ext cx="1397156" cy="0"/>
            </a:xfrm>
            <a:prstGeom prst="line">
              <a:avLst/>
            </a:prstGeom>
            <a:noFill/>
            <a:ln w="19050">
              <a:solidFill>
                <a:srgbClr val="99000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76" name="Text Box 93"/>
            <p:cNvSpPr txBox="1">
              <a:spLocks noChangeArrowheads="1"/>
            </p:cNvSpPr>
            <p:nvPr/>
          </p:nvSpPr>
          <p:spPr bwMode="auto">
            <a:xfrm>
              <a:off x="4435173" y="3725978"/>
              <a:ext cx="327334"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i="1" dirty="0" smtClean="0">
                  <a:solidFill>
                    <a:srgbClr val="0000FF"/>
                  </a:solidFill>
                  <a:latin typeface="微软雅黑" pitchFamily="34" charset="-122"/>
                  <a:ea typeface="微软雅黑" pitchFamily="34" charset="-122"/>
                </a:rPr>
                <a:t>K</a:t>
              </a:r>
              <a:endParaRPr kumimoji="1" lang="en-US" altLang="zh-CN" sz="1600" b="1" i="1" dirty="0">
                <a:solidFill>
                  <a:srgbClr val="0000FF"/>
                </a:solidFill>
                <a:latin typeface="微软雅黑" pitchFamily="34" charset="-122"/>
                <a:ea typeface="微软雅黑" pitchFamily="34" charset="-122"/>
              </a:endParaRPr>
            </a:p>
          </p:txBody>
        </p:sp>
        <p:sp>
          <p:nvSpPr>
            <p:cNvPr id="77" name="Text Box 104"/>
            <p:cNvSpPr txBox="1">
              <a:spLocks noChangeArrowheads="1"/>
            </p:cNvSpPr>
            <p:nvPr/>
          </p:nvSpPr>
          <p:spPr bwMode="auto">
            <a:xfrm>
              <a:off x="3987386" y="2993650"/>
              <a:ext cx="1346587" cy="30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FF"/>
                  </a:solidFill>
                  <a:latin typeface="微软雅黑" pitchFamily="34" charset="-122"/>
                  <a:ea typeface="微软雅黑" pitchFamily="34" charset="-122"/>
                </a:rPr>
                <a:t>播放缓冲区</a:t>
              </a:r>
            </a:p>
          </p:txBody>
        </p:sp>
      </p:grpSp>
      <p:sp>
        <p:nvSpPr>
          <p:cNvPr id="78" name="AutoShape 105"/>
          <p:cNvSpPr>
            <a:spLocks noChangeArrowheads="1"/>
          </p:cNvSpPr>
          <p:nvPr/>
        </p:nvSpPr>
        <p:spPr bwMode="auto">
          <a:xfrm>
            <a:off x="2977212" y="3824385"/>
            <a:ext cx="446454" cy="134703"/>
          </a:xfrm>
          <a:prstGeom prst="rightArrow">
            <a:avLst>
              <a:gd name="adj1" fmla="val 50000"/>
              <a:gd name="adj2" fmla="val 56387"/>
            </a:avLst>
          </a:prstGeom>
          <a:solidFill>
            <a:srgbClr val="CC00CC"/>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9" name="AutoShape 106"/>
          <p:cNvSpPr>
            <a:spLocks noChangeArrowheads="1"/>
          </p:cNvSpPr>
          <p:nvPr/>
        </p:nvSpPr>
        <p:spPr bwMode="auto">
          <a:xfrm>
            <a:off x="5520122" y="3824385"/>
            <a:ext cx="447899" cy="134703"/>
          </a:xfrm>
          <a:prstGeom prst="rightArrow">
            <a:avLst>
              <a:gd name="adj1" fmla="val 50000"/>
              <a:gd name="adj2" fmla="val 56569"/>
            </a:avLst>
          </a:prstGeom>
          <a:solidFill>
            <a:srgbClr val="CC00CC"/>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947983" y="4117054"/>
            <a:ext cx="1128416" cy="384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恒定速率</a:t>
            </a:r>
          </a:p>
        </p:txBody>
      </p:sp>
      <p:sp>
        <p:nvSpPr>
          <p:cNvPr id="81" name="Freeform 108"/>
          <p:cNvSpPr>
            <a:spLocks/>
          </p:cNvSpPr>
          <p:nvPr/>
        </p:nvSpPr>
        <p:spPr bwMode="auto">
          <a:xfrm>
            <a:off x="1246299"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2" name="Freeform 109"/>
          <p:cNvSpPr>
            <a:spLocks/>
          </p:cNvSpPr>
          <p:nvPr/>
        </p:nvSpPr>
        <p:spPr bwMode="auto">
          <a:xfrm>
            <a:off x="1556939"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3" name="Freeform 110"/>
          <p:cNvSpPr>
            <a:spLocks/>
          </p:cNvSpPr>
          <p:nvPr/>
        </p:nvSpPr>
        <p:spPr bwMode="auto">
          <a:xfrm>
            <a:off x="2178218"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4" name="Freeform 111"/>
          <p:cNvSpPr>
            <a:spLocks/>
          </p:cNvSpPr>
          <p:nvPr/>
        </p:nvSpPr>
        <p:spPr bwMode="auto">
          <a:xfrm>
            <a:off x="2353043" y="3729692"/>
            <a:ext cx="78021" cy="364099"/>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2647790" y="3835054"/>
            <a:ext cx="323643" cy="384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FF"/>
                </a:solidFill>
                <a:latin typeface="微软雅黑" pitchFamily="34" charset="-122"/>
                <a:ea typeface="微软雅黑" pitchFamily="34" charset="-122"/>
              </a:rPr>
              <a:t>t</a:t>
            </a:r>
          </a:p>
        </p:txBody>
      </p:sp>
      <p:sp>
        <p:nvSpPr>
          <p:cNvPr id="86" name="Line 113"/>
          <p:cNvSpPr>
            <a:spLocks noChangeShapeType="1"/>
          </p:cNvSpPr>
          <p:nvPr/>
        </p:nvSpPr>
        <p:spPr bwMode="auto">
          <a:xfrm>
            <a:off x="705931" y="4097792"/>
            <a:ext cx="193896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7" name="Text Box 114"/>
          <p:cNvSpPr txBox="1">
            <a:spLocks noChangeArrowheads="1"/>
          </p:cNvSpPr>
          <p:nvPr/>
        </p:nvSpPr>
        <p:spPr bwMode="auto">
          <a:xfrm>
            <a:off x="1086241" y="4107128"/>
            <a:ext cx="11616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C00000"/>
                </a:solidFill>
                <a:latin typeface="微软雅黑" pitchFamily="34" charset="-122"/>
                <a:ea typeface="微软雅黑" pitchFamily="34" charset="-122"/>
              </a:rPr>
              <a:t>非恒定速率</a:t>
            </a:r>
          </a:p>
        </p:txBody>
      </p:sp>
      <p:sp>
        <p:nvSpPr>
          <p:cNvPr id="88" name="Freeform 115"/>
          <p:cNvSpPr>
            <a:spLocks/>
          </p:cNvSpPr>
          <p:nvPr/>
        </p:nvSpPr>
        <p:spPr bwMode="auto">
          <a:xfrm>
            <a:off x="860528" y="3732360"/>
            <a:ext cx="78021"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89" name="Freeform 116"/>
          <p:cNvSpPr>
            <a:spLocks/>
          </p:cNvSpPr>
          <p:nvPr/>
        </p:nvSpPr>
        <p:spPr bwMode="auto">
          <a:xfrm>
            <a:off x="6375465" y="3732360"/>
            <a:ext cx="76576" cy="365432"/>
          </a:xfrm>
          <a:custGeom>
            <a:avLst/>
            <a:gdLst>
              <a:gd name="T0" fmla="*/ 0 w 48"/>
              <a:gd name="T1" fmla="*/ 192 h 192"/>
              <a:gd name="T2" fmla="*/ 0 w 48"/>
              <a:gd name="T3" fmla="*/ 0 h 192"/>
              <a:gd name="T4" fmla="*/ 48 w 48"/>
              <a:gd name="T5" fmla="*/ 0 h 192"/>
              <a:gd name="T6" fmla="*/ 48 w 48"/>
              <a:gd name="T7" fmla="*/ 192 h 192"/>
            </a:gdLst>
            <a:ahLst/>
            <a:cxnLst>
              <a:cxn ang="0">
                <a:pos x="T0" y="T1"/>
              </a:cxn>
              <a:cxn ang="0">
                <a:pos x="T2" y="T3"/>
              </a:cxn>
              <a:cxn ang="0">
                <a:pos x="T4" y="T5"/>
              </a:cxn>
              <a:cxn ang="0">
                <a:pos x="T6" y="T7"/>
              </a:cxn>
            </a:cxnLst>
            <a:rect l="0" t="0" r="r" b="b"/>
            <a:pathLst>
              <a:path w="48" h="192">
                <a:moveTo>
                  <a:pt x="0" y="192"/>
                </a:moveTo>
                <a:lnTo>
                  <a:pt x="0" y="0"/>
                </a:lnTo>
                <a:lnTo>
                  <a:pt x="48" y="0"/>
                </a:lnTo>
                <a:lnTo>
                  <a:pt x="48" y="192"/>
                </a:ln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90" name="Text Box 117"/>
          <p:cNvSpPr txBox="1">
            <a:spLocks noChangeArrowheads="1"/>
          </p:cNvSpPr>
          <p:nvPr/>
        </p:nvSpPr>
        <p:spPr bwMode="auto">
          <a:xfrm>
            <a:off x="5462256" y="3054748"/>
            <a:ext cx="132334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latin typeface="微软雅黑" pitchFamily="34" charset="-122"/>
                <a:ea typeface="微软雅黑" pitchFamily="34" charset="-122"/>
              </a:rPr>
              <a:t>有可能发生</a:t>
            </a:r>
          </a:p>
          <a:p>
            <a:pPr algn="ctr"/>
            <a:r>
              <a:rPr kumimoji="1" lang="zh-CN" altLang="en-US" sz="1400" b="1" dirty="0">
                <a:latin typeface="微软雅黑" pitchFamily="34" charset="-122"/>
                <a:ea typeface="微软雅黑" pitchFamily="34" charset="-122"/>
              </a:rPr>
              <a:t>分组丢失</a:t>
            </a:r>
          </a:p>
        </p:txBody>
      </p:sp>
      <p:sp>
        <p:nvSpPr>
          <p:cNvPr id="91" name="Line 118"/>
          <p:cNvSpPr>
            <a:spLocks noChangeShapeType="1"/>
          </p:cNvSpPr>
          <p:nvPr/>
        </p:nvSpPr>
        <p:spPr bwMode="auto">
          <a:xfrm>
            <a:off x="6524090" y="3480961"/>
            <a:ext cx="235380" cy="219470"/>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92" name="Text Box 117"/>
          <p:cNvSpPr txBox="1">
            <a:spLocks noChangeArrowheads="1"/>
          </p:cNvSpPr>
          <p:nvPr/>
        </p:nvSpPr>
        <p:spPr bwMode="auto">
          <a:xfrm>
            <a:off x="6784292" y="3331422"/>
            <a:ext cx="1703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smtClean="0">
                <a:solidFill>
                  <a:srgbClr val="C00000"/>
                </a:solidFill>
                <a:latin typeface="微软雅黑" pitchFamily="34" charset="-122"/>
                <a:ea typeface="微软雅黑" pitchFamily="34" charset="-122"/>
              </a:rPr>
              <a:t>帧间隔变成等时的</a:t>
            </a:r>
            <a:endParaRPr kumimoji="1" lang="zh-CN" altLang="en-US" sz="1400" b="1" dirty="0">
              <a:solidFill>
                <a:srgbClr val="C00000"/>
              </a:solidFill>
              <a:latin typeface="微软雅黑" pitchFamily="34" charset="-122"/>
              <a:ea typeface="微软雅黑" pitchFamily="34" charset="-122"/>
            </a:endParaRPr>
          </a:p>
        </p:txBody>
      </p:sp>
      <p:sp>
        <p:nvSpPr>
          <p:cNvPr id="93" name="Text Box 117"/>
          <p:cNvSpPr txBox="1">
            <a:spLocks noChangeArrowheads="1"/>
          </p:cNvSpPr>
          <p:nvPr/>
        </p:nvSpPr>
        <p:spPr bwMode="auto">
          <a:xfrm>
            <a:off x="1968723" y="3084516"/>
            <a:ext cx="161921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latin typeface="微软雅黑" pitchFamily="34" charset="-122"/>
                <a:ea typeface="微软雅黑" pitchFamily="34" charset="-122"/>
              </a:rPr>
              <a:t>解码后的帧按顺序</a:t>
            </a:r>
          </a:p>
          <a:p>
            <a:pPr algn="ctr"/>
            <a:r>
              <a:rPr kumimoji="1" lang="zh-CN" altLang="en-US" sz="1400" b="1" dirty="0" smtClean="0">
                <a:latin typeface="微软雅黑" pitchFamily="34" charset="-122"/>
                <a:ea typeface="微软雅黑" pitchFamily="34" charset="-122"/>
              </a:rPr>
              <a:t>存入</a:t>
            </a:r>
            <a:r>
              <a:rPr kumimoji="1" lang="zh-CN" altLang="en-US" sz="1400" b="1" dirty="0">
                <a:latin typeface="微软雅黑" pitchFamily="34" charset="-122"/>
                <a:ea typeface="微软雅黑" pitchFamily="34" charset="-122"/>
              </a:rPr>
              <a:t>播放缓冲区</a:t>
            </a:r>
          </a:p>
        </p:txBody>
      </p:sp>
      <p:sp>
        <p:nvSpPr>
          <p:cNvPr id="94" name="Text Box 117"/>
          <p:cNvSpPr txBox="1">
            <a:spLocks noChangeArrowheads="1"/>
          </p:cNvSpPr>
          <p:nvPr/>
        </p:nvSpPr>
        <p:spPr bwMode="auto">
          <a:xfrm>
            <a:off x="5265189" y="4165521"/>
            <a:ext cx="125435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latin typeface="微软雅黑" pitchFamily="34" charset="-122"/>
                <a:ea typeface="微软雅黑" pitchFamily="34" charset="-122"/>
              </a:rPr>
              <a:t>按原来的帧率</a:t>
            </a:r>
          </a:p>
          <a:p>
            <a:pPr algn="ctr"/>
            <a:r>
              <a:rPr kumimoji="1" lang="zh-CN" altLang="en-US" sz="1400" b="1" dirty="0">
                <a:latin typeface="微软雅黑" pitchFamily="34" charset="-122"/>
                <a:ea typeface="微软雅黑" pitchFamily="34" charset="-122"/>
              </a:rPr>
              <a:t>读出播放</a:t>
            </a:r>
          </a:p>
        </p:txBody>
      </p:sp>
    </p:spTree>
    <p:custDataLst>
      <p:tags r:id="rId1"/>
    </p:custDataLst>
    <p:extLst>
      <p:ext uri="{BB962C8B-B14F-4D97-AF65-F5344CB8AC3E}">
        <p14:creationId xmlns:p14="http://schemas.microsoft.com/office/powerpoint/2010/main" val="42517807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8">
                                            <p:txEl>
                                              <p:pRg st="1" end="1"/>
                                            </p:txEl>
                                          </p:spTgt>
                                        </p:tgtEl>
                                        <p:attrNameLst>
                                          <p:attrName>style.visibility</p:attrName>
                                        </p:attrNameLst>
                                      </p:cBhvr>
                                      <p:to>
                                        <p:strVal val="visible"/>
                                      </p:to>
                                    </p:set>
                                    <p:animEffect transition="in" filter="fade">
                                      <p:cBhvr>
                                        <p:cTn id="11"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786900" y="569848"/>
            <a:ext cx="35702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a:solidFill>
                  <a:schemeClr val="bg1"/>
                </a:solidFill>
                <a:latin typeface="微软雅黑" pitchFamily="34" charset="-122"/>
                <a:ea typeface="微软雅黑" pitchFamily="34" charset="-122"/>
              </a:rPr>
              <a:t>播放缓冲区工作</a:t>
            </a:r>
            <a:r>
              <a:rPr lang="zh-CN" altLang="en-US" sz="2400" b="1" dirty="0" smtClean="0">
                <a:solidFill>
                  <a:schemeClr val="bg1"/>
                </a:solidFill>
                <a:latin typeface="微软雅黑" pitchFamily="34" charset="-122"/>
                <a:ea typeface="微软雅黑" pitchFamily="34" charset="-122"/>
              </a:rPr>
              <a:t>原理示意</a:t>
            </a:r>
            <a:endParaRPr lang="zh-CN" altLang="en-US" sz="2400" b="1" dirty="0">
              <a:solidFill>
                <a:schemeClr val="bg1"/>
              </a:solidFill>
              <a:latin typeface="微软雅黑" pitchFamily="34" charset="-122"/>
              <a:ea typeface="微软雅黑" pitchFamily="34" charset="-122"/>
            </a:endParaRPr>
          </a:p>
        </p:txBody>
      </p:sp>
      <p:sp>
        <p:nvSpPr>
          <p:cNvPr id="56" name="圆角矩形 55"/>
          <p:cNvSpPr/>
          <p:nvPr/>
        </p:nvSpPr>
        <p:spPr>
          <a:xfrm>
            <a:off x="500006" y="3258945"/>
            <a:ext cx="8129015" cy="17965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44" name="直接箭头连接符 43">
            <a:extLst>
              <a:ext uri="{FF2B5EF4-FFF2-40B4-BE49-F238E27FC236}">
                <a16:creationId xmlns:a16="http://schemas.microsoft.com/office/drawing/2014/main" id="{41A48F09-039F-1FD1-1381-B8758D9B7F05}"/>
              </a:ext>
            </a:extLst>
          </p:cNvPr>
          <p:cNvCxnSpPr>
            <a:cxnSpLocks/>
          </p:cNvCxnSpPr>
          <p:nvPr/>
        </p:nvCxnSpPr>
        <p:spPr>
          <a:xfrm>
            <a:off x="3464802" y="4632716"/>
            <a:ext cx="1561970" cy="0"/>
          </a:xfrm>
          <a:prstGeom prst="straightConnector1">
            <a:avLst/>
          </a:prstGeom>
          <a:ln w="9525">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ED895C15-E086-CD53-43F3-072456E78E4A}"/>
              </a:ext>
            </a:extLst>
          </p:cNvPr>
          <p:cNvGrpSpPr/>
          <p:nvPr/>
        </p:nvGrpSpPr>
        <p:grpSpPr>
          <a:xfrm>
            <a:off x="3875181" y="4484811"/>
            <a:ext cx="800219" cy="278159"/>
            <a:chOff x="5434051" y="2980026"/>
            <a:chExt cx="800219" cy="278159"/>
          </a:xfrm>
        </p:grpSpPr>
        <p:sp>
          <p:nvSpPr>
            <p:cNvPr id="46" name="矩形 45">
              <a:extLst>
                <a:ext uri="{FF2B5EF4-FFF2-40B4-BE49-F238E27FC236}">
                  <a16:creationId xmlns:a16="http://schemas.microsoft.com/office/drawing/2014/main" id="{75A741EE-53E0-935D-02F2-882375DEBC94}"/>
                </a:ext>
              </a:extLst>
            </p:cNvPr>
            <p:cNvSpPr/>
            <p:nvPr/>
          </p:nvSpPr>
          <p:spPr>
            <a:xfrm>
              <a:off x="5521233" y="2980026"/>
              <a:ext cx="184731" cy="276999"/>
            </a:xfrm>
            <a:prstGeom prst="rect">
              <a:avLst/>
            </a:prstGeom>
            <a:solidFill>
              <a:srgbClr val="FFC000"/>
            </a:solidFill>
          </p:spPr>
          <p:txBody>
            <a:bodyPr wrap="none" rtlCol="0">
              <a:spAutoFit/>
            </a:bodyPr>
            <a:lstStyle/>
            <a:p>
              <a:endParaRPr lang="zh-CN" altLang="en-US" sz="1200">
                <a:latin typeface="宋体" panose="02010600030101010101" pitchFamily="2" charset="-122"/>
                <a:ea typeface="宋体" panose="02010600030101010101" pitchFamily="2" charset="-122"/>
                <a:cs typeface="Times New Roman" panose="02020603050405020304" pitchFamily="18" charset="0"/>
              </a:endParaRPr>
            </a:p>
          </p:txBody>
        </p:sp>
        <p:sp>
          <p:nvSpPr>
            <p:cNvPr id="47" name="文本框 46">
              <a:extLst>
                <a:ext uri="{FF2B5EF4-FFF2-40B4-BE49-F238E27FC236}">
                  <a16:creationId xmlns:a16="http://schemas.microsoft.com/office/drawing/2014/main" id="{0AB20EC6-4551-764C-5756-DF1E003AEC02}"/>
                </a:ext>
              </a:extLst>
            </p:cNvPr>
            <p:cNvSpPr txBox="1"/>
            <p:nvPr/>
          </p:nvSpPr>
          <p:spPr>
            <a:xfrm>
              <a:off x="5434051" y="2981186"/>
              <a:ext cx="800219" cy="276999"/>
            </a:xfrm>
            <a:prstGeom prst="rect">
              <a:avLst/>
            </a:prstGeom>
            <a:solidFill>
              <a:srgbClr val="FFC000"/>
            </a:solidFill>
          </p:spPr>
          <p:txBody>
            <a:bodyPr wrap="none" rtlCol="0">
              <a:spAutoFit/>
            </a:bodyPr>
            <a:lstStyle>
              <a:defPPr>
                <a:defRPr lang="zh-CN"/>
              </a:defPPr>
              <a:lvl1pPr>
                <a:defRPr sz="1200">
                  <a:latin typeface="宋体" panose="02010600030101010101" pitchFamily="2" charset="-122"/>
                  <a:ea typeface="宋体" panose="02010600030101010101" pitchFamily="2" charset="-122"/>
                  <a:cs typeface="Times New Roman" panose="02020603050405020304" pitchFamily="18" charset="0"/>
                </a:defRPr>
              </a:lvl1pPr>
            </a:lstStyle>
            <a:p>
              <a:r>
                <a:rPr lang="zh-CN" altLang="en-US" dirty="0"/>
                <a:t>待播放的</a:t>
              </a:r>
            </a:p>
          </p:txBody>
        </p:sp>
      </p:grpSp>
      <p:cxnSp>
        <p:nvCxnSpPr>
          <p:cNvPr id="48" name="直接箭头连接符 47">
            <a:extLst>
              <a:ext uri="{FF2B5EF4-FFF2-40B4-BE49-F238E27FC236}">
                <a16:creationId xmlns:a16="http://schemas.microsoft.com/office/drawing/2014/main" id="{5B03BD89-74AE-7494-D733-E39152596201}"/>
              </a:ext>
            </a:extLst>
          </p:cNvPr>
          <p:cNvCxnSpPr>
            <a:cxnSpLocks/>
          </p:cNvCxnSpPr>
          <p:nvPr/>
        </p:nvCxnSpPr>
        <p:spPr>
          <a:xfrm>
            <a:off x="5043365" y="4632716"/>
            <a:ext cx="3183104" cy="0"/>
          </a:xfrm>
          <a:prstGeom prst="straightConnector1">
            <a:avLst/>
          </a:prstGeom>
          <a:ln w="9525">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CD08FC32-FF23-8E05-01C5-E4E71CDC5F91}"/>
              </a:ext>
            </a:extLst>
          </p:cNvPr>
          <p:cNvSpPr txBox="1"/>
          <p:nvPr/>
        </p:nvSpPr>
        <p:spPr>
          <a:xfrm>
            <a:off x="6098350" y="4424346"/>
            <a:ext cx="1107996" cy="461665"/>
          </a:xfrm>
          <a:prstGeom prst="rect">
            <a:avLst/>
          </a:prstGeom>
          <a:solidFill>
            <a:srgbClr val="FFC000"/>
          </a:solidFill>
        </p:spPr>
        <p:txBody>
          <a:bodyPr wrap="none" rtlCol="0">
            <a:spAutoFit/>
          </a:bodyPr>
          <a:lstStyle>
            <a:defPPr>
              <a:defRPr lang="zh-CN"/>
            </a:defPPr>
            <a:lvl1pPr>
              <a:defRPr sz="1200">
                <a:latin typeface="宋体" panose="02010600030101010101" pitchFamily="2" charset="-122"/>
                <a:ea typeface="宋体" panose="02010600030101010101" pitchFamily="2" charset="-122"/>
                <a:cs typeface="Times New Roman" panose="02020603050405020304" pitchFamily="18" charset="0"/>
              </a:defRPr>
            </a:lvl1pPr>
          </a:lstStyle>
          <a:p>
            <a:pPr algn="ctr"/>
            <a:r>
              <a:rPr lang="zh-CN" altLang="en-US" dirty="0"/>
              <a:t>尚未存入</a:t>
            </a:r>
            <a:endParaRPr lang="en-US" altLang="zh-CN" dirty="0"/>
          </a:p>
          <a:p>
            <a:r>
              <a:rPr lang="zh-CN" altLang="en-US" dirty="0"/>
              <a:t>播放缓冲区的</a:t>
            </a:r>
          </a:p>
        </p:txBody>
      </p:sp>
      <p:cxnSp>
        <p:nvCxnSpPr>
          <p:cNvPr id="50" name="直接箭头连接符 49">
            <a:extLst>
              <a:ext uri="{FF2B5EF4-FFF2-40B4-BE49-F238E27FC236}">
                <a16:creationId xmlns:a16="http://schemas.microsoft.com/office/drawing/2014/main" id="{97A286C8-EC15-3729-0D5E-A82263289E1A}"/>
              </a:ext>
            </a:extLst>
          </p:cNvPr>
          <p:cNvCxnSpPr>
            <a:cxnSpLocks/>
          </p:cNvCxnSpPr>
          <p:nvPr/>
        </p:nvCxnSpPr>
        <p:spPr>
          <a:xfrm>
            <a:off x="939888" y="4632716"/>
            <a:ext cx="2528031" cy="0"/>
          </a:xfrm>
          <a:prstGeom prst="straightConnector1">
            <a:avLst/>
          </a:prstGeom>
          <a:ln w="9525">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0B05A9DB-EA43-954A-E4B9-6BF9284308C1}"/>
              </a:ext>
            </a:extLst>
          </p:cNvPr>
          <p:cNvSpPr txBox="1"/>
          <p:nvPr/>
        </p:nvSpPr>
        <p:spPr>
          <a:xfrm>
            <a:off x="1751712" y="4505197"/>
            <a:ext cx="800219" cy="276999"/>
          </a:xfrm>
          <a:prstGeom prst="rect">
            <a:avLst/>
          </a:prstGeom>
          <a:solidFill>
            <a:srgbClr val="FFC000"/>
          </a:solidFill>
        </p:spPr>
        <p:txBody>
          <a:bodyPr wrap="none" rtlCol="0">
            <a:spAutoFit/>
          </a:bodyPr>
          <a:lstStyle/>
          <a:p>
            <a:r>
              <a:rPr lang="zh-CN" altLang="en-US" sz="1200" dirty="0">
                <a:latin typeface="宋体" panose="02010600030101010101" pitchFamily="2" charset="-122"/>
                <a:ea typeface="宋体" panose="02010600030101010101" pitchFamily="2" charset="-122"/>
                <a:cs typeface="Times New Roman" panose="02020603050405020304" pitchFamily="18" charset="0"/>
              </a:rPr>
              <a:t>已播放的</a:t>
            </a:r>
          </a:p>
        </p:txBody>
      </p:sp>
      <p:sp>
        <p:nvSpPr>
          <p:cNvPr id="52" name="文本框 51">
            <a:extLst>
              <a:ext uri="{FF2B5EF4-FFF2-40B4-BE49-F238E27FC236}">
                <a16:creationId xmlns:a16="http://schemas.microsoft.com/office/drawing/2014/main" id="{D5B2B6E5-EFA3-A25F-AED5-DFBA2538D617}"/>
              </a:ext>
            </a:extLst>
          </p:cNvPr>
          <p:cNvSpPr txBox="1"/>
          <p:nvPr/>
        </p:nvSpPr>
        <p:spPr>
          <a:xfrm>
            <a:off x="8178243" y="4030804"/>
            <a:ext cx="535724" cy="276999"/>
          </a:xfrm>
          <a:prstGeom prst="rect">
            <a:avLst/>
          </a:prstGeom>
          <a:noFill/>
        </p:spPr>
        <p:txBody>
          <a:bodyPr wrap="none" rtlCol="0">
            <a:spAutoFit/>
          </a:bodyPr>
          <a:lstStyle/>
          <a:p>
            <a:r>
              <a:rPr lang="en-US" altLang="zh-CN" sz="1200" dirty="0">
                <a:latin typeface="Times New Roman" panose="02020603050405020304" pitchFamily="18" charset="0"/>
                <a:cs typeface="Times New Roman" panose="02020603050405020304" pitchFamily="18" charset="0"/>
              </a:rPr>
              <a:t>30:00</a:t>
            </a:r>
            <a:endParaRPr lang="zh-CN" altLang="en-US" sz="1200" dirty="0">
              <a:latin typeface="Times New Roman" panose="02020603050405020304" pitchFamily="18" charset="0"/>
              <a:cs typeface="Times New Roman" panose="02020603050405020304" pitchFamily="18" charset="0"/>
            </a:endParaRPr>
          </a:p>
        </p:txBody>
      </p:sp>
      <p:sp>
        <p:nvSpPr>
          <p:cNvPr id="53" name="矩形 52">
            <a:extLst>
              <a:ext uri="{FF2B5EF4-FFF2-40B4-BE49-F238E27FC236}">
                <a16:creationId xmlns:a16="http://schemas.microsoft.com/office/drawing/2014/main" id="{414D04F0-022E-2C26-C0E8-8C57FA12B107}"/>
              </a:ext>
            </a:extLst>
          </p:cNvPr>
          <p:cNvSpPr/>
          <p:nvPr/>
        </p:nvSpPr>
        <p:spPr>
          <a:xfrm>
            <a:off x="939888" y="4077528"/>
            <a:ext cx="2518936" cy="279779"/>
          </a:xfrm>
          <a:prstGeom prst="rect">
            <a:avLst/>
          </a:prstGeom>
          <a:solidFill>
            <a:srgbClr val="00B050"/>
          </a:solid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sp>
        <p:nvSpPr>
          <p:cNvPr id="54" name="矩形 53">
            <a:extLst>
              <a:ext uri="{FF2B5EF4-FFF2-40B4-BE49-F238E27FC236}">
                <a16:creationId xmlns:a16="http://schemas.microsoft.com/office/drawing/2014/main" id="{474A8D22-72DA-4632-E4E6-A7C6A245CD5B}"/>
              </a:ext>
            </a:extLst>
          </p:cNvPr>
          <p:cNvSpPr/>
          <p:nvPr/>
        </p:nvSpPr>
        <p:spPr>
          <a:xfrm>
            <a:off x="3467912" y="4077528"/>
            <a:ext cx="1575453" cy="291830"/>
          </a:xfrm>
          <a:prstGeom prst="rect">
            <a:avLst/>
          </a:prstGeom>
          <a:solidFill>
            <a:srgbClr val="66FF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55" name="直接箭头连接符 54">
            <a:extLst>
              <a:ext uri="{FF2B5EF4-FFF2-40B4-BE49-F238E27FC236}">
                <a16:creationId xmlns:a16="http://schemas.microsoft.com/office/drawing/2014/main" id="{A54ADCBE-0470-9923-9764-0D81E5119DCF}"/>
              </a:ext>
            </a:extLst>
          </p:cNvPr>
          <p:cNvCxnSpPr>
            <a:cxnSpLocks/>
          </p:cNvCxnSpPr>
          <p:nvPr/>
        </p:nvCxnSpPr>
        <p:spPr>
          <a:xfrm>
            <a:off x="3463368" y="3790923"/>
            <a:ext cx="0" cy="286603"/>
          </a:xfrm>
          <a:prstGeom prst="straightConnector1">
            <a:avLst/>
          </a:prstGeom>
          <a:ln w="1905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5" name="矩形 94">
            <a:extLst>
              <a:ext uri="{FF2B5EF4-FFF2-40B4-BE49-F238E27FC236}">
                <a16:creationId xmlns:a16="http://schemas.microsoft.com/office/drawing/2014/main" id="{F9DC5BEE-1940-3ACA-E7BA-74C97B5F67D5}"/>
              </a:ext>
            </a:extLst>
          </p:cNvPr>
          <p:cNvSpPr/>
          <p:nvPr/>
        </p:nvSpPr>
        <p:spPr>
          <a:xfrm>
            <a:off x="930794" y="4078688"/>
            <a:ext cx="7297288" cy="291830"/>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sp>
        <p:nvSpPr>
          <p:cNvPr id="96" name="箭头: 右 10">
            <a:extLst>
              <a:ext uri="{FF2B5EF4-FFF2-40B4-BE49-F238E27FC236}">
                <a16:creationId xmlns:a16="http://schemas.microsoft.com/office/drawing/2014/main" id="{19C9C591-D675-C224-4B79-BA65050284EF}"/>
              </a:ext>
            </a:extLst>
          </p:cNvPr>
          <p:cNvSpPr/>
          <p:nvPr/>
        </p:nvSpPr>
        <p:spPr>
          <a:xfrm>
            <a:off x="5009354" y="4145766"/>
            <a:ext cx="341194" cy="143301"/>
          </a:xfrm>
          <a:prstGeom prst="rightArrow">
            <a:avLst>
              <a:gd name="adj1" fmla="val 50000"/>
              <a:gd name="adj2" fmla="val 76858"/>
            </a:avLst>
          </a:prstGeom>
          <a:solidFill>
            <a:srgbClr val="66FF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sp>
        <p:nvSpPr>
          <p:cNvPr id="97" name="箭头: 右 11">
            <a:extLst>
              <a:ext uri="{FF2B5EF4-FFF2-40B4-BE49-F238E27FC236}">
                <a16:creationId xmlns:a16="http://schemas.microsoft.com/office/drawing/2014/main" id="{7C54B06E-C700-A1D7-93E5-0F1A8A2EB6EF}"/>
              </a:ext>
            </a:extLst>
          </p:cNvPr>
          <p:cNvSpPr/>
          <p:nvPr/>
        </p:nvSpPr>
        <p:spPr>
          <a:xfrm>
            <a:off x="3463370" y="4145766"/>
            <a:ext cx="341194" cy="143301"/>
          </a:xfrm>
          <a:prstGeom prst="rightArrow">
            <a:avLst>
              <a:gd name="adj1" fmla="val 50000"/>
              <a:gd name="adj2" fmla="val 76858"/>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98" name="直接箭头连接符 97">
            <a:extLst>
              <a:ext uri="{FF2B5EF4-FFF2-40B4-BE49-F238E27FC236}">
                <a16:creationId xmlns:a16="http://schemas.microsoft.com/office/drawing/2014/main" id="{7420A32A-E293-B43A-F46F-A50FB4DE5BF5}"/>
              </a:ext>
            </a:extLst>
          </p:cNvPr>
          <p:cNvCxnSpPr>
            <a:cxnSpLocks/>
          </p:cNvCxnSpPr>
          <p:nvPr/>
        </p:nvCxnSpPr>
        <p:spPr>
          <a:xfrm>
            <a:off x="5026772" y="3790922"/>
            <a:ext cx="0" cy="286603"/>
          </a:xfrm>
          <a:prstGeom prst="straightConnector1">
            <a:avLst/>
          </a:prstGeom>
          <a:ln w="1905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C053C7FE-E1F9-6CCC-00CE-F946F1445AFC}"/>
              </a:ext>
            </a:extLst>
          </p:cNvPr>
          <p:cNvCxnSpPr>
            <a:cxnSpLocks/>
          </p:cNvCxnSpPr>
          <p:nvPr/>
        </p:nvCxnSpPr>
        <p:spPr>
          <a:xfrm>
            <a:off x="935340" y="3790924"/>
            <a:ext cx="0" cy="286603"/>
          </a:xfrm>
          <a:prstGeom prst="straightConnector1">
            <a:avLst/>
          </a:prstGeom>
          <a:ln w="1905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253FBA62-F35B-4B4C-9A82-58440F9FA5DA}"/>
              </a:ext>
            </a:extLst>
          </p:cNvPr>
          <p:cNvCxnSpPr>
            <a:cxnSpLocks/>
          </p:cNvCxnSpPr>
          <p:nvPr/>
        </p:nvCxnSpPr>
        <p:spPr>
          <a:xfrm>
            <a:off x="8226469" y="3790922"/>
            <a:ext cx="0" cy="286603"/>
          </a:xfrm>
          <a:prstGeom prst="straightConnector1">
            <a:avLst/>
          </a:prstGeom>
          <a:ln w="1905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101" name="组合 100">
            <a:extLst>
              <a:ext uri="{FF2B5EF4-FFF2-40B4-BE49-F238E27FC236}">
                <a16:creationId xmlns:a16="http://schemas.microsoft.com/office/drawing/2014/main" id="{9FC35C33-82CE-775D-E89E-4FD59C387132}"/>
              </a:ext>
            </a:extLst>
          </p:cNvPr>
          <p:cNvGrpSpPr/>
          <p:nvPr/>
        </p:nvGrpSpPr>
        <p:grpSpPr>
          <a:xfrm>
            <a:off x="930794" y="4351800"/>
            <a:ext cx="7298333" cy="417738"/>
            <a:chOff x="2412460" y="2092883"/>
            <a:chExt cx="8142748" cy="272908"/>
          </a:xfrm>
        </p:grpSpPr>
        <p:cxnSp>
          <p:nvCxnSpPr>
            <p:cNvPr id="102" name="直接连接符 101">
              <a:extLst>
                <a:ext uri="{FF2B5EF4-FFF2-40B4-BE49-F238E27FC236}">
                  <a16:creationId xmlns:a16="http://schemas.microsoft.com/office/drawing/2014/main" id="{5F390297-942C-A1F2-49A2-0F78A6AEABC3}"/>
                </a:ext>
              </a:extLst>
            </p:cNvPr>
            <p:cNvCxnSpPr/>
            <p:nvPr/>
          </p:nvCxnSpPr>
          <p:spPr>
            <a:xfrm>
              <a:off x="2412460" y="2092883"/>
              <a:ext cx="0" cy="241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20D52D9E-0E99-532E-9D32-5AF0DACF7541}"/>
                </a:ext>
              </a:extLst>
            </p:cNvPr>
            <p:cNvCxnSpPr/>
            <p:nvPr/>
          </p:nvCxnSpPr>
          <p:spPr>
            <a:xfrm>
              <a:off x="10555208" y="2108888"/>
              <a:ext cx="0" cy="241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05262EB8-6F36-C7E5-918F-0AE31FE11A72}"/>
                </a:ext>
              </a:extLst>
            </p:cNvPr>
            <p:cNvCxnSpPr/>
            <p:nvPr/>
          </p:nvCxnSpPr>
          <p:spPr>
            <a:xfrm>
              <a:off x="6989650" y="2124774"/>
              <a:ext cx="0" cy="241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D2540AA3-2668-D99A-BB8D-DF49EF89E6EC}"/>
                </a:ext>
              </a:extLst>
            </p:cNvPr>
            <p:cNvCxnSpPr/>
            <p:nvPr/>
          </p:nvCxnSpPr>
          <p:spPr>
            <a:xfrm>
              <a:off x="5230438" y="2124774"/>
              <a:ext cx="0" cy="241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6" name="文本框 105">
            <a:extLst>
              <a:ext uri="{FF2B5EF4-FFF2-40B4-BE49-F238E27FC236}">
                <a16:creationId xmlns:a16="http://schemas.microsoft.com/office/drawing/2014/main" id="{47ED3468-C9C7-340B-9398-EE955CD29D09}"/>
              </a:ext>
            </a:extLst>
          </p:cNvPr>
          <p:cNvSpPr txBox="1"/>
          <p:nvPr/>
        </p:nvSpPr>
        <p:spPr>
          <a:xfrm>
            <a:off x="558065" y="3509876"/>
            <a:ext cx="800219" cy="276999"/>
          </a:xfrm>
          <a:prstGeom prst="rect">
            <a:avLst/>
          </a:prstGeom>
          <a:noFill/>
        </p:spPr>
        <p:txBody>
          <a:bodyPr wrap="none" rtlCol="0">
            <a:spAutoFit/>
          </a:bodyPr>
          <a:lstStyle/>
          <a:p>
            <a:r>
              <a:rPr lang="zh-CN" altLang="en-US" sz="1200" dirty="0">
                <a:latin typeface="宋体" panose="02010600030101010101" pitchFamily="2" charset="-122"/>
                <a:ea typeface="宋体" panose="02010600030101010101" pitchFamily="2" charset="-122"/>
                <a:cs typeface="Times New Roman" panose="02020603050405020304" pitchFamily="18" charset="0"/>
              </a:rPr>
              <a:t>播放起点</a:t>
            </a:r>
          </a:p>
        </p:txBody>
      </p:sp>
      <p:sp>
        <p:nvSpPr>
          <p:cNvPr id="107" name="文本框 106">
            <a:extLst>
              <a:ext uri="{FF2B5EF4-FFF2-40B4-BE49-F238E27FC236}">
                <a16:creationId xmlns:a16="http://schemas.microsoft.com/office/drawing/2014/main" id="{4BE7E18C-491C-9F1B-A9F8-7A5A20C0F509}"/>
              </a:ext>
            </a:extLst>
          </p:cNvPr>
          <p:cNvSpPr txBox="1"/>
          <p:nvPr/>
        </p:nvSpPr>
        <p:spPr>
          <a:xfrm>
            <a:off x="7936440" y="3472699"/>
            <a:ext cx="800219" cy="276999"/>
          </a:xfrm>
          <a:prstGeom prst="rect">
            <a:avLst/>
          </a:prstGeom>
          <a:noFill/>
        </p:spPr>
        <p:txBody>
          <a:bodyPr wrap="none" rtlCol="0">
            <a:spAutoFit/>
          </a:bodyPr>
          <a:lstStyle/>
          <a:p>
            <a:r>
              <a:rPr lang="zh-CN" altLang="en-US" sz="1200" dirty="0">
                <a:latin typeface="宋体" panose="02010600030101010101" pitchFamily="2" charset="-122"/>
                <a:ea typeface="宋体" panose="02010600030101010101" pitchFamily="2" charset="-122"/>
                <a:cs typeface="Times New Roman" panose="02020603050405020304" pitchFamily="18" charset="0"/>
              </a:rPr>
              <a:t>播放终点</a:t>
            </a:r>
          </a:p>
        </p:txBody>
      </p:sp>
      <p:sp>
        <p:nvSpPr>
          <p:cNvPr id="108" name="文本框 107">
            <a:extLst>
              <a:ext uri="{FF2B5EF4-FFF2-40B4-BE49-F238E27FC236}">
                <a16:creationId xmlns:a16="http://schemas.microsoft.com/office/drawing/2014/main" id="{44F730FB-D619-4EBC-8D5E-0EE0394D3002}"/>
              </a:ext>
            </a:extLst>
          </p:cNvPr>
          <p:cNvSpPr txBox="1"/>
          <p:nvPr/>
        </p:nvSpPr>
        <p:spPr>
          <a:xfrm>
            <a:off x="3140202" y="3528725"/>
            <a:ext cx="646331" cy="276999"/>
          </a:xfrm>
          <a:prstGeom prst="rect">
            <a:avLst/>
          </a:prstGeom>
          <a:noFill/>
        </p:spPr>
        <p:txBody>
          <a:bodyPr wrap="none" rtlCol="0">
            <a:spAutoFit/>
          </a:bodyPr>
          <a:lstStyle/>
          <a:p>
            <a:r>
              <a:rPr lang="zh-CN" altLang="en-US" sz="1200" dirty="0">
                <a:latin typeface="宋体" panose="02010600030101010101" pitchFamily="2" charset="-122"/>
                <a:ea typeface="宋体" panose="02010600030101010101" pitchFamily="2" charset="-122"/>
                <a:cs typeface="Times New Roman" panose="02020603050405020304" pitchFamily="18" charset="0"/>
              </a:rPr>
              <a:t>播放点</a:t>
            </a:r>
          </a:p>
        </p:txBody>
      </p:sp>
      <p:sp>
        <p:nvSpPr>
          <p:cNvPr id="109" name="文本框 108">
            <a:extLst>
              <a:ext uri="{FF2B5EF4-FFF2-40B4-BE49-F238E27FC236}">
                <a16:creationId xmlns:a16="http://schemas.microsoft.com/office/drawing/2014/main" id="{BB042CB0-8D38-5278-E777-AE511329AD2E}"/>
              </a:ext>
            </a:extLst>
          </p:cNvPr>
          <p:cNvSpPr txBox="1"/>
          <p:nvPr/>
        </p:nvSpPr>
        <p:spPr>
          <a:xfrm>
            <a:off x="4554084" y="3332362"/>
            <a:ext cx="954107" cy="461665"/>
          </a:xfrm>
          <a:prstGeom prst="rect">
            <a:avLst/>
          </a:prstGeom>
          <a:noFill/>
        </p:spPr>
        <p:txBody>
          <a:bodyPr wrap="none" rtlCol="0">
            <a:spAutoFit/>
          </a:bodyPr>
          <a:lstStyle/>
          <a:p>
            <a:pPr algn="ctr"/>
            <a:r>
              <a:rPr lang="zh-CN" altLang="en-US" sz="1200" dirty="0">
                <a:latin typeface="宋体" panose="02010600030101010101" pitchFamily="2" charset="-122"/>
                <a:ea typeface="宋体" panose="02010600030101010101" pitchFamily="2" charset="-122"/>
                <a:cs typeface="Times New Roman" panose="02020603050405020304" pitchFamily="18" charset="0"/>
              </a:rPr>
              <a:t>正在存入</a:t>
            </a:r>
            <a:endParaRPr lang="en-US" altLang="zh-CN" sz="1200" dirty="0">
              <a:latin typeface="宋体" panose="02010600030101010101" pitchFamily="2" charset="-122"/>
              <a:ea typeface="宋体" panose="02010600030101010101" pitchFamily="2" charset="-122"/>
              <a:cs typeface="Times New Roman" panose="02020603050405020304" pitchFamily="18" charset="0"/>
            </a:endParaRPr>
          </a:p>
          <a:p>
            <a:pPr algn="ctr"/>
            <a:r>
              <a:rPr lang="zh-CN" altLang="en-US" sz="1200" dirty="0">
                <a:latin typeface="宋体" panose="02010600030101010101" pitchFamily="2" charset="-122"/>
                <a:ea typeface="宋体" panose="02010600030101010101" pitchFamily="2" charset="-122"/>
                <a:cs typeface="Times New Roman" panose="02020603050405020304" pitchFamily="18" charset="0"/>
              </a:rPr>
              <a:t>播放缓冲区</a:t>
            </a:r>
          </a:p>
        </p:txBody>
      </p:sp>
      <p:sp>
        <p:nvSpPr>
          <p:cNvPr id="110" name="文本框 109">
            <a:extLst>
              <a:ext uri="{FF2B5EF4-FFF2-40B4-BE49-F238E27FC236}">
                <a16:creationId xmlns:a16="http://schemas.microsoft.com/office/drawing/2014/main" id="{8A75A47C-B368-DF3A-DBEA-9D39B754BD11}"/>
              </a:ext>
            </a:extLst>
          </p:cNvPr>
          <p:cNvSpPr txBox="1"/>
          <p:nvPr/>
        </p:nvSpPr>
        <p:spPr>
          <a:xfrm>
            <a:off x="437977" y="4062695"/>
            <a:ext cx="458780" cy="276999"/>
          </a:xfrm>
          <a:prstGeom prst="rect">
            <a:avLst/>
          </a:prstGeom>
          <a:noFill/>
        </p:spPr>
        <p:txBody>
          <a:bodyPr wrap="none" rtlCol="0">
            <a:spAutoFit/>
          </a:bodyPr>
          <a:lstStyle/>
          <a:p>
            <a:r>
              <a:rPr lang="en-US" altLang="zh-CN" sz="1200" dirty="0">
                <a:latin typeface="Times New Roman" panose="02020603050405020304" pitchFamily="18" charset="0"/>
                <a:cs typeface="Times New Roman" panose="02020603050405020304" pitchFamily="18" charset="0"/>
              </a:rPr>
              <a:t>0:00</a:t>
            </a:r>
            <a:endParaRPr lang="zh-CN" altLang="en-US" sz="1200" dirty="0">
              <a:latin typeface="Times New Roman" panose="02020603050405020304" pitchFamily="18" charset="0"/>
              <a:cs typeface="Times New Roman" panose="02020603050405020304" pitchFamily="18" charset="0"/>
            </a:endParaRPr>
          </a:p>
        </p:txBody>
      </p:sp>
      <p:sp>
        <p:nvSpPr>
          <p:cNvPr id="8" name="矩形 7"/>
          <p:cNvSpPr/>
          <p:nvPr/>
        </p:nvSpPr>
        <p:spPr>
          <a:xfrm>
            <a:off x="545145" y="999995"/>
            <a:ext cx="8053711" cy="2246769"/>
          </a:xfrm>
          <a:prstGeom prst="rect">
            <a:avLst/>
          </a:prstGeom>
        </p:spPr>
        <p:txBody>
          <a:bodyPr wrap="square">
            <a:spAutoFit/>
          </a:bodyPr>
          <a:lstStyle/>
          <a:p>
            <a:pPr marL="357188" indent="-357188" algn="just" hangingPunct="0">
              <a:lnSpc>
                <a:spcPts val="2400"/>
              </a:lnSpc>
              <a:buClr>
                <a:srgbClr val="0070C0"/>
              </a:buClr>
              <a:buFont typeface="Wingdings" pitchFamily="2" charset="2"/>
              <a:buChar char="l"/>
            </a:pPr>
            <a:r>
              <a:rPr lang="zh-CN" altLang="en-US" sz="1600" b="1" dirty="0" smtClean="0">
                <a:latin typeface="微软雅黑" pitchFamily="34" charset="-122"/>
                <a:ea typeface="微软雅黑" pitchFamily="34" charset="-122"/>
              </a:rPr>
              <a:t>播放</a:t>
            </a:r>
            <a:r>
              <a:rPr lang="zh-CN" altLang="en-US" sz="1600" b="1" dirty="0">
                <a:latin typeface="微软雅黑" pitchFamily="34" charset="-122"/>
                <a:ea typeface="微软雅黑" pitchFamily="34" charset="-122"/>
              </a:rPr>
              <a:t>起点时间是</a:t>
            </a:r>
            <a:r>
              <a:rPr lang="en-US" altLang="zh-CN" sz="1600" b="1" dirty="0">
                <a:latin typeface="微软雅黑" pitchFamily="34" charset="-122"/>
                <a:ea typeface="微软雅黑" pitchFamily="34" charset="-122"/>
              </a:rPr>
              <a:t>0</a:t>
            </a:r>
            <a:r>
              <a:rPr lang="zh-CN" altLang="en-US" sz="1600" b="1" dirty="0">
                <a:latin typeface="微软雅黑" pitchFamily="34" charset="-122"/>
                <a:ea typeface="微软雅黑" pitchFamily="34" charset="-122"/>
              </a:rPr>
              <a:t>，播放终点时间是</a:t>
            </a:r>
            <a:r>
              <a:rPr lang="en-US" altLang="zh-CN" sz="1600" b="1" dirty="0">
                <a:latin typeface="微软雅黑" pitchFamily="34" charset="-122"/>
                <a:ea typeface="微软雅黑" pitchFamily="34" charset="-122"/>
              </a:rPr>
              <a:t>30</a:t>
            </a:r>
            <a:r>
              <a:rPr lang="zh-CN" altLang="en-US" sz="1600" b="1" dirty="0">
                <a:latin typeface="微软雅黑" pitchFamily="34" charset="-122"/>
                <a:ea typeface="微软雅黑" pitchFamily="34" charset="-122"/>
              </a:rPr>
              <a:t>分钟</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357188" indent="-357188" algn="just" hangingPunct="0">
              <a:lnSpc>
                <a:spcPts val="2400"/>
              </a:lnSpc>
              <a:buClr>
                <a:srgbClr val="0070C0"/>
              </a:buClr>
              <a:buFont typeface="Wingdings" pitchFamily="2" charset="2"/>
              <a:buChar char="l"/>
            </a:pPr>
            <a:r>
              <a:rPr lang="zh-CN" altLang="en-US" sz="1600" b="1" dirty="0" smtClean="0">
                <a:latin typeface="微软雅黑" pitchFamily="34" charset="-122"/>
                <a:ea typeface="微软雅黑" pitchFamily="34" charset="-122"/>
              </a:rPr>
              <a:t>播放</a:t>
            </a:r>
            <a:r>
              <a:rPr lang="zh-CN" altLang="en-US" sz="1600" b="1" dirty="0">
                <a:latin typeface="微软雅黑" pitchFamily="34" charset="-122"/>
                <a:ea typeface="微软雅黑" pitchFamily="34" charset="-122"/>
              </a:rPr>
              <a:t>进度的左边</a:t>
            </a:r>
            <a:r>
              <a:rPr lang="zh-CN" altLang="en-US" sz="1600" b="1" dirty="0" smtClean="0">
                <a:latin typeface="微软雅黑" pitchFamily="34" charset="-122"/>
                <a:ea typeface="微软雅黑" pitchFamily="34" charset="-122"/>
              </a:rPr>
              <a:t>深绿色区</a:t>
            </a:r>
            <a:r>
              <a:rPr lang="zh-CN" altLang="en-US" sz="1600" b="1" dirty="0">
                <a:latin typeface="微软雅黑" pitchFamily="34" charset="-122"/>
                <a:ea typeface="微软雅黑" pitchFamily="34" charset="-122"/>
              </a:rPr>
              <a:t>表示已播放的部分，其右边界就是现在的播放点。播放点右边的</a:t>
            </a:r>
            <a:r>
              <a:rPr lang="zh-CN" altLang="en-US" sz="1600" b="1" dirty="0" smtClean="0">
                <a:latin typeface="微软雅黑" pitchFamily="34" charset="-122"/>
                <a:ea typeface="微软雅黑" pitchFamily="34" charset="-122"/>
              </a:rPr>
              <a:t>浅绿色区</a:t>
            </a:r>
            <a:r>
              <a:rPr lang="zh-CN" altLang="en-US" sz="1600" b="1" dirty="0">
                <a:latin typeface="微软雅黑" pitchFamily="34" charset="-122"/>
                <a:ea typeface="微软雅黑" pitchFamily="34" charset="-122"/>
              </a:rPr>
              <a:t>表示待播放的部分（已存放在播放缓冲区中），最右边</a:t>
            </a:r>
            <a:r>
              <a:rPr lang="zh-CN" altLang="en-US" sz="1600" b="1" dirty="0" smtClean="0">
                <a:latin typeface="微软雅黑" pitchFamily="34" charset="-122"/>
                <a:ea typeface="微软雅黑" pitchFamily="34" charset="-122"/>
              </a:rPr>
              <a:t>的空白区</a:t>
            </a:r>
            <a:r>
              <a:rPr lang="zh-CN" altLang="en-US" sz="1600" b="1" dirty="0">
                <a:latin typeface="微软雅黑" pitchFamily="34" charset="-122"/>
                <a:ea typeface="微软雅黑" pitchFamily="34" charset="-122"/>
              </a:rPr>
              <a:t>是尚未存入播放缓冲区的部分</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357188" indent="-357188" algn="just" hangingPunct="0">
              <a:lnSpc>
                <a:spcPts val="2400"/>
              </a:lnSpc>
              <a:buClr>
                <a:srgbClr val="0070C0"/>
              </a:buClr>
              <a:buFont typeface="Wingdings" pitchFamily="2" charset="2"/>
              <a:buChar char="l"/>
            </a:pPr>
            <a:r>
              <a:rPr lang="zh-CN" altLang="en-US" sz="1600" b="1" dirty="0" smtClean="0">
                <a:latin typeface="微软雅黑" pitchFamily="34" charset="-122"/>
                <a:ea typeface="微软雅黑" pitchFamily="34" charset="-122"/>
              </a:rPr>
              <a:t>当</a:t>
            </a:r>
            <a:r>
              <a:rPr lang="zh-CN" altLang="en-US" sz="1600" b="1" dirty="0">
                <a:latin typeface="微软雅黑" pitchFamily="34" charset="-122"/>
                <a:ea typeface="微软雅黑" pitchFamily="34" charset="-122"/>
              </a:rPr>
              <a:t>播放视频时</a:t>
            </a:r>
            <a:r>
              <a:rPr lang="zh-CN" altLang="en-US" sz="1600" b="1" dirty="0" smtClean="0">
                <a:latin typeface="微软雅黑" pitchFamily="34" charset="-122"/>
                <a:ea typeface="微软雅黑" pitchFamily="34" charset="-122"/>
              </a:rPr>
              <a:t>，视频</a:t>
            </a:r>
            <a:r>
              <a:rPr lang="zh-CN" altLang="en-US" sz="1600" b="1" dirty="0">
                <a:latin typeface="微软雅黑" pitchFamily="34" charset="-122"/>
                <a:ea typeface="微软雅黑" pitchFamily="34" charset="-122"/>
              </a:rPr>
              <a:t>播放的帧率必须保持恒定，但视频帧存入播放缓冲区的速率是快慢不均匀的</a:t>
            </a:r>
            <a:r>
              <a:rPr lang="zh-CN" altLang="en-US" sz="1600" b="1" dirty="0" smtClean="0">
                <a:latin typeface="微软雅黑" pitchFamily="34" charset="-122"/>
                <a:ea typeface="微软雅黑" pitchFamily="34" charset="-122"/>
              </a:rPr>
              <a:t>。但由于</a:t>
            </a:r>
            <a:r>
              <a:rPr lang="zh-CN" altLang="en-US" sz="1600" b="1" dirty="0">
                <a:latin typeface="微软雅黑" pitchFamily="34" charset="-122"/>
                <a:ea typeface="微软雅黑" pitchFamily="34" charset="-122"/>
              </a:rPr>
              <a:t>播放缓冲区已预先存放了一些视频帧</a:t>
            </a:r>
            <a:r>
              <a:rPr lang="zh-CN" altLang="en-US" sz="1600" b="1" dirty="0" smtClean="0">
                <a:latin typeface="微软雅黑" pitchFamily="34" charset="-122"/>
                <a:ea typeface="微软雅黑" pitchFamily="34" charset="-122"/>
              </a:rPr>
              <a:t>，能够使得播放</a:t>
            </a:r>
            <a:r>
              <a:rPr lang="zh-CN" altLang="en-US" sz="1600" b="1" dirty="0">
                <a:latin typeface="微软雅黑" pitchFamily="34" charset="-122"/>
                <a:ea typeface="微软雅黑" pitchFamily="34" charset="-122"/>
              </a:rPr>
              <a:t>的帧率保持稳定</a:t>
            </a:r>
            <a:r>
              <a:rPr lang="zh-CN" altLang="en-US" sz="1600" b="1" dirty="0" smtClean="0">
                <a:latin typeface="微软雅黑" pitchFamily="34" charset="-122"/>
                <a:ea typeface="微软雅黑" pitchFamily="34" charset="-122"/>
              </a:rPr>
              <a:t>。</a:t>
            </a:r>
            <a:endParaRPr lang="en-US" altLang="zh-CN" sz="1400"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3258229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fade">
                                      <p:cBhvr>
                                        <p:cTn id="12"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36678" y="999995"/>
            <a:ext cx="8053711" cy="2631490"/>
          </a:xfrm>
          <a:prstGeom prst="rect">
            <a:avLst/>
          </a:prstGeom>
        </p:spPr>
        <p:txBody>
          <a:bodyPr wrap="square">
            <a:spAutoFit/>
          </a:bodyPr>
          <a:lstStyle/>
          <a:p>
            <a:pPr marL="357188" indent="-357188"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传统的</a:t>
            </a:r>
            <a:r>
              <a:rPr lang="zh-CN" altLang="en-US" sz="2000" b="1" dirty="0" smtClean="0">
                <a:latin typeface="微软雅黑" pitchFamily="34" charset="-122"/>
                <a:ea typeface="微软雅黑" pitchFamily="34" charset="-122"/>
              </a:rPr>
              <a:t>多媒体传输协议包括</a:t>
            </a:r>
            <a:r>
              <a:rPr lang="en-US" altLang="zh-CN" sz="2000" b="1" dirty="0" smtClean="0">
                <a:latin typeface="微软雅黑" pitchFamily="34" charset="-122"/>
                <a:ea typeface="微软雅黑" pitchFamily="34" charset="-122"/>
              </a:rPr>
              <a:t>RTP/RTCP</a:t>
            </a:r>
            <a:r>
              <a:rPr lang="zh-CN" altLang="en-US" sz="2000" b="1" dirty="0">
                <a:latin typeface="微软雅黑" pitchFamily="34" charset="-122"/>
                <a:ea typeface="微软雅黑" pitchFamily="34" charset="-122"/>
              </a:rPr>
              <a:t>和</a:t>
            </a:r>
            <a:r>
              <a:rPr lang="en-US" altLang="zh-CN" sz="2000" b="1" dirty="0" smtClean="0">
                <a:latin typeface="微软雅黑" pitchFamily="34" charset="-122"/>
                <a:ea typeface="微软雅黑" pitchFamily="34" charset="-122"/>
              </a:rPr>
              <a:t>RTSP</a:t>
            </a:r>
            <a:r>
              <a:rPr lang="zh-CN" altLang="en-US" sz="2000" b="1" dirty="0">
                <a:latin typeface="微软雅黑" pitchFamily="34" charset="-122"/>
                <a:ea typeface="微软雅黑" pitchFamily="34" charset="-122"/>
              </a:rPr>
              <a:t>等，这些</a:t>
            </a:r>
            <a:r>
              <a:rPr lang="zh-CN" altLang="en-US" sz="2000" b="1" dirty="0" smtClean="0">
                <a:latin typeface="微软雅黑" pitchFamily="34" charset="-122"/>
                <a:ea typeface="微软雅黑" pitchFamily="34" charset="-122"/>
              </a:rPr>
              <a:t>协议的</a:t>
            </a:r>
            <a:r>
              <a:rPr lang="zh-CN" altLang="en-US" sz="2000" b="1" dirty="0">
                <a:latin typeface="微软雅黑" pitchFamily="34" charset="-122"/>
                <a:ea typeface="微软雅黑" pitchFamily="34" charset="-122"/>
              </a:rPr>
              <a:t>历史悠久，从</a:t>
            </a:r>
            <a:r>
              <a:rPr lang="en-US" altLang="zh-CN" sz="2000" b="1" dirty="0">
                <a:latin typeface="微软雅黑" pitchFamily="34" charset="-122"/>
                <a:ea typeface="微软雅黑" pitchFamily="34" charset="-122"/>
              </a:rPr>
              <a:t>1996</a:t>
            </a:r>
            <a:r>
              <a:rPr lang="zh-CN" altLang="en-US" sz="2000" b="1" dirty="0">
                <a:latin typeface="微软雅黑" pitchFamily="34" charset="-122"/>
                <a:ea typeface="微软雅黑" pitchFamily="34" charset="-122"/>
              </a:rPr>
              <a:t>年起就被广泛使用，在</a:t>
            </a:r>
            <a:r>
              <a:rPr lang="zh-CN" altLang="en-US" sz="2000" b="1" dirty="0" smtClean="0">
                <a:latin typeface="微软雅黑" pitchFamily="34" charset="-122"/>
                <a:ea typeface="微软雅黑" pitchFamily="34" charset="-122"/>
              </a:rPr>
              <a:t>过去</a:t>
            </a:r>
            <a:r>
              <a:rPr lang="zh-CN" altLang="en-US" sz="2000" b="1" dirty="0">
                <a:latin typeface="微软雅黑" pitchFamily="34" charset="-122"/>
                <a:ea typeface="微软雅黑" pitchFamily="34" charset="-122"/>
              </a:rPr>
              <a:t>很长</a:t>
            </a:r>
            <a:r>
              <a:rPr lang="zh-CN" altLang="en-US" sz="2000" b="1" dirty="0" smtClean="0">
                <a:latin typeface="微软雅黑" pitchFamily="34" charset="-122"/>
                <a:ea typeface="微软雅黑" pitchFamily="34" charset="-122"/>
              </a:rPr>
              <a:t>时间</a:t>
            </a:r>
            <a:r>
              <a:rPr lang="zh-CN" altLang="en-US" sz="2000" b="1" dirty="0">
                <a:latin typeface="微软雅黑" pitchFamily="34" charset="-122"/>
                <a:ea typeface="微软雅黑" pitchFamily="34" charset="-122"/>
              </a:rPr>
              <a:t>内作为多媒体传输的核心技术，提供了互联网的端到端实时数据传输</a:t>
            </a:r>
            <a:r>
              <a:rPr lang="zh-CN" altLang="en-US" sz="2000" b="1" dirty="0" smtClean="0">
                <a:latin typeface="微软雅黑" pitchFamily="34" charset="-122"/>
                <a:ea typeface="微软雅黑" pitchFamily="34" charset="-122"/>
              </a:rPr>
              <a:t>服务。</a:t>
            </a:r>
            <a:endParaRPr lang="en-US" altLang="zh-CN" sz="2000" b="1" dirty="0">
              <a:latin typeface="微软雅黑" pitchFamily="34" charset="-122"/>
              <a:ea typeface="微软雅黑" pitchFamily="34" charset="-122"/>
            </a:endParaRPr>
          </a:p>
          <a:p>
            <a:pPr marL="814388" lvl="1" indent="-357188" algn="just" hangingPunct="0">
              <a:lnSpc>
                <a:spcPts val="33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实时传输协议</a:t>
            </a:r>
            <a:r>
              <a:rPr lang="en-US" altLang="zh-CN" b="1" dirty="0">
                <a:solidFill>
                  <a:srgbClr val="C00000"/>
                </a:solidFill>
                <a:latin typeface="微软雅黑" pitchFamily="34" charset="-122"/>
                <a:ea typeface="微软雅黑" pitchFamily="34" charset="-122"/>
              </a:rPr>
              <a:t>RTP</a:t>
            </a:r>
            <a:r>
              <a:rPr lang="en-US" altLang="zh-CN" b="1" dirty="0">
                <a:latin typeface="微软雅黑" pitchFamily="34" charset="-122"/>
                <a:ea typeface="微软雅黑" pitchFamily="34" charset="-122"/>
              </a:rPr>
              <a:t> (Real-time Transport Protocol</a:t>
            </a:r>
            <a:r>
              <a:rPr lang="en-US" altLang="zh-CN" b="1" dirty="0" smtClean="0">
                <a:latin typeface="微软雅黑" pitchFamily="34" charset="-122"/>
                <a:ea typeface="微软雅黑" pitchFamily="34" charset="-122"/>
              </a:rPr>
              <a:t>)</a:t>
            </a:r>
          </a:p>
          <a:p>
            <a:pPr marL="814388" lvl="1" indent="-357188" algn="just" hangingPunct="0">
              <a:lnSpc>
                <a:spcPts val="3300"/>
              </a:lnSpc>
              <a:buClr>
                <a:srgbClr val="0070C0"/>
              </a:buClr>
              <a:buFont typeface="Wingdings" pitchFamily="2" charset="2"/>
              <a:buChar char="l"/>
            </a:pPr>
            <a:r>
              <a:rPr lang="en-US" altLang="zh-CN" b="1" dirty="0">
                <a:solidFill>
                  <a:srgbClr val="C00000"/>
                </a:solidFill>
                <a:latin typeface="微软雅黑" pitchFamily="34" charset="-122"/>
                <a:ea typeface="微软雅黑" pitchFamily="34" charset="-122"/>
              </a:rPr>
              <a:t>RTP</a:t>
            </a:r>
            <a:r>
              <a:rPr lang="zh-CN" altLang="en-US" b="1" dirty="0">
                <a:solidFill>
                  <a:srgbClr val="C00000"/>
                </a:solidFill>
                <a:latin typeface="微软雅黑" pitchFamily="34" charset="-122"/>
                <a:ea typeface="微软雅黑" pitchFamily="34" charset="-122"/>
              </a:rPr>
              <a:t>控制协议</a:t>
            </a:r>
            <a:r>
              <a:rPr lang="en-US" altLang="zh-CN" b="1" dirty="0">
                <a:solidFill>
                  <a:srgbClr val="C00000"/>
                </a:solidFill>
                <a:latin typeface="微软雅黑" pitchFamily="34" charset="-122"/>
                <a:ea typeface="微软雅黑" pitchFamily="34" charset="-122"/>
              </a:rPr>
              <a:t>RTCP </a:t>
            </a:r>
            <a:r>
              <a:rPr lang="en-US" altLang="zh-CN" b="1" dirty="0">
                <a:latin typeface="微软雅黑" pitchFamily="34" charset="-122"/>
                <a:ea typeface="微软雅黑" pitchFamily="34" charset="-122"/>
              </a:rPr>
              <a:t>(RTP Control Protocol</a:t>
            </a:r>
            <a:r>
              <a:rPr lang="en-US" altLang="zh-CN" b="1" dirty="0" smtClean="0">
                <a:latin typeface="微软雅黑" pitchFamily="34" charset="-122"/>
                <a:ea typeface="微软雅黑" pitchFamily="34" charset="-122"/>
              </a:rPr>
              <a:t>)</a:t>
            </a:r>
          </a:p>
          <a:p>
            <a:pPr marL="814388" lvl="1" indent="-357188" algn="just" hangingPunct="0">
              <a:lnSpc>
                <a:spcPts val="33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实时流协议</a:t>
            </a:r>
            <a:r>
              <a:rPr lang="en-US" altLang="zh-CN" b="1" dirty="0">
                <a:solidFill>
                  <a:srgbClr val="C00000"/>
                </a:solidFill>
                <a:latin typeface="微软雅黑" pitchFamily="34" charset="-122"/>
                <a:ea typeface="微软雅黑" pitchFamily="34" charset="-122"/>
              </a:rPr>
              <a:t>RTSP </a:t>
            </a:r>
            <a:r>
              <a:rPr lang="en-US" altLang="zh-CN" b="1" dirty="0">
                <a:latin typeface="微软雅黑" pitchFamily="34" charset="-122"/>
                <a:ea typeface="微软雅黑" pitchFamily="34" charset="-122"/>
              </a:rPr>
              <a:t>(Real-Time Streaming Protocol)</a:t>
            </a:r>
            <a:endParaRPr lang="en-US" altLang="zh-CN"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940788" y="569848"/>
            <a:ext cx="32624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smtClean="0">
                <a:solidFill>
                  <a:schemeClr val="bg1"/>
                </a:solidFill>
                <a:latin typeface="微软雅黑" pitchFamily="34" charset="-122"/>
                <a:ea typeface="微软雅黑" pitchFamily="34" charset="-122"/>
              </a:rPr>
              <a:t>传统</a:t>
            </a:r>
            <a:r>
              <a:rPr lang="zh-CN" altLang="en-US" sz="2400" b="1" dirty="0">
                <a:solidFill>
                  <a:schemeClr val="bg1"/>
                </a:solidFill>
                <a:latin typeface="微软雅黑" pitchFamily="34" charset="-122"/>
                <a:ea typeface="微软雅黑" pitchFamily="34" charset="-122"/>
              </a:rPr>
              <a:t>的多媒体传输协议</a:t>
            </a:r>
          </a:p>
        </p:txBody>
      </p:sp>
    </p:spTree>
    <p:custDataLst>
      <p:tags r:id="rId1"/>
    </p:custDataLst>
    <p:extLst>
      <p:ext uri="{BB962C8B-B14F-4D97-AF65-F5344CB8AC3E}">
        <p14:creationId xmlns:p14="http://schemas.microsoft.com/office/powerpoint/2010/main" val="4902942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500"/>
                                        <p:tgtEl>
                                          <p:spTgt spid="8">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xEl>
                                              <p:pRg st="2" end="2"/>
                                            </p:txEl>
                                          </p:spTgt>
                                        </p:tgtEl>
                                        <p:attrNameLst>
                                          <p:attrName>style.visibility</p:attrName>
                                        </p:attrNameLst>
                                      </p:cBhvr>
                                      <p:to>
                                        <p:strVal val="visible"/>
                                      </p:to>
                                    </p:set>
                                    <p:animEffect transition="in" filter="fade">
                                      <p:cBhvr>
                                        <p:cTn id="10" dur="500"/>
                                        <p:tgtEl>
                                          <p:spTgt spid="8">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animEffect transition="in" filter="fade">
                                      <p:cBhvr>
                                        <p:cTn id="13"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7383"/>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213852" y="591919"/>
            <a:ext cx="27251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实时传输协议 </a:t>
            </a:r>
            <a:r>
              <a:rPr lang="en-US" altLang="zh-CN" sz="2400" b="1" dirty="0">
                <a:solidFill>
                  <a:schemeClr val="bg1"/>
                </a:solidFill>
                <a:latin typeface="微软雅黑" pitchFamily="34" charset="-122"/>
                <a:ea typeface="微软雅黑" pitchFamily="34" charset="-122"/>
              </a:rPr>
              <a:t>RTP</a:t>
            </a:r>
          </a:p>
        </p:txBody>
      </p:sp>
      <p:sp>
        <p:nvSpPr>
          <p:cNvPr id="4" name="Rectangle 8"/>
          <p:cNvSpPr>
            <a:spLocks noChangeArrowheads="1"/>
          </p:cNvSpPr>
          <p:nvPr/>
        </p:nvSpPr>
        <p:spPr bwMode="auto">
          <a:xfrm>
            <a:off x="511896" y="1036865"/>
            <a:ext cx="8129016"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实时传输协议 </a:t>
            </a:r>
            <a:r>
              <a:rPr lang="en-US" altLang="zh-CN" sz="2000" b="1" dirty="0">
                <a:solidFill>
                  <a:srgbClr val="C00000"/>
                </a:solidFill>
                <a:latin typeface="微软雅黑" pitchFamily="34" charset="-122"/>
                <a:ea typeface="微软雅黑" pitchFamily="34" charset="-122"/>
              </a:rPr>
              <a:t>RTP </a:t>
            </a:r>
            <a:r>
              <a:rPr lang="en-US" altLang="zh-CN" sz="2000" b="1" dirty="0">
                <a:latin typeface="微软雅黑" pitchFamily="34" charset="-122"/>
                <a:ea typeface="微软雅黑" pitchFamily="34" charset="-122"/>
              </a:rPr>
              <a:t>(Real-time Transport Protocol) </a:t>
            </a:r>
            <a:r>
              <a:rPr lang="zh-CN" altLang="en-US" sz="2000" b="1" dirty="0">
                <a:latin typeface="微软雅黑" pitchFamily="34" charset="-122"/>
                <a:ea typeface="微软雅黑" pitchFamily="34" charset="-122"/>
              </a:rPr>
              <a:t>为实时应用提供</a:t>
            </a:r>
            <a:r>
              <a:rPr lang="zh-CN" altLang="en-US" sz="2000" b="1" dirty="0">
                <a:solidFill>
                  <a:srgbClr val="0000FF"/>
                </a:solidFill>
                <a:latin typeface="微软雅黑" pitchFamily="34" charset="-122"/>
                <a:ea typeface="微软雅黑" pitchFamily="34" charset="-122"/>
              </a:rPr>
              <a:t>端到</a:t>
            </a:r>
            <a:r>
              <a:rPr lang="zh-CN" altLang="en-US" sz="2000" b="1" dirty="0" smtClean="0">
                <a:solidFill>
                  <a:srgbClr val="0000FF"/>
                </a:solidFill>
                <a:latin typeface="微软雅黑" pitchFamily="34" charset="-122"/>
                <a:ea typeface="微软雅黑" pitchFamily="34" charset="-122"/>
              </a:rPr>
              <a:t>端</a:t>
            </a:r>
            <a:r>
              <a:rPr lang="zh-CN" altLang="en-US" sz="2000" b="1" dirty="0" smtClean="0">
                <a:latin typeface="微软雅黑" pitchFamily="34" charset="-122"/>
                <a:ea typeface="微软雅黑" pitchFamily="34" charset="-122"/>
              </a:rPr>
              <a:t>的传输，</a:t>
            </a:r>
            <a:r>
              <a:rPr lang="zh-CN" altLang="en-US" sz="2000" b="1" dirty="0">
                <a:latin typeface="微软雅黑" pitchFamily="34" charset="-122"/>
                <a:ea typeface="微软雅黑" pitchFamily="34" charset="-122"/>
              </a:rPr>
              <a:t>但</a:t>
            </a:r>
            <a:r>
              <a:rPr lang="zh-CN" altLang="en-US" sz="2000" b="1" dirty="0">
                <a:solidFill>
                  <a:srgbClr val="C00000"/>
                </a:solidFill>
                <a:latin typeface="微软雅黑" pitchFamily="34" charset="-122"/>
                <a:ea typeface="微软雅黑" pitchFamily="34" charset="-122"/>
              </a:rPr>
              <a:t>不提供</a:t>
            </a:r>
            <a:r>
              <a:rPr lang="zh-CN" altLang="en-US" sz="2000" b="1" dirty="0">
                <a:latin typeface="微软雅黑" pitchFamily="34" charset="-122"/>
                <a:ea typeface="微软雅黑" pitchFamily="34" charset="-122"/>
              </a:rPr>
              <a:t>任何服务质量的保证</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需要发送的多媒体数据块（音频</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视频）经过压缩编码处理后，先</a:t>
            </a:r>
            <a:r>
              <a:rPr lang="zh-CN" altLang="en-US" sz="2000" b="1" dirty="0" smtClean="0">
                <a:latin typeface="微软雅黑" pitchFamily="34" charset="-122"/>
                <a:ea typeface="微软雅黑" pitchFamily="34" charset="-122"/>
              </a:rPr>
              <a:t>送给 </a:t>
            </a: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封装成为 </a:t>
            </a:r>
            <a:r>
              <a:rPr lang="en-US" altLang="zh-CN" sz="2000" b="1" dirty="0" smtClean="0">
                <a:solidFill>
                  <a:srgbClr val="C00000"/>
                </a:solidFill>
                <a:latin typeface="微软雅黑" pitchFamily="34" charset="-122"/>
                <a:ea typeface="微软雅黑" pitchFamily="34" charset="-122"/>
              </a:rPr>
              <a:t>RTP </a:t>
            </a:r>
            <a:r>
              <a:rPr lang="zh-CN" altLang="en-US" sz="2000" b="1" dirty="0" smtClean="0">
                <a:solidFill>
                  <a:srgbClr val="C00000"/>
                </a:solidFill>
                <a:latin typeface="微软雅黑" pitchFamily="34" charset="-122"/>
                <a:ea typeface="微软雅黑" pitchFamily="34" charset="-122"/>
              </a:rPr>
              <a:t>分组</a:t>
            </a:r>
            <a:r>
              <a:rPr lang="zh-CN" altLang="en-US" sz="2000" b="1" dirty="0">
                <a:latin typeface="微软雅黑" pitchFamily="34" charset="-122"/>
                <a:ea typeface="微软雅黑" pitchFamily="34" charset="-122"/>
              </a:rPr>
              <a:t>（也可</a:t>
            </a:r>
            <a:r>
              <a:rPr lang="zh-CN" altLang="en-US" sz="2000" b="1" dirty="0" smtClean="0">
                <a:latin typeface="微软雅黑" pitchFamily="34" charset="-122"/>
                <a:ea typeface="微软雅黑" pitchFamily="34" charset="-122"/>
              </a:rPr>
              <a:t>称为 </a:t>
            </a: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报文 </a:t>
            </a:r>
            <a:r>
              <a:rPr lang="zh-CN" altLang="en-US" sz="2000" b="1" dirty="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分组装入传输层的 </a:t>
            </a:r>
            <a:r>
              <a:rPr lang="en-US" altLang="zh-CN" sz="2000" b="1" dirty="0" smtClean="0">
                <a:solidFill>
                  <a:srgbClr val="C00000"/>
                </a:solidFill>
                <a:latin typeface="微软雅黑" pitchFamily="34" charset="-122"/>
                <a:ea typeface="微软雅黑" pitchFamily="34" charset="-122"/>
              </a:rPr>
              <a:t>UDP</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用户</a:t>
            </a:r>
            <a:r>
              <a:rPr lang="zh-CN" altLang="en-US" sz="2000" b="1" dirty="0">
                <a:latin typeface="微软雅黑" pitchFamily="34" charset="-122"/>
                <a:ea typeface="微软雅黑" pitchFamily="34" charset="-122"/>
              </a:rPr>
              <a:t>数据报后，再向下递交</a:t>
            </a:r>
            <a:r>
              <a:rPr lang="zh-CN" altLang="en-US" sz="2000" b="1" dirty="0" smtClean="0">
                <a:latin typeface="微软雅黑" pitchFamily="34" charset="-122"/>
                <a:ea typeface="微软雅黑" pitchFamily="34" charset="-122"/>
              </a:rPr>
              <a:t>给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层</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RTP </a:t>
            </a:r>
            <a:r>
              <a:rPr lang="zh-CN" altLang="en-US" sz="2000" b="1" dirty="0" smtClean="0">
                <a:solidFill>
                  <a:srgbClr val="C00000"/>
                </a:solidFill>
                <a:latin typeface="微软雅黑" pitchFamily="34" charset="-122"/>
                <a:ea typeface="微软雅黑" pitchFamily="34" charset="-122"/>
              </a:rPr>
              <a:t>不对</a:t>
            </a:r>
            <a:r>
              <a:rPr lang="zh-CN" altLang="en-US" sz="2000" b="1" dirty="0">
                <a:latin typeface="微软雅黑" pitchFamily="34" charset="-122"/>
                <a:ea typeface="微软雅黑" pitchFamily="34" charset="-122"/>
              </a:rPr>
              <a:t>多媒体数据块做任何处理，而只是向应用层提供一些附加的信息，让应用层知道应当如何进行处理。 </a:t>
            </a:r>
          </a:p>
        </p:txBody>
      </p:sp>
    </p:spTree>
    <p:custDataLst>
      <p:tags r:id="rId1"/>
    </p:custDataLst>
    <p:extLst>
      <p:ext uri="{BB962C8B-B14F-4D97-AF65-F5344CB8AC3E}">
        <p14:creationId xmlns:p14="http://schemas.microsoft.com/office/powerpoint/2010/main" val="34909614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圆角矩形 32"/>
          <p:cNvSpPr/>
          <p:nvPr/>
        </p:nvSpPr>
        <p:spPr>
          <a:xfrm>
            <a:off x="4584701" y="1063960"/>
            <a:ext cx="4044950" cy="31614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4" y="1028222"/>
            <a:ext cx="384526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gn="just"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从应用开发者的角度看，</a:t>
            </a:r>
            <a:r>
              <a:rPr lang="en-US" altLang="zh-CN" sz="2000" b="1" dirty="0">
                <a:latin typeface="微软雅黑" pitchFamily="34" charset="-122"/>
                <a:ea typeface="微软雅黑" pitchFamily="34" charset="-122"/>
              </a:rPr>
              <a:t>RTP </a:t>
            </a:r>
            <a:r>
              <a:rPr lang="zh-CN" altLang="en-US" sz="2000" b="1" dirty="0">
                <a:latin typeface="微软雅黑" pitchFamily="34" charset="-122"/>
                <a:ea typeface="微软雅黑" pitchFamily="34" charset="-122"/>
              </a:rPr>
              <a:t>应当是</a:t>
            </a:r>
            <a:r>
              <a:rPr lang="zh-CN" altLang="en-US" sz="2000" b="1" dirty="0">
                <a:solidFill>
                  <a:srgbClr val="C00000"/>
                </a:solidFill>
                <a:latin typeface="微软雅黑" pitchFamily="34" charset="-122"/>
                <a:ea typeface="微软雅黑" pitchFamily="34" charset="-122"/>
              </a:rPr>
              <a:t>应用层的一部分</a:t>
            </a:r>
            <a:r>
              <a:rPr lang="zh-CN" altLang="en-US" sz="2000" b="1" dirty="0">
                <a:latin typeface="微软雅黑" pitchFamily="34" charset="-122"/>
                <a:ea typeface="微软雅黑" pitchFamily="34" charset="-122"/>
              </a:rPr>
              <a:t>。</a:t>
            </a:r>
          </a:p>
          <a:p>
            <a:pPr marL="342900" indent="-34290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由于 </a:t>
            </a:r>
            <a:r>
              <a:rPr lang="en-US" altLang="zh-CN" sz="2000" b="1" dirty="0">
                <a:latin typeface="微软雅黑" pitchFamily="34" charset="-122"/>
                <a:ea typeface="微软雅黑" pitchFamily="34" charset="-122"/>
              </a:rPr>
              <a:t>RTP </a:t>
            </a:r>
            <a:r>
              <a:rPr lang="zh-CN" altLang="en-US" sz="2000" b="1" dirty="0">
                <a:latin typeface="微软雅黑" pitchFamily="34" charset="-122"/>
                <a:ea typeface="微软雅黑" pitchFamily="34" charset="-122"/>
              </a:rPr>
              <a:t>向多媒体应用程序提供了服务（如时间戳和序号），因此也</a:t>
            </a:r>
            <a:r>
              <a:rPr lang="zh-CN" altLang="en-US" sz="2000" b="1" dirty="0">
                <a:solidFill>
                  <a:srgbClr val="C00000"/>
                </a:solidFill>
                <a:latin typeface="微软雅黑" pitchFamily="34" charset="-122"/>
                <a:ea typeface="微软雅黑" pitchFamily="34" charset="-122"/>
              </a:rPr>
              <a:t>可以将 </a:t>
            </a:r>
            <a:r>
              <a:rPr lang="en-US" altLang="zh-CN" sz="2000" b="1" dirty="0">
                <a:solidFill>
                  <a:srgbClr val="C00000"/>
                </a:solidFill>
                <a:latin typeface="微软雅黑" pitchFamily="34" charset="-122"/>
                <a:ea typeface="微软雅黑" pitchFamily="34" charset="-122"/>
              </a:rPr>
              <a:t>RTP </a:t>
            </a:r>
            <a:r>
              <a:rPr lang="zh-CN" altLang="en-US" sz="2000" b="1" dirty="0">
                <a:solidFill>
                  <a:srgbClr val="C00000"/>
                </a:solidFill>
                <a:latin typeface="微软雅黑" pitchFamily="34" charset="-122"/>
                <a:ea typeface="微软雅黑" pitchFamily="34" charset="-122"/>
              </a:rPr>
              <a:t>看成是在 </a:t>
            </a:r>
            <a:r>
              <a:rPr lang="en-US" altLang="zh-CN" sz="2000" b="1" dirty="0">
                <a:solidFill>
                  <a:srgbClr val="C00000"/>
                </a:solidFill>
                <a:latin typeface="微软雅黑" pitchFamily="34" charset="-122"/>
                <a:ea typeface="微软雅黑" pitchFamily="34" charset="-122"/>
              </a:rPr>
              <a:t>UDP </a:t>
            </a:r>
            <a:r>
              <a:rPr lang="zh-CN" altLang="en-US" sz="2000" b="1" dirty="0">
                <a:solidFill>
                  <a:srgbClr val="C00000"/>
                </a:solidFill>
                <a:latin typeface="微软雅黑" pitchFamily="34" charset="-122"/>
                <a:ea typeface="微软雅黑" pitchFamily="34" charset="-122"/>
              </a:rPr>
              <a:t>之上的一</a:t>
            </a:r>
            <a:r>
              <a:rPr lang="zh-CN" altLang="en-US" sz="2000" b="1" dirty="0" smtClean="0">
                <a:solidFill>
                  <a:srgbClr val="C00000"/>
                </a:solidFill>
                <a:latin typeface="微软雅黑" pitchFamily="34" charset="-122"/>
                <a:ea typeface="微软雅黑" pitchFamily="34" charset="-122"/>
              </a:rPr>
              <a:t>个传输层</a:t>
            </a:r>
            <a:r>
              <a:rPr lang="zh-CN" altLang="en-US" sz="2000" b="1" dirty="0">
                <a:solidFill>
                  <a:srgbClr val="C00000"/>
                </a:solidFill>
                <a:latin typeface="微软雅黑" pitchFamily="34" charset="-122"/>
                <a:ea typeface="微软雅黑" pitchFamily="34" charset="-122"/>
              </a:rPr>
              <a:t>的子层</a:t>
            </a:r>
            <a:r>
              <a:rPr lang="zh-CN" altLang="en-US" sz="2000" b="1" dirty="0">
                <a:latin typeface="微软雅黑" pitchFamily="34" charset="-122"/>
                <a:ea typeface="微软雅黑" pitchFamily="34" charset="-122"/>
              </a:rPr>
              <a:t>。 </a:t>
            </a:r>
          </a:p>
        </p:txBody>
      </p:sp>
      <p:sp>
        <p:nvSpPr>
          <p:cNvPr id="7" name="Line 13"/>
          <p:cNvSpPr>
            <a:spLocks noChangeShapeType="1"/>
          </p:cNvSpPr>
          <p:nvPr/>
        </p:nvSpPr>
        <p:spPr bwMode="auto">
          <a:xfrm>
            <a:off x="5086483" y="1996959"/>
            <a:ext cx="0" cy="694052"/>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27"/>
          <p:cNvSpPr>
            <a:spLocks noChangeShapeType="1"/>
          </p:cNvSpPr>
          <p:nvPr/>
        </p:nvSpPr>
        <p:spPr bwMode="auto">
          <a:xfrm>
            <a:off x="4747886" y="2007957"/>
            <a:ext cx="439694"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28"/>
          <p:cNvSpPr>
            <a:spLocks noChangeShapeType="1"/>
          </p:cNvSpPr>
          <p:nvPr/>
        </p:nvSpPr>
        <p:spPr bwMode="auto">
          <a:xfrm>
            <a:off x="4747886" y="2702008"/>
            <a:ext cx="439694"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Text Box 14"/>
          <p:cNvSpPr txBox="1">
            <a:spLocks noChangeArrowheads="1"/>
          </p:cNvSpPr>
          <p:nvPr/>
        </p:nvSpPr>
        <p:spPr bwMode="auto">
          <a:xfrm>
            <a:off x="4791039" y="1975440"/>
            <a:ext cx="262109" cy="738664"/>
          </a:xfrm>
          <a:prstGeom prst="rect">
            <a:avLst/>
          </a:prstGeom>
          <a:noFill/>
          <a:ln>
            <a:noFill/>
          </a:ln>
          <a:effectLst/>
          <a:extLst/>
        </p:spPr>
        <p:txBody>
          <a:bodyPr wrap="square" anchor="ctr">
            <a:spAutoFit/>
          </a:bodyPr>
          <a:lstStyle/>
          <a:p>
            <a:pPr algn="ctr"/>
            <a:r>
              <a:rPr kumimoji="1" lang="zh-CN" altLang="en-US" sz="1400" b="1" dirty="0" smtClean="0">
                <a:latin typeface="微软雅黑" pitchFamily="34" charset="-122"/>
                <a:ea typeface="微软雅黑" pitchFamily="34" charset="-122"/>
              </a:rPr>
              <a:t>传输层</a:t>
            </a:r>
            <a:endParaRPr kumimoji="1" lang="zh-CN" altLang="en-US" sz="1400" b="1" dirty="0">
              <a:latin typeface="微软雅黑" pitchFamily="34" charset="-122"/>
              <a:ea typeface="微软雅黑" pitchFamily="34" charset="-122"/>
            </a:endParaRPr>
          </a:p>
        </p:txBody>
      </p:sp>
      <p:sp>
        <p:nvSpPr>
          <p:cNvPr id="27" name="Line 13"/>
          <p:cNvSpPr>
            <a:spLocks noChangeShapeType="1"/>
          </p:cNvSpPr>
          <p:nvPr/>
        </p:nvSpPr>
        <p:spPr bwMode="auto">
          <a:xfrm>
            <a:off x="8174061" y="1643238"/>
            <a:ext cx="0" cy="694052"/>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8069390" y="1654236"/>
            <a:ext cx="439694"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8"/>
          <p:cNvSpPr>
            <a:spLocks noChangeShapeType="1"/>
          </p:cNvSpPr>
          <p:nvPr/>
        </p:nvSpPr>
        <p:spPr bwMode="auto">
          <a:xfrm>
            <a:off x="8069390" y="2348287"/>
            <a:ext cx="439694"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Text Box 14"/>
          <p:cNvSpPr txBox="1">
            <a:spLocks noChangeArrowheads="1"/>
          </p:cNvSpPr>
          <p:nvPr/>
        </p:nvSpPr>
        <p:spPr bwMode="auto">
          <a:xfrm>
            <a:off x="8211001" y="1621423"/>
            <a:ext cx="237801" cy="738664"/>
          </a:xfrm>
          <a:prstGeom prst="rect">
            <a:avLst/>
          </a:prstGeom>
          <a:noFill/>
          <a:ln>
            <a:noFill/>
          </a:ln>
          <a:effectLst/>
          <a:extLst/>
        </p:spPr>
        <p:txBody>
          <a:bodyPr wrap="square" anchor="ctr">
            <a:spAutoFit/>
          </a:bodyPr>
          <a:lstStyle/>
          <a:p>
            <a:pPr algn="ctr"/>
            <a:r>
              <a:rPr kumimoji="1" lang="zh-CN" altLang="en-US" sz="1400" b="1" dirty="0">
                <a:latin typeface="微软雅黑" pitchFamily="34" charset="-122"/>
                <a:ea typeface="微软雅黑" pitchFamily="34" charset="-122"/>
              </a:rPr>
              <a:t>应用</a:t>
            </a:r>
            <a:r>
              <a:rPr kumimoji="1" lang="zh-CN" altLang="en-US" sz="1400" b="1" dirty="0" smtClean="0">
                <a:latin typeface="微软雅黑" pitchFamily="34" charset="-122"/>
                <a:ea typeface="微软雅黑" pitchFamily="34" charset="-122"/>
              </a:rPr>
              <a:t>层</a:t>
            </a:r>
            <a:endParaRPr kumimoji="1" lang="zh-CN" altLang="en-US" sz="1400" b="1" dirty="0">
              <a:latin typeface="微软雅黑" pitchFamily="34" charset="-122"/>
              <a:ea typeface="微软雅黑" pitchFamily="34" charset="-122"/>
            </a:endParaRPr>
          </a:p>
        </p:txBody>
      </p:sp>
      <p:sp>
        <p:nvSpPr>
          <p:cNvPr id="5" name="Rectangle 15"/>
          <p:cNvSpPr>
            <a:spLocks noChangeArrowheads="1"/>
          </p:cNvSpPr>
          <p:nvPr/>
        </p:nvSpPr>
        <p:spPr bwMode="auto">
          <a:xfrm>
            <a:off x="5283108" y="1660382"/>
            <a:ext cx="2706236" cy="2083254"/>
          </a:xfrm>
          <a:prstGeom prst="rect">
            <a:avLst/>
          </a:prstGeom>
          <a:solidFill>
            <a:srgbClr val="66FFFF"/>
          </a:solidFill>
          <a:ln w="19050">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6" name="Rectangle 30"/>
          <p:cNvSpPr>
            <a:spLocks noChangeArrowheads="1"/>
          </p:cNvSpPr>
          <p:nvPr/>
        </p:nvSpPr>
        <p:spPr bwMode="auto">
          <a:xfrm>
            <a:off x="5299432" y="2001912"/>
            <a:ext cx="2672578" cy="342073"/>
          </a:xfrm>
          <a:prstGeom prst="rect">
            <a:avLst/>
          </a:prstGeom>
          <a:solidFill>
            <a:srgbClr val="FFCC00"/>
          </a:solidFill>
          <a:ln>
            <a:noFill/>
          </a:ln>
          <a:effectLst/>
          <a:extLst/>
        </p:spPr>
        <p:txBody>
          <a:bodyPr wrap="none" anchor="ctr"/>
          <a:lstStyle/>
          <a:p>
            <a:endParaRPr lang="zh-CN" altLang="en-US" sz="1400" b="1">
              <a:latin typeface="微软雅黑" pitchFamily="34" charset="-122"/>
              <a:ea typeface="微软雅黑" pitchFamily="34" charset="-122"/>
            </a:endParaRPr>
          </a:p>
        </p:txBody>
      </p:sp>
      <p:sp>
        <p:nvSpPr>
          <p:cNvPr id="9" name="Text Box 16"/>
          <p:cNvSpPr txBox="1">
            <a:spLocks noChangeArrowheads="1"/>
          </p:cNvSpPr>
          <p:nvPr/>
        </p:nvSpPr>
        <p:spPr bwMode="auto">
          <a:xfrm>
            <a:off x="6387761" y="166478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zh-CN" altLang="en-US" sz="1400" b="1" dirty="0" smtClean="0">
                <a:latin typeface="微软雅黑" pitchFamily="34" charset="-122"/>
                <a:ea typeface="微软雅黑" pitchFamily="34" charset="-122"/>
              </a:rPr>
              <a:t>应用</a:t>
            </a:r>
            <a:endParaRPr kumimoji="1" lang="zh-CN" altLang="en-US" sz="1400" b="1" dirty="0">
              <a:latin typeface="微软雅黑" pitchFamily="34" charset="-122"/>
              <a:ea typeface="微软雅黑" pitchFamily="34" charset="-122"/>
            </a:endParaRPr>
          </a:p>
        </p:txBody>
      </p:sp>
      <p:sp>
        <p:nvSpPr>
          <p:cNvPr id="10" name="Line 17"/>
          <p:cNvSpPr>
            <a:spLocks noChangeShapeType="1"/>
          </p:cNvSpPr>
          <p:nvPr/>
        </p:nvSpPr>
        <p:spPr bwMode="auto">
          <a:xfrm>
            <a:off x="5283107" y="2007957"/>
            <a:ext cx="27062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18"/>
          <p:cNvSpPr>
            <a:spLocks noChangeShapeType="1"/>
          </p:cNvSpPr>
          <p:nvPr/>
        </p:nvSpPr>
        <p:spPr bwMode="auto">
          <a:xfrm>
            <a:off x="5283107" y="2354434"/>
            <a:ext cx="2706237"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9"/>
          <p:cNvSpPr>
            <a:spLocks noChangeShapeType="1"/>
          </p:cNvSpPr>
          <p:nvPr/>
        </p:nvSpPr>
        <p:spPr bwMode="auto">
          <a:xfrm>
            <a:off x="5283108" y="2702008"/>
            <a:ext cx="270623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20"/>
          <p:cNvSpPr>
            <a:spLocks noChangeShapeType="1"/>
          </p:cNvSpPr>
          <p:nvPr/>
        </p:nvSpPr>
        <p:spPr bwMode="auto">
          <a:xfrm>
            <a:off x="5283107" y="3049584"/>
            <a:ext cx="27062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21"/>
          <p:cNvSpPr>
            <a:spLocks noChangeShapeType="1"/>
          </p:cNvSpPr>
          <p:nvPr/>
        </p:nvSpPr>
        <p:spPr bwMode="auto">
          <a:xfrm>
            <a:off x="5283107" y="3396060"/>
            <a:ext cx="27062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Text Box 24"/>
          <p:cNvSpPr txBox="1">
            <a:spLocks noChangeArrowheads="1"/>
          </p:cNvSpPr>
          <p:nvPr/>
        </p:nvSpPr>
        <p:spPr bwMode="auto">
          <a:xfrm>
            <a:off x="6454523" y="2726208"/>
            <a:ext cx="428568" cy="362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IP</a:t>
            </a:r>
          </a:p>
        </p:txBody>
      </p:sp>
      <p:sp>
        <p:nvSpPr>
          <p:cNvPr id="16" name="Text Box 25"/>
          <p:cNvSpPr txBox="1">
            <a:spLocks noChangeArrowheads="1"/>
          </p:cNvSpPr>
          <p:nvPr/>
        </p:nvSpPr>
        <p:spPr bwMode="auto">
          <a:xfrm>
            <a:off x="6139069" y="304292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zh-CN" altLang="en-US" sz="1400" b="1" dirty="0">
                <a:latin typeface="微软雅黑" pitchFamily="34" charset="-122"/>
                <a:ea typeface="微软雅黑" pitchFamily="34" charset="-122"/>
              </a:rPr>
              <a:t>数据链路层</a:t>
            </a:r>
          </a:p>
        </p:txBody>
      </p:sp>
      <p:sp>
        <p:nvSpPr>
          <p:cNvPr id="17" name="Text Box 26"/>
          <p:cNvSpPr txBox="1">
            <a:spLocks noChangeArrowheads="1"/>
          </p:cNvSpPr>
          <p:nvPr/>
        </p:nvSpPr>
        <p:spPr bwMode="auto">
          <a:xfrm>
            <a:off x="6293227" y="338532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zh-CN" altLang="en-US" sz="1400" b="1" dirty="0">
                <a:latin typeface="微软雅黑" pitchFamily="34" charset="-122"/>
                <a:ea typeface="微软雅黑" pitchFamily="34" charset="-122"/>
              </a:rPr>
              <a:t>物理层</a:t>
            </a:r>
          </a:p>
        </p:txBody>
      </p:sp>
      <p:sp>
        <p:nvSpPr>
          <p:cNvPr id="24" name="Rectangle 30"/>
          <p:cNvSpPr>
            <a:spLocks noChangeArrowheads="1"/>
          </p:cNvSpPr>
          <p:nvPr/>
        </p:nvSpPr>
        <p:spPr bwMode="auto">
          <a:xfrm>
            <a:off x="5299432" y="2372033"/>
            <a:ext cx="2672578" cy="318978"/>
          </a:xfrm>
          <a:prstGeom prst="rect">
            <a:avLst/>
          </a:prstGeom>
          <a:solidFill>
            <a:srgbClr val="66FF33"/>
          </a:solidFill>
          <a:ln>
            <a:noFill/>
          </a:ln>
          <a:effectLst/>
          <a:extLst/>
        </p:spPr>
        <p:txBody>
          <a:bodyPr wrap="none" anchor="ctr"/>
          <a:lstStyle/>
          <a:p>
            <a:endParaRPr lang="zh-CN" altLang="en-US" sz="1400" b="1">
              <a:latin typeface="微软雅黑" pitchFamily="34" charset="-122"/>
              <a:ea typeface="微软雅黑" pitchFamily="34" charset="-122"/>
            </a:endParaRPr>
          </a:p>
        </p:txBody>
      </p:sp>
      <p:sp>
        <p:nvSpPr>
          <p:cNvPr id="21" name="Text Box 23"/>
          <p:cNvSpPr txBox="1">
            <a:spLocks noChangeArrowheads="1"/>
          </p:cNvSpPr>
          <p:nvPr/>
        </p:nvSpPr>
        <p:spPr bwMode="auto">
          <a:xfrm>
            <a:off x="6388287" y="2372033"/>
            <a:ext cx="5854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400" b="1" dirty="0">
                <a:latin typeface="微软雅黑" pitchFamily="34" charset="-122"/>
                <a:ea typeface="微软雅黑" pitchFamily="34" charset="-122"/>
              </a:rPr>
              <a:t>UDP</a:t>
            </a:r>
          </a:p>
        </p:txBody>
      </p:sp>
      <p:sp>
        <p:nvSpPr>
          <p:cNvPr id="20" name="Text Box 22"/>
          <p:cNvSpPr txBox="1">
            <a:spLocks noChangeArrowheads="1"/>
          </p:cNvSpPr>
          <p:nvPr/>
        </p:nvSpPr>
        <p:spPr bwMode="auto">
          <a:xfrm>
            <a:off x="6386352" y="2037656"/>
            <a:ext cx="5365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400" b="1" dirty="0">
                <a:solidFill>
                  <a:srgbClr val="C00000"/>
                </a:solidFill>
                <a:latin typeface="微软雅黑" pitchFamily="34" charset="-122"/>
                <a:ea typeface="微软雅黑" pitchFamily="34" charset="-122"/>
              </a:rPr>
              <a:t>RTP</a:t>
            </a:r>
          </a:p>
        </p:txBody>
      </p:sp>
      <p:sp>
        <p:nvSpPr>
          <p:cNvPr id="30"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31" name="Rectangle 6"/>
          <p:cNvSpPr>
            <a:spLocks noChangeArrowheads="1"/>
          </p:cNvSpPr>
          <p:nvPr/>
        </p:nvSpPr>
        <p:spPr bwMode="auto">
          <a:xfrm>
            <a:off x="3625431" y="569848"/>
            <a:ext cx="18931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 </a:t>
            </a:r>
            <a:r>
              <a:rPr lang="zh-CN" altLang="en-US" sz="2400" b="1" dirty="0">
                <a:solidFill>
                  <a:schemeClr val="bg1"/>
                </a:solidFill>
                <a:latin typeface="微软雅黑" pitchFamily="34" charset="-122"/>
                <a:ea typeface="微软雅黑" pitchFamily="34" charset="-122"/>
              </a:rPr>
              <a:t>的层次 </a:t>
            </a:r>
          </a:p>
        </p:txBody>
      </p:sp>
    </p:spTree>
    <p:extLst>
      <p:ext uri="{BB962C8B-B14F-4D97-AF65-F5344CB8AC3E}">
        <p14:creationId xmlns:p14="http://schemas.microsoft.com/office/powerpoint/2010/main" val="11613911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4" y="977422"/>
            <a:ext cx="8129015"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分组</a:t>
            </a:r>
            <a:r>
              <a:rPr lang="zh-CN" altLang="en-US" sz="2000" b="1" dirty="0">
                <a:solidFill>
                  <a:srgbClr val="C00000"/>
                </a:solidFill>
                <a:latin typeface="微软雅黑" pitchFamily="34" charset="-122"/>
                <a:ea typeface="微软雅黑" pitchFamily="34" charset="-122"/>
              </a:rPr>
              <a:t>只</a:t>
            </a:r>
            <a:r>
              <a:rPr lang="zh-CN" altLang="en-US" sz="2000" b="1" dirty="0" smtClean="0">
                <a:solidFill>
                  <a:srgbClr val="C00000"/>
                </a:solidFill>
                <a:latin typeface="微软雅黑" pitchFamily="34" charset="-122"/>
                <a:ea typeface="微软雅黑" pitchFamily="34" charset="-122"/>
              </a:rPr>
              <a:t>包含 </a:t>
            </a: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数据，</a:t>
            </a:r>
            <a:r>
              <a:rPr lang="zh-CN" altLang="en-US" sz="2000" b="1" dirty="0" smtClean="0">
                <a:solidFill>
                  <a:srgbClr val="0000FF"/>
                </a:solidFill>
                <a:latin typeface="微软雅黑" pitchFamily="34" charset="-122"/>
                <a:ea typeface="微软雅黑" pitchFamily="34" charset="-122"/>
              </a:rPr>
              <a:t>控制</a:t>
            </a:r>
            <a:r>
              <a:rPr lang="zh-CN" altLang="en-US" sz="2000" b="1" dirty="0" smtClean="0">
                <a:latin typeface="微软雅黑" pitchFamily="34" charset="-122"/>
                <a:ea typeface="微软雅黑" pitchFamily="34" charset="-122"/>
              </a:rPr>
              <a:t>由</a:t>
            </a:r>
            <a:r>
              <a:rPr lang="zh-CN" altLang="en-US" sz="2000" b="1" dirty="0">
                <a:latin typeface="微软雅黑" pitchFamily="34" charset="-122"/>
                <a:ea typeface="微软雅黑" pitchFamily="34" charset="-122"/>
              </a:rPr>
              <a:t>另一个配套使用</a:t>
            </a:r>
            <a:r>
              <a:rPr lang="zh-CN" altLang="en-US" sz="2000" b="1" dirty="0" smtClean="0">
                <a:latin typeface="微软雅黑" pitchFamily="34" charset="-122"/>
                <a:ea typeface="微软雅黑" pitchFamily="34" charset="-122"/>
              </a:rPr>
              <a:t>的 </a:t>
            </a:r>
            <a:r>
              <a:rPr lang="en-US" altLang="zh-CN" sz="2000" b="1" dirty="0" smtClean="0">
                <a:solidFill>
                  <a:srgbClr val="0000FF"/>
                </a:solidFill>
                <a:latin typeface="微软雅黑" pitchFamily="34" charset="-122"/>
                <a:ea typeface="微软雅黑" pitchFamily="34" charset="-122"/>
              </a:rPr>
              <a:t>RTCP</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协议提供。</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RTP</a:t>
            </a:r>
            <a:r>
              <a:rPr lang="zh-CN" altLang="en-US" sz="2000" b="1" dirty="0">
                <a:latin typeface="微软雅黑" pitchFamily="34" charset="-122"/>
                <a:ea typeface="微软雅黑" pitchFamily="34" charset="-122"/>
              </a:rPr>
              <a:t>分组的首部中，最重要</a:t>
            </a:r>
            <a:r>
              <a:rPr lang="zh-CN" altLang="en-US" sz="2000" b="1" dirty="0" smtClean="0">
                <a:latin typeface="微软雅黑" pitchFamily="34" charset="-122"/>
                <a:ea typeface="微软雅黑" pitchFamily="34" charset="-122"/>
              </a:rPr>
              <a:t>的字段包括：</a:t>
            </a:r>
            <a:endParaRPr lang="en-US" altLang="zh-CN" sz="2000" b="1" dirty="0" smtClean="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有效载荷类型</a:t>
            </a:r>
            <a:endParaRPr lang="zh-CN" altLang="en-US" b="1" dirty="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序号</a:t>
            </a:r>
          </a:p>
          <a:p>
            <a:pPr marL="800100" lvl="1" indent="-342900" eaLnBrk="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时间戳</a:t>
            </a:r>
            <a:endParaRPr lang="zh-CN" altLang="en-US" b="1" dirty="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同步</a:t>
            </a:r>
            <a:r>
              <a:rPr lang="zh-CN" altLang="en-US" b="1" dirty="0">
                <a:latin typeface="微软雅黑" pitchFamily="34" charset="-122"/>
                <a:ea typeface="微软雅黑" pitchFamily="34" charset="-122"/>
              </a:rPr>
              <a:t>源标识符</a:t>
            </a:r>
          </a:p>
        </p:txBody>
      </p:sp>
      <p:sp>
        <p:nvSpPr>
          <p:cNvPr id="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209451" y="569848"/>
            <a:ext cx="27251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2400" b="1" dirty="0">
                <a:solidFill>
                  <a:schemeClr val="bg1"/>
                </a:solidFill>
                <a:latin typeface="微软雅黑" pitchFamily="34" charset="-122"/>
                <a:ea typeface="微软雅黑" pitchFamily="34" charset="-122"/>
              </a:rPr>
              <a:t>实时传输协议 </a:t>
            </a:r>
            <a:r>
              <a:rPr lang="en-US" altLang="zh-CN" sz="2400" b="1" dirty="0">
                <a:solidFill>
                  <a:schemeClr val="bg1"/>
                </a:solidFill>
                <a:latin typeface="微软雅黑" pitchFamily="34" charset="-122"/>
                <a:ea typeface="微软雅黑" pitchFamily="34" charset="-122"/>
              </a:rPr>
              <a:t>RTP</a:t>
            </a:r>
          </a:p>
        </p:txBody>
      </p:sp>
    </p:spTree>
    <p:custDataLst>
      <p:tags r:id="rId1"/>
    </p:custDataLst>
    <p:extLst>
      <p:ext uri="{BB962C8B-B14F-4D97-AF65-F5344CB8AC3E}">
        <p14:creationId xmlns:p14="http://schemas.microsoft.com/office/powerpoint/2010/main" val="24966197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fade">
                                      <p:cBhvr>
                                        <p:cTn id="10" dur="500"/>
                                        <p:tgtEl>
                                          <p:spTgt spid="2">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3" end="3"/>
                                            </p:txEl>
                                          </p:spTgt>
                                        </p:tgtEl>
                                        <p:attrNameLst>
                                          <p:attrName>style.visibility</p:attrName>
                                        </p:attrNameLst>
                                      </p:cBhvr>
                                      <p:to>
                                        <p:strVal val="visible"/>
                                      </p:to>
                                    </p:set>
                                    <p:animEffect transition="in" filter="fade">
                                      <p:cBhvr>
                                        <p:cTn id="13" dur="500"/>
                                        <p:tgtEl>
                                          <p:spTgt spid="2">
                                            <p:txEl>
                                              <p:pRg st="3" end="3"/>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
                                            <p:txEl>
                                              <p:pRg st="4" end="4"/>
                                            </p:txEl>
                                          </p:spTgt>
                                        </p:tgtEl>
                                        <p:attrNameLst>
                                          <p:attrName>style.visibility</p:attrName>
                                        </p:attrNameLst>
                                      </p:cBhvr>
                                      <p:to>
                                        <p:strVal val="visible"/>
                                      </p:to>
                                    </p:set>
                                    <p:animEffect transition="in" filter="fade">
                                      <p:cBhvr>
                                        <p:cTn id="16" dur="500"/>
                                        <p:tgtEl>
                                          <p:spTgt spid="2">
                                            <p:txEl>
                                              <p:pRg st="4" end="4"/>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2">
                                            <p:txEl>
                                              <p:pRg st="5" end="5"/>
                                            </p:txEl>
                                          </p:spTgt>
                                        </p:tgtEl>
                                        <p:attrNameLst>
                                          <p:attrName>style.visibility</p:attrName>
                                        </p:attrNameLst>
                                      </p:cBhvr>
                                      <p:to>
                                        <p:strVal val="visible"/>
                                      </p:to>
                                    </p:set>
                                    <p:animEffect transition="in" filter="fade">
                                      <p:cBhvr>
                                        <p:cTn id="19"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圆角矩形 8"/>
          <p:cNvSpPr/>
          <p:nvPr/>
        </p:nvSpPr>
        <p:spPr>
          <a:xfrm>
            <a:off x="509474" y="1072669"/>
            <a:ext cx="8129015" cy="32803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Line 21"/>
          <p:cNvSpPr>
            <a:spLocks noChangeShapeType="1"/>
          </p:cNvSpPr>
          <p:nvPr/>
        </p:nvSpPr>
        <p:spPr bwMode="auto">
          <a:xfrm rot="16200000">
            <a:off x="7249175" y="1747926"/>
            <a:ext cx="835958"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1" name="Text Box 22"/>
          <p:cNvSpPr txBox="1">
            <a:spLocks noChangeArrowheads="1"/>
          </p:cNvSpPr>
          <p:nvPr/>
        </p:nvSpPr>
        <p:spPr bwMode="auto">
          <a:xfrm>
            <a:off x="7485953" y="1507421"/>
            <a:ext cx="804815" cy="492443"/>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200">
                <a:latin typeface="微软雅黑" pitchFamily="34" charset="-122"/>
                <a:ea typeface="微软雅黑" pitchFamily="34" charset="-122"/>
              </a:defRPr>
            </a:lvl1pPr>
          </a:lstStyle>
          <a:p>
            <a:r>
              <a:rPr lang="en-US" altLang="zh-CN" sz="1300" b="1" dirty="0" smtClean="0"/>
              <a:t>12</a:t>
            </a:r>
            <a:r>
              <a:rPr lang="en-US" altLang="zh-CN" sz="1300" b="1" dirty="0"/>
              <a:t> </a:t>
            </a:r>
            <a:r>
              <a:rPr lang="zh-CN" altLang="en-US" sz="1300" b="1" dirty="0" smtClean="0"/>
              <a:t>字节</a:t>
            </a:r>
            <a:endParaRPr lang="en-US" altLang="zh-CN" sz="1300" b="1" dirty="0" smtClean="0"/>
          </a:p>
          <a:p>
            <a:r>
              <a:rPr lang="zh-CN" altLang="en-US" sz="1300" b="1" dirty="0"/>
              <a:t>必需</a:t>
            </a:r>
          </a:p>
        </p:txBody>
      </p:sp>
      <p:sp>
        <p:nvSpPr>
          <p:cNvPr id="14" name="Rectangle 25"/>
          <p:cNvSpPr>
            <a:spLocks noChangeArrowheads="1"/>
          </p:cNvSpPr>
          <p:nvPr/>
        </p:nvSpPr>
        <p:spPr bwMode="auto">
          <a:xfrm>
            <a:off x="1441749" y="1329948"/>
            <a:ext cx="5993901" cy="1392896"/>
          </a:xfrm>
          <a:prstGeom prst="rect">
            <a:avLst/>
          </a:prstGeom>
          <a:solidFill>
            <a:srgbClr val="0000FF"/>
          </a:solidFill>
          <a:ln w="19050">
            <a:solidFill>
              <a:srgbClr val="FFFF00"/>
            </a:solidFill>
            <a:miter lim="800000"/>
            <a:headEnd/>
            <a:tailEnd/>
          </a:ln>
          <a:effectLst/>
        </p:spPr>
        <p:txBody>
          <a:bodyPr wrap="none" anchor="ctr"/>
          <a:lstStyle/>
          <a:p>
            <a:pPr algn="ctr"/>
            <a:endParaRPr lang="zh-CN" altLang="en-US" sz="1300" b="1">
              <a:latin typeface="微软雅黑" pitchFamily="34" charset="-122"/>
              <a:ea typeface="微软雅黑" pitchFamily="34" charset="-122"/>
            </a:endParaRPr>
          </a:p>
        </p:txBody>
      </p:sp>
      <p:sp>
        <p:nvSpPr>
          <p:cNvPr id="15" name="Text Box 26"/>
          <p:cNvSpPr txBox="1">
            <a:spLocks noChangeArrowheads="1"/>
          </p:cNvSpPr>
          <p:nvPr/>
        </p:nvSpPr>
        <p:spPr bwMode="auto">
          <a:xfrm>
            <a:off x="5513986" y="1331055"/>
            <a:ext cx="10150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序          号</a:t>
            </a:r>
          </a:p>
        </p:txBody>
      </p:sp>
      <p:sp>
        <p:nvSpPr>
          <p:cNvPr id="16" name="Line 27"/>
          <p:cNvSpPr>
            <a:spLocks noChangeShapeType="1"/>
          </p:cNvSpPr>
          <p:nvPr/>
        </p:nvSpPr>
        <p:spPr bwMode="auto">
          <a:xfrm>
            <a:off x="1441749" y="1608970"/>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7" name="Line 28"/>
          <p:cNvSpPr>
            <a:spLocks noChangeShapeType="1"/>
          </p:cNvSpPr>
          <p:nvPr/>
        </p:nvSpPr>
        <p:spPr bwMode="auto">
          <a:xfrm>
            <a:off x="1817193"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8" name="Line 29"/>
          <p:cNvSpPr>
            <a:spLocks noChangeShapeType="1"/>
          </p:cNvSpPr>
          <p:nvPr/>
        </p:nvSpPr>
        <p:spPr bwMode="auto">
          <a:xfrm>
            <a:off x="200431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9" name="Line 30"/>
          <p:cNvSpPr>
            <a:spLocks noChangeShapeType="1"/>
          </p:cNvSpPr>
          <p:nvPr/>
        </p:nvSpPr>
        <p:spPr bwMode="auto">
          <a:xfrm>
            <a:off x="2191438"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0" name="Line 31"/>
          <p:cNvSpPr>
            <a:spLocks noChangeShapeType="1"/>
          </p:cNvSpPr>
          <p:nvPr/>
        </p:nvSpPr>
        <p:spPr bwMode="auto">
          <a:xfrm>
            <a:off x="293992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1" name="Line 32"/>
          <p:cNvSpPr>
            <a:spLocks noChangeShapeType="1"/>
          </p:cNvSpPr>
          <p:nvPr/>
        </p:nvSpPr>
        <p:spPr bwMode="auto">
          <a:xfrm>
            <a:off x="3127047"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2" name="Line 33"/>
          <p:cNvSpPr>
            <a:spLocks noChangeShapeType="1"/>
          </p:cNvSpPr>
          <p:nvPr/>
        </p:nvSpPr>
        <p:spPr bwMode="auto">
          <a:xfrm>
            <a:off x="4438101"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3" name="Line 34"/>
          <p:cNvSpPr>
            <a:spLocks noChangeShapeType="1"/>
          </p:cNvSpPr>
          <p:nvPr/>
        </p:nvSpPr>
        <p:spPr bwMode="auto">
          <a:xfrm>
            <a:off x="1441749" y="1886883"/>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4" name="Line 35"/>
          <p:cNvSpPr>
            <a:spLocks noChangeShapeType="1"/>
          </p:cNvSpPr>
          <p:nvPr/>
        </p:nvSpPr>
        <p:spPr bwMode="auto">
          <a:xfrm>
            <a:off x="1441749" y="2165906"/>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5" name="Text Box 36"/>
          <p:cNvSpPr txBox="1">
            <a:spLocks noChangeArrowheads="1"/>
          </p:cNvSpPr>
          <p:nvPr/>
        </p:nvSpPr>
        <p:spPr bwMode="auto">
          <a:xfrm>
            <a:off x="1071192" y="1088571"/>
            <a:ext cx="673774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位 </a:t>
            </a:r>
            <a:r>
              <a:rPr kumimoji="1" lang="zh-CN" altLang="en-US" sz="1300" b="1" dirty="0" smtClean="0">
                <a:latin typeface="微软雅黑" pitchFamily="34" charset="-122"/>
                <a:ea typeface="微软雅黑" pitchFamily="34" charset="-122"/>
              </a:rPr>
              <a:t>  </a:t>
            </a:r>
            <a:r>
              <a:rPr kumimoji="1" lang="en-US" altLang="zh-CN" sz="1300" b="1" dirty="0" smtClean="0">
                <a:latin typeface="微软雅黑" pitchFamily="34" charset="-122"/>
                <a:ea typeface="微软雅黑" pitchFamily="34" charset="-122"/>
              </a:rPr>
              <a:t>0  </a:t>
            </a:r>
            <a:r>
              <a:rPr kumimoji="1" lang="en-US" altLang="zh-CN" sz="1300" b="1" dirty="0">
                <a:latin typeface="微软雅黑" pitchFamily="34" charset="-122"/>
                <a:ea typeface="微软雅黑" pitchFamily="34" charset="-122"/>
              </a:rPr>
              <a:t>1     </a:t>
            </a:r>
            <a:r>
              <a:rPr kumimoji="1" lang="en-US" altLang="zh-CN" sz="1300" b="1" dirty="0" smtClean="0">
                <a:latin typeface="微软雅黑" pitchFamily="34" charset="-122"/>
                <a:ea typeface="微软雅黑" pitchFamily="34" charset="-122"/>
              </a:rPr>
              <a:t>3                 </a:t>
            </a:r>
            <a:r>
              <a:rPr kumimoji="1" lang="en-US" altLang="zh-CN" sz="1300" b="1" dirty="0">
                <a:latin typeface="微软雅黑" pitchFamily="34" charset="-122"/>
                <a:ea typeface="微软雅黑" pitchFamily="34" charset="-122"/>
              </a:rPr>
              <a:t>8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16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31</a:t>
            </a:r>
          </a:p>
        </p:txBody>
      </p:sp>
      <p:sp>
        <p:nvSpPr>
          <p:cNvPr id="26" name="Text Box 37"/>
          <p:cNvSpPr txBox="1">
            <a:spLocks noChangeArrowheads="1"/>
          </p:cNvSpPr>
          <p:nvPr/>
        </p:nvSpPr>
        <p:spPr bwMode="auto">
          <a:xfrm>
            <a:off x="3190607" y="1329947"/>
            <a:ext cx="1184941"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有效载荷类型</a:t>
            </a:r>
          </a:p>
        </p:txBody>
      </p:sp>
      <p:sp>
        <p:nvSpPr>
          <p:cNvPr id="32" name="Text Box 43"/>
          <p:cNvSpPr txBox="1">
            <a:spLocks noChangeArrowheads="1"/>
          </p:cNvSpPr>
          <p:nvPr/>
        </p:nvSpPr>
        <p:spPr bwMode="auto">
          <a:xfrm>
            <a:off x="4025625" y="1620042"/>
            <a:ext cx="88357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时  </a:t>
            </a:r>
            <a:r>
              <a:rPr kumimoji="1" lang="zh-CN" altLang="en-US" sz="1300" b="1" dirty="0" smtClean="0">
                <a:solidFill>
                  <a:schemeClr val="bg1"/>
                </a:solidFill>
                <a:latin typeface="微软雅黑" pitchFamily="34" charset="-122"/>
                <a:ea typeface="微软雅黑" pitchFamily="34" charset="-122"/>
              </a:rPr>
              <a:t>间  戳</a:t>
            </a:r>
            <a:endParaRPr kumimoji="1" lang="zh-CN" altLang="en-US" sz="1300" b="1" dirty="0">
              <a:solidFill>
                <a:schemeClr val="bg1"/>
              </a:solidFill>
              <a:latin typeface="微软雅黑" pitchFamily="34" charset="-122"/>
              <a:ea typeface="微软雅黑" pitchFamily="34" charset="-122"/>
            </a:endParaRPr>
          </a:p>
        </p:txBody>
      </p:sp>
      <p:sp>
        <p:nvSpPr>
          <p:cNvPr id="33" name="Text Box 44"/>
          <p:cNvSpPr txBox="1">
            <a:spLocks noChangeArrowheads="1"/>
          </p:cNvSpPr>
          <p:nvPr/>
        </p:nvSpPr>
        <p:spPr bwMode="auto">
          <a:xfrm>
            <a:off x="3647340" y="1893529"/>
            <a:ext cx="20935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同 </a:t>
            </a:r>
            <a:r>
              <a:rPr kumimoji="1" lang="zh-CN" altLang="en-US" sz="1300" b="1" dirty="0" smtClean="0">
                <a:solidFill>
                  <a:schemeClr val="bg1"/>
                </a:solidFill>
                <a:latin typeface="微软雅黑" pitchFamily="34" charset="-122"/>
                <a:ea typeface="微软雅黑" pitchFamily="34" charset="-122"/>
              </a:rPr>
              <a:t>步 源 标 </a:t>
            </a:r>
            <a:r>
              <a:rPr kumimoji="1" lang="zh-CN" altLang="en-US" sz="1300" b="1" dirty="0">
                <a:solidFill>
                  <a:schemeClr val="bg1"/>
                </a:solidFill>
                <a:latin typeface="微软雅黑" pitchFamily="34" charset="-122"/>
                <a:ea typeface="微软雅黑" pitchFamily="34" charset="-122"/>
              </a:rPr>
              <a:t>识 </a:t>
            </a:r>
            <a:r>
              <a:rPr kumimoji="1" lang="zh-CN" altLang="en-US" sz="1300" b="1" dirty="0" smtClean="0">
                <a:solidFill>
                  <a:schemeClr val="bg1"/>
                </a:solidFill>
                <a:latin typeface="微软雅黑" pitchFamily="34" charset="-122"/>
                <a:ea typeface="微软雅黑" pitchFamily="34" charset="-122"/>
              </a:rPr>
              <a:t>符 </a:t>
            </a:r>
            <a:r>
              <a:rPr kumimoji="1" lang="en-US" altLang="zh-CN" sz="1300" b="1" dirty="0">
                <a:solidFill>
                  <a:schemeClr val="bg1"/>
                </a:solidFill>
                <a:latin typeface="微软雅黑" pitchFamily="34" charset="-122"/>
                <a:ea typeface="微软雅黑" pitchFamily="34" charset="-122"/>
              </a:rPr>
              <a:t>(SSRC)</a:t>
            </a:r>
          </a:p>
        </p:txBody>
      </p:sp>
      <p:sp>
        <p:nvSpPr>
          <p:cNvPr id="34" name="Text Box 45"/>
          <p:cNvSpPr txBox="1">
            <a:spLocks noChangeArrowheads="1"/>
          </p:cNvSpPr>
          <p:nvPr/>
        </p:nvSpPr>
        <p:spPr bwMode="auto">
          <a:xfrm>
            <a:off x="3045543" y="2203552"/>
            <a:ext cx="2739532" cy="442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 </a:t>
            </a:r>
            <a:r>
              <a:rPr kumimoji="1" lang="zh-CN" altLang="en-US" sz="1300" b="1" dirty="0" smtClean="0">
                <a:solidFill>
                  <a:schemeClr val="bg1"/>
                </a:solidFill>
                <a:latin typeface="微软雅黑" pitchFamily="34" charset="-122"/>
                <a:ea typeface="微软雅黑" pitchFamily="34" charset="-122"/>
              </a:rPr>
              <a:t>与 源 标 识 符 </a:t>
            </a:r>
            <a:r>
              <a:rPr kumimoji="1" lang="en-US" altLang="zh-CN" sz="1300" b="1" dirty="0">
                <a:solidFill>
                  <a:schemeClr val="bg1"/>
                </a:solidFill>
                <a:latin typeface="微软雅黑" pitchFamily="34" charset="-122"/>
                <a:ea typeface="微软雅黑" pitchFamily="34" charset="-122"/>
              </a:rPr>
              <a:t>(CSRC) [0..15]</a:t>
            </a:r>
          </a:p>
          <a:p>
            <a:pPr algn="ctr">
              <a:lnSpc>
                <a:spcPct val="75000"/>
              </a:lnSpc>
            </a:pPr>
            <a:r>
              <a:rPr kumimoji="1" lang="en-US" altLang="zh-CN" sz="1300" b="1" dirty="0">
                <a:solidFill>
                  <a:schemeClr val="bg1"/>
                </a:solidFill>
                <a:latin typeface="微软雅黑" pitchFamily="34" charset="-122"/>
                <a:ea typeface="微软雅黑" pitchFamily="34" charset="-122"/>
              </a:rPr>
              <a:t>…</a:t>
            </a:r>
          </a:p>
        </p:txBody>
      </p:sp>
      <p:sp>
        <p:nvSpPr>
          <p:cNvPr id="52" name="Line 63"/>
          <p:cNvSpPr>
            <a:spLocks noChangeShapeType="1"/>
          </p:cNvSpPr>
          <p:nvPr/>
        </p:nvSpPr>
        <p:spPr bwMode="auto">
          <a:xfrm flipV="1">
            <a:off x="7494020" y="1344381"/>
            <a:ext cx="2906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3" name="Line 64"/>
          <p:cNvSpPr>
            <a:spLocks noChangeShapeType="1"/>
          </p:cNvSpPr>
          <p:nvPr/>
        </p:nvSpPr>
        <p:spPr bwMode="auto">
          <a:xfrm flipV="1">
            <a:off x="7498031" y="2159184"/>
            <a:ext cx="286680" cy="66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1" name="Text Box 38"/>
          <p:cNvSpPr txBox="1">
            <a:spLocks noChangeArrowheads="1"/>
          </p:cNvSpPr>
          <p:nvPr/>
        </p:nvSpPr>
        <p:spPr bwMode="auto">
          <a:xfrm>
            <a:off x="1370596" y="1329947"/>
            <a:ext cx="51809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版本</a:t>
            </a:r>
          </a:p>
        </p:txBody>
      </p:sp>
      <p:sp>
        <p:nvSpPr>
          <p:cNvPr id="54" name="Text Box 39"/>
          <p:cNvSpPr txBox="1">
            <a:spLocks noChangeArrowheads="1"/>
          </p:cNvSpPr>
          <p:nvPr/>
        </p:nvSpPr>
        <p:spPr bwMode="auto">
          <a:xfrm>
            <a:off x="1775080" y="1332161"/>
            <a:ext cx="293670"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P</a:t>
            </a:r>
          </a:p>
        </p:txBody>
      </p:sp>
      <p:sp>
        <p:nvSpPr>
          <p:cNvPr id="55" name="Text Box 41"/>
          <p:cNvSpPr txBox="1">
            <a:spLocks noChangeArrowheads="1"/>
          </p:cNvSpPr>
          <p:nvPr/>
        </p:nvSpPr>
        <p:spPr bwMode="auto">
          <a:xfrm>
            <a:off x="2855695" y="1331055"/>
            <a:ext cx="356188"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M</a:t>
            </a:r>
          </a:p>
        </p:txBody>
      </p:sp>
      <p:sp>
        <p:nvSpPr>
          <p:cNvPr id="63" name="Text Box 40"/>
          <p:cNvSpPr txBox="1">
            <a:spLocks noChangeArrowheads="1"/>
          </p:cNvSpPr>
          <p:nvPr/>
        </p:nvSpPr>
        <p:spPr bwMode="auto">
          <a:xfrm>
            <a:off x="1948410" y="1331055"/>
            <a:ext cx="30168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X</a:t>
            </a:r>
          </a:p>
        </p:txBody>
      </p:sp>
      <p:sp>
        <p:nvSpPr>
          <p:cNvPr id="64" name="Text Box 42"/>
          <p:cNvSpPr txBox="1">
            <a:spLocks noChangeArrowheads="1"/>
          </p:cNvSpPr>
          <p:nvPr/>
        </p:nvSpPr>
        <p:spPr bwMode="auto">
          <a:xfrm>
            <a:off x="2124407" y="1329947"/>
            <a:ext cx="851516"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参与源数</a:t>
            </a:r>
          </a:p>
        </p:txBody>
      </p:sp>
      <p:sp>
        <p:nvSpPr>
          <p:cNvPr id="3" name="矩形 2"/>
          <p:cNvSpPr/>
          <p:nvPr/>
        </p:nvSpPr>
        <p:spPr>
          <a:xfrm>
            <a:off x="1441750" y="2832589"/>
            <a:ext cx="5993900" cy="1092607"/>
          </a:xfrm>
          <a:prstGeom prst="rect">
            <a:avLst/>
          </a:prstGeom>
        </p:spPr>
        <p:txBody>
          <a:bodyPr wrap="square">
            <a:spAutoFit/>
          </a:bodyPr>
          <a:lstStyle/>
          <a:p>
            <a:pPr>
              <a:lnSpc>
                <a:spcPts val="2600"/>
              </a:lnSpc>
            </a:pPr>
            <a:r>
              <a:rPr lang="zh-CN" altLang="en-US" sz="1600" b="1" dirty="0">
                <a:solidFill>
                  <a:srgbClr val="0000FF"/>
                </a:solidFill>
                <a:latin typeface="微软雅黑" panose="020B0503020204020204" pitchFamily="34" charset="-122"/>
                <a:ea typeface="微软雅黑" panose="020B0503020204020204" pitchFamily="34" charset="-122"/>
              </a:rPr>
              <a:t>有效载荷</a:t>
            </a:r>
            <a:r>
              <a:rPr lang="zh-CN" altLang="en-US" sz="1600" b="1" dirty="0" smtClean="0">
                <a:solidFill>
                  <a:srgbClr val="0000FF"/>
                </a:solidFill>
                <a:latin typeface="微软雅黑" panose="020B0503020204020204" pitchFamily="34" charset="-122"/>
                <a:ea typeface="微软雅黑" panose="020B0503020204020204" pitchFamily="34" charset="-122"/>
              </a:rPr>
              <a:t>类型 </a:t>
            </a:r>
            <a:r>
              <a:rPr lang="en-US" altLang="zh-CN"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a:solidFill>
                  <a:srgbClr val="0000FF"/>
                </a:solidFill>
                <a:latin typeface="微软雅黑" panose="020B0503020204020204" pitchFamily="34" charset="-122"/>
                <a:ea typeface="微软雅黑" panose="020B0503020204020204" pitchFamily="34" charset="-122"/>
              </a:rPr>
              <a:t>payload type</a:t>
            </a:r>
            <a:r>
              <a:rPr lang="en-US" altLang="zh-CN"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占 </a:t>
            </a:r>
            <a:r>
              <a:rPr lang="en-US" altLang="zh-CN" sz="1600" b="1" dirty="0" smtClean="0">
                <a:latin typeface="微软雅黑" panose="020B0503020204020204" pitchFamily="34" charset="-122"/>
                <a:ea typeface="微软雅黑" panose="020B0503020204020204" pitchFamily="34" charset="-122"/>
              </a:rPr>
              <a:t>7 </a:t>
            </a:r>
            <a:r>
              <a:rPr lang="zh-CN" altLang="en-US" sz="1600" b="1" dirty="0" smtClean="0">
                <a:latin typeface="微软雅黑" panose="020B0503020204020204" pitchFamily="34" charset="-122"/>
                <a:ea typeface="微软雅黑" panose="020B0503020204020204" pitchFamily="34" charset="-122"/>
              </a:rPr>
              <a:t>位。指出</a:t>
            </a:r>
            <a:r>
              <a:rPr lang="en-US" altLang="zh-CN" sz="1600" b="1" dirty="0">
                <a:latin typeface="微软雅黑" panose="020B0503020204020204" pitchFamily="34" charset="-122"/>
                <a:ea typeface="微软雅黑" panose="020B0503020204020204" pitchFamily="34" charset="-122"/>
              </a:rPr>
              <a:t>RTP</a:t>
            </a:r>
            <a:r>
              <a:rPr lang="zh-CN" altLang="en-US" sz="1600" b="1" dirty="0">
                <a:latin typeface="微软雅黑" panose="020B0503020204020204" pitchFamily="34" charset="-122"/>
                <a:ea typeface="微软雅黑" panose="020B0503020204020204" pitchFamily="34" charset="-122"/>
              </a:rPr>
              <a:t>分组中数据</a:t>
            </a:r>
            <a:r>
              <a:rPr lang="zh-CN" altLang="en-US" sz="1600" b="1" dirty="0" smtClean="0">
                <a:latin typeface="微软雅黑" panose="020B0503020204020204" pitchFamily="34" charset="-122"/>
                <a:ea typeface="微软雅黑" panose="020B0503020204020204" pitchFamily="34" charset="-122"/>
              </a:rPr>
              <a:t>采用何种</a:t>
            </a:r>
            <a:r>
              <a:rPr lang="zh-CN" altLang="en-US" sz="1600" b="1" dirty="0">
                <a:latin typeface="微软雅黑" panose="020B0503020204020204" pitchFamily="34" charset="-122"/>
                <a:ea typeface="微软雅黑" panose="020B0503020204020204" pitchFamily="34" charset="-122"/>
              </a:rPr>
              <a:t>编码或压缩标准。收到</a:t>
            </a:r>
            <a:r>
              <a:rPr lang="en-US" altLang="zh-CN" sz="1600" b="1" dirty="0">
                <a:latin typeface="微软雅黑" panose="020B0503020204020204" pitchFamily="34" charset="-122"/>
                <a:ea typeface="微软雅黑" panose="020B0503020204020204" pitchFamily="34" charset="-122"/>
              </a:rPr>
              <a:t>RTP</a:t>
            </a:r>
            <a:r>
              <a:rPr lang="zh-CN" altLang="en-US" sz="1600" b="1" dirty="0">
                <a:latin typeface="微软雅黑" panose="020B0503020204020204" pitchFamily="34" charset="-122"/>
                <a:ea typeface="微软雅黑" panose="020B0503020204020204" pitchFamily="34" charset="-122"/>
              </a:rPr>
              <a:t>分组的应用层就根据此字段指出的类型进行解码或解压缩处理。</a:t>
            </a:r>
          </a:p>
        </p:txBody>
      </p:sp>
      <p:sp>
        <p:nvSpPr>
          <p:cNvPr id="35" name="矩形 34"/>
          <p:cNvSpPr/>
          <p:nvPr/>
        </p:nvSpPr>
        <p:spPr>
          <a:xfrm>
            <a:off x="3110613" y="1336431"/>
            <a:ext cx="1328085" cy="303460"/>
          </a:xfrm>
          <a:prstGeom prst="rect">
            <a:avLst/>
          </a:prstGeom>
          <a:noFill/>
          <a:ln w="38100">
            <a:solidFill>
              <a:srgbClr val="CC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37" name="Rectangle 6"/>
          <p:cNvSpPr>
            <a:spLocks noChangeArrowheads="1"/>
          </p:cNvSpPr>
          <p:nvPr/>
        </p:nvSpPr>
        <p:spPr bwMode="auto">
          <a:xfrm>
            <a:off x="3009878" y="569848"/>
            <a:ext cx="31242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 </a:t>
            </a:r>
            <a:r>
              <a:rPr lang="zh-CN" altLang="en-US" sz="2400" b="1" dirty="0">
                <a:solidFill>
                  <a:schemeClr val="bg1"/>
                </a:solidFill>
                <a:latin typeface="微软雅黑" pitchFamily="34" charset="-122"/>
                <a:ea typeface="微软雅黑" pitchFamily="34" charset="-122"/>
              </a:rPr>
              <a:t>分组的首部格式 </a:t>
            </a:r>
          </a:p>
        </p:txBody>
      </p:sp>
    </p:spTree>
    <p:extLst>
      <p:ext uri="{BB962C8B-B14F-4D97-AF65-F5344CB8AC3E}">
        <p14:creationId xmlns:p14="http://schemas.microsoft.com/office/powerpoint/2010/main" val="2010674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圆角矩形 8"/>
          <p:cNvSpPr/>
          <p:nvPr/>
        </p:nvSpPr>
        <p:spPr>
          <a:xfrm>
            <a:off x="509474" y="1072669"/>
            <a:ext cx="8129015" cy="32803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Line 21"/>
          <p:cNvSpPr>
            <a:spLocks noChangeShapeType="1"/>
          </p:cNvSpPr>
          <p:nvPr/>
        </p:nvSpPr>
        <p:spPr bwMode="auto">
          <a:xfrm rot="16200000">
            <a:off x="7249175" y="1747926"/>
            <a:ext cx="835958"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1" name="Text Box 22"/>
          <p:cNvSpPr txBox="1">
            <a:spLocks noChangeArrowheads="1"/>
          </p:cNvSpPr>
          <p:nvPr/>
        </p:nvSpPr>
        <p:spPr bwMode="auto">
          <a:xfrm>
            <a:off x="7485953" y="1507421"/>
            <a:ext cx="804815" cy="492443"/>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200">
                <a:latin typeface="微软雅黑" pitchFamily="34" charset="-122"/>
                <a:ea typeface="微软雅黑" pitchFamily="34" charset="-122"/>
              </a:defRPr>
            </a:lvl1pPr>
          </a:lstStyle>
          <a:p>
            <a:r>
              <a:rPr lang="en-US" altLang="zh-CN" sz="1300" b="1" dirty="0" smtClean="0"/>
              <a:t>12</a:t>
            </a:r>
            <a:r>
              <a:rPr lang="en-US" altLang="zh-CN" sz="1300" b="1" dirty="0"/>
              <a:t> </a:t>
            </a:r>
            <a:r>
              <a:rPr lang="zh-CN" altLang="en-US" sz="1300" b="1" dirty="0" smtClean="0"/>
              <a:t>字节</a:t>
            </a:r>
            <a:endParaRPr lang="en-US" altLang="zh-CN" sz="1300" b="1" dirty="0" smtClean="0"/>
          </a:p>
          <a:p>
            <a:r>
              <a:rPr lang="zh-CN" altLang="en-US" sz="1300" b="1" dirty="0"/>
              <a:t>必需</a:t>
            </a:r>
          </a:p>
        </p:txBody>
      </p:sp>
      <p:sp>
        <p:nvSpPr>
          <p:cNvPr id="14" name="Rectangle 25"/>
          <p:cNvSpPr>
            <a:spLocks noChangeArrowheads="1"/>
          </p:cNvSpPr>
          <p:nvPr/>
        </p:nvSpPr>
        <p:spPr bwMode="auto">
          <a:xfrm>
            <a:off x="1441749" y="1329948"/>
            <a:ext cx="5993901" cy="1392896"/>
          </a:xfrm>
          <a:prstGeom prst="rect">
            <a:avLst/>
          </a:prstGeom>
          <a:solidFill>
            <a:srgbClr val="0000FF"/>
          </a:solidFill>
          <a:ln w="19050">
            <a:solidFill>
              <a:srgbClr val="FFFF00"/>
            </a:solidFill>
            <a:miter lim="800000"/>
            <a:headEnd/>
            <a:tailEnd/>
          </a:ln>
          <a:effectLst/>
        </p:spPr>
        <p:txBody>
          <a:bodyPr wrap="none" anchor="ctr"/>
          <a:lstStyle/>
          <a:p>
            <a:pPr algn="ctr"/>
            <a:endParaRPr lang="zh-CN" altLang="en-US" sz="1300" b="1">
              <a:latin typeface="微软雅黑" pitchFamily="34" charset="-122"/>
              <a:ea typeface="微软雅黑" pitchFamily="34" charset="-122"/>
            </a:endParaRPr>
          </a:p>
        </p:txBody>
      </p:sp>
      <p:sp>
        <p:nvSpPr>
          <p:cNvPr id="15" name="Text Box 26"/>
          <p:cNvSpPr txBox="1">
            <a:spLocks noChangeArrowheads="1"/>
          </p:cNvSpPr>
          <p:nvPr/>
        </p:nvSpPr>
        <p:spPr bwMode="auto">
          <a:xfrm>
            <a:off x="5513986" y="1331055"/>
            <a:ext cx="10150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序          号</a:t>
            </a:r>
          </a:p>
        </p:txBody>
      </p:sp>
      <p:sp>
        <p:nvSpPr>
          <p:cNvPr id="16" name="Line 27"/>
          <p:cNvSpPr>
            <a:spLocks noChangeShapeType="1"/>
          </p:cNvSpPr>
          <p:nvPr/>
        </p:nvSpPr>
        <p:spPr bwMode="auto">
          <a:xfrm>
            <a:off x="1441749" y="1608970"/>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7" name="Line 28"/>
          <p:cNvSpPr>
            <a:spLocks noChangeShapeType="1"/>
          </p:cNvSpPr>
          <p:nvPr/>
        </p:nvSpPr>
        <p:spPr bwMode="auto">
          <a:xfrm>
            <a:off x="1817193"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8" name="Line 29"/>
          <p:cNvSpPr>
            <a:spLocks noChangeShapeType="1"/>
          </p:cNvSpPr>
          <p:nvPr/>
        </p:nvSpPr>
        <p:spPr bwMode="auto">
          <a:xfrm>
            <a:off x="200431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9" name="Line 30"/>
          <p:cNvSpPr>
            <a:spLocks noChangeShapeType="1"/>
          </p:cNvSpPr>
          <p:nvPr/>
        </p:nvSpPr>
        <p:spPr bwMode="auto">
          <a:xfrm>
            <a:off x="2191438"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0" name="Line 31"/>
          <p:cNvSpPr>
            <a:spLocks noChangeShapeType="1"/>
          </p:cNvSpPr>
          <p:nvPr/>
        </p:nvSpPr>
        <p:spPr bwMode="auto">
          <a:xfrm>
            <a:off x="293992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1" name="Line 32"/>
          <p:cNvSpPr>
            <a:spLocks noChangeShapeType="1"/>
          </p:cNvSpPr>
          <p:nvPr/>
        </p:nvSpPr>
        <p:spPr bwMode="auto">
          <a:xfrm>
            <a:off x="3127047"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2" name="Line 33"/>
          <p:cNvSpPr>
            <a:spLocks noChangeShapeType="1"/>
          </p:cNvSpPr>
          <p:nvPr/>
        </p:nvSpPr>
        <p:spPr bwMode="auto">
          <a:xfrm>
            <a:off x="4438101"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3" name="Line 34"/>
          <p:cNvSpPr>
            <a:spLocks noChangeShapeType="1"/>
          </p:cNvSpPr>
          <p:nvPr/>
        </p:nvSpPr>
        <p:spPr bwMode="auto">
          <a:xfrm>
            <a:off x="1441749" y="1886883"/>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4" name="Line 35"/>
          <p:cNvSpPr>
            <a:spLocks noChangeShapeType="1"/>
          </p:cNvSpPr>
          <p:nvPr/>
        </p:nvSpPr>
        <p:spPr bwMode="auto">
          <a:xfrm>
            <a:off x="1441749" y="2165906"/>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5" name="Text Box 36"/>
          <p:cNvSpPr txBox="1">
            <a:spLocks noChangeArrowheads="1"/>
          </p:cNvSpPr>
          <p:nvPr/>
        </p:nvSpPr>
        <p:spPr bwMode="auto">
          <a:xfrm>
            <a:off x="1071192" y="1088571"/>
            <a:ext cx="673774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位 </a:t>
            </a:r>
            <a:r>
              <a:rPr kumimoji="1" lang="zh-CN" altLang="en-US" sz="1300" b="1" dirty="0" smtClean="0">
                <a:latin typeface="微软雅黑" pitchFamily="34" charset="-122"/>
                <a:ea typeface="微软雅黑" pitchFamily="34" charset="-122"/>
              </a:rPr>
              <a:t>  </a:t>
            </a:r>
            <a:r>
              <a:rPr kumimoji="1" lang="en-US" altLang="zh-CN" sz="1300" b="1" dirty="0" smtClean="0">
                <a:latin typeface="微软雅黑" pitchFamily="34" charset="-122"/>
                <a:ea typeface="微软雅黑" pitchFamily="34" charset="-122"/>
              </a:rPr>
              <a:t>0  </a:t>
            </a:r>
            <a:r>
              <a:rPr kumimoji="1" lang="en-US" altLang="zh-CN" sz="1300" b="1" dirty="0">
                <a:latin typeface="微软雅黑" pitchFamily="34" charset="-122"/>
                <a:ea typeface="微软雅黑" pitchFamily="34" charset="-122"/>
              </a:rPr>
              <a:t>1     </a:t>
            </a:r>
            <a:r>
              <a:rPr kumimoji="1" lang="en-US" altLang="zh-CN" sz="1300" b="1" dirty="0" smtClean="0">
                <a:latin typeface="微软雅黑" pitchFamily="34" charset="-122"/>
                <a:ea typeface="微软雅黑" pitchFamily="34" charset="-122"/>
              </a:rPr>
              <a:t>3                 </a:t>
            </a:r>
            <a:r>
              <a:rPr kumimoji="1" lang="en-US" altLang="zh-CN" sz="1300" b="1" dirty="0">
                <a:latin typeface="微软雅黑" pitchFamily="34" charset="-122"/>
                <a:ea typeface="微软雅黑" pitchFamily="34" charset="-122"/>
              </a:rPr>
              <a:t>8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16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31</a:t>
            </a:r>
          </a:p>
        </p:txBody>
      </p:sp>
      <p:sp>
        <p:nvSpPr>
          <p:cNvPr id="26" name="Text Box 37"/>
          <p:cNvSpPr txBox="1">
            <a:spLocks noChangeArrowheads="1"/>
          </p:cNvSpPr>
          <p:nvPr/>
        </p:nvSpPr>
        <p:spPr bwMode="auto">
          <a:xfrm>
            <a:off x="3190607" y="1329947"/>
            <a:ext cx="1184941"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有效载荷类型</a:t>
            </a:r>
          </a:p>
        </p:txBody>
      </p:sp>
      <p:sp>
        <p:nvSpPr>
          <p:cNvPr id="32" name="Text Box 43"/>
          <p:cNvSpPr txBox="1">
            <a:spLocks noChangeArrowheads="1"/>
          </p:cNvSpPr>
          <p:nvPr/>
        </p:nvSpPr>
        <p:spPr bwMode="auto">
          <a:xfrm>
            <a:off x="4025625" y="1620042"/>
            <a:ext cx="88357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时  </a:t>
            </a:r>
            <a:r>
              <a:rPr kumimoji="1" lang="zh-CN" altLang="en-US" sz="1300" b="1" dirty="0" smtClean="0">
                <a:solidFill>
                  <a:schemeClr val="bg1"/>
                </a:solidFill>
                <a:latin typeface="微软雅黑" pitchFamily="34" charset="-122"/>
                <a:ea typeface="微软雅黑" pitchFamily="34" charset="-122"/>
              </a:rPr>
              <a:t>间  戳</a:t>
            </a:r>
            <a:endParaRPr kumimoji="1" lang="zh-CN" altLang="en-US" sz="1300" b="1" dirty="0">
              <a:solidFill>
                <a:schemeClr val="bg1"/>
              </a:solidFill>
              <a:latin typeface="微软雅黑" pitchFamily="34" charset="-122"/>
              <a:ea typeface="微软雅黑" pitchFamily="34" charset="-122"/>
            </a:endParaRPr>
          </a:p>
        </p:txBody>
      </p:sp>
      <p:sp>
        <p:nvSpPr>
          <p:cNvPr id="33" name="Text Box 44"/>
          <p:cNvSpPr txBox="1">
            <a:spLocks noChangeArrowheads="1"/>
          </p:cNvSpPr>
          <p:nvPr/>
        </p:nvSpPr>
        <p:spPr bwMode="auto">
          <a:xfrm>
            <a:off x="3647340" y="1893529"/>
            <a:ext cx="20935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同 </a:t>
            </a:r>
            <a:r>
              <a:rPr kumimoji="1" lang="zh-CN" altLang="en-US" sz="1300" b="1" dirty="0" smtClean="0">
                <a:solidFill>
                  <a:schemeClr val="bg1"/>
                </a:solidFill>
                <a:latin typeface="微软雅黑" pitchFamily="34" charset="-122"/>
                <a:ea typeface="微软雅黑" pitchFamily="34" charset="-122"/>
              </a:rPr>
              <a:t>步 源 标 </a:t>
            </a:r>
            <a:r>
              <a:rPr kumimoji="1" lang="zh-CN" altLang="en-US" sz="1300" b="1" dirty="0">
                <a:solidFill>
                  <a:schemeClr val="bg1"/>
                </a:solidFill>
                <a:latin typeface="微软雅黑" pitchFamily="34" charset="-122"/>
                <a:ea typeface="微软雅黑" pitchFamily="34" charset="-122"/>
              </a:rPr>
              <a:t>识 </a:t>
            </a:r>
            <a:r>
              <a:rPr kumimoji="1" lang="zh-CN" altLang="en-US" sz="1300" b="1" dirty="0" smtClean="0">
                <a:solidFill>
                  <a:schemeClr val="bg1"/>
                </a:solidFill>
                <a:latin typeface="微软雅黑" pitchFamily="34" charset="-122"/>
                <a:ea typeface="微软雅黑" pitchFamily="34" charset="-122"/>
              </a:rPr>
              <a:t>符 </a:t>
            </a:r>
            <a:r>
              <a:rPr kumimoji="1" lang="en-US" altLang="zh-CN" sz="1300" b="1" dirty="0">
                <a:solidFill>
                  <a:schemeClr val="bg1"/>
                </a:solidFill>
                <a:latin typeface="微软雅黑" pitchFamily="34" charset="-122"/>
                <a:ea typeface="微软雅黑" pitchFamily="34" charset="-122"/>
              </a:rPr>
              <a:t>(SSRC)</a:t>
            </a:r>
          </a:p>
        </p:txBody>
      </p:sp>
      <p:sp>
        <p:nvSpPr>
          <p:cNvPr id="34" name="Text Box 45"/>
          <p:cNvSpPr txBox="1">
            <a:spLocks noChangeArrowheads="1"/>
          </p:cNvSpPr>
          <p:nvPr/>
        </p:nvSpPr>
        <p:spPr bwMode="auto">
          <a:xfrm>
            <a:off x="3045543" y="2203552"/>
            <a:ext cx="2739532" cy="442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 </a:t>
            </a:r>
            <a:r>
              <a:rPr kumimoji="1" lang="zh-CN" altLang="en-US" sz="1300" b="1" dirty="0" smtClean="0">
                <a:solidFill>
                  <a:schemeClr val="bg1"/>
                </a:solidFill>
                <a:latin typeface="微软雅黑" pitchFamily="34" charset="-122"/>
                <a:ea typeface="微软雅黑" pitchFamily="34" charset="-122"/>
              </a:rPr>
              <a:t>与 源 标 识 符 </a:t>
            </a:r>
            <a:r>
              <a:rPr kumimoji="1" lang="en-US" altLang="zh-CN" sz="1300" b="1" dirty="0">
                <a:solidFill>
                  <a:schemeClr val="bg1"/>
                </a:solidFill>
                <a:latin typeface="微软雅黑" pitchFamily="34" charset="-122"/>
                <a:ea typeface="微软雅黑" pitchFamily="34" charset="-122"/>
              </a:rPr>
              <a:t>(CSRC) [0..15]</a:t>
            </a:r>
          </a:p>
          <a:p>
            <a:pPr algn="ctr">
              <a:lnSpc>
                <a:spcPct val="75000"/>
              </a:lnSpc>
            </a:pPr>
            <a:r>
              <a:rPr kumimoji="1" lang="en-US" altLang="zh-CN" sz="1300" b="1" dirty="0">
                <a:solidFill>
                  <a:schemeClr val="bg1"/>
                </a:solidFill>
                <a:latin typeface="微软雅黑" pitchFamily="34" charset="-122"/>
                <a:ea typeface="微软雅黑" pitchFamily="34" charset="-122"/>
              </a:rPr>
              <a:t>…</a:t>
            </a:r>
          </a:p>
        </p:txBody>
      </p:sp>
      <p:sp>
        <p:nvSpPr>
          <p:cNvPr id="52" name="Line 63"/>
          <p:cNvSpPr>
            <a:spLocks noChangeShapeType="1"/>
          </p:cNvSpPr>
          <p:nvPr/>
        </p:nvSpPr>
        <p:spPr bwMode="auto">
          <a:xfrm flipV="1">
            <a:off x="7494020" y="1344381"/>
            <a:ext cx="2906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3" name="Line 64"/>
          <p:cNvSpPr>
            <a:spLocks noChangeShapeType="1"/>
          </p:cNvSpPr>
          <p:nvPr/>
        </p:nvSpPr>
        <p:spPr bwMode="auto">
          <a:xfrm flipV="1">
            <a:off x="7498031" y="2159184"/>
            <a:ext cx="286680" cy="66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1" name="Text Box 38"/>
          <p:cNvSpPr txBox="1">
            <a:spLocks noChangeArrowheads="1"/>
          </p:cNvSpPr>
          <p:nvPr/>
        </p:nvSpPr>
        <p:spPr bwMode="auto">
          <a:xfrm>
            <a:off x="1370596" y="1329947"/>
            <a:ext cx="51809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版本</a:t>
            </a:r>
          </a:p>
        </p:txBody>
      </p:sp>
      <p:sp>
        <p:nvSpPr>
          <p:cNvPr id="54" name="Text Box 39"/>
          <p:cNvSpPr txBox="1">
            <a:spLocks noChangeArrowheads="1"/>
          </p:cNvSpPr>
          <p:nvPr/>
        </p:nvSpPr>
        <p:spPr bwMode="auto">
          <a:xfrm>
            <a:off x="1775080" y="1332161"/>
            <a:ext cx="293670"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P</a:t>
            </a:r>
          </a:p>
        </p:txBody>
      </p:sp>
      <p:sp>
        <p:nvSpPr>
          <p:cNvPr id="55" name="Text Box 41"/>
          <p:cNvSpPr txBox="1">
            <a:spLocks noChangeArrowheads="1"/>
          </p:cNvSpPr>
          <p:nvPr/>
        </p:nvSpPr>
        <p:spPr bwMode="auto">
          <a:xfrm>
            <a:off x="2855695" y="1331055"/>
            <a:ext cx="356188"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M</a:t>
            </a:r>
          </a:p>
        </p:txBody>
      </p:sp>
      <p:sp>
        <p:nvSpPr>
          <p:cNvPr id="63" name="Text Box 40"/>
          <p:cNvSpPr txBox="1">
            <a:spLocks noChangeArrowheads="1"/>
          </p:cNvSpPr>
          <p:nvPr/>
        </p:nvSpPr>
        <p:spPr bwMode="auto">
          <a:xfrm>
            <a:off x="1948410" y="1331055"/>
            <a:ext cx="30168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X</a:t>
            </a:r>
          </a:p>
        </p:txBody>
      </p:sp>
      <p:sp>
        <p:nvSpPr>
          <p:cNvPr id="64" name="Text Box 42"/>
          <p:cNvSpPr txBox="1">
            <a:spLocks noChangeArrowheads="1"/>
          </p:cNvSpPr>
          <p:nvPr/>
        </p:nvSpPr>
        <p:spPr bwMode="auto">
          <a:xfrm>
            <a:off x="2124407" y="1329947"/>
            <a:ext cx="851516"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参与源数</a:t>
            </a:r>
          </a:p>
        </p:txBody>
      </p:sp>
      <p:sp>
        <p:nvSpPr>
          <p:cNvPr id="3" name="矩形 2"/>
          <p:cNvSpPr/>
          <p:nvPr/>
        </p:nvSpPr>
        <p:spPr>
          <a:xfrm>
            <a:off x="1441750" y="2832589"/>
            <a:ext cx="5993900" cy="1058110"/>
          </a:xfrm>
          <a:prstGeom prst="rect">
            <a:avLst/>
          </a:prstGeom>
        </p:spPr>
        <p:txBody>
          <a:bodyPr wrap="square">
            <a:spAutoFit/>
          </a:bodyPr>
          <a:lstStyle/>
          <a:p>
            <a:pPr>
              <a:lnSpc>
                <a:spcPts val="2600"/>
              </a:lnSpc>
            </a:pPr>
            <a:r>
              <a:rPr lang="zh-CN" altLang="en-US" sz="1600" b="1" dirty="0">
                <a:solidFill>
                  <a:srgbClr val="0000FF"/>
                </a:solidFill>
                <a:latin typeface="微软雅黑" panose="020B0503020204020204" pitchFamily="34" charset="-122"/>
                <a:ea typeface="微软雅黑" panose="020B0503020204020204" pitchFamily="34" charset="-122"/>
              </a:rPr>
              <a:t>序号：</a:t>
            </a:r>
            <a:r>
              <a:rPr lang="zh-CN" altLang="en-US" sz="1600" b="1" dirty="0" smtClean="0">
                <a:latin typeface="微软雅黑" panose="020B0503020204020204" pitchFamily="34" charset="-122"/>
                <a:ea typeface="微软雅黑" panose="020B0503020204020204" pitchFamily="34" charset="-122"/>
              </a:rPr>
              <a:t>占 </a:t>
            </a:r>
            <a:r>
              <a:rPr lang="en-US" altLang="zh-CN" sz="1600" b="1" dirty="0" smtClean="0">
                <a:latin typeface="微软雅黑" panose="020B0503020204020204" pitchFamily="34" charset="-122"/>
                <a:ea typeface="微软雅黑" panose="020B0503020204020204" pitchFamily="34" charset="-122"/>
              </a:rPr>
              <a:t>16 </a:t>
            </a:r>
            <a:r>
              <a:rPr lang="zh-CN" altLang="en-US" sz="1600" b="1" dirty="0" smtClean="0">
                <a:latin typeface="微软雅黑" panose="020B0503020204020204" pitchFamily="34" charset="-122"/>
                <a:ea typeface="微软雅黑" panose="020B0503020204020204" pitchFamily="34" charset="-122"/>
              </a:rPr>
              <a:t>位</a:t>
            </a:r>
            <a:r>
              <a:rPr lang="zh-CN" altLang="en-US" sz="1600" b="1" dirty="0">
                <a:latin typeface="微软雅黑" panose="020B0503020204020204" pitchFamily="34" charset="-122"/>
                <a:ea typeface="微软雅黑" panose="020B0503020204020204" pitchFamily="34" charset="-122"/>
              </a:rPr>
              <a:t>。对每一个发送出</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RTP </a:t>
            </a:r>
            <a:r>
              <a:rPr lang="zh-CN" altLang="en-US" sz="1600" b="1" dirty="0" smtClean="0">
                <a:latin typeface="微软雅黑" panose="020B0503020204020204" pitchFamily="34" charset="-122"/>
                <a:ea typeface="微软雅黑" panose="020B0503020204020204" pitchFamily="34" charset="-122"/>
              </a:rPr>
              <a:t>分组</a:t>
            </a:r>
            <a:r>
              <a:rPr lang="zh-CN" altLang="en-US" sz="1600" b="1" dirty="0">
                <a:latin typeface="微软雅黑" panose="020B0503020204020204" pitchFamily="34" charset="-122"/>
                <a:ea typeface="微软雅黑" panose="020B0503020204020204" pitchFamily="34" charset="-122"/>
              </a:rPr>
              <a:t>，其序号</a:t>
            </a:r>
            <a:r>
              <a:rPr lang="zh-CN" altLang="en-US" sz="1600" b="1" dirty="0" smtClean="0">
                <a:latin typeface="微软雅黑" panose="020B0503020204020204" pitchFamily="34" charset="-122"/>
                <a:ea typeface="微软雅黑" panose="020B0503020204020204" pitchFamily="34" charset="-122"/>
              </a:rPr>
              <a:t>加 </a:t>
            </a:r>
            <a:r>
              <a:rPr lang="en-US" altLang="zh-CN" sz="1600" b="1" dirty="0" smtClean="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。在一</a:t>
            </a:r>
            <a:r>
              <a:rPr lang="zh-CN" altLang="en-US" sz="1600" b="1" dirty="0" smtClean="0">
                <a:latin typeface="微软雅黑" panose="020B0503020204020204" pitchFamily="34" charset="-122"/>
                <a:ea typeface="微软雅黑" panose="020B0503020204020204" pitchFamily="34" charset="-122"/>
              </a:rPr>
              <a:t>次 </a:t>
            </a:r>
            <a:r>
              <a:rPr lang="en-US" altLang="zh-CN" sz="1600" b="1" dirty="0" smtClean="0">
                <a:latin typeface="微软雅黑" panose="020B0503020204020204" pitchFamily="34" charset="-122"/>
                <a:ea typeface="微软雅黑" panose="020B0503020204020204" pitchFamily="34" charset="-122"/>
              </a:rPr>
              <a:t>RTP </a:t>
            </a:r>
            <a:r>
              <a:rPr lang="zh-CN" altLang="en-US" sz="1600" b="1" dirty="0" smtClean="0">
                <a:latin typeface="微软雅黑" panose="020B0503020204020204" pitchFamily="34" charset="-122"/>
                <a:ea typeface="微软雅黑" panose="020B0503020204020204" pitchFamily="34" charset="-122"/>
              </a:rPr>
              <a:t>会话</a:t>
            </a:r>
            <a:r>
              <a:rPr lang="zh-CN" altLang="en-US" sz="1600" b="1" dirty="0">
                <a:latin typeface="微软雅黑" panose="020B0503020204020204" pitchFamily="34" charset="-122"/>
                <a:ea typeface="微软雅黑" panose="020B0503020204020204" pitchFamily="34" charset="-122"/>
              </a:rPr>
              <a:t>开始时的初始序号是随机选择的。序号使接收端能够发现丢失的分组，同时也能将失序</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RTP </a:t>
            </a:r>
            <a:r>
              <a:rPr lang="zh-CN" altLang="en-US" sz="1600" b="1" dirty="0" smtClean="0">
                <a:latin typeface="微软雅黑" panose="020B0503020204020204" pitchFamily="34" charset="-122"/>
                <a:ea typeface="微软雅黑" panose="020B0503020204020204" pitchFamily="34" charset="-122"/>
              </a:rPr>
              <a:t>分组</a:t>
            </a:r>
            <a:r>
              <a:rPr lang="zh-CN" altLang="en-US" sz="1600" b="1" dirty="0">
                <a:latin typeface="微软雅黑" panose="020B0503020204020204" pitchFamily="34" charset="-122"/>
                <a:ea typeface="微软雅黑" panose="020B0503020204020204" pitchFamily="34" charset="-122"/>
              </a:rPr>
              <a:t>重新按序排列好</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36" name="矩形 35"/>
          <p:cNvSpPr/>
          <p:nvPr/>
        </p:nvSpPr>
        <p:spPr>
          <a:xfrm>
            <a:off x="4438699" y="1336431"/>
            <a:ext cx="2983695" cy="303460"/>
          </a:xfrm>
          <a:prstGeom prst="rect">
            <a:avLst/>
          </a:prstGeom>
          <a:noFill/>
          <a:ln w="38100">
            <a:solidFill>
              <a:srgbClr val="CC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37" name="Rectangle 6"/>
          <p:cNvSpPr>
            <a:spLocks noChangeArrowheads="1"/>
          </p:cNvSpPr>
          <p:nvPr/>
        </p:nvSpPr>
        <p:spPr bwMode="auto">
          <a:xfrm>
            <a:off x="3009878" y="569848"/>
            <a:ext cx="31242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 </a:t>
            </a:r>
            <a:r>
              <a:rPr lang="zh-CN" altLang="en-US" sz="2400" b="1" dirty="0">
                <a:solidFill>
                  <a:schemeClr val="bg1"/>
                </a:solidFill>
                <a:latin typeface="微软雅黑" pitchFamily="34" charset="-122"/>
                <a:ea typeface="微软雅黑" pitchFamily="34" charset="-122"/>
              </a:rPr>
              <a:t>分组的首部格式 </a:t>
            </a:r>
          </a:p>
        </p:txBody>
      </p:sp>
    </p:spTree>
    <p:extLst>
      <p:ext uri="{BB962C8B-B14F-4D97-AF65-F5344CB8AC3E}">
        <p14:creationId xmlns:p14="http://schemas.microsoft.com/office/powerpoint/2010/main" val="33171167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圆角矩形 8"/>
          <p:cNvSpPr/>
          <p:nvPr/>
        </p:nvSpPr>
        <p:spPr>
          <a:xfrm>
            <a:off x="509474" y="1072669"/>
            <a:ext cx="8129015" cy="32803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Line 21"/>
          <p:cNvSpPr>
            <a:spLocks noChangeShapeType="1"/>
          </p:cNvSpPr>
          <p:nvPr/>
        </p:nvSpPr>
        <p:spPr bwMode="auto">
          <a:xfrm rot="16200000">
            <a:off x="7249175" y="1747926"/>
            <a:ext cx="835958"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1" name="Text Box 22"/>
          <p:cNvSpPr txBox="1">
            <a:spLocks noChangeArrowheads="1"/>
          </p:cNvSpPr>
          <p:nvPr/>
        </p:nvSpPr>
        <p:spPr bwMode="auto">
          <a:xfrm>
            <a:off x="7485953" y="1507421"/>
            <a:ext cx="804815" cy="492443"/>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200">
                <a:latin typeface="微软雅黑" pitchFamily="34" charset="-122"/>
                <a:ea typeface="微软雅黑" pitchFamily="34" charset="-122"/>
              </a:defRPr>
            </a:lvl1pPr>
          </a:lstStyle>
          <a:p>
            <a:r>
              <a:rPr lang="en-US" altLang="zh-CN" sz="1300" b="1" dirty="0" smtClean="0"/>
              <a:t>12</a:t>
            </a:r>
            <a:r>
              <a:rPr lang="en-US" altLang="zh-CN" sz="1300" b="1" dirty="0"/>
              <a:t> </a:t>
            </a:r>
            <a:r>
              <a:rPr lang="zh-CN" altLang="en-US" sz="1300" b="1" dirty="0" smtClean="0"/>
              <a:t>字节</a:t>
            </a:r>
            <a:endParaRPr lang="en-US" altLang="zh-CN" sz="1300" b="1" dirty="0" smtClean="0"/>
          </a:p>
          <a:p>
            <a:r>
              <a:rPr lang="zh-CN" altLang="en-US" sz="1300" b="1" dirty="0"/>
              <a:t>必需</a:t>
            </a:r>
          </a:p>
        </p:txBody>
      </p:sp>
      <p:sp>
        <p:nvSpPr>
          <p:cNvPr id="14" name="Rectangle 25"/>
          <p:cNvSpPr>
            <a:spLocks noChangeArrowheads="1"/>
          </p:cNvSpPr>
          <p:nvPr/>
        </p:nvSpPr>
        <p:spPr bwMode="auto">
          <a:xfrm>
            <a:off x="1441749" y="1329948"/>
            <a:ext cx="5993901" cy="1392896"/>
          </a:xfrm>
          <a:prstGeom prst="rect">
            <a:avLst/>
          </a:prstGeom>
          <a:solidFill>
            <a:srgbClr val="0000FF"/>
          </a:solidFill>
          <a:ln w="19050">
            <a:solidFill>
              <a:srgbClr val="FFFF00"/>
            </a:solidFill>
            <a:miter lim="800000"/>
            <a:headEnd/>
            <a:tailEnd/>
          </a:ln>
          <a:effectLst/>
        </p:spPr>
        <p:txBody>
          <a:bodyPr wrap="none" anchor="ctr"/>
          <a:lstStyle/>
          <a:p>
            <a:pPr algn="ctr"/>
            <a:endParaRPr lang="zh-CN" altLang="en-US" sz="1300" b="1">
              <a:latin typeface="微软雅黑" pitchFamily="34" charset="-122"/>
              <a:ea typeface="微软雅黑" pitchFamily="34" charset="-122"/>
            </a:endParaRPr>
          </a:p>
        </p:txBody>
      </p:sp>
      <p:sp>
        <p:nvSpPr>
          <p:cNvPr id="15" name="Text Box 26"/>
          <p:cNvSpPr txBox="1">
            <a:spLocks noChangeArrowheads="1"/>
          </p:cNvSpPr>
          <p:nvPr/>
        </p:nvSpPr>
        <p:spPr bwMode="auto">
          <a:xfrm>
            <a:off x="5513986" y="1331055"/>
            <a:ext cx="10150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序          号</a:t>
            </a:r>
          </a:p>
        </p:txBody>
      </p:sp>
      <p:sp>
        <p:nvSpPr>
          <p:cNvPr id="16" name="Line 27"/>
          <p:cNvSpPr>
            <a:spLocks noChangeShapeType="1"/>
          </p:cNvSpPr>
          <p:nvPr/>
        </p:nvSpPr>
        <p:spPr bwMode="auto">
          <a:xfrm>
            <a:off x="1441749" y="1608970"/>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7" name="Line 28"/>
          <p:cNvSpPr>
            <a:spLocks noChangeShapeType="1"/>
          </p:cNvSpPr>
          <p:nvPr/>
        </p:nvSpPr>
        <p:spPr bwMode="auto">
          <a:xfrm>
            <a:off x="1817193"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8" name="Line 29"/>
          <p:cNvSpPr>
            <a:spLocks noChangeShapeType="1"/>
          </p:cNvSpPr>
          <p:nvPr/>
        </p:nvSpPr>
        <p:spPr bwMode="auto">
          <a:xfrm>
            <a:off x="200431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9" name="Line 30"/>
          <p:cNvSpPr>
            <a:spLocks noChangeShapeType="1"/>
          </p:cNvSpPr>
          <p:nvPr/>
        </p:nvSpPr>
        <p:spPr bwMode="auto">
          <a:xfrm>
            <a:off x="2191438"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0" name="Line 31"/>
          <p:cNvSpPr>
            <a:spLocks noChangeShapeType="1"/>
          </p:cNvSpPr>
          <p:nvPr/>
        </p:nvSpPr>
        <p:spPr bwMode="auto">
          <a:xfrm>
            <a:off x="293992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1" name="Line 32"/>
          <p:cNvSpPr>
            <a:spLocks noChangeShapeType="1"/>
          </p:cNvSpPr>
          <p:nvPr/>
        </p:nvSpPr>
        <p:spPr bwMode="auto">
          <a:xfrm>
            <a:off x="3127047"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2" name="Line 33"/>
          <p:cNvSpPr>
            <a:spLocks noChangeShapeType="1"/>
          </p:cNvSpPr>
          <p:nvPr/>
        </p:nvSpPr>
        <p:spPr bwMode="auto">
          <a:xfrm>
            <a:off x="4438101"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3" name="Line 34"/>
          <p:cNvSpPr>
            <a:spLocks noChangeShapeType="1"/>
          </p:cNvSpPr>
          <p:nvPr/>
        </p:nvSpPr>
        <p:spPr bwMode="auto">
          <a:xfrm>
            <a:off x="1441749" y="1886883"/>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4" name="Line 35"/>
          <p:cNvSpPr>
            <a:spLocks noChangeShapeType="1"/>
          </p:cNvSpPr>
          <p:nvPr/>
        </p:nvSpPr>
        <p:spPr bwMode="auto">
          <a:xfrm>
            <a:off x="1441749" y="2165906"/>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5" name="Text Box 36"/>
          <p:cNvSpPr txBox="1">
            <a:spLocks noChangeArrowheads="1"/>
          </p:cNvSpPr>
          <p:nvPr/>
        </p:nvSpPr>
        <p:spPr bwMode="auto">
          <a:xfrm>
            <a:off x="1071192" y="1088571"/>
            <a:ext cx="673774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位 </a:t>
            </a:r>
            <a:r>
              <a:rPr kumimoji="1" lang="zh-CN" altLang="en-US" sz="1300" b="1" dirty="0" smtClean="0">
                <a:latin typeface="微软雅黑" pitchFamily="34" charset="-122"/>
                <a:ea typeface="微软雅黑" pitchFamily="34" charset="-122"/>
              </a:rPr>
              <a:t>  </a:t>
            </a:r>
            <a:r>
              <a:rPr kumimoji="1" lang="en-US" altLang="zh-CN" sz="1300" b="1" dirty="0" smtClean="0">
                <a:latin typeface="微软雅黑" pitchFamily="34" charset="-122"/>
                <a:ea typeface="微软雅黑" pitchFamily="34" charset="-122"/>
              </a:rPr>
              <a:t>0  </a:t>
            </a:r>
            <a:r>
              <a:rPr kumimoji="1" lang="en-US" altLang="zh-CN" sz="1300" b="1" dirty="0">
                <a:latin typeface="微软雅黑" pitchFamily="34" charset="-122"/>
                <a:ea typeface="微软雅黑" pitchFamily="34" charset="-122"/>
              </a:rPr>
              <a:t>1     </a:t>
            </a:r>
            <a:r>
              <a:rPr kumimoji="1" lang="en-US" altLang="zh-CN" sz="1300" b="1" dirty="0" smtClean="0">
                <a:latin typeface="微软雅黑" pitchFamily="34" charset="-122"/>
                <a:ea typeface="微软雅黑" pitchFamily="34" charset="-122"/>
              </a:rPr>
              <a:t>3                 </a:t>
            </a:r>
            <a:r>
              <a:rPr kumimoji="1" lang="en-US" altLang="zh-CN" sz="1300" b="1" dirty="0">
                <a:latin typeface="微软雅黑" pitchFamily="34" charset="-122"/>
                <a:ea typeface="微软雅黑" pitchFamily="34" charset="-122"/>
              </a:rPr>
              <a:t>8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16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31</a:t>
            </a:r>
          </a:p>
        </p:txBody>
      </p:sp>
      <p:sp>
        <p:nvSpPr>
          <p:cNvPr id="26" name="Text Box 37"/>
          <p:cNvSpPr txBox="1">
            <a:spLocks noChangeArrowheads="1"/>
          </p:cNvSpPr>
          <p:nvPr/>
        </p:nvSpPr>
        <p:spPr bwMode="auto">
          <a:xfrm>
            <a:off x="3190607" y="1329947"/>
            <a:ext cx="1184941"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有效载荷类型</a:t>
            </a:r>
          </a:p>
        </p:txBody>
      </p:sp>
      <p:sp>
        <p:nvSpPr>
          <p:cNvPr id="32" name="Text Box 43"/>
          <p:cNvSpPr txBox="1">
            <a:spLocks noChangeArrowheads="1"/>
          </p:cNvSpPr>
          <p:nvPr/>
        </p:nvSpPr>
        <p:spPr bwMode="auto">
          <a:xfrm>
            <a:off x="4025625" y="1620042"/>
            <a:ext cx="88357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时  </a:t>
            </a:r>
            <a:r>
              <a:rPr kumimoji="1" lang="zh-CN" altLang="en-US" sz="1300" b="1" dirty="0" smtClean="0">
                <a:solidFill>
                  <a:schemeClr val="bg1"/>
                </a:solidFill>
                <a:latin typeface="微软雅黑" pitchFamily="34" charset="-122"/>
                <a:ea typeface="微软雅黑" pitchFamily="34" charset="-122"/>
              </a:rPr>
              <a:t>间  戳</a:t>
            </a:r>
            <a:endParaRPr kumimoji="1" lang="zh-CN" altLang="en-US" sz="1300" b="1" dirty="0">
              <a:solidFill>
                <a:schemeClr val="bg1"/>
              </a:solidFill>
              <a:latin typeface="微软雅黑" pitchFamily="34" charset="-122"/>
              <a:ea typeface="微软雅黑" pitchFamily="34" charset="-122"/>
            </a:endParaRPr>
          </a:p>
        </p:txBody>
      </p:sp>
      <p:sp>
        <p:nvSpPr>
          <p:cNvPr id="33" name="Text Box 44"/>
          <p:cNvSpPr txBox="1">
            <a:spLocks noChangeArrowheads="1"/>
          </p:cNvSpPr>
          <p:nvPr/>
        </p:nvSpPr>
        <p:spPr bwMode="auto">
          <a:xfrm>
            <a:off x="3647340" y="1893529"/>
            <a:ext cx="20935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同 </a:t>
            </a:r>
            <a:r>
              <a:rPr kumimoji="1" lang="zh-CN" altLang="en-US" sz="1300" b="1" dirty="0" smtClean="0">
                <a:solidFill>
                  <a:schemeClr val="bg1"/>
                </a:solidFill>
                <a:latin typeface="微软雅黑" pitchFamily="34" charset="-122"/>
                <a:ea typeface="微软雅黑" pitchFamily="34" charset="-122"/>
              </a:rPr>
              <a:t>步 源 标 </a:t>
            </a:r>
            <a:r>
              <a:rPr kumimoji="1" lang="zh-CN" altLang="en-US" sz="1300" b="1" dirty="0">
                <a:solidFill>
                  <a:schemeClr val="bg1"/>
                </a:solidFill>
                <a:latin typeface="微软雅黑" pitchFamily="34" charset="-122"/>
                <a:ea typeface="微软雅黑" pitchFamily="34" charset="-122"/>
              </a:rPr>
              <a:t>识 </a:t>
            </a:r>
            <a:r>
              <a:rPr kumimoji="1" lang="zh-CN" altLang="en-US" sz="1300" b="1" dirty="0" smtClean="0">
                <a:solidFill>
                  <a:schemeClr val="bg1"/>
                </a:solidFill>
                <a:latin typeface="微软雅黑" pitchFamily="34" charset="-122"/>
                <a:ea typeface="微软雅黑" pitchFamily="34" charset="-122"/>
              </a:rPr>
              <a:t>符 </a:t>
            </a:r>
            <a:r>
              <a:rPr kumimoji="1" lang="en-US" altLang="zh-CN" sz="1300" b="1" dirty="0">
                <a:solidFill>
                  <a:schemeClr val="bg1"/>
                </a:solidFill>
                <a:latin typeface="微软雅黑" pitchFamily="34" charset="-122"/>
                <a:ea typeface="微软雅黑" pitchFamily="34" charset="-122"/>
              </a:rPr>
              <a:t>(SSRC)</a:t>
            </a:r>
          </a:p>
        </p:txBody>
      </p:sp>
      <p:sp>
        <p:nvSpPr>
          <p:cNvPr id="34" name="Text Box 45"/>
          <p:cNvSpPr txBox="1">
            <a:spLocks noChangeArrowheads="1"/>
          </p:cNvSpPr>
          <p:nvPr/>
        </p:nvSpPr>
        <p:spPr bwMode="auto">
          <a:xfrm>
            <a:off x="3045543" y="2203552"/>
            <a:ext cx="2739532" cy="442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 </a:t>
            </a:r>
            <a:r>
              <a:rPr kumimoji="1" lang="zh-CN" altLang="en-US" sz="1300" b="1" dirty="0" smtClean="0">
                <a:solidFill>
                  <a:schemeClr val="bg1"/>
                </a:solidFill>
                <a:latin typeface="微软雅黑" pitchFamily="34" charset="-122"/>
                <a:ea typeface="微软雅黑" pitchFamily="34" charset="-122"/>
              </a:rPr>
              <a:t>与 源 标 识 符 </a:t>
            </a:r>
            <a:r>
              <a:rPr kumimoji="1" lang="en-US" altLang="zh-CN" sz="1300" b="1" dirty="0">
                <a:solidFill>
                  <a:schemeClr val="bg1"/>
                </a:solidFill>
                <a:latin typeface="微软雅黑" pitchFamily="34" charset="-122"/>
                <a:ea typeface="微软雅黑" pitchFamily="34" charset="-122"/>
              </a:rPr>
              <a:t>(CSRC) [0..15]</a:t>
            </a:r>
          </a:p>
          <a:p>
            <a:pPr algn="ctr">
              <a:lnSpc>
                <a:spcPct val="75000"/>
              </a:lnSpc>
            </a:pPr>
            <a:r>
              <a:rPr kumimoji="1" lang="en-US" altLang="zh-CN" sz="1300" b="1" dirty="0">
                <a:solidFill>
                  <a:schemeClr val="bg1"/>
                </a:solidFill>
                <a:latin typeface="微软雅黑" pitchFamily="34" charset="-122"/>
                <a:ea typeface="微软雅黑" pitchFamily="34" charset="-122"/>
              </a:rPr>
              <a:t>…</a:t>
            </a:r>
          </a:p>
        </p:txBody>
      </p:sp>
      <p:sp>
        <p:nvSpPr>
          <p:cNvPr id="52" name="Line 63"/>
          <p:cNvSpPr>
            <a:spLocks noChangeShapeType="1"/>
          </p:cNvSpPr>
          <p:nvPr/>
        </p:nvSpPr>
        <p:spPr bwMode="auto">
          <a:xfrm flipV="1">
            <a:off x="7494020" y="1344381"/>
            <a:ext cx="2906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3" name="Line 64"/>
          <p:cNvSpPr>
            <a:spLocks noChangeShapeType="1"/>
          </p:cNvSpPr>
          <p:nvPr/>
        </p:nvSpPr>
        <p:spPr bwMode="auto">
          <a:xfrm flipV="1">
            <a:off x="7498031" y="2159184"/>
            <a:ext cx="286680" cy="66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1" name="Text Box 38"/>
          <p:cNvSpPr txBox="1">
            <a:spLocks noChangeArrowheads="1"/>
          </p:cNvSpPr>
          <p:nvPr/>
        </p:nvSpPr>
        <p:spPr bwMode="auto">
          <a:xfrm>
            <a:off x="1370596" y="1329947"/>
            <a:ext cx="51809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版本</a:t>
            </a:r>
          </a:p>
        </p:txBody>
      </p:sp>
      <p:sp>
        <p:nvSpPr>
          <p:cNvPr id="54" name="Text Box 39"/>
          <p:cNvSpPr txBox="1">
            <a:spLocks noChangeArrowheads="1"/>
          </p:cNvSpPr>
          <p:nvPr/>
        </p:nvSpPr>
        <p:spPr bwMode="auto">
          <a:xfrm>
            <a:off x="1775080" y="1332161"/>
            <a:ext cx="293670"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P</a:t>
            </a:r>
          </a:p>
        </p:txBody>
      </p:sp>
      <p:sp>
        <p:nvSpPr>
          <p:cNvPr id="55" name="Text Box 41"/>
          <p:cNvSpPr txBox="1">
            <a:spLocks noChangeArrowheads="1"/>
          </p:cNvSpPr>
          <p:nvPr/>
        </p:nvSpPr>
        <p:spPr bwMode="auto">
          <a:xfrm>
            <a:off x="2855695" y="1331055"/>
            <a:ext cx="356188"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M</a:t>
            </a:r>
          </a:p>
        </p:txBody>
      </p:sp>
      <p:sp>
        <p:nvSpPr>
          <p:cNvPr id="63" name="Text Box 40"/>
          <p:cNvSpPr txBox="1">
            <a:spLocks noChangeArrowheads="1"/>
          </p:cNvSpPr>
          <p:nvPr/>
        </p:nvSpPr>
        <p:spPr bwMode="auto">
          <a:xfrm>
            <a:off x="1948410" y="1331055"/>
            <a:ext cx="30168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X</a:t>
            </a:r>
          </a:p>
        </p:txBody>
      </p:sp>
      <p:sp>
        <p:nvSpPr>
          <p:cNvPr id="64" name="Text Box 42"/>
          <p:cNvSpPr txBox="1">
            <a:spLocks noChangeArrowheads="1"/>
          </p:cNvSpPr>
          <p:nvPr/>
        </p:nvSpPr>
        <p:spPr bwMode="auto">
          <a:xfrm>
            <a:off x="2124407" y="1329947"/>
            <a:ext cx="851516"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参与源数</a:t>
            </a:r>
          </a:p>
        </p:txBody>
      </p:sp>
      <p:sp>
        <p:nvSpPr>
          <p:cNvPr id="3" name="矩形 2"/>
          <p:cNvSpPr/>
          <p:nvPr/>
        </p:nvSpPr>
        <p:spPr>
          <a:xfrm>
            <a:off x="1441750" y="2832589"/>
            <a:ext cx="6367184" cy="1502976"/>
          </a:xfrm>
          <a:prstGeom prst="rect">
            <a:avLst/>
          </a:prstGeom>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时间戳：</a:t>
            </a:r>
            <a:r>
              <a:rPr lang="zh-CN" altLang="en-US" sz="1400" b="1" dirty="0" smtClean="0">
                <a:latin typeface="微软雅黑" panose="020B0503020204020204" pitchFamily="34" charset="-122"/>
                <a:ea typeface="微软雅黑" panose="020B0503020204020204" pitchFamily="34" charset="-122"/>
              </a:rPr>
              <a:t>占 </a:t>
            </a:r>
            <a:r>
              <a:rPr lang="en-US" altLang="zh-CN" sz="1400" b="1" dirty="0" smtClean="0">
                <a:latin typeface="微软雅黑" panose="020B0503020204020204" pitchFamily="34" charset="-122"/>
                <a:ea typeface="微软雅黑" panose="020B0503020204020204" pitchFamily="34" charset="-122"/>
              </a:rPr>
              <a:t>32 </a:t>
            </a:r>
            <a:r>
              <a:rPr lang="zh-CN" altLang="en-US" sz="1400" b="1" dirty="0" smtClean="0">
                <a:latin typeface="微软雅黑" panose="020B0503020204020204" pitchFamily="34" charset="-122"/>
                <a:ea typeface="微软雅黑" panose="020B0503020204020204" pitchFamily="34" charset="-122"/>
              </a:rPr>
              <a:t>位</a:t>
            </a:r>
            <a:r>
              <a:rPr lang="zh-CN" altLang="en-US" sz="1400" b="1" dirty="0">
                <a:latin typeface="微软雅黑" panose="020B0503020204020204" pitchFamily="34" charset="-122"/>
                <a:ea typeface="微软雅黑" panose="020B0503020204020204" pitchFamily="34" charset="-122"/>
              </a:rPr>
              <a:t>。每次会话的开始要随机选择时间戳初始值。即使没有信号发送，时间戳的值也要随时间不断地增加。时间戳记录了</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分组中数据的</a:t>
            </a:r>
            <a:r>
              <a:rPr lang="zh-CN" altLang="en-US" sz="1400" b="1" dirty="0">
                <a:solidFill>
                  <a:srgbClr val="C00000"/>
                </a:solidFill>
                <a:latin typeface="微软雅黑" panose="020B0503020204020204" pitchFamily="34" charset="-122"/>
                <a:ea typeface="微软雅黑" panose="020B0503020204020204" pitchFamily="34" charset="-122"/>
              </a:rPr>
              <a:t>第</a:t>
            </a:r>
            <a:r>
              <a:rPr lang="en-US" altLang="zh-CN" sz="1400" b="1" dirty="0">
                <a:solidFill>
                  <a:srgbClr val="C00000"/>
                </a:solidFill>
                <a:latin typeface="微软雅黑" panose="020B0503020204020204" pitchFamily="34" charset="-122"/>
                <a:ea typeface="微软雅黑" panose="020B0503020204020204" pitchFamily="34" charset="-122"/>
              </a:rPr>
              <a:t>1</a:t>
            </a:r>
            <a:r>
              <a:rPr lang="zh-CN" altLang="en-US" sz="1400" b="1" dirty="0">
                <a:solidFill>
                  <a:srgbClr val="C00000"/>
                </a:solidFill>
                <a:latin typeface="微软雅黑" panose="020B0503020204020204" pitchFamily="34" charset="-122"/>
                <a:ea typeface="微软雅黑" panose="020B0503020204020204" pitchFamily="34" charset="-122"/>
              </a:rPr>
              <a:t>字节的采样时刻</a:t>
            </a:r>
            <a:r>
              <a:rPr lang="zh-CN" altLang="en-US" sz="1400" b="1" dirty="0">
                <a:latin typeface="微软雅黑" panose="020B0503020204020204" pitchFamily="34" charset="-122"/>
                <a:ea typeface="微软雅黑" panose="020B0503020204020204" pitchFamily="34" charset="-122"/>
              </a:rPr>
              <a:t>。接收方使用时间戳可在准确时间还原数据块，从而消除时延的抖动。时间戳还可用来使视频应用中的声音和图像同步。在</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协议中并没有规定时间戳的</a:t>
            </a:r>
            <a:r>
              <a:rPr lang="zh-CN" altLang="en-US" sz="1400" b="1" dirty="0">
                <a:solidFill>
                  <a:srgbClr val="C00000"/>
                </a:solidFill>
                <a:latin typeface="微软雅黑" panose="020B0503020204020204" pitchFamily="34" charset="-122"/>
                <a:ea typeface="微软雅黑" panose="020B0503020204020204" pitchFamily="34" charset="-122"/>
              </a:rPr>
              <a:t>粒度</a:t>
            </a:r>
            <a:r>
              <a:rPr lang="zh-CN" altLang="en-US" sz="1400" b="1" dirty="0">
                <a:latin typeface="微软雅黑" panose="020B0503020204020204" pitchFamily="34" charset="-122"/>
                <a:ea typeface="微软雅黑" panose="020B0503020204020204" pitchFamily="34" charset="-122"/>
              </a:rPr>
              <a:t>，这取决于有效载荷的类型</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35" name="矩形 34"/>
          <p:cNvSpPr/>
          <p:nvPr/>
        </p:nvSpPr>
        <p:spPr>
          <a:xfrm>
            <a:off x="1441749" y="1605486"/>
            <a:ext cx="5980645" cy="303460"/>
          </a:xfrm>
          <a:prstGeom prst="rect">
            <a:avLst/>
          </a:prstGeom>
          <a:noFill/>
          <a:ln w="38100">
            <a:solidFill>
              <a:srgbClr val="CC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37" name="Rectangle 6"/>
          <p:cNvSpPr>
            <a:spLocks noChangeArrowheads="1"/>
          </p:cNvSpPr>
          <p:nvPr/>
        </p:nvSpPr>
        <p:spPr bwMode="auto">
          <a:xfrm>
            <a:off x="3009878" y="569848"/>
            <a:ext cx="31242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 </a:t>
            </a:r>
            <a:r>
              <a:rPr lang="zh-CN" altLang="en-US" sz="2400" b="1" dirty="0">
                <a:solidFill>
                  <a:schemeClr val="bg1"/>
                </a:solidFill>
                <a:latin typeface="微软雅黑" pitchFamily="34" charset="-122"/>
                <a:ea typeface="微软雅黑" pitchFamily="34" charset="-122"/>
              </a:rPr>
              <a:t>分组的首部格式 </a:t>
            </a:r>
          </a:p>
        </p:txBody>
      </p:sp>
    </p:spTree>
    <p:extLst>
      <p:ext uri="{BB962C8B-B14F-4D97-AF65-F5344CB8AC3E}">
        <p14:creationId xmlns:p14="http://schemas.microsoft.com/office/powerpoint/2010/main" val="2577937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圆角矩形 8"/>
          <p:cNvSpPr/>
          <p:nvPr/>
        </p:nvSpPr>
        <p:spPr>
          <a:xfrm>
            <a:off x="509474" y="1072669"/>
            <a:ext cx="8129015" cy="32803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Line 21"/>
          <p:cNvSpPr>
            <a:spLocks noChangeShapeType="1"/>
          </p:cNvSpPr>
          <p:nvPr/>
        </p:nvSpPr>
        <p:spPr bwMode="auto">
          <a:xfrm rot="16200000">
            <a:off x="7249175" y="1747926"/>
            <a:ext cx="835958"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1" name="Text Box 22"/>
          <p:cNvSpPr txBox="1">
            <a:spLocks noChangeArrowheads="1"/>
          </p:cNvSpPr>
          <p:nvPr/>
        </p:nvSpPr>
        <p:spPr bwMode="auto">
          <a:xfrm>
            <a:off x="7485953" y="1507421"/>
            <a:ext cx="804815" cy="492443"/>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200">
                <a:latin typeface="微软雅黑" pitchFamily="34" charset="-122"/>
                <a:ea typeface="微软雅黑" pitchFamily="34" charset="-122"/>
              </a:defRPr>
            </a:lvl1pPr>
          </a:lstStyle>
          <a:p>
            <a:r>
              <a:rPr lang="en-US" altLang="zh-CN" sz="1300" b="1" dirty="0" smtClean="0"/>
              <a:t>12</a:t>
            </a:r>
            <a:r>
              <a:rPr lang="en-US" altLang="zh-CN" sz="1300" b="1" dirty="0"/>
              <a:t> </a:t>
            </a:r>
            <a:r>
              <a:rPr lang="zh-CN" altLang="en-US" sz="1300" b="1" dirty="0" smtClean="0"/>
              <a:t>字节</a:t>
            </a:r>
            <a:endParaRPr lang="en-US" altLang="zh-CN" sz="1300" b="1" dirty="0" smtClean="0"/>
          </a:p>
          <a:p>
            <a:r>
              <a:rPr lang="zh-CN" altLang="en-US" sz="1300" b="1" dirty="0"/>
              <a:t>必需</a:t>
            </a:r>
          </a:p>
        </p:txBody>
      </p:sp>
      <p:sp>
        <p:nvSpPr>
          <p:cNvPr id="14" name="Rectangle 25"/>
          <p:cNvSpPr>
            <a:spLocks noChangeArrowheads="1"/>
          </p:cNvSpPr>
          <p:nvPr/>
        </p:nvSpPr>
        <p:spPr bwMode="auto">
          <a:xfrm>
            <a:off x="1441749" y="1329948"/>
            <a:ext cx="5993901" cy="1392896"/>
          </a:xfrm>
          <a:prstGeom prst="rect">
            <a:avLst/>
          </a:prstGeom>
          <a:solidFill>
            <a:srgbClr val="0000FF"/>
          </a:solidFill>
          <a:ln w="19050">
            <a:solidFill>
              <a:srgbClr val="FFFF00"/>
            </a:solidFill>
            <a:miter lim="800000"/>
            <a:headEnd/>
            <a:tailEnd/>
          </a:ln>
          <a:effectLst/>
        </p:spPr>
        <p:txBody>
          <a:bodyPr wrap="none" anchor="ctr"/>
          <a:lstStyle/>
          <a:p>
            <a:pPr algn="ctr"/>
            <a:endParaRPr lang="zh-CN" altLang="en-US" sz="1300" b="1">
              <a:latin typeface="微软雅黑" pitchFamily="34" charset="-122"/>
              <a:ea typeface="微软雅黑" pitchFamily="34" charset="-122"/>
            </a:endParaRPr>
          </a:p>
        </p:txBody>
      </p:sp>
      <p:sp>
        <p:nvSpPr>
          <p:cNvPr id="15" name="Text Box 26"/>
          <p:cNvSpPr txBox="1">
            <a:spLocks noChangeArrowheads="1"/>
          </p:cNvSpPr>
          <p:nvPr/>
        </p:nvSpPr>
        <p:spPr bwMode="auto">
          <a:xfrm>
            <a:off x="5513986" y="1331055"/>
            <a:ext cx="10150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序          号</a:t>
            </a:r>
          </a:p>
        </p:txBody>
      </p:sp>
      <p:sp>
        <p:nvSpPr>
          <p:cNvPr id="16" name="Line 27"/>
          <p:cNvSpPr>
            <a:spLocks noChangeShapeType="1"/>
          </p:cNvSpPr>
          <p:nvPr/>
        </p:nvSpPr>
        <p:spPr bwMode="auto">
          <a:xfrm>
            <a:off x="1441749" y="1608970"/>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7" name="Line 28"/>
          <p:cNvSpPr>
            <a:spLocks noChangeShapeType="1"/>
          </p:cNvSpPr>
          <p:nvPr/>
        </p:nvSpPr>
        <p:spPr bwMode="auto">
          <a:xfrm>
            <a:off x="1817193"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8" name="Line 29"/>
          <p:cNvSpPr>
            <a:spLocks noChangeShapeType="1"/>
          </p:cNvSpPr>
          <p:nvPr/>
        </p:nvSpPr>
        <p:spPr bwMode="auto">
          <a:xfrm>
            <a:off x="200431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19" name="Line 30"/>
          <p:cNvSpPr>
            <a:spLocks noChangeShapeType="1"/>
          </p:cNvSpPr>
          <p:nvPr/>
        </p:nvSpPr>
        <p:spPr bwMode="auto">
          <a:xfrm>
            <a:off x="2191438"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0" name="Line 31"/>
          <p:cNvSpPr>
            <a:spLocks noChangeShapeType="1"/>
          </p:cNvSpPr>
          <p:nvPr/>
        </p:nvSpPr>
        <p:spPr bwMode="auto">
          <a:xfrm>
            <a:off x="2939926"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1" name="Line 32"/>
          <p:cNvSpPr>
            <a:spLocks noChangeShapeType="1"/>
          </p:cNvSpPr>
          <p:nvPr/>
        </p:nvSpPr>
        <p:spPr bwMode="auto">
          <a:xfrm>
            <a:off x="3127047"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2" name="Line 33"/>
          <p:cNvSpPr>
            <a:spLocks noChangeShapeType="1"/>
          </p:cNvSpPr>
          <p:nvPr/>
        </p:nvSpPr>
        <p:spPr bwMode="auto">
          <a:xfrm>
            <a:off x="4438101" y="1329947"/>
            <a:ext cx="0" cy="279022"/>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3" name="Line 34"/>
          <p:cNvSpPr>
            <a:spLocks noChangeShapeType="1"/>
          </p:cNvSpPr>
          <p:nvPr/>
        </p:nvSpPr>
        <p:spPr bwMode="auto">
          <a:xfrm>
            <a:off x="1441749" y="1886883"/>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4" name="Line 35"/>
          <p:cNvSpPr>
            <a:spLocks noChangeShapeType="1"/>
          </p:cNvSpPr>
          <p:nvPr/>
        </p:nvSpPr>
        <p:spPr bwMode="auto">
          <a:xfrm>
            <a:off x="1441749" y="2165906"/>
            <a:ext cx="5993901"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25" name="Text Box 36"/>
          <p:cNvSpPr txBox="1">
            <a:spLocks noChangeArrowheads="1"/>
          </p:cNvSpPr>
          <p:nvPr/>
        </p:nvSpPr>
        <p:spPr bwMode="auto">
          <a:xfrm>
            <a:off x="1071192" y="1088571"/>
            <a:ext cx="673774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位 </a:t>
            </a:r>
            <a:r>
              <a:rPr kumimoji="1" lang="zh-CN" altLang="en-US" sz="1300" b="1" dirty="0" smtClean="0">
                <a:latin typeface="微软雅黑" pitchFamily="34" charset="-122"/>
                <a:ea typeface="微软雅黑" pitchFamily="34" charset="-122"/>
              </a:rPr>
              <a:t>  </a:t>
            </a:r>
            <a:r>
              <a:rPr kumimoji="1" lang="en-US" altLang="zh-CN" sz="1300" b="1" dirty="0" smtClean="0">
                <a:latin typeface="微软雅黑" pitchFamily="34" charset="-122"/>
                <a:ea typeface="微软雅黑" pitchFamily="34" charset="-122"/>
              </a:rPr>
              <a:t>0  </a:t>
            </a:r>
            <a:r>
              <a:rPr kumimoji="1" lang="en-US" altLang="zh-CN" sz="1300" b="1" dirty="0">
                <a:latin typeface="微软雅黑" pitchFamily="34" charset="-122"/>
                <a:ea typeface="微软雅黑" pitchFamily="34" charset="-122"/>
              </a:rPr>
              <a:t>1     </a:t>
            </a:r>
            <a:r>
              <a:rPr kumimoji="1" lang="en-US" altLang="zh-CN" sz="1300" b="1" dirty="0" smtClean="0">
                <a:latin typeface="微软雅黑" pitchFamily="34" charset="-122"/>
                <a:ea typeface="微软雅黑" pitchFamily="34" charset="-122"/>
              </a:rPr>
              <a:t>3                 </a:t>
            </a:r>
            <a:r>
              <a:rPr kumimoji="1" lang="en-US" altLang="zh-CN" sz="1300" b="1" dirty="0">
                <a:latin typeface="微软雅黑" pitchFamily="34" charset="-122"/>
                <a:ea typeface="微软雅黑" pitchFamily="34" charset="-122"/>
              </a:rPr>
              <a:t>8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16 </a:t>
            </a:r>
            <a:r>
              <a:rPr kumimoji="1" lang="en-US" altLang="zh-CN" sz="1300" b="1" dirty="0" smtClean="0">
                <a:latin typeface="微软雅黑" pitchFamily="34" charset="-122"/>
                <a:ea typeface="微软雅黑" pitchFamily="34" charset="-122"/>
              </a:rPr>
              <a:t>                                                    </a:t>
            </a:r>
            <a:r>
              <a:rPr kumimoji="1" lang="en-US" altLang="zh-CN" sz="1300" b="1" dirty="0">
                <a:latin typeface="微软雅黑" pitchFamily="34" charset="-122"/>
                <a:ea typeface="微软雅黑" pitchFamily="34" charset="-122"/>
              </a:rPr>
              <a:t>31</a:t>
            </a:r>
          </a:p>
        </p:txBody>
      </p:sp>
      <p:sp>
        <p:nvSpPr>
          <p:cNvPr id="26" name="Text Box 37"/>
          <p:cNvSpPr txBox="1">
            <a:spLocks noChangeArrowheads="1"/>
          </p:cNvSpPr>
          <p:nvPr/>
        </p:nvSpPr>
        <p:spPr bwMode="auto">
          <a:xfrm>
            <a:off x="3190607" y="1329947"/>
            <a:ext cx="1184941"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有效载荷类型</a:t>
            </a:r>
          </a:p>
        </p:txBody>
      </p:sp>
      <p:sp>
        <p:nvSpPr>
          <p:cNvPr id="32" name="Text Box 43"/>
          <p:cNvSpPr txBox="1">
            <a:spLocks noChangeArrowheads="1"/>
          </p:cNvSpPr>
          <p:nvPr/>
        </p:nvSpPr>
        <p:spPr bwMode="auto">
          <a:xfrm>
            <a:off x="4025625" y="1620042"/>
            <a:ext cx="88357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时  </a:t>
            </a:r>
            <a:r>
              <a:rPr kumimoji="1" lang="zh-CN" altLang="en-US" sz="1300" b="1" dirty="0" smtClean="0">
                <a:solidFill>
                  <a:schemeClr val="bg1"/>
                </a:solidFill>
                <a:latin typeface="微软雅黑" pitchFamily="34" charset="-122"/>
                <a:ea typeface="微软雅黑" pitchFamily="34" charset="-122"/>
              </a:rPr>
              <a:t>间  戳</a:t>
            </a:r>
            <a:endParaRPr kumimoji="1" lang="zh-CN" altLang="en-US" sz="1300" b="1" dirty="0">
              <a:solidFill>
                <a:schemeClr val="bg1"/>
              </a:solidFill>
              <a:latin typeface="微软雅黑" pitchFamily="34" charset="-122"/>
              <a:ea typeface="微软雅黑" pitchFamily="34" charset="-122"/>
            </a:endParaRPr>
          </a:p>
        </p:txBody>
      </p:sp>
      <p:sp>
        <p:nvSpPr>
          <p:cNvPr id="33" name="Text Box 44"/>
          <p:cNvSpPr txBox="1">
            <a:spLocks noChangeArrowheads="1"/>
          </p:cNvSpPr>
          <p:nvPr/>
        </p:nvSpPr>
        <p:spPr bwMode="auto">
          <a:xfrm>
            <a:off x="3647340" y="1893529"/>
            <a:ext cx="209352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同 </a:t>
            </a:r>
            <a:r>
              <a:rPr kumimoji="1" lang="zh-CN" altLang="en-US" sz="1300" b="1" dirty="0" smtClean="0">
                <a:solidFill>
                  <a:schemeClr val="bg1"/>
                </a:solidFill>
                <a:latin typeface="微软雅黑" pitchFamily="34" charset="-122"/>
                <a:ea typeface="微软雅黑" pitchFamily="34" charset="-122"/>
              </a:rPr>
              <a:t>步 源 标 </a:t>
            </a:r>
            <a:r>
              <a:rPr kumimoji="1" lang="zh-CN" altLang="en-US" sz="1300" b="1" dirty="0">
                <a:solidFill>
                  <a:schemeClr val="bg1"/>
                </a:solidFill>
                <a:latin typeface="微软雅黑" pitchFamily="34" charset="-122"/>
                <a:ea typeface="微软雅黑" pitchFamily="34" charset="-122"/>
              </a:rPr>
              <a:t>识 </a:t>
            </a:r>
            <a:r>
              <a:rPr kumimoji="1" lang="zh-CN" altLang="en-US" sz="1300" b="1" dirty="0" smtClean="0">
                <a:solidFill>
                  <a:schemeClr val="bg1"/>
                </a:solidFill>
                <a:latin typeface="微软雅黑" pitchFamily="34" charset="-122"/>
                <a:ea typeface="微软雅黑" pitchFamily="34" charset="-122"/>
              </a:rPr>
              <a:t>符 </a:t>
            </a:r>
            <a:r>
              <a:rPr kumimoji="1" lang="en-US" altLang="zh-CN" sz="1300" b="1" dirty="0">
                <a:solidFill>
                  <a:schemeClr val="bg1"/>
                </a:solidFill>
                <a:latin typeface="微软雅黑" pitchFamily="34" charset="-122"/>
                <a:ea typeface="微软雅黑" pitchFamily="34" charset="-122"/>
              </a:rPr>
              <a:t>(SSRC)</a:t>
            </a:r>
          </a:p>
        </p:txBody>
      </p:sp>
      <p:sp>
        <p:nvSpPr>
          <p:cNvPr id="34" name="Text Box 45"/>
          <p:cNvSpPr txBox="1">
            <a:spLocks noChangeArrowheads="1"/>
          </p:cNvSpPr>
          <p:nvPr/>
        </p:nvSpPr>
        <p:spPr bwMode="auto">
          <a:xfrm>
            <a:off x="3045543" y="2203552"/>
            <a:ext cx="2739532" cy="442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 </a:t>
            </a:r>
            <a:r>
              <a:rPr kumimoji="1" lang="zh-CN" altLang="en-US" sz="1300" b="1" dirty="0" smtClean="0">
                <a:solidFill>
                  <a:schemeClr val="bg1"/>
                </a:solidFill>
                <a:latin typeface="微软雅黑" pitchFamily="34" charset="-122"/>
                <a:ea typeface="微软雅黑" pitchFamily="34" charset="-122"/>
              </a:rPr>
              <a:t>与 源 标 识 符 </a:t>
            </a:r>
            <a:r>
              <a:rPr kumimoji="1" lang="en-US" altLang="zh-CN" sz="1300" b="1" dirty="0">
                <a:solidFill>
                  <a:schemeClr val="bg1"/>
                </a:solidFill>
                <a:latin typeface="微软雅黑" pitchFamily="34" charset="-122"/>
                <a:ea typeface="微软雅黑" pitchFamily="34" charset="-122"/>
              </a:rPr>
              <a:t>(CSRC) [0..15]</a:t>
            </a:r>
          </a:p>
          <a:p>
            <a:pPr algn="ctr">
              <a:lnSpc>
                <a:spcPct val="75000"/>
              </a:lnSpc>
            </a:pPr>
            <a:r>
              <a:rPr kumimoji="1" lang="en-US" altLang="zh-CN" sz="1300" b="1" dirty="0">
                <a:solidFill>
                  <a:schemeClr val="bg1"/>
                </a:solidFill>
                <a:latin typeface="微软雅黑" pitchFamily="34" charset="-122"/>
                <a:ea typeface="微软雅黑" pitchFamily="34" charset="-122"/>
              </a:rPr>
              <a:t>…</a:t>
            </a:r>
          </a:p>
        </p:txBody>
      </p:sp>
      <p:sp>
        <p:nvSpPr>
          <p:cNvPr id="52" name="Line 63"/>
          <p:cNvSpPr>
            <a:spLocks noChangeShapeType="1"/>
          </p:cNvSpPr>
          <p:nvPr/>
        </p:nvSpPr>
        <p:spPr bwMode="auto">
          <a:xfrm flipV="1">
            <a:off x="7494020" y="1344381"/>
            <a:ext cx="2906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3" name="Line 64"/>
          <p:cNvSpPr>
            <a:spLocks noChangeShapeType="1"/>
          </p:cNvSpPr>
          <p:nvPr/>
        </p:nvSpPr>
        <p:spPr bwMode="auto">
          <a:xfrm flipV="1">
            <a:off x="7498031" y="2159184"/>
            <a:ext cx="286680" cy="66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300" b="1">
              <a:latin typeface="微软雅黑" pitchFamily="34" charset="-122"/>
              <a:ea typeface="微软雅黑" pitchFamily="34" charset="-122"/>
            </a:endParaRPr>
          </a:p>
        </p:txBody>
      </p:sp>
      <p:sp>
        <p:nvSpPr>
          <p:cNvPr id="51" name="Text Box 38"/>
          <p:cNvSpPr txBox="1">
            <a:spLocks noChangeArrowheads="1"/>
          </p:cNvSpPr>
          <p:nvPr/>
        </p:nvSpPr>
        <p:spPr bwMode="auto">
          <a:xfrm>
            <a:off x="1370596" y="1329947"/>
            <a:ext cx="51809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版本</a:t>
            </a:r>
          </a:p>
        </p:txBody>
      </p:sp>
      <p:sp>
        <p:nvSpPr>
          <p:cNvPr id="54" name="Text Box 39"/>
          <p:cNvSpPr txBox="1">
            <a:spLocks noChangeArrowheads="1"/>
          </p:cNvSpPr>
          <p:nvPr/>
        </p:nvSpPr>
        <p:spPr bwMode="auto">
          <a:xfrm>
            <a:off x="1775080" y="1332161"/>
            <a:ext cx="293670"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P</a:t>
            </a:r>
          </a:p>
        </p:txBody>
      </p:sp>
      <p:sp>
        <p:nvSpPr>
          <p:cNvPr id="55" name="Text Box 41"/>
          <p:cNvSpPr txBox="1">
            <a:spLocks noChangeArrowheads="1"/>
          </p:cNvSpPr>
          <p:nvPr/>
        </p:nvSpPr>
        <p:spPr bwMode="auto">
          <a:xfrm>
            <a:off x="2855695" y="1331055"/>
            <a:ext cx="356188"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M</a:t>
            </a:r>
          </a:p>
        </p:txBody>
      </p:sp>
      <p:sp>
        <p:nvSpPr>
          <p:cNvPr id="63" name="Text Box 40"/>
          <p:cNvSpPr txBox="1">
            <a:spLocks noChangeArrowheads="1"/>
          </p:cNvSpPr>
          <p:nvPr/>
        </p:nvSpPr>
        <p:spPr bwMode="auto">
          <a:xfrm>
            <a:off x="1948410" y="1331055"/>
            <a:ext cx="30168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b="1" dirty="0">
                <a:solidFill>
                  <a:schemeClr val="bg1"/>
                </a:solidFill>
                <a:latin typeface="微软雅黑" pitchFamily="34" charset="-122"/>
                <a:ea typeface="微软雅黑" pitchFamily="34" charset="-122"/>
              </a:rPr>
              <a:t>X</a:t>
            </a:r>
          </a:p>
        </p:txBody>
      </p:sp>
      <p:sp>
        <p:nvSpPr>
          <p:cNvPr id="64" name="Text Box 42"/>
          <p:cNvSpPr txBox="1">
            <a:spLocks noChangeArrowheads="1"/>
          </p:cNvSpPr>
          <p:nvPr/>
        </p:nvSpPr>
        <p:spPr bwMode="auto">
          <a:xfrm>
            <a:off x="2124407" y="1329947"/>
            <a:ext cx="851516"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solidFill>
                  <a:schemeClr val="bg1"/>
                </a:solidFill>
                <a:latin typeface="微软雅黑" pitchFamily="34" charset="-122"/>
                <a:ea typeface="微软雅黑" pitchFamily="34" charset="-122"/>
              </a:rPr>
              <a:t>参与源数</a:t>
            </a:r>
          </a:p>
        </p:txBody>
      </p:sp>
      <p:sp>
        <p:nvSpPr>
          <p:cNvPr id="3" name="矩形 2"/>
          <p:cNvSpPr/>
          <p:nvPr/>
        </p:nvSpPr>
        <p:spPr>
          <a:xfrm>
            <a:off x="1441750" y="2832589"/>
            <a:ext cx="6544010" cy="1475147"/>
          </a:xfrm>
          <a:prstGeom prst="rect">
            <a:avLst/>
          </a:prstGeom>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同步源标识符 </a:t>
            </a:r>
            <a:r>
              <a:rPr lang="en-US" altLang="zh-CN" sz="1400" b="1" dirty="0">
                <a:solidFill>
                  <a:srgbClr val="0000FF"/>
                </a:solidFill>
                <a:latin typeface="微软雅黑" panose="020B0503020204020204" pitchFamily="34" charset="-122"/>
                <a:ea typeface="微软雅黑" panose="020B0503020204020204" pitchFamily="34" charset="-122"/>
              </a:rPr>
              <a:t>SSRC </a:t>
            </a:r>
            <a:r>
              <a:rPr lang="en-US" altLang="zh-CN" sz="1400" b="1" dirty="0">
                <a:latin typeface="微软雅黑" panose="020B0503020204020204" pitchFamily="34" charset="-122"/>
                <a:ea typeface="微软雅黑" panose="020B0503020204020204" pitchFamily="34" charset="-122"/>
              </a:rPr>
              <a:t>(Synchronous </a:t>
            </a:r>
            <a:r>
              <a:rPr lang="en-US" altLang="zh-CN" sz="1400" b="1" dirty="0" err="1">
                <a:latin typeface="微软雅黑" panose="020B0503020204020204" pitchFamily="34" charset="-122"/>
                <a:ea typeface="微软雅黑" panose="020B0503020204020204" pitchFamily="34" charset="-122"/>
              </a:rPr>
              <a:t>SouRCe</a:t>
            </a:r>
            <a:r>
              <a:rPr lang="en-US" altLang="zh-CN" sz="1400" b="1" dirty="0">
                <a:latin typeface="微软雅黑" panose="020B0503020204020204" pitchFamily="34" charset="-122"/>
                <a:ea typeface="微软雅黑" panose="020B0503020204020204" pitchFamily="34" charset="-122"/>
              </a:rPr>
              <a:t> identifier)</a:t>
            </a:r>
            <a:r>
              <a:rPr lang="zh-CN" altLang="en-US" sz="1400" b="1" dirty="0" smtClean="0">
                <a:latin typeface="微软雅黑" panose="020B0503020204020204" pitchFamily="34" charset="-122"/>
                <a:ea typeface="微软雅黑" panose="020B0503020204020204" pitchFamily="34" charset="-122"/>
              </a:rPr>
              <a:t>：占 </a:t>
            </a:r>
            <a:r>
              <a:rPr lang="en-US" altLang="zh-CN" sz="1400" b="1" dirty="0" smtClean="0">
                <a:latin typeface="微软雅黑" panose="020B0503020204020204" pitchFamily="34" charset="-122"/>
                <a:ea typeface="微软雅黑" panose="020B0503020204020204" pitchFamily="34" charset="-122"/>
              </a:rPr>
              <a:t>32 </a:t>
            </a:r>
            <a:r>
              <a:rPr lang="zh-CN" altLang="en-US" sz="1400" b="1" dirty="0" smtClean="0">
                <a:latin typeface="微软雅黑" panose="020B0503020204020204" pitchFamily="34" charset="-122"/>
                <a:ea typeface="微软雅黑" panose="020B0503020204020204" pitchFamily="34" charset="-122"/>
              </a:rPr>
              <a:t>位。是</a:t>
            </a:r>
            <a:r>
              <a:rPr lang="zh-CN" altLang="en-US" sz="1400" b="1" dirty="0">
                <a:latin typeface="微软雅黑" panose="020B0503020204020204" pitchFamily="34" charset="-122"/>
                <a:ea typeface="微软雅黑" panose="020B0503020204020204" pitchFamily="34" charset="-122"/>
              </a:rPr>
              <a:t>一个数，用来</a:t>
            </a:r>
            <a:r>
              <a:rPr lang="zh-CN" altLang="en-US" sz="1400" b="1" dirty="0" smtClean="0">
                <a:latin typeface="微软雅黑" panose="020B0503020204020204" pitchFamily="34" charset="-122"/>
                <a:ea typeface="微软雅黑" panose="020B0503020204020204" pitchFamily="34" charset="-122"/>
              </a:rPr>
              <a:t>标志 </a:t>
            </a:r>
            <a:r>
              <a:rPr lang="en-US" altLang="zh-CN" sz="1400" b="1" dirty="0" smtClean="0">
                <a:latin typeface="微软雅黑" panose="020B0503020204020204" pitchFamily="34" charset="-122"/>
                <a:ea typeface="微软雅黑" panose="020B0503020204020204" pitchFamily="34" charset="-122"/>
              </a:rPr>
              <a:t>RTP </a:t>
            </a:r>
            <a:r>
              <a:rPr lang="zh-CN" altLang="en-US" sz="1400" b="1" dirty="0" smtClean="0">
                <a:latin typeface="微软雅黑" panose="020B0503020204020204" pitchFamily="34" charset="-122"/>
                <a:ea typeface="微软雅黑" panose="020B0503020204020204" pitchFamily="34" charset="-122"/>
              </a:rPr>
              <a:t>流</a:t>
            </a:r>
            <a:r>
              <a:rPr lang="en-US" altLang="zh-CN" sz="1400" b="1" dirty="0">
                <a:latin typeface="微软雅黑" panose="020B0503020204020204" pitchFamily="34" charset="-122"/>
                <a:ea typeface="微软雅黑" panose="020B0503020204020204" pitchFamily="34" charset="-122"/>
              </a:rPr>
              <a:t>(stream</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的</a:t>
            </a:r>
            <a:r>
              <a:rPr lang="zh-CN" altLang="en-US" sz="1400" b="1" dirty="0">
                <a:latin typeface="微软雅黑" panose="020B0503020204020204" pitchFamily="34" charset="-122"/>
                <a:ea typeface="微软雅黑" panose="020B0503020204020204" pitchFamily="34" charset="-122"/>
              </a:rPr>
              <a:t>来源。在新的</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流开始时随机地产生。</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可以同时有多个</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流（例如，使用几个摄像机从不同角度拍摄同一个节目，就产生了多个</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流）复用到一个</a:t>
            </a:r>
            <a:r>
              <a:rPr lang="en-US" altLang="zh-CN" sz="1400" b="1" dirty="0">
                <a:latin typeface="微软雅黑" panose="020B0503020204020204" pitchFamily="34" charset="-122"/>
                <a:ea typeface="微软雅黑" panose="020B0503020204020204" pitchFamily="34" charset="-122"/>
              </a:rPr>
              <a:t>UDP</a:t>
            </a:r>
            <a:r>
              <a:rPr lang="zh-CN" altLang="en-US" sz="1400" b="1" dirty="0">
                <a:latin typeface="微软雅黑" panose="020B0503020204020204" pitchFamily="34" charset="-122"/>
                <a:ea typeface="微软雅黑" panose="020B0503020204020204" pitchFamily="34" charset="-122"/>
              </a:rPr>
              <a:t>用户数据报中。</a:t>
            </a:r>
            <a:r>
              <a:rPr lang="en-US" altLang="zh-CN" sz="1400" b="1" dirty="0">
                <a:latin typeface="微软雅黑" panose="020B0503020204020204" pitchFamily="34" charset="-122"/>
                <a:ea typeface="微软雅黑" panose="020B0503020204020204" pitchFamily="34" charset="-122"/>
              </a:rPr>
              <a:t>SSRC</a:t>
            </a:r>
            <a:r>
              <a:rPr lang="zh-CN" altLang="en-US" sz="1400" b="1" dirty="0">
                <a:latin typeface="微软雅黑" panose="020B0503020204020204" pitchFamily="34" charset="-122"/>
                <a:ea typeface="微软雅黑" panose="020B0503020204020204" pitchFamily="34" charset="-122"/>
              </a:rPr>
              <a:t>使接收方的</a:t>
            </a:r>
            <a:r>
              <a:rPr lang="en-US" altLang="zh-CN" sz="1400" b="1" dirty="0">
                <a:latin typeface="微软雅黑" panose="020B0503020204020204" pitchFamily="34" charset="-122"/>
                <a:ea typeface="微软雅黑" panose="020B0503020204020204" pitchFamily="34" charset="-122"/>
              </a:rPr>
              <a:t>UDP</a:t>
            </a:r>
            <a:r>
              <a:rPr lang="zh-CN" altLang="en-US" sz="1400" b="1" dirty="0">
                <a:latin typeface="微软雅黑" panose="020B0503020204020204" pitchFamily="34" charset="-122"/>
                <a:ea typeface="微软雅黑" panose="020B0503020204020204" pitchFamily="34" charset="-122"/>
              </a:rPr>
              <a:t>能够把收到的</a:t>
            </a:r>
            <a:r>
              <a:rPr lang="en-US" altLang="zh-CN" sz="1400" b="1" dirty="0">
                <a:latin typeface="微软雅黑" panose="020B0503020204020204" pitchFamily="34" charset="-122"/>
                <a:ea typeface="微软雅黑" panose="020B0503020204020204" pitchFamily="34" charset="-122"/>
              </a:rPr>
              <a:t>RTP</a:t>
            </a:r>
            <a:r>
              <a:rPr lang="zh-CN" altLang="en-US" sz="1400" b="1" dirty="0">
                <a:latin typeface="微软雅黑" panose="020B0503020204020204" pitchFamily="34" charset="-122"/>
                <a:ea typeface="微软雅黑" panose="020B0503020204020204" pitchFamily="34" charset="-122"/>
              </a:rPr>
              <a:t>流送到各自的终点。</a:t>
            </a:r>
          </a:p>
        </p:txBody>
      </p:sp>
      <p:sp>
        <p:nvSpPr>
          <p:cNvPr id="36" name="矩形 35"/>
          <p:cNvSpPr/>
          <p:nvPr/>
        </p:nvSpPr>
        <p:spPr>
          <a:xfrm>
            <a:off x="1441749" y="1873710"/>
            <a:ext cx="5980645" cy="303460"/>
          </a:xfrm>
          <a:prstGeom prst="rect">
            <a:avLst/>
          </a:prstGeom>
          <a:noFill/>
          <a:ln w="38100">
            <a:solidFill>
              <a:srgbClr val="CC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37" name="Rectangle 6"/>
          <p:cNvSpPr>
            <a:spLocks noChangeArrowheads="1"/>
          </p:cNvSpPr>
          <p:nvPr/>
        </p:nvSpPr>
        <p:spPr bwMode="auto">
          <a:xfrm>
            <a:off x="3009878" y="569848"/>
            <a:ext cx="31242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 </a:t>
            </a:r>
            <a:r>
              <a:rPr lang="zh-CN" altLang="en-US" sz="2400" b="1" dirty="0">
                <a:solidFill>
                  <a:schemeClr val="bg1"/>
                </a:solidFill>
                <a:latin typeface="微软雅黑" pitchFamily="34" charset="-122"/>
                <a:ea typeface="微软雅黑" pitchFamily="34" charset="-122"/>
              </a:rPr>
              <a:t>分组的首部格式 </a:t>
            </a:r>
          </a:p>
        </p:txBody>
      </p:sp>
    </p:spTree>
    <p:extLst>
      <p:ext uri="{BB962C8B-B14F-4D97-AF65-F5344CB8AC3E}">
        <p14:creationId xmlns:p14="http://schemas.microsoft.com/office/powerpoint/2010/main" val="7149714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12"/>
          <p:cNvSpPr>
            <a:spLocks noChangeArrowheads="1"/>
          </p:cNvSpPr>
          <p:nvPr/>
        </p:nvSpPr>
        <p:spPr bwMode="auto">
          <a:xfrm>
            <a:off x="511896" y="619605"/>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9" name="Rectangle 13"/>
          <p:cNvSpPr>
            <a:spLocks noChangeArrowheads="1"/>
          </p:cNvSpPr>
          <p:nvPr/>
        </p:nvSpPr>
        <p:spPr bwMode="auto">
          <a:xfrm>
            <a:off x="2808709" y="594141"/>
            <a:ext cx="353539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实时传输控制协议 </a:t>
            </a:r>
            <a:r>
              <a:rPr lang="en-US" altLang="zh-CN" sz="2400" b="1" dirty="0">
                <a:solidFill>
                  <a:schemeClr val="bg1"/>
                </a:solidFill>
                <a:latin typeface="微软雅黑" pitchFamily="34" charset="-122"/>
                <a:ea typeface="微软雅黑" pitchFamily="34" charset="-122"/>
              </a:rPr>
              <a:t>RTCP</a:t>
            </a:r>
          </a:p>
        </p:txBody>
      </p:sp>
      <p:sp>
        <p:nvSpPr>
          <p:cNvPr id="7" name="Rectangle 8"/>
          <p:cNvSpPr>
            <a:spLocks noChangeArrowheads="1"/>
          </p:cNvSpPr>
          <p:nvPr/>
        </p:nvSpPr>
        <p:spPr bwMode="auto">
          <a:xfrm>
            <a:off x="511896" y="1053490"/>
            <a:ext cx="8129015"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RTCP (RTP Control Protocol) </a:t>
            </a:r>
            <a:r>
              <a:rPr lang="zh-CN" altLang="en-US" sz="2000" b="1" dirty="0">
                <a:latin typeface="微软雅黑" pitchFamily="34" charset="-122"/>
                <a:ea typeface="微软雅黑" pitchFamily="34" charset="-122"/>
              </a:rPr>
              <a:t>是</a:t>
            </a:r>
            <a:r>
              <a:rPr lang="zh-CN" altLang="en-US" sz="2000" b="1" dirty="0">
                <a:solidFill>
                  <a:srgbClr val="0000FF"/>
                </a:solidFill>
                <a:latin typeface="微软雅黑" pitchFamily="34" charset="-122"/>
                <a:ea typeface="微软雅黑" pitchFamily="34" charset="-122"/>
              </a:rPr>
              <a:t>与 </a:t>
            </a:r>
            <a:r>
              <a:rPr lang="en-US" altLang="zh-CN" sz="2000" b="1" dirty="0">
                <a:solidFill>
                  <a:srgbClr val="0000FF"/>
                </a:solidFill>
                <a:latin typeface="微软雅黑" pitchFamily="34" charset="-122"/>
                <a:ea typeface="微软雅黑" pitchFamily="34" charset="-122"/>
              </a:rPr>
              <a:t>RTP </a:t>
            </a:r>
            <a:r>
              <a:rPr lang="zh-CN" altLang="en-US" sz="2000" b="1" dirty="0">
                <a:solidFill>
                  <a:srgbClr val="0000FF"/>
                </a:solidFill>
                <a:latin typeface="微软雅黑" pitchFamily="34" charset="-122"/>
                <a:ea typeface="微软雅黑" pitchFamily="34" charset="-122"/>
              </a:rPr>
              <a:t>配合使用</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协议，与 </a:t>
            </a:r>
            <a:r>
              <a:rPr lang="en-US" altLang="zh-CN" sz="2000" b="1" dirty="0" smtClean="0">
                <a:latin typeface="微软雅黑" pitchFamily="34" charset="-122"/>
                <a:ea typeface="微软雅黑" pitchFamily="34" charset="-122"/>
              </a:rPr>
              <a:t>RTP </a:t>
            </a:r>
            <a:r>
              <a:rPr lang="zh-CN" altLang="en-US" sz="2000" b="1" dirty="0" smtClean="0">
                <a:latin typeface="微软雅黑" pitchFamily="34" charset="-122"/>
                <a:ea typeface="微软雅黑" pitchFamily="34" charset="-122"/>
              </a:rPr>
              <a:t>协议不可分割。</a:t>
            </a:r>
            <a:endParaRPr lang="zh-CN" altLang="en-US"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主要</a:t>
            </a:r>
            <a:r>
              <a:rPr lang="zh-CN" altLang="en-US" sz="2000" b="1" dirty="0">
                <a:solidFill>
                  <a:srgbClr val="0000FF"/>
                </a:solidFill>
                <a:latin typeface="微软雅黑" pitchFamily="34" charset="-122"/>
                <a:ea typeface="微软雅黑" pitchFamily="34" charset="-122"/>
              </a:rPr>
              <a:t>功能</a:t>
            </a:r>
            <a:r>
              <a:rPr lang="zh-CN" altLang="en-US" sz="2000" b="1" dirty="0">
                <a:latin typeface="微软雅黑" pitchFamily="34" charset="-122"/>
                <a:ea typeface="微软雅黑" pitchFamily="34" charset="-122"/>
              </a:rPr>
              <a:t>：</a:t>
            </a:r>
          </a:p>
          <a:p>
            <a:pPr marL="684000"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服务质量的监视与反馈；</a:t>
            </a:r>
          </a:p>
          <a:p>
            <a:pPr marL="684000"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媒体间的同步；</a:t>
            </a:r>
          </a:p>
          <a:p>
            <a:pPr marL="684000" indent="-342900">
              <a:lnSpc>
                <a:spcPts val="3300"/>
              </a:lnSpc>
              <a:buClr>
                <a:srgbClr val="7030A0"/>
              </a:buClr>
              <a:buFont typeface="+mj-lt"/>
              <a:buAutoNum type="arabicPeriod"/>
            </a:pPr>
            <a:r>
              <a:rPr lang="zh-CN" altLang="en-US" sz="2000" b="1" dirty="0" smtClean="0">
                <a:latin typeface="微软雅黑" pitchFamily="34" charset="-122"/>
                <a:ea typeface="微软雅黑" pitchFamily="34" charset="-122"/>
              </a:rPr>
              <a:t>多播</a:t>
            </a:r>
            <a:r>
              <a:rPr lang="zh-CN" altLang="en-US" sz="2000" b="1" dirty="0">
                <a:latin typeface="微软雅黑" pitchFamily="34" charset="-122"/>
                <a:ea typeface="微软雅黑" pitchFamily="34" charset="-122"/>
              </a:rPr>
              <a:t>组中成员</a:t>
            </a:r>
            <a:r>
              <a:rPr lang="zh-CN" altLang="en-US" sz="2000" b="1" dirty="0" smtClean="0">
                <a:latin typeface="微软雅黑" pitchFamily="34" charset="-122"/>
                <a:ea typeface="微软雅黑" pitchFamily="34" charset="-122"/>
              </a:rPr>
              <a:t>的标志。</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0620665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500"/>
                                        <p:tgtEl>
                                          <p:spTgt spid="7">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11896" y="1008124"/>
            <a:ext cx="8129015"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RTCP </a:t>
            </a:r>
            <a:r>
              <a:rPr lang="zh-CN" altLang="en-US" sz="2000" b="1" dirty="0" smtClean="0">
                <a:latin typeface="微软雅黑" pitchFamily="34" charset="-122"/>
                <a:ea typeface="微软雅黑" pitchFamily="34" charset="-122"/>
              </a:rPr>
              <a:t>分组</a:t>
            </a:r>
            <a:r>
              <a:rPr lang="zh-CN" altLang="en-US" sz="2000" b="1" dirty="0" smtClean="0">
                <a:solidFill>
                  <a:srgbClr val="C00000"/>
                </a:solidFill>
                <a:latin typeface="微软雅黑" pitchFamily="34" charset="-122"/>
                <a:ea typeface="微软雅黑" pitchFamily="34" charset="-122"/>
              </a:rPr>
              <a:t>使用 </a:t>
            </a:r>
            <a:r>
              <a:rPr lang="en-US" altLang="zh-CN" sz="2000" b="1" dirty="0">
                <a:solidFill>
                  <a:srgbClr val="C00000"/>
                </a:solidFill>
                <a:latin typeface="微软雅黑" pitchFamily="34" charset="-122"/>
                <a:ea typeface="微软雅黑" pitchFamily="34" charset="-122"/>
              </a:rPr>
              <a:t>UDP </a:t>
            </a:r>
            <a:r>
              <a:rPr lang="zh-CN" altLang="en-US" sz="2000" b="1" dirty="0">
                <a:latin typeface="微软雅黑" pitchFamily="34" charset="-122"/>
                <a:ea typeface="微软雅黑" pitchFamily="34" charset="-122"/>
              </a:rPr>
              <a:t>传送，</a:t>
            </a:r>
            <a:r>
              <a:rPr lang="zh-CN" altLang="en-US" sz="2000" b="1" dirty="0" smtClean="0">
                <a:latin typeface="微软雅黑" pitchFamily="34" charset="-122"/>
                <a:ea typeface="微软雅黑" pitchFamily="34" charset="-122"/>
              </a:rPr>
              <a:t>但</a:t>
            </a:r>
            <a:r>
              <a:rPr lang="zh-CN" altLang="en-US" sz="2000" b="1" dirty="0" smtClean="0">
                <a:solidFill>
                  <a:srgbClr val="C00000"/>
                </a:solidFill>
                <a:latin typeface="微软雅黑" pitchFamily="34" charset="-122"/>
                <a:ea typeface="微软雅黑" pitchFamily="34" charset="-122"/>
              </a:rPr>
              <a:t>不对</a:t>
            </a:r>
            <a:r>
              <a:rPr lang="zh-CN" altLang="en-US" sz="2000" b="1" dirty="0" smtClean="0">
                <a:latin typeface="微软雅黑" pitchFamily="34" charset="-122"/>
                <a:ea typeface="微软雅黑" pitchFamily="34" charset="-122"/>
              </a:rPr>
              <a:t>音频</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视频分组进行封装。</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可将</a:t>
            </a:r>
            <a:r>
              <a:rPr lang="zh-CN" altLang="en-US" sz="2000" b="1" dirty="0">
                <a:solidFill>
                  <a:srgbClr val="C00000"/>
                </a:solidFill>
                <a:latin typeface="微软雅黑" pitchFamily="34" charset="-122"/>
                <a:ea typeface="微软雅黑" pitchFamily="34" charset="-122"/>
              </a:rPr>
              <a:t>多个</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RTCP </a:t>
            </a:r>
            <a:r>
              <a:rPr lang="zh-CN" altLang="en-US" sz="2000" b="1" dirty="0">
                <a:latin typeface="微软雅黑" pitchFamily="34" charset="-122"/>
                <a:ea typeface="微软雅黑" pitchFamily="34" charset="-122"/>
              </a:rPr>
              <a:t>分组封装</a:t>
            </a:r>
            <a:r>
              <a:rPr lang="zh-CN" altLang="en-US" sz="2000" b="1" dirty="0" smtClean="0">
                <a:latin typeface="微软雅黑" pitchFamily="34" charset="-122"/>
                <a:ea typeface="微软雅黑" pitchFamily="34" charset="-122"/>
              </a:rPr>
              <a:t>在同一</a:t>
            </a:r>
            <a:r>
              <a:rPr lang="zh-CN" altLang="en-US" sz="2000" b="1" dirty="0">
                <a:latin typeface="微软雅黑" pitchFamily="34" charset="-122"/>
                <a:ea typeface="微软雅黑" pitchFamily="34" charset="-122"/>
              </a:rPr>
              <a:t>个 </a:t>
            </a:r>
            <a:r>
              <a:rPr lang="en-US" altLang="zh-CN" sz="2000" b="1" dirty="0">
                <a:latin typeface="微软雅黑" pitchFamily="34" charset="-122"/>
                <a:ea typeface="微软雅黑" pitchFamily="34" charset="-122"/>
              </a:rPr>
              <a:t>UDP </a:t>
            </a:r>
            <a:r>
              <a:rPr lang="zh-CN" altLang="en-US" sz="2000" b="1" dirty="0">
                <a:latin typeface="微软雅黑" pitchFamily="34" charset="-122"/>
                <a:ea typeface="微软雅黑" pitchFamily="34" charset="-122"/>
              </a:rPr>
              <a:t>用户数据报中。</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RTCP </a:t>
            </a:r>
            <a:r>
              <a:rPr lang="zh-CN" altLang="en-US" sz="2000" b="1" dirty="0">
                <a:latin typeface="微软雅黑" pitchFamily="34" charset="-122"/>
                <a:ea typeface="微软雅黑" pitchFamily="34" charset="-122"/>
              </a:rPr>
              <a:t>分组</a:t>
            </a:r>
            <a:r>
              <a:rPr lang="zh-CN" altLang="en-US" sz="2000" b="1" dirty="0">
                <a:solidFill>
                  <a:srgbClr val="C00000"/>
                </a:solidFill>
                <a:latin typeface="微软雅黑" pitchFamily="34" charset="-122"/>
                <a:ea typeface="微软雅黑" pitchFamily="34" charset="-122"/>
              </a:rPr>
              <a:t>周期性</a:t>
            </a:r>
            <a:r>
              <a:rPr lang="zh-CN" altLang="en-US" sz="2000" b="1" dirty="0">
                <a:latin typeface="微软雅黑" pitchFamily="34" charset="-122"/>
                <a:ea typeface="微软雅黑" pitchFamily="34" charset="-122"/>
              </a:rPr>
              <a:t>地在网上传送，它带有发送端和接收端对服务质量的统计信息报告。 </a:t>
            </a:r>
            <a:endParaRPr lang="en-US" altLang="zh-CN" sz="2000"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已发送的分组数和字节数、分组丢失率、分组到达时间间隔的抖动</a:t>
            </a:r>
            <a:r>
              <a:rPr lang="zh-CN" altLang="en-US" b="1" dirty="0" smtClean="0">
                <a:latin typeface="微软雅黑" pitchFamily="34" charset="-122"/>
                <a:ea typeface="微软雅黑" pitchFamily="34" charset="-122"/>
              </a:rPr>
              <a:t>等。</a:t>
            </a:r>
            <a:endParaRPr lang="zh-CN" altLang="en-US" b="1" dirty="0">
              <a:latin typeface="微软雅黑" pitchFamily="34" charset="-122"/>
              <a:ea typeface="微软雅黑" pitchFamily="34" charset="-122"/>
            </a:endParaRPr>
          </a:p>
        </p:txBody>
      </p:sp>
      <p:sp>
        <p:nvSpPr>
          <p:cNvPr id="8"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9" name="Rectangle 6"/>
          <p:cNvSpPr>
            <a:spLocks noChangeArrowheads="1"/>
          </p:cNvSpPr>
          <p:nvPr/>
        </p:nvSpPr>
        <p:spPr bwMode="auto">
          <a:xfrm>
            <a:off x="3681952" y="569848"/>
            <a:ext cx="17801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RTCP </a:t>
            </a:r>
            <a:r>
              <a:rPr lang="zh-CN" altLang="en-US" sz="2400" b="1" dirty="0">
                <a:solidFill>
                  <a:schemeClr val="bg1"/>
                </a:solidFill>
                <a:latin typeface="微软雅黑" pitchFamily="34" charset="-122"/>
                <a:ea typeface="微软雅黑" pitchFamily="34" charset="-122"/>
              </a:rPr>
              <a:t>分组 </a:t>
            </a:r>
          </a:p>
        </p:txBody>
      </p:sp>
    </p:spTree>
    <p:custDataLst>
      <p:tags r:id="rId1"/>
    </p:custDataLst>
    <p:extLst>
      <p:ext uri="{BB962C8B-B14F-4D97-AF65-F5344CB8AC3E}">
        <p14:creationId xmlns:p14="http://schemas.microsoft.com/office/powerpoint/2010/main" val="15702398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fade">
                                      <p:cBhvr>
                                        <p:cTn id="7" dur="500"/>
                                        <p:tgtEl>
                                          <p:spTgt spid="7">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fade">
                                      <p:cBhvr>
                                        <p:cTn id="10"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11896" y="1008124"/>
            <a:ext cx="8129015"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发送方报告</a:t>
            </a:r>
            <a:r>
              <a:rPr lang="en-US" altLang="zh-CN" sz="2000" b="1" dirty="0">
                <a:solidFill>
                  <a:srgbClr val="C00000"/>
                </a:solidFill>
                <a:latin typeface="微软雅黑" pitchFamily="34" charset="-122"/>
                <a:ea typeface="微软雅黑" pitchFamily="34" charset="-122"/>
              </a:rPr>
              <a:t>SR (Sender Report)</a:t>
            </a:r>
            <a:r>
              <a:rPr lang="zh-CN" altLang="en-US" sz="2000" b="1" dirty="0" smtClean="0">
                <a:solidFill>
                  <a:srgbClr val="C00000"/>
                </a:solidFill>
                <a:latin typeface="微软雅黑" pitchFamily="34" charset="-122"/>
                <a:ea typeface="微软雅黑" pitchFamily="34" charset="-122"/>
              </a:rPr>
              <a:t>分组</a:t>
            </a:r>
            <a:endParaRPr lang="en-US" altLang="zh-CN" sz="2000"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发送</a:t>
            </a:r>
            <a:r>
              <a:rPr lang="zh-CN" altLang="en-US" b="1" dirty="0">
                <a:latin typeface="微软雅黑" pitchFamily="34" charset="-122"/>
                <a:ea typeface="微软雅黑" pitchFamily="34" charset="-122"/>
              </a:rPr>
              <a:t>方每发送一个</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流，就发送一个发送方报告</a:t>
            </a:r>
            <a:r>
              <a:rPr lang="en-US" altLang="zh-CN" b="1" dirty="0">
                <a:latin typeface="微软雅黑" pitchFamily="34" charset="-122"/>
                <a:ea typeface="微软雅黑" pitchFamily="34" charset="-122"/>
              </a:rPr>
              <a:t>SR</a:t>
            </a:r>
            <a:r>
              <a:rPr lang="zh-CN" altLang="en-US" b="1" dirty="0" smtClean="0">
                <a:latin typeface="微软雅黑" pitchFamily="34" charset="-122"/>
                <a:ea typeface="微软雅黑" pitchFamily="34" charset="-122"/>
              </a:rPr>
              <a:t>分组，主要</a:t>
            </a:r>
            <a:r>
              <a:rPr lang="zh-CN" altLang="en-US" b="1" dirty="0">
                <a:latin typeface="微软雅黑" pitchFamily="34" charset="-122"/>
                <a:ea typeface="微软雅黑" pitchFamily="34" charset="-122"/>
              </a:rPr>
              <a:t>内容有：</a:t>
            </a:r>
            <a:r>
              <a:rPr lang="en-US" altLang="zh-CN" b="1" dirty="0">
                <a:solidFill>
                  <a:srgbClr val="C00000"/>
                </a:solidFill>
                <a:latin typeface="微软雅黑" pitchFamily="34" charset="-122"/>
                <a:ea typeface="微软雅黑" pitchFamily="34" charset="-122"/>
              </a:rPr>
              <a:t>RTP</a:t>
            </a:r>
            <a:r>
              <a:rPr lang="zh-CN" altLang="en-US" b="1" dirty="0">
                <a:solidFill>
                  <a:srgbClr val="C00000"/>
                </a:solidFill>
                <a:latin typeface="微软雅黑" pitchFamily="34" charset="-122"/>
                <a:ea typeface="微软雅黑" pitchFamily="34" charset="-122"/>
              </a:rPr>
              <a:t>流的同步源标识符</a:t>
            </a:r>
            <a:r>
              <a:rPr lang="en-US" altLang="zh-CN" b="1" dirty="0">
                <a:solidFill>
                  <a:srgbClr val="C00000"/>
                </a:solidFill>
                <a:latin typeface="微软雅黑" pitchFamily="34" charset="-122"/>
                <a:ea typeface="微软雅黑" pitchFamily="34" charset="-122"/>
              </a:rPr>
              <a:t>SSRC</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流中最新产生的</a:t>
            </a:r>
            <a:r>
              <a:rPr lang="en-US" altLang="zh-CN" b="1" dirty="0">
                <a:solidFill>
                  <a:srgbClr val="C00000"/>
                </a:solidFill>
                <a:latin typeface="微软雅黑" pitchFamily="34" charset="-122"/>
                <a:ea typeface="微软雅黑" pitchFamily="34" charset="-122"/>
              </a:rPr>
              <a:t>RTP</a:t>
            </a:r>
            <a:r>
              <a:rPr lang="zh-CN" altLang="en-US" b="1" dirty="0">
                <a:solidFill>
                  <a:srgbClr val="C00000"/>
                </a:solidFill>
                <a:latin typeface="微软雅黑" pitchFamily="34" charset="-122"/>
                <a:ea typeface="微软雅黑" pitchFamily="34" charset="-122"/>
              </a:rPr>
              <a:t>分组的时间戳</a:t>
            </a:r>
            <a:r>
              <a:rPr lang="zh-CN" altLang="en-US" b="1" dirty="0">
                <a:latin typeface="微软雅黑" pitchFamily="34" charset="-122"/>
                <a:ea typeface="微软雅黑" pitchFamily="34" charset="-122"/>
              </a:rPr>
              <a:t>和</a:t>
            </a:r>
            <a:r>
              <a:rPr lang="zh-CN" altLang="en-US" b="1" dirty="0">
                <a:solidFill>
                  <a:srgbClr val="C00000"/>
                </a:solidFill>
                <a:latin typeface="微软雅黑" pitchFamily="34" charset="-122"/>
                <a:ea typeface="微软雅黑" pitchFamily="34" charset="-122"/>
              </a:rPr>
              <a:t>绝对时钟时间</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流包含的</a:t>
            </a:r>
            <a:r>
              <a:rPr lang="zh-CN" altLang="en-US" b="1" dirty="0">
                <a:solidFill>
                  <a:srgbClr val="C00000"/>
                </a:solidFill>
                <a:latin typeface="微软雅黑" pitchFamily="34" charset="-122"/>
                <a:ea typeface="微软雅黑" pitchFamily="34" charset="-122"/>
              </a:rPr>
              <a:t>分组数和字节数</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绝对时钟时间是必要的。因为</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要求每一种媒体使用一个流。例如，要传送视频图像和相应的声音就需要传送两个流。</a:t>
            </a:r>
            <a:r>
              <a:rPr lang="zh-CN" altLang="en-US" b="1" dirty="0">
                <a:solidFill>
                  <a:srgbClr val="C00000"/>
                </a:solidFill>
                <a:latin typeface="微软雅黑" pitchFamily="34" charset="-122"/>
                <a:ea typeface="微软雅黑" pitchFamily="34" charset="-122"/>
              </a:rPr>
              <a:t>有了绝对时钟时间就可进行图像和声音的同步</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9" name="Rectangle 6"/>
          <p:cNvSpPr>
            <a:spLocks noChangeArrowheads="1"/>
          </p:cNvSpPr>
          <p:nvPr/>
        </p:nvSpPr>
        <p:spPr bwMode="auto">
          <a:xfrm>
            <a:off x="2912511" y="569848"/>
            <a:ext cx="3318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RTCP </a:t>
            </a:r>
            <a:r>
              <a:rPr lang="zh-CN" altLang="en-US" sz="2400" b="1" dirty="0">
                <a:solidFill>
                  <a:schemeClr val="bg1"/>
                </a:solidFill>
                <a:latin typeface="微软雅黑" pitchFamily="34" charset="-122"/>
                <a:ea typeface="微软雅黑" pitchFamily="34" charset="-122"/>
              </a:rPr>
              <a:t>使用</a:t>
            </a:r>
            <a:r>
              <a:rPr lang="zh-CN" altLang="en-US" sz="2400" b="1" dirty="0" smtClean="0">
                <a:solidFill>
                  <a:schemeClr val="bg1"/>
                </a:solidFill>
                <a:latin typeface="微软雅黑" pitchFamily="34" charset="-122"/>
                <a:ea typeface="微软雅黑" pitchFamily="34" charset="-122"/>
              </a:rPr>
              <a:t>的分组</a:t>
            </a:r>
            <a:r>
              <a:rPr lang="zh-CN" altLang="en-US" sz="2400" b="1" dirty="0">
                <a:solidFill>
                  <a:schemeClr val="bg1"/>
                </a:solidFill>
                <a:latin typeface="微软雅黑" pitchFamily="34" charset="-122"/>
                <a:ea typeface="微软雅黑" pitchFamily="34" charset="-122"/>
              </a:rPr>
              <a:t>类型 </a:t>
            </a:r>
          </a:p>
        </p:txBody>
      </p:sp>
    </p:spTree>
    <p:custDataLst>
      <p:tags r:id="rId1"/>
    </p:custDataLst>
    <p:extLst>
      <p:ext uri="{BB962C8B-B14F-4D97-AF65-F5344CB8AC3E}">
        <p14:creationId xmlns:p14="http://schemas.microsoft.com/office/powerpoint/2010/main" val="16657437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fade">
                                      <p:cBhvr>
                                        <p:cTn id="7"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11896" y="974256"/>
            <a:ext cx="8129015" cy="3901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接收</a:t>
            </a:r>
            <a:r>
              <a:rPr lang="zh-CN" altLang="en-US" sz="2000" b="1" dirty="0">
                <a:solidFill>
                  <a:srgbClr val="C00000"/>
                </a:solidFill>
                <a:latin typeface="微软雅黑" pitchFamily="34" charset="-122"/>
                <a:ea typeface="微软雅黑" pitchFamily="34" charset="-122"/>
              </a:rPr>
              <a:t>方报告</a:t>
            </a:r>
            <a:r>
              <a:rPr lang="en-US" altLang="zh-CN" sz="2000" b="1" dirty="0">
                <a:solidFill>
                  <a:srgbClr val="C00000"/>
                </a:solidFill>
                <a:latin typeface="微软雅黑" pitchFamily="34" charset="-122"/>
                <a:ea typeface="微软雅黑" pitchFamily="34" charset="-122"/>
              </a:rPr>
              <a:t>RR (Receiver Report)</a:t>
            </a:r>
            <a:r>
              <a:rPr lang="zh-CN" altLang="en-US" sz="2000" b="1" dirty="0" smtClean="0">
                <a:solidFill>
                  <a:srgbClr val="C00000"/>
                </a:solidFill>
                <a:latin typeface="微软雅黑" pitchFamily="34" charset="-122"/>
                <a:ea typeface="微软雅黑" pitchFamily="34" charset="-122"/>
              </a:rPr>
              <a:t>分组</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接收</a:t>
            </a:r>
            <a:r>
              <a:rPr lang="zh-CN" altLang="en-US" b="1" dirty="0">
                <a:latin typeface="微软雅黑" pitchFamily="34" charset="-122"/>
                <a:ea typeface="微软雅黑" pitchFamily="34" charset="-122"/>
              </a:rPr>
              <a:t>方每收到一个</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流，就产生一个接收方报告</a:t>
            </a:r>
            <a:r>
              <a:rPr lang="en-US" altLang="zh-CN" b="1" dirty="0">
                <a:latin typeface="微软雅黑" pitchFamily="34" charset="-122"/>
                <a:ea typeface="微软雅黑" pitchFamily="34" charset="-122"/>
              </a:rPr>
              <a:t>RR</a:t>
            </a:r>
            <a:r>
              <a:rPr lang="zh-CN" altLang="en-US" b="1" dirty="0" smtClean="0">
                <a:latin typeface="微软雅黑" pitchFamily="34" charset="-122"/>
                <a:ea typeface="微软雅黑" pitchFamily="34" charset="-122"/>
              </a:rPr>
              <a:t>分组，其中包含了所</a:t>
            </a:r>
            <a:r>
              <a:rPr lang="zh-CN" altLang="en-US" b="1" dirty="0">
                <a:latin typeface="微软雅黑" pitchFamily="34" charset="-122"/>
                <a:ea typeface="微软雅黑" pitchFamily="34" charset="-122"/>
              </a:rPr>
              <a:t>收到的</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流的</a:t>
            </a:r>
            <a:r>
              <a:rPr lang="en-US" altLang="zh-CN" b="1" dirty="0">
                <a:latin typeface="微软雅黑" pitchFamily="34" charset="-122"/>
                <a:ea typeface="微软雅黑" pitchFamily="34" charset="-122"/>
              </a:rPr>
              <a:t>SSRC</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流的分组</a:t>
            </a:r>
            <a:r>
              <a:rPr lang="zh-CN" altLang="en-US" b="1" dirty="0" smtClean="0">
                <a:latin typeface="微软雅黑" pitchFamily="34" charset="-122"/>
                <a:ea typeface="微软雅黑" pitchFamily="34" charset="-122"/>
              </a:rPr>
              <a:t>丢失率，</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流中的最后一个</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分组的序号，分组到达时间间隔的抖动等</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发送</a:t>
            </a:r>
            <a:r>
              <a:rPr lang="en-US" altLang="zh-CN" b="1" dirty="0" smtClean="0">
                <a:latin typeface="微软雅黑" pitchFamily="34" charset="-122"/>
                <a:ea typeface="微软雅黑" pitchFamily="34" charset="-122"/>
              </a:rPr>
              <a:t>RR</a:t>
            </a:r>
            <a:r>
              <a:rPr lang="zh-CN" altLang="en-US" b="1" dirty="0">
                <a:latin typeface="微软雅黑" pitchFamily="34" charset="-122"/>
                <a:ea typeface="微软雅黑" pitchFamily="34" charset="-122"/>
              </a:rPr>
              <a:t>分组的目的是使所有的接收方和发送方都了解当前网络的状态，同时使所有发送</a:t>
            </a:r>
            <a:r>
              <a:rPr lang="en-US" altLang="zh-CN" b="1" dirty="0">
                <a:latin typeface="微软雅黑" pitchFamily="34" charset="-122"/>
                <a:ea typeface="微软雅黑" pitchFamily="34" charset="-122"/>
              </a:rPr>
              <a:t>RTCP</a:t>
            </a:r>
            <a:r>
              <a:rPr lang="zh-CN" altLang="en-US" b="1" dirty="0">
                <a:latin typeface="微软雅黑" pitchFamily="34" charset="-122"/>
                <a:ea typeface="微软雅黑" pitchFamily="34" charset="-122"/>
              </a:rPr>
              <a:t>分组的站点自适应地调整发送</a:t>
            </a:r>
            <a:r>
              <a:rPr lang="en-US" altLang="zh-CN" b="1" dirty="0">
                <a:latin typeface="微软雅黑" pitchFamily="34" charset="-122"/>
                <a:ea typeface="微软雅黑" pitchFamily="34" charset="-122"/>
              </a:rPr>
              <a:t>RTCP</a:t>
            </a:r>
            <a:r>
              <a:rPr lang="zh-CN" altLang="en-US" b="1" dirty="0">
                <a:latin typeface="微软雅黑" pitchFamily="34" charset="-122"/>
                <a:ea typeface="微软雅黑" pitchFamily="34" charset="-122"/>
              </a:rPr>
              <a:t>分组的速率</a:t>
            </a:r>
            <a:r>
              <a:rPr lang="zh-CN" altLang="en-US" b="1" dirty="0" smtClean="0">
                <a:latin typeface="微软雅黑" pitchFamily="34" charset="-122"/>
                <a:ea typeface="微软雅黑" pitchFamily="34" charset="-122"/>
              </a:rPr>
              <a:t>，不要过多影响</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分组在网络中的传输</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RTCP</a:t>
            </a:r>
            <a:r>
              <a:rPr lang="zh-CN" altLang="en-US" b="1" dirty="0">
                <a:latin typeface="微软雅黑" pitchFamily="34" charset="-122"/>
                <a:ea typeface="微软雅黑" pitchFamily="34" charset="-122"/>
              </a:rPr>
              <a:t>分组的通信量通常不超过网络中数据分组通信量的</a:t>
            </a:r>
            <a:r>
              <a:rPr lang="en-US" altLang="zh-CN" b="1" dirty="0">
                <a:latin typeface="微软雅黑" pitchFamily="34" charset="-122"/>
                <a:ea typeface="微软雅黑" pitchFamily="34" charset="-122"/>
              </a:rPr>
              <a:t>5%</a:t>
            </a:r>
            <a:r>
              <a:rPr lang="zh-CN" altLang="en-US" b="1" dirty="0">
                <a:latin typeface="微软雅黑" pitchFamily="34" charset="-122"/>
                <a:ea typeface="微软雅黑" pitchFamily="34" charset="-122"/>
              </a:rPr>
              <a:t>，而</a:t>
            </a:r>
            <a:r>
              <a:rPr lang="en-US" altLang="zh-CN" b="1" dirty="0">
                <a:latin typeface="微软雅黑" pitchFamily="34" charset="-122"/>
                <a:ea typeface="微软雅黑" pitchFamily="34" charset="-122"/>
              </a:rPr>
              <a:t>RR</a:t>
            </a:r>
            <a:r>
              <a:rPr lang="zh-CN" altLang="en-US" b="1" dirty="0">
                <a:latin typeface="微软雅黑" pitchFamily="34" charset="-122"/>
                <a:ea typeface="微软雅黑" pitchFamily="34" charset="-122"/>
              </a:rPr>
              <a:t>分组的通信量又应小于所有</a:t>
            </a:r>
            <a:r>
              <a:rPr lang="en-US" altLang="zh-CN" b="1" dirty="0">
                <a:latin typeface="微软雅黑" pitchFamily="34" charset="-122"/>
                <a:ea typeface="微软雅黑" pitchFamily="34" charset="-122"/>
              </a:rPr>
              <a:t>RTCP</a:t>
            </a:r>
            <a:r>
              <a:rPr lang="zh-CN" altLang="en-US" b="1" dirty="0">
                <a:latin typeface="微软雅黑" pitchFamily="34" charset="-122"/>
                <a:ea typeface="微软雅黑" pitchFamily="34" charset="-122"/>
              </a:rPr>
              <a:t>分组的通信量的</a:t>
            </a:r>
            <a:r>
              <a:rPr lang="en-US" altLang="zh-CN" b="1" dirty="0">
                <a:latin typeface="微软雅黑" pitchFamily="34" charset="-122"/>
                <a:ea typeface="微软雅黑" pitchFamily="34" charset="-122"/>
              </a:rPr>
              <a:t>75%</a:t>
            </a:r>
            <a:r>
              <a:rPr lang="zh-CN" altLang="en-US" b="1" dirty="0">
                <a:latin typeface="微软雅黑" pitchFamily="34" charset="-122"/>
                <a:ea typeface="微软雅黑" pitchFamily="34" charset="-122"/>
              </a:rPr>
              <a:t>。</a:t>
            </a:r>
            <a:endParaRPr lang="zh-CN" altLang="en-US"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9" name="Rectangle 6"/>
          <p:cNvSpPr>
            <a:spLocks noChangeArrowheads="1"/>
          </p:cNvSpPr>
          <p:nvPr/>
        </p:nvSpPr>
        <p:spPr bwMode="auto">
          <a:xfrm>
            <a:off x="2912511" y="569848"/>
            <a:ext cx="3318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RTCP </a:t>
            </a:r>
            <a:r>
              <a:rPr lang="zh-CN" altLang="en-US" sz="2400" b="1" dirty="0">
                <a:solidFill>
                  <a:schemeClr val="bg1"/>
                </a:solidFill>
                <a:latin typeface="微软雅黑" pitchFamily="34" charset="-122"/>
                <a:ea typeface="微软雅黑" pitchFamily="34" charset="-122"/>
              </a:rPr>
              <a:t>使用</a:t>
            </a:r>
            <a:r>
              <a:rPr lang="zh-CN" altLang="en-US" sz="2400" b="1" dirty="0" smtClean="0">
                <a:solidFill>
                  <a:schemeClr val="bg1"/>
                </a:solidFill>
                <a:latin typeface="微软雅黑" pitchFamily="34" charset="-122"/>
                <a:ea typeface="微软雅黑" pitchFamily="34" charset="-122"/>
              </a:rPr>
              <a:t>的分组</a:t>
            </a:r>
            <a:r>
              <a:rPr lang="zh-CN" altLang="en-US" sz="2400" b="1" dirty="0">
                <a:solidFill>
                  <a:schemeClr val="bg1"/>
                </a:solidFill>
                <a:latin typeface="微软雅黑" pitchFamily="34" charset="-122"/>
                <a:ea typeface="微软雅黑" pitchFamily="34" charset="-122"/>
              </a:rPr>
              <a:t>类型 </a:t>
            </a:r>
          </a:p>
        </p:txBody>
      </p:sp>
    </p:spTree>
    <p:custDataLst>
      <p:tags r:id="rId1"/>
    </p:custDataLst>
    <p:extLst>
      <p:ext uri="{BB962C8B-B14F-4D97-AF65-F5344CB8AC3E}">
        <p14:creationId xmlns:p14="http://schemas.microsoft.com/office/powerpoint/2010/main" val="18153784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fade">
                                      <p:cBhvr>
                                        <p:cTn id="7" dur="500"/>
                                        <p:tgtEl>
                                          <p:spTgt spid="7">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3" end="3"/>
                                            </p:txEl>
                                          </p:spTgt>
                                        </p:tgtEl>
                                        <p:attrNameLst>
                                          <p:attrName>style.visibility</p:attrName>
                                        </p:attrNameLst>
                                      </p:cBhvr>
                                      <p:to>
                                        <p:strVal val="visible"/>
                                      </p:to>
                                    </p:set>
                                    <p:animEffect transition="in" filter="fade">
                                      <p:cBhvr>
                                        <p:cTn id="1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11896" y="974256"/>
            <a:ext cx="8129015"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源点</a:t>
            </a:r>
            <a:r>
              <a:rPr lang="zh-CN" altLang="en-US" sz="2000" b="1" dirty="0">
                <a:solidFill>
                  <a:srgbClr val="C00000"/>
                </a:solidFill>
                <a:latin typeface="微软雅黑" pitchFamily="34" charset="-122"/>
                <a:ea typeface="微软雅黑" pitchFamily="34" charset="-122"/>
              </a:rPr>
              <a:t>描述</a:t>
            </a:r>
            <a:r>
              <a:rPr lang="en-US" altLang="zh-CN" sz="2000" b="1" dirty="0">
                <a:solidFill>
                  <a:srgbClr val="C00000"/>
                </a:solidFill>
                <a:latin typeface="微软雅黑" pitchFamily="34" charset="-122"/>
                <a:ea typeface="微软雅黑" pitchFamily="34" charset="-122"/>
              </a:rPr>
              <a:t>SDES (Source </a:t>
            </a:r>
            <a:r>
              <a:rPr lang="en-US" altLang="zh-CN" sz="2000" b="1" dirty="0" err="1">
                <a:solidFill>
                  <a:srgbClr val="C00000"/>
                </a:solidFill>
                <a:latin typeface="微软雅黑" pitchFamily="34" charset="-122"/>
                <a:ea typeface="微软雅黑" pitchFamily="34" charset="-122"/>
              </a:rPr>
              <a:t>DEScription</a:t>
            </a:r>
            <a:r>
              <a:rPr lang="en-US" altLang="zh-CN" sz="2000" b="1" dirty="0">
                <a:solidFill>
                  <a:srgbClr val="C00000"/>
                </a:solidFill>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分组</a:t>
            </a:r>
            <a:endParaRPr lang="en-US" altLang="zh-CN" sz="2000"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给</a:t>
            </a:r>
            <a:r>
              <a:rPr lang="zh-CN" altLang="en-US" b="1" dirty="0">
                <a:latin typeface="微软雅黑" pitchFamily="34" charset="-122"/>
                <a:ea typeface="微软雅黑" pitchFamily="34" charset="-122"/>
              </a:rPr>
              <a:t>出会话中参加者的描述。</a:t>
            </a:r>
          </a:p>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特定</a:t>
            </a:r>
            <a:r>
              <a:rPr lang="zh-CN" altLang="en-US" sz="2000" b="1" dirty="0">
                <a:solidFill>
                  <a:srgbClr val="C00000"/>
                </a:solidFill>
                <a:latin typeface="微软雅黑" pitchFamily="34" charset="-122"/>
                <a:ea typeface="微软雅黑" pitchFamily="34" charset="-122"/>
              </a:rPr>
              <a:t>应用</a:t>
            </a:r>
            <a:r>
              <a:rPr lang="en-US" altLang="zh-CN" sz="2000" b="1" dirty="0">
                <a:solidFill>
                  <a:srgbClr val="C00000"/>
                </a:solidFill>
                <a:latin typeface="微软雅黑" pitchFamily="34" charset="-122"/>
                <a:ea typeface="微软雅黑" pitchFamily="34" charset="-122"/>
              </a:rPr>
              <a:t>APP (</a:t>
            </a:r>
            <a:r>
              <a:rPr lang="en-US" altLang="zh-CN" sz="2000" b="1" dirty="0" err="1">
                <a:solidFill>
                  <a:srgbClr val="C00000"/>
                </a:solidFill>
                <a:latin typeface="微软雅黑" pitchFamily="34" charset="-122"/>
                <a:ea typeface="微软雅黑" pitchFamily="34" charset="-122"/>
              </a:rPr>
              <a:t>APPlication</a:t>
            </a:r>
            <a:r>
              <a:rPr lang="en-US" altLang="zh-CN" sz="2000" b="1" dirty="0">
                <a:solidFill>
                  <a:srgbClr val="C00000"/>
                </a:solidFill>
                <a:latin typeface="微软雅黑" pitchFamily="34" charset="-122"/>
                <a:ea typeface="微软雅黑" pitchFamily="34" charset="-122"/>
              </a:rPr>
              <a:t>-specific)</a:t>
            </a:r>
            <a:r>
              <a:rPr lang="zh-CN" altLang="en-US" sz="2000" b="1" dirty="0" smtClean="0">
                <a:solidFill>
                  <a:srgbClr val="C00000"/>
                </a:solidFill>
                <a:latin typeface="微软雅黑" pitchFamily="34" charset="-122"/>
                <a:ea typeface="微软雅黑" pitchFamily="34" charset="-122"/>
              </a:rPr>
              <a:t>分组</a:t>
            </a:r>
            <a:endParaRPr lang="en-US" altLang="zh-CN" sz="2000"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使</a:t>
            </a:r>
            <a:r>
              <a:rPr lang="zh-CN" altLang="en-US" b="1" dirty="0">
                <a:latin typeface="微软雅黑" pitchFamily="34" charset="-122"/>
                <a:ea typeface="微软雅黑" pitchFamily="34" charset="-122"/>
              </a:rPr>
              <a:t>应用程序能够定义新的分组类型。</a:t>
            </a:r>
          </a:p>
          <a:p>
            <a:pPr marL="285750" indent="-28575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结束</a:t>
            </a:r>
            <a:r>
              <a:rPr lang="en-US" altLang="zh-CN" sz="2000" b="1" dirty="0">
                <a:solidFill>
                  <a:srgbClr val="C00000"/>
                </a:solidFill>
                <a:latin typeface="微软雅黑" pitchFamily="34" charset="-122"/>
                <a:ea typeface="微软雅黑" pitchFamily="34" charset="-122"/>
              </a:rPr>
              <a:t>BYE</a:t>
            </a:r>
            <a:r>
              <a:rPr lang="zh-CN" altLang="en-US" sz="2000" b="1" dirty="0" smtClean="0">
                <a:solidFill>
                  <a:srgbClr val="C00000"/>
                </a:solidFill>
                <a:latin typeface="微软雅黑" pitchFamily="34" charset="-122"/>
                <a:ea typeface="微软雅黑" pitchFamily="34" charset="-122"/>
              </a:rPr>
              <a:t>分组</a:t>
            </a:r>
            <a:endParaRPr lang="en-US" altLang="zh-CN" sz="2000"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表示</a:t>
            </a:r>
            <a:r>
              <a:rPr lang="zh-CN" altLang="en-US" b="1" dirty="0">
                <a:latin typeface="微软雅黑" pitchFamily="34" charset="-122"/>
                <a:ea typeface="微软雅黑" pitchFamily="34" charset="-122"/>
              </a:rPr>
              <a:t>关闭数据流。</a:t>
            </a:r>
          </a:p>
          <a:p>
            <a:pPr marL="285750" indent="-285750">
              <a:lnSpc>
                <a:spcPts val="3300"/>
              </a:lnSpc>
              <a:buClr>
                <a:srgbClr val="0070C0"/>
              </a:buClr>
              <a:buFont typeface="Wingdings" pitchFamily="2" charset="2"/>
              <a:buChar char="l"/>
            </a:pPr>
            <a:endParaRPr lang="zh-CN" altLang="en-US" sz="2000"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9" name="Rectangle 6"/>
          <p:cNvSpPr>
            <a:spLocks noChangeArrowheads="1"/>
          </p:cNvSpPr>
          <p:nvPr/>
        </p:nvSpPr>
        <p:spPr bwMode="auto">
          <a:xfrm>
            <a:off x="2912511" y="569848"/>
            <a:ext cx="3318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RTCP </a:t>
            </a:r>
            <a:r>
              <a:rPr lang="zh-CN" altLang="en-US" sz="2400" b="1" dirty="0">
                <a:solidFill>
                  <a:schemeClr val="bg1"/>
                </a:solidFill>
                <a:latin typeface="微软雅黑" pitchFamily="34" charset="-122"/>
                <a:ea typeface="微软雅黑" pitchFamily="34" charset="-122"/>
              </a:rPr>
              <a:t>使用</a:t>
            </a:r>
            <a:r>
              <a:rPr lang="zh-CN" altLang="en-US" sz="2400" b="1" dirty="0" smtClean="0">
                <a:solidFill>
                  <a:schemeClr val="bg1"/>
                </a:solidFill>
                <a:latin typeface="微软雅黑" pitchFamily="34" charset="-122"/>
                <a:ea typeface="微软雅黑" pitchFamily="34" charset="-122"/>
              </a:rPr>
              <a:t>的分组</a:t>
            </a:r>
            <a:r>
              <a:rPr lang="zh-CN" altLang="en-US" sz="2400" b="1" dirty="0">
                <a:solidFill>
                  <a:schemeClr val="bg1"/>
                </a:solidFill>
                <a:latin typeface="微软雅黑" pitchFamily="34" charset="-122"/>
                <a:ea typeface="微软雅黑" pitchFamily="34" charset="-122"/>
              </a:rPr>
              <a:t>类型 </a:t>
            </a:r>
          </a:p>
        </p:txBody>
      </p:sp>
    </p:spTree>
    <p:extLst>
      <p:ext uri="{BB962C8B-B14F-4D97-AF65-F5344CB8AC3E}">
        <p14:creationId xmlns:p14="http://schemas.microsoft.com/office/powerpoint/2010/main" val="9214802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11896" y="999657"/>
            <a:ext cx="8129015" cy="3901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RFC 3550</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RFC 3551</a:t>
            </a:r>
            <a:r>
              <a:rPr lang="zh-CN" altLang="en-US" sz="2000" b="1" dirty="0">
                <a:latin typeface="微软雅黑" pitchFamily="34" charset="-122"/>
                <a:ea typeface="微软雅黑" pitchFamily="34" charset="-122"/>
              </a:rPr>
              <a:t>都是</a:t>
            </a:r>
            <a:r>
              <a:rPr lang="en-US" altLang="zh-CN" sz="2000" b="1" dirty="0">
                <a:latin typeface="微软雅黑" pitchFamily="34" charset="-122"/>
                <a:ea typeface="微软雅黑" pitchFamily="34" charset="-122"/>
              </a:rPr>
              <a:t>IETF</a:t>
            </a:r>
            <a:r>
              <a:rPr lang="zh-CN" altLang="en-US" sz="2000" b="1" dirty="0">
                <a:latin typeface="微软雅黑" pitchFamily="34" charset="-122"/>
                <a:ea typeface="微软雅黑" pitchFamily="34" charset="-122"/>
              </a:rPr>
              <a:t>的正式标准，</a:t>
            </a:r>
            <a:r>
              <a:rPr lang="zh-CN" altLang="en-US" sz="2000" b="1" dirty="0" smtClean="0">
                <a:latin typeface="微软雅黑" pitchFamily="34" charset="-122"/>
                <a:ea typeface="微软雅黑" pitchFamily="34" charset="-122"/>
              </a:rPr>
              <a:t>但侧重不同</a:t>
            </a:r>
            <a:r>
              <a:rPr lang="zh-CN" altLang="en-US" sz="2000" b="1" dirty="0">
                <a:latin typeface="微软雅黑" pitchFamily="34" charset="-122"/>
                <a:ea typeface="微软雅黑" pitchFamily="34" charset="-122"/>
              </a:rPr>
              <a:t>。</a:t>
            </a:r>
          </a:p>
          <a:p>
            <a:pPr marL="742950" lvl="1" indent="-28575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RFC 3550</a:t>
            </a:r>
            <a:r>
              <a:rPr lang="zh-CN" altLang="en-US" b="1" dirty="0" smtClean="0">
                <a:latin typeface="微软雅黑" pitchFamily="34" charset="-122"/>
                <a:ea typeface="微软雅黑" pitchFamily="34" charset="-122"/>
              </a:rPr>
              <a:t>关注</a:t>
            </a:r>
            <a:r>
              <a:rPr lang="zh-CN" altLang="en-US" b="1" dirty="0" smtClean="0">
                <a:solidFill>
                  <a:srgbClr val="C00000"/>
                </a:solidFill>
                <a:latin typeface="微软雅黑" pitchFamily="34" charset="-122"/>
                <a:ea typeface="微软雅黑" pitchFamily="34" charset="-122"/>
              </a:rPr>
              <a:t>通用</a:t>
            </a:r>
            <a:r>
              <a:rPr lang="zh-CN" altLang="en-US" b="1" dirty="0">
                <a:solidFill>
                  <a:srgbClr val="C00000"/>
                </a:solidFill>
                <a:latin typeface="微软雅黑" pitchFamily="34" charset="-122"/>
                <a:ea typeface="微软雅黑" pitchFamily="34" charset="-122"/>
              </a:rPr>
              <a:t>的实时数据传输</a:t>
            </a:r>
            <a:r>
              <a:rPr lang="zh-CN" altLang="en-US" b="1" dirty="0" smtClean="0">
                <a:latin typeface="微软雅黑" pitchFamily="34" charset="-122"/>
                <a:ea typeface="微软雅黑" pitchFamily="34" charset="-122"/>
              </a:rPr>
              <a:t>，应用</a:t>
            </a:r>
            <a:r>
              <a:rPr lang="zh-CN" altLang="en-US" b="1" dirty="0">
                <a:latin typeface="微软雅黑" pitchFamily="34" charset="-122"/>
                <a:ea typeface="微软雅黑" pitchFamily="34" charset="-122"/>
              </a:rPr>
              <a:t>范围并不局限于音频</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视频，还覆盖其他实时媒体传输，如在线游戏、视频直播等场景</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RFC </a:t>
            </a:r>
            <a:r>
              <a:rPr lang="en-US" altLang="zh-CN" b="1" dirty="0">
                <a:latin typeface="微软雅黑" pitchFamily="34" charset="-122"/>
                <a:ea typeface="微软雅黑" pitchFamily="34" charset="-122"/>
              </a:rPr>
              <a:t>3550</a:t>
            </a:r>
            <a:r>
              <a:rPr lang="zh-CN" altLang="en-US" b="1" dirty="0">
                <a:latin typeface="微软雅黑" pitchFamily="34" charset="-122"/>
                <a:ea typeface="微软雅黑" pitchFamily="34" charset="-122"/>
              </a:rPr>
              <a:t>定义了</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和</a:t>
            </a:r>
            <a:r>
              <a:rPr lang="en-US" altLang="zh-CN" b="1" dirty="0">
                <a:latin typeface="微软雅黑" pitchFamily="34" charset="-122"/>
                <a:ea typeface="微软雅黑" pitchFamily="34" charset="-122"/>
              </a:rPr>
              <a:t>RTCP</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分组格式</a:t>
            </a:r>
            <a:r>
              <a:rPr lang="zh-CN" altLang="en-US" b="1" dirty="0">
                <a:latin typeface="微软雅黑" pitchFamily="34" charset="-122"/>
                <a:ea typeface="微软雅黑" pitchFamily="34" charset="-122"/>
              </a:rPr>
              <a:t>、</a:t>
            </a:r>
            <a:r>
              <a:rPr lang="en-US" altLang="zh-CN" b="1" dirty="0">
                <a:solidFill>
                  <a:srgbClr val="C00000"/>
                </a:solidFill>
                <a:latin typeface="微软雅黑" pitchFamily="34" charset="-122"/>
                <a:ea typeface="微软雅黑" pitchFamily="34" charset="-122"/>
              </a:rPr>
              <a:t>RTP</a:t>
            </a:r>
            <a:r>
              <a:rPr lang="zh-CN" altLang="en-US" b="1" dirty="0">
                <a:solidFill>
                  <a:srgbClr val="C00000"/>
                </a:solidFill>
                <a:latin typeface="微软雅黑" pitchFamily="34" charset="-122"/>
                <a:ea typeface="微软雅黑" pitchFamily="34" charset="-122"/>
              </a:rPr>
              <a:t>的时间戳和序号机制</a:t>
            </a:r>
            <a:r>
              <a:rPr lang="zh-CN" altLang="en-US" b="1" dirty="0">
                <a:latin typeface="微软雅黑" pitchFamily="34" charset="-122"/>
                <a:ea typeface="微软雅黑" pitchFamily="34" charset="-122"/>
              </a:rPr>
              <a:t>，以及</a:t>
            </a:r>
            <a:r>
              <a:rPr lang="en-US" altLang="zh-CN" b="1" dirty="0">
                <a:solidFill>
                  <a:srgbClr val="C00000"/>
                </a:solidFill>
                <a:latin typeface="微软雅黑" pitchFamily="34" charset="-122"/>
                <a:ea typeface="微软雅黑" pitchFamily="34" charset="-122"/>
              </a:rPr>
              <a:t>RTP</a:t>
            </a:r>
            <a:r>
              <a:rPr lang="zh-CN" altLang="en-US" b="1" dirty="0">
                <a:solidFill>
                  <a:srgbClr val="C00000"/>
                </a:solidFill>
                <a:latin typeface="微软雅黑" pitchFamily="34" charset="-122"/>
                <a:ea typeface="微软雅黑" pitchFamily="34" charset="-122"/>
              </a:rPr>
              <a:t>与</a:t>
            </a:r>
            <a:r>
              <a:rPr lang="en-US" altLang="zh-CN" b="1" dirty="0">
                <a:solidFill>
                  <a:srgbClr val="C00000"/>
                </a:solidFill>
                <a:latin typeface="微软雅黑" pitchFamily="34" charset="-122"/>
                <a:ea typeface="微软雅黑" pitchFamily="34" charset="-122"/>
              </a:rPr>
              <a:t>RTCP</a:t>
            </a:r>
            <a:r>
              <a:rPr lang="zh-CN" altLang="en-US" b="1" dirty="0">
                <a:solidFill>
                  <a:srgbClr val="C00000"/>
                </a:solidFill>
                <a:latin typeface="微软雅黑" pitchFamily="34" charset="-122"/>
                <a:ea typeface="微软雅黑" pitchFamily="34" charset="-122"/>
              </a:rPr>
              <a:t>的配合使用</a:t>
            </a:r>
            <a:r>
              <a:rPr lang="zh-CN" altLang="en-US" b="1" dirty="0">
                <a:latin typeface="微软雅黑" pitchFamily="34" charset="-122"/>
                <a:ea typeface="微软雅黑" pitchFamily="34" charset="-122"/>
              </a:rPr>
              <a:t>问题。</a:t>
            </a:r>
          </a:p>
          <a:p>
            <a:pPr marL="742950" lvl="1" indent="-28575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RFC 3551</a:t>
            </a:r>
            <a:r>
              <a:rPr lang="zh-CN" altLang="en-US" b="1" dirty="0">
                <a:latin typeface="微软雅黑" pitchFamily="34" charset="-122"/>
                <a:ea typeface="微软雅黑" pitchFamily="34" charset="-122"/>
              </a:rPr>
              <a:t>则着重于</a:t>
            </a:r>
            <a:r>
              <a:rPr lang="zh-CN" altLang="en-US" b="1" dirty="0">
                <a:solidFill>
                  <a:srgbClr val="C00000"/>
                </a:solidFill>
                <a:latin typeface="微软雅黑" pitchFamily="34" charset="-122"/>
                <a:ea typeface="微软雅黑" pitchFamily="34" charset="-122"/>
              </a:rPr>
              <a:t>简化音频</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视频会议中的操作和控制</a:t>
            </a:r>
            <a:r>
              <a:rPr lang="zh-CN" altLang="en-US" b="1" dirty="0">
                <a:latin typeface="微软雅黑" pitchFamily="34" charset="-122"/>
                <a:ea typeface="微软雅黑" pitchFamily="34" charset="-122"/>
              </a:rPr>
              <a:t>，是专门针对音频</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视频会议的</a:t>
            </a:r>
            <a:r>
              <a:rPr lang="en-US" altLang="zh-CN" b="1" dirty="0">
                <a:latin typeface="微软雅黑" pitchFamily="34" charset="-122"/>
                <a:ea typeface="微软雅黑" pitchFamily="34" charset="-122"/>
              </a:rPr>
              <a:t>RTP</a:t>
            </a:r>
            <a:r>
              <a:rPr lang="zh-CN" altLang="en-US" b="1" dirty="0">
                <a:latin typeface="微软雅黑" pitchFamily="34" charset="-122"/>
                <a:ea typeface="微软雅黑" pitchFamily="34" charset="-122"/>
              </a:rPr>
              <a:t>配置文件。它定义了一组音频</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视频编解码器，以确保互操作性；统一了数据格式及应用细节，减少了不同实现之间的兼容性问题</a:t>
            </a:r>
            <a:r>
              <a:rPr lang="zh-CN" altLang="en-US" b="1" dirty="0" smtClean="0">
                <a:latin typeface="微软雅黑" pitchFamily="34" charset="-122"/>
                <a:ea typeface="微软雅黑" pitchFamily="34" charset="-122"/>
              </a:rPr>
              <a:t>。</a:t>
            </a:r>
            <a:endParaRPr lang="zh-CN" altLang="en-US" sz="2000"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9" name="Rectangle 6"/>
          <p:cNvSpPr>
            <a:spLocks noChangeArrowheads="1"/>
          </p:cNvSpPr>
          <p:nvPr/>
        </p:nvSpPr>
        <p:spPr bwMode="auto">
          <a:xfrm>
            <a:off x="3164343" y="569848"/>
            <a:ext cx="28153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RTP</a:t>
            </a:r>
            <a:r>
              <a:rPr lang="zh-CN" altLang="en-US" sz="2400" b="1" dirty="0">
                <a:solidFill>
                  <a:schemeClr val="bg1"/>
                </a:solidFill>
                <a:latin typeface="微软雅黑" pitchFamily="34" charset="-122"/>
                <a:ea typeface="微软雅黑" pitchFamily="34" charset="-122"/>
              </a:rPr>
              <a:t>控制协议</a:t>
            </a:r>
            <a:r>
              <a:rPr lang="en-US" altLang="zh-CN" sz="2400" b="1" dirty="0">
                <a:solidFill>
                  <a:schemeClr val="bg1"/>
                </a:solidFill>
                <a:latin typeface="微软雅黑" pitchFamily="34" charset="-122"/>
                <a:ea typeface="微软雅黑" pitchFamily="34" charset="-122"/>
              </a:rPr>
              <a:t>RTCP</a:t>
            </a:r>
          </a:p>
        </p:txBody>
      </p:sp>
    </p:spTree>
    <p:custDataLst>
      <p:tags r:id="rId1"/>
    </p:custDataLst>
    <p:extLst>
      <p:ext uri="{BB962C8B-B14F-4D97-AF65-F5344CB8AC3E}">
        <p14:creationId xmlns:p14="http://schemas.microsoft.com/office/powerpoint/2010/main" val="17170745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fade">
                                      <p:cBhvr>
                                        <p:cTn id="7" dur="500"/>
                                        <p:tgtEl>
                                          <p:spTgt spid="7">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3" end="3"/>
                                            </p:txEl>
                                          </p:spTgt>
                                        </p:tgtEl>
                                        <p:attrNameLst>
                                          <p:attrName>style.visibility</p:attrName>
                                        </p:attrNameLst>
                                      </p:cBhvr>
                                      <p:to>
                                        <p:strVal val="visible"/>
                                      </p:to>
                                    </p:set>
                                    <p:animEffect transition="in" filter="fade">
                                      <p:cBhvr>
                                        <p:cTn id="1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253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029506" y="587075"/>
            <a:ext cx="30937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实时</a:t>
            </a:r>
            <a:r>
              <a:rPr lang="zh-CN" altLang="en-US" sz="2400" b="1" dirty="0">
                <a:solidFill>
                  <a:schemeClr val="bg1"/>
                </a:solidFill>
                <a:latin typeface="微软雅黑" pitchFamily="34" charset="-122"/>
                <a:ea typeface="微软雅黑" pitchFamily="34" charset="-122"/>
              </a:rPr>
              <a:t>流式协议 </a:t>
            </a:r>
            <a:r>
              <a:rPr lang="en-US" altLang="zh-CN" sz="2400" b="1" dirty="0">
                <a:solidFill>
                  <a:schemeClr val="bg1"/>
                </a:solidFill>
                <a:latin typeface="微软雅黑" pitchFamily="34" charset="-122"/>
                <a:ea typeface="微软雅黑" pitchFamily="34" charset="-122"/>
              </a:rPr>
              <a:t>RTSP </a:t>
            </a:r>
          </a:p>
        </p:txBody>
      </p:sp>
      <p:sp>
        <p:nvSpPr>
          <p:cNvPr id="4" name="Rectangle 46"/>
          <p:cNvSpPr>
            <a:spLocks noChangeArrowheads="1"/>
          </p:cNvSpPr>
          <p:nvPr/>
        </p:nvSpPr>
        <p:spPr bwMode="auto">
          <a:xfrm>
            <a:off x="511895" y="1032146"/>
            <a:ext cx="8129017" cy="35932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实时流式协议 </a:t>
            </a:r>
            <a:r>
              <a:rPr lang="en-US" altLang="zh-CN" sz="2000" b="1" dirty="0" smtClean="0">
                <a:solidFill>
                  <a:srgbClr val="C00000"/>
                </a:solidFill>
                <a:latin typeface="微软雅黑" pitchFamily="34" charset="-122"/>
                <a:ea typeface="微软雅黑" pitchFamily="34" charset="-122"/>
              </a:rPr>
              <a:t>RTSP </a:t>
            </a:r>
            <a:r>
              <a:rPr lang="en-US" altLang="zh-CN" sz="2000" b="1" dirty="0">
                <a:latin typeface="微软雅黑" pitchFamily="34" charset="-122"/>
                <a:ea typeface="微软雅黑" pitchFamily="34" charset="-122"/>
              </a:rPr>
              <a:t>(Real-Time Streaming Protocol) </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17550" lvl="1" indent="-342900" algn="just"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应用层的</a:t>
            </a:r>
            <a:r>
              <a:rPr lang="zh-CN" altLang="en-US" b="1" dirty="0">
                <a:solidFill>
                  <a:srgbClr val="C00000"/>
                </a:solidFill>
                <a:latin typeface="微软雅黑" pitchFamily="34" charset="-122"/>
                <a:ea typeface="微软雅黑" pitchFamily="34" charset="-122"/>
              </a:rPr>
              <a:t>多媒体播放控制协议</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本身</a:t>
            </a:r>
            <a:r>
              <a:rPr lang="zh-CN" altLang="en-US" b="1" dirty="0">
                <a:solidFill>
                  <a:srgbClr val="C00000"/>
                </a:solidFill>
                <a:latin typeface="微软雅黑" pitchFamily="34" charset="-122"/>
                <a:ea typeface="微软雅黑" pitchFamily="34" charset="-122"/>
              </a:rPr>
              <a:t>并不传送数据</a:t>
            </a:r>
            <a:r>
              <a:rPr lang="zh-CN" altLang="en-US" b="1" dirty="0">
                <a:latin typeface="微软雅黑" pitchFamily="34" charset="-122"/>
                <a:ea typeface="微软雅黑" pitchFamily="34" charset="-122"/>
              </a:rPr>
              <a:t>，而仅仅是</a:t>
            </a:r>
            <a:r>
              <a:rPr lang="zh-CN" altLang="en-US" b="1" dirty="0">
                <a:solidFill>
                  <a:srgbClr val="C00000"/>
                </a:solidFill>
                <a:latin typeface="微软雅黑" pitchFamily="34" charset="-122"/>
                <a:ea typeface="微软雅黑" pitchFamily="34" charset="-122"/>
              </a:rPr>
              <a:t>使媒体播放器能够控制多媒体流</a:t>
            </a:r>
            <a:r>
              <a:rPr lang="zh-CN" altLang="en-US" b="1" dirty="0" smtClean="0">
                <a:solidFill>
                  <a:srgbClr val="C00000"/>
                </a:solidFill>
                <a:latin typeface="微软雅黑" pitchFamily="34" charset="-122"/>
                <a:ea typeface="微软雅黑" pitchFamily="34" charset="-122"/>
              </a:rPr>
              <a:t>的传送</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a:p>
            <a:pPr marL="717550" lvl="1" indent="-342900" algn="just"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以客户服务器方式</a:t>
            </a:r>
            <a:r>
              <a:rPr lang="zh-CN" altLang="en-US" b="1" dirty="0" smtClean="0">
                <a:latin typeface="微软雅黑" pitchFamily="34" charset="-122"/>
                <a:ea typeface="微软雅黑" pitchFamily="34" charset="-122"/>
              </a:rPr>
              <a:t>工作，可以</a:t>
            </a:r>
            <a:r>
              <a:rPr lang="zh-CN" altLang="en-US" b="1" dirty="0">
                <a:latin typeface="微软雅黑" pitchFamily="34" charset="-122"/>
                <a:ea typeface="微软雅黑" pitchFamily="34" charset="-122"/>
              </a:rPr>
              <a:t>实现流媒体会话的</a:t>
            </a:r>
            <a:r>
              <a:rPr lang="zh-CN" altLang="en-US" b="1" dirty="0">
                <a:solidFill>
                  <a:srgbClr val="C00000"/>
                </a:solidFill>
                <a:latin typeface="微软雅黑" pitchFamily="34" charset="-122"/>
                <a:ea typeface="微软雅黑" pitchFamily="34" charset="-122"/>
              </a:rPr>
              <a:t>播放、暂停、快进、快退、</a:t>
            </a:r>
            <a:r>
              <a:rPr lang="zh-CN" altLang="en-US" b="1" dirty="0" smtClean="0">
                <a:solidFill>
                  <a:srgbClr val="C00000"/>
                </a:solidFill>
                <a:latin typeface="微软雅黑" pitchFamily="34" charset="-122"/>
                <a:ea typeface="微软雅黑" pitchFamily="34" charset="-122"/>
              </a:rPr>
              <a:t>结束等</a:t>
            </a:r>
            <a:r>
              <a:rPr lang="zh-CN" altLang="en-US" b="1" dirty="0">
                <a:solidFill>
                  <a:srgbClr val="C00000"/>
                </a:solidFill>
                <a:latin typeface="微软雅黑" pitchFamily="34" charset="-122"/>
                <a:ea typeface="微软雅黑" pitchFamily="34" charset="-122"/>
              </a:rPr>
              <a:t>操作</a:t>
            </a:r>
            <a:r>
              <a:rPr lang="zh-CN" altLang="en-US" b="1" dirty="0">
                <a:latin typeface="微软雅黑" pitchFamily="34" charset="-122"/>
                <a:ea typeface="微软雅黑" pitchFamily="34" charset="-122"/>
              </a:rPr>
              <a:t>。</a:t>
            </a:r>
          </a:p>
          <a:p>
            <a:pPr marL="717550" lvl="1" indent="-342900" algn="just" hangingPunct="0">
              <a:lnSpc>
                <a:spcPts val="30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RTSP</a:t>
            </a:r>
            <a:r>
              <a:rPr lang="zh-CN" altLang="en-US" b="1" dirty="0">
                <a:latin typeface="微软雅黑" pitchFamily="34" charset="-122"/>
                <a:ea typeface="微软雅黑" pitchFamily="34" charset="-122"/>
              </a:rPr>
              <a:t>的控制命令可以使用</a:t>
            </a:r>
            <a:r>
              <a:rPr lang="en-US" altLang="zh-CN" b="1" dirty="0">
                <a:latin typeface="微软雅黑" pitchFamily="34" charset="-122"/>
                <a:ea typeface="微软雅黑" pitchFamily="34" charset="-122"/>
              </a:rPr>
              <a:t>TCP</a:t>
            </a:r>
            <a:r>
              <a:rPr lang="zh-CN" altLang="en-US" b="1" dirty="0">
                <a:latin typeface="微软雅黑" pitchFamily="34" charset="-122"/>
                <a:ea typeface="微软雅黑" pitchFamily="34" charset="-122"/>
              </a:rPr>
              <a:t>或</a:t>
            </a:r>
            <a:r>
              <a:rPr lang="en-US" altLang="zh-CN" b="1" dirty="0">
                <a:latin typeface="微软雅黑" pitchFamily="34" charset="-122"/>
                <a:ea typeface="微软雅黑" pitchFamily="34" charset="-122"/>
              </a:rPr>
              <a:t>UDP</a:t>
            </a:r>
            <a:r>
              <a:rPr lang="zh-CN" altLang="en-US" b="1" dirty="0">
                <a:latin typeface="微软雅黑" pitchFamily="34" charset="-122"/>
                <a:ea typeface="微软雅黑" pitchFamily="34" charset="-122"/>
              </a:rPr>
              <a:t>传输，但实际应用中多使用</a:t>
            </a:r>
            <a:r>
              <a:rPr lang="en-US" altLang="zh-CN" b="1" dirty="0">
                <a:latin typeface="微软雅黑" pitchFamily="34" charset="-122"/>
                <a:ea typeface="微软雅黑" pitchFamily="34" charset="-122"/>
              </a:rPr>
              <a:t>TCP</a:t>
            </a:r>
            <a:r>
              <a:rPr lang="zh-CN" altLang="en-US" b="1" dirty="0">
                <a:latin typeface="微软雅黑" pitchFamily="34" charset="-122"/>
                <a:ea typeface="微软雅黑" pitchFamily="34" charset="-122"/>
              </a:rPr>
              <a:t>来传输，以保证可靠性。</a:t>
            </a:r>
          </a:p>
          <a:p>
            <a:pPr marL="717550" lvl="1" indent="-342900" algn="just" hangingPunct="0">
              <a:lnSpc>
                <a:spcPts val="30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RTSP</a:t>
            </a:r>
            <a:r>
              <a:rPr lang="zh-CN" altLang="en-US" b="1" dirty="0">
                <a:latin typeface="微软雅黑" pitchFamily="34" charset="-122"/>
                <a:ea typeface="微软雅黑" pitchFamily="34" charset="-122"/>
              </a:rPr>
              <a:t>是专为实时控制而设计的，可提供</a:t>
            </a:r>
            <a:r>
              <a:rPr lang="zh-CN" altLang="en-US" b="1" dirty="0">
                <a:solidFill>
                  <a:srgbClr val="C00000"/>
                </a:solidFill>
                <a:latin typeface="微软雅黑" pitchFamily="34" charset="-122"/>
                <a:ea typeface="微软雅黑" pitchFamily="34" charset="-122"/>
              </a:rPr>
              <a:t>较低的时延和很好的交互性</a:t>
            </a:r>
            <a:r>
              <a:rPr lang="zh-CN" altLang="en-US" b="1" dirty="0">
                <a:latin typeface="微软雅黑" pitchFamily="34" charset="-122"/>
                <a:ea typeface="微软雅黑" pitchFamily="34" charset="-122"/>
              </a:rPr>
              <a:t>，因此广泛应用于网络摄像头和监控系统。</a:t>
            </a:r>
          </a:p>
        </p:txBody>
      </p:sp>
    </p:spTree>
    <p:custDataLst>
      <p:tags r:id="rId1"/>
    </p:custDataLst>
    <p:extLst>
      <p:ext uri="{BB962C8B-B14F-4D97-AF65-F5344CB8AC3E}">
        <p14:creationId xmlns:p14="http://schemas.microsoft.com/office/powerpoint/2010/main" val="29243737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3" end="3"/>
                                            </p:txEl>
                                          </p:spTgt>
                                        </p:tgtEl>
                                        <p:attrNameLst>
                                          <p:attrName>style.visibility</p:attrName>
                                        </p:attrNameLst>
                                      </p:cBhvr>
                                      <p:to>
                                        <p:strVal val="visible"/>
                                      </p:to>
                                    </p:set>
                                    <p:animEffect transition="in" filter="fade">
                                      <p:cBhvr>
                                        <p:cTn id="12" dur="500"/>
                                        <p:tgtEl>
                                          <p:spTgt spid="4">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4" end="4"/>
                                            </p:txEl>
                                          </p:spTgt>
                                        </p:tgtEl>
                                        <p:attrNameLst>
                                          <p:attrName>style.visibility</p:attrName>
                                        </p:attrNameLst>
                                      </p:cBhvr>
                                      <p:to>
                                        <p:strVal val="visible"/>
                                      </p:to>
                                    </p:set>
                                    <p:animEffect transition="in" filter="fade">
                                      <p:cBhvr>
                                        <p:cTn id="17"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4" y="1034257"/>
            <a:ext cx="822908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RTCP</a:t>
            </a:r>
            <a:r>
              <a:rPr lang="zh-CN" altLang="en-US" sz="2000" b="1" dirty="0">
                <a:latin typeface="微软雅黑" pitchFamily="34" charset="-122"/>
                <a:ea typeface="微软雅黑" pitchFamily="34" charset="-122"/>
              </a:rPr>
              <a:t>是</a:t>
            </a:r>
            <a:r>
              <a:rPr lang="en-US" altLang="zh-CN" sz="2000" b="1" dirty="0">
                <a:latin typeface="微软雅黑" pitchFamily="34" charset="-122"/>
                <a:ea typeface="微软雅黑" pitchFamily="34" charset="-122"/>
              </a:rPr>
              <a:t>RTP</a:t>
            </a:r>
            <a:r>
              <a:rPr lang="zh-CN" altLang="en-US" sz="2000" b="1" dirty="0">
                <a:latin typeface="微软雅黑" pitchFamily="34" charset="-122"/>
                <a:ea typeface="微软雅黑" pitchFamily="34" charset="-122"/>
              </a:rPr>
              <a:t>的一部分，主要用于</a:t>
            </a:r>
            <a:r>
              <a:rPr lang="zh-CN" altLang="en-US" sz="2000" b="1" dirty="0">
                <a:solidFill>
                  <a:srgbClr val="C00000"/>
                </a:solidFill>
                <a:latin typeface="微软雅黑" pitchFamily="34" charset="-122"/>
                <a:ea typeface="微软雅黑" pitchFamily="34" charset="-122"/>
              </a:rPr>
              <a:t>监控和管理</a:t>
            </a:r>
            <a:r>
              <a:rPr lang="en-US" altLang="zh-CN" sz="2000" b="1" dirty="0">
                <a:solidFill>
                  <a:srgbClr val="C00000"/>
                </a:solidFill>
                <a:latin typeface="微软雅黑" pitchFamily="34" charset="-122"/>
                <a:ea typeface="微软雅黑" pitchFamily="34" charset="-122"/>
              </a:rPr>
              <a:t>RTP</a:t>
            </a:r>
            <a:r>
              <a:rPr lang="zh-CN" altLang="en-US" sz="2000" b="1" dirty="0">
                <a:solidFill>
                  <a:srgbClr val="C00000"/>
                </a:solidFill>
                <a:latin typeface="微软雅黑" pitchFamily="34" charset="-122"/>
                <a:ea typeface="微软雅黑" pitchFamily="34" charset="-122"/>
              </a:rPr>
              <a:t>流的传输</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RTCP</a:t>
            </a:r>
            <a:r>
              <a:rPr lang="zh-CN" altLang="en-US" sz="2000" b="1" dirty="0">
                <a:latin typeface="微软雅黑" pitchFamily="34" charset="-122"/>
                <a:ea typeface="微软雅黑" pitchFamily="34" charset="-122"/>
              </a:rPr>
              <a:t>提供</a:t>
            </a:r>
            <a:r>
              <a:rPr lang="zh-CN" altLang="en-US" sz="2000" b="1" dirty="0">
                <a:solidFill>
                  <a:srgbClr val="C00000"/>
                </a:solidFill>
                <a:latin typeface="微软雅黑" pitchFamily="34" charset="-122"/>
                <a:ea typeface="微软雅黑" pitchFamily="34" charset="-122"/>
              </a:rPr>
              <a:t>流媒体的统计和报告信息</a:t>
            </a:r>
            <a:r>
              <a:rPr lang="zh-CN" altLang="en-US" sz="2000" b="1" dirty="0">
                <a:latin typeface="微软雅黑" pitchFamily="34" charset="-122"/>
                <a:ea typeface="微软雅黑" pitchFamily="34" charset="-122"/>
              </a:rPr>
              <a:t>，例如数据传输的质量（分组丢失率、时延等），以便于优化流媒体的传输。</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RTSP</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RTCP</a:t>
            </a:r>
            <a:r>
              <a:rPr lang="zh-CN" altLang="en-US" sz="2000" b="1" dirty="0">
                <a:latin typeface="微软雅黑" pitchFamily="34" charset="-122"/>
                <a:ea typeface="微软雅黑" pitchFamily="34" charset="-122"/>
              </a:rPr>
              <a:t>都不传输流媒体数据。</a:t>
            </a:r>
            <a:r>
              <a:rPr lang="en-US" altLang="zh-CN" sz="2000" b="1" dirty="0">
                <a:latin typeface="微软雅黑" pitchFamily="34" charset="-122"/>
                <a:ea typeface="微软雅黑" pitchFamily="34" charset="-122"/>
              </a:rPr>
              <a:t>RTSP</a:t>
            </a:r>
            <a:r>
              <a:rPr lang="zh-CN" altLang="en-US" sz="2000" b="1" dirty="0">
                <a:solidFill>
                  <a:srgbClr val="C00000"/>
                </a:solidFill>
                <a:latin typeface="微软雅黑" pitchFamily="34" charset="-122"/>
                <a:ea typeface="微软雅黑" pitchFamily="34" charset="-122"/>
              </a:rPr>
              <a:t>相当于负责音视频播放逻辑的管理员</a:t>
            </a:r>
            <a:r>
              <a:rPr lang="zh-CN" altLang="en-US" sz="2000" b="1" dirty="0">
                <a:latin typeface="微软雅黑" pitchFamily="34" charset="-122"/>
                <a:ea typeface="微软雅黑" pitchFamily="34" charset="-122"/>
              </a:rPr>
              <a:t>，而 </a:t>
            </a:r>
            <a:r>
              <a:rPr lang="en-US" altLang="zh-CN" sz="2000" b="1" dirty="0">
                <a:latin typeface="微软雅黑" pitchFamily="34" charset="-122"/>
                <a:ea typeface="微软雅黑" pitchFamily="34" charset="-122"/>
              </a:rPr>
              <a:t>RTCP </a:t>
            </a:r>
            <a:r>
              <a:rPr lang="zh-CN" altLang="en-US" sz="2000" b="1" dirty="0">
                <a:latin typeface="微软雅黑" pitchFamily="34" charset="-122"/>
                <a:ea typeface="微软雅黑" pitchFamily="34" charset="-122"/>
              </a:rPr>
              <a:t>则</a:t>
            </a:r>
            <a:r>
              <a:rPr lang="zh-CN" altLang="en-US" sz="2000" b="1" dirty="0">
                <a:solidFill>
                  <a:srgbClr val="C00000"/>
                </a:solidFill>
                <a:latin typeface="微软雅黑" pitchFamily="34" charset="-122"/>
                <a:ea typeface="微软雅黑" pitchFamily="34" charset="-122"/>
              </a:rPr>
              <a:t>相当于保证传输流畅以及声音、视频同步的质量评估员</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5" name="AutoShape 12"/>
          <p:cNvSpPr>
            <a:spLocks noChangeArrowheads="1"/>
          </p:cNvSpPr>
          <p:nvPr/>
        </p:nvSpPr>
        <p:spPr bwMode="auto">
          <a:xfrm>
            <a:off x="511896" y="61253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183971" y="587075"/>
            <a:ext cx="27848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RTSP</a:t>
            </a:r>
            <a:r>
              <a:rPr lang="zh-CN" altLang="en-US" sz="2400" b="1" dirty="0" smtClean="0">
                <a:solidFill>
                  <a:schemeClr val="bg1"/>
                </a:solidFill>
                <a:latin typeface="微软雅黑" pitchFamily="34" charset="-122"/>
                <a:ea typeface="微软雅黑" pitchFamily="34" charset="-122"/>
              </a:rPr>
              <a:t>与</a:t>
            </a:r>
            <a:r>
              <a:rPr lang="en-US" altLang="zh-CN" sz="2400" b="1" dirty="0" smtClean="0">
                <a:solidFill>
                  <a:schemeClr val="bg1"/>
                </a:solidFill>
                <a:latin typeface="微软雅黑" pitchFamily="34" charset="-122"/>
                <a:ea typeface="微软雅黑" pitchFamily="34" charset="-122"/>
              </a:rPr>
              <a:t>RTCP</a:t>
            </a:r>
            <a:r>
              <a:rPr lang="zh-CN" altLang="en-US" sz="2400" b="1" dirty="0" smtClean="0">
                <a:solidFill>
                  <a:schemeClr val="bg1"/>
                </a:solidFill>
                <a:latin typeface="微软雅黑" pitchFamily="34" charset="-122"/>
                <a:ea typeface="微软雅黑" pitchFamily="34" charset="-122"/>
              </a:rPr>
              <a:t>区别</a:t>
            </a:r>
            <a:r>
              <a:rPr lang="en-US" altLang="zh-CN" sz="2400" b="1" dirty="0" smtClean="0">
                <a:solidFill>
                  <a:schemeClr val="bg1"/>
                </a:solidFill>
                <a:latin typeface="微软雅黑" pitchFamily="34" charset="-122"/>
                <a:ea typeface="微软雅黑" pitchFamily="34" charset="-122"/>
              </a:rPr>
              <a:t> </a:t>
            </a:r>
            <a:endParaRPr lang="en-US" altLang="zh-CN"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9126090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2483523" y="593125"/>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用于</a:t>
            </a:r>
            <a:r>
              <a:rPr lang="zh-CN" altLang="en-US" sz="2400" b="1" dirty="0">
                <a:solidFill>
                  <a:schemeClr val="bg1"/>
                </a:solidFill>
                <a:latin typeface="微软雅黑" pitchFamily="34" charset="-122"/>
                <a:ea typeface="微软雅黑" pitchFamily="34" charset="-122"/>
              </a:rPr>
              <a:t>交互式多媒体传输的协议</a:t>
            </a:r>
            <a:endParaRPr lang="en-US" altLang="zh-CN"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11896" y="1055489"/>
            <a:ext cx="8129015" cy="233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500"/>
              </a:lnSpc>
              <a:buClr>
                <a:srgbClr val="0070C0"/>
              </a:buClr>
              <a:buFont typeface="Wingdings" pitchFamily="2" charset="2"/>
              <a:buChar char="l"/>
            </a:pPr>
            <a:r>
              <a:rPr lang="zh-CN" altLang="en-US" sz="2000" b="1" dirty="0">
                <a:latin typeface="微软雅黑" pitchFamily="34" charset="-122"/>
                <a:ea typeface="微软雅黑" pitchFamily="34" charset="-122"/>
              </a:rPr>
              <a:t>交互式多媒体传输是指用户使用互联网和其他人进行</a:t>
            </a:r>
            <a:r>
              <a:rPr lang="zh-CN" altLang="en-US" sz="2000" b="1" dirty="0">
                <a:solidFill>
                  <a:srgbClr val="C00000"/>
                </a:solidFill>
                <a:latin typeface="微软雅黑" pitchFamily="34" charset="-122"/>
                <a:ea typeface="微软雅黑" pitchFamily="34" charset="-122"/>
              </a:rPr>
              <a:t>实时</a:t>
            </a:r>
            <a:r>
              <a:rPr lang="zh-CN" altLang="en-US" sz="2000" b="1" dirty="0">
                <a:latin typeface="微软雅黑" pitchFamily="34" charset="-122"/>
                <a:ea typeface="微软雅黑" pitchFamily="34" charset="-122"/>
              </a:rPr>
              <a:t>交互式通信</a:t>
            </a:r>
            <a:r>
              <a:rPr lang="zh-CN" altLang="en-US" sz="2000" b="1" dirty="0" smtClean="0">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互联网</a:t>
            </a:r>
            <a:r>
              <a:rPr lang="zh-CN" altLang="en-US" sz="2000" b="1" dirty="0">
                <a:solidFill>
                  <a:srgbClr val="C00000"/>
                </a:solidFill>
                <a:latin typeface="微软雅黑" pitchFamily="34" charset="-122"/>
                <a:ea typeface="微软雅黑" pitchFamily="34" charset="-122"/>
              </a:rPr>
              <a:t>电话</a:t>
            </a:r>
            <a:r>
              <a:rPr lang="zh-CN" altLang="en-US" sz="2000" b="1" dirty="0">
                <a:latin typeface="微软雅黑" pitchFamily="34" charset="-122"/>
                <a:ea typeface="微软雅黑" pitchFamily="34" charset="-122"/>
              </a:rPr>
              <a:t>或</a:t>
            </a:r>
            <a:r>
              <a:rPr lang="zh-CN" altLang="en-US" sz="2000" b="1" dirty="0">
                <a:solidFill>
                  <a:srgbClr val="C00000"/>
                </a:solidFill>
                <a:latin typeface="微软雅黑" pitchFamily="34" charset="-122"/>
                <a:ea typeface="微软雅黑" pitchFamily="34" charset="-122"/>
              </a:rPr>
              <a:t>互联网电视会议</a:t>
            </a:r>
            <a:r>
              <a:rPr lang="zh-CN" altLang="en-US" sz="2000" b="1" dirty="0">
                <a:latin typeface="微软雅黑" pitchFamily="34" charset="-122"/>
                <a:ea typeface="微软雅黑" pitchFamily="34" charset="-122"/>
              </a:rPr>
              <a:t>都属于这种类型</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nSpc>
                <a:spcPts val="3500"/>
              </a:lnSpc>
              <a:buClr>
                <a:srgbClr val="0070C0"/>
              </a:buClr>
              <a:buFont typeface="Wingdings" pitchFamily="2" charset="2"/>
              <a:buChar char="l"/>
            </a:pPr>
            <a:r>
              <a:rPr lang="zh-CN" altLang="en-US" sz="2000" b="1" dirty="0" smtClean="0">
                <a:latin typeface="微软雅黑" pitchFamily="34" charset="-122"/>
                <a:ea typeface="微软雅黑" pitchFamily="34" charset="-122"/>
              </a:rPr>
              <a:t>互联网</a:t>
            </a:r>
            <a:r>
              <a:rPr lang="zh-CN" altLang="en-US" sz="2000" b="1" dirty="0">
                <a:latin typeface="微软雅黑" pitchFamily="34" charset="-122"/>
                <a:ea typeface="微软雅黑" pitchFamily="34" charset="-122"/>
              </a:rPr>
              <a:t>电话即</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电话，又称为</a:t>
            </a:r>
            <a:r>
              <a:rPr lang="en-US" altLang="zh-CN" sz="2000" b="1" dirty="0">
                <a:latin typeface="微软雅黑" pitchFamily="34" charset="-122"/>
                <a:ea typeface="微软雅黑" pitchFamily="34" charset="-122"/>
              </a:rPr>
              <a:t>VoIP (Voice over IP</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，现代</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电话平台可以实现视频通话和即时消息等功能，提供了丰富的交互体验，因此被归类为多媒体通信。</a:t>
            </a:r>
          </a:p>
        </p:txBody>
      </p:sp>
    </p:spTree>
    <p:custDataLst>
      <p:tags r:id="rId1"/>
    </p:custDataLst>
    <p:extLst>
      <p:ext uri="{BB962C8B-B14F-4D97-AF65-F5344CB8AC3E}">
        <p14:creationId xmlns:p14="http://schemas.microsoft.com/office/powerpoint/2010/main" val="17413700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2053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1668396" y="595075"/>
            <a:ext cx="581601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交互式多媒体传输所</a:t>
            </a:r>
            <a:r>
              <a:rPr lang="zh-CN" altLang="en-US" sz="2400" b="1" dirty="0">
                <a:solidFill>
                  <a:schemeClr val="bg1"/>
                </a:solidFill>
                <a:latin typeface="微软雅黑" pitchFamily="34" charset="-122"/>
                <a:ea typeface="微软雅黑" pitchFamily="34" charset="-122"/>
              </a:rPr>
              <a:t>需要的几种应用协议 </a:t>
            </a:r>
          </a:p>
        </p:txBody>
      </p:sp>
      <p:sp>
        <p:nvSpPr>
          <p:cNvPr id="4" name="Rectangle 8"/>
          <p:cNvSpPr>
            <a:spLocks noChangeArrowheads="1"/>
          </p:cNvSpPr>
          <p:nvPr/>
        </p:nvSpPr>
        <p:spPr bwMode="auto">
          <a:xfrm>
            <a:off x="511896" y="1158798"/>
            <a:ext cx="812901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600"/>
              </a:lnSpc>
              <a:buClr>
                <a:srgbClr val="0070C0"/>
              </a:buClr>
              <a:buFont typeface="Wingdings" pitchFamily="2" charset="2"/>
              <a:buChar char="l"/>
            </a:pPr>
            <a:r>
              <a:rPr lang="zh-CN" altLang="en-US" sz="2000" b="1" dirty="0" smtClean="0">
                <a:latin typeface="微软雅黑" pitchFamily="34" charset="-122"/>
                <a:ea typeface="微软雅黑" pitchFamily="34" charset="-122"/>
              </a:rPr>
              <a:t>至少需要两类应用</a:t>
            </a:r>
            <a:r>
              <a:rPr lang="zh-CN" altLang="en-US" sz="2000" b="1" dirty="0">
                <a:latin typeface="微软雅黑" pitchFamily="34" charset="-122"/>
                <a:ea typeface="微软雅黑" pitchFamily="34" charset="-122"/>
              </a:rPr>
              <a:t>协议</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a:lnSpc>
                <a:spcPts val="36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信令协议：</a:t>
            </a:r>
            <a:r>
              <a:rPr lang="zh-CN" altLang="en-US" b="1" dirty="0">
                <a:latin typeface="微软雅黑" pitchFamily="34" charset="-122"/>
                <a:ea typeface="微软雅黑" pitchFamily="34" charset="-122"/>
              </a:rPr>
              <a:t>在互联网上找到被叫用户，如</a:t>
            </a:r>
            <a:r>
              <a:rPr lang="en-US" altLang="zh-CN" b="1" dirty="0">
                <a:latin typeface="微软雅黑" pitchFamily="34" charset="-122"/>
                <a:ea typeface="微软雅黑" pitchFamily="34" charset="-122"/>
              </a:rPr>
              <a:t>SIP</a:t>
            </a:r>
            <a:r>
              <a:rPr lang="zh-CN" altLang="en-US" b="1" dirty="0" smtClean="0">
                <a:latin typeface="微软雅黑" pitchFamily="34" charset="-122"/>
                <a:ea typeface="微软雅黑" pitchFamily="34" charset="-122"/>
              </a:rPr>
              <a:t>等。</a:t>
            </a:r>
            <a:endParaRPr lang="en-US" altLang="zh-CN" b="1" dirty="0" smtClean="0">
              <a:latin typeface="微软雅黑" pitchFamily="34" charset="-122"/>
              <a:ea typeface="微软雅黑" pitchFamily="34" charset="-122"/>
            </a:endParaRPr>
          </a:p>
          <a:p>
            <a:pPr marL="742950" lvl="1" indent="-285750">
              <a:lnSpc>
                <a:spcPts val="3600"/>
              </a:lnSpc>
              <a:buClr>
                <a:srgbClr val="0070C0"/>
              </a:buClr>
              <a:buFont typeface="Wingdings" pitchFamily="2" charset="2"/>
              <a:buChar char="l"/>
            </a:pPr>
            <a:r>
              <a:rPr lang="zh-CN" altLang="en-US" b="1" dirty="0">
                <a:latin typeface="微软雅黑" pitchFamily="34" charset="-122"/>
                <a:ea typeface="微软雅黑" pitchFamily="34" charset="-122"/>
              </a:rPr>
              <a:t>多媒体分组的</a:t>
            </a:r>
            <a:r>
              <a:rPr lang="zh-CN" altLang="en-US" b="1" dirty="0">
                <a:solidFill>
                  <a:srgbClr val="C00000"/>
                </a:solidFill>
                <a:latin typeface="微软雅黑" pitchFamily="34" charset="-122"/>
                <a:ea typeface="微软雅黑" pitchFamily="34" charset="-122"/>
              </a:rPr>
              <a:t>传输协议：</a:t>
            </a:r>
            <a:r>
              <a:rPr lang="zh-CN" altLang="en-US" b="1" dirty="0">
                <a:latin typeface="微软雅黑" pitchFamily="34" charset="-122"/>
                <a:ea typeface="微软雅黑" pitchFamily="34" charset="-122"/>
              </a:rPr>
              <a:t>使多媒体通信的数据能够以时延敏感属性在互联网中传输，如</a:t>
            </a:r>
            <a:r>
              <a:rPr lang="en-US" altLang="zh-CN" b="1" dirty="0">
                <a:latin typeface="微软雅黑" pitchFamily="34" charset="-122"/>
                <a:ea typeface="微软雅黑" pitchFamily="34" charset="-122"/>
              </a:rPr>
              <a:t>RTP</a:t>
            </a:r>
            <a:r>
              <a:rPr lang="zh-CN" altLang="en-US" b="1" dirty="0" smtClean="0">
                <a:latin typeface="微软雅黑" pitchFamily="34" charset="-122"/>
                <a:ea typeface="微软雅黑" pitchFamily="34" charset="-122"/>
              </a:rPr>
              <a:t>等。</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527542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315482" y="593125"/>
            <a:ext cx="25218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会话</a:t>
            </a:r>
            <a:r>
              <a:rPr lang="zh-CN" altLang="en-US" sz="2400" b="1" dirty="0">
                <a:solidFill>
                  <a:schemeClr val="bg1"/>
                </a:solidFill>
                <a:latin typeface="微软雅黑" pitchFamily="34" charset="-122"/>
                <a:ea typeface="微软雅黑" pitchFamily="34" charset="-122"/>
              </a:rPr>
              <a:t>发起协议</a:t>
            </a:r>
            <a:r>
              <a:rPr lang="en-US" altLang="zh-CN" sz="2400" b="1" dirty="0">
                <a:solidFill>
                  <a:schemeClr val="bg1"/>
                </a:solidFill>
                <a:latin typeface="微软雅黑" pitchFamily="34" charset="-122"/>
                <a:ea typeface="微软雅黑" pitchFamily="34" charset="-122"/>
              </a:rPr>
              <a:t>SIP</a:t>
            </a:r>
          </a:p>
        </p:txBody>
      </p:sp>
      <p:sp>
        <p:nvSpPr>
          <p:cNvPr id="4" name="Rectangle 8"/>
          <p:cNvSpPr>
            <a:spLocks noChangeArrowheads="1"/>
          </p:cNvSpPr>
          <p:nvPr/>
        </p:nvSpPr>
        <p:spPr bwMode="auto">
          <a:xfrm>
            <a:off x="511896" y="1055489"/>
            <a:ext cx="8129015" cy="31830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500"/>
              </a:lnSpc>
              <a:buClr>
                <a:srgbClr val="0070C0"/>
              </a:buClr>
              <a:buFont typeface="Wingdings" pitchFamily="2" charset="2"/>
              <a:buChar char="l"/>
            </a:pPr>
            <a:r>
              <a:rPr lang="zh-CN" altLang="en-US" sz="2000" b="1" dirty="0" smtClean="0">
                <a:latin typeface="微软雅黑" pitchFamily="34" charset="-122"/>
                <a:ea typeface="微软雅黑" pitchFamily="34" charset="-122"/>
              </a:rPr>
              <a:t>为了进行</a:t>
            </a:r>
            <a:r>
              <a:rPr lang="zh-CN" altLang="zh-CN" sz="2000" b="1" dirty="0" smtClean="0">
                <a:latin typeface="微软雅黑" pitchFamily="34" charset="-122"/>
                <a:ea typeface="微软雅黑" pitchFamily="34" charset="-122"/>
              </a:rPr>
              <a:t>交互式</a:t>
            </a:r>
            <a:r>
              <a:rPr lang="zh-CN" altLang="zh-CN" sz="2000" b="1" dirty="0">
                <a:latin typeface="微软雅黑" pitchFamily="34" charset="-122"/>
                <a:ea typeface="微软雅黑" pitchFamily="34" charset="-122"/>
              </a:rPr>
              <a:t>多媒体</a:t>
            </a:r>
            <a:r>
              <a:rPr lang="zh-CN" altLang="zh-CN" sz="2000" b="1" dirty="0" smtClean="0">
                <a:latin typeface="微软雅黑" pitchFamily="34" charset="-122"/>
                <a:ea typeface="微软雅黑" pitchFamily="34" charset="-122"/>
              </a:rPr>
              <a:t>通信</a:t>
            </a:r>
            <a:r>
              <a:rPr lang="zh-CN" altLang="en-US" sz="2000" b="1" dirty="0" smtClean="0">
                <a:latin typeface="微软雅黑" pitchFamily="34" charset="-122"/>
                <a:ea typeface="微软雅黑" pitchFamily="34" charset="-122"/>
              </a:rPr>
              <a:t>，需要相应的信令协议来管理呼叫过程。</a:t>
            </a:r>
            <a:endParaRPr lang="en-US" altLang="zh-CN" sz="2000" b="1" dirty="0">
              <a:latin typeface="微软雅黑" pitchFamily="34" charset="-122"/>
              <a:ea typeface="微软雅黑" pitchFamily="34" charset="-122"/>
            </a:endParaRPr>
          </a:p>
          <a:p>
            <a:pPr marL="285750" indent="-285750">
              <a:lnSpc>
                <a:spcPts val="35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会话</a:t>
            </a:r>
            <a:r>
              <a:rPr lang="zh-CN" altLang="en-US" sz="2000" b="1" dirty="0">
                <a:solidFill>
                  <a:srgbClr val="C00000"/>
                </a:solidFill>
                <a:latin typeface="微软雅黑" pitchFamily="34" charset="-122"/>
                <a:ea typeface="微软雅黑" pitchFamily="34" charset="-122"/>
              </a:rPr>
              <a:t>发起协议 </a:t>
            </a:r>
            <a:r>
              <a:rPr lang="en-US" altLang="zh-CN" sz="2000" b="1" dirty="0" smtClean="0">
                <a:solidFill>
                  <a:srgbClr val="C00000"/>
                </a:solidFill>
                <a:latin typeface="微软雅黑" pitchFamily="34" charset="-122"/>
                <a:ea typeface="微软雅黑" pitchFamily="34" charset="-122"/>
              </a:rPr>
              <a:t>SIP </a:t>
            </a:r>
            <a:r>
              <a:rPr lang="en-US" altLang="zh-CN" sz="2000" b="1" dirty="0">
                <a:latin typeface="微软雅黑" pitchFamily="34" charset="-122"/>
                <a:ea typeface="微软雅黑" pitchFamily="34" charset="-122"/>
              </a:rPr>
              <a:t>(Session Initiation Protocol) </a:t>
            </a:r>
            <a:r>
              <a:rPr lang="zh-CN" altLang="en-US" sz="2000" b="1" dirty="0">
                <a:latin typeface="微软雅黑" pitchFamily="34" charset="-122"/>
                <a:ea typeface="微软雅黑" pitchFamily="34" charset="-122"/>
              </a:rPr>
              <a:t>是一套较为简单且实用的标准，目前已成为互联网的建议标准。</a:t>
            </a:r>
          </a:p>
          <a:p>
            <a:pPr marL="285750" indent="-285750">
              <a:lnSpc>
                <a:spcPts val="3500"/>
              </a:lnSpc>
              <a:buClr>
                <a:srgbClr val="0070C0"/>
              </a:buClr>
              <a:buFont typeface="Wingdings" pitchFamily="2" charset="2"/>
              <a:buChar char="l"/>
            </a:pPr>
            <a:r>
              <a:rPr lang="zh-CN" altLang="en-US" sz="2000" b="1" dirty="0" smtClean="0">
                <a:latin typeface="微软雅黑" pitchFamily="34" charset="-122"/>
                <a:ea typeface="微软雅黑" pitchFamily="34" charset="-122"/>
              </a:rPr>
              <a:t>所谓</a:t>
            </a:r>
            <a:r>
              <a:rPr lang="zh-CN" altLang="en-US" sz="2000" b="1" dirty="0">
                <a:latin typeface="微软雅黑" pitchFamily="34" charset="-122"/>
                <a:ea typeface="微软雅黑" pitchFamily="34" charset="-122"/>
              </a:rPr>
              <a:t>“会话”就是指</a:t>
            </a:r>
            <a:r>
              <a:rPr lang="zh-CN" altLang="en-US" sz="2000" b="1" dirty="0">
                <a:solidFill>
                  <a:srgbClr val="C00000"/>
                </a:solidFill>
                <a:latin typeface="微软雅黑" pitchFamily="34" charset="-122"/>
                <a:ea typeface="微软雅黑" pitchFamily="34" charset="-122"/>
              </a:rPr>
              <a:t>互联网上的通话或视频会议</a:t>
            </a:r>
            <a:r>
              <a:rPr lang="zh-CN" altLang="en-US" sz="2000" b="1" dirty="0" smtClean="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SIP</a:t>
            </a:r>
            <a:r>
              <a:rPr lang="zh-CN" altLang="en-US" sz="2000" b="1" dirty="0">
                <a:latin typeface="微软雅黑" pitchFamily="34" charset="-122"/>
                <a:ea typeface="微软雅黑" pitchFamily="34" charset="-122"/>
              </a:rPr>
              <a:t>就是用于</a:t>
            </a:r>
            <a:r>
              <a:rPr lang="zh-CN" altLang="en-US" sz="2000" b="1" dirty="0">
                <a:solidFill>
                  <a:srgbClr val="C00000"/>
                </a:solidFill>
                <a:latin typeface="微软雅黑" pitchFamily="34" charset="-122"/>
                <a:ea typeface="微软雅黑" pitchFamily="34" charset="-122"/>
              </a:rPr>
              <a:t>建立、管理和终止一次多媒体会话（</a:t>
            </a:r>
            <a:r>
              <a:rPr lang="en-US" altLang="zh-CN" sz="2000" b="1" dirty="0">
                <a:solidFill>
                  <a:srgbClr val="C00000"/>
                </a:solidFill>
                <a:latin typeface="微软雅黑" pitchFamily="34" charset="-122"/>
                <a:ea typeface="微软雅黑" pitchFamily="34" charset="-122"/>
              </a:rPr>
              <a:t>IP</a:t>
            </a:r>
            <a:r>
              <a:rPr lang="zh-CN" altLang="en-US" sz="2000" b="1" dirty="0">
                <a:solidFill>
                  <a:srgbClr val="C00000"/>
                </a:solidFill>
                <a:latin typeface="微软雅黑" pitchFamily="34" charset="-122"/>
                <a:ea typeface="微软雅黑" pitchFamily="34" charset="-122"/>
              </a:rPr>
              <a:t>电话或视频会议</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285750" indent="-285750">
              <a:lnSpc>
                <a:spcPts val="3500"/>
              </a:lnSpc>
              <a:buClr>
                <a:srgbClr val="0070C0"/>
              </a:buClr>
              <a:buFont typeface="Wingdings" pitchFamily="2" charset="2"/>
              <a:buChar char="l"/>
            </a:pPr>
            <a:r>
              <a:rPr lang="en-US" altLang="zh-CN" sz="2000" b="1" dirty="0">
                <a:latin typeface="微软雅黑" pitchFamily="34" charset="-122"/>
                <a:ea typeface="微软雅黑" pitchFamily="34" charset="-122"/>
              </a:rPr>
              <a:t>SIP </a:t>
            </a:r>
            <a:r>
              <a:rPr lang="zh-CN" altLang="en-US" sz="2000" b="1" dirty="0">
                <a:latin typeface="微软雅黑" pitchFamily="34" charset="-122"/>
                <a:ea typeface="微软雅黑" pitchFamily="34" charset="-122"/>
              </a:rPr>
              <a:t>没有指定使用 </a:t>
            </a:r>
            <a:r>
              <a:rPr lang="en-US" altLang="zh-CN" sz="2000" b="1" dirty="0">
                <a:latin typeface="微软雅黑" pitchFamily="34" charset="-122"/>
                <a:ea typeface="微软雅黑" pitchFamily="34" charset="-122"/>
              </a:rPr>
              <a:t>RTP </a:t>
            </a:r>
            <a:r>
              <a:rPr lang="zh-CN" altLang="en-US" sz="2000" b="1" dirty="0">
                <a:latin typeface="微软雅黑" pitchFamily="34" charset="-122"/>
                <a:ea typeface="微软雅黑" pitchFamily="34" charset="-122"/>
              </a:rPr>
              <a:t>协议，但实际上大家还是选用 </a:t>
            </a:r>
            <a:r>
              <a:rPr lang="en-US" altLang="zh-CN" sz="2000" b="1" dirty="0">
                <a:latin typeface="微软雅黑" pitchFamily="34" charset="-122"/>
                <a:ea typeface="微软雅黑" pitchFamily="34" charset="-122"/>
              </a:rPr>
              <a:t>RTP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RTCP </a:t>
            </a:r>
            <a:r>
              <a:rPr lang="zh-CN" altLang="en-US" sz="2000" b="1" dirty="0">
                <a:latin typeface="微软雅黑" pitchFamily="34" charset="-122"/>
                <a:ea typeface="微软雅黑" pitchFamily="34" charset="-122"/>
              </a:rPr>
              <a:t>作为配合使用的协议。 </a:t>
            </a:r>
          </a:p>
        </p:txBody>
      </p:sp>
    </p:spTree>
    <p:custDataLst>
      <p:tags r:id="rId1"/>
    </p:custDataLst>
    <p:extLst>
      <p:ext uri="{BB962C8B-B14F-4D97-AF65-F5344CB8AC3E}">
        <p14:creationId xmlns:p14="http://schemas.microsoft.com/office/powerpoint/2010/main" val="27631295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36036"/>
            <a:ext cx="8129016" cy="3631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gn="just"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会话描述协议 </a:t>
            </a:r>
            <a:r>
              <a:rPr lang="en-US" altLang="zh-CN" sz="2000" b="1" dirty="0" smtClean="0">
                <a:solidFill>
                  <a:srgbClr val="C00000"/>
                </a:solidFill>
                <a:latin typeface="微软雅黑" pitchFamily="34" charset="-122"/>
                <a:ea typeface="微软雅黑" pitchFamily="34" charset="-122"/>
              </a:rPr>
              <a:t>SDP </a:t>
            </a:r>
            <a:r>
              <a:rPr lang="en-US" altLang="zh-CN" sz="2000" b="1" dirty="0">
                <a:latin typeface="微软雅黑" pitchFamily="34" charset="-122"/>
                <a:ea typeface="微软雅黑" pitchFamily="34" charset="-122"/>
              </a:rPr>
              <a:t>(Session Description Protocol</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algn="just"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SIP</a:t>
            </a:r>
            <a:r>
              <a:rPr lang="zh-CN" altLang="en-US" sz="1600" b="1" dirty="0" smtClean="0">
                <a:latin typeface="微软雅黑" pitchFamily="34" charset="-122"/>
                <a:ea typeface="微软雅黑" pitchFamily="34" charset="-122"/>
              </a:rPr>
              <a:t>的</a:t>
            </a:r>
            <a:r>
              <a:rPr lang="zh-CN" altLang="en-US" sz="1600" b="1" dirty="0">
                <a:solidFill>
                  <a:srgbClr val="C00000"/>
                </a:solidFill>
                <a:latin typeface="微软雅黑" pitchFamily="34" charset="-122"/>
                <a:ea typeface="微软雅黑" pitchFamily="34" charset="-122"/>
              </a:rPr>
              <a:t>配套</a:t>
            </a:r>
            <a:r>
              <a:rPr lang="zh-CN" altLang="en-US" sz="1600" b="1" dirty="0" smtClean="0">
                <a:solidFill>
                  <a:srgbClr val="C00000"/>
                </a:solidFill>
                <a:latin typeface="微软雅黑" pitchFamily="34" charset="-122"/>
                <a:ea typeface="微软雅黑" pitchFamily="34" charset="-122"/>
              </a:rPr>
              <a:t>协议</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SDP</a:t>
            </a:r>
            <a:r>
              <a:rPr lang="zh-CN" altLang="en-US" sz="1600" b="1" dirty="0" smtClean="0">
                <a:latin typeface="微软雅黑" pitchFamily="34" charset="-122"/>
                <a:ea typeface="微软雅黑" pitchFamily="34" charset="-122"/>
              </a:rPr>
              <a:t>不是</a:t>
            </a:r>
            <a:r>
              <a:rPr lang="zh-CN" altLang="en-US" sz="1600" b="1" dirty="0">
                <a:latin typeface="微软雅黑" pitchFamily="34" charset="-122"/>
                <a:ea typeface="微软雅黑" pitchFamily="34" charset="-122"/>
              </a:rPr>
              <a:t>信令协议，</a:t>
            </a:r>
            <a:r>
              <a:rPr lang="zh-CN" altLang="en-US" sz="1600" b="1" dirty="0" smtClean="0">
                <a:latin typeface="微软雅黑" pitchFamily="34" charset="-122"/>
                <a:ea typeface="微软雅黑" pitchFamily="34" charset="-122"/>
              </a:rPr>
              <a:t>但 </a:t>
            </a:r>
            <a:r>
              <a:rPr lang="en-US" altLang="zh-CN" sz="1600" b="1" dirty="0" smtClean="0">
                <a:latin typeface="微软雅黑" pitchFamily="34" charset="-122"/>
                <a:ea typeface="微软雅黑" pitchFamily="34" charset="-122"/>
              </a:rPr>
              <a:t>SDP </a:t>
            </a:r>
            <a:r>
              <a:rPr lang="zh-CN" altLang="en-US" sz="1600" b="1" dirty="0" smtClean="0">
                <a:latin typeface="微软雅黑" pitchFamily="34" charset="-122"/>
                <a:ea typeface="微软雅黑" pitchFamily="34" charset="-122"/>
              </a:rPr>
              <a:t>给 </a:t>
            </a:r>
            <a:r>
              <a:rPr lang="en-US" altLang="zh-CN" sz="1600" b="1" dirty="0">
                <a:latin typeface="微软雅黑" pitchFamily="34" charset="-122"/>
                <a:ea typeface="微软雅黑" pitchFamily="34" charset="-122"/>
              </a:rPr>
              <a:t>SIP </a:t>
            </a:r>
            <a:r>
              <a:rPr lang="zh-CN" altLang="en-US" sz="1600" b="1" dirty="0">
                <a:latin typeface="微软雅黑" pitchFamily="34" charset="-122"/>
                <a:ea typeface="微软雅黑" pitchFamily="34" charset="-122"/>
              </a:rPr>
              <a:t>提供</a:t>
            </a:r>
            <a:r>
              <a:rPr lang="zh-CN" altLang="en-US" sz="1600" b="1" dirty="0">
                <a:solidFill>
                  <a:srgbClr val="C00000"/>
                </a:solidFill>
                <a:latin typeface="微软雅黑" pitchFamily="34" charset="-122"/>
                <a:ea typeface="微软雅黑" pitchFamily="34" charset="-122"/>
              </a:rPr>
              <a:t>有关多媒体会话的详细描述</a:t>
            </a:r>
            <a:r>
              <a:rPr lang="zh-CN" altLang="en-US" sz="1600" b="1" dirty="0">
                <a:latin typeface="微软雅黑" pitchFamily="34" charset="-122"/>
                <a:ea typeface="微软雅黑" pitchFamily="34" charset="-122"/>
              </a:rPr>
              <a:t>，包括媒体类型（如音频、视频）、使用的编码方式、传输协议等</a:t>
            </a:r>
            <a:r>
              <a:rPr lang="zh-CN" altLang="en-US" sz="1600" b="1" dirty="0" smtClean="0">
                <a:latin typeface="微软雅黑" pitchFamily="34" charset="-122"/>
                <a:ea typeface="微软雅黑" pitchFamily="34" charset="-122"/>
              </a:rPr>
              <a:t>信息。</a:t>
            </a:r>
            <a:endParaRPr lang="en-US" altLang="zh-CN" sz="1600" b="1" dirty="0" smtClean="0">
              <a:latin typeface="微软雅黑" pitchFamily="34" charset="-122"/>
              <a:ea typeface="微软雅黑" pitchFamily="34" charset="-122"/>
            </a:endParaRPr>
          </a:p>
          <a:p>
            <a:pPr marL="800100" lvl="1" indent="-342900" algn="just" hangingPunct="0">
              <a:lnSpc>
                <a:spcPts val="2700"/>
              </a:lnSpc>
              <a:buClr>
                <a:srgbClr val="0070C0"/>
              </a:buClr>
              <a:buFont typeface="Wingdings" pitchFamily="2" charset="2"/>
              <a:buChar char="l"/>
            </a:pPr>
            <a:r>
              <a:rPr lang="en-US" altLang="zh-CN" sz="1600" b="1" dirty="0">
                <a:latin typeface="微软雅黑" pitchFamily="34" charset="-122"/>
                <a:ea typeface="微软雅黑" pitchFamily="34" charset="-122"/>
              </a:rPr>
              <a:t>SDP </a:t>
            </a:r>
            <a:r>
              <a:rPr lang="zh-CN" altLang="en-US" sz="1600" b="1" dirty="0">
                <a:solidFill>
                  <a:srgbClr val="C00000"/>
                </a:solidFill>
                <a:latin typeface="微软雅黑" pitchFamily="34" charset="-122"/>
                <a:ea typeface="微软雅黑" pitchFamily="34" charset="-122"/>
              </a:rPr>
              <a:t>支持多种媒体类型和编码选项</a:t>
            </a:r>
            <a:r>
              <a:rPr lang="zh-CN" altLang="en-US" sz="1600" b="1" dirty="0">
                <a:latin typeface="微软雅黑" pitchFamily="34" charset="-122"/>
                <a:ea typeface="微软雅黑" pitchFamily="34" charset="-122"/>
              </a:rPr>
              <a:t>，使参与者可以选择适合的通信参数</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SDP </a:t>
            </a:r>
            <a:r>
              <a:rPr lang="zh-CN" altLang="en-US" sz="1600" b="1" dirty="0" smtClean="0">
                <a:solidFill>
                  <a:srgbClr val="C00000"/>
                </a:solidFill>
                <a:latin typeface="微软雅黑" pitchFamily="34" charset="-122"/>
                <a:ea typeface="微软雅黑" pitchFamily="34" charset="-122"/>
              </a:rPr>
              <a:t>可以</a:t>
            </a:r>
            <a:r>
              <a:rPr lang="zh-CN" altLang="en-US" sz="1600" b="1" dirty="0">
                <a:solidFill>
                  <a:srgbClr val="C00000"/>
                </a:solidFill>
                <a:latin typeface="微软雅黑" pitchFamily="34" charset="-122"/>
                <a:ea typeface="微软雅黑" pitchFamily="34" charset="-122"/>
              </a:rPr>
              <a:t>描述各种编码</a:t>
            </a:r>
            <a:r>
              <a:rPr lang="zh-CN" altLang="en-US" sz="1600" b="1" dirty="0" smtClean="0">
                <a:solidFill>
                  <a:srgbClr val="C00000"/>
                </a:solidFill>
                <a:latin typeface="微软雅黑" pitchFamily="34" charset="-122"/>
                <a:ea typeface="微软雅黑" pitchFamily="34" charset="-122"/>
              </a:rPr>
              <a:t>参数</a:t>
            </a:r>
            <a:r>
              <a:rPr lang="zh-CN" altLang="en-US" sz="1600" b="1" dirty="0" smtClean="0">
                <a:latin typeface="微软雅黑" pitchFamily="34" charset="-122"/>
                <a:ea typeface="微软雅黑" pitchFamily="34" charset="-122"/>
              </a:rPr>
              <a:t>，为</a:t>
            </a:r>
            <a:r>
              <a:rPr lang="zh-CN" altLang="en-US" sz="1600" b="1" dirty="0">
                <a:latin typeface="微软雅黑" pitchFamily="34" charset="-122"/>
                <a:ea typeface="微软雅黑" pitchFamily="34" charset="-122"/>
              </a:rPr>
              <a:t>未来可能出现的新媒体格式提供了支持</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SDP </a:t>
            </a:r>
            <a:r>
              <a:rPr lang="zh-CN" altLang="en-US" sz="1600" b="1" dirty="0" smtClean="0">
                <a:latin typeface="微软雅黑" pitchFamily="34" charset="-122"/>
                <a:ea typeface="微软雅黑" pitchFamily="34" charset="-122"/>
              </a:rPr>
              <a:t>在</a:t>
            </a:r>
            <a:r>
              <a:rPr lang="zh-CN" altLang="en-US" sz="1600" b="1" dirty="0">
                <a:latin typeface="微软雅黑" pitchFamily="34" charset="-122"/>
                <a:ea typeface="微软雅黑" pitchFamily="34" charset="-122"/>
              </a:rPr>
              <a:t>电话会议中非常重要，因为它提供了每个参与者的媒体能力和参数描述。通过这些信息，系统可以协调不同参与者之间的兼容性，选择合适的音频格式，并辅助进行带宽管理。</a:t>
            </a:r>
            <a:r>
              <a:rPr lang="zh-CN" altLang="en-US" sz="1600" b="1" dirty="0" smtClean="0">
                <a:latin typeface="微软雅黑" pitchFamily="34" charset="-122"/>
                <a:ea typeface="微软雅黑" pitchFamily="34" charset="-122"/>
              </a:rPr>
              <a:t>虽然 </a:t>
            </a:r>
            <a:r>
              <a:rPr lang="en-US" altLang="zh-CN" sz="1600" b="1" dirty="0" smtClean="0">
                <a:latin typeface="微软雅黑" pitchFamily="34" charset="-122"/>
                <a:ea typeface="微软雅黑" pitchFamily="34" charset="-122"/>
              </a:rPr>
              <a:t>SDP </a:t>
            </a:r>
            <a:r>
              <a:rPr lang="zh-CN" altLang="en-US" sz="1600" b="1" dirty="0" smtClean="0">
                <a:latin typeface="微软雅黑" pitchFamily="34" charset="-122"/>
                <a:ea typeface="微软雅黑" pitchFamily="34" charset="-122"/>
              </a:rPr>
              <a:t>本身</a:t>
            </a:r>
            <a:r>
              <a:rPr lang="zh-CN" altLang="en-US" sz="1600" b="1" dirty="0">
                <a:latin typeface="微软雅黑" pitchFamily="34" charset="-122"/>
                <a:ea typeface="微软雅黑" pitchFamily="34" charset="-122"/>
              </a:rPr>
              <a:t>不控制这些功能，但它提供的关键信息是实现这些功能的</a:t>
            </a:r>
            <a:r>
              <a:rPr lang="zh-CN" altLang="en-US" sz="1600" b="1" dirty="0" smtClean="0">
                <a:latin typeface="微软雅黑" pitchFamily="34" charset="-122"/>
                <a:ea typeface="微软雅黑" pitchFamily="34" charset="-122"/>
              </a:rPr>
              <a:t>基础。</a:t>
            </a:r>
            <a:endParaRPr lang="en-US" altLang="zh-CN" sz="1600" b="1" dirty="0" smtClean="0">
              <a:latin typeface="微软雅黑" pitchFamily="34" charset="-122"/>
              <a:ea typeface="微软雅黑" pitchFamily="34" charset="-122"/>
            </a:endParaRP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153578" y="593125"/>
            <a:ext cx="28456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会话描述协议 </a:t>
            </a:r>
            <a:r>
              <a:rPr lang="en-US" altLang="zh-CN" sz="2400" b="1" dirty="0">
                <a:solidFill>
                  <a:schemeClr val="bg1"/>
                </a:solidFill>
                <a:latin typeface="微软雅黑" pitchFamily="34" charset="-122"/>
                <a:ea typeface="微软雅黑" pitchFamily="34" charset="-122"/>
              </a:rPr>
              <a:t>SDP </a:t>
            </a:r>
          </a:p>
        </p:txBody>
      </p:sp>
    </p:spTree>
    <p:custDataLst>
      <p:tags r:id="rId1"/>
    </p:custDataLst>
    <p:extLst>
      <p:ext uri="{BB962C8B-B14F-4D97-AF65-F5344CB8AC3E}">
        <p14:creationId xmlns:p14="http://schemas.microsoft.com/office/powerpoint/2010/main" val="11864916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3" end="3"/>
                                            </p:txEl>
                                          </p:spTgt>
                                        </p:tgtEl>
                                        <p:attrNameLst>
                                          <p:attrName>style.visibility</p:attrName>
                                        </p:attrNameLst>
                                      </p:cBhvr>
                                      <p:to>
                                        <p:strVal val="visible"/>
                                      </p:to>
                                    </p:set>
                                    <p:animEffect transition="in" filter="fade">
                                      <p:cBhvr>
                                        <p:cTn id="12" dur="500"/>
                                        <p:tgtEl>
                                          <p:spTgt spid="2">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5" end="5"/>
                                            </p:txEl>
                                          </p:spTgt>
                                        </p:tgtEl>
                                        <p:attrNameLst>
                                          <p:attrName>style.visibility</p:attrName>
                                        </p:attrNameLst>
                                      </p:cBhvr>
                                      <p:to>
                                        <p:strVal val="visible"/>
                                      </p:to>
                                    </p:set>
                                    <p:animEffect transition="in" filter="fade">
                                      <p:cBhvr>
                                        <p:cTn id="22"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11896" y="1186829"/>
            <a:ext cx="8129016" cy="31391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9" name="组合 38"/>
          <p:cNvGrpSpPr/>
          <p:nvPr/>
        </p:nvGrpSpPr>
        <p:grpSpPr>
          <a:xfrm>
            <a:off x="2168238" y="1460166"/>
            <a:ext cx="5237886" cy="2506910"/>
            <a:chOff x="924047" y="1465264"/>
            <a:chExt cx="8853489" cy="4237377"/>
          </a:xfrm>
        </p:grpSpPr>
        <p:sp>
          <p:nvSpPr>
            <p:cNvPr id="9" name="Rectangle 15"/>
            <p:cNvSpPr>
              <a:spLocks noChangeArrowheads="1"/>
            </p:cNvSpPr>
            <p:nvPr/>
          </p:nvSpPr>
          <p:spPr bwMode="auto">
            <a:xfrm>
              <a:off x="939525" y="3390901"/>
              <a:ext cx="8838011" cy="465138"/>
            </a:xfrm>
            <a:prstGeom prst="rect">
              <a:avLst/>
            </a:prstGeom>
            <a:solidFill>
              <a:srgbClr val="66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latin typeface="微软雅黑" pitchFamily="34" charset="-122"/>
                  <a:ea typeface="微软雅黑" pitchFamily="34" charset="-122"/>
                </a:rPr>
                <a:t>UDP</a:t>
              </a:r>
            </a:p>
          </p:txBody>
        </p:sp>
        <p:sp>
          <p:nvSpPr>
            <p:cNvPr id="11" name="Line 17"/>
            <p:cNvSpPr>
              <a:spLocks noChangeShapeType="1"/>
            </p:cNvSpPr>
            <p:nvPr/>
          </p:nvSpPr>
          <p:spPr bwMode="auto">
            <a:xfrm>
              <a:off x="5335882" y="3856038"/>
              <a:ext cx="0" cy="37465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Line 19"/>
            <p:cNvSpPr>
              <a:spLocks noChangeShapeType="1"/>
            </p:cNvSpPr>
            <p:nvPr/>
          </p:nvSpPr>
          <p:spPr bwMode="auto">
            <a:xfrm>
              <a:off x="3125381" y="2832100"/>
              <a:ext cx="0" cy="55880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21"/>
            <p:cNvSpPr>
              <a:spLocks noChangeShapeType="1"/>
            </p:cNvSpPr>
            <p:nvPr/>
          </p:nvSpPr>
          <p:spPr bwMode="auto">
            <a:xfrm>
              <a:off x="8645845" y="2832100"/>
              <a:ext cx="0" cy="55879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Line 24"/>
            <p:cNvSpPr>
              <a:spLocks noChangeShapeType="1"/>
            </p:cNvSpPr>
            <p:nvPr/>
          </p:nvSpPr>
          <p:spPr bwMode="auto">
            <a:xfrm flipH="1">
              <a:off x="6067592" y="2863850"/>
              <a:ext cx="0" cy="52704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Text Box 36"/>
            <p:cNvSpPr txBox="1">
              <a:spLocks noChangeArrowheads="1"/>
            </p:cNvSpPr>
            <p:nvPr/>
          </p:nvSpPr>
          <p:spPr bwMode="auto">
            <a:xfrm>
              <a:off x="7921395" y="1964048"/>
              <a:ext cx="1352593" cy="468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服务质量</a:t>
              </a:r>
            </a:p>
          </p:txBody>
        </p:sp>
        <p:sp>
          <p:nvSpPr>
            <p:cNvPr id="21" name="Rectangle 37"/>
            <p:cNvSpPr>
              <a:spLocks noChangeArrowheads="1"/>
            </p:cNvSpPr>
            <p:nvPr/>
          </p:nvSpPr>
          <p:spPr bwMode="auto">
            <a:xfrm>
              <a:off x="939526" y="4230689"/>
              <a:ext cx="8838009" cy="46513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smtClean="0">
                  <a:solidFill>
                    <a:schemeClr val="bg1"/>
                  </a:solidFill>
                  <a:latin typeface="微软雅黑" pitchFamily="34" charset="-122"/>
                  <a:ea typeface="微软雅黑" pitchFamily="34" charset="-122"/>
                </a:rPr>
                <a:t>IPv4 / IPv6</a:t>
              </a:r>
              <a:endParaRPr kumimoji="1" lang="en-US" altLang="zh-CN" sz="1200" b="1" dirty="0">
                <a:solidFill>
                  <a:schemeClr val="bg1"/>
                </a:solidFill>
                <a:latin typeface="微软雅黑" pitchFamily="34" charset="-122"/>
                <a:ea typeface="微软雅黑" pitchFamily="34" charset="-122"/>
              </a:endParaRPr>
            </a:p>
          </p:txBody>
        </p:sp>
        <p:sp>
          <p:nvSpPr>
            <p:cNvPr id="23" name="AutoShape 39"/>
            <p:cNvSpPr>
              <a:spLocks noChangeArrowheads="1"/>
            </p:cNvSpPr>
            <p:nvPr/>
          </p:nvSpPr>
          <p:spPr bwMode="auto">
            <a:xfrm>
              <a:off x="8074876" y="2460625"/>
              <a:ext cx="1045634" cy="371474"/>
            </a:xfrm>
            <a:prstGeom prst="roundRect">
              <a:avLst>
                <a:gd name="adj" fmla="val 39167"/>
              </a:avLst>
            </a:prstGeom>
            <a:solidFill>
              <a:srgbClr val="FFFF00"/>
            </a:solidFill>
            <a:ln w="6350">
              <a:solidFill>
                <a:schemeClr val="tx1"/>
              </a:solidFill>
              <a:round/>
              <a:headEnd/>
              <a:tailEnd/>
            </a:ln>
            <a:effectLst/>
          </p:spPr>
          <p:txBody>
            <a:bodyPr wrap="none" anchor="ctr"/>
            <a:lstStyle/>
            <a:p>
              <a:pPr algn="ctr"/>
              <a:r>
                <a:rPr kumimoji="1" lang="en-US" altLang="zh-CN" sz="1200" b="1">
                  <a:latin typeface="微软雅黑" pitchFamily="34" charset="-122"/>
                  <a:ea typeface="微软雅黑" pitchFamily="34" charset="-122"/>
                </a:rPr>
                <a:t>RTCP</a:t>
              </a:r>
            </a:p>
          </p:txBody>
        </p:sp>
        <p:sp>
          <p:nvSpPr>
            <p:cNvPr id="26" name="AutoShape 42"/>
            <p:cNvSpPr>
              <a:spLocks noChangeArrowheads="1"/>
            </p:cNvSpPr>
            <p:nvPr/>
          </p:nvSpPr>
          <p:spPr bwMode="auto">
            <a:xfrm>
              <a:off x="2554411" y="2460626"/>
              <a:ext cx="1043914" cy="371475"/>
            </a:xfrm>
            <a:prstGeom prst="roundRect">
              <a:avLst>
                <a:gd name="adj" fmla="val 39167"/>
              </a:avLst>
            </a:prstGeom>
            <a:solidFill>
              <a:srgbClr val="FFFF00"/>
            </a:solidFill>
            <a:ln w="6350">
              <a:solidFill>
                <a:schemeClr val="tx1"/>
              </a:solidFill>
              <a:round/>
              <a:headEnd/>
              <a:tailEnd/>
            </a:ln>
            <a:effectLst/>
          </p:spPr>
          <p:txBody>
            <a:bodyPr wrap="none" anchor="ctr"/>
            <a:lstStyle/>
            <a:p>
              <a:pPr algn="ctr"/>
              <a:r>
                <a:rPr kumimoji="1" lang="en-US" altLang="zh-CN" sz="1200" b="1">
                  <a:latin typeface="微软雅黑" pitchFamily="34" charset="-122"/>
                  <a:ea typeface="微软雅黑" pitchFamily="34" charset="-122"/>
                </a:rPr>
                <a:t>SIP</a:t>
              </a:r>
            </a:p>
          </p:txBody>
        </p:sp>
        <p:sp>
          <p:nvSpPr>
            <p:cNvPr id="27" name="AutoShape 43"/>
            <p:cNvSpPr>
              <a:spLocks noChangeArrowheads="1"/>
            </p:cNvSpPr>
            <p:nvPr/>
          </p:nvSpPr>
          <p:spPr bwMode="auto">
            <a:xfrm>
              <a:off x="5592929" y="2460625"/>
              <a:ext cx="951044" cy="371474"/>
            </a:xfrm>
            <a:prstGeom prst="roundRect">
              <a:avLst>
                <a:gd name="adj" fmla="val 39167"/>
              </a:avLst>
            </a:prstGeom>
            <a:solidFill>
              <a:schemeClr val="accent6">
                <a:lumMod val="75000"/>
              </a:schemeClr>
            </a:solidFill>
            <a:ln w="6350">
              <a:solidFill>
                <a:schemeClr val="tx1"/>
              </a:solidFill>
              <a:round/>
              <a:headEnd/>
              <a:tailEnd/>
            </a:ln>
            <a:effectLst/>
          </p:spPr>
          <p:txBody>
            <a:bodyPr wrap="none" anchor="ctr"/>
            <a:lstStyle/>
            <a:p>
              <a:pPr algn="ctr"/>
              <a:r>
                <a:rPr kumimoji="1" lang="en-US" altLang="zh-CN" sz="1200" b="1" dirty="0">
                  <a:latin typeface="微软雅黑" pitchFamily="34" charset="-122"/>
                  <a:ea typeface="微软雅黑" pitchFamily="34" charset="-122"/>
                </a:rPr>
                <a:t>RTP</a:t>
              </a:r>
            </a:p>
          </p:txBody>
        </p:sp>
        <p:sp>
          <p:nvSpPr>
            <p:cNvPr id="33" name="Line 50"/>
            <p:cNvSpPr>
              <a:spLocks noChangeShapeType="1"/>
            </p:cNvSpPr>
            <p:nvPr/>
          </p:nvSpPr>
          <p:spPr bwMode="auto">
            <a:xfrm>
              <a:off x="5359391" y="4695826"/>
              <a:ext cx="0" cy="373063"/>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4" name="Text Box 56"/>
            <p:cNvSpPr txBox="1">
              <a:spLocks noChangeArrowheads="1"/>
            </p:cNvSpPr>
            <p:nvPr/>
          </p:nvSpPr>
          <p:spPr bwMode="auto">
            <a:xfrm>
              <a:off x="5326543" y="1465264"/>
              <a:ext cx="1428793" cy="453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音频</a:t>
              </a:r>
              <a:r>
                <a:rPr kumimoji="1" lang="en-US" altLang="zh-CN" sz="1200" b="1" dirty="0">
                  <a:latin typeface="微软雅黑" pitchFamily="34" charset="-122"/>
                  <a:ea typeface="微软雅黑" pitchFamily="34" charset="-122"/>
                </a:rPr>
                <a:t>/</a:t>
              </a:r>
              <a:r>
                <a:rPr kumimoji="1" lang="zh-CN" altLang="en-US" sz="1200" b="1" dirty="0">
                  <a:latin typeface="微软雅黑" pitchFamily="34" charset="-122"/>
                  <a:ea typeface="微软雅黑" pitchFamily="34" charset="-122"/>
                </a:rPr>
                <a:t>视频</a:t>
              </a:r>
            </a:p>
          </p:txBody>
        </p:sp>
        <p:sp>
          <p:nvSpPr>
            <p:cNvPr id="35" name="AutoShape 57"/>
            <p:cNvSpPr>
              <a:spLocks noChangeArrowheads="1"/>
            </p:cNvSpPr>
            <p:nvPr/>
          </p:nvSpPr>
          <p:spPr bwMode="auto">
            <a:xfrm>
              <a:off x="5907591" y="1890513"/>
              <a:ext cx="294813" cy="560387"/>
            </a:xfrm>
            <a:prstGeom prst="downArrow">
              <a:avLst>
                <a:gd name="adj1" fmla="val 50000"/>
                <a:gd name="adj2" fmla="val 39932"/>
              </a:avLst>
            </a:prstGeom>
            <a:solidFill>
              <a:srgbClr val="00FF00"/>
            </a:solidFill>
            <a:ln w="63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37" name="Line 59"/>
            <p:cNvSpPr>
              <a:spLocks noChangeShapeType="1"/>
            </p:cNvSpPr>
            <p:nvPr/>
          </p:nvSpPr>
          <p:spPr bwMode="auto">
            <a:xfrm>
              <a:off x="3125380" y="2039242"/>
              <a:ext cx="0" cy="421383"/>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8" name="Rectangle 62"/>
            <p:cNvSpPr>
              <a:spLocks noChangeArrowheads="1"/>
            </p:cNvSpPr>
            <p:nvPr/>
          </p:nvSpPr>
          <p:spPr bwMode="auto">
            <a:xfrm>
              <a:off x="924047" y="5051427"/>
              <a:ext cx="8838011" cy="651214"/>
            </a:xfrm>
            <a:prstGeom prst="rect">
              <a:avLst/>
            </a:prstGeom>
            <a:solidFill>
              <a:srgbClr val="009900"/>
            </a:solidFill>
            <a:ln>
              <a:solidFill>
                <a:schemeClr val="tx1"/>
              </a:solidFill>
            </a:ln>
            <a:effectLst/>
            <a:extLst/>
          </p:spPr>
          <p:txBody>
            <a:bodyPr wrap="none" anchor="ctr"/>
            <a:lstStyle/>
            <a:p>
              <a:pPr algn="ctr"/>
              <a:r>
                <a:rPr kumimoji="1" lang="zh-CN" altLang="en-US" sz="1200" b="1">
                  <a:solidFill>
                    <a:schemeClr val="bg1"/>
                  </a:solidFill>
                  <a:latin typeface="微软雅黑" pitchFamily="34" charset="-122"/>
                  <a:ea typeface="微软雅黑" pitchFamily="34" charset="-122"/>
                </a:rPr>
                <a:t>底层网络</a:t>
              </a:r>
            </a:p>
          </p:txBody>
        </p:sp>
        <p:sp>
          <p:nvSpPr>
            <p:cNvPr id="36" name="AutoShape 58"/>
            <p:cNvSpPr>
              <a:spLocks noChangeArrowheads="1"/>
            </p:cNvSpPr>
            <p:nvPr/>
          </p:nvSpPr>
          <p:spPr bwMode="auto">
            <a:xfrm>
              <a:off x="2554411" y="1720706"/>
              <a:ext cx="1043915" cy="374650"/>
            </a:xfrm>
            <a:prstGeom prst="roundRect">
              <a:avLst>
                <a:gd name="adj" fmla="val 39167"/>
              </a:avLst>
            </a:prstGeom>
            <a:solidFill>
              <a:srgbClr val="FFFF00"/>
            </a:solidFill>
            <a:ln w="6350">
              <a:solidFill>
                <a:schemeClr val="tx1"/>
              </a:solidFill>
              <a:round/>
              <a:headEnd/>
              <a:tailEnd/>
            </a:ln>
            <a:effectLst/>
          </p:spPr>
          <p:txBody>
            <a:bodyPr wrap="none" anchor="ctr"/>
            <a:lstStyle/>
            <a:p>
              <a:pPr algn="ctr"/>
              <a:r>
                <a:rPr kumimoji="1" lang="en-US" altLang="zh-CN" sz="1200" b="1" dirty="0">
                  <a:latin typeface="微软雅黑" pitchFamily="34" charset="-122"/>
                  <a:ea typeface="微软雅黑" pitchFamily="34" charset="-122"/>
                </a:rPr>
                <a:t>SDP</a:t>
              </a:r>
            </a:p>
          </p:txBody>
        </p:sp>
      </p:grpSp>
      <p:sp>
        <p:nvSpPr>
          <p:cNvPr id="43" name="Rectangle 6"/>
          <p:cNvSpPr>
            <a:spLocks noChangeArrowheads="1"/>
          </p:cNvSpPr>
          <p:nvPr/>
        </p:nvSpPr>
        <p:spPr bwMode="auto">
          <a:xfrm>
            <a:off x="1736050" y="587571"/>
            <a:ext cx="56925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提供实时</a:t>
            </a:r>
            <a:r>
              <a:rPr lang="zh-CN" altLang="en-US" sz="2000" b="1" dirty="0">
                <a:solidFill>
                  <a:schemeClr val="bg1"/>
                </a:solidFill>
                <a:latin typeface="微软雅黑" pitchFamily="34" charset="-122"/>
                <a:ea typeface="微软雅黑" pitchFamily="34" charset="-122"/>
              </a:rPr>
              <a:t>交互式音频</a:t>
            </a:r>
            <a:r>
              <a:rPr lang="en-US" altLang="zh-CN" sz="2000" b="1" dirty="0">
                <a:solidFill>
                  <a:schemeClr val="bg1"/>
                </a:solidFill>
                <a:latin typeface="微软雅黑" pitchFamily="34" charset="-122"/>
                <a:ea typeface="微软雅黑" pitchFamily="34" charset="-122"/>
              </a:rPr>
              <a:t>/</a:t>
            </a:r>
            <a:r>
              <a:rPr lang="zh-CN" altLang="en-US" sz="2000" b="1" dirty="0">
                <a:solidFill>
                  <a:schemeClr val="bg1"/>
                </a:solidFill>
                <a:latin typeface="微软雅黑" pitchFamily="34" charset="-122"/>
                <a:ea typeface="微软雅黑" pitchFamily="34" charset="-122"/>
              </a:rPr>
              <a:t>视频服务所需的应用层协议</a:t>
            </a:r>
          </a:p>
        </p:txBody>
      </p:sp>
      <p:sp>
        <p:nvSpPr>
          <p:cNvPr id="41"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44" name="Rectangle 13"/>
          <p:cNvSpPr>
            <a:spLocks noChangeArrowheads="1"/>
          </p:cNvSpPr>
          <p:nvPr/>
        </p:nvSpPr>
        <p:spPr bwMode="auto">
          <a:xfrm>
            <a:off x="2962020" y="593125"/>
            <a:ext cx="322876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SIP</a:t>
            </a:r>
            <a:r>
              <a:rPr lang="zh-CN" altLang="en-US" sz="2400" b="1" dirty="0">
                <a:solidFill>
                  <a:schemeClr val="bg1"/>
                </a:solidFill>
                <a:latin typeface="微软雅黑" pitchFamily="34" charset="-122"/>
                <a:ea typeface="微软雅黑" pitchFamily="34" charset="-122"/>
              </a:rPr>
              <a:t>在协议栈中的位置</a:t>
            </a:r>
            <a:endParaRPr lang="en-US" altLang="zh-CN" sz="2400" b="1" dirty="0">
              <a:solidFill>
                <a:schemeClr val="bg1"/>
              </a:solidFill>
              <a:latin typeface="微软雅黑" pitchFamily="34" charset="-122"/>
              <a:ea typeface="微软雅黑" pitchFamily="34" charset="-122"/>
            </a:endParaRPr>
          </a:p>
        </p:txBody>
      </p:sp>
      <p:sp>
        <p:nvSpPr>
          <p:cNvPr id="3" name="矩形 2"/>
          <p:cNvSpPr/>
          <p:nvPr/>
        </p:nvSpPr>
        <p:spPr>
          <a:xfrm>
            <a:off x="2159000" y="1314300"/>
            <a:ext cx="5269634" cy="1090233"/>
          </a:xfrm>
          <a:prstGeom prst="rect">
            <a:avLst/>
          </a:prstGeom>
          <a:no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Text Box 48"/>
          <p:cNvSpPr txBox="1">
            <a:spLocks noChangeArrowheads="1"/>
          </p:cNvSpPr>
          <p:nvPr/>
        </p:nvSpPr>
        <p:spPr bwMode="auto">
          <a:xfrm>
            <a:off x="4008192" y="1314300"/>
            <a:ext cx="7758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smtClean="0">
                <a:latin typeface="微软雅黑" pitchFamily="34" charset="-122"/>
                <a:ea typeface="微软雅黑" pitchFamily="34" charset="-122"/>
              </a:rPr>
              <a:t>应用层</a:t>
            </a:r>
            <a:endParaRPr kumimoji="1" lang="zh-CN" altLang="en-US" sz="1200" b="1" dirty="0">
              <a:latin typeface="微软雅黑" pitchFamily="34" charset="-122"/>
              <a:ea typeface="微软雅黑" pitchFamily="34" charset="-122"/>
            </a:endParaRPr>
          </a:p>
        </p:txBody>
      </p:sp>
      <p:sp>
        <p:nvSpPr>
          <p:cNvPr id="47" name="Text Box 48"/>
          <p:cNvSpPr txBox="1">
            <a:spLocks noChangeArrowheads="1"/>
          </p:cNvSpPr>
          <p:nvPr/>
        </p:nvSpPr>
        <p:spPr bwMode="auto">
          <a:xfrm>
            <a:off x="2233610" y="1626341"/>
            <a:ext cx="8991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会话描述</a:t>
            </a:r>
          </a:p>
        </p:txBody>
      </p:sp>
      <p:sp>
        <p:nvSpPr>
          <p:cNvPr id="48" name="Text Box 48"/>
          <p:cNvSpPr txBox="1">
            <a:spLocks noChangeArrowheads="1"/>
          </p:cNvSpPr>
          <p:nvPr/>
        </p:nvSpPr>
        <p:spPr bwMode="auto">
          <a:xfrm>
            <a:off x="2233610" y="2024235"/>
            <a:ext cx="8991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smtClean="0">
                <a:latin typeface="微软雅黑" pitchFamily="34" charset="-122"/>
                <a:ea typeface="微软雅黑" pitchFamily="34" charset="-122"/>
              </a:rPr>
              <a:t>信令协议</a:t>
            </a:r>
            <a:endParaRPr kumimoji="1" lang="zh-CN" altLang="en-US" sz="1200" b="1" dirty="0">
              <a:latin typeface="微软雅黑" pitchFamily="34" charset="-122"/>
              <a:ea typeface="微软雅黑" pitchFamily="34" charset="-122"/>
            </a:endParaRPr>
          </a:p>
        </p:txBody>
      </p:sp>
    </p:spTree>
    <p:extLst>
      <p:ext uri="{BB962C8B-B14F-4D97-AF65-F5344CB8AC3E}">
        <p14:creationId xmlns:p14="http://schemas.microsoft.com/office/powerpoint/2010/main" val="36911144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29059"/>
            <a:ext cx="8129015" cy="2157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SIP </a:t>
            </a:r>
            <a:r>
              <a:rPr lang="zh-CN" altLang="en-US" sz="2000" b="1" dirty="0">
                <a:solidFill>
                  <a:srgbClr val="0000FF"/>
                </a:solidFill>
                <a:latin typeface="微软雅黑" pitchFamily="34" charset="-122"/>
                <a:ea typeface="微软雅黑" pitchFamily="34" charset="-122"/>
              </a:rPr>
              <a:t>使用文本方式的客户服务器协议。</a:t>
            </a: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两种构件：</a:t>
            </a:r>
            <a:r>
              <a:rPr lang="zh-CN" altLang="en-US" sz="2000" b="1" dirty="0" smtClean="0">
                <a:solidFill>
                  <a:srgbClr val="C00000"/>
                </a:solidFill>
                <a:latin typeface="微软雅黑" pitchFamily="34" charset="-122"/>
                <a:ea typeface="微软雅黑" pitchFamily="34" charset="-122"/>
              </a:rPr>
              <a:t>用户</a:t>
            </a:r>
            <a:r>
              <a:rPr lang="zh-CN" altLang="en-US" sz="2000" b="1" dirty="0">
                <a:solidFill>
                  <a:srgbClr val="C00000"/>
                </a:solidFill>
                <a:latin typeface="微软雅黑" pitchFamily="34" charset="-122"/>
                <a:ea typeface="微软雅黑" pitchFamily="34" charset="-122"/>
              </a:rPr>
              <a:t>代理</a:t>
            </a:r>
            <a:r>
              <a:rPr lang="zh-CN" altLang="en-US" sz="2000" b="1" dirty="0" smtClean="0">
                <a:latin typeface="微软雅黑" pitchFamily="34" charset="-122"/>
                <a:ea typeface="微软雅黑" pitchFamily="34" charset="-122"/>
              </a:rPr>
              <a:t>和</a:t>
            </a:r>
            <a:r>
              <a:rPr lang="en-US" altLang="zh-CN" sz="2000" b="1" dirty="0" smtClean="0">
                <a:solidFill>
                  <a:srgbClr val="C00000"/>
                </a:solidFill>
                <a:latin typeface="微软雅黑" pitchFamily="34" charset="-122"/>
                <a:ea typeface="微软雅黑" pitchFamily="34" charset="-122"/>
              </a:rPr>
              <a:t>SIP</a:t>
            </a:r>
            <a:r>
              <a:rPr lang="zh-CN" altLang="en-US" sz="2000" b="1" dirty="0" smtClean="0">
                <a:solidFill>
                  <a:srgbClr val="C00000"/>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用户代理</a:t>
            </a:r>
            <a:r>
              <a:rPr lang="zh-CN" altLang="en-US" sz="2000" b="1" dirty="0" smtClean="0">
                <a:latin typeface="微软雅黑" pitchFamily="34" charset="-122"/>
                <a:ea typeface="微软雅黑" pitchFamily="34" charset="-122"/>
              </a:rPr>
              <a:t>包括：</a:t>
            </a:r>
            <a:endParaRPr lang="en-US" altLang="zh-CN" sz="2000" b="1" dirty="0" smtClean="0">
              <a:latin typeface="微软雅黑" pitchFamily="34" charset="-122"/>
              <a:ea typeface="微软雅黑" pitchFamily="34" charset="-122"/>
            </a:endParaRPr>
          </a:p>
          <a:p>
            <a:pPr marL="719138" lvl="1" indent="-365125" eaLnBrk="0" hangingPunct="0">
              <a:lnSpc>
                <a:spcPts val="3300"/>
              </a:lnSpc>
              <a:buClr>
                <a:srgbClr val="660066"/>
              </a:buClr>
              <a:buFont typeface="+mj-lt"/>
              <a:buAutoNum type="arabicPeriod"/>
            </a:pPr>
            <a:r>
              <a:rPr lang="zh-CN" altLang="en-US" b="1" dirty="0" smtClean="0">
                <a:solidFill>
                  <a:srgbClr val="0000FF"/>
                </a:solidFill>
                <a:latin typeface="微软雅黑" pitchFamily="34" charset="-122"/>
                <a:ea typeface="微软雅黑" pitchFamily="34" charset="-122"/>
              </a:rPr>
              <a:t>用户</a:t>
            </a:r>
            <a:r>
              <a:rPr lang="zh-CN" altLang="en-US" b="1" dirty="0">
                <a:solidFill>
                  <a:srgbClr val="0000FF"/>
                </a:solidFill>
                <a:latin typeface="微软雅黑" pitchFamily="34" charset="-122"/>
                <a:ea typeface="微软雅黑" pitchFamily="34" charset="-122"/>
              </a:rPr>
              <a:t>代理</a:t>
            </a:r>
            <a:r>
              <a:rPr lang="zh-CN" altLang="en-US" b="1" dirty="0" smtClean="0">
                <a:solidFill>
                  <a:srgbClr val="0000FF"/>
                </a:solidFill>
                <a:latin typeface="微软雅黑" pitchFamily="34" charset="-122"/>
                <a:ea typeface="微软雅黑" pitchFamily="34" charset="-122"/>
              </a:rPr>
              <a:t>客户：</a:t>
            </a:r>
            <a:r>
              <a:rPr lang="zh-CN" altLang="en-US" b="1" dirty="0">
                <a:latin typeface="微软雅黑" pitchFamily="34" charset="-122"/>
                <a:ea typeface="微软雅黑" pitchFamily="34" charset="-122"/>
              </a:rPr>
              <a:t>用来发起</a:t>
            </a:r>
            <a:r>
              <a:rPr lang="zh-CN" altLang="en-US" b="1" dirty="0" smtClean="0">
                <a:latin typeface="微软雅黑" pitchFamily="34" charset="-122"/>
                <a:ea typeface="微软雅黑" pitchFamily="34" charset="-122"/>
              </a:rPr>
              <a:t>呼叫。</a:t>
            </a:r>
            <a:endParaRPr lang="en-US" altLang="zh-CN" b="1" dirty="0" smtClean="0">
              <a:solidFill>
                <a:srgbClr val="0000FF"/>
              </a:solidFill>
              <a:latin typeface="微软雅黑" pitchFamily="34" charset="-122"/>
              <a:ea typeface="微软雅黑" pitchFamily="34" charset="-122"/>
            </a:endParaRPr>
          </a:p>
          <a:p>
            <a:pPr marL="719138" lvl="1" indent="-365125" eaLnBrk="0" hangingPunct="0">
              <a:lnSpc>
                <a:spcPts val="3300"/>
              </a:lnSpc>
              <a:buClr>
                <a:srgbClr val="660066"/>
              </a:buClr>
              <a:buFont typeface="+mj-lt"/>
              <a:buAutoNum type="arabicPeriod"/>
            </a:pPr>
            <a:r>
              <a:rPr lang="zh-CN" altLang="en-US" b="1" dirty="0" smtClean="0">
                <a:solidFill>
                  <a:srgbClr val="0000FF"/>
                </a:solidFill>
                <a:latin typeface="微软雅黑" pitchFamily="34" charset="-122"/>
                <a:ea typeface="微软雅黑" pitchFamily="34" charset="-122"/>
              </a:rPr>
              <a:t>用户</a:t>
            </a:r>
            <a:r>
              <a:rPr lang="zh-CN" altLang="en-US" b="1" dirty="0">
                <a:solidFill>
                  <a:srgbClr val="0000FF"/>
                </a:solidFill>
                <a:latin typeface="微软雅黑" pitchFamily="34" charset="-122"/>
                <a:ea typeface="微软雅黑" pitchFamily="34" charset="-122"/>
              </a:rPr>
              <a:t>代理</a:t>
            </a:r>
            <a:r>
              <a:rPr lang="zh-CN" altLang="en-US" b="1" dirty="0" smtClean="0">
                <a:solidFill>
                  <a:srgbClr val="0000FF"/>
                </a:solidFill>
                <a:latin typeface="微软雅黑" pitchFamily="34" charset="-122"/>
                <a:ea typeface="微软雅黑" pitchFamily="34" charset="-122"/>
              </a:rPr>
              <a:t>服务器：</a:t>
            </a:r>
            <a:r>
              <a:rPr lang="zh-CN" altLang="en-US" b="1" dirty="0" smtClean="0">
                <a:latin typeface="微软雅黑" pitchFamily="34" charset="-122"/>
                <a:ea typeface="微软雅黑" pitchFamily="34" charset="-122"/>
              </a:rPr>
              <a:t>用来</a:t>
            </a:r>
            <a:r>
              <a:rPr lang="zh-CN" altLang="en-US" b="1" dirty="0">
                <a:latin typeface="微软雅黑" pitchFamily="34" charset="-122"/>
                <a:ea typeface="微软雅黑" pitchFamily="34" charset="-122"/>
              </a:rPr>
              <a:t>接受呼叫</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423685" y="593125"/>
            <a:ext cx="23054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系统的构件</a:t>
            </a:r>
          </a:p>
        </p:txBody>
      </p:sp>
    </p:spTree>
    <p:custDataLst>
      <p:tags r:id="rId1"/>
    </p:custDataLst>
    <p:extLst>
      <p:ext uri="{BB962C8B-B14F-4D97-AF65-F5344CB8AC3E}">
        <p14:creationId xmlns:p14="http://schemas.microsoft.com/office/powerpoint/2010/main" val="21543483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3" end="3"/>
                                            </p:txEl>
                                          </p:spTgt>
                                        </p:tgtEl>
                                        <p:attrNameLst>
                                          <p:attrName>style.visibility</p:attrName>
                                        </p:attrNameLst>
                                      </p:cBhvr>
                                      <p:to>
                                        <p:strVal val="visible"/>
                                      </p:to>
                                    </p:set>
                                    <p:animEffect transition="in" filter="fade">
                                      <p:cBhvr>
                                        <p:cTn id="10" dur="500"/>
                                        <p:tgtEl>
                                          <p:spTgt spid="2">
                                            <p:txEl>
                                              <p:pRg st="3" end="3"/>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4" end="4"/>
                                            </p:txEl>
                                          </p:spTgt>
                                        </p:tgtEl>
                                        <p:attrNameLst>
                                          <p:attrName>style.visibility</p:attrName>
                                        </p:attrNameLst>
                                      </p:cBhvr>
                                      <p:to>
                                        <p:strVal val="visible"/>
                                      </p:to>
                                    </p:set>
                                    <p:animEffect transition="in" filter="fade">
                                      <p:cBhvr>
                                        <p:cTn id="13"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37526"/>
            <a:ext cx="8129015"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SIP</a:t>
            </a:r>
            <a:r>
              <a:rPr lang="zh-CN" altLang="en-US" sz="2000" b="1" dirty="0" smtClean="0">
                <a:solidFill>
                  <a:srgbClr val="C00000"/>
                </a:solidFill>
                <a:latin typeface="微软雅黑" pitchFamily="34" charset="-122"/>
                <a:ea typeface="微软雅黑" pitchFamily="34" charset="-122"/>
              </a:rPr>
              <a:t>服务器</a:t>
            </a:r>
            <a:r>
              <a:rPr lang="zh-CN" altLang="en-US" sz="2000" b="1" dirty="0" smtClean="0">
                <a:latin typeface="微软雅黑" pitchFamily="34" charset="-122"/>
                <a:ea typeface="微软雅黑" pitchFamily="34" charset="-122"/>
              </a:rPr>
              <a:t>包括以下几种：</a:t>
            </a:r>
            <a:endParaRPr lang="zh-CN" altLang="en-US" sz="2000" b="1" dirty="0">
              <a:latin typeface="微软雅黑" pitchFamily="34" charset="-122"/>
              <a:ea typeface="微软雅黑" pitchFamily="34" charset="-122"/>
            </a:endParaRPr>
          </a:p>
          <a:p>
            <a:pPr marL="684000" indent="-342900" eaLnBrk="0" hangingPunct="0">
              <a:lnSpc>
                <a:spcPts val="2800"/>
              </a:lnSpc>
              <a:buClr>
                <a:srgbClr val="660066"/>
              </a:buClr>
              <a:buFont typeface="+mj-lt"/>
              <a:buAutoNum type="arabicPeriod"/>
            </a:pPr>
            <a:r>
              <a:rPr lang="zh-CN" altLang="en-US" b="1" dirty="0">
                <a:solidFill>
                  <a:srgbClr val="0000FF"/>
                </a:solidFill>
                <a:latin typeface="微软雅黑" pitchFamily="34" charset="-122"/>
                <a:ea typeface="微软雅黑" pitchFamily="34" charset="-122"/>
              </a:rPr>
              <a:t>代理</a:t>
            </a:r>
            <a:r>
              <a:rPr lang="zh-CN" altLang="en-US" b="1" dirty="0" smtClean="0">
                <a:solidFill>
                  <a:srgbClr val="0000FF"/>
                </a:solidFill>
                <a:latin typeface="微软雅黑" pitchFamily="34" charset="-122"/>
                <a:ea typeface="微软雅黑" pitchFamily="34" charset="-122"/>
              </a:rPr>
              <a:t>服务器：</a:t>
            </a:r>
            <a:r>
              <a:rPr lang="zh-CN" altLang="en-US" b="1" dirty="0">
                <a:latin typeface="微软雅黑" pitchFamily="34" charset="-122"/>
                <a:ea typeface="微软雅黑" pitchFamily="34" charset="-122"/>
              </a:rPr>
              <a:t>从位置服务器获取目的用户的位置，负责转发 </a:t>
            </a:r>
            <a:r>
              <a:rPr lang="en-US" altLang="zh-CN" b="1" dirty="0">
                <a:latin typeface="微软雅黑" pitchFamily="34" charset="-122"/>
                <a:ea typeface="微软雅黑" pitchFamily="34" charset="-122"/>
              </a:rPr>
              <a:t>SIP </a:t>
            </a:r>
            <a:r>
              <a:rPr lang="zh-CN" altLang="en-US" b="1" dirty="0">
                <a:latin typeface="微软雅黑" pitchFamily="34" charset="-122"/>
                <a:ea typeface="微软雅黑" pitchFamily="34" charset="-122"/>
              </a:rPr>
              <a:t>请求和</a:t>
            </a:r>
            <a:r>
              <a:rPr lang="zh-CN" altLang="en-US" b="1" dirty="0" smtClean="0">
                <a:latin typeface="微软雅黑" pitchFamily="34" charset="-122"/>
                <a:ea typeface="微软雅黑" pitchFamily="34" charset="-122"/>
              </a:rPr>
              <a:t>响应。</a:t>
            </a:r>
            <a:endParaRPr lang="en-US" altLang="zh-CN" b="1" dirty="0" smtClean="0">
              <a:latin typeface="微软雅黑" pitchFamily="34" charset="-122"/>
              <a:ea typeface="微软雅黑" pitchFamily="34" charset="-122"/>
            </a:endParaRPr>
          </a:p>
          <a:p>
            <a:pPr marL="684000" indent="-342900" eaLnBrk="0" hangingPunct="0">
              <a:lnSpc>
                <a:spcPts val="2800"/>
              </a:lnSpc>
              <a:buClr>
                <a:srgbClr val="660066"/>
              </a:buClr>
              <a:buFont typeface="+mj-lt"/>
              <a:buAutoNum type="arabicPeriod"/>
            </a:pPr>
            <a:r>
              <a:rPr lang="zh-CN" altLang="en-US" b="1" dirty="0">
                <a:solidFill>
                  <a:srgbClr val="0000FF"/>
                </a:solidFill>
                <a:latin typeface="微软雅黑" pitchFamily="34" charset="-122"/>
                <a:ea typeface="微软雅黑" pitchFamily="34" charset="-122"/>
              </a:rPr>
              <a:t>注册服务器：</a:t>
            </a:r>
            <a:r>
              <a:rPr lang="zh-CN" altLang="en-US" b="1" dirty="0">
                <a:latin typeface="微软雅黑" pitchFamily="34" charset="-122"/>
                <a:ea typeface="微软雅黑" pitchFamily="34" charset="-122"/>
              </a:rPr>
              <a:t>又称为</a:t>
            </a:r>
            <a:r>
              <a:rPr lang="zh-CN" altLang="en-US" b="1" dirty="0">
                <a:solidFill>
                  <a:srgbClr val="0000FF"/>
                </a:solidFill>
                <a:latin typeface="微软雅黑" pitchFamily="34" charset="-122"/>
                <a:ea typeface="微软雅黑" pitchFamily="34" charset="-122"/>
              </a:rPr>
              <a:t>登记服务器</a:t>
            </a:r>
            <a:r>
              <a:rPr lang="zh-CN" altLang="en-US" b="1" dirty="0">
                <a:latin typeface="微软雅黑" pitchFamily="34" charset="-122"/>
                <a:ea typeface="微软雅黑" pitchFamily="34" charset="-122"/>
              </a:rPr>
              <a:t>。用户的设备在网络上首次连接或在联系信息发生变化时，应将其联系</a:t>
            </a:r>
            <a:r>
              <a:rPr lang="zh-CN" altLang="en-US" b="1" dirty="0" smtClean="0">
                <a:latin typeface="微软雅黑" pitchFamily="34" charset="-122"/>
                <a:ea typeface="微软雅黑" pitchFamily="34" charset="-122"/>
              </a:rPr>
              <a:t>地址发送</a:t>
            </a:r>
            <a:r>
              <a:rPr lang="zh-CN" altLang="en-US" b="1" dirty="0">
                <a:latin typeface="微软雅黑" pitchFamily="34" charset="-122"/>
                <a:ea typeface="微软雅黑" pitchFamily="34" charset="-122"/>
              </a:rPr>
              <a:t>到注册服务器。注册服务器记录这些信息，并将其存储在位置服务器</a:t>
            </a:r>
            <a:r>
              <a:rPr lang="zh-CN" altLang="en-US" b="1" dirty="0" smtClean="0">
                <a:latin typeface="微软雅黑" pitchFamily="34" charset="-122"/>
                <a:ea typeface="微软雅黑" pitchFamily="34" charset="-122"/>
              </a:rPr>
              <a:t>中。</a:t>
            </a:r>
            <a:endParaRPr lang="en-US" altLang="zh-CN" b="1" dirty="0" smtClean="0">
              <a:latin typeface="微软雅黑" pitchFamily="34" charset="-122"/>
              <a:ea typeface="微软雅黑" pitchFamily="34" charset="-122"/>
            </a:endParaRPr>
          </a:p>
          <a:p>
            <a:pPr marL="684000" indent="-342900" eaLnBrk="0" hangingPunct="0">
              <a:lnSpc>
                <a:spcPts val="2800"/>
              </a:lnSpc>
              <a:buClr>
                <a:srgbClr val="660066"/>
              </a:buClr>
              <a:buFont typeface="+mj-lt"/>
              <a:buAutoNum type="arabicPeriod"/>
            </a:pPr>
            <a:r>
              <a:rPr lang="zh-CN" altLang="en-US" b="1" dirty="0">
                <a:solidFill>
                  <a:srgbClr val="0000FF"/>
                </a:solidFill>
                <a:latin typeface="微软雅黑" pitchFamily="34" charset="-122"/>
                <a:ea typeface="微软雅黑" pitchFamily="34" charset="-122"/>
              </a:rPr>
              <a:t>位置服务器：</a:t>
            </a:r>
            <a:r>
              <a:rPr lang="zh-CN" altLang="en-US" b="1" dirty="0">
                <a:latin typeface="微软雅黑" pitchFamily="34" charset="-122"/>
                <a:ea typeface="微软雅黑" pitchFamily="34" charset="-122"/>
              </a:rPr>
              <a:t>位置</a:t>
            </a:r>
            <a:r>
              <a:rPr lang="zh-CN" altLang="en-US" b="1" dirty="0" smtClean="0">
                <a:latin typeface="微软雅黑" pitchFamily="34" charset="-122"/>
                <a:ea typeface="微软雅黑" pitchFamily="34" charset="-122"/>
              </a:rPr>
              <a:t>服务器存储从注册服务器获取的用户当前联系</a:t>
            </a:r>
            <a:r>
              <a:rPr lang="zh-CN" altLang="en-US" b="1" dirty="0">
                <a:latin typeface="微软雅黑" pitchFamily="34" charset="-122"/>
                <a:ea typeface="微软雅黑" pitchFamily="34" charset="-122"/>
              </a:rPr>
              <a:t>地址信息，以便迅速响应呼叫</a:t>
            </a:r>
            <a:r>
              <a:rPr lang="zh-CN" altLang="en-US" b="1" dirty="0" smtClean="0">
                <a:latin typeface="微软雅黑" pitchFamily="34" charset="-122"/>
                <a:ea typeface="微软雅黑" pitchFamily="34" charset="-122"/>
              </a:rPr>
              <a:t>请求。</a:t>
            </a:r>
            <a:endParaRPr lang="zh-CN" altLang="en-US" b="1" dirty="0">
              <a:latin typeface="微软雅黑" pitchFamily="34" charset="-122"/>
              <a:ea typeface="微软雅黑" pitchFamily="34" charset="-122"/>
            </a:endParaRPr>
          </a:p>
          <a:p>
            <a:pPr marL="684000" indent="-342900" eaLnBrk="0" hangingPunct="0">
              <a:lnSpc>
                <a:spcPts val="2800"/>
              </a:lnSpc>
              <a:buClr>
                <a:srgbClr val="660066"/>
              </a:buClr>
              <a:buFont typeface="+mj-lt"/>
              <a:buAutoNum type="arabicPeriod"/>
            </a:pPr>
            <a:r>
              <a:rPr lang="zh-CN" altLang="en-US" b="1" dirty="0">
                <a:solidFill>
                  <a:srgbClr val="0000FF"/>
                </a:solidFill>
                <a:latin typeface="微软雅黑" pitchFamily="34" charset="-122"/>
                <a:ea typeface="微软雅黑" pitchFamily="34" charset="-122"/>
              </a:rPr>
              <a:t>重定向</a:t>
            </a:r>
            <a:r>
              <a:rPr lang="zh-CN" altLang="en-US" b="1" dirty="0" smtClean="0">
                <a:solidFill>
                  <a:srgbClr val="0000FF"/>
                </a:solidFill>
                <a:latin typeface="微软雅黑" pitchFamily="34" charset="-122"/>
                <a:ea typeface="微软雅黑" pitchFamily="34" charset="-122"/>
              </a:rPr>
              <a:t>服务器：</a:t>
            </a:r>
            <a:r>
              <a:rPr lang="zh-CN" altLang="en-US" b="1" dirty="0">
                <a:latin typeface="微软雅黑" pitchFamily="34" charset="-122"/>
                <a:ea typeface="微软雅黑" pitchFamily="34" charset="-122"/>
              </a:rPr>
              <a:t>负责查询位置服务器获取被叫方</a:t>
            </a:r>
            <a:r>
              <a:rPr lang="zh-CN" altLang="en-US" b="1" dirty="0" smtClean="0">
                <a:latin typeface="微软雅黑" pitchFamily="34" charset="-122"/>
                <a:ea typeface="微软雅黑" pitchFamily="34" charset="-122"/>
              </a:rPr>
              <a:t>的最新位置信息并返回</a:t>
            </a:r>
            <a:r>
              <a:rPr lang="zh-CN" altLang="en-US" b="1" dirty="0">
                <a:latin typeface="微软雅黑" pitchFamily="34" charset="-122"/>
                <a:ea typeface="微软雅黑" pitchFamily="34" charset="-122"/>
              </a:rPr>
              <a:t>给呼叫发起</a:t>
            </a:r>
            <a:r>
              <a:rPr lang="zh-CN" altLang="en-US" b="1" dirty="0" smtClean="0">
                <a:latin typeface="微软雅黑" pitchFamily="34" charset="-122"/>
                <a:ea typeface="微软雅黑" pitchFamily="34" charset="-122"/>
              </a:rPr>
              <a:t>者，以便呼叫方向新地址发起呼叫请求。</a:t>
            </a:r>
            <a:endParaRPr lang="zh-CN" altLang="en-US" b="1" dirty="0">
              <a:latin typeface="微软雅黑" pitchFamily="34" charset="-122"/>
              <a:ea typeface="微软雅黑" pitchFamily="34" charset="-122"/>
            </a:endParaRP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423685" y="593125"/>
            <a:ext cx="23054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系统的构件</a:t>
            </a:r>
          </a:p>
        </p:txBody>
      </p:sp>
    </p:spTree>
    <p:custDataLst>
      <p:tags r:id="rId1"/>
    </p:custDataLst>
    <p:extLst>
      <p:ext uri="{BB962C8B-B14F-4D97-AF65-F5344CB8AC3E}">
        <p14:creationId xmlns:p14="http://schemas.microsoft.com/office/powerpoint/2010/main" val="34816874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3" end="3"/>
                                            </p:txEl>
                                          </p:spTgt>
                                        </p:tgtEl>
                                        <p:attrNameLst>
                                          <p:attrName>style.visibility</p:attrName>
                                        </p:attrNameLst>
                                      </p:cBhvr>
                                      <p:to>
                                        <p:strVal val="visible"/>
                                      </p:to>
                                    </p:set>
                                    <p:animEffect transition="in" filter="fade">
                                      <p:cBhvr>
                                        <p:cTn id="12" dur="500"/>
                                        <p:tgtEl>
                                          <p:spTgt spid="2">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37658"/>
            <a:ext cx="8129015" cy="39010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SIP</a:t>
            </a:r>
            <a:r>
              <a:rPr lang="zh-CN" altLang="en-US" sz="2000" b="1" dirty="0" smtClean="0">
                <a:latin typeface="微软雅黑" pitchFamily="34" charset="-122"/>
                <a:ea typeface="微软雅黑" pitchFamily="34" charset="-122"/>
              </a:rPr>
              <a:t>采用</a:t>
            </a:r>
            <a:r>
              <a:rPr lang="zh-CN" altLang="en-US" sz="2000" b="1" dirty="0" smtClean="0">
                <a:solidFill>
                  <a:srgbClr val="C00000"/>
                </a:solidFill>
                <a:latin typeface="微软雅黑" pitchFamily="34" charset="-122"/>
                <a:ea typeface="微软雅黑" pitchFamily="34" charset="-122"/>
              </a:rPr>
              <a:t>统一资源标识符</a:t>
            </a:r>
            <a:r>
              <a:rPr lang="en-US" altLang="zh-CN" sz="2000" b="1" dirty="0" smtClean="0">
                <a:solidFill>
                  <a:srgbClr val="C00000"/>
                </a:solidFill>
                <a:latin typeface="微软雅黑" pitchFamily="34" charset="-122"/>
                <a:ea typeface="微软雅黑" pitchFamily="34" charset="-122"/>
              </a:rPr>
              <a:t>URI (Uniform Resource Identifier) </a:t>
            </a:r>
            <a:r>
              <a:rPr lang="zh-CN" altLang="en-US" sz="2000" b="1" dirty="0" smtClean="0">
                <a:latin typeface="微软雅黑" pitchFamily="34" charset="-122"/>
                <a:ea typeface="微软雅黑" pitchFamily="34" charset="-122"/>
              </a:rPr>
              <a:t>作为用户的唯一身份标识</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用于发起</a:t>
            </a:r>
            <a:r>
              <a:rPr lang="en-US" altLang="zh-CN" sz="2000" b="1" dirty="0" smtClean="0">
                <a:latin typeface="微软雅黑" pitchFamily="34" charset="-122"/>
                <a:ea typeface="微软雅黑" pitchFamily="34" charset="-122"/>
              </a:rPr>
              <a:t>SIP </a:t>
            </a:r>
            <a:r>
              <a:rPr lang="zh-CN" altLang="en-US" sz="2000" b="1" dirty="0" smtClean="0">
                <a:latin typeface="微软雅黑" pitchFamily="34" charset="-122"/>
                <a:ea typeface="微软雅黑" pitchFamily="34" charset="-122"/>
              </a:rPr>
              <a:t>呼叫和寻址，以及提供用户位置信息。</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格式：</a:t>
            </a:r>
            <a:r>
              <a:rPr lang="en-US" altLang="zh-CN" sz="2000" b="1" dirty="0">
                <a:solidFill>
                  <a:srgbClr val="C00000"/>
                </a:solidFill>
                <a:latin typeface="微软雅黑" pitchFamily="34" charset="-122"/>
                <a:ea typeface="微软雅黑" pitchFamily="34" charset="-122"/>
              </a:rPr>
              <a:t>sip:</a:t>
            </a:r>
            <a:r>
              <a:rPr lang="zh-CN" altLang="en-US" sz="2000" b="1" dirty="0">
                <a:solidFill>
                  <a:srgbClr val="C00000"/>
                </a:solidFill>
                <a:latin typeface="微软雅黑" pitchFamily="34" charset="-122"/>
                <a:ea typeface="微软雅黑" pitchFamily="34" charset="-122"/>
              </a:rPr>
              <a:t>用 户 名</a:t>
            </a:r>
            <a:r>
              <a:rPr lang="en-US" altLang="zh-CN" sz="2000" b="1" dirty="0">
                <a:solidFill>
                  <a:srgbClr val="C00000"/>
                </a:solidFill>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主 机 域 名</a:t>
            </a: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十分灵活。用户</a:t>
            </a:r>
            <a:r>
              <a:rPr lang="zh-CN" altLang="en-US" sz="2000" b="1" dirty="0">
                <a:latin typeface="微软雅黑" pitchFamily="34" charset="-122"/>
                <a:ea typeface="微软雅黑" pitchFamily="34" charset="-122"/>
              </a:rPr>
              <a:t>的实际联系地址可能经常改变，但</a:t>
            </a:r>
            <a:r>
              <a:rPr lang="en-US" altLang="zh-CN" sz="2000" b="1" dirty="0">
                <a:solidFill>
                  <a:srgbClr val="C00000"/>
                </a:solidFill>
                <a:latin typeface="微软雅黑" pitchFamily="34" charset="-122"/>
                <a:ea typeface="微软雅黑" pitchFamily="34" charset="-122"/>
              </a:rPr>
              <a:t>SIP URI </a:t>
            </a:r>
            <a:r>
              <a:rPr lang="zh-CN" altLang="en-US" sz="2000" b="1" dirty="0">
                <a:solidFill>
                  <a:srgbClr val="C00000"/>
                </a:solidFill>
                <a:latin typeface="微软雅黑" pitchFamily="34" charset="-122"/>
                <a:ea typeface="微软雅黑" pitchFamily="34" charset="-122"/>
              </a:rPr>
              <a:t>则是用户在 </a:t>
            </a:r>
            <a:r>
              <a:rPr lang="en-US" altLang="zh-CN" sz="2000" b="1" dirty="0">
                <a:solidFill>
                  <a:srgbClr val="C00000"/>
                </a:solidFill>
                <a:latin typeface="微软雅黑" pitchFamily="34" charset="-122"/>
                <a:ea typeface="微软雅黑" pitchFamily="34" charset="-122"/>
              </a:rPr>
              <a:t>SIP </a:t>
            </a:r>
            <a:r>
              <a:rPr lang="zh-CN" altLang="en-US" sz="2000" b="1" dirty="0">
                <a:solidFill>
                  <a:srgbClr val="C00000"/>
                </a:solidFill>
                <a:latin typeface="微软雅黑" pitchFamily="34" charset="-122"/>
                <a:ea typeface="微软雅黑" pitchFamily="34" charset="-122"/>
              </a:rPr>
              <a:t>网络中的永久标识符</a:t>
            </a:r>
            <a:r>
              <a:rPr lang="zh-CN" altLang="en-US" sz="2000" b="1" dirty="0">
                <a:latin typeface="微软雅黑" pitchFamily="34" charset="-122"/>
                <a:ea typeface="微软雅黑" pitchFamily="34" charset="-122"/>
              </a:rPr>
              <a:t>，例如</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eaLnBrk="0" hangingPunct="0">
              <a:lnSpc>
                <a:spcPts val="3300"/>
              </a:lnSpc>
              <a:buClr>
                <a:srgbClr val="0070C0"/>
              </a:buClr>
            </a:pPr>
            <a:r>
              <a:rPr lang="zh-CN" altLang="en-US"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sip:zhangsan@163.com</a:t>
            </a:r>
          </a:p>
          <a:p>
            <a:pPr eaLnBrk="0" hangingPunct="0">
              <a:lnSpc>
                <a:spcPts val="3300"/>
              </a:lnSpc>
              <a:buClr>
                <a:srgbClr val="0070C0"/>
              </a:buClr>
            </a:pPr>
            <a:r>
              <a:rPr lang="en-US" altLang="zh-CN"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sip:zhangsan@201.12.34.56</a:t>
            </a:r>
            <a:endParaRPr lang="en-US" altLang="zh-CN" sz="2000" b="1" dirty="0">
              <a:latin typeface="微软雅黑" pitchFamily="34" charset="-122"/>
              <a:ea typeface="微软雅黑" pitchFamily="34" charset="-122"/>
            </a:endParaRPr>
          </a:p>
          <a:p>
            <a:pPr eaLnBrk="0" hangingPunct="0">
              <a:lnSpc>
                <a:spcPts val="3300"/>
              </a:lnSpc>
              <a:buClr>
                <a:srgbClr val="0070C0"/>
              </a:buClr>
            </a:pPr>
            <a:r>
              <a:rPr lang="en-US" altLang="zh-CN"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sip</a:t>
            </a:r>
            <a:r>
              <a:rPr lang="en-US" altLang="zh-CN" sz="2000" b="1" dirty="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8625-87654321@163.com</a:t>
            </a:r>
            <a:endParaRPr lang="en-US" altLang="zh-CN" sz="2000" b="1" dirty="0">
              <a:latin typeface="微软雅黑" pitchFamily="34" charset="-122"/>
              <a:ea typeface="微软雅黑" pitchFamily="34" charset="-122"/>
            </a:endParaRP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731461" y="593125"/>
            <a:ext cx="16898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的地址</a:t>
            </a:r>
          </a:p>
        </p:txBody>
      </p:sp>
    </p:spTree>
    <p:custDataLst>
      <p:tags r:id="rId1"/>
    </p:custDataLst>
    <p:extLst>
      <p:ext uri="{BB962C8B-B14F-4D97-AF65-F5344CB8AC3E}">
        <p14:creationId xmlns:p14="http://schemas.microsoft.com/office/powerpoint/2010/main" val="27058088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xEl>
                                              <p:pRg st="3" end="3"/>
                                            </p:txEl>
                                          </p:spTgt>
                                        </p:tgtEl>
                                        <p:attrNameLst>
                                          <p:attrName>style.visibility</p:attrName>
                                        </p:attrNameLst>
                                      </p:cBhvr>
                                      <p:to>
                                        <p:strVal val="visible"/>
                                      </p:to>
                                    </p:set>
                                    <p:animEffect transition="in" filter="fade">
                                      <p:cBhvr>
                                        <p:cTn id="11" dur="500"/>
                                        <p:tgtEl>
                                          <p:spTgt spid="2">
                                            <p:txEl>
                                              <p:pRg st="3" end="3"/>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animEffect transition="in" filter="fade">
                                      <p:cBhvr>
                                        <p:cTn id="15" dur="500"/>
                                        <p:tgtEl>
                                          <p:spTgt spid="2">
                                            <p:txEl>
                                              <p:pRg st="4" end="4"/>
                                            </p:txEl>
                                          </p:spTgt>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xEl>
                                              <p:pRg st="5" end="5"/>
                                            </p:txEl>
                                          </p:spTgt>
                                        </p:tgtEl>
                                        <p:attrNameLst>
                                          <p:attrName>style.visibility</p:attrName>
                                        </p:attrNameLst>
                                      </p:cBhvr>
                                      <p:to>
                                        <p:strVal val="visible"/>
                                      </p:to>
                                    </p:set>
                                    <p:animEffect transition="in" filter="fade">
                                      <p:cBhvr>
                                        <p:cTn id="19"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44298"/>
            <a:ext cx="8301903" cy="2285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500"/>
              </a:lnSpc>
              <a:buClr>
                <a:srgbClr val="0070C0"/>
              </a:buClr>
              <a:buFont typeface="Wingdings" pitchFamily="2" charset="2"/>
              <a:buChar char="l"/>
            </a:pPr>
            <a:r>
              <a:rPr lang="zh-CN" altLang="en-US" sz="2000" b="1" dirty="0" smtClean="0">
                <a:latin typeface="微软雅黑" pitchFamily="34" charset="-122"/>
                <a:ea typeface="微软雅黑" pitchFamily="34" charset="-122"/>
              </a:rPr>
              <a:t>和 </a:t>
            </a:r>
            <a:r>
              <a:rPr lang="en-US" altLang="zh-CN" sz="2000" b="1" dirty="0" smtClean="0">
                <a:latin typeface="微软雅黑" pitchFamily="34" charset="-122"/>
                <a:ea typeface="微软雅黑" pitchFamily="34" charset="-122"/>
              </a:rPr>
              <a:t>HTTP/1.1 </a:t>
            </a:r>
            <a:r>
              <a:rPr lang="zh-CN" altLang="en-US" sz="2000" b="1" dirty="0" smtClean="0">
                <a:latin typeface="微软雅黑" pitchFamily="34" charset="-122"/>
                <a:ea typeface="微软雅黑" pitchFamily="34" charset="-122"/>
              </a:rPr>
              <a:t>相似</a:t>
            </a:r>
            <a:r>
              <a:rPr lang="zh-CN" altLang="en-US" sz="2000" b="1" dirty="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SIP </a:t>
            </a:r>
            <a:r>
              <a:rPr lang="zh-CN" altLang="en-US" sz="2000" b="1" dirty="0" smtClean="0">
                <a:latin typeface="微软雅黑" pitchFamily="34" charset="-122"/>
                <a:ea typeface="微软雅黑" pitchFamily="34" charset="-122"/>
              </a:rPr>
              <a:t>协议</a:t>
            </a:r>
            <a:r>
              <a:rPr lang="zh-CN" altLang="en-US" sz="2000" b="1" dirty="0">
                <a:latin typeface="微软雅黑" pitchFamily="34" charset="-122"/>
                <a:ea typeface="微软雅黑" pitchFamily="34" charset="-122"/>
              </a:rPr>
              <a:t>以报文</a:t>
            </a:r>
            <a:r>
              <a:rPr lang="en-US" altLang="zh-CN" sz="2000" b="1" dirty="0">
                <a:latin typeface="微软雅黑" pitchFamily="34" charset="-122"/>
                <a:ea typeface="微软雅黑" pitchFamily="34" charset="-122"/>
              </a:rPr>
              <a:t>(message)</a:t>
            </a:r>
            <a:r>
              <a:rPr lang="zh-CN" altLang="en-US" sz="2000" b="1" dirty="0">
                <a:latin typeface="微软雅黑" pitchFamily="34" charset="-122"/>
                <a:ea typeface="微软雅黑" pitchFamily="34" charset="-122"/>
              </a:rPr>
              <a:t>形式</a:t>
            </a:r>
            <a:r>
              <a:rPr lang="zh-CN" altLang="en-US" sz="2000" b="1" dirty="0" smtClean="0">
                <a:latin typeface="微软雅黑" pitchFamily="34" charset="-122"/>
                <a:ea typeface="微软雅黑" pitchFamily="34" charset="-122"/>
              </a:rPr>
              <a:t>传输。</a:t>
            </a:r>
            <a:endParaRPr lang="zh-CN" altLang="en-US" sz="2000" b="1" dirty="0">
              <a:latin typeface="微软雅黑" pitchFamily="34" charset="-122"/>
              <a:ea typeface="微软雅黑" pitchFamily="34" charset="-122"/>
            </a:endParaRPr>
          </a:p>
          <a:p>
            <a:pPr marL="342900" indent="-342900" eaLnBrk="0" hangingPunct="0">
              <a:lnSpc>
                <a:spcPts val="3500"/>
              </a:lnSpc>
              <a:buClr>
                <a:srgbClr val="0070C0"/>
              </a:buClr>
              <a:buFont typeface="Wingdings" pitchFamily="2" charset="2"/>
              <a:buChar char="l"/>
            </a:pPr>
            <a:r>
              <a:rPr lang="en-US" altLang="zh-CN" sz="2000" b="1" dirty="0" smtClean="0">
                <a:latin typeface="微软雅黑" pitchFamily="34" charset="-122"/>
                <a:ea typeface="微软雅黑" pitchFamily="34" charset="-122"/>
              </a:rPr>
              <a:t>SIP </a:t>
            </a:r>
            <a:r>
              <a:rPr lang="zh-CN" altLang="en-US" sz="2000" b="1" dirty="0" smtClean="0">
                <a:latin typeface="微软雅黑" pitchFamily="34" charset="-122"/>
                <a:ea typeface="微软雅黑" pitchFamily="34" charset="-122"/>
              </a:rPr>
              <a:t>采用类似于 </a:t>
            </a:r>
            <a:r>
              <a:rPr lang="en-US" altLang="zh-CN" sz="2000" b="1" dirty="0" smtClean="0">
                <a:latin typeface="微软雅黑" pitchFamily="34" charset="-122"/>
                <a:ea typeface="微软雅黑" pitchFamily="34" charset="-122"/>
              </a:rPr>
              <a:t>HTTP/1.1 </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表示方法，采用请求</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响应模式</a:t>
            </a:r>
            <a:r>
              <a:rPr lang="zh-CN" altLang="en-US" sz="2000" b="1" dirty="0" smtClean="0">
                <a:latin typeface="微软雅黑" pitchFamily="34" charset="-122"/>
                <a:ea typeface="微软雅黑" pitchFamily="34" charset="-122"/>
              </a:rPr>
              <a:t>，报文</a:t>
            </a:r>
            <a:r>
              <a:rPr lang="zh-CN" altLang="en-US" sz="2000" b="1" dirty="0">
                <a:latin typeface="微软雅黑" pitchFamily="34" charset="-122"/>
                <a:ea typeface="微软雅黑" pitchFamily="34" charset="-122"/>
              </a:rPr>
              <a:t>格式也是由起始行（请求行或响应行）、首部字段和报文主体组成</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500"/>
              </a:lnSpc>
              <a:buClr>
                <a:srgbClr val="0070C0"/>
              </a:buClr>
              <a:buFont typeface="Wingdings" pitchFamily="2" charset="2"/>
              <a:buChar char="l"/>
            </a:pPr>
            <a:r>
              <a:rPr lang="en-US" altLang="zh-CN" sz="2000" b="1" dirty="0" smtClean="0">
                <a:latin typeface="微软雅黑" pitchFamily="34" charset="-122"/>
                <a:ea typeface="微软雅黑" pitchFamily="34" charset="-122"/>
              </a:rPr>
              <a:t>SIP</a:t>
            </a:r>
            <a:r>
              <a:rPr lang="zh-CN" altLang="en-US" sz="2000" b="1" dirty="0">
                <a:latin typeface="微软雅黑" pitchFamily="34" charset="-122"/>
                <a:ea typeface="微软雅黑" pitchFamily="34" charset="-122"/>
              </a:rPr>
              <a:t>共定义了</a:t>
            </a:r>
            <a:r>
              <a:rPr lang="en-US" altLang="zh-CN" sz="2000" b="1" dirty="0">
                <a:latin typeface="微软雅黑" pitchFamily="34" charset="-122"/>
                <a:ea typeface="微软雅黑" pitchFamily="34" charset="-122"/>
              </a:rPr>
              <a:t>12</a:t>
            </a:r>
            <a:r>
              <a:rPr lang="zh-CN" altLang="en-US" sz="2000" b="1" dirty="0">
                <a:latin typeface="微软雅黑" pitchFamily="34" charset="-122"/>
                <a:ea typeface="微软雅黑" pitchFamily="34" charset="-122"/>
              </a:rPr>
              <a:t>种方法</a:t>
            </a:r>
            <a:r>
              <a:rPr lang="en-US" altLang="zh-CN" sz="2000" b="1" dirty="0">
                <a:latin typeface="微软雅黑" pitchFamily="34" charset="-122"/>
                <a:ea typeface="微软雅黑" pitchFamily="34" charset="-122"/>
              </a:rPr>
              <a:t>(method</a:t>
            </a:r>
            <a:r>
              <a:rPr lang="en-US" altLang="zh-CN"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会话建立、维护和终止等方面起着关键的作用。</a:t>
            </a: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885349" y="593125"/>
            <a:ext cx="13821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特点</a:t>
            </a:r>
          </a:p>
        </p:txBody>
      </p:sp>
    </p:spTree>
    <p:custDataLst>
      <p:tags r:id="rId1"/>
    </p:custDataLst>
    <p:extLst>
      <p:ext uri="{BB962C8B-B14F-4D97-AF65-F5344CB8AC3E}">
        <p14:creationId xmlns:p14="http://schemas.microsoft.com/office/powerpoint/2010/main" val="3920831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nvPr>
        </p:nvGraphicFramePr>
        <p:xfrm>
          <a:off x="724579" y="1242274"/>
          <a:ext cx="7916332" cy="3276000"/>
        </p:xfrm>
        <a:graphic>
          <a:graphicData uri="http://schemas.openxmlformats.org/drawingml/2006/table">
            <a:tbl>
              <a:tblPr firstRow="1" firstCol="1" bandRow="1">
                <a:tableStyleId>{5C22544A-7EE6-4342-B048-85BDC9FD1C3A}</a:tableStyleId>
              </a:tblPr>
              <a:tblGrid>
                <a:gridCol w="1228337">
                  <a:extLst>
                    <a:ext uri="{9D8B030D-6E8A-4147-A177-3AD203B41FA5}">
                      <a16:colId xmlns:a16="http://schemas.microsoft.com/office/drawing/2014/main" val="2541852722"/>
                    </a:ext>
                  </a:extLst>
                </a:gridCol>
                <a:gridCol w="6687995">
                  <a:extLst>
                    <a:ext uri="{9D8B030D-6E8A-4147-A177-3AD203B41FA5}">
                      <a16:colId xmlns:a16="http://schemas.microsoft.com/office/drawing/2014/main" val="2865244318"/>
                    </a:ext>
                  </a:extLst>
                </a:gridCol>
              </a:tblGrid>
              <a:tr h="468000">
                <a:tc>
                  <a:txBody>
                    <a:bodyPr/>
                    <a:lstStyle/>
                    <a:p>
                      <a:pPr indent="0" algn="ctr"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方法</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ctr"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描述</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3297515163"/>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INVITE</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邀请用户参加一个会话或电话会议，相当于呼叫请求。</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1312122896"/>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ACK</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确认接收到</a:t>
                      </a:r>
                      <a:r>
                        <a:rPr lang="en-US" sz="1600" b="1" kern="0" dirty="0">
                          <a:effectLst/>
                          <a:latin typeface="微软雅黑" panose="020B0503020204020204" pitchFamily="34" charset="-122"/>
                          <a:ea typeface="微软雅黑" panose="020B0503020204020204" pitchFamily="34" charset="-122"/>
                        </a:rPr>
                        <a:t>INVITE</a:t>
                      </a:r>
                      <a:r>
                        <a:rPr lang="zh-CN" sz="1600" b="1" kern="0" dirty="0">
                          <a:effectLst/>
                          <a:latin typeface="微软雅黑" panose="020B0503020204020204" pitchFamily="34" charset="-122"/>
                          <a:ea typeface="微软雅黑" panose="020B0503020204020204" pitchFamily="34" charset="-122"/>
                        </a:rPr>
                        <a:t>请求的响应，这标志着会话的建立过程已经完成。</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4057876690"/>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BYE</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请求结束一个已经建立的会话，由任一参与者发送该请求，相当于挂机。</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2605760336"/>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OPTIONS</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用于查询对方支持哪些</a:t>
                      </a:r>
                      <a:r>
                        <a:rPr lang="en-US" sz="1600" b="1" kern="0" dirty="0">
                          <a:effectLst/>
                          <a:latin typeface="微软雅黑" panose="020B0503020204020204" pitchFamily="34" charset="-122"/>
                          <a:ea typeface="微软雅黑" panose="020B0503020204020204" pitchFamily="34" charset="-122"/>
                        </a:rPr>
                        <a:t>SIP</a:t>
                      </a:r>
                      <a:r>
                        <a:rPr lang="zh-CN" sz="1600" b="1" kern="0" dirty="0">
                          <a:effectLst/>
                          <a:latin typeface="微软雅黑" panose="020B0503020204020204" pitchFamily="34" charset="-122"/>
                          <a:ea typeface="微软雅黑" panose="020B0503020204020204" pitchFamily="34" charset="-122"/>
                        </a:rPr>
                        <a:t>方法及其能力。</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1129521882"/>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CANCEL</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取消一个未完成的请求，这通常是由发送</a:t>
                      </a:r>
                      <a:r>
                        <a:rPr lang="en-US" sz="1600" b="1" kern="0" dirty="0">
                          <a:effectLst/>
                          <a:latin typeface="微软雅黑" panose="020B0503020204020204" pitchFamily="34" charset="-122"/>
                          <a:ea typeface="微软雅黑" panose="020B0503020204020204" pitchFamily="34" charset="-122"/>
                        </a:rPr>
                        <a:t>INVITE</a:t>
                      </a:r>
                      <a:r>
                        <a:rPr lang="zh-CN" sz="1600" b="1" kern="0" dirty="0">
                          <a:effectLst/>
                          <a:latin typeface="微软雅黑" panose="020B0503020204020204" pitchFamily="34" charset="-122"/>
                          <a:ea typeface="微软雅黑" panose="020B0503020204020204" pitchFamily="34" charset="-122"/>
                        </a:rPr>
                        <a:t>方发出的。</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3261406133"/>
                  </a:ext>
                </a:extLst>
              </a:tr>
              <a:tr h="468000">
                <a:tc>
                  <a:txBody>
                    <a:bodyPr/>
                    <a:lstStyle/>
                    <a:p>
                      <a:pPr indent="0" algn="ctr" fontAlgn="base">
                        <a:lnSpc>
                          <a:spcPct val="150000"/>
                        </a:lnSpc>
                        <a:spcAft>
                          <a:spcPts val="0"/>
                        </a:spcAft>
                      </a:pPr>
                      <a:r>
                        <a:rPr lang="en-US" sz="1600" b="1" kern="0" dirty="0">
                          <a:effectLst/>
                          <a:latin typeface="微软雅黑" panose="020B0503020204020204" pitchFamily="34" charset="-122"/>
                          <a:ea typeface="微软雅黑" panose="020B0503020204020204" pitchFamily="34" charset="-122"/>
                        </a:rPr>
                        <a:t>REGISTER</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tc>
                  <a:txBody>
                    <a:bodyPr/>
                    <a:lstStyle/>
                    <a:p>
                      <a:pPr indent="0" algn="just" fontAlgn="base">
                        <a:lnSpc>
                          <a:spcPct val="150000"/>
                        </a:lnSpc>
                        <a:spcAft>
                          <a:spcPts val="0"/>
                        </a:spcAft>
                      </a:pPr>
                      <a:r>
                        <a:rPr lang="zh-CN" sz="1600" b="1" kern="0" dirty="0">
                          <a:effectLst/>
                          <a:latin typeface="微软雅黑" panose="020B0503020204020204" pitchFamily="34" charset="-122"/>
                          <a:ea typeface="微软雅黑" panose="020B0503020204020204" pitchFamily="34" charset="-122"/>
                        </a:rPr>
                        <a:t>向注册服务器进行注册、更新或删除用户的</a:t>
                      </a:r>
                      <a:r>
                        <a:rPr lang="en-US" sz="1600" b="1" kern="0" dirty="0">
                          <a:effectLst/>
                          <a:latin typeface="微软雅黑" panose="020B0503020204020204" pitchFamily="34" charset="-122"/>
                          <a:ea typeface="微软雅黑" panose="020B0503020204020204" pitchFamily="34" charset="-122"/>
                        </a:rPr>
                        <a:t>IP</a:t>
                      </a:r>
                      <a:r>
                        <a:rPr lang="zh-CN" sz="1600" b="1" kern="0" dirty="0">
                          <a:effectLst/>
                          <a:latin typeface="微软雅黑" panose="020B0503020204020204" pitchFamily="34" charset="-122"/>
                          <a:ea typeface="微软雅黑" panose="020B0503020204020204" pitchFamily="34" charset="-122"/>
                        </a:rPr>
                        <a:t>地址和联系方式。</a:t>
                      </a:r>
                      <a:endParaRPr lang="zh-CN" sz="1600" b="1" kern="100" dirty="0">
                        <a:effectLst/>
                        <a:latin typeface="微软雅黑" panose="020B0503020204020204" pitchFamily="34" charset="-122"/>
                        <a:ea typeface="微软雅黑" panose="020B0503020204020204" pitchFamily="34" charset="-122"/>
                      </a:endParaRPr>
                    </a:p>
                  </a:txBody>
                  <a:tcPr marL="68580" marR="68580" marT="0" marB="0"/>
                </a:tc>
                <a:extLst>
                  <a:ext uri="{0D108BD9-81ED-4DB2-BD59-A6C34878D82A}">
                    <a16:rowId xmlns:a16="http://schemas.microsoft.com/office/drawing/2014/main" val="2480610325"/>
                  </a:ext>
                </a:extLst>
              </a:tr>
            </a:tbl>
          </a:graphicData>
        </a:graphic>
      </p:graphicFrame>
      <p:sp>
        <p:nvSpPr>
          <p:cNvPr id="6"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7" name="Rectangle 13"/>
          <p:cNvSpPr>
            <a:spLocks noChangeArrowheads="1"/>
          </p:cNvSpPr>
          <p:nvPr/>
        </p:nvSpPr>
        <p:spPr bwMode="auto">
          <a:xfrm>
            <a:off x="2405777" y="593125"/>
            <a:ext cx="43412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协议最重要的</a:t>
            </a:r>
            <a:r>
              <a:rPr lang="en-US" altLang="zh-CN" sz="2400" b="1" dirty="0">
                <a:solidFill>
                  <a:schemeClr val="bg1"/>
                </a:solidFill>
                <a:latin typeface="微软雅黑" pitchFamily="34" charset="-122"/>
                <a:ea typeface="微软雅黑" pitchFamily="34" charset="-122"/>
              </a:rPr>
              <a:t>6</a:t>
            </a:r>
            <a:r>
              <a:rPr lang="zh-CN" altLang="en-US" sz="2400" b="1" dirty="0">
                <a:solidFill>
                  <a:schemeClr val="bg1"/>
                </a:solidFill>
                <a:latin typeface="微软雅黑" pitchFamily="34" charset="-122"/>
                <a:ea typeface="微软雅黑" pitchFamily="34" charset="-122"/>
              </a:rPr>
              <a:t>种核心方法</a:t>
            </a:r>
          </a:p>
        </p:txBody>
      </p:sp>
    </p:spTree>
    <p:extLst>
      <p:ext uri="{BB962C8B-B14F-4D97-AF65-F5344CB8AC3E}">
        <p14:creationId xmlns:p14="http://schemas.microsoft.com/office/powerpoint/2010/main" val="38070323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1044298"/>
            <a:ext cx="8301903" cy="33308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500"/>
              </a:lnSpc>
              <a:buClr>
                <a:srgbClr val="0070C0"/>
              </a:buClr>
              <a:buFont typeface="Wingdings" pitchFamily="2" charset="2"/>
              <a:buChar char="l"/>
            </a:pP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的响应报文中的状态码和</a:t>
            </a:r>
            <a:r>
              <a:rPr lang="en-US" altLang="zh-CN" sz="2000" b="1" dirty="0">
                <a:latin typeface="微软雅黑" pitchFamily="34" charset="-122"/>
                <a:ea typeface="微软雅黑" pitchFamily="34" charset="-122"/>
              </a:rPr>
              <a:t>HTTP</a:t>
            </a:r>
            <a:r>
              <a:rPr lang="zh-CN" altLang="en-US" sz="2000" b="1" dirty="0">
                <a:latin typeface="微软雅黑" pitchFamily="34" charset="-122"/>
                <a:ea typeface="微软雅黑" pitchFamily="34" charset="-122"/>
              </a:rPr>
              <a:t>的状态码相似，但</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的状态码共分为</a:t>
            </a:r>
            <a:r>
              <a:rPr lang="en-US" altLang="zh-CN" sz="2000" b="1" dirty="0">
                <a:latin typeface="微软雅黑" pitchFamily="34" charset="-122"/>
                <a:ea typeface="微软雅黑" pitchFamily="34" charset="-122"/>
              </a:rPr>
              <a:t>6</a:t>
            </a:r>
            <a:r>
              <a:rPr lang="zh-CN" altLang="en-US" sz="2000" b="1" dirty="0" smtClean="0">
                <a:latin typeface="微软雅黑" pitchFamily="34" charset="-122"/>
                <a:ea typeface="微软雅黑" pitchFamily="34" charset="-122"/>
              </a:rPr>
              <a:t>类：</a:t>
            </a:r>
            <a:endParaRPr lang="zh-CN" altLang="en-US" sz="2000" b="1" dirty="0">
              <a:latin typeface="微软雅黑" pitchFamily="34" charset="-122"/>
              <a:ea typeface="微软雅黑" pitchFamily="34" charset="-122"/>
            </a:endParaRP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1xx  </a:t>
            </a:r>
            <a:r>
              <a:rPr lang="zh-CN" altLang="en-US" b="1" dirty="0">
                <a:latin typeface="微软雅黑" pitchFamily="34" charset="-122"/>
                <a:ea typeface="微软雅黑" pitchFamily="34" charset="-122"/>
              </a:rPr>
              <a:t>临时性响应，表示呼叫建立过程中的临时状态。</a:t>
            </a: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2xx  </a:t>
            </a:r>
            <a:r>
              <a:rPr lang="zh-CN" altLang="en-US" b="1" dirty="0">
                <a:latin typeface="微软雅黑" pitchFamily="34" charset="-122"/>
                <a:ea typeface="微软雅黑" pitchFamily="34" charset="-122"/>
              </a:rPr>
              <a:t>成功响应，表示呼叫或其他操作成功。</a:t>
            </a: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3xx  </a:t>
            </a:r>
            <a:r>
              <a:rPr lang="zh-CN" altLang="en-US" b="1" dirty="0">
                <a:latin typeface="微软雅黑" pitchFamily="34" charset="-122"/>
                <a:ea typeface="微软雅黑" pitchFamily="34" charset="-122"/>
              </a:rPr>
              <a:t>重定向响应，表示呼叫需要重定向到其他地址。</a:t>
            </a: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4xx  </a:t>
            </a:r>
            <a:r>
              <a:rPr lang="zh-CN" altLang="en-US" b="1" dirty="0">
                <a:latin typeface="微软雅黑" pitchFamily="34" charset="-122"/>
                <a:ea typeface="微软雅黑" pitchFamily="34" charset="-122"/>
              </a:rPr>
              <a:t>客户端错误，表示客户端请求错误或无法处理。</a:t>
            </a: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5xx  </a:t>
            </a:r>
            <a:r>
              <a:rPr lang="zh-CN" altLang="en-US" b="1" dirty="0">
                <a:latin typeface="微软雅黑" pitchFamily="34" charset="-122"/>
                <a:ea typeface="微软雅黑" pitchFamily="34" charset="-122"/>
              </a:rPr>
              <a:t>服务器错误，表示服务器内部错误或无法处理请求。</a:t>
            </a:r>
          </a:p>
          <a:p>
            <a:pPr marL="800100" lvl="1" indent="-342900" eaLnBrk="0" hangingPunct="0">
              <a:lnSpc>
                <a:spcPts val="3100"/>
              </a:lnSpc>
              <a:buClr>
                <a:srgbClr val="0070C0"/>
              </a:buClr>
              <a:buFont typeface="Wingdings" pitchFamily="2" charset="2"/>
              <a:buChar char="l"/>
            </a:pPr>
            <a:r>
              <a:rPr lang="en-US" altLang="zh-CN" b="1" dirty="0" smtClean="0">
                <a:latin typeface="微软雅黑" pitchFamily="34" charset="-122"/>
                <a:ea typeface="微软雅黑" pitchFamily="34" charset="-122"/>
              </a:rPr>
              <a:t>6xx  </a:t>
            </a:r>
            <a:r>
              <a:rPr lang="zh-CN" altLang="en-US" b="1" dirty="0">
                <a:latin typeface="微软雅黑" pitchFamily="34" charset="-122"/>
                <a:ea typeface="微软雅黑" pitchFamily="34" charset="-122"/>
              </a:rPr>
              <a:t>全局错误，表示全局范围内的错误。</a:t>
            </a:r>
          </a:p>
        </p:txBody>
      </p:sp>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3577571" y="593125"/>
            <a:ext cx="19976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SIP </a:t>
            </a:r>
            <a:r>
              <a:rPr lang="zh-CN" altLang="en-US" sz="2400" b="1" dirty="0" smtClean="0">
                <a:solidFill>
                  <a:schemeClr val="bg1"/>
                </a:solidFill>
                <a:latin typeface="微软雅黑" pitchFamily="34" charset="-122"/>
                <a:ea typeface="微软雅黑" pitchFamily="34" charset="-122"/>
              </a:rPr>
              <a:t>响应</a:t>
            </a:r>
            <a:r>
              <a:rPr lang="zh-CN" altLang="en-US" sz="2400" b="1" dirty="0">
                <a:solidFill>
                  <a:schemeClr val="bg1"/>
                </a:solidFill>
                <a:latin typeface="微软雅黑" pitchFamily="34" charset="-122"/>
                <a:ea typeface="微软雅黑" pitchFamily="34" charset="-122"/>
              </a:rPr>
              <a:t>报文</a:t>
            </a:r>
          </a:p>
        </p:txBody>
      </p:sp>
    </p:spTree>
    <p:extLst>
      <p:ext uri="{BB962C8B-B14F-4D97-AF65-F5344CB8AC3E}">
        <p14:creationId xmlns:p14="http://schemas.microsoft.com/office/powerpoint/2010/main" val="24579262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1091708" y="508542"/>
            <a:ext cx="7937992" cy="4518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128907" y="552489"/>
            <a:ext cx="711957" cy="4355967"/>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b="1" dirty="0" smtClean="0">
                <a:solidFill>
                  <a:schemeClr val="bg1"/>
                </a:solidFill>
                <a:latin typeface="微软雅黑" pitchFamily="34" charset="-122"/>
                <a:ea typeface="微软雅黑" pitchFamily="34" charset="-122"/>
              </a:rPr>
              <a:t>一</a:t>
            </a:r>
            <a:endParaRPr lang="en-US" altLang="zh-CN" b="1" dirty="0" smtClean="0">
              <a:solidFill>
                <a:schemeClr val="bg1"/>
              </a:solidFill>
              <a:latin typeface="微软雅黑" pitchFamily="34" charset="-122"/>
              <a:ea typeface="微软雅黑" pitchFamily="34" charset="-122"/>
            </a:endParaRPr>
          </a:p>
          <a:p>
            <a:pPr algn="ctr"/>
            <a:r>
              <a:rPr lang="zh-CN" altLang="en-US" b="1" dirty="0" smtClean="0">
                <a:solidFill>
                  <a:schemeClr val="bg1"/>
                </a:solidFill>
                <a:latin typeface="微软雅黑" pitchFamily="34" charset="-122"/>
                <a:ea typeface="微软雅黑" pitchFamily="34" charset="-122"/>
              </a:rPr>
              <a:t>个</a:t>
            </a:r>
            <a:endParaRPr lang="en-US" altLang="zh-CN" b="1" dirty="0" smtClean="0">
              <a:solidFill>
                <a:schemeClr val="bg1"/>
              </a:solidFill>
              <a:latin typeface="微软雅黑" pitchFamily="34" charset="-122"/>
              <a:ea typeface="微软雅黑" pitchFamily="34" charset="-122"/>
            </a:endParaRPr>
          </a:p>
          <a:p>
            <a:pPr algn="ctr"/>
            <a:r>
              <a:rPr lang="zh-CN" altLang="en-US" b="1" dirty="0" smtClean="0">
                <a:solidFill>
                  <a:schemeClr val="bg1"/>
                </a:solidFill>
                <a:latin typeface="微软雅黑" pitchFamily="34" charset="-122"/>
                <a:ea typeface="微软雅黑" pitchFamily="34" charset="-122"/>
              </a:rPr>
              <a:t>简</a:t>
            </a:r>
            <a:endParaRPr lang="en-US" altLang="zh-CN" b="1" dirty="0" smtClean="0">
              <a:solidFill>
                <a:schemeClr val="bg1"/>
              </a:solidFill>
              <a:latin typeface="微软雅黑" pitchFamily="34" charset="-122"/>
              <a:ea typeface="微软雅黑" pitchFamily="34" charset="-122"/>
            </a:endParaRPr>
          </a:p>
          <a:p>
            <a:pPr algn="ctr"/>
            <a:r>
              <a:rPr lang="zh-CN" altLang="en-US" b="1" dirty="0" smtClean="0">
                <a:solidFill>
                  <a:schemeClr val="bg1"/>
                </a:solidFill>
                <a:latin typeface="微软雅黑" pitchFamily="34" charset="-122"/>
                <a:ea typeface="微软雅黑" pitchFamily="34" charset="-122"/>
              </a:rPr>
              <a:t>单</a:t>
            </a:r>
            <a:endParaRPr lang="en-US" altLang="zh-CN" b="1" dirty="0" smtClean="0">
              <a:solidFill>
                <a:schemeClr val="bg1"/>
              </a:solidFill>
              <a:latin typeface="微软雅黑" pitchFamily="34" charset="-122"/>
              <a:ea typeface="微软雅黑" pitchFamily="34" charset="-122"/>
            </a:endParaRPr>
          </a:p>
          <a:p>
            <a:pPr algn="ctr"/>
            <a:r>
              <a:rPr lang="zh-CN" altLang="en-US" b="1" dirty="0" smtClean="0">
                <a:solidFill>
                  <a:schemeClr val="bg1"/>
                </a:solidFill>
                <a:latin typeface="微软雅黑" pitchFamily="34" charset="-122"/>
                <a:ea typeface="微软雅黑" pitchFamily="34" charset="-122"/>
              </a:rPr>
              <a:t>的 </a:t>
            </a:r>
            <a:endParaRPr lang="en-US" altLang="zh-CN" b="1" dirty="0" smtClean="0">
              <a:solidFill>
                <a:schemeClr val="bg1"/>
              </a:solidFill>
              <a:latin typeface="微软雅黑" pitchFamily="34" charset="-122"/>
              <a:ea typeface="微软雅黑" pitchFamily="34" charset="-122"/>
            </a:endParaRPr>
          </a:p>
          <a:p>
            <a:pPr algn="ctr"/>
            <a:r>
              <a:rPr lang="en-US" altLang="zh-CN" b="1" dirty="0" smtClean="0">
                <a:solidFill>
                  <a:schemeClr val="bg1"/>
                </a:solidFill>
                <a:latin typeface="微软雅黑" pitchFamily="34" charset="-122"/>
                <a:ea typeface="微软雅黑" pitchFamily="34" charset="-122"/>
              </a:rPr>
              <a:t>SIP</a:t>
            </a:r>
          </a:p>
          <a:p>
            <a:pPr algn="ctr"/>
            <a:r>
              <a:rPr lang="zh-CN" altLang="en-US" b="1" dirty="0" smtClean="0">
                <a:solidFill>
                  <a:schemeClr val="bg1"/>
                </a:solidFill>
                <a:latin typeface="微软雅黑" pitchFamily="34" charset="-122"/>
                <a:ea typeface="微软雅黑" pitchFamily="34" charset="-122"/>
              </a:rPr>
              <a:t>会</a:t>
            </a:r>
            <a:endParaRPr lang="en-US" altLang="zh-CN" b="1" dirty="0" smtClean="0">
              <a:solidFill>
                <a:schemeClr val="bg1"/>
              </a:solidFill>
              <a:latin typeface="微软雅黑" pitchFamily="34" charset="-122"/>
              <a:ea typeface="微软雅黑" pitchFamily="34" charset="-122"/>
            </a:endParaRPr>
          </a:p>
          <a:p>
            <a:pPr algn="ctr"/>
            <a:r>
              <a:rPr lang="zh-CN" altLang="en-US" b="1" dirty="0" smtClean="0">
                <a:solidFill>
                  <a:schemeClr val="bg1"/>
                </a:solidFill>
                <a:latin typeface="微软雅黑" pitchFamily="34" charset="-122"/>
                <a:ea typeface="微软雅黑" pitchFamily="34" charset="-122"/>
              </a:rPr>
              <a:t>话 </a:t>
            </a:r>
            <a:endParaRPr lang="fr-FR" altLang="zh-CN" b="1" dirty="0">
              <a:solidFill>
                <a:schemeClr val="bg1"/>
              </a:solidFill>
              <a:latin typeface="微软雅黑" pitchFamily="34" charset="-122"/>
              <a:ea typeface="微软雅黑" pitchFamily="34" charset="-122"/>
            </a:endParaRPr>
          </a:p>
        </p:txBody>
      </p:sp>
      <p:sp>
        <p:nvSpPr>
          <p:cNvPr id="4" name="Rectangle 6"/>
          <p:cNvSpPr>
            <a:spLocks noChangeArrowheads="1"/>
          </p:cNvSpPr>
          <p:nvPr/>
        </p:nvSpPr>
        <p:spPr bwMode="auto">
          <a:xfrm>
            <a:off x="422887" y="1805193"/>
            <a:ext cx="184730" cy="4001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endParaRPr lang="fr-FR" altLang="zh-CN" sz="2000" b="1" dirty="0">
              <a:solidFill>
                <a:schemeClr val="bg1"/>
              </a:solidFill>
              <a:latin typeface="微软雅黑" pitchFamily="34" charset="-122"/>
              <a:ea typeface="微软雅黑" pitchFamily="34" charset="-122"/>
            </a:endParaRPr>
          </a:p>
        </p:txBody>
      </p:sp>
      <p:sp>
        <p:nvSpPr>
          <p:cNvPr id="60" name="Line 20"/>
          <p:cNvSpPr>
            <a:spLocks noChangeShapeType="1"/>
          </p:cNvSpPr>
          <p:nvPr/>
        </p:nvSpPr>
        <p:spPr bwMode="auto">
          <a:xfrm rot="5400000">
            <a:off x="3497879" y="1040191"/>
            <a:ext cx="129715" cy="139541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76" name="Group 38"/>
          <p:cNvGrpSpPr>
            <a:grpSpLocks/>
          </p:cNvGrpSpPr>
          <p:nvPr/>
        </p:nvGrpSpPr>
        <p:grpSpPr bwMode="auto">
          <a:xfrm>
            <a:off x="2850743" y="3511033"/>
            <a:ext cx="5402263" cy="582137"/>
            <a:chOff x="-1502" y="10952"/>
            <a:chExt cx="2642" cy="543"/>
          </a:xfrm>
        </p:grpSpPr>
        <p:sp>
          <p:nvSpPr>
            <p:cNvPr id="78" name="AutoShape 24"/>
            <p:cNvSpPr>
              <a:spLocks noChangeArrowheads="1"/>
            </p:cNvSpPr>
            <p:nvPr/>
          </p:nvSpPr>
          <p:spPr bwMode="auto">
            <a:xfrm>
              <a:off x="-1502" y="10952"/>
              <a:ext cx="2642" cy="543"/>
            </a:xfrm>
            <a:prstGeom prst="leftRightArrow">
              <a:avLst>
                <a:gd name="adj1" fmla="val 61769"/>
                <a:gd name="adj2" fmla="val 71136"/>
              </a:avLst>
            </a:prstGeom>
            <a:solidFill>
              <a:schemeClr val="accent6">
                <a:lumMod val="60000"/>
                <a:lumOff val="40000"/>
              </a:scheme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Text Box 25"/>
            <p:cNvSpPr txBox="1">
              <a:spLocks noChangeArrowheads="1"/>
            </p:cNvSpPr>
            <p:nvPr/>
          </p:nvSpPr>
          <p:spPr bwMode="auto">
            <a:xfrm>
              <a:off x="-682" y="11080"/>
              <a:ext cx="1153" cy="28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smtClean="0">
                  <a:latin typeface="微软雅黑" pitchFamily="34" charset="-122"/>
                  <a:ea typeface="微软雅黑" pitchFamily="34" charset="-122"/>
                </a:rPr>
                <a:t>双方交谈</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使用 </a:t>
              </a:r>
              <a:r>
                <a:rPr lang="en-US" altLang="zh-CN" sz="1400" b="1" dirty="0">
                  <a:latin typeface="微软雅黑" pitchFamily="34" charset="-122"/>
                  <a:ea typeface="微软雅黑" pitchFamily="34" charset="-122"/>
                </a:rPr>
                <a:t>RTP/RTCP</a:t>
              </a:r>
              <a:r>
                <a:rPr lang="en-US" altLang="zh-CN" sz="1400" b="1" dirty="0" smtClean="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grpSp>
      <p:sp>
        <p:nvSpPr>
          <p:cNvPr id="44" name="Text Box 12"/>
          <p:cNvSpPr txBox="1">
            <a:spLocks noChangeArrowheads="1"/>
          </p:cNvSpPr>
          <p:nvPr/>
        </p:nvSpPr>
        <p:spPr bwMode="auto">
          <a:xfrm>
            <a:off x="2396311" y="541377"/>
            <a:ext cx="543739"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 typeface="Arial" panose="020B0604020202020204" pitchFamily="34" charset="0"/>
              <a:buNone/>
            </a:pPr>
            <a:r>
              <a:rPr lang="zh-CN" altLang="en-US" sz="1400" b="1" dirty="0">
                <a:latin typeface="微软雅黑" pitchFamily="34" charset="-122"/>
                <a:ea typeface="微软雅黑" pitchFamily="34" charset="-122"/>
              </a:rPr>
              <a:t>主叫</a:t>
            </a:r>
          </a:p>
          <a:p>
            <a:pPr algn="ctr" eaLnBrk="1" hangingPunct="1">
              <a:lnSpc>
                <a:spcPct val="100000"/>
              </a:lnSpc>
              <a:spcBef>
                <a:spcPct val="0"/>
              </a:spcBef>
              <a:buFontTx/>
              <a:buNone/>
            </a:pPr>
            <a:endParaRPr lang="en-US" altLang="zh-CN" sz="1600" dirty="0">
              <a:latin typeface="宋体" panose="02010600030101010101" pitchFamily="2" charset="-122"/>
              <a:ea typeface="宋体" panose="02010600030101010101" pitchFamily="2" charset="-122"/>
            </a:endParaRPr>
          </a:p>
        </p:txBody>
      </p:sp>
      <p:sp>
        <p:nvSpPr>
          <p:cNvPr id="45" name="Text Box 13"/>
          <p:cNvSpPr txBox="1">
            <a:spLocks noChangeArrowheads="1"/>
          </p:cNvSpPr>
          <p:nvPr/>
        </p:nvSpPr>
        <p:spPr bwMode="auto">
          <a:xfrm>
            <a:off x="8213705" y="55248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 typeface="Arial" panose="020B0604020202020204" pitchFamily="34" charset="0"/>
              <a:buNone/>
            </a:pPr>
            <a:r>
              <a:rPr lang="zh-CN" altLang="en-US" sz="1400" b="1" dirty="0">
                <a:latin typeface="微软雅黑" pitchFamily="34" charset="-122"/>
                <a:ea typeface="微软雅黑" pitchFamily="34" charset="-122"/>
              </a:rPr>
              <a:t>被叫</a:t>
            </a:r>
            <a:endParaRPr lang="en-US" altLang="zh-CN" sz="1400" b="1" dirty="0">
              <a:latin typeface="微软雅黑" pitchFamily="34" charset="-122"/>
              <a:ea typeface="微软雅黑" pitchFamily="34" charset="-122"/>
            </a:endParaRPr>
          </a:p>
        </p:txBody>
      </p:sp>
      <p:sp>
        <p:nvSpPr>
          <p:cNvPr id="48" name="Text Box 25"/>
          <p:cNvSpPr txBox="1">
            <a:spLocks noChangeArrowheads="1"/>
          </p:cNvSpPr>
          <p:nvPr/>
        </p:nvSpPr>
        <p:spPr bwMode="auto">
          <a:xfrm>
            <a:off x="5432018" y="4119602"/>
            <a:ext cx="6651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BYE</a:t>
            </a:r>
          </a:p>
        </p:txBody>
      </p:sp>
      <p:sp>
        <p:nvSpPr>
          <p:cNvPr id="49" name="Text Box 26"/>
          <p:cNvSpPr txBox="1">
            <a:spLocks noChangeArrowheads="1"/>
          </p:cNvSpPr>
          <p:nvPr/>
        </p:nvSpPr>
        <p:spPr bwMode="auto">
          <a:xfrm>
            <a:off x="1722031" y="2025689"/>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ts val="0"/>
              </a:spcBef>
              <a:buNone/>
            </a:pPr>
            <a:r>
              <a:rPr lang="zh-CN" altLang="en-US" sz="1400" b="1" dirty="0" smtClean="0">
                <a:solidFill>
                  <a:srgbClr val="0000FF"/>
                </a:solidFill>
                <a:latin typeface="微软雅黑" pitchFamily="34" charset="-122"/>
                <a:ea typeface="微软雅黑" pitchFamily="34" charset="-122"/>
              </a:rPr>
              <a:t>建立</a:t>
            </a:r>
            <a:endParaRPr lang="en-US" altLang="zh-CN" sz="1400" b="1" dirty="0" smtClean="0">
              <a:solidFill>
                <a:srgbClr val="0000FF"/>
              </a:solidFill>
              <a:latin typeface="微软雅黑" pitchFamily="34" charset="-122"/>
              <a:ea typeface="微软雅黑" pitchFamily="34" charset="-122"/>
            </a:endParaRPr>
          </a:p>
          <a:p>
            <a:pPr>
              <a:lnSpc>
                <a:spcPct val="100000"/>
              </a:lnSpc>
              <a:spcBef>
                <a:spcPts val="0"/>
              </a:spcBef>
              <a:buNone/>
            </a:pPr>
            <a:r>
              <a:rPr lang="zh-CN" altLang="en-US" sz="1400" b="1" dirty="0" smtClean="0">
                <a:solidFill>
                  <a:srgbClr val="0000FF"/>
                </a:solidFill>
                <a:latin typeface="微软雅黑" pitchFamily="34" charset="-122"/>
                <a:ea typeface="微软雅黑" pitchFamily="34" charset="-122"/>
              </a:rPr>
              <a:t>会话</a:t>
            </a:r>
            <a:endParaRPr lang="zh-CN" altLang="en-US" sz="1400" b="1" dirty="0">
              <a:solidFill>
                <a:srgbClr val="0000FF"/>
              </a:solidFill>
              <a:latin typeface="微软雅黑" pitchFamily="34" charset="-122"/>
              <a:ea typeface="微软雅黑" pitchFamily="34" charset="-122"/>
            </a:endParaRPr>
          </a:p>
        </p:txBody>
      </p:sp>
      <p:sp>
        <p:nvSpPr>
          <p:cNvPr id="50" name="Text Box 27"/>
          <p:cNvSpPr txBox="1">
            <a:spLocks noChangeArrowheads="1"/>
          </p:cNvSpPr>
          <p:nvPr/>
        </p:nvSpPr>
        <p:spPr bwMode="auto">
          <a:xfrm>
            <a:off x="1695043" y="4402177"/>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None/>
            </a:pPr>
            <a:r>
              <a:rPr lang="zh-CN" altLang="en-US" sz="1400" b="1" dirty="0">
                <a:solidFill>
                  <a:srgbClr val="0000FF"/>
                </a:solidFill>
                <a:latin typeface="微软雅黑" pitchFamily="34" charset="-122"/>
                <a:ea typeface="微软雅黑" pitchFamily="34" charset="-122"/>
              </a:rPr>
              <a:t>终止</a:t>
            </a:r>
          </a:p>
          <a:p>
            <a:pPr>
              <a:lnSpc>
                <a:spcPct val="100000"/>
              </a:lnSpc>
              <a:spcBef>
                <a:spcPct val="0"/>
              </a:spcBef>
              <a:buNone/>
            </a:pPr>
            <a:r>
              <a:rPr lang="zh-CN" altLang="en-US" sz="1400" b="1" dirty="0">
                <a:solidFill>
                  <a:srgbClr val="0000FF"/>
                </a:solidFill>
                <a:latin typeface="微软雅黑" pitchFamily="34" charset="-122"/>
                <a:ea typeface="微软雅黑" pitchFamily="34" charset="-122"/>
              </a:rPr>
              <a:t>会话</a:t>
            </a:r>
          </a:p>
        </p:txBody>
      </p:sp>
      <p:sp>
        <p:nvSpPr>
          <p:cNvPr id="51" name="Text Box 28"/>
          <p:cNvSpPr txBox="1">
            <a:spLocks noChangeArrowheads="1"/>
          </p:cNvSpPr>
          <p:nvPr/>
        </p:nvSpPr>
        <p:spPr bwMode="auto">
          <a:xfrm>
            <a:off x="1695043" y="364811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zh-CN" altLang="en-US" sz="1400" b="1" dirty="0">
                <a:solidFill>
                  <a:srgbClr val="0000FF"/>
                </a:solidFill>
                <a:latin typeface="微软雅黑" pitchFamily="34" charset="-122"/>
                <a:ea typeface="微软雅黑" pitchFamily="34" charset="-122"/>
              </a:rPr>
              <a:t>通信</a:t>
            </a:r>
          </a:p>
        </p:txBody>
      </p:sp>
      <p:sp>
        <p:nvSpPr>
          <p:cNvPr id="52" name="矩形 51"/>
          <p:cNvSpPr/>
          <p:nvPr/>
        </p:nvSpPr>
        <p:spPr>
          <a:xfrm>
            <a:off x="2436406" y="1284327"/>
            <a:ext cx="431800" cy="3651250"/>
          </a:xfrm>
          <a:prstGeom prst="rect">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53" name="矩形 52"/>
          <p:cNvSpPr/>
          <p:nvPr/>
        </p:nvSpPr>
        <p:spPr>
          <a:xfrm>
            <a:off x="8257768" y="1284327"/>
            <a:ext cx="431800" cy="3651250"/>
          </a:xfrm>
          <a:prstGeom prst="rect">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54" name="Text Box 12"/>
          <p:cNvSpPr txBox="1">
            <a:spLocks noChangeArrowheads="1"/>
          </p:cNvSpPr>
          <p:nvPr/>
        </p:nvSpPr>
        <p:spPr bwMode="auto">
          <a:xfrm>
            <a:off x="2455456" y="1666914"/>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zh-CN" altLang="en-US" sz="1400" b="1" dirty="0">
                <a:latin typeface="微软雅黑" pitchFamily="34" charset="-122"/>
                <a:ea typeface="微软雅黑" pitchFamily="34" charset="-122"/>
              </a:rPr>
              <a:t>用</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户</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代</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理</a:t>
            </a:r>
          </a:p>
        </p:txBody>
      </p:sp>
      <p:sp>
        <p:nvSpPr>
          <p:cNvPr id="86" name="Text Box 28"/>
          <p:cNvSpPr txBox="1">
            <a:spLocks noChangeArrowheads="1"/>
          </p:cNvSpPr>
          <p:nvPr/>
        </p:nvSpPr>
        <p:spPr bwMode="auto">
          <a:xfrm>
            <a:off x="2444343" y="3306802"/>
            <a:ext cx="4545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400" b="1" dirty="0">
                <a:latin typeface="微软雅黑" pitchFamily="34" charset="-122"/>
                <a:ea typeface="微软雅黑" pitchFamily="34" charset="-122"/>
              </a:rPr>
              <a:t>UA</a:t>
            </a:r>
            <a:endParaRPr lang="zh-CN" altLang="en-US" sz="1400" b="1" dirty="0">
              <a:latin typeface="微软雅黑" pitchFamily="34" charset="-122"/>
              <a:ea typeface="微软雅黑" pitchFamily="34" charset="-122"/>
            </a:endParaRPr>
          </a:p>
        </p:txBody>
      </p:sp>
      <p:sp>
        <p:nvSpPr>
          <p:cNvPr id="87" name="Text Box 12"/>
          <p:cNvSpPr txBox="1">
            <a:spLocks noChangeArrowheads="1"/>
          </p:cNvSpPr>
          <p:nvPr/>
        </p:nvSpPr>
        <p:spPr bwMode="auto">
          <a:xfrm>
            <a:off x="8276818" y="1666914"/>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zh-CN" altLang="en-US" sz="1400" b="1" dirty="0">
                <a:latin typeface="微软雅黑" pitchFamily="34" charset="-122"/>
                <a:ea typeface="微软雅黑" pitchFamily="34" charset="-122"/>
              </a:rPr>
              <a:t>用</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户</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代</a:t>
            </a:r>
            <a:endParaRPr lang="en-US" altLang="zh-CN" sz="1400" b="1" dirty="0">
              <a:latin typeface="微软雅黑" pitchFamily="34" charset="-122"/>
              <a:ea typeface="微软雅黑" pitchFamily="34" charset="-122"/>
            </a:endParaRPr>
          </a:p>
          <a:p>
            <a:pPr eaLnBrk="1" hangingPunct="1">
              <a:lnSpc>
                <a:spcPct val="100000"/>
              </a:lnSpc>
              <a:spcBef>
                <a:spcPct val="0"/>
              </a:spcBef>
              <a:buFontTx/>
              <a:buNone/>
            </a:pPr>
            <a:r>
              <a:rPr lang="zh-CN" altLang="en-US" sz="1400" b="1" dirty="0">
                <a:latin typeface="微软雅黑" pitchFamily="34" charset="-122"/>
                <a:ea typeface="微软雅黑" pitchFamily="34" charset="-122"/>
              </a:rPr>
              <a:t>理</a:t>
            </a:r>
          </a:p>
        </p:txBody>
      </p:sp>
      <p:sp>
        <p:nvSpPr>
          <p:cNvPr id="88" name="Text Box 28"/>
          <p:cNvSpPr txBox="1">
            <a:spLocks noChangeArrowheads="1"/>
          </p:cNvSpPr>
          <p:nvPr/>
        </p:nvSpPr>
        <p:spPr bwMode="auto">
          <a:xfrm>
            <a:off x="8240306" y="3300452"/>
            <a:ext cx="4545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400" b="1" dirty="0">
                <a:latin typeface="微软雅黑" pitchFamily="34" charset="-122"/>
                <a:ea typeface="微软雅黑" pitchFamily="34" charset="-122"/>
              </a:rPr>
              <a:t>UA</a:t>
            </a:r>
            <a:endParaRPr lang="zh-CN" altLang="en-US" sz="1400" b="1" dirty="0">
              <a:latin typeface="微软雅黑" pitchFamily="34" charset="-122"/>
              <a:ea typeface="微软雅黑" pitchFamily="34" charset="-122"/>
            </a:endParaRPr>
          </a:p>
        </p:txBody>
      </p:sp>
      <p:sp>
        <p:nvSpPr>
          <p:cNvPr id="90" name="Text Box 17"/>
          <p:cNvSpPr txBox="1">
            <a:spLocks noChangeArrowheads="1"/>
          </p:cNvSpPr>
          <p:nvPr/>
        </p:nvSpPr>
        <p:spPr bwMode="auto">
          <a:xfrm>
            <a:off x="4982756" y="1236702"/>
            <a:ext cx="8699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INVITE</a:t>
            </a:r>
            <a:endParaRPr lang="zh-CN" altLang="en-US" sz="1600">
              <a:latin typeface="Times New Roman" panose="02020603050405020304" pitchFamily="18" charset="0"/>
            </a:endParaRPr>
          </a:p>
        </p:txBody>
      </p:sp>
      <p:sp>
        <p:nvSpPr>
          <p:cNvPr id="91" name="Text Box 17"/>
          <p:cNvSpPr txBox="1">
            <a:spLocks noChangeArrowheads="1"/>
          </p:cNvSpPr>
          <p:nvPr/>
        </p:nvSpPr>
        <p:spPr bwMode="auto">
          <a:xfrm>
            <a:off x="2968218" y="2354302"/>
            <a:ext cx="12065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dirty="0">
                <a:latin typeface="Times New Roman" panose="02020603050405020304" pitchFamily="18" charset="0"/>
              </a:rPr>
              <a:t>180 Ringing</a:t>
            </a:r>
            <a:endParaRPr lang="zh-CN" altLang="en-US" sz="1600" dirty="0">
              <a:latin typeface="Times New Roman" panose="02020603050405020304" pitchFamily="18" charset="0"/>
            </a:endParaRPr>
          </a:p>
        </p:txBody>
      </p:sp>
      <p:sp>
        <p:nvSpPr>
          <p:cNvPr id="92" name="Text Box 17"/>
          <p:cNvSpPr txBox="1">
            <a:spLocks noChangeArrowheads="1"/>
          </p:cNvSpPr>
          <p:nvPr/>
        </p:nvSpPr>
        <p:spPr bwMode="auto">
          <a:xfrm>
            <a:off x="5052606" y="2471777"/>
            <a:ext cx="8382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200 OK</a:t>
            </a:r>
            <a:endParaRPr lang="zh-CN" altLang="en-US" sz="1600">
              <a:latin typeface="Times New Roman" panose="02020603050405020304" pitchFamily="18" charset="0"/>
            </a:endParaRPr>
          </a:p>
        </p:txBody>
      </p:sp>
      <p:sp>
        <p:nvSpPr>
          <p:cNvPr id="93" name="Text Box 17"/>
          <p:cNvSpPr txBox="1">
            <a:spLocks noChangeArrowheads="1"/>
          </p:cNvSpPr>
          <p:nvPr/>
        </p:nvSpPr>
        <p:spPr bwMode="auto">
          <a:xfrm>
            <a:off x="3169831" y="2695614"/>
            <a:ext cx="83978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dirty="0">
                <a:latin typeface="Times New Roman" panose="02020603050405020304" pitchFamily="18" charset="0"/>
              </a:rPr>
              <a:t>200 OK</a:t>
            </a:r>
            <a:endParaRPr lang="zh-CN" altLang="en-US" sz="1600" dirty="0">
              <a:latin typeface="Times New Roman" panose="02020603050405020304" pitchFamily="18" charset="0"/>
            </a:endParaRPr>
          </a:p>
        </p:txBody>
      </p:sp>
      <p:sp>
        <p:nvSpPr>
          <p:cNvPr id="94" name="Text Box 17"/>
          <p:cNvSpPr txBox="1">
            <a:spLocks noChangeArrowheads="1"/>
          </p:cNvSpPr>
          <p:nvPr/>
        </p:nvSpPr>
        <p:spPr bwMode="auto">
          <a:xfrm>
            <a:off x="5363756" y="4486314"/>
            <a:ext cx="9017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200 OK</a:t>
            </a:r>
            <a:endParaRPr lang="zh-CN" altLang="en-US" sz="1600">
              <a:latin typeface="Times New Roman" panose="02020603050405020304" pitchFamily="18" charset="0"/>
            </a:endParaRPr>
          </a:p>
        </p:txBody>
      </p:sp>
      <p:sp>
        <p:nvSpPr>
          <p:cNvPr id="95" name="左大括号 94"/>
          <p:cNvSpPr/>
          <p:nvPr/>
        </p:nvSpPr>
        <p:spPr>
          <a:xfrm>
            <a:off x="2191931" y="1330364"/>
            <a:ext cx="219075" cy="1938338"/>
          </a:xfrm>
          <a:prstGeom prst="leftBrace">
            <a:avLst>
              <a:gd name="adj1" fmla="val 24792"/>
              <a:gd name="adj2"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96" name="左大括号 95"/>
          <p:cNvSpPr/>
          <p:nvPr/>
        </p:nvSpPr>
        <p:spPr>
          <a:xfrm>
            <a:off x="2191931" y="3432214"/>
            <a:ext cx="219075" cy="806450"/>
          </a:xfrm>
          <a:prstGeom prst="leftBrace">
            <a:avLst>
              <a:gd name="adj1" fmla="val 24792"/>
              <a:gd name="adj2"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97" name="左大括号 96"/>
          <p:cNvSpPr/>
          <p:nvPr/>
        </p:nvSpPr>
        <p:spPr>
          <a:xfrm>
            <a:off x="2191931" y="4432339"/>
            <a:ext cx="219075" cy="503238"/>
          </a:xfrm>
          <a:prstGeom prst="leftBrace">
            <a:avLst>
              <a:gd name="adj1" fmla="val 24792"/>
              <a:gd name="adj2"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100" name="Text Box 17"/>
          <p:cNvSpPr txBox="1">
            <a:spLocks noChangeArrowheads="1"/>
          </p:cNvSpPr>
          <p:nvPr/>
        </p:nvSpPr>
        <p:spPr bwMode="auto">
          <a:xfrm>
            <a:off x="4890681" y="2163802"/>
            <a:ext cx="12065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180 Ringing</a:t>
            </a:r>
            <a:endParaRPr lang="zh-CN" altLang="en-US" sz="1600">
              <a:latin typeface="Times New Roman" panose="02020603050405020304" pitchFamily="18" charset="0"/>
            </a:endParaRPr>
          </a:p>
        </p:txBody>
      </p:sp>
      <p:grpSp>
        <p:nvGrpSpPr>
          <p:cNvPr id="101" name="Group 4"/>
          <p:cNvGrpSpPr>
            <a:grpSpLocks/>
          </p:cNvGrpSpPr>
          <p:nvPr/>
        </p:nvGrpSpPr>
        <p:grpSpPr bwMode="auto">
          <a:xfrm>
            <a:off x="2160181" y="649327"/>
            <a:ext cx="701675" cy="590550"/>
            <a:chOff x="1922" y="426"/>
            <a:chExt cx="442" cy="372"/>
          </a:xfrm>
        </p:grpSpPr>
        <p:sp>
          <p:nvSpPr>
            <p:cNvPr id="102" name="Text Box 5"/>
            <p:cNvSpPr txBox="1">
              <a:spLocks noChangeArrowheads="1"/>
            </p:cNvSpPr>
            <p:nvPr/>
          </p:nvSpPr>
          <p:spPr bwMode="auto">
            <a:xfrm rot="-1312523">
              <a:off x="1922" y="426"/>
              <a:ext cx="29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7620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7620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7620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7620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defTabSz="7620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kumimoji="1" lang="en-US" altLang="zh-CN" sz="3200">
                  <a:latin typeface="Times New Roman" panose="02020603050405020304" pitchFamily="18" charset="0"/>
                  <a:ea typeface="宋体" panose="02010600030101010101" pitchFamily="2" charset="-122"/>
                  <a:sym typeface="Webdings" panose="05030102010509060703" pitchFamily="18" charset="2"/>
                </a:rPr>
                <a:t></a:t>
              </a:r>
              <a:r>
                <a:rPr kumimoji="1" lang="en-US" altLang="zh-CN" sz="3200">
                  <a:latin typeface="Times New Roman" panose="02020603050405020304" pitchFamily="18" charset="0"/>
                  <a:ea typeface="宋体" panose="02010600030101010101" pitchFamily="2" charset="-122"/>
                </a:rPr>
                <a:t> </a:t>
              </a:r>
            </a:p>
          </p:txBody>
        </p:sp>
        <p:sp>
          <p:nvSpPr>
            <p:cNvPr id="103" name="Freeform 6"/>
            <p:cNvSpPr>
              <a:spLocks/>
            </p:cNvSpPr>
            <p:nvPr/>
          </p:nvSpPr>
          <p:spPr bwMode="auto">
            <a:xfrm>
              <a:off x="2079" y="688"/>
              <a:ext cx="48" cy="58"/>
            </a:xfrm>
            <a:custGeom>
              <a:avLst/>
              <a:gdLst>
                <a:gd name="T0" fmla="*/ 1 w 69"/>
                <a:gd name="T1" fmla="*/ 0 h 78"/>
                <a:gd name="T2" fmla="*/ 0 w 69"/>
                <a:gd name="T3" fmla="*/ 1 h 78"/>
                <a:gd name="T4" fmla="*/ 1 w 69"/>
                <a:gd name="T5" fmla="*/ 1 h 78"/>
                <a:gd name="T6" fmla="*/ 1 w 69"/>
                <a:gd name="T7" fmla="*/ 1 h 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78">
                  <a:moveTo>
                    <a:pt x="9" y="0"/>
                  </a:moveTo>
                  <a:cubicBezTo>
                    <a:pt x="5" y="11"/>
                    <a:pt x="7" y="20"/>
                    <a:pt x="0" y="30"/>
                  </a:cubicBezTo>
                  <a:cubicBezTo>
                    <a:pt x="0" y="44"/>
                    <a:pt x="12" y="60"/>
                    <a:pt x="23" y="68"/>
                  </a:cubicBezTo>
                  <a:cubicBezTo>
                    <a:pt x="34" y="76"/>
                    <a:pt x="60" y="76"/>
                    <a:pt x="69" y="7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04"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11" y="531"/>
              <a:ext cx="253"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105" name="直接连接符 104"/>
          <p:cNvCxnSpPr>
            <a:cxnSpLocks/>
          </p:cNvCxnSpPr>
          <p:nvPr/>
        </p:nvCxnSpPr>
        <p:spPr>
          <a:xfrm>
            <a:off x="4247743" y="1181139"/>
            <a:ext cx="12700" cy="18986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组合 11"/>
          <p:cNvGrpSpPr>
            <a:grpSpLocks/>
          </p:cNvGrpSpPr>
          <p:nvPr/>
        </p:nvGrpSpPr>
        <p:grpSpPr bwMode="auto">
          <a:xfrm>
            <a:off x="3792127" y="456446"/>
            <a:ext cx="1082348" cy="881062"/>
            <a:chOff x="4246041" y="534363"/>
            <a:chExt cx="1083165" cy="881687"/>
          </a:xfrm>
        </p:grpSpPr>
        <p:sp>
          <p:nvSpPr>
            <p:cNvPr id="107" name="Text Box 13"/>
            <p:cNvSpPr txBox="1">
              <a:spLocks noChangeArrowheads="1"/>
            </p:cNvSpPr>
            <p:nvPr/>
          </p:nvSpPr>
          <p:spPr bwMode="auto">
            <a:xfrm>
              <a:off x="4246041" y="534363"/>
              <a:ext cx="1083165" cy="307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zh-CN" altLang="en-US" sz="1400" b="1" dirty="0">
                  <a:latin typeface="微软雅黑" pitchFamily="34" charset="-122"/>
                  <a:ea typeface="微软雅黑" pitchFamily="34" charset="-122"/>
                </a:rPr>
                <a:t>代理服务器</a:t>
              </a:r>
            </a:p>
          </p:txBody>
        </p:sp>
        <p:grpSp>
          <p:nvGrpSpPr>
            <p:cNvPr id="108" name="Group 82"/>
            <p:cNvGrpSpPr>
              <a:grpSpLocks/>
            </p:cNvGrpSpPr>
            <p:nvPr/>
          </p:nvGrpSpPr>
          <p:grpSpPr bwMode="auto">
            <a:xfrm flipH="1">
              <a:off x="4581525" y="828675"/>
              <a:ext cx="349250" cy="587375"/>
              <a:chOff x="1655" y="3067"/>
              <a:chExt cx="327" cy="521"/>
            </a:xfrm>
          </p:grpSpPr>
          <p:sp>
            <p:nvSpPr>
              <p:cNvPr id="109" name="AutoShape 33"/>
              <p:cNvSpPr>
                <a:spLocks noChangeAspect="1" noChangeArrowheads="1" noTextEdit="1"/>
              </p:cNvSpPr>
              <p:nvPr/>
            </p:nvSpPr>
            <p:spPr bwMode="auto">
              <a:xfrm>
                <a:off x="1655" y="3067"/>
                <a:ext cx="327" cy="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110" name="Group 42"/>
              <p:cNvGrpSpPr>
                <a:grpSpLocks/>
              </p:cNvGrpSpPr>
              <p:nvPr/>
            </p:nvGrpSpPr>
            <p:grpSpPr bwMode="auto">
              <a:xfrm>
                <a:off x="1658" y="3071"/>
                <a:ext cx="319" cy="511"/>
                <a:chOff x="1658" y="3071"/>
                <a:chExt cx="319" cy="511"/>
              </a:xfrm>
            </p:grpSpPr>
            <p:sp>
              <p:nvSpPr>
                <p:cNvPr id="150" name="Freeform 35"/>
                <p:cNvSpPr>
                  <a:spLocks/>
                </p:cNvSpPr>
                <p:nvPr/>
              </p:nvSpPr>
              <p:spPr bwMode="auto">
                <a:xfrm>
                  <a:off x="1752" y="3105"/>
                  <a:ext cx="215" cy="9"/>
                </a:xfrm>
                <a:custGeom>
                  <a:avLst/>
                  <a:gdLst>
                    <a:gd name="T0" fmla="*/ 0 w 1292"/>
                    <a:gd name="T1" fmla="*/ 0 h 47"/>
                    <a:gd name="T2" fmla="*/ 0 w 1292"/>
                    <a:gd name="T3" fmla="*/ 0 h 47"/>
                    <a:gd name="T4" fmla="*/ 0 w 1292"/>
                    <a:gd name="T5" fmla="*/ 0 h 47"/>
                    <a:gd name="T6" fmla="*/ 0 w 1292"/>
                    <a:gd name="T7" fmla="*/ 0 h 47"/>
                    <a:gd name="T8" fmla="*/ 0 w 1292"/>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2" h="47">
                      <a:moveTo>
                        <a:pt x="0" y="0"/>
                      </a:moveTo>
                      <a:lnTo>
                        <a:pt x="76" y="47"/>
                      </a:lnTo>
                      <a:lnTo>
                        <a:pt x="1292" y="47"/>
                      </a:lnTo>
                      <a:lnTo>
                        <a:pt x="1254" y="0"/>
                      </a:lnTo>
                      <a:lnTo>
                        <a:pt x="0" y="0"/>
                      </a:lnTo>
                      <a:close/>
                    </a:path>
                  </a:pathLst>
                </a:custGeom>
                <a:solidFill>
                  <a:srgbClr val="E0E0E0"/>
                </a:solidFill>
                <a:ln w="4763">
                  <a:solidFill>
                    <a:srgbClr val="808080"/>
                  </a:solidFill>
                  <a:prstDash val="solid"/>
                  <a:round/>
                  <a:headEnd/>
                  <a:tailEnd/>
                </a:ln>
              </p:spPr>
              <p:txBody>
                <a:bodyPr/>
                <a:lstStyle/>
                <a:p>
                  <a:endParaRPr lang="zh-CN" altLang="en-US"/>
                </a:p>
              </p:txBody>
            </p:sp>
            <p:sp>
              <p:nvSpPr>
                <p:cNvPr id="151" name="Freeform 36"/>
                <p:cNvSpPr>
                  <a:spLocks/>
                </p:cNvSpPr>
                <p:nvPr/>
              </p:nvSpPr>
              <p:spPr bwMode="auto">
                <a:xfrm>
                  <a:off x="1751" y="3104"/>
                  <a:ext cx="55" cy="478"/>
                </a:xfrm>
                <a:custGeom>
                  <a:avLst/>
                  <a:gdLst>
                    <a:gd name="T0" fmla="*/ 0 w 327"/>
                    <a:gd name="T1" fmla="*/ 0 h 2392"/>
                    <a:gd name="T2" fmla="*/ 0 w 327"/>
                    <a:gd name="T3" fmla="*/ 0 h 2392"/>
                    <a:gd name="T4" fmla="*/ 0 w 327"/>
                    <a:gd name="T5" fmla="*/ 0 h 2392"/>
                    <a:gd name="T6" fmla="*/ 0 w 327"/>
                    <a:gd name="T7" fmla="*/ 0 h 2392"/>
                    <a:gd name="T8" fmla="*/ 0 w 327"/>
                    <a:gd name="T9" fmla="*/ 0 h 2392"/>
                    <a:gd name="T10" fmla="*/ 0 w 327"/>
                    <a:gd name="T11" fmla="*/ 0 h 2392"/>
                    <a:gd name="T12" fmla="*/ 0 w 327"/>
                    <a:gd name="T13" fmla="*/ 0 h 239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7" h="2392">
                      <a:moveTo>
                        <a:pt x="0" y="2311"/>
                      </a:moveTo>
                      <a:lnTo>
                        <a:pt x="68" y="2392"/>
                      </a:lnTo>
                      <a:lnTo>
                        <a:pt x="327" y="794"/>
                      </a:lnTo>
                      <a:lnTo>
                        <a:pt x="83" y="47"/>
                      </a:lnTo>
                      <a:lnTo>
                        <a:pt x="3" y="0"/>
                      </a:lnTo>
                      <a:lnTo>
                        <a:pt x="0" y="873"/>
                      </a:lnTo>
                      <a:lnTo>
                        <a:pt x="0" y="2311"/>
                      </a:lnTo>
                      <a:close/>
                    </a:path>
                  </a:pathLst>
                </a:custGeom>
                <a:solidFill>
                  <a:srgbClr val="A0A0A0"/>
                </a:solidFill>
                <a:ln w="4763">
                  <a:solidFill>
                    <a:srgbClr val="808080"/>
                  </a:solidFill>
                  <a:prstDash val="solid"/>
                  <a:round/>
                  <a:headEnd/>
                  <a:tailEnd/>
                </a:ln>
              </p:spPr>
              <p:txBody>
                <a:bodyPr/>
                <a:lstStyle/>
                <a:p>
                  <a:endParaRPr lang="zh-CN" altLang="en-US"/>
                </a:p>
              </p:txBody>
            </p:sp>
            <p:sp>
              <p:nvSpPr>
                <p:cNvPr id="152" name="Freeform 37"/>
                <p:cNvSpPr>
                  <a:spLocks/>
                </p:cNvSpPr>
                <p:nvPr/>
              </p:nvSpPr>
              <p:spPr bwMode="auto">
                <a:xfrm>
                  <a:off x="1658" y="3071"/>
                  <a:ext cx="94" cy="495"/>
                </a:xfrm>
                <a:custGeom>
                  <a:avLst/>
                  <a:gdLst>
                    <a:gd name="T0" fmla="*/ 0 w 568"/>
                    <a:gd name="T1" fmla="*/ 0 h 2472"/>
                    <a:gd name="T2" fmla="*/ 0 w 568"/>
                    <a:gd name="T3" fmla="*/ 0 h 2472"/>
                    <a:gd name="T4" fmla="*/ 0 w 568"/>
                    <a:gd name="T5" fmla="*/ 0 h 2472"/>
                    <a:gd name="T6" fmla="*/ 0 w 568"/>
                    <a:gd name="T7" fmla="*/ 0 h 2472"/>
                    <a:gd name="T8" fmla="*/ 0 w 568"/>
                    <a:gd name="T9" fmla="*/ 0 h 24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2472">
                      <a:moveTo>
                        <a:pt x="0" y="0"/>
                      </a:moveTo>
                      <a:lnTo>
                        <a:pt x="568" y="162"/>
                      </a:lnTo>
                      <a:lnTo>
                        <a:pt x="568" y="2472"/>
                      </a:lnTo>
                      <a:lnTo>
                        <a:pt x="0" y="1882"/>
                      </a:lnTo>
                      <a:lnTo>
                        <a:pt x="0" y="0"/>
                      </a:lnTo>
                      <a:close/>
                    </a:path>
                  </a:pathLst>
                </a:custGeom>
                <a:solidFill>
                  <a:srgbClr val="A0A0A0"/>
                </a:solidFill>
                <a:ln w="4763">
                  <a:solidFill>
                    <a:srgbClr val="808080"/>
                  </a:solidFill>
                  <a:prstDash val="solid"/>
                  <a:round/>
                  <a:headEnd/>
                  <a:tailEnd/>
                </a:ln>
              </p:spPr>
              <p:txBody>
                <a:bodyPr/>
                <a:lstStyle/>
                <a:p>
                  <a:endParaRPr lang="zh-CN" altLang="en-US"/>
                </a:p>
              </p:txBody>
            </p:sp>
            <p:sp>
              <p:nvSpPr>
                <p:cNvPr id="153" name="Freeform 38"/>
                <p:cNvSpPr>
                  <a:spLocks/>
                </p:cNvSpPr>
                <p:nvPr/>
              </p:nvSpPr>
              <p:spPr bwMode="auto">
                <a:xfrm>
                  <a:off x="1658" y="3071"/>
                  <a:ext cx="303" cy="34"/>
                </a:xfrm>
                <a:custGeom>
                  <a:avLst/>
                  <a:gdLst>
                    <a:gd name="T0" fmla="*/ 0 w 1822"/>
                    <a:gd name="T1" fmla="*/ 0 h 170"/>
                    <a:gd name="T2" fmla="*/ 0 w 1822"/>
                    <a:gd name="T3" fmla="*/ 0 h 170"/>
                    <a:gd name="T4" fmla="*/ 0 w 1822"/>
                    <a:gd name="T5" fmla="*/ 0 h 170"/>
                    <a:gd name="T6" fmla="*/ 0 w 1822"/>
                    <a:gd name="T7" fmla="*/ 0 h 170"/>
                    <a:gd name="T8" fmla="*/ 0 w 1822"/>
                    <a:gd name="T9" fmla="*/ 0 h 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2" h="170">
                      <a:moveTo>
                        <a:pt x="569" y="170"/>
                      </a:moveTo>
                      <a:lnTo>
                        <a:pt x="1822" y="170"/>
                      </a:lnTo>
                      <a:lnTo>
                        <a:pt x="944" y="0"/>
                      </a:lnTo>
                      <a:lnTo>
                        <a:pt x="0" y="0"/>
                      </a:lnTo>
                      <a:lnTo>
                        <a:pt x="569" y="170"/>
                      </a:lnTo>
                      <a:close/>
                    </a:path>
                  </a:pathLst>
                </a:custGeom>
                <a:solidFill>
                  <a:srgbClr val="E0E0E0"/>
                </a:solidFill>
                <a:ln w="4763">
                  <a:solidFill>
                    <a:srgbClr val="808080"/>
                  </a:solidFill>
                  <a:prstDash val="solid"/>
                  <a:round/>
                  <a:headEnd/>
                  <a:tailEnd/>
                </a:ln>
              </p:spPr>
              <p:txBody>
                <a:bodyPr/>
                <a:lstStyle/>
                <a:p>
                  <a:endParaRPr lang="zh-CN" altLang="en-US"/>
                </a:p>
              </p:txBody>
            </p:sp>
            <p:sp>
              <p:nvSpPr>
                <p:cNvPr id="154" name="Rectangle 39"/>
                <p:cNvSpPr>
                  <a:spLocks noChangeArrowheads="1"/>
                </p:cNvSpPr>
                <p:nvPr/>
              </p:nvSpPr>
              <p:spPr bwMode="auto">
                <a:xfrm>
                  <a:off x="1763" y="3282"/>
                  <a:ext cx="197" cy="300"/>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55" name="Freeform 40"/>
                <p:cNvSpPr>
                  <a:spLocks/>
                </p:cNvSpPr>
                <p:nvPr/>
              </p:nvSpPr>
              <p:spPr bwMode="auto">
                <a:xfrm>
                  <a:off x="1765" y="3113"/>
                  <a:ext cx="212" cy="151"/>
                </a:xfrm>
                <a:custGeom>
                  <a:avLst/>
                  <a:gdLst>
                    <a:gd name="T0" fmla="*/ 0 w 1272"/>
                    <a:gd name="T1" fmla="*/ 0 h 753"/>
                    <a:gd name="T2" fmla="*/ 0 w 1272"/>
                    <a:gd name="T3" fmla="*/ 0 h 753"/>
                    <a:gd name="T4" fmla="*/ 0 w 1272"/>
                    <a:gd name="T5" fmla="*/ 0 h 753"/>
                    <a:gd name="T6" fmla="*/ 0 w 1272"/>
                    <a:gd name="T7" fmla="*/ 0 h 753"/>
                    <a:gd name="T8" fmla="*/ 0 w 1272"/>
                    <a:gd name="T9" fmla="*/ 0 h 7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72" h="753">
                      <a:moveTo>
                        <a:pt x="0" y="0"/>
                      </a:moveTo>
                      <a:lnTo>
                        <a:pt x="1214" y="0"/>
                      </a:lnTo>
                      <a:lnTo>
                        <a:pt x="1272" y="753"/>
                      </a:lnTo>
                      <a:lnTo>
                        <a:pt x="53" y="753"/>
                      </a:lnTo>
                      <a:lnTo>
                        <a:pt x="0" y="0"/>
                      </a:lnTo>
                      <a:close/>
                    </a:path>
                  </a:pathLst>
                </a:custGeom>
                <a:solidFill>
                  <a:srgbClr val="C0C0C0"/>
                </a:solidFill>
                <a:ln w="4763">
                  <a:solidFill>
                    <a:srgbClr val="808080"/>
                  </a:solidFill>
                  <a:prstDash val="solid"/>
                  <a:round/>
                  <a:headEnd/>
                  <a:tailEnd/>
                </a:ln>
              </p:spPr>
              <p:txBody>
                <a:bodyPr/>
                <a:lstStyle/>
                <a:p>
                  <a:endParaRPr lang="zh-CN" altLang="en-US"/>
                </a:p>
              </p:txBody>
            </p:sp>
            <p:sp>
              <p:nvSpPr>
                <p:cNvPr id="156" name="Freeform 41"/>
                <p:cNvSpPr>
                  <a:spLocks/>
                </p:cNvSpPr>
                <p:nvPr/>
              </p:nvSpPr>
              <p:spPr bwMode="auto">
                <a:xfrm>
                  <a:off x="1763" y="3263"/>
                  <a:ext cx="214" cy="18"/>
                </a:xfrm>
                <a:custGeom>
                  <a:avLst/>
                  <a:gdLst>
                    <a:gd name="T0" fmla="*/ 0 w 1287"/>
                    <a:gd name="T1" fmla="*/ 0 h 90"/>
                    <a:gd name="T2" fmla="*/ 0 w 1287"/>
                    <a:gd name="T3" fmla="*/ 0 h 90"/>
                    <a:gd name="T4" fmla="*/ 0 w 1287"/>
                    <a:gd name="T5" fmla="*/ 0 h 90"/>
                    <a:gd name="T6" fmla="*/ 0 w 1287"/>
                    <a:gd name="T7" fmla="*/ 0 h 90"/>
                    <a:gd name="T8" fmla="*/ 0 w 1287"/>
                    <a:gd name="T9" fmla="*/ 0 h 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7" h="90">
                      <a:moveTo>
                        <a:pt x="0" y="90"/>
                      </a:moveTo>
                      <a:lnTo>
                        <a:pt x="1188" y="90"/>
                      </a:lnTo>
                      <a:lnTo>
                        <a:pt x="1287" y="0"/>
                      </a:lnTo>
                      <a:lnTo>
                        <a:pt x="65" y="0"/>
                      </a:lnTo>
                      <a:lnTo>
                        <a:pt x="0" y="90"/>
                      </a:lnTo>
                      <a:close/>
                    </a:path>
                  </a:pathLst>
                </a:custGeom>
                <a:solidFill>
                  <a:srgbClr val="A0A0A0"/>
                </a:solidFill>
                <a:ln w="4763">
                  <a:solidFill>
                    <a:srgbClr val="808080"/>
                  </a:solidFill>
                  <a:prstDash val="solid"/>
                  <a:round/>
                  <a:headEnd/>
                  <a:tailEnd/>
                </a:ln>
              </p:spPr>
              <p:txBody>
                <a:bodyPr/>
                <a:lstStyle/>
                <a:p>
                  <a:endParaRPr lang="zh-CN" altLang="en-US"/>
                </a:p>
              </p:txBody>
            </p:sp>
          </p:grpSp>
          <p:grpSp>
            <p:nvGrpSpPr>
              <p:cNvPr id="111" name="Group 51"/>
              <p:cNvGrpSpPr>
                <a:grpSpLocks/>
              </p:cNvGrpSpPr>
              <p:nvPr/>
            </p:nvGrpSpPr>
            <p:grpSpPr bwMode="auto">
              <a:xfrm>
                <a:off x="1765" y="3105"/>
                <a:ext cx="60" cy="478"/>
                <a:chOff x="1765" y="3105"/>
                <a:chExt cx="60" cy="478"/>
              </a:xfrm>
            </p:grpSpPr>
            <p:sp>
              <p:nvSpPr>
                <p:cNvPr id="142" name="Freeform 43"/>
                <p:cNvSpPr>
                  <a:spLocks/>
                </p:cNvSpPr>
                <p:nvPr/>
              </p:nvSpPr>
              <p:spPr bwMode="auto">
                <a:xfrm>
                  <a:off x="1765" y="3105"/>
                  <a:ext cx="18" cy="477"/>
                </a:xfrm>
                <a:custGeom>
                  <a:avLst/>
                  <a:gdLst>
                    <a:gd name="T0" fmla="*/ 0 w 107"/>
                    <a:gd name="T1" fmla="*/ 0 h 2387"/>
                    <a:gd name="T2" fmla="*/ 0 w 107"/>
                    <a:gd name="T3" fmla="*/ 0 h 2387"/>
                    <a:gd name="T4" fmla="*/ 0 w 107"/>
                    <a:gd name="T5" fmla="*/ 0 h 2387"/>
                    <a:gd name="T6" fmla="*/ 0 w 107"/>
                    <a:gd name="T7" fmla="*/ 0 h 2387"/>
                    <a:gd name="T8" fmla="*/ 0 w 107"/>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2387">
                      <a:moveTo>
                        <a:pt x="0" y="0"/>
                      </a:moveTo>
                      <a:lnTo>
                        <a:pt x="55" y="40"/>
                      </a:lnTo>
                      <a:lnTo>
                        <a:pt x="107" y="801"/>
                      </a:lnTo>
                      <a:lnTo>
                        <a:pt x="53" y="888"/>
                      </a:lnTo>
                      <a:lnTo>
                        <a:pt x="51"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 name="Freeform 44"/>
                <p:cNvSpPr>
                  <a:spLocks/>
                </p:cNvSpPr>
                <p:nvPr/>
              </p:nvSpPr>
              <p:spPr bwMode="auto">
                <a:xfrm>
                  <a:off x="1772" y="3105"/>
                  <a:ext cx="17" cy="478"/>
                </a:xfrm>
                <a:custGeom>
                  <a:avLst/>
                  <a:gdLst>
                    <a:gd name="T0" fmla="*/ 0 w 100"/>
                    <a:gd name="T1" fmla="*/ 0 h 2387"/>
                    <a:gd name="T2" fmla="*/ 0 w 100"/>
                    <a:gd name="T3" fmla="*/ 0 h 2387"/>
                    <a:gd name="T4" fmla="*/ 0 w 100"/>
                    <a:gd name="T5" fmla="*/ 0 h 2387"/>
                    <a:gd name="T6" fmla="*/ 0 w 100"/>
                    <a:gd name="T7" fmla="*/ 0 h 2387"/>
                    <a:gd name="T8" fmla="*/ 0 w 100"/>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2387">
                      <a:moveTo>
                        <a:pt x="0" y="0"/>
                      </a:moveTo>
                      <a:lnTo>
                        <a:pt x="47" y="40"/>
                      </a:lnTo>
                      <a:lnTo>
                        <a:pt x="100" y="800"/>
                      </a:lnTo>
                      <a:lnTo>
                        <a:pt x="46" y="887"/>
                      </a:lnTo>
                      <a:lnTo>
                        <a:pt x="44"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 name="Freeform 45"/>
                <p:cNvSpPr>
                  <a:spLocks/>
                </p:cNvSpPr>
                <p:nvPr/>
              </p:nvSpPr>
              <p:spPr bwMode="auto">
                <a:xfrm>
                  <a:off x="1777" y="3105"/>
                  <a:ext cx="18" cy="477"/>
                </a:xfrm>
                <a:custGeom>
                  <a:avLst/>
                  <a:gdLst>
                    <a:gd name="T0" fmla="*/ 0 w 108"/>
                    <a:gd name="T1" fmla="*/ 0 h 2387"/>
                    <a:gd name="T2" fmla="*/ 0 w 108"/>
                    <a:gd name="T3" fmla="*/ 0 h 2387"/>
                    <a:gd name="T4" fmla="*/ 0 w 108"/>
                    <a:gd name="T5" fmla="*/ 0 h 2387"/>
                    <a:gd name="T6" fmla="*/ 0 w 108"/>
                    <a:gd name="T7" fmla="*/ 0 h 2387"/>
                    <a:gd name="T8" fmla="*/ 0 w 108"/>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2387">
                      <a:moveTo>
                        <a:pt x="0" y="0"/>
                      </a:moveTo>
                      <a:lnTo>
                        <a:pt x="53" y="40"/>
                      </a:lnTo>
                      <a:lnTo>
                        <a:pt x="108" y="795"/>
                      </a:lnTo>
                      <a:lnTo>
                        <a:pt x="49" y="880"/>
                      </a:lnTo>
                      <a:lnTo>
                        <a:pt x="49"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5" name="Freeform 46"/>
                <p:cNvSpPr>
                  <a:spLocks/>
                </p:cNvSpPr>
                <p:nvPr/>
              </p:nvSpPr>
              <p:spPr bwMode="auto">
                <a:xfrm>
                  <a:off x="1784" y="3105"/>
                  <a:ext cx="17" cy="477"/>
                </a:xfrm>
                <a:custGeom>
                  <a:avLst/>
                  <a:gdLst>
                    <a:gd name="T0" fmla="*/ 0 w 103"/>
                    <a:gd name="T1" fmla="*/ 0 h 2381"/>
                    <a:gd name="T2" fmla="*/ 0 w 103"/>
                    <a:gd name="T3" fmla="*/ 0 h 2381"/>
                    <a:gd name="T4" fmla="*/ 0 w 103"/>
                    <a:gd name="T5" fmla="*/ 0 h 2381"/>
                    <a:gd name="T6" fmla="*/ 0 w 103"/>
                    <a:gd name="T7" fmla="*/ 0 h 2381"/>
                    <a:gd name="T8" fmla="*/ 0 w 103"/>
                    <a:gd name="T9" fmla="*/ 0 h 2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2381">
                      <a:moveTo>
                        <a:pt x="0" y="0"/>
                      </a:moveTo>
                      <a:lnTo>
                        <a:pt x="50" y="35"/>
                      </a:lnTo>
                      <a:lnTo>
                        <a:pt x="103" y="795"/>
                      </a:lnTo>
                      <a:lnTo>
                        <a:pt x="48" y="881"/>
                      </a:lnTo>
                      <a:lnTo>
                        <a:pt x="46" y="2381"/>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6" name="Freeform 47"/>
                <p:cNvSpPr>
                  <a:spLocks/>
                </p:cNvSpPr>
                <p:nvPr/>
              </p:nvSpPr>
              <p:spPr bwMode="auto">
                <a:xfrm>
                  <a:off x="1790" y="3105"/>
                  <a:ext cx="17" cy="475"/>
                </a:xfrm>
                <a:custGeom>
                  <a:avLst/>
                  <a:gdLst>
                    <a:gd name="T0" fmla="*/ 0 w 101"/>
                    <a:gd name="T1" fmla="*/ 0 h 2379"/>
                    <a:gd name="T2" fmla="*/ 0 w 101"/>
                    <a:gd name="T3" fmla="*/ 0 h 2379"/>
                    <a:gd name="T4" fmla="*/ 0 w 101"/>
                    <a:gd name="T5" fmla="*/ 0 h 2379"/>
                    <a:gd name="T6" fmla="*/ 0 w 101"/>
                    <a:gd name="T7" fmla="*/ 0 h 2379"/>
                    <a:gd name="T8" fmla="*/ 0 w 101"/>
                    <a:gd name="T9" fmla="*/ 0 h 23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2379">
                      <a:moveTo>
                        <a:pt x="0" y="0"/>
                      </a:moveTo>
                      <a:lnTo>
                        <a:pt x="49" y="47"/>
                      </a:lnTo>
                      <a:lnTo>
                        <a:pt x="101" y="793"/>
                      </a:lnTo>
                      <a:lnTo>
                        <a:pt x="46" y="880"/>
                      </a:lnTo>
                      <a:lnTo>
                        <a:pt x="44" y="2379"/>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7" name="Freeform 48"/>
                <p:cNvSpPr>
                  <a:spLocks/>
                </p:cNvSpPr>
                <p:nvPr/>
              </p:nvSpPr>
              <p:spPr bwMode="auto">
                <a:xfrm>
                  <a:off x="1797" y="3105"/>
                  <a:ext cx="16" cy="476"/>
                </a:xfrm>
                <a:custGeom>
                  <a:avLst/>
                  <a:gdLst>
                    <a:gd name="T0" fmla="*/ 0 w 97"/>
                    <a:gd name="T1" fmla="*/ 0 h 2379"/>
                    <a:gd name="T2" fmla="*/ 0 w 97"/>
                    <a:gd name="T3" fmla="*/ 0 h 2379"/>
                    <a:gd name="T4" fmla="*/ 0 w 97"/>
                    <a:gd name="T5" fmla="*/ 0 h 2379"/>
                    <a:gd name="T6" fmla="*/ 0 w 97"/>
                    <a:gd name="T7" fmla="*/ 0 h 2379"/>
                    <a:gd name="T8" fmla="*/ 0 w 97"/>
                    <a:gd name="T9" fmla="*/ 0 h 23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2379">
                      <a:moveTo>
                        <a:pt x="0" y="0"/>
                      </a:moveTo>
                      <a:lnTo>
                        <a:pt x="44" y="40"/>
                      </a:lnTo>
                      <a:lnTo>
                        <a:pt x="97" y="793"/>
                      </a:lnTo>
                      <a:lnTo>
                        <a:pt x="42" y="879"/>
                      </a:lnTo>
                      <a:lnTo>
                        <a:pt x="40" y="2379"/>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8" name="Freeform 49"/>
                <p:cNvSpPr>
                  <a:spLocks/>
                </p:cNvSpPr>
                <p:nvPr/>
              </p:nvSpPr>
              <p:spPr bwMode="auto">
                <a:xfrm>
                  <a:off x="1803" y="3105"/>
                  <a:ext cx="16" cy="477"/>
                </a:xfrm>
                <a:custGeom>
                  <a:avLst/>
                  <a:gdLst>
                    <a:gd name="T0" fmla="*/ 0 w 98"/>
                    <a:gd name="T1" fmla="*/ 0 h 2385"/>
                    <a:gd name="T2" fmla="*/ 0 w 98"/>
                    <a:gd name="T3" fmla="*/ 0 h 2385"/>
                    <a:gd name="T4" fmla="*/ 0 w 98"/>
                    <a:gd name="T5" fmla="*/ 0 h 2385"/>
                    <a:gd name="T6" fmla="*/ 0 w 98"/>
                    <a:gd name="T7" fmla="*/ 0 h 2385"/>
                    <a:gd name="T8" fmla="*/ 0 w 98"/>
                    <a:gd name="T9" fmla="*/ 0 h 2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2385">
                      <a:moveTo>
                        <a:pt x="0" y="0"/>
                      </a:moveTo>
                      <a:lnTo>
                        <a:pt x="43" y="43"/>
                      </a:lnTo>
                      <a:lnTo>
                        <a:pt x="98" y="785"/>
                      </a:lnTo>
                      <a:lnTo>
                        <a:pt x="40" y="878"/>
                      </a:lnTo>
                      <a:lnTo>
                        <a:pt x="40" y="2385"/>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9" name="Freeform 50"/>
                <p:cNvSpPr>
                  <a:spLocks/>
                </p:cNvSpPr>
                <p:nvPr/>
              </p:nvSpPr>
              <p:spPr bwMode="auto">
                <a:xfrm>
                  <a:off x="1809" y="3105"/>
                  <a:ext cx="16" cy="475"/>
                </a:xfrm>
                <a:custGeom>
                  <a:avLst/>
                  <a:gdLst>
                    <a:gd name="T0" fmla="*/ 0 w 97"/>
                    <a:gd name="T1" fmla="*/ 0 h 2373"/>
                    <a:gd name="T2" fmla="*/ 0 w 97"/>
                    <a:gd name="T3" fmla="*/ 0 h 2373"/>
                    <a:gd name="T4" fmla="*/ 0 w 97"/>
                    <a:gd name="T5" fmla="*/ 0 h 2373"/>
                    <a:gd name="T6" fmla="*/ 0 w 97"/>
                    <a:gd name="T7" fmla="*/ 0 h 2373"/>
                    <a:gd name="T8" fmla="*/ 0 w 97"/>
                    <a:gd name="T9" fmla="*/ 0 h 23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2373">
                      <a:moveTo>
                        <a:pt x="0" y="0"/>
                      </a:moveTo>
                      <a:lnTo>
                        <a:pt x="45" y="40"/>
                      </a:lnTo>
                      <a:lnTo>
                        <a:pt x="97" y="787"/>
                      </a:lnTo>
                      <a:lnTo>
                        <a:pt x="44" y="874"/>
                      </a:lnTo>
                      <a:lnTo>
                        <a:pt x="41" y="2373"/>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12" name="Rectangle 52"/>
              <p:cNvSpPr>
                <a:spLocks noChangeArrowheads="1"/>
              </p:cNvSpPr>
              <p:nvPr/>
            </p:nvSpPr>
            <p:spPr bwMode="auto">
              <a:xfrm>
                <a:off x="1823" y="3321"/>
                <a:ext cx="130" cy="237"/>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3" name="Rectangle 53"/>
              <p:cNvSpPr>
                <a:spLocks noChangeArrowheads="1"/>
              </p:cNvSpPr>
              <p:nvPr/>
            </p:nvSpPr>
            <p:spPr bwMode="auto">
              <a:xfrm>
                <a:off x="1823" y="3367"/>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4" name="Rectangle 54"/>
              <p:cNvSpPr>
                <a:spLocks noChangeArrowheads="1"/>
              </p:cNvSpPr>
              <p:nvPr/>
            </p:nvSpPr>
            <p:spPr bwMode="auto">
              <a:xfrm>
                <a:off x="1823" y="3414"/>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5" name="Rectangle 55"/>
              <p:cNvSpPr>
                <a:spLocks noChangeArrowheads="1"/>
              </p:cNvSpPr>
              <p:nvPr/>
            </p:nvSpPr>
            <p:spPr bwMode="auto">
              <a:xfrm>
                <a:off x="1823" y="3460"/>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6" name="Rectangle 56"/>
              <p:cNvSpPr>
                <a:spLocks noChangeArrowheads="1"/>
              </p:cNvSpPr>
              <p:nvPr/>
            </p:nvSpPr>
            <p:spPr bwMode="auto">
              <a:xfrm>
                <a:off x="1846" y="3375"/>
                <a:ext cx="84" cy="30"/>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7" name="Rectangle 57"/>
              <p:cNvSpPr>
                <a:spLocks noChangeArrowheads="1"/>
              </p:cNvSpPr>
              <p:nvPr/>
            </p:nvSpPr>
            <p:spPr bwMode="auto">
              <a:xfrm>
                <a:off x="1846" y="3423"/>
                <a:ext cx="84" cy="29"/>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18" name="Freeform 58"/>
              <p:cNvSpPr>
                <a:spLocks/>
              </p:cNvSpPr>
              <p:nvPr/>
            </p:nvSpPr>
            <p:spPr bwMode="auto">
              <a:xfrm>
                <a:off x="1904" y="3326"/>
                <a:ext cx="5" cy="30"/>
              </a:xfrm>
              <a:custGeom>
                <a:avLst/>
                <a:gdLst>
                  <a:gd name="T0" fmla="*/ 0 w 34"/>
                  <a:gd name="T1" fmla="*/ 0 h 152"/>
                  <a:gd name="T2" fmla="*/ 0 w 34"/>
                  <a:gd name="T3" fmla="*/ 0 h 152"/>
                  <a:gd name="T4" fmla="*/ 0 w 34"/>
                  <a:gd name="T5" fmla="*/ 0 h 152"/>
                  <a:gd name="T6" fmla="*/ 0 w 34"/>
                  <a:gd name="T7" fmla="*/ 0 h 1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 h="152">
                    <a:moveTo>
                      <a:pt x="34" y="0"/>
                    </a:moveTo>
                    <a:lnTo>
                      <a:pt x="34" y="152"/>
                    </a:lnTo>
                    <a:lnTo>
                      <a:pt x="0" y="66"/>
                    </a:lnTo>
                    <a:lnTo>
                      <a:pt x="34"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19" name="Group 71"/>
              <p:cNvGrpSpPr>
                <a:grpSpLocks/>
              </p:cNvGrpSpPr>
              <p:nvPr/>
            </p:nvGrpSpPr>
            <p:grpSpPr bwMode="auto">
              <a:xfrm>
                <a:off x="1823" y="3321"/>
                <a:ext cx="130" cy="47"/>
                <a:chOff x="1823" y="3321"/>
                <a:chExt cx="130" cy="47"/>
              </a:xfrm>
            </p:grpSpPr>
            <p:sp>
              <p:nvSpPr>
                <p:cNvPr id="130" name="Rectangle 59"/>
                <p:cNvSpPr>
                  <a:spLocks noChangeArrowheads="1"/>
                </p:cNvSpPr>
                <p:nvPr/>
              </p:nvSpPr>
              <p:spPr bwMode="auto">
                <a:xfrm>
                  <a:off x="1823" y="3321"/>
                  <a:ext cx="130" cy="47"/>
                </a:xfrm>
                <a:prstGeom prst="rect">
                  <a:avLst/>
                </a:prstGeom>
                <a:solidFill>
                  <a:srgbClr val="A0A0A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31" name="Rectangle 60"/>
                <p:cNvSpPr>
                  <a:spLocks noChangeArrowheads="1"/>
                </p:cNvSpPr>
                <p:nvPr/>
              </p:nvSpPr>
              <p:spPr bwMode="auto">
                <a:xfrm>
                  <a:off x="1836" y="3327"/>
                  <a:ext cx="10" cy="6"/>
                </a:xfrm>
                <a:prstGeom prst="rect">
                  <a:avLst/>
                </a:prstGeom>
                <a:solidFill>
                  <a:srgbClr val="60606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nvGrpSpPr>
                <p:cNvPr id="132" name="Group 70"/>
                <p:cNvGrpSpPr>
                  <a:grpSpLocks/>
                </p:cNvGrpSpPr>
                <p:nvPr/>
              </p:nvGrpSpPr>
              <p:grpSpPr bwMode="auto">
                <a:xfrm>
                  <a:off x="1832" y="3324"/>
                  <a:ext cx="114" cy="37"/>
                  <a:chOff x="1832" y="3324"/>
                  <a:chExt cx="114" cy="37"/>
                </a:xfrm>
              </p:grpSpPr>
              <p:sp>
                <p:nvSpPr>
                  <p:cNvPr id="133" name="Freeform 61"/>
                  <p:cNvSpPr>
                    <a:spLocks/>
                  </p:cNvSpPr>
                  <p:nvPr/>
                </p:nvSpPr>
                <p:spPr bwMode="auto">
                  <a:xfrm>
                    <a:off x="1883" y="3326"/>
                    <a:ext cx="26" cy="13"/>
                  </a:xfrm>
                  <a:custGeom>
                    <a:avLst/>
                    <a:gdLst>
                      <a:gd name="T0" fmla="*/ 0 w 160"/>
                      <a:gd name="T1" fmla="*/ 0 h 69"/>
                      <a:gd name="T2" fmla="*/ 0 w 160"/>
                      <a:gd name="T3" fmla="*/ 0 h 69"/>
                      <a:gd name="T4" fmla="*/ 0 w 160"/>
                      <a:gd name="T5" fmla="*/ 0 h 69"/>
                      <a:gd name="T6" fmla="*/ 0 w 160"/>
                      <a:gd name="T7" fmla="*/ 0 h 69"/>
                      <a:gd name="T8" fmla="*/ 0 w 16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69">
                        <a:moveTo>
                          <a:pt x="160" y="0"/>
                        </a:moveTo>
                        <a:lnTo>
                          <a:pt x="11" y="0"/>
                        </a:lnTo>
                        <a:lnTo>
                          <a:pt x="0" y="69"/>
                        </a:lnTo>
                        <a:lnTo>
                          <a:pt x="142" y="67"/>
                        </a:lnTo>
                        <a:lnTo>
                          <a:pt x="16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4" name="Freeform 62"/>
                  <p:cNvSpPr>
                    <a:spLocks/>
                  </p:cNvSpPr>
                  <p:nvPr/>
                </p:nvSpPr>
                <p:spPr bwMode="auto">
                  <a:xfrm>
                    <a:off x="1883" y="3343"/>
                    <a:ext cx="60" cy="14"/>
                  </a:xfrm>
                  <a:custGeom>
                    <a:avLst/>
                    <a:gdLst>
                      <a:gd name="T0" fmla="*/ 0 w 359"/>
                      <a:gd name="T1" fmla="*/ 0 h 67"/>
                      <a:gd name="T2" fmla="*/ 0 w 359"/>
                      <a:gd name="T3" fmla="*/ 0 h 67"/>
                      <a:gd name="T4" fmla="*/ 0 w 359"/>
                      <a:gd name="T5" fmla="*/ 0 h 67"/>
                      <a:gd name="T6" fmla="*/ 0 w 359"/>
                      <a:gd name="T7" fmla="*/ 0 h 67"/>
                      <a:gd name="T8" fmla="*/ 0 w 359"/>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 h="67">
                        <a:moveTo>
                          <a:pt x="359" y="67"/>
                        </a:moveTo>
                        <a:lnTo>
                          <a:pt x="11" y="67"/>
                        </a:lnTo>
                        <a:lnTo>
                          <a:pt x="0" y="0"/>
                        </a:lnTo>
                        <a:lnTo>
                          <a:pt x="341" y="0"/>
                        </a:lnTo>
                        <a:lnTo>
                          <a:pt x="359" y="6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5" name="Freeform 63"/>
                  <p:cNvSpPr>
                    <a:spLocks/>
                  </p:cNvSpPr>
                  <p:nvPr/>
                </p:nvSpPr>
                <p:spPr bwMode="auto">
                  <a:xfrm>
                    <a:off x="1908" y="3332"/>
                    <a:ext cx="35" cy="7"/>
                  </a:xfrm>
                  <a:custGeom>
                    <a:avLst/>
                    <a:gdLst>
                      <a:gd name="T0" fmla="*/ 0 w 209"/>
                      <a:gd name="T1" fmla="*/ 0 h 36"/>
                      <a:gd name="T2" fmla="*/ 0 w 209"/>
                      <a:gd name="T3" fmla="*/ 0 h 36"/>
                      <a:gd name="T4" fmla="*/ 0 w 209"/>
                      <a:gd name="T5" fmla="*/ 0 h 36"/>
                      <a:gd name="T6" fmla="*/ 0 w 209"/>
                      <a:gd name="T7" fmla="*/ 0 h 36"/>
                      <a:gd name="T8" fmla="*/ 0 w 2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36">
                        <a:moveTo>
                          <a:pt x="209" y="0"/>
                        </a:moveTo>
                        <a:lnTo>
                          <a:pt x="8" y="0"/>
                        </a:lnTo>
                        <a:lnTo>
                          <a:pt x="0" y="36"/>
                        </a:lnTo>
                        <a:lnTo>
                          <a:pt x="191" y="36"/>
                        </a:lnTo>
                        <a:lnTo>
                          <a:pt x="20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6" name="Freeform 64"/>
                  <p:cNvSpPr>
                    <a:spLocks/>
                  </p:cNvSpPr>
                  <p:nvPr/>
                </p:nvSpPr>
                <p:spPr bwMode="auto">
                  <a:xfrm>
                    <a:off x="1939" y="3331"/>
                    <a:ext cx="4" cy="25"/>
                  </a:xfrm>
                  <a:custGeom>
                    <a:avLst/>
                    <a:gdLst>
                      <a:gd name="T0" fmla="*/ 0 w 21"/>
                      <a:gd name="T1" fmla="*/ 0 h 123"/>
                      <a:gd name="T2" fmla="*/ 0 w 21"/>
                      <a:gd name="T3" fmla="*/ 0 h 123"/>
                      <a:gd name="T4" fmla="*/ 0 w 21"/>
                      <a:gd name="T5" fmla="*/ 0 h 123"/>
                      <a:gd name="T6" fmla="*/ 0 w 21"/>
                      <a:gd name="T7" fmla="*/ 0 h 1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123">
                        <a:moveTo>
                          <a:pt x="21" y="0"/>
                        </a:moveTo>
                        <a:lnTo>
                          <a:pt x="21" y="123"/>
                        </a:lnTo>
                        <a:lnTo>
                          <a:pt x="0" y="41"/>
                        </a:lnTo>
                        <a:lnTo>
                          <a:pt x="21"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7" name="Oval 65"/>
                  <p:cNvSpPr>
                    <a:spLocks noChangeArrowheads="1"/>
                  </p:cNvSpPr>
                  <p:nvPr/>
                </p:nvSpPr>
                <p:spPr bwMode="auto">
                  <a:xfrm>
                    <a:off x="1910" y="3345"/>
                    <a:ext cx="10" cy="9"/>
                  </a:xfrm>
                  <a:prstGeom prst="ellipse">
                    <a:avLst/>
                  </a:prstGeom>
                  <a:solidFill>
                    <a:srgbClr val="C0C0C0"/>
                  </a:solidFill>
                  <a:ln w="3175">
                    <a:solidFill>
                      <a:srgbClr val="80808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38" name="Rectangle 66"/>
                  <p:cNvSpPr>
                    <a:spLocks noChangeArrowheads="1"/>
                  </p:cNvSpPr>
                  <p:nvPr/>
                </p:nvSpPr>
                <p:spPr bwMode="auto">
                  <a:xfrm>
                    <a:off x="1832" y="3339"/>
                    <a:ext cx="114" cy="4"/>
                  </a:xfrm>
                  <a:prstGeom prst="rect">
                    <a:avLst/>
                  </a:prstGeom>
                  <a:solidFill>
                    <a:srgbClr val="60606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nvGrpSpPr>
                  <p:cNvPr id="139" name="Group 69"/>
                  <p:cNvGrpSpPr>
                    <a:grpSpLocks/>
                  </p:cNvGrpSpPr>
                  <p:nvPr/>
                </p:nvGrpSpPr>
                <p:grpSpPr bwMode="auto">
                  <a:xfrm>
                    <a:off x="1907" y="3324"/>
                    <a:ext cx="12" cy="37"/>
                    <a:chOff x="1907" y="3324"/>
                    <a:chExt cx="12" cy="37"/>
                  </a:xfrm>
                </p:grpSpPr>
                <p:sp>
                  <p:nvSpPr>
                    <p:cNvPr id="140" name="Freeform 67"/>
                    <p:cNvSpPr>
                      <a:spLocks/>
                    </p:cNvSpPr>
                    <p:nvPr/>
                  </p:nvSpPr>
                  <p:spPr bwMode="auto">
                    <a:xfrm>
                      <a:off x="1907" y="3324"/>
                      <a:ext cx="11" cy="37"/>
                    </a:xfrm>
                    <a:custGeom>
                      <a:avLst/>
                      <a:gdLst>
                        <a:gd name="T0" fmla="*/ 0 w 69"/>
                        <a:gd name="T1" fmla="*/ 0 h 183"/>
                        <a:gd name="T2" fmla="*/ 0 w 69"/>
                        <a:gd name="T3" fmla="*/ 0 h 183"/>
                        <a:gd name="T4" fmla="*/ 0 w 69"/>
                        <a:gd name="T5" fmla="*/ 0 h 183"/>
                        <a:gd name="T6" fmla="*/ 0 w 69"/>
                        <a:gd name="T7" fmla="*/ 0 h 183"/>
                        <a:gd name="T8" fmla="*/ 0 w 69"/>
                        <a:gd name="T9" fmla="*/ 0 h 183"/>
                        <a:gd name="T10" fmla="*/ 0 w 69"/>
                        <a:gd name="T11" fmla="*/ 0 h 183"/>
                        <a:gd name="T12" fmla="*/ 0 w 69"/>
                        <a:gd name="T13" fmla="*/ 0 h 183"/>
                        <a:gd name="T14" fmla="*/ 0 w 69"/>
                        <a:gd name="T15" fmla="*/ 0 h 183"/>
                        <a:gd name="T16" fmla="*/ 0 w 69"/>
                        <a:gd name="T17" fmla="*/ 0 h 183"/>
                        <a:gd name="T18" fmla="*/ 0 w 69"/>
                        <a:gd name="T19" fmla="*/ 0 h 183"/>
                        <a:gd name="T20" fmla="*/ 0 w 69"/>
                        <a:gd name="T21" fmla="*/ 0 h 183"/>
                        <a:gd name="T22" fmla="*/ 0 w 69"/>
                        <a:gd name="T23" fmla="*/ 0 h 1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183">
                          <a:moveTo>
                            <a:pt x="56" y="2"/>
                          </a:moveTo>
                          <a:lnTo>
                            <a:pt x="31" y="0"/>
                          </a:lnTo>
                          <a:lnTo>
                            <a:pt x="14" y="10"/>
                          </a:lnTo>
                          <a:lnTo>
                            <a:pt x="8" y="32"/>
                          </a:lnTo>
                          <a:lnTo>
                            <a:pt x="0" y="73"/>
                          </a:lnTo>
                          <a:lnTo>
                            <a:pt x="17" y="181"/>
                          </a:lnTo>
                          <a:lnTo>
                            <a:pt x="31" y="183"/>
                          </a:lnTo>
                          <a:lnTo>
                            <a:pt x="31" y="88"/>
                          </a:lnTo>
                          <a:lnTo>
                            <a:pt x="61" y="48"/>
                          </a:lnTo>
                          <a:lnTo>
                            <a:pt x="69" y="29"/>
                          </a:lnTo>
                          <a:lnTo>
                            <a:pt x="68" y="12"/>
                          </a:lnTo>
                          <a:lnTo>
                            <a:pt x="56" y="2"/>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1" name="Freeform 68"/>
                    <p:cNvSpPr>
                      <a:spLocks/>
                    </p:cNvSpPr>
                    <p:nvPr/>
                  </p:nvSpPr>
                  <p:spPr bwMode="auto">
                    <a:xfrm>
                      <a:off x="1908" y="3324"/>
                      <a:ext cx="11" cy="36"/>
                    </a:xfrm>
                    <a:custGeom>
                      <a:avLst/>
                      <a:gdLst>
                        <a:gd name="T0" fmla="*/ 0 w 70"/>
                        <a:gd name="T1" fmla="*/ 0 h 183"/>
                        <a:gd name="T2" fmla="*/ 0 w 70"/>
                        <a:gd name="T3" fmla="*/ 0 h 183"/>
                        <a:gd name="T4" fmla="*/ 0 w 70"/>
                        <a:gd name="T5" fmla="*/ 0 h 183"/>
                        <a:gd name="T6" fmla="*/ 0 w 70"/>
                        <a:gd name="T7" fmla="*/ 0 h 183"/>
                        <a:gd name="T8" fmla="*/ 0 w 70"/>
                        <a:gd name="T9" fmla="*/ 0 h 183"/>
                        <a:gd name="T10" fmla="*/ 0 w 70"/>
                        <a:gd name="T11" fmla="*/ 0 h 183"/>
                        <a:gd name="T12" fmla="*/ 0 w 70"/>
                        <a:gd name="T13" fmla="*/ 0 h 183"/>
                        <a:gd name="T14" fmla="*/ 0 w 70"/>
                        <a:gd name="T15" fmla="*/ 0 h 183"/>
                        <a:gd name="T16" fmla="*/ 0 w 70"/>
                        <a:gd name="T17" fmla="*/ 0 h 183"/>
                        <a:gd name="T18" fmla="*/ 0 w 70"/>
                        <a:gd name="T19" fmla="*/ 0 h 183"/>
                        <a:gd name="T20" fmla="*/ 0 w 70"/>
                        <a:gd name="T21" fmla="*/ 0 h 183"/>
                        <a:gd name="T22" fmla="*/ 0 w 70"/>
                        <a:gd name="T23" fmla="*/ 0 h 1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0" h="183">
                          <a:moveTo>
                            <a:pt x="55" y="2"/>
                          </a:moveTo>
                          <a:lnTo>
                            <a:pt x="30" y="0"/>
                          </a:lnTo>
                          <a:lnTo>
                            <a:pt x="14" y="10"/>
                          </a:lnTo>
                          <a:lnTo>
                            <a:pt x="8" y="31"/>
                          </a:lnTo>
                          <a:lnTo>
                            <a:pt x="0" y="72"/>
                          </a:lnTo>
                          <a:lnTo>
                            <a:pt x="18" y="181"/>
                          </a:lnTo>
                          <a:lnTo>
                            <a:pt x="30" y="183"/>
                          </a:lnTo>
                          <a:lnTo>
                            <a:pt x="30" y="88"/>
                          </a:lnTo>
                          <a:lnTo>
                            <a:pt x="62" y="48"/>
                          </a:lnTo>
                          <a:lnTo>
                            <a:pt x="70" y="29"/>
                          </a:lnTo>
                          <a:lnTo>
                            <a:pt x="68" y="12"/>
                          </a:lnTo>
                          <a:lnTo>
                            <a:pt x="55" y="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sp>
            <p:nvSpPr>
              <p:cNvPr id="120" name="Rectangle 72"/>
              <p:cNvSpPr>
                <a:spLocks noChangeArrowheads="1"/>
              </p:cNvSpPr>
              <p:nvPr/>
            </p:nvSpPr>
            <p:spPr bwMode="auto">
              <a:xfrm>
                <a:off x="1850" y="3384"/>
                <a:ext cx="76" cy="4"/>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21" name="Freeform 73"/>
              <p:cNvSpPr>
                <a:spLocks/>
              </p:cNvSpPr>
              <p:nvPr/>
            </p:nvSpPr>
            <p:spPr bwMode="auto">
              <a:xfrm>
                <a:off x="1873" y="3393"/>
                <a:ext cx="33" cy="8"/>
              </a:xfrm>
              <a:custGeom>
                <a:avLst/>
                <a:gdLst>
                  <a:gd name="T0" fmla="*/ 0 w 200"/>
                  <a:gd name="T1" fmla="*/ 0 h 36"/>
                  <a:gd name="T2" fmla="*/ 0 w 200"/>
                  <a:gd name="T3" fmla="*/ 0 h 36"/>
                  <a:gd name="T4" fmla="*/ 0 w 200"/>
                  <a:gd name="T5" fmla="*/ 0 h 36"/>
                  <a:gd name="T6" fmla="*/ 0 w 200"/>
                  <a:gd name="T7" fmla="*/ 0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 h="36">
                    <a:moveTo>
                      <a:pt x="5" y="36"/>
                    </a:moveTo>
                    <a:lnTo>
                      <a:pt x="0" y="0"/>
                    </a:lnTo>
                    <a:lnTo>
                      <a:pt x="194" y="0"/>
                    </a:lnTo>
                    <a:lnTo>
                      <a:pt x="200" y="35"/>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2" name="Freeform 74"/>
              <p:cNvSpPr>
                <a:spLocks/>
              </p:cNvSpPr>
              <p:nvPr/>
            </p:nvSpPr>
            <p:spPr bwMode="auto">
              <a:xfrm>
                <a:off x="1783" y="3136"/>
                <a:ext cx="29" cy="36"/>
              </a:xfrm>
              <a:custGeom>
                <a:avLst/>
                <a:gdLst>
                  <a:gd name="T0" fmla="*/ 0 w 177"/>
                  <a:gd name="T1" fmla="*/ 0 h 180"/>
                  <a:gd name="T2" fmla="*/ 0 w 177"/>
                  <a:gd name="T3" fmla="*/ 0 h 180"/>
                  <a:gd name="T4" fmla="*/ 0 w 177"/>
                  <a:gd name="T5" fmla="*/ 0 h 180"/>
                  <a:gd name="T6" fmla="*/ 0 w 177"/>
                  <a:gd name="T7" fmla="*/ 0 h 180"/>
                  <a:gd name="T8" fmla="*/ 0 w 177"/>
                  <a:gd name="T9" fmla="*/ 0 h 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7" h="180">
                    <a:moveTo>
                      <a:pt x="163" y="0"/>
                    </a:moveTo>
                    <a:lnTo>
                      <a:pt x="0" y="0"/>
                    </a:lnTo>
                    <a:lnTo>
                      <a:pt x="12" y="180"/>
                    </a:lnTo>
                    <a:lnTo>
                      <a:pt x="177" y="180"/>
                    </a:lnTo>
                    <a:lnTo>
                      <a:pt x="163" y="0"/>
                    </a:lnTo>
                    <a:close/>
                  </a:path>
                </a:pathLst>
              </a:custGeom>
              <a:solidFill>
                <a:srgbClr val="C0C0C0"/>
              </a:solidFill>
              <a:ln w="4763">
                <a:solidFill>
                  <a:srgbClr val="808080"/>
                </a:solidFill>
                <a:prstDash val="solid"/>
                <a:round/>
                <a:headEnd/>
                <a:tailEnd/>
              </a:ln>
            </p:spPr>
            <p:txBody>
              <a:bodyPr/>
              <a:lstStyle/>
              <a:p>
                <a:endParaRPr lang="zh-CN" altLang="en-US"/>
              </a:p>
            </p:txBody>
          </p:sp>
          <p:sp>
            <p:nvSpPr>
              <p:cNvPr id="123" name="Freeform 75"/>
              <p:cNvSpPr>
                <a:spLocks/>
              </p:cNvSpPr>
              <p:nvPr/>
            </p:nvSpPr>
            <p:spPr bwMode="auto">
              <a:xfrm>
                <a:off x="1786" y="3197"/>
                <a:ext cx="31" cy="37"/>
              </a:xfrm>
              <a:custGeom>
                <a:avLst/>
                <a:gdLst>
                  <a:gd name="T0" fmla="*/ 0 w 183"/>
                  <a:gd name="T1" fmla="*/ 0 h 182"/>
                  <a:gd name="T2" fmla="*/ 0 w 183"/>
                  <a:gd name="T3" fmla="*/ 0 h 182"/>
                  <a:gd name="T4" fmla="*/ 0 w 183"/>
                  <a:gd name="T5" fmla="*/ 0 h 182"/>
                  <a:gd name="T6" fmla="*/ 0 w 183"/>
                  <a:gd name="T7" fmla="*/ 0 h 182"/>
                  <a:gd name="T8" fmla="*/ 0 w 183"/>
                  <a:gd name="T9" fmla="*/ 0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2">
                    <a:moveTo>
                      <a:pt x="170" y="0"/>
                    </a:moveTo>
                    <a:lnTo>
                      <a:pt x="0" y="0"/>
                    </a:lnTo>
                    <a:lnTo>
                      <a:pt x="12" y="182"/>
                    </a:lnTo>
                    <a:lnTo>
                      <a:pt x="183" y="181"/>
                    </a:lnTo>
                    <a:lnTo>
                      <a:pt x="170" y="0"/>
                    </a:lnTo>
                    <a:close/>
                  </a:path>
                </a:pathLst>
              </a:custGeom>
              <a:solidFill>
                <a:srgbClr val="C0C0C0"/>
              </a:solidFill>
              <a:ln w="4763">
                <a:solidFill>
                  <a:srgbClr val="808080"/>
                </a:solidFill>
                <a:prstDash val="solid"/>
                <a:round/>
                <a:headEnd/>
                <a:tailEnd/>
              </a:ln>
            </p:spPr>
            <p:txBody>
              <a:bodyPr/>
              <a:lstStyle/>
              <a:p>
                <a:endParaRPr lang="zh-CN" altLang="en-US"/>
              </a:p>
            </p:txBody>
          </p:sp>
          <p:grpSp>
            <p:nvGrpSpPr>
              <p:cNvPr id="124" name="Group 81"/>
              <p:cNvGrpSpPr>
                <a:grpSpLocks/>
              </p:cNvGrpSpPr>
              <p:nvPr/>
            </p:nvGrpSpPr>
            <p:grpSpPr bwMode="auto">
              <a:xfrm>
                <a:off x="1830" y="3194"/>
                <a:ext cx="130" cy="39"/>
                <a:chOff x="1830" y="3194"/>
                <a:chExt cx="130" cy="39"/>
              </a:xfrm>
            </p:grpSpPr>
            <p:sp>
              <p:nvSpPr>
                <p:cNvPr id="125" name="Rectangle 76"/>
                <p:cNvSpPr>
                  <a:spLocks noChangeArrowheads="1"/>
                </p:cNvSpPr>
                <p:nvPr/>
              </p:nvSpPr>
              <p:spPr bwMode="auto">
                <a:xfrm>
                  <a:off x="1830" y="3194"/>
                  <a:ext cx="130" cy="39"/>
                </a:xfrm>
                <a:prstGeom prst="rect">
                  <a:avLst/>
                </a:prstGeom>
                <a:solidFill>
                  <a:srgbClr val="60606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26" name="Rectangle 77"/>
                <p:cNvSpPr>
                  <a:spLocks noChangeArrowheads="1"/>
                </p:cNvSpPr>
                <p:nvPr/>
              </p:nvSpPr>
              <p:spPr bwMode="auto">
                <a:xfrm>
                  <a:off x="1854" y="3200"/>
                  <a:ext cx="16" cy="1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27" name="Rectangle 78"/>
                <p:cNvSpPr>
                  <a:spLocks noChangeArrowheads="1"/>
                </p:cNvSpPr>
                <p:nvPr/>
              </p:nvSpPr>
              <p:spPr bwMode="auto">
                <a:xfrm>
                  <a:off x="1854" y="3216"/>
                  <a:ext cx="16" cy="1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28" name="Rectangle 79"/>
                <p:cNvSpPr>
                  <a:spLocks noChangeArrowheads="1"/>
                </p:cNvSpPr>
                <p:nvPr/>
              </p:nvSpPr>
              <p:spPr bwMode="auto">
                <a:xfrm>
                  <a:off x="1885" y="3207"/>
                  <a:ext cx="16" cy="13"/>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29" name="Oval 80"/>
                <p:cNvSpPr>
                  <a:spLocks noChangeArrowheads="1"/>
                </p:cNvSpPr>
                <p:nvPr/>
              </p:nvSpPr>
              <p:spPr bwMode="auto">
                <a:xfrm>
                  <a:off x="1838" y="3208"/>
                  <a:ext cx="11" cy="15"/>
                </a:xfrm>
                <a:prstGeom prst="ellipse">
                  <a:avLst/>
                </a:pr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grpSp>
      </p:grpSp>
      <p:grpSp>
        <p:nvGrpSpPr>
          <p:cNvPr id="157" name="Group 4"/>
          <p:cNvGrpSpPr>
            <a:grpSpLocks/>
          </p:cNvGrpSpPr>
          <p:nvPr/>
        </p:nvGrpSpPr>
        <p:grpSpPr bwMode="auto">
          <a:xfrm>
            <a:off x="7960906" y="649327"/>
            <a:ext cx="701675" cy="590550"/>
            <a:chOff x="1922" y="426"/>
            <a:chExt cx="442" cy="372"/>
          </a:xfrm>
        </p:grpSpPr>
        <p:sp>
          <p:nvSpPr>
            <p:cNvPr id="158" name="Text Box 5"/>
            <p:cNvSpPr txBox="1">
              <a:spLocks noChangeArrowheads="1"/>
            </p:cNvSpPr>
            <p:nvPr/>
          </p:nvSpPr>
          <p:spPr bwMode="auto">
            <a:xfrm rot="-1312523">
              <a:off x="1922" y="426"/>
              <a:ext cx="29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7620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7620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7620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7620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defTabSz="7620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7620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kumimoji="1" lang="en-US" altLang="zh-CN" sz="3200">
                  <a:latin typeface="Times New Roman" panose="02020603050405020304" pitchFamily="18" charset="0"/>
                  <a:ea typeface="宋体" panose="02010600030101010101" pitchFamily="2" charset="-122"/>
                  <a:sym typeface="Webdings" panose="05030102010509060703" pitchFamily="18" charset="2"/>
                </a:rPr>
                <a:t></a:t>
              </a:r>
              <a:r>
                <a:rPr kumimoji="1" lang="en-US" altLang="zh-CN" sz="3200">
                  <a:latin typeface="Times New Roman" panose="02020603050405020304" pitchFamily="18" charset="0"/>
                  <a:ea typeface="宋体" panose="02010600030101010101" pitchFamily="2" charset="-122"/>
                </a:rPr>
                <a:t> </a:t>
              </a:r>
            </a:p>
          </p:txBody>
        </p:sp>
        <p:sp>
          <p:nvSpPr>
            <p:cNvPr id="159" name="Freeform 6"/>
            <p:cNvSpPr>
              <a:spLocks/>
            </p:cNvSpPr>
            <p:nvPr/>
          </p:nvSpPr>
          <p:spPr bwMode="auto">
            <a:xfrm>
              <a:off x="2079" y="688"/>
              <a:ext cx="48" cy="58"/>
            </a:xfrm>
            <a:custGeom>
              <a:avLst/>
              <a:gdLst>
                <a:gd name="T0" fmla="*/ 1 w 69"/>
                <a:gd name="T1" fmla="*/ 0 h 78"/>
                <a:gd name="T2" fmla="*/ 0 w 69"/>
                <a:gd name="T3" fmla="*/ 1 h 78"/>
                <a:gd name="T4" fmla="*/ 1 w 69"/>
                <a:gd name="T5" fmla="*/ 1 h 78"/>
                <a:gd name="T6" fmla="*/ 1 w 69"/>
                <a:gd name="T7" fmla="*/ 1 h 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78">
                  <a:moveTo>
                    <a:pt x="9" y="0"/>
                  </a:moveTo>
                  <a:cubicBezTo>
                    <a:pt x="5" y="11"/>
                    <a:pt x="7" y="20"/>
                    <a:pt x="0" y="30"/>
                  </a:cubicBezTo>
                  <a:cubicBezTo>
                    <a:pt x="0" y="44"/>
                    <a:pt x="12" y="60"/>
                    <a:pt x="23" y="68"/>
                  </a:cubicBezTo>
                  <a:cubicBezTo>
                    <a:pt x="34" y="76"/>
                    <a:pt x="60" y="76"/>
                    <a:pt x="69" y="7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60"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11" y="531"/>
              <a:ext cx="253"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62" name="Text Box 17"/>
          <p:cNvSpPr txBox="1">
            <a:spLocks noChangeArrowheads="1"/>
          </p:cNvSpPr>
          <p:nvPr/>
        </p:nvSpPr>
        <p:spPr bwMode="auto">
          <a:xfrm>
            <a:off x="5462181" y="2940089"/>
            <a:ext cx="6159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ACK</a:t>
            </a:r>
            <a:endParaRPr lang="zh-CN" altLang="en-US" sz="1600">
              <a:latin typeface="Times New Roman" panose="02020603050405020304" pitchFamily="18" charset="0"/>
            </a:endParaRPr>
          </a:p>
        </p:txBody>
      </p:sp>
      <p:sp>
        <p:nvSpPr>
          <p:cNvPr id="163" name="左大括号 162"/>
          <p:cNvSpPr/>
          <p:nvPr/>
        </p:nvSpPr>
        <p:spPr>
          <a:xfrm>
            <a:off x="1580743" y="1330364"/>
            <a:ext cx="219075" cy="3605213"/>
          </a:xfrm>
          <a:prstGeom prst="leftBrace">
            <a:avLst>
              <a:gd name="adj1" fmla="val 24792"/>
              <a:gd name="adj2"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164" name="Text Box 26"/>
          <p:cNvSpPr txBox="1">
            <a:spLocks noChangeArrowheads="1"/>
          </p:cNvSpPr>
          <p:nvPr/>
        </p:nvSpPr>
        <p:spPr bwMode="auto">
          <a:xfrm>
            <a:off x="1079810" y="2809914"/>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None/>
            </a:pPr>
            <a:r>
              <a:rPr lang="zh-CN" altLang="en-US" sz="1400" b="1" dirty="0">
                <a:solidFill>
                  <a:srgbClr val="0000FF"/>
                </a:solidFill>
                <a:latin typeface="微软雅黑" pitchFamily="34" charset="-122"/>
                <a:ea typeface="微软雅黑" pitchFamily="34" charset="-122"/>
              </a:rPr>
              <a:t>一次</a:t>
            </a:r>
            <a:endParaRPr lang="en-US" altLang="zh-CN" sz="1400" b="1" dirty="0">
              <a:solidFill>
                <a:srgbClr val="0000FF"/>
              </a:solidFill>
              <a:latin typeface="微软雅黑" pitchFamily="34" charset="-122"/>
              <a:ea typeface="微软雅黑" pitchFamily="34" charset="-122"/>
            </a:endParaRPr>
          </a:p>
          <a:p>
            <a:pPr>
              <a:lnSpc>
                <a:spcPct val="100000"/>
              </a:lnSpc>
              <a:spcBef>
                <a:spcPct val="0"/>
              </a:spcBef>
              <a:buNone/>
            </a:pPr>
            <a:r>
              <a:rPr lang="zh-CN" altLang="en-US" sz="1400" b="1" dirty="0">
                <a:solidFill>
                  <a:srgbClr val="0000FF"/>
                </a:solidFill>
                <a:latin typeface="微软雅黑" pitchFamily="34" charset="-122"/>
                <a:ea typeface="微软雅黑" pitchFamily="34" charset="-122"/>
              </a:rPr>
              <a:t>会话</a:t>
            </a:r>
          </a:p>
        </p:txBody>
      </p:sp>
      <p:cxnSp>
        <p:nvCxnSpPr>
          <p:cNvPr id="165" name="直接连接符 164"/>
          <p:cNvCxnSpPr>
            <a:cxnSpLocks/>
          </p:cNvCxnSpPr>
          <p:nvPr/>
        </p:nvCxnSpPr>
        <p:spPr>
          <a:xfrm>
            <a:off x="6840131" y="1166852"/>
            <a:ext cx="28575" cy="183038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8" name="Text Box 17"/>
          <p:cNvSpPr txBox="1">
            <a:spLocks noChangeArrowheads="1"/>
          </p:cNvSpPr>
          <p:nvPr/>
        </p:nvSpPr>
        <p:spPr bwMode="auto">
          <a:xfrm>
            <a:off x="4925606" y="1527214"/>
            <a:ext cx="1092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100 Trying</a:t>
            </a:r>
            <a:endParaRPr lang="zh-CN" altLang="en-US" sz="1600">
              <a:latin typeface="Times New Roman" panose="02020603050405020304" pitchFamily="18" charset="0"/>
            </a:endParaRPr>
          </a:p>
        </p:txBody>
      </p:sp>
      <p:sp>
        <p:nvSpPr>
          <p:cNvPr id="171" name="Text Box 17"/>
          <p:cNvSpPr txBox="1">
            <a:spLocks noChangeArrowheads="1"/>
          </p:cNvSpPr>
          <p:nvPr/>
        </p:nvSpPr>
        <p:spPr bwMode="auto">
          <a:xfrm>
            <a:off x="6979831" y="1992352"/>
            <a:ext cx="12065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180 Ringing</a:t>
            </a:r>
            <a:endParaRPr lang="zh-CN" altLang="en-US" sz="1600">
              <a:latin typeface="Times New Roman" panose="02020603050405020304" pitchFamily="18" charset="0"/>
            </a:endParaRPr>
          </a:p>
        </p:txBody>
      </p:sp>
      <p:grpSp>
        <p:nvGrpSpPr>
          <p:cNvPr id="174" name="组合 9"/>
          <p:cNvGrpSpPr>
            <a:grpSpLocks/>
          </p:cNvGrpSpPr>
          <p:nvPr/>
        </p:nvGrpSpPr>
        <p:grpSpPr bwMode="auto">
          <a:xfrm>
            <a:off x="6382926" y="456446"/>
            <a:ext cx="1082348" cy="900112"/>
            <a:chOff x="6837117" y="576263"/>
            <a:chExt cx="1083165" cy="900112"/>
          </a:xfrm>
        </p:grpSpPr>
        <p:sp>
          <p:nvSpPr>
            <p:cNvPr id="175" name="Text Box 13"/>
            <p:cNvSpPr txBox="1">
              <a:spLocks noChangeArrowheads="1"/>
            </p:cNvSpPr>
            <p:nvPr/>
          </p:nvSpPr>
          <p:spPr bwMode="auto">
            <a:xfrm>
              <a:off x="6837117" y="576263"/>
              <a:ext cx="10831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zh-CN" altLang="en-US" sz="1400" b="1" dirty="0">
                  <a:latin typeface="微软雅黑" pitchFamily="34" charset="-122"/>
                  <a:ea typeface="微软雅黑" pitchFamily="34" charset="-122"/>
                </a:rPr>
                <a:t>代理服务器</a:t>
              </a:r>
            </a:p>
          </p:txBody>
        </p:sp>
        <p:grpSp>
          <p:nvGrpSpPr>
            <p:cNvPr id="176" name="Group 82"/>
            <p:cNvGrpSpPr>
              <a:grpSpLocks/>
            </p:cNvGrpSpPr>
            <p:nvPr/>
          </p:nvGrpSpPr>
          <p:grpSpPr bwMode="auto">
            <a:xfrm flipH="1">
              <a:off x="7158038" y="889000"/>
              <a:ext cx="349250" cy="587375"/>
              <a:chOff x="1655" y="3067"/>
              <a:chExt cx="327" cy="521"/>
            </a:xfrm>
          </p:grpSpPr>
          <p:sp>
            <p:nvSpPr>
              <p:cNvPr id="177" name="AutoShape 33"/>
              <p:cNvSpPr>
                <a:spLocks noChangeAspect="1" noChangeArrowheads="1" noTextEdit="1"/>
              </p:cNvSpPr>
              <p:nvPr/>
            </p:nvSpPr>
            <p:spPr bwMode="auto">
              <a:xfrm>
                <a:off x="1655" y="3067"/>
                <a:ext cx="327" cy="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178" name="Group 42"/>
              <p:cNvGrpSpPr>
                <a:grpSpLocks/>
              </p:cNvGrpSpPr>
              <p:nvPr/>
            </p:nvGrpSpPr>
            <p:grpSpPr bwMode="auto">
              <a:xfrm>
                <a:off x="1658" y="3071"/>
                <a:ext cx="319" cy="511"/>
                <a:chOff x="1658" y="3071"/>
                <a:chExt cx="319" cy="511"/>
              </a:xfrm>
            </p:grpSpPr>
            <p:sp>
              <p:nvSpPr>
                <p:cNvPr id="218" name="Freeform 35"/>
                <p:cNvSpPr>
                  <a:spLocks/>
                </p:cNvSpPr>
                <p:nvPr/>
              </p:nvSpPr>
              <p:spPr bwMode="auto">
                <a:xfrm>
                  <a:off x="1752" y="3105"/>
                  <a:ext cx="215" cy="9"/>
                </a:xfrm>
                <a:custGeom>
                  <a:avLst/>
                  <a:gdLst>
                    <a:gd name="T0" fmla="*/ 0 w 1292"/>
                    <a:gd name="T1" fmla="*/ 0 h 47"/>
                    <a:gd name="T2" fmla="*/ 0 w 1292"/>
                    <a:gd name="T3" fmla="*/ 0 h 47"/>
                    <a:gd name="T4" fmla="*/ 0 w 1292"/>
                    <a:gd name="T5" fmla="*/ 0 h 47"/>
                    <a:gd name="T6" fmla="*/ 0 w 1292"/>
                    <a:gd name="T7" fmla="*/ 0 h 47"/>
                    <a:gd name="T8" fmla="*/ 0 w 1292"/>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2" h="47">
                      <a:moveTo>
                        <a:pt x="0" y="0"/>
                      </a:moveTo>
                      <a:lnTo>
                        <a:pt x="76" y="47"/>
                      </a:lnTo>
                      <a:lnTo>
                        <a:pt x="1292" y="47"/>
                      </a:lnTo>
                      <a:lnTo>
                        <a:pt x="1254" y="0"/>
                      </a:lnTo>
                      <a:lnTo>
                        <a:pt x="0" y="0"/>
                      </a:lnTo>
                      <a:close/>
                    </a:path>
                  </a:pathLst>
                </a:custGeom>
                <a:solidFill>
                  <a:srgbClr val="E0E0E0"/>
                </a:solidFill>
                <a:ln w="4763">
                  <a:solidFill>
                    <a:srgbClr val="808080"/>
                  </a:solidFill>
                  <a:prstDash val="solid"/>
                  <a:round/>
                  <a:headEnd/>
                  <a:tailEnd/>
                </a:ln>
              </p:spPr>
              <p:txBody>
                <a:bodyPr/>
                <a:lstStyle/>
                <a:p>
                  <a:endParaRPr lang="zh-CN" altLang="en-US"/>
                </a:p>
              </p:txBody>
            </p:sp>
            <p:sp>
              <p:nvSpPr>
                <p:cNvPr id="219" name="Freeform 36"/>
                <p:cNvSpPr>
                  <a:spLocks/>
                </p:cNvSpPr>
                <p:nvPr/>
              </p:nvSpPr>
              <p:spPr bwMode="auto">
                <a:xfrm>
                  <a:off x="1751" y="3104"/>
                  <a:ext cx="55" cy="478"/>
                </a:xfrm>
                <a:custGeom>
                  <a:avLst/>
                  <a:gdLst>
                    <a:gd name="T0" fmla="*/ 0 w 327"/>
                    <a:gd name="T1" fmla="*/ 0 h 2392"/>
                    <a:gd name="T2" fmla="*/ 0 w 327"/>
                    <a:gd name="T3" fmla="*/ 0 h 2392"/>
                    <a:gd name="T4" fmla="*/ 0 w 327"/>
                    <a:gd name="T5" fmla="*/ 0 h 2392"/>
                    <a:gd name="T6" fmla="*/ 0 w 327"/>
                    <a:gd name="T7" fmla="*/ 0 h 2392"/>
                    <a:gd name="T8" fmla="*/ 0 w 327"/>
                    <a:gd name="T9" fmla="*/ 0 h 2392"/>
                    <a:gd name="T10" fmla="*/ 0 w 327"/>
                    <a:gd name="T11" fmla="*/ 0 h 2392"/>
                    <a:gd name="T12" fmla="*/ 0 w 327"/>
                    <a:gd name="T13" fmla="*/ 0 h 239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7" h="2392">
                      <a:moveTo>
                        <a:pt x="0" y="2311"/>
                      </a:moveTo>
                      <a:lnTo>
                        <a:pt x="68" y="2392"/>
                      </a:lnTo>
                      <a:lnTo>
                        <a:pt x="327" y="794"/>
                      </a:lnTo>
                      <a:lnTo>
                        <a:pt x="83" y="47"/>
                      </a:lnTo>
                      <a:lnTo>
                        <a:pt x="3" y="0"/>
                      </a:lnTo>
                      <a:lnTo>
                        <a:pt x="0" y="873"/>
                      </a:lnTo>
                      <a:lnTo>
                        <a:pt x="0" y="2311"/>
                      </a:lnTo>
                      <a:close/>
                    </a:path>
                  </a:pathLst>
                </a:custGeom>
                <a:solidFill>
                  <a:srgbClr val="A0A0A0"/>
                </a:solidFill>
                <a:ln w="4763">
                  <a:solidFill>
                    <a:srgbClr val="808080"/>
                  </a:solidFill>
                  <a:prstDash val="solid"/>
                  <a:round/>
                  <a:headEnd/>
                  <a:tailEnd/>
                </a:ln>
              </p:spPr>
              <p:txBody>
                <a:bodyPr/>
                <a:lstStyle/>
                <a:p>
                  <a:endParaRPr lang="zh-CN" altLang="en-US"/>
                </a:p>
              </p:txBody>
            </p:sp>
            <p:sp>
              <p:nvSpPr>
                <p:cNvPr id="220" name="Freeform 37"/>
                <p:cNvSpPr>
                  <a:spLocks/>
                </p:cNvSpPr>
                <p:nvPr/>
              </p:nvSpPr>
              <p:spPr bwMode="auto">
                <a:xfrm>
                  <a:off x="1658" y="3071"/>
                  <a:ext cx="94" cy="495"/>
                </a:xfrm>
                <a:custGeom>
                  <a:avLst/>
                  <a:gdLst>
                    <a:gd name="T0" fmla="*/ 0 w 568"/>
                    <a:gd name="T1" fmla="*/ 0 h 2472"/>
                    <a:gd name="T2" fmla="*/ 0 w 568"/>
                    <a:gd name="T3" fmla="*/ 0 h 2472"/>
                    <a:gd name="T4" fmla="*/ 0 w 568"/>
                    <a:gd name="T5" fmla="*/ 0 h 2472"/>
                    <a:gd name="T6" fmla="*/ 0 w 568"/>
                    <a:gd name="T7" fmla="*/ 0 h 2472"/>
                    <a:gd name="T8" fmla="*/ 0 w 568"/>
                    <a:gd name="T9" fmla="*/ 0 h 24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2472">
                      <a:moveTo>
                        <a:pt x="0" y="0"/>
                      </a:moveTo>
                      <a:lnTo>
                        <a:pt x="568" y="162"/>
                      </a:lnTo>
                      <a:lnTo>
                        <a:pt x="568" y="2472"/>
                      </a:lnTo>
                      <a:lnTo>
                        <a:pt x="0" y="1882"/>
                      </a:lnTo>
                      <a:lnTo>
                        <a:pt x="0" y="0"/>
                      </a:lnTo>
                      <a:close/>
                    </a:path>
                  </a:pathLst>
                </a:custGeom>
                <a:solidFill>
                  <a:srgbClr val="A0A0A0"/>
                </a:solidFill>
                <a:ln w="4763">
                  <a:solidFill>
                    <a:srgbClr val="808080"/>
                  </a:solidFill>
                  <a:prstDash val="solid"/>
                  <a:round/>
                  <a:headEnd/>
                  <a:tailEnd/>
                </a:ln>
              </p:spPr>
              <p:txBody>
                <a:bodyPr/>
                <a:lstStyle/>
                <a:p>
                  <a:endParaRPr lang="zh-CN" altLang="en-US"/>
                </a:p>
              </p:txBody>
            </p:sp>
            <p:sp>
              <p:nvSpPr>
                <p:cNvPr id="221" name="Freeform 38"/>
                <p:cNvSpPr>
                  <a:spLocks/>
                </p:cNvSpPr>
                <p:nvPr/>
              </p:nvSpPr>
              <p:spPr bwMode="auto">
                <a:xfrm>
                  <a:off x="1658" y="3071"/>
                  <a:ext cx="303" cy="34"/>
                </a:xfrm>
                <a:custGeom>
                  <a:avLst/>
                  <a:gdLst>
                    <a:gd name="T0" fmla="*/ 0 w 1822"/>
                    <a:gd name="T1" fmla="*/ 0 h 170"/>
                    <a:gd name="T2" fmla="*/ 0 w 1822"/>
                    <a:gd name="T3" fmla="*/ 0 h 170"/>
                    <a:gd name="T4" fmla="*/ 0 w 1822"/>
                    <a:gd name="T5" fmla="*/ 0 h 170"/>
                    <a:gd name="T6" fmla="*/ 0 w 1822"/>
                    <a:gd name="T7" fmla="*/ 0 h 170"/>
                    <a:gd name="T8" fmla="*/ 0 w 1822"/>
                    <a:gd name="T9" fmla="*/ 0 h 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2" h="170">
                      <a:moveTo>
                        <a:pt x="569" y="170"/>
                      </a:moveTo>
                      <a:lnTo>
                        <a:pt x="1822" y="170"/>
                      </a:lnTo>
                      <a:lnTo>
                        <a:pt x="944" y="0"/>
                      </a:lnTo>
                      <a:lnTo>
                        <a:pt x="0" y="0"/>
                      </a:lnTo>
                      <a:lnTo>
                        <a:pt x="569" y="170"/>
                      </a:lnTo>
                      <a:close/>
                    </a:path>
                  </a:pathLst>
                </a:custGeom>
                <a:solidFill>
                  <a:srgbClr val="E0E0E0"/>
                </a:solidFill>
                <a:ln w="4763">
                  <a:solidFill>
                    <a:srgbClr val="808080"/>
                  </a:solidFill>
                  <a:prstDash val="solid"/>
                  <a:round/>
                  <a:headEnd/>
                  <a:tailEnd/>
                </a:ln>
              </p:spPr>
              <p:txBody>
                <a:bodyPr/>
                <a:lstStyle/>
                <a:p>
                  <a:endParaRPr lang="zh-CN" altLang="en-US"/>
                </a:p>
              </p:txBody>
            </p:sp>
            <p:sp>
              <p:nvSpPr>
                <p:cNvPr id="222" name="Rectangle 39"/>
                <p:cNvSpPr>
                  <a:spLocks noChangeArrowheads="1"/>
                </p:cNvSpPr>
                <p:nvPr/>
              </p:nvSpPr>
              <p:spPr bwMode="auto">
                <a:xfrm>
                  <a:off x="1763" y="3282"/>
                  <a:ext cx="197" cy="300"/>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223" name="Freeform 40"/>
                <p:cNvSpPr>
                  <a:spLocks/>
                </p:cNvSpPr>
                <p:nvPr/>
              </p:nvSpPr>
              <p:spPr bwMode="auto">
                <a:xfrm>
                  <a:off x="1765" y="3113"/>
                  <a:ext cx="212" cy="151"/>
                </a:xfrm>
                <a:custGeom>
                  <a:avLst/>
                  <a:gdLst>
                    <a:gd name="T0" fmla="*/ 0 w 1272"/>
                    <a:gd name="T1" fmla="*/ 0 h 753"/>
                    <a:gd name="T2" fmla="*/ 0 w 1272"/>
                    <a:gd name="T3" fmla="*/ 0 h 753"/>
                    <a:gd name="T4" fmla="*/ 0 w 1272"/>
                    <a:gd name="T5" fmla="*/ 0 h 753"/>
                    <a:gd name="T6" fmla="*/ 0 w 1272"/>
                    <a:gd name="T7" fmla="*/ 0 h 753"/>
                    <a:gd name="T8" fmla="*/ 0 w 1272"/>
                    <a:gd name="T9" fmla="*/ 0 h 7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72" h="753">
                      <a:moveTo>
                        <a:pt x="0" y="0"/>
                      </a:moveTo>
                      <a:lnTo>
                        <a:pt x="1214" y="0"/>
                      </a:lnTo>
                      <a:lnTo>
                        <a:pt x="1272" y="753"/>
                      </a:lnTo>
                      <a:lnTo>
                        <a:pt x="53" y="753"/>
                      </a:lnTo>
                      <a:lnTo>
                        <a:pt x="0" y="0"/>
                      </a:lnTo>
                      <a:close/>
                    </a:path>
                  </a:pathLst>
                </a:custGeom>
                <a:solidFill>
                  <a:srgbClr val="C0C0C0"/>
                </a:solidFill>
                <a:ln w="4763">
                  <a:solidFill>
                    <a:srgbClr val="808080"/>
                  </a:solidFill>
                  <a:prstDash val="solid"/>
                  <a:round/>
                  <a:headEnd/>
                  <a:tailEnd/>
                </a:ln>
              </p:spPr>
              <p:txBody>
                <a:bodyPr/>
                <a:lstStyle/>
                <a:p>
                  <a:endParaRPr lang="zh-CN" altLang="en-US"/>
                </a:p>
              </p:txBody>
            </p:sp>
            <p:sp>
              <p:nvSpPr>
                <p:cNvPr id="224" name="Freeform 41"/>
                <p:cNvSpPr>
                  <a:spLocks/>
                </p:cNvSpPr>
                <p:nvPr/>
              </p:nvSpPr>
              <p:spPr bwMode="auto">
                <a:xfrm>
                  <a:off x="1763" y="3263"/>
                  <a:ext cx="214" cy="18"/>
                </a:xfrm>
                <a:custGeom>
                  <a:avLst/>
                  <a:gdLst>
                    <a:gd name="T0" fmla="*/ 0 w 1287"/>
                    <a:gd name="T1" fmla="*/ 0 h 90"/>
                    <a:gd name="T2" fmla="*/ 0 w 1287"/>
                    <a:gd name="T3" fmla="*/ 0 h 90"/>
                    <a:gd name="T4" fmla="*/ 0 w 1287"/>
                    <a:gd name="T5" fmla="*/ 0 h 90"/>
                    <a:gd name="T6" fmla="*/ 0 w 1287"/>
                    <a:gd name="T7" fmla="*/ 0 h 90"/>
                    <a:gd name="T8" fmla="*/ 0 w 1287"/>
                    <a:gd name="T9" fmla="*/ 0 h 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7" h="90">
                      <a:moveTo>
                        <a:pt x="0" y="90"/>
                      </a:moveTo>
                      <a:lnTo>
                        <a:pt x="1188" y="90"/>
                      </a:lnTo>
                      <a:lnTo>
                        <a:pt x="1287" y="0"/>
                      </a:lnTo>
                      <a:lnTo>
                        <a:pt x="65" y="0"/>
                      </a:lnTo>
                      <a:lnTo>
                        <a:pt x="0" y="90"/>
                      </a:lnTo>
                      <a:close/>
                    </a:path>
                  </a:pathLst>
                </a:custGeom>
                <a:solidFill>
                  <a:srgbClr val="A0A0A0"/>
                </a:solidFill>
                <a:ln w="4763">
                  <a:solidFill>
                    <a:srgbClr val="808080"/>
                  </a:solidFill>
                  <a:prstDash val="solid"/>
                  <a:round/>
                  <a:headEnd/>
                  <a:tailEnd/>
                </a:ln>
              </p:spPr>
              <p:txBody>
                <a:bodyPr/>
                <a:lstStyle/>
                <a:p>
                  <a:endParaRPr lang="zh-CN" altLang="en-US"/>
                </a:p>
              </p:txBody>
            </p:sp>
          </p:grpSp>
          <p:grpSp>
            <p:nvGrpSpPr>
              <p:cNvPr id="179" name="Group 51"/>
              <p:cNvGrpSpPr>
                <a:grpSpLocks/>
              </p:cNvGrpSpPr>
              <p:nvPr/>
            </p:nvGrpSpPr>
            <p:grpSpPr bwMode="auto">
              <a:xfrm>
                <a:off x="1765" y="3105"/>
                <a:ext cx="60" cy="478"/>
                <a:chOff x="1765" y="3105"/>
                <a:chExt cx="60" cy="478"/>
              </a:xfrm>
            </p:grpSpPr>
            <p:sp>
              <p:nvSpPr>
                <p:cNvPr id="210" name="Freeform 43"/>
                <p:cNvSpPr>
                  <a:spLocks/>
                </p:cNvSpPr>
                <p:nvPr/>
              </p:nvSpPr>
              <p:spPr bwMode="auto">
                <a:xfrm>
                  <a:off x="1765" y="3105"/>
                  <a:ext cx="18" cy="477"/>
                </a:xfrm>
                <a:custGeom>
                  <a:avLst/>
                  <a:gdLst>
                    <a:gd name="T0" fmla="*/ 0 w 107"/>
                    <a:gd name="T1" fmla="*/ 0 h 2387"/>
                    <a:gd name="T2" fmla="*/ 0 w 107"/>
                    <a:gd name="T3" fmla="*/ 0 h 2387"/>
                    <a:gd name="T4" fmla="*/ 0 w 107"/>
                    <a:gd name="T5" fmla="*/ 0 h 2387"/>
                    <a:gd name="T6" fmla="*/ 0 w 107"/>
                    <a:gd name="T7" fmla="*/ 0 h 2387"/>
                    <a:gd name="T8" fmla="*/ 0 w 107"/>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2387">
                      <a:moveTo>
                        <a:pt x="0" y="0"/>
                      </a:moveTo>
                      <a:lnTo>
                        <a:pt x="55" y="40"/>
                      </a:lnTo>
                      <a:lnTo>
                        <a:pt x="107" y="801"/>
                      </a:lnTo>
                      <a:lnTo>
                        <a:pt x="53" y="888"/>
                      </a:lnTo>
                      <a:lnTo>
                        <a:pt x="51"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1" name="Freeform 44"/>
                <p:cNvSpPr>
                  <a:spLocks/>
                </p:cNvSpPr>
                <p:nvPr/>
              </p:nvSpPr>
              <p:spPr bwMode="auto">
                <a:xfrm>
                  <a:off x="1772" y="3105"/>
                  <a:ext cx="17" cy="478"/>
                </a:xfrm>
                <a:custGeom>
                  <a:avLst/>
                  <a:gdLst>
                    <a:gd name="T0" fmla="*/ 0 w 100"/>
                    <a:gd name="T1" fmla="*/ 0 h 2387"/>
                    <a:gd name="T2" fmla="*/ 0 w 100"/>
                    <a:gd name="T3" fmla="*/ 0 h 2387"/>
                    <a:gd name="T4" fmla="*/ 0 w 100"/>
                    <a:gd name="T5" fmla="*/ 0 h 2387"/>
                    <a:gd name="T6" fmla="*/ 0 w 100"/>
                    <a:gd name="T7" fmla="*/ 0 h 2387"/>
                    <a:gd name="T8" fmla="*/ 0 w 100"/>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2387">
                      <a:moveTo>
                        <a:pt x="0" y="0"/>
                      </a:moveTo>
                      <a:lnTo>
                        <a:pt x="47" y="40"/>
                      </a:lnTo>
                      <a:lnTo>
                        <a:pt x="100" y="800"/>
                      </a:lnTo>
                      <a:lnTo>
                        <a:pt x="46" y="887"/>
                      </a:lnTo>
                      <a:lnTo>
                        <a:pt x="44"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2" name="Freeform 45"/>
                <p:cNvSpPr>
                  <a:spLocks/>
                </p:cNvSpPr>
                <p:nvPr/>
              </p:nvSpPr>
              <p:spPr bwMode="auto">
                <a:xfrm>
                  <a:off x="1777" y="3105"/>
                  <a:ext cx="18" cy="477"/>
                </a:xfrm>
                <a:custGeom>
                  <a:avLst/>
                  <a:gdLst>
                    <a:gd name="T0" fmla="*/ 0 w 108"/>
                    <a:gd name="T1" fmla="*/ 0 h 2387"/>
                    <a:gd name="T2" fmla="*/ 0 w 108"/>
                    <a:gd name="T3" fmla="*/ 0 h 2387"/>
                    <a:gd name="T4" fmla="*/ 0 w 108"/>
                    <a:gd name="T5" fmla="*/ 0 h 2387"/>
                    <a:gd name="T6" fmla="*/ 0 w 108"/>
                    <a:gd name="T7" fmla="*/ 0 h 2387"/>
                    <a:gd name="T8" fmla="*/ 0 w 108"/>
                    <a:gd name="T9" fmla="*/ 0 h 23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2387">
                      <a:moveTo>
                        <a:pt x="0" y="0"/>
                      </a:moveTo>
                      <a:lnTo>
                        <a:pt x="53" y="40"/>
                      </a:lnTo>
                      <a:lnTo>
                        <a:pt x="108" y="795"/>
                      </a:lnTo>
                      <a:lnTo>
                        <a:pt x="49" y="880"/>
                      </a:lnTo>
                      <a:lnTo>
                        <a:pt x="49" y="2387"/>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3" name="Freeform 46"/>
                <p:cNvSpPr>
                  <a:spLocks/>
                </p:cNvSpPr>
                <p:nvPr/>
              </p:nvSpPr>
              <p:spPr bwMode="auto">
                <a:xfrm>
                  <a:off x="1784" y="3105"/>
                  <a:ext cx="17" cy="477"/>
                </a:xfrm>
                <a:custGeom>
                  <a:avLst/>
                  <a:gdLst>
                    <a:gd name="T0" fmla="*/ 0 w 103"/>
                    <a:gd name="T1" fmla="*/ 0 h 2381"/>
                    <a:gd name="T2" fmla="*/ 0 w 103"/>
                    <a:gd name="T3" fmla="*/ 0 h 2381"/>
                    <a:gd name="T4" fmla="*/ 0 w 103"/>
                    <a:gd name="T5" fmla="*/ 0 h 2381"/>
                    <a:gd name="T6" fmla="*/ 0 w 103"/>
                    <a:gd name="T7" fmla="*/ 0 h 2381"/>
                    <a:gd name="T8" fmla="*/ 0 w 103"/>
                    <a:gd name="T9" fmla="*/ 0 h 2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2381">
                      <a:moveTo>
                        <a:pt x="0" y="0"/>
                      </a:moveTo>
                      <a:lnTo>
                        <a:pt x="50" y="35"/>
                      </a:lnTo>
                      <a:lnTo>
                        <a:pt x="103" y="795"/>
                      </a:lnTo>
                      <a:lnTo>
                        <a:pt x="48" y="881"/>
                      </a:lnTo>
                      <a:lnTo>
                        <a:pt x="46" y="2381"/>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4" name="Freeform 47"/>
                <p:cNvSpPr>
                  <a:spLocks/>
                </p:cNvSpPr>
                <p:nvPr/>
              </p:nvSpPr>
              <p:spPr bwMode="auto">
                <a:xfrm>
                  <a:off x="1790" y="3105"/>
                  <a:ext cx="17" cy="475"/>
                </a:xfrm>
                <a:custGeom>
                  <a:avLst/>
                  <a:gdLst>
                    <a:gd name="T0" fmla="*/ 0 w 101"/>
                    <a:gd name="T1" fmla="*/ 0 h 2379"/>
                    <a:gd name="T2" fmla="*/ 0 w 101"/>
                    <a:gd name="T3" fmla="*/ 0 h 2379"/>
                    <a:gd name="T4" fmla="*/ 0 w 101"/>
                    <a:gd name="T5" fmla="*/ 0 h 2379"/>
                    <a:gd name="T6" fmla="*/ 0 w 101"/>
                    <a:gd name="T7" fmla="*/ 0 h 2379"/>
                    <a:gd name="T8" fmla="*/ 0 w 101"/>
                    <a:gd name="T9" fmla="*/ 0 h 23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2379">
                      <a:moveTo>
                        <a:pt x="0" y="0"/>
                      </a:moveTo>
                      <a:lnTo>
                        <a:pt x="49" y="47"/>
                      </a:lnTo>
                      <a:lnTo>
                        <a:pt x="101" y="793"/>
                      </a:lnTo>
                      <a:lnTo>
                        <a:pt x="46" y="880"/>
                      </a:lnTo>
                      <a:lnTo>
                        <a:pt x="44" y="2379"/>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 name="Freeform 48"/>
                <p:cNvSpPr>
                  <a:spLocks/>
                </p:cNvSpPr>
                <p:nvPr/>
              </p:nvSpPr>
              <p:spPr bwMode="auto">
                <a:xfrm>
                  <a:off x="1797" y="3105"/>
                  <a:ext cx="16" cy="476"/>
                </a:xfrm>
                <a:custGeom>
                  <a:avLst/>
                  <a:gdLst>
                    <a:gd name="T0" fmla="*/ 0 w 97"/>
                    <a:gd name="T1" fmla="*/ 0 h 2379"/>
                    <a:gd name="T2" fmla="*/ 0 w 97"/>
                    <a:gd name="T3" fmla="*/ 0 h 2379"/>
                    <a:gd name="T4" fmla="*/ 0 w 97"/>
                    <a:gd name="T5" fmla="*/ 0 h 2379"/>
                    <a:gd name="T6" fmla="*/ 0 w 97"/>
                    <a:gd name="T7" fmla="*/ 0 h 2379"/>
                    <a:gd name="T8" fmla="*/ 0 w 97"/>
                    <a:gd name="T9" fmla="*/ 0 h 23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2379">
                      <a:moveTo>
                        <a:pt x="0" y="0"/>
                      </a:moveTo>
                      <a:lnTo>
                        <a:pt x="44" y="40"/>
                      </a:lnTo>
                      <a:lnTo>
                        <a:pt x="97" y="793"/>
                      </a:lnTo>
                      <a:lnTo>
                        <a:pt x="42" y="879"/>
                      </a:lnTo>
                      <a:lnTo>
                        <a:pt x="40" y="2379"/>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 name="Freeform 49"/>
                <p:cNvSpPr>
                  <a:spLocks/>
                </p:cNvSpPr>
                <p:nvPr/>
              </p:nvSpPr>
              <p:spPr bwMode="auto">
                <a:xfrm>
                  <a:off x="1803" y="3105"/>
                  <a:ext cx="16" cy="477"/>
                </a:xfrm>
                <a:custGeom>
                  <a:avLst/>
                  <a:gdLst>
                    <a:gd name="T0" fmla="*/ 0 w 98"/>
                    <a:gd name="T1" fmla="*/ 0 h 2385"/>
                    <a:gd name="T2" fmla="*/ 0 w 98"/>
                    <a:gd name="T3" fmla="*/ 0 h 2385"/>
                    <a:gd name="T4" fmla="*/ 0 w 98"/>
                    <a:gd name="T5" fmla="*/ 0 h 2385"/>
                    <a:gd name="T6" fmla="*/ 0 w 98"/>
                    <a:gd name="T7" fmla="*/ 0 h 2385"/>
                    <a:gd name="T8" fmla="*/ 0 w 98"/>
                    <a:gd name="T9" fmla="*/ 0 h 2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2385">
                      <a:moveTo>
                        <a:pt x="0" y="0"/>
                      </a:moveTo>
                      <a:lnTo>
                        <a:pt x="43" y="43"/>
                      </a:lnTo>
                      <a:lnTo>
                        <a:pt x="98" y="785"/>
                      </a:lnTo>
                      <a:lnTo>
                        <a:pt x="40" y="878"/>
                      </a:lnTo>
                      <a:lnTo>
                        <a:pt x="40" y="2385"/>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 name="Freeform 50"/>
                <p:cNvSpPr>
                  <a:spLocks/>
                </p:cNvSpPr>
                <p:nvPr/>
              </p:nvSpPr>
              <p:spPr bwMode="auto">
                <a:xfrm>
                  <a:off x="1809" y="3105"/>
                  <a:ext cx="16" cy="475"/>
                </a:xfrm>
                <a:custGeom>
                  <a:avLst/>
                  <a:gdLst>
                    <a:gd name="T0" fmla="*/ 0 w 97"/>
                    <a:gd name="T1" fmla="*/ 0 h 2373"/>
                    <a:gd name="T2" fmla="*/ 0 w 97"/>
                    <a:gd name="T3" fmla="*/ 0 h 2373"/>
                    <a:gd name="T4" fmla="*/ 0 w 97"/>
                    <a:gd name="T5" fmla="*/ 0 h 2373"/>
                    <a:gd name="T6" fmla="*/ 0 w 97"/>
                    <a:gd name="T7" fmla="*/ 0 h 2373"/>
                    <a:gd name="T8" fmla="*/ 0 w 97"/>
                    <a:gd name="T9" fmla="*/ 0 h 23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2373">
                      <a:moveTo>
                        <a:pt x="0" y="0"/>
                      </a:moveTo>
                      <a:lnTo>
                        <a:pt x="45" y="40"/>
                      </a:lnTo>
                      <a:lnTo>
                        <a:pt x="97" y="787"/>
                      </a:lnTo>
                      <a:lnTo>
                        <a:pt x="44" y="874"/>
                      </a:lnTo>
                      <a:lnTo>
                        <a:pt x="41" y="2373"/>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80" name="Rectangle 52"/>
              <p:cNvSpPr>
                <a:spLocks noChangeArrowheads="1"/>
              </p:cNvSpPr>
              <p:nvPr/>
            </p:nvSpPr>
            <p:spPr bwMode="auto">
              <a:xfrm>
                <a:off x="1823" y="3321"/>
                <a:ext cx="130" cy="237"/>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1" name="Rectangle 53"/>
              <p:cNvSpPr>
                <a:spLocks noChangeArrowheads="1"/>
              </p:cNvSpPr>
              <p:nvPr/>
            </p:nvSpPr>
            <p:spPr bwMode="auto">
              <a:xfrm>
                <a:off x="1823" y="3367"/>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2" name="Rectangle 54"/>
              <p:cNvSpPr>
                <a:spLocks noChangeArrowheads="1"/>
              </p:cNvSpPr>
              <p:nvPr/>
            </p:nvSpPr>
            <p:spPr bwMode="auto">
              <a:xfrm>
                <a:off x="1823" y="3414"/>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3" name="Rectangle 55"/>
              <p:cNvSpPr>
                <a:spLocks noChangeArrowheads="1"/>
              </p:cNvSpPr>
              <p:nvPr/>
            </p:nvSpPr>
            <p:spPr bwMode="auto">
              <a:xfrm>
                <a:off x="1823" y="3460"/>
                <a:ext cx="130" cy="48"/>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4" name="Rectangle 56"/>
              <p:cNvSpPr>
                <a:spLocks noChangeArrowheads="1"/>
              </p:cNvSpPr>
              <p:nvPr/>
            </p:nvSpPr>
            <p:spPr bwMode="auto">
              <a:xfrm>
                <a:off x="1846" y="3375"/>
                <a:ext cx="84" cy="30"/>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5" name="Rectangle 57"/>
              <p:cNvSpPr>
                <a:spLocks noChangeArrowheads="1"/>
              </p:cNvSpPr>
              <p:nvPr/>
            </p:nvSpPr>
            <p:spPr bwMode="auto">
              <a:xfrm>
                <a:off x="1846" y="3423"/>
                <a:ext cx="84" cy="29"/>
              </a:xfrm>
              <a:prstGeom prst="rect">
                <a:avLst/>
              </a:prstGeom>
              <a:solidFill>
                <a:srgbClr val="C0C0C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6" name="Freeform 58"/>
              <p:cNvSpPr>
                <a:spLocks/>
              </p:cNvSpPr>
              <p:nvPr/>
            </p:nvSpPr>
            <p:spPr bwMode="auto">
              <a:xfrm>
                <a:off x="1904" y="3326"/>
                <a:ext cx="5" cy="30"/>
              </a:xfrm>
              <a:custGeom>
                <a:avLst/>
                <a:gdLst>
                  <a:gd name="T0" fmla="*/ 0 w 34"/>
                  <a:gd name="T1" fmla="*/ 0 h 152"/>
                  <a:gd name="T2" fmla="*/ 0 w 34"/>
                  <a:gd name="T3" fmla="*/ 0 h 152"/>
                  <a:gd name="T4" fmla="*/ 0 w 34"/>
                  <a:gd name="T5" fmla="*/ 0 h 152"/>
                  <a:gd name="T6" fmla="*/ 0 w 34"/>
                  <a:gd name="T7" fmla="*/ 0 h 1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 h="152">
                    <a:moveTo>
                      <a:pt x="34" y="0"/>
                    </a:moveTo>
                    <a:lnTo>
                      <a:pt x="34" y="152"/>
                    </a:lnTo>
                    <a:lnTo>
                      <a:pt x="0" y="66"/>
                    </a:lnTo>
                    <a:lnTo>
                      <a:pt x="34"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87" name="Group 71"/>
              <p:cNvGrpSpPr>
                <a:grpSpLocks/>
              </p:cNvGrpSpPr>
              <p:nvPr/>
            </p:nvGrpSpPr>
            <p:grpSpPr bwMode="auto">
              <a:xfrm>
                <a:off x="1823" y="3321"/>
                <a:ext cx="130" cy="47"/>
                <a:chOff x="1823" y="3321"/>
                <a:chExt cx="130" cy="47"/>
              </a:xfrm>
            </p:grpSpPr>
            <p:sp>
              <p:nvSpPr>
                <p:cNvPr id="198" name="Rectangle 59"/>
                <p:cNvSpPr>
                  <a:spLocks noChangeArrowheads="1"/>
                </p:cNvSpPr>
                <p:nvPr/>
              </p:nvSpPr>
              <p:spPr bwMode="auto">
                <a:xfrm>
                  <a:off x="1823" y="3321"/>
                  <a:ext cx="130" cy="47"/>
                </a:xfrm>
                <a:prstGeom prst="rect">
                  <a:avLst/>
                </a:prstGeom>
                <a:solidFill>
                  <a:srgbClr val="A0A0A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99" name="Rectangle 60"/>
                <p:cNvSpPr>
                  <a:spLocks noChangeArrowheads="1"/>
                </p:cNvSpPr>
                <p:nvPr/>
              </p:nvSpPr>
              <p:spPr bwMode="auto">
                <a:xfrm>
                  <a:off x="1836" y="3327"/>
                  <a:ext cx="10" cy="6"/>
                </a:xfrm>
                <a:prstGeom prst="rect">
                  <a:avLst/>
                </a:prstGeom>
                <a:solidFill>
                  <a:srgbClr val="60606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nvGrpSpPr>
                <p:cNvPr id="200" name="Group 70"/>
                <p:cNvGrpSpPr>
                  <a:grpSpLocks/>
                </p:cNvGrpSpPr>
                <p:nvPr/>
              </p:nvGrpSpPr>
              <p:grpSpPr bwMode="auto">
                <a:xfrm>
                  <a:off x="1832" y="3324"/>
                  <a:ext cx="114" cy="37"/>
                  <a:chOff x="1832" y="3324"/>
                  <a:chExt cx="114" cy="37"/>
                </a:xfrm>
              </p:grpSpPr>
              <p:sp>
                <p:nvSpPr>
                  <p:cNvPr id="201" name="Freeform 61"/>
                  <p:cNvSpPr>
                    <a:spLocks/>
                  </p:cNvSpPr>
                  <p:nvPr/>
                </p:nvSpPr>
                <p:spPr bwMode="auto">
                  <a:xfrm>
                    <a:off x="1883" y="3326"/>
                    <a:ext cx="26" cy="13"/>
                  </a:xfrm>
                  <a:custGeom>
                    <a:avLst/>
                    <a:gdLst>
                      <a:gd name="T0" fmla="*/ 0 w 160"/>
                      <a:gd name="T1" fmla="*/ 0 h 69"/>
                      <a:gd name="T2" fmla="*/ 0 w 160"/>
                      <a:gd name="T3" fmla="*/ 0 h 69"/>
                      <a:gd name="T4" fmla="*/ 0 w 160"/>
                      <a:gd name="T5" fmla="*/ 0 h 69"/>
                      <a:gd name="T6" fmla="*/ 0 w 160"/>
                      <a:gd name="T7" fmla="*/ 0 h 69"/>
                      <a:gd name="T8" fmla="*/ 0 w 16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69">
                        <a:moveTo>
                          <a:pt x="160" y="0"/>
                        </a:moveTo>
                        <a:lnTo>
                          <a:pt x="11" y="0"/>
                        </a:lnTo>
                        <a:lnTo>
                          <a:pt x="0" y="69"/>
                        </a:lnTo>
                        <a:lnTo>
                          <a:pt x="142" y="67"/>
                        </a:lnTo>
                        <a:lnTo>
                          <a:pt x="16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2" name="Freeform 62"/>
                  <p:cNvSpPr>
                    <a:spLocks/>
                  </p:cNvSpPr>
                  <p:nvPr/>
                </p:nvSpPr>
                <p:spPr bwMode="auto">
                  <a:xfrm>
                    <a:off x="1883" y="3343"/>
                    <a:ext cx="60" cy="14"/>
                  </a:xfrm>
                  <a:custGeom>
                    <a:avLst/>
                    <a:gdLst>
                      <a:gd name="T0" fmla="*/ 0 w 359"/>
                      <a:gd name="T1" fmla="*/ 0 h 67"/>
                      <a:gd name="T2" fmla="*/ 0 w 359"/>
                      <a:gd name="T3" fmla="*/ 0 h 67"/>
                      <a:gd name="T4" fmla="*/ 0 w 359"/>
                      <a:gd name="T5" fmla="*/ 0 h 67"/>
                      <a:gd name="T6" fmla="*/ 0 w 359"/>
                      <a:gd name="T7" fmla="*/ 0 h 67"/>
                      <a:gd name="T8" fmla="*/ 0 w 359"/>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 h="67">
                        <a:moveTo>
                          <a:pt x="359" y="67"/>
                        </a:moveTo>
                        <a:lnTo>
                          <a:pt x="11" y="67"/>
                        </a:lnTo>
                        <a:lnTo>
                          <a:pt x="0" y="0"/>
                        </a:lnTo>
                        <a:lnTo>
                          <a:pt x="341" y="0"/>
                        </a:lnTo>
                        <a:lnTo>
                          <a:pt x="359" y="6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3" name="Freeform 63"/>
                  <p:cNvSpPr>
                    <a:spLocks/>
                  </p:cNvSpPr>
                  <p:nvPr/>
                </p:nvSpPr>
                <p:spPr bwMode="auto">
                  <a:xfrm>
                    <a:off x="1908" y="3332"/>
                    <a:ext cx="35" cy="7"/>
                  </a:xfrm>
                  <a:custGeom>
                    <a:avLst/>
                    <a:gdLst>
                      <a:gd name="T0" fmla="*/ 0 w 209"/>
                      <a:gd name="T1" fmla="*/ 0 h 36"/>
                      <a:gd name="T2" fmla="*/ 0 w 209"/>
                      <a:gd name="T3" fmla="*/ 0 h 36"/>
                      <a:gd name="T4" fmla="*/ 0 w 209"/>
                      <a:gd name="T5" fmla="*/ 0 h 36"/>
                      <a:gd name="T6" fmla="*/ 0 w 209"/>
                      <a:gd name="T7" fmla="*/ 0 h 36"/>
                      <a:gd name="T8" fmla="*/ 0 w 2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36">
                        <a:moveTo>
                          <a:pt x="209" y="0"/>
                        </a:moveTo>
                        <a:lnTo>
                          <a:pt x="8" y="0"/>
                        </a:lnTo>
                        <a:lnTo>
                          <a:pt x="0" y="36"/>
                        </a:lnTo>
                        <a:lnTo>
                          <a:pt x="191" y="36"/>
                        </a:lnTo>
                        <a:lnTo>
                          <a:pt x="20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4" name="Freeform 64"/>
                  <p:cNvSpPr>
                    <a:spLocks/>
                  </p:cNvSpPr>
                  <p:nvPr/>
                </p:nvSpPr>
                <p:spPr bwMode="auto">
                  <a:xfrm>
                    <a:off x="1939" y="3331"/>
                    <a:ext cx="4" cy="25"/>
                  </a:xfrm>
                  <a:custGeom>
                    <a:avLst/>
                    <a:gdLst>
                      <a:gd name="T0" fmla="*/ 0 w 21"/>
                      <a:gd name="T1" fmla="*/ 0 h 123"/>
                      <a:gd name="T2" fmla="*/ 0 w 21"/>
                      <a:gd name="T3" fmla="*/ 0 h 123"/>
                      <a:gd name="T4" fmla="*/ 0 w 21"/>
                      <a:gd name="T5" fmla="*/ 0 h 123"/>
                      <a:gd name="T6" fmla="*/ 0 w 21"/>
                      <a:gd name="T7" fmla="*/ 0 h 1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123">
                        <a:moveTo>
                          <a:pt x="21" y="0"/>
                        </a:moveTo>
                        <a:lnTo>
                          <a:pt x="21" y="123"/>
                        </a:lnTo>
                        <a:lnTo>
                          <a:pt x="0" y="41"/>
                        </a:lnTo>
                        <a:lnTo>
                          <a:pt x="21"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 name="Oval 65"/>
                  <p:cNvSpPr>
                    <a:spLocks noChangeArrowheads="1"/>
                  </p:cNvSpPr>
                  <p:nvPr/>
                </p:nvSpPr>
                <p:spPr bwMode="auto">
                  <a:xfrm>
                    <a:off x="1910" y="3345"/>
                    <a:ext cx="10" cy="9"/>
                  </a:xfrm>
                  <a:prstGeom prst="ellipse">
                    <a:avLst/>
                  </a:prstGeom>
                  <a:solidFill>
                    <a:srgbClr val="C0C0C0"/>
                  </a:solidFill>
                  <a:ln w="3175">
                    <a:solidFill>
                      <a:srgbClr val="80808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206" name="Rectangle 66"/>
                  <p:cNvSpPr>
                    <a:spLocks noChangeArrowheads="1"/>
                  </p:cNvSpPr>
                  <p:nvPr/>
                </p:nvSpPr>
                <p:spPr bwMode="auto">
                  <a:xfrm>
                    <a:off x="1832" y="3339"/>
                    <a:ext cx="114" cy="4"/>
                  </a:xfrm>
                  <a:prstGeom prst="rect">
                    <a:avLst/>
                  </a:prstGeom>
                  <a:solidFill>
                    <a:srgbClr val="60606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nvGrpSpPr>
                  <p:cNvPr id="207" name="Group 69"/>
                  <p:cNvGrpSpPr>
                    <a:grpSpLocks/>
                  </p:cNvGrpSpPr>
                  <p:nvPr/>
                </p:nvGrpSpPr>
                <p:grpSpPr bwMode="auto">
                  <a:xfrm>
                    <a:off x="1907" y="3324"/>
                    <a:ext cx="12" cy="37"/>
                    <a:chOff x="1907" y="3324"/>
                    <a:chExt cx="12" cy="37"/>
                  </a:xfrm>
                </p:grpSpPr>
                <p:sp>
                  <p:nvSpPr>
                    <p:cNvPr id="208" name="Freeform 67"/>
                    <p:cNvSpPr>
                      <a:spLocks/>
                    </p:cNvSpPr>
                    <p:nvPr/>
                  </p:nvSpPr>
                  <p:spPr bwMode="auto">
                    <a:xfrm>
                      <a:off x="1907" y="3324"/>
                      <a:ext cx="11" cy="37"/>
                    </a:xfrm>
                    <a:custGeom>
                      <a:avLst/>
                      <a:gdLst>
                        <a:gd name="T0" fmla="*/ 0 w 69"/>
                        <a:gd name="T1" fmla="*/ 0 h 183"/>
                        <a:gd name="T2" fmla="*/ 0 w 69"/>
                        <a:gd name="T3" fmla="*/ 0 h 183"/>
                        <a:gd name="T4" fmla="*/ 0 w 69"/>
                        <a:gd name="T5" fmla="*/ 0 h 183"/>
                        <a:gd name="T6" fmla="*/ 0 w 69"/>
                        <a:gd name="T7" fmla="*/ 0 h 183"/>
                        <a:gd name="T8" fmla="*/ 0 w 69"/>
                        <a:gd name="T9" fmla="*/ 0 h 183"/>
                        <a:gd name="T10" fmla="*/ 0 w 69"/>
                        <a:gd name="T11" fmla="*/ 0 h 183"/>
                        <a:gd name="T12" fmla="*/ 0 w 69"/>
                        <a:gd name="T13" fmla="*/ 0 h 183"/>
                        <a:gd name="T14" fmla="*/ 0 w 69"/>
                        <a:gd name="T15" fmla="*/ 0 h 183"/>
                        <a:gd name="T16" fmla="*/ 0 w 69"/>
                        <a:gd name="T17" fmla="*/ 0 h 183"/>
                        <a:gd name="T18" fmla="*/ 0 w 69"/>
                        <a:gd name="T19" fmla="*/ 0 h 183"/>
                        <a:gd name="T20" fmla="*/ 0 w 69"/>
                        <a:gd name="T21" fmla="*/ 0 h 183"/>
                        <a:gd name="T22" fmla="*/ 0 w 69"/>
                        <a:gd name="T23" fmla="*/ 0 h 1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183">
                          <a:moveTo>
                            <a:pt x="56" y="2"/>
                          </a:moveTo>
                          <a:lnTo>
                            <a:pt x="31" y="0"/>
                          </a:lnTo>
                          <a:lnTo>
                            <a:pt x="14" y="10"/>
                          </a:lnTo>
                          <a:lnTo>
                            <a:pt x="8" y="32"/>
                          </a:lnTo>
                          <a:lnTo>
                            <a:pt x="0" y="73"/>
                          </a:lnTo>
                          <a:lnTo>
                            <a:pt x="17" y="181"/>
                          </a:lnTo>
                          <a:lnTo>
                            <a:pt x="31" y="183"/>
                          </a:lnTo>
                          <a:lnTo>
                            <a:pt x="31" y="88"/>
                          </a:lnTo>
                          <a:lnTo>
                            <a:pt x="61" y="48"/>
                          </a:lnTo>
                          <a:lnTo>
                            <a:pt x="69" y="29"/>
                          </a:lnTo>
                          <a:lnTo>
                            <a:pt x="68" y="12"/>
                          </a:lnTo>
                          <a:lnTo>
                            <a:pt x="56" y="2"/>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9" name="Freeform 68"/>
                    <p:cNvSpPr>
                      <a:spLocks/>
                    </p:cNvSpPr>
                    <p:nvPr/>
                  </p:nvSpPr>
                  <p:spPr bwMode="auto">
                    <a:xfrm>
                      <a:off x="1908" y="3324"/>
                      <a:ext cx="11" cy="36"/>
                    </a:xfrm>
                    <a:custGeom>
                      <a:avLst/>
                      <a:gdLst>
                        <a:gd name="T0" fmla="*/ 0 w 70"/>
                        <a:gd name="T1" fmla="*/ 0 h 183"/>
                        <a:gd name="T2" fmla="*/ 0 w 70"/>
                        <a:gd name="T3" fmla="*/ 0 h 183"/>
                        <a:gd name="T4" fmla="*/ 0 w 70"/>
                        <a:gd name="T5" fmla="*/ 0 h 183"/>
                        <a:gd name="T6" fmla="*/ 0 w 70"/>
                        <a:gd name="T7" fmla="*/ 0 h 183"/>
                        <a:gd name="T8" fmla="*/ 0 w 70"/>
                        <a:gd name="T9" fmla="*/ 0 h 183"/>
                        <a:gd name="T10" fmla="*/ 0 w 70"/>
                        <a:gd name="T11" fmla="*/ 0 h 183"/>
                        <a:gd name="T12" fmla="*/ 0 w 70"/>
                        <a:gd name="T13" fmla="*/ 0 h 183"/>
                        <a:gd name="T14" fmla="*/ 0 w 70"/>
                        <a:gd name="T15" fmla="*/ 0 h 183"/>
                        <a:gd name="T16" fmla="*/ 0 w 70"/>
                        <a:gd name="T17" fmla="*/ 0 h 183"/>
                        <a:gd name="T18" fmla="*/ 0 w 70"/>
                        <a:gd name="T19" fmla="*/ 0 h 183"/>
                        <a:gd name="T20" fmla="*/ 0 w 70"/>
                        <a:gd name="T21" fmla="*/ 0 h 183"/>
                        <a:gd name="T22" fmla="*/ 0 w 70"/>
                        <a:gd name="T23" fmla="*/ 0 h 1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0" h="183">
                          <a:moveTo>
                            <a:pt x="55" y="2"/>
                          </a:moveTo>
                          <a:lnTo>
                            <a:pt x="30" y="0"/>
                          </a:lnTo>
                          <a:lnTo>
                            <a:pt x="14" y="10"/>
                          </a:lnTo>
                          <a:lnTo>
                            <a:pt x="8" y="31"/>
                          </a:lnTo>
                          <a:lnTo>
                            <a:pt x="0" y="72"/>
                          </a:lnTo>
                          <a:lnTo>
                            <a:pt x="18" y="181"/>
                          </a:lnTo>
                          <a:lnTo>
                            <a:pt x="30" y="183"/>
                          </a:lnTo>
                          <a:lnTo>
                            <a:pt x="30" y="88"/>
                          </a:lnTo>
                          <a:lnTo>
                            <a:pt x="62" y="48"/>
                          </a:lnTo>
                          <a:lnTo>
                            <a:pt x="70" y="29"/>
                          </a:lnTo>
                          <a:lnTo>
                            <a:pt x="68" y="12"/>
                          </a:lnTo>
                          <a:lnTo>
                            <a:pt x="55" y="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sp>
            <p:nvSpPr>
              <p:cNvPr id="188" name="Rectangle 72"/>
              <p:cNvSpPr>
                <a:spLocks noChangeArrowheads="1"/>
              </p:cNvSpPr>
              <p:nvPr/>
            </p:nvSpPr>
            <p:spPr bwMode="auto">
              <a:xfrm>
                <a:off x="1850" y="3384"/>
                <a:ext cx="76" cy="4"/>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89" name="Freeform 73"/>
              <p:cNvSpPr>
                <a:spLocks/>
              </p:cNvSpPr>
              <p:nvPr/>
            </p:nvSpPr>
            <p:spPr bwMode="auto">
              <a:xfrm>
                <a:off x="1873" y="3393"/>
                <a:ext cx="33" cy="8"/>
              </a:xfrm>
              <a:custGeom>
                <a:avLst/>
                <a:gdLst>
                  <a:gd name="T0" fmla="*/ 0 w 200"/>
                  <a:gd name="T1" fmla="*/ 0 h 36"/>
                  <a:gd name="T2" fmla="*/ 0 w 200"/>
                  <a:gd name="T3" fmla="*/ 0 h 36"/>
                  <a:gd name="T4" fmla="*/ 0 w 200"/>
                  <a:gd name="T5" fmla="*/ 0 h 36"/>
                  <a:gd name="T6" fmla="*/ 0 w 200"/>
                  <a:gd name="T7" fmla="*/ 0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 h="36">
                    <a:moveTo>
                      <a:pt x="5" y="36"/>
                    </a:moveTo>
                    <a:lnTo>
                      <a:pt x="0" y="0"/>
                    </a:lnTo>
                    <a:lnTo>
                      <a:pt x="194" y="0"/>
                    </a:lnTo>
                    <a:lnTo>
                      <a:pt x="200" y="35"/>
                    </a:lnTo>
                  </a:path>
                </a:pathLst>
              </a:custGeom>
              <a:noFill/>
              <a:ln w="4763">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0" name="Freeform 74"/>
              <p:cNvSpPr>
                <a:spLocks/>
              </p:cNvSpPr>
              <p:nvPr/>
            </p:nvSpPr>
            <p:spPr bwMode="auto">
              <a:xfrm>
                <a:off x="1783" y="3136"/>
                <a:ext cx="29" cy="36"/>
              </a:xfrm>
              <a:custGeom>
                <a:avLst/>
                <a:gdLst>
                  <a:gd name="T0" fmla="*/ 0 w 177"/>
                  <a:gd name="T1" fmla="*/ 0 h 180"/>
                  <a:gd name="T2" fmla="*/ 0 w 177"/>
                  <a:gd name="T3" fmla="*/ 0 h 180"/>
                  <a:gd name="T4" fmla="*/ 0 w 177"/>
                  <a:gd name="T5" fmla="*/ 0 h 180"/>
                  <a:gd name="T6" fmla="*/ 0 w 177"/>
                  <a:gd name="T7" fmla="*/ 0 h 180"/>
                  <a:gd name="T8" fmla="*/ 0 w 177"/>
                  <a:gd name="T9" fmla="*/ 0 h 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7" h="180">
                    <a:moveTo>
                      <a:pt x="163" y="0"/>
                    </a:moveTo>
                    <a:lnTo>
                      <a:pt x="0" y="0"/>
                    </a:lnTo>
                    <a:lnTo>
                      <a:pt x="12" y="180"/>
                    </a:lnTo>
                    <a:lnTo>
                      <a:pt x="177" y="180"/>
                    </a:lnTo>
                    <a:lnTo>
                      <a:pt x="163" y="0"/>
                    </a:lnTo>
                    <a:close/>
                  </a:path>
                </a:pathLst>
              </a:custGeom>
              <a:solidFill>
                <a:srgbClr val="C0C0C0"/>
              </a:solidFill>
              <a:ln w="4763">
                <a:solidFill>
                  <a:srgbClr val="808080"/>
                </a:solidFill>
                <a:prstDash val="solid"/>
                <a:round/>
                <a:headEnd/>
                <a:tailEnd/>
              </a:ln>
            </p:spPr>
            <p:txBody>
              <a:bodyPr/>
              <a:lstStyle/>
              <a:p>
                <a:endParaRPr lang="zh-CN" altLang="en-US"/>
              </a:p>
            </p:txBody>
          </p:sp>
          <p:sp>
            <p:nvSpPr>
              <p:cNvPr id="191" name="Freeform 75"/>
              <p:cNvSpPr>
                <a:spLocks/>
              </p:cNvSpPr>
              <p:nvPr/>
            </p:nvSpPr>
            <p:spPr bwMode="auto">
              <a:xfrm>
                <a:off x="1786" y="3197"/>
                <a:ext cx="31" cy="37"/>
              </a:xfrm>
              <a:custGeom>
                <a:avLst/>
                <a:gdLst>
                  <a:gd name="T0" fmla="*/ 0 w 183"/>
                  <a:gd name="T1" fmla="*/ 0 h 182"/>
                  <a:gd name="T2" fmla="*/ 0 w 183"/>
                  <a:gd name="T3" fmla="*/ 0 h 182"/>
                  <a:gd name="T4" fmla="*/ 0 w 183"/>
                  <a:gd name="T5" fmla="*/ 0 h 182"/>
                  <a:gd name="T6" fmla="*/ 0 w 183"/>
                  <a:gd name="T7" fmla="*/ 0 h 182"/>
                  <a:gd name="T8" fmla="*/ 0 w 183"/>
                  <a:gd name="T9" fmla="*/ 0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2">
                    <a:moveTo>
                      <a:pt x="170" y="0"/>
                    </a:moveTo>
                    <a:lnTo>
                      <a:pt x="0" y="0"/>
                    </a:lnTo>
                    <a:lnTo>
                      <a:pt x="12" y="182"/>
                    </a:lnTo>
                    <a:lnTo>
                      <a:pt x="183" y="181"/>
                    </a:lnTo>
                    <a:lnTo>
                      <a:pt x="170" y="0"/>
                    </a:lnTo>
                    <a:close/>
                  </a:path>
                </a:pathLst>
              </a:custGeom>
              <a:solidFill>
                <a:srgbClr val="C0C0C0"/>
              </a:solidFill>
              <a:ln w="4763">
                <a:solidFill>
                  <a:srgbClr val="808080"/>
                </a:solidFill>
                <a:prstDash val="solid"/>
                <a:round/>
                <a:headEnd/>
                <a:tailEnd/>
              </a:ln>
            </p:spPr>
            <p:txBody>
              <a:bodyPr/>
              <a:lstStyle/>
              <a:p>
                <a:endParaRPr lang="zh-CN" altLang="en-US"/>
              </a:p>
            </p:txBody>
          </p:sp>
          <p:grpSp>
            <p:nvGrpSpPr>
              <p:cNvPr id="192" name="Group 81"/>
              <p:cNvGrpSpPr>
                <a:grpSpLocks/>
              </p:cNvGrpSpPr>
              <p:nvPr/>
            </p:nvGrpSpPr>
            <p:grpSpPr bwMode="auto">
              <a:xfrm>
                <a:off x="1830" y="3194"/>
                <a:ext cx="130" cy="39"/>
                <a:chOff x="1830" y="3194"/>
                <a:chExt cx="130" cy="39"/>
              </a:xfrm>
            </p:grpSpPr>
            <p:sp>
              <p:nvSpPr>
                <p:cNvPr id="193" name="Rectangle 76"/>
                <p:cNvSpPr>
                  <a:spLocks noChangeArrowheads="1"/>
                </p:cNvSpPr>
                <p:nvPr/>
              </p:nvSpPr>
              <p:spPr bwMode="auto">
                <a:xfrm>
                  <a:off x="1830" y="3194"/>
                  <a:ext cx="130" cy="39"/>
                </a:xfrm>
                <a:prstGeom prst="rect">
                  <a:avLst/>
                </a:prstGeom>
                <a:solidFill>
                  <a:srgbClr val="606060"/>
                </a:solidFill>
                <a:ln w="4763">
                  <a:solidFill>
                    <a:srgbClr val="808080"/>
                  </a:solidFill>
                  <a:miter lim="800000"/>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94" name="Rectangle 77"/>
                <p:cNvSpPr>
                  <a:spLocks noChangeArrowheads="1"/>
                </p:cNvSpPr>
                <p:nvPr/>
              </p:nvSpPr>
              <p:spPr bwMode="auto">
                <a:xfrm>
                  <a:off x="1854" y="3200"/>
                  <a:ext cx="16" cy="1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95" name="Rectangle 78"/>
                <p:cNvSpPr>
                  <a:spLocks noChangeArrowheads="1"/>
                </p:cNvSpPr>
                <p:nvPr/>
              </p:nvSpPr>
              <p:spPr bwMode="auto">
                <a:xfrm>
                  <a:off x="1854" y="3216"/>
                  <a:ext cx="16" cy="1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96" name="Rectangle 79"/>
                <p:cNvSpPr>
                  <a:spLocks noChangeArrowheads="1"/>
                </p:cNvSpPr>
                <p:nvPr/>
              </p:nvSpPr>
              <p:spPr bwMode="auto">
                <a:xfrm>
                  <a:off x="1885" y="3207"/>
                  <a:ext cx="16" cy="13"/>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sp>
              <p:nvSpPr>
                <p:cNvPr id="197" name="Oval 80"/>
                <p:cNvSpPr>
                  <a:spLocks noChangeArrowheads="1"/>
                </p:cNvSpPr>
                <p:nvPr/>
              </p:nvSpPr>
              <p:spPr bwMode="auto">
                <a:xfrm>
                  <a:off x="1838" y="3208"/>
                  <a:ext cx="11" cy="15"/>
                </a:xfrm>
                <a:prstGeom prst="ellipse">
                  <a:avLst/>
                </a:pr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zh-CN" altLang="en-US" sz="1800">
                    <a:latin typeface="Arial" panose="020B0604020202020204" pitchFamily="34" charset="0"/>
                    <a:ea typeface="宋体" panose="02010600030101010101" pitchFamily="2" charset="-122"/>
                  </a:endParaRPr>
                </a:p>
              </p:txBody>
            </p:sp>
          </p:grpSp>
        </p:grpSp>
      </p:grpSp>
      <p:sp>
        <p:nvSpPr>
          <p:cNvPr id="226" name="Text Box 17"/>
          <p:cNvSpPr txBox="1">
            <a:spLocks noChangeArrowheads="1"/>
          </p:cNvSpPr>
          <p:nvPr/>
        </p:nvSpPr>
        <p:spPr bwMode="auto">
          <a:xfrm>
            <a:off x="7163981" y="2265402"/>
            <a:ext cx="8382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200 OK</a:t>
            </a:r>
            <a:endParaRPr lang="zh-CN" altLang="en-US" sz="1600">
              <a:latin typeface="Times New Roman" panose="02020603050405020304" pitchFamily="18" charset="0"/>
            </a:endParaRPr>
          </a:p>
        </p:txBody>
      </p:sp>
      <p:sp>
        <p:nvSpPr>
          <p:cNvPr id="229" name="Text Box 17"/>
          <p:cNvSpPr txBox="1">
            <a:spLocks noChangeArrowheads="1"/>
          </p:cNvSpPr>
          <p:nvPr/>
        </p:nvSpPr>
        <p:spPr bwMode="auto">
          <a:xfrm>
            <a:off x="3090456" y="1133514"/>
            <a:ext cx="8683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INVITE</a:t>
            </a:r>
            <a:endParaRPr lang="zh-CN" altLang="en-US" sz="1600">
              <a:latin typeface="Times New Roman" panose="02020603050405020304" pitchFamily="18" charset="0"/>
            </a:endParaRPr>
          </a:p>
        </p:txBody>
      </p:sp>
      <p:sp>
        <p:nvSpPr>
          <p:cNvPr id="230" name="Text Box 17"/>
          <p:cNvSpPr txBox="1">
            <a:spLocks noChangeArrowheads="1"/>
          </p:cNvSpPr>
          <p:nvPr/>
        </p:nvSpPr>
        <p:spPr bwMode="auto">
          <a:xfrm>
            <a:off x="7097306" y="1406564"/>
            <a:ext cx="8683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INVITE</a:t>
            </a:r>
            <a:endParaRPr lang="zh-CN" altLang="en-US" sz="1600">
              <a:latin typeface="Times New Roman" panose="02020603050405020304" pitchFamily="18" charset="0"/>
            </a:endParaRPr>
          </a:p>
        </p:txBody>
      </p:sp>
      <p:sp>
        <p:nvSpPr>
          <p:cNvPr id="231" name="Text Box 17"/>
          <p:cNvSpPr txBox="1">
            <a:spLocks noChangeArrowheads="1"/>
          </p:cNvSpPr>
          <p:nvPr/>
        </p:nvSpPr>
        <p:spPr bwMode="auto">
          <a:xfrm>
            <a:off x="6960781" y="1679614"/>
            <a:ext cx="1092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100 Trying</a:t>
            </a:r>
            <a:endParaRPr lang="zh-CN" altLang="en-US" sz="1600">
              <a:latin typeface="Times New Roman" panose="02020603050405020304" pitchFamily="18" charset="0"/>
            </a:endParaRPr>
          </a:p>
        </p:txBody>
      </p:sp>
      <p:sp>
        <p:nvSpPr>
          <p:cNvPr id="232" name="Text Box 17"/>
          <p:cNvSpPr txBox="1">
            <a:spLocks noChangeArrowheads="1"/>
          </p:cNvSpPr>
          <p:nvPr/>
        </p:nvSpPr>
        <p:spPr bwMode="auto">
          <a:xfrm>
            <a:off x="3014256" y="1382752"/>
            <a:ext cx="10922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zh-CN" sz="1600">
                <a:latin typeface="Times New Roman" panose="02020603050405020304" pitchFamily="18" charset="0"/>
              </a:rPr>
              <a:t>100 Trying</a:t>
            </a:r>
            <a:endParaRPr lang="zh-CN" altLang="en-US" sz="1600">
              <a:latin typeface="Times New Roman" panose="02020603050405020304" pitchFamily="18" charset="0"/>
            </a:endParaRPr>
          </a:p>
        </p:txBody>
      </p:sp>
      <p:sp>
        <p:nvSpPr>
          <p:cNvPr id="238" name="Line 26"/>
          <p:cNvSpPr>
            <a:spLocks noChangeShapeType="1"/>
          </p:cNvSpPr>
          <p:nvPr/>
        </p:nvSpPr>
        <p:spPr bwMode="auto">
          <a:xfrm rot="16200000" flipH="1">
            <a:off x="3530898" y="724033"/>
            <a:ext cx="92254" cy="1366835"/>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0" name="Line 26"/>
          <p:cNvSpPr>
            <a:spLocks noChangeShapeType="1"/>
          </p:cNvSpPr>
          <p:nvPr/>
        </p:nvSpPr>
        <p:spPr bwMode="auto">
          <a:xfrm rot="16200000" flipH="1">
            <a:off x="5517686" y="250008"/>
            <a:ext cx="52638" cy="257453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1" name="Line 26"/>
          <p:cNvSpPr>
            <a:spLocks noChangeShapeType="1"/>
          </p:cNvSpPr>
          <p:nvPr/>
        </p:nvSpPr>
        <p:spPr bwMode="auto">
          <a:xfrm rot="16200000" flipH="1">
            <a:off x="7516238" y="982478"/>
            <a:ext cx="81792" cy="141714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2" name="Line 20"/>
          <p:cNvSpPr>
            <a:spLocks noChangeShapeType="1"/>
          </p:cNvSpPr>
          <p:nvPr/>
        </p:nvSpPr>
        <p:spPr bwMode="auto">
          <a:xfrm rot="5400000">
            <a:off x="5468615" y="562404"/>
            <a:ext cx="134881" cy="261684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3" name="Line 20"/>
          <p:cNvSpPr>
            <a:spLocks noChangeShapeType="1"/>
          </p:cNvSpPr>
          <p:nvPr/>
        </p:nvSpPr>
        <p:spPr bwMode="auto">
          <a:xfrm rot="5400000">
            <a:off x="7511972" y="1299518"/>
            <a:ext cx="79949" cy="141799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5" name="Line 26"/>
          <p:cNvSpPr>
            <a:spLocks noChangeShapeType="1"/>
          </p:cNvSpPr>
          <p:nvPr/>
        </p:nvSpPr>
        <p:spPr bwMode="auto">
          <a:xfrm rot="16200000" flipH="1">
            <a:off x="5516340" y="555848"/>
            <a:ext cx="92657" cy="5355273"/>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6" name="Line 26"/>
          <p:cNvSpPr>
            <a:spLocks noChangeShapeType="1"/>
          </p:cNvSpPr>
          <p:nvPr/>
        </p:nvSpPr>
        <p:spPr bwMode="auto">
          <a:xfrm rot="16200000" flipH="1">
            <a:off x="5538061" y="2075734"/>
            <a:ext cx="87457" cy="539005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7" name="Line 20"/>
          <p:cNvSpPr>
            <a:spLocks noChangeShapeType="1"/>
          </p:cNvSpPr>
          <p:nvPr/>
        </p:nvSpPr>
        <p:spPr bwMode="auto">
          <a:xfrm rot="5400000">
            <a:off x="5440920" y="1708934"/>
            <a:ext cx="226600" cy="542282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8" name="Line 20"/>
          <p:cNvSpPr>
            <a:spLocks noChangeShapeType="1"/>
          </p:cNvSpPr>
          <p:nvPr/>
        </p:nvSpPr>
        <p:spPr bwMode="auto">
          <a:xfrm rot="5400000">
            <a:off x="3500147" y="2302645"/>
            <a:ext cx="109726" cy="13926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9" name="Line 20"/>
          <p:cNvSpPr>
            <a:spLocks noChangeShapeType="1"/>
          </p:cNvSpPr>
          <p:nvPr/>
        </p:nvSpPr>
        <p:spPr bwMode="auto">
          <a:xfrm rot="5400000">
            <a:off x="5494069" y="1443101"/>
            <a:ext cx="134881" cy="261684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0" name="Line 20"/>
          <p:cNvSpPr>
            <a:spLocks noChangeShapeType="1"/>
          </p:cNvSpPr>
          <p:nvPr/>
        </p:nvSpPr>
        <p:spPr bwMode="auto">
          <a:xfrm rot="5400000">
            <a:off x="7511972" y="1842032"/>
            <a:ext cx="79949" cy="141799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1" name="Line 20"/>
          <p:cNvSpPr>
            <a:spLocks noChangeShapeType="1"/>
          </p:cNvSpPr>
          <p:nvPr/>
        </p:nvSpPr>
        <p:spPr bwMode="auto">
          <a:xfrm rot="5400000">
            <a:off x="3509251" y="1997963"/>
            <a:ext cx="109726" cy="13926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2" name="Line 20"/>
          <p:cNvSpPr>
            <a:spLocks noChangeShapeType="1"/>
          </p:cNvSpPr>
          <p:nvPr/>
        </p:nvSpPr>
        <p:spPr bwMode="auto">
          <a:xfrm rot="5400000">
            <a:off x="5494068" y="1163132"/>
            <a:ext cx="134881" cy="261684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3" name="Line 20"/>
          <p:cNvSpPr>
            <a:spLocks noChangeShapeType="1"/>
          </p:cNvSpPr>
          <p:nvPr/>
        </p:nvSpPr>
        <p:spPr bwMode="auto">
          <a:xfrm rot="5400000">
            <a:off x="7511972" y="1587293"/>
            <a:ext cx="79949" cy="141799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Tree>
    <p:extLst>
      <p:ext uri="{BB962C8B-B14F-4D97-AF65-F5344CB8AC3E}">
        <p14:creationId xmlns:p14="http://schemas.microsoft.com/office/powerpoint/2010/main" val="35173959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52165"/>
            <a:ext cx="812901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主叫和被叫都有与其相关联的代理服务器，负责帮助用户发送或接收各种</a:t>
            </a:r>
            <a:r>
              <a:rPr lang="zh-CN" altLang="en-US" sz="2000" b="1" dirty="0" smtClean="0">
                <a:latin typeface="微软雅黑" pitchFamily="34" charset="-122"/>
                <a:ea typeface="微软雅黑" pitchFamily="34" charset="-122"/>
              </a:rPr>
              <a:t>报文。</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代理</a:t>
            </a:r>
            <a:r>
              <a:rPr lang="zh-CN" altLang="en-US" sz="2000" b="1" dirty="0">
                <a:latin typeface="微软雅黑" pitchFamily="34" charset="-122"/>
                <a:ea typeface="微软雅黑" pitchFamily="34" charset="-122"/>
              </a:rPr>
              <a:t>服务器或用户</a:t>
            </a:r>
            <a:r>
              <a:rPr lang="zh-CN" altLang="en-US" sz="2000" b="1" dirty="0" smtClean="0">
                <a:latin typeface="微软雅黑" pitchFamily="34" charset="-122"/>
                <a:ea typeface="微软雅黑" pitchFamily="34" charset="-122"/>
              </a:rPr>
              <a:t>代理正确收到</a:t>
            </a:r>
            <a:r>
              <a:rPr lang="en-US" altLang="zh-CN" sz="2000" b="1" dirty="0" smtClean="0">
                <a:latin typeface="微软雅黑" pitchFamily="34" charset="-122"/>
                <a:ea typeface="微软雅黑" pitchFamily="34" charset="-122"/>
              </a:rPr>
              <a:t>INVITE</a:t>
            </a:r>
            <a:r>
              <a:rPr lang="zh-CN" altLang="en-US" sz="2000" b="1" dirty="0" smtClean="0">
                <a:latin typeface="微软雅黑" pitchFamily="34" charset="-122"/>
                <a:ea typeface="微软雅黑" pitchFamily="34" charset="-122"/>
              </a:rPr>
              <a:t>报文并验证合法性后，发</a:t>
            </a:r>
            <a:r>
              <a:rPr lang="zh-CN" altLang="en-US" sz="2000" b="1" dirty="0">
                <a:latin typeface="微软雅黑" pitchFamily="34" charset="-122"/>
                <a:ea typeface="微软雅黑" pitchFamily="34" charset="-122"/>
              </a:rPr>
              <a:t>回响应“</a:t>
            </a:r>
            <a:r>
              <a:rPr lang="en-US" altLang="zh-CN" sz="2000" b="1" dirty="0">
                <a:latin typeface="微软雅黑" pitchFamily="34" charset="-122"/>
                <a:ea typeface="微软雅黑" pitchFamily="34" charset="-122"/>
              </a:rPr>
              <a:t>100 Trying”</a:t>
            </a:r>
            <a:r>
              <a:rPr lang="zh-CN" altLang="en-US" sz="2000" b="1" dirty="0">
                <a:latin typeface="微软雅黑" pitchFamily="34" charset="-122"/>
                <a:ea typeface="微软雅黑" pitchFamily="34" charset="-122"/>
              </a:rPr>
              <a:t>，表示确认</a:t>
            </a:r>
            <a:r>
              <a:rPr lang="zh-CN" altLang="en-US" sz="2000" b="1" dirty="0" smtClean="0">
                <a:latin typeface="微软雅黑" pitchFamily="34" charset="-122"/>
                <a:ea typeface="微软雅黑" pitchFamily="34" charset="-122"/>
              </a:rPr>
              <a:t>收到并</a:t>
            </a:r>
            <a:r>
              <a:rPr lang="zh-CN" altLang="en-US" sz="2000" b="1" dirty="0">
                <a:latin typeface="微软雅黑" pitchFamily="34" charset="-122"/>
                <a:ea typeface="微软雅黑" pitchFamily="34" charset="-122"/>
              </a:rPr>
              <a:t>正在处理此请求。</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被叫方的用户代理</a:t>
            </a:r>
            <a:r>
              <a:rPr lang="en-US" altLang="zh-CN" sz="2000" b="1" dirty="0">
                <a:latin typeface="微软雅黑" pitchFamily="34" charset="-122"/>
                <a:ea typeface="微软雅黑" pitchFamily="34" charset="-122"/>
              </a:rPr>
              <a:t>UA</a:t>
            </a:r>
            <a:r>
              <a:rPr lang="zh-CN" altLang="en-US" sz="2000" b="1" dirty="0">
                <a:latin typeface="微软雅黑" pitchFamily="34" charset="-122"/>
                <a:ea typeface="微软雅黑" pitchFamily="34" charset="-122"/>
              </a:rPr>
              <a:t>在收到</a:t>
            </a:r>
            <a:r>
              <a:rPr lang="en-US" altLang="zh-CN" sz="2000" b="1" dirty="0">
                <a:latin typeface="微软雅黑" pitchFamily="34" charset="-122"/>
                <a:ea typeface="微软雅黑" pitchFamily="34" charset="-122"/>
              </a:rPr>
              <a:t>INVITE</a:t>
            </a:r>
            <a:r>
              <a:rPr lang="zh-CN" altLang="en-US" sz="2000" b="1" dirty="0">
                <a:latin typeface="微软雅黑" pitchFamily="34" charset="-122"/>
                <a:ea typeface="微软雅黑" pitchFamily="34" charset="-122"/>
              </a:rPr>
              <a:t>报文后</a:t>
            </a:r>
            <a:r>
              <a:rPr lang="zh-CN" altLang="en-US" sz="2000" b="1" dirty="0" smtClean="0">
                <a:latin typeface="微软雅黑" pitchFamily="34" charset="-122"/>
                <a:ea typeface="微软雅黑" pitchFamily="34" charset="-122"/>
              </a:rPr>
              <a:t>，向</a:t>
            </a:r>
            <a:r>
              <a:rPr lang="zh-CN" altLang="en-US" sz="2000" b="1" dirty="0">
                <a:latin typeface="微软雅黑" pitchFamily="34" charset="-122"/>
                <a:ea typeface="微软雅黑" pitchFamily="34" charset="-122"/>
              </a:rPr>
              <a:t>其代理服务器发送确认“</a:t>
            </a:r>
            <a:r>
              <a:rPr lang="en-US" altLang="zh-CN" sz="2000" b="1" dirty="0">
                <a:latin typeface="微软雅黑" pitchFamily="34" charset="-122"/>
                <a:ea typeface="微软雅黑" pitchFamily="34" charset="-122"/>
              </a:rPr>
              <a:t>100 Trying</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，若具有与报文</a:t>
            </a:r>
            <a:r>
              <a:rPr lang="zh-CN" altLang="en-US" sz="2000" b="1" dirty="0">
                <a:latin typeface="微软雅黑" pitchFamily="34" charset="-122"/>
                <a:ea typeface="微软雅黑" pitchFamily="34" charset="-122"/>
              </a:rPr>
              <a:t>中</a:t>
            </a:r>
            <a:r>
              <a:rPr lang="en-US" altLang="zh-CN" sz="2000" b="1" dirty="0">
                <a:latin typeface="微软雅黑" pitchFamily="34" charset="-122"/>
                <a:ea typeface="微软雅黑" pitchFamily="34" charset="-122"/>
              </a:rPr>
              <a:t>SDP</a:t>
            </a:r>
            <a:r>
              <a:rPr lang="zh-CN" altLang="en-US" sz="2000" b="1" dirty="0">
                <a:latin typeface="微软雅黑" pitchFamily="34" charset="-122"/>
                <a:ea typeface="微软雅黑" pitchFamily="34" charset="-122"/>
              </a:rPr>
              <a:t>描述的媒体</a:t>
            </a:r>
            <a:r>
              <a:rPr lang="zh-CN" altLang="en-US" sz="2000" b="1" dirty="0" smtClean="0">
                <a:latin typeface="微软雅黑" pitchFamily="34" charset="-122"/>
                <a:ea typeface="微软雅黑" pitchFamily="34" charset="-122"/>
              </a:rPr>
              <a:t>格式一致的媒体</a:t>
            </a:r>
            <a:r>
              <a:rPr lang="zh-CN" altLang="en-US" sz="2000" b="1" dirty="0">
                <a:latin typeface="微软雅黑" pitchFamily="34" charset="-122"/>
                <a:ea typeface="微软雅黑" pitchFamily="34" charset="-122"/>
              </a:rPr>
              <a:t>格式</a:t>
            </a:r>
            <a:r>
              <a:rPr lang="zh-CN" altLang="en-US" sz="2000" b="1" dirty="0" smtClean="0">
                <a:latin typeface="微软雅黑" pitchFamily="34" charset="-122"/>
                <a:ea typeface="微软雅黑" pitchFamily="34" charset="-122"/>
              </a:rPr>
              <a:t>，则向</a:t>
            </a:r>
            <a:r>
              <a:rPr lang="zh-CN" altLang="en-US" sz="2000" b="1" dirty="0">
                <a:latin typeface="微软雅黑" pitchFamily="34" charset="-122"/>
                <a:ea typeface="微软雅黑" pitchFamily="34" charset="-122"/>
              </a:rPr>
              <a:t>被叫用户振铃，同时向其代理服务器发送响应“</a:t>
            </a:r>
            <a:r>
              <a:rPr lang="en-US" altLang="zh-CN" sz="2000" b="1" dirty="0">
                <a:latin typeface="微软雅黑" pitchFamily="34" charset="-122"/>
                <a:ea typeface="微软雅黑" pitchFamily="34" charset="-122"/>
              </a:rPr>
              <a:t>180 Ringing”</a:t>
            </a:r>
            <a:r>
              <a:rPr lang="zh-CN" altLang="en-US" sz="2000" b="1" dirty="0">
                <a:latin typeface="微软雅黑" pitchFamily="34" charset="-122"/>
                <a:ea typeface="微软雅黑" pitchFamily="34" charset="-122"/>
              </a:rPr>
              <a:t>，表示正在振铃</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070222" y="593125"/>
            <a:ext cx="30123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一个简单的 </a:t>
            </a: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会话</a:t>
            </a:r>
          </a:p>
        </p:txBody>
      </p:sp>
    </p:spTree>
    <p:custDataLst>
      <p:tags r:id="rId1"/>
    </p:custDataLst>
    <p:extLst>
      <p:ext uri="{BB962C8B-B14F-4D97-AF65-F5344CB8AC3E}">
        <p14:creationId xmlns:p14="http://schemas.microsoft.com/office/powerpoint/2010/main" val="2089263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35231"/>
            <a:ext cx="8129016" cy="39010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主叫</a:t>
            </a:r>
            <a:r>
              <a:rPr lang="zh-CN" altLang="en-US" sz="2000" b="1" dirty="0">
                <a:latin typeface="微软雅黑" pitchFamily="34" charset="-122"/>
                <a:ea typeface="微软雅黑" pitchFamily="34" charset="-122"/>
              </a:rPr>
              <a:t>方的用户代理收到响应“</a:t>
            </a:r>
            <a:r>
              <a:rPr lang="en-US" altLang="zh-CN" sz="2000" b="1" dirty="0">
                <a:latin typeface="微软雅黑" pitchFamily="34" charset="-122"/>
                <a:ea typeface="微软雅黑" pitchFamily="34" charset="-122"/>
              </a:rPr>
              <a:t>180 Ringing”</a:t>
            </a:r>
            <a:r>
              <a:rPr lang="zh-CN" altLang="en-US" sz="2000" b="1" dirty="0">
                <a:latin typeface="微软雅黑" pitchFamily="34" charset="-122"/>
                <a:ea typeface="微软雅黑" pitchFamily="34" charset="-122"/>
              </a:rPr>
              <a:t>后，就知道</a:t>
            </a:r>
            <a:r>
              <a:rPr lang="zh-CN" altLang="en-US" sz="2000" b="1" dirty="0" smtClean="0">
                <a:latin typeface="微软雅黑" pitchFamily="34" charset="-122"/>
                <a:ea typeface="微软雅黑" pitchFamily="34" charset="-122"/>
              </a:rPr>
              <a:t>被叫方的</a:t>
            </a:r>
            <a:r>
              <a:rPr lang="zh-CN" altLang="en-US" sz="2000" b="1" dirty="0">
                <a:latin typeface="微软雅黑" pitchFamily="34" charset="-122"/>
                <a:ea typeface="微软雅黑" pitchFamily="34" charset="-122"/>
              </a:rPr>
              <a:t>电话正在振铃</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被叫</a:t>
            </a:r>
            <a:r>
              <a:rPr lang="zh-CN" altLang="en-US" sz="2000" b="1" dirty="0">
                <a:latin typeface="微软雅黑" pitchFamily="34" charset="-122"/>
                <a:ea typeface="微软雅黑" pitchFamily="34" charset="-122"/>
              </a:rPr>
              <a:t>摘</a:t>
            </a:r>
            <a:r>
              <a:rPr lang="zh-CN" altLang="en-US" sz="2000" b="1" dirty="0" smtClean="0">
                <a:latin typeface="微软雅黑" pitchFamily="34" charset="-122"/>
                <a:ea typeface="微软雅黑" pitchFamily="34" charset="-122"/>
              </a:rPr>
              <a:t>机则</a:t>
            </a:r>
            <a:r>
              <a:rPr lang="zh-CN" altLang="en-US" sz="2000" b="1" dirty="0">
                <a:latin typeface="微软雅黑" pitchFamily="34" charset="-122"/>
                <a:ea typeface="微软雅黑" pitchFamily="34" charset="-122"/>
              </a:rPr>
              <a:t>表示接受呼叫，其用户代理</a:t>
            </a:r>
            <a:r>
              <a:rPr lang="en-US" altLang="zh-CN" sz="2000" b="1" dirty="0">
                <a:latin typeface="微软雅黑" pitchFamily="34" charset="-122"/>
                <a:ea typeface="微软雅黑" pitchFamily="34" charset="-122"/>
              </a:rPr>
              <a:t>UA</a:t>
            </a:r>
            <a:r>
              <a:rPr lang="zh-CN" altLang="en-US" sz="2000" b="1" dirty="0">
                <a:latin typeface="微软雅黑" pitchFamily="34" charset="-122"/>
                <a:ea typeface="微软雅黑" pitchFamily="34" charset="-122"/>
              </a:rPr>
              <a:t>就向代理服务器发送响应“</a:t>
            </a:r>
            <a:r>
              <a:rPr lang="en-US" altLang="zh-CN" sz="2000" b="1" dirty="0">
                <a:latin typeface="微软雅黑" pitchFamily="34" charset="-122"/>
                <a:ea typeface="微软雅黑" pitchFamily="34" charset="-122"/>
              </a:rPr>
              <a:t>200 OK”</a:t>
            </a:r>
            <a:r>
              <a:rPr lang="zh-CN" altLang="en-US" sz="2000" b="1" dirty="0" smtClean="0">
                <a:latin typeface="微软雅黑" pitchFamily="34" charset="-122"/>
                <a:ea typeface="微软雅黑" pitchFamily="34" charset="-122"/>
              </a:rPr>
              <a:t>。被叫</a:t>
            </a:r>
            <a:r>
              <a:rPr lang="zh-CN" altLang="en-US" sz="2000" b="1" dirty="0">
                <a:latin typeface="微软雅黑" pitchFamily="34" charset="-122"/>
                <a:ea typeface="微软雅黑" pitchFamily="34" charset="-122"/>
              </a:rPr>
              <a:t>的用户代理在发送“</a:t>
            </a:r>
            <a:r>
              <a:rPr lang="en-US" altLang="zh-CN" sz="2000" b="1" dirty="0">
                <a:latin typeface="微软雅黑" pitchFamily="34" charset="-122"/>
                <a:ea typeface="微软雅黑" pitchFamily="34" charset="-122"/>
              </a:rPr>
              <a:t>200 OK”</a:t>
            </a:r>
            <a:r>
              <a:rPr lang="zh-CN" altLang="en-US" sz="2000" b="1" dirty="0">
                <a:latin typeface="微软雅黑" pitchFamily="34" charset="-122"/>
                <a:ea typeface="微软雅黑" pitchFamily="34" charset="-122"/>
              </a:rPr>
              <a:t>报文的主体</a:t>
            </a:r>
            <a:r>
              <a:rPr lang="zh-CN" altLang="en-US" sz="2000" b="1" dirty="0" smtClean="0">
                <a:latin typeface="微软雅黑" pitchFamily="34" charset="-122"/>
                <a:ea typeface="微软雅黑" pitchFamily="34" charset="-122"/>
              </a:rPr>
              <a:t>中可以指明通话方式。</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主叫</a:t>
            </a:r>
            <a:r>
              <a:rPr lang="zh-CN" altLang="en-US" sz="2000" b="1" dirty="0">
                <a:latin typeface="微软雅黑" pitchFamily="34" charset="-122"/>
                <a:ea typeface="微软雅黑" pitchFamily="34" charset="-122"/>
              </a:rPr>
              <a:t>收方到“</a:t>
            </a:r>
            <a:r>
              <a:rPr lang="en-US" altLang="zh-CN" sz="2000" b="1" dirty="0">
                <a:latin typeface="微软雅黑" pitchFamily="34" charset="-122"/>
                <a:ea typeface="微软雅黑" pitchFamily="34" charset="-122"/>
              </a:rPr>
              <a:t>200 OK”</a:t>
            </a:r>
            <a:r>
              <a:rPr lang="zh-CN" altLang="en-US" sz="2000" b="1" dirty="0">
                <a:latin typeface="微软雅黑" pitchFamily="34" charset="-122"/>
                <a:ea typeface="微软雅黑" pitchFamily="34" charset="-122"/>
              </a:rPr>
              <a:t>时，</a:t>
            </a:r>
            <a:r>
              <a:rPr lang="zh-CN" altLang="en-US" sz="2000" b="1" dirty="0" smtClean="0">
                <a:latin typeface="微软雅黑" pitchFamily="34" charset="-122"/>
                <a:ea typeface="微软雅黑" pitchFamily="34" charset="-122"/>
              </a:rPr>
              <a:t>知道被叫方同意进行会话，将直接回复</a:t>
            </a:r>
            <a:r>
              <a:rPr lang="en-US" altLang="zh-CN" sz="2000" b="1" dirty="0">
                <a:latin typeface="微软雅黑" pitchFamily="34" charset="-122"/>
                <a:ea typeface="微软雅黑" pitchFamily="34" charset="-122"/>
              </a:rPr>
              <a:t>ACK</a:t>
            </a:r>
            <a:r>
              <a:rPr lang="zh-CN" altLang="en-US" sz="2000" b="1" dirty="0">
                <a:latin typeface="微软雅黑" pitchFamily="34" charset="-122"/>
                <a:ea typeface="微软雅黑" pitchFamily="34" charset="-122"/>
              </a:rPr>
              <a:t>报文作为</a:t>
            </a:r>
            <a:r>
              <a:rPr lang="zh-CN" altLang="en-US" sz="2000" b="1" dirty="0" smtClean="0">
                <a:latin typeface="微软雅黑" pitchFamily="34" charset="-122"/>
                <a:ea typeface="微软雅黑" pitchFamily="34" charset="-122"/>
              </a:rPr>
              <a:t>确认。</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在双方会话阶段，通常都是使用</a:t>
            </a:r>
            <a:r>
              <a:rPr lang="en-US" altLang="zh-CN" sz="2000" b="1" dirty="0">
                <a:latin typeface="微软雅黑" pitchFamily="34" charset="-122"/>
                <a:ea typeface="微软雅黑" pitchFamily="34" charset="-122"/>
              </a:rPr>
              <a:t>RTP/RTCP</a:t>
            </a:r>
            <a:r>
              <a:rPr lang="zh-CN" altLang="en-US" sz="2000" b="1" dirty="0">
                <a:latin typeface="微软雅黑" pitchFamily="34" charset="-122"/>
                <a:ea typeface="微软雅黑" pitchFamily="34" charset="-122"/>
              </a:rPr>
              <a:t>协议，但这并不是强制性</a:t>
            </a:r>
            <a:r>
              <a:rPr lang="zh-CN" altLang="en-US" sz="2000" b="1" dirty="0" smtClean="0">
                <a:latin typeface="微软雅黑" pitchFamily="34" charset="-122"/>
                <a:ea typeface="微软雅黑" pitchFamily="34" charset="-122"/>
              </a:rPr>
              <a:t>的。</a:t>
            </a:r>
            <a:endParaRPr lang="en-US" altLang="zh-CN" sz="2000"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070222" y="593125"/>
            <a:ext cx="30123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一个简单的 </a:t>
            </a: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会话</a:t>
            </a:r>
          </a:p>
        </p:txBody>
      </p:sp>
    </p:spTree>
    <p:custDataLst>
      <p:tags r:id="rId1"/>
    </p:custDataLst>
    <p:extLst>
      <p:ext uri="{BB962C8B-B14F-4D97-AF65-F5344CB8AC3E}">
        <p14:creationId xmlns:p14="http://schemas.microsoft.com/office/powerpoint/2010/main" val="28700606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当通话完毕时，双方中的任何一方都可以发送</a:t>
            </a:r>
            <a:r>
              <a:rPr lang="en-US" altLang="zh-CN" sz="2000" b="1" dirty="0">
                <a:latin typeface="微软雅黑" pitchFamily="34" charset="-122"/>
                <a:ea typeface="微软雅黑" pitchFamily="34" charset="-122"/>
              </a:rPr>
              <a:t>BYE</a:t>
            </a:r>
            <a:r>
              <a:rPr lang="zh-CN" altLang="en-US" sz="2000" b="1" dirty="0">
                <a:latin typeface="微软雅黑" pitchFamily="34" charset="-122"/>
                <a:ea typeface="微软雅黑" pitchFamily="34" charset="-122"/>
              </a:rPr>
              <a:t>报文以终止这次的会话</a:t>
            </a:r>
            <a:r>
              <a:rPr lang="zh-CN" altLang="en-US" sz="2000" b="1" dirty="0" smtClean="0">
                <a:latin typeface="微软雅黑" pitchFamily="34" charset="-122"/>
                <a:ea typeface="微软雅黑" pitchFamily="34" charset="-122"/>
              </a:rPr>
              <a:t>。假定</a:t>
            </a:r>
            <a:r>
              <a:rPr lang="zh-CN" altLang="en-US" sz="2000" b="1" dirty="0">
                <a:latin typeface="微软雅黑" pitchFamily="34" charset="-122"/>
                <a:ea typeface="微软雅黑" pitchFamily="34" charset="-122"/>
              </a:rPr>
              <a:t>被叫发送</a:t>
            </a:r>
            <a:r>
              <a:rPr lang="en-US" altLang="zh-CN" sz="2000" b="1" dirty="0">
                <a:latin typeface="微软雅黑" pitchFamily="34" charset="-122"/>
                <a:ea typeface="微软雅黑" pitchFamily="34" charset="-122"/>
              </a:rPr>
              <a:t>BYE</a:t>
            </a:r>
            <a:r>
              <a:rPr lang="zh-CN" altLang="en-US" sz="2000" b="1" dirty="0">
                <a:latin typeface="微软雅黑" pitchFamily="34" charset="-122"/>
                <a:ea typeface="微软雅黑" pitchFamily="34" charset="-122"/>
              </a:rPr>
              <a:t>报文，主叫收到</a:t>
            </a:r>
            <a:r>
              <a:rPr lang="en-US" altLang="zh-CN" sz="2000" b="1" dirty="0">
                <a:latin typeface="微软雅黑" pitchFamily="34" charset="-122"/>
                <a:ea typeface="微软雅黑" pitchFamily="34" charset="-122"/>
              </a:rPr>
              <a:t>BYE</a:t>
            </a:r>
            <a:r>
              <a:rPr lang="zh-CN" altLang="en-US" sz="2000" b="1" dirty="0">
                <a:latin typeface="微软雅黑" pitchFamily="34" charset="-122"/>
                <a:ea typeface="微软雅黑" pitchFamily="34" charset="-122"/>
              </a:rPr>
              <a:t>报文后，应发回响应“</a:t>
            </a:r>
            <a:r>
              <a:rPr lang="en-US" altLang="zh-CN" sz="2000" b="1" dirty="0">
                <a:latin typeface="微软雅黑" pitchFamily="34" charset="-122"/>
                <a:ea typeface="微软雅黑" pitchFamily="34" charset="-122"/>
              </a:rPr>
              <a:t>200 OK”</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会话即终止。</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会话中，可以使用</a:t>
            </a:r>
            <a:r>
              <a:rPr lang="zh-CN" altLang="en-US" sz="2000" b="1" dirty="0">
                <a:solidFill>
                  <a:srgbClr val="C00000"/>
                </a:solidFill>
                <a:latin typeface="微软雅黑" pitchFamily="34" charset="-122"/>
                <a:ea typeface="微软雅黑" pitchFamily="34" charset="-122"/>
              </a:rPr>
              <a:t>安全实时传输协议</a:t>
            </a:r>
            <a:r>
              <a:rPr lang="en-US" altLang="zh-CN" sz="2000" b="1" dirty="0">
                <a:solidFill>
                  <a:srgbClr val="C00000"/>
                </a:solidFill>
                <a:latin typeface="微软雅黑" pitchFamily="34" charset="-122"/>
                <a:ea typeface="微软雅黑" pitchFamily="34" charset="-122"/>
              </a:rPr>
              <a:t>SRTP</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Secure Real-time Transport Protocol</a:t>
            </a:r>
            <a:r>
              <a:rPr lang="zh-CN" altLang="en-US" sz="2000" b="1" dirty="0">
                <a:latin typeface="微软雅黑" pitchFamily="34" charset="-122"/>
                <a:ea typeface="微软雅黑" pitchFamily="34" charset="-122"/>
              </a:rPr>
              <a:t>）来确保会话的</a:t>
            </a:r>
            <a:r>
              <a:rPr lang="zh-CN" altLang="en-US" sz="2000" b="1" dirty="0" smtClean="0">
                <a:latin typeface="微软雅黑" pitchFamily="34" charset="-122"/>
                <a:ea typeface="微软雅黑" pitchFamily="34" charset="-122"/>
              </a:rPr>
              <a:t>安全性。</a:t>
            </a:r>
            <a:endParaRPr lang="en-US" altLang="zh-CN" sz="2000"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070222" y="593125"/>
            <a:ext cx="30123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一个简单的 </a:t>
            </a: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会话</a:t>
            </a:r>
          </a:p>
        </p:txBody>
      </p:sp>
    </p:spTree>
    <p:custDataLst>
      <p:tags r:id="rId1"/>
    </p:custDataLst>
    <p:extLst>
      <p:ext uri="{BB962C8B-B14F-4D97-AF65-F5344CB8AC3E}">
        <p14:creationId xmlns:p14="http://schemas.microsoft.com/office/powerpoint/2010/main" val="18546727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21635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协议可以让</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电话用户呼叫传统电话用户。但这时</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网络必须配置一个</a:t>
            </a:r>
            <a:r>
              <a:rPr lang="zh-CN" altLang="en-US" sz="2000" b="1" dirty="0">
                <a:solidFill>
                  <a:srgbClr val="C00000"/>
                </a:solidFill>
                <a:latin typeface="微软雅黑" pitchFamily="34" charset="-122"/>
                <a:ea typeface="微软雅黑" pitchFamily="34" charset="-122"/>
              </a:rPr>
              <a:t>媒体网关</a:t>
            </a:r>
            <a:r>
              <a:rPr lang="en-US" altLang="zh-CN" sz="2000" b="1" dirty="0">
                <a:solidFill>
                  <a:srgbClr val="C00000"/>
                </a:solidFill>
                <a:latin typeface="微软雅黑" pitchFamily="34" charset="-122"/>
                <a:ea typeface="微软雅黑" pitchFamily="34" charset="-122"/>
              </a:rPr>
              <a:t>(media gateway)</a:t>
            </a:r>
            <a:r>
              <a:rPr lang="zh-CN" altLang="en-US" sz="2000" b="1" dirty="0">
                <a:latin typeface="微软雅黑" pitchFamily="34" charset="-122"/>
                <a:ea typeface="微软雅黑" pitchFamily="34" charset="-122"/>
              </a:rPr>
              <a:t>，用来把</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的会话信令和传统电话使用的</a:t>
            </a:r>
            <a:r>
              <a:rPr lang="en-US" altLang="zh-CN" sz="2000" b="1" dirty="0">
                <a:latin typeface="微软雅黑" pitchFamily="34" charset="-122"/>
                <a:ea typeface="微软雅黑" pitchFamily="34" charset="-122"/>
              </a:rPr>
              <a:t>7</a:t>
            </a:r>
            <a:r>
              <a:rPr lang="zh-CN" altLang="en-US" sz="2000" b="1" dirty="0">
                <a:latin typeface="微软雅黑" pitchFamily="34" charset="-122"/>
                <a:ea typeface="微软雅黑" pitchFamily="34" charset="-122"/>
              </a:rPr>
              <a:t>号信令相互转换</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会话期间，还要把会话的</a:t>
            </a:r>
            <a:r>
              <a:rPr lang="en-US" altLang="zh-CN" sz="2000" b="1" dirty="0">
                <a:latin typeface="微软雅黑" pitchFamily="34" charset="-122"/>
                <a:ea typeface="微软雅黑" pitchFamily="34" charset="-122"/>
              </a:rPr>
              <a:t>RTP</a:t>
            </a:r>
            <a:r>
              <a:rPr lang="zh-CN" altLang="en-US" sz="2000" b="1" dirty="0">
                <a:latin typeface="微软雅黑" pitchFamily="34" charset="-122"/>
                <a:ea typeface="微软雅黑" pitchFamily="34" charset="-122"/>
              </a:rPr>
              <a:t>分组比特流和传统电话的话音信号相互</a:t>
            </a:r>
            <a:r>
              <a:rPr lang="zh-CN" altLang="en-US" sz="2000" b="1" dirty="0" smtClean="0">
                <a:latin typeface="微软雅黑" pitchFamily="34" charset="-122"/>
                <a:ea typeface="微软雅黑" pitchFamily="34" charset="-122"/>
              </a:rPr>
              <a:t>转换。</a:t>
            </a:r>
            <a:endParaRPr lang="en-US" altLang="zh-CN" sz="2000"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070222" y="593125"/>
            <a:ext cx="30123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一个简单的 </a:t>
            </a:r>
            <a:r>
              <a:rPr lang="en-US" altLang="zh-CN" sz="2400" b="1" dirty="0">
                <a:solidFill>
                  <a:schemeClr val="bg1"/>
                </a:solidFill>
                <a:latin typeface="微软雅黑" pitchFamily="34" charset="-122"/>
                <a:ea typeface="微软雅黑" pitchFamily="34" charset="-122"/>
              </a:rPr>
              <a:t>SIP </a:t>
            </a:r>
            <a:r>
              <a:rPr lang="zh-CN" altLang="en-US" sz="2400" b="1" dirty="0">
                <a:solidFill>
                  <a:schemeClr val="bg1"/>
                </a:solidFill>
                <a:latin typeface="微软雅黑" pitchFamily="34" charset="-122"/>
                <a:ea typeface="微软雅黑" pitchFamily="34" charset="-122"/>
              </a:rPr>
              <a:t>会话</a:t>
            </a:r>
          </a:p>
        </p:txBody>
      </p:sp>
    </p:spTree>
    <p:custDataLst>
      <p:tags r:id="rId1"/>
    </p:custDataLst>
    <p:extLst>
      <p:ext uri="{BB962C8B-B14F-4D97-AF65-F5344CB8AC3E}">
        <p14:creationId xmlns:p14="http://schemas.microsoft.com/office/powerpoint/2010/main" val="10488259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52165"/>
            <a:ext cx="812901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是目前市场上交互式多媒体通信的主流协议</a:t>
            </a:r>
            <a:r>
              <a:rPr lang="zh-CN" altLang="en-US" sz="2000" b="1" dirty="0" smtClean="0">
                <a:latin typeface="微软雅黑" pitchFamily="34" charset="-122"/>
                <a:ea typeface="微软雅黑" pitchFamily="34" charset="-122"/>
              </a:rPr>
              <a:t>。在</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问世之前</a:t>
            </a:r>
            <a:r>
              <a:rPr lang="zh-CN" altLang="en-US" sz="2000" b="1" dirty="0" smtClean="0">
                <a:latin typeface="微软雅黑" pitchFamily="34" charset="-122"/>
                <a:ea typeface="微软雅黑" pitchFamily="34" charset="-122"/>
              </a:rPr>
              <a:t>，协议</a:t>
            </a:r>
            <a:r>
              <a:rPr lang="en-US" altLang="zh-CN" sz="2000" b="1" dirty="0" smtClean="0">
                <a:latin typeface="微软雅黑" pitchFamily="34" charset="-122"/>
                <a:ea typeface="微软雅黑" pitchFamily="34" charset="-122"/>
              </a:rPr>
              <a:t>H.323</a:t>
            </a:r>
            <a:r>
              <a:rPr lang="zh-CN" altLang="en-US" sz="2000" b="1" dirty="0" smtClean="0">
                <a:latin typeface="微软雅黑" pitchFamily="34" charset="-122"/>
                <a:ea typeface="微软雅黑" pitchFamily="34" charset="-122"/>
              </a:rPr>
              <a:t>曾经</a:t>
            </a:r>
            <a:r>
              <a:rPr lang="zh-CN" altLang="en-US" sz="2000" b="1" dirty="0">
                <a:latin typeface="微软雅黑" pitchFamily="34" charset="-122"/>
                <a:ea typeface="微软雅黑" pitchFamily="34" charset="-122"/>
              </a:rPr>
              <a:t>占领了 </a:t>
            </a:r>
            <a:r>
              <a:rPr lang="en-US" altLang="zh-CN" sz="2000" b="1" dirty="0">
                <a:latin typeface="微软雅黑" pitchFamily="34" charset="-122"/>
                <a:ea typeface="微软雅黑" pitchFamily="34" charset="-122"/>
              </a:rPr>
              <a:t>VoIP </a:t>
            </a:r>
            <a:r>
              <a:rPr lang="zh-CN" altLang="en-US" sz="2000" b="1" dirty="0">
                <a:latin typeface="微软雅黑" pitchFamily="34" charset="-122"/>
                <a:ea typeface="微软雅黑" pitchFamily="34" charset="-122"/>
              </a:rPr>
              <a:t>的主要</a:t>
            </a:r>
            <a:r>
              <a:rPr lang="zh-CN" altLang="en-US" sz="2000" b="1" dirty="0" smtClean="0">
                <a:latin typeface="微软雅黑" pitchFamily="34" charset="-122"/>
                <a:ea typeface="微软雅黑" pitchFamily="34" charset="-122"/>
              </a:rPr>
              <a:t>市场。</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H.323</a:t>
            </a:r>
            <a:r>
              <a:rPr lang="zh-CN" altLang="en-US" sz="2000" b="1" dirty="0" smtClean="0">
                <a:latin typeface="微软雅黑" pitchFamily="34" charset="-122"/>
                <a:ea typeface="微软雅黑" pitchFamily="34" charset="-122"/>
              </a:rPr>
              <a:t>协议由传统电信专家设计，因此继承</a:t>
            </a:r>
            <a:r>
              <a:rPr lang="zh-CN" altLang="en-US" sz="2000" b="1" dirty="0">
                <a:latin typeface="微软雅黑" pitchFamily="34" charset="-122"/>
                <a:ea typeface="微软雅黑" pitchFamily="34" charset="-122"/>
              </a:rPr>
              <a:t>了传统电信网的特点，可靠性强、功能丰富且定义明确，适合封闭网络和高质量、多功能需求场景</a:t>
            </a:r>
            <a:r>
              <a:rPr lang="zh-CN" altLang="en-US" sz="2000" b="1" dirty="0" smtClean="0">
                <a:latin typeface="微软雅黑" pitchFamily="34" charset="-122"/>
                <a:ea typeface="微软雅黑" pitchFamily="34" charset="-122"/>
              </a:rPr>
              <a:t>。但同时存在如下一些不足：</a:t>
            </a:r>
            <a:endParaRPr lang="en-US" altLang="zh-CN" sz="2000" b="1" dirty="0" smtClean="0">
              <a:latin typeface="微软雅黑" pitchFamily="34" charset="-122"/>
              <a:ea typeface="微软雅黑" pitchFamily="34" charset="-122"/>
            </a:endParaRPr>
          </a:p>
          <a:p>
            <a:pPr marL="800100" lvl="1" indent="-342900"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协议栈复杂</a:t>
            </a:r>
            <a:r>
              <a:rPr lang="zh-CN" altLang="en-US" b="1" dirty="0">
                <a:latin typeface="微软雅黑" pitchFamily="34" charset="-122"/>
                <a:ea typeface="微软雅黑" pitchFamily="34" charset="-122"/>
              </a:rPr>
              <a:t>，配置与管理较为困难</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00100" lvl="1" indent="-342900"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占用</a:t>
            </a:r>
            <a:r>
              <a:rPr lang="zh-CN" altLang="en-US" b="1" dirty="0">
                <a:latin typeface="微软雅黑" pitchFamily="34" charset="-122"/>
                <a:ea typeface="微软雅黑" pitchFamily="34" charset="-122"/>
              </a:rPr>
              <a:t>资源多，通常需要专门的硬件支持</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800100" lvl="1" indent="-342900" eaLnBrk="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协议</a:t>
            </a:r>
            <a:r>
              <a:rPr lang="zh-CN" altLang="en-US" b="1" dirty="0">
                <a:latin typeface="微软雅黑" pitchFamily="34" charset="-122"/>
                <a:ea typeface="微软雅黑" pitchFamily="34" charset="-122"/>
              </a:rPr>
              <a:t>灵活性和扩展性不足，不太适合开放互联网的场景</a:t>
            </a:r>
            <a:r>
              <a:rPr lang="zh-CN" altLang="en-US" b="1" dirty="0" smtClean="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721843" y="593125"/>
            <a:ext cx="17091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H.323</a:t>
            </a:r>
            <a:r>
              <a:rPr lang="zh-CN" altLang="en-US" sz="2400" b="1" dirty="0">
                <a:solidFill>
                  <a:schemeClr val="bg1"/>
                </a:solidFill>
                <a:latin typeface="微软雅黑" pitchFamily="34" charset="-122"/>
                <a:ea typeface="微软雅黑" pitchFamily="34" charset="-122"/>
              </a:rPr>
              <a:t>协议</a:t>
            </a:r>
          </a:p>
        </p:txBody>
      </p:sp>
    </p:spTree>
    <p:custDataLst>
      <p:tags r:id="rId1"/>
    </p:custDataLst>
    <p:extLst>
      <p:ext uri="{BB962C8B-B14F-4D97-AF65-F5344CB8AC3E}">
        <p14:creationId xmlns:p14="http://schemas.microsoft.com/office/powerpoint/2010/main" val="7439352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优点：</a:t>
            </a:r>
            <a:endParaRPr lang="en-US" altLang="zh-CN" sz="2000" b="1" dirty="0" smtClean="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协议简单，便于调试，易于实现，扩展性强，灵活性高，更适合互联网环境。</a:t>
            </a:r>
            <a:endParaRPr lang="en-US" altLang="zh-CN"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缺点：</a:t>
            </a:r>
            <a:endParaRPr lang="en-US" altLang="zh-CN" sz="2000" b="1" dirty="0" smtClean="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en-US" altLang="zh-CN" b="1" dirty="0" err="1">
                <a:latin typeface="微软雅黑" pitchFamily="34" charset="-122"/>
                <a:ea typeface="微软雅黑" pitchFamily="34" charset="-122"/>
              </a:rPr>
              <a:t>QoS</a:t>
            </a:r>
            <a:r>
              <a:rPr lang="zh-CN" altLang="en-US" b="1" dirty="0">
                <a:latin typeface="微软雅黑" pitchFamily="34" charset="-122"/>
                <a:ea typeface="微软雅黑" pitchFamily="34" charset="-122"/>
              </a:rPr>
              <a:t>保证相对较弱，安全机制需要额外实现，而协议过于灵活可能导致出现互操作性问题，在某些场景下其可靠性略逊于</a:t>
            </a:r>
            <a:r>
              <a:rPr lang="en-US" altLang="zh-CN" b="1" dirty="0">
                <a:latin typeface="微软雅黑" pitchFamily="34" charset="-122"/>
                <a:ea typeface="微软雅黑" pitchFamily="34" charset="-122"/>
              </a:rPr>
              <a:t>H.323</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目前，大多数现代</a:t>
            </a:r>
            <a:r>
              <a:rPr lang="en-US" altLang="zh-CN" sz="2000" b="1" dirty="0">
                <a:latin typeface="微软雅黑" pitchFamily="34" charset="-122"/>
                <a:ea typeface="微软雅黑" pitchFamily="34" charset="-122"/>
              </a:rPr>
              <a:t>VoIP</a:t>
            </a:r>
            <a:r>
              <a:rPr lang="zh-CN" altLang="en-US" sz="2000" b="1" dirty="0">
                <a:latin typeface="微软雅黑" pitchFamily="34" charset="-122"/>
                <a:ea typeface="微软雅黑" pitchFamily="34" charset="-122"/>
              </a:rPr>
              <a:t>系统都采用</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协议，而</a:t>
            </a:r>
            <a:r>
              <a:rPr lang="en-US" altLang="zh-CN" sz="2000" b="1" dirty="0">
                <a:latin typeface="微软雅黑" pitchFamily="34" charset="-122"/>
                <a:ea typeface="微软雅黑" pitchFamily="34" charset="-122"/>
              </a:rPr>
              <a:t>H.323</a:t>
            </a:r>
            <a:r>
              <a:rPr lang="zh-CN" altLang="en-US" sz="2000" b="1" dirty="0">
                <a:latin typeface="微软雅黑" pitchFamily="34" charset="-122"/>
                <a:ea typeface="微软雅黑" pitchFamily="34" charset="-122"/>
              </a:rPr>
              <a:t>则主要在一些传统电信设备和视频会议系统中继续使用。</a:t>
            </a:r>
            <a:endParaRPr lang="en-US" altLang="zh-CN" sz="2000" b="1" dirty="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469369" y="593125"/>
            <a:ext cx="22140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SIP</a:t>
            </a:r>
            <a:r>
              <a:rPr lang="zh-CN" altLang="en-US" sz="2400" b="1" dirty="0">
                <a:solidFill>
                  <a:schemeClr val="bg1"/>
                </a:solidFill>
                <a:latin typeface="微软雅黑" pitchFamily="34" charset="-122"/>
                <a:ea typeface="微软雅黑" pitchFamily="34" charset="-122"/>
              </a:rPr>
              <a:t>协议优缺点</a:t>
            </a:r>
          </a:p>
        </p:txBody>
      </p:sp>
    </p:spTree>
    <p:custDataLst>
      <p:tags r:id="rId1"/>
    </p:custDataLst>
    <p:extLst>
      <p:ext uri="{BB962C8B-B14F-4D97-AF65-F5344CB8AC3E}">
        <p14:creationId xmlns:p14="http://schemas.microsoft.com/office/powerpoint/2010/main" val="40689576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1" end="1"/>
                                            </p:txEl>
                                          </p:spTgt>
                                        </p:tgtEl>
                                        <p:attrNameLst>
                                          <p:attrName>style.visibility</p:attrName>
                                        </p:attrNameLst>
                                      </p:cBhvr>
                                      <p:to>
                                        <p:strVal val="visible"/>
                                      </p:to>
                                    </p:set>
                                    <p:animEffect transition="in" filter="fade">
                                      <p:cBhvr>
                                        <p:cTn id="10" dur="500"/>
                                        <p:tgtEl>
                                          <p:spTgt spid="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fade">
                                      <p:cBhvr>
                                        <p:cTn id="15" dur="500"/>
                                        <p:tgtEl>
                                          <p:spTgt spid="2">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fad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
                                            <p:txEl>
                                              <p:pRg st="4" end="4"/>
                                            </p:txEl>
                                          </p:spTgt>
                                        </p:tgtEl>
                                        <p:attrNameLst>
                                          <p:attrName>style.visibility</p:attrName>
                                        </p:attrNameLst>
                                      </p:cBhvr>
                                      <p:to>
                                        <p:strVal val="visible"/>
                                      </p:to>
                                    </p:set>
                                    <p:animEffect transition="in" filter="fade">
                                      <p:cBhvr>
                                        <p:cTn id="23"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2601473" y="593125"/>
            <a:ext cx="39498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网页</a:t>
            </a:r>
            <a:r>
              <a:rPr lang="zh-CN" altLang="en-US" sz="2400" b="1" dirty="0">
                <a:solidFill>
                  <a:schemeClr val="bg1"/>
                </a:solidFill>
                <a:latin typeface="微软雅黑" pitchFamily="34" charset="-122"/>
                <a:ea typeface="微软雅黑" pitchFamily="34" charset="-122"/>
              </a:rPr>
              <a:t>实时通信协议</a:t>
            </a:r>
            <a:r>
              <a:rPr lang="en-US" altLang="zh-CN" sz="2400" b="1" dirty="0" err="1">
                <a:solidFill>
                  <a:schemeClr val="bg1"/>
                </a:solidFill>
                <a:latin typeface="微软雅黑" pitchFamily="34" charset="-122"/>
                <a:ea typeface="微软雅黑" pitchFamily="34" charset="-122"/>
              </a:rPr>
              <a:t>WebRTC</a:t>
            </a:r>
            <a:endParaRPr lang="en-US" altLang="zh-CN"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11896" y="1055489"/>
            <a:ext cx="8129015"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网页实时通信协议</a:t>
            </a:r>
            <a:r>
              <a:rPr lang="en-US" altLang="zh-CN" sz="2000" b="1" dirty="0" err="1">
                <a:solidFill>
                  <a:srgbClr val="C00000"/>
                </a:solidFill>
                <a:latin typeface="微软雅黑" pitchFamily="34" charset="-122"/>
                <a:ea typeface="微软雅黑" pitchFamily="34" charset="-122"/>
              </a:rPr>
              <a:t>WebRTC</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Web Real-Time Communication</a:t>
            </a:r>
            <a:r>
              <a:rPr lang="zh-CN" altLang="en-US" sz="2000" b="1" dirty="0" smtClean="0">
                <a:latin typeface="微软雅黑" pitchFamily="34" charset="-122"/>
                <a:ea typeface="微软雅黑" pitchFamily="34" charset="-122"/>
              </a:rPr>
              <a:t>）是交互式</a:t>
            </a:r>
            <a:r>
              <a:rPr lang="zh-CN" altLang="en-US" sz="2000" b="1" dirty="0">
                <a:latin typeface="微软雅黑" pitchFamily="34" charset="-122"/>
                <a:ea typeface="微软雅黑" pitchFamily="34" charset="-122"/>
              </a:rPr>
              <a:t>多媒体通信的</a:t>
            </a:r>
            <a:r>
              <a:rPr lang="zh-CN" altLang="en-US" sz="2000" b="1" dirty="0" smtClean="0">
                <a:latin typeface="微软雅黑" pitchFamily="34" charset="-122"/>
                <a:ea typeface="微软雅黑" pitchFamily="34" charset="-122"/>
              </a:rPr>
              <a:t>市场新</a:t>
            </a:r>
            <a:r>
              <a:rPr lang="zh-CN" altLang="en-US" sz="2000" b="1" dirty="0">
                <a:latin typeface="微软雅黑" pitchFamily="34" charset="-122"/>
                <a:ea typeface="微软雅黑" pitchFamily="34" charset="-122"/>
              </a:rPr>
              <a:t>的协议</a:t>
            </a:r>
            <a:r>
              <a:rPr lang="zh-CN" altLang="en-US" sz="2000" b="1" dirty="0" smtClean="0">
                <a:latin typeface="微软雅黑" pitchFamily="34" charset="-122"/>
                <a:ea typeface="微软雅黑" pitchFamily="34" charset="-122"/>
              </a:rPr>
              <a:t>，由</a:t>
            </a:r>
            <a:r>
              <a:rPr lang="zh-CN" altLang="en-US" sz="2000" b="1" dirty="0">
                <a:latin typeface="微软雅黑" pitchFamily="34" charset="-122"/>
                <a:ea typeface="微软雅黑" pitchFamily="34" charset="-122"/>
              </a:rPr>
              <a:t>万维网联盟</a:t>
            </a:r>
            <a:r>
              <a:rPr lang="en-US" altLang="zh-CN" sz="2000" b="1" dirty="0">
                <a:latin typeface="微软雅黑" pitchFamily="34" charset="-122"/>
                <a:ea typeface="微软雅黑" pitchFamily="34" charset="-122"/>
              </a:rPr>
              <a:t>W3C</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IETF</a:t>
            </a:r>
            <a:r>
              <a:rPr lang="zh-CN" altLang="en-US" sz="2000" b="1" dirty="0">
                <a:latin typeface="微软雅黑" pitchFamily="34" charset="-122"/>
                <a:ea typeface="微软雅黑" pitchFamily="34" charset="-122"/>
              </a:rPr>
              <a:t>联合</a:t>
            </a:r>
            <a:r>
              <a:rPr lang="zh-CN" altLang="en-US" sz="2000" b="1" dirty="0" smtClean="0">
                <a:latin typeface="微软雅黑" pitchFamily="34" charset="-122"/>
                <a:ea typeface="微软雅黑" pitchFamily="34" charset="-122"/>
              </a:rPr>
              <a:t>开发。</a:t>
            </a:r>
            <a:endParaRPr lang="en-US" altLang="zh-CN" sz="2000" b="1" dirty="0" smtClean="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开放网络协议，</a:t>
            </a:r>
            <a:r>
              <a:rPr lang="zh-CN" altLang="en-US" sz="2000" b="1" dirty="0">
                <a:latin typeface="微软雅黑" pitchFamily="34" charset="-122"/>
                <a:ea typeface="微软雅黑" pitchFamily="34" charset="-122"/>
              </a:rPr>
              <a:t>支持</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浏览器没有额外插件或第三方软件的情况下，直接进行高质量的实时音视频通信和数据传输</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主要应用场景</a:t>
            </a:r>
            <a:r>
              <a:rPr lang="zh-CN" altLang="en-US" sz="2000" b="1" dirty="0">
                <a:latin typeface="微软雅黑" pitchFamily="34" charset="-122"/>
                <a:ea typeface="微软雅黑" pitchFamily="34" charset="-122"/>
              </a:rPr>
              <a:t>：在线教育和远程作业，远程会诊，流媒体直播，视频聊天，物联网应用（如远程摄像头），实时文件传输（包括点对点文件分享），协同编辑，等等。</a:t>
            </a:r>
            <a:endParaRPr lang="en-US" altLang="zh-CN" sz="2000" b="1" dirty="0" smtClean="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4162310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2601473" y="593125"/>
            <a:ext cx="39498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网页</a:t>
            </a:r>
            <a:r>
              <a:rPr lang="zh-CN" altLang="en-US" sz="2400" b="1" dirty="0">
                <a:solidFill>
                  <a:schemeClr val="bg1"/>
                </a:solidFill>
                <a:latin typeface="微软雅黑" pitchFamily="34" charset="-122"/>
                <a:ea typeface="微软雅黑" pitchFamily="34" charset="-122"/>
              </a:rPr>
              <a:t>实时通信协议</a:t>
            </a:r>
            <a:r>
              <a:rPr lang="en-US" altLang="zh-CN" sz="2400" b="1" dirty="0" err="1">
                <a:solidFill>
                  <a:schemeClr val="bg1"/>
                </a:solidFill>
                <a:latin typeface="微软雅黑" pitchFamily="34" charset="-122"/>
                <a:ea typeface="微软雅黑" pitchFamily="34" charset="-122"/>
              </a:rPr>
              <a:t>WebRTC</a:t>
            </a:r>
            <a:endParaRPr lang="en-US" altLang="zh-CN"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11896" y="1055489"/>
            <a:ext cx="8129015"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具备</a:t>
            </a:r>
            <a:r>
              <a:rPr lang="zh-CN" altLang="en-US" sz="2000" b="1" dirty="0">
                <a:latin typeface="微软雅黑" pitchFamily="34" charset="-122"/>
                <a:ea typeface="微软雅黑" pitchFamily="34" charset="-122"/>
              </a:rPr>
              <a:t>高效的网络带宽利用率和低</a:t>
            </a:r>
            <a:r>
              <a:rPr lang="zh-CN" altLang="en-US" sz="2000" b="1" dirty="0" smtClean="0">
                <a:latin typeface="微软雅黑" pitchFamily="34" charset="-122"/>
                <a:ea typeface="微软雅黑" pitchFamily="34" charset="-122"/>
              </a:rPr>
              <a:t>延迟等特点，能够根据网络状态自动</a:t>
            </a:r>
            <a:r>
              <a:rPr lang="zh-CN" altLang="en-US" sz="2000" b="1" dirty="0">
                <a:latin typeface="微软雅黑" pitchFamily="34" charset="-122"/>
                <a:ea typeface="微软雅黑" pitchFamily="34" charset="-122"/>
              </a:rPr>
              <a:t>调整视频质量，以保证通信的流畅性</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利用</a:t>
            </a:r>
            <a:r>
              <a:rPr lang="en-US" altLang="zh-CN" sz="2000" b="1" dirty="0">
                <a:latin typeface="微软雅黑" pitchFamily="34" charset="-122"/>
                <a:ea typeface="微软雅黑" pitchFamily="34" charset="-122"/>
              </a:rPr>
              <a:t>UDP</a:t>
            </a:r>
            <a:r>
              <a:rPr lang="zh-CN" altLang="en-US" sz="2000" b="1" dirty="0">
                <a:latin typeface="微软雅黑" pitchFamily="34" charset="-122"/>
                <a:ea typeface="微软雅黑" pitchFamily="34" charset="-122"/>
              </a:rPr>
              <a:t>协议进行</a:t>
            </a:r>
            <a:r>
              <a:rPr lang="zh-CN" altLang="en-US" sz="2000" b="1" dirty="0" smtClean="0">
                <a:latin typeface="微软雅黑" pitchFamily="34" charset="-122"/>
                <a:ea typeface="微软雅黑" pitchFamily="34" charset="-122"/>
              </a:rPr>
              <a:t>传输。</a:t>
            </a:r>
            <a:endParaRPr lang="zh-CN" altLang="en-US"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支持</a:t>
            </a:r>
            <a:r>
              <a:rPr lang="zh-CN" altLang="en-US" sz="2000" b="1" dirty="0">
                <a:latin typeface="微软雅黑" pitchFamily="34" charset="-122"/>
                <a:ea typeface="微软雅黑" pitchFamily="34" charset="-122"/>
              </a:rPr>
              <a:t>加密传输，确保数据在传输过程中的安全性，保护用户的</a:t>
            </a:r>
            <a:r>
              <a:rPr lang="zh-CN" altLang="en-US" sz="2000" b="1" dirty="0" smtClean="0">
                <a:latin typeface="微软雅黑" pitchFamily="34" charset="-122"/>
                <a:ea typeface="微软雅黑" pitchFamily="34" charset="-122"/>
              </a:rPr>
              <a:t>隐私。</a:t>
            </a:r>
            <a:endParaRPr lang="zh-CN" altLang="en-US"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通信双方在</a:t>
            </a:r>
            <a:r>
              <a:rPr lang="zh-CN" altLang="en-US" sz="2000" b="1" dirty="0">
                <a:latin typeface="微软雅黑" pitchFamily="34" charset="-122"/>
                <a:ea typeface="微软雅黑" pitchFamily="34" charset="-122"/>
              </a:rPr>
              <a:t>开始通信</a:t>
            </a:r>
            <a:r>
              <a:rPr lang="zh-CN" altLang="en-US" sz="2000" b="1" dirty="0" smtClean="0">
                <a:latin typeface="微软雅黑" pitchFamily="34" charset="-122"/>
                <a:ea typeface="微软雅黑" pitchFamily="34" charset="-122"/>
              </a:rPr>
              <a:t>之前必须</a:t>
            </a:r>
            <a:r>
              <a:rPr lang="zh-CN" altLang="en-US" sz="2000" b="1" dirty="0">
                <a:latin typeface="微软雅黑" pitchFamily="34" charset="-122"/>
                <a:ea typeface="微软雅黑" pitchFamily="34" charset="-122"/>
              </a:rPr>
              <a:t>有一个连接建立的</a:t>
            </a:r>
            <a:r>
              <a:rPr lang="zh-CN" altLang="en-US" sz="2000" b="1" dirty="0" smtClean="0">
                <a:latin typeface="微软雅黑" pitchFamily="34" charset="-122"/>
                <a:ea typeface="微软雅黑" pitchFamily="34" charset="-122"/>
              </a:rPr>
              <a:t>过程，通过</a:t>
            </a:r>
            <a:r>
              <a:rPr lang="zh-CN" altLang="en-US" sz="2000" b="1" dirty="0">
                <a:latin typeface="微软雅黑" pitchFamily="34" charset="-122"/>
                <a:ea typeface="微软雅黑" pitchFamily="34" charset="-122"/>
              </a:rPr>
              <a:t>信令服务器交换连接所需的</a:t>
            </a:r>
            <a:r>
              <a:rPr lang="zh-CN" altLang="en-US" sz="2000" b="1" dirty="0" smtClean="0">
                <a:latin typeface="微软雅黑" pitchFamily="34" charset="-122"/>
                <a:ea typeface="微软雅黑" pitchFamily="34" charset="-122"/>
              </a:rPr>
              <a:t>信息，目前信令</a:t>
            </a:r>
            <a:r>
              <a:rPr lang="zh-CN" altLang="en-US" sz="2000" b="1" dirty="0">
                <a:latin typeface="微软雅黑" pitchFamily="34" charset="-122"/>
                <a:ea typeface="微软雅黑" pitchFamily="34" charset="-122"/>
              </a:rPr>
              <a:t>协议常使用</a:t>
            </a:r>
            <a:r>
              <a:rPr lang="en-US" altLang="zh-CN" sz="2000" b="1" dirty="0">
                <a:latin typeface="微软雅黑" pitchFamily="34" charset="-122"/>
                <a:ea typeface="微软雅黑" pitchFamily="34" charset="-122"/>
              </a:rPr>
              <a:t>SIP</a:t>
            </a:r>
            <a:r>
              <a:rPr lang="zh-CN" altLang="en-US" sz="2000" b="1" dirty="0">
                <a:latin typeface="微软雅黑" pitchFamily="34" charset="-122"/>
                <a:ea typeface="微软雅黑" pitchFamily="34" charset="-122"/>
              </a:rPr>
              <a:t>。</a:t>
            </a:r>
          </a:p>
        </p:txBody>
      </p:sp>
    </p:spTree>
    <p:custDataLst>
      <p:tags r:id="rId1"/>
    </p:custDataLst>
    <p:extLst>
      <p:ext uri="{BB962C8B-B14F-4D97-AF65-F5344CB8AC3E}">
        <p14:creationId xmlns:p14="http://schemas.microsoft.com/office/powerpoint/2010/main" val="18009787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2601473" y="593125"/>
            <a:ext cx="39498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网页</a:t>
            </a:r>
            <a:r>
              <a:rPr lang="zh-CN" altLang="en-US" sz="2400" b="1" dirty="0">
                <a:solidFill>
                  <a:schemeClr val="bg1"/>
                </a:solidFill>
                <a:latin typeface="微软雅黑" pitchFamily="34" charset="-122"/>
                <a:ea typeface="微软雅黑" pitchFamily="34" charset="-122"/>
              </a:rPr>
              <a:t>实时通信协议</a:t>
            </a:r>
            <a:r>
              <a:rPr lang="en-US" altLang="zh-CN" sz="2400" b="1" dirty="0" err="1">
                <a:solidFill>
                  <a:schemeClr val="bg1"/>
                </a:solidFill>
                <a:latin typeface="微软雅黑" pitchFamily="34" charset="-122"/>
                <a:ea typeface="微软雅黑" pitchFamily="34" charset="-122"/>
              </a:rPr>
              <a:t>WebRTC</a:t>
            </a:r>
            <a:endParaRPr lang="en-US" altLang="zh-CN"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11896" y="1055489"/>
            <a:ext cx="8129015"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err="1" smtClean="0">
                <a:latin typeface="微软雅黑" pitchFamily="34" charset="-122"/>
                <a:ea typeface="微软雅黑" pitchFamily="34" charset="-122"/>
              </a:rPr>
              <a:t>WebRTC</a:t>
            </a:r>
            <a:r>
              <a:rPr lang="zh-CN" altLang="en-US" sz="2000" b="1" dirty="0">
                <a:latin typeface="微软雅黑" pitchFamily="34" charset="-122"/>
                <a:ea typeface="微软雅黑" pitchFamily="34" charset="-122"/>
              </a:rPr>
              <a:t>最初的设计目标是通过现代浏览器直接实现实时通信，而无需额外的插件或中间件</a:t>
            </a:r>
            <a:r>
              <a:rPr lang="zh-CN" altLang="en-US" sz="2000" b="1" dirty="0" smtClean="0">
                <a:latin typeface="微软雅黑" pitchFamily="34" charset="-122"/>
                <a:ea typeface="微软雅黑" pitchFamily="34" charset="-122"/>
              </a:rPr>
              <a:t>。但</a:t>
            </a:r>
            <a:r>
              <a:rPr lang="en-US" altLang="zh-CN" sz="2000" b="1" dirty="0" err="1">
                <a:latin typeface="微软雅黑" pitchFamily="34" charset="-122"/>
                <a:ea typeface="微软雅黑" pitchFamily="34" charset="-122"/>
              </a:rPr>
              <a:t>WebRTC</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并不局限于“双方都使用浏览器”的场景</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err="1" smtClean="0">
                <a:latin typeface="微软雅黑" pitchFamily="34" charset="-122"/>
                <a:ea typeface="微软雅黑" pitchFamily="34" charset="-122"/>
              </a:rPr>
              <a:t>WebRTC</a:t>
            </a:r>
            <a:r>
              <a:rPr lang="en-US" altLang="zh-CN" sz="2000" b="1" dirty="0" smtClean="0">
                <a:latin typeface="微软雅黑" pitchFamily="34" charset="-122"/>
                <a:ea typeface="微软雅黑" pitchFamily="34" charset="-122"/>
              </a:rPr>
              <a:t> </a:t>
            </a:r>
            <a:r>
              <a:rPr lang="zh-CN" altLang="en-US" sz="2000" b="1" dirty="0">
                <a:latin typeface="微软雅黑" pitchFamily="34" charset="-122"/>
                <a:ea typeface="微软雅黑" pitchFamily="34" charset="-122"/>
              </a:rPr>
              <a:t>也可以用于浏览器与服务器、浏览器与独立应用程序之间的通信，甚至可以用于两个非浏览器的客户端之间（只要这两个客户端都实现了 </a:t>
            </a:r>
            <a:r>
              <a:rPr lang="en-US" altLang="zh-CN" sz="2000" b="1" dirty="0" err="1">
                <a:latin typeface="微软雅黑" pitchFamily="34" charset="-122"/>
                <a:ea typeface="微软雅黑" pitchFamily="34" charset="-122"/>
              </a:rPr>
              <a:t>WebRTC</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协议）。</a:t>
            </a:r>
          </a:p>
        </p:txBody>
      </p:sp>
    </p:spTree>
    <p:custDataLst>
      <p:tags r:id="rId1"/>
    </p:custDataLst>
    <p:extLst>
      <p:ext uri="{BB962C8B-B14F-4D97-AF65-F5344CB8AC3E}">
        <p14:creationId xmlns:p14="http://schemas.microsoft.com/office/powerpoint/2010/main" val="7731957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13"/>
          <p:cNvSpPr>
            <a:spLocks noChangeArrowheads="1"/>
          </p:cNvSpPr>
          <p:nvPr/>
        </p:nvSpPr>
        <p:spPr bwMode="auto">
          <a:xfrm>
            <a:off x="2483524" y="593125"/>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用于</a:t>
            </a:r>
            <a:r>
              <a:rPr lang="zh-CN" altLang="en-US" sz="2400" b="1" dirty="0">
                <a:solidFill>
                  <a:schemeClr val="bg1"/>
                </a:solidFill>
                <a:latin typeface="微软雅黑" pitchFamily="34" charset="-122"/>
                <a:ea typeface="微软雅黑" pitchFamily="34" charset="-122"/>
              </a:rPr>
              <a:t>非实时多媒体传输的协议</a:t>
            </a:r>
            <a:endParaRPr lang="en-US" altLang="zh-CN"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11896" y="1055489"/>
            <a:ext cx="8129015" cy="36830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b="1" dirty="0">
                <a:latin typeface="微软雅黑" pitchFamily="34" charset="-122"/>
                <a:ea typeface="微软雅黑" pitchFamily="34" charset="-122"/>
              </a:rPr>
              <a:t>非实时多媒体的传输又常称为</a:t>
            </a:r>
            <a:r>
              <a:rPr lang="zh-CN" altLang="en-US" b="1" dirty="0">
                <a:solidFill>
                  <a:srgbClr val="C00000"/>
                </a:solidFill>
                <a:latin typeface="微软雅黑" pitchFamily="34" charset="-122"/>
                <a:ea typeface="微软雅黑" pitchFamily="34" charset="-122"/>
              </a:rPr>
              <a:t>视频点播</a:t>
            </a:r>
            <a:r>
              <a:rPr lang="en-US" altLang="zh-CN" b="1" dirty="0" err="1">
                <a:solidFill>
                  <a:srgbClr val="C00000"/>
                </a:solidFill>
                <a:latin typeface="微软雅黑" pitchFamily="34" charset="-122"/>
                <a:ea typeface="微软雅黑" pitchFamily="34" charset="-122"/>
              </a:rPr>
              <a:t>VoD</a:t>
            </a:r>
            <a:r>
              <a:rPr lang="en-US" altLang="zh-CN" b="1" dirty="0">
                <a:solidFill>
                  <a:srgbClr val="C00000"/>
                </a:solidFill>
                <a:latin typeface="微软雅黑" pitchFamily="34" charset="-122"/>
                <a:ea typeface="微软雅黑" pitchFamily="34" charset="-122"/>
              </a:rPr>
              <a:t> </a:t>
            </a:r>
            <a:r>
              <a:rPr lang="en-US" altLang="zh-CN" b="1" dirty="0">
                <a:latin typeface="微软雅黑" pitchFamily="34" charset="-122"/>
                <a:ea typeface="微软雅黑" pitchFamily="34" charset="-122"/>
              </a:rPr>
              <a:t>(Video on Demand)</a:t>
            </a:r>
            <a:r>
              <a:rPr lang="zh-CN" altLang="en-US" b="1" dirty="0">
                <a:latin typeface="微软雅黑" pitchFamily="34" charset="-122"/>
                <a:ea typeface="微软雅黑" pitchFamily="34" charset="-122"/>
              </a:rPr>
              <a:t>，用户可以</a:t>
            </a:r>
            <a:r>
              <a:rPr lang="zh-CN" altLang="en-US" b="1" dirty="0">
                <a:solidFill>
                  <a:srgbClr val="C00000"/>
                </a:solidFill>
                <a:latin typeface="微软雅黑" pitchFamily="34" charset="-122"/>
                <a:ea typeface="微软雅黑" pitchFamily="34" charset="-122"/>
              </a:rPr>
              <a:t>在需要观看时进行播放</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这类协议特点</a:t>
            </a:r>
            <a:r>
              <a:rPr lang="zh-CN" altLang="en-US" b="1" dirty="0">
                <a:latin typeface="微软雅黑" pitchFamily="34" charset="-122"/>
                <a:ea typeface="微软雅黑" pitchFamily="34" charset="-122"/>
              </a:rPr>
              <a:t>如下</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42950" lvl="1" indent="-285750">
              <a:lnSpc>
                <a:spcPts val="2700"/>
              </a:lnSpc>
              <a:buClr>
                <a:srgbClr val="0070C0"/>
              </a:buClr>
              <a:buFont typeface="Wingdings" pitchFamily="2" charset="2"/>
              <a:buChar char="l"/>
            </a:pPr>
            <a:r>
              <a:rPr lang="zh-CN" altLang="en-US" sz="1600" b="1" dirty="0">
                <a:solidFill>
                  <a:srgbClr val="C00000"/>
                </a:solidFill>
                <a:latin typeface="微软雅黑" pitchFamily="34" charset="-122"/>
                <a:ea typeface="微软雅黑" pitchFamily="34" charset="-122"/>
              </a:rPr>
              <a:t>播放控制</a:t>
            </a:r>
            <a:r>
              <a:rPr lang="zh-CN" altLang="en-US" sz="1600" b="1" dirty="0">
                <a:latin typeface="微软雅黑" pitchFamily="34" charset="-122"/>
                <a:ea typeface="微软雅黑" pitchFamily="34" charset="-122"/>
              </a:rPr>
              <a:t>：要有低时延和高速传输能力，支持快进、快退等功能，确保用户享受流畅的观看体验。</a:t>
            </a:r>
          </a:p>
          <a:p>
            <a:pPr marL="742950" lvl="1" indent="-285750">
              <a:lnSpc>
                <a:spcPts val="2700"/>
              </a:lnSpc>
              <a:buClr>
                <a:srgbClr val="0070C0"/>
              </a:buClr>
              <a:buFont typeface="Wingdings" pitchFamily="2" charset="2"/>
              <a:buChar char="l"/>
            </a:pPr>
            <a:r>
              <a:rPr lang="zh-CN" altLang="en-US" sz="1600" b="1" dirty="0" smtClean="0">
                <a:solidFill>
                  <a:srgbClr val="C00000"/>
                </a:solidFill>
                <a:latin typeface="微软雅黑" pitchFamily="34" charset="-122"/>
                <a:ea typeface="微软雅黑" pitchFamily="34" charset="-122"/>
              </a:rPr>
              <a:t>码率</a:t>
            </a:r>
            <a:r>
              <a:rPr lang="zh-CN" altLang="en-US" sz="1600" b="1" dirty="0">
                <a:solidFill>
                  <a:srgbClr val="C00000"/>
                </a:solidFill>
                <a:latin typeface="微软雅黑" pitchFamily="34" charset="-122"/>
                <a:ea typeface="微软雅黑" pitchFamily="34" charset="-122"/>
              </a:rPr>
              <a:t>自适应</a:t>
            </a:r>
            <a:r>
              <a:rPr lang="zh-CN" altLang="en-US" sz="1600" b="1" dirty="0">
                <a:latin typeface="微软雅黑" pitchFamily="34" charset="-122"/>
                <a:ea typeface="微软雅黑" pitchFamily="34" charset="-122"/>
              </a:rPr>
              <a:t>：根据网络状况动态调整视频码率，支持断点续传。支持元数据（即视频时长、分辨率、编码格式等信息）传输。支持同一内容提供多种不同码率和清晰度版本。</a:t>
            </a:r>
          </a:p>
          <a:p>
            <a:pPr marL="742950" lvl="1" indent="-285750">
              <a:lnSpc>
                <a:spcPts val="2700"/>
              </a:lnSpc>
              <a:buClr>
                <a:srgbClr val="0070C0"/>
              </a:buClr>
              <a:buFont typeface="Wingdings" pitchFamily="2" charset="2"/>
              <a:buChar char="l"/>
            </a:pPr>
            <a:r>
              <a:rPr lang="zh-CN" altLang="en-US" sz="1600" b="1" dirty="0" smtClean="0">
                <a:solidFill>
                  <a:srgbClr val="C00000"/>
                </a:solidFill>
                <a:latin typeface="微软雅黑" pitchFamily="34" charset="-122"/>
                <a:ea typeface="微软雅黑" pitchFamily="34" charset="-122"/>
              </a:rPr>
              <a:t>兼容性</a:t>
            </a:r>
            <a:r>
              <a:rPr lang="zh-CN" altLang="en-US" sz="1600" b="1" dirty="0">
                <a:latin typeface="微软雅黑" pitchFamily="34" charset="-122"/>
                <a:ea typeface="微软雅黑" pitchFamily="34" charset="-122"/>
              </a:rPr>
              <a:t>：能够在多种设备和操作系统上运行，便于不同厂商实现互操作。支持未来新功能的</a:t>
            </a:r>
            <a:r>
              <a:rPr lang="zh-CN" altLang="en-US" sz="1600" b="1" dirty="0" smtClean="0">
                <a:latin typeface="微软雅黑" pitchFamily="34" charset="-122"/>
                <a:ea typeface="微软雅黑" pitchFamily="34" charset="-122"/>
              </a:rPr>
              <a:t>扩展。</a:t>
            </a:r>
            <a:endParaRPr lang="zh-CN" altLang="en-US" sz="1600" b="1" dirty="0">
              <a:latin typeface="微软雅黑" pitchFamily="34" charset="-122"/>
              <a:ea typeface="微软雅黑" pitchFamily="34" charset="-122"/>
            </a:endParaRPr>
          </a:p>
          <a:p>
            <a:pPr marL="742950" lvl="1" indent="-285750">
              <a:lnSpc>
                <a:spcPts val="2700"/>
              </a:lnSpc>
              <a:buClr>
                <a:srgbClr val="0070C0"/>
              </a:buClr>
              <a:buFont typeface="Wingdings" pitchFamily="2" charset="2"/>
              <a:buChar char="l"/>
            </a:pPr>
            <a:r>
              <a:rPr lang="zh-CN" altLang="en-US" sz="1600" b="1" dirty="0" smtClean="0">
                <a:solidFill>
                  <a:srgbClr val="C00000"/>
                </a:solidFill>
                <a:latin typeface="微软雅黑" pitchFamily="34" charset="-122"/>
                <a:ea typeface="微软雅黑" pitchFamily="34" charset="-122"/>
              </a:rPr>
              <a:t>安全性</a:t>
            </a:r>
            <a:r>
              <a:rPr lang="zh-CN" altLang="en-US" sz="1600" b="1" dirty="0">
                <a:latin typeface="微软雅黑" pitchFamily="34" charset="-122"/>
                <a:ea typeface="微软雅黑" pitchFamily="34" charset="-122"/>
              </a:rPr>
              <a:t>：有加密传输和防盗播放功能，有助于保护数字视频版权</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4673298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3" end="3"/>
                                            </p:txEl>
                                          </p:spTgt>
                                        </p:tgtEl>
                                        <p:attrNameLst>
                                          <p:attrName>style.visibility</p:attrName>
                                        </p:attrNameLst>
                                      </p:cBhvr>
                                      <p:to>
                                        <p:strVal val="visible"/>
                                      </p:to>
                                    </p:set>
                                    <p:animEffect transition="in" filter="fade">
                                      <p:cBhvr>
                                        <p:cTn id="12" dur="500"/>
                                        <p:tgtEl>
                                          <p:spTgt spid="4">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4" end="4"/>
                                            </p:txEl>
                                          </p:spTgt>
                                        </p:tgtEl>
                                        <p:attrNameLst>
                                          <p:attrName>style.visibility</p:attrName>
                                        </p:attrNameLst>
                                      </p:cBhvr>
                                      <p:to>
                                        <p:strVal val="visible"/>
                                      </p:to>
                                    </p:set>
                                    <p:animEffect transition="in" filter="fade">
                                      <p:cBhvr>
                                        <p:cTn id="17"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35231"/>
            <a:ext cx="812901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HTTP</a:t>
            </a:r>
            <a:r>
              <a:rPr lang="zh-CN" altLang="en-US" sz="2000" b="1" dirty="0">
                <a:solidFill>
                  <a:srgbClr val="C00000"/>
                </a:solidFill>
                <a:latin typeface="微软雅黑" pitchFamily="34" charset="-122"/>
                <a:ea typeface="微软雅黑" pitchFamily="34" charset="-122"/>
              </a:rPr>
              <a:t>流式直播</a:t>
            </a:r>
            <a:r>
              <a:rPr lang="en-US" altLang="zh-CN" sz="2000" b="1" dirty="0">
                <a:solidFill>
                  <a:srgbClr val="C00000"/>
                </a:solidFill>
                <a:latin typeface="微软雅黑" pitchFamily="34" charset="-122"/>
                <a:ea typeface="微软雅黑" pitchFamily="34" charset="-122"/>
              </a:rPr>
              <a:t>HLS </a:t>
            </a:r>
            <a:r>
              <a:rPr lang="en-US" altLang="zh-CN" sz="2000" b="1" dirty="0">
                <a:latin typeface="微软雅黑" pitchFamily="34" charset="-122"/>
                <a:ea typeface="微软雅黑" pitchFamily="34" charset="-122"/>
              </a:rPr>
              <a:t>(HTTP Live Streaming</a:t>
            </a:r>
            <a:r>
              <a:rPr lang="en-US" altLang="zh-CN" sz="2000" b="1" dirty="0" smtClean="0">
                <a:latin typeface="微软雅黑" pitchFamily="34" charset="-122"/>
                <a:ea typeface="微软雅黑" pitchFamily="34" charset="-122"/>
              </a:rPr>
              <a:t>)</a:t>
            </a:r>
          </a:p>
          <a:p>
            <a:pPr marL="800100" lvl="1" indent="-342900" eaLnBrk="0" hangingPunct="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RFC 8216</a:t>
            </a:r>
          </a:p>
          <a:p>
            <a:pPr marL="800100" lvl="1" indent="-342900" eaLnBrk="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由苹果</a:t>
            </a:r>
            <a:r>
              <a:rPr lang="zh-CN" altLang="en-US" b="1" dirty="0">
                <a:latin typeface="微软雅黑" pitchFamily="34" charset="-122"/>
                <a:ea typeface="微软雅黑" pitchFamily="34" charset="-122"/>
              </a:rPr>
              <a:t>公司</a:t>
            </a:r>
            <a:r>
              <a:rPr lang="zh-CN" altLang="en-US" b="1" dirty="0" smtClean="0">
                <a:latin typeface="微软雅黑" pitchFamily="34" charset="-122"/>
                <a:ea typeface="微软雅黑" pitchFamily="34" charset="-122"/>
              </a:rPr>
              <a:t>推出，在</a:t>
            </a:r>
            <a:r>
              <a:rPr lang="zh-CN" altLang="en-US" b="1" dirty="0">
                <a:latin typeface="微软雅黑" pitchFamily="34" charset="-122"/>
                <a:ea typeface="微软雅黑" pitchFamily="34" charset="-122"/>
              </a:rPr>
              <a:t>流媒体传输领域</a:t>
            </a:r>
            <a:r>
              <a:rPr lang="zh-CN" altLang="en-US" b="1" dirty="0" smtClean="0">
                <a:latin typeface="微软雅黑" pitchFamily="34" charset="-122"/>
                <a:ea typeface="微软雅黑" pitchFamily="34" charset="-122"/>
              </a:rPr>
              <a:t>具有显著</a:t>
            </a:r>
            <a:r>
              <a:rPr lang="zh-CN" altLang="en-US" b="1" dirty="0">
                <a:latin typeface="微软雅黑" pitchFamily="34" charset="-122"/>
                <a:ea typeface="微软雅黑" pitchFamily="34" charset="-122"/>
              </a:rPr>
              <a:t>的</a:t>
            </a:r>
            <a:r>
              <a:rPr lang="zh-CN" altLang="en-US" b="1" dirty="0" smtClean="0">
                <a:latin typeface="微软雅黑" pitchFamily="34" charset="-122"/>
                <a:ea typeface="微软雅黑" pitchFamily="34" charset="-122"/>
              </a:rPr>
              <a:t>影响力，但未被</a:t>
            </a:r>
            <a:r>
              <a:rPr lang="zh-CN" altLang="en-US" b="1" dirty="0">
                <a:latin typeface="微软雅黑" pitchFamily="34" charset="-122"/>
                <a:ea typeface="微软雅黑" pitchFamily="34" charset="-122"/>
              </a:rPr>
              <a:t>国际标准化组织正式认证为</a:t>
            </a:r>
            <a:r>
              <a:rPr lang="zh-CN" altLang="en-US" b="1" dirty="0" smtClean="0">
                <a:latin typeface="微软雅黑" pitchFamily="34" charset="-122"/>
                <a:ea typeface="微软雅黑" pitchFamily="34" charset="-122"/>
              </a:rPr>
              <a:t>标准。</a:t>
            </a:r>
            <a:endParaRPr lang="en-US" altLang="zh-CN"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基于</a:t>
            </a:r>
            <a:r>
              <a:rPr lang="en-US" altLang="zh-CN" sz="2000" b="1" dirty="0">
                <a:solidFill>
                  <a:srgbClr val="C00000"/>
                </a:solidFill>
                <a:latin typeface="微软雅黑" pitchFamily="34" charset="-122"/>
                <a:ea typeface="微软雅黑" pitchFamily="34" charset="-122"/>
              </a:rPr>
              <a:t>HTTP</a:t>
            </a:r>
            <a:r>
              <a:rPr lang="zh-CN" altLang="en-US" sz="2000" b="1" dirty="0">
                <a:solidFill>
                  <a:srgbClr val="C00000"/>
                </a:solidFill>
                <a:latin typeface="微软雅黑" pitchFamily="34" charset="-122"/>
                <a:ea typeface="微软雅黑" pitchFamily="34" charset="-122"/>
              </a:rPr>
              <a:t>的动态自适应流式传输</a:t>
            </a:r>
            <a:r>
              <a:rPr lang="en-US" altLang="zh-CN" sz="2000" b="1" dirty="0">
                <a:solidFill>
                  <a:srgbClr val="C00000"/>
                </a:solidFill>
                <a:latin typeface="微软雅黑" pitchFamily="34" charset="-122"/>
                <a:ea typeface="微软雅黑" pitchFamily="34" charset="-122"/>
              </a:rPr>
              <a:t>DASH </a:t>
            </a:r>
            <a:r>
              <a:rPr lang="en-US" altLang="zh-CN" sz="2000" b="1" dirty="0">
                <a:latin typeface="微软雅黑" pitchFamily="34" charset="-122"/>
                <a:ea typeface="微软雅黑" pitchFamily="34" charset="-122"/>
              </a:rPr>
              <a:t>(Dynamic Adaptive Streaming over HTTP) </a:t>
            </a:r>
            <a:endParaRPr lang="en-US" altLang="zh-CN" sz="2000" b="1" dirty="0" smtClean="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ISO/IEC 23009-1</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RFC 8216</a:t>
            </a:r>
          </a:p>
          <a:p>
            <a:pPr marL="800100" lvl="1" indent="-342900" eaLnBrk="0" hangingPunct="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ISO/IEC</a:t>
            </a:r>
            <a:r>
              <a:rPr lang="zh-CN" altLang="en-US" b="1" dirty="0">
                <a:latin typeface="微软雅黑" pitchFamily="34" charset="-122"/>
                <a:ea typeface="微软雅黑" pitchFamily="34" charset="-122"/>
              </a:rPr>
              <a:t>制订的流媒体传输国际标准</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2483524" y="593125"/>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用于</a:t>
            </a:r>
            <a:r>
              <a:rPr lang="zh-CN" altLang="en-US" sz="2400" b="1" dirty="0">
                <a:solidFill>
                  <a:schemeClr val="bg1"/>
                </a:solidFill>
                <a:latin typeface="微软雅黑" pitchFamily="34" charset="-122"/>
                <a:ea typeface="微软雅黑" pitchFamily="34" charset="-122"/>
              </a:rPr>
              <a:t>非实时多媒体传输的协议</a:t>
            </a:r>
            <a:endParaRPr lang="en-US" altLang="zh-CN" sz="24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6101802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fade">
                                      <p:cBhvr>
                                        <p:cTn id="7" dur="500"/>
                                        <p:tgtEl>
                                          <p:spTgt spid="2">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fade">
                                      <p:cBhvr>
                                        <p:cTn id="10" dur="500"/>
                                        <p:tgtEl>
                                          <p:spTgt spid="2">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5" end="5"/>
                                            </p:txEl>
                                          </p:spTgt>
                                        </p:tgtEl>
                                        <p:attrNameLst>
                                          <p:attrName>style.visibility</p:attrName>
                                        </p:attrNameLst>
                                      </p:cBhvr>
                                      <p:to>
                                        <p:strVal val="visible"/>
                                      </p:to>
                                    </p:set>
                                    <p:animEffect transition="in" filter="fade">
                                      <p:cBhvr>
                                        <p:cTn id="13"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DASH</a:t>
            </a:r>
            <a:r>
              <a:rPr lang="zh-CN" altLang="en-US" sz="2000" b="1" dirty="0" smtClean="0">
                <a:latin typeface="微软雅黑" pitchFamily="34" charset="-122"/>
                <a:ea typeface="微软雅黑" pitchFamily="34" charset="-122"/>
              </a:rPr>
              <a:t>核心</a:t>
            </a:r>
            <a:r>
              <a:rPr lang="zh-CN" altLang="en-US" sz="2000" b="1" dirty="0">
                <a:latin typeface="微软雅黑" pitchFamily="34" charset="-122"/>
                <a:ea typeface="微软雅黑" pitchFamily="34" charset="-122"/>
              </a:rPr>
              <a:t>目标是让用户在不同网络带宽、不同设备性能下，都能获得流畅、高质量的视频观看体验，已经形成</a:t>
            </a:r>
            <a:r>
              <a:rPr lang="zh-CN" altLang="en-US" sz="2000" b="1" dirty="0" smtClean="0">
                <a:latin typeface="微软雅黑" pitchFamily="34" charset="-122"/>
                <a:ea typeface="微软雅黑" pitchFamily="34" charset="-122"/>
              </a:rPr>
              <a:t>了一</a:t>
            </a:r>
            <a:r>
              <a:rPr lang="zh-CN" altLang="en-US" sz="2000" b="1" dirty="0">
                <a:latin typeface="微软雅黑" pitchFamily="34" charset="-122"/>
                <a:ea typeface="微软雅黑" pitchFamily="34" charset="-122"/>
              </a:rPr>
              <a:t>个完整的技术标准</a:t>
            </a:r>
            <a:r>
              <a:rPr lang="zh-CN" altLang="en-US" sz="2000" b="1" dirty="0" smtClean="0">
                <a:latin typeface="微软雅黑" pitchFamily="34" charset="-122"/>
                <a:ea typeface="微软雅黑" pitchFamily="34" charset="-122"/>
              </a:rPr>
              <a:t>，定义了：</a:t>
            </a:r>
            <a:endParaRPr lang="en-US" altLang="zh-CN" sz="2000" b="1" dirty="0" smtClean="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媒体</a:t>
            </a:r>
            <a:r>
              <a:rPr lang="zh-CN" altLang="en-US" b="1" dirty="0">
                <a:solidFill>
                  <a:srgbClr val="C00000"/>
                </a:solidFill>
                <a:latin typeface="微软雅黑" pitchFamily="34" charset="-122"/>
                <a:ea typeface="微软雅黑" pitchFamily="34" charset="-122"/>
              </a:rPr>
              <a:t>内容的组织方式</a:t>
            </a:r>
            <a:r>
              <a:rPr lang="zh-CN" altLang="en-US" b="1" dirty="0">
                <a:latin typeface="微软雅黑" pitchFamily="34" charset="-122"/>
                <a:ea typeface="微软雅黑" pitchFamily="34" charset="-122"/>
              </a:rPr>
              <a:t>（如何切分视频段）。</a:t>
            </a:r>
          </a:p>
          <a:p>
            <a:pPr marL="800100" lvl="1" indent="-342900" eaLnBrk="0" hangingPunct="0">
              <a:lnSpc>
                <a:spcPts val="33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客户</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服务器的通信方式</a:t>
            </a:r>
            <a:r>
              <a:rPr lang="zh-CN" altLang="en-US" b="1" dirty="0">
                <a:latin typeface="微软雅黑" pitchFamily="34" charset="-122"/>
                <a:ea typeface="微软雅黑" pitchFamily="34" charset="-122"/>
              </a:rPr>
              <a:t>。</a:t>
            </a:r>
          </a:p>
          <a:p>
            <a:pPr marL="800100" lvl="1" indent="-342900" eaLnBrk="0" hangingPunct="0">
              <a:lnSpc>
                <a:spcPts val="33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清单</a:t>
            </a:r>
            <a:r>
              <a:rPr lang="zh-CN" altLang="en-US" b="1" dirty="0">
                <a:solidFill>
                  <a:srgbClr val="C00000"/>
                </a:solidFill>
                <a:latin typeface="微软雅黑" pitchFamily="34" charset="-122"/>
                <a:ea typeface="微软雅黑" pitchFamily="34" charset="-122"/>
              </a:rPr>
              <a:t>文件</a:t>
            </a:r>
            <a:r>
              <a:rPr lang="en-US" altLang="zh-CN" b="1" dirty="0">
                <a:solidFill>
                  <a:srgbClr val="C00000"/>
                </a:solidFill>
                <a:latin typeface="微软雅黑" pitchFamily="34" charset="-122"/>
                <a:ea typeface="微软雅黑" pitchFamily="34" charset="-122"/>
              </a:rPr>
              <a:t>MPD </a:t>
            </a:r>
            <a:r>
              <a:rPr lang="en-US" altLang="zh-CN" b="1" dirty="0">
                <a:latin typeface="微软雅黑" pitchFamily="34" charset="-122"/>
                <a:ea typeface="微软雅黑" pitchFamily="34" charset="-122"/>
              </a:rPr>
              <a:t>(Media Presentation Description)</a:t>
            </a:r>
            <a:r>
              <a:rPr lang="zh-CN" altLang="en-US" b="1" dirty="0">
                <a:solidFill>
                  <a:srgbClr val="C00000"/>
                </a:solidFill>
                <a:latin typeface="微软雅黑" pitchFamily="34" charset="-122"/>
                <a:ea typeface="微软雅黑" pitchFamily="34" charset="-122"/>
              </a:rPr>
              <a:t>的格式</a:t>
            </a:r>
            <a:r>
              <a:rPr lang="zh-CN" altLang="en-US" b="1" dirty="0">
                <a:latin typeface="微软雅黑" pitchFamily="34" charset="-122"/>
                <a:ea typeface="微软雅黑" pitchFamily="34" charset="-122"/>
              </a:rPr>
              <a:t>。</a:t>
            </a:r>
          </a:p>
          <a:p>
            <a:pPr marL="800100" lvl="1" indent="-342900" eaLnBrk="0" hangingPunct="0">
              <a:lnSpc>
                <a:spcPts val="33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自</a:t>
            </a:r>
            <a:r>
              <a:rPr lang="zh-CN" altLang="en-US" b="1" dirty="0">
                <a:solidFill>
                  <a:srgbClr val="C00000"/>
                </a:solidFill>
                <a:latin typeface="微软雅黑" pitchFamily="34" charset="-122"/>
                <a:ea typeface="微软雅黑" pitchFamily="34" charset="-122"/>
              </a:rPr>
              <a:t>适应切换的机制</a:t>
            </a:r>
            <a:r>
              <a:rPr lang="zh-CN" altLang="en-US" b="1" dirty="0">
                <a:latin typeface="微软雅黑" pitchFamily="34" charset="-122"/>
                <a:ea typeface="微软雅黑" pitchFamily="34" charset="-122"/>
              </a:rPr>
              <a:t>。 </a:t>
            </a:r>
          </a:p>
          <a:p>
            <a:pPr marL="800100" lvl="1" indent="-342900" eaLnBrk="0" hangingPunct="0">
              <a:lnSpc>
                <a:spcPts val="3300"/>
              </a:lnSpc>
              <a:buClr>
                <a:srgbClr val="0070C0"/>
              </a:buClr>
              <a:buFont typeface="Wingdings" pitchFamily="2" charset="2"/>
              <a:buChar char="l"/>
            </a:pPr>
            <a:endParaRPr lang="en-US" altLang="zh-CN"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1759800" y="593125"/>
            <a:ext cx="56332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基于</a:t>
            </a:r>
            <a:r>
              <a:rPr lang="en-US" altLang="zh-CN" sz="2400" b="1" dirty="0">
                <a:solidFill>
                  <a:schemeClr val="bg1"/>
                </a:solidFill>
                <a:latin typeface="微软雅黑" pitchFamily="34" charset="-122"/>
                <a:ea typeface="微软雅黑" pitchFamily="34" charset="-122"/>
              </a:rPr>
              <a:t>HTTP</a:t>
            </a:r>
            <a:r>
              <a:rPr lang="zh-CN" altLang="en-US" sz="2400" b="1" dirty="0">
                <a:solidFill>
                  <a:schemeClr val="bg1"/>
                </a:solidFill>
                <a:latin typeface="微软雅黑" pitchFamily="34" charset="-122"/>
                <a:ea typeface="微软雅黑" pitchFamily="34" charset="-122"/>
              </a:rPr>
              <a:t>的动态自适应流式传输</a:t>
            </a:r>
            <a:r>
              <a:rPr lang="en-US" altLang="zh-CN" sz="2400" b="1" dirty="0">
                <a:solidFill>
                  <a:schemeClr val="bg1"/>
                </a:solidFill>
                <a:latin typeface="微软雅黑" pitchFamily="34" charset="-122"/>
                <a:ea typeface="微软雅黑" pitchFamily="34" charset="-122"/>
              </a:rPr>
              <a:t>DASH</a:t>
            </a:r>
          </a:p>
        </p:txBody>
      </p:sp>
    </p:spTree>
    <p:extLst>
      <p:ext uri="{BB962C8B-B14F-4D97-AF65-F5344CB8AC3E}">
        <p14:creationId xmlns:p14="http://schemas.microsoft.com/office/powerpoint/2010/main" val="29216398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DASH </a:t>
            </a:r>
            <a:r>
              <a:rPr lang="zh-CN" altLang="en-US" sz="1600" b="1" dirty="0" smtClean="0">
                <a:latin typeface="微软雅黑" pitchFamily="34" charset="-122"/>
                <a:ea typeface="微软雅黑" pitchFamily="34" charset="-122"/>
              </a:rPr>
              <a:t>把</a:t>
            </a:r>
            <a:r>
              <a:rPr lang="zh-CN" altLang="en-US" sz="1600" b="1" dirty="0">
                <a:latin typeface="微软雅黑" pitchFamily="34" charset="-122"/>
                <a:ea typeface="微软雅黑" pitchFamily="34" charset="-122"/>
              </a:rPr>
              <a:t>视频内容编码为多个</a:t>
            </a:r>
            <a:r>
              <a:rPr lang="zh-CN" altLang="en-US" sz="1600" b="1" dirty="0">
                <a:solidFill>
                  <a:srgbClr val="C00000"/>
                </a:solidFill>
                <a:latin typeface="微软雅黑" pitchFamily="34" charset="-122"/>
                <a:ea typeface="微软雅黑" pitchFamily="34" charset="-122"/>
              </a:rPr>
              <a:t>不同码率的版本</a:t>
            </a:r>
            <a:r>
              <a:rPr lang="zh-CN" altLang="en-US" sz="1600" b="1" dirty="0">
                <a:latin typeface="微软雅黑" pitchFamily="34" charset="-122"/>
                <a:ea typeface="微软雅黑" pitchFamily="34" charset="-122"/>
              </a:rPr>
              <a:t>，并分割成许多小数据片段（通常每个</a:t>
            </a:r>
            <a:r>
              <a:rPr lang="zh-CN" altLang="en-US" sz="1600" b="1" dirty="0" smtClean="0">
                <a:latin typeface="微软雅黑" pitchFamily="34" charset="-122"/>
                <a:ea typeface="微软雅黑" pitchFamily="34" charset="-122"/>
              </a:rPr>
              <a:t>片段 </a:t>
            </a:r>
            <a:r>
              <a:rPr lang="en-US" altLang="zh-CN" sz="1600" b="1" dirty="0" smtClean="0">
                <a:latin typeface="微软雅黑" pitchFamily="34" charset="-122"/>
                <a:ea typeface="微软雅黑" pitchFamily="34" charset="-122"/>
              </a:rPr>
              <a:t>2 </a:t>
            </a:r>
            <a:r>
              <a:rPr lang="en-US" altLang="zh-CN" sz="1600" b="1" dirty="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10 </a:t>
            </a:r>
            <a:r>
              <a:rPr lang="zh-CN" altLang="en-US" sz="1600" b="1" dirty="0" smtClean="0">
                <a:latin typeface="微软雅黑" pitchFamily="34" charset="-122"/>
                <a:ea typeface="微软雅黑" pitchFamily="34" charset="-122"/>
              </a:rPr>
              <a:t>秒</a:t>
            </a:r>
            <a:r>
              <a:rPr lang="zh-CN" altLang="en-US" sz="1600" b="1" dirty="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342900" indent="-34290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服务器生成</a:t>
            </a:r>
            <a:r>
              <a:rPr lang="zh-CN" altLang="en-US" sz="1600" b="1" dirty="0">
                <a:latin typeface="微软雅黑" pitchFamily="34" charset="-122"/>
                <a:ea typeface="微软雅黑" pitchFamily="34" charset="-122"/>
              </a:rPr>
              <a:t>一个</a:t>
            </a:r>
            <a:r>
              <a:rPr lang="zh-CN" altLang="en-US" sz="1600" b="1" dirty="0">
                <a:solidFill>
                  <a:srgbClr val="C00000"/>
                </a:solidFill>
                <a:latin typeface="微软雅黑" pitchFamily="34" charset="-122"/>
                <a:ea typeface="微软雅黑" pitchFamily="34" charset="-122"/>
              </a:rPr>
              <a:t>清单</a:t>
            </a:r>
            <a:r>
              <a:rPr lang="zh-CN" altLang="en-US" sz="1600" b="1" dirty="0" smtClean="0">
                <a:solidFill>
                  <a:srgbClr val="C00000"/>
                </a:solidFill>
                <a:latin typeface="微软雅黑" pitchFamily="34" charset="-122"/>
                <a:ea typeface="微软雅黑" pitchFamily="34" charset="-122"/>
              </a:rPr>
              <a:t>文件 </a:t>
            </a:r>
            <a:r>
              <a:rPr lang="en-US" altLang="zh-CN" sz="1600" b="1" dirty="0" smtClean="0">
                <a:solidFill>
                  <a:srgbClr val="C00000"/>
                </a:solidFill>
                <a:latin typeface="微软雅黑" pitchFamily="34" charset="-122"/>
                <a:ea typeface="微软雅黑" pitchFamily="34" charset="-122"/>
              </a:rPr>
              <a:t>MPD</a:t>
            </a:r>
            <a:r>
              <a:rPr lang="zh-CN" altLang="en-US" sz="1600" b="1" dirty="0" smtClean="0">
                <a:latin typeface="微软雅黑" pitchFamily="34" charset="-122"/>
                <a:ea typeface="微软雅黑" pitchFamily="34" charset="-122"/>
              </a:rPr>
              <a:t>，</a:t>
            </a:r>
            <a:r>
              <a:rPr lang="zh-CN" altLang="en-US" sz="1600" b="1" dirty="0">
                <a:latin typeface="微软雅黑" pitchFamily="34" charset="-122"/>
                <a:ea typeface="微软雅黑" pitchFamily="34" charset="-122"/>
              </a:rPr>
              <a:t>用来描述可用的媒体内容、不同码率版本、</a:t>
            </a:r>
            <a:r>
              <a:rPr lang="zh-CN" altLang="en-US" sz="1600" b="1" dirty="0" smtClean="0">
                <a:latin typeface="微软雅黑" pitchFamily="34" charset="-122"/>
                <a:ea typeface="微软雅黑" pitchFamily="34" charset="-122"/>
              </a:rPr>
              <a:t>片段 </a:t>
            </a:r>
            <a:r>
              <a:rPr lang="en-US" altLang="zh-CN" sz="1600" b="1" dirty="0" smtClean="0">
                <a:latin typeface="微软雅黑" pitchFamily="34" charset="-122"/>
                <a:ea typeface="微软雅黑" pitchFamily="34" charset="-122"/>
              </a:rPr>
              <a:t>URL </a:t>
            </a:r>
            <a:r>
              <a:rPr lang="zh-CN" altLang="en-US" sz="1600" b="1" dirty="0" smtClean="0">
                <a:latin typeface="微软雅黑" pitchFamily="34" charset="-122"/>
                <a:ea typeface="微软雅黑" pitchFamily="34" charset="-122"/>
              </a:rPr>
              <a:t>等信息。</a:t>
            </a:r>
            <a:endParaRPr lang="en-US" altLang="zh-CN" sz="1600" b="1" dirty="0" smtClean="0">
              <a:latin typeface="微软雅黑" pitchFamily="34" charset="-122"/>
              <a:ea typeface="微软雅黑" pitchFamily="34" charset="-122"/>
            </a:endParaRPr>
          </a:p>
          <a:p>
            <a:pPr marL="342900" indent="-34290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客户端</a:t>
            </a:r>
            <a:r>
              <a:rPr lang="zh-CN" altLang="en-US" sz="1600" b="1" dirty="0">
                <a:latin typeface="微软雅黑" pitchFamily="34" charset="-122"/>
                <a:ea typeface="微软雅黑" pitchFamily="34" charset="-122"/>
              </a:rPr>
              <a:t>获取并</a:t>
            </a:r>
            <a:r>
              <a:rPr lang="zh-CN" altLang="en-US" sz="1600" b="1" dirty="0" smtClean="0">
                <a:latin typeface="微软雅黑" pitchFamily="34" charset="-122"/>
                <a:ea typeface="微软雅黑" pitchFamily="34" charset="-122"/>
              </a:rPr>
              <a:t>解析 </a:t>
            </a:r>
            <a:r>
              <a:rPr lang="en-US" altLang="zh-CN" sz="1600" b="1" dirty="0" smtClean="0">
                <a:latin typeface="微软雅黑" pitchFamily="34" charset="-122"/>
                <a:ea typeface="微软雅黑" pitchFamily="34" charset="-122"/>
              </a:rPr>
              <a:t>MPD </a:t>
            </a:r>
            <a:r>
              <a:rPr lang="zh-CN" altLang="en-US" sz="1600" b="1" dirty="0" smtClean="0">
                <a:latin typeface="微软雅黑" pitchFamily="34" charset="-122"/>
                <a:ea typeface="微软雅黑" pitchFamily="34" charset="-122"/>
              </a:rPr>
              <a:t>文件</a:t>
            </a:r>
            <a:r>
              <a:rPr lang="zh-CN" altLang="en-US" sz="1600" b="1" dirty="0">
                <a:latin typeface="微软雅黑" pitchFamily="34" charset="-122"/>
                <a:ea typeface="微软雅黑" pitchFamily="34" charset="-122"/>
              </a:rPr>
              <a:t>，并根据网络条件、设备能力等因素，</a:t>
            </a:r>
            <a:r>
              <a:rPr lang="zh-CN" altLang="en-US" sz="1600" b="1" dirty="0">
                <a:solidFill>
                  <a:srgbClr val="C00000"/>
                </a:solidFill>
                <a:latin typeface="微软雅黑" pitchFamily="34" charset="-122"/>
                <a:ea typeface="微软雅黑" pitchFamily="34" charset="-122"/>
              </a:rPr>
              <a:t>动态选择合适码率的视频片段</a:t>
            </a:r>
            <a:r>
              <a:rPr lang="zh-CN" altLang="en-US" sz="1600" b="1" dirty="0">
                <a:latin typeface="微软雅黑" pitchFamily="34" charset="-122"/>
                <a:ea typeface="微软雅黑" pitchFamily="34" charset="-122"/>
              </a:rPr>
              <a:t>，向服务器</a:t>
            </a:r>
            <a:r>
              <a:rPr lang="zh-CN" altLang="en-US" sz="1600" b="1" dirty="0" smtClean="0">
                <a:latin typeface="微软雅黑" pitchFamily="34" charset="-122"/>
                <a:ea typeface="微软雅黑" pitchFamily="34" charset="-122"/>
              </a:rPr>
              <a:t>发送 </a:t>
            </a:r>
            <a:r>
              <a:rPr lang="en-US" altLang="zh-CN" sz="1600" b="1" dirty="0" smtClean="0">
                <a:latin typeface="微软雅黑" pitchFamily="34" charset="-122"/>
                <a:ea typeface="微软雅黑" pitchFamily="34" charset="-122"/>
              </a:rPr>
              <a:t>HTTP </a:t>
            </a:r>
            <a:r>
              <a:rPr lang="zh-CN" altLang="en-US" sz="1600" b="1" dirty="0" smtClean="0">
                <a:latin typeface="微软雅黑" pitchFamily="34" charset="-122"/>
                <a:ea typeface="微软雅黑" pitchFamily="34" charset="-122"/>
              </a:rPr>
              <a:t>的 </a:t>
            </a:r>
            <a:r>
              <a:rPr lang="en-US" altLang="zh-CN" sz="1600" b="1" dirty="0" smtClean="0">
                <a:latin typeface="微软雅黑" pitchFamily="34" charset="-122"/>
                <a:ea typeface="微软雅黑" pitchFamily="34" charset="-122"/>
              </a:rPr>
              <a:t>GET </a:t>
            </a:r>
            <a:r>
              <a:rPr lang="zh-CN" altLang="en-US" sz="1600" b="1" dirty="0" smtClean="0">
                <a:latin typeface="微软雅黑" pitchFamily="34" charset="-122"/>
                <a:ea typeface="微软雅黑" pitchFamily="34" charset="-122"/>
              </a:rPr>
              <a:t>请求。可以通过内容</a:t>
            </a:r>
            <a:r>
              <a:rPr lang="zh-CN" altLang="en-US" sz="1600" b="1" dirty="0">
                <a:latin typeface="微软雅黑" pitchFamily="34" charset="-122"/>
                <a:ea typeface="微软雅黑" pitchFamily="34" charset="-122"/>
              </a:rPr>
              <a:t>分发</a:t>
            </a:r>
            <a:r>
              <a:rPr lang="zh-CN" altLang="en-US" sz="1600" b="1" dirty="0" smtClean="0">
                <a:latin typeface="微软雅黑" pitchFamily="34" charset="-122"/>
                <a:ea typeface="微软雅黑" pitchFamily="34" charset="-122"/>
              </a:rPr>
              <a:t>网络 </a:t>
            </a:r>
            <a:r>
              <a:rPr lang="en-US" altLang="zh-CN" sz="1600" b="1" dirty="0" smtClean="0">
                <a:latin typeface="微软雅黑" pitchFamily="34" charset="-122"/>
                <a:ea typeface="微软雅黑" pitchFamily="34" charset="-122"/>
              </a:rPr>
              <a:t>CDN </a:t>
            </a:r>
            <a:r>
              <a:rPr lang="zh-CN" altLang="en-US" sz="1600" b="1" dirty="0" smtClean="0">
                <a:latin typeface="微软雅黑" pitchFamily="34" charset="-122"/>
                <a:ea typeface="微软雅黑" pitchFamily="34" charset="-122"/>
              </a:rPr>
              <a:t>帮助</a:t>
            </a:r>
            <a:r>
              <a:rPr lang="zh-CN" altLang="en-US" sz="1600" b="1" dirty="0">
                <a:latin typeface="微软雅黑" pitchFamily="34" charset="-122"/>
                <a:ea typeface="微软雅黑" pitchFamily="34" charset="-122"/>
              </a:rPr>
              <a:t>源服务器更高效地分发这些流媒体</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342900" indent="-34290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客户端</a:t>
            </a:r>
            <a:r>
              <a:rPr lang="zh-CN" altLang="en-US" sz="1600" b="1" dirty="0">
                <a:latin typeface="微软雅黑" pitchFamily="34" charset="-122"/>
                <a:ea typeface="微软雅黑" pitchFamily="34" charset="-122"/>
              </a:rPr>
              <a:t>设备接收到流数据后，会</a:t>
            </a:r>
            <a:r>
              <a:rPr lang="zh-CN" altLang="en-US" sz="1600" b="1" dirty="0">
                <a:solidFill>
                  <a:srgbClr val="C00000"/>
                </a:solidFill>
                <a:latin typeface="微软雅黑" pitchFamily="34" charset="-122"/>
                <a:ea typeface="微软雅黑" pitchFamily="34" charset="-122"/>
              </a:rPr>
              <a:t>解码数据</a:t>
            </a:r>
            <a:r>
              <a:rPr lang="zh-CN" altLang="en-US" sz="1600" b="1" dirty="0" smtClean="0">
                <a:solidFill>
                  <a:srgbClr val="C00000"/>
                </a:solidFill>
                <a:latin typeface="微软雅黑" pitchFamily="34" charset="-122"/>
                <a:ea typeface="微软雅黑" pitchFamily="34" charset="-122"/>
              </a:rPr>
              <a:t>并播放视频</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342900" indent="-34290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播放过程中播放器能够根据</a:t>
            </a:r>
            <a:r>
              <a:rPr lang="zh-CN" altLang="en-US" sz="1600" b="1" dirty="0">
                <a:latin typeface="微软雅黑" pitchFamily="34" charset="-122"/>
                <a:ea typeface="微软雅黑" pitchFamily="34" charset="-122"/>
              </a:rPr>
              <a:t>网络条件的变化，</a:t>
            </a:r>
            <a:r>
              <a:rPr lang="zh-CN" altLang="en-US" sz="1600" b="1" dirty="0">
                <a:solidFill>
                  <a:srgbClr val="C00000"/>
                </a:solidFill>
                <a:latin typeface="微软雅黑" pitchFamily="34" charset="-122"/>
                <a:ea typeface="微软雅黑" pitchFamily="34" charset="-122"/>
              </a:rPr>
              <a:t>自动</a:t>
            </a:r>
            <a:r>
              <a:rPr lang="zh-CN" altLang="en-US" sz="1600" b="1" dirty="0" smtClean="0">
                <a:solidFill>
                  <a:srgbClr val="C00000"/>
                </a:solidFill>
                <a:latin typeface="微软雅黑" pitchFamily="34" charset="-122"/>
                <a:ea typeface="微软雅黑" pitchFamily="34" charset="-122"/>
              </a:rPr>
              <a:t>切换请求不同码率的视频</a:t>
            </a:r>
            <a:r>
              <a:rPr lang="zh-CN" altLang="en-US" sz="1600" b="1" dirty="0" smtClean="0">
                <a:latin typeface="微软雅黑" pitchFamily="34" charset="-122"/>
                <a:ea typeface="微软雅黑" pitchFamily="34" charset="-122"/>
              </a:rPr>
              <a:t>，以</a:t>
            </a:r>
            <a:r>
              <a:rPr lang="zh-CN" altLang="en-US" sz="1600" b="1" dirty="0">
                <a:latin typeface="微软雅黑" pitchFamily="34" charset="-122"/>
                <a:ea typeface="微软雅黑" pitchFamily="34" charset="-122"/>
              </a:rPr>
              <a:t>确保最佳的用户体验。 </a:t>
            </a: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1622743" y="593125"/>
            <a:ext cx="59073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基于 </a:t>
            </a:r>
            <a:r>
              <a:rPr lang="en-US" altLang="zh-CN" sz="2400" b="1" dirty="0">
                <a:solidFill>
                  <a:schemeClr val="bg1"/>
                </a:solidFill>
                <a:latin typeface="微软雅黑" pitchFamily="34" charset="-122"/>
                <a:ea typeface="微软雅黑" pitchFamily="34" charset="-122"/>
              </a:rPr>
              <a:t>HTTP </a:t>
            </a:r>
            <a:r>
              <a:rPr lang="zh-CN" altLang="en-US" sz="2400" b="1" dirty="0">
                <a:solidFill>
                  <a:schemeClr val="bg1"/>
                </a:solidFill>
                <a:latin typeface="微软雅黑" pitchFamily="34" charset="-122"/>
                <a:ea typeface="微软雅黑" pitchFamily="34" charset="-122"/>
              </a:rPr>
              <a:t>的动态自适应流式传输 </a:t>
            </a:r>
            <a:r>
              <a:rPr lang="en-US" altLang="zh-CN" sz="2400" b="1" dirty="0">
                <a:solidFill>
                  <a:schemeClr val="bg1"/>
                </a:solidFill>
                <a:latin typeface="微软雅黑" pitchFamily="34" charset="-122"/>
                <a:ea typeface="微软雅黑" pitchFamily="34" charset="-122"/>
              </a:rPr>
              <a:t>DASH</a:t>
            </a:r>
          </a:p>
        </p:txBody>
      </p:sp>
    </p:spTree>
    <p:custDataLst>
      <p:tags r:id="rId1"/>
    </p:custDataLst>
    <p:extLst>
      <p:ext uri="{BB962C8B-B14F-4D97-AF65-F5344CB8AC3E}">
        <p14:creationId xmlns:p14="http://schemas.microsoft.com/office/powerpoint/2010/main" val="27703486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762031" y="1598085"/>
            <a:ext cx="7432741" cy="352158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Line 61"/>
          <p:cNvSpPr>
            <a:spLocks noChangeShapeType="1"/>
          </p:cNvSpPr>
          <p:nvPr/>
        </p:nvSpPr>
        <p:spPr bwMode="auto">
          <a:xfrm rot="16200000" flipH="1" flipV="1">
            <a:off x="6122395" y="2425624"/>
            <a:ext cx="1" cy="1334937"/>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76" name="Line 72"/>
          <p:cNvSpPr>
            <a:spLocks noChangeShapeType="1"/>
          </p:cNvSpPr>
          <p:nvPr/>
        </p:nvSpPr>
        <p:spPr bwMode="auto">
          <a:xfrm rot="5400000" flipH="1">
            <a:off x="3614568" y="2006749"/>
            <a:ext cx="323128" cy="1813737"/>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78" name="Text Box 75"/>
          <p:cNvSpPr txBox="1">
            <a:spLocks noChangeArrowheads="1"/>
          </p:cNvSpPr>
          <p:nvPr/>
        </p:nvSpPr>
        <p:spPr bwMode="auto">
          <a:xfrm rot="686725">
            <a:off x="2883922" y="2370982"/>
            <a:ext cx="199350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smtClean="0">
                <a:latin typeface="微软雅黑" pitchFamily="34" charset="-122"/>
                <a:ea typeface="微软雅黑" pitchFamily="34" charset="-122"/>
              </a:rPr>
              <a:t>拉流</a:t>
            </a:r>
            <a:endParaRPr lang="en-US" altLang="zh-CN" sz="1400" b="1" dirty="0" smtClean="0">
              <a:latin typeface="微软雅黑" pitchFamily="34" charset="-122"/>
              <a:ea typeface="微软雅黑" pitchFamily="34" charset="-122"/>
            </a:endParaRPr>
          </a:p>
          <a:p>
            <a:pPr algn="ctr"/>
            <a:r>
              <a:rPr lang="en-US" altLang="zh-CN" sz="1400" b="1" dirty="0" smtClean="0">
                <a:latin typeface="微软雅黑" pitchFamily="34" charset="-122"/>
                <a:ea typeface="微软雅黑" pitchFamily="34" charset="-122"/>
              </a:rPr>
              <a:t>(</a:t>
            </a:r>
            <a:r>
              <a:rPr lang="en-US" altLang="zh-CN" sz="1400" b="1" dirty="0">
                <a:latin typeface="微软雅黑" pitchFamily="34" charset="-122"/>
                <a:ea typeface="微软雅黑" pitchFamily="34" charset="-122"/>
              </a:rPr>
              <a:t>pull streaming)</a:t>
            </a:r>
          </a:p>
        </p:txBody>
      </p:sp>
      <p:sp>
        <p:nvSpPr>
          <p:cNvPr id="79" name="Rectangle 76"/>
          <p:cNvSpPr>
            <a:spLocks noChangeArrowheads="1"/>
          </p:cNvSpPr>
          <p:nvPr/>
        </p:nvSpPr>
        <p:spPr bwMode="auto">
          <a:xfrm>
            <a:off x="4683000" y="2930283"/>
            <a:ext cx="763019" cy="459790"/>
          </a:xfrm>
          <a:prstGeom prst="rect">
            <a:avLst/>
          </a:prstGeom>
          <a:solidFill>
            <a:srgbClr val="009900"/>
          </a:solidFill>
          <a:ln>
            <a:solidFill>
              <a:schemeClr val="tx1"/>
            </a:solidFill>
          </a:ln>
          <a:effectLst/>
          <a:extLst/>
        </p:spPr>
        <p:txBody>
          <a:bodyPr wrap="none" anchor="ctr"/>
          <a:lstStyle/>
          <a:p>
            <a:pPr algn="ctr"/>
            <a:r>
              <a:rPr lang="zh-CN" altLang="en-US" sz="1400" b="1" dirty="0" smtClean="0">
                <a:solidFill>
                  <a:schemeClr val="bg1"/>
                </a:solidFill>
                <a:latin typeface="微软雅黑" pitchFamily="34" charset="-122"/>
                <a:ea typeface="微软雅黑" pitchFamily="34" charset="-122"/>
              </a:rPr>
              <a:t>流媒体</a:t>
            </a:r>
            <a:endParaRPr lang="zh-CN" altLang="en-US" sz="1400" b="1" dirty="0">
              <a:solidFill>
                <a:schemeClr val="bg1"/>
              </a:solidFill>
              <a:latin typeface="微软雅黑" pitchFamily="34" charset="-122"/>
              <a:ea typeface="微软雅黑" pitchFamily="34" charset="-122"/>
            </a:endParaRPr>
          </a:p>
          <a:p>
            <a:pPr algn="ctr"/>
            <a:r>
              <a:rPr lang="zh-CN" altLang="en-US" sz="1400" b="1" dirty="0">
                <a:solidFill>
                  <a:schemeClr val="bg1"/>
                </a:solidFill>
                <a:latin typeface="微软雅黑" pitchFamily="34" charset="-122"/>
                <a:ea typeface="微软雅黑" pitchFamily="34" charset="-122"/>
              </a:rPr>
              <a:t>服务器</a:t>
            </a:r>
          </a:p>
        </p:txBody>
      </p:sp>
      <p:grpSp>
        <p:nvGrpSpPr>
          <p:cNvPr id="6" name="组合 5"/>
          <p:cNvGrpSpPr/>
          <p:nvPr/>
        </p:nvGrpSpPr>
        <p:grpSpPr>
          <a:xfrm>
            <a:off x="1837480" y="1598086"/>
            <a:ext cx="1060876" cy="1626604"/>
            <a:chOff x="2085864" y="1100599"/>
            <a:chExt cx="1060876" cy="1626604"/>
          </a:xfrm>
        </p:grpSpPr>
        <p:sp>
          <p:nvSpPr>
            <p:cNvPr id="5" name="Rectangle 5"/>
            <p:cNvSpPr>
              <a:spLocks noChangeArrowheads="1"/>
            </p:cNvSpPr>
            <p:nvPr/>
          </p:nvSpPr>
          <p:spPr bwMode="auto">
            <a:xfrm>
              <a:off x="2085864" y="1768295"/>
              <a:ext cx="1060876" cy="958908"/>
            </a:xfrm>
            <a:prstGeom prst="rect">
              <a:avLst/>
            </a:prstGeom>
            <a:solidFill>
              <a:srgbClr val="00FFFF"/>
            </a:solidFill>
            <a:ln>
              <a:solidFill>
                <a:schemeClr val="tx1"/>
              </a:solidFill>
            </a:ln>
            <a:effectLst/>
            <a:extLst/>
          </p:spPr>
          <p:txBody>
            <a:bodyPr wrap="none" anchor="ctr"/>
            <a:lstStyle/>
            <a:p>
              <a:pPr algn="ctr"/>
              <a:endParaRPr lang="zh-CN" altLang="zh-CN" sz="1600" b="1">
                <a:latin typeface="微软雅黑" pitchFamily="34" charset="-122"/>
                <a:ea typeface="微软雅黑" pitchFamily="34" charset="-122"/>
              </a:endParaRPr>
            </a:p>
          </p:txBody>
        </p:sp>
        <p:sp>
          <p:nvSpPr>
            <p:cNvPr id="57" name="Rectangle 59"/>
            <p:cNvSpPr>
              <a:spLocks noChangeArrowheads="1"/>
            </p:cNvSpPr>
            <p:nvPr/>
          </p:nvSpPr>
          <p:spPr bwMode="auto">
            <a:xfrm>
              <a:off x="2235342" y="2170848"/>
              <a:ext cx="758806" cy="486738"/>
            </a:xfrm>
            <a:prstGeom prst="rect">
              <a:avLst/>
            </a:prstGeom>
            <a:solidFill>
              <a:srgbClr val="993300"/>
            </a:solidFill>
            <a:ln w="9525" algn="ctr">
              <a:solidFill>
                <a:schemeClr val="tx1"/>
              </a:solidFill>
              <a:miter lim="800000"/>
              <a:headEnd/>
              <a:tailEnd/>
            </a:ln>
            <a:effectLst/>
            <a:extLst/>
          </p:spPr>
          <p:txBody>
            <a:bodyPr wrap="none" anchor="ctr"/>
            <a:lstStyle/>
            <a:p>
              <a:pPr algn="ctr"/>
              <a:r>
                <a:rPr lang="zh-CN" altLang="en-US" sz="1400" b="1" dirty="0" smtClean="0">
                  <a:solidFill>
                    <a:schemeClr val="bg1"/>
                  </a:solidFill>
                  <a:latin typeface="微软雅黑" pitchFamily="34" charset="-122"/>
                  <a:ea typeface="微软雅黑" pitchFamily="34" charset="-122"/>
                </a:rPr>
                <a:t>流媒体</a:t>
              </a:r>
              <a:endParaRPr lang="zh-CN" altLang="en-US" sz="1400" b="1" dirty="0">
                <a:solidFill>
                  <a:schemeClr val="bg1"/>
                </a:solidFill>
                <a:latin typeface="微软雅黑" pitchFamily="34" charset="-122"/>
                <a:ea typeface="微软雅黑" pitchFamily="34" charset="-122"/>
              </a:endParaRPr>
            </a:p>
            <a:p>
              <a:pPr algn="ctr"/>
              <a:r>
                <a:rPr lang="zh-CN" altLang="en-US" sz="1400" b="1" dirty="0">
                  <a:solidFill>
                    <a:schemeClr val="bg1"/>
                  </a:solidFill>
                  <a:latin typeface="微软雅黑" pitchFamily="34" charset="-122"/>
                  <a:ea typeface="微软雅黑" pitchFamily="34" charset="-122"/>
                </a:rPr>
                <a:t>播放器</a:t>
              </a:r>
            </a:p>
          </p:txBody>
        </p:sp>
        <p:sp>
          <p:nvSpPr>
            <p:cNvPr id="62" name="Rectangle 69"/>
            <p:cNvSpPr>
              <a:spLocks noChangeArrowheads="1"/>
            </p:cNvSpPr>
            <p:nvPr/>
          </p:nvSpPr>
          <p:spPr bwMode="auto">
            <a:xfrm>
              <a:off x="2237417" y="1844876"/>
              <a:ext cx="758806" cy="275179"/>
            </a:xfrm>
            <a:prstGeom prst="rect">
              <a:avLst/>
            </a:prstGeom>
            <a:solidFill>
              <a:srgbClr val="0000FF"/>
            </a:solidFill>
            <a:ln w="9525" algn="ctr">
              <a:solidFill>
                <a:schemeClr val="tx1"/>
              </a:solidFill>
              <a:miter lim="800000"/>
              <a:headEnd/>
              <a:tailEnd/>
            </a:ln>
            <a:effectLst/>
            <a:extLst/>
          </p:spPr>
          <p:txBody>
            <a:bodyPr wrap="none" anchor="ctr"/>
            <a:lstStyle/>
            <a:p>
              <a:pPr algn="ctr"/>
              <a:r>
                <a:rPr lang="zh-CN" altLang="en-US" sz="1600" b="1" dirty="0">
                  <a:solidFill>
                    <a:schemeClr val="bg1"/>
                  </a:solidFill>
                  <a:latin typeface="微软雅黑" pitchFamily="34" charset="-122"/>
                  <a:ea typeface="微软雅黑" pitchFamily="34" charset="-122"/>
                </a:rPr>
                <a:t>浏览器</a:t>
              </a:r>
            </a:p>
          </p:txBody>
        </p:sp>
        <p:sp>
          <p:nvSpPr>
            <p:cNvPr id="80" name="Text Box 8"/>
            <p:cNvSpPr txBox="1">
              <a:spLocks noChangeArrowheads="1"/>
            </p:cNvSpPr>
            <p:nvPr/>
          </p:nvSpPr>
          <p:spPr bwMode="auto">
            <a:xfrm>
              <a:off x="2236378" y="1100599"/>
              <a:ext cx="855143" cy="361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itchFamily="34" charset="-122"/>
                  <a:ea typeface="微软雅黑" pitchFamily="34" charset="-122"/>
                </a:rPr>
                <a:t>客户机</a:t>
              </a:r>
            </a:p>
          </p:txBody>
        </p:sp>
        <p:pic>
          <p:nvPicPr>
            <p:cNvPr id="8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4497" y="1403888"/>
              <a:ext cx="445685" cy="445685"/>
            </a:xfrm>
            <a:prstGeom prst="rect">
              <a:avLst/>
            </a:prstGeom>
            <a:noFill/>
            <a:extLst>
              <a:ext uri="{909E8E84-426E-40DD-AFC4-6F175D3DCCD1}">
                <a14:hiddenFill xmlns:a14="http://schemas.microsoft.com/office/drawing/2010/main">
                  <a:solidFill>
                    <a:srgbClr val="FFFFFF"/>
                  </a:solidFill>
                </a14:hiddenFill>
              </a:ext>
            </a:extLst>
          </p:spPr>
        </p:pic>
      </p:grpSp>
      <p:pic>
        <p:nvPicPr>
          <p:cNvPr id="35" name="图片 3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844770" y="2520633"/>
            <a:ext cx="331395" cy="409650"/>
          </a:xfrm>
          <a:prstGeom prst="rect">
            <a:avLst/>
          </a:prstGeom>
        </p:spPr>
      </p:pic>
      <p:grpSp>
        <p:nvGrpSpPr>
          <p:cNvPr id="18" name="组合 17"/>
          <p:cNvGrpSpPr/>
          <p:nvPr/>
        </p:nvGrpSpPr>
        <p:grpSpPr>
          <a:xfrm>
            <a:off x="1960979" y="3322614"/>
            <a:ext cx="1060876" cy="1626604"/>
            <a:chOff x="2085864" y="1100599"/>
            <a:chExt cx="1060876" cy="1626604"/>
          </a:xfrm>
        </p:grpSpPr>
        <p:sp>
          <p:nvSpPr>
            <p:cNvPr id="19" name="Rectangle 5"/>
            <p:cNvSpPr>
              <a:spLocks noChangeArrowheads="1"/>
            </p:cNvSpPr>
            <p:nvPr/>
          </p:nvSpPr>
          <p:spPr bwMode="auto">
            <a:xfrm>
              <a:off x="2085864" y="1768295"/>
              <a:ext cx="1060876" cy="958908"/>
            </a:xfrm>
            <a:prstGeom prst="rect">
              <a:avLst/>
            </a:prstGeom>
            <a:solidFill>
              <a:srgbClr val="00FFFF"/>
            </a:solidFill>
            <a:ln>
              <a:solidFill>
                <a:schemeClr val="tx1"/>
              </a:solidFill>
            </a:ln>
            <a:effectLst/>
            <a:extLst/>
          </p:spPr>
          <p:txBody>
            <a:bodyPr wrap="none" anchor="ctr"/>
            <a:lstStyle/>
            <a:p>
              <a:pPr algn="ctr"/>
              <a:endParaRPr lang="zh-CN" altLang="zh-CN" sz="1600" b="1">
                <a:latin typeface="微软雅黑" pitchFamily="34" charset="-122"/>
                <a:ea typeface="微软雅黑" pitchFamily="34" charset="-122"/>
              </a:endParaRPr>
            </a:p>
          </p:txBody>
        </p:sp>
        <p:sp>
          <p:nvSpPr>
            <p:cNvPr id="20" name="Rectangle 59"/>
            <p:cNvSpPr>
              <a:spLocks noChangeArrowheads="1"/>
            </p:cNvSpPr>
            <p:nvPr/>
          </p:nvSpPr>
          <p:spPr bwMode="auto">
            <a:xfrm>
              <a:off x="2235342" y="2170848"/>
              <a:ext cx="758806" cy="486738"/>
            </a:xfrm>
            <a:prstGeom prst="rect">
              <a:avLst/>
            </a:prstGeom>
            <a:solidFill>
              <a:srgbClr val="993300"/>
            </a:solidFill>
            <a:ln w="9525" algn="ctr">
              <a:solidFill>
                <a:schemeClr val="tx1"/>
              </a:solidFill>
              <a:miter lim="800000"/>
              <a:headEnd/>
              <a:tailEnd/>
            </a:ln>
            <a:effectLst/>
            <a:extLst/>
          </p:spPr>
          <p:txBody>
            <a:bodyPr wrap="none" anchor="ctr"/>
            <a:lstStyle/>
            <a:p>
              <a:pPr algn="ctr"/>
              <a:r>
                <a:rPr lang="zh-CN" altLang="en-US" sz="1400" b="1" dirty="0" smtClean="0">
                  <a:solidFill>
                    <a:schemeClr val="bg1"/>
                  </a:solidFill>
                  <a:latin typeface="微软雅黑" pitchFamily="34" charset="-122"/>
                  <a:ea typeface="微软雅黑" pitchFamily="34" charset="-122"/>
                </a:rPr>
                <a:t>流媒体</a:t>
              </a:r>
              <a:endParaRPr lang="zh-CN" altLang="en-US" sz="1400" b="1" dirty="0">
                <a:solidFill>
                  <a:schemeClr val="bg1"/>
                </a:solidFill>
                <a:latin typeface="微软雅黑" pitchFamily="34" charset="-122"/>
                <a:ea typeface="微软雅黑" pitchFamily="34" charset="-122"/>
              </a:endParaRPr>
            </a:p>
            <a:p>
              <a:pPr algn="ctr"/>
              <a:r>
                <a:rPr lang="zh-CN" altLang="en-US" sz="1400" b="1" dirty="0">
                  <a:solidFill>
                    <a:schemeClr val="bg1"/>
                  </a:solidFill>
                  <a:latin typeface="微软雅黑" pitchFamily="34" charset="-122"/>
                  <a:ea typeface="微软雅黑" pitchFamily="34" charset="-122"/>
                </a:rPr>
                <a:t>播放器</a:t>
              </a:r>
            </a:p>
          </p:txBody>
        </p:sp>
        <p:sp>
          <p:nvSpPr>
            <p:cNvPr id="21" name="Rectangle 69"/>
            <p:cNvSpPr>
              <a:spLocks noChangeArrowheads="1"/>
            </p:cNvSpPr>
            <p:nvPr/>
          </p:nvSpPr>
          <p:spPr bwMode="auto">
            <a:xfrm>
              <a:off x="2237417" y="1844876"/>
              <a:ext cx="758806" cy="275179"/>
            </a:xfrm>
            <a:prstGeom prst="rect">
              <a:avLst/>
            </a:prstGeom>
            <a:solidFill>
              <a:srgbClr val="0000FF"/>
            </a:solidFill>
            <a:ln w="9525" algn="ctr">
              <a:solidFill>
                <a:schemeClr val="tx1"/>
              </a:solidFill>
              <a:miter lim="800000"/>
              <a:headEnd/>
              <a:tailEnd/>
            </a:ln>
            <a:effectLst/>
            <a:extLst/>
          </p:spPr>
          <p:txBody>
            <a:bodyPr wrap="none" anchor="ctr"/>
            <a:lstStyle/>
            <a:p>
              <a:pPr algn="ctr"/>
              <a:r>
                <a:rPr lang="zh-CN" altLang="en-US" sz="1600" b="1" dirty="0">
                  <a:solidFill>
                    <a:schemeClr val="bg1"/>
                  </a:solidFill>
                  <a:latin typeface="微软雅黑" pitchFamily="34" charset="-122"/>
                  <a:ea typeface="微软雅黑" pitchFamily="34" charset="-122"/>
                </a:rPr>
                <a:t>浏览器</a:t>
              </a:r>
            </a:p>
          </p:txBody>
        </p:sp>
        <p:sp>
          <p:nvSpPr>
            <p:cNvPr id="22" name="Text Box 8"/>
            <p:cNvSpPr txBox="1">
              <a:spLocks noChangeArrowheads="1"/>
            </p:cNvSpPr>
            <p:nvPr/>
          </p:nvSpPr>
          <p:spPr bwMode="auto">
            <a:xfrm>
              <a:off x="2236378" y="1100599"/>
              <a:ext cx="855143" cy="361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itchFamily="34" charset="-122"/>
                  <a:ea typeface="微软雅黑" pitchFamily="34" charset="-122"/>
                </a:rPr>
                <a:t>客户机</a:t>
              </a:r>
            </a:p>
          </p:txBody>
        </p:sp>
        <p:pic>
          <p:nvPicPr>
            <p:cNvPr id="2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4497" y="1403888"/>
              <a:ext cx="445685" cy="445685"/>
            </a:xfrm>
            <a:prstGeom prst="rect">
              <a:avLst/>
            </a:prstGeom>
            <a:noFill/>
            <a:extLst>
              <a:ext uri="{909E8E84-426E-40DD-AFC4-6F175D3DCCD1}">
                <a14:hiddenFill xmlns:a14="http://schemas.microsoft.com/office/drawing/2010/main">
                  <a:solidFill>
                    <a:srgbClr val="FFFFFF"/>
                  </a:solidFill>
                </a14:hiddenFill>
              </a:ext>
            </a:extLst>
          </p:spPr>
        </p:pic>
      </p:grpSp>
      <p:sp>
        <p:nvSpPr>
          <p:cNvPr id="25" name="Line 72"/>
          <p:cNvSpPr>
            <a:spLocks noChangeShapeType="1"/>
          </p:cNvSpPr>
          <p:nvPr/>
        </p:nvSpPr>
        <p:spPr bwMode="auto">
          <a:xfrm rot="5400000">
            <a:off x="3135579" y="2983856"/>
            <a:ext cx="1438183" cy="165665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pic>
        <p:nvPicPr>
          <p:cNvPr id="26" name="图片 2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706605" y="2839089"/>
            <a:ext cx="322757" cy="398972"/>
          </a:xfrm>
          <a:prstGeom prst="rect">
            <a:avLst/>
          </a:prstGeom>
        </p:spPr>
      </p:pic>
      <p:pic>
        <p:nvPicPr>
          <p:cNvPr id="11" name="图片 10"/>
          <p:cNvPicPr>
            <a:picLocks noChangeAspect="1"/>
          </p:cNvPicPr>
          <p:nvPr/>
        </p:nvPicPr>
        <p:blipFill>
          <a:blip r:embed="rId5">
            <a:extLst>
              <a:ext uri="{BEBA8EAE-BF5A-486C-A8C5-ECC9F3942E4B}">
                <a14:imgProps xmlns:a14="http://schemas.microsoft.com/office/drawing/2010/main">
                  <a14:imgLayer r:embed="rId6">
                    <a14:imgEffect>
                      <a14:sharpenSoften amount="-50000"/>
                    </a14:imgEffect>
                    <a14:imgEffect>
                      <a14:colorTemperature colorTemp="2855"/>
                    </a14:imgEffect>
                    <a14:imgEffect>
                      <a14:saturation sat="178000"/>
                    </a14:imgEffect>
                    <a14:imgEffect>
                      <a14:brightnessContrast bright="20000" contrast="20000"/>
                    </a14:imgEffect>
                  </a14:imgLayer>
                </a14:imgProps>
              </a:ext>
            </a:extLst>
          </a:blip>
          <a:stretch>
            <a:fillRect/>
          </a:stretch>
        </p:blipFill>
        <p:spPr>
          <a:xfrm>
            <a:off x="7254447" y="2914090"/>
            <a:ext cx="327529" cy="220598"/>
          </a:xfrm>
          <a:prstGeom prst="rect">
            <a:avLst/>
          </a:prstGeom>
        </p:spPr>
      </p:pic>
      <p:cxnSp>
        <p:nvCxnSpPr>
          <p:cNvPr id="13" name="直接连接符 12"/>
          <p:cNvCxnSpPr/>
          <p:nvPr/>
        </p:nvCxnSpPr>
        <p:spPr>
          <a:xfrm>
            <a:off x="7029362" y="3024389"/>
            <a:ext cx="2161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Text Box 75"/>
          <p:cNvSpPr txBox="1">
            <a:spLocks noChangeArrowheads="1"/>
          </p:cNvSpPr>
          <p:nvPr/>
        </p:nvSpPr>
        <p:spPr bwMode="auto">
          <a:xfrm rot="18954326">
            <a:off x="3054793" y="3793244"/>
            <a:ext cx="199350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smtClean="0">
                <a:latin typeface="微软雅黑" pitchFamily="34" charset="-122"/>
                <a:ea typeface="微软雅黑" pitchFamily="34" charset="-122"/>
              </a:rPr>
              <a:t>拉流</a:t>
            </a:r>
            <a:endParaRPr lang="en-US" altLang="zh-CN" sz="1400" b="1" dirty="0" smtClean="0">
              <a:latin typeface="微软雅黑" pitchFamily="34" charset="-122"/>
              <a:ea typeface="微软雅黑" pitchFamily="34" charset="-122"/>
            </a:endParaRPr>
          </a:p>
          <a:p>
            <a:pPr algn="ctr"/>
            <a:r>
              <a:rPr lang="en-US" altLang="zh-CN" sz="1400" b="1" dirty="0" smtClean="0">
                <a:latin typeface="微软雅黑" pitchFamily="34" charset="-122"/>
                <a:ea typeface="微软雅黑" pitchFamily="34" charset="-122"/>
              </a:rPr>
              <a:t>(</a:t>
            </a:r>
            <a:r>
              <a:rPr lang="en-US" altLang="zh-CN" sz="1400" b="1" dirty="0">
                <a:latin typeface="微软雅黑" pitchFamily="34" charset="-122"/>
                <a:ea typeface="微软雅黑" pitchFamily="34" charset="-122"/>
              </a:rPr>
              <a:t>pull streaming)</a:t>
            </a:r>
          </a:p>
        </p:txBody>
      </p:sp>
      <p:sp>
        <p:nvSpPr>
          <p:cNvPr id="34" name="Text Box 75"/>
          <p:cNvSpPr txBox="1">
            <a:spLocks noChangeArrowheads="1"/>
          </p:cNvSpPr>
          <p:nvPr/>
        </p:nvSpPr>
        <p:spPr bwMode="auto">
          <a:xfrm>
            <a:off x="5230155" y="3093091"/>
            <a:ext cx="199350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a:latin typeface="微软雅黑" pitchFamily="34" charset="-122"/>
                <a:ea typeface="微软雅黑" pitchFamily="34" charset="-122"/>
              </a:rPr>
              <a:t>推</a:t>
            </a:r>
            <a:r>
              <a:rPr lang="zh-CN" altLang="en-US" sz="1400" b="1" dirty="0" smtClean="0">
                <a:latin typeface="微软雅黑" pitchFamily="34" charset="-122"/>
                <a:ea typeface="微软雅黑" pitchFamily="34" charset="-122"/>
              </a:rPr>
              <a:t>流</a:t>
            </a:r>
            <a:endParaRPr lang="en-US" altLang="zh-CN" sz="1400" b="1" dirty="0" smtClean="0">
              <a:latin typeface="微软雅黑" pitchFamily="34" charset="-122"/>
              <a:ea typeface="微软雅黑" pitchFamily="34" charset="-122"/>
            </a:endParaRPr>
          </a:p>
          <a:p>
            <a:pPr algn="ctr"/>
            <a:r>
              <a:rPr lang="en-US" altLang="zh-CN" sz="1400" b="1" dirty="0" smtClean="0">
                <a:latin typeface="微软雅黑" pitchFamily="34" charset="-122"/>
                <a:ea typeface="微软雅黑" pitchFamily="34" charset="-122"/>
              </a:rPr>
              <a:t>(push streaming</a:t>
            </a:r>
            <a:r>
              <a:rPr lang="en-US" altLang="zh-CN" sz="1400" b="1" dirty="0">
                <a:latin typeface="微软雅黑" pitchFamily="34" charset="-122"/>
                <a:ea typeface="微软雅黑" pitchFamily="34" charset="-122"/>
              </a:rPr>
              <a:t>)</a:t>
            </a:r>
          </a:p>
        </p:txBody>
      </p:sp>
      <p:sp>
        <p:nvSpPr>
          <p:cNvPr id="36" name="Text Box 8"/>
          <p:cNvSpPr txBox="1">
            <a:spLocks noChangeArrowheads="1"/>
          </p:cNvSpPr>
          <p:nvPr/>
        </p:nvSpPr>
        <p:spPr bwMode="auto">
          <a:xfrm>
            <a:off x="6305150" y="2482208"/>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smtClean="0">
                <a:latin typeface="微软雅黑" pitchFamily="34" charset="-122"/>
                <a:ea typeface="微软雅黑" pitchFamily="34" charset="-122"/>
              </a:rPr>
              <a:t>信号编码</a:t>
            </a:r>
            <a:endParaRPr lang="zh-CN" altLang="en-US" sz="1400" b="1" dirty="0">
              <a:latin typeface="微软雅黑" pitchFamily="34" charset="-122"/>
              <a:ea typeface="微软雅黑" pitchFamily="34" charset="-122"/>
            </a:endParaRPr>
          </a:p>
        </p:txBody>
      </p:sp>
      <p:sp>
        <p:nvSpPr>
          <p:cNvPr id="37" name="Rectangle 8"/>
          <p:cNvSpPr>
            <a:spLocks noChangeArrowheads="1"/>
          </p:cNvSpPr>
          <p:nvPr/>
        </p:nvSpPr>
        <p:spPr bwMode="auto">
          <a:xfrm>
            <a:off x="511896" y="1045812"/>
            <a:ext cx="8129015"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多媒体直播是一种通过网络实时传输多媒体数据的技术</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30"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31" name="Rectangle 13"/>
          <p:cNvSpPr>
            <a:spLocks noChangeArrowheads="1"/>
          </p:cNvSpPr>
          <p:nvPr/>
        </p:nvSpPr>
        <p:spPr bwMode="auto">
          <a:xfrm>
            <a:off x="2945188" y="593125"/>
            <a:ext cx="32624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用于多媒体直播的协议</a:t>
            </a:r>
          </a:p>
        </p:txBody>
      </p:sp>
    </p:spTree>
    <p:extLst>
      <p:ext uri="{BB962C8B-B14F-4D97-AF65-F5344CB8AC3E}">
        <p14:creationId xmlns:p14="http://schemas.microsoft.com/office/powerpoint/2010/main" val="27353753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35231"/>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尽可能</a:t>
            </a:r>
            <a:r>
              <a:rPr lang="zh-CN" altLang="en-US" b="1" dirty="0">
                <a:solidFill>
                  <a:srgbClr val="C00000"/>
                </a:solidFill>
                <a:latin typeface="微软雅黑" pitchFamily="34" charset="-122"/>
                <a:ea typeface="微软雅黑" pitchFamily="34" charset="-122"/>
              </a:rPr>
              <a:t>减少从数据采集到用户端播放的</a:t>
            </a:r>
            <a:r>
              <a:rPr lang="zh-CN" altLang="en-US" b="1" dirty="0" smtClean="0">
                <a:solidFill>
                  <a:srgbClr val="C00000"/>
                </a:solidFill>
                <a:latin typeface="微软雅黑" pitchFamily="34" charset="-122"/>
                <a:ea typeface="微软雅黑" pitchFamily="34" charset="-122"/>
              </a:rPr>
              <a:t>时延</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以确保观众和主播之间的实时交互</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直播协议</a:t>
            </a:r>
            <a:r>
              <a:rPr lang="zh-CN" altLang="en-US" b="1" dirty="0">
                <a:latin typeface="微软雅黑" pitchFamily="34" charset="-122"/>
                <a:ea typeface="微软雅黑" pitchFamily="34" charset="-122"/>
              </a:rPr>
              <a:t>需要能够</a:t>
            </a:r>
            <a:r>
              <a:rPr lang="zh-CN" altLang="en-US" b="1" dirty="0">
                <a:solidFill>
                  <a:srgbClr val="C00000"/>
                </a:solidFill>
                <a:latin typeface="微软雅黑" pitchFamily="34" charset="-122"/>
                <a:ea typeface="微软雅黑" pitchFamily="34" charset="-122"/>
              </a:rPr>
              <a:t>支持多码率自适应</a:t>
            </a:r>
            <a:r>
              <a:rPr lang="zh-CN" altLang="en-US" b="1" dirty="0" smtClean="0">
                <a:latin typeface="微软雅黑" pitchFamily="34" charset="-122"/>
                <a:ea typeface="微软雅黑" pitchFamily="34" charset="-122"/>
              </a:rPr>
              <a:t>，以支持多样化的网络环境。</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直播</a:t>
            </a:r>
            <a:r>
              <a:rPr lang="zh-CN" altLang="en-US" b="1" dirty="0">
                <a:latin typeface="微软雅黑" pitchFamily="34" charset="-122"/>
                <a:ea typeface="微软雅黑" pitchFamily="34" charset="-122"/>
              </a:rPr>
              <a:t>协议必须能够</a:t>
            </a:r>
            <a:r>
              <a:rPr lang="zh-CN" altLang="en-US" b="1" dirty="0">
                <a:solidFill>
                  <a:srgbClr val="C00000"/>
                </a:solidFill>
                <a:latin typeface="微软雅黑" pitchFamily="34" charset="-122"/>
                <a:ea typeface="微软雅黑" pitchFamily="34" charset="-122"/>
              </a:rPr>
              <a:t>支持多种终端设备和操作系统</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由于</a:t>
            </a:r>
            <a:r>
              <a:rPr lang="zh-CN" altLang="en-US" b="1" dirty="0">
                <a:latin typeface="微软雅黑" pitchFamily="34" charset="-122"/>
                <a:ea typeface="微软雅黑" pitchFamily="34" charset="-122"/>
              </a:rPr>
              <a:t>实时性要求，丢失的数据分组通常</a:t>
            </a:r>
            <a:r>
              <a:rPr lang="zh-CN" altLang="en-US" b="1" dirty="0">
                <a:solidFill>
                  <a:srgbClr val="C00000"/>
                </a:solidFill>
                <a:latin typeface="微软雅黑" pitchFamily="34" charset="-122"/>
                <a:ea typeface="微软雅黑" pitchFamily="34" charset="-122"/>
              </a:rPr>
              <a:t>没有重传的</a:t>
            </a:r>
            <a:r>
              <a:rPr lang="zh-CN" altLang="en-US" b="1" dirty="0" smtClean="0">
                <a:solidFill>
                  <a:srgbClr val="C00000"/>
                </a:solidFill>
                <a:latin typeface="微软雅黑" pitchFamily="34" charset="-122"/>
                <a:ea typeface="微软雅黑" pitchFamily="34" charset="-122"/>
              </a:rPr>
              <a:t>机会</a:t>
            </a:r>
            <a:r>
              <a:rPr lang="zh-CN" altLang="en-US" b="1" dirty="0" smtClean="0">
                <a:latin typeface="微软雅黑" pitchFamily="34" charset="-122"/>
                <a:ea typeface="微软雅黑" pitchFamily="34" charset="-122"/>
              </a:rPr>
              <a:t>。 </a:t>
            </a:r>
            <a:endParaRPr lang="zh-CN" altLang="en-US" b="1" dirty="0">
              <a:latin typeface="微软雅黑" pitchFamily="34" charset="-122"/>
              <a:ea typeface="微软雅黑" pitchFamily="34" charset="-122"/>
            </a:endParaRPr>
          </a:p>
        </p:txBody>
      </p:sp>
      <p:grpSp>
        <p:nvGrpSpPr>
          <p:cNvPr id="8" name="组合 7"/>
          <p:cNvGrpSpPr/>
          <p:nvPr/>
        </p:nvGrpSpPr>
        <p:grpSpPr>
          <a:xfrm>
            <a:off x="908651" y="3230878"/>
            <a:ext cx="6684885" cy="1111211"/>
            <a:chOff x="1116729" y="3811471"/>
            <a:chExt cx="6684885" cy="824269"/>
          </a:xfrm>
        </p:grpSpPr>
        <p:sp>
          <p:nvSpPr>
            <p:cNvPr id="9" name="对角圆角矩形 8"/>
            <p:cNvSpPr/>
            <p:nvPr/>
          </p:nvSpPr>
          <p:spPr>
            <a:xfrm>
              <a:off x="1116729" y="3811471"/>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1309708" y="4023763"/>
              <a:ext cx="6445188" cy="525092"/>
            </a:xfrm>
            <a:prstGeom prst="rect">
              <a:avLst/>
            </a:prstGeom>
          </p:spPr>
          <p:txBody>
            <a:bodyPr wrap="square">
              <a:spAutoFit/>
            </a:bodyPr>
            <a:lstStyle/>
            <a:p>
              <a:pPr eaLnBrk="0" hangingPunct="0">
                <a:lnSpc>
                  <a:spcPts val="2400"/>
                </a:lnSpc>
                <a:spcBef>
                  <a:spcPts val="1800"/>
                </a:spcBef>
                <a:buClr>
                  <a:srgbClr val="0070C0"/>
                </a:buClr>
              </a:pPr>
              <a:r>
                <a:rPr lang="zh-CN" altLang="en-US" b="1" dirty="0" smtClean="0">
                  <a:solidFill>
                    <a:schemeClr val="bg1"/>
                  </a:solidFill>
                  <a:latin typeface="微软雅黑" pitchFamily="34" charset="-122"/>
                  <a:ea typeface="微软雅黑" pitchFamily="34" charset="-122"/>
                </a:rPr>
                <a:t>目前流</a:t>
              </a:r>
              <a:r>
                <a:rPr lang="zh-CN" altLang="en-US" b="1" dirty="0">
                  <a:solidFill>
                    <a:schemeClr val="bg1"/>
                  </a:solidFill>
                  <a:latin typeface="微软雅黑" pitchFamily="34" charset="-122"/>
                  <a:ea typeface="微软雅黑" pitchFamily="34" charset="-122"/>
                </a:rPr>
                <a:t>媒体</a:t>
              </a:r>
              <a:r>
                <a:rPr lang="zh-CN" altLang="en-US" b="1" dirty="0" smtClean="0">
                  <a:solidFill>
                    <a:schemeClr val="bg1"/>
                  </a:solidFill>
                  <a:latin typeface="微软雅黑" pitchFamily="34" charset="-122"/>
                  <a:ea typeface="微软雅黑" pitchFamily="34" charset="-122"/>
                </a:rPr>
                <a:t>直播常用</a:t>
              </a:r>
              <a:r>
                <a:rPr lang="zh-CN" altLang="en-US" b="1" dirty="0">
                  <a:solidFill>
                    <a:schemeClr val="bg1"/>
                  </a:solidFill>
                  <a:latin typeface="微软雅黑" pitchFamily="34" charset="-122"/>
                  <a:ea typeface="微软雅黑" pitchFamily="34" charset="-122"/>
                </a:rPr>
                <a:t>的协议主要</a:t>
              </a:r>
              <a:r>
                <a:rPr lang="zh-CN" altLang="en-US" b="1" dirty="0" smtClean="0">
                  <a:solidFill>
                    <a:schemeClr val="bg1"/>
                  </a:solidFill>
                  <a:latin typeface="微软雅黑" pitchFamily="34" charset="-122"/>
                  <a:ea typeface="微软雅黑" pitchFamily="34" charset="-122"/>
                </a:rPr>
                <a:t>有 </a:t>
              </a:r>
              <a:r>
                <a:rPr lang="en-US" altLang="zh-CN" b="1" dirty="0" smtClean="0">
                  <a:solidFill>
                    <a:schemeClr val="bg1"/>
                  </a:solidFill>
                  <a:latin typeface="微软雅黑" pitchFamily="34" charset="-122"/>
                  <a:ea typeface="微软雅黑" pitchFamily="34" charset="-122"/>
                </a:rPr>
                <a:t>RTMP</a:t>
              </a:r>
              <a:r>
                <a:rPr lang="zh-CN" altLang="en-US" b="1" dirty="0">
                  <a:solidFill>
                    <a:schemeClr val="bg1"/>
                  </a:solidFill>
                  <a:latin typeface="微软雅黑" pitchFamily="34" charset="-122"/>
                  <a:ea typeface="微软雅黑" pitchFamily="34" charset="-122"/>
                </a:rPr>
                <a:t>、</a:t>
              </a:r>
              <a:r>
                <a:rPr lang="en-US" altLang="zh-CN" b="1" dirty="0">
                  <a:solidFill>
                    <a:schemeClr val="bg1"/>
                  </a:solidFill>
                  <a:latin typeface="微软雅黑" pitchFamily="34" charset="-122"/>
                  <a:ea typeface="微软雅黑" pitchFamily="34" charset="-122"/>
                </a:rPr>
                <a:t>HLS</a:t>
              </a:r>
              <a:r>
                <a:rPr lang="zh-CN" altLang="en-US" b="1" dirty="0">
                  <a:solidFill>
                    <a:schemeClr val="bg1"/>
                  </a:solidFill>
                  <a:latin typeface="微软雅黑" pitchFamily="34" charset="-122"/>
                  <a:ea typeface="微软雅黑" pitchFamily="34" charset="-122"/>
                </a:rPr>
                <a:t>、</a:t>
              </a:r>
              <a:r>
                <a:rPr lang="en-US" altLang="zh-CN" b="1" dirty="0">
                  <a:solidFill>
                    <a:schemeClr val="bg1"/>
                  </a:solidFill>
                  <a:latin typeface="微软雅黑" pitchFamily="34" charset="-122"/>
                  <a:ea typeface="微软雅黑" pitchFamily="34" charset="-122"/>
                </a:rPr>
                <a:t>DASH</a:t>
              </a:r>
              <a:r>
                <a:rPr lang="zh-CN" altLang="en-US" b="1" dirty="0">
                  <a:solidFill>
                    <a:schemeClr val="bg1"/>
                  </a:solidFill>
                  <a:latin typeface="微软雅黑" pitchFamily="34" charset="-122"/>
                  <a:ea typeface="微软雅黑" pitchFamily="34" charset="-122"/>
                </a:rPr>
                <a:t>和</a:t>
              </a:r>
              <a:r>
                <a:rPr lang="en-US" altLang="zh-CN" b="1" dirty="0" err="1" smtClean="0">
                  <a:solidFill>
                    <a:schemeClr val="bg1"/>
                  </a:solidFill>
                  <a:latin typeface="微软雅黑" pitchFamily="34" charset="-122"/>
                  <a:ea typeface="微软雅黑" pitchFamily="34" charset="-122"/>
                </a:rPr>
                <a:t>WebRTC</a:t>
              </a:r>
              <a:r>
                <a:rPr lang="zh-CN" altLang="en-US" b="1" dirty="0">
                  <a:solidFill>
                    <a:schemeClr val="bg1"/>
                  </a:solidFill>
                  <a:latin typeface="微软雅黑" pitchFamily="34" charset="-122"/>
                  <a:ea typeface="微软雅黑" pitchFamily="34" charset="-122"/>
                </a:rPr>
                <a:t>。</a:t>
              </a:r>
            </a:p>
          </p:txBody>
        </p:sp>
      </p:grpSp>
      <p:sp>
        <p:nvSpPr>
          <p:cNvPr id="11"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12" name="Rectangle 13"/>
          <p:cNvSpPr>
            <a:spLocks noChangeArrowheads="1"/>
          </p:cNvSpPr>
          <p:nvPr/>
        </p:nvSpPr>
        <p:spPr bwMode="auto">
          <a:xfrm>
            <a:off x="2637412" y="593125"/>
            <a:ext cx="38779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多媒体直播协议的基本特点</a:t>
            </a:r>
          </a:p>
        </p:txBody>
      </p:sp>
    </p:spTree>
    <p:custDataLst>
      <p:tags r:id="rId1"/>
    </p:custDataLst>
    <p:extLst>
      <p:ext uri="{BB962C8B-B14F-4D97-AF65-F5344CB8AC3E}">
        <p14:creationId xmlns:p14="http://schemas.microsoft.com/office/powerpoint/2010/main" val="5295511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26764"/>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实时消息传输</a:t>
            </a:r>
            <a:r>
              <a:rPr lang="zh-CN" altLang="en-US" b="1" dirty="0" smtClean="0">
                <a:latin typeface="微软雅黑" pitchFamily="34" charset="-122"/>
                <a:ea typeface="微软雅黑" pitchFamily="34" charset="-122"/>
              </a:rPr>
              <a:t>协议 </a:t>
            </a:r>
            <a:r>
              <a:rPr lang="en-US" altLang="zh-CN" b="1" dirty="0" smtClean="0">
                <a:latin typeface="微软雅黑" pitchFamily="34" charset="-122"/>
                <a:ea typeface="微软雅黑" pitchFamily="34" charset="-122"/>
              </a:rPr>
              <a:t>RTMP </a:t>
            </a:r>
            <a:r>
              <a:rPr lang="en-US" altLang="zh-CN" b="1" dirty="0">
                <a:latin typeface="微软雅黑" pitchFamily="34" charset="-122"/>
                <a:ea typeface="微软雅黑" pitchFamily="34" charset="-122"/>
              </a:rPr>
              <a:t>(Real-Time Messaging Protocol) </a:t>
            </a:r>
            <a:r>
              <a:rPr lang="zh-CN" altLang="en-US" b="1" dirty="0" smtClean="0">
                <a:latin typeface="微软雅黑" pitchFamily="34" charset="-122"/>
                <a:ea typeface="微软雅黑" pitchFamily="34" charset="-122"/>
              </a:rPr>
              <a:t>以较低时延</a:t>
            </a:r>
            <a:r>
              <a:rPr lang="zh-CN" altLang="en-US" b="1" dirty="0">
                <a:latin typeface="微软雅黑" pitchFamily="34" charset="-122"/>
                <a:ea typeface="微软雅黑" pitchFamily="34" charset="-122"/>
              </a:rPr>
              <a:t>著称，</a:t>
            </a:r>
            <a:r>
              <a:rPr lang="zh-CN" altLang="en-US" b="1" dirty="0">
                <a:solidFill>
                  <a:srgbClr val="C00000"/>
                </a:solidFill>
                <a:latin typeface="微软雅黑" pitchFamily="34" charset="-122"/>
                <a:ea typeface="微软雅黑" pitchFamily="34" charset="-122"/>
              </a:rPr>
              <a:t>适合实时音频</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视频的在线</a:t>
            </a:r>
            <a:r>
              <a:rPr lang="zh-CN" altLang="en-US" b="1" dirty="0" smtClean="0">
                <a:solidFill>
                  <a:srgbClr val="C00000"/>
                </a:solidFill>
                <a:latin typeface="微软雅黑" pitchFamily="34" charset="-122"/>
                <a:ea typeface="微软雅黑" pitchFamily="34" charset="-122"/>
              </a:rPr>
              <a:t>直播</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rPr>
              <a:t>RTMP </a:t>
            </a:r>
            <a:r>
              <a:rPr lang="zh-CN" altLang="en-US" b="1" dirty="0" smtClean="0">
                <a:latin typeface="微软雅黑" pitchFamily="34" charset="-122"/>
                <a:ea typeface="微软雅黑" pitchFamily="34" charset="-122"/>
              </a:rPr>
              <a:t>由 </a:t>
            </a:r>
            <a:r>
              <a:rPr lang="en-US" altLang="zh-CN" b="1" dirty="0" smtClean="0">
                <a:latin typeface="微软雅黑" pitchFamily="34" charset="-122"/>
                <a:ea typeface="微软雅黑" pitchFamily="34" charset="-122"/>
              </a:rPr>
              <a:t>Adobe </a:t>
            </a:r>
            <a:r>
              <a:rPr lang="zh-CN" altLang="en-US" b="1" dirty="0" smtClean="0">
                <a:latin typeface="微软雅黑" pitchFamily="34" charset="-122"/>
                <a:ea typeface="微软雅黑" pitchFamily="34" charset="-122"/>
              </a:rPr>
              <a:t>公司</a:t>
            </a:r>
            <a:r>
              <a:rPr lang="zh-CN" altLang="en-US" b="1" dirty="0">
                <a:latin typeface="微软雅黑" pitchFamily="34" charset="-122"/>
                <a:ea typeface="微软雅黑" pitchFamily="34" charset="-122"/>
              </a:rPr>
              <a:t>设计</a:t>
            </a:r>
            <a:r>
              <a:rPr lang="zh-CN" altLang="en-US" b="1" dirty="0" smtClean="0">
                <a:latin typeface="微软雅黑" pitchFamily="34" charset="-122"/>
                <a:ea typeface="微软雅黑" pitchFamily="34" charset="-122"/>
              </a:rPr>
              <a:t>开发，是</a:t>
            </a:r>
            <a:r>
              <a:rPr lang="zh-CN" altLang="en-US" b="1" dirty="0">
                <a:latin typeface="微软雅黑" pitchFamily="34" charset="-122"/>
                <a:ea typeface="微软雅黑" pitchFamily="34" charset="-122"/>
              </a:rPr>
              <a:t>一种</a:t>
            </a:r>
            <a:r>
              <a:rPr lang="zh-CN" altLang="en-US" b="1" dirty="0" smtClean="0">
                <a:solidFill>
                  <a:srgbClr val="C00000"/>
                </a:solidFill>
                <a:latin typeface="微软雅黑" pitchFamily="34" charset="-122"/>
                <a:ea typeface="微软雅黑" pitchFamily="34" charset="-122"/>
              </a:rPr>
              <a:t>基于 </a:t>
            </a:r>
            <a:r>
              <a:rPr lang="en-US" altLang="zh-CN" b="1" dirty="0" smtClean="0">
                <a:solidFill>
                  <a:srgbClr val="C00000"/>
                </a:solidFill>
                <a:latin typeface="微软雅黑" pitchFamily="34" charset="-122"/>
                <a:ea typeface="微软雅黑" pitchFamily="34" charset="-122"/>
              </a:rPr>
              <a:t>TCP </a:t>
            </a:r>
            <a:r>
              <a:rPr lang="zh-CN" altLang="en-US" b="1" dirty="0" smtClean="0">
                <a:solidFill>
                  <a:srgbClr val="C00000"/>
                </a:solidFill>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协议</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能够</a:t>
            </a:r>
            <a:r>
              <a:rPr lang="zh-CN" altLang="en-US" b="1" dirty="0" smtClean="0">
                <a:latin typeface="微软雅黑" pitchFamily="34" charset="-122"/>
                <a:ea typeface="微软雅黑" pitchFamily="34" charset="-122"/>
              </a:rPr>
              <a:t>通过</a:t>
            </a:r>
            <a:r>
              <a:rPr lang="zh-CN" altLang="en-US" b="1" dirty="0">
                <a:latin typeface="微软雅黑" pitchFamily="34" charset="-122"/>
                <a:ea typeface="微软雅黑" pitchFamily="34" charset="-122"/>
              </a:rPr>
              <a:t>多种优化</a:t>
            </a:r>
            <a:r>
              <a:rPr lang="zh-CN" altLang="en-US" b="1" dirty="0" smtClean="0">
                <a:latin typeface="微软雅黑" pitchFamily="34" charset="-122"/>
                <a:ea typeface="微软雅黑" pitchFamily="34" charset="-122"/>
              </a:rPr>
              <a:t>措施在</a:t>
            </a:r>
            <a:r>
              <a:rPr lang="zh-CN" altLang="en-US" b="1" dirty="0">
                <a:latin typeface="微软雅黑" pitchFamily="34" charset="-122"/>
                <a:ea typeface="微软雅黑" pitchFamily="34" charset="-122"/>
              </a:rPr>
              <a:t>一定程度上平衡时延与可靠性。</a:t>
            </a:r>
          </a:p>
          <a:p>
            <a:pPr marL="800100" lvl="1" indent="-34290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rPr>
              <a:t>RTMP </a:t>
            </a:r>
            <a:r>
              <a:rPr lang="zh-CN" altLang="en-US" b="1" dirty="0" smtClean="0">
                <a:latin typeface="微软雅黑" pitchFamily="34" charset="-122"/>
                <a:ea typeface="微软雅黑" pitchFamily="34" charset="-122"/>
              </a:rPr>
              <a:t>进行</a:t>
            </a:r>
            <a:r>
              <a:rPr lang="zh-CN" altLang="en-US" b="1" dirty="0">
                <a:solidFill>
                  <a:srgbClr val="C00000"/>
                </a:solidFill>
                <a:latin typeface="微软雅黑" pitchFamily="34" charset="-122"/>
                <a:ea typeface="微软雅黑" pitchFamily="34" charset="-122"/>
              </a:rPr>
              <a:t>分段传输</a:t>
            </a:r>
            <a:r>
              <a:rPr lang="zh-CN" altLang="en-US" b="1" dirty="0" smtClean="0">
                <a:latin typeface="微软雅黑" pitchFamily="34" charset="-122"/>
                <a:ea typeface="微软雅黑" pitchFamily="34" charset="-122"/>
              </a:rPr>
              <a:t>，即使</a:t>
            </a:r>
            <a:r>
              <a:rPr lang="zh-CN" altLang="en-US" b="1" dirty="0">
                <a:latin typeface="微软雅黑" pitchFamily="34" charset="-122"/>
                <a:ea typeface="微软雅黑" pitchFamily="34" charset="-122"/>
              </a:rPr>
              <a:t>有部分数据需要重传，已经接收到的数据仍可在较短时间内开始播放，从而减少等待时间。</a:t>
            </a:r>
          </a:p>
          <a:p>
            <a:pPr marL="800100" lvl="1" indent="-34290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rPr>
              <a:t>RTMP </a:t>
            </a:r>
            <a:r>
              <a:rPr lang="zh-CN" altLang="en-US" b="1" dirty="0" smtClean="0">
                <a:latin typeface="微软雅黑" pitchFamily="34" charset="-122"/>
                <a:ea typeface="微软雅黑" pitchFamily="34" charset="-122"/>
              </a:rPr>
              <a:t>运用</a:t>
            </a:r>
            <a:r>
              <a:rPr lang="zh-CN" altLang="en-US" b="1" dirty="0">
                <a:solidFill>
                  <a:srgbClr val="C00000"/>
                </a:solidFill>
                <a:latin typeface="微软雅黑" pitchFamily="34" charset="-122"/>
                <a:ea typeface="微软雅黑" pitchFamily="34" charset="-122"/>
              </a:rPr>
              <a:t>缓冲技术</a:t>
            </a:r>
            <a:r>
              <a:rPr lang="zh-CN" altLang="en-US" b="1" dirty="0" smtClean="0">
                <a:latin typeface="微软雅黑" pitchFamily="34" charset="-122"/>
                <a:ea typeface="微软雅黑" pitchFamily="34" charset="-122"/>
              </a:rPr>
              <a:t>，能够</a:t>
            </a:r>
            <a:r>
              <a:rPr lang="zh-CN" altLang="en-US" b="1" dirty="0">
                <a:latin typeface="微软雅黑" pitchFamily="34" charset="-122"/>
                <a:ea typeface="微软雅黑" pitchFamily="34" charset="-122"/>
              </a:rPr>
              <a:t>在保持播放流畅的同时，降低时延。</a:t>
            </a:r>
          </a:p>
          <a:p>
            <a:pPr marL="800100" lvl="1" indent="-34290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rPr>
              <a:t>RTMP </a:t>
            </a:r>
            <a:r>
              <a:rPr lang="zh-CN" altLang="en-US" b="1" dirty="0" smtClean="0">
                <a:solidFill>
                  <a:srgbClr val="C00000"/>
                </a:solidFill>
                <a:latin typeface="微软雅黑" pitchFamily="34" charset="-122"/>
                <a:ea typeface="微软雅黑" pitchFamily="34" charset="-122"/>
              </a:rPr>
              <a:t>支持</a:t>
            </a:r>
            <a:r>
              <a:rPr lang="zh-CN" altLang="en-US" b="1" dirty="0">
                <a:solidFill>
                  <a:srgbClr val="C00000"/>
                </a:solidFill>
                <a:latin typeface="微软雅黑" pitchFamily="34" charset="-122"/>
                <a:ea typeface="微软雅黑" pitchFamily="34" charset="-122"/>
              </a:rPr>
              <a:t>多种编码</a:t>
            </a:r>
            <a:r>
              <a:rPr lang="zh-CN" altLang="en-US" b="1" dirty="0" smtClean="0">
                <a:solidFill>
                  <a:srgbClr val="C00000"/>
                </a:solidFill>
                <a:latin typeface="微软雅黑" pitchFamily="34" charset="-122"/>
                <a:ea typeface="微软雅黑" pitchFamily="34" charset="-122"/>
              </a:rPr>
              <a:t>格式</a:t>
            </a:r>
            <a:r>
              <a:rPr lang="zh-CN" altLang="en-US" b="1" dirty="0" smtClean="0">
                <a:latin typeface="微软雅黑" pitchFamily="34" charset="-122"/>
                <a:ea typeface="微软雅黑" pitchFamily="34" charset="-122"/>
              </a:rPr>
              <a:t>，在</a:t>
            </a:r>
            <a:r>
              <a:rPr lang="zh-CN" altLang="en-US" b="1" dirty="0">
                <a:latin typeface="微软雅黑" pitchFamily="34" charset="-122"/>
                <a:ea typeface="微软雅黑" pitchFamily="34" charset="-122"/>
              </a:rPr>
              <a:t>处理音频</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视频流转换</a:t>
            </a:r>
            <a:r>
              <a:rPr lang="zh-CN" altLang="en-US" b="1" dirty="0" smtClean="0">
                <a:latin typeface="微软雅黑" pitchFamily="34" charset="-122"/>
                <a:ea typeface="微软雅黑" pitchFamily="34" charset="-122"/>
              </a:rPr>
              <a:t>时非常有效。</a:t>
            </a:r>
            <a:endParaRPr lang="zh-CN" altLang="en-US" b="1" dirty="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2748179" y="593125"/>
            <a:ext cx="36564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实时消息传输协议 </a:t>
            </a:r>
            <a:r>
              <a:rPr lang="en-US" altLang="zh-CN" sz="2400" b="1" dirty="0">
                <a:solidFill>
                  <a:schemeClr val="bg1"/>
                </a:solidFill>
                <a:latin typeface="微软雅黑" pitchFamily="34" charset="-122"/>
                <a:ea typeface="微软雅黑" pitchFamily="34" charset="-122"/>
              </a:rPr>
              <a:t>RTMP</a:t>
            </a:r>
          </a:p>
        </p:txBody>
      </p:sp>
    </p:spTree>
    <p:custDataLst>
      <p:tags r:id="rId1"/>
    </p:custDataLst>
    <p:extLst>
      <p:ext uri="{BB962C8B-B14F-4D97-AF65-F5344CB8AC3E}">
        <p14:creationId xmlns:p14="http://schemas.microsoft.com/office/powerpoint/2010/main" val="12057939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gn="just"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由</a:t>
            </a:r>
            <a:r>
              <a:rPr lang="en-US" altLang="zh-CN" b="1" dirty="0" err="1" smtClean="0">
                <a:latin typeface="微软雅黑" pitchFamily="34" charset="-122"/>
                <a:ea typeface="微软雅黑" pitchFamily="34" charset="-122"/>
              </a:rPr>
              <a:t>Haivision</a:t>
            </a:r>
            <a:r>
              <a:rPr lang="zh-CN" altLang="en-US" b="1" dirty="0" smtClean="0">
                <a:latin typeface="微软雅黑" pitchFamily="34" charset="-122"/>
                <a:ea typeface="微软雅黑" pitchFamily="34" charset="-122"/>
              </a:rPr>
              <a:t>公司在</a:t>
            </a:r>
            <a:r>
              <a:rPr lang="en-US" altLang="zh-CN" b="1" dirty="0">
                <a:latin typeface="微软雅黑" pitchFamily="34" charset="-122"/>
                <a:ea typeface="微软雅黑" pitchFamily="34" charset="-122"/>
              </a:rPr>
              <a:t>2017</a:t>
            </a:r>
            <a:r>
              <a:rPr lang="zh-CN" altLang="en-US" b="1" dirty="0">
                <a:latin typeface="微软雅黑" pitchFamily="34" charset="-122"/>
                <a:ea typeface="微软雅黑" pitchFamily="34" charset="-122"/>
              </a:rPr>
              <a:t>年</a:t>
            </a:r>
            <a:r>
              <a:rPr lang="zh-CN" altLang="en-US" b="1" dirty="0" smtClean="0">
                <a:latin typeface="微软雅黑" pitchFamily="34" charset="-122"/>
                <a:ea typeface="微软雅黑" pitchFamily="34" charset="-122"/>
              </a:rPr>
              <a:t>开发</a:t>
            </a:r>
            <a:r>
              <a:rPr lang="zh-CN" altLang="en-US" b="1" dirty="0">
                <a:latin typeface="微软雅黑" pitchFamily="34" charset="-122"/>
                <a:ea typeface="微软雅黑" pitchFamily="34" charset="-122"/>
              </a:rPr>
              <a:t>并</a:t>
            </a:r>
            <a:r>
              <a:rPr lang="zh-CN" altLang="en-US" b="1" dirty="0" smtClean="0">
                <a:latin typeface="微软雅黑" pitchFamily="34" charset="-122"/>
                <a:ea typeface="微软雅黑" pitchFamily="34" charset="-122"/>
              </a:rPr>
              <a:t>发布，且开放源</a:t>
            </a:r>
            <a:r>
              <a:rPr lang="zh-CN" altLang="en-US" b="1" dirty="0">
                <a:latin typeface="微软雅黑" pitchFamily="34" charset="-122"/>
                <a:ea typeface="微软雅黑" pitchFamily="34" charset="-122"/>
              </a:rPr>
              <a:t>代</a:t>
            </a:r>
            <a:r>
              <a:rPr lang="zh-CN" altLang="en-US" b="1" dirty="0" smtClean="0">
                <a:latin typeface="微软雅黑" pitchFamily="34" charset="-122"/>
                <a:ea typeface="微软雅黑" pitchFamily="34" charset="-122"/>
              </a:rPr>
              <a:t>码。</a:t>
            </a:r>
            <a:r>
              <a:rPr lang="en-US" altLang="zh-CN" b="1" dirty="0" smtClean="0">
                <a:latin typeface="微软雅黑" pitchFamily="34" charset="-122"/>
                <a:ea typeface="微软雅黑" pitchFamily="34" charset="-122"/>
              </a:rPr>
              <a:t>SRT </a:t>
            </a:r>
            <a:r>
              <a:rPr lang="zh-CN" altLang="en-US" b="1" dirty="0" smtClean="0">
                <a:latin typeface="微软雅黑" pitchFamily="34" charset="-122"/>
                <a:ea typeface="微软雅黑" pitchFamily="34" charset="-122"/>
              </a:rPr>
              <a:t>兼顾</a:t>
            </a:r>
            <a:r>
              <a:rPr lang="zh-CN" altLang="en-US" b="1" dirty="0">
                <a:latin typeface="微软雅黑" pitchFamily="34" charset="-122"/>
                <a:ea typeface="微软雅黑" pitchFamily="34" charset="-122"/>
              </a:rPr>
              <a:t>了</a:t>
            </a:r>
            <a:r>
              <a:rPr lang="zh-CN" altLang="en-US" b="1" dirty="0">
                <a:solidFill>
                  <a:srgbClr val="C00000"/>
                </a:solidFill>
                <a:latin typeface="微软雅黑" pitchFamily="34" charset="-122"/>
                <a:ea typeface="微软雅黑" pitchFamily="34" charset="-122"/>
              </a:rPr>
              <a:t>实时性和安全性</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能够有效地在不可靠的网络</a:t>
            </a:r>
            <a:r>
              <a:rPr lang="zh-CN" altLang="en-US" b="1" dirty="0" smtClean="0">
                <a:latin typeface="微软雅黑" pitchFamily="34" charset="-122"/>
                <a:ea typeface="微软雅黑" pitchFamily="34" charset="-122"/>
              </a:rPr>
              <a:t>上</a:t>
            </a:r>
            <a:r>
              <a:rPr lang="zh-CN" altLang="en-US" b="1" dirty="0">
                <a:latin typeface="微软雅黑" pitchFamily="34" charset="-122"/>
                <a:ea typeface="微软雅黑" pitchFamily="34" charset="-122"/>
              </a:rPr>
              <a:t>传输高质量的音视</a:t>
            </a:r>
            <a:r>
              <a:rPr lang="en-US" altLang="zh-CN"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视频。</a:t>
            </a:r>
            <a:endParaRPr lang="en-US" altLang="zh-CN" b="1" dirty="0" smtClean="0">
              <a:latin typeface="微软雅黑" pitchFamily="34" charset="-122"/>
              <a:ea typeface="微软雅黑" pitchFamily="34" charset="-122"/>
            </a:endParaRPr>
          </a:p>
          <a:p>
            <a:pPr marL="800100" lvl="1" indent="-342900" algn="just" hangingPunct="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运行在 </a:t>
            </a:r>
            <a:r>
              <a:rPr lang="en-US" altLang="zh-CN" sz="1600" b="1" dirty="0" smtClean="0">
                <a:latin typeface="微软雅黑" pitchFamily="34" charset="-122"/>
                <a:ea typeface="微软雅黑" pitchFamily="34" charset="-122"/>
              </a:rPr>
              <a:t>UDP </a:t>
            </a:r>
            <a:r>
              <a:rPr lang="zh-CN" altLang="en-US" sz="1600" b="1" dirty="0" smtClean="0">
                <a:latin typeface="微软雅黑" pitchFamily="34" charset="-122"/>
                <a:ea typeface="微软雅黑" pitchFamily="34" charset="-122"/>
              </a:rPr>
              <a:t>上，使用</a:t>
            </a:r>
            <a:r>
              <a:rPr lang="zh-CN" altLang="en-US" sz="1600" b="1" dirty="0">
                <a:solidFill>
                  <a:srgbClr val="C00000"/>
                </a:solidFill>
                <a:latin typeface="微软雅黑" pitchFamily="34" charset="-122"/>
                <a:ea typeface="微软雅黑" pitchFamily="34" charset="-122"/>
              </a:rPr>
              <a:t>握手机制来建立和终止</a:t>
            </a:r>
            <a:r>
              <a:rPr lang="zh-CN" altLang="en-US" sz="1600" b="1" dirty="0" smtClean="0">
                <a:solidFill>
                  <a:srgbClr val="C00000"/>
                </a:solidFill>
                <a:latin typeface="微软雅黑" pitchFamily="34" charset="-122"/>
                <a:ea typeface="微软雅黑" pitchFamily="34" charset="-122"/>
              </a:rPr>
              <a:t>连接，支持丢失分组的重传</a:t>
            </a:r>
            <a:r>
              <a:rPr lang="zh-CN" altLang="en-US" sz="1600" b="1" dirty="0" smtClean="0">
                <a:latin typeface="微软雅黑" pitchFamily="34" charset="-122"/>
                <a:ea typeface="微软雅黑" pitchFamily="34" charset="-122"/>
              </a:rPr>
              <a:t>。双方</a:t>
            </a:r>
            <a:r>
              <a:rPr lang="zh-CN" altLang="en-US" sz="1600" b="1" dirty="0">
                <a:latin typeface="微软雅黑" pitchFamily="34" charset="-122"/>
                <a:ea typeface="微软雅黑" pitchFamily="34" charset="-122"/>
              </a:rPr>
              <a:t>建立连接时协商参数以确保最佳性能</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数据分组首部</a:t>
            </a:r>
            <a:r>
              <a:rPr lang="zh-CN" altLang="en-US" sz="1600" b="1" dirty="0">
                <a:latin typeface="微软雅黑" pitchFamily="34" charset="-122"/>
                <a:ea typeface="微软雅黑" pitchFamily="34" charset="-122"/>
              </a:rPr>
              <a:t>包含序列号、时间戳等信息，确保接收端可正确重组数据流</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利用</a:t>
            </a:r>
            <a:r>
              <a:rPr lang="zh-CN" altLang="en-US" sz="1600" b="1" dirty="0">
                <a:solidFill>
                  <a:srgbClr val="C00000"/>
                </a:solidFill>
                <a:latin typeface="微软雅黑" pitchFamily="34" charset="-122"/>
                <a:ea typeface="微软雅黑" pitchFamily="34" charset="-122"/>
              </a:rPr>
              <a:t>自适应流控制</a:t>
            </a:r>
            <a:r>
              <a:rPr lang="zh-CN" altLang="en-US" sz="1600" b="1" dirty="0" smtClean="0">
                <a:solidFill>
                  <a:srgbClr val="C00000"/>
                </a:solidFill>
                <a:latin typeface="微软雅黑" pitchFamily="34" charset="-122"/>
                <a:ea typeface="微软雅黑" pitchFamily="34" charset="-122"/>
              </a:rPr>
              <a:t>技术动态</a:t>
            </a:r>
            <a:r>
              <a:rPr lang="zh-CN" altLang="en-US" sz="1600" b="1" dirty="0">
                <a:solidFill>
                  <a:srgbClr val="C00000"/>
                </a:solidFill>
                <a:latin typeface="微软雅黑" pitchFamily="34" charset="-122"/>
                <a:ea typeface="微软雅黑" pitchFamily="34" charset="-122"/>
              </a:rPr>
              <a:t>调整发送速率</a:t>
            </a:r>
            <a:r>
              <a:rPr lang="zh-CN" altLang="en-US" sz="1600" b="1" dirty="0">
                <a:latin typeface="微软雅黑" pitchFamily="34" charset="-122"/>
                <a:ea typeface="微软雅黑" pitchFamily="34" charset="-122"/>
              </a:rPr>
              <a:t>，以适应网络的实际</a:t>
            </a:r>
            <a:r>
              <a:rPr lang="zh-CN" altLang="en-US" sz="1600" b="1" dirty="0" smtClean="0">
                <a:latin typeface="微软雅黑" pitchFamily="34" charset="-122"/>
                <a:ea typeface="微软雅黑" pitchFamily="34" charset="-122"/>
              </a:rPr>
              <a:t>状况。</a:t>
            </a:r>
            <a:endParaRPr lang="en-US" altLang="zh-CN" sz="1600" b="1" dirty="0" smtClean="0">
              <a:latin typeface="微软雅黑" pitchFamily="34" charset="-122"/>
              <a:ea typeface="微软雅黑" pitchFamily="34" charset="-122"/>
            </a:endParaRPr>
          </a:p>
          <a:p>
            <a:pPr marL="800100" lvl="1" indent="-34290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使用</a:t>
            </a:r>
            <a:r>
              <a:rPr lang="zh-CN" altLang="en-US" sz="1600" b="1" dirty="0">
                <a:solidFill>
                  <a:srgbClr val="C00000"/>
                </a:solidFill>
                <a:latin typeface="微软雅黑" pitchFamily="34" charset="-122"/>
                <a:ea typeface="微软雅黑" pitchFamily="34" charset="-122"/>
              </a:rPr>
              <a:t>加密技术和身份验证</a:t>
            </a:r>
            <a:r>
              <a:rPr lang="zh-CN" altLang="en-US" sz="1600" b="1" dirty="0">
                <a:latin typeface="微软雅黑" pitchFamily="34" charset="-122"/>
                <a:ea typeface="微软雅黑" pitchFamily="34" charset="-122"/>
              </a:rPr>
              <a:t>，确保只有授权的用户才能访问数据流</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800100" lvl="1" indent="-342900" algn="just" hangingPunct="0">
              <a:lnSpc>
                <a:spcPts val="3000"/>
              </a:lnSpc>
              <a:buClr>
                <a:srgbClr val="0070C0"/>
              </a:buClr>
              <a:buFont typeface="Wingdings" pitchFamily="2" charset="2"/>
              <a:buChar char="l"/>
            </a:pPr>
            <a:r>
              <a:rPr lang="zh-CN" altLang="en-US" sz="1600" b="1" dirty="0" smtClean="0">
                <a:latin typeface="微软雅黑" pitchFamily="34" charset="-122"/>
                <a:ea typeface="微软雅黑" pitchFamily="34" charset="-122"/>
              </a:rPr>
              <a:t>支持与其</a:t>
            </a:r>
            <a:r>
              <a:rPr lang="zh-CN" altLang="en-US" sz="1600" b="1" dirty="0">
                <a:latin typeface="微软雅黑" pitchFamily="34" charset="-122"/>
                <a:ea typeface="微软雅黑" pitchFamily="34" charset="-122"/>
              </a:rPr>
              <a:t>他流媒体平台或内容分发</a:t>
            </a:r>
            <a:r>
              <a:rPr lang="zh-CN" altLang="en-US" sz="1600" b="1" dirty="0" smtClean="0">
                <a:latin typeface="微软雅黑" pitchFamily="34" charset="-122"/>
                <a:ea typeface="微软雅黑" pitchFamily="34" charset="-122"/>
              </a:rPr>
              <a:t>网络 </a:t>
            </a:r>
            <a:r>
              <a:rPr lang="en-US" altLang="zh-CN" sz="1600" b="1" dirty="0" smtClean="0">
                <a:latin typeface="微软雅黑" pitchFamily="34" charset="-122"/>
                <a:ea typeface="微软雅黑" pitchFamily="34" charset="-122"/>
              </a:rPr>
              <a:t>CDN </a:t>
            </a:r>
            <a:r>
              <a:rPr lang="zh-CN" altLang="en-US" sz="1600" b="1" dirty="0" smtClean="0">
                <a:latin typeface="微软雅黑" pitchFamily="34" charset="-122"/>
                <a:ea typeface="微软雅黑" pitchFamily="34" charset="-122"/>
              </a:rPr>
              <a:t>的</a:t>
            </a:r>
            <a:r>
              <a:rPr lang="zh-CN" altLang="en-US" sz="1600" b="1" dirty="0" smtClean="0">
                <a:solidFill>
                  <a:srgbClr val="C00000"/>
                </a:solidFill>
                <a:latin typeface="微软雅黑" pitchFamily="34" charset="-122"/>
                <a:ea typeface="微软雅黑" pitchFamily="34" charset="-122"/>
              </a:rPr>
              <a:t>集成</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779756" y="593125"/>
            <a:ext cx="7593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安全可靠运输协议 </a:t>
            </a:r>
            <a:r>
              <a:rPr lang="en-US" altLang="zh-CN" sz="2400" b="1" dirty="0">
                <a:solidFill>
                  <a:schemeClr val="bg1"/>
                </a:solidFill>
                <a:latin typeface="微软雅黑" pitchFamily="34" charset="-122"/>
                <a:ea typeface="微软雅黑" pitchFamily="34" charset="-122"/>
              </a:rPr>
              <a:t>SRT (Secure Reliable Transport)</a:t>
            </a:r>
          </a:p>
        </p:txBody>
      </p:sp>
    </p:spTree>
    <p:custDataLst>
      <p:tags r:id="rId1"/>
    </p:custDataLst>
    <p:extLst>
      <p:ext uri="{BB962C8B-B14F-4D97-AF65-F5344CB8AC3E}">
        <p14:creationId xmlns:p14="http://schemas.microsoft.com/office/powerpoint/2010/main" val="12622540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
                                            <p:txEl>
                                              <p:pRg st="5" end="5"/>
                                            </p:txEl>
                                          </p:spTgt>
                                        </p:tgtEl>
                                        <p:attrNameLst>
                                          <p:attrName>style.visibility</p:attrName>
                                        </p:attrNameLst>
                                      </p:cBhvr>
                                      <p:to>
                                        <p:strVal val="visible"/>
                                      </p:to>
                                    </p:set>
                                    <p:animEffect transition="in" filter="fade">
                                      <p:cBhvr>
                                        <p:cTn id="27"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1043698"/>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对于</a:t>
            </a:r>
            <a:r>
              <a:rPr lang="zh-CN" altLang="en-US" b="1" dirty="0">
                <a:solidFill>
                  <a:srgbClr val="C00000"/>
                </a:solidFill>
                <a:latin typeface="微软雅黑" pitchFamily="34" charset="-122"/>
                <a:ea typeface="微软雅黑" pitchFamily="34" charset="-122"/>
              </a:rPr>
              <a:t>大规模直播</a:t>
            </a:r>
            <a:r>
              <a:rPr lang="zh-CN" altLang="en-US" b="1" dirty="0">
                <a:latin typeface="微软雅黑" pitchFamily="34" charset="-122"/>
                <a:ea typeface="微软雅黑" pitchFamily="34" charset="-122"/>
              </a:rPr>
              <a:t>，拉流常用的协议是</a:t>
            </a:r>
            <a:r>
              <a:rPr lang="en-US" altLang="zh-CN" b="1" dirty="0">
                <a:solidFill>
                  <a:srgbClr val="C00000"/>
                </a:solidFill>
                <a:latin typeface="微软雅黑" pitchFamily="34" charset="-122"/>
                <a:ea typeface="微软雅黑" pitchFamily="34" charset="-122"/>
              </a:rPr>
              <a:t>HLS</a:t>
            </a:r>
            <a:r>
              <a:rPr lang="zh-CN" altLang="en-US" b="1" dirty="0">
                <a:solidFill>
                  <a:srgbClr val="C00000"/>
                </a:solidFill>
                <a:latin typeface="微软雅黑" pitchFamily="34" charset="-122"/>
                <a:ea typeface="微软雅黑" pitchFamily="34" charset="-122"/>
              </a:rPr>
              <a:t>或</a:t>
            </a:r>
            <a:r>
              <a:rPr lang="en-US" altLang="zh-CN" b="1" dirty="0">
                <a:solidFill>
                  <a:srgbClr val="C00000"/>
                </a:solidFill>
                <a:latin typeface="微软雅黑" pitchFamily="34" charset="-122"/>
                <a:ea typeface="微软雅黑" pitchFamily="34" charset="-122"/>
              </a:rPr>
              <a:t>DASH</a:t>
            </a:r>
            <a:r>
              <a:rPr lang="zh-CN" altLang="en-US" b="1" dirty="0">
                <a:latin typeface="微软雅黑" pitchFamily="34" charset="-122"/>
                <a:ea typeface="微软雅黑" pitchFamily="34" charset="-122"/>
              </a:rPr>
              <a:t>，因为这两种协议的稳定性好，并得到了广泛的支持</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对于</a:t>
            </a:r>
            <a:r>
              <a:rPr lang="zh-CN" altLang="en-US" b="1" dirty="0">
                <a:solidFill>
                  <a:srgbClr val="C00000"/>
                </a:solidFill>
                <a:latin typeface="微软雅黑" pitchFamily="34" charset="-122"/>
                <a:ea typeface="微软雅黑" pitchFamily="34" charset="-122"/>
              </a:rPr>
              <a:t>互动性直播</a:t>
            </a:r>
            <a:r>
              <a:rPr lang="zh-CN" altLang="en-US" b="1" dirty="0">
                <a:latin typeface="微软雅黑" pitchFamily="34" charset="-122"/>
                <a:ea typeface="微软雅黑" pitchFamily="34" charset="-122"/>
              </a:rPr>
              <a:t>，推流和拉流都可以使用</a:t>
            </a:r>
            <a:r>
              <a:rPr lang="en-US" altLang="zh-CN" b="1" dirty="0" err="1">
                <a:solidFill>
                  <a:srgbClr val="C00000"/>
                </a:solidFill>
                <a:latin typeface="微软雅黑" pitchFamily="34" charset="-122"/>
                <a:ea typeface="微软雅黑" pitchFamily="34" charset="-122"/>
              </a:rPr>
              <a:t>WebRTC</a:t>
            </a:r>
            <a:r>
              <a:rPr lang="zh-CN" altLang="en-US" b="1" dirty="0">
                <a:latin typeface="微软雅黑" pitchFamily="34" charset="-122"/>
                <a:ea typeface="微软雅黑" pitchFamily="34" charset="-122"/>
              </a:rPr>
              <a:t>，因为</a:t>
            </a:r>
            <a:r>
              <a:rPr lang="en-US" altLang="zh-CN" b="1" dirty="0" err="1">
                <a:latin typeface="微软雅黑" pitchFamily="34" charset="-122"/>
                <a:ea typeface="微软雅黑" pitchFamily="34" charset="-122"/>
              </a:rPr>
              <a:t>WebRTC</a:t>
            </a:r>
            <a:r>
              <a:rPr lang="zh-CN" altLang="en-US" b="1" dirty="0">
                <a:latin typeface="微软雅黑" pitchFamily="34" charset="-122"/>
                <a:ea typeface="微软雅黑" pitchFamily="34" charset="-122"/>
              </a:rPr>
              <a:t>的时延小，</a:t>
            </a:r>
            <a:r>
              <a:rPr lang="zh-CN" altLang="en-US" b="1" dirty="0">
                <a:solidFill>
                  <a:srgbClr val="C00000"/>
                </a:solidFill>
                <a:latin typeface="微软雅黑" pitchFamily="34" charset="-122"/>
                <a:ea typeface="微软雅黑" pitchFamily="34" charset="-122"/>
              </a:rPr>
              <a:t>实时互动性</a:t>
            </a:r>
            <a:r>
              <a:rPr lang="zh-CN" altLang="en-US" b="1" dirty="0" smtClean="0">
                <a:solidFill>
                  <a:srgbClr val="C00000"/>
                </a:solidFill>
                <a:latin typeface="微软雅黑" pitchFamily="34" charset="-122"/>
                <a:ea typeface="微软雅黑" pitchFamily="34" charset="-122"/>
              </a:rPr>
              <a:t>很好</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000"/>
              </a:lnSpc>
              <a:buClr>
                <a:srgbClr val="0070C0"/>
              </a:buClr>
              <a:buFont typeface="Wingdings" pitchFamily="2" charset="2"/>
              <a:buChar char="l"/>
            </a:pPr>
            <a:r>
              <a:rPr lang="zh-CN" altLang="en-US" b="1" dirty="0" smtClean="0">
                <a:solidFill>
                  <a:srgbClr val="C00000"/>
                </a:solidFill>
                <a:latin typeface="微软雅黑" pitchFamily="34" charset="-122"/>
                <a:ea typeface="微软雅黑" pitchFamily="34" charset="-122"/>
              </a:rPr>
              <a:t>移动终端直播</a:t>
            </a:r>
            <a:r>
              <a:rPr lang="zh-CN" altLang="en-US" b="1" dirty="0" smtClean="0">
                <a:latin typeface="微软雅黑" pitchFamily="34" charset="-122"/>
                <a:ea typeface="微软雅黑" pitchFamily="34" charset="-122"/>
              </a:rPr>
              <a:t>目前常</a:t>
            </a:r>
            <a:r>
              <a:rPr lang="zh-CN" altLang="en-US" b="1" dirty="0">
                <a:latin typeface="微软雅黑" pitchFamily="34" charset="-122"/>
                <a:ea typeface="微软雅黑" pitchFamily="34" charset="-122"/>
              </a:rPr>
              <a:t>使用特别适合移动终端应用的</a:t>
            </a:r>
            <a:r>
              <a:rPr lang="en-US" altLang="zh-CN" b="1" dirty="0">
                <a:solidFill>
                  <a:srgbClr val="C00000"/>
                </a:solidFill>
                <a:latin typeface="微软雅黑" pitchFamily="34" charset="-122"/>
                <a:ea typeface="微软雅黑" pitchFamily="34" charset="-122"/>
              </a:rPr>
              <a:t>HLS</a:t>
            </a:r>
            <a:r>
              <a:rPr lang="zh-CN" altLang="en-US" b="1" dirty="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7" name="AutoShape 12"/>
          <p:cNvSpPr>
            <a:spLocks noChangeArrowheads="1"/>
          </p:cNvSpPr>
          <p:nvPr/>
        </p:nvSpPr>
        <p:spPr bwMode="auto">
          <a:xfrm>
            <a:off x="511896" y="618589"/>
            <a:ext cx="8129016" cy="422275"/>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8" name="Rectangle 13"/>
          <p:cNvSpPr>
            <a:spLocks noChangeArrowheads="1"/>
          </p:cNvSpPr>
          <p:nvPr/>
        </p:nvSpPr>
        <p:spPr bwMode="auto">
          <a:xfrm>
            <a:off x="3406853" y="593125"/>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多媒体</a:t>
            </a:r>
            <a:r>
              <a:rPr lang="zh-CN" altLang="en-US" sz="2400" b="1" dirty="0">
                <a:solidFill>
                  <a:schemeClr val="bg1"/>
                </a:solidFill>
                <a:latin typeface="微软雅黑" pitchFamily="34" charset="-122"/>
                <a:ea typeface="微软雅黑" pitchFamily="34" charset="-122"/>
              </a:rPr>
              <a:t>直播协议</a:t>
            </a:r>
          </a:p>
        </p:txBody>
      </p:sp>
    </p:spTree>
    <p:custDataLst>
      <p:tags r:id="rId1"/>
    </p:custDataLst>
    <p:extLst>
      <p:ext uri="{BB962C8B-B14F-4D97-AF65-F5344CB8AC3E}">
        <p14:creationId xmlns:p14="http://schemas.microsoft.com/office/powerpoint/2010/main" val="23225873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0"/>
          <p:cNvSpPr>
            <a:spLocks noChangeArrowheads="1"/>
          </p:cNvSpPr>
          <p:nvPr/>
        </p:nvSpPr>
        <p:spPr bwMode="auto">
          <a:xfrm>
            <a:off x="2629135" y="25091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9"/>
          <p:cNvSpPr>
            <a:spLocks noChangeArrowheads="1"/>
          </p:cNvSpPr>
          <p:nvPr/>
        </p:nvSpPr>
        <p:spPr bwMode="auto">
          <a:xfrm>
            <a:off x="2629135" y="20534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9"/>
          <p:cNvSpPr>
            <a:spLocks noChangeArrowheads="1"/>
          </p:cNvSpPr>
          <p:nvPr/>
        </p:nvSpPr>
        <p:spPr bwMode="auto">
          <a:xfrm>
            <a:off x="2629135" y="113118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159493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637198" y="1059744"/>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27"/>
          <p:cNvSpPr>
            <a:spLocks noChangeArrowheads="1"/>
          </p:cNvSpPr>
          <p:nvPr/>
        </p:nvSpPr>
        <p:spPr bwMode="auto">
          <a:xfrm>
            <a:off x="639730" y="113118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0" name="Rectangle 29"/>
          <p:cNvSpPr>
            <a:spLocks noChangeArrowheads="1"/>
          </p:cNvSpPr>
          <p:nvPr/>
        </p:nvSpPr>
        <p:spPr bwMode="auto">
          <a:xfrm>
            <a:off x="648619" y="122611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6.5</a:t>
            </a:r>
          </a:p>
          <a:p>
            <a:pPr eaLnBrk="0" hangingPunct="0"/>
            <a:r>
              <a:rPr lang="zh-CN" altLang="en-US" sz="2000" b="1" dirty="0">
                <a:solidFill>
                  <a:schemeClr val="bg1"/>
                </a:solidFill>
                <a:latin typeface="微软雅黑" pitchFamily="34" charset="-122"/>
                <a:ea typeface="微软雅黑" pitchFamily="34" charset="-122"/>
              </a:rPr>
              <a:t>简单网络管理协议 </a:t>
            </a:r>
            <a:r>
              <a:rPr lang="en-US" altLang="zh-CN" sz="2000" b="1" dirty="0">
                <a:solidFill>
                  <a:schemeClr val="bg1"/>
                </a:solidFill>
                <a:latin typeface="微软雅黑" pitchFamily="34" charset="-122"/>
                <a:ea typeface="微软雅黑" pitchFamily="34" charset="-122"/>
              </a:rPr>
              <a:t>SNMP</a:t>
            </a:r>
            <a:endParaRPr lang="zh-CN" altLang="fr-FR" sz="2000" b="1" dirty="0">
              <a:solidFill>
                <a:schemeClr val="bg1"/>
              </a:solidFill>
              <a:latin typeface="微软雅黑" pitchFamily="34" charset="-122"/>
              <a:ea typeface="微软雅黑" pitchFamily="34" charset="-122"/>
            </a:endParaRPr>
          </a:p>
        </p:txBody>
      </p:sp>
      <p:sp>
        <p:nvSpPr>
          <p:cNvPr id="11" name="Rectangle 8"/>
          <p:cNvSpPr>
            <a:spLocks noChangeArrowheads="1"/>
          </p:cNvSpPr>
          <p:nvPr/>
        </p:nvSpPr>
        <p:spPr bwMode="auto">
          <a:xfrm>
            <a:off x="2700573" y="1006881"/>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6.5.1                                 </a:t>
            </a:r>
            <a:r>
              <a:rPr lang="zh-CN" altLang="en-US" sz="2000" b="1" dirty="0" smtClean="0">
                <a:solidFill>
                  <a:schemeClr val="bg1"/>
                </a:solidFill>
                <a:latin typeface="微软雅黑" pitchFamily="34" charset="-122"/>
                <a:ea typeface="微软雅黑" pitchFamily="34" charset="-122"/>
              </a:rPr>
              <a:t>网络管理</a:t>
            </a:r>
            <a:r>
              <a:rPr lang="zh-CN" altLang="en-US" sz="2000" b="1" dirty="0">
                <a:solidFill>
                  <a:schemeClr val="bg1"/>
                </a:solidFill>
                <a:latin typeface="微软雅黑" pitchFamily="34" charset="-122"/>
                <a:ea typeface="微软雅黑" pitchFamily="34" charset="-122"/>
              </a:rPr>
              <a:t>的基本概念</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6.5.2                                    </a:t>
            </a:r>
            <a:r>
              <a:rPr lang="zh-CN" altLang="en-US" sz="2000" b="1" dirty="0" smtClean="0">
                <a:solidFill>
                  <a:schemeClr val="bg1"/>
                </a:solidFill>
                <a:latin typeface="微软雅黑" pitchFamily="34" charset="-122"/>
                <a:ea typeface="微软雅黑" pitchFamily="34" charset="-122"/>
              </a:rPr>
              <a:t>管理</a:t>
            </a:r>
            <a:r>
              <a:rPr lang="zh-CN" altLang="en-US" sz="2000" b="1" dirty="0">
                <a:solidFill>
                  <a:schemeClr val="bg1"/>
                </a:solidFill>
                <a:latin typeface="微软雅黑" pitchFamily="34" charset="-122"/>
                <a:ea typeface="微软雅黑" pitchFamily="34" charset="-122"/>
              </a:rPr>
              <a:t>信息结构 </a:t>
            </a:r>
            <a:r>
              <a:rPr lang="en-US" altLang="zh-CN" sz="2000" b="1" dirty="0">
                <a:solidFill>
                  <a:schemeClr val="bg1"/>
                </a:solidFill>
                <a:latin typeface="微软雅黑" pitchFamily="34" charset="-122"/>
                <a:ea typeface="微软雅黑" pitchFamily="34" charset="-122"/>
              </a:rPr>
              <a:t>SMI</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6.5.3                                       </a:t>
            </a:r>
            <a:r>
              <a:rPr lang="zh-CN" altLang="en-US" sz="2000" b="1" dirty="0" smtClean="0">
                <a:solidFill>
                  <a:schemeClr val="bg1"/>
                </a:solidFill>
                <a:latin typeface="微软雅黑" pitchFamily="34" charset="-122"/>
                <a:ea typeface="微软雅黑" pitchFamily="34" charset="-122"/>
              </a:rPr>
              <a:t>管理</a:t>
            </a:r>
            <a:r>
              <a:rPr lang="zh-CN" altLang="en-US" sz="2000" b="1" dirty="0">
                <a:solidFill>
                  <a:schemeClr val="bg1"/>
                </a:solidFill>
                <a:latin typeface="微软雅黑" pitchFamily="34" charset="-122"/>
                <a:ea typeface="微软雅黑" pitchFamily="34" charset="-122"/>
              </a:rPr>
              <a:t>信息库 </a:t>
            </a:r>
            <a:r>
              <a:rPr lang="en-US" altLang="zh-CN" sz="2000" b="1" dirty="0">
                <a:solidFill>
                  <a:schemeClr val="bg1"/>
                </a:solidFill>
                <a:latin typeface="微软雅黑" pitchFamily="34" charset="-122"/>
                <a:ea typeface="微软雅黑" pitchFamily="34" charset="-122"/>
              </a:rPr>
              <a:t>MIB</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6.5.4                  </a:t>
            </a:r>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的协议数据单元和报文</a:t>
            </a:r>
          </a:p>
        </p:txBody>
      </p:sp>
    </p:spTree>
    <p:extLst>
      <p:ext uri="{BB962C8B-B14F-4D97-AF65-F5344CB8AC3E}">
        <p14:creationId xmlns:p14="http://schemas.microsoft.com/office/powerpoint/2010/main" val="13480270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58"/>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094676" y="568687"/>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网络管理</a:t>
            </a:r>
            <a:r>
              <a:rPr lang="zh-CN" altLang="en-US" sz="2400" b="1" dirty="0">
                <a:solidFill>
                  <a:schemeClr val="bg1"/>
                </a:solidFill>
                <a:latin typeface="微软雅黑" pitchFamily="34" charset="-122"/>
                <a:ea typeface="微软雅黑" pitchFamily="34" charset="-122"/>
              </a:rPr>
              <a:t>的基本概念</a:t>
            </a:r>
          </a:p>
        </p:txBody>
      </p:sp>
      <p:sp>
        <p:nvSpPr>
          <p:cNvPr id="4" name="Rectangle 68"/>
          <p:cNvSpPr>
            <a:spLocks noChangeArrowheads="1"/>
          </p:cNvSpPr>
          <p:nvPr/>
        </p:nvSpPr>
        <p:spPr bwMode="auto">
          <a:xfrm>
            <a:off x="556963" y="1005176"/>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计算机网络是一</a:t>
            </a:r>
            <a:r>
              <a:rPr lang="zh-CN" altLang="en-US" sz="2000" b="1" dirty="0" smtClean="0">
                <a:latin typeface="微软雅黑" pitchFamily="34" charset="-122"/>
                <a:ea typeface="微软雅黑" pitchFamily="34" charset="-122"/>
              </a:rPr>
              <a:t>个复杂</a:t>
            </a:r>
            <a:r>
              <a:rPr lang="zh-CN" altLang="en-US" sz="2000" b="1" dirty="0">
                <a:latin typeface="微软雅黑" pitchFamily="34" charset="-122"/>
                <a:ea typeface="微软雅黑" pitchFamily="34" charset="-122"/>
              </a:rPr>
              <a:t>的分布式</a:t>
            </a:r>
            <a:r>
              <a:rPr lang="zh-CN" altLang="en-US" sz="2000" b="1" dirty="0" smtClean="0">
                <a:latin typeface="微软雅黑" pitchFamily="34" charset="-122"/>
                <a:ea typeface="微软雅黑" pitchFamily="34" charset="-122"/>
              </a:rPr>
              <a:t>系统</a:t>
            </a:r>
            <a:endParaRPr lang="en-US" altLang="zh-CN" sz="2000" b="1" dirty="0">
              <a:latin typeface="微软雅黑" pitchFamily="34" charset="-122"/>
              <a:ea typeface="微软雅黑" pitchFamily="34" charset="-122"/>
            </a:endParaRPr>
          </a:p>
          <a:p>
            <a:pPr marL="742950" lvl="1" indent="-285750"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设备和应用类型多样、生产厂家各异、网络状态变化频繁</a:t>
            </a:r>
            <a:r>
              <a:rPr lang="en-US" altLang="zh-CN" b="1" dirty="0" smtClean="0">
                <a:latin typeface="微软雅黑" pitchFamily="34" charset="-122"/>
                <a:ea typeface="微软雅黑" pitchFamily="34" charset="-122"/>
              </a:rPr>
              <a:t>……</a:t>
            </a: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需要一种机制能够监视网络运行状态、处理网络异常</a:t>
            </a:r>
            <a:r>
              <a:rPr lang="en-US" altLang="zh-CN"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网络管理</a:t>
            </a:r>
            <a:r>
              <a:rPr lang="zh-CN" altLang="en-US" sz="2000" b="1" dirty="0">
                <a:latin typeface="微软雅黑" pitchFamily="34" charset="-122"/>
                <a:ea typeface="微软雅黑" pitchFamily="34" charset="-122"/>
              </a:rPr>
              <a:t>包括对硬件、软件和人力的使用、综合与协调，以便对网络资源进行</a:t>
            </a:r>
            <a:r>
              <a:rPr lang="zh-CN" altLang="en-US" sz="2000" b="1" dirty="0">
                <a:solidFill>
                  <a:srgbClr val="C00000"/>
                </a:solidFill>
                <a:latin typeface="微软雅黑" pitchFamily="34" charset="-122"/>
                <a:ea typeface="微软雅黑" pitchFamily="34" charset="-122"/>
              </a:rPr>
              <a:t>监视、测试、配置、分析、评价和控制</a:t>
            </a:r>
            <a:r>
              <a:rPr lang="zh-CN" altLang="en-US" sz="2000" b="1" dirty="0">
                <a:latin typeface="微软雅黑" pitchFamily="34" charset="-122"/>
                <a:ea typeface="微软雅黑" pitchFamily="34" charset="-122"/>
              </a:rPr>
              <a:t>，这样就能以合理的价格满足网络的一些需求，</a:t>
            </a:r>
            <a:r>
              <a:rPr lang="zh-CN" altLang="en-US" sz="2000" b="1" dirty="0">
                <a:solidFill>
                  <a:srgbClr val="C00000"/>
                </a:solidFill>
                <a:latin typeface="微软雅黑" pitchFamily="34" charset="-122"/>
                <a:ea typeface="微软雅黑" pitchFamily="34" charset="-122"/>
              </a:rPr>
              <a:t>如实时运行性能，服务质量</a:t>
            </a:r>
            <a:r>
              <a:rPr lang="zh-CN" altLang="en-US" sz="2000" b="1" dirty="0">
                <a:latin typeface="微软雅黑" pitchFamily="34" charset="-122"/>
                <a:ea typeface="微软雅黑" pitchFamily="34" charset="-122"/>
              </a:rPr>
              <a:t>等</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网络管理</a:t>
            </a:r>
            <a:r>
              <a:rPr lang="zh-CN" altLang="en-US" sz="2000" b="1" dirty="0">
                <a:latin typeface="微软雅黑" pitchFamily="34" charset="-122"/>
                <a:ea typeface="微软雅黑" pitchFamily="34" charset="-122"/>
              </a:rPr>
              <a:t>常简称为</a:t>
            </a:r>
            <a:r>
              <a:rPr lang="zh-CN" altLang="en-US" sz="2000" b="1" dirty="0">
                <a:solidFill>
                  <a:srgbClr val="C00000"/>
                </a:solidFill>
                <a:latin typeface="微软雅黑" pitchFamily="34" charset="-122"/>
                <a:ea typeface="微软雅黑" pitchFamily="34" charset="-122"/>
              </a:rPr>
              <a:t>网管</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endParaRPr lang="zh-CN" altLang="en-US" sz="2000" b="1" dirty="0">
              <a:solidFill>
                <a:srgbClr val="C00000"/>
              </a:solidFill>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983288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3" end="3"/>
                                            </p:txEl>
                                          </p:spTgt>
                                        </p:tgtEl>
                                        <p:attrNameLst>
                                          <p:attrName>style.visibility</p:attrName>
                                        </p:attrNameLst>
                                      </p:cBhvr>
                                      <p:to>
                                        <p:strVal val="visible"/>
                                      </p:to>
                                    </p:set>
                                    <p:animEffect transition="in" filter="fade">
                                      <p:cBhvr>
                                        <p:cTn id="12" dur="500"/>
                                        <p:tgtEl>
                                          <p:spTgt spid="4">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4" end="4"/>
                                            </p:txEl>
                                          </p:spTgt>
                                        </p:tgtEl>
                                        <p:attrNameLst>
                                          <p:attrName>style.visibility</p:attrName>
                                        </p:attrNameLst>
                                      </p:cBhvr>
                                      <p:to>
                                        <p:strVal val="visible"/>
                                      </p:to>
                                    </p:set>
                                    <p:animEffect transition="in" filter="fade">
                                      <p:cBhvr>
                                        <p:cTn id="17"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网络管理的一般</a:t>
            </a:r>
            <a:r>
              <a:rPr lang="zh-CN" altLang="en-US" sz="2000" b="1" dirty="0" smtClean="0">
                <a:solidFill>
                  <a:schemeClr val="bg1"/>
                </a:solidFill>
                <a:latin typeface="微软雅黑" pitchFamily="34" charset="-122"/>
                <a:ea typeface="微软雅黑" pitchFamily="34" charset="-122"/>
              </a:rPr>
              <a:t>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a:latin typeface="微软雅黑" pitchFamily="34" charset="-122"/>
                <a:ea typeface="微软雅黑"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pitchFamily="34" charset="-122"/>
                <a:ea typeface="微软雅黑" pitchFamily="34" charset="-122"/>
              </a:rPr>
              <a:t>网络</a:t>
            </a:r>
          </a:p>
          <a:p>
            <a:pPr algn="ctr" eaLnBrk="1" hangingPunct="1"/>
            <a:r>
              <a:rPr kumimoji="1" lang="zh-CN" altLang="en-US" sz="1400" b="1" dirty="0">
                <a:latin typeface="微软雅黑" pitchFamily="34" charset="-122"/>
                <a:ea typeface="微软雅黑"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管理程序（运行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代理程序（运行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服务器程序）</a:t>
            </a:r>
          </a:p>
        </p:txBody>
      </p:sp>
      <p:pic>
        <p:nvPicPr>
          <p:cNvPr id="171" name="Picture 171"/>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pic>
        <p:nvPicPr>
          <p:cNvPr id="174" name="Picture 175"/>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itchFamily="34" charset="-122"/>
                <a:ea typeface="微软雅黑"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200" b="1" dirty="0">
                <a:latin typeface="微软雅黑" pitchFamily="34" charset="-122"/>
                <a:ea typeface="微软雅黑"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pic>
        <p:nvPicPr>
          <p:cNvPr id="205" name="图片 204"/>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208" name="组合 207"/>
          <p:cNvGrpSpPr/>
          <p:nvPr/>
        </p:nvGrpSpPr>
        <p:grpSpPr>
          <a:xfrm>
            <a:off x="847497" y="1037386"/>
            <a:ext cx="7270808" cy="1726822"/>
            <a:chOff x="1154100" y="3809876"/>
            <a:chExt cx="7270808" cy="1138332"/>
          </a:xfrm>
        </p:grpSpPr>
        <p:sp>
          <p:nvSpPr>
            <p:cNvPr id="209" name="对角圆角矩形 208"/>
            <p:cNvSpPr/>
            <p:nvPr/>
          </p:nvSpPr>
          <p:spPr>
            <a:xfrm>
              <a:off x="1154100" y="3809876"/>
              <a:ext cx="7270808" cy="99395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0" name="矩形 209"/>
            <p:cNvSpPr/>
            <p:nvPr/>
          </p:nvSpPr>
          <p:spPr>
            <a:xfrm>
              <a:off x="1234450" y="3872900"/>
              <a:ext cx="7063489" cy="1075308"/>
            </a:xfrm>
            <a:prstGeom prst="rect">
              <a:avLst/>
            </a:prstGeom>
          </p:spPr>
          <p:txBody>
            <a:bodyPr wrap="square">
              <a:spAutoFit/>
            </a:bodyPr>
            <a:lstStyle/>
            <a:p>
              <a:pPr marL="285750" indent="-285750" eaLnBrk="0" hangingPunct="0">
                <a:lnSpc>
                  <a:spcPts val="2400"/>
                </a:lnSpc>
                <a:buClr>
                  <a:schemeClr val="bg1"/>
                </a:buClr>
                <a:buFont typeface="Wingdings" panose="05000000000000000000" pitchFamily="2" charset="2"/>
                <a:buChar char="Ø"/>
              </a:pPr>
              <a:r>
                <a:rPr lang="zh-CN" altLang="en-US" sz="1600" b="1" dirty="0">
                  <a:solidFill>
                    <a:srgbClr val="FFFF00"/>
                  </a:solidFill>
                  <a:latin typeface="微软雅黑" pitchFamily="34" charset="-122"/>
                  <a:ea typeface="微软雅黑" pitchFamily="34" charset="-122"/>
                </a:rPr>
                <a:t>管理站</a:t>
              </a:r>
              <a:r>
                <a:rPr lang="zh-CN" altLang="en-US" sz="1600" b="1" dirty="0">
                  <a:solidFill>
                    <a:schemeClr val="bg1"/>
                  </a:solidFill>
                  <a:latin typeface="微软雅黑" pitchFamily="34" charset="-122"/>
                  <a:ea typeface="微软雅黑" pitchFamily="34" charset="-122"/>
                </a:rPr>
                <a:t>是整个网络管理系统的核心</a:t>
              </a:r>
              <a:r>
                <a:rPr lang="zh-CN" altLang="en-US" sz="1600" b="1" dirty="0" smtClean="0">
                  <a:solidFill>
                    <a:schemeClr val="bg1"/>
                  </a:solidFill>
                  <a:latin typeface="微软雅黑" pitchFamily="34" charset="-122"/>
                  <a:ea typeface="微软雅黑" pitchFamily="34" charset="-122"/>
                </a:rPr>
                <a:t>，通常由</a:t>
              </a:r>
              <a:r>
                <a:rPr lang="zh-CN" altLang="en-US" sz="1600" b="1" dirty="0">
                  <a:solidFill>
                    <a:schemeClr val="bg1"/>
                  </a:solidFill>
                  <a:latin typeface="微软雅黑" pitchFamily="34" charset="-122"/>
                  <a:ea typeface="微软雅黑" pitchFamily="34" charset="-122"/>
                </a:rPr>
                <a:t>网络管理员直接操作和控制。</a:t>
              </a:r>
            </a:p>
            <a:p>
              <a:pPr marL="285750" indent="-285750" eaLnBrk="0" hangingPunct="0">
                <a:lnSpc>
                  <a:spcPts val="2400"/>
                </a:lnSpc>
                <a:buClr>
                  <a:schemeClr val="bg1"/>
                </a:buClr>
                <a:buFont typeface="Wingdings" panose="05000000000000000000" pitchFamily="2" charset="2"/>
                <a:buChar char="Ø"/>
              </a:pPr>
              <a:r>
                <a:rPr lang="zh-CN" altLang="en-US" sz="1600" b="1" dirty="0" smtClean="0">
                  <a:solidFill>
                    <a:schemeClr val="bg1"/>
                  </a:solidFill>
                  <a:latin typeface="微软雅黑" pitchFamily="34" charset="-122"/>
                  <a:ea typeface="微软雅黑" pitchFamily="34" charset="-122"/>
                </a:rPr>
                <a:t>管理站</a:t>
              </a:r>
              <a:r>
                <a:rPr lang="zh-CN" altLang="en-US" sz="1600" b="1" dirty="0">
                  <a:solidFill>
                    <a:schemeClr val="bg1"/>
                  </a:solidFill>
                  <a:latin typeface="微软雅黑" pitchFamily="34" charset="-122"/>
                  <a:ea typeface="微软雅黑" pitchFamily="34" charset="-122"/>
                </a:rPr>
                <a:t>中的关键构件是</a:t>
              </a:r>
              <a:r>
                <a:rPr lang="zh-CN" altLang="en-US" sz="1600" b="1" dirty="0">
                  <a:solidFill>
                    <a:srgbClr val="FFFF00"/>
                  </a:solidFill>
                  <a:latin typeface="微软雅黑" pitchFamily="34" charset="-122"/>
                  <a:ea typeface="微软雅黑" pitchFamily="34" charset="-122"/>
                </a:rPr>
                <a:t>管理程序</a:t>
              </a:r>
              <a:r>
                <a:rPr lang="zh-CN" altLang="en-US" sz="1600" b="1" dirty="0">
                  <a:solidFill>
                    <a:schemeClr val="bg1"/>
                  </a:solidFill>
                  <a:latin typeface="微软雅黑" pitchFamily="34" charset="-122"/>
                  <a:ea typeface="微软雅黑" pitchFamily="34" charset="-122"/>
                </a:rPr>
                <a:t>。管理程序在运行时就成为</a:t>
              </a:r>
              <a:r>
                <a:rPr lang="zh-CN" altLang="en-US" sz="1600" b="1" dirty="0">
                  <a:solidFill>
                    <a:srgbClr val="FFFF00"/>
                  </a:solidFill>
                  <a:latin typeface="微软雅黑" pitchFamily="34" charset="-122"/>
                  <a:ea typeface="微软雅黑" pitchFamily="34" charset="-122"/>
                </a:rPr>
                <a:t>管理进程</a:t>
              </a:r>
              <a:r>
                <a:rPr lang="zh-CN" altLang="en-US" sz="1600" b="1" dirty="0">
                  <a:solidFill>
                    <a:schemeClr val="bg1"/>
                  </a:solidFill>
                  <a:latin typeface="微软雅黑" pitchFamily="34" charset="-122"/>
                  <a:ea typeface="微软雅黑" pitchFamily="34" charset="-122"/>
                </a:rPr>
                <a:t>。管理站（硬件）或管理程序（软件）都可称为</a:t>
              </a:r>
              <a:r>
                <a:rPr lang="zh-CN" altLang="en-US" sz="1600" b="1" dirty="0">
                  <a:solidFill>
                    <a:srgbClr val="FFFF00"/>
                  </a:solidFill>
                  <a:latin typeface="微软雅黑" pitchFamily="34" charset="-122"/>
                  <a:ea typeface="微软雅黑" pitchFamily="34" charset="-122"/>
                </a:rPr>
                <a:t>管理者</a:t>
              </a:r>
              <a:r>
                <a:rPr lang="en-US" altLang="zh-CN" sz="1600" b="1" dirty="0">
                  <a:solidFill>
                    <a:srgbClr val="FFFF00"/>
                  </a:solidFill>
                  <a:latin typeface="微软雅黑" pitchFamily="34" charset="-122"/>
                  <a:ea typeface="微软雅黑" pitchFamily="34" charset="-122"/>
                </a:rPr>
                <a:t>(manager)</a:t>
              </a:r>
              <a:r>
                <a:rPr lang="zh-CN" altLang="en-US" sz="1600" b="1" dirty="0">
                  <a:solidFill>
                    <a:srgbClr val="FFFF00"/>
                  </a:solidFill>
                  <a:latin typeface="微软雅黑" pitchFamily="34" charset="-122"/>
                  <a:ea typeface="微软雅黑" pitchFamily="34" charset="-122"/>
                </a:rPr>
                <a:t>或管理器</a:t>
              </a:r>
              <a:r>
                <a:rPr lang="zh-CN" altLang="en-US" sz="1600" b="1" dirty="0" smtClean="0">
                  <a:solidFill>
                    <a:schemeClr val="bg1"/>
                  </a:solidFill>
                  <a:latin typeface="微软雅黑" pitchFamily="34" charset="-122"/>
                  <a:ea typeface="微软雅黑" pitchFamily="34" charset="-122"/>
                </a:rPr>
                <a:t>。</a:t>
              </a:r>
              <a:endParaRPr lang="en-US" altLang="zh-CN" sz="1600" b="1" dirty="0" smtClean="0">
                <a:solidFill>
                  <a:schemeClr val="bg1"/>
                </a:solidFill>
                <a:latin typeface="微软雅黑" pitchFamily="34" charset="-122"/>
                <a:ea typeface="微软雅黑" pitchFamily="34" charset="-122"/>
              </a:endParaRPr>
            </a:p>
            <a:p>
              <a:pPr marL="285750" indent="-285750" eaLnBrk="0" hangingPunct="0">
                <a:lnSpc>
                  <a:spcPts val="2400"/>
                </a:lnSpc>
                <a:buClr>
                  <a:schemeClr val="bg1"/>
                </a:buClr>
                <a:buFont typeface="Wingdings" panose="05000000000000000000" pitchFamily="2" charset="2"/>
                <a:buChar char="Ø"/>
              </a:pPr>
              <a:r>
                <a:rPr lang="zh-CN" altLang="en-US" sz="1600" b="1" dirty="0">
                  <a:solidFill>
                    <a:srgbClr val="FFFF00"/>
                  </a:solidFill>
                  <a:latin typeface="微软雅黑" pitchFamily="34" charset="-122"/>
                  <a:ea typeface="微软雅黑" pitchFamily="34" charset="-122"/>
                </a:rPr>
                <a:t>网络管理员 </a:t>
              </a:r>
              <a:r>
                <a:rPr lang="en-US" altLang="zh-CN" sz="1600" b="1" dirty="0">
                  <a:solidFill>
                    <a:srgbClr val="FFFF00"/>
                  </a:solidFill>
                  <a:latin typeface="微软雅黑" pitchFamily="34" charset="-122"/>
                  <a:ea typeface="微软雅黑" pitchFamily="34" charset="-122"/>
                </a:rPr>
                <a:t>(administrator) </a:t>
              </a:r>
              <a:r>
                <a:rPr lang="zh-CN" altLang="en-US" sz="1600" b="1" dirty="0" smtClean="0">
                  <a:solidFill>
                    <a:schemeClr val="bg1"/>
                  </a:solidFill>
                  <a:latin typeface="微软雅黑" pitchFamily="34" charset="-122"/>
                  <a:ea typeface="微软雅黑" pitchFamily="34" charset="-122"/>
                </a:rPr>
                <a:t>指负责</a:t>
              </a:r>
              <a:r>
                <a:rPr lang="zh-CN" altLang="en-US" sz="1600" b="1" dirty="0">
                  <a:solidFill>
                    <a:schemeClr val="bg1"/>
                  </a:solidFill>
                  <a:latin typeface="微软雅黑" pitchFamily="34" charset="-122"/>
                  <a:ea typeface="微软雅黑" pitchFamily="34" charset="-122"/>
                </a:rPr>
                <a:t>网络管理的人员。</a:t>
              </a:r>
            </a:p>
            <a:p>
              <a:pPr eaLnBrk="0" hangingPunct="0">
                <a:lnSpc>
                  <a:spcPts val="2400"/>
                </a:lnSpc>
                <a:buClr>
                  <a:srgbClr val="0070C0"/>
                </a:buClr>
              </a:pPr>
              <a:endParaRPr lang="zh-CN" altLang="en-US" sz="1600" b="1" dirty="0">
                <a:solidFill>
                  <a:schemeClr val="bg1"/>
                </a:solidFill>
                <a:latin typeface="微软雅黑" pitchFamily="34" charset="-122"/>
                <a:ea typeface="微软雅黑" pitchFamily="34" charset="-122"/>
              </a:endParaRPr>
            </a:p>
          </p:txBody>
        </p:sp>
      </p:grpSp>
      <p:sp>
        <p:nvSpPr>
          <p:cNvPr id="211"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3038832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fad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网络管理的一般</a:t>
            </a:r>
            <a:r>
              <a:rPr lang="zh-CN" altLang="en-US" sz="2000" b="1" dirty="0" smtClean="0">
                <a:solidFill>
                  <a:schemeClr val="bg1"/>
                </a:solidFill>
                <a:latin typeface="微软雅黑" pitchFamily="34" charset="-122"/>
                <a:ea typeface="微软雅黑" pitchFamily="34" charset="-122"/>
              </a:rPr>
              <a:t>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a:latin typeface="微软雅黑" pitchFamily="34" charset="-122"/>
                <a:ea typeface="微软雅黑"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pitchFamily="34" charset="-122"/>
                <a:ea typeface="微软雅黑" pitchFamily="34" charset="-122"/>
              </a:rPr>
              <a:t>网络</a:t>
            </a:r>
          </a:p>
          <a:p>
            <a:pPr algn="ctr" eaLnBrk="1" hangingPunct="1"/>
            <a:r>
              <a:rPr kumimoji="1" lang="zh-CN" altLang="en-US" sz="1400" b="1" dirty="0">
                <a:latin typeface="微软雅黑" pitchFamily="34" charset="-122"/>
                <a:ea typeface="微软雅黑"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管理程序（运行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代理程序（运行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服务器程序）</a:t>
            </a:r>
          </a:p>
        </p:txBody>
      </p:sp>
      <p:pic>
        <p:nvPicPr>
          <p:cNvPr id="171" name="Picture 1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pic>
        <p:nvPicPr>
          <p:cNvPr id="174" name="Picture 17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itchFamily="34" charset="-122"/>
                <a:ea typeface="微软雅黑"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200" b="1" dirty="0">
                <a:latin typeface="微软雅黑" pitchFamily="34" charset="-122"/>
                <a:ea typeface="微软雅黑"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pic>
        <p:nvPicPr>
          <p:cNvPr id="205" name="图片 20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208" name="组合 207"/>
          <p:cNvGrpSpPr/>
          <p:nvPr/>
        </p:nvGrpSpPr>
        <p:grpSpPr>
          <a:xfrm>
            <a:off x="1089545" y="3420519"/>
            <a:ext cx="7270808" cy="1402336"/>
            <a:chOff x="1154100" y="3809876"/>
            <a:chExt cx="7270808" cy="1120199"/>
          </a:xfrm>
        </p:grpSpPr>
        <p:sp>
          <p:nvSpPr>
            <p:cNvPr id="209" name="对角圆角矩形 208"/>
            <p:cNvSpPr/>
            <p:nvPr/>
          </p:nvSpPr>
          <p:spPr>
            <a:xfrm>
              <a:off x="1154100" y="3809876"/>
              <a:ext cx="7270808" cy="99395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0" name="矩形 209"/>
            <p:cNvSpPr/>
            <p:nvPr/>
          </p:nvSpPr>
          <p:spPr>
            <a:xfrm>
              <a:off x="1234450" y="3872900"/>
              <a:ext cx="7063489" cy="1057175"/>
            </a:xfrm>
            <a:prstGeom prst="rect">
              <a:avLst/>
            </a:prstGeom>
          </p:spPr>
          <p:txBody>
            <a:bodyPr wrap="square">
              <a:spAutoFit/>
            </a:bodyPr>
            <a:lstStyle/>
            <a:p>
              <a:pPr marL="285750" indent="-285750" eaLnBrk="0" hangingPunct="0">
                <a:lnSpc>
                  <a:spcPts val="2400"/>
                </a:lnSpc>
                <a:buClr>
                  <a:schemeClr val="bg1"/>
                </a:buClr>
                <a:buFont typeface="Wingdings" panose="05000000000000000000" pitchFamily="2" charset="2"/>
                <a:buChar char="Ø"/>
              </a:pPr>
              <a:r>
                <a:rPr lang="zh-CN" altLang="en-US" sz="1600" b="1" dirty="0">
                  <a:solidFill>
                    <a:schemeClr val="bg1"/>
                  </a:solidFill>
                  <a:latin typeface="微软雅黑" pitchFamily="34" charset="-122"/>
                  <a:ea typeface="微软雅黑" pitchFamily="34" charset="-122"/>
                </a:rPr>
                <a:t>网络的每一个</a:t>
              </a:r>
              <a:r>
                <a:rPr lang="zh-CN" altLang="en-US" sz="1600" b="1" dirty="0">
                  <a:solidFill>
                    <a:srgbClr val="FFFF00"/>
                  </a:solidFill>
                  <a:latin typeface="微软雅黑" pitchFamily="34" charset="-122"/>
                  <a:ea typeface="微软雅黑" pitchFamily="34" charset="-122"/>
                </a:rPr>
                <a:t>被管</a:t>
              </a:r>
              <a:r>
                <a:rPr lang="zh-CN" altLang="en-US" sz="1600" b="1" dirty="0" smtClean="0">
                  <a:solidFill>
                    <a:srgbClr val="FFFF00"/>
                  </a:solidFill>
                  <a:latin typeface="微软雅黑" pitchFamily="34" charset="-122"/>
                  <a:ea typeface="微软雅黑" pitchFamily="34" charset="-122"/>
                </a:rPr>
                <a:t>设备</a:t>
              </a:r>
              <a:r>
                <a:rPr lang="zh-CN" altLang="en-US" sz="1600" b="1" dirty="0" smtClean="0">
                  <a:solidFill>
                    <a:schemeClr val="bg1"/>
                  </a:solidFill>
                  <a:latin typeface="微软雅黑" pitchFamily="34" charset="-122"/>
                  <a:ea typeface="微软雅黑" pitchFamily="34" charset="-122"/>
                </a:rPr>
                <a:t>可能</a:t>
              </a:r>
              <a:r>
                <a:rPr lang="zh-CN" altLang="en-US" sz="1600" b="1" dirty="0">
                  <a:solidFill>
                    <a:schemeClr val="bg1"/>
                  </a:solidFill>
                  <a:latin typeface="微软雅黑" pitchFamily="34" charset="-122"/>
                  <a:ea typeface="微软雅黑" pitchFamily="34" charset="-122"/>
                </a:rPr>
                <a:t>有多个</a:t>
              </a:r>
              <a:r>
                <a:rPr lang="zh-CN" altLang="en-US" sz="1600" b="1" dirty="0">
                  <a:solidFill>
                    <a:srgbClr val="FFFF00"/>
                  </a:solidFill>
                  <a:latin typeface="微软雅黑" pitchFamily="34" charset="-122"/>
                  <a:ea typeface="微软雅黑" pitchFamily="34" charset="-122"/>
                </a:rPr>
                <a:t>被管对象</a:t>
              </a:r>
              <a:r>
                <a:rPr lang="zh-CN" altLang="en-US" sz="1600" b="1" dirty="0">
                  <a:solidFill>
                    <a:schemeClr val="bg1"/>
                  </a:solidFill>
                  <a:latin typeface="微软雅黑" pitchFamily="34" charset="-122"/>
                  <a:ea typeface="微软雅黑" pitchFamily="34" charset="-122"/>
                </a:rPr>
                <a:t>。</a:t>
              </a:r>
            </a:p>
            <a:p>
              <a:pPr marL="285750" indent="-285750" eaLnBrk="0" hangingPunct="0">
                <a:lnSpc>
                  <a:spcPts val="2400"/>
                </a:lnSpc>
                <a:buClr>
                  <a:schemeClr val="bg1"/>
                </a:buClr>
                <a:buFont typeface="Wingdings" panose="05000000000000000000" pitchFamily="2" charset="2"/>
                <a:buChar char="Ø"/>
              </a:pPr>
              <a:r>
                <a:rPr lang="zh-CN" altLang="en-US" sz="1600" b="1" dirty="0">
                  <a:solidFill>
                    <a:schemeClr val="bg1"/>
                  </a:solidFill>
                  <a:latin typeface="微软雅黑" pitchFamily="34" charset="-122"/>
                  <a:ea typeface="微软雅黑" pitchFamily="34" charset="-122"/>
                </a:rPr>
                <a:t>被管设备有时可称为</a:t>
              </a:r>
              <a:r>
                <a:rPr lang="zh-CN" altLang="en-US" sz="1600" b="1" dirty="0">
                  <a:solidFill>
                    <a:srgbClr val="FFFF00"/>
                  </a:solidFill>
                  <a:latin typeface="微软雅黑" pitchFamily="34" charset="-122"/>
                  <a:ea typeface="微软雅黑" pitchFamily="34" charset="-122"/>
                </a:rPr>
                <a:t>网络元素或网元</a:t>
              </a:r>
              <a:r>
                <a:rPr lang="zh-CN" altLang="en-US" sz="1600" b="1" dirty="0">
                  <a:solidFill>
                    <a:schemeClr val="bg1"/>
                  </a:solidFill>
                  <a:latin typeface="微软雅黑" pitchFamily="34" charset="-122"/>
                  <a:ea typeface="微软雅黑" pitchFamily="34" charset="-122"/>
                </a:rPr>
                <a:t>。</a:t>
              </a:r>
            </a:p>
            <a:p>
              <a:pPr marL="285750" indent="-285750" eaLnBrk="0" hangingPunct="0">
                <a:lnSpc>
                  <a:spcPts val="2400"/>
                </a:lnSpc>
                <a:buClr>
                  <a:schemeClr val="bg1"/>
                </a:buClr>
                <a:buFont typeface="Wingdings" panose="05000000000000000000" pitchFamily="2" charset="2"/>
                <a:buChar char="Ø"/>
              </a:pPr>
              <a:r>
                <a:rPr lang="zh-CN" altLang="en-US" sz="1600" b="1" dirty="0">
                  <a:solidFill>
                    <a:schemeClr val="bg1"/>
                  </a:solidFill>
                  <a:latin typeface="微软雅黑" pitchFamily="34" charset="-122"/>
                  <a:ea typeface="微软雅黑" pitchFamily="34" charset="-122"/>
                </a:rPr>
                <a:t>在被管设备中</a:t>
              </a:r>
              <a:r>
                <a:rPr lang="zh-CN" altLang="en-US" sz="1600" b="1" dirty="0" smtClean="0">
                  <a:solidFill>
                    <a:schemeClr val="bg1"/>
                  </a:solidFill>
                  <a:latin typeface="微软雅黑" pitchFamily="34" charset="-122"/>
                  <a:ea typeface="微软雅黑" pitchFamily="34" charset="-122"/>
                </a:rPr>
                <a:t>也可能会</a:t>
              </a:r>
              <a:r>
                <a:rPr lang="zh-CN" altLang="en-US" sz="1600" b="1" dirty="0">
                  <a:solidFill>
                    <a:schemeClr val="bg1"/>
                  </a:solidFill>
                  <a:latin typeface="微软雅黑" pitchFamily="34" charset="-122"/>
                  <a:ea typeface="微软雅黑" pitchFamily="34" charset="-122"/>
                </a:rPr>
                <a:t>有一些</a:t>
              </a:r>
              <a:r>
                <a:rPr lang="zh-CN" altLang="en-US" sz="1600" b="1" dirty="0">
                  <a:solidFill>
                    <a:srgbClr val="FFFF00"/>
                  </a:solidFill>
                  <a:latin typeface="微软雅黑" pitchFamily="34" charset="-122"/>
                  <a:ea typeface="微软雅黑" pitchFamily="34" charset="-122"/>
                </a:rPr>
                <a:t>不能被管的对象</a:t>
              </a:r>
              <a:r>
                <a:rPr lang="zh-CN" altLang="en-US" sz="1600" b="1" dirty="0" smtClean="0">
                  <a:solidFill>
                    <a:schemeClr val="bg1"/>
                  </a:solidFill>
                  <a:latin typeface="微软雅黑" pitchFamily="34" charset="-122"/>
                  <a:ea typeface="微软雅黑" pitchFamily="34" charset="-122"/>
                </a:rPr>
                <a:t>。</a:t>
              </a:r>
              <a:endParaRPr lang="en-US" altLang="zh-CN" sz="1600" b="1" dirty="0" smtClean="0">
                <a:solidFill>
                  <a:schemeClr val="bg1"/>
                </a:solidFill>
                <a:latin typeface="微软雅黑" pitchFamily="34" charset="-122"/>
                <a:ea typeface="微软雅黑" pitchFamily="34" charset="-122"/>
              </a:endParaRPr>
            </a:p>
            <a:p>
              <a:pPr marL="285750" indent="-285750" eaLnBrk="0" hangingPunct="0">
                <a:lnSpc>
                  <a:spcPts val="2400"/>
                </a:lnSpc>
                <a:buClr>
                  <a:schemeClr val="bg1"/>
                </a:buClr>
                <a:buFont typeface="Wingdings" panose="05000000000000000000" pitchFamily="2" charset="2"/>
                <a:buChar char="Ø"/>
              </a:pPr>
              <a:endParaRPr lang="zh-CN" altLang="en-US" sz="1600" b="1" dirty="0">
                <a:solidFill>
                  <a:schemeClr val="bg1"/>
                </a:solidFill>
                <a:latin typeface="微软雅黑" pitchFamily="34" charset="-122"/>
                <a:ea typeface="微软雅黑" pitchFamily="34" charset="-122"/>
              </a:endParaRPr>
            </a:p>
          </p:txBody>
        </p:sp>
      </p:grpSp>
      <p:sp>
        <p:nvSpPr>
          <p:cNvPr id="211"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extLst>
      <p:ext uri="{BB962C8B-B14F-4D97-AF65-F5344CB8AC3E}">
        <p14:creationId xmlns:p14="http://schemas.microsoft.com/office/powerpoint/2010/main" val="37095608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fad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网络管理的一般</a:t>
            </a:r>
            <a:r>
              <a:rPr lang="zh-CN" altLang="en-US" sz="2000" b="1" dirty="0" smtClean="0">
                <a:solidFill>
                  <a:schemeClr val="bg1"/>
                </a:solidFill>
                <a:latin typeface="微软雅黑" pitchFamily="34" charset="-122"/>
                <a:ea typeface="微软雅黑" pitchFamily="34" charset="-122"/>
              </a:rPr>
              <a:t>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a:latin typeface="微软雅黑" pitchFamily="34" charset="-122"/>
                <a:ea typeface="微软雅黑"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pitchFamily="34" charset="-122"/>
                <a:ea typeface="微软雅黑" pitchFamily="34" charset="-122"/>
              </a:rPr>
              <a:t>网络</a:t>
            </a:r>
          </a:p>
          <a:p>
            <a:pPr algn="ctr" eaLnBrk="1" hangingPunct="1"/>
            <a:r>
              <a:rPr kumimoji="1" lang="zh-CN" altLang="en-US" sz="1400" b="1" dirty="0">
                <a:latin typeface="微软雅黑" pitchFamily="34" charset="-122"/>
                <a:ea typeface="微软雅黑"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管理程序（运行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代理程序（运行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服务器程序）</a:t>
            </a:r>
          </a:p>
        </p:txBody>
      </p:sp>
      <p:pic>
        <p:nvPicPr>
          <p:cNvPr id="171" name="Picture 1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pic>
        <p:nvPicPr>
          <p:cNvPr id="174" name="Picture 17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itchFamily="34" charset="-122"/>
                <a:ea typeface="微软雅黑"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200" b="1" dirty="0">
                <a:latin typeface="微软雅黑" pitchFamily="34" charset="-122"/>
                <a:ea typeface="微软雅黑"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pic>
        <p:nvPicPr>
          <p:cNvPr id="205" name="图片 20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208" name="组合 207"/>
          <p:cNvGrpSpPr/>
          <p:nvPr/>
        </p:nvGrpSpPr>
        <p:grpSpPr>
          <a:xfrm>
            <a:off x="1059166" y="3421018"/>
            <a:ext cx="7270808" cy="1206502"/>
            <a:chOff x="1154100" y="3809876"/>
            <a:chExt cx="7270808" cy="993952"/>
          </a:xfrm>
        </p:grpSpPr>
        <p:sp>
          <p:nvSpPr>
            <p:cNvPr id="209" name="对角圆角矩形 208"/>
            <p:cNvSpPr/>
            <p:nvPr/>
          </p:nvSpPr>
          <p:spPr>
            <a:xfrm>
              <a:off x="1154100" y="3809876"/>
              <a:ext cx="7270808" cy="99395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0" name="矩形 209"/>
            <p:cNvSpPr/>
            <p:nvPr/>
          </p:nvSpPr>
          <p:spPr>
            <a:xfrm>
              <a:off x="1234450" y="3872900"/>
              <a:ext cx="7140388" cy="836733"/>
            </a:xfrm>
            <a:prstGeom prst="rect">
              <a:avLst/>
            </a:prstGeom>
          </p:spPr>
          <p:txBody>
            <a:bodyPr wrap="square">
              <a:spAutoFit/>
            </a:bodyPr>
            <a:lstStyle/>
            <a:p>
              <a:pPr marL="285750" indent="-285750" hangingPunct="0">
                <a:lnSpc>
                  <a:spcPts val="2400"/>
                </a:lnSpc>
                <a:buClr>
                  <a:schemeClr val="bg1"/>
                </a:buClr>
                <a:buFont typeface="Wingdings" panose="05000000000000000000" pitchFamily="2" charset="2"/>
                <a:buChar char="Ø"/>
              </a:pPr>
              <a:r>
                <a:rPr lang="zh-CN" altLang="en-US" sz="1600" b="1" dirty="0">
                  <a:solidFill>
                    <a:schemeClr val="bg1"/>
                  </a:solidFill>
                  <a:latin typeface="微软雅黑" pitchFamily="34" charset="-122"/>
                  <a:ea typeface="微软雅黑" pitchFamily="34" charset="-122"/>
                </a:rPr>
                <a:t>在每一个被管设备中都要运行一个程序，以便和管理站中的管理程序进行通信</a:t>
              </a:r>
              <a:r>
                <a:rPr lang="zh-CN" altLang="en-US" sz="1600" b="1" dirty="0" smtClean="0">
                  <a:solidFill>
                    <a:schemeClr val="bg1"/>
                  </a:solidFill>
                  <a:latin typeface="微软雅黑" pitchFamily="34" charset="-122"/>
                  <a:ea typeface="微软雅黑" pitchFamily="34" charset="-122"/>
                </a:rPr>
                <a:t>。这些</a:t>
              </a:r>
              <a:r>
                <a:rPr lang="zh-CN" altLang="en-US" sz="1600" b="1" dirty="0">
                  <a:solidFill>
                    <a:schemeClr val="bg1"/>
                  </a:solidFill>
                  <a:latin typeface="微软雅黑" pitchFamily="34" charset="-122"/>
                  <a:ea typeface="微软雅黑" pitchFamily="34" charset="-122"/>
                </a:rPr>
                <a:t>运行着的程序叫做</a:t>
              </a:r>
              <a:r>
                <a:rPr lang="zh-CN" altLang="en-US" sz="1600" b="1" dirty="0">
                  <a:solidFill>
                    <a:srgbClr val="FFFF00"/>
                  </a:solidFill>
                  <a:latin typeface="微软雅黑" pitchFamily="34" charset="-122"/>
                  <a:ea typeface="微软雅黑" pitchFamily="34" charset="-122"/>
                </a:rPr>
                <a:t>网络管理代理程序</a:t>
              </a:r>
              <a:r>
                <a:rPr lang="zh-CN" altLang="en-US" sz="1600" b="1" dirty="0">
                  <a:solidFill>
                    <a:schemeClr val="bg1"/>
                  </a:solidFill>
                  <a:latin typeface="微软雅黑" pitchFamily="34" charset="-122"/>
                  <a:ea typeface="微软雅黑" pitchFamily="34" charset="-122"/>
                </a:rPr>
                <a:t>，或简称为</a:t>
              </a:r>
              <a:r>
                <a:rPr lang="zh-CN" altLang="en-US" sz="1600" b="1" dirty="0" smtClean="0">
                  <a:solidFill>
                    <a:srgbClr val="FFFF00"/>
                  </a:solidFill>
                  <a:latin typeface="微软雅黑" pitchFamily="34" charset="-122"/>
                  <a:ea typeface="微软雅黑" pitchFamily="34" charset="-122"/>
                </a:rPr>
                <a:t>代理</a:t>
              </a:r>
              <a:r>
                <a:rPr lang="en-US" altLang="zh-CN" sz="1600" b="1" dirty="0">
                  <a:solidFill>
                    <a:srgbClr val="FFFF00"/>
                  </a:solidFill>
                  <a:latin typeface="微软雅黑" pitchFamily="34" charset="-122"/>
                  <a:ea typeface="微软雅黑" pitchFamily="34" charset="-122"/>
                </a:rPr>
                <a:t>(agent</a:t>
              </a:r>
              <a:r>
                <a:rPr lang="en-US" altLang="zh-CN" sz="1600" b="1" dirty="0" smtClean="0">
                  <a:solidFill>
                    <a:srgbClr val="FFFF00"/>
                  </a:solidFill>
                  <a:latin typeface="微软雅黑" pitchFamily="34" charset="-122"/>
                  <a:ea typeface="微软雅黑" pitchFamily="34" charset="-122"/>
                </a:rPr>
                <a:t>)</a:t>
              </a:r>
              <a:r>
                <a:rPr lang="zh-CN" altLang="en-US" sz="1600" b="1" dirty="0" smtClean="0">
                  <a:solidFill>
                    <a:schemeClr val="bg1"/>
                  </a:solidFill>
                  <a:latin typeface="微软雅黑" pitchFamily="34" charset="-122"/>
                  <a:ea typeface="微软雅黑" pitchFamily="34" charset="-122"/>
                </a:rPr>
                <a:t>。</a:t>
              </a:r>
              <a:endParaRPr lang="zh-CN" altLang="en-US" sz="1600" b="1" dirty="0">
                <a:solidFill>
                  <a:schemeClr val="bg1"/>
                </a:solidFill>
                <a:latin typeface="微软雅黑" pitchFamily="34" charset="-122"/>
                <a:ea typeface="微软雅黑" pitchFamily="34" charset="-122"/>
              </a:endParaRPr>
            </a:p>
            <a:p>
              <a:pPr marL="285750" indent="-285750" eaLnBrk="0" hangingPunct="0">
                <a:lnSpc>
                  <a:spcPts val="2400"/>
                </a:lnSpc>
                <a:buClr>
                  <a:schemeClr val="bg1"/>
                </a:buClr>
                <a:buFont typeface="Wingdings" panose="05000000000000000000" pitchFamily="2" charset="2"/>
                <a:buChar char="Ø"/>
              </a:pPr>
              <a:r>
                <a:rPr lang="zh-CN" altLang="en-US" sz="1600" b="1" dirty="0">
                  <a:solidFill>
                    <a:schemeClr val="bg1"/>
                  </a:solidFill>
                  <a:latin typeface="微软雅黑" pitchFamily="34" charset="-122"/>
                  <a:ea typeface="微软雅黑" pitchFamily="34" charset="-122"/>
                </a:rPr>
                <a:t>代理程序在管理程序的命令和控制下在被管设备上采取本地的行动</a:t>
              </a:r>
              <a:r>
                <a:rPr lang="zh-CN" altLang="en-US" sz="1600" b="1" dirty="0" smtClean="0">
                  <a:solidFill>
                    <a:schemeClr val="bg1"/>
                  </a:solidFill>
                  <a:latin typeface="微软雅黑" pitchFamily="34" charset="-122"/>
                  <a:ea typeface="微软雅黑" pitchFamily="34" charset="-122"/>
                </a:rPr>
                <a:t>。</a:t>
              </a:r>
              <a:endParaRPr lang="zh-CN" altLang="en-US" sz="1600" b="1" dirty="0">
                <a:solidFill>
                  <a:schemeClr val="bg1"/>
                </a:solidFill>
                <a:latin typeface="微软雅黑" pitchFamily="34" charset="-122"/>
                <a:ea typeface="微软雅黑" pitchFamily="34" charset="-122"/>
              </a:endParaRPr>
            </a:p>
          </p:txBody>
        </p:sp>
      </p:grpSp>
      <p:sp>
        <p:nvSpPr>
          <p:cNvPr id="211"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extLst>
      <p:ext uri="{BB962C8B-B14F-4D97-AF65-F5344CB8AC3E}">
        <p14:creationId xmlns:p14="http://schemas.microsoft.com/office/powerpoint/2010/main" val="31848342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fad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网络管理的一般</a:t>
            </a:r>
            <a:r>
              <a:rPr lang="zh-CN" altLang="en-US" sz="2000" b="1" dirty="0" smtClean="0">
                <a:solidFill>
                  <a:schemeClr val="bg1"/>
                </a:solidFill>
                <a:latin typeface="微软雅黑" pitchFamily="34" charset="-122"/>
                <a:ea typeface="微软雅黑" pitchFamily="34" charset="-122"/>
              </a:rPr>
              <a:t>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a:latin typeface="微软雅黑" pitchFamily="34" charset="-122"/>
                <a:ea typeface="微软雅黑"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pitchFamily="34" charset="-122"/>
                <a:ea typeface="微软雅黑" pitchFamily="34" charset="-122"/>
              </a:rPr>
              <a:t>网络</a:t>
            </a:r>
          </a:p>
          <a:p>
            <a:pPr algn="ctr" eaLnBrk="1" hangingPunct="1"/>
            <a:r>
              <a:rPr kumimoji="1" lang="zh-CN" altLang="en-US" sz="1400" b="1" dirty="0">
                <a:latin typeface="微软雅黑" pitchFamily="34" charset="-122"/>
                <a:ea typeface="微软雅黑"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管理程序（运行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代理程序（运行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服务器程序）</a:t>
            </a:r>
          </a:p>
        </p:txBody>
      </p:sp>
      <p:pic>
        <p:nvPicPr>
          <p:cNvPr id="171" name="Picture 1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pic>
        <p:nvPicPr>
          <p:cNvPr id="174" name="Picture 17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itchFamily="34" charset="-122"/>
                <a:ea typeface="微软雅黑"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200" b="1" dirty="0">
                <a:latin typeface="微软雅黑" pitchFamily="34" charset="-122"/>
                <a:ea typeface="微软雅黑"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pic>
        <p:nvPicPr>
          <p:cNvPr id="205" name="图片 20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a:ex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208" name="组合 207"/>
          <p:cNvGrpSpPr/>
          <p:nvPr/>
        </p:nvGrpSpPr>
        <p:grpSpPr>
          <a:xfrm>
            <a:off x="1054243" y="3076655"/>
            <a:ext cx="7270808" cy="1507801"/>
            <a:chOff x="1154100" y="3809876"/>
            <a:chExt cx="7270808" cy="993952"/>
          </a:xfrm>
        </p:grpSpPr>
        <p:sp>
          <p:nvSpPr>
            <p:cNvPr id="209" name="对角圆角矩形 208"/>
            <p:cNvSpPr/>
            <p:nvPr/>
          </p:nvSpPr>
          <p:spPr>
            <a:xfrm>
              <a:off x="1154100" y="3809876"/>
              <a:ext cx="7270808" cy="99395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0" name="矩形 209"/>
            <p:cNvSpPr/>
            <p:nvPr/>
          </p:nvSpPr>
          <p:spPr>
            <a:xfrm>
              <a:off x="1234450" y="3872900"/>
              <a:ext cx="7190458" cy="872419"/>
            </a:xfrm>
            <a:prstGeom prst="rect">
              <a:avLst/>
            </a:prstGeom>
          </p:spPr>
          <p:txBody>
            <a:bodyPr wrap="square">
              <a:spAutoFit/>
            </a:bodyPr>
            <a:lstStyle/>
            <a:p>
              <a:pPr marL="285750" indent="-285750" hangingPunct="0">
                <a:lnSpc>
                  <a:spcPts val="2400"/>
                </a:lnSpc>
                <a:buClr>
                  <a:schemeClr val="bg1"/>
                </a:buClr>
                <a:buFont typeface="Wingdings" panose="05000000000000000000" pitchFamily="2" charset="2"/>
                <a:buChar char="Ø"/>
              </a:pPr>
              <a:r>
                <a:rPr lang="zh-CN" altLang="en-US" sz="1600" b="1" dirty="0">
                  <a:solidFill>
                    <a:srgbClr val="FFFF00"/>
                  </a:solidFill>
                  <a:latin typeface="微软雅黑" pitchFamily="34" charset="-122"/>
                  <a:ea typeface="微软雅黑" pitchFamily="34" charset="-122"/>
                </a:rPr>
                <a:t>网络管理协议简称为网管</a:t>
              </a:r>
              <a:r>
                <a:rPr lang="zh-CN" altLang="en-US" sz="1600" b="1" dirty="0" smtClean="0">
                  <a:solidFill>
                    <a:srgbClr val="FFFF00"/>
                  </a:solidFill>
                  <a:latin typeface="微软雅黑" pitchFamily="34" charset="-122"/>
                  <a:ea typeface="微软雅黑" pitchFamily="34" charset="-122"/>
                </a:rPr>
                <a:t>协议</a:t>
              </a:r>
              <a:r>
                <a:rPr lang="zh-CN" altLang="en-US" sz="1600" b="1" dirty="0" smtClean="0">
                  <a:solidFill>
                    <a:schemeClr val="bg1"/>
                  </a:solidFill>
                  <a:latin typeface="微软雅黑" pitchFamily="34" charset="-122"/>
                  <a:ea typeface="微软雅黑" pitchFamily="34" charset="-122"/>
                </a:rPr>
                <a:t>，是</a:t>
              </a:r>
              <a:r>
                <a:rPr lang="zh-CN" altLang="en-US" sz="1600" b="1" dirty="0">
                  <a:solidFill>
                    <a:schemeClr val="bg1"/>
                  </a:solidFill>
                  <a:latin typeface="微软雅黑" pitchFamily="34" charset="-122"/>
                  <a:ea typeface="微软雅黑" pitchFamily="34" charset="-122"/>
                </a:rPr>
                <a:t>管理程序和代理程序之间进行通信的</a:t>
              </a:r>
              <a:r>
                <a:rPr lang="zh-CN" altLang="en-US" sz="1600" b="1" dirty="0">
                  <a:solidFill>
                    <a:srgbClr val="FFFF00"/>
                  </a:solidFill>
                  <a:latin typeface="微软雅黑" pitchFamily="34" charset="-122"/>
                  <a:ea typeface="微软雅黑" pitchFamily="34" charset="-122"/>
                </a:rPr>
                <a:t>规则</a:t>
              </a:r>
              <a:r>
                <a:rPr lang="zh-CN" altLang="en-US" sz="1600" b="1" dirty="0">
                  <a:solidFill>
                    <a:schemeClr val="bg1"/>
                  </a:solidFill>
                  <a:latin typeface="微软雅黑" pitchFamily="34" charset="-122"/>
                  <a:ea typeface="微软雅黑" pitchFamily="34" charset="-122"/>
                </a:rPr>
                <a:t>。</a:t>
              </a:r>
            </a:p>
            <a:p>
              <a:pPr marL="285750" indent="-285750" hangingPunct="0">
                <a:lnSpc>
                  <a:spcPts val="2400"/>
                </a:lnSpc>
                <a:buClr>
                  <a:schemeClr val="bg1"/>
                </a:buClr>
                <a:buFont typeface="Wingdings" panose="05000000000000000000" pitchFamily="2" charset="2"/>
                <a:buChar char="Ø"/>
              </a:pPr>
              <a:r>
                <a:rPr lang="zh-CN" altLang="en-US" sz="1600" b="1" dirty="0">
                  <a:solidFill>
                    <a:srgbClr val="FFFF00"/>
                  </a:solidFill>
                  <a:latin typeface="微软雅黑" pitchFamily="34" charset="-122"/>
                  <a:ea typeface="微软雅黑" pitchFamily="34" charset="-122"/>
                </a:rPr>
                <a:t>网络管理员利用网络管理协议，通过管理站对网络中的被管设备进行管理。 </a:t>
              </a:r>
            </a:p>
            <a:p>
              <a:pPr marL="285750" indent="-285750" hangingPunct="0">
                <a:lnSpc>
                  <a:spcPts val="2400"/>
                </a:lnSpc>
                <a:buClr>
                  <a:schemeClr val="bg1"/>
                </a:buClr>
                <a:buFont typeface="Wingdings" panose="05000000000000000000" pitchFamily="2" charset="2"/>
                <a:buChar char="Ø"/>
              </a:pPr>
              <a:r>
                <a:rPr lang="zh-CN" altLang="en-US" sz="1600" b="1" dirty="0" smtClean="0">
                  <a:solidFill>
                    <a:schemeClr val="bg1"/>
                  </a:solidFill>
                  <a:latin typeface="微软雅黑" pitchFamily="34" charset="-122"/>
                  <a:ea typeface="微软雅黑" pitchFamily="34" charset="-122"/>
                </a:rPr>
                <a:t>网</a:t>
              </a:r>
              <a:r>
                <a:rPr lang="zh-CN" altLang="en-US" sz="1600" b="1" dirty="0">
                  <a:solidFill>
                    <a:schemeClr val="bg1"/>
                  </a:solidFill>
                  <a:latin typeface="微软雅黑" pitchFamily="34" charset="-122"/>
                  <a:ea typeface="微软雅黑" pitchFamily="34" charset="-122"/>
                </a:rPr>
                <a:t>管协议本身不管理网络。</a:t>
              </a:r>
            </a:p>
          </p:txBody>
        </p:sp>
      </p:grpSp>
      <p:sp>
        <p:nvSpPr>
          <p:cNvPr id="211"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extLst>
      <p:ext uri="{BB962C8B-B14F-4D97-AF65-F5344CB8AC3E}">
        <p14:creationId xmlns:p14="http://schemas.microsoft.com/office/powerpoint/2010/main" val="7832737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fad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6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972583" y="577451"/>
            <a:ext cx="3217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简单网络管理</a:t>
            </a:r>
            <a:r>
              <a:rPr lang="zh-CN" altLang="en-US" sz="2000" b="1" dirty="0" smtClean="0">
                <a:solidFill>
                  <a:schemeClr val="bg1"/>
                </a:solidFill>
                <a:latin typeface="微软雅黑" pitchFamily="34" charset="-122"/>
                <a:ea typeface="微软雅黑" pitchFamily="34" charset="-122"/>
              </a:rPr>
              <a:t>协议 </a:t>
            </a:r>
            <a:r>
              <a:rPr lang="en-US" altLang="zh-CN" sz="2000" b="1" dirty="0" smtClean="0">
                <a:solidFill>
                  <a:schemeClr val="bg1"/>
                </a:solidFill>
                <a:latin typeface="微软雅黑" pitchFamily="34" charset="-122"/>
                <a:ea typeface="微软雅黑" pitchFamily="34" charset="-122"/>
              </a:rPr>
              <a:t>SNMP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1752"/>
            <a:ext cx="790345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简单网络管理</a:t>
            </a:r>
            <a:r>
              <a:rPr lang="zh-CN" altLang="en-US" sz="2000" b="1" dirty="0" smtClean="0">
                <a:solidFill>
                  <a:srgbClr val="C00000"/>
                </a:solidFill>
                <a:latin typeface="微软雅黑" pitchFamily="34" charset="-122"/>
                <a:ea typeface="微软雅黑" pitchFamily="34" charset="-122"/>
              </a:rPr>
              <a:t>协议 </a:t>
            </a:r>
            <a:r>
              <a:rPr lang="en-US" altLang="zh-CN" sz="2000" b="1" dirty="0" smtClean="0">
                <a:solidFill>
                  <a:srgbClr val="C00000"/>
                </a:solidFill>
                <a:latin typeface="微软雅黑" pitchFamily="34" charset="-122"/>
                <a:ea typeface="微软雅黑" pitchFamily="34" charset="-122"/>
              </a:rPr>
              <a:t>SNMP </a:t>
            </a:r>
            <a:r>
              <a:rPr lang="en-US" altLang="zh-CN" sz="2000" b="1" dirty="0">
                <a:latin typeface="微软雅黑" pitchFamily="34" charset="-122"/>
                <a:ea typeface="微软雅黑" pitchFamily="34" charset="-122"/>
              </a:rPr>
              <a:t>(Simple Network Management Protocol</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中的管理程序</a:t>
            </a:r>
            <a:r>
              <a:rPr lang="zh-CN" altLang="en-US" sz="2000" b="1" dirty="0">
                <a:latin typeface="微软雅黑" pitchFamily="34" charset="-122"/>
                <a:ea typeface="微软雅黑" pitchFamily="34" charset="-122"/>
              </a:rPr>
              <a:t>和代理程序按</a:t>
            </a:r>
            <a:r>
              <a:rPr lang="zh-CN" altLang="en-US" sz="2000" b="1" dirty="0" smtClean="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方式工作。</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管理程序运行 </a:t>
            </a:r>
            <a:r>
              <a:rPr lang="en-US" altLang="zh-CN" sz="2000" b="1" dirty="0">
                <a:solidFill>
                  <a:srgbClr val="C00000"/>
                </a:solidFill>
                <a:latin typeface="微软雅黑" pitchFamily="34" charset="-122"/>
                <a:ea typeface="微软雅黑" pitchFamily="34" charset="-122"/>
              </a:rPr>
              <a:t>SNMP </a:t>
            </a:r>
            <a:r>
              <a:rPr lang="zh-CN" altLang="en-US" sz="2000" b="1" dirty="0">
                <a:solidFill>
                  <a:srgbClr val="C00000"/>
                </a:solidFill>
                <a:latin typeface="微软雅黑" pitchFamily="34" charset="-122"/>
                <a:ea typeface="微软雅黑" pitchFamily="34" charset="-122"/>
              </a:rPr>
              <a:t>客户程序，</a:t>
            </a:r>
            <a:r>
              <a:rPr lang="zh-CN" altLang="en-US" sz="2000" b="1" dirty="0">
                <a:latin typeface="微软雅黑" pitchFamily="34" charset="-122"/>
                <a:ea typeface="微软雅黑" pitchFamily="34" charset="-122"/>
              </a:rPr>
              <a:t>向某个代理程序发出</a:t>
            </a:r>
            <a:r>
              <a:rPr lang="zh-CN" altLang="en-US" sz="2000" b="1" dirty="0" smtClean="0">
                <a:latin typeface="微软雅黑" pitchFamily="34" charset="-122"/>
                <a:ea typeface="微软雅黑" pitchFamily="34" charset="-122"/>
              </a:rPr>
              <a:t>请求或者命令。</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代理</a:t>
            </a:r>
            <a:r>
              <a:rPr lang="zh-CN" altLang="en-US" sz="2000" b="1" dirty="0">
                <a:latin typeface="微软雅黑" pitchFamily="34" charset="-122"/>
                <a:ea typeface="微软雅黑" pitchFamily="34" charset="-122"/>
              </a:rPr>
              <a:t>程序运行 </a:t>
            </a:r>
            <a:r>
              <a:rPr lang="en-US" altLang="zh-CN" sz="2000" b="1" dirty="0">
                <a:solidFill>
                  <a:srgbClr val="C00000"/>
                </a:solidFill>
                <a:latin typeface="微软雅黑" pitchFamily="34" charset="-122"/>
                <a:ea typeface="微软雅黑" pitchFamily="34" charset="-122"/>
              </a:rPr>
              <a:t>SNMP </a:t>
            </a:r>
            <a:r>
              <a:rPr lang="zh-CN" altLang="en-US" sz="2000" b="1" dirty="0">
                <a:solidFill>
                  <a:srgbClr val="C00000"/>
                </a:solidFill>
                <a:latin typeface="微软雅黑" pitchFamily="34" charset="-122"/>
                <a:ea typeface="微软雅黑" pitchFamily="34" charset="-122"/>
              </a:rPr>
              <a:t>服务器程序，</a:t>
            </a:r>
            <a:r>
              <a:rPr lang="zh-CN" altLang="en-US" sz="2000" b="1" dirty="0">
                <a:latin typeface="微软雅黑" pitchFamily="34" charset="-122"/>
                <a:ea typeface="微软雅黑" pitchFamily="34" charset="-122"/>
              </a:rPr>
              <a:t>返回</a:t>
            </a:r>
            <a:r>
              <a:rPr lang="zh-CN" altLang="en-US" sz="2000" b="1" dirty="0" smtClean="0">
                <a:latin typeface="微软雅黑" pitchFamily="34" charset="-122"/>
                <a:ea typeface="微软雅黑" pitchFamily="34" charset="-122"/>
              </a:rPr>
              <a:t>响应 </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或</a:t>
            </a:r>
            <a:r>
              <a:rPr lang="zh-CN" altLang="en-US" sz="2000" b="1" dirty="0">
                <a:latin typeface="微软雅黑" pitchFamily="34" charset="-122"/>
                <a:ea typeface="微软雅黑" pitchFamily="34" charset="-122"/>
              </a:rPr>
              <a:t>执行某个</a:t>
            </a:r>
            <a:r>
              <a:rPr lang="zh-CN" altLang="en-US" sz="2000" b="1" dirty="0" smtClean="0">
                <a:latin typeface="微软雅黑" pitchFamily="34" charset="-122"/>
                <a:ea typeface="微软雅黑" pitchFamily="34" charset="-122"/>
              </a:rPr>
              <a:t>动作</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在网管系统</a:t>
            </a:r>
            <a:r>
              <a:rPr lang="zh-CN" altLang="en-US" sz="2000" b="1" dirty="0" smtClean="0">
                <a:solidFill>
                  <a:srgbClr val="0000FF"/>
                </a:solidFill>
                <a:latin typeface="微软雅黑" pitchFamily="34" charset="-122"/>
                <a:ea typeface="微软雅黑" pitchFamily="34" charset="-122"/>
              </a:rPr>
              <a:t>中，往往</a:t>
            </a:r>
            <a:r>
              <a:rPr lang="zh-CN" altLang="en-US" sz="2000" b="1" dirty="0">
                <a:solidFill>
                  <a:srgbClr val="0000FF"/>
                </a:solidFill>
                <a:latin typeface="微软雅黑" pitchFamily="34" charset="-122"/>
                <a:ea typeface="微软雅黑" pitchFamily="34" charset="-122"/>
              </a:rPr>
              <a:t>是一个（或少数几个）客户程序与很多的服务器程序进行</a:t>
            </a:r>
            <a:r>
              <a:rPr lang="zh-CN" altLang="en-US" sz="2000" b="1" dirty="0" smtClean="0">
                <a:solidFill>
                  <a:srgbClr val="0000FF"/>
                </a:solidFill>
                <a:latin typeface="微软雅黑" pitchFamily="34" charset="-122"/>
                <a:ea typeface="微软雅黑" pitchFamily="34" charset="-122"/>
              </a:rPr>
              <a:t>交互，从而管理网络内的大量被管设备。</a:t>
            </a:r>
            <a:endParaRPr lang="zh-CN" altLang="en-US" sz="2000" b="1" dirty="0">
              <a:solidFill>
                <a:srgbClr val="0000FF"/>
              </a:solidFill>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5133907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24"/>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406997" y="577713"/>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smtClean="0">
                <a:solidFill>
                  <a:schemeClr val="bg1"/>
                </a:solidFill>
                <a:latin typeface="微软雅黑" pitchFamily="34" charset="-122"/>
                <a:ea typeface="微软雅黑" pitchFamily="34" charset="-122"/>
              </a:rPr>
              <a:t>的基本功能</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201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最</a:t>
            </a:r>
            <a:r>
              <a:rPr lang="zh-CN" altLang="en-US" sz="2000" b="1" dirty="0">
                <a:latin typeface="微软雅黑" pitchFamily="34" charset="-122"/>
                <a:ea typeface="微软雅黑" pitchFamily="34" charset="-122"/>
              </a:rPr>
              <a:t>重要的</a:t>
            </a:r>
            <a:r>
              <a:rPr lang="zh-CN" altLang="en-US" sz="2000" b="1" dirty="0" smtClean="0">
                <a:latin typeface="微软雅黑" pitchFamily="34" charset="-122"/>
                <a:ea typeface="微软雅黑" pitchFamily="34" charset="-122"/>
              </a:rPr>
              <a:t>指导思想：</a:t>
            </a:r>
            <a:r>
              <a:rPr lang="zh-CN" altLang="en-US" sz="2000" b="1" dirty="0" smtClean="0">
                <a:solidFill>
                  <a:srgbClr val="C00000"/>
                </a:solidFill>
                <a:latin typeface="微软雅黑" pitchFamily="34" charset="-122"/>
                <a:ea typeface="微软雅黑" pitchFamily="34" charset="-122"/>
              </a:rPr>
              <a:t>尽可能</a:t>
            </a:r>
            <a:r>
              <a:rPr lang="zh-CN" altLang="en-US" sz="2000" b="1" dirty="0">
                <a:solidFill>
                  <a:srgbClr val="C00000"/>
                </a:solidFill>
                <a:latin typeface="微软雅黑" pitchFamily="34" charset="-122"/>
                <a:ea typeface="微软雅黑" pitchFamily="34" charset="-122"/>
              </a:rPr>
              <a:t>简单。</a:t>
            </a: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基本功能：</a:t>
            </a:r>
            <a:endParaRPr lang="en-US" altLang="zh-CN" sz="2000" b="1" dirty="0" smtClean="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smtClean="0">
                <a:latin typeface="微软雅黑" pitchFamily="34" charset="-122"/>
                <a:ea typeface="微软雅黑" pitchFamily="34" charset="-122"/>
              </a:rPr>
              <a:t>监视</a:t>
            </a:r>
            <a:r>
              <a:rPr lang="zh-CN" altLang="en-US" sz="2000" b="1" dirty="0">
                <a:latin typeface="微软雅黑" pitchFamily="34" charset="-122"/>
                <a:ea typeface="微软雅黑" pitchFamily="34" charset="-122"/>
              </a:rPr>
              <a:t>网络</a:t>
            </a:r>
            <a:r>
              <a:rPr lang="zh-CN" altLang="en-US" sz="2000" b="1" dirty="0" smtClean="0">
                <a:latin typeface="微软雅黑" pitchFamily="34" charset="-122"/>
                <a:ea typeface="微软雅黑" pitchFamily="34" charset="-122"/>
              </a:rPr>
              <a:t>性能</a:t>
            </a:r>
            <a:endParaRPr lang="en-US" altLang="zh-CN" sz="2000" b="1" dirty="0" smtClean="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smtClean="0">
                <a:latin typeface="微软雅黑" pitchFamily="34" charset="-122"/>
                <a:ea typeface="微软雅黑" pitchFamily="34" charset="-122"/>
              </a:rPr>
              <a:t>检测</a:t>
            </a:r>
            <a:r>
              <a:rPr lang="zh-CN" altLang="en-US" sz="2000" b="1" dirty="0">
                <a:latin typeface="微软雅黑" pitchFamily="34" charset="-122"/>
                <a:ea typeface="微软雅黑" pitchFamily="34" charset="-122"/>
              </a:rPr>
              <a:t>分析网络</a:t>
            </a:r>
            <a:r>
              <a:rPr lang="zh-CN" altLang="en-US" sz="2000" b="1" dirty="0" smtClean="0">
                <a:latin typeface="微软雅黑" pitchFamily="34" charset="-122"/>
                <a:ea typeface="微软雅黑" pitchFamily="34" charset="-122"/>
              </a:rPr>
              <a:t>差错</a:t>
            </a:r>
            <a:endParaRPr lang="en-US" altLang="zh-CN" sz="2000" b="1" dirty="0" smtClean="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smtClean="0">
                <a:latin typeface="微软雅黑" pitchFamily="34" charset="-122"/>
                <a:ea typeface="微软雅黑" pitchFamily="34" charset="-122"/>
              </a:rPr>
              <a:t>配置</a:t>
            </a:r>
            <a:r>
              <a:rPr lang="zh-CN" altLang="en-US" sz="2000" b="1" dirty="0">
                <a:latin typeface="微软雅黑" pitchFamily="34" charset="-122"/>
                <a:ea typeface="微软雅黑" pitchFamily="34" charset="-122"/>
              </a:rPr>
              <a:t>网络设备等</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grpSp>
        <p:nvGrpSpPr>
          <p:cNvPr id="5" name="组合 4"/>
          <p:cNvGrpSpPr/>
          <p:nvPr/>
        </p:nvGrpSpPr>
        <p:grpSpPr>
          <a:xfrm>
            <a:off x="815182" y="3291183"/>
            <a:ext cx="7270808" cy="1206008"/>
            <a:chOff x="1154100" y="3809877"/>
            <a:chExt cx="7270808" cy="795008"/>
          </a:xfrm>
        </p:grpSpPr>
        <p:sp>
          <p:nvSpPr>
            <p:cNvPr id="6" name="对角圆角矩形 5"/>
            <p:cNvSpPr/>
            <p:nvPr/>
          </p:nvSpPr>
          <p:spPr>
            <a:xfrm>
              <a:off x="1154100" y="3809877"/>
              <a:ext cx="7270808" cy="795008"/>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482570" y="3948251"/>
              <a:ext cx="6587231" cy="534272"/>
            </a:xfrm>
            <a:prstGeom prst="rect">
              <a:avLst/>
            </a:prstGeom>
          </p:spPr>
          <p:txBody>
            <a:bodyPr wrap="square">
              <a:spAutoFit/>
            </a:bodyPr>
            <a:lstStyle/>
            <a:p>
              <a:pPr hangingPunct="0">
                <a:lnSpc>
                  <a:spcPts val="2800"/>
                </a:lnSpc>
                <a:buClr>
                  <a:srgbClr val="0070C0"/>
                </a:buClr>
              </a:pPr>
              <a:r>
                <a:rPr lang="zh-CN" altLang="en-US" sz="2000" b="1" dirty="0" smtClean="0">
                  <a:solidFill>
                    <a:schemeClr val="bg1"/>
                  </a:solidFill>
                  <a:latin typeface="微软雅黑" pitchFamily="34" charset="-122"/>
                  <a:ea typeface="微软雅黑" pitchFamily="34" charset="-122"/>
                </a:rPr>
                <a:t>为了管理</a:t>
              </a:r>
              <a:r>
                <a:rPr lang="zh-CN" altLang="en-US" sz="2000" b="1" dirty="0">
                  <a:solidFill>
                    <a:schemeClr val="bg1"/>
                  </a:solidFill>
                  <a:latin typeface="微软雅黑" pitchFamily="34" charset="-122"/>
                  <a:ea typeface="微软雅黑" pitchFamily="34" charset="-122"/>
                </a:rPr>
                <a:t>某个对象</a:t>
              </a:r>
              <a:r>
                <a:rPr lang="zh-CN" altLang="en-US" sz="2000" b="1" dirty="0" smtClean="0">
                  <a:solidFill>
                    <a:schemeClr val="bg1"/>
                  </a:solidFill>
                  <a:latin typeface="微软雅黑" pitchFamily="34" charset="-122"/>
                  <a:ea typeface="微软雅黑" pitchFamily="34" charset="-122"/>
                </a:rPr>
                <a:t>，必然</a:t>
              </a:r>
              <a:r>
                <a:rPr lang="zh-CN" altLang="en-US" sz="2000" b="1" dirty="0">
                  <a:solidFill>
                    <a:schemeClr val="bg1"/>
                  </a:solidFill>
                  <a:latin typeface="微软雅黑" pitchFamily="34" charset="-122"/>
                  <a:ea typeface="微软雅黑" pitchFamily="34" charset="-122"/>
                </a:rPr>
                <a:t>会给该对象添加一些软件或硬件，但这种</a:t>
              </a:r>
              <a:r>
                <a:rPr lang="zh-CN" altLang="en-US" sz="2000" b="1" dirty="0" smtClean="0">
                  <a:solidFill>
                    <a:schemeClr val="bg1"/>
                  </a:solidFill>
                  <a:latin typeface="微软雅黑" pitchFamily="34" charset="-122"/>
                  <a:ea typeface="微软雅黑" pitchFamily="34" charset="-122"/>
                </a:rPr>
                <a:t>“添加”应当对</a:t>
              </a:r>
              <a:r>
                <a:rPr lang="zh-CN" altLang="en-US" sz="2000" b="1" dirty="0">
                  <a:solidFill>
                    <a:schemeClr val="bg1"/>
                  </a:solidFill>
                  <a:latin typeface="微软雅黑" pitchFamily="34" charset="-122"/>
                  <a:ea typeface="微软雅黑" pitchFamily="34" charset="-122"/>
                </a:rPr>
                <a:t>原有对象的影响尽量小些</a:t>
              </a:r>
              <a:r>
                <a:rPr lang="zh-CN" altLang="en-US" sz="2000" b="1" dirty="0" smtClean="0">
                  <a:solidFill>
                    <a:schemeClr val="bg1"/>
                  </a:solidFill>
                  <a:latin typeface="微软雅黑" pitchFamily="34" charset="-122"/>
                  <a:ea typeface="微软雅黑" pitchFamily="34" charset="-122"/>
                </a:rPr>
                <a:t>。</a:t>
              </a:r>
              <a:endParaRPr lang="zh-CN" altLang="en-US" sz="2000" b="1" dirty="0">
                <a:solidFill>
                  <a:schemeClr val="bg1"/>
                </a:solidFill>
                <a:latin typeface="微软雅黑" pitchFamily="34" charset="-122"/>
                <a:ea typeface="微软雅黑" pitchFamily="34" charset="-122"/>
              </a:endParaRPr>
            </a:p>
          </p:txBody>
        </p:sp>
      </p:grpSp>
      <p:sp>
        <p:nvSpPr>
          <p:cNvPr id="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9154277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2575710"/>
            <a:ext cx="8048776" cy="1657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099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894035" y="577781"/>
            <a:ext cx="33746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的管理站和委托代理</a:t>
            </a:r>
          </a:p>
        </p:txBody>
      </p:sp>
      <p:sp>
        <p:nvSpPr>
          <p:cNvPr id="4" name="Rectangle 68"/>
          <p:cNvSpPr>
            <a:spLocks noChangeArrowheads="1"/>
          </p:cNvSpPr>
          <p:nvPr/>
        </p:nvSpPr>
        <p:spPr bwMode="auto">
          <a:xfrm>
            <a:off x="556963" y="972082"/>
            <a:ext cx="8258564"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网管</a:t>
            </a:r>
            <a:r>
              <a:rPr lang="zh-CN" altLang="en-US" sz="2000" b="1" dirty="0" smtClean="0">
                <a:latin typeface="微软雅黑" pitchFamily="34" charset="-122"/>
                <a:ea typeface="微软雅黑" pitchFamily="34" charset="-122"/>
              </a:rPr>
              <a:t>系统</a:t>
            </a:r>
            <a:r>
              <a:rPr lang="zh-CN" altLang="en-US" sz="2000" b="1" dirty="0">
                <a:latin typeface="微软雅黑" pitchFamily="34" charset="-122"/>
                <a:ea typeface="微软雅黑" pitchFamily="34" charset="-122"/>
              </a:rPr>
              <a:t>必须有一个</a:t>
            </a:r>
            <a:r>
              <a:rPr lang="zh-CN" altLang="en-US" sz="2000" b="1" dirty="0">
                <a:solidFill>
                  <a:srgbClr val="C00000"/>
                </a:solidFill>
                <a:latin typeface="微软雅黑" pitchFamily="34" charset="-122"/>
                <a:ea typeface="微软雅黑" pitchFamily="34" charset="-122"/>
              </a:rPr>
              <a:t>管理站。</a:t>
            </a: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若被管设备使用</a:t>
            </a:r>
            <a:r>
              <a:rPr lang="zh-CN" altLang="en-US" sz="2000" b="1" dirty="0">
                <a:latin typeface="微软雅黑" pitchFamily="34" charset="-122"/>
                <a:ea typeface="微软雅黑" pitchFamily="34" charset="-122"/>
              </a:rPr>
              <a:t>的不是 </a:t>
            </a: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而是另一种网络管理协议，</a:t>
            </a:r>
            <a:r>
              <a:rPr lang="en-US" altLang="zh-CN" sz="2000" b="1" dirty="0">
                <a:latin typeface="微软雅黑" pitchFamily="34" charset="-122"/>
                <a:ea typeface="微软雅黑" pitchFamily="34" charset="-122"/>
              </a:rPr>
              <a:t>SNMP </a:t>
            </a:r>
            <a:r>
              <a:rPr lang="zh-CN" altLang="en-US" sz="2000" b="1" dirty="0" smtClean="0">
                <a:latin typeface="微软雅黑" pitchFamily="34" charset="-122"/>
                <a:ea typeface="微软雅黑" pitchFamily="34" charset="-122"/>
              </a:rPr>
              <a:t>就无法对其进行管理。</a:t>
            </a:r>
            <a:r>
              <a:rPr lang="zh-CN" altLang="en-US" sz="2000" b="1" dirty="0">
                <a:latin typeface="微软雅黑" pitchFamily="34" charset="-122"/>
                <a:ea typeface="微软雅黑" pitchFamily="34" charset="-122"/>
              </a:rPr>
              <a:t>这时可使用</a:t>
            </a:r>
            <a:r>
              <a:rPr lang="zh-CN" altLang="en-US" sz="2000" b="1" dirty="0">
                <a:solidFill>
                  <a:srgbClr val="C00000"/>
                </a:solidFill>
                <a:latin typeface="微软雅黑" pitchFamily="34" charset="-122"/>
                <a:ea typeface="微软雅黑" pitchFamily="34" charset="-122"/>
              </a:rPr>
              <a:t>委托代理 </a:t>
            </a:r>
            <a:r>
              <a:rPr lang="en-US" altLang="zh-CN" sz="2000" b="1" dirty="0">
                <a:latin typeface="微软雅黑" pitchFamily="34" charset="-122"/>
                <a:ea typeface="微软雅黑" pitchFamily="34" charset="-122"/>
              </a:rPr>
              <a:t>(proxy agent)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委托</a:t>
            </a:r>
            <a:r>
              <a:rPr lang="zh-CN" altLang="en-US" sz="2000" b="1" dirty="0">
                <a:latin typeface="微软雅黑" pitchFamily="34" charset="-122"/>
                <a:ea typeface="微软雅黑" pitchFamily="34" charset="-122"/>
              </a:rPr>
              <a:t>代理能</a:t>
            </a:r>
            <a:r>
              <a:rPr lang="zh-CN" altLang="en-US" sz="2000" b="1" dirty="0" smtClean="0">
                <a:latin typeface="微软雅黑" pitchFamily="34" charset="-122"/>
                <a:ea typeface="微软雅黑" pitchFamily="34" charset="-122"/>
              </a:rPr>
              <a:t>提供协议</a:t>
            </a:r>
            <a:r>
              <a:rPr lang="zh-CN" altLang="en-US" sz="2000" b="1" dirty="0">
                <a:latin typeface="微软雅黑" pitchFamily="34" charset="-122"/>
                <a:ea typeface="微软雅黑" pitchFamily="34" charset="-122"/>
              </a:rPr>
              <a:t>转换和过滤操作等</a:t>
            </a:r>
            <a:r>
              <a:rPr lang="zh-CN" altLang="en-US" sz="2000" b="1" dirty="0" smtClean="0">
                <a:latin typeface="微软雅黑" pitchFamily="34" charset="-122"/>
                <a:ea typeface="微软雅黑" pitchFamily="34" charset="-122"/>
              </a:rPr>
              <a:t>功能，对</a:t>
            </a:r>
            <a:r>
              <a:rPr lang="zh-CN" altLang="en-US" sz="2000" b="1" dirty="0">
                <a:latin typeface="微软雅黑" pitchFamily="34" charset="-122"/>
                <a:ea typeface="微软雅黑" pitchFamily="34" charset="-122"/>
              </a:rPr>
              <a:t>被管对象进行管理。</a:t>
            </a:r>
          </a:p>
        </p:txBody>
      </p:sp>
      <p:sp>
        <p:nvSpPr>
          <p:cNvPr id="6" name="矩形 5"/>
          <p:cNvSpPr/>
          <p:nvPr/>
        </p:nvSpPr>
        <p:spPr>
          <a:xfrm>
            <a:off x="1918295" y="2879677"/>
            <a:ext cx="360794" cy="1054905"/>
          </a:xfrm>
          <a:prstGeom prst="rect">
            <a:avLst/>
          </a:prstGeom>
          <a:solidFill>
            <a:srgbClr val="000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itchFamily="34" charset="-122"/>
                <a:ea typeface="微软雅黑" pitchFamily="34" charset="-122"/>
              </a:rPr>
              <a:t>管理站</a:t>
            </a:r>
            <a:endParaRPr lang="zh-CN" altLang="en-US" sz="1400" b="1" dirty="0">
              <a:solidFill>
                <a:schemeClr val="bg1"/>
              </a:solidFill>
              <a:latin typeface="微软雅黑" pitchFamily="34" charset="-122"/>
              <a:ea typeface="微软雅黑" pitchFamily="34" charset="-122"/>
            </a:endParaRPr>
          </a:p>
        </p:txBody>
      </p:sp>
      <p:sp>
        <p:nvSpPr>
          <p:cNvPr id="8" name="矩形 7"/>
          <p:cNvSpPr/>
          <p:nvPr/>
        </p:nvSpPr>
        <p:spPr>
          <a:xfrm>
            <a:off x="3606331" y="2879677"/>
            <a:ext cx="360794" cy="1054905"/>
          </a:xfrm>
          <a:prstGeom prst="rect">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itchFamily="34" charset="-122"/>
                <a:ea typeface="微软雅黑" pitchFamily="34" charset="-122"/>
              </a:rPr>
              <a:t>委托代理</a:t>
            </a:r>
            <a:endParaRPr lang="zh-CN" altLang="en-US" sz="1400" b="1" dirty="0">
              <a:solidFill>
                <a:schemeClr val="bg1"/>
              </a:solidFill>
              <a:latin typeface="微软雅黑" pitchFamily="34" charset="-122"/>
              <a:ea typeface="微软雅黑" pitchFamily="34" charset="-122"/>
            </a:endParaRPr>
          </a:p>
        </p:txBody>
      </p:sp>
      <p:sp>
        <p:nvSpPr>
          <p:cNvPr id="9" name="椭圆 8"/>
          <p:cNvSpPr/>
          <p:nvPr/>
        </p:nvSpPr>
        <p:spPr>
          <a:xfrm>
            <a:off x="5519058" y="271435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itchFamily="34" charset="-122"/>
                <a:ea typeface="微软雅黑" pitchFamily="34" charset="-122"/>
              </a:rPr>
              <a:t>被管设备</a:t>
            </a:r>
            <a:endParaRPr lang="zh-CN" altLang="en-US" sz="1100" b="1" dirty="0">
              <a:solidFill>
                <a:schemeClr val="tx1"/>
              </a:solidFill>
              <a:latin typeface="微软雅黑" pitchFamily="34" charset="-122"/>
              <a:ea typeface="微软雅黑" pitchFamily="34" charset="-122"/>
            </a:endParaRPr>
          </a:p>
        </p:txBody>
      </p:sp>
      <p:cxnSp>
        <p:nvCxnSpPr>
          <p:cNvPr id="11" name="直接箭头连接符 10"/>
          <p:cNvCxnSpPr>
            <a:endCxn id="9" idx="2"/>
          </p:cNvCxnSpPr>
          <p:nvPr/>
        </p:nvCxnSpPr>
        <p:spPr>
          <a:xfrm flipV="1">
            <a:off x="3967125" y="2937510"/>
            <a:ext cx="1551933" cy="223157"/>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椭圆 12"/>
          <p:cNvSpPr/>
          <p:nvPr/>
        </p:nvSpPr>
        <p:spPr>
          <a:xfrm>
            <a:off x="5519058" y="3572633"/>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itchFamily="34" charset="-122"/>
                <a:ea typeface="微软雅黑" pitchFamily="34" charset="-122"/>
              </a:rPr>
              <a:t>被管设备</a:t>
            </a:r>
            <a:endParaRPr lang="zh-CN" altLang="en-US" sz="1100" b="1" dirty="0">
              <a:solidFill>
                <a:schemeClr val="tx1"/>
              </a:solidFill>
              <a:latin typeface="微软雅黑" pitchFamily="34" charset="-122"/>
              <a:ea typeface="微软雅黑" pitchFamily="34" charset="-122"/>
            </a:endParaRPr>
          </a:p>
        </p:txBody>
      </p:sp>
      <p:cxnSp>
        <p:nvCxnSpPr>
          <p:cNvPr id="14" name="直接箭头连接符 13"/>
          <p:cNvCxnSpPr>
            <a:endCxn id="13" idx="2"/>
          </p:cNvCxnSpPr>
          <p:nvPr/>
        </p:nvCxnSpPr>
        <p:spPr>
          <a:xfrm>
            <a:off x="3967125" y="3660283"/>
            <a:ext cx="1551933" cy="135508"/>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6509658" y="318397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itchFamily="34" charset="-122"/>
                <a:ea typeface="微软雅黑" pitchFamily="34" charset="-122"/>
              </a:rPr>
              <a:t>被管设备</a:t>
            </a:r>
            <a:endParaRPr lang="zh-CN" altLang="en-US" sz="1100" b="1" dirty="0">
              <a:solidFill>
                <a:schemeClr val="tx1"/>
              </a:solidFill>
              <a:latin typeface="微软雅黑" pitchFamily="34" charset="-122"/>
              <a:ea typeface="微软雅黑" pitchFamily="34" charset="-122"/>
            </a:endParaRPr>
          </a:p>
        </p:txBody>
      </p:sp>
      <p:cxnSp>
        <p:nvCxnSpPr>
          <p:cNvPr id="18" name="直接箭头连接符 17"/>
          <p:cNvCxnSpPr>
            <a:stCxn id="8" idx="3"/>
            <a:endCxn id="17" idx="2"/>
          </p:cNvCxnSpPr>
          <p:nvPr/>
        </p:nvCxnSpPr>
        <p:spPr>
          <a:xfrm>
            <a:off x="3967125" y="3407130"/>
            <a:ext cx="2542533"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6" idx="3"/>
            <a:endCxn id="8" idx="1"/>
          </p:cNvCxnSpPr>
          <p:nvPr/>
        </p:nvCxnSpPr>
        <p:spPr>
          <a:xfrm>
            <a:off x="2279089" y="3407130"/>
            <a:ext cx="1327242"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2530138" y="3132387"/>
            <a:ext cx="747320" cy="307777"/>
          </a:xfrm>
          <a:prstGeom prst="rect">
            <a:avLst/>
          </a:prstGeom>
        </p:spPr>
        <p:txBody>
          <a:bodyPr wrap="none">
            <a:spAutoFit/>
          </a:bodyPr>
          <a:lstStyle/>
          <a:p>
            <a:r>
              <a:rPr lang="en-US" altLang="zh-CN" sz="1400" b="1" dirty="0">
                <a:latin typeface="微软雅黑" pitchFamily="34" charset="-122"/>
                <a:ea typeface="微软雅黑" pitchFamily="34" charset="-122"/>
              </a:rPr>
              <a:t>SNMP</a:t>
            </a:r>
            <a:endParaRPr lang="zh-CN" altLang="en-US" sz="1400" dirty="0"/>
          </a:p>
        </p:txBody>
      </p:sp>
      <p:sp>
        <p:nvSpPr>
          <p:cNvPr id="28" name="矩形 27"/>
          <p:cNvSpPr/>
          <p:nvPr/>
        </p:nvSpPr>
        <p:spPr>
          <a:xfrm>
            <a:off x="4487976" y="3111367"/>
            <a:ext cx="902811" cy="307777"/>
          </a:xfrm>
          <a:prstGeom prst="rect">
            <a:avLst/>
          </a:prstGeom>
        </p:spPr>
        <p:txBody>
          <a:bodyPr wrap="none">
            <a:spAutoFit/>
          </a:bodyPr>
          <a:lstStyle/>
          <a:p>
            <a:r>
              <a:rPr lang="zh-CN" altLang="en-US" sz="1400" b="1" dirty="0">
                <a:latin typeface="微软雅黑" pitchFamily="34" charset="-122"/>
                <a:ea typeface="微软雅黑" pitchFamily="34" charset="-122"/>
              </a:rPr>
              <a:t>专用协议</a:t>
            </a:r>
          </a:p>
        </p:txBody>
      </p:sp>
      <p:sp>
        <p:nvSpPr>
          <p:cNvPr id="19"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7739024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par>
                                <p:cTn id="41" presetID="10" presetClass="entr" presetSubtype="0" fill="hold" nodeType="with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P spid="8" grpId="0" animBg="1"/>
      <p:bldP spid="9" grpId="0" animBg="1"/>
      <p:bldP spid="13" grpId="0" animBg="1"/>
      <p:bldP spid="17" grpId="0" animBg="1"/>
      <p:bldP spid="27" grpId="0"/>
      <p:bldP spid="28"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378"/>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40284" y="579167"/>
            <a:ext cx="26821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网络管理</a:t>
            </a:r>
            <a:r>
              <a:rPr lang="zh-CN" altLang="en-US" sz="2000" b="1" dirty="0" smtClean="0">
                <a:solidFill>
                  <a:schemeClr val="bg1"/>
                </a:solidFill>
                <a:latin typeface="微软雅黑" pitchFamily="34" charset="-122"/>
                <a:ea typeface="微软雅黑" pitchFamily="34" charset="-122"/>
              </a:rPr>
              <a:t>组成</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3468"/>
            <a:ext cx="822953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smtClean="0">
                <a:latin typeface="微软雅黑" pitchFamily="34" charset="-122"/>
                <a:ea typeface="微软雅黑" pitchFamily="34" charset="-122"/>
              </a:rPr>
              <a:t>网络管理主要由</a:t>
            </a:r>
            <a:r>
              <a:rPr lang="zh-CN" altLang="en-US" sz="2000" b="1" dirty="0">
                <a:latin typeface="微软雅黑" pitchFamily="34" charset="-122"/>
                <a:ea typeface="微软雅黑" pitchFamily="34" charset="-122"/>
              </a:rPr>
              <a:t>三个部分组成：</a:t>
            </a:r>
          </a:p>
          <a:p>
            <a:pPr marL="720725" indent="-360363" eaLnBrk="0" hangingPunct="0">
              <a:lnSpc>
                <a:spcPts val="3300"/>
              </a:lnSpc>
              <a:buClr>
                <a:srgbClr val="9900CC"/>
              </a:buClr>
              <a:buFont typeface="+mj-lt"/>
              <a:buAutoNum type="arabicPeriod"/>
            </a:pPr>
            <a:r>
              <a:rPr lang="en-US" altLang="zh-CN" sz="2000" b="1" dirty="0">
                <a:latin typeface="微软雅黑" pitchFamily="34" charset="-122"/>
                <a:ea typeface="微软雅黑" pitchFamily="34" charset="-122"/>
              </a:rPr>
              <a:t>SNMP </a:t>
            </a:r>
            <a:r>
              <a:rPr lang="zh-CN" altLang="en-US" sz="2000" b="1" dirty="0" smtClean="0">
                <a:latin typeface="微软雅黑" pitchFamily="34" charset="-122"/>
                <a:ea typeface="微软雅黑" pitchFamily="34" charset="-122"/>
              </a:rPr>
              <a:t>协议本身</a:t>
            </a:r>
            <a:endParaRPr lang="zh-CN" altLang="en-US" sz="2000" b="1" dirty="0">
              <a:latin typeface="微软雅黑" pitchFamily="34" charset="-122"/>
              <a:ea typeface="微软雅黑" pitchFamily="34" charset="-122"/>
            </a:endParaRPr>
          </a:p>
          <a:p>
            <a:pPr marL="720725" indent="-36036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管理信息结构 </a:t>
            </a:r>
            <a:r>
              <a:rPr lang="en-US" altLang="zh-CN" sz="2000" b="1" dirty="0">
                <a:latin typeface="微软雅黑" pitchFamily="34" charset="-122"/>
                <a:ea typeface="微软雅黑" pitchFamily="34" charset="-122"/>
              </a:rPr>
              <a:t>SMI (Structure of Management Information)</a:t>
            </a:r>
          </a:p>
          <a:p>
            <a:pPr marL="720725" indent="-36036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管理信息库 </a:t>
            </a:r>
            <a:r>
              <a:rPr lang="en-US" altLang="zh-CN" sz="2000" b="1" dirty="0">
                <a:latin typeface="微软雅黑" pitchFamily="34" charset="-122"/>
                <a:ea typeface="微软雅黑" pitchFamily="34" charset="-122"/>
              </a:rPr>
              <a:t>MIB (Management Information Base</a:t>
            </a:r>
            <a:r>
              <a:rPr lang="en-US" altLang="zh-CN"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extLst>
      <p:ext uri="{BB962C8B-B14F-4D97-AF65-F5344CB8AC3E}">
        <p14:creationId xmlns:p14="http://schemas.microsoft.com/office/powerpoint/2010/main" val="31514836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78755" y="580321"/>
            <a:ext cx="26052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网络管理</a:t>
            </a:r>
            <a:r>
              <a:rPr lang="zh-CN" altLang="en-US" sz="2000" b="1" dirty="0" smtClean="0">
                <a:solidFill>
                  <a:schemeClr val="bg1"/>
                </a:solidFill>
                <a:latin typeface="微软雅黑" pitchFamily="34" charset="-122"/>
                <a:ea typeface="微软雅黑" pitchFamily="34" charset="-122"/>
              </a:rPr>
              <a:t>组成</a:t>
            </a:r>
            <a:endParaRPr lang="en-US" altLang="zh-CN"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462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SMI</a:t>
            </a:r>
            <a:r>
              <a:rPr lang="zh-CN" altLang="en-US" b="1" dirty="0">
                <a:latin typeface="微软雅黑" pitchFamily="34" charset="-122"/>
                <a:ea typeface="微软雅黑" pitchFamily="34" charset="-122"/>
              </a:rPr>
              <a:t>在</a:t>
            </a:r>
            <a:r>
              <a:rPr lang="zh-CN" altLang="en-US" b="1" dirty="0">
                <a:solidFill>
                  <a:srgbClr val="C00000"/>
                </a:solidFill>
                <a:latin typeface="微软雅黑" pitchFamily="34" charset="-122"/>
                <a:ea typeface="微软雅黑" pitchFamily="34" charset="-122"/>
              </a:rPr>
              <a:t>最底层</a:t>
            </a:r>
            <a:r>
              <a:rPr lang="zh-CN" altLang="en-US" b="1" dirty="0">
                <a:latin typeface="微软雅黑" pitchFamily="34" charset="-122"/>
                <a:ea typeface="微软雅黑" pitchFamily="34" charset="-122"/>
              </a:rPr>
              <a:t>，定义</a:t>
            </a:r>
            <a:r>
              <a:rPr lang="zh-CN" altLang="en-US" b="1" dirty="0">
                <a:solidFill>
                  <a:srgbClr val="C00000"/>
                </a:solidFill>
                <a:latin typeface="微软雅黑" pitchFamily="34" charset="-122"/>
                <a:ea typeface="微软雅黑" pitchFamily="34" charset="-122"/>
              </a:rPr>
              <a:t>命名规则、数据类型和</a:t>
            </a:r>
            <a:r>
              <a:rPr lang="zh-CN" altLang="en-US" b="1" dirty="0" smtClean="0">
                <a:solidFill>
                  <a:srgbClr val="C00000"/>
                </a:solidFill>
                <a:latin typeface="微软雅黑" pitchFamily="34" charset="-122"/>
                <a:ea typeface="微软雅黑" pitchFamily="34" charset="-122"/>
              </a:rPr>
              <a:t>编码方式</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为整个</a:t>
            </a:r>
            <a:r>
              <a:rPr lang="en-US" altLang="zh-CN" b="1" dirty="0">
                <a:latin typeface="微软雅黑" pitchFamily="34" charset="-122"/>
                <a:ea typeface="微软雅黑" pitchFamily="34" charset="-122"/>
              </a:rPr>
              <a:t>SNMP</a:t>
            </a:r>
            <a:r>
              <a:rPr lang="zh-CN" altLang="en-US" b="1" dirty="0">
                <a:latin typeface="微软雅黑" pitchFamily="34" charset="-122"/>
                <a:ea typeface="微软雅黑" pitchFamily="34" charset="-122"/>
              </a:rPr>
              <a:t>框架提供标准化的</a:t>
            </a:r>
            <a:r>
              <a:rPr lang="zh-CN" altLang="en-US" b="1" dirty="0" smtClean="0">
                <a:latin typeface="微软雅黑" pitchFamily="34" charset="-122"/>
                <a:ea typeface="微软雅黑" pitchFamily="34" charset="-122"/>
              </a:rPr>
              <a:t>基础。</a:t>
            </a:r>
            <a:endParaRPr lang="en-US" altLang="zh-CN" b="1" dirty="0" smtClean="0">
              <a:latin typeface="微软雅黑" pitchFamily="34" charset="-122"/>
              <a:ea typeface="微软雅黑" pitchFamily="34" charset="-122"/>
            </a:endParaRPr>
          </a:p>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MIB</a:t>
            </a:r>
            <a:r>
              <a:rPr lang="zh-CN" altLang="en-US" b="1" dirty="0">
                <a:latin typeface="微软雅黑" pitchFamily="34" charset="-122"/>
                <a:ea typeface="微软雅黑" pitchFamily="34" charset="-122"/>
              </a:rPr>
              <a:t>在</a:t>
            </a:r>
            <a:r>
              <a:rPr lang="zh-CN" altLang="en-US" b="1" dirty="0">
                <a:solidFill>
                  <a:srgbClr val="C00000"/>
                </a:solidFill>
                <a:latin typeface="微软雅黑" pitchFamily="34" charset="-122"/>
                <a:ea typeface="微软雅黑" pitchFamily="34" charset="-122"/>
              </a:rPr>
              <a:t>中间层</a:t>
            </a:r>
            <a:r>
              <a:rPr lang="zh-CN" altLang="en-US" b="1" dirty="0">
                <a:latin typeface="微软雅黑" pitchFamily="34" charset="-122"/>
                <a:ea typeface="微软雅黑" pitchFamily="34" charset="-122"/>
              </a:rPr>
              <a:t>，依据</a:t>
            </a:r>
            <a:r>
              <a:rPr lang="en-US" altLang="zh-CN" b="1" dirty="0">
                <a:latin typeface="微软雅黑" pitchFamily="34" charset="-122"/>
                <a:ea typeface="微软雅黑" pitchFamily="34" charset="-122"/>
              </a:rPr>
              <a:t>SMI</a:t>
            </a:r>
            <a:r>
              <a:rPr lang="zh-CN" altLang="en-US" b="1" dirty="0">
                <a:latin typeface="微软雅黑" pitchFamily="34" charset="-122"/>
                <a:ea typeface="微软雅黑" pitchFamily="34" charset="-122"/>
              </a:rPr>
              <a:t>的规则</a:t>
            </a:r>
            <a:r>
              <a:rPr lang="zh-CN" altLang="en-US" b="1" dirty="0">
                <a:solidFill>
                  <a:srgbClr val="C00000"/>
                </a:solidFill>
                <a:latin typeface="微软雅黑" pitchFamily="34" charset="-122"/>
                <a:ea typeface="微软雅黑" pitchFamily="34" charset="-122"/>
              </a:rPr>
              <a:t>定义管理对象</a:t>
            </a:r>
            <a:r>
              <a:rPr lang="zh-CN" altLang="en-US" b="1" dirty="0">
                <a:latin typeface="微软雅黑" pitchFamily="34" charset="-122"/>
                <a:ea typeface="微软雅黑" pitchFamily="34" charset="-122"/>
              </a:rPr>
              <a:t>，是</a:t>
            </a:r>
            <a:r>
              <a:rPr lang="zh-CN" altLang="en-US" b="1" dirty="0" smtClean="0">
                <a:latin typeface="微软雅黑" pitchFamily="34" charset="-122"/>
                <a:ea typeface="微软雅黑" pitchFamily="34" charset="-122"/>
              </a:rPr>
              <a:t>网络管理</a:t>
            </a:r>
            <a:r>
              <a:rPr lang="zh-CN" altLang="en-US" b="1" dirty="0">
                <a:latin typeface="微软雅黑" pitchFamily="34" charset="-122"/>
                <a:ea typeface="微软雅黑" pitchFamily="34" charset="-122"/>
              </a:rPr>
              <a:t>信息的组织和表示</a:t>
            </a:r>
            <a:r>
              <a:rPr lang="zh-CN" altLang="en-US" b="1" dirty="0" smtClean="0">
                <a:latin typeface="微软雅黑" pitchFamily="34" charset="-122"/>
                <a:ea typeface="微软雅黑" pitchFamily="34" charset="-122"/>
              </a:rPr>
              <a:t>方式。</a:t>
            </a:r>
            <a:endParaRPr lang="zh-CN" altLang="en-US" b="1" dirty="0">
              <a:latin typeface="微软雅黑" pitchFamily="34" charset="-122"/>
              <a:ea typeface="微软雅黑" pitchFamily="34" charset="-122"/>
            </a:endParaRPr>
          </a:p>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SNMP</a:t>
            </a:r>
            <a:r>
              <a:rPr lang="zh-CN" altLang="en-US" b="1" dirty="0">
                <a:latin typeface="微软雅黑" pitchFamily="34" charset="-122"/>
                <a:ea typeface="微软雅黑" pitchFamily="34" charset="-122"/>
              </a:rPr>
              <a:t>在</a:t>
            </a:r>
            <a:r>
              <a:rPr lang="zh-CN" altLang="en-US" b="1" dirty="0">
                <a:solidFill>
                  <a:srgbClr val="C00000"/>
                </a:solidFill>
                <a:latin typeface="微软雅黑" pitchFamily="34" charset="-122"/>
                <a:ea typeface="微软雅黑" pitchFamily="34" charset="-122"/>
              </a:rPr>
              <a:t>最上层</a:t>
            </a:r>
            <a:r>
              <a:rPr lang="zh-CN" altLang="en-US" b="1" dirty="0">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定义访问和管理 </a:t>
            </a:r>
            <a:r>
              <a:rPr lang="en-US" altLang="zh-CN" b="1" dirty="0">
                <a:solidFill>
                  <a:srgbClr val="C00000"/>
                </a:solidFill>
                <a:latin typeface="微软雅黑" pitchFamily="34" charset="-122"/>
                <a:ea typeface="微软雅黑" pitchFamily="34" charset="-122"/>
              </a:rPr>
              <a:t>MIB </a:t>
            </a:r>
            <a:r>
              <a:rPr lang="zh-CN" altLang="en-US" b="1" dirty="0">
                <a:solidFill>
                  <a:srgbClr val="C00000"/>
                </a:solidFill>
                <a:latin typeface="微软雅黑" pitchFamily="34" charset="-122"/>
                <a:ea typeface="微软雅黑" pitchFamily="34" charset="-122"/>
              </a:rPr>
              <a:t>中对象</a:t>
            </a:r>
            <a:r>
              <a:rPr lang="zh-CN" altLang="en-US" b="1" dirty="0" smtClean="0">
                <a:solidFill>
                  <a:srgbClr val="C00000"/>
                </a:solidFill>
                <a:latin typeface="微软雅黑" pitchFamily="34" charset="-122"/>
                <a:ea typeface="微软雅黑" pitchFamily="34" charset="-122"/>
              </a:rPr>
              <a:t>的规则</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用于管理者与被</a:t>
            </a:r>
            <a:r>
              <a:rPr lang="zh-CN" altLang="en-US" b="1" dirty="0" smtClean="0">
                <a:latin typeface="微软雅黑" pitchFamily="34" charset="-122"/>
                <a:ea typeface="微软雅黑" pitchFamily="34" charset="-122"/>
              </a:rPr>
              <a:t>管设备</a:t>
            </a:r>
            <a:r>
              <a:rPr lang="zh-CN" altLang="en-US" b="1" dirty="0">
                <a:latin typeface="微软雅黑" pitchFamily="34" charset="-122"/>
                <a:ea typeface="微软雅黑" pitchFamily="34" charset="-122"/>
              </a:rPr>
              <a:t>之间的</a:t>
            </a:r>
            <a:r>
              <a:rPr lang="zh-CN" altLang="en-US" b="1" dirty="0">
                <a:solidFill>
                  <a:srgbClr val="C00000"/>
                </a:solidFill>
                <a:latin typeface="微软雅黑" pitchFamily="34" charset="-122"/>
                <a:ea typeface="微软雅黑" pitchFamily="34" charset="-122"/>
              </a:rPr>
              <a:t>数据交互</a:t>
            </a:r>
            <a:r>
              <a:rPr lang="zh-CN" altLang="en-US" b="1" dirty="0">
                <a:latin typeface="微软雅黑" pitchFamily="34" charset="-122"/>
                <a:ea typeface="微软雅黑" pitchFamily="34" charset="-122"/>
              </a:rPr>
              <a:t>。</a:t>
            </a:r>
          </a:p>
          <a:p>
            <a:pPr marL="342900" indent="-342900" hangingPunct="0">
              <a:lnSpc>
                <a:spcPts val="3300"/>
              </a:lnSpc>
              <a:buClr>
                <a:srgbClr val="0070C0"/>
              </a:buClr>
              <a:buFont typeface="Wingdings" pitchFamily="2" charset="2"/>
              <a:buChar char="l"/>
            </a:pPr>
            <a:endParaRPr lang="zh-CN" altLang="en-US" b="1" dirty="0">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7985394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78755" y="580321"/>
            <a:ext cx="26052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网络管理</a:t>
            </a:r>
            <a:r>
              <a:rPr lang="zh-CN" altLang="en-US" sz="2000" b="1" dirty="0" smtClean="0">
                <a:solidFill>
                  <a:schemeClr val="bg1"/>
                </a:solidFill>
                <a:latin typeface="微软雅黑" pitchFamily="34" charset="-122"/>
                <a:ea typeface="微软雅黑" pitchFamily="34" charset="-122"/>
              </a:rPr>
              <a:t>组成</a:t>
            </a:r>
            <a:endParaRPr lang="en-US" altLang="zh-CN"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462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SMI </a:t>
            </a:r>
            <a:r>
              <a:rPr lang="zh-CN" altLang="en-US" b="1" dirty="0">
                <a:latin typeface="微软雅黑" pitchFamily="34" charset="-122"/>
                <a:ea typeface="微软雅黑" pitchFamily="34" charset="-122"/>
              </a:rPr>
              <a:t>定义了</a:t>
            </a:r>
            <a:r>
              <a:rPr lang="zh-CN" altLang="en-US" b="1" dirty="0">
                <a:solidFill>
                  <a:srgbClr val="C00000"/>
                </a:solidFill>
                <a:latin typeface="微软雅黑" pitchFamily="34" charset="-122"/>
                <a:ea typeface="微软雅黑" pitchFamily="34" charset="-122"/>
              </a:rPr>
              <a:t>描述管理信息的基本规则和框架</a:t>
            </a:r>
            <a:r>
              <a:rPr lang="zh-CN" altLang="en-US" b="1" dirty="0">
                <a:latin typeface="微软雅黑" pitchFamily="34" charset="-122"/>
                <a:ea typeface="微软雅黑" pitchFamily="34" charset="-122"/>
              </a:rPr>
              <a:t>，规定了</a:t>
            </a:r>
            <a:r>
              <a:rPr lang="zh-CN" altLang="en-US" b="1" dirty="0">
                <a:solidFill>
                  <a:srgbClr val="C00000"/>
                </a:solidFill>
                <a:latin typeface="微软雅黑" pitchFamily="34" charset="-122"/>
                <a:ea typeface="微软雅黑" pitchFamily="34" charset="-122"/>
              </a:rPr>
              <a:t>管理对象的数据类型、语法格式</a:t>
            </a:r>
            <a:r>
              <a:rPr lang="zh-CN" altLang="en-US" b="1" dirty="0">
                <a:latin typeface="微软雅黑" pitchFamily="34" charset="-122"/>
                <a:ea typeface="微软雅黑" pitchFamily="34" charset="-122"/>
              </a:rPr>
              <a:t>，确保管理信息的</a:t>
            </a:r>
            <a:r>
              <a:rPr lang="zh-CN" altLang="en-US" b="1" dirty="0">
                <a:solidFill>
                  <a:srgbClr val="C00000"/>
                </a:solidFill>
                <a:latin typeface="微软雅黑" pitchFamily="34" charset="-122"/>
                <a:ea typeface="微软雅黑" pitchFamily="34" charset="-122"/>
              </a:rPr>
              <a:t>一致性和标准化</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MIB </a:t>
            </a:r>
            <a:r>
              <a:rPr lang="zh-CN" altLang="en-US" b="1" dirty="0">
                <a:latin typeface="微软雅黑" pitchFamily="34" charset="-122"/>
                <a:ea typeface="微软雅黑" pitchFamily="34" charset="-122"/>
              </a:rPr>
              <a:t>按照 </a:t>
            </a:r>
            <a:r>
              <a:rPr lang="en-US" altLang="zh-CN" b="1" dirty="0">
                <a:latin typeface="微软雅黑" pitchFamily="34" charset="-122"/>
                <a:ea typeface="微软雅黑" pitchFamily="34" charset="-122"/>
              </a:rPr>
              <a:t>SMI </a:t>
            </a:r>
            <a:r>
              <a:rPr lang="zh-CN" altLang="en-US" b="1" dirty="0" smtClean="0">
                <a:latin typeface="微软雅黑" pitchFamily="34" charset="-122"/>
                <a:ea typeface="微软雅黑" pitchFamily="34" charset="-122"/>
              </a:rPr>
              <a:t>定义的</a:t>
            </a:r>
            <a:r>
              <a:rPr lang="zh-CN" altLang="en-US" b="1" dirty="0">
                <a:latin typeface="微软雅黑" pitchFamily="34" charset="-122"/>
                <a:ea typeface="微软雅黑" pitchFamily="34" charset="-122"/>
              </a:rPr>
              <a:t>规则</a:t>
            </a:r>
            <a:r>
              <a:rPr lang="zh-CN" altLang="en-US" b="1" dirty="0">
                <a:solidFill>
                  <a:srgbClr val="C00000"/>
                </a:solidFill>
                <a:latin typeface="微软雅黑" pitchFamily="34" charset="-122"/>
                <a:ea typeface="微软雅黑" pitchFamily="34" charset="-122"/>
              </a:rPr>
              <a:t>组织和存储管理对象</a:t>
            </a:r>
            <a:r>
              <a:rPr lang="zh-CN" altLang="en-US" b="1" dirty="0">
                <a:latin typeface="微软雅黑" pitchFamily="34" charset="-122"/>
                <a:ea typeface="微软雅黑" pitchFamily="34" charset="-122"/>
              </a:rPr>
              <a:t>，定义了</a:t>
            </a:r>
            <a:r>
              <a:rPr lang="zh-CN" altLang="en-US" b="1" dirty="0">
                <a:solidFill>
                  <a:srgbClr val="C00000"/>
                </a:solidFill>
                <a:latin typeface="微软雅黑" pitchFamily="34" charset="-122"/>
                <a:ea typeface="微软雅黑" pitchFamily="34" charset="-122"/>
              </a:rPr>
              <a:t>可被管理的具体对象及其属性</a:t>
            </a:r>
            <a:r>
              <a:rPr lang="zh-CN" altLang="en-US" b="1" dirty="0">
                <a:latin typeface="微软雅黑" pitchFamily="34" charset="-122"/>
                <a:ea typeface="微软雅黑" pitchFamily="34" charset="-122"/>
              </a:rPr>
              <a:t>，提供了一个</a:t>
            </a:r>
            <a:r>
              <a:rPr lang="zh-CN" altLang="en-US" b="1" dirty="0">
                <a:solidFill>
                  <a:srgbClr val="C00000"/>
                </a:solidFill>
                <a:latin typeface="微软雅黑" pitchFamily="34" charset="-122"/>
                <a:ea typeface="微软雅黑" pitchFamily="34" charset="-122"/>
              </a:rPr>
              <a:t>标准化的管理对象层次结构</a:t>
            </a:r>
            <a:r>
              <a:rPr lang="zh-CN" altLang="en-US" b="1" dirty="0" smtClean="0">
                <a:latin typeface="微软雅黑" pitchFamily="34" charset="-122"/>
                <a:ea typeface="微软雅黑" pitchFamily="34" charset="-122"/>
              </a:rPr>
              <a:t>。管理程序</a:t>
            </a:r>
            <a:r>
              <a:rPr lang="zh-CN" altLang="en-US" b="1" dirty="0">
                <a:latin typeface="微软雅黑" pitchFamily="34" charset="-122"/>
                <a:ea typeface="微软雅黑" pitchFamily="34" charset="-122"/>
              </a:rPr>
              <a:t>使用 </a:t>
            </a:r>
            <a:r>
              <a:rPr lang="en-US" altLang="zh-CN" b="1" dirty="0">
                <a:latin typeface="微软雅黑" pitchFamily="34" charset="-122"/>
                <a:ea typeface="微软雅黑" pitchFamily="34" charset="-122"/>
              </a:rPr>
              <a:t>MIB </a:t>
            </a:r>
            <a:r>
              <a:rPr lang="zh-CN" altLang="en-US" b="1" dirty="0">
                <a:latin typeface="微软雅黑" pitchFamily="34" charset="-122"/>
                <a:ea typeface="微软雅黑" pitchFamily="34" charset="-122"/>
              </a:rPr>
              <a:t>中的信息，对网络进行管理。</a:t>
            </a:r>
          </a:p>
          <a:p>
            <a:pPr marL="342900" indent="-342900" hangingPunct="0">
              <a:lnSpc>
                <a:spcPts val="3300"/>
              </a:lnSpc>
              <a:buClr>
                <a:srgbClr val="0070C0"/>
              </a:buClr>
              <a:buFont typeface="Wingdings" pitchFamily="2" charset="2"/>
              <a:buChar char="l"/>
            </a:pPr>
            <a:r>
              <a:rPr lang="en-US" altLang="zh-CN" b="1" dirty="0">
                <a:latin typeface="微软雅黑" pitchFamily="34" charset="-122"/>
                <a:ea typeface="微软雅黑" pitchFamily="34" charset="-122"/>
              </a:rPr>
              <a:t>SNMP</a:t>
            </a:r>
            <a:r>
              <a:rPr lang="zh-CN" altLang="en-US" b="1" dirty="0">
                <a:latin typeface="微软雅黑" pitchFamily="34" charset="-122"/>
                <a:ea typeface="微软雅黑" pitchFamily="34" charset="-122"/>
              </a:rPr>
              <a:t>提供</a:t>
            </a:r>
            <a:r>
              <a:rPr lang="zh-CN" altLang="en-US" b="1" dirty="0">
                <a:solidFill>
                  <a:srgbClr val="C00000"/>
                </a:solidFill>
                <a:latin typeface="微软雅黑" pitchFamily="34" charset="-122"/>
                <a:ea typeface="微软雅黑" pitchFamily="34" charset="-122"/>
              </a:rPr>
              <a:t>实际的网络管理通信机制</a:t>
            </a:r>
            <a:r>
              <a:rPr lang="zh-CN" altLang="en-US" b="1" dirty="0" smtClean="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实现</a:t>
            </a:r>
            <a:r>
              <a:rPr lang="zh-CN" altLang="en-US" b="1" dirty="0">
                <a:solidFill>
                  <a:srgbClr val="C00000"/>
                </a:solidFill>
                <a:latin typeface="微软雅黑" pitchFamily="34" charset="-122"/>
                <a:ea typeface="微软雅黑" pitchFamily="34" charset="-122"/>
              </a:rPr>
              <a:t>管理站和代理</a:t>
            </a:r>
            <a:r>
              <a:rPr lang="zh-CN" altLang="en-US" b="1" dirty="0">
                <a:latin typeface="微软雅黑" pitchFamily="34" charset="-122"/>
                <a:ea typeface="微软雅黑" pitchFamily="34" charset="-122"/>
              </a:rPr>
              <a:t>之间的</a:t>
            </a:r>
            <a:r>
              <a:rPr lang="zh-CN" altLang="en-US" b="1" dirty="0">
                <a:solidFill>
                  <a:srgbClr val="C00000"/>
                </a:solidFill>
                <a:latin typeface="微软雅黑" pitchFamily="34" charset="-122"/>
                <a:ea typeface="微软雅黑" pitchFamily="34" charset="-122"/>
              </a:rPr>
              <a:t>信息交换</a:t>
            </a:r>
            <a:r>
              <a:rPr lang="zh-CN" altLang="en-US" b="1" dirty="0">
                <a:latin typeface="微软雅黑" pitchFamily="34" charset="-122"/>
                <a:ea typeface="微软雅黑" pitchFamily="34" charset="-122"/>
              </a:rPr>
              <a:t>，执行</a:t>
            </a:r>
            <a:r>
              <a:rPr lang="zh-CN" altLang="en-US" b="1" dirty="0">
                <a:solidFill>
                  <a:srgbClr val="C00000"/>
                </a:solidFill>
                <a:latin typeface="微软雅黑" pitchFamily="34" charset="-122"/>
                <a:ea typeface="微软雅黑" pitchFamily="34" charset="-122"/>
              </a:rPr>
              <a:t>具体的监视和控制功能。</a:t>
            </a: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网络管理的基本概念</a:t>
            </a:r>
            <a:endParaRPr lang="en-US" altLang="zh-CN" sz="1100" b="1" dirty="0">
              <a:solidFill>
                <a:srgbClr val="0070C0"/>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9246162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01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208489" y="573748"/>
            <a:ext cx="27270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管理</a:t>
            </a:r>
            <a:r>
              <a:rPr lang="zh-CN" altLang="en-US" sz="2400" b="1" dirty="0">
                <a:solidFill>
                  <a:schemeClr val="bg1"/>
                </a:solidFill>
                <a:latin typeface="微软雅黑" pitchFamily="34" charset="-122"/>
                <a:ea typeface="微软雅黑" pitchFamily="34" charset="-122"/>
              </a:rPr>
              <a:t>信息结构 </a:t>
            </a:r>
            <a:r>
              <a:rPr lang="en-US" altLang="zh-CN" sz="2400" b="1" dirty="0" smtClean="0">
                <a:solidFill>
                  <a:schemeClr val="bg1"/>
                </a:solidFill>
                <a:latin typeface="微软雅黑" pitchFamily="34" charset="-122"/>
                <a:ea typeface="微软雅黑" pitchFamily="34" charset="-122"/>
              </a:rPr>
              <a:t>SMI</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1814263" y="4029304"/>
            <a:ext cx="8048776"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endParaRPr lang="zh-CN" altLang="en-US" sz="2000" b="1" dirty="0">
              <a:latin typeface="微软雅黑" pitchFamily="34" charset="-122"/>
              <a:ea typeface="微软雅黑" pitchFamily="34" charset="-122"/>
            </a:endParaRPr>
          </a:p>
          <a:p>
            <a:pPr marL="355600" indent="-342900" eaLnBrk="0" hangingPunct="0">
              <a:lnSpc>
                <a:spcPts val="3300"/>
              </a:lnSpc>
              <a:buClr>
                <a:srgbClr val="7030A0"/>
              </a:buClr>
              <a:buFont typeface="+mj-lt"/>
              <a:buAutoNum type="arabicPeriod"/>
            </a:pPr>
            <a:endParaRPr lang="zh-CN" altLang="en-US" sz="2000" b="1" dirty="0">
              <a:latin typeface="微软雅黑" pitchFamily="34" charset="-122"/>
              <a:ea typeface="微软雅黑" pitchFamily="34" charset="-122"/>
            </a:endParaRPr>
          </a:p>
        </p:txBody>
      </p:sp>
      <p:sp>
        <p:nvSpPr>
          <p:cNvPr id="8" name="Rectangle 68"/>
          <p:cNvSpPr>
            <a:spLocks noChangeArrowheads="1"/>
          </p:cNvSpPr>
          <p:nvPr/>
        </p:nvSpPr>
        <p:spPr bwMode="auto">
          <a:xfrm>
            <a:off x="556963" y="974622"/>
            <a:ext cx="8048776"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2900"/>
              </a:lnSpc>
              <a:buClr>
                <a:srgbClr val="0070C0"/>
              </a:buClr>
              <a:buFont typeface="Wingdings" pitchFamily="2" charset="2"/>
              <a:buChar char="l"/>
            </a:pPr>
            <a:r>
              <a:rPr lang="en-US" altLang="zh-CN" sz="2000" b="1" dirty="0" smtClean="0">
                <a:latin typeface="微软雅黑" pitchFamily="34" charset="-122"/>
                <a:ea typeface="微软雅黑" pitchFamily="34" charset="-122"/>
              </a:rPr>
              <a:t>SMI</a:t>
            </a:r>
            <a:r>
              <a:rPr lang="zh-CN" altLang="en-US" sz="2000" b="1" dirty="0">
                <a:latin typeface="微软雅黑" pitchFamily="34" charset="-122"/>
                <a:ea typeface="微软雅黑" pitchFamily="34" charset="-122"/>
              </a:rPr>
              <a:t>本质</a:t>
            </a:r>
            <a:r>
              <a:rPr lang="zh-CN" altLang="en-US" sz="2000" b="1" dirty="0" smtClean="0">
                <a:latin typeface="微软雅黑" pitchFamily="34" charset="-122"/>
                <a:ea typeface="微软雅黑" pitchFamily="34" charset="-122"/>
              </a:rPr>
              <a:t>上提供了一</a:t>
            </a:r>
            <a:r>
              <a:rPr lang="zh-CN" altLang="en-US" sz="2000" b="1" dirty="0">
                <a:latin typeface="微软雅黑" pitchFamily="34" charset="-122"/>
                <a:ea typeface="微软雅黑" pitchFamily="34" charset="-122"/>
              </a:rPr>
              <a:t>套</a:t>
            </a:r>
            <a:r>
              <a:rPr lang="zh-CN" altLang="en-US" sz="2000" b="1" dirty="0">
                <a:solidFill>
                  <a:srgbClr val="C00000"/>
                </a:solidFill>
                <a:latin typeface="微软雅黑" pitchFamily="34" charset="-122"/>
                <a:ea typeface="微软雅黑" pitchFamily="34" charset="-122"/>
              </a:rPr>
              <a:t>抽象</a:t>
            </a:r>
            <a:r>
              <a:rPr lang="zh-CN" altLang="en-US" sz="2000" b="1" dirty="0" smtClean="0">
                <a:solidFill>
                  <a:srgbClr val="C00000"/>
                </a:solidFill>
                <a:latin typeface="微软雅黑" pitchFamily="34" charset="-122"/>
                <a:ea typeface="微软雅黑" pitchFamily="34" charset="-122"/>
              </a:rPr>
              <a:t>语法</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800100" lvl="1" indent="-34290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规范被</a:t>
            </a:r>
            <a:r>
              <a:rPr lang="zh-CN" altLang="en-US" b="1" dirty="0">
                <a:latin typeface="微软雅黑" pitchFamily="34" charset="-122"/>
                <a:ea typeface="微软雅黑" pitchFamily="34" charset="-122"/>
              </a:rPr>
              <a:t>管</a:t>
            </a:r>
            <a:r>
              <a:rPr lang="zh-CN" altLang="en-US" b="1" dirty="0" smtClean="0">
                <a:latin typeface="微软雅黑" pitchFamily="34" charset="-122"/>
                <a:ea typeface="微软雅黑" pitchFamily="34" charset="-122"/>
              </a:rPr>
              <a:t>对象的命名机制。</a:t>
            </a:r>
            <a:endParaRPr lang="en-US" altLang="zh-CN" b="1" dirty="0" smtClean="0">
              <a:latin typeface="微软雅黑" pitchFamily="34" charset="-122"/>
              <a:ea typeface="微软雅黑" pitchFamily="34" charset="-122"/>
            </a:endParaRPr>
          </a:p>
          <a:p>
            <a:pPr marL="1257300" lvl="2" indent="-34290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基于</a:t>
            </a:r>
            <a:r>
              <a:rPr lang="zh-CN" altLang="en-US" b="1" dirty="0" smtClean="0">
                <a:solidFill>
                  <a:srgbClr val="C00000"/>
                </a:solidFill>
                <a:latin typeface="微软雅黑" pitchFamily="34" charset="-122"/>
                <a:ea typeface="微软雅黑" pitchFamily="34" charset="-122"/>
              </a:rPr>
              <a:t>对象</a:t>
            </a:r>
            <a:r>
              <a:rPr lang="zh-CN" altLang="en-US" b="1" dirty="0">
                <a:solidFill>
                  <a:srgbClr val="C00000"/>
                </a:solidFill>
                <a:latin typeface="微软雅黑" pitchFamily="34" charset="-122"/>
                <a:ea typeface="微软雅黑" pitchFamily="34" charset="-122"/>
              </a:rPr>
              <a:t>命名树</a:t>
            </a:r>
            <a:r>
              <a:rPr lang="en-US" altLang="zh-CN" b="1" dirty="0">
                <a:solidFill>
                  <a:srgbClr val="C00000"/>
                </a:solidFill>
                <a:latin typeface="微软雅黑" pitchFamily="34" charset="-122"/>
                <a:ea typeface="微软雅黑" pitchFamily="34" charset="-122"/>
              </a:rPr>
              <a:t>(object naming tree</a:t>
            </a:r>
            <a:r>
              <a:rPr lang="en-US" altLang="zh-CN" b="1" dirty="0" smtClean="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，确保每个被管对象都有全网唯一的名字。</a:t>
            </a:r>
            <a:endParaRPr lang="en-US" altLang="zh-CN" b="1" dirty="0">
              <a:latin typeface="微软雅黑" pitchFamily="34" charset="-122"/>
              <a:ea typeface="微软雅黑" pitchFamily="34" charset="-122"/>
            </a:endParaRPr>
          </a:p>
          <a:p>
            <a:pPr marL="800100" lvl="1" indent="-34290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定义被</a:t>
            </a:r>
            <a:r>
              <a:rPr lang="zh-CN" altLang="en-US" b="1" dirty="0">
                <a:latin typeface="微软雅黑" pitchFamily="34" charset="-122"/>
                <a:ea typeface="微软雅黑" pitchFamily="34" charset="-122"/>
              </a:rPr>
              <a:t>管对象的</a:t>
            </a:r>
            <a:r>
              <a:rPr lang="zh-CN" altLang="en-US" b="1" dirty="0" smtClean="0">
                <a:latin typeface="微软雅黑" pitchFamily="34" charset="-122"/>
                <a:ea typeface="微软雅黑" pitchFamily="34" charset="-122"/>
              </a:rPr>
              <a:t>数据类型。</a:t>
            </a:r>
            <a:endParaRPr lang="en-US" altLang="zh-CN" b="1" dirty="0" smtClean="0">
              <a:latin typeface="微软雅黑" pitchFamily="34" charset="-122"/>
              <a:ea typeface="微软雅黑" pitchFamily="34" charset="-122"/>
            </a:endParaRPr>
          </a:p>
          <a:p>
            <a:pPr marL="1257300" lvl="2" indent="-342900" hangingPunct="0">
              <a:lnSpc>
                <a:spcPts val="2900"/>
              </a:lnSpc>
              <a:buClr>
                <a:srgbClr val="0070C0"/>
              </a:buClr>
              <a:buFont typeface="Wingdings" pitchFamily="2" charset="2"/>
              <a:buChar char="l"/>
            </a:pPr>
            <a:r>
              <a:rPr lang="zh-CN" altLang="en-US" b="1" dirty="0">
                <a:latin typeface="微软雅黑" pitchFamily="34" charset="-122"/>
                <a:ea typeface="微软雅黑" pitchFamily="34" charset="-122"/>
              </a:rPr>
              <a:t>使用基本的</a:t>
            </a:r>
            <a:r>
              <a:rPr lang="zh-CN" altLang="en-US" b="1" dirty="0">
                <a:solidFill>
                  <a:srgbClr val="C00000"/>
                </a:solidFill>
                <a:latin typeface="微软雅黑" pitchFamily="34" charset="-122"/>
                <a:ea typeface="微软雅黑" pitchFamily="34" charset="-122"/>
              </a:rPr>
              <a:t>抽象语法记法</a:t>
            </a:r>
            <a:r>
              <a:rPr lang="zh-CN" altLang="en-US" b="1" dirty="0" smtClean="0">
                <a:latin typeface="微软雅黑" pitchFamily="34" charset="-122"/>
                <a:ea typeface="微软雅黑" pitchFamily="34" charset="-122"/>
              </a:rPr>
              <a:t>（即 </a:t>
            </a:r>
            <a:r>
              <a:rPr lang="en-US" altLang="zh-CN" b="1" dirty="0" smtClean="0">
                <a:latin typeface="微软雅黑" pitchFamily="34" charset="-122"/>
                <a:ea typeface="微软雅黑" pitchFamily="34" charset="-122"/>
              </a:rPr>
              <a:t>ISO </a:t>
            </a:r>
            <a:r>
              <a:rPr lang="zh-CN" altLang="en-US" b="1" dirty="0" smtClean="0">
                <a:latin typeface="微软雅黑" pitchFamily="34" charset="-122"/>
                <a:ea typeface="微软雅黑" pitchFamily="34" charset="-122"/>
              </a:rPr>
              <a:t>制定的 </a:t>
            </a:r>
            <a:r>
              <a:rPr lang="en-US" altLang="zh-CN" b="1" dirty="0" smtClean="0">
                <a:latin typeface="微软雅黑" pitchFamily="34" charset="-122"/>
                <a:ea typeface="微软雅黑" pitchFamily="34" charset="-122"/>
              </a:rPr>
              <a:t>ASN.1</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来定义</a:t>
            </a:r>
            <a:r>
              <a:rPr lang="zh-CN" altLang="en-US" b="1" dirty="0" smtClean="0">
                <a:latin typeface="微软雅黑" pitchFamily="34" charset="-122"/>
                <a:ea typeface="微软雅黑" pitchFamily="34" charset="-122"/>
              </a:rPr>
              <a:t>数据类型，确保数据不存在二义性。</a:t>
            </a:r>
            <a:endParaRPr lang="zh-CN" altLang="en-US" b="1" dirty="0">
              <a:latin typeface="微软雅黑" pitchFamily="34" charset="-122"/>
              <a:ea typeface="微软雅黑" pitchFamily="34" charset="-122"/>
            </a:endParaRPr>
          </a:p>
          <a:p>
            <a:pPr marL="800100" lvl="1" indent="-34290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定义管理数据通过</a:t>
            </a:r>
            <a:r>
              <a:rPr lang="zh-CN" altLang="en-US" b="1" dirty="0">
                <a:latin typeface="微软雅黑" pitchFamily="34" charset="-122"/>
                <a:ea typeface="微软雅黑" pitchFamily="34" charset="-122"/>
              </a:rPr>
              <a:t>网络传输</a:t>
            </a:r>
            <a:r>
              <a:rPr lang="zh-CN" altLang="en-US" b="1" dirty="0" smtClean="0">
                <a:latin typeface="微软雅黑" pitchFamily="34" charset="-122"/>
                <a:ea typeface="微软雅黑" pitchFamily="34" charset="-122"/>
              </a:rPr>
              <a:t>时的编码规则。 </a:t>
            </a:r>
            <a:endParaRPr lang="zh-CN" altLang="en-US" b="1" dirty="0">
              <a:latin typeface="微软雅黑" pitchFamily="34" charset="-122"/>
              <a:ea typeface="微软雅黑" pitchFamily="34" charset="-122"/>
            </a:endParaRPr>
          </a:p>
          <a:p>
            <a:pPr marL="1257300" lvl="2" indent="-342900"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使用 </a:t>
            </a:r>
            <a:r>
              <a:rPr lang="en-US" altLang="zh-CN" b="1" dirty="0" smtClean="0">
                <a:solidFill>
                  <a:srgbClr val="C00000"/>
                </a:solidFill>
                <a:latin typeface="微软雅黑" pitchFamily="34" charset="-122"/>
                <a:ea typeface="微软雅黑" pitchFamily="34" charset="-122"/>
              </a:rPr>
              <a:t>ASN.1 </a:t>
            </a:r>
            <a:r>
              <a:rPr lang="zh-CN" altLang="en-US" b="1" dirty="0" smtClean="0">
                <a:solidFill>
                  <a:srgbClr val="C00000"/>
                </a:solidFill>
                <a:latin typeface="微软雅黑" pitchFamily="34" charset="-122"/>
                <a:ea typeface="微软雅黑" pitchFamily="34" charset="-122"/>
              </a:rPr>
              <a:t>的基本</a:t>
            </a:r>
            <a:r>
              <a:rPr lang="zh-CN" altLang="en-US" b="1" dirty="0">
                <a:solidFill>
                  <a:srgbClr val="C00000"/>
                </a:solidFill>
                <a:latin typeface="微软雅黑" pitchFamily="34" charset="-122"/>
                <a:ea typeface="微软雅黑" pitchFamily="34" charset="-122"/>
              </a:rPr>
              <a:t>编码</a:t>
            </a:r>
            <a:r>
              <a:rPr lang="zh-CN" altLang="en-US" b="1" dirty="0" smtClean="0">
                <a:solidFill>
                  <a:srgbClr val="C00000"/>
                </a:solidFill>
                <a:latin typeface="微软雅黑" pitchFamily="34" charset="-122"/>
                <a:ea typeface="微软雅黑" pitchFamily="34" charset="-122"/>
              </a:rPr>
              <a:t>规则 </a:t>
            </a:r>
            <a:r>
              <a:rPr lang="en-US" altLang="zh-CN" b="1" dirty="0" smtClean="0">
                <a:solidFill>
                  <a:srgbClr val="C00000"/>
                </a:solidFill>
                <a:latin typeface="微软雅黑" pitchFamily="34" charset="-122"/>
                <a:ea typeface="微软雅黑" pitchFamily="34" charset="-122"/>
              </a:rPr>
              <a:t>BER </a:t>
            </a:r>
            <a:r>
              <a:rPr lang="en-US" altLang="zh-CN" b="1" dirty="0">
                <a:latin typeface="微软雅黑" pitchFamily="34" charset="-122"/>
                <a:ea typeface="微软雅黑" pitchFamily="34" charset="-122"/>
              </a:rPr>
              <a:t>(Basic Encoding Rule)</a:t>
            </a:r>
            <a:r>
              <a:rPr lang="zh-CN" altLang="en-US" b="1" dirty="0">
                <a:latin typeface="微软雅黑" pitchFamily="34" charset="-122"/>
                <a:ea typeface="微软雅黑" pitchFamily="34" charset="-122"/>
              </a:rPr>
              <a:t>进行数据的</a:t>
            </a:r>
            <a:r>
              <a:rPr lang="zh-CN" altLang="en-US" b="1" dirty="0" smtClean="0">
                <a:latin typeface="微软雅黑" pitchFamily="34" charset="-122"/>
                <a:ea typeface="微软雅黑" pitchFamily="34" charset="-122"/>
              </a:rPr>
              <a:t>编码，确保接收方能够正确解析。</a:t>
            </a:r>
            <a:endParaRPr lang="en-US" altLang="zh-CN" b="1" dirty="0" smtClean="0">
              <a:latin typeface="微软雅黑" pitchFamily="34" charset="-122"/>
              <a:ea typeface="微软雅黑" pitchFamily="34" charset="-122"/>
            </a:endParaRPr>
          </a:p>
        </p:txBody>
      </p:sp>
      <p:sp>
        <p:nvSpPr>
          <p:cNvPr id="9"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custDataLst>
      <p:tags r:id="rId1"/>
    </p:custDataLst>
    <p:extLst>
      <p:ext uri="{BB962C8B-B14F-4D97-AF65-F5344CB8AC3E}">
        <p14:creationId xmlns:p14="http://schemas.microsoft.com/office/powerpoint/2010/main" val="27243806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fad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4" end="4"/>
                                            </p:txEl>
                                          </p:spTgt>
                                        </p:tgtEl>
                                        <p:attrNameLst>
                                          <p:attrName>style.visibility</p:attrName>
                                        </p:attrNameLst>
                                      </p:cBhvr>
                                      <p:to>
                                        <p:strVal val="visible"/>
                                      </p:to>
                                    </p:set>
                                    <p:animEffect transition="in" filter="fade">
                                      <p:cBhvr>
                                        <p:cTn id="12" dur="500"/>
                                        <p:tgtEl>
                                          <p:spTgt spid="8">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6" end="6"/>
                                            </p:txEl>
                                          </p:spTgt>
                                        </p:tgtEl>
                                        <p:attrNameLst>
                                          <p:attrName>style.visibility</p:attrName>
                                        </p:attrNameLst>
                                      </p:cBhvr>
                                      <p:to>
                                        <p:strVal val="visible"/>
                                      </p:to>
                                    </p:set>
                                    <p:animEffect transition="in" filter="fade">
                                      <p:cBhvr>
                                        <p:cTn id="17" dur="500"/>
                                        <p:tgtEl>
                                          <p:spTgt spid="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825630" y="582898"/>
            <a:ext cx="55114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smtClean="0">
                <a:solidFill>
                  <a:schemeClr val="bg1"/>
                </a:solidFill>
                <a:latin typeface="微软雅黑" pitchFamily="34" charset="-122"/>
                <a:ea typeface="微软雅黑" pitchFamily="34" charset="-122"/>
              </a:rPr>
              <a:t>规定：所有</a:t>
            </a:r>
            <a:r>
              <a:rPr lang="zh-CN" altLang="en-US" sz="2000" b="1" dirty="0">
                <a:solidFill>
                  <a:schemeClr val="bg1"/>
                </a:solidFill>
                <a:latin typeface="微软雅黑" pitchFamily="34" charset="-122"/>
                <a:ea typeface="微软雅黑" pitchFamily="34" charset="-122"/>
              </a:rPr>
              <a:t>被管对象必须</a:t>
            </a:r>
            <a:r>
              <a:rPr lang="zh-CN" altLang="en-US" sz="2000" b="1" dirty="0" smtClean="0">
                <a:solidFill>
                  <a:schemeClr val="bg1"/>
                </a:solidFill>
                <a:latin typeface="微软雅黑" pitchFamily="34" charset="-122"/>
                <a:ea typeface="微软雅黑" pitchFamily="34" charset="-122"/>
              </a:rPr>
              <a:t>在</a:t>
            </a:r>
            <a:r>
              <a:rPr lang="zh-CN" altLang="en-US" sz="2000" b="1" dirty="0">
                <a:solidFill>
                  <a:srgbClr val="FFFF00"/>
                </a:solidFill>
                <a:latin typeface="微软雅黑" pitchFamily="34" charset="-122"/>
                <a:ea typeface="微软雅黑" pitchFamily="34" charset="-122"/>
              </a:rPr>
              <a:t>对象命名树</a:t>
            </a:r>
            <a:r>
              <a:rPr lang="zh-CN" altLang="en-US" sz="2000" b="1" dirty="0" smtClean="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1070847"/>
            <a:ext cx="7020910" cy="489206"/>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extLst>
      <p:ext uri="{BB962C8B-B14F-4D97-AF65-F5344CB8AC3E}">
        <p14:creationId xmlns:p14="http://schemas.microsoft.com/office/powerpoint/2010/main" val="1436659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889750" y="582898"/>
            <a:ext cx="53832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a:t>
            </a:r>
            <a:r>
              <a:rPr lang="zh-CN" altLang="en-US" sz="2000" b="1" dirty="0" smtClean="0">
                <a:solidFill>
                  <a:schemeClr val="bg1"/>
                </a:solidFill>
                <a:latin typeface="微软雅黑" pitchFamily="34" charset="-122"/>
                <a:ea typeface="微软雅黑" pitchFamily="34" charset="-122"/>
              </a:rPr>
              <a:t>在</a:t>
            </a:r>
            <a:r>
              <a:rPr lang="zh-CN" altLang="en-US" sz="2000" b="1" dirty="0">
                <a:solidFill>
                  <a:srgbClr val="FFFF00"/>
                </a:solidFill>
                <a:latin typeface="微软雅黑" pitchFamily="34" charset="-122"/>
                <a:ea typeface="微软雅黑" pitchFamily="34" charset="-122"/>
              </a:rPr>
              <a:t>对象命名树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1554307"/>
            <a:ext cx="7020910" cy="76411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extLst>
      <p:ext uri="{BB962C8B-B14F-4D97-AF65-F5344CB8AC3E}">
        <p14:creationId xmlns:p14="http://schemas.microsoft.com/office/powerpoint/2010/main" val="15299516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889750" y="582898"/>
            <a:ext cx="53832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a:t>
            </a:r>
            <a:r>
              <a:rPr lang="zh-CN" altLang="en-US" sz="2000" b="1" dirty="0" smtClean="0">
                <a:solidFill>
                  <a:schemeClr val="bg1"/>
                </a:solidFill>
                <a:latin typeface="微软雅黑" pitchFamily="34" charset="-122"/>
                <a:ea typeface="微软雅黑" pitchFamily="34" charset="-122"/>
              </a:rPr>
              <a:t>在</a:t>
            </a:r>
            <a:r>
              <a:rPr lang="zh-CN" altLang="en-US" sz="2000" b="1" dirty="0">
                <a:solidFill>
                  <a:srgbClr val="FFFF00"/>
                </a:solidFill>
                <a:latin typeface="微软雅黑" pitchFamily="34" charset="-122"/>
                <a:ea typeface="微软雅黑" pitchFamily="34" charset="-122"/>
              </a:rPr>
              <a:t>对象命名树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extLst>
      <p:ext uri="{BB962C8B-B14F-4D97-AF65-F5344CB8AC3E}">
        <p14:creationId xmlns:p14="http://schemas.microsoft.com/office/powerpoint/2010/main" val="4924061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98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34861" y="576769"/>
            <a:ext cx="24929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被管对象的数据类型</a:t>
            </a:r>
          </a:p>
        </p:txBody>
      </p:sp>
      <p:sp>
        <p:nvSpPr>
          <p:cNvPr id="4" name="Rectangle 68"/>
          <p:cNvSpPr>
            <a:spLocks noChangeArrowheads="1"/>
          </p:cNvSpPr>
          <p:nvPr/>
        </p:nvSpPr>
        <p:spPr bwMode="auto">
          <a:xfrm>
            <a:off x="483811" y="971070"/>
            <a:ext cx="8121928"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a:t>
            </a:r>
            <a:r>
              <a:rPr lang="zh-CN" altLang="en-US" sz="2000" b="1" dirty="0" smtClean="0">
                <a:latin typeface="微软雅黑" pitchFamily="34" charset="-122"/>
                <a:ea typeface="微软雅黑" pitchFamily="34" charset="-122"/>
              </a:rPr>
              <a:t>使用</a:t>
            </a:r>
            <a:r>
              <a:rPr lang="zh-CN" altLang="en-US" sz="2000" b="1" dirty="0">
                <a:latin typeface="微软雅黑" pitchFamily="34" charset="-122"/>
                <a:ea typeface="微软雅黑" pitchFamily="34" charset="-122"/>
              </a:rPr>
              <a:t>基本的</a:t>
            </a:r>
            <a:r>
              <a:rPr lang="zh-CN" altLang="en-US" sz="2000" b="1" dirty="0">
                <a:solidFill>
                  <a:srgbClr val="C00000"/>
                </a:solidFill>
                <a:latin typeface="微软雅黑" pitchFamily="34" charset="-122"/>
                <a:ea typeface="微软雅黑" pitchFamily="34" charset="-122"/>
              </a:rPr>
              <a:t>抽象语法记法</a:t>
            </a:r>
            <a:r>
              <a:rPr lang="en-US" altLang="zh-CN" sz="2000" b="1" dirty="0">
                <a:solidFill>
                  <a:srgbClr val="C00000"/>
                </a:solidFill>
                <a:latin typeface="微软雅黑" pitchFamily="34" charset="-122"/>
                <a:ea typeface="微软雅黑" pitchFamily="34" charset="-122"/>
              </a:rPr>
              <a:t>1 (ASN.1)</a:t>
            </a:r>
            <a:r>
              <a:rPr lang="zh-CN" altLang="en-US" sz="2000" b="1" dirty="0">
                <a:latin typeface="微软雅黑" pitchFamily="34" charset="-122"/>
                <a:ea typeface="微软雅黑" pitchFamily="34" charset="-122"/>
              </a:rPr>
              <a:t>来定义</a:t>
            </a:r>
            <a:r>
              <a:rPr lang="zh-CN" altLang="en-US" sz="2000" b="1" dirty="0" smtClean="0">
                <a:latin typeface="微软雅黑" pitchFamily="34" charset="-122"/>
                <a:ea typeface="微软雅黑" pitchFamily="34" charset="-122"/>
              </a:rPr>
              <a:t>数据类型，</a:t>
            </a:r>
            <a:r>
              <a:rPr lang="zh-CN" altLang="en-US" sz="2000" b="1" dirty="0">
                <a:latin typeface="微软雅黑" pitchFamily="34" charset="-122"/>
                <a:ea typeface="微软雅黑" pitchFamily="34" charset="-122"/>
              </a:rPr>
              <a:t>因此</a:t>
            </a:r>
            <a:r>
              <a:rPr lang="zh-CN" altLang="en-US" sz="2000" b="1" dirty="0">
                <a:solidFill>
                  <a:srgbClr val="C00000"/>
                </a:solidFill>
                <a:latin typeface="微软雅黑" pitchFamily="34" charset="-122"/>
                <a:ea typeface="微软雅黑" pitchFamily="34" charset="-122"/>
              </a:rPr>
              <a:t>在语法结构上</a:t>
            </a:r>
            <a:r>
              <a:rPr lang="zh-CN" altLang="en-US" sz="2000" b="1" dirty="0">
                <a:latin typeface="微软雅黑" pitchFamily="34" charset="-122"/>
                <a:ea typeface="微软雅黑" pitchFamily="34" charset="-122"/>
              </a:rPr>
              <a:t>可以看作是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子集。</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为了适应网络管理的需要，</a:t>
            </a:r>
            <a:r>
              <a:rPr lang="en-US" altLang="zh-CN" sz="2000" b="1" dirty="0">
                <a:latin typeface="微软雅黑" pitchFamily="34" charset="-122"/>
                <a:ea typeface="微软雅黑" pitchFamily="34" charset="-122"/>
              </a:rPr>
              <a:t>SMI</a:t>
            </a: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ASN.1</a:t>
            </a:r>
            <a:r>
              <a:rPr lang="zh-CN" altLang="en-US" sz="2000" b="1" dirty="0">
                <a:latin typeface="微软雅黑" pitchFamily="34" charset="-122"/>
                <a:ea typeface="微软雅黑" pitchFamily="34" charset="-122"/>
              </a:rPr>
              <a:t>基础</a:t>
            </a:r>
            <a:r>
              <a:rPr lang="zh-CN" altLang="en-US" sz="2000" b="1" dirty="0" smtClean="0">
                <a:latin typeface="微软雅黑" pitchFamily="34" charset="-122"/>
                <a:ea typeface="微软雅黑" pitchFamily="34" charset="-122"/>
              </a:rPr>
              <a:t>上又</a:t>
            </a:r>
            <a:r>
              <a:rPr lang="zh-CN" altLang="en-US" sz="2000" b="1" dirty="0" smtClean="0">
                <a:solidFill>
                  <a:srgbClr val="C00000"/>
                </a:solidFill>
                <a:latin typeface="微软雅黑" pitchFamily="34" charset="-122"/>
                <a:ea typeface="微软雅黑" pitchFamily="34" charset="-122"/>
              </a:rPr>
              <a:t>添加</a:t>
            </a:r>
            <a:r>
              <a:rPr lang="zh-CN" altLang="en-US" sz="2000" b="1" dirty="0">
                <a:solidFill>
                  <a:srgbClr val="C00000"/>
                </a:solidFill>
                <a:latin typeface="微软雅黑" pitchFamily="34" charset="-122"/>
                <a:ea typeface="微软雅黑" pitchFamily="34" charset="-122"/>
              </a:rPr>
              <a:t>了网络管理专用的扩展</a:t>
            </a:r>
            <a:r>
              <a:rPr lang="zh-CN" altLang="en-US" sz="2000" b="1" dirty="0">
                <a:latin typeface="微软雅黑" pitchFamily="34" charset="-122"/>
                <a:ea typeface="微软雅黑" pitchFamily="34" charset="-122"/>
              </a:rPr>
              <a:t>，例如定义了</a:t>
            </a:r>
            <a:r>
              <a:rPr lang="en-US" altLang="zh-CN" sz="2000" b="1" dirty="0">
                <a:latin typeface="微软雅黑" pitchFamily="34" charset="-122"/>
                <a:ea typeface="微软雅黑" pitchFamily="34" charset="-122"/>
              </a:rPr>
              <a:t>OBJECT-TYPE</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MODULE-IDENTITY</a:t>
            </a:r>
            <a:r>
              <a:rPr lang="zh-CN" altLang="en-US" sz="2000" b="1" dirty="0" smtClean="0">
                <a:latin typeface="微软雅黑" pitchFamily="34" charset="-122"/>
                <a:ea typeface="微软雅黑" pitchFamily="34" charset="-122"/>
              </a:rPr>
              <a:t>等宏，因此</a:t>
            </a:r>
            <a:r>
              <a:rPr lang="zh-CN" altLang="en-US" sz="2000" b="1" dirty="0">
                <a:solidFill>
                  <a:srgbClr val="C00000"/>
                </a:solidFill>
                <a:latin typeface="微软雅黑" pitchFamily="34" charset="-122"/>
                <a:ea typeface="微软雅黑" pitchFamily="34" charset="-122"/>
              </a:rPr>
              <a:t>在功能上</a:t>
            </a:r>
            <a:r>
              <a:rPr lang="zh-CN" altLang="en-US" sz="2000" b="1" dirty="0" smtClean="0">
                <a:latin typeface="微软雅黑" pitchFamily="34" charset="-122"/>
                <a:ea typeface="微软雅黑" pitchFamily="34" charset="-122"/>
              </a:rPr>
              <a:t>又</a:t>
            </a:r>
            <a:r>
              <a:rPr lang="zh-CN" altLang="en-US" sz="2000" b="1" dirty="0">
                <a:latin typeface="微软雅黑" pitchFamily="34" charset="-122"/>
                <a:ea typeface="微软雅黑" pitchFamily="34" charset="-122"/>
              </a:rPr>
              <a:t>可以看着是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的超集</a:t>
            </a:r>
            <a:r>
              <a:rPr lang="zh-CN" altLang="en-US" sz="2000"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 </a:t>
            </a:r>
            <a:endParaRPr lang="zh-CN" altLang="en-US"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的记法很严格</a:t>
            </a:r>
            <a:r>
              <a:rPr lang="zh-CN" altLang="en-US" sz="2000" b="1" dirty="0" smtClean="0">
                <a:latin typeface="微软雅黑" pitchFamily="34" charset="-122"/>
                <a:ea typeface="微软雅黑" pitchFamily="34" charset="-122"/>
              </a:rPr>
              <a:t>，使得</a:t>
            </a:r>
            <a:r>
              <a:rPr lang="zh-CN" altLang="en-US" sz="2000" b="1" dirty="0">
                <a:latin typeface="微软雅黑" pitchFamily="34" charset="-122"/>
                <a:ea typeface="微软雅黑" pitchFamily="34" charset="-122"/>
              </a:rPr>
              <a:t>数据的含义</a:t>
            </a:r>
            <a:r>
              <a:rPr lang="zh-CN" altLang="en-US" sz="2000" b="1" dirty="0">
                <a:solidFill>
                  <a:srgbClr val="C00000"/>
                </a:solidFill>
                <a:latin typeface="微软雅黑" pitchFamily="34" charset="-122"/>
                <a:ea typeface="微软雅黑" pitchFamily="34" charset="-122"/>
              </a:rPr>
              <a:t>不存在</a:t>
            </a:r>
            <a:r>
              <a:rPr lang="zh-CN" altLang="en-US" sz="2000" b="1" dirty="0">
                <a:latin typeface="微软雅黑" pitchFamily="34" charset="-122"/>
                <a:ea typeface="微软雅黑" pitchFamily="34" charset="-122"/>
              </a:rPr>
              <a:t>任何可能的</a:t>
            </a:r>
            <a:r>
              <a:rPr lang="zh-CN" altLang="en-US" sz="2000" b="1" dirty="0">
                <a:solidFill>
                  <a:srgbClr val="C00000"/>
                </a:solidFill>
                <a:latin typeface="微软雅黑" pitchFamily="34" charset="-122"/>
                <a:ea typeface="微软雅黑" pitchFamily="34" charset="-122"/>
              </a:rPr>
              <a:t>二义性</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custDataLst>
      <p:tags r:id="rId1"/>
    </p:custDataLst>
    <p:extLst>
      <p:ext uri="{BB962C8B-B14F-4D97-AF65-F5344CB8AC3E}">
        <p14:creationId xmlns:p14="http://schemas.microsoft.com/office/powerpoint/2010/main" val="14851347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32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34861" y="578112"/>
            <a:ext cx="24929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被管对象的数据类型</a:t>
            </a:r>
          </a:p>
        </p:txBody>
      </p:sp>
      <p:sp>
        <p:nvSpPr>
          <p:cNvPr id="4" name="Rectangle 68"/>
          <p:cNvSpPr>
            <a:spLocks noChangeArrowheads="1"/>
          </p:cNvSpPr>
          <p:nvPr/>
        </p:nvSpPr>
        <p:spPr bwMode="auto">
          <a:xfrm>
            <a:off x="556963" y="2446042"/>
            <a:ext cx="803070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solidFill>
                  <a:srgbClr val="0000FF"/>
                </a:solidFill>
                <a:latin typeface="微软雅黑" pitchFamily="34" charset="-122"/>
                <a:ea typeface="微软雅黑" pitchFamily="34" charset="-122"/>
              </a:rPr>
              <a:t>SMI </a:t>
            </a:r>
            <a:r>
              <a:rPr lang="zh-CN" altLang="en-US" sz="2000" b="1" dirty="0">
                <a:solidFill>
                  <a:srgbClr val="0000FF"/>
                </a:solidFill>
                <a:latin typeface="微软雅黑" pitchFamily="34" charset="-122"/>
                <a:ea typeface="微软雅黑" pitchFamily="34" charset="-122"/>
              </a:rPr>
              <a:t>把数据类型分为两大类</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简单类型</a:t>
            </a:r>
            <a:endParaRPr lang="en-US" altLang="zh-CN" sz="2000" b="1" dirty="0" smtClean="0">
              <a:latin typeface="微软雅黑" pitchFamily="34" charset="-122"/>
              <a:ea typeface="微软雅黑"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结构化类型 </a:t>
            </a:r>
            <a:endParaRPr lang="zh-CN" altLang="en-US" sz="2000" b="1" dirty="0">
              <a:latin typeface="微软雅黑" pitchFamily="34" charset="-122"/>
              <a:ea typeface="微软雅黑" pitchFamily="34" charset="-122"/>
            </a:endParaRPr>
          </a:p>
        </p:txBody>
      </p:sp>
      <p:grpSp>
        <p:nvGrpSpPr>
          <p:cNvPr id="9" name="组合 8"/>
          <p:cNvGrpSpPr/>
          <p:nvPr/>
        </p:nvGrpSpPr>
        <p:grpSpPr>
          <a:xfrm>
            <a:off x="2356587" y="1107030"/>
            <a:ext cx="4453041" cy="1223067"/>
            <a:chOff x="1124801" y="2309534"/>
            <a:chExt cx="4581132" cy="1223067"/>
          </a:xfrm>
        </p:grpSpPr>
        <p:sp>
          <p:nvSpPr>
            <p:cNvPr id="5" name="Text Box 4"/>
            <p:cNvSpPr txBox="1">
              <a:spLocks noChangeArrowheads="1"/>
            </p:cNvSpPr>
            <p:nvPr/>
          </p:nvSpPr>
          <p:spPr bwMode="auto">
            <a:xfrm>
              <a:off x="1124801" y="271448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dirty="0" smtClean="0">
                  <a:latin typeface="微软雅黑" pitchFamily="34" charset="-122"/>
                  <a:ea typeface="微软雅黑" pitchFamily="34" charset="-122"/>
                </a:rPr>
                <a:t>数据</a:t>
              </a:r>
              <a:endParaRPr lang="zh-CN" altLang="en-US" sz="2000" b="1" dirty="0">
                <a:latin typeface="微软雅黑" pitchFamily="34" charset="-122"/>
                <a:ea typeface="微软雅黑" pitchFamily="34" charset="-122"/>
              </a:endParaRPr>
            </a:p>
          </p:txBody>
        </p:sp>
        <p:sp>
          <p:nvSpPr>
            <p:cNvPr id="6" name="Text Box 4"/>
            <p:cNvSpPr txBox="1">
              <a:spLocks noChangeArrowheads="1"/>
            </p:cNvSpPr>
            <p:nvPr/>
          </p:nvSpPr>
          <p:spPr bwMode="auto">
            <a:xfrm>
              <a:off x="2039196" y="2309534"/>
              <a:ext cx="26588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pitchFamily="34" charset="-122"/>
                  <a:ea typeface="微软雅黑" pitchFamily="34" charset="-122"/>
                </a:rPr>
                <a:t>类型：</a:t>
              </a:r>
              <a:r>
                <a:rPr lang="zh-CN" altLang="en-US" sz="2000" b="1" dirty="0">
                  <a:latin typeface="微软雅黑" pitchFamily="34" charset="-122"/>
                  <a:ea typeface="微软雅黑" pitchFamily="34" charset="-122"/>
                </a:rPr>
                <a:t>值集合的名字</a:t>
              </a:r>
            </a:p>
          </p:txBody>
        </p:sp>
        <p:sp>
          <p:nvSpPr>
            <p:cNvPr id="7" name="Text Box 4"/>
            <p:cNvSpPr txBox="1">
              <a:spLocks noChangeArrowheads="1"/>
            </p:cNvSpPr>
            <p:nvPr/>
          </p:nvSpPr>
          <p:spPr bwMode="auto">
            <a:xfrm>
              <a:off x="2039196" y="3132491"/>
              <a:ext cx="36667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pitchFamily="34" charset="-122"/>
                  <a:ea typeface="微软雅黑" pitchFamily="34" charset="-122"/>
                </a:rPr>
                <a:t>值：</a:t>
              </a:r>
              <a:r>
                <a:rPr lang="zh-CN" altLang="en-US" sz="2000" b="1" dirty="0">
                  <a:latin typeface="微软雅黑" pitchFamily="34" charset="-122"/>
                  <a:ea typeface="微软雅黑" pitchFamily="34" charset="-122"/>
                </a:rPr>
                <a:t>某个值集合中的一个元素</a:t>
              </a:r>
            </a:p>
          </p:txBody>
        </p:sp>
        <p:sp>
          <p:nvSpPr>
            <p:cNvPr id="8" name="左大括号 7"/>
            <p:cNvSpPr/>
            <p:nvPr/>
          </p:nvSpPr>
          <p:spPr>
            <a:xfrm>
              <a:off x="1831347" y="2509589"/>
              <a:ext cx="184373" cy="822957"/>
            </a:xfrm>
            <a:prstGeom prst="leftBrace">
              <a:avLst>
                <a:gd name="adj1" fmla="val 27688"/>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0"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extLst>
      <p:ext uri="{BB962C8B-B14F-4D97-AF65-F5344CB8AC3E}">
        <p14:creationId xmlns:p14="http://schemas.microsoft.com/office/powerpoint/2010/main" val="14332946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0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172159" y="582835"/>
            <a:ext cx="2818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SMI </a:t>
            </a:r>
            <a:r>
              <a:rPr lang="zh-CN" altLang="en-US" sz="2000" b="1" dirty="0" smtClean="0">
                <a:solidFill>
                  <a:schemeClr val="bg1"/>
                </a:solidFill>
                <a:latin typeface="微软雅黑" pitchFamily="34" charset="-122"/>
                <a:ea typeface="微软雅黑" pitchFamily="34" charset="-122"/>
              </a:rPr>
              <a:t>部分</a:t>
            </a:r>
            <a:r>
              <a:rPr lang="zh-CN" altLang="en-US" sz="2000" b="1" dirty="0">
                <a:solidFill>
                  <a:schemeClr val="bg1"/>
                </a:solidFill>
                <a:latin typeface="微软雅黑" pitchFamily="34" charset="-122"/>
                <a:ea typeface="微软雅黑" pitchFamily="34" charset="-122"/>
              </a:rPr>
              <a:t>简单</a:t>
            </a:r>
            <a:r>
              <a:rPr lang="zh-CN" altLang="en-US" sz="2000" b="1" dirty="0" smtClean="0">
                <a:solidFill>
                  <a:schemeClr val="bg1"/>
                </a:solidFill>
                <a:latin typeface="微软雅黑" pitchFamily="34" charset="-122"/>
                <a:ea typeface="微软雅黑" pitchFamily="34" charset="-122"/>
              </a:rPr>
              <a:t>数据类型</a:t>
            </a:r>
            <a:endParaRPr lang="zh-CN" altLang="en-US" sz="2000" b="1" dirty="0">
              <a:solidFill>
                <a:schemeClr val="bg1"/>
              </a:solidFill>
              <a:latin typeface="微软雅黑" pitchFamily="34" charset="-122"/>
              <a:ea typeface="微软雅黑" pitchFamily="34" charset="-122"/>
            </a:endParaRPr>
          </a:p>
        </p:txBody>
      </p:sp>
      <p:graphicFrame>
        <p:nvGraphicFramePr>
          <p:cNvPr id="6" name="表格 5"/>
          <p:cNvGraphicFramePr>
            <a:graphicFrameLocks noGrp="1"/>
          </p:cNvGraphicFramePr>
          <p:nvPr>
            <p:extLst/>
          </p:nvPr>
        </p:nvGraphicFramePr>
        <p:xfrm>
          <a:off x="556964" y="1137087"/>
          <a:ext cx="8048775" cy="2774610"/>
        </p:xfrm>
        <a:graphic>
          <a:graphicData uri="http://schemas.openxmlformats.org/drawingml/2006/table">
            <a:tbl>
              <a:tblPr firstRow="1" bandRow="1">
                <a:tableStyleId>{BC89EF96-8CEA-46FF-86C4-4CE0E7609802}</a:tableStyleId>
              </a:tblPr>
              <a:tblGrid>
                <a:gridCol w="2199678">
                  <a:extLst>
                    <a:ext uri="{9D8B030D-6E8A-4147-A177-3AD203B41FA5}">
                      <a16:colId xmlns:a16="http://schemas.microsoft.com/office/drawing/2014/main" val="20000"/>
                    </a:ext>
                  </a:extLst>
                </a:gridCol>
                <a:gridCol w="901836">
                  <a:extLst>
                    <a:ext uri="{9D8B030D-6E8A-4147-A177-3AD203B41FA5}">
                      <a16:colId xmlns:a16="http://schemas.microsoft.com/office/drawing/2014/main" val="20001"/>
                    </a:ext>
                  </a:extLst>
                </a:gridCol>
                <a:gridCol w="4947261">
                  <a:extLst>
                    <a:ext uri="{9D8B030D-6E8A-4147-A177-3AD203B41FA5}">
                      <a16:colId xmlns:a16="http://schemas.microsoft.com/office/drawing/2014/main" val="20002"/>
                    </a:ext>
                  </a:extLst>
                </a:gridCol>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pitchFamily="34" charset="-122"/>
                          <a:ea typeface="微软雅黑" pitchFamily="34" charset="-122"/>
                        </a:rPr>
                        <a:t>类</a:t>
                      </a:r>
                      <a:r>
                        <a:rPr lang="en-US" sz="1400" b="1" kern="1200" dirty="0">
                          <a:solidFill>
                            <a:schemeClr val="bg1"/>
                          </a:solidFill>
                          <a:effectLst/>
                          <a:latin typeface="微软雅黑" pitchFamily="34" charset="-122"/>
                          <a:ea typeface="微软雅黑" pitchFamily="34" charset="-122"/>
                        </a:rPr>
                        <a:t>   </a:t>
                      </a:r>
                      <a:r>
                        <a:rPr lang="zh-CN" sz="1400" b="1" kern="1200" dirty="0">
                          <a:solidFill>
                            <a:schemeClr val="bg1"/>
                          </a:solidFill>
                          <a:effectLst/>
                          <a:latin typeface="微软雅黑" pitchFamily="34" charset="-122"/>
                          <a:ea typeface="微软雅黑" pitchFamily="34" charset="-122"/>
                        </a:rPr>
                        <a:t>型</a:t>
                      </a:r>
                      <a:endParaRPr lang="zh-CN" sz="1400" b="1" kern="1200" dirty="0">
                        <a:solidFill>
                          <a:schemeClr val="bg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大</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说</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明</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10000"/>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INTEGER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在</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31 </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31</a:t>
                      </a:r>
                      <a:r>
                        <a:rPr lang="en-US" sz="1400" b="1" dirty="0" smtClean="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 </a:t>
                      </a:r>
                      <a:r>
                        <a:rPr lang="zh-CN" sz="1400" b="1" dirty="0" smtClean="0">
                          <a:effectLst/>
                          <a:latin typeface="微软雅黑" pitchFamily="34" charset="-122"/>
                          <a:ea typeface="微软雅黑" pitchFamily="34" charset="-122"/>
                        </a:rPr>
                        <a:t>之间</a:t>
                      </a:r>
                      <a:r>
                        <a:rPr lang="zh-CN" sz="1400" b="1" dirty="0">
                          <a:effectLst/>
                          <a:latin typeface="微软雅黑" pitchFamily="34" charset="-122"/>
                          <a:ea typeface="微软雅黑" pitchFamily="34" charset="-122"/>
                        </a:rPr>
                        <a:t>的整数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Interger32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和</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INTEGER </a:t>
                      </a:r>
                      <a:r>
                        <a:rPr lang="zh-CN" sz="1400" b="1" dirty="0" smtClean="0">
                          <a:effectLst/>
                          <a:latin typeface="微软雅黑" pitchFamily="34" charset="-122"/>
                          <a:ea typeface="微软雅黑" pitchFamily="34" charset="-122"/>
                        </a:rPr>
                        <a:t>相同</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Unsigned32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在</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 </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32</a:t>
                      </a:r>
                      <a:r>
                        <a:rPr lang="en-US" sz="1400" b="1" dirty="0" smtClean="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 </a:t>
                      </a:r>
                      <a:r>
                        <a:rPr lang="zh-CN" sz="1400" b="1" dirty="0" smtClean="0">
                          <a:effectLst/>
                          <a:latin typeface="微软雅黑" pitchFamily="34" charset="-122"/>
                          <a:ea typeface="微软雅黑" pitchFamily="34" charset="-122"/>
                        </a:rPr>
                        <a:t>之间</a:t>
                      </a:r>
                      <a:r>
                        <a:rPr lang="zh-CN" sz="1400" b="1" dirty="0">
                          <a:effectLst/>
                          <a:latin typeface="微软雅黑" pitchFamily="34" charset="-122"/>
                          <a:ea typeface="微软雅黑" pitchFamily="34" charset="-122"/>
                        </a:rPr>
                        <a:t>的无符号数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OCTET STRING</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a:t>
                      </a:r>
                      <a:r>
                        <a:rPr lang="zh-CN" sz="1400" b="1" dirty="0" smtClean="0">
                          <a:effectLst/>
                          <a:latin typeface="微软雅黑" pitchFamily="34" charset="-122"/>
                          <a:ea typeface="微软雅黑" pitchFamily="34" charset="-122"/>
                        </a:rPr>
                        <a:t>超过</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65535 </a:t>
                      </a:r>
                      <a:r>
                        <a:rPr lang="zh-CN" sz="1400" b="1" dirty="0" smtClean="0">
                          <a:effectLst/>
                          <a:latin typeface="微软雅黑" pitchFamily="34" charset="-122"/>
                          <a:ea typeface="微软雅黑" pitchFamily="34" charset="-122"/>
                        </a:rPr>
                        <a:t>字节</a:t>
                      </a:r>
                      <a:r>
                        <a:rPr lang="zh-CN" sz="1400" b="1" dirty="0">
                          <a:effectLst/>
                          <a:latin typeface="微软雅黑" pitchFamily="34" charset="-122"/>
                          <a:ea typeface="微软雅黑" pitchFamily="34" charset="-122"/>
                        </a:rPr>
                        <a:t>长的字节串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OBJECT IDENTIFIER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对象标识符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Counter32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a:t>
                      </a:r>
                      <a:r>
                        <a:rPr lang="zh-CN" sz="1400" b="1" dirty="0" smtClean="0">
                          <a:effectLst/>
                          <a:latin typeface="微软雅黑" pitchFamily="34" charset="-122"/>
                          <a:ea typeface="微软雅黑" pitchFamily="34" charset="-122"/>
                        </a:rPr>
                        <a:t>从</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 </a:t>
                      </a:r>
                      <a:r>
                        <a:rPr lang="zh-CN" sz="1400" b="1" dirty="0" smtClean="0">
                          <a:effectLst/>
                          <a:latin typeface="微软雅黑" pitchFamily="34" charset="-122"/>
                          <a:ea typeface="微软雅黑" pitchFamily="34" charset="-122"/>
                        </a:rPr>
                        <a:t>增加到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32 </a:t>
                      </a:r>
                      <a:r>
                        <a:rPr lang="zh-CN" sz="1400" b="1" dirty="0" smtClean="0">
                          <a:effectLst/>
                          <a:latin typeface="微软雅黑" pitchFamily="34" charset="-122"/>
                          <a:ea typeface="微软雅黑" pitchFamily="34" charset="-122"/>
                        </a:rPr>
                        <a:t>的</a:t>
                      </a:r>
                      <a:r>
                        <a:rPr lang="zh-CN" sz="1400" b="1" dirty="0">
                          <a:effectLst/>
                          <a:latin typeface="微软雅黑" pitchFamily="34" charset="-122"/>
                          <a:ea typeface="微软雅黑" pitchFamily="34" charset="-122"/>
                        </a:rPr>
                        <a:t>整数；当它到达最大值时就返回</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6"/>
                  </a:ext>
                </a:extLst>
              </a:tr>
              <a:tr h="277461">
                <a:tc>
                  <a:txBody>
                    <a:bodyPr/>
                    <a:lstStyle/>
                    <a:p>
                      <a:pPr algn="l" hangingPunct="0">
                        <a:lnSpc>
                          <a:spcPts val="1800"/>
                        </a:lnSpc>
                        <a:spcAft>
                          <a:spcPts val="0"/>
                        </a:spcAft>
                      </a:pPr>
                      <a:r>
                        <a:rPr lang="en-US" sz="1400" b="1" dirty="0" err="1">
                          <a:effectLst/>
                          <a:latin typeface="微软雅黑" pitchFamily="34" charset="-122"/>
                          <a:ea typeface="微软雅黑" pitchFamily="34" charset="-122"/>
                        </a:rPr>
                        <a:t>TimeTicks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记录时间的计数值，</a:t>
                      </a:r>
                      <a:r>
                        <a:rPr lang="zh-CN" sz="1400" b="1" dirty="0" smtClean="0">
                          <a:effectLst/>
                          <a:latin typeface="微软雅黑" pitchFamily="34" charset="-122"/>
                          <a:ea typeface="微软雅黑" pitchFamily="34" charset="-122"/>
                        </a:rPr>
                        <a:t>以</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1/100 </a:t>
                      </a:r>
                      <a:r>
                        <a:rPr lang="zh-CN" sz="1400" b="1" dirty="0" smtClean="0">
                          <a:effectLst/>
                          <a:latin typeface="微软雅黑" pitchFamily="34" charset="-122"/>
                          <a:ea typeface="微软雅黑" pitchFamily="34" charset="-122"/>
                        </a:rPr>
                        <a:t>秒</a:t>
                      </a:r>
                      <a:r>
                        <a:rPr lang="zh-CN" sz="1400" b="1" dirty="0">
                          <a:effectLst/>
                          <a:latin typeface="微软雅黑" pitchFamily="34" charset="-122"/>
                          <a:ea typeface="微软雅黑" pitchFamily="34" charset="-122"/>
                        </a:rPr>
                        <a:t>为单位</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BITS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a:effectLst/>
                          <a:latin typeface="微软雅黑" pitchFamily="34" charset="-122"/>
                          <a:ea typeface="微软雅黑"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比特串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8"/>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Opaque</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不解释的串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bl>
          </a:graphicData>
        </a:graphic>
      </p:graphicFrame>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extLst>
      <p:ext uri="{BB962C8B-B14F-4D97-AF65-F5344CB8AC3E}">
        <p14:creationId xmlns:p14="http://schemas.microsoft.com/office/powerpoint/2010/main" val="13648310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00401" y="579789"/>
            <a:ext cx="25619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smtClean="0">
                <a:solidFill>
                  <a:schemeClr val="bg1"/>
                </a:solidFill>
                <a:latin typeface="微软雅黑" pitchFamily="34" charset="-122"/>
                <a:ea typeface="微软雅黑" pitchFamily="34" charset="-122"/>
              </a:rPr>
              <a:t>结构化数据类型</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4090"/>
            <a:ext cx="825785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a:t>
            </a:r>
            <a:r>
              <a:rPr lang="zh-CN" altLang="en-US" sz="2000" b="1" dirty="0">
                <a:latin typeface="微软雅黑" pitchFamily="34" charset="-122"/>
                <a:ea typeface="微软雅黑" pitchFamily="34" charset="-122"/>
              </a:rPr>
              <a:t>定义了</a:t>
            </a:r>
            <a:r>
              <a:rPr lang="zh-CN" altLang="en-US" sz="2000" b="1" dirty="0">
                <a:solidFill>
                  <a:srgbClr val="C00000"/>
                </a:solidFill>
                <a:latin typeface="微软雅黑" pitchFamily="34" charset="-122"/>
                <a:ea typeface="微软雅黑" pitchFamily="34" charset="-122"/>
              </a:rPr>
              <a:t>两种结构化</a:t>
            </a:r>
            <a:r>
              <a:rPr lang="zh-CN" altLang="en-US" sz="2000" b="1" dirty="0" smtClean="0">
                <a:solidFill>
                  <a:srgbClr val="C00000"/>
                </a:solidFill>
                <a:latin typeface="微软雅黑" pitchFamily="34" charset="-122"/>
                <a:ea typeface="微软雅黑" pitchFamily="34" charset="-122"/>
              </a:rPr>
              <a:t>数据类型</a:t>
            </a:r>
            <a:r>
              <a:rPr lang="zh-CN" altLang="en-US" sz="2000" b="1" dirty="0" smtClean="0">
                <a:latin typeface="微软雅黑" pitchFamily="34" charset="-122"/>
                <a:ea typeface="微软雅黑" pitchFamily="34" charset="-122"/>
              </a:rPr>
              <a:t>：</a:t>
            </a:r>
            <a:r>
              <a:rPr lang="en-US" altLang="zh-CN" sz="2000" b="1" dirty="0" smtClean="0">
                <a:solidFill>
                  <a:srgbClr val="C00000"/>
                </a:solidFill>
                <a:latin typeface="微软雅黑" pitchFamily="34" charset="-122"/>
                <a:ea typeface="微软雅黑" pitchFamily="34" charset="-122"/>
              </a:rPr>
              <a:t>sequence</a:t>
            </a:r>
            <a:r>
              <a:rPr lang="zh-CN" altLang="en-US" sz="2000" b="1" dirty="0">
                <a:latin typeface="微软雅黑" pitchFamily="34" charset="-122"/>
                <a:ea typeface="微软雅黑" pitchFamily="34" charset="-122"/>
              </a:rPr>
              <a:t>和</a:t>
            </a:r>
            <a:r>
              <a:rPr lang="en-US" altLang="zh-CN" sz="2000" b="1" dirty="0">
                <a:solidFill>
                  <a:srgbClr val="C00000"/>
                </a:solidFill>
                <a:latin typeface="微软雅黑" pitchFamily="34" charset="-122"/>
                <a:ea typeface="微软雅黑" pitchFamily="34" charset="-122"/>
              </a:rPr>
              <a:t>sequence</a:t>
            </a:r>
            <a:r>
              <a:rPr lang="en-US" altLang="zh-CN" sz="2000" b="1" dirty="0">
                <a:latin typeface="微软雅黑" pitchFamily="34" charset="-122"/>
                <a:ea typeface="微软雅黑" pitchFamily="34" charset="-122"/>
              </a:rPr>
              <a:t> </a:t>
            </a:r>
            <a:r>
              <a:rPr lang="en-US" altLang="zh-CN" sz="2000" b="1" dirty="0">
                <a:solidFill>
                  <a:srgbClr val="C00000"/>
                </a:solidFill>
                <a:latin typeface="微软雅黑" pitchFamily="34" charset="-122"/>
                <a:ea typeface="微软雅黑" pitchFamily="34" charset="-122"/>
              </a:rPr>
              <a:t>of</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sequence</a:t>
            </a:r>
            <a:r>
              <a:rPr lang="zh-CN" altLang="en-US" sz="2000" b="1" dirty="0">
                <a:latin typeface="微软雅黑" pitchFamily="34" charset="-122"/>
                <a:ea typeface="微软雅黑" pitchFamily="34" charset="-122"/>
              </a:rPr>
              <a:t>类似于</a:t>
            </a:r>
            <a:r>
              <a:rPr lang="en-US" altLang="zh-CN" sz="2000" b="1" dirty="0">
                <a:latin typeface="微软雅黑" pitchFamily="34" charset="-122"/>
                <a:ea typeface="微软雅黑" pitchFamily="34" charset="-122"/>
              </a:rPr>
              <a:t>C</a:t>
            </a:r>
            <a:r>
              <a:rPr lang="zh-CN" altLang="en-US" sz="2000" b="1" dirty="0">
                <a:latin typeface="微软雅黑" pitchFamily="34" charset="-122"/>
                <a:ea typeface="微软雅黑" pitchFamily="34" charset="-122"/>
              </a:rPr>
              <a:t>语言中的</a:t>
            </a:r>
            <a:r>
              <a:rPr lang="en-US" altLang="zh-CN" sz="2000" b="1" dirty="0" err="1">
                <a:latin typeface="微软雅黑" pitchFamily="34" charset="-122"/>
                <a:ea typeface="微软雅黑" pitchFamily="34" charset="-122"/>
              </a:rPr>
              <a:t>struct</a:t>
            </a:r>
            <a:r>
              <a:rPr lang="zh-CN" altLang="en-US" sz="2000" b="1" dirty="0">
                <a:latin typeface="微软雅黑" pitchFamily="34" charset="-122"/>
                <a:ea typeface="微软雅黑" pitchFamily="34" charset="-122"/>
              </a:rPr>
              <a:t>或</a:t>
            </a:r>
            <a:r>
              <a:rPr lang="en-US" altLang="zh-CN" sz="2000" b="1" dirty="0">
                <a:latin typeface="微软雅黑" pitchFamily="34" charset="-122"/>
                <a:ea typeface="微软雅黑" pitchFamily="34" charset="-122"/>
              </a:rPr>
              <a:t>record</a:t>
            </a:r>
            <a:r>
              <a:rPr lang="zh-CN" altLang="en-US" sz="2000" b="1" dirty="0" smtClean="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一些简单数据类型的</a:t>
            </a:r>
            <a:r>
              <a:rPr lang="zh-CN" altLang="en-US" sz="2000" b="1" dirty="0" smtClean="0">
                <a:solidFill>
                  <a:srgbClr val="C00000"/>
                </a:solidFill>
                <a:latin typeface="微软雅黑" pitchFamily="34" charset="-122"/>
                <a:ea typeface="微软雅黑" pitchFamily="34" charset="-122"/>
              </a:rPr>
              <a:t>组合，并且这些数据类型不一定相同</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sequence </a:t>
            </a:r>
            <a:r>
              <a:rPr lang="en-US" altLang="zh-CN" sz="2000" b="1" dirty="0">
                <a:latin typeface="微软雅黑" pitchFamily="34" charset="-122"/>
                <a:ea typeface="微软雅黑" pitchFamily="34" charset="-122"/>
              </a:rPr>
              <a:t>of</a:t>
            </a:r>
            <a:r>
              <a:rPr lang="zh-CN" altLang="en-US" sz="2000" b="1" dirty="0">
                <a:latin typeface="微软雅黑" pitchFamily="34" charset="-122"/>
                <a:ea typeface="微软雅黑" pitchFamily="34" charset="-122"/>
              </a:rPr>
              <a:t>类似于</a:t>
            </a:r>
            <a:r>
              <a:rPr lang="en-US" altLang="zh-CN" sz="2000" b="1" dirty="0">
                <a:latin typeface="微软雅黑" pitchFamily="34" charset="-122"/>
                <a:ea typeface="微软雅黑" pitchFamily="34" charset="-122"/>
              </a:rPr>
              <a:t>C</a:t>
            </a:r>
            <a:r>
              <a:rPr lang="zh-CN" altLang="en-US" sz="2000" b="1" dirty="0">
                <a:latin typeface="微软雅黑" pitchFamily="34" charset="-122"/>
                <a:ea typeface="微软雅黑" pitchFamily="34" charset="-122"/>
              </a:rPr>
              <a:t>语言中的</a:t>
            </a:r>
            <a:r>
              <a:rPr lang="en-US" altLang="zh-CN" sz="2000" b="1" dirty="0">
                <a:latin typeface="微软雅黑" pitchFamily="34" charset="-122"/>
                <a:ea typeface="微软雅黑" pitchFamily="34" charset="-122"/>
              </a:rPr>
              <a:t>array</a:t>
            </a:r>
            <a:r>
              <a:rPr lang="zh-CN" altLang="en-US" sz="2000" b="1" dirty="0" smtClean="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同样类型的简单数据类型的组合</a:t>
            </a:r>
            <a:r>
              <a:rPr lang="zh-CN" altLang="en-US" sz="2000" b="1" dirty="0">
                <a:latin typeface="微软雅黑" pitchFamily="34" charset="-122"/>
                <a:ea typeface="微软雅黑" pitchFamily="34" charset="-122"/>
              </a:rPr>
              <a:t>，或</a:t>
            </a:r>
            <a:r>
              <a:rPr lang="zh-CN" altLang="en-US" sz="2000" b="1" dirty="0">
                <a:solidFill>
                  <a:srgbClr val="C00000"/>
                </a:solidFill>
                <a:latin typeface="微软雅黑" pitchFamily="34" charset="-122"/>
                <a:ea typeface="微软雅黑" pitchFamily="34" charset="-122"/>
              </a:rPr>
              <a:t>同样类型的</a:t>
            </a:r>
            <a:r>
              <a:rPr lang="en-US" altLang="zh-CN" sz="2000" b="1" dirty="0">
                <a:solidFill>
                  <a:srgbClr val="C00000"/>
                </a:solidFill>
                <a:latin typeface="微软雅黑" pitchFamily="34" charset="-122"/>
                <a:ea typeface="微软雅黑" pitchFamily="34" charset="-122"/>
              </a:rPr>
              <a:t>sequence</a:t>
            </a:r>
            <a:r>
              <a:rPr lang="zh-CN" altLang="en-US" sz="2000" b="1" dirty="0">
                <a:solidFill>
                  <a:srgbClr val="C00000"/>
                </a:solidFill>
                <a:latin typeface="微软雅黑" pitchFamily="34" charset="-122"/>
                <a:ea typeface="微软雅黑" pitchFamily="34" charset="-122"/>
              </a:rPr>
              <a:t>数据类型的组合</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custDataLst>
      <p:tags r:id="rId1"/>
    </p:custDataLst>
    <p:extLst>
      <p:ext uri="{BB962C8B-B14F-4D97-AF65-F5344CB8AC3E}">
        <p14:creationId xmlns:p14="http://schemas.microsoft.com/office/powerpoint/2010/main" val="40483960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fade">
                                      <p:cBhvr>
                                        <p:cTn id="11"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431046" y="579789"/>
            <a:ext cx="23006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基本编码规则 </a:t>
            </a:r>
            <a:r>
              <a:rPr lang="en-US" altLang="zh-CN" sz="2000" b="1" dirty="0">
                <a:solidFill>
                  <a:schemeClr val="bg1"/>
                </a:solidFill>
                <a:latin typeface="微软雅黑" pitchFamily="34" charset="-122"/>
                <a:ea typeface="微软雅黑" pitchFamily="34" charset="-122"/>
              </a:rPr>
              <a:t>BER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4090"/>
            <a:ext cx="8257854"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通过数据类型的定义，</a:t>
            </a:r>
            <a:r>
              <a:rPr lang="en-US" altLang="zh-CN" sz="2000" b="1" dirty="0" smtClean="0">
                <a:latin typeface="微软雅黑" pitchFamily="34" charset="-122"/>
                <a:ea typeface="微软雅黑" pitchFamily="34" charset="-122"/>
              </a:rPr>
              <a:t>SMI </a:t>
            </a:r>
            <a:r>
              <a:rPr lang="zh-CN" altLang="en-US" sz="2000" b="1" dirty="0" smtClean="0">
                <a:latin typeface="微软雅黑" pitchFamily="34" charset="-122"/>
                <a:ea typeface="微软雅黑" pitchFamily="34" charset="-122"/>
              </a:rPr>
              <a:t>能够确保对数据的理解</a:t>
            </a:r>
            <a:r>
              <a:rPr lang="zh-CN" altLang="en-US" sz="2000" b="1" dirty="0">
                <a:latin typeface="微软雅黑" pitchFamily="34" charset="-122"/>
                <a:ea typeface="微软雅黑" pitchFamily="34" charset="-122"/>
              </a:rPr>
              <a:t>不存在二义性</a:t>
            </a:r>
            <a:r>
              <a:rPr lang="zh-CN" altLang="en-US" sz="2000" b="1" dirty="0" smtClean="0">
                <a:latin typeface="微软雅黑" pitchFamily="34" charset="-122"/>
                <a:ea typeface="微软雅黑" pitchFamily="34" charset="-122"/>
              </a:rPr>
              <a:t>，但网络</a:t>
            </a:r>
            <a:r>
              <a:rPr lang="zh-CN" altLang="en-US" sz="2000" b="1" dirty="0">
                <a:latin typeface="微软雅黑" pitchFamily="34" charset="-122"/>
                <a:ea typeface="微软雅黑" pitchFamily="34" charset="-122"/>
              </a:rPr>
              <a:t>传输的是二进制的字节</a:t>
            </a:r>
            <a:r>
              <a:rPr lang="zh-CN" altLang="en-US" sz="2000" b="1" dirty="0" smtClean="0">
                <a:latin typeface="微软雅黑" pitchFamily="34" charset="-122"/>
                <a:ea typeface="微软雅黑" pitchFamily="34" charset="-122"/>
              </a:rPr>
              <a:t>流，还需要将</a:t>
            </a:r>
            <a:r>
              <a:rPr lang="zh-CN" altLang="en-US" sz="2000" b="1" dirty="0">
                <a:latin typeface="微软雅黑" pitchFamily="34" charset="-122"/>
                <a:ea typeface="微软雅黑" pitchFamily="34" charset="-122"/>
              </a:rPr>
              <a:t>这些抽象表示的数据</a:t>
            </a:r>
            <a:r>
              <a:rPr lang="zh-CN" altLang="en-US" sz="2000" b="1" dirty="0" smtClean="0">
                <a:latin typeface="微软雅黑" pitchFamily="34" charset="-122"/>
                <a:ea typeface="微软雅黑" pitchFamily="34" charset="-122"/>
              </a:rPr>
              <a:t>进行</a:t>
            </a:r>
            <a:r>
              <a:rPr lang="zh-CN" altLang="en-US" sz="2000" b="1" dirty="0">
                <a:solidFill>
                  <a:srgbClr val="C00000"/>
                </a:solidFill>
                <a:latin typeface="微软雅黑" pitchFamily="34" charset="-122"/>
                <a:ea typeface="微软雅黑" pitchFamily="34" charset="-122"/>
              </a:rPr>
              <a:t>统一的</a:t>
            </a:r>
            <a:r>
              <a:rPr lang="zh-CN" altLang="en-US" sz="2000" b="1" dirty="0" smtClean="0">
                <a:solidFill>
                  <a:srgbClr val="C00000"/>
                </a:solidFill>
                <a:latin typeface="微软雅黑" pitchFamily="34" charset="-122"/>
                <a:ea typeface="微软雅黑" pitchFamily="34" charset="-122"/>
              </a:rPr>
              <a:t>编码</a:t>
            </a:r>
            <a:r>
              <a:rPr lang="zh-CN" altLang="en-US" sz="2000" b="1" dirty="0" smtClean="0">
                <a:latin typeface="微软雅黑" pitchFamily="34" charset="-122"/>
                <a:ea typeface="微软雅黑" pitchFamily="34" charset="-122"/>
              </a:rPr>
              <a:t>，以便在网络</a:t>
            </a:r>
            <a:r>
              <a:rPr lang="zh-CN" altLang="en-US" sz="2000" b="1" dirty="0">
                <a:latin typeface="微软雅黑" pitchFamily="34" charset="-122"/>
                <a:ea typeface="微软雅黑" pitchFamily="34" charset="-122"/>
              </a:rPr>
              <a:t>环境</a:t>
            </a:r>
            <a:r>
              <a:rPr lang="zh-CN" altLang="en-US" sz="2000" b="1" dirty="0" smtClean="0">
                <a:latin typeface="微软雅黑" pitchFamily="34" charset="-122"/>
                <a:ea typeface="微软雅黑" pitchFamily="34" charset="-122"/>
              </a:rPr>
              <a:t>中正确</a:t>
            </a:r>
            <a:r>
              <a:rPr lang="zh-CN" altLang="en-US" sz="2000" b="1" dirty="0">
                <a:latin typeface="微软雅黑" pitchFamily="34" charset="-122"/>
                <a:ea typeface="微软雅黑" pitchFamily="34" charset="-122"/>
              </a:rPr>
              <a:t>无误</a:t>
            </a:r>
            <a:r>
              <a:rPr lang="zh-CN" altLang="en-US" sz="2000" b="1" dirty="0" smtClean="0">
                <a:latin typeface="微软雅黑" pitchFamily="34" charset="-122"/>
                <a:ea typeface="微软雅黑" pitchFamily="34" charset="-122"/>
              </a:rPr>
              <a:t>地传输和解析。</a:t>
            </a:r>
            <a:endParaRPr lang="en-US" altLang="zh-CN" sz="2000" b="1" dirty="0" smtClean="0">
              <a:latin typeface="微软雅黑" pitchFamily="34" charset="-122"/>
              <a:ea typeface="微软雅黑" pitchFamily="34" charset="-122"/>
            </a:endParaRPr>
          </a:p>
          <a:p>
            <a:pPr marL="342900" indent="-342900" algn="just"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基本编码规则 </a:t>
            </a:r>
            <a:r>
              <a:rPr lang="en-US" altLang="zh-CN" sz="2000" b="1" dirty="0">
                <a:solidFill>
                  <a:srgbClr val="C00000"/>
                </a:solidFill>
                <a:latin typeface="微软雅黑" pitchFamily="34" charset="-122"/>
                <a:ea typeface="微软雅黑" pitchFamily="34" charset="-122"/>
              </a:rPr>
              <a:t>BER </a:t>
            </a:r>
            <a:r>
              <a:rPr lang="en-US" altLang="zh-CN" sz="2000" b="1" dirty="0">
                <a:latin typeface="微软雅黑" pitchFamily="34" charset="-122"/>
                <a:ea typeface="微软雅黑" pitchFamily="34" charset="-122"/>
              </a:rPr>
              <a:t>(Basic Encoding Rule</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是</a:t>
            </a:r>
            <a:r>
              <a:rPr lang="en-US" altLang="zh-CN" sz="2000" b="1" dirty="0">
                <a:latin typeface="微软雅黑" pitchFamily="34" charset="-122"/>
                <a:ea typeface="微软雅黑" pitchFamily="34" charset="-122"/>
              </a:rPr>
              <a:t>ASN.1</a:t>
            </a:r>
            <a:r>
              <a:rPr lang="zh-CN" altLang="en-US" sz="2000" b="1" dirty="0">
                <a:latin typeface="微软雅黑" pitchFamily="34" charset="-122"/>
                <a:ea typeface="微软雅黑" pitchFamily="34" charset="-122"/>
              </a:rPr>
              <a:t>的一种具体</a:t>
            </a:r>
            <a:r>
              <a:rPr lang="zh-CN" altLang="en-US" sz="2000" b="1" dirty="0" smtClean="0">
                <a:latin typeface="微软雅黑" pitchFamily="34" charset="-122"/>
                <a:ea typeface="微软雅黑" pitchFamily="34" charset="-122"/>
              </a:rPr>
              <a:t>编码方案，能够</a:t>
            </a:r>
            <a:r>
              <a:rPr lang="zh-CN" altLang="en-US" sz="2000" b="1" dirty="0" smtClean="0">
                <a:solidFill>
                  <a:srgbClr val="C00000"/>
                </a:solidFill>
                <a:latin typeface="微软雅黑" pitchFamily="34" charset="-122"/>
                <a:ea typeface="微软雅黑" pitchFamily="34" charset="-122"/>
              </a:rPr>
              <a:t>将</a:t>
            </a:r>
            <a:r>
              <a:rPr lang="en-US" altLang="zh-CN" sz="2000" b="1" dirty="0">
                <a:solidFill>
                  <a:srgbClr val="C00000"/>
                </a:solidFill>
                <a:latin typeface="微软雅黑" pitchFamily="34" charset="-122"/>
                <a:ea typeface="微软雅黑" pitchFamily="34" charset="-122"/>
              </a:rPr>
              <a:t>SMI</a:t>
            </a:r>
            <a:r>
              <a:rPr lang="zh-CN" altLang="en-US" sz="2000" b="1" dirty="0">
                <a:solidFill>
                  <a:srgbClr val="C00000"/>
                </a:solidFill>
                <a:latin typeface="微软雅黑" pitchFamily="34" charset="-122"/>
                <a:ea typeface="微软雅黑" pitchFamily="34" charset="-122"/>
              </a:rPr>
              <a:t>定义的每一个</a:t>
            </a:r>
            <a:r>
              <a:rPr lang="zh-CN" altLang="en-US" sz="2000" b="1" dirty="0" smtClean="0">
                <a:solidFill>
                  <a:srgbClr val="C00000"/>
                </a:solidFill>
                <a:latin typeface="微软雅黑" pitchFamily="34" charset="-122"/>
                <a:ea typeface="微软雅黑" pitchFamily="34" charset="-122"/>
              </a:rPr>
              <a:t>数据类型及其值转换</a:t>
            </a:r>
            <a:r>
              <a:rPr lang="zh-CN" altLang="en-US" sz="2000" b="1" dirty="0">
                <a:solidFill>
                  <a:srgbClr val="C00000"/>
                </a:solidFill>
                <a:latin typeface="微软雅黑" pitchFamily="34" charset="-122"/>
                <a:ea typeface="微软雅黑" pitchFamily="34" charset="-122"/>
              </a:rPr>
              <a:t>成一串无歧义的、自描述的字节序列。</a:t>
            </a:r>
            <a:endParaRPr lang="en-US" altLang="zh-CN" sz="2000" b="1" dirty="0">
              <a:solidFill>
                <a:srgbClr val="C00000"/>
              </a:solidFill>
              <a:latin typeface="微软雅黑" pitchFamily="34" charset="-122"/>
              <a:ea typeface="微软雅黑" pitchFamily="34" charset="-122"/>
            </a:endParaRPr>
          </a:p>
          <a:p>
            <a:pPr marL="342900" indent="-342900" algn="just"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Tree>
    <p:custDataLst>
      <p:tags r:id="rId1"/>
    </p:custDataLst>
    <p:extLst>
      <p:ext uri="{BB962C8B-B14F-4D97-AF65-F5344CB8AC3E}">
        <p14:creationId xmlns:p14="http://schemas.microsoft.com/office/powerpoint/2010/main" val="8013007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392569" y="579789"/>
            <a:ext cx="2377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基本编码规则 </a:t>
            </a:r>
            <a:r>
              <a:rPr lang="en-US" altLang="zh-CN" sz="2000" b="1" dirty="0" smtClean="0">
                <a:solidFill>
                  <a:schemeClr val="bg1"/>
                </a:solidFill>
                <a:latin typeface="微软雅黑" pitchFamily="34" charset="-122"/>
                <a:ea typeface="微软雅黑" pitchFamily="34" charset="-122"/>
              </a:rPr>
              <a:t>BER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4090"/>
            <a:ext cx="8450640" cy="2092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BER </a:t>
            </a:r>
            <a:r>
              <a:rPr lang="zh-CN" altLang="en-US" sz="2000" b="1" dirty="0" smtClean="0">
                <a:latin typeface="微软雅黑" pitchFamily="34" charset="-122"/>
                <a:ea typeface="微软雅黑" pitchFamily="34" charset="-122"/>
              </a:rPr>
              <a:t>指明了</a:t>
            </a:r>
            <a:r>
              <a:rPr lang="zh-CN" altLang="en-US" sz="2000" b="1" dirty="0">
                <a:latin typeface="微软雅黑" pitchFamily="34" charset="-122"/>
                <a:ea typeface="微软雅黑" pitchFamily="34" charset="-122"/>
              </a:rPr>
              <a:t>每种数据类型中每个数据</a:t>
            </a:r>
            <a:r>
              <a:rPr lang="zh-CN" altLang="en-US" sz="2000" b="1" dirty="0" smtClean="0">
                <a:latin typeface="微软雅黑" pitchFamily="34" charset="-122"/>
                <a:ea typeface="微软雅黑" pitchFamily="34" charset="-122"/>
              </a:rPr>
              <a:t>的表示方法。</a:t>
            </a:r>
            <a:endParaRPr lang="en-US" altLang="zh-CN" sz="2000" b="1" dirty="0">
              <a:latin typeface="微软雅黑" pitchFamily="34" charset="-122"/>
              <a:ea typeface="微软雅黑" pitchFamily="34" charset="-122"/>
            </a:endParaRPr>
          </a:p>
          <a:p>
            <a:pPr marL="800100" lvl="1" indent="-342900" hangingPunct="0">
              <a:lnSpc>
                <a:spcPts val="3000"/>
              </a:lnSpc>
              <a:buClr>
                <a:srgbClr val="0070C0"/>
              </a:buClr>
              <a:buFont typeface="Wingdings" pitchFamily="2" charset="2"/>
              <a:buChar char="l"/>
            </a:pPr>
            <a:r>
              <a:rPr lang="zh-CN" altLang="en-US" b="1" dirty="0" smtClean="0">
                <a:latin typeface="微软雅黑" pitchFamily="34" charset="-122"/>
                <a:ea typeface="微软雅黑" pitchFamily="34" charset="-122"/>
              </a:rPr>
              <a:t>数据表示</a:t>
            </a:r>
            <a:r>
              <a:rPr lang="zh-CN" altLang="en-US" b="1" dirty="0">
                <a:latin typeface="微软雅黑" pitchFamily="34" charset="-122"/>
                <a:ea typeface="微软雅黑" pitchFamily="34" charset="-122"/>
              </a:rPr>
              <a:t>为</a:t>
            </a:r>
            <a:r>
              <a:rPr lang="en-US" altLang="zh-CN" b="1" dirty="0">
                <a:solidFill>
                  <a:srgbClr val="C00000"/>
                </a:solidFill>
                <a:latin typeface="微软雅黑" pitchFamily="34" charset="-122"/>
                <a:ea typeface="微软雅黑" pitchFamily="34" charset="-122"/>
              </a:rPr>
              <a:t>T-L-V</a:t>
            </a:r>
            <a:r>
              <a:rPr lang="zh-CN" altLang="en-US" b="1" dirty="0">
                <a:solidFill>
                  <a:srgbClr val="C00000"/>
                </a:solidFill>
                <a:latin typeface="微软雅黑" pitchFamily="34" charset="-122"/>
                <a:ea typeface="微软雅黑" pitchFamily="34" charset="-122"/>
              </a:rPr>
              <a:t>三个字段组成的序列</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发送端用 </a:t>
            </a:r>
            <a:r>
              <a:rPr lang="en-US" altLang="zh-CN" b="1" dirty="0">
                <a:latin typeface="微软雅黑" pitchFamily="34" charset="-122"/>
                <a:ea typeface="微软雅黑" pitchFamily="34" charset="-122"/>
              </a:rPr>
              <a:t>BER </a:t>
            </a:r>
            <a:r>
              <a:rPr lang="zh-CN" altLang="en-US" b="1" dirty="0">
                <a:solidFill>
                  <a:srgbClr val="C00000"/>
                </a:solidFill>
                <a:latin typeface="微软雅黑" pitchFamily="34" charset="-122"/>
                <a:ea typeface="微软雅黑" pitchFamily="34" charset="-122"/>
              </a:rPr>
              <a:t>编码</a:t>
            </a:r>
            <a:r>
              <a:rPr lang="zh-CN" altLang="en-US" b="1" dirty="0" smtClean="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将符合 </a:t>
            </a:r>
            <a:r>
              <a:rPr lang="en-US" altLang="zh-CN" b="1" dirty="0">
                <a:latin typeface="微软雅黑" pitchFamily="34" charset="-122"/>
                <a:ea typeface="微软雅黑" pitchFamily="34" charset="-122"/>
              </a:rPr>
              <a:t>ASN.1 </a:t>
            </a:r>
            <a:r>
              <a:rPr lang="zh-CN" altLang="en-US" b="1" dirty="0" smtClean="0">
                <a:latin typeface="微软雅黑" pitchFamily="34" charset="-122"/>
                <a:ea typeface="微软雅黑" pitchFamily="34" charset="-122"/>
              </a:rPr>
              <a:t>规则的</a:t>
            </a:r>
            <a:r>
              <a:rPr lang="zh-CN" altLang="en-US" b="1" dirty="0">
                <a:latin typeface="微软雅黑" pitchFamily="34" charset="-122"/>
                <a:ea typeface="微软雅黑" pitchFamily="34" charset="-122"/>
              </a:rPr>
              <a:t>报文转换成</a:t>
            </a:r>
            <a:r>
              <a:rPr lang="zh-CN" altLang="en-US" b="1" dirty="0">
                <a:solidFill>
                  <a:srgbClr val="C00000"/>
                </a:solidFill>
                <a:latin typeface="微软雅黑" pitchFamily="34" charset="-122"/>
                <a:ea typeface="微软雅黑" pitchFamily="34" charset="-122"/>
              </a:rPr>
              <a:t>唯一</a:t>
            </a:r>
            <a:r>
              <a:rPr lang="zh-CN" altLang="en-US" b="1" dirty="0">
                <a:latin typeface="微软雅黑" pitchFamily="34" charset="-122"/>
                <a:ea typeface="微软雅黑" pitchFamily="34" charset="-122"/>
              </a:rPr>
              <a:t>的比特序列。</a:t>
            </a:r>
            <a:endParaRPr lang="en-US" altLang="zh-CN" b="1" dirty="0">
              <a:latin typeface="微软雅黑" pitchFamily="34" charset="-122"/>
              <a:ea typeface="微软雅黑" pitchFamily="34" charset="-122"/>
            </a:endParaRPr>
          </a:p>
          <a:p>
            <a:pPr marL="800100" lvl="1" indent="-342900" eaLnBrk="0"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接收端用 </a:t>
            </a:r>
            <a:r>
              <a:rPr lang="en-US" altLang="zh-CN" b="1" dirty="0">
                <a:latin typeface="微软雅黑" pitchFamily="34" charset="-122"/>
                <a:ea typeface="微软雅黑" pitchFamily="34" charset="-122"/>
              </a:rPr>
              <a:t>BER </a:t>
            </a:r>
            <a:r>
              <a:rPr lang="zh-CN" altLang="en-US" b="1" dirty="0" smtClean="0">
                <a:solidFill>
                  <a:srgbClr val="C00000"/>
                </a:solidFill>
                <a:latin typeface="微软雅黑" pitchFamily="34" charset="-122"/>
                <a:ea typeface="微软雅黑" pitchFamily="34" charset="-122"/>
              </a:rPr>
              <a:t>解码，</a:t>
            </a:r>
            <a:r>
              <a:rPr lang="zh-CN" altLang="en-US" b="1" dirty="0">
                <a:latin typeface="微软雅黑" pitchFamily="34" charset="-122"/>
                <a:ea typeface="微软雅黑" pitchFamily="34" charset="-122"/>
              </a:rPr>
              <a:t>将得到的</a:t>
            </a:r>
            <a:r>
              <a:rPr lang="zh-CN" altLang="en-US" b="1" dirty="0" smtClean="0">
                <a:latin typeface="微软雅黑" pitchFamily="34" charset="-122"/>
                <a:ea typeface="微软雅黑" pitchFamily="34" charset="-122"/>
              </a:rPr>
              <a:t>比特序列转换为</a:t>
            </a:r>
            <a:r>
              <a:rPr lang="zh-CN" altLang="en-US" b="1" dirty="0" smtClean="0">
                <a:solidFill>
                  <a:srgbClr val="C00000"/>
                </a:solidFill>
                <a:latin typeface="微软雅黑" pitchFamily="34" charset="-122"/>
                <a:ea typeface="微软雅黑" pitchFamily="34" charset="-122"/>
              </a:rPr>
              <a:t>原始的 </a:t>
            </a:r>
            <a:r>
              <a:rPr lang="en-US" altLang="zh-CN" b="1" dirty="0">
                <a:solidFill>
                  <a:srgbClr val="C00000"/>
                </a:solidFill>
                <a:latin typeface="微软雅黑" pitchFamily="34" charset="-122"/>
                <a:ea typeface="微软雅黑" pitchFamily="34" charset="-122"/>
              </a:rPr>
              <a:t>ASN.1 </a:t>
            </a:r>
            <a:r>
              <a:rPr lang="zh-CN" altLang="en-US" b="1" dirty="0">
                <a:solidFill>
                  <a:srgbClr val="C00000"/>
                </a:solidFill>
                <a:latin typeface="微软雅黑" pitchFamily="34" charset="-122"/>
                <a:ea typeface="微软雅黑" pitchFamily="34" charset="-122"/>
              </a:rPr>
              <a:t>报文。 </a:t>
            </a:r>
          </a:p>
          <a:p>
            <a:pPr marL="800100" lvl="1" indent="-342900" hangingPunct="0">
              <a:lnSpc>
                <a:spcPts val="3000"/>
              </a:lnSpc>
              <a:buClr>
                <a:srgbClr val="0070C0"/>
              </a:buClr>
              <a:buFont typeface="Wingdings" pitchFamily="2" charset="2"/>
              <a:buChar char="l"/>
            </a:pPr>
            <a:endParaRPr lang="zh-CN" altLang="en-US" b="1" dirty="0">
              <a:solidFill>
                <a:srgbClr val="0000FF"/>
              </a:solidFill>
              <a:latin typeface="微软雅黑" pitchFamily="34" charset="-122"/>
              <a:ea typeface="微软雅黑" pitchFamily="34" charset="-122"/>
            </a:endParaRPr>
          </a:p>
        </p:txBody>
      </p:sp>
      <p:sp>
        <p:nvSpPr>
          <p:cNvPr id="5"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管理信息结构 </a:t>
            </a:r>
            <a:r>
              <a:rPr lang="en-US" altLang="zh-CN" sz="1100" b="1" dirty="0">
                <a:solidFill>
                  <a:srgbClr val="0070C0"/>
                </a:solidFill>
                <a:latin typeface="微软雅黑" pitchFamily="34" charset="-122"/>
                <a:ea typeface="微软雅黑" pitchFamily="34" charset="-122"/>
              </a:rPr>
              <a:t>SMI</a:t>
            </a:r>
          </a:p>
        </p:txBody>
      </p:sp>
      <p:sp>
        <p:nvSpPr>
          <p:cNvPr id="6" name="圆角矩形 5"/>
          <p:cNvSpPr/>
          <p:nvPr/>
        </p:nvSpPr>
        <p:spPr>
          <a:xfrm>
            <a:off x="654050" y="2603500"/>
            <a:ext cx="7763764" cy="20393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7" name="Rectangle 38"/>
          <p:cNvSpPr>
            <a:spLocks noChangeArrowheads="1"/>
          </p:cNvSpPr>
          <p:nvPr/>
        </p:nvSpPr>
        <p:spPr bwMode="auto">
          <a:xfrm>
            <a:off x="2110388" y="2842907"/>
            <a:ext cx="5820252" cy="432357"/>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8" name="Line 39"/>
          <p:cNvSpPr>
            <a:spLocks noChangeShapeType="1"/>
          </p:cNvSpPr>
          <p:nvPr/>
        </p:nvSpPr>
        <p:spPr bwMode="auto">
          <a:xfrm>
            <a:off x="3392950" y="2855970"/>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9" name="Line 41"/>
          <p:cNvSpPr>
            <a:spLocks noChangeShapeType="1"/>
          </p:cNvSpPr>
          <p:nvPr/>
        </p:nvSpPr>
        <p:spPr bwMode="auto">
          <a:xfrm>
            <a:off x="4576490" y="2842907"/>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0" name="Text Box 42"/>
          <p:cNvSpPr txBox="1">
            <a:spLocks noChangeArrowheads="1"/>
          </p:cNvSpPr>
          <p:nvPr/>
        </p:nvSpPr>
        <p:spPr bwMode="auto">
          <a:xfrm>
            <a:off x="2340293" y="2874419"/>
            <a:ext cx="348685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latin typeface="微软雅黑" pitchFamily="34" charset="-122"/>
                <a:ea typeface="微软雅黑" pitchFamily="34" charset="-122"/>
              </a:rPr>
              <a:t>标记 </a:t>
            </a:r>
            <a:r>
              <a:rPr lang="en-US" altLang="zh-CN" sz="1600" b="1" dirty="0">
                <a:latin typeface="微软雅黑" pitchFamily="34" charset="-122"/>
                <a:ea typeface="微软雅黑" pitchFamily="34" charset="-122"/>
              </a:rPr>
              <a:t>T  </a:t>
            </a:r>
            <a:r>
              <a:rPr lang="en-US" altLang="zh-CN" sz="1600" b="1" dirty="0" smtClean="0">
                <a:latin typeface="微软雅黑" pitchFamily="34" charset="-122"/>
                <a:ea typeface="微软雅黑" pitchFamily="34" charset="-122"/>
              </a:rPr>
              <a:t>       </a:t>
            </a:r>
            <a:r>
              <a:rPr lang="zh-CN" altLang="en-US" sz="1600" b="1" dirty="0">
                <a:latin typeface="微软雅黑" pitchFamily="34" charset="-122"/>
                <a:ea typeface="微软雅黑" pitchFamily="34" charset="-122"/>
              </a:rPr>
              <a:t>长度 </a:t>
            </a:r>
            <a:r>
              <a:rPr lang="en-US" altLang="zh-CN" sz="1600" b="1" dirty="0">
                <a:latin typeface="微软雅黑" pitchFamily="34" charset="-122"/>
                <a:ea typeface="微软雅黑" pitchFamily="34" charset="-122"/>
              </a:rPr>
              <a:t>L                   </a:t>
            </a:r>
            <a:r>
              <a:rPr lang="zh-CN" altLang="en-US" sz="1600" b="1" dirty="0">
                <a:latin typeface="微软雅黑" pitchFamily="34" charset="-122"/>
                <a:ea typeface="微软雅黑" pitchFamily="34" charset="-122"/>
              </a:rPr>
              <a:t>值 </a:t>
            </a:r>
            <a:r>
              <a:rPr lang="en-US" altLang="zh-CN" sz="1600" b="1" dirty="0">
                <a:latin typeface="微软雅黑" pitchFamily="34" charset="-122"/>
                <a:ea typeface="微软雅黑" pitchFamily="34" charset="-122"/>
              </a:rPr>
              <a:t>V</a:t>
            </a:r>
          </a:p>
        </p:txBody>
      </p:sp>
      <p:sp>
        <p:nvSpPr>
          <p:cNvPr id="11" name="Text Box 48"/>
          <p:cNvSpPr txBox="1">
            <a:spLocks noChangeArrowheads="1"/>
          </p:cNvSpPr>
          <p:nvPr/>
        </p:nvSpPr>
        <p:spPr bwMode="auto">
          <a:xfrm>
            <a:off x="968839" y="2898049"/>
            <a:ext cx="1306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数据元素</a:t>
            </a:r>
          </a:p>
        </p:txBody>
      </p:sp>
      <p:sp>
        <p:nvSpPr>
          <p:cNvPr id="12" name="矩形 11"/>
          <p:cNvSpPr/>
          <p:nvPr/>
        </p:nvSpPr>
        <p:spPr>
          <a:xfrm>
            <a:off x="5597862" y="3472881"/>
            <a:ext cx="1415772" cy="338554"/>
          </a:xfrm>
          <a:prstGeom prst="rect">
            <a:avLst/>
          </a:prstGeom>
        </p:spPr>
        <p:txBody>
          <a:bodyPr wrap="none">
            <a:spAutoFit/>
          </a:bodyPr>
          <a:lstStyle/>
          <a:p>
            <a:r>
              <a:rPr lang="zh-CN" altLang="en-US" sz="1600" b="1" dirty="0">
                <a:latin typeface="微软雅黑" pitchFamily="34" charset="-122"/>
                <a:ea typeface="微软雅黑" pitchFamily="34" charset="-122"/>
              </a:rPr>
              <a:t>定义数据的值</a:t>
            </a:r>
          </a:p>
        </p:txBody>
      </p:sp>
      <p:grpSp>
        <p:nvGrpSpPr>
          <p:cNvPr id="13" name="组合 12"/>
          <p:cNvGrpSpPr/>
          <p:nvPr/>
        </p:nvGrpSpPr>
        <p:grpSpPr>
          <a:xfrm>
            <a:off x="5020514" y="3305959"/>
            <a:ext cx="577348" cy="351588"/>
            <a:chOff x="5208439" y="1841345"/>
            <a:chExt cx="577348" cy="581509"/>
          </a:xfrm>
        </p:grpSpPr>
        <p:cxnSp>
          <p:nvCxnSpPr>
            <p:cNvPr id="14" name="直接连接符 13"/>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 name="组合 15"/>
          <p:cNvGrpSpPr/>
          <p:nvPr/>
        </p:nvGrpSpPr>
        <p:grpSpPr>
          <a:xfrm>
            <a:off x="3571461" y="3305959"/>
            <a:ext cx="577348" cy="755965"/>
            <a:chOff x="5208439" y="1841345"/>
            <a:chExt cx="577348" cy="581509"/>
          </a:xfrm>
        </p:grpSpPr>
        <p:cxnSp>
          <p:nvCxnSpPr>
            <p:cNvPr id="17" name="直接连接符 16"/>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矩形 18"/>
          <p:cNvSpPr/>
          <p:nvPr/>
        </p:nvSpPr>
        <p:spPr>
          <a:xfrm>
            <a:off x="4129153" y="3865978"/>
            <a:ext cx="1890261" cy="338554"/>
          </a:xfrm>
          <a:prstGeom prst="rect">
            <a:avLst/>
          </a:prstGeom>
        </p:spPr>
        <p:txBody>
          <a:bodyPr wrap="none">
            <a:spAutoFit/>
          </a:bodyPr>
          <a:lstStyle/>
          <a:p>
            <a:r>
              <a:rPr lang="zh-CN" altLang="en-US" sz="1600" b="1" dirty="0" smtClean="0">
                <a:latin typeface="微软雅黑" pitchFamily="34" charset="-122"/>
                <a:ea typeface="微软雅黑" pitchFamily="34" charset="-122"/>
              </a:rPr>
              <a:t>定义 </a:t>
            </a:r>
            <a:r>
              <a:rPr lang="en-US" altLang="zh-CN" sz="1600" b="1" dirty="0" smtClean="0">
                <a:latin typeface="微软雅黑" pitchFamily="34" charset="-122"/>
                <a:ea typeface="微软雅黑" pitchFamily="34" charset="-122"/>
              </a:rPr>
              <a:t>V </a:t>
            </a:r>
            <a:r>
              <a:rPr lang="zh-CN" altLang="en-US" sz="1600" b="1" dirty="0" smtClean="0">
                <a:latin typeface="微软雅黑" pitchFamily="34" charset="-122"/>
                <a:ea typeface="微软雅黑" pitchFamily="34" charset="-122"/>
              </a:rPr>
              <a:t>字段</a:t>
            </a:r>
            <a:r>
              <a:rPr lang="zh-CN" altLang="en-US" sz="1600" b="1" dirty="0">
                <a:latin typeface="微软雅黑" pitchFamily="34" charset="-122"/>
                <a:ea typeface="微软雅黑" pitchFamily="34" charset="-122"/>
              </a:rPr>
              <a:t>的长度</a:t>
            </a:r>
          </a:p>
        </p:txBody>
      </p:sp>
      <p:grpSp>
        <p:nvGrpSpPr>
          <p:cNvPr id="20" name="组合 19"/>
          <p:cNvGrpSpPr/>
          <p:nvPr/>
        </p:nvGrpSpPr>
        <p:grpSpPr>
          <a:xfrm>
            <a:off x="2324513" y="3275264"/>
            <a:ext cx="577348" cy="1182870"/>
            <a:chOff x="5208439" y="1841345"/>
            <a:chExt cx="577348" cy="581509"/>
          </a:xfrm>
        </p:grpSpPr>
        <p:cxnSp>
          <p:nvCxnSpPr>
            <p:cNvPr id="21" name="直接连接符 20"/>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矩形 22"/>
          <p:cNvSpPr/>
          <p:nvPr/>
        </p:nvSpPr>
        <p:spPr>
          <a:xfrm>
            <a:off x="2857236" y="4273468"/>
            <a:ext cx="1620957" cy="338554"/>
          </a:xfrm>
          <a:prstGeom prst="rect">
            <a:avLst/>
          </a:prstGeom>
        </p:spPr>
        <p:txBody>
          <a:bodyPr wrap="none">
            <a:spAutoFit/>
          </a:bodyPr>
          <a:lstStyle/>
          <a:p>
            <a:r>
              <a:rPr lang="zh-CN" altLang="en-US" sz="1600" b="1" dirty="0">
                <a:latin typeface="微软雅黑" pitchFamily="34" charset="-122"/>
                <a:ea typeface="微软雅黑" pitchFamily="34" charset="-122"/>
              </a:rPr>
              <a:t>定义数据的类型</a:t>
            </a:r>
          </a:p>
        </p:txBody>
      </p:sp>
    </p:spTree>
    <p:custDataLst>
      <p:tags r:id="rId1"/>
    </p:custDataLst>
    <p:extLst>
      <p:ext uri="{BB962C8B-B14F-4D97-AF65-F5344CB8AC3E}">
        <p14:creationId xmlns:p14="http://schemas.microsoft.com/office/powerpoint/2010/main" val="34235939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3" end="3"/>
                                            </p:txEl>
                                          </p:spTgt>
                                        </p:tgtEl>
                                        <p:attrNameLst>
                                          <p:attrName>style.visibility</p:attrName>
                                        </p:attrNameLst>
                                      </p:cBhvr>
                                      <p:to>
                                        <p:strVal val="visible"/>
                                      </p:to>
                                    </p:set>
                                    <p:animEffect transition="in" filter="fade">
                                      <p:cBhvr>
                                        <p:cTn id="10"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4960"/>
            <a:ext cx="8048776" cy="316938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77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10235" y="583560"/>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T </a:t>
            </a:r>
            <a:r>
              <a:rPr lang="zh-CN" altLang="en-US" sz="2000" b="1" dirty="0">
                <a:solidFill>
                  <a:schemeClr val="bg1"/>
                </a:solidFill>
                <a:latin typeface="微软雅黑" pitchFamily="34" charset="-122"/>
                <a:ea typeface="微软雅黑" pitchFamily="34" charset="-122"/>
              </a:rPr>
              <a:t>字段定义数据的</a:t>
            </a:r>
            <a:r>
              <a:rPr lang="zh-CN" altLang="en-US" sz="2000" b="1" dirty="0" smtClean="0">
                <a:solidFill>
                  <a:schemeClr val="bg1"/>
                </a:solidFill>
                <a:latin typeface="微软雅黑" pitchFamily="34" charset="-122"/>
                <a:ea typeface="微软雅黑" pitchFamily="34" charset="-122"/>
              </a:rPr>
              <a:t>类型</a:t>
            </a:r>
          </a:p>
        </p:txBody>
      </p:sp>
      <p:grpSp>
        <p:nvGrpSpPr>
          <p:cNvPr id="21" name="组合 20"/>
          <p:cNvGrpSpPr/>
          <p:nvPr/>
        </p:nvGrpSpPr>
        <p:grpSpPr>
          <a:xfrm>
            <a:off x="1222079" y="1494645"/>
            <a:ext cx="6961801" cy="2013559"/>
            <a:chOff x="1315153" y="2110600"/>
            <a:chExt cx="7617445" cy="2203189"/>
          </a:xfrm>
        </p:grpSpPr>
        <p:sp>
          <p:nvSpPr>
            <p:cNvPr id="8" name="Freeform 36"/>
            <p:cNvSpPr>
              <a:spLocks/>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0000FF"/>
                </a:gs>
                <a:gs pos="100000">
                  <a:srgbClr val="66FF66"/>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9" name="Text Box 37"/>
            <p:cNvSpPr txBox="1">
              <a:spLocks noChangeArrowheads="1"/>
            </p:cNvSpPr>
            <p:nvPr/>
          </p:nvSpPr>
          <p:spPr bwMode="auto">
            <a:xfrm>
              <a:off x="2007624" y="2110600"/>
              <a:ext cx="5220165"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字节      </a:t>
              </a:r>
              <a:r>
                <a:rPr lang="zh-CN" altLang="en-US" sz="1600" b="1" dirty="0" smtClean="0">
                  <a:solidFill>
                    <a:srgbClr val="0000FF"/>
                  </a:solidFill>
                  <a:latin typeface="微软雅黑" pitchFamily="34" charset="-122"/>
                  <a:ea typeface="微软雅黑" pitchFamily="34" charset="-122"/>
                </a:rPr>
                <a:t>    </a:t>
              </a:r>
              <a:r>
                <a:rPr lang="en-US" altLang="zh-CN" sz="1600" b="1" dirty="0" smtClean="0">
                  <a:solidFill>
                    <a:srgbClr val="0000FF"/>
                  </a:solidFill>
                  <a:latin typeface="微软雅黑" pitchFamily="34" charset="-122"/>
                  <a:ea typeface="微软雅黑" pitchFamily="34" charset="-122"/>
                </a:rPr>
                <a:t>1               </a:t>
              </a:r>
              <a:r>
                <a:rPr lang="zh-CN" altLang="en-US" sz="1600" b="1" dirty="0" smtClean="0">
                  <a:solidFill>
                    <a:srgbClr val="0000FF"/>
                  </a:solidFill>
                  <a:latin typeface="微软雅黑" pitchFamily="34" charset="-122"/>
                  <a:ea typeface="微软雅黑" pitchFamily="34" charset="-122"/>
                </a:rPr>
                <a:t>可变                          可变</a:t>
              </a:r>
              <a:endParaRPr lang="zh-CN" altLang="en-US" sz="1600" b="1" dirty="0">
                <a:solidFill>
                  <a:srgbClr val="0000FF"/>
                </a:solidFill>
                <a:latin typeface="微软雅黑" pitchFamily="34" charset="-122"/>
                <a:ea typeface="微软雅黑" pitchFamily="34" charset="-122"/>
              </a:endParaRPr>
            </a:p>
          </p:txBody>
        </p:sp>
        <p:sp>
          <p:nvSpPr>
            <p:cNvPr id="10" name="Rectangle 38"/>
            <p:cNvSpPr>
              <a:spLocks noChangeArrowheads="1"/>
            </p:cNvSpPr>
            <p:nvPr/>
          </p:nvSpPr>
          <p:spPr bwMode="auto">
            <a:xfrm>
              <a:off x="2564210" y="2460626"/>
              <a:ext cx="6368388" cy="473075"/>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b="1">
                <a:latin typeface="微软雅黑" pitchFamily="34" charset="-122"/>
                <a:ea typeface="微软雅黑" pitchFamily="34" charset="-122"/>
              </a:endParaRPr>
            </a:p>
          </p:txBody>
        </p:sp>
        <p:sp>
          <p:nvSpPr>
            <p:cNvPr id="11" name="Line 39"/>
            <p:cNvSpPr>
              <a:spLocks noChangeShapeType="1"/>
            </p:cNvSpPr>
            <p:nvPr/>
          </p:nvSpPr>
          <p:spPr bwMode="auto">
            <a:xfrm>
              <a:off x="3967560"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2" name="Rectangle 40"/>
            <p:cNvSpPr>
              <a:spLocks noChangeArrowheads="1"/>
            </p:cNvSpPr>
            <p:nvPr/>
          </p:nvSpPr>
          <p:spPr bwMode="auto">
            <a:xfrm>
              <a:off x="2571158" y="2469552"/>
              <a:ext cx="1384431" cy="45720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latin typeface="微软雅黑" pitchFamily="34" charset="-122"/>
                <a:ea typeface="微软雅黑" pitchFamily="34" charset="-122"/>
              </a:endParaRPr>
            </a:p>
          </p:txBody>
        </p:sp>
        <p:sp>
          <p:nvSpPr>
            <p:cNvPr id="13" name="Line 41"/>
            <p:cNvSpPr>
              <a:spLocks noChangeShapeType="1"/>
            </p:cNvSpPr>
            <p:nvPr/>
          </p:nvSpPr>
          <p:spPr bwMode="auto">
            <a:xfrm>
              <a:off x="5262563"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4" name="Text Box 42"/>
            <p:cNvSpPr txBox="1">
              <a:spLocks noChangeArrowheads="1"/>
            </p:cNvSpPr>
            <p:nvPr/>
          </p:nvSpPr>
          <p:spPr bwMode="auto">
            <a:xfrm>
              <a:off x="2862665" y="2508880"/>
              <a:ext cx="4129195"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pitchFamily="34" charset="-122"/>
                  <a:ea typeface="微软雅黑" pitchFamily="34" charset="-122"/>
                </a:rPr>
                <a:t>标记 </a:t>
              </a:r>
              <a:r>
                <a:rPr lang="en-US" altLang="zh-CN" sz="1800" b="1" dirty="0">
                  <a:solidFill>
                    <a:schemeClr val="bg1"/>
                  </a:solidFill>
                  <a:latin typeface="微软雅黑" pitchFamily="34" charset="-122"/>
                  <a:ea typeface="微软雅黑" pitchFamily="34" charset="-122"/>
                </a:rPr>
                <a:t>T       </a:t>
              </a:r>
              <a:r>
                <a:rPr lang="zh-CN" altLang="en-US" sz="1800" b="1" dirty="0">
                  <a:latin typeface="微软雅黑" pitchFamily="34" charset="-122"/>
                  <a:ea typeface="微软雅黑" pitchFamily="34" charset="-122"/>
                </a:rPr>
                <a:t>长度 </a:t>
              </a:r>
              <a:r>
                <a:rPr lang="en-US" altLang="zh-CN" sz="1800" b="1" dirty="0">
                  <a:latin typeface="微软雅黑" pitchFamily="34" charset="-122"/>
                  <a:ea typeface="微软雅黑" pitchFamily="34" charset="-122"/>
                </a:rPr>
                <a:t>L                   </a:t>
              </a:r>
              <a:r>
                <a:rPr lang="zh-CN" altLang="en-US" sz="1800" b="1" dirty="0">
                  <a:latin typeface="微软雅黑" pitchFamily="34" charset="-122"/>
                  <a:ea typeface="微软雅黑" pitchFamily="34" charset="-122"/>
                </a:rPr>
                <a:t>值 </a:t>
              </a:r>
              <a:r>
                <a:rPr lang="en-US" altLang="zh-CN" sz="1800" b="1" dirty="0">
                  <a:latin typeface="微软雅黑" pitchFamily="34" charset="-122"/>
                  <a:ea typeface="微软雅黑" pitchFamily="34" charset="-122"/>
                </a:rPr>
                <a:t>V</a:t>
              </a:r>
            </a:p>
          </p:txBody>
        </p:sp>
        <p:sp>
          <p:nvSpPr>
            <p:cNvPr id="15" name="Rectangle 43"/>
            <p:cNvSpPr>
              <a:spLocks noChangeArrowheads="1"/>
            </p:cNvSpPr>
            <p:nvPr/>
          </p:nvSpPr>
          <p:spPr bwMode="auto">
            <a:xfrm>
              <a:off x="1915849" y="3500439"/>
              <a:ext cx="6045068" cy="473075"/>
            </a:xfrm>
            <a:prstGeom prst="rect">
              <a:avLst/>
            </a:prstGeom>
            <a:solidFill>
              <a:srgbClr val="0000FF"/>
            </a:solidFill>
            <a:ln w="12700">
              <a:solidFill>
                <a:schemeClr val="tx1"/>
              </a:solidFill>
              <a:miter lim="800000"/>
              <a:headEnd/>
              <a:tailEnd/>
            </a:ln>
            <a:effectLst/>
          </p:spPr>
          <p:txBody>
            <a:bodyPr wrap="none" anchor="ctr"/>
            <a:lstStyle/>
            <a:p>
              <a:pPr eaLnBrk="1" hangingPunct="1"/>
              <a:endParaRPr lang="zh-CN" altLang="en-US" b="1">
                <a:latin typeface="微软雅黑" pitchFamily="34" charset="-122"/>
                <a:ea typeface="微软雅黑" pitchFamily="34" charset="-122"/>
              </a:endParaRPr>
            </a:p>
          </p:txBody>
        </p:sp>
        <p:sp>
          <p:nvSpPr>
            <p:cNvPr id="16" name="Text Box 44"/>
            <p:cNvSpPr txBox="1">
              <a:spLocks noChangeArrowheads="1"/>
            </p:cNvSpPr>
            <p:nvPr/>
          </p:nvSpPr>
          <p:spPr bwMode="auto">
            <a:xfrm>
              <a:off x="2344381" y="3548543"/>
              <a:ext cx="4281790"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pitchFamily="34" charset="-122"/>
                  <a:ea typeface="微软雅黑" pitchFamily="34" charset="-122"/>
                </a:rPr>
                <a:t>类   别       格 式                  编     号</a:t>
              </a:r>
            </a:p>
          </p:txBody>
        </p:sp>
        <p:sp>
          <p:nvSpPr>
            <p:cNvPr id="17" name="Line 45"/>
            <p:cNvSpPr>
              <a:spLocks noChangeShapeType="1"/>
            </p:cNvSpPr>
            <p:nvPr/>
          </p:nvSpPr>
          <p:spPr bwMode="auto">
            <a:xfrm>
              <a:off x="342754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8" name="Line 46"/>
            <p:cNvSpPr>
              <a:spLocks noChangeShapeType="1"/>
            </p:cNvSpPr>
            <p:nvPr/>
          </p:nvSpPr>
          <p:spPr bwMode="auto">
            <a:xfrm>
              <a:off x="450757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9" name="Text Box 47"/>
            <p:cNvSpPr txBox="1">
              <a:spLocks noChangeArrowheads="1"/>
            </p:cNvSpPr>
            <p:nvPr/>
          </p:nvSpPr>
          <p:spPr bwMode="auto">
            <a:xfrm>
              <a:off x="1505902" y="3943351"/>
              <a:ext cx="4841306"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位         </a:t>
              </a:r>
              <a:r>
                <a:rPr lang="zh-CN" altLang="en-US" sz="1600" b="1" dirty="0" smtClean="0">
                  <a:solidFill>
                    <a:srgbClr val="0000FF"/>
                  </a:solidFill>
                  <a:latin typeface="微软雅黑" pitchFamily="34" charset="-122"/>
                  <a:ea typeface="微软雅黑" pitchFamily="34" charset="-122"/>
                </a:rPr>
                <a:t>   </a:t>
              </a:r>
              <a:r>
                <a:rPr lang="en-US" altLang="zh-CN" sz="1600" b="1" dirty="0" smtClean="0">
                  <a:solidFill>
                    <a:srgbClr val="0000FF"/>
                  </a:solidFill>
                  <a:latin typeface="微软雅黑" pitchFamily="34" charset="-122"/>
                  <a:ea typeface="微软雅黑" pitchFamily="34" charset="-122"/>
                </a:rPr>
                <a:t>2                   1                             5</a:t>
              </a:r>
              <a:endParaRPr lang="en-US" altLang="zh-CN" sz="1600" b="1" dirty="0">
                <a:solidFill>
                  <a:srgbClr val="0000FF"/>
                </a:solidFill>
                <a:latin typeface="微软雅黑" pitchFamily="34" charset="-122"/>
                <a:ea typeface="微软雅黑" pitchFamily="34" charset="-122"/>
              </a:endParaRPr>
            </a:p>
          </p:txBody>
        </p:sp>
        <p:sp>
          <p:nvSpPr>
            <p:cNvPr id="20" name="Text Box 48"/>
            <p:cNvSpPr txBox="1">
              <a:spLocks noChangeArrowheads="1"/>
            </p:cNvSpPr>
            <p:nvPr/>
          </p:nvSpPr>
          <p:spPr bwMode="auto">
            <a:xfrm>
              <a:off x="1315153" y="2492375"/>
              <a:ext cx="1429148"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数据元素</a:t>
              </a:r>
            </a:p>
          </p:txBody>
        </p:sp>
      </p:grpSp>
    </p:spTree>
    <p:extLst>
      <p:ext uri="{BB962C8B-B14F-4D97-AF65-F5344CB8AC3E}">
        <p14:creationId xmlns:p14="http://schemas.microsoft.com/office/powerpoint/2010/main" val="3202135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87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7" name="Rectangle 6"/>
          <p:cNvSpPr>
            <a:spLocks noChangeArrowheads="1"/>
          </p:cNvSpPr>
          <p:nvPr/>
        </p:nvSpPr>
        <p:spPr bwMode="auto">
          <a:xfrm>
            <a:off x="2610235" y="577664"/>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T </a:t>
            </a:r>
            <a:r>
              <a:rPr lang="zh-CN" altLang="en-US" sz="2000" b="1" dirty="0">
                <a:solidFill>
                  <a:schemeClr val="bg1"/>
                </a:solidFill>
                <a:latin typeface="微软雅黑" pitchFamily="34" charset="-122"/>
                <a:ea typeface="微软雅黑" pitchFamily="34" charset="-122"/>
              </a:rPr>
              <a:t>字段定义数据的</a:t>
            </a:r>
            <a:r>
              <a:rPr lang="zh-CN" altLang="en-US" sz="2000" b="1" dirty="0" smtClean="0">
                <a:solidFill>
                  <a:schemeClr val="bg1"/>
                </a:solidFill>
                <a:latin typeface="微软雅黑" pitchFamily="34" charset="-122"/>
                <a:ea typeface="微软雅黑" pitchFamily="34" charset="-122"/>
              </a:rPr>
              <a:t>类型</a:t>
            </a:r>
          </a:p>
        </p:txBody>
      </p:sp>
      <p:graphicFrame>
        <p:nvGraphicFramePr>
          <p:cNvPr id="2" name="表格 1"/>
          <p:cNvGraphicFramePr>
            <a:graphicFrameLocks noGrp="1"/>
          </p:cNvGraphicFramePr>
          <p:nvPr>
            <p:extLst>
              <p:ext uri="{D42A27DB-BD31-4B8C-83A1-F6EECF244321}">
                <p14:modId xmlns:p14="http://schemas.microsoft.com/office/powerpoint/2010/main" val="257818776"/>
              </p:ext>
            </p:extLst>
          </p:nvPr>
        </p:nvGraphicFramePr>
        <p:xfrm>
          <a:off x="556963" y="1065835"/>
          <a:ext cx="8048775" cy="3009519"/>
        </p:xfrm>
        <a:graphic>
          <a:graphicData uri="http://schemas.openxmlformats.org/drawingml/2006/table">
            <a:tbl>
              <a:tblPr firstRow="1" bandRow="1">
                <a:tableStyleId>{7DF18680-E054-41AD-8BC1-D1AEF772440D}</a:tableStyleId>
              </a:tblPr>
              <a:tblGrid>
                <a:gridCol w="2303476">
                  <a:extLst>
                    <a:ext uri="{9D8B030D-6E8A-4147-A177-3AD203B41FA5}">
                      <a16:colId xmlns:a16="http://schemas.microsoft.com/office/drawing/2014/main" val="20000"/>
                    </a:ext>
                  </a:extLst>
                </a:gridCol>
                <a:gridCol w="696401">
                  <a:extLst>
                    <a:ext uri="{9D8B030D-6E8A-4147-A177-3AD203B41FA5}">
                      <a16:colId xmlns:a16="http://schemas.microsoft.com/office/drawing/2014/main" val="20001"/>
                    </a:ext>
                  </a:extLst>
                </a:gridCol>
                <a:gridCol w="618378">
                  <a:extLst>
                    <a:ext uri="{9D8B030D-6E8A-4147-A177-3AD203B41FA5}">
                      <a16:colId xmlns:a16="http://schemas.microsoft.com/office/drawing/2014/main" val="20002"/>
                    </a:ext>
                  </a:extLst>
                </a:gridCol>
                <a:gridCol w="923026">
                  <a:extLst>
                    <a:ext uri="{9D8B030D-6E8A-4147-A177-3AD203B41FA5}">
                      <a16:colId xmlns:a16="http://schemas.microsoft.com/office/drawing/2014/main" val="20003"/>
                    </a:ext>
                  </a:extLst>
                </a:gridCol>
                <a:gridCol w="1661445">
                  <a:extLst>
                    <a:ext uri="{9D8B030D-6E8A-4147-A177-3AD203B41FA5}">
                      <a16:colId xmlns:a16="http://schemas.microsoft.com/office/drawing/2014/main" val="20004"/>
                    </a:ext>
                  </a:extLst>
                </a:gridCol>
                <a:gridCol w="1846049">
                  <a:extLst>
                    <a:ext uri="{9D8B030D-6E8A-4147-A177-3AD203B41FA5}">
                      <a16:colId xmlns:a16="http://schemas.microsoft.com/office/drawing/2014/main" val="20005"/>
                    </a:ext>
                  </a:extLst>
                </a:gridCol>
              </a:tblGrid>
              <a:tr h="283591">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数据类型</a:t>
                      </a: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类别</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格式</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编号</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itchFamily="34" charset="-122"/>
                          <a:ea typeface="微软雅黑" pitchFamily="34" charset="-122"/>
                        </a:rPr>
                        <a:t>T </a:t>
                      </a:r>
                      <a:r>
                        <a:rPr lang="zh-CN" sz="1400" b="1" dirty="0" smtClean="0">
                          <a:solidFill>
                            <a:schemeClr val="bg1"/>
                          </a:solidFill>
                          <a:effectLst/>
                          <a:latin typeface="微软雅黑" pitchFamily="34" charset="-122"/>
                          <a:ea typeface="微软雅黑" pitchFamily="34" charset="-122"/>
                        </a:rPr>
                        <a:t>字段</a:t>
                      </a:r>
                      <a:r>
                        <a:rPr lang="zh-CN" sz="1400" b="1" dirty="0">
                          <a:solidFill>
                            <a:schemeClr val="bg1"/>
                          </a:solidFill>
                          <a:effectLst/>
                          <a:latin typeface="微软雅黑" pitchFamily="34" charset="-122"/>
                          <a:ea typeface="微软雅黑" pitchFamily="34" charset="-122"/>
                        </a:rPr>
                        <a:t>（二进制）</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itchFamily="34" charset="-122"/>
                          <a:ea typeface="微软雅黑" pitchFamily="34" charset="-122"/>
                        </a:rPr>
                        <a:t>T </a:t>
                      </a:r>
                      <a:r>
                        <a:rPr lang="zh-CN" sz="1400" b="1" dirty="0" smtClean="0">
                          <a:solidFill>
                            <a:schemeClr val="bg1"/>
                          </a:solidFill>
                          <a:effectLst/>
                          <a:latin typeface="微软雅黑" pitchFamily="34" charset="-122"/>
                          <a:ea typeface="微软雅黑" pitchFamily="34" charset="-122"/>
                        </a:rPr>
                        <a:t>字段</a:t>
                      </a:r>
                      <a:r>
                        <a:rPr lang="zh-CN" sz="1400" b="1" dirty="0">
                          <a:solidFill>
                            <a:schemeClr val="bg1"/>
                          </a:solidFill>
                          <a:effectLst/>
                          <a:latin typeface="微软雅黑" pitchFamily="34" charset="-122"/>
                          <a:ea typeface="微软雅黑" pitchFamily="34" charset="-122"/>
                        </a:rPr>
                        <a:t>（十六进制）</a:t>
                      </a: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0"/>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INTEGER</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02</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1"/>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OCTET STRING</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00000100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04</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2"/>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OBJECT IDENTIFIER</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00110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00000110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06</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3"/>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NULL</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00000101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05</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4"/>
                  </a:ext>
                </a:extLst>
              </a:tr>
              <a:tr h="283591">
                <a:tc>
                  <a:txBody>
                    <a:bodyPr/>
                    <a:lstStyle/>
                    <a:p>
                      <a:pPr algn="l" hangingPunct="0">
                        <a:lnSpc>
                          <a:spcPts val="1800"/>
                        </a:lnSpc>
                        <a:spcAft>
                          <a:spcPts val="0"/>
                        </a:spcAft>
                      </a:pPr>
                      <a:r>
                        <a:rPr lang="en-US" sz="1400" b="1" dirty="0" smtClean="0">
                          <a:solidFill>
                            <a:schemeClr val="tx1"/>
                          </a:solidFill>
                          <a:effectLst/>
                          <a:latin typeface="微软雅黑" pitchFamily="34" charset="-122"/>
                          <a:ea typeface="微软雅黑" pitchFamily="34" charset="-122"/>
                        </a:rPr>
                        <a:t>SEQUENCE，SEQUENCE OF</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10000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00110000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30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5"/>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Counter</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01000001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7"/>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Gauge</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01000010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42</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8"/>
                  </a:ext>
                </a:extLst>
              </a:tr>
              <a:tr h="283591">
                <a:tc>
                  <a:txBody>
                    <a:bodyPr/>
                    <a:lstStyle/>
                    <a:p>
                      <a:pPr algn="l" hangingPunct="0">
                        <a:lnSpc>
                          <a:spcPts val="1800"/>
                        </a:lnSpc>
                        <a:spcAft>
                          <a:spcPts val="0"/>
                        </a:spcAft>
                      </a:pPr>
                      <a:r>
                        <a:rPr lang="en-US" sz="1400" b="1">
                          <a:solidFill>
                            <a:schemeClr val="tx1"/>
                          </a:solidFill>
                          <a:effectLst/>
                          <a:latin typeface="微软雅黑" pitchFamily="34" charset="-122"/>
                          <a:ea typeface="微软雅黑" pitchFamily="34" charset="-122"/>
                        </a:rPr>
                        <a:t>TimeTicks</a:t>
                      </a:r>
                      <a:endParaRPr lang="zh-CN" sz="1400" b="1">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01000011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43</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Opaque</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00100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01000100 </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44</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3173413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451538" y="582898"/>
            <a:ext cx="42596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L </a:t>
            </a:r>
            <a:r>
              <a:rPr lang="zh-CN" altLang="en-US" sz="2000" b="1" dirty="0">
                <a:solidFill>
                  <a:schemeClr val="bg1"/>
                </a:solidFill>
                <a:latin typeface="微软雅黑" pitchFamily="34" charset="-122"/>
                <a:ea typeface="微软雅黑" pitchFamily="34" charset="-122"/>
              </a:rPr>
              <a:t>字段定义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字段的</a:t>
            </a:r>
            <a:r>
              <a:rPr lang="zh-CN" altLang="en-US" sz="2000" b="1" dirty="0" smtClean="0">
                <a:solidFill>
                  <a:schemeClr val="bg1"/>
                </a:solidFill>
                <a:latin typeface="微软雅黑" pitchFamily="34" charset="-122"/>
                <a:ea typeface="微软雅黑" pitchFamily="34" charset="-122"/>
              </a:rPr>
              <a:t>长度</a:t>
            </a:r>
          </a:p>
        </p:txBody>
      </p:sp>
      <p:sp>
        <p:nvSpPr>
          <p:cNvPr id="19" name="Text Box 4"/>
          <p:cNvSpPr txBox="1">
            <a:spLocks noChangeArrowheads="1"/>
          </p:cNvSpPr>
          <p:nvPr/>
        </p:nvSpPr>
        <p:spPr bwMode="auto">
          <a:xfrm>
            <a:off x="2245313" y="1521070"/>
            <a:ext cx="25603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 </a:t>
            </a:r>
            <a:r>
              <a:rPr lang="en-US" altLang="zh-CN" sz="1600" b="1" dirty="0">
                <a:solidFill>
                  <a:srgbClr val="0000FF"/>
                </a:solidFill>
                <a:latin typeface="微软雅黑" pitchFamily="34" charset="-122"/>
                <a:ea typeface="微软雅黑" pitchFamily="34" charset="-122"/>
              </a:rPr>
              <a:t>V </a:t>
            </a:r>
            <a:r>
              <a:rPr lang="zh-CN" altLang="en-US" sz="1600" b="1" dirty="0">
                <a:solidFill>
                  <a:srgbClr val="0000FF"/>
                </a:solidFill>
                <a:latin typeface="微软雅黑" pitchFamily="34" charset="-122"/>
                <a:ea typeface="微软雅黑" pitchFamily="34" charset="-122"/>
              </a:rPr>
              <a:t>字段长度 </a:t>
            </a:r>
            <a:r>
              <a:rPr lang="en-US" altLang="zh-CN" sz="1600" b="1" dirty="0">
                <a:solidFill>
                  <a:srgbClr val="0000FF"/>
                </a:solidFill>
                <a:latin typeface="微软雅黑" pitchFamily="34" charset="-122"/>
                <a:ea typeface="微软雅黑" pitchFamily="34" charset="-122"/>
              </a:rPr>
              <a:t>= 2 </a:t>
            </a:r>
            <a:r>
              <a:rPr lang="zh-CN" altLang="en-US" sz="1600" b="1" dirty="0">
                <a:solidFill>
                  <a:srgbClr val="0000FF"/>
                </a:solidFill>
                <a:latin typeface="微软雅黑" pitchFamily="34" charset="-122"/>
                <a:ea typeface="微软雅黑" pitchFamily="34" charset="-122"/>
              </a:rPr>
              <a:t>字节</a:t>
            </a:r>
          </a:p>
        </p:txBody>
      </p:sp>
      <p:sp>
        <p:nvSpPr>
          <p:cNvPr id="20" name="Rectangle 5"/>
          <p:cNvSpPr>
            <a:spLocks noChangeArrowheads="1"/>
          </p:cNvSpPr>
          <p:nvPr/>
        </p:nvSpPr>
        <p:spPr bwMode="auto">
          <a:xfrm>
            <a:off x="2524966" y="2007514"/>
            <a:ext cx="227656" cy="306136"/>
          </a:xfrm>
          <a:prstGeom prst="rect">
            <a:avLst/>
          </a:prstGeom>
          <a:solidFill>
            <a:srgbClr val="0000FF"/>
          </a:solidFill>
          <a:ln w="9525">
            <a:solidFill>
              <a:schemeClr val="tx1"/>
            </a:solidFill>
            <a:miter lim="800000"/>
            <a:headEnd/>
            <a:tailEnd/>
          </a:ln>
          <a:effectLst/>
          <a:extLst/>
        </p:spPr>
        <p:txBody>
          <a:bodyPr wrap="none" anchor="ctr"/>
          <a:lstStyle/>
          <a:p>
            <a:pPr algn="ctr" eaLnBrk="1" hangingPunct="1"/>
            <a:r>
              <a:rPr lang="en-US" altLang="zh-CN" sz="1600" b="1">
                <a:solidFill>
                  <a:schemeClr val="bg1"/>
                </a:solidFill>
                <a:latin typeface="微软雅黑" pitchFamily="34" charset="-122"/>
                <a:ea typeface="微软雅黑" pitchFamily="34" charset="-122"/>
              </a:rPr>
              <a:t>0</a:t>
            </a:r>
          </a:p>
        </p:txBody>
      </p:sp>
      <p:sp>
        <p:nvSpPr>
          <p:cNvPr id="21" name="Rectangle 6"/>
          <p:cNvSpPr>
            <a:spLocks noChangeArrowheads="1"/>
          </p:cNvSpPr>
          <p:nvPr/>
        </p:nvSpPr>
        <p:spPr bwMode="auto">
          <a:xfrm>
            <a:off x="2752622" y="2007514"/>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2" name="Rectangle 7"/>
          <p:cNvSpPr>
            <a:spLocks noChangeArrowheads="1"/>
          </p:cNvSpPr>
          <p:nvPr/>
        </p:nvSpPr>
        <p:spPr bwMode="auto">
          <a:xfrm>
            <a:off x="2980278" y="2007514"/>
            <a:ext cx="226250"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3" name="Rectangle 8"/>
          <p:cNvSpPr>
            <a:spLocks noChangeArrowheads="1"/>
          </p:cNvSpPr>
          <p:nvPr/>
        </p:nvSpPr>
        <p:spPr bwMode="auto">
          <a:xfrm>
            <a:off x="3206528" y="2007514"/>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4" name="Rectangle 9"/>
          <p:cNvSpPr>
            <a:spLocks noChangeArrowheads="1"/>
          </p:cNvSpPr>
          <p:nvPr/>
        </p:nvSpPr>
        <p:spPr bwMode="auto">
          <a:xfrm>
            <a:off x="3434185" y="2007514"/>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5" name="Rectangle 10"/>
          <p:cNvSpPr>
            <a:spLocks noChangeArrowheads="1"/>
          </p:cNvSpPr>
          <p:nvPr/>
        </p:nvSpPr>
        <p:spPr bwMode="auto">
          <a:xfrm>
            <a:off x="3661841" y="2007514"/>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6" name="Rectangle 11"/>
          <p:cNvSpPr>
            <a:spLocks noChangeArrowheads="1"/>
          </p:cNvSpPr>
          <p:nvPr/>
        </p:nvSpPr>
        <p:spPr bwMode="auto">
          <a:xfrm>
            <a:off x="3889496" y="2007514"/>
            <a:ext cx="226251"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dirty="0">
                <a:latin typeface="微软雅黑" pitchFamily="34" charset="-122"/>
                <a:ea typeface="微软雅黑" pitchFamily="34" charset="-122"/>
              </a:rPr>
              <a:t>1</a:t>
            </a:r>
          </a:p>
        </p:txBody>
      </p:sp>
      <p:sp>
        <p:nvSpPr>
          <p:cNvPr id="27" name="Rectangle 12"/>
          <p:cNvSpPr>
            <a:spLocks noChangeArrowheads="1"/>
          </p:cNvSpPr>
          <p:nvPr/>
        </p:nvSpPr>
        <p:spPr bwMode="auto">
          <a:xfrm>
            <a:off x="4115748" y="2007514"/>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8" name="Rectangle 13"/>
          <p:cNvSpPr>
            <a:spLocks noChangeArrowheads="1"/>
          </p:cNvSpPr>
          <p:nvPr/>
        </p:nvSpPr>
        <p:spPr bwMode="auto">
          <a:xfrm>
            <a:off x="2526371" y="3023210"/>
            <a:ext cx="227656" cy="306136"/>
          </a:xfrm>
          <a:prstGeom prst="rect">
            <a:avLst/>
          </a:prstGeom>
          <a:solidFill>
            <a:srgbClr val="CC00FF"/>
          </a:solidFill>
          <a:ln w="9525" algn="ctr">
            <a:solidFill>
              <a:schemeClr val="tx1"/>
            </a:solidFill>
            <a:miter lim="800000"/>
            <a:headEnd/>
            <a:tailEnd/>
          </a:ln>
          <a:effectLst/>
          <a:extLst/>
        </p:spPr>
        <p:txBody>
          <a:bodyPr wrap="none" anchor="ctr"/>
          <a:lstStyle/>
          <a:p>
            <a:pPr algn="ctr" eaLnBrk="1" hangingPunct="1"/>
            <a:r>
              <a:rPr lang="en-US" altLang="zh-CN" sz="1600" b="1" dirty="0">
                <a:solidFill>
                  <a:schemeClr val="bg1"/>
                </a:solidFill>
                <a:latin typeface="微软雅黑" pitchFamily="34" charset="-122"/>
                <a:ea typeface="微软雅黑" pitchFamily="34" charset="-122"/>
              </a:rPr>
              <a:t>1</a:t>
            </a:r>
          </a:p>
        </p:txBody>
      </p:sp>
      <p:sp>
        <p:nvSpPr>
          <p:cNvPr id="29" name="Rectangle 14"/>
          <p:cNvSpPr>
            <a:spLocks noChangeArrowheads="1"/>
          </p:cNvSpPr>
          <p:nvPr/>
        </p:nvSpPr>
        <p:spPr bwMode="auto">
          <a:xfrm>
            <a:off x="2754027" y="3025805"/>
            <a:ext cx="227656"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dirty="0">
                <a:latin typeface="微软雅黑" pitchFamily="34" charset="-122"/>
                <a:ea typeface="微软雅黑" pitchFamily="34" charset="-122"/>
              </a:rPr>
              <a:t>0</a:t>
            </a:r>
          </a:p>
        </p:txBody>
      </p:sp>
      <p:sp>
        <p:nvSpPr>
          <p:cNvPr id="30" name="Rectangle 15"/>
          <p:cNvSpPr>
            <a:spLocks noChangeArrowheads="1"/>
          </p:cNvSpPr>
          <p:nvPr/>
        </p:nvSpPr>
        <p:spPr bwMode="auto">
          <a:xfrm>
            <a:off x="2981683" y="3025805"/>
            <a:ext cx="226251"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1" name="Rectangle 16"/>
          <p:cNvSpPr>
            <a:spLocks noChangeArrowheads="1"/>
          </p:cNvSpPr>
          <p:nvPr/>
        </p:nvSpPr>
        <p:spPr bwMode="auto">
          <a:xfrm>
            <a:off x="3207935" y="3025805"/>
            <a:ext cx="227656"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2" name="Rectangle 17"/>
          <p:cNvSpPr>
            <a:spLocks noChangeArrowheads="1"/>
          </p:cNvSpPr>
          <p:nvPr/>
        </p:nvSpPr>
        <p:spPr bwMode="auto">
          <a:xfrm>
            <a:off x="3435591" y="3025805"/>
            <a:ext cx="227656"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3" name="Rectangle 18"/>
          <p:cNvSpPr>
            <a:spLocks noChangeArrowheads="1"/>
          </p:cNvSpPr>
          <p:nvPr/>
        </p:nvSpPr>
        <p:spPr bwMode="auto">
          <a:xfrm>
            <a:off x="3663247" y="3025805"/>
            <a:ext cx="227656"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4" name="Rectangle 19"/>
          <p:cNvSpPr>
            <a:spLocks noChangeArrowheads="1"/>
          </p:cNvSpPr>
          <p:nvPr/>
        </p:nvSpPr>
        <p:spPr bwMode="auto">
          <a:xfrm>
            <a:off x="3890902" y="3025805"/>
            <a:ext cx="227656"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35" name="Rectangle 20"/>
          <p:cNvSpPr>
            <a:spLocks noChangeArrowheads="1"/>
          </p:cNvSpPr>
          <p:nvPr/>
        </p:nvSpPr>
        <p:spPr bwMode="auto">
          <a:xfrm>
            <a:off x="4118559" y="3025805"/>
            <a:ext cx="226250" cy="306136"/>
          </a:xfrm>
          <a:prstGeom prst="rect">
            <a:avLst/>
          </a:prstGeom>
          <a:solidFill>
            <a:srgbClr val="FFFF00"/>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6" name="Rectangle 21"/>
          <p:cNvSpPr>
            <a:spLocks noChangeArrowheads="1"/>
          </p:cNvSpPr>
          <p:nvPr/>
        </p:nvSpPr>
        <p:spPr bwMode="auto">
          <a:xfrm>
            <a:off x="4497985" y="3025805"/>
            <a:ext cx="226250"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dirty="0">
                <a:latin typeface="微软雅黑" pitchFamily="34" charset="-122"/>
                <a:ea typeface="微软雅黑" pitchFamily="34" charset="-122"/>
              </a:rPr>
              <a:t>0</a:t>
            </a:r>
          </a:p>
        </p:txBody>
      </p:sp>
      <p:sp>
        <p:nvSpPr>
          <p:cNvPr id="37" name="Rectangle 22"/>
          <p:cNvSpPr>
            <a:spLocks noChangeArrowheads="1"/>
          </p:cNvSpPr>
          <p:nvPr/>
        </p:nvSpPr>
        <p:spPr bwMode="auto">
          <a:xfrm>
            <a:off x="4724236"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8" name="Rectangle 23"/>
          <p:cNvSpPr>
            <a:spLocks noChangeArrowheads="1"/>
          </p:cNvSpPr>
          <p:nvPr/>
        </p:nvSpPr>
        <p:spPr bwMode="auto">
          <a:xfrm>
            <a:off x="4951893"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9" name="Rectangle 24"/>
          <p:cNvSpPr>
            <a:spLocks noChangeArrowheads="1"/>
          </p:cNvSpPr>
          <p:nvPr/>
        </p:nvSpPr>
        <p:spPr bwMode="auto">
          <a:xfrm>
            <a:off x="5179548"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0" name="Rectangle 25"/>
          <p:cNvSpPr>
            <a:spLocks noChangeArrowheads="1"/>
          </p:cNvSpPr>
          <p:nvPr/>
        </p:nvSpPr>
        <p:spPr bwMode="auto">
          <a:xfrm>
            <a:off x="5407204"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1" name="Rectangle 26"/>
          <p:cNvSpPr>
            <a:spLocks noChangeArrowheads="1"/>
          </p:cNvSpPr>
          <p:nvPr/>
        </p:nvSpPr>
        <p:spPr bwMode="auto">
          <a:xfrm>
            <a:off x="5634860" y="3025805"/>
            <a:ext cx="226251"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2" name="Rectangle 27"/>
          <p:cNvSpPr>
            <a:spLocks noChangeArrowheads="1"/>
          </p:cNvSpPr>
          <p:nvPr/>
        </p:nvSpPr>
        <p:spPr bwMode="auto">
          <a:xfrm>
            <a:off x="5861111"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3" name="Rectangle 28"/>
          <p:cNvSpPr>
            <a:spLocks noChangeArrowheads="1"/>
          </p:cNvSpPr>
          <p:nvPr/>
        </p:nvSpPr>
        <p:spPr bwMode="auto">
          <a:xfrm>
            <a:off x="6088768"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44" name="Rectangle 29"/>
          <p:cNvSpPr>
            <a:spLocks noChangeArrowheads="1"/>
          </p:cNvSpPr>
          <p:nvPr/>
        </p:nvSpPr>
        <p:spPr bwMode="auto">
          <a:xfrm>
            <a:off x="6468194"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5" name="Rectangle 30"/>
          <p:cNvSpPr>
            <a:spLocks noChangeArrowheads="1"/>
          </p:cNvSpPr>
          <p:nvPr/>
        </p:nvSpPr>
        <p:spPr bwMode="auto">
          <a:xfrm>
            <a:off x="6695851"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6" name="Rectangle 31"/>
          <p:cNvSpPr>
            <a:spLocks noChangeArrowheads="1"/>
          </p:cNvSpPr>
          <p:nvPr/>
        </p:nvSpPr>
        <p:spPr bwMode="auto">
          <a:xfrm>
            <a:off x="6923507"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7" name="Rectangle 32"/>
          <p:cNvSpPr>
            <a:spLocks noChangeArrowheads="1"/>
          </p:cNvSpPr>
          <p:nvPr/>
        </p:nvSpPr>
        <p:spPr bwMode="auto">
          <a:xfrm>
            <a:off x="7151163" y="3025805"/>
            <a:ext cx="226250"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8" name="Rectangle 33"/>
          <p:cNvSpPr>
            <a:spLocks noChangeArrowheads="1"/>
          </p:cNvSpPr>
          <p:nvPr/>
        </p:nvSpPr>
        <p:spPr bwMode="auto">
          <a:xfrm>
            <a:off x="7377413"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9" name="Rectangle 34"/>
          <p:cNvSpPr>
            <a:spLocks noChangeArrowheads="1"/>
          </p:cNvSpPr>
          <p:nvPr/>
        </p:nvSpPr>
        <p:spPr bwMode="auto">
          <a:xfrm>
            <a:off x="7605069"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50" name="Rectangle 35"/>
          <p:cNvSpPr>
            <a:spLocks noChangeArrowheads="1"/>
          </p:cNvSpPr>
          <p:nvPr/>
        </p:nvSpPr>
        <p:spPr bwMode="auto">
          <a:xfrm>
            <a:off x="7832726" y="3025805"/>
            <a:ext cx="227656"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51" name="Rectangle 36"/>
          <p:cNvSpPr>
            <a:spLocks noChangeArrowheads="1"/>
          </p:cNvSpPr>
          <p:nvPr/>
        </p:nvSpPr>
        <p:spPr bwMode="auto">
          <a:xfrm>
            <a:off x="8060381" y="3025805"/>
            <a:ext cx="226251" cy="306136"/>
          </a:xfrm>
          <a:prstGeom prst="rect">
            <a:avLst/>
          </a:prstGeom>
          <a:solidFill>
            <a:srgbClr val="00FFCC"/>
          </a:solidFill>
          <a:ln w="9525">
            <a:solidFill>
              <a:schemeClr val="tx1"/>
            </a:solidFill>
            <a:miter lim="800000"/>
            <a:headEnd/>
            <a:tailEnd/>
          </a:ln>
          <a:effectLst/>
          <a:ex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52" name="Text Box 37"/>
          <p:cNvSpPr txBox="1">
            <a:spLocks noChangeArrowheads="1"/>
          </p:cNvSpPr>
          <p:nvPr/>
        </p:nvSpPr>
        <p:spPr bwMode="auto">
          <a:xfrm>
            <a:off x="779603" y="1991949"/>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00000"/>
                </a:solidFill>
                <a:latin typeface="微软雅黑" pitchFamily="34" charset="-122"/>
                <a:ea typeface="微软雅黑" pitchFamily="34" charset="-122"/>
              </a:rPr>
              <a:t>单字节的 </a:t>
            </a:r>
            <a:r>
              <a:rPr lang="en-US" altLang="zh-CN" sz="1600" b="1" dirty="0">
                <a:solidFill>
                  <a:srgbClr val="C00000"/>
                </a:solidFill>
                <a:latin typeface="微软雅黑" pitchFamily="34" charset="-122"/>
                <a:ea typeface="微软雅黑" pitchFamily="34" charset="-122"/>
              </a:rPr>
              <a:t>L </a:t>
            </a:r>
            <a:r>
              <a:rPr lang="zh-CN" altLang="en-US" sz="1600" b="1" dirty="0">
                <a:solidFill>
                  <a:srgbClr val="C00000"/>
                </a:solidFill>
                <a:latin typeface="微软雅黑" pitchFamily="34" charset="-122"/>
                <a:ea typeface="微软雅黑" pitchFamily="34" charset="-122"/>
              </a:rPr>
              <a:t>字段</a:t>
            </a:r>
          </a:p>
        </p:txBody>
      </p:sp>
      <p:sp>
        <p:nvSpPr>
          <p:cNvPr id="53" name="AutoShape 38"/>
          <p:cNvSpPr>
            <a:spLocks/>
          </p:cNvSpPr>
          <p:nvPr/>
        </p:nvSpPr>
        <p:spPr bwMode="auto">
          <a:xfrm rot="16200000">
            <a:off x="3487153" y="1075270"/>
            <a:ext cx="175120" cy="1590782"/>
          </a:xfrm>
          <a:prstGeom prst="rightBrace">
            <a:avLst>
              <a:gd name="adj1" fmla="val 6987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4" name="AutoShape 39"/>
          <p:cNvSpPr>
            <a:spLocks/>
          </p:cNvSpPr>
          <p:nvPr/>
        </p:nvSpPr>
        <p:spPr bwMode="auto">
          <a:xfrm rot="16200000">
            <a:off x="6344638" y="1020464"/>
            <a:ext cx="120638" cy="3791458"/>
          </a:xfrm>
          <a:prstGeom prst="rightBrace">
            <a:avLst>
              <a:gd name="adj1" fmla="val 24175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5" name="Text Box 40"/>
          <p:cNvSpPr txBox="1">
            <a:spLocks noChangeArrowheads="1"/>
          </p:cNvSpPr>
          <p:nvPr/>
        </p:nvSpPr>
        <p:spPr bwMode="auto">
          <a:xfrm>
            <a:off x="5119120" y="2580871"/>
            <a:ext cx="281359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 </a:t>
            </a:r>
            <a:r>
              <a:rPr lang="en-US" altLang="zh-CN" sz="1600" b="1" dirty="0">
                <a:solidFill>
                  <a:srgbClr val="0000FF"/>
                </a:solidFill>
                <a:latin typeface="微软雅黑" pitchFamily="34" charset="-122"/>
                <a:ea typeface="微软雅黑" pitchFamily="34" charset="-122"/>
              </a:rPr>
              <a:t>V </a:t>
            </a:r>
            <a:r>
              <a:rPr lang="zh-CN" altLang="en-US" sz="1600" b="1" dirty="0">
                <a:solidFill>
                  <a:srgbClr val="0000FF"/>
                </a:solidFill>
                <a:latin typeface="微软雅黑" pitchFamily="34" charset="-122"/>
                <a:ea typeface="微软雅黑" pitchFamily="34" charset="-122"/>
              </a:rPr>
              <a:t>字段长度 </a:t>
            </a:r>
            <a:r>
              <a:rPr lang="en-US" altLang="zh-CN" sz="1600" b="1" dirty="0">
                <a:solidFill>
                  <a:srgbClr val="0000FF"/>
                </a:solidFill>
                <a:latin typeface="微软雅黑" pitchFamily="34" charset="-122"/>
                <a:ea typeface="微软雅黑" pitchFamily="34" charset="-122"/>
              </a:rPr>
              <a:t>= 262 </a:t>
            </a:r>
            <a:r>
              <a:rPr lang="zh-CN" altLang="en-US" sz="1600" b="1" dirty="0">
                <a:solidFill>
                  <a:srgbClr val="0000FF"/>
                </a:solidFill>
                <a:latin typeface="微软雅黑" pitchFamily="34" charset="-122"/>
                <a:ea typeface="微软雅黑" pitchFamily="34" charset="-122"/>
              </a:rPr>
              <a:t>字节</a:t>
            </a:r>
          </a:p>
        </p:txBody>
      </p:sp>
      <p:sp>
        <p:nvSpPr>
          <p:cNvPr id="56" name="Text Box 41"/>
          <p:cNvSpPr txBox="1">
            <a:spLocks noChangeArrowheads="1"/>
          </p:cNvSpPr>
          <p:nvPr/>
        </p:nvSpPr>
        <p:spPr bwMode="auto">
          <a:xfrm>
            <a:off x="779603" y="3023211"/>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a:solidFill>
                  <a:srgbClr val="C00000"/>
                </a:solidFill>
                <a:latin typeface="微软雅黑" pitchFamily="34" charset="-122"/>
                <a:ea typeface="微软雅黑" pitchFamily="34" charset="-122"/>
              </a:rPr>
              <a:t>多字节的 </a:t>
            </a:r>
            <a:r>
              <a:rPr lang="en-US" altLang="zh-CN" sz="1600" b="1">
                <a:solidFill>
                  <a:srgbClr val="C00000"/>
                </a:solidFill>
                <a:latin typeface="微软雅黑" pitchFamily="34" charset="-122"/>
                <a:ea typeface="微软雅黑" pitchFamily="34" charset="-122"/>
              </a:rPr>
              <a:t>L </a:t>
            </a:r>
            <a:r>
              <a:rPr lang="zh-CN" altLang="en-US" sz="1600" b="1">
                <a:solidFill>
                  <a:srgbClr val="C00000"/>
                </a:solidFill>
                <a:latin typeface="微软雅黑" pitchFamily="34" charset="-122"/>
                <a:ea typeface="微软雅黑" pitchFamily="34" charset="-122"/>
              </a:rPr>
              <a:t>字段</a:t>
            </a:r>
          </a:p>
        </p:txBody>
      </p:sp>
      <p:sp>
        <p:nvSpPr>
          <p:cNvPr id="57" name="AutoShape 42"/>
          <p:cNvSpPr>
            <a:spLocks/>
          </p:cNvSpPr>
          <p:nvPr/>
        </p:nvSpPr>
        <p:spPr bwMode="auto">
          <a:xfrm rot="16200000">
            <a:off x="3476884" y="2107182"/>
            <a:ext cx="147879" cy="1590782"/>
          </a:xfrm>
          <a:prstGeom prst="rightBrace">
            <a:avLst>
              <a:gd name="adj1" fmla="val 82749"/>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8" name="Line 43"/>
          <p:cNvSpPr>
            <a:spLocks noChangeShapeType="1"/>
          </p:cNvSpPr>
          <p:nvPr/>
        </p:nvSpPr>
        <p:spPr bwMode="auto">
          <a:xfrm flipV="1">
            <a:off x="4495175" y="3610836"/>
            <a:ext cx="379145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59" name="Text Box 44"/>
          <p:cNvSpPr txBox="1">
            <a:spLocks noChangeArrowheads="1"/>
          </p:cNvSpPr>
          <p:nvPr/>
        </p:nvSpPr>
        <p:spPr bwMode="auto">
          <a:xfrm>
            <a:off x="2436433" y="2552333"/>
            <a:ext cx="235806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指出后续字节数 </a:t>
            </a:r>
            <a:r>
              <a:rPr lang="en-US" altLang="zh-CN" sz="1600" b="1" dirty="0">
                <a:solidFill>
                  <a:srgbClr val="0000FF"/>
                </a:solidFill>
                <a:latin typeface="微软雅黑" pitchFamily="34" charset="-122"/>
                <a:ea typeface="微软雅黑" pitchFamily="34" charset="-122"/>
              </a:rPr>
              <a:t>= 2</a:t>
            </a:r>
          </a:p>
        </p:txBody>
      </p:sp>
      <p:sp>
        <p:nvSpPr>
          <p:cNvPr id="60" name="Text Box 45"/>
          <p:cNvSpPr txBox="1">
            <a:spLocks noChangeArrowheads="1"/>
          </p:cNvSpPr>
          <p:nvPr/>
        </p:nvSpPr>
        <p:spPr bwMode="auto">
          <a:xfrm>
            <a:off x="5497143" y="3434420"/>
            <a:ext cx="1728500" cy="338554"/>
          </a:xfrm>
          <a:prstGeom prst="rect">
            <a:avLst/>
          </a:prstGeom>
          <a:solidFill>
            <a:srgbClr val="C3E3F9"/>
          </a:solidFill>
          <a:ln>
            <a:noFill/>
          </a:ln>
          <a:effectLs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C00CC"/>
                </a:solidFill>
                <a:latin typeface="微软雅黑" pitchFamily="34" charset="-122"/>
                <a:ea typeface="微软雅黑" pitchFamily="34" charset="-122"/>
              </a:rPr>
              <a:t>后续字节数 </a:t>
            </a:r>
            <a:r>
              <a:rPr lang="en-US" altLang="zh-CN" sz="1600" b="1" dirty="0">
                <a:solidFill>
                  <a:srgbClr val="CC00CC"/>
                </a:solidFill>
                <a:latin typeface="微软雅黑" pitchFamily="34" charset="-122"/>
                <a:ea typeface="微软雅黑" pitchFamily="34" charset="-122"/>
              </a:rPr>
              <a:t>= 2</a:t>
            </a:r>
          </a:p>
        </p:txBody>
      </p:sp>
    </p:spTree>
    <p:extLst>
      <p:ext uri="{BB962C8B-B14F-4D97-AF65-F5344CB8AC3E}">
        <p14:creationId xmlns:p14="http://schemas.microsoft.com/office/powerpoint/2010/main" val="38423544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0968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765727" y="576475"/>
            <a:ext cx="363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smtClean="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a:t>
            </a:r>
            <a:r>
              <a:rPr lang="zh-CN" altLang="en-US" sz="2000" b="1" dirty="0" smtClean="0">
                <a:solidFill>
                  <a:schemeClr val="bg1"/>
                </a:solidFill>
                <a:latin typeface="微软雅黑" pitchFamily="34" charset="-122"/>
                <a:ea typeface="微软雅黑" pitchFamily="34" charset="-122"/>
              </a:rPr>
              <a:t>定义数据的值</a:t>
            </a:r>
          </a:p>
        </p:txBody>
      </p:sp>
      <p:graphicFrame>
        <p:nvGraphicFramePr>
          <p:cNvPr id="5" name="表格 4"/>
          <p:cNvGraphicFramePr>
            <a:graphicFrameLocks noGrp="1"/>
          </p:cNvGraphicFramePr>
          <p:nvPr>
            <p:extLst/>
          </p:nvPr>
        </p:nvGraphicFramePr>
        <p:xfrm>
          <a:off x="556964" y="1035483"/>
          <a:ext cx="8048775" cy="3052071"/>
        </p:xfrm>
        <a:graphic>
          <a:graphicData uri="http://schemas.openxmlformats.org/drawingml/2006/table">
            <a:tbl>
              <a:tblPr firstRow="1" bandRow="1">
                <a:tableStyleId>{BC89EF96-8CEA-46FF-86C4-4CE0E7609802}</a:tableStyleId>
              </a:tblPr>
              <a:tblGrid>
                <a:gridCol w="2199678">
                  <a:extLst>
                    <a:ext uri="{9D8B030D-6E8A-4147-A177-3AD203B41FA5}">
                      <a16:colId xmlns:a16="http://schemas.microsoft.com/office/drawing/2014/main" val="20000"/>
                    </a:ext>
                  </a:extLst>
                </a:gridCol>
                <a:gridCol w="901836">
                  <a:extLst>
                    <a:ext uri="{9D8B030D-6E8A-4147-A177-3AD203B41FA5}">
                      <a16:colId xmlns:a16="http://schemas.microsoft.com/office/drawing/2014/main" val="20001"/>
                    </a:ext>
                  </a:extLst>
                </a:gridCol>
                <a:gridCol w="4947261">
                  <a:extLst>
                    <a:ext uri="{9D8B030D-6E8A-4147-A177-3AD203B41FA5}">
                      <a16:colId xmlns:a16="http://schemas.microsoft.com/office/drawing/2014/main" val="20002"/>
                    </a:ext>
                  </a:extLst>
                </a:gridCol>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pitchFamily="34" charset="-122"/>
                          <a:ea typeface="微软雅黑" pitchFamily="34" charset="-122"/>
                        </a:rPr>
                        <a:t>类</a:t>
                      </a:r>
                      <a:r>
                        <a:rPr lang="en-US" sz="1400" b="1" kern="1200" dirty="0">
                          <a:solidFill>
                            <a:schemeClr val="bg1"/>
                          </a:solidFill>
                          <a:effectLst/>
                          <a:latin typeface="微软雅黑" pitchFamily="34" charset="-122"/>
                          <a:ea typeface="微软雅黑" pitchFamily="34" charset="-122"/>
                        </a:rPr>
                        <a:t>   </a:t>
                      </a:r>
                      <a:r>
                        <a:rPr lang="zh-CN" sz="1400" b="1" kern="1200" dirty="0">
                          <a:solidFill>
                            <a:schemeClr val="bg1"/>
                          </a:solidFill>
                          <a:effectLst/>
                          <a:latin typeface="微软雅黑" pitchFamily="34" charset="-122"/>
                          <a:ea typeface="微软雅黑" pitchFamily="34" charset="-122"/>
                        </a:rPr>
                        <a:t>型</a:t>
                      </a:r>
                      <a:endParaRPr lang="zh-CN" sz="1400" b="1" kern="1200" dirty="0">
                        <a:solidFill>
                          <a:schemeClr val="bg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大</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说</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明</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10000"/>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INTEGER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在</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31 </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31</a:t>
                      </a:r>
                      <a:r>
                        <a:rPr lang="en-US" sz="1400" b="1" dirty="0" smtClean="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 </a:t>
                      </a:r>
                      <a:r>
                        <a:rPr lang="zh-CN" sz="1400" b="1" dirty="0" smtClean="0">
                          <a:effectLst/>
                          <a:latin typeface="微软雅黑" pitchFamily="34" charset="-122"/>
                          <a:ea typeface="微软雅黑" pitchFamily="34" charset="-122"/>
                        </a:rPr>
                        <a:t>之间</a:t>
                      </a:r>
                      <a:r>
                        <a:rPr lang="zh-CN" sz="1400" b="1" dirty="0">
                          <a:effectLst/>
                          <a:latin typeface="微软雅黑" pitchFamily="34" charset="-122"/>
                          <a:ea typeface="微软雅黑" pitchFamily="34" charset="-122"/>
                        </a:rPr>
                        <a:t>的整数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Interger32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和</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INTEGER </a:t>
                      </a:r>
                      <a:r>
                        <a:rPr lang="zh-CN" sz="1400" b="1" dirty="0" smtClean="0">
                          <a:effectLst/>
                          <a:latin typeface="微软雅黑" pitchFamily="34" charset="-122"/>
                          <a:ea typeface="微软雅黑" pitchFamily="34" charset="-122"/>
                        </a:rPr>
                        <a:t>相同</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Unsigned32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在</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 </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32</a:t>
                      </a:r>
                      <a:r>
                        <a:rPr lang="en-US" sz="1400" b="1" dirty="0" smtClean="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 </a:t>
                      </a:r>
                      <a:r>
                        <a:rPr lang="zh-CN" sz="1400" b="1" dirty="0" smtClean="0">
                          <a:effectLst/>
                          <a:latin typeface="微软雅黑" pitchFamily="34" charset="-122"/>
                          <a:ea typeface="微软雅黑" pitchFamily="34" charset="-122"/>
                        </a:rPr>
                        <a:t>之间</a:t>
                      </a:r>
                      <a:r>
                        <a:rPr lang="zh-CN" sz="1400" b="1" dirty="0">
                          <a:effectLst/>
                          <a:latin typeface="微软雅黑" pitchFamily="34" charset="-122"/>
                          <a:ea typeface="微软雅黑" pitchFamily="34" charset="-122"/>
                        </a:rPr>
                        <a:t>的无符号数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OCTET STRING</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a:t>
                      </a:r>
                      <a:r>
                        <a:rPr lang="zh-CN" sz="1400" b="1" dirty="0" smtClean="0">
                          <a:effectLst/>
                          <a:latin typeface="微软雅黑" pitchFamily="34" charset="-122"/>
                          <a:ea typeface="微软雅黑" pitchFamily="34" charset="-122"/>
                        </a:rPr>
                        <a:t>超过</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65535 </a:t>
                      </a:r>
                      <a:r>
                        <a:rPr lang="zh-CN" sz="1400" b="1" dirty="0" smtClean="0">
                          <a:effectLst/>
                          <a:latin typeface="微软雅黑" pitchFamily="34" charset="-122"/>
                          <a:ea typeface="微软雅黑" pitchFamily="34" charset="-122"/>
                        </a:rPr>
                        <a:t>字节</a:t>
                      </a:r>
                      <a:r>
                        <a:rPr lang="zh-CN" sz="1400" b="1" dirty="0">
                          <a:effectLst/>
                          <a:latin typeface="微软雅黑" pitchFamily="34" charset="-122"/>
                          <a:ea typeface="微软雅黑" pitchFamily="34" charset="-122"/>
                        </a:rPr>
                        <a:t>长的字节串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OBJECT IDENTIFIER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对象标识符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7461">
                <a:tc>
                  <a:txBody>
                    <a:bodyPr/>
                    <a:lstStyle/>
                    <a:p>
                      <a:pPr algn="l" hangingPunct="0">
                        <a:lnSpc>
                          <a:spcPts val="1800"/>
                        </a:lnSpc>
                        <a:spcAft>
                          <a:spcPts val="0"/>
                        </a:spcAft>
                      </a:pPr>
                      <a:r>
                        <a:rPr lang="en-US" sz="1400" b="1" dirty="0" err="1">
                          <a:effectLst/>
                          <a:latin typeface="微软雅黑" pitchFamily="34" charset="-122"/>
                          <a:ea typeface="微软雅黑" pitchFamily="34" charset="-122"/>
                        </a:rPr>
                        <a:t>IPAddress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itchFamily="34" charset="-122"/>
                          <a:ea typeface="微软雅黑" pitchFamily="34" charset="-122"/>
                        </a:rPr>
                        <a:t>由</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个</a:t>
                      </a:r>
                      <a:r>
                        <a:rPr lang="zh-CN" sz="1400" b="1" dirty="0">
                          <a:effectLst/>
                          <a:latin typeface="微软雅黑" pitchFamily="34" charset="-122"/>
                          <a:ea typeface="微软雅黑" pitchFamily="34" charset="-122"/>
                        </a:rPr>
                        <a:t>整数组成的</a:t>
                      </a:r>
                      <a:r>
                        <a:rPr lang="en-US" sz="1400" b="1" dirty="0">
                          <a:effectLst/>
                          <a:latin typeface="微软雅黑" pitchFamily="34" charset="-122"/>
                          <a:ea typeface="微软雅黑" pitchFamily="34" charset="-122"/>
                        </a:rPr>
                        <a:t>IP</a:t>
                      </a:r>
                      <a:r>
                        <a:rPr lang="zh-CN" sz="1400" b="1" dirty="0">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6"/>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Counter32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a:t>
                      </a:r>
                      <a:r>
                        <a:rPr lang="zh-CN" sz="1400" b="1" dirty="0" smtClean="0">
                          <a:effectLst/>
                          <a:latin typeface="微软雅黑" pitchFamily="34" charset="-122"/>
                          <a:ea typeface="微软雅黑" pitchFamily="34" charset="-122"/>
                        </a:rPr>
                        <a:t>从</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 </a:t>
                      </a:r>
                      <a:r>
                        <a:rPr lang="zh-CN" sz="1400" b="1" dirty="0" smtClean="0">
                          <a:effectLst/>
                          <a:latin typeface="微软雅黑" pitchFamily="34" charset="-122"/>
                          <a:ea typeface="微软雅黑" pitchFamily="34" charset="-122"/>
                        </a:rPr>
                        <a:t>增加到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2</a:t>
                      </a:r>
                      <a:r>
                        <a:rPr lang="en-US" sz="1400" b="1" baseline="30000" dirty="0" smtClean="0">
                          <a:effectLst/>
                          <a:latin typeface="微软雅黑" pitchFamily="34" charset="-122"/>
                          <a:ea typeface="微软雅黑" pitchFamily="34" charset="-122"/>
                        </a:rPr>
                        <a:t>32 </a:t>
                      </a:r>
                      <a:r>
                        <a:rPr lang="zh-CN" sz="1400" b="1" dirty="0" smtClean="0">
                          <a:effectLst/>
                          <a:latin typeface="微软雅黑" pitchFamily="34" charset="-122"/>
                          <a:ea typeface="微软雅黑" pitchFamily="34" charset="-122"/>
                        </a:rPr>
                        <a:t>的</a:t>
                      </a:r>
                      <a:r>
                        <a:rPr lang="zh-CN" sz="1400" b="1" dirty="0">
                          <a:effectLst/>
                          <a:latin typeface="微软雅黑" pitchFamily="34" charset="-122"/>
                          <a:ea typeface="微软雅黑" pitchFamily="34" charset="-122"/>
                        </a:rPr>
                        <a:t>整数；当它到达最大值时就返回</a:t>
                      </a:r>
                      <a:r>
                        <a:rPr lang="zh-CN" sz="1400" b="1" dirty="0" smtClean="0">
                          <a:effectLst/>
                          <a:latin typeface="微软雅黑" pitchFamily="34" charset="-122"/>
                          <a:ea typeface="微软雅黑" pitchFamily="34" charset="-122"/>
                        </a:rPr>
                        <a:t>到</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0</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7461">
                <a:tc>
                  <a:txBody>
                    <a:bodyPr/>
                    <a:lstStyle/>
                    <a:p>
                      <a:pPr algn="l" hangingPunct="0">
                        <a:lnSpc>
                          <a:spcPts val="1800"/>
                        </a:lnSpc>
                        <a:spcAft>
                          <a:spcPts val="0"/>
                        </a:spcAft>
                      </a:pPr>
                      <a:r>
                        <a:rPr lang="en-US" sz="1400" b="1" dirty="0" err="1">
                          <a:effectLst/>
                          <a:latin typeface="微软雅黑" pitchFamily="34" charset="-122"/>
                          <a:ea typeface="微软雅黑" pitchFamily="34" charset="-122"/>
                        </a:rPr>
                        <a:t>TimeTicks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itchFamily="34" charset="-122"/>
                          <a:ea typeface="微软雅黑" pitchFamily="34" charset="-122"/>
                        </a:rPr>
                        <a:t>4 </a:t>
                      </a:r>
                      <a:r>
                        <a:rPr lang="zh-CN" sz="1400" b="1" dirty="0" smtClean="0">
                          <a:effectLst/>
                          <a:latin typeface="微软雅黑" pitchFamily="34" charset="-122"/>
                          <a:ea typeface="微软雅黑" pitchFamily="34" charset="-122"/>
                        </a:rPr>
                        <a:t>字节</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记录时间的计数值，</a:t>
                      </a:r>
                      <a:r>
                        <a:rPr lang="zh-CN" sz="1400" b="1" dirty="0" smtClean="0">
                          <a:effectLst/>
                          <a:latin typeface="微软雅黑" pitchFamily="34" charset="-122"/>
                          <a:ea typeface="微软雅黑" pitchFamily="34" charset="-122"/>
                        </a:rPr>
                        <a:t>以</a:t>
                      </a:r>
                      <a:r>
                        <a:rPr lang="en-US" altLang="zh-CN" sz="1400" b="1" dirty="0" smtClean="0">
                          <a:effectLst/>
                          <a:latin typeface="微软雅黑" pitchFamily="34" charset="-122"/>
                          <a:ea typeface="微软雅黑" pitchFamily="34" charset="-122"/>
                        </a:rPr>
                        <a:t> </a:t>
                      </a:r>
                      <a:r>
                        <a:rPr lang="en-US" sz="1400" b="1" dirty="0" smtClean="0">
                          <a:effectLst/>
                          <a:latin typeface="微软雅黑" pitchFamily="34" charset="-122"/>
                          <a:ea typeface="微软雅黑" pitchFamily="34" charset="-122"/>
                        </a:rPr>
                        <a:t>1/100 </a:t>
                      </a:r>
                      <a:r>
                        <a:rPr lang="zh-CN" sz="1400" b="1" dirty="0" smtClean="0">
                          <a:effectLst/>
                          <a:latin typeface="微软雅黑" pitchFamily="34" charset="-122"/>
                          <a:ea typeface="微软雅黑" pitchFamily="34" charset="-122"/>
                        </a:rPr>
                        <a:t>秒</a:t>
                      </a:r>
                      <a:r>
                        <a:rPr lang="zh-CN" sz="1400" b="1" dirty="0">
                          <a:effectLst/>
                          <a:latin typeface="微软雅黑" pitchFamily="34" charset="-122"/>
                          <a:ea typeface="微软雅黑" pitchFamily="34" charset="-122"/>
                        </a:rPr>
                        <a:t>为单位</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8"/>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BITS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a:effectLst/>
                          <a:latin typeface="微软雅黑" pitchFamily="34" charset="-122"/>
                          <a:ea typeface="微软雅黑"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比特串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Opaque</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不解释的串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20311658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字段定义数据的</a:t>
            </a:r>
            <a:r>
              <a:rPr lang="zh-CN" altLang="en-US" sz="2000" b="1" dirty="0" smtClean="0">
                <a:solidFill>
                  <a:schemeClr val="bg1"/>
                </a:solidFill>
                <a:latin typeface="微软雅黑" pitchFamily="34" charset="-122"/>
                <a:ea typeface="微软雅黑" pitchFamily="34" charset="-122"/>
              </a:rPr>
              <a:t>值</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INTEGER 15</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T </a:t>
            </a:r>
            <a:r>
              <a:rPr lang="zh-CN" altLang="en-US" sz="2000" b="1" dirty="0">
                <a:latin typeface="微软雅黑" pitchFamily="34" charset="-122"/>
                <a:ea typeface="微软雅黑" pitchFamily="34" charset="-122"/>
              </a:rPr>
              <a:t>字段</a:t>
            </a:r>
            <a:r>
              <a:rPr lang="zh-CN" altLang="en-US" sz="2000" b="1" dirty="0" smtClean="0">
                <a:latin typeface="微软雅黑" pitchFamily="34" charset="-122"/>
                <a:ea typeface="微软雅黑" pitchFamily="34" charset="-122"/>
              </a:rPr>
              <a:t>是 </a:t>
            </a:r>
            <a:r>
              <a:rPr lang="en-US" altLang="zh-CN" sz="2000" b="1" dirty="0" smtClean="0">
                <a:latin typeface="微软雅黑" pitchFamily="34" charset="-122"/>
                <a:ea typeface="微软雅黑" pitchFamily="34" charset="-122"/>
              </a:rPr>
              <a:t>02</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INTEGER </a:t>
            </a:r>
            <a:r>
              <a:rPr lang="zh-CN" altLang="en-US" sz="2000" b="1" dirty="0">
                <a:latin typeface="微软雅黑" pitchFamily="34" charset="-122"/>
                <a:ea typeface="微软雅黑" pitchFamily="34" charset="-122"/>
              </a:rPr>
              <a:t>类型要用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字节编码。最后得出 </a:t>
            </a:r>
            <a:r>
              <a:rPr lang="en-US" altLang="zh-CN" sz="2000" b="1" dirty="0">
                <a:latin typeface="微软雅黑" pitchFamily="34" charset="-122"/>
                <a:ea typeface="微软雅黑" pitchFamily="34" charset="-122"/>
              </a:rPr>
              <a:t>TLV </a:t>
            </a:r>
            <a:r>
              <a:rPr lang="zh-CN" altLang="en-US" sz="2000" b="1" dirty="0">
                <a:latin typeface="微软雅黑" pitchFamily="34" charset="-122"/>
                <a:ea typeface="微软雅黑" pitchFamily="34" charset="-122"/>
              </a:rPr>
              <a:t>编码为 </a:t>
            </a:r>
            <a:r>
              <a:rPr lang="en-US" altLang="zh-CN" sz="2000" b="1" dirty="0">
                <a:latin typeface="微软雅黑" pitchFamily="34" charset="-122"/>
                <a:ea typeface="微软雅黑" pitchFamily="34" charset="-122"/>
              </a:rPr>
              <a:t>02 04 00 00 00 0F</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grpSp>
        <p:nvGrpSpPr>
          <p:cNvPr id="14" name="组合 13"/>
          <p:cNvGrpSpPr/>
          <p:nvPr/>
        </p:nvGrpSpPr>
        <p:grpSpPr>
          <a:xfrm>
            <a:off x="1819921" y="2016696"/>
            <a:ext cx="5495279" cy="613023"/>
            <a:chOff x="1494111" y="2655888"/>
            <a:chExt cx="5495279" cy="812526"/>
          </a:xfrm>
        </p:grpSpPr>
        <p:sp>
          <p:nvSpPr>
            <p:cNvPr id="5" name="Rectangle 38"/>
            <p:cNvSpPr>
              <a:spLocks noChangeArrowheads="1"/>
            </p:cNvSpPr>
            <p:nvPr/>
          </p:nvSpPr>
          <p:spPr bwMode="auto">
            <a:xfrm>
              <a:off x="1494111" y="2655888"/>
              <a:ext cx="5495279"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grpSp>
          <p:nvGrpSpPr>
            <p:cNvPr id="13" name="组合 12"/>
            <p:cNvGrpSpPr/>
            <p:nvPr/>
          </p:nvGrpSpPr>
          <p:grpSpPr>
            <a:xfrm>
              <a:off x="3031573" y="2655888"/>
              <a:ext cx="1324693" cy="812526"/>
              <a:chOff x="3031573" y="2655888"/>
              <a:chExt cx="1324693" cy="569913"/>
            </a:xfrm>
          </p:grpSpPr>
          <p:sp>
            <p:nvSpPr>
              <p:cNvPr id="6"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sp>
            <p:nvSpPr>
              <p:cNvPr id="7"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grpSp>
      </p:grpSp>
      <p:sp>
        <p:nvSpPr>
          <p:cNvPr id="9"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T</a:t>
            </a:r>
            <a:endParaRPr kumimoji="1" lang="en-US" altLang="zh-CN" sz="1600" b="1" dirty="0">
              <a:latin typeface="微软雅黑" pitchFamily="34" charset="-122"/>
              <a:ea typeface="微软雅黑" pitchFamily="34" charset="-122"/>
            </a:endParaRPr>
          </a:p>
          <a:p>
            <a:pPr algn="ctr"/>
            <a:r>
              <a:rPr kumimoji="1" lang="en-US" altLang="zh-CN" sz="1600" b="1" dirty="0" smtClean="0">
                <a:latin typeface="微软雅黑" pitchFamily="34" charset="-122"/>
                <a:ea typeface="微软雅黑" pitchFamily="34" charset="-122"/>
              </a:rPr>
              <a:t>02</a:t>
            </a:r>
            <a:endParaRPr kumimoji="1" lang="en-US" altLang="zh-CN" sz="1600" b="1" dirty="0">
              <a:latin typeface="微软雅黑" pitchFamily="34" charset="-122"/>
              <a:ea typeface="微软雅黑" pitchFamily="34" charset="-122"/>
            </a:endParaRPr>
          </a:p>
        </p:txBody>
      </p:sp>
      <p:sp>
        <p:nvSpPr>
          <p:cNvPr id="10"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L</a:t>
            </a:r>
            <a:endParaRPr kumimoji="1" lang="en-US" altLang="zh-CN" sz="1600" b="1" dirty="0">
              <a:latin typeface="微软雅黑" pitchFamily="34" charset="-122"/>
              <a:ea typeface="微软雅黑" pitchFamily="34" charset="-122"/>
            </a:endParaRPr>
          </a:p>
          <a:p>
            <a:pPr algn="ctr"/>
            <a:r>
              <a:rPr kumimoji="1" lang="en-US" altLang="zh-CN" sz="1600" b="1" dirty="0" smtClean="0">
                <a:latin typeface="微软雅黑" pitchFamily="34" charset="-122"/>
                <a:ea typeface="微软雅黑" pitchFamily="34" charset="-122"/>
              </a:rPr>
              <a:t>04</a:t>
            </a:r>
            <a:endParaRPr kumimoji="1" lang="en-US" altLang="zh-CN" sz="1600" b="1" dirty="0">
              <a:latin typeface="微软雅黑" pitchFamily="34" charset="-122"/>
              <a:ea typeface="微软雅黑" pitchFamily="34" charset="-122"/>
            </a:endParaRPr>
          </a:p>
        </p:txBody>
      </p:sp>
      <p:sp>
        <p:nvSpPr>
          <p:cNvPr id="11" name="Text Box 58"/>
          <p:cNvSpPr txBox="1">
            <a:spLocks noChangeArrowheads="1"/>
          </p:cNvSpPr>
          <p:nvPr/>
        </p:nvSpPr>
        <p:spPr bwMode="auto">
          <a:xfrm>
            <a:off x="5299792" y="2044944"/>
            <a:ext cx="136768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V</a:t>
            </a:r>
          </a:p>
          <a:p>
            <a:pPr algn="ctr"/>
            <a:r>
              <a:rPr kumimoji="1" lang="en-US" altLang="zh-CN" sz="1600" b="1" dirty="0" smtClean="0">
                <a:latin typeface="微软雅黑" pitchFamily="34" charset="-122"/>
                <a:ea typeface="微软雅黑" pitchFamily="34" charset="-122"/>
              </a:rPr>
              <a:t>00 00 00 0F</a:t>
            </a:r>
            <a:endParaRPr kumimoji="1"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6543460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字段定义数据的</a:t>
            </a:r>
            <a:r>
              <a:rPr lang="zh-CN" altLang="en-US" sz="2000" b="1" dirty="0" smtClean="0">
                <a:solidFill>
                  <a:schemeClr val="bg1"/>
                </a:solidFill>
                <a:latin typeface="微软雅黑" pitchFamily="34" charset="-122"/>
                <a:ea typeface="微软雅黑" pitchFamily="34" charset="-122"/>
              </a:rPr>
              <a:t>值</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zh-CN" altLang="en-US" sz="2000" b="1" dirty="0" smtClean="0">
                <a:latin typeface="微软雅黑" pitchFamily="34" charset="-122"/>
                <a:ea typeface="微软雅黑" pitchFamily="34" charset="-122"/>
              </a:rPr>
              <a:t>，</a:t>
            </a:r>
            <a:r>
              <a:rPr lang="en-US" altLang="zh-CN" sz="2000" b="1" dirty="0" err="1" smtClean="0">
                <a:latin typeface="微软雅黑" pitchFamily="34" charset="-122"/>
                <a:ea typeface="微软雅黑" pitchFamily="34" charset="-122"/>
              </a:rPr>
              <a:t>IPAddress</a:t>
            </a:r>
            <a:r>
              <a:rPr lang="en-US" altLang="zh-CN" sz="2000" b="1" dirty="0" smtClean="0">
                <a:latin typeface="微软雅黑" pitchFamily="34" charset="-122"/>
                <a:ea typeface="微软雅黑" pitchFamily="34" charset="-122"/>
              </a:rPr>
              <a:t> = 192.1.2.3</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T </a:t>
            </a:r>
            <a:r>
              <a:rPr lang="zh-CN" altLang="en-US" sz="2000" b="1" dirty="0">
                <a:latin typeface="微软雅黑" pitchFamily="34" charset="-122"/>
                <a:ea typeface="微软雅黑" pitchFamily="34" charset="-122"/>
              </a:rPr>
              <a:t>字段是 </a:t>
            </a:r>
            <a:r>
              <a:rPr lang="en-US" altLang="zh-CN" sz="2000" b="1" dirty="0">
                <a:latin typeface="微软雅黑" pitchFamily="34" charset="-122"/>
                <a:ea typeface="微软雅黑" pitchFamily="34" charset="-122"/>
              </a:rPr>
              <a:t>40</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V </a:t>
            </a:r>
            <a:r>
              <a:rPr lang="zh-CN" altLang="en-US" sz="2000" b="1" dirty="0">
                <a:latin typeface="微软雅黑" pitchFamily="34" charset="-122"/>
                <a:ea typeface="微软雅黑" pitchFamily="34" charset="-122"/>
              </a:rPr>
              <a:t>字段需要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字节表示，因此</a:t>
            </a:r>
            <a:r>
              <a:rPr lang="zh-CN" altLang="en-US" sz="2000" b="1" dirty="0" smtClean="0">
                <a:latin typeface="微软雅黑" pitchFamily="34" charset="-122"/>
                <a:ea typeface="微软雅黑" pitchFamily="34" charset="-122"/>
              </a:rPr>
              <a:t>得出 </a:t>
            </a:r>
            <a:r>
              <a:rPr lang="en-US" altLang="zh-CN" sz="2000" b="1" dirty="0">
                <a:latin typeface="微软雅黑" pitchFamily="34" charset="-122"/>
                <a:ea typeface="微软雅黑" pitchFamily="34" charset="-122"/>
              </a:rPr>
              <a:t>TLV </a:t>
            </a:r>
            <a:r>
              <a:rPr lang="zh-CN" altLang="en-US" sz="2000" b="1" dirty="0">
                <a:latin typeface="微软雅黑" pitchFamily="34" charset="-122"/>
                <a:ea typeface="微软雅黑" pitchFamily="34" charset="-122"/>
              </a:rPr>
              <a:t>编码是 </a:t>
            </a:r>
            <a:r>
              <a:rPr lang="en-US" altLang="zh-CN" sz="2000" b="1" dirty="0">
                <a:latin typeface="微软雅黑" pitchFamily="34" charset="-122"/>
                <a:ea typeface="微软雅黑" pitchFamily="34" charset="-122"/>
              </a:rPr>
              <a:t>40 04 C0 01 02 03</a:t>
            </a:r>
            <a:r>
              <a:rPr lang="zh-CN" altLang="en-US" sz="2000" b="1" dirty="0">
                <a:latin typeface="微软雅黑" pitchFamily="34" charset="-122"/>
                <a:ea typeface="微软雅黑" pitchFamily="34" charset="-122"/>
              </a:rPr>
              <a:t>。 </a:t>
            </a:r>
          </a:p>
        </p:txBody>
      </p:sp>
      <p:grpSp>
        <p:nvGrpSpPr>
          <p:cNvPr id="10" name="组合 9"/>
          <p:cNvGrpSpPr/>
          <p:nvPr/>
        </p:nvGrpSpPr>
        <p:grpSpPr>
          <a:xfrm>
            <a:off x="1819922" y="2016696"/>
            <a:ext cx="5513033" cy="613023"/>
            <a:chOff x="1494112" y="2655888"/>
            <a:chExt cx="5513033" cy="812526"/>
          </a:xfrm>
        </p:grpSpPr>
        <p:sp>
          <p:nvSpPr>
            <p:cNvPr id="11" name="Rectangle 38"/>
            <p:cNvSpPr>
              <a:spLocks noChangeArrowheads="1"/>
            </p:cNvSpPr>
            <p:nvPr/>
          </p:nvSpPr>
          <p:spPr bwMode="auto">
            <a:xfrm>
              <a:off x="1494112" y="2655888"/>
              <a:ext cx="5513033"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grpSp>
          <p:nvGrpSpPr>
            <p:cNvPr id="12" name="组合 11"/>
            <p:cNvGrpSpPr/>
            <p:nvPr/>
          </p:nvGrpSpPr>
          <p:grpSpPr>
            <a:xfrm>
              <a:off x="3031573" y="2655888"/>
              <a:ext cx="1324693" cy="812526"/>
              <a:chOff x="3031573" y="2655888"/>
              <a:chExt cx="1324693" cy="569913"/>
            </a:xfrm>
          </p:grpSpPr>
          <p:sp>
            <p:nvSpPr>
              <p:cNvPr id="13"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sp>
            <p:nvSpPr>
              <p:cNvPr id="14"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smtClean="0">
                  <a:ln>
                    <a:noFill/>
                  </a:ln>
                  <a:effectLst/>
                  <a:uLnTx/>
                  <a:uFillTx/>
                  <a:latin typeface="微软雅黑" pitchFamily="34" charset="-122"/>
                  <a:ea typeface="微软雅黑" pitchFamily="34" charset="-122"/>
                </a:endParaRPr>
              </a:p>
            </p:txBody>
          </p:sp>
        </p:grpSp>
      </p:grpSp>
      <p:sp>
        <p:nvSpPr>
          <p:cNvPr id="15"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T</a:t>
            </a:r>
            <a:endParaRPr kumimoji="1" lang="en-US" altLang="zh-CN" sz="1600" b="1" dirty="0">
              <a:latin typeface="微软雅黑" pitchFamily="34" charset="-122"/>
              <a:ea typeface="微软雅黑" pitchFamily="34" charset="-122"/>
            </a:endParaRPr>
          </a:p>
          <a:p>
            <a:pPr algn="ctr"/>
            <a:r>
              <a:rPr kumimoji="1" lang="en-US" altLang="zh-CN" sz="1600" b="1" dirty="0" smtClean="0">
                <a:latin typeface="微软雅黑" pitchFamily="34" charset="-122"/>
                <a:ea typeface="微软雅黑" pitchFamily="34" charset="-122"/>
              </a:rPr>
              <a:t>40</a:t>
            </a:r>
            <a:endParaRPr kumimoji="1" lang="en-US" altLang="zh-CN" sz="1600" b="1" dirty="0">
              <a:latin typeface="微软雅黑" pitchFamily="34" charset="-122"/>
              <a:ea typeface="微软雅黑" pitchFamily="34" charset="-122"/>
            </a:endParaRPr>
          </a:p>
        </p:txBody>
      </p:sp>
      <p:sp>
        <p:nvSpPr>
          <p:cNvPr id="16"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L</a:t>
            </a:r>
            <a:endParaRPr kumimoji="1" lang="en-US" altLang="zh-CN" sz="1600" b="1" dirty="0">
              <a:latin typeface="微软雅黑" pitchFamily="34" charset="-122"/>
              <a:ea typeface="微软雅黑" pitchFamily="34" charset="-122"/>
            </a:endParaRPr>
          </a:p>
          <a:p>
            <a:pPr algn="ctr"/>
            <a:r>
              <a:rPr kumimoji="1" lang="en-US" altLang="zh-CN" sz="1600" b="1" dirty="0" smtClean="0">
                <a:latin typeface="微软雅黑" pitchFamily="34" charset="-122"/>
                <a:ea typeface="微软雅黑" pitchFamily="34" charset="-122"/>
              </a:rPr>
              <a:t>04</a:t>
            </a:r>
            <a:endParaRPr kumimoji="1" lang="en-US" altLang="zh-CN" sz="1600" b="1" dirty="0">
              <a:latin typeface="微软雅黑" pitchFamily="34" charset="-122"/>
              <a:ea typeface="微软雅黑" pitchFamily="34" charset="-122"/>
            </a:endParaRPr>
          </a:p>
        </p:txBody>
      </p:sp>
      <p:sp>
        <p:nvSpPr>
          <p:cNvPr id="17" name="Text Box 58"/>
          <p:cNvSpPr txBox="1">
            <a:spLocks noChangeArrowheads="1"/>
          </p:cNvSpPr>
          <p:nvPr/>
        </p:nvSpPr>
        <p:spPr bwMode="auto">
          <a:xfrm>
            <a:off x="5294181" y="2044944"/>
            <a:ext cx="137890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itchFamily="34" charset="-122"/>
                <a:ea typeface="微软雅黑" pitchFamily="34" charset="-122"/>
              </a:rPr>
              <a:t>V</a:t>
            </a:r>
          </a:p>
          <a:p>
            <a:pPr algn="ctr"/>
            <a:r>
              <a:rPr kumimoji="1" lang="en-US" altLang="zh-CN" sz="1600" b="1" dirty="0">
                <a:latin typeface="微软雅黑" pitchFamily="34" charset="-122"/>
                <a:ea typeface="微软雅黑" pitchFamily="34" charset="-122"/>
              </a:rPr>
              <a:t>C</a:t>
            </a:r>
            <a:r>
              <a:rPr kumimoji="1" lang="en-US" altLang="zh-CN" sz="1600" b="1" dirty="0" smtClean="0">
                <a:latin typeface="微软雅黑" pitchFamily="34" charset="-122"/>
                <a:ea typeface="微软雅黑" pitchFamily="34" charset="-122"/>
              </a:rPr>
              <a:t>0 01 02 03</a:t>
            </a:r>
            <a:endParaRPr kumimoji="1"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9477158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101469"/>
            <a:ext cx="8048776" cy="236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437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1685243" y="581164"/>
            <a:ext cx="5792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字段可嵌套其他数据元素</a:t>
            </a:r>
            <a:r>
              <a:rPr lang="zh-CN" altLang="en-US" sz="2000" b="1" dirty="0" smtClean="0">
                <a:solidFill>
                  <a:schemeClr val="bg1"/>
                </a:solidFill>
                <a:latin typeface="微软雅黑" pitchFamily="34" charset="-122"/>
                <a:ea typeface="微软雅黑" pitchFamily="34" charset="-122"/>
              </a:rPr>
              <a:t>的 </a:t>
            </a:r>
            <a:r>
              <a:rPr lang="en-US" altLang="zh-CN" sz="2000" b="1" dirty="0" smtClean="0">
                <a:solidFill>
                  <a:schemeClr val="bg1"/>
                </a:solidFill>
                <a:latin typeface="微软雅黑" pitchFamily="34" charset="-122"/>
                <a:ea typeface="微软雅黑" pitchFamily="34" charset="-122"/>
              </a:rPr>
              <a:t>TLV </a:t>
            </a:r>
            <a:r>
              <a:rPr lang="zh-CN" altLang="en-US" sz="2000" b="1" dirty="0" smtClean="0">
                <a:solidFill>
                  <a:schemeClr val="bg1"/>
                </a:solidFill>
                <a:latin typeface="微软雅黑" pitchFamily="34" charset="-122"/>
                <a:ea typeface="微软雅黑" pitchFamily="34" charset="-122"/>
              </a:rPr>
              <a:t>字段</a:t>
            </a:r>
            <a:endParaRPr lang="zh-CN" altLang="en-US" sz="2000" b="1" dirty="0">
              <a:solidFill>
                <a:schemeClr val="bg1"/>
              </a:solidFill>
              <a:latin typeface="微软雅黑" pitchFamily="34" charset="-122"/>
              <a:ea typeface="微软雅黑" pitchFamily="34" charset="-122"/>
            </a:endParaRPr>
          </a:p>
        </p:txBody>
      </p:sp>
      <p:grpSp>
        <p:nvGrpSpPr>
          <p:cNvPr id="8" name="组合 7"/>
          <p:cNvGrpSpPr/>
          <p:nvPr/>
        </p:nvGrpSpPr>
        <p:grpSpPr>
          <a:xfrm>
            <a:off x="1082567" y="2024558"/>
            <a:ext cx="6663558" cy="925513"/>
            <a:chOff x="1082567" y="2669299"/>
            <a:chExt cx="6663558" cy="925513"/>
          </a:xfrm>
        </p:grpSpPr>
        <p:sp>
          <p:nvSpPr>
            <p:cNvPr id="18" name="Freeform 5"/>
            <p:cNvSpPr>
              <a:spLocks/>
            </p:cNvSpPr>
            <p:nvPr/>
          </p:nvSpPr>
          <p:spPr bwMode="auto">
            <a:xfrm>
              <a:off x="1088006" y="2669299"/>
              <a:ext cx="6656306" cy="352425"/>
            </a:xfrm>
            <a:custGeom>
              <a:avLst/>
              <a:gdLst>
                <a:gd name="T0" fmla="*/ 0 w 3672"/>
                <a:gd name="T1" fmla="*/ 222 h 222"/>
                <a:gd name="T2" fmla="*/ 2556 w 3672"/>
                <a:gd name="T3" fmla="*/ 0 h 222"/>
                <a:gd name="T4" fmla="*/ 3564 w 3672"/>
                <a:gd name="T5" fmla="*/ 6 h 222"/>
                <a:gd name="T6" fmla="*/ 3672 w 3672"/>
                <a:gd name="T7" fmla="*/ 222 h 222"/>
                <a:gd name="T8" fmla="*/ 0 w 3672"/>
                <a:gd name="T9" fmla="*/ 222 h 222"/>
              </a:gdLst>
              <a:ahLst/>
              <a:cxnLst>
                <a:cxn ang="0">
                  <a:pos x="T0" y="T1"/>
                </a:cxn>
                <a:cxn ang="0">
                  <a:pos x="T2" y="T3"/>
                </a:cxn>
                <a:cxn ang="0">
                  <a:pos x="T4" y="T5"/>
                </a:cxn>
                <a:cxn ang="0">
                  <a:pos x="T6" y="T7"/>
                </a:cxn>
                <a:cxn ang="0">
                  <a:pos x="T8" y="T9"/>
                </a:cxn>
              </a:cxnLst>
              <a:rect l="0" t="0" r="r" b="b"/>
              <a:pathLst>
                <a:path w="3672" h="222">
                  <a:moveTo>
                    <a:pt x="0" y="222"/>
                  </a:moveTo>
                  <a:lnTo>
                    <a:pt x="2556" y="0"/>
                  </a:lnTo>
                  <a:lnTo>
                    <a:pt x="3564" y="6"/>
                  </a:lnTo>
                  <a:lnTo>
                    <a:pt x="3672" y="222"/>
                  </a:lnTo>
                  <a:lnTo>
                    <a:pt x="0" y="222"/>
                  </a:lnTo>
                  <a:close/>
                </a:path>
              </a:pathLst>
            </a:custGeom>
            <a:gradFill rotWithShape="1">
              <a:gsLst>
                <a:gs pos="0">
                  <a:srgbClr val="00CCFF"/>
                </a:gs>
                <a:gs pos="100000">
                  <a:srgbClr val="66FF66"/>
                </a:gs>
              </a:gsLst>
              <a:lin ang="5400000" scaled="1"/>
            </a:gradFill>
            <a:ln>
              <a:noFill/>
            </a:ln>
            <a:effectLst/>
            <a:extLst>
              <a:ext uri="{91240B29-F687-4F45-9708-019B960494DF}">
                <a14:hiddenLine xmlns:a14="http://schemas.microsoft.com/office/drawing/2010/main" w="19050" cap="flat" cmpd="sng">
                  <a:solidFill>
                    <a:srgbClr val="333399"/>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9" name="Rectangle 9"/>
            <p:cNvSpPr>
              <a:spLocks noChangeArrowheads="1"/>
            </p:cNvSpPr>
            <p:nvPr/>
          </p:nvSpPr>
          <p:spPr bwMode="auto">
            <a:xfrm>
              <a:off x="1102597" y="3024899"/>
              <a:ext cx="6643528" cy="569913"/>
            </a:xfrm>
            <a:prstGeom prst="rect">
              <a:avLst/>
            </a:prstGeom>
            <a:solidFill>
              <a:srgbClr val="0000FF"/>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Text Box 14"/>
            <p:cNvSpPr txBox="1">
              <a:spLocks noChangeArrowheads="1"/>
            </p:cNvSpPr>
            <p:nvPr/>
          </p:nvSpPr>
          <p:spPr bwMode="auto">
            <a:xfrm>
              <a:off x="3858732" y="3162514"/>
              <a:ext cx="1002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itchFamily="34" charset="-122"/>
                  <a:ea typeface="微软雅黑" pitchFamily="34" charset="-122"/>
                </a:rPr>
                <a:t>           </a:t>
              </a:r>
              <a:r>
                <a:rPr kumimoji="1" lang="en-US" altLang="zh-CN" sz="1600" b="1" dirty="0" smtClean="0">
                  <a:solidFill>
                    <a:schemeClr val="bg1"/>
                  </a:solidFill>
                  <a:latin typeface="微软雅黑" pitchFamily="34" charset="-122"/>
                  <a:ea typeface="微软雅黑" pitchFamily="34" charset="-122"/>
                </a:rPr>
                <a:t>V</a:t>
              </a:r>
              <a:endParaRPr kumimoji="1" lang="en-US" altLang="zh-CN" sz="1600" b="1" dirty="0">
                <a:solidFill>
                  <a:schemeClr val="bg1"/>
                </a:solidFill>
                <a:latin typeface="微软雅黑" pitchFamily="34" charset="-122"/>
                <a:ea typeface="微软雅黑" pitchFamily="34" charset="-122"/>
              </a:endParaRPr>
            </a:p>
          </p:txBody>
        </p:sp>
        <p:sp>
          <p:nvSpPr>
            <p:cNvPr id="22" name="Text Box 15"/>
            <p:cNvSpPr txBox="1">
              <a:spLocks noChangeArrowheads="1"/>
            </p:cNvSpPr>
            <p:nvPr/>
          </p:nvSpPr>
          <p:spPr bwMode="auto">
            <a:xfrm>
              <a:off x="300083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itchFamily="34" charset="-122"/>
                  <a:ea typeface="微软雅黑" pitchFamily="34" charset="-122"/>
                </a:rPr>
                <a:t>L</a:t>
              </a:r>
              <a:endParaRPr kumimoji="1" lang="en-US" altLang="zh-CN" sz="1600" b="1" dirty="0">
                <a:solidFill>
                  <a:schemeClr val="bg1"/>
                </a:solidFill>
                <a:latin typeface="微软雅黑" pitchFamily="34" charset="-122"/>
                <a:ea typeface="微软雅黑" pitchFamily="34" charset="-122"/>
              </a:endParaRPr>
            </a:p>
          </p:txBody>
        </p:sp>
        <p:sp>
          <p:nvSpPr>
            <p:cNvPr id="23" name="Text Box 16"/>
            <p:cNvSpPr txBox="1">
              <a:spLocks noChangeArrowheads="1"/>
            </p:cNvSpPr>
            <p:nvPr/>
          </p:nvSpPr>
          <p:spPr bwMode="auto">
            <a:xfrm>
              <a:off x="1429427" y="3170338"/>
              <a:ext cx="922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pitchFamily="34" charset="-122"/>
                  <a:ea typeface="微软雅黑" pitchFamily="34" charset="-122"/>
                </a:rPr>
                <a:t>    </a:t>
              </a:r>
              <a:r>
                <a:rPr kumimoji="1" lang="en-US" altLang="zh-CN" sz="1600" b="1" dirty="0" smtClean="0">
                  <a:solidFill>
                    <a:schemeClr val="bg1"/>
                  </a:solidFill>
                  <a:latin typeface="微软雅黑" pitchFamily="34" charset="-122"/>
                  <a:ea typeface="微软雅黑" pitchFamily="34" charset="-122"/>
                </a:rPr>
                <a:t>      T</a:t>
              </a:r>
              <a:endParaRPr kumimoji="1" lang="en-US" altLang="zh-CN" sz="1600" b="1" dirty="0">
                <a:solidFill>
                  <a:schemeClr val="bg1"/>
                </a:solidFill>
                <a:latin typeface="微软雅黑" pitchFamily="34" charset="-122"/>
                <a:ea typeface="微软雅黑" pitchFamily="34" charset="-122"/>
              </a:endParaRPr>
            </a:p>
          </p:txBody>
        </p:sp>
        <p:sp>
          <p:nvSpPr>
            <p:cNvPr id="24" name="Text Box 17"/>
            <p:cNvSpPr txBox="1">
              <a:spLocks noChangeArrowheads="1"/>
            </p:cNvSpPr>
            <p:nvPr/>
          </p:nvSpPr>
          <p:spPr bwMode="auto">
            <a:xfrm>
              <a:off x="6107905" y="3162514"/>
              <a:ext cx="31290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solidFill>
                    <a:schemeClr val="bg1"/>
                  </a:solidFill>
                  <a:latin typeface="微软雅黑" pitchFamily="34" charset="-122"/>
                  <a:ea typeface="微软雅黑" pitchFamily="34" charset="-122"/>
                </a:rPr>
                <a:t>T</a:t>
              </a:r>
              <a:endParaRPr kumimoji="1" lang="en-US" altLang="zh-CN" sz="1600" b="1" dirty="0">
                <a:solidFill>
                  <a:schemeClr val="bg1"/>
                </a:solidFill>
                <a:latin typeface="微软雅黑" pitchFamily="34" charset="-122"/>
                <a:ea typeface="微软雅黑" pitchFamily="34" charset="-122"/>
              </a:endParaRPr>
            </a:p>
          </p:txBody>
        </p:sp>
        <p:sp>
          <p:nvSpPr>
            <p:cNvPr id="25" name="Text Box 18"/>
            <p:cNvSpPr txBox="1">
              <a:spLocks noChangeArrowheads="1"/>
            </p:cNvSpPr>
            <p:nvPr/>
          </p:nvSpPr>
          <p:spPr bwMode="auto">
            <a:xfrm>
              <a:off x="676041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itchFamily="34" charset="-122"/>
                  <a:ea typeface="微软雅黑" pitchFamily="34" charset="-122"/>
                </a:rPr>
                <a:t>L</a:t>
              </a:r>
              <a:endParaRPr kumimoji="1" lang="en-US" altLang="zh-CN" sz="1600" b="1" dirty="0">
                <a:solidFill>
                  <a:schemeClr val="bg1"/>
                </a:solidFill>
                <a:latin typeface="微软雅黑" pitchFamily="34" charset="-122"/>
                <a:ea typeface="微软雅黑" pitchFamily="34" charset="-122"/>
              </a:endParaRPr>
            </a:p>
          </p:txBody>
        </p:sp>
        <p:sp>
          <p:nvSpPr>
            <p:cNvPr id="31" name="Line 93"/>
            <p:cNvSpPr>
              <a:spLocks noChangeShapeType="1"/>
            </p:cNvSpPr>
            <p:nvPr/>
          </p:nvSpPr>
          <p:spPr bwMode="auto">
            <a:xfrm>
              <a:off x="585566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2" name="Line 94"/>
            <p:cNvSpPr>
              <a:spLocks noChangeShapeType="1"/>
            </p:cNvSpPr>
            <p:nvPr/>
          </p:nvSpPr>
          <p:spPr bwMode="auto">
            <a:xfrm>
              <a:off x="2928124"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3" name="Line 95"/>
            <p:cNvSpPr>
              <a:spLocks noChangeShapeType="1"/>
            </p:cNvSpPr>
            <p:nvPr/>
          </p:nvSpPr>
          <p:spPr bwMode="auto">
            <a:xfrm>
              <a:off x="339943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96"/>
            <p:cNvSpPr>
              <a:spLocks noChangeShapeType="1"/>
            </p:cNvSpPr>
            <p:nvPr/>
          </p:nvSpPr>
          <p:spPr bwMode="auto">
            <a:xfrm>
              <a:off x="672214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Line 107"/>
            <p:cNvSpPr>
              <a:spLocks noChangeShapeType="1"/>
            </p:cNvSpPr>
            <p:nvPr/>
          </p:nvSpPr>
          <p:spPr bwMode="auto">
            <a:xfrm flipV="1">
              <a:off x="1082567" y="2686761"/>
              <a:ext cx="4644187"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Line 108"/>
            <p:cNvSpPr>
              <a:spLocks noChangeShapeType="1"/>
            </p:cNvSpPr>
            <p:nvPr/>
          </p:nvSpPr>
          <p:spPr bwMode="auto">
            <a:xfrm flipH="1">
              <a:off x="5855665" y="2672474"/>
              <a:ext cx="679563" cy="352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Line 109"/>
            <p:cNvSpPr>
              <a:spLocks noChangeShapeType="1"/>
            </p:cNvSpPr>
            <p:nvPr/>
          </p:nvSpPr>
          <p:spPr bwMode="auto">
            <a:xfrm>
              <a:off x="7544913" y="2686761"/>
              <a:ext cx="201212"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Line 96"/>
            <p:cNvSpPr>
              <a:spLocks noChangeShapeType="1"/>
            </p:cNvSpPr>
            <p:nvPr/>
          </p:nvSpPr>
          <p:spPr bwMode="auto">
            <a:xfrm>
              <a:off x="718460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2" name="Text Box 18"/>
            <p:cNvSpPr txBox="1">
              <a:spLocks noChangeArrowheads="1"/>
            </p:cNvSpPr>
            <p:nvPr/>
          </p:nvSpPr>
          <p:spPr bwMode="auto">
            <a:xfrm>
              <a:off x="7274836" y="3162514"/>
              <a:ext cx="3321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itchFamily="34" charset="-122"/>
                  <a:ea typeface="微软雅黑" pitchFamily="34" charset="-122"/>
                </a:rPr>
                <a:t>V</a:t>
              </a:r>
              <a:endParaRPr kumimoji="1" lang="en-US" altLang="zh-CN" sz="1600" b="1" dirty="0">
                <a:solidFill>
                  <a:schemeClr val="bg1"/>
                </a:solidFill>
                <a:latin typeface="微软雅黑" pitchFamily="34" charset="-122"/>
                <a:ea typeface="微软雅黑" pitchFamily="34" charset="-122"/>
              </a:endParaRPr>
            </a:p>
          </p:txBody>
        </p:sp>
      </p:grpSp>
      <p:grpSp>
        <p:nvGrpSpPr>
          <p:cNvPr id="7" name="组合 6"/>
          <p:cNvGrpSpPr/>
          <p:nvPr/>
        </p:nvGrpSpPr>
        <p:grpSpPr>
          <a:xfrm>
            <a:off x="3808897" y="1484808"/>
            <a:ext cx="3736015" cy="552450"/>
            <a:chOff x="3808897" y="2129549"/>
            <a:chExt cx="3736015" cy="552450"/>
          </a:xfrm>
        </p:grpSpPr>
        <p:sp>
          <p:nvSpPr>
            <p:cNvPr id="20" name="Rectangle 10"/>
            <p:cNvSpPr>
              <a:spLocks noChangeArrowheads="1"/>
            </p:cNvSpPr>
            <p:nvPr/>
          </p:nvSpPr>
          <p:spPr bwMode="auto">
            <a:xfrm>
              <a:off x="3827024" y="2129549"/>
              <a:ext cx="3717888" cy="552450"/>
            </a:xfrm>
            <a:prstGeom prst="rect">
              <a:avLst/>
            </a:prstGeom>
            <a:solidFill>
              <a:srgbClr val="FFFF00"/>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6" name="Text Box 20"/>
            <p:cNvSpPr txBox="1">
              <a:spLocks noChangeArrowheads="1"/>
            </p:cNvSpPr>
            <p:nvPr/>
          </p:nvSpPr>
          <p:spPr bwMode="auto">
            <a:xfrm>
              <a:off x="3808897" y="224077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itchFamily="34" charset="-122"/>
                  <a:ea typeface="微软雅黑" pitchFamily="34" charset="-122"/>
                </a:rPr>
                <a:t>         </a:t>
              </a:r>
              <a:r>
                <a:rPr kumimoji="1" lang="en-US" altLang="zh-CN" sz="1400" b="1" dirty="0" smtClean="0">
                  <a:solidFill>
                    <a:srgbClr val="333399"/>
                  </a:solidFill>
                  <a:latin typeface="微软雅黑" pitchFamily="34" charset="-122"/>
                  <a:ea typeface="微软雅黑" pitchFamily="34" charset="-122"/>
                </a:rPr>
                <a:t>T</a:t>
              </a:r>
              <a:endParaRPr kumimoji="1" lang="en-US" altLang="zh-CN" sz="1400" b="1" dirty="0">
                <a:solidFill>
                  <a:srgbClr val="333399"/>
                </a:solidFill>
                <a:latin typeface="微软雅黑" pitchFamily="34" charset="-122"/>
                <a:ea typeface="微软雅黑" pitchFamily="34" charset="-122"/>
              </a:endParaRPr>
            </a:p>
          </p:txBody>
        </p:sp>
        <p:sp>
          <p:nvSpPr>
            <p:cNvPr id="27" name="Rectangle 21"/>
            <p:cNvSpPr>
              <a:spLocks noChangeArrowheads="1"/>
            </p:cNvSpPr>
            <p:nvPr/>
          </p:nvSpPr>
          <p:spPr bwMode="auto">
            <a:xfrm>
              <a:off x="5732193" y="2142249"/>
              <a:ext cx="1812719" cy="5334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chemeClr val="bg1"/>
                </a:solidFill>
                <a:latin typeface="微软雅黑" pitchFamily="34" charset="-122"/>
                <a:ea typeface="微软雅黑" pitchFamily="34" charset="-122"/>
              </a:endParaRPr>
            </a:p>
          </p:txBody>
        </p:sp>
        <p:sp>
          <p:nvSpPr>
            <p:cNvPr id="28" name="Text Box 22"/>
            <p:cNvSpPr txBox="1">
              <a:spLocks noChangeArrowheads="1"/>
            </p:cNvSpPr>
            <p:nvPr/>
          </p:nvSpPr>
          <p:spPr bwMode="auto">
            <a:xfrm>
              <a:off x="5222818" y="2240779"/>
              <a:ext cx="3882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itchFamily="34" charset="-122"/>
                  <a:ea typeface="微软雅黑" pitchFamily="34" charset="-122"/>
                </a:rPr>
                <a:t>  </a:t>
              </a:r>
              <a:r>
                <a:rPr kumimoji="1" lang="en-US" altLang="zh-CN" sz="1400" b="1" dirty="0" smtClean="0">
                  <a:solidFill>
                    <a:srgbClr val="333399"/>
                  </a:solidFill>
                  <a:latin typeface="微软雅黑" pitchFamily="34" charset="-122"/>
                  <a:ea typeface="微软雅黑" pitchFamily="34" charset="-122"/>
                </a:rPr>
                <a:t>L</a:t>
              </a:r>
              <a:endParaRPr kumimoji="1" lang="en-US" altLang="zh-CN" sz="1400" b="1" dirty="0">
                <a:solidFill>
                  <a:srgbClr val="333399"/>
                </a:solidFill>
                <a:latin typeface="微软雅黑" pitchFamily="34" charset="-122"/>
                <a:ea typeface="微软雅黑" pitchFamily="34" charset="-122"/>
              </a:endParaRPr>
            </a:p>
          </p:txBody>
        </p:sp>
        <p:sp>
          <p:nvSpPr>
            <p:cNvPr id="29" name="Text Box 23"/>
            <p:cNvSpPr txBox="1">
              <a:spLocks noChangeArrowheads="1"/>
            </p:cNvSpPr>
            <p:nvPr/>
          </p:nvSpPr>
          <p:spPr bwMode="auto">
            <a:xfrm>
              <a:off x="5730380" y="2220036"/>
              <a:ext cx="1694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smtClean="0">
                  <a:solidFill>
                    <a:schemeClr val="bg1"/>
                  </a:solidFill>
                  <a:latin typeface="微软雅黑" pitchFamily="34" charset="-122"/>
                  <a:ea typeface="微软雅黑" pitchFamily="34" charset="-122"/>
                </a:rPr>
                <a:t>  name       value</a:t>
              </a:r>
              <a:endParaRPr kumimoji="1" lang="en-US" altLang="zh-CN" sz="1400" b="1" dirty="0">
                <a:solidFill>
                  <a:schemeClr val="bg1"/>
                </a:solidFill>
                <a:latin typeface="微软雅黑" pitchFamily="34" charset="-122"/>
                <a:ea typeface="微软雅黑" pitchFamily="34" charset="-122"/>
              </a:endParaRPr>
            </a:p>
          </p:txBody>
        </p:sp>
        <p:sp>
          <p:nvSpPr>
            <p:cNvPr id="30" name="Line 90"/>
            <p:cNvSpPr>
              <a:spLocks noChangeShapeType="1"/>
            </p:cNvSpPr>
            <p:nvPr/>
          </p:nvSpPr>
          <p:spPr bwMode="auto">
            <a:xfrm>
              <a:off x="5222818"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Line 105"/>
            <p:cNvSpPr>
              <a:spLocks noChangeShapeType="1"/>
            </p:cNvSpPr>
            <p:nvPr/>
          </p:nvSpPr>
          <p:spPr bwMode="auto">
            <a:xfrm>
              <a:off x="5726754"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106"/>
            <p:cNvSpPr>
              <a:spLocks noChangeShapeType="1"/>
            </p:cNvSpPr>
            <p:nvPr/>
          </p:nvSpPr>
          <p:spPr bwMode="auto">
            <a:xfrm>
              <a:off x="6535227"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spTree>
    <p:extLst>
      <p:ext uri="{BB962C8B-B14F-4D97-AF65-F5344CB8AC3E}">
        <p14:creationId xmlns:p14="http://schemas.microsoft.com/office/powerpoint/2010/main" val="38962900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350355" y="572858"/>
            <a:ext cx="2443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管理</a:t>
            </a:r>
            <a:r>
              <a:rPr lang="zh-CN" altLang="en-US" sz="2400" b="1" dirty="0">
                <a:solidFill>
                  <a:schemeClr val="bg1"/>
                </a:solidFill>
                <a:latin typeface="微软雅黑" pitchFamily="34" charset="-122"/>
                <a:ea typeface="微软雅黑" pitchFamily="34" charset="-122"/>
              </a:rPr>
              <a:t>信息库 </a:t>
            </a:r>
            <a:r>
              <a:rPr lang="en-US" altLang="zh-CN" sz="2400" b="1" dirty="0">
                <a:solidFill>
                  <a:schemeClr val="bg1"/>
                </a:solidFill>
                <a:latin typeface="微软雅黑" pitchFamily="34" charset="-122"/>
                <a:ea typeface="微软雅黑" pitchFamily="34" charset="-122"/>
              </a:rPr>
              <a:t>MIB</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2" y="1009347"/>
            <a:ext cx="824413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在</a:t>
            </a:r>
            <a:r>
              <a:rPr lang="en-US" altLang="zh-CN" sz="2000" b="1" dirty="0" smtClean="0">
                <a:latin typeface="微软雅黑" pitchFamily="34" charset="-122"/>
                <a:ea typeface="微软雅黑" pitchFamily="34" charset="-122"/>
              </a:rPr>
              <a:t>SNMP</a:t>
            </a:r>
            <a:r>
              <a:rPr lang="zh-CN" altLang="en-US" sz="2000" b="1" dirty="0" smtClean="0">
                <a:latin typeface="微软雅黑" pitchFamily="34" charset="-122"/>
                <a:ea typeface="微软雅黑" pitchFamily="34" charset="-122"/>
              </a:rPr>
              <a:t>中，每个被管对象都要维护一些控制或状态信息，管理程序通过</a:t>
            </a:r>
            <a:r>
              <a:rPr lang="zh-CN" altLang="en-US" sz="2000" b="1" dirty="0" smtClean="0">
                <a:solidFill>
                  <a:srgbClr val="C00000"/>
                </a:solidFill>
                <a:latin typeface="微软雅黑" pitchFamily="34" charset="-122"/>
                <a:ea typeface="微软雅黑" pitchFamily="34" charset="-122"/>
              </a:rPr>
              <a:t>读写这些信息实现对被管对象的管理</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管理信息库 </a:t>
            </a:r>
            <a:r>
              <a:rPr lang="en-US" altLang="zh-CN" sz="2000" b="1" dirty="0">
                <a:solidFill>
                  <a:srgbClr val="C00000"/>
                </a:solidFill>
                <a:latin typeface="微软雅黑" pitchFamily="34" charset="-122"/>
                <a:ea typeface="微软雅黑" pitchFamily="34" charset="-122"/>
              </a:rPr>
              <a:t>MIB </a:t>
            </a:r>
            <a:r>
              <a:rPr lang="en-US" altLang="zh-CN" sz="2000" b="1" dirty="0">
                <a:latin typeface="微软雅黑" pitchFamily="34" charset="-122"/>
                <a:ea typeface="微软雅黑" pitchFamily="34" charset="-122"/>
              </a:rPr>
              <a:t>(Management Information Base</a:t>
            </a:r>
            <a:r>
              <a:rPr lang="en-US" altLang="zh-CN"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就是将这些被管</a:t>
            </a:r>
            <a:r>
              <a:rPr lang="zh-CN" altLang="en-US" sz="2000" b="1" dirty="0" smtClean="0">
                <a:latin typeface="微软雅黑" pitchFamily="34" charset="-122"/>
                <a:ea typeface="微软雅黑" pitchFamily="34" charset="-122"/>
              </a:rPr>
              <a:t>对象组织起来形成的集合，在</a:t>
            </a:r>
            <a:r>
              <a:rPr lang="en-US" altLang="zh-CN" sz="2000" b="1" dirty="0" smtClean="0">
                <a:latin typeface="微软雅黑" pitchFamily="34" charset="-122"/>
                <a:ea typeface="微软雅黑" pitchFamily="34" charset="-122"/>
              </a:rPr>
              <a:t>MIB</a:t>
            </a:r>
            <a:r>
              <a:rPr lang="zh-CN" altLang="en-US" sz="2000" b="1" dirty="0" smtClean="0">
                <a:latin typeface="微软雅黑" pitchFamily="34" charset="-122"/>
                <a:ea typeface="微软雅黑" pitchFamily="34" charset="-122"/>
              </a:rPr>
              <a:t>中每一个对象都严格</a:t>
            </a:r>
            <a:r>
              <a:rPr lang="zh-CN" altLang="en-US" sz="2000" b="1" dirty="0">
                <a:latin typeface="微软雅黑" pitchFamily="34" charset="-122"/>
                <a:ea typeface="微软雅黑" pitchFamily="34" charset="-122"/>
              </a:rPr>
              <a:t>按照</a:t>
            </a:r>
            <a:r>
              <a:rPr lang="en-US" altLang="zh-CN" sz="2000" b="1" dirty="0">
                <a:latin typeface="微软雅黑" pitchFamily="34" charset="-122"/>
                <a:ea typeface="微软雅黑" pitchFamily="34" charset="-122"/>
              </a:rPr>
              <a:t>SMI</a:t>
            </a:r>
            <a:r>
              <a:rPr lang="zh-CN" altLang="en-US" sz="2000" b="1" dirty="0">
                <a:latin typeface="微软雅黑" pitchFamily="34" charset="-122"/>
                <a:ea typeface="微软雅黑" pitchFamily="34" charset="-122"/>
              </a:rPr>
              <a:t>规定的</a:t>
            </a:r>
            <a:r>
              <a:rPr lang="zh-CN" altLang="en-US" sz="2000" b="1" dirty="0" smtClean="0">
                <a:latin typeface="微软雅黑" pitchFamily="34" charset="-122"/>
                <a:ea typeface="微软雅黑" pitchFamily="34" charset="-122"/>
              </a:rPr>
              <a:t>格式进行定义</a:t>
            </a:r>
            <a:r>
              <a:rPr lang="zh-CN" altLang="en-US" sz="2000" b="1" dirty="0">
                <a:latin typeface="微软雅黑" pitchFamily="34" charset="-122"/>
                <a:ea typeface="微软雅黑" pitchFamily="34" charset="-122"/>
              </a:rPr>
              <a:t>，包括</a:t>
            </a:r>
            <a:r>
              <a:rPr lang="zh-CN" altLang="en-US" sz="2000" b="1" dirty="0">
                <a:solidFill>
                  <a:srgbClr val="C00000"/>
                </a:solidFill>
                <a:latin typeface="微软雅黑" pitchFamily="34" charset="-122"/>
                <a:ea typeface="微软雅黑" pitchFamily="34" charset="-122"/>
              </a:rPr>
              <a:t>对象名称与 </a:t>
            </a:r>
            <a:r>
              <a:rPr lang="en-US" altLang="zh-CN" sz="2000" b="1" dirty="0" smtClean="0">
                <a:solidFill>
                  <a:srgbClr val="C00000"/>
                </a:solidFill>
                <a:latin typeface="微软雅黑" pitchFamily="34" charset="-122"/>
                <a:ea typeface="微软雅黑" pitchFamily="34" charset="-122"/>
              </a:rPr>
              <a:t>OID</a:t>
            </a:r>
            <a:r>
              <a:rPr lang="zh-CN" altLang="en-US" sz="2000" b="1" dirty="0" smtClean="0">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数据类型</a:t>
            </a:r>
            <a:r>
              <a:rPr lang="zh-CN" altLang="en-US" sz="2000" b="1" dirty="0" smtClean="0">
                <a:latin typeface="微软雅黑" pitchFamily="34" charset="-122"/>
                <a:ea typeface="微软雅黑" pitchFamily="34" charset="-122"/>
              </a:rPr>
              <a:t>、</a:t>
            </a:r>
            <a:r>
              <a:rPr lang="zh-CN" altLang="en-US" sz="2000" b="1" dirty="0" smtClean="0">
                <a:solidFill>
                  <a:srgbClr val="C00000"/>
                </a:solidFill>
                <a:latin typeface="微软雅黑" pitchFamily="34" charset="-122"/>
                <a:ea typeface="微软雅黑" pitchFamily="34" charset="-122"/>
              </a:rPr>
              <a:t>访问权限</a:t>
            </a:r>
            <a:r>
              <a:rPr lang="zh-CN" altLang="en-US" sz="2000" b="1" dirty="0" smtClean="0">
                <a:latin typeface="微软雅黑" pitchFamily="34" charset="-122"/>
                <a:ea typeface="微软雅黑" pitchFamily="34" charset="-122"/>
              </a:rPr>
              <a:t>等。</a:t>
            </a:r>
            <a:endParaRPr lang="zh-CN" altLang="en-US" sz="2000" b="1" dirty="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为管理程序访问</a:t>
            </a:r>
            <a:r>
              <a:rPr lang="zh-CN" altLang="en-US" sz="2000" b="1" dirty="0">
                <a:latin typeface="微软雅黑" pitchFamily="34" charset="-122"/>
                <a:ea typeface="微软雅黑" pitchFamily="34" charset="-122"/>
              </a:rPr>
              <a:t>被管对象</a:t>
            </a:r>
            <a:r>
              <a:rPr lang="zh-CN" altLang="en-US" sz="2000" b="1" dirty="0" smtClean="0">
                <a:latin typeface="微软雅黑" pitchFamily="34" charset="-122"/>
                <a:ea typeface="微软雅黑" pitchFamily="34" charset="-122"/>
              </a:rPr>
              <a:t>提供</a:t>
            </a:r>
            <a:r>
              <a:rPr lang="zh-CN" altLang="en-US" sz="2000" b="1" dirty="0">
                <a:latin typeface="微软雅黑" pitchFamily="34" charset="-122"/>
                <a:ea typeface="微软雅黑" pitchFamily="34" charset="-122"/>
              </a:rPr>
              <a:t>了</a:t>
            </a:r>
            <a:r>
              <a:rPr lang="zh-CN" altLang="en-US" sz="2000" b="1" dirty="0">
                <a:solidFill>
                  <a:srgbClr val="C00000"/>
                </a:solidFill>
                <a:latin typeface="微软雅黑" pitchFamily="34" charset="-122"/>
                <a:ea typeface="微软雅黑" pitchFamily="34" charset="-122"/>
              </a:rPr>
              <a:t>标准化的接口和视图</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管理信息库 </a:t>
            </a:r>
            <a:r>
              <a:rPr lang="en-US" altLang="zh-CN" sz="1100" b="1" dirty="0">
                <a:solidFill>
                  <a:srgbClr val="0070C0"/>
                </a:solidFill>
                <a:latin typeface="微软雅黑" pitchFamily="34" charset="-122"/>
                <a:ea typeface="微软雅黑" pitchFamily="34" charset="-122"/>
              </a:rPr>
              <a:t>MIB</a:t>
            </a:r>
          </a:p>
        </p:txBody>
      </p:sp>
    </p:spTree>
    <p:custDataLst>
      <p:tags r:id="rId1"/>
    </p:custDataLst>
    <p:extLst>
      <p:ext uri="{BB962C8B-B14F-4D97-AF65-F5344CB8AC3E}">
        <p14:creationId xmlns:p14="http://schemas.microsoft.com/office/powerpoint/2010/main" val="31080323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500"/>
                                        <p:tgtEl>
                                          <p:spTgt spid="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2" end="2"/>
                                            </p:txEl>
                                          </p:spTgt>
                                        </p:tgtEl>
                                        <p:attrNameLst>
                                          <p:attrName>style.visibility</p:attrName>
                                        </p:attrNameLst>
                                      </p:cBhvr>
                                      <p:to>
                                        <p:strVal val="visible"/>
                                      </p:to>
                                    </p:set>
                                    <p:animEffect transition="in" filter="fade">
                                      <p:cBhvr>
                                        <p:cTn id="12"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350355" y="572858"/>
            <a:ext cx="2443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管理</a:t>
            </a:r>
            <a:r>
              <a:rPr lang="zh-CN" altLang="en-US" sz="2400" b="1" dirty="0">
                <a:solidFill>
                  <a:schemeClr val="bg1"/>
                </a:solidFill>
                <a:latin typeface="微软雅黑" pitchFamily="34" charset="-122"/>
                <a:ea typeface="微软雅黑" pitchFamily="34" charset="-122"/>
              </a:rPr>
              <a:t>信息库 </a:t>
            </a:r>
            <a:r>
              <a:rPr lang="en-US" altLang="zh-CN" sz="2400" b="1" dirty="0">
                <a:solidFill>
                  <a:schemeClr val="bg1"/>
                </a:solidFill>
                <a:latin typeface="微软雅黑" pitchFamily="34" charset="-122"/>
                <a:ea typeface="微软雅黑" pitchFamily="34" charset="-122"/>
              </a:rPr>
              <a:t>MIB</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463550" y="1009347"/>
            <a:ext cx="5814370"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2900"/>
              </a:lnSpc>
              <a:buClr>
                <a:srgbClr val="0070C0"/>
              </a:buClr>
              <a:buFont typeface="Wingdings" pitchFamily="2" charset="2"/>
              <a:buChar char="l"/>
            </a:pPr>
            <a:r>
              <a:rPr lang="en-US" altLang="zh-CN" b="1" dirty="0" smtClean="0">
                <a:latin typeface="微软雅黑" pitchFamily="34" charset="-122"/>
                <a:ea typeface="微软雅黑" pitchFamily="34" charset="-122"/>
              </a:rPr>
              <a:t>MIB </a:t>
            </a:r>
            <a:r>
              <a:rPr lang="zh-CN" altLang="en-US" b="1" dirty="0">
                <a:latin typeface="微软雅黑" pitchFamily="34" charset="-122"/>
                <a:ea typeface="微软雅黑" pitchFamily="34" charset="-122"/>
              </a:rPr>
              <a:t>本质上是一个</a:t>
            </a:r>
            <a:r>
              <a:rPr lang="zh-CN" altLang="en-US" b="1" dirty="0">
                <a:solidFill>
                  <a:srgbClr val="C00000"/>
                </a:solidFill>
                <a:latin typeface="微软雅黑" pitchFamily="34" charset="-122"/>
                <a:ea typeface="微软雅黑" pitchFamily="34" charset="-122"/>
              </a:rPr>
              <a:t>信息结构的定义</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定义了标准的数据结构和属性，</a:t>
            </a:r>
            <a:r>
              <a:rPr lang="zh-CN" altLang="en-US" b="1" dirty="0" smtClean="0">
                <a:latin typeface="微软雅黑" pitchFamily="34" charset="-122"/>
                <a:ea typeface="微软雅黑" pitchFamily="34" charset="-122"/>
              </a:rPr>
              <a:t>提供</a:t>
            </a:r>
            <a:r>
              <a:rPr lang="zh-CN" altLang="en-US" b="1" dirty="0">
                <a:latin typeface="微软雅黑" pitchFamily="34" charset="-122"/>
                <a:ea typeface="微软雅黑" pitchFamily="34" charset="-122"/>
              </a:rPr>
              <a:t>统一的数据访问方式</a:t>
            </a:r>
            <a:r>
              <a:rPr lang="zh-CN" altLang="en-US" b="1" dirty="0" smtClean="0">
                <a:latin typeface="微软雅黑" pitchFamily="34" charset="-122"/>
                <a:ea typeface="微软雅黑" pitchFamily="34" charset="-122"/>
              </a:rPr>
              <a:t>，允许</a:t>
            </a:r>
            <a:r>
              <a:rPr lang="zh-CN" altLang="en-US" b="1" dirty="0">
                <a:latin typeface="微软雅黑" pitchFamily="34" charset="-122"/>
                <a:ea typeface="微软雅黑" pitchFamily="34" charset="-122"/>
              </a:rPr>
              <a:t>不同厂商的设备实现相同的管理接口。这也是 </a:t>
            </a:r>
            <a:r>
              <a:rPr lang="en-US" altLang="zh-CN" b="1" dirty="0">
                <a:latin typeface="微软雅黑" pitchFamily="34" charset="-122"/>
                <a:ea typeface="微软雅黑" pitchFamily="34" charset="-122"/>
              </a:rPr>
              <a:t>SNMP </a:t>
            </a:r>
            <a:r>
              <a:rPr lang="zh-CN" altLang="en-US" b="1" dirty="0">
                <a:latin typeface="微软雅黑" pitchFamily="34" charset="-122"/>
                <a:ea typeface="微软雅黑" pitchFamily="34" charset="-122"/>
              </a:rPr>
              <a:t>框架成功的关键因素之一</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285750" indent="-285750" algn="just" hangingPunct="0">
              <a:lnSpc>
                <a:spcPts val="2900"/>
              </a:lnSpc>
              <a:buClr>
                <a:srgbClr val="0070C0"/>
              </a:buClr>
              <a:buFont typeface="Wingdings" pitchFamily="2" charset="2"/>
              <a:buChar char="l"/>
            </a:pPr>
            <a:r>
              <a:rPr lang="zh-CN" altLang="en-US" b="1" dirty="0" smtClean="0">
                <a:latin typeface="微软雅黑" pitchFamily="34" charset="-122"/>
                <a:ea typeface="微软雅黑" pitchFamily="34" charset="-122"/>
              </a:rPr>
              <a:t>在实现上，</a:t>
            </a:r>
            <a:r>
              <a:rPr lang="en-US" altLang="zh-CN" b="1" dirty="0" smtClean="0">
                <a:latin typeface="微软雅黑" pitchFamily="34" charset="-122"/>
                <a:ea typeface="微软雅黑" pitchFamily="34" charset="-122"/>
              </a:rPr>
              <a:t>MIB</a:t>
            </a:r>
            <a:r>
              <a:rPr lang="zh-CN" altLang="en-US" b="1" dirty="0" smtClean="0">
                <a:latin typeface="微软雅黑" pitchFamily="34" charset="-122"/>
                <a:ea typeface="微软雅黑" pitchFamily="34" charset="-122"/>
              </a:rPr>
              <a:t>以</a:t>
            </a:r>
            <a:r>
              <a:rPr lang="en-US" altLang="zh-CN" b="1" dirty="0" smtClean="0">
                <a:solidFill>
                  <a:srgbClr val="C00000"/>
                </a:solidFill>
                <a:latin typeface="微软雅黑" pitchFamily="34" charset="-122"/>
                <a:ea typeface="微软雅黑" pitchFamily="34" charset="-122"/>
              </a:rPr>
              <a:t>MIB</a:t>
            </a:r>
            <a:r>
              <a:rPr lang="zh-CN" altLang="en-US" b="1" dirty="0" smtClean="0">
                <a:solidFill>
                  <a:srgbClr val="C00000"/>
                </a:solidFill>
                <a:latin typeface="微软雅黑" pitchFamily="34" charset="-122"/>
                <a:ea typeface="微软雅黑" pitchFamily="34" charset="-122"/>
              </a:rPr>
              <a:t>模块</a:t>
            </a:r>
            <a:r>
              <a:rPr lang="en-US" altLang="zh-CN" b="1" dirty="0" smtClean="0">
                <a:solidFill>
                  <a:srgbClr val="C00000"/>
                </a:solidFill>
                <a:latin typeface="微软雅黑" pitchFamily="34" charset="-122"/>
                <a:ea typeface="微软雅黑" pitchFamily="34" charset="-122"/>
              </a:rPr>
              <a:t>( MIB Module)</a:t>
            </a:r>
            <a:r>
              <a:rPr lang="zh-CN" altLang="en-US" b="1" dirty="0" smtClean="0">
                <a:latin typeface="微软雅黑" pitchFamily="34" charset="-122"/>
                <a:ea typeface="微软雅黑" pitchFamily="34" charset="-122"/>
              </a:rPr>
              <a:t>为基本单元，可以看作是众多</a:t>
            </a:r>
            <a:r>
              <a:rPr lang="en-US" altLang="zh-CN" b="1" dirty="0" smtClean="0">
                <a:latin typeface="微软雅黑" pitchFamily="34" charset="-122"/>
                <a:ea typeface="微软雅黑" pitchFamily="34" charset="-122"/>
              </a:rPr>
              <a:t>MIB</a:t>
            </a:r>
            <a:r>
              <a:rPr lang="zh-CN" altLang="en-US" b="1" dirty="0" smtClean="0">
                <a:latin typeface="微软雅黑" pitchFamily="34" charset="-122"/>
                <a:ea typeface="微软雅黑" pitchFamily="34" charset="-122"/>
              </a:rPr>
              <a:t>模块的集合。</a:t>
            </a:r>
            <a:endParaRPr lang="en-US" altLang="zh-CN"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MIB</a:t>
            </a:r>
            <a:r>
              <a:rPr lang="zh-CN" altLang="en-US" sz="1600" b="1" dirty="0" smtClean="0">
                <a:latin typeface="微软雅黑" pitchFamily="34" charset="-122"/>
                <a:ea typeface="微软雅黑" pitchFamily="34" charset="-122"/>
              </a:rPr>
              <a:t>模块是一个</a:t>
            </a:r>
            <a:r>
              <a:rPr lang="zh-CN" altLang="en-US" sz="1600" b="1" dirty="0" smtClean="0">
                <a:solidFill>
                  <a:srgbClr val="C00000"/>
                </a:solidFill>
                <a:latin typeface="微软雅黑" pitchFamily="34" charset="-122"/>
                <a:ea typeface="微软雅黑" pitchFamily="34" charset="-122"/>
              </a:rPr>
              <a:t>符合 </a:t>
            </a:r>
            <a:r>
              <a:rPr lang="en-US" altLang="zh-CN" sz="1600" b="1" dirty="0" smtClean="0">
                <a:solidFill>
                  <a:srgbClr val="C00000"/>
                </a:solidFill>
                <a:latin typeface="微软雅黑" pitchFamily="34" charset="-122"/>
                <a:ea typeface="微软雅黑" pitchFamily="34" charset="-122"/>
              </a:rPr>
              <a:t>SMI </a:t>
            </a:r>
            <a:r>
              <a:rPr lang="zh-CN" altLang="en-US" sz="1600" b="1" dirty="0" smtClean="0">
                <a:solidFill>
                  <a:srgbClr val="C00000"/>
                </a:solidFill>
                <a:latin typeface="微软雅黑" pitchFamily="34" charset="-122"/>
                <a:ea typeface="微软雅黑" pitchFamily="34" charset="-122"/>
              </a:rPr>
              <a:t>语法的独立单元</a:t>
            </a:r>
            <a:r>
              <a:rPr lang="zh-CN" altLang="en-US" sz="1600" b="1" dirty="0" smtClean="0">
                <a:latin typeface="微软雅黑" pitchFamily="34" charset="-122"/>
                <a:ea typeface="微软雅黑" pitchFamily="34" charset="-122"/>
              </a:rPr>
              <a:t>，具有</a:t>
            </a:r>
            <a:r>
              <a:rPr lang="zh-CN" altLang="en-US" sz="1600" b="1" dirty="0" smtClean="0">
                <a:solidFill>
                  <a:srgbClr val="C00000"/>
                </a:solidFill>
                <a:latin typeface="微软雅黑" pitchFamily="34" charset="-122"/>
                <a:ea typeface="微软雅黑" pitchFamily="34" charset="-122"/>
              </a:rPr>
              <a:t>唯一的身份标识 </a:t>
            </a:r>
            <a:r>
              <a:rPr lang="en-US" altLang="zh-CN" sz="1600" b="1" dirty="0">
                <a:solidFill>
                  <a:srgbClr val="C00000"/>
                </a:solidFill>
                <a:latin typeface="微软雅黑" pitchFamily="34" charset="-122"/>
                <a:ea typeface="微软雅黑" pitchFamily="34" charset="-122"/>
              </a:rPr>
              <a:t>(</a:t>
            </a:r>
            <a:r>
              <a:rPr lang="en-US" altLang="zh-CN" sz="1600" b="1" dirty="0" smtClean="0">
                <a:solidFill>
                  <a:srgbClr val="C00000"/>
                </a:solidFill>
                <a:latin typeface="微软雅黑" pitchFamily="34" charset="-122"/>
                <a:ea typeface="微软雅黑" pitchFamily="34" charset="-122"/>
              </a:rPr>
              <a:t>MODULE-IDENTIFY)</a:t>
            </a:r>
            <a:r>
              <a:rPr lang="zh-CN" altLang="en-US" sz="1600" b="1" dirty="0" smtClean="0">
                <a:latin typeface="微软雅黑" pitchFamily="34" charset="-122"/>
                <a:ea typeface="微软雅黑" pitchFamily="34" charset="-122"/>
              </a:rPr>
              <a:t>，包含了一组</a:t>
            </a:r>
            <a:r>
              <a:rPr lang="zh-CN" altLang="en-US" sz="1600" b="1" dirty="0" smtClean="0">
                <a:solidFill>
                  <a:srgbClr val="C00000"/>
                </a:solidFill>
                <a:latin typeface="微软雅黑" pitchFamily="34" charset="-122"/>
                <a:ea typeface="微软雅黑" pitchFamily="34" charset="-122"/>
              </a:rPr>
              <a:t>逻辑上相关的被管对象</a:t>
            </a:r>
            <a:r>
              <a:rPr lang="zh-CN" altLang="en-US" sz="1600" b="1" dirty="0" smtClean="0">
                <a:latin typeface="微软雅黑" pitchFamily="34" charset="-122"/>
                <a:ea typeface="微软雅黑" pitchFamily="34" charset="-122"/>
              </a:rPr>
              <a:t>等，是 </a:t>
            </a:r>
            <a:r>
              <a:rPr lang="en-US" altLang="zh-CN" sz="1600" b="1" dirty="0" smtClean="0">
                <a:latin typeface="微软雅黑" pitchFamily="34" charset="-122"/>
                <a:ea typeface="微软雅黑" pitchFamily="34" charset="-122"/>
              </a:rPr>
              <a:t>MIB </a:t>
            </a:r>
            <a:r>
              <a:rPr lang="zh-CN" altLang="en-US" sz="1600" b="1" dirty="0" smtClean="0">
                <a:latin typeface="微软雅黑" pitchFamily="34" charset="-122"/>
                <a:ea typeface="微软雅黑" pitchFamily="34" charset="-122"/>
              </a:rPr>
              <a:t>的基本组成单元。</a:t>
            </a:r>
            <a:endParaRPr lang="en-US" altLang="zh-CN" sz="1600" b="1" dirty="0" smtClean="0">
              <a:latin typeface="微软雅黑" pitchFamily="34" charset="-122"/>
              <a:ea typeface="微软雅黑" pitchFamily="34" charset="-122"/>
            </a:endParaRPr>
          </a:p>
          <a:p>
            <a:pPr marL="285750" indent="-285750" algn="just" hangingPunct="0">
              <a:lnSpc>
                <a:spcPts val="2900"/>
              </a:lnSpc>
              <a:buClr>
                <a:srgbClr val="0070C0"/>
              </a:buClr>
              <a:buFont typeface="Wingdings" pitchFamily="2" charset="2"/>
              <a:buChar char="l"/>
            </a:pPr>
            <a:endParaRPr lang="en-US" altLang="zh-CN" b="1" dirty="0" smtClean="0">
              <a:latin typeface="微软雅黑" pitchFamily="34" charset="-122"/>
              <a:ea typeface="微软雅黑" pitchFamily="34" charset="-122"/>
            </a:endParaRPr>
          </a:p>
        </p:txBody>
      </p:sp>
      <p:sp>
        <p:nvSpPr>
          <p:cNvPr id="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管理信息库 </a:t>
            </a:r>
            <a:r>
              <a:rPr lang="en-US" altLang="zh-CN" sz="1100" b="1" dirty="0">
                <a:solidFill>
                  <a:srgbClr val="0070C0"/>
                </a:solidFill>
                <a:latin typeface="微软雅黑" pitchFamily="34" charset="-122"/>
                <a:ea typeface="微软雅黑" pitchFamily="34" charset="-122"/>
              </a:rPr>
              <a:t>MIB</a:t>
            </a:r>
          </a:p>
        </p:txBody>
      </p:sp>
      <p:grpSp>
        <p:nvGrpSpPr>
          <p:cNvPr id="4" name="组合 3"/>
          <p:cNvGrpSpPr/>
          <p:nvPr/>
        </p:nvGrpSpPr>
        <p:grpSpPr>
          <a:xfrm>
            <a:off x="6343650" y="2279029"/>
            <a:ext cx="2754313" cy="1400175"/>
            <a:chOff x="7469187" y="3160713"/>
            <a:chExt cx="2754313" cy="1400175"/>
          </a:xfrm>
        </p:grpSpPr>
        <p:sp>
          <p:nvSpPr>
            <p:cNvPr id="24" name="Oval 23"/>
            <p:cNvSpPr>
              <a:spLocks noChangeArrowheads="1"/>
            </p:cNvSpPr>
            <p:nvPr/>
          </p:nvSpPr>
          <p:spPr bwMode="auto">
            <a:xfrm>
              <a:off x="7558087" y="3160713"/>
              <a:ext cx="2665413" cy="1400175"/>
            </a:xfrm>
            <a:prstGeom prst="ellipse">
              <a:avLst/>
            </a:prstGeom>
            <a:solidFill>
              <a:schemeClr val="bg1"/>
            </a:solidFill>
            <a:ln w="19050">
              <a:solidFill>
                <a:srgbClr val="CC0000"/>
              </a:solidFill>
              <a:round/>
              <a:headEnd/>
              <a:tailEnd/>
            </a:ln>
            <a:effectLst/>
            <a:extLst>
              <a:ext uri="{909E8E84-426E-40dd-AFC4-6F175D3DCCD1}">
                <a14:hiddenFill xmlns="" xmlns:a14="http://schemas.microsoft.com/office/drawing/2010/main" xmlns:lc="http://schemas.openxmlformats.org/drawingml/2006/lockedCanvas">
                  <a:solidFill>
                    <a:srgbClr val="FFFFFF"/>
                  </a:solid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grpSp>
          <p:nvGrpSpPr>
            <p:cNvPr id="2" name="组合 1"/>
            <p:cNvGrpSpPr/>
            <p:nvPr/>
          </p:nvGrpSpPr>
          <p:grpSpPr>
            <a:xfrm>
              <a:off x="7639051" y="3571876"/>
              <a:ext cx="1306451" cy="642937"/>
              <a:chOff x="2470151" y="4111626"/>
              <a:chExt cx="1306451" cy="642937"/>
            </a:xfrm>
          </p:grpSpPr>
          <p:sp>
            <p:nvSpPr>
              <p:cNvPr id="14" name="Oval 12"/>
              <p:cNvSpPr>
                <a:spLocks noChangeArrowheads="1"/>
              </p:cNvSpPr>
              <p:nvPr/>
            </p:nvSpPr>
            <p:spPr bwMode="auto">
              <a:xfrm>
                <a:off x="2470151" y="4111626"/>
                <a:ext cx="1306451" cy="642937"/>
              </a:xfrm>
              <a:prstGeom prst="ellipse">
                <a:avLst/>
              </a:prstGeom>
              <a:solidFill>
                <a:srgbClr val="FFFFFF"/>
              </a:solidFill>
              <a:ln w="19050">
                <a:solidFill>
                  <a:srgbClr val="000099"/>
                </a:solidFill>
                <a:round/>
                <a:headEnd/>
                <a:tailEnd/>
              </a:ln>
              <a:effectLst/>
              <a:extLs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15" name="Text Box 13"/>
              <p:cNvSpPr txBox="1">
                <a:spLocks noChangeArrowheads="1"/>
              </p:cNvSpPr>
              <p:nvPr/>
            </p:nvSpPr>
            <p:spPr bwMode="auto">
              <a:xfrm>
                <a:off x="2771716" y="4151313"/>
                <a:ext cx="800219" cy="276999"/>
              </a:xfrm>
              <a:prstGeom prst="rect">
                <a:avLst/>
              </a:prstGeom>
              <a:noFill/>
              <a:ln>
                <a:noFill/>
              </a:ln>
              <a:effectLst/>
              <a:extLst>
                <a:ext uri="{909E8E84-426E-40dd-AFC4-6F175D3DCCD1}">
                  <a14:hiddenFill xmlns="" xmlns:a14="http://schemas.microsoft.com/office/drawing/2010/main" xmlns:lc="http://schemas.openxmlformats.org/drawingml/2006/lockedCanvas">
                    <a:solidFill>
                      <a:srgbClr val="FFFFFF"/>
                    </a:solidFill>
                  </a14:hiddenFill>
                </a:ext>
                <a:ext uri="{91240B29-F687-4f45-9708-019B960494DF}">
                  <a14:hiddenLine xmlns="" xmlns:a14="http://schemas.microsoft.com/office/drawing/2010/main" xmlns:lc="http://schemas.openxmlformats.org/drawingml/2006/lockedCanvas" w="9525">
                    <a:solidFill>
                      <a:schemeClr val="tx1"/>
                    </a:solidFill>
                    <a:miter lim="800000"/>
                    <a:headEnd/>
                    <a:tailEnd/>
                  </a14:hiddenLine>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spAutoFit/>
              </a:bodyP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r>
                  <a:rPr lang="zh-CN" altLang="en-US" sz="1200" dirty="0" smtClean="0">
                    <a:latin typeface="Arial"/>
                    <a:ea typeface="ＭＳ Ｐゴシック" charset="0"/>
                    <a:cs typeface="Arial"/>
                  </a:rPr>
                  <a:t>被管对象</a:t>
                </a:r>
                <a:endParaRPr lang="en-US" sz="1200" dirty="0">
                  <a:latin typeface="Arial"/>
                  <a:ea typeface="ＭＳ Ｐゴシック" charset="0"/>
                  <a:cs typeface="Arial"/>
                </a:endParaRPr>
              </a:p>
            </p:txBody>
          </p:sp>
          <p:sp>
            <p:nvSpPr>
              <p:cNvPr id="16" name="Line 14"/>
              <p:cNvSpPr>
                <a:spLocks noChangeShapeType="1"/>
              </p:cNvSpPr>
              <p:nvPr/>
            </p:nvSpPr>
            <p:spPr bwMode="auto">
              <a:xfrm>
                <a:off x="2681287" y="44846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17" name="Line 15"/>
              <p:cNvSpPr>
                <a:spLocks noChangeShapeType="1"/>
              </p:cNvSpPr>
              <p:nvPr/>
            </p:nvSpPr>
            <p:spPr bwMode="auto">
              <a:xfrm>
                <a:off x="2693987" y="454183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18" name="Line 16"/>
              <p:cNvSpPr>
                <a:spLocks noChangeShapeType="1"/>
              </p:cNvSpPr>
              <p:nvPr/>
            </p:nvSpPr>
            <p:spPr bwMode="auto">
              <a:xfrm>
                <a:off x="2706687" y="45989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grpSp>
        <p:grpSp>
          <p:nvGrpSpPr>
            <p:cNvPr id="25" name="Group 35"/>
            <p:cNvGrpSpPr>
              <a:grpSpLocks/>
            </p:cNvGrpSpPr>
            <p:nvPr/>
          </p:nvGrpSpPr>
          <p:grpSpPr bwMode="auto">
            <a:xfrm>
              <a:off x="7469187" y="3211517"/>
              <a:ext cx="1446213" cy="338138"/>
              <a:chOff x="4297" y="1371"/>
              <a:chExt cx="911" cy="213"/>
            </a:xfrm>
          </p:grpSpPr>
          <p:sp>
            <p:nvSpPr>
              <p:cNvPr id="26" name="Rectangle 34"/>
              <p:cNvSpPr>
                <a:spLocks noChangeArrowheads="1"/>
              </p:cNvSpPr>
              <p:nvPr/>
            </p:nvSpPr>
            <p:spPr bwMode="auto">
              <a:xfrm>
                <a:off x="4338" y="1398"/>
                <a:ext cx="870" cy="186"/>
              </a:xfrm>
              <a:prstGeom prst="rect">
                <a:avLst/>
              </a:prstGeom>
              <a:solidFill>
                <a:schemeClr val="bg1"/>
              </a:solidFill>
              <a:ln>
                <a:noFill/>
              </a:ln>
              <a:effectLst/>
              <a:extLst>
                <a:ext uri="{91240B29-F687-4f45-9708-019B960494DF}">
                  <a14:hiddenLine xmlns="" xmlns:a14="http://schemas.microsoft.com/office/drawing/2010/main" xmlns:lc="http://schemas.openxmlformats.org/drawingml/2006/lockedCanvas" w="9525">
                    <a:solidFill>
                      <a:schemeClr val="tx1"/>
                    </a:solidFill>
                    <a:miter lim="800000"/>
                    <a:headEnd/>
                    <a:tailEnd/>
                  </a14:hiddenLine>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27" name="Text Box 33"/>
              <p:cNvSpPr txBox="1">
                <a:spLocks noChangeArrowheads="1"/>
              </p:cNvSpPr>
              <p:nvPr/>
            </p:nvSpPr>
            <p:spPr bwMode="auto">
              <a:xfrm>
                <a:off x="4297" y="1371"/>
                <a:ext cx="641" cy="213"/>
              </a:xfrm>
              <a:prstGeom prst="rect">
                <a:avLst/>
              </a:prstGeom>
              <a:noFill/>
              <a:ln>
                <a:noFill/>
              </a:ln>
              <a:effectLst/>
              <a:extLst>
                <a:ext uri="{909E8E84-426E-40dd-AFC4-6F175D3DCCD1}">
                  <a14:hiddenFill xmlns="" xmlns:a14="http://schemas.microsoft.com/office/drawing/2010/main" xmlns:lc="http://schemas.openxmlformats.org/drawingml/2006/lockedCanvas">
                    <a:solidFill>
                      <a:srgbClr val="FFFFFF"/>
                    </a:solidFill>
                  </a14:hiddenFill>
                </a:ext>
                <a:ext uri="{91240B29-F687-4f45-9708-019B960494DF}">
                  <a14:hiddenLine xmlns="" xmlns:a14="http://schemas.microsoft.com/office/drawing/2010/main" xmlns:lc="http://schemas.openxmlformats.org/drawingml/2006/lockedCanvas" w="9525">
                    <a:solidFill>
                      <a:schemeClr val="tx1"/>
                    </a:solidFill>
                    <a:miter lim="800000"/>
                    <a:headEnd/>
                    <a:tailEnd/>
                  </a14:hiddenLine>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spAutoFit/>
              </a:bodyP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r>
                  <a:rPr lang="en-US" altLang="zh-CN" sz="1600" dirty="0" smtClean="0">
                    <a:solidFill>
                      <a:srgbClr val="CC0000"/>
                    </a:solidFill>
                    <a:latin typeface="Arial"/>
                    <a:ea typeface="ＭＳ Ｐゴシック" charset="0"/>
                    <a:cs typeface="Arial"/>
                  </a:rPr>
                  <a:t>MIB </a:t>
                </a:r>
                <a:r>
                  <a:rPr lang="zh-CN" altLang="en-US" sz="1600" dirty="0" smtClean="0">
                    <a:solidFill>
                      <a:srgbClr val="CC0000"/>
                    </a:solidFill>
                    <a:latin typeface="Arial"/>
                    <a:ea typeface="ＭＳ Ｐゴシック" charset="0"/>
                    <a:cs typeface="Arial"/>
                  </a:rPr>
                  <a:t>模块</a:t>
                </a:r>
                <a:endParaRPr lang="en-US" sz="1600" dirty="0">
                  <a:solidFill>
                    <a:srgbClr val="CC0000"/>
                  </a:solidFill>
                  <a:latin typeface="Arial"/>
                  <a:ea typeface="ＭＳ Ｐゴシック" charset="0"/>
                  <a:cs typeface="Arial"/>
                </a:endParaRPr>
              </a:p>
            </p:txBody>
          </p:sp>
        </p:grpSp>
        <p:grpSp>
          <p:nvGrpSpPr>
            <p:cNvPr id="34" name="组合 33"/>
            <p:cNvGrpSpPr/>
            <p:nvPr/>
          </p:nvGrpSpPr>
          <p:grpSpPr>
            <a:xfrm>
              <a:off x="8656373" y="3285334"/>
              <a:ext cx="1306451" cy="642937"/>
              <a:chOff x="2470151" y="4111626"/>
              <a:chExt cx="1306451" cy="642937"/>
            </a:xfrm>
          </p:grpSpPr>
          <p:sp>
            <p:nvSpPr>
              <p:cNvPr id="35" name="Oval 12"/>
              <p:cNvSpPr>
                <a:spLocks noChangeArrowheads="1"/>
              </p:cNvSpPr>
              <p:nvPr/>
            </p:nvSpPr>
            <p:spPr bwMode="auto">
              <a:xfrm>
                <a:off x="2470151" y="4111626"/>
                <a:ext cx="1306451" cy="642937"/>
              </a:xfrm>
              <a:prstGeom prst="ellipse">
                <a:avLst/>
              </a:prstGeom>
              <a:solidFill>
                <a:srgbClr val="FFFFFF"/>
              </a:solidFill>
              <a:ln w="19050">
                <a:solidFill>
                  <a:srgbClr val="000099"/>
                </a:solidFill>
                <a:round/>
                <a:headEnd/>
                <a:tailEnd/>
              </a:ln>
              <a:effectLst/>
              <a:extLs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6" name="Text Box 13"/>
              <p:cNvSpPr txBox="1">
                <a:spLocks noChangeArrowheads="1"/>
              </p:cNvSpPr>
              <p:nvPr/>
            </p:nvSpPr>
            <p:spPr bwMode="auto">
              <a:xfrm>
                <a:off x="2771716" y="4151313"/>
                <a:ext cx="800219" cy="276999"/>
              </a:xfrm>
              <a:prstGeom prst="rect">
                <a:avLst/>
              </a:prstGeom>
              <a:noFill/>
              <a:ln>
                <a:noFill/>
              </a:ln>
              <a:effectLst/>
              <a:extLst>
                <a:ext uri="{909E8E84-426E-40dd-AFC4-6F175D3DCCD1}">
                  <a14:hiddenFill xmlns="" xmlns:a14="http://schemas.microsoft.com/office/drawing/2010/main" xmlns:lc="http://schemas.openxmlformats.org/drawingml/2006/lockedCanvas">
                    <a:solidFill>
                      <a:srgbClr val="FFFFFF"/>
                    </a:solidFill>
                  </a14:hiddenFill>
                </a:ext>
                <a:ext uri="{91240B29-F687-4f45-9708-019B960494DF}">
                  <a14:hiddenLine xmlns="" xmlns:a14="http://schemas.microsoft.com/office/drawing/2010/main" xmlns:lc="http://schemas.openxmlformats.org/drawingml/2006/lockedCanvas" w="9525">
                    <a:solidFill>
                      <a:schemeClr val="tx1"/>
                    </a:solidFill>
                    <a:miter lim="800000"/>
                    <a:headEnd/>
                    <a:tailEnd/>
                  </a14:hiddenLine>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spAutoFit/>
              </a:bodyP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r>
                  <a:rPr lang="zh-CN" altLang="en-US" sz="1200" dirty="0" smtClean="0">
                    <a:latin typeface="Arial"/>
                    <a:ea typeface="ＭＳ Ｐゴシック" charset="0"/>
                    <a:cs typeface="Arial"/>
                  </a:rPr>
                  <a:t>被管对象</a:t>
                </a:r>
                <a:endParaRPr lang="en-US" sz="1200" dirty="0">
                  <a:latin typeface="Arial"/>
                  <a:ea typeface="ＭＳ Ｐゴシック" charset="0"/>
                  <a:cs typeface="Arial"/>
                </a:endParaRPr>
              </a:p>
            </p:txBody>
          </p:sp>
          <p:sp>
            <p:nvSpPr>
              <p:cNvPr id="37" name="Line 14"/>
              <p:cNvSpPr>
                <a:spLocks noChangeShapeType="1"/>
              </p:cNvSpPr>
              <p:nvPr/>
            </p:nvSpPr>
            <p:spPr bwMode="auto">
              <a:xfrm>
                <a:off x="2681287" y="44846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8" name="Line 15"/>
              <p:cNvSpPr>
                <a:spLocks noChangeShapeType="1"/>
              </p:cNvSpPr>
              <p:nvPr/>
            </p:nvSpPr>
            <p:spPr bwMode="auto">
              <a:xfrm>
                <a:off x="2693987" y="454183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9" name="Line 16"/>
              <p:cNvSpPr>
                <a:spLocks noChangeShapeType="1"/>
              </p:cNvSpPr>
              <p:nvPr/>
            </p:nvSpPr>
            <p:spPr bwMode="auto">
              <a:xfrm>
                <a:off x="2706687" y="45989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grpSp>
        <p:grpSp>
          <p:nvGrpSpPr>
            <p:cNvPr id="28" name="组合 27"/>
            <p:cNvGrpSpPr/>
            <p:nvPr/>
          </p:nvGrpSpPr>
          <p:grpSpPr>
            <a:xfrm>
              <a:off x="8593841" y="3815510"/>
              <a:ext cx="1306451" cy="642937"/>
              <a:chOff x="2470151" y="4111626"/>
              <a:chExt cx="1306451" cy="642937"/>
            </a:xfrm>
          </p:grpSpPr>
          <p:sp>
            <p:nvSpPr>
              <p:cNvPr id="29" name="Oval 12"/>
              <p:cNvSpPr>
                <a:spLocks noChangeArrowheads="1"/>
              </p:cNvSpPr>
              <p:nvPr/>
            </p:nvSpPr>
            <p:spPr bwMode="auto">
              <a:xfrm>
                <a:off x="2470151" y="4111626"/>
                <a:ext cx="1306451" cy="642937"/>
              </a:xfrm>
              <a:prstGeom prst="ellipse">
                <a:avLst/>
              </a:prstGeom>
              <a:solidFill>
                <a:srgbClr val="FFFFFF"/>
              </a:solidFill>
              <a:ln w="19050">
                <a:solidFill>
                  <a:srgbClr val="000099"/>
                </a:solidFill>
                <a:round/>
                <a:headEnd/>
                <a:tailEnd/>
              </a:ln>
              <a:effectLst/>
              <a:extLs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0" name="Text Box 13"/>
              <p:cNvSpPr txBox="1">
                <a:spLocks noChangeArrowheads="1"/>
              </p:cNvSpPr>
              <p:nvPr/>
            </p:nvSpPr>
            <p:spPr bwMode="auto">
              <a:xfrm>
                <a:off x="2771716" y="4151313"/>
                <a:ext cx="800219" cy="276999"/>
              </a:xfrm>
              <a:prstGeom prst="rect">
                <a:avLst/>
              </a:prstGeom>
              <a:noFill/>
              <a:ln>
                <a:noFill/>
              </a:ln>
              <a:effectLst/>
              <a:extLst>
                <a:ext uri="{909E8E84-426E-40dd-AFC4-6F175D3DCCD1}">
                  <a14:hiddenFill xmlns="" xmlns:a14="http://schemas.microsoft.com/office/drawing/2010/main" xmlns:lc="http://schemas.openxmlformats.org/drawingml/2006/lockedCanvas">
                    <a:solidFill>
                      <a:srgbClr val="FFFFFF"/>
                    </a:solidFill>
                  </a14:hiddenFill>
                </a:ext>
                <a:ext uri="{91240B29-F687-4f45-9708-019B960494DF}">
                  <a14:hiddenLine xmlns="" xmlns:a14="http://schemas.microsoft.com/office/drawing/2010/main" xmlns:lc="http://schemas.openxmlformats.org/drawingml/2006/lockedCanvas" w="9525">
                    <a:solidFill>
                      <a:schemeClr val="tx1"/>
                    </a:solidFill>
                    <a:miter lim="800000"/>
                    <a:headEnd/>
                    <a:tailEnd/>
                  </a14:hiddenLine>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spAutoFit/>
              </a:bodyP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r>
                  <a:rPr lang="zh-CN" altLang="en-US" sz="1200" dirty="0" smtClean="0">
                    <a:latin typeface="Arial"/>
                    <a:ea typeface="ＭＳ Ｐゴシック" charset="0"/>
                    <a:cs typeface="Arial"/>
                  </a:rPr>
                  <a:t>被管对象</a:t>
                </a:r>
                <a:endParaRPr lang="en-US" sz="1200" dirty="0">
                  <a:latin typeface="Arial"/>
                  <a:ea typeface="ＭＳ Ｐゴシック" charset="0"/>
                  <a:cs typeface="Arial"/>
                </a:endParaRPr>
              </a:p>
            </p:txBody>
          </p:sp>
          <p:sp>
            <p:nvSpPr>
              <p:cNvPr id="31" name="Line 14"/>
              <p:cNvSpPr>
                <a:spLocks noChangeShapeType="1"/>
              </p:cNvSpPr>
              <p:nvPr/>
            </p:nvSpPr>
            <p:spPr bwMode="auto">
              <a:xfrm>
                <a:off x="2681287" y="44846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2" name="Line 15"/>
              <p:cNvSpPr>
                <a:spLocks noChangeShapeType="1"/>
              </p:cNvSpPr>
              <p:nvPr/>
            </p:nvSpPr>
            <p:spPr bwMode="auto">
              <a:xfrm>
                <a:off x="2693987" y="454183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sp>
            <p:nvSpPr>
              <p:cNvPr id="33" name="Line 16"/>
              <p:cNvSpPr>
                <a:spLocks noChangeShapeType="1"/>
              </p:cNvSpPr>
              <p:nvPr/>
            </p:nvSpPr>
            <p:spPr bwMode="auto">
              <a:xfrm>
                <a:off x="2706687" y="4598988"/>
                <a:ext cx="901700" cy="0"/>
              </a:xfrm>
              <a:prstGeom prst="line">
                <a:avLst/>
              </a:prstGeom>
              <a:noFill/>
              <a:ln w="9525">
                <a:solidFill>
                  <a:schemeClr val="tx1"/>
                </a:solidFill>
                <a:round/>
                <a:headEnd/>
                <a:tailEnd/>
              </a:ln>
              <a:effectLst/>
              <a:extLst>
                <a:ext uri="{909E8E84-426E-40dd-AFC4-6F175D3DCCD1}">
                  <a14:hiddenFill xmlns="" xmlns:a14="http://schemas.microsoft.com/office/drawing/2010/main" xmlns:lc="http://schemas.openxmlformats.org/drawingml/2006/lockedCanvas">
                    <a:noFill/>
                  </a14:hiddenFill>
                </a:ext>
                <a:ext uri="{AF507438-7753-43e0-B8FC-AC1667EBCBE1}">
                  <a14:hiddenEffects xmlns="" xmlns:a14="http://schemas.microsoft.com/office/drawing/2010/main" xmlns:lc="http://schemas.openxmlformats.org/drawingml/2006/lockedCanvas">
                    <a:effectLst>
                      <a:outerShdw blurRad="63500" dist="38099" dir="2700000" algn="ctr" rotWithShape="0">
                        <a:schemeClr val="bg2">
                          <a:alpha val="74998"/>
                        </a:schemeClr>
                      </a:outerShdw>
                    </a:effectLst>
                  </a14:hiddenEffects>
                </a:ext>
              </a:extLst>
            </p:spPr>
            <p:txBody>
              <a:bodyPr wrap="none" anchor="ctr"/>
              <a:lstStyle>
                <a:defPPr>
                  <a:defRPr lang="en-US"/>
                </a:defPPr>
                <a:lvl1pPr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1pPr>
                <a:lvl2pPr marL="4572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2pPr>
                <a:lvl3pPr marL="9144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3pPr>
                <a:lvl4pPr marL="13716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4pPr>
                <a:lvl5pPr marL="1828800" algn="ctr" rtl="0" eaLnBrk="0" fontAlgn="base" hangingPunct="0">
                  <a:spcBef>
                    <a:spcPct val="0"/>
                  </a:spcBef>
                  <a:spcAft>
                    <a:spcPct val="0"/>
                  </a:spcAft>
                  <a:defRPr sz="2400" kern="1200">
                    <a:solidFill>
                      <a:schemeClr val="tx1"/>
                    </a:solidFill>
                    <a:latin typeface="Times New Roman"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New Roman" panose="02020603050405020304" pitchFamily="18" charset="0"/>
                    <a:ea typeface="MS PGothic" panose="020B0600070205080204" pitchFamily="34" charset="-128"/>
                    <a:cs typeface="+mn-cs"/>
                  </a:defRPr>
                </a:lvl9pPr>
              </a:lstStyle>
              <a:p>
                <a:pPr>
                  <a:defRPr/>
                </a:pPr>
                <a:endParaRPr lang="en-US" sz="1600">
                  <a:latin typeface="Arial"/>
                  <a:ea typeface="ＭＳ Ｐゴシック" charset="0"/>
                  <a:cs typeface="Arial"/>
                </a:endParaRPr>
              </a:p>
            </p:txBody>
          </p:sp>
        </p:grpSp>
      </p:grpSp>
      <p:sp>
        <p:nvSpPr>
          <p:cNvPr id="3" name="文本框 2"/>
          <p:cNvSpPr txBox="1"/>
          <p:nvPr/>
        </p:nvSpPr>
        <p:spPr>
          <a:xfrm>
            <a:off x="7016438" y="3795790"/>
            <a:ext cx="1326004" cy="584775"/>
          </a:xfrm>
          <a:prstGeom prst="rect">
            <a:avLst/>
          </a:prstGeom>
          <a:noFill/>
        </p:spPr>
        <p:txBody>
          <a:bodyPr wrap="none" rtlCol="0">
            <a:spAutoFit/>
          </a:bodyPr>
          <a:lstStyle>
            <a:defPPr>
              <a:defRPr lang="zh-CN"/>
            </a:defPPr>
            <a:lvl1pPr>
              <a:defRPr sz="1050"/>
            </a:lvl1pPr>
          </a:lstStyle>
          <a:p>
            <a:pPr algn="ctr"/>
            <a:r>
              <a:rPr lang="zh-CN" altLang="en-US" sz="1600" dirty="0"/>
              <a:t>被管</a:t>
            </a:r>
            <a:r>
              <a:rPr lang="zh-CN" altLang="en-US" sz="1600" dirty="0" smtClean="0"/>
              <a:t>对象</a:t>
            </a:r>
            <a:endParaRPr lang="en-US" altLang="zh-CN" sz="1600" dirty="0" smtClean="0"/>
          </a:p>
          <a:p>
            <a:pPr algn="ctr"/>
            <a:r>
              <a:rPr lang="zh-CN" altLang="en-US" sz="1600" dirty="0" smtClean="0"/>
              <a:t>基于</a:t>
            </a:r>
            <a:r>
              <a:rPr lang="en-US" altLang="zh-CN" sz="1600" dirty="0"/>
              <a:t>SMI</a:t>
            </a:r>
            <a:r>
              <a:rPr lang="zh-CN" altLang="en-US" sz="1600" dirty="0"/>
              <a:t>定义</a:t>
            </a:r>
          </a:p>
        </p:txBody>
      </p:sp>
      <p:sp>
        <p:nvSpPr>
          <p:cNvPr id="40" name="文本框 39"/>
          <p:cNvSpPr txBox="1"/>
          <p:nvPr/>
        </p:nvSpPr>
        <p:spPr>
          <a:xfrm>
            <a:off x="6576809" y="1586834"/>
            <a:ext cx="1842541" cy="652486"/>
          </a:xfrm>
          <a:prstGeom prst="rect">
            <a:avLst/>
          </a:prstGeom>
          <a:noFill/>
        </p:spPr>
        <p:txBody>
          <a:bodyPr wrap="square" rtlCol="0">
            <a:spAutoFit/>
          </a:bodyPr>
          <a:lstStyle/>
          <a:p>
            <a:pPr algn="ctr">
              <a:lnSpc>
                <a:spcPct val="130000"/>
              </a:lnSpc>
            </a:pPr>
            <a:r>
              <a:rPr lang="zh-CN" altLang="en-US" sz="1400" dirty="0" smtClean="0"/>
              <a:t>每个</a:t>
            </a:r>
            <a:r>
              <a:rPr lang="en-US" altLang="zh-CN" sz="1400" dirty="0" smtClean="0"/>
              <a:t>MIB</a:t>
            </a:r>
            <a:r>
              <a:rPr lang="zh-CN" altLang="en-US" sz="1400" dirty="0" smtClean="0"/>
              <a:t>模块具有</a:t>
            </a:r>
            <a:endParaRPr lang="en-US" altLang="zh-CN" sz="1400" dirty="0" smtClean="0"/>
          </a:p>
          <a:p>
            <a:pPr algn="ctr">
              <a:lnSpc>
                <a:spcPct val="130000"/>
              </a:lnSpc>
            </a:pPr>
            <a:r>
              <a:rPr lang="zh-CN" altLang="en-US" sz="1400" dirty="0" smtClean="0"/>
              <a:t>唯一身份</a:t>
            </a:r>
            <a:r>
              <a:rPr lang="zh-CN" altLang="en-US" sz="1400" dirty="0"/>
              <a:t>标识</a:t>
            </a:r>
          </a:p>
        </p:txBody>
      </p:sp>
    </p:spTree>
    <p:custDataLst>
      <p:tags r:id="rId1"/>
    </p:custDataLst>
    <p:extLst>
      <p:ext uri="{BB962C8B-B14F-4D97-AF65-F5344CB8AC3E}">
        <p14:creationId xmlns:p14="http://schemas.microsoft.com/office/powerpoint/2010/main" val="3882749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fad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fade">
                                      <p:cBhvr>
                                        <p:cTn id="17" dur="500"/>
                                        <p:tgtEl>
                                          <p:spTgt spid="7">
                                            <p:txEl>
                                              <p:pRg st="2" end="2"/>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0"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350355" y="572858"/>
            <a:ext cx="2443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管理</a:t>
            </a:r>
            <a:r>
              <a:rPr lang="zh-CN" altLang="en-US" sz="2400" b="1" dirty="0">
                <a:solidFill>
                  <a:schemeClr val="bg1"/>
                </a:solidFill>
                <a:latin typeface="微软雅黑" pitchFamily="34" charset="-122"/>
                <a:ea typeface="微软雅黑" pitchFamily="34" charset="-122"/>
              </a:rPr>
              <a:t>信息库 </a:t>
            </a:r>
            <a:r>
              <a:rPr lang="en-US" altLang="zh-CN" sz="2400" b="1" dirty="0">
                <a:solidFill>
                  <a:schemeClr val="bg1"/>
                </a:solidFill>
                <a:latin typeface="微软雅黑" pitchFamily="34" charset="-122"/>
                <a:ea typeface="微软雅黑" pitchFamily="34" charset="-122"/>
              </a:rPr>
              <a:t>MIB</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3" y="1009347"/>
            <a:ext cx="81342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目前，</a:t>
            </a:r>
            <a:r>
              <a:rPr lang="zh-CN" altLang="en-US" sz="2000" b="1" dirty="0">
                <a:solidFill>
                  <a:srgbClr val="C00000"/>
                </a:solidFill>
                <a:latin typeface="微软雅黑" pitchFamily="34" charset="-122"/>
                <a:ea typeface="微软雅黑" pitchFamily="34" charset="-122"/>
              </a:rPr>
              <a:t>在</a:t>
            </a:r>
            <a:r>
              <a:rPr lang="en-US" altLang="zh-CN" sz="2000" b="1" dirty="0">
                <a:solidFill>
                  <a:srgbClr val="C00000"/>
                </a:solidFill>
                <a:latin typeface="微软雅黑" pitchFamily="34" charset="-122"/>
                <a:ea typeface="微软雅黑" pitchFamily="34" charset="-122"/>
              </a:rPr>
              <a:t>RFC</a:t>
            </a:r>
            <a:r>
              <a:rPr lang="zh-CN" altLang="en-US" sz="2000" b="1" dirty="0">
                <a:solidFill>
                  <a:srgbClr val="C00000"/>
                </a:solidFill>
                <a:latin typeface="微软雅黑" pitchFamily="34" charset="-122"/>
                <a:ea typeface="微软雅黑" pitchFamily="34" charset="-122"/>
              </a:rPr>
              <a:t>文档中定义</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MIB</a:t>
            </a:r>
            <a:r>
              <a:rPr lang="zh-CN" altLang="en-US" sz="2000" b="1" dirty="0">
                <a:latin typeface="微软雅黑" pitchFamily="34" charset="-122"/>
                <a:ea typeface="微软雅黑" pitchFamily="34" charset="-122"/>
              </a:rPr>
              <a:t>模块</a:t>
            </a:r>
            <a:r>
              <a:rPr lang="zh-CN" altLang="en-US" sz="2000" b="1" dirty="0" smtClean="0">
                <a:latin typeface="微软雅黑" pitchFamily="34" charset="-122"/>
                <a:ea typeface="微软雅黑" pitchFamily="34" charset="-122"/>
              </a:rPr>
              <a:t>大约有</a:t>
            </a:r>
            <a:r>
              <a:rPr lang="en-US" altLang="zh-CN" sz="2000" b="1" dirty="0" smtClean="0">
                <a:solidFill>
                  <a:srgbClr val="C00000"/>
                </a:solidFill>
                <a:latin typeface="微软雅黑" pitchFamily="34" charset="-122"/>
                <a:ea typeface="微软雅黑" pitchFamily="34" charset="-122"/>
              </a:rPr>
              <a:t>400</a:t>
            </a:r>
            <a:r>
              <a:rPr lang="zh-CN" altLang="en-US" sz="2000" b="1" dirty="0" smtClean="0">
                <a:solidFill>
                  <a:srgbClr val="C00000"/>
                </a:solidFill>
                <a:latin typeface="微软雅黑" pitchFamily="34" charset="-122"/>
                <a:ea typeface="微软雅黑" pitchFamily="34" charset="-122"/>
              </a:rPr>
              <a:t>多种</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更多</a:t>
            </a:r>
            <a:r>
              <a:rPr lang="zh-CN" altLang="en-US" sz="2000" b="1" dirty="0" smtClean="0">
                <a:latin typeface="微软雅黑" pitchFamily="34" charset="-122"/>
                <a:ea typeface="微软雅黑" pitchFamily="34" charset="-122"/>
              </a:rPr>
              <a:t>的</a:t>
            </a:r>
            <a:r>
              <a:rPr lang="en-US" altLang="zh-CN" sz="2000" b="1" dirty="0" smtClean="0">
                <a:latin typeface="微软雅黑" pitchFamily="34" charset="-122"/>
                <a:ea typeface="微软雅黑" pitchFamily="34" charset="-122"/>
              </a:rPr>
              <a:t>MIB</a:t>
            </a:r>
            <a:r>
              <a:rPr lang="zh-CN" altLang="en-US" sz="2000" b="1" dirty="0" smtClean="0">
                <a:latin typeface="微软雅黑" pitchFamily="34" charset="-122"/>
                <a:ea typeface="微软雅黑" pitchFamily="34" charset="-122"/>
              </a:rPr>
              <a:t>模块则由</a:t>
            </a:r>
            <a:r>
              <a:rPr lang="zh-CN" altLang="en-US" sz="2000" b="1" dirty="0" smtClean="0">
                <a:solidFill>
                  <a:srgbClr val="C00000"/>
                </a:solidFill>
                <a:latin typeface="微软雅黑" pitchFamily="34" charset="-122"/>
                <a:ea typeface="微软雅黑" pitchFamily="34" charset="-122"/>
              </a:rPr>
              <a:t>网络设备制造商自行定义</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RFC 4113 </a:t>
            </a:r>
            <a:r>
              <a:rPr lang="zh-CN" altLang="en-US" sz="2000" b="1" dirty="0">
                <a:latin typeface="微软雅黑" pitchFamily="34" charset="-122"/>
                <a:ea typeface="微软雅黑" pitchFamily="34" charset="-122"/>
              </a:rPr>
              <a:t>定义的 </a:t>
            </a:r>
            <a:r>
              <a:rPr lang="en-US" altLang="zh-CN" sz="2000" b="1" dirty="0">
                <a:solidFill>
                  <a:srgbClr val="C00000"/>
                </a:solidFill>
                <a:latin typeface="微软雅黑" pitchFamily="34" charset="-122"/>
                <a:ea typeface="微软雅黑" pitchFamily="34" charset="-122"/>
              </a:rPr>
              <a:t>UDP-MIB </a:t>
            </a:r>
            <a:r>
              <a:rPr lang="zh-CN" altLang="en-US" sz="2000" b="1" dirty="0" smtClean="0">
                <a:solidFill>
                  <a:srgbClr val="C00000"/>
                </a:solidFill>
                <a:latin typeface="微软雅黑" pitchFamily="34" charset="-122"/>
                <a:ea typeface="微软雅黑" pitchFamily="34" charset="-122"/>
              </a:rPr>
              <a:t>模块</a:t>
            </a:r>
            <a:r>
              <a:rPr lang="zh-CN" altLang="en-US" sz="2000" b="1" dirty="0">
                <a:latin typeface="微软雅黑" pitchFamily="34" charset="-122"/>
                <a:ea typeface="微软雅黑" pitchFamily="34" charset="-122"/>
              </a:rPr>
              <a:t>的部分内容：</a:t>
            </a:r>
            <a:endParaRPr lang="en-US" altLang="zh-CN" sz="2000" b="1" dirty="0">
              <a:latin typeface="微软雅黑" pitchFamily="34" charset="-122"/>
              <a:ea typeface="微软雅黑" pitchFamily="34" charset="-122"/>
            </a:endParaRPr>
          </a:p>
        </p:txBody>
      </p:sp>
      <p:sp>
        <p:nvSpPr>
          <p:cNvPr id="8"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管理信息库 </a:t>
            </a:r>
            <a:r>
              <a:rPr lang="en-US" altLang="zh-CN" sz="1100" b="1" dirty="0">
                <a:solidFill>
                  <a:srgbClr val="0070C0"/>
                </a:solidFill>
                <a:latin typeface="微软雅黑" pitchFamily="34" charset="-122"/>
                <a:ea typeface="微软雅黑" pitchFamily="34" charset="-122"/>
              </a:rPr>
              <a:t>MIB</a:t>
            </a:r>
          </a:p>
        </p:txBody>
      </p:sp>
      <p:sp>
        <p:nvSpPr>
          <p:cNvPr id="9" name="Text Box 3">
            <a:extLst>
              <a:ext uri="{FF2B5EF4-FFF2-40B4-BE49-F238E27FC236}">
                <a16:creationId xmlns:a16="http://schemas.microsoft.com/office/drawing/2014/main" id="{48526830-5841-D54E-80BC-8186D9254340}"/>
              </a:ext>
            </a:extLst>
          </p:cNvPr>
          <p:cNvSpPr txBox="1">
            <a:spLocks noChangeArrowheads="1"/>
          </p:cNvSpPr>
          <p:nvPr/>
        </p:nvSpPr>
        <p:spPr bwMode="auto">
          <a:xfrm>
            <a:off x="728413" y="2600696"/>
            <a:ext cx="7647237" cy="198515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50000"/>
              </a:spcBef>
            </a:pPr>
            <a:r>
              <a:rPr lang="en-US" altLang="zh-CN" b="1" dirty="0" smtClean="0">
                <a:solidFill>
                  <a:srgbClr val="0000A8"/>
                </a:solidFill>
              </a:rPr>
              <a:t>         O</a:t>
            </a:r>
            <a:r>
              <a:rPr lang="en-US" altLang="en-US" b="1" dirty="0" smtClean="0">
                <a:solidFill>
                  <a:srgbClr val="0000A8"/>
                </a:solidFill>
              </a:rPr>
              <a:t>ID              </a:t>
            </a:r>
            <a:r>
              <a:rPr lang="zh-CN" altLang="en-US" b="1" dirty="0" smtClean="0">
                <a:solidFill>
                  <a:srgbClr val="0000A8"/>
                </a:solidFill>
              </a:rPr>
              <a:t>名称</a:t>
            </a:r>
            <a:r>
              <a:rPr lang="en-US" altLang="en-US" b="1" dirty="0" smtClean="0">
                <a:solidFill>
                  <a:srgbClr val="0000A8"/>
                </a:solidFill>
              </a:rPr>
              <a:t>                      </a:t>
            </a:r>
            <a:r>
              <a:rPr lang="zh-CN" altLang="en-US" b="1" dirty="0" smtClean="0">
                <a:solidFill>
                  <a:srgbClr val="0000A8"/>
                </a:solidFill>
              </a:rPr>
              <a:t>数据类型</a:t>
            </a:r>
            <a:r>
              <a:rPr lang="en-US" altLang="en-US" b="1" dirty="0" smtClean="0">
                <a:solidFill>
                  <a:srgbClr val="0000A8"/>
                </a:solidFill>
              </a:rPr>
              <a:t>                      </a:t>
            </a:r>
            <a:r>
              <a:rPr lang="zh-CN" altLang="en-US" b="1" dirty="0" smtClean="0">
                <a:solidFill>
                  <a:srgbClr val="0000A8"/>
                </a:solidFill>
              </a:rPr>
              <a:t>描述</a:t>
            </a:r>
            <a:endParaRPr lang="en-US" altLang="en-US" b="1" dirty="0">
              <a:solidFill>
                <a:srgbClr val="0000A8"/>
              </a:solidFill>
            </a:endParaRPr>
          </a:p>
          <a:p>
            <a:pPr>
              <a:spcBef>
                <a:spcPts val="600"/>
              </a:spcBef>
            </a:pPr>
            <a:r>
              <a:rPr lang="en-US" altLang="en-US" sz="1600" b="1" dirty="0"/>
              <a:t>1.3.6.1.2.1.7.1     </a:t>
            </a:r>
            <a:r>
              <a:rPr lang="en-US" altLang="en-US" sz="1600" b="1" dirty="0" err="1"/>
              <a:t>UDPInDatagrams</a:t>
            </a:r>
            <a:r>
              <a:rPr lang="en-US" altLang="en-US" sz="1600" b="1" dirty="0"/>
              <a:t>      </a:t>
            </a:r>
            <a:r>
              <a:rPr lang="en-US" altLang="en-US" sz="1600" b="1" dirty="0" smtClean="0"/>
              <a:t>Counter32         </a:t>
            </a:r>
            <a:r>
              <a:rPr lang="zh-CN" altLang="en-US" sz="1600" b="1" dirty="0" smtClean="0"/>
              <a:t>成功</a:t>
            </a:r>
            <a:r>
              <a:rPr lang="zh-CN" altLang="en-US" sz="1600" b="1" dirty="0"/>
              <a:t>接收</a:t>
            </a:r>
            <a:r>
              <a:rPr lang="zh-CN" altLang="en-US" sz="1600" b="1" dirty="0" smtClean="0"/>
              <a:t>的</a:t>
            </a:r>
            <a:r>
              <a:rPr lang="en-US" altLang="zh-CN" sz="1600" b="1" dirty="0" smtClean="0"/>
              <a:t>UDP</a:t>
            </a:r>
            <a:r>
              <a:rPr lang="zh-CN" altLang="en-US" sz="1600" b="1" dirty="0" smtClean="0"/>
              <a:t>报文总数。</a:t>
            </a:r>
            <a:endParaRPr lang="en-US" altLang="en-US" sz="1600" b="1" dirty="0"/>
          </a:p>
          <a:p>
            <a:pPr>
              <a:spcBef>
                <a:spcPts val="600"/>
              </a:spcBef>
            </a:pPr>
            <a:r>
              <a:rPr lang="en-US" altLang="en-US" sz="1600" b="1" dirty="0"/>
              <a:t>1.3.6.1.2.1.7.2    </a:t>
            </a:r>
            <a:r>
              <a:rPr lang="en-US" altLang="en-US" sz="1600" b="1" dirty="0" smtClean="0"/>
              <a:t> </a:t>
            </a:r>
            <a:r>
              <a:rPr lang="en-US" altLang="en-US" sz="1600" b="1" dirty="0" err="1" smtClean="0"/>
              <a:t>UDPNoPorts</a:t>
            </a:r>
            <a:r>
              <a:rPr lang="en-US" altLang="en-US" sz="1600" b="1" dirty="0"/>
              <a:t>              </a:t>
            </a:r>
            <a:r>
              <a:rPr lang="en-US" altLang="en-US" sz="1600" b="1" dirty="0" smtClean="0"/>
              <a:t>Counter32         </a:t>
            </a:r>
            <a:r>
              <a:rPr lang="zh-CN" altLang="en-US" sz="1600" b="1" dirty="0" smtClean="0"/>
              <a:t>无</a:t>
            </a:r>
            <a:r>
              <a:rPr lang="zh-CN" altLang="en-US" sz="1600" b="1" dirty="0"/>
              <a:t>对应端口的</a:t>
            </a:r>
            <a:r>
              <a:rPr lang="zh-CN" altLang="en-US" sz="1600" b="1" dirty="0" smtClean="0"/>
              <a:t>报文数。</a:t>
            </a:r>
            <a:endParaRPr lang="en-US" altLang="en-US" sz="1600" b="1" dirty="0" smtClean="0"/>
          </a:p>
          <a:p>
            <a:pPr>
              <a:spcBef>
                <a:spcPts val="600"/>
              </a:spcBef>
            </a:pPr>
            <a:r>
              <a:rPr lang="en-US" altLang="en-US" sz="1600" b="1" dirty="0" smtClean="0"/>
              <a:t>1.3.6.1.2.1.7.3     </a:t>
            </a:r>
            <a:r>
              <a:rPr lang="en-US" altLang="en-US" sz="1600" b="1" dirty="0" err="1" smtClean="0"/>
              <a:t>UD</a:t>
            </a:r>
            <a:r>
              <a:rPr lang="en-US" altLang="zh-CN" sz="1600" b="1" dirty="0" err="1" smtClean="0"/>
              <a:t>P</a:t>
            </a:r>
            <a:r>
              <a:rPr lang="en-US" altLang="en-US" sz="1600" b="1" dirty="0" err="1" smtClean="0"/>
              <a:t>InErrors</a:t>
            </a:r>
            <a:r>
              <a:rPr lang="en-US" altLang="en-US" sz="1600" b="1" dirty="0" smtClean="0"/>
              <a:t>                 Counter32         </a:t>
            </a:r>
            <a:r>
              <a:rPr lang="zh-CN" altLang="en-US" sz="1600" b="1" dirty="0" smtClean="0"/>
              <a:t>接收</a:t>
            </a:r>
            <a:r>
              <a:rPr lang="zh-CN" altLang="en-US" sz="1600" b="1" dirty="0"/>
              <a:t>错误报文数</a:t>
            </a:r>
            <a:r>
              <a:rPr lang="zh-CN" altLang="en-US" sz="1600" b="1" dirty="0" smtClean="0"/>
              <a:t>。</a:t>
            </a:r>
            <a:endParaRPr lang="en-US" altLang="en-US" sz="1600" b="1" dirty="0" smtClean="0"/>
          </a:p>
          <a:p>
            <a:pPr>
              <a:spcBef>
                <a:spcPts val="600"/>
              </a:spcBef>
            </a:pPr>
            <a:r>
              <a:rPr lang="en-US" altLang="en-US" sz="1600" b="1" dirty="0" smtClean="0"/>
              <a:t>1.3.6.1.2.1.7.4     </a:t>
            </a:r>
            <a:r>
              <a:rPr lang="en-US" altLang="en-US" sz="1600" b="1" dirty="0" err="1"/>
              <a:t>UDPOutDatagrams</a:t>
            </a:r>
            <a:r>
              <a:rPr lang="en-US" altLang="en-US" sz="1600" b="1" dirty="0"/>
              <a:t>   </a:t>
            </a:r>
            <a:r>
              <a:rPr lang="en-US" altLang="en-US" sz="1600" b="1" dirty="0" smtClean="0"/>
              <a:t>Counter32         </a:t>
            </a:r>
            <a:r>
              <a:rPr lang="zh-CN" altLang="en-US" sz="1600" b="1" dirty="0" smtClean="0"/>
              <a:t>发送</a:t>
            </a:r>
            <a:r>
              <a:rPr lang="zh-CN" altLang="en-US" sz="1600" b="1" dirty="0"/>
              <a:t>的报文总数</a:t>
            </a:r>
            <a:r>
              <a:rPr lang="zh-CN" altLang="en-US" sz="1600" b="1" dirty="0" smtClean="0"/>
              <a:t>。</a:t>
            </a:r>
            <a:endParaRPr lang="en-US" altLang="en-US" sz="1600" b="1" dirty="0"/>
          </a:p>
          <a:p>
            <a:pPr>
              <a:spcBef>
                <a:spcPts val="600"/>
              </a:spcBef>
            </a:pPr>
            <a:r>
              <a:rPr lang="en-US" altLang="en-US" sz="1600" b="1" dirty="0"/>
              <a:t>1.3.6.1.2.1.7.5   </a:t>
            </a:r>
            <a:r>
              <a:rPr lang="en-US" altLang="en-US" sz="1600" b="1" dirty="0" smtClean="0"/>
              <a:t>  </a:t>
            </a:r>
            <a:r>
              <a:rPr lang="en-US" altLang="en-US" sz="1600" b="1" dirty="0"/>
              <a:t>udpTable	</a:t>
            </a:r>
            <a:r>
              <a:rPr lang="en-US" altLang="en-US" sz="1600" b="1" dirty="0" smtClean="0"/>
              <a:t>        SEQUENCE          </a:t>
            </a:r>
            <a:r>
              <a:rPr lang="zh-CN" altLang="en-US" sz="1600" b="1" dirty="0" smtClean="0"/>
              <a:t>当前</a:t>
            </a:r>
            <a:r>
              <a:rPr lang="zh-CN" altLang="en-US" sz="1600" b="1" dirty="0"/>
              <a:t>正在</a:t>
            </a:r>
            <a:r>
              <a:rPr lang="zh-CN" altLang="en-US" sz="1600" b="1" dirty="0" smtClean="0"/>
              <a:t>监听的 </a:t>
            </a:r>
            <a:r>
              <a:rPr lang="en-US" altLang="zh-CN" sz="1600" b="1" dirty="0"/>
              <a:t>UDP </a:t>
            </a:r>
            <a:r>
              <a:rPr lang="zh-CN" altLang="en-US" sz="1600" b="1" dirty="0" smtClean="0"/>
              <a:t>端口。</a:t>
            </a:r>
            <a:endParaRPr lang="en-US" altLang="en-US" sz="1600" b="1" dirty="0"/>
          </a:p>
        </p:txBody>
      </p:sp>
    </p:spTree>
    <p:custDataLst>
      <p:tags r:id="rId1"/>
    </p:custDataLst>
    <p:extLst>
      <p:ext uri="{BB962C8B-B14F-4D97-AF65-F5344CB8AC3E}">
        <p14:creationId xmlns:p14="http://schemas.microsoft.com/office/powerpoint/2010/main" val="20139503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animEffect transition="in" filter="fade">
                                      <p:cBhvr>
                                        <p:cTn id="11" dur="500"/>
                                        <p:tgtEl>
                                          <p:spTgt spid="7">
                                            <p:txEl>
                                              <p:pRg st="1" end="1"/>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7">
                                            <p:txEl>
                                              <p:pRg st="2" end="2"/>
                                            </p:txEl>
                                          </p:spTgt>
                                        </p:tgtEl>
                                        <p:attrNameLst>
                                          <p:attrName>style.visibility</p:attrName>
                                        </p:attrNameLst>
                                      </p:cBhvr>
                                      <p:to>
                                        <p:strVal val="visible"/>
                                      </p:to>
                                    </p:set>
                                    <p:animEffect transition="in" filter="fade">
                                      <p:cBhvr>
                                        <p:cTn id="16" dur="500"/>
                                        <p:tgtEl>
                                          <p:spTgt spid="7">
                                            <p:txEl>
                                              <p:pRg st="2" end="2"/>
                                            </p:txEl>
                                          </p:spTgt>
                                        </p:tgtEl>
                                      </p:cBhvr>
                                    </p:animEffec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488476" y="575260"/>
            <a:ext cx="41857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节点 </a:t>
            </a:r>
            <a:r>
              <a:rPr lang="en-US" altLang="zh-CN" sz="2000" b="1" dirty="0">
                <a:solidFill>
                  <a:schemeClr val="bg1"/>
                </a:solidFill>
                <a:latin typeface="微软雅黑" pitchFamily="34" charset="-122"/>
                <a:ea typeface="微软雅黑" pitchFamily="34" charset="-122"/>
              </a:rPr>
              <a:t>mib-2 </a:t>
            </a:r>
            <a:r>
              <a:rPr lang="zh-CN" altLang="en-US" sz="2000" b="1" dirty="0">
                <a:solidFill>
                  <a:schemeClr val="bg1"/>
                </a:solidFill>
                <a:latin typeface="微软雅黑" pitchFamily="34" charset="-122"/>
                <a:ea typeface="微软雅黑" pitchFamily="34" charset="-122"/>
              </a:rPr>
              <a:t>所包含的信息类别举例</a:t>
            </a:r>
          </a:p>
        </p:txBody>
      </p:sp>
      <p:graphicFrame>
        <p:nvGraphicFramePr>
          <p:cNvPr id="4" name="内容占位符 6"/>
          <p:cNvGraphicFramePr>
            <a:graphicFrameLocks/>
          </p:cNvGraphicFramePr>
          <p:nvPr>
            <p:extLst>
              <p:ext uri="{D42A27DB-BD31-4B8C-83A1-F6EECF244321}">
                <p14:modId xmlns:p14="http://schemas.microsoft.com/office/powerpoint/2010/main" val="2225917726"/>
              </p:ext>
            </p:extLst>
          </p:nvPr>
        </p:nvGraphicFramePr>
        <p:xfrm>
          <a:off x="556964" y="1054660"/>
          <a:ext cx="8048776" cy="2819906"/>
        </p:xfrm>
        <a:graphic>
          <a:graphicData uri="http://schemas.openxmlformats.org/drawingml/2006/table">
            <a:tbl>
              <a:tblPr/>
              <a:tblGrid>
                <a:gridCol w="2706000">
                  <a:extLst>
                    <a:ext uri="{9D8B030D-6E8A-4147-A177-3AD203B41FA5}">
                      <a16:colId xmlns:a16="http://schemas.microsoft.com/office/drawing/2014/main" val="20000"/>
                    </a:ext>
                  </a:extLst>
                </a:gridCol>
                <a:gridCol w="1155551">
                  <a:extLst>
                    <a:ext uri="{9D8B030D-6E8A-4147-A177-3AD203B41FA5}">
                      <a16:colId xmlns:a16="http://schemas.microsoft.com/office/drawing/2014/main" val="20001"/>
                    </a:ext>
                  </a:extLst>
                </a:gridCol>
                <a:gridCol w="4187225">
                  <a:extLst>
                    <a:ext uri="{9D8B030D-6E8A-4147-A177-3AD203B41FA5}">
                      <a16:colId xmlns:a16="http://schemas.microsoft.com/office/drawing/2014/main" val="20002"/>
                    </a:ext>
                  </a:extLst>
                </a:gridCol>
              </a:tblGrid>
              <a:tr h="369799">
                <a:tc>
                  <a:txBody>
                    <a:bodyPr/>
                    <a:lstStyle/>
                    <a:p>
                      <a:pPr algn="ctr" hangingPunct="0">
                        <a:lnSpc>
                          <a:spcPct val="100000"/>
                        </a:lnSpc>
                        <a:spcAft>
                          <a:spcPts val="0"/>
                        </a:spcAft>
                      </a:pPr>
                      <a:r>
                        <a:rPr lang="zh-CN" sz="1600" b="1" dirty="0">
                          <a:solidFill>
                            <a:schemeClr val="bg1"/>
                          </a:solidFill>
                          <a:effectLst/>
                          <a:latin typeface="微软雅黑" pitchFamily="34" charset="-122"/>
                          <a:ea typeface="微软雅黑" pitchFamily="34" charset="-122"/>
                        </a:rPr>
                        <a:t>类</a:t>
                      </a:r>
                      <a:r>
                        <a:rPr lang="en-US" sz="1600" b="1" dirty="0">
                          <a:solidFill>
                            <a:schemeClr val="bg1"/>
                          </a:solidFill>
                          <a:effectLst/>
                          <a:latin typeface="微软雅黑" pitchFamily="34" charset="-122"/>
                          <a:ea typeface="微软雅黑" pitchFamily="34" charset="-122"/>
                        </a:rPr>
                        <a:t>   </a:t>
                      </a:r>
                      <a:r>
                        <a:rPr lang="zh-CN" sz="1600" b="1" dirty="0">
                          <a:solidFill>
                            <a:schemeClr val="bg1"/>
                          </a:solidFill>
                          <a:effectLst/>
                          <a:latin typeface="微软雅黑" pitchFamily="34" charset="-122"/>
                          <a:ea typeface="微软雅黑" pitchFamily="34" charset="-122"/>
                        </a:rPr>
                        <a:t>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pitchFamily="34" charset="-122"/>
                          <a:ea typeface="微软雅黑" pitchFamily="34" charset="-122"/>
                        </a:rPr>
                        <a:t>标</a:t>
                      </a:r>
                      <a:r>
                        <a:rPr lang="en-US" sz="1600" b="1" dirty="0">
                          <a:solidFill>
                            <a:schemeClr val="bg1"/>
                          </a:solidFill>
                          <a:effectLst/>
                          <a:latin typeface="微软雅黑" pitchFamily="34" charset="-122"/>
                          <a:ea typeface="微软雅黑" pitchFamily="34" charset="-122"/>
                        </a:rPr>
                        <a:t>  </a:t>
                      </a:r>
                      <a:r>
                        <a:rPr lang="zh-CN" sz="1600" b="1" dirty="0">
                          <a:solidFill>
                            <a:schemeClr val="bg1"/>
                          </a:solidFill>
                          <a:effectLst/>
                          <a:latin typeface="微软雅黑" pitchFamily="34" charset="-122"/>
                          <a:ea typeface="微软雅黑" pitchFamily="34" charset="-122"/>
                        </a:rPr>
                        <a:t>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smtClean="0">
                          <a:solidFill>
                            <a:schemeClr val="bg1"/>
                          </a:solidFill>
                          <a:effectLst/>
                          <a:latin typeface="微软雅黑" pitchFamily="34" charset="-122"/>
                          <a:ea typeface="微软雅黑" pitchFamily="34" charset="-122"/>
                        </a:rPr>
                        <a:t>所包含的信息</a:t>
                      </a:r>
                      <a:endParaRPr lang="zh-CN" sz="16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95839">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system</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1600" b="1">
                          <a:effectLst/>
                          <a:latin typeface="微软雅黑" pitchFamily="34" charset="-122"/>
                          <a:ea typeface="微软雅黑" pitchFamily="34" charset="-122"/>
                        </a:rPr>
                        <a:t>(1)</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a:effectLst/>
                          <a:latin typeface="微软雅黑" pitchFamily="34" charset="-122"/>
                          <a:ea typeface="微软雅黑" pitchFamily="34" charset="-122"/>
                        </a:rPr>
                        <a:t>主机或路由器的操作系统</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95839">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interfaces</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(2)</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zh-CN" sz="1600" b="1" dirty="0">
                          <a:effectLst/>
                          <a:latin typeface="微软雅黑" pitchFamily="34" charset="-122"/>
                          <a:ea typeface="微软雅黑" pitchFamily="34" charset="-122"/>
                        </a:rPr>
                        <a:t>各种网络接口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79234">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at (address translation)</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(3)</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pitchFamily="34" charset="-122"/>
                          <a:ea typeface="微软雅黑" pitchFamily="34" charset="-122"/>
                        </a:rPr>
                        <a:t>地址转换（例如，</a:t>
                      </a:r>
                      <a:r>
                        <a:rPr lang="en-US" sz="1600" b="1" dirty="0" smtClean="0">
                          <a:effectLst/>
                          <a:latin typeface="微软雅黑" pitchFamily="34" charset="-122"/>
                          <a:ea typeface="微软雅黑" pitchFamily="34" charset="-122"/>
                        </a:rPr>
                        <a:t>ARP </a:t>
                      </a:r>
                      <a:r>
                        <a:rPr lang="zh-CN" sz="1600" b="1" dirty="0" smtClean="0">
                          <a:effectLst/>
                          <a:latin typeface="微软雅黑" pitchFamily="34" charset="-122"/>
                          <a:ea typeface="微软雅黑" pitchFamily="34" charset="-122"/>
                        </a:rPr>
                        <a:t>映射</a:t>
                      </a:r>
                      <a:r>
                        <a:rPr lang="zh-CN" sz="1600" b="1" dirty="0">
                          <a:effectLst/>
                          <a:latin typeface="微软雅黑" pitchFamily="34" charset="-122"/>
                          <a:ea typeface="微软雅黑"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ip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(4)</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IP </a:t>
                      </a:r>
                      <a:r>
                        <a:rPr lang="zh-CN" sz="1600" b="1" dirty="0" smtClean="0">
                          <a:effectLst/>
                          <a:latin typeface="微软雅黑" pitchFamily="34" charset="-122"/>
                          <a:ea typeface="微软雅黑" pitchFamily="34" charset="-122"/>
                        </a:rPr>
                        <a:t>软件</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95839">
                <a:tc>
                  <a:txBody>
                    <a:bodyPr/>
                    <a:lstStyle/>
                    <a:p>
                      <a:pPr algn="just" hangingPunct="0">
                        <a:lnSpc>
                          <a:spcPct val="100000"/>
                        </a:lnSpc>
                        <a:spcAft>
                          <a:spcPts val="0"/>
                        </a:spcAft>
                      </a:pPr>
                      <a:r>
                        <a:rPr lang="en-US" sz="1600" b="1">
                          <a:effectLst/>
                          <a:latin typeface="微软雅黑" pitchFamily="34" charset="-122"/>
                          <a:ea typeface="微软雅黑" pitchFamily="34" charset="-122"/>
                        </a:rPr>
                        <a:t>icmp</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(5)</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ICMP </a:t>
                      </a:r>
                      <a:r>
                        <a:rPr lang="zh-CN" sz="1600" b="1" dirty="0" smtClean="0">
                          <a:effectLst/>
                          <a:latin typeface="微软雅黑" pitchFamily="34" charset="-122"/>
                          <a:ea typeface="微软雅黑" pitchFamily="34" charset="-122"/>
                        </a:rPr>
                        <a:t>软件</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tcp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(6)</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TCP </a:t>
                      </a:r>
                      <a:r>
                        <a:rPr lang="zh-CN" sz="1600" b="1" dirty="0" smtClean="0">
                          <a:effectLst/>
                          <a:latin typeface="微软雅黑" pitchFamily="34" charset="-122"/>
                          <a:ea typeface="微软雅黑" pitchFamily="34" charset="-122"/>
                        </a:rPr>
                        <a:t>软件</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95839">
                <a:tc>
                  <a:txBody>
                    <a:bodyPr/>
                    <a:lstStyle/>
                    <a:p>
                      <a:pPr algn="just" hangingPunct="0">
                        <a:lnSpc>
                          <a:spcPct val="100000"/>
                        </a:lnSpc>
                        <a:spcAft>
                          <a:spcPts val="0"/>
                        </a:spcAft>
                      </a:pPr>
                      <a:r>
                        <a:rPr lang="en-US" sz="1600" b="1">
                          <a:effectLst/>
                          <a:latin typeface="微软雅黑" pitchFamily="34" charset="-122"/>
                          <a:ea typeface="微软雅黑" pitchFamily="34" charset="-122"/>
                        </a:rPr>
                        <a:t>udp</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(7)</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UDP </a:t>
                      </a:r>
                      <a:r>
                        <a:rPr lang="zh-CN" sz="1600" b="1" dirty="0" smtClean="0">
                          <a:effectLst/>
                          <a:latin typeface="微软雅黑" pitchFamily="34" charset="-122"/>
                          <a:ea typeface="微软雅黑" pitchFamily="34" charset="-122"/>
                        </a:rPr>
                        <a:t>软件</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egp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(8)</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itchFamily="34" charset="-122"/>
                          <a:ea typeface="微软雅黑" pitchFamily="34" charset="-122"/>
                        </a:rPr>
                        <a:t>EGP </a:t>
                      </a:r>
                      <a:r>
                        <a:rPr lang="zh-CN" sz="1600" b="1" dirty="0" smtClean="0">
                          <a:effectLst/>
                          <a:latin typeface="微软雅黑" pitchFamily="34" charset="-122"/>
                          <a:ea typeface="微软雅黑" pitchFamily="34" charset="-122"/>
                        </a:rPr>
                        <a:t>软件</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0102832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97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546458" y="582764"/>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MIB </a:t>
            </a:r>
            <a:r>
              <a:rPr lang="zh-CN" altLang="en-US" sz="2000" b="1" dirty="0" smtClean="0">
                <a:solidFill>
                  <a:schemeClr val="bg1"/>
                </a:solidFill>
                <a:latin typeface="微软雅黑" pitchFamily="34" charset="-122"/>
                <a:ea typeface="微软雅黑" pitchFamily="34" charset="-122"/>
              </a:rPr>
              <a:t>变量</a:t>
            </a:r>
            <a:r>
              <a:rPr lang="zh-CN" altLang="en-US" sz="2000" b="1" dirty="0">
                <a:solidFill>
                  <a:schemeClr val="bg1"/>
                </a:solidFill>
                <a:latin typeface="微软雅黑" pitchFamily="34" charset="-122"/>
                <a:ea typeface="微软雅黑" pitchFamily="34" charset="-122"/>
              </a:rPr>
              <a:t>的例子</a:t>
            </a:r>
          </a:p>
        </p:txBody>
      </p:sp>
      <p:graphicFrame>
        <p:nvGraphicFramePr>
          <p:cNvPr id="5" name="表格 4"/>
          <p:cNvGraphicFramePr>
            <a:graphicFrameLocks noGrp="1"/>
          </p:cNvGraphicFramePr>
          <p:nvPr>
            <p:extLst/>
          </p:nvPr>
        </p:nvGraphicFramePr>
        <p:xfrm>
          <a:off x="556963" y="1005312"/>
          <a:ext cx="8048776" cy="3336607"/>
        </p:xfrm>
        <a:graphic>
          <a:graphicData uri="http://schemas.openxmlformats.org/drawingml/2006/table">
            <a:tbl>
              <a:tblPr firstRow="1" bandRow="1">
                <a:tableStyleId>{BDBED569-4797-4DF1-A0F4-6AAB3CD982D8}</a:tableStyleId>
              </a:tblPr>
              <a:tblGrid>
                <a:gridCol w="2356125">
                  <a:extLst>
                    <a:ext uri="{9D8B030D-6E8A-4147-A177-3AD203B41FA5}">
                      <a16:colId xmlns:a16="http://schemas.microsoft.com/office/drawing/2014/main" val="20000"/>
                    </a:ext>
                  </a:extLst>
                </a:gridCol>
                <a:gridCol w="1581292">
                  <a:extLst>
                    <a:ext uri="{9D8B030D-6E8A-4147-A177-3AD203B41FA5}">
                      <a16:colId xmlns:a16="http://schemas.microsoft.com/office/drawing/2014/main" val="20001"/>
                    </a:ext>
                  </a:extLst>
                </a:gridCol>
                <a:gridCol w="4111359">
                  <a:extLst>
                    <a:ext uri="{9D8B030D-6E8A-4147-A177-3AD203B41FA5}">
                      <a16:colId xmlns:a16="http://schemas.microsoft.com/office/drawing/2014/main" val="20002"/>
                    </a:ext>
                  </a:extLst>
                </a:gridCol>
              </a:tblGrid>
              <a:tr h="229552">
                <a:tc>
                  <a:txBody>
                    <a:bodyPr/>
                    <a:lstStyle/>
                    <a:p>
                      <a:pPr algn="ctr" hangingPunct="0">
                        <a:lnSpc>
                          <a:spcPts val="1500"/>
                        </a:lnSpc>
                        <a:spcAft>
                          <a:spcPts val="0"/>
                        </a:spcAft>
                      </a:pPr>
                      <a:r>
                        <a:rPr lang="en-US" sz="1400" b="1" dirty="0">
                          <a:solidFill>
                            <a:schemeClr val="bg1"/>
                          </a:solidFill>
                          <a:effectLst/>
                          <a:latin typeface="微软雅黑" pitchFamily="34" charset="-122"/>
                          <a:ea typeface="微软雅黑" pitchFamily="34" charset="-122"/>
                        </a:rPr>
                        <a:t>MIB </a:t>
                      </a:r>
                      <a:r>
                        <a:rPr lang="zh-CN" sz="1400" b="1" dirty="0">
                          <a:solidFill>
                            <a:schemeClr val="bg1"/>
                          </a:solidFill>
                          <a:effectLst/>
                          <a:latin typeface="微软雅黑" pitchFamily="34" charset="-122"/>
                          <a:ea typeface="微软雅黑" pitchFamily="34" charset="-122"/>
                        </a:rPr>
                        <a:t>变量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itchFamily="34" charset="-122"/>
                          <a:ea typeface="微软雅黑" pitchFamily="34" charset="-122"/>
                        </a:rPr>
                        <a:t>所属类别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itchFamily="34" charset="-122"/>
                          <a:ea typeface="微软雅黑" pitchFamily="34" charset="-122"/>
                        </a:rPr>
                        <a:t>意</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义</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sysUpTime</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tabLst>
                          <a:tab pos="2637155" algn="ctr"/>
                          <a:tab pos="5274310" algn="r"/>
                          <a:tab pos="266700" algn="l"/>
                        </a:tabLst>
                      </a:pPr>
                      <a:r>
                        <a:rPr lang="en-US" sz="1200" b="1">
                          <a:effectLst/>
                          <a:latin typeface="微软雅黑" pitchFamily="34" charset="-122"/>
                          <a:ea typeface="微软雅黑" pitchFamily="34" charset="-122"/>
                        </a:rPr>
                        <a:t>system</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距上次重启动的时间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ifNumber</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interfaces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网络接口数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ifMtu</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a:effectLst/>
                          <a:latin typeface="微软雅黑" pitchFamily="34" charset="-122"/>
                          <a:ea typeface="微软雅黑" pitchFamily="34" charset="-122"/>
                        </a:rPr>
                        <a:t>interfaces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特定接口的最大传送</a:t>
                      </a:r>
                      <a:r>
                        <a:rPr lang="zh-CN" sz="1200" b="1" dirty="0" smtClean="0">
                          <a:effectLst/>
                          <a:latin typeface="微软雅黑" pitchFamily="34" charset="-122"/>
                          <a:ea typeface="微软雅黑" pitchFamily="34" charset="-122"/>
                        </a:rPr>
                        <a:t>单元</a:t>
                      </a:r>
                      <a:r>
                        <a:rPr lang="en-US" altLang="zh-CN" sz="1200" b="1" dirty="0" smtClean="0">
                          <a:effectLst/>
                          <a:latin typeface="微软雅黑" pitchFamily="34" charset="-122"/>
                          <a:ea typeface="微软雅黑" pitchFamily="34" charset="-122"/>
                        </a:rPr>
                        <a:t> </a:t>
                      </a:r>
                      <a:r>
                        <a:rPr lang="en-US" sz="1200" b="1" dirty="0" smtClean="0">
                          <a:effectLst/>
                          <a:latin typeface="微软雅黑" pitchFamily="34" charset="-122"/>
                          <a:ea typeface="微软雅黑" pitchFamily="34" charset="-122"/>
                        </a:rPr>
                        <a:t>MTU</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ipDefaultTTL</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pitchFamily="34" charset="-122"/>
                          <a:ea typeface="微软雅黑" pitchFamily="34" charset="-122"/>
                        </a:rPr>
                        <a:t>ip</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itchFamily="34" charset="-122"/>
                          <a:ea typeface="微软雅黑" pitchFamily="34" charset="-122"/>
                        </a:rPr>
                        <a:t>IP </a:t>
                      </a:r>
                      <a:r>
                        <a:rPr lang="zh-CN" sz="1200" b="1" dirty="0" smtClean="0">
                          <a:effectLst/>
                          <a:latin typeface="微软雅黑" pitchFamily="34" charset="-122"/>
                          <a:ea typeface="微软雅黑" pitchFamily="34" charset="-122"/>
                        </a:rPr>
                        <a:t>在</a:t>
                      </a:r>
                      <a:r>
                        <a:rPr lang="zh-CN" sz="1200" b="1" dirty="0">
                          <a:effectLst/>
                          <a:latin typeface="微软雅黑" pitchFamily="34" charset="-122"/>
                          <a:ea typeface="微软雅黑" pitchFamily="34" charset="-122"/>
                        </a:rPr>
                        <a:t>生存时间字段中使用的值</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ipInReceives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pitchFamily="34" charset="-122"/>
                          <a:ea typeface="微软雅黑" pitchFamily="34" charset="-122"/>
                        </a:rPr>
                        <a:t>ip</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接收到的数据报数目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ipForwDatagrams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转发的数据报数目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ipOutNoRoutes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路由选择失败的数目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ipReasmOKs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重装的数据报数目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ipFragOKs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分片的数据报数目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ipRoutingTable</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itchFamily="34" charset="-122"/>
                          <a:ea typeface="微软雅黑" pitchFamily="34" charset="-122"/>
                        </a:rPr>
                        <a:t>IP </a:t>
                      </a:r>
                      <a:r>
                        <a:rPr lang="zh-CN" sz="1200" b="1" dirty="0" smtClean="0">
                          <a:effectLst/>
                          <a:latin typeface="微软雅黑" pitchFamily="34" charset="-122"/>
                          <a:ea typeface="微软雅黑" pitchFamily="34" charset="-122"/>
                        </a:rPr>
                        <a:t>路由</a:t>
                      </a:r>
                      <a:r>
                        <a:rPr lang="zh-CN" sz="1200" b="1" dirty="0">
                          <a:effectLst/>
                          <a:latin typeface="微软雅黑" pitchFamily="34" charset="-122"/>
                          <a:ea typeface="微软雅黑" pitchFamily="34" charset="-122"/>
                        </a:rPr>
                        <a:t>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0"/>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icmpInEchos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icmp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收到</a:t>
                      </a:r>
                      <a:r>
                        <a:rPr lang="zh-CN" sz="1200" b="1" dirty="0" smtClean="0">
                          <a:effectLst/>
                          <a:latin typeface="微软雅黑" pitchFamily="34" charset="-122"/>
                          <a:ea typeface="微软雅黑" pitchFamily="34" charset="-122"/>
                        </a:rPr>
                        <a:t>的</a:t>
                      </a:r>
                      <a:r>
                        <a:rPr lang="en-US" altLang="zh-CN" sz="1200" b="1" dirty="0" smtClean="0">
                          <a:effectLst/>
                          <a:latin typeface="微软雅黑" pitchFamily="34" charset="-122"/>
                          <a:ea typeface="微软雅黑" pitchFamily="34" charset="-122"/>
                        </a:rPr>
                        <a:t> </a:t>
                      </a:r>
                      <a:r>
                        <a:rPr lang="en-US" sz="1200" b="1" dirty="0" smtClean="0">
                          <a:effectLst/>
                          <a:latin typeface="微软雅黑" pitchFamily="34" charset="-122"/>
                          <a:ea typeface="微软雅黑" pitchFamily="34" charset="-122"/>
                        </a:rPr>
                        <a:t>ICMP </a:t>
                      </a:r>
                      <a:r>
                        <a:rPr lang="zh-CN" sz="1200" b="1" dirty="0" smtClean="0">
                          <a:effectLst/>
                          <a:latin typeface="微软雅黑" pitchFamily="34" charset="-122"/>
                          <a:ea typeface="微软雅黑" pitchFamily="34" charset="-122"/>
                        </a:rPr>
                        <a:t>回送</a:t>
                      </a:r>
                      <a:r>
                        <a:rPr lang="zh-CN" sz="1200" b="1" dirty="0">
                          <a:effectLst/>
                          <a:latin typeface="微软雅黑" pitchFamily="34" charset="-122"/>
                          <a:ea typeface="微软雅黑" pitchFamily="34" charset="-122"/>
                        </a:rPr>
                        <a:t>请求数目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tcpRtoMin</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itchFamily="34" charset="-122"/>
                          <a:ea typeface="微软雅黑" pitchFamily="34" charset="-122"/>
                        </a:rPr>
                        <a:t>TCP </a:t>
                      </a:r>
                      <a:r>
                        <a:rPr lang="zh-CN" sz="1200" b="1" dirty="0" smtClean="0">
                          <a:effectLst/>
                          <a:latin typeface="微软雅黑" pitchFamily="34" charset="-122"/>
                          <a:ea typeface="微软雅黑" pitchFamily="34" charset="-122"/>
                        </a:rPr>
                        <a:t>允许</a:t>
                      </a:r>
                      <a:r>
                        <a:rPr lang="zh-CN" sz="1200" b="1" dirty="0">
                          <a:effectLst/>
                          <a:latin typeface="微软雅黑" pitchFamily="34" charset="-122"/>
                          <a:ea typeface="微软雅黑" pitchFamily="34" charset="-122"/>
                        </a:rPr>
                        <a:t>的最小重传时间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2"/>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tcpMaxConn</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允许的</a:t>
                      </a:r>
                      <a:r>
                        <a:rPr lang="zh-CN" sz="1200" b="1" dirty="0" smtClean="0">
                          <a:effectLst/>
                          <a:latin typeface="微软雅黑" pitchFamily="34" charset="-122"/>
                          <a:ea typeface="微软雅黑" pitchFamily="34" charset="-122"/>
                        </a:rPr>
                        <a:t>最大</a:t>
                      </a:r>
                      <a:r>
                        <a:rPr lang="en-US" altLang="zh-CN" sz="1200" b="1" dirty="0" smtClean="0">
                          <a:effectLst/>
                          <a:latin typeface="微软雅黑" pitchFamily="34" charset="-122"/>
                          <a:ea typeface="微软雅黑" pitchFamily="34" charset="-122"/>
                        </a:rPr>
                        <a:t> </a:t>
                      </a:r>
                      <a:r>
                        <a:rPr lang="en-US" sz="1200" b="1" dirty="0" smtClean="0">
                          <a:effectLst/>
                          <a:latin typeface="微软雅黑" pitchFamily="34" charset="-122"/>
                          <a:ea typeface="微软雅黑" pitchFamily="34" charset="-122"/>
                        </a:rPr>
                        <a:t>TCP </a:t>
                      </a:r>
                      <a:r>
                        <a:rPr lang="zh-CN" sz="1200" b="1" dirty="0" smtClean="0">
                          <a:effectLst/>
                          <a:latin typeface="微软雅黑" pitchFamily="34" charset="-122"/>
                          <a:ea typeface="微软雅黑" pitchFamily="34" charset="-122"/>
                        </a:rPr>
                        <a:t>连接</a:t>
                      </a:r>
                      <a:r>
                        <a:rPr lang="zh-CN" sz="1200" b="1" dirty="0">
                          <a:effectLst/>
                          <a:latin typeface="微软雅黑" pitchFamily="34" charset="-122"/>
                          <a:ea typeface="微软雅黑" pitchFamily="34" charset="-122"/>
                        </a:rPr>
                        <a:t>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tcpInSegs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已收到</a:t>
                      </a:r>
                      <a:r>
                        <a:rPr lang="zh-CN" sz="1200" b="1" dirty="0" smtClean="0">
                          <a:effectLst/>
                          <a:latin typeface="微软雅黑" pitchFamily="34" charset="-122"/>
                          <a:ea typeface="微软雅黑" pitchFamily="34" charset="-122"/>
                        </a:rPr>
                        <a:t>的</a:t>
                      </a:r>
                      <a:r>
                        <a:rPr lang="en-US" altLang="zh-CN" sz="1200" b="1" dirty="0" smtClean="0">
                          <a:effectLst/>
                          <a:latin typeface="微软雅黑" pitchFamily="34" charset="-122"/>
                          <a:ea typeface="微软雅黑" pitchFamily="34" charset="-122"/>
                        </a:rPr>
                        <a:t> </a:t>
                      </a:r>
                      <a:r>
                        <a:rPr lang="en-US" sz="1200" b="1" dirty="0" smtClean="0">
                          <a:effectLst/>
                          <a:latin typeface="微软雅黑" pitchFamily="34" charset="-122"/>
                          <a:ea typeface="微软雅黑" pitchFamily="34" charset="-122"/>
                        </a:rPr>
                        <a:t>TCP </a:t>
                      </a:r>
                      <a:r>
                        <a:rPr lang="zh-CN" sz="1200" b="1" dirty="0" smtClean="0">
                          <a:effectLst/>
                          <a:latin typeface="微软雅黑" pitchFamily="34" charset="-122"/>
                          <a:ea typeface="微软雅黑" pitchFamily="34" charset="-122"/>
                        </a:rPr>
                        <a:t>报文</a:t>
                      </a:r>
                      <a:r>
                        <a:rPr lang="zh-CN" sz="1200" b="1" dirty="0">
                          <a:effectLst/>
                          <a:latin typeface="微软雅黑" pitchFamily="34" charset="-122"/>
                          <a:ea typeface="微软雅黑" pitchFamily="34" charset="-122"/>
                        </a:rPr>
                        <a:t>段数目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4"/>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udpInDatagrams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udp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已收到</a:t>
                      </a:r>
                      <a:r>
                        <a:rPr lang="zh-CN" sz="1200" b="1" dirty="0" smtClean="0">
                          <a:effectLst/>
                          <a:latin typeface="微软雅黑" pitchFamily="34" charset="-122"/>
                          <a:ea typeface="微软雅黑" pitchFamily="34" charset="-122"/>
                        </a:rPr>
                        <a:t>的</a:t>
                      </a:r>
                      <a:r>
                        <a:rPr lang="en-US" altLang="zh-CN" sz="1200" b="1" dirty="0" smtClean="0">
                          <a:effectLst/>
                          <a:latin typeface="微软雅黑" pitchFamily="34" charset="-122"/>
                          <a:ea typeface="微软雅黑" pitchFamily="34" charset="-122"/>
                        </a:rPr>
                        <a:t> </a:t>
                      </a:r>
                      <a:r>
                        <a:rPr lang="en-US" sz="1200" b="1" dirty="0" smtClean="0">
                          <a:effectLst/>
                          <a:latin typeface="微软雅黑" pitchFamily="34" charset="-122"/>
                          <a:ea typeface="微软雅黑" pitchFamily="34" charset="-122"/>
                        </a:rPr>
                        <a:t>UDP </a:t>
                      </a:r>
                      <a:r>
                        <a:rPr lang="zh-CN" sz="1200" b="1" dirty="0" smtClean="0">
                          <a:effectLst/>
                          <a:latin typeface="微软雅黑" pitchFamily="34" charset="-122"/>
                          <a:ea typeface="微软雅黑" pitchFamily="34" charset="-122"/>
                        </a:rPr>
                        <a:t>数据报</a:t>
                      </a:r>
                      <a:r>
                        <a:rPr lang="zh-CN" sz="1200" b="1" dirty="0">
                          <a:effectLst/>
                          <a:latin typeface="微软雅黑" pitchFamily="34" charset="-122"/>
                          <a:ea typeface="微软雅黑" pitchFamily="34" charset="-122"/>
                        </a:rPr>
                        <a:t>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bl>
          </a:graphicData>
        </a:graphic>
      </p:graphicFrame>
    </p:spTree>
    <p:extLst>
      <p:ext uri="{BB962C8B-B14F-4D97-AF65-F5344CB8AC3E}">
        <p14:creationId xmlns:p14="http://schemas.microsoft.com/office/powerpoint/2010/main" val="8817361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 name="组合 178"/>
          <p:cNvGrpSpPr/>
          <p:nvPr/>
        </p:nvGrpSpPr>
        <p:grpSpPr>
          <a:xfrm>
            <a:off x="2975341" y="3420963"/>
            <a:ext cx="2489433" cy="627467"/>
            <a:chOff x="2975341" y="3420963"/>
            <a:chExt cx="2489433" cy="627467"/>
          </a:xfrm>
        </p:grpSpPr>
        <p:cxnSp>
          <p:nvCxnSpPr>
            <p:cNvPr id="134" name="直接箭头连接符 133"/>
            <p:cNvCxnSpPr>
              <a:stCxn id="80" idx="1"/>
            </p:cNvCxnSpPr>
            <p:nvPr/>
          </p:nvCxnSpPr>
          <p:spPr>
            <a:xfrm flipH="1">
              <a:off x="2975341" y="3420963"/>
              <a:ext cx="2489433" cy="444978"/>
            </a:xfrm>
            <a:prstGeom prst="straightConnector1">
              <a:avLst/>
            </a:prstGeom>
            <a:noFill/>
            <a:ln w="38100">
              <a:solidFill>
                <a:srgbClr val="C00000"/>
              </a:solidFill>
              <a:round/>
              <a:headEnd type="none" w="med" len="med"/>
              <a:tailEnd type="triangle" w="med" len="med"/>
            </a:ln>
            <a:effectLst/>
          </p:spPr>
        </p:cxnSp>
        <p:sp>
          <p:nvSpPr>
            <p:cNvPr id="131" name="Text Box 92">
              <a:extLst>
                <a:ext uri="{FF2B5EF4-FFF2-40B4-BE49-F238E27FC236}">
                  <a16:creationId xmlns:a16="http://schemas.microsoft.com/office/drawing/2014/main" id="{61B2E893-2A67-9343-AC5C-C0D5D199BF35}"/>
                </a:ext>
              </a:extLst>
            </p:cNvPr>
            <p:cNvSpPr txBox="1">
              <a:spLocks noChangeArrowheads="1"/>
            </p:cNvSpPr>
            <p:nvPr/>
          </p:nvSpPr>
          <p:spPr bwMode="auto">
            <a:xfrm rot="21088018">
              <a:off x="3654260" y="3679098"/>
              <a:ext cx="1181009"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spcBef>
                  <a:spcPct val="50000"/>
                </a:spcBef>
                <a:defRPr/>
              </a:pPr>
              <a:r>
                <a:rPr lang="en-US" dirty="0">
                  <a:solidFill>
                    <a:srgbClr val="CC0000"/>
                  </a:solidFill>
                  <a:latin typeface="Arial"/>
                  <a:cs typeface="Arial"/>
                </a:rPr>
                <a:t>response</a:t>
              </a:r>
            </a:p>
          </p:txBody>
        </p:sp>
      </p:grpSp>
      <p:sp>
        <p:nvSpPr>
          <p:cNvPr id="2" name="AutoShape 5"/>
          <p:cNvSpPr>
            <a:spLocks noChangeArrowheads="1"/>
          </p:cNvSpPr>
          <p:nvPr/>
        </p:nvSpPr>
        <p:spPr bwMode="auto">
          <a:xfrm>
            <a:off x="556963" y="616285"/>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56442" y="61059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smtClean="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的协议数据单元和</a:t>
            </a:r>
            <a:r>
              <a:rPr lang="zh-CN" altLang="en-US" sz="2000" b="1" dirty="0" smtClean="0">
                <a:solidFill>
                  <a:schemeClr val="bg1"/>
                </a:solidFill>
                <a:latin typeface="微软雅黑" pitchFamily="34" charset="-122"/>
                <a:ea typeface="微软雅黑" pitchFamily="34" charset="-122"/>
              </a:rPr>
              <a:t>报文</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1010503"/>
            <a:ext cx="812192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的操作只有</a:t>
            </a:r>
            <a:r>
              <a:rPr lang="zh-CN" altLang="en-US" sz="2000" b="1" dirty="0">
                <a:solidFill>
                  <a:srgbClr val="C00000"/>
                </a:solidFill>
                <a:latin typeface="微软雅黑" pitchFamily="34" charset="-122"/>
                <a:ea typeface="微软雅黑" pitchFamily="34" charset="-122"/>
              </a:rPr>
              <a:t>两种</a:t>
            </a:r>
            <a:r>
              <a:rPr lang="zh-CN" altLang="en-US" sz="2000" b="1" dirty="0">
                <a:latin typeface="微软雅黑" pitchFamily="34" charset="-122"/>
                <a:ea typeface="微软雅黑" pitchFamily="34" charset="-122"/>
              </a:rPr>
              <a:t>基本的管理功能：</a:t>
            </a:r>
          </a:p>
          <a:p>
            <a:pPr marL="633413"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读</a:t>
            </a:r>
            <a:r>
              <a:rPr lang="zh-CN" altLang="en-US" sz="2000" b="1" dirty="0">
                <a:latin typeface="微软雅黑" pitchFamily="34" charset="-122"/>
                <a:ea typeface="微软雅黑" pitchFamily="34" charset="-122"/>
              </a:rPr>
              <a:t>”操作，用 </a:t>
            </a:r>
            <a:r>
              <a:rPr lang="en-US" altLang="zh-CN" sz="2000" b="1" dirty="0" smtClean="0">
                <a:latin typeface="微软雅黑" pitchFamily="34" charset="-122"/>
                <a:ea typeface="微软雅黑" pitchFamily="34" charset="-122"/>
              </a:rPr>
              <a:t>Get </a:t>
            </a:r>
            <a:r>
              <a:rPr lang="zh-CN" altLang="en-US" sz="2000" b="1" dirty="0">
                <a:latin typeface="微软雅黑" pitchFamily="34" charset="-122"/>
                <a:ea typeface="微软雅黑" pitchFamily="34" charset="-122"/>
              </a:rPr>
              <a:t>报文</a:t>
            </a:r>
            <a:r>
              <a:rPr lang="zh-CN" altLang="en-US" sz="2000" b="1" dirty="0" smtClean="0">
                <a:latin typeface="微软雅黑" pitchFamily="34" charset="-122"/>
                <a:ea typeface="微软雅黑" pitchFamily="34" charset="-122"/>
              </a:rPr>
              <a:t>来获取各</a:t>
            </a:r>
            <a:r>
              <a:rPr lang="zh-CN" altLang="en-US" sz="2000" b="1" dirty="0">
                <a:latin typeface="微软雅黑" pitchFamily="34" charset="-122"/>
                <a:ea typeface="微软雅黑" pitchFamily="34" charset="-122"/>
              </a:rPr>
              <a:t>被管对象的状况；</a:t>
            </a:r>
          </a:p>
          <a:p>
            <a:pPr marL="633413"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写</a:t>
            </a:r>
            <a:r>
              <a:rPr lang="zh-CN" altLang="en-US" sz="2000" b="1" dirty="0">
                <a:latin typeface="微软雅黑" pitchFamily="34" charset="-122"/>
                <a:ea typeface="微软雅黑" pitchFamily="34" charset="-122"/>
              </a:rPr>
              <a:t>”操作，用 </a:t>
            </a:r>
            <a:r>
              <a:rPr lang="en-US" altLang="zh-CN" sz="2000" b="1" dirty="0" smtClean="0">
                <a:latin typeface="微软雅黑" pitchFamily="34" charset="-122"/>
                <a:ea typeface="微软雅黑" pitchFamily="34" charset="-122"/>
              </a:rPr>
              <a:t>Set </a:t>
            </a:r>
            <a:r>
              <a:rPr lang="zh-CN" altLang="en-US" sz="2000" b="1" dirty="0">
                <a:latin typeface="微软雅黑" pitchFamily="34" charset="-122"/>
                <a:ea typeface="微软雅黑" pitchFamily="34" charset="-122"/>
              </a:rPr>
              <a:t>报文</a:t>
            </a:r>
            <a:r>
              <a:rPr lang="zh-CN" altLang="en-US" sz="2000" b="1" dirty="0" smtClean="0">
                <a:latin typeface="微软雅黑" pitchFamily="34" charset="-122"/>
                <a:ea typeface="微软雅黑" pitchFamily="34" charset="-122"/>
              </a:rPr>
              <a:t>来修改各</a:t>
            </a:r>
            <a:r>
              <a:rPr lang="zh-CN" altLang="en-US" sz="2000" b="1" dirty="0">
                <a:latin typeface="微软雅黑" pitchFamily="34" charset="-122"/>
                <a:ea typeface="微软雅黑" pitchFamily="34" charset="-122"/>
              </a:rPr>
              <a:t>被管对象的状况。</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的这些功能通过</a:t>
            </a:r>
            <a:r>
              <a:rPr lang="zh-CN" altLang="en-US" sz="2000" b="1" dirty="0">
                <a:solidFill>
                  <a:srgbClr val="C00000"/>
                </a:solidFill>
                <a:latin typeface="微软雅黑" pitchFamily="34" charset="-122"/>
                <a:ea typeface="微软雅黑" pitchFamily="34" charset="-122"/>
              </a:rPr>
              <a:t>探询</a:t>
            </a:r>
            <a:r>
              <a:rPr lang="zh-CN" altLang="en-US" sz="2000" b="1" dirty="0">
                <a:latin typeface="微软雅黑" pitchFamily="34" charset="-122"/>
                <a:ea typeface="微软雅黑" pitchFamily="34" charset="-122"/>
              </a:rPr>
              <a:t>操作来实现。</a:t>
            </a:r>
          </a:p>
        </p:txBody>
      </p:sp>
      <p:sp>
        <p:nvSpPr>
          <p:cNvPr id="6"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
        <p:nvSpPr>
          <p:cNvPr id="14" name="Text Box 333">
            <a:extLst>
              <a:ext uri="{FF2B5EF4-FFF2-40B4-BE49-F238E27FC236}">
                <a16:creationId xmlns:a16="http://schemas.microsoft.com/office/drawing/2014/main" id="{17674724-E440-5747-92B8-86C1110106EB}"/>
              </a:ext>
            </a:extLst>
          </p:cNvPr>
          <p:cNvSpPr txBox="1">
            <a:spLocks noChangeArrowheads="1"/>
          </p:cNvSpPr>
          <p:nvPr/>
        </p:nvSpPr>
        <p:spPr bwMode="auto">
          <a:xfrm>
            <a:off x="4902609" y="4074961"/>
            <a:ext cx="902811"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zh-CN" altLang="en-US" sz="1400" dirty="0" smtClean="0">
                <a:solidFill>
                  <a:srgbClr val="000000"/>
                </a:solidFill>
                <a:latin typeface="Arial"/>
                <a:ea typeface="ＭＳ Ｐゴシック" charset="0"/>
                <a:cs typeface="Arial"/>
              </a:rPr>
              <a:t>被管对象</a:t>
            </a:r>
            <a:endParaRPr lang="en-US" sz="1400" dirty="0">
              <a:solidFill>
                <a:srgbClr val="000000"/>
              </a:solidFill>
              <a:latin typeface="Arial"/>
              <a:ea typeface="ＭＳ Ｐゴシック" charset="0"/>
              <a:cs typeface="Arial"/>
            </a:endParaRPr>
          </a:p>
        </p:txBody>
      </p:sp>
      <p:sp>
        <p:nvSpPr>
          <p:cNvPr id="78" name="Freeform 112">
            <a:extLst>
              <a:ext uri="{FF2B5EF4-FFF2-40B4-BE49-F238E27FC236}">
                <a16:creationId xmlns:a16="http://schemas.microsoft.com/office/drawing/2014/main" id="{E51A05DD-65D7-B34D-AD8D-CF776AFB1AEB}"/>
              </a:ext>
            </a:extLst>
          </p:cNvPr>
          <p:cNvSpPr/>
          <p:nvPr/>
        </p:nvSpPr>
        <p:spPr>
          <a:xfrm>
            <a:off x="5348366" y="3276744"/>
            <a:ext cx="316336" cy="64950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Oval 306">
            <a:extLst>
              <a:ext uri="{FF2B5EF4-FFF2-40B4-BE49-F238E27FC236}">
                <a16:creationId xmlns:a16="http://schemas.microsoft.com/office/drawing/2014/main" id="{2C11C1D0-E304-A744-9474-8F08FA8B9DD1}"/>
              </a:ext>
            </a:extLst>
          </p:cNvPr>
          <p:cNvSpPr>
            <a:spLocks noChangeArrowheads="1"/>
          </p:cNvSpPr>
          <p:nvPr/>
        </p:nvSpPr>
        <p:spPr bwMode="auto">
          <a:xfrm>
            <a:off x="5405332" y="3146117"/>
            <a:ext cx="1136438"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80" name="Text Box 302">
            <a:extLst>
              <a:ext uri="{FF2B5EF4-FFF2-40B4-BE49-F238E27FC236}">
                <a16:creationId xmlns:a16="http://schemas.microsoft.com/office/drawing/2014/main" id="{033CC2D1-C904-714D-AEB8-39E70A54DAA4}"/>
              </a:ext>
            </a:extLst>
          </p:cNvPr>
          <p:cNvSpPr txBox="1">
            <a:spLocks noChangeArrowheads="1"/>
          </p:cNvSpPr>
          <p:nvPr/>
        </p:nvSpPr>
        <p:spPr bwMode="auto">
          <a:xfrm>
            <a:off x="5464774" y="3267074"/>
            <a:ext cx="549993"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00"/>
                </a:solidFill>
                <a:effectLst/>
                <a:uLnTx/>
                <a:uFillTx/>
                <a:latin typeface="Arial"/>
                <a:ea typeface="ＭＳ Ｐゴシック" charset="0"/>
                <a:cs typeface="Arial"/>
              </a:rPr>
              <a:t>代理</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81" name="Group 115">
            <a:extLst>
              <a:ext uri="{FF2B5EF4-FFF2-40B4-BE49-F238E27FC236}">
                <a16:creationId xmlns:a16="http://schemas.microsoft.com/office/drawing/2014/main" id="{DEEA68B4-187F-5545-8F45-C59AF396F926}"/>
              </a:ext>
            </a:extLst>
          </p:cNvPr>
          <p:cNvGrpSpPr/>
          <p:nvPr/>
        </p:nvGrpSpPr>
        <p:grpSpPr>
          <a:xfrm>
            <a:off x="5903479" y="3241120"/>
            <a:ext cx="553236" cy="344384"/>
            <a:chOff x="7290003" y="1864426"/>
            <a:chExt cx="546945" cy="344384"/>
          </a:xfrm>
        </p:grpSpPr>
        <p:sp>
          <p:nvSpPr>
            <p:cNvPr id="82" name="Can 116">
              <a:extLst>
                <a:ext uri="{FF2B5EF4-FFF2-40B4-BE49-F238E27FC236}">
                  <a16:creationId xmlns:a16="http://schemas.microsoft.com/office/drawing/2014/main" id="{16B1EAAC-4363-604F-8A20-51D1F8EE2269}"/>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Text Box 305">
              <a:extLst>
                <a:ext uri="{FF2B5EF4-FFF2-40B4-BE49-F238E27FC236}">
                  <a16:creationId xmlns:a16="http://schemas.microsoft.com/office/drawing/2014/main" id="{4972F5B9-5A2C-5842-AAB9-4F1920AFC667}"/>
                </a:ext>
              </a:extLst>
            </p:cNvPr>
            <p:cNvSpPr txBox="1">
              <a:spLocks noChangeArrowheads="1"/>
            </p:cNvSpPr>
            <p:nvPr/>
          </p:nvSpPr>
          <p:spPr bwMode="auto">
            <a:xfrm>
              <a:off x="7290003" y="1889518"/>
              <a:ext cx="546945"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A8"/>
                  </a:solidFill>
                  <a:effectLst/>
                  <a:uLnTx/>
                  <a:uFillTx/>
                  <a:latin typeface="Arial"/>
                  <a:ea typeface="ＭＳ Ｐゴシック" charset="0"/>
                  <a:cs typeface="Arial"/>
                </a:rPr>
                <a:t>数据</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sp>
        <p:nvSpPr>
          <p:cNvPr id="22" name="Oval 280">
            <a:extLst>
              <a:ext uri="{FF2B5EF4-FFF2-40B4-BE49-F238E27FC236}">
                <a16:creationId xmlns:a16="http://schemas.microsoft.com/office/drawing/2014/main" id="{B58377D7-0FB3-AB44-9585-DACE157EBC93}"/>
              </a:ext>
            </a:extLst>
          </p:cNvPr>
          <p:cNvSpPr>
            <a:spLocks noChangeArrowheads="1"/>
          </p:cNvSpPr>
          <p:nvPr/>
        </p:nvSpPr>
        <p:spPr bwMode="auto">
          <a:xfrm>
            <a:off x="1604839" y="3449577"/>
            <a:ext cx="1382356"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 name="Text Box 276">
            <a:extLst>
              <a:ext uri="{FF2B5EF4-FFF2-40B4-BE49-F238E27FC236}">
                <a16:creationId xmlns:a16="http://schemas.microsoft.com/office/drawing/2014/main" id="{17AFC3D1-04B4-5A45-BCAA-B0426DBE5D54}"/>
              </a:ext>
            </a:extLst>
          </p:cNvPr>
          <p:cNvSpPr txBox="1">
            <a:spLocks noChangeArrowheads="1"/>
          </p:cNvSpPr>
          <p:nvPr/>
        </p:nvSpPr>
        <p:spPr bwMode="auto">
          <a:xfrm>
            <a:off x="1626408" y="3650786"/>
            <a:ext cx="1388467" cy="27546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00"/>
                </a:solidFill>
                <a:effectLst/>
                <a:uLnTx/>
                <a:uFillTx/>
                <a:ea typeface="ＭＳ Ｐゴシック" charset="0"/>
                <a:cs typeface="Arial"/>
              </a:rPr>
              <a:t>管理进程</a:t>
            </a:r>
            <a:endParaRPr kumimoji="0" lang="en-US" sz="1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69" name="Can 143">
            <a:extLst>
              <a:ext uri="{FF2B5EF4-FFF2-40B4-BE49-F238E27FC236}">
                <a16:creationId xmlns:a16="http://schemas.microsoft.com/office/drawing/2014/main" id="{07CA7064-144E-5D42-9D43-1ED456269C8E}"/>
              </a:ext>
            </a:extLst>
          </p:cNvPr>
          <p:cNvSpPr/>
          <p:nvPr/>
        </p:nvSpPr>
        <p:spPr>
          <a:xfrm>
            <a:off x="994950" y="3503429"/>
            <a:ext cx="897159" cy="62455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Text Box 305">
            <a:extLst>
              <a:ext uri="{FF2B5EF4-FFF2-40B4-BE49-F238E27FC236}">
                <a16:creationId xmlns:a16="http://schemas.microsoft.com/office/drawing/2014/main" id="{981B5001-7D42-9B44-9184-C6BEB0072082}"/>
              </a:ext>
            </a:extLst>
          </p:cNvPr>
          <p:cNvSpPr txBox="1">
            <a:spLocks noChangeArrowheads="1"/>
          </p:cNvSpPr>
          <p:nvPr/>
        </p:nvSpPr>
        <p:spPr bwMode="auto">
          <a:xfrm>
            <a:off x="1133124" y="3608672"/>
            <a:ext cx="638526"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lang="zh-CN" altLang="en-US" sz="1400" kern="0" dirty="0">
                <a:solidFill>
                  <a:srgbClr val="0000A8"/>
                </a:solidFill>
                <a:latin typeface="Arial"/>
                <a:ea typeface="ＭＳ Ｐゴシック" charset="0"/>
                <a:cs typeface="Arial"/>
              </a:rPr>
              <a:t>网管</a:t>
            </a:r>
            <a:r>
              <a:rPr kumimoji="0" lang="zh-CN" altLang="en-US" sz="1400" b="0" i="0" u="none" strike="noStrike" kern="0" cap="none" spc="0" normalizeH="0" baseline="0" noProof="0" dirty="0" smtClean="0">
                <a:ln>
                  <a:noFill/>
                </a:ln>
                <a:solidFill>
                  <a:srgbClr val="0000A8"/>
                </a:solidFill>
                <a:effectLst/>
                <a:uLnTx/>
                <a:uFillTx/>
                <a:latin typeface="Arial"/>
                <a:ea typeface="ＭＳ Ｐゴシック" charset="0"/>
                <a:cs typeface="Arial"/>
              </a:rPr>
              <a:t>数据</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nvGrpSpPr>
          <p:cNvPr id="25" name="Group 145">
            <a:extLst>
              <a:ext uri="{FF2B5EF4-FFF2-40B4-BE49-F238E27FC236}">
                <a16:creationId xmlns:a16="http://schemas.microsoft.com/office/drawing/2014/main" id="{1CDC5FDE-1AE2-D342-9D4E-42E29839C2E3}"/>
              </a:ext>
            </a:extLst>
          </p:cNvPr>
          <p:cNvGrpSpPr/>
          <p:nvPr/>
        </p:nvGrpSpPr>
        <p:grpSpPr>
          <a:xfrm>
            <a:off x="5045306" y="3650128"/>
            <a:ext cx="564098" cy="376905"/>
            <a:chOff x="7493876" y="2774731"/>
            <a:chExt cx="1481958" cy="894622"/>
          </a:xfrm>
        </p:grpSpPr>
        <p:sp>
          <p:nvSpPr>
            <p:cNvPr id="62" name="Freeform 146">
              <a:extLst>
                <a:ext uri="{FF2B5EF4-FFF2-40B4-BE49-F238E27FC236}">
                  <a16:creationId xmlns:a16="http://schemas.microsoft.com/office/drawing/2014/main" id="{9AABD5FD-2DEC-234A-9B0E-69F2A778EB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 name="Oval 147">
              <a:extLst>
                <a:ext uri="{FF2B5EF4-FFF2-40B4-BE49-F238E27FC236}">
                  <a16:creationId xmlns:a16="http://schemas.microsoft.com/office/drawing/2014/main" id="{AA4F8807-A5FE-8B4D-A49A-5411C381A7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 name="Group 148">
              <a:extLst>
                <a:ext uri="{FF2B5EF4-FFF2-40B4-BE49-F238E27FC236}">
                  <a16:creationId xmlns:a16="http://schemas.microsoft.com/office/drawing/2014/main" id="{838750EE-25BC-FD4E-B140-2B2701A1E599}"/>
                </a:ext>
              </a:extLst>
            </p:cNvPr>
            <p:cNvGrpSpPr/>
            <p:nvPr/>
          </p:nvGrpSpPr>
          <p:grpSpPr>
            <a:xfrm>
              <a:off x="7713663" y="2848339"/>
              <a:ext cx="1042107" cy="425543"/>
              <a:chOff x="7786941" y="2884917"/>
              <a:chExt cx="897649" cy="353919"/>
            </a:xfrm>
          </p:grpSpPr>
          <p:sp>
            <p:nvSpPr>
              <p:cNvPr id="65" name="Freeform 149">
                <a:extLst>
                  <a:ext uri="{FF2B5EF4-FFF2-40B4-BE49-F238E27FC236}">
                    <a16:creationId xmlns:a16="http://schemas.microsoft.com/office/drawing/2014/main" id="{941A678F-8CF8-3841-9F75-8297E8F9E4F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Freeform 150">
                <a:extLst>
                  <a:ext uri="{FF2B5EF4-FFF2-40B4-BE49-F238E27FC236}">
                    <a16:creationId xmlns:a16="http://schemas.microsoft.com/office/drawing/2014/main" id="{2AC9F9DD-DD98-C245-8971-E956DBC8AA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 name="Freeform 151">
                <a:extLst>
                  <a:ext uri="{FF2B5EF4-FFF2-40B4-BE49-F238E27FC236}">
                    <a16:creationId xmlns:a16="http://schemas.microsoft.com/office/drawing/2014/main" id="{1CB7DE4C-6976-9644-BF51-FD206A511E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152">
                <a:extLst>
                  <a:ext uri="{FF2B5EF4-FFF2-40B4-BE49-F238E27FC236}">
                    <a16:creationId xmlns:a16="http://schemas.microsoft.com/office/drawing/2014/main" id="{F565AFC9-E5E0-854F-8DD9-D262364E36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组合 177"/>
          <p:cNvGrpSpPr/>
          <p:nvPr/>
        </p:nvGrpSpPr>
        <p:grpSpPr>
          <a:xfrm>
            <a:off x="2970378" y="3130000"/>
            <a:ext cx="2482541" cy="560671"/>
            <a:chOff x="2970378" y="3130000"/>
            <a:chExt cx="2482541" cy="560671"/>
          </a:xfrm>
        </p:grpSpPr>
        <p:sp>
          <p:nvSpPr>
            <p:cNvPr id="127" name="Text Box 86">
              <a:extLst>
                <a:ext uri="{FF2B5EF4-FFF2-40B4-BE49-F238E27FC236}">
                  <a16:creationId xmlns:a16="http://schemas.microsoft.com/office/drawing/2014/main" id="{A2576985-4759-CD4C-AA65-7479E20FC15F}"/>
                </a:ext>
              </a:extLst>
            </p:cNvPr>
            <p:cNvSpPr txBox="1">
              <a:spLocks noChangeArrowheads="1"/>
            </p:cNvSpPr>
            <p:nvPr/>
          </p:nvSpPr>
          <p:spPr bwMode="auto">
            <a:xfrm rot="20975475">
              <a:off x="3611452" y="3130000"/>
              <a:ext cx="1079503" cy="3698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spcBef>
                  <a:spcPct val="50000"/>
                </a:spcBef>
                <a:defRPr/>
              </a:pPr>
              <a:r>
                <a:rPr lang="en-US" dirty="0">
                  <a:solidFill>
                    <a:srgbClr val="C00000"/>
                  </a:solidFill>
                  <a:latin typeface="Arial"/>
                  <a:cs typeface="Arial"/>
                </a:rPr>
                <a:t>request</a:t>
              </a:r>
            </a:p>
          </p:txBody>
        </p:sp>
        <p:cxnSp>
          <p:nvCxnSpPr>
            <p:cNvPr id="133" name="直接箭头连接符 132"/>
            <p:cNvCxnSpPr/>
            <p:nvPr/>
          </p:nvCxnSpPr>
          <p:spPr>
            <a:xfrm flipV="1">
              <a:off x="2970378" y="3315398"/>
              <a:ext cx="2482541" cy="375273"/>
            </a:xfrm>
            <a:prstGeom prst="straightConnector1">
              <a:avLst/>
            </a:prstGeom>
            <a:noFill/>
            <a:ln w="38100">
              <a:solidFill>
                <a:srgbClr val="C00000"/>
              </a:solidFill>
              <a:round/>
              <a:headEnd type="none" w="med" len="med"/>
              <a:tailEnd type="triangle" w="med" len="med"/>
            </a:ln>
            <a:effectLst/>
          </p:spPr>
        </p:cxnSp>
      </p:grpSp>
    </p:spTree>
    <p:custDataLst>
      <p:tags r:id="rId1"/>
    </p:custDataLst>
    <p:extLst>
      <p:ext uri="{BB962C8B-B14F-4D97-AF65-F5344CB8AC3E}">
        <p14:creationId xmlns:p14="http://schemas.microsoft.com/office/powerpoint/2010/main" val="41612903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3" end="3"/>
                                            </p:txEl>
                                          </p:spTgt>
                                        </p:tgtEl>
                                        <p:attrNameLst>
                                          <p:attrName>style.visibility</p:attrName>
                                        </p:attrNameLst>
                                      </p:cBhvr>
                                      <p:to>
                                        <p:strVal val="visible"/>
                                      </p:to>
                                    </p:set>
                                    <p:animEffect transition="in" filter="fade">
                                      <p:cBhvr>
                                        <p:cTn id="7" dur="500"/>
                                        <p:tgtEl>
                                          <p:spTgt spid="4">
                                            <p:txEl>
                                              <p:pRg st="3" end="3"/>
                                            </p:txEl>
                                          </p:spTgt>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78"/>
                                        </p:tgtEl>
                                        <p:attrNameLst>
                                          <p:attrName>style.visibility</p:attrName>
                                        </p:attrNameLst>
                                      </p:cBhvr>
                                      <p:to>
                                        <p:strVal val="visible"/>
                                      </p:to>
                                    </p:set>
                                    <p:animEffect transition="in" filter="wipe(down)">
                                      <p:cBhvr>
                                        <p:cTn id="11" dur="500"/>
                                        <p:tgtEl>
                                          <p:spTgt spid="178"/>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79"/>
                                        </p:tgtEl>
                                        <p:attrNameLst>
                                          <p:attrName>style.visibility</p:attrName>
                                        </p:attrNameLst>
                                      </p:cBhvr>
                                      <p:to>
                                        <p:strVal val="visible"/>
                                      </p:to>
                                    </p:set>
                                    <p:animEffect transition="in" filter="wipe(right)">
                                      <p:cBhvr>
                                        <p:cTn id="15" dur="500"/>
                                        <p:tgtEl>
                                          <p:spTgt spid="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82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406996" y="581618"/>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的探询操作</a:t>
            </a:r>
          </a:p>
        </p:txBody>
      </p:sp>
      <p:sp>
        <p:nvSpPr>
          <p:cNvPr id="4" name="Rectangle 68"/>
          <p:cNvSpPr>
            <a:spLocks noChangeArrowheads="1"/>
          </p:cNvSpPr>
          <p:nvPr/>
        </p:nvSpPr>
        <p:spPr bwMode="auto">
          <a:xfrm>
            <a:off x="483810" y="980324"/>
            <a:ext cx="8121929"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管理进程</a:t>
            </a:r>
            <a:r>
              <a:rPr lang="zh-CN" altLang="en-US" sz="2000" b="1" dirty="0">
                <a:solidFill>
                  <a:srgbClr val="C00000"/>
                </a:solidFill>
                <a:latin typeface="微软雅黑" pitchFamily="34" charset="-122"/>
                <a:ea typeface="微软雅黑" pitchFamily="34" charset="-122"/>
              </a:rPr>
              <a:t>定时</a:t>
            </a:r>
            <a:r>
              <a:rPr lang="zh-CN" altLang="en-US" sz="2000" b="1" dirty="0">
                <a:latin typeface="微软雅黑" pitchFamily="34" charset="-122"/>
                <a:ea typeface="微软雅黑" pitchFamily="34" charset="-122"/>
              </a:rPr>
              <a:t>向被管理设备</a:t>
            </a:r>
            <a:r>
              <a:rPr lang="zh-CN" altLang="en-US" sz="2000" b="1" dirty="0">
                <a:solidFill>
                  <a:srgbClr val="C00000"/>
                </a:solidFill>
                <a:latin typeface="微软雅黑" pitchFamily="34" charset="-122"/>
                <a:ea typeface="微软雅黑" pitchFamily="34" charset="-122"/>
              </a:rPr>
              <a:t>周期性</a:t>
            </a:r>
            <a:r>
              <a:rPr lang="zh-CN" altLang="en-US" sz="2000" b="1" dirty="0">
                <a:latin typeface="微软雅黑" pitchFamily="34" charset="-122"/>
                <a:ea typeface="微软雅黑" pitchFamily="34" charset="-122"/>
              </a:rPr>
              <a:t>地发送探询信息。</a:t>
            </a:r>
          </a:p>
          <a:p>
            <a:pPr marL="342900" indent="-34290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好处：</a:t>
            </a:r>
            <a:endParaRPr lang="zh-CN" altLang="en-US" sz="2000" b="1" dirty="0">
              <a:solidFill>
                <a:srgbClr val="C00000"/>
              </a:solidFill>
              <a:latin typeface="微软雅黑" pitchFamily="34" charset="-122"/>
              <a:ea typeface="微软雅黑" pitchFamily="34" charset="-122"/>
            </a:endParaRPr>
          </a:p>
          <a:p>
            <a:pPr marL="715963" indent="-342900"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可使系统相对简单。</a:t>
            </a:r>
          </a:p>
          <a:p>
            <a:pPr marL="715963" indent="-342900"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能限制通过网络所产生的管理信息的通信量。</a:t>
            </a:r>
          </a:p>
          <a:p>
            <a:pPr marL="342900" indent="-342900" eaLnBrk="0" hangingPunct="0">
              <a:lnSpc>
                <a:spcPts val="30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缺点：</a:t>
            </a:r>
            <a:endParaRPr lang="en-US" altLang="zh-CN" sz="2000" b="1" dirty="0" smtClean="0">
              <a:solidFill>
                <a:srgbClr val="0000FF"/>
              </a:solidFill>
              <a:latin typeface="微软雅黑" pitchFamily="34" charset="-122"/>
              <a:ea typeface="微软雅黑"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不够灵活，而且所能管理的设备数目不能太多。</a:t>
            </a:r>
            <a:endParaRPr lang="en-US" altLang="zh-CN" sz="2000" b="1" dirty="0">
              <a:latin typeface="微软雅黑" pitchFamily="34" charset="-122"/>
              <a:ea typeface="微软雅黑"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开销也较大。</a:t>
            </a:r>
          </a:p>
        </p:txBody>
      </p:sp>
      <p:sp>
        <p:nvSpPr>
          <p:cNvPr id="5"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Tree>
    <p:custDataLst>
      <p:tags r:id="rId1"/>
    </p:custDataLst>
    <p:extLst>
      <p:ext uri="{BB962C8B-B14F-4D97-AF65-F5344CB8AC3E}">
        <p14:creationId xmlns:p14="http://schemas.microsoft.com/office/powerpoint/2010/main" val="27567691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4" end="4"/>
                                            </p:txEl>
                                          </p:spTgt>
                                        </p:tgtEl>
                                        <p:attrNameLst>
                                          <p:attrName>style.visibility</p:attrName>
                                        </p:attrNameLst>
                                      </p:cBhvr>
                                      <p:to>
                                        <p:strVal val="visible"/>
                                      </p:to>
                                    </p:set>
                                    <p:animEffect transition="in" filter="fade">
                                      <p:cBhvr>
                                        <p:cTn id="7" dur="500"/>
                                        <p:tgtEl>
                                          <p:spTgt spid="4">
                                            <p:txEl>
                                              <p:pRg st="4" end="4"/>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5" end="5"/>
                                            </p:txEl>
                                          </p:spTgt>
                                        </p:tgtEl>
                                        <p:attrNameLst>
                                          <p:attrName>style.visibility</p:attrName>
                                        </p:attrNameLst>
                                      </p:cBhvr>
                                      <p:to>
                                        <p:strVal val="visible"/>
                                      </p:to>
                                    </p:set>
                                    <p:animEffect transition="in" filter="fade">
                                      <p:cBhvr>
                                        <p:cTn id="10" dur="500"/>
                                        <p:tgtEl>
                                          <p:spTgt spid="4">
                                            <p:txEl>
                                              <p:pRg st="5" end="5"/>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4">
                                            <p:txEl>
                                              <p:pRg st="6" end="6"/>
                                            </p:txEl>
                                          </p:spTgt>
                                        </p:tgtEl>
                                        <p:attrNameLst>
                                          <p:attrName>style.visibility</p:attrName>
                                        </p:attrNameLst>
                                      </p:cBhvr>
                                      <p:to>
                                        <p:strVal val="visible"/>
                                      </p:to>
                                    </p:set>
                                    <p:animEffect transition="in" filter="fade">
                                      <p:cBhvr>
                                        <p:cTn id="13" dur="500"/>
                                        <p:tgtEl>
                                          <p:spTgt spid="4">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827784" y="576800"/>
            <a:ext cx="15071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陷阱 </a:t>
            </a:r>
            <a:r>
              <a:rPr lang="en-US" altLang="zh-CN" sz="2000" b="1" dirty="0" smtClean="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trap)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1101"/>
            <a:ext cx="7914376" cy="257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SNMP </a:t>
            </a:r>
            <a:r>
              <a:rPr lang="zh-CN" altLang="en-US" b="1" dirty="0" smtClean="0">
                <a:latin typeface="微软雅黑" pitchFamily="34" charset="-122"/>
                <a:ea typeface="微软雅黑" pitchFamily="34" charset="-122"/>
              </a:rPr>
              <a:t>也允许</a:t>
            </a:r>
            <a:r>
              <a:rPr lang="zh-CN" altLang="en-US" b="1" dirty="0">
                <a:solidFill>
                  <a:srgbClr val="C00000"/>
                </a:solidFill>
                <a:latin typeface="微软雅黑" pitchFamily="34" charset="-122"/>
                <a:ea typeface="微软雅黑" pitchFamily="34" charset="-122"/>
              </a:rPr>
              <a:t>不经过询问</a:t>
            </a:r>
            <a:r>
              <a:rPr lang="zh-CN" altLang="en-US" b="1" dirty="0">
                <a:latin typeface="微软雅黑" pitchFamily="34" charset="-122"/>
                <a:ea typeface="微软雅黑" pitchFamily="34" charset="-122"/>
              </a:rPr>
              <a:t>就能发送某些信息。这种信息称为</a:t>
            </a:r>
            <a:r>
              <a:rPr lang="zh-CN" altLang="en-US" b="1" dirty="0" smtClean="0">
                <a:solidFill>
                  <a:srgbClr val="C00000"/>
                </a:solidFill>
                <a:latin typeface="微软雅黑" pitchFamily="34" charset="-122"/>
                <a:ea typeface="微软雅黑" pitchFamily="34" charset="-122"/>
              </a:rPr>
              <a:t>陷阱 ，</a:t>
            </a:r>
            <a:r>
              <a:rPr lang="zh-CN" altLang="en-US" b="1" dirty="0">
                <a:latin typeface="微软雅黑" pitchFamily="34" charset="-122"/>
                <a:ea typeface="微软雅黑" pitchFamily="34" charset="-122"/>
              </a:rPr>
              <a:t>表示它能够捕捉“事件”。</a:t>
            </a:r>
          </a:p>
          <a:p>
            <a:pPr marL="342900" indent="-34290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当</a:t>
            </a:r>
            <a:r>
              <a:rPr lang="zh-CN" altLang="en-US" b="1" dirty="0">
                <a:latin typeface="微软雅黑" pitchFamily="34" charset="-122"/>
                <a:ea typeface="微软雅黑" pitchFamily="34" charset="-122"/>
              </a:rPr>
              <a:t>被管对象的代理检测到有事件发生时，就检查其门限值。代理只向管理进程报告达到某些门限值的事件（即</a:t>
            </a:r>
            <a:r>
              <a:rPr lang="zh-CN" altLang="en-US" b="1" dirty="0">
                <a:solidFill>
                  <a:srgbClr val="C00000"/>
                </a:solidFill>
                <a:latin typeface="微软雅黑" pitchFamily="34" charset="-122"/>
                <a:ea typeface="微软雅黑" pitchFamily="34" charset="-122"/>
              </a:rPr>
              <a:t>过滤</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过滤</a:t>
            </a:r>
            <a:r>
              <a:rPr lang="zh-CN" altLang="en-US" b="1" dirty="0">
                <a:latin typeface="微软雅黑" pitchFamily="34" charset="-122"/>
                <a:ea typeface="微软雅黑" pitchFamily="34" charset="-122"/>
              </a:rPr>
              <a:t>的</a:t>
            </a:r>
            <a:r>
              <a:rPr lang="zh-CN" altLang="en-US" b="1" dirty="0" smtClean="0">
                <a:latin typeface="微软雅黑" pitchFamily="34" charset="-122"/>
                <a:ea typeface="微软雅黑" pitchFamily="34" charset="-122"/>
              </a:rPr>
              <a:t>好处：</a:t>
            </a:r>
            <a:endParaRPr lang="zh-CN" altLang="en-US" b="1" dirty="0">
              <a:latin typeface="微软雅黑" pitchFamily="34" charset="-122"/>
              <a:ea typeface="微软雅黑" pitchFamily="34" charset="-122"/>
            </a:endParaRPr>
          </a:p>
          <a:p>
            <a:pPr marL="715963" indent="-342900" hangingPunct="0">
              <a:lnSpc>
                <a:spcPts val="2800"/>
              </a:lnSpc>
              <a:buClr>
                <a:srgbClr val="800080"/>
              </a:buClr>
              <a:buFont typeface="+mj-lt"/>
              <a:buAutoNum type="arabicPeriod"/>
            </a:pPr>
            <a:r>
              <a:rPr lang="zh-CN" altLang="en-US" b="1" dirty="0">
                <a:latin typeface="微软雅黑" pitchFamily="34" charset="-122"/>
                <a:ea typeface="微软雅黑" pitchFamily="34" charset="-122"/>
              </a:rPr>
              <a:t>仅在严重事件发生时才发送陷阱；</a:t>
            </a:r>
          </a:p>
          <a:p>
            <a:pPr marL="715963" indent="-342900" hangingPunct="0">
              <a:lnSpc>
                <a:spcPts val="2800"/>
              </a:lnSpc>
              <a:buClr>
                <a:srgbClr val="800080"/>
              </a:buClr>
              <a:buFont typeface="+mj-lt"/>
              <a:buAutoNum type="arabicPeriod"/>
            </a:pPr>
            <a:r>
              <a:rPr lang="zh-CN" altLang="en-US" b="1" dirty="0">
                <a:latin typeface="微软雅黑" pitchFamily="34" charset="-122"/>
                <a:ea typeface="微软雅黑" pitchFamily="34" charset="-122"/>
              </a:rPr>
              <a:t>陷阱信息很简单且所需字节数很少。 </a:t>
            </a:r>
          </a:p>
        </p:txBody>
      </p:sp>
      <p:sp>
        <p:nvSpPr>
          <p:cNvPr id="5"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
        <p:nvSpPr>
          <p:cNvPr id="55" name="Text Box 333">
            <a:extLst>
              <a:ext uri="{FF2B5EF4-FFF2-40B4-BE49-F238E27FC236}">
                <a16:creationId xmlns:a16="http://schemas.microsoft.com/office/drawing/2014/main" id="{17674724-E440-5747-92B8-86C1110106EB}"/>
              </a:ext>
            </a:extLst>
          </p:cNvPr>
          <p:cNvSpPr txBox="1">
            <a:spLocks noChangeArrowheads="1"/>
          </p:cNvSpPr>
          <p:nvPr/>
        </p:nvSpPr>
        <p:spPr bwMode="auto">
          <a:xfrm>
            <a:off x="6020209" y="4430561"/>
            <a:ext cx="902811"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zh-CN" altLang="en-US" sz="1400" dirty="0" smtClean="0">
                <a:solidFill>
                  <a:srgbClr val="000000"/>
                </a:solidFill>
                <a:latin typeface="Arial"/>
                <a:ea typeface="ＭＳ Ｐゴシック" charset="0"/>
                <a:cs typeface="Arial"/>
              </a:rPr>
              <a:t>被管对象</a:t>
            </a:r>
            <a:endParaRPr lang="en-US" sz="1400" dirty="0">
              <a:solidFill>
                <a:srgbClr val="000000"/>
              </a:solidFill>
              <a:latin typeface="Arial"/>
              <a:ea typeface="ＭＳ Ｐゴシック" charset="0"/>
              <a:cs typeface="Arial"/>
            </a:endParaRPr>
          </a:p>
        </p:txBody>
      </p:sp>
      <p:sp>
        <p:nvSpPr>
          <p:cNvPr id="56" name="Freeform 112">
            <a:extLst>
              <a:ext uri="{FF2B5EF4-FFF2-40B4-BE49-F238E27FC236}">
                <a16:creationId xmlns:a16="http://schemas.microsoft.com/office/drawing/2014/main" id="{E51A05DD-65D7-B34D-AD8D-CF776AFB1AEB}"/>
              </a:ext>
            </a:extLst>
          </p:cNvPr>
          <p:cNvSpPr/>
          <p:nvPr/>
        </p:nvSpPr>
        <p:spPr>
          <a:xfrm>
            <a:off x="6465966" y="3632344"/>
            <a:ext cx="316336" cy="64950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Oval 306">
            <a:extLst>
              <a:ext uri="{FF2B5EF4-FFF2-40B4-BE49-F238E27FC236}">
                <a16:creationId xmlns:a16="http://schemas.microsoft.com/office/drawing/2014/main" id="{2C11C1D0-E304-A744-9474-8F08FA8B9DD1}"/>
              </a:ext>
            </a:extLst>
          </p:cNvPr>
          <p:cNvSpPr>
            <a:spLocks noChangeArrowheads="1"/>
          </p:cNvSpPr>
          <p:nvPr/>
        </p:nvSpPr>
        <p:spPr bwMode="auto">
          <a:xfrm>
            <a:off x="6522932" y="3501717"/>
            <a:ext cx="1136438"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8" name="Text Box 302">
            <a:extLst>
              <a:ext uri="{FF2B5EF4-FFF2-40B4-BE49-F238E27FC236}">
                <a16:creationId xmlns:a16="http://schemas.microsoft.com/office/drawing/2014/main" id="{033CC2D1-C904-714D-AEB8-39E70A54DAA4}"/>
              </a:ext>
            </a:extLst>
          </p:cNvPr>
          <p:cNvSpPr txBox="1">
            <a:spLocks noChangeArrowheads="1"/>
          </p:cNvSpPr>
          <p:nvPr/>
        </p:nvSpPr>
        <p:spPr bwMode="auto">
          <a:xfrm>
            <a:off x="6582374" y="3622674"/>
            <a:ext cx="549993"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00"/>
                </a:solidFill>
                <a:effectLst/>
                <a:uLnTx/>
                <a:uFillTx/>
                <a:latin typeface="Arial"/>
                <a:ea typeface="ＭＳ Ｐゴシック" charset="0"/>
                <a:cs typeface="Arial"/>
              </a:rPr>
              <a:t>代理</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9" name="Group 115">
            <a:extLst>
              <a:ext uri="{FF2B5EF4-FFF2-40B4-BE49-F238E27FC236}">
                <a16:creationId xmlns:a16="http://schemas.microsoft.com/office/drawing/2014/main" id="{DEEA68B4-187F-5545-8F45-C59AF396F926}"/>
              </a:ext>
            </a:extLst>
          </p:cNvPr>
          <p:cNvGrpSpPr/>
          <p:nvPr/>
        </p:nvGrpSpPr>
        <p:grpSpPr>
          <a:xfrm>
            <a:off x="7021079" y="3596720"/>
            <a:ext cx="553236" cy="344384"/>
            <a:chOff x="7290003" y="1864426"/>
            <a:chExt cx="546945" cy="344384"/>
          </a:xfrm>
        </p:grpSpPr>
        <p:sp>
          <p:nvSpPr>
            <p:cNvPr id="60" name="Can 116">
              <a:extLst>
                <a:ext uri="{FF2B5EF4-FFF2-40B4-BE49-F238E27FC236}">
                  <a16:creationId xmlns:a16="http://schemas.microsoft.com/office/drawing/2014/main" id="{16B1EAAC-4363-604F-8A20-51D1F8EE2269}"/>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Text Box 305">
              <a:extLst>
                <a:ext uri="{FF2B5EF4-FFF2-40B4-BE49-F238E27FC236}">
                  <a16:creationId xmlns:a16="http://schemas.microsoft.com/office/drawing/2014/main" id="{4972F5B9-5A2C-5842-AAB9-4F1920AFC667}"/>
                </a:ext>
              </a:extLst>
            </p:cNvPr>
            <p:cNvSpPr txBox="1">
              <a:spLocks noChangeArrowheads="1"/>
            </p:cNvSpPr>
            <p:nvPr/>
          </p:nvSpPr>
          <p:spPr bwMode="auto">
            <a:xfrm>
              <a:off x="7290003" y="1889518"/>
              <a:ext cx="546945"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A8"/>
                  </a:solidFill>
                  <a:effectLst/>
                  <a:uLnTx/>
                  <a:uFillTx/>
                  <a:latin typeface="Arial"/>
                  <a:ea typeface="ＭＳ Ｐゴシック" charset="0"/>
                  <a:cs typeface="Arial"/>
                </a:rPr>
                <a:t>数据</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sp>
        <p:nvSpPr>
          <p:cNvPr id="62" name="Oval 280">
            <a:extLst>
              <a:ext uri="{FF2B5EF4-FFF2-40B4-BE49-F238E27FC236}">
                <a16:creationId xmlns:a16="http://schemas.microsoft.com/office/drawing/2014/main" id="{B58377D7-0FB3-AB44-9585-DACE157EBC93}"/>
              </a:ext>
            </a:extLst>
          </p:cNvPr>
          <p:cNvSpPr>
            <a:spLocks noChangeArrowheads="1"/>
          </p:cNvSpPr>
          <p:nvPr/>
        </p:nvSpPr>
        <p:spPr bwMode="auto">
          <a:xfrm>
            <a:off x="3306639" y="3805177"/>
            <a:ext cx="1382356"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3" name="Text Box 276">
            <a:extLst>
              <a:ext uri="{FF2B5EF4-FFF2-40B4-BE49-F238E27FC236}">
                <a16:creationId xmlns:a16="http://schemas.microsoft.com/office/drawing/2014/main" id="{17AFC3D1-04B4-5A45-BCAA-B0426DBE5D54}"/>
              </a:ext>
            </a:extLst>
          </p:cNvPr>
          <p:cNvSpPr txBox="1">
            <a:spLocks noChangeArrowheads="1"/>
          </p:cNvSpPr>
          <p:nvPr/>
        </p:nvSpPr>
        <p:spPr bwMode="auto">
          <a:xfrm>
            <a:off x="3328208" y="4006386"/>
            <a:ext cx="1388467" cy="27546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zh-CN" altLang="en-US" sz="1400" b="0" i="0" u="none" strike="noStrike" kern="0" cap="none" spc="0" normalizeH="0" baseline="0" noProof="0" dirty="0" smtClean="0">
                <a:ln>
                  <a:noFill/>
                </a:ln>
                <a:solidFill>
                  <a:srgbClr val="000000"/>
                </a:solidFill>
                <a:effectLst/>
                <a:uLnTx/>
                <a:uFillTx/>
                <a:ea typeface="ＭＳ Ｐゴシック" charset="0"/>
                <a:cs typeface="Arial"/>
              </a:rPr>
              <a:t>管理进程</a:t>
            </a:r>
            <a:endParaRPr kumimoji="0" lang="en-US" sz="1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64" name="Can 143">
            <a:extLst>
              <a:ext uri="{FF2B5EF4-FFF2-40B4-BE49-F238E27FC236}">
                <a16:creationId xmlns:a16="http://schemas.microsoft.com/office/drawing/2014/main" id="{07CA7064-144E-5D42-9D43-1ED456269C8E}"/>
              </a:ext>
            </a:extLst>
          </p:cNvPr>
          <p:cNvSpPr/>
          <p:nvPr/>
        </p:nvSpPr>
        <p:spPr>
          <a:xfrm>
            <a:off x="2696750" y="3859029"/>
            <a:ext cx="897159" cy="62455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Text Box 305">
            <a:extLst>
              <a:ext uri="{FF2B5EF4-FFF2-40B4-BE49-F238E27FC236}">
                <a16:creationId xmlns:a16="http://schemas.microsoft.com/office/drawing/2014/main" id="{981B5001-7D42-9B44-9184-C6BEB0072082}"/>
              </a:ext>
            </a:extLst>
          </p:cNvPr>
          <p:cNvSpPr txBox="1">
            <a:spLocks noChangeArrowheads="1"/>
          </p:cNvSpPr>
          <p:nvPr/>
        </p:nvSpPr>
        <p:spPr bwMode="auto">
          <a:xfrm>
            <a:off x="2834924" y="3964272"/>
            <a:ext cx="638526"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lang="zh-CN" altLang="en-US" sz="1400" kern="0" dirty="0">
                <a:solidFill>
                  <a:srgbClr val="0000A8"/>
                </a:solidFill>
                <a:latin typeface="Arial"/>
                <a:ea typeface="ＭＳ Ｐゴシック" charset="0"/>
                <a:cs typeface="Arial"/>
              </a:rPr>
              <a:t>网管</a:t>
            </a:r>
            <a:r>
              <a:rPr kumimoji="0" lang="zh-CN" altLang="en-US" sz="1400" b="0" i="0" u="none" strike="noStrike" kern="0" cap="none" spc="0" normalizeH="0" baseline="0" noProof="0" dirty="0" smtClean="0">
                <a:ln>
                  <a:noFill/>
                </a:ln>
                <a:solidFill>
                  <a:srgbClr val="0000A8"/>
                </a:solidFill>
                <a:effectLst/>
                <a:uLnTx/>
                <a:uFillTx/>
                <a:latin typeface="Arial"/>
                <a:ea typeface="ＭＳ Ｐゴシック" charset="0"/>
                <a:cs typeface="Arial"/>
              </a:rPr>
              <a:t>数据</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nvGrpSpPr>
          <p:cNvPr id="66" name="Group 145">
            <a:extLst>
              <a:ext uri="{FF2B5EF4-FFF2-40B4-BE49-F238E27FC236}">
                <a16:creationId xmlns:a16="http://schemas.microsoft.com/office/drawing/2014/main" id="{1CDC5FDE-1AE2-D342-9D4E-42E29839C2E3}"/>
              </a:ext>
            </a:extLst>
          </p:cNvPr>
          <p:cNvGrpSpPr/>
          <p:nvPr/>
        </p:nvGrpSpPr>
        <p:grpSpPr>
          <a:xfrm>
            <a:off x="6162906" y="4005728"/>
            <a:ext cx="564098" cy="376905"/>
            <a:chOff x="7493876" y="2774731"/>
            <a:chExt cx="1481958" cy="894622"/>
          </a:xfrm>
        </p:grpSpPr>
        <p:sp>
          <p:nvSpPr>
            <p:cNvPr id="67" name="Freeform 146">
              <a:extLst>
                <a:ext uri="{FF2B5EF4-FFF2-40B4-BE49-F238E27FC236}">
                  <a16:creationId xmlns:a16="http://schemas.microsoft.com/office/drawing/2014/main" id="{9AABD5FD-2DEC-234A-9B0E-69F2A778EB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8" name="Oval 147">
              <a:extLst>
                <a:ext uri="{FF2B5EF4-FFF2-40B4-BE49-F238E27FC236}">
                  <a16:creationId xmlns:a16="http://schemas.microsoft.com/office/drawing/2014/main" id="{AA4F8807-A5FE-8B4D-A49A-5411C381A7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9" name="Group 148">
              <a:extLst>
                <a:ext uri="{FF2B5EF4-FFF2-40B4-BE49-F238E27FC236}">
                  <a16:creationId xmlns:a16="http://schemas.microsoft.com/office/drawing/2014/main" id="{838750EE-25BC-FD4E-B140-2B2701A1E599}"/>
                </a:ext>
              </a:extLst>
            </p:cNvPr>
            <p:cNvGrpSpPr/>
            <p:nvPr/>
          </p:nvGrpSpPr>
          <p:grpSpPr>
            <a:xfrm>
              <a:off x="7713663" y="2848339"/>
              <a:ext cx="1042107" cy="425543"/>
              <a:chOff x="7786941" y="2884917"/>
              <a:chExt cx="897649" cy="353919"/>
            </a:xfrm>
          </p:grpSpPr>
          <p:sp>
            <p:nvSpPr>
              <p:cNvPr id="70" name="Freeform 149">
                <a:extLst>
                  <a:ext uri="{FF2B5EF4-FFF2-40B4-BE49-F238E27FC236}">
                    <a16:creationId xmlns:a16="http://schemas.microsoft.com/office/drawing/2014/main" id="{941A678F-8CF8-3841-9F75-8297E8F9E4F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Freeform 150">
                <a:extLst>
                  <a:ext uri="{FF2B5EF4-FFF2-40B4-BE49-F238E27FC236}">
                    <a16:creationId xmlns:a16="http://schemas.microsoft.com/office/drawing/2014/main" id="{2AC9F9DD-DD98-C245-8971-E956DBC8AA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Freeform 151">
                <a:extLst>
                  <a:ext uri="{FF2B5EF4-FFF2-40B4-BE49-F238E27FC236}">
                    <a16:creationId xmlns:a16="http://schemas.microsoft.com/office/drawing/2014/main" id="{1CB7DE4C-6976-9644-BF51-FD206A511E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Freeform 152">
                <a:extLst>
                  <a:ext uri="{FF2B5EF4-FFF2-40B4-BE49-F238E27FC236}">
                    <a16:creationId xmlns:a16="http://schemas.microsoft.com/office/drawing/2014/main" id="{F565AFC9-E5E0-854F-8DD9-D262364E36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组合 78"/>
          <p:cNvGrpSpPr/>
          <p:nvPr/>
        </p:nvGrpSpPr>
        <p:grpSpPr>
          <a:xfrm>
            <a:off x="4677142" y="3596781"/>
            <a:ext cx="1845790" cy="542210"/>
            <a:chOff x="4677142" y="3596781"/>
            <a:chExt cx="1845790" cy="542210"/>
          </a:xfrm>
        </p:grpSpPr>
        <p:cxnSp>
          <p:nvCxnSpPr>
            <p:cNvPr id="54" name="直接箭头连接符 53"/>
            <p:cNvCxnSpPr>
              <a:stCxn id="57" idx="2"/>
            </p:cNvCxnSpPr>
            <p:nvPr/>
          </p:nvCxnSpPr>
          <p:spPr>
            <a:xfrm flipH="1">
              <a:off x="4677142" y="3774220"/>
              <a:ext cx="1845790" cy="364771"/>
            </a:xfrm>
            <a:prstGeom prst="straightConnector1">
              <a:avLst/>
            </a:prstGeom>
            <a:noFill/>
            <a:ln w="38100">
              <a:solidFill>
                <a:srgbClr val="C00000"/>
              </a:solidFill>
              <a:round/>
              <a:headEnd type="none" w="med" len="med"/>
              <a:tailEnd type="triangle" w="med" len="med"/>
            </a:ln>
            <a:effectLst/>
          </p:spPr>
        </p:cxnSp>
        <p:sp>
          <p:nvSpPr>
            <p:cNvPr id="74" name="Text Box 86">
              <a:extLst>
                <a:ext uri="{FF2B5EF4-FFF2-40B4-BE49-F238E27FC236}">
                  <a16:creationId xmlns:a16="http://schemas.microsoft.com/office/drawing/2014/main" id="{A2576985-4759-CD4C-AA65-7479E20FC15F}"/>
                </a:ext>
              </a:extLst>
            </p:cNvPr>
            <p:cNvSpPr txBox="1">
              <a:spLocks noChangeArrowheads="1"/>
            </p:cNvSpPr>
            <p:nvPr/>
          </p:nvSpPr>
          <p:spPr bwMode="auto">
            <a:xfrm rot="20975475">
              <a:off x="5025312" y="3596781"/>
              <a:ext cx="1079503" cy="3698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lgn="ctr">
                <a:spcBef>
                  <a:spcPct val="50000"/>
                </a:spcBef>
                <a:defRPr/>
              </a:pPr>
              <a:r>
                <a:rPr lang="en-US" altLang="zh-CN" dirty="0" smtClean="0">
                  <a:solidFill>
                    <a:srgbClr val="C00000"/>
                  </a:solidFill>
                  <a:latin typeface="Arial"/>
                  <a:cs typeface="Arial"/>
                </a:rPr>
                <a:t>trap</a:t>
              </a:r>
              <a:endParaRPr lang="en-US" dirty="0">
                <a:solidFill>
                  <a:srgbClr val="C00000"/>
                </a:solidFill>
                <a:latin typeface="Arial"/>
                <a:cs typeface="Arial"/>
              </a:endParaRPr>
            </a:p>
          </p:txBody>
        </p:sp>
      </p:grpSp>
    </p:spTree>
    <p:custDataLst>
      <p:tags r:id="rId1"/>
    </p:custDataLst>
    <p:extLst>
      <p:ext uri="{BB962C8B-B14F-4D97-AF65-F5344CB8AC3E}">
        <p14:creationId xmlns:p14="http://schemas.microsoft.com/office/powerpoint/2010/main" val="16288990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par>
                          <p:cTn id="8" fill="hold">
                            <p:stCondLst>
                              <p:cond delay="500"/>
                            </p:stCondLst>
                            <p:childTnLst>
                              <p:par>
                                <p:cTn id="9" presetID="22" presetClass="entr" presetSubtype="2" repeatCount="3000" fill="hold"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wipe(right)">
                                      <p:cBhvr>
                                        <p:cTn id="11" dur="1000"/>
                                        <p:tgtEl>
                                          <p:spTgt spid="79"/>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4">
                                            <p:txEl>
                                              <p:pRg st="2" end="2"/>
                                            </p:txEl>
                                          </p:spTgt>
                                        </p:tgtEl>
                                        <p:attrNameLst>
                                          <p:attrName>style.visibility</p:attrName>
                                        </p:attrNameLst>
                                      </p:cBhvr>
                                      <p:to>
                                        <p:strVal val="visible"/>
                                      </p:to>
                                    </p:set>
                                    <p:animEffect transition="in" filter="fade">
                                      <p:cBhvr>
                                        <p:cTn id="16" dur="500"/>
                                        <p:tgtEl>
                                          <p:spTgt spid="4">
                                            <p:txEl>
                                              <p:pRg st="2" end="2"/>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animEffect transition="in" filter="fade">
                                      <p:cBhvr>
                                        <p:cTn id="19" dur="500"/>
                                        <p:tgtEl>
                                          <p:spTgt spid="4">
                                            <p:txEl>
                                              <p:pRg st="3" end="3"/>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animEffect transition="in" filter="fade">
                                      <p:cBhvr>
                                        <p:cTn id="22"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65795" y="57748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是有效的网络管理协议</a:t>
            </a:r>
          </a:p>
        </p:txBody>
      </p:sp>
      <p:sp>
        <p:nvSpPr>
          <p:cNvPr id="4" name="Rectangle 68"/>
          <p:cNvSpPr>
            <a:spLocks noChangeArrowheads="1"/>
          </p:cNvSpPr>
          <p:nvPr/>
        </p:nvSpPr>
        <p:spPr bwMode="auto">
          <a:xfrm>
            <a:off x="556964" y="971781"/>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探询</a:t>
            </a:r>
            <a:r>
              <a:rPr lang="zh-CN" altLang="en-US" sz="2000" b="1" dirty="0">
                <a:latin typeface="微软雅黑" pitchFamily="34" charset="-122"/>
                <a:ea typeface="微软雅黑" pitchFamily="34" charset="-122"/>
              </a:rPr>
              <a:t>（至少是周期性地</a:t>
            </a:r>
            <a:r>
              <a:rPr lang="zh-CN" altLang="en-US" sz="2000" b="1" dirty="0" smtClean="0">
                <a:latin typeface="微软雅黑" pitchFamily="34" charset="-122"/>
                <a:ea typeface="微软雅黑" pitchFamily="34" charset="-122"/>
              </a:rPr>
              <a:t>）能够维持</a:t>
            </a:r>
            <a:r>
              <a:rPr lang="zh-CN" altLang="en-US" sz="2000" b="1" dirty="0">
                <a:latin typeface="微软雅黑" pitchFamily="34" charset="-122"/>
                <a:ea typeface="微软雅黑" pitchFamily="34" charset="-122"/>
              </a:rPr>
              <a:t>对网络资源的实时</a:t>
            </a:r>
            <a:r>
              <a:rPr lang="zh-CN" altLang="en-US" sz="2000" b="1" dirty="0" smtClean="0">
                <a:latin typeface="微软雅黑" pitchFamily="34" charset="-122"/>
                <a:ea typeface="微软雅黑" pitchFamily="34" charset="-122"/>
              </a:rPr>
              <a:t>监视。</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同时</a:t>
            </a:r>
            <a:r>
              <a:rPr lang="zh-CN" altLang="en-US" sz="2000" b="1" dirty="0">
                <a:latin typeface="微软雅黑" pitchFamily="34" charset="-122"/>
                <a:ea typeface="微软雅黑" pitchFamily="34" charset="-122"/>
              </a:rPr>
              <a:t>也采用</a:t>
            </a:r>
            <a:r>
              <a:rPr lang="zh-CN" altLang="en-US" sz="2000" b="1" dirty="0">
                <a:solidFill>
                  <a:srgbClr val="C00000"/>
                </a:solidFill>
                <a:latin typeface="微软雅黑" pitchFamily="34" charset="-122"/>
                <a:ea typeface="微软雅黑" pitchFamily="34" charset="-122"/>
              </a:rPr>
              <a:t>陷阱</a:t>
            </a:r>
            <a:r>
              <a:rPr lang="zh-CN" altLang="en-US" sz="2000" b="1" dirty="0">
                <a:latin typeface="微软雅黑" pitchFamily="34" charset="-122"/>
                <a:ea typeface="微软雅黑" pitchFamily="34" charset="-122"/>
              </a:rPr>
              <a:t>机制报告特殊事件，使得 </a:t>
            </a: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成为一种有效的网络管理协议。 </a:t>
            </a:r>
          </a:p>
        </p:txBody>
      </p:sp>
      <p:sp>
        <p:nvSpPr>
          <p:cNvPr id="5"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Tree>
    <p:extLst>
      <p:ext uri="{BB962C8B-B14F-4D97-AF65-F5344CB8AC3E}">
        <p14:creationId xmlns:p14="http://schemas.microsoft.com/office/powerpoint/2010/main" val="4060855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17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954949" y="581962"/>
            <a:ext cx="32528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使用无连接的 </a:t>
            </a:r>
            <a:r>
              <a:rPr lang="en-US" altLang="zh-CN" sz="2000" b="1" dirty="0">
                <a:solidFill>
                  <a:schemeClr val="bg1"/>
                </a:solidFill>
                <a:latin typeface="微软雅黑" pitchFamily="34" charset="-122"/>
                <a:ea typeface="微软雅黑" pitchFamily="34" charset="-122"/>
              </a:rPr>
              <a:t>UDP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6263"/>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运行</a:t>
            </a:r>
            <a:r>
              <a:rPr lang="zh-CN" altLang="en-US" sz="2000" b="1" dirty="0">
                <a:solidFill>
                  <a:srgbClr val="C00000"/>
                </a:solidFill>
                <a:latin typeface="微软雅黑" pitchFamily="34" charset="-122"/>
                <a:ea typeface="微软雅黑" pitchFamily="34" charset="-122"/>
              </a:rPr>
              <a:t>代理程序</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端</a:t>
            </a:r>
            <a:r>
              <a:rPr lang="zh-CN" altLang="en-US" sz="2000" b="1" dirty="0" smtClean="0">
                <a:latin typeface="微软雅黑" pitchFamily="34" charset="-122"/>
                <a:ea typeface="微软雅黑" pitchFamily="34" charset="-122"/>
              </a:rPr>
              <a:t>用 </a:t>
            </a:r>
            <a:r>
              <a:rPr lang="en-US" altLang="zh-CN" sz="2000" b="1" dirty="0" smtClean="0">
                <a:latin typeface="微软雅黑" pitchFamily="34" charset="-122"/>
                <a:ea typeface="微软雅黑" pitchFamily="34" charset="-122"/>
              </a:rPr>
              <a:t>UDP </a:t>
            </a:r>
            <a:r>
              <a:rPr lang="zh-CN" altLang="en-US" sz="2000" b="1" dirty="0" smtClean="0">
                <a:solidFill>
                  <a:srgbClr val="C00000"/>
                </a:solidFill>
                <a:latin typeface="微软雅黑" pitchFamily="34" charset="-122"/>
                <a:ea typeface="微软雅黑" pitchFamily="34" charset="-122"/>
              </a:rPr>
              <a:t>熟知</a:t>
            </a:r>
            <a:r>
              <a:rPr lang="zh-CN" altLang="en-US" sz="2000" b="1" dirty="0">
                <a:solidFill>
                  <a:srgbClr val="C00000"/>
                </a:solidFill>
                <a:latin typeface="微软雅黑" pitchFamily="34" charset="-122"/>
                <a:ea typeface="微软雅黑" pitchFamily="34" charset="-122"/>
              </a:rPr>
              <a:t>端口 </a:t>
            </a:r>
            <a:r>
              <a:rPr lang="en-US" altLang="zh-CN" sz="2000" b="1" dirty="0">
                <a:latin typeface="微软雅黑" pitchFamily="34" charset="-122"/>
                <a:ea typeface="微软雅黑" pitchFamily="34" charset="-122"/>
              </a:rPr>
              <a:t>161 </a:t>
            </a:r>
            <a:r>
              <a:rPr lang="zh-CN" altLang="en-US" sz="2000" b="1" dirty="0" smtClean="0">
                <a:latin typeface="微软雅黑" pitchFamily="34" charset="-122"/>
                <a:ea typeface="微软雅黑" pitchFamily="34" charset="-122"/>
              </a:rPr>
              <a:t>接收 </a:t>
            </a:r>
            <a:r>
              <a:rPr lang="en-US" altLang="zh-CN" sz="2000" b="1" dirty="0">
                <a:latin typeface="微软雅黑" pitchFamily="34" charset="-122"/>
                <a:ea typeface="微软雅黑" pitchFamily="34" charset="-122"/>
              </a:rPr>
              <a:t>get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set </a:t>
            </a:r>
            <a:r>
              <a:rPr lang="zh-CN" altLang="en-US" sz="2000" b="1" dirty="0" smtClean="0">
                <a:latin typeface="微软雅黑" pitchFamily="34" charset="-122"/>
                <a:ea typeface="微软雅黑" pitchFamily="34" charset="-122"/>
              </a:rPr>
              <a:t>报文，发送</a:t>
            </a:r>
            <a:r>
              <a:rPr lang="zh-CN" altLang="en-US" sz="2000" b="1" dirty="0">
                <a:latin typeface="微软雅黑" pitchFamily="34" charset="-122"/>
                <a:ea typeface="微软雅黑" pitchFamily="34" charset="-122"/>
              </a:rPr>
              <a:t>响应</a:t>
            </a:r>
            <a:r>
              <a:rPr lang="zh-CN" altLang="en-US" sz="2000" b="1" dirty="0" smtClean="0">
                <a:latin typeface="微软雅黑" pitchFamily="34" charset="-122"/>
                <a:ea typeface="微软雅黑" pitchFamily="34" charset="-122"/>
              </a:rPr>
              <a:t>报文。与</a:t>
            </a:r>
            <a:r>
              <a:rPr lang="zh-CN" altLang="en-US" sz="2000" b="1" dirty="0">
                <a:latin typeface="微软雅黑" pitchFamily="34" charset="-122"/>
                <a:ea typeface="微软雅黑" pitchFamily="34" charset="-122"/>
              </a:rPr>
              <a:t>熟知端口通信的</a:t>
            </a:r>
            <a:r>
              <a:rPr lang="zh-CN" altLang="en-US" sz="2000" b="1" dirty="0">
                <a:solidFill>
                  <a:srgbClr val="0000FF"/>
                </a:solidFill>
                <a:latin typeface="微软雅黑" pitchFamily="34" charset="-122"/>
                <a:ea typeface="微软雅黑" pitchFamily="34" charset="-122"/>
              </a:rPr>
              <a:t>客户端</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临时</a:t>
            </a:r>
            <a:r>
              <a:rPr lang="zh-CN" altLang="en-US" sz="2000" b="1" dirty="0" smtClean="0">
                <a:solidFill>
                  <a:srgbClr val="C00000"/>
                </a:solidFill>
                <a:latin typeface="微软雅黑" pitchFamily="34" charset="-122"/>
                <a:ea typeface="微软雅黑" pitchFamily="34" charset="-122"/>
              </a:rPr>
              <a:t>端口。</a:t>
            </a:r>
            <a:endParaRPr lang="zh-CN" altLang="en-US"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运行</a:t>
            </a:r>
            <a:r>
              <a:rPr lang="zh-CN" altLang="en-US" sz="2000" b="1" dirty="0">
                <a:solidFill>
                  <a:srgbClr val="C00000"/>
                </a:solidFill>
                <a:latin typeface="微软雅黑" pitchFamily="34" charset="-122"/>
                <a:ea typeface="微软雅黑" pitchFamily="34" charset="-122"/>
              </a:rPr>
              <a:t>管理程序</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客户端</a:t>
            </a:r>
            <a:r>
              <a:rPr lang="zh-CN" altLang="en-US" sz="2000" b="1" dirty="0">
                <a:latin typeface="微软雅黑" pitchFamily="34" charset="-122"/>
                <a:ea typeface="微软雅黑" pitchFamily="34" charset="-122"/>
              </a:rPr>
              <a:t>则</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UDP </a:t>
            </a:r>
            <a:r>
              <a:rPr lang="zh-CN" altLang="en-US" sz="2000" b="1" dirty="0" smtClean="0">
                <a:solidFill>
                  <a:srgbClr val="C00000"/>
                </a:solidFill>
                <a:latin typeface="微软雅黑" pitchFamily="34" charset="-122"/>
                <a:ea typeface="微软雅黑" pitchFamily="34" charset="-122"/>
              </a:rPr>
              <a:t>熟知</a:t>
            </a:r>
            <a:r>
              <a:rPr lang="zh-CN" altLang="en-US" sz="2000" b="1" dirty="0">
                <a:solidFill>
                  <a:srgbClr val="C00000"/>
                </a:solidFill>
                <a:latin typeface="微软雅黑" pitchFamily="34" charset="-122"/>
                <a:ea typeface="微软雅黑" pitchFamily="34" charset="-122"/>
              </a:rPr>
              <a:t>端口 </a:t>
            </a:r>
            <a:r>
              <a:rPr lang="en-US" altLang="zh-CN" sz="2000" b="1" dirty="0">
                <a:latin typeface="微软雅黑" pitchFamily="34" charset="-122"/>
                <a:ea typeface="微软雅黑" pitchFamily="34" charset="-122"/>
              </a:rPr>
              <a:t>162 </a:t>
            </a:r>
            <a:r>
              <a:rPr lang="zh-CN" altLang="en-US" sz="2000" b="1" dirty="0">
                <a:latin typeface="微软雅黑" pitchFamily="34" charset="-122"/>
                <a:ea typeface="微软雅黑" pitchFamily="34" charset="-122"/>
              </a:rPr>
              <a:t>来接收来自各代理的 </a:t>
            </a:r>
            <a:r>
              <a:rPr lang="en-US" altLang="zh-CN" sz="2000" b="1" dirty="0">
                <a:latin typeface="微软雅黑" pitchFamily="34" charset="-122"/>
                <a:ea typeface="微软雅黑" pitchFamily="34" charset="-122"/>
              </a:rPr>
              <a:t>trap </a:t>
            </a:r>
            <a:r>
              <a:rPr lang="zh-CN" altLang="en-US" sz="2000" b="1" dirty="0">
                <a:latin typeface="微软雅黑" pitchFamily="34" charset="-122"/>
                <a:ea typeface="微软雅黑" pitchFamily="34" charset="-122"/>
              </a:rPr>
              <a:t>报文。 </a:t>
            </a:r>
          </a:p>
        </p:txBody>
      </p:sp>
      <p:sp>
        <p:nvSpPr>
          <p:cNvPr id="5"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Tree>
    <p:extLst>
      <p:ext uri="{BB962C8B-B14F-4D97-AF65-F5344CB8AC3E}">
        <p14:creationId xmlns:p14="http://schemas.microsoft.com/office/powerpoint/2010/main" val="16387729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964"/>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175890" y="580753"/>
            <a:ext cx="48109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定义</a:t>
            </a:r>
            <a:r>
              <a:rPr lang="zh-CN" altLang="en-US" sz="2000" b="1" dirty="0" smtClean="0">
                <a:solidFill>
                  <a:schemeClr val="bg1"/>
                </a:solidFill>
                <a:latin typeface="微软雅黑" pitchFamily="34" charset="-122"/>
                <a:ea typeface="微软雅黑" pitchFamily="34" charset="-122"/>
              </a:rPr>
              <a:t>的协议数据单元 </a:t>
            </a:r>
            <a:r>
              <a:rPr lang="en-US" altLang="zh-CN" sz="2000" b="1" dirty="0" smtClean="0">
                <a:solidFill>
                  <a:schemeClr val="bg1"/>
                </a:solidFill>
                <a:latin typeface="微软雅黑" pitchFamily="34" charset="-122"/>
                <a:ea typeface="微软雅黑" pitchFamily="34" charset="-122"/>
              </a:rPr>
              <a:t>(PDU) </a:t>
            </a:r>
            <a:r>
              <a:rPr lang="zh-CN" altLang="en-US" sz="2000" b="1" dirty="0" smtClean="0">
                <a:solidFill>
                  <a:schemeClr val="bg1"/>
                </a:solidFill>
                <a:latin typeface="微软雅黑" pitchFamily="34" charset="-122"/>
                <a:ea typeface="微软雅黑" pitchFamily="34" charset="-122"/>
              </a:rPr>
              <a:t>类型</a:t>
            </a:r>
            <a:endParaRPr lang="zh-CN" altLang="en-US" sz="2000" b="1" dirty="0">
              <a:solidFill>
                <a:schemeClr val="bg1"/>
              </a:solidFill>
              <a:latin typeface="微软雅黑" pitchFamily="34" charset="-122"/>
              <a:ea typeface="微软雅黑" pitchFamily="34" charset="-122"/>
            </a:endParaRPr>
          </a:p>
        </p:txBody>
      </p:sp>
      <p:sp>
        <p:nvSpPr>
          <p:cNvPr id="5" name="Text Box 4"/>
          <p:cNvSpPr txBox="1">
            <a:spLocks noChangeArrowheads="1"/>
          </p:cNvSpPr>
          <p:nvPr/>
        </p:nvSpPr>
        <p:spPr bwMode="auto">
          <a:xfrm>
            <a:off x="492955" y="1023595"/>
            <a:ext cx="8048775" cy="3065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tabLst>
                <a:tab pos="3676650" algn="l"/>
              </a:tabLst>
              <a:defRPr sz="3600">
                <a:solidFill>
                  <a:schemeClr val="tx1"/>
                </a:solidFill>
                <a:latin typeface="Tahoma" pitchFamily="34" charset="0"/>
                <a:ea typeface="宋体" charset="-122"/>
              </a:defRPr>
            </a:lvl1pPr>
            <a:lvl2pPr marL="800100" indent="-342900">
              <a:tabLst>
                <a:tab pos="3676650" algn="l"/>
              </a:tabLst>
              <a:defRPr sz="3600">
                <a:solidFill>
                  <a:schemeClr val="tx1"/>
                </a:solidFill>
                <a:latin typeface="Tahoma" pitchFamily="34" charset="0"/>
                <a:ea typeface="宋体" charset="-122"/>
              </a:defRPr>
            </a:lvl2pPr>
            <a:lvl3pPr marL="1257300" indent="-342900">
              <a:tabLst>
                <a:tab pos="3676650" algn="l"/>
              </a:tabLst>
              <a:defRPr sz="3600">
                <a:solidFill>
                  <a:schemeClr val="tx1"/>
                </a:solidFill>
                <a:latin typeface="Tahoma" pitchFamily="34" charset="0"/>
                <a:ea typeface="宋体" charset="-122"/>
              </a:defRPr>
            </a:lvl3pPr>
            <a:lvl4pPr marL="1714500" indent="-342900">
              <a:tabLst>
                <a:tab pos="3676650" algn="l"/>
              </a:tabLst>
              <a:defRPr sz="3600">
                <a:solidFill>
                  <a:schemeClr val="tx1"/>
                </a:solidFill>
                <a:latin typeface="Tahoma" pitchFamily="34" charset="0"/>
                <a:ea typeface="宋体" charset="-122"/>
              </a:defRPr>
            </a:lvl4pPr>
            <a:lvl5pPr marL="2171700" indent="-342900">
              <a:tabLst>
                <a:tab pos="3676650" algn="l"/>
              </a:tabLst>
              <a:defRPr sz="3600">
                <a:solidFill>
                  <a:schemeClr val="tx1"/>
                </a:solidFill>
                <a:latin typeface="Tahoma" pitchFamily="34" charset="0"/>
                <a:ea typeface="宋体" charset="-122"/>
              </a:defRPr>
            </a:lvl5pPr>
            <a:lvl6pPr marL="26289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6pPr>
            <a:lvl7pPr marL="30861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7pPr>
            <a:lvl8pPr marL="35433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8pPr>
            <a:lvl9pPr marL="40005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9pPr>
          </a:lstStyle>
          <a:p>
            <a:pPr>
              <a:lnSpc>
                <a:spcPct val="150000"/>
              </a:lnSpc>
              <a:tabLst>
                <a:tab pos="1162050" algn="l"/>
                <a:tab pos="3319463" algn="l"/>
              </a:tabLst>
            </a:pPr>
            <a:r>
              <a:rPr lang="en-US" altLang="zh-CN" sz="1400" b="1" dirty="0" smtClean="0">
                <a:latin typeface="微软雅黑" pitchFamily="34" charset="-122"/>
                <a:ea typeface="微软雅黑" pitchFamily="34" charset="-122"/>
              </a:rPr>
              <a:t>    PDU </a:t>
            </a:r>
            <a:r>
              <a:rPr lang="zh-CN" altLang="en-US" sz="1400" b="1" dirty="0" smtClean="0">
                <a:latin typeface="微软雅黑" pitchFamily="34" charset="-122"/>
                <a:ea typeface="微软雅黑" pitchFamily="34" charset="-122"/>
              </a:rPr>
              <a:t>编号 </a:t>
            </a:r>
            <a:r>
              <a:rPr lang="en-US" altLang="zh-CN" sz="1400" b="1" dirty="0" smtClean="0">
                <a:latin typeface="微软雅黑" pitchFamily="34" charset="-122"/>
                <a:ea typeface="微软雅黑" pitchFamily="34" charset="-122"/>
              </a:rPr>
              <a:t>(T</a:t>
            </a:r>
            <a:r>
              <a:rPr lang="zh-CN" altLang="en-US" sz="1400" b="1" dirty="0" smtClean="0">
                <a:latin typeface="微软雅黑" pitchFamily="34" charset="-122"/>
                <a:ea typeface="微软雅黑" pitchFamily="34" charset="-122"/>
              </a:rPr>
              <a:t>字段</a:t>
            </a:r>
            <a:r>
              <a:rPr lang="en-US" altLang="zh-CN" sz="1400" b="1" dirty="0" smtClean="0">
                <a:latin typeface="微软雅黑" pitchFamily="34" charset="-122"/>
                <a:ea typeface="微软雅黑" pitchFamily="34" charset="-122"/>
              </a:rPr>
              <a:t>)           PDU </a:t>
            </a:r>
            <a:r>
              <a:rPr lang="zh-CN" altLang="en-US" sz="1400" b="1" dirty="0" smtClean="0">
                <a:latin typeface="微软雅黑" pitchFamily="34" charset="-122"/>
                <a:ea typeface="微软雅黑" pitchFamily="34" charset="-122"/>
              </a:rPr>
              <a:t>名称</a:t>
            </a:r>
            <a:r>
              <a:rPr lang="en-US" altLang="zh-CN" sz="1400" b="1" dirty="0" smtClean="0">
                <a:latin typeface="微软雅黑" pitchFamily="34" charset="-122"/>
                <a:ea typeface="微软雅黑" pitchFamily="34" charset="-122"/>
              </a:rPr>
              <a:t>	                             </a:t>
            </a:r>
            <a:r>
              <a:rPr lang="zh-CN" altLang="en-US" sz="1400" b="1" dirty="0" smtClean="0">
                <a:latin typeface="微软雅黑" pitchFamily="34" charset="-122"/>
                <a:ea typeface="微软雅黑" pitchFamily="34" charset="-122"/>
              </a:rPr>
              <a:t>用途</a:t>
            </a:r>
            <a:endParaRPr lang="zh-CN" altLang="en-US" sz="1400" b="1" dirty="0">
              <a:latin typeface="微软雅黑" pitchFamily="34" charset="-122"/>
              <a:ea typeface="微软雅黑" pitchFamily="34" charset="-122"/>
            </a:endParaRPr>
          </a:p>
          <a:p>
            <a:pPr eaLnBrk="1" hangingPunct="1">
              <a:lnSpc>
                <a:spcPct val="150000"/>
              </a:lnSpc>
              <a:spcAft>
                <a:spcPct val="30000"/>
              </a:spcAft>
              <a:tabLst>
                <a:tab pos="1162050" algn="l"/>
                <a:tab pos="3319463" algn="l"/>
              </a:tabLst>
            </a:pPr>
            <a:r>
              <a:rPr lang="en-US" altLang="zh-CN" sz="1400" b="1" dirty="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    0  (A0)    	               </a:t>
            </a:r>
            <a:r>
              <a:rPr lang="en-US" altLang="zh-CN" sz="1400" b="1" dirty="0" err="1" smtClean="0">
                <a:solidFill>
                  <a:srgbClr val="0000FF"/>
                </a:solidFill>
                <a:latin typeface="微软雅黑" pitchFamily="34" charset="-122"/>
                <a:ea typeface="微软雅黑" pitchFamily="34" charset="-122"/>
              </a:rPr>
              <a:t>GetRequest</a:t>
            </a:r>
            <a:r>
              <a:rPr lang="en-US" altLang="zh-CN" sz="1400" b="1" dirty="0" smtClean="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用来</a:t>
            </a:r>
            <a:r>
              <a:rPr lang="zh-CN" altLang="en-US" sz="1400" b="1" dirty="0">
                <a:solidFill>
                  <a:srgbClr val="0000FF"/>
                </a:solidFill>
                <a:latin typeface="微软雅黑" pitchFamily="34" charset="-122"/>
                <a:ea typeface="微软雅黑" pitchFamily="34" charset="-122"/>
              </a:rPr>
              <a:t>查询一个或一组变量的值</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1  (A1)    	               </a:t>
            </a:r>
            <a:r>
              <a:rPr lang="en-US" altLang="zh-CN" sz="1400" b="1" dirty="0" err="1" smtClean="0">
                <a:solidFill>
                  <a:srgbClr val="0000FF"/>
                </a:solidFill>
                <a:latin typeface="微软雅黑" pitchFamily="34" charset="-122"/>
                <a:ea typeface="微软雅黑" pitchFamily="34" charset="-122"/>
              </a:rPr>
              <a:t>GetNextRequest</a:t>
            </a:r>
            <a:r>
              <a:rPr lang="en-US" altLang="zh-CN" sz="1400" b="1" dirty="0" smtClean="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允许</a:t>
            </a:r>
            <a:r>
              <a:rPr lang="zh-CN" altLang="en-US" sz="1400" b="1" dirty="0">
                <a:solidFill>
                  <a:srgbClr val="0000FF"/>
                </a:solidFill>
                <a:latin typeface="微软雅黑" pitchFamily="34" charset="-122"/>
                <a:ea typeface="微软雅黑" pitchFamily="34" charset="-122"/>
              </a:rPr>
              <a:t>在 </a:t>
            </a:r>
            <a:r>
              <a:rPr lang="en-US" altLang="zh-CN" sz="1400" b="1" dirty="0">
                <a:solidFill>
                  <a:srgbClr val="0000FF"/>
                </a:solidFill>
                <a:latin typeface="微软雅黑" pitchFamily="34" charset="-122"/>
                <a:ea typeface="微软雅黑" pitchFamily="34" charset="-122"/>
              </a:rPr>
              <a:t>MIB </a:t>
            </a:r>
            <a:r>
              <a:rPr lang="zh-CN" altLang="en-US" sz="1400" b="1" dirty="0">
                <a:solidFill>
                  <a:srgbClr val="0000FF"/>
                </a:solidFill>
                <a:latin typeface="微软雅黑" pitchFamily="34" charset="-122"/>
                <a:ea typeface="微软雅黑" pitchFamily="34" charset="-122"/>
              </a:rPr>
              <a:t>树上读取下一个变量</a:t>
            </a:r>
            <a:r>
              <a:rPr lang="zh-CN" altLang="en-US" sz="1400" b="1" dirty="0" smtClean="0">
                <a:solidFill>
                  <a:srgbClr val="0000FF"/>
                </a:solidFill>
                <a:latin typeface="微软雅黑" pitchFamily="34" charset="-122"/>
                <a:ea typeface="微软雅黑" pitchFamily="34" charset="-122"/>
              </a:rPr>
              <a:t>，此</a:t>
            </a:r>
            <a:r>
              <a:rPr lang="zh-CN" altLang="en-US" sz="1400" b="1" dirty="0">
                <a:solidFill>
                  <a:srgbClr val="0000FF"/>
                </a:solidFill>
                <a:latin typeface="微软雅黑" pitchFamily="34" charset="-122"/>
                <a:ea typeface="微软雅黑" pitchFamily="34" charset="-122"/>
              </a:rPr>
              <a:t>操作可反复进行 </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2  (A2)    	               </a:t>
            </a:r>
            <a:r>
              <a:rPr lang="en-US" altLang="zh-CN" sz="1400" b="1" dirty="0" err="1" smtClean="0">
                <a:solidFill>
                  <a:srgbClr val="0000FF"/>
                </a:solidFill>
                <a:latin typeface="微软雅黑" pitchFamily="34" charset="-122"/>
                <a:ea typeface="微软雅黑" pitchFamily="34" charset="-122"/>
              </a:rPr>
              <a:t>Reponse</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代理</a:t>
            </a:r>
            <a:r>
              <a:rPr lang="zh-CN" altLang="en-US" sz="1400" b="1" dirty="0">
                <a:solidFill>
                  <a:srgbClr val="0000FF"/>
                </a:solidFill>
                <a:latin typeface="微软雅黑" pitchFamily="34" charset="-122"/>
                <a:ea typeface="微软雅黑" pitchFamily="34" charset="-122"/>
              </a:rPr>
              <a:t>向管理者或管理者向管理者</a:t>
            </a:r>
            <a:r>
              <a:rPr lang="zh-CN" altLang="en-US" sz="1400" b="1" dirty="0" smtClean="0">
                <a:solidFill>
                  <a:srgbClr val="0000FF"/>
                </a:solidFill>
                <a:latin typeface="微软雅黑" pitchFamily="34" charset="-122"/>
                <a:ea typeface="微软雅黑" pitchFamily="34" charset="-122"/>
              </a:rPr>
              <a:t>发送响应</a:t>
            </a:r>
            <a:endParaRPr lang="zh-CN" altLang="en-US" sz="1400" b="1" dirty="0">
              <a:solidFill>
                <a:srgbClr val="0000FF"/>
              </a:solidFill>
              <a:latin typeface="微软雅黑" pitchFamily="34" charset="-122"/>
              <a:ea typeface="微软雅黑" pitchFamily="34" charset="-122"/>
            </a:endParaRP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3  (A3)                     </a:t>
            </a:r>
            <a:r>
              <a:rPr lang="en-US" altLang="zh-CN" sz="1400" b="1" dirty="0" err="1" smtClean="0">
                <a:solidFill>
                  <a:srgbClr val="0000FF"/>
                </a:solidFill>
                <a:latin typeface="微软雅黑" pitchFamily="34" charset="-122"/>
                <a:ea typeface="微软雅黑" pitchFamily="34" charset="-122"/>
              </a:rPr>
              <a:t>SetRequest</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对</a:t>
            </a:r>
            <a:r>
              <a:rPr lang="zh-CN" altLang="en-US" sz="1400" b="1" dirty="0">
                <a:solidFill>
                  <a:srgbClr val="0000FF"/>
                </a:solidFill>
                <a:latin typeface="微软雅黑" pitchFamily="34" charset="-122"/>
                <a:ea typeface="微软雅黑" pitchFamily="34" charset="-122"/>
              </a:rPr>
              <a:t>一个或多个变量值进行设置</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5  (A5)    	               </a:t>
            </a:r>
            <a:r>
              <a:rPr lang="en-US" altLang="zh-CN" sz="1400" b="1" dirty="0" err="1" smtClean="0">
                <a:solidFill>
                  <a:srgbClr val="0000FF"/>
                </a:solidFill>
                <a:latin typeface="微软雅黑" pitchFamily="34" charset="-122"/>
                <a:ea typeface="微软雅黑" pitchFamily="34" charset="-122"/>
              </a:rPr>
              <a:t>GetBulkRequest</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管理</a:t>
            </a:r>
            <a:r>
              <a:rPr lang="zh-CN" altLang="en-US" sz="1400" b="1" dirty="0">
                <a:solidFill>
                  <a:srgbClr val="0000FF"/>
                </a:solidFill>
                <a:latin typeface="微软雅黑" pitchFamily="34" charset="-122"/>
                <a:ea typeface="微软雅黑" pitchFamily="34" charset="-122"/>
              </a:rPr>
              <a:t>者从代理读取大数据块的值</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6  (A6)   	               </a:t>
            </a:r>
            <a:r>
              <a:rPr lang="en-US" altLang="zh-CN" sz="1400" b="1" dirty="0" err="1" smtClean="0">
                <a:solidFill>
                  <a:srgbClr val="0000FF"/>
                </a:solidFill>
                <a:latin typeface="微软雅黑" pitchFamily="34" charset="-122"/>
                <a:ea typeface="微软雅黑" pitchFamily="34" charset="-122"/>
              </a:rPr>
              <a:t>InformRequest</a:t>
            </a:r>
            <a:r>
              <a:rPr lang="en-US" altLang="zh-CN" sz="1400" b="1" dirty="0" smtClean="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管理</a:t>
            </a:r>
            <a:r>
              <a:rPr lang="zh-CN" altLang="en-US" sz="1400" b="1" dirty="0">
                <a:solidFill>
                  <a:srgbClr val="0000FF"/>
                </a:solidFill>
                <a:latin typeface="微软雅黑" pitchFamily="34" charset="-122"/>
                <a:ea typeface="微软雅黑" pitchFamily="34" charset="-122"/>
              </a:rPr>
              <a:t>者从另一管理者读取代理的变量</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7  (A7)                    SNMPv2Trap	      </a:t>
            </a:r>
            <a:r>
              <a:rPr lang="zh-CN" altLang="en-US" sz="1400" b="1" dirty="0" smtClean="0">
                <a:solidFill>
                  <a:srgbClr val="0000FF"/>
                </a:solidFill>
                <a:latin typeface="微软雅黑" pitchFamily="34" charset="-122"/>
                <a:ea typeface="微软雅黑" pitchFamily="34" charset="-122"/>
              </a:rPr>
              <a:t>代理</a:t>
            </a:r>
            <a:r>
              <a:rPr lang="zh-CN" altLang="en-US" sz="1400" b="1" dirty="0">
                <a:solidFill>
                  <a:srgbClr val="0000FF"/>
                </a:solidFill>
                <a:latin typeface="微软雅黑" pitchFamily="34" charset="-122"/>
                <a:ea typeface="微软雅黑" pitchFamily="34" charset="-122"/>
              </a:rPr>
              <a:t>向管理者报告异常事件</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zh-CN" altLang="en-US" sz="1400" b="1" dirty="0" smtClean="0">
                <a:solidFill>
                  <a:srgbClr val="0000FF"/>
                </a:solidFill>
                <a:latin typeface="微软雅黑" pitchFamily="34" charset="-122"/>
                <a:ea typeface="微软雅黑" pitchFamily="34" charset="-122"/>
              </a:rPr>
              <a:t>    </a:t>
            </a:r>
            <a:r>
              <a:rPr lang="en-US" altLang="zh-CN" sz="1400" b="1" dirty="0" smtClean="0">
                <a:solidFill>
                  <a:srgbClr val="0000FF"/>
                </a:solidFill>
                <a:latin typeface="微软雅黑" pitchFamily="34" charset="-122"/>
                <a:ea typeface="微软雅黑" pitchFamily="34" charset="-122"/>
              </a:rPr>
              <a:t>8  (A8)                    Report	      </a:t>
            </a:r>
            <a:r>
              <a:rPr lang="zh-CN" altLang="en-US" sz="1400" b="1" dirty="0" smtClean="0">
                <a:solidFill>
                  <a:srgbClr val="0000FF"/>
                </a:solidFill>
                <a:latin typeface="微软雅黑" pitchFamily="34" charset="-122"/>
                <a:ea typeface="微软雅黑" pitchFamily="34" charset="-122"/>
              </a:rPr>
              <a:t>管理</a:t>
            </a:r>
            <a:r>
              <a:rPr lang="zh-CN" altLang="en-US" sz="1400" b="1" dirty="0">
                <a:solidFill>
                  <a:srgbClr val="0000FF"/>
                </a:solidFill>
                <a:latin typeface="微软雅黑" pitchFamily="34" charset="-122"/>
                <a:ea typeface="微软雅黑" pitchFamily="34" charset="-122"/>
              </a:rPr>
              <a:t>者之间报告某些差错 </a:t>
            </a:r>
          </a:p>
        </p:txBody>
      </p:sp>
      <p:sp>
        <p:nvSpPr>
          <p:cNvPr id="7" name="Line 6"/>
          <p:cNvSpPr>
            <a:spLocks noChangeShapeType="1"/>
          </p:cNvSpPr>
          <p:nvPr/>
        </p:nvSpPr>
        <p:spPr bwMode="auto">
          <a:xfrm>
            <a:off x="2387591"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2" name="Line 6"/>
          <p:cNvSpPr>
            <a:spLocks noChangeShapeType="1"/>
          </p:cNvSpPr>
          <p:nvPr/>
        </p:nvSpPr>
        <p:spPr bwMode="auto">
          <a:xfrm>
            <a:off x="4113204" y="1087843"/>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3" name="Line 5"/>
          <p:cNvSpPr>
            <a:spLocks noChangeShapeType="1"/>
          </p:cNvSpPr>
          <p:nvPr/>
        </p:nvSpPr>
        <p:spPr bwMode="auto">
          <a:xfrm>
            <a:off x="585216" y="108784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4" name="Line 5"/>
          <p:cNvSpPr>
            <a:spLocks noChangeShapeType="1"/>
          </p:cNvSpPr>
          <p:nvPr/>
        </p:nvSpPr>
        <p:spPr bwMode="auto">
          <a:xfrm>
            <a:off x="585216" y="40753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5" name="Line 5"/>
          <p:cNvSpPr>
            <a:spLocks noChangeShapeType="1"/>
          </p:cNvSpPr>
          <p:nvPr/>
        </p:nvSpPr>
        <p:spPr bwMode="auto">
          <a:xfrm>
            <a:off x="585216" y="139416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6" name="Line 6"/>
          <p:cNvSpPr>
            <a:spLocks noChangeShapeType="1"/>
          </p:cNvSpPr>
          <p:nvPr/>
        </p:nvSpPr>
        <p:spPr bwMode="auto">
          <a:xfrm>
            <a:off x="585272"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7" name="Line 6"/>
          <p:cNvSpPr>
            <a:spLocks noChangeShapeType="1"/>
          </p:cNvSpPr>
          <p:nvPr/>
        </p:nvSpPr>
        <p:spPr bwMode="auto">
          <a:xfrm>
            <a:off x="8540440"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8" name="Line 5"/>
          <p:cNvSpPr>
            <a:spLocks noChangeShapeType="1"/>
          </p:cNvSpPr>
          <p:nvPr/>
        </p:nvSpPr>
        <p:spPr bwMode="auto">
          <a:xfrm>
            <a:off x="585216" y="174369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19" name="Line 5"/>
          <p:cNvSpPr>
            <a:spLocks noChangeShapeType="1"/>
          </p:cNvSpPr>
          <p:nvPr/>
        </p:nvSpPr>
        <p:spPr bwMode="auto">
          <a:xfrm>
            <a:off x="585216" y="2095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0" name="Line 5"/>
          <p:cNvSpPr>
            <a:spLocks noChangeShapeType="1"/>
          </p:cNvSpPr>
          <p:nvPr/>
        </p:nvSpPr>
        <p:spPr bwMode="auto">
          <a:xfrm>
            <a:off x="585216" y="2419197"/>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1" name="Line 5"/>
          <p:cNvSpPr>
            <a:spLocks noChangeShapeType="1"/>
          </p:cNvSpPr>
          <p:nvPr/>
        </p:nvSpPr>
        <p:spPr bwMode="auto">
          <a:xfrm>
            <a:off x="585216" y="273466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2" name="Line 5"/>
          <p:cNvSpPr>
            <a:spLocks noChangeShapeType="1"/>
          </p:cNvSpPr>
          <p:nvPr/>
        </p:nvSpPr>
        <p:spPr bwMode="auto">
          <a:xfrm>
            <a:off x="585216" y="30489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3" name="Line 5"/>
          <p:cNvSpPr>
            <a:spLocks noChangeShapeType="1"/>
          </p:cNvSpPr>
          <p:nvPr/>
        </p:nvSpPr>
        <p:spPr bwMode="auto">
          <a:xfrm>
            <a:off x="585216" y="3382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4" name="Line 5"/>
          <p:cNvSpPr>
            <a:spLocks noChangeShapeType="1"/>
          </p:cNvSpPr>
          <p:nvPr/>
        </p:nvSpPr>
        <p:spPr bwMode="auto">
          <a:xfrm>
            <a:off x="585216" y="369705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5"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Tree>
    <p:extLst>
      <p:ext uri="{BB962C8B-B14F-4D97-AF65-F5344CB8AC3E}">
        <p14:creationId xmlns:p14="http://schemas.microsoft.com/office/powerpoint/2010/main" val="35337918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2317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368519" y="582898"/>
            <a:ext cx="24256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的报文</a:t>
            </a:r>
            <a:r>
              <a:rPr lang="zh-CN" altLang="en-US" sz="2000" b="1" dirty="0" smtClean="0">
                <a:solidFill>
                  <a:schemeClr val="bg1"/>
                </a:solidFill>
                <a:latin typeface="微软雅黑" pitchFamily="34" charset="-122"/>
                <a:ea typeface="微软雅黑" pitchFamily="34" charset="-122"/>
              </a:rPr>
              <a:t>格式</a:t>
            </a:r>
          </a:p>
        </p:txBody>
      </p:sp>
      <p:grpSp>
        <p:nvGrpSpPr>
          <p:cNvPr id="60" name="组合 59"/>
          <p:cNvGrpSpPr/>
          <p:nvPr/>
        </p:nvGrpSpPr>
        <p:grpSpPr>
          <a:xfrm>
            <a:off x="714611" y="1275095"/>
            <a:ext cx="7636988" cy="2750850"/>
            <a:chOff x="284287" y="1433308"/>
            <a:chExt cx="9493249" cy="3419476"/>
          </a:xfrm>
        </p:grpSpPr>
        <p:grpSp>
          <p:nvGrpSpPr>
            <p:cNvPr id="5" name="Group 142"/>
            <p:cNvGrpSpPr>
              <a:grpSpLocks/>
            </p:cNvGrpSpPr>
            <p:nvPr/>
          </p:nvGrpSpPr>
          <p:grpSpPr bwMode="auto">
            <a:xfrm>
              <a:off x="7266640" y="4061197"/>
              <a:ext cx="2510896" cy="344488"/>
              <a:chOff x="4177" y="2324"/>
              <a:chExt cx="1460" cy="217"/>
            </a:xfrm>
          </p:grpSpPr>
          <p:sp>
            <p:nvSpPr>
              <p:cNvPr id="6" name="Line 119"/>
              <p:cNvSpPr>
                <a:spLocks noChangeShapeType="1"/>
              </p:cNvSpPr>
              <p:nvPr/>
            </p:nvSpPr>
            <p:spPr bwMode="auto">
              <a:xfrm flipV="1">
                <a:off x="4177" y="2444"/>
                <a:ext cx="146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 name="Rectangle 122"/>
              <p:cNvSpPr>
                <a:spLocks noChangeArrowheads="1"/>
              </p:cNvSpPr>
              <p:nvPr/>
            </p:nvSpPr>
            <p:spPr bwMode="auto">
              <a:xfrm>
                <a:off x="4593" y="2324"/>
                <a:ext cx="579"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a:solidFill>
                      <a:srgbClr val="0000FF"/>
                    </a:solidFill>
                    <a:latin typeface="微软雅黑" pitchFamily="34" charset="-122"/>
                    <a:ea typeface="微软雅黑" pitchFamily="34" charset="-122"/>
                  </a:rPr>
                  <a:t>变量绑定</a:t>
                </a:r>
              </a:p>
            </p:txBody>
          </p:sp>
        </p:grpSp>
        <p:grpSp>
          <p:nvGrpSpPr>
            <p:cNvPr id="8" name="Group 141"/>
            <p:cNvGrpSpPr>
              <a:grpSpLocks/>
            </p:cNvGrpSpPr>
            <p:nvPr/>
          </p:nvGrpSpPr>
          <p:grpSpPr bwMode="auto">
            <a:xfrm>
              <a:off x="4100504" y="4061197"/>
              <a:ext cx="3154098" cy="344488"/>
              <a:chOff x="2336" y="2324"/>
              <a:chExt cx="1834" cy="217"/>
            </a:xfrm>
          </p:grpSpPr>
          <p:sp>
            <p:nvSpPr>
              <p:cNvPr id="9" name="Line 138"/>
              <p:cNvSpPr>
                <a:spLocks noChangeShapeType="1"/>
              </p:cNvSpPr>
              <p:nvPr/>
            </p:nvSpPr>
            <p:spPr bwMode="auto">
              <a:xfrm flipV="1">
                <a:off x="2336" y="2444"/>
                <a:ext cx="183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Rectangle 139"/>
              <p:cNvSpPr>
                <a:spLocks noChangeArrowheads="1"/>
              </p:cNvSpPr>
              <p:nvPr/>
            </p:nvSpPr>
            <p:spPr bwMode="auto">
              <a:xfrm>
                <a:off x="3032" y="2324"/>
                <a:ext cx="357"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pitchFamily="34" charset="-122"/>
                    <a:ea typeface="微软雅黑" pitchFamily="34" charset="-122"/>
                  </a:rPr>
                  <a:t>首部</a:t>
                </a:r>
              </a:p>
            </p:txBody>
          </p:sp>
        </p:grpSp>
        <p:sp>
          <p:nvSpPr>
            <p:cNvPr id="11" name="Rectangle 88"/>
            <p:cNvSpPr>
              <a:spLocks noChangeArrowheads="1"/>
            </p:cNvSpPr>
            <p:nvPr/>
          </p:nvSpPr>
          <p:spPr bwMode="auto">
            <a:xfrm>
              <a:off x="299764" y="3567478"/>
              <a:ext cx="9458854" cy="441325"/>
            </a:xfrm>
            <a:prstGeom prst="rect">
              <a:avLst/>
            </a:prstGeom>
            <a:solidFill>
              <a:srgbClr val="00FFCC"/>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109"/>
            <p:cNvSpPr>
              <a:spLocks noChangeArrowheads="1"/>
            </p:cNvSpPr>
            <p:nvPr/>
          </p:nvSpPr>
          <p:spPr bwMode="auto">
            <a:xfrm>
              <a:off x="2968881" y="3562715"/>
              <a:ext cx="6791458" cy="446090"/>
            </a:xfrm>
            <a:prstGeom prst="rect">
              <a:avLst/>
            </a:prstGeom>
            <a:solidFill>
              <a:srgbClr val="00B050"/>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Rectangle 111"/>
            <p:cNvSpPr>
              <a:spLocks noChangeArrowheads="1"/>
            </p:cNvSpPr>
            <p:nvPr/>
          </p:nvSpPr>
          <p:spPr bwMode="auto">
            <a:xfrm>
              <a:off x="284287" y="3642089"/>
              <a:ext cx="9164115" cy="31069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200" b="1" dirty="0">
                  <a:latin typeface="微软雅黑" pitchFamily="34" charset="-122"/>
                  <a:ea typeface="微软雅黑" pitchFamily="34" charset="-122"/>
                </a:rPr>
                <a:t>上下文引擎 </a:t>
              </a:r>
              <a:r>
                <a:rPr kumimoji="1" lang="en-US" altLang="zh-CN" sz="1200" b="1" dirty="0" smtClean="0">
                  <a:latin typeface="微软雅黑" pitchFamily="34" charset="-122"/>
                  <a:ea typeface="微软雅黑" pitchFamily="34" charset="-122"/>
                </a:rPr>
                <a:t>ID      </a:t>
              </a:r>
              <a:r>
                <a:rPr kumimoji="1" lang="zh-CN" altLang="en-US" sz="1200" b="1" dirty="0">
                  <a:latin typeface="微软雅黑" pitchFamily="34" charset="-122"/>
                  <a:ea typeface="微软雅黑" pitchFamily="34" charset="-122"/>
                </a:rPr>
                <a:t>上下文名 </a:t>
              </a:r>
              <a:r>
                <a:rPr kumimoji="1" lang="zh-CN" altLang="en-US" sz="1200" b="1" dirty="0" smtClean="0">
                  <a:latin typeface="微软雅黑" pitchFamily="34" charset="-122"/>
                  <a:ea typeface="微软雅黑" pitchFamily="34" charset="-122"/>
                </a:rPr>
                <a:t>     </a:t>
              </a:r>
              <a:r>
                <a:rPr kumimoji="1" lang="en-US" altLang="zh-CN" sz="1200" b="1" dirty="0" smtClean="0">
                  <a:solidFill>
                    <a:schemeClr val="bg1"/>
                  </a:solidFill>
                  <a:latin typeface="微软雅黑" pitchFamily="34" charset="-122"/>
                  <a:ea typeface="微软雅黑" pitchFamily="34" charset="-122"/>
                </a:rPr>
                <a:t>PDU </a:t>
              </a:r>
              <a:r>
                <a:rPr kumimoji="1" lang="zh-CN" altLang="en-US" sz="1200" b="1" dirty="0">
                  <a:solidFill>
                    <a:schemeClr val="bg1"/>
                  </a:solidFill>
                  <a:latin typeface="微软雅黑" pitchFamily="34" charset="-122"/>
                  <a:ea typeface="微软雅黑" pitchFamily="34" charset="-122"/>
                </a:rPr>
                <a:t>类型 </a:t>
              </a:r>
              <a:r>
                <a:rPr kumimoji="1" lang="zh-CN" altLang="en-US" sz="1200" b="1" dirty="0" smtClean="0">
                  <a:solidFill>
                    <a:schemeClr val="bg1"/>
                  </a:solidFill>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请求 </a:t>
              </a:r>
              <a:r>
                <a:rPr kumimoji="1" lang="en-US" altLang="zh-CN" sz="1200" b="1" dirty="0">
                  <a:solidFill>
                    <a:schemeClr val="bg1"/>
                  </a:solidFill>
                  <a:latin typeface="微软雅黑" pitchFamily="34" charset="-122"/>
                  <a:ea typeface="微软雅黑" pitchFamily="34" charset="-122"/>
                </a:rPr>
                <a:t>ID </a:t>
              </a:r>
              <a:r>
                <a:rPr kumimoji="1" lang="en-US" altLang="zh-CN" sz="1200" b="1" dirty="0" smtClean="0">
                  <a:solidFill>
                    <a:schemeClr val="bg1"/>
                  </a:solidFill>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差错状态  </a:t>
              </a:r>
              <a:r>
                <a:rPr kumimoji="1" lang="zh-CN" altLang="en-US" sz="1200" b="1" dirty="0" smtClean="0">
                  <a:solidFill>
                    <a:schemeClr val="bg1"/>
                  </a:solidFill>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差错索引   </a:t>
              </a:r>
              <a:r>
                <a:rPr kumimoji="1" lang="zh-CN" altLang="en-US" sz="1200" b="1" dirty="0" smtClean="0">
                  <a:solidFill>
                    <a:schemeClr val="bg1"/>
                  </a:solidFill>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名      值      名     值  </a:t>
              </a:r>
            </a:p>
          </p:txBody>
        </p:sp>
        <p:sp>
          <p:nvSpPr>
            <p:cNvPr id="14" name="Line 89"/>
            <p:cNvSpPr>
              <a:spLocks noChangeShapeType="1"/>
            </p:cNvSpPr>
            <p:nvPr/>
          </p:nvSpPr>
          <p:spPr bwMode="auto">
            <a:xfrm>
              <a:off x="2074589" y="2005377"/>
              <a:ext cx="718701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90"/>
            <p:cNvSpPr>
              <a:spLocks noChangeShapeType="1"/>
            </p:cNvSpPr>
            <p:nvPr/>
          </p:nvSpPr>
          <p:spPr bwMode="auto">
            <a:xfrm>
              <a:off x="2741869" y="2370502"/>
              <a:ext cx="65042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Line 91"/>
            <p:cNvSpPr>
              <a:spLocks noChangeShapeType="1"/>
            </p:cNvSpPr>
            <p:nvPr/>
          </p:nvSpPr>
          <p:spPr bwMode="auto">
            <a:xfrm>
              <a:off x="2759066" y="2238739"/>
              <a:ext cx="0" cy="3111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Line 92"/>
            <p:cNvSpPr>
              <a:spLocks noChangeShapeType="1"/>
            </p:cNvSpPr>
            <p:nvPr/>
          </p:nvSpPr>
          <p:spPr bwMode="auto">
            <a:xfrm>
              <a:off x="9261599" y="1537065"/>
              <a:ext cx="0" cy="9937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Rectangle 93"/>
            <p:cNvSpPr>
              <a:spLocks noChangeArrowheads="1"/>
            </p:cNvSpPr>
            <p:nvPr/>
          </p:nvSpPr>
          <p:spPr bwMode="auto">
            <a:xfrm>
              <a:off x="4726508" y="1830179"/>
              <a:ext cx="128923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solidFill>
                    <a:srgbClr val="0000FF"/>
                  </a:solidFill>
                  <a:latin typeface="微软雅黑" pitchFamily="34" charset="-122"/>
                  <a:ea typeface="微软雅黑" pitchFamily="34" charset="-122"/>
                </a:rPr>
                <a:t>UDP </a:t>
              </a:r>
              <a:r>
                <a:rPr kumimoji="1" lang="zh-CN" altLang="en-US" sz="1200" b="1">
                  <a:solidFill>
                    <a:srgbClr val="0000FF"/>
                  </a:solidFill>
                  <a:latin typeface="微软雅黑" pitchFamily="34" charset="-122"/>
                  <a:ea typeface="微软雅黑" pitchFamily="34" charset="-122"/>
                </a:rPr>
                <a:t>数据报</a:t>
              </a:r>
            </a:p>
          </p:txBody>
        </p:sp>
        <p:sp>
          <p:nvSpPr>
            <p:cNvPr id="19" name="Line 94"/>
            <p:cNvSpPr>
              <a:spLocks noChangeShapeType="1"/>
            </p:cNvSpPr>
            <p:nvPr/>
          </p:nvSpPr>
          <p:spPr bwMode="auto">
            <a:xfrm>
              <a:off x="1390112" y="1459277"/>
              <a:ext cx="0" cy="10906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Line 95"/>
            <p:cNvSpPr>
              <a:spLocks noChangeShapeType="1"/>
            </p:cNvSpPr>
            <p:nvPr/>
          </p:nvSpPr>
          <p:spPr bwMode="auto">
            <a:xfrm flipV="1">
              <a:off x="1391832" y="1619614"/>
              <a:ext cx="7871486" cy="0"/>
            </a:xfrm>
            <a:prstGeom prst="line">
              <a:avLst/>
            </a:prstGeom>
            <a:noFill/>
            <a:ln w="12700">
              <a:solidFill>
                <a:schemeClr val="tx1"/>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Rectangle 96"/>
            <p:cNvSpPr>
              <a:spLocks noChangeArrowheads="1"/>
            </p:cNvSpPr>
            <p:nvPr/>
          </p:nvSpPr>
          <p:spPr bwMode="auto">
            <a:xfrm>
              <a:off x="4451343" y="1433308"/>
              <a:ext cx="105211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sp>
          <p:nvSpPr>
            <p:cNvPr id="22" name="Rectangle 97"/>
            <p:cNvSpPr>
              <a:spLocks noChangeArrowheads="1"/>
            </p:cNvSpPr>
            <p:nvPr/>
          </p:nvSpPr>
          <p:spPr bwMode="auto">
            <a:xfrm>
              <a:off x="5208052" y="2190545"/>
              <a:ext cx="1271299"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C00FF"/>
                  </a:solidFill>
                  <a:latin typeface="微软雅黑" pitchFamily="34" charset="-122"/>
                  <a:ea typeface="微软雅黑" pitchFamily="34" charset="-122"/>
                </a:rPr>
                <a:t>SNMP </a:t>
              </a:r>
              <a:r>
                <a:rPr kumimoji="1" lang="zh-CN" altLang="en-US" sz="1200" b="1" dirty="0">
                  <a:solidFill>
                    <a:srgbClr val="CC00FF"/>
                  </a:solidFill>
                  <a:latin typeface="微软雅黑" pitchFamily="34" charset="-122"/>
                  <a:ea typeface="微软雅黑" pitchFamily="34" charset="-122"/>
                </a:rPr>
                <a:t>报文</a:t>
              </a:r>
            </a:p>
          </p:txBody>
        </p:sp>
        <p:sp>
          <p:nvSpPr>
            <p:cNvPr id="23" name="Line 98"/>
            <p:cNvSpPr>
              <a:spLocks noChangeShapeType="1"/>
            </p:cNvSpPr>
            <p:nvPr/>
          </p:nvSpPr>
          <p:spPr bwMode="auto">
            <a:xfrm>
              <a:off x="2074589" y="1849802"/>
              <a:ext cx="0" cy="685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Rectangle 99"/>
            <p:cNvSpPr>
              <a:spLocks noChangeArrowheads="1"/>
            </p:cNvSpPr>
            <p:nvPr/>
          </p:nvSpPr>
          <p:spPr bwMode="auto">
            <a:xfrm>
              <a:off x="1390112" y="2602277"/>
              <a:ext cx="7871487" cy="563562"/>
            </a:xfrm>
            <a:prstGeom prst="rect">
              <a:avLst/>
            </a:prstGeom>
            <a:solidFill>
              <a:srgbClr val="99FFCC"/>
            </a:solidFill>
            <a:ln w="9525">
              <a:solidFill>
                <a:schemeClr val="folHlink"/>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5" name="Rectangle 100"/>
            <p:cNvSpPr>
              <a:spLocks noChangeArrowheads="1"/>
            </p:cNvSpPr>
            <p:nvPr/>
          </p:nvSpPr>
          <p:spPr bwMode="auto">
            <a:xfrm>
              <a:off x="1410749" y="2602276"/>
              <a:ext cx="613731"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itchFamily="34" charset="-122"/>
                  <a:ea typeface="微软雅黑" pitchFamily="34" charset="-122"/>
                </a:rPr>
                <a:t>  IP </a:t>
              </a:r>
            </a:p>
            <a:p>
              <a:pPr defTabSz="762000">
                <a:lnSpc>
                  <a:spcPct val="90000"/>
                </a:lnSpc>
              </a:pPr>
              <a:r>
                <a:rPr kumimoji="1" lang="zh-CN" altLang="en-US" sz="1200" b="1">
                  <a:latin typeface="微软雅黑" pitchFamily="34" charset="-122"/>
                  <a:ea typeface="微软雅黑" pitchFamily="34" charset="-122"/>
                </a:rPr>
                <a:t>首部</a:t>
              </a:r>
            </a:p>
          </p:txBody>
        </p:sp>
        <p:sp>
          <p:nvSpPr>
            <p:cNvPr id="26" name="Rectangle 101"/>
            <p:cNvSpPr>
              <a:spLocks noChangeArrowheads="1"/>
            </p:cNvSpPr>
            <p:nvPr/>
          </p:nvSpPr>
          <p:spPr bwMode="auto">
            <a:xfrm>
              <a:off x="2088347" y="2603864"/>
              <a:ext cx="715356"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itchFamily="34" charset="-122"/>
                  <a:ea typeface="微软雅黑" pitchFamily="34" charset="-122"/>
                </a:rPr>
                <a:t>UDP </a:t>
              </a:r>
            </a:p>
            <a:p>
              <a:pPr defTabSz="762000">
                <a:lnSpc>
                  <a:spcPct val="90000"/>
                </a:lnSpc>
              </a:pPr>
              <a:r>
                <a:rPr kumimoji="1" lang="zh-CN" altLang="en-US" sz="1200" b="1">
                  <a:latin typeface="微软雅黑" pitchFamily="34" charset="-122"/>
                  <a:ea typeface="微软雅黑" pitchFamily="34" charset="-122"/>
                </a:rPr>
                <a:t>首部</a:t>
              </a:r>
            </a:p>
          </p:txBody>
        </p:sp>
        <p:sp>
          <p:nvSpPr>
            <p:cNvPr id="27"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Rectangle 105"/>
            <p:cNvSpPr>
              <a:spLocks noChangeArrowheads="1"/>
            </p:cNvSpPr>
            <p:nvPr/>
          </p:nvSpPr>
          <p:spPr bwMode="auto">
            <a:xfrm>
              <a:off x="5555448" y="2729276"/>
              <a:ext cx="2285550"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solidFill>
                    <a:schemeClr val="bg1"/>
                  </a:solidFill>
                  <a:latin typeface="微软雅黑" pitchFamily="34" charset="-122"/>
                  <a:ea typeface="微软雅黑" pitchFamily="34" charset="-122"/>
                </a:rPr>
                <a:t>SNMP </a:t>
              </a:r>
              <a:r>
                <a:rPr kumimoji="1" lang="zh-CN" altLang="en-US" sz="1200" b="1" dirty="0">
                  <a:solidFill>
                    <a:schemeClr val="bg1"/>
                  </a:solidFill>
                  <a:latin typeface="微软雅黑" pitchFamily="34" charset="-122"/>
                  <a:ea typeface="微软雅黑" pitchFamily="34" charset="-122"/>
                </a:rPr>
                <a:t>报文的数据部分 </a:t>
              </a:r>
            </a:p>
          </p:txBody>
        </p:sp>
        <p:sp>
          <p:nvSpPr>
            <p:cNvPr id="32" name="Rectangle 145"/>
            <p:cNvSpPr>
              <a:spLocks noChangeArrowheads="1"/>
            </p:cNvSpPr>
            <p:nvPr/>
          </p:nvSpPr>
          <p:spPr bwMode="auto">
            <a:xfrm>
              <a:off x="2759065" y="2602276"/>
              <a:ext cx="1918473" cy="563563"/>
            </a:xfrm>
            <a:prstGeom prst="rect">
              <a:avLst/>
            </a:prstGeom>
            <a:solidFill>
              <a:srgbClr val="CC00CC"/>
            </a:solidFill>
            <a:ln w="9525">
              <a:solidFill>
                <a:schemeClr val="tx1"/>
              </a:solidFill>
              <a:miter lim="800000"/>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33"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4" name="Rectangle 107"/>
            <p:cNvSpPr>
              <a:spLocks noChangeArrowheads="1"/>
            </p:cNvSpPr>
            <p:nvPr/>
          </p:nvSpPr>
          <p:spPr bwMode="auto">
            <a:xfrm>
              <a:off x="2726390" y="2749914"/>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pitchFamily="34" charset="-122"/>
                  <a:ea typeface="微软雅黑" pitchFamily="34" charset="-122"/>
                </a:rPr>
                <a:t>版本</a:t>
              </a:r>
            </a:p>
          </p:txBody>
        </p:sp>
        <p:sp>
          <p:nvSpPr>
            <p:cNvPr id="35" name="Rectangle 108"/>
            <p:cNvSpPr>
              <a:spLocks noChangeArrowheads="1"/>
            </p:cNvSpPr>
            <p:nvPr/>
          </p:nvSpPr>
          <p:spPr bwMode="auto">
            <a:xfrm>
              <a:off x="3355835" y="2738803"/>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a:solidFill>
                    <a:schemeClr val="bg1"/>
                  </a:solidFill>
                  <a:latin typeface="微软雅黑" pitchFamily="34" charset="-122"/>
                  <a:ea typeface="微软雅黑" pitchFamily="34" charset="-122"/>
                </a:rPr>
                <a:t>首部</a:t>
              </a:r>
            </a:p>
          </p:txBody>
        </p:sp>
        <p:sp>
          <p:nvSpPr>
            <p:cNvPr id="36"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112"/>
            <p:cNvSpPr txBox="1">
              <a:spLocks noChangeArrowheads="1"/>
            </p:cNvSpPr>
            <p:nvPr/>
          </p:nvSpPr>
          <p:spPr bwMode="auto">
            <a:xfrm>
              <a:off x="9342804" y="3563478"/>
              <a:ext cx="412873" cy="344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38" name="Rectangle 113"/>
            <p:cNvSpPr>
              <a:spLocks noChangeArrowheads="1"/>
            </p:cNvSpPr>
            <p:nvPr/>
          </p:nvSpPr>
          <p:spPr bwMode="auto">
            <a:xfrm>
              <a:off x="1304122" y="2291127"/>
              <a:ext cx="906648"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itchFamily="34" charset="-122"/>
                  <a:ea typeface="微软雅黑" pitchFamily="34" charset="-122"/>
                </a:rPr>
                <a:t>20 </a:t>
              </a:r>
              <a:r>
                <a:rPr kumimoji="1" lang="zh-CN" altLang="en-US" sz="1200" b="1">
                  <a:latin typeface="微软雅黑" pitchFamily="34" charset="-122"/>
                  <a:ea typeface="微软雅黑" pitchFamily="34" charset="-122"/>
                </a:rPr>
                <a:t>字节</a:t>
              </a:r>
            </a:p>
          </p:txBody>
        </p:sp>
        <p:sp>
          <p:nvSpPr>
            <p:cNvPr id="39" name="Rectangle 114"/>
            <p:cNvSpPr>
              <a:spLocks noChangeArrowheads="1"/>
            </p:cNvSpPr>
            <p:nvPr/>
          </p:nvSpPr>
          <p:spPr bwMode="auto">
            <a:xfrm>
              <a:off x="2050511" y="2291127"/>
              <a:ext cx="789082"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itchFamily="34" charset="-122"/>
                  <a:ea typeface="微软雅黑" pitchFamily="34" charset="-122"/>
                </a:rPr>
                <a:t>8 </a:t>
              </a:r>
              <a:r>
                <a:rPr kumimoji="1" lang="zh-CN" altLang="en-US" sz="1200" b="1">
                  <a:latin typeface="微软雅黑" pitchFamily="34" charset="-122"/>
                  <a:ea typeface="微软雅黑" pitchFamily="34" charset="-122"/>
                </a:rPr>
                <a:t>字节</a:t>
              </a:r>
            </a:p>
          </p:txBody>
        </p:sp>
        <p:sp>
          <p:nvSpPr>
            <p:cNvPr id="40" name="Line 115"/>
            <p:cNvSpPr>
              <a:spLocks noChangeShapeType="1"/>
            </p:cNvSpPr>
            <p:nvPr/>
          </p:nvSpPr>
          <p:spPr bwMode="auto">
            <a:xfrm flipH="1">
              <a:off x="9760338"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118"/>
            <p:cNvSpPr>
              <a:spLocks noChangeShapeType="1"/>
            </p:cNvSpPr>
            <p:nvPr/>
          </p:nvSpPr>
          <p:spPr bwMode="auto">
            <a:xfrm flipV="1">
              <a:off x="3003277" y="4499339"/>
              <a:ext cx="677254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Rectangle 121"/>
            <p:cNvSpPr>
              <a:spLocks noChangeArrowheads="1"/>
            </p:cNvSpPr>
            <p:nvPr/>
          </p:nvSpPr>
          <p:spPr bwMode="auto">
            <a:xfrm>
              <a:off x="5834054" y="4386058"/>
              <a:ext cx="1315137"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00000"/>
                  </a:solidFill>
                  <a:latin typeface="微软雅黑" pitchFamily="34" charset="-122"/>
                  <a:ea typeface="微软雅黑" pitchFamily="34" charset="-122"/>
                </a:rPr>
                <a:t>SNMP PDU</a:t>
              </a:r>
            </a:p>
          </p:txBody>
        </p:sp>
        <p:sp>
          <p:nvSpPr>
            <p:cNvPr id="44"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7"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8"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Line 132"/>
            <p:cNvSpPr>
              <a:spLocks noChangeShapeType="1"/>
            </p:cNvSpPr>
            <p:nvPr/>
          </p:nvSpPr>
          <p:spPr bwMode="auto">
            <a:xfrm flipH="1">
              <a:off x="7254601"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4" name="Line 133"/>
            <p:cNvSpPr>
              <a:spLocks noChangeShapeType="1"/>
            </p:cNvSpPr>
            <p:nvPr/>
          </p:nvSpPr>
          <p:spPr bwMode="auto">
            <a:xfrm flipH="1">
              <a:off x="2968880"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6" name="Rectangle 135"/>
            <p:cNvSpPr>
              <a:spLocks noChangeArrowheads="1"/>
            </p:cNvSpPr>
            <p:nvPr/>
          </p:nvSpPr>
          <p:spPr bwMode="auto">
            <a:xfrm>
              <a:off x="903595" y="4278108"/>
              <a:ext cx="1378901" cy="5746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1200" b="1" dirty="0">
                  <a:solidFill>
                    <a:srgbClr val="0000FF"/>
                  </a:solidFill>
                  <a:latin typeface="微软雅黑" pitchFamily="34" charset="-122"/>
                  <a:ea typeface="微软雅黑" pitchFamily="34" charset="-122"/>
                </a:rPr>
                <a:t>有关加密信息</a:t>
              </a:r>
            </a:p>
            <a:p>
              <a:pPr algn="ctr" defTabSz="762000"/>
              <a:r>
                <a:rPr kumimoji="1" lang="zh-CN" altLang="en-US" sz="1200" b="1" dirty="0">
                  <a:solidFill>
                    <a:srgbClr val="0000FF"/>
                  </a:solidFill>
                  <a:latin typeface="微软雅黑" pitchFamily="34" charset="-122"/>
                  <a:ea typeface="微软雅黑" pitchFamily="34" charset="-122"/>
                </a:rPr>
                <a:t>的字段</a:t>
              </a:r>
            </a:p>
          </p:txBody>
        </p:sp>
        <p:sp>
          <p:nvSpPr>
            <p:cNvPr id="57" name="AutoShape 136"/>
            <p:cNvSpPr>
              <a:spLocks/>
            </p:cNvSpPr>
            <p:nvPr/>
          </p:nvSpPr>
          <p:spPr bwMode="auto">
            <a:xfrm rot="-5400000">
              <a:off x="1500972" y="2877444"/>
              <a:ext cx="225425" cy="2627842"/>
            </a:xfrm>
            <a:prstGeom prst="leftBrace">
              <a:avLst>
                <a:gd name="adj1" fmla="val 89671"/>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58" name="Line 137"/>
            <p:cNvSpPr>
              <a:spLocks noChangeShapeType="1"/>
            </p:cNvSpPr>
            <p:nvPr/>
          </p:nvSpPr>
          <p:spPr bwMode="auto">
            <a:xfrm flipH="1">
              <a:off x="4100503"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Freeform 143"/>
            <p:cNvSpPr>
              <a:spLocks/>
            </p:cNvSpPr>
            <p:nvPr/>
          </p:nvSpPr>
          <p:spPr bwMode="auto">
            <a:xfrm>
              <a:off x="320400" y="3153141"/>
              <a:ext cx="9431338" cy="409574"/>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5400000" scaled="1"/>
              <a:tileRect/>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Rectangle 144"/>
            <p:cNvSpPr>
              <a:spLocks noChangeArrowheads="1"/>
            </p:cNvSpPr>
            <p:nvPr/>
          </p:nvSpPr>
          <p:spPr bwMode="auto">
            <a:xfrm>
              <a:off x="4683513" y="2602276"/>
              <a:ext cx="4572926" cy="550864"/>
            </a:xfrm>
            <a:prstGeom prst="rect">
              <a:avLst/>
            </a:prstGeom>
            <a:solidFill>
              <a:srgbClr val="0000FF"/>
            </a:solidFill>
            <a:ln w="9525">
              <a:solidFill>
                <a:schemeClr val="tx1"/>
              </a:solidFill>
              <a:miter lim="800000"/>
              <a:headEnd/>
              <a:tailEnd/>
            </a:ln>
            <a:effectLst/>
            <a:extLst/>
          </p:spPr>
          <p:txBody>
            <a:bodyPr wrap="none" anchor="ctr"/>
            <a:lstStyle/>
            <a:p>
              <a:pPr eaLnBrk="1" hangingPunct="1"/>
              <a:endParaRPr lang="zh-CN" altLang="en-US" sz="1200" b="1">
                <a:solidFill>
                  <a:schemeClr val="bg1"/>
                </a:solidFill>
                <a:latin typeface="微软雅黑" pitchFamily="34" charset="-122"/>
                <a:ea typeface="微软雅黑" pitchFamily="34" charset="-122"/>
              </a:endParaRPr>
            </a:p>
          </p:txBody>
        </p:sp>
      </p:grpSp>
      <p:sp>
        <p:nvSpPr>
          <p:cNvPr id="61" name="Rectangle 124"/>
          <p:cNvSpPr>
            <a:spLocks noChangeArrowheads="1"/>
          </p:cNvSpPr>
          <p:nvPr/>
        </p:nvSpPr>
        <p:spPr bwMode="auto">
          <a:xfrm>
            <a:off x="3748055" y="2229538"/>
            <a:ext cx="493725" cy="4253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200" b="1" dirty="0">
                <a:solidFill>
                  <a:schemeClr val="bg1"/>
                </a:solidFill>
                <a:latin typeface="微软雅黑" pitchFamily="34" charset="-122"/>
                <a:ea typeface="微软雅黑" pitchFamily="34" charset="-122"/>
              </a:rPr>
              <a:t>安全</a:t>
            </a:r>
          </a:p>
          <a:p>
            <a:pPr algn="ctr" defTabSz="762000">
              <a:lnSpc>
                <a:spcPct val="90000"/>
              </a:lnSpc>
            </a:pPr>
            <a:r>
              <a:rPr kumimoji="1" lang="zh-CN" altLang="en-US" sz="1200" b="1" dirty="0">
                <a:solidFill>
                  <a:schemeClr val="bg1"/>
                </a:solidFill>
                <a:latin typeface="微软雅黑" pitchFamily="34" charset="-122"/>
                <a:ea typeface="微软雅黑" pitchFamily="34" charset="-122"/>
              </a:rPr>
              <a:t>参数</a:t>
            </a:r>
          </a:p>
        </p:txBody>
      </p:sp>
      <p:sp>
        <p:nvSpPr>
          <p:cNvPr id="62" name="Rectangle 4"/>
          <p:cNvSpPr>
            <a:spLocks noChangeArrowheads="1"/>
          </p:cNvSpPr>
          <p:nvPr/>
        </p:nvSpPr>
        <p:spPr bwMode="auto">
          <a:xfrm>
            <a:off x="7056120" y="37227"/>
            <a:ext cx="208532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SNMP </a:t>
            </a:r>
            <a:r>
              <a:rPr lang="zh-CN" altLang="en-US" sz="1100" b="1" dirty="0">
                <a:solidFill>
                  <a:srgbClr val="0070C0"/>
                </a:solidFill>
                <a:latin typeface="微软雅黑" pitchFamily="34" charset="-122"/>
                <a:ea typeface="微软雅黑" pitchFamily="34" charset="-122"/>
              </a:rPr>
              <a:t>的协议数据单元和报文</a:t>
            </a:r>
          </a:p>
        </p:txBody>
      </p:sp>
      <p:sp>
        <p:nvSpPr>
          <p:cNvPr id="45" name="矩形 44"/>
          <p:cNvSpPr/>
          <p:nvPr/>
        </p:nvSpPr>
        <p:spPr>
          <a:xfrm>
            <a:off x="2691651" y="2137122"/>
            <a:ext cx="5310222" cy="580677"/>
          </a:xfrm>
          <a:prstGeom prst="rect">
            <a:avLst/>
          </a:prstGeom>
          <a:noFill/>
          <a:ln w="28575">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n w="12700">
                <a:solidFill>
                  <a:srgbClr val="FF0000"/>
                </a:solidFill>
              </a:ln>
              <a:noFill/>
            </a:endParaRPr>
          </a:p>
        </p:txBody>
      </p:sp>
      <p:sp>
        <p:nvSpPr>
          <p:cNvPr id="63" name="矩形 62"/>
          <p:cNvSpPr/>
          <p:nvPr/>
        </p:nvSpPr>
        <p:spPr>
          <a:xfrm>
            <a:off x="2874271" y="2861129"/>
            <a:ext cx="5473175" cy="580677"/>
          </a:xfrm>
          <a:prstGeom prst="rect">
            <a:avLst/>
          </a:prstGeom>
          <a:noFill/>
          <a:ln w="28575">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n w="12700">
                <a:solidFill>
                  <a:srgbClr val="FF0000"/>
                </a:solidFill>
              </a:ln>
              <a:noFill/>
            </a:endParaRPr>
          </a:p>
        </p:txBody>
      </p:sp>
    </p:spTree>
    <p:custDataLst>
      <p:tags r:id="rId1"/>
    </p:custDataLst>
    <p:extLst>
      <p:ext uri="{BB962C8B-B14F-4D97-AF65-F5344CB8AC3E}">
        <p14:creationId xmlns:p14="http://schemas.microsoft.com/office/powerpoint/2010/main" val="16087451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45"/>
                                        </p:tgtEl>
                                        <p:attrNameLst>
                                          <p:attrName>style.visibility</p:attrName>
                                        </p:attrNameLst>
                                      </p:cBhvr>
                                      <p:to>
                                        <p:strVal val="hidden"/>
                                      </p:to>
                                    </p:set>
                                  </p:childTnLst>
                                </p:cTn>
                              </p:par>
                            </p:childTnLst>
                          </p:cTn>
                        </p:par>
                        <p:par>
                          <p:cTn id="12" fill="hold">
                            <p:stCondLst>
                              <p:cond delay="0"/>
                            </p:stCondLst>
                            <p:childTnLst>
                              <p:par>
                                <p:cTn id="13" presetID="10" presetClass="entr" presetSubtype="0" fill="hold" grpId="0" nodeType="after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fade">
                                      <p:cBhvr>
                                        <p:cTn id="1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63"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2119"/>
            <a:ext cx="8048776" cy="24384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4943"/>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699811" y="581732"/>
            <a:ext cx="37630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a:solidFill>
                  <a:schemeClr val="bg1"/>
                </a:solidFill>
                <a:latin typeface="微软雅黑" pitchFamily="34" charset="-122"/>
                <a:ea typeface="微软雅黑" pitchFamily="34" charset="-122"/>
              </a:rPr>
              <a:t>报文 </a:t>
            </a:r>
            <a:r>
              <a:rPr lang="en-US" altLang="zh-CN" sz="2000" b="1" dirty="0">
                <a:solidFill>
                  <a:schemeClr val="bg1"/>
                </a:solidFill>
                <a:latin typeface="微软雅黑" pitchFamily="34" charset="-122"/>
                <a:ea typeface="微软雅黑" pitchFamily="34" charset="-122"/>
              </a:rPr>
              <a:t>ASN.1 </a:t>
            </a:r>
            <a:r>
              <a:rPr lang="zh-CN" altLang="en-US" sz="2000" b="1" dirty="0" smtClean="0">
                <a:solidFill>
                  <a:schemeClr val="bg1"/>
                </a:solidFill>
                <a:latin typeface="微软雅黑" pitchFamily="34" charset="-122"/>
                <a:ea typeface="微软雅黑" pitchFamily="34" charset="-122"/>
              </a:rPr>
              <a:t>定义</a:t>
            </a:r>
          </a:p>
        </p:txBody>
      </p:sp>
      <p:sp>
        <p:nvSpPr>
          <p:cNvPr id="5" name="矩形 4"/>
          <p:cNvSpPr/>
          <p:nvPr/>
        </p:nvSpPr>
        <p:spPr>
          <a:xfrm>
            <a:off x="903285" y="1246382"/>
            <a:ext cx="7533684" cy="1938992"/>
          </a:xfrm>
          <a:prstGeom prst="rect">
            <a:avLst/>
          </a:prstGeom>
        </p:spPr>
        <p:txBody>
          <a:bodyPr wrap="square">
            <a:spAutoFit/>
          </a:bodyPr>
          <a:lstStyle/>
          <a:p>
            <a:pPr hangingPunct="0">
              <a:lnSpc>
                <a:spcPts val="2400"/>
              </a:lnSpc>
            </a:pPr>
            <a:r>
              <a:rPr lang="en-US" altLang="zh-CN" sz="1400" b="1" dirty="0">
                <a:latin typeface="微软雅黑" pitchFamily="34" charset="-122"/>
                <a:ea typeface="微软雅黑" pitchFamily="34" charset="-122"/>
              </a:rPr>
              <a:t>Get-request-PDU ::</a:t>
            </a:r>
            <a:r>
              <a:rPr lang="en-US" altLang="zh-CN" sz="1400" b="1" dirty="0">
                <a:latin typeface="微软雅黑" pitchFamily="34" charset="-122"/>
                <a:ea typeface="微软雅黑" pitchFamily="34" charset="-122"/>
                <a:sym typeface="Symbol"/>
              </a:rPr>
              <a:t></a:t>
            </a:r>
            <a:r>
              <a:rPr lang="en-US" altLang="zh-CN" sz="1400" b="1" dirty="0">
                <a:latin typeface="微软雅黑" pitchFamily="34" charset="-122"/>
                <a:ea typeface="微软雅黑" pitchFamily="34" charset="-122"/>
              </a:rPr>
              <a:t> [0]                      </a:t>
            </a:r>
            <a:r>
              <a:rPr lang="en-US" altLang="zh-CN" sz="1400" b="1" dirty="0" smtClean="0">
                <a:latin typeface="微软雅黑" pitchFamily="34" charset="-122"/>
                <a:ea typeface="微软雅黑" pitchFamily="34" charset="-122"/>
              </a:rPr>
              <a:t>--[</a:t>
            </a:r>
            <a:r>
              <a:rPr lang="en-US" altLang="zh-CN" sz="1400" b="1" dirty="0">
                <a:latin typeface="微软雅黑" pitchFamily="34" charset="-122"/>
                <a:ea typeface="微软雅黑" pitchFamily="34" charset="-122"/>
              </a:rPr>
              <a:t>0</a:t>
            </a:r>
            <a:r>
              <a:rPr lang="en-US" altLang="zh-CN" sz="1400" b="1" dirty="0" smtClean="0">
                <a:latin typeface="微软雅黑" pitchFamily="34" charset="-122"/>
                <a:ea typeface="微软雅黑" pitchFamily="34" charset="-122"/>
              </a:rPr>
              <a:t>] </a:t>
            </a:r>
            <a:r>
              <a:rPr lang="zh-CN" altLang="zh-CN" sz="1400" b="1" dirty="0" smtClean="0">
                <a:latin typeface="微软雅黑" pitchFamily="34" charset="-122"/>
                <a:ea typeface="微软雅黑" pitchFamily="34" charset="-122"/>
              </a:rPr>
              <a:t>表示</a:t>
            </a:r>
            <a:r>
              <a:rPr lang="zh-CN" altLang="zh-CN" sz="1400" b="1" dirty="0">
                <a:latin typeface="微软雅黑" pitchFamily="34" charset="-122"/>
                <a:ea typeface="微软雅黑" pitchFamily="34" charset="-122"/>
              </a:rPr>
              <a:t>上下文类，编号</a:t>
            </a:r>
            <a:r>
              <a:rPr lang="zh-CN" altLang="zh-CN" sz="1400" b="1" dirty="0" smtClean="0">
                <a:latin typeface="微软雅黑" pitchFamily="34" charset="-122"/>
                <a:ea typeface="微软雅黑" pitchFamily="34" charset="-122"/>
              </a:rPr>
              <a:t>为</a:t>
            </a:r>
            <a:r>
              <a:rPr lang="en-US" altLang="zh-CN" sz="1400" b="1" dirty="0" smtClean="0">
                <a:latin typeface="微软雅黑" pitchFamily="34" charset="-122"/>
                <a:ea typeface="微软雅黑" pitchFamily="34" charset="-122"/>
              </a:rPr>
              <a:t> 0</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IMPLICIT SEQUENCE {                      -</a:t>
            </a:r>
            <a:r>
              <a:rPr lang="en-US" altLang="zh-CN" sz="1400" b="1" dirty="0" smtClean="0">
                <a:latin typeface="微软雅黑" pitchFamily="34" charset="-122"/>
                <a:ea typeface="微软雅黑" pitchFamily="34" charset="-122"/>
              </a:rPr>
              <a:t>-</a:t>
            </a:r>
            <a:r>
              <a:rPr lang="zh-CN" altLang="zh-CN" sz="1400" b="1" dirty="0">
                <a:latin typeface="微软雅黑" pitchFamily="34" charset="-122"/>
                <a:ea typeface="微软雅黑" pitchFamily="34" charset="-122"/>
              </a:rPr>
              <a:t>类型</a:t>
            </a:r>
            <a:r>
              <a:rPr lang="zh-CN" altLang="zh-CN" sz="1400" b="1" dirty="0" smtClean="0">
                <a:latin typeface="微软雅黑" pitchFamily="34" charset="-122"/>
                <a:ea typeface="微软雅黑" pitchFamily="34" charset="-122"/>
              </a:rPr>
              <a:t>是</a:t>
            </a:r>
            <a:r>
              <a:rPr lang="en-US" altLang="zh-CN" sz="1400" b="1" dirty="0" smtClean="0">
                <a:latin typeface="微软雅黑" pitchFamily="34" charset="-122"/>
                <a:ea typeface="微软雅黑" pitchFamily="34" charset="-122"/>
              </a:rPr>
              <a:t> SEQUENCE</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request-id</a:t>
            </a:r>
            <a:r>
              <a:rPr lang="en-US" altLang="zh-CN" sz="1400" b="1" dirty="0">
                <a:latin typeface="微软雅黑" pitchFamily="34" charset="-122"/>
                <a:ea typeface="微软雅黑" pitchFamily="34" charset="-122"/>
              </a:rPr>
              <a:t>      </a:t>
            </a:r>
            <a:r>
              <a:rPr lang="en-US" altLang="zh-CN" sz="1400" b="1" dirty="0" smtClean="0">
                <a:latin typeface="微软雅黑" pitchFamily="34" charset="-122"/>
                <a:ea typeface="微软雅黑" pitchFamily="34" charset="-122"/>
              </a:rPr>
              <a:t>integer32</a:t>
            </a:r>
            <a:r>
              <a:rPr lang="en-US" altLang="zh-CN" sz="1400" b="1" dirty="0">
                <a:latin typeface="微软雅黑" pitchFamily="34" charset="-122"/>
                <a:ea typeface="微软雅黑" pitchFamily="34" charset="-122"/>
              </a:rPr>
              <a:t>,                </a:t>
            </a:r>
            <a:r>
              <a:rPr lang="en-US" altLang="zh-CN" sz="1400" b="1" dirty="0" smtClean="0">
                <a:latin typeface="微软雅黑" pitchFamily="34" charset="-122"/>
                <a:ea typeface="微软雅黑" pitchFamily="34" charset="-122"/>
              </a:rPr>
              <a:t>--</a:t>
            </a:r>
            <a:r>
              <a:rPr lang="zh-CN" altLang="zh-CN" sz="1400" b="1" dirty="0" smtClean="0">
                <a:latin typeface="微软雅黑" pitchFamily="34" charset="-122"/>
                <a:ea typeface="微软雅黑" pitchFamily="34" charset="-122"/>
              </a:rPr>
              <a:t>变量</a:t>
            </a:r>
            <a:r>
              <a:rPr lang="en-US" altLang="zh-CN" sz="1400" b="1" dirty="0" smtClean="0">
                <a:latin typeface="微软雅黑" pitchFamily="34" charset="-122"/>
                <a:ea typeface="微软雅黑" pitchFamily="34" charset="-122"/>
              </a:rPr>
              <a:t> request-id </a:t>
            </a:r>
            <a:r>
              <a:rPr lang="zh-CN" altLang="zh-CN" sz="1400" b="1" dirty="0" smtClean="0">
                <a:latin typeface="微软雅黑" pitchFamily="34" charset="-122"/>
                <a:ea typeface="微软雅黑" pitchFamily="34" charset="-122"/>
              </a:rPr>
              <a:t>的</a:t>
            </a:r>
            <a:r>
              <a:rPr lang="zh-CN" altLang="zh-CN" sz="1400" b="1" dirty="0">
                <a:latin typeface="微软雅黑" pitchFamily="34" charset="-122"/>
                <a:ea typeface="微软雅黑" pitchFamily="34" charset="-122"/>
              </a:rPr>
              <a:t>类型</a:t>
            </a:r>
            <a:r>
              <a:rPr lang="zh-CN" altLang="zh-CN" sz="1400" b="1" dirty="0" smtClean="0">
                <a:latin typeface="微软雅黑" pitchFamily="34" charset="-122"/>
                <a:ea typeface="微软雅黑" pitchFamily="34" charset="-122"/>
              </a:rPr>
              <a:t>是</a:t>
            </a:r>
            <a:r>
              <a:rPr lang="en-US" altLang="zh-CN" sz="1400" b="1" dirty="0" smtClean="0">
                <a:latin typeface="微软雅黑" pitchFamily="34" charset="-122"/>
                <a:ea typeface="微软雅黑" pitchFamily="34" charset="-122"/>
              </a:rPr>
              <a:t> integer32</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error-status</a:t>
            </a:r>
            <a:r>
              <a:rPr lang="en-US" altLang="zh-CN" sz="1400" b="1" dirty="0">
                <a:latin typeface="微软雅黑" pitchFamily="34" charset="-122"/>
                <a:ea typeface="微软雅黑" pitchFamily="34" charset="-122"/>
              </a:rPr>
              <a:t>   </a:t>
            </a:r>
            <a:r>
              <a:rPr lang="en-US" altLang="zh-CN" sz="1400" b="1" dirty="0" smtClean="0">
                <a:latin typeface="微软雅黑" pitchFamily="34" charset="-122"/>
                <a:ea typeface="微软雅黑" pitchFamily="34" charset="-122"/>
              </a:rPr>
              <a:t>INTEGER </a:t>
            </a:r>
            <a:r>
              <a:rPr lang="en-US" altLang="zh-CN" sz="1400" b="1" dirty="0">
                <a:latin typeface="微软雅黑" pitchFamily="34" charset="-122"/>
                <a:ea typeface="微软雅黑" pitchFamily="34" charset="-122"/>
              </a:rPr>
              <a:t>{0..18},     </a:t>
            </a:r>
            <a:r>
              <a:rPr lang="en-US" altLang="zh-CN" sz="1400" b="1" dirty="0" smtClean="0">
                <a:latin typeface="微软雅黑" pitchFamily="34" charset="-122"/>
                <a:ea typeface="微软雅黑" pitchFamily="34" charset="-122"/>
              </a:rPr>
              <a:t>--</a:t>
            </a:r>
            <a:r>
              <a:rPr lang="zh-CN" altLang="zh-CN" sz="1400" b="1" dirty="0" smtClean="0">
                <a:latin typeface="微软雅黑" pitchFamily="34" charset="-122"/>
                <a:ea typeface="微软雅黑" pitchFamily="34" charset="-122"/>
              </a:rPr>
              <a:t>变量</a:t>
            </a:r>
            <a:r>
              <a:rPr lang="en-US" altLang="zh-CN" sz="1400" b="1" dirty="0" smtClean="0">
                <a:latin typeface="微软雅黑" pitchFamily="34" charset="-122"/>
                <a:ea typeface="微软雅黑" pitchFamily="34" charset="-122"/>
              </a:rPr>
              <a:t> error-status </a:t>
            </a:r>
            <a:r>
              <a:rPr lang="zh-CN" altLang="zh-CN" sz="1400" b="1" dirty="0" smtClean="0">
                <a:latin typeface="微软雅黑" pitchFamily="34" charset="-122"/>
                <a:ea typeface="微软雅黑" pitchFamily="34" charset="-122"/>
              </a:rPr>
              <a:t>取值为</a:t>
            </a:r>
            <a:r>
              <a:rPr lang="en-US" altLang="zh-CN" sz="1400" b="1" dirty="0" smtClean="0">
                <a:latin typeface="微软雅黑" pitchFamily="34" charset="-122"/>
                <a:ea typeface="微软雅黑" pitchFamily="34" charset="-122"/>
              </a:rPr>
              <a:t> 0 </a:t>
            </a:r>
            <a:r>
              <a:rPr lang="en-US" altLang="zh-CN" sz="1400" b="1" dirty="0">
                <a:latin typeface="微软雅黑" pitchFamily="34" charset="-122"/>
                <a:ea typeface="微软雅黑" pitchFamily="34" charset="-122"/>
              </a:rPr>
              <a:t>~ </a:t>
            </a:r>
            <a:r>
              <a:rPr lang="en-US" altLang="zh-CN" sz="1400" b="1" dirty="0" smtClean="0">
                <a:latin typeface="微软雅黑" pitchFamily="34" charset="-122"/>
                <a:ea typeface="微软雅黑" pitchFamily="34" charset="-122"/>
              </a:rPr>
              <a:t>18 </a:t>
            </a:r>
            <a:r>
              <a:rPr lang="zh-CN" altLang="zh-CN" sz="1400" b="1" dirty="0" smtClean="0">
                <a:latin typeface="微软雅黑" pitchFamily="34" charset="-122"/>
                <a:ea typeface="微软雅黑" pitchFamily="34" charset="-122"/>
              </a:rPr>
              <a:t>的</a:t>
            </a:r>
            <a:r>
              <a:rPr lang="zh-CN" altLang="zh-CN" sz="1400" b="1" dirty="0">
                <a:latin typeface="微软雅黑" pitchFamily="34" charset="-122"/>
                <a:ea typeface="微软雅黑" pitchFamily="34" charset="-122"/>
              </a:rPr>
              <a:t>整数</a:t>
            </a: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error-index</a:t>
            </a:r>
            <a:r>
              <a:rPr lang="en-US" altLang="zh-CN" sz="1400" b="1" dirty="0">
                <a:latin typeface="微软雅黑" pitchFamily="34" charset="-122"/>
                <a:ea typeface="微软雅黑" pitchFamily="34" charset="-122"/>
              </a:rPr>
              <a:t>    </a:t>
            </a:r>
            <a:r>
              <a:rPr lang="en-US" altLang="zh-CN" sz="1400" b="1" dirty="0" smtClean="0">
                <a:latin typeface="微软雅黑" pitchFamily="34" charset="-122"/>
                <a:ea typeface="微软雅黑" pitchFamily="34" charset="-122"/>
              </a:rPr>
              <a:t>INTEGER </a:t>
            </a:r>
            <a:r>
              <a:rPr lang="en-US" altLang="zh-CN" sz="1400" b="1" dirty="0">
                <a:latin typeface="微软雅黑" pitchFamily="34" charset="-122"/>
                <a:ea typeface="微软雅黑" pitchFamily="34" charset="-122"/>
              </a:rPr>
              <a:t>{0..max-bindings}, </a:t>
            </a:r>
            <a:r>
              <a:rPr lang="en-US" altLang="zh-CN" sz="1050" b="1" dirty="0">
                <a:latin typeface="微软雅黑" pitchFamily="34" charset="-122"/>
                <a:ea typeface="微软雅黑" pitchFamily="34" charset="-122"/>
              </a:rPr>
              <a:t>--</a:t>
            </a:r>
            <a:r>
              <a:rPr lang="zh-CN" altLang="zh-CN" sz="1050" b="1" dirty="0" smtClean="0">
                <a:latin typeface="微软雅黑" pitchFamily="34" charset="-122"/>
                <a:ea typeface="微软雅黑" pitchFamily="34" charset="-122"/>
              </a:rPr>
              <a:t>变量</a:t>
            </a:r>
            <a:r>
              <a:rPr lang="en-US" altLang="zh-CN" sz="1050" b="1" dirty="0" smtClean="0">
                <a:latin typeface="微软雅黑" pitchFamily="34" charset="-122"/>
                <a:ea typeface="微软雅黑" pitchFamily="34" charset="-122"/>
              </a:rPr>
              <a:t> error-index </a:t>
            </a:r>
            <a:r>
              <a:rPr lang="zh-CN" altLang="zh-CN" sz="1050" b="1" dirty="0" smtClean="0">
                <a:latin typeface="微软雅黑" pitchFamily="34" charset="-122"/>
                <a:ea typeface="微软雅黑" pitchFamily="34" charset="-122"/>
              </a:rPr>
              <a:t>取值为</a:t>
            </a:r>
            <a:r>
              <a:rPr lang="en-US" altLang="zh-CN" sz="1050" b="1" dirty="0" smtClean="0">
                <a:latin typeface="微软雅黑" pitchFamily="34" charset="-122"/>
                <a:ea typeface="微软雅黑" pitchFamily="34" charset="-122"/>
              </a:rPr>
              <a:t> 0 </a:t>
            </a:r>
            <a:r>
              <a:rPr lang="en-US" altLang="zh-CN" sz="1050" b="1" dirty="0">
                <a:latin typeface="微软雅黑" pitchFamily="34" charset="-122"/>
                <a:ea typeface="微软雅黑" pitchFamily="34" charset="-122"/>
              </a:rPr>
              <a:t>~ max-bindings</a:t>
            </a:r>
            <a:r>
              <a:rPr lang="zh-CN" altLang="zh-CN" sz="1050" b="1" dirty="0">
                <a:latin typeface="微软雅黑" pitchFamily="34" charset="-122"/>
                <a:ea typeface="微软雅黑" pitchFamily="34" charset="-122"/>
              </a:rPr>
              <a:t>的整数</a:t>
            </a: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variable-bindings</a:t>
            </a:r>
            <a:r>
              <a:rPr lang="en-US" altLang="zh-CN" sz="1400" b="1" dirty="0">
                <a:latin typeface="微软雅黑" pitchFamily="34" charset="-122"/>
                <a:ea typeface="微软雅黑" pitchFamily="34" charset="-122"/>
              </a:rPr>
              <a:t>  </a:t>
            </a:r>
            <a:r>
              <a:rPr lang="en-US" altLang="zh-CN" sz="1400" b="1" dirty="0" err="1">
                <a:latin typeface="微软雅黑" pitchFamily="34" charset="-122"/>
                <a:ea typeface="微软雅黑" pitchFamily="34" charset="-122"/>
              </a:rPr>
              <a:t>VarBindList</a:t>
            </a:r>
            <a:r>
              <a:rPr lang="en-US" altLang="zh-CN" sz="1400" b="1" dirty="0">
                <a:latin typeface="微软雅黑" pitchFamily="34" charset="-122"/>
                <a:ea typeface="微软雅黑" pitchFamily="34" charset="-122"/>
              </a:rPr>
              <a:t> }   </a:t>
            </a:r>
            <a:r>
              <a:rPr lang="en-US" altLang="zh-CN" sz="1400" b="1" dirty="0" smtClean="0">
                <a:latin typeface="微软雅黑" pitchFamily="34" charset="-122"/>
                <a:ea typeface="微软雅黑" pitchFamily="34" charset="-122"/>
              </a:rPr>
              <a:t>--</a:t>
            </a:r>
            <a:r>
              <a:rPr lang="zh-CN" altLang="zh-CN" sz="1400" b="1" dirty="0" smtClean="0">
                <a:latin typeface="微软雅黑" pitchFamily="34" charset="-122"/>
                <a:ea typeface="微软雅黑" pitchFamily="34" charset="-122"/>
              </a:rPr>
              <a:t>变量</a:t>
            </a:r>
            <a:r>
              <a:rPr lang="en-US" altLang="zh-CN" sz="1400" b="1" dirty="0" smtClean="0">
                <a:latin typeface="微软雅黑" pitchFamily="34" charset="-122"/>
                <a:ea typeface="微软雅黑" pitchFamily="34" charset="-122"/>
              </a:rPr>
              <a:t> variable-binding </a:t>
            </a:r>
            <a:r>
              <a:rPr lang="zh-CN" altLang="zh-CN" sz="1400" b="1" dirty="0" smtClean="0">
                <a:latin typeface="微软雅黑" pitchFamily="34" charset="-122"/>
                <a:ea typeface="微软雅黑" pitchFamily="34" charset="-122"/>
              </a:rPr>
              <a:t>的</a:t>
            </a:r>
            <a:r>
              <a:rPr lang="zh-CN" altLang="zh-CN" sz="1400" b="1" dirty="0">
                <a:latin typeface="微软雅黑" pitchFamily="34" charset="-122"/>
                <a:ea typeface="微软雅黑" pitchFamily="34" charset="-122"/>
              </a:rPr>
              <a:t>类型</a:t>
            </a:r>
            <a:r>
              <a:rPr lang="zh-CN" altLang="zh-CN" sz="1400" b="1" dirty="0" smtClean="0">
                <a:latin typeface="微软雅黑" pitchFamily="34" charset="-122"/>
                <a:ea typeface="微软雅黑" pitchFamily="34" charset="-122"/>
              </a:rPr>
              <a:t>是</a:t>
            </a:r>
            <a:r>
              <a:rPr lang="en-US" altLang="zh-CN" sz="1400" b="1" dirty="0" smtClean="0">
                <a:latin typeface="微软雅黑" pitchFamily="34" charset="-122"/>
                <a:ea typeface="微软雅黑" pitchFamily="34" charset="-122"/>
              </a:rPr>
              <a:t> </a:t>
            </a:r>
            <a:r>
              <a:rPr lang="en-US" altLang="zh-CN" sz="1400" b="1" dirty="0" err="1" smtClean="0">
                <a:latin typeface="微软雅黑" pitchFamily="34" charset="-122"/>
                <a:ea typeface="微软雅黑" pitchFamily="34" charset="-122"/>
              </a:rPr>
              <a:t>VarBindList</a:t>
            </a:r>
            <a:endParaRPr lang="zh-CN" altLang="zh-CN" sz="1400" b="1" dirty="0">
              <a:latin typeface="微软雅黑" pitchFamily="34" charset="-122"/>
              <a:ea typeface="微软雅黑" pitchFamily="34" charset="-122"/>
            </a:endParaRPr>
          </a:p>
        </p:txBody>
      </p:sp>
    </p:spTree>
    <p:extLst>
      <p:ext uri="{BB962C8B-B14F-4D97-AF65-F5344CB8AC3E}">
        <p14:creationId xmlns:p14="http://schemas.microsoft.com/office/powerpoint/2010/main" val="11119533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719849" y="582898"/>
            <a:ext cx="3723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smtClean="0">
                <a:solidFill>
                  <a:schemeClr val="bg1"/>
                </a:solidFill>
                <a:latin typeface="微软雅黑" pitchFamily="34" charset="-122"/>
                <a:ea typeface="微软雅黑" pitchFamily="34" charset="-122"/>
              </a:rPr>
              <a:t>报文的 </a:t>
            </a:r>
            <a:r>
              <a:rPr lang="en-US" altLang="zh-CN" sz="2000" b="1" dirty="0" smtClean="0">
                <a:solidFill>
                  <a:schemeClr val="bg1"/>
                </a:solidFill>
                <a:latin typeface="微软雅黑" pitchFamily="34" charset="-122"/>
                <a:ea typeface="微软雅黑" pitchFamily="34" charset="-122"/>
              </a:rPr>
              <a:t>BER </a:t>
            </a:r>
            <a:r>
              <a:rPr lang="zh-CN" altLang="en-US" sz="2000" b="1" dirty="0" smtClean="0">
                <a:solidFill>
                  <a:schemeClr val="bg1"/>
                </a:solidFill>
                <a:latin typeface="微软雅黑" pitchFamily="34" charset="-122"/>
                <a:ea typeface="微软雅黑" pitchFamily="34" charset="-122"/>
              </a:rPr>
              <a:t>编码</a:t>
            </a:r>
          </a:p>
        </p:txBody>
      </p:sp>
      <p:sp>
        <p:nvSpPr>
          <p:cNvPr id="61" name="Freeform 200"/>
          <p:cNvSpPr>
            <a:spLocks/>
          </p:cNvSpPr>
          <p:nvPr/>
        </p:nvSpPr>
        <p:spPr bwMode="auto">
          <a:xfrm>
            <a:off x="1163991" y="2087402"/>
            <a:ext cx="6375405" cy="18956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chemeClr val="tx2">
                  <a:lumMod val="60000"/>
                  <a:lumOff val="40000"/>
                </a:schemeClr>
              </a:gs>
              <a:gs pos="100000">
                <a:srgbClr val="00FFCC"/>
              </a:gs>
            </a:gsLst>
            <a:lin ang="5400000" scaled="1"/>
          </a:gradFill>
          <a:ln>
            <a:noFill/>
          </a:ln>
          <a:effectLst/>
          <a:extLst/>
        </p:spPr>
        <p:txBody>
          <a:bodyPr wrap="none" anchor="ctr"/>
          <a:lstStyle/>
          <a:p>
            <a:pPr algn="ctr"/>
            <a:endParaRPr lang="zh-CN" altLang="en-US" sz="1100" b="1">
              <a:latin typeface="微软雅黑" pitchFamily="34" charset="-122"/>
              <a:ea typeface="微软雅黑" pitchFamily="34" charset="-122"/>
            </a:endParaRPr>
          </a:p>
        </p:txBody>
      </p:sp>
      <p:sp>
        <p:nvSpPr>
          <p:cNvPr id="62" name="Rectangle 195"/>
          <p:cNvSpPr>
            <a:spLocks noChangeArrowheads="1"/>
          </p:cNvSpPr>
          <p:nvPr/>
        </p:nvSpPr>
        <p:spPr bwMode="auto">
          <a:xfrm>
            <a:off x="6846316" y="3599577"/>
            <a:ext cx="847098" cy="414664"/>
          </a:xfrm>
          <a:prstGeom prst="rect">
            <a:avLst/>
          </a:prstGeom>
          <a:solidFill>
            <a:srgbClr val="FF99FF"/>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3" name="Rectangle 168"/>
          <p:cNvSpPr>
            <a:spLocks noChangeArrowheads="1"/>
          </p:cNvSpPr>
          <p:nvPr/>
        </p:nvSpPr>
        <p:spPr bwMode="auto">
          <a:xfrm>
            <a:off x="5141618" y="2930731"/>
            <a:ext cx="2425780" cy="412509"/>
          </a:xfrm>
          <a:prstGeom prst="rect">
            <a:avLst/>
          </a:prstGeom>
          <a:solidFill>
            <a:srgbClr val="CC00CC"/>
          </a:solidFill>
          <a:ln w="19050">
            <a:solidFill>
              <a:schemeClr val="tx1"/>
            </a:solidFill>
            <a:miter lim="800000"/>
            <a:headEnd/>
            <a:tailEnd/>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4" name="Rectangle 197"/>
          <p:cNvSpPr>
            <a:spLocks noChangeArrowheads="1"/>
          </p:cNvSpPr>
          <p:nvPr/>
        </p:nvSpPr>
        <p:spPr bwMode="auto">
          <a:xfrm>
            <a:off x="6913989" y="2947963"/>
            <a:ext cx="648742" cy="382352"/>
          </a:xfrm>
          <a:prstGeom prst="rect">
            <a:avLst/>
          </a:prstGeom>
          <a:solidFill>
            <a:srgbClr val="FF99FF"/>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5" name="Rectangle 198"/>
          <p:cNvSpPr>
            <a:spLocks noChangeArrowheads="1"/>
          </p:cNvSpPr>
          <p:nvPr/>
        </p:nvSpPr>
        <p:spPr bwMode="auto">
          <a:xfrm>
            <a:off x="6380762" y="2941501"/>
            <a:ext cx="512226" cy="388814"/>
          </a:xfrm>
          <a:prstGeom prst="rect">
            <a:avLst/>
          </a:prstGeom>
          <a:solidFill>
            <a:srgbClr val="00FFCC"/>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6" name="Rectangle 134"/>
          <p:cNvSpPr>
            <a:spLocks noChangeArrowheads="1"/>
          </p:cNvSpPr>
          <p:nvPr/>
        </p:nvSpPr>
        <p:spPr bwMode="auto">
          <a:xfrm>
            <a:off x="1154656" y="2274809"/>
            <a:ext cx="6412743" cy="412510"/>
          </a:xfrm>
          <a:prstGeom prst="rect">
            <a:avLst/>
          </a:prstGeom>
          <a:solidFill>
            <a:srgbClr val="0000FF"/>
          </a:solidFill>
          <a:ln w="19050">
            <a:solidFill>
              <a:schemeClr val="tx1"/>
            </a:solidFill>
            <a:miter lim="800000"/>
            <a:headEnd/>
            <a:tailEnd/>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8" name="Freeform 190"/>
          <p:cNvSpPr>
            <a:spLocks/>
          </p:cNvSpPr>
          <p:nvPr/>
        </p:nvSpPr>
        <p:spPr bwMode="auto">
          <a:xfrm>
            <a:off x="2963198" y="1531646"/>
            <a:ext cx="4191152" cy="305881"/>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0070C0"/>
              </a:gs>
              <a:gs pos="100000">
                <a:srgbClr val="00CCFF"/>
              </a:gs>
            </a:gsLst>
            <a:lin ang="5400000" scaled="1"/>
          </a:gradFill>
          <a:ln>
            <a:noFill/>
          </a:ln>
          <a:effectLst/>
          <a:extLst/>
        </p:spPr>
        <p:txBody>
          <a:bodyPr/>
          <a:lstStyle/>
          <a:p>
            <a:pPr algn="ctr"/>
            <a:endParaRPr lang="zh-CN" altLang="en-US" sz="1100" b="1">
              <a:latin typeface="微软雅黑" pitchFamily="34" charset="-122"/>
              <a:ea typeface="微软雅黑" pitchFamily="34" charset="-122"/>
            </a:endParaRPr>
          </a:p>
        </p:txBody>
      </p:sp>
      <p:sp>
        <p:nvSpPr>
          <p:cNvPr id="69" name="Rectangle 192"/>
          <p:cNvSpPr>
            <a:spLocks noChangeArrowheads="1"/>
          </p:cNvSpPr>
          <p:nvPr/>
        </p:nvSpPr>
        <p:spPr bwMode="auto">
          <a:xfrm>
            <a:off x="3240898" y="3603885"/>
            <a:ext cx="3599584" cy="400662"/>
          </a:xfrm>
          <a:prstGeom prst="rect">
            <a:avLst/>
          </a:prstGeom>
          <a:solidFill>
            <a:srgbClr val="00FFCC"/>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1" name="Text Box 119"/>
          <p:cNvSpPr txBox="1">
            <a:spLocks noChangeArrowheads="1"/>
          </p:cNvSpPr>
          <p:nvPr/>
        </p:nvSpPr>
        <p:spPr bwMode="auto">
          <a:xfrm>
            <a:off x="4733237"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latin typeface="微软雅黑" pitchFamily="34" charset="-122"/>
                <a:ea typeface="微软雅黑" pitchFamily="34" charset="-122"/>
              </a:rPr>
              <a:t>L</a:t>
            </a:r>
            <a:endParaRPr kumimoji="1" lang="en-US" altLang="zh-CN" sz="1100" b="1" dirty="0">
              <a:latin typeface="微软雅黑" pitchFamily="34" charset="-122"/>
              <a:ea typeface="微软雅黑" pitchFamily="34" charset="-122"/>
            </a:endParaRPr>
          </a:p>
          <a:p>
            <a:pPr algn="ctr" eaLnBrk="1" hangingPunct="1"/>
            <a:r>
              <a:rPr kumimoji="1" lang="en-US" altLang="zh-CN" sz="1100" b="1" dirty="0">
                <a:latin typeface="微软雅黑" pitchFamily="34" charset="-122"/>
                <a:ea typeface="微软雅黑" pitchFamily="34" charset="-122"/>
              </a:rPr>
              <a:t>09</a:t>
            </a:r>
          </a:p>
        </p:txBody>
      </p:sp>
      <p:sp>
        <p:nvSpPr>
          <p:cNvPr id="72" name="Text Box 120"/>
          <p:cNvSpPr txBox="1">
            <a:spLocks noChangeArrowheads="1"/>
          </p:cNvSpPr>
          <p:nvPr/>
        </p:nvSpPr>
        <p:spPr bwMode="auto">
          <a:xfrm>
            <a:off x="3191892" y="3590962"/>
            <a:ext cx="156805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latin typeface="微软雅黑" pitchFamily="34" charset="-122"/>
                <a:ea typeface="微软雅黑" pitchFamily="34" charset="-122"/>
              </a:rPr>
              <a:t>T</a:t>
            </a:r>
            <a:endParaRPr kumimoji="1" lang="en-US" altLang="zh-CN" sz="1100" b="1" dirty="0">
              <a:latin typeface="微软雅黑" pitchFamily="34" charset="-122"/>
              <a:ea typeface="微软雅黑" pitchFamily="34" charset="-122"/>
            </a:endParaRPr>
          </a:p>
          <a:p>
            <a:pPr algn="ctr" eaLnBrk="1" hangingPunct="1"/>
            <a:r>
              <a:rPr kumimoji="1" lang="en-US" altLang="zh-CN" sz="1100" b="1" dirty="0">
                <a:latin typeface="微软雅黑" pitchFamily="34" charset="-122"/>
                <a:ea typeface="微软雅黑" pitchFamily="34" charset="-122"/>
              </a:rPr>
              <a:t>OBJECT IDENTIFIER</a:t>
            </a:r>
          </a:p>
        </p:txBody>
      </p:sp>
      <p:sp>
        <p:nvSpPr>
          <p:cNvPr id="82" name="Rectangle 136"/>
          <p:cNvSpPr>
            <a:spLocks noChangeArrowheads="1"/>
          </p:cNvSpPr>
          <p:nvPr/>
        </p:nvSpPr>
        <p:spPr bwMode="auto">
          <a:xfrm>
            <a:off x="2955032" y="1849376"/>
            <a:ext cx="4216822" cy="243413"/>
          </a:xfrm>
          <a:prstGeom prst="rect">
            <a:avLst/>
          </a:prstGeom>
          <a:solidFill>
            <a:srgbClr val="0066FF"/>
          </a:solidFill>
          <a:ln w="19050">
            <a:solidFill>
              <a:schemeClr val="tx2"/>
            </a:solidFill>
            <a:miter lim="800000"/>
            <a:headEnd/>
            <a:tailEnd/>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3" name="Line 137"/>
          <p:cNvSpPr>
            <a:spLocks noChangeShapeType="1"/>
          </p:cNvSpPr>
          <p:nvPr/>
        </p:nvSpPr>
        <p:spPr bwMode="auto">
          <a:xfrm>
            <a:off x="3876806" y="1849376"/>
            <a:ext cx="1166"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4" name="Line 138"/>
          <p:cNvSpPr>
            <a:spLocks noChangeShapeType="1"/>
          </p:cNvSpPr>
          <p:nvPr/>
        </p:nvSpPr>
        <p:spPr bwMode="auto">
          <a:xfrm>
            <a:off x="4865086"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5" name="Line 139"/>
          <p:cNvSpPr>
            <a:spLocks noChangeShapeType="1"/>
          </p:cNvSpPr>
          <p:nvPr/>
        </p:nvSpPr>
        <p:spPr bwMode="auto">
          <a:xfrm>
            <a:off x="5854534"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6" name="Text Box 141"/>
          <p:cNvSpPr txBox="1">
            <a:spLocks noChangeArrowheads="1"/>
          </p:cNvSpPr>
          <p:nvPr/>
        </p:nvSpPr>
        <p:spPr bwMode="auto">
          <a:xfrm>
            <a:off x="2945340" y="1837528"/>
            <a:ext cx="91403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request-id</a:t>
            </a:r>
          </a:p>
        </p:txBody>
      </p:sp>
      <p:sp>
        <p:nvSpPr>
          <p:cNvPr id="87" name="Text Box 142"/>
          <p:cNvSpPr txBox="1">
            <a:spLocks noChangeArrowheads="1"/>
          </p:cNvSpPr>
          <p:nvPr/>
        </p:nvSpPr>
        <p:spPr bwMode="auto">
          <a:xfrm>
            <a:off x="3835363" y="1837528"/>
            <a:ext cx="102463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error-status</a:t>
            </a:r>
          </a:p>
        </p:txBody>
      </p:sp>
      <p:sp>
        <p:nvSpPr>
          <p:cNvPr id="88" name="Text Box 143"/>
          <p:cNvSpPr txBox="1">
            <a:spLocks noChangeArrowheads="1"/>
          </p:cNvSpPr>
          <p:nvPr/>
        </p:nvSpPr>
        <p:spPr bwMode="auto">
          <a:xfrm>
            <a:off x="4849044" y="1837528"/>
            <a:ext cx="9877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error-index</a:t>
            </a:r>
          </a:p>
        </p:txBody>
      </p:sp>
      <p:sp>
        <p:nvSpPr>
          <p:cNvPr id="89" name="Text Box 144"/>
          <p:cNvSpPr txBox="1">
            <a:spLocks noChangeArrowheads="1"/>
          </p:cNvSpPr>
          <p:nvPr/>
        </p:nvSpPr>
        <p:spPr bwMode="auto">
          <a:xfrm>
            <a:off x="5799225" y="1837528"/>
            <a:ext cx="142539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variable-bindings</a:t>
            </a:r>
          </a:p>
        </p:txBody>
      </p:sp>
      <p:sp>
        <p:nvSpPr>
          <p:cNvPr id="90" name="Line 145"/>
          <p:cNvSpPr>
            <a:spLocks noChangeShapeType="1"/>
          </p:cNvSpPr>
          <p:nvPr/>
        </p:nvSpPr>
        <p:spPr bwMode="auto">
          <a:xfrm flipH="1">
            <a:off x="4273517"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1" name="Line 146"/>
          <p:cNvSpPr>
            <a:spLocks noChangeShapeType="1"/>
          </p:cNvSpPr>
          <p:nvPr/>
        </p:nvSpPr>
        <p:spPr bwMode="auto">
          <a:xfrm>
            <a:off x="3119550"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2" name="Line 147"/>
          <p:cNvSpPr>
            <a:spLocks noChangeShapeType="1"/>
          </p:cNvSpPr>
          <p:nvPr/>
        </p:nvSpPr>
        <p:spPr bwMode="auto">
          <a:xfrm flipH="1">
            <a:off x="1875740" y="2274808"/>
            <a:ext cx="3501" cy="4049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3" name="Line 148"/>
          <p:cNvSpPr>
            <a:spLocks noChangeShapeType="1"/>
          </p:cNvSpPr>
          <p:nvPr/>
        </p:nvSpPr>
        <p:spPr bwMode="auto">
          <a:xfrm>
            <a:off x="220827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4" name="Line 149"/>
          <p:cNvSpPr>
            <a:spLocks noChangeShapeType="1"/>
          </p:cNvSpPr>
          <p:nvPr/>
        </p:nvSpPr>
        <p:spPr bwMode="auto">
          <a:xfrm>
            <a:off x="657911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5" name="Line 150"/>
          <p:cNvSpPr>
            <a:spLocks noChangeShapeType="1"/>
          </p:cNvSpPr>
          <p:nvPr/>
        </p:nvSpPr>
        <p:spPr bwMode="auto">
          <a:xfrm>
            <a:off x="6908156"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0" name="Line 155"/>
          <p:cNvSpPr>
            <a:spLocks noChangeShapeType="1"/>
          </p:cNvSpPr>
          <p:nvPr/>
        </p:nvSpPr>
        <p:spPr bwMode="auto">
          <a:xfrm>
            <a:off x="3823132"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1" name="Line 156"/>
          <p:cNvSpPr>
            <a:spLocks noChangeShapeType="1"/>
          </p:cNvSpPr>
          <p:nvPr/>
        </p:nvSpPr>
        <p:spPr bwMode="auto">
          <a:xfrm>
            <a:off x="4064660"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3" name="Line 158"/>
          <p:cNvSpPr>
            <a:spLocks noChangeShapeType="1"/>
          </p:cNvSpPr>
          <p:nvPr/>
        </p:nvSpPr>
        <p:spPr bwMode="auto">
          <a:xfrm>
            <a:off x="5453154" y="2282348"/>
            <a:ext cx="0" cy="3952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5" name="Line 160"/>
          <p:cNvSpPr>
            <a:spLocks noChangeShapeType="1"/>
          </p:cNvSpPr>
          <p:nvPr/>
        </p:nvSpPr>
        <p:spPr bwMode="auto">
          <a:xfrm>
            <a:off x="4986433"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6" name="Line 161"/>
          <p:cNvSpPr>
            <a:spLocks noChangeShapeType="1"/>
          </p:cNvSpPr>
          <p:nvPr/>
        </p:nvSpPr>
        <p:spPr bwMode="auto">
          <a:xfrm>
            <a:off x="5227962"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7" name="Line 162"/>
          <p:cNvSpPr>
            <a:spLocks noChangeShapeType="1"/>
          </p:cNvSpPr>
          <p:nvPr/>
        </p:nvSpPr>
        <p:spPr bwMode="auto">
          <a:xfrm flipV="1">
            <a:off x="1154656" y="2092788"/>
            <a:ext cx="1800375" cy="1798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8" name="Line 163"/>
          <p:cNvSpPr>
            <a:spLocks noChangeShapeType="1"/>
          </p:cNvSpPr>
          <p:nvPr/>
        </p:nvSpPr>
        <p:spPr bwMode="auto">
          <a:xfrm flipV="1">
            <a:off x="3119550" y="2092788"/>
            <a:ext cx="758421" cy="1766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9" name="Line 164"/>
          <p:cNvSpPr>
            <a:spLocks noChangeShapeType="1"/>
          </p:cNvSpPr>
          <p:nvPr/>
        </p:nvSpPr>
        <p:spPr bwMode="auto">
          <a:xfrm flipV="1">
            <a:off x="4273517" y="2092788"/>
            <a:ext cx="592735"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0" name="Line 165"/>
          <p:cNvSpPr>
            <a:spLocks noChangeShapeType="1"/>
          </p:cNvSpPr>
          <p:nvPr/>
        </p:nvSpPr>
        <p:spPr bwMode="auto">
          <a:xfrm flipV="1">
            <a:off x="5448487" y="2092788"/>
            <a:ext cx="406047"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1" name="Rectangle 199"/>
          <p:cNvSpPr>
            <a:spLocks noChangeArrowheads="1"/>
          </p:cNvSpPr>
          <p:nvPr/>
        </p:nvSpPr>
        <p:spPr bwMode="auto">
          <a:xfrm>
            <a:off x="6910490" y="2279117"/>
            <a:ext cx="649908" cy="404970"/>
          </a:xfrm>
          <a:prstGeom prst="rect">
            <a:avLst/>
          </a:prstGeom>
          <a:solidFill>
            <a:srgbClr val="CC00CC"/>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13" name="Line 167"/>
          <p:cNvSpPr>
            <a:spLocks noChangeShapeType="1"/>
          </p:cNvSpPr>
          <p:nvPr/>
        </p:nvSpPr>
        <p:spPr bwMode="auto">
          <a:xfrm>
            <a:off x="7171853" y="2092788"/>
            <a:ext cx="395546" cy="1927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4" name="Line 169"/>
          <p:cNvSpPr>
            <a:spLocks noChangeShapeType="1"/>
          </p:cNvSpPr>
          <p:nvPr/>
        </p:nvSpPr>
        <p:spPr bwMode="auto">
          <a:xfrm>
            <a:off x="6051724"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5" name="Line 170"/>
          <p:cNvSpPr>
            <a:spLocks noChangeShapeType="1"/>
          </p:cNvSpPr>
          <p:nvPr/>
        </p:nvSpPr>
        <p:spPr bwMode="auto">
          <a:xfrm flipV="1">
            <a:off x="5134618" y="2687318"/>
            <a:ext cx="1771205" cy="2477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6" name="Line 171"/>
          <p:cNvSpPr>
            <a:spLocks noChangeShapeType="1"/>
          </p:cNvSpPr>
          <p:nvPr/>
        </p:nvSpPr>
        <p:spPr bwMode="auto">
          <a:xfrm>
            <a:off x="7559232" y="2687319"/>
            <a:ext cx="0"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7" name="Rectangle 172"/>
          <p:cNvSpPr>
            <a:spLocks noChangeArrowheads="1"/>
          </p:cNvSpPr>
          <p:nvPr/>
        </p:nvSpPr>
        <p:spPr bwMode="auto">
          <a:xfrm>
            <a:off x="3239731" y="3598500"/>
            <a:ext cx="4459517" cy="425433"/>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18" name="Line 173"/>
          <p:cNvSpPr>
            <a:spLocks noChangeShapeType="1"/>
          </p:cNvSpPr>
          <p:nvPr/>
        </p:nvSpPr>
        <p:spPr bwMode="auto">
          <a:xfrm>
            <a:off x="6842815"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9" name="Line 174"/>
          <p:cNvSpPr>
            <a:spLocks noChangeShapeType="1"/>
          </p:cNvSpPr>
          <p:nvPr/>
        </p:nvSpPr>
        <p:spPr bwMode="auto">
          <a:xfrm>
            <a:off x="473440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0" name="Rectangle 201"/>
          <p:cNvSpPr>
            <a:spLocks noChangeArrowheads="1"/>
          </p:cNvSpPr>
          <p:nvPr/>
        </p:nvSpPr>
        <p:spPr bwMode="auto">
          <a:xfrm>
            <a:off x="3688950" y="1166527"/>
            <a:ext cx="420049" cy="365119"/>
          </a:xfrm>
          <a:prstGeom prst="rect">
            <a:avLst/>
          </a:prstGeom>
          <a:solidFill>
            <a:srgbClr val="009900"/>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1" name="Line 175"/>
          <p:cNvSpPr>
            <a:spLocks noChangeShapeType="1"/>
          </p:cNvSpPr>
          <p:nvPr/>
        </p:nvSpPr>
        <p:spPr bwMode="auto">
          <a:xfrm>
            <a:off x="5045940"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2" name="Line 176"/>
          <p:cNvSpPr>
            <a:spLocks noChangeShapeType="1"/>
          </p:cNvSpPr>
          <p:nvPr/>
        </p:nvSpPr>
        <p:spPr bwMode="auto">
          <a:xfrm>
            <a:off x="740871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3" name="Rectangle 202"/>
          <p:cNvSpPr>
            <a:spLocks noChangeArrowheads="1"/>
          </p:cNvSpPr>
          <p:nvPr/>
        </p:nvSpPr>
        <p:spPr bwMode="auto">
          <a:xfrm>
            <a:off x="4120666" y="1172990"/>
            <a:ext cx="420049" cy="358656"/>
          </a:xfrm>
          <a:prstGeom prst="rect">
            <a:avLst/>
          </a:prstGeom>
          <a:solidFill>
            <a:srgbClr val="CC00CC"/>
          </a:solidFill>
          <a:ln>
            <a:no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5" name="Rectangle 189"/>
          <p:cNvSpPr>
            <a:spLocks noChangeArrowheads="1"/>
          </p:cNvSpPr>
          <p:nvPr/>
        </p:nvSpPr>
        <p:spPr bwMode="auto">
          <a:xfrm>
            <a:off x="4550049" y="1176221"/>
            <a:ext cx="997199" cy="355426"/>
          </a:xfrm>
          <a:prstGeom prst="rect">
            <a:avLst/>
          </a:prstGeom>
          <a:solidFill>
            <a:srgbClr val="0066FF"/>
          </a:solidFill>
          <a:ln>
            <a:solidFill>
              <a:schemeClr val="tx1"/>
            </a:solidFill>
          </a:ln>
          <a:effectLs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8" name="Rectangle 135"/>
          <p:cNvSpPr>
            <a:spLocks noChangeArrowheads="1"/>
          </p:cNvSpPr>
          <p:nvPr/>
        </p:nvSpPr>
        <p:spPr bwMode="auto">
          <a:xfrm>
            <a:off x="3676116" y="1168681"/>
            <a:ext cx="1871132" cy="365119"/>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9" name="Line 177"/>
          <p:cNvSpPr>
            <a:spLocks noChangeShapeType="1"/>
          </p:cNvSpPr>
          <p:nvPr/>
        </p:nvSpPr>
        <p:spPr bwMode="auto">
          <a:xfrm>
            <a:off x="4547716"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0" name="Line 178"/>
          <p:cNvSpPr>
            <a:spLocks noChangeShapeType="1"/>
          </p:cNvSpPr>
          <p:nvPr/>
        </p:nvSpPr>
        <p:spPr bwMode="auto">
          <a:xfrm>
            <a:off x="4111332"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1" name="Line 179"/>
          <p:cNvSpPr>
            <a:spLocks noChangeShapeType="1"/>
          </p:cNvSpPr>
          <p:nvPr/>
        </p:nvSpPr>
        <p:spPr bwMode="auto">
          <a:xfrm>
            <a:off x="6381928"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2" name="Line 180"/>
          <p:cNvSpPr>
            <a:spLocks noChangeShapeType="1"/>
          </p:cNvSpPr>
          <p:nvPr/>
        </p:nvSpPr>
        <p:spPr bwMode="auto">
          <a:xfrm>
            <a:off x="6908156" y="2930731"/>
            <a:ext cx="0" cy="412509"/>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3" name="Line 181"/>
          <p:cNvSpPr>
            <a:spLocks noChangeShapeType="1"/>
          </p:cNvSpPr>
          <p:nvPr/>
        </p:nvSpPr>
        <p:spPr bwMode="auto">
          <a:xfrm flipV="1">
            <a:off x="3239732" y="3345394"/>
            <a:ext cx="3142197" cy="2509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4" name="Line 182"/>
          <p:cNvSpPr>
            <a:spLocks noChangeShapeType="1"/>
          </p:cNvSpPr>
          <p:nvPr/>
        </p:nvSpPr>
        <p:spPr bwMode="auto">
          <a:xfrm flipH="1">
            <a:off x="6853316" y="3335701"/>
            <a:ext cx="54840" cy="25310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5" name="Line 183"/>
          <p:cNvSpPr>
            <a:spLocks noChangeShapeType="1"/>
          </p:cNvSpPr>
          <p:nvPr/>
        </p:nvSpPr>
        <p:spPr bwMode="auto">
          <a:xfrm>
            <a:off x="7567399" y="3345394"/>
            <a:ext cx="131849" cy="2531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6" name="Text Box 184"/>
          <p:cNvSpPr txBox="1">
            <a:spLocks noChangeArrowheads="1"/>
          </p:cNvSpPr>
          <p:nvPr/>
        </p:nvSpPr>
        <p:spPr bwMode="auto">
          <a:xfrm>
            <a:off x="2070452" y="2643160"/>
            <a:ext cx="113832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request-ID</a:t>
            </a:r>
          </a:p>
        </p:txBody>
      </p:sp>
      <p:sp>
        <p:nvSpPr>
          <p:cNvPr id="137" name="Text Box 185"/>
          <p:cNvSpPr txBox="1">
            <a:spLocks noChangeArrowheads="1"/>
          </p:cNvSpPr>
          <p:nvPr/>
        </p:nvSpPr>
        <p:spPr bwMode="auto">
          <a:xfrm>
            <a:off x="4969740" y="4004547"/>
            <a:ext cx="195117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50" b="1" dirty="0">
                <a:latin typeface="微软雅黑" pitchFamily="34" charset="-122"/>
                <a:ea typeface="微软雅黑" pitchFamily="34" charset="-122"/>
              </a:rPr>
              <a:t>1.  3.  6.  1.  2.  1.  7.  1.  0</a:t>
            </a:r>
          </a:p>
        </p:txBody>
      </p:sp>
      <p:sp>
        <p:nvSpPr>
          <p:cNvPr id="138" name="Text Box 186"/>
          <p:cNvSpPr txBox="1">
            <a:spLocks noChangeArrowheads="1"/>
          </p:cNvSpPr>
          <p:nvPr/>
        </p:nvSpPr>
        <p:spPr bwMode="auto">
          <a:xfrm>
            <a:off x="2007949" y="1211314"/>
            <a:ext cx="16969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err="1">
                <a:latin typeface="微软雅黑" pitchFamily="34" charset="-122"/>
                <a:ea typeface="微软雅黑" pitchFamily="34" charset="-122"/>
              </a:rPr>
              <a:t>GetRequest</a:t>
            </a:r>
            <a:r>
              <a:rPr kumimoji="1" lang="en-US" altLang="zh-CN" sz="1400" b="1" dirty="0">
                <a:latin typeface="微软雅黑" pitchFamily="34" charset="-122"/>
                <a:ea typeface="微软雅黑" pitchFamily="34" charset="-122"/>
              </a:rPr>
              <a:t>-PDU</a:t>
            </a:r>
          </a:p>
        </p:txBody>
      </p:sp>
      <p:sp>
        <p:nvSpPr>
          <p:cNvPr id="139" name="Freeform 193"/>
          <p:cNvSpPr>
            <a:spLocks/>
          </p:cNvSpPr>
          <p:nvPr/>
        </p:nvSpPr>
        <p:spPr bwMode="auto">
          <a:xfrm>
            <a:off x="5145119" y="2681932"/>
            <a:ext cx="2429281" cy="245567"/>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FF66FF"/>
              </a:gs>
            </a:gsLst>
            <a:lin ang="5400000" scaled="1"/>
          </a:gradFill>
          <a:ln>
            <a:noFill/>
          </a:ln>
          <a:effectLst/>
          <a:extLst/>
        </p:spPr>
        <p:txBody>
          <a:bodyPr/>
          <a:lstStyle/>
          <a:p>
            <a:pPr algn="ctr"/>
            <a:endParaRPr lang="zh-CN" altLang="en-US" sz="1100" b="1">
              <a:latin typeface="微软雅黑" pitchFamily="34" charset="-122"/>
              <a:ea typeface="微软雅黑" pitchFamily="34" charset="-122"/>
            </a:endParaRPr>
          </a:p>
        </p:txBody>
      </p:sp>
      <p:sp>
        <p:nvSpPr>
          <p:cNvPr id="140" name="Freeform 194"/>
          <p:cNvSpPr>
            <a:spLocks/>
          </p:cNvSpPr>
          <p:nvPr/>
        </p:nvSpPr>
        <p:spPr bwMode="auto">
          <a:xfrm>
            <a:off x="3228064" y="3341085"/>
            <a:ext cx="3674258" cy="258491"/>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00B0F0"/>
              </a:gs>
              <a:gs pos="100000">
                <a:srgbClr val="99FFCC"/>
              </a:gs>
            </a:gsLst>
            <a:lin ang="5400000" scaled="1"/>
          </a:gradFill>
          <a:ln>
            <a:noFill/>
          </a:ln>
          <a:effectLst/>
          <a:extLst/>
        </p:spPr>
        <p:txBody>
          <a:bodyPr/>
          <a:lstStyle/>
          <a:p>
            <a:pPr algn="ctr"/>
            <a:endParaRPr lang="zh-CN" altLang="en-US" sz="1100" b="1">
              <a:latin typeface="微软雅黑" pitchFamily="34" charset="-122"/>
              <a:ea typeface="微软雅黑" pitchFamily="34" charset="-122"/>
            </a:endParaRPr>
          </a:p>
        </p:txBody>
      </p:sp>
      <p:sp>
        <p:nvSpPr>
          <p:cNvPr id="141" name="Freeform 196"/>
          <p:cNvSpPr>
            <a:spLocks/>
          </p:cNvSpPr>
          <p:nvPr/>
        </p:nvSpPr>
        <p:spPr bwMode="auto">
          <a:xfrm>
            <a:off x="6853316" y="3341085"/>
            <a:ext cx="840097" cy="258491"/>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7030A0"/>
              </a:gs>
              <a:gs pos="100000">
                <a:srgbClr val="FF00FF"/>
              </a:gs>
            </a:gsLst>
            <a:lin ang="5400000" scaled="1"/>
          </a:gradFill>
          <a:ln>
            <a:noFill/>
          </a:ln>
          <a:effectLst/>
          <a:extLst/>
        </p:spPr>
        <p:txBody>
          <a:bodyPr/>
          <a:lstStyle/>
          <a:p>
            <a:pPr algn="ctr"/>
            <a:endParaRPr lang="zh-CN" altLang="en-US" sz="1100" b="1">
              <a:latin typeface="微软雅黑" pitchFamily="34" charset="-122"/>
              <a:ea typeface="微软雅黑" pitchFamily="34" charset="-122"/>
            </a:endParaRPr>
          </a:p>
        </p:txBody>
      </p:sp>
      <p:sp>
        <p:nvSpPr>
          <p:cNvPr id="143" name="Text Box 127"/>
          <p:cNvSpPr txBox="1">
            <a:spLocks noChangeArrowheads="1"/>
          </p:cNvSpPr>
          <p:nvPr/>
        </p:nvSpPr>
        <p:spPr bwMode="auto">
          <a:xfrm>
            <a:off x="3712555" y="1128203"/>
            <a:ext cx="37702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 T</a:t>
            </a:r>
          </a:p>
          <a:p>
            <a:pPr algn="ctr" eaLnBrk="1" hangingPunct="1"/>
            <a:r>
              <a:rPr kumimoji="1" lang="en-US" altLang="zh-CN" sz="1100" b="1">
                <a:solidFill>
                  <a:schemeClr val="bg1"/>
                </a:solidFill>
                <a:latin typeface="微软雅黑" pitchFamily="34" charset="-122"/>
                <a:ea typeface="微软雅黑" pitchFamily="34" charset="-122"/>
              </a:rPr>
              <a:t>A0</a:t>
            </a:r>
          </a:p>
        </p:txBody>
      </p:sp>
      <p:sp>
        <p:nvSpPr>
          <p:cNvPr id="144" name="Text Box 128"/>
          <p:cNvSpPr txBox="1">
            <a:spLocks noChangeArrowheads="1"/>
          </p:cNvSpPr>
          <p:nvPr/>
        </p:nvSpPr>
        <p:spPr bwMode="auto">
          <a:xfrm>
            <a:off x="4139986" y="1128203"/>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  L</a:t>
            </a:r>
          </a:p>
          <a:p>
            <a:pPr algn="ctr" eaLnBrk="1" hangingPunct="1"/>
            <a:r>
              <a:rPr kumimoji="1" lang="en-US" altLang="zh-CN" sz="1100" b="1">
                <a:solidFill>
                  <a:schemeClr val="bg1"/>
                </a:solidFill>
                <a:latin typeface="微软雅黑" pitchFamily="34" charset="-122"/>
                <a:ea typeface="微软雅黑" pitchFamily="34" charset="-122"/>
              </a:rPr>
              <a:t>1D</a:t>
            </a:r>
          </a:p>
        </p:txBody>
      </p:sp>
      <p:sp>
        <p:nvSpPr>
          <p:cNvPr id="146" name="Text Box 129"/>
          <p:cNvSpPr txBox="1">
            <a:spLocks noChangeArrowheads="1"/>
          </p:cNvSpPr>
          <p:nvPr/>
        </p:nvSpPr>
        <p:spPr bwMode="auto">
          <a:xfrm>
            <a:off x="4557995" y="1134553"/>
            <a:ext cx="100380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err="1">
                <a:solidFill>
                  <a:schemeClr val="bg1"/>
                </a:solidFill>
                <a:latin typeface="微软雅黑" pitchFamily="34" charset="-122"/>
                <a:ea typeface="微软雅黑" pitchFamily="34" charset="-122"/>
              </a:rPr>
              <a:t>GetRequest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-PDU</a:t>
            </a:r>
          </a:p>
        </p:txBody>
      </p:sp>
      <p:sp>
        <p:nvSpPr>
          <p:cNvPr id="147" name="Text Box 123"/>
          <p:cNvSpPr txBox="1">
            <a:spLocks noChangeArrowheads="1"/>
          </p:cNvSpPr>
          <p:nvPr/>
        </p:nvSpPr>
        <p:spPr bwMode="auto">
          <a:xfrm>
            <a:off x="4945214"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L</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01</a:t>
            </a:r>
          </a:p>
        </p:txBody>
      </p:sp>
      <p:sp>
        <p:nvSpPr>
          <p:cNvPr id="148" name="Text Box 130"/>
          <p:cNvSpPr txBox="1">
            <a:spLocks noChangeArrowheads="1"/>
          </p:cNvSpPr>
          <p:nvPr/>
        </p:nvSpPr>
        <p:spPr bwMode="auto">
          <a:xfrm>
            <a:off x="6579118" y="2264039"/>
            <a:ext cx="34977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L</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0F</a:t>
            </a:r>
          </a:p>
        </p:txBody>
      </p:sp>
      <p:sp>
        <p:nvSpPr>
          <p:cNvPr id="150" name="Text Box 132"/>
          <p:cNvSpPr txBox="1">
            <a:spLocks noChangeArrowheads="1"/>
          </p:cNvSpPr>
          <p:nvPr/>
        </p:nvSpPr>
        <p:spPr bwMode="auto">
          <a:xfrm>
            <a:off x="3076380"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151" name="Text Box 133"/>
          <p:cNvSpPr txBox="1">
            <a:spLocks noChangeArrowheads="1"/>
          </p:cNvSpPr>
          <p:nvPr/>
        </p:nvSpPr>
        <p:spPr bwMode="auto">
          <a:xfrm>
            <a:off x="3775562"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L</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01</a:t>
            </a:r>
          </a:p>
        </p:txBody>
      </p:sp>
      <p:sp>
        <p:nvSpPr>
          <p:cNvPr id="153" name="Text Box 152"/>
          <p:cNvSpPr txBox="1">
            <a:spLocks noChangeArrowheads="1"/>
          </p:cNvSpPr>
          <p:nvPr/>
        </p:nvSpPr>
        <p:spPr bwMode="auto">
          <a:xfrm>
            <a:off x="2163313" y="2264039"/>
            <a:ext cx="101502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V</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05 AE 56 02</a:t>
            </a:r>
          </a:p>
        </p:txBody>
      </p:sp>
      <p:sp>
        <p:nvSpPr>
          <p:cNvPr id="154" name="Text Box 153"/>
          <p:cNvSpPr txBox="1">
            <a:spLocks noChangeArrowheads="1"/>
          </p:cNvSpPr>
          <p:nvPr/>
        </p:nvSpPr>
        <p:spPr bwMode="auto">
          <a:xfrm>
            <a:off x="4000756"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V</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00</a:t>
            </a:r>
          </a:p>
        </p:txBody>
      </p:sp>
      <p:sp>
        <p:nvSpPr>
          <p:cNvPr id="155" name="Text Box 154"/>
          <p:cNvSpPr txBox="1">
            <a:spLocks noChangeArrowheads="1"/>
          </p:cNvSpPr>
          <p:nvPr/>
        </p:nvSpPr>
        <p:spPr bwMode="auto">
          <a:xfrm>
            <a:off x="5430199" y="2264039"/>
            <a:ext cx="122661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SEQUENCE OF </a:t>
            </a:r>
          </a:p>
        </p:txBody>
      </p:sp>
      <p:sp>
        <p:nvSpPr>
          <p:cNvPr id="156" name="Text Box 157"/>
          <p:cNvSpPr txBox="1">
            <a:spLocks noChangeArrowheads="1"/>
          </p:cNvSpPr>
          <p:nvPr/>
        </p:nvSpPr>
        <p:spPr bwMode="auto">
          <a:xfrm>
            <a:off x="4239679"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157" name="Text Box 159"/>
          <p:cNvSpPr txBox="1">
            <a:spLocks noChangeArrowheads="1"/>
          </p:cNvSpPr>
          <p:nvPr/>
        </p:nvSpPr>
        <p:spPr bwMode="auto">
          <a:xfrm>
            <a:off x="5157708"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V</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00</a:t>
            </a:r>
          </a:p>
        </p:txBody>
      </p:sp>
      <p:sp>
        <p:nvSpPr>
          <p:cNvPr id="159" name="Text Box 118"/>
          <p:cNvSpPr txBox="1">
            <a:spLocks noChangeArrowheads="1"/>
          </p:cNvSpPr>
          <p:nvPr/>
        </p:nvSpPr>
        <p:spPr bwMode="auto">
          <a:xfrm>
            <a:off x="5009194" y="3590962"/>
            <a:ext cx="19062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00" b="1" dirty="0" smtClean="0">
                <a:latin typeface="微软雅黑" pitchFamily="34" charset="-122"/>
                <a:ea typeface="微软雅黑" pitchFamily="34" charset="-122"/>
              </a:rPr>
              <a:t>V</a:t>
            </a:r>
            <a:endParaRPr kumimoji="1" lang="en-US" altLang="zh-CN" sz="1000" b="1" dirty="0">
              <a:latin typeface="微软雅黑" pitchFamily="34" charset="-122"/>
              <a:ea typeface="微软雅黑" pitchFamily="34" charset="-122"/>
            </a:endParaRPr>
          </a:p>
          <a:p>
            <a:pPr algn="ctr" eaLnBrk="1" hangingPunct="1"/>
            <a:r>
              <a:rPr kumimoji="1" lang="en-US" altLang="zh-CN" sz="1000" b="1" dirty="0">
                <a:latin typeface="微软雅黑" pitchFamily="34" charset="-122"/>
                <a:ea typeface="微软雅黑" pitchFamily="34" charset="-122"/>
              </a:rPr>
              <a:t>01 03 06 01 02 01 01 01 00</a:t>
            </a:r>
          </a:p>
        </p:txBody>
      </p:sp>
      <p:sp>
        <p:nvSpPr>
          <p:cNvPr id="162" name="Text Box 131"/>
          <p:cNvSpPr txBox="1">
            <a:spLocks noChangeArrowheads="1"/>
          </p:cNvSpPr>
          <p:nvPr/>
        </p:nvSpPr>
        <p:spPr bwMode="auto">
          <a:xfrm>
            <a:off x="1869659"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L</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04</a:t>
            </a:r>
          </a:p>
        </p:txBody>
      </p:sp>
      <p:sp>
        <p:nvSpPr>
          <p:cNvPr id="163" name="Text Box 151"/>
          <p:cNvSpPr txBox="1">
            <a:spLocks noChangeArrowheads="1"/>
          </p:cNvSpPr>
          <p:nvPr/>
        </p:nvSpPr>
        <p:spPr bwMode="auto">
          <a:xfrm>
            <a:off x="1110318"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96" name="Text Box 124"/>
          <p:cNvSpPr txBox="1">
            <a:spLocks noChangeArrowheads="1"/>
          </p:cNvSpPr>
          <p:nvPr/>
        </p:nvSpPr>
        <p:spPr bwMode="auto">
          <a:xfrm>
            <a:off x="5129951" y="2911344"/>
            <a:ext cx="949299"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SEQUENCE</a:t>
            </a:r>
          </a:p>
        </p:txBody>
      </p:sp>
      <p:sp>
        <p:nvSpPr>
          <p:cNvPr id="97" name="Text Box 125"/>
          <p:cNvSpPr txBox="1">
            <a:spLocks noChangeArrowheads="1"/>
          </p:cNvSpPr>
          <p:nvPr/>
        </p:nvSpPr>
        <p:spPr bwMode="auto">
          <a:xfrm>
            <a:off x="6051724" y="2911344"/>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solidFill>
                  <a:schemeClr val="bg1"/>
                </a:solidFill>
                <a:latin typeface="微软雅黑" pitchFamily="34" charset="-122"/>
                <a:ea typeface="微软雅黑" pitchFamily="34" charset="-122"/>
              </a:rPr>
              <a:t>L</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0D</a:t>
            </a:r>
          </a:p>
        </p:txBody>
      </p:sp>
      <p:sp>
        <p:nvSpPr>
          <p:cNvPr id="98" name="Text Box 166"/>
          <p:cNvSpPr txBox="1">
            <a:spLocks noChangeArrowheads="1"/>
          </p:cNvSpPr>
          <p:nvPr/>
        </p:nvSpPr>
        <p:spPr bwMode="auto">
          <a:xfrm>
            <a:off x="6877820" y="2348048"/>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VarBind</a:t>
            </a:r>
          </a:p>
        </p:txBody>
      </p:sp>
      <p:sp>
        <p:nvSpPr>
          <p:cNvPr id="99" name="Text Box 126"/>
          <p:cNvSpPr txBox="1">
            <a:spLocks noChangeArrowheads="1"/>
          </p:cNvSpPr>
          <p:nvPr/>
        </p:nvSpPr>
        <p:spPr bwMode="auto">
          <a:xfrm>
            <a:off x="6374894" y="3010433"/>
            <a:ext cx="116410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name     </a:t>
            </a:r>
            <a:r>
              <a:rPr kumimoji="1" lang="en-US" altLang="zh-CN" sz="1100" b="1" dirty="0" smtClean="0">
                <a:latin typeface="微软雅黑" pitchFamily="34" charset="-122"/>
                <a:ea typeface="微软雅黑" pitchFamily="34" charset="-122"/>
              </a:rPr>
              <a:t>value</a:t>
            </a:r>
            <a:endParaRPr kumimoji="1" lang="en-US" altLang="zh-CN" sz="1100" b="1" dirty="0">
              <a:latin typeface="微软雅黑" pitchFamily="34" charset="-122"/>
              <a:ea typeface="微软雅黑" pitchFamily="34" charset="-122"/>
            </a:endParaRPr>
          </a:p>
        </p:txBody>
      </p:sp>
      <p:sp>
        <p:nvSpPr>
          <p:cNvPr id="102" name="Text Box 121"/>
          <p:cNvSpPr txBox="1">
            <a:spLocks noChangeArrowheads="1"/>
          </p:cNvSpPr>
          <p:nvPr/>
        </p:nvSpPr>
        <p:spPr bwMode="auto">
          <a:xfrm>
            <a:off x="6842815" y="3590962"/>
            <a:ext cx="56778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latin typeface="微软雅黑" pitchFamily="34" charset="-122"/>
                <a:ea typeface="微软雅黑" pitchFamily="34" charset="-122"/>
              </a:rPr>
              <a:t>T</a:t>
            </a:r>
            <a:endParaRPr kumimoji="1" lang="en-US" altLang="zh-CN" sz="1100" b="1" dirty="0">
              <a:latin typeface="微软雅黑" pitchFamily="34" charset="-122"/>
              <a:ea typeface="微软雅黑" pitchFamily="34" charset="-122"/>
            </a:endParaRPr>
          </a:p>
          <a:p>
            <a:pPr algn="ctr" eaLnBrk="1" hangingPunct="1"/>
            <a:r>
              <a:rPr kumimoji="1" lang="en-US" altLang="zh-CN" sz="1100" b="1" dirty="0">
                <a:latin typeface="微软雅黑" pitchFamily="34" charset="-122"/>
                <a:ea typeface="微软雅黑" pitchFamily="34" charset="-122"/>
              </a:rPr>
              <a:t>NULL</a:t>
            </a:r>
          </a:p>
        </p:txBody>
      </p:sp>
      <p:sp>
        <p:nvSpPr>
          <p:cNvPr id="104" name="Text Box 122"/>
          <p:cNvSpPr txBox="1">
            <a:spLocks noChangeArrowheads="1"/>
          </p:cNvSpPr>
          <p:nvPr/>
        </p:nvSpPr>
        <p:spPr bwMode="auto">
          <a:xfrm>
            <a:off x="7386546"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smtClean="0">
                <a:latin typeface="微软雅黑" pitchFamily="34" charset="-122"/>
                <a:ea typeface="微软雅黑" pitchFamily="34" charset="-122"/>
              </a:rPr>
              <a:t>L</a:t>
            </a:r>
            <a:endParaRPr kumimoji="1" lang="en-US" altLang="zh-CN" sz="1100" b="1" dirty="0">
              <a:latin typeface="微软雅黑" pitchFamily="34" charset="-122"/>
              <a:ea typeface="微软雅黑" pitchFamily="34" charset="-122"/>
            </a:endParaRPr>
          </a:p>
          <a:p>
            <a:pPr algn="ctr" eaLnBrk="1" hangingPunct="1"/>
            <a:r>
              <a:rPr kumimoji="1" lang="en-US" altLang="zh-CN" sz="1100" b="1" dirty="0">
                <a:latin typeface="微软雅黑" pitchFamily="34" charset="-122"/>
                <a:ea typeface="微软雅黑" pitchFamily="34" charset="-122"/>
              </a:rPr>
              <a:t>00</a:t>
            </a:r>
          </a:p>
        </p:txBody>
      </p:sp>
    </p:spTree>
    <p:extLst>
      <p:ext uri="{BB962C8B-B14F-4D97-AF65-F5344CB8AC3E}">
        <p14:creationId xmlns:p14="http://schemas.microsoft.com/office/powerpoint/2010/main" val="13426841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7042"/>
            <a:ext cx="8048776" cy="28632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383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533901" y="580624"/>
            <a:ext cx="40949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smtClean="0">
                <a:solidFill>
                  <a:schemeClr val="bg1"/>
                </a:solidFill>
                <a:latin typeface="微软雅黑" pitchFamily="34" charset="-122"/>
                <a:ea typeface="微软雅黑" pitchFamily="34" charset="-122"/>
              </a:rPr>
              <a:t>报文</a:t>
            </a:r>
            <a:r>
              <a:rPr lang="zh-CN" altLang="en-US" sz="2000" b="1" dirty="0">
                <a:solidFill>
                  <a:schemeClr val="bg1"/>
                </a:solidFill>
                <a:latin typeface="微软雅黑" pitchFamily="34" charset="-122"/>
                <a:ea typeface="微软雅黑" pitchFamily="34" charset="-122"/>
              </a:rPr>
              <a:t>的十六进制</a:t>
            </a:r>
            <a:r>
              <a:rPr lang="zh-CN" altLang="en-US" sz="2000" b="1" dirty="0" smtClean="0">
                <a:solidFill>
                  <a:schemeClr val="bg1"/>
                </a:solidFill>
                <a:latin typeface="微软雅黑" pitchFamily="34" charset="-122"/>
                <a:ea typeface="微软雅黑" pitchFamily="34" charset="-122"/>
              </a:rPr>
              <a:t>编码</a:t>
            </a:r>
          </a:p>
        </p:txBody>
      </p:sp>
      <p:sp>
        <p:nvSpPr>
          <p:cNvPr id="5" name="Rectangle 1"/>
          <p:cNvSpPr>
            <a:spLocks noChangeArrowheads="1"/>
          </p:cNvSpPr>
          <p:nvPr/>
        </p:nvSpPr>
        <p:spPr bwMode="auto">
          <a:xfrm>
            <a:off x="819807" y="1122955"/>
            <a:ext cx="778593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114300" algn="l" defTabSz="914400" rtl="0" eaLnBrk="1" fontAlgn="base" latinLnBrk="0" hangingPunct="1">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A0 1D                          -- </a:t>
            </a:r>
            <a:r>
              <a:rPr kumimoji="0" lang="en-US" altLang="zh-CN" sz="1400" b="1" i="0" u="none" strike="noStrike" cap="none" normalizeH="0" baseline="0" dirty="0" err="1" smtClean="0">
                <a:ln>
                  <a:noFill/>
                </a:ln>
                <a:solidFill>
                  <a:schemeClr val="tx1"/>
                </a:solidFill>
                <a:effectLst/>
                <a:latin typeface="微软雅黑" pitchFamily="34" charset="-122"/>
                <a:ea typeface="微软雅黑" pitchFamily="34" charset="-122"/>
                <a:cs typeface="Times New Roman" pitchFamily="18" charset="0"/>
              </a:rPr>
              <a:t>GetRequest</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-PDU</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，上下文类型，长度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1D</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 = 29</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02 04 05 AE 56 02      -- INTEGER</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04</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request-id = 05 AE 56 02 </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02 01 00                      -- INTEGER</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01</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error status = 00</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02 01 00                      -- INTEGER</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01</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error index = 00</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30 0F                           -- SEQUENCE OF</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0F</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 = 15</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30 0D                   	    -- SEQUENCE</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0D</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 = 13</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06 09 01 03 06 01 02 01 07 01 00    </a:t>
            </a:r>
            <a:r>
              <a:rPr kumimoji="0" lang="en-US" altLang="zh-CN" sz="12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 OBJECT IDENTIFIER</a:t>
            </a:r>
            <a:r>
              <a:rPr kumimoji="0" lang="zh-CN" altLang="en-US" sz="12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2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09</a:t>
            </a:r>
            <a:r>
              <a:rPr kumimoji="0" lang="en-US" altLang="zh-CN" sz="12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2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a:t>
            </a:r>
            <a:r>
              <a:rPr kumimoji="0" lang="en-US" altLang="zh-CN" sz="1200" b="1" i="0" u="none" strike="noStrike" cap="none" normalizeH="0" baseline="0" dirty="0" err="1" smtClean="0">
                <a:ln>
                  <a:noFill/>
                </a:ln>
                <a:solidFill>
                  <a:schemeClr val="tx1"/>
                </a:solidFill>
                <a:effectLst/>
                <a:latin typeface="微软雅黑" pitchFamily="34" charset="-122"/>
                <a:ea typeface="微软雅黑" pitchFamily="34" charset="-122"/>
                <a:cs typeface="Times New Roman" pitchFamily="18" charset="0"/>
              </a:rPr>
              <a:t>udpInDatagrams</a:t>
            </a:r>
            <a:endParaRPr kumimoji="0" lang="en-US" altLang="zh-CN" sz="1200" b="1" i="0" u="none" strike="noStrike" cap="none" normalizeH="0" baseline="0" dirty="0" smtClean="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05 00                       	</a:t>
            </a:r>
            <a:r>
              <a:rPr kumimoji="0" lang="en-US" altLang="zh-CN" sz="1400" b="1" i="0" u="none" strike="noStrike" cap="none" normalizeH="0" dirty="0" smtClean="0">
                <a:ln>
                  <a:noFill/>
                </a:ln>
                <a:solidFill>
                  <a:schemeClr val="tx1"/>
                </a:solidFill>
                <a:effectLst/>
                <a:latin typeface="微软雅黑" pitchFamily="34" charset="-122"/>
                <a:ea typeface="微软雅黑" pitchFamily="34" charset="-122"/>
                <a:cs typeface="Times New Roman" pitchFamily="18" charset="0"/>
              </a:rPr>
              <a:t>    </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 NULL</a:t>
            </a:r>
            <a:r>
              <a:rPr kumimoji="0" lang="zh-CN" altLang="en-US"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cs typeface="Times New Roman" pitchFamily="18" charset="0"/>
              </a:rPr>
              <a:t>00</a:t>
            </a:r>
            <a:r>
              <a:rPr kumimoji="0" lang="en-US" altLang="zh-CN" sz="1400" b="1" i="0" u="none" strike="noStrike" cap="none" normalizeH="0" baseline="-30000" dirty="0" smtClean="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smtClean="0">
              <a:ln>
                <a:noFill/>
              </a:ln>
              <a:solidFill>
                <a:schemeClr val="tx1"/>
              </a:solidFill>
              <a:effectLst/>
              <a:latin typeface="微软雅黑" pitchFamily="34" charset="-122"/>
              <a:ea typeface="微软雅黑" pitchFamily="34" charset="-122"/>
            </a:endParaRPr>
          </a:p>
        </p:txBody>
      </p:sp>
    </p:spTree>
    <p:extLst>
      <p:ext uri="{BB962C8B-B14F-4D97-AF65-F5344CB8AC3E}">
        <p14:creationId xmlns:p14="http://schemas.microsoft.com/office/powerpoint/2010/main" val="23836898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2629135" y="129417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175793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Line 16"/>
          <p:cNvSpPr>
            <a:spLocks noChangeShapeType="1"/>
          </p:cNvSpPr>
          <p:nvPr/>
        </p:nvSpPr>
        <p:spPr bwMode="auto">
          <a:xfrm>
            <a:off x="3637198" y="1222738"/>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4176"/>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389108"/>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6.6</a:t>
            </a:r>
          </a:p>
          <a:p>
            <a:pPr eaLnBrk="0" hangingPunct="0"/>
            <a:r>
              <a:rPr lang="zh-CN" altLang="en-US" sz="2000" b="1" dirty="0">
                <a:solidFill>
                  <a:schemeClr val="bg1"/>
                </a:solidFill>
                <a:latin typeface="微软雅黑" pitchFamily="34" charset="-122"/>
                <a:ea typeface="微软雅黑" pitchFamily="34" charset="-122"/>
              </a:rPr>
              <a:t>应用进程跨越网络</a:t>
            </a:r>
            <a:r>
              <a:rPr lang="zh-CN" altLang="en-US" sz="2000" b="1" dirty="0" smtClean="0">
                <a:solidFill>
                  <a:schemeClr val="bg1"/>
                </a:solidFill>
                <a:latin typeface="微软雅黑" pitchFamily="34" charset="-122"/>
                <a:ea typeface="微软雅黑" pitchFamily="34" charset="-122"/>
              </a:rPr>
              <a:t>的</a:t>
            </a:r>
            <a:endParaRPr lang="en-US" altLang="zh-CN" sz="2000" b="1" dirty="0" smtClean="0">
              <a:solidFill>
                <a:schemeClr val="bg1"/>
              </a:solidFill>
              <a:latin typeface="微软雅黑" pitchFamily="34" charset="-122"/>
              <a:ea typeface="微软雅黑" pitchFamily="34" charset="-122"/>
            </a:endParaRPr>
          </a:p>
          <a:p>
            <a:pPr eaLnBrk="0" hangingPunct="0"/>
            <a:r>
              <a:rPr lang="zh-CN" altLang="en-US" sz="2000" b="1" dirty="0" smtClean="0">
                <a:solidFill>
                  <a:schemeClr val="bg1"/>
                </a:solidFill>
                <a:latin typeface="微软雅黑" pitchFamily="34" charset="-122"/>
                <a:ea typeface="微软雅黑" pitchFamily="34" charset="-122"/>
              </a:rPr>
              <a:t>通信</a:t>
            </a:r>
            <a:endParaRPr lang="zh-CN" altLang="fr-FR" sz="2000" b="1" dirty="0">
              <a:solidFill>
                <a:schemeClr val="bg1"/>
              </a:solidFill>
              <a:latin typeface="微软雅黑" pitchFamily="34" charset="-122"/>
              <a:ea typeface="微软雅黑" pitchFamily="34" charset="-122"/>
            </a:endParaRPr>
          </a:p>
        </p:txBody>
      </p:sp>
      <p:sp>
        <p:nvSpPr>
          <p:cNvPr id="9" name="Rectangle 8"/>
          <p:cNvSpPr>
            <a:spLocks noChangeArrowheads="1"/>
          </p:cNvSpPr>
          <p:nvPr/>
        </p:nvSpPr>
        <p:spPr bwMode="auto">
          <a:xfrm>
            <a:off x="2700573" y="1169875"/>
            <a:ext cx="5756006"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6.6.1                           </a:t>
            </a:r>
            <a:r>
              <a:rPr lang="zh-CN" altLang="en-US" sz="2000" b="1" dirty="0" smtClean="0">
                <a:solidFill>
                  <a:schemeClr val="bg1"/>
                </a:solidFill>
                <a:latin typeface="微软雅黑" pitchFamily="34" charset="-122"/>
                <a:ea typeface="微软雅黑" pitchFamily="34" charset="-122"/>
              </a:rPr>
              <a:t>系统</a:t>
            </a:r>
            <a:r>
              <a:rPr lang="zh-CN" altLang="en-US" sz="2000" b="1" dirty="0">
                <a:solidFill>
                  <a:schemeClr val="bg1"/>
                </a:solidFill>
                <a:latin typeface="微软雅黑" pitchFamily="34" charset="-122"/>
                <a:ea typeface="微软雅黑" pitchFamily="34" charset="-122"/>
              </a:rPr>
              <a:t>调用和应用编程接口</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6.6.2                                  </a:t>
            </a:r>
            <a:r>
              <a:rPr lang="zh-CN" altLang="en-US" sz="2000" b="1" dirty="0" smtClean="0">
                <a:solidFill>
                  <a:schemeClr val="bg1"/>
                </a:solidFill>
                <a:latin typeface="微软雅黑" pitchFamily="34" charset="-122"/>
                <a:ea typeface="微软雅黑" pitchFamily="34" charset="-122"/>
              </a:rPr>
              <a:t>几种</a:t>
            </a:r>
            <a:r>
              <a:rPr lang="zh-CN" altLang="en-US" sz="2000" b="1" dirty="0">
                <a:solidFill>
                  <a:schemeClr val="bg1"/>
                </a:solidFill>
                <a:latin typeface="微软雅黑" pitchFamily="34" charset="-122"/>
                <a:ea typeface="微软雅黑" pitchFamily="34" charset="-122"/>
              </a:rPr>
              <a:t>常用的系统调用</a:t>
            </a:r>
          </a:p>
        </p:txBody>
      </p:sp>
    </p:spTree>
    <p:extLst>
      <p:ext uri="{BB962C8B-B14F-4D97-AF65-F5344CB8AC3E}">
        <p14:creationId xmlns:p14="http://schemas.microsoft.com/office/powerpoint/2010/main" val="3646022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86899" y="572682"/>
            <a:ext cx="35702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系统</a:t>
            </a:r>
            <a:r>
              <a:rPr lang="zh-CN" altLang="en-US" sz="2400" b="1" dirty="0">
                <a:solidFill>
                  <a:schemeClr val="bg1"/>
                </a:solidFill>
                <a:latin typeface="微软雅黑" pitchFamily="34" charset="-122"/>
                <a:ea typeface="微软雅黑" pitchFamily="34" charset="-122"/>
              </a:rPr>
              <a:t>调用和应用编程接口</a:t>
            </a:r>
          </a:p>
        </p:txBody>
      </p:sp>
      <p:sp>
        <p:nvSpPr>
          <p:cNvPr id="4" name="Rectangle 68"/>
          <p:cNvSpPr>
            <a:spLocks noChangeArrowheads="1"/>
          </p:cNvSpPr>
          <p:nvPr/>
        </p:nvSpPr>
        <p:spPr bwMode="auto">
          <a:xfrm>
            <a:off x="556963" y="1009171"/>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前面我们</a:t>
            </a:r>
            <a:r>
              <a:rPr lang="zh-CN" altLang="en-US" sz="2000" b="1" dirty="0">
                <a:latin typeface="微软雅黑" pitchFamily="34" charset="-122"/>
                <a:ea typeface="微软雅黑" pitchFamily="34" charset="-122"/>
              </a:rPr>
              <a:t>已经讨论了</a:t>
            </a:r>
            <a:r>
              <a:rPr lang="zh-CN" altLang="en-US" sz="2000" b="1" dirty="0" smtClean="0">
                <a:latin typeface="微软雅黑" pitchFamily="34" charset="-122"/>
                <a:ea typeface="微软雅黑" pitchFamily="34" charset="-122"/>
              </a:rPr>
              <a:t>互联网常用</a:t>
            </a:r>
            <a:r>
              <a:rPr lang="zh-CN" altLang="en-US" sz="2000" b="1" dirty="0">
                <a:latin typeface="微软雅黑" pitchFamily="34" charset="-122"/>
                <a:ea typeface="微软雅黑" pitchFamily="34" charset="-122"/>
              </a:rPr>
              <a:t>的应用层协议，这些应用层协议</a:t>
            </a:r>
            <a:r>
              <a:rPr lang="zh-CN" altLang="en-US" sz="2000" b="1" dirty="0" smtClean="0">
                <a:latin typeface="微软雅黑" pitchFamily="34" charset="-122"/>
                <a:ea typeface="微软雅黑" pitchFamily="34" charset="-122"/>
              </a:rPr>
              <a:t>使用户可以方便</a:t>
            </a:r>
            <a:r>
              <a:rPr lang="zh-CN" altLang="en-US" sz="2000" b="1" dirty="0">
                <a:latin typeface="微软雅黑" pitchFamily="34" charset="-122"/>
                <a:ea typeface="微软雅黑" pitchFamily="34" charset="-122"/>
              </a:rPr>
              <a:t>地利用互联网的资源。</a:t>
            </a:r>
          </a:p>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然而，如果</a:t>
            </a:r>
            <a:r>
              <a:rPr lang="zh-CN" altLang="en-US" sz="2000" b="1" dirty="0">
                <a:latin typeface="微软雅黑" pitchFamily="34" charset="-122"/>
                <a:ea typeface="微软雅黑" pitchFamily="34" charset="-122"/>
              </a:rPr>
              <a:t>我们还有一些特定的应用需要互联网的支持，但这些应用又不能直接使用已经标准化的互联网应用层协议，那么我们应当做哪些工作</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要</a:t>
            </a:r>
            <a:r>
              <a:rPr lang="zh-CN" altLang="en-US" sz="2000" b="1" dirty="0">
                <a:latin typeface="微软雅黑" pitchFamily="34" charset="-122"/>
                <a:ea typeface="微软雅黑" pitchFamily="34" charset="-122"/>
              </a:rPr>
              <a:t>回答这个问题</a:t>
            </a:r>
            <a:r>
              <a:rPr lang="zh-CN" altLang="en-US" sz="2000" b="1" dirty="0" smtClean="0">
                <a:latin typeface="微软雅黑" pitchFamily="34" charset="-122"/>
                <a:ea typeface="微软雅黑" pitchFamily="34" charset="-122"/>
              </a:rPr>
              <a:t>，就需要了解</a:t>
            </a:r>
            <a:r>
              <a:rPr lang="zh-CN" altLang="en-US" sz="2000" b="1" dirty="0" smtClean="0">
                <a:solidFill>
                  <a:srgbClr val="C00000"/>
                </a:solidFill>
                <a:latin typeface="微软雅黑" pitchFamily="34" charset="-122"/>
                <a:ea typeface="微软雅黑" pitchFamily="34" charset="-122"/>
              </a:rPr>
              <a:t>系统</a:t>
            </a:r>
            <a:r>
              <a:rPr lang="zh-CN" altLang="en-US" sz="2000" b="1" dirty="0">
                <a:solidFill>
                  <a:srgbClr val="C00000"/>
                </a:solidFill>
                <a:latin typeface="微软雅黑" pitchFamily="34" charset="-122"/>
                <a:ea typeface="微软雅黑" pitchFamily="34" charset="-122"/>
              </a:rPr>
              <a:t>调用</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应用编程接口</a:t>
            </a:r>
            <a:r>
              <a:rPr lang="zh-CN" altLang="en-US" sz="2000" b="1" dirty="0">
                <a:latin typeface="微软雅黑" pitchFamily="34" charset="-122"/>
                <a:ea typeface="微软雅黑" pitchFamily="34" charset="-122"/>
              </a:rPr>
              <a:t>。这些问题</a:t>
            </a:r>
            <a:r>
              <a:rPr lang="zh-CN" altLang="en-US" sz="2000" b="1" dirty="0" smtClean="0">
                <a:latin typeface="微软雅黑" pitchFamily="34" charset="-122"/>
                <a:ea typeface="微软雅黑" pitchFamily="34" charset="-122"/>
              </a:rPr>
              <a:t>需要专门</a:t>
            </a:r>
            <a:r>
              <a:rPr lang="zh-CN" altLang="en-US" sz="2000" b="1" dirty="0">
                <a:latin typeface="微软雅黑" pitchFamily="34" charset="-122"/>
                <a:ea typeface="微软雅黑" pitchFamily="34" charset="-122"/>
              </a:rPr>
              <a:t>的课程来学习</a:t>
            </a:r>
            <a:r>
              <a:rPr lang="zh-CN" altLang="en-US" sz="2000" b="1" dirty="0" smtClean="0">
                <a:latin typeface="微软雅黑" pitchFamily="34" charset="-122"/>
                <a:ea typeface="微软雅黑" pitchFamily="34" charset="-122"/>
              </a:rPr>
              <a:t>，这里只给</a:t>
            </a:r>
            <a:r>
              <a:rPr lang="zh-CN" altLang="en-US" sz="2000" b="1" dirty="0">
                <a:latin typeface="微软雅黑" pitchFamily="34" charset="-122"/>
                <a:ea typeface="微软雅黑" pitchFamily="34" charset="-122"/>
              </a:rPr>
              <a:t>出一些初步的概念</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5534863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86899" y="572682"/>
            <a:ext cx="35702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系统</a:t>
            </a:r>
            <a:r>
              <a:rPr lang="zh-CN" altLang="en-US" sz="2400" b="1" dirty="0">
                <a:solidFill>
                  <a:schemeClr val="bg1"/>
                </a:solidFill>
                <a:latin typeface="微软雅黑" pitchFamily="34" charset="-122"/>
                <a:ea typeface="微软雅黑" pitchFamily="34" charset="-122"/>
              </a:rPr>
              <a:t>调用和应用编程接口</a:t>
            </a:r>
          </a:p>
        </p:txBody>
      </p:sp>
      <p:sp>
        <p:nvSpPr>
          <p:cNvPr id="4" name="Rectangle 68"/>
          <p:cNvSpPr>
            <a:spLocks noChangeArrowheads="1"/>
          </p:cNvSpPr>
          <p:nvPr/>
        </p:nvSpPr>
        <p:spPr bwMode="auto">
          <a:xfrm>
            <a:off x="556963" y="1009171"/>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大多数操作系统使用</a:t>
            </a:r>
            <a:r>
              <a:rPr lang="zh-CN" altLang="en-US" sz="2000" b="1" dirty="0">
                <a:solidFill>
                  <a:srgbClr val="C00000"/>
                </a:solidFill>
                <a:latin typeface="微软雅黑" pitchFamily="34" charset="-122"/>
                <a:ea typeface="微软雅黑" pitchFamily="34" charset="-122"/>
              </a:rPr>
              <a:t>系统调用 </a:t>
            </a:r>
            <a:r>
              <a:rPr lang="en-US" altLang="zh-CN" sz="2000" b="1" dirty="0">
                <a:latin typeface="微软雅黑" pitchFamily="34" charset="-122"/>
                <a:ea typeface="微软雅黑" pitchFamily="34" charset="-122"/>
              </a:rPr>
              <a:t>(system call ) </a:t>
            </a:r>
            <a:r>
              <a:rPr lang="zh-CN" altLang="en-US" sz="2000" b="1" dirty="0">
                <a:latin typeface="微软雅黑" pitchFamily="34" charset="-122"/>
                <a:ea typeface="微软雅黑" pitchFamily="34" charset="-122"/>
              </a:rPr>
              <a:t>的机制在应用程序和操作系统之间传递控制权。</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对程序员来说</a:t>
            </a:r>
            <a:r>
              <a:rPr lang="zh-CN" altLang="en-US" sz="2000" b="1" dirty="0" smtClean="0">
                <a:latin typeface="微软雅黑" pitchFamily="34" charset="-122"/>
                <a:ea typeface="微软雅黑" pitchFamily="34" charset="-122"/>
              </a:rPr>
              <a:t>，系统</a:t>
            </a:r>
            <a:r>
              <a:rPr lang="zh-CN" altLang="en-US" sz="2000" b="1" dirty="0">
                <a:latin typeface="微软雅黑" pitchFamily="34" charset="-122"/>
                <a:ea typeface="微软雅黑" pitchFamily="34" charset="-122"/>
              </a:rPr>
              <a:t>调用和一般程序设计中的函数调用非常相似，只是系统调用是</a:t>
            </a:r>
            <a:r>
              <a:rPr lang="zh-CN" altLang="en-US" sz="2000" b="1" dirty="0">
                <a:solidFill>
                  <a:srgbClr val="C00000"/>
                </a:solidFill>
                <a:latin typeface="微软雅黑" pitchFamily="34" charset="-122"/>
                <a:ea typeface="微软雅黑" pitchFamily="34" charset="-122"/>
              </a:rPr>
              <a:t>将控制权传递给了操作系统</a:t>
            </a:r>
            <a:r>
              <a:rPr lang="zh-CN" altLang="en-US" sz="2000" b="1" dirty="0">
                <a:latin typeface="微软雅黑" pitchFamily="34" charset="-122"/>
                <a:ea typeface="微软雅黑" pitchFamily="34" charset="-122"/>
              </a:rPr>
              <a:t>。 </a:t>
            </a:r>
          </a:p>
        </p:txBody>
      </p:sp>
    </p:spTree>
    <p:custDataLst>
      <p:tags r:id="rId1"/>
    </p:custDataLst>
    <p:extLst>
      <p:ext uri="{BB962C8B-B14F-4D97-AF65-F5344CB8AC3E}">
        <p14:creationId xmlns:p14="http://schemas.microsoft.com/office/powerpoint/2010/main" val="35425562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4" name="Rectangle 6"/>
          <p:cNvSpPr>
            <a:spLocks noChangeArrowheads="1"/>
          </p:cNvSpPr>
          <p:nvPr/>
        </p:nvSpPr>
        <p:spPr bwMode="auto">
          <a:xfrm>
            <a:off x="2526943" y="582898"/>
            <a:ext cx="41088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多个应用</a:t>
            </a:r>
            <a:r>
              <a:rPr lang="zh-CN" altLang="en-US" sz="2000" b="1" dirty="0" smtClean="0">
                <a:solidFill>
                  <a:schemeClr val="bg1"/>
                </a:solidFill>
                <a:latin typeface="微软雅黑" pitchFamily="34" charset="-122"/>
                <a:ea typeface="微软雅黑" pitchFamily="34" charset="-122"/>
              </a:rPr>
              <a:t>进程使用</a:t>
            </a:r>
            <a:r>
              <a:rPr lang="zh-CN" altLang="en-US" sz="2000" b="1" dirty="0">
                <a:solidFill>
                  <a:schemeClr val="bg1"/>
                </a:solidFill>
                <a:latin typeface="微软雅黑" pitchFamily="34" charset="-122"/>
                <a:ea typeface="微软雅黑" pitchFamily="34" charset="-122"/>
              </a:rPr>
              <a:t>系统调用的机制 </a:t>
            </a:r>
            <a:endParaRPr lang="zh-CN" altLang="en-US" sz="2000" b="1" dirty="0" smtClean="0">
              <a:solidFill>
                <a:schemeClr val="bg1"/>
              </a:solidFill>
              <a:latin typeface="微软雅黑" pitchFamily="34" charset="-122"/>
              <a:ea typeface="微软雅黑" pitchFamily="34" charset="-122"/>
            </a:endParaRPr>
          </a:p>
        </p:txBody>
      </p:sp>
      <p:sp>
        <p:nvSpPr>
          <p:cNvPr id="5" name="Rectangle 3"/>
          <p:cNvSpPr>
            <a:spLocks noChangeArrowheads="1"/>
          </p:cNvSpPr>
          <p:nvPr/>
        </p:nvSpPr>
        <p:spPr bwMode="auto">
          <a:xfrm>
            <a:off x="1384729" y="1509223"/>
            <a:ext cx="4452402" cy="2393411"/>
          </a:xfrm>
          <a:prstGeom prst="rect">
            <a:avLst/>
          </a:prstGeom>
          <a:solidFill>
            <a:srgbClr val="99FFCC"/>
          </a:solidFill>
          <a:ln w="63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6" name="Oval 4"/>
          <p:cNvSpPr>
            <a:spLocks noChangeArrowheads="1"/>
          </p:cNvSpPr>
          <p:nvPr/>
        </p:nvSpPr>
        <p:spPr bwMode="auto">
          <a:xfrm>
            <a:off x="1590938"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smtClean="0">
                <a:solidFill>
                  <a:schemeClr val="bg1"/>
                </a:solidFill>
                <a:latin typeface="微软雅黑" pitchFamily="34" charset="-122"/>
                <a:ea typeface="微软雅黑" pitchFamily="34" charset="-122"/>
              </a:rPr>
              <a:t>应用程序 </a:t>
            </a:r>
            <a:r>
              <a:rPr kumimoji="1" lang="en-US" altLang="zh-CN" sz="1400" b="1" dirty="0">
                <a:solidFill>
                  <a:schemeClr val="bg1"/>
                </a:solidFill>
                <a:latin typeface="微软雅黑" pitchFamily="34" charset="-122"/>
                <a:ea typeface="微软雅黑" pitchFamily="34" charset="-122"/>
              </a:rPr>
              <a:t>1</a:t>
            </a:r>
          </a:p>
        </p:txBody>
      </p:sp>
      <p:sp>
        <p:nvSpPr>
          <p:cNvPr id="7" name="Oval 5"/>
          <p:cNvSpPr>
            <a:spLocks noChangeArrowheads="1"/>
          </p:cNvSpPr>
          <p:nvPr/>
        </p:nvSpPr>
        <p:spPr bwMode="auto">
          <a:xfrm>
            <a:off x="2896520"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smtClean="0">
                <a:solidFill>
                  <a:schemeClr val="bg1"/>
                </a:solidFill>
                <a:latin typeface="微软雅黑" pitchFamily="34" charset="-122"/>
                <a:ea typeface="微软雅黑" pitchFamily="34" charset="-122"/>
              </a:rPr>
              <a:t>应用程序 </a:t>
            </a:r>
            <a:r>
              <a:rPr kumimoji="1" lang="en-US" altLang="zh-CN" sz="1400" b="1" dirty="0">
                <a:solidFill>
                  <a:schemeClr val="bg1"/>
                </a:solidFill>
                <a:latin typeface="微软雅黑" pitchFamily="34" charset="-122"/>
                <a:ea typeface="微软雅黑" pitchFamily="34" charset="-122"/>
              </a:rPr>
              <a:t>2</a:t>
            </a:r>
          </a:p>
        </p:txBody>
      </p:sp>
      <p:sp>
        <p:nvSpPr>
          <p:cNvPr id="8" name="Oval 6"/>
          <p:cNvSpPr>
            <a:spLocks noChangeArrowheads="1"/>
          </p:cNvSpPr>
          <p:nvPr/>
        </p:nvSpPr>
        <p:spPr bwMode="auto">
          <a:xfrm>
            <a:off x="4544971" y="1659023"/>
            <a:ext cx="1099373"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smtClean="0">
                <a:solidFill>
                  <a:schemeClr val="bg1"/>
                </a:solidFill>
                <a:latin typeface="微软雅黑" pitchFamily="34" charset="-122"/>
                <a:ea typeface="微软雅黑" pitchFamily="34" charset="-122"/>
              </a:rPr>
              <a:t>应用程序 </a:t>
            </a:r>
            <a:r>
              <a:rPr kumimoji="1" lang="en-US" altLang="zh-CN" sz="1400" b="1" i="1" dirty="0">
                <a:solidFill>
                  <a:schemeClr val="bg1"/>
                </a:solidFill>
                <a:latin typeface="微软雅黑" pitchFamily="34" charset="-122"/>
                <a:ea typeface="微软雅黑" pitchFamily="34" charset="-122"/>
              </a:rPr>
              <a:t>n</a:t>
            </a:r>
          </a:p>
        </p:txBody>
      </p:sp>
      <p:sp>
        <p:nvSpPr>
          <p:cNvPr id="9" name="Text Box 7"/>
          <p:cNvSpPr txBox="1">
            <a:spLocks noChangeArrowheads="1"/>
          </p:cNvSpPr>
          <p:nvPr/>
        </p:nvSpPr>
        <p:spPr bwMode="auto">
          <a:xfrm>
            <a:off x="4064223" y="1652266"/>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a:t>
            </a:r>
          </a:p>
        </p:txBody>
      </p:sp>
      <p:sp>
        <p:nvSpPr>
          <p:cNvPr id="10" name="Line 8"/>
          <p:cNvSpPr>
            <a:spLocks noChangeShapeType="1"/>
          </p:cNvSpPr>
          <p:nvPr/>
        </p:nvSpPr>
        <p:spPr bwMode="auto">
          <a:xfrm>
            <a:off x="1384729" y="2706492"/>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Rectangle 9"/>
          <p:cNvSpPr>
            <a:spLocks noChangeArrowheads="1"/>
          </p:cNvSpPr>
          <p:nvPr/>
        </p:nvSpPr>
        <p:spPr bwMode="auto">
          <a:xfrm>
            <a:off x="1401812" y="2720008"/>
            <a:ext cx="4435319" cy="275946"/>
          </a:xfrm>
          <a:prstGeom prst="rect">
            <a:avLst/>
          </a:prstGeom>
          <a:solidFill>
            <a:srgbClr val="CC00CC"/>
          </a:solidFill>
          <a:ln w="9525">
            <a:solidFill>
              <a:schemeClr val="tx1"/>
            </a:solidFill>
            <a:miter lim="800000"/>
            <a:headEnd/>
            <a:tailEnd/>
          </a:ln>
          <a:effectLs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1384729" y="3004964"/>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Text Box 11"/>
          <p:cNvSpPr txBox="1">
            <a:spLocks noChangeArrowheads="1"/>
          </p:cNvSpPr>
          <p:nvPr/>
        </p:nvSpPr>
        <p:spPr bwMode="auto">
          <a:xfrm>
            <a:off x="2391625" y="2690724"/>
            <a:ext cx="26468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solidFill>
                  <a:schemeClr val="bg1"/>
                </a:solidFill>
                <a:latin typeface="微软雅黑" pitchFamily="34" charset="-122"/>
                <a:ea typeface="微软雅黑" pitchFamily="34" charset="-122"/>
              </a:rPr>
              <a:t>由</a:t>
            </a:r>
            <a:r>
              <a:rPr kumimoji="1" lang="zh-CN" altLang="en-US" sz="1600" b="1" dirty="0" smtClean="0">
                <a:solidFill>
                  <a:schemeClr val="bg1"/>
                </a:solidFill>
                <a:latin typeface="微软雅黑" pitchFamily="34" charset="-122"/>
                <a:ea typeface="微软雅黑" pitchFamily="34" charset="-122"/>
              </a:rPr>
              <a:t>应用程序调用</a:t>
            </a:r>
            <a:r>
              <a:rPr kumimoji="1" lang="zh-CN" altLang="en-US" sz="1600" b="1" dirty="0">
                <a:solidFill>
                  <a:schemeClr val="bg1"/>
                </a:solidFill>
                <a:latin typeface="微软雅黑" pitchFamily="34" charset="-122"/>
                <a:ea typeface="微软雅黑" pitchFamily="34" charset="-122"/>
              </a:rPr>
              <a:t>的系统函数</a:t>
            </a:r>
          </a:p>
        </p:txBody>
      </p:sp>
      <p:sp>
        <p:nvSpPr>
          <p:cNvPr id="14" name="Line 12"/>
          <p:cNvSpPr>
            <a:spLocks noChangeShapeType="1"/>
          </p:cNvSpPr>
          <p:nvPr/>
        </p:nvSpPr>
        <p:spPr bwMode="auto">
          <a:xfrm>
            <a:off x="2140014"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344559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509526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2415773" y="2182757"/>
            <a:ext cx="1029824"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flipH="1">
            <a:off x="3531008" y="2157978"/>
            <a:ext cx="1226271" cy="553019"/>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flipH="1">
            <a:off x="2171739" y="2029579"/>
            <a:ext cx="2413497" cy="66114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3745759" y="2168115"/>
            <a:ext cx="539315" cy="530492"/>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1" name="Group 26"/>
          <p:cNvGrpSpPr>
            <a:grpSpLocks/>
          </p:cNvGrpSpPr>
          <p:nvPr/>
        </p:nvGrpSpPr>
        <p:grpSpPr bwMode="auto">
          <a:xfrm>
            <a:off x="5868853" y="1749130"/>
            <a:ext cx="2099912" cy="479809"/>
            <a:chOff x="4004" y="1563"/>
            <a:chExt cx="1721" cy="426"/>
          </a:xfrm>
        </p:grpSpPr>
        <p:sp>
          <p:nvSpPr>
            <p:cNvPr id="22" name="Text Box 19"/>
            <p:cNvSpPr txBox="1">
              <a:spLocks noChangeArrowheads="1"/>
            </p:cNvSpPr>
            <p:nvPr/>
          </p:nvSpPr>
          <p:spPr bwMode="auto">
            <a:xfrm>
              <a:off x="4366" y="1563"/>
              <a:ext cx="1359"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smtClean="0">
                  <a:latin typeface="微软雅黑" pitchFamily="34" charset="-122"/>
                  <a:ea typeface="微软雅黑" pitchFamily="34" charset="-122"/>
                </a:rPr>
                <a:t>在用户地址空间</a:t>
              </a:r>
              <a:endParaRPr kumimoji="1" lang="en-US" altLang="zh-CN" sz="1400" b="1" dirty="0" smtClean="0">
                <a:latin typeface="微软雅黑" pitchFamily="34" charset="-122"/>
                <a:ea typeface="微软雅黑" pitchFamily="34" charset="-122"/>
              </a:endParaRPr>
            </a:p>
            <a:p>
              <a:pPr eaLnBrk="1" hangingPunct="1">
                <a:lnSpc>
                  <a:spcPct val="90000"/>
                </a:lnSpc>
              </a:pPr>
              <a:r>
                <a:rPr kumimoji="1" lang="zh-CN" altLang="en-US" sz="1400" b="1" dirty="0" smtClean="0">
                  <a:latin typeface="微软雅黑" pitchFamily="34" charset="-122"/>
                  <a:ea typeface="微软雅黑" pitchFamily="34" charset="-122"/>
                </a:rPr>
                <a:t>中</a:t>
              </a:r>
              <a:r>
                <a:rPr kumimoji="1" lang="zh-CN" altLang="en-US" sz="1400" b="1" dirty="0">
                  <a:latin typeface="微软雅黑" pitchFamily="34" charset="-122"/>
                  <a:ea typeface="微软雅黑" pitchFamily="34" charset="-122"/>
                </a:rPr>
                <a:t>的</a:t>
              </a:r>
              <a:r>
                <a:rPr kumimoji="1" lang="zh-CN" altLang="en-US" sz="1400" b="1" dirty="0" smtClean="0">
                  <a:latin typeface="微软雅黑" pitchFamily="34" charset="-122"/>
                  <a:ea typeface="微软雅黑" pitchFamily="34" charset="-122"/>
                </a:rPr>
                <a:t>应用程序</a:t>
              </a:r>
              <a:endParaRPr kumimoji="1" lang="zh-CN" altLang="en-US" sz="1400" b="1" dirty="0">
                <a:latin typeface="微软雅黑" pitchFamily="34" charset="-122"/>
                <a:ea typeface="微软雅黑" pitchFamily="34" charset="-122"/>
              </a:endParaRPr>
            </a:p>
          </p:txBody>
        </p:sp>
        <p:sp>
          <p:nvSpPr>
            <p:cNvPr id="23" name="Line 20"/>
            <p:cNvSpPr>
              <a:spLocks noChangeShapeType="1"/>
            </p:cNvSpPr>
            <p:nvPr/>
          </p:nvSpPr>
          <p:spPr bwMode="auto">
            <a:xfrm rot="5400000">
              <a:off x="4201" y="1551"/>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24" name="Group 27"/>
          <p:cNvGrpSpPr>
            <a:grpSpLocks/>
          </p:cNvGrpSpPr>
          <p:nvPr/>
        </p:nvGrpSpPr>
        <p:grpSpPr bwMode="auto">
          <a:xfrm>
            <a:off x="5868854" y="2704243"/>
            <a:ext cx="1703357" cy="307483"/>
            <a:chOff x="4004" y="2411"/>
            <a:chExt cx="1396" cy="273"/>
          </a:xfrm>
        </p:grpSpPr>
        <p:sp>
          <p:nvSpPr>
            <p:cNvPr id="25" name="Line 21"/>
            <p:cNvSpPr>
              <a:spLocks noChangeShapeType="1"/>
            </p:cNvSpPr>
            <p:nvPr/>
          </p:nvSpPr>
          <p:spPr bwMode="auto">
            <a:xfrm rot="5400000">
              <a:off x="4201" y="2348"/>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3"/>
            <p:cNvSpPr txBox="1">
              <a:spLocks noChangeArrowheads="1"/>
            </p:cNvSpPr>
            <p:nvPr/>
          </p:nvSpPr>
          <p:spPr bwMode="auto">
            <a:xfrm>
              <a:off x="4366" y="2411"/>
              <a:ext cx="1034" cy="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系统调用接口</a:t>
              </a:r>
            </a:p>
          </p:txBody>
        </p:sp>
      </p:grpSp>
      <p:grpSp>
        <p:nvGrpSpPr>
          <p:cNvPr id="27" name="Group 28"/>
          <p:cNvGrpSpPr>
            <a:grpSpLocks/>
          </p:cNvGrpSpPr>
          <p:nvPr/>
        </p:nvGrpSpPr>
        <p:grpSpPr bwMode="auto">
          <a:xfrm>
            <a:off x="5868854" y="3193062"/>
            <a:ext cx="1703357" cy="479809"/>
            <a:chOff x="4004" y="2845"/>
            <a:chExt cx="1396" cy="426"/>
          </a:xfrm>
        </p:grpSpPr>
        <p:sp>
          <p:nvSpPr>
            <p:cNvPr id="28" name="Line 22"/>
            <p:cNvSpPr>
              <a:spLocks noChangeShapeType="1"/>
            </p:cNvSpPr>
            <p:nvPr/>
          </p:nvSpPr>
          <p:spPr bwMode="auto">
            <a:xfrm rot="5400000">
              <a:off x="4201" y="2845"/>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Text Box 24"/>
            <p:cNvSpPr txBox="1">
              <a:spLocks noChangeArrowheads="1"/>
            </p:cNvSpPr>
            <p:nvPr/>
          </p:nvSpPr>
          <p:spPr bwMode="auto">
            <a:xfrm>
              <a:off x="4366" y="2845"/>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a:latin typeface="微软雅黑" pitchFamily="34" charset="-122"/>
                  <a:ea typeface="微软雅黑" pitchFamily="34" charset="-122"/>
                </a:rPr>
                <a:t>系统地址空间</a:t>
              </a:r>
            </a:p>
            <a:p>
              <a:pPr eaLnBrk="1" hangingPunct="1">
                <a:lnSpc>
                  <a:spcPct val="90000"/>
                </a:lnSpc>
              </a:pPr>
              <a:r>
                <a:rPr kumimoji="1" lang="zh-CN" altLang="en-US" sz="1400" b="1" dirty="0">
                  <a:latin typeface="微软雅黑" pitchFamily="34" charset="-122"/>
                  <a:ea typeface="微软雅黑" pitchFamily="34" charset="-122"/>
                </a:rPr>
                <a:t>中的</a:t>
              </a:r>
              <a:r>
                <a:rPr kumimoji="1" lang="zh-CN" altLang="en-US" sz="1400" b="1" dirty="0" smtClean="0">
                  <a:latin typeface="微软雅黑" pitchFamily="34" charset="-122"/>
                  <a:ea typeface="微软雅黑" pitchFamily="34" charset="-122"/>
                </a:rPr>
                <a:t>协议软件</a:t>
              </a:r>
              <a:endParaRPr kumimoji="1" lang="zh-CN" altLang="en-US" sz="1400" b="1" dirty="0">
                <a:latin typeface="微软雅黑" pitchFamily="34" charset="-122"/>
                <a:ea typeface="微软雅黑" pitchFamily="34" charset="-122"/>
              </a:endParaRPr>
            </a:p>
          </p:txBody>
        </p:sp>
      </p:grpSp>
      <p:sp>
        <p:nvSpPr>
          <p:cNvPr id="30" name="Text Box 25"/>
          <p:cNvSpPr txBox="1">
            <a:spLocks noChangeArrowheads="1"/>
          </p:cNvSpPr>
          <p:nvPr/>
        </p:nvSpPr>
        <p:spPr bwMode="auto">
          <a:xfrm>
            <a:off x="1938687" y="3264016"/>
            <a:ext cx="323300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包括 </a:t>
            </a:r>
            <a:r>
              <a:rPr kumimoji="1" lang="en-US" altLang="zh-CN" sz="1400" b="1">
                <a:latin typeface="微软雅黑" pitchFamily="34" charset="-122"/>
                <a:ea typeface="微软雅黑" pitchFamily="34" charset="-122"/>
              </a:rPr>
              <a:t>TCP/IP </a:t>
            </a:r>
            <a:r>
              <a:rPr kumimoji="1" lang="zh-CN" altLang="en-US" sz="1400" b="1">
                <a:latin typeface="微软雅黑" pitchFamily="34" charset="-122"/>
                <a:ea typeface="微软雅黑" pitchFamily="34" charset="-122"/>
              </a:rPr>
              <a:t>协议软件的操作系统内核</a:t>
            </a:r>
          </a:p>
        </p:txBody>
      </p:sp>
    </p:spTree>
    <p:extLst>
      <p:ext uri="{BB962C8B-B14F-4D97-AF65-F5344CB8AC3E}">
        <p14:creationId xmlns:p14="http://schemas.microsoft.com/office/powerpoint/2010/main" val="9285790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21"/>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nodeType="afterEffect">
                                  <p:stCondLst>
                                    <p:cond delay="1000"/>
                                  </p:stCondLst>
                                  <p:childTnLst>
                                    <p:set>
                                      <p:cBhvr>
                                        <p:cTn id="9" dur="1" fill="hold">
                                          <p:stCondLst>
                                            <p:cond delay="0"/>
                                          </p:stCondLst>
                                        </p:cTn>
                                        <p:tgtEl>
                                          <p:spTgt spid="24"/>
                                        </p:tgtEl>
                                        <p:attrNameLst>
                                          <p:attrName>style.visibility</p:attrName>
                                        </p:attrNameLst>
                                      </p:cBhvr>
                                      <p:to>
                                        <p:strVal val="visible"/>
                                      </p:to>
                                    </p:set>
                                  </p:childTnLst>
                                </p:cTn>
                              </p:par>
                            </p:childTnLst>
                          </p:cTn>
                        </p:par>
                        <p:par>
                          <p:cTn id="10" fill="hold">
                            <p:stCondLst>
                              <p:cond delay="2000"/>
                            </p:stCondLst>
                            <p:childTnLst>
                              <p:par>
                                <p:cTn id="11" presetID="1" presetClass="entr" presetSubtype="0" fill="hold" nodeType="afterEffect">
                                  <p:stCondLst>
                                    <p:cond delay="1000"/>
                                  </p:stCondLst>
                                  <p:childTnLst>
                                    <p:set>
                                      <p:cBhvr>
                                        <p:cTn id="12"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40"/>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457491" y="582429"/>
            <a:ext cx="2247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应用编程接口 </a:t>
            </a:r>
            <a:r>
              <a:rPr lang="en-US" altLang="zh-CN" sz="2000" b="1" dirty="0">
                <a:solidFill>
                  <a:schemeClr val="bg1"/>
                </a:solidFill>
                <a:latin typeface="微软雅黑" pitchFamily="34" charset="-122"/>
                <a:ea typeface="微软雅黑" pitchFamily="34" charset="-122"/>
              </a:rPr>
              <a:t>API</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74666" y="931010"/>
            <a:ext cx="8276142"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系统调用接口</a:t>
            </a:r>
            <a:r>
              <a:rPr lang="zh-CN" altLang="en-US" sz="2000" b="1" dirty="0">
                <a:latin typeface="微软雅黑" pitchFamily="34" charset="-122"/>
                <a:ea typeface="微软雅黑" pitchFamily="34" charset="-122"/>
              </a:rPr>
              <a:t>实际上就是应用进程的控制权和操作系统的控制权进行转换的一个接口</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使用系统调用之前要编写一些程序，特别是需要设置系统调用中的许多参数，因此这种系统调用接口又称为</a:t>
            </a:r>
            <a:r>
              <a:rPr lang="zh-CN" altLang="en-US" sz="2000" b="1" dirty="0">
                <a:solidFill>
                  <a:srgbClr val="C00000"/>
                </a:solidFill>
                <a:latin typeface="微软雅黑" pitchFamily="34" charset="-122"/>
                <a:ea typeface="微软雅黑" pitchFamily="34" charset="-122"/>
              </a:rPr>
              <a:t>应用编程</a:t>
            </a:r>
            <a:r>
              <a:rPr lang="zh-CN" altLang="en-US" sz="2000" b="1" dirty="0" smtClean="0">
                <a:solidFill>
                  <a:srgbClr val="C00000"/>
                </a:solidFill>
                <a:latin typeface="微软雅黑" pitchFamily="34" charset="-122"/>
                <a:ea typeface="微软雅黑" pitchFamily="34" charset="-122"/>
              </a:rPr>
              <a:t>接口 </a:t>
            </a:r>
            <a:r>
              <a:rPr lang="en-US" altLang="zh-CN" sz="2000" b="1" dirty="0" smtClean="0">
                <a:solidFill>
                  <a:srgbClr val="C00000"/>
                </a:solidFill>
                <a:latin typeface="微软雅黑" pitchFamily="34" charset="-122"/>
                <a:ea typeface="微软雅黑" pitchFamily="34" charset="-122"/>
              </a:rPr>
              <a:t>API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Application Programming Interface) </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API</a:t>
            </a:r>
            <a:r>
              <a:rPr lang="zh-CN" altLang="en-US" sz="2000" b="1" dirty="0">
                <a:solidFill>
                  <a:srgbClr val="C00000"/>
                </a:solidFill>
                <a:latin typeface="微软雅黑" pitchFamily="34" charset="-122"/>
                <a:ea typeface="微软雅黑" pitchFamily="34" charset="-122"/>
              </a:rPr>
              <a:t>从程序设计的角度</a:t>
            </a:r>
            <a:r>
              <a:rPr lang="zh-CN" altLang="en-US" sz="2000" b="1" dirty="0">
                <a:latin typeface="微软雅黑" pitchFamily="34" charset="-122"/>
                <a:ea typeface="微软雅黑" pitchFamily="34" charset="-122"/>
              </a:rPr>
              <a:t>定义了许多标准的系统调用函数。应用进程只要使用标准的系统调用函数就可得到操作系统的服务。</a:t>
            </a:r>
            <a:r>
              <a:rPr lang="zh-CN" altLang="en-US" sz="2000" b="1" dirty="0" smtClean="0">
                <a:latin typeface="微软雅黑" pitchFamily="34" charset="-122"/>
                <a:ea typeface="微软雅黑" pitchFamily="34" charset="-122"/>
              </a:rPr>
              <a:t>因此也</a:t>
            </a:r>
            <a:r>
              <a:rPr lang="zh-CN" altLang="en-US" sz="2000" b="1" dirty="0">
                <a:latin typeface="微软雅黑" pitchFamily="34" charset="-122"/>
                <a:ea typeface="微软雅黑" pitchFamily="34" charset="-122"/>
              </a:rPr>
              <a:t>可以把</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看成是</a:t>
            </a:r>
            <a:r>
              <a:rPr lang="zh-CN" altLang="en-US" sz="2000" b="1" dirty="0" smtClean="0">
                <a:latin typeface="微软雅黑" pitchFamily="34" charset="-122"/>
                <a:ea typeface="微软雅黑" pitchFamily="34" charset="-122"/>
              </a:rPr>
              <a:t>应用程序和</a:t>
            </a:r>
            <a:r>
              <a:rPr lang="zh-CN" altLang="en-US" sz="2000" b="1" dirty="0">
                <a:latin typeface="微软雅黑" pitchFamily="34" charset="-122"/>
                <a:ea typeface="微软雅黑" pitchFamily="34" charset="-122"/>
              </a:rPr>
              <a:t>操作系统之间的接口。</a:t>
            </a:r>
            <a:endParaRPr lang="en-US" altLang="zh-CN"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0575497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602"/>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253832" y="579391"/>
            <a:ext cx="46550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几种代表性的</a:t>
            </a:r>
            <a:r>
              <a:rPr lang="en-US" altLang="zh-CN" sz="2000" b="1" dirty="0" smtClean="0">
                <a:solidFill>
                  <a:schemeClr val="bg1"/>
                </a:solidFill>
                <a:latin typeface="微软雅黑" pitchFamily="34" charset="-122"/>
                <a:ea typeface="微软雅黑" pitchFamily="34" charset="-122"/>
              </a:rPr>
              <a:t>TCP/IP</a:t>
            </a:r>
            <a:r>
              <a:rPr lang="zh-CN" altLang="en-US" sz="2000" b="1" dirty="0" smtClean="0">
                <a:solidFill>
                  <a:schemeClr val="bg1"/>
                </a:solidFill>
                <a:latin typeface="微软雅黑" pitchFamily="34" charset="-122"/>
                <a:ea typeface="微软雅黑" pitchFamily="34" charset="-122"/>
              </a:rPr>
              <a:t>应用</a:t>
            </a:r>
            <a:r>
              <a:rPr lang="zh-CN" altLang="en-US" sz="2000" b="1" dirty="0">
                <a:solidFill>
                  <a:schemeClr val="bg1"/>
                </a:solidFill>
                <a:latin typeface="微软雅黑" pitchFamily="34" charset="-122"/>
                <a:ea typeface="微软雅黑" pitchFamily="34" charset="-122"/>
              </a:rPr>
              <a:t>编程接口 </a:t>
            </a:r>
            <a:r>
              <a:rPr lang="en-US" altLang="zh-CN" sz="2000" b="1" dirty="0" smtClean="0">
                <a:solidFill>
                  <a:schemeClr val="bg1"/>
                </a:solidFill>
                <a:latin typeface="微软雅黑" pitchFamily="34" charset="-122"/>
                <a:ea typeface="微软雅黑" pitchFamily="34" charset="-122"/>
              </a:rPr>
              <a:t>API</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369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gn="just" eaLnBrk="0" hangingPunct="0">
              <a:lnSpc>
                <a:spcPts val="3300"/>
              </a:lnSpc>
              <a:buClr>
                <a:srgbClr val="0070C0"/>
              </a:buClr>
              <a:buFont typeface="Wingdings" pitchFamily="2" charset="2"/>
              <a:buChar char="l"/>
            </a:pPr>
            <a:r>
              <a:rPr lang="en-US" altLang="zh-CN" sz="2000" b="1" dirty="0" smtClean="0">
                <a:solidFill>
                  <a:srgbClr val="0000FF"/>
                </a:solidFill>
                <a:latin typeface="微软雅黑" pitchFamily="34" charset="-122"/>
                <a:ea typeface="微软雅黑" pitchFamily="34" charset="-122"/>
              </a:rPr>
              <a:t>Berkeley </a:t>
            </a:r>
            <a:r>
              <a:rPr lang="en-US" altLang="zh-CN" sz="2000" b="1" dirty="0">
                <a:latin typeface="微软雅黑" pitchFamily="34" charset="-122"/>
                <a:ea typeface="微软雅黑" pitchFamily="34" charset="-122"/>
              </a:rPr>
              <a:t>UNIX </a:t>
            </a:r>
            <a:r>
              <a:rPr lang="zh-CN" altLang="en-US" sz="2000" b="1" dirty="0">
                <a:latin typeface="微软雅黑" pitchFamily="34" charset="-122"/>
                <a:ea typeface="微软雅黑" pitchFamily="34" charset="-122"/>
              </a:rPr>
              <a:t>操作系统定义了一种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，它又称为</a:t>
            </a:r>
            <a:r>
              <a:rPr lang="zh-CN" altLang="en-US" sz="2000" b="1" dirty="0">
                <a:solidFill>
                  <a:srgbClr val="C00000"/>
                </a:solidFill>
                <a:latin typeface="微软雅黑" pitchFamily="34" charset="-122"/>
                <a:ea typeface="微软雅黑" pitchFamily="34" charset="-122"/>
              </a:rPr>
              <a:t>套接字接口 </a:t>
            </a:r>
            <a:r>
              <a:rPr lang="en-US" altLang="zh-CN" sz="2000" b="1" dirty="0">
                <a:latin typeface="微软雅黑" pitchFamily="34" charset="-122"/>
                <a:ea typeface="微软雅黑" pitchFamily="34" charset="-122"/>
              </a:rPr>
              <a:t>(socket interface)</a:t>
            </a:r>
            <a:r>
              <a:rPr lang="zh-CN" altLang="en-US" sz="2000" b="1" dirty="0">
                <a:latin typeface="微软雅黑" pitchFamily="34" charset="-122"/>
                <a:ea typeface="微软雅黑" pitchFamily="34" charset="-122"/>
              </a:rPr>
              <a:t>。</a:t>
            </a:r>
          </a:p>
          <a:p>
            <a:pPr marL="342900" indent="-342900" algn="just"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微软</a:t>
            </a:r>
            <a:r>
              <a:rPr lang="zh-CN" altLang="en-US" sz="2000" b="1" dirty="0">
                <a:latin typeface="微软雅黑" pitchFamily="34" charset="-122"/>
                <a:ea typeface="微软雅黑" pitchFamily="34" charset="-122"/>
              </a:rPr>
              <a:t>公司在其操作系统中采用了套接字接口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，形成了一个稍有不同的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，并称之为  </a:t>
            </a:r>
            <a:r>
              <a:rPr lang="en-US" altLang="zh-CN" sz="2000" b="1" dirty="0">
                <a:solidFill>
                  <a:srgbClr val="C00000"/>
                </a:solidFill>
                <a:latin typeface="微软雅黑" pitchFamily="34" charset="-122"/>
                <a:ea typeface="微软雅黑" pitchFamily="34" charset="-122"/>
              </a:rPr>
              <a:t>Windows Socket</a:t>
            </a:r>
            <a:r>
              <a:rPr lang="zh-CN" altLang="en-US" sz="2000" b="1" dirty="0">
                <a:solidFill>
                  <a:srgbClr val="C00000"/>
                </a:solidFill>
                <a:latin typeface="微软雅黑" pitchFamily="34" charset="-122"/>
                <a:ea typeface="微软雅黑" pitchFamily="34" charset="-122"/>
              </a:rPr>
              <a:t>。</a:t>
            </a:r>
          </a:p>
          <a:p>
            <a:pPr marL="342900" indent="-342900" algn="just"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AT&amp;T </a:t>
            </a:r>
            <a:r>
              <a:rPr lang="zh-CN" altLang="en-US" sz="2000" b="1" dirty="0">
                <a:latin typeface="微软雅黑" pitchFamily="34" charset="-122"/>
                <a:ea typeface="微软雅黑" pitchFamily="34" charset="-122"/>
              </a:rPr>
              <a:t>为其 </a:t>
            </a:r>
            <a:r>
              <a:rPr lang="en-US" altLang="zh-CN" sz="2000" b="1" dirty="0">
                <a:latin typeface="微软雅黑" pitchFamily="34" charset="-122"/>
                <a:ea typeface="微软雅黑" pitchFamily="34" charset="-122"/>
              </a:rPr>
              <a:t>UNIX </a:t>
            </a:r>
            <a:r>
              <a:rPr lang="zh-CN" altLang="en-US" sz="2000" b="1" dirty="0">
                <a:latin typeface="微软雅黑" pitchFamily="34" charset="-122"/>
                <a:ea typeface="微软雅黑" pitchFamily="34" charset="-122"/>
              </a:rPr>
              <a:t>系统 </a:t>
            </a:r>
            <a:r>
              <a:rPr lang="en-US" altLang="zh-CN" sz="2000" b="1" dirty="0">
                <a:latin typeface="微软雅黑" pitchFamily="34" charset="-122"/>
                <a:ea typeface="微软雅黑" pitchFamily="34" charset="-122"/>
              </a:rPr>
              <a:t>V </a:t>
            </a:r>
            <a:r>
              <a:rPr lang="zh-CN" altLang="en-US" sz="2000" b="1" dirty="0">
                <a:latin typeface="微软雅黑" pitchFamily="34" charset="-122"/>
                <a:ea typeface="微软雅黑" pitchFamily="34" charset="-122"/>
              </a:rPr>
              <a:t>定义了一种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，简写为 </a:t>
            </a:r>
            <a:r>
              <a:rPr lang="en-US" altLang="zh-CN" sz="2000" b="1" dirty="0">
                <a:solidFill>
                  <a:srgbClr val="C00000"/>
                </a:solidFill>
                <a:latin typeface="微软雅黑" pitchFamily="34" charset="-122"/>
                <a:ea typeface="微软雅黑" pitchFamily="34" charset="-122"/>
              </a:rPr>
              <a:t>TLI</a:t>
            </a:r>
            <a:r>
              <a:rPr lang="en-US" altLang="zh-CN" sz="2000" b="1" dirty="0">
                <a:latin typeface="微软雅黑" pitchFamily="34" charset="-122"/>
                <a:ea typeface="微软雅黑" pitchFamily="34" charset="-122"/>
              </a:rPr>
              <a:t> (Transport Layer Interface)</a:t>
            </a:r>
            <a:r>
              <a:rPr lang="zh-CN" altLang="en-US" sz="2000" b="1" dirty="0">
                <a:latin typeface="微软雅黑" pitchFamily="34" charset="-122"/>
                <a:ea typeface="微软雅黑" pitchFamily="34" charset="-122"/>
              </a:rPr>
              <a:t>。 </a:t>
            </a:r>
          </a:p>
        </p:txBody>
      </p:sp>
    </p:spTree>
    <p:custDataLst>
      <p:tags r:id="rId1"/>
    </p:custDataLst>
    <p:extLst>
      <p:ext uri="{BB962C8B-B14F-4D97-AF65-F5344CB8AC3E}">
        <p14:creationId xmlns:p14="http://schemas.microsoft.com/office/powerpoint/2010/main" val="20325759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4" name="Rectangle 6"/>
          <p:cNvSpPr>
            <a:spLocks noChangeArrowheads="1"/>
          </p:cNvSpPr>
          <p:nvPr/>
        </p:nvSpPr>
        <p:spPr bwMode="auto">
          <a:xfrm>
            <a:off x="2655183" y="582898"/>
            <a:ext cx="38523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应用进程通过套接字接入到</a:t>
            </a:r>
            <a:r>
              <a:rPr lang="zh-CN" altLang="en-US" sz="2000" b="1" dirty="0" smtClean="0">
                <a:solidFill>
                  <a:schemeClr val="bg1"/>
                </a:solidFill>
                <a:latin typeface="微软雅黑" pitchFamily="34" charset="-122"/>
                <a:ea typeface="微软雅黑" pitchFamily="34" charset="-122"/>
              </a:rPr>
              <a:t>网络</a:t>
            </a:r>
          </a:p>
        </p:txBody>
      </p:sp>
      <p:sp>
        <p:nvSpPr>
          <p:cNvPr id="5" name="AutoShape 71"/>
          <p:cNvSpPr>
            <a:spLocks noChangeArrowheads="1"/>
          </p:cNvSpPr>
          <p:nvPr/>
        </p:nvSpPr>
        <p:spPr bwMode="auto">
          <a:xfrm>
            <a:off x="1977318" y="1694767"/>
            <a:ext cx="372733" cy="972704"/>
          </a:xfrm>
          <a:prstGeom prst="upArrow">
            <a:avLst>
              <a:gd name="adj1" fmla="val 50000"/>
              <a:gd name="adj2" fmla="val 70678"/>
            </a:avLst>
          </a:prstGeom>
          <a:solidFill>
            <a:srgbClr val="00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sz="1400" b="1">
              <a:latin typeface="微软雅黑" pitchFamily="34" charset="-122"/>
              <a:ea typeface="微软雅黑" pitchFamily="34" charset="-122"/>
            </a:endParaRPr>
          </a:p>
        </p:txBody>
      </p:sp>
      <p:graphicFrame>
        <p:nvGraphicFramePr>
          <p:cNvPr id="6" name="Object 72"/>
          <p:cNvGraphicFramePr>
            <a:graphicFrameLocks noChangeAspect="1"/>
          </p:cNvGraphicFramePr>
          <p:nvPr>
            <p:extLst/>
          </p:nvPr>
        </p:nvGraphicFramePr>
        <p:xfrm>
          <a:off x="4158128" y="2372394"/>
          <a:ext cx="2448672" cy="1651498"/>
        </p:xfrm>
        <a:graphic>
          <a:graphicData uri="http://schemas.openxmlformats.org/presentationml/2006/ole">
            <mc:AlternateContent xmlns:mc="http://schemas.openxmlformats.org/markup-compatibility/2006">
              <mc:Choice xmlns:v="urn:schemas-microsoft-com:vml" Requires="v">
                <p:oleObj spid="_x0000_s32789" name="VISIO" r:id="rId4" imgW="1687068" imgH="964692" progId="">
                  <p:embed/>
                </p:oleObj>
              </mc:Choice>
              <mc:Fallback>
                <p:oleObj name="VISIO" r:id="rId4" imgW="1687068" imgH="964692" progId="">
                  <p:embed/>
                  <p:pic>
                    <p:nvPicPr>
                      <p:cNvPr id="6" name="Object 7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8128" y="2372394"/>
                        <a:ext cx="2448672" cy="1651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73"/>
          <p:cNvSpPr>
            <a:spLocks noChangeArrowheads="1"/>
          </p:cNvSpPr>
          <p:nvPr/>
        </p:nvSpPr>
        <p:spPr bwMode="auto">
          <a:xfrm>
            <a:off x="2673509" y="2181120"/>
            <a:ext cx="1394909" cy="534171"/>
          </a:xfrm>
          <a:prstGeom prst="rect">
            <a:avLst/>
          </a:prstGeom>
          <a:solidFill>
            <a:srgbClr val="00FFCC"/>
          </a:solidFill>
          <a:ln w="12700">
            <a:solidFill>
              <a:schemeClr val="tx1"/>
            </a:solidFill>
            <a:miter lim="800000"/>
            <a:headEnd/>
            <a:tailEnd/>
          </a:ln>
          <a:effectLst/>
        </p:spPr>
        <p:txBody>
          <a:bodyPr wrap="none" anchor="ctr"/>
          <a:lstStyle/>
          <a:p>
            <a:pPr algn="ctr" eaLnBrk="1" hangingPunct="1"/>
            <a:r>
              <a:rPr kumimoji="1" lang="zh-CN" altLang="en-US" sz="1400" b="1" dirty="0">
                <a:latin typeface="微软雅黑" pitchFamily="34" charset="-122"/>
                <a:ea typeface="微软雅黑" pitchFamily="34" charset="-122"/>
              </a:rPr>
              <a:t>应用进程</a:t>
            </a:r>
          </a:p>
        </p:txBody>
      </p:sp>
      <p:sp>
        <p:nvSpPr>
          <p:cNvPr id="8" name="Rectangle 74"/>
          <p:cNvSpPr>
            <a:spLocks noChangeArrowheads="1"/>
          </p:cNvSpPr>
          <p:nvPr/>
        </p:nvSpPr>
        <p:spPr bwMode="auto">
          <a:xfrm>
            <a:off x="2673509" y="3058186"/>
            <a:ext cx="1394909" cy="825749"/>
          </a:xfrm>
          <a:prstGeom prst="rect">
            <a:avLst/>
          </a:prstGeom>
          <a:solidFill>
            <a:srgbClr val="0000FF"/>
          </a:solidFill>
          <a:ln w="12700">
            <a:solidFill>
              <a:schemeClr val="tx1"/>
            </a:solidFill>
            <a:miter lim="800000"/>
            <a:headEnd/>
            <a:tailEnd/>
          </a:ln>
          <a:effectLst/>
        </p:spPr>
        <p:txBody>
          <a:bodyPr wrap="none" anchor="ctr"/>
          <a:lstStyle/>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a:p>
            <a:pPr algn="ctr" eaLnBrk="1" hangingPunct="1">
              <a:spcAft>
                <a:spcPct val="30000"/>
              </a:spcAft>
            </a:pPr>
            <a:r>
              <a:rPr kumimoji="1" lang="en-US" altLang="zh-CN" sz="1400" b="1">
                <a:solidFill>
                  <a:schemeClr val="bg1"/>
                </a:solidFill>
                <a:latin typeface="微软雅黑" pitchFamily="34" charset="-122"/>
                <a:ea typeface="微软雅黑" pitchFamily="34" charset="-122"/>
              </a:rPr>
              <a:t>TCP</a:t>
            </a:r>
          </a:p>
          <a:p>
            <a:pPr algn="ctr" eaLnBrk="1" hangingPunct="1"/>
            <a:endParaRPr kumimoji="1" lang="en-US" altLang="zh-CN" sz="1400" b="1">
              <a:solidFill>
                <a:schemeClr val="bg1"/>
              </a:solidFill>
              <a:latin typeface="微软雅黑" pitchFamily="34" charset="-122"/>
              <a:ea typeface="微软雅黑" pitchFamily="34" charset="-122"/>
            </a:endParaRPr>
          </a:p>
        </p:txBody>
      </p:sp>
      <p:sp>
        <p:nvSpPr>
          <p:cNvPr id="9" name="Line 75"/>
          <p:cNvSpPr>
            <a:spLocks noChangeShapeType="1"/>
          </p:cNvSpPr>
          <p:nvPr/>
        </p:nvSpPr>
        <p:spPr bwMode="auto">
          <a:xfrm>
            <a:off x="4068418" y="3396417"/>
            <a:ext cx="2634408" cy="5831"/>
          </a:xfrm>
          <a:prstGeom prst="line">
            <a:avLst/>
          </a:prstGeom>
          <a:noFill/>
          <a:ln w="5715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Text Box 103"/>
          <p:cNvSpPr txBox="1">
            <a:spLocks noChangeArrowheads="1"/>
          </p:cNvSpPr>
          <p:nvPr/>
        </p:nvSpPr>
        <p:spPr bwMode="auto">
          <a:xfrm>
            <a:off x="913053" y="1893040"/>
            <a:ext cx="1082348"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由应用程序</a:t>
            </a:r>
          </a:p>
          <a:p>
            <a:pPr algn="ctr" eaLnBrk="1" hangingPunct="1"/>
            <a:r>
              <a:rPr kumimoji="1" lang="zh-CN" altLang="en-US" sz="1400" b="1">
                <a:latin typeface="微软雅黑" pitchFamily="34" charset="-122"/>
                <a:ea typeface="微软雅黑" pitchFamily="34" charset="-122"/>
              </a:rPr>
              <a:t>控制</a:t>
            </a:r>
          </a:p>
        </p:txBody>
      </p:sp>
      <p:sp>
        <p:nvSpPr>
          <p:cNvPr id="38" name="Text Box 104"/>
          <p:cNvSpPr txBox="1">
            <a:spLocks noChangeArrowheads="1"/>
          </p:cNvSpPr>
          <p:nvPr/>
        </p:nvSpPr>
        <p:spPr bwMode="auto">
          <a:xfrm>
            <a:off x="5023984" y="2963388"/>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sp>
        <p:nvSpPr>
          <p:cNvPr id="39" name="Text Box 105"/>
          <p:cNvSpPr txBox="1">
            <a:spLocks noChangeArrowheads="1"/>
          </p:cNvSpPr>
          <p:nvPr/>
        </p:nvSpPr>
        <p:spPr bwMode="auto">
          <a:xfrm>
            <a:off x="913053" y="3108337"/>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由操作系统</a:t>
            </a:r>
          </a:p>
          <a:p>
            <a:pPr algn="ctr" eaLnBrk="1" hangingPunct="1"/>
            <a:r>
              <a:rPr kumimoji="1" lang="zh-CN" altLang="en-US" sz="1400" b="1">
                <a:latin typeface="微软雅黑" pitchFamily="34" charset="-122"/>
                <a:ea typeface="微软雅黑" pitchFamily="34" charset="-122"/>
              </a:rPr>
              <a:t>控制</a:t>
            </a:r>
          </a:p>
        </p:txBody>
      </p:sp>
      <p:sp>
        <p:nvSpPr>
          <p:cNvPr id="40" name="Text Box 106"/>
          <p:cNvSpPr txBox="1">
            <a:spLocks noChangeArrowheads="1"/>
          </p:cNvSpPr>
          <p:nvPr/>
        </p:nvSpPr>
        <p:spPr bwMode="auto">
          <a:xfrm>
            <a:off x="3119460" y="151165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客户</a:t>
            </a:r>
          </a:p>
        </p:txBody>
      </p:sp>
      <p:sp>
        <p:nvSpPr>
          <p:cNvPr id="41" name="Text Box 107"/>
          <p:cNvSpPr txBox="1">
            <a:spLocks noChangeArrowheads="1"/>
          </p:cNvSpPr>
          <p:nvPr/>
        </p:nvSpPr>
        <p:spPr bwMode="auto">
          <a:xfrm>
            <a:off x="7025253" y="120387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服务器</a:t>
            </a:r>
          </a:p>
        </p:txBody>
      </p:sp>
      <p:sp>
        <p:nvSpPr>
          <p:cNvPr id="42" name="Rectangle 108"/>
          <p:cNvSpPr>
            <a:spLocks noChangeArrowheads="1"/>
          </p:cNvSpPr>
          <p:nvPr/>
        </p:nvSpPr>
        <p:spPr bwMode="auto">
          <a:xfrm>
            <a:off x="2996966" y="2675635"/>
            <a:ext cx="747995" cy="429203"/>
          </a:xfrm>
          <a:prstGeom prst="rect">
            <a:avLst/>
          </a:prstGeom>
          <a:solidFill>
            <a:srgbClr val="CC00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套接字</a:t>
            </a:r>
          </a:p>
        </p:txBody>
      </p:sp>
      <p:sp>
        <p:nvSpPr>
          <p:cNvPr id="43" name="Rectangle 109"/>
          <p:cNvSpPr>
            <a:spLocks noChangeArrowheads="1"/>
          </p:cNvSpPr>
          <p:nvPr/>
        </p:nvSpPr>
        <p:spPr bwMode="auto">
          <a:xfrm>
            <a:off x="6692718" y="3073347"/>
            <a:ext cx="1396172" cy="82574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a:p>
            <a:pPr algn="ctr" eaLnBrk="1" hangingPunct="1">
              <a:spcAft>
                <a:spcPct val="30000"/>
              </a:spcAft>
            </a:pPr>
            <a:r>
              <a:rPr kumimoji="1" lang="en-US" altLang="zh-CN" sz="1400" b="1">
                <a:solidFill>
                  <a:schemeClr val="bg1"/>
                </a:solidFill>
                <a:latin typeface="微软雅黑" pitchFamily="34" charset="-122"/>
                <a:ea typeface="微软雅黑" pitchFamily="34" charset="-122"/>
              </a:rPr>
              <a:t>TCP</a:t>
            </a:r>
          </a:p>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p:txBody>
      </p:sp>
      <p:sp>
        <p:nvSpPr>
          <p:cNvPr id="44" name="Rectangle 110"/>
          <p:cNvSpPr>
            <a:spLocks noChangeArrowheads="1"/>
          </p:cNvSpPr>
          <p:nvPr/>
        </p:nvSpPr>
        <p:spPr bwMode="auto">
          <a:xfrm>
            <a:off x="6692718" y="2181120"/>
            <a:ext cx="1396172" cy="534171"/>
          </a:xfrm>
          <a:prstGeom prst="rect">
            <a:avLst/>
          </a:prstGeom>
          <a:solidFill>
            <a:srgbClr val="00FFCC"/>
          </a:solidFill>
          <a:ln w="12700" algn="ctr">
            <a:solidFill>
              <a:schemeClr val="tx1"/>
            </a:solidFill>
            <a:miter lim="800000"/>
            <a:headEnd/>
            <a:tailEnd/>
          </a:ln>
          <a:effectLst/>
        </p:spPr>
        <p:txBody>
          <a:bodyPr wrap="none" anchor="ctr"/>
          <a:lstStyle/>
          <a:p>
            <a:pPr algn="ctr" eaLnBrk="1" hangingPunct="1"/>
            <a:r>
              <a:rPr kumimoji="1" lang="zh-CN" altLang="en-US" sz="1400" b="1">
                <a:latin typeface="微软雅黑" pitchFamily="34" charset="-122"/>
                <a:ea typeface="微软雅黑" pitchFamily="34" charset="-122"/>
              </a:rPr>
              <a:t>应用进程</a:t>
            </a:r>
          </a:p>
        </p:txBody>
      </p:sp>
      <p:sp>
        <p:nvSpPr>
          <p:cNvPr id="45" name="Rectangle 111"/>
          <p:cNvSpPr>
            <a:spLocks noChangeArrowheads="1"/>
          </p:cNvSpPr>
          <p:nvPr/>
        </p:nvSpPr>
        <p:spPr bwMode="auto">
          <a:xfrm>
            <a:off x="7017438" y="2675635"/>
            <a:ext cx="746731" cy="429203"/>
          </a:xfrm>
          <a:prstGeom prst="rect">
            <a:avLst/>
          </a:prstGeom>
          <a:solidFill>
            <a:srgbClr val="CC00CC"/>
          </a:solidFill>
          <a:ln w="2857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套接字</a:t>
            </a:r>
          </a:p>
        </p:txBody>
      </p:sp>
      <p:sp>
        <p:nvSpPr>
          <p:cNvPr id="73" name="Line 139"/>
          <p:cNvSpPr>
            <a:spLocks noChangeShapeType="1"/>
          </p:cNvSpPr>
          <p:nvPr/>
        </p:nvSpPr>
        <p:spPr bwMode="auto">
          <a:xfrm>
            <a:off x="933664" y="3073347"/>
            <a:ext cx="1790386"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AutoShape 140"/>
          <p:cNvSpPr>
            <a:spLocks noChangeArrowheads="1"/>
          </p:cNvSpPr>
          <p:nvPr/>
        </p:nvSpPr>
        <p:spPr bwMode="auto">
          <a:xfrm flipV="1">
            <a:off x="1978582" y="3074514"/>
            <a:ext cx="373997" cy="889896"/>
          </a:xfrm>
          <a:prstGeom prst="upArrow">
            <a:avLst>
              <a:gd name="adj1" fmla="val 50000"/>
              <a:gd name="adj2" fmla="val 64443"/>
            </a:avLst>
          </a:prstGeom>
          <a:solidFill>
            <a:srgbClr val="0000FF"/>
          </a:solidFill>
          <a:ln w="12700" algn="ctr">
            <a:solidFill>
              <a:schemeClr val="tx1"/>
            </a:solidFill>
            <a:miter lim="800000"/>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75" name="Line 141"/>
          <p:cNvSpPr>
            <a:spLocks noChangeShapeType="1"/>
          </p:cNvSpPr>
          <p:nvPr/>
        </p:nvSpPr>
        <p:spPr bwMode="auto">
          <a:xfrm>
            <a:off x="933664" y="2667471"/>
            <a:ext cx="1715839"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77"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88017" y="1762850"/>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78" name="图片 77"/>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082937" y="1480714"/>
            <a:ext cx="619871" cy="867819"/>
          </a:xfrm>
          <a:prstGeom prst="rect">
            <a:avLst/>
          </a:prstGeom>
        </p:spPr>
      </p:pic>
    </p:spTree>
    <p:extLst>
      <p:ext uri="{BB962C8B-B14F-4D97-AF65-F5344CB8AC3E}">
        <p14:creationId xmlns:p14="http://schemas.microsoft.com/office/powerpoint/2010/main" val="3025903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218"/>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3719581" y="5780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套接字的</a:t>
            </a:r>
            <a:r>
              <a:rPr lang="zh-CN" altLang="en-US" sz="2000" b="1" dirty="0" smtClean="0">
                <a:solidFill>
                  <a:schemeClr val="bg1"/>
                </a:solidFill>
                <a:latin typeface="微软雅黑" pitchFamily="34" charset="-122"/>
                <a:ea typeface="微软雅黑" pitchFamily="34" charset="-122"/>
              </a:rPr>
              <a:t>作用</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1244"/>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当应用进程需要使用网络进行通信时就发出系统调用，请求操作系统为其</a:t>
            </a:r>
            <a:r>
              <a:rPr lang="zh-CN" altLang="en-US" sz="2000" b="1" dirty="0" smtClean="0">
                <a:solidFill>
                  <a:srgbClr val="0000FF"/>
                </a:solidFill>
                <a:latin typeface="微软雅黑" pitchFamily="34" charset="-122"/>
                <a:ea typeface="微软雅黑" pitchFamily="34" charset="-122"/>
              </a:rPr>
              <a:t>创建</a:t>
            </a:r>
            <a:r>
              <a:rPr lang="zh-CN" altLang="en-US" sz="2000" b="1" dirty="0" smtClean="0">
                <a:solidFill>
                  <a:srgbClr val="C00000"/>
                </a:solidFill>
                <a:latin typeface="微软雅黑" pitchFamily="34" charset="-122"/>
                <a:ea typeface="微软雅黑" pitchFamily="34" charset="-122"/>
              </a:rPr>
              <a:t>套</a:t>
            </a:r>
            <a:r>
              <a:rPr lang="zh-CN" altLang="en-US" sz="2000" b="1" dirty="0">
                <a:solidFill>
                  <a:srgbClr val="C00000"/>
                </a:solidFill>
                <a:latin typeface="微软雅黑" pitchFamily="34" charset="-122"/>
                <a:ea typeface="微软雅黑" pitchFamily="34" charset="-122"/>
              </a:rPr>
              <a:t>接</a:t>
            </a:r>
            <a:r>
              <a:rPr lang="zh-CN" altLang="en-US" sz="2000" b="1" dirty="0" smtClean="0">
                <a:solidFill>
                  <a:srgbClr val="C00000"/>
                </a:solidFill>
                <a:latin typeface="微软雅黑" pitchFamily="34" charset="-122"/>
                <a:ea typeface="微软雅黑" pitchFamily="34" charset="-122"/>
              </a:rPr>
              <a:t>字</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以便把网络通信所需要的系统资源分配给该应用进程。</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操作系统为这些资源的总和用一</a:t>
            </a:r>
            <a:r>
              <a:rPr lang="zh-CN" altLang="en-US" sz="2000" b="1" dirty="0" smtClean="0">
                <a:latin typeface="微软雅黑" pitchFamily="34" charset="-122"/>
                <a:ea typeface="微软雅黑" pitchFamily="34" charset="-122"/>
              </a:rPr>
              <a:t>个</a:t>
            </a:r>
            <a:r>
              <a:rPr lang="zh-CN" altLang="en-US" sz="2000" b="1" dirty="0" smtClean="0">
                <a:solidFill>
                  <a:srgbClr val="C00000"/>
                </a:solidFill>
                <a:latin typeface="微软雅黑" pitchFamily="34" charset="-122"/>
                <a:ea typeface="微软雅黑" pitchFamily="34" charset="-122"/>
              </a:rPr>
              <a:t>套</a:t>
            </a:r>
            <a:r>
              <a:rPr lang="zh-CN" altLang="en-US" sz="2000" b="1" dirty="0">
                <a:solidFill>
                  <a:srgbClr val="C00000"/>
                </a:solidFill>
                <a:latin typeface="微软雅黑" pitchFamily="34" charset="-122"/>
                <a:ea typeface="微软雅黑" pitchFamily="34" charset="-122"/>
              </a:rPr>
              <a:t>接字描述符</a:t>
            </a:r>
            <a:r>
              <a:rPr lang="zh-CN" altLang="en-US" sz="2000" b="1" dirty="0">
                <a:latin typeface="微软雅黑" pitchFamily="34" charset="-122"/>
                <a:ea typeface="微软雅黑" pitchFamily="34" charset="-122"/>
              </a:rPr>
              <a:t>的号码来</a:t>
            </a:r>
            <a:r>
              <a:rPr lang="zh-CN" altLang="en-US" sz="2000" b="1" dirty="0" smtClean="0">
                <a:latin typeface="微软雅黑" pitchFamily="34" charset="-122"/>
                <a:ea typeface="微软雅黑" pitchFamily="34" charset="-122"/>
              </a:rPr>
              <a:t>表示。</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应用</a:t>
            </a:r>
            <a:r>
              <a:rPr lang="zh-CN" altLang="en-US" sz="2000" b="1" dirty="0">
                <a:latin typeface="微软雅黑" pitchFamily="34" charset="-122"/>
                <a:ea typeface="微软雅黑" pitchFamily="34" charset="-122"/>
              </a:rPr>
              <a:t>进程所进行的网络操作都必须使用这个套接字描述符。</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通信完毕后，应用进程通过一个</a:t>
            </a:r>
            <a:r>
              <a:rPr lang="zh-CN" altLang="en-US" sz="2000" b="1" dirty="0">
                <a:solidFill>
                  <a:srgbClr val="0000FF"/>
                </a:solidFill>
                <a:latin typeface="微软雅黑" pitchFamily="34" charset="-122"/>
                <a:ea typeface="微软雅黑" pitchFamily="34" charset="-122"/>
              </a:rPr>
              <a:t>关闭</a:t>
            </a:r>
            <a:r>
              <a:rPr lang="zh-CN" altLang="en-US" sz="2000" b="1" dirty="0">
                <a:latin typeface="微软雅黑" pitchFamily="34" charset="-122"/>
                <a:ea typeface="微软雅黑" pitchFamily="34" charset="-122"/>
              </a:rPr>
              <a:t>套接字的系统调用通知操作系统回收与该套接字描述符相关的所有资源。</a:t>
            </a:r>
          </a:p>
        </p:txBody>
      </p:sp>
    </p:spTree>
    <p:custDataLst>
      <p:tags r:id="rId1"/>
    </p:custDataLst>
    <p:extLst>
      <p:ext uri="{BB962C8B-B14F-4D97-AF65-F5344CB8AC3E}">
        <p14:creationId xmlns:p14="http://schemas.microsoft.com/office/powerpoint/2010/main" val="9083899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4" name="Rectangle 6"/>
          <p:cNvSpPr>
            <a:spLocks noChangeArrowheads="1"/>
          </p:cNvSpPr>
          <p:nvPr/>
        </p:nvSpPr>
        <p:spPr bwMode="auto">
          <a:xfrm>
            <a:off x="3060358" y="582898"/>
            <a:ext cx="30419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调用 </a:t>
            </a:r>
            <a:r>
              <a:rPr lang="en-US" altLang="zh-CN" sz="2000" b="1" dirty="0">
                <a:solidFill>
                  <a:schemeClr val="bg1"/>
                </a:solidFill>
                <a:latin typeface="微软雅黑" pitchFamily="34" charset="-122"/>
                <a:ea typeface="微软雅黑" pitchFamily="34" charset="-122"/>
              </a:rPr>
              <a:t>socket </a:t>
            </a:r>
            <a:r>
              <a:rPr lang="zh-CN" altLang="en-US" sz="2000" b="1" dirty="0">
                <a:solidFill>
                  <a:schemeClr val="bg1"/>
                </a:solidFill>
                <a:latin typeface="微软雅黑" pitchFamily="34" charset="-122"/>
                <a:ea typeface="微软雅黑" pitchFamily="34" charset="-122"/>
              </a:rPr>
              <a:t>创建套接</a:t>
            </a:r>
            <a:r>
              <a:rPr lang="zh-CN" altLang="en-US" sz="2000" b="1" dirty="0" smtClean="0">
                <a:solidFill>
                  <a:schemeClr val="bg1"/>
                </a:solidFill>
                <a:latin typeface="微软雅黑" pitchFamily="34" charset="-122"/>
                <a:ea typeface="微软雅黑" pitchFamily="34" charset="-122"/>
              </a:rPr>
              <a:t>字</a:t>
            </a:r>
          </a:p>
        </p:txBody>
      </p:sp>
      <p:sp>
        <p:nvSpPr>
          <p:cNvPr id="5" name="Rectangle 4"/>
          <p:cNvSpPr>
            <a:spLocks noChangeArrowheads="1"/>
          </p:cNvSpPr>
          <p:nvPr/>
        </p:nvSpPr>
        <p:spPr bwMode="auto">
          <a:xfrm>
            <a:off x="1835081" y="1837418"/>
            <a:ext cx="1979702" cy="2055845"/>
          </a:xfrm>
          <a:prstGeom prst="rect">
            <a:avLst/>
          </a:prstGeom>
          <a:solidFill>
            <a:srgbClr val="99FFCC"/>
          </a:solidFill>
          <a:ln w="19050">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Text Box 5"/>
          <p:cNvSpPr txBox="1">
            <a:spLocks noChangeArrowheads="1"/>
          </p:cNvSpPr>
          <p:nvPr/>
        </p:nvSpPr>
        <p:spPr bwMode="auto">
          <a:xfrm>
            <a:off x="1792263" y="1385976"/>
            <a:ext cx="2031325"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pitchFamily="34" charset="-122"/>
                <a:ea typeface="微软雅黑" pitchFamily="34" charset="-122"/>
              </a:rPr>
              <a:t>套接字描述符表</a:t>
            </a:r>
          </a:p>
          <a:p>
            <a:pPr algn="ctr" eaLnBrk="1" hangingPunct="1"/>
            <a:r>
              <a:rPr lang="zh-CN" altLang="en-US" sz="1200" b="1" dirty="0">
                <a:solidFill>
                  <a:srgbClr val="0000FF"/>
                </a:solidFill>
                <a:latin typeface="微软雅黑" pitchFamily="34" charset="-122"/>
                <a:ea typeface="微软雅黑" pitchFamily="34" charset="-122"/>
              </a:rPr>
              <a:t>（每一个进程一个描述符）</a:t>
            </a:r>
          </a:p>
        </p:txBody>
      </p:sp>
      <p:sp>
        <p:nvSpPr>
          <p:cNvPr id="7" name="Line 6"/>
          <p:cNvSpPr>
            <a:spLocks noChangeShapeType="1"/>
          </p:cNvSpPr>
          <p:nvPr/>
        </p:nvSpPr>
        <p:spPr bwMode="auto">
          <a:xfrm>
            <a:off x="1835081"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7"/>
          <p:cNvSpPr>
            <a:spLocks noChangeShapeType="1"/>
          </p:cNvSpPr>
          <p:nvPr/>
        </p:nvSpPr>
        <p:spPr bwMode="auto">
          <a:xfrm>
            <a:off x="1835081"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8"/>
          <p:cNvSpPr>
            <a:spLocks noChangeShapeType="1"/>
          </p:cNvSpPr>
          <p:nvPr/>
        </p:nvSpPr>
        <p:spPr bwMode="auto">
          <a:xfrm>
            <a:off x="1835081"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Line 9"/>
          <p:cNvSpPr>
            <a:spLocks noChangeShapeType="1"/>
          </p:cNvSpPr>
          <p:nvPr/>
        </p:nvSpPr>
        <p:spPr bwMode="auto">
          <a:xfrm>
            <a:off x="1835081"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 name="Line 10"/>
          <p:cNvSpPr>
            <a:spLocks noChangeShapeType="1"/>
          </p:cNvSpPr>
          <p:nvPr/>
        </p:nvSpPr>
        <p:spPr bwMode="auto">
          <a:xfrm>
            <a:off x="1835081"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Text Box 11"/>
          <p:cNvSpPr txBox="1">
            <a:spLocks noChangeArrowheads="1"/>
          </p:cNvSpPr>
          <p:nvPr/>
        </p:nvSpPr>
        <p:spPr bwMode="auto">
          <a:xfrm>
            <a:off x="1433840" y="1813330"/>
            <a:ext cx="474810" cy="146540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30000"/>
              </a:lnSpc>
            </a:pP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2</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3</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4</a:t>
            </a:r>
            <a:r>
              <a:rPr lang="zh-CN" altLang="en-US" sz="1400" b="1" dirty="0">
                <a:latin typeface="微软雅黑" pitchFamily="34" charset="-122"/>
                <a:ea typeface="微软雅黑" pitchFamily="34" charset="-122"/>
              </a:rPr>
              <a:t>：</a:t>
            </a:r>
          </a:p>
        </p:txBody>
      </p:sp>
      <p:sp>
        <p:nvSpPr>
          <p:cNvPr id="15" name="Rectangle 15"/>
          <p:cNvSpPr>
            <a:spLocks noChangeArrowheads="1"/>
          </p:cNvSpPr>
          <p:nvPr/>
        </p:nvSpPr>
        <p:spPr bwMode="auto">
          <a:xfrm>
            <a:off x="5454370" y="1837417"/>
            <a:ext cx="1979702" cy="2399027"/>
          </a:xfrm>
          <a:prstGeom prst="rect">
            <a:avLst/>
          </a:prstGeom>
          <a:solidFill>
            <a:srgbClr val="00CCFF"/>
          </a:solidFill>
          <a:ln w="19050">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 name="Rectangle 16"/>
          <p:cNvSpPr>
            <a:spLocks noChangeArrowheads="1"/>
          </p:cNvSpPr>
          <p:nvPr/>
        </p:nvSpPr>
        <p:spPr bwMode="auto">
          <a:xfrm>
            <a:off x="5461407" y="2409027"/>
            <a:ext cx="1970320" cy="1136723"/>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Line 17"/>
          <p:cNvSpPr>
            <a:spLocks noChangeShapeType="1"/>
          </p:cNvSpPr>
          <p:nvPr/>
        </p:nvSpPr>
        <p:spPr bwMode="auto">
          <a:xfrm>
            <a:off x="5454370"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Line 18"/>
          <p:cNvSpPr>
            <a:spLocks noChangeShapeType="1"/>
          </p:cNvSpPr>
          <p:nvPr/>
        </p:nvSpPr>
        <p:spPr bwMode="auto">
          <a:xfrm>
            <a:off x="5454370"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9"/>
          <p:cNvSpPr>
            <a:spLocks noChangeShapeType="1"/>
          </p:cNvSpPr>
          <p:nvPr/>
        </p:nvSpPr>
        <p:spPr bwMode="auto">
          <a:xfrm>
            <a:off x="5454370"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0"/>
          <p:cNvSpPr>
            <a:spLocks noChangeShapeType="1"/>
          </p:cNvSpPr>
          <p:nvPr/>
        </p:nvSpPr>
        <p:spPr bwMode="auto">
          <a:xfrm>
            <a:off x="5454370"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21"/>
          <p:cNvSpPr>
            <a:spLocks noChangeShapeType="1"/>
          </p:cNvSpPr>
          <p:nvPr/>
        </p:nvSpPr>
        <p:spPr bwMode="auto">
          <a:xfrm>
            <a:off x="5454370"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22"/>
          <p:cNvSpPr>
            <a:spLocks noChangeShapeType="1"/>
          </p:cNvSpPr>
          <p:nvPr/>
        </p:nvSpPr>
        <p:spPr bwMode="auto">
          <a:xfrm>
            <a:off x="5454370" y="3551163"/>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41" name="组合 40"/>
          <p:cNvGrpSpPr/>
          <p:nvPr/>
        </p:nvGrpSpPr>
        <p:grpSpPr>
          <a:xfrm>
            <a:off x="2797956" y="1985733"/>
            <a:ext cx="1406182" cy="863909"/>
            <a:chOff x="2797956" y="2003489"/>
            <a:chExt cx="1243178" cy="863909"/>
          </a:xfrm>
        </p:grpSpPr>
        <p:sp>
          <p:nvSpPr>
            <p:cNvPr id="13" name="Line 13"/>
            <p:cNvSpPr>
              <a:spLocks noChangeShapeType="1"/>
            </p:cNvSpPr>
            <p:nvPr/>
          </p:nvSpPr>
          <p:spPr bwMode="auto">
            <a:xfrm>
              <a:off x="2797956" y="2003489"/>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4"/>
            <p:cNvSpPr>
              <a:spLocks noChangeShapeType="1"/>
            </p:cNvSpPr>
            <p:nvPr/>
          </p:nvSpPr>
          <p:spPr bwMode="auto">
            <a:xfrm>
              <a:off x="2797956" y="2290376"/>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7"/>
            <p:cNvSpPr>
              <a:spLocks noChangeShapeType="1"/>
            </p:cNvSpPr>
            <p:nvPr/>
          </p:nvSpPr>
          <p:spPr bwMode="auto">
            <a:xfrm>
              <a:off x="2797956" y="257942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30"/>
            <p:cNvSpPr>
              <a:spLocks noChangeShapeType="1"/>
            </p:cNvSpPr>
            <p:nvPr/>
          </p:nvSpPr>
          <p:spPr bwMode="auto">
            <a:xfrm>
              <a:off x="2797956" y="286739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 name="Text Box 33"/>
          <p:cNvSpPr txBox="1">
            <a:spLocks noChangeArrowheads="1"/>
          </p:cNvSpPr>
          <p:nvPr/>
        </p:nvSpPr>
        <p:spPr bwMode="auto">
          <a:xfrm>
            <a:off x="4027352" y="1150664"/>
            <a:ext cx="1107997"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dirty="0">
                <a:latin typeface="微软雅黑" pitchFamily="34" charset="-122"/>
                <a:ea typeface="微软雅黑" pitchFamily="34" charset="-122"/>
              </a:rPr>
              <a:t>操作系统</a:t>
            </a:r>
          </a:p>
        </p:txBody>
      </p:sp>
      <p:sp>
        <p:nvSpPr>
          <p:cNvPr id="30" name="Text Box 34"/>
          <p:cNvSpPr txBox="1">
            <a:spLocks noChangeArrowheads="1"/>
          </p:cNvSpPr>
          <p:nvPr/>
        </p:nvSpPr>
        <p:spPr bwMode="auto">
          <a:xfrm>
            <a:off x="5710405" y="1533209"/>
            <a:ext cx="1415772"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pitchFamily="34" charset="-122"/>
                <a:ea typeface="微软雅黑" pitchFamily="34" charset="-122"/>
              </a:rPr>
              <a:t>套接字的数据结构</a:t>
            </a:r>
          </a:p>
        </p:txBody>
      </p:sp>
      <p:sp>
        <p:nvSpPr>
          <p:cNvPr id="31" name="Text Box 35"/>
          <p:cNvSpPr txBox="1">
            <a:spLocks noChangeArrowheads="1"/>
          </p:cNvSpPr>
          <p:nvPr/>
        </p:nvSpPr>
        <p:spPr bwMode="auto">
          <a:xfrm>
            <a:off x="5507340" y="1849327"/>
            <a:ext cx="1423403"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协议族：</a:t>
            </a:r>
            <a:r>
              <a:rPr lang="en-US" altLang="zh-CN" sz="1200" b="1">
                <a:latin typeface="微软雅黑" pitchFamily="34" charset="-122"/>
                <a:ea typeface="微软雅黑" pitchFamily="34" charset="-122"/>
              </a:rPr>
              <a:t>PF_INET</a:t>
            </a:r>
          </a:p>
        </p:txBody>
      </p:sp>
      <p:sp>
        <p:nvSpPr>
          <p:cNvPr id="32" name="Text Box 36"/>
          <p:cNvSpPr txBox="1">
            <a:spLocks noChangeArrowheads="1"/>
          </p:cNvSpPr>
          <p:nvPr/>
        </p:nvSpPr>
        <p:spPr bwMode="auto">
          <a:xfrm>
            <a:off x="5534616" y="2128635"/>
            <a:ext cx="1807481"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服务：</a:t>
            </a:r>
            <a:r>
              <a:rPr lang="en-US" altLang="zh-CN" sz="1200" b="1">
                <a:latin typeface="微软雅黑" pitchFamily="34" charset="-122"/>
                <a:ea typeface="微软雅黑" pitchFamily="34" charset="-122"/>
              </a:rPr>
              <a:t>SOCK_STREAM</a:t>
            </a:r>
          </a:p>
        </p:txBody>
      </p:sp>
      <p:sp>
        <p:nvSpPr>
          <p:cNvPr id="33" name="Text Box 37"/>
          <p:cNvSpPr txBox="1">
            <a:spLocks noChangeArrowheads="1"/>
          </p:cNvSpPr>
          <p:nvPr/>
        </p:nvSpPr>
        <p:spPr bwMode="auto">
          <a:xfrm>
            <a:off x="5539205" y="240794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pitchFamily="34" charset="-122"/>
                <a:ea typeface="微软雅黑" pitchFamily="34" charset="-122"/>
              </a:rPr>
              <a:t>本地 </a:t>
            </a:r>
            <a:r>
              <a:rPr lang="en-US" altLang="zh-CN" sz="1200" b="1" dirty="0">
                <a:latin typeface="微软雅黑" pitchFamily="34" charset="-122"/>
                <a:ea typeface="微软雅黑" pitchFamily="34" charset="-122"/>
              </a:rPr>
              <a:t>IP </a:t>
            </a:r>
            <a:r>
              <a:rPr lang="zh-CN" altLang="en-US" sz="1200" b="1" dirty="0">
                <a:latin typeface="微软雅黑" pitchFamily="34" charset="-122"/>
                <a:ea typeface="微软雅黑" pitchFamily="34" charset="-122"/>
              </a:rPr>
              <a:t>地址：</a:t>
            </a:r>
          </a:p>
        </p:txBody>
      </p:sp>
      <p:sp>
        <p:nvSpPr>
          <p:cNvPr id="34" name="Text Box 38"/>
          <p:cNvSpPr txBox="1">
            <a:spLocks noChangeArrowheads="1"/>
          </p:cNvSpPr>
          <p:nvPr/>
        </p:nvSpPr>
        <p:spPr bwMode="auto">
          <a:xfrm>
            <a:off x="5539205" y="268725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远地 </a:t>
            </a:r>
            <a:r>
              <a:rPr lang="en-US" altLang="zh-CN" sz="1200" b="1">
                <a:latin typeface="微软雅黑" pitchFamily="34" charset="-122"/>
                <a:ea typeface="微软雅黑" pitchFamily="34" charset="-122"/>
              </a:rPr>
              <a:t>IP </a:t>
            </a:r>
            <a:r>
              <a:rPr lang="zh-CN" altLang="en-US" sz="1200" b="1">
                <a:latin typeface="微软雅黑" pitchFamily="34" charset="-122"/>
                <a:ea typeface="微软雅黑" pitchFamily="34" charset="-122"/>
              </a:rPr>
              <a:t>地址：</a:t>
            </a:r>
          </a:p>
        </p:txBody>
      </p:sp>
      <p:sp>
        <p:nvSpPr>
          <p:cNvPr id="35" name="Text Box 39"/>
          <p:cNvSpPr txBox="1">
            <a:spLocks noChangeArrowheads="1"/>
          </p:cNvSpPr>
          <p:nvPr/>
        </p:nvSpPr>
        <p:spPr bwMode="auto">
          <a:xfrm>
            <a:off x="5539205" y="2965480"/>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本地端口：</a:t>
            </a:r>
          </a:p>
        </p:txBody>
      </p:sp>
      <p:sp>
        <p:nvSpPr>
          <p:cNvPr id="36" name="Text Box 40"/>
          <p:cNvSpPr txBox="1">
            <a:spLocks noChangeArrowheads="1"/>
          </p:cNvSpPr>
          <p:nvPr/>
        </p:nvSpPr>
        <p:spPr bwMode="auto">
          <a:xfrm>
            <a:off x="5539205" y="3246954"/>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远地端口：</a:t>
            </a:r>
          </a:p>
        </p:txBody>
      </p:sp>
      <p:sp>
        <p:nvSpPr>
          <p:cNvPr id="37" name="Text Box 41"/>
          <p:cNvSpPr txBox="1">
            <a:spLocks noChangeArrowheads="1"/>
          </p:cNvSpPr>
          <p:nvPr/>
        </p:nvSpPr>
        <p:spPr bwMode="auto">
          <a:xfrm rot="5400000">
            <a:off x="2645580" y="33179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dirty="0">
                <a:latin typeface="微软雅黑" pitchFamily="34" charset="-122"/>
                <a:ea typeface="微软雅黑" pitchFamily="34" charset="-122"/>
                <a:sym typeface="Symbol" pitchFamily="18" charset="2"/>
              </a:rPr>
              <a:t></a:t>
            </a:r>
          </a:p>
        </p:txBody>
      </p:sp>
      <p:sp>
        <p:nvSpPr>
          <p:cNvPr id="38" name="Text Box 42"/>
          <p:cNvSpPr txBox="1">
            <a:spLocks noChangeArrowheads="1"/>
          </p:cNvSpPr>
          <p:nvPr/>
        </p:nvSpPr>
        <p:spPr bwMode="auto">
          <a:xfrm rot="5400000">
            <a:off x="6319991" y="36600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latin typeface="微软雅黑" pitchFamily="34" charset="-122"/>
                <a:ea typeface="微软雅黑" pitchFamily="34" charset="-122"/>
                <a:sym typeface="Symbol" pitchFamily="18" charset="2"/>
              </a:rPr>
              <a:t></a:t>
            </a:r>
          </a:p>
        </p:txBody>
      </p:sp>
      <p:sp>
        <p:nvSpPr>
          <p:cNvPr id="39" name="Freeform 43"/>
          <p:cNvSpPr>
            <a:spLocks/>
          </p:cNvSpPr>
          <p:nvPr/>
        </p:nvSpPr>
        <p:spPr bwMode="auto">
          <a:xfrm>
            <a:off x="2797957" y="1984650"/>
            <a:ext cx="2658759" cy="1151879"/>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Oval 14"/>
          <p:cNvSpPr>
            <a:spLocks noChangeArrowheads="1"/>
          </p:cNvSpPr>
          <p:nvPr/>
        </p:nvSpPr>
        <p:spPr bwMode="auto">
          <a:xfrm>
            <a:off x="2747526" y="1925108"/>
            <a:ext cx="112590" cy="113672"/>
          </a:xfrm>
          <a:prstGeom prst="ellipse">
            <a:avLst/>
          </a:prstGeom>
          <a:solidFill>
            <a:srgbClr val="FFFF00"/>
          </a:solidFill>
          <a:ln w="9525">
            <a:solidFill>
              <a:schemeClr val="tx1"/>
            </a:solidFill>
            <a:round/>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4" name="Oval 25"/>
          <p:cNvSpPr>
            <a:spLocks noChangeArrowheads="1"/>
          </p:cNvSpPr>
          <p:nvPr/>
        </p:nvSpPr>
        <p:spPr bwMode="auto">
          <a:xfrm>
            <a:off x="2747526" y="2213077"/>
            <a:ext cx="112590" cy="112590"/>
          </a:xfrm>
          <a:prstGeom prst="ellipse">
            <a:avLst/>
          </a:prstGeom>
          <a:solidFill>
            <a:srgbClr val="FFFF00"/>
          </a:solidFill>
          <a:ln w="9525">
            <a:solidFill>
              <a:schemeClr val="tx1"/>
            </a:solidFill>
            <a:round/>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6" name="Oval 28"/>
          <p:cNvSpPr>
            <a:spLocks noChangeArrowheads="1"/>
          </p:cNvSpPr>
          <p:nvPr/>
        </p:nvSpPr>
        <p:spPr bwMode="auto">
          <a:xfrm>
            <a:off x="2747526" y="2501047"/>
            <a:ext cx="112590" cy="113672"/>
          </a:xfrm>
          <a:prstGeom prst="ellipse">
            <a:avLst/>
          </a:prstGeom>
          <a:solidFill>
            <a:srgbClr val="FFFF00"/>
          </a:solidFill>
          <a:ln w="9525">
            <a:solidFill>
              <a:schemeClr val="tx1"/>
            </a:solidFill>
            <a:round/>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8" name="Oval 31"/>
          <p:cNvSpPr>
            <a:spLocks noChangeArrowheads="1"/>
          </p:cNvSpPr>
          <p:nvPr/>
        </p:nvSpPr>
        <p:spPr bwMode="auto">
          <a:xfrm>
            <a:off x="2747526" y="2789018"/>
            <a:ext cx="112590" cy="113672"/>
          </a:xfrm>
          <a:prstGeom prst="ellipse">
            <a:avLst/>
          </a:prstGeom>
          <a:solidFill>
            <a:srgbClr val="FFFF00"/>
          </a:solidFill>
          <a:ln w="9525">
            <a:solidFill>
              <a:schemeClr val="tx1"/>
            </a:solidFill>
            <a:round/>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Oval 44"/>
          <p:cNvSpPr>
            <a:spLocks noChangeArrowheads="1"/>
          </p:cNvSpPr>
          <p:nvPr/>
        </p:nvSpPr>
        <p:spPr bwMode="auto">
          <a:xfrm>
            <a:off x="2747526" y="3056417"/>
            <a:ext cx="112590" cy="113673"/>
          </a:xfrm>
          <a:prstGeom prst="ellipse">
            <a:avLst/>
          </a:prstGeom>
          <a:solidFill>
            <a:srgbClr val="FFFF00"/>
          </a:solidFill>
          <a:ln w="9525">
            <a:solidFill>
              <a:schemeClr val="tx1"/>
            </a:solidFill>
            <a:round/>
            <a:headEnd/>
            <a:tailEnd/>
          </a:ln>
          <a:effectLs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354085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111"/>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094675" y="570840"/>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几种</a:t>
            </a:r>
            <a:r>
              <a:rPr lang="zh-CN" altLang="en-US" sz="2400" b="1" dirty="0">
                <a:solidFill>
                  <a:schemeClr val="bg1"/>
                </a:solidFill>
                <a:latin typeface="微软雅黑" pitchFamily="34" charset="-122"/>
                <a:ea typeface="微软雅黑" pitchFamily="34" charset="-122"/>
              </a:rPr>
              <a:t>常用的系统</a:t>
            </a:r>
            <a:r>
              <a:rPr lang="zh-CN" altLang="en-US" sz="2400" b="1" dirty="0" smtClean="0">
                <a:solidFill>
                  <a:schemeClr val="bg1"/>
                </a:solidFill>
                <a:latin typeface="微软雅黑" pitchFamily="34" charset="-122"/>
                <a:ea typeface="微软雅黑" pitchFamily="34" charset="-122"/>
              </a:rPr>
              <a:t>调用</a:t>
            </a:r>
            <a:endParaRPr lang="zh-CN" altLang="en-US" sz="2400" b="1" dirty="0">
              <a:solidFill>
                <a:schemeClr val="bg1"/>
              </a:solidFill>
              <a:latin typeface="微软雅黑" pitchFamily="34" charset="-122"/>
              <a:ea typeface="微软雅黑" pitchFamily="34" charset="-122"/>
            </a:endParaRPr>
          </a:p>
        </p:txBody>
      </p:sp>
      <p:sp>
        <p:nvSpPr>
          <p:cNvPr id="9" name="Rectangle 68"/>
          <p:cNvSpPr>
            <a:spLocks noChangeArrowheads="1"/>
          </p:cNvSpPr>
          <p:nvPr/>
        </p:nvSpPr>
        <p:spPr bwMode="auto">
          <a:xfrm>
            <a:off x="557380" y="1009867"/>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当应用进程需要使用网络进行通信</a:t>
            </a:r>
            <a:r>
              <a:rPr lang="zh-CN" altLang="en-US" sz="2000" b="1" dirty="0" smtClean="0">
                <a:latin typeface="微软雅黑" pitchFamily="34" charset="-122"/>
                <a:ea typeface="微软雅黑" pitchFamily="34" charset="-122"/>
              </a:rPr>
              <a:t>时，就</a:t>
            </a:r>
            <a:r>
              <a:rPr lang="zh-CN" altLang="en-US" sz="2000" b="1" dirty="0">
                <a:latin typeface="微软雅黑" pitchFamily="34" charset="-122"/>
                <a:ea typeface="微软雅黑" pitchFamily="34" charset="-122"/>
              </a:rPr>
              <a:t>发出</a:t>
            </a:r>
            <a:r>
              <a:rPr lang="zh-CN" altLang="en-US" sz="2000" b="1" dirty="0">
                <a:solidFill>
                  <a:srgbClr val="C00000"/>
                </a:solidFill>
                <a:latin typeface="微软雅黑" pitchFamily="34" charset="-122"/>
                <a:ea typeface="微软雅黑" pitchFamily="34" charset="-122"/>
              </a:rPr>
              <a:t>系统</a:t>
            </a:r>
            <a:r>
              <a:rPr lang="zh-CN" altLang="en-US" sz="2000" b="1" dirty="0" smtClean="0">
                <a:solidFill>
                  <a:srgbClr val="C00000"/>
                </a:solidFill>
                <a:latin typeface="微软雅黑" pitchFamily="34" charset="-122"/>
                <a:ea typeface="微软雅黑" pitchFamily="34" charset="-122"/>
              </a:rPr>
              <a:t>调用</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TCP/IP</a:t>
            </a:r>
            <a:r>
              <a:rPr lang="zh-CN" altLang="en-US" sz="2000" b="1" dirty="0" smtClean="0">
                <a:latin typeface="微软雅黑" pitchFamily="34" charset="-122"/>
                <a:ea typeface="微软雅黑" pitchFamily="34" charset="-122"/>
              </a:rPr>
              <a:t> 应用</a:t>
            </a:r>
            <a:r>
              <a:rPr lang="zh-CN" altLang="en-US" sz="2000" b="1" dirty="0">
                <a:latin typeface="微软雅黑" pitchFamily="34" charset="-122"/>
                <a:ea typeface="微软雅黑" pitchFamily="34" charset="-122"/>
              </a:rPr>
              <a:t>编程</a:t>
            </a:r>
            <a:r>
              <a:rPr lang="zh-CN" altLang="en-US" sz="2000" b="1" dirty="0" smtClean="0">
                <a:latin typeface="微软雅黑" pitchFamily="34" charset="-122"/>
                <a:ea typeface="微软雅黑" pitchFamily="34" charset="-122"/>
              </a:rPr>
              <a:t>接口 </a:t>
            </a:r>
            <a:r>
              <a:rPr lang="en-US" altLang="zh-CN" sz="2000" b="1" dirty="0" smtClean="0">
                <a:latin typeface="微软雅黑" pitchFamily="34" charset="-122"/>
                <a:ea typeface="微软雅黑" pitchFamily="34" charset="-122"/>
              </a:rPr>
              <a:t>API</a:t>
            </a:r>
            <a:r>
              <a:rPr lang="zh-CN" altLang="en-US" sz="2000" b="1" dirty="0" smtClean="0">
                <a:latin typeface="微软雅黑" pitchFamily="34" charset="-122"/>
                <a:ea typeface="微软雅黑" pitchFamily="34" charset="-122"/>
              </a:rPr>
              <a:t>，可以编写基于互联网的网络应用程序。</a:t>
            </a:r>
            <a:endParaRPr lang="en-US" altLang="zh-CN" sz="2000" b="1" dirty="0" smtClean="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调用 </a:t>
            </a:r>
            <a:r>
              <a:rPr lang="en-US" altLang="zh-CN" sz="2000" b="1" dirty="0" smtClean="0">
                <a:latin typeface="微软雅黑" pitchFamily="34" charset="-122"/>
                <a:ea typeface="微软雅黑" pitchFamily="34" charset="-122"/>
              </a:rPr>
              <a:t>API </a:t>
            </a:r>
            <a:r>
              <a:rPr lang="zh-CN" altLang="en-US" sz="2000" b="1" dirty="0" smtClean="0">
                <a:latin typeface="微软雅黑" pitchFamily="34" charset="-122"/>
                <a:ea typeface="微软雅黑" pitchFamily="34" charset="-122"/>
              </a:rPr>
              <a:t>时</a:t>
            </a:r>
            <a:r>
              <a:rPr lang="zh-CN" altLang="en-US" sz="2000" b="1" dirty="0">
                <a:latin typeface="微软雅黑" pitchFamily="34" charset="-122"/>
                <a:ea typeface="微软雅黑" pitchFamily="34" charset="-122"/>
              </a:rPr>
              <a:t>，用户可以</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服务</a:t>
            </a:r>
            <a:r>
              <a:rPr lang="zh-CN" altLang="en-US" sz="2000" b="1" dirty="0">
                <a:latin typeface="微软雅黑" pitchFamily="34" charset="-122"/>
                <a:ea typeface="微软雅黑" pitchFamily="34" charset="-122"/>
              </a:rPr>
              <a:t>，也可以</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UDP </a:t>
            </a:r>
            <a:r>
              <a:rPr lang="zh-CN" altLang="en-US" sz="2000" b="1" dirty="0" smtClean="0">
                <a:latin typeface="微软雅黑" pitchFamily="34" charset="-122"/>
                <a:ea typeface="微软雅黑" pitchFamily="34" charset="-122"/>
              </a:rPr>
              <a:t>等</a:t>
            </a:r>
            <a:r>
              <a:rPr lang="zh-CN" altLang="en-US" sz="2000" b="1" dirty="0">
                <a:latin typeface="微软雅黑" pitchFamily="34" charset="-122"/>
                <a:ea typeface="微软雅黑" pitchFamily="34" charset="-122"/>
              </a:rPr>
              <a:t>其他服务</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5004684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868"/>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6" name="Rectangle 6"/>
          <p:cNvSpPr>
            <a:spLocks noChangeArrowheads="1"/>
          </p:cNvSpPr>
          <p:nvPr/>
        </p:nvSpPr>
        <p:spPr bwMode="auto">
          <a:xfrm>
            <a:off x="3094675" y="562719"/>
            <a:ext cx="29546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几种</a:t>
            </a:r>
            <a:r>
              <a:rPr lang="zh-CN" altLang="en-US" sz="2400" b="1" dirty="0">
                <a:solidFill>
                  <a:schemeClr val="bg1"/>
                </a:solidFill>
                <a:latin typeface="微软雅黑" pitchFamily="34" charset="-122"/>
                <a:ea typeface="微软雅黑" pitchFamily="34" charset="-122"/>
              </a:rPr>
              <a:t>常用的系统</a:t>
            </a:r>
            <a:r>
              <a:rPr lang="zh-CN" altLang="en-US" sz="2400" b="1" dirty="0" smtClean="0">
                <a:solidFill>
                  <a:schemeClr val="bg1"/>
                </a:solidFill>
                <a:latin typeface="微软雅黑" pitchFamily="34" charset="-122"/>
                <a:ea typeface="微软雅黑" pitchFamily="34" charset="-122"/>
              </a:rPr>
              <a:t>调用</a:t>
            </a:r>
            <a:endParaRPr lang="zh-CN" altLang="en-US" sz="2400" b="1" dirty="0">
              <a:solidFill>
                <a:schemeClr val="bg1"/>
              </a:solidFill>
              <a:latin typeface="微软雅黑" pitchFamily="34" charset="-122"/>
              <a:ea typeface="微软雅黑" pitchFamily="34" charset="-122"/>
            </a:endParaRPr>
          </a:p>
        </p:txBody>
      </p:sp>
      <p:sp>
        <p:nvSpPr>
          <p:cNvPr id="9" name="Rectangle 68"/>
          <p:cNvSpPr>
            <a:spLocks noChangeArrowheads="1"/>
          </p:cNvSpPr>
          <p:nvPr/>
        </p:nvSpPr>
        <p:spPr bwMode="auto">
          <a:xfrm>
            <a:off x="557380" y="1010624"/>
            <a:ext cx="7777321"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以使用</a:t>
            </a:r>
            <a:r>
              <a:rPr lang="en-US" altLang="zh-CN" sz="2000" b="1" dirty="0">
                <a:latin typeface="微软雅黑" pitchFamily="34" charset="-122"/>
                <a:ea typeface="微软雅黑" pitchFamily="34" charset="-122"/>
              </a:rPr>
              <a:t>TCP</a:t>
            </a:r>
            <a:r>
              <a:rPr lang="zh-CN" altLang="en-US" sz="2000" b="1" dirty="0">
                <a:latin typeface="微软雅黑" pitchFamily="34" charset="-122"/>
                <a:ea typeface="微软雅黑" pitchFamily="34" charset="-122"/>
              </a:rPr>
              <a:t>的服务为</a:t>
            </a:r>
            <a:r>
              <a:rPr lang="zh-CN" altLang="en-US" sz="2000" b="1" dirty="0" smtClean="0">
                <a:latin typeface="微软雅黑" pitchFamily="34" charset="-122"/>
                <a:ea typeface="微软雅黑" pitchFamily="34" charset="-122"/>
              </a:rPr>
              <a:t>例讨论几种</a:t>
            </a:r>
            <a:r>
              <a:rPr lang="zh-CN" altLang="en-US" sz="2000" b="1" dirty="0">
                <a:latin typeface="微软雅黑" pitchFamily="34" charset="-122"/>
                <a:ea typeface="微软雅黑" pitchFamily="34" charset="-122"/>
              </a:rPr>
              <a:t>常用的系统</a:t>
            </a:r>
            <a:r>
              <a:rPr lang="zh-CN" altLang="en-US" sz="2000" b="1" dirty="0" smtClean="0">
                <a:latin typeface="微软雅黑" pitchFamily="34" charset="-122"/>
                <a:ea typeface="微软雅黑" pitchFamily="34" charset="-122"/>
              </a:rPr>
              <a:t>调用。</a:t>
            </a:r>
            <a:endParaRPr lang="zh-CN" altLang="en-US"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提供</a:t>
            </a:r>
            <a:r>
              <a:rPr lang="zh-CN" altLang="en-US" sz="2000" b="1" dirty="0">
                <a:solidFill>
                  <a:srgbClr val="C00000"/>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服务，因此使用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服务</a:t>
            </a:r>
            <a:r>
              <a:rPr lang="zh-CN" altLang="en-US" sz="2000" b="1" dirty="0">
                <a:latin typeface="微软雅黑" pitchFamily="34" charset="-122"/>
                <a:ea typeface="微软雅黑" pitchFamily="34" charset="-122"/>
              </a:rPr>
              <a:t>需要</a:t>
            </a:r>
            <a:r>
              <a:rPr lang="zh-CN" altLang="en-US" sz="2000" b="1" dirty="0" smtClean="0">
                <a:latin typeface="微软雅黑" pitchFamily="34" charset="-122"/>
                <a:ea typeface="微软雅黑" pitchFamily="34" charset="-122"/>
              </a:rPr>
              <a:t>经历 </a:t>
            </a:r>
            <a:r>
              <a:rPr lang="en-US" altLang="zh-CN" sz="2000" b="1" dirty="0" smtClean="0">
                <a:solidFill>
                  <a:srgbClr val="C00000"/>
                </a:solidFill>
                <a:latin typeface="微软雅黑" pitchFamily="34" charset="-122"/>
                <a:ea typeface="微软雅黑" pitchFamily="34" charset="-122"/>
              </a:rPr>
              <a:t>3 </a:t>
            </a:r>
            <a:r>
              <a:rPr lang="zh-CN" altLang="en-US" sz="2000" b="1" dirty="0" smtClean="0">
                <a:solidFill>
                  <a:srgbClr val="C00000"/>
                </a:solidFill>
                <a:latin typeface="微软雅黑" pitchFamily="34" charset="-122"/>
                <a:ea typeface="微软雅黑" pitchFamily="34" charset="-122"/>
              </a:rPr>
              <a:t>个</a:t>
            </a:r>
            <a:r>
              <a:rPr lang="zh-CN" altLang="en-US" sz="2000" b="1" dirty="0">
                <a:solidFill>
                  <a:srgbClr val="C00000"/>
                </a:solidFill>
                <a:latin typeface="微软雅黑" pitchFamily="34" charset="-122"/>
                <a:ea typeface="微软雅黑" pitchFamily="34" charset="-122"/>
              </a:rPr>
              <a:t>阶段：</a:t>
            </a:r>
          </a:p>
          <a:p>
            <a:pPr marL="630238" lvl="1" indent="-357188"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连接建立</a:t>
            </a:r>
            <a:r>
              <a:rPr lang="zh-CN" altLang="en-US" sz="2000" b="1" dirty="0" smtClean="0">
                <a:latin typeface="微软雅黑" pitchFamily="34" charset="-122"/>
                <a:ea typeface="微软雅黑" pitchFamily="34" charset="-122"/>
              </a:rPr>
              <a:t>阶段</a:t>
            </a:r>
            <a:endParaRPr lang="zh-CN" altLang="en-US" sz="2000" b="1" dirty="0">
              <a:latin typeface="微软雅黑" pitchFamily="34" charset="-122"/>
              <a:ea typeface="微软雅黑" pitchFamily="34" charset="-122"/>
            </a:endParaRPr>
          </a:p>
          <a:p>
            <a:pPr marL="630238" lvl="1" indent="-357188"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数据传送</a:t>
            </a:r>
            <a:r>
              <a:rPr lang="zh-CN" altLang="en-US" sz="2000" b="1" dirty="0" smtClean="0">
                <a:latin typeface="微软雅黑" pitchFamily="34" charset="-122"/>
                <a:ea typeface="微软雅黑" pitchFamily="34" charset="-122"/>
              </a:rPr>
              <a:t>阶段</a:t>
            </a:r>
            <a:endParaRPr lang="zh-CN" altLang="en-US" sz="2000" b="1" dirty="0">
              <a:latin typeface="微软雅黑" pitchFamily="34" charset="-122"/>
              <a:ea typeface="微软雅黑" pitchFamily="34" charset="-122"/>
            </a:endParaRPr>
          </a:p>
          <a:p>
            <a:pPr marL="630238" lvl="1" indent="-357188" eaLnBrk="0" hangingPunct="0">
              <a:lnSpc>
                <a:spcPts val="3300"/>
              </a:lnSpc>
              <a:buClr>
                <a:srgbClr val="7030A0"/>
              </a:buClr>
              <a:buFont typeface="+mj-lt"/>
              <a:buAutoNum type="arabicPeriod"/>
            </a:pPr>
            <a:r>
              <a:rPr lang="zh-CN" altLang="en-US" sz="2000" b="1" dirty="0" smtClean="0">
                <a:latin typeface="微软雅黑" pitchFamily="34" charset="-122"/>
                <a:ea typeface="微软雅黑" pitchFamily="34" charset="-122"/>
              </a:rPr>
              <a:t>连接释放阶段</a:t>
            </a: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561807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Effect transition="in" filter="fade">
                                      <p:cBhvr>
                                        <p:cTn id="7" dur="500"/>
                                        <p:tgtEl>
                                          <p:spTgt spid="9">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9">
                                            <p:txEl>
                                              <p:pRg st="2" end="2"/>
                                            </p:txEl>
                                          </p:spTgt>
                                        </p:tgtEl>
                                        <p:attrNameLst>
                                          <p:attrName>style.visibility</p:attrName>
                                        </p:attrNameLst>
                                      </p:cBhvr>
                                      <p:to>
                                        <p:strVal val="visible"/>
                                      </p:to>
                                    </p:set>
                                    <p:animEffect transition="in" filter="fade">
                                      <p:cBhvr>
                                        <p:cTn id="10" dur="500"/>
                                        <p:tgtEl>
                                          <p:spTgt spid="9">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9">
                                            <p:txEl>
                                              <p:pRg st="3" end="3"/>
                                            </p:txEl>
                                          </p:spTgt>
                                        </p:tgtEl>
                                        <p:attrNameLst>
                                          <p:attrName>style.visibility</p:attrName>
                                        </p:attrNameLst>
                                      </p:cBhvr>
                                      <p:to>
                                        <p:strVal val="visible"/>
                                      </p:to>
                                    </p:set>
                                    <p:animEffect transition="in" filter="fade">
                                      <p:cBhvr>
                                        <p:cTn id="13" dur="500"/>
                                        <p:tgtEl>
                                          <p:spTgt spid="9">
                                            <p:txEl>
                                              <p:pRg st="3" end="3"/>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9">
                                            <p:txEl>
                                              <p:pRg st="4" end="4"/>
                                            </p:txEl>
                                          </p:spTgt>
                                        </p:tgtEl>
                                        <p:attrNameLst>
                                          <p:attrName>style.visibility</p:attrName>
                                        </p:attrNameLst>
                                      </p:cBhvr>
                                      <p:to>
                                        <p:strVal val="visible"/>
                                      </p:to>
                                    </p:set>
                                    <p:animEffect transition="in" filter="fade">
                                      <p:cBhvr>
                                        <p:cTn id="16" dur="500"/>
                                        <p:tgtEl>
                                          <p:spTgt spid="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52" name="组合 51"/>
          <p:cNvGrpSpPr/>
          <p:nvPr/>
        </p:nvGrpSpPr>
        <p:grpSpPr>
          <a:xfrm>
            <a:off x="2441293" y="1366814"/>
            <a:ext cx="2903178" cy="905585"/>
            <a:chOff x="2492362" y="1366814"/>
            <a:chExt cx="2903178" cy="905585"/>
          </a:xfrm>
        </p:grpSpPr>
        <p:cxnSp>
          <p:nvCxnSpPr>
            <p:cNvPr id="37" name="直接箭头连接符 36"/>
            <p:cNvCxnSpPr/>
            <p:nvPr/>
          </p:nvCxnSpPr>
          <p:spPr>
            <a:xfrm flipH="1">
              <a:off x="3102390" y="1936773"/>
              <a:ext cx="270776" cy="3356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3" idx="3"/>
            </p:cNvCxnSpPr>
            <p:nvPr/>
          </p:nvCxnSpPr>
          <p:spPr>
            <a:xfrm flipV="1">
              <a:off x="4702003" y="1473451"/>
              <a:ext cx="693537" cy="1857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 name="矩形 2"/>
            <p:cNvSpPr/>
            <p:nvPr/>
          </p:nvSpPr>
          <p:spPr>
            <a:xfrm>
              <a:off x="2492362" y="1366814"/>
              <a:ext cx="2209641" cy="584775"/>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1600" b="1" dirty="0" smtClean="0">
                  <a:latin typeface="微软雅黑" panose="020B0503020204020204" pitchFamily="34" charset="-122"/>
                  <a:ea typeface="微软雅黑" panose="020B0503020204020204" pitchFamily="34" charset="-122"/>
                </a:rPr>
                <a:t>通信之前，</a:t>
              </a:r>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smtClean="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先创建套</a:t>
              </a:r>
              <a:r>
                <a:rPr lang="zh-CN" altLang="en-US" sz="1600" b="1" dirty="0">
                  <a:latin typeface="微软雅黑" panose="020B0503020204020204" pitchFamily="34" charset="-122"/>
                  <a:ea typeface="微软雅黑" panose="020B0503020204020204" pitchFamily="34" charset="-122"/>
                </a:rPr>
                <a:t>接</a:t>
              </a:r>
              <a:r>
                <a:rPr lang="zh-CN" altLang="en-US" sz="1600" b="1" dirty="0" smtClean="0">
                  <a:latin typeface="微软雅黑" panose="020B0503020204020204" pitchFamily="34" charset="-122"/>
                  <a:ea typeface="微软雅黑" panose="020B0503020204020204" pitchFamily="34" charset="-122"/>
                </a:rPr>
                <a:t>字</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6629020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0"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8" name="组合 47"/>
          <p:cNvGrpSpPr/>
          <p:nvPr/>
        </p:nvGrpSpPr>
        <p:grpSpPr>
          <a:xfrm>
            <a:off x="1648624" y="1371358"/>
            <a:ext cx="3741746" cy="830997"/>
            <a:chOff x="1648624" y="1371358"/>
            <a:chExt cx="3741746" cy="830997"/>
          </a:xfrm>
        </p:grpSpPr>
        <p:cxnSp>
          <p:nvCxnSpPr>
            <p:cNvPr id="46" name="直接箭头连接符 45"/>
            <p:cNvCxnSpPr/>
            <p:nvPr/>
          </p:nvCxnSpPr>
          <p:spPr>
            <a:xfrm>
              <a:off x="4773046" y="1858323"/>
              <a:ext cx="61732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矩形 44"/>
            <p:cNvSpPr/>
            <p:nvPr/>
          </p:nvSpPr>
          <p:spPr>
            <a:xfrm>
              <a:off x="1648624" y="1371358"/>
              <a:ext cx="3139984" cy="830997"/>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just"/>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a:solidFill>
                    <a:srgbClr val="C00000"/>
                  </a:solidFill>
                  <a:latin typeface="微软雅黑" panose="020B0503020204020204" pitchFamily="34" charset="-122"/>
                  <a:ea typeface="微软雅黑" panose="020B0503020204020204" pitchFamily="34" charset="-122"/>
                </a:rPr>
                <a:t>端</a:t>
              </a:r>
              <a:r>
                <a:rPr lang="zh-CN" altLang="en-US" sz="1600" b="1" dirty="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bind</a:t>
              </a:r>
              <a:r>
                <a:rPr lang="zh-CN" altLang="en-US" sz="1600" b="1" dirty="0" smtClean="0">
                  <a:latin typeface="微软雅黑" panose="020B0503020204020204" pitchFamily="34" charset="-122"/>
                  <a:ea typeface="微软雅黑" panose="020B0503020204020204" pitchFamily="34" charset="-122"/>
                </a:rPr>
                <a:t>，把周知端口</a:t>
              </a:r>
              <a:r>
                <a:rPr lang="zh-CN" altLang="en-US" sz="1600" b="1" dirty="0">
                  <a:latin typeface="微软雅黑" panose="020B0503020204020204" pitchFamily="34" charset="-122"/>
                  <a:ea typeface="微软雅黑" panose="020B0503020204020204" pitchFamily="34" charset="-122"/>
                </a:rPr>
                <a:t>号和本地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地址填写到已创建的套接字中</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40374100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5" name="组合 44"/>
          <p:cNvGrpSpPr/>
          <p:nvPr/>
        </p:nvGrpSpPr>
        <p:grpSpPr>
          <a:xfrm>
            <a:off x="1074198" y="1371358"/>
            <a:ext cx="4314903" cy="1077218"/>
            <a:chOff x="1074198" y="1371358"/>
            <a:chExt cx="4314903" cy="1077218"/>
          </a:xfrm>
        </p:grpSpPr>
        <p:cxnSp>
          <p:nvCxnSpPr>
            <p:cNvPr id="47" name="直接箭头连接符 46"/>
            <p:cNvCxnSpPr/>
            <p:nvPr/>
          </p:nvCxnSpPr>
          <p:spPr>
            <a:xfrm>
              <a:off x="4773046" y="1858323"/>
              <a:ext cx="616055" cy="4064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074198" y="1371358"/>
              <a:ext cx="3714410"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just"/>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listen</a:t>
              </a:r>
              <a:r>
                <a:rPr lang="zh-CN" altLang="en-US" sz="1600" b="1" dirty="0" smtClean="0">
                  <a:latin typeface="微软雅黑" panose="020B0503020204020204" pitchFamily="34" charset="-122"/>
                  <a:ea typeface="微软雅黑" panose="020B0503020204020204" pitchFamily="34" charset="-122"/>
                </a:rPr>
                <a:t>（监听）</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把</a:t>
              </a:r>
              <a:r>
                <a:rPr lang="zh-CN" altLang="en-US" sz="1600" b="1" dirty="0">
                  <a:latin typeface="微软雅黑" panose="020B0503020204020204" pitchFamily="34" charset="-122"/>
                  <a:ea typeface="微软雅黑" panose="020B0503020204020204" pitchFamily="34" charset="-122"/>
                </a:rPr>
                <a:t>套接字设置为被动方式，以便随时接受客户的服务请求。</a:t>
              </a:r>
              <a:r>
                <a:rPr lang="en-US" altLang="zh-CN" sz="1600" b="1" dirty="0">
                  <a:latin typeface="微软雅黑" panose="020B0503020204020204" pitchFamily="34" charset="-122"/>
                  <a:ea typeface="微软雅黑" panose="020B0503020204020204" pitchFamily="34" charset="-122"/>
                </a:rPr>
                <a:t>UDP </a:t>
              </a:r>
              <a:r>
                <a:rPr lang="zh-CN" altLang="en-US" sz="1600" b="1" dirty="0" smtClean="0">
                  <a:latin typeface="微软雅黑" panose="020B0503020204020204" pitchFamily="34" charset="-122"/>
                  <a:ea typeface="微软雅黑" panose="020B0503020204020204" pitchFamily="34" charset="-122"/>
                </a:rPr>
                <a:t>服务器不</a:t>
              </a:r>
              <a:r>
                <a:rPr lang="zh-CN" altLang="en-US" sz="1600" b="1" dirty="0">
                  <a:latin typeface="微软雅黑" panose="020B0503020204020204" pitchFamily="34" charset="-122"/>
                  <a:ea typeface="微软雅黑" panose="020B0503020204020204" pitchFamily="34" charset="-122"/>
                </a:rPr>
                <a:t>使用 </a:t>
              </a:r>
              <a:r>
                <a:rPr lang="en-US" altLang="zh-CN" sz="1600" b="1" dirty="0">
                  <a:latin typeface="微软雅黑" panose="020B0503020204020204" pitchFamily="34" charset="-122"/>
                  <a:ea typeface="微软雅黑" panose="020B0503020204020204" pitchFamily="34" charset="-122"/>
                </a:rPr>
                <a:t>listen </a:t>
              </a:r>
              <a:r>
                <a:rPr lang="zh-CN" altLang="en-US" sz="1600" b="1" dirty="0">
                  <a:latin typeface="微软雅黑" panose="020B0503020204020204" pitchFamily="34" charset="-122"/>
                  <a:ea typeface="微软雅黑" panose="020B0503020204020204" pitchFamily="34" charset="-122"/>
                </a:rPr>
                <a:t>系统调用</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1126768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5" name="组合 44"/>
          <p:cNvGrpSpPr/>
          <p:nvPr/>
        </p:nvGrpSpPr>
        <p:grpSpPr>
          <a:xfrm>
            <a:off x="1597982" y="1365082"/>
            <a:ext cx="3810246" cy="1347363"/>
            <a:chOff x="1597982" y="1425503"/>
            <a:chExt cx="3810246" cy="1347363"/>
          </a:xfrm>
        </p:grpSpPr>
        <p:cxnSp>
          <p:nvCxnSpPr>
            <p:cNvPr id="47" name="直接箭头连接符 46"/>
            <p:cNvCxnSpPr/>
            <p:nvPr/>
          </p:nvCxnSpPr>
          <p:spPr>
            <a:xfrm>
              <a:off x="4773046" y="2201507"/>
              <a:ext cx="635182" cy="5713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597982" y="1425503"/>
              <a:ext cx="3196442"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just"/>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accept</a:t>
              </a:r>
              <a:r>
                <a:rPr lang="zh-CN" altLang="en-US" sz="1600" b="1" dirty="0">
                  <a:latin typeface="微软雅黑" panose="020B0503020204020204" pitchFamily="34" charset="-122"/>
                  <a:ea typeface="微软雅黑" panose="020B0503020204020204" pitchFamily="34" charset="-122"/>
                </a:rPr>
                <a:t>（接受），以便把远地客户进程发来的连接请求提取出来</a:t>
              </a:r>
              <a:r>
                <a:rPr lang="zh-CN" altLang="en-US"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服务器不使用 </a:t>
              </a:r>
              <a:r>
                <a:rPr lang="en-US" altLang="zh-CN" sz="1600" b="1" dirty="0" smtClean="0">
                  <a:latin typeface="微软雅黑" panose="020B0503020204020204" pitchFamily="34" charset="-122"/>
                  <a:ea typeface="微软雅黑" panose="020B0503020204020204" pitchFamily="34" charset="-122"/>
                </a:rPr>
                <a:t>accept </a:t>
              </a:r>
              <a:r>
                <a:rPr lang="zh-CN" altLang="en-US" sz="1600" b="1" dirty="0">
                  <a:latin typeface="微软雅黑" panose="020B0503020204020204" pitchFamily="34" charset="-122"/>
                  <a:ea typeface="微软雅黑" panose="020B0503020204020204" pitchFamily="34" charset="-122"/>
                </a:rPr>
                <a:t>系统调用</a:t>
              </a:r>
            </a:p>
          </p:txBody>
        </p:sp>
      </p:grpSp>
    </p:spTree>
    <p:extLst>
      <p:ext uri="{BB962C8B-B14F-4D97-AF65-F5344CB8AC3E}">
        <p14:creationId xmlns:p14="http://schemas.microsoft.com/office/powerpoint/2010/main" val="34811908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1454"/>
            <a:ext cx="8041893" cy="308939"/>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4" name="矩形 3"/>
          <p:cNvSpPr/>
          <p:nvPr/>
        </p:nvSpPr>
        <p:spPr>
          <a:xfrm>
            <a:off x="3201268" y="56007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并发方式工作的服务器</a:t>
            </a:r>
          </a:p>
        </p:txBody>
      </p:sp>
      <p:grpSp>
        <p:nvGrpSpPr>
          <p:cNvPr id="38" name="组合 37"/>
          <p:cNvGrpSpPr/>
          <p:nvPr/>
        </p:nvGrpSpPr>
        <p:grpSpPr>
          <a:xfrm>
            <a:off x="2225985" y="1756712"/>
            <a:ext cx="5132411" cy="2493859"/>
            <a:chOff x="896012" y="2273448"/>
            <a:chExt cx="8602292" cy="4179888"/>
          </a:xfrm>
        </p:grpSpPr>
        <p:sp>
          <p:nvSpPr>
            <p:cNvPr id="5" name="Text Box 4"/>
            <p:cNvSpPr txBox="1">
              <a:spLocks noChangeArrowheads="1"/>
            </p:cNvSpPr>
            <p:nvPr/>
          </p:nvSpPr>
          <p:spPr bwMode="auto">
            <a:xfrm>
              <a:off x="1193681" y="5170635"/>
              <a:ext cx="1857081"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接受连接请求</a:t>
              </a:r>
            </a:p>
            <a:p>
              <a:pPr algn="ctr" eaLnBrk="1" hangingPunct="1"/>
              <a:r>
                <a:rPr lang="zh-CN" altLang="en-US" sz="1200" b="1">
                  <a:latin typeface="微软雅黑" pitchFamily="34" charset="-122"/>
                  <a:ea typeface="微软雅黑" pitchFamily="34" charset="-122"/>
                </a:rPr>
                <a:t>的套接字</a:t>
              </a:r>
            </a:p>
          </p:txBody>
        </p:sp>
        <p:sp>
          <p:nvSpPr>
            <p:cNvPr id="6" name="Rectangle 5"/>
            <p:cNvSpPr>
              <a:spLocks noChangeArrowheads="1"/>
            </p:cNvSpPr>
            <p:nvPr/>
          </p:nvSpPr>
          <p:spPr bwMode="auto">
            <a:xfrm>
              <a:off x="1081750" y="2273448"/>
              <a:ext cx="6462977" cy="41798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6"/>
            <p:cNvSpPr>
              <a:spLocks noChangeArrowheads="1"/>
            </p:cNvSpPr>
            <p:nvPr/>
          </p:nvSpPr>
          <p:spPr bwMode="auto">
            <a:xfrm>
              <a:off x="1085188" y="4940447"/>
              <a:ext cx="2013876" cy="150495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Oval 6"/>
            <p:cNvSpPr>
              <a:spLocks noChangeArrowheads="1"/>
            </p:cNvSpPr>
            <p:nvPr/>
          </p:nvSpPr>
          <p:spPr bwMode="auto">
            <a:xfrm>
              <a:off x="1635523" y="2735387"/>
              <a:ext cx="923528" cy="836612"/>
            </a:xfrm>
            <a:prstGeom prst="ellipse">
              <a:avLst/>
            </a:prstGeom>
            <a:solidFill>
              <a:srgbClr val="FF66FF"/>
            </a:solidFill>
            <a:ln w="38100" cmpd="dbl">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M</a:t>
              </a:r>
            </a:p>
          </p:txBody>
        </p:sp>
        <p:sp>
          <p:nvSpPr>
            <p:cNvPr id="9" name="Oval 7"/>
            <p:cNvSpPr>
              <a:spLocks noChangeArrowheads="1"/>
            </p:cNvSpPr>
            <p:nvPr/>
          </p:nvSpPr>
          <p:spPr bwMode="auto">
            <a:xfrm>
              <a:off x="3389710"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pitchFamily="34" charset="-122"/>
                  <a:ea typeface="微软雅黑" pitchFamily="34" charset="-122"/>
                </a:rPr>
                <a:t>S</a:t>
              </a:r>
              <a:r>
                <a:rPr lang="en-US" altLang="zh-CN" sz="1200" b="1" baseline="-25000" dirty="0">
                  <a:latin typeface="微软雅黑" pitchFamily="34" charset="-122"/>
                  <a:ea typeface="微软雅黑" pitchFamily="34" charset="-122"/>
                </a:rPr>
                <a:t>1</a:t>
              </a:r>
            </a:p>
          </p:txBody>
        </p:sp>
        <p:sp>
          <p:nvSpPr>
            <p:cNvPr id="10" name="Rectangle 37"/>
            <p:cNvSpPr>
              <a:spLocks noChangeArrowheads="1"/>
            </p:cNvSpPr>
            <p:nvPr/>
          </p:nvSpPr>
          <p:spPr bwMode="auto">
            <a:xfrm>
              <a:off x="3086702" y="4938861"/>
              <a:ext cx="4447381"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8"/>
            <p:cNvSpPr>
              <a:spLocks noChangeArrowheads="1"/>
            </p:cNvSpPr>
            <p:nvPr/>
          </p:nvSpPr>
          <p:spPr bwMode="auto">
            <a:xfrm>
              <a:off x="3480858" y="4946799"/>
              <a:ext cx="462625"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9"/>
            <p:cNvSpPr>
              <a:spLocks noChangeArrowheads="1"/>
            </p:cNvSpPr>
            <p:nvPr/>
          </p:nvSpPr>
          <p:spPr bwMode="auto">
            <a:xfrm>
              <a:off x="4820577" y="4946799"/>
              <a:ext cx="462623"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Rectangle 10"/>
            <p:cNvSpPr>
              <a:spLocks noChangeArrowheads="1"/>
            </p:cNvSpPr>
            <p:nvPr/>
          </p:nvSpPr>
          <p:spPr bwMode="auto">
            <a:xfrm>
              <a:off x="6160294" y="4946799"/>
              <a:ext cx="460904"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 name="Text Box 11"/>
            <p:cNvSpPr txBox="1">
              <a:spLocks noChangeArrowheads="1"/>
            </p:cNvSpPr>
            <p:nvPr/>
          </p:nvSpPr>
          <p:spPr bwMode="auto">
            <a:xfrm>
              <a:off x="3169659"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5" name="Text Box 12"/>
            <p:cNvSpPr txBox="1">
              <a:spLocks noChangeArrowheads="1"/>
            </p:cNvSpPr>
            <p:nvPr/>
          </p:nvSpPr>
          <p:spPr bwMode="auto">
            <a:xfrm>
              <a:off x="4555811"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6" name="Text Box 13"/>
            <p:cNvSpPr txBox="1">
              <a:spLocks noChangeArrowheads="1"/>
            </p:cNvSpPr>
            <p:nvPr/>
          </p:nvSpPr>
          <p:spPr bwMode="auto">
            <a:xfrm>
              <a:off x="5936806"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7" name="Line 14"/>
            <p:cNvSpPr>
              <a:spLocks noChangeShapeType="1"/>
            </p:cNvSpPr>
            <p:nvPr/>
          </p:nvSpPr>
          <p:spPr bwMode="auto">
            <a:xfrm>
              <a:off x="1081750" y="4946798"/>
              <a:ext cx="6462977"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Rectangle 18"/>
            <p:cNvSpPr>
              <a:spLocks noChangeArrowheads="1"/>
            </p:cNvSpPr>
            <p:nvPr/>
          </p:nvSpPr>
          <p:spPr bwMode="auto">
            <a:xfrm>
              <a:off x="1864254" y="4946799"/>
              <a:ext cx="462625" cy="250825"/>
            </a:xfrm>
            <a:prstGeom prst="rect">
              <a:avLst/>
            </a:prstGeom>
            <a:solidFill>
              <a:srgbClr val="00C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2" name="Line 19"/>
            <p:cNvSpPr>
              <a:spLocks noChangeShapeType="1"/>
            </p:cNvSpPr>
            <p:nvPr/>
          </p:nvSpPr>
          <p:spPr bwMode="auto">
            <a:xfrm flipV="1">
              <a:off x="2096427" y="3571998"/>
              <a:ext cx="0" cy="137480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Oval 20"/>
            <p:cNvSpPr>
              <a:spLocks noChangeArrowheads="1"/>
            </p:cNvSpPr>
            <p:nvPr/>
          </p:nvSpPr>
          <p:spPr bwMode="auto">
            <a:xfrm>
              <a:off x="4719108" y="3694260"/>
              <a:ext cx="646642" cy="585788"/>
            </a:xfrm>
            <a:prstGeom prst="ellipse">
              <a:avLst/>
            </a:prstGeom>
            <a:solidFill>
              <a:srgbClr val="66FF66"/>
            </a:solidFill>
            <a:ln w="12700"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S</a:t>
              </a:r>
              <a:r>
                <a:rPr lang="en-US" altLang="zh-CN" sz="1200" b="1" baseline="-25000">
                  <a:latin typeface="微软雅黑" pitchFamily="34" charset="-122"/>
                  <a:ea typeface="微软雅黑" pitchFamily="34" charset="-122"/>
                </a:rPr>
                <a:t>2</a:t>
              </a:r>
            </a:p>
          </p:txBody>
        </p:sp>
        <p:sp>
          <p:nvSpPr>
            <p:cNvPr id="24" name="Oval 21"/>
            <p:cNvSpPr>
              <a:spLocks noChangeArrowheads="1"/>
            </p:cNvSpPr>
            <p:nvPr/>
          </p:nvSpPr>
          <p:spPr bwMode="auto">
            <a:xfrm>
              <a:off x="6048508"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S</a:t>
              </a:r>
              <a:r>
                <a:rPr lang="en-US" altLang="zh-CN" sz="1200" b="1" baseline="-25000">
                  <a:latin typeface="微软雅黑" pitchFamily="34" charset="-122"/>
                  <a:ea typeface="微软雅黑" pitchFamily="34" charset="-122"/>
                </a:rPr>
                <a:t>3</a:t>
              </a:r>
            </a:p>
          </p:txBody>
        </p:sp>
        <p:sp>
          <p:nvSpPr>
            <p:cNvPr id="25" name="Line 22"/>
            <p:cNvSpPr>
              <a:spLocks noChangeShapeType="1"/>
            </p:cNvSpPr>
            <p:nvPr/>
          </p:nvSpPr>
          <p:spPr bwMode="auto">
            <a:xfrm>
              <a:off x="2467902" y="3442750"/>
              <a:ext cx="1012957" cy="334061"/>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3"/>
            <p:cNvSpPr>
              <a:spLocks noChangeShapeType="1"/>
            </p:cNvSpPr>
            <p:nvPr/>
          </p:nvSpPr>
          <p:spPr bwMode="auto">
            <a:xfrm>
              <a:off x="2528094" y="3325959"/>
              <a:ext cx="2240889" cy="492125"/>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4"/>
            <p:cNvSpPr>
              <a:spLocks noChangeShapeType="1"/>
            </p:cNvSpPr>
            <p:nvPr/>
          </p:nvSpPr>
          <p:spPr bwMode="auto">
            <a:xfrm>
              <a:off x="2559050" y="3153693"/>
              <a:ext cx="3508375" cy="708842"/>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Text Box 25"/>
            <p:cNvSpPr txBox="1">
              <a:spLocks noChangeArrowheads="1"/>
            </p:cNvSpPr>
            <p:nvPr/>
          </p:nvSpPr>
          <p:spPr bwMode="auto">
            <a:xfrm>
              <a:off x="8157079" y="5450036"/>
              <a:ext cx="1341225" cy="464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操作系统</a:t>
              </a:r>
            </a:p>
          </p:txBody>
        </p:sp>
        <p:sp>
          <p:nvSpPr>
            <p:cNvPr id="29" name="Line 26"/>
            <p:cNvSpPr>
              <a:spLocks noChangeShapeType="1"/>
            </p:cNvSpPr>
            <p:nvPr/>
          </p:nvSpPr>
          <p:spPr bwMode="auto">
            <a:xfrm flipH="1">
              <a:off x="7637596" y="5699273"/>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Line 27"/>
            <p:cNvSpPr>
              <a:spLocks noChangeShapeType="1"/>
            </p:cNvSpPr>
            <p:nvPr/>
          </p:nvSpPr>
          <p:spPr bwMode="auto">
            <a:xfrm flipH="1">
              <a:off x="7637596" y="3443435"/>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 name="Text Box 28"/>
            <p:cNvSpPr txBox="1">
              <a:spLocks noChangeArrowheads="1"/>
            </p:cNvSpPr>
            <p:nvPr/>
          </p:nvSpPr>
          <p:spPr bwMode="auto">
            <a:xfrm>
              <a:off x="8112365" y="3119585"/>
              <a:ext cx="1341225"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服务器</a:t>
              </a:r>
            </a:p>
            <a:p>
              <a:pPr algn="ctr" eaLnBrk="1" hangingPunct="1"/>
              <a:r>
                <a:rPr lang="zh-CN" altLang="en-US" sz="1200" b="1">
                  <a:latin typeface="微软雅黑" pitchFamily="34" charset="-122"/>
                  <a:ea typeface="微软雅黑" pitchFamily="34" charset="-122"/>
                </a:rPr>
                <a:t>应用进程</a:t>
              </a:r>
            </a:p>
          </p:txBody>
        </p:sp>
        <p:sp>
          <p:nvSpPr>
            <p:cNvPr id="32" name="Text Box 29"/>
            <p:cNvSpPr txBox="1">
              <a:spLocks noChangeArrowheads="1"/>
            </p:cNvSpPr>
            <p:nvPr/>
          </p:nvSpPr>
          <p:spPr bwMode="auto">
            <a:xfrm>
              <a:off x="4607993" y="3142838"/>
              <a:ext cx="2115009"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pitchFamily="34" charset="-122"/>
                  <a:ea typeface="微软雅黑" pitchFamily="34" charset="-122"/>
                </a:rPr>
                <a:t>从属服务器进程</a:t>
              </a:r>
            </a:p>
          </p:txBody>
        </p:sp>
        <p:sp>
          <p:nvSpPr>
            <p:cNvPr id="33" name="Text Box 30"/>
            <p:cNvSpPr txBox="1">
              <a:spLocks noChangeArrowheads="1"/>
            </p:cNvSpPr>
            <p:nvPr/>
          </p:nvSpPr>
          <p:spPr bwMode="auto">
            <a:xfrm>
              <a:off x="1172500" y="2289448"/>
              <a:ext cx="1857081"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pitchFamily="34" charset="-122"/>
                  <a:ea typeface="微软雅黑" pitchFamily="34" charset="-122"/>
                </a:rPr>
                <a:t>主服务器进程</a:t>
              </a:r>
            </a:p>
          </p:txBody>
        </p:sp>
        <p:sp>
          <p:nvSpPr>
            <p:cNvPr id="34" name="Text Box 31"/>
            <p:cNvSpPr txBox="1">
              <a:spLocks noChangeArrowheads="1"/>
            </p:cNvSpPr>
            <p:nvPr/>
          </p:nvSpPr>
          <p:spPr bwMode="auto">
            <a:xfrm>
              <a:off x="896012" y="5853260"/>
              <a:ext cx="2372936" cy="459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solidFill>
                    <a:schemeClr val="bg1"/>
                  </a:solidFill>
                  <a:latin typeface="微软雅黑" pitchFamily="34" charset="-122"/>
                  <a:ea typeface="微软雅黑" pitchFamily="34" charset="-122"/>
                </a:rPr>
                <a:t>（原来的套接字）</a:t>
              </a:r>
            </a:p>
          </p:txBody>
        </p:sp>
        <p:sp>
          <p:nvSpPr>
            <p:cNvPr id="35" name="Line 32"/>
            <p:cNvSpPr>
              <a:spLocks noChangeShapeType="1"/>
            </p:cNvSpPr>
            <p:nvPr/>
          </p:nvSpPr>
          <p:spPr bwMode="auto">
            <a:xfrm>
              <a:off x="3389709" y="6145953"/>
              <a:ext cx="33243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6" name="Text Box 33"/>
            <p:cNvSpPr txBox="1">
              <a:spLocks noChangeArrowheads="1"/>
            </p:cNvSpPr>
            <p:nvPr/>
          </p:nvSpPr>
          <p:spPr bwMode="auto">
            <a:xfrm>
              <a:off x="3943484" y="5895943"/>
              <a:ext cx="2313828" cy="479746"/>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fontAlgn="ctr" hangingPunct="1">
                <a:lnSpc>
                  <a:spcPct val="105000"/>
                </a:lnSpc>
              </a:pPr>
              <a:r>
                <a:rPr lang="en-US" altLang="zh-CN" sz="1200" b="1" dirty="0">
                  <a:solidFill>
                    <a:srgbClr val="0000CC"/>
                  </a:solidFill>
                  <a:latin typeface="微软雅黑" pitchFamily="34" charset="-122"/>
                  <a:ea typeface="微软雅黑" pitchFamily="34" charset="-122"/>
                </a:rPr>
                <a:t>(</a:t>
              </a:r>
              <a:r>
                <a:rPr lang="zh-CN" altLang="en-US" sz="1200" b="1" dirty="0">
                  <a:solidFill>
                    <a:srgbClr val="0000CC"/>
                  </a:solidFill>
                  <a:latin typeface="微软雅黑" pitchFamily="34" charset="-122"/>
                  <a:ea typeface="微软雅黑" pitchFamily="34" charset="-122"/>
                </a:rPr>
                <a:t>新创建的套接字</a:t>
              </a:r>
              <a:r>
                <a:rPr lang="en-US" altLang="zh-CN" sz="1200" b="1" dirty="0">
                  <a:solidFill>
                    <a:srgbClr val="0000CC"/>
                  </a:solidFill>
                  <a:latin typeface="微软雅黑" pitchFamily="34" charset="-122"/>
                  <a:ea typeface="微软雅黑" pitchFamily="34" charset="-122"/>
                </a:rPr>
                <a:t>)</a:t>
              </a:r>
            </a:p>
          </p:txBody>
        </p:sp>
        <p:sp>
          <p:nvSpPr>
            <p:cNvPr id="37" name="Line 34"/>
            <p:cNvSpPr>
              <a:spLocks noChangeShapeType="1"/>
            </p:cNvSpPr>
            <p:nvPr/>
          </p:nvSpPr>
          <p:spPr bwMode="auto">
            <a:xfrm>
              <a:off x="3097498" y="4946798"/>
              <a:ext cx="0" cy="1506538"/>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9" name="矩形 38"/>
          <p:cNvSpPr/>
          <p:nvPr/>
        </p:nvSpPr>
        <p:spPr>
          <a:xfrm>
            <a:off x="1273621" y="1136438"/>
            <a:ext cx="6805059" cy="584775"/>
          </a:xfrm>
          <a:prstGeom prst="rect">
            <a:avLst/>
          </a:prstGeom>
          <a:solidFill>
            <a:srgbClr val="FFFF99"/>
          </a:solidFill>
          <a:ln>
            <a:solidFill>
              <a:schemeClr val="tx1"/>
            </a:solidFill>
          </a:ln>
        </p:spPr>
        <p:txBody>
          <a:bodyPr wrap="square">
            <a:spAutoFit/>
          </a:bodyPr>
          <a:lstStyle/>
          <a:p>
            <a:r>
              <a:rPr kumimoji="1" lang="zh-CN" altLang="en-US" sz="1600" b="1" dirty="0">
                <a:latin typeface="微软雅黑" pitchFamily="34" charset="-122"/>
                <a:ea typeface="微软雅黑" pitchFamily="34" charset="-122"/>
              </a:rPr>
              <a:t>调用 </a:t>
            </a:r>
            <a:r>
              <a:rPr kumimoji="1" lang="en-US" altLang="zh-CN" sz="1600" b="1" dirty="0">
                <a:latin typeface="微软雅黑" pitchFamily="34" charset="-122"/>
                <a:ea typeface="微软雅黑" pitchFamily="34" charset="-122"/>
              </a:rPr>
              <a:t>accept </a:t>
            </a:r>
            <a:r>
              <a:rPr kumimoji="1" lang="zh-CN" altLang="en-US" sz="1600" b="1" dirty="0">
                <a:latin typeface="微软雅黑" pitchFamily="34" charset="-122"/>
                <a:ea typeface="微软雅黑" pitchFamily="34" charset="-122"/>
              </a:rPr>
              <a:t>要完成的动作较多。这是因为一个服务器必须能够</a:t>
            </a:r>
            <a:r>
              <a:rPr kumimoji="1" lang="zh-CN" altLang="en-US" sz="1600" b="1" dirty="0">
                <a:solidFill>
                  <a:srgbClr val="C00000"/>
                </a:solidFill>
                <a:latin typeface="微软雅黑" pitchFamily="34" charset="-122"/>
                <a:ea typeface="微软雅黑" pitchFamily="34" charset="-122"/>
              </a:rPr>
              <a:t>同时</a:t>
            </a:r>
            <a:r>
              <a:rPr kumimoji="1" lang="zh-CN" altLang="en-US" sz="1600" b="1" dirty="0">
                <a:latin typeface="微软雅黑" pitchFamily="34" charset="-122"/>
                <a:ea typeface="微软雅黑" pitchFamily="34" charset="-122"/>
              </a:rPr>
              <a:t>处理多个连接。这样的服务器常称为</a:t>
            </a:r>
            <a:r>
              <a:rPr kumimoji="1" lang="zh-CN" altLang="en-US" sz="1600" b="1" dirty="0">
                <a:solidFill>
                  <a:srgbClr val="C00000"/>
                </a:solidFill>
                <a:latin typeface="微软雅黑" pitchFamily="34" charset="-122"/>
                <a:ea typeface="微软雅黑" pitchFamily="34" charset="-122"/>
              </a:rPr>
              <a:t>并发方式 </a:t>
            </a:r>
            <a:r>
              <a:rPr kumimoji="1" lang="en-US" altLang="zh-CN" sz="1600" b="1" dirty="0">
                <a:latin typeface="微软雅黑" pitchFamily="34" charset="-122"/>
                <a:ea typeface="微软雅黑" pitchFamily="34" charset="-122"/>
              </a:rPr>
              <a:t>(concurrent) </a:t>
            </a:r>
            <a:r>
              <a:rPr kumimoji="1" lang="zh-CN" altLang="en-US" sz="1600" b="1" dirty="0">
                <a:latin typeface="微软雅黑" pitchFamily="34" charset="-122"/>
                <a:ea typeface="微软雅黑" pitchFamily="34" charset="-122"/>
              </a:rPr>
              <a:t>工作的服务器。</a:t>
            </a:r>
          </a:p>
        </p:txBody>
      </p:sp>
      <p:sp>
        <p:nvSpPr>
          <p:cNvPr id="40" name="Text Box 31"/>
          <p:cNvSpPr txBox="1">
            <a:spLocks noChangeArrowheads="1"/>
          </p:cNvSpPr>
          <p:nvPr/>
        </p:nvSpPr>
        <p:spPr bwMode="auto">
          <a:xfrm>
            <a:off x="2471756" y="3524612"/>
            <a:ext cx="954107"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solidFill>
                  <a:schemeClr val="bg1"/>
                </a:solidFill>
                <a:latin typeface="微软雅黑" pitchFamily="34" charset="-122"/>
                <a:ea typeface="微软雅黑" pitchFamily="34" charset="-122"/>
              </a:rPr>
              <a:t>监听</a:t>
            </a:r>
            <a:r>
              <a:rPr lang="zh-CN" altLang="en-US" sz="1200" b="1" dirty="0" smtClean="0">
                <a:solidFill>
                  <a:schemeClr val="bg1"/>
                </a:solidFill>
                <a:latin typeface="微软雅黑" pitchFamily="34" charset="-122"/>
                <a:ea typeface="微软雅黑" pitchFamily="34" charset="-122"/>
              </a:rPr>
              <a:t>套</a:t>
            </a:r>
            <a:r>
              <a:rPr lang="zh-CN" altLang="en-US" sz="1200" b="1" dirty="0">
                <a:solidFill>
                  <a:schemeClr val="bg1"/>
                </a:solidFill>
                <a:latin typeface="微软雅黑" pitchFamily="34" charset="-122"/>
                <a:ea typeface="微软雅黑" pitchFamily="34" charset="-122"/>
              </a:rPr>
              <a:t>接</a:t>
            </a:r>
            <a:r>
              <a:rPr lang="zh-CN" altLang="en-US" sz="1200" b="1" dirty="0" smtClean="0">
                <a:solidFill>
                  <a:schemeClr val="bg1"/>
                </a:solidFill>
                <a:latin typeface="微软雅黑" pitchFamily="34" charset="-122"/>
                <a:ea typeface="微软雅黑" pitchFamily="34" charset="-122"/>
              </a:rPr>
              <a:t>字</a:t>
            </a:r>
            <a:endParaRPr lang="zh-CN" altLang="en-US" sz="12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2658601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5" name="组合 44"/>
          <p:cNvGrpSpPr/>
          <p:nvPr/>
        </p:nvGrpSpPr>
        <p:grpSpPr>
          <a:xfrm>
            <a:off x="2614866" y="1365082"/>
            <a:ext cx="2679394" cy="1327664"/>
            <a:chOff x="2614866" y="1425503"/>
            <a:chExt cx="2679394" cy="1327664"/>
          </a:xfrm>
        </p:grpSpPr>
        <p:cxnSp>
          <p:nvCxnSpPr>
            <p:cNvPr id="47" name="直接箭头连接符 46"/>
            <p:cNvCxnSpPr/>
            <p:nvPr/>
          </p:nvCxnSpPr>
          <p:spPr>
            <a:xfrm flipH="1">
              <a:off x="3227534" y="2248102"/>
              <a:ext cx="265478" cy="5050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just"/>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smtClean="0">
                  <a:solidFill>
                    <a:srgbClr val="C00000"/>
                  </a:solidFill>
                  <a:latin typeface="微软雅黑" panose="020B0503020204020204" pitchFamily="34" charset="-122"/>
                  <a:ea typeface="微软雅黑" panose="020B0503020204020204" pitchFamily="34" charset="-122"/>
                </a:rPr>
                <a:t>进程</a:t>
              </a:r>
              <a:r>
                <a:rPr lang="zh-CN" altLang="en-US" sz="1600" b="1" dirty="0" smtClean="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connect</a:t>
              </a:r>
              <a:r>
                <a:rPr lang="zh-CN" altLang="en-US" sz="1600" b="1" dirty="0">
                  <a:latin typeface="微软雅黑" panose="020B0503020204020204" pitchFamily="34" charset="-122"/>
                  <a:ea typeface="微软雅黑" panose="020B0503020204020204" pitchFamily="34" charset="-122"/>
                </a:rPr>
                <a:t>，以便和远地服务器建立连接（这就是主动</a:t>
              </a:r>
              <a:r>
                <a:rPr lang="zh-CN" altLang="en-US" sz="1600" b="1" dirty="0" smtClean="0">
                  <a:latin typeface="微软雅黑" panose="020B0503020204020204" pitchFamily="34" charset="-122"/>
                  <a:ea typeface="微软雅黑" panose="020B0503020204020204" pitchFamily="34" charset="-122"/>
                </a:rPr>
                <a:t>打开</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067626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63330" y="1019340"/>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821372" y="575768"/>
            <a:ext cx="1519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传送阶段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recv</a:t>
            </a:r>
            <a:endParaRPr lang="en-US" altLang="zh-CN" sz="1400" b="1" dirty="0">
              <a:solidFill>
                <a:srgbClr val="0000FF"/>
              </a:solidFill>
              <a:latin typeface="微软雅黑" pitchFamily="34" charset="-122"/>
              <a:ea typeface="微软雅黑"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recv</a:t>
            </a:r>
            <a:endParaRPr lang="en-US" altLang="zh-CN" sz="1400" b="1" dirty="0">
              <a:solidFill>
                <a:srgbClr val="0000FF"/>
              </a:solidFill>
              <a:latin typeface="微软雅黑" pitchFamily="34" charset="-122"/>
              <a:ea typeface="微软雅黑"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5" name="组合 44"/>
          <p:cNvGrpSpPr/>
          <p:nvPr/>
        </p:nvGrpSpPr>
        <p:grpSpPr>
          <a:xfrm>
            <a:off x="2614866" y="1365082"/>
            <a:ext cx="2927724" cy="1812832"/>
            <a:chOff x="2614866" y="1425503"/>
            <a:chExt cx="2927724" cy="1812832"/>
          </a:xfrm>
        </p:grpSpPr>
        <p:cxnSp>
          <p:nvCxnSpPr>
            <p:cNvPr id="47" name="直接箭头连接符 46"/>
            <p:cNvCxnSpPr/>
            <p:nvPr/>
          </p:nvCxnSpPr>
          <p:spPr>
            <a:xfrm flipH="1">
              <a:off x="3108983" y="2243423"/>
              <a:ext cx="691938" cy="9475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778029" y="2243423"/>
              <a:ext cx="764561" cy="9949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just"/>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在 </a:t>
              </a:r>
              <a:r>
                <a:rPr lang="en-US" altLang="zh-CN" sz="1600" b="1" dirty="0" smtClean="0">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上</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smtClean="0">
                  <a:latin typeface="微软雅黑" panose="020B0503020204020204" pitchFamily="34" charset="-122"/>
                  <a:ea typeface="微软雅黑" panose="020B0503020204020204" pitchFamily="34" charset="-122"/>
                </a:rPr>
                <a:t>send </a:t>
              </a:r>
              <a:r>
                <a:rPr lang="zh-CN" altLang="en-US" sz="1600" b="1" dirty="0" smtClean="0">
                  <a:latin typeface="微软雅黑" panose="020B0503020204020204" pitchFamily="34" charset="-122"/>
                  <a:ea typeface="微软雅黑" panose="020B0503020204020204" pitchFamily="34" charset="-122"/>
                </a:rPr>
                <a:t>传送</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err="1" smtClean="0">
                  <a:latin typeface="微软雅黑" panose="020B0503020204020204" pitchFamily="34" charset="-122"/>
                  <a:ea typeface="微软雅黑" panose="020B0503020204020204" pitchFamily="34" charset="-122"/>
                </a:rPr>
                <a:t>recv</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接收</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7459488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21" grpId="0"/>
      <p:bldP spid="22"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9" name="Rectangle 6"/>
          <p:cNvSpPr>
            <a:spLocks noChangeArrowheads="1"/>
          </p:cNvSpPr>
          <p:nvPr/>
        </p:nvSpPr>
        <p:spPr bwMode="auto">
          <a:xfrm>
            <a:off x="3564892" y="57576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连接释放阶段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pitchFamily="34" charset="-122"/>
                <a:ea typeface="微软雅黑" pitchFamily="34" charset="-122"/>
              </a:rPr>
              <a:t>recv</a:t>
            </a:r>
            <a:endParaRPr lang="en-US" altLang="zh-CN" sz="1400" b="1" dirty="0">
              <a:latin typeface="微软雅黑" pitchFamily="34" charset="-122"/>
              <a:ea typeface="微软雅黑"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solidFill>
                  <a:srgbClr val="C00000"/>
                </a:solidFill>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pitchFamily="34" charset="-122"/>
                <a:ea typeface="微软雅黑" pitchFamily="34" charset="-122"/>
              </a:rPr>
              <a:t>recv</a:t>
            </a:r>
            <a:endParaRPr lang="en-US" altLang="zh-CN" sz="1400" b="1" dirty="0">
              <a:latin typeface="微软雅黑" pitchFamily="34" charset="-122"/>
              <a:ea typeface="微软雅黑"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连接建立</a:t>
            </a:r>
            <a:endParaRPr lang="zh-CN" altLang="en-US" sz="1400" b="1" dirty="0">
              <a:solidFill>
                <a:srgbClr val="C00000"/>
              </a:solidFill>
              <a:latin typeface="微软雅黑" pitchFamily="34" charset="-122"/>
              <a:ea typeface="微软雅黑"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数据传送</a:t>
            </a:r>
            <a:endParaRPr lang="zh-CN" altLang="en-US" sz="1400" b="1" dirty="0">
              <a:solidFill>
                <a:srgbClr val="C00000"/>
              </a:solidFill>
              <a:latin typeface="微软雅黑" pitchFamily="34" charset="-122"/>
              <a:ea typeface="微软雅黑"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smtClean="0">
                <a:solidFill>
                  <a:srgbClr val="C00000"/>
                </a:solidFill>
                <a:latin typeface="微软雅黑" pitchFamily="34" charset="-122"/>
                <a:ea typeface="微软雅黑" pitchFamily="34" charset="-122"/>
              </a:rPr>
              <a:t>连接释放</a:t>
            </a:r>
            <a:endParaRPr lang="zh-CN" altLang="en-US" sz="1400" b="1" dirty="0">
              <a:solidFill>
                <a:srgbClr val="C00000"/>
              </a:solidFill>
              <a:latin typeface="微软雅黑" pitchFamily="34" charset="-122"/>
              <a:ea typeface="微软雅黑" pitchFamily="34" charset="-122"/>
            </a:endParaRPr>
          </a:p>
        </p:txBody>
      </p:sp>
      <p:grpSp>
        <p:nvGrpSpPr>
          <p:cNvPr id="45" name="组合 44"/>
          <p:cNvGrpSpPr/>
          <p:nvPr/>
        </p:nvGrpSpPr>
        <p:grpSpPr>
          <a:xfrm>
            <a:off x="2228295" y="1365082"/>
            <a:ext cx="3337380" cy="2787731"/>
            <a:chOff x="2228295" y="1425503"/>
            <a:chExt cx="3337380" cy="2787731"/>
          </a:xfrm>
        </p:grpSpPr>
        <p:cxnSp>
          <p:nvCxnSpPr>
            <p:cNvPr id="47" name="直接箭头连接符 46"/>
            <p:cNvCxnSpPr/>
            <p:nvPr/>
          </p:nvCxnSpPr>
          <p:spPr>
            <a:xfrm flipH="1">
              <a:off x="3082773" y="2010278"/>
              <a:ext cx="519829"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666774" y="2010278"/>
              <a:ext cx="898901"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228295" y="1425503"/>
              <a:ext cx="3065965" cy="58477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just"/>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或</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通信结束，调用 </a:t>
              </a:r>
              <a:r>
                <a:rPr lang="en-US" altLang="zh-CN" sz="1600" b="1" dirty="0" smtClean="0">
                  <a:latin typeface="微软雅黑" panose="020B0503020204020204" pitchFamily="34" charset="-122"/>
                  <a:ea typeface="微软雅黑" panose="020B0503020204020204" pitchFamily="34" charset="-122"/>
                </a:rPr>
                <a:t>close </a:t>
              </a:r>
              <a:r>
                <a:rPr lang="zh-CN" altLang="en-US" sz="1600" b="1" dirty="0" smtClean="0">
                  <a:latin typeface="微软雅黑" panose="020B0503020204020204" pitchFamily="34" charset="-122"/>
                  <a:ea typeface="微软雅黑" panose="020B0503020204020204" pitchFamily="34" charset="-122"/>
                </a:rPr>
                <a:t>释放</a:t>
              </a:r>
              <a:r>
                <a:rPr lang="zh-CN" altLang="en-US" sz="1600" b="1" dirty="0">
                  <a:latin typeface="微软雅黑" panose="020B0503020204020204" pitchFamily="34" charset="-122"/>
                  <a:ea typeface="微软雅黑" panose="020B0503020204020204" pitchFamily="34" charset="-122"/>
                </a:rPr>
                <a:t>连接和撤销套接字</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40106988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0"/>
          <p:cNvSpPr>
            <a:spLocks noChangeArrowheads="1"/>
          </p:cNvSpPr>
          <p:nvPr/>
        </p:nvSpPr>
        <p:spPr bwMode="auto">
          <a:xfrm>
            <a:off x="2629135" y="266899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9"/>
          <p:cNvSpPr>
            <a:spLocks noChangeArrowheads="1"/>
          </p:cNvSpPr>
          <p:nvPr/>
        </p:nvSpPr>
        <p:spPr bwMode="auto">
          <a:xfrm>
            <a:off x="2629135" y="221328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9"/>
          <p:cNvSpPr>
            <a:spLocks noChangeArrowheads="1"/>
          </p:cNvSpPr>
          <p:nvPr/>
        </p:nvSpPr>
        <p:spPr bwMode="auto">
          <a:xfrm>
            <a:off x="2629135" y="129098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175473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Line 16"/>
          <p:cNvSpPr>
            <a:spLocks noChangeShapeType="1"/>
          </p:cNvSpPr>
          <p:nvPr/>
        </p:nvSpPr>
        <p:spPr bwMode="auto">
          <a:xfrm>
            <a:off x="3637198" y="1219543"/>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098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385913"/>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itchFamily="34" charset="-122"/>
                <a:ea typeface="微软雅黑" pitchFamily="34" charset="-122"/>
              </a:rPr>
              <a:t>6.7</a:t>
            </a:r>
          </a:p>
          <a:p>
            <a:pPr eaLnBrk="0" hangingPunct="0"/>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应用</a:t>
            </a:r>
            <a:endParaRPr lang="zh-CN" altLang="fr-FR" sz="2000" b="1" dirty="0">
              <a:solidFill>
                <a:schemeClr val="bg1"/>
              </a:solidFill>
              <a:latin typeface="微软雅黑" pitchFamily="34" charset="-122"/>
              <a:ea typeface="微软雅黑" pitchFamily="34" charset="-122"/>
            </a:endParaRPr>
          </a:p>
        </p:txBody>
      </p:sp>
      <p:sp>
        <p:nvSpPr>
          <p:cNvPr id="9" name="Rectangle 8"/>
          <p:cNvSpPr>
            <a:spLocks noChangeArrowheads="1"/>
          </p:cNvSpPr>
          <p:nvPr/>
        </p:nvSpPr>
        <p:spPr bwMode="auto">
          <a:xfrm>
            <a:off x="2700573" y="1166680"/>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smtClean="0">
                <a:solidFill>
                  <a:schemeClr val="bg1"/>
                </a:solidFill>
                <a:latin typeface="微软雅黑" pitchFamily="34" charset="-122"/>
                <a:ea typeface="微软雅黑" pitchFamily="34" charset="-122"/>
              </a:rPr>
              <a:t>6.7.1         </a:t>
            </a:r>
            <a:r>
              <a:rPr lang="zh-CN" altLang="en-US" sz="2000" b="1" dirty="0" smtClean="0">
                <a:solidFill>
                  <a:schemeClr val="bg1"/>
                </a:solidFill>
                <a:latin typeface="微软雅黑" pitchFamily="34" charset="-122"/>
                <a:ea typeface="微软雅黑" pitchFamily="34" charset="-122"/>
              </a:rPr>
              <a:t>具有</a:t>
            </a:r>
            <a:r>
              <a:rPr lang="zh-CN" altLang="en-US" sz="2000" b="1" dirty="0">
                <a:solidFill>
                  <a:schemeClr val="bg1"/>
                </a:solidFill>
                <a:latin typeface="微软雅黑" pitchFamily="34" charset="-122"/>
                <a:ea typeface="微软雅黑" pitchFamily="34" charset="-122"/>
              </a:rPr>
              <a:t>集中目录服务器的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工作方式</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6.7.2      </a:t>
            </a:r>
            <a:r>
              <a:rPr lang="zh-CN" altLang="en-US" sz="2000" b="1" dirty="0" smtClean="0">
                <a:solidFill>
                  <a:schemeClr val="bg1"/>
                </a:solidFill>
                <a:latin typeface="微软雅黑" pitchFamily="34" charset="-122"/>
                <a:ea typeface="微软雅黑" pitchFamily="34" charset="-122"/>
              </a:rPr>
              <a:t>具有</a:t>
            </a:r>
            <a:r>
              <a:rPr lang="zh-CN" altLang="en-US" sz="2000" b="1" dirty="0">
                <a:solidFill>
                  <a:schemeClr val="bg1"/>
                </a:solidFill>
                <a:latin typeface="微软雅黑" pitchFamily="34" charset="-122"/>
                <a:ea typeface="微软雅黑" pitchFamily="34" charset="-122"/>
              </a:rPr>
              <a:t>全分布式结构的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文件共享程序</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6.7.3                                 P2P </a:t>
            </a:r>
            <a:r>
              <a:rPr lang="zh-CN" altLang="en-US" sz="2000" b="1" dirty="0">
                <a:solidFill>
                  <a:schemeClr val="bg1"/>
                </a:solidFill>
                <a:latin typeface="微软雅黑" pitchFamily="34" charset="-122"/>
                <a:ea typeface="微软雅黑" pitchFamily="34" charset="-122"/>
              </a:rPr>
              <a:t>文件分发的分析</a:t>
            </a:r>
          </a:p>
          <a:p>
            <a:pPr eaLnBrk="0" hangingPunct="0">
              <a:lnSpc>
                <a:spcPct val="150000"/>
              </a:lnSpc>
            </a:pPr>
            <a:r>
              <a:rPr lang="en-US" altLang="zh-CN" sz="2000" b="1" dirty="0" smtClean="0">
                <a:solidFill>
                  <a:schemeClr val="bg1"/>
                </a:solidFill>
                <a:latin typeface="微软雅黑" pitchFamily="34" charset="-122"/>
                <a:ea typeface="微软雅黑" pitchFamily="34" charset="-122"/>
              </a:rPr>
              <a:t>6.7.4                          </a:t>
            </a:r>
            <a:r>
              <a:rPr lang="zh-CN" altLang="en-US" sz="2000" b="1" dirty="0">
                <a:solidFill>
                  <a:schemeClr val="bg1"/>
                </a:solidFill>
                <a:latin typeface="微软雅黑" pitchFamily="34" charset="-122"/>
                <a:ea typeface="微软雅黑" pitchFamily="34" charset="-122"/>
              </a:rPr>
              <a:t>在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对等方中搜索对象</a:t>
            </a:r>
          </a:p>
        </p:txBody>
      </p:sp>
    </p:spTree>
    <p:extLst>
      <p:ext uri="{BB962C8B-B14F-4D97-AF65-F5344CB8AC3E}">
        <p14:creationId xmlns:p14="http://schemas.microsoft.com/office/powerpoint/2010/main" val="10600887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0"/>
          </p:nvPr>
        </p:nvSpPr>
        <p:spPr>
          <a:xfrm>
            <a:off x="466344" y="963281"/>
            <a:ext cx="3425066" cy="3172691"/>
          </a:xfrm>
        </p:spPr>
        <p:txBody>
          <a:bodyPr/>
          <a:lstStyle/>
          <a:p>
            <a:r>
              <a:rPr lang="zh-CN" altLang="en-US" dirty="0"/>
              <a:t>两台主机在通信时</a:t>
            </a:r>
            <a:r>
              <a:rPr lang="zh-CN" altLang="en-US" dirty="0">
                <a:solidFill>
                  <a:srgbClr val="C00000"/>
                </a:solidFill>
              </a:rPr>
              <a:t>不区分</a:t>
            </a:r>
            <a:r>
              <a:rPr lang="zh-CN" altLang="en-US" dirty="0"/>
              <a:t>服务请求方和服务提供方。</a:t>
            </a:r>
          </a:p>
          <a:p>
            <a:r>
              <a:rPr lang="zh-CN" altLang="en-US" dirty="0"/>
              <a:t>只要都运行了 </a:t>
            </a:r>
            <a:r>
              <a:rPr lang="en-US" altLang="zh-CN" dirty="0"/>
              <a:t>P2P </a:t>
            </a:r>
            <a:r>
              <a:rPr lang="zh-CN" altLang="en-US" dirty="0"/>
              <a:t>软件，就可以进行</a:t>
            </a:r>
            <a:r>
              <a:rPr lang="zh-CN" altLang="en-US" dirty="0">
                <a:solidFill>
                  <a:srgbClr val="C00000"/>
                </a:solidFill>
              </a:rPr>
              <a:t>平等的、对等连接通信。</a:t>
            </a:r>
          </a:p>
        </p:txBody>
      </p:sp>
      <p:sp>
        <p:nvSpPr>
          <p:cNvPr id="4" name="文本占位符 3"/>
          <p:cNvSpPr>
            <a:spLocks noGrp="1"/>
          </p:cNvSpPr>
          <p:nvPr>
            <p:ph type="body" sz="quarter" idx="11"/>
          </p:nvPr>
        </p:nvSpPr>
        <p:spPr/>
        <p:txBody>
          <a:bodyPr/>
          <a:lstStyle/>
          <a:p>
            <a:r>
              <a:rPr lang="en-US" altLang="zh-CN" dirty="0"/>
              <a:t>P2P </a:t>
            </a:r>
            <a:r>
              <a:rPr lang="zh-CN" altLang="en-US" dirty="0"/>
              <a:t>工作方式概述</a:t>
            </a:r>
          </a:p>
        </p:txBody>
      </p:sp>
      <p:sp>
        <p:nvSpPr>
          <p:cNvPr id="47" name="对角圆角矩形 46"/>
          <p:cNvSpPr/>
          <p:nvPr/>
        </p:nvSpPr>
        <p:spPr>
          <a:xfrm>
            <a:off x="466344" y="3043575"/>
            <a:ext cx="3575703" cy="1432010"/>
          </a:xfrm>
          <a:prstGeom prst="round2DiagRect">
            <a:avLst>
              <a:gd name="adj1" fmla="val 15845"/>
              <a:gd name="adj2" fmla="val 0"/>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400"/>
          </a:p>
        </p:txBody>
      </p:sp>
      <p:sp>
        <p:nvSpPr>
          <p:cNvPr id="48" name="矩形 5"/>
          <p:cNvSpPr>
            <a:spLocks noChangeArrowheads="1"/>
          </p:cNvSpPr>
          <p:nvPr/>
        </p:nvSpPr>
        <p:spPr bwMode="auto">
          <a:xfrm>
            <a:off x="673767" y="3103186"/>
            <a:ext cx="3352127"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ts val="2400"/>
              </a:lnSpc>
              <a:spcBef>
                <a:spcPts val="0"/>
              </a:spcBef>
            </a:pPr>
            <a:r>
              <a:rPr lang="zh-CN" altLang="en-US" b="1" dirty="0">
                <a:solidFill>
                  <a:schemeClr val="bg1"/>
                </a:solidFill>
                <a:latin typeface="微软雅黑" panose="020B0503020204020204" pitchFamily="34" charset="-122"/>
                <a:ea typeface="微软雅黑" panose="020B0503020204020204" pitchFamily="34" charset="-122"/>
              </a:rPr>
              <a:t>对等连接方式从本质上看仍然是使用客户服务器方式，只是对等连接中的每一个主机</a:t>
            </a:r>
            <a:r>
              <a:rPr lang="zh-CN" altLang="en-US" b="1" dirty="0">
                <a:solidFill>
                  <a:srgbClr val="FFFF00"/>
                </a:solidFill>
                <a:latin typeface="微软雅黑" panose="020B0503020204020204" pitchFamily="34" charset="-122"/>
                <a:ea typeface="微软雅黑" panose="020B0503020204020204" pitchFamily="34" charset="-122"/>
              </a:rPr>
              <a:t>既是客户又是服务器。</a:t>
            </a:r>
          </a:p>
        </p:txBody>
      </p:sp>
      <p:sp>
        <p:nvSpPr>
          <p:cNvPr id="49" name="Oval 4"/>
          <p:cNvSpPr>
            <a:spLocks noChangeArrowheads="1"/>
          </p:cNvSpPr>
          <p:nvPr/>
        </p:nvSpPr>
        <p:spPr bwMode="auto">
          <a:xfrm>
            <a:off x="4093027" y="1165157"/>
            <a:ext cx="4441371" cy="2858197"/>
          </a:xfrm>
          <a:prstGeom prst="ellipse">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0" name="Line 5"/>
          <p:cNvSpPr>
            <a:spLocks noChangeShapeType="1"/>
          </p:cNvSpPr>
          <p:nvPr/>
        </p:nvSpPr>
        <p:spPr bwMode="auto">
          <a:xfrm flipV="1">
            <a:off x="4977095" y="2890233"/>
            <a:ext cx="512618" cy="338537"/>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6"/>
          <p:cNvSpPr>
            <a:spLocks noChangeShapeType="1"/>
          </p:cNvSpPr>
          <p:nvPr/>
        </p:nvSpPr>
        <p:spPr bwMode="auto">
          <a:xfrm flipH="1" flipV="1">
            <a:off x="4727213" y="2334227"/>
            <a:ext cx="772509" cy="269821"/>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7"/>
          <p:cNvSpPr>
            <a:spLocks noChangeShapeType="1"/>
          </p:cNvSpPr>
          <p:nvPr/>
        </p:nvSpPr>
        <p:spPr bwMode="auto">
          <a:xfrm flipH="1">
            <a:off x="7155734" y="2612821"/>
            <a:ext cx="783490" cy="0"/>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8"/>
          <p:cNvSpPr>
            <a:spLocks noChangeShapeType="1"/>
          </p:cNvSpPr>
          <p:nvPr/>
        </p:nvSpPr>
        <p:spPr bwMode="auto">
          <a:xfrm flipH="1">
            <a:off x="6635152" y="1666913"/>
            <a:ext cx="449997" cy="669683"/>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9"/>
          <p:cNvSpPr>
            <a:spLocks noChangeShapeType="1"/>
          </p:cNvSpPr>
          <p:nvPr/>
        </p:nvSpPr>
        <p:spPr bwMode="auto">
          <a:xfrm flipH="1" flipV="1">
            <a:off x="6630429" y="3083294"/>
            <a:ext cx="397570" cy="394714"/>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Line 10"/>
          <p:cNvSpPr>
            <a:spLocks noChangeShapeType="1"/>
          </p:cNvSpPr>
          <p:nvPr/>
        </p:nvSpPr>
        <p:spPr bwMode="auto">
          <a:xfrm>
            <a:off x="5316072" y="1761107"/>
            <a:ext cx="451453" cy="483413"/>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Line 11"/>
          <p:cNvSpPr>
            <a:spLocks noChangeShapeType="1"/>
          </p:cNvSpPr>
          <p:nvPr/>
        </p:nvSpPr>
        <p:spPr bwMode="auto">
          <a:xfrm flipV="1">
            <a:off x="5707527" y="3039086"/>
            <a:ext cx="91747" cy="548460"/>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7" name="Group 17"/>
          <p:cNvGrpSpPr/>
          <p:nvPr/>
        </p:nvGrpSpPr>
        <p:grpSpPr bwMode="auto">
          <a:xfrm>
            <a:off x="5258040" y="1947503"/>
            <a:ext cx="2136571" cy="1415756"/>
            <a:chOff x="1680" y="240"/>
            <a:chExt cx="2529" cy="1270"/>
          </a:xfrm>
          <a:solidFill>
            <a:schemeClr val="bg1"/>
          </a:solidFill>
        </p:grpSpPr>
        <p:sp>
          <p:nvSpPr>
            <p:cNvPr id="58" name="Oval 18"/>
            <p:cNvSpPr>
              <a:spLocks noChangeArrowheads="1"/>
            </p:cNvSpPr>
            <p:nvPr/>
          </p:nvSpPr>
          <p:spPr bwMode="auto">
            <a:xfrm>
              <a:off x="2554" y="240"/>
              <a:ext cx="1088" cy="513"/>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59" name="Oval 19"/>
            <p:cNvSpPr>
              <a:spLocks noChangeArrowheads="1"/>
            </p:cNvSpPr>
            <p:nvPr/>
          </p:nvSpPr>
          <p:spPr bwMode="auto">
            <a:xfrm>
              <a:off x="1941" y="381"/>
              <a:ext cx="827" cy="513"/>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0" name="Oval 20"/>
            <p:cNvSpPr>
              <a:spLocks noChangeArrowheads="1"/>
            </p:cNvSpPr>
            <p:nvPr/>
          </p:nvSpPr>
          <p:spPr bwMode="auto">
            <a:xfrm>
              <a:off x="1680" y="702"/>
              <a:ext cx="552" cy="411"/>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1" name="Oval 21"/>
            <p:cNvSpPr>
              <a:spLocks noChangeArrowheads="1"/>
            </p:cNvSpPr>
            <p:nvPr/>
          </p:nvSpPr>
          <p:spPr bwMode="auto">
            <a:xfrm>
              <a:off x="1849" y="894"/>
              <a:ext cx="842" cy="450"/>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2" name="Oval 22"/>
            <p:cNvSpPr>
              <a:spLocks noChangeArrowheads="1"/>
            </p:cNvSpPr>
            <p:nvPr/>
          </p:nvSpPr>
          <p:spPr bwMode="auto">
            <a:xfrm>
              <a:off x="2462" y="971"/>
              <a:ext cx="1272" cy="539"/>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3" name="Oval 23"/>
            <p:cNvSpPr>
              <a:spLocks noChangeArrowheads="1"/>
            </p:cNvSpPr>
            <p:nvPr/>
          </p:nvSpPr>
          <p:spPr bwMode="auto">
            <a:xfrm>
              <a:off x="3289" y="394"/>
              <a:ext cx="797" cy="398"/>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4" name="Oval 24"/>
            <p:cNvSpPr>
              <a:spLocks noChangeArrowheads="1"/>
            </p:cNvSpPr>
            <p:nvPr/>
          </p:nvSpPr>
          <p:spPr bwMode="auto">
            <a:xfrm>
              <a:off x="3412" y="663"/>
              <a:ext cx="797" cy="398"/>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5" name="Oval 25"/>
            <p:cNvSpPr>
              <a:spLocks noChangeArrowheads="1"/>
            </p:cNvSpPr>
            <p:nvPr/>
          </p:nvSpPr>
          <p:spPr bwMode="auto">
            <a:xfrm>
              <a:off x="3335" y="753"/>
              <a:ext cx="797" cy="668"/>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sp>
          <p:nvSpPr>
            <p:cNvPr id="66" name="Oval 26"/>
            <p:cNvSpPr>
              <a:spLocks noChangeArrowheads="1"/>
            </p:cNvSpPr>
            <p:nvPr/>
          </p:nvSpPr>
          <p:spPr bwMode="auto">
            <a:xfrm>
              <a:off x="2140" y="548"/>
              <a:ext cx="1640" cy="667"/>
            </a:xfrm>
            <a:prstGeom prst="ellipse">
              <a:avLst/>
            </a:prstGeom>
            <a:grp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zh-CN" altLang="en-US" sz="1400" b="1">
                <a:solidFill>
                  <a:srgbClr val="368AD6"/>
                </a:solidFill>
                <a:latin typeface="+mn-lt"/>
                <a:ea typeface="黑体" panose="02010609060101010101" pitchFamily="2" charset="-122"/>
              </a:endParaRPr>
            </a:p>
          </p:txBody>
        </p:sp>
      </p:grpSp>
      <p:sp>
        <p:nvSpPr>
          <p:cNvPr id="67" name="Text Box 27"/>
          <p:cNvSpPr txBox="1">
            <a:spLocks noChangeArrowheads="1"/>
          </p:cNvSpPr>
          <p:nvPr/>
        </p:nvSpPr>
        <p:spPr bwMode="auto">
          <a:xfrm>
            <a:off x="5640252" y="1381948"/>
            <a:ext cx="11803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400" b="1" dirty="0">
                <a:solidFill>
                  <a:srgbClr val="0000FF"/>
                </a:solidFill>
                <a:latin typeface="微软雅黑" panose="020B0503020204020204" pitchFamily="34" charset="-122"/>
                <a:ea typeface="微软雅黑" panose="020B0503020204020204" pitchFamily="34" charset="-122"/>
              </a:rPr>
              <a:t>网络边缘</a:t>
            </a:r>
          </a:p>
        </p:txBody>
      </p:sp>
      <p:sp>
        <p:nvSpPr>
          <p:cNvPr id="68" name="Text Box 28"/>
          <p:cNvSpPr txBox="1">
            <a:spLocks noChangeArrowheads="1"/>
          </p:cNvSpPr>
          <p:nvPr/>
        </p:nvSpPr>
        <p:spPr bwMode="auto">
          <a:xfrm>
            <a:off x="5884044" y="2577967"/>
            <a:ext cx="1090078" cy="307777"/>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400" b="1" dirty="0">
                <a:solidFill>
                  <a:srgbClr val="0000FF"/>
                </a:solidFill>
                <a:latin typeface="微软雅黑" panose="020B0503020204020204" pitchFamily="34" charset="-122"/>
                <a:ea typeface="微软雅黑" panose="020B0503020204020204" pitchFamily="34" charset="-122"/>
              </a:rPr>
              <a:t>网络核心</a:t>
            </a:r>
          </a:p>
        </p:txBody>
      </p:sp>
      <p:sp>
        <p:nvSpPr>
          <p:cNvPr id="69" name="Text Box 30"/>
          <p:cNvSpPr txBox="1">
            <a:spLocks noChangeArrowheads="1"/>
          </p:cNvSpPr>
          <p:nvPr/>
        </p:nvSpPr>
        <p:spPr bwMode="auto">
          <a:xfrm>
            <a:off x="7189671" y="1738140"/>
            <a:ext cx="86370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b="1" dirty="0">
                <a:latin typeface="微软雅黑" panose="020B0503020204020204" pitchFamily="34" charset="-122"/>
                <a:ea typeface="微软雅黑" panose="020B0503020204020204" pitchFamily="34" charset="-122"/>
              </a:rPr>
              <a:t>运行</a:t>
            </a:r>
          </a:p>
          <a:p>
            <a:pPr algn="ctr"/>
            <a:r>
              <a:rPr kumimoji="1" lang="en-US" altLang="zh-CN" sz="1100" b="1" dirty="0">
                <a:latin typeface="微软雅黑" panose="020B0503020204020204" pitchFamily="34" charset="-122"/>
                <a:ea typeface="微软雅黑" panose="020B0503020204020204" pitchFamily="34" charset="-122"/>
              </a:rPr>
              <a:t>P2P </a:t>
            </a:r>
            <a:r>
              <a:rPr kumimoji="1" lang="zh-CN" altLang="en-US" sz="1100" b="1" dirty="0">
                <a:latin typeface="微软雅黑" panose="020B0503020204020204" pitchFamily="34" charset="-122"/>
                <a:ea typeface="微软雅黑" panose="020B0503020204020204" pitchFamily="34" charset="-122"/>
              </a:rPr>
              <a:t>程序</a:t>
            </a:r>
          </a:p>
        </p:txBody>
      </p:sp>
      <p:sp>
        <p:nvSpPr>
          <p:cNvPr id="70" name="Text Box 31"/>
          <p:cNvSpPr txBox="1">
            <a:spLocks noChangeArrowheads="1"/>
          </p:cNvSpPr>
          <p:nvPr/>
        </p:nvSpPr>
        <p:spPr bwMode="auto">
          <a:xfrm>
            <a:off x="7309650" y="3089163"/>
            <a:ext cx="86206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b="1" dirty="0">
                <a:latin typeface="微软雅黑" panose="020B0503020204020204" pitchFamily="34" charset="-122"/>
                <a:ea typeface="微软雅黑" panose="020B0503020204020204" pitchFamily="34" charset="-122"/>
              </a:rPr>
              <a:t>运行</a:t>
            </a:r>
          </a:p>
          <a:p>
            <a:pPr algn="ctr"/>
            <a:r>
              <a:rPr kumimoji="1" lang="en-US" altLang="zh-CN" sz="1100" b="1" dirty="0">
                <a:latin typeface="微软雅黑" panose="020B0503020204020204" pitchFamily="34" charset="-122"/>
                <a:ea typeface="微软雅黑" panose="020B0503020204020204" pitchFamily="34" charset="-122"/>
              </a:rPr>
              <a:t>P2P </a:t>
            </a:r>
            <a:r>
              <a:rPr kumimoji="1" lang="zh-CN" altLang="en-US" sz="1100" b="1" dirty="0">
                <a:latin typeface="微软雅黑" panose="020B0503020204020204" pitchFamily="34" charset="-122"/>
                <a:ea typeface="微软雅黑" panose="020B0503020204020204" pitchFamily="34" charset="-122"/>
              </a:rPr>
              <a:t>程序</a:t>
            </a:r>
          </a:p>
        </p:txBody>
      </p:sp>
      <p:sp>
        <p:nvSpPr>
          <p:cNvPr id="71" name="Line 32"/>
          <p:cNvSpPr>
            <a:spLocks noChangeShapeType="1"/>
          </p:cNvSpPr>
          <p:nvPr/>
        </p:nvSpPr>
        <p:spPr bwMode="auto">
          <a:xfrm flipH="1">
            <a:off x="7105061" y="1855231"/>
            <a:ext cx="0" cy="1577377"/>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2" name="Line 33"/>
          <p:cNvSpPr>
            <a:spLocks noChangeShapeType="1"/>
          </p:cNvSpPr>
          <p:nvPr/>
        </p:nvSpPr>
        <p:spPr bwMode="auto">
          <a:xfrm flipH="1" flipV="1">
            <a:off x="7224507" y="1672751"/>
            <a:ext cx="231860" cy="132613"/>
          </a:xfrm>
          <a:prstGeom prst="line">
            <a:avLst/>
          </a:prstGeom>
          <a:noFill/>
          <a:ln w="19050">
            <a:solidFill>
              <a:srgbClr val="000066"/>
            </a:solidFill>
            <a:prstDash val="sys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 name="Line 34"/>
          <p:cNvSpPr>
            <a:spLocks noChangeShapeType="1"/>
          </p:cNvSpPr>
          <p:nvPr/>
        </p:nvSpPr>
        <p:spPr bwMode="auto">
          <a:xfrm flipH="1">
            <a:off x="7199702" y="3449107"/>
            <a:ext cx="232938" cy="129730"/>
          </a:xfrm>
          <a:prstGeom prst="line">
            <a:avLst/>
          </a:prstGeom>
          <a:noFill/>
          <a:ln w="19050">
            <a:solidFill>
              <a:srgbClr val="000066"/>
            </a:solidFill>
            <a:prstDash val="sys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4" name="Text Box 35"/>
          <p:cNvSpPr txBox="1">
            <a:spLocks noChangeArrowheads="1"/>
          </p:cNvSpPr>
          <p:nvPr/>
        </p:nvSpPr>
        <p:spPr bwMode="auto">
          <a:xfrm>
            <a:off x="6648512" y="3459924"/>
            <a:ext cx="28851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b="1" dirty="0">
                <a:solidFill>
                  <a:srgbClr val="0000FF"/>
                </a:solidFill>
                <a:ea typeface="黑体" panose="02010609060101010101" pitchFamily="2" charset="-122"/>
              </a:rPr>
              <a:t>D</a:t>
            </a:r>
          </a:p>
        </p:txBody>
      </p:sp>
      <p:sp>
        <p:nvSpPr>
          <p:cNvPr id="75" name="Text Box 36"/>
          <p:cNvSpPr txBox="1">
            <a:spLocks noChangeArrowheads="1"/>
          </p:cNvSpPr>
          <p:nvPr/>
        </p:nvSpPr>
        <p:spPr bwMode="auto">
          <a:xfrm>
            <a:off x="7207428" y="1384781"/>
            <a:ext cx="269400"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b="1" dirty="0">
                <a:solidFill>
                  <a:srgbClr val="0000FF"/>
                </a:solidFill>
                <a:ea typeface="黑体" panose="02010609060101010101" pitchFamily="2" charset="-122"/>
              </a:rPr>
              <a:t>C</a:t>
            </a:r>
          </a:p>
        </p:txBody>
      </p:sp>
      <p:sp>
        <p:nvSpPr>
          <p:cNvPr id="76" name="Line 38"/>
          <p:cNvSpPr>
            <a:spLocks noChangeShapeType="1"/>
          </p:cNvSpPr>
          <p:nvPr/>
        </p:nvSpPr>
        <p:spPr bwMode="auto">
          <a:xfrm flipH="1">
            <a:off x="5071118" y="1925375"/>
            <a:ext cx="263066" cy="1113712"/>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 name="Text Box 39"/>
          <p:cNvSpPr txBox="1">
            <a:spLocks noChangeArrowheads="1"/>
          </p:cNvSpPr>
          <p:nvPr/>
        </p:nvSpPr>
        <p:spPr bwMode="auto">
          <a:xfrm>
            <a:off x="4989076" y="1390091"/>
            <a:ext cx="26057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b="1" dirty="0">
                <a:solidFill>
                  <a:srgbClr val="0000FF"/>
                </a:solidFill>
                <a:ea typeface="黑体" panose="02010609060101010101" pitchFamily="2" charset="-122"/>
              </a:rPr>
              <a:t>E</a:t>
            </a:r>
          </a:p>
        </p:txBody>
      </p:sp>
      <p:sp>
        <p:nvSpPr>
          <p:cNvPr id="78" name="Text Box 40"/>
          <p:cNvSpPr txBox="1">
            <a:spLocks noChangeArrowheads="1"/>
          </p:cNvSpPr>
          <p:nvPr/>
        </p:nvSpPr>
        <p:spPr bwMode="auto">
          <a:xfrm>
            <a:off x="4669949" y="3169789"/>
            <a:ext cx="256166"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b="1" dirty="0">
                <a:solidFill>
                  <a:srgbClr val="0000FF"/>
                </a:solidFill>
                <a:ea typeface="黑体" panose="02010609060101010101" pitchFamily="2" charset="-122"/>
              </a:rPr>
              <a:t>F</a:t>
            </a:r>
          </a:p>
        </p:txBody>
      </p:sp>
      <p:sp>
        <p:nvSpPr>
          <p:cNvPr id="79" name="Text Box 41"/>
          <p:cNvSpPr txBox="1">
            <a:spLocks noChangeArrowheads="1"/>
          </p:cNvSpPr>
          <p:nvPr/>
        </p:nvSpPr>
        <p:spPr bwMode="auto">
          <a:xfrm>
            <a:off x="4357491" y="1720893"/>
            <a:ext cx="86206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b="1" dirty="0">
                <a:latin typeface="微软雅黑" panose="020B0503020204020204" pitchFamily="34" charset="-122"/>
                <a:ea typeface="微软雅黑" panose="020B0503020204020204" pitchFamily="34" charset="-122"/>
              </a:rPr>
              <a:t>运行</a:t>
            </a:r>
          </a:p>
          <a:p>
            <a:pPr algn="ctr"/>
            <a:r>
              <a:rPr kumimoji="1" lang="en-US" altLang="zh-CN" sz="1100" b="1" dirty="0">
                <a:latin typeface="微软雅黑" panose="020B0503020204020204" pitchFamily="34" charset="-122"/>
                <a:ea typeface="微软雅黑" panose="020B0503020204020204" pitchFamily="34" charset="-122"/>
              </a:rPr>
              <a:t>P2P </a:t>
            </a:r>
            <a:r>
              <a:rPr kumimoji="1" lang="zh-CN" altLang="en-US" sz="1100" b="1" dirty="0">
                <a:latin typeface="微软雅黑" panose="020B0503020204020204" pitchFamily="34" charset="-122"/>
                <a:ea typeface="微软雅黑" panose="020B0503020204020204" pitchFamily="34" charset="-122"/>
              </a:rPr>
              <a:t>程序</a:t>
            </a:r>
          </a:p>
        </p:txBody>
      </p:sp>
      <p:sp>
        <p:nvSpPr>
          <p:cNvPr id="80" name="Text Box 42"/>
          <p:cNvSpPr txBox="1">
            <a:spLocks noChangeArrowheads="1"/>
          </p:cNvSpPr>
          <p:nvPr/>
        </p:nvSpPr>
        <p:spPr bwMode="auto">
          <a:xfrm>
            <a:off x="4181616" y="2586777"/>
            <a:ext cx="86370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b="1" dirty="0">
                <a:latin typeface="微软雅黑" panose="020B0503020204020204" pitchFamily="34" charset="-122"/>
                <a:ea typeface="微软雅黑" panose="020B0503020204020204" pitchFamily="34" charset="-122"/>
              </a:rPr>
              <a:t>运行</a:t>
            </a:r>
          </a:p>
          <a:p>
            <a:pPr algn="ctr"/>
            <a:r>
              <a:rPr kumimoji="1" lang="en-US" altLang="zh-CN" sz="1100" b="1" dirty="0">
                <a:latin typeface="微软雅黑" panose="020B0503020204020204" pitchFamily="34" charset="-122"/>
                <a:ea typeface="微软雅黑" panose="020B0503020204020204" pitchFamily="34" charset="-122"/>
              </a:rPr>
              <a:t>P2P </a:t>
            </a:r>
            <a:r>
              <a:rPr kumimoji="1" lang="zh-CN" altLang="en-US" sz="1100" b="1" dirty="0">
                <a:latin typeface="微软雅黑" panose="020B0503020204020204" pitchFamily="34" charset="-122"/>
                <a:ea typeface="微软雅黑" panose="020B0503020204020204" pitchFamily="34" charset="-122"/>
              </a:rPr>
              <a:t>程序</a:t>
            </a:r>
          </a:p>
        </p:txBody>
      </p:sp>
      <p:sp>
        <p:nvSpPr>
          <p:cNvPr id="81" name="Line 43"/>
          <p:cNvSpPr>
            <a:spLocks noChangeShapeType="1"/>
          </p:cNvSpPr>
          <p:nvPr/>
        </p:nvSpPr>
        <p:spPr bwMode="auto">
          <a:xfrm flipV="1">
            <a:off x="4975609" y="1681236"/>
            <a:ext cx="401939" cy="159660"/>
          </a:xfrm>
          <a:prstGeom prst="line">
            <a:avLst/>
          </a:prstGeom>
          <a:noFill/>
          <a:ln w="19050">
            <a:solidFill>
              <a:srgbClr val="000066"/>
            </a:solidFill>
            <a:prstDash val="sys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2" name="Line 44"/>
          <p:cNvSpPr>
            <a:spLocks noChangeShapeType="1"/>
          </p:cNvSpPr>
          <p:nvPr/>
        </p:nvSpPr>
        <p:spPr bwMode="auto">
          <a:xfrm>
            <a:off x="4727214" y="2974119"/>
            <a:ext cx="240625" cy="189198"/>
          </a:xfrm>
          <a:prstGeom prst="line">
            <a:avLst/>
          </a:prstGeom>
          <a:noFill/>
          <a:ln w="19050">
            <a:solidFill>
              <a:srgbClr val="000066"/>
            </a:solidFill>
            <a:prstDash val="sys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3" name="Line 45"/>
          <p:cNvSpPr>
            <a:spLocks noChangeShapeType="1"/>
          </p:cNvSpPr>
          <p:nvPr/>
        </p:nvSpPr>
        <p:spPr bwMode="auto">
          <a:xfrm flipH="1">
            <a:off x="5181679" y="1757553"/>
            <a:ext cx="1753518" cy="1275179"/>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8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05034" y="1563606"/>
            <a:ext cx="372539"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图片 38"/>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16048" y="2290852"/>
            <a:ext cx="484846" cy="678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54085" y="2205950"/>
            <a:ext cx="372539"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57237" y="3063827"/>
            <a:ext cx="372539"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42688" y="3381371"/>
            <a:ext cx="374018"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0840" y="3449185"/>
            <a:ext cx="372539"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66004" y="1490444"/>
            <a:ext cx="372539" cy="37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工作方式概述</a:t>
            </a:r>
          </a:p>
        </p:txBody>
      </p:sp>
    </p:spTree>
    <p:custDataLst>
      <p:tags r:id="rId1"/>
    </p:custDataLst>
    <p:extLst>
      <p:ext uri="{BB962C8B-B14F-4D97-AF65-F5344CB8AC3E}">
        <p14:creationId xmlns:p14="http://schemas.microsoft.com/office/powerpoint/2010/main" val="5473173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grpId="0"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barn(outHorizontal)">
                                      <p:cBhvr>
                                        <p:cTn id="7" dur="1000"/>
                                        <p:tgtEl>
                                          <p:spTgt spid="71"/>
                                        </p:tgtEl>
                                      </p:cBhvr>
                                    </p:animEffect>
                                  </p:childTnLst>
                                </p:cTn>
                              </p:par>
                            </p:childTnLst>
                          </p:cTn>
                        </p:par>
                        <p:par>
                          <p:cTn id="8" fill="hold">
                            <p:stCondLst>
                              <p:cond delay="1000"/>
                            </p:stCondLst>
                            <p:childTnLst>
                              <p:par>
                                <p:cTn id="9" presetID="16" presetClass="entr" presetSubtype="42" fill="hold" grpId="0" nodeType="afterEffect">
                                  <p:stCondLst>
                                    <p:cond delay="500"/>
                                  </p:stCondLst>
                                  <p:childTnLst>
                                    <p:set>
                                      <p:cBhvr>
                                        <p:cTn id="10" dur="1" fill="hold">
                                          <p:stCondLst>
                                            <p:cond delay="0"/>
                                          </p:stCondLst>
                                        </p:cTn>
                                        <p:tgtEl>
                                          <p:spTgt spid="83"/>
                                        </p:tgtEl>
                                        <p:attrNameLst>
                                          <p:attrName>style.visibility</p:attrName>
                                        </p:attrNameLst>
                                      </p:cBhvr>
                                      <p:to>
                                        <p:strVal val="visible"/>
                                      </p:to>
                                    </p:set>
                                    <p:animEffect transition="in" filter="barn(outHorizontal)">
                                      <p:cBhvr>
                                        <p:cTn id="11" dur="1000"/>
                                        <p:tgtEl>
                                          <p:spTgt spid="83"/>
                                        </p:tgtEl>
                                      </p:cBhvr>
                                    </p:animEffect>
                                  </p:childTnLst>
                                </p:cTn>
                              </p:par>
                            </p:childTnLst>
                          </p:cTn>
                        </p:par>
                        <p:par>
                          <p:cTn id="12" fill="hold">
                            <p:stCondLst>
                              <p:cond delay="2500"/>
                            </p:stCondLst>
                            <p:childTnLst>
                              <p:par>
                                <p:cTn id="13" presetID="16" presetClass="entr" presetSubtype="42" fill="hold" grpId="0" nodeType="afterEffect">
                                  <p:stCondLst>
                                    <p:cond delay="500"/>
                                  </p:stCondLst>
                                  <p:childTnLst>
                                    <p:set>
                                      <p:cBhvr>
                                        <p:cTn id="14" dur="1" fill="hold">
                                          <p:stCondLst>
                                            <p:cond delay="0"/>
                                          </p:stCondLst>
                                        </p:cTn>
                                        <p:tgtEl>
                                          <p:spTgt spid="76"/>
                                        </p:tgtEl>
                                        <p:attrNameLst>
                                          <p:attrName>style.visibility</p:attrName>
                                        </p:attrNameLst>
                                      </p:cBhvr>
                                      <p:to>
                                        <p:strVal val="visible"/>
                                      </p:to>
                                    </p:set>
                                    <p:animEffect transition="in" filter="barn(outHorizontal)">
                                      <p:cBhvr>
                                        <p:cTn id="15" dur="1000"/>
                                        <p:tgtEl>
                                          <p:spTgt spid="7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500"/>
                                        <p:tgtEl>
                                          <p:spTgt spid="4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fad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p:bldP spid="71" grpId="0" animBg="1"/>
      <p:bldP spid="76" grpId="0" animBg="1"/>
      <p:bldP spid="83"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92329"/>
            <a:ext cx="8048776" cy="3107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2648991" y="1185337"/>
            <a:ext cx="4946636" cy="2904070"/>
            <a:chOff x="2648991" y="1185337"/>
            <a:chExt cx="4946636" cy="2904070"/>
          </a:xfrm>
        </p:grpSpPr>
        <p:pic>
          <p:nvPicPr>
            <p:cNvPr id="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48991" y="2033162"/>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3860" y="118533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0204" y="1257345"/>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1812" y="3157959"/>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84060" y="359000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6228" y="3157959"/>
              <a:ext cx="499399" cy="499400"/>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457"/>
            <p:cNvGrpSpPr>
              <a:grpSpLocks/>
            </p:cNvGrpSpPr>
            <p:nvPr/>
          </p:nvGrpSpPr>
          <p:grpSpPr bwMode="auto">
            <a:xfrm>
              <a:off x="3955835" y="1672987"/>
              <a:ext cx="2715518" cy="1325336"/>
              <a:chOff x="1776" y="2768"/>
              <a:chExt cx="1824" cy="736"/>
            </a:xfrm>
            <a:solidFill>
              <a:schemeClr val="bg1">
                <a:lumMod val="95000"/>
              </a:schemeClr>
            </a:solidFill>
            <a:effectLst>
              <a:outerShdw blurRad="50800" dist="38100" dir="5400000" algn="t" rotWithShape="0">
                <a:prstClr val="black">
                  <a:alpha val="40000"/>
                </a:prstClr>
              </a:outerShdw>
            </a:effectLst>
          </p:grpSpPr>
          <p:grpSp>
            <p:nvGrpSpPr>
              <p:cNvPr id="14" name="Group 458"/>
              <p:cNvGrpSpPr>
                <a:grpSpLocks/>
              </p:cNvGrpSpPr>
              <p:nvPr/>
            </p:nvGrpSpPr>
            <p:grpSpPr bwMode="auto">
              <a:xfrm>
                <a:off x="1787" y="2783"/>
                <a:ext cx="1813" cy="721"/>
                <a:chOff x="1787" y="2783"/>
                <a:chExt cx="1813" cy="721"/>
              </a:xfrm>
              <a:grpFill/>
            </p:grpSpPr>
            <p:sp>
              <p:nvSpPr>
                <p:cNvPr id="24" name="Oval 459"/>
                <p:cNvSpPr>
                  <a:spLocks noChangeArrowheads="1"/>
                </p:cNvSpPr>
                <p:nvPr/>
              </p:nvSpPr>
              <p:spPr bwMode="auto">
                <a:xfrm>
                  <a:off x="2413" y="2783"/>
                  <a:ext cx="780"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5" name="Oval 460"/>
                <p:cNvSpPr>
                  <a:spLocks noChangeArrowheads="1"/>
                </p:cNvSpPr>
                <p:nvPr/>
              </p:nvSpPr>
              <p:spPr bwMode="auto">
                <a:xfrm>
                  <a:off x="1974" y="2863"/>
                  <a:ext cx="593"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6" name="Oval 461"/>
                <p:cNvSpPr>
                  <a:spLocks noChangeArrowheads="1"/>
                </p:cNvSpPr>
                <p:nvPr/>
              </p:nvSpPr>
              <p:spPr bwMode="auto">
                <a:xfrm>
                  <a:off x="1787" y="3045"/>
                  <a:ext cx="396" cy="233"/>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7" name="Oval 462"/>
                <p:cNvSpPr>
                  <a:spLocks noChangeArrowheads="1"/>
                </p:cNvSpPr>
                <p:nvPr/>
              </p:nvSpPr>
              <p:spPr bwMode="auto">
                <a:xfrm>
                  <a:off x="1908" y="3154"/>
                  <a:ext cx="604" cy="255"/>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8" name="Oval 463"/>
                <p:cNvSpPr>
                  <a:spLocks noChangeArrowheads="1"/>
                </p:cNvSpPr>
                <p:nvPr/>
              </p:nvSpPr>
              <p:spPr bwMode="auto">
                <a:xfrm>
                  <a:off x="2347" y="3198"/>
                  <a:ext cx="912" cy="30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9" name="Oval 464"/>
                <p:cNvSpPr>
                  <a:spLocks noChangeArrowheads="1"/>
                </p:cNvSpPr>
                <p:nvPr/>
              </p:nvSpPr>
              <p:spPr bwMode="auto">
                <a:xfrm>
                  <a:off x="2941" y="2870"/>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0" name="Oval 465"/>
                <p:cNvSpPr>
                  <a:spLocks noChangeArrowheads="1"/>
                </p:cNvSpPr>
                <p:nvPr/>
              </p:nvSpPr>
              <p:spPr bwMode="auto">
                <a:xfrm>
                  <a:off x="3029" y="3023"/>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1" name="Oval 466"/>
                <p:cNvSpPr>
                  <a:spLocks noChangeArrowheads="1"/>
                </p:cNvSpPr>
                <p:nvPr/>
              </p:nvSpPr>
              <p:spPr bwMode="auto">
                <a:xfrm>
                  <a:off x="2974" y="3074"/>
                  <a:ext cx="571"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2" name="Oval 467"/>
                <p:cNvSpPr>
                  <a:spLocks noChangeArrowheads="1"/>
                </p:cNvSpPr>
                <p:nvPr/>
              </p:nvSpPr>
              <p:spPr bwMode="auto">
                <a:xfrm>
                  <a:off x="2117" y="2957"/>
                  <a:ext cx="1175"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15" name="Oval 468"/>
              <p:cNvSpPr>
                <a:spLocks noChangeArrowheads="1"/>
              </p:cNvSpPr>
              <p:nvPr/>
            </p:nvSpPr>
            <p:spPr bwMode="auto">
              <a:xfrm>
                <a:off x="2402" y="2768"/>
                <a:ext cx="780"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6" name="Oval 469"/>
              <p:cNvSpPr>
                <a:spLocks noChangeArrowheads="1"/>
              </p:cNvSpPr>
              <p:nvPr/>
            </p:nvSpPr>
            <p:spPr bwMode="auto">
              <a:xfrm>
                <a:off x="1963" y="2848"/>
                <a:ext cx="593" cy="292"/>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7" name="Oval 470"/>
              <p:cNvSpPr>
                <a:spLocks noChangeArrowheads="1"/>
              </p:cNvSpPr>
              <p:nvPr/>
            </p:nvSpPr>
            <p:spPr bwMode="auto">
              <a:xfrm>
                <a:off x="1776" y="3030"/>
                <a:ext cx="396" cy="234"/>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8" name="Oval 471"/>
              <p:cNvSpPr>
                <a:spLocks noChangeArrowheads="1"/>
              </p:cNvSpPr>
              <p:nvPr/>
            </p:nvSpPr>
            <p:spPr bwMode="auto">
              <a:xfrm>
                <a:off x="1897" y="3140"/>
                <a:ext cx="604" cy="255"/>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9" name="Oval 472"/>
              <p:cNvSpPr>
                <a:spLocks noChangeArrowheads="1"/>
              </p:cNvSpPr>
              <p:nvPr/>
            </p:nvSpPr>
            <p:spPr bwMode="auto">
              <a:xfrm>
                <a:off x="2336" y="3183"/>
                <a:ext cx="912" cy="30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0" name="Oval 473"/>
              <p:cNvSpPr>
                <a:spLocks noChangeArrowheads="1"/>
              </p:cNvSpPr>
              <p:nvPr/>
            </p:nvSpPr>
            <p:spPr bwMode="auto">
              <a:xfrm>
                <a:off x="2930" y="2855"/>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1" name="Oval 474"/>
              <p:cNvSpPr>
                <a:spLocks noChangeArrowheads="1"/>
              </p:cNvSpPr>
              <p:nvPr/>
            </p:nvSpPr>
            <p:spPr bwMode="auto">
              <a:xfrm>
                <a:off x="3018" y="3008"/>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2" name="Oval 475"/>
              <p:cNvSpPr>
                <a:spLocks noChangeArrowheads="1"/>
              </p:cNvSpPr>
              <p:nvPr/>
            </p:nvSpPr>
            <p:spPr bwMode="auto">
              <a:xfrm>
                <a:off x="2963" y="3059"/>
                <a:ext cx="571"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3" name="Oval 476"/>
              <p:cNvSpPr>
                <a:spLocks noChangeArrowheads="1"/>
              </p:cNvSpPr>
              <p:nvPr/>
            </p:nvSpPr>
            <p:spPr bwMode="auto">
              <a:xfrm>
                <a:off x="2106" y="2943"/>
                <a:ext cx="1175"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33" name="Text Box 477"/>
            <p:cNvSpPr txBox="1">
              <a:spLocks noChangeArrowheads="1"/>
            </p:cNvSpPr>
            <p:nvPr/>
          </p:nvSpPr>
          <p:spPr bwMode="auto">
            <a:xfrm>
              <a:off x="5014834" y="2241015"/>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600" b="1" dirty="0">
                  <a:solidFill>
                    <a:sysClr val="windowText" lastClr="000000"/>
                  </a:solidFill>
                  <a:latin typeface="微软雅黑" pitchFamily="34" charset="-122"/>
                  <a:ea typeface="微软雅黑" pitchFamily="34" charset="-122"/>
                </a:rPr>
                <a:t>互联网</a:t>
              </a:r>
            </a:p>
          </p:txBody>
        </p:sp>
        <p:sp>
          <p:nvSpPr>
            <p:cNvPr id="34" name="Line 479"/>
            <p:cNvSpPr>
              <a:spLocks noChangeShapeType="1"/>
            </p:cNvSpPr>
            <p:nvPr/>
          </p:nvSpPr>
          <p:spPr bwMode="auto">
            <a:xfrm>
              <a:off x="3135758" y="2235925"/>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5" name="Line 480"/>
            <p:cNvSpPr>
              <a:spLocks noChangeShapeType="1"/>
            </p:cNvSpPr>
            <p:nvPr/>
          </p:nvSpPr>
          <p:spPr bwMode="auto">
            <a:xfrm rot="10800000">
              <a:off x="3032965" y="2322752"/>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7" name="Text Box 2748"/>
            <p:cNvSpPr txBox="1">
              <a:spLocks noChangeArrowheads="1"/>
            </p:cNvSpPr>
            <p:nvPr/>
          </p:nvSpPr>
          <p:spPr bwMode="auto">
            <a:xfrm>
              <a:off x="6994268" y="216355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dirty="0">
                  <a:solidFill>
                    <a:srgbClr val="0000FF"/>
                  </a:solidFill>
                  <a:latin typeface="微软雅黑" pitchFamily="34" charset="-122"/>
                  <a:ea typeface="微软雅黑" pitchFamily="34" charset="-122"/>
                  <a:sym typeface="Symbol" pitchFamily="18" charset="2"/>
                </a:rPr>
                <a:t></a:t>
              </a:r>
            </a:p>
          </p:txBody>
        </p:sp>
        <p:sp>
          <p:nvSpPr>
            <p:cNvPr id="38" name="Line 2750"/>
            <p:cNvSpPr>
              <a:spLocks noChangeShapeType="1"/>
            </p:cNvSpPr>
            <p:nvPr/>
          </p:nvSpPr>
          <p:spPr bwMode="auto">
            <a:xfrm rot="816166">
              <a:off x="4273247" y="1510783"/>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39" name="Line 2751"/>
            <p:cNvSpPr>
              <a:spLocks noChangeShapeType="1"/>
            </p:cNvSpPr>
            <p:nvPr/>
          </p:nvSpPr>
          <p:spPr bwMode="auto">
            <a:xfrm rot="11616166">
              <a:off x="4147864" y="1580436"/>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0" name="Line 2753"/>
            <p:cNvSpPr>
              <a:spLocks noChangeShapeType="1"/>
            </p:cNvSpPr>
            <p:nvPr/>
          </p:nvSpPr>
          <p:spPr bwMode="auto">
            <a:xfrm rot="18950026">
              <a:off x="3700549" y="2924651"/>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1" name="Line 2754"/>
            <p:cNvSpPr>
              <a:spLocks noChangeShapeType="1"/>
            </p:cNvSpPr>
            <p:nvPr/>
          </p:nvSpPr>
          <p:spPr bwMode="auto">
            <a:xfrm rot="8150026">
              <a:off x="3691512" y="3032467"/>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2" name="Line 2756"/>
            <p:cNvSpPr>
              <a:spLocks noChangeShapeType="1"/>
            </p:cNvSpPr>
            <p:nvPr/>
          </p:nvSpPr>
          <p:spPr bwMode="auto">
            <a:xfrm rot="13567995">
              <a:off x="5278444" y="3228884"/>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3" name="Line 2757"/>
            <p:cNvSpPr>
              <a:spLocks noChangeShapeType="1"/>
            </p:cNvSpPr>
            <p:nvPr/>
          </p:nvSpPr>
          <p:spPr bwMode="auto">
            <a:xfrm rot="2767995">
              <a:off x="5384142" y="3215526"/>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4" name="Line 2759"/>
            <p:cNvSpPr>
              <a:spLocks noChangeShapeType="1"/>
            </p:cNvSpPr>
            <p:nvPr/>
          </p:nvSpPr>
          <p:spPr bwMode="auto">
            <a:xfrm rot="18997895">
              <a:off x="6107691" y="1610013"/>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5" name="Line 2760"/>
            <p:cNvSpPr>
              <a:spLocks noChangeShapeType="1"/>
            </p:cNvSpPr>
            <p:nvPr/>
          </p:nvSpPr>
          <p:spPr bwMode="auto">
            <a:xfrm rot="8197895">
              <a:off x="6269221" y="1662491"/>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6" name="Line 2762"/>
            <p:cNvSpPr>
              <a:spLocks noChangeShapeType="1"/>
            </p:cNvSpPr>
            <p:nvPr/>
          </p:nvSpPr>
          <p:spPr bwMode="auto">
            <a:xfrm rot="1048487">
              <a:off x="6466899" y="2913201"/>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7" name="Line 2763"/>
            <p:cNvSpPr>
              <a:spLocks noChangeShapeType="1"/>
            </p:cNvSpPr>
            <p:nvPr/>
          </p:nvSpPr>
          <p:spPr bwMode="auto">
            <a:xfrm rot="11848487">
              <a:off x="6336996" y="2976174"/>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1" name="Text Box 2767"/>
            <p:cNvSpPr txBox="1">
              <a:spLocks noChangeArrowheads="1"/>
            </p:cNvSpPr>
            <p:nvPr/>
          </p:nvSpPr>
          <p:spPr bwMode="auto">
            <a:xfrm>
              <a:off x="6575502" y="1626950"/>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u</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2" name="Text Box 2768"/>
            <p:cNvSpPr txBox="1">
              <a:spLocks noChangeArrowheads="1"/>
            </p:cNvSpPr>
            <p:nvPr/>
          </p:nvSpPr>
          <p:spPr bwMode="auto">
            <a:xfrm>
              <a:off x="6517729" y="2955183"/>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baseline="-25000">
                  <a:solidFill>
                    <a:srgbClr val="0000FF"/>
                  </a:solidFill>
                  <a:latin typeface="微软雅黑" pitchFamily="34" charset="-122"/>
                  <a:ea typeface="微软雅黑" pitchFamily="34" charset="-122"/>
                </a:rPr>
                <a:t>5</a:t>
              </a:r>
            </a:p>
          </p:txBody>
        </p:sp>
        <p:sp>
          <p:nvSpPr>
            <p:cNvPr id="53" name="Text Box 2769"/>
            <p:cNvSpPr txBox="1">
              <a:spLocks noChangeArrowheads="1"/>
            </p:cNvSpPr>
            <p:nvPr/>
          </p:nvSpPr>
          <p:spPr bwMode="auto">
            <a:xfrm>
              <a:off x="5326397" y="321470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4</a:t>
              </a:r>
            </a:p>
          </p:txBody>
        </p:sp>
        <p:sp>
          <p:nvSpPr>
            <p:cNvPr id="54" name="Text Box 2770"/>
            <p:cNvSpPr txBox="1">
              <a:spLocks noChangeArrowheads="1"/>
            </p:cNvSpPr>
            <p:nvPr/>
          </p:nvSpPr>
          <p:spPr bwMode="auto">
            <a:xfrm>
              <a:off x="3853043" y="272483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3</a:t>
              </a:r>
            </a:p>
          </p:txBody>
        </p:sp>
        <p:sp>
          <p:nvSpPr>
            <p:cNvPr id="55" name="Text Box 2771"/>
            <p:cNvSpPr txBox="1">
              <a:spLocks noChangeArrowheads="1"/>
            </p:cNvSpPr>
            <p:nvPr/>
          </p:nvSpPr>
          <p:spPr bwMode="auto">
            <a:xfrm>
              <a:off x="3341341" y="2029910"/>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2</a:t>
              </a:r>
            </a:p>
          </p:txBody>
        </p:sp>
        <p:sp>
          <p:nvSpPr>
            <p:cNvPr id="56" name="Text Box 2772"/>
            <p:cNvSpPr txBox="1">
              <a:spLocks noChangeArrowheads="1"/>
            </p:cNvSpPr>
            <p:nvPr/>
          </p:nvSpPr>
          <p:spPr bwMode="auto">
            <a:xfrm>
              <a:off x="4468665" y="1303418"/>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1</a:t>
              </a:r>
            </a:p>
          </p:txBody>
        </p:sp>
        <p:sp>
          <p:nvSpPr>
            <p:cNvPr id="57" name="Text Box 2773"/>
            <p:cNvSpPr txBox="1">
              <a:spLocks noChangeArrowheads="1"/>
            </p:cNvSpPr>
            <p:nvPr/>
          </p:nvSpPr>
          <p:spPr bwMode="auto">
            <a:xfrm>
              <a:off x="6217802" y="1398434"/>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d</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8" name="Text Box 2774"/>
            <p:cNvSpPr txBox="1">
              <a:spLocks noChangeArrowheads="1"/>
            </p:cNvSpPr>
            <p:nvPr/>
          </p:nvSpPr>
          <p:spPr bwMode="auto">
            <a:xfrm>
              <a:off x="4217361" y="1574870"/>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1</a:t>
              </a:r>
            </a:p>
          </p:txBody>
        </p:sp>
        <p:sp>
          <p:nvSpPr>
            <p:cNvPr id="59" name="Text Box 2775"/>
            <p:cNvSpPr txBox="1">
              <a:spLocks noChangeArrowheads="1"/>
            </p:cNvSpPr>
            <p:nvPr/>
          </p:nvSpPr>
          <p:spPr bwMode="auto">
            <a:xfrm>
              <a:off x="6740472" y="273859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5</a:t>
              </a:r>
            </a:p>
          </p:txBody>
        </p:sp>
        <p:sp>
          <p:nvSpPr>
            <p:cNvPr id="60" name="Text Box 2776"/>
            <p:cNvSpPr txBox="1">
              <a:spLocks noChangeArrowheads="1"/>
            </p:cNvSpPr>
            <p:nvPr/>
          </p:nvSpPr>
          <p:spPr bwMode="auto">
            <a:xfrm>
              <a:off x="5697652" y="3128835"/>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d</a:t>
              </a:r>
              <a:r>
                <a:rPr kumimoji="1" lang="en-US" altLang="zh-CN" sz="1400" b="1" baseline="-25000">
                  <a:solidFill>
                    <a:srgbClr val="0000FF"/>
                  </a:solidFill>
                  <a:latin typeface="微软雅黑" pitchFamily="34" charset="-122"/>
                  <a:ea typeface="微软雅黑" pitchFamily="34" charset="-122"/>
                </a:rPr>
                <a:t>4</a:t>
              </a:r>
            </a:p>
          </p:txBody>
        </p:sp>
        <p:sp>
          <p:nvSpPr>
            <p:cNvPr id="61" name="Text Box 2777"/>
            <p:cNvSpPr txBox="1">
              <a:spLocks noChangeArrowheads="1"/>
            </p:cNvSpPr>
            <p:nvPr/>
          </p:nvSpPr>
          <p:spPr bwMode="auto">
            <a:xfrm>
              <a:off x="4068849" y="300726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3</a:t>
              </a:r>
            </a:p>
          </p:txBody>
        </p:sp>
        <p:sp>
          <p:nvSpPr>
            <p:cNvPr id="62" name="Text Box 2778"/>
            <p:cNvSpPr txBox="1">
              <a:spLocks noChangeArrowheads="1"/>
            </p:cNvSpPr>
            <p:nvPr/>
          </p:nvSpPr>
          <p:spPr bwMode="auto">
            <a:xfrm>
              <a:off x="3289381" y="238604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2</a:t>
              </a:r>
            </a:p>
          </p:txBody>
        </p:sp>
      </p:grpSp>
      <p:sp>
        <p:nvSpPr>
          <p:cNvPr id="4" name="矩形 3"/>
          <p:cNvSpPr/>
          <p:nvPr/>
        </p:nvSpPr>
        <p:spPr>
          <a:xfrm>
            <a:off x="734437" y="1558776"/>
            <a:ext cx="1773087" cy="1913794"/>
          </a:xfrm>
          <a:prstGeom prst="rect">
            <a:avLst/>
          </a:prstGeom>
        </p:spPr>
        <p:txBody>
          <a:bodyPr wrap="square">
            <a:spAutoFit/>
          </a:bodyPr>
          <a:lstStyle/>
          <a:p>
            <a:pPr>
              <a:lnSpc>
                <a:spcPts val="2900"/>
              </a:lnSpc>
            </a:pP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P2P </a:t>
            </a:r>
            <a:r>
              <a:rPr lang="zh-CN" altLang="en-US" b="1" dirty="0">
                <a:latin typeface="微软雅黑" panose="020B0503020204020204" pitchFamily="34" charset="-122"/>
                <a:ea typeface="微软雅黑" panose="020B0503020204020204" pitchFamily="34" charset="-122"/>
              </a:rPr>
              <a:t>工作方式下，所有</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数据</a:t>
            </a:r>
            <a:r>
              <a:rPr lang="zh-CN" altLang="en-US" b="1" dirty="0" smtClean="0">
                <a:latin typeface="微软雅黑" panose="020B0503020204020204" pitchFamily="34" charset="-122"/>
                <a:ea typeface="微软雅黑" panose="020B0503020204020204" pitchFamily="34" charset="-122"/>
              </a:rPr>
              <a:t>都是</a:t>
            </a:r>
            <a:r>
              <a:rPr lang="zh-CN" altLang="en-US" b="1" dirty="0">
                <a:latin typeface="微软雅黑" panose="020B0503020204020204" pitchFamily="34" charset="-122"/>
                <a:ea typeface="微软雅黑" panose="020B0503020204020204" pitchFamily="34" charset="-122"/>
              </a:rPr>
              <a:t>在普通的互联网</a:t>
            </a:r>
            <a:r>
              <a:rPr lang="zh-CN" altLang="en-US" b="1" dirty="0">
                <a:solidFill>
                  <a:srgbClr val="C00000"/>
                </a:solidFill>
                <a:latin typeface="微软雅黑" panose="020B0503020204020204" pitchFamily="34" charset="-122"/>
                <a:ea typeface="微软雅黑" panose="020B0503020204020204" pitchFamily="34" charset="-122"/>
              </a:rPr>
              <a:t>用户之间传输。</a:t>
            </a:r>
          </a:p>
        </p:txBody>
      </p:sp>
      <p:sp>
        <p:nvSpPr>
          <p:cNvPr id="63" name="Rectangle 4"/>
          <p:cNvSpPr>
            <a:spLocks noChangeArrowheads="1"/>
          </p:cNvSpPr>
          <p:nvPr/>
        </p:nvSpPr>
        <p:spPr bwMode="auto">
          <a:xfrm>
            <a:off x="7498080" y="37227"/>
            <a:ext cx="1643365"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工作方式概述</a:t>
            </a:r>
          </a:p>
        </p:txBody>
      </p:sp>
      <p:sp>
        <p:nvSpPr>
          <p:cNvPr id="48" name="文本占位符 47"/>
          <p:cNvSpPr>
            <a:spLocks noGrp="1"/>
          </p:cNvSpPr>
          <p:nvPr>
            <p:ph type="body" sz="quarter" idx="11"/>
          </p:nvPr>
        </p:nvSpPr>
        <p:spPr/>
        <p:txBody>
          <a:bodyPr/>
          <a:lstStyle/>
          <a:p>
            <a:r>
              <a:rPr lang="en-US" altLang="zh-CN" dirty="0"/>
              <a:t>P2P </a:t>
            </a:r>
            <a:r>
              <a:rPr lang="zh-CN" altLang="en-US" dirty="0"/>
              <a:t>工作方式</a:t>
            </a:r>
            <a:r>
              <a:rPr lang="zh-CN" altLang="en-US" dirty="0" smtClean="0"/>
              <a:t>概述</a:t>
            </a:r>
            <a:endParaRPr lang="zh-CN" altLang="en-US" dirty="0"/>
          </a:p>
        </p:txBody>
      </p:sp>
    </p:spTree>
    <p:extLst>
      <p:ext uri="{BB962C8B-B14F-4D97-AF65-F5344CB8AC3E}">
        <p14:creationId xmlns:p14="http://schemas.microsoft.com/office/powerpoint/2010/main" val="21713221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p:cNvSpPr>
            <a:spLocks noGrp="1"/>
          </p:cNvSpPr>
          <p:nvPr>
            <p:ph type="body" sz="quarter" idx="11"/>
          </p:nvPr>
        </p:nvSpPr>
        <p:spPr/>
        <p:txBody>
          <a:bodyPr/>
          <a:lstStyle/>
          <a:p>
            <a:r>
              <a:rPr lang="zh-CN" altLang="en-US" dirty="0" smtClean="0"/>
              <a:t>代表性的</a:t>
            </a:r>
            <a:r>
              <a:rPr lang="en-US" altLang="zh-CN" dirty="0" smtClean="0"/>
              <a:t>P2P</a:t>
            </a:r>
            <a:r>
              <a:rPr lang="zh-CN" altLang="en-US" dirty="0" smtClean="0"/>
              <a:t>应用</a:t>
            </a:r>
            <a:endParaRPr lang="zh-CN" altLang="en-US" dirty="0"/>
          </a:p>
        </p:txBody>
      </p:sp>
      <p:pic>
        <p:nvPicPr>
          <p:cNvPr id="5" name="图片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305326" y="3873355"/>
            <a:ext cx="1899453" cy="397271"/>
          </a:xfrm>
          <a:prstGeom prst="rect">
            <a:avLst/>
          </a:prstGeom>
        </p:spPr>
      </p:pic>
      <p:pic>
        <p:nvPicPr>
          <p:cNvPr id="6" name="图片 5"/>
          <p:cNvPicPr>
            <a:picLocks noChangeAspect="1"/>
          </p:cNvPicPr>
          <p:nvPr/>
        </p:nvPicPr>
        <p:blipFill rotWithShape="1">
          <a:blip r:embed="rId4">
            <a:extLst>
              <a:ext uri="{28A0092B-C50C-407E-A947-70E740481C1C}">
                <a14:useLocalDpi xmlns:a14="http://schemas.microsoft.com/office/drawing/2010/main" val="0"/>
              </a:ext>
            </a:extLst>
          </a:blip>
          <a:srcRect t="16926" b="14908"/>
          <a:stretch/>
        </p:blipFill>
        <p:spPr>
          <a:xfrm>
            <a:off x="2844926" y="2165934"/>
            <a:ext cx="1884772" cy="963583"/>
          </a:xfrm>
          <a:prstGeom prst="rect">
            <a:avLst/>
          </a:prstGeom>
        </p:spPr>
      </p:pic>
      <p:pic>
        <p:nvPicPr>
          <p:cNvPr id="8" name="图片 7"/>
          <p:cNvPicPr>
            <a:picLocks noChangeAspect="1"/>
          </p:cNvPicPr>
          <p:nvPr/>
        </p:nvPicPr>
        <p:blipFill rotWithShape="1">
          <a:blip r:embed="rId5">
            <a:extLst>
              <a:ext uri="{28A0092B-C50C-407E-A947-70E740481C1C}">
                <a14:useLocalDpi xmlns:a14="http://schemas.microsoft.com/office/drawing/2010/main" val="0"/>
              </a:ext>
            </a:extLst>
          </a:blip>
          <a:srcRect t="21840" b="24006"/>
          <a:stretch/>
        </p:blipFill>
        <p:spPr>
          <a:xfrm>
            <a:off x="685745" y="1140685"/>
            <a:ext cx="2950676" cy="899468"/>
          </a:xfrm>
          <a:prstGeom prst="rect">
            <a:avLst/>
          </a:prstGeom>
        </p:spPr>
      </p:pic>
      <p:pic>
        <p:nvPicPr>
          <p:cNvPr id="9" name="图片 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924682" y="1224545"/>
            <a:ext cx="2592479" cy="731748"/>
          </a:xfrm>
          <a:prstGeom prst="rect">
            <a:avLst/>
          </a:prstGeom>
        </p:spPr>
      </p:pic>
      <p:pic>
        <p:nvPicPr>
          <p:cNvPr id="12" name="图片 1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42218" y="2291002"/>
            <a:ext cx="1001018" cy="1001018"/>
          </a:xfrm>
          <a:prstGeom prst="rect">
            <a:avLst/>
          </a:prstGeom>
        </p:spPr>
      </p:pic>
      <p:pic>
        <p:nvPicPr>
          <p:cNvPr id="14" name="图片 13"/>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040445" y="1038221"/>
            <a:ext cx="1100128" cy="1100128"/>
          </a:xfrm>
          <a:prstGeom prst="rect">
            <a:avLst/>
          </a:prstGeom>
        </p:spPr>
      </p:pic>
      <p:pic>
        <p:nvPicPr>
          <p:cNvPr id="15" name="图片 14"/>
          <p:cNvPicPr>
            <a:picLocks noChangeAspect="1"/>
          </p:cNvPicPr>
          <p:nvPr/>
        </p:nvPicPr>
        <p:blipFill rotWithShape="1">
          <a:blip r:embed="rId9" cstate="print">
            <a:extLst>
              <a:ext uri="{28A0092B-C50C-407E-A947-70E740481C1C}">
                <a14:useLocalDpi xmlns:a14="http://schemas.microsoft.com/office/drawing/2010/main" val="0"/>
              </a:ext>
            </a:extLst>
          </a:blip>
          <a:srcRect t="9340"/>
          <a:stretch/>
        </p:blipFill>
        <p:spPr>
          <a:xfrm>
            <a:off x="5364189" y="2235710"/>
            <a:ext cx="1373888" cy="1111602"/>
          </a:xfrm>
          <a:prstGeom prst="rect">
            <a:avLst/>
          </a:prstGeom>
        </p:spPr>
      </p:pic>
      <p:pic>
        <p:nvPicPr>
          <p:cNvPr id="16" name="图片 15"/>
          <p:cNvPicPr>
            <a:picLocks noChangeAspect="1"/>
          </p:cNvPicPr>
          <p:nvPr/>
        </p:nvPicPr>
        <p:blipFill rotWithShape="1">
          <a:blip r:embed="rId10" cstate="print">
            <a:extLst>
              <a:ext uri="{28A0092B-C50C-407E-A947-70E740481C1C}">
                <a14:useLocalDpi xmlns:a14="http://schemas.microsoft.com/office/drawing/2010/main" val="0"/>
              </a:ext>
            </a:extLst>
          </a:blip>
          <a:srcRect l="29525" t="8917" r="28738" b="20020"/>
          <a:stretch/>
        </p:blipFill>
        <p:spPr>
          <a:xfrm>
            <a:off x="7121612" y="2116605"/>
            <a:ext cx="1018961" cy="1230444"/>
          </a:xfrm>
          <a:prstGeom prst="rect">
            <a:avLst/>
          </a:prstGeom>
        </p:spPr>
      </p:pic>
      <p:pic>
        <p:nvPicPr>
          <p:cNvPr id="17" name="图片 16"/>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450978" y="3439631"/>
            <a:ext cx="2027763" cy="1042045"/>
          </a:xfrm>
          <a:prstGeom prst="rect">
            <a:avLst/>
          </a:prstGeom>
        </p:spPr>
      </p:pic>
      <p:pic>
        <p:nvPicPr>
          <p:cNvPr id="18" name="图片 17"/>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3023225" y="3408934"/>
            <a:ext cx="3027908" cy="1211163"/>
          </a:xfrm>
          <a:prstGeom prst="rect">
            <a:avLst/>
          </a:prstGeom>
        </p:spPr>
      </p:pic>
    </p:spTree>
    <p:extLst>
      <p:ext uri="{BB962C8B-B14F-4D97-AF65-F5344CB8AC3E}">
        <p14:creationId xmlns:p14="http://schemas.microsoft.com/office/powerpoint/2010/main" val="11471674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1010413"/>
            <a:ext cx="5542582" cy="36958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en-US" altLang="zh-CN" b="1" dirty="0" smtClean="0">
                <a:latin typeface="微软雅黑" pitchFamily="34" charset="-122"/>
                <a:ea typeface="微软雅黑" pitchFamily="34" charset="-122"/>
              </a:rPr>
              <a:t>Napster </a:t>
            </a:r>
            <a:r>
              <a:rPr lang="zh-CN" altLang="en-US" b="1" dirty="0" smtClean="0">
                <a:latin typeface="微软雅黑" pitchFamily="34" charset="-122"/>
                <a:ea typeface="微软雅黑" pitchFamily="34" charset="-122"/>
              </a:rPr>
              <a:t>是第一个获得</a:t>
            </a:r>
            <a:r>
              <a:rPr lang="zh-CN" altLang="en-US" b="1" dirty="0">
                <a:latin typeface="微软雅黑" pitchFamily="34" charset="-122"/>
                <a:ea typeface="微软雅黑" pitchFamily="34" charset="-122"/>
              </a:rPr>
              <a:t>巨大商业成功</a:t>
            </a:r>
            <a:r>
              <a:rPr lang="zh-CN" altLang="en-US" b="1" dirty="0" smtClean="0">
                <a:latin typeface="微软雅黑" pitchFamily="34" charset="-122"/>
                <a:ea typeface="微软雅黑" pitchFamily="34" charset="-122"/>
              </a:rPr>
              <a:t>的杀手级 </a:t>
            </a:r>
            <a:r>
              <a:rPr lang="en-US" altLang="zh-CN" b="1" dirty="0" smtClean="0">
                <a:latin typeface="微软雅黑" pitchFamily="34" charset="-122"/>
                <a:ea typeface="微软雅黑" pitchFamily="34" charset="-122"/>
              </a:rPr>
              <a:t>P2P</a:t>
            </a:r>
            <a:r>
              <a:rPr lang="zh-CN" altLang="en-US" b="1" dirty="0" smtClean="0">
                <a:latin typeface="微软雅黑" pitchFamily="34" charset="-122"/>
                <a:ea typeface="微软雅黑" pitchFamily="34" charset="-122"/>
              </a:rPr>
              <a:t>应用</a:t>
            </a:r>
            <a:r>
              <a:rPr lang="zh-CN" altLang="en-US" b="1" dirty="0">
                <a:latin typeface="微软雅黑" pitchFamily="34" charset="-122"/>
                <a:ea typeface="微软雅黑" pitchFamily="34" charset="-122"/>
              </a:rPr>
              <a:t>，由</a:t>
            </a:r>
            <a:r>
              <a:rPr lang="en-US" altLang="zh-CN" b="1" dirty="0">
                <a:latin typeface="微软雅黑" pitchFamily="34" charset="-122"/>
                <a:ea typeface="微软雅黑" pitchFamily="34" charset="-122"/>
              </a:rPr>
              <a:t>Shawn Fanning</a:t>
            </a:r>
            <a:r>
              <a:rPr lang="zh-CN" altLang="en-US" b="1" dirty="0">
                <a:latin typeface="微软雅黑" pitchFamily="34" charset="-122"/>
                <a:ea typeface="微软雅黑" pitchFamily="34" charset="-122"/>
              </a:rPr>
              <a:t>于</a:t>
            </a:r>
            <a:r>
              <a:rPr lang="en-US" altLang="zh-CN" b="1" dirty="0">
                <a:latin typeface="微软雅黑" pitchFamily="34" charset="-122"/>
                <a:ea typeface="微软雅黑" pitchFamily="34" charset="-122"/>
              </a:rPr>
              <a:t>1999</a:t>
            </a:r>
            <a:r>
              <a:rPr lang="zh-CN" altLang="en-US" b="1" dirty="0" smtClean="0">
                <a:latin typeface="微软雅黑" pitchFamily="34" charset="-122"/>
                <a:ea typeface="微软雅黑" pitchFamily="34" charset="-122"/>
              </a:rPr>
              <a:t>年开发，在用户之间提供免费分享 </a:t>
            </a:r>
            <a:r>
              <a:rPr lang="en-US" altLang="zh-CN" b="1" dirty="0">
                <a:latin typeface="微软雅黑" pitchFamily="34" charset="-122"/>
                <a:ea typeface="微软雅黑" pitchFamily="34" charset="-122"/>
              </a:rPr>
              <a:t>MP3 </a:t>
            </a:r>
            <a:r>
              <a:rPr lang="zh-CN" altLang="en-US" b="1" dirty="0" smtClean="0">
                <a:latin typeface="微软雅黑" pitchFamily="34" charset="-122"/>
                <a:ea typeface="微软雅黑" pitchFamily="34" charset="-122"/>
              </a:rPr>
              <a:t>音乐的服务。</a:t>
            </a:r>
            <a:endParaRPr lang="en-US" altLang="zh-CN" b="1" dirty="0" smtClean="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b="1" dirty="0">
                <a:latin typeface="微软雅黑" pitchFamily="34" charset="-122"/>
                <a:ea typeface="微软雅黑" pitchFamily="34" charset="-122"/>
              </a:rPr>
              <a:t>核心</a:t>
            </a:r>
            <a:r>
              <a:rPr lang="zh-CN" altLang="en-US" b="1" dirty="0" smtClean="0">
                <a:latin typeface="微软雅黑" pitchFamily="34" charset="-122"/>
                <a:ea typeface="微软雅黑" pitchFamily="34" charset="-122"/>
              </a:rPr>
              <a:t>思想：</a:t>
            </a:r>
            <a:endParaRPr lang="en-US" altLang="zh-CN"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在普通用户之间共享资源。</a:t>
            </a:r>
            <a:endParaRPr lang="en-US" altLang="zh-CN" sz="1600"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a:latin typeface="微软雅黑" pitchFamily="34" charset="-122"/>
                <a:ea typeface="微软雅黑" pitchFamily="34" charset="-122"/>
              </a:rPr>
              <a:t>每个</a:t>
            </a:r>
            <a:r>
              <a:rPr lang="zh-CN" altLang="en-US" sz="1600" b="1" dirty="0" smtClean="0">
                <a:latin typeface="微软雅黑" pitchFamily="34" charset="-122"/>
                <a:ea typeface="微软雅黑" pitchFamily="34" charset="-122"/>
              </a:rPr>
              <a:t>用户共享一些</a:t>
            </a:r>
            <a:r>
              <a:rPr lang="en-US" altLang="zh-CN" sz="1600" b="1" dirty="0" smtClean="0">
                <a:latin typeface="微软雅黑" pitchFamily="34" charset="-122"/>
                <a:ea typeface="微软雅黑" pitchFamily="34" charset="-122"/>
              </a:rPr>
              <a:t>MP3</a:t>
            </a:r>
            <a:r>
              <a:rPr lang="zh-CN" altLang="en-US" sz="1600" b="1" dirty="0" smtClean="0">
                <a:latin typeface="微软雅黑" pitchFamily="34" charset="-122"/>
                <a:ea typeface="微软雅黑" pitchFamily="34" charset="-122"/>
              </a:rPr>
              <a:t>文件，用户可以从其他用户那里下载感兴趣的文件。</a:t>
            </a:r>
            <a:endParaRPr lang="en-US" altLang="zh-CN" sz="1600" b="1" dirty="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关键问题：</a:t>
            </a:r>
            <a:endParaRPr lang="en-US" altLang="zh-CN"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如何知道找到提供自己感兴趣资源的用户？</a:t>
            </a:r>
            <a:endParaRPr lang="zh-CN" altLang="en-US" sz="1600" b="1" dirty="0">
              <a:latin typeface="微软雅黑" pitchFamily="34" charset="-122"/>
              <a:ea typeface="微软雅黑" pitchFamily="34" charset="-122"/>
            </a:endParaRPr>
          </a:p>
        </p:txBody>
      </p:sp>
      <p:sp>
        <p:nvSpPr>
          <p:cNvPr id="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pic>
        <p:nvPicPr>
          <p:cNvPr id="6" name="图片 5"/>
          <p:cNvPicPr>
            <a:picLocks noChangeAspect="1"/>
          </p:cNvPicPr>
          <p:nvPr/>
        </p:nvPicPr>
        <p:blipFill rotWithShape="1">
          <a:blip r:embed="rId4">
            <a:extLst>
              <a:ext uri="{28A0092B-C50C-407E-A947-70E740481C1C}">
                <a14:useLocalDpi xmlns:a14="http://schemas.microsoft.com/office/drawing/2010/main" val="0"/>
              </a:ext>
            </a:extLst>
          </a:blip>
          <a:srcRect t="21840" b="24006"/>
          <a:stretch/>
        </p:blipFill>
        <p:spPr>
          <a:xfrm>
            <a:off x="6209604" y="1018879"/>
            <a:ext cx="2607218" cy="794770"/>
          </a:xfrm>
          <a:prstGeom prst="rect">
            <a:avLst/>
          </a:prstGeom>
        </p:spPr>
      </p:pic>
      <p:pic>
        <p:nvPicPr>
          <p:cNvPr id="7" name="Picture 27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84430" y="1939226"/>
            <a:ext cx="1555975" cy="2700505"/>
          </a:xfrm>
          <a:prstGeom prst="rect">
            <a:avLst/>
          </a:prstGeom>
          <a:noFill/>
          <a:ln>
            <a:noFill/>
          </a:ln>
          <a:effectLst/>
          <a:extLst>
            <a:ext uri="{909E8E84-426E-40DD-AFC4-6F175D3DCCD1}">
              <a14:hiddenFill xmlns:a14="http://schemas.microsoft.com/office/drawing/2010/main">
                <a:solidFill>
                  <a:schemeClr val="bg2"/>
                </a:solidFill>
              </a14:hiddenFill>
            </a:ext>
            <a:ext uri="{91240B29-F687-4F45-9708-019B960494DF}">
              <a14:hiddenLine xmlns:a14="http://schemas.microsoft.com/office/drawing/2010/main" w="254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文本占位符 10"/>
          <p:cNvSpPr>
            <a:spLocks noGrp="1"/>
          </p:cNvSpPr>
          <p:nvPr>
            <p:ph type="body" sz="quarter" idx="11"/>
          </p:nvPr>
        </p:nvSpPr>
        <p:spPr/>
        <p:txBody>
          <a:bodyPr/>
          <a:lstStyle/>
          <a:p>
            <a:r>
              <a:rPr lang="zh-CN" altLang="en-US" dirty="0"/>
              <a:t>具有集中目录服务器的 </a:t>
            </a:r>
            <a:r>
              <a:rPr lang="en-US" altLang="zh-CN" dirty="0"/>
              <a:t>P2P </a:t>
            </a:r>
            <a:r>
              <a:rPr lang="zh-CN" altLang="en-US" dirty="0"/>
              <a:t>工作</a:t>
            </a:r>
            <a:r>
              <a:rPr lang="zh-CN" altLang="en-US" dirty="0" smtClean="0"/>
              <a:t>方式</a:t>
            </a:r>
            <a:endParaRPr lang="zh-CN" altLang="en-US" dirty="0"/>
          </a:p>
        </p:txBody>
      </p:sp>
    </p:spTree>
    <p:custDataLst>
      <p:tags r:id="rId1"/>
    </p:custDataLst>
    <p:extLst>
      <p:ext uri="{BB962C8B-B14F-4D97-AF65-F5344CB8AC3E}">
        <p14:creationId xmlns:p14="http://schemas.microsoft.com/office/powerpoint/2010/main" val="18874336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2" end="2"/>
                                            </p:txEl>
                                          </p:spTgt>
                                        </p:tgtEl>
                                        <p:attrNameLst>
                                          <p:attrName>style.visibility</p:attrName>
                                        </p:attrNameLst>
                                      </p:cBhvr>
                                      <p:to>
                                        <p:strVal val="visible"/>
                                      </p:to>
                                    </p:set>
                                    <p:animEffect transition="in" filter="fade">
                                      <p:cBhvr>
                                        <p:cTn id="10" dur="500"/>
                                        <p:tgtEl>
                                          <p:spTgt spid="4">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animEffect transition="in" filter="fade">
                                      <p:cBhvr>
                                        <p:cTn id="13" dur="500"/>
                                        <p:tgtEl>
                                          <p:spTgt spid="4">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4">
                                            <p:txEl>
                                              <p:pRg st="4" end="4"/>
                                            </p:txEl>
                                          </p:spTgt>
                                        </p:tgtEl>
                                        <p:attrNameLst>
                                          <p:attrName>style.visibility</p:attrName>
                                        </p:attrNameLst>
                                      </p:cBhvr>
                                      <p:to>
                                        <p:strVal val="visible"/>
                                      </p:to>
                                    </p:set>
                                    <p:animEffect transition="in" filter="fade">
                                      <p:cBhvr>
                                        <p:cTn id="18" dur="500"/>
                                        <p:tgtEl>
                                          <p:spTgt spid="4">
                                            <p:txEl>
                                              <p:pRg st="4" end="4"/>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4">
                                            <p:txEl>
                                              <p:pRg st="5" end="5"/>
                                            </p:txEl>
                                          </p:spTgt>
                                        </p:tgtEl>
                                        <p:attrNameLst>
                                          <p:attrName>style.visibility</p:attrName>
                                        </p:attrNameLst>
                                      </p:cBhvr>
                                      <p:to>
                                        <p:strVal val="visible"/>
                                      </p:to>
                                    </p:set>
                                    <p:animEffect transition="in" filter="fade">
                                      <p:cBhvr>
                                        <p:cTn id="21" dur="500"/>
                                        <p:tgtEl>
                                          <p:spTgt spid="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1010413"/>
            <a:ext cx="614228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Napster </a:t>
            </a:r>
            <a:r>
              <a:rPr lang="zh-CN" altLang="en-US" b="1" dirty="0" smtClean="0">
                <a:latin typeface="微软雅黑" pitchFamily="34" charset="-122"/>
                <a:ea typeface="微软雅黑" pitchFamily="34" charset="-122"/>
              </a:rPr>
              <a:t>将所有</a:t>
            </a:r>
            <a:r>
              <a:rPr lang="zh-CN" altLang="en-US" b="1" dirty="0">
                <a:latin typeface="微软雅黑" pitchFamily="34" charset="-122"/>
                <a:ea typeface="微软雅黑" pitchFamily="34" charset="-122"/>
              </a:rPr>
              <a:t>共享</a:t>
            </a:r>
            <a:r>
              <a:rPr lang="zh-CN" altLang="en-US" b="1" dirty="0" smtClean="0">
                <a:latin typeface="微软雅黑" pitchFamily="34" charset="-122"/>
                <a:ea typeface="微软雅黑" pitchFamily="34" charset="-122"/>
              </a:rPr>
              <a:t>音乐</a:t>
            </a:r>
            <a:r>
              <a:rPr lang="zh-CN" altLang="en-US" b="1" dirty="0">
                <a:latin typeface="微软雅黑" pitchFamily="34" charset="-122"/>
                <a:ea typeface="微软雅黑" pitchFamily="34" charset="-122"/>
              </a:rPr>
              <a:t>文件的索引信息都集中存放</a:t>
            </a:r>
            <a:r>
              <a:rPr lang="zh-CN" altLang="en-US" b="1" dirty="0" smtClean="0">
                <a:latin typeface="微软雅黑" pitchFamily="34" charset="-122"/>
                <a:ea typeface="微软雅黑" pitchFamily="34" charset="-122"/>
              </a:rPr>
              <a:t>在 </a:t>
            </a:r>
            <a:r>
              <a:rPr lang="en-US" altLang="zh-CN" b="1" dirty="0" smtClean="0">
                <a:latin typeface="微软雅黑" pitchFamily="34" charset="-122"/>
                <a:ea typeface="微软雅黑" pitchFamily="34" charset="-122"/>
              </a:rPr>
              <a:t>Napster </a:t>
            </a:r>
            <a:r>
              <a:rPr lang="zh-CN" altLang="en-US" b="1" dirty="0" smtClean="0">
                <a:latin typeface="微软雅黑" pitchFamily="34" charset="-122"/>
                <a:ea typeface="微软雅黑" pitchFamily="34" charset="-122"/>
              </a:rPr>
              <a:t>目录</a:t>
            </a:r>
            <a:r>
              <a:rPr lang="zh-CN" altLang="en-US" b="1" dirty="0">
                <a:latin typeface="微软雅黑" pitchFamily="34" charset="-122"/>
                <a:ea typeface="微软雅黑" pitchFamily="34" charset="-122"/>
              </a:rPr>
              <a:t>服务器中</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285750" indent="-285750" algn="just"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用户</a:t>
            </a:r>
            <a:r>
              <a:rPr lang="zh-CN" altLang="en-US" b="1" dirty="0" smtClean="0">
                <a:latin typeface="微软雅黑" pitchFamily="34" charset="-122"/>
                <a:ea typeface="微软雅黑" pitchFamily="34" charset="-122"/>
              </a:rPr>
              <a:t>只要</a:t>
            </a:r>
            <a:r>
              <a:rPr lang="zh-CN" altLang="en-US" b="1" dirty="0">
                <a:latin typeface="微软雅黑" pitchFamily="34" charset="-122"/>
                <a:ea typeface="微软雅黑" pitchFamily="34" charset="-122"/>
              </a:rPr>
              <a:t>查找目录服务器，就可知道应从何处下载所要</a:t>
            </a:r>
            <a:r>
              <a:rPr lang="zh-CN" altLang="en-US" b="1" dirty="0" smtClean="0">
                <a:latin typeface="微软雅黑" pitchFamily="34" charset="-122"/>
                <a:ea typeface="微软雅黑" pitchFamily="34" charset="-122"/>
              </a:rPr>
              <a:t>的 </a:t>
            </a:r>
            <a:r>
              <a:rPr lang="en-US" altLang="zh-CN" b="1" dirty="0" smtClean="0">
                <a:latin typeface="微软雅黑" pitchFamily="34" charset="-122"/>
                <a:ea typeface="微软雅黑" pitchFamily="34" charset="-122"/>
              </a:rPr>
              <a:t>MP3 </a:t>
            </a:r>
            <a:r>
              <a:rPr lang="zh-CN" altLang="en-US" b="1" dirty="0" smtClean="0">
                <a:latin typeface="微软雅黑" pitchFamily="34" charset="-122"/>
                <a:ea typeface="微软雅黑" pitchFamily="34" charset="-122"/>
              </a:rPr>
              <a:t>文件</a:t>
            </a:r>
            <a:r>
              <a:rPr lang="zh-CN" altLang="en-US" b="1" dirty="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285750" indent="-285750" algn="just"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此外，</a:t>
            </a:r>
            <a:r>
              <a:rPr lang="en-US" altLang="zh-CN" b="1" dirty="0" smtClean="0">
                <a:latin typeface="微软雅黑" pitchFamily="34" charset="-122"/>
                <a:ea typeface="微软雅黑" pitchFamily="34" charset="-122"/>
              </a:rPr>
              <a:t>P2P</a:t>
            </a:r>
            <a:r>
              <a:rPr lang="zh-CN" altLang="en-US" b="1" dirty="0" smtClean="0">
                <a:latin typeface="微软雅黑" pitchFamily="34" charset="-122"/>
                <a:ea typeface="微软雅黑" pitchFamily="34" charset="-122"/>
              </a:rPr>
              <a:t>网络中用户可能会</a:t>
            </a:r>
            <a:r>
              <a:rPr lang="zh-CN" altLang="en-US" b="1" dirty="0" smtClean="0">
                <a:solidFill>
                  <a:srgbClr val="C00000"/>
                </a:solidFill>
                <a:latin typeface="微软雅黑" pitchFamily="34" charset="-122"/>
                <a:ea typeface="微软雅黑" pitchFamily="34" charset="-122"/>
              </a:rPr>
              <a:t>频繁上线下线</a:t>
            </a:r>
            <a:r>
              <a:rPr lang="zh-CN" altLang="en-US" b="1" dirty="0" smtClean="0">
                <a:latin typeface="微软雅黑" pitchFamily="34" charset="-122"/>
                <a:ea typeface="微软雅黑" pitchFamily="34" charset="-122"/>
              </a:rPr>
              <a:t>，为了保证信息的有效性，每个用户都要</a:t>
            </a:r>
            <a:r>
              <a:rPr lang="zh-CN" altLang="en-US" b="1" dirty="0">
                <a:latin typeface="微软雅黑" pitchFamily="34" charset="-122"/>
                <a:ea typeface="微软雅黑" pitchFamily="34" charset="-122"/>
              </a:rPr>
              <a:t>及时向 </a:t>
            </a:r>
            <a:r>
              <a:rPr lang="en-US" altLang="zh-CN" b="1" dirty="0">
                <a:latin typeface="微软雅黑" pitchFamily="34" charset="-122"/>
                <a:ea typeface="微软雅黑" pitchFamily="34" charset="-122"/>
              </a:rPr>
              <a:t>Napster </a:t>
            </a:r>
            <a:r>
              <a:rPr lang="zh-CN" altLang="en-US" b="1" dirty="0" smtClean="0">
                <a:latin typeface="微软雅黑" pitchFamily="34" charset="-122"/>
                <a:ea typeface="微软雅黑" pitchFamily="34" charset="-122"/>
              </a:rPr>
              <a:t>目录</a:t>
            </a:r>
            <a:r>
              <a:rPr lang="zh-CN" altLang="en-US" b="1" dirty="0">
                <a:latin typeface="微软雅黑" pitchFamily="34" charset="-122"/>
                <a:ea typeface="微软雅黑" pitchFamily="34" charset="-122"/>
              </a:rPr>
              <a:t>服务器报告</a:t>
            </a:r>
            <a:r>
              <a:rPr lang="zh-CN" altLang="en-US" b="1" dirty="0" smtClean="0">
                <a:latin typeface="微软雅黑" pitchFamily="34" charset="-122"/>
                <a:ea typeface="微软雅黑" pitchFamily="34" charset="-122"/>
              </a:rPr>
              <a:t>自己的</a:t>
            </a:r>
            <a:r>
              <a:rPr lang="zh-CN" altLang="en-US" b="1" dirty="0" smtClean="0">
                <a:solidFill>
                  <a:srgbClr val="C00000"/>
                </a:solidFill>
                <a:latin typeface="微软雅黑" pitchFamily="34" charset="-122"/>
                <a:ea typeface="微软雅黑" pitchFamily="34" charset="-122"/>
              </a:rPr>
              <a:t>在线信息和共享的</a:t>
            </a:r>
            <a:r>
              <a:rPr lang="zh-CN" altLang="en-US" b="1" dirty="0">
                <a:solidFill>
                  <a:srgbClr val="C00000"/>
                </a:solidFill>
                <a:latin typeface="微软雅黑" pitchFamily="34" charset="-122"/>
                <a:ea typeface="微软雅黑" pitchFamily="34" charset="-122"/>
              </a:rPr>
              <a:t>音乐文件</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285750" indent="-285750" algn="just"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查找到哪个用户具有感兴趣的文件后，用户就直接从该用户处下载文件。</a:t>
            </a:r>
            <a:endParaRPr lang="en-US" altLang="zh-CN" b="1" dirty="0" smtClean="0">
              <a:latin typeface="微软雅黑" pitchFamily="34" charset="-122"/>
              <a:ea typeface="微软雅黑" pitchFamily="34" charset="-122"/>
            </a:endParaRPr>
          </a:p>
          <a:p>
            <a:pPr marL="285750" indent="-285750" algn="just"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Napster </a:t>
            </a:r>
            <a:r>
              <a:rPr lang="zh-CN" altLang="en-US" b="1" dirty="0" smtClean="0">
                <a:latin typeface="微软雅黑" pitchFamily="34" charset="-122"/>
                <a:ea typeface="微软雅黑" pitchFamily="34" charset="-122"/>
              </a:rPr>
              <a:t>文件</a:t>
            </a:r>
            <a:r>
              <a:rPr lang="zh-CN" altLang="en-US" b="1" dirty="0">
                <a:latin typeface="微软雅黑" pitchFamily="34" charset="-122"/>
                <a:ea typeface="微软雅黑" pitchFamily="34" charset="-122"/>
              </a:rPr>
              <a:t>传输是</a:t>
            </a:r>
            <a:r>
              <a:rPr lang="zh-CN" altLang="en-US" b="1" dirty="0">
                <a:solidFill>
                  <a:srgbClr val="C00000"/>
                </a:solidFill>
                <a:latin typeface="微软雅黑" pitchFamily="34" charset="-122"/>
                <a:ea typeface="微软雅黑" pitchFamily="34" charset="-122"/>
              </a:rPr>
              <a:t>分散</a:t>
            </a:r>
            <a:r>
              <a:rPr lang="zh-CN" altLang="en-US" b="1" dirty="0">
                <a:latin typeface="微软雅黑" pitchFamily="34" charset="-122"/>
                <a:ea typeface="微软雅黑" pitchFamily="34" charset="-122"/>
              </a:rPr>
              <a:t>的</a:t>
            </a:r>
            <a:r>
              <a:rPr lang="zh-CN" altLang="en-US" b="1" dirty="0" smtClean="0">
                <a:latin typeface="微软雅黑" pitchFamily="34" charset="-122"/>
                <a:ea typeface="微软雅黑" pitchFamily="34" charset="-122"/>
              </a:rPr>
              <a:t>，文件定位</a:t>
            </a:r>
            <a:r>
              <a:rPr lang="zh-CN" altLang="en-US" b="1" dirty="0">
                <a:latin typeface="微软雅黑" pitchFamily="34" charset="-122"/>
                <a:ea typeface="微软雅黑" pitchFamily="34" charset="-122"/>
              </a:rPr>
              <a:t>则是</a:t>
            </a:r>
            <a:r>
              <a:rPr lang="zh-CN" altLang="en-US" b="1" dirty="0">
                <a:solidFill>
                  <a:srgbClr val="C00000"/>
                </a:solidFill>
                <a:latin typeface="微软雅黑" pitchFamily="34" charset="-122"/>
                <a:ea typeface="微软雅黑" pitchFamily="34" charset="-122"/>
              </a:rPr>
              <a:t>集中</a:t>
            </a:r>
            <a:r>
              <a:rPr lang="zh-CN" altLang="en-US" b="1" dirty="0">
                <a:latin typeface="微软雅黑" pitchFamily="34" charset="-122"/>
                <a:ea typeface="微软雅黑" pitchFamily="34" charset="-122"/>
              </a:rPr>
              <a:t>的</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pic>
        <p:nvPicPr>
          <p:cNvPr id="8" name="Picture 2" descr="See the source image">
            <a:extLst>
              <a:ext uri="{FF2B5EF4-FFF2-40B4-BE49-F238E27FC236}">
                <a16:creationId xmlns:a16="http://schemas.microsoft.com/office/drawing/2014/main" id="{4070B34E-FDE7-4C38-911D-546EC3FC764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56958" y="3952649"/>
            <a:ext cx="2010608" cy="53563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See the source image">
            <a:extLst>
              <a:ext uri="{FF2B5EF4-FFF2-40B4-BE49-F238E27FC236}">
                <a16:creationId xmlns:a16="http://schemas.microsoft.com/office/drawing/2014/main" id="{AE646991-6A42-4054-8D1F-1B489FF76A1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13717" y="1077860"/>
            <a:ext cx="1589707" cy="1377746"/>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pic>
        <p:nvPicPr>
          <p:cNvPr id="10" name="Picture 6" descr="See the source image">
            <a:extLst>
              <a:ext uri="{FF2B5EF4-FFF2-40B4-BE49-F238E27FC236}">
                <a16:creationId xmlns:a16="http://schemas.microsoft.com/office/drawing/2014/main" id="{E471C859-4C46-42AF-A996-4FA0E1E540D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913717" y="2582765"/>
            <a:ext cx="1697091" cy="1229694"/>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sp>
        <p:nvSpPr>
          <p:cNvPr id="7" name="文本占位符 6"/>
          <p:cNvSpPr>
            <a:spLocks noGrp="1"/>
          </p:cNvSpPr>
          <p:nvPr>
            <p:ph type="body" sz="quarter" idx="11"/>
          </p:nvPr>
        </p:nvSpPr>
        <p:spPr/>
        <p:txBody>
          <a:bodyPr/>
          <a:lstStyle/>
          <a:p>
            <a:r>
              <a:rPr lang="zh-CN" altLang="en-US" dirty="0"/>
              <a:t>具有集中目录服务器的 </a:t>
            </a:r>
            <a:r>
              <a:rPr lang="en-US" altLang="zh-CN" dirty="0"/>
              <a:t>P2P </a:t>
            </a:r>
            <a:r>
              <a:rPr lang="zh-CN" altLang="en-US" dirty="0"/>
              <a:t>工作</a:t>
            </a:r>
            <a:r>
              <a:rPr lang="zh-CN" altLang="en-US" dirty="0" smtClean="0"/>
              <a:t>方式</a:t>
            </a:r>
            <a:endParaRPr lang="zh-CN" altLang="en-US" dirty="0"/>
          </a:p>
        </p:txBody>
      </p:sp>
    </p:spTree>
    <p:custDataLst>
      <p:tags r:id="rId1"/>
    </p:custDataLst>
    <p:extLst>
      <p:ext uri="{BB962C8B-B14F-4D97-AF65-F5344CB8AC3E}">
        <p14:creationId xmlns:p14="http://schemas.microsoft.com/office/powerpoint/2010/main" val="31526011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animEffect transition="in" filter="fade">
                                      <p:cBhvr>
                                        <p:cTn id="22"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96164" y="581236"/>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Napster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工作过程</a:t>
            </a:r>
          </a:p>
        </p:txBody>
      </p:sp>
      <p:sp>
        <p:nvSpPr>
          <p:cNvPr id="5" name="圆角矩形 4"/>
          <p:cNvSpPr/>
          <p:nvPr/>
        </p:nvSpPr>
        <p:spPr>
          <a:xfrm>
            <a:off x="714703" y="1031527"/>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nvPr>
        </p:nvGraphicFramePr>
        <p:xfrm>
          <a:off x="3824332" y="1986319"/>
          <a:ext cx="575345" cy="1000249"/>
        </p:xfrm>
        <a:graphic>
          <a:graphicData uri="http://schemas.openxmlformats.org/presentationml/2006/ole">
            <mc:AlternateContent xmlns:mc="http://schemas.openxmlformats.org/markup-compatibility/2006">
              <mc:Choice xmlns:v="urn:schemas-microsoft-com:vml" Requires="v">
                <p:oleObj spid="_x0000_s25623" name="Microsoft ClipArt Gallery" r:id="rId4" imgW="2735263" imgH="3825875" progId="">
                  <p:embed/>
                </p:oleObj>
              </mc:Choice>
              <mc:Fallback>
                <p:oleObj name="Microsoft ClipArt Gallery" r:id="rId4" imgW="2735263" imgH="3825875" progId="">
                  <p:embed/>
                  <p:pic>
                    <p:nvPicPr>
                      <p:cNvPr id="8" name="Object 5">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332"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 name="Text Box 6"/>
          <p:cNvSpPr txBox="1">
            <a:spLocks noChangeArrowheads="1"/>
          </p:cNvSpPr>
          <p:nvPr/>
        </p:nvSpPr>
        <p:spPr bwMode="auto">
          <a:xfrm>
            <a:off x="4059389" y="1525201"/>
            <a:ext cx="1493550" cy="523220"/>
          </a:xfrm>
          <a:prstGeom prst="rect">
            <a:avLst/>
          </a:prstGeom>
          <a:noFill/>
          <a:ln w="9525">
            <a:noFill/>
            <a:miter lim="800000"/>
            <a:headEnd/>
            <a:tailEnd/>
          </a:ln>
        </p:spPr>
        <p:txBody>
          <a:bodyPr wrap="none">
            <a:spAutoFit/>
          </a:bodyPr>
          <a:lstStyle/>
          <a:p>
            <a:pPr algn="ctr"/>
            <a:r>
              <a:rPr kumimoji="1" lang="en-US" altLang="zh-CN" sz="1400" b="1" dirty="0" smtClean="0">
                <a:latin typeface="微软雅黑" pitchFamily="34" charset="-122"/>
                <a:ea typeface="微软雅黑" pitchFamily="34" charset="-122"/>
                <a:cs typeface="Times New Roman" pitchFamily="18" charset="0"/>
              </a:rPr>
              <a:t>Napster </a:t>
            </a:r>
            <a:r>
              <a:rPr kumimoji="1" lang="zh-CN" altLang="en-US" sz="1400" b="1" dirty="0" smtClean="0">
                <a:latin typeface="微软雅黑" pitchFamily="34" charset="-122"/>
                <a:ea typeface="微软雅黑" pitchFamily="34" charset="-122"/>
                <a:cs typeface="Times New Roman" pitchFamily="18" charset="0"/>
              </a:rPr>
              <a:t>集中式</a:t>
            </a:r>
            <a:endParaRPr kumimoji="1" lang="zh-CN" altLang="en-US" sz="1400" b="1" dirty="0">
              <a:latin typeface="微软雅黑" pitchFamily="34" charset="-122"/>
              <a:ea typeface="微软雅黑" pitchFamily="34" charset="-122"/>
              <a:cs typeface="Times New Roman" pitchFamily="18" charset="0"/>
            </a:endParaRPr>
          </a:p>
          <a:p>
            <a:pPr algn="ctr"/>
            <a:r>
              <a:rPr kumimoji="1" lang="zh-CN" altLang="en-US" sz="1400" b="1" dirty="0" smtClean="0">
                <a:latin typeface="微软雅黑" pitchFamily="34" charset="-122"/>
                <a:ea typeface="微软雅黑" pitchFamily="34" charset="-122"/>
                <a:cs typeface="Times New Roman" pitchFamily="18" charset="0"/>
              </a:rPr>
              <a:t>目录服务器</a:t>
            </a:r>
            <a:endParaRPr kumimoji="1" lang="zh-CN" altLang="en-US" sz="1400" b="1" dirty="0">
              <a:latin typeface="微软雅黑" pitchFamily="34" charset="-122"/>
              <a:ea typeface="微软雅黑" pitchFamily="34" charset="-122"/>
              <a:cs typeface="Times New Roman" pitchFamily="18" charset="0"/>
            </a:endParaRPr>
          </a:p>
        </p:txBody>
      </p:sp>
      <p:pic>
        <p:nvPicPr>
          <p:cNvPr id="10" name="Picture 9"/>
          <p:cNvPicPr>
            <a:picLocks noChangeArrowheads="1"/>
          </p:cNvPicPr>
          <p:nvPr/>
        </p:nvPicPr>
        <p:blipFill>
          <a:blip r:embed="rId6" cstate="print"/>
          <a:srcRect/>
          <a:stretch>
            <a:fillRect/>
          </a:stretch>
        </p:blipFill>
        <p:spPr bwMode="auto">
          <a:xfrm>
            <a:off x="5796446" y="1215251"/>
            <a:ext cx="432469" cy="427137"/>
          </a:xfrm>
          <a:prstGeom prst="rect">
            <a:avLst/>
          </a:prstGeom>
          <a:noFill/>
          <a:ln w="9525">
            <a:noFill/>
            <a:miter lim="800000"/>
            <a:headEnd/>
            <a:tailEnd/>
          </a:ln>
        </p:spPr>
      </p:pic>
      <p:sp>
        <p:nvSpPr>
          <p:cNvPr id="11" name="Text Box 13"/>
          <p:cNvSpPr txBox="1">
            <a:spLocks noChangeArrowheads="1"/>
          </p:cNvSpPr>
          <p:nvPr/>
        </p:nvSpPr>
        <p:spPr bwMode="auto">
          <a:xfrm>
            <a:off x="7064692"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6" cstate="print"/>
          <a:srcRect/>
          <a:stretch>
            <a:fillRect/>
          </a:stretch>
        </p:blipFill>
        <p:spPr bwMode="auto">
          <a:xfrm>
            <a:off x="6920676" y="1431275"/>
            <a:ext cx="432469" cy="427137"/>
          </a:xfrm>
          <a:prstGeom prst="rect">
            <a:avLst/>
          </a:prstGeom>
          <a:noFill/>
          <a:ln w="9525">
            <a:noFill/>
            <a:miter lim="800000"/>
            <a:headEnd/>
            <a:tailEnd/>
          </a:ln>
        </p:spPr>
      </p:pic>
      <p:pic>
        <p:nvPicPr>
          <p:cNvPr id="13" name="Picture 9"/>
          <p:cNvPicPr>
            <a:picLocks noChangeArrowheads="1"/>
          </p:cNvPicPr>
          <p:nvPr/>
        </p:nvPicPr>
        <p:blipFill>
          <a:blip r:embed="rId6" cstate="print"/>
          <a:srcRect/>
          <a:stretch>
            <a:fillRect/>
          </a:stretch>
        </p:blipFill>
        <p:spPr bwMode="auto">
          <a:xfrm>
            <a:off x="7640756" y="2490375"/>
            <a:ext cx="432469" cy="427137"/>
          </a:xfrm>
          <a:prstGeom prst="rect">
            <a:avLst/>
          </a:prstGeom>
          <a:noFill/>
          <a:ln w="9525">
            <a:noFill/>
            <a:miter lim="800000"/>
            <a:headEnd/>
            <a:tailEnd/>
          </a:ln>
        </p:spPr>
      </p:pic>
      <p:pic>
        <p:nvPicPr>
          <p:cNvPr id="14" name="Picture 9"/>
          <p:cNvPicPr>
            <a:picLocks noChangeArrowheads="1"/>
          </p:cNvPicPr>
          <p:nvPr/>
        </p:nvPicPr>
        <p:blipFill>
          <a:blip r:embed="rId6" cstate="print"/>
          <a:srcRect/>
          <a:stretch>
            <a:fillRect/>
          </a:stretch>
        </p:blipFill>
        <p:spPr bwMode="auto">
          <a:xfrm>
            <a:off x="6776660" y="3282463"/>
            <a:ext cx="432469" cy="427137"/>
          </a:xfrm>
          <a:prstGeom prst="rect">
            <a:avLst/>
          </a:prstGeom>
          <a:noFill/>
          <a:ln w="9525">
            <a:noFill/>
            <a:miter lim="800000"/>
            <a:headEnd/>
            <a:tailEnd/>
          </a:ln>
        </p:spPr>
      </p:pic>
      <p:pic>
        <p:nvPicPr>
          <p:cNvPr id="15" name="Picture 9"/>
          <p:cNvPicPr>
            <a:picLocks noChangeArrowheads="1"/>
          </p:cNvPicPr>
          <p:nvPr/>
        </p:nvPicPr>
        <p:blipFill>
          <a:blip r:embed="rId6" cstate="print"/>
          <a:srcRect/>
          <a:stretch>
            <a:fillRect/>
          </a:stretch>
        </p:blipFill>
        <p:spPr bwMode="auto">
          <a:xfrm>
            <a:off x="5048468" y="3619921"/>
            <a:ext cx="432469" cy="427137"/>
          </a:xfrm>
          <a:prstGeom prst="rect">
            <a:avLst/>
          </a:prstGeom>
          <a:noFill/>
          <a:ln w="9525">
            <a:noFill/>
            <a:miter lim="800000"/>
            <a:headEnd/>
            <a:tailEnd/>
          </a:ln>
        </p:spPr>
      </p:pic>
      <p:pic>
        <p:nvPicPr>
          <p:cNvPr id="16" name="Picture 9"/>
          <p:cNvPicPr>
            <a:picLocks noChangeArrowheads="1"/>
          </p:cNvPicPr>
          <p:nvPr/>
        </p:nvPicPr>
        <p:blipFill>
          <a:blip r:embed="rId6" cstate="print"/>
          <a:srcRect/>
          <a:stretch>
            <a:fillRect/>
          </a:stretch>
        </p:blipFill>
        <p:spPr bwMode="auto">
          <a:xfrm>
            <a:off x="3932556" y="3393387"/>
            <a:ext cx="432469" cy="427137"/>
          </a:xfrm>
          <a:prstGeom prst="rect">
            <a:avLst/>
          </a:prstGeom>
          <a:noFill/>
          <a:ln w="9525">
            <a:noFill/>
            <a:miter lim="800000"/>
            <a:headEnd/>
            <a:tailEnd/>
          </a:ln>
        </p:spPr>
      </p:pic>
      <p:sp>
        <p:nvSpPr>
          <p:cNvPr id="17" name="Text Box 13"/>
          <p:cNvSpPr txBox="1">
            <a:spLocks noChangeArrowheads="1"/>
          </p:cNvSpPr>
          <p:nvPr/>
        </p:nvSpPr>
        <p:spPr bwMode="auto">
          <a:xfrm>
            <a:off x="5408508" y="3619921"/>
            <a:ext cx="28886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C</a:t>
            </a:r>
            <a:endParaRPr lang="en-US" altLang="zh-CN" sz="1200" b="1" dirty="0">
              <a:latin typeface="微软雅黑" pitchFamily="34" charset="-122"/>
              <a:ea typeface="微软雅黑" pitchFamily="34" charset="-122"/>
              <a:cs typeface="Times New Roman" pitchFamily="18" charset="0"/>
            </a:endParaRPr>
          </a:p>
        </p:txBody>
      </p:sp>
      <p:sp>
        <p:nvSpPr>
          <p:cNvPr id="18" name="Text Box 13"/>
          <p:cNvSpPr txBox="1">
            <a:spLocks noChangeArrowheads="1"/>
          </p:cNvSpPr>
          <p:nvPr/>
        </p:nvSpPr>
        <p:spPr bwMode="auto">
          <a:xfrm>
            <a:off x="8000796" y="2490375"/>
            <a:ext cx="29046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B</a:t>
            </a:r>
            <a:endParaRPr lang="en-US" altLang="zh-CN" sz="1200" b="1" dirty="0">
              <a:latin typeface="微软雅黑" pitchFamily="34" charset="-122"/>
              <a:ea typeface="微软雅黑" pitchFamily="34" charset="-122"/>
              <a:cs typeface="Times New Roman" pitchFamily="18" charset="0"/>
            </a:endParaRPr>
          </a:p>
        </p:txBody>
      </p:sp>
      <p:sp>
        <p:nvSpPr>
          <p:cNvPr id="19" name="Text Box 13"/>
          <p:cNvSpPr txBox="1">
            <a:spLocks noChangeArrowheads="1"/>
          </p:cNvSpPr>
          <p:nvPr/>
        </p:nvSpPr>
        <p:spPr bwMode="auto">
          <a:xfrm>
            <a:off x="6156486" y="12152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
        <p:nvSpPr>
          <p:cNvPr id="26" name="TextBox 25"/>
          <p:cNvSpPr txBox="1"/>
          <p:nvPr/>
        </p:nvSpPr>
        <p:spPr>
          <a:xfrm>
            <a:off x="4256380" y="2791784"/>
            <a:ext cx="184731"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4" name="矩形 3"/>
          <p:cNvSpPr/>
          <p:nvPr/>
        </p:nvSpPr>
        <p:spPr>
          <a:xfrm>
            <a:off x="1176444" y="2176838"/>
            <a:ext cx="2536945" cy="2067233"/>
          </a:xfrm>
          <a:prstGeom prst="rect">
            <a:avLst/>
          </a:prstGeom>
          <a:solidFill>
            <a:srgbClr val="0070C0"/>
          </a:solidFill>
        </p:spPr>
        <p:txBody>
          <a:bodyPr wrap="square">
            <a:spAutoFit/>
          </a:bodyPr>
          <a:lstStyle/>
          <a:p>
            <a:pPr>
              <a:lnSpc>
                <a:spcPts val="2200"/>
              </a:lnSpc>
            </a:pPr>
            <a:r>
              <a:rPr lang="zh-CN" altLang="en-US" sz="1600" b="1" dirty="0" smtClean="0">
                <a:solidFill>
                  <a:schemeClr val="bg1"/>
                </a:solidFill>
                <a:latin typeface="微软雅黑" pitchFamily="34" charset="-122"/>
                <a:ea typeface="微软雅黑" pitchFamily="34" charset="-122"/>
              </a:rPr>
              <a:t>每个用户上线后，均向</a:t>
            </a:r>
            <a:r>
              <a:rPr lang="en-US" altLang="zh-CN" sz="1600" b="1" dirty="0" smtClean="0">
                <a:solidFill>
                  <a:schemeClr val="bg1"/>
                </a:solidFill>
                <a:latin typeface="微软雅黑" pitchFamily="34" charset="-122"/>
                <a:ea typeface="微软雅黑" pitchFamily="34" charset="-122"/>
              </a:rPr>
              <a:t>Napster</a:t>
            </a:r>
            <a:r>
              <a:rPr lang="zh-CN" altLang="en-US" sz="1600" b="1" dirty="0" smtClean="0">
                <a:solidFill>
                  <a:schemeClr val="bg1"/>
                </a:solidFill>
                <a:latin typeface="微软雅黑" pitchFamily="34" charset="-122"/>
                <a:ea typeface="微软雅黑" pitchFamily="34" charset="-122"/>
              </a:rPr>
              <a:t>集中式目录服务器上报自己的</a:t>
            </a:r>
            <a:r>
              <a:rPr lang="en-US" altLang="zh-CN" sz="1600" b="1" dirty="0" smtClean="0">
                <a:solidFill>
                  <a:schemeClr val="bg1"/>
                </a:solidFill>
                <a:latin typeface="微软雅黑" pitchFamily="34" charset="-122"/>
                <a:ea typeface="微软雅黑" pitchFamily="34" charset="-122"/>
              </a:rPr>
              <a:t>IP</a:t>
            </a:r>
            <a:r>
              <a:rPr lang="zh-CN" altLang="en-US" sz="1600" b="1" dirty="0" smtClean="0">
                <a:solidFill>
                  <a:schemeClr val="bg1"/>
                </a:solidFill>
                <a:latin typeface="微软雅黑" pitchFamily="34" charset="-122"/>
                <a:ea typeface="微软雅黑" pitchFamily="34" charset="-122"/>
              </a:rPr>
              <a:t>地址和共享的文件名。</a:t>
            </a:r>
            <a:endParaRPr lang="en-US" altLang="zh-CN" sz="1600" b="1" dirty="0" smtClean="0">
              <a:solidFill>
                <a:schemeClr val="bg1"/>
              </a:solidFill>
              <a:latin typeface="微软雅黑" pitchFamily="34" charset="-122"/>
              <a:ea typeface="微软雅黑" pitchFamily="34" charset="-122"/>
            </a:endParaRPr>
          </a:p>
          <a:p>
            <a:pPr>
              <a:lnSpc>
                <a:spcPts val="2200"/>
              </a:lnSpc>
            </a:pPr>
            <a:r>
              <a:rPr lang="en-US" altLang="zh-CN" sz="1600" b="1" dirty="0">
                <a:solidFill>
                  <a:schemeClr val="bg1"/>
                </a:solidFill>
                <a:latin typeface="微软雅黑" pitchFamily="34" charset="-122"/>
                <a:ea typeface="微软雅黑" pitchFamily="34" charset="-122"/>
              </a:rPr>
              <a:t>Napster</a:t>
            </a:r>
            <a:r>
              <a:rPr lang="zh-CN" altLang="en-US" sz="1600" b="1" dirty="0">
                <a:solidFill>
                  <a:schemeClr val="bg1"/>
                </a:solidFill>
                <a:latin typeface="微软雅黑" pitchFamily="34" charset="-122"/>
                <a:ea typeface="微软雅黑" pitchFamily="34" charset="-122"/>
              </a:rPr>
              <a:t>集中式目录</a:t>
            </a:r>
            <a:r>
              <a:rPr lang="zh-CN" altLang="en-US" sz="1600" b="1" dirty="0" smtClean="0">
                <a:solidFill>
                  <a:schemeClr val="bg1"/>
                </a:solidFill>
                <a:latin typeface="微软雅黑" pitchFamily="34" charset="-122"/>
                <a:ea typeface="微软雅黑" pitchFamily="34" charset="-122"/>
              </a:rPr>
              <a:t>服务器就维护了一个全网共享文件的信息。</a:t>
            </a:r>
            <a:endParaRPr lang="zh-CN" altLang="en-US" sz="1600" b="1" dirty="0">
              <a:solidFill>
                <a:schemeClr val="bg1"/>
              </a:solidFill>
              <a:latin typeface="微软雅黑" pitchFamily="34" charset="-122"/>
              <a:ea typeface="微软雅黑" pitchFamily="34" charset="-122"/>
            </a:endParaRPr>
          </a:p>
        </p:txBody>
      </p:sp>
      <p:sp>
        <p:nvSpPr>
          <p:cNvPr id="3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graphicFrame>
        <p:nvGraphicFramePr>
          <p:cNvPr id="36" name="表格 35"/>
          <p:cNvGraphicFramePr>
            <a:graphicFrameLocks noGrp="1"/>
          </p:cNvGraphicFramePr>
          <p:nvPr>
            <p:extLst/>
          </p:nvPr>
        </p:nvGraphicFramePr>
        <p:xfrm>
          <a:off x="2363873" y="1081211"/>
          <a:ext cx="1397793" cy="914400"/>
        </p:xfrm>
        <a:graphic>
          <a:graphicData uri="http://schemas.openxmlformats.org/drawingml/2006/table">
            <a:tbl>
              <a:tblPr firstRow="1" bandRow="1">
                <a:tableStyleId>{5C22544A-7EE6-4342-B048-85BDC9FD1C3A}</a:tableStyleId>
              </a:tblPr>
              <a:tblGrid>
                <a:gridCol w="666750">
                  <a:extLst>
                    <a:ext uri="{9D8B030D-6E8A-4147-A177-3AD203B41FA5}">
                      <a16:colId xmlns:a16="http://schemas.microsoft.com/office/drawing/2014/main" val="2945327033"/>
                    </a:ext>
                  </a:extLst>
                </a:gridCol>
                <a:gridCol w="731043">
                  <a:extLst>
                    <a:ext uri="{9D8B030D-6E8A-4147-A177-3AD203B41FA5}">
                      <a16:colId xmlns:a16="http://schemas.microsoft.com/office/drawing/2014/main" val="3734398820"/>
                    </a:ext>
                  </a:extLst>
                </a:gridCol>
              </a:tblGrid>
              <a:tr h="197548">
                <a:tc>
                  <a:txBody>
                    <a:bodyPr/>
                    <a:lstStyle/>
                    <a:p>
                      <a:pPr algn="ctr"/>
                      <a:r>
                        <a:rPr lang="zh-CN" altLang="en-US" sz="900" b="1" dirty="0" smtClean="0"/>
                        <a:t>文件名</a:t>
                      </a:r>
                      <a:endParaRPr lang="zh-CN" altLang="en-US" sz="900" b="1" dirty="0"/>
                    </a:p>
                  </a:txBody>
                  <a:tcPr anchor="ctr"/>
                </a:tc>
                <a:tc>
                  <a:txBody>
                    <a:bodyPr/>
                    <a:lstStyle/>
                    <a:p>
                      <a:pPr algn="ctr"/>
                      <a:r>
                        <a:rPr lang="zh-CN" altLang="en-US" sz="900" b="1" dirty="0" smtClean="0"/>
                        <a:t>主机</a:t>
                      </a:r>
                      <a:endParaRPr lang="zh-CN" altLang="en-US" sz="900" b="1" dirty="0"/>
                    </a:p>
                  </a:txBody>
                  <a:tcPr anchor="ctr"/>
                </a:tc>
                <a:extLst>
                  <a:ext uri="{0D108BD9-81ED-4DB2-BD59-A6C34878D82A}">
                    <a16:rowId xmlns:a16="http://schemas.microsoft.com/office/drawing/2014/main" val="2594795425"/>
                  </a:ext>
                </a:extLst>
              </a:tr>
              <a:tr h="197548">
                <a:tc>
                  <a:txBody>
                    <a:bodyPr/>
                    <a:lstStyle/>
                    <a:p>
                      <a:pPr algn="ctr"/>
                      <a:r>
                        <a:rPr lang="en-US" altLang="zh-CN" sz="900" b="1" dirty="0" smtClean="0"/>
                        <a:t>123.mp3</a:t>
                      </a:r>
                      <a:endParaRPr lang="zh-CN" altLang="en-US" sz="900" b="1" dirty="0"/>
                    </a:p>
                  </a:txBody>
                  <a:tcPr anchor="ctr"/>
                </a:tc>
                <a:tc>
                  <a:txBody>
                    <a:bodyPr/>
                    <a:lstStyle/>
                    <a:p>
                      <a:pPr algn="ctr"/>
                      <a:r>
                        <a:rPr lang="en-US" altLang="zh-CN" sz="900" b="1" dirty="0" smtClean="0"/>
                        <a:t>A</a:t>
                      </a:r>
                      <a:r>
                        <a:rPr lang="zh-CN" altLang="en-US" sz="900" b="1" dirty="0" smtClean="0"/>
                        <a:t>、</a:t>
                      </a:r>
                      <a:r>
                        <a:rPr lang="en-US" altLang="zh-CN" sz="900" b="1" dirty="0" smtClean="0"/>
                        <a:t>B</a:t>
                      </a:r>
                      <a:r>
                        <a:rPr lang="zh-CN" altLang="en-US" sz="900" b="1" dirty="0" smtClean="0"/>
                        <a:t>、</a:t>
                      </a:r>
                      <a:r>
                        <a:rPr lang="en-US" altLang="zh-CN" sz="900" b="1" dirty="0" smtClean="0"/>
                        <a:t>C</a:t>
                      </a:r>
                      <a:endParaRPr lang="zh-CN" altLang="en-US" sz="900" b="1" dirty="0"/>
                    </a:p>
                  </a:txBody>
                  <a:tcPr anchor="ctr"/>
                </a:tc>
                <a:extLst>
                  <a:ext uri="{0D108BD9-81ED-4DB2-BD59-A6C34878D82A}">
                    <a16:rowId xmlns:a16="http://schemas.microsoft.com/office/drawing/2014/main" val="2690180517"/>
                  </a:ext>
                </a:extLst>
              </a:tr>
              <a:tr h="197548">
                <a:tc>
                  <a:txBody>
                    <a:bodyPr/>
                    <a:lstStyle/>
                    <a:p>
                      <a:pPr algn="ctr"/>
                      <a:r>
                        <a:rPr lang="en-US" altLang="zh-CN" sz="900" b="1" dirty="0" smtClean="0"/>
                        <a:t>456.mp3</a:t>
                      </a:r>
                      <a:endParaRPr lang="zh-CN" altLang="en-US" sz="900" b="1" dirty="0"/>
                    </a:p>
                  </a:txBody>
                  <a:tcPr anchor="ctr"/>
                </a:tc>
                <a:tc>
                  <a:txBody>
                    <a:bodyPr/>
                    <a:lstStyle/>
                    <a:p>
                      <a:pPr algn="ctr"/>
                      <a:r>
                        <a:rPr lang="en-US" altLang="zh-CN" sz="900" b="1" dirty="0" smtClean="0"/>
                        <a:t>B</a:t>
                      </a:r>
                      <a:r>
                        <a:rPr lang="zh-CN" altLang="en-US" sz="900" b="1" dirty="0" smtClean="0"/>
                        <a:t>、</a:t>
                      </a:r>
                      <a:r>
                        <a:rPr lang="en-US" altLang="zh-CN" sz="900" b="1" dirty="0" smtClean="0"/>
                        <a:t>E</a:t>
                      </a:r>
                      <a:r>
                        <a:rPr lang="zh-CN" altLang="en-US" sz="900" b="1" dirty="0" smtClean="0"/>
                        <a:t>、</a:t>
                      </a:r>
                      <a:r>
                        <a:rPr lang="en-US" altLang="zh-CN" sz="900" b="1" dirty="0" smtClean="0"/>
                        <a:t>X</a:t>
                      </a:r>
                      <a:endParaRPr lang="zh-CN" altLang="en-US" sz="900" b="1" dirty="0"/>
                    </a:p>
                  </a:txBody>
                  <a:tcPr anchor="ctr"/>
                </a:tc>
                <a:extLst>
                  <a:ext uri="{0D108BD9-81ED-4DB2-BD59-A6C34878D82A}">
                    <a16:rowId xmlns:a16="http://schemas.microsoft.com/office/drawing/2014/main" val="4181579031"/>
                  </a:ext>
                </a:extLst>
              </a:tr>
              <a:tr h="207456">
                <a:tc>
                  <a:txBody>
                    <a:bodyPr/>
                    <a:lstStyle/>
                    <a:p>
                      <a:pPr algn="ctr"/>
                      <a:r>
                        <a:rPr lang="en-US" altLang="zh-CN" sz="900" b="1" dirty="0" smtClean="0"/>
                        <a:t>…</a:t>
                      </a:r>
                      <a:endParaRPr lang="zh-CN" altLang="en-US" sz="900" b="1" dirty="0"/>
                    </a:p>
                  </a:txBody>
                  <a:tcPr anchor="ctr"/>
                </a:tc>
                <a:tc>
                  <a:txBody>
                    <a:bodyPr/>
                    <a:lstStyle/>
                    <a:p>
                      <a:pPr algn="ctr"/>
                      <a:r>
                        <a:rPr lang="en-US" altLang="zh-CN" sz="900" b="1" dirty="0" smtClean="0"/>
                        <a:t>…</a:t>
                      </a:r>
                      <a:endParaRPr lang="zh-CN" altLang="en-US" sz="900" b="1" dirty="0"/>
                    </a:p>
                  </a:txBody>
                  <a:tcPr anchor="ctr"/>
                </a:tc>
                <a:extLst>
                  <a:ext uri="{0D108BD9-81ED-4DB2-BD59-A6C34878D82A}">
                    <a16:rowId xmlns:a16="http://schemas.microsoft.com/office/drawing/2014/main" val="2958042793"/>
                  </a:ext>
                </a:extLst>
              </a:tr>
            </a:tbl>
          </a:graphicData>
        </a:graphic>
      </p:graphicFrame>
      <p:sp>
        <p:nvSpPr>
          <p:cNvPr id="37" name="Text Box 13"/>
          <p:cNvSpPr txBox="1">
            <a:spLocks noChangeArrowheads="1"/>
          </p:cNvSpPr>
          <p:nvPr/>
        </p:nvSpPr>
        <p:spPr bwMode="auto">
          <a:xfrm>
            <a:off x="7375335" y="1520694"/>
            <a:ext cx="30649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D</a:t>
            </a:r>
            <a:endParaRPr lang="en-US" altLang="zh-CN" sz="1200" b="1" dirty="0">
              <a:latin typeface="微软雅黑" pitchFamily="34" charset="-122"/>
              <a:ea typeface="微软雅黑" pitchFamily="34" charset="-122"/>
              <a:cs typeface="Times New Roman" pitchFamily="18" charset="0"/>
            </a:endParaRPr>
          </a:p>
        </p:txBody>
      </p:sp>
      <p:sp>
        <p:nvSpPr>
          <p:cNvPr id="38" name="Text Box 13"/>
          <p:cNvSpPr txBox="1">
            <a:spLocks noChangeArrowheads="1"/>
          </p:cNvSpPr>
          <p:nvPr/>
        </p:nvSpPr>
        <p:spPr bwMode="auto">
          <a:xfrm>
            <a:off x="4069702" y="3823651"/>
            <a:ext cx="27283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E</a:t>
            </a:r>
            <a:endParaRPr lang="en-US" altLang="zh-CN" sz="1200" b="1" dirty="0">
              <a:latin typeface="微软雅黑" pitchFamily="34" charset="-122"/>
              <a:ea typeface="微软雅黑" pitchFamily="34" charset="-122"/>
              <a:cs typeface="Times New Roman" pitchFamily="18" charset="0"/>
            </a:endParaRPr>
          </a:p>
        </p:txBody>
      </p:sp>
      <p:grpSp>
        <p:nvGrpSpPr>
          <p:cNvPr id="40" name="Group 188"/>
          <p:cNvGrpSpPr>
            <a:grpSpLocks/>
          </p:cNvGrpSpPr>
          <p:nvPr/>
        </p:nvGrpSpPr>
        <p:grpSpPr bwMode="auto">
          <a:xfrm>
            <a:off x="4677045" y="1929087"/>
            <a:ext cx="2755313" cy="1346822"/>
            <a:chOff x="1719" y="1709"/>
            <a:chExt cx="1775" cy="1123"/>
          </a:xfrm>
        </p:grpSpPr>
        <p:sp>
          <p:nvSpPr>
            <p:cNvPr id="120" name="Oval 189"/>
            <p:cNvSpPr>
              <a:spLocks noChangeArrowheads="1"/>
            </p:cNvSpPr>
            <p:nvPr/>
          </p:nvSpPr>
          <p:spPr bwMode="auto">
            <a:xfrm>
              <a:off x="2109" y="1709"/>
              <a:ext cx="736"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121" name="Oval 190"/>
            <p:cNvSpPr>
              <a:spLocks noChangeArrowheads="1"/>
            </p:cNvSpPr>
            <p:nvPr/>
          </p:nvSpPr>
          <p:spPr bwMode="auto">
            <a:xfrm>
              <a:off x="2542" y="1752"/>
              <a:ext cx="692" cy="346"/>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122" name="Oval 191"/>
            <p:cNvSpPr>
              <a:spLocks noChangeArrowheads="1"/>
            </p:cNvSpPr>
            <p:nvPr/>
          </p:nvSpPr>
          <p:spPr bwMode="auto">
            <a:xfrm>
              <a:off x="2715" y="1925"/>
              <a:ext cx="692"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123" name="Oval 192"/>
            <p:cNvSpPr>
              <a:spLocks noChangeArrowheads="1"/>
            </p:cNvSpPr>
            <p:nvPr/>
          </p:nvSpPr>
          <p:spPr bwMode="auto">
            <a:xfrm>
              <a:off x="2801" y="2141"/>
              <a:ext cx="693" cy="51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124" name="Oval 193"/>
            <p:cNvSpPr>
              <a:spLocks noChangeArrowheads="1"/>
            </p:cNvSpPr>
            <p:nvPr/>
          </p:nvSpPr>
          <p:spPr bwMode="auto">
            <a:xfrm>
              <a:off x="2412" y="2270"/>
              <a:ext cx="692" cy="562"/>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125" name="Oval 194"/>
            <p:cNvSpPr>
              <a:spLocks noChangeArrowheads="1"/>
            </p:cNvSpPr>
            <p:nvPr/>
          </p:nvSpPr>
          <p:spPr bwMode="auto">
            <a:xfrm>
              <a:off x="1935" y="2141"/>
              <a:ext cx="693" cy="64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126" name="Oval 195"/>
            <p:cNvSpPr>
              <a:spLocks noChangeArrowheads="1"/>
            </p:cNvSpPr>
            <p:nvPr/>
          </p:nvSpPr>
          <p:spPr bwMode="auto">
            <a:xfrm>
              <a:off x="1719" y="1838"/>
              <a:ext cx="693" cy="60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127" name="Freeform 196"/>
            <p:cNvSpPr>
              <a:spLocks/>
            </p:cNvSpPr>
            <p:nvPr/>
          </p:nvSpPr>
          <p:spPr bwMode="auto">
            <a:xfrm>
              <a:off x="1893" y="1753"/>
              <a:ext cx="1470" cy="1037"/>
            </a:xfrm>
            <a:custGeom>
              <a:avLst/>
              <a:gdLst>
                <a:gd name="T0" fmla="*/ 8 w 1632"/>
                <a:gd name="T1" fmla="*/ 30 h 1152"/>
                <a:gd name="T2" fmla="*/ 59 w 1632"/>
                <a:gd name="T3" fmla="*/ 8 h 1152"/>
                <a:gd name="T4" fmla="*/ 102 w 1632"/>
                <a:gd name="T5" fmla="*/ 0 h 1152"/>
                <a:gd name="T6" fmla="*/ 190 w 1632"/>
                <a:gd name="T7" fmla="*/ 8 h 1152"/>
                <a:gd name="T8" fmla="*/ 219 w 1632"/>
                <a:gd name="T9" fmla="*/ 22 h 1152"/>
                <a:gd name="T10" fmla="*/ 234 w 1632"/>
                <a:gd name="T11" fmla="*/ 50 h 1152"/>
                <a:gd name="T12" fmla="*/ 249 w 1632"/>
                <a:gd name="T13" fmla="*/ 58 h 1152"/>
                <a:gd name="T14" fmla="*/ 234 w 1632"/>
                <a:gd name="T15" fmla="*/ 137 h 1152"/>
                <a:gd name="T16" fmla="*/ 139 w 1632"/>
                <a:gd name="T17" fmla="*/ 174 h 1152"/>
                <a:gd name="T18" fmla="*/ 44 w 1632"/>
                <a:gd name="T19" fmla="*/ 145 h 1152"/>
                <a:gd name="T20" fmla="*/ 14 w 1632"/>
                <a:gd name="T21" fmla="*/ 115 h 1152"/>
                <a:gd name="T22" fmla="*/ 0 w 1632"/>
                <a:gd name="T23" fmla="*/ 109 h 1152"/>
                <a:gd name="T24" fmla="*/ 8 w 1632"/>
                <a:gd name="T25" fmla="*/ 30 h 1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2" h="1152">
                  <a:moveTo>
                    <a:pt x="48" y="192"/>
                  </a:moveTo>
                  <a:lnTo>
                    <a:pt x="384" y="48"/>
                  </a:lnTo>
                  <a:lnTo>
                    <a:pt x="672" y="0"/>
                  </a:lnTo>
                  <a:lnTo>
                    <a:pt x="1248" y="48"/>
                  </a:lnTo>
                  <a:lnTo>
                    <a:pt x="1440" y="144"/>
                  </a:lnTo>
                  <a:lnTo>
                    <a:pt x="1536" y="336"/>
                  </a:lnTo>
                  <a:lnTo>
                    <a:pt x="1632" y="384"/>
                  </a:lnTo>
                  <a:lnTo>
                    <a:pt x="1536" y="912"/>
                  </a:lnTo>
                  <a:lnTo>
                    <a:pt x="912" y="1152"/>
                  </a:lnTo>
                  <a:lnTo>
                    <a:pt x="288" y="960"/>
                  </a:lnTo>
                  <a:lnTo>
                    <a:pt x="96" y="768"/>
                  </a:lnTo>
                  <a:lnTo>
                    <a:pt x="0" y="720"/>
                  </a:lnTo>
                  <a:lnTo>
                    <a:pt x="48" y="192"/>
                  </a:lnTo>
                  <a:close/>
                </a:path>
              </a:pathLst>
            </a:custGeom>
            <a:solidFill>
              <a:srgbClr val="CC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5" name="Text Box 275"/>
          <p:cNvSpPr txBox="1">
            <a:spLocks noChangeArrowheads="1"/>
          </p:cNvSpPr>
          <p:nvPr/>
        </p:nvSpPr>
        <p:spPr bwMode="auto">
          <a:xfrm>
            <a:off x="5547446" y="2369078"/>
            <a:ext cx="1032141" cy="30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r>
              <a:rPr kumimoji="1" lang="zh-CN" altLang="en-US" sz="1400" b="1" dirty="0">
                <a:latin typeface="微软雅黑" pitchFamily="34" charset="-122"/>
                <a:ea typeface="微软雅黑" pitchFamily="34" charset="-122"/>
                <a:cs typeface="Times New Roman" pitchFamily="18" charset="0"/>
              </a:rPr>
              <a:t>互联网</a:t>
            </a:r>
            <a:endParaRPr kumimoji="1" lang="en-US" altLang="zh-CN" sz="1400" b="1" dirty="0">
              <a:latin typeface="微软雅黑" pitchFamily="34" charset="-122"/>
              <a:ea typeface="微软雅黑" pitchFamily="34" charset="-122"/>
              <a:cs typeface="Times New Roman" pitchFamily="18" charset="0"/>
            </a:endParaRPr>
          </a:p>
        </p:txBody>
      </p:sp>
      <p:cxnSp>
        <p:nvCxnSpPr>
          <p:cNvPr id="129" name="直接连接符 128"/>
          <p:cNvCxnSpPr>
            <a:stCxn id="16" idx="3"/>
            <a:endCxn id="125" idx="3"/>
          </p:cNvCxnSpPr>
          <p:nvPr/>
        </p:nvCxnSpPr>
        <p:spPr>
          <a:xfrm flipV="1">
            <a:off x="4365025" y="3110528"/>
            <a:ext cx="804852" cy="496428"/>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a:stCxn id="8" idx="3"/>
            <a:endCxn id="126" idx="2"/>
          </p:cNvCxnSpPr>
          <p:nvPr/>
        </p:nvCxnSpPr>
        <p:spPr>
          <a:xfrm flipV="1">
            <a:off x="4399677" y="2446589"/>
            <a:ext cx="277368" cy="3985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a:stCxn id="15" idx="0"/>
            <a:endCxn id="125" idx="4"/>
          </p:cNvCxnSpPr>
          <p:nvPr/>
        </p:nvCxnSpPr>
        <p:spPr>
          <a:xfrm flipV="1">
            <a:off x="5264703" y="3224339"/>
            <a:ext cx="285504" cy="39558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a:stCxn id="14" idx="1"/>
            <a:endCxn id="124" idx="5"/>
          </p:cNvCxnSpPr>
          <p:nvPr/>
        </p:nvCxnSpPr>
        <p:spPr>
          <a:xfrm flipH="1" flipV="1">
            <a:off x="6669654" y="3177202"/>
            <a:ext cx="107006" cy="31883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a:stCxn id="13" idx="1"/>
            <a:endCxn id="123" idx="7"/>
          </p:cNvCxnSpPr>
          <p:nvPr/>
        </p:nvCxnSpPr>
        <p:spPr>
          <a:xfrm flipH="1" flipV="1">
            <a:off x="7274820" y="2538167"/>
            <a:ext cx="365936" cy="165777"/>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4" name="直接连接符 133"/>
          <p:cNvCxnSpPr>
            <a:stCxn id="121" idx="7"/>
            <a:endCxn id="12" idx="2"/>
          </p:cNvCxnSpPr>
          <p:nvPr/>
        </p:nvCxnSpPr>
        <p:spPr>
          <a:xfrm flipV="1">
            <a:off x="6871452" y="1858412"/>
            <a:ext cx="265459" cy="18301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5" name="直接连接符 134"/>
          <p:cNvCxnSpPr>
            <a:stCxn id="120" idx="0"/>
            <a:endCxn id="10" idx="2"/>
          </p:cNvCxnSpPr>
          <p:nvPr/>
        </p:nvCxnSpPr>
        <p:spPr>
          <a:xfrm flipV="1">
            <a:off x="5853681" y="1642388"/>
            <a:ext cx="159000" cy="286699"/>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41095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714703" y="1031527"/>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Group 188"/>
          <p:cNvGrpSpPr>
            <a:grpSpLocks/>
          </p:cNvGrpSpPr>
          <p:nvPr/>
        </p:nvGrpSpPr>
        <p:grpSpPr bwMode="auto">
          <a:xfrm>
            <a:off x="4828258" y="1910551"/>
            <a:ext cx="2755313" cy="1346822"/>
            <a:chOff x="1719" y="1709"/>
            <a:chExt cx="1775" cy="1123"/>
          </a:xfrm>
        </p:grpSpPr>
        <p:sp>
          <p:nvSpPr>
            <p:cNvPr id="39" name="Oval 189"/>
            <p:cNvSpPr>
              <a:spLocks noChangeArrowheads="1"/>
            </p:cNvSpPr>
            <p:nvPr/>
          </p:nvSpPr>
          <p:spPr bwMode="auto">
            <a:xfrm>
              <a:off x="2109" y="1709"/>
              <a:ext cx="736"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40" name="Oval 190"/>
            <p:cNvSpPr>
              <a:spLocks noChangeArrowheads="1"/>
            </p:cNvSpPr>
            <p:nvPr/>
          </p:nvSpPr>
          <p:spPr bwMode="auto">
            <a:xfrm>
              <a:off x="2542" y="1752"/>
              <a:ext cx="692" cy="346"/>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41" name="Oval 191"/>
            <p:cNvSpPr>
              <a:spLocks noChangeArrowheads="1"/>
            </p:cNvSpPr>
            <p:nvPr/>
          </p:nvSpPr>
          <p:spPr bwMode="auto">
            <a:xfrm>
              <a:off x="2715" y="1925"/>
              <a:ext cx="692"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42" name="Oval 192"/>
            <p:cNvSpPr>
              <a:spLocks noChangeArrowheads="1"/>
            </p:cNvSpPr>
            <p:nvPr/>
          </p:nvSpPr>
          <p:spPr bwMode="auto">
            <a:xfrm>
              <a:off x="2801" y="2141"/>
              <a:ext cx="693" cy="51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43" name="Oval 193"/>
            <p:cNvSpPr>
              <a:spLocks noChangeArrowheads="1"/>
            </p:cNvSpPr>
            <p:nvPr/>
          </p:nvSpPr>
          <p:spPr bwMode="auto">
            <a:xfrm>
              <a:off x="2412" y="2270"/>
              <a:ext cx="692" cy="562"/>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44" name="Oval 194"/>
            <p:cNvSpPr>
              <a:spLocks noChangeArrowheads="1"/>
            </p:cNvSpPr>
            <p:nvPr/>
          </p:nvSpPr>
          <p:spPr bwMode="auto">
            <a:xfrm>
              <a:off x="1935" y="2141"/>
              <a:ext cx="693" cy="64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45" name="Oval 195"/>
            <p:cNvSpPr>
              <a:spLocks noChangeArrowheads="1"/>
            </p:cNvSpPr>
            <p:nvPr/>
          </p:nvSpPr>
          <p:spPr bwMode="auto">
            <a:xfrm>
              <a:off x="1719" y="1838"/>
              <a:ext cx="693" cy="60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46" name="Freeform 196"/>
            <p:cNvSpPr>
              <a:spLocks/>
            </p:cNvSpPr>
            <p:nvPr/>
          </p:nvSpPr>
          <p:spPr bwMode="auto">
            <a:xfrm>
              <a:off x="1893" y="1753"/>
              <a:ext cx="1470" cy="1037"/>
            </a:xfrm>
            <a:custGeom>
              <a:avLst/>
              <a:gdLst>
                <a:gd name="T0" fmla="*/ 8 w 1632"/>
                <a:gd name="T1" fmla="*/ 30 h 1152"/>
                <a:gd name="T2" fmla="*/ 59 w 1632"/>
                <a:gd name="T3" fmla="*/ 8 h 1152"/>
                <a:gd name="T4" fmla="*/ 102 w 1632"/>
                <a:gd name="T5" fmla="*/ 0 h 1152"/>
                <a:gd name="T6" fmla="*/ 190 w 1632"/>
                <a:gd name="T7" fmla="*/ 8 h 1152"/>
                <a:gd name="T8" fmla="*/ 219 w 1632"/>
                <a:gd name="T9" fmla="*/ 22 h 1152"/>
                <a:gd name="T10" fmla="*/ 234 w 1632"/>
                <a:gd name="T11" fmla="*/ 50 h 1152"/>
                <a:gd name="T12" fmla="*/ 249 w 1632"/>
                <a:gd name="T13" fmla="*/ 58 h 1152"/>
                <a:gd name="T14" fmla="*/ 234 w 1632"/>
                <a:gd name="T15" fmla="*/ 137 h 1152"/>
                <a:gd name="T16" fmla="*/ 139 w 1632"/>
                <a:gd name="T17" fmla="*/ 174 h 1152"/>
                <a:gd name="T18" fmla="*/ 44 w 1632"/>
                <a:gd name="T19" fmla="*/ 145 h 1152"/>
                <a:gd name="T20" fmla="*/ 14 w 1632"/>
                <a:gd name="T21" fmla="*/ 115 h 1152"/>
                <a:gd name="T22" fmla="*/ 0 w 1632"/>
                <a:gd name="T23" fmla="*/ 109 h 1152"/>
                <a:gd name="T24" fmla="*/ 8 w 1632"/>
                <a:gd name="T25" fmla="*/ 30 h 1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2" h="1152">
                  <a:moveTo>
                    <a:pt x="48" y="192"/>
                  </a:moveTo>
                  <a:lnTo>
                    <a:pt x="384" y="48"/>
                  </a:lnTo>
                  <a:lnTo>
                    <a:pt x="672" y="0"/>
                  </a:lnTo>
                  <a:lnTo>
                    <a:pt x="1248" y="48"/>
                  </a:lnTo>
                  <a:lnTo>
                    <a:pt x="1440" y="144"/>
                  </a:lnTo>
                  <a:lnTo>
                    <a:pt x="1536" y="336"/>
                  </a:lnTo>
                  <a:lnTo>
                    <a:pt x="1632" y="384"/>
                  </a:lnTo>
                  <a:lnTo>
                    <a:pt x="1536" y="912"/>
                  </a:lnTo>
                  <a:lnTo>
                    <a:pt x="912" y="1152"/>
                  </a:lnTo>
                  <a:lnTo>
                    <a:pt x="288" y="960"/>
                  </a:lnTo>
                  <a:lnTo>
                    <a:pt x="96" y="768"/>
                  </a:lnTo>
                  <a:lnTo>
                    <a:pt x="0" y="720"/>
                  </a:lnTo>
                  <a:lnTo>
                    <a:pt x="48" y="192"/>
                  </a:lnTo>
                  <a:close/>
                </a:path>
              </a:pathLst>
            </a:custGeom>
            <a:solidFill>
              <a:srgbClr val="CC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47" name="Text Box 275"/>
          <p:cNvSpPr txBox="1">
            <a:spLocks noChangeArrowheads="1"/>
          </p:cNvSpPr>
          <p:nvPr/>
        </p:nvSpPr>
        <p:spPr bwMode="auto">
          <a:xfrm>
            <a:off x="5547446" y="2369078"/>
            <a:ext cx="1032141" cy="30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r>
              <a:rPr kumimoji="1" lang="zh-CN" altLang="en-US" sz="1400" b="1" dirty="0">
                <a:latin typeface="微软雅黑" pitchFamily="34" charset="-122"/>
                <a:ea typeface="微软雅黑" pitchFamily="34" charset="-122"/>
                <a:cs typeface="Times New Roman" pitchFamily="18" charset="0"/>
              </a:rPr>
              <a:t>互联网</a:t>
            </a:r>
            <a:endParaRPr kumimoji="1" lang="en-US" altLang="zh-CN" sz="1400" b="1" dirty="0">
              <a:latin typeface="微软雅黑" pitchFamily="34" charset="-122"/>
              <a:ea typeface="微软雅黑" pitchFamily="34" charset="-122"/>
              <a:cs typeface="Times New Roman" pitchFamily="18" charset="0"/>
            </a:endParaRPr>
          </a:p>
        </p:txBody>
      </p:sp>
      <p:cxnSp>
        <p:nvCxnSpPr>
          <p:cNvPr id="48" name="直接连接符 47"/>
          <p:cNvCxnSpPr>
            <a:stCxn id="16" idx="3"/>
            <a:endCxn id="44" idx="3"/>
          </p:cNvCxnSpPr>
          <p:nvPr/>
        </p:nvCxnSpPr>
        <p:spPr>
          <a:xfrm flipV="1">
            <a:off x="4365025" y="3091992"/>
            <a:ext cx="956065" cy="51496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a:stCxn id="8" idx="3"/>
            <a:endCxn id="45" idx="2"/>
          </p:cNvCxnSpPr>
          <p:nvPr/>
        </p:nvCxnSpPr>
        <p:spPr>
          <a:xfrm flipV="1">
            <a:off x="4399677" y="2428053"/>
            <a:ext cx="428581" cy="5839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a:endCxn id="44" idx="4"/>
          </p:cNvCxnSpPr>
          <p:nvPr/>
        </p:nvCxnSpPr>
        <p:spPr>
          <a:xfrm flipV="1">
            <a:off x="5415916" y="3205803"/>
            <a:ext cx="285504" cy="39558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a:endCxn id="43" idx="5"/>
          </p:cNvCxnSpPr>
          <p:nvPr/>
        </p:nvCxnSpPr>
        <p:spPr>
          <a:xfrm flipH="1" flipV="1">
            <a:off x="6820867" y="3158666"/>
            <a:ext cx="107006" cy="31883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a:endCxn id="42" idx="7"/>
          </p:cNvCxnSpPr>
          <p:nvPr/>
        </p:nvCxnSpPr>
        <p:spPr>
          <a:xfrm flipH="1" flipV="1">
            <a:off x="7426033" y="2519631"/>
            <a:ext cx="365936" cy="165777"/>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a:stCxn id="40" idx="7"/>
            <a:endCxn id="12" idx="2"/>
          </p:cNvCxnSpPr>
          <p:nvPr/>
        </p:nvCxnSpPr>
        <p:spPr>
          <a:xfrm flipV="1">
            <a:off x="7022665" y="1858412"/>
            <a:ext cx="114246" cy="164478"/>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a:stCxn id="39" idx="0"/>
            <a:endCxn id="10" idx="2"/>
          </p:cNvCxnSpPr>
          <p:nvPr/>
        </p:nvCxnSpPr>
        <p:spPr>
          <a:xfrm flipV="1">
            <a:off x="6004894" y="1642388"/>
            <a:ext cx="7787" cy="268163"/>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
        <p:nvSpPr>
          <p:cNvPr id="2" name="AutoShape 5"/>
          <p:cNvSpPr>
            <a:spLocks noChangeArrowheads="1"/>
          </p:cNvSpPr>
          <p:nvPr/>
        </p:nvSpPr>
        <p:spPr bwMode="auto">
          <a:xfrm>
            <a:off x="556963" y="61444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96164" y="581236"/>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Napster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工作过程</a:t>
            </a:r>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nvPr>
        </p:nvGraphicFramePr>
        <p:xfrm>
          <a:off x="3824332" y="1986319"/>
          <a:ext cx="575345" cy="1000249"/>
        </p:xfrm>
        <a:graphic>
          <a:graphicData uri="http://schemas.openxmlformats.org/presentationml/2006/ole">
            <mc:AlternateContent xmlns:mc="http://schemas.openxmlformats.org/markup-compatibility/2006">
              <mc:Choice xmlns:v="urn:schemas-microsoft-com:vml" Requires="v">
                <p:oleObj spid="_x0000_s26647" name="Microsoft ClipArt Gallery" r:id="rId4" imgW="2735263" imgH="3825875" progId="">
                  <p:embed/>
                </p:oleObj>
              </mc:Choice>
              <mc:Fallback>
                <p:oleObj name="Microsoft ClipArt Gallery" r:id="rId4" imgW="2735263" imgH="3825875" progId="">
                  <p:embed/>
                  <p:pic>
                    <p:nvPicPr>
                      <p:cNvPr id="8" name="Object 5">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332"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 name="Text Box 6"/>
          <p:cNvSpPr txBox="1">
            <a:spLocks noChangeArrowheads="1"/>
          </p:cNvSpPr>
          <p:nvPr/>
        </p:nvSpPr>
        <p:spPr bwMode="auto">
          <a:xfrm>
            <a:off x="3266578" y="1495249"/>
            <a:ext cx="1493550" cy="523220"/>
          </a:xfrm>
          <a:prstGeom prst="rect">
            <a:avLst/>
          </a:prstGeom>
          <a:noFill/>
          <a:ln w="9525">
            <a:noFill/>
            <a:miter lim="800000"/>
            <a:headEnd/>
            <a:tailEnd/>
          </a:ln>
        </p:spPr>
        <p:txBody>
          <a:bodyPr wrap="none">
            <a:spAutoFit/>
          </a:bodyPr>
          <a:lstStyle/>
          <a:p>
            <a:pPr algn="ctr"/>
            <a:r>
              <a:rPr kumimoji="1" lang="en-US" altLang="zh-CN" sz="1400" b="1" dirty="0" smtClean="0">
                <a:latin typeface="微软雅黑" pitchFamily="34" charset="-122"/>
                <a:ea typeface="微软雅黑" pitchFamily="34" charset="-122"/>
                <a:cs typeface="Times New Roman" pitchFamily="18" charset="0"/>
              </a:rPr>
              <a:t>Napster </a:t>
            </a:r>
            <a:r>
              <a:rPr kumimoji="1" lang="zh-CN" altLang="en-US" sz="1400" b="1" dirty="0" smtClean="0">
                <a:latin typeface="微软雅黑" pitchFamily="34" charset="-122"/>
                <a:ea typeface="微软雅黑" pitchFamily="34" charset="-122"/>
                <a:cs typeface="Times New Roman" pitchFamily="18" charset="0"/>
              </a:rPr>
              <a:t>集中式</a:t>
            </a:r>
            <a:endParaRPr kumimoji="1" lang="zh-CN" altLang="en-US" sz="1400" b="1" dirty="0">
              <a:latin typeface="微软雅黑" pitchFamily="34" charset="-122"/>
              <a:ea typeface="微软雅黑" pitchFamily="34" charset="-122"/>
              <a:cs typeface="Times New Roman" pitchFamily="18" charset="0"/>
            </a:endParaRPr>
          </a:p>
          <a:p>
            <a:pPr algn="ctr"/>
            <a:r>
              <a:rPr kumimoji="1" lang="zh-CN" altLang="en-US" sz="1400" b="1" dirty="0" smtClean="0">
                <a:latin typeface="微软雅黑" pitchFamily="34" charset="-122"/>
                <a:ea typeface="微软雅黑" pitchFamily="34" charset="-122"/>
                <a:cs typeface="Times New Roman" pitchFamily="18" charset="0"/>
              </a:rPr>
              <a:t>目录服务器</a:t>
            </a:r>
            <a:endParaRPr kumimoji="1" lang="zh-CN" altLang="en-US" sz="1400" b="1" dirty="0">
              <a:latin typeface="微软雅黑" pitchFamily="34" charset="-122"/>
              <a:ea typeface="微软雅黑" pitchFamily="34" charset="-122"/>
              <a:cs typeface="Times New Roman" pitchFamily="18" charset="0"/>
            </a:endParaRPr>
          </a:p>
        </p:txBody>
      </p:sp>
      <p:pic>
        <p:nvPicPr>
          <p:cNvPr id="10" name="Picture 9"/>
          <p:cNvPicPr>
            <a:picLocks noChangeArrowheads="1"/>
          </p:cNvPicPr>
          <p:nvPr/>
        </p:nvPicPr>
        <p:blipFill>
          <a:blip r:embed="rId6" cstate="print"/>
          <a:srcRect/>
          <a:stretch>
            <a:fillRect/>
          </a:stretch>
        </p:blipFill>
        <p:spPr bwMode="auto">
          <a:xfrm>
            <a:off x="5796446" y="1215251"/>
            <a:ext cx="432469" cy="427137"/>
          </a:xfrm>
          <a:prstGeom prst="rect">
            <a:avLst/>
          </a:prstGeom>
          <a:noFill/>
          <a:ln w="9525">
            <a:noFill/>
            <a:miter lim="800000"/>
            <a:headEnd/>
            <a:tailEnd/>
          </a:ln>
        </p:spPr>
      </p:pic>
      <p:sp>
        <p:nvSpPr>
          <p:cNvPr id="11" name="Text Box 13"/>
          <p:cNvSpPr txBox="1">
            <a:spLocks noChangeArrowheads="1"/>
          </p:cNvSpPr>
          <p:nvPr/>
        </p:nvSpPr>
        <p:spPr bwMode="auto">
          <a:xfrm>
            <a:off x="7064692"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6" cstate="print"/>
          <a:srcRect/>
          <a:stretch>
            <a:fillRect/>
          </a:stretch>
        </p:blipFill>
        <p:spPr bwMode="auto">
          <a:xfrm>
            <a:off x="6920676" y="1431275"/>
            <a:ext cx="432469" cy="427137"/>
          </a:xfrm>
          <a:prstGeom prst="rect">
            <a:avLst/>
          </a:prstGeom>
          <a:noFill/>
          <a:ln w="9525">
            <a:noFill/>
            <a:miter lim="800000"/>
            <a:headEnd/>
            <a:tailEnd/>
          </a:ln>
        </p:spPr>
      </p:pic>
      <p:pic>
        <p:nvPicPr>
          <p:cNvPr id="13" name="Picture 9"/>
          <p:cNvPicPr>
            <a:picLocks noChangeArrowheads="1"/>
          </p:cNvPicPr>
          <p:nvPr/>
        </p:nvPicPr>
        <p:blipFill>
          <a:blip r:embed="rId6" cstate="print"/>
          <a:srcRect/>
          <a:stretch>
            <a:fillRect/>
          </a:stretch>
        </p:blipFill>
        <p:spPr bwMode="auto">
          <a:xfrm>
            <a:off x="7640756" y="2490375"/>
            <a:ext cx="432469" cy="427137"/>
          </a:xfrm>
          <a:prstGeom prst="rect">
            <a:avLst/>
          </a:prstGeom>
          <a:noFill/>
          <a:ln w="9525">
            <a:noFill/>
            <a:miter lim="800000"/>
            <a:headEnd/>
            <a:tailEnd/>
          </a:ln>
        </p:spPr>
      </p:pic>
      <p:pic>
        <p:nvPicPr>
          <p:cNvPr id="14" name="Picture 9"/>
          <p:cNvPicPr>
            <a:picLocks noChangeArrowheads="1"/>
          </p:cNvPicPr>
          <p:nvPr/>
        </p:nvPicPr>
        <p:blipFill>
          <a:blip r:embed="rId6" cstate="print"/>
          <a:srcRect/>
          <a:stretch>
            <a:fillRect/>
          </a:stretch>
        </p:blipFill>
        <p:spPr bwMode="auto">
          <a:xfrm>
            <a:off x="6776660" y="3282463"/>
            <a:ext cx="432469" cy="427137"/>
          </a:xfrm>
          <a:prstGeom prst="rect">
            <a:avLst/>
          </a:prstGeom>
          <a:noFill/>
          <a:ln w="9525">
            <a:noFill/>
            <a:miter lim="800000"/>
            <a:headEnd/>
            <a:tailEnd/>
          </a:ln>
        </p:spPr>
      </p:pic>
      <p:pic>
        <p:nvPicPr>
          <p:cNvPr id="15" name="Picture 9"/>
          <p:cNvPicPr>
            <a:picLocks noChangeArrowheads="1"/>
          </p:cNvPicPr>
          <p:nvPr/>
        </p:nvPicPr>
        <p:blipFill>
          <a:blip r:embed="rId6" cstate="print"/>
          <a:srcRect/>
          <a:stretch>
            <a:fillRect/>
          </a:stretch>
        </p:blipFill>
        <p:spPr bwMode="auto">
          <a:xfrm>
            <a:off x="5048468" y="3619921"/>
            <a:ext cx="432469" cy="427137"/>
          </a:xfrm>
          <a:prstGeom prst="rect">
            <a:avLst/>
          </a:prstGeom>
          <a:noFill/>
          <a:ln w="9525">
            <a:noFill/>
            <a:miter lim="800000"/>
            <a:headEnd/>
            <a:tailEnd/>
          </a:ln>
        </p:spPr>
      </p:pic>
      <p:pic>
        <p:nvPicPr>
          <p:cNvPr id="16" name="Picture 9"/>
          <p:cNvPicPr>
            <a:picLocks noChangeArrowheads="1"/>
          </p:cNvPicPr>
          <p:nvPr/>
        </p:nvPicPr>
        <p:blipFill>
          <a:blip r:embed="rId6" cstate="print"/>
          <a:srcRect/>
          <a:stretch>
            <a:fillRect/>
          </a:stretch>
        </p:blipFill>
        <p:spPr bwMode="auto">
          <a:xfrm>
            <a:off x="3932556" y="3393387"/>
            <a:ext cx="432469" cy="427137"/>
          </a:xfrm>
          <a:prstGeom prst="rect">
            <a:avLst/>
          </a:prstGeom>
          <a:noFill/>
          <a:ln w="9525">
            <a:noFill/>
            <a:miter lim="800000"/>
            <a:headEnd/>
            <a:tailEnd/>
          </a:ln>
        </p:spPr>
      </p:pic>
      <p:sp>
        <p:nvSpPr>
          <p:cNvPr id="17" name="Text Box 13"/>
          <p:cNvSpPr txBox="1">
            <a:spLocks noChangeArrowheads="1"/>
          </p:cNvSpPr>
          <p:nvPr/>
        </p:nvSpPr>
        <p:spPr bwMode="auto">
          <a:xfrm>
            <a:off x="5408508" y="3619921"/>
            <a:ext cx="28886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C</a:t>
            </a:r>
            <a:endParaRPr lang="en-US" altLang="zh-CN" sz="1200" b="1" dirty="0">
              <a:latin typeface="微软雅黑" pitchFamily="34" charset="-122"/>
              <a:ea typeface="微软雅黑" pitchFamily="34" charset="-122"/>
              <a:cs typeface="Times New Roman" pitchFamily="18" charset="0"/>
            </a:endParaRPr>
          </a:p>
        </p:txBody>
      </p:sp>
      <p:sp>
        <p:nvSpPr>
          <p:cNvPr id="18" name="Text Box 13"/>
          <p:cNvSpPr txBox="1">
            <a:spLocks noChangeArrowheads="1"/>
          </p:cNvSpPr>
          <p:nvPr/>
        </p:nvSpPr>
        <p:spPr bwMode="auto">
          <a:xfrm>
            <a:off x="8000796" y="2490375"/>
            <a:ext cx="29046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B</a:t>
            </a:r>
            <a:endParaRPr lang="en-US" altLang="zh-CN" sz="1200" b="1" dirty="0">
              <a:latin typeface="微软雅黑" pitchFamily="34" charset="-122"/>
              <a:ea typeface="微软雅黑" pitchFamily="34" charset="-122"/>
              <a:cs typeface="Times New Roman" pitchFamily="18" charset="0"/>
            </a:endParaRPr>
          </a:p>
        </p:txBody>
      </p:sp>
      <p:sp>
        <p:nvSpPr>
          <p:cNvPr id="19" name="Text Box 13"/>
          <p:cNvSpPr txBox="1">
            <a:spLocks noChangeArrowheads="1"/>
          </p:cNvSpPr>
          <p:nvPr/>
        </p:nvSpPr>
        <p:spPr bwMode="auto">
          <a:xfrm>
            <a:off x="6156486" y="12152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cxnSp>
        <p:nvCxnSpPr>
          <p:cNvPr id="20" name="直接箭头连接符 19"/>
          <p:cNvCxnSpPr/>
          <p:nvPr/>
        </p:nvCxnSpPr>
        <p:spPr>
          <a:xfrm flipH="1" flipV="1">
            <a:off x="4395823" y="2716979"/>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4850780" y="2896575"/>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123.mp3</a:t>
            </a: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4" name="TextBox 23"/>
          <p:cNvSpPr txBox="1"/>
          <p:nvPr/>
        </p:nvSpPr>
        <p:spPr>
          <a:xfrm>
            <a:off x="6475928" y="3159655"/>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smtClean="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grpSp>
        <p:nvGrpSpPr>
          <p:cNvPr id="34" name="组合 33"/>
          <p:cNvGrpSpPr/>
          <p:nvPr/>
        </p:nvGrpSpPr>
        <p:grpSpPr>
          <a:xfrm>
            <a:off x="891695" y="1906764"/>
            <a:ext cx="2536945" cy="1511811"/>
            <a:chOff x="670722" y="3701251"/>
            <a:chExt cx="2536945" cy="1511811"/>
          </a:xfrm>
          <a:solidFill>
            <a:srgbClr val="0070C0"/>
          </a:solidFill>
        </p:grpSpPr>
        <p:sp>
          <p:nvSpPr>
            <p:cNvPr id="4" name="矩形 3"/>
            <p:cNvSpPr/>
            <p:nvPr/>
          </p:nvSpPr>
          <p:spPr>
            <a:xfrm>
              <a:off x="670722" y="3710086"/>
              <a:ext cx="2536945" cy="1502976"/>
            </a:xfrm>
            <a:prstGeom prst="rect">
              <a:avLst/>
            </a:prstGeom>
            <a:grpFill/>
          </p:spPr>
          <p:txBody>
            <a:bodyPr wrap="square">
              <a:spAutoFit/>
            </a:bodyPr>
            <a:lstStyle/>
            <a:p>
              <a:pPr marL="452438">
                <a:lnSpc>
                  <a:spcPts val="2200"/>
                </a:lnSpc>
              </a:pPr>
              <a:r>
                <a:rPr lang="zh-CN" altLang="en-US" sz="1600" b="1" dirty="0" smtClean="0">
                  <a:solidFill>
                    <a:schemeClr val="bg1"/>
                  </a:solidFill>
                  <a:latin typeface="微软雅黑" pitchFamily="34" charset="-122"/>
                  <a:ea typeface="微软雅黑" pitchFamily="34" charset="-122"/>
                </a:rPr>
                <a:t>用户 </a:t>
              </a:r>
              <a:r>
                <a:rPr lang="en-US" altLang="zh-CN" sz="1600" b="1" dirty="0" smtClean="0">
                  <a:solidFill>
                    <a:schemeClr val="bg1"/>
                  </a:solidFill>
                  <a:latin typeface="微软雅黑" pitchFamily="34" charset="-122"/>
                  <a:ea typeface="微软雅黑" pitchFamily="34" charset="-122"/>
                </a:rPr>
                <a:t>X </a:t>
              </a:r>
              <a:r>
                <a:rPr lang="zh-CN" altLang="en-US" sz="1600" b="1" dirty="0" smtClean="0">
                  <a:solidFill>
                    <a:schemeClr val="bg1"/>
                  </a:solidFill>
                  <a:latin typeface="微软雅黑" pitchFamily="34" charset="-122"/>
                  <a:ea typeface="微软雅黑" pitchFamily="34" charset="-122"/>
                </a:rPr>
                <a:t>向 </a:t>
              </a:r>
              <a:r>
                <a:rPr lang="en-US" altLang="zh-CN" sz="1600" b="1" dirty="0" smtClean="0">
                  <a:solidFill>
                    <a:schemeClr val="bg1"/>
                  </a:solidFill>
                  <a:latin typeface="微软雅黑" pitchFamily="34" charset="-122"/>
                  <a:ea typeface="微软雅黑" pitchFamily="34" charset="-122"/>
                </a:rPr>
                <a:t>Napster </a:t>
              </a:r>
              <a:r>
                <a:rPr lang="zh-CN" altLang="en-US" sz="1600" b="1" dirty="0" smtClean="0">
                  <a:solidFill>
                    <a:schemeClr val="bg1"/>
                  </a:solidFill>
                  <a:latin typeface="微软雅黑" pitchFamily="34" charset="-122"/>
                  <a:ea typeface="微软雅黑" pitchFamily="34" charset="-122"/>
                </a:rPr>
                <a:t>目录</a:t>
              </a:r>
              <a:r>
                <a:rPr lang="zh-CN" altLang="en-US" sz="1600" b="1" dirty="0">
                  <a:solidFill>
                    <a:schemeClr val="bg1"/>
                  </a:solidFill>
                  <a:latin typeface="微软雅黑" pitchFamily="34" charset="-122"/>
                  <a:ea typeface="微软雅黑" pitchFamily="34" charset="-122"/>
                </a:rPr>
                <a:t>服务器查询</a:t>
              </a:r>
              <a:r>
                <a:rPr lang="zh-CN" altLang="en-US" sz="1600" b="1" dirty="0" smtClean="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采用</a:t>
              </a:r>
              <a:r>
                <a:rPr lang="zh-CN" altLang="en-US" sz="1600" b="1" dirty="0" smtClean="0">
                  <a:solidFill>
                    <a:schemeClr val="bg1"/>
                  </a:solidFill>
                  <a:latin typeface="微软雅黑" pitchFamily="34" charset="-122"/>
                  <a:ea typeface="微软雅黑" pitchFamily="34" charset="-122"/>
                </a:rPr>
                <a:t>客户服务器</a:t>
              </a:r>
              <a:r>
                <a:rPr lang="zh-CN" altLang="en-US" sz="1600" b="1" dirty="0">
                  <a:solidFill>
                    <a:schemeClr val="bg1"/>
                  </a:solidFill>
                  <a:latin typeface="微软雅黑" pitchFamily="34" charset="-122"/>
                  <a:ea typeface="微软雅黑" pitchFamily="34" charset="-122"/>
                </a:rPr>
                <a:t>方式）谁有音乐</a:t>
              </a:r>
              <a:r>
                <a:rPr lang="zh-CN" altLang="en-US" sz="1600" b="1" dirty="0" smtClean="0">
                  <a:solidFill>
                    <a:schemeClr val="bg1"/>
                  </a:solidFill>
                  <a:latin typeface="微软雅黑" pitchFamily="34" charset="-122"/>
                  <a:ea typeface="微软雅黑" pitchFamily="34" charset="-122"/>
                </a:rPr>
                <a:t>文件 </a:t>
              </a:r>
              <a:r>
                <a:rPr lang="en-US" altLang="zh-CN" sz="1600" b="1" dirty="0" smtClean="0">
                  <a:solidFill>
                    <a:schemeClr val="bg1"/>
                  </a:solidFill>
                  <a:latin typeface="微软雅黑" pitchFamily="34" charset="-122"/>
                  <a:ea typeface="微软雅黑" pitchFamily="34" charset="-122"/>
                </a:rPr>
                <a:t>123.mp3</a:t>
              </a:r>
              <a:r>
                <a:rPr lang="en-US" altLang="zh-CN" sz="1600" b="1" dirty="0">
                  <a:solidFill>
                    <a:schemeClr val="bg1"/>
                  </a:solidFill>
                  <a:latin typeface="微软雅黑" pitchFamily="34" charset="-122"/>
                  <a:ea typeface="微软雅黑" pitchFamily="34" charset="-122"/>
                </a:rPr>
                <a:t>?</a:t>
              </a:r>
              <a:endParaRPr lang="zh-CN" altLang="en-US" sz="1600" b="1" dirty="0">
                <a:solidFill>
                  <a:schemeClr val="bg1"/>
                </a:solidFill>
                <a:latin typeface="微软雅黑" pitchFamily="34" charset="-122"/>
                <a:ea typeface="微软雅黑" pitchFamily="34" charset="-122"/>
              </a:endParaRPr>
            </a:p>
          </p:txBody>
        </p:sp>
        <p:sp>
          <p:nvSpPr>
            <p:cNvPr id="33" name="TextBox 32"/>
            <p:cNvSpPr txBox="1"/>
            <p:nvPr/>
          </p:nvSpPr>
          <p:spPr>
            <a:xfrm>
              <a:off x="749305" y="3701251"/>
              <a:ext cx="458780" cy="461665"/>
            </a:xfrm>
            <a:prstGeom prst="rect">
              <a:avLst/>
            </a:prstGeom>
            <a:grp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smtClean="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3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sp>
        <p:nvSpPr>
          <p:cNvPr id="36" name="Text Box 13"/>
          <p:cNvSpPr txBox="1">
            <a:spLocks noChangeArrowheads="1"/>
          </p:cNvSpPr>
          <p:nvPr/>
        </p:nvSpPr>
        <p:spPr bwMode="auto">
          <a:xfrm>
            <a:off x="7375335" y="1520694"/>
            <a:ext cx="30649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D</a:t>
            </a:r>
            <a:endParaRPr lang="en-US" altLang="zh-CN" sz="1200" b="1" dirty="0">
              <a:latin typeface="微软雅黑" pitchFamily="34" charset="-122"/>
              <a:ea typeface="微软雅黑" pitchFamily="34" charset="-122"/>
              <a:cs typeface="Times New Roman" pitchFamily="18" charset="0"/>
            </a:endParaRPr>
          </a:p>
        </p:txBody>
      </p:sp>
      <p:sp>
        <p:nvSpPr>
          <p:cNvPr id="37" name="Text Box 13"/>
          <p:cNvSpPr txBox="1">
            <a:spLocks noChangeArrowheads="1"/>
          </p:cNvSpPr>
          <p:nvPr/>
        </p:nvSpPr>
        <p:spPr bwMode="auto">
          <a:xfrm>
            <a:off x="4069702" y="3823651"/>
            <a:ext cx="27283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E</a:t>
            </a:r>
            <a:endParaRPr lang="en-US" altLang="zh-CN" sz="1200" b="1" dirty="0">
              <a:latin typeface="微软雅黑" pitchFamily="34" charset="-122"/>
              <a:ea typeface="微软雅黑" pitchFamily="34" charset="-122"/>
              <a:cs typeface="Times New Roman" pitchFamily="18" charset="0"/>
            </a:endParaRPr>
          </a:p>
        </p:txBody>
      </p:sp>
    </p:spTree>
    <p:extLst>
      <p:ext uri="{BB962C8B-B14F-4D97-AF65-F5344CB8AC3E}">
        <p14:creationId xmlns:p14="http://schemas.microsoft.com/office/powerpoint/2010/main" val="42890452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4" name="Group 188"/>
          <p:cNvGrpSpPr>
            <a:grpSpLocks/>
          </p:cNvGrpSpPr>
          <p:nvPr/>
        </p:nvGrpSpPr>
        <p:grpSpPr bwMode="auto">
          <a:xfrm>
            <a:off x="4677045" y="1929087"/>
            <a:ext cx="2755313" cy="1346822"/>
            <a:chOff x="1719" y="1709"/>
            <a:chExt cx="1775" cy="1123"/>
          </a:xfrm>
        </p:grpSpPr>
        <p:sp>
          <p:nvSpPr>
            <p:cNvPr id="65" name="Oval 189"/>
            <p:cNvSpPr>
              <a:spLocks noChangeArrowheads="1"/>
            </p:cNvSpPr>
            <p:nvPr/>
          </p:nvSpPr>
          <p:spPr bwMode="auto">
            <a:xfrm>
              <a:off x="2109" y="1709"/>
              <a:ext cx="736"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6" name="Oval 190"/>
            <p:cNvSpPr>
              <a:spLocks noChangeArrowheads="1"/>
            </p:cNvSpPr>
            <p:nvPr/>
          </p:nvSpPr>
          <p:spPr bwMode="auto">
            <a:xfrm>
              <a:off x="2542" y="1752"/>
              <a:ext cx="692" cy="346"/>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7" name="Oval 191"/>
            <p:cNvSpPr>
              <a:spLocks noChangeArrowheads="1"/>
            </p:cNvSpPr>
            <p:nvPr/>
          </p:nvSpPr>
          <p:spPr bwMode="auto">
            <a:xfrm>
              <a:off x="2715" y="1925"/>
              <a:ext cx="692"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8" name="Oval 192"/>
            <p:cNvSpPr>
              <a:spLocks noChangeArrowheads="1"/>
            </p:cNvSpPr>
            <p:nvPr/>
          </p:nvSpPr>
          <p:spPr bwMode="auto">
            <a:xfrm>
              <a:off x="2801" y="2141"/>
              <a:ext cx="693" cy="51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9" name="Oval 193"/>
            <p:cNvSpPr>
              <a:spLocks noChangeArrowheads="1"/>
            </p:cNvSpPr>
            <p:nvPr/>
          </p:nvSpPr>
          <p:spPr bwMode="auto">
            <a:xfrm>
              <a:off x="2412" y="2270"/>
              <a:ext cx="692" cy="562"/>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0" name="Oval 194"/>
            <p:cNvSpPr>
              <a:spLocks noChangeArrowheads="1"/>
            </p:cNvSpPr>
            <p:nvPr/>
          </p:nvSpPr>
          <p:spPr bwMode="auto">
            <a:xfrm>
              <a:off x="1935" y="2141"/>
              <a:ext cx="693" cy="64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1" name="Oval 195"/>
            <p:cNvSpPr>
              <a:spLocks noChangeArrowheads="1"/>
            </p:cNvSpPr>
            <p:nvPr/>
          </p:nvSpPr>
          <p:spPr bwMode="auto">
            <a:xfrm>
              <a:off x="1719" y="1838"/>
              <a:ext cx="693" cy="60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2" name="Freeform 196"/>
            <p:cNvSpPr>
              <a:spLocks/>
            </p:cNvSpPr>
            <p:nvPr/>
          </p:nvSpPr>
          <p:spPr bwMode="auto">
            <a:xfrm>
              <a:off x="1893" y="1753"/>
              <a:ext cx="1470" cy="1037"/>
            </a:xfrm>
            <a:custGeom>
              <a:avLst/>
              <a:gdLst>
                <a:gd name="T0" fmla="*/ 8 w 1632"/>
                <a:gd name="T1" fmla="*/ 30 h 1152"/>
                <a:gd name="T2" fmla="*/ 59 w 1632"/>
                <a:gd name="T3" fmla="*/ 8 h 1152"/>
                <a:gd name="T4" fmla="*/ 102 w 1632"/>
                <a:gd name="T5" fmla="*/ 0 h 1152"/>
                <a:gd name="T6" fmla="*/ 190 w 1632"/>
                <a:gd name="T7" fmla="*/ 8 h 1152"/>
                <a:gd name="T8" fmla="*/ 219 w 1632"/>
                <a:gd name="T9" fmla="*/ 22 h 1152"/>
                <a:gd name="T10" fmla="*/ 234 w 1632"/>
                <a:gd name="T11" fmla="*/ 50 h 1152"/>
                <a:gd name="T12" fmla="*/ 249 w 1632"/>
                <a:gd name="T13" fmla="*/ 58 h 1152"/>
                <a:gd name="T14" fmla="*/ 234 w 1632"/>
                <a:gd name="T15" fmla="*/ 137 h 1152"/>
                <a:gd name="T16" fmla="*/ 139 w 1632"/>
                <a:gd name="T17" fmla="*/ 174 h 1152"/>
                <a:gd name="T18" fmla="*/ 44 w 1632"/>
                <a:gd name="T19" fmla="*/ 145 h 1152"/>
                <a:gd name="T20" fmla="*/ 14 w 1632"/>
                <a:gd name="T21" fmla="*/ 115 h 1152"/>
                <a:gd name="T22" fmla="*/ 0 w 1632"/>
                <a:gd name="T23" fmla="*/ 109 h 1152"/>
                <a:gd name="T24" fmla="*/ 8 w 1632"/>
                <a:gd name="T25" fmla="*/ 30 h 1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2" h="1152">
                  <a:moveTo>
                    <a:pt x="48" y="192"/>
                  </a:moveTo>
                  <a:lnTo>
                    <a:pt x="384" y="48"/>
                  </a:lnTo>
                  <a:lnTo>
                    <a:pt x="672" y="0"/>
                  </a:lnTo>
                  <a:lnTo>
                    <a:pt x="1248" y="48"/>
                  </a:lnTo>
                  <a:lnTo>
                    <a:pt x="1440" y="144"/>
                  </a:lnTo>
                  <a:lnTo>
                    <a:pt x="1536" y="336"/>
                  </a:lnTo>
                  <a:lnTo>
                    <a:pt x="1632" y="384"/>
                  </a:lnTo>
                  <a:lnTo>
                    <a:pt x="1536" y="912"/>
                  </a:lnTo>
                  <a:lnTo>
                    <a:pt x="912" y="1152"/>
                  </a:lnTo>
                  <a:lnTo>
                    <a:pt x="288" y="960"/>
                  </a:lnTo>
                  <a:lnTo>
                    <a:pt x="96" y="768"/>
                  </a:lnTo>
                  <a:lnTo>
                    <a:pt x="0" y="720"/>
                  </a:lnTo>
                  <a:lnTo>
                    <a:pt x="48" y="192"/>
                  </a:lnTo>
                  <a:close/>
                </a:path>
              </a:pathLst>
            </a:custGeom>
            <a:solidFill>
              <a:srgbClr val="CC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3" name="Text Box 275"/>
          <p:cNvSpPr txBox="1">
            <a:spLocks noChangeArrowheads="1"/>
          </p:cNvSpPr>
          <p:nvPr/>
        </p:nvSpPr>
        <p:spPr bwMode="auto">
          <a:xfrm>
            <a:off x="5547446" y="2369078"/>
            <a:ext cx="1032141" cy="30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r>
              <a:rPr kumimoji="1" lang="zh-CN" altLang="en-US" sz="1400" b="1" dirty="0">
                <a:latin typeface="微软雅黑" pitchFamily="34" charset="-122"/>
                <a:ea typeface="微软雅黑" pitchFamily="34" charset="-122"/>
                <a:cs typeface="Times New Roman" pitchFamily="18" charset="0"/>
              </a:rPr>
              <a:t>互联网</a:t>
            </a:r>
            <a:endParaRPr kumimoji="1" lang="en-US" altLang="zh-CN" sz="1400" b="1" dirty="0">
              <a:latin typeface="微软雅黑" pitchFamily="34" charset="-122"/>
              <a:ea typeface="微软雅黑" pitchFamily="34" charset="-122"/>
              <a:cs typeface="Times New Roman" pitchFamily="18" charset="0"/>
            </a:endParaRPr>
          </a:p>
        </p:txBody>
      </p:sp>
      <p:cxnSp>
        <p:nvCxnSpPr>
          <p:cNvPr id="74" name="直接连接符 73"/>
          <p:cNvCxnSpPr>
            <a:endCxn id="70" idx="3"/>
          </p:cNvCxnSpPr>
          <p:nvPr/>
        </p:nvCxnSpPr>
        <p:spPr>
          <a:xfrm flipV="1">
            <a:off x="4365025" y="3110528"/>
            <a:ext cx="804852" cy="496428"/>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a:endCxn id="71" idx="2"/>
          </p:cNvCxnSpPr>
          <p:nvPr/>
        </p:nvCxnSpPr>
        <p:spPr>
          <a:xfrm flipV="1">
            <a:off x="4399677" y="2446589"/>
            <a:ext cx="277368" cy="3985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a:endCxn id="70" idx="4"/>
          </p:cNvCxnSpPr>
          <p:nvPr/>
        </p:nvCxnSpPr>
        <p:spPr>
          <a:xfrm flipV="1">
            <a:off x="5264703" y="3224339"/>
            <a:ext cx="285504" cy="39558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7" name="直接连接符 76"/>
          <p:cNvCxnSpPr>
            <a:endCxn id="69" idx="5"/>
          </p:cNvCxnSpPr>
          <p:nvPr/>
        </p:nvCxnSpPr>
        <p:spPr>
          <a:xfrm flipH="1" flipV="1">
            <a:off x="6669654" y="3177202"/>
            <a:ext cx="107006" cy="31883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8" name="直接连接符 77"/>
          <p:cNvCxnSpPr>
            <a:endCxn id="68" idx="7"/>
          </p:cNvCxnSpPr>
          <p:nvPr/>
        </p:nvCxnSpPr>
        <p:spPr>
          <a:xfrm flipH="1" flipV="1">
            <a:off x="7274820" y="2538167"/>
            <a:ext cx="365936" cy="165777"/>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9" name="直接连接符 78"/>
          <p:cNvCxnSpPr>
            <a:stCxn id="66" idx="7"/>
          </p:cNvCxnSpPr>
          <p:nvPr/>
        </p:nvCxnSpPr>
        <p:spPr>
          <a:xfrm flipV="1">
            <a:off x="6871452" y="1858412"/>
            <a:ext cx="265459" cy="18301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0" name="直接连接符 79"/>
          <p:cNvCxnSpPr>
            <a:stCxn id="65" idx="0"/>
          </p:cNvCxnSpPr>
          <p:nvPr/>
        </p:nvCxnSpPr>
        <p:spPr>
          <a:xfrm flipV="1">
            <a:off x="5853681" y="1642388"/>
            <a:ext cx="159000" cy="286699"/>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Napster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工作过程</a:t>
            </a:r>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pSp>
        <p:nvGrpSpPr>
          <p:cNvPr id="7" name="组合 6"/>
          <p:cNvGrpSpPr/>
          <p:nvPr/>
        </p:nvGrpSpPr>
        <p:grpSpPr>
          <a:xfrm>
            <a:off x="819149" y="1191398"/>
            <a:ext cx="2539415" cy="2655343"/>
            <a:chOff x="552299" y="1494313"/>
            <a:chExt cx="2733411" cy="2260399"/>
          </a:xfrm>
        </p:grpSpPr>
        <p:sp>
          <p:nvSpPr>
            <p:cNvPr id="4" name="矩形 3"/>
            <p:cNvSpPr/>
            <p:nvPr/>
          </p:nvSpPr>
          <p:spPr>
            <a:xfrm>
              <a:off x="552299" y="1514618"/>
              <a:ext cx="2733411" cy="2240094"/>
            </a:xfrm>
            <a:prstGeom prst="rect">
              <a:avLst/>
            </a:prstGeom>
            <a:solidFill>
              <a:srgbClr val="0070C0"/>
            </a:solidFill>
          </p:spPr>
          <p:txBody>
            <a:bodyPr wrap="square">
              <a:spAutoFit/>
            </a:bodyPr>
            <a:lstStyle/>
            <a:p>
              <a:pPr marL="452438">
                <a:lnSpc>
                  <a:spcPts val="2200"/>
                </a:lnSpc>
              </a:pPr>
              <a:r>
                <a:rPr lang="en-US" altLang="zh-CN" sz="1600" b="1" dirty="0" smtClean="0">
                  <a:solidFill>
                    <a:schemeClr val="bg1"/>
                  </a:solidFill>
                  <a:latin typeface="微软雅黑" pitchFamily="34" charset="-122"/>
                  <a:ea typeface="微软雅黑" pitchFamily="34" charset="-122"/>
                </a:rPr>
                <a:t>Napster </a:t>
              </a:r>
              <a:r>
                <a:rPr lang="zh-CN" altLang="en-US" sz="1600" b="1" dirty="0" smtClean="0">
                  <a:solidFill>
                    <a:schemeClr val="bg1"/>
                  </a:solidFill>
                  <a:latin typeface="微软雅黑" pitchFamily="34" charset="-122"/>
                  <a:ea typeface="微软雅黑" pitchFamily="34" charset="-122"/>
                </a:rPr>
                <a:t>目录</a:t>
              </a:r>
              <a:r>
                <a:rPr lang="zh-CN" altLang="en-US" sz="1600" b="1" dirty="0">
                  <a:solidFill>
                    <a:schemeClr val="bg1"/>
                  </a:solidFill>
                  <a:latin typeface="微软雅黑" pitchFamily="34" charset="-122"/>
                  <a:ea typeface="微软雅黑" pitchFamily="34" charset="-122"/>
                </a:rPr>
                <a:t>服务器</a:t>
              </a:r>
              <a:r>
                <a:rPr lang="zh-CN" altLang="en-US" sz="1600" b="1" dirty="0" smtClean="0">
                  <a:solidFill>
                    <a:schemeClr val="bg1"/>
                  </a:solidFill>
                  <a:latin typeface="微软雅黑" pitchFamily="34" charset="-122"/>
                  <a:ea typeface="微软雅黑" pitchFamily="34" charset="-122"/>
                </a:rPr>
                <a:t>回答 </a:t>
              </a:r>
              <a:r>
                <a:rPr lang="en-US" altLang="zh-CN" sz="1600" b="1" dirty="0" smtClean="0">
                  <a:solidFill>
                    <a:schemeClr val="bg1"/>
                  </a:solidFill>
                  <a:latin typeface="微软雅黑" pitchFamily="34" charset="-122"/>
                  <a:ea typeface="微软雅黑" pitchFamily="34" charset="-122"/>
                </a:rPr>
                <a:t>X</a:t>
              </a:r>
              <a:r>
                <a:rPr lang="zh-CN" altLang="en-US" sz="1600" b="1" dirty="0">
                  <a:solidFill>
                    <a:schemeClr val="bg1"/>
                  </a:solidFill>
                  <a:latin typeface="微软雅黑" pitchFamily="34" charset="-122"/>
                  <a:ea typeface="微软雅黑" pitchFamily="34" charset="-122"/>
                </a:rPr>
                <a:t>：有三个地点有</a:t>
              </a:r>
              <a:r>
                <a:rPr lang="zh-CN" altLang="en-US" sz="1600" b="1" dirty="0" smtClean="0">
                  <a:solidFill>
                    <a:schemeClr val="bg1"/>
                  </a:solidFill>
                  <a:latin typeface="微软雅黑" pitchFamily="34" charset="-122"/>
                  <a:ea typeface="微软雅黑" pitchFamily="34" charset="-122"/>
                </a:rPr>
                <a:t>文件 </a:t>
              </a:r>
              <a:r>
                <a:rPr lang="en-US" altLang="zh-CN" sz="1600" b="1" dirty="0" smtClean="0">
                  <a:solidFill>
                    <a:schemeClr val="bg1"/>
                  </a:solidFill>
                  <a:latin typeface="微软雅黑" pitchFamily="34" charset="-122"/>
                  <a:ea typeface="微软雅黑" pitchFamily="34" charset="-122"/>
                </a:rPr>
                <a:t>123.mp3</a:t>
              </a:r>
              <a:r>
                <a:rPr lang="zh-CN" altLang="en-US" sz="1600" b="1" dirty="0" smtClean="0">
                  <a:solidFill>
                    <a:schemeClr val="bg1"/>
                  </a:solidFill>
                  <a:latin typeface="微软雅黑" pitchFamily="34" charset="-122"/>
                  <a:ea typeface="微软雅黑" pitchFamily="34" charset="-122"/>
                </a:rPr>
                <a:t>，即 </a:t>
              </a:r>
              <a:r>
                <a:rPr lang="en-US" altLang="zh-CN" sz="1600" b="1" dirty="0" smtClean="0">
                  <a:solidFill>
                    <a:schemeClr val="bg1"/>
                  </a:solidFill>
                  <a:latin typeface="微软雅黑" pitchFamily="34" charset="-122"/>
                  <a:ea typeface="微软雅黑" pitchFamily="34" charset="-122"/>
                </a:rPr>
                <a:t>A</a:t>
              </a:r>
              <a:r>
                <a:rPr lang="en-US" altLang="zh-CN" sz="1600" b="1" dirty="0">
                  <a:solidFill>
                    <a:schemeClr val="bg1"/>
                  </a:solidFill>
                  <a:latin typeface="微软雅黑" pitchFamily="34" charset="-122"/>
                  <a:ea typeface="微软雅黑" pitchFamily="34" charset="-122"/>
                </a:rPr>
                <a:t>, </a:t>
              </a:r>
              <a:r>
                <a:rPr lang="en-US" altLang="zh-CN" sz="1600" b="1" dirty="0" smtClean="0">
                  <a:solidFill>
                    <a:schemeClr val="bg1"/>
                  </a:solidFill>
                  <a:latin typeface="微软雅黑" pitchFamily="34" charset="-122"/>
                  <a:ea typeface="微软雅黑" pitchFamily="34" charset="-122"/>
                </a:rPr>
                <a:t>B </a:t>
              </a:r>
              <a:r>
                <a:rPr lang="zh-CN" altLang="en-US" sz="1600" b="1" dirty="0" smtClean="0">
                  <a:solidFill>
                    <a:schemeClr val="bg1"/>
                  </a:solidFill>
                  <a:latin typeface="微软雅黑" pitchFamily="34" charset="-122"/>
                  <a:ea typeface="微软雅黑" pitchFamily="34" charset="-122"/>
                </a:rPr>
                <a:t>和 </a:t>
              </a:r>
              <a:r>
                <a:rPr lang="en-US" altLang="zh-CN" sz="1600" b="1" dirty="0" smtClean="0">
                  <a:solidFill>
                    <a:schemeClr val="bg1"/>
                  </a:solidFill>
                  <a:latin typeface="微软雅黑" pitchFamily="34" charset="-122"/>
                  <a:ea typeface="微软雅黑" pitchFamily="34" charset="-122"/>
                </a:rPr>
                <a:t>C</a:t>
              </a:r>
              <a:r>
                <a:rPr lang="zh-CN" altLang="en-US" sz="1600" b="1" dirty="0">
                  <a:solidFill>
                    <a:schemeClr val="bg1"/>
                  </a:solidFill>
                  <a:latin typeface="微软雅黑" pitchFamily="34" charset="-122"/>
                  <a:ea typeface="微软雅黑" pitchFamily="34" charset="-122"/>
                </a:rPr>
                <a:t>（给出了这三个地点</a:t>
              </a:r>
              <a:r>
                <a:rPr lang="zh-CN" altLang="en-US" sz="1600" b="1" dirty="0" smtClean="0">
                  <a:solidFill>
                    <a:schemeClr val="bg1"/>
                  </a:solidFill>
                  <a:latin typeface="微软雅黑" pitchFamily="34" charset="-122"/>
                  <a:ea typeface="微软雅黑" pitchFamily="34" charset="-122"/>
                </a:rPr>
                <a:t>的 </a:t>
              </a:r>
              <a:r>
                <a:rPr lang="en-US" altLang="zh-CN" sz="1600" b="1" dirty="0" smtClean="0">
                  <a:solidFill>
                    <a:schemeClr val="bg1"/>
                  </a:solidFill>
                  <a:latin typeface="微软雅黑" pitchFamily="34" charset="-122"/>
                  <a:ea typeface="微软雅黑" pitchFamily="34" charset="-122"/>
                </a:rPr>
                <a:t>IP </a:t>
              </a:r>
              <a:r>
                <a:rPr lang="zh-CN" altLang="en-US" sz="1600" b="1" dirty="0" smtClean="0">
                  <a:solidFill>
                    <a:schemeClr val="bg1"/>
                  </a:solidFill>
                  <a:latin typeface="微软雅黑" pitchFamily="34" charset="-122"/>
                  <a:ea typeface="微软雅黑" pitchFamily="34" charset="-122"/>
                </a:rPr>
                <a:t>地址</a:t>
              </a:r>
              <a:r>
                <a:rPr lang="zh-CN" altLang="en-US" sz="1600" b="1" dirty="0">
                  <a:solidFill>
                    <a:schemeClr val="bg1"/>
                  </a:solidFill>
                  <a:latin typeface="微软雅黑" pitchFamily="34" charset="-122"/>
                  <a:ea typeface="微软雅黑" pitchFamily="34" charset="-122"/>
                </a:rPr>
                <a:t>）</a:t>
              </a:r>
              <a:r>
                <a:rPr lang="zh-CN" altLang="en-US" sz="1600" b="1" dirty="0" smtClean="0">
                  <a:solidFill>
                    <a:schemeClr val="bg1"/>
                  </a:solidFill>
                  <a:latin typeface="微软雅黑" pitchFamily="34" charset="-122"/>
                  <a:ea typeface="微软雅黑" pitchFamily="34" charset="-122"/>
                </a:rPr>
                <a:t>。于是用户 </a:t>
              </a:r>
              <a:r>
                <a:rPr lang="en-US" altLang="zh-CN" sz="1600" b="1" dirty="0" smtClean="0">
                  <a:solidFill>
                    <a:schemeClr val="bg1"/>
                  </a:solidFill>
                  <a:latin typeface="微软雅黑" pitchFamily="34" charset="-122"/>
                  <a:ea typeface="微软雅黑" pitchFamily="34" charset="-122"/>
                </a:rPr>
                <a:t>X </a:t>
              </a:r>
              <a:r>
                <a:rPr lang="zh-CN" altLang="en-US" sz="1600" b="1" dirty="0" smtClean="0">
                  <a:solidFill>
                    <a:schemeClr val="bg1"/>
                  </a:solidFill>
                  <a:latin typeface="微软雅黑" pitchFamily="34" charset="-122"/>
                  <a:ea typeface="微软雅黑" pitchFamily="34" charset="-122"/>
                </a:rPr>
                <a:t>得知</a:t>
              </a:r>
              <a:r>
                <a:rPr lang="zh-CN" altLang="en-US" sz="1600" b="1" dirty="0">
                  <a:solidFill>
                    <a:schemeClr val="bg1"/>
                  </a:solidFill>
                  <a:latin typeface="微软雅黑" pitchFamily="34" charset="-122"/>
                  <a:ea typeface="微软雅黑" pitchFamily="34" charset="-122"/>
                </a:rPr>
                <a:t>所需的</a:t>
              </a:r>
              <a:r>
                <a:rPr lang="zh-CN" altLang="en-US" sz="1600" b="1" dirty="0" smtClean="0">
                  <a:solidFill>
                    <a:schemeClr val="bg1"/>
                  </a:solidFill>
                  <a:latin typeface="微软雅黑" pitchFamily="34" charset="-122"/>
                  <a:ea typeface="微软雅黑" pitchFamily="34" charset="-122"/>
                </a:rPr>
                <a:t>文件 </a:t>
              </a:r>
              <a:r>
                <a:rPr lang="en-US" altLang="zh-CN" sz="1600" b="1" dirty="0" smtClean="0">
                  <a:solidFill>
                    <a:schemeClr val="bg1"/>
                  </a:solidFill>
                  <a:latin typeface="微软雅黑" pitchFamily="34" charset="-122"/>
                  <a:ea typeface="微软雅黑" pitchFamily="34" charset="-122"/>
                </a:rPr>
                <a:t>123.MP3</a:t>
              </a:r>
              <a:r>
                <a:rPr lang="zh-CN" altLang="en-US" sz="1600" b="1" dirty="0" smtClean="0">
                  <a:solidFill>
                    <a:schemeClr val="bg1"/>
                  </a:solidFill>
                  <a:latin typeface="微软雅黑" pitchFamily="34" charset="-122"/>
                  <a:ea typeface="微软雅黑" pitchFamily="34" charset="-122"/>
                </a:rPr>
                <a:t>的</a:t>
              </a:r>
              <a:r>
                <a:rPr lang="zh-CN" altLang="en-US" sz="1600" b="1" dirty="0">
                  <a:solidFill>
                    <a:schemeClr val="bg1"/>
                  </a:solidFill>
                  <a:latin typeface="微软雅黑" pitchFamily="34" charset="-122"/>
                  <a:ea typeface="微软雅黑" pitchFamily="34" charset="-122"/>
                </a:rPr>
                <a:t>三个下载</a:t>
              </a:r>
              <a:r>
                <a:rPr lang="zh-CN" altLang="en-US" sz="1600" b="1" dirty="0" smtClean="0">
                  <a:solidFill>
                    <a:schemeClr val="bg1"/>
                  </a:solidFill>
                  <a:latin typeface="微软雅黑" pitchFamily="34" charset="-122"/>
                  <a:ea typeface="微软雅黑" pitchFamily="34" charset="-122"/>
                </a:rPr>
                <a:t>地点。</a:t>
              </a:r>
              <a:endParaRPr lang="zh-CN" altLang="en-US" sz="1600" b="1" dirty="0">
                <a:solidFill>
                  <a:schemeClr val="bg1"/>
                </a:solidFill>
                <a:latin typeface="微软雅黑" pitchFamily="34" charset="-122"/>
                <a:ea typeface="微软雅黑" pitchFamily="34" charset="-122"/>
              </a:endParaRPr>
            </a:p>
          </p:txBody>
        </p:sp>
        <p:sp>
          <p:nvSpPr>
            <p:cNvPr id="35" name="TextBox 34"/>
            <p:cNvSpPr txBox="1"/>
            <p:nvPr/>
          </p:nvSpPr>
          <p:spPr>
            <a:xfrm>
              <a:off x="643950" y="1494313"/>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smtClean="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36"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graphicFrame>
        <p:nvGraphicFramePr>
          <p:cNvPr id="37" name="Object 5">
            <a:hlinkClick r:id="" action="ppaction://ole?verb=0"/>
          </p:cNvPr>
          <p:cNvGraphicFramePr>
            <a:graphicFrameLocks/>
          </p:cNvGraphicFramePr>
          <p:nvPr>
            <p:extLst/>
          </p:nvPr>
        </p:nvGraphicFramePr>
        <p:xfrm>
          <a:off x="3824332" y="1986319"/>
          <a:ext cx="575345" cy="1000249"/>
        </p:xfrm>
        <a:graphic>
          <a:graphicData uri="http://schemas.openxmlformats.org/presentationml/2006/ole">
            <mc:AlternateContent xmlns:mc="http://schemas.openxmlformats.org/markup-compatibility/2006">
              <mc:Choice xmlns:v="urn:schemas-microsoft-com:vml" Requires="v">
                <p:oleObj spid="_x0000_s27671" name="Microsoft ClipArt Gallery" r:id="rId4" imgW="2735263" imgH="3825875" progId="">
                  <p:embed/>
                </p:oleObj>
              </mc:Choice>
              <mc:Fallback>
                <p:oleObj name="Microsoft ClipArt Gallery" r:id="rId4" imgW="2735263" imgH="3825875" progId="">
                  <p:embed/>
                  <p:pic>
                    <p:nvPicPr>
                      <p:cNvPr id="37" name="Object 5">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332"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 name="Text Box 6"/>
          <p:cNvSpPr txBox="1">
            <a:spLocks noChangeArrowheads="1"/>
          </p:cNvSpPr>
          <p:nvPr/>
        </p:nvSpPr>
        <p:spPr bwMode="auto">
          <a:xfrm>
            <a:off x="3266578" y="1495249"/>
            <a:ext cx="1493550" cy="523220"/>
          </a:xfrm>
          <a:prstGeom prst="rect">
            <a:avLst/>
          </a:prstGeom>
          <a:noFill/>
          <a:ln w="9525">
            <a:noFill/>
            <a:miter lim="800000"/>
            <a:headEnd/>
            <a:tailEnd/>
          </a:ln>
        </p:spPr>
        <p:txBody>
          <a:bodyPr wrap="none">
            <a:spAutoFit/>
          </a:bodyPr>
          <a:lstStyle/>
          <a:p>
            <a:pPr algn="ctr"/>
            <a:r>
              <a:rPr kumimoji="1" lang="en-US" altLang="zh-CN" sz="1400" b="1" dirty="0" smtClean="0">
                <a:latin typeface="微软雅黑" pitchFamily="34" charset="-122"/>
                <a:ea typeface="微软雅黑" pitchFamily="34" charset="-122"/>
                <a:cs typeface="Times New Roman" pitchFamily="18" charset="0"/>
              </a:rPr>
              <a:t>Napster </a:t>
            </a:r>
            <a:r>
              <a:rPr kumimoji="1" lang="zh-CN" altLang="en-US" sz="1400" b="1" dirty="0" smtClean="0">
                <a:latin typeface="微软雅黑" pitchFamily="34" charset="-122"/>
                <a:ea typeface="微软雅黑" pitchFamily="34" charset="-122"/>
                <a:cs typeface="Times New Roman" pitchFamily="18" charset="0"/>
              </a:rPr>
              <a:t>集中式</a:t>
            </a:r>
            <a:endParaRPr kumimoji="1" lang="zh-CN" altLang="en-US" sz="1400" b="1" dirty="0">
              <a:latin typeface="微软雅黑" pitchFamily="34" charset="-122"/>
              <a:ea typeface="微软雅黑" pitchFamily="34" charset="-122"/>
              <a:cs typeface="Times New Roman" pitchFamily="18" charset="0"/>
            </a:endParaRPr>
          </a:p>
          <a:p>
            <a:pPr algn="ctr"/>
            <a:r>
              <a:rPr kumimoji="1" lang="zh-CN" altLang="en-US" sz="1400" b="1" dirty="0" smtClean="0">
                <a:latin typeface="微软雅黑" pitchFamily="34" charset="-122"/>
                <a:ea typeface="微软雅黑" pitchFamily="34" charset="-122"/>
                <a:cs typeface="Times New Roman" pitchFamily="18" charset="0"/>
              </a:rPr>
              <a:t>目录服务器</a:t>
            </a:r>
            <a:endParaRPr kumimoji="1" lang="zh-CN" altLang="en-US" sz="1400" b="1" dirty="0">
              <a:latin typeface="微软雅黑" pitchFamily="34" charset="-122"/>
              <a:ea typeface="微软雅黑" pitchFamily="34" charset="-122"/>
              <a:cs typeface="Times New Roman" pitchFamily="18" charset="0"/>
            </a:endParaRPr>
          </a:p>
        </p:txBody>
      </p:sp>
      <p:pic>
        <p:nvPicPr>
          <p:cNvPr id="39" name="Picture 9"/>
          <p:cNvPicPr>
            <a:picLocks noChangeArrowheads="1"/>
          </p:cNvPicPr>
          <p:nvPr/>
        </p:nvPicPr>
        <p:blipFill>
          <a:blip r:embed="rId6" cstate="print"/>
          <a:srcRect/>
          <a:stretch>
            <a:fillRect/>
          </a:stretch>
        </p:blipFill>
        <p:spPr bwMode="auto">
          <a:xfrm>
            <a:off x="5796446" y="1215251"/>
            <a:ext cx="432469" cy="427137"/>
          </a:xfrm>
          <a:prstGeom prst="rect">
            <a:avLst/>
          </a:prstGeom>
          <a:noFill/>
          <a:ln w="9525">
            <a:noFill/>
            <a:miter lim="800000"/>
            <a:headEnd/>
            <a:tailEnd/>
          </a:ln>
        </p:spPr>
      </p:pic>
      <p:sp>
        <p:nvSpPr>
          <p:cNvPr id="40" name="Text Box 13"/>
          <p:cNvSpPr txBox="1">
            <a:spLocks noChangeArrowheads="1"/>
          </p:cNvSpPr>
          <p:nvPr/>
        </p:nvSpPr>
        <p:spPr bwMode="auto">
          <a:xfrm>
            <a:off x="7064692"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41" name="Picture 9"/>
          <p:cNvPicPr>
            <a:picLocks noChangeArrowheads="1"/>
          </p:cNvPicPr>
          <p:nvPr/>
        </p:nvPicPr>
        <p:blipFill>
          <a:blip r:embed="rId6" cstate="print"/>
          <a:srcRect/>
          <a:stretch>
            <a:fillRect/>
          </a:stretch>
        </p:blipFill>
        <p:spPr bwMode="auto">
          <a:xfrm>
            <a:off x="6920676" y="1431275"/>
            <a:ext cx="432469" cy="427137"/>
          </a:xfrm>
          <a:prstGeom prst="rect">
            <a:avLst/>
          </a:prstGeom>
          <a:noFill/>
          <a:ln w="9525">
            <a:noFill/>
            <a:miter lim="800000"/>
            <a:headEnd/>
            <a:tailEnd/>
          </a:ln>
        </p:spPr>
      </p:pic>
      <p:pic>
        <p:nvPicPr>
          <p:cNvPr id="42" name="Picture 9"/>
          <p:cNvPicPr>
            <a:picLocks noChangeArrowheads="1"/>
          </p:cNvPicPr>
          <p:nvPr/>
        </p:nvPicPr>
        <p:blipFill>
          <a:blip r:embed="rId6" cstate="print"/>
          <a:srcRect/>
          <a:stretch>
            <a:fillRect/>
          </a:stretch>
        </p:blipFill>
        <p:spPr bwMode="auto">
          <a:xfrm>
            <a:off x="7640756" y="2490375"/>
            <a:ext cx="432469" cy="427137"/>
          </a:xfrm>
          <a:prstGeom prst="rect">
            <a:avLst/>
          </a:prstGeom>
          <a:noFill/>
          <a:ln w="9525">
            <a:noFill/>
            <a:miter lim="800000"/>
            <a:headEnd/>
            <a:tailEnd/>
          </a:ln>
        </p:spPr>
      </p:pic>
      <p:pic>
        <p:nvPicPr>
          <p:cNvPr id="43" name="Picture 9"/>
          <p:cNvPicPr>
            <a:picLocks noChangeArrowheads="1"/>
          </p:cNvPicPr>
          <p:nvPr/>
        </p:nvPicPr>
        <p:blipFill>
          <a:blip r:embed="rId6" cstate="print"/>
          <a:srcRect/>
          <a:stretch>
            <a:fillRect/>
          </a:stretch>
        </p:blipFill>
        <p:spPr bwMode="auto">
          <a:xfrm>
            <a:off x="6776660" y="3282463"/>
            <a:ext cx="432469" cy="427137"/>
          </a:xfrm>
          <a:prstGeom prst="rect">
            <a:avLst/>
          </a:prstGeom>
          <a:noFill/>
          <a:ln w="9525">
            <a:noFill/>
            <a:miter lim="800000"/>
            <a:headEnd/>
            <a:tailEnd/>
          </a:ln>
        </p:spPr>
      </p:pic>
      <p:pic>
        <p:nvPicPr>
          <p:cNvPr id="44" name="Picture 9"/>
          <p:cNvPicPr>
            <a:picLocks noChangeArrowheads="1"/>
          </p:cNvPicPr>
          <p:nvPr/>
        </p:nvPicPr>
        <p:blipFill>
          <a:blip r:embed="rId6" cstate="print"/>
          <a:srcRect/>
          <a:stretch>
            <a:fillRect/>
          </a:stretch>
        </p:blipFill>
        <p:spPr bwMode="auto">
          <a:xfrm>
            <a:off x="5048468" y="3619921"/>
            <a:ext cx="432469" cy="427137"/>
          </a:xfrm>
          <a:prstGeom prst="rect">
            <a:avLst/>
          </a:prstGeom>
          <a:noFill/>
          <a:ln w="9525">
            <a:noFill/>
            <a:miter lim="800000"/>
            <a:headEnd/>
            <a:tailEnd/>
          </a:ln>
        </p:spPr>
      </p:pic>
      <p:pic>
        <p:nvPicPr>
          <p:cNvPr id="45" name="Picture 9"/>
          <p:cNvPicPr>
            <a:picLocks noChangeArrowheads="1"/>
          </p:cNvPicPr>
          <p:nvPr/>
        </p:nvPicPr>
        <p:blipFill>
          <a:blip r:embed="rId6" cstate="print"/>
          <a:srcRect/>
          <a:stretch>
            <a:fillRect/>
          </a:stretch>
        </p:blipFill>
        <p:spPr bwMode="auto">
          <a:xfrm>
            <a:off x="3932556" y="3393387"/>
            <a:ext cx="432469" cy="427137"/>
          </a:xfrm>
          <a:prstGeom prst="rect">
            <a:avLst/>
          </a:prstGeom>
          <a:noFill/>
          <a:ln w="9525">
            <a:noFill/>
            <a:miter lim="800000"/>
            <a:headEnd/>
            <a:tailEnd/>
          </a:ln>
        </p:spPr>
      </p:pic>
      <p:sp>
        <p:nvSpPr>
          <p:cNvPr id="46" name="Text Box 13"/>
          <p:cNvSpPr txBox="1">
            <a:spLocks noChangeArrowheads="1"/>
          </p:cNvSpPr>
          <p:nvPr/>
        </p:nvSpPr>
        <p:spPr bwMode="auto">
          <a:xfrm>
            <a:off x="5408508" y="3619921"/>
            <a:ext cx="28886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C</a:t>
            </a:r>
            <a:endParaRPr lang="en-US" altLang="zh-CN" sz="1200" b="1" dirty="0">
              <a:latin typeface="微软雅黑" pitchFamily="34" charset="-122"/>
              <a:ea typeface="微软雅黑" pitchFamily="34" charset="-122"/>
              <a:cs typeface="Times New Roman" pitchFamily="18" charset="0"/>
            </a:endParaRPr>
          </a:p>
        </p:txBody>
      </p:sp>
      <p:sp>
        <p:nvSpPr>
          <p:cNvPr id="47" name="Text Box 13"/>
          <p:cNvSpPr txBox="1">
            <a:spLocks noChangeArrowheads="1"/>
          </p:cNvSpPr>
          <p:nvPr/>
        </p:nvSpPr>
        <p:spPr bwMode="auto">
          <a:xfrm>
            <a:off x="8000796" y="2490375"/>
            <a:ext cx="29046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B</a:t>
            </a:r>
            <a:endParaRPr lang="en-US" altLang="zh-CN" sz="1200" b="1" dirty="0">
              <a:latin typeface="微软雅黑" pitchFamily="34" charset="-122"/>
              <a:ea typeface="微软雅黑" pitchFamily="34" charset="-122"/>
              <a:cs typeface="Times New Roman" pitchFamily="18" charset="0"/>
            </a:endParaRPr>
          </a:p>
        </p:txBody>
      </p:sp>
      <p:sp>
        <p:nvSpPr>
          <p:cNvPr id="48" name="Text Box 13"/>
          <p:cNvSpPr txBox="1">
            <a:spLocks noChangeArrowheads="1"/>
          </p:cNvSpPr>
          <p:nvPr/>
        </p:nvSpPr>
        <p:spPr bwMode="auto">
          <a:xfrm>
            <a:off x="6156486" y="12152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cxnSp>
        <p:nvCxnSpPr>
          <p:cNvPr id="50" name="直接箭头连接符 49"/>
          <p:cNvCxnSpPr/>
          <p:nvPr/>
        </p:nvCxnSpPr>
        <p:spPr>
          <a:xfrm rot="10800000" flipH="1" flipV="1">
            <a:off x="4431972" y="2815881"/>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55" name="TextBox 25"/>
          <p:cNvSpPr txBox="1"/>
          <p:nvPr/>
        </p:nvSpPr>
        <p:spPr>
          <a:xfrm>
            <a:off x="4256380" y="279178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smtClean="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57" name="TextBox 27"/>
          <p:cNvSpPr txBox="1"/>
          <p:nvPr/>
        </p:nvSpPr>
        <p:spPr>
          <a:xfrm rot="1111699">
            <a:off x="4988072" y="2870700"/>
            <a:ext cx="1364391"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有。</a:t>
            </a:r>
          </a:p>
        </p:txBody>
      </p:sp>
      <p:sp>
        <p:nvSpPr>
          <p:cNvPr id="62" name="Text Box 13"/>
          <p:cNvSpPr txBox="1">
            <a:spLocks noChangeArrowheads="1"/>
          </p:cNvSpPr>
          <p:nvPr/>
        </p:nvSpPr>
        <p:spPr bwMode="auto">
          <a:xfrm>
            <a:off x="7375335" y="1520694"/>
            <a:ext cx="30649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D</a:t>
            </a:r>
            <a:endParaRPr lang="en-US" altLang="zh-CN" sz="1200" b="1" dirty="0">
              <a:latin typeface="微软雅黑" pitchFamily="34" charset="-122"/>
              <a:ea typeface="微软雅黑" pitchFamily="34" charset="-122"/>
              <a:cs typeface="Times New Roman" pitchFamily="18" charset="0"/>
            </a:endParaRPr>
          </a:p>
        </p:txBody>
      </p:sp>
      <p:sp>
        <p:nvSpPr>
          <p:cNvPr id="63" name="Text Box 13"/>
          <p:cNvSpPr txBox="1">
            <a:spLocks noChangeArrowheads="1"/>
          </p:cNvSpPr>
          <p:nvPr/>
        </p:nvSpPr>
        <p:spPr bwMode="auto">
          <a:xfrm>
            <a:off x="4069702" y="3823651"/>
            <a:ext cx="27283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E</a:t>
            </a:r>
            <a:endParaRPr lang="en-US" altLang="zh-CN" sz="1200" b="1" dirty="0">
              <a:latin typeface="微软雅黑" pitchFamily="34" charset="-122"/>
              <a:ea typeface="微软雅黑" pitchFamily="34" charset="-122"/>
              <a:cs typeface="Times New Roman" pitchFamily="18" charset="0"/>
            </a:endParaRPr>
          </a:p>
        </p:txBody>
      </p:sp>
    </p:spTree>
    <p:extLst>
      <p:ext uri="{BB962C8B-B14F-4D97-AF65-F5344CB8AC3E}">
        <p14:creationId xmlns:p14="http://schemas.microsoft.com/office/powerpoint/2010/main" val="24312048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3" name="Group 188"/>
          <p:cNvGrpSpPr>
            <a:grpSpLocks/>
          </p:cNvGrpSpPr>
          <p:nvPr/>
        </p:nvGrpSpPr>
        <p:grpSpPr bwMode="auto">
          <a:xfrm>
            <a:off x="4677045" y="1929087"/>
            <a:ext cx="2755313" cy="1346822"/>
            <a:chOff x="1719" y="1709"/>
            <a:chExt cx="1775" cy="1123"/>
          </a:xfrm>
        </p:grpSpPr>
        <p:sp>
          <p:nvSpPr>
            <p:cNvPr id="64" name="Oval 189"/>
            <p:cNvSpPr>
              <a:spLocks noChangeArrowheads="1"/>
            </p:cNvSpPr>
            <p:nvPr/>
          </p:nvSpPr>
          <p:spPr bwMode="auto">
            <a:xfrm>
              <a:off x="2109" y="1709"/>
              <a:ext cx="736"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5" name="Oval 190"/>
            <p:cNvSpPr>
              <a:spLocks noChangeArrowheads="1"/>
            </p:cNvSpPr>
            <p:nvPr/>
          </p:nvSpPr>
          <p:spPr bwMode="auto">
            <a:xfrm>
              <a:off x="2542" y="1752"/>
              <a:ext cx="692" cy="346"/>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6" name="Oval 191"/>
            <p:cNvSpPr>
              <a:spLocks noChangeArrowheads="1"/>
            </p:cNvSpPr>
            <p:nvPr/>
          </p:nvSpPr>
          <p:spPr bwMode="auto">
            <a:xfrm>
              <a:off x="2715" y="1925"/>
              <a:ext cx="692"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7" name="Oval 192"/>
            <p:cNvSpPr>
              <a:spLocks noChangeArrowheads="1"/>
            </p:cNvSpPr>
            <p:nvPr/>
          </p:nvSpPr>
          <p:spPr bwMode="auto">
            <a:xfrm>
              <a:off x="2801" y="2141"/>
              <a:ext cx="693" cy="51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8" name="Oval 193"/>
            <p:cNvSpPr>
              <a:spLocks noChangeArrowheads="1"/>
            </p:cNvSpPr>
            <p:nvPr/>
          </p:nvSpPr>
          <p:spPr bwMode="auto">
            <a:xfrm>
              <a:off x="2412" y="2270"/>
              <a:ext cx="692" cy="562"/>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9" name="Oval 194"/>
            <p:cNvSpPr>
              <a:spLocks noChangeArrowheads="1"/>
            </p:cNvSpPr>
            <p:nvPr/>
          </p:nvSpPr>
          <p:spPr bwMode="auto">
            <a:xfrm>
              <a:off x="1935" y="2141"/>
              <a:ext cx="693" cy="64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0" name="Oval 195"/>
            <p:cNvSpPr>
              <a:spLocks noChangeArrowheads="1"/>
            </p:cNvSpPr>
            <p:nvPr/>
          </p:nvSpPr>
          <p:spPr bwMode="auto">
            <a:xfrm>
              <a:off x="1719" y="1838"/>
              <a:ext cx="693" cy="60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1" name="Freeform 196"/>
            <p:cNvSpPr>
              <a:spLocks/>
            </p:cNvSpPr>
            <p:nvPr/>
          </p:nvSpPr>
          <p:spPr bwMode="auto">
            <a:xfrm>
              <a:off x="1893" y="1753"/>
              <a:ext cx="1470" cy="1037"/>
            </a:xfrm>
            <a:custGeom>
              <a:avLst/>
              <a:gdLst>
                <a:gd name="T0" fmla="*/ 8 w 1632"/>
                <a:gd name="T1" fmla="*/ 30 h 1152"/>
                <a:gd name="T2" fmla="*/ 59 w 1632"/>
                <a:gd name="T3" fmla="*/ 8 h 1152"/>
                <a:gd name="T4" fmla="*/ 102 w 1632"/>
                <a:gd name="T5" fmla="*/ 0 h 1152"/>
                <a:gd name="T6" fmla="*/ 190 w 1632"/>
                <a:gd name="T7" fmla="*/ 8 h 1152"/>
                <a:gd name="T8" fmla="*/ 219 w 1632"/>
                <a:gd name="T9" fmla="*/ 22 h 1152"/>
                <a:gd name="T10" fmla="*/ 234 w 1632"/>
                <a:gd name="T11" fmla="*/ 50 h 1152"/>
                <a:gd name="T12" fmla="*/ 249 w 1632"/>
                <a:gd name="T13" fmla="*/ 58 h 1152"/>
                <a:gd name="T14" fmla="*/ 234 w 1632"/>
                <a:gd name="T15" fmla="*/ 137 h 1152"/>
                <a:gd name="T16" fmla="*/ 139 w 1632"/>
                <a:gd name="T17" fmla="*/ 174 h 1152"/>
                <a:gd name="T18" fmla="*/ 44 w 1632"/>
                <a:gd name="T19" fmla="*/ 145 h 1152"/>
                <a:gd name="T20" fmla="*/ 14 w 1632"/>
                <a:gd name="T21" fmla="*/ 115 h 1152"/>
                <a:gd name="T22" fmla="*/ 0 w 1632"/>
                <a:gd name="T23" fmla="*/ 109 h 1152"/>
                <a:gd name="T24" fmla="*/ 8 w 1632"/>
                <a:gd name="T25" fmla="*/ 30 h 1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2" h="1152">
                  <a:moveTo>
                    <a:pt x="48" y="192"/>
                  </a:moveTo>
                  <a:lnTo>
                    <a:pt x="384" y="48"/>
                  </a:lnTo>
                  <a:lnTo>
                    <a:pt x="672" y="0"/>
                  </a:lnTo>
                  <a:lnTo>
                    <a:pt x="1248" y="48"/>
                  </a:lnTo>
                  <a:lnTo>
                    <a:pt x="1440" y="144"/>
                  </a:lnTo>
                  <a:lnTo>
                    <a:pt x="1536" y="336"/>
                  </a:lnTo>
                  <a:lnTo>
                    <a:pt x="1632" y="384"/>
                  </a:lnTo>
                  <a:lnTo>
                    <a:pt x="1536" y="912"/>
                  </a:lnTo>
                  <a:lnTo>
                    <a:pt x="912" y="1152"/>
                  </a:lnTo>
                  <a:lnTo>
                    <a:pt x="288" y="960"/>
                  </a:lnTo>
                  <a:lnTo>
                    <a:pt x="96" y="768"/>
                  </a:lnTo>
                  <a:lnTo>
                    <a:pt x="0" y="720"/>
                  </a:lnTo>
                  <a:lnTo>
                    <a:pt x="48" y="192"/>
                  </a:lnTo>
                  <a:close/>
                </a:path>
              </a:pathLst>
            </a:custGeom>
            <a:solidFill>
              <a:srgbClr val="CC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2" name="Text Box 275"/>
          <p:cNvSpPr txBox="1">
            <a:spLocks noChangeArrowheads="1"/>
          </p:cNvSpPr>
          <p:nvPr/>
        </p:nvSpPr>
        <p:spPr bwMode="auto">
          <a:xfrm>
            <a:off x="5547446" y="2369078"/>
            <a:ext cx="1032141" cy="30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r>
              <a:rPr kumimoji="1" lang="zh-CN" altLang="en-US" sz="1400" b="1" dirty="0">
                <a:latin typeface="微软雅黑" pitchFamily="34" charset="-122"/>
                <a:ea typeface="微软雅黑" pitchFamily="34" charset="-122"/>
                <a:cs typeface="Times New Roman" pitchFamily="18" charset="0"/>
              </a:rPr>
              <a:t>互联网</a:t>
            </a:r>
            <a:endParaRPr kumimoji="1" lang="en-US" altLang="zh-CN" sz="1400" b="1" dirty="0">
              <a:latin typeface="微软雅黑" pitchFamily="34" charset="-122"/>
              <a:ea typeface="微软雅黑" pitchFamily="34" charset="-122"/>
              <a:cs typeface="Times New Roman" pitchFamily="18" charset="0"/>
            </a:endParaRPr>
          </a:p>
        </p:txBody>
      </p:sp>
      <p:cxnSp>
        <p:nvCxnSpPr>
          <p:cNvPr id="73" name="直接连接符 72"/>
          <p:cNvCxnSpPr>
            <a:endCxn id="69" idx="3"/>
          </p:cNvCxnSpPr>
          <p:nvPr/>
        </p:nvCxnSpPr>
        <p:spPr>
          <a:xfrm flipV="1">
            <a:off x="4365025" y="3110528"/>
            <a:ext cx="804852" cy="496428"/>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4" name="直接连接符 73"/>
          <p:cNvCxnSpPr>
            <a:endCxn id="70" idx="2"/>
          </p:cNvCxnSpPr>
          <p:nvPr/>
        </p:nvCxnSpPr>
        <p:spPr>
          <a:xfrm flipV="1">
            <a:off x="4399677" y="2446589"/>
            <a:ext cx="277368" cy="3985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a:endCxn id="69" idx="4"/>
          </p:cNvCxnSpPr>
          <p:nvPr/>
        </p:nvCxnSpPr>
        <p:spPr>
          <a:xfrm flipV="1">
            <a:off x="5264703" y="3224339"/>
            <a:ext cx="285504" cy="39558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a:endCxn id="68" idx="5"/>
          </p:cNvCxnSpPr>
          <p:nvPr/>
        </p:nvCxnSpPr>
        <p:spPr>
          <a:xfrm flipH="1" flipV="1">
            <a:off x="6669654" y="3177202"/>
            <a:ext cx="107006" cy="31883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7" name="直接连接符 76"/>
          <p:cNvCxnSpPr>
            <a:endCxn id="67" idx="7"/>
          </p:cNvCxnSpPr>
          <p:nvPr/>
        </p:nvCxnSpPr>
        <p:spPr>
          <a:xfrm flipH="1" flipV="1">
            <a:off x="7274820" y="2538167"/>
            <a:ext cx="365936" cy="165777"/>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8" name="直接连接符 77"/>
          <p:cNvCxnSpPr>
            <a:stCxn id="65" idx="7"/>
          </p:cNvCxnSpPr>
          <p:nvPr/>
        </p:nvCxnSpPr>
        <p:spPr>
          <a:xfrm flipV="1">
            <a:off x="6871452" y="1858412"/>
            <a:ext cx="265459" cy="18301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9" name="直接连接符 78"/>
          <p:cNvCxnSpPr>
            <a:stCxn id="64" idx="0"/>
          </p:cNvCxnSpPr>
          <p:nvPr/>
        </p:nvCxnSpPr>
        <p:spPr>
          <a:xfrm flipV="1">
            <a:off x="5853681" y="1642388"/>
            <a:ext cx="159000" cy="286699"/>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Napster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工作过程</a:t>
            </a:r>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pSp>
        <p:nvGrpSpPr>
          <p:cNvPr id="7" name="组合 6"/>
          <p:cNvGrpSpPr/>
          <p:nvPr/>
        </p:nvGrpSpPr>
        <p:grpSpPr>
          <a:xfrm>
            <a:off x="1015810" y="1375405"/>
            <a:ext cx="2250768" cy="2349361"/>
            <a:chOff x="1015810" y="1419795"/>
            <a:chExt cx="2250768" cy="2349361"/>
          </a:xfrm>
        </p:grpSpPr>
        <p:sp>
          <p:nvSpPr>
            <p:cNvPr id="4" name="矩形 3"/>
            <p:cNvSpPr/>
            <p:nvPr/>
          </p:nvSpPr>
          <p:spPr>
            <a:xfrm>
              <a:off x="1015810" y="1419795"/>
              <a:ext cx="2250768" cy="2349361"/>
            </a:xfrm>
            <a:prstGeom prst="rect">
              <a:avLst/>
            </a:prstGeom>
            <a:solidFill>
              <a:srgbClr val="0070C0"/>
            </a:solidFill>
          </p:spPr>
          <p:txBody>
            <a:bodyPr wrap="square">
              <a:spAutoFit/>
            </a:bodyPr>
            <a:lstStyle/>
            <a:p>
              <a:pPr marL="452438">
                <a:lnSpc>
                  <a:spcPts val="2200"/>
                </a:lnSpc>
              </a:pPr>
              <a:r>
                <a:rPr lang="zh-CN" altLang="en-US" sz="1600" b="1" dirty="0" smtClean="0">
                  <a:solidFill>
                    <a:schemeClr val="bg1"/>
                  </a:solidFill>
                  <a:latin typeface="微软雅黑" pitchFamily="34" charset="-122"/>
                  <a:ea typeface="微软雅黑" pitchFamily="34" charset="-122"/>
                </a:rPr>
                <a:t>用户 </a:t>
              </a:r>
              <a:r>
                <a:rPr lang="en-US" altLang="zh-CN" sz="1600" b="1" dirty="0" smtClean="0">
                  <a:solidFill>
                    <a:schemeClr val="bg1"/>
                  </a:solidFill>
                  <a:latin typeface="微软雅黑" pitchFamily="34" charset="-122"/>
                  <a:ea typeface="微软雅黑" pitchFamily="34" charset="-122"/>
                </a:rPr>
                <a:t>X </a:t>
              </a:r>
              <a:r>
                <a:rPr lang="zh-CN" altLang="en-US" sz="1600" b="1" dirty="0" smtClean="0">
                  <a:solidFill>
                    <a:schemeClr val="bg1"/>
                  </a:solidFill>
                  <a:latin typeface="微软雅黑" pitchFamily="34" charset="-122"/>
                  <a:ea typeface="微软雅黑" pitchFamily="34" charset="-122"/>
                </a:rPr>
                <a:t>可以</a:t>
              </a:r>
              <a:r>
                <a:rPr lang="zh-CN" altLang="en-US" sz="1600" b="1" dirty="0">
                  <a:solidFill>
                    <a:srgbClr val="FFFF00"/>
                  </a:solidFill>
                  <a:latin typeface="微软雅黑" pitchFamily="34" charset="-122"/>
                  <a:ea typeface="微软雅黑" pitchFamily="34" charset="-122"/>
                </a:rPr>
                <a:t>随机</a:t>
              </a:r>
              <a:r>
                <a:rPr lang="zh-CN" altLang="en-US" sz="1600" b="1" dirty="0">
                  <a:solidFill>
                    <a:schemeClr val="bg1"/>
                  </a:solidFill>
                  <a:latin typeface="微软雅黑" pitchFamily="34" charset="-122"/>
                  <a:ea typeface="微软雅黑" pitchFamily="34" charset="-122"/>
                </a:rPr>
                <a:t>地选择三个地点中的任一个。</a:t>
              </a:r>
              <a:r>
                <a:rPr lang="zh-CN" altLang="en-US" sz="1600" b="1" dirty="0" smtClean="0">
                  <a:solidFill>
                    <a:schemeClr val="bg1"/>
                  </a:solidFill>
                  <a:latin typeface="微软雅黑" pitchFamily="34" charset="-122"/>
                  <a:ea typeface="微软雅黑" pitchFamily="34" charset="-122"/>
                </a:rPr>
                <a:t>假定 </a:t>
              </a:r>
              <a:r>
                <a:rPr lang="en-US" altLang="zh-CN" sz="1600" b="1" dirty="0" smtClean="0">
                  <a:solidFill>
                    <a:schemeClr val="bg1"/>
                  </a:solidFill>
                  <a:latin typeface="微软雅黑" pitchFamily="34" charset="-122"/>
                  <a:ea typeface="微软雅黑" pitchFamily="34" charset="-122"/>
                </a:rPr>
                <a:t>X </a:t>
              </a:r>
              <a:r>
                <a:rPr lang="zh-CN" altLang="en-US" sz="1600" b="1" dirty="0" smtClean="0">
                  <a:solidFill>
                    <a:schemeClr val="bg1"/>
                  </a:solidFill>
                  <a:latin typeface="微软雅黑" pitchFamily="34" charset="-122"/>
                  <a:ea typeface="微软雅黑" pitchFamily="34" charset="-122"/>
                </a:rPr>
                <a:t>向 </a:t>
              </a:r>
              <a:r>
                <a:rPr lang="en-US" altLang="zh-CN" sz="1600" b="1" dirty="0" smtClean="0">
                  <a:solidFill>
                    <a:schemeClr val="bg1"/>
                  </a:solidFill>
                  <a:latin typeface="微软雅黑" pitchFamily="34" charset="-122"/>
                  <a:ea typeface="微软雅黑" pitchFamily="34" charset="-122"/>
                </a:rPr>
                <a:t>A </a:t>
              </a:r>
              <a:r>
                <a:rPr lang="zh-CN" altLang="en-US" sz="1600" b="1" dirty="0" smtClean="0">
                  <a:solidFill>
                    <a:schemeClr val="bg1"/>
                  </a:solidFill>
                  <a:latin typeface="微软雅黑" pitchFamily="34" charset="-122"/>
                  <a:ea typeface="微软雅黑" pitchFamily="34" charset="-122"/>
                </a:rPr>
                <a:t>发送</a:t>
              </a:r>
              <a:r>
                <a:rPr lang="zh-CN" altLang="en-US" sz="1600" b="1" dirty="0">
                  <a:solidFill>
                    <a:schemeClr val="bg1"/>
                  </a:solidFill>
                  <a:latin typeface="微软雅黑" pitchFamily="34" charset="-122"/>
                  <a:ea typeface="微软雅黑" pitchFamily="34" charset="-122"/>
                </a:rPr>
                <a:t>下载</a:t>
              </a:r>
              <a:r>
                <a:rPr lang="zh-CN" altLang="en-US" sz="1600" b="1" dirty="0" smtClean="0">
                  <a:solidFill>
                    <a:schemeClr val="bg1"/>
                  </a:solidFill>
                  <a:latin typeface="微软雅黑" pitchFamily="34" charset="-122"/>
                  <a:ea typeface="微软雅黑" pitchFamily="34" charset="-122"/>
                </a:rPr>
                <a:t>文件 </a:t>
              </a:r>
              <a:r>
                <a:rPr lang="en-US" altLang="zh-CN" sz="1600" b="1" dirty="0" smtClean="0">
                  <a:solidFill>
                    <a:schemeClr val="bg1"/>
                  </a:solidFill>
                  <a:latin typeface="微软雅黑" pitchFamily="34" charset="-122"/>
                  <a:ea typeface="微软雅黑" pitchFamily="34" charset="-122"/>
                </a:rPr>
                <a:t>123.mp3 </a:t>
              </a:r>
              <a:r>
                <a:rPr lang="zh-CN" altLang="en-US" sz="1600" b="1" dirty="0" smtClean="0">
                  <a:solidFill>
                    <a:schemeClr val="bg1"/>
                  </a:solidFill>
                  <a:latin typeface="微软雅黑" pitchFamily="34" charset="-122"/>
                  <a:ea typeface="微软雅黑" pitchFamily="34" charset="-122"/>
                </a:rPr>
                <a:t>的</a:t>
              </a:r>
              <a:r>
                <a:rPr lang="zh-CN" altLang="en-US" sz="1600" b="1" dirty="0">
                  <a:solidFill>
                    <a:schemeClr val="bg1"/>
                  </a:solidFill>
                  <a:latin typeface="微软雅黑" pitchFamily="34" charset="-122"/>
                  <a:ea typeface="微软雅黑" pitchFamily="34" charset="-122"/>
                </a:rPr>
                <a:t>请求报文</a:t>
              </a:r>
              <a:r>
                <a:rPr lang="zh-CN" altLang="en-US" sz="1600" b="1" dirty="0" smtClean="0">
                  <a:solidFill>
                    <a:schemeClr val="bg1"/>
                  </a:solidFill>
                  <a:latin typeface="微软雅黑" pitchFamily="34" charset="-122"/>
                  <a:ea typeface="微软雅黑" pitchFamily="34" charset="-122"/>
                </a:rPr>
                <a:t>。这时使用的就是</a:t>
              </a:r>
              <a:r>
                <a:rPr lang="en-US" altLang="zh-CN" sz="1600" b="1" dirty="0" smtClean="0">
                  <a:solidFill>
                    <a:schemeClr val="bg1"/>
                  </a:solidFill>
                  <a:latin typeface="微软雅黑" pitchFamily="34" charset="-122"/>
                  <a:ea typeface="微软雅黑" pitchFamily="34" charset="-122"/>
                </a:rPr>
                <a:t>P2P</a:t>
              </a:r>
              <a:r>
                <a:rPr lang="zh-CN" altLang="en-US" sz="1600" b="1" dirty="0" smtClean="0">
                  <a:solidFill>
                    <a:schemeClr val="bg1"/>
                  </a:solidFill>
                  <a:latin typeface="微软雅黑" pitchFamily="34" charset="-122"/>
                  <a:ea typeface="微软雅黑" pitchFamily="34" charset="-122"/>
                </a:rPr>
                <a:t>的通信方式。</a:t>
              </a:r>
              <a:endParaRPr lang="zh-CN" altLang="en-US" sz="1600" b="1" dirty="0">
                <a:solidFill>
                  <a:schemeClr val="bg1"/>
                </a:solidFill>
                <a:latin typeface="微软雅黑" pitchFamily="34" charset="-122"/>
                <a:ea typeface="微软雅黑" pitchFamily="34" charset="-122"/>
              </a:endParaRPr>
            </a:p>
          </p:txBody>
        </p:sp>
        <p:sp>
          <p:nvSpPr>
            <p:cNvPr id="33" name="TextBox 32"/>
            <p:cNvSpPr txBox="1"/>
            <p:nvPr/>
          </p:nvSpPr>
          <p:spPr>
            <a:xfrm>
              <a:off x="1105843" y="1439670"/>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smtClean="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3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graphicFrame>
        <p:nvGraphicFramePr>
          <p:cNvPr id="36" name="Object 5">
            <a:hlinkClick r:id="" action="ppaction://ole?verb=0"/>
          </p:cNvPr>
          <p:cNvGraphicFramePr>
            <a:graphicFrameLocks/>
          </p:cNvGraphicFramePr>
          <p:nvPr>
            <p:extLst/>
          </p:nvPr>
        </p:nvGraphicFramePr>
        <p:xfrm>
          <a:off x="3824332" y="1986319"/>
          <a:ext cx="575345" cy="1000249"/>
        </p:xfrm>
        <a:graphic>
          <a:graphicData uri="http://schemas.openxmlformats.org/presentationml/2006/ole">
            <mc:AlternateContent xmlns:mc="http://schemas.openxmlformats.org/markup-compatibility/2006">
              <mc:Choice xmlns:v="urn:schemas-microsoft-com:vml" Requires="v">
                <p:oleObj spid="_x0000_s28695" name="Microsoft ClipArt Gallery" r:id="rId4" imgW="2735263" imgH="3825875" progId="">
                  <p:embed/>
                </p:oleObj>
              </mc:Choice>
              <mc:Fallback>
                <p:oleObj name="Microsoft ClipArt Gallery" r:id="rId4" imgW="2735263" imgH="3825875" progId="">
                  <p:embed/>
                  <p:pic>
                    <p:nvPicPr>
                      <p:cNvPr id="36" name="Object 5">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332"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 name="Text Box 6"/>
          <p:cNvSpPr txBox="1">
            <a:spLocks noChangeArrowheads="1"/>
          </p:cNvSpPr>
          <p:nvPr/>
        </p:nvSpPr>
        <p:spPr bwMode="auto">
          <a:xfrm>
            <a:off x="3266578" y="1495249"/>
            <a:ext cx="1493550" cy="523220"/>
          </a:xfrm>
          <a:prstGeom prst="rect">
            <a:avLst/>
          </a:prstGeom>
          <a:noFill/>
          <a:ln w="9525">
            <a:noFill/>
            <a:miter lim="800000"/>
            <a:headEnd/>
            <a:tailEnd/>
          </a:ln>
        </p:spPr>
        <p:txBody>
          <a:bodyPr wrap="none">
            <a:spAutoFit/>
          </a:bodyPr>
          <a:lstStyle/>
          <a:p>
            <a:pPr algn="ctr"/>
            <a:r>
              <a:rPr kumimoji="1" lang="en-US" altLang="zh-CN" sz="1400" b="1" dirty="0" smtClean="0">
                <a:latin typeface="微软雅黑" pitchFamily="34" charset="-122"/>
                <a:ea typeface="微软雅黑" pitchFamily="34" charset="-122"/>
                <a:cs typeface="Times New Roman" pitchFamily="18" charset="0"/>
              </a:rPr>
              <a:t>Napster </a:t>
            </a:r>
            <a:r>
              <a:rPr kumimoji="1" lang="zh-CN" altLang="en-US" sz="1400" b="1" dirty="0" smtClean="0">
                <a:latin typeface="微软雅黑" pitchFamily="34" charset="-122"/>
                <a:ea typeface="微软雅黑" pitchFamily="34" charset="-122"/>
                <a:cs typeface="Times New Roman" pitchFamily="18" charset="0"/>
              </a:rPr>
              <a:t>集中式</a:t>
            </a:r>
            <a:endParaRPr kumimoji="1" lang="zh-CN" altLang="en-US" sz="1400" b="1" dirty="0">
              <a:latin typeface="微软雅黑" pitchFamily="34" charset="-122"/>
              <a:ea typeface="微软雅黑" pitchFamily="34" charset="-122"/>
              <a:cs typeface="Times New Roman" pitchFamily="18" charset="0"/>
            </a:endParaRPr>
          </a:p>
          <a:p>
            <a:pPr algn="ctr"/>
            <a:r>
              <a:rPr kumimoji="1" lang="zh-CN" altLang="en-US" sz="1400" b="1" dirty="0" smtClean="0">
                <a:latin typeface="微软雅黑" pitchFamily="34" charset="-122"/>
                <a:ea typeface="微软雅黑" pitchFamily="34" charset="-122"/>
                <a:cs typeface="Times New Roman" pitchFamily="18" charset="0"/>
              </a:rPr>
              <a:t>目录服务器</a:t>
            </a:r>
            <a:endParaRPr kumimoji="1" lang="zh-CN" altLang="en-US" sz="1400" b="1" dirty="0">
              <a:latin typeface="微软雅黑" pitchFamily="34" charset="-122"/>
              <a:ea typeface="微软雅黑" pitchFamily="34" charset="-122"/>
              <a:cs typeface="Times New Roman" pitchFamily="18" charset="0"/>
            </a:endParaRPr>
          </a:p>
        </p:txBody>
      </p:sp>
      <p:pic>
        <p:nvPicPr>
          <p:cNvPr id="38" name="Picture 9"/>
          <p:cNvPicPr>
            <a:picLocks noChangeArrowheads="1"/>
          </p:cNvPicPr>
          <p:nvPr/>
        </p:nvPicPr>
        <p:blipFill>
          <a:blip r:embed="rId6" cstate="print"/>
          <a:srcRect/>
          <a:stretch>
            <a:fillRect/>
          </a:stretch>
        </p:blipFill>
        <p:spPr bwMode="auto">
          <a:xfrm>
            <a:off x="5796446" y="1215251"/>
            <a:ext cx="432469" cy="427137"/>
          </a:xfrm>
          <a:prstGeom prst="rect">
            <a:avLst/>
          </a:prstGeom>
          <a:noFill/>
          <a:ln w="9525">
            <a:noFill/>
            <a:miter lim="800000"/>
            <a:headEnd/>
            <a:tailEnd/>
          </a:ln>
        </p:spPr>
      </p:pic>
      <p:sp>
        <p:nvSpPr>
          <p:cNvPr id="39" name="Text Box 13"/>
          <p:cNvSpPr txBox="1">
            <a:spLocks noChangeArrowheads="1"/>
          </p:cNvSpPr>
          <p:nvPr/>
        </p:nvSpPr>
        <p:spPr bwMode="auto">
          <a:xfrm>
            <a:off x="7064692"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40" name="Picture 9"/>
          <p:cNvPicPr>
            <a:picLocks noChangeArrowheads="1"/>
          </p:cNvPicPr>
          <p:nvPr/>
        </p:nvPicPr>
        <p:blipFill>
          <a:blip r:embed="rId6" cstate="print"/>
          <a:srcRect/>
          <a:stretch>
            <a:fillRect/>
          </a:stretch>
        </p:blipFill>
        <p:spPr bwMode="auto">
          <a:xfrm>
            <a:off x="6920676" y="1431275"/>
            <a:ext cx="432469" cy="427137"/>
          </a:xfrm>
          <a:prstGeom prst="rect">
            <a:avLst/>
          </a:prstGeom>
          <a:noFill/>
          <a:ln w="9525">
            <a:noFill/>
            <a:miter lim="800000"/>
            <a:headEnd/>
            <a:tailEnd/>
          </a:ln>
        </p:spPr>
      </p:pic>
      <p:pic>
        <p:nvPicPr>
          <p:cNvPr id="41" name="Picture 9"/>
          <p:cNvPicPr>
            <a:picLocks noChangeArrowheads="1"/>
          </p:cNvPicPr>
          <p:nvPr/>
        </p:nvPicPr>
        <p:blipFill>
          <a:blip r:embed="rId6" cstate="print"/>
          <a:srcRect/>
          <a:stretch>
            <a:fillRect/>
          </a:stretch>
        </p:blipFill>
        <p:spPr bwMode="auto">
          <a:xfrm>
            <a:off x="7640756" y="2490375"/>
            <a:ext cx="432469" cy="427137"/>
          </a:xfrm>
          <a:prstGeom prst="rect">
            <a:avLst/>
          </a:prstGeom>
          <a:noFill/>
          <a:ln w="9525">
            <a:noFill/>
            <a:miter lim="800000"/>
            <a:headEnd/>
            <a:tailEnd/>
          </a:ln>
        </p:spPr>
      </p:pic>
      <p:pic>
        <p:nvPicPr>
          <p:cNvPr id="42" name="Picture 9"/>
          <p:cNvPicPr>
            <a:picLocks noChangeArrowheads="1"/>
          </p:cNvPicPr>
          <p:nvPr/>
        </p:nvPicPr>
        <p:blipFill>
          <a:blip r:embed="rId6" cstate="print"/>
          <a:srcRect/>
          <a:stretch>
            <a:fillRect/>
          </a:stretch>
        </p:blipFill>
        <p:spPr bwMode="auto">
          <a:xfrm>
            <a:off x="6776660" y="3282463"/>
            <a:ext cx="432469" cy="427137"/>
          </a:xfrm>
          <a:prstGeom prst="rect">
            <a:avLst/>
          </a:prstGeom>
          <a:noFill/>
          <a:ln w="9525">
            <a:noFill/>
            <a:miter lim="800000"/>
            <a:headEnd/>
            <a:tailEnd/>
          </a:ln>
        </p:spPr>
      </p:pic>
      <p:pic>
        <p:nvPicPr>
          <p:cNvPr id="43" name="Picture 9"/>
          <p:cNvPicPr>
            <a:picLocks noChangeArrowheads="1"/>
          </p:cNvPicPr>
          <p:nvPr/>
        </p:nvPicPr>
        <p:blipFill>
          <a:blip r:embed="rId6" cstate="print"/>
          <a:srcRect/>
          <a:stretch>
            <a:fillRect/>
          </a:stretch>
        </p:blipFill>
        <p:spPr bwMode="auto">
          <a:xfrm>
            <a:off x="5048468" y="3619921"/>
            <a:ext cx="432469" cy="427137"/>
          </a:xfrm>
          <a:prstGeom prst="rect">
            <a:avLst/>
          </a:prstGeom>
          <a:noFill/>
          <a:ln w="9525">
            <a:noFill/>
            <a:miter lim="800000"/>
            <a:headEnd/>
            <a:tailEnd/>
          </a:ln>
        </p:spPr>
      </p:pic>
      <p:pic>
        <p:nvPicPr>
          <p:cNvPr id="44" name="Picture 9"/>
          <p:cNvPicPr>
            <a:picLocks noChangeArrowheads="1"/>
          </p:cNvPicPr>
          <p:nvPr/>
        </p:nvPicPr>
        <p:blipFill>
          <a:blip r:embed="rId6" cstate="print"/>
          <a:srcRect/>
          <a:stretch>
            <a:fillRect/>
          </a:stretch>
        </p:blipFill>
        <p:spPr bwMode="auto">
          <a:xfrm>
            <a:off x="3932556" y="3393387"/>
            <a:ext cx="432469" cy="427137"/>
          </a:xfrm>
          <a:prstGeom prst="rect">
            <a:avLst/>
          </a:prstGeom>
          <a:noFill/>
          <a:ln w="9525">
            <a:noFill/>
            <a:miter lim="800000"/>
            <a:headEnd/>
            <a:tailEnd/>
          </a:ln>
        </p:spPr>
      </p:pic>
      <p:sp>
        <p:nvSpPr>
          <p:cNvPr id="45" name="Text Box 13"/>
          <p:cNvSpPr txBox="1">
            <a:spLocks noChangeArrowheads="1"/>
          </p:cNvSpPr>
          <p:nvPr/>
        </p:nvSpPr>
        <p:spPr bwMode="auto">
          <a:xfrm>
            <a:off x="5408508" y="3619921"/>
            <a:ext cx="28886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C</a:t>
            </a:r>
            <a:endParaRPr lang="en-US" altLang="zh-CN" sz="1200" b="1" dirty="0">
              <a:latin typeface="微软雅黑" pitchFamily="34" charset="-122"/>
              <a:ea typeface="微软雅黑" pitchFamily="34" charset="-122"/>
              <a:cs typeface="Times New Roman" pitchFamily="18" charset="0"/>
            </a:endParaRPr>
          </a:p>
        </p:txBody>
      </p:sp>
      <p:sp>
        <p:nvSpPr>
          <p:cNvPr id="46" name="Text Box 13"/>
          <p:cNvSpPr txBox="1">
            <a:spLocks noChangeArrowheads="1"/>
          </p:cNvSpPr>
          <p:nvPr/>
        </p:nvSpPr>
        <p:spPr bwMode="auto">
          <a:xfrm>
            <a:off x="8000796" y="2490375"/>
            <a:ext cx="29046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B</a:t>
            </a:r>
            <a:endParaRPr lang="en-US" altLang="zh-CN" sz="1200" b="1" dirty="0">
              <a:latin typeface="微软雅黑" pitchFamily="34" charset="-122"/>
              <a:ea typeface="微软雅黑" pitchFamily="34" charset="-122"/>
              <a:cs typeface="Times New Roman" pitchFamily="18" charset="0"/>
            </a:endParaRPr>
          </a:p>
        </p:txBody>
      </p:sp>
      <p:sp>
        <p:nvSpPr>
          <p:cNvPr id="47" name="Text Box 13"/>
          <p:cNvSpPr txBox="1">
            <a:spLocks noChangeArrowheads="1"/>
          </p:cNvSpPr>
          <p:nvPr/>
        </p:nvSpPr>
        <p:spPr bwMode="auto">
          <a:xfrm>
            <a:off x="6156486" y="12152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
        <p:nvSpPr>
          <p:cNvPr id="51" name="TextBox 22"/>
          <p:cNvSpPr txBox="1"/>
          <p:nvPr/>
        </p:nvSpPr>
        <p:spPr>
          <a:xfrm rot="3562759">
            <a:off x="5832212" y="2421954"/>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rPr>
              <a:t>123.mp3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itchFamily="34" charset="-122"/>
              <a:ea typeface="微软雅黑" pitchFamily="34" charset="-122"/>
              <a:cs typeface="Times New Roman" pitchFamily="18" charset="0"/>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53" name="TextBox 24"/>
          <p:cNvSpPr txBox="1"/>
          <p:nvPr/>
        </p:nvSpPr>
        <p:spPr>
          <a:xfrm>
            <a:off x="6962874" y="3057147"/>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smtClean="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cxnSp>
        <p:nvCxnSpPr>
          <p:cNvPr id="57" name="直接箭头连接符 56"/>
          <p:cNvCxnSpPr/>
          <p:nvPr/>
        </p:nvCxnSpPr>
        <p:spPr>
          <a:xfrm flipH="1" flipV="1">
            <a:off x="6128588" y="1626279"/>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61" name="Text Box 13"/>
          <p:cNvSpPr txBox="1">
            <a:spLocks noChangeArrowheads="1"/>
          </p:cNvSpPr>
          <p:nvPr/>
        </p:nvSpPr>
        <p:spPr bwMode="auto">
          <a:xfrm>
            <a:off x="7375335" y="1520694"/>
            <a:ext cx="30649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D</a:t>
            </a:r>
            <a:endParaRPr lang="en-US" altLang="zh-CN" sz="1200" b="1" dirty="0">
              <a:latin typeface="微软雅黑" pitchFamily="34" charset="-122"/>
              <a:ea typeface="微软雅黑" pitchFamily="34" charset="-122"/>
              <a:cs typeface="Times New Roman" pitchFamily="18" charset="0"/>
            </a:endParaRPr>
          </a:p>
        </p:txBody>
      </p:sp>
      <p:sp>
        <p:nvSpPr>
          <p:cNvPr id="62" name="Text Box 13"/>
          <p:cNvSpPr txBox="1">
            <a:spLocks noChangeArrowheads="1"/>
          </p:cNvSpPr>
          <p:nvPr/>
        </p:nvSpPr>
        <p:spPr bwMode="auto">
          <a:xfrm>
            <a:off x="4069702" y="3823651"/>
            <a:ext cx="27283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E</a:t>
            </a:r>
            <a:endParaRPr lang="en-US" altLang="zh-CN" sz="1200" b="1" dirty="0">
              <a:latin typeface="微软雅黑" pitchFamily="34" charset="-122"/>
              <a:ea typeface="微软雅黑" pitchFamily="34" charset="-122"/>
              <a:cs typeface="Times New Roman" pitchFamily="18" charset="0"/>
            </a:endParaRPr>
          </a:p>
        </p:txBody>
      </p:sp>
    </p:spTree>
    <p:extLst>
      <p:ext uri="{BB962C8B-B14F-4D97-AF65-F5344CB8AC3E}">
        <p14:creationId xmlns:p14="http://schemas.microsoft.com/office/powerpoint/2010/main" val="40956835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4" name="Group 188"/>
          <p:cNvGrpSpPr>
            <a:grpSpLocks/>
          </p:cNvGrpSpPr>
          <p:nvPr/>
        </p:nvGrpSpPr>
        <p:grpSpPr bwMode="auto">
          <a:xfrm>
            <a:off x="4677045" y="1929087"/>
            <a:ext cx="2755313" cy="1346822"/>
            <a:chOff x="1719" y="1709"/>
            <a:chExt cx="1775" cy="1123"/>
          </a:xfrm>
        </p:grpSpPr>
        <p:sp>
          <p:nvSpPr>
            <p:cNvPr id="65" name="Oval 189"/>
            <p:cNvSpPr>
              <a:spLocks noChangeArrowheads="1"/>
            </p:cNvSpPr>
            <p:nvPr/>
          </p:nvSpPr>
          <p:spPr bwMode="auto">
            <a:xfrm>
              <a:off x="2109" y="1709"/>
              <a:ext cx="736"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6" name="Oval 190"/>
            <p:cNvSpPr>
              <a:spLocks noChangeArrowheads="1"/>
            </p:cNvSpPr>
            <p:nvPr/>
          </p:nvSpPr>
          <p:spPr bwMode="auto">
            <a:xfrm>
              <a:off x="2542" y="1752"/>
              <a:ext cx="692" cy="346"/>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endParaRPr lang="zh-CN" altLang="en-US"/>
            </a:p>
          </p:txBody>
        </p:sp>
        <p:sp>
          <p:nvSpPr>
            <p:cNvPr id="67" name="Oval 191"/>
            <p:cNvSpPr>
              <a:spLocks noChangeArrowheads="1"/>
            </p:cNvSpPr>
            <p:nvPr/>
          </p:nvSpPr>
          <p:spPr bwMode="auto">
            <a:xfrm>
              <a:off x="2715" y="1925"/>
              <a:ext cx="692" cy="34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8" name="Oval 192"/>
            <p:cNvSpPr>
              <a:spLocks noChangeArrowheads="1"/>
            </p:cNvSpPr>
            <p:nvPr/>
          </p:nvSpPr>
          <p:spPr bwMode="auto">
            <a:xfrm>
              <a:off x="2801" y="2141"/>
              <a:ext cx="693" cy="51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69" name="Oval 193"/>
            <p:cNvSpPr>
              <a:spLocks noChangeArrowheads="1"/>
            </p:cNvSpPr>
            <p:nvPr/>
          </p:nvSpPr>
          <p:spPr bwMode="auto">
            <a:xfrm>
              <a:off x="2412" y="2270"/>
              <a:ext cx="692" cy="562"/>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0" name="Oval 194"/>
            <p:cNvSpPr>
              <a:spLocks noChangeArrowheads="1"/>
            </p:cNvSpPr>
            <p:nvPr/>
          </p:nvSpPr>
          <p:spPr bwMode="auto">
            <a:xfrm>
              <a:off x="1935" y="2141"/>
              <a:ext cx="693" cy="648"/>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1" name="Oval 195"/>
            <p:cNvSpPr>
              <a:spLocks noChangeArrowheads="1"/>
            </p:cNvSpPr>
            <p:nvPr/>
          </p:nvSpPr>
          <p:spPr bwMode="auto">
            <a:xfrm>
              <a:off x="1719" y="1838"/>
              <a:ext cx="693" cy="605"/>
            </a:xfrm>
            <a:prstGeom prst="ellipse">
              <a:avLst/>
            </a:prstGeom>
            <a:solidFill>
              <a:srgbClr val="CCFFFF"/>
            </a:solidFill>
            <a:ln w="9525">
              <a:solidFill>
                <a:srgbClr val="00CC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2400"/>
            </a:p>
          </p:txBody>
        </p:sp>
        <p:sp>
          <p:nvSpPr>
            <p:cNvPr id="72" name="Freeform 196"/>
            <p:cNvSpPr>
              <a:spLocks/>
            </p:cNvSpPr>
            <p:nvPr/>
          </p:nvSpPr>
          <p:spPr bwMode="auto">
            <a:xfrm>
              <a:off x="1893" y="1753"/>
              <a:ext cx="1470" cy="1037"/>
            </a:xfrm>
            <a:custGeom>
              <a:avLst/>
              <a:gdLst>
                <a:gd name="T0" fmla="*/ 8 w 1632"/>
                <a:gd name="T1" fmla="*/ 30 h 1152"/>
                <a:gd name="T2" fmla="*/ 59 w 1632"/>
                <a:gd name="T3" fmla="*/ 8 h 1152"/>
                <a:gd name="T4" fmla="*/ 102 w 1632"/>
                <a:gd name="T5" fmla="*/ 0 h 1152"/>
                <a:gd name="T6" fmla="*/ 190 w 1632"/>
                <a:gd name="T7" fmla="*/ 8 h 1152"/>
                <a:gd name="T8" fmla="*/ 219 w 1632"/>
                <a:gd name="T9" fmla="*/ 22 h 1152"/>
                <a:gd name="T10" fmla="*/ 234 w 1632"/>
                <a:gd name="T11" fmla="*/ 50 h 1152"/>
                <a:gd name="T12" fmla="*/ 249 w 1632"/>
                <a:gd name="T13" fmla="*/ 58 h 1152"/>
                <a:gd name="T14" fmla="*/ 234 w 1632"/>
                <a:gd name="T15" fmla="*/ 137 h 1152"/>
                <a:gd name="T16" fmla="*/ 139 w 1632"/>
                <a:gd name="T17" fmla="*/ 174 h 1152"/>
                <a:gd name="T18" fmla="*/ 44 w 1632"/>
                <a:gd name="T19" fmla="*/ 145 h 1152"/>
                <a:gd name="T20" fmla="*/ 14 w 1632"/>
                <a:gd name="T21" fmla="*/ 115 h 1152"/>
                <a:gd name="T22" fmla="*/ 0 w 1632"/>
                <a:gd name="T23" fmla="*/ 109 h 1152"/>
                <a:gd name="T24" fmla="*/ 8 w 1632"/>
                <a:gd name="T25" fmla="*/ 30 h 1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2" h="1152">
                  <a:moveTo>
                    <a:pt x="48" y="192"/>
                  </a:moveTo>
                  <a:lnTo>
                    <a:pt x="384" y="48"/>
                  </a:lnTo>
                  <a:lnTo>
                    <a:pt x="672" y="0"/>
                  </a:lnTo>
                  <a:lnTo>
                    <a:pt x="1248" y="48"/>
                  </a:lnTo>
                  <a:lnTo>
                    <a:pt x="1440" y="144"/>
                  </a:lnTo>
                  <a:lnTo>
                    <a:pt x="1536" y="336"/>
                  </a:lnTo>
                  <a:lnTo>
                    <a:pt x="1632" y="384"/>
                  </a:lnTo>
                  <a:lnTo>
                    <a:pt x="1536" y="912"/>
                  </a:lnTo>
                  <a:lnTo>
                    <a:pt x="912" y="1152"/>
                  </a:lnTo>
                  <a:lnTo>
                    <a:pt x="288" y="960"/>
                  </a:lnTo>
                  <a:lnTo>
                    <a:pt x="96" y="768"/>
                  </a:lnTo>
                  <a:lnTo>
                    <a:pt x="0" y="720"/>
                  </a:lnTo>
                  <a:lnTo>
                    <a:pt x="48" y="192"/>
                  </a:lnTo>
                  <a:close/>
                </a:path>
              </a:pathLst>
            </a:custGeom>
            <a:solidFill>
              <a:srgbClr val="CC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3" name="Text Box 275"/>
          <p:cNvSpPr txBox="1">
            <a:spLocks noChangeArrowheads="1"/>
          </p:cNvSpPr>
          <p:nvPr/>
        </p:nvSpPr>
        <p:spPr bwMode="auto">
          <a:xfrm>
            <a:off x="5248447" y="2425737"/>
            <a:ext cx="1032141" cy="30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a:solidFill>
                  <a:schemeClr val="tx1"/>
                </a:solidFill>
                <a:latin typeface="Times New Roman" panose="02020603050405020304" pitchFamily="18" charset="0"/>
                <a:ea typeface="宋体" panose="02010600030101010101" pitchFamily="2" charset="-122"/>
              </a:defRPr>
            </a:lvl1pPr>
            <a:lvl2pPr marL="742950" indent="-285750">
              <a:defRPr>
                <a:solidFill>
                  <a:schemeClr val="tx1"/>
                </a:solidFill>
                <a:latin typeface="Times New Roman" panose="02020603050405020304" pitchFamily="18" charset="0"/>
                <a:ea typeface="宋体" panose="02010600030101010101" pitchFamily="2" charset="-122"/>
              </a:defRPr>
            </a:lvl2pPr>
            <a:lvl3pPr marL="1143000" indent="-228600">
              <a:defRPr>
                <a:solidFill>
                  <a:schemeClr val="tx1"/>
                </a:solidFill>
                <a:latin typeface="Times New Roman" panose="02020603050405020304" pitchFamily="18" charset="0"/>
                <a:ea typeface="宋体" panose="02010600030101010101" pitchFamily="2" charset="-122"/>
              </a:defRPr>
            </a:lvl3pPr>
            <a:lvl4pPr marL="1600200" indent="-228600">
              <a:defRPr>
                <a:solidFill>
                  <a:schemeClr val="tx1"/>
                </a:solidFill>
                <a:latin typeface="Times New Roman" panose="02020603050405020304" pitchFamily="18" charset="0"/>
                <a:ea typeface="宋体" panose="02010600030101010101" pitchFamily="2" charset="-122"/>
              </a:defRPr>
            </a:lvl4pPr>
            <a:lvl5pPr marL="2057400" indent="-228600">
              <a:defRPr>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imes New Roman" panose="02020603050405020304" pitchFamily="18" charset="0"/>
                <a:ea typeface="宋体" panose="02010600030101010101" pitchFamily="2" charset="-122"/>
              </a:defRPr>
            </a:lvl9pPr>
          </a:lstStyle>
          <a:p>
            <a:pPr algn="ctr"/>
            <a:r>
              <a:rPr kumimoji="1" lang="zh-CN" altLang="en-US" sz="1400" b="1" dirty="0">
                <a:latin typeface="微软雅黑" pitchFamily="34" charset="-122"/>
                <a:ea typeface="微软雅黑" pitchFamily="34" charset="-122"/>
                <a:cs typeface="Times New Roman" pitchFamily="18" charset="0"/>
              </a:rPr>
              <a:t>互联网</a:t>
            </a:r>
            <a:endParaRPr kumimoji="1" lang="en-US" altLang="zh-CN" sz="1400" b="1" dirty="0">
              <a:latin typeface="微软雅黑" pitchFamily="34" charset="-122"/>
              <a:ea typeface="微软雅黑" pitchFamily="34" charset="-122"/>
              <a:cs typeface="Times New Roman" pitchFamily="18" charset="0"/>
            </a:endParaRPr>
          </a:p>
        </p:txBody>
      </p:sp>
      <p:cxnSp>
        <p:nvCxnSpPr>
          <p:cNvPr id="74" name="直接连接符 73"/>
          <p:cNvCxnSpPr>
            <a:endCxn id="70" idx="3"/>
          </p:cNvCxnSpPr>
          <p:nvPr/>
        </p:nvCxnSpPr>
        <p:spPr>
          <a:xfrm flipV="1">
            <a:off x="4365025" y="3110528"/>
            <a:ext cx="804852" cy="496428"/>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a:endCxn id="71" idx="2"/>
          </p:cNvCxnSpPr>
          <p:nvPr/>
        </p:nvCxnSpPr>
        <p:spPr>
          <a:xfrm flipV="1">
            <a:off x="4399677" y="2446589"/>
            <a:ext cx="277368" cy="3985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a:endCxn id="70" idx="4"/>
          </p:cNvCxnSpPr>
          <p:nvPr/>
        </p:nvCxnSpPr>
        <p:spPr>
          <a:xfrm flipV="1">
            <a:off x="5264703" y="3224339"/>
            <a:ext cx="285504" cy="39558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7" name="直接连接符 76"/>
          <p:cNvCxnSpPr>
            <a:endCxn id="69" idx="5"/>
          </p:cNvCxnSpPr>
          <p:nvPr/>
        </p:nvCxnSpPr>
        <p:spPr>
          <a:xfrm flipH="1" flipV="1">
            <a:off x="6669654" y="3177202"/>
            <a:ext cx="107006" cy="31883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8" name="直接连接符 77"/>
          <p:cNvCxnSpPr>
            <a:endCxn id="68" idx="7"/>
          </p:cNvCxnSpPr>
          <p:nvPr/>
        </p:nvCxnSpPr>
        <p:spPr>
          <a:xfrm flipH="1" flipV="1">
            <a:off x="7274820" y="2538167"/>
            <a:ext cx="365936" cy="165777"/>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9" name="直接连接符 78"/>
          <p:cNvCxnSpPr>
            <a:stCxn id="66" idx="7"/>
          </p:cNvCxnSpPr>
          <p:nvPr/>
        </p:nvCxnSpPr>
        <p:spPr>
          <a:xfrm flipV="1">
            <a:off x="6871452" y="1858412"/>
            <a:ext cx="265459" cy="183014"/>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0" name="直接连接符 79"/>
          <p:cNvCxnSpPr>
            <a:stCxn id="65" idx="0"/>
          </p:cNvCxnSpPr>
          <p:nvPr/>
        </p:nvCxnSpPr>
        <p:spPr>
          <a:xfrm flipV="1">
            <a:off x="5853681" y="1642388"/>
            <a:ext cx="159000" cy="286699"/>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Napster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工作过程</a:t>
            </a:r>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矩形 3"/>
          <p:cNvSpPr/>
          <p:nvPr/>
        </p:nvSpPr>
        <p:spPr>
          <a:xfrm>
            <a:off x="1057850" y="1501524"/>
            <a:ext cx="2238314" cy="1220847"/>
          </a:xfrm>
          <a:prstGeom prst="rect">
            <a:avLst/>
          </a:prstGeom>
          <a:solidFill>
            <a:srgbClr val="0070C0"/>
          </a:solidFill>
        </p:spPr>
        <p:txBody>
          <a:bodyPr wrap="square">
            <a:spAutoFit/>
          </a:bodyPr>
          <a:lstStyle/>
          <a:p>
            <a:pPr marL="452438">
              <a:lnSpc>
                <a:spcPts val="2200"/>
              </a:lnSpc>
            </a:pPr>
            <a:r>
              <a:rPr lang="zh-CN" altLang="en-US" sz="1600" b="1" dirty="0">
                <a:solidFill>
                  <a:schemeClr val="bg1"/>
                </a:solidFill>
                <a:latin typeface="微软雅黑" pitchFamily="34" charset="-122"/>
                <a:ea typeface="微软雅黑" pitchFamily="34" charset="-122"/>
              </a:rPr>
              <a:t>对等</a:t>
            </a:r>
            <a:r>
              <a:rPr lang="zh-CN" altLang="en-US" sz="1600" b="1" dirty="0" smtClean="0">
                <a:solidFill>
                  <a:schemeClr val="bg1"/>
                </a:solidFill>
                <a:latin typeface="微软雅黑" pitchFamily="34" charset="-122"/>
                <a:ea typeface="微软雅黑" pitchFamily="34" charset="-122"/>
              </a:rPr>
              <a:t>方 </a:t>
            </a:r>
            <a:r>
              <a:rPr lang="en-US" altLang="zh-CN" sz="1600" b="1" dirty="0" smtClean="0">
                <a:solidFill>
                  <a:schemeClr val="bg1"/>
                </a:solidFill>
                <a:latin typeface="微软雅黑" pitchFamily="34" charset="-122"/>
                <a:ea typeface="微软雅黑" pitchFamily="34" charset="-122"/>
              </a:rPr>
              <a:t>A</a:t>
            </a:r>
            <a:r>
              <a:rPr lang="zh-CN" altLang="en-US" sz="1600" b="1" dirty="0">
                <a:solidFill>
                  <a:schemeClr val="bg1"/>
                </a:solidFill>
                <a:latin typeface="微软雅黑" pitchFamily="34" charset="-122"/>
                <a:ea typeface="微软雅黑" pitchFamily="34" charset="-122"/>
              </a:rPr>
              <a:t>（现在作为</a:t>
            </a:r>
            <a:r>
              <a:rPr lang="zh-CN" altLang="en-US" sz="1600" b="1" dirty="0" smtClean="0">
                <a:solidFill>
                  <a:schemeClr val="bg1"/>
                </a:solidFill>
                <a:latin typeface="微软雅黑" pitchFamily="34" charset="-122"/>
                <a:ea typeface="微软雅黑" pitchFamily="34" charset="-122"/>
              </a:rPr>
              <a:t>服务器）</a:t>
            </a:r>
            <a:r>
              <a:rPr lang="zh-CN" altLang="en-US" sz="1600" b="1" dirty="0">
                <a:solidFill>
                  <a:schemeClr val="bg1"/>
                </a:solidFill>
                <a:latin typeface="微软雅黑" pitchFamily="34" charset="-122"/>
                <a:ea typeface="微软雅黑" pitchFamily="34" charset="-122"/>
              </a:rPr>
              <a:t>把</a:t>
            </a:r>
            <a:r>
              <a:rPr lang="zh-CN" altLang="en-US" sz="1600" b="1" dirty="0" smtClean="0">
                <a:solidFill>
                  <a:schemeClr val="bg1"/>
                </a:solidFill>
                <a:latin typeface="微软雅黑" pitchFamily="34" charset="-122"/>
                <a:ea typeface="微软雅黑" pitchFamily="34" charset="-122"/>
              </a:rPr>
              <a:t>文件 </a:t>
            </a:r>
            <a:r>
              <a:rPr lang="en-US" altLang="zh-CN" sz="1600" b="1" dirty="0" smtClean="0">
                <a:solidFill>
                  <a:schemeClr val="bg1"/>
                </a:solidFill>
                <a:latin typeface="微软雅黑" pitchFamily="34" charset="-122"/>
                <a:ea typeface="微软雅黑" pitchFamily="34" charset="-122"/>
              </a:rPr>
              <a:t>123.mp3 </a:t>
            </a:r>
            <a:r>
              <a:rPr lang="zh-CN" altLang="en-US" sz="1600" b="1" dirty="0" smtClean="0">
                <a:solidFill>
                  <a:schemeClr val="bg1"/>
                </a:solidFill>
                <a:latin typeface="微软雅黑" pitchFamily="34" charset="-122"/>
                <a:ea typeface="微软雅黑" pitchFamily="34" charset="-122"/>
              </a:rPr>
              <a:t>发送给 </a:t>
            </a:r>
            <a:r>
              <a:rPr lang="en-US" altLang="zh-CN" sz="1600" b="1" dirty="0" smtClean="0">
                <a:solidFill>
                  <a:schemeClr val="bg1"/>
                </a:solidFill>
                <a:latin typeface="微软雅黑" pitchFamily="34" charset="-122"/>
                <a:ea typeface="微软雅黑" pitchFamily="34" charset="-122"/>
              </a:rPr>
              <a:t>X</a:t>
            </a:r>
            <a:r>
              <a:rPr lang="zh-CN" altLang="en-US" sz="1600" b="1" dirty="0">
                <a:solidFill>
                  <a:schemeClr val="bg1"/>
                </a:solidFill>
                <a:latin typeface="微软雅黑" pitchFamily="34" charset="-122"/>
                <a:ea typeface="微软雅黑" pitchFamily="34" charset="-122"/>
              </a:rPr>
              <a:t>。</a:t>
            </a:r>
          </a:p>
        </p:txBody>
      </p:sp>
      <p:sp>
        <p:nvSpPr>
          <p:cNvPr id="34" name="TextBox 33"/>
          <p:cNvSpPr txBox="1"/>
          <p:nvPr/>
        </p:nvSpPr>
        <p:spPr>
          <a:xfrm>
            <a:off x="1103251" y="1504349"/>
            <a:ext cx="416516"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smtClean="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sp>
        <p:nvSpPr>
          <p:cNvPr id="36"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graphicFrame>
        <p:nvGraphicFramePr>
          <p:cNvPr id="37" name="Object 5">
            <a:hlinkClick r:id="" action="ppaction://ole?verb=0"/>
          </p:cNvPr>
          <p:cNvGraphicFramePr>
            <a:graphicFrameLocks/>
          </p:cNvGraphicFramePr>
          <p:nvPr>
            <p:extLst/>
          </p:nvPr>
        </p:nvGraphicFramePr>
        <p:xfrm>
          <a:off x="3824332" y="1986319"/>
          <a:ext cx="575345" cy="1000249"/>
        </p:xfrm>
        <a:graphic>
          <a:graphicData uri="http://schemas.openxmlformats.org/presentationml/2006/ole">
            <mc:AlternateContent xmlns:mc="http://schemas.openxmlformats.org/markup-compatibility/2006">
              <mc:Choice xmlns:v="urn:schemas-microsoft-com:vml" Requires="v">
                <p:oleObj spid="_x0000_s29719" name="Microsoft ClipArt Gallery" r:id="rId4" imgW="2735263" imgH="3825875" progId="">
                  <p:embed/>
                </p:oleObj>
              </mc:Choice>
              <mc:Fallback>
                <p:oleObj name="Microsoft ClipArt Gallery" r:id="rId4" imgW="2735263" imgH="3825875" progId="">
                  <p:embed/>
                  <p:pic>
                    <p:nvPicPr>
                      <p:cNvPr id="37" name="Object 5">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332"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 name="Text Box 6"/>
          <p:cNvSpPr txBox="1">
            <a:spLocks noChangeArrowheads="1"/>
          </p:cNvSpPr>
          <p:nvPr/>
        </p:nvSpPr>
        <p:spPr bwMode="auto">
          <a:xfrm>
            <a:off x="3266578" y="1495249"/>
            <a:ext cx="1493550" cy="523220"/>
          </a:xfrm>
          <a:prstGeom prst="rect">
            <a:avLst/>
          </a:prstGeom>
          <a:noFill/>
          <a:ln w="9525">
            <a:noFill/>
            <a:miter lim="800000"/>
            <a:headEnd/>
            <a:tailEnd/>
          </a:ln>
        </p:spPr>
        <p:txBody>
          <a:bodyPr wrap="none">
            <a:spAutoFit/>
          </a:bodyPr>
          <a:lstStyle/>
          <a:p>
            <a:pPr algn="ctr"/>
            <a:r>
              <a:rPr kumimoji="1" lang="en-US" altLang="zh-CN" sz="1400" b="1" dirty="0" smtClean="0">
                <a:latin typeface="微软雅黑" pitchFamily="34" charset="-122"/>
                <a:ea typeface="微软雅黑" pitchFamily="34" charset="-122"/>
                <a:cs typeface="Times New Roman" pitchFamily="18" charset="0"/>
              </a:rPr>
              <a:t>Napster </a:t>
            </a:r>
            <a:r>
              <a:rPr kumimoji="1" lang="zh-CN" altLang="en-US" sz="1400" b="1" dirty="0" smtClean="0">
                <a:latin typeface="微软雅黑" pitchFamily="34" charset="-122"/>
                <a:ea typeface="微软雅黑" pitchFamily="34" charset="-122"/>
                <a:cs typeface="Times New Roman" pitchFamily="18" charset="0"/>
              </a:rPr>
              <a:t>集中式</a:t>
            </a:r>
            <a:endParaRPr kumimoji="1" lang="zh-CN" altLang="en-US" sz="1400" b="1" dirty="0">
              <a:latin typeface="微软雅黑" pitchFamily="34" charset="-122"/>
              <a:ea typeface="微软雅黑" pitchFamily="34" charset="-122"/>
              <a:cs typeface="Times New Roman" pitchFamily="18" charset="0"/>
            </a:endParaRPr>
          </a:p>
          <a:p>
            <a:pPr algn="ctr"/>
            <a:r>
              <a:rPr kumimoji="1" lang="zh-CN" altLang="en-US" sz="1400" b="1" dirty="0" smtClean="0">
                <a:latin typeface="微软雅黑" pitchFamily="34" charset="-122"/>
                <a:ea typeface="微软雅黑" pitchFamily="34" charset="-122"/>
                <a:cs typeface="Times New Roman" pitchFamily="18" charset="0"/>
              </a:rPr>
              <a:t>目录服务器</a:t>
            </a:r>
            <a:endParaRPr kumimoji="1" lang="zh-CN" altLang="en-US" sz="1400" b="1" dirty="0">
              <a:latin typeface="微软雅黑" pitchFamily="34" charset="-122"/>
              <a:ea typeface="微软雅黑" pitchFamily="34" charset="-122"/>
              <a:cs typeface="Times New Roman" pitchFamily="18" charset="0"/>
            </a:endParaRPr>
          </a:p>
        </p:txBody>
      </p:sp>
      <p:pic>
        <p:nvPicPr>
          <p:cNvPr id="39" name="Picture 9"/>
          <p:cNvPicPr>
            <a:picLocks noChangeArrowheads="1"/>
          </p:cNvPicPr>
          <p:nvPr/>
        </p:nvPicPr>
        <p:blipFill>
          <a:blip r:embed="rId6" cstate="print"/>
          <a:srcRect/>
          <a:stretch>
            <a:fillRect/>
          </a:stretch>
        </p:blipFill>
        <p:spPr bwMode="auto">
          <a:xfrm>
            <a:off x="5796446" y="1215251"/>
            <a:ext cx="432469" cy="427137"/>
          </a:xfrm>
          <a:prstGeom prst="rect">
            <a:avLst/>
          </a:prstGeom>
          <a:noFill/>
          <a:ln w="9525">
            <a:noFill/>
            <a:miter lim="800000"/>
            <a:headEnd/>
            <a:tailEnd/>
          </a:ln>
        </p:spPr>
      </p:pic>
      <p:sp>
        <p:nvSpPr>
          <p:cNvPr id="40" name="Text Box 13"/>
          <p:cNvSpPr txBox="1">
            <a:spLocks noChangeArrowheads="1"/>
          </p:cNvSpPr>
          <p:nvPr/>
        </p:nvSpPr>
        <p:spPr bwMode="auto">
          <a:xfrm>
            <a:off x="7064692"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41" name="Picture 9"/>
          <p:cNvPicPr>
            <a:picLocks noChangeArrowheads="1"/>
          </p:cNvPicPr>
          <p:nvPr/>
        </p:nvPicPr>
        <p:blipFill>
          <a:blip r:embed="rId6" cstate="print"/>
          <a:srcRect/>
          <a:stretch>
            <a:fillRect/>
          </a:stretch>
        </p:blipFill>
        <p:spPr bwMode="auto">
          <a:xfrm>
            <a:off x="6920676" y="1431275"/>
            <a:ext cx="432469" cy="427137"/>
          </a:xfrm>
          <a:prstGeom prst="rect">
            <a:avLst/>
          </a:prstGeom>
          <a:noFill/>
          <a:ln w="9525">
            <a:noFill/>
            <a:miter lim="800000"/>
            <a:headEnd/>
            <a:tailEnd/>
          </a:ln>
        </p:spPr>
      </p:pic>
      <p:pic>
        <p:nvPicPr>
          <p:cNvPr id="42" name="Picture 9"/>
          <p:cNvPicPr>
            <a:picLocks noChangeArrowheads="1"/>
          </p:cNvPicPr>
          <p:nvPr/>
        </p:nvPicPr>
        <p:blipFill>
          <a:blip r:embed="rId6" cstate="print"/>
          <a:srcRect/>
          <a:stretch>
            <a:fillRect/>
          </a:stretch>
        </p:blipFill>
        <p:spPr bwMode="auto">
          <a:xfrm>
            <a:off x="7640756" y="2490375"/>
            <a:ext cx="432469" cy="427137"/>
          </a:xfrm>
          <a:prstGeom prst="rect">
            <a:avLst/>
          </a:prstGeom>
          <a:noFill/>
          <a:ln w="9525">
            <a:noFill/>
            <a:miter lim="800000"/>
            <a:headEnd/>
            <a:tailEnd/>
          </a:ln>
        </p:spPr>
      </p:pic>
      <p:pic>
        <p:nvPicPr>
          <p:cNvPr id="43" name="Picture 9"/>
          <p:cNvPicPr>
            <a:picLocks noChangeArrowheads="1"/>
          </p:cNvPicPr>
          <p:nvPr/>
        </p:nvPicPr>
        <p:blipFill>
          <a:blip r:embed="rId6" cstate="print"/>
          <a:srcRect/>
          <a:stretch>
            <a:fillRect/>
          </a:stretch>
        </p:blipFill>
        <p:spPr bwMode="auto">
          <a:xfrm>
            <a:off x="6776660" y="3282463"/>
            <a:ext cx="432469" cy="427137"/>
          </a:xfrm>
          <a:prstGeom prst="rect">
            <a:avLst/>
          </a:prstGeom>
          <a:noFill/>
          <a:ln w="9525">
            <a:noFill/>
            <a:miter lim="800000"/>
            <a:headEnd/>
            <a:tailEnd/>
          </a:ln>
        </p:spPr>
      </p:pic>
      <p:pic>
        <p:nvPicPr>
          <p:cNvPr id="44" name="Picture 9"/>
          <p:cNvPicPr>
            <a:picLocks noChangeArrowheads="1"/>
          </p:cNvPicPr>
          <p:nvPr/>
        </p:nvPicPr>
        <p:blipFill>
          <a:blip r:embed="rId6" cstate="print"/>
          <a:srcRect/>
          <a:stretch>
            <a:fillRect/>
          </a:stretch>
        </p:blipFill>
        <p:spPr bwMode="auto">
          <a:xfrm>
            <a:off x="5048468" y="3619921"/>
            <a:ext cx="432469" cy="427137"/>
          </a:xfrm>
          <a:prstGeom prst="rect">
            <a:avLst/>
          </a:prstGeom>
          <a:noFill/>
          <a:ln w="9525">
            <a:noFill/>
            <a:miter lim="800000"/>
            <a:headEnd/>
            <a:tailEnd/>
          </a:ln>
        </p:spPr>
      </p:pic>
      <p:pic>
        <p:nvPicPr>
          <p:cNvPr id="45" name="Picture 9"/>
          <p:cNvPicPr>
            <a:picLocks noChangeArrowheads="1"/>
          </p:cNvPicPr>
          <p:nvPr/>
        </p:nvPicPr>
        <p:blipFill>
          <a:blip r:embed="rId6" cstate="print"/>
          <a:srcRect/>
          <a:stretch>
            <a:fillRect/>
          </a:stretch>
        </p:blipFill>
        <p:spPr bwMode="auto">
          <a:xfrm>
            <a:off x="3932556" y="3393387"/>
            <a:ext cx="432469" cy="427137"/>
          </a:xfrm>
          <a:prstGeom prst="rect">
            <a:avLst/>
          </a:prstGeom>
          <a:noFill/>
          <a:ln w="9525">
            <a:noFill/>
            <a:miter lim="800000"/>
            <a:headEnd/>
            <a:tailEnd/>
          </a:ln>
        </p:spPr>
      </p:pic>
      <p:sp>
        <p:nvSpPr>
          <p:cNvPr id="46" name="Text Box 13"/>
          <p:cNvSpPr txBox="1">
            <a:spLocks noChangeArrowheads="1"/>
          </p:cNvSpPr>
          <p:nvPr/>
        </p:nvSpPr>
        <p:spPr bwMode="auto">
          <a:xfrm>
            <a:off x="5408508" y="3619921"/>
            <a:ext cx="28886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C</a:t>
            </a:r>
            <a:endParaRPr lang="en-US" altLang="zh-CN" sz="1200" b="1" dirty="0">
              <a:latin typeface="微软雅黑" pitchFamily="34" charset="-122"/>
              <a:ea typeface="微软雅黑" pitchFamily="34" charset="-122"/>
              <a:cs typeface="Times New Roman" pitchFamily="18" charset="0"/>
            </a:endParaRPr>
          </a:p>
        </p:txBody>
      </p:sp>
      <p:sp>
        <p:nvSpPr>
          <p:cNvPr id="47" name="Text Box 13"/>
          <p:cNvSpPr txBox="1">
            <a:spLocks noChangeArrowheads="1"/>
          </p:cNvSpPr>
          <p:nvPr/>
        </p:nvSpPr>
        <p:spPr bwMode="auto">
          <a:xfrm>
            <a:off x="8000796" y="2490375"/>
            <a:ext cx="29046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B</a:t>
            </a:r>
            <a:endParaRPr lang="en-US" altLang="zh-CN" sz="1200" b="1" dirty="0">
              <a:latin typeface="微软雅黑" pitchFamily="34" charset="-122"/>
              <a:ea typeface="微软雅黑" pitchFamily="34" charset="-122"/>
              <a:cs typeface="Times New Roman" pitchFamily="18" charset="0"/>
            </a:endParaRPr>
          </a:p>
        </p:txBody>
      </p:sp>
      <p:sp>
        <p:nvSpPr>
          <p:cNvPr id="48" name="Text Box 13"/>
          <p:cNvSpPr txBox="1">
            <a:spLocks noChangeArrowheads="1"/>
          </p:cNvSpPr>
          <p:nvPr/>
        </p:nvSpPr>
        <p:spPr bwMode="auto">
          <a:xfrm>
            <a:off x="6156486" y="12152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
        <p:nvSpPr>
          <p:cNvPr id="56" name="TextBox 26"/>
          <p:cNvSpPr txBox="1"/>
          <p:nvPr/>
        </p:nvSpPr>
        <p:spPr>
          <a:xfrm>
            <a:off x="6302103" y="1633539"/>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smtClean="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grpSp>
        <p:nvGrpSpPr>
          <p:cNvPr id="59" name="组合 58"/>
          <p:cNvGrpSpPr/>
          <p:nvPr/>
        </p:nvGrpSpPr>
        <p:grpSpPr>
          <a:xfrm rot="3622659">
            <a:off x="5484447" y="2366640"/>
            <a:ext cx="1786293" cy="288032"/>
            <a:chOff x="5796136" y="1484784"/>
            <a:chExt cx="1584176" cy="288032"/>
          </a:xfrm>
        </p:grpSpPr>
        <p:sp>
          <p:nvSpPr>
            <p:cNvPr id="60" name="矩形 59"/>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200" b="1" kern="0" dirty="0" smtClean="0">
                  <a:solidFill>
                    <a:sysClr val="windowText" lastClr="000000"/>
                  </a:solidFill>
                  <a:latin typeface="微软雅黑" pitchFamily="34" charset="-122"/>
                  <a:ea typeface="微软雅黑" pitchFamily="34" charset="-122"/>
                  <a:cs typeface="Times New Roman" pitchFamily="18" charset="0"/>
                </a:rPr>
                <a:t>123.mp3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p:txBody>
        </p:sp>
        <p:sp>
          <p:nvSpPr>
            <p:cNvPr id="61" name="右箭头 60"/>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 lastClr="FFFFFF"/>
                </a:solidFill>
                <a:effectLst/>
                <a:uLnTx/>
                <a:uFillTx/>
                <a:latin typeface="微软雅黑" pitchFamily="34" charset="-122"/>
                <a:ea typeface="微软雅黑" pitchFamily="34" charset="-122"/>
              </a:endParaRPr>
            </a:p>
          </p:txBody>
        </p:sp>
      </p:grpSp>
      <p:sp>
        <p:nvSpPr>
          <p:cNvPr id="62" name="Text Box 13"/>
          <p:cNvSpPr txBox="1">
            <a:spLocks noChangeArrowheads="1"/>
          </p:cNvSpPr>
          <p:nvPr/>
        </p:nvSpPr>
        <p:spPr bwMode="auto">
          <a:xfrm>
            <a:off x="7375335" y="1520694"/>
            <a:ext cx="306494"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D</a:t>
            </a:r>
            <a:endParaRPr lang="en-US" altLang="zh-CN" sz="1200" b="1" dirty="0">
              <a:latin typeface="微软雅黑" pitchFamily="34" charset="-122"/>
              <a:ea typeface="微软雅黑" pitchFamily="34" charset="-122"/>
              <a:cs typeface="Times New Roman" pitchFamily="18" charset="0"/>
            </a:endParaRPr>
          </a:p>
        </p:txBody>
      </p:sp>
      <p:sp>
        <p:nvSpPr>
          <p:cNvPr id="63" name="Text Box 13"/>
          <p:cNvSpPr txBox="1">
            <a:spLocks noChangeArrowheads="1"/>
          </p:cNvSpPr>
          <p:nvPr/>
        </p:nvSpPr>
        <p:spPr bwMode="auto">
          <a:xfrm>
            <a:off x="4069702" y="3823651"/>
            <a:ext cx="27283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E</a:t>
            </a:r>
            <a:endParaRPr lang="en-US" altLang="zh-CN" sz="1200" b="1" dirty="0">
              <a:latin typeface="微软雅黑" pitchFamily="34" charset="-122"/>
              <a:ea typeface="微软雅黑" pitchFamily="34" charset="-122"/>
              <a:cs typeface="Times New Roman" pitchFamily="18" charset="0"/>
            </a:endParaRPr>
          </a:p>
        </p:txBody>
      </p:sp>
    </p:spTree>
    <p:extLst>
      <p:ext uri="{BB962C8B-B14F-4D97-AF65-F5344CB8AC3E}">
        <p14:creationId xmlns:p14="http://schemas.microsoft.com/office/powerpoint/2010/main" val="3509959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0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950140" y="576596"/>
            <a:ext cx="3262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集中式目录</a:t>
            </a:r>
            <a:r>
              <a:rPr lang="zh-CN" altLang="en-US" sz="2000" b="1" dirty="0">
                <a:solidFill>
                  <a:schemeClr val="bg1"/>
                </a:solidFill>
                <a:latin typeface="微软雅黑" pitchFamily="34" charset="-122"/>
                <a:ea typeface="微软雅黑" pitchFamily="34" charset="-122"/>
              </a:rPr>
              <a:t>服务器</a:t>
            </a:r>
            <a:r>
              <a:rPr lang="zh-CN" altLang="en-US" sz="2000" b="1" dirty="0" smtClean="0">
                <a:solidFill>
                  <a:schemeClr val="bg1"/>
                </a:solidFill>
                <a:latin typeface="微软雅黑" pitchFamily="34" charset="-122"/>
                <a:ea typeface="微软雅黑" pitchFamily="34" charset="-122"/>
              </a:rPr>
              <a:t>的优缺点</a:t>
            </a:r>
            <a:endParaRPr lang="zh-CN" altLang="en-US" sz="2000" b="1" dirty="0">
              <a:solidFill>
                <a:schemeClr val="bg1"/>
              </a:solidFill>
              <a:latin typeface="微软雅黑" pitchFamily="34" charset="-122"/>
              <a:ea typeface="微软雅黑" pitchFamily="34" charset="-122"/>
            </a:endParaRPr>
          </a:p>
        </p:txBody>
      </p:sp>
      <p:sp>
        <p:nvSpPr>
          <p:cNvPr id="5"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sp>
        <p:nvSpPr>
          <p:cNvPr id="28" name="Rectangle 68"/>
          <p:cNvSpPr>
            <a:spLocks noChangeArrowheads="1"/>
          </p:cNvSpPr>
          <p:nvPr/>
        </p:nvSpPr>
        <p:spPr bwMode="auto">
          <a:xfrm>
            <a:off x="556964" y="1010413"/>
            <a:ext cx="7831386" cy="24263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优点：</a:t>
            </a:r>
            <a:endParaRPr lang="en-US" altLang="zh-CN"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实现简单。</a:t>
            </a:r>
            <a:endParaRPr lang="en-US" altLang="zh-CN" sz="1600"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在集中式目录服务器中便于实现各种灵活的查询算法。</a:t>
            </a:r>
            <a:endParaRPr lang="en-US" altLang="zh-CN" sz="1600" b="1" dirty="0">
              <a:latin typeface="微软雅黑" pitchFamily="34" charset="-122"/>
              <a:ea typeface="微软雅黑" pitchFamily="34" charset="-122"/>
            </a:endParaRPr>
          </a:p>
          <a:p>
            <a:pPr marL="285750" indent="-285750" algn="just" hangingPunct="0">
              <a:lnSpc>
                <a:spcPts val="3300"/>
              </a:lnSpc>
              <a:buClr>
                <a:srgbClr val="0070C0"/>
              </a:buClr>
              <a:buFont typeface="Wingdings" pitchFamily="2" charset="2"/>
              <a:buChar char="l"/>
            </a:pPr>
            <a:r>
              <a:rPr lang="zh-CN" altLang="en-US" b="1" dirty="0" smtClean="0">
                <a:latin typeface="微软雅黑" pitchFamily="34" charset="-122"/>
                <a:ea typeface="微软雅黑" pitchFamily="34" charset="-122"/>
              </a:rPr>
              <a:t>缺点：</a:t>
            </a:r>
            <a:endParaRPr lang="en-US" altLang="zh-CN"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可靠性差，存在单点故障问题。</a:t>
            </a:r>
            <a:endParaRPr lang="en-US" altLang="zh-CN" sz="1600" b="1" dirty="0" smtClean="0">
              <a:latin typeface="微软雅黑" pitchFamily="34" charset="-122"/>
              <a:ea typeface="微软雅黑" pitchFamily="34" charset="-122"/>
            </a:endParaRPr>
          </a:p>
          <a:p>
            <a:pPr marL="742950" lvl="1" indent="-285750" algn="just" hangingPunct="0">
              <a:lnSpc>
                <a:spcPts val="2900"/>
              </a:lnSpc>
              <a:buClr>
                <a:srgbClr val="0070C0"/>
              </a:buClr>
              <a:buFont typeface="Wingdings" pitchFamily="2" charset="2"/>
              <a:buChar char="l"/>
            </a:pPr>
            <a:r>
              <a:rPr lang="zh-CN" altLang="en-US" sz="1600" b="1" dirty="0" smtClean="0">
                <a:latin typeface="微软雅黑" pitchFamily="34" charset="-122"/>
                <a:ea typeface="微软雅黑" pitchFamily="34" charset="-122"/>
              </a:rPr>
              <a:t>扩展性不够，目录服务器会成为性能瓶颈。</a:t>
            </a:r>
            <a:endParaRPr lang="zh-CN" altLang="en-US" sz="16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4848692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xEl>
                                              <p:pRg st="3" end="3"/>
                                            </p:txEl>
                                          </p:spTgt>
                                        </p:tgtEl>
                                        <p:attrNameLst>
                                          <p:attrName>style.visibility</p:attrName>
                                        </p:attrNameLst>
                                      </p:cBhvr>
                                      <p:to>
                                        <p:strVal val="visible"/>
                                      </p:to>
                                    </p:set>
                                    <p:animEffect transition="in" filter="fade">
                                      <p:cBhvr>
                                        <p:cTn id="7" dur="500"/>
                                        <p:tgtEl>
                                          <p:spTgt spid="28">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8">
                                            <p:txEl>
                                              <p:pRg st="4" end="4"/>
                                            </p:txEl>
                                          </p:spTgt>
                                        </p:tgtEl>
                                        <p:attrNameLst>
                                          <p:attrName>style.visibility</p:attrName>
                                        </p:attrNameLst>
                                      </p:cBhvr>
                                      <p:to>
                                        <p:strVal val="visible"/>
                                      </p:to>
                                    </p:set>
                                    <p:animEffect transition="in" filter="fade">
                                      <p:cBhvr>
                                        <p:cTn id="10" dur="500"/>
                                        <p:tgtEl>
                                          <p:spTgt spid="28">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xEl>
                                              <p:pRg st="5" end="5"/>
                                            </p:txEl>
                                          </p:spTgt>
                                        </p:tgtEl>
                                        <p:attrNameLst>
                                          <p:attrName>style.visibility</p:attrName>
                                        </p:attrNameLst>
                                      </p:cBhvr>
                                      <p:to>
                                        <p:strVal val="visible"/>
                                      </p:to>
                                    </p:set>
                                    <p:animEffect transition="in" filter="fade">
                                      <p:cBhvr>
                                        <p:cTn id="13" dur="500"/>
                                        <p:tgtEl>
                                          <p:spTgt spid="2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内容占位符 7"/>
          <p:cNvSpPr>
            <a:spLocks noGrp="1"/>
          </p:cNvSpPr>
          <p:nvPr>
            <p:ph sz="quarter" idx="10"/>
          </p:nvPr>
        </p:nvSpPr>
        <p:spPr>
          <a:xfrm>
            <a:off x="466344" y="969627"/>
            <a:ext cx="8129016" cy="871874"/>
          </a:xfrm>
        </p:spPr>
        <p:txBody>
          <a:bodyPr/>
          <a:lstStyle/>
          <a:p>
            <a:r>
              <a:rPr lang="en-US" altLang="zh-CN" dirty="0"/>
              <a:t>2001 </a:t>
            </a:r>
            <a:r>
              <a:rPr lang="zh-CN" altLang="en-US" dirty="0"/>
              <a:t>年初，</a:t>
            </a:r>
            <a:r>
              <a:rPr lang="en-US" altLang="zh-CN" dirty="0"/>
              <a:t>Napster </a:t>
            </a:r>
            <a:r>
              <a:rPr lang="zh-CN" altLang="en-US" dirty="0"/>
              <a:t>的全球用户</a:t>
            </a:r>
            <a:r>
              <a:rPr lang="zh-CN" altLang="en-US" dirty="0" smtClean="0"/>
              <a:t>数量超过 </a:t>
            </a:r>
            <a:r>
              <a:rPr lang="en-US" altLang="zh-CN" dirty="0"/>
              <a:t>2640 </a:t>
            </a:r>
            <a:r>
              <a:rPr lang="zh-CN" altLang="en-US" dirty="0"/>
              <a:t>万</a:t>
            </a:r>
            <a:r>
              <a:rPr lang="zh-CN" altLang="en-US" dirty="0" smtClean="0"/>
              <a:t>。</a:t>
            </a:r>
            <a:endParaRPr lang="en-US" altLang="zh-CN" dirty="0" smtClean="0"/>
          </a:p>
          <a:p>
            <a:r>
              <a:rPr lang="en-US" altLang="zh-CN" dirty="0" smtClean="0"/>
              <a:t>2001 </a:t>
            </a:r>
            <a:r>
              <a:rPr lang="zh-CN" altLang="en-US" dirty="0" smtClean="0"/>
              <a:t>年 </a:t>
            </a:r>
            <a:r>
              <a:rPr lang="en-US" altLang="zh-CN" dirty="0" smtClean="0"/>
              <a:t>7 </a:t>
            </a:r>
            <a:r>
              <a:rPr lang="zh-CN" altLang="en-US" dirty="0" smtClean="0"/>
              <a:t>月，</a:t>
            </a:r>
            <a:r>
              <a:rPr lang="en-US" altLang="zh-CN" dirty="0" smtClean="0"/>
              <a:t>Napster </a:t>
            </a:r>
            <a:r>
              <a:rPr lang="zh-CN" altLang="en-US" dirty="0" smtClean="0"/>
              <a:t>在与 </a:t>
            </a:r>
            <a:r>
              <a:rPr lang="en-US" altLang="zh-CN" dirty="0" smtClean="0"/>
              <a:t>RIAA </a:t>
            </a:r>
            <a:r>
              <a:rPr lang="zh-CN" altLang="en-US" dirty="0" smtClean="0"/>
              <a:t>的官司中败诉，被迫关闭。</a:t>
            </a:r>
            <a:endParaRPr lang="zh-CN" altLang="en-US" dirty="0"/>
          </a:p>
        </p:txBody>
      </p:sp>
      <p:sp>
        <p:nvSpPr>
          <p:cNvPr id="9" name="文本占位符 8"/>
          <p:cNvSpPr>
            <a:spLocks noGrp="1"/>
          </p:cNvSpPr>
          <p:nvPr>
            <p:ph type="body" sz="quarter" idx="11"/>
          </p:nvPr>
        </p:nvSpPr>
        <p:spPr/>
        <p:txBody>
          <a:bodyPr/>
          <a:lstStyle/>
          <a:p>
            <a:r>
              <a:rPr lang="en-US" altLang="zh-CN" dirty="0" smtClean="0"/>
              <a:t>Napster </a:t>
            </a:r>
            <a:r>
              <a:rPr lang="zh-CN" altLang="en-US" dirty="0" smtClean="0"/>
              <a:t>的离场</a:t>
            </a:r>
            <a:endParaRPr lang="zh-CN" altLang="en-US" dirty="0"/>
          </a:p>
        </p:txBody>
      </p:sp>
      <p:pic>
        <p:nvPicPr>
          <p:cNvPr id="4" name="图片 3">
            <a:extLst>
              <a:ext uri="{FF2B5EF4-FFF2-40B4-BE49-F238E27FC236}">
                <a16:creationId xmlns:a16="http://schemas.microsoft.com/office/drawing/2014/main" id="{36AA6CEC-D56C-4D23-8892-BF1A21E2392F}"/>
              </a:ext>
            </a:extLst>
          </p:cNvPr>
          <p:cNvPicPr>
            <a:picLocks noChangeAspect="1"/>
          </p:cNvPicPr>
          <p:nvPr/>
        </p:nvPicPr>
        <p:blipFill>
          <a:blip r:embed="rId3"/>
          <a:stretch>
            <a:fillRect/>
          </a:stretch>
        </p:blipFill>
        <p:spPr>
          <a:xfrm>
            <a:off x="798628" y="2154768"/>
            <a:ext cx="3247716" cy="2466536"/>
          </a:xfrm>
          <a:prstGeom prst="rect">
            <a:avLst/>
          </a:prstGeom>
        </p:spPr>
      </p:pic>
      <p:pic>
        <p:nvPicPr>
          <p:cNvPr id="5" name="Picture 2" descr="See the source image">
            <a:extLst>
              <a:ext uri="{FF2B5EF4-FFF2-40B4-BE49-F238E27FC236}">
                <a16:creationId xmlns:a16="http://schemas.microsoft.com/office/drawing/2014/main" id="{4EE6D19B-0B5E-44E2-A452-22BFEEADC4A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07648" y="1844958"/>
            <a:ext cx="2082221" cy="1343368"/>
          </a:xfrm>
          <a:prstGeom prst="rect">
            <a:avLst/>
          </a:prstGeom>
          <a:noFill/>
          <a:extLst>
            <a:ext uri="{909E8E84-426E-40DD-AFC4-6F175D3DCCD1}">
              <a14:hiddenFill xmlns:a14="http://schemas.microsoft.com/office/drawing/2010/main">
                <a:solidFill>
                  <a:srgbClr val="FFFFFF"/>
                </a:solidFill>
              </a14:hiddenFill>
            </a:ext>
          </a:extLst>
        </p:spPr>
      </p:pic>
      <p:pic>
        <p:nvPicPr>
          <p:cNvPr id="6" name="图片 5">
            <a:extLst>
              <a:ext uri="{FF2B5EF4-FFF2-40B4-BE49-F238E27FC236}">
                <a16:creationId xmlns:a16="http://schemas.microsoft.com/office/drawing/2014/main" id="{74CEDE57-5FF1-4B3C-9D44-D7F1BF5470C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43402" y="3191498"/>
            <a:ext cx="3460106" cy="1548335"/>
          </a:xfrm>
          <a:prstGeom prst="rect">
            <a:avLst/>
          </a:prstGeom>
        </p:spPr>
      </p:pic>
      <p:pic>
        <p:nvPicPr>
          <p:cNvPr id="7" name="Picture 2" descr="See the source image">
            <a:extLst>
              <a:ext uri="{FF2B5EF4-FFF2-40B4-BE49-F238E27FC236}">
                <a16:creationId xmlns:a16="http://schemas.microsoft.com/office/drawing/2014/main" id="{B2929D81-7543-4682-8DB8-7A75B996C931}"/>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153820" y="2013258"/>
            <a:ext cx="1787295" cy="10067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4"/>
          <p:cNvSpPr>
            <a:spLocks noChangeArrowheads="1"/>
          </p:cNvSpPr>
          <p:nvPr/>
        </p:nvSpPr>
        <p:spPr bwMode="auto">
          <a:xfrm>
            <a:off x="6625168" y="37227"/>
            <a:ext cx="2516278"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具有集中目录服务器的 </a:t>
            </a:r>
            <a:r>
              <a:rPr lang="en-US" altLang="zh-CN" sz="1100" b="1" dirty="0">
                <a:solidFill>
                  <a:srgbClr val="0070C0"/>
                </a:solidFill>
                <a:latin typeface="微软雅黑" pitchFamily="34" charset="-122"/>
                <a:ea typeface="微软雅黑" pitchFamily="34" charset="-122"/>
              </a:rPr>
              <a:t>P2P </a:t>
            </a:r>
            <a:r>
              <a:rPr lang="zh-CN" altLang="en-US" sz="1100" b="1" dirty="0">
                <a:solidFill>
                  <a:srgbClr val="0070C0"/>
                </a:solidFill>
                <a:latin typeface="微软雅黑" pitchFamily="34" charset="-122"/>
                <a:ea typeface="微软雅黑" pitchFamily="34" charset="-122"/>
              </a:rPr>
              <a:t>工作方式</a:t>
            </a:r>
          </a:p>
        </p:txBody>
      </p:sp>
    </p:spTree>
    <p:extLst>
      <p:ext uri="{BB962C8B-B14F-4D97-AF65-F5344CB8AC3E}">
        <p14:creationId xmlns:p14="http://schemas.microsoft.com/office/powerpoint/2010/main" val="4845976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11242" y="1004998"/>
            <a:ext cx="8138981"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Gnutella </a:t>
            </a:r>
            <a:r>
              <a:rPr lang="zh-CN" altLang="en-US" sz="2000" b="1" dirty="0" smtClean="0">
                <a:latin typeface="微软雅黑" pitchFamily="34" charset="-122"/>
                <a:ea typeface="微软雅黑" pitchFamily="34" charset="-122"/>
              </a:rPr>
              <a:t>是</a:t>
            </a:r>
            <a:r>
              <a:rPr lang="zh-CN" altLang="en-US" sz="2000" b="1" dirty="0" smtClean="0">
                <a:solidFill>
                  <a:srgbClr val="0000FF"/>
                </a:solidFill>
                <a:latin typeface="微软雅黑" pitchFamily="34" charset="-122"/>
                <a:ea typeface="微软雅黑" pitchFamily="34" charset="-122"/>
              </a:rPr>
              <a:t>第二代</a:t>
            </a:r>
            <a:r>
              <a:rPr lang="zh-CN" altLang="en-US"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文件</a:t>
            </a:r>
            <a:r>
              <a:rPr lang="zh-CN" altLang="en-US" sz="2000" b="1" dirty="0" smtClean="0">
                <a:latin typeface="微软雅黑" pitchFamily="34" charset="-122"/>
                <a:ea typeface="微软雅黑" pitchFamily="34" charset="-122"/>
              </a:rPr>
              <a:t>共享应用，</a:t>
            </a: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全分布</a:t>
            </a:r>
            <a:r>
              <a:rPr lang="zh-CN" altLang="en-US" sz="2000" b="1" dirty="0">
                <a:latin typeface="微软雅黑" pitchFamily="34" charset="-122"/>
                <a:ea typeface="微软雅黑" pitchFamily="34" charset="-122"/>
              </a:rPr>
              <a:t>方法定位</a:t>
            </a:r>
            <a:r>
              <a:rPr lang="zh-CN" altLang="en-US" sz="2000" b="1" dirty="0" smtClean="0">
                <a:latin typeface="微软雅黑" pitchFamily="34" charset="-122"/>
                <a:ea typeface="微软雅黑" pitchFamily="34" charset="-122"/>
              </a:rPr>
              <a:t>内容。 </a:t>
            </a:r>
            <a:endParaRPr lang="zh-CN" altLang="en-US"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最大的</a:t>
            </a:r>
            <a:r>
              <a:rPr lang="zh-CN" altLang="en-US" sz="2000" b="1" dirty="0" smtClean="0">
                <a:solidFill>
                  <a:srgbClr val="C00000"/>
                </a:solidFill>
                <a:latin typeface="微软雅黑" pitchFamily="34" charset="-122"/>
                <a:ea typeface="微软雅黑" pitchFamily="34" charset="-122"/>
              </a:rPr>
              <a:t>区别</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42950" lvl="1" indent="-285750" eaLnBrk="0" hangingPunct="0">
              <a:lnSpc>
                <a:spcPts val="3300"/>
              </a:lnSpc>
              <a:buClr>
                <a:srgbClr val="0070C0"/>
              </a:buClr>
              <a:buFont typeface="Wingdings" pitchFamily="2" charset="2"/>
              <a:buChar char="l"/>
            </a:pPr>
            <a:r>
              <a:rPr lang="zh-CN" altLang="en-US" b="1" dirty="0" smtClean="0">
                <a:solidFill>
                  <a:srgbClr val="0000FF"/>
                </a:solidFill>
                <a:latin typeface="微软雅黑" pitchFamily="34" charset="-122"/>
                <a:ea typeface="微软雅黑" pitchFamily="34" charset="-122"/>
              </a:rPr>
              <a:t>不</a:t>
            </a:r>
            <a:r>
              <a:rPr lang="zh-CN" altLang="en-US" b="1" dirty="0">
                <a:solidFill>
                  <a:srgbClr val="0000FF"/>
                </a:solidFill>
                <a:latin typeface="微软雅黑" pitchFamily="34" charset="-122"/>
                <a:ea typeface="微软雅黑" pitchFamily="34" charset="-122"/>
              </a:rPr>
              <a:t>使用</a:t>
            </a:r>
            <a:r>
              <a:rPr lang="zh-CN" altLang="en-US" b="1" dirty="0">
                <a:latin typeface="微软雅黑" pitchFamily="34" charset="-122"/>
                <a:ea typeface="微软雅黑" pitchFamily="34" charset="-122"/>
              </a:rPr>
              <a:t>集中式的目录服务器，而是使用</a:t>
            </a:r>
            <a:r>
              <a:rPr lang="zh-CN" altLang="en-US" b="1" dirty="0">
                <a:solidFill>
                  <a:srgbClr val="C00000"/>
                </a:solidFill>
                <a:latin typeface="微软雅黑" pitchFamily="34" charset="-122"/>
                <a:ea typeface="微软雅黑" pitchFamily="34" charset="-122"/>
              </a:rPr>
              <a:t>洪泛法</a:t>
            </a:r>
            <a:r>
              <a:rPr lang="zh-CN" altLang="en-US" b="1" dirty="0">
                <a:latin typeface="微软雅黑" pitchFamily="34" charset="-122"/>
                <a:ea typeface="微软雅黑" pitchFamily="34" charset="-122"/>
              </a:rPr>
              <a:t>在大量 </a:t>
            </a:r>
            <a:r>
              <a:rPr lang="en-US" altLang="zh-CN" b="1" dirty="0">
                <a:latin typeface="微软雅黑" pitchFamily="34" charset="-122"/>
                <a:ea typeface="微软雅黑" pitchFamily="34" charset="-122"/>
              </a:rPr>
              <a:t>Gnutella </a:t>
            </a:r>
            <a:r>
              <a:rPr lang="zh-CN" altLang="en-US" b="1" dirty="0">
                <a:latin typeface="微软雅黑" pitchFamily="34" charset="-122"/>
                <a:ea typeface="微软雅黑" pitchFamily="34" charset="-122"/>
              </a:rPr>
              <a:t>用户之间进行查询。</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为了不使查询的通信量过大，</a:t>
            </a: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设计了一种</a:t>
            </a:r>
            <a:r>
              <a:rPr lang="zh-CN" altLang="en-US" sz="2000" b="1" dirty="0">
                <a:solidFill>
                  <a:srgbClr val="C00000"/>
                </a:solidFill>
                <a:latin typeface="微软雅黑" pitchFamily="34" charset="-122"/>
                <a:ea typeface="微软雅黑" pitchFamily="34" charset="-122"/>
              </a:rPr>
              <a:t>有限范围</a:t>
            </a:r>
            <a:r>
              <a:rPr lang="zh-CN" altLang="en-US" sz="2000" b="1" dirty="0">
                <a:latin typeface="微软雅黑" pitchFamily="34" charset="-122"/>
                <a:ea typeface="微软雅黑" pitchFamily="34" charset="-122"/>
              </a:rPr>
              <a:t>的洪泛</a:t>
            </a:r>
            <a:r>
              <a:rPr lang="zh-CN" altLang="en-US" sz="2000" b="1" dirty="0" smtClean="0">
                <a:latin typeface="微软雅黑" pitchFamily="34" charset="-122"/>
                <a:ea typeface="微软雅黑" pitchFamily="34" charset="-122"/>
              </a:rPr>
              <a:t>查询，例如查询报文至多被转发</a:t>
            </a:r>
            <a:r>
              <a:rPr lang="en-US" altLang="zh-CN" sz="2000" b="1" dirty="0" smtClean="0">
                <a:latin typeface="微软雅黑" pitchFamily="34" charset="-122"/>
                <a:ea typeface="微软雅黑" pitchFamily="34" charset="-122"/>
              </a:rPr>
              <a:t>7</a:t>
            </a:r>
            <a:r>
              <a:rPr lang="zh-CN" altLang="en-US" sz="2000" b="1" dirty="0" smtClean="0">
                <a:latin typeface="微软雅黑" pitchFamily="34" charset="-122"/>
                <a:ea typeface="微软雅黑" pitchFamily="34" charset="-122"/>
              </a:rPr>
              <a:t>跳之后就丢弃，减少了查询</a:t>
            </a:r>
            <a:r>
              <a:rPr lang="zh-CN" altLang="en-US" sz="2000" b="1" dirty="0">
                <a:latin typeface="微软雅黑" pitchFamily="34" charset="-122"/>
                <a:ea typeface="微软雅黑" pitchFamily="34" charset="-122"/>
              </a:rPr>
              <a:t>流量，</a:t>
            </a:r>
            <a:r>
              <a:rPr lang="zh-CN" altLang="en-US" sz="2000" b="1" dirty="0" smtClean="0">
                <a:latin typeface="微软雅黑" pitchFamily="34" charset="-122"/>
                <a:ea typeface="微软雅黑" pitchFamily="34" charset="-122"/>
              </a:rPr>
              <a:t>但也会影响查询</a:t>
            </a:r>
            <a:r>
              <a:rPr lang="zh-CN" altLang="en-US" sz="2000" b="1" dirty="0">
                <a:latin typeface="微软雅黑" pitchFamily="34" charset="-122"/>
                <a:ea typeface="微软雅黑" pitchFamily="34" charset="-122"/>
              </a:rPr>
              <a:t>定位的准确性</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5"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7" name="文本占位符 6"/>
          <p:cNvSpPr>
            <a:spLocks noGrp="1"/>
          </p:cNvSpPr>
          <p:nvPr>
            <p:ph type="body" sz="quarter" idx="11"/>
          </p:nvPr>
        </p:nvSpPr>
        <p:spPr/>
        <p:txBody>
          <a:bodyPr/>
          <a:lstStyle/>
          <a:p>
            <a:r>
              <a:rPr lang="zh-CN" altLang="en-US" dirty="0"/>
              <a:t>具有全分布式结构的 </a:t>
            </a:r>
            <a:r>
              <a:rPr lang="en-US" altLang="zh-CN" dirty="0"/>
              <a:t>P2P </a:t>
            </a:r>
            <a:r>
              <a:rPr lang="zh-CN" altLang="en-US" dirty="0"/>
              <a:t>文件共享</a:t>
            </a:r>
            <a:r>
              <a:rPr lang="zh-CN" altLang="en-US" dirty="0" smtClean="0"/>
              <a:t>程序</a:t>
            </a:r>
            <a:endParaRPr lang="zh-CN" altLang="en-US" dirty="0"/>
          </a:p>
        </p:txBody>
      </p:sp>
    </p:spTree>
    <p:custDataLst>
      <p:tags r:id="rId1"/>
    </p:custDataLst>
    <p:extLst>
      <p:ext uri="{BB962C8B-B14F-4D97-AF65-F5344CB8AC3E}">
        <p14:creationId xmlns:p14="http://schemas.microsoft.com/office/powerpoint/2010/main" val="25408717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3" end="3"/>
                                            </p:txEl>
                                          </p:spTgt>
                                        </p:tgtEl>
                                        <p:attrNameLst>
                                          <p:attrName>style.visibility</p:attrName>
                                        </p:attrNameLst>
                                      </p:cBhvr>
                                      <p:to>
                                        <p:strVal val="visible"/>
                                      </p:to>
                                    </p:set>
                                    <p:animEffect transition="in" filter="fade">
                                      <p:cBhvr>
                                        <p:cTn id="12"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圆角矩形 38"/>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文本占位符 3"/>
          <p:cNvSpPr>
            <a:spLocks noGrp="1"/>
          </p:cNvSpPr>
          <p:nvPr>
            <p:ph type="body" sz="quarter" idx="11"/>
          </p:nvPr>
        </p:nvSpPr>
        <p:spPr/>
        <p:txBody>
          <a:bodyPr/>
          <a:lstStyle/>
          <a:p>
            <a:r>
              <a:rPr lang="en-US" altLang="zh-CN" dirty="0"/>
              <a:t>Gnutella: </a:t>
            </a:r>
            <a:r>
              <a:rPr lang="zh-CN" altLang="en-US" dirty="0" smtClean="0"/>
              <a:t>洪泛式查找</a:t>
            </a:r>
            <a:endParaRPr lang="zh-CN" altLang="en-US" dirty="0"/>
          </a:p>
        </p:txBody>
      </p:sp>
      <p:pic>
        <p:nvPicPr>
          <p:cNvPr id="3686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3600" y="200802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6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5350" y="212232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6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3600" y="27509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0"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19600" y="34367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1"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19500" y="269382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2"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6500" y="36653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3" name="Picture 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76900" y="16079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4"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34100" y="28652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5"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3800" y="149367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76" name="Line 12"/>
          <p:cNvSpPr>
            <a:spLocks noChangeShapeType="1"/>
          </p:cNvSpPr>
          <p:nvPr/>
        </p:nvSpPr>
        <p:spPr bwMode="auto">
          <a:xfrm>
            <a:off x="2305050" y="2350922"/>
            <a:ext cx="57150" cy="342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77" name="Line 13"/>
          <p:cNvSpPr>
            <a:spLocks noChangeShapeType="1"/>
          </p:cNvSpPr>
          <p:nvPr/>
        </p:nvSpPr>
        <p:spPr bwMode="auto">
          <a:xfrm flipV="1">
            <a:off x="2419350" y="1607972"/>
            <a:ext cx="13716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78" name="Line 14"/>
          <p:cNvSpPr>
            <a:spLocks noChangeShapeType="1"/>
          </p:cNvSpPr>
          <p:nvPr/>
        </p:nvSpPr>
        <p:spPr bwMode="auto">
          <a:xfrm flipH="1">
            <a:off x="3790950" y="1836572"/>
            <a:ext cx="114300" cy="8572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79" name="Line 15"/>
          <p:cNvSpPr>
            <a:spLocks noChangeShapeType="1"/>
          </p:cNvSpPr>
          <p:nvPr/>
        </p:nvSpPr>
        <p:spPr bwMode="auto">
          <a:xfrm>
            <a:off x="2305050" y="3093872"/>
            <a:ext cx="2286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0" name="Line 16"/>
          <p:cNvSpPr>
            <a:spLocks noChangeShapeType="1"/>
          </p:cNvSpPr>
          <p:nvPr/>
        </p:nvSpPr>
        <p:spPr bwMode="auto">
          <a:xfrm flipH="1">
            <a:off x="2762250" y="3036722"/>
            <a:ext cx="9144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1" name="Line 17"/>
          <p:cNvSpPr>
            <a:spLocks noChangeShapeType="1"/>
          </p:cNvSpPr>
          <p:nvPr/>
        </p:nvSpPr>
        <p:spPr bwMode="auto">
          <a:xfrm>
            <a:off x="4076700" y="1607972"/>
            <a:ext cx="6858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2" name="Line 18"/>
          <p:cNvSpPr>
            <a:spLocks noChangeShapeType="1"/>
          </p:cNvSpPr>
          <p:nvPr/>
        </p:nvSpPr>
        <p:spPr bwMode="auto">
          <a:xfrm flipV="1">
            <a:off x="3905250" y="2293772"/>
            <a:ext cx="800100" cy="514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3" name="Line 19"/>
          <p:cNvSpPr>
            <a:spLocks noChangeShapeType="1"/>
          </p:cNvSpPr>
          <p:nvPr/>
        </p:nvSpPr>
        <p:spPr bwMode="auto">
          <a:xfrm flipH="1">
            <a:off x="4591050" y="2465222"/>
            <a:ext cx="22860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4" name="Line 20"/>
          <p:cNvSpPr>
            <a:spLocks noChangeShapeType="1"/>
          </p:cNvSpPr>
          <p:nvPr/>
        </p:nvSpPr>
        <p:spPr bwMode="auto">
          <a:xfrm flipV="1">
            <a:off x="2876550" y="3608222"/>
            <a:ext cx="154305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5" name="Line 21"/>
          <p:cNvSpPr>
            <a:spLocks noChangeShapeType="1"/>
          </p:cNvSpPr>
          <p:nvPr/>
        </p:nvSpPr>
        <p:spPr bwMode="auto">
          <a:xfrm>
            <a:off x="3905250" y="2979572"/>
            <a:ext cx="5715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6" name="Line 22"/>
          <p:cNvSpPr>
            <a:spLocks noChangeShapeType="1"/>
          </p:cNvSpPr>
          <p:nvPr/>
        </p:nvSpPr>
        <p:spPr bwMode="auto">
          <a:xfrm>
            <a:off x="4076700" y="1550822"/>
            <a:ext cx="160020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7" name="Line 23"/>
          <p:cNvSpPr>
            <a:spLocks noChangeShapeType="1"/>
          </p:cNvSpPr>
          <p:nvPr/>
        </p:nvSpPr>
        <p:spPr bwMode="auto">
          <a:xfrm>
            <a:off x="5848350" y="1950872"/>
            <a:ext cx="40005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8" name="Line 24"/>
          <p:cNvSpPr>
            <a:spLocks noChangeShapeType="1"/>
          </p:cNvSpPr>
          <p:nvPr/>
        </p:nvSpPr>
        <p:spPr bwMode="auto">
          <a:xfrm>
            <a:off x="4991100" y="2408072"/>
            <a:ext cx="11430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89" name="Line 25"/>
          <p:cNvSpPr>
            <a:spLocks noChangeShapeType="1"/>
          </p:cNvSpPr>
          <p:nvPr/>
        </p:nvSpPr>
        <p:spPr bwMode="auto">
          <a:xfrm flipV="1">
            <a:off x="4705350" y="3093872"/>
            <a:ext cx="142875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90" name="Line 26"/>
          <p:cNvSpPr>
            <a:spLocks noChangeShapeType="1"/>
          </p:cNvSpPr>
          <p:nvPr/>
        </p:nvSpPr>
        <p:spPr bwMode="auto">
          <a:xfrm>
            <a:off x="2533650" y="2236622"/>
            <a:ext cx="108585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grpSp>
        <p:nvGrpSpPr>
          <p:cNvPr id="2" name="Group 33"/>
          <p:cNvGrpSpPr>
            <a:grpSpLocks/>
          </p:cNvGrpSpPr>
          <p:nvPr/>
        </p:nvGrpSpPr>
        <p:grpSpPr bwMode="auto">
          <a:xfrm>
            <a:off x="5676900" y="2408072"/>
            <a:ext cx="628650" cy="914400"/>
            <a:chOff x="4032" y="2352"/>
            <a:chExt cx="528" cy="768"/>
          </a:xfrm>
        </p:grpSpPr>
        <p:sp>
          <p:nvSpPr>
            <p:cNvPr id="36898" name="Line 27"/>
            <p:cNvSpPr>
              <a:spLocks noChangeShapeType="1"/>
            </p:cNvSpPr>
            <p:nvPr/>
          </p:nvSpPr>
          <p:spPr bwMode="auto">
            <a:xfrm flipH="1" flipV="1">
              <a:off x="4416" y="2352"/>
              <a:ext cx="144" cy="288"/>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899" name="Line 28"/>
            <p:cNvSpPr>
              <a:spLocks noChangeShapeType="1"/>
            </p:cNvSpPr>
            <p:nvPr/>
          </p:nvSpPr>
          <p:spPr bwMode="auto">
            <a:xfrm flipH="1" flipV="1">
              <a:off x="4032" y="2736"/>
              <a:ext cx="288" cy="144"/>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6900" name="Line 29"/>
            <p:cNvSpPr>
              <a:spLocks noChangeShapeType="1"/>
            </p:cNvSpPr>
            <p:nvPr/>
          </p:nvSpPr>
          <p:spPr bwMode="auto">
            <a:xfrm flipH="1">
              <a:off x="4080" y="3024"/>
              <a:ext cx="288" cy="96"/>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grpSp>
      <p:sp>
        <p:nvSpPr>
          <p:cNvPr id="36892" name="Text Box 30"/>
          <p:cNvSpPr txBox="1">
            <a:spLocks noChangeArrowheads="1"/>
          </p:cNvSpPr>
          <p:nvPr/>
        </p:nvSpPr>
        <p:spPr bwMode="auto">
          <a:xfrm>
            <a:off x="6341378" y="2808122"/>
            <a:ext cx="101181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rgbClr val="0000FF"/>
                </a:solidFill>
              </a:rPr>
              <a:t>123.mp3 </a:t>
            </a:r>
            <a:r>
              <a:rPr lang="en-US" altLang="zh-CN" sz="1500" dirty="0">
                <a:solidFill>
                  <a:srgbClr val="0000FF"/>
                </a:solidFill>
              </a:rPr>
              <a:t>?</a:t>
            </a:r>
          </a:p>
        </p:txBody>
      </p:sp>
      <p:sp>
        <p:nvSpPr>
          <p:cNvPr id="36893" name="Text Box 31"/>
          <p:cNvSpPr txBox="1">
            <a:spLocks noChangeArrowheads="1"/>
          </p:cNvSpPr>
          <p:nvPr/>
        </p:nvSpPr>
        <p:spPr bwMode="auto">
          <a:xfrm>
            <a:off x="2802453" y="2770707"/>
            <a:ext cx="87876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chemeClr val="tx1"/>
                </a:solidFill>
              </a:rPr>
              <a:t>123.mp3</a:t>
            </a:r>
            <a:endParaRPr lang="en-US" altLang="zh-CN" sz="1500" dirty="0">
              <a:solidFill>
                <a:schemeClr val="tx1"/>
              </a:solidFill>
            </a:endParaRPr>
          </a:p>
        </p:txBody>
      </p:sp>
      <p:sp>
        <p:nvSpPr>
          <p:cNvPr id="36894" name="Text Box 32"/>
          <p:cNvSpPr txBox="1">
            <a:spLocks noChangeArrowheads="1"/>
          </p:cNvSpPr>
          <p:nvPr/>
        </p:nvSpPr>
        <p:spPr bwMode="auto">
          <a:xfrm>
            <a:off x="6346171" y="3379622"/>
            <a:ext cx="5950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zh-CN" altLang="en-US" sz="1600" b="1" dirty="0" smtClean="0">
                <a:solidFill>
                  <a:schemeClr val="hlink"/>
                </a:solidFill>
                <a:latin typeface="微软雅黑" panose="020B0503020204020204" pitchFamily="34" charset="-122"/>
                <a:ea typeface="微软雅黑" panose="020B0503020204020204" pitchFamily="34" charset="-122"/>
              </a:rPr>
              <a:t>洪泛</a:t>
            </a:r>
            <a:endParaRPr lang="en-US" altLang="zh-CN" sz="1600" b="1" dirty="0">
              <a:solidFill>
                <a:schemeClr val="tx1"/>
              </a:solidFill>
              <a:latin typeface="微软雅黑" panose="020B0503020204020204" pitchFamily="34" charset="-122"/>
              <a:ea typeface="微软雅黑" panose="020B0503020204020204" pitchFamily="34" charset="-122"/>
            </a:endParaRPr>
          </a:p>
        </p:txBody>
      </p:sp>
      <p:sp>
        <p:nvSpPr>
          <p:cNvPr id="35" name="Text Box 28"/>
          <p:cNvSpPr txBox="1">
            <a:spLocks noChangeArrowheads="1"/>
          </p:cNvSpPr>
          <p:nvPr/>
        </p:nvSpPr>
        <p:spPr bwMode="auto">
          <a:xfrm>
            <a:off x="6219964" y="2350922"/>
            <a:ext cx="5950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ctr">
              <a:spcBef>
                <a:spcPct val="0"/>
              </a:spcBef>
              <a:buFontTx/>
              <a:buNone/>
              <a:defRPr sz="1600" b="1">
                <a:solidFill>
                  <a:schemeClr val="hlink"/>
                </a:solidFill>
                <a:latin typeface="微软雅黑" panose="020B0503020204020204" pitchFamily="34" charset="-122"/>
                <a:ea typeface="微软雅黑" panose="020B0503020204020204" pitchFamily="34" charset="-122"/>
              </a:defRPr>
            </a:lvl1pPr>
            <a:lvl2pPr marL="742950" indent="-285750">
              <a:spcBef>
                <a:spcPct val="20000"/>
              </a:spcBef>
              <a:buFont typeface="Arial" panose="020B0604020202020204" pitchFamily="34" charset="0"/>
              <a:buChar char="–"/>
              <a:defRPr sz="2800">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9pPr>
          </a:lstStyle>
          <a:p>
            <a:r>
              <a:rPr lang="zh-CN" altLang="en-US" dirty="0" smtClean="0"/>
              <a:t>查询</a:t>
            </a:r>
            <a:endParaRPr lang="en-US" altLang="zh-CN" dirty="0"/>
          </a:p>
        </p:txBody>
      </p:sp>
      <p:sp>
        <p:nvSpPr>
          <p:cNvPr id="36"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37" name="Text Box 13"/>
          <p:cNvSpPr txBox="1">
            <a:spLocks noChangeArrowheads="1"/>
          </p:cNvSpPr>
          <p:nvPr/>
        </p:nvSpPr>
        <p:spPr bwMode="auto">
          <a:xfrm>
            <a:off x="6385242" y="31046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sp>
        <p:nvSpPr>
          <p:cNvPr id="38" name="Text Box 13"/>
          <p:cNvSpPr txBox="1">
            <a:spLocks noChangeArrowheads="1"/>
          </p:cNvSpPr>
          <p:nvPr/>
        </p:nvSpPr>
        <p:spPr bwMode="auto">
          <a:xfrm>
            <a:off x="3629186" y="30440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Tree>
    <p:extLst>
      <p:ext uri="{BB962C8B-B14F-4D97-AF65-F5344CB8AC3E}">
        <p14:creationId xmlns:p14="http://schemas.microsoft.com/office/powerpoint/2010/main" val="862146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par>
                          <p:cTn id="8" fill="hold" nodeType="afterGroup">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8914"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7830" y="20108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5"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9580" y="21251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6"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7830" y="27537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7"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23830" y="34395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8"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3730" y="26966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9"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0730" y="36681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0" name="Picture 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81130" y="16107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1"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38330" y="28680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2"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8030" y="14964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23" name="Line 12"/>
          <p:cNvSpPr>
            <a:spLocks noChangeShapeType="1"/>
          </p:cNvSpPr>
          <p:nvPr/>
        </p:nvSpPr>
        <p:spPr bwMode="auto">
          <a:xfrm>
            <a:off x="2309280" y="2353730"/>
            <a:ext cx="57150" cy="342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4" name="Line 13"/>
          <p:cNvSpPr>
            <a:spLocks noChangeShapeType="1"/>
          </p:cNvSpPr>
          <p:nvPr/>
        </p:nvSpPr>
        <p:spPr bwMode="auto">
          <a:xfrm flipV="1">
            <a:off x="2423580" y="1610780"/>
            <a:ext cx="13716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5" name="Line 14"/>
          <p:cNvSpPr>
            <a:spLocks noChangeShapeType="1"/>
          </p:cNvSpPr>
          <p:nvPr/>
        </p:nvSpPr>
        <p:spPr bwMode="auto">
          <a:xfrm flipH="1">
            <a:off x="3795180" y="1839380"/>
            <a:ext cx="114300" cy="8572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6" name="Line 15"/>
          <p:cNvSpPr>
            <a:spLocks noChangeShapeType="1"/>
          </p:cNvSpPr>
          <p:nvPr/>
        </p:nvSpPr>
        <p:spPr bwMode="auto">
          <a:xfrm>
            <a:off x="2309280" y="3096680"/>
            <a:ext cx="2286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7" name="Line 16"/>
          <p:cNvSpPr>
            <a:spLocks noChangeShapeType="1"/>
          </p:cNvSpPr>
          <p:nvPr/>
        </p:nvSpPr>
        <p:spPr bwMode="auto">
          <a:xfrm flipH="1">
            <a:off x="2766480" y="3039530"/>
            <a:ext cx="9144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8" name="Line 17"/>
          <p:cNvSpPr>
            <a:spLocks noChangeShapeType="1"/>
          </p:cNvSpPr>
          <p:nvPr/>
        </p:nvSpPr>
        <p:spPr bwMode="auto">
          <a:xfrm>
            <a:off x="4080930" y="1610780"/>
            <a:ext cx="6858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9" name="Line 18"/>
          <p:cNvSpPr>
            <a:spLocks noChangeShapeType="1"/>
          </p:cNvSpPr>
          <p:nvPr/>
        </p:nvSpPr>
        <p:spPr bwMode="auto">
          <a:xfrm flipV="1">
            <a:off x="3909480" y="2296580"/>
            <a:ext cx="800100" cy="514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0" name="Line 19"/>
          <p:cNvSpPr>
            <a:spLocks noChangeShapeType="1"/>
          </p:cNvSpPr>
          <p:nvPr/>
        </p:nvSpPr>
        <p:spPr bwMode="auto">
          <a:xfrm flipH="1">
            <a:off x="4595280" y="2468030"/>
            <a:ext cx="22860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1" name="Line 20"/>
          <p:cNvSpPr>
            <a:spLocks noChangeShapeType="1"/>
          </p:cNvSpPr>
          <p:nvPr/>
        </p:nvSpPr>
        <p:spPr bwMode="auto">
          <a:xfrm flipV="1">
            <a:off x="2880780" y="3611030"/>
            <a:ext cx="154305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2" name="Line 21"/>
          <p:cNvSpPr>
            <a:spLocks noChangeShapeType="1"/>
          </p:cNvSpPr>
          <p:nvPr/>
        </p:nvSpPr>
        <p:spPr bwMode="auto">
          <a:xfrm>
            <a:off x="3909480" y="2982380"/>
            <a:ext cx="5715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3" name="Line 22"/>
          <p:cNvSpPr>
            <a:spLocks noChangeShapeType="1"/>
          </p:cNvSpPr>
          <p:nvPr/>
        </p:nvSpPr>
        <p:spPr bwMode="auto">
          <a:xfrm>
            <a:off x="4080930" y="1553630"/>
            <a:ext cx="160020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4" name="Line 23"/>
          <p:cNvSpPr>
            <a:spLocks noChangeShapeType="1"/>
          </p:cNvSpPr>
          <p:nvPr/>
        </p:nvSpPr>
        <p:spPr bwMode="auto">
          <a:xfrm>
            <a:off x="5852580" y="1953680"/>
            <a:ext cx="40005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5" name="Line 24"/>
          <p:cNvSpPr>
            <a:spLocks noChangeShapeType="1"/>
          </p:cNvSpPr>
          <p:nvPr/>
        </p:nvSpPr>
        <p:spPr bwMode="auto">
          <a:xfrm>
            <a:off x="4995330" y="2410880"/>
            <a:ext cx="11430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6" name="Line 25"/>
          <p:cNvSpPr>
            <a:spLocks noChangeShapeType="1"/>
          </p:cNvSpPr>
          <p:nvPr/>
        </p:nvSpPr>
        <p:spPr bwMode="auto">
          <a:xfrm flipV="1">
            <a:off x="4709580" y="3096680"/>
            <a:ext cx="142875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7" name="Line 26"/>
          <p:cNvSpPr>
            <a:spLocks noChangeShapeType="1"/>
          </p:cNvSpPr>
          <p:nvPr/>
        </p:nvSpPr>
        <p:spPr bwMode="auto">
          <a:xfrm>
            <a:off x="2537880" y="2239430"/>
            <a:ext cx="108585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grpSp>
        <p:nvGrpSpPr>
          <p:cNvPr id="2" name="Group 41"/>
          <p:cNvGrpSpPr>
            <a:grpSpLocks/>
          </p:cNvGrpSpPr>
          <p:nvPr/>
        </p:nvGrpSpPr>
        <p:grpSpPr bwMode="auto">
          <a:xfrm>
            <a:off x="4023780" y="1782230"/>
            <a:ext cx="1600200" cy="1943100"/>
            <a:chOff x="2640" y="1824"/>
            <a:chExt cx="1344" cy="1632"/>
          </a:xfrm>
        </p:grpSpPr>
        <p:sp>
          <p:nvSpPr>
            <p:cNvPr id="38946" name="Line 30"/>
            <p:cNvSpPr>
              <a:spLocks noChangeShapeType="1"/>
            </p:cNvSpPr>
            <p:nvPr/>
          </p:nvSpPr>
          <p:spPr bwMode="auto">
            <a:xfrm flipV="1">
              <a:off x="3216" y="2880"/>
              <a:ext cx="48" cy="240"/>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47" name="Line 31"/>
            <p:cNvSpPr>
              <a:spLocks noChangeShapeType="1"/>
            </p:cNvSpPr>
            <p:nvPr/>
          </p:nvSpPr>
          <p:spPr bwMode="auto">
            <a:xfrm flipH="1" flipV="1">
              <a:off x="2736" y="3072"/>
              <a:ext cx="240" cy="192"/>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48" name="Line 32"/>
            <p:cNvSpPr>
              <a:spLocks noChangeShapeType="1"/>
            </p:cNvSpPr>
            <p:nvPr/>
          </p:nvSpPr>
          <p:spPr bwMode="auto">
            <a:xfrm flipH="1">
              <a:off x="2640" y="3456"/>
              <a:ext cx="288" cy="0"/>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49" name="Line 33"/>
            <p:cNvSpPr>
              <a:spLocks noChangeShapeType="1"/>
            </p:cNvSpPr>
            <p:nvPr/>
          </p:nvSpPr>
          <p:spPr bwMode="auto">
            <a:xfrm flipH="1">
              <a:off x="3744" y="1824"/>
              <a:ext cx="240" cy="0"/>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50" name="Line 34"/>
            <p:cNvSpPr>
              <a:spLocks noChangeShapeType="1"/>
            </p:cNvSpPr>
            <p:nvPr/>
          </p:nvSpPr>
          <p:spPr bwMode="auto">
            <a:xfrm flipH="1">
              <a:off x="3024" y="2208"/>
              <a:ext cx="144" cy="96"/>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51" name="Line 35"/>
            <p:cNvSpPr>
              <a:spLocks noChangeShapeType="1"/>
            </p:cNvSpPr>
            <p:nvPr/>
          </p:nvSpPr>
          <p:spPr bwMode="auto">
            <a:xfrm flipH="1" flipV="1">
              <a:off x="3072" y="1872"/>
              <a:ext cx="144" cy="144"/>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52" name="Line 36"/>
            <p:cNvSpPr>
              <a:spLocks noChangeShapeType="1"/>
            </p:cNvSpPr>
            <p:nvPr/>
          </p:nvSpPr>
          <p:spPr bwMode="auto">
            <a:xfrm flipH="1">
              <a:off x="3312" y="2448"/>
              <a:ext cx="48" cy="192"/>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grpSp>
      <p:sp>
        <p:nvSpPr>
          <p:cNvPr id="38939" name="Text Box 37"/>
          <p:cNvSpPr txBox="1">
            <a:spLocks noChangeArrowheads="1"/>
          </p:cNvSpPr>
          <p:nvPr/>
        </p:nvSpPr>
        <p:spPr bwMode="auto">
          <a:xfrm>
            <a:off x="6345608" y="2810930"/>
            <a:ext cx="101181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rgbClr val="0000FF"/>
                </a:solidFill>
              </a:rPr>
              <a:t>123.mp3 </a:t>
            </a:r>
            <a:r>
              <a:rPr lang="en-US" altLang="zh-CN" sz="1500" dirty="0">
                <a:solidFill>
                  <a:srgbClr val="0000FF"/>
                </a:solidFill>
              </a:rPr>
              <a:t>?</a:t>
            </a:r>
          </a:p>
        </p:txBody>
      </p:sp>
      <p:sp>
        <p:nvSpPr>
          <p:cNvPr id="4" name="文本占位符 3"/>
          <p:cNvSpPr>
            <a:spLocks noGrp="1"/>
          </p:cNvSpPr>
          <p:nvPr>
            <p:ph type="body" sz="quarter" idx="11"/>
          </p:nvPr>
        </p:nvSpPr>
        <p:spPr/>
        <p:txBody>
          <a:bodyPr/>
          <a:lstStyle/>
          <a:p>
            <a:r>
              <a:rPr lang="en-US" altLang="zh-CN" dirty="0"/>
              <a:t>Gnutella: </a:t>
            </a:r>
            <a:r>
              <a:rPr lang="zh-CN" altLang="en-US" dirty="0"/>
              <a:t>洪泛式</a:t>
            </a:r>
            <a:r>
              <a:rPr lang="zh-CN" altLang="en-US" dirty="0" smtClean="0"/>
              <a:t>查找</a:t>
            </a:r>
            <a:endParaRPr lang="zh-CN" altLang="en-US" dirty="0"/>
          </a:p>
        </p:txBody>
      </p:sp>
      <p:sp>
        <p:nvSpPr>
          <p:cNvPr id="44" name="Text Box 32"/>
          <p:cNvSpPr txBox="1">
            <a:spLocks noChangeArrowheads="1"/>
          </p:cNvSpPr>
          <p:nvPr/>
        </p:nvSpPr>
        <p:spPr bwMode="auto">
          <a:xfrm>
            <a:off x="6346171" y="3379622"/>
            <a:ext cx="5950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zh-CN" altLang="en-US" sz="1600" b="1" dirty="0" smtClean="0">
                <a:solidFill>
                  <a:schemeClr val="hlink"/>
                </a:solidFill>
                <a:latin typeface="微软雅黑" panose="020B0503020204020204" pitchFamily="34" charset="-122"/>
                <a:ea typeface="微软雅黑" panose="020B0503020204020204" pitchFamily="34" charset="-122"/>
              </a:rPr>
              <a:t>洪泛</a:t>
            </a:r>
            <a:endParaRPr lang="en-US" altLang="zh-CN" sz="1600" b="1" dirty="0">
              <a:solidFill>
                <a:schemeClr val="tx1"/>
              </a:solidFill>
              <a:latin typeface="微软雅黑" panose="020B0503020204020204" pitchFamily="34" charset="-122"/>
              <a:ea typeface="微软雅黑" panose="020B0503020204020204" pitchFamily="34" charset="-122"/>
            </a:endParaRPr>
          </a:p>
        </p:txBody>
      </p:sp>
      <p:sp>
        <p:nvSpPr>
          <p:cNvPr id="45" name="Text Box 28"/>
          <p:cNvSpPr txBox="1">
            <a:spLocks noChangeArrowheads="1"/>
          </p:cNvSpPr>
          <p:nvPr/>
        </p:nvSpPr>
        <p:spPr bwMode="auto">
          <a:xfrm>
            <a:off x="3885944" y="3841803"/>
            <a:ext cx="5950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ctr">
              <a:spcBef>
                <a:spcPct val="0"/>
              </a:spcBef>
              <a:buFontTx/>
              <a:buNone/>
              <a:defRPr sz="1600" b="1">
                <a:solidFill>
                  <a:schemeClr val="hlink"/>
                </a:solidFill>
                <a:latin typeface="微软雅黑" panose="020B0503020204020204" pitchFamily="34" charset="-122"/>
                <a:ea typeface="微软雅黑" panose="020B0503020204020204" pitchFamily="34" charset="-122"/>
              </a:defRPr>
            </a:lvl1pPr>
            <a:lvl2pPr marL="742950" indent="-285750">
              <a:spcBef>
                <a:spcPct val="20000"/>
              </a:spcBef>
              <a:buFont typeface="Arial" panose="020B0604020202020204" pitchFamily="34" charset="0"/>
              <a:buChar char="–"/>
              <a:defRPr sz="2800">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9pPr>
          </a:lstStyle>
          <a:p>
            <a:r>
              <a:rPr lang="zh-CN" altLang="en-US" dirty="0" smtClean="0"/>
              <a:t>查询</a:t>
            </a:r>
            <a:endParaRPr lang="en-US" altLang="zh-CN" dirty="0"/>
          </a:p>
        </p:txBody>
      </p:sp>
      <p:sp>
        <p:nvSpPr>
          <p:cNvPr id="40"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41" name="Text Box 31"/>
          <p:cNvSpPr txBox="1">
            <a:spLocks noChangeArrowheads="1"/>
          </p:cNvSpPr>
          <p:nvPr/>
        </p:nvSpPr>
        <p:spPr bwMode="auto">
          <a:xfrm>
            <a:off x="2802453" y="2770707"/>
            <a:ext cx="87876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chemeClr val="tx1"/>
                </a:solidFill>
              </a:rPr>
              <a:t>123.mp3</a:t>
            </a:r>
            <a:endParaRPr lang="en-US" altLang="zh-CN" sz="1500" dirty="0">
              <a:solidFill>
                <a:schemeClr val="tx1"/>
              </a:solidFill>
            </a:endParaRPr>
          </a:p>
        </p:txBody>
      </p:sp>
      <p:sp>
        <p:nvSpPr>
          <p:cNvPr id="42" name="Text Box 13"/>
          <p:cNvSpPr txBox="1">
            <a:spLocks noChangeArrowheads="1"/>
          </p:cNvSpPr>
          <p:nvPr/>
        </p:nvSpPr>
        <p:spPr bwMode="auto">
          <a:xfrm>
            <a:off x="3629186" y="30440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
        <p:nvSpPr>
          <p:cNvPr id="43" name="Text Box 13"/>
          <p:cNvSpPr txBox="1">
            <a:spLocks noChangeArrowheads="1"/>
          </p:cNvSpPr>
          <p:nvPr/>
        </p:nvSpPr>
        <p:spPr bwMode="auto">
          <a:xfrm>
            <a:off x="6385242" y="31046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spTree>
    <p:extLst>
      <p:ext uri="{BB962C8B-B14F-4D97-AF65-F5344CB8AC3E}">
        <p14:creationId xmlns:p14="http://schemas.microsoft.com/office/powerpoint/2010/main" val="36450893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圆角矩形 41"/>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8914"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7830" y="20108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5"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9580" y="21251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6"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7830" y="27537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7"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23830" y="34395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8"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3730" y="269663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9"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0730" y="36681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0" name="Picture 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81130" y="16107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1"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38330" y="28680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22"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8030" y="149648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23" name="Line 12"/>
          <p:cNvSpPr>
            <a:spLocks noChangeShapeType="1"/>
          </p:cNvSpPr>
          <p:nvPr/>
        </p:nvSpPr>
        <p:spPr bwMode="auto">
          <a:xfrm>
            <a:off x="2309280" y="2353730"/>
            <a:ext cx="57150" cy="342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4" name="Line 13"/>
          <p:cNvSpPr>
            <a:spLocks noChangeShapeType="1"/>
          </p:cNvSpPr>
          <p:nvPr/>
        </p:nvSpPr>
        <p:spPr bwMode="auto">
          <a:xfrm flipV="1">
            <a:off x="2423580" y="1610780"/>
            <a:ext cx="13716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5" name="Line 14"/>
          <p:cNvSpPr>
            <a:spLocks noChangeShapeType="1"/>
          </p:cNvSpPr>
          <p:nvPr/>
        </p:nvSpPr>
        <p:spPr bwMode="auto">
          <a:xfrm flipH="1">
            <a:off x="3795180" y="1839380"/>
            <a:ext cx="114300" cy="8572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6" name="Line 15"/>
          <p:cNvSpPr>
            <a:spLocks noChangeShapeType="1"/>
          </p:cNvSpPr>
          <p:nvPr/>
        </p:nvSpPr>
        <p:spPr bwMode="auto">
          <a:xfrm>
            <a:off x="2309280" y="3096680"/>
            <a:ext cx="2286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7" name="Line 16"/>
          <p:cNvSpPr>
            <a:spLocks noChangeShapeType="1"/>
          </p:cNvSpPr>
          <p:nvPr/>
        </p:nvSpPr>
        <p:spPr bwMode="auto">
          <a:xfrm flipH="1">
            <a:off x="2766480" y="3039530"/>
            <a:ext cx="9144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8" name="Line 17"/>
          <p:cNvSpPr>
            <a:spLocks noChangeShapeType="1"/>
          </p:cNvSpPr>
          <p:nvPr/>
        </p:nvSpPr>
        <p:spPr bwMode="auto">
          <a:xfrm>
            <a:off x="4080930" y="1610780"/>
            <a:ext cx="68580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29" name="Line 18"/>
          <p:cNvSpPr>
            <a:spLocks noChangeShapeType="1"/>
          </p:cNvSpPr>
          <p:nvPr/>
        </p:nvSpPr>
        <p:spPr bwMode="auto">
          <a:xfrm flipV="1">
            <a:off x="3909480" y="2296580"/>
            <a:ext cx="800100" cy="514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0" name="Line 19"/>
          <p:cNvSpPr>
            <a:spLocks noChangeShapeType="1"/>
          </p:cNvSpPr>
          <p:nvPr/>
        </p:nvSpPr>
        <p:spPr bwMode="auto">
          <a:xfrm flipH="1">
            <a:off x="4595280" y="2468030"/>
            <a:ext cx="22860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1" name="Line 20"/>
          <p:cNvSpPr>
            <a:spLocks noChangeShapeType="1"/>
          </p:cNvSpPr>
          <p:nvPr/>
        </p:nvSpPr>
        <p:spPr bwMode="auto">
          <a:xfrm flipV="1">
            <a:off x="2880780" y="3611030"/>
            <a:ext cx="154305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2" name="Line 21"/>
          <p:cNvSpPr>
            <a:spLocks noChangeShapeType="1"/>
          </p:cNvSpPr>
          <p:nvPr/>
        </p:nvSpPr>
        <p:spPr bwMode="auto">
          <a:xfrm>
            <a:off x="3909480" y="2982380"/>
            <a:ext cx="57150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3" name="Line 22"/>
          <p:cNvSpPr>
            <a:spLocks noChangeShapeType="1"/>
          </p:cNvSpPr>
          <p:nvPr/>
        </p:nvSpPr>
        <p:spPr bwMode="auto">
          <a:xfrm>
            <a:off x="4080930" y="1553630"/>
            <a:ext cx="1600200" cy="171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4" name="Line 23"/>
          <p:cNvSpPr>
            <a:spLocks noChangeShapeType="1"/>
          </p:cNvSpPr>
          <p:nvPr/>
        </p:nvSpPr>
        <p:spPr bwMode="auto">
          <a:xfrm>
            <a:off x="5852580" y="1953680"/>
            <a:ext cx="400050" cy="914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5" name="Line 24"/>
          <p:cNvSpPr>
            <a:spLocks noChangeShapeType="1"/>
          </p:cNvSpPr>
          <p:nvPr/>
        </p:nvSpPr>
        <p:spPr bwMode="auto">
          <a:xfrm>
            <a:off x="4995330" y="2410880"/>
            <a:ext cx="1143000" cy="628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6" name="Line 25"/>
          <p:cNvSpPr>
            <a:spLocks noChangeShapeType="1"/>
          </p:cNvSpPr>
          <p:nvPr/>
        </p:nvSpPr>
        <p:spPr bwMode="auto">
          <a:xfrm flipV="1">
            <a:off x="4709580" y="3096680"/>
            <a:ext cx="142875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7" name="Line 26"/>
          <p:cNvSpPr>
            <a:spLocks noChangeShapeType="1"/>
          </p:cNvSpPr>
          <p:nvPr/>
        </p:nvSpPr>
        <p:spPr bwMode="auto">
          <a:xfrm>
            <a:off x="2537880" y="2239430"/>
            <a:ext cx="1085850" cy="5715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8939" name="Text Box 37"/>
          <p:cNvSpPr txBox="1">
            <a:spLocks noChangeArrowheads="1"/>
          </p:cNvSpPr>
          <p:nvPr/>
        </p:nvSpPr>
        <p:spPr bwMode="auto">
          <a:xfrm>
            <a:off x="6412132" y="2810930"/>
            <a:ext cx="87876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rgbClr val="0000FF"/>
                </a:solidFill>
              </a:rPr>
              <a:t>123.mp3</a:t>
            </a:r>
            <a:endParaRPr lang="en-US" altLang="zh-CN" sz="1500" dirty="0">
              <a:solidFill>
                <a:srgbClr val="0000FF"/>
              </a:solidFill>
            </a:endParaRPr>
          </a:p>
        </p:txBody>
      </p:sp>
      <p:sp>
        <p:nvSpPr>
          <p:cNvPr id="4" name="文本占位符 3"/>
          <p:cNvSpPr>
            <a:spLocks noGrp="1"/>
          </p:cNvSpPr>
          <p:nvPr>
            <p:ph type="body" sz="quarter" idx="11"/>
          </p:nvPr>
        </p:nvSpPr>
        <p:spPr/>
        <p:txBody>
          <a:bodyPr/>
          <a:lstStyle/>
          <a:p>
            <a:r>
              <a:rPr lang="en-US" altLang="zh-CN" dirty="0"/>
              <a:t>Gnutella: </a:t>
            </a:r>
            <a:r>
              <a:rPr lang="zh-CN" altLang="en-US" dirty="0"/>
              <a:t>洪泛式</a:t>
            </a:r>
            <a:r>
              <a:rPr lang="zh-CN" altLang="en-US" dirty="0" smtClean="0"/>
              <a:t>查找</a:t>
            </a:r>
            <a:endParaRPr lang="zh-CN" altLang="en-US" dirty="0"/>
          </a:p>
        </p:txBody>
      </p:sp>
      <p:sp>
        <p:nvSpPr>
          <p:cNvPr id="45" name="Text Box 28"/>
          <p:cNvSpPr txBox="1">
            <a:spLocks noChangeArrowheads="1"/>
          </p:cNvSpPr>
          <p:nvPr/>
        </p:nvSpPr>
        <p:spPr bwMode="auto">
          <a:xfrm>
            <a:off x="4627033" y="3022996"/>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ctr">
              <a:spcBef>
                <a:spcPct val="0"/>
              </a:spcBef>
              <a:buFontTx/>
              <a:buNone/>
              <a:defRPr sz="1600" b="1">
                <a:solidFill>
                  <a:schemeClr val="hlink"/>
                </a:solidFill>
                <a:latin typeface="微软雅黑" panose="020B0503020204020204" pitchFamily="34" charset="-122"/>
                <a:ea typeface="微软雅黑" panose="020B0503020204020204" pitchFamily="34" charset="-122"/>
              </a:defRPr>
            </a:lvl1pPr>
            <a:lvl2pPr marL="742950" indent="-285750">
              <a:spcBef>
                <a:spcPct val="20000"/>
              </a:spcBef>
              <a:buFont typeface="Arial" panose="020B0604020202020204" pitchFamily="34" charset="0"/>
              <a:buChar char="–"/>
              <a:defRPr sz="2800">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ea typeface="ＭＳ Ｐゴシック" panose="020B0600070205080204" pitchFamily="34" charset="-128"/>
              </a:defRPr>
            </a:lvl9pPr>
          </a:lstStyle>
          <a:p>
            <a:r>
              <a:rPr lang="zh-CN" altLang="en-US" dirty="0" smtClean="0"/>
              <a:t>文件传输</a:t>
            </a:r>
            <a:endParaRPr lang="en-US" altLang="zh-CN" dirty="0"/>
          </a:p>
        </p:txBody>
      </p:sp>
      <p:sp>
        <p:nvSpPr>
          <p:cNvPr id="41" name="Line 27"/>
          <p:cNvSpPr>
            <a:spLocks noChangeShapeType="1"/>
          </p:cNvSpPr>
          <p:nvPr/>
        </p:nvSpPr>
        <p:spPr bwMode="auto">
          <a:xfrm>
            <a:off x="3995205" y="2886787"/>
            <a:ext cx="2114550" cy="171450"/>
          </a:xfrm>
          <a:prstGeom prst="line">
            <a:avLst/>
          </a:prstGeom>
          <a:noFill/>
          <a:ln w="50800">
            <a:solidFill>
              <a:srgbClr val="0000FF"/>
            </a:solidFill>
            <a:prstDash val="sys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sz="1350"/>
          </a:p>
        </p:txBody>
      </p:sp>
      <p:sp>
        <p:nvSpPr>
          <p:cNvPr id="32"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33" name="Text Box 31"/>
          <p:cNvSpPr txBox="1">
            <a:spLocks noChangeArrowheads="1"/>
          </p:cNvSpPr>
          <p:nvPr/>
        </p:nvSpPr>
        <p:spPr bwMode="auto">
          <a:xfrm>
            <a:off x="2802453" y="2770707"/>
            <a:ext cx="87876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rgbClr val="800000"/>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zh-CN" sz="1500" dirty="0" smtClean="0">
                <a:solidFill>
                  <a:schemeClr val="tx1"/>
                </a:solidFill>
              </a:rPr>
              <a:t>123.mp3</a:t>
            </a:r>
            <a:endParaRPr lang="en-US" altLang="zh-CN" sz="1500" dirty="0">
              <a:solidFill>
                <a:schemeClr val="tx1"/>
              </a:solidFill>
            </a:endParaRPr>
          </a:p>
        </p:txBody>
      </p:sp>
      <p:sp>
        <p:nvSpPr>
          <p:cNvPr id="34" name="Text Box 13"/>
          <p:cNvSpPr txBox="1">
            <a:spLocks noChangeArrowheads="1"/>
          </p:cNvSpPr>
          <p:nvPr/>
        </p:nvSpPr>
        <p:spPr bwMode="auto">
          <a:xfrm>
            <a:off x="3629186" y="3044051"/>
            <a:ext cx="300082" cy="276999"/>
          </a:xfrm>
          <a:prstGeom prst="rect">
            <a:avLst/>
          </a:prstGeom>
          <a:noFill/>
          <a:ln w="9525">
            <a:noFill/>
            <a:miter lim="800000"/>
            <a:headEnd/>
            <a:tailEnd/>
          </a:ln>
        </p:spPr>
        <p:txBody>
          <a:bodyPr wrap="none">
            <a:spAutoFit/>
          </a:bodyPr>
          <a:lstStyle/>
          <a:p>
            <a:r>
              <a:rPr lang="en-US" altLang="zh-CN" sz="1200" b="1" dirty="0" smtClean="0">
                <a:latin typeface="微软雅黑" pitchFamily="34" charset="-122"/>
                <a:ea typeface="微软雅黑" pitchFamily="34" charset="-122"/>
                <a:cs typeface="Times New Roman" pitchFamily="18" charset="0"/>
              </a:rPr>
              <a:t>A</a:t>
            </a:r>
            <a:endParaRPr lang="en-US" altLang="zh-CN" sz="1200" b="1" dirty="0">
              <a:latin typeface="微软雅黑" pitchFamily="34" charset="-122"/>
              <a:ea typeface="微软雅黑" pitchFamily="34" charset="-122"/>
              <a:cs typeface="Times New Roman" pitchFamily="18" charset="0"/>
            </a:endParaRPr>
          </a:p>
        </p:txBody>
      </p:sp>
      <p:sp>
        <p:nvSpPr>
          <p:cNvPr id="35" name="Text Box 13"/>
          <p:cNvSpPr txBox="1">
            <a:spLocks noChangeArrowheads="1"/>
          </p:cNvSpPr>
          <p:nvPr/>
        </p:nvSpPr>
        <p:spPr bwMode="auto">
          <a:xfrm>
            <a:off x="6385242" y="31046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spTree>
    <p:extLst>
      <p:ext uri="{BB962C8B-B14F-4D97-AF65-F5344CB8AC3E}">
        <p14:creationId xmlns:p14="http://schemas.microsoft.com/office/powerpoint/2010/main" val="15055181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ipe(left)">
                                      <p:cBhvr>
                                        <p:cTn id="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sz="quarter" idx="10"/>
          </p:nvPr>
        </p:nvSpPr>
        <p:spPr/>
        <p:txBody>
          <a:bodyPr/>
          <a:lstStyle/>
          <a:p>
            <a:r>
              <a:rPr lang="zh-CN" altLang="en-US" dirty="0" smtClean="0"/>
              <a:t>优点</a:t>
            </a:r>
            <a:endParaRPr lang="en-US" altLang="zh-CN" dirty="0"/>
          </a:p>
          <a:p>
            <a:pPr lvl="1">
              <a:buClr>
                <a:schemeClr val="accent1"/>
              </a:buClr>
              <a:buFont typeface="Wingdings" panose="05000000000000000000" pitchFamily="2" charset="2"/>
              <a:buChar char="l"/>
            </a:pPr>
            <a:r>
              <a:rPr lang="zh-CN" altLang="en-US" dirty="0" smtClean="0"/>
              <a:t>完全分布式结构，无单点故障问题，部分节点失效或退出不影响整个网络的运行。</a:t>
            </a:r>
            <a:endParaRPr lang="en-US" altLang="zh-CN" dirty="0"/>
          </a:p>
          <a:p>
            <a:pPr lvl="1">
              <a:buClr>
                <a:srgbClr val="0070C0"/>
              </a:buClr>
              <a:buFont typeface="Wingdings" panose="05000000000000000000" pitchFamily="2" charset="2"/>
              <a:buChar char="l"/>
            </a:pPr>
            <a:r>
              <a:rPr lang="zh-CN" altLang="en-US" dirty="0" smtClean="0"/>
              <a:t>自组织</a:t>
            </a:r>
            <a:r>
              <a:rPr lang="zh-CN" altLang="en-US" dirty="0"/>
              <a:t>性强，网络的规模可以随着节点的动态加入和离开而自动扩展和调整，无需人工干预或复杂的配置。</a:t>
            </a:r>
            <a:endParaRPr lang="en-US" altLang="zh-CN" dirty="0"/>
          </a:p>
          <a:p>
            <a:pPr>
              <a:buClr>
                <a:srgbClr val="0070C0"/>
              </a:buClr>
            </a:pPr>
            <a:r>
              <a:rPr lang="zh-CN" altLang="en-US" dirty="0" smtClean="0"/>
              <a:t>缺点</a:t>
            </a:r>
            <a:endParaRPr lang="en-US" altLang="zh-CN" dirty="0"/>
          </a:p>
          <a:p>
            <a:pPr lvl="1">
              <a:buClr>
                <a:srgbClr val="0070C0"/>
              </a:buClr>
              <a:buFont typeface="Wingdings" panose="05000000000000000000" pitchFamily="2" charset="2"/>
              <a:buChar char="l"/>
            </a:pPr>
            <a:r>
              <a:rPr lang="zh-CN" altLang="en-US" dirty="0" smtClean="0"/>
              <a:t>查询效率低，网络流量开销大。</a:t>
            </a:r>
            <a:endParaRPr lang="en-US" altLang="zh-CN" dirty="0" smtClean="0"/>
          </a:p>
          <a:p>
            <a:pPr lvl="1">
              <a:buClr>
                <a:srgbClr val="0070C0"/>
              </a:buClr>
              <a:buFont typeface="Wingdings" panose="05000000000000000000" pitchFamily="2" charset="2"/>
              <a:buChar char="l"/>
            </a:pPr>
            <a:r>
              <a:rPr lang="zh-CN" altLang="en-US" dirty="0"/>
              <a:t>查询</a:t>
            </a:r>
            <a:r>
              <a:rPr lang="zh-CN" altLang="en-US" dirty="0" smtClean="0"/>
              <a:t>成功率无法保证。</a:t>
            </a:r>
            <a:endParaRPr lang="en-US" altLang="zh-CN" dirty="0" smtClean="0"/>
          </a:p>
          <a:p>
            <a:pPr lvl="1">
              <a:buClr>
                <a:srgbClr val="0070C0"/>
              </a:buClr>
              <a:buFont typeface="Wingdings" panose="05000000000000000000" pitchFamily="2" charset="2"/>
              <a:buChar char="l"/>
            </a:pPr>
            <a:r>
              <a:rPr lang="zh-CN" altLang="en-US" dirty="0" smtClean="0"/>
              <a:t>受查询机制影响，网络规模不能过大。</a:t>
            </a:r>
            <a:endParaRPr lang="en-US" altLang="zh-CN" dirty="0"/>
          </a:p>
        </p:txBody>
      </p:sp>
      <p:sp>
        <p:nvSpPr>
          <p:cNvPr id="43011" name="Rectangle 5"/>
          <p:cNvSpPr>
            <a:spLocks noGrp="1" noChangeArrowheads="1"/>
          </p:cNvSpPr>
          <p:nvPr>
            <p:ph type="body" sz="quarter" idx="11"/>
          </p:nvPr>
        </p:nvSpPr>
        <p:spPr/>
        <p:txBody>
          <a:bodyPr/>
          <a:lstStyle/>
          <a:p>
            <a:r>
              <a:rPr lang="en-US" altLang="zh-CN" dirty="0" smtClean="0"/>
              <a:t>Gnutella</a:t>
            </a:r>
            <a:r>
              <a:rPr lang="zh-CN" altLang="en-US" dirty="0" smtClean="0"/>
              <a:t>优缺点分析</a:t>
            </a:r>
            <a:endParaRPr lang="en-US" altLang="zh-CN" dirty="0" smtClean="0"/>
          </a:p>
        </p:txBody>
      </p:sp>
      <p:sp>
        <p:nvSpPr>
          <p:cNvPr id="6"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custDataLst>
      <p:tags r:id="rId1"/>
    </p:custDataLst>
    <p:extLst>
      <p:ext uri="{BB962C8B-B14F-4D97-AF65-F5344CB8AC3E}">
        <p14:creationId xmlns:p14="http://schemas.microsoft.com/office/powerpoint/2010/main" val="2946397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fade">
                                      <p:cBhvr>
                                        <p:cTn id="7" dur="500"/>
                                        <p:tgtEl>
                                          <p:spTgt spid="2">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fade">
                                      <p:cBhvr>
                                        <p:cTn id="10" dur="500"/>
                                        <p:tgtEl>
                                          <p:spTgt spid="2">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5" end="5"/>
                                            </p:txEl>
                                          </p:spTgt>
                                        </p:tgtEl>
                                        <p:attrNameLst>
                                          <p:attrName>style.visibility</p:attrName>
                                        </p:attrNameLst>
                                      </p:cBhvr>
                                      <p:to>
                                        <p:strVal val="visible"/>
                                      </p:to>
                                    </p:set>
                                    <p:animEffect transition="in" filter="fade">
                                      <p:cBhvr>
                                        <p:cTn id="13" dur="500"/>
                                        <p:tgtEl>
                                          <p:spTgt spid="2">
                                            <p:txEl>
                                              <p:pRg st="5" end="5"/>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
                                            <p:txEl>
                                              <p:pRg st="6" end="6"/>
                                            </p:txEl>
                                          </p:spTgt>
                                        </p:tgtEl>
                                        <p:attrNameLst>
                                          <p:attrName>style.visibility</p:attrName>
                                        </p:attrNameLst>
                                      </p:cBhvr>
                                      <p:to>
                                        <p:strVal val="visible"/>
                                      </p:to>
                                    </p:set>
                                    <p:animEffect transition="in" filter="fade">
                                      <p:cBhvr>
                                        <p:cTn id="16"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内容占位符 1"/>
          <p:cNvSpPr>
            <a:spLocks noGrp="1"/>
          </p:cNvSpPr>
          <p:nvPr>
            <p:ph sz="quarter" idx="10"/>
          </p:nvPr>
        </p:nvSpPr>
        <p:spPr>
          <a:xfrm>
            <a:off x="466344" y="969626"/>
            <a:ext cx="5875189" cy="3754774"/>
          </a:xfrm>
        </p:spPr>
        <p:txBody>
          <a:bodyPr/>
          <a:lstStyle/>
          <a:p>
            <a:r>
              <a:rPr lang="zh-CN" altLang="en-US" dirty="0" smtClean="0"/>
              <a:t>由 </a:t>
            </a:r>
            <a:r>
              <a:rPr lang="en-US" altLang="zh-CN" dirty="0" err="1" smtClean="0"/>
              <a:t>Niklas</a:t>
            </a:r>
            <a:r>
              <a:rPr lang="en-US" altLang="zh-CN" dirty="0" smtClean="0"/>
              <a:t> </a:t>
            </a:r>
            <a:r>
              <a:rPr lang="zh-CN" altLang="en-US" dirty="0" smtClean="0"/>
              <a:t>等人在 </a:t>
            </a:r>
            <a:r>
              <a:rPr lang="en-US" altLang="zh-CN" dirty="0" smtClean="0"/>
              <a:t>2001 </a:t>
            </a:r>
            <a:r>
              <a:rPr lang="zh-CN" altLang="en-US" dirty="0" smtClean="0"/>
              <a:t>年开发实现。</a:t>
            </a:r>
            <a:endParaRPr lang="en-US" altLang="zh-CN" dirty="0"/>
          </a:p>
          <a:p>
            <a:r>
              <a:rPr lang="zh-CN" altLang="en-US" dirty="0"/>
              <a:t>采用了基于超级节点的层次化结构，结合</a:t>
            </a:r>
            <a:r>
              <a:rPr lang="zh-CN" altLang="en-US" dirty="0" smtClean="0"/>
              <a:t>了集中目录服务器和</a:t>
            </a:r>
            <a:r>
              <a:rPr lang="zh-CN" altLang="en-US" dirty="0"/>
              <a:t>完全去中心化的优点</a:t>
            </a:r>
            <a:r>
              <a:rPr lang="zh-CN" altLang="en-US" dirty="0" smtClean="0"/>
              <a:t>。</a:t>
            </a:r>
            <a:endParaRPr lang="en-US" altLang="zh-CN" dirty="0" smtClean="0"/>
          </a:p>
          <a:p>
            <a:pPr lvl="1">
              <a:buClr>
                <a:srgbClr val="0070C0"/>
              </a:buClr>
              <a:buFont typeface="Wingdings" panose="05000000000000000000" pitchFamily="2" charset="2"/>
              <a:buChar char="l"/>
            </a:pPr>
            <a:r>
              <a:rPr lang="zh-CN" altLang="en-US" dirty="0"/>
              <a:t>网络内的节点分为普通节点和超级节点两类。</a:t>
            </a:r>
            <a:endParaRPr lang="en-US" altLang="zh-CN" dirty="0"/>
          </a:p>
          <a:p>
            <a:pPr lvl="1">
              <a:buClr>
                <a:srgbClr val="0070C0"/>
              </a:buClr>
              <a:buFont typeface="Wingdings" panose="05000000000000000000" pitchFamily="2" charset="2"/>
              <a:buChar char="l"/>
            </a:pPr>
            <a:r>
              <a:rPr lang="zh-CN" altLang="en-US" dirty="0"/>
              <a:t>性能较好（如带宽高、</a:t>
            </a:r>
            <a:r>
              <a:rPr lang="en-US" altLang="zh-CN" dirty="0" smtClean="0"/>
              <a:t>CPU</a:t>
            </a:r>
            <a:r>
              <a:rPr lang="zh-CN" altLang="en-US" dirty="0" smtClean="0"/>
              <a:t>计算能力强</a:t>
            </a:r>
            <a:r>
              <a:rPr lang="zh-CN" altLang="en-US" dirty="0"/>
              <a:t>）的节点会</a:t>
            </a:r>
            <a:r>
              <a:rPr lang="zh-CN" altLang="en-US" dirty="0" smtClean="0"/>
              <a:t>被选举</a:t>
            </a:r>
            <a:r>
              <a:rPr lang="zh-CN" altLang="en-US" dirty="0"/>
              <a:t>为超级节点，负责处理其下属普通节点的查询请求。</a:t>
            </a:r>
            <a:endParaRPr lang="en-US" altLang="zh-CN" dirty="0"/>
          </a:p>
          <a:p>
            <a:pPr lvl="1">
              <a:buClr>
                <a:srgbClr val="0070C0"/>
              </a:buClr>
              <a:buFont typeface="Wingdings" panose="05000000000000000000" pitchFamily="2" charset="2"/>
              <a:buChar char="l"/>
            </a:pPr>
            <a:r>
              <a:rPr lang="zh-CN" altLang="en-US" dirty="0"/>
              <a:t>超级节点之间采用了类似于</a:t>
            </a:r>
            <a:r>
              <a:rPr lang="en-US" altLang="zh-CN" dirty="0" smtClean="0"/>
              <a:t>Gnutella</a:t>
            </a:r>
            <a:r>
              <a:rPr lang="zh-CN" altLang="en-US" dirty="0"/>
              <a:t>的全分布式结构。</a:t>
            </a:r>
            <a:endParaRPr lang="en-US" altLang="zh-CN" dirty="0"/>
          </a:p>
        </p:txBody>
      </p:sp>
      <p:sp>
        <p:nvSpPr>
          <p:cNvPr id="3" name="文本占位符 2"/>
          <p:cNvSpPr>
            <a:spLocks noGrp="1"/>
          </p:cNvSpPr>
          <p:nvPr>
            <p:ph type="body" sz="quarter" idx="11"/>
          </p:nvPr>
        </p:nvSpPr>
        <p:spPr/>
        <p:txBody>
          <a:bodyPr/>
          <a:lstStyle/>
          <a:p>
            <a:r>
              <a:rPr lang="en-US" altLang="zh-CN" dirty="0" err="1" smtClean="0"/>
              <a:t>KaZaA</a:t>
            </a:r>
            <a:endParaRPr lang="zh-CN" altLang="en-US" dirty="0"/>
          </a:p>
        </p:txBody>
      </p:sp>
      <p:sp>
        <p:nvSpPr>
          <p:cNvPr id="9" name="矩形 8">
            <a:extLst>
              <a:ext uri="{FF2B5EF4-FFF2-40B4-BE49-F238E27FC236}">
                <a16:creationId xmlns:a16="http://schemas.microsoft.com/office/drawing/2014/main" id="{8EB07928-CBDB-40DA-BFBE-B608055CA470}"/>
              </a:ext>
            </a:extLst>
          </p:cNvPr>
          <p:cNvSpPr/>
          <p:nvPr/>
        </p:nvSpPr>
        <p:spPr>
          <a:xfrm>
            <a:off x="6924040" y="2652306"/>
            <a:ext cx="1912777" cy="369332"/>
          </a:xfrm>
          <a:prstGeom prst="rect">
            <a:avLst/>
          </a:prstGeom>
        </p:spPr>
        <p:txBody>
          <a:bodyPr wrap="square">
            <a:spAutoFit/>
          </a:bodyPr>
          <a:lstStyle/>
          <a:p>
            <a:pPr algn="ctr"/>
            <a:r>
              <a:rPr lang="zh-CN" altLang="en-US" dirty="0"/>
              <a:t>Niklas Zennström</a:t>
            </a:r>
          </a:p>
        </p:txBody>
      </p:sp>
      <p:pic>
        <p:nvPicPr>
          <p:cNvPr id="10" name="图片 9">
            <a:extLst>
              <a:ext uri="{FF2B5EF4-FFF2-40B4-BE49-F238E27FC236}">
                <a16:creationId xmlns:a16="http://schemas.microsoft.com/office/drawing/2014/main" id="{B23EE2D3-C662-4E49-9B61-44941568743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48772" y="1325616"/>
            <a:ext cx="1916084" cy="1133632"/>
          </a:xfrm>
          <a:prstGeom prst="rect">
            <a:avLst/>
          </a:prstGeom>
        </p:spPr>
      </p:pic>
      <p:pic>
        <p:nvPicPr>
          <p:cNvPr id="11" name="图片 10">
            <a:extLst>
              <a:ext uri="{FF2B5EF4-FFF2-40B4-BE49-F238E27FC236}">
                <a16:creationId xmlns:a16="http://schemas.microsoft.com/office/drawing/2014/main" id="{CFAC4131-C68F-40BE-8C08-A9D8840FDDD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640328" y="3439947"/>
            <a:ext cx="1426712" cy="726943"/>
          </a:xfrm>
          <a:prstGeom prst="rect">
            <a:avLst/>
          </a:prstGeom>
        </p:spPr>
      </p:pic>
      <p:pic>
        <p:nvPicPr>
          <p:cNvPr id="12" name="图片 11">
            <a:extLst>
              <a:ext uri="{FF2B5EF4-FFF2-40B4-BE49-F238E27FC236}">
                <a16:creationId xmlns:a16="http://schemas.microsoft.com/office/drawing/2014/main" id="{6D9051E0-B373-42C0-936F-343AD791E6CB}"/>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164132" y="3462632"/>
            <a:ext cx="736028" cy="736028"/>
          </a:xfrm>
          <a:prstGeom prst="rect">
            <a:avLst/>
          </a:prstGeom>
        </p:spPr>
      </p:pic>
      <p:sp>
        <p:nvSpPr>
          <p:cNvPr id="13"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custDataLst>
      <p:tags r:id="rId1"/>
    </p:custDataLst>
    <p:extLst>
      <p:ext uri="{BB962C8B-B14F-4D97-AF65-F5344CB8AC3E}">
        <p14:creationId xmlns:p14="http://schemas.microsoft.com/office/powerpoint/2010/main" val="8725643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3" end="3"/>
                                            </p:txEl>
                                          </p:spTgt>
                                        </p:tgtEl>
                                        <p:attrNameLst>
                                          <p:attrName>style.visibility</p:attrName>
                                        </p:attrNameLst>
                                      </p:cBhvr>
                                      <p:to>
                                        <p:strVal val="visible"/>
                                      </p:to>
                                    </p:set>
                                    <p:animEffect transition="in" filter="fade">
                                      <p:cBhvr>
                                        <p:cTn id="10" dur="500"/>
                                        <p:tgtEl>
                                          <p:spTgt spid="2">
                                            <p:txEl>
                                              <p:pRg st="3" end="3"/>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4" end="4"/>
                                            </p:txEl>
                                          </p:spTgt>
                                        </p:tgtEl>
                                        <p:attrNameLst>
                                          <p:attrName>style.visibility</p:attrName>
                                        </p:attrNameLst>
                                      </p:cBhvr>
                                      <p:to>
                                        <p:strVal val="visible"/>
                                      </p:to>
                                    </p:set>
                                    <p:animEffect transition="in" filter="fade">
                                      <p:cBhvr>
                                        <p:cTn id="13"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内容占位符 1"/>
          <p:cNvSpPr>
            <a:spLocks noGrp="1"/>
          </p:cNvSpPr>
          <p:nvPr>
            <p:ph sz="quarter" idx="10"/>
          </p:nvPr>
        </p:nvSpPr>
        <p:spPr>
          <a:xfrm>
            <a:off x="466344" y="969626"/>
            <a:ext cx="7069334" cy="3703974"/>
          </a:xfrm>
        </p:spPr>
        <p:txBody>
          <a:bodyPr/>
          <a:lstStyle/>
          <a:p>
            <a:r>
              <a:rPr lang="zh-CN" altLang="en-US" sz="1800" dirty="0"/>
              <a:t>普通</a:t>
            </a:r>
            <a:r>
              <a:rPr lang="zh-CN" altLang="en-US" sz="1800" dirty="0" smtClean="0"/>
              <a:t>节点将其共享文件的信息发布至所归属的超级节点。</a:t>
            </a:r>
            <a:endParaRPr lang="en-US" altLang="zh-CN" sz="1800" dirty="0"/>
          </a:p>
          <a:p>
            <a:r>
              <a:rPr lang="zh-CN" altLang="en-US" sz="1800" dirty="0" smtClean="0"/>
              <a:t>普通节点的查询请求直接发送给</a:t>
            </a:r>
            <a:r>
              <a:rPr lang="zh-CN" altLang="en-US" sz="1800" dirty="0" smtClean="0">
                <a:solidFill>
                  <a:srgbClr val="C00000"/>
                </a:solidFill>
              </a:rPr>
              <a:t>其归属超级节点</a:t>
            </a:r>
            <a:r>
              <a:rPr lang="zh-CN" altLang="en-US" sz="1800" dirty="0" smtClean="0"/>
              <a:t>，超级节点若</a:t>
            </a:r>
            <a:r>
              <a:rPr lang="zh-CN" altLang="en-US" sz="1800" dirty="0" smtClean="0">
                <a:solidFill>
                  <a:srgbClr val="C00000"/>
                </a:solidFill>
              </a:rPr>
              <a:t>在本地查找到所请求文件</a:t>
            </a:r>
            <a:r>
              <a:rPr lang="zh-CN" altLang="en-US" sz="1800" dirty="0" smtClean="0"/>
              <a:t>，则直接返回信息；否则由超级节点负责</a:t>
            </a:r>
            <a:r>
              <a:rPr lang="zh-CN" altLang="en-US" sz="1800" dirty="0" smtClean="0">
                <a:solidFill>
                  <a:srgbClr val="C00000"/>
                </a:solidFill>
              </a:rPr>
              <a:t>在它们之间进行洪泛</a:t>
            </a:r>
            <a:r>
              <a:rPr lang="zh-CN" altLang="en-US" sz="1800" dirty="0" smtClean="0"/>
              <a:t>。获得查询结果后再返回给普通节点。</a:t>
            </a:r>
            <a:endParaRPr lang="en-US" altLang="zh-CN" sz="1800" dirty="0"/>
          </a:p>
          <a:p>
            <a:r>
              <a:rPr lang="zh-CN" altLang="en-US" sz="1800" dirty="0" smtClean="0"/>
              <a:t>相比全网洪泛查询，有效降低了网络</a:t>
            </a:r>
            <a:r>
              <a:rPr lang="zh-CN" altLang="en-US" sz="1800" dirty="0"/>
              <a:t>中的冗余流量，提高了搜索效率</a:t>
            </a:r>
            <a:r>
              <a:rPr lang="zh-CN" altLang="en-US" sz="1800" dirty="0" smtClean="0"/>
              <a:t>和可扩展性。</a:t>
            </a:r>
            <a:endParaRPr lang="en-US" altLang="zh-CN" sz="1800" dirty="0" smtClean="0"/>
          </a:p>
          <a:p>
            <a:r>
              <a:rPr lang="zh-CN" altLang="en-US" sz="1800" dirty="0" smtClean="0"/>
              <a:t>文件下载则</a:t>
            </a:r>
            <a:r>
              <a:rPr lang="zh-CN" altLang="en-US" sz="1800" dirty="0" smtClean="0">
                <a:solidFill>
                  <a:srgbClr val="C00000"/>
                </a:solidFill>
              </a:rPr>
              <a:t>直接从提供文件的对等方下载</a:t>
            </a:r>
            <a:r>
              <a:rPr lang="zh-CN" altLang="en-US" sz="1800" dirty="0" smtClean="0"/>
              <a:t>。</a:t>
            </a:r>
            <a:endParaRPr lang="en-US" altLang="zh-CN" sz="1800" dirty="0" smtClean="0"/>
          </a:p>
          <a:p>
            <a:r>
              <a:rPr lang="en-US" altLang="zh-CN" sz="1800" dirty="0" err="1" smtClean="0"/>
              <a:t>KazaA</a:t>
            </a:r>
            <a:r>
              <a:rPr lang="zh-CN" altLang="en-US" sz="1800" dirty="0" smtClean="0"/>
              <a:t>提出后，取得了极大的成功，包括后来的</a:t>
            </a:r>
            <a:r>
              <a:rPr lang="en-US" altLang="zh-CN" sz="1800" dirty="0" smtClean="0"/>
              <a:t>Skype</a:t>
            </a:r>
            <a:r>
              <a:rPr lang="zh-CN" altLang="en-US" sz="1800" dirty="0" smtClean="0"/>
              <a:t>、</a:t>
            </a:r>
            <a:r>
              <a:rPr lang="en-US" altLang="zh-CN" sz="1800" dirty="0" err="1" smtClean="0"/>
              <a:t>Joost</a:t>
            </a:r>
            <a:r>
              <a:rPr lang="zh-CN" altLang="en-US" sz="1800" dirty="0" smtClean="0"/>
              <a:t>等软件也借鉴了这一超级节点的思想。</a:t>
            </a:r>
            <a:endParaRPr lang="zh-CN" altLang="en-US" sz="1800" dirty="0"/>
          </a:p>
        </p:txBody>
      </p:sp>
      <p:sp>
        <p:nvSpPr>
          <p:cNvPr id="3" name="文本占位符 2"/>
          <p:cNvSpPr>
            <a:spLocks noGrp="1"/>
          </p:cNvSpPr>
          <p:nvPr>
            <p:ph type="body" sz="quarter" idx="11"/>
          </p:nvPr>
        </p:nvSpPr>
        <p:spPr/>
        <p:txBody>
          <a:bodyPr/>
          <a:lstStyle/>
          <a:p>
            <a:r>
              <a:rPr lang="en-US" altLang="zh-CN" dirty="0" err="1" smtClean="0"/>
              <a:t>KaZaA</a:t>
            </a:r>
            <a:endParaRPr lang="zh-CN" altLang="en-US" dirty="0"/>
          </a:p>
        </p:txBody>
      </p:sp>
      <p:pic>
        <p:nvPicPr>
          <p:cNvPr id="11" name="图片 10">
            <a:extLst>
              <a:ext uri="{FF2B5EF4-FFF2-40B4-BE49-F238E27FC236}">
                <a16:creationId xmlns:a16="http://schemas.microsoft.com/office/drawing/2014/main" id="{CFAC4131-C68F-40BE-8C08-A9D8840FDDD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535678" y="1655597"/>
            <a:ext cx="1426712" cy="726943"/>
          </a:xfrm>
          <a:prstGeom prst="rect">
            <a:avLst/>
          </a:prstGeom>
        </p:spPr>
      </p:pic>
      <p:pic>
        <p:nvPicPr>
          <p:cNvPr id="12" name="图片 11">
            <a:extLst>
              <a:ext uri="{FF2B5EF4-FFF2-40B4-BE49-F238E27FC236}">
                <a16:creationId xmlns:a16="http://schemas.microsoft.com/office/drawing/2014/main" id="{6D9051E0-B373-42C0-936F-343AD791E6C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24039" y="2706842"/>
            <a:ext cx="736028" cy="736028"/>
          </a:xfrm>
          <a:prstGeom prst="rect">
            <a:avLst/>
          </a:prstGeom>
        </p:spPr>
      </p:pic>
      <p:sp>
        <p:nvSpPr>
          <p:cNvPr id="13"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custDataLst>
      <p:tags r:id="rId1"/>
    </p:custDataLst>
    <p:extLst>
      <p:ext uri="{BB962C8B-B14F-4D97-AF65-F5344CB8AC3E}">
        <p14:creationId xmlns:p14="http://schemas.microsoft.com/office/powerpoint/2010/main" val="8092829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6" name="圆角矩形 75"/>
          <p:cNvSpPr/>
          <p:nvPr/>
        </p:nvSpPr>
        <p:spPr>
          <a:xfrm>
            <a:off x="714703" y="1067811"/>
            <a:ext cx="7891036" cy="365658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占位符 2"/>
          <p:cNvSpPr>
            <a:spLocks noGrp="1"/>
          </p:cNvSpPr>
          <p:nvPr>
            <p:ph type="body" sz="quarter" idx="11"/>
          </p:nvPr>
        </p:nvSpPr>
        <p:spPr/>
        <p:txBody>
          <a:bodyPr/>
          <a:lstStyle/>
          <a:p>
            <a:r>
              <a:rPr lang="en-US" altLang="zh-CN" dirty="0" err="1" smtClean="0"/>
              <a:t>KaZaA</a:t>
            </a:r>
            <a:r>
              <a:rPr lang="zh-CN" altLang="en-US" dirty="0" smtClean="0"/>
              <a:t>网络结构</a:t>
            </a:r>
            <a:endParaRPr lang="zh-CN" altLang="en-US" dirty="0"/>
          </a:p>
        </p:txBody>
      </p:sp>
      <p:sp>
        <p:nvSpPr>
          <p:cNvPr id="36" name="Line 46"/>
          <p:cNvSpPr>
            <a:spLocks noChangeShapeType="1"/>
          </p:cNvSpPr>
          <p:nvPr/>
        </p:nvSpPr>
        <p:spPr bwMode="auto">
          <a:xfrm>
            <a:off x="3740150" y="1802292"/>
            <a:ext cx="1212850" cy="39208"/>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47"/>
          <p:cNvSpPr>
            <a:spLocks noChangeShapeType="1"/>
          </p:cNvSpPr>
          <p:nvPr/>
        </p:nvSpPr>
        <p:spPr bwMode="auto">
          <a:xfrm flipV="1">
            <a:off x="5181600" y="2146300"/>
            <a:ext cx="0" cy="7620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48"/>
          <p:cNvSpPr>
            <a:spLocks noChangeShapeType="1"/>
          </p:cNvSpPr>
          <p:nvPr/>
        </p:nvSpPr>
        <p:spPr bwMode="auto">
          <a:xfrm>
            <a:off x="3429000" y="3125011"/>
            <a:ext cx="1600200" cy="164289"/>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49"/>
          <p:cNvSpPr>
            <a:spLocks noChangeShapeType="1"/>
          </p:cNvSpPr>
          <p:nvPr/>
        </p:nvSpPr>
        <p:spPr bwMode="auto">
          <a:xfrm flipH="1">
            <a:off x="3352800" y="2070100"/>
            <a:ext cx="228600" cy="6858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50"/>
          <p:cNvSpPr>
            <a:spLocks noChangeShapeType="1"/>
          </p:cNvSpPr>
          <p:nvPr/>
        </p:nvSpPr>
        <p:spPr bwMode="auto">
          <a:xfrm>
            <a:off x="3670373" y="1905811"/>
            <a:ext cx="1358827" cy="1154889"/>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51"/>
          <p:cNvSpPr>
            <a:spLocks noChangeShapeType="1"/>
          </p:cNvSpPr>
          <p:nvPr/>
        </p:nvSpPr>
        <p:spPr bwMode="auto">
          <a:xfrm flipV="1">
            <a:off x="3581400" y="2070100"/>
            <a:ext cx="1371600" cy="9906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Line 52"/>
          <p:cNvSpPr>
            <a:spLocks noChangeShapeType="1"/>
          </p:cNvSpPr>
          <p:nvPr/>
        </p:nvSpPr>
        <p:spPr bwMode="auto">
          <a:xfrm>
            <a:off x="5143499" y="1896731"/>
            <a:ext cx="1485901" cy="859169"/>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 name="Line 59"/>
          <p:cNvSpPr>
            <a:spLocks noChangeShapeType="1"/>
          </p:cNvSpPr>
          <p:nvPr/>
        </p:nvSpPr>
        <p:spPr bwMode="auto">
          <a:xfrm>
            <a:off x="5207000" y="3218523"/>
            <a:ext cx="1143000" cy="817423"/>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60"/>
          <p:cNvSpPr>
            <a:spLocks noChangeShapeType="1"/>
          </p:cNvSpPr>
          <p:nvPr/>
        </p:nvSpPr>
        <p:spPr bwMode="auto">
          <a:xfrm>
            <a:off x="5207000" y="3300232"/>
            <a:ext cx="438078" cy="1028181"/>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61"/>
          <p:cNvSpPr>
            <a:spLocks noChangeShapeType="1"/>
          </p:cNvSpPr>
          <p:nvPr/>
        </p:nvSpPr>
        <p:spPr bwMode="auto">
          <a:xfrm flipH="1">
            <a:off x="4673600" y="3300232"/>
            <a:ext cx="228600" cy="6858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62"/>
          <p:cNvSpPr>
            <a:spLocks noChangeShapeType="1"/>
          </p:cNvSpPr>
          <p:nvPr/>
        </p:nvSpPr>
        <p:spPr bwMode="auto">
          <a:xfrm flipH="1">
            <a:off x="2749550" y="3098800"/>
            <a:ext cx="533400" cy="9144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63"/>
          <p:cNvSpPr>
            <a:spLocks noChangeShapeType="1"/>
          </p:cNvSpPr>
          <p:nvPr/>
        </p:nvSpPr>
        <p:spPr bwMode="auto">
          <a:xfrm flipV="1">
            <a:off x="1847850" y="1892300"/>
            <a:ext cx="1600200" cy="1524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64"/>
          <p:cNvSpPr>
            <a:spLocks noChangeShapeType="1"/>
          </p:cNvSpPr>
          <p:nvPr/>
        </p:nvSpPr>
        <p:spPr bwMode="auto">
          <a:xfrm flipH="1">
            <a:off x="1543050" y="2044700"/>
            <a:ext cx="1905000" cy="7620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Text Box 66"/>
          <p:cNvSpPr txBox="1">
            <a:spLocks noChangeArrowheads="1"/>
          </p:cNvSpPr>
          <p:nvPr/>
        </p:nvSpPr>
        <p:spPr bwMode="auto">
          <a:xfrm>
            <a:off x="3800698" y="128581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2000" dirty="0">
                <a:solidFill>
                  <a:srgbClr val="990000"/>
                </a:solidFill>
                <a:latin typeface="Comic Sans MS" panose="030F0702030302020204" pitchFamily="66" charset="0"/>
                <a:ea typeface="宋体" panose="02010600030101010101" pitchFamily="2" charset="-122"/>
              </a:rPr>
              <a:t>超级节点</a:t>
            </a:r>
            <a:endParaRPr lang="en-US" altLang="zh-CN" sz="2000" dirty="0">
              <a:solidFill>
                <a:srgbClr val="990000"/>
              </a:solidFill>
              <a:latin typeface="Comic Sans MS" panose="030F0702030302020204" pitchFamily="66" charset="0"/>
              <a:ea typeface="宋体" panose="02010600030101010101" pitchFamily="2" charset="-122"/>
            </a:endParaRPr>
          </a:p>
        </p:txBody>
      </p:sp>
      <p:pic>
        <p:nvPicPr>
          <p:cNvPr id="6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62100" y="187546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000" y="255905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650" y="38526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54650" y="41320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02150" y="39161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0000" y="38989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68641" y="265208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3750" y="156320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87900" y="287226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54350" y="2700816"/>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9584" y="1636232"/>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组合 4"/>
          <p:cNvGrpSpPr/>
          <p:nvPr/>
        </p:nvGrpSpPr>
        <p:grpSpPr>
          <a:xfrm>
            <a:off x="1428823" y="2226855"/>
            <a:ext cx="285603" cy="209477"/>
            <a:chOff x="1257373" y="2004605"/>
            <a:chExt cx="285603" cy="209477"/>
          </a:xfrm>
        </p:grpSpPr>
        <p:pic>
          <p:nvPicPr>
            <p:cNvPr id="4" name="图片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77" name="图片 7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79" name="组合 78"/>
          <p:cNvGrpSpPr/>
          <p:nvPr/>
        </p:nvGrpSpPr>
        <p:grpSpPr>
          <a:xfrm>
            <a:off x="1157662" y="3066533"/>
            <a:ext cx="285603" cy="209477"/>
            <a:chOff x="1257373" y="2004605"/>
            <a:chExt cx="285603" cy="209477"/>
          </a:xfrm>
        </p:grpSpPr>
        <p:pic>
          <p:nvPicPr>
            <p:cNvPr id="80" name="图片 7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1" name="图片 8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2" name="组合 81"/>
          <p:cNvGrpSpPr/>
          <p:nvPr/>
        </p:nvGrpSpPr>
        <p:grpSpPr>
          <a:xfrm>
            <a:off x="1357614" y="3154950"/>
            <a:ext cx="285603" cy="209477"/>
            <a:chOff x="1257373" y="2004605"/>
            <a:chExt cx="285603" cy="209477"/>
          </a:xfrm>
        </p:grpSpPr>
        <p:pic>
          <p:nvPicPr>
            <p:cNvPr id="83" name="图片 8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4" name="图片 8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5" name="组合 84"/>
          <p:cNvGrpSpPr/>
          <p:nvPr/>
        </p:nvGrpSpPr>
        <p:grpSpPr>
          <a:xfrm>
            <a:off x="2746667" y="2864957"/>
            <a:ext cx="285603" cy="209477"/>
            <a:chOff x="1257373" y="2004605"/>
            <a:chExt cx="285603" cy="209477"/>
          </a:xfrm>
        </p:grpSpPr>
        <p:pic>
          <p:nvPicPr>
            <p:cNvPr id="86" name="图片 8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7" name="图片 8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8" name="组合 87"/>
          <p:cNvGrpSpPr/>
          <p:nvPr/>
        </p:nvGrpSpPr>
        <p:grpSpPr>
          <a:xfrm>
            <a:off x="5816819" y="4313021"/>
            <a:ext cx="285603" cy="209477"/>
            <a:chOff x="1257373" y="2004605"/>
            <a:chExt cx="285603" cy="209477"/>
          </a:xfrm>
        </p:grpSpPr>
        <p:pic>
          <p:nvPicPr>
            <p:cNvPr id="89" name="图片 8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0" name="图片 8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1" name="组合 90"/>
          <p:cNvGrpSpPr/>
          <p:nvPr/>
        </p:nvGrpSpPr>
        <p:grpSpPr>
          <a:xfrm>
            <a:off x="2521024" y="4308898"/>
            <a:ext cx="285603" cy="209477"/>
            <a:chOff x="1257373" y="2004605"/>
            <a:chExt cx="285603" cy="209477"/>
          </a:xfrm>
        </p:grpSpPr>
        <p:pic>
          <p:nvPicPr>
            <p:cNvPr id="92" name="图片 9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3" name="图片 9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4" name="组合 93"/>
          <p:cNvGrpSpPr/>
          <p:nvPr/>
        </p:nvGrpSpPr>
        <p:grpSpPr>
          <a:xfrm>
            <a:off x="6864423" y="2622623"/>
            <a:ext cx="285603" cy="209477"/>
            <a:chOff x="1257373" y="2004605"/>
            <a:chExt cx="285603" cy="209477"/>
          </a:xfrm>
        </p:grpSpPr>
        <p:pic>
          <p:nvPicPr>
            <p:cNvPr id="95" name="图片 9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6" name="图片 9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7" name="组合 96"/>
          <p:cNvGrpSpPr/>
          <p:nvPr/>
        </p:nvGrpSpPr>
        <p:grpSpPr>
          <a:xfrm>
            <a:off x="5413229" y="1743558"/>
            <a:ext cx="285603" cy="209477"/>
            <a:chOff x="1257373" y="2004605"/>
            <a:chExt cx="285603" cy="209477"/>
          </a:xfrm>
        </p:grpSpPr>
        <p:pic>
          <p:nvPicPr>
            <p:cNvPr id="98" name="图片 9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9" name="图片 9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0" name="组合 99"/>
          <p:cNvGrpSpPr/>
          <p:nvPr/>
        </p:nvGrpSpPr>
        <p:grpSpPr>
          <a:xfrm>
            <a:off x="2917971" y="1534558"/>
            <a:ext cx="285603" cy="209477"/>
            <a:chOff x="1257373" y="2004605"/>
            <a:chExt cx="285603" cy="209477"/>
          </a:xfrm>
        </p:grpSpPr>
        <p:pic>
          <p:nvPicPr>
            <p:cNvPr id="101" name="图片 10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2" name="图片 10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3" name="组合 102"/>
          <p:cNvGrpSpPr/>
          <p:nvPr/>
        </p:nvGrpSpPr>
        <p:grpSpPr>
          <a:xfrm>
            <a:off x="5384727" y="3111019"/>
            <a:ext cx="285603" cy="209477"/>
            <a:chOff x="1257373" y="2004605"/>
            <a:chExt cx="285603" cy="209477"/>
          </a:xfrm>
        </p:grpSpPr>
        <p:pic>
          <p:nvPicPr>
            <p:cNvPr id="104" name="图片 10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5" name="图片 10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9" name="组合 108"/>
          <p:cNvGrpSpPr/>
          <p:nvPr/>
        </p:nvGrpSpPr>
        <p:grpSpPr>
          <a:xfrm>
            <a:off x="5568584" y="3207155"/>
            <a:ext cx="285603" cy="209477"/>
            <a:chOff x="1257373" y="2004605"/>
            <a:chExt cx="285603" cy="209477"/>
          </a:xfrm>
        </p:grpSpPr>
        <p:pic>
          <p:nvPicPr>
            <p:cNvPr id="110" name="图片 10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1" name="图片 1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6" name="组合 105"/>
          <p:cNvGrpSpPr/>
          <p:nvPr/>
        </p:nvGrpSpPr>
        <p:grpSpPr>
          <a:xfrm>
            <a:off x="5799352" y="3263237"/>
            <a:ext cx="285603" cy="209477"/>
            <a:chOff x="1257373" y="2004605"/>
            <a:chExt cx="285603" cy="209477"/>
          </a:xfrm>
        </p:grpSpPr>
        <p:pic>
          <p:nvPicPr>
            <p:cNvPr id="107" name="图片 10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8" name="图片 10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2" name="组合 111"/>
          <p:cNvGrpSpPr/>
          <p:nvPr/>
        </p:nvGrpSpPr>
        <p:grpSpPr>
          <a:xfrm>
            <a:off x="6591374" y="3924782"/>
            <a:ext cx="285603" cy="209477"/>
            <a:chOff x="1257373" y="2004605"/>
            <a:chExt cx="285603" cy="209477"/>
          </a:xfrm>
        </p:grpSpPr>
        <p:pic>
          <p:nvPicPr>
            <p:cNvPr id="113" name="图片 11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4" name="图片 11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5" name="组合 114"/>
          <p:cNvGrpSpPr/>
          <p:nvPr/>
        </p:nvGrpSpPr>
        <p:grpSpPr>
          <a:xfrm>
            <a:off x="4127500" y="3970543"/>
            <a:ext cx="285603" cy="209477"/>
            <a:chOff x="1257373" y="2004605"/>
            <a:chExt cx="285603" cy="209477"/>
          </a:xfrm>
        </p:grpSpPr>
        <p:pic>
          <p:nvPicPr>
            <p:cNvPr id="116" name="图片 11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7" name="图片 1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pic>
        <p:nvPicPr>
          <p:cNvPr id="118" name="图片 1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794502" y="3995870"/>
            <a:ext cx="171304" cy="171304"/>
          </a:xfrm>
          <a:prstGeom prst="rect">
            <a:avLst/>
          </a:prstGeom>
        </p:spPr>
      </p:pic>
      <p:pic>
        <p:nvPicPr>
          <p:cNvPr id="119" name="图片 1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133336" y="1620429"/>
            <a:ext cx="171304" cy="171304"/>
          </a:xfrm>
          <a:prstGeom prst="rect">
            <a:avLst/>
          </a:prstGeom>
        </p:spPr>
      </p:pic>
      <p:pic>
        <p:nvPicPr>
          <p:cNvPr id="120" name="图片 11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311724" y="4075282"/>
            <a:ext cx="171304" cy="171304"/>
          </a:xfrm>
          <a:prstGeom prst="rect">
            <a:avLst/>
          </a:prstGeom>
        </p:spPr>
      </p:pic>
    </p:spTree>
    <p:extLst>
      <p:ext uri="{BB962C8B-B14F-4D97-AF65-F5344CB8AC3E}">
        <p14:creationId xmlns:p14="http://schemas.microsoft.com/office/powerpoint/2010/main" val="15529810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7" name="圆角矩形 126"/>
          <p:cNvSpPr/>
          <p:nvPr/>
        </p:nvSpPr>
        <p:spPr>
          <a:xfrm>
            <a:off x="728082" y="1093911"/>
            <a:ext cx="7891036" cy="365658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占位符 2"/>
          <p:cNvSpPr>
            <a:spLocks noGrp="1"/>
          </p:cNvSpPr>
          <p:nvPr>
            <p:ph type="body" sz="quarter" idx="11"/>
          </p:nvPr>
        </p:nvSpPr>
        <p:spPr/>
        <p:txBody>
          <a:bodyPr/>
          <a:lstStyle/>
          <a:p>
            <a:r>
              <a:rPr lang="en-US" altLang="zh-CN" dirty="0" err="1" smtClean="0"/>
              <a:t>KaZaA</a:t>
            </a:r>
            <a:r>
              <a:rPr lang="zh-CN" altLang="en-US" dirty="0" smtClean="0"/>
              <a:t>：文件</a:t>
            </a:r>
            <a:r>
              <a:rPr lang="zh-CN" altLang="en-US" dirty="0"/>
              <a:t>插入</a:t>
            </a:r>
          </a:p>
        </p:txBody>
      </p:sp>
      <p:sp>
        <p:nvSpPr>
          <p:cNvPr id="36" name="Line 46"/>
          <p:cNvSpPr>
            <a:spLocks noChangeShapeType="1"/>
          </p:cNvSpPr>
          <p:nvPr/>
        </p:nvSpPr>
        <p:spPr bwMode="auto">
          <a:xfrm>
            <a:off x="3740150" y="1802292"/>
            <a:ext cx="1212850" cy="39208"/>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47"/>
          <p:cNvSpPr>
            <a:spLocks noChangeShapeType="1"/>
          </p:cNvSpPr>
          <p:nvPr/>
        </p:nvSpPr>
        <p:spPr bwMode="auto">
          <a:xfrm flipV="1">
            <a:off x="5181600" y="2146300"/>
            <a:ext cx="0" cy="7620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48"/>
          <p:cNvSpPr>
            <a:spLocks noChangeShapeType="1"/>
          </p:cNvSpPr>
          <p:nvPr/>
        </p:nvSpPr>
        <p:spPr bwMode="auto">
          <a:xfrm>
            <a:off x="3429000" y="3125011"/>
            <a:ext cx="1600200" cy="164289"/>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49"/>
          <p:cNvSpPr>
            <a:spLocks noChangeShapeType="1"/>
          </p:cNvSpPr>
          <p:nvPr/>
        </p:nvSpPr>
        <p:spPr bwMode="auto">
          <a:xfrm flipH="1">
            <a:off x="3352800" y="2070100"/>
            <a:ext cx="228600" cy="6858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50"/>
          <p:cNvSpPr>
            <a:spLocks noChangeShapeType="1"/>
          </p:cNvSpPr>
          <p:nvPr/>
        </p:nvSpPr>
        <p:spPr bwMode="auto">
          <a:xfrm>
            <a:off x="3670373" y="1905811"/>
            <a:ext cx="1358827" cy="1154889"/>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51"/>
          <p:cNvSpPr>
            <a:spLocks noChangeShapeType="1"/>
          </p:cNvSpPr>
          <p:nvPr/>
        </p:nvSpPr>
        <p:spPr bwMode="auto">
          <a:xfrm flipV="1">
            <a:off x="3581400" y="2070100"/>
            <a:ext cx="1371600" cy="9906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Line 52"/>
          <p:cNvSpPr>
            <a:spLocks noChangeShapeType="1"/>
          </p:cNvSpPr>
          <p:nvPr/>
        </p:nvSpPr>
        <p:spPr bwMode="auto">
          <a:xfrm>
            <a:off x="5143499" y="1896731"/>
            <a:ext cx="1485901" cy="859169"/>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 name="Line 59"/>
          <p:cNvSpPr>
            <a:spLocks noChangeShapeType="1"/>
          </p:cNvSpPr>
          <p:nvPr/>
        </p:nvSpPr>
        <p:spPr bwMode="auto">
          <a:xfrm>
            <a:off x="5207000" y="3218523"/>
            <a:ext cx="1143000" cy="817423"/>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60"/>
          <p:cNvSpPr>
            <a:spLocks noChangeShapeType="1"/>
          </p:cNvSpPr>
          <p:nvPr/>
        </p:nvSpPr>
        <p:spPr bwMode="auto">
          <a:xfrm>
            <a:off x="5207000" y="3300232"/>
            <a:ext cx="438078" cy="1028181"/>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61"/>
          <p:cNvSpPr>
            <a:spLocks noChangeShapeType="1"/>
          </p:cNvSpPr>
          <p:nvPr/>
        </p:nvSpPr>
        <p:spPr bwMode="auto">
          <a:xfrm flipH="1">
            <a:off x="4673600" y="3300232"/>
            <a:ext cx="228600" cy="6858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62"/>
          <p:cNvSpPr>
            <a:spLocks noChangeShapeType="1"/>
          </p:cNvSpPr>
          <p:nvPr/>
        </p:nvSpPr>
        <p:spPr bwMode="auto">
          <a:xfrm flipH="1">
            <a:off x="2749550" y="3098800"/>
            <a:ext cx="533400" cy="9144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63"/>
          <p:cNvSpPr>
            <a:spLocks noChangeShapeType="1"/>
          </p:cNvSpPr>
          <p:nvPr/>
        </p:nvSpPr>
        <p:spPr bwMode="auto">
          <a:xfrm flipV="1">
            <a:off x="1847850" y="1892300"/>
            <a:ext cx="1600200" cy="1524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64"/>
          <p:cNvSpPr>
            <a:spLocks noChangeShapeType="1"/>
          </p:cNvSpPr>
          <p:nvPr/>
        </p:nvSpPr>
        <p:spPr bwMode="auto">
          <a:xfrm flipH="1">
            <a:off x="1543050" y="2044700"/>
            <a:ext cx="1905000" cy="7620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Text Box 66"/>
          <p:cNvSpPr txBox="1">
            <a:spLocks noChangeArrowheads="1"/>
          </p:cNvSpPr>
          <p:nvPr/>
        </p:nvSpPr>
        <p:spPr bwMode="auto">
          <a:xfrm>
            <a:off x="3800698" y="128581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2000" dirty="0">
                <a:solidFill>
                  <a:srgbClr val="990000"/>
                </a:solidFill>
                <a:latin typeface="Comic Sans MS" panose="030F0702030302020204" pitchFamily="66" charset="0"/>
                <a:ea typeface="宋体" panose="02010600030101010101" pitchFamily="2" charset="-122"/>
              </a:rPr>
              <a:t>超级节点</a:t>
            </a:r>
            <a:endParaRPr lang="en-US" altLang="zh-CN" sz="2000" dirty="0">
              <a:solidFill>
                <a:srgbClr val="990000"/>
              </a:solidFill>
              <a:latin typeface="Comic Sans MS" panose="030F0702030302020204" pitchFamily="66" charset="0"/>
              <a:ea typeface="宋体" panose="02010600030101010101" pitchFamily="2" charset="-122"/>
            </a:endParaRPr>
          </a:p>
        </p:txBody>
      </p:sp>
      <p:pic>
        <p:nvPicPr>
          <p:cNvPr id="6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62100" y="187546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7000" y="255905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16650" y="38526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54650" y="41320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02150" y="39161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40000" y="38989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68641" y="265208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33750" y="156320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87900" y="287226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54350" y="2700816"/>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49584" y="1636232"/>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组合 4"/>
          <p:cNvGrpSpPr/>
          <p:nvPr/>
        </p:nvGrpSpPr>
        <p:grpSpPr>
          <a:xfrm>
            <a:off x="1428823" y="2226855"/>
            <a:ext cx="285603" cy="209477"/>
            <a:chOff x="1257373" y="2004605"/>
            <a:chExt cx="285603" cy="209477"/>
          </a:xfrm>
        </p:grpSpPr>
        <p:pic>
          <p:nvPicPr>
            <p:cNvPr id="4" name="图片 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77" name="图片 7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79" name="组合 78"/>
          <p:cNvGrpSpPr/>
          <p:nvPr/>
        </p:nvGrpSpPr>
        <p:grpSpPr>
          <a:xfrm>
            <a:off x="1157662" y="3066533"/>
            <a:ext cx="285603" cy="209477"/>
            <a:chOff x="1257373" y="2004605"/>
            <a:chExt cx="285603" cy="209477"/>
          </a:xfrm>
        </p:grpSpPr>
        <p:pic>
          <p:nvPicPr>
            <p:cNvPr id="80" name="图片 7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1" name="图片 8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2" name="组合 81"/>
          <p:cNvGrpSpPr/>
          <p:nvPr/>
        </p:nvGrpSpPr>
        <p:grpSpPr>
          <a:xfrm>
            <a:off x="1357614" y="3154950"/>
            <a:ext cx="285603" cy="209477"/>
            <a:chOff x="1257373" y="2004605"/>
            <a:chExt cx="285603" cy="209477"/>
          </a:xfrm>
        </p:grpSpPr>
        <p:pic>
          <p:nvPicPr>
            <p:cNvPr id="83" name="图片 8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4" name="图片 8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5" name="组合 84"/>
          <p:cNvGrpSpPr/>
          <p:nvPr/>
        </p:nvGrpSpPr>
        <p:grpSpPr>
          <a:xfrm>
            <a:off x="2746667" y="2864957"/>
            <a:ext cx="285603" cy="209477"/>
            <a:chOff x="1257373" y="2004605"/>
            <a:chExt cx="285603" cy="209477"/>
          </a:xfrm>
        </p:grpSpPr>
        <p:pic>
          <p:nvPicPr>
            <p:cNvPr id="86" name="图片 8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7" name="图片 8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8" name="组合 87"/>
          <p:cNvGrpSpPr/>
          <p:nvPr/>
        </p:nvGrpSpPr>
        <p:grpSpPr>
          <a:xfrm>
            <a:off x="5816819" y="4313021"/>
            <a:ext cx="285603" cy="209477"/>
            <a:chOff x="1257373" y="2004605"/>
            <a:chExt cx="285603" cy="209477"/>
          </a:xfrm>
        </p:grpSpPr>
        <p:pic>
          <p:nvPicPr>
            <p:cNvPr id="89" name="图片 8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0" name="图片 8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1" name="组合 90"/>
          <p:cNvGrpSpPr/>
          <p:nvPr/>
        </p:nvGrpSpPr>
        <p:grpSpPr>
          <a:xfrm>
            <a:off x="2521024" y="4308898"/>
            <a:ext cx="285603" cy="209477"/>
            <a:chOff x="1257373" y="2004605"/>
            <a:chExt cx="285603" cy="209477"/>
          </a:xfrm>
        </p:grpSpPr>
        <p:pic>
          <p:nvPicPr>
            <p:cNvPr id="92" name="图片 9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3" name="图片 9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4" name="组合 93"/>
          <p:cNvGrpSpPr/>
          <p:nvPr/>
        </p:nvGrpSpPr>
        <p:grpSpPr>
          <a:xfrm>
            <a:off x="6864423" y="2622623"/>
            <a:ext cx="285603" cy="209477"/>
            <a:chOff x="1257373" y="2004605"/>
            <a:chExt cx="285603" cy="209477"/>
          </a:xfrm>
        </p:grpSpPr>
        <p:pic>
          <p:nvPicPr>
            <p:cNvPr id="95" name="图片 9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6" name="图片 9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7" name="组合 96"/>
          <p:cNvGrpSpPr/>
          <p:nvPr/>
        </p:nvGrpSpPr>
        <p:grpSpPr>
          <a:xfrm>
            <a:off x="5413229" y="1743558"/>
            <a:ext cx="285603" cy="209477"/>
            <a:chOff x="1257373" y="2004605"/>
            <a:chExt cx="285603" cy="209477"/>
          </a:xfrm>
        </p:grpSpPr>
        <p:pic>
          <p:nvPicPr>
            <p:cNvPr id="98" name="图片 9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9" name="图片 9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0" name="组合 99"/>
          <p:cNvGrpSpPr/>
          <p:nvPr/>
        </p:nvGrpSpPr>
        <p:grpSpPr>
          <a:xfrm>
            <a:off x="2917971" y="1534558"/>
            <a:ext cx="285603" cy="209477"/>
            <a:chOff x="1257373" y="2004605"/>
            <a:chExt cx="285603" cy="209477"/>
          </a:xfrm>
        </p:grpSpPr>
        <p:pic>
          <p:nvPicPr>
            <p:cNvPr id="101" name="图片 10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2" name="图片 10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3" name="组合 102"/>
          <p:cNvGrpSpPr/>
          <p:nvPr/>
        </p:nvGrpSpPr>
        <p:grpSpPr>
          <a:xfrm>
            <a:off x="5384727" y="3111019"/>
            <a:ext cx="285603" cy="209477"/>
            <a:chOff x="1257373" y="2004605"/>
            <a:chExt cx="285603" cy="209477"/>
          </a:xfrm>
        </p:grpSpPr>
        <p:pic>
          <p:nvPicPr>
            <p:cNvPr id="104" name="图片 10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5" name="图片 10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9" name="组合 108"/>
          <p:cNvGrpSpPr/>
          <p:nvPr/>
        </p:nvGrpSpPr>
        <p:grpSpPr>
          <a:xfrm>
            <a:off x="5568584" y="3207155"/>
            <a:ext cx="285603" cy="209477"/>
            <a:chOff x="1257373" y="2004605"/>
            <a:chExt cx="285603" cy="209477"/>
          </a:xfrm>
        </p:grpSpPr>
        <p:pic>
          <p:nvPicPr>
            <p:cNvPr id="110" name="图片 10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1" name="图片 11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6" name="组合 105"/>
          <p:cNvGrpSpPr/>
          <p:nvPr/>
        </p:nvGrpSpPr>
        <p:grpSpPr>
          <a:xfrm>
            <a:off x="5799352" y="3263237"/>
            <a:ext cx="285603" cy="209477"/>
            <a:chOff x="1257373" y="2004605"/>
            <a:chExt cx="285603" cy="209477"/>
          </a:xfrm>
        </p:grpSpPr>
        <p:pic>
          <p:nvPicPr>
            <p:cNvPr id="107" name="图片 10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8" name="图片 10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2" name="组合 111"/>
          <p:cNvGrpSpPr/>
          <p:nvPr/>
        </p:nvGrpSpPr>
        <p:grpSpPr>
          <a:xfrm>
            <a:off x="6591374" y="3924782"/>
            <a:ext cx="285603" cy="209477"/>
            <a:chOff x="1257373" y="2004605"/>
            <a:chExt cx="285603" cy="209477"/>
          </a:xfrm>
        </p:grpSpPr>
        <p:pic>
          <p:nvPicPr>
            <p:cNvPr id="113" name="图片 1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4" name="图片 11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5" name="组合 114"/>
          <p:cNvGrpSpPr/>
          <p:nvPr/>
        </p:nvGrpSpPr>
        <p:grpSpPr>
          <a:xfrm>
            <a:off x="4127500" y="3970543"/>
            <a:ext cx="285603" cy="209477"/>
            <a:chOff x="1257373" y="2004605"/>
            <a:chExt cx="285603" cy="209477"/>
          </a:xfrm>
        </p:grpSpPr>
        <p:pic>
          <p:nvPicPr>
            <p:cNvPr id="116" name="图片 11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7" name="图片 11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pic>
        <p:nvPicPr>
          <p:cNvPr id="118" name="图片 1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794502" y="3995870"/>
            <a:ext cx="171304" cy="171304"/>
          </a:xfrm>
          <a:prstGeom prst="rect">
            <a:avLst/>
          </a:prstGeom>
        </p:spPr>
      </p:pic>
      <p:pic>
        <p:nvPicPr>
          <p:cNvPr id="119" name="图片 1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133336" y="1620429"/>
            <a:ext cx="171304" cy="171304"/>
          </a:xfrm>
          <a:prstGeom prst="rect">
            <a:avLst/>
          </a:prstGeom>
        </p:spPr>
      </p:pic>
      <p:pic>
        <p:nvPicPr>
          <p:cNvPr id="120" name="图片 11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311724" y="4075282"/>
            <a:ext cx="171304" cy="171304"/>
          </a:xfrm>
          <a:prstGeom prst="rect">
            <a:avLst/>
          </a:prstGeom>
        </p:spPr>
      </p:pic>
      <p:grpSp>
        <p:nvGrpSpPr>
          <p:cNvPr id="2" name="组合 1"/>
          <p:cNvGrpSpPr/>
          <p:nvPr/>
        </p:nvGrpSpPr>
        <p:grpSpPr>
          <a:xfrm>
            <a:off x="2292409" y="3193063"/>
            <a:ext cx="938805" cy="705837"/>
            <a:chOff x="2292409" y="3193063"/>
            <a:chExt cx="938805" cy="705837"/>
          </a:xfrm>
        </p:grpSpPr>
        <p:sp>
          <p:nvSpPr>
            <p:cNvPr id="121" name="Line 62"/>
            <p:cNvSpPr>
              <a:spLocks noChangeShapeType="1"/>
            </p:cNvSpPr>
            <p:nvPr/>
          </p:nvSpPr>
          <p:spPr bwMode="auto">
            <a:xfrm flipV="1">
              <a:off x="2818888" y="3193063"/>
              <a:ext cx="412326" cy="705837"/>
            </a:xfrm>
            <a:prstGeom prst="line">
              <a:avLst/>
            </a:prstGeom>
            <a:noFill/>
            <a:ln w="3810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2" name="Text Box 63"/>
            <p:cNvSpPr txBox="1">
              <a:spLocks noChangeArrowheads="1"/>
            </p:cNvSpPr>
            <p:nvPr/>
          </p:nvSpPr>
          <p:spPr bwMode="auto">
            <a:xfrm>
              <a:off x="2292409" y="3407479"/>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1600" dirty="0">
                  <a:solidFill>
                    <a:schemeClr val="accent2"/>
                  </a:solidFill>
                  <a:latin typeface="Comic Sans MS" panose="030F0702030302020204" pitchFamily="66" charset="0"/>
                  <a:ea typeface="宋体" panose="02010600030101010101" pitchFamily="2" charset="-122"/>
                </a:rPr>
                <a:t>发布</a:t>
              </a:r>
              <a:endParaRPr lang="en-US" altLang="zh-CN" sz="2000" dirty="0">
                <a:solidFill>
                  <a:schemeClr val="accent2"/>
                </a:solidFill>
                <a:latin typeface="Comic Sans MS" panose="030F0702030302020204" pitchFamily="66" charset="0"/>
                <a:ea typeface="宋体" panose="02010600030101010101" pitchFamily="2" charset="-122"/>
              </a:endParaRPr>
            </a:p>
          </p:txBody>
        </p:sp>
      </p:grpSp>
      <p:sp>
        <p:nvSpPr>
          <p:cNvPr id="123" name="Rectangle 126"/>
          <p:cNvSpPr>
            <a:spLocks noChangeArrowheads="1"/>
          </p:cNvSpPr>
          <p:nvPr/>
        </p:nvSpPr>
        <p:spPr bwMode="auto">
          <a:xfrm>
            <a:off x="1763864" y="2559050"/>
            <a:ext cx="1323518" cy="714254"/>
          </a:xfrm>
          <a:prstGeom prst="rect">
            <a:avLst/>
          </a:prstGeom>
          <a:solidFill>
            <a:schemeClr val="accent5">
              <a:lumMod val="40000"/>
              <a:lumOff val="60000"/>
            </a:schemeClr>
          </a:solidFill>
          <a:ln w="9525">
            <a:solidFill>
              <a:schemeClr val="tx1"/>
            </a:solidFill>
            <a:miter lim="800000"/>
            <a:headEnd/>
            <a:tailEnd/>
          </a:ln>
          <a:effectLst/>
        </p:spPr>
        <p:txBody>
          <a:bodyPr wrap="none"/>
          <a:lstStyle/>
          <a:p>
            <a:pPr eaLnBrk="0" hangingPunct="0"/>
            <a:r>
              <a:rPr lang="en-US" altLang="zh-CN" sz="1600" dirty="0">
                <a:latin typeface="Comic Sans MS" panose="030F0702030302020204" pitchFamily="66" charset="0"/>
                <a:ea typeface="宋体" panose="02010600030101010101" pitchFamily="2" charset="-122"/>
              </a:rPr>
              <a:t>insert(X</a:t>
            </a:r>
            <a:r>
              <a:rPr lang="en-US" altLang="zh-CN" sz="1600" dirty="0" smtClean="0">
                <a:latin typeface="Comic Sans MS" panose="030F0702030302020204" pitchFamily="66" charset="0"/>
                <a:ea typeface="宋体" panose="02010600030101010101" pitchFamily="2" charset="-122"/>
              </a:rPr>
              <a:t>,  </a:t>
            </a:r>
          </a:p>
          <a:p>
            <a:pPr eaLnBrk="0" hangingPunct="0"/>
            <a:r>
              <a:rPr lang="en-US" altLang="zh-CN" sz="1600" dirty="0" smtClean="0">
                <a:latin typeface="Comic Sans MS" panose="030F0702030302020204" pitchFamily="66" charset="0"/>
                <a:ea typeface="宋体" panose="02010600030101010101" pitchFamily="2" charset="-122"/>
              </a:rPr>
              <a:t>123.2.21.22)</a:t>
            </a:r>
          </a:p>
        </p:txBody>
      </p:sp>
      <p:sp>
        <p:nvSpPr>
          <p:cNvPr id="124" name="Rectangle 127"/>
          <p:cNvSpPr>
            <a:spLocks noChangeArrowheads="1"/>
          </p:cNvSpPr>
          <p:nvPr/>
        </p:nvSpPr>
        <p:spPr bwMode="auto">
          <a:xfrm>
            <a:off x="1309981" y="4081522"/>
            <a:ext cx="12747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600" dirty="0" smtClean="0">
                <a:latin typeface="Comic Sans MS" panose="030F0702030302020204" pitchFamily="66" charset="0"/>
                <a:ea typeface="宋体" panose="02010600030101010101" pitchFamily="2" charset="-122"/>
              </a:rPr>
              <a:t>123.2.21.22</a:t>
            </a:r>
            <a:endParaRPr lang="en-US" altLang="zh-CN" sz="1600" dirty="0">
              <a:latin typeface="Comic Sans MS" panose="030F0702030302020204" pitchFamily="66" charset="0"/>
              <a:ea typeface="宋体" panose="02010600030101010101" pitchFamily="2" charset="-122"/>
            </a:endParaRPr>
          </a:p>
        </p:txBody>
      </p:sp>
      <p:pic>
        <p:nvPicPr>
          <p:cNvPr id="125" name="图片 12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844873" y="4308898"/>
            <a:ext cx="171304" cy="171304"/>
          </a:xfrm>
          <a:prstGeom prst="rect">
            <a:avLst/>
          </a:prstGeom>
        </p:spPr>
      </p:pic>
      <p:sp>
        <p:nvSpPr>
          <p:cNvPr id="126" name="Rectangle 127"/>
          <p:cNvSpPr>
            <a:spLocks noChangeArrowheads="1"/>
          </p:cNvSpPr>
          <p:nvPr/>
        </p:nvSpPr>
        <p:spPr bwMode="auto">
          <a:xfrm>
            <a:off x="2745865" y="4437346"/>
            <a:ext cx="7441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1600" dirty="0" smtClean="0">
                <a:latin typeface="Comic Sans MS" panose="030F0702030302020204" pitchFamily="66" charset="0"/>
                <a:ea typeface="宋体" panose="02010600030101010101" pitchFamily="2" charset="-122"/>
              </a:rPr>
              <a:t>文件</a:t>
            </a:r>
            <a:r>
              <a:rPr lang="en-US" altLang="zh-CN" sz="1600" dirty="0" smtClean="0">
                <a:latin typeface="Comic Sans MS" panose="030F0702030302020204" pitchFamily="66" charset="0"/>
                <a:ea typeface="宋体" panose="02010600030101010101" pitchFamily="2" charset="-122"/>
              </a:rPr>
              <a:t>X</a:t>
            </a:r>
            <a:endParaRPr lang="en-US" altLang="zh-CN" sz="1600" dirty="0">
              <a:latin typeface="Comic Sans MS" panose="030F0702030302020204" pitchFamily="66" charset="0"/>
              <a:ea typeface="宋体" panose="02010600030101010101" pitchFamily="2" charset="-122"/>
            </a:endParaRPr>
          </a:p>
        </p:txBody>
      </p:sp>
    </p:spTree>
    <p:custDataLst>
      <p:tags r:id="rId1"/>
    </p:custDataLst>
    <p:extLst>
      <p:ext uri="{BB962C8B-B14F-4D97-AF65-F5344CB8AC3E}">
        <p14:creationId xmlns:p14="http://schemas.microsoft.com/office/powerpoint/2010/main" val="7821307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499"/>
                                          </p:stCondLst>
                                        </p:cTn>
                                        <p:tgtEl>
                                          <p:spTgt spid="1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autoUpdateAnimBg="0"/>
    </p:bldLst>
  </p:timing>
</p:sld>
</file>

<file path=ppt/slides/slide29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 name="圆角矩形 121"/>
          <p:cNvSpPr/>
          <p:nvPr/>
        </p:nvSpPr>
        <p:spPr>
          <a:xfrm>
            <a:off x="471327" y="1067811"/>
            <a:ext cx="8134412" cy="365658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占位符 2"/>
          <p:cNvSpPr>
            <a:spLocks noGrp="1"/>
          </p:cNvSpPr>
          <p:nvPr>
            <p:ph type="body" sz="quarter" idx="11"/>
          </p:nvPr>
        </p:nvSpPr>
        <p:spPr/>
        <p:txBody>
          <a:bodyPr/>
          <a:lstStyle/>
          <a:p>
            <a:r>
              <a:rPr lang="en-US" altLang="zh-CN" dirty="0" err="1" smtClean="0"/>
              <a:t>KaZaA</a:t>
            </a:r>
            <a:r>
              <a:rPr lang="zh-CN" altLang="en-US" dirty="0" smtClean="0"/>
              <a:t>：文件查找下载</a:t>
            </a:r>
            <a:endParaRPr lang="zh-CN" altLang="en-US" dirty="0"/>
          </a:p>
        </p:txBody>
      </p:sp>
      <p:sp>
        <p:nvSpPr>
          <p:cNvPr id="36" name="Line 46"/>
          <p:cNvSpPr>
            <a:spLocks noChangeShapeType="1"/>
          </p:cNvSpPr>
          <p:nvPr/>
        </p:nvSpPr>
        <p:spPr bwMode="auto">
          <a:xfrm>
            <a:off x="4155020" y="1802292"/>
            <a:ext cx="1212850" cy="39208"/>
          </a:xfrm>
          <a:prstGeom prst="line">
            <a:avLst/>
          </a:prstGeom>
          <a:noFill/>
          <a:ln w="3175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47"/>
          <p:cNvSpPr>
            <a:spLocks noChangeShapeType="1"/>
          </p:cNvSpPr>
          <p:nvPr/>
        </p:nvSpPr>
        <p:spPr bwMode="auto">
          <a:xfrm flipV="1">
            <a:off x="5596470" y="2146300"/>
            <a:ext cx="0" cy="762000"/>
          </a:xfrm>
          <a:prstGeom prst="line">
            <a:avLst/>
          </a:prstGeom>
          <a:noFill/>
          <a:ln w="3175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48"/>
          <p:cNvSpPr>
            <a:spLocks noChangeShapeType="1"/>
          </p:cNvSpPr>
          <p:nvPr/>
        </p:nvSpPr>
        <p:spPr bwMode="auto">
          <a:xfrm>
            <a:off x="3843870" y="3125011"/>
            <a:ext cx="1600200" cy="164289"/>
          </a:xfrm>
          <a:prstGeom prst="line">
            <a:avLst/>
          </a:prstGeom>
          <a:noFill/>
          <a:ln w="3175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49"/>
          <p:cNvSpPr>
            <a:spLocks noChangeShapeType="1"/>
          </p:cNvSpPr>
          <p:nvPr/>
        </p:nvSpPr>
        <p:spPr bwMode="auto">
          <a:xfrm flipH="1">
            <a:off x="3767670" y="2070100"/>
            <a:ext cx="228600" cy="6858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50"/>
          <p:cNvSpPr>
            <a:spLocks noChangeShapeType="1"/>
          </p:cNvSpPr>
          <p:nvPr/>
        </p:nvSpPr>
        <p:spPr bwMode="auto">
          <a:xfrm>
            <a:off x="4085243" y="1905811"/>
            <a:ext cx="1358827" cy="1154889"/>
          </a:xfrm>
          <a:prstGeom prst="line">
            <a:avLst/>
          </a:prstGeom>
          <a:noFill/>
          <a:ln w="3175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51"/>
          <p:cNvSpPr>
            <a:spLocks noChangeShapeType="1"/>
          </p:cNvSpPr>
          <p:nvPr/>
        </p:nvSpPr>
        <p:spPr bwMode="auto">
          <a:xfrm flipV="1">
            <a:off x="3996270" y="2070100"/>
            <a:ext cx="1371600" cy="990600"/>
          </a:xfrm>
          <a:prstGeom prst="line">
            <a:avLst/>
          </a:prstGeom>
          <a:noFill/>
          <a:ln w="38100">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Line 52"/>
          <p:cNvSpPr>
            <a:spLocks noChangeShapeType="1"/>
          </p:cNvSpPr>
          <p:nvPr/>
        </p:nvSpPr>
        <p:spPr bwMode="auto">
          <a:xfrm>
            <a:off x="5558369" y="1896731"/>
            <a:ext cx="1485901" cy="859169"/>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 name="Line 59"/>
          <p:cNvSpPr>
            <a:spLocks noChangeShapeType="1"/>
          </p:cNvSpPr>
          <p:nvPr/>
        </p:nvSpPr>
        <p:spPr bwMode="auto">
          <a:xfrm>
            <a:off x="5621870" y="3218523"/>
            <a:ext cx="1143000" cy="817423"/>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60"/>
          <p:cNvSpPr>
            <a:spLocks noChangeShapeType="1"/>
          </p:cNvSpPr>
          <p:nvPr/>
        </p:nvSpPr>
        <p:spPr bwMode="auto">
          <a:xfrm>
            <a:off x="5621870" y="3300232"/>
            <a:ext cx="438078" cy="1028181"/>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61"/>
          <p:cNvSpPr>
            <a:spLocks noChangeShapeType="1"/>
          </p:cNvSpPr>
          <p:nvPr/>
        </p:nvSpPr>
        <p:spPr bwMode="auto">
          <a:xfrm flipH="1">
            <a:off x="5088470" y="3300232"/>
            <a:ext cx="228600" cy="685800"/>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62"/>
          <p:cNvSpPr>
            <a:spLocks noChangeShapeType="1"/>
          </p:cNvSpPr>
          <p:nvPr/>
        </p:nvSpPr>
        <p:spPr bwMode="auto">
          <a:xfrm flipH="1">
            <a:off x="3164420" y="3098800"/>
            <a:ext cx="533400" cy="91440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63"/>
          <p:cNvSpPr>
            <a:spLocks noChangeShapeType="1"/>
          </p:cNvSpPr>
          <p:nvPr/>
        </p:nvSpPr>
        <p:spPr bwMode="auto">
          <a:xfrm flipV="1">
            <a:off x="2262720" y="1892300"/>
            <a:ext cx="1600200" cy="152400"/>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64"/>
          <p:cNvSpPr>
            <a:spLocks noChangeShapeType="1"/>
          </p:cNvSpPr>
          <p:nvPr/>
        </p:nvSpPr>
        <p:spPr bwMode="auto">
          <a:xfrm flipH="1">
            <a:off x="1957920" y="2044700"/>
            <a:ext cx="1905000" cy="762000"/>
          </a:xfrm>
          <a:prstGeom prst="line">
            <a:avLst/>
          </a:prstGeom>
          <a:noFill/>
          <a:ln w="317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Text Box 66"/>
          <p:cNvSpPr txBox="1">
            <a:spLocks noChangeArrowheads="1"/>
          </p:cNvSpPr>
          <p:nvPr/>
        </p:nvSpPr>
        <p:spPr bwMode="auto">
          <a:xfrm>
            <a:off x="4215568" y="128581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2000" dirty="0">
                <a:solidFill>
                  <a:srgbClr val="990000"/>
                </a:solidFill>
                <a:latin typeface="Comic Sans MS" panose="030F0702030302020204" pitchFamily="66" charset="0"/>
                <a:ea typeface="宋体" panose="02010600030101010101" pitchFamily="2" charset="-122"/>
              </a:rPr>
              <a:t>超级节点</a:t>
            </a:r>
            <a:endParaRPr lang="en-US" altLang="zh-CN" sz="2000" dirty="0">
              <a:solidFill>
                <a:srgbClr val="990000"/>
              </a:solidFill>
              <a:latin typeface="Comic Sans MS" panose="030F0702030302020204" pitchFamily="66" charset="0"/>
              <a:ea typeface="宋体" panose="02010600030101010101" pitchFamily="2" charset="-122"/>
            </a:endParaRPr>
          </a:p>
        </p:txBody>
      </p:sp>
      <p:pic>
        <p:nvPicPr>
          <p:cNvPr id="6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76970" y="187546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91870" y="255905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31520" y="38526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69520" y="41320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17020" y="3916182"/>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54870" y="38989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83511" y="265208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48620" y="156320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02770" y="2872267"/>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69220" y="2700816"/>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64454" y="1636232"/>
            <a:ext cx="571500" cy="550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组合 4"/>
          <p:cNvGrpSpPr/>
          <p:nvPr/>
        </p:nvGrpSpPr>
        <p:grpSpPr>
          <a:xfrm>
            <a:off x="1843693" y="2226855"/>
            <a:ext cx="285603" cy="209477"/>
            <a:chOff x="1257373" y="2004605"/>
            <a:chExt cx="285603" cy="209477"/>
          </a:xfrm>
        </p:grpSpPr>
        <p:pic>
          <p:nvPicPr>
            <p:cNvPr id="4" name="图片 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77" name="图片 7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79" name="组合 78"/>
          <p:cNvGrpSpPr/>
          <p:nvPr/>
        </p:nvGrpSpPr>
        <p:grpSpPr>
          <a:xfrm>
            <a:off x="1572532" y="3066533"/>
            <a:ext cx="285603" cy="209477"/>
            <a:chOff x="1257373" y="2004605"/>
            <a:chExt cx="285603" cy="209477"/>
          </a:xfrm>
        </p:grpSpPr>
        <p:pic>
          <p:nvPicPr>
            <p:cNvPr id="80" name="图片 7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1" name="图片 8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2" name="组合 81"/>
          <p:cNvGrpSpPr/>
          <p:nvPr/>
        </p:nvGrpSpPr>
        <p:grpSpPr>
          <a:xfrm>
            <a:off x="1772484" y="3154950"/>
            <a:ext cx="285603" cy="209477"/>
            <a:chOff x="1257373" y="2004605"/>
            <a:chExt cx="285603" cy="209477"/>
          </a:xfrm>
        </p:grpSpPr>
        <p:pic>
          <p:nvPicPr>
            <p:cNvPr id="83" name="图片 8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4" name="图片 8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5" name="组合 84"/>
          <p:cNvGrpSpPr/>
          <p:nvPr/>
        </p:nvGrpSpPr>
        <p:grpSpPr>
          <a:xfrm>
            <a:off x="3161537" y="2864957"/>
            <a:ext cx="285603" cy="209477"/>
            <a:chOff x="1257373" y="2004605"/>
            <a:chExt cx="285603" cy="209477"/>
          </a:xfrm>
        </p:grpSpPr>
        <p:pic>
          <p:nvPicPr>
            <p:cNvPr id="86" name="图片 8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87" name="图片 8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88" name="组合 87"/>
          <p:cNvGrpSpPr/>
          <p:nvPr/>
        </p:nvGrpSpPr>
        <p:grpSpPr>
          <a:xfrm>
            <a:off x="6231689" y="4313021"/>
            <a:ext cx="285603" cy="209477"/>
            <a:chOff x="1257373" y="2004605"/>
            <a:chExt cx="285603" cy="209477"/>
          </a:xfrm>
        </p:grpSpPr>
        <p:pic>
          <p:nvPicPr>
            <p:cNvPr id="89" name="图片 8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0" name="图片 8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4" name="组合 93"/>
          <p:cNvGrpSpPr/>
          <p:nvPr/>
        </p:nvGrpSpPr>
        <p:grpSpPr>
          <a:xfrm>
            <a:off x="7279293" y="2622623"/>
            <a:ext cx="285603" cy="209477"/>
            <a:chOff x="1257373" y="2004605"/>
            <a:chExt cx="285603" cy="209477"/>
          </a:xfrm>
        </p:grpSpPr>
        <p:pic>
          <p:nvPicPr>
            <p:cNvPr id="95" name="图片 9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6" name="图片 9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97" name="组合 96"/>
          <p:cNvGrpSpPr/>
          <p:nvPr/>
        </p:nvGrpSpPr>
        <p:grpSpPr>
          <a:xfrm>
            <a:off x="5828099" y="1743558"/>
            <a:ext cx="285603" cy="209477"/>
            <a:chOff x="1257373" y="2004605"/>
            <a:chExt cx="285603" cy="209477"/>
          </a:xfrm>
        </p:grpSpPr>
        <p:pic>
          <p:nvPicPr>
            <p:cNvPr id="98" name="图片 9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9" name="图片 9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0" name="组合 99"/>
          <p:cNvGrpSpPr/>
          <p:nvPr/>
        </p:nvGrpSpPr>
        <p:grpSpPr>
          <a:xfrm>
            <a:off x="3332841" y="1534558"/>
            <a:ext cx="285603" cy="209477"/>
            <a:chOff x="1257373" y="2004605"/>
            <a:chExt cx="285603" cy="209477"/>
          </a:xfrm>
        </p:grpSpPr>
        <p:pic>
          <p:nvPicPr>
            <p:cNvPr id="101" name="图片 10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2" name="图片 10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3" name="组合 102"/>
          <p:cNvGrpSpPr/>
          <p:nvPr/>
        </p:nvGrpSpPr>
        <p:grpSpPr>
          <a:xfrm>
            <a:off x="5799597" y="3111019"/>
            <a:ext cx="285603" cy="209477"/>
            <a:chOff x="1257373" y="2004605"/>
            <a:chExt cx="285603" cy="209477"/>
          </a:xfrm>
        </p:grpSpPr>
        <p:pic>
          <p:nvPicPr>
            <p:cNvPr id="104" name="图片 10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5" name="图片 10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9" name="组合 108"/>
          <p:cNvGrpSpPr/>
          <p:nvPr/>
        </p:nvGrpSpPr>
        <p:grpSpPr>
          <a:xfrm>
            <a:off x="5983454" y="3207155"/>
            <a:ext cx="285603" cy="209477"/>
            <a:chOff x="1257373" y="2004605"/>
            <a:chExt cx="285603" cy="209477"/>
          </a:xfrm>
        </p:grpSpPr>
        <p:pic>
          <p:nvPicPr>
            <p:cNvPr id="110" name="图片 10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1" name="图片 11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06" name="组合 105"/>
          <p:cNvGrpSpPr/>
          <p:nvPr/>
        </p:nvGrpSpPr>
        <p:grpSpPr>
          <a:xfrm>
            <a:off x="6214222" y="3263237"/>
            <a:ext cx="285603" cy="209477"/>
            <a:chOff x="1257373" y="2004605"/>
            <a:chExt cx="285603" cy="209477"/>
          </a:xfrm>
        </p:grpSpPr>
        <p:pic>
          <p:nvPicPr>
            <p:cNvPr id="107" name="图片 10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08" name="图片 10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2" name="组合 111"/>
          <p:cNvGrpSpPr/>
          <p:nvPr/>
        </p:nvGrpSpPr>
        <p:grpSpPr>
          <a:xfrm>
            <a:off x="7006244" y="3924782"/>
            <a:ext cx="285603" cy="209477"/>
            <a:chOff x="1257373" y="2004605"/>
            <a:chExt cx="285603" cy="209477"/>
          </a:xfrm>
        </p:grpSpPr>
        <p:pic>
          <p:nvPicPr>
            <p:cNvPr id="113" name="图片 1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4" name="图片 11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grpSp>
        <p:nvGrpSpPr>
          <p:cNvPr id="115" name="组合 114"/>
          <p:cNvGrpSpPr/>
          <p:nvPr/>
        </p:nvGrpSpPr>
        <p:grpSpPr>
          <a:xfrm>
            <a:off x="4542370" y="3970543"/>
            <a:ext cx="285603" cy="209477"/>
            <a:chOff x="1257373" y="2004605"/>
            <a:chExt cx="285603" cy="209477"/>
          </a:xfrm>
        </p:grpSpPr>
        <p:pic>
          <p:nvPicPr>
            <p:cNvPr id="116" name="图片 11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117" name="图片 11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pic>
        <p:nvPicPr>
          <p:cNvPr id="118" name="图片 1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209372" y="3995870"/>
            <a:ext cx="171304" cy="171304"/>
          </a:xfrm>
          <a:prstGeom prst="rect">
            <a:avLst/>
          </a:prstGeom>
        </p:spPr>
      </p:pic>
      <p:pic>
        <p:nvPicPr>
          <p:cNvPr id="119" name="图片 1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548206" y="1620429"/>
            <a:ext cx="171304" cy="171304"/>
          </a:xfrm>
          <a:prstGeom prst="rect">
            <a:avLst/>
          </a:prstGeom>
        </p:spPr>
      </p:pic>
      <p:pic>
        <p:nvPicPr>
          <p:cNvPr id="120" name="图片 11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726594" y="4075282"/>
            <a:ext cx="171304" cy="171304"/>
          </a:xfrm>
          <a:prstGeom prst="rect">
            <a:avLst/>
          </a:prstGeom>
        </p:spPr>
      </p:pic>
      <p:sp>
        <p:nvSpPr>
          <p:cNvPr id="121" name="Line 62"/>
          <p:cNvSpPr>
            <a:spLocks noChangeShapeType="1"/>
          </p:cNvSpPr>
          <p:nvPr/>
        </p:nvSpPr>
        <p:spPr bwMode="auto">
          <a:xfrm flipV="1">
            <a:off x="3225290" y="3199414"/>
            <a:ext cx="412326" cy="705837"/>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3" name="Rectangle 126"/>
          <p:cNvSpPr>
            <a:spLocks noChangeArrowheads="1"/>
          </p:cNvSpPr>
          <p:nvPr/>
        </p:nvSpPr>
        <p:spPr bwMode="auto">
          <a:xfrm>
            <a:off x="2241729" y="1091729"/>
            <a:ext cx="1539017" cy="714254"/>
          </a:xfrm>
          <a:prstGeom prst="rect">
            <a:avLst/>
          </a:prstGeom>
          <a:solidFill>
            <a:schemeClr val="accent5">
              <a:lumMod val="40000"/>
              <a:lumOff val="60000"/>
            </a:schemeClr>
          </a:solidFill>
          <a:ln w="9525">
            <a:solidFill>
              <a:schemeClr val="tx1"/>
            </a:solidFill>
            <a:miter lim="800000"/>
            <a:headEnd/>
            <a:tailEnd/>
          </a:ln>
          <a:effectLst/>
        </p:spPr>
        <p:txBody>
          <a:bodyPr wrap="none"/>
          <a:lstStyle/>
          <a:p>
            <a:pPr eaLnBrk="0" hangingPunct="0"/>
            <a:r>
              <a:rPr lang="en-US" altLang="zh-CN" sz="1600" dirty="0" smtClean="0">
                <a:latin typeface="Comic Sans MS" panose="030F0702030302020204" pitchFamily="66" charset="0"/>
                <a:ea typeface="宋体" panose="02010600030101010101" pitchFamily="2" charset="-122"/>
              </a:rPr>
              <a:t>Search(A)</a:t>
            </a:r>
          </a:p>
          <a:p>
            <a:pPr eaLnBrk="0" hangingPunct="0"/>
            <a:r>
              <a:rPr lang="en-US" altLang="zh-CN" sz="1600" dirty="0" smtClean="0">
                <a:latin typeface="Comic Sans MS" panose="030F0702030302020204" pitchFamily="66" charset="0"/>
                <a:ea typeface="宋体" panose="02010600030101010101" pitchFamily="2" charset="-122"/>
                <a:sym typeface="Wingdings" panose="05000000000000000000" pitchFamily="2" charset="2"/>
              </a:rPr>
              <a:t></a:t>
            </a:r>
            <a:r>
              <a:rPr lang="en-US" altLang="zh-CN" sz="1600" dirty="0" smtClean="0">
                <a:latin typeface="Comic Sans MS" panose="030F0702030302020204" pitchFamily="66" charset="0"/>
                <a:ea typeface="宋体" panose="02010600030101010101" pitchFamily="2" charset="-122"/>
              </a:rPr>
              <a:t>123.2.22.23</a:t>
            </a:r>
          </a:p>
        </p:txBody>
      </p:sp>
      <p:grpSp>
        <p:nvGrpSpPr>
          <p:cNvPr id="6" name="组合 5"/>
          <p:cNvGrpSpPr/>
          <p:nvPr/>
        </p:nvGrpSpPr>
        <p:grpSpPr>
          <a:xfrm>
            <a:off x="3300106" y="4180692"/>
            <a:ext cx="368413" cy="256467"/>
            <a:chOff x="2521024" y="4308898"/>
            <a:chExt cx="368413" cy="256467"/>
          </a:xfrm>
        </p:grpSpPr>
        <p:grpSp>
          <p:nvGrpSpPr>
            <p:cNvPr id="91" name="组合 90"/>
            <p:cNvGrpSpPr/>
            <p:nvPr/>
          </p:nvGrpSpPr>
          <p:grpSpPr>
            <a:xfrm>
              <a:off x="2521024" y="4308898"/>
              <a:ext cx="285603" cy="209477"/>
              <a:chOff x="1257373" y="2004605"/>
              <a:chExt cx="285603" cy="209477"/>
            </a:xfrm>
          </p:grpSpPr>
          <p:pic>
            <p:nvPicPr>
              <p:cNvPr id="92" name="图片 9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57373" y="2004605"/>
                <a:ext cx="171304" cy="171304"/>
              </a:xfrm>
              <a:prstGeom prst="rect">
                <a:avLst/>
              </a:prstGeom>
            </p:spPr>
          </p:pic>
          <p:pic>
            <p:nvPicPr>
              <p:cNvPr id="93" name="图片 9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371672" y="2042778"/>
                <a:ext cx="171304" cy="171304"/>
              </a:xfrm>
              <a:prstGeom prst="rect">
                <a:avLst/>
              </a:prstGeom>
            </p:spPr>
          </p:pic>
        </p:grpSp>
        <p:pic>
          <p:nvPicPr>
            <p:cNvPr id="125" name="图片 12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718133" y="4394061"/>
              <a:ext cx="171304" cy="171304"/>
            </a:xfrm>
            <a:prstGeom prst="rect">
              <a:avLst/>
            </a:prstGeom>
          </p:spPr>
        </p:pic>
      </p:grpSp>
      <p:sp>
        <p:nvSpPr>
          <p:cNvPr id="126" name="Rectangle 127"/>
          <p:cNvSpPr>
            <a:spLocks noChangeArrowheads="1"/>
          </p:cNvSpPr>
          <p:nvPr/>
        </p:nvSpPr>
        <p:spPr bwMode="auto">
          <a:xfrm>
            <a:off x="2502348" y="4360888"/>
            <a:ext cx="8531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1600" dirty="0" smtClean="0">
                <a:latin typeface="Comic Sans MS" panose="030F0702030302020204" pitchFamily="66" charset="0"/>
                <a:ea typeface="宋体" panose="02010600030101010101" pitchFamily="2" charset="-122"/>
              </a:rPr>
              <a:t>文件</a:t>
            </a:r>
            <a:r>
              <a:rPr lang="en-US" altLang="zh-CN" sz="1600" dirty="0" smtClean="0">
                <a:latin typeface="Comic Sans MS" panose="030F0702030302020204" pitchFamily="66" charset="0"/>
                <a:ea typeface="宋体" panose="02010600030101010101" pitchFamily="2" charset="-122"/>
              </a:rPr>
              <a:t>A?</a:t>
            </a:r>
            <a:endParaRPr lang="en-US" altLang="zh-CN" sz="1600" dirty="0">
              <a:latin typeface="Comic Sans MS" panose="030F0702030302020204" pitchFamily="66" charset="0"/>
              <a:ea typeface="宋体" panose="02010600030101010101" pitchFamily="2" charset="-122"/>
            </a:endParaRPr>
          </a:p>
        </p:txBody>
      </p:sp>
      <p:sp>
        <p:nvSpPr>
          <p:cNvPr id="127" name="Rectangle 126"/>
          <p:cNvSpPr>
            <a:spLocks noChangeArrowheads="1"/>
          </p:cNvSpPr>
          <p:nvPr/>
        </p:nvSpPr>
        <p:spPr bwMode="auto">
          <a:xfrm>
            <a:off x="5774270" y="2602786"/>
            <a:ext cx="1539017" cy="714254"/>
          </a:xfrm>
          <a:prstGeom prst="rect">
            <a:avLst/>
          </a:prstGeom>
          <a:solidFill>
            <a:schemeClr val="accent5">
              <a:lumMod val="40000"/>
              <a:lumOff val="60000"/>
            </a:schemeClr>
          </a:solidFill>
          <a:ln w="9525">
            <a:solidFill>
              <a:schemeClr val="tx1"/>
            </a:solidFill>
            <a:miter lim="800000"/>
            <a:headEnd/>
            <a:tailEnd/>
          </a:ln>
          <a:effectLst/>
        </p:spPr>
        <p:txBody>
          <a:bodyPr wrap="none"/>
          <a:lstStyle/>
          <a:p>
            <a:pPr eaLnBrk="0" hangingPunct="0"/>
            <a:r>
              <a:rPr lang="en-US" altLang="zh-CN" sz="1600" dirty="0" smtClean="0">
                <a:latin typeface="Comic Sans MS" panose="030F0702030302020204" pitchFamily="66" charset="0"/>
                <a:ea typeface="宋体" panose="02010600030101010101" pitchFamily="2" charset="-122"/>
              </a:rPr>
              <a:t>Search(A)</a:t>
            </a:r>
          </a:p>
          <a:p>
            <a:pPr eaLnBrk="0" hangingPunct="0"/>
            <a:r>
              <a:rPr lang="en-US" altLang="zh-CN" sz="1600" dirty="0" smtClean="0">
                <a:latin typeface="Comic Sans MS" panose="030F0702030302020204" pitchFamily="66" charset="0"/>
                <a:ea typeface="宋体" panose="02010600030101010101" pitchFamily="2" charset="-122"/>
                <a:sym typeface="Wingdings" panose="05000000000000000000" pitchFamily="2" charset="2"/>
              </a:rPr>
              <a:t></a:t>
            </a:r>
            <a:r>
              <a:rPr lang="en-US" altLang="zh-CN" sz="1600" dirty="0" smtClean="0">
                <a:latin typeface="Comic Sans MS" panose="030F0702030302020204" pitchFamily="66" charset="0"/>
                <a:ea typeface="宋体" panose="02010600030101010101" pitchFamily="2" charset="-122"/>
              </a:rPr>
              <a:t>123.2.20.21</a:t>
            </a:r>
          </a:p>
        </p:txBody>
      </p:sp>
      <p:sp>
        <p:nvSpPr>
          <p:cNvPr id="128" name="Line 62"/>
          <p:cNvSpPr>
            <a:spLocks noChangeShapeType="1"/>
          </p:cNvSpPr>
          <p:nvPr/>
        </p:nvSpPr>
        <p:spPr bwMode="auto">
          <a:xfrm flipV="1">
            <a:off x="3779828" y="2065865"/>
            <a:ext cx="213268" cy="645679"/>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29" name="Line 62"/>
          <p:cNvSpPr>
            <a:spLocks noChangeShapeType="1"/>
          </p:cNvSpPr>
          <p:nvPr/>
        </p:nvSpPr>
        <p:spPr bwMode="auto">
          <a:xfrm flipV="1">
            <a:off x="4017439" y="2087371"/>
            <a:ext cx="1331746" cy="957355"/>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0" name="Line 62"/>
          <p:cNvSpPr>
            <a:spLocks noChangeShapeType="1"/>
          </p:cNvSpPr>
          <p:nvPr/>
        </p:nvSpPr>
        <p:spPr bwMode="auto">
          <a:xfrm>
            <a:off x="3988552" y="3134077"/>
            <a:ext cx="1260133" cy="143323"/>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1" name="Line 62"/>
          <p:cNvSpPr>
            <a:spLocks noChangeShapeType="1"/>
          </p:cNvSpPr>
          <p:nvPr/>
        </p:nvSpPr>
        <p:spPr bwMode="auto">
          <a:xfrm>
            <a:off x="4212393" y="2009884"/>
            <a:ext cx="1082451" cy="933341"/>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2" name="Line 62"/>
          <p:cNvSpPr>
            <a:spLocks noChangeShapeType="1"/>
          </p:cNvSpPr>
          <p:nvPr/>
        </p:nvSpPr>
        <p:spPr bwMode="auto">
          <a:xfrm>
            <a:off x="4215568" y="1800988"/>
            <a:ext cx="1152302" cy="38257"/>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4" name="Line 62"/>
          <p:cNvSpPr>
            <a:spLocks noChangeShapeType="1"/>
          </p:cNvSpPr>
          <p:nvPr/>
        </p:nvSpPr>
        <p:spPr bwMode="auto">
          <a:xfrm flipH="1" flipV="1">
            <a:off x="5590193" y="2146300"/>
            <a:ext cx="523" cy="729112"/>
          </a:xfrm>
          <a:prstGeom prst="line">
            <a:avLst/>
          </a:prstGeom>
          <a:noFill/>
          <a:ln w="41275">
            <a:solidFill>
              <a:srgbClr val="92D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5" name="Line 62"/>
          <p:cNvSpPr>
            <a:spLocks noChangeShapeType="1"/>
          </p:cNvSpPr>
          <p:nvPr/>
        </p:nvSpPr>
        <p:spPr bwMode="auto">
          <a:xfrm flipH="1">
            <a:off x="3642175" y="2098083"/>
            <a:ext cx="228379" cy="613461"/>
          </a:xfrm>
          <a:prstGeom prst="line">
            <a:avLst/>
          </a:prstGeom>
          <a:noFill/>
          <a:ln w="41275">
            <a:solidFill>
              <a:srgbClr val="CC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6" name="Line 62"/>
          <p:cNvSpPr>
            <a:spLocks noChangeShapeType="1"/>
          </p:cNvSpPr>
          <p:nvPr/>
        </p:nvSpPr>
        <p:spPr bwMode="auto">
          <a:xfrm flipH="1">
            <a:off x="3069788" y="3218523"/>
            <a:ext cx="416459" cy="669596"/>
          </a:xfrm>
          <a:prstGeom prst="line">
            <a:avLst/>
          </a:prstGeom>
          <a:noFill/>
          <a:ln w="41275">
            <a:solidFill>
              <a:srgbClr val="CC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7" name="Line 62"/>
          <p:cNvSpPr>
            <a:spLocks noChangeShapeType="1"/>
          </p:cNvSpPr>
          <p:nvPr/>
        </p:nvSpPr>
        <p:spPr bwMode="auto">
          <a:xfrm flipH="1">
            <a:off x="3324561" y="3303743"/>
            <a:ext cx="416459" cy="669596"/>
          </a:xfrm>
          <a:prstGeom prst="line">
            <a:avLst/>
          </a:prstGeom>
          <a:noFill/>
          <a:ln w="41275">
            <a:solidFill>
              <a:srgbClr val="CC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8" name="Line 62"/>
          <p:cNvSpPr>
            <a:spLocks noChangeShapeType="1"/>
          </p:cNvSpPr>
          <p:nvPr/>
        </p:nvSpPr>
        <p:spPr bwMode="auto">
          <a:xfrm flipH="1" flipV="1">
            <a:off x="3904846" y="3262792"/>
            <a:ext cx="1237719" cy="149223"/>
          </a:xfrm>
          <a:prstGeom prst="line">
            <a:avLst/>
          </a:prstGeom>
          <a:noFill/>
          <a:ln w="41275">
            <a:solidFill>
              <a:srgbClr val="CC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39" name="Rectangle 127"/>
          <p:cNvSpPr>
            <a:spLocks noChangeArrowheads="1"/>
          </p:cNvSpPr>
          <p:nvPr/>
        </p:nvSpPr>
        <p:spPr bwMode="auto">
          <a:xfrm>
            <a:off x="6727591" y="4186046"/>
            <a:ext cx="12747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600" dirty="0" smtClean="0">
                <a:latin typeface="Comic Sans MS" panose="030F0702030302020204" pitchFamily="66" charset="0"/>
                <a:ea typeface="宋体" panose="02010600030101010101" pitchFamily="2" charset="-122"/>
              </a:rPr>
              <a:t>123.2.20.21</a:t>
            </a:r>
            <a:endParaRPr lang="en-US" altLang="zh-CN" sz="1600" dirty="0">
              <a:latin typeface="Comic Sans MS" panose="030F0702030302020204" pitchFamily="66" charset="0"/>
              <a:ea typeface="宋体" panose="02010600030101010101" pitchFamily="2" charset="-122"/>
            </a:endParaRPr>
          </a:p>
        </p:txBody>
      </p:sp>
      <p:sp>
        <p:nvSpPr>
          <p:cNvPr id="140" name="Rectangle 127"/>
          <p:cNvSpPr>
            <a:spLocks noChangeArrowheads="1"/>
          </p:cNvSpPr>
          <p:nvPr/>
        </p:nvSpPr>
        <p:spPr bwMode="auto">
          <a:xfrm>
            <a:off x="471327" y="2601841"/>
            <a:ext cx="130676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600" dirty="0" smtClean="0">
                <a:latin typeface="Comic Sans MS" panose="030F0702030302020204" pitchFamily="66" charset="0"/>
                <a:ea typeface="宋体" panose="02010600030101010101" pitchFamily="2" charset="-122"/>
              </a:rPr>
              <a:t>123.2.22.23</a:t>
            </a:r>
            <a:endParaRPr lang="en-US" altLang="zh-CN" sz="1600" dirty="0">
              <a:latin typeface="Comic Sans MS" panose="030F0702030302020204" pitchFamily="66" charset="0"/>
              <a:ea typeface="宋体" panose="02010600030101010101" pitchFamily="2" charset="-122"/>
            </a:endParaRPr>
          </a:p>
        </p:txBody>
      </p:sp>
      <p:sp>
        <p:nvSpPr>
          <p:cNvPr id="143" name="Rectangle 127"/>
          <p:cNvSpPr>
            <a:spLocks noChangeArrowheads="1"/>
          </p:cNvSpPr>
          <p:nvPr/>
        </p:nvSpPr>
        <p:spPr bwMode="auto">
          <a:xfrm>
            <a:off x="1756825" y="4035594"/>
            <a:ext cx="12747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600" dirty="0" smtClean="0">
                <a:latin typeface="Comic Sans MS" panose="030F0702030302020204" pitchFamily="66" charset="0"/>
                <a:ea typeface="宋体" panose="02010600030101010101" pitchFamily="2" charset="-122"/>
              </a:rPr>
              <a:t>123.2.21.22</a:t>
            </a:r>
            <a:endParaRPr lang="en-US" altLang="zh-CN" sz="1600" dirty="0">
              <a:latin typeface="Comic Sans MS" panose="030F0702030302020204" pitchFamily="66" charset="0"/>
              <a:ea typeface="宋体" panose="02010600030101010101" pitchFamily="2" charset="-122"/>
            </a:endParaRPr>
          </a:p>
        </p:txBody>
      </p:sp>
      <p:grpSp>
        <p:nvGrpSpPr>
          <p:cNvPr id="8" name="组合 7"/>
          <p:cNvGrpSpPr/>
          <p:nvPr/>
        </p:nvGrpSpPr>
        <p:grpSpPr>
          <a:xfrm>
            <a:off x="1976798" y="2994984"/>
            <a:ext cx="929088" cy="1000885"/>
            <a:chOff x="1561928" y="2994984"/>
            <a:chExt cx="929088" cy="1000885"/>
          </a:xfrm>
        </p:grpSpPr>
        <p:sp>
          <p:nvSpPr>
            <p:cNvPr id="142" name="Line 62"/>
            <p:cNvSpPr>
              <a:spLocks noChangeShapeType="1"/>
            </p:cNvSpPr>
            <p:nvPr/>
          </p:nvSpPr>
          <p:spPr bwMode="auto">
            <a:xfrm flipH="1" flipV="1">
              <a:off x="1607090" y="2994984"/>
              <a:ext cx="883926" cy="1000885"/>
            </a:xfrm>
            <a:prstGeom prst="line">
              <a:avLst/>
            </a:prstGeom>
            <a:noFill/>
            <a:ln w="41275">
              <a:solidFill>
                <a:srgbClr val="00B0F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n w="34925">
                  <a:solidFill>
                    <a:schemeClr val="tx1"/>
                  </a:solidFill>
                </a:ln>
              </a:endParaRPr>
            </a:p>
          </p:txBody>
        </p:sp>
        <p:sp>
          <p:nvSpPr>
            <p:cNvPr id="144" name="Rectangle 127"/>
            <p:cNvSpPr>
              <a:spLocks noChangeArrowheads="1"/>
            </p:cNvSpPr>
            <p:nvPr/>
          </p:nvSpPr>
          <p:spPr bwMode="auto">
            <a:xfrm>
              <a:off x="1561928" y="3513132"/>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zh-CN" altLang="en-US" sz="1600" dirty="0">
                  <a:latin typeface="Comic Sans MS" panose="030F0702030302020204" pitchFamily="66" charset="0"/>
                  <a:ea typeface="宋体" panose="02010600030101010101" pitchFamily="2" charset="-122"/>
                </a:rPr>
                <a:t>下载</a:t>
              </a:r>
              <a:endParaRPr lang="en-US" altLang="zh-CN" sz="1600" dirty="0">
                <a:latin typeface="Comic Sans MS" panose="030F0702030302020204" pitchFamily="66" charset="0"/>
                <a:ea typeface="宋体" panose="02010600030101010101" pitchFamily="2" charset="-122"/>
              </a:endParaRPr>
            </a:p>
          </p:txBody>
        </p:sp>
      </p:grpSp>
    </p:spTree>
    <p:custDataLst>
      <p:tags r:id="rId1"/>
    </p:custDataLst>
    <p:extLst>
      <p:ext uri="{BB962C8B-B14F-4D97-AF65-F5344CB8AC3E}">
        <p14:creationId xmlns:p14="http://schemas.microsoft.com/office/powerpoint/2010/main" val="31974598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down)">
                                      <p:cBhvr>
                                        <p:cTn id="7" dur="500"/>
                                        <p:tgtEl>
                                          <p:spTgt spid="121"/>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28"/>
                                        </p:tgtEl>
                                        <p:attrNameLst>
                                          <p:attrName>style.visibility</p:attrName>
                                        </p:attrNameLst>
                                      </p:cBhvr>
                                      <p:to>
                                        <p:strVal val="visible"/>
                                      </p:to>
                                    </p:set>
                                    <p:animEffect transition="in" filter="wipe(down)">
                                      <p:cBhvr>
                                        <p:cTn id="11" dur="500"/>
                                        <p:tgtEl>
                                          <p:spTgt spid="128"/>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down)">
                                      <p:cBhvr>
                                        <p:cTn id="14" dur="500"/>
                                        <p:tgtEl>
                                          <p:spTgt spid="129"/>
                                        </p:tgtEl>
                                      </p:cBhvr>
                                    </p:animEffect>
                                  </p:childTnLst>
                                </p:cTn>
                              </p:par>
                              <p:par>
                                <p:cTn id="15" presetID="22" presetClass="entr" presetSubtype="1" fill="hold" grpId="0" nodeType="withEffect">
                                  <p:stCondLst>
                                    <p:cond delay="0"/>
                                  </p:stCondLst>
                                  <p:childTnLst>
                                    <p:set>
                                      <p:cBhvr>
                                        <p:cTn id="16" dur="1" fill="hold">
                                          <p:stCondLst>
                                            <p:cond delay="0"/>
                                          </p:stCondLst>
                                        </p:cTn>
                                        <p:tgtEl>
                                          <p:spTgt spid="130"/>
                                        </p:tgtEl>
                                        <p:attrNameLst>
                                          <p:attrName>style.visibility</p:attrName>
                                        </p:attrNameLst>
                                      </p:cBhvr>
                                      <p:to>
                                        <p:strVal val="visible"/>
                                      </p:to>
                                    </p:set>
                                    <p:animEffect transition="in" filter="wipe(up)">
                                      <p:cBhvr>
                                        <p:cTn id="17" dur="500"/>
                                        <p:tgtEl>
                                          <p:spTgt spid="130"/>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132"/>
                                        </p:tgtEl>
                                        <p:attrNameLst>
                                          <p:attrName>style.visibility</p:attrName>
                                        </p:attrNameLst>
                                      </p:cBhvr>
                                      <p:to>
                                        <p:strVal val="visible"/>
                                      </p:to>
                                    </p:set>
                                    <p:animEffect transition="in" filter="wipe(left)">
                                      <p:cBhvr>
                                        <p:cTn id="21" dur="500"/>
                                        <p:tgtEl>
                                          <p:spTgt spid="132"/>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131"/>
                                        </p:tgtEl>
                                        <p:attrNameLst>
                                          <p:attrName>style.visibility</p:attrName>
                                        </p:attrNameLst>
                                      </p:cBhvr>
                                      <p:to>
                                        <p:strVal val="visible"/>
                                      </p:to>
                                    </p:set>
                                    <p:animEffect transition="in" filter="wipe(left)">
                                      <p:cBhvr>
                                        <p:cTn id="24" dur="500"/>
                                        <p:tgtEl>
                                          <p:spTgt spid="131"/>
                                        </p:tgtEl>
                                      </p:cBhvr>
                                    </p:animEffect>
                                  </p:childTnLst>
                                </p:cTn>
                              </p:par>
                            </p:childTnLst>
                          </p:cTn>
                        </p:par>
                        <p:par>
                          <p:cTn id="25" fill="hold">
                            <p:stCondLst>
                              <p:cond delay="1500"/>
                            </p:stCondLst>
                            <p:childTnLst>
                              <p:par>
                                <p:cTn id="26" presetID="22" presetClass="entr" presetSubtype="4" fill="hold" grpId="0" nodeType="afterEffect">
                                  <p:stCondLst>
                                    <p:cond delay="0"/>
                                  </p:stCondLst>
                                  <p:childTnLst>
                                    <p:set>
                                      <p:cBhvr>
                                        <p:cTn id="27" dur="1" fill="hold">
                                          <p:stCondLst>
                                            <p:cond delay="0"/>
                                          </p:stCondLst>
                                        </p:cTn>
                                        <p:tgtEl>
                                          <p:spTgt spid="134"/>
                                        </p:tgtEl>
                                        <p:attrNameLst>
                                          <p:attrName>style.visibility</p:attrName>
                                        </p:attrNameLst>
                                      </p:cBhvr>
                                      <p:to>
                                        <p:strVal val="visible"/>
                                      </p:to>
                                    </p:set>
                                    <p:animEffect transition="in" filter="wipe(down)">
                                      <p:cBhvr>
                                        <p:cTn id="28" dur="500"/>
                                        <p:tgtEl>
                                          <p:spTgt spid="134"/>
                                        </p:tgtEl>
                                      </p:cBhvr>
                                    </p:animEffect>
                                  </p:childTnLst>
                                </p:cTn>
                              </p:par>
                            </p:childTnLst>
                          </p:cTn>
                        </p:par>
                        <p:par>
                          <p:cTn id="29" fill="hold">
                            <p:stCondLst>
                              <p:cond delay="2000"/>
                            </p:stCondLst>
                            <p:childTnLst>
                              <p:par>
                                <p:cTn id="30" presetID="1" presetClass="entr" presetSubtype="0" fill="hold" grpId="0" nodeType="afterEffect">
                                  <p:stCondLst>
                                    <p:cond delay="0"/>
                                  </p:stCondLst>
                                  <p:childTnLst>
                                    <p:set>
                                      <p:cBhvr>
                                        <p:cTn id="31" dur="1" fill="hold">
                                          <p:stCondLst>
                                            <p:cond delay="499"/>
                                          </p:stCondLst>
                                        </p:cTn>
                                        <p:tgtEl>
                                          <p:spTgt spid="123"/>
                                        </p:tgtEl>
                                        <p:attrNameLst>
                                          <p:attrName>style.visibility</p:attrName>
                                        </p:attrNameLst>
                                      </p:cBhvr>
                                      <p:to>
                                        <p:strVal val="visible"/>
                                      </p:to>
                                    </p:set>
                                  </p:childTnLst>
                                </p:cTn>
                              </p:par>
                            </p:childTnLst>
                          </p:cTn>
                        </p:par>
                        <p:par>
                          <p:cTn id="32" fill="hold">
                            <p:stCondLst>
                              <p:cond delay="2500"/>
                            </p:stCondLst>
                            <p:childTnLst>
                              <p:par>
                                <p:cTn id="33" presetID="1" presetClass="entr" presetSubtype="0" fill="hold" grpId="0" nodeType="afterEffect">
                                  <p:stCondLst>
                                    <p:cond delay="0"/>
                                  </p:stCondLst>
                                  <p:childTnLst>
                                    <p:set>
                                      <p:cBhvr>
                                        <p:cTn id="34" dur="1" fill="hold">
                                          <p:stCondLst>
                                            <p:cond delay="499"/>
                                          </p:stCondLst>
                                        </p:cTn>
                                        <p:tgtEl>
                                          <p:spTgt spid="12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135"/>
                                        </p:tgtEl>
                                        <p:attrNameLst>
                                          <p:attrName>style.visibility</p:attrName>
                                        </p:attrNameLst>
                                      </p:cBhvr>
                                      <p:to>
                                        <p:strVal val="visible"/>
                                      </p:to>
                                    </p:set>
                                    <p:animEffect transition="in" filter="wipe(up)">
                                      <p:cBhvr>
                                        <p:cTn id="39" dur="500"/>
                                        <p:tgtEl>
                                          <p:spTgt spid="135"/>
                                        </p:tgtEl>
                                      </p:cBhvr>
                                    </p:animEffect>
                                  </p:childTnLst>
                                </p:cTn>
                              </p:par>
                              <p:par>
                                <p:cTn id="40" presetID="22" presetClass="entr" presetSubtype="1" fill="hold" grpId="0" nodeType="withEffect">
                                  <p:stCondLst>
                                    <p:cond delay="0"/>
                                  </p:stCondLst>
                                  <p:childTnLst>
                                    <p:set>
                                      <p:cBhvr>
                                        <p:cTn id="41" dur="1" fill="hold">
                                          <p:stCondLst>
                                            <p:cond delay="0"/>
                                          </p:stCondLst>
                                        </p:cTn>
                                        <p:tgtEl>
                                          <p:spTgt spid="136"/>
                                        </p:tgtEl>
                                        <p:attrNameLst>
                                          <p:attrName>style.visibility</p:attrName>
                                        </p:attrNameLst>
                                      </p:cBhvr>
                                      <p:to>
                                        <p:strVal val="visible"/>
                                      </p:to>
                                    </p:set>
                                    <p:animEffect transition="in" filter="wipe(up)">
                                      <p:cBhvr>
                                        <p:cTn id="42" dur="500"/>
                                        <p:tgtEl>
                                          <p:spTgt spid="136"/>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138"/>
                                        </p:tgtEl>
                                        <p:attrNameLst>
                                          <p:attrName>style.visibility</p:attrName>
                                        </p:attrNameLst>
                                      </p:cBhvr>
                                      <p:to>
                                        <p:strVal val="visible"/>
                                      </p:to>
                                    </p:set>
                                    <p:animEffect transition="in" filter="wipe(right)">
                                      <p:cBhvr>
                                        <p:cTn id="45" dur="500"/>
                                        <p:tgtEl>
                                          <p:spTgt spid="138"/>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137"/>
                                        </p:tgtEl>
                                        <p:attrNameLst>
                                          <p:attrName>style.visibility</p:attrName>
                                        </p:attrNameLst>
                                      </p:cBhvr>
                                      <p:to>
                                        <p:strVal val="visible"/>
                                      </p:to>
                                    </p:set>
                                    <p:animEffect transition="in" filter="wipe(up)">
                                      <p:cBhvr>
                                        <p:cTn id="48" dur="500"/>
                                        <p:tgtEl>
                                          <p:spTgt spid="137"/>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wipe(down)">
                                      <p:cBhvr>
                                        <p:cTn id="5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3" grpId="0" animBg="1" autoUpdateAnimBg="0"/>
      <p:bldP spid="127" grpId="0" animBg="1" autoUpdateAnimBg="0"/>
      <p:bldP spid="128" grpId="0" animBg="1"/>
      <p:bldP spid="129" grpId="0" animBg="1"/>
      <p:bldP spid="130" grpId="0" animBg="1"/>
      <p:bldP spid="131" grpId="0" animBg="1"/>
      <p:bldP spid="132" grpId="0" animBg="1"/>
      <p:bldP spid="134" grpId="0" animBg="1"/>
      <p:bldP spid="135" grpId="0" animBg="1"/>
      <p:bldP spid="136" grpId="0" animBg="1"/>
      <p:bldP spid="137" grpId="0" animBg="1"/>
      <p:bldP spid="138"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sz="quarter" idx="10"/>
          </p:nvPr>
        </p:nvSpPr>
        <p:spPr/>
        <p:txBody>
          <a:bodyPr/>
          <a:lstStyle/>
          <a:p>
            <a:r>
              <a:rPr lang="zh-CN" altLang="en-US" dirty="0" smtClean="0"/>
              <a:t>优点</a:t>
            </a:r>
            <a:r>
              <a:rPr lang="zh-CN" altLang="en-US" dirty="0"/>
              <a:t>：</a:t>
            </a:r>
            <a:endParaRPr lang="en-US" altLang="zh-CN" dirty="0"/>
          </a:p>
          <a:p>
            <a:pPr lvl="1">
              <a:buClr>
                <a:schemeClr val="accent1"/>
              </a:buClr>
              <a:buFont typeface="Wingdings" panose="05000000000000000000" pitchFamily="2" charset="2"/>
              <a:buChar char="l"/>
            </a:pPr>
            <a:r>
              <a:rPr lang="zh-CN" altLang="en-US" dirty="0" smtClean="0"/>
              <a:t>考虑了节点的异构性。</a:t>
            </a:r>
            <a:endParaRPr lang="en-US" altLang="zh-CN" dirty="0" smtClean="0"/>
          </a:p>
          <a:p>
            <a:pPr lvl="1">
              <a:buClr>
                <a:schemeClr val="accent1"/>
              </a:buClr>
              <a:buFont typeface="Wingdings" panose="05000000000000000000" pitchFamily="2" charset="2"/>
              <a:buChar char="l"/>
            </a:pPr>
            <a:r>
              <a:rPr lang="zh-CN" altLang="en-US" dirty="0"/>
              <a:t>超级</a:t>
            </a:r>
            <a:r>
              <a:rPr lang="zh-CN" altLang="en-US" dirty="0" smtClean="0"/>
              <a:t>节点的引入有效提升了网络的稳定性和查询效率。</a:t>
            </a:r>
            <a:endParaRPr lang="en-US" altLang="zh-CN" dirty="0"/>
          </a:p>
          <a:p>
            <a:pPr>
              <a:buClr>
                <a:schemeClr val="accent1"/>
              </a:buClr>
            </a:pPr>
            <a:r>
              <a:rPr lang="zh-CN" altLang="en-US" dirty="0" smtClean="0"/>
              <a:t>缺点：</a:t>
            </a:r>
            <a:endParaRPr lang="en-US" altLang="zh-CN" dirty="0"/>
          </a:p>
          <a:p>
            <a:pPr lvl="1">
              <a:buClr>
                <a:schemeClr val="accent1">
                  <a:lumMod val="75000"/>
                </a:schemeClr>
              </a:buClr>
              <a:buFont typeface="Wingdings" panose="05000000000000000000" pitchFamily="2" charset="2"/>
              <a:buChar char="l"/>
            </a:pPr>
            <a:r>
              <a:rPr lang="zh-CN" altLang="en-US" dirty="0" smtClean="0"/>
              <a:t>缺乏激励机制，超级节点付出更多，如何激励？</a:t>
            </a:r>
            <a:endParaRPr lang="en-US" altLang="zh-CN" dirty="0" smtClean="0"/>
          </a:p>
          <a:p>
            <a:pPr lvl="1">
              <a:buClr>
                <a:schemeClr val="accent1">
                  <a:lumMod val="75000"/>
                </a:schemeClr>
              </a:buClr>
              <a:buFont typeface="Wingdings" panose="05000000000000000000" pitchFamily="2" charset="2"/>
              <a:buChar char="l"/>
            </a:pPr>
            <a:r>
              <a:rPr lang="zh-CN" altLang="en-US" dirty="0" smtClean="0"/>
              <a:t>对于查询结果和查询时间依然无法给出保证。</a:t>
            </a:r>
            <a:endParaRPr lang="en-US" altLang="zh-CN" dirty="0"/>
          </a:p>
          <a:p>
            <a:pPr>
              <a:buClr>
                <a:schemeClr val="accent1">
                  <a:lumMod val="75000"/>
                </a:schemeClr>
              </a:buClr>
            </a:pPr>
            <a:endParaRPr lang="zh-CN" altLang="en-US" dirty="0"/>
          </a:p>
        </p:txBody>
      </p:sp>
      <p:sp>
        <p:nvSpPr>
          <p:cNvPr id="3" name="文本占位符 2"/>
          <p:cNvSpPr>
            <a:spLocks noGrp="1"/>
          </p:cNvSpPr>
          <p:nvPr>
            <p:ph type="body" sz="quarter" idx="11"/>
          </p:nvPr>
        </p:nvSpPr>
        <p:spPr/>
        <p:txBody>
          <a:bodyPr/>
          <a:lstStyle/>
          <a:p>
            <a:r>
              <a:rPr lang="en-US" altLang="zh-CN" dirty="0" err="1" smtClean="0"/>
              <a:t>KaZaA</a:t>
            </a:r>
            <a:r>
              <a:rPr lang="zh-CN" altLang="en-US" dirty="0" smtClean="0"/>
              <a:t>优缺点分析</a:t>
            </a:r>
            <a:endParaRPr lang="zh-CN" altLang="en-US" dirty="0"/>
          </a:p>
        </p:txBody>
      </p:sp>
    </p:spTree>
    <p:custDataLst>
      <p:tags r:id="rId1"/>
    </p:custDataLst>
    <p:extLst>
      <p:ext uri="{BB962C8B-B14F-4D97-AF65-F5344CB8AC3E}">
        <p14:creationId xmlns:p14="http://schemas.microsoft.com/office/powerpoint/2010/main" val="17996390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fade">
                                      <p:cBhvr>
                                        <p:cTn id="7" dur="500"/>
                                        <p:tgtEl>
                                          <p:spTgt spid="2">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fade">
                                      <p:cBhvr>
                                        <p:cTn id="10" dur="500"/>
                                        <p:tgtEl>
                                          <p:spTgt spid="2">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
                                            <p:txEl>
                                              <p:pRg st="5" end="5"/>
                                            </p:txEl>
                                          </p:spTgt>
                                        </p:tgtEl>
                                        <p:attrNameLst>
                                          <p:attrName>style.visibility</p:attrName>
                                        </p:attrNameLst>
                                      </p:cBhvr>
                                      <p:to>
                                        <p:strVal val="visible"/>
                                      </p:to>
                                    </p:set>
                                    <p:animEffect transition="in" filter="fade">
                                      <p:cBhvr>
                                        <p:cTn id="13"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512939" y="575054"/>
            <a:ext cx="41368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的比特洪流 </a:t>
            </a:r>
            <a:r>
              <a:rPr lang="en-US" altLang="zh-CN" sz="2000" b="1" dirty="0" smtClean="0">
                <a:solidFill>
                  <a:schemeClr val="bg1"/>
                </a:solidFill>
                <a:latin typeface="微软雅黑" pitchFamily="34" charset="-122"/>
                <a:ea typeface="微软雅黑" pitchFamily="34" charset="-122"/>
              </a:rPr>
              <a:t>BT </a:t>
            </a:r>
            <a:r>
              <a:rPr lang="zh-CN" altLang="en-US" sz="2000" b="1" dirty="0" smtClean="0">
                <a:solidFill>
                  <a:schemeClr val="bg1"/>
                </a:solidFill>
                <a:latin typeface="微软雅黑" pitchFamily="34" charset="-122"/>
                <a:ea typeface="微软雅黑" pitchFamily="34" charset="-122"/>
              </a:rPr>
              <a:t>主要特点</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55409" y="1004935"/>
            <a:ext cx="3456192"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388" indent="-179388" algn="just" hangingPunct="0">
              <a:lnSpc>
                <a:spcPts val="2600"/>
              </a:lnSpc>
              <a:buClr>
                <a:srgbClr val="0070C0"/>
              </a:buClr>
              <a:buFont typeface="Wingdings" pitchFamily="2" charset="2"/>
              <a:buChar char="l"/>
            </a:pPr>
            <a:r>
              <a:rPr lang="en-US" altLang="zh-CN" sz="1600" b="1" dirty="0" err="1" smtClean="0">
                <a:latin typeface="微软雅黑" pitchFamily="34" charset="-122"/>
                <a:ea typeface="微软雅黑" pitchFamily="34" charset="-122"/>
              </a:rPr>
              <a:t>BitTorrent</a:t>
            </a:r>
            <a:r>
              <a:rPr lang="zh-CN" altLang="en-US" sz="1600" b="1" dirty="0" smtClean="0">
                <a:latin typeface="微软雅黑" pitchFamily="34" charset="-122"/>
                <a:ea typeface="微软雅黑" pitchFamily="34" charset="-122"/>
              </a:rPr>
              <a:t> 是一种代表性的</a:t>
            </a:r>
            <a:r>
              <a:rPr lang="en-US" altLang="zh-CN" sz="1600" b="1" dirty="0" smtClean="0">
                <a:latin typeface="微软雅黑" pitchFamily="34" charset="-122"/>
                <a:ea typeface="微软雅黑" pitchFamily="34" charset="-122"/>
              </a:rPr>
              <a:t>P2P</a:t>
            </a:r>
            <a:r>
              <a:rPr lang="zh-CN" altLang="en-US" sz="1600" b="1" dirty="0" smtClean="0">
                <a:latin typeface="微软雅黑" pitchFamily="34" charset="-122"/>
                <a:ea typeface="微软雅黑" pitchFamily="34" charset="-122"/>
              </a:rPr>
              <a:t>文件</a:t>
            </a:r>
            <a:r>
              <a:rPr lang="zh-CN" altLang="en-US" sz="1600" b="1" dirty="0">
                <a:latin typeface="微软雅黑" pitchFamily="34" charset="-122"/>
                <a:ea typeface="微软雅黑" pitchFamily="34" charset="-122"/>
              </a:rPr>
              <a:t>分发</a:t>
            </a:r>
            <a:r>
              <a:rPr lang="zh-CN" altLang="en-US" sz="1600" b="1" dirty="0" smtClean="0">
                <a:latin typeface="微软雅黑" pitchFamily="34" charset="-122"/>
                <a:ea typeface="微软雅黑" pitchFamily="34" charset="-122"/>
              </a:rPr>
              <a:t>应用，</a:t>
            </a:r>
            <a:r>
              <a:rPr lang="zh-CN" altLang="en-US" sz="1600" b="1" dirty="0" smtClean="0">
                <a:solidFill>
                  <a:srgbClr val="C00000"/>
                </a:solidFill>
                <a:latin typeface="微软雅黑" pitchFamily="34" charset="-122"/>
                <a:ea typeface="微软雅黑" pitchFamily="34" charset="-122"/>
              </a:rPr>
              <a:t>参与同一个</a:t>
            </a:r>
            <a:r>
              <a:rPr lang="zh-CN" altLang="en-US" sz="1600" b="1" dirty="0">
                <a:solidFill>
                  <a:srgbClr val="C00000"/>
                </a:solidFill>
                <a:latin typeface="微软雅黑" pitchFamily="34" charset="-122"/>
                <a:ea typeface="微软雅黑" pitchFamily="34" charset="-122"/>
              </a:rPr>
              <a:t>文件分发的所有对等方的集合称为一个洪流</a:t>
            </a:r>
            <a:r>
              <a:rPr lang="en-US" altLang="zh-CN" sz="1600" b="1" dirty="0">
                <a:solidFill>
                  <a:srgbClr val="C00000"/>
                </a:solidFill>
                <a:latin typeface="微软雅黑" pitchFamily="34" charset="-122"/>
                <a:ea typeface="微软雅黑" pitchFamily="34" charset="-122"/>
              </a:rPr>
              <a:t>(torrent)</a:t>
            </a:r>
            <a:r>
              <a:rPr lang="zh-CN" altLang="en-US" sz="1600" b="1" dirty="0" smtClean="0">
                <a:solidFill>
                  <a:srgbClr val="C00000"/>
                </a:solidFill>
                <a:latin typeface="微软雅黑" pitchFamily="34" charset="-122"/>
                <a:ea typeface="微软雅黑" pitchFamily="34" charset="-122"/>
              </a:rPr>
              <a:t>。</a:t>
            </a:r>
            <a:endParaRPr lang="en-US" altLang="zh-CN" sz="1600" b="1" dirty="0" smtClean="0">
              <a:solidFill>
                <a:srgbClr val="C00000"/>
              </a:solidFill>
              <a:latin typeface="微软雅黑" pitchFamily="34" charset="-122"/>
              <a:ea typeface="微软雅黑" pitchFamily="34" charset="-122"/>
            </a:endParaRPr>
          </a:p>
          <a:p>
            <a:pPr marL="179388" indent="-179388" algn="just"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下载</a:t>
            </a:r>
            <a:r>
              <a:rPr lang="zh-CN" altLang="en-US" sz="1600" b="1" dirty="0">
                <a:latin typeface="微软雅黑" pitchFamily="34" charset="-122"/>
                <a:ea typeface="微软雅黑" pitchFamily="34" charset="-122"/>
              </a:rPr>
              <a:t>的</a:t>
            </a:r>
            <a:r>
              <a:rPr lang="zh-CN" altLang="en-US" sz="1600" b="1" dirty="0" smtClean="0">
                <a:latin typeface="微软雅黑" pitchFamily="34" charset="-122"/>
                <a:ea typeface="微软雅黑" pitchFamily="34" charset="-122"/>
              </a:rPr>
              <a:t>文件被划分为长度</a:t>
            </a:r>
            <a:r>
              <a:rPr lang="zh-CN" altLang="en-US" sz="1600" b="1" dirty="0">
                <a:latin typeface="微软雅黑" pitchFamily="34" charset="-122"/>
                <a:ea typeface="微软雅黑" pitchFamily="34" charset="-122"/>
              </a:rPr>
              <a:t>固定的</a:t>
            </a:r>
            <a:r>
              <a:rPr lang="zh-CN" altLang="en-US" sz="1600" b="1" dirty="0">
                <a:solidFill>
                  <a:srgbClr val="0000FF"/>
                </a:solidFill>
                <a:latin typeface="微软雅黑" pitchFamily="34" charset="-122"/>
                <a:ea typeface="微软雅黑" pitchFamily="34" charset="-122"/>
              </a:rPr>
              <a:t>文件块</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(chunk</a:t>
            </a:r>
            <a:r>
              <a:rPr lang="en-US" altLang="zh-CN" sz="1600" b="1" dirty="0" smtClean="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，通常</a:t>
            </a:r>
            <a:r>
              <a:rPr lang="en-US" altLang="zh-CN" sz="1600" b="1" dirty="0">
                <a:latin typeface="微软雅黑" pitchFamily="34" charset="-122"/>
                <a:ea typeface="微软雅黑" pitchFamily="34" charset="-122"/>
              </a:rPr>
              <a:t>256 KB</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179388" indent="-179388" algn="just" hangingPunct="0">
              <a:lnSpc>
                <a:spcPts val="2600"/>
              </a:lnSpc>
              <a:buClr>
                <a:srgbClr val="0070C0"/>
              </a:buClr>
              <a:buFont typeface="Wingdings" pitchFamily="2" charset="2"/>
              <a:buChar char="l"/>
            </a:pPr>
            <a:r>
              <a:rPr lang="zh-CN" altLang="en-US" sz="1600" b="1" dirty="0">
                <a:latin typeface="微软雅黑" pitchFamily="34" charset="-122"/>
                <a:ea typeface="微软雅黑" pitchFamily="34" charset="-122"/>
              </a:rPr>
              <a:t>对等</a:t>
            </a:r>
            <a:r>
              <a:rPr lang="zh-CN" altLang="en-US" sz="1600" b="1" dirty="0" smtClean="0">
                <a:latin typeface="微软雅黑" pitchFamily="34" charset="-122"/>
                <a:ea typeface="微软雅黑" pitchFamily="34" charset="-122"/>
              </a:rPr>
              <a:t>方之间交换文件块。</a:t>
            </a:r>
            <a:endParaRPr lang="en-US" altLang="zh-CN" sz="1600" b="1" dirty="0" smtClean="0">
              <a:latin typeface="微软雅黑" pitchFamily="34" charset="-122"/>
              <a:ea typeface="微软雅黑" pitchFamily="34" charset="-122"/>
            </a:endParaRPr>
          </a:p>
          <a:p>
            <a:pPr marL="179388" indent="-179388" algn="just" hangingPunct="0">
              <a:lnSpc>
                <a:spcPts val="2600"/>
              </a:lnSpc>
              <a:buClr>
                <a:srgbClr val="0070C0"/>
              </a:buClr>
              <a:buFont typeface="Wingdings" pitchFamily="2" charset="2"/>
              <a:buChar char="l"/>
            </a:pPr>
            <a:r>
              <a:rPr lang="zh-CN" altLang="en-US" sz="1600" b="1" dirty="0" smtClean="0">
                <a:solidFill>
                  <a:srgbClr val="0000FF"/>
                </a:solidFill>
                <a:latin typeface="微软雅黑" pitchFamily="34" charset="-122"/>
                <a:ea typeface="微软雅黑" pitchFamily="34" charset="-122"/>
              </a:rPr>
              <a:t>追踪器</a:t>
            </a:r>
            <a:r>
              <a:rPr lang="zh-CN" altLang="en-US" sz="1600" b="1" dirty="0" smtClean="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tracker</a:t>
            </a:r>
            <a:r>
              <a:rPr lang="en-US" altLang="zh-CN" sz="1600" b="1" dirty="0" smtClean="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维护本</a:t>
            </a:r>
            <a:r>
              <a:rPr lang="en-US" altLang="zh-CN" sz="1600" b="1" dirty="0" smtClean="0">
                <a:latin typeface="微软雅黑" pitchFamily="34" charset="-122"/>
                <a:ea typeface="微软雅黑" pitchFamily="34" charset="-122"/>
              </a:rPr>
              <a:t>torrent</a:t>
            </a:r>
            <a:r>
              <a:rPr lang="zh-CN" altLang="en-US" sz="1600" b="1" dirty="0" smtClean="0">
                <a:latin typeface="微软雅黑" pitchFamily="34" charset="-122"/>
                <a:ea typeface="微软雅黑" pitchFamily="34" charset="-122"/>
              </a:rPr>
              <a:t>中对等方的信息，每个对等方均需要在追踪器中注册并不断更新状态。</a:t>
            </a:r>
            <a:endParaRPr lang="en-US" altLang="zh-CN" sz="1600" b="1" dirty="0" smtClean="0">
              <a:latin typeface="微软雅黑" pitchFamily="34" charset="-122"/>
              <a:ea typeface="微软雅黑" pitchFamily="34" charset="-122"/>
            </a:endParaRPr>
          </a:p>
        </p:txBody>
      </p:sp>
      <p:sp>
        <p:nvSpPr>
          <p:cNvPr id="32"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33" name="圆角矩形 32"/>
          <p:cNvSpPr/>
          <p:nvPr/>
        </p:nvSpPr>
        <p:spPr>
          <a:xfrm>
            <a:off x="4051299" y="1080056"/>
            <a:ext cx="4987509"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1080" y="2325241"/>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51910" y="352277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29206" y="34174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65310" y="305743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89446"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89446" y="16172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61454" y="240936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86982" y="121266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2" name="图片 4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238549" y="1276805"/>
            <a:ext cx="485811" cy="680135"/>
          </a:xfrm>
          <a:prstGeom prst="rect">
            <a:avLst/>
          </a:prstGeom>
        </p:spPr>
      </p:pic>
      <p:sp>
        <p:nvSpPr>
          <p:cNvPr id="43" name="Text Box 457"/>
          <p:cNvSpPr txBox="1">
            <a:spLocks noChangeArrowheads="1"/>
          </p:cNvSpPr>
          <p:nvPr/>
        </p:nvSpPr>
        <p:spPr bwMode="auto">
          <a:xfrm>
            <a:off x="6490570" y="2320032"/>
            <a:ext cx="10823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交换文件块</a:t>
            </a:r>
          </a:p>
        </p:txBody>
      </p:sp>
      <p:sp>
        <p:nvSpPr>
          <p:cNvPr id="44" name="Text Box 459"/>
          <p:cNvSpPr txBox="1">
            <a:spLocks noChangeArrowheads="1"/>
          </p:cNvSpPr>
          <p:nvPr/>
        </p:nvSpPr>
        <p:spPr bwMode="auto">
          <a:xfrm>
            <a:off x="5671230" y="149141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追踪器</a:t>
            </a:r>
          </a:p>
        </p:txBody>
      </p:sp>
      <p:sp>
        <p:nvSpPr>
          <p:cNvPr id="45" name="Line 2725"/>
          <p:cNvSpPr>
            <a:spLocks noChangeShapeType="1"/>
          </p:cNvSpPr>
          <p:nvPr/>
        </p:nvSpPr>
        <p:spPr bwMode="auto">
          <a:xfrm rot="816166">
            <a:off x="4896006" y="2919467"/>
            <a:ext cx="1419021" cy="393179"/>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6" name="Text Box 2726"/>
          <p:cNvSpPr txBox="1">
            <a:spLocks noChangeArrowheads="1"/>
          </p:cNvSpPr>
          <p:nvPr/>
        </p:nvSpPr>
        <p:spPr bwMode="auto">
          <a:xfrm>
            <a:off x="4202477" y="2325241"/>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b="1" dirty="0">
                <a:solidFill>
                  <a:sysClr val="windowText" lastClr="000000"/>
                </a:solidFill>
                <a:latin typeface="微软雅黑" pitchFamily="34" charset="-122"/>
                <a:ea typeface="微软雅黑" pitchFamily="34" charset="-122"/>
              </a:rPr>
              <a:t>A</a:t>
            </a:r>
            <a:endParaRPr kumimoji="1" lang="en-US" altLang="zh-CN" sz="1400" b="1" i="1" dirty="0">
              <a:solidFill>
                <a:sysClr val="windowText" lastClr="000000"/>
              </a:solidFill>
              <a:latin typeface="微软雅黑" pitchFamily="34" charset="-122"/>
              <a:ea typeface="微软雅黑" pitchFamily="34" charset="-122"/>
            </a:endParaRPr>
          </a:p>
        </p:txBody>
      </p:sp>
      <p:sp>
        <p:nvSpPr>
          <p:cNvPr id="47" name="Line 2727"/>
          <p:cNvSpPr>
            <a:spLocks noChangeShapeType="1"/>
          </p:cNvSpPr>
          <p:nvPr/>
        </p:nvSpPr>
        <p:spPr bwMode="auto">
          <a:xfrm rot="816166" flipV="1">
            <a:off x="5007480" y="2298505"/>
            <a:ext cx="3451284" cy="79715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8" name="Line 2728"/>
          <p:cNvSpPr>
            <a:spLocks noChangeShapeType="1"/>
          </p:cNvSpPr>
          <p:nvPr/>
        </p:nvSpPr>
        <p:spPr bwMode="auto">
          <a:xfrm rot="816166" flipV="1">
            <a:off x="5082452" y="1571222"/>
            <a:ext cx="1624071" cy="121677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9" name="Line 2729"/>
          <p:cNvSpPr>
            <a:spLocks noChangeShapeType="1"/>
          </p:cNvSpPr>
          <p:nvPr/>
        </p:nvSpPr>
        <p:spPr bwMode="auto">
          <a:xfrm rot="816166" flipV="1">
            <a:off x="4824228" y="1808544"/>
            <a:ext cx="370744" cy="73185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0" name="Line 3637"/>
          <p:cNvSpPr>
            <a:spLocks noChangeShapeType="1"/>
          </p:cNvSpPr>
          <p:nvPr/>
        </p:nvSpPr>
        <p:spPr bwMode="auto">
          <a:xfrm rot="816166">
            <a:off x="6909660" y="2001298"/>
            <a:ext cx="1703238" cy="134908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1" name="Line 3638"/>
          <p:cNvSpPr>
            <a:spLocks noChangeShapeType="1"/>
          </p:cNvSpPr>
          <p:nvPr/>
        </p:nvSpPr>
        <p:spPr bwMode="auto">
          <a:xfrm rot="816166" flipV="1">
            <a:off x="7299248" y="1672115"/>
            <a:ext cx="1090939" cy="107523"/>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2" name="Line 3639"/>
          <p:cNvSpPr>
            <a:spLocks noChangeShapeType="1"/>
          </p:cNvSpPr>
          <p:nvPr/>
        </p:nvSpPr>
        <p:spPr bwMode="auto">
          <a:xfrm rot="816166" flipH="1">
            <a:off x="5610860" y="1687145"/>
            <a:ext cx="1152312" cy="214237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3" name="Line 3640"/>
          <p:cNvSpPr>
            <a:spLocks noChangeShapeType="1"/>
          </p:cNvSpPr>
          <p:nvPr/>
        </p:nvSpPr>
        <p:spPr bwMode="auto">
          <a:xfrm rot="816166">
            <a:off x="7250977" y="1915140"/>
            <a:ext cx="1277756" cy="41972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4" name="Line 3641"/>
          <p:cNvSpPr>
            <a:spLocks noChangeShapeType="1"/>
          </p:cNvSpPr>
          <p:nvPr/>
        </p:nvSpPr>
        <p:spPr bwMode="auto">
          <a:xfrm rot="816166" flipV="1">
            <a:off x="6771939" y="3325434"/>
            <a:ext cx="462178" cy="297134"/>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5" name="Line 3642"/>
          <p:cNvSpPr>
            <a:spLocks noChangeShapeType="1"/>
          </p:cNvSpPr>
          <p:nvPr/>
        </p:nvSpPr>
        <p:spPr bwMode="auto">
          <a:xfrm rot="816166" flipV="1">
            <a:off x="5384155" y="3622568"/>
            <a:ext cx="807871" cy="29829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6" name="Line 3643"/>
          <p:cNvSpPr>
            <a:spLocks noChangeShapeType="1"/>
          </p:cNvSpPr>
          <p:nvPr/>
        </p:nvSpPr>
        <p:spPr bwMode="auto">
          <a:xfrm rot="816166">
            <a:off x="7539730" y="3585570"/>
            <a:ext cx="884274" cy="15955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7" name="Line 3644"/>
          <p:cNvSpPr>
            <a:spLocks noChangeShapeType="1"/>
          </p:cNvSpPr>
          <p:nvPr/>
        </p:nvSpPr>
        <p:spPr bwMode="auto">
          <a:xfrm rot="816166" flipH="1" flipV="1">
            <a:off x="8672971" y="2975188"/>
            <a:ext cx="70846" cy="59895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8" name="Line 3645"/>
          <p:cNvSpPr>
            <a:spLocks noChangeShapeType="1"/>
          </p:cNvSpPr>
          <p:nvPr/>
        </p:nvSpPr>
        <p:spPr bwMode="auto">
          <a:xfrm rot="816166" flipH="1">
            <a:off x="7821545" y="1980811"/>
            <a:ext cx="457168" cy="115269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9" name="Text Box 3646"/>
          <p:cNvSpPr txBox="1">
            <a:spLocks noChangeArrowheads="1"/>
          </p:cNvSpPr>
          <p:nvPr/>
        </p:nvSpPr>
        <p:spPr bwMode="auto">
          <a:xfrm>
            <a:off x="4362389" y="1533376"/>
            <a:ext cx="7232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获得</a:t>
            </a:r>
          </a:p>
          <a:p>
            <a:pPr algn="ctr"/>
            <a:r>
              <a:rPr kumimoji="1" lang="zh-CN" altLang="en-US" sz="1400" b="1" dirty="0">
                <a:solidFill>
                  <a:sysClr val="windowText" lastClr="000000"/>
                </a:solidFill>
                <a:latin typeface="微软雅黑" pitchFamily="34" charset="-122"/>
                <a:ea typeface="微软雅黑" pitchFamily="34" charset="-122"/>
              </a:rPr>
              <a:t>对等方</a:t>
            </a:r>
          </a:p>
          <a:p>
            <a:pPr algn="ctr"/>
            <a:r>
              <a:rPr kumimoji="1" lang="zh-CN" altLang="en-US" sz="1400" b="1" dirty="0">
                <a:solidFill>
                  <a:sysClr val="windowText" lastClr="000000"/>
                </a:solidFill>
                <a:latin typeface="微软雅黑" pitchFamily="34" charset="-122"/>
                <a:ea typeface="微软雅黑" pitchFamily="34" charset="-122"/>
              </a:rPr>
              <a:t>列表</a:t>
            </a:r>
          </a:p>
        </p:txBody>
      </p:sp>
    </p:spTree>
    <p:custDataLst>
      <p:tags r:id="rId1"/>
    </p:custDataLst>
    <p:extLst>
      <p:ext uri="{BB962C8B-B14F-4D97-AF65-F5344CB8AC3E}">
        <p14:creationId xmlns:p14="http://schemas.microsoft.com/office/powerpoint/2010/main" val="36584378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512939" y="575054"/>
            <a:ext cx="41368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的比特洪流 </a:t>
            </a:r>
            <a:r>
              <a:rPr lang="en-US" altLang="zh-CN" sz="2000" b="1" dirty="0" smtClean="0">
                <a:solidFill>
                  <a:schemeClr val="bg1"/>
                </a:solidFill>
                <a:latin typeface="微软雅黑" pitchFamily="34" charset="-122"/>
                <a:ea typeface="微软雅黑" pitchFamily="34" charset="-122"/>
              </a:rPr>
              <a:t>BT </a:t>
            </a:r>
            <a:r>
              <a:rPr lang="zh-CN" altLang="en-US" sz="2000" b="1" dirty="0" smtClean="0">
                <a:solidFill>
                  <a:schemeClr val="bg1"/>
                </a:solidFill>
                <a:latin typeface="微软雅黑" pitchFamily="34" charset="-122"/>
                <a:ea typeface="微软雅黑" pitchFamily="34" charset="-122"/>
              </a:rPr>
              <a:t>主要特点</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55408" y="1004935"/>
            <a:ext cx="3496459" cy="30931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388" indent="-179388" algn="just"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对等方 </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加入某个 </a:t>
            </a:r>
            <a:r>
              <a:rPr lang="en-US" altLang="zh-CN" sz="1600" b="1" dirty="0" smtClean="0">
                <a:latin typeface="微软雅黑" pitchFamily="34" charset="-122"/>
                <a:ea typeface="微软雅黑" pitchFamily="34" charset="-122"/>
              </a:rPr>
              <a:t>torrent </a:t>
            </a:r>
            <a:r>
              <a:rPr lang="zh-CN" altLang="en-US" sz="1600" b="1" dirty="0" smtClean="0">
                <a:latin typeface="微软雅黑" pitchFamily="34" charset="-122"/>
                <a:ea typeface="微软雅黑" pitchFamily="34" charset="-122"/>
              </a:rPr>
              <a:t>时，首先向</a:t>
            </a:r>
            <a:r>
              <a:rPr lang="zh-CN" altLang="en-US" sz="1600" b="1" dirty="0">
                <a:latin typeface="微软雅黑" pitchFamily="34" charset="-122"/>
                <a:ea typeface="微软雅黑" pitchFamily="34" charset="-122"/>
              </a:rPr>
              <a:t>追踪器</a:t>
            </a:r>
            <a:r>
              <a:rPr lang="zh-CN" altLang="en-US" sz="1600" b="1" dirty="0" smtClean="0">
                <a:latin typeface="微软雅黑" pitchFamily="34" charset="-122"/>
                <a:ea typeface="微软雅黑" pitchFamily="34" charset="-122"/>
              </a:rPr>
              <a:t>登记，并从追踪器那里获得对等方列表。</a:t>
            </a:r>
            <a:endParaRPr lang="en-US" altLang="zh-CN" sz="1600" b="1" dirty="0" smtClean="0">
              <a:latin typeface="微软雅黑" pitchFamily="34" charset="-122"/>
              <a:ea typeface="微软雅黑" pitchFamily="34" charset="-122"/>
            </a:endParaRPr>
          </a:p>
          <a:p>
            <a:pPr marL="179388" indent="-179388" algn="just" hangingPunct="0">
              <a:lnSpc>
                <a:spcPts val="2600"/>
              </a:lnSpc>
              <a:buClr>
                <a:srgbClr val="0070C0"/>
              </a:buClr>
              <a:buFont typeface="Wingdings" pitchFamily="2" charset="2"/>
              <a:buChar char="l"/>
            </a:pPr>
            <a:r>
              <a:rPr lang="en-US" altLang="zh-CN" sz="1600" b="1" dirty="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从列表中选择对等方建立 </a:t>
            </a:r>
            <a:r>
              <a:rPr lang="en-US" altLang="zh-CN" sz="1600" b="1" dirty="0">
                <a:solidFill>
                  <a:srgbClr val="C00000"/>
                </a:solidFill>
                <a:latin typeface="微软雅黑" pitchFamily="34" charset="-122"/>
                <a:ea typeface="微软雅黑" pitchFamily="34" charset="-122"/>
              </a:rPr>
              <a:t>TCP </a:t>
            </a:r>
            <a:r>
              <a:rPr lang="zh-CN" altLang="en-US" sz="1600" b="1" dirty="0" smtClean="0">
                <a:solidFill>
                  <a:srgbClr val="C00000"/>
                </a:solidFill>
                <a:latin typeface="微软雅黑" pitchFamily="34" charset="-122"/>
                <a:ea typeface="微软雅黑" pitchFamily="34" charset="-122"/>
              </a:rPr>
              <a:t>连接</a:t>
            </a:r>
            <a:r>
              <a:rPr lang="zh-CN" altLang="en-US" sz="1600" b="1" dirty="0">
                <a:latin typeface="微软雅黑" pitchFamily="34" charset="-122"/>
                <a:ea typeface="微软雅黑" pitchFamily="34" charset="-122"/>
              </a:rPr>
              <a:t>，随后进行数据块交换</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179388" indent="-179388" hangingPunct="0">
              <a:lnSpc>
                <a:spcPts val="2600"/>
              </a:lnSpc>
              <a:buClr>
                <a:srgbClr val="0070C0"/>
              </a:buClr>
              <a:buFont typeface="Wingdings" pitchFamily="2" charset="2"/>
              <a:buChar char="l"/>
            </a:pPr>
            <a:r>
              <a:rPr lang="zh-CN" altLang="en-US" sz="1600" b="1" dirty="0" smtClean="0">
                <a:latin typeface="微软雅黑" pitchFamily="34" charset="-122"/>
                <a:ea typeface="微软雅黑" pitchFamily="34" charset="-122"/>
              </a:rPr>
              <a:t>所有</a:t>
            </a:r>
            <a:r>
              <a:rPr lang="zh-CN" altLang="en-US" sz="1600" b="1" dirty="0">
                <a:latin typeface="微软雅黑" pitchFamily="34" charset="-122"/>
                <a:ea typeface="微软雅黑" pitchFamily="34" charset="-122"/>
              </a:rPr>
              <a:t>与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建立了 </a:t>
            </a:r>
            <a:r>
              <a:rPr lang="en-US" altLang="zh-CN" sz="1600" b="1" dirty="0">
                <a:latin typeface="微软雅黑" pitchFamily="34" charset="-122"/>
                <a:ea typeface="微软雅黑" pitchFamily="34" charset="-122"/>
              </a:rPr>
              <a:t>TCP </a:t>
            </a:r>
            <a:r>
              <a:rPr lang="zh-CN" altLang="en-US" sz="1600" b="1" dirty="0">
                <a:latin typeface="微软雅黑" pitchFamily="34" charset="-122"/>
                <a:ea typeface="微软雅黑" pitchFamily="34" charset="-122"/>
              </a:rPr>
              <a:t>连接的对等</a:t>
            </a:r>
            <a:r>
              <a:rPr lang="zh-CN" altLang="en-US" sz="1600" b="1" dirty="0" smtClean="0">
                <a:latin typeface="微软雅黑" pitchFamily="34" charset="-122"/>
                <a:ea typeface="微软雅黑" pitchFamily="34" charset="-122"/>
              </a:rPr>
              <a:t>方称为</a:t>
            </a:r>
            <a:r>
              <a:rPr lang="en-US" altLang="zh-CN" sz="1600" b="1" dirty="0" smtClean="0">
                <a:latin typeface="微软雅黑" pitchFamily="34" charset="-122"/>
                <a:ea typeface="微软雅黑" pitchFamily="34" charset="-122"/>
              </a:rPr>
              <a:t>A</a:t>
            </a:r>
            <a:r>
              <a:rPr lang="zh-CN" altLang="en-US" sz="1600" b="1" dirty="0" smtClean="0">
                <a:latin typeface="微软雅黑" pitchFamily="34" charset="-122"/>
                <a:ea typeface="微软雅黑" pitchFamily="34" charset="-122"/>
              </a:rPr>
              <a:t>的</a:t>
            </a:r>
            <a:r>
              <a:rPr lang="zh-CN" altLang="en-US" sz="1600" b="1" dirty="0">
                <a:solidFill>
                  <a:srgbClr val="C00000"/>
                </a:solidFill>
                <a:latin typeface="微软雅黑" pitchFamily="34" charset="-122"/>
                <a:ea typeface="微软雅黑" pitchFamily="34" charset="-122"/>
              </a:rPr>
              <a:t>相邻对等方</a:t>
            </a:r>
            <a:r>
              <a:rPr lang="en-US" altLang="zh-CN" sz="1600" b="1" dirty="0">
                <a:latin typeface="微软雅黑" pitchFamily="34" charset="-122"/>
                <a:ea typeface="微软雅黑" pitchFamily="34" charset="-122"/>
              </a:rPr>
              <a:t>(neighboring peers)</a:t>
            </a:r>
            <a:r>
              <a:rPr lang="zh-CN" altLang="en-US" sz="1600" b="1" dirty="0">
                <a:latin typeface="微软雅黑" pitchFamily="34" charset="-122"/>
                <a:ea typeface="微软雅黑" pitchFamily="34" charset="-122"/>
              </a:rPr>
              <a:t>。</a:t>
            </a:r>
          </a:p>
          <a:p>
            <a:pPr marL="179388" indent="-179388" algn="just" hangingPunct="0">
              <a:lnSpc>
                <a:spcPts val="2600"/>
              </a:lnSpc>
              <a:buClr>
                <a:srgbClr val="0070C0"/>
              </a:buClr>
              <a:buFont typeface="Wingdings" pitchFamily="2" charset="2"/>
              <a:buChar char="l"/>
            </a:pPr>
            <a:endParaRPr lang="en-US" altLang="zh-CN" sz="1600" b="1" dirty="0" smtClean="0">
              <a:latin typeface="微软雅黑" pitchFamily="34" charset="-122"/>
              <a:ea typeface="微软雅黑" pitchFamily="34" charset="-122"/>
            </a:endParaRPr>
          </a:p>
        </p:txBody>
      </p:sp>
      <p:sp>
        <p:nvSpPr>
          <p:cNvPr id="32"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33" name="圆角矩形 32"/>
          <p:cNvSpPr/>
          <p:nvPr/>
        </p:nvSpPr>
        <p:spPr>
          <a:xfrm>
            <a:off x="4051299" y="1080056"/>
            <a:ext cx="4987509"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1080" y="2325241"/>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51910" y="352277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29206" y="34174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65310" y="305743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89446"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89446" y="16172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61454" y="240936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86982" y="121266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2" name="图片 4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238549" y="1276805"/>
            <a:ext cx="485811" cy="680135"/>
          </a:xfrm>
          <a:prstGeom prst="rect">
            <a:avLst/>
          </a:prstGeom>
        </p:spPr>
      </p:pic>
      <p:sp>
        <p:nvSpPr>
          <p:cNvPr id="43" name="Text Box 457"/>
          <p:cNvSpPr txBox="1">
            <a:spLocks noChangeArrowheads="1"/>
          </p:cNvSpPr>
          <p:nvPr/>
        </p:nvSpPr>
        <p:spPr bwMode="auto">
          <a:xfrm>
            <a:off x="6490570" y="2320032"/>
            <a:ext cx="10823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交换文件块</a:t>
            </a:r>
          </a:p>
        </p:txBody>
      </p:sp>
      <p:sp>
        <p:nvSpPr>
          <p:cNvPr id="44" name="Text Box 459"/>
          <p:cNvSpPr txBox="1">
            <a:spLocks noChangeArrowheads="1"/>
          </p:cNvSpPr>
          <p:nvPr/>
        </p:nvSpPr>
        <p:spPr bwMode="auto">
          <a:xfrm>
            <a:off x="5671230" y="149141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追踪器</a:t>
            </a:r>
          </a:p>
        </p:txBody>
      </p:sp>
      <p:sp>
        <p:nvSpPr>
          <p:cNvPr id="45" name="Line 2725"/>
          <p:cNvSpPr>
            <a:spLocks noChangeShapeType="1"/>
          </p:cNvSpPr>
          <p:nvPr/>
        </p:nvSpPr>
        <p:spPr bwMode="auto">
          <a:xfrm rot="816166">
            <a:off x="4896006" y="2919467"/>
            <a:ext cx="1419021" cy="393179"/>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6" name="Text Box 2726"/>
          <p:cNvSpPr txBox="1">
            <a:spLocks noChangeArrowheads="1"/>
          </p:cNvSpPr>
          <p:nvPr/>
        </p:nvSpPr>
        <p:spPr bwMode="auto">
          <a:xfrm>
            <a:off x="4202477" y="2325241"/>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b="1" dirty="0">
                <a:solidFill>
                  <a:sysClr val="windowText" lastClr="000000"/>
                </a:solidFill>
                <a:latin typeface="微软雅黑" pitchFamily="34" charset="-122"/>
                <a:ea typeface="微软雅黑" pitchFamily="34" charset="-122"/>
              </a:rPr>
              <a:t>A</a:t>
            </a:r>
            <a:endParaRPr kumimoji="1" lang="en-US" altLang="zh-CN" sz="1400" b="1" i="1" dirty="0">
              <a:solidFill>
                <a:sysClr val="windowText" lastClr="000000"/>
              </a:solidFill>
              <a:latin typeface="微软雅黑" pitchFamily="34" charset="-122"/>
              <a:ea typeface="微软雅黑" pitchFamily="34" charset="-122"/>
            </a:endParaRPr>
          </a:p>
        </p:txBody>
      </p:sp>
      <p:sp>
        <p:nvSpPr>
          <p:cNvPr id="47" name="Line 2727"/>
          <p:cNvSpPr>
            <a:spLocks noChangeShapeType="1"/>
          </p:cNvSpPr>
          <p:nvPr/>
        </p:nvSpPr>
        <p:spPr bwMode="auto">
          <a:xfrm rot="816166" flipV="1">
            <a:off x="5007480" y="2298505"/>
            <a:ext cx="3451284" cy="79715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8" name="Line 2728"/>
          <p:cNvSpPr>
            <a:spLocks noChangeShapeType="1"/>
          </p:cNvSpPr>
          <p:nvPr/>
        </p:nvSpPr>
        <p:spPr bwMode="auto">
          <a:xfrm rot="816166" flipV="1">
            <a:off x="5082452" y="1571222"/>
            <a:ext cx="1624071" cy="121677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49" name="Line 2729"/>
          <p:cNvSpPr>
            <a:spLocks noChangeShapeType="1"/>
          </p:cNvSpPr>
          <p:nvPr/>
        </p:nvSpPr>
        <p:spPr bwMode="auto">
          <a:xfrm rot="816166" flipV="1">
            <a:off x="4824228" y="1808544"/>
            <a:ext cx="370744" cy="73185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0" name="Line 3637"/>
          <p:cNvSpPr>
            <a:spLocks noChangeShapeType="1"/>
          </p:cNvSpPr>
          <p:nvPr/>
        </p:nvSpPr>
        <p:spPr bwMode="auto">
          <a:xfrm rot="816166">
            <a:off x="6909660" y="2001298"/>
            <a:ext cx="1703238" cy="134908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1" name="Line 3638"/>
          <p:cNvSpPr>
            <a:spLocks noChangeShapeType="1"/>
          </p:cNvSpPr>
          <p:nvPr/>
        </p:nvSpPr>
        <p:spPr bwMode="auto">
          <a:xfrm rot="816166" flipV="1">
            <a:off x="7299248" y="1672115"/>
            <a:ext cx="1090939" cy="107523"/>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2" name="Line 3639"/>
          <p:cNvSpPr>
            <a:spLocks noChangeShapeType="1"/>
          </p:cNvSpPr>
          <p:nvPr/>
        </p:nvSpPr>
        <p:spPr bwMode="auto">
          <a:xfrm rot="816166" flipH="1">
            <a:off x="5610860" y="1687145"/>
            <a:ext cx="1152312" cy="214237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3" name="Line 3640"/>
          <p:cNvSpPr>
            <a:spLocks noChangeShapeType="1"/>
          </p:cNvSpPr>
          <p:nvPr/>
        </p:nvSpPr>
        <p:spPr bwMode="auto">
          <a:xfrm rot="816166">
            <a:off x="7250977" y="1915140"/>
            <a:ext cx="1277756" cy="41972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4" name="Line 3641"/>
          <p:cNvSpPr>
            <a:spLocks noChangeShapeType="1"/>
          </p:cNvSpPr>
          <p:nvPr/>
        </p:nvSpPr>
        <p:spPr bwMode="auto">
          <a:xfrm rot="816166" flipV="1">
            <a:off x="6771939" y="3325434"/>
            <a:ext cx="462178" cy="297134"/>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5" name="Line 3642"/>
          <p:cNvSpPr>
            <a:spLocks noChangeShapeType="1"/>
          </p:cNvSpPr>
          <p:nvPr/>
        </p:nvSpPr>
        <p:spPr bwMode="auto">
          <a:xfrm rot="816166" flipV="1">
            <a:off x="5384155" y="3622568"/>
            <a:ext cx="807871" cy="29829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6" name="Line 3643"/>
          <p:cNvSpPr>
            <a:spLocks noChangeShapeType="1"/>
          </p:cNvSpPr>
          <p:nvPr/>
        </p:nvSpPr>
        <p:spPr bwMode="auto">
          <a:xfrm rot="816166">
            <a:off x="7539730" y="3585570"/>
            <a:ext cx="884274" cy="15955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7" name="Line 3644"/>
          <p:cNvSpPr>
            <a:spLocks noChangeShapeType="1"/>
          </p:cNvSpPr>
          <p:nvPr/>
        </p:nvSpPr>
        <p:spPr bwMode="auto">
          <a:xfrm rot="816166" flipH="1" flipV="1">
            <a:off x="8672971" y="2975188"/>
            <a:ext cx="70846" cy="59895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8" name="Line 3645"/>
          <p:cNvSpPr>
            <a:spLocks noChangeShapeType="1"/>
          </p:cNvSpPr>
          <p:nvPr/>
        </p:nvSpPr>
        <p:spPr bwMode="auto">
          <a:xfrm rot="816166" flipH="1">
            <a:off x="7821545" y="1980811"/>
            <a:ext cx="457168" cy="115269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59" name="Text Box 3646"/>
          <p:cNvSpPr txBox="1">
            <a:spLocks noChangeArrowheads="1"/>
          </p:cNvSpPr>
          <p:nvPr/>
        </p:nvSpPr>
        <p:spPr bwMode="auto">
          <a:xfrm>
            <a:off x="4362389" y="1533376"/>
            <a:ext cx="7232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获得</a:t>
            </a:r>
          </a:p>
          <a:p>
            <a:pPr algn="ctr"/>
            <a:r>
              <a:rPr kumimoji="1" lang="zh-CN" altLang="en-US" sz="1400" b="1" dirty="0">
                <a:solidFill>
                  <a:sysClr val="windowText" lastClr="000000"/>
                </a:solidFill>
                <a:latin typeface="微软雅黑" pitchFamily="34" charset="-122"/>
                <a:ea typeface="微软雅黑" pitchFamily="34" charset="-122"/>
              </a:rPr>
              <a:t>对等方</a:t>
            </a:r>
          </a:p>
          <a:p>
            <a:pPr algn="ctr"/>
            <a:r>
              <a:rPr kumimoji="1" lang="zh-CN" altLang="en-US" sz="1400" b="1" dirty="0">
                <a:solidFill>
                  <a:sysClr val="windowText" lastClr="000000"/>
                </a:solidFill>
                <a:latin typeface="微软雅黑" pitchFamily="34" charset="-122"/>
                <a:ea typeface="微软雅黑" pitchFamily="34" charset="-122"/>
              </a:rPr>
              <a:t>列表</a:t>
            </a:r>
          </a:p>
        </p:txBody>
      </p:sp>
    </p:spTree>
    <p:custDataLst>
      <p:tags r:id="rId1"/>
    </p:custDataLst>
    <p:extLst>
      <p:ext uri="{BB962C8B-B14F-4D97-AF65-F5344CB8AC3E}">
        <p14:creationId xmlns:p14="http://schemas.microsoft.com/office/powerpoint/2010/main" val="3004058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500"/>
                                        <p:tgtEl>
                                          <p:spTgt spid="4">
                                            <p:txEl>
                                              <p:pRg st="1" end="1"/>
                                            </p:txEl>
                                          </p:spTgt>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4">
                                            <p:txEl>
                                              <p:pRg st="2" end="2"/>
                                            </p:txEl>
                                          </p:spTgt>
                                        </p:tgtEl>
                                        <p:attrNameLst>
                                          <p:attrName>style.visibility</p:attrName>
                                        </p:attrNameLst>
                                      </p:cBhvr>
                                      <p:to>
                                        <p:strVal val="visible"/>
                                      </p:to>
                                    </p:set>
                                    <p:animEffect transition="in" filter="fade">
                                      <p:cBhvr>
                                        <p:cTn id="16"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1795986" y="575054"/>
            <a:ext cx="55707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相邻关系是逻辑的，对等</a:t>
            </a:r>
            <a:r>
              <a:rPr lang="zh-CN" altLang="en-US" sz="2000" b="1" dirty="0">
                <a:solidFill>
                  <a:schemeClr val="bg1"/>
                </a:solidFill>
                <a:latin typeface="微软雅黑" pitchFamily="34" charset="-122"/>
                <a:ea typeface="微软雅黑" pitchFamily="34" charset="-122"/>
              </a:rPr>
              <a:t>方的</a:t>
            </a:r>
            <a:r>
              <a:rPr lang="zh-CN" altLang="en-US" sz="2000" b="1" dirty="0" smtClean="0">
                <a:solidFill>
                  <a:schemeClr val="bg1"/>
                </a:solidFill>
                <a:latin typeface="微软雅黑" pitchFamily="34" charset="-122"/>
                <a:ea typeface="微软雅黑" pitchFamily="34" charset="-122"/>
              </a:rPr>
              <a:t>数目也会动态变化</a:t>
            </a:r>
            <a:endParaRPr lang="zh-CN" altLang="en-US" sz="2000" b="1" dirty="0">
              <a:solidFill>
                <a:schemeClr val="bg1"/>
              </a:solidFill>
              <a:latin typeface="微软雅黑" pitchFamily="34" charset="-122"/>
              <a:ea typeface="微软雅黑" pitchFamily="34" charset="-122"/>
            </a:endParaRPr>
          </a:p>
        </p:txBody>
      </p:sp>
      <p:grpSp>
        <p:nvGrpSpPr>
          <p:cNvPr id="6" name="组合 5"/>
          <p:cNvGrpSpPr/>
          <p:nvPr/>
        </p:nvGrpSpPr>
        <p:grpSpPr>
          <a:xfrm>
            <a:off x="1012053" y="1189440"/>
            <a:ext cx="7199791" cy="2805511"/>
            <a:chOff x="107950" y="117307"/>
            <a:chExt cx="8928100" cy="4607093"/>
          </a:xfrm>
        </p:grpSpPr>
        <p:sp>
          <p:nvSpPr>
            <p:cNvPr id="32" name="平行四边形 5697"/>
            <p:cNvSpPr>
              <a:spLocks noChangeArrowheads="1"/>
            </p:cNvSpPr>
            <p:nvPr/>
          </p:nvSpPr>
          <p:spPr bwMode="auto">
            <a:xfrm>
              <a:off x="107950" y="2565400"/>
              <a:ext cx="8928100" cy="2159000"/>
            </a:xfrm>
            <a:prstGeom prst="parallelogram">
              <a:avLst>
                <a:gd name="adj" fmla="val 76618"/>
              </a:avLst>
            </a:prstGeom>
            <a:solidFill>
              <a:schemeClr val="bg1">
                <a:lumMod val="95000"/>
              </a:schemeClr>
            </a:solidFill>
            <a:ln w="9525" algn="ctr">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33" name="平行四边形 5697"/>
            <p:cNvSpPr>
              <a:spLocks noChangeArrowheads="1"/>
            </p:cNvSpPr>
            <p:nvPr/>
          </p:nvSpPr>
          <p:spPr bwMode="auto">
            <a:xfrm>
              <a:off x="107950" y="260350"/>
              <a:ext cx="8928100" cy="2160588"/>
            </a:xfrm>
            <a:prstGeom prst="parallelogram">
              <a:avLst>
                <a:gd name="adj" fmla="val 76561"/>
              </a:avLst>
            </a:prstGeom>
            <a:solidFill>
              <a:srgbClr val="66FF66"/>
            </a:solidFill>
            <a:ln w="9525" algn="ctr">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34" name="直接连接符 8002"/>
            <p:cNvCxnSpPr>
              <a:cxnSpLocks noChangeShapeType="1"/>
              <a:stCxn id="518" idx="1"/>
            </p:cNvCxnSpPr>
            <p:nvPr/>
          </p:nvCxnSpPr>
          <p:spPr bwMode="auto">
            <a:xfrm flipH="1" flipV="1">
              <a:off x="2987675" y="3933825"/>
              <a:ext cx="176213" cy="4635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5" name="直接连接符 8006"/>
            <p:cNvCxnSpPr>
              <a:cxnSpLocks noChangeShapeType="1"/>
              <a:stCxn id="521" idx="2"/>
            </p:cNvCxnSpPr>
            <p:nvPr/>
          </p:nvCxnSpPr>
          <p:spPr bwMode="auto">
            <a:xfrm flipH="1">
              <a:off x="5076825" y="3249613"/>
              <a:ext cx="1150938"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6" name="直接连接符 8000"/>
            <p:cNvCxnSpPr>
              <a:cxnSpLocks noChangeShapeType="1"/>
              <a:stCxn id="516" idx="6"/>
            </p:cNvCxnSpPr>
            <p:nvPr/>
          </p:nvCxnSpPr>
          <p:spPr bwMode="auto">
            <a:xfrm flipV="1">
              <a:off x="1042988" y="3860800"/>
              <a:ext cx="1368425" cy="5397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7998"/>
            <p:cNvCxnSpPr>
              <a:cxnSpLocks noChangeShapeType="1"/>
              <a:stCxn id="517" idx="5"/>
            </p:cNvCxnSpPr>
            <p:nvPr/>
          </p:nvCxnSpPr>
          <p:spPr bwMode="auto">
            <a:xfrm>
              <a:off x="2163763" y="3036888"/>
              <a:ext cx="392112" cy="53657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8004"/>
            <p:cNvCxnSpPr>
              <a:cxnSpLocks noChangeShapeType="1"/>
              <a:stCxn id="518" idx="3"/>
            </p:cNvCxnSpPr>
            <p:nvPr/>
          </p:nvCxnSpPr>
          <p:spPr bwMode="auto">
            <a:xfrm flipV="1">
              <a:off x="3163888" y="3500438"/>
              <a:ext cx="1552575" cy="10493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8015"/>
            <p:cNvCxnSpPr>
              <a:cxnSpLocks noChangeShapeType="1"/>
              <a:stCxn id="519" idx="2"/>
            </p:cNvCxnSpPr>
            <p:nvPr/>
          </p:nvCxnSpPr>
          <p:spPr bwMode="auto">
            <a:xfrm flipH="1" flipV="1">
              <a:off x="4932363" y="3429000"/>
              <a:ext cx="792162" cy="900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8013"/>
            <p:cNvCxnSpPr>
              <a:cxnSpLocks noChangeShapeType="1"/>
              <a:stCxn id="519" idx="7"/>
            </p:cNvCxnSpPr>
            <p:nvPr/>
          </p:nvCxnSpPr>
          <p:spPr bwMode="auto">
            <a:xfrm flipV="1">
              <a:off x="5908675" y="3933825"/>
              <a:ext cx="750888" cy="3190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8011"/>
            <p:cNvCxnSpPr>
              <a:cxnSpLocks noChangeShapeType="1"/>
              <a:stCxn id="522" idx="2"/>
            </p:cNvCxnSpPr>
            <p:nvPr/>
          </p:nvCxnSpPr>
          <p:spPr bwMode="auto">
            <a:xfrm flipH="1">
              <a:off x="7308850" y="3536950"/>
              <a:ext cx="503238" cy="2524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8008"/>
            <p:cNvCxnSpPr>
              <a:cxnSpLocks noChangeShapeType="1"/>
              <a:stCxn id="520" idx="4"/>
            </p:cNvCxnSpPr>
            <p:nvPr/>
          </p:nvCxnSpPr>
          <p:spPr bwMode="auto">
            <a:xfrm flipH="1">
              <a:off x="7019925" y="3070225"/>
              <a:ext cx="180975" cy="646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Text Box 510"/>
            <p:cNvSpPr txBox="1">
              <a:spLocks noChangeArrowheads="1"/>
            </p:cNvSpPr>
            <p:nvPr/>
          </p:nvSpPr>
          <p:spPr bwMode="auto">
            <a:xfrm rot="20956220">
              <a:off x="2819913" y="661909"/>
              <a:ext cx="115480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TCP </a:t>
              </a:r>
              <a:r>
                <a:rPr lang="zh-CN" altLang="en-US" sz="1100" b="1" dirty="0">
                  <a:latin typeface="微软雅黑" panose="020B0503020204020204" pitchFamily="34" charset="-122"/>
                  <a:ea typeface="微软雅黑" panose="020B0503020204020204" pitchFamily="34" charset="-122"/>
                </a:rPr>
                <a:t>连接</a:t>
              </a:r>
            </a:p>
          </p:txBody>
        </p:sp>
        <p:graphicFrame>
          <p:nvGraphicFramePr>
            <p:cNvPr id="44" name="Object 1188">
              <a:hlinkClick r:id="" action="ppaction://ole?verb=0"/>
            </p:cNvPr>
            <p:cNvGraphicFramePr>
              <a:graphicFrameLocks/>
            </p:cNvGraphicFramePr>
            <p:nvPr>
              <p:extLst/>
            </p:nvPr>
          </p:nvGraphicFramePr>
          <p:xfrm>
            <a:off x="1979613" y="404813"/>
            <a:ext cx="360362" cy="647700"/>
          </p:xfrm>
          <a:graphic>
            <a:graphicData uri="http://schemas.openxmlformats.org/presentationml/2006/ole">
              <mc:AlternateContent xmlns:mc="http://schemas.openxmlformats.org/markup-compatibility/2006">
                <mc:Choice xmlns:v="urn:schemas-microsoft-com:vml" Requires="v">
                  <p:oleObj spid="_x0000_s30827" name="Microsoft ClipArt Gallery" r:id="rId4" imgW="2735263" imgH="3825875" progId="">
                    <p:embed/>
                  </p:oleObj>
                </mc:Choice>
                <mc:Fallback>
                  <p:oleObj name="Microsoft ClipArt Gallery" r:id="rId4" imgW="2735263" imgH="3825875" progId="">
                    <p:embed/>
                    <p:pic>
                      <p:nvPicPr>
                        <p:cNvPr id="44" name="Object 1188">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79613" y="404813"/>
                          <a:ext cx="360362"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 name="Text Box 1189"/>
            <p:cNvSpPr txBox="1">
              <a:spLocks noChangeArrowheads="1"/>
            </p:cNvSpPr>
            <p:nvPr/>
          </p:nvSpPr>
          <p:spPr bwMode="auto">
            <a:xfrm>
              <a:off x="2268539" y="333375"/>
              <a:ext cx="913458"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追踪器</a:t>
              </a:r>
            </a:p>
          </p:txBody>
        </p:sp>
        <p:grpSp>
          <p:nvGrpSpPr>
            <p:cNvPr id="46" name="Group 2096"/>
            <p:cNvGrpSpPr>
              <a:grpSpLocks/>
            </p:cNvGrpSpPr>
            <p:nvPr/>
          </p:nvGrpSpPr>
          <p:grpSpPr bwMode="auto">
            <a:xfrm>
              <a:off x="6659563" y="549275"/>
              <a:ext cx="433387" cy="328613"/>
              <a:chOff x="624" y="2968"/>
              <a:chExt cx="1331" cy="920"/>
            </a:xfrm>
          </p:grpSpPr>
          <p:sp>
            <p:nvSpPr>
              <p:cNvPr id="47"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9" name="Group 2109"/>
              <p:cNvGrpSpPr>
                <a:grpSpLocks/>
              </p:cNvGrpSpPr>
              <p:nvPr/>
            </p:nvGrpSpPr>
            <p:grpSpPr bwMode="auto">
              <a:xfrm>
                <a:off x="700" y="3526"/>
                <a:ext cx="515" cy="270"/>
                <a:chOff x="700" y="3526"/>
                <a:chExt cx="515" cy="270"/>
              </a:xfrm>
            </p:grpSpPr>
            <p:grpSp>
              <p:nvGrpSpPr>
                <p:cNvPr id="85" name="Group 2110"/>
                <p:cNvGrpSpPr>
                  <a:grpSpLocks/>
                </p:cNvGrpSpPr>
                <p:nvPr/>
              </p:nvGrpSpPr>
              <p:grpSpPr bwMode="auto">
                <a:xfrm>
                  <a:off x="737" y="3534"/>
                  <a:ext cx="49" cy="23"/>
                  <a:chOff x="737" y="3534"/>
                  <a:chExt cx="49" cy="23"/>
                </a:xfrm>
              </p:grpSpPr>
              <p:sp>
                <p:nvSpPr>
                  <p:cNvPr id="4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 name="Group 2114"/>
                <p:cNvGrpSpPr>
                  <a:grpSpLocks/>
                </p:cNvGrpSpPr>
                <p:nvPr/>
              </p:nvGrpSpPr>
              <p:grpSpPr bwMode="auto">
                <a:xfrm>
                  <a:off x="748" y="3547"/>
                  <a:ext cx="50" cy="23"/>
                  <a:chOff x="748" y="3547"/>
                  <a:chExt cx="50" cy="23"/>
                </a:xfrm>
              </p:grpSpPr>
              <p:sp>
                <p:nvSpPr>
                  <p:cNvPr id="4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87"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1" name="Group 2122"/>
                <p:cNvGrpSpPr>
                  <a:grpSpLocks/>
                </p:cNvGrpSpPr>
                <p:nvPr/>
              </p:nvGrpSpPr>
              <p:grpSpPr bwMode="auto">
                <a:xfrm>
                  <a:off x="872" y="3547"/>
                  <a:ext cx="50" cy="23"/>
                  <a:chOff x="872" y="3547"/>
                  <a:chExt cx="50" cy="23"/>
                </a:xfrm>
              </p:grpSpPr>
              <p:sp>
                <p:nvSpPr>
                  <p:cNvPr id="4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 name="Group 2126"/>
                <p:cNvGrpSpPr>
                  <a:grpSpLocks/>
                </p:cNvGrpSpPr>
                <p:nvPr/>
              </p:nvGrpSpPr>
              <p:grpSpPr bwMode="auto">
                <a:xfrm>
                  <a:off x="885" y="3559"/>
                  <a:ext cx="50" cy="23"/>
                  <a:chOff x="885" y="3559"/>
                  <a:chExt cx="50" cy="23"/>
                </a:xfrm>
              </p:grpSpPr>
              <p:sp>
                <p:nvSpPr>
                  <p:cNvPr id="4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 name="Group 2130"/>
                <p:cNvGrpSpPr>
                  <a:grpSpLocks/>
                </p:cNvGrpSpPr>
                <p:nvPr/>
              </p:nvGrpSpPr>
              <p:grpSpPr bwMode="auto">
                <a:xfrm>
                  <a:off x="898" y="3571"/>
                  <a:ext cx="49" cy="23"/>
                  <a:chOff x="898" y="3571"/>
                  <a:chExt cx="49" cy="23"/>
                </a:xfrm>
              </p:grpSpPr>
              <p:sp>
                <p:nvSpPr>
                  <p:cNvPr id="4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 name="Group 2134"/>
                <p:cNvGrpSpPr>
                  <a:grpSpLocks/>
                </p:cNvGrpSpPr>
                <p:nvPr/>
              </p:nvGrpSpPr>
              <p:grpSpPr bwMode="auto">
                <a:xfrm>
                  <a:off x="911" y="3585"/>
                  <a:ext cx="49" cy="23"/>
                  <a:chOff x="911" y="3585"/>
                  <a:chExt cx="49" cy="23"/>
                </a:xfrm>
              </p:grpSpPr>
              <p:sp>
                <p:nvSpPr>
                  <p:cNvPr id="4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 name="Group 2138"/>
                <p:cNvGrpSpPr>
                  <a:grpSpLocks/>
                </p:cNvGrpSpPr>
                <p:nvPr/>
              </p:nvGrpSpPr>
              <p:grpSpPr bwMode="auto">
                <a:xfrm>
                  <a:off x="923" y="3600"/>
                  <a:ext cx="99" cy="73"/>
                  <a:chOff x="923" y="3600"/>
                  <a:chExt cx="99" cy="73"/>
                </a:xfrm>
              </p:grpSpPr>
              <p:grpSp>
                <p:nvGrpSpPr>
                  <p:cNvPr id="463" name="Group 2139"/>
                  <p:cNvGrpSpPr>
                    <a:grpSpLocks/>
                  </p:cNvGrpSpPr>
                  <p:nvPr/>
                </p:nvGrpSpPr>
                <p:grpSpPr bwMode="auto">
                  <a:xfrm>
                    <a:off x="923" y="3600"/>
                    <a:ext cx="49" cy="23"/>
                    <a:chOff x="923" y="3600"/>
                    <a:chExt cx="49" cy="23"/>
                  </a:xfrm>
                </p:grpSpPr>
                <p:sp>
                  <p:nvSpPr>
                    <p:cNvPr id="4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4" name="Group 2143"/>
                  <p:cNvGrpSpPr>
                    <a:grpSpLocks/>
                  </p:cNvGrpSpPr>
                  <p:nvPr/>
                </p:nvGrpSpPr>
                <p:grpSpPr bwMode="auto">
                  <a:xfrm>
                    <a:off x="935" y="3612"/>
                    <a:ext cx="48" cy="23"/>
                    <a:chOff x="935" y="3612"/>
                    <a:chExt cx="48" cy="23"/>
                  </a:xfrm>
                </p:grpSpPr>
                <p:sp>
                  <p:nvSpPr>
                    <p:cNvPr id="4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5" name="Group 2147"/>
                  <p:cNvGrpSpPr>
                    <a:grpSpLocks/>
                  </p:cNvGrpSpPr>
                  <p:nvPr/>
                </p:nvGrpSpPr>
                <p:grpSpPr bwMode="auto">
                  <a:xfrm>
                    <a:off x="947" y="3625"/>
                    <a:ext cx="50" cy="22"/>
                    <a:chOff x="947" y="3625"/>
                    <a:chExt cx="50" cy="22"/>
                  </a:xfrm>
                </p:grpSpPr>
                <p:sp>
                  <p:nvSpPr>
                    <p:cNvPr id="4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6" name="Group 2151"/>
                  <p:cNvGrpSpPr>
                    <a:grpSpLocks/>
                  </p:cNvGrpSpPr>
                  <p:nvPr/>
                </p:nvGrpSpPr>
                <p:grpSpPr bwMode="auto">
                  <a:xfrm>
                    <a:off x="960" y="3637"/>
                    <a:ext cx="50" cy="23"/>
                    <a:chOff x="960" y="3637"/>
                    <a:chExt cx="50" cy="23"/>
                  </a:xfrm>
                </p:grpSpPr>
                <p:sp>
                  <p:nvSpPr>
                    <p:cNvPr id="4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7" name="Group 2155"/>
                  <p:cNvGrpSpPr>
                    <a:grpSpLocks/>
                  </p:cNvGrpSpPr>
                  <p:nvPr/>
                </p:nvGrpSpPr>
                <p:grpSpPr bwMode="auto">
                  <a:xfrm>
                    <a:off x="973" y="3650"/>
                    <a:ext cx="49" cy="23"/>
                    <a:chOff x="973" y="3650"/>
                    <a:chExt cx="49" cy="23"/>
                  </a:xfrm>
                </p:grpSpPr>
                <p:sp>
                  <p:nvSpPr>
                    <p:cNvPr id="4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6" name="Group 2159"/>
                <p:cNvGrpSpPr>
                  <a:grpSpLocks/>
                </p:cNvGrpSpPr>
                <p:nvPr/>
              </p:nvGrpSpPr>
              <p:grpSpPr bwMode="auto">
                <a:xfrm>
                  <a:off x="985" y="3665"/>
                  <a:ext cx="100" cy="73"/>
                  <a:chOff x="985" y="3665"/>
                  <a:chExt cx="100" cy="73"/>
                </a:xfrm>
              </p:grpSpPr>
              <p:grpSp>
                <p:nvGrpSpPr>
                  <p:cNvPr id="441" name="Group 2160"/>
                  <p:cNvGrpSpPr>
                    <a:grpSpLocks/>
                  </p:cNvGrpSpPr>
                  <p:nvPr/>
                </p:nvGrpSpPr>
                <p:grpSpPr bwMode="auto">
                  <a:xfrm>
                    <a:off x="985" y="3665"/>
                    <a:ext cx="50" cy="23"/>
                    <a:chOff x="985" y="3665"/>
                    <a:chExt cx="50" cy="23"/>
                  </a:xfrm>
                </p:grpSpPr>
                <p:sp>
                  <p:nvSpPr>
                    <p:cNvPr id="458"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2" name="Group 2164"/>
                  <p:cNvGrpSpPr>
                    <a:grpSpLocks/>
                  </p:cNvGrpSpPr>
                  <p:nvPr/>
                </p:nvGrpSpPr>
                <p:grpSpPr bwMode="auto">
                  <a:xfrm>
                    <a:off x="997" y="3677"/>
                    <a:ext cx="49" cy="23"/>
                    <a:chOff x="997" y="3677"/>
                    <a:chExt cx="49" cy="23"/>
                  </a:xfrm>
                </p:grpSpPr>
                <p:sp>
                  <p:nvSpPr>
                    <p:cNvPr id="455"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6"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7"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3" name="Group 2168"/>
                  <p:cNvGrpSpPr>
                    <a:grpSpLocks/>
                  </p:cNvGrpSpPr>
                  <p:nvPr/>
                </p:nvGrpSpPr>
                <p:grpSpPr bwMode="auto">
                  <a:xfrm>
                    <a:off x="1010" y="3690"/>
                    <a:ext cx="48" cy="23"/>
                    <a:chOff x="1010" y="3690"/>
                    <a:chExt cx="48" cy="23"/>
                  </a:xfrm>
                </p:grpSpPr>
                <p:sp>
                  <p:nvSpPr>
                    <p:cNvPr id="452"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3"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4"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4" name="Group 2172"/>
                  <p:cNvGrpSpPr>
                    <a:grpSpLocks/>
                  </p:cNvGrpSpPr>
                  <p:nvPr/>
                </p:nvGrpSpPr>
                <p:grpSpPr bwMode="auto">
                  <a:xfrm>
                    <a:off x="1023" y="3703"/>
                    <a:ext cx="49" cy="22"/>
                    <a:chOff x="1023" y="3703"/>
                    <a:chExt cx="49" cy="22"/>
                  </a:xfrm>
                </p:grpSpPr>
                <p:sp>
                  <p:nvSpPr>
                    <p:cNvPr id="449"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0"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1"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5" name="Group 2176"/>
                  <p:cNvGrpSpPr>
                    <a:grpSpLocks/>
                  </p:cNvGrpSpPr>
                  <p:nvPr/>
                </p:nvGrpSpPr>
                <p:grpSpPr bwMode="auto">
                  <a:xfrm>
                    <a:off x="1036" y="3716"/>
                    <a:ext cx="49" cy="22"/>
                    <a:chOff x="1036" y="3716"/>
                    <a:chExt cx="49" cy="22"/>
                  </a:xfrm>
                </p:grpSpPr>
                <p:sp>
                  <p:nvSpPr>
                    <p:cNvPr id="446"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7"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8"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7" name="Group 2180"/>
                <p:cNvGrpSpPr>
                  <a:grpSpLocks/>
                </p:cNvGrpSpPr>
                <p:nvPr/>
              </p:nvGrpSpPr>
              <p:grpSpPr bwMode="auto">
                <a:xfrm>
                  <a:off x="1046" y="3727"/>
                  <a:ext cx="49" cy="23"/>
                  <a:chOff x="1046" y="3727"/>
                  <a:chExt cx="49" cy="23"/>
                </a:xfrm>
              </p:grpSpPr>
              <p:sp>
                <p:nvSpPr>
                  <p:cNvPr id="438"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9"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0"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8" name="Group 2184"/>
                <p:cNvGrpSpPr>
                  <a:grpSpLocks/>
                </p:cNvGrpSpPr>
                <p:nvPr/>
              </p:nvGrpSpPr>
              <p:grpSpPr bwMode="auto">
                <a:xfrm>
                  <a:off x="1058" y="3739"/>
                  <a:ext cx="50" cy="23"/>
                  <a:chOff x="1058" y="3739"/>
                  <a:chExt cx="50" cy="23"/>
                </a:xfrm>
              </p:grpSpPr>
              <p:sp>
                <p:nvSpPr>
                  <p:cNvPr id="435"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7"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 name="Group 2188"/>
                <p:cNvGrpSpPr>
                  <a:grpSpLocks/>
                </p:cNvGrpSpPr>
                <p:nvPr/>
              </p:nvGrpSpPr>
              <p:grpSpPr bwMode="auto">
                <a:xfrm>
                  <a:off x="1072" y="3753"/>
                  <a:ext cx="48" cy="22"/>
                  <a:chOff x="1072" y="3753"/>
                  <a:chExt cx="48" cy="22"/>
                </a:xfrm>
              </p:grpSpPr>
              <p:sp>
                <p:nvSpPr>
                  <p:cNvPr id="432"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0"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3" name="Group 2195"/>
                <p:cNvGrpSpPr>
                  <a:grpSpLocks/>
                </p:cNvGrpSpPr>
                <p:nvPr/>
              </p:nvGrpSpPr>
              <p:grpSpPr bwMode="auto">
                <a:xfrm>
                  <a:off x="832" y="3547"/>
                  <a:ext cx="49" cy="23"/>
                  <a:chOff x="832" y="3547"/>
                  <a:chExt cx="49" cy="23"/>
                </a:xfrm>
              </p:grpSpPr>
              <p:sp>
                <p:nvSpPr>
                  <p:cNvPr id="429"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 name="Group 2199"/>
                <p:cNvGrpSpPr>
                  <a:grpSpLocks/>
                </p:cNvGrpSpPr>
                <p:nvPr/>
              </p:nvGrpSpPr>
              <p:grpSpPr bwMode="auto">
                <a:xfrm>
                  <a:off x="844" y="3560"/>
                  <a:ext cx="49" cy="22"/>
                  <a:chOff x="844" y="3560"/>
                  <a:chExt cx="49" cy="22"/>
                </a:xfrm>
              </p:grpSpPr>
              <p:sp>
                <p:nvSpPr>
                  <p:cNvPr id="426"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 name="Group 2203"/>
                <p:cNvGrpSpPr>
                  <a:grpSpLocks/>
                </p:cNvGrpSpPr>
                <p:nvPr/>
              </p:nvGrpSpPr>
              <p:grpSpPr bwMode="auto">
                <a:xfrm>
                  <a:off x="857" y="3572"/>
                  <a:ext cx="50" cy="23"/>
                  <a:chOff x="857" y="3572"/>
                  <a:chExt cx="50" cy="23"/>
                </a:xfrm>
              </p:grpSpPr>
              <p:sp>
                <p:nvSpPr>
                  <p:cNvPr id="423"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 name="Group 2207"/>
                <p:cNvGrpSpPr>
                  <a:grpSpLocks/>
                </p:cNvGrpSpPr>
                <p:nvPr/>
              </p:nvGrpSpPr>
              <p:grpSpPr bwMode="auto">
                <a:xfrm>
                  <a:off x="870" y="3585"/>
                  <a:ext cx="48" cy="23"/>
                  <a:chOff x="870" y="3585"/>
                  <a:chExt cx="48" cy="23"/>
                </a:xfrm>
              </p:grpSpPr>
              <p:sp>
                <p:nvSpPr>
                  <p:cNvPr id="420"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1"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 name="Group 2211"/>
                <p:cNvGrpSpPr>
                  <a:grpSpLocks/>
                </p:cNvGrpSpPr>
                <p:nvPr/>
              </p:nvGrpSpPr>
              <p:grpSpPr bwMode="auto">
                <a:xfrm>
                  <a:off x="882" y="3600"/>
                  <a:ext cx="100" cy="73"/>
                  <a:chOff x="882" y="3600"/>
                  <a:chExt cx="100" cy="73"/>
                </a:xfrm>
              </p:grpSpPr>
              <p:grpSp>
                <p:nvGrpSpPr>
                  <p:cNvPr id="400" name="Group 2212"/>
                  <p:cNvGrpSpPr>
                    <a:grpSpLocks/>
                  </p:cNvGrpSpPr>
                  <p:nvPr/>
                </p:nvGrpSpPr>
                <p:grpSpPr bwMode="auto">
                  <a:xfrm>
                    <a:off x="882" y="3600"/>
                    <a:ext cx="49" cy="23"/>
                    <a:chOff x="882" y="3600"/>
                    <a:chExt cx="49" cy="23"/>
                  </a:xfrm>
                </p:grpSpPr>
                <p:sp>
                  <p:nvSpPr>
                    <p:cNvPr id="417"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9"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1" name="Group 2216"/>
                  <p:cNvGrpSpPr>
                    <a:grpSpLocks/>
                  </p:cNvGrpSpPr>
                  <p:nvPr/>
                </p:nvGrpSpPr>
                <p:grpSpPr bwMode="auto">
                  <a:xfrm>
                    <a:off x="894" y="3612"/>
                    <a:ext cx="49" cy="23"/>
                    <a:chOff x="894" y="3612"/>
                    <a:chExt cx="49" cy="23"/>
                  </a:xfrm>
                </p:grpSpPr>
                <p:sp>
                  <p:nvSpPr>
                    <p:cNvPr id="414"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5"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6"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2" name="Group 2220"/>
                  <p:cNvGrpSpPr>
                    <a:grpSpLocks/>
                  </p:cNvGrpSpPr>
                  <p:nvPr/>
                </p:nvGrpSpPr>
                <p:grpSpPr bwMode="auto">
                  <a:xfrm>
                    <a:off x="907" y="3625"/>
                    <a:ext cx="49" cy="23"/>
                    <a:chOff x="907" y="3625"/>
                    <a:chExt cx="49" cy="23"/>
                  </a:xfrm>
                </p:grpSpPr>
                <p:sp>
                  <p:nvSpPr>
                    <p:cNvPr id="411"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2"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3"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3" name="Group 2224"/>
                  <p:cNvGrpSpPr>
                    <a:grpSpLocks/>
                  </p:cNvGrpSpPr>
                  <p:nvPr/>
                </p:nvGrpSpPr>
                <p:grpSpPr bwMode="auto">
                  <a:xfrm>
                    <a:off x="919" y="3638"/>
                    <a:ext cx="49" cy="22"/>
                    <a:chOff x="919" y="3638"/>
                    <a:chExt cx="49" cy="22"/>
                  </a:xfrm>
                </p:grpSpPr>
                <p:sp>
                  <p:nvSpPr>
                    <p:cNvPr id="408"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9"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0"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4" name="Group 2228"/>
                  <p:cNvGrpSpPr>
                    <a:grpSpLocks/>
                  </p:cNvGrpSpPr>
                  <p:nvPr/>
                </p:nvGrpSpPr>
                <p:grpSpPr bwMode="auto">
                  <a:xfrm>
                    <a:off x="932" y="3651"/>
                    <a:ext cx="50" cy="22"/>
                    <a:chOff x="932" y="3651"/>
                    <a:chExt cx="50" cy="22"/>
                  </a:xfrm>
                </p:grpSpPr>
                <p:sp>
                  <p:nvSpPr>
                    <p:cNvPr id="405"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6"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7"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8" name="Group 2232"/>
                <p:cNvGrpSpPr>
                  <a:grpSpLocks/>
                </p:cNvGrpSpPr>
                <p:nvPr/>
              </p:nvGrpSpPr>
              <p:grpSpPr bwMode="auto">
                <a:xfrm>
                  <a:off x="944" y="3665"/>
                  <a:ext cx="99" cy="74"/>
                  <a:chOff x="944" y="3665"/>
                  <a:chExt cx="99" cy="74"/>
                </a:xfrm>
              </p:grpSpPr>
              <p:grpSp>
                <p:nvGrpSpPr>
                  <p:cNvPr id="380" name="Group 2233"/>
                  <p:cNvGrpSpPr>
                    <a:grpSpLocks/>
                  </p:cNvGrpSpPr>
                  <p:nvPr/>
                </p:nvGrpSpPr>
                <p:grpSpPr bwMode="auto">
                  <a:xfrm>
                    <a:off x="944" y="3665"/>
                    <a:ext cx="49" cy="23"/>
                    <a:chOff x="944" y="3665"/>
                    <a:chExt cx="49" cy="23"/>
                  </a:xfrm>
                </p:grpSpPr>
                <p:sp>
                  <p:nvSpPr>
                    <p:cNvPr id="397"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8"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9"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1" name="Group 2237"/>
                  <p:cNvGrpSpPr>
                    <a:grpSpLocks/>
                  </p:cNvGrpSpPr>
                  <p:nvPr/>
                </p:nvGrpSpPr>
                <p:grpSpPr bwMode="auto">
                  <a:xfrm>
                    <a:off x="957" y="3678"/>
                    <a:ext cx="48" cy="23"/>
                    <a:chOff x="957" y="3678"/>
                    <a:chExt cx="48" cy="23"/>
                  </a:xfrm>
                </p:grpSpPr>
                <p:sp>
                  <p:nvSpPr>
                    <p:cNvPr id="394"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2" name="Group 2241"/>
                  <p:cNvGrpSpPr>
                    <a:grpSpLocks/>
                  </p:cNvGrpSpPr>
                  <p:nvPr/>
                </p:nvGrpSpPr>
                <p:grpSpPr bwMode="auto">
                  <a:xfrm>
                    <a:off x="969" y="3690"/>
                    <a:ext cx="49" cy="23"/>
                    <a:chOff x="969" y="3690"/>
                    <a:chExt cx="49" cy="23"/>
                  </a:xfrm>
                </p:grpSpPr>
                <p:sp>
                  <p:nvSpPr>
                    <p:cNvPr id="391"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2"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3" name="Group 2245"/>
                  <p:cNvGrpSpPr>
                    <a:grpSpLocks/>
                  </p:cNvGrpSpPr>
                  <p:nvPr/>
                </p:nvGrpSpPr>
                <p:grpSpPr bwMode="auto">
                  <a:xfrm>
                    <a:off x="982" y="3703"/>
                    <a:ext cx="49" cy="23"/>
                    <a:chOff x="982" y="3703"/>
                    <a:chExt cx="49" cy="23"/>
                  </a:xfrm>
                </p:grpSpPr>
                <p:sp>
                  <p:nvSpPr>
                    <p:cNvPr id="388"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9"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4" name="Group 2249"/>
                  <p:cNvGrpSpPr>
                    <a:grpSpLocks/>
                  </p:cNvGrpSpPr>
                  <p:nvPr/>
                </p:nvGrpSpPr>
                <p:grpSpPr bwMode="auto">
                  <a:xfrm>
                    <a:off x="995" y="3716"/>
                    <a:ext cx="48" cy="23"/>
                    <a:chOff x="995" y="3716"/>
                    <a:chExt cx="48" cy="23"/>
                  </a:xfrm>
                </p:grpSpPr>
                <p:sp>
                  <p:nvSpPr>
                    <p:cNvPr id="385"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6"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7"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9" name="Group 2253"/>
                <p:cNvGrpSpPr>
                  <a:grpSpLocks/>
                </p:cNvGrpSpPr>
                <p:nvPr/>
              </p:nvGrpSpPr>
              <p:grpSpPr bwMode="auto">
                <a:xfrm>
                  <a:off x="1005" y="3727"/>
                  <a:ext cx="49" cy="23"/>
                  <a:chOff x="1005" y="3727"/>
                  <a:chExt cx="49" cy="23"/>
                </a:xfrm>
              </p:grpSpPr>
              <p:sp>
                <p:nvSpPr>
                  <p:cNvPr id="377"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8"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9"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 name="Group 2257"/>
                <p:cNvGrpSpPr>
                  <a:grpSpLocks/>
                </p:cNvGrpSpPr>
                <p:nvPr/>
              </p:nvGrpSpPr>
              <p:grpSpPr bwMode="auto">
                <a:xfrm>
                  <a:off x="1018" y="3740"/>
                  <a:ext cx="49" cy="22"/>
                  <a:chOff x="1018" y="3740"/>
                  <a:chExt cx="49" cy="22"/>
                </a:xfrm>
              </p:grpSpPr>
              <p:sp>
                <p:nvSpPr>
                  <p:cNvPr id="374"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1" name="Group 2261"/>
                <p:cNvGrpSpPr>
                  <a:grpSpLocks/>
                </p:cNvGrpSpPr>
                <p:nvPr/>
              </p:nvGrpSpPr>
              <p:grpSpPr bwMode="auto">
                <a:xfrm>
                  <a:off x="1030" y="3753"/>
                  <a:ext cx="49" cy="23"/>
                  <a:chOff x="1030" y="3753"/>
                  <a:chExt cx="49" cy="23"/>
                </a:xfrm>
              </p:grpSpPr>
              <p:sp>
                <p:nvSpPr>
                  <p:cNvPr id="371"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2"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3"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2"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5" name="Group 2268"/>
                <p:cNvGrpSpPr>
                  <a:grpSpLocks/>
                </p:cNvGrpSpPr>
                <p:nvPr/>
              </p:nvGrpSpPr>
              <p:grpSpPr bwMode="auto">
                <a:xfrm>
                  <a:off x="790" y="3547"/>
                  <a:ext cx="49" cy="23"/>
                  <a:chOff x="790" y="3547"/>
                  <a:chExt cx="49" cy="23"/>
                </a:xfrm>
              </p:grpSpPr>
              <p:sp>
                <p:nvSpPr>
                  <p:cNvPr id="368"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0"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6" name="Group 2272"/>
                <p:cNvGrpSpPr>
                  <a:grpSpLocks/>
                </p:cNvGrpSpPr>
                <p:nvPr/>
              </p:nvGrpSpPr>
              <p:grpSpPr bwMode="auto">
                <a:xfrm>
                  <a:off x="803" y="3560"/>
                  <a:ext cx="49" cy="22"/>
                  <a:chOff x="803" y="3560"/>
                  <a:chExt cx="49" cy="22"/>
                </a:xfrm>
              </p:grpSpPr>
              <p:sp>
                <p:nvSpPr>
                  <p:cNvPr id="365"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 name="Group 2276"/>
                <p:cNvGrpSpPr>
                  <a:grpSpLocks/>
                </p:cNvGrpSpPr>
                <p:nvPr/>
              </p:nvGrpSpPr>
              <p:grpSpPr bwMode="auto">
                <a:xfrm>
                  <a:off x="815" y="3572"/>
                  <a:ext cx="50" cy="23"/>
                  <a:chOff x="815" y="3572"/>
                  <a:chExt cx="50" cy="23"/>
                </a:xfrm>
              </p:grpSpPr>
              <p:sp>
                <p:nvSpPr>
                  <p:cNvPr id="362"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8" name="Group 2280"/>
                <p:cNvGrpSpPr>
                  <a:grpSpLocks/>
                </p:cNvGrpSpPr>
                <p:nvPr/>
              </p:nvGrpSpPr>
              <p:grpSpPr bwMode="auto">
                <a:xfrm>
                  <a:off x="828" y="3585"/>
                  <a:ext cx="49" cy="23"/>
                  <a:chOff x="828" y="3585"/>
                  <a:chExt cx="49" cy="23"/>
                </a:xfrm>
              </p:grpSpPr>
              <p:sp>
                <p:nvSpPr>
                  <p:cNvPr id="359"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0"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1"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9" name="Group 2284"/>
                <p:cNvGrpSpPr>
                  <a:grpSpLocks/>
                </p:cNvGrpSpPr>
                <p:nvPr/>
              </p:nvGrpSpPr>
              <p:grpSpPr bwMode="auto">
                <a:xfrm>
                  <a:off x="840" y="3600"/>
                  <a:ext cx="100" cy="73"/>
                  <a:chOff x="840" y="3600"/>
                  <a:chExt cx="100" cy="73"/>
                </a:xfrm>
              </p:grpSpPr>
              <p:grpSp>
                <p:nvGrpSpPr>
                  <p:cNvPr id="339" name="Group 2285"/>
                  <p:cNvGrpSpPr>
                    <a:grpSpLocks/>
                  </p:cNvGrpSpPr>
                  <p:nvPr/>
                </p:nvGrpSpPr>
                <p:grpSpPr bwMode="auto">
                  <a:xfrm>
                    <a:off x="840" y="3600"/>
                    <a:ext cx="49" cy="23"/>
                    <a:chOff x="840" y="3600"/>
                    <a:chExt cx="49" cy="23"/>
                  </a:xfrm>
                </p:grpSpPr>
                <p:sp>
                  <p:nvSpPr>
                    <p:cNvPr id="356"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8"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0" name="Group 2289"/>
                  <p:cNvGrpSpPr>
                    <a:grpSpLocks/>
                  </p:cNvGrpSpPr>
                  <p:nvPr/>
                </p:nvGrpSpPr>
                <p:grpSpPr bwMode="auto">
                  <a:xfrm>
                    <a:off x="853" y="3612"/>
                    <a:ext cx="48" cy="23"/>
                    <a:chOff x="853" y="3612"/>
                    <a:chExt cx="48" cy="23"/>
                  </a:xfrm>
                </p:grpSpPr>
                <p:sp>
                  <p:nvSpPr>
                    <p:cNvPr id="353"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1" name="Group 2293"/>
                  <p:cNvGrpSpPr>
                    <a:grpSpLocks/>
                  </p:cNvGrpSpPr>
                  <p:nvPr/>
                </p:nvGrpSpPr>
                <p:grpSpPr bwMode="auto">
                  <a:xfrm>
                    <a:off x="865" y="3625"/>
                    <a:ext cx="49" cy="23"/>
                    <a:chOff x="865" y="3625"/>
                    <a:chExt cx="49" cy="23"/>
                  </a:xfrm>
                </p:grpSpPr>
                <p:sp>
                  <p:nvSpPr>
                    <p:cNvPr id="350"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1"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2"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2" name="Group 2297"/>
                  <p:cNvGrpSpPr>
                    <a:grpSpLocks/>
                  </p:cNvGrpSpPr>
                  <p:nvPr/>
                </p:nvGrpSpPr>
                <p:grpSpPr bwMode="auto">
                  <a:xfrm>
                    <a:off x="878" y="3638"/>
                    <a:ext cx="49" cy="22"/>
                    <a:chOff x="878" y="3638"/>
                    <a:chExt cx="49" cy="22"/>
                  </a:xfrm>
                </p:grpSpPr>
                <p:sp>
                  <p:nvSpPr>
                    <p:cNvPr id="347"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3" name="Group 2301"/>
                  <p:cNvGrpSpPr>
                    <a:grpSpLocks/>
                  </p:cNvGrpSpPr>
                  <p:nvPr/>
                </p:nvGrpSpPr>
                <p:grpSpPr bwMode="auto">
                  <a:xfrm>
                    <a:off x="890" y="3651"/>
                    <a:ext cx="50" cy="22"/>
                    <a:chOff x="890" y="3651"/>
                    <a:chExt cx="50" cy="22"/>
                  </a:xfrm>
                </p:grpSpPr>
                <p:sp>
                  <p:nvSpPr>
                    <p:cNvPr id="344"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5"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6"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0" name="Group 2305"/>
                <p:cNvGrpSpPr>
                  <a:grpSpLocks/>
                </p:cNvGrpSpPr>
                <p:nvPr/>
              </p:nvGrpSpPr>
              <p:grpSpPr bwMode="auto">
                <a:xfrm>
                  <a:off x="903" y="3665"/>
                  <a:ext cx="99" cy="74"/>
                  <a:chOff x="903" y="3665"/>
                  <a:chExt cx="99" cy="74"/>
                </a:xfrm>
              </p:grpSpPr>
              <p:grpSp>
                <p:nvGrpSpPr>
                  <p:cNvPr id="319" name="Group 2306"/>
                  <p:cNvGrpSpPr>
                    <a:grpSpLocks/>
                  </p:cNvGrpSpPr>
                  <p:nvPr/>
                </p:nvGrpSpPr>
                <p:grpSpPr bwMode="auto">
                  <a:xfrm>
                    <a:off x="903" y="3665"/>
                    <a:ext cx="49" cy="23"/>
                    <a:chOff x="903" y="3665"/>
                    <a:chExt cx="49" cy="23"/>
                  </a:xfrm>
                </p:grpSpPr>
                <p:sp>
                  <p:nvSpPr>
                    <p:cNvPr id="336"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8"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 name="Group 2310"/>
                  <p:cNvGrpSpPr>
                    <a:grpSpLocks/>
                  </p:cNvGrpSpPr>
                  <p:nvPr/>
                </p:nvGrpSpPr>
                <p:grpSpPr bwMode="auto">
                  <a:xfrm>
                    <a:off x="914" y="3678"/>
                    <a:ext cx="49" cy="23"/>
                    <a:chOff x="914" y="3678"/>
                    <a:chExt cx="49" cy="23"/>
                  </a:xfrm>
                </p:grpSpPr>
                <p:sp>
                  <p:nvSpPr>
                    <p:cNvPr id="333"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4"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5"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 name="Group 2314"/>
                  <p:cNvGrpSpPr>
                    <a:grpSpLocks/>
                  </p:cNvGrpSpPr>
                  <p:nvPr/>
                </p:nvGrpSpPr>
                <p:grpSpPr bwMode="auto">
                  <a:xfrm>
                    <a:off x="928" y="3690"/>
                    <a:ext cx="48" cy="23"/>
                    <a:chOff x="928" y="3690"/>
                    <a:chExt cx="48" cy="23"/>
                  </a:xfrm>
                </p:grpSpPr>
                <p:sp>
                  <p:nvSpPr>
                    <p:cNvPr id="330"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1"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2"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 name="Group 2318"/>
                  <p:cNvGrpSpPr>
                    <a:grpSpLocks/>
                  </p:cNvGrpSpPr>
                  <p:nvPr/>
                </p:nvGrpSpPr>
                <p:grpSpPr bwMode="auto">
                  <a:xfrm>
                    <a:off x="940" y="3703"/>
                    <a:ext cx="49" cy="23"/>
                    <a:chOff x="940" y="3703"/>
                    <a:chExt cx="49" cy="23"/>
                  </a:xfrm>
                </p:grpSpPr>
                <p:sp>
                  <p:nvSpPr>
                    <p:cNvPr id="327"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3" name="Group 2322"/>
                  <p:cNvGrpSpPr>
                    <a:grpSpLocks/>
                  </p:cNvGrpSpPr>
                  <p:nvPr/>
                </p:nvGrpSpPr>
                <p:grpSpPr bwMode="auto">
                  <a:xfrm>
                    <a:off x="953" y="3716"/>
                    <a:ext cx="49" cy="23"/>
                    <a:chOff x="953" y="3716"/>
                    <a:chExt cx="49" cy="23"/>
                  </a:xfrm>
                </p:grpSpPr>
                <p:sp>
                  <p:nvSpPr>
                    <p:cNvPr id="324"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6"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1" name="Group 2326"/>
                <p:cNvGrpSpPr>
                  <a:grpSpLocks/>
                </p:cNvGrpSpPr>
                <p:nvPr/>
              </p:nvGrpSpPr>
              <p:grpSpPr bwMode="auto">
                <a:xfrm>
                  <a:off x="963" y="3727"/>
                  <a:ext cx="49" cy="23"/>
                  <a:chOff x="963" y="3727"/>
                  <a:chExt cx="49" cy="23"/>
                </a:xfrm>
              </p:grpSpPr>
              <p:sp>
                <p:nvSpPr>
                  <p:cNvPr id="316"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 name="Group 2330"/>
                <p:cNvGrpSpPr>
                  <a:grpSpLocks/>
                </p:cNvGrpSpPr>
                <p:nvPr/>
              </p:nvGrpSpPr>
              <p:grpSpPr bwMode="auto">
                <a:xfrm>
                  <a:off x="976" y="3740"/>
                  <a:ext cx="50" cy="22"/>
                  <a:chOff x="976" y="3740"/>
                  <a:chExt cx="50" cy="22"/>
                </a:xfrm>
              </p:grpSpPr>
              <p:sp>
                <p:nvSpPr>
                  <p:cNvPr id="313"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3" name="Group 2334"/>
                <p:cNvGrpSpPr>
                  <a:grpSpLocks/>
                </p:cNvGrpSpPr>
                <p:nvPr/>
              </p:nvGrpSpPr>
              <p:grpSpPr bwMode="auto">
                <a:xfrm>
                  <a:off x="761" y="3560"/>
                  <a:ext cx="50" cy="22"/>
                  <a:chOff x="761" y="3560"/>
                  <a:chExt cx="50" cy="22"/>
                </a:xfrm>
              </p:grpSpPr>
              <p:sp>
                <p:nvSpPr>
                  <p:cNvPr id="310"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4" name="Group 2338"/>
                <p:cNvGrpSpPr>
                  <a:grpSpLocks/>
                </p:cNvGrpSpPr>
                <p:nvPr/>
              </p:nvGrpSpPr>
              <p:grpSpPr bwMode="auto">
                <a:xfrm>
                  <a:off x="774" y="3572"/>
                  <a:ext cx="49" cy="23"/>
                  <a:chOff x="774" y="3572"/>
                  <a:chExt cx="49" cy="23"/>
                </a:xfrm>
              </p:grpSpPr>
              <p:sp>
                <p:nvSpPr>
                  <p:cNvPr id="307"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 name="Group 2342"/>
                <p:cNvGrpSpPr>
                  <a:grpSpLocks/>
                </p:cNvGrpSpPr>
                <p:nvPr/>
              </p:nvGrpSpPr>
              <p:grpSpPr bwMode="auto">
                <a:xfrm>
                  <a:off x="787" y="3585"/>
                  <a:ext cx="49" cy="23"/>
                  <a:chOff x="787" y="3585"/>
                  <a:chExt cx="49" cy="23"/>
                </a:xfrm>
              </p:grpSpPr>
              <p:sp>
                <p:nvSpPr>
                  <p:cNvPr id="304"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 name="Group 2346"/>
                <p:cNvGrpSpPr>
                  <a:grpSpLocks/>
                </p:cNvGrpSpPr>
                <p:nvPr/>
              </p:nvGrpSpPr>
              <p:grpSpPr bwMode="auto">
                <a:xfrm>
                  <a:off x="799" y="3600"/>
                  <a:ext cx="99" cy="73"/>
                  <a:chOff x="799" y="3600"/>
                  <a:chExt cx="99" cy="73"/>
                </a:xfrm>
              </p:grpSpPr>
              <p:grpSp>
                <p:nvGrpSpPr>
                  <p:cNvPr id="284" name="Group 2347"/>
                  <p:cNvGrpSpPr>
                    <a:grpSpLocks/>
                  </p:cNvGrpSpPr>
                  <p:nvPr/>
                </p:nvGrpSpPr>
                <p:grpSpPr bwMode="auto">
                  <a:xfrm>
                    <a:off x="799" y="3600"/>
                    <a:ext cx="48" cy="23"/>
                    <a:chOff x="799" y="3600"/>
                    <a:chExt cx="48" cy="23"/>
                  </a:xfrm>
                </p:grpSpPr>
                <p:sp>
                  <p:nvSpPr>
                    <p:cNvPr id="301"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 name="Group 2351"/>
                  <p:cNvGrpSpPr>
                    <a:grpSpLocks/>
                  </p:cNvGrpSpPr>
                  <p:nvPr/>
                </p:nvGrpSpPr>
                <p:grpSpPr bwMode="auto">
                  <a:xfrm>
                    <a:off x="811" y="3612"/>
                    <a:ext cx="48" cy="23"/>
                    <a:chOff x="811" y="3612"/>
                    <a:chExt cx="48" cy="23"/>
                  </a:xfrm>
                </p:grpSpPr>
                <p:sp>
                  <p:nvSpPr>
                    <p:cNvPr id="298"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 name="Group 2355"/>
                  <p:cNvGrpSpPr>
                    <a:grpSpLocks/>
                  </p:cNvGrpSpPr>
                  <p:nvPr/>
                </p:nvGrpSpPr>
                <p:grpSpPr bwMode="auto">
                  <a:xfrm>
                    <a:off x="823" y="3625"/>
                    <a:ext cx="49" cy="23"/>
                    <a:chOff x="823" y="3625"/>
                    <a:chExt cx="49" cy="23"/>
                  </a:xfrm>
                </p:grpSpPr>
                <p:sp>
                  <p:nvSpPr>
                    <p:cNvPr id="295"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 name="Group 2359"/>
                  <p:cNvGrpSpPr>
                    <a:grpSpLocks/>
                  </p:cNvGrpSpPr>
                  <p:nvPr/>
                </p:nvGrpSpPr>
                <p:grpSpPr bwMode="auto">
                  <a:xfrm>
                    <a:off x="836" y="3638"/>
                    <a:ext cx="50" cy="22"/>
                    <a:chOff x="836" y="3638"/>
                    <a:chExt cx="50" cy="22"/>
                  </a:xfrm>
                </p:grpSpPr>
                <p:sp>
                  <p:nvSpPr>
                    <p:cNvPr id="292"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 name="Group 2363"/>
                  <p:cNvGrpSpPr>
                    <a:grpSpLocks/>
                  </p:cNvGrpSpPr>
                  <p:nvPr/>
                </p:nvGrpSpPr>
                <p:grpSpPr bwMode="auto">
                  <a:xfrm>
                    <a:off x="849" y="3651"/>
                    <a:ext cx="49" cy="22"/>
                    <a:chOff x="849" y="3651"/>
                    <a:chExt cx="49" cy="22"/>
                  </a:xfrm>
                </p:grpSpPr>
                <p:sp>
                  <p:nvSpPr>
                    <p:cNvPr id="289"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7" name="Group 2367"/>
                <p:cNvGrpSpPr>
                  <a:grpSpLocks/>
                </p:cNvGrpSpPr>
                <p:nvPr/>
              </p:nvGrpSpPr>
              <p:grpSpPr bwMode="auto">
                <a:xfrm>
                  <a:off x="861" y="3665"/>
                  <a:ext cx="99" cy="74"/>
                  <a:chOff x="861" y="3665"/>
                  <a:chExt cx="99" cy="74"/>
                </a:xfrm>
              </p:grpSpPr>
              <p:grpSp>
                <p:nvGrpSpPr>
                  <p:cNvPr id="264" name="Group 2368"/>
                  <p:cNvGrpSpPr>
                    <a:grpSpLocks/>
                  </p:cNvGrpSpPr>
                  <p:nvPr/>
                </p:nvGrpSpPr>
                <p:grpSpPr bwMode="auto">
                  <a:xfrm>
                    <a:off x="861" y="3665"/>
                    <a:ext cx="50" cy="23"/>
                    <a:chOff x="861" y="3665"/>
                    <a:chExt cx="50" cy="23"/>
                  </a:xfrm>
                </p:grpSpPr>
                <p:sp>
                  <p:nvSpPr>
                    <p:cNvPr id="281"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5" name="Group 2372"/>
                  <p:cNvGrpSpPr>
                    <a:grpSpLocks/>
                  </p:cNvGrpSpPr>
                  <p:nvPr/>
                </p:nvGrpSpPr>
                <p:grpSpPr bwMode="auto">
                  <a:xfrm>
                    <a:off x="873" y="3678"/>
                    <a:ext cx="49" cy="23"/>
                    <a:chOff x="873" y="3678"/>
                    <a:chExt cx="49" cy="23"/>
                  </a:xfrm>
                </p:grpSpPr>
                <p:sp>
                  <p:nvSpPr>
                    <p:cNvPr id="278"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6" name="Group 2376"/>
                  <p:cNvGrpSpPr>
                    <a:grpSpLocks/>
                  </p:cNvGrpSpPr>
                  <p:nvPr/>
                </p:nvGrpSpPr>
                <p:grpSpPr bwMode="auto">
                  <a:xfrm>
                    <a:off x="886" y="3690"/>
                    <a:ext cx="49" cy="23"/>
                    <a:chOff x="886" y="3690"/>
                    <a:chExt cx="49" cy="23"/>
                  </a:xfrm>
                </p:grpSpPr>
                <p:sp>
                  <p:nvSpPr>
                    <p:cNvPr id="275"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 name="Group 2380"/>
                  <p:cNvGrpSpPr>
                    <a:grpSpLocks/>
                  </p:cNvGrpSpPr>
                  <p:nvPr/>
                </p:nvGrpSpPr>
                <p:grpSpPr bwMode="auto">
                  <a:xfrm>
                    <a:off x="899" y="3703"/>
                    <a:ext cx="48" cy="23"/>
                    <a:chOff x="899" y="3703"/>
                    <a:chExt cx="48" cy="23"/>
                  </a:xfrm>
                </p:grpSpPr>
                <p:sp>
                  <p:nvSpPr>
                    <p:cNvPr id="272"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 name="Group 2384"/>
                  <p:cNvGrpSpPr>
                    <a:grpSpLocks/>
                  </p:cNvGrpSpPr>
                  <p:nvPr/>
                </p:nvGrpSpPr>
                <p:grpSpPr bwMode="auto">
                  <a:xfrm>
                    <a:off x="912" y="3716"/>
                    <a:ext cx="48" cy="23"/>
                    <a:chOff x="912" y="3716"/>
                    <a:chExt cx="48" cy="23"/>
                  </a:xfrm>
                </p:grpSpPr>
                <p:sp>
                  <p:nvSpPr>
                    <p:cNvPr id="269"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8" name="Group 2388"/>
                <p:cNvGrpSpPr>
                  <a:grpSpLocks/>
                </p:cNvGrpSpPr>
                <p:nvPr/>
              </p:nvGrpSpPr>
              <p:grpSpPr bwMode="auto">
                <a:xfrm>
                  <a:off x="922" y="3727"/>
                  <a:ext cx="49" cy="23"/>
                  <a:chOff x="922" y="3727"/>
                  <a:chExt cx="49" cy="23"/>
                </a:xfrm>
              </p:grpSpPr>
              <p:sp>
                <p:nvSpPr>
                  <p:cNvPr id="261"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9" name="Group 2392"/>
                <p:cNvGrpSpPr>
                  <a:grpSpLocks/>
                </p:cNvGrpSpPr>
                <p:nvPr/>
              </p:nvGrpSpPr>
              <p:grpSpPr bwMode="auto">
                <a:xfrm>
                  <a:off x="895" y="3526"/>
                  <a:ext cx="44" cy="23"/>
                  <a:chOff x="895" y="3526"/>
                  <a:chExt cx="44" cy="23"/>
                </a:xfrm>
              </p:grpSpPr>
              <p:sp>
                <p:nvSpPr>
                  <p:cNvPr id="258"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0" name="Group 2396"/>
                <p:cNvGrpSpPr>
                  <a:grpSpLocks/>
                </p:cNvGrpSpPr>
                <p:nvPr/>
              </p:nvGrpSpPr>
              <p:grpSpPr bwMode="auto">
                <a:xfrm>
                  <a:off x="907" y="3540"/>
                  <a:ext cx="45" cy="22"/>
                  <a:chOff x="907" y="3540"/>
                  <a:chExt cx="45" cy="22"/>
                </a:xfrm>
              </p:grpSpPr>
              <p:sp>
                <p:nvSpPr>
                  <p:cNvPr id="255"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 name="Group 2400"/>
                <p:cNvGrpSpPr>
                  <a:grpSpLocks/>
                </p:cNvGrpSpPr>
                <p:nvPr/>
              </p:nvGrpSpPr>
              <p:grpSpPr bwMode="auto">
                <a:xfrm>
                  <a:off x="920" y="3553"/>
                  <a:ext cx="45" cy="23"/>
                  <a:chOff x="920" y="3553"/>
                  <a:chExt cx="45" cy="23"/>
                </a:xfrm>
              </p:grpSpPr>
              <p:sp>
                <p:nvSpPr>
                  <p:cNvPr id="252"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 name="Group 2404"/>
                <p:cNvGrpSpPr>
                  <a:grpSpLocks/>
                </p:cNvGrpSpPr>
                <p:nvPr/>
              </p:nvGrpSpPr>
              <p:grpSpPr bwMode="auto">
                <a:xfrm>
                  <a:off x="934" y="3566"/>
                  <a:ext cx="44" cy="23"/>
                  <a:chOff x="934" y="3566"/>
                  <a:chExt cx="44" cy="23"/>
                </a:xfrm>
              </p:grpSpPr>
              <p:sp>
                <p:nvSpPr>
                  <p:cNvPr id="249"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 name="Group 2408"/>
                <p:cNvGrpSpPr>
                  <a:grpSpLocks/>
                </p:cNvGrpSpPr>
                <p:nvPr/>
              </p:nvGrpSpPr>
              <p:grpSpPr bwMode="auto">
                <a:xfrm>
                  <a:off x="949" y="3579"/>
                  <a:ext cx="83" cy="63"/>
                  <a:chOff x="949" y="3579"/>
                  <a:chExt cx="83" cy="63"/>
                </a:xfrm>
              </p:grpSpPr>
              <p:grpSp>
                <p:nvGrpSpPr>
                  <p:cNvPr id="233" name="Group 2409"/>
                  <p:cNvGrpSpPr>
                    <a:grpSpLocks/>
                  </p:cNvGrpSpPr>
                  <p:nvPr/>
                </p:nvGrpSpPr>
                <p:grpSpPr bwMode="auto">
                  <a:xfrm>
                    <a:off x="949" y="3579"/>
                    <a:ext cx="44" cy="23"/>
                    <a:chOff x="949" y="3579"/>
                    <a:chExt cx="44" cy="23"/>
                  </a:xfrm>
                </p:grpSpPr>
                <p:sp>
                  <p:nvSpPr>
                    <p:cNvPr id="246"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4" name="Group 2413"/>
                  <p:cNvGrpSpPr>
                    <a:grpSpLocks/>
                  </p:cNvGrpSpPr>
                  <p:nvPr/>
                </p:nvGrpSpPr>
                <p:grpSpPr bwMode="auto">
                  <a:xfrm>
                    <a:off x="961" y="3592"/>
                    <a:ext cx="45" cy="23"/>
                    <a:chOff x="961" y="3592"/>
                    <a:chExt cx="45" cy="23"/>
                  </a:xfrm>
                </p:grpSpPr>
                <p:sp>
                  <p:nvSpPr>
                    <p:cNvPr id="243"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5"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 name="Group 2417"/>
                  <p:cNvGrpSpPr>
                    <a:grpSpLocks/>
                  </p:cNvGrpSpPr>
                  <p:nvPr/>
                </p:nvGrpSpPr>
                <p:grpSpPr bwMode="auto">
                  <a:xfrm>
                    <a:off x="974" y="3606"/>
                    <a:ext cx="44" cy="23"/>
                    <a:chOff x="974" y="3606"/>
                    <a:chExt cx="44" cy="23"/>
                  </a:xfrm>
                </p:grpSpPr>
                <p:sp>
                  <p:nvSpPr>
                    <p:cNvPr id="240"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6" name="Group 2421"/>
                  <p:cNvGrpSpPr>
                    <a:grpSpLocks/>
                  </p:cNvGrpSpPr>
                  <p:nvPr/>
                </p:nvGrpSpPr>
                <p:grpSpPr bwMode="auto">
                  <a:xfrm>
                    <a:off x="987" y="3619"/>
                    <a:ext cx="45" cy="23"/>
                    <a:chOff x="987" y="3619"/>
                    <a:chExt cx="45" cy="23"/>
                  </a:xfrm>
                </p:grpSpPr>
                <p:sp>
                  <p:nvSpPr>
                    <p:cNvPr id="237"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4" name="Group 2425"/>
                <p:cNvGrpSpPr>
                  <a:grpSpLocks/>
                </p:cNvGrpSpPr>
                <p:nvPr/>
              </p:nvGrpSpPr>
              <p:grpSpPr bwMode="auto">
                <a:xfrm>
                  <a:off x="1002" y="3632"/>
                  <a:ext cx="83" cy="63"/>
                  <a:chOff x="1002" y="3632"/>
                  <a:chExt cx="83" cy="63"/>
                </a:xfrm>
              </p:grpSpPr>
              <p:grpSp>
                <p:nvGrpSpPr>
                  <p:cNvPr id="217" name="Group 2426"/>
                  <p:cNvGrpSpPr>
                    <a:grpSpLocks/>
                  </p:cNvGrpSpPr>
                  <p:nvPr/>
                </p:nvGrpSpPr>
                <p:grpSpPr bwMode="auto">
                  <a:xfrm>
                    <a:off x="1002" y="3632"/>
                    <a:ext cx="44" cy="22"/>
                    <a:chOff x="1002" y="3632"/>
                    <a:chExt cx="44" cy="22"/>
                  </a:xfrm>
                </p:grpSpPr>
                <p:sp>
                  <p:nvSpPr>
                    <p:cNvPr id="230"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 name="Group 2430"/>
                  <p:cNvGrpSpPr>
                    <a:grpSpLocks/>
                  </p:cNvGrpSpPr>
                  <p:nvPr/>
                </p:nvGrpSpPr>
                <p:grpSpPr bwMode="auto">
                  <a:xfrm>
                    <a:off x="1014" y="3645"/>
                    <a:ext cx="44" cy="23"/>
                    <a:chOff x="1014" y="3645"/>
                    <a:chExt cx="44" cy="23"/>
                  </a:xfrm>
                </p:grpSpPr>
                <p:sp>
                  <p:nvSpPr>
                    <p:cNvPr id="227"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2434"/>
                  <p:cNvGrpSpPr>
                    <a:grpSpLocks/>
                  </p:cNvGrpSpPr>
                  <p:nvPr/>
                </p:nvGrpSpPr>
                <p:grpSpPr bwMode="auto">
                  <a:xfrm>
                    <a:off x="1027" y="3659"/>
                    <a:ext cx="45" cy="23"/>
                    <a:chOff x="1027" y="3659"/>
                    <a:chExt cx="45" cy="23"/>
                  </a:xfrm>
                </p:grpSpPr>
                <p:sp>
                  <p:nvSpPr>
                    <p:cNvPr id="224"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0" name="Group 2438"/>
                  <p:cNvGrpSpPr>
                    <a:grpSpLocks/>
                  </p:cNvGrpSpPr>
                  <p:nvPr/>
                </p:nvGrpSpPr>
                <p:grpSpPr bwMode="auto">
                  <a:xfrm>
                    <a:off x="1040" y="3672"/>
                    <a:ext cx="45" cy="23"/>
                    <a:chOff x="1040" y="3672"/>
                    <a:chExt cx="45" cy="23"/>
                  </a:xfrm>
                </p:grpSpPr>
                <p:sp>
                  <p:nvSpPr>
                    <p:cNvPr id="221"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5" name="Group 2442"/>
                <p:cNvGrpSpPr>
                  <a:grpSpLocks/>
                </p:cNvGrpSpPr>
                <p:nvPr/>
              </p:nvGrpSpPr>
              <p:grpSpPr bwMode="auto">
                <a:xfrm>
                  <a:off x="1054" y="3685"/>
                  <a:ext cx="45" cy="23"/>
                  <a:chOff x="1054" y="3685"/>
                  <a:chExt cx="45" cy="23"/>
                </a:xfrm>
              </p:grpSpPr>
              <p:sp>
                <p:nvSpPr>
                  <p:cNvPr id="214"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6" name="Group 2446"/>
                <p:cNvGrpSpPr>
                  <a:grpSpLocks/>
                </p:cNvGrpSpPr>
                <p:nvPr/>
              </p:nvGrpSpPr>
              <p:grpSpPr bwMode="auto">
                <a:xfrm>
                  <a:off x="1067" y="3698"/>
                  <a:ext cx="45" cy="23"/>
                  <a:chOff x="1067" y="3698"/>
                  <a:chExt cx="45" cy="23"/>
                </a:xfrm>
              </p:grpSpPr>
              <p:sp>
                <p:nvSpPr>
                  <p:cNvPr id="211"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7" name="Group 2450"/>
                <p:cNvGrpSpPr>
                  <a:grpSpLocks/>
                </p:cNvGrpSpPr>
                <p:nvPr/>
              </p:nvGrpSpPr>
              <p:grpSpPr bwMode="auto">
                <a:xfrm>
                  <a:off x="1079" y="3712"/>
                  <a:ext cx="44" cy="23"/>
                  <a:chOff x="1079" y="3712"/>
                  <a:chExt cx="44" cy="23"/>
                </a:xfrm>
              </p:grpSpPr>
              <p:sp>
                <p:nvSpPr>
                  <p:cNvPr id="208"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 name="Group 2454"/>
                <p:cNvGrpSpPr>
                  <a:grpSpLocks/>
                </p:cNvGrpSpPr>
                <p:nvPr/>
              </p:nvGrpSpPr>
              <p:grpSpPr bwMode="auto">
                <a:xfrm>
                  <a:off x="1093" y="3725"/>
                  <a:ext cx="45" cy="23"/>
                  <a:chOff x="1093" y="3725"/>
                  <a:chExt cx="45" cy="23"/>
                </a:xfrm>
              </p:grpSpPr>
              <p:sp>
                <p:nvSpPr>
                  <p:cNvPr id="205"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9" name="Group 2458"/>
                <p:cNvGrpSpPr>
                  <a:grpSpLocks/>
                </p:cNvGrpSpPr>
                <p:nvPr/>
              </p:nvGrpSpPr>
              <p:grpSpPr bwMode="auto">
                <a:xfrm>
                  <a:off x="1108" y="3739"/>
                  <a:ext cx="44" cy="23"/>
                  <a:chOff x="1108" y="3739"/>
                  <a:chExt cx="44" cy="23"/>
                </a:xfrm>
              </p:grpSpPr>
              <p:sp>
                <p:nvSpPr>
                  <p:cNvPr id="202"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 name="Group 2462"/>
                <p:cNvGrpSpPr>
                  <a:grpSpLocks/>
                </p:cNvGrpSpPr>
                <p:nvPr/>
              </p:nvGrpSpPr>
              <p:grpSpPr bwMode="auto">
                <a:xfrm>
                  <a:off x="1121" y="3753"/>
                  <a:ext cx="45" cy="23"/>
                  <a:chOff x="1121" y="3753"/>
                  <a:chExt cx="45" cy="23"/>
                </a:xfrm>
              </p:grpSpPr>
              <p:sp>
                <p:nvSpPr>
                  <p:cNvPr id="199"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1" name="Group 2466"/>
                <p:cNvGrpSpPr>
                  <a:grpSpLocks/>
                </p:cNvGrpSpPr>
                <p:nvPr/>
              </p:nvGrpSpPr>
              <p:grpSpPr bwMode="auto">
                <a:xfrm>
                  <a:off x="1133" y="3767"/>
                  <a:ext cx="44" cy="23"/>
                  <a:chOff x="1133" y="3767"/>
                  <a:chExt cx="44" cy="23"/>
                </a:xfrm>
              </p:grpSpPr>
              <p:sp>
                <p:nvSpPr>
                  <p:cNvPr id="196"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7"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2"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1"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2"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3" name="Group 2481"/>
                <p:cNvGrpSpPr>
                  <a:grpSpLocks/>
                </p:cNvGrpSpPr>
                <p:nvPr/>
              </p:nvGrpSpPr>
              <p:grpSpPr bwMode="auto">
                <a:xfrm>
                  <a:off x="700" y="3535"/>
                  <a:ext cx="49" cy="24"/>
                  <a:chOff x="700" y="3535"/>
                  <a:chExt cx="49" cy="24"/>
                </a:xfrm>
              </p:grpSpPr>
              <p:sp>
                <p:nvSpPr>
                  <p:cNvPr id="193"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 name="Group 2485"/>
                <p:cNvGrpSpPr>
                  <a:grpSpLocks/>
                </p:cNvGrpSpPr>
                <p:nvPr/>
              </p:nvGrpSpPr>
              <p:grpSpPr bwMode="auto">
                <a:xfrm>
                  <a:off x="714" y="3551"/>
                  <a:ext cx="49" cy="22"/>
                  <a:chOff x="714" y="3551"/>
                  <a:chExt cx="49" cy="22"/>
                </a:xfrm>
              </p:grpSpPr>
              <p:sp>
                <p:nvSpPr>
                  <p:cNvPr id="190"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 name="Group 2489"/>
                <p:cNvGrpSpPr>
                  <a:grpSpLocks/>
                </p:cNvGrpSpPr>
                <p:nvPr/>
              </p:nvGrpSpPr>
              <p:grpSpPr bwMode="auto">
                <a:xfrm>
                  <a:off x="728" y="3564"/>
                  <a:ext cx="48" cy="23"/>
                  <a:chOff x="728" y="3564"/>
                  <a:chExt cx="48" cy="23"/>
                </a:xfrm>
              </p:grpSpPr>
              <p:sp>
                <p:nvSpPr>
                  <p:cNvPr id="187"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6" name="Group 2493"/>
                <p:cNvGrpSpPr>
                  <a:grpSpLocks/>
                </p:cNvGrpSpPr>
                <p:nvPr/>
              </p:nvGrpSpPr>
              <p:grpSpPr bwMode="auto">
                <a:xfrm>
                  <a:off x="742" y="3582"/>
                  <a:ext cx="49" cy="23"/>
                  <a:chOff x="742" y="3582"/>
                  <a:chExt cx="49" cy="23"/>
                </a:xfrm>
              </p:grpSpPr>
              <p:sp>
                <p:nvSpPr>
                  <p:cNvPr id="184"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7" name="Group 2497"/>
                <p:cNvGrpSpPr>
                  <a:grpSpLocks/>
                </p:cNvGrpSpPr>
                <p:nvPr/>
              </p:nvGrpSpPr>
              <p:grpSpPr bwMode="auto">
                <a:xfrm>
                  <a:off x="752" y="3597"/>
                  <a:ext cx="133" cy="106"/>
                  <a:chOff x="752" y="3597"/>
                  <a:chExt cx="133" cy="106"/>
                </a:xfrm>
              </p:grpSpPr>
              <p:sp>
                <p:nvSpPr>
                  <p:cNvPr id="181"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8" name="Group 2501"/>
                <p:cNvGrpSpPr>
                  <a:grpSpLocks/>
                </p:cNvGrpSpPr>
                <p:nvPr/>
              </p:nvGrpSpPr>
              <p:grpSpPr bwMode="auto">
                <a:xfrm>
                  <a:off x="844" y="3694"/>
                  <a:ext cx="48" cy="23"/>
                  <a:chOff x="844" y="3694"/>
                  <a:chExt cx="48" cy="23"/>
                </a:xfrm>
              </p:grpSpPr>
              <p:sp>
                <p:nvSpPr>
                  <p:cNvPr id="178"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9" name="Group 2505"/>
                <p:cNvGrpSpPr>
                  <a:grpSpLocks/>
                </p:cNvGrpSpPr>
                <p:nvPr/>
              </p:nvGrpSpPr>
              <p:grpSpPr bwMode="auto">
                <a:xfrm>
                  <a:off x="857" y="3710"/>
                  <a:ext cx="49" cy="22"/>
                  <a:chOff x="857" y="3710"/>
                  <a:chExt cx="49" cy="22"/>
                </a:xfrm>
              </p:grpSpPr>
              <p:sp>
                <p:nvSpPr>
                  <p:cNvPr id="175"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 name="Group 2509"/>
                <p:cNvGrpSpPr>
                  <a:grpSpLocks/>
                </p:cNvGrpSpPr>
                <p:nvPr/>
              </p:nvGrpSpPr>
              <p:grpSpPr bwMode="auto">
                <a:xfrm>
                  <a:off x="1086" y="3766"/>
                  <a:ext cx="49" cy="23"/>
                  <a:chOff x="1086" y="3766"/>
                  <a:chExt cx="49" cy="23"/>
                </a:xfrm>
              </p:grpSpPr>
              <p:sp>
                <p:nvSpPr>
                  <p:cNvPr id="172"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 name="Group 2513"/>
                <p:cNvGrpSpPr>
                  <a:grpSpLocks/>
                </p:cNvGrpSpPr>
                <p:nvPr/>
              </p:nvGrpSpPr>
              <p:grpSpPr bwMode="auto">
                <a:xfrm>
                  <a:off x="934" y="3740"/>
                  <a:ext cx="48" cy="23"/>
                  <a:chOff x="934" y="3740"/>
                  <a:chExt cx="48" cy="23"/>
                </a:xfrm>
              </p:grpSpPr>
              <p:sp>
                <p:nvSpPr>
                  <p:cNvPr id="169"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 name="Group 2517"/>
                <p:cNvGrpSpPr>
                  <a:grpSpLocks/>
                </p:cNvGrpSpPr>
                <p:nvPr/>
              </p:nvGrpSpPr>
              <p:grpSpPr bwMode="auto">
                <a:xfrm>
                  <a:off x="943" y="3754"/>
                  <a:ext cx="49" cy="23"/>
                  <a:chOff x="943" y="3754"/>
                  <a:chExt cx="49" cy="23"/>
                </a:xfrm>
              </p:grpSpPr>
              <p:sp>
                <p:nvSpPr>
                  <p:cNvPr id="166"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63"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 name="Group 2524"/>
              <p:cNvGrpSpPr>
                <a:grpSpLocks/>
              </p:cNvGrpSpPr>
              <p:nvPr/>
            </p:nvGrpSpPr>
            <p:grpSpPr bwMode="auto">
              <a:xfrm>
                <a:off x="920" y="3821"/>
                <a:ext cx="413" cy="50"/>
                <a:chOff x="920" y="3821"/>
                <a:chExt cx="413" cy="50"/>
              </a:xfrm>
            </p:grpSpPr>
            <p:sp>
              <p:nvSpPr>
                <p:cNvPr id="81"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4"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61" name="Group 2529"/>
              <p:cNvGrpSpPr>
                <a:grpSpLocks/>
              </p:cNvGrpSpPr>
              <p:nvPr/>
            </p:nvGrpSpPr>
            <p:grpSpPr bwMode="auto">
              <a:xfrm>
                <a:off x="1227" y="3477"/>
                <a:ext cx="508" cy="321"/>
                <a:chOff x="1227" y="3477"/>
                <a:chExt cx="508" cy="321"/>
              </a:xfrm>
            </p:grpSpPr>
            <p:sp>
              <p:nvSpPr>
                <p:cNvPr id="62"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7"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8"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0"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sp>
          <p:nvSpPr>
            <p:cNvPr id="501" name="Line 3458"/>
            <p:cNvSpPr>
              <a:spLocks noChangeShapeType="1"/>
            </p:cNvSpPr>
            <p:nvPr/>
          </p:nvSpPr>
          <p:spPr bwMode="auto">
            <a:xfrm rot="816166" flipV="1">
              <a:off x="1373235" y="1425345"/>
              <a:ext cx="3117942" cy="691145"/>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2" name="Text Box 3475"/>
            <p:cNvSpPr txBox="1">
              <a:spLocks noChangeArrowheads="1"/>
            </p:cNvSpPr>
            <p:nvPr/>
          </p:nvSpPr>
          <p:spPr bwMode="auto">
            <a:xfrm>
              <a:off x="900113" y="13414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503" name="Line 3490"/>
            <p:cNvSpPr>
              <a:spLocks noChangeShapeType="1"/>
            </p:cNvSpPr>
            <p:nvPr/>
          </p:nvSpPr>
          <p:spPr bwMode="auto">
            <a:xfrm rot="816166" flipV="1">
              <a:off x="1503461" y="721166"/>
              <a:ext cx="4194552" cy="1476844"/>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4" name="Line 3491"/>
            <p:cNvSpPr>
              <a:spLocks noChangeShapeType="1"/>
            </p:cNvSpPr>
            <p:nvPr/>
          </p:nvSpPr>
          <p:spPr bwMode="auto">
            <a:xfrm rot="816166" flipV="1">
              <a:off x="1607792" y="117307"/>
              <a:ext cx="3250921" cy="1899473"/>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5" name="Line 3492"/>
            <p:cNvSpPr>
              <a:spLocks noChangeShapeType="1"/>
            </p:cNvSpPr>
            <p:nvPr/>
          </p:nvSpPr>
          <p:spPr bwMode="auto">
            <a:xfrm rot="816166" flipV="1">
              <a:off x="1392238" y="838200"/>
              <a:ext cx="506412" cy="744538"/>
            </a:xfrm>
            <a:prstGeom prst="line">
              <a:avLst/>
            </a:prstGeom>
            <a:noFill/>
            <a:ln w="38100">
              <a:solidFill>
                <a:srgbClr val="99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6" name="Line 4401"/>
            <p:cNvSpPr>
              <a:spLocks noChangeShapeType="1"/>
            </p:cNvSpPr>
            <p:nvPr/>
          </p:nvSpPr>
          <p:spPr bwMode="auto">
            <a:xfrm rot="816166" flipV="1">
              <a:off x="5429250" y="528638"/>
              <a:ext cx="1381125" cy="1127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7" name="Line 4402"/>
            <p:cNvSpPr>
              <a:spLocks noChangeShapeType="1"/>
            </p:cNvSpPr>
            <p:nvPr/>
          </p:nvSpPr>
          <p:spPr bwMode="auto">
            <a:xfrm rot="816166" flipH="1">
              <a:off x="3189288" y="438150"/>
              <a:ext cx="1752600" cy="19272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Line 4403"/>
            <p:cNvSpPr>
              <a:spLocks noChangeShapeType="1"/>
            </p:cNvSpPr>
            <p:nvPr/>
          </p:nvSpPr>
          <p:spPr bwMode="auto">
            <a:xfrm rot="816166">
              <a:off x="5305425" y="641350"/>
              <a:ext cx="836613" cy="3905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Line 4404"/>
            <p:cNvSpPr>
              <a:spLocks noChangeShapeType="1"/>
            </p:cNvSpPr>
            <p:nvPr/>
          </p:nvSpPr>
          <p:spPr bwMode="auto">
            <a:xfrm rot="816166" flipV="1">
              <a:off x="4945063" y="2055813"/>
              <a:ext cx="1173162" cy="1587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Line 4408"/>
            <p:cNvSpPr>
              <a:spLocks noChangeShapeType="1"/>
            </p:cNvSpPr>
            <p:nvPr/>
          </p:nvSpPr>
          <p:spPr bwMode="auto">
            <a:xfrm rot="816166" flipH="1">
              <a:off x="6443663" y="860425"/>
              <a:ext cx="228600" cy="1243013"/>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Text Box 3475"/>
            <p:cNvSpPr txBox="1">
              <a:spLocks noChangeArrowheads="1"/>
            </p:cNvSpPr>
            <p:nvPr/>
          </p:nvSpPr>
          <p:spPr bwMode="auto">
            <a:xfrm>
              <a:off x="4467224" y="1603084"/>
              <a:ext cx="386609"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
              </a:r>
              <a:endParaRPr lang="en-US" altLang="zh-CN" sz="1100" b="1" i="1" dirty="0">
                <a:latin typeface="微软雅黑" panose="020B0503020204020204" pitchFamily="34" charset="-122"/>
                <a:ea typeface="微软雅黑" panose="020B0503020204020204" pitchFamily="34" charset="-122"/>
              </a:endParaRPr>
            </a:p>
          </p:txBody>
        </p:sp>
        <p:sp>
          <p:nvSpPr>
            <p:cNvPr id="512" name="Text Box 3475"/>
            <p:cNvSpPr txBox="1">
              <a:spLocks noChangeArrowheads="1"/>
            </p:cNvSpPr>
            <p:nvPr/>
          </p:nvSpPr>
          <p:spPr bwMode="auto">
            <a:xfrm>
              <a:off x="5678712" y="991925"/>
              <a:ext cx="48048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a:t>
              </a:r>
              <a:endParaRPr lang="en-US" altLang="zh-CN" sz="1100" b="1" i="1" dirty="0">
                <a:latin typeface="微软雅黑" panose="020B0503020204020204" pitchFamily="34" charset="-122"/>
                <a:ea typeface="微软雅黑" panose="020B0503020204020204" pitchFamily="34" charset="-122"/>
              </a:endParaRPr>
            </a:p>
          </p:txBody>
        </p:sp>
        <p:sp>
          <p:nvSpPr>
            <p:cNvPr id="513" name="Text Box 3475"/>
            <p:cNvSpPr txBox="1">
              <a:spLocks noChangeArrowheads="1"/>
            </p:cNvSpPr>
            <p:nvPr/>
          </p:nvSpPr>
          <p:spPr bwMode="auto">
            <a:xfrm>
              <a:off x="4932363" y="1889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p>
          </p:txBody>
        </p:sp>
        <p:sp>
          <p:nvSpPr>
            <p:cNvPr id="514" name="Line 4406"/>
            <p:cNvSpPr>
              <a:spLocks noChangeShapeType="1"/>
            </p:cNvSpPr>
            <p:nvPr/>
          </p:nvSpPr>
          <p:spPr bwMode="auto">
            <a:xfrm rot="816166" flipV="1">
              <a:off x="5060950" y="1389063"/>
              <a:ext cx="752475" cy="558800"/>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5" name="Line 4406"/>
            <p:cNvSpPr>
              <a:spLocks noChangeShapeType="1"/>
            </p:cNvSpPr>
            <p:nvPr/>
          </p:nvSpPr>
          <p:spPr bwMode="auto">
            <a:xfrm rot="816166" flipH="1">
              <a:off x="5062538" y="674688"/>
              <a:ext cx="26987" cy="11160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6" name="椭圆 515"/>
            <p:cNvSpPr/>
            <p:nvPr/>
          </p:nvSpPr>
          <p:spPr bwMode="auto">
            <a:xfrm>
              <a:off x="827088" y="42926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7" name="椭圆 516"/>
            <p:cNvSpPr/>
            <p:nvPr/>
          </p:nvSpPr>
          <p:spPr bwMode="auto">
            <a:xfrm>
              <a:off x="1979613" y="2852738"/>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8" name="椭圆 517"/>
            <p:cNvSpPr/>
            <p:nvPr/>
          </p:nvSpPr>
          <p:spPr bwMode="auto">
            <a:xfrm>
              <a:off x="3132138" y="4365625"/>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9" name="椭圆 518"/>
            <p:cNvSpPr/>
            <p:nvPr/>
          </p:nvSpPr>
          <p:spPr bwMode="auto">
            <a:xfrm>
              <a:off x="5724525" y="42211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0" name="椭圆 519"/>
            <p:cNvSpPr/>
            <p:nvPr/>
          </p:nvSpPr>
          <p:spPr bwMode="auto">
            <a:xfrm>
              <a:off x="7092950" y="2852738"/>
              <a:ext cx="215900" cy="217487"/>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1" name="椭圆 520"/>
            <p:cNvSpPr/>
            <p:nvPr/>
          </p:nvSpPr>
          <p:spPr bwMode="auto">
            <a:xfrm>
              <a:off x="6227763" y="31416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2" name="椭圆 521"/>
            <p:cNvSpPr/>
            <p:nvPr/>
          </p:nvSpPr>
          <p:spPr bwMode="auto">
            <a:xfrm>
              <a:off x="7812088" y="34290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523" name="直接连接符 5708"/>
            <p:cNvCxnSpPr>
              <a:cxnSpLocks noChangeShapeType="1"/>
              <a:endCxn id="516" idx="0"/>
            </p:cNvCxnSpPr>
            <p:nvPr/>
          </p:nvCxnSpPr>
          <p:spPr bwMode="auto">
            <a:xfrm flipH="1">
              <a:off x="935038" y="1844675"/>
              <a:ext cx="252412" cy="244792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4" name="直接连接符 5709"/>
            <p:cNvCxnSpPr>
              <a:cxnSpLocks noChangeShapeType="1"/>
              <a:stCxn id="2835" idx="7"/>
              <a:endCxn id="521" idx="0"/>
            </p:cNvCxnSpPr>
            <p:nvPr/>
          </p:nvCxnSpPr>
          <p:spPr bwMode="auto">
            <a:xfrm>
              <a:off x="6223000" y="2347913"/>
              <a:ext cx="112713" cy="79375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5" name="直接连接符 5710"/>
            <p:cNvCxnSpPr>
              <a:cxnSpLocks noChangeShapeType="1"/>
              <a:endCxn id="518" idx="7"/>
            </p:cNvCxnSpPr>
            <p:nvPr/>
          </p:nvCxnSpPr>
          <p:spPr bwMode="auto">
            <a:xfrm flipH="1">
              <a:off x="3316288" y="2060575"/>
              <a:ext cx="1327150" cy="23368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6" name="直接连接符 5711"/>
            <p:cNvCxnSpPr>
              <a:cxnSpLocks noChangeShapeType="1"/>
              <a:stCxn id="1473" idx="7"/>
              <a:endCxn id="517" idx="7"/>
            </p:cNvCxnSpPr>
            <p:nvPr/>
          </p:nvCxnSpPr>
          <p:spPr bwMode="auto">
            <a:xfrm flipH="1">
              <a:off x="2163763" y="2225675"/>
              <a:ext cx="584200" cy="658813"/>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7" name="直接连接符 5712"/>
            <p:cNvCxnSpPr>
              <a:cxnSpLocks noChangeShapeType="1"/>
              <a:endCxn id="522" idx="1"/>
            </p:cNvCxnSpPr>
            <p:nvPr/>
          </p:nvCxnSpPr>
          <p:spPr bwMode="auto">
            <a:xfrm>
              <a:off x="6948488" y="908050"/>
              <a:ext cx="895350" cy="25527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8" name="直接连接符 5713"/>
            <p:cNvCxnSpPr>
              <a:cxnSpLocks noChangeShapeType="1"/>
              <a:endCxn id="519" idx="0"/>
            </p:cNvCxnSpPr>
            <p:nvPr/>
          </p:nvCxnSpPr>
          <p:spPr bwMode="auto">
            <a:xfrm>
              <a:off x="5292725" y="549275"/>
              <a:ext cx="539750" cy="3671888"/>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9" name="直接连接符 5714"/>
            <p:cNvCxnSpPr>
              <a:cxnSpLocks noChangeShapeType="1"/>
              <a:endCxn id="520" idx="1"/>
            </p:cNvCxnSpPr>
            <p:nvPr/>
          </p:nvCxnSpPr>
          <p:spPr bwMode="auto">
            <a:xfrm>
              <a:off x="6084888" y="1484313"/>
              <a:ext cx="1039812" cy="140017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graphicFrame>
          <p:nvGraphicFramePr>
            <p:cNvPr id="530" name="Object 58"/>
            <p:cNvGraphicFramePr>
              <a:graphicFrameLocks noChangeAspect="1"/>
            </p:cNvGraphicFramePr>
            <p:nvPr>
              <p:extLst/>
            </p:nvPr>
          </p:nvGraphicFramePr>
          <p:xfrm>
            <a:off x="4284663" y="3068638"/>
            <a:ext cx="957262" cy="693737"/>
          </p:xfrm>
          <a:graphic>
            <a:graphicData uri="http://schemas.openxmlformats.org/presentationml/2006/ole">
              <mc:AlternateContent xmlns:mc="http://schemas.openxmlformats.org/markup-compatibility/2006">
                <mc:Choice xmlns:v="urn:schemas-microsoft-com:vml" Requires="v">
                  <p:oleObj spid="_x0000_s30828" name="VISIO" r:id="rId6" imgW="1687068" imgH="964692" progId="">
                    <p:embed/>
                  </p:oleObj>
                </mc:Choice>
                <mc:Fallback>
                  <p:oleObj name="VISIO" r:id="rId6" imgW="1687068" imgH="964692" progId="">
                    <p:embed/>
                    <p:pic>
                      <p:nvPicPr>
                        <p:cNvPr id="530" name="Object 5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84663" y="3068638"/>
                          <a:ext cx="957262" cy="6937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pSp>
          <p:nvGrpSpPr>
            <p:cNvPr id="531" name="Group 2096"/>
            <p:cNvGrpSpPr>
              <a:grpSpLocks/>
            </p:cNvGrpSpPr>
            <p:nvPr/>
          </p:nvGrpSpPr>
          <p:grpSpPr bwMode="auto">
            <a:xfrm>
              <a:off x="971550" y="1484313"/>
              <a:ext cx="431800" cy="330200"/>
              <a:chOff x="624" y="2968"/>
              <a:chExt cx="1331" cy="920"/>
            </a:xfrm>
          </p:grpSpPr>
          <p:sp>
            <p:nvSpPr>
              <p:cNvPr id="53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44" name="Group 2109"/>
              <p:cNvGrpSpPr>
                <a:grpSpLocks/>
              </p:cNvGrpSpPr>
              <p:nvPr/>
            </p:nvGrpSpPr>
            <p:grpSpPr bwMode="auto">
              <a:xfrm>
                <a:off x="700" y="3526"/>
                <a:ext cx="515" cy="270"/>
                <a:chOff x="700" y="3526"/>
                <a:chExt cx="515" cy="270"/>
              </a:xfrm>
            </p:grpSpPr>
            <p:grpSp>
              <p:nvGrpSpPr>
                <p:cNvPr id="570" name="Group 2110"/>
                <p:cNvGrpSpPr>
                  <a:grpSpLocks/>
                </p:cNvGrpSpPr>
                <p:nvPr/>
              </p:nvGrpSpPr>
              <p:grpSpPr bwMode="auto">
                <a:xfrm>
                  <a:off x="737" y="3534"/>
                  <a:ext cx="49" cy="23"/>
                  <a:chOff x="737" y="3534"/>
                  <a:chExt cx="49" cy="23"/>
                </a:xfrm>
              </p:grpSpPr>
              <p:sp>
                <p:nvSpPr>
                  <p:cNvPr id="98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1" name="Group 2114"/>
                <p:cNvGrpSpPr>
                  <a:grpSpLocks/>
                </p:cNvGrpSpPr>
                <p:nvPr/>
              </p:nvGrpSpPr>
              <p:grpSpPr bwMode="auto">
                <a:xfrm>
                  <a:off x="748" y="3547"/>
                  <a:ext cx="50" cy="23"/>
                  <a:chOff x="748" y="3547"/>
                  <a:chExt cx="50" cy="23"/>
                </a:xfrm>
              </p:grpSpPr>
              <p:sp>
                <p:nvSpPr>
                  <p:cNvPr id="97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7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76" name="Group 2122"/>
                <p:cNvGrpSpPr>
                  <a:grpSpLocks/>
                </p:cNvGrpSpPr>
                <p:nvPr/>
              </p:nvGrpSpPr>
              <p:grpSpPr bwMode="auto">
                <a:xfrm>
                  <a:off x="872" y="3547"/>
                  <a:ext cx="50" cy="23"/>
                  <a:chOff x="872" y="3547"/>
                  <a:chExt cx="50" cy="23"/>
                </a:xfrm>
              </p:grpSpPr>
              <p:sp>
                <p:nvSpPr>
                  <p:cNvPr id="97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7" name="Group 2126"/>
                <p:cNvGrpSpPr>
                  <a:grpSpLocks/>
                </p:cNvGrpSpPr>
                <p:nvPr/>
              </p:nvGrpSpPr>
              <p:grpSpPr bwMode="auto">
                <a:xfrm>
                  <a:off x="885" y="3559"/>
                  <a:ext cx="50" cy="23"/>
                  <a:chOff x="885" y="3559"/>
                  <a:chExt cx="50" cy="23"/>
                </a:xfrm>
              </p:grpSpPr>
              <p:sp>
                <p:nvSpPr>
                  <p:cNvPr id="97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8" name="Group 2130"/>
                <p:cNvGrpSpPr>
                  <a:grpSpLocks/>
                </p:cNvGrpSpPr>
                <p:nvPr/>
              </p:nvGrpSpPr>
              <p:grpSpPr bwMode="auto">
                <a:xfrm>
                  <a:off x="898" y="3571"/>
                  <a:ext cx="49" cy="23"/>
                  <a:chOff x="898" y="3571"/>
                  <a:chExt cx="49" cy="23"/>
                </a:xfrm>
              </p:grpSpPr>
              <p:sp>
                <p:nvSpPr>
                  <p:cNvPr id="96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9" name="Group 2134"/>
                <p:cNvGrpSpPr>
                  <a:grpSpLocks/>
                </p:cNvGrpSpPr>
                <p:nvPr/>
              </p:nvGrpSpPr>
              <p:grpSpPr bwMode="auto">
                <a:xfrm>
                  <a:off x="911" y="3585"/>
                  <a:ext cx="49" cy="23"/>
                  <a:chOff x="911" y="3585"/>
                  <a:chExt cx="49" cy="23"/>
                </a:xfrm>
              </p:grpSpPr>
              <p:sp>
                <p:nvSpPr>
                  <p:cNvPr id="96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0" name="Group 2138"/>
                <p:cNvGrpSpPr>
                  <a:grpSpLocks/>
                </p:cNvGrpSpPr>
                <p:nvPr/>
              </p:nvGrpSpPr>
              <p:grpSpPr bwMode="auto">
                <a:xfrm>
                  <a:off x="923" y="3600"/>
                  <a:ext cx="99" cy="73"/>
                  <a:chOff x="923" y="3600"/>
                  <a:chExt cx="99" cy="73"/>
                </a:xfrm>
              </p:grpSpPr>
              <p:grpSp>
                <p:nvGrpSpPr>
                  <p:cNvPr id="946" name="Group 2139"/>
                  <p:cNvGrpSpPr>
                    <a:grpSpLocks/>
                  </p:cNvGrpSpPr>
                  <p:nvPr/>
                </p:nvGrpSpPr>
                <p:grpSpPr bwMode="auto">
                  <a:xfrm>
                    <a:off x="923" y="3600"/>
                    <a:ext cx="49" cy="23"/>
                    <a:chOff x="923" y="3600"/>
                    <a:chExt cx="49" cy="23"/>
                  </a:xfrm>
                </p:grpSpPr>
                <p:sp>
                  <p:nvSpPr>
                    <p:cNvPr id="96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7" name="Group 2143"/>
                  <p:cNvGrpSpPr>
                    <a:grpSpLocks/>
                  </p:cNvGrpSpPr>
                  <p:nvPr/>
                </p:nvGrpSpPr>
                <p:grpSpPr bwMode="auto">
                  <a:xfrm>
                    <a:off x="935" y="3612"/>
                    <a:ext cx="48" cy="23"/>
                    <a:chOff x="935" y="3612"/>
                    <a:chExt cx="48" cy="23"/>
                  </a:xfrm>
                </p:grpSpPr>
                <p:sp>
                  <p:nvSpPr>
                    <p:cNvPr id="96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8" name="Group 2147"/>
                  <p:cNvGrpSpPr>
                    <a:grpSpLocks/>
                  </p:cNvGrpSpPr>
                  <p:nvPr/>
                </p:nvGrpSpPr>
                <p:grpSpPr bwMode="auto">
                  <a:xfrm>
                    <a:off x="947" y="3625"/>
                    <a:ext cx="50" cy="22"/>
                    <a:chOff x="947" y="3625"/>
                    <a:chExt cx="50" cy="22"/>
                  </a:xfrm>
                </p:grpSpPr>
                <p:sp>
                  <p:nvSpPr>
                    <p:cNvPr id="95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9" name="Group 2151"/>
                  <p:cNvGrpSpPr>
                    <a:grpSpLocks/>
                  </p:cNvGrpSpPr>
                  <p:nvPr/>
                </p:nvGrpSpPr>
                <p:grpSpPr bwMode="auto">
                  <a:xfrm>
                    <a:off x="960" y="3637"/>
                    <a:ext cx="50" cy="23"/>
                    <a:chOff x="960" y="3637"/>
                    <a:chExt cx="50" cy="23"/>
                  </a:xfrm>
                </p:grpSpPr>
                <p:sp>
                  <p:nvSpPr>
                    <p:cNvPr id="95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0" name="Group 2155"/>
                  <p:cNvGrpSpPr>
                    <a:grpSpLocks/>
                  </p:cNvGrpSpPr>
                  <p:nvPr/>
                </p:nvGrpSpPr>
                <p:grpSpPr bwMode="auto">
                  <a:xfrm>
                    <a:off x="973" y="3650"/>
                    <a:ext cx="49" cy="23"/>
                    <a:chOff x="973" y="3650"/>
                    <a:chExt cx="49" cy="23"/>
                  </a:xfrm>
                </p:grpSpPr>
                <p:sp>
                  <p:nvSpPr>
                    <p:cNvPr id="95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1" name="Group 2159"/>
                <p:cNvGrpSpPr>
                  <a:grpSpLocks/>
                </p:cNvGrpSpPr>
                <p:nvPr/>
              </p:nvGrpSpPr>
              <p:grpSpPr bwMode="auto">
                <a:xfrm>
                  <a:off x="985" y="3665"/>
                  <a:ext cx="100" cy="73"/>
                  <a:chOff x="985" y="3665"/>
                  <a:chExt cx="100" cy="73"/>
                </a:xfrm>
              </p:grpSpPr>
              <p:grpSp>
                <p:nvGrpSpPr>
                  <p:cNvPr id="926" name="Group 2160"/>
                  <p:cNvGrpSpPr>
                    <a:grpSpLocks/>
                  </p:cNvGrpSpPr>
                  <p:nvPr/>
                </p:nvGrpSpPr>
                <p:grpSpPr bwMode="auto">
                  <a:xfrm>
                    <a:off x="985" y="3665"/>
                    <a:ext cx="50" cy="23"/>
                    <a:chOff x="985" y="3665"/>
                    <a:chExt cx="50" cy="23"/>
                  </a:xfrm>
                </p:grpSpPr>
                <p:sp>
                  <p:nvSpPr>
                    <p:cNvPr id="94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7" name="Group 2164"/>
                  <p:cNvGrpSpPr>
                    <a:grpSpLocks/>
                  </p:cNvGrpSpPr>
                  <p:nvPr/>
                </p:nvGrpSpPr>
                <p:grpSpPr bwMode="auto">
                  <a:xfrm>
                    <a:off x="997" y="3677"/>
                    <a:ext cx="49" cy="23"/>
                    <a:chOff x="997" y="3677"/>
                    <a:chExt cx="49" cy="23"/>
                  </a:xfrm>
                </p:grpSpPr>
                <p:sp>
                  <p:nvSpPr>
                    <p:cNvPr id="94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8" name="Group 2168"/>
                  <p:cNvGrpSpPr>
                    <a:grpSpLocks/>
                  </p:cNvGrpSpPr>
                  <p:nvPr/>
                </p:nvGrpSpPr>
                <p:grpSpPr bwMode="auto">
                  <a:xfrm>
                    <a:off x="1010" y="3690"/>
                    <a:ext cx="48" cy="23"/>
                    <a:chOff x="1010" y="3690"/>
                    <a:chExt cx="48" cy="23"/>
                  </a:xfrm>
                </p:grpSpPr>
                <p:sp>
                  <p:nvSpPr>
                    <p:cNvPr id="93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9" name="Group 2172"/>
                  <p:cNvGrpSpPr>
                    <a:grpSpLocks/>
                  </p:cNvGrpSpPr>
                  <p:nvPr/>
                </p:nvGrpSpPr>
                <p:grpSpPr bwMode="auto">
                  <a:xfrm>
                    <a:off x="1023" y="3703"/>
                    <a:ext cx="49" cy="22"/>
                    <a:chOff x="1023" y="3703"/>
                    <a:chExt cx="49" cy="22"/>
                  </a:xfrm>
                </p:grpSpPr>
                <p:sp>
                  <p:nvSpPr>
                    <p:cNvPr id="93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0" name="Group 2176"/>
                  <p:cNvGrpSpPr>
                    <a:grpSpLocks/>
                  </p:cNvGrpSpPr>
                  <p:nvPr/>
                </p:nvGrpSpPr>
                <p:grpSpPr bwMode="auto">
                  <a:xfrm>
                    <a:off x="1036" y="3716"/>
                    <a:ext cx="49" cy="22"/>
                    <a:chOff x="1036" y="3716"/>
                    <a:chExt cx="49" cy="22"/>
                  </a:xfrm>
                </p:grpSpPr>
                <p:sp>
                  <p:nvSpPr>
                    <p:cNvPr id="93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2" name="Group 2180"/>
                <p:cNvGrpSpPr>
                  <a:grpSpLocks/>
                </p:cNvGrpSpPr>
                <p:nvPr/>
              </p:nvGrpSpPr>
              <p:grpSpPr bwMode="auto">
                <a:xfrm>
                  <a:off x="1046" y="3727"/>
                  <a:ext cx="49" cy="23"/>
                  <a:chOff x="1046" y="3727"/>
                  <a:chExt cx="49" cy="23"/>
                </a:xfrm>
              </p:grpSpPr>
              <p:sp>
                <p:nvSpPr>
                  <p:cNvPr id="92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3" name="Group 2184"/>
                <p:cNvGrpSpPr>
                  <a:grpSpLocks/>
                </p:cNvGrpSpPr>
                <p:nvPr/>
              </p:nvGrpSpPr>
              <p:grpSpPr bwMode="auto">
                <a:xfrm>
                  <a:off x="1058" y="3739"/>
                  <a:ext cx="50" cy="23"/>
                  <a:chOff x="1058" y="3739"/>
                  <a:chExt cx="50" cy="23"/>
                </a:xfrm>
              </p:grpSpPr>
              <p:sp>
                <p:nvSpPr>
                  <p:cNvPr id="92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4" name="Group 2188"/>
                <p:cNvGrpSpPr>
                  <a:grpSpLocks/>
                </p:cNvGrpSpPr>
                <p:nvPr/>
              </p:nvGrpSpPr>
              <p:grpSpPr bwMode="auto">
                <a:xfrm>
                  <a:off x="1072" y="3753"/>
                  <a:ext cx="48" cy="22"/>
                  <a:chOff x="1072" y="3753"/>
                  <a:chExt cx="48" cy="22"/>
                </a:xfrm>
              </p:grpSpPr>
              <p:sp>
                <p:nvSpPr>
                  <p:cNvPr id="91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8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88" name="Group 2195"/>
                <p:cNvGrpSpPr>
                  <a:grpSpLocks/>
                </p:cNvGrpSpPr>
                <p:nvPr/>
              </p:nvGrpSpPr>
              <p:grpSpPr bwMode="auto">
                <a:xfrm>
                  <a:off x="832" y="3547"/>
                  <a:ext cx="49" cy="23"/>
                  <a:chOff x="832" y="3547"/>
                  <a:chExt cx="49" cy="23"/>
                </a:xfrm>
              </p:grpSpPr>
              <p:sp>
                <p:nvSpPr>
                  <p:cNvPr id="91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9" name="Group 2199"/>
                <p:cNvGrpSpPr>
                  <a:grpSpLocks/>
                </p:cNvGrpSpPr>
                <p:nvPr/>
              </p:nvGrpSpPr>
              <p:grpSpPr bwMode="auto">
                <a:xfrm>
                  <a:off x="844" y="3560"/>
                  <a:ext cx="49" cy="22"/>
                  <a:chOff x="844" y="3560"/>
                  <a:chExt cx="49" cy="22"/>
                </a:xfrm>
              </p:grpSpPr>
              <p:sp>
                <p:nvSpPr>
                  <p:cNvPr id="91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0" name="Group 2203"/>
                <p:cNvGrpSpPr>
                  <a:grpSpLocks/>
                </p:cNvGrpSpPr>
                <p:nvPr/>
              </p:nvGrpSpPr>
              <p:grpSpPr bwMode="auto">
                <a:xfrm>
                  <a:off x="857" y="3572"/>
                  <a:ext cx="50" cy="23"/>
                  <a:chOff x="857" y="3572"/>
                  <a:chExt cx="50" cy="23"/>
                </a:xfrm>
              </p:grpSpPr>
              <p:sp>
                <p:nvSpPr>
                  <p:cNvPr id="90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1" name="Group 2207"/>
                <p:cNvGrpSpPr>
                  <a:grpSpLocks/>
                </p:cNvGrpSpPr>
                <p:nvPr/>
              </p:nvGrpSpPr>
              <p:grpSpPr bwMode="auto">
                <a:xfrm>
                  <a:off x="870" y="3585"/>
                  <a:ext cx="48" cy="23"/>
                  <a:chOff x="870" y="3585"/>
                  <a:chExt cx="48" cy="23"/>
                </a:xfrm>
              </p:grpSpPr>
              <p:sp>
                <p:nvSpPr>
                  <p:cNvPr id="90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2" name="Group 2211"/>
                <p:cNvGrpSpPr>
                  <a:grpSpLocks/>
                </p:cNvGrpSpPr>
                <p:nvPr/>
              </p:nvGrpSpPr>
              <p:grpSpPr bwMode="auto">
                <a:xfrm>
                  <a:off x="882" y="3600"/>
                  <a:ext cx="100" cy="73"/>
                  <a:chOff x="882" y="3600"/>
                  <a:chExt cx="100" cy="73"/>
                </a:xfrm>
              </p:grpSpPr>
              <p:grpSp>
                <p:nvGrpSpPr>
                  <p:cNvPr id="885" name="Group 2212"/>
                  <p:cNvGrpSpPr>
                    <a:grpSpLocks/>
                  </p:cNvGrpSpPr>
                  <p:nvPr/>
                </p:nvGrpSpPr>
                <p:grpSpPr bwMode="auto">
                  <a:xfrm>
                    <a:off x="882" y="3600"/>
                    <a:ext cx="49" cy="23"/>
                    <a:chOff x="882" y="3600"/>
                    <a:chExt cx="49" cy="23"/>
                  </a:xfrm>
                </p:grpSpPr>
                <p:sp>
                  <p:nvSpPr>
                    <p:cNvPr id="90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6" name="Group 2216"/>
                  <p:cNvGrpSpPr>
                    <a:grpSpLocks/>
                  </p:cNvGrpSpPr>
                  <p:nvPr/>
                </p:nvGrpSpPr>
                <p:grpSpPr bwMode="auto">
                  <a:xfrm>
                    <a:off x="894" y="3612"/>
                    <a:ext cx="49" cy="23"/>
                    <a:chOff x="894" y="3612"/>
                    <a:chExt cx="49" cy="23"/>
                  </a:xfrm>
                </p:grpSpPr>
                <p:sp>
                  <p:nvSpPr>
                    <p:cNvPr id="89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7" name="Group 2220"/>
                  <p:cNvGrpSpPr>
                    <a:grpSpLocks/>
                  </p:cNvGrpSpPr>
                  <p:nvPr/>
                </p:nvGrpSpPr>
                <p:grpSpPr bwMode="auto">
                  <a:xfrm>
                    <a:off x="907" y="3625"/>
                    <a:ext cx="49" cy="23"/>
                    <a:chOff x="907" y="3625"/>
                    <a:chExt cx="49" cy="23"/>
                  </a:xfrm>
                </p:grpSpPr>
                <p:sp>
                  <p:nvSpPr>
                    <p:cNvPr id="89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8" name="Group 2224"/>
                  <p:cNvGrpSpPr>
                    <a:grpSpLocks/>
                  </p:cNvGrpSpPr>
                  <p:nvPr/>
                </p:nvGrpSpPr>
                <p:grpSpPr bwMode="auto">
                  <a:xfrm>
                    <a:off x="919" y="3638"/>
                    <a:ext cx="49" cy="22"/>
                    <a:chOff x="919" y="3638"/>
                    <a:chExt cx="49" cy="22"/>
                  </a:xfrm>
                </p:grpSpPr>
                <p:sp>
                  <p:nvSpPr>
                    <p:cNvPr id="89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9" name="Group 2228"/>
                  <p:cNvGrpSpPr>
                    <a:grpSpLocks/>
                  </p:cNvGrpSpPr>
                  <p:nvPr/>
                </p:nvGrpSpPr>
                <p:grpSpPr bwMode="auto">
                  <a:xfrm>
                    <a:off x="932" y="3651"/>
                    <a:ext cx="50" cy="22"/>
                    <a:chOff x="932" y="3651"/>
                    <a:chExt cx="50" cy="22"/>
                  </a:xfrm>
                </p:grpSpPr>
                <p:sp>
                  <p:nvSpPr>
                    <p:cNvPr id="89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3" name="Group 2232"/>
                <p:cNvGrpSpPr>
                  <a:grpSpLocks/>
                </p:cNvGrpSpPr>
                <p:nvPr/>
              </p:nvGrpSpPr>
              <p:grpSpPr bwMode="auto">
                <a:xfrm>
                  <a:off x="944" y="3665"/>
                  <a:ext cx="99" cy="74"/>
                  <a:chOff x="944" y="3665"/>
                  <a:chExt cx="99" cy="74"/>
                </a:xfrm>
              </p:grpSpPr>
              <p:grpSp>
                <p:nvGrpSpPr>
                  <p:cNvPr id="865" name="Group 2233"/>
                  <p:cNvGrpSpPr>
                    <a:grpSpLocks/>
                  </p:cNvGrpSpPr>
                  <p:nvPr/>
                </p:nvGrpSpPr>
                <p:grpSpPr bwMode="auto">
                  <a:xfrm>
                    <a:off x="944" y="3665"/>
                    <a:ext cx="49" cy="23"/>
                    <a:chOff x="944" y="3665"/>
                    <a:chExt cx="49" cy="23"/>
                  </a:xfrm>
                </p:grpSpPr>
                <p:sp>
                  <p:nvSpPr>
                    <p:cNvPr id="88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6" name="Group 2237"/>
                  <p:cNvGrpSpPr>
                    <a:grpSpLocks/>
                  </p:cNvGrpSpPr>
                  <p:nvPr/>
                </p:nvGrpSpPr>
                <p:grpSpPr bwMode="auto">
                  <a:xfrm>
                    <a:off x="957" y="3678"/>
                    <a:ext cx="48" cy="23"/>
                    <a:chOff x="957" y="3678"/>
                    <a:chExt cx="48" cy="23"/>
                  </a:xfrm>
                </p:grpSpPr>
                <p:sp>
                  <p:nvSpPr>
                    <p:cNvPr id="87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7" name="Group 2241"/>
                  <p:cNvGrpSpPr>
                    <a:grpSpLocks/>
                  </p:cNvGrpSpPr>
                  <p:nvPr/>
                </p:nvGrpSpPr>
                <p:grpSpPr bwMode="auto">
                  <a:xfrm>
                    <a:off x="969" y="3690"/>
                    <a:ext cx="49" cy="23"/>
                    <a:chOff x="969" y="3690"/>
                    <a:chExt cx="49" cy="23"/>
                  </a:xfrm>
                </p:grpSpPr>
                <p:sp>
                  <p:nvSpPr>
                    <p:cNvPr id="87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8" name="Group 2245"/>
                  <p:cNvGrpSpPr>
                    <a:grpSpLocks/>
                  </p:cNvGrpSpPr>
                  <p:nvPr/>
                </p:nvGrpSpPr>
                <p:grpSpPr bwMode="auto">
                  <a:xfrm>
                    <a:off x="982" y="3703"/>
                    <a:ext cx="49" cy="23"/>
                    <a:chOff x="982" y="3703"/>
                    <a:chExt cx="49" cy="23"/>
                  </a:xfrm>
                </p:grpSpPr>
                <p:sp>
                  <p:nvSpPr>
                    <p:cNvPr id="87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9" name="Group 2249"/>
                  <p:cNvGrpSpPr>
                    <a:grpSpLocks/>
                  </p:cNvGrpSpPr>
                  <p:nvPr/>
                </p:nvGrpSpPr>
                <p:grpSpPr bwMode="auto">
                  <a:xfrm>
                    <a:off x="995" y="3716"/>
                    <a:ext cx="48" cy="23"/>
                    <a:chOff x="995" y="3716"/>
                    <a:chExt cx="48" cy="23"/>
                  </a:xfrm>
                </p:grpSpPr>
                <p:sp>
                  <p:nvSpPr>
                    <p:cNvPr id="87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4" name="Group 2253"/>
                <p:cNvGrpSpPr>
                  <a:grpSpLocks/>
                </p:cNvGrpSpPr>
                <p:nvPr/>
              </p:nvGrpSpPr>
              <p:grpSpPr bwMode="auto">
                <a:xfrm>
                  <a:off x="1005" y="3727"/>
                  <a:ext cx="49" cy="23"/>
                  <a:chOff x="1005" y="3727"/>
                  <a:chExt cx="49" cy="23"/>
                </a:xfrm>
              </p:grpSpPr>
              <p:sp>
                <p:nvSpPr>
                  <p:cNvPr id="86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5" name="Group 2257"/>
                <p:cNvGrpSpPr>
                  <a:grpSpLocks/>
                </p:cNvGrpSpPr>
                <p:nvPr/>
              </p:nvGrpSpPr>
              <p:grpSpPr bwMode="auto">
                <a:xfrm>
                  <a:off x="1018" y="3740"/>
                  <a:ext cx="49" cy="22"/>
                  <a:chOff x="1018" y="3740"/>
                  <a:chExt cx="49" cy="22"/>
                </a:xfrm>
              </p:grpSpPr>
              <p:sp>
                <p:nvSpPr>
                  <p:cNvPr id="85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6" name="Group 2261"/>
                <p:cNvGrpSpPr>
                  <a:grpSpLocks/>
                </p:cNvGrpSpPr>
                <p:nvPr/>
              </p:nvGrpSpPr>
              <p:grpSpPr bwMode="auto">
                <a:xfrm>
                  <a:off x="1030" y="3753"/>
                  <a:ext cx="49" cy="23"/>
                  <a:chOff x="1030" y="3753"/>
                  <a:chExt cx="49" cy="23"/>
                </a:xfrm>
              </p:grpSpPr>
              <p:sp>
                <p:nvSpPr>
                  <p:cNvPr id="85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9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00" name="Group 2268"/>
                <p:cNvGrpSpPr>
                  <a:grpSpLocks/>
                </p:cNvGrpSpPr>
                <p:nvPr/>
              </p:nvGrpSpPr>
              <p:grpSpPr bwMode="auto">
                <a:xfrm>
                  <a:off x="790" y="3547"/>
                  <a:ext cx="49" cy="23"/>
                  <a:chOff x="790" y="3547"/>
                  <a:chExt cx="49" cy="23"/>
                </a:xfrm>
              </p:grpSpPr>
              <p:sp>
                <p:nvSpPr>
                  <p:cNvPr id="85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1" name="Group 2272"/>
                <p:cNvGrpSpPr>
                  <a:grpSpLocks/>
                </p:cNvGrpSpPr>
                <p:nvPr/>
              </p:nvGrpSpPr>
              <p:grpSpPr bwMode="auto">
                <a:xfrm>
                  <a:off x="803" y="3560"/>
                  <a:ext cx="49" cy="22"/>
                  <a:chOff x="803" y="3560"/>
                  <a:chExt cx="49" cy="22"/>
                </a:xfrm>
              </p:grpSpPr>
              <p:sp>
                <p:nvSpPr>
                  <p:cNvPr id="85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2" name="Group 2276"/>
                <p:cNvGrpSpPr>
                  <a:grpSpLocks/>
                </p:cNvGrpSpPr>
                <p:nvPr/>
              </p:nvGrpSpPr>
              <p:grpSpPr bwMode="auto">
                <a:xfrm>
                  <a:off x="815" y="3572"/>
                  <a:ext cx="50" cy="23"/>
                  <a:chOff x="815" y="3572"/>
                  <a:chExt cx="50" cy="23"/>
                </a:xfrm>
              </p:grpSpPr>
              <p:sp>
                <p:nvSpPr>
                  <p:cNvPr id="84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3" name="Group 2280"/>
                <p:cNvGrpSpPr>
                  <a:grpSpLocks/>
                </p:cNvGrpSpPr>
                <p:nvPr/>
              </p:nvGrpSpPr>
              <p:grpSpPr bwMode="auto">
                <a:xfrm>
                  <a:off x="828" y="3585"/>
                  <a:ext cx="49" cy="23"/>
                  <a:chOff x="828" y="3585"/>
                  <a:chExt cx="49" cy="23"/>
                </a:xfrm>
              </p:grpSpPr>
              <p:sp>
                <p:nvSpPr>
                  <p:cNvPr id="84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4" name="Group 2284"/>
                <p:cNvGrpSpPr>
                  <a:grpSpLocks/>
                </p:cNvGrpSpPr>
                <p:nvPr/>
              </p:nvGrpSpPr>
              <p:grpSpPr bwMode="auto">
                <a:xfrm>
                  <a:off x="840" y="3600"/>
                  <a:ext cx="100" cy="73"/>
                  <a:chOff x="840" y="3600"/>
                  <a:chExt cx="100" cy="73"/>
                </a:xfrm>
              </p:grpSpPr>
              <p:grpSp>
                <p:nvGrpSpPr>
                  <p:cNvPr id="824" name="Group 2285"/>
                  <p:cNvGrpSpPr>
                    <a:grpSpLocks/>
                  </p:cNvGrpSpPr>
                  <p:nvPr/>
                </p:nvGrpSpPr>
                <p:grpSpPr bwMode="auto">
                  <a:xfrm>
                    <a:off x="840" y="3600"/>
                    <a:ext cx="49" cy="23"/>
                    <a:chOff x="840" y="3600"/>
                    <a:chExt cx="49" cy="23"/>
                  </a:xfrm>
                </p:grpSpPr>
                <p:sp>
                  <p:nvSpPr>
                    <p:cNvPr id="84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5" name="Group 2289"/>
                  <p:cNvGrpSpPr>
                    <a:grpSpLocks/>
                  </p:cNvGrpSpPr>
                  <p:nvPr/>
                </p:nvGrpSpPr>
                <p:grpSpPr bwMode="auto">
                  <a:xfrm>
                    <a:off x="853" y="3612"/>
                    <a:ext cx="48" cy="23"/>
                    <a:chOff x="853" y="3612"/>
                    <a:chExt cx="48" cy="23"/>
                  </a:xfrm>
                </p:grpSpPr>
                <p:sp>
                  <p:nvSpPr>
                    <p:cNvPr id="83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6" name="Group 2293"/>
                  <p:cNvGrpSpPr>
                    <a:grpSpLocks/>
                  </p:cNvGrpSpPr>
                  <p:nvPr/>
                </p:nvGrpSpPr>
                <p:grpSpPr bwMode="auto">
                  <a:xfrm>
                    <a:off x="865" y="3625"/>
                    <a:ext cx="49" cy="23"/>
                    <a:chOff x="865" y="3625"/>
                    <a:chExt cx="49" cy="23"/>
                  </a:xfrm>
                </p:grpSpPr>
                <p:sp>
                  <p:nvSpPr>
                    <p:cNvPr id="83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7" name="Group 2297"/>
                  <p:cNvGrpSpPr>
                    <a:grpSpLocks/>
                  </p:cNvGrpSpPr>
                  <p:nvPr/>
                </p:nvGrpSpPr>
                <p:grpSpPr bwMode="auto">
                  <a:xfrm>
                    <a:off x="878" y="3638"/>
                    <a:ext cx="49" cy="22"/>
                    <a:chOff x="878" y="3638"/>
                    <a:chExt cx="49" cy="22"/>
                  </a:xfrm>
                </p:grpSpPr>
                <p:sp>
                  <p:nvSpPr>
                    <p:cNvPr id="83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8" name="Group 2301"/>
                  <p:cNvGrpSpPr>
                    <a:grpSpLocks/>
                  </p:cNvGrpSpPr>
                  <p:nvPr/>
                </p:nvGrpSpPr>
                <p:grpSpPr bwMode="auto">
                  <a:xfrm>
                    <a:off x="890" y="3651"/>
                    <a:ext cx="50" cy="22"/>
                    <a:chOff x="890" y="3651"/>
                    <a:chExt cx="50" cy="22"/>
                  </a:xfrm>
                </p:grpSpPr>
                <p:sp>
                  <p:nvSpPr>
                    <p:cNvPr id="82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5" name="Group 2305"/>
                <p:cNvGrpSpPr>
                  <a:grpSpLocks/>
                </p:cNvGrpSpPr>
                <p:nvPr/>
              </p:nvGrpSpPr>
              <p:grpSpPr bwMode="auto">
                <a:xfrm>
                  <a:off x="903" y="3665"/>
                  <a:ext cx="99" cy="74"/>
                  <a:chOff x="903" y="3665"/>
                  <a:chExt cx="99" cy="74"/>
                </a:xfrm>
              </p:grpSpPr>
              <p:grpSp>
                <p:nvGrpSpPr>
                  <p:cNvPr id="804" name="Group 2306"/>
                  <p:cNvGrpSpPr>
                    <a:grpSpLocks/>
                  </p:cNvGrpSpPr>
                  <p:nvPr/>
                </p:nvGrpSpPr>
                <p:grpSpPr bwMode="auto">
                  <a:xfrm>
                    <a:off x="903" y="3665"/>
                    <a:ext cx="49" cy="23"/>
                    <a:chOff x="903" y="3665"/>
                    <a:chExt cx="49" cy="23"/>
                  </a:xfrm>
                </p:grpSpPr>
                <p:sp>
                  <p:nvSpPr>
                    <p:cNvPr id="82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5" name="Group 2310"/>
                  <p:cNvGrpSpPr>
                    <a:grpSpLocks/>
                  </p:cNvGrpSpPr>
                  <p:nvPr/>
                </p:nvGrpSpPr>
                <p:grpSpPr bwMode="auto">
                  <a:xfrm>
                    <a:off x="914" y="3678"/>
                    <a:ext cx="49" cy="23"/>
                    <a:chOff x="914" y="3678"/>
                    <a:chExt cx="49" cy="23"/>
                  </a:xfrm>
                </p:grpSpPr>
                <p:sp>
                  <p:nvSpPr>
                    <p:cNvPr id="81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6" name="Group 2314"/>
                  <p:cNvGrpSpPr>
                    <a:grpSpLocks/>
                  </p:cNvGrpSpPr>
                  <p:nvPr/>
                </p:nvGrpSpPr>
                <p:grpSpPr bwMode="auto">
                  <a:xfrm>
                    <a:off x="928" y="3690"/>
                    <a:ext cx="48" cy="23"/>
                    <a:chOff x="928" y="3690"/>
                    <a:chExt cx="48" cy="23"/>
                  </a:xfrm>
                </p:grpSpPr>
                <p:sp>
                  <p:nvSpPr>
                    <p:cNvPr id="81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7" name="Group 2318"/>
                  <p:cNvGrpSpPr>
                    <a:grpSpLocks/>
                  </p:cNvGrpSpPr>
                  <p:nvPr/>
                </p:nvGrpSpPr>
                <p:grpSpPr bwMode="auto">
                  <a:xfrm>
                    <a:off x="940" y="3703"/>
                    <a:ext cx="49" cy="23"/>
                    <a:chOff x="940" y="3703"/>
                    <a:chExt cx="49" cy="23"/>
                  </a:xfrm>
                </p:grpSpPr>
                <p:sp>
                  <p:nvSpPr>
                    <p:cNvPr id="81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8" name="Group 2322"/>
                  <p:cNvGrpSpPr>
                    <a:grpSpLocks/>
                  </p:cNvGrpSpPr>
                  <p:nvPr/>
                </p:nvGrpSpPr>
                <p:grpSpPr bwMode="auto">
                  <a:xfrm>
                    <a:off x="953" y="3716"/>
                    <a:ext cx="49" cy="23"/>
                    <a:chOff x="953" y="3716"/>
                    <a:chExt cx="49" cy="23"/>
                  </a:xfrm>
                </p:grpSpPr>
                <p:sp>
                  <p:nvSpPr>
                    <p:cNvPr id="80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6" name="Group 2326"/>
                <p:cNvGrpSpPr>
                  <a:grpSpLocks/>
                </p:cNvGrpSpPr>
                <p:nvPr/>
              </p:nvGrpSpPr>
              <p:grpSpPr bwMode="auto">
                <a:xfrm>
                  <a:off x="963" y="3727"/>
                  <a:ext cx="49" cy="23"/>
                  <a:chOff x="963" y="3727"/>
                  <a:chExt cx="49" cy="23"/>
                </a:xfrm>
              </p:grpSpPr>
              <p:sp>
                <p:nvSpPr>
                  <p:cNvPr id="80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7" name="Group 2330"/>
                <p:cNvGrpSpPr>
                  <a:grpSpLocks/>
                </p:cNvGrpSpPr>
                <p:nvPr/>
              </p:nvGrpSpPr>
              <p:grpSpPr bwMode="auto">
                <a:xfrm>
                  <a:off x="976" y="3740"/>
                  <a:ext cx="50" cy="22"/>
                  <a:chOff x="976" y="3740"/>
                  <a:chExt cx="50" cy="22"/>
                </a:xfrm>
              </p:grpSpPr>
              <p:sp>
                <p:nvSpPr>
                  <p:cNvPr id="79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8" name="Group 2334"/>
                <p:cNvGrpSpPr>
                  <a:grpSpLocks/>
                </p:cNvGrpSpPr>
                <p:nvPr/>
              </p:nvGrpSpPr>
              <p:grpSpPr bwMode="auto">
                <a:xfrm>
                  <a:off x="761" y="3560"/>
                  <a:ext cx="50" cy="22"/>
                  <a:chOff x="761" y="3560"/>
                  <a:chExt cx="50" cy="22"/>
                </a:xfrm>
              </p:grpSpPr>
              <p:sp>
                <p:nvSpPr>
                  <p:cNvPr id="79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9" name="Group 2338"/>
                <p:cNvGrpSpPr>
                  <a:grpSpLocks/>
                </p:cNvGrpSpPr>
                <p:nvPr/>
              </p:nvGrpSpPr>
              <p:grpSpPr bwMode="auto">
                <a:xfrm>
                  <a:off x="774" y="3572"/>
                  <a:ext cx="49" cy="23"/>
                  <a:chOff x="774" y="3572"/>
                  <a:chExt cx="49" cy="23"/>
                </a:xfrm>
              </p:grpSpPr>
              <p:sp>
                <p:nvSpPr>
                  <p:cNvPr id="79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0" name="Group 2342"/>
                <p:cNvGrpSpPr>
                  <a:grpSpLocks/>
                </p:cNvGrpSpPr>
                <p:nvPr/>
              </p:nvGrpSpPr>
              <p:grpSpPr bwMode="auto">
                <a:xfrm>
                  <a:off x="787" y="3585"/>
                  <a:ext cx="49" cy="23"/>
                  <a:chOff x="787" y="3585"/>
                  <a:chExt cx="49" cy="23"/>
                </a:xfrm>
              </p:grpSpPr>
              <p:sp>
                <p:nvSpPr>
                  <p:cNvPr id="78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1" name="Group 2346"/>
                <p:cNvGrpSpPr>
                  <a:grpSpLocks/>
                </p:cNvGrpSpPr>
                <p:nvPr/>
              </p:nvGrpSpPr>
              <p:grpSpPr bwMode="auto">
                <a:xfrm>
                  <a:off x="799" y="3600"/>
                  <a:ext cx="99" cy="73"/>
                  <a:chOff x="799" y="3600"/>
                  <a:chExt cx="99" cy="73"/>
                </a:xfrm>
              </p:grpSpPr>
              <p:grpSp>
                <p:nvGrpSpPr>
                  <p:cNvPr id="769" name="Group 2347"/>
                  <p:cNvGrpSpPr>
                    <a:grpSpLocks/>
                  </p:cNvGrpSpPr>
                  <p:nvPr/>
                </p:nvGrpSpPr>
                <p:grpSpPr bwMode="auto">
                  <a:xfrm>
                    <a:off x="799" y="3600"/>
                    <a:ext cx="48" cy="23"/>
                    <a:chOff x="799" y="3600"/>
                    <a:chExt cx="48" cy="23"/>
                  </a:xfrm>
                </p:grpSpPr>
                <p:sp>
                  <p:nvSpPr>
                    <p:cNvPr id="78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0" name="Group 2351"/>
                  <p:cNvGrpSpPr>
                    <a:grpSpLocks/>
                  </p:cNvGrpSpPr>
                  <p:nvPr/>
                </p:nvGrpSpPr>
                <p:grpSpPr bwMode="auto">
                  <a:xfrm>
                    <a:off x="811" y="3612"/>
                    <a:ext cx="48" cy="23"/>
                    <a:chOff x="811" y="3612"/>
                    <a:chExt cx="48" cy="23"/>
                  </a:xfrm>
                </p:grpSpPr>
                <p:sp>
                  <p:nvSpPr>
                    <p:cNvPr id="78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1" name="Group 2355"/>
                  <p:cNvGrpSpPr>
                    <a:grpSpLocks/>
                  </p:cNvGrpSpPr>
                  <p:nvPr/>
                </p:nvGrpSpPr>
                <p:grpSpPr bwMode="auto">
                  <a:xfrm>
                    <a:off x="823" y="3625"/>
                    <a:ext cx="49" cy="23"/>
                    <a:chOff x="823" y="3625"/>
                    <a:chExt cx="49" cy="23"/>
                  </a:xfrm>
                </p:grpSpPr>
                <p:sp>
                  <p:nvSpPr>
                    <p:cNvPr id="78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2" name="Group 2359"/>
                  <p:cNvGrpSpPr>
                    <a:grpSpLocks/>
                  </p:cNvGrpSpPr>
                  <p:nvPr/>
                </p:nvGrpSpPr>
                <p:grpSpPr bwMode="auto">
                  <a:xfrm>
                    <a:off x="836" y="3638"/>
                    <a:ext cx="50" cy="22"/>
                    <a:chOff x="836" y="3638"/>
                    <a:chExt cx="50" cy="22"/>
                  </a:xfrm>
                </p:grpSpPr>
                <p:sp>
                  <p:nvSpPr>
                    <p:cNvPr id="77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3" name="Group 2363"/>
                  <p:cNvGrpSpPr>
                    <a:grpSpLocks/>
                  </p:cNvGrpSpPr>
                  <p:nvPr/>
                </p:nvGrpSpPr>
                <p:grpSpPr bwMode="auto">
                  <a:xfrm>
                    <a:off x="849" y="3651"/>
                    <a:ext cx="49" cy="22"/>
                    <a:chOff x="849" y="3651"/>
                    <a:chExt cx="49" cy="22"/>
                  </a:xfrm>
                </p:grpSpPr>
                <p:sp>
                  <p:nvSpPr>
                    <p:cNvPr id="77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2" name="Group 2367"/>
                <p:cNvGrpSpPr>
                  <a:grpSpLocks/>
                </p:cNvGrpSpPr>
                <p:nvPr/>
              </p:nvGrpSpPr>
              <p:grpSpPr bwMode="auto">
                <a:xfrm>
                  <a:off x="861" y="3665"/>
                  <a:ext cx="99" cy="74"/>
                  <a:chOff x="861" y="3665"/>
                  <a:chExt cx="99" cy="74"/>
                </a:xfrm>
              </p:grpSpPr>
              <p:grpSp>
                <p:nvGrpSpPr>
                  <p:cNvPr id="749" name="Group 2368"/>
                  <p:cNvGrpSpPr>
                    <a:grpSpLocks/>
                  </p:cNvGrpSpPr>
                  <p:nvPr/>
                </p:nvGrpSpPr>
                <p:grpSpPr bwMode="auto">
                  <a:xfrm>
                    <a:off x="861" y="3665"/>
                    <a:ext cx="50" cy="23"/>
                    <a:chOff x="861" y="3665"/>
                    <a:chExt cx="50" cy="23"/>
                  </a:xfrm>
                </p:grpSpPr>
                <p:sp>
                  <p:nvSpPr>
                    <p:cNvPr id="76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0" name="Group 2372"/>
                  <p:cNvGrpSpPr>
                    <a:grpSpLocks/>
                  </p:cNvGrpSpPr>
                  <p:nvPr/>
                </p:nvGrpSpPr>
                <p:grpSpPr bwMode="auto">
                  <a:xfrm>
                    <a:off x="873" y="3678"/>
                    <a:ext cx="49" cy="23"/>
                    <a:chOff x="873" y="3678"/>
                    <a:chExt cx="49" cy="23"/>
                  </a:xfrm>
                </p:grpSpPr>
                <p:sp>
                  <p:nvSpPr>
                    <p:cNvPr id="76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1" name="Group 2376"/>
                  <p:cNvGrpSpPr>
                    <a:grpSpLocks/>
                  </p:cNvGrpSpPr>
                  <p:nvPr/>
                </p:nvGrpSpPr>
                <p:grpSpPr bwMode="auto">
                  <a:xfrm>
                    <a:off x="886" y="3690"/>
                    <a:ext cx="49" cy="23"/>
                    <a:chOff x="886" y="3690"/>
                    <a:chExt cx="49" cy="23"/>
                  </a:xfrm>
                </p:grpSpPr>
                <p:sp>
                  <p:nvSpPr>
                    <p:cNvPr id="76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2" name="Group 2380"/>
                  <p:cNvGrpSpPr>
                    <a:grpSpLocks/>
                  </p:cNvGrpSpPr>
                  <p:nvPr/>
                </p:nvGrpSpPr>
                <p:grpSpPr bwMode="auto">
                  <a:xfrm>
                    <a:off x="899" y="3703"/>
                    <a:ext cx="48" cy="23"/>
                    <a:chOff x="899" y="3703"/>
                    <a:chExt cx="48" cy="23"/>
                  </a:xfrm>
                </p:grpSpPr>
                <p:sp>
                  <p:nvSpPr>
                    <p:cNvPr id="75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3" name="Group 2384"/>
                  <p:cNvGrpSpPr>
                    <a:grpSpLocks/>
                  </p:cNvGrpSpPr>
                  <p:nvPr/>
                </p:nvGrpSpPr>
                <p:grpSpPr bwMode="auto">
                  <a:xfrm>
                    <a:off x="912" y="3716"/>
                    <a:ext cx="48" cy="23"/>
                    <a:chOff x="912" y="3716"/>
                    <a:chExt cx="48" cy="23"/>
                  </a:xfrm>
                </p:grpSpPr>
                <p:sp>
                  <p:nvSpPr>
                    <p:cNvPr id="75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3" name="Group 2388"/>
                <p:cNvGrpSpPr>
                  <a:grpSpLocks/>
                </p:cNvGrpSpPr>
                <p:nvPr/>
              </p:nvGrpSpPr>
              <p:grpSpPr bwMode="auto">
                <a:xfrm>
                  <a:off x="922" y="3727"/>
                  <a:ext cx="49" cy="23"/>
                  <a:chOff x="922" y="3727"/>
                  <a:chExt cx="49" cy="23"/>
                </a:xfrm>
              </p:grpSpPr>
              <p:sp>
                <p:nvSpPr>
                  <p:cNvPr id="74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4" name="Group 2392"/>
                <p:cNvGrpSpPr>
                  <a:grpSpLocks/>
                </p:cNvGrpSpPr>
                <p:nvPr/>
              </p:nvGrpSpPr>
              <p:grpSpPr bwMode="auto">
                <a:xfrm>
                  <a:off x="895" y="3526"/>
                  <a:ext cx="44" cy="23"/>
                  <a:chOff x="895" y="3526"/>
                  <a:chExt cx="44" cy="23"/>
                </a:xfrm>
              </p:grpSpPr>
              <p:sp>
                <p:nvSpPr>
                  <p:cNvPr id="74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5" name="Group 2396"/>
                <p:cNvGrpSpPr>
                  <a:grpSpLocks/>
                </p:cNvGrpSpPr>
                <p:nvPr/>
              </p:nvGrpSpPr>
              <p:grpSpPr bwMode="auto">
                <a:xfrm>
                  <a:off x="907" y="3540"/>
                  <a:ext cx="45" cy="22"/>
                  <a:chOff x="907" y="3540"/>
                  <a:chExt cx="45" cy="22"/>
                </a:xfrm>
              </p:grpSpPr>
              <p:sp>
                <p:nvSpPr>
                  <p:cNvPr id="74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6" name="Group 2400"/>
                <p:cNvGrpSpPr>
                  <a:grpSpLocks/>
                </p:cNvGrpSpPr>
                <p:nvPr/>
              </p:nvGrpSpPr>
              <p:grpSpPr bwMode="auto">
                <a:xfrm>
                  <a:off x="920" y="3553"/>
                  <a:ext cx="45" cy="23"/>
                  <a:chOff x="920" y="3553"/>
                  <a:chExt cx="45" cy="23"/>
                </a:xfrm>
              </p:grpSpPr>
              <p:sp>
                <p:nvSpPr>
                  <p:cNvPr id="73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7" name="Group 2404"/>
                <p:cNvGrpSpPr>
                  <a:grpSpLocks/>
                </p:cNvGrpSpPr>
                <p:nvPr/>
              </p:nvGrpSpPr>
              <p:grpSpPr bwMode="auto">
                <a:xfrm>
                  <a:off x="934" y="3566"/>
                  <a:ext cx="44" cy="23"/>
                  <a:chOff x="934" y="3566"/>
                  <a:chExt cx="44" cy="23"/>
                </a:xfrm>
              </p:grpSpPr>
              <p:sp>
                <p:nvSpPr>
                  <p:cNvPr id="73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8" name="Group 2408"/>
                <p:cNvGrpSpPr>
                  <a:grpSpLocks/>
                </p:cNvGrpSpPr>
                <p:nvPr/>
              </p:nvGrpSpPr>
              <p:grpSpPr bwMode="auto">
                <a:xfrm>
                  <a:off x="949" y="3579"/>
                  <a:ext cx="83" cy="63"/>
                  <a:chOff x="949" y="3579"/>
                  <a:chExt cx="83" cy="63"/>
                </a:xfrm>
              </p:grpSpPr>
              <p:grpSp>
                <p:nvGrpSpPr>
                  <p:cNvPr id="718" name="Group 2409"/>
                  <p:cNvGrpSpPr>
                    <a:grpSpLocks/>
                  </p:cNvGrpSpPr>
                  <p:nvPr/>
                </p:nvGrpSpPr>
                <p:grpSpPr bwMode="auto">
                  <a:xfrm>
                    <a:off x="949" y="3579"/>
                    <a:ext cx="44" cy="23"/>
                    <a:chOff x="949" y="3579"/>
                    <a:chExt cx="44" cy="23"/>
                  </a:xfrm>
                </p:grpSpPr>
                <p:sp>
                  <p:nvSpPr>
                    <p:cNvPr id="73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19" name="Group 2413"/>
                  <p:cNvGrpSpPr>
                    <a:grpSpLocks/>
                  </p:cNvGrpSpPr>
                  <p:nvPr/>
                </p:nvGrpSpPr>
                <p:grpSpPr bwMode="auto">
                  <a:xfrm>
                    <a:off x="961" y="3592"/>
                    <a:ext cx="45" cy="23"/>
                    <a:chOff x="961" y="3592"/>
                    <a:chExt cx="45" cy="23"/>
                  </a:xfrm>
                </p:grpSpPr>
                <p:sp>
                  <p:nvSpPr>
                    <p:cNvPr id="72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0" name="Group 2417"/>
                  <p:cNvGrpSpPr>
                    <a:grpSpLocks/>
                  </p:cNvGrpSpPr>
                  <p:nvPr/>
                </p:nvGrpSpPr>
                <p:grpSpPr bwMode="auto">
                  <a:xfrm>
                    <a:off x="974" y="3606"/>
                    <a:ext cx="44" cy="23"/>
                    <a:chOff x="974" y="3606"/>
                    <a:chExt cx="44" cy="23"/>
                  </a:xfrm>
                </p:grpSpPr>
                <p:sp>
                  <p:nvSpPr>
                    <p:cNvPr id="72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1" name="Group 2421"/>
                  <p:cNvGrpSpPr>
                    <a:grpSpLocks/>
                  </p:cNvGrpSpPr>
                  <p:nvPr/>
                </p:nvGrpSpPr>
                <p:grpSpPr bwMode="auto">
                  <a:xfrm>
                    <a:off x="987" y="3619"/>
                    <a:ext cx="45" cy="23"/>
                    <a:chOff x="987" y="3619"/>
                    <a:chExt cx="45" cy="23"/>
                  </a:xfrm>
                </p:grpSpPr>
                <p:sp>
                  <p:nvSpPr>
                    <p:cNvPr id="72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9" name="Group 2425"/>
                <p:cNvGrpSpPr>
                  <a:grpSpLocks/>
                </p:cNvGrpSpPr>
                <p:nvPr/>
              </p:nvGrpSpPr>
              <p:grpSpPr bwMode="auto">
                <a:xfrm>
                  <a:off x="1002" y="3632"/>
                  <a:ext cx="83" cy="63"/>
                  <a:chOff x="1002" y="3632"/>
                  <a:chExt cx="83" cy="63"/>
                </a:xfrm>
              </p:grpSpPr>
              <p:grpSp>
                <p:nvGrpSpPr>
                  <p:cNvPr id="702" name="Group 2426"/>
                  <p:cNvGrpSpPr>
                    <a:grpSpLocks/>
                  </p:cNvGrpSpPr>
                  <p:nvPr/>
                </p:nvGrpSpPr>
                <p:grpSpPr bwMode="auto">
                  <a:xfrm>
                    <a:off x="1002" y="3632"/>
                    <a:ext cx="44" cy="22"/>
                    <a:chOff x="1002" y="3632"/>
                    <a:chExt cx="44" cy="22"/>
                  </a:xfrm>
                </p:grpSpPr>
                <p:sp>
                  <p:nvSpPr>
                    <p:cNvPr id="71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3" name="Group 2430"/>
                  <p:cNvGrpSpPr>
                    <a:grpSpLocks/>
                  </p:cNvGrpSpPr>
                  <p:nvPr/>
                </p:nvGrpSpPr>
                <p:grpSpPr bwMode="auto">
                  <a:xfrm>
                    <a:off x="1014" y="3645"/>
                    <a:ext cx="44" cy="23"/>
                    <a:chOff x="1014" y="3645"/>
                    <a:chExt cx="44" cy="23"/>
                  </a:xfrm>
                </p:grpSpPr>
                <p:sp>
                  <p:nvSpPr>
                    <p:cNvPr id="71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4" name="Group 2434"/>
                  <p:cNvGrpSpPr>
                    <a:grpSpLocks/>
                  </p:cNvGrpSpPr>
                  <p:nvPr/>
                </p:nvGrpSpPr>
                <p:grpSpPr bwMode="auto">
                  <a:xfrm>
                    <a:off x="1027" y="3659"/>
                    <a:ext cx="45" cy="23"/>
                    <a:chOff x="1027" y="3659"/>
                    <a:chExt cx="45" cy="23"/>
                  </a:xfrm>
                </p:grpSpPr>
                <p:sp>
                  <p:nvSpPr>
                    <p:cNvPr id="70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5" name="Group 2438"/>
                  <p:cNvGrpSpPr>
                    <a:grpSpLocks/>
                  </p:cNvGrpSpPr>
                  <p:nvPr/>
                </p:nvGrpSpPr>
                <p:grpSpPr bwMode="auto">
                  <a:xfrm>
                    <a:off x="1040" y="3672"/>
                    <a:ext cx="45" cy="23"/>
                    <a:chOff x="1040" y="3672"/>
                    <a:chExt cx="45" cy="23"/>
                  </a:xfrm>
                </p:grpSpPr>
                <p:sp>
                  <p:nvSpPr>
                    <p:cNvPr id="70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20" name="Group 2442"/>
                <p:cNvGrpSpPr>
                  <a:grpSpLocks/>
                </p:cNvGrpSpPr>
                <p:nvPr/>
              </p:nvGrpSpPr>
              <p:grpSpPr bwMode="auto">
                <a:xfrm>
                  <a:off x="1054" y="3685"/>
                  <a:ext cx="45" cy="23"/>
                  <a:chOff x="1054" y="3685"/>
                  <a:chExt cx="45" cy="23"/>
                </a:xfrm>
              </p:grpSpPr>
              <p:sp>
                <p:nvSpPr>
                  <p:cNvPr id="69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1" name="Group 2446"/>
                <p:cNvGrpSpPr>
                  <a:grpSpLocks/>
                </p:cNvGrpSpPr>
                <p:nvPr/>
              </p:nvGrpSpPr>
              <p:grpSpPr bwMode="auto">
                <a:xfrm>
                  <a:off x="1067" y="3698"/>
                  <a:ext cx="45" cy="23"/>
                  <a:chOff x="1067" y="3698"/>
                  <a:chExt cx="45" cy="23"/>
                </a:xfrm>
              </p:grpSpPr>
              <p:sp>
                <p:nvSpPr>
                  <p:cNvPr id="69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2" name="Group 2450"/>
                <p:cNvGrpSpPr>
                  <a:grpSpLocks/>
                </p:cNvGrpSpPr>
                <p:nvPr/>
              </p:nvGrpSpPr>
              <p:grpSpPr bwMode="auto">
                <a:xfrm>
                  <a:off x="1079" y="3712"/>
                  <a:ext cx="44" cy="23"/>
                  <a:chOff x="1079" y="3712"/>
                  <a:chExt cx="44" cy="23"/>
                </a:xfrm>
              </p:grpSpPr>
              <p:sp>
                <p:nvSpPr>
                  <p:cNvPr id="69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3" name="Group 2454"/>
                <p:cNvGrpSpPr>
                  <a:grpSpLocks/>
                </p:cNvGrpSpPr>
                <p:nvPr/>
              </p:nvGrpSpPr>
              <p:grpSpPr bwMode="auto">
                <a:xfrm>
                  <a:off x="1093" y="3725"/>
                  <a:ext cx="45" cy="23"/>
                  <a:chOff x="1093" y="3725"/>
                  <a:chExt cx="45" cy="23"/>
                </a:xfrm>
              </p:grpSpPr>
              <p:sp>
                <p:nvSpPr>
                  <p:cNvPr id="69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4" name="Group 2458"/>
                <p:cNvGrpSpPr>
                  <a:grpSpLocks/>
                </p:cNvGrpSpPr>
                <p:nvPr/>
              </p:nvGrpSpPr>
              <p:grpSpPr bwMode="auto">
                <a:xfrm>
                  <a:off x="1108" y="3739"/>
                  <a:ext cx="44" cy="23"/>
                  <a:chOff x="1108" y="3739"/>
                  <a:chExt cx="44" cy="23"/>
                </a:xfrm>
              </p:grpSpPr>
              <p:sp>
                <p:nvSpPr>
                  <p:cNvPr id="68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5" name="Group 2462"/>
                <p:cNvGrpSpPr>
                  <a:grpSpLocks/>
                </p:cNvGrpSpPr>
                <p:nvPr/>
              </p:nvGrpSpPr>
              <p:grpSpPr bwMode="auto">
                <a:xfrm>
                  <a:off x="1121" y="3753"/>
                  <a:ext cx="45" cy="23"/>
                  <a:chOff x="1121" y="3753"/>
                  <a:chExt cx="45" cy="23"/>
                </a:xfrm>
              </p:grpSpPr>
              <p:sp>
                <p:nvSpPr>
                  <p:cNvPr id="68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6" name="Group 2466"/>
                <p:cNvGrpSpPr>
                  <a:grpSpLocks/>
                </p:cNvGrpSpPr>
                <p:nvPr/>
              </p:nvGrpSpPr>
              <p:grpSpPr bwMode="auto">
                <a:xfrm>
                  <a:off x="1133" y="3767"/>
                  <a:ext cx="44" cy="23"/>
                  <a:chOff x="1133" y="3767"/>
                  <a:chExt cx="44" cy="23"/>
                </a:xfrm>
              </p:grpSpPr>
              <p:sp>
                <p:nvSpPr>
                  <p:cNvPr id="68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2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38" name="Group 2481"/>
                <p:cNvGrpSpPr>
                  <a:grpSpLocks/>
                </p:cNvGrpSpPr>
                <p:nvPr/>
              </p:nvGrpSpPr>
              <p:grpSpPr bwMode="auto">
                <a:xfrm>
                  <a:off x="700" y="3535"/>
                  <a:ext cx="49" cy="24"/>
                  <a:chOff x="700" y="3535"/>
                  <a:chExt cx="49" cy="24"/>
                </a:xfrm>
              </p:grpSpPr>
              <p:sp>
                <p:nvSpPr>
                  <p:cNvPr id="67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39" name="Group 2485"/>
                <p:cNvGrpSpPr>
                  <a:grpSpLocks/>
                </p:cNvGrpSpPr>
                <p:nvPr/>
              </p:nvGrpSpPr>
              <p:grpSpPr bwMode="auto">
                <a:xfrm>
                  <a:off x="714" y="3551"/>
                  <a:ext cx="49" cy="22"/>
                  <a:chOff x="714" y="3551"/>
                  <a:chExt cx="49" cy="22"/>
                </a:xfrm>
              </p:grpSpPr>
              <p:sp>
                <p:nvSpPr>
                  <p:cNvPr id="67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0" name="Group 2489"/>
                <p:cNvGrpSpPr>
                  <a:grpSpLocks/>
                </p:cNvGrpSpPr>
                <p:nvPr/>
              </p:nvGrpSpPr>
              <p:grpSpPr bwMode="auto">
                <a:xfrm>
                  <a:off x="728" y="3564"/>
                  <a:ext cx="48" cy="23"/>
                  <a:chOff x="728" y="3564"/>
                  <a:chExt cx="48" cy="23"/>
                </a:xfrm>
              </p:grpSpPr>
              <p:sp>
                <p:nvSpPr>
                  <p:cNvPr id="67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1" name="Group 2493"/>
                <p:cNvGrpSpPr>
                  <a:grpSpLocks/>
                </p:cNvGrpSpPr>
                <p:nvPr/>
              </p:nvGrpSpPr>
              <p:grpSpPr bwMode="auto">
                <a:xfrm>
                  <a:off x="742" y="3582"/>
                  <a:ext cx="49" cy="23"/>
                  <a:chOff x="742" y="3582"/>
                  <a:chExt cx="49" cy="23"/>
                </a:xfrm>
              </p:grpSpPr>
              <p:sp>
                <p:nvSpPr>
                  <p:cNvPr id="66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2" name="Group 2497"/>
                <p:cNvGrpSpPr>
                  <a:grpSpLocks/>
                </p:cNvGrpSpPr>
                <p:nvPr/>
              </p:nvGrpSpPr>
              <p:grpSpPr bwMode="auto">
                <a:xfrm>
                  <a:off x="752" y="3597"/>
                  <a:ext cx="133" cy="106"/>
                  <a:chOff x="752" y="3597"/>
                  <a:chExt cx="133" cy="106"/>
                </a:xfrm>
              </p:grpSpPr>
              <p:sp>
                <p:nvSpPr>
                  <p:cNvPr id="66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3" name="Group 2501"/>
                <p:cNvGrpSpPr>
                  <a:grpSpLocks/>
                </p:cNvGrpSpPr>
                <p:nvPr/>
              </p:nvGrpSpPr>
              <p:grpSpPr bwMode="auto">
                <a:xfrm>
                  <a:off x="844" y="3694"/>
                  <a:ext cx="48" cy="23"/>
                  <a:chOff x="844" y="3694"/>
                  <a:chExt cx="48" cy="23"/>
                </a:xfrm>
              </p:grpSpPr>
              <p:sp>
                <p:nvSpPr>
                  <p:cNvPr id="66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4" name="Group 2505"/>
                <p:cNvGrpSpPr>
                  <a:grpSpLocks/>
                </p:cNvGrpSpPr>
                <p:nvPr/>
              </p:nvGrpSpPr>
              <p:grpSpPr bwMode="auto">
                <a:xfrm>
                  <a:off x="857" y="3710"/>
                  <a:ext cx="49" cy="22"/>
                  <a:chOff x="857" y="3710"/>
                  <a:chExt cx="49" cy="22"/>
                </a:xfrm>
              </p:grpSpPr>
              <p:sp>
                <p:nvSpPr>
                  <p:cNvPr id="66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5" name="Group 2509"/>
                <p:cNvGrpSpPr>
                  <a:grpSpLocks/>
                </p:cNvGrpSpPr>
                <p:nvPr/>
              </p:nvGrpSpPr>
              <p:grpSpPr bwMode="auto">
                <a:xfrm>
                  <a:off x="1086" y="3766"/>
                  <a:ext cx="49" cy="23"/>
                  <a:chOff x="1086" y="3766"/>
                  <a:chExt cx="49" cy="23"/>
                </a:xfrm>
              </p:grpSpPr>
              <p:sp>
                <p:nvSpPr>
                  <p:cNvPr id="65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6" name="Group 2513"/>
                <p:cNvGrpSpPr>
                  <a:grpSpLocks/>
                </p:cNvGrpSpPr>
                <p:nvPr/>
              </p:nvGrpSpPr>
              <p:grpSpPr bwMode="auto">
                <a:xfrm>
                  <a:off x="934" y="3740"/>
                  <a:ext cx="48" cy="23"/>
                  <a:chOff x="934" y="3740"/>
                  <a:chExt cx="48" cy="23"/>
                </a:xfrm>
              </p:grpSpPr>
              <p:sp>
                <p:nvSpPr>
                  <p:cNvPr id="65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7" name="Group 2517"/>
                <p:cNvGrpSpPr>
                  <a:grpSpLocks/>
                </p:cNvGrpSpPr>
                <p:nvPr/>
              </p:nvGrpSpPr>
              <p:grpSpPr bwMode="auto">
                <a:xfrm>
                  <a:off x="943" y="3754"/>
                  <a:ext cx="49" cy="23"/>
                  <a:chOff x="943" y="3754"/>
                  <a:chExt cx="49" cy="23"/>
                </a:xfrm>
              </p:grpSpPr>
              <p:sp>
                <p:nvSpPr>
                  <p:cNvPr id="65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45" name="Group 2524"/>
              <p:cNvGrpSpPr>
                <a:grpSpLocks/>
              </p:cNvGrpSpPr>
              <p:nvPr/>
            </p:nvGrpSpPr>
            <p:grpSpPr bwMode="auto">
              <a:xfrm>
                <a:off x="920" y="3821"/>
                <a:ext cx="413" cy="50"/>
                <a:chOff x="920" y="3821"/>
                <a:chExt cx="413" cy="50"/>
              </a:xfrm>
            </p:grpSpPr>
            <p:sp>
              <p:nvSpPr>
                <p:cNvPr id="56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546" name="Group 2529"/>
              <p:cNvGrpSpPr>
                <a:grpSpLocks/>
              </p:cNvGrpSpPr>
              <p:nvPr/>
            </p:nvGrpSpPr>
            <p:grpSpPr bwMode="auto">
              <a:xfrm>
                <a:off x="1227" y="3477"/>
                <a:ext cx="508" cy="321"/>
                <a:chOff x="1227" y="3477"/>
                <a:chExt cx="508" cy="321"/>
              </a:xfrm>
            </p:grpSpPr>
            <p:sp>
              <p:nvSpPr>
                <p:cNvPr id="54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984" name="Group 2096"/>
            <p:cNvGrpSpPr>
              <a:grpSpLocks/>
            </p:cNvGrpSpPr>
            <p:nvPr/>
          </p:nvGrpSpPr>
          <p:grpSpPr bwMode="auto">
            <a:xfrm>
              <a:off x="5795963" y="1125538"/>
              <a:ext cx="431800" cy="330200"/>
              <a:chOff x="624" y="2968"/>
              <a:chExt cx="1331" cy="920"/>
            </a:xfrm>
          </p:grpSpPr>
          <p:sp>
            <p:nvSpPr>
              <p:cNvPr id="985"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6"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7"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8"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9"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0"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1"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2"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3"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4"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5"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6"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97" name="Group 2109"/>
              <p:cNvGrpSpPr>
                <a:grpSpLocks/>
              </p:cNvGrpSpPr>
              <p:nvPr/>
            </p:nvGrpSpPr>
            <p:grpSpPr bwMode="auto">
              <a:xfrm>
                <a:off x="700" y="3526"/>
                <a:ext cx="515" cy="270"/>
                <a:chOff x="700" y="3526"/>
                <a:chExt cx="515" cy="270"/>
              </a:xfrm>
            </p:grpSpPr>
            <p:grpSp>
              <p:nvGrpSpPr>
                <p:cNvPr id="1023" name="Group 2110"/>
                <p:cNvGrpSpPr>
                  <a:grpSpLocks/>
                </p:cNvGrpSpPr>
                <p:nvPr/>
              </p:nvGrpSpPr>
              <p:grpSpPr bwMode="auto">
                <a:xfrm>
                  <a:off x="737" y="3534"/>
                  <a:ext cx="49" cy="23"/>
                  <a:chOff x="737" y="3534"/>
                  <a:chExt cx="49" cy="23"/>
                </a:xfrm>
              </p:grpSpPr>
              <p:sp>
                <p:nvSpPr>
                  <p:cNvPr id="1434"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5"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6"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24" name="Group 2114"/>
                <p:cNvGrpSpPr>
                  <a:grpSpLocks/>
                </p:cNvGrpSpPr>
                <p:nvPr/>
              </p:nvGrpSpPr>
              <p:grpSpPr bwMode="auto">
                <a:xfrm>
                  <a:off x="748" y="3547"/>
                  <a:ext cx="50" cy="23"/>
                  <a:chOff x="748" y="3547"/>
                  <a:chExt cx="50" cy="23"/>
                </a:xfrm>
              </p:grpSpPr>
              <p:sp>
                <p:nvSpPr>
                  <p:cNvPr id="1431"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2"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3"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25"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6"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7"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8"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29" name="Group 2122"/>
                <p:cNvGrpSpPr>
                  <a:grpSpLocks/>
                </p:cNvGrpSpPr>
                <p:nvPr/>
              </p:nvGrpSpPr>
              <p:grpSpPr bwMode="auto">
                <a:xfrm>
                  <a:off x="872" y="3547"/>
                  <a:ext cx="50" cy="23"/>
                  <a:chOff x="872" y="3547"/>
                  <a:chExt cx="50" cy="23"/>
                </a:xfrm>
              </p:grpSpPr>
              <p:sp>
                <p:nvSpPr>
                  <p:cNvPr id="1428"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9"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0"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0" name="Group 2126"/>
                <p:cNvGrpSpPr>
                  <a:grpSpLocks/>
                </p:cNvGrpSpPr>
                <p:nvPr/>
              </p:nvGrpSpPr>
              <p:grpSpPr bwMode="auto">
                <a:xfrm>
                  <a:off x="885" y="3559"/>
                  <a:ext cx="50" cy="23"/>
                  <a:chOff x="885" y="3559"/>
                  <a:chExt cx="50" cy="23"/>
                </a:xfrm>
              </p:grpSpPr>
              <p:sp>
                <p:nvSpPr>
                  <p:cNvPr id="1425"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6"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7"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1" name="Group 2130"/>
                <p:cNvGrpSpPr>
                  <a:grpSpLocks/>
                </p:cNvGrpSpPr>
                <p:nvPr/>
              </p:nvGrpSpPr>
              <p:grpSpPr bwMode="auto">
                <a:xfrm>
                  <a:off x="898" y="3571"/>
                  <a:ext cx="49" cy="23"/>
                  <a:chOff x="898" y="3571"/>
                  <a:chExt cx="49" cy="23"/>
                </a:xfrm>
              </p:grpSpPr>
              <p:sp>
                <p:nvSpPr>
                  <p:cNvPr id="1422"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3"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4"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2" name="Group 2134"/>
                <p:cNvGrpSpPr>
                  <a:grpSpLocks/>
                </p:cNvGrpSpPr>
                <p:nvPr/>
              </p:nvGrpSpPr>
              <p:grpSpPr bwMode="auto">
                <a:xfrm>
                  <a:off x="911" y="3585"/>
                  <a:ext cx="49" cy="23"/>
                  <a:chOff x="911" y="3585"/>
                  <a:chExt cx="49" cy="23"/>
                </a:xfrm>
              </p:grpSpPr>
              <p:sp>
                <p:nvSpPr>
                  <p:cNvPr id="1419"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0"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1"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3" name="Group 2138"/>
                <p:cNvGrpSpPr>
                  <a:grpSpLocks/>
                </p:cNvGrpSpPr>
                <p:nvPr/>
              </p:nvGrpSpPr>
              <p:grpSpPr bwMode="auto">
                <a:xfrm>
                  <a:off x="923" y="3600"/>
                  <a:ext cx="99" cy="73"/>
                  <a:chOff x="923" y="3600"/>
                  <a:chExt cx="99" cy="73"/>
                </a:xfrm>
              </p:grpSpPr>
              <p:grpSp>
                <p:nvGrpSpPr>
                  <p:cNvPr id="1399" name="Group 2139"/>
                  <p:cNvGrpSpPr>
                    <a:grpSpLocks/>
                  </p:cNvGrpSpPr>
                  <p:nvPr/>
                </p:nvGrpSpPr>
                <p:grpSpPr bwMode="auto">
                  <a:xfrm>
                    <a:off x="923" y="3600"/>
                    <a:ext cx="49" cy="23"/>
                    <a:chOff x="923" y="3600"/>
                    <a:chExt cx="49" cy="23"/>
                  </a:xfrm>
                </p:grpSpPr>
                <p:sp>
                  <p:nvSpPr>
                    <p:cNvPr id="1416"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7"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8"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0" name="Group 2143"/>
                  <p:cNvGrpSpPr>
                    <a:grpSpLocks/>
                  </p:cNvGrpSpPr>
                  <p:nvPr/>
                </p:nvGrpSpPr>
                <p:grpSpPr bwMode="auto">
                  <a:xfrm>
                    <a:off x="935" y="3612"/>
                    <a:ext cx="48" cy="23"/>
                    <a:chOff x="935" y="3612"/>
                    <a:chExt cx="48" cy="23"/>
                  </a:xfrm>
                </p:grpSpPr>
                <p:sp>
                  <p:nvSpPr>
                    <p:cNvPr id="1413"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4"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5"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1" name="Group 2147"/>
                  <p:cNvGrpSpPr>
                    <a:grpSpLocks/>
                  </p:cNvGrpSpPr>
                  <p:nvPr/>
                </p:nvGrpSpPr>
                <p:grpSpPr bwMode="auto">
                  <a:xfrm>
                    <a:off x="947" y="3625"/>
                    <a:ext cx="50" cy="22"/>
                    <a:chOff x="947" y="3625"/>
                    <a:chExt cx="50" cy="22"/>
                  </a:xfrm>
                </p:grpSpPr>
                <p:sp>
                  <p:nvSpPr>
                    <p:cNvPr id="1410"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1"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2"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2" name="Group 2151"/>
                  <p:cNvGrpSpPr>
                    <a:grpSpLocks/>
                  </p:cNvGrpSpPr>
                  <p:nvPr/>
                </p:nvGrpSpPr>
                <p:grpSpPr bwMode="auto">
                  <a:xfrm>
                    <a:off x="960" y="3637"/>
                    <a:ext cx="50" cy="23"/>
                    <a:chOff x="960" y="3637"/>
                    <a:chExt cx="50" cy="23"/>
                  </a:xfrm>
                </p:grpSpPr>
                <p:sp>
                  <p:nvSpPr>
                    <p:cNvPr id="1407"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8"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9"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3" name="Group 2155"/>
                  <p:cNvGrpSpPr>
                    <a:grpSpLocks/>
                  </p:cNvGrpSpPr>
                  <p:nvPr/>
                </p:nvGrpSpPr>
                <p:grpSpPr bwMode="auto">
                  <a:xfrm>
                    <a:off x="973" y="3650"/>
                    <a:ext cx="49" cy="23"/>
                    <a:chOff x="973" y="3650"/>
                    <a:chExt cx="49" cy="23"/>
                  </a:xfrm>
                </p:grpSpPr>
                <p:sp>
                  <p:nvSpPr>
                    <p:cNvPr id="1404"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5"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6"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4" name="Group 2159"/>
                <p:cNvGrpSpPr>
                  <a:grpSpLocks/>
                </p:cNvGrpSpPr>
                <p:nvPr/>
              </p:nvGrpSpPr>
              <p:grpSpPr bwMode="auto">
                <a:xfrm>
                  <a:off x="985" y="3665"/>
                  <a:ext cx="100" cy="73"/>
                  <a:chOff x="985" y="3665"/>
                  <a:chExt cx="100" cy="73"/>
                </a:xfrm>
              </p:grpSpPr>
              <p:grpSp>
                <p:nvGrpSpPr>
                  <p:cNvPr id="1379" name="Group 2160"/>
                  <p:cNvGrpSpPr>
                    <a:grpSpLocks/>
                  </p:cNvGrpSpPr>
                  <p:nvPr/>
                </p:nvGrpSpPr>
                <p:grpSpPr bwMode="auto">
                  <a:xfrm>
                    <a:off x="985" y="3665"/>
                    <a:ext cx="50" cy="23"/>
                    <a:chOff x="985" y="3665"/>
                    <a:chExt cx="50" cy="23"/>
                  </a:xfrm>
                </p:grpSpPr>
                <p:sp>
                  <p:nvSpPr>
                    <p:cNvPr id="1396"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7"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8"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0" name="Group 2164"/>
                  <p:cNvGrpSpPr>
                    <a:grpSpLocks/>
                  </p:cNvGrpSpPr>
                  <p:nvPr/>
                </p:nvGrpSpPr>
                <p:grpSpPr bwMode="auto">
                  <a:xfrm>
                    <a:off x="997" y="3677"/>
                    <a:ext cx="49" cy="23"/>
                    <a:chOff x="997" y="3677"/>
                    <a:chExt cx="49" cy="23"/>
                  </a:xfrm>
                </p:grpSpPr>
                <p:sp>
                  <p:nvSpPr>
                    <p:cNvPr id="1393"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4"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5"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1" name="Group 2168"/>
                  <p:cNvGrpSpPr>
                    <a:grpSpLocks/>
                  </p:cNvGrpSpPr>
                  <p:nvPr/>
                </p:nvGrpSpPr>
                <p:grpSpPr bwMode="auto">
                  <a:xfrm>
                    <a:off x="1010" y="3690"/>
                    <a:ext cx="48" cy="23"/>
                    <a:chOff x="1010" y="3690"/>
                    <a:chExt cx="48" cy="23"/>
                  </a:xfrm>
                </p:grpSpPr>
                <p:sp>
                  <p:nvSpPr>
                    <p:cNvPr id="1390"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1"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2"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2" name="Group 2172"/>
                  <p:cNvGrpSpPr>
                    <a:grpSpLocks/>
                  </p:cNvGrpSpPr>
                  <p:nvPr/>
                </p:nvGrpSpPr>
                <p:grpSpPr bwMode="auto">
                  <a:xfrm>
                    <a:off x="1023" y="3703"/>
                    <a:ext cx="49" cy="22"/>
                    <a:chOff x="1023" y="3703"/>
                    <a:chExt cx="49" cy="22"/>
                  </a:xfrm>
                </p:grpSpPr>
                <p:sp>
                  <p:nvSpPr>
                    <p:cNvPr id="1387"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8"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9"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3" name="Group 2176"/>
                  <p:cNvGrpSpPr>
                    <a:grpSpLocks/>
                  </p:cNvGrpSpPr>
                  <p:nvPr/>
                </p:nvGrpSpPr>
                <p:grpSpPr bwMode="auto">
                  <a:xfrm>
                    <a:off x="1036" y="3716"/>
                    <a:ext cx="49" cy="22"/>
                    <a:chOff x="1036" y="3716"/>
                    <a:chExt cx="49" cy="22"/>
                  </a:xfrm>
                </p:grpSpPr>
                <p:sp>
                  <p:nvSpPr>
                    <p:cNvPr id="1384"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5"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6"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5" name="Group 2180"/>
                <p:cNvGrpSpPr>
                  <a:grpSpLocks/>
                </p:cNvGrpSpPr>
                <p:nvPr/>
              </p:nvGrpSpPr>
              <p:grpSpPr bwMode="auto">
                <a:xfrm>
                  <a:off x="1046" y="3727"/>
                  <a:ext cx="49" cy="23"/>
                  <a:chOff x="1046" y="3727"/>
                  <a:chExt cx="49" cy="23"/>
                </a:xfrm>
              </p:grpSpPr>
              <p:sp>
                <p:nvSpPr>
                  <p:cNvPr id="1376"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7"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8"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6" name="Group 2184"/>
                <p:cNvGrpSpPr>
                  <a:grpSpLocks/>
                </p:cNvGrpSpPr>
                <p:nvPr/>
              </p:nvGrpSpPr>
              <p:grpSpPr bwMode="auto">
                <a:xfrm>
                  <a:off x="1058" y="3739"/>
                  <a:ext cx="50" cy="23"/>
                  <a:chOff x="1058" y="3739"/>
                  <a:chExt cx="50" cy="23"/>
                </a:xfrm>
              </p:grpSpPr>
              <p:sp>
                <p:nvSpPr>
                  <p:cNvPr id="1373"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4"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5"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7" name="Group 2188"/>
                <p:cNvGrpSpPr>
                  <a:grpSpLocks/>
                </p:cNvGrpSpPr>
                <p:nvPr/>
              </p:nvGrpSpPr>
              <p:grpSpPr bwMode="auto">
                <a:xfrm>
                  <a:off x="1072" y="3753"/>
                  <a:ext cx="48" cy="22"/>
                  <a:chOff x="1072" y="3753"/>
                  <a:chExt cx="48" cy="22"/>
                </a:xfrm>
              </p:grpSpPr>
              <p:sp>
                <p:nvSpPr>
                  <p:cNvPr id="1370"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1"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2"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38"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39"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40"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41" name="Group 2195"/>
                <p:cNvGrpSpPr>
                  <a:grpSpLocks/>
                </p:cNvGrpSpPr>
                <p:nvPr/>
              </p:nvGrpSpPr>
              <p:grpSpPr bwMode="auto">
                <a:xfrm>
                  <a:off x="832" y="3547"/>
                  <a:ext cx="49" cy="23"/>
                  <a:chOff x="832" y="3547"/>
                  <a:chExt cx="49" cy="23"/>
                </a:xfrm>
              </p:grpSpPr>
              <p:sp>
                <p:nvSpPr>
                  <p:cNvPr id="1367"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8"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9"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2" name="Group 2199"/>
                <p:cNvGrpSpPr>
                  <a:grpSpLocks/>
                </p:cNvGrpSpPr>
                <p:nvPr/>
              </p:nvGrpSpPr>
              <p:grpSpPr bwMode="auto">
                <a:xfrm>
                  <a:off x="844" y="3560"/>
                  <a:ext cx="49" cy="22"/>
                  <a:chOff x="844" y="3560"/>
                  <a:chExt cx="49" cy="22"/>
                </a:xfrm>
              </p:grpSpPr>
              <p:sp>
                <p:nvSpPr>
                  <p:cNvPr id="1364"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5"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6"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3" name="Group 2203"/>
                <p:cNvGrpSpPr>
                  <a:grpSpLocks/>
                </p:cNvGrpSpPr>
                <p:nvPr/>
              </p:nvGrpSpPr>
              <p:grpSpPr bwMode="auto">
                <a:xfrm>
                  <a:off x="857" y="3572"/>
                  <a:ext cx="50" cy="23"/>
                  <a:chOff x="857" y="3572"/>
                  <a:chExt cx="50" cy="23"/>
                </a:xfrm>
              </p:grpSpPr>
              <p:sp>
                <p:nvSpPr>
                  <p:cNvPr id="1361"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2"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3"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4" name="Group 2207"/>
                <p:cNvGrpSpPr>
                  <a:grpSpLocks/>
                </p:cNvGrpSpPr>
                <p:nvPr/>
              </p:nvGrpSpPr>
              <p:grpSpPr bwMode="auto">
                <a:xfrm>
                  <a:off x="870" y="3585"/>
                  <a:ext cx="48" cy="23"/>
                  <a:chOff x="870" y="3585"/>
                  <a:chExt cx="48" cy="23"/>
                </a:xfrm>
              </p:grpSpPr>
              <p:sp>
                <p:nvSpPr>
                  <p:cNvPr id="1358"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9"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0"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5" name="Group 2211"/>
                <p:cNvGrpSpPr>
                  <a:grpSpLocks/>
                </p:cNvGrpSpPr>
                <p:nvPr/>
              </p:nvGrpSpPr>
              <p:grpSpPr bwMode="auto">
                <a:xfrm>
                  <a:off x="882" y="3600"/>
                  <a:ext cx="100" cy="73"/>
                  <a:chOff x="882" y="3600"/>
                  <a:chExt cx="100" cy="73"/>
                </a:xfrm>
              </p:grpSpPr>
              <p:grpSp>
                <p:nvGrpSpPr>
                  <p:cNvPr id="1338" name="Group 2212"/>
                  <p:cNvGrpSpPr>
                    <a:grpSpLocks/>
                  </p:cNvGrpSpPr>
                  <p:nvPr/>
                </p:nvGrpSpPr>
                <p:grpSpPr bwMode="auto">
                  <a:xfrm>
                    <a:off x="882" y="3600"/>
                    <a:ext cx="49" cy="23"/>
                    <a:chOff x="882" y="3600"/>
                    <a:chExt cx="49" cy="23"/>
                  </a:xfrm>
                </p:grpSpPr>
                <p:sp>
                  <p:nvSpPr>
                    <p:cNvPr id="1355"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6"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7"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9" name="Group 2216"/>
                  <p:cNvGrpSpPr>
                    <a:grpSpLocks/>
                  </p:cNvGrpSpPr>
                  <p:nvPr/>
                </p:nvGrpSpPr>
                <p:grpSpPr bwMode="auto">
                  <a:xfrm>
                    <a:off x="894" y="3612"/>
                    <a:ext cx="49" cy="23"/>
                    <a:chOff x="894" y="3612"/>
                    <a:chExt cx="49" cy="23"/>
                  </a:xfrm>
                </p:grpSpPr>
                <p:sp>
                  <p:nvSpPr>
                    <p:cNvPr id="1352"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3"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4"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0" name="Group 2220"/>
                  <p:cNvGrpSpPr>
                    <a:grpSpLocks/>
                  </p:cNvGrpSpPr>
                  <p:nvPr/>
                </p:nvGrpSpPr>
                <p:grpSpPr bwMode="auto">
                  <a:xfrm>
                    <a:off x="907" y="3625"/>
                    <a:ext cx="49" cy="23"/>
                    <a:chOff x="907" y="3625"/>
                    <a:chExt cx="49" cy="23"/>
                  </a:xfrm>
                </p:grpSpPr>
                <p:sp>
                  <p:nvSpPr>
                    <p:cNvPr id="1349"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0"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1"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1" name="Group 2224"/>
                  <p:cNvGrpSpPr>
                    <a:grpSpLocks/>
                  </p:cNvGrpSpPr>
                  <p:nvPr/>
                </p:nvGrpSpPr>
                <p:grpSpPr bwMode="auto">
                  <a:xfrm>
                    <a:off x="919" y="3638"/>
                    <a:ext cx="49" cy="22"/>
                    <a:chOff x="919" y="3638"/>
                    <a:chExt cx="49" cy="22"/>
                  </a:xfrm>
                </p:grpSpPr>
                <p:sp>
                  <p:nvSpPr>
                    <p:cNvPr id="1346"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7"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8"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2" name="Group 2228"/>
                  <p:cNvGrpSpPr>
                    <a:grpSpLocks/>
                  </p:cNvGrpSpPr>
                  <p:nvPr/>
                </p:nvGrpSpPr>
                <p:grpSpPr bwMode="auto">
                  <a:xfrm>
                    <a:off x="932" y="3651"/>
                    <a:ext cx="50" cy="22"/>
                    <a:chOff x="932" y="3651"/>
                    <a:chExt cx="50" cy="22"/>
                  </a:xfrm>
                </p:grpSpPr>
                <p:sp>
                  <p:nvSpPr>
                    <p:cNvPr id="1343"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4"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5"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6" name="Group 2232"/>
                <p:cNvGrpSpPr>
                  <a:grpSpLocks/>
                </p:cNvGrpSpPr>
                <p:nvPr/>
              </p:nvGrpSpPr>
              <p:grpSpPr bwMode="auto">
                <a:xfrm>
                  <a:off x="944" y="3665"/>
                  <a:ext cx="99" cy="74"/>
                  <a:chOff x="944" y="3665"/>
                  <a:chExt cx="99" cy="74"/>
                </a:xfrm>
              </p:grpSpPr>
              <p:grpSp>
                <p:nvGrpSpPr>
                  <p:cNvPr id="1318" name="Group 2233"/>
                  <p:cNvGrpSpPr>
                    <a:grpSpLocks/>
                  </p:cNvGrpSpPr>
                  <p:nvPr/>
                </p:nvGrpSpPr>
                <p:grpSpPr bwMode="auto">
                  <a:xfrm>
                    <a:off x="944" y="3665"/>
                    <a:ext cx="49" cy="23"/>
                    <a:chOff x="944" y="3665"/>
                    <a:chExt cx="49" cy="23"/>
                  </a:xfrm>
                </p:grpSpPr>
                <p:sp>
                  <p:nvSpPr>
                    <p:cNvPr id="1335"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6"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7"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9" name="Group 2237"/>
                  <p:cNvGrpSpPr>
                    <a:grpSpLocks/>
                  </p:cNvGrpSpPr>
                  <p:nvPr/>
                </p:nvGrpSpPr>
                <p:grpSpPr bwMode="auto">
                  <a:xfrm>
                    <a:off x="957" y="3678"/>
                    <a:ext cx="48" cy="23"/>
                    <a:chOff x="957" y="3678"/>
                    <a:chExt cx="48" cy="23"/>
                  </a:xfrm>
                </p:grpSpPr>
                <p:sp>
                  <p:nvSpPr>
                    <p:cNvPr id="1332"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3"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4"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0" name="Group 2241"/>
                  <p:cNvGrpSpPr>
                    <a:grpSpLocks/>
                  </p:cNvGrpSpPr>
                  <p:nvPr/>
                </p:nvGrpSpPr>
                <p:grpSpPr bwMode="auto">
                  <a:xfrm>
                    <a:off x="969" y="3690"/>
                    <a:ext cx="49" cy="23"/>
                    <a:chOff x="969" y="3690"/>
                    <a:chExt cx="49" cy="23"/>
                  </a:xfrm>
                </p:grpSpPr>
                <p:sp>
                  <p:nvSpPr>
                    <p:cNvPr id="1329"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0"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1"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1" name="Group 2245"/>
                  <p:cNvGrpSpPr>
                    <a:grpSpLocks/>
                  </p:cNvGrpSpPr>
                  <p:nvPr/>
                </p:nvGrpSpPr>
                <p:grpSpPr bwMode="auto">
                  <a:xfrm>
                    <a:off x="982" y="3703"/>
                    <a:ext cx="49" cy="23"/>
                    <a:chOff x="982" y="3703"/>
                    <a:chExt cx="49" cy="23"/>
                  </a:xfrm>
                </p:grpSpPr>
                <p:sp>
                  <p:nvSpPr>
                    <p:cNvPr id="1326"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7"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8"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2" name="Group 2249"/>
                  <p:cNvGrpSpPr>
                    <a:grpSpLocks/>
                  </p:cNvGrpSpPr>
                  <p:nvPr/>
                </p:nvGrpSpPr>
                <p:grpSpPr bwMode="auto">
                  <a:xfrm>
                    <a:off x="995" y="3716"/>
                    <a:ext cx="48" cy="23"/>
                    <a:chOff x="995" y="3716"/>
                    <a:chExt cx="48" cy="23"/>
                  </a:xfrm>
                </p:grpSpPr>
                <p:sp>
                  <p:nvSpPr>
                    <p:cNvPr id="1323"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4"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5"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7" name="Group 2253"/>
                <p:cNvGrpSpPr>
                  <a:grpSpLocks/>
                </p:cNvGrpSpPr>
                <p:nvPr/>
              </p:nvGrpSpPr>
              <p:grpSpPr bwMode="auto">
                <a:xfrm>
                  <a:off x="1005" y="3727"/>
                  <a:ext cx="49" cy="23"/>
                  <a:chOff x="1005" y="3727"/>
                  <a:chExt cx="49" cy="23"/>
                </a:xfrm>
              </p:grpSpPr>
              <p:sp>
                <p:nvSpPr>
                  <p:cNvPr id="1315"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6"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7"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8" name="Group 2257"/>
                <p:cNvGrpSpPr>
                  <a:grpSpLocks/>
                </p:cNvGrpSpPr>
                <p:nvPr/>
              </p:nvGrpSpPr>
              <p:grpSpPr bwMode="auto">
                <a:xfrm>
                  <a:off x="1018" y="3740"/>
                  <a:ext cx="49" cy="22"/>
                  <a:chOff x="1018" y="3740"/>
                  <a:chExt cx="49" cy="22"/>
                </a:xfrm>
              </p:grpSpPr>
              <p:sp>
                <p:nvSpPr>
                  <p:cNvPr id="1312"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3"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4"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9" name="Group 2261"/>
                <p:cNvGrpSpPr>
                  <a:grpSpLocks/>
                </p:cNvGrpSpPr>
                <p:nvPr/>
              </p:nvGrpSpPr>
              <p:grpSpPr bwMode="auto">
                <a:xfrm>
                  <a:off x="1030" y="3753"/>
                  <a:ext cx="49" cy="23"/>
                  <a:chOff x="1030" y="3753"/>
                  <a:chExt cx="49" cy="23"/>
                </a:xfrm>
              </p:grpSpPr>
              <p:sp>
                <p:nvSpPr>
                  <p:cNvPr id="1309"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0"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1"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50"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1"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2"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53" name="Group 2268"/>
                <p:cNvGrpSpPr>
                  <a:grpSpLocks/>
                </p:cNvGrpSpPr>
                <p:nvPr/>
              </p:nvGrpSpPr>
              <p:grpSpPr bwMode="auto">
                <a:xfrm>
                  <a:off x="790" y="3547"/>
                  <a:ext cx="49" cy="23"/>
                  <a:chOff x="790" y="3547"/>
                  <a:chExt cx="49" cy="23"/>
                </a:xfrm>
              </p:grpSpPr>
              <p:sp>
                <p:nvSpPr>
                  <p:cNvPr id="1306"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7"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8"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4" name="Group 2272"/>
                <p:cNvGrpSpPr>
                  <a:grpSpLocks/>
                </p:cNvGrpSpPr>
                <p:nvPr/>
              </p:nvGrpSpPr>
              <p:grpSpPr bwMode="auto">
                <a:xfrm>
                  <a:off x="803" y="3560"/>
                  <a:ext cx="49" cy="22"/>
                  <a:chOff x="803" y="3560"/>
                  <a:chExt cx="49" cy="22"/>
                </a:xfrm>
              </p:grpSpPr>
              <p:sp>
                <p:nvSpPr>
                  <p:cNvPr id="1303"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4"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5"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5" name="Group 2276"/>
                <p:cNvGrpSpPr>
                  <a:grpSpLocks/>
                </p:cNvGrpSpPr>
                <p:nvPr/>
              </p:nvGrpSpPr>
              <p:grpSpPr bwMode="auto">
                <a:xfrm>
                  <a:off x="815" y="3572"/>
                  <a:ext cx="50" cy="23"/>
                  <a:chOff x="815" y="3572"/>
                  <a:chExt cx="50" cy="23"/>
                </a:xfrm>
              </p:grpSpPr>
              <p:sp>
                <p:nvSpPr>
                  <p:cNvPr id="1300"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1"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2"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6" name="Group 2280"/>
                <p:cNvGrpSpPr>
                  <a:grpSpLocks/>
                </p:cNvGrpSpPr>
                <p:nvPr/>
              </p:nvGrpSpPr>
              <p:grpSpPr bwMode="auto">
                <a:xfrm>
                  <a:off x="828" y="3585"/>
                  <a:ext cx="49" cy="23"/>
                  <a:chOff x="828" y="3585"/>
                  <a:chExt cx="49" cy="23"/>
                </a:xfrm>
              </p:grpSpPr>
              <p:sp>
                <p:nvSpPr>
                  <p:cNvPr id="1297"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8"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9"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7" name="Group 2284"/>
                <p:cNvGrpSpPr>
                  <a:grpSpLocks/>
                </p:cNvGrpSpPr>
                <p:nvPr/>
              </p:nvGrpSpPr>
              <p:grpSpPr bwMode="auto">
                <a:xfrm>
                  <a:off x="840" y="3600"/>
                  <a:ext cx="100" cy="73"/>
                  <a:chOff x="840" y="3600"/>
                  <a:chExt cx="100" cy="73"/>
                </a:xfrm>
              </p:grpSpPr>
              <p:grpSp>
                <p:nvGrpSpPr>
                  <p:cNvPr id="1277" name="Group 2285"/>
                  <p:cNvGrpSpPr>
                    <a:grpSpLocks/>
                  </p:cNvGrpSpPr>
                  <p:nvPr/>
                </p:nvGrpSpPr>
                <p:grpSpPr bwMode="auto">
                  <a:xfrm>
                    <a:off x="840" y="3600"/>
                    <a:ext cx="49" cy="23"/>
                    <a:chOff x="840" y="3600"/>
                    <a:chExt cx="49" cy="23"/>
                  </a:xfrm>
                </p:grpSpPr>
                <p:sp>
                  <p:nvSpPr>
                    <p:cNvPr id="1294"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5"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6"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8" name="Group 2289"/>
                  <p:cNvGrpSpPr>
                    <a:grpSpLocks/>
                  </p:cNvGrpSpPr>
                  <p:nvPr/>
                </p:nvGrpSpPr>
                <p:grpSpPr bwMode="auto">
                  <a:xfrm>
                    <a:off x="853" y="3612"/>
                    <a:ext cx="48" cy="23"/>
                    <a:chOff x="853" y="3612"/>
                    <a:chExt cx="48" cy="23"/>
                  </a:xfrm>
                </p:grpSpPr>
                <p:sp>
                  <p:nvSpPr>
                    <p:cNvPr id="1291"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2"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3"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9" name="Group 2293"/>
                  <p:cNvGrpSpPr>
                    <a:grpSpLocks/>
                  </p:cNvGrpSpPr>
                  <p:nvPr/>
                </p:nvGrpSpPr>
                <p:grpSpPr bwMode="auto">
                  <a:xfrm>
                    <a:off x="865" y="3625"/>
                    <a:ext cx="49" cy="23"/>
                    <a:chOff x="865" y="3625"/>
                    <a:chExt cx="49" cy="23"/>
                  </a:xfrm>
                </p:grpSpPr>
                <p:sp>
                  <p:nvSpPr>
                    <p:cNvPr id="1288"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9"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0"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0" name="Group 2297"/>
                  <p:cNvGrpSpPr>
                    <a:grpSpLocks/>
                  </p:cNvGrpSpPr>
                  <p:nvPr/>
                </p:nvGrpSpPr>
                <p:grpSpPr bwMode="auto">
                  <a:xfrm>
                    <a:off x="878" y="3638"/>
                    <a:ext cx="49" cy="22"/>
                    <a:chOff x="878" y="3638"/>
                    <a:chExt cx="49" cy="22"/>
                  </a:xfrm>
                </p:grpSpPr>
                <p:sp>
                  <p:nvSpPr>
                    <p:cNvPr id="1285"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6"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7"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1" name="Group 2301"/>
                  <p:cNvGrpSpPr>
                    <a:grpSpLocks/>
                  </p:cNvGrpSpPr>
                  <p:nvPr/>
                </p:nvGrpSpPr>
                <p:grpSpPr bwMode="auto">
                  <a:xfrm>
                    <a:off x="890" y="3651"/>
                    <a:ext cx="50" cy="22"/>
                    <a:chOff x="890" y="3651"/>
                    <a:chExt cx="50" cy="22"/>
                  </a:xfrm>
                </p:grpSpPr>
                <p:sp>
                  <p:nvSpPr>
                    <p:cNvPr id="1282"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3"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4"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8" name="Group 2305"/>
                <p:cNvGrpSpPr>
                  <a:grpSpLocks/>
                </p:cNvGrpSpPr>
                <p:nvPr/>
              </p:nvGrpSpPr>
              <p:grpSpPr bwMode="auto">
                <a:xfrm>
                  <a:off x="903" y="3665"/>
                  <a:ext cx="99" cy="74"/>
                  <a:chOff x="903" y="3665"/>
                  <a:chExt cx="99" cy="74"/>
                </a:xfrm>
              </p:grpSpPr>
              <p:grpSp>
                <p:nvGrpSpPr>
                  <p:cNvPr id="1257" name="Group 2306"/>
                  <p:cNvGrpSpPr>
                    <a:grpSpLocks/>
                  </p:cNvGrpSpPr>
                  <p:nvPr/>
                </p:nvGrpSpPr>
                <p:grpSpPr bwMode="auto">
                  <a:xfrm>
                    <a:off x="903" y="3665"/>
                    <a:ext cx="49" cy="23"/>
                    <a:chOff x="903" y="3665"/>
                    <a:chExt cx="49" cy="23"/>
                  </a:xfrm>
                </p:grpSpPr>
                <p:sp>
                  <p:nvSpPr>
                    <p:cNvPr id="1274"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5"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6"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8" name="Group 2310"/>
                  <p:cNvGrpSpPr>
                    <a:grpSpLocks/>
                  </p:cNvGrpSpPr>
                  <p:nvPr/>
                </p:nvGrpSpPr>
                <p:grpSpPr bwMode="auto">
                  <a:xfrm>
                    <a:off x="914" y="3678"/>
                    <a:ext cx="49" cy="23"/>
                    <a:chOff x="914" y="3678"/>
                    <a:chExt cx="49" cy="23"/>
                  </a:xfrm>
                </p:grpSpPr>
                <p:sp>
                  <p:nvSpPr>
                    <p:cNvPr id="1271"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2"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3"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9" name="Group 2314"/>
                  <p:cNvGrpSpPr>
                    <a:grpSpLocks/>
                  </p:cNvGrpSpPr>
                  <p:nvPr/>
                </p:nvGrpSpPr>
                <p:grpSpPr bwMode="auto">
                  <a:xfrm>
                    <a:off x="928" y="3690"/>
                    <a:ext cx="48" cy="23"/>
                    <a:chOff x="928" y="3690"/>
                    <a:chExt cx="48" cy="23"/>
                  </a:xfrm>
                </p:grpSpPr>
                <p:sp>
                  <p:nvSpPr>
                    <p:cNvPr id="1268"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9"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0"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0" name="Group 2318"/>
                  <p:cNvGrpSpPr>
                    <a:grpSpLocks/>
                  </p:cNvGrpSpPr>
                  <p:nvPr/>
                </p:nvGrpSpPr>
                <p:grpSpPr bwMode="auto">
                  <a:xfrm>
                    <a:off x="940" y="3703"/>
                    <a:ext cx="49" cy="23"/>
                    <a:chOff x="940" y="3703"/>
                    <a:chExt cx="49" cy="23"/>
                  </a:xfrm>
                </p:grpSpPr>
                <p:sp>
                  <p:nvSpPr>
                    <p:cNvPr id="1265"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6"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7"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1" name="Group 2322"/>
                  <p:cNvGrpSpPr>
                    <a:grpSpLocks/>
                  </p:cNvGrpSpPr>
                  <p:nvPr/>
                </p:nvGrpSpPr>
                <p:grpSpPr bwMode="auto">
                  <a:xfrm>
                    <a:off x="953" y="3716"/>
                    <a:ext cx="49" cy="23"/>
                    <a:chOff x="953" y="3716"/>
                    <a:chExt cx="49" cy="23"/>
                  </a:xfrm>
                </p:grpSpPr>
                <p:sp>
                  <p:nvSpPr>
                    <p:cNvPr id="1262"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3"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4"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9" name="Group 2326"/>
                <p:cNvGrpSpPr>
                  <a:grpSpLocks/>
                </p:cNvGrpSpPr>
                <p:nvPr/>
              </p:nvGrpSpPr>
              <p:grpSpPr bwMode="auto">
                <a:xfrm>
                  <a:off x="963" y="3727"/>
                  <a:ext cx="49" cy="23"/>
                  <a:chOff x="963" y="3727"/>
                  <a:chExt cx="49" cy="23"/>
                </a:xfrm>
              </p:grpSpPr>
              <p:sp>
                <p:nvSpPr>
                  <p:cNvPr id="1254"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5"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6"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0" name="Group 2330"/>
                <p:cNvGrpSpPr>
                  <a:grpSpLocks/>
                </p:cNvGrpSpPr>
                <p:nvPr/>
              </p:nvGrpSpPr>
              <p:grpSpPr bwMode="auto">
                <a:xfrm>
                  <a:off x="976" y="3740"/>
                  <a:ext cx="50" cy="22"/>
                  <a:chOff x="976" y="3740"/>
                  <a:chExt cx="50" cy="22"/>
                </a:xfrm>
              </p:grpSpPr>
              <p:sp>
                <p:nvSpPr>
                  <p:cNvPr id="1251"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2"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3"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1" name="Group 2334"/>
                <p:cNvGrpSpPr>
                  <a:grpSpLocks/>
                </p:cNvGrpSpPr>
                <p:nvPr/>
              </p:nvGrpSpPr>
              <p:grpSpPr bwMode="auto">
                <a:xfrm>
                  <a:off x="761" y="3560"/>
                  <a:ext cx="50" cy="22"/>
                  <a:chOff x="761" y="3560"/>
                  <a:chExt cx="50" cy="22"/>
                </a:xfrm>
              </p:grpSpPr>
              <p:sp>
                <p:nvSpPr>
                  <p:cNvPr id="1248"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9"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0"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2" name="Group 2338"/>
                <p:cNvGrpSpPr>
                  <a:grpSpLocks/>
                </p:cNvGrpSpPr>
                <p:nvPr/>
              </p:nvGrpSpPr>
              <p:grpSpPr bwMode="auto">
                <a:xfrm>
                  <a:off x="774" y="3572"/>
                  <a:ext cx="49" cy="23"/>
                  <a:chOff x="774" y="3572"/>
                  <a:chExt cx="49" cy="23"/>
                </a:xfrm>
              </p:grpSpPr>
              <p:sp>
                <p:nvSpPr>
                  <p:cNvPr id="1245"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6"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7"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3" name="Group 2342"/>
                <p:cNvGrpSpPr>
                  <a:grpSpLocks/>
                </p:cNvGrpSpPr>
                <p:nvPr/>
              </p:nvGrpSpPr>
              <p:grpSpPr bwMode="auto">
                <a:xfrm>
                  <a:off x="787" y="3585"/>
                  <a:ext cx="49" cy="23"/>
                  <a:chOff x="787" y="3585"/>
                  <a:chExt cx="49" cy="23"/>
                </a:xfrm>
              </p:grpSpPr>
              <p:sp>
                <p:nvSpPr>
                  <p:cNvPr id="1242"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3"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4"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4" name="Group 2346"/>
                <p:cNvGrpSpPr>
                  <a:grpSpLocks/>
                </p:cNvGrpSpPr>
                <p:nvPr/>
              </p:nvGrpSpPr>
              <p:grpSpPr bwMode="auto">
                <a:xfrm>
                  <a:off x="799" y="3600"/>
                  <a:ext cx="99" cy="73"/>
                  <a:chOff x="799" y="3600"/>
                  <a:chExt cx="99" cy="73"/>
                </a:xfrm>
              </p:grpSpPr>
              <p:grpSp>
                <p:nvGrpSpPr>
                  <p:cNvPr id="1222" name="Group 2347"/>
                  <p:cNvGrpSpPr>
                    <a:grpSpLocks/>
                  </p:cNvGrpSpPr>
                  <p:nvPr/>
                </p:nvGrpSpPr>
                <p:grpSpPr bwMode="auto">
                  <a:xfrm>
                    <a:off x="799" y="3600"/>
                    <a:ext cx="48" cy="23"/>
                    <a:chOff x="799" y="3600"/>
                    <a:chExt cx="48" cy="23"/>
                  </a:xfrm>
                </p:grpSpPr>
                <p:sp>
                  <p:nvSpPr>
                    <p:cNvPr id="1239"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0"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1"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3" name="Group 2351"/>
                  <p:cNvGrpSpPr>
                    <a:grpSpLocks/>
                  </p:cNvGrpSpPr>
                  <p:nvPr/>
                </p:nvGrpSpPr>
                <p:grpSpPr bwMode="auto">
                  <a:xfrm>
                    <a:off x="811" y="3612"/>
                    <a:ext cx="48" cy="23"/>
                    <a:chOff x="811" y="3612"/>
                    <a:chExt cx="48" cy="23"/>
                  </a:xfrm>
                </p:grpSpPr>
                <p:sp>
                  <p:nvSpPr>
                    <p:cNvPr id="1236"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7"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8"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4" name="Group 2355"/>
                  <p:cNvGrpSpPr>
                    <a:grpSpLocks/>
                  </p:cNvGrpSpPr>
                  <p:nvPr/>
                </p:nvGrpSpPr>
                <p:grpSpPr bwMode="auto">
                  <a:xfrm>
                    <a:off x="823" y="3625"/>
                    <a:ext cx="49" cy="23"/>
                    <a:chOff x="823" y="3625"/>
                    <a:chExt cx="49" cy="23"/>
                  </a:xfrm>
                </p:grpSpPr>
                <p:sp>
                  <p:nvSpPr>
                    <p:cNvPr id="1233"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4"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5"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5" name="Group 2359"/>
                  <p:cNvGrpSpPr>
                    <a:grpSpLocks/>
                  </p:cNvGrpSpPr>
                  <p:nvPr/>
                </p:nvGrpSpPr>
                <p:grpSpPr bwMode="auto">
                  <a:xfrm>
                    <a:off x="836" y="3638"/>
                    <a:ext cx="50" cy="22"/>
                    <a:chOff x="836" y="3638"/>
                    <a:chExt cx="50" cy="22"/>
                  </a:xfrm>
                </p:grpSpPr>
                <p:sp>
                  <p:nvSpPr>
                    <p:cNvPr id="1230"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1"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2"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6" name="Group 2363"/>
                  <p:cNvGrpSpPr>
                    <a:grpSpLocks/>
                  </p:cNvGrpSpPr>
                  <p:nvPr/>
                </p:nvGrpSpPr>
                <p:grpSpPr bwMode="auto">
                  <a:xfrm>
                    <a:off x="849" y="3651"/>
                    <a:ext cx="49" cy="22"/>
                    <a:chOff x="849" y="3651"/>
                    <a:chExt cx="49" cy="22"/>
                  </a:xfrm>
                </p:grpSpPr>
                <p:sp>
                  <p:nvSpPr>
                    <p:cNvPr id="1227"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8"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9"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5" name="Group 2367"/>
                <p:cNvGrpSpPr>
                  <a:grpSpLocks/>
                </p:cNvGrpSpPr>
                <p:nvPr/>
              </p:nvGrpSpPr>
              <p:grpSpPr bwMode="auto">
                <a:xfrm>
                  <a:off x="861" y="3665"/>
                  <a:ext cx="99" cy="74"/>
                  <a:chOff x="861" y="3665"/>
                  <a:chExt cx="99" cy="74"/>
                </a:xfrm>
              </p:grpSpPr>
              <p:grpSp>
                <p:nvGrpSpPr>
                  <p:cNvPr id="1202" name="Group 2368"/>
                  <p:cNvGrpSpPr>
                    <a:grpSpLocks/>
                  </p:cNvGrpSpPr>
                  <p:nvPr/>
                </p:nvGrpSpPr>
                <p:grpSpPr bwMode="auto">
                  <a:xfrm>
                    <a:off x="861" y="3665"/>
                    <a:ext cx="50" cy="23"/>
                    <a:chOff x="861" y="3665"/>
                    <a:chExt cx="50" cy="23"/>
                  </a:xfrm>
                </p:grpSpPr>
                <p:sp>
                  <p:nvSpPr>
                    <p:cNvPr id="1219"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0"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1"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3" name="Group 2372"/>
                  <p:cNvGrpSpPr>
                    <a:grpSpLocks/>
                  </p:cNvGrpSpPr>
                  <p:nvPr/>
                </p:nvGrpSpPr>
                <p:grpSpPr bwMode="auto">
                  <a:xfrm>
                    <a:off x="873" y="3678"/>
                    <a:ext cx="49" cy="23"/>
                    <a:chOff x="873" y="3678"/>
                    <a:chExt cx="49" cy="23"/>
                  </a:xfrm>
                </p:grpSpPr>
                <p:sp>
                  <p:nvSpPr>
                    <p:cNvPr id="1216"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7"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8"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4" name="Group 2376"/>
                  <p:cNvGrpSpPr>
                    <a:grpSpLocks/>
                  </p:cNvGrpSpPr>
                  <p:nvPr/>
                </p:nvGrpSpPr>
                <p:grpSpPr bwMode="auto">
                  <a:xfrm>
                    <a:off x="886" y="3690"/>
                    <a:ext cx="49" cy="23"/>
                    <a:chOff x="886" y="3690"/>
                    <a:chExt cx="49" cy="23"/>
                  </a:xfrm>
                </p:grpSpPr>
                <p:sp>
                  <p:nvSpPr>
                    <p:cNvPr id="1213"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4"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5"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5" name="Group 2380"/>
                  <p:cNvGrpSpPr>
                    <a:grpSpLocks/>
                  </p:cNvGrpSpPr>
                  <p:nvPr/>
                </p:nvGrpSpPr>
                <p:grpSpPr bwMode="auto">
                  <a:xfrm>
                    <a:off x="899" y="3703"/>
                    <a:ext cx="48" cy="23"/>
                    <a:chOff x="899" y="3703"/>
                    <a:chExt cx="48" cy="23"/>
                  </a:xfrm>
                </p:grpSpPr>
                <p:sp>
                  <p:nvSpPr>
                    <p:cNvPr id="1210"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1"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2"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6" name="Group 2384"/>
                  <p:cNvGrpSpPr>
                    <a:grpSpLocks/>
                  </p:cNvGrpSpPr>
                  <p:nvPr/>
                </p:nvGrpSpPr>
                <p:grpSpPr bwMode="auto">
                  <a:xfrm>
                    <a:off x="912" y="3716"/>
                    <a:ext cx="48" cy="23"/>
                    <a:chOff x="912" y="3716"/>
                    <a:chExt cx="48" cy="23"/>
                  </a:xfrm>
                </p:grpSpPr>
                <p:sp>
                  <p:nvSpPr>
                    <p:cNvPr id="1207"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8"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9"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6" name="Group 2388"/>
                <p:cNvGrpSpPr>
                  <a:grpSpLocks/>
                </p:cNvGrpSpPr>
                <p:nvPr/>
              </p:nvGrpSpPr>
              <p:grpSpPr bwMode="auto">
                <a:xfrm>
                  <a:off x="922" y="3727"/>
                  <a:ext cx="49" cy="23"/>
                  <a:chOff x="922" y="3727"/>
                  <a:chExt cx="49" cy="23"/>
                </a:xfrm>
              </p:grpSpPr>
              <p:sp>
                <p:nvSpPr>
                  <p:cNvPr id="1199"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0"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1"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7" name="Group 2392"/>
                <p:cNvGrpSpPr>
                  <a:grpSpLocks/>
                </p:cNvGrpSpPr>
                <p:nvPr/>
              </p:nvGrpSpPr>
              <p:grpSpPr bwMode="auto">
                <a:xfrm>
                  <a:off x="895" y="3526"/>
                  <a:ext cx="44" cy="23"/>
                  <a:chOff x="895" y="3526"/>
                  <a:chExt cx="44" cy="23"/>
                </a:xfrm>
              </p:grpSpPr>
              <p:sp>
                <p:nvSpPr>
                  <p:cNvPr id="1196"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7"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8"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8" name="Group 2396"/>
                <p:cNvGrpSpPr>
                  <a:grpSpLocks/>
                </p:cNvGrpSpPr>
                <p:nvPr/>
              </p:nvGrpSpPr>
              <p:grpSpPr bwMode="auto">
                <a:xfrm>
                  <a:off x="907" y="3540"/>
                  <a:ext cx="45" cy="22"/>
                  <a:chOff x="907" y="3540"/>
                  <a:chExt cx="45" cy="22"/>
                </a:xfrm>
              </p:grpSpPr>
              <p:sp>
                <p:nvSpPr>
                  <p:cNvPr id="1193"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4"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5"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9" name="Group 2400"/>
                <p:cNvGrpSpPr>
                  <a:grpSpLocks/>
                </p:cNvGrpSpPr>
                <p:nvPr/>
              </p:nvGrpSpPr>
              <p:grpSpPr bwMode="auto">
                <a:xfrm>
                  <a:off x="920" y="3553"/>
                  <a:ext cx="45" cy="23"/>
                  <a:chOff x="920" y="3553"/>
                  <a:chExt cx="45" cy="23"/>
                </a:xfrm>
              </p:grpSpPr>
              <p:sp>
                <p:nvSpPr>
                  <p:cNvPr id="1190"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1"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2"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0" name="Group 2404"/>
                <p:cNvGrpSpPr>
                  <a:grpSpLocks/>
                </p:cNvGrpSpPr>
                <p:nvPr/>
              </p:nvGrpSpPr>
              <p:grpSpPr bwMode="auto">
                <a:xfrm>
                  <a:off x="934" y="3566"/>
                  <a:ext cx="44" cy="23"/>
                  <a:chOff x="934" y="3566"/>
                  <a:chExt cx="44" cy="23"/>
                </a:xfrm>
              </p:grpSpPr>
              <p:sp>
                <p:nvSpPr>
                  <p:cNvPr id="1187"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8"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9"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1" name="Group 2408"/>
                <p:cNvGrpSpPr>
                  <a:grpSpLocks/>
                </p:cNvGrpSpPr>
                <p:nvPr/>
              </p:nvGrpSpPr>
              <p:grpSpPr bwMode="auto">
                <a:xfrm>
                  <a:off x="949" y="3579"/>
                  <a:ext cx="83" cy="63"/>
                  <a:chOff x="949" y="3579"/>
                  <a:chExt cx="83" cy="63"/>
                </a:xfrm>
              </p:grpSpPr>
              <p:grpSp>
                <p:nvGrpSpPr>
                  <p:cNvPr id="1171" name="Group 2409"/>
                  <p:cNvGrpSpPr>
                    <a:grpSpLocks/>
                  </p:cNvGrpSpPr>
                  <p:nvPr/>
                </p:nvGrpSpPr>
                <p:grpSpPr bwMode="auto">
                  <a:xfrm>
                    <a:off x="949" y="3579"/>
                    <a:ext cx="44" cy="23"/>
                    <a:chOff x="949" y="3579"/>
                    <a:chExt cx="44" cy="23"/>
                  </a:xfrm>
                </p:grpSpPr>
                <p:sp>
                  <p:nvSpPr>
                    <p:cNvPr id="1184"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5"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6"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2" name="Group 2413"/>
                  <p:cNvGrpSpPr>
                    <a:grpSpLocks/>
                  </p:cNvGrpSpPr>
                  <p:nvPr/>
                </p:nvGrpSpPr>
                <p:grpSpPr bwMode="auto">
                  <a:xfrm>
                    <a:off x="961" y="3592"/>
                    <a:ext cx="45" cy="23"/>
                    <a:chOff x="961" y="3592"/>
                    <a:chExt cx="45" cy="23"/>
                  </a:xfrm>
                </p:grpSpPr>
                <p:sp>
                  <p:nvSpPr>
                    <p:cNvPr id="1181"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2"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3"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3" name="Group 2417"/>
                  <p:cNvGrpSpPr>
                    <a:grpSpLocks/>
                  </p:cNvGrpSpPr>
                  <p:nvPr/>
                </p:nvGrpSpPr>
                <p:grpSpPr bwMode="auto">
                  <a:xfrm>
                    <a:off x="974" y="3606"/>
                    <a:ext cx="44" cy="23"/>
                    <a:chOff x="974" y="3606"/>
                    <a:chExt cx="44" cy="23"/>
                  </a:xfrm>
                </p:grpSpPr>
                <p:sp>
                  <p:nvSpPr>
                    <p:cNvPr id="1178"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9"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0"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4" name="Group 2421"/>
                  <p:cNvGrpSpPr>
                    <a:grpSpLocks/>
                  </p:cNvGrpSpPr>
                  <p:nvPr/>
                </p:nvGrpSpPr>
                <p:grpSpPr bwMode="auto">
                  <a:xfrm>
                    <a:off x="987" y="3619"/>
                    <a:ext cx="45" cy="23"/>
                    <a:chOff x="987" y="3619"/>
                    <a:chExt cx="45" cy="23"/>
                  </a:xfrm>
                </p:grpSpPr>
                <p:sp>
                  <p:nvSpPr>
                    <p:cNvPr id="1175"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6"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7"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2" name="Group 2425"/>
                <p:cNvGrpSpPr>
                  <a:grpSpLocks/>
                </p:cNvGrpSpPr>
                <p:nvPr/>
              </p:nvGrpSpPr>
              <p:grpSpPr bwMode="auto">
                <a:xfrm>
                  <a:off x="1002" y="3632"/>
                  <a:ext cx="83" cy="63"/>
                  <a:chOff x="1002" y="3632"/>
                  <a:chExt cx="83" cy="63"/>
                </a:xfrm>
              </p:grpSpPr>
              <p:grpSp>
                <p:nvGrpSpPr>
                  <p:cNvPr id="1155" name="Group 2426"/>
                  <p:cNvGrpSpPr>
                    <a:grpSpLocks/>
                  </p:cNvGrpSpPr>
                  <p:nvPr/>
                </p:nvGrpSpPr>
                <p:grpSpPr bwMode="auto">
                  <a:xfrm>
                    <a:off x="1002" y="3632"/>
                    <a:ext cx="44" cy="22"/>
                    <a:chOff x="1002" y="3632"/>
                    <a:chExt cx="44" cy="22"/>
                  </a:xfrm>
                </p:grpSpPr>
                <p:sp>
                  <p:nvSpPr>
                    <p:cNvPr id="1168"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9"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0"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6" name="Group 2430"/>
                  <p:cNvGrpSpPr>
                    <a:grpSpLocks/>
                  </p:cNvGrpSpPr>
                  <p:nvPr/>
                </p:nvGrpSpPr>
                <p:grpSpPr bwMode="auto">
                  <a:xfrm>
                    <a:off x="1014" y="3645"/>
                    <a:ext cx="44" cy="23"/>
                    <a:chOff x="1014" y="3645"/>
                    <a:chExt cx="44" cy="23"/>
                  </a:xfrm>
                </p:grpSpPr>
                <p:sp>
                  <p:nvSpPr>
                    <p:cNvPr id="1165"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6"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7"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7" name="Group 2434"/>
                  <p:cNvGrpSpPr>
                    <a:grpSpLocks/>
                  </p:cNvGrpSpPr>
                  <p:nvPr/>
                </p:nvGrpSpPr>
                <p:grpSpPr bwMode="auto">
                  <a:xfrm>
                    <a:off x="1027" y="3659"/>
                    <a:ext cx="45" cy="23"/>
                    <a:chOff x="1027" y="3659"/>
                    <a:chExt cx="45" cy="23"/>
                  </a:xfrm>
                </p:grpSpPr>
                <p:sp>
                  <p:nvSpPr>
                    <p:cNvPr id="1162"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3"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4"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8" name="Group 2438"/>
                  <p:cNvGrpSpPr>
                    <a:grpSpLocks/>
                  </p:cNvGrpSpPr>
                  <p:nvPr/>
                </p:nvGrpSpPr>
                <p:grpSpPr bwMode="auto">
                  <a:xfrm>
                    <a:off x="1040" y="3672"/>
                    <a:ext cx="45" cy="23"/>
                    <a:chOff x="1040" y="3672"/>
                    <a:chExt cx="45" cy="23"/>
                  </a:xfrm>
                </p:grpSpPr>
                <p:sp>
                  <p:nvSpPr>
                    <p:cNvPr id="1159"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0"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1"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3" name="Group 2442"/>
                <p:cNvGrpSpPr>
                  <a:grpSpLocks/>
                </p:cNvGrpSpPr>
                <p:nvPr/>
              </p:nvGrpSpPr>
              <p:grpSpPr bwMode="auto">
                <a:xfrm>
                  <a:off x="1054" y="3685"/>
                  <a:ext cx="45" cy="23"/>
                  <a:chOff x="1054" y="3685"/>
                  <a:chExt cx="45" cy="23"/>
                </a:xfrm>
              </p:grpSpPr>
              <p:sp>
                <p:nvSpPr>
                  <p:cNvPr id="1152"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3"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4"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4" name="Group 2446"/>
                <p:cNvGrpSpPr>
                  <a:grpSpLocks/>
                </p:cNvGrpSpPr>
                <p:nvPr/>
              </p:nvGrpSpPr>
              <p:grpSpPr bwMode="auto">
                <a:xfrm>
                  <a:off x="1067" y="3698"/>
                  <a:ext cx="45" cy="23"/>
                  <a:chOff x="1067" y="3698"/>
                  <a:chExt cx="45" cy="23"/>
                </a:xfrm>
              </p:grpSpPr>
              <p:sp>
                <p:nvSpPr>
                  <p:cNvPr id="1149"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0"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1"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5" name="Group 2450"/>
                <p:cNvGrpSpPr>
                  <a:grpSpLocks/>
                </p:cNvGrpSpPr>
                <p:nvPr/>
              </p:nvGrpSpPr>
              <p:grpSpPr bwMode="auto">
                <a:xfrm>
                  <a:off x="1079" y="3712"/>
                  <a:ext cx="44" cy="23"/>
                  <a:chOff x="1079" y="3712"/>
                  <a:chExt cx="44" cy="23"/>
                </a:xfrm>
              </p:grpSpPr>
              <p:sp>
                <p:nvSpPr>
                  <p:cNvPr id="1146"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7"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8"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6" name="Group 2454"/>
                <p:cNvGrpSpPr>
                  <a:grpSpLocks/>
                </p:cNvGrpSpPr>
                <p:nvPr/>
              </p:nvGrpSpPr>
              <p:grpSpPr bwMode="auto">
                <a:xfrm>
                  <a:off x="1093" y="3725"/>
                  <a:ext cx="45" cy="23"/>
                  <a:chOff x="1093" y="3725"/>
                  <a:chExt cx="45" cy="23"/>
                </a:xfrm>
              </p:grpSpPr>
              <p:sp>
                <p:nvSpPr>
                  <p:cNvPr id="1143"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4"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5"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7" name="Group 2458"/>
                <p:cNvGrpSpPr>
                  <a:grpSpLocks/>
                </p:cNvGrpSpPr>
                <p:nvPr/>
              </p:nvGrpSpPr>
              <p:grpSpPr bwMode="auto">
                <a:xfrm>
                  <a:off x="1108" y="3739"/>
                  <a:ext cx="44" cy="23"/>
                  <a:chOff x="1108" y="3739"/>
                  <a:chExt cx="44" cy="23"/>
                </a:xfrm>
              </p:grpSpPr>
              <p:sp>
                <p:nvSpPr>
                  <p:cNvPr id="1140"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1"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2"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8" name="Group 2462"/>
                <p:cNvGrpSpPr>
                  <a:grpSpLocks/>
                </p:cNvGrpSpPr>
                <p:nvPr/>
              </p:nvGrpSpPr>
              <p:grpSpPr bwMode="auto">
                <a:xfrm>
                  <a:off x="1121" y="3753"/>
                  <a:ext cx="45" cy="23"/>
                  <a:chOff x="1121" y="3753"/>
                  <a:chExt cx="45" cy="23"/>
                </a:xfrm>
              </p:grpSpPr>
              <p:sp>
                <p:nvSpPr>
                  <p:cNvPr id="1137"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8"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9"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9" name="Group 2466"/>
                <p:cNvGrpSpPr>
                  <a:grpSpLocks/>
                </p:cNvGrpSpPr>
                <p:nvPr/>
              </p:nvGrpSpPr>
              <p:grpSpPr bwMode="auto">
                <a:xfrm>
                  <a:off x="1133" y="3767"/>
                  <a:ext cx="44" cy="23"/>
                  <a:chOff x="1133" y="3767"/>
                  <a:chExt cx="44" cy="23"/>
                </a:xfrm>
              </p:grpSpPr>
              <p:sp>
                <p:nvSpPr>
                  <p:cNvPr id="1134"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5"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6"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80"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1"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2"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3"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4"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5"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6"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7"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8"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9"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90"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91" name="Group 2481"/>
                <p:cNvGrpSpPr>
                  <a:grpSpLocks/>
                </p:cNvGrpSpPr>
                <p:nvPr/>
              </p:nvGrpSpPr>
              <p:grpSpPr bwMode="auto">
                <a:xfrm>
                  <a:off x="700" y="3535"/>
                  <a:ext cx="49" cy="24"/>
                  <a:chOff x="700" y="3535"/>
                  <a:chExt cx="49" cy="24"/>
                </a:xfrm>
              </p:grpSpPr>
              <p:sp>
                <p:nvSpPr>
                  <p:cNvPr id="1131"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2"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3"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2" name="Group 2485"/>
                <p:cNvGrpSpPr>
                  <a:grpSpLocks/>
                </p:cNvGrpSpPr>
                <p:nvPr/>
              </p:nvGrpSpPr>
              <p:grpSpPr bwMode="auto">
                <a:xfrm>
                  <a:off x="714" y="3551"/>
                  <a:ext cx="49" cy="22"/>
                  <a:chOff x="714" y="3551"/>
                  <a:chExt cx="49" cy="22"/>
                </a:xfrm>
              </p:grpSpPr>
              <p:sp>
                <p:nvSpPr>
                  <p:cNvPr id="1128"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9"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0"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3" name="Group 2489"/>
                <p:cNvGrpSpPr>
                  <a:grpSpLocks/>
                </p:cNvGrpSpPr>
                <p:nvPr/>
              </p:nvGrpSpPr>
              <p:grpSpPr bwMode="auto">
                <a:xfrm>
                  <a:off x="728" y="3564"/>
                  <a:ext cx="48" cy="23"/>
                  <a:chOff x="728" y="3564"/>
                  <a:chExt cx="48" cy="23"/>
                </a:xfrm>
              </p:grpSpPr>
              <p:sp>
                <p:nvSpPr>
                  <p:cNvPr id="1125"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6"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7"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4" name="Group 2493"/>
                <p:cNvGrpSpPr>
                  <a:grpSpLocks/>
                </p:cNvGrpSpPr>
                <p:nvPr/>
              </p:nvGrpSpPr>
              <p:grpSpPr bwMode="auto">
                <a:xfrm>
                  <a:off x="742" y="3582"/>
                  <a:ext cx="49" cy="23"/>
                  <a:chOff x="742" y="3582"/>
                  <a:chExt cx="49" cy="23"/>
                </a:xfrm>
              </p:grpSpPr>
              <p:sp>
                <p:nvSpPr>
                  <p:cNvPr id="1122"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3"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4"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5" name="Group 2497"/>
                <p:cNvGrpSpPr>
                  <a:grpSpLocks/>
                </p:cNvGrpSpPr>
                <p:nvPr/>
              </p:nvGrpSpPr>
              <p:grpSpPr bwMode="auto">
                <a:xfrm>
                  <a:off x="752" y="3597"/>
                  <a:ext cx="133" cy="106"/>
                  <a:chOff x="752" y="3597"/>
                  <a:chExt cx="133" cy="106"/>
                </a:xfrm>
              </p:grpSpPr>
              <p:sp>
                <p:nvSpPr>
                  <p:cNvPr id="1119"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0"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1"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6" name="Group 2501"/>
                <p:cNvGrpSpPr>
                  <a:grpSpLocks/>
                </p:cNvGrpSpPr>
                <p:nvPr/>
              </p:nvGrpSpPr>
              <p:grpSpPr bwMode="auto">
                <a:xfrm>
                  <a:off x="844" y="3694"/>
                  <a:ext cx="48" cy="23"/>
                  <a:chOff x="844" y="3694"/>
                  <a:chExt cx="48" cy="23"/>
                </a:xfrm>
              </p:grpSpPr>
              <p:sp>
                <p:nvSpPr>
                  <p:cNvPr id="1116"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7"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8"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7" name="Group 2505"/>
                <p:cNvGrpSpPr>
                  <a:grpSpLocks/>
                </p:cNvGrpSpPr>
                <p:nvPr/>
              </p:nvGrpSpPr>
              <p:grpSpPr bwMode="auto">
                <a:xfrm>
                  <a:off x="857" y="3710"/>
                  <a:ext cx="49" cy="22"/>
                  <a:chOff x="857" y="3710"/>
                  <a:chExt cx="49" cy="22"/>
                </a:xfrm>
              </p:grpSpPr>
              <p:sp>
                <p:nvSpPr>
                  <p:cNvPr id="1113"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4"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5"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8" name="Group 2509"/>
                <p:cNvGrpSpPr>
                  <a:grpSpLocks/>
                </p:cNvGrpSpPr>
                <p:nvPr/>
              </p:nvGrpSpPr>
              <p:grpSpPr bwMode="auto">
                <a:xfrm>
                  <a:off x="1086" y="3766"/>
                  <a:ext cx="49" cy="23"/>
                  <a:chOff x="1086" y="3766"/>
                  <a:chExt cx="49" cy="23"/>
                </a:xfrm>
              </p:grpSpPr>
              <p:sp>
                <p:nvSpPr>
                  <p:cNvPr id="1110"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1"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2"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9" name="Group 2513"/>
                <p:cNvGrpSpPr>
                  <a:grpSpLocks/>
                </p:cNvGrpSpPr>
                <p:nvPr/>
              </p:nvGrpSpPr>
              <p:grpSpPr bwMode="auto">
                <a:xfrm>
                  <a:off x="934" y="3740"/>
                  <a:ext cx="48" cy="23"/>
                  <a:chOff x="934" y="3740"/>
                  <a:chExt cx="48" cy="23"/>
                </a:xfrm>
              </p:grpSpPr>
              <p:sp>
                <p:nvSpPr>
                  <p:cNvPr id="1107"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8"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9"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0" name="Group 2517"/>
                <p:cNvGrpSpPr>
                  <a:grpSpLocks/>
                </p:cNvGrpSpPr>
                <p:nvPr/>
              </p:nvGrpSpPr>
              <p:grpSpPr bwMode="auto">
                <a:xfrm>
                  <a:off x="943" y="3754"/>
                  <a:ext cx="49" cy="23"/>
                  <a:chOff x="943" y="3754"/>
                  <a:chExt cx="49" cy="23"/>
                </a:xfrm>
              </p:grpSpPr>
              <p:sp>
                <p:nvSpPr>
                  <p:cNvPr id="1104"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5"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6"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01"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2"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3"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8" name="Group 2524"/>
              <p:cNvGrpSpPr>
                <a:grpSpLocks/>
              </p:cNvGrpSpPr>
              <p:nvPr/>
            </p:nvGrpSpPr>
            <p:grpSpPr bwMode="auto">
              <a:xfrm>
                <a:off x="920" y="3821"/>
                <a:ext cx="413" cy="50"/>
                <a:chOff x="920" y="3821"/>
                <a:chExt cx="413" cy="50"/>
              </a:xfrm>
            </p:grpSpPr>
            <p:sp>
              <p:nvSpPr>
                <p:cNvPr id="1019"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0"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1"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22"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999" name="Group 2529"/>
              <p:cNvGrpSpPr>
                <a:grpSpLocks/>
              </p:cNvGrpSpPr>
              <p:nvPr/>
            </p:nvGrpSpPr>
            <p:grpSpPr bwMode="auto">
              <a:xfrm>
                <a:off x="1227" y="3477"/>
                <a:ext cx="508" cy="321"/>
                <a:chOff x="1227" y="3477"/>
                <a:chExt cx="508" cy="321"/>
              </a:xfrm>
            </p:grpSpPr>
            <p:sp>
              <p:nvSpPr>
                <p:cNvPr id="1000"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1"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2"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3"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4"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5"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6"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7"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8"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9"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0"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1"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2"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3"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4"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5"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6"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7"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8"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437" name="Group 2096"/>
            <p:cNvGrpSpPr>
              <a:grpSpLocks/>
            </p:cNvGrpSpPr>
            <p:nvPr/>
          </p:nvGrpSpPr>
          <p:grpSpPr bwMode="auto">
            <a:xfrm>
              <a:off x="2627313" y="1916113"/>
              <a:ext cx="431800" cy="330200"/>
              <a:chOff x="624" y="2968"/>
              <a:chExt cx="1331" cy="920"/>
            </a:xfrm>
          </p:grpSpPr>
          <p:sp>
            <p:nvSpPr>
              <p:cNvPr id="1438"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9"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0"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1"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2"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3"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4"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5"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6"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7"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8"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9"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50" name="Group 2109"/>
              <p:cNvGrpSpPr>
                <a:grpSpLocks/>
              </p:cNvGrpSpPr>
              <p:nvPr/>
            </p:nvGrpSpPr>
            <p:grpSpPr bwMode="auto">
              <a:xfrm>
                <a:off x="700" y="3526"/>
                <a:ext cx="515" cy="270"/>
                <a:chOff x="700" y="3526"/>
                <a:chExt cx="515" cy="270"/>
              </a:xfrm>
            </p:grpSpPr>
            <p:grpSp>
              <p:nvGrpSpPr>
                <p:cNvPr id="1476" name="Group 2110"/>
                <p:cNvGrpSpPr>
                  <a:grpSpLocks/>
                </p:cNvGrpSpPr>
                <p:nvPr/>
              </p:nvGrpSpPr>
              <p:grpSpPr bwMode="auto">
                <a:xfrm>
                  <a:off x="737" y="3534"/>
                  <a:ext cx="49" cy="23"/>
                  <a:chOff x="737" y="3534"/>
                  <a:chExt cx="49" cy="23"/>
                </a:xfrm>
              </p:grpSpPr>
              <p:sp>
                <p:nvSpPr>
                  <p:cNvPr id="1887"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8"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9"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77" name="Group 2114"/>
                <p:cNvGrpSpPr>
                  <a:grpSpLocks/>
                </p:cNvGrpSpPr>
                <p:nvPr/>
              </p:nvGrpSpPr>
              <p:grpSpPr bwMode="auto">
                <a:xfrm>
                  <a:off x="748" y="3547"/>
                  <a:ext cx="50" cy="23"/>
                  <a:chOff x="748" y="3547"/>
                  <a:chExt cx="50" cy="23"/>
                </a:xfrm>
              </p:grpSpPr>
              <p:sp>
                <p:nvSpPr>
                  <p:cNvPr id="1884"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5"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6"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78"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9"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0"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1"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82" name="Group 2122"/>
                <p:cNvGrpSpPr>
                  <a:grpSpLocks/>
                </p:cNvGrpSpPr>
                <p:nvPr/>
              </p:nvGrpSpPr>
              <p:grpSpPr bwMode="auto">
                <a:xfrm>
                  <a:off x="872" y="3547"/>
                  <a:ext cx="50" cy="23"/>
                  <a:chOff x="872" y="3547"/>
                  <a:chExt cx="50" cy="23"/>
                </a:xfrm>
              </p:grpSpPr>
              <p:sp>
                <p:nvSpPr>
                  <p:cNvPr id="1881"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2"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3"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3" name="Group 2126"/>
                <p:cNvGrpSpPr>
                  <a:grpSpLocks/>
                </p:cNvGrpSpPr>
                <p:nvPr/>
              </p:nvGrpSpPr>
              <p:grpSpPr bwMode="auto">
                <a:xfrm>
                  <a:off x="885" y="3559"/>
                  <a:ext cx="50" cy="23"/>
                  <a:chOff x="885" y="3559"/>
                  <a:chExt cx="50" cy="23"/>
                </a:xfrm>
              </p:grpSpPr>
              <p:sp>
                <p:nvSpPr>
                  <p:cNvPr id="1878"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9"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0"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4" name="Group 2130"/>
                <p:cNvGrpSpPr>
                  <a:grpSpLocks/>
                </p:cNvGrpSpPr>
                <p:nvPr/>
              </p:nvGrpSpPr>
              <p:grpSpPr bwMode="auto">
                <a:xfrm>
                  <a:off x="898" y="3571"/>
                  <a:ext cx="49" cy="23"/>
                  <a:chOff x="898" y="3571"/>
                  <a:chExt cx="49" cy="23"/>
                </a:xfrm>
              </p:grpSpPr>
              <p:sp>
                <p:nvSpPr>
                  <p:cNvPr id="1875"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6"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7"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5" name="Group 2134"/>
                <p:cNvGrpSpPr>
                  <a:grpSpLocks/>
                </p:cNvGrpSpPr>
                <p:nvPr/>
              </p:nvGrpSpPr>
              <p:grpSpPr bwMode="auto">
                <a:xfrm>
                  <a:off x="911" y="3585"/>
                  <a:ext cx="49" cy="23"/>
                  <a:chOff x="911" y="3585"/>
                  <a:chExt cx="49" cy="23"/>
                </a:xfrm>
              </p:grpSpPr>
              <p:sp>
                <p:nvSpPr>
                  <p:cNvPr id="1872"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3"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4"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6" name="Group 2138"/>
                <p:cNvGrpSpPr>
                  <a:grpSpLocks/>
                </p:cNvGrpSpPr>
                <p:nvPr/>
              </p:nvGrpSpPr>
              <p:grpSpPr bwMode="auto">
                <a:xfrm>
                  <a:off x="923" y="3600"/>
                  <a:ext cx="99" cy="73"/>
                  <a:chOff x="923" y="3600"/>
                  <a:chExt cx="99" cy="73"/>
                </a:xfrm>
              </p:grpSpPr>
              <p:grpSp>
                <p:nvGrpSpPr>
                  <p:cNvPr id="1852" name="Group 2139"/>
                  <p:cNvGrpSpPr>
                    <a:grpSpLocks/>
                  </p:cNvGrpSpPr>
                  <p:nvPr/>
                </p:nvGrpSpPr>
                <p:grpSpPr bwMode="auto">
                  <a:xfrm>
                    <a:off x="923" y="3600"/>
                    <a:ext cx="49" cy="23"/>
                    <a:chOff x="923" y="3600"/>
                    <a:chExt cx="49" cy="23"/>
                  </a:xfrm>
                </p:grpSpPr>
                <p:sp>
                  <p:nvSpPr>
                    <p:cNvPr id="1869"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0"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1"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3" name="Group 2143"/>
                  <p:cNvGrpSpPr>
                    <a:grpSpLocks/>
                  </p:cNvGrpSpPr>
                  <p:nvPr/>
                </p:nvGrpSpPr>
                <p:grpSpPr bwMode="auto">
                  <a:xfrm>
                    <a:off x="935" y="3612"/>
                    <a:ext cx="48" cy="23"/>
                    <a:chOff x="935" y="3612"/>
                    <a:chExt cx="48" cy="23"/>
                  </a:xfrm>
                </p:grpSpPr>
                <p:sp>
                  <p:nvSpPr>
                    <p:cNvPr id="1866"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7"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8"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4" name="Group 2147"/>
                  <p:cNvGrpSpPr>
                    <a:grpSpLocks/>
                  </p:cNvGrpSpPr>
                  <p:nvPr/>
                </p:nvGrpSpPr>
                <p:grpSpPr bwMode="auto">
                  <a:xfrm>
                    <a:off x="947" y="3625"/>
                    <a:ext cx="50" cy="22"/>
                    <a:chOff x="947" y="3625"/>
                    <a:chExt cx="50" cy="22"/>
                  </a:xfrm>
                </p:grpSpPr>
                <p:sp>
                  <p:nvSpPr>
                    <p:cNvPr id="1863"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4"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5"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5" name="Group 2151"/>
                  <p:cNvGrpSpPr>
                    <a:grpSpLocks/>
                  </p:cNvGrpSpPr>
                  <p:nvPr/>
                </p:nvGrpSpPr>
                <p:grpSpPr bwMode="auto">
                  <a:xfrm>
                    <a:off x="960" y="3637"/>
                    <a:ext cx="50" cy="23"/>
                    <a:chOff x="960" y="3637"/>
                    <a:chExt cx="50" cy="23"/>
                  </a:xfrm>
                </p:grpSpPr>
                <p:sp>
                  <p:nvSpPr>
                    <p:cNvPr id="1860"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1"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2"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6" name="Group 2155"/>
                  <p:cNvGrpSpPr>
                    <a:grpSpLocks/>
                  </p:cNvGrpSpPr>
                  <p:nvPr/>
                </p:nvGrpSpPr>
                <p:grpSpPr bwMode="auto">
                  <a:xfrm>
                    <a:off x="973" y="3650"/>
                    <a:ext cx="49" cy="23"/>
                    <a:chOff x="973" y="3650"/>
                    <a:chExt cx="49" cy="23"/>
                  </a:xfrm>
                </p:grpSpPr>
                <p:sp>
                  <p:nvSpPr>
                    <p:cNvPr id="1857"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8"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9"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7" name="Group 2159"/>
                <p:cNvGrpSpPr>
                  <a:grpSpLocks/>
                </p:cNvGrpSpPr>
                <p:nvPr/>
              </p:nvGrpSpPr>
              <p:grpSpPr bwMode="auto">
                <a:xfrm>
                  <a:off x="985" y="3665"/>
                  <a:ext cx="100" cy="73"/>
                  <a:chOff x="985" y="3665"/>
                  <a:chExt cx="100" cy="73"/>
                </a:xfrm>
              </p:grpSpPr>
              <p:grpSp>
                <p:nvGrpSpPr>
                  <p:cNvPr id="1832" name="Group 2160"/>
                  <p:cNvGrpSpPr>
                    <a:grpSpLocks/>
                  </p:cNvGrpSpPr>
                  <p:nvPr/>
                </p:nvGrpSpPr>
                <p:grpSpPr bwMode="auto">
                  <a:xfrm>
                    <a:off x="985" y="3665"/>
                    <a:ext cx="50" cy="23"/>
                    <a:chOff x="985" y="3665"/>
                    <a:chExt cx="50" cy="23"/>
                  </a:xfrm>
                </p:grpSpPr>
                <p:sp>
                  <p:nvSpPr>
                    <p:cNvPr id="1849"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1"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3" name="Group 2164"/>
                  <p:cNvGrpSpPr>
                    <a:grpSpLocks/>
                  </p:cNvGrpSpPr>
                  <p:nvPr/>
                </p:nvGrpSpPr>
                <p:grpSpPr bwMode="auto">
                  <a:xfrm>
                    <a:off x="997" y="3677"/>
                    <a:ext cx="49" cy="23"/>
                    <a:chOff x="997" y="3677"/>
                    <a:chExt cx="49" cy="23"/>
                  </a:xfrm>
                </p:grpSpPr>
                <p:sp>
                  <p:nvSpPr>
                    <p:cNvPr id="1846"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7"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8"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4" name="Group 2168"/>
                  <p:cNvGrpSpPr>
                    <a:grpSpLocks/>
                  </p:cNvGrpSpPr>
                  <p:nvPr/>
                </p:nvGrpSpPr>
                <p:grpSpPr bwMode="auto">
                  <a:xfrm>
                    <a:off x="1010" y="3690"/>
                    <a:ext cx="48" cy="23"/>
                    <a:chOff x="1010" y="3690"/>
                    <a:chExt cx="48" cy="23"/>
                  </a:xfrm>
                </p:grpSpPr>
                <p:sp>
                  <p:nvSpPr>
                    <p:cNvPr id="1843"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4"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5"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5" name="Group 2172"/>
                  <p:cNvGrpSpPr>
                    <a:grpSpLocks/>
                  </p:cNvGrpSpPr>
                  <p:nvPr/>
                </p:nvGrpSpPr>
                <p:grpSpPr bwMode="auto">
                  <a:xfrm>
                    <a:off x="1023" y="3703"/>
                    <a:ext cx="49" cy="22"/>
                    <a:chOff x="1023" y="3703"/>
                    <a:chExt cx="49" cy="22"/>
                  </a:xfrm>
                </p:grpSpPr>
                <p:sp>
                  <p:nvSpPr>
                    <p:cNvPr id="1840"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1"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2"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6" name="Group 2176"/>
                  <p:cNvGrpSpPr>
                    <a:grpSpLocks/>
                  </p:cNvGrpSpPr>
                  <p:nvPr/>
                </p:nvGrpSpPr>
                <p:grpSpPr bwMode="auto">
                  <a:xfrm>
                    <a:off x="1036" y="3716"/>
                    <a:ext cx="49" cy="22"/>
                    <a:chOff x="1036" y="3716"/>
                    <a:chExt cx="49" cy="22"/>
                  </a:xfrm>
                </p:grpSpPr>
                <p:sp>
                  <p:nvSpPr>
                    <p:cNvPr id="1837"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8"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9"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8" name="Group 2180"/>
                <p:cNvGrpSpPr>
                  <a:grpSpLocks/>
                </p:cNvGrpSpPr>
                <p:nvPr/>
              </p:nvGrpSpPr>
              <p:grpSpPr bwMode="auto">
                <a:xfrm>
                  <a:off x="1046" y="3727"/>
                  <a:ext cx="49" cy="23"/>
                  <a:chOff x="1046" y="3727"/>
                  <a:chExt cx="49" cy="23"/>
                </a:xfrm>
              </p:grpSpPr>
              <p:sp>
                <p:nvSpPr>
                  <p:cNvPr id="1829"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0"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1"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9" name="Group 2184"/>
                <p:cNvGrpSpPr>
                  <a:grpSpLocks/>
                </p:cNvGrpSpPr>
                <p:nvPr/>
              </p:nvGrpSpPr>
              <p:grpSpPr bwMode="auto">
                <a:xfrm>
                  <a:off x="1058" y="3739"/>
                  <a:ext cx="50" cy="23"/>
                  <a:chOff x="1058" y="3739"/>
                  <a:chExt cx="50" cy="23"/>
                </a:xfrm>
              </p:grpSpPr>
              <p:sp>
                <p:nvSpPr>
                  <p:cNvPr id="1826"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7"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8"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0" name="Group 2188"/>
                <p:cNvGrpSpPr>
                  <a:grpSpLocks/>
                </p:cNvGrpSpPr>
                <p:nvPr/>
              </p:nvGrpSpPr>
              <p:grpSpPr bwMode="auto">
                <a:xfrm>
                  <a:off x="1072" y="3753"/>
                  <a:ext cx="48" cy="22"/>
                  <a:chOff x="1072" y="3753"/>
                  <a:chExt cx="48" cy="22"/>
                </a:xfrm>
              </p:grpSpPr>
              <p:sp>
                <p:nvSpPr>
                  <p:cNvPr id="1823"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4"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5"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91"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2"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3"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94" name="Group 2195"/>
                <p:cNvGrpSpPr>
                  <a:grpSpLocks/>
                </p:cNvGrpSpPr>
                <p:nvPr/>
              </p:nvGrpSpPr>
              <p:grpSpPr bwMode="auto">
                <a:xfrm>
                  <a:off x="832" y="3547"/>
                  <a:ext cx="49" cy="23"/>
                  <a:chOff x="832" y="3547"/>
                  <a:chExt cx="49" cy="23"/>
                </a:xfrm>
              </p:grpSpPr>
              <p:sp>
                <p:nvSpPr>
                  <p:cNvPr id="1820"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1"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2"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5" name="Group 2199"/>
                <p:cNvGrpSpPr>
                  <a:grpSpLocks/>
                </p:cNvGrpSpPr>
                <p:nvPr/>
              </p:nvGrpSpPr>
              <p:grpSpPr bwMode="auto">
                <a:xfrm>
                  <a:off x="844" y="3560"/>
                  <a:ext cx="49" cy="22"/>
                  <a:chOff x="844" y="3560"/>
                  <a:chExt cx="49" cy="22"/>
                </a:xfrm>
              </p:grpSpPr>
              <p:sp>
                <p:nvSpPr>
                  <p:cNvPr id="1817"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8"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9"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6" name="Group 2203"/>
                <p:cNvGrpSpPr>
                  <a:grpSpLocks/>
                </p:cNvGrpSpPr>
                <p:nvPr/>
              </p:nvGrpSpPr>
              <p:grpSpPr bwMode="auto">
                <a:xfrm>
                  <a:off x="857" y="3572"/>
                  <a:ext cx="50" cy="23"/>
                  <a:chOff x="857" y="3572"/>
                  <a:chExt cx="50" cy="23"/>
                </a:xfrm>
              </p:grpSpPr>
              <p:sp>
                <p:nvSpPr>
                  <p:cNvPr id="1814"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5"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6"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7" name="Group 2207"/>
                <p:cNvGrpSpPr>
                  <a:grpSpLocks/>
                </p:cNvGrpSpPr>
                <p:nvPr/>
              </p:nvGrpSpPr>
              <p:grpSpPr bwMode="auto">
                <a:xfrm>
                  <a:off x="870" y="3585"/>
                  <a:ext cx="48" cy="23"/>
                  <a:chOff x="870" y="3585"/>
                  <a:chExt cx="48" cy="23"/>
                </a:xfrm>
              </p:grpSpPr>
              <p:sp>
                <p:nvSpPr>
                  <p:cNvPr id="1811"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2"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3"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8" name="Group 2211"/>
                <p:cNvGrpSpPr>
                  <a:grpSpLocks/>
                </p:cNvGrpSpPr>
                <p:nvPr/>
              </p:nvGrpSpPr>
              <p:grpSpPr bwMode="auto">
                <a:xfrm>
                  <a:off x="882" y="3600"/>
                  <a:ext cx="100" cy="73"/>
                  <a:chOff x="882" y="3600"/>
                  <a:chExt cx="100" cy="73"/>
                </a:xfrm>
              </p:grpSpPr>
              <p:grpSp>
                <p:nvGrpSpPr>
                  <p:cNvPr id="1791" name="Group 2212"/>
                  <p:cNvGrpSpPr>
                    <a:grpSpLocks/>
                  </p:cNvGrpSpPr>
                  <p:nvPr/>
                </p:nvGrpSpPr>
                <p:grpSpPr bwMode="auto">
                  <a:xfrm>
                    <a:off x="882" y="3600"/>
                    <a:ext cx="49" cy="23"/>
                    <a:chOff x="882" y="3600"/>
                    <a:chExt cx="49" cy="23"/>
                  </a:xfrm>
                </p:grpSpPr>
                <p:sp>
                  <p:nvSpPr>
                    <p:cNvPr id="1808"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9"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0"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2" name="Group 2216"/>
                  <p:cNvGrpSpPr>
                    <a:grpSpLocks/>
                  </p:cNvGrpSpPr>
                  <p:nvPr/>
                </p:nvGrpSpPr>
                <p:grpSpPr bwMode="auto">
                  <a:xfrm>
                    <a:off x="894" y="3612"/>
                    <a:ext cx="49" cy="23"/>
                    <a:chOff x="894" y="3612"/>
                    <a:chExt cx="49" cy="23"/>
                  </a:xfrm>
                </p:grpSpPr>
                <p:sp>
                  <p:nvSpPr>
                    <p:cNvPr id="1805"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6"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7"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3" name="Group 2220"/>
                  <p:cNvGrpSpPr>
                    <a:grpSpLocks/>
                  </p:cNvGrpSpPr>
                  <p:nvPr/>
                </p:nvGrpSpPr>
                <p:grpSpPr bwMode="auto">
                  <a:xfrm>
                    <a:off x="907" y="3625"/>
                    <a:ext cx="49" cy="23"/>
                    <a:chOff x="907" y="3625"/>
                    <a:chExt cx="49" cy="23"/>
                  </a:xfrm>
                </p:grpSpPr>
                <p:sp>
                  <p:nvSpPr>
                    <p:cNvPr id="1802"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3"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4"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4" name="Group 2224"/>
                  <p:cNvGrpSpPr>
                    <a:grpSpLocks/>
                  </p:cNvGrpSpPr>
                  <p:nvPr/>
                </p:nvGrpSpPr>
                <p:grpSpPr bwMode="auto">
                  <a:xfrm>
                    <a:off x="919" y="3638"/>
                    <a:ext cx="49" cy="22"/>
                    <a:chOff x="919" y="3638"/>
                    <a:chExt cx="49" cy="22"/>
                  </a:xfrm>
                </p:grpSpPr>
                <p:sp>
                  <p:nvSpPr>
                    <p:cNvPr id="1799"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0"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1"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5" name="Group 2228"/>
                  <p:cNvGrpSpPr>
                    <a:grpSpLocks/>
                  </p:cNvGrpSpPr>
                  <p:nvPr/>
                </p:nvGrpSpPr>
                <p:grpSpPr bwMode="auto">
                  <a:xfrm>
                    <a:off x="932" y="3651"/>
                    <a:ext cx="50" cy="22"/>
                    <a:chOff x="932" y="3651"/>
                    <a:chExt cx="50" cy="22"/>
                  </a:xfrm>
                </p:grpSpPr>
                <p:sp>
                  <p:nvSpPr>
                    <p:cNvPr id="1796"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7"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8"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99" name="Group 2232"/>
                <p:cNvGrpSpPr>
                  <a:grpSpLocks/>
                </p:cNvGrpSpPr>
                <p:nvPr/>
              </p:nvGrpSpPr>
              <p:grpSpPr bwMode="auto">
                <a:xfrm>
                  <a:off x="944" y="3665"/>
                  <a:ext cx="99" cy="74"/>
                  <a:chOff x="944" y="3665"/>
                  <a:chExt cx="99" cy="74"/>
                </a:xfrm>
              </p:grpSpPr>
              <p:grpSp>
                <p:nvGrpSpPr>
                  <p:cNvPr id="1771" name="Group 2233"/>
                  <p:cNvGrpSpPr>
                    <a:grpSpLocks/>
                  </p:cNvGrpSpPr>
                  <p:nvPr/>
                </p:nvGrpSpPr>
                <p:grpSpPr bwMode="auto">
                  <a:xfrm>
                    <a:off x="944" y="3665"/>
                    <a:ext cx="49" cy="23"/>
                    <a:chOff x="944" y="3665"/>
                    <a:chExt cx="49" cy="23"/>
                  </a:xfrm>
                </p:grpSpPr>
                <p:sp>
                  <p:nvSpPr>
                    <p:cNvPr id="1788"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9"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0"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2" name="Group 2237"/>
                  <p:cNvGrpSpPr>
                    <a:grpSpLocks/>
                  </p:cNvGrpSpPr>
                  <p:nvPr/>
                </p:nvGrpSpPr>
                <p:grpSpPr bwMode="auto">
                  <a:xfrm>
                    <a:off x="957" y="3678"/>
                    <a:ext cx="48" cy="23"/>
                    <a:chOff x="957" y="3678"/>
                    <a:chExt cx="48" cy="23"/>
                  </a:xfrm>
                </p:grpSpPr>
                <p:sp>
                  <p:nvSpPr>
                    <p:cNvPr id="1785"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6"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7"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3" name="Group 2241"/>
                  <p:cNvGrpSpPr>
                    <a:grpSpLocks/>
                  </p:cNvGrpSpPr>
                  <p:nvPr/>
                </p:nvGrpSpPr>
                <p:grpSpPr bwMode="auto">
                  <a:xfrm>
                    <a:off x="969" y="3690"/>
                    <a:ext cx="49" cy="23"/>
                    <a:chOff x="969" y="3690"/>
                    <a:chExt cx="49" cy="23"/>
                  </a:xfrm>
                </p:grpSpPr>
                <p:sp>
                  <p:nvSpPr>
                    <p:cNvPr id="1782"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3"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4"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4" name="Group 2245"/>
                  <p:cNvGrpSpPr>
                    <a:grpSpLocks/>
                  </p:cNvGrpSpPr>
                  <p:nvPr/>
                </p:nvGrpSpPr>
                <p:grpSpPr bwMode="auto">
                  <a:xfrm>
                    <a:off x="982" y="3703"/>
                    <a:ext cx="49" cy="23"/>
                    <a:chOff x="982" y="3703"/>
                    <a:chExt cx="49" cy="23"/>
                  </a:xfrm>
                </p:grpSpPr>
                <p:sp>
                  <p:nvSpPr>
                    <p:cNvPr id="1779"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0"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1"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5" name="Group 2249"/>
                  <p:cNvGrpSpPr>
                    <a:grpSpLocks/>
                  </p:cNvGrpSpPr>
                  <p:nvPr/>
                </p:nvGrpSpPr>
                <p:grpSpPr bwMode="auto">
                  <a:xfrm>
                    <a:off x="995" y="3716"/>
                    <a:ext cx="48" cy="23"/>
                    <a:chOff x="995" y="3716"/>
                    <a:chExt cx="48" cy="23"/>
                  </a:xfrm>
                </p:grpSpPr>
                <p:sp>
                  <p:nvSpPr>
                    <p:cNvPr id="1776"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7"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8"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00" name="Group 2253"/>
                <p:cNvGrpSpPr>
                  <a:grpSpLocks/>
                </p:cNvGrpSpPr>
                <p:nvPr/>
              </p:nvGrpSpPr>
              <p:grpSpPr bwMode="auto">
                <a:xfrm>
                  <a:off x="1005" y="3727"/>
                  <a:ext cx="49" cy="23"/>
                  <a:chOff x="1005" y="3727"/>
                  <a:chExt cx="49" cy="23"/>
                </a:xfrm>
              </p:grpSpPr>
              <p:sp>
                <p:nvSpPr>
                  <p:cNvPr id="1768"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9"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0"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1" name="Group 2257"/>
                <p:cNvGrpSpPr>
                  <a:grpSpLocks/>
                </p:cNvGrpSpPr>
                <p:nvPr/>
              </p:nvGrpSpPr>
              <p:grpSpPr bwMode="auto">
                <a:xfrm>
                  <a:off x="1018" y="3740"/>
                  <a:ext cx="49" cy="22"/>
                  <a:chOff x="1018" y="3740"/>
                  <a:chExt cx="49" cy="22"/>
                </a:xfrm>
              </p:grpSpPr>
              <p:sp>
                <p:nvSpPr>
                  <p:cNvPr id="1765"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6"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7"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2" name="Group 2261"/>
                <p:cNvGrpSpPr>
                  <a:grpSpLocks/>
                </p:cNvGrpSpPr>
                <p:nvPr/>
              </p:nvGrpSpPr>
              <p:grpSpPr bwMode="auto">
                <a:xfrm>
                  <a:off x="1030" y="3753"/>
                  <a:ext cx="49" cy="23"/>
                  <a:chOff x="1030" y="3753"/>
                  <a:chExt cx="49" cy="23"/>
                </a:xfrm>
              </p:grpSpPr>
              <p:sp>
                <p:nvSpPr>
                  <p:cNvPr id="1762"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3"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4"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03"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4"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5"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06" name="Group 2268"/>
                <p:cNvGrpSpPr>
                  <a:grpSpLocks/>
                </p:cNvGrpSpPr>
                <p:nvPr/>
              </p:nvGrpSpPr>
              <p:grpSpPr bwMode="auto">
                <a:xfrm>
                  <a:off x="790" y="3547"/>
                  <a:ext cx="49" cy="23"/>
                  <a:chOff x="790" y="3547"/>
                  <a:chExt cx="49" cy="23"/>
                </a:xfrm>
              </p:grpSpPr>
              <p:sp>
                <p:nvSpPr>
                  <p:cNvPr id="1759"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0"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1"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7" name="Group 2272"/>
                <p:cNvGrpSpPr>
                  <a:grpSpLocks/>
                </p:cNvGrpSpPr>
                <p:nvPr/>
              </p:nvGrpSpPr>
              <p:grpSpPr bwMode="auto">
                <a:xfrm>
                  <a:off x="803" y="3560"/>
                  <a:ext cx="49" cy="22"/>
                  <a:chOff x="803" y="3560"/>
                  <a:chExt cx="49" cy="22"/>
                </a:xfrm>
              </p:grpSpPr>
              <p:sp>
                <p:nvSpPr>
                  <p:cNvPr id="1756"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7"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8"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8" name="Group 2276"/>
                <p:cNvGrpSpPr>
                  <a:grpSpLocks/>
                </p:cNvGrpSpPr>
                <p:nvPr/>
              </p:nvGrpSpPr>
              <p:grpSpPr bwMode="auto">
                <a:xfrm>
                  <a:off x="815" y="3572"/>
                  <a:ext cx="50" cy="23"/>
                  <a:chOff x="815" y="3572"/>
                  <a:chExt cx="50" cy="23"/>
                </a:xfrm>
              </p:grpSpPr>
              <p:sp>
                <p:nvSpPr>
                  <p:cNvPr id="1753"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4"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5"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9" name="Group 2280"/>
                <p:cNvGrpSpPr>
                  <a:grpSpLocks/>
                </p:cNvGrpSpPr>
                <p:nvPr/>
              </p:nvGrpSpPr>
              <p:grpSpPr bwMode="auto">
                <a:xfrm>
                  <a:off x="828" y="3585"/>
                  <a:ext cx="49" cy="23"/>
                  <a:chOff x="828" y="3585"/>
                  <a:chExt cx="49" cy="23"/>
                </a:xfrm>
              </p:grpSpPr>
              <p:sp>
                <p:nvSpPr>
                  <p:cNvPr id="1750"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1"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2"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0" name="Group 2284"/>
                <p:cNvGrpSpPr>
                  <a:grpSpLocks/>
                </p:cNvGrpSpPr>
                <p:nvPr/>
              </p:nvGrpSpPr>
              <p:grpSpPr bwMode="auto">
                <a:xfrm>
                  <a:off x="840" y="3600"/>
                  <a:ext cx="100" cy="73"/>
                  <a:chOff x="840" y="3600"/>
                  <a:chExt cx="100" cy="73"/>
                </a:xfrm>
              </p:grpSpPr>
              <p:grpSp>
                <p:nvGrpSpPr>
                  <p:cNvPr id="1730" name="Group 2285"/>
                  <p:cNvGrpSpPr>
                    <a:grpSpLocks/>
                  </p:cNvGrpSpPr>
                  <p:nvPr/>
                </p:nvGrpSpPr>
                <p:grpSpPr bwMode="auto">
                  <a:xfrm>
                    <a:off x="840" y="3600"/>
                    <a:ext cx="49" cy="23"/>
                    <a:chOff x="840" y="3600"/>
                    <a:chExt cx="49" cy="23"/>
                  </a:xfrm>
                </p:grpSpPr>
                <p:sp>
                  <p:nvSpPr>
                    <p:cNvPr id="1747"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8"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9"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1" name="Group 2289"/>
                  <p:cNvGrpSpPr>
                    <a:grpSpLocks/>
                  </p:cNvGrpSpPr>
                  <p:nvPr/>
                </p:nvGrpSpPr>
                <p:grpSpPr bwMode="auto">
                  <a:xfrm>
                    <a:off x="853" y="3612"/>
                    <a:ext cx="48" cy="23"/>
                    <a:chOff x="853" y="3612"/>
                    <a:chExt cx="48" cy="23"/>
                  </a:xfrm>
                </p:grpSpPr>
                <p:sp>
                  <p:nvSpPr>
                    <p:cNvPr id="1744"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5"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6"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2" name="Group 2293"/>
                  <p:cNvGrpSpPr>
                    <a:grpSpLocks/>
                  </p:cNvGrpSpPr>
                  <p:nvPr/>
                </p:nvGrpSpPr>
                <p:grpSpPr bwMode="auto">
                  <a:xfrm>
                    <a:off x="865" y="3625"/>
                    <a:ext cx="49" cy="23"/>
                    <a:chOff x="865" y="3625"/>
                    <a:chExt cx="49" cy="23"/>
                  </a:xfrm>
                </p:grpSpPr>
                <p:sp>
                  <p:nvSpPr>
                    <p:cNvPr id="1741"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2"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3"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3" name="Group 2297"/>
                  <p:cNvGrpSpPr>
                    <a:grpSpLocks/>
                  </p:cNvGrpSpPr>
                  <p:nvPr/>
                </p:nvGrpSpPr>
                <p:grpSpPr bwMode="auto">
                  <a:xfrm>
                    <a:off x="878" y="3638"/>
                    <a:ext cx="49" cy="22"/>
                    <a:chOff x="878" y="3638"/>
                    <a:chExt cx="49" cy="22"/>
                  </a:xfrm>
                </p:grpSpPr>
                <p:sp>
                  <p:nvSpPr>
                    <p:cNvPr id="1738"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9"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0"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4" name="Group 2301"/>
                  <p:cNvGrpSpPr>
                    <a:grpSpLocks/>
                  </p:cNvGrpSpPr>
                  <p:nvPr/>
                </p:nvGrpSpPr>
                <p:grpSpPr bwMode="auto">
                  <a:xfrm>
                    <a:off x="890" y="3651"/>
                    <a:ext cx="50" cy="22"/>
                    <a:chOff x="890" y="3651"/>
                    <a:chExt cx="50" cy="22"/>
                  </a:xfrm>
                </p:grpSpPr>
                <p:sp>
                  <p:nvSpPr>
                    <p:cNvPr id="1735"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6"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7"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1" name="Group 2305"/>
                <p:cNvGrpSpPr>
                  <a:grpSpLocks/>
                </p:cNvGrpSpPr>
                <p:nvPr/>
              </p:nvGrpSpPr>
              <p:grpSpPr bwMode="auto">
                <a:xfrm>
                  <a:off x="903" y="3665"/>
                  <a:ext cx="99" cy="74"/>
                  <a:chOff x="903" y="3665"/>
                  <a:chExt cx="99" cy="74"/>
                </a:xfrm>
              </p:grpSpPr>
              <p:grpSp>
                <p:nvGrpSpPr>
                  <p:cNvPr id="1710" name="Group 2306"/>
                  <p:cNvGrpSpPr>
                    <a:grpSpLocks/>
                  </p:cNvGrpSpPr>
                  <p:nvPr/>
                </p:nvGrpSpPr>
                <p:grpSpPr bwMode="auto">
                  <a:xfrm>
                    <a:off x="903" y="3665"/>
                    <a:ext cx="49" cy="23"/>
                    <a:chOff x="903" y="3665"/>
                    <a:chExt cx="49" cy="23"/>
                  </a:xfrm>
                </p:grpSpPr>
                <p:sp>
                  <p:nvSpPr>
                    <p:cNvPr id="1727"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8"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9"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1" name="Group 2310"/>
                  <p:cNvGrpSpPr>
                    <a:grpSpLocks/>
                  </p:cNvGrpSpPr>
                  <p:nvPr/>
                </p:nvGrpSpPr>
                <p:grpSpPr bwMode="auto">
                  <a:xfrm>
                    <a:off x="914" y="3678"/>
                    <a:ext cx="49" cy="23"/>
                    <a:chOff x="914" y="3678"/>
                    <a:chExt cx="49" cy="23"/>
                  </a:xfrm>
                </p:grpSpPr>
                <p:sp>
                  <p:nvSpPr>
                    <p:cNvPr id="1724"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5"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6"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2" name="Group 2314"/>
                  <p:cNvGrpSpPr>
                    <a:grpSpLocks/>
                  </p:cNvGrpSpPr>
                  <p:nvPr/>
                </p:nvGrpSpPr>
                <p:grpSpPr bwMode="auto">
                  <a:xfrm>
                    <a:off x="928" y="3690"/>
                    <a:ext cx="48" cy="23"/>
                    <a:chOff x="928" y="3690"/>
                    <a:chExt cx="48" cy="23"/>
                  </a:xfrm>
                </p:grpSpPr>
                <p:sp>
                  <p:nvSpPr>
                    <p:cNvPr id="1721"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2"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3"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3" name="Group 2318"/>
                  <p:cNvGrpSpPr>
                    <a:grpSpLocks/>
                  </p:cNvGrpSpPr>
                  <p:nvPr/>
                </p:nvGrpSpPr>
                <p:grpSpPr bwMode="auto">
                  <a:xfrm>
                    <a:off x="940" y="3703"/>
                    <a:ext cx="49" cy="23"/>
                    <a:chOff x="940" y="3703"/>
                    <a:chExt cx="49" cy="23"/>
                  </a:xfrm>
                </p:grpSpPr>
                <p:sp>
                  <p:nvSpPr>
                    <p:cNvPr id="1718"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9"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0"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4" name="Group 2322"/>
                  <p:cNvGrpSpPr>
                    <a:grpSpLocks/>
                  </p:cNvGrpSpPr>
                  <p:nvPr/>
                </p:nvGrpSpPr>
                <p:grpSpPr bwMode="auto">
                  <a:xfrm>
                    <a:off x="953" y="3716"/>
                    <a:ext cx="49" cy="23"/>
                    <a:chOff x="953" y="3716"/>
                    <a:chExt cx="49" cy="23"/>
                  </a:xfrm>
                </p:grpSpPr>
                <p:sp>
                  <p:nvSpPr>
                    <p:cNvPr id="1715"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6"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7"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2" name="Group 2326"/>
                <p:cNvGrpSpPr>
                  <a:grpSpLocks/>
                </p:cNvGrpSpPr>
                <p:nvPr/>
              </p:nvGrpSpPr>
              <p:grpSpPr bwMode="auto">
                <a:xfrm>
                  <a:off x="963" y="3727"/>
                  <a:ext cx="49" cy="23"/>
                  <a:chOff x="963" y="3727"/>
                  <a:chExt cx="49" cy="23"/>
                </a:xfrm>
              </p:grpSpPr>
              <p:sp>
                <p:nvSpPr>
                  <p:cNvPr id="1707"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8"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9"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3" name="Group 2330"/>
                <p:cNvGrpSpPr>
                  <a:grpSpLocks/>
                </p:cNvGrpSpPr>
                <p:nvPr/>
              </p:nvGrpSpPr>
              <p:grpSpPr bwMode="auto">
                <a:xfrm>
                  <a:off x="976" y="3740"/>
                  <a:ext cx="50" cy="22"/>
                  <a:chOff x="976" y="3740"/>
                  <a:chExt cx="50" cy="22"/>
                </a:xfrm>
              </p:grpSpPr>
              <p:sp>
                <p:nvSpPr>
                  <p:cNvPr id="1704"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5"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6"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4" name="Group 2334"/>
                <p:cNvGrpSpPr>
                  <a:grpSpLocks/>
                </p:cNvGrpSpPr>
                <p:nvPr/>
              </p:nvGrpSpPr>
              <p:grpSpPr bwMode="auto">
                <a:xfrm>
                  <a:off x="761" y="3560"/>
                  <a:ext cx="50" cy="22"/>
                  <a:chOff x="761" y="3560"/>
                  <a:chExt cx="50" cy="22"/>
                </a:xfrm>
              </p:grpSpPr>
              <p:sp>
                <p:nvSpPr>
                  <p:cNvPr id="1701"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2"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3"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5" name="Group 2338"/>
                <p:cNvGrpSpPr>
                  <a:grpSpLocks/>
                </p:cNvGrpSpPr>
                <p:nvPr/>
              </p:nvGrpSpPr>
              <p:grpSpPr bwMode="auto">
                <a:xfrm>
                  <a:off x="774" y="3572"/>
                  <a:ext cx="49" cy="23"/>
                  <a:chOff x="774" y="3572"/>
                  <a:chExt cx="49" cy="23"/>
                </a:xfrm>
              </p:grpSpPr>
              <p:sp>
                <p:nvSpPr>
                  <p:cNvPr id="1698"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9"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0"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6" name="Group 2342"/>
                <p:cNvGrpSpPr>
                  <a:grpSpLocks/>
                </p:cNvGrpSpPr>
                <p:nvPr/>
              </p:nvGrpSpPr>
              <p:grpSpPr bwMode="auto">
                <a:xfrm>
                  <a:off x="787" y="3585"/>
                  <a:ext cx="49" cy="23"/>
                  <a:chOff x="787" y="3585"/>
                  <a:chExt cx="49" cy="23"/>
                </a:xfrm>
              </p:grpSpPr>
              <p:sp>
                <p:nvSpPr>
                  <p:cNvPr id="1695"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6"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7"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7" name="Group 2346"/>
                <p:cNvGrpSpPr>
                  <a:grpSpLocks/>
                </p:cNvGrpSpPr>
                <p:nvPr/>
              </p:nvGrpSpPr>
              <p:grpSpPr bwMode="auto">
                <a:xfrm>
                  <a:off x="799" y="3600"/>
                  <a:ext cx="99" cy="73"/>
                  <a:chOff x="799" y="3600"/>
                  <a:chExt cx="99" cy="73"/>
                </a:xfrm>
              </p:grpSpPr>
              <p:grpSp>
                <p:nvGrpSpPr>
                  <p:cNvPr id="1675" name="Group 2347"/>
                  <p:cNvGrpSpPr>
                    <a:grpSpLocks/>
                  </p:cNvGrpSpPr>
                  <p:nvPr/>
                </p:nvGrpSpPr>
                <p:grpSpPr bwMode="auto">
                  <a:xfrm>
                    <a:off x="799" y="3600"/>
                    <a:ext cx="48" cy="23"/>
                    <a:chOff x="799" y="3600"/>
                    <a:chExt cx="48" cy="23"/>
                  </a:xfrm>
                </p:grpSpPr>
                <p:sp>
                  <p:nvSpPr>
                    <p:cNvPr id="1692"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3"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4"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6" name="Group 2351"/>
                  <p:cNvGrpSpPr>
                    <a:grpSpLocks/>
                  </p:cNvGrpSpPr>
                  <p:nvPr/>
                </p:nvGrpSpPr>
                <p:grpSpPr bwMode="auto">
                  <a:xfrm>
                    <a:off x="811" y="3612"/>
                    <a:ext cx="48" cy="23"/>
                    <a:chOff x="811" y="3612"/>
                    <a:chExt cx="48" cy="23"/>
                  </a:xfrm>
                </p:grpSpPr>
                <p:sp>
                  <p:nvSpPr>
                    <p:cNvPr id="1689"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0"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1"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7" name="Group 2355"/>
                  <p:cNvGrpSpPr>
                    <a:grpSpLocks/>
                  </p:cNvGrpSpPr>
                  <p:nvPr/>
                </p:nvGrpSpPr>
                <p:grpSpPr bwMode="auto">
                  <a:xfrm>
                    <a:off x="823" y="3625"/>
                    <a:ext cx="49" cy="23"/>
                    <a:chOff x="823" y="3625"/>
                    <a:chExt cx="49" cy="23"/>
                  </a:xfrm>
                </p:grpSpPr>
                <p:sp>
                  <p:nvSpPr>
                    <p:cNvPr id="1686"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7"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8"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8" name="Group 2359"/>
                  <p:cNvGrpSpPr>
                    <a:grpSpLocks/>
                  </p:cNvGrpSpPr>
                  <p:nvPr/>
                </p:nvGrpSpPr>
                <p:grpSpPr bwMode="auto">
                  <a:xfrm>
                    <a:off x="836" y="3638"/>
                    <a:ext cx="50" cy="22"/>
                    <a:chOff x="836" y="3638"/>
                    <a:chExt cx="50" cy="22"/>
                  </a:xfrm>
                </p:grpSpPr>
                <p:sp>
                  <p:nvSpPr>
                    <p:cNvPr id="1683"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4"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5"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9" name="Group 2363"/>
                  <p:cNvGrpSpPr>
                    <a:grpSpLocks/>
                  </p:cNvGrpSpPr>
                  <p:nvPr/>
                </p:nvGrpSpPr>
                <p:grpSpPr bwMode="auto">
                  <a:xfrm>
                    <a:off x="849" y="3651"/>
                    <a:ext cx="49" cy="22"/>
                    <a:chOff x="849" y="3651"/>
                    <a:chExt cx="49" cy="22"/>
                  </a:xfrm>
                </p:grpSpPr>
                <p:sp>
                  <p:nvSpPr>
                    <p:cNvPr id="1680"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1"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2"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8" name="Group 2367"/>
                <p:cNvGrpSpPr>
                  <a:grpSpLocks/>
                </p:cNvGrpSpPr>
                <p:nvPr/>
              </p:nvGrpSpPr>
              <p:grpSpPr bwMode="auto">
                <a:xfrm>
                  <a:off x="861" y="3665"/>
                  <a:ext cx="99" cy="74"/>
                  <a:chOff x="861" y="3665"/>
                  <a:chExt cx="99" cy="74"/>
                </a:xfrm>
              </p:grpSpPr>
              <p:grpSp>
                <p:nvGrpSpPr>
                  <p:cNvPr id="1655" name="Group 2368"/>
                  <p:cNvGrpSpPr>
                    <a:grpSpLocks/>
                  </p:cNvGrpSpPr>
                  <p:nvPr/>
                </p:nvGrpSpPr>
                <p:grpSpPr bwMode="auto">
                  <a:xfrm>
                    <a:off x="861" y="3665"/>
                    <a:ext cx="50" cy="23"/>
                    <a:chOff x="861" y="3665"/>
                    <a:chExt cx="50" cy="23"/>
                  </a:xfrm>
                </p:grpSpPr>
                <p:sp>
                  <p:nvSpPr>
                    <p:cNvPr id="1672"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3"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4"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6" name="Group 2372"/>
                  <p:cNvGrpSpPr>
                    <a:grpSpLocks/>
                  </p:cNvGrpSpPr>
                  <p:nvPr/>
                </p:nvGrpSpPr>
                <p:grpSpPr bwMode="auto">
                  <a:xfrm>
                    <a:off x="873" y="3678"/>
                    <a:ext cx="49" cy="23"/>
                    <a:chOff x="873" y="3678"/>
                    <a:chExt cx="49" cy="23"/>
                  </a:xfrm>
                </p:grpSpPr>
                <p:sp>
                  <p:nvSpPr>
                    <p:cNvPr id="1669"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0"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1"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7" name="Group 2376"/>
                  <p:cNvGrpSpPr>
                    <a:grpSpLocks/>
                  </p:cNvGrpSpPr>
                  <p:nvPr/>
                </p:nvGrpSpPr>
                <p:grpSpPr bwMode="auto">
                  <a:xfrm>
                    <a:off x="886" y="3690"/>
                    <a:ext cx="49" cy="23"/>
                    <a:chOff x="886" y="3690"/>
                    <a:chExt cx="49" cy="23"/>
                  </a:xfrm>
                </p:grpSpPr>
                <p:sp>
                  <p:nvSpPr>
                    <p:cNvPr id="1666"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7"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8"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8" name="Group 2380"/>
                  <p:cNvGrpSpPr>
                    <a:grpSpLocks/>
                  </p:cNvGrpSpPr>
                  <p:nvPr/>
                </p:nvGrpSpPr>
                <p:grpSpPr bwMode="auto">
                  <a:xfrm>
                    <a:off x="899" y="3703"/>
                    <a:ext cx="48" cy="23"/>
                    <a:chOff x="899" y="3703"/>
                    <a:chExt cx="48" cy="23"/>
                  </a:xfrm>
                </p:grpSpPr>
                <p:sp>
                  <p:nvSpPr>
                    <p:cNvPr id="1663"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4"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5"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9" name="Group 2384"/>
                  <p:cNvGrpSpPr>
                    <a:grpSpLocks/>
                  </p:cNvGrpSpPr>
                  <p:nvPr/>
                </p:nvGrpSpPr>
                <p:grpSpPr bwMode="auto">
                  <a:xfrm>
                    <a:off x="912" y="3716"/>
                    <a:ext cx="48" cy="23"/>
                    <a:chOff x="912" y="3716"/>
                    <a:chExt cx="48" cy="23"/>
                  </a:xfrm>
                </p:grpSpPr>
                <p:sp>
                  <p:nvSpPr>
                    <p:cNvPr id="1660"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1"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2"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9" name="Group 2388"/>
                <p:cNvGrpSpPr>
                  <a:grpSpLocks/>
                </p:cNvGrpSpPr>
                <p:nvPr/>
              </p:nvGrpSpPr>
              <p:grpSpPr bwMode="auto">
                <a:xfrm>
                  <a:off x="922" y="3727"/>
                  <a:ext cx="49" cy="23"/>
                  <a:chOff x="922" y="3727"/>
                  <a:chExt cx="49" cy="23"/>
                </a:xfrm>
              </p:grpSpPr>
              <p:sp>
                <p:nvSpPr>
                  <p:cNvPr id="1652"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3"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4"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0" name="Group 2392"/>
                <p:cNvGrpSpPr>
                  <a:grpSpLocks/>
                </p:cNvGrpSpPr>
                <p:nvPr/>
              </p:nvGrpSpPr>
              <p:grpSpPr bwMode="auto">
                <a:xfrm>
                  <a:off x="895" y="3526"/>
                  <a:ext cx="44" cy="23"/>
                  <a:chOff x="895" y="3526"/>
                  <a:chExt cx="44" cy="23"/>
                </a:xfrm>
              </p:grpSpPr>
              <p:sp>
                <p:nvSpPr>
                  <p:cNvPr id="1649"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0"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1"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1" name="Group 2396"/>
                <p:cNvGrpSpPr>
                  <a:grpSpLocks/>
                </p:cNvGrpSpPr>
                <p:nvPr/>
              </p:nvGrpSpPr>
              <p:grpSpPr bwMode="auto">
                <a:xfrm>
                  <a:off x="907" y="3540"/>
                  <a:ext cx="45" cy="22"/>
                  <a:chOff x="907" y="3540"/>
                  <a:chExt cx="45" cy="22"/>
                </a:xfrm>
              </p:grpSpPr>
              <p:sp>
                <p:nvSpPr>
                  <p:cNvPr id="1646"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7"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8"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2" name="Group 2400"/>
                <p:cNvGrpSpPr>
                  <a:grpSpLocks/>
                </p:cNvGrpSpPr>
                <p:nvPr/>
              </p:nvGrpSpPr>
              <p:grpSpPr bwMode="auto">
                <a:xfrm>
                  <a:off x="920" y="3553"/>
                  <a:ext cx="45" cy="23"/>
                  <a:chOff x="920" y="3553"/>
                  <a:chExt cx="45" cy="23"/>
                </a:xfrm>
              </p:grpSpPr>
              <p:sp>
                <p:nvSpPr>
                  <p:cNvPr id="1643"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4"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5"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3" name="Group 2404"/>
                <p:cNvGrpSpPr>
                  <a:grpSpLocks/>
                </p:cNvGrpSpPr>
                <p:nvPr/>
              </p:nvGrpSpPr>
              <p:grpSpPr bwMode="auto">
                <a:xfrm>
                  <a:off x="934" y="3566"/>
                  <a:ext cx="44" cy="23"/>
                  <a:chOff x="934" y="3566"/>
                  <a:chExt cx="44" cy="23"/>
                </a:xfrm>
              </p:grpSpPr>
              <p:sp>
                <p:nvSpPr>
                  <p:cNvPr id="1640"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1"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2"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4" name="Group 2408"/>
                <p:cNvGrpSpPr>
                  <a:grpSpLocks/>
                </p:cNvGrpSpPr>
                <p:nvPr/>
              </p:nvGrpSpPr>
              <p:grpSpPr bwMode="auto">
                <a:xfrm>
                  <a:off x="949" y="3579"/>
                  <a:ext cx="83" cy="63"/>
                  <a:chOff x="949" y="3579"/>
                  <a:chExt cx="83" cy="63"/>
                </a:xfrm>
              </p:grpSpPr>
              <p:grpSp>
                <p:nvGrpSpPr>
                  <p:cNvPr id="1624" name="Group 2409"/>
                  <p:cNvGrpSpPr>
                    <a:grpSpLocks/>
                  </p:cNvGrpSpPr>
                  <p:nvPr/>
                </p:nvGrpSpPr>
                <p:grpSpPr bwMode="auto">
                  <a:xfrm>
                    <a:off x="949" y="3579"/>
                    <a:ext cx="44" cy="23"/>
                    <a:chOff x="949" y="3579"/>
                    <a:chExt cx="44" cy="23"/>
                  </a:xfrm>
                </p:grpSpPr>
                <p:sp>
                  <p:nvSpPr>
                    <p:cNvPr id="1637"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8"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9"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5" name="Group 2413"/>
                  <p:cNvGrpSpPr>
                    <a:grpSpLocks/>
                  </p:cNvGrpSpPr>
                  <p:nvPr/>
                </p:nvGrpSpPr>
                <p:grpSpPr bwMode="auto">
                  <a:xfrm>
                    <a:off x="961" y="3592"/>
                    <a:ext cx="45" cy="23"/>
                    <a:chOff x="961" y="3592"/>
                    <a:chExt cx="45" cy="23"/>
                  </a:xfrm>
                </p:grpSpPr>
                <p:sp>
                  <p:nvSpPr>
                    <p:cNvPr id="1634"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5"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6"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6" name="Group 2417"/>
                  <p:cNvGrpSpPr>
                    <a:grpSpLocks/>
                  </p:cNvGrpSpPr>
                  <p:nvPr/>
                </p:nvGrpSpPr>
                <p:grpSpPr bwMode="auto">
                  <a:xfrm>
                    <a:off x="974" y="3606"/>
                    <a:ext cx="44" cy="23"/>
                    <a:chOff x="974" y="3606"/>
                    <a:chExt cx="44" cy="23"/>
                  </a:xfrm>
                </p:grpSpPr>
                <p:sp>
                  <p:nvSpPr>
                    <p:cNvPr id="1631"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2"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3"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7" name="Group 2421"/>
                  <p:cNvGrpSpPr>
                    <a:grpSpLocks/>
                  </p:cNvGrpSpPr>
                  <p:nvPr/>
                </p:nvGrpSpPr>
                <p:grpSpPr bwMode="auto">
                  <a:xfrm>
                    <a:off x="987" y="3619"/>
                    <a:ext cx="45" cy="23"/>
                    <a:chOff x="987" y="3619"/>
                    <a:chExt cx="45" cy="23"/>
                  </a:xfrm>
                </p:grpSpPr>
                <p:sp>
                  <p:nvSpPr>
                    <p:cNvPr id="1628"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9"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0"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5" name="Group 2425"/>
                <p:cNvGrpSpPr>
                  <a:grpSpLocks/>
                </p:cNvGrpSpPr>
                <p:nvPr/>
              </p:nvGrpSpPr>
              <p:grpSpPr bwMode="auto">
                <a:xfrm>
                  <a:off x="1002" y="3632"/>
                  <a:ext cx="83" cy="63"/>
                  <a:chOff x="1002" y="3632"/>
                  <a:chExt cx="83" cy="63"/>
                </a:xfrm>
              </p:grpSpPr>
              <p:grpSp>
                <p:nvGrpSpPr>
                  <p:cNvPr id="1608" name="Group 2426"/>
                  <p:cNvGrpSpPr>
                    <a:grpSpLocks/>
                  </p:cNvGrpSpPr>
                  <p:nvPr/>
                </p:nvGrpSpPr>
                <p:grpSpPr bwMode="auto">
                  <a:xfrm>
                    <a:off x="1002" y="3632"/>
                    <a:ext cx="44" cy="22"/>
                    <a:chOff x="1002" y="3632"/>
                    <a:chExt cx="44" cy="22"/>
                  </a:xfrm>
                </p:grpSpPr>
                <p:sp>
                  <p:nvSpPr>
                    <p:cNvPr id="1621"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2"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3"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9" name="Group 2430"/>
                  <p:cNvGrpSpPr>
                    <a:grpSpLocks/>
                  </p:cNvGrpSpPr>
                  <p:nvPr/>
                </p:nvGrpSpPr>
                <p:grpSpPr bwMode="auto">
                  <a:xfrm>
                    <a:off x="1014" y="3645"/>
                    <a:ext cx="44" cy="23"/>
                    <a:chOff x="1014" y="3645"/>
                    <a:chExt cx="44" cy="23"/>
                  </a:xfrm>
                </p:grpSpPr>
                <p:sp>
                  <p:nvSpPr>
                    <p:cNvPr id="1618"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9"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0"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0" name="Group 2434"/>
                  <p:cNvGrpSpPr>
                    <a:grpSpLocks/>
                  </p:cNvGrpSpPr>
                  <p:nvPr/>
                </p:nvGrpSpPr>
                <p:grpSpPr bwMode="auto">
                  <a:xfrm>
                    <a:off x="1027" y="3659"/>
                    <a:ext cx="45" cy="23"/>
                    <a:chOff x="1027" y="3659"/>
                    <a:chExt cx="45" cy="23"/>
                  </a:xfrm>
                </p:grpSpPr>
                <p:sp>
                  <p:nvSpPr>
                    <p:cNvPr id="1615"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6"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7"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1" name="Group 2438"/>
                  <p:cNvGrpSpPr>
                    <a:grpSpLocks/>
                  </p:cNvGrpSpPr>
                  <p:nvPr/>
                </p:nvGrpSpPr>
                <p:grpSpPr bwMode="auto">
                  <a:xfrm>
                    <a:off x="1040" y="3672"/>
                    <a:ext cx="45" cy="23"/>
                    <a:chOff x="1040" y="3672"/>
                    <a:chExt cx="45" cy="23"/>
                  </a:xfrm>
                </p:grpSpPr>
                <p:sp>
                  <p:nvSpPr>
                    <p:cNvPr id="1612"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3"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4"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6" name="Group 2442"/>
                <p:cNvGrpSpPr>
                  <a:grpSpLocks/>
                </p:cNvGrpSpPr>
                <p:nvPr/>
              </p:nvGrpSpPr>
              <p:grpSpPr bwMode="auto">
                <a:xfrm>
                  <a:off x="1054" y="3685"/>
                  <a:ext cx="45" cy="23"/>
                  <a:chOff x="1054" y="3685"/>
                  <a:chExt cx="45" cy="23"/>
                </a:xfrm>
              </p:grpSpPr>
              <p:sp>
                <p:nvSpPr>
                  <p:cNvPr id="1605"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6"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7"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7" name="Group 2446"/>
                <p:cNvGrpSpPr>
                  <a:grpSpLocks/>
                </p:cNvGrpSpPr>
                <p:nvPr/>
              </p:nvGrpSpPr>
              <p:grpSpPr bwMode="auto">
                <a:xfrm>
                  <a:off x="1067" y="3698"/>
                  <a:ext cx="45" cy="23"/>
                  <a:chOff x="1067" y="3698"/>
                  <a:chExt cx="45" cy="23"/>
                </a:xfrm>
              </p:grpSpPr>
              <p:sp>
                <p:nvSpPr>
                  <p:cNvPr id="1602"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3"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4"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8" name="Group 2450"/>
                <p:cNvGrpSpPr>
                  <a:grpSpLocks/>
                </p:cNvGrpSpPr>
                <p:nvPr/>
              </p:nvGrpSpPr>
              <p:grpSpPr bwMode="auto">
                <a:xfrm>
                  <a:off x="1079" y="3712"/>
                  <a:ext cx="44" cy="23"/>
                  <a:chOff x="1079" y="3712"/>
                  <a:chExt cx="44" cy="23"/>
                </a:xfrm>
              </p:grpSpPr>
              <p:sp>
                <p:nvSpPr>
                  <p:cNvPr id="1599"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0"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1"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9" name="Group 2454"/>
                <p:cNvGrpSpPr>
                  <a:grpSpLocks/>
                </p:cNvGrpSpPr>
                <p:nvPr/>
              </p:nvGrpSpPr>
              <p:grpSpPr bwMode="auto">
                <a:xfrm>
                  <a:off x="1093" y="3725"/>
                  <a:ext cx="45" cy="23"/>
                  <a:chOff x="1093" y="3725"/>
                  <a:chExt cx="45" cy="23"/>
                </a:xfrm>
              </p:grpSpPr>
              <p:sp>
                <p:nvSpPr>
                  <p:cNvPr id="1596"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7"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8"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0" name="Group 2458"/>
                <p:cNvGrpSpPr>
                  <a:grpSpLocks/>
                </p:cNvGrpSpPr>
                <p:nvPr/>
              </p:nvGrpSpPr>
              <p:grpSpPr bwMode="auto">
                <a:xfrm>
                  <a:off x="1108" y="3739"/>
                  <a:ext cx="44" cy="23"/>
                  <a:chOff x="1108" y="3739"/>
                  <a:chExt cx="44" cy="23"/>
                </a:xfrm>
              </p:grpSpPr>
              <p:sp>
                <p:nvSpPr>
                  <p:cNvPr id="1593"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4"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5"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1" name="Group 2462"/>
                <p:cNvGrpSpPr>
                  <a:grpSpLocks/>
                </p:cNvGrpSpPr>
                <p:nvPr/>
              </p:nvGrpSpPr>
              <p:grpSpPr bwMode="auto">
                <a:xfrm>
                  <a:off x="1121" y="3753"/>
                  <a:ext cx="45" cy="23"/>
                  <a:chOff x="1121" y="3753"/>
                  <a:chExt cx="45" cy="23"/>
                </a:xfrm>
              </p:grpSpPr>
              <p:sp>
                <p:nvSpPr>
                  <p:cNvPr id="1590"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1"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2"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2" name="Group 2466"/>
                <p:cNvGrpSpPr>
                  <a:grpSpLocks/>
                </p:cNvGrpSpPr>
                <p:nvPr/>
              </p:nvGrpSpPr>
              <p:grpSpPr bwMode="auto">
                <a:xfrm>
                  <a:off x="1133" y="3767"/>
                  <a:ext cx="44" cy="23"/>
                  <a:chOff x="1133" y="3767"/>
                  <a:chExt cx="44" cy="23"/>
                </a:xfrm>
              </p:grpSpPr>
              <p:sp>
                <p:nvSpPr>
                  <p:cNvPr id="1587"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8"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9"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33"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4"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5"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6"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7"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8"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9"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0"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1"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2"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3"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44" name="Group 2481"/>
                <p:cNvGrpSpPr>
                  <a:grpSpLocks/>
                </p:cNvGrpSpPr>
                <p:nvPr/>
              </p:nvGrpSpPr>
              <p:grpSpPr bwMode="auto">
                <a:xfrm>
                  <a:off x="700" y="3535"/>
                  <a:ext cx="49" cy="24"/>
                  <a:chOff x="700" y="3535"/>
                  <a:chExt cx="49" cy="24"/>
                </a:xfrm>
              </p:grpSpPr>
              <p:sp>
                <p:nvSpPr>
                  <p:cNvPr id="1584"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5"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6"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5" name="Group 2485"/>
                <p:cNvGrpSpPr>
                  <a:grpSpLocks/>
                </p:cNvGrpSpPr>
                <p:nvPr/>
              </p:nvGrpSpPr>
              <p:grpSpPr bwMode="auto">
                <a:xfrm>
                  <a:off x="714" y="3551"/>
                  <a:ext cx="49" cy="22"/>
                  <a:chOff x="714" y="3551"/>
                  <a:chExt cx="49" cy="22"/>
                </a:xfrm>
              </p:grpSpPr>
              <p:sp>
                <p:nvSpPr>
                  <p:cNvPr id="1581"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2"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3"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6" name="Group 2489"/>
                <p:cNvGrpSpPr>
                  <a:grpSpLocks/>
                </p:cNvGrpSpPr>
                <p:nvPr/>
              </p:nvGrpSpPr>
              <p:grpSpPr bwMode="auto">
                <a:xfrm>
                  <a:off x="728" y="3564"/>
                  <a:ext cx="48" cy="23"/>
                  <a:chOff x="728" y="3564"/>
                  <a:chExt cx="48" cy="23"/>
                </a:xfrm>
              </p:grpSpPr>
              <p:sp>
                <p:nvSpPr>
                  <p:cNvPr id="1578"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9"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0"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7" name="Group 2493"/>
                <p:cNvGrpSpPr>
                  <a:grpSpLocks/>
                </p:cNvGrpSpPr>
                <p:nvPr/>
              </p:nvGrpSpPr>
              <p:grpSpPr bwMode="auto">
                <a:xfrm>
                  <a:off x="742" y="3582"/>
                  <a:ext cx="49" cy="23"/>
                  <a:chOff x="742" y="3582"/>
                  <a:chExt cx="49" cy="23"/>
                </a:xfrm>
              </p:grpSpPr>
              <p:sp>
                <p:nvSpPr>
                  <p:cNvPr id="1575"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6"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7"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8" name="Group 2497"/>
                <p:cNvGrpSpPr>
                  <a:grpSpLocks/>
                </p:cNvGrpSpPr>
                <p:nvPr/>
              </p:nvGrpSpPr>
              <p:grpSpPr bwMode="auto">
                <a:xfrm>
                  <a:off x="752" y="3597"/>
                  <a:ext cx="133" cy="106"/>
                  <a:chOff x="752" y="3597"/>
                  <a:chExt cx="133" cy="106"/>
                </a:xfrm>
              </p:grpSpPr>
              <p:sp>
                <p:nvSpPr>
                  <p:cNvPr id="1572"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3"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4"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9" name="Group 2501"/>
                <p:cNvGrpSpPr>
                  <a:grpSpLocks/>
                </p:cNvGrpSpPr>
                <p:nvPr/>
              </p:nvGrpSpPr>
              <p:grpSpPr bwMode="auto">
                <a:xfrm>
                  <a:off x="844" y="3694"/>
                  <a:ext cx="48" cy="23"/>
                  <a:chOff x="844" y="3694"/>
                  <a:chExt cx="48" cy="23"/>
                </a:xfrm>
              </p:grpSpPr>
              <p:sp>
                <p:nvSpPr>
                  <p:cNvPr id="1569"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0"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1"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0" name="Group 2505"/>
                <p:cNvGrpSpPr>
                  <a:grpSpLocks/>
                </p:cNvGrpSpPr>
                <p:nvPr/>
              </p:nvGrpSpPr>
              <p:grpSpPr bwMode="auto">
                <a:xfrm>
                  <a:off x="857" y="3710"/>
                  <a:ext cx="49" cy="22"/>
                  <a:chOff x="857" y="3710"/>
                  <a:chExt cx="49" cy="22"/>
                </a:xfrm>
              </p:grpSpPr>
              <p:sp>
                <p:nvSpPr>
                  <p:cNvPr id="1566"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7"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8"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1" name="Group 2509"/>
                <p:cNvGrpSpPr>
                  <a:grpSpLocks/>
                </p:cNvGrpSpPr>
                <p:nvPr/>
              </p:nvGrpSpPr>
              <p:grpSpPr bwMode="auto">
                <a:xfrm>
                  <a:off x="1086" y="3766"/>
                  <a:ext cx="49" cy="23"/>
                  <a:chOff x="1086" y="3766"/>
                  <a:chExt cx="49" cy="23"/>
                </a:xfrm>
              </p:grpSpPr>
              <p:sp>
                <p:nvSpPr>
                  <p:cNvPr id="1563"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4"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5"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2" name="Group 2513"/>
                <p:cNvGrpSpPr>
                  <a:grpSpLocks/>
                </p:cNvGrpSpPr>
                <p:nvPr/>
              </p:nvGrpSpPr>
              <p:grpSpPr bwMode="auto">
                <a:xfrm>
                  <a:off x="934" y="3740"/>
                  <a:ext cx="48" cy="23"/>
                  <a:chOff x="934" y="3740"/>
                  <a:chExt cx="48" cy="23"/>
                </a:xfrm>
              </p:grpSpPr>
              <p:sp>
                <p:nvSpPr>
                  <p:cNvPr id="1560"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1"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2"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3" name="Group 2517"/>
                <p:cNvGrpSpPr>
                  <a:grpSpLocks/>
                </p:cNvGrpSpPr>
                <p:nvPr/>
              </p:nvGrpSpPr>
              <p:grpSpPr bwMode="auto">
                <a:xfrm>
                  <a:off x="943" y="3754"/>
                  <a:ext cx="49" cy="23"/>
                  <a:chOff x="943" y="3754"/>
                  <a:chExt cx="49" cy="23"/>
                </a:xfrm>
              </p:grpSpPr>
              <p:sp>
                <p:nvSpPr>
                  <p:cNvPr id="1557"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8"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9"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54"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5"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6"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51" name="Group 2524"/>
              <p:cNvGrpSpPr>
                <a:grpSpLocks/>
              </p:cNvGrpSpPr>
              <p:nvPr/>
            </p:nvGrpSpPr>
            <p:grpSpPr bwMode="auto">
              <a:xfrm>
                <a:off x="920" y="3821"/>
                <a:ext cx="413" cy="50"/>
                <a:chOff x="920" y="3821"/>
                <a:chExt cx="413" cy="50"/>
              </a:xfrm>
            </p:grpSpPr>
            <p:sp>
              <p:nvSpPr>
                <p:cNvPr id="1472"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3"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4"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5"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452" name="Group 2529"/>
              <p:cNvGrpSpPr>
                <a:grpSpLocks/>
              </p:cNvGrpSpPr>
              <p:nvPr/>
            </p:nvGrpSpPr>
            <p:grpSpPr bwMode="auto">
              <a:xfrm>
                <a:off x="1227" y="3477"/>
                <a:ext cx="508" cy="321"/>
                <a:chOff x="1227" y="3477"/>
                <a:chExt cx="508" cy="321"/>
              </a:xfrm>
            </p:grpSpPr>
            <p:sp>
              <p:nvSpPr>
                <p:cNvPr id="1453"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4"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5"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6"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7"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8"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9"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0"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1"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2"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3"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4"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5"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6"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7"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8"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9"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0"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1"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890" name="Group 2096"/>
            <p:cNvGrpSpPr>
              <a:grpSpLocks/>
            </p:cNvGrpSpPr>
            <p:nvPr/>
          </p:nvGrpSpPr>
          <p:grpSpPr bwMode="auto">
            <a:xfrm>
              <a:off x="4572000" y="1700213"/>
              <a:ext cx="431800" cy="330200"/>
              <a:chOff x="624" y="2968"/>
              <a:chExt cx="1331" cy="920"/>
            </a:xfrm>
          </p:grpSpPr>
          <p:sp>
            <p:nvSpPr>
              <p:cNvPr id="1891"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2"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3"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4"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5"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6"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7"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8"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9"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0"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1"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2"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03" name="Group 2109"/>
              <p:cNvGrpSpPr>
                <a:grpSpLocks/>
              </p:cNvGrpSpPr>
              <p:nvPr/>
            </p:nvGrpSpPr>
            <p:grpSpPr bwMode="auto">
              <a:xfrm>
                <a:off x="700" y="3526"/>
                <a:ext cx="515" cy="270"/>
                <a:chOff x="700" y="3526"/>
                <a:chExt cx="515" cy="270"/>
              </a:xfrm>
            </p:grpSpPr>
            <p:grpSp>
              <p:nvGrpSpPr>
                <p:cNvPr id="1929" name="Group 2110"/>
                <p:cNvGrpSpPr>
                  <a:grpSpLocks/>
                </p:cNvGrpSpPr>
                <p:nvPr/>
              </p:nvGrpSpPr>
              <p:grpSpPr bwMode="auto">
                <a:xfrm>
                  <a:off x="737" y="3534"/>
                  <a:ext cx="49" cy="23"/>
                  <a:chOff x="737" y="3534"/>
                  <a:chExt cx="49" cy="23"/>
                </a:xfrm>
              </p:grpSpPr>
              <p:sp>
                <p:nvSpPr>
                  <p:cNvPr id="2340"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1"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2"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0" name="Group 2114"/>
                <p:cNvGrpSpPr>
                  <a:grpSpLocks/>
                </p:cNvGrpSpPr>
                <p:nvPr/>
              </p:nvGrpSpPr>
              <p:grpSpPr bwMode="auto">
                <a:xfrm>
                  <a:off x="748" y="3547"/>
                  <a:ext cx="50" cy="23"/>
                  <a:chOff x="748" y="3547"/>
                  <a:chExt cx="50" cy="23"/>
                </a:xfrm>
              </p:grpSpPr>
              <p:sp>
                <p:nvSpPr>
                  <p:cNvPr id="2337"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8"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9"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31"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2"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3"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4"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5" name="Group 2122"/>
                <p:cNvGrpSpPr>
                  <a:grpSpLocks/>
                </p:cNvGrpSpPr>
                <p:nvPr/>
              </p:nvGrpSpPr>
              <p:grpSpPr bwMode="auto">
                <a:xfrm>
                  <a:off x="872" y="3547"/>
                  <a:ext cx="50" cy="23"/>
                  <a:chOff x="872" y="3547"/>
                  <a:chExt cx="50" cy="23"/>
                </a:xfrm>
              </p:grpSpPr>
              <p:sp>
                <p:nvSpPr>
                  <p:cNvPr id="2334"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5"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6"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6" name="Group 2126"/>
                <p:cNvGrpSpPr>
                  <a:grpSpLocks/>
                </p:cNvGrpSpPr>
                <p:nvPr/>
              </p:nvGrpSpPr>
              <p:grpSpPr bwMode="auto">
                <a:xfrm>
                  <a:off x="885" y="3559"/>
                  <a:ext cx="50" cy="23"/>
                  <a:chOff x="885" y="3559"/>
                  <a:chExt cx="50" cy="23"/>
                </a:xfrm>
              </p:grpSpPr>
              <p:sp>
                <p:nvSpPr>
                  <p:cNvPr id="2331"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2"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3"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7" name="Group 2130"/>
                <p:cNvGrpSpPr>
                  <a:grpSpLocks/>
                </p:cNvGrpSpPr>
                <p:nvPr/>
              </p:nvGrpSpPr>
              <p:grpSpPr bwMode="auto">
                <a:xfrm>
                  <a:off x="898" y="3571"/>
                  <a:ext cx="49" cy="23"/>
                  <a:chOff x="898" y="3571"/>
                  <a:chExt cx="49" cy="23"/>
                </a:xfrm>
              </p:grpSpPr>
              <p:sp>
                <p:nvSpPr>
                  <p:cNvPr id="2328"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9"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0"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8" name="Group 2134"/>
                <p:cNvGrpSpPr>
                  <a:grpSpLocks/>
                </p:cNvGrpSpPr>
                <p:nvPr/>
              </p:nvGrpSpPr>
              <p:grpSpPr bwMode="auto">
                <a:xfrm>
                  <a:off x="911" y="3585"/>
                  <a:ext cx="49" cy="23"/>
                  <a:chOff x="911" y="3585"/>
                  <a:chExt cx="49" cy="23"/>
                </a:xfrm>
              </p:grpSpPr>
              <p:sp>
                <p:nvSpPr>
                  <p:cNvPr id="2325"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6"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7"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9" name="Group 2138"/>
                <p:cNvGrpSpPr>
                  <a:grpSpLocks/>
                </p:cNvGrpSpPr>
                <p:nvPr/>
              </p:nvGrpSpPr>
              <p:grpSpPr bwMode="auto">
                <a:xfrm>
                  <a:off x="923" y="3600"/>
                  <a:ext cx="99" cy="73"/>
                  <a:chOff x="923" y="3600"/>
                  <a:chExt cx="99" cy="73"/>
                </a:xfrm>
              </p:grpSpPr>
              <p:grpSp>
                <p:nvGrpSpPr>
                  <p:cNvPr id="2305" name="Group 2139"/>
                  <p:cNvGrpSpPr>
                    <a:grpSpLocks/>
                  </p:cNvGrpSpPr>
                  <p:nvPr/>
                </p:nvGrpSpPr>
                <p:grpSpPr bwMode="auto">
                  <a:xfrm>
                    <a:off x="923" y="3600"/>
                    <a:ext cx="49" cy="23"/>
                    <a:chOff x="923" y="3600"/>
                    <a:chExt cx="49" cy="23"/>
                  </a:xfrm>
                </p:grpSpPr>
                <p:sp>
                  <p:nvSpPr>
                    <p:cNvPr id="2322"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3"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4"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6" name="Group 2143"/>
                  <p:cNvGrpSpPr>
                    <a:grpSpLocks/>
                  </p:cNvGrpSpPr>
                  <p:nvPr/>
                </p:nvGrpSpPr>
                <p:grpSpPr bwMode="auto">
                  <a:xfrm>
                    <a:off x="935" y="3612"/>
                    <a:ext cx="48" cy="23"/>
                    <a:chOff x="935" y="3612"/>
                    <a:chExt cx="48" cy="23"/>
                  </a:xfrm>
                </p:grpSpPr>
                <p:sp>
                  <p:nvSpPr>
                    <p:cNvPr id="2319"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0"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1"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7" name="Group 2147"/>
                  <p:cNvGrpSpPr>
                    <a:grpSpLocks/>
                  </p:cNvGrpSpPr>
                  <p:nvPr/>
                </p:nvGrpSpPr>
                <p:grpSpPr bwMode="auto">
                  <a:xfrm>
                    <a:off x="947" y="3625"/>
                    <a:ext cx="50" cy="22"/>
                    <a:chOff x="947" y="3625"/>
                    <a:chExt cx="50" cy="22"/>
                  </a:xfrm>
                </p:grpSpPr>
                <p:sp>
                  <p:nvSpPr>
                    <p:cNvPr id="2316"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7"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8"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8" name="Group 2151"/>
                  <p:cNvGrpSpPr>
                    <a:grpSpLocks/>
                  </p:cNvGrpSpPr>
                  <p:nvPr/>
                </p:nvGrpSpPr>
                <p:grpSpPr bwMode="auto">
                  <a:xfrm>
                    <a:off x="960" y="3637"/>
                    <a:ext cx="50" cy="23"/>
                    <a:chOff x="960" y="3637"/>
                    <a:chExt cx="50" cy="23"/>
                  </a:xfrm>
                </p:grpSpPr>
                <p:sp>
                  <p:nvSpPr>
                    <p:cNvPr id="2313"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4"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5"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9" name="Group 2155"/>
                  <p:cNvGrpSpPr>
                    <a:grpSpLocks/>
                  </p:cNvGrpSpPr>
                  <p:nvPr/>
                </p:nvGrpSpPr>
                <p:grpSpPr bwMode="auto">
                  <a:xfrm>
                    <a:off x="973" y="3650"/>
                    <a:ext cx="49" cy="23"/>
                    <a:chOff x="973" y="3650"/>
                    <a:chExt cx="49" cy="23"/>
                  </a:xfrm>
                </p:grpSpPr>
                <p:sp>
                  <p:nvSpPr>
                    <p:cNvPr id="2310"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1"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2"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0" name="Group 2159"/>
                <p:cNvGrpSpPr>
                  <a:grpSpLocks/>
                </p:cNvGrpSpPr>
                <p:nvPr/>
              </p:nvGrpSpPr>
              <p:grpSpPr bwMode="auto">
                <a:xfrm>
                  <a:off x="985" y="3665"/>
                  <a:ext cx="100" cy="73"/>
                  <a:chOff x="985" y="3665"/>
                  <a:chExt cx="100" cy="73"/>
                </a:xfrm>
              </p:grpSpPr>
              <p:grpSp>
                <p:nvGrpSpPr>
                  <p:cNvPr id="2285" name="Group 2160"/>
                  <p:cNvGrpSpPr>
                    <a:grpSpLocks/>
                  </p:cNvGrpSpPr>
                  <p:nvPr/>
                </p:nvGrpSpPr>
                <p:grpSpPr bwMode="auto">
                  <a:xfrm>
                    <a:off x="985" y="3665"/>
                    <a:ext cx="50" cy="23"/>
                    <a:chOff x="985" y="3665"/>
                    <a:chExt cx="50" cy="23"/>
                  </a:xfrm>
                </p:grpSpPr>
                <p:sp>
                  <p:nvSpPr>
                    <p:cNvPr id="2302"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3"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4"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6" name="Group 2164"/>
                  <p:cNvGrpSpPr>
                    <a:grpSpLocks/>
                  </p:cNvGrpSpPr>
                  <p:nvPr/>
                </p:nvGrpSpPr>
                <p:grpSpPr bwMode="auto">
                  <a:xfrm>
                    <a:off x="997" y="3677"/>
                    <a:ext cx="49" cy="23"/>
                    <a:chOff x="997" y="3677"/>
                    <a:chExt cx="49" cy="23"/>
                  </a:xfrm>
                </p:grpSpPr>
                <p:sp>
                  <p:nvSpPr>
                    <p:cNvPr id="2299"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0"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1"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7" name="Group 2168"/>
                  <p:cNvGrpSpPr>
                    <a:grpSpLocks/>
                  </p:cNvGrpSpPr>
                  <p:nvPr/>
                </p:nvGrpSpPr>
                <p:grpSpPr bwMode="auto">
                  <a:xfrm>
                    <a:off x="1010" y="3690"/>
                    <a:ext cx="48" cy="23"/>
                    <a:chOff x="1010" y="3690"/>
                    <a:chExt cx="48" cy="23"/>
                  </a:xfrm>
                </p:grpSpPr>
                <p:sp>
                  <p:nvSpPr>
                    <p:cNvPr id="2296"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7"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8"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8" name="Group 2172"/>
                  <p:cNvGrpSpPr>
                    <a:grpSpLocks/>
                  </p:cNvGrpSpPr>
                  <p:nvPr/>
                </p:nvGrpSpPr>
                <p:grpSpPr bwMode="auto">
                  <a:xfrm>
                    <a:off x="1023" y="3703"/>
                    <a:ext cx="49" cy="22"/>
                    <a:chOff x="1023" y="3703"/>
                    <a:chExt cx="49" cy="22"/>
                  </a:xfrm>
                </p:grpSpPr>
                <p:sp>
                  <p:nvSpPr>
                    <p:cNvPr id="2293"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4"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5"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9" name="Group 2176"/>
                  <p:cNvGrpSpPr>
                    <a:grpSpLocks/>
                  </p:cNvGrpSpPr>
                  <p:nvPr/>
                </p:nvGrpSpPr>
                <p:grpSpPr bwMode="auto">
                  <a:xfrm>
                    <a:off x="1036" y="3716"/>
                    <a:ext cx="49" cy="22"/>
                    <a:chOff x="1036" y="3716"/>
                    <a:chExt cx="49" cy="22"/>
                  </a:xfrm>
                </p:grpSpPr>
                <p:sp>
                  <p:nvSpPr>
                    <p:cNvPr id="2290"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1"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2"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1" name="Group 2180"/>
                <p:cNvGrpSpPr>
                  <a:grpSpLocks/>
                </p:cNvGrpSpPr>
                <p:nvPr/>
              </p:nvGrpSpPr>
              <p:grpSpPr bwMode="auto">
                <a:xfrm>
                  <a:off x="1046" y="3727"/>
                  <a:ext cx="49" cy="23"/>
                  <a:chOff x="1046" y="3727"/>
                  <a:chExt cx="49" cy="23"/>
                </a:xfrm>
              </p:grpSpPr>
              <p:sp>
                <p:nvSpPr>
                  <p:cNvPr id="2282"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3"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4"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2" name="Group 2184"/>
                <p:cNvGrpSpPr>
                  <a:grpSpLocks/>
                </p:cNvGrpSpPr>
                <p:nvPr/>
              </p:nvGrpSpPr>
              <p:grpSpPr bwMode="auto">
                <a:xfrm>
                  <a:off x="1058" y="3739"/>
                  <a:ext cx="50" cy="23"/>
                  <a:chOff x="1058" y="3739"/>
                  <a:chExt cx="50" cy="23"/>
                </a:xfrm>
              </p:grpSpPr>
              <p:sp>
                <p:nvSpPr>
                  <p:cNvPr id="2279"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0"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1"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3" name="Group 2188"/>
                <p:cNvGrpSpPr>
                  <a:grpSpLocks/>
                </p:cNvGrpSpPr>
                <p:nvPr/>
              </p:nvGrpSpPr>
              <p:grpSpPr bwMode="auto">
                <a:xfrm>
                  <a:off x="1072" y="3753"/>
                  <a:ext cx="48" cy="22"/>
                  <a:chOff x="1072" y="3753"/>
                  <a:chExt cx="48" cy="22"/>
                </a:xfrm>
              </p:grpSpPr>
              <p:sp>
                <p:nvSpPr>
                  <p:cNvPr id="2276"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7"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8"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44"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5"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6"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47" name="Group 2195"/>
                <p:cNvGrpSpPr>
                  <a:grpSpLocks/>
                </p:cNvGrpSpPr>
                <p:nvPr/>
              </p:nvGrpSpPr>
              <p:grpSpPr bwMode="auto">
                <a:xfrm>
                  <a:off x="832" y="3547"/>
                  <a:ext cx="49" cy="23"/>
                  <a:chOff x="832" y="3547"/>
                  <a:chExt cx="49" cy="23"/>
                </a:xfrm>
              </p:grpSpPr>
              <p:sp>
                <p:nvSpPr>
                  <p:cNvPr id="2273"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4"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5"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8" name="Group 2199"/>
                <p:cNvGrpSpPr>
                  <a:grpSpLocks/>
                </p:cNvGrpSpPr>
                <p:nvPr/>
              </p:nvGrpSpPr>
              <p:grpSpPr bwMode="auto">
                <a:xfrm>
                  <a:off x="844" y="3560"/>
                  <a:ext cx="49" cy="22"/>
                  <a:chOff x="844" y="3560"/>
                  <a:chExt cx="49" cy="22"/>
                </a:xfrm>
              </p:grpSpPr>
              <p:sp>
                <p:nvSpPr>
                  <p:cNvPr id="2270"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1"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2"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9" name="Group 2203"/>
                <p:cNvGrpSpPr>
                  <a:grpSpLocks/>
                </p:cNvGrpSpPr>
                <p:nvPr/>
              </p:nvGrpSpPr>
              <p:grpSpPr bwMode="auto">
                <a:xfrm>
                  <a:off x="857" y="3572"/>
                  <a:ext cx="50" cy="23"/>
                  <a:chOff x="857" y="3572"/>
                  <a:chExt cx="50" cy="23"/>
                </a:xfrm>
              </p:grpSpPr>
              <p:sp>
                <p:nvSpPr>
                  <p:cNvPr id="2267"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8"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9"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0" name="Group 2207"/>
                <p:cNvGrpSpPr>
                  <a:grpSpLocks/>
                </p:cNvGrpSpPr>
                <p:nvPr/>
              </p:nvGrpSpPr>
              <p:grpSpPr bwMode="auto">
                <a:xfrm>
                  <a:off x="870" y="3585"/>
                  <a:ext cx="48" cy="23"/>
                  <a:chOff x="870" y="3585"/>
                  <a:chExt cx="48" cy="23"/>
                </a:xfrm>
              </p:grpSpPr>
              <p:sp>
                <p:nvSpPr>
                  <p:cNvPr id="2264"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5"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6"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1" name="Group 2211"/>
                <p:cNvGrpSpPr>
                  <a:grpSpLocks/>
                </p:cNvGrpSpPr>
                <p:nvPr/>
              </p:nvGrpSpPr>
              <p:grpSpPr bwMode="auto">
                <a:xfrm>
                  <a:off x="882" y="3600"/>
                  <a:ext cx="100" cy="73"/>
                  <a:chOff x="882" y="3600"/>
                  <a:chExt cx="100" cy="73"/>
                </a:xfrm>
              </p:grpSpPr>
              <p:grpSp>
                <p:nvGrpSpPr>
                  <p:cNvPr id="2244" name="Group 2212"/>
                  <p:cNvGrpSpPr>
                    <a:grpSpLocks/>
                  </p:cNvGrpSpPr>
                  <p:nvPr/>
                </p:nvGrpSpPr>
                <p:grpSpPr bwMode="auto">
                  <a:xfrm>
                    <a:off x="882" y="3600"/>
                    <a:ext cx="49" cy="23"/>
                    <a:chOff x="882" y="3600"/>
                    <a:chExt cx="49" cy="23"/>
                  </a:xfrm>
                </p:grpSpPr>
                <p:sp>
                  <p:nvSpPr>
                    <p:cNvPr id="2261"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2"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3"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5" name="Group 2216"/>
                  <p:cNvGrpSpPr>
                    <a:grpSpLocks/>
                  </p:cNvGrpSpPr>
                  <p:nvPr/>
                </p:nvGrpSpPr>
                <p:grpSpPr bwMode="auto">
                  <a:xfrm>
                    <a:off x="894" y="3612"/>
                    <a:ext cx="49" cy="23"/>
                    <a:chOff x="894" y="3612"/>
                    <a:chExt cx="49" cy="23"/>
                  </a:xfrm>
                </p:grpSpPr>
                <p:sp>
                  <p:nvSpPr>
                    <p:cNvPr id="2258"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9"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0"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6" name="Group 2220"/>
                  <p:cNvGrpSpPr>
                    <a:grpSpLocks/>
                  </p:cNvGrpSpPr>
                  <p:nvPr/>
                </p:nvGrpSpPr>
                <p:grpSpPr bwMode="auto">
                  <a:xfrm>
                    <a:off x="907" y="3625"/>
                    <a:ext cx="49" cy="23"/>
                    <a:chOff x="907" y="3625"/>
                    <a:chExt cx="49" cy="23"/>
                  </a:xfrm>
                </p:grpSpPr>
                <p:sp>
                  <p:nvSpPr>
                    <p:cNvPr id="2255"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6"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7"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7" name="Group 2224"/>
                  <p:cNvGrpSpPr>
                    <a:grpSpLocks/>
                  </p:cNvGrpSpPr>
                  <p:nvPr/>
                </p:nvGrpSpPr>
                <p:grpSpPr bwMode="auto">
                  <a:xfrm>
                    <a:off x="919" y="3638"/>
                    <a:ext cx="49" cy="22"/>
                    <a:chOff x="919" y="3638"/>
                    <a:chExt cx="49" cy="22"/>
                  </a:xfrm>
                </p:grpSpPr>
                <p:sp>
                  <p:nvSpPr>
                    <p:cNvPr id="2252"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3"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4"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8" name="Group 2228"/>
                  <p:cNvGrpSpPr>
                    <a:grpSpLocks/>
                  </p:cNvGrpSpPr>
                  <p:nvPr/>
                </p:nvGrpSpPr>
                <p:grpSpPr bwMode="auto">
                  <a:xfrm>
                    <a:off x="932" y="3651"/>
                    <a:ext cx="50" cy="22"/>
                    <a:chOff x="932" y="3651"/>
                    <a:chExt cx="50" cy="22"/>
                  </a:xfrm>
                </p:grpSpPr>
                <p:sp>
                  <p:nvSpPr>
                    <p:cNvPr id="2249"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0"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1"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2" name="Group 2232"/>
                <p:cNvGrpSpPr>
                  <a:grpSpLocks/>
                </p:cNvGrpSpPr>
                <p:nvPr/>
              </p:nvGrpSpPr>
              <p:grpSpPr bwMode="auto">
                <a:xfrm>
                  <a:off x="944" y="3665"/>
                  <a:ext cx="99" cy="74"/>
                  <a:chOff x="944" y="3665"/>
                  <a:chExt cx="99" cy="74"/>
                </a:xfrm>
              </p:grpSpPr>
              <p:grpSp>
                <p:nvGrpSpPr>
                  <p:cNvPr id="2224" name="Group 2233"/>
                  <p:cNvGrpSpPr>
                    <a:grpSpLocks/>
                  </p:cNvGrpSpPr>
                  <p:nvPr/>
                </p:nvGrpSpPr>
                <p:grpSpPr bwMode="auto">
                  <a:xfrm>
                    <a:off x="944" y="3665"/>
                    <a:ext cx="49" cy="23"/>
                    <a:chOff x="944" y="3665"/>
                    <a:chExt cx="49" cy="23"/>
                  </a:xfrm>
                </p:grpSpPr>
                <p:sp>
                  <p:nvSpPr>
                    <p:cNvPr id="2241"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2"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3"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5" name="Group 2237"/>
                  <p:cNvGrpSpPr>
                    <a:grpSpLocks/>
                  </p:cNvGrpSpPr>
                  <p:nvPr/>
                </p:nvGrpSpPr>
                <p:grpSpPr bwMode="auto">
                  <a:xfrm>
                    <a:off x="957" y="3678"/>
                    <a:ext cx="48" cy="23"/>
                    <a:chOff x="957" y="3678"/>
                    <a:chExt cx="48" cy="23"/>
                  </a:xfrm>
                </p:grpSpPr>
                <p:sp>
                  <p:nvSpPr>
                    <p:cNvPr id="2238"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9"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0"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6" name="Group 2241"/>
                  <p:cNvGrpSpPr>
                    <a:grpSpLocks/>
                  </p:cNvGrpSpPr>
                  <p:nvPr/>
                </p:nvGrpSpPr>
                <p:grpSpPr bwMode="auto">
                  <a:xfrm>
                    <a:off x="969" y="3690"/>
                    <a:ext cx="49" cy="23"/>
                    <a:chOff x="969" y="3690"/>
                    <a:chExt cx="49" cy="23"/>
                  </a:xfrm>
                </p:grpSpPr>
                <p:sp>
                  <p:nvSpPr>
                    <p:cNvPr id="2235"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6"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7"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7" name="Group 2245"/>
                  <p:cNvGrpSpPr>
                    <a:grpSpLocks/>
                  </p:cNvGrpSpPr>
                  <p:nvPr/>
                </p:nvGrpSpPr>
                <p:grpSpPr bwMode="auto">
                  <a:xfrm>
                    <a:off x="982" y="3703"/>
                    <a:ext cx="49" cy="23"/>
                    <a:chOff x="982" y="3703"/>
                    <a:chExt cx="49" cy="23"/>
                  </a:xfrm>
                </p:grpSpPr>
                <p:sp>
                  <p:nvSpPr>
                    <p:cNvPr id="2232"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3"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4"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8" name="Group 2249"/>
                  <p:cNvGrpSpPr>
                    <a:grpSpLocks/>
                  </p:cNvGrpSpPr>
                  <p:nvPr/>
                </p:nvGrpSpPr>
                <p:grpSpPr bwMode="auto">
                  <a:xfrm>
                    <a:off x="995" y="3716"/>
                    <a:ext cx="48" cy="23"/>
                    <a:chOff x="995" y="3716"/>
                    <a:chExt cx="48" cy="23"/>
                  </a:xfrm>
                </p:grpSpPr>
                <p:sp>
                  <p:nvSpPr>
                    <p:cNvPr id="2229"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0"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1"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3" name="Group 2253"/>
                <p:cNvGrpSpPr>
                  <a:grpSpLocks/>
                </p:cNvGrpSpPr>
                <p:nvPr/>
              </p:nvGrpSpPr>
              <p:grpSpPr bwMode="auto">
                <a:xfrm>
                  <a:off x="1005" y="3727"/>
                  <a:ext cx="49" cy="23"/>
                  <a:chOff x="1005" y="3727"/>
                  <a:chExt cx="49" cy="23"/>
                </a:xfrm>
              </p:grpSpPr>
              <p:sp>
                <p:nvSpPr>
                  <p:cNvPr id="2221"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2"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3"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4" name="Group 2257"/>
                <p:cNvGrpSpPr>
                  <a:grpSpLocks/>
                </p:cNvGrpSpPr>
                <p:nvPr/>
              </p:nvGrpSpPr>
              <p:grpSpPr bwMode="auto">
                <a:xfrm>
                  <a:off x="1018" y="3740"/>
                  <a:ext cx="49" cy="22"/>
                  <a:chOff x="1018" y="3740"/>
                  <a:chExt cx="49" cy="22"/>
                </a:xfrm>
              </p:grpSpPr>
              <p:sp>
                <p:nvSpPr>
                  <p:cNvPr id="2218"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9"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0"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5" name="Group 2261"/>
                <p:cNvGrpSpPr>
                  <a:grpSpLocks/>
                </p:cNvGrpSpPr>
                <p:nvPr/>
              </p:nvGrpSpPr>
              <p:grpSpPr bwMode="auto">
                <a:xfrm>
                  <a:off x="1030" y="3753"/>
                  <a:ext cx="49" cy="23"/>
                  <a:chOff x="1030" y="3753"/>
                  <a:chExt cx="49" cy="23"/>
                </a:xfrm>
              </p:grpSpPr>
              <p:sp>
                <p:nvSpPr>
                  <p:cNvPr id="2215"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6"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7"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56"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7"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8"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9" name="Group 2268"/>
                <p:cNvGrpSpPr>
                  <a:grpSpLocks/>
                </p:cNvGrpSpPr>
                <p:nvPr/>
              </p:nvGrpSpPr>
              <p:grpSpPr bwMode="auto">
                <a:xfrm>
                  <a:off x="790" y="3547"/>
                  <a:ext cx="49" cy="23"/>
                  <a:chOff x="790" y="3547"/>
                  <a:chExt cx="49" cy="23"/>
                </a:xfrm>
              </p:grpSpPr>
              <p:sp>
                <p:nvSpPr>
                  <p:cNvPr id="2212"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3"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4"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0" name="Group 2272"/>
                <p:cNvGrpSpPr>
                  <a:grpSpLocks/>
                </p:cNvGrpSpPr>
                <p:nvPr/>
              </p:nvGrpSpPr>
              <p:grpSpPr bwMode="auto">
                <a:xfrm>
                  <a:off x="803" y="3560"/>
                  <a:ext cx="49" cy="22"/>
                  <a:chOff x="803" y="3560"/>
                  <a:chExt cx="49" cy="22"/>
                </a:xfrm>
              </p:grpSpPr>
              <p:sp>
                <p:nvSpPr>
                  <p:cNvPr id="2209"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0"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1"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1" name="Group 2276"/>
                <p:cNvGrpSpPr>
                  <a:grpSpLocks/>
                </p:cNvGrpSpPr>
                <p:nvPr/>
              </p:nvGrpSpPr>
              <p:grpSpPr bwMode="auto">
                <a:xfrm>
                  <a:off x="815" y="3572"/>
                  <a:ext cx="50" cy="23"/>
                  <a:chOff x="815" y="3572"/>
                  <a:chExt cx="50" cy="23"/>
                </a:xfrm>
              </p:grpSpPr>
              <p:sp>
                <p:nvSpPr>
                  <p:cNvPr id="2206"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7"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8"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2" name="Group 2280"/>
                <p:cNvGrpSpPr>
                  <a:grpSpLocks/>
                </p:cNvGrpSpPr>
                <p:nvPr/>
              </p:nvGrpSpPr>
              <p:grpSpPr bwMode="auto">
                <a:xfrm>
                  <a:off x="828" y="3585"/>
                  <a:ext cx="49" cy="23"/>
                  <a:chOff x="828" y="3585"/>
                  <a:chExt cx="49" cy="23"/>
                </a:xfrm>
              </p:grpSpPr>
              <p:sp>
                <p:nvSpPr>
                  <p:cNvPr id="2203"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4"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5"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3" name="Group 2284"/>
                <p:cNvGrpSpPr>
                  <a:grpSpLocks/>
                </p:cNvGrpSpPr>
                <p:nvPr/>
              </p:nvGrpSpPr>
              <p:grpSpPr bwMode="auto">
                <a:xfrm>
                  <a:off x="840" y="3600"/>
                  <a:ext cx="100" cy="73"/>
                  <a:chOff x="840" y="3600"/>
                  <a:chExt cx="100" cy="73"/>
                </a:xfrm>
              </p:grpSpPr>
              <p:grpSp>
                <p:nvGrpSpPr>
                  <p:cNvPr id="2183" name="Group 2285"/>
                  <p:cNvGrpSpPr>
                    <a:grpSpLocks/>
                  </p:cNvGrpSpPr>
                  <p:nvPr/>
                </p:nvGrpSpPr>
                <p:grpSpPr bwMode="auto">
                  <a:xfrm>
                    <a:off x="840" y="3600"/>
                    <a:ext cx="49" cy="23"/>
                    <a:chOff x="840" y="3600"/>
                    <a:chExt cx="49" cy="23"/>
                  </a:xfrm>
                </p:grpSpPr>
                <p:sp>
                  <p:nvSpPr>
                    <p:cNvPr id="2200"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1"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2"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4" name="Group 2289"/>
                  <p:cNvGrpSpPr>
                    <a:grpSpLocks/>
                  </p:cNvGrpSpPr>
                  <p:nvPr/>
                </p:nvGrpSpPr>
                <p:grpSpPr bwMode="auto">
                  <a:xfrm>
                    <a:off x="853" y="3612"/>
                    <a:ext cx="48" cy="23"/>
                    <a:chOff x="853" y="3612"/>
                    <a:chExt cx="48" cy="23"/>
                  </a:xfrm>
                </p:grpSpPr>
                <p:sp>
                  <p:nvSpPr>
                    <p:cNvPr id="2197"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8"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9"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5" name="Group 2293"/>
                  <p:cNvGrpSpPr>
                    <a:grpSpLocks/>
                  </p:cNvGrpSpPr>
                  <p:nvPr/>
                </p:nvGrpSpPr>
                <p:grpSpPr bwMode="auto">
                  <a:xfrm>
                    <a:off x="865" y="3625"/>
                    <a:ext cx="49" cy="23"/>
                    <a:chOff x="865" y="3625"/>
                    <a:chExt cx="49" cy="23"/>
                  </a:xfrm>
                </p:grpSpPr>
                <p:sp>
                  <p:nvSpPr>
                    <p:cNvPr id="2194"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5"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6"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6" name="Group 2297"/>
                  <p:cNvGrpSpPr>
                    <a:grpSpLocks/>
                  </p:cNvGrpSpPr>
                  <p:nvPr/>
                </p:nvGrpSpPr>
                <p:grpSpPr bwMode="auto">
                  <a:xfrm>
                    <a:off x="878" y="3638"/>
                    <a:ext cx="49" cy="22"/>
                    <a:chOff x="878" y="3638"/>
                    <a:chExt cx="49" cy="22"/>
                  </a:xfrm>
                </p:grpSpPr>
                <p:sp>
                  <p:nvSpPr>
                    <p:cNvPr id="2191"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2"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3"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7" name="Group 2301"/>
                  <p:cNvGrpSpPr>
                    <a:grpSpLocks/>
                  </p:cNvGrpSpPr>
                  <p:nvPr/>
                </p:nvGrpSpPr>
                <p:grpSpPr bwMode="auto">
                  <a:xfrm>
                    <a:off x="890" y="3651"/>
                    <a:ext cx="50" cy="22"/>
                    <a:chOff x="890" y="3651"/>
                    <a:chExt cx="50" cy="22"/>
                  </a:xfrm>
                </p:grpSpPr>
                <p:sp>
                  <p:nvSpPr>
                    <p:cNvPr id="2188"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9"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0"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4" name="Group 2305"/>
                <p:cNvGrpSpPr>
                  <a:grpSpLocks/>
                </p:cNvGrpSpPr>
                <p:nvPr/>
              </p:nvGrpSpPr>
              <p:grpSpPr bwMode="auto">
                <a:xfrm>
                  <a:off x="903" y="3665"/>
                  <a:ext cx="99" cy="74"/>
                  <a:chOff x="903" y="3665"/>
                  <a:chExt cx="99" cy="74"/>
                </a:xfrm>
              </p:grpSpPr>
              <p:grpSp>
                <p:nvGrpSpPr>
                  <p:cNvPr id="2163" name="Group 2306"/>
                  <p:cNvGrpSpPr>
                    <a:grpSpLocks/>
                  </p:cNvGrpSpPr>
                  <p:nvPr/>
                </p:nvGrpSpPr>
                <p:grpSpPr bwMode="auto">
                  <a:xfrm>
                    <a:off x="903" y="3665"/>
                    <a:ext cx="49" cy="23"/>
                    <a:chOff x="903" y="3665"/>
                    <a:chExt cx="49" cy="23"/>
                  </a:xfrm>
                </p:grpSpPr>
                <p:sp>
                  <p:nvSpPr>
                    <p:cNvPr id="2180"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1"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2"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4" name="Group 2310"/>
                  <p:cNvGrpSpPr>
                    <a:grpSpLocks/>
                  </p:cNvGrpSpPr>
                  <p:nvPr/>
                </p:nvGrpSpPr>
                <p:grpSpPr bwMode="auto">
                  <a:xfrm>
                    <a:off x="914" y="3678"/>
                    <a:ext cx="49" cy="23"/>
                    <a:chOff x="914" y="3678"/>
                    <a:chExt cx="49" cy="23"/>
                  </a:xfrm>
                </p:grpSpPr>
                <p:sp>
                  <p:nvSpPr>
                    <p:cNvPr id="2177"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8"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9"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5" name="Group 2314"/>
                  <p:cNvGrpSpPr>
                    <a:grpSpLocks/>
                  </p:cNvGrpSpPr>
                  <p:nvPr/>
                </p:nvGrpSpPr>
                <p:grpSpPr bwMode="auto">
                  <a:xfrm>
                    <a:off x="928" y="3690"/>
                    <a:ext cx="48" cy="23"/>
                    <a:chOff x="928" y="3690"/>
                    <a:chExt cx="48" cy="23"/>
                  </a:xfrm>
                </p:grpSpPr>
                <p:sp>
                  <p:nvSpPr>
                    <p:cNvPr id="2174"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5"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6"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6" name="Group 2318"/>
                  <p:cNvGrpSpPr>
                    <a:grpSpLocks/>
                  </p:cNvGrpSpPr>
                  <p:nvPr/>
                </p:nvGrpSpPr>
                <p:grpSpPr bwMode="auto">
                  <a:xfrm>
                    <a:off x="940" y="3703"/>
                    <a:ext cx="49" cy="23"/>
                    <a:chOff x="940" y="3703"/>
                    <a:chExt cx="49" cy="23"/>
                  </a:xfrm>
                </p:grpSpPr>
                <p:sp>
                  <p:nvSpPr>
                    <p:cNvPr id="2171"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2"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3"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7" name="Group 2322"/>
                  <p:cNvGrpSpPr>
                    <a:grpSpLocks/>
                  </p:cNvGrpSpPr>
                  <p:nvPr/>
                </p:nvGrpSpPr>
                <p:grpSpPr bwMode="auto">
                  <a:xfrm>
                    <a:off x="953" y="3716"/>
                    <a:ext cx="49" cy="23"/>
                    <a:chOff x="953" y="3716"/>
                    <a:chExt cx="49" cy="23"/>
                  </a:xfrm>
                </p:grpSpPr>
                <p:sp>
                  <p:nvSpPr>
                    <p:cNvPr id="2168"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9"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0"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5" name="Group 2326"/>
                <p:cNvGrpSpPr>
                  <a:grpSpLocks/>
                </p:cNvGrpSpPr>
                <p:nvPr/>
              </p:nvGrpSpPr>
              <p:grpSpPr bwMode="auto">
                <a:xfrm>
                  <a:off x="963" y="3727"/>
                  <a:ext cx="49" cy="23"/>
                  <a:chOff x="963" y="3727"/>
                  <a:chExt cx="49" cy="23"/>
                </a:xfrm>
              </p:grpSpPr>
              <p:sp>
                <p:nvSpPr>
                  <p:cNvPr id="2160"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1"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2"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6" name="Group 2330"/>
                <p:cNvGrpSpPr>
                  <a:grpSpLocks/>
                </p:cNvGrpSpPr>
                <p:nvPr/>
              </p:nvGrpSpPr>
              <p:grpSpPr bwMode="auto">
                <a:xfrm>
                  <a:off x="976" y="3740"/>
                  <a:ext cx="50" cy="22"/>
                  <a:chOff x="976" y="3740"/>
                  <a:chExt cx="50" cy="22"/>
                </a:xfrm>
              </p:grpSpPr>
              <p:sp>
                <p:nvSpPr>
                  <p:cNvPr id="2157"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8"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9"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7" name="Group 2334"/>
                <p:cNvGrpSpPr>
                  <a:grpSpLocks/>
                </p:cNvGrpSpPr>
                <p:nvPr/>
              </p:nvGrpSpPr>
              <p:grpSpPr bwMode="auto">
                <a:xfrm>
                  <a:off x="761" y="3560"/>
                  <a:ext cx="50" cy="22"/>
                  <a:chOff x="761" y="3560"/>
                  <a:chExt cx="50" cy="22"/>
                </a:xfrm>
              </p:grpSpPr>
              <p:sp>
                <p:nvSpPr>
                  <p:cNvPr id="2154"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5"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6"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8" name="Group 2338"/>
                <p:cNvGrpSpPr>
                  <a:grpSpLocks/>
                </p:cNvGrpSpPr>
                <p:nvPr/>
              </p:nvGrpSpPr>
              <p:grpSpPr bwMode="auto">
                <a:xfrm>
                  <a:off x="774" y="3572"/>
                  <a:ext cx="49" cy="23"/>
                  <a:chOff x="774" y="3572"/>
                  <a:chExt cx="49" cy="23"/>
                </a:xfrm>
              </p:grpSpPr>
              <p:sp>
                <p:nvSpPr>
                  <p:cNvPr id="2151"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2"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3"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9" name="Group 2342"/>
                <p:cNvGrpSpPr>
                  <a:grpSpLocks/>
                </p:cNvGrpSpPr>
                <p:nvPr/>
              </p:nvGrpSpPr>
              <p:grpSpPr bwMode="auto">
                <a:xfrm>
                  <a:off x="787" y="3585"/>
                  <a:ext cx="49" cy="23"/>
                  <a:chOff x="787" y="3585"/>
                  <a:chExt cx="49" cy="23"/>
                </a:xfrm>
              </p:grpSpPr>
              <p:sp>
                <p:nvSpPr>
                  <p:cNvPr id="2148"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9"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0"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0" name="Group 2346"/>
                <p:cNvGrpSpPr>
                  <a:grpSpLocks/>
                </p:cNvGrpSpPr>
                <p:nvPr/>
              </p:nvGrpSpPr>
              <p:grpSpPr bwMode="auto">
                <a:xfrm>
                  <a:off x="799" y="3600"/>
                  <a:ext cx="99" cy="73"/>
                  <a:chOff x="799" y="3600"/>
                  <a:chExt cx="99" cy="73"/>
                </a:xfrm>
              </p:grpSpPr>
              <p:grpSp>
                <p:nvGrpSpPr>
                  <p:cNvPr id="2128" name="Group 2347"/>
                  <p:cNvGrpSpPr>
                    <a:grpSpLocks/>
                  </p:cNvGrpSpPr>
                  <p:nvPr/>
                </p:nvGrpSpPr>
                <p:grpSpPr bwMode="auto">
                  <a:xfrm>
                    <a:off x="799" y="3600"/>
                    <a:ext cx="48" cy="23"/>
                    <a:chOff x="799" y="3600"/>
                    <a:chExt cx="48" cy="23"/>
                  </a:xfrm>
                </p:grpSpPr>
                <p:sp>
                  <p:nvSpPr>
                    <p:cNvPr id="2145"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6"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7"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29" name="Group 2351"/>
                  <p:cNvGrpSpPr>
                    <a:grpSpLocks/>
                  </p:cNvGrpSpPr>
                  <p:nvPr/>
                </p:nvGrpSpPr>
                <p:grpSpPr bwMode="auto">
                  <a:xfrm>
                    <a:off x="811" y="3612"/>
                    <a:ext cx="48" cy="23"/>
                    <a:chOff x="811" y="3612"/>
                    <a:chExt cx="48" cy="23"/>
                  </a:xfrm>
                </p:grpSpPr>
                <p:sp>
                  <p:nvSpPr>
                    <p:cNvPr id="2142"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3"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4"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0" name="Group 2355"/>
                  <p:cNvGrpSpPr>
                    <a:grpSpLocks/>
                  </p:cNvGrpSpPr>
                  <p:nvPr/>
                </p:nvGrpSpPr>
                <p:grpSpPr bwMode="auto">
                  <a:xfrm>
                    <a:off x="823" y="3625"/>
                    <a:ext cx="49" cy="23"/>
                    <a:chOff x="823" y="3625"/>
                    <a:chExt cx="49" cy="23"/>
                  </a:xfrm>
                </p:grpSpPr>
                <p:sp>
                  <p:nvSpPr>
                    <p:cNvPr id="2139"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0"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1"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1" name="Group 2359"/>
                  <p:cNvGrpSpPr>
                    <a:grpSpLocks/>
                  </p:cNvGrpSpPr>
                  <p:nvPr/>
                </p:nvGrpSpPr>
                <p:grpSpPr bwMode="auto">
                  <a:xfrm>
                    <a:off x="836" y="3638"/>
                    <a:ext cx="50" cy="22"/>
                    <a:chOff x="836" y="3638"/>
                    <a:chExt cx="50" cy="22"/>
                  </a:xfrm>
                </p:grpSpPr>
                <p:sp>
                  <p:nvSpPr>
                    <p:cNvPr id="2136"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7"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8"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2" name="Group 2363"/>
                  <p:cNvGrpSpPr>
                    <a:grpSpLocks/>
                  </p:cNvGrpSpPr>
                  <p:nvPr/>
                </p:nvGrpSpPr>
                <p:grpSpPr bwMode="auto">
                  <a:xfrm>
                    <a:off x="849" y="3651"/>
                    <a:ext cx="49" cy="22"/>
                    <a:chOff x="849" y="3651"/>
                    <a:chExt cx="49" cy="22"/>
                  </a:xfrm>
                </p:grpSpPr>
                <p:sp>
                  <p:nvSpPr>
                    <p:cNvPr id="2133"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4"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5"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1" name="Group 2367"/>
                <p:cNvGrpSpPr>
                  <a:grpSpLocks/>
                </p:cNvGrpSpPr>
                <p:nvPr/>
              </p:nvGrpSpPr>
              <p:grpSpPr bwMode="auto">
                <a:xfrm>
                  <a:off x="861" y="3665"/>
                  <a:ext cx="99" cy="74"/>
                  <a:chOff x="861" y="3665"/>
                  <a:chExt cx="99" cy="74"/>
                </a:xfrm>
              </p:grpSpPr>
              <p:grpSp>
                <p:nvGrpSpPr>
                  <p:cNvPr id="2108" name="Group 2368"/>
                  <p:cNvGrpSpPr>
                    <a:grpSpLocks/>
                  </p:cNvGrpSpPr>
                  <p:nvPr/>
                </p:nvGrpSpPr>
                <p:grpSpPr bwMode="auto">
                  <a:xfrm>
                    <a:off x="861" y="3665"/>
                    <a:ext cx="50" cy="23"/>
                    <a:chOff x="861" y="3665"/>
                    <a:chExt cx="50" cy="23"/>
                  </a:xfrm>
                </p:grpSpPr>
                <p:sp>
                  <p:nvSpPr>
                    <p:cNvPr id="2125"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6"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7"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09" name="Group 2372"/>
                  <p:cNvGrpSpPr>
                    <a:grpSpLocks/>
                  </p:cNvGrpSpPr>
                  <p:nvPr/>
                </p:nvGrpSpPr>
                <p:grpSpPr bwMode="auto">
                  <a:xfrm>
                    <a:off x="873" y="3678"/>
                    <a:ext cx="49" cy="23"/>
                    <a:chOff x="873" y="3678"/>
                    <a:chExt cx="49" cy="23"/>
                  </a:xfrm>
                </p:grpSpPr>
                <p:sp>
                  <p:nvSpPr>
                    <p:cNvPr id="2122"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3"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4"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0" name="Group 2376"/>
                  <p:cNvGrpSpPr>
                    <a:grpSpLocks/>
                  </p:cNvGrpSpPr>
                  <p:nvPr/>
                </p:nvGrpSpPr>
                <p:grpSpPr bwMode="auto">
                  <a:xfrm>
                    <a:off x="886" y="3690"/>
                    <a:ext cx="49" cy="23"/>
                    <a:chOff x="886" y="3690"/>
                    <a:chExt cx="49" cy="23"/>
                  </a:xfrm>
                </p:grpSpPr>
                <p:sp>
                  <p:nvSpPr>
                    <p:cNvPr id="2119"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0"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1"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1" name="Group 2380"/>
                  <p:cNvGrpSpPr>
                    <a:grpSpLocks/>
                  </p:cNvGrpSpPr>
                  <p:nvPr/>
                </p:nvGrpSpPr>
                <p:grpSpPr bwMode="auto">
                  <a:xfrm>
                    <a:off x="899" y="3703"/>
                    <a:ext cx="48" cy="23"/>
                    <a:chOff x="899" y="3703"/>
                    <a:chExt cx="48" cy="23"/>
                  </a:xfrm>
                </p:grpSpPr>
                <p:sp>
                  <p:nvSpPr>
                    <p:cNvPr id="2116"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7"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8"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2" name="Group 2384"/>
                  <p:cNvGrpSpPr>
                    <a:grpSpLocks/>
                  </p:cNvGrpSpPr>
                  <p:nvPr/>
                </p:nvGrpSpPr>
                <p:grpSpPr bwMode="auto">
                  <a:xfrm>
                    <a:off x="912" y="3716"/>
                    <a:ext cx="48" cy="23"/>
                    <a:chOff x="912" y="3716"/>
                    <a:chExt cx="48" cy="23"/>
                  </a:xfrm>
                </p:grpSpPr>
                <p:sp>
                  <p:nvSpPr>
                    <p:cNvPr id="2113"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4"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5"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2" name="Group 2388"/>
                <p:cNvGrpSpPr>
                  <a:grpSpLocks/>
                </p:cNvGrpSpPr>
                <p:nvPr/>
              </p:nvGrpSpPr>
              <p:grpSpPr bwMode="auto">
                <a:xfrm>
                  <a:off x="922" y="3727"/>
                  <a:ext cx="49" cy="23"/>
                  <a:chOff x="922" y="3727"/>
                  <a:chExt cx="49" cy="23"/>
                </a:xfrm>
              </p:grpSpPr>
              <p:sp>
                <p:nvSpPr>
                  <p:cNvPr id="2105"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6"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7"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3" name="Group 2392"/>
                <p:cNvGrpSpPr>
                  <a:grpSpLocks/>
                </p:cNvGrpSpPr>
                <p:nvPr/>
              </p:nvGrpSpPr>
              <p:grpSpPr bwMode="auto">
                <a:xfrm>
                  <a:off x="895" y="3526"/>
                  <a:ext cx="44" cy="23"/>
                  <a:chOff x="895" y="3526"/>
                  <a:chExt cx="44" cy="23"/>
                </a:xfrm>
              </p:grpSpPr>
              <p:sp>
                <p:nvSpPr>
                  <p:cNvPr id="2102"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3"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4"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4" name="Group 2396"/>
                <p:cNvGrpSpPr>
                  <a:grpSpLocks/>
                </p:cNvGrpSpPr>
                <p:nvPr/>
              </p:nvGrpSpPr>
              <p:grpSpPr bwMode="auto">
                <a:xfrm>
                  <a:off x="907" y="3540"/>
                  <a:ext cx="45" cy="22"/>
                  <a:chOff x="907" y="3540"/>
                  <a:chExt cx="45" cy="22"/>
                </a:xfrm>
              </p:grpSpPr>
              <p:sp>
                <p:nvSpPr>
                  <p:cNvPr id="2099"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0"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1"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5" name="Group 2400"/>
                <p:cNvGrpSpPr>
                  <a:grpSpLocks/>
                </p:cNvGrpSpPr>
                <p:nvPr/>
              </p:nvGrpSpPr>
              <p:grpSpPr bwMode="auto">
                <a:xfrm>
                  <a:off x="920" y="3553"/>
                  <a:ext cx="45" cy="23"/>
                  <a:chOff x="920" y="3553"/>
                  <a:chExt cx="45" cy="23"/>
                </a:xfrm>
              </p:grpSpPr>
              <p:sp>
                <p:nvSpPr>
                  <p:cNvPr id="2096"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7"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8"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6" name="Group 2404"/>
                <p:cNvGrpSpPr>
                  <a:grpSpLocks/>
                </p:cNvGrpSpPr>
                <p:nvPr/>
              </p:nvGrpSpPr>
              <p:grpSpPr bwMode="auto">
                <a:xfrm>
                  <a:off x="934" y="3566"/>
                  <a:ext cx="44" cy="23"/>
                  <a:chOff x="934" y="3566"/>
                  <a:chExt cx="44" cy="23"/>
                </a:xfrm>
              </p:grpSpPr>
              <p:sp>
                <p:nvSpPr>
                  <p:cNvPr id="2093"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4"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5"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7" name="Group 2408"/>
                <p:cNvGrpSpPr>
                  <a:grpSpLocks/>
                </p:cNvGrpSpPr>
                <p:nvPr/>
              </p:nvGrpSpPr>
              <p:grpSpPr bwMode="auto">
                <a:xfrm>
                  <a:off x="949" y="3579"/>
                  <a:ext cx="83" cy="63"/>
                  <a:chOff x="949" y="3579"/>
                  <a:chExt cx="83" cy="63"/>
                </a:xfrm>
              </p:grpSpPr>
              <p:grpSp>
                <p:nvGrpSpPr>
                  <p:cNvPr id="2077" name="Group 2409"/>
                  <p:cNvGrpSpPr>
                    <a:grpSpLocks/>
                  </p:cNvGrpSpPr>
                  <p:nvPr/>
                </p:nvGrpSpPr>
                <p:grpSpPr bwMode="auto">
                  <a:xfrm>
                    <a:off x="949" y="3579"/>
                    <a:ext cx="44" cy="23"/>
                    <a:chOff x="949" y="3579"/>
                    <a:chExt cx="44" cy="23"/>
                  </a:xfrm>
                </p:grpSpPr>
                <p:sp>
                  <p:nvSpPr>
                    <p:cNvPr id="2090"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1"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2"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8" name="Group 2413"/>
                  <p:cNvGrpSpPr>
                    <a:grpSpLocks/>
                  </p:cNvGrpSpPr>
                  <p:nvPr/>
                </p:nvGrpSpPr>
                <p:grpSpPr bwMode="auto">
                  <a:xfrm>
                    <a:off x="961" y="3592"/>
                    <a:ext cx="45" cy="23"/>
                    <a:chOff x="961" y="3592"/>
                    <a:chExt cx="45" cy="23"/>
                  </a:xfrm>
                </p:grpSpPr>
                <p:sp>
                  <p:nvSpPr>
                    <p:cNvPr id="2087"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8"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9"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9" name="Group 2417"/>
                  <p:cNvGrpSpPr>
                    <a:grpSpLocks/>
                  </p:cNvGrpSpPr>
                  <p:nvPr/>
                </p:nvGrpSpPr>
                <p:grpSpPr bwMode="auto">
                  <a:xfrm>
                    <a:off x="974" y="3606"/>
                    <a:ext cx="44" cy="23"/>
                    <a:chOff x="974" y="3606"/>
                    <a:chExt cx="44" cy="23"/>
                  </a:xfrm>
                </p:grpSpPr>
                <p:sp>
                  <p:nvSpPr>
                    <p:cNvPr id="2084"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5"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6"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80" name="Group 2421"/>
                  <p:cNvGrpSpPr>
                    <a:grpSpLocks/>
                  </p:cNvGrpSpPr>
                  <p:nvPr/>
                </p:nvGrpSpPr>
                <p:grpSpPr bwMode="auto">
                  <a:xfrm>
                    <a:off x="987" y="3619"/>
                    <a:ext cx="45" cy="23"/>
                    <a:chOff x="987" y="3619"/>
                    <a:chExt cx="45" cy="23"/>
                  </a:xfrm>
                </p:grpSpPr>
                <p:sp>
                  <p:nvSpPr>
                    <p:cNvPr id="2081"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2"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3"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8" name="Group 2425"/>
                <p:cNvGrpSpPr>
                  <a:grpSpLocks/>
                </p:cNvGrpSpPr>
                <p:nvPr/>
              </p:nvGrpSpPr>
              <p:grpSpPr bwMode="auto">
                <a:xfrm>
                  <a:off x="1002" y="3632"/>
                  <a:ext cx="83" cy="63"/>
                  <a:chOff x="1002" y="3632"/>
                  <a:chExt cx="83" cy="63"/>
                </a:xfrm>
              </p:grpSpPr>
              <p:grpSp>
                <p:nvGrpSpPr>
                  <p:cNvPr id="2061" name="Group 2426"/>
                  <p:cNvGrpSpPr>
                    <a:grpSpLocks/>
                  </p:cNvGrpSpPr>
                  <p:nvPr/>
                </p:nvGrpSpPr>
                <p:grpSpPr bwMode="auto">
                  <a:xfrm>
                    <a:off x="1002" y="3632"/>
                    <a:ext cx="44" cy="22"/>
                    <a:chOff x="1002" y="3632"/>
                    <a:chExt cx="44" cy="22"/>
                  </a:xfrm>
                </p:grpSpPr>
                <p:sp>
                  <p:nvSpPr>
                    <p:cNvPr id="2074"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5"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6"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2" name="Group 2430"/>
                  <p:cNvGrpSpPr>
                    <a:grpSpLocks/>
                  </p:cNvGrpSpPr>
                  <p:nvPr/>
                </p:nvGrpSpPr>
                <p:grpSpPr bwMode="auto">
                  <a:xfrm>
                    <a:off x="1014" y="3645"/>
                    <a:ext cx="44" cy="23"/>
                    <a:chOff x="1014" y="3645"/>
                    <a:chExt cx="44" cy="23"/>
                  </a:xfrm>
                </p:grpSpPr>
                <p:sp>
                  <p:nvSpPr>
                    <p:cNvPr id="2071"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2"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3"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3" name="Group 2434"/>
                  <p:cNvGrpSpPr>
                    <a:grpSpLocks/>
                  </p:cNvGrpSpPr>
                  <p:nvPr/>
                </p:nvGrpSpPr>
                <p:grpSpPr bwMode="auto">
                  <a:xfrm>
                    <a:off x="1027" y="3659"/>
                    <a:ext cx="45" cy="23"/>
                    <a:chOff x="1027" y="3659"/>
                    <a:chExt cx="45" cy="23"/>
                  </a:xfrm>
                </p:grpSpPr>
                <p:sp>
                  <p:nvSpPr>
                    <p:cNvPr id="2068"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9"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0"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4" name="Group 2438"/>
                  <p:cNvGrpSpPr>
                    <a:grpSpLocks/>
                  </p:cNvGrpSpPr>
                  <p:nvPr/>
                </p:nvGrpSpPr>
                <p:grpSpPr bwMode="auto">
                  <a:xfrm>
                    <a:off x="1040" y="3672"/>
                    <a:ext cx="45" cy="23"/>
                    <a:chOff x="1040" y="3672"/>
                    <a:chExt cx="45" cy="23"/>
                  </a:xfrm>
                </p:grpSpPr>
                <p:sp>
                  <p:nvSpPr>
                    <p:cNvPr id="2065"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6"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7"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9" name="Group 2442"/>
                <p:cNvGrpSpPr>
                  <a:grpSpLocks/>
                </p:cNvGrpSpPr>
                <p:nvPr/>
              </p:nvGrpSpPr>
              <p:grpSpPr bwMode="auto">
                <a:xfrm>
                  <a:off x="1054" y="3685"/>
                  <a:ext cx="45" cy="23"/>
                  <a:chOff x="1054" y="3685"/>
                  <a:chExt cx="45" cy="23"/>
                </a:xfrm>
              </p:grpSpPr>
              <p:sp>
                <p:nvSpPr>
                  <p:cNvPr id="2058"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9"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0"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0" name="Group 2446"/>
                <p:cNvGrpSpPr>
                  <a:grpSpLocks/>
                </p:cNvGrpSpPr>
                <p:nvPr/>
              </p:nvGrpSpPr>
              <p:grpSpPr bwMode="auto">
                <a:xfrm>
                  <a:off x="1067" y="3698"/>
                  <a:ext cx="45" cy="23"/>
                  <a:chOff x="1067" y="3698"/>
                  <a:chExt cx="45" cy="23"/>
                </a:xfrm>
              </p:grpSpPr>
              <p:sp>
                <p:nvSpPr>
                  <p:cNvPr id="2055"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6"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7"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1" name="Group 2450"/>
                <p:cNvGrpSpPr>
                  <a:grpSpLocks/>
                </p:cNvGrpSpPr>
                <p:nvPr/>
              </p:nvGrpSpPr>
              <p:grpSpPr bwMode="auto">
                <a:xfrm>
                  <a:off x="1079" y="3712"/>
                  <a:ext cx="44" cy="23"/>
                  <a:chOff x="1079" y="3712"/>
                  <a:chExt cx="44" cy="23"/>
                </a:xfrm>
              </p:grpSpPr>
              <p:sp>
                <p:nvSpPr>
                  <p:cNvPr id="2052"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3"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4"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2" name="Group 2454"/>
                <p:cNvGrpSpPr>
                  <a:grpSpLocks/>
                </p:cNvGrpSpPr>
                <p:nvPr/>
              </p:nvGrpSpPr>
              <p:grpSpPr bwMode="auto">
                <a:xfrm>
                  <a:off x="1093" y="3725"/>
                  <a:ext cx="45" cy="23"/>
                  <a:chOff x="1093" y="3725"/>
                  <a:chExt cx="45" cy="23"/>
                </a:xfrm>
              </p:grpSpPr>
              <p:sp>
                <p:nvSpPr>
                  <p:cNvPr id="2049"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0"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1"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3" name="Group 2458"/>
                <p:cNvGrpSpPr>
                  <a:grpSpLocks/>
                </p:cNvGrpSpPr>
                <p:nvPr/>
              </p:nvGrpSpPr>
              <p:grpSpPr bwMode="auto">
                <a:xfrm>
                  <a:off x="1108" y="3739"/>
                  <a:ext cx="44" cy="23"/>
                  <a:chOff x="1108" y="3739"/>
                  <a:chExt cx="44" cy="23"/>
                </a:xfrm>
              </p:grpSpPr>
              <p:sp>
                <p:nvSpPr>
                  <p:cNvPr id="2046"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7"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8"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4" name="Group 2462"/>
                <p:cNvGrpSpPr>
                  <a:grpSpLocks/>
                </p:cNvGrpSpPr>
                <p:nvPr/>
              </p:nvGrpSpPr>
              <p:grpSpPr bwMode="auto">
                <a:xfrm>
                  <a:off x="1121" y="3753"/>
                  <a:ext cx="45" cy="23"/>
                  <a:chOff x="1121" y="3753"/>
                  <a:chExt cx="45" cy="23"/>
                </a:xfrm>
              </p:grpSpPr>
              <p:sp>
                <p:nvSpPr>
                  <p:cNvPr id="2043"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4"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5"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5" name="Group 2466"/>
                <p:cNvGrpSpPr>
                  <a:grpSpLocks/>
                </p:cNvGrpSpPr>
                <p:nvPr/>
              </p:nvGrpSpPr>
              <p:grpSpPr bwMode="auto">
                <a:xfrm>
                  <a:off x="1133" y="3767"/>
                  <a:ext cx="44" cy="23"/>
                  <a:chOff x="1133" y="3767"/>
                  <a:chExt cx="44" cy="23"/>
                </a:xfrm>
              </p:grpSpPr>
              <p:sp>
                <p:nvSpPr>
                  <p:cNvPr id="2040"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1"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2"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86"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7"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8"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9"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0"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1"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2"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3"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4"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5"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6"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97" name="Group 2481"/>
                <p:cNvGrpSpPr>
                  <a:grpSpLocks/>
                </p:cNvGrpSpPr>
                <p:nvPr/>
              </p:nvGrpSpPr>
              <p:grpSpPr bwMode="auto">
                <a:xfrm>
                  <a:off x="700" y="3535"/>
                  <a:ext cx="49" cy="24"/>
                  <a:chOff x="700" y="3535"/>
                  <a:chExt cx="49" cy="24"/>
                </a:xfrm>
              </p:grpSpPr>
              <p:sp>
                <p:nvSpPr>
                  <p:cNvPr id="2037"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8"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9"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8" name="Group 2485"/>
                <p:cNvGrpSpPr>
                  <a:grpSpLocks/>
                </p:cNvGrpSpPr>
                <p:nvPr/>
              </p:nvGrpSpPr>
              <p:grpSpPr bwMode="auto">
                <a:xfrm>
                  <a:off x="714" y="3551"/>
                  <a:ext cx="49" cy="22"/>
                  <a:chOff x="714" y="3551"/>
                  <a:chExt cx="49" cy="22"/>
                </a:xfrm>
              </p:grpSpPr>
              <p:sp>
                <p:nvSpPr>
                  <p:cNvPr id="2034"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5"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6"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9" name="Group 2489"/>
                <p:cNvGrpSpPr>
                  <a:grpSpLocks/>
                </p:cNvGrpSpPr>
                <p:nvPr/>
              </p:nvGrpSpPr>
              <p:grpSpPr bwMode="auto">
                <a:xfrm>
                  <a:off x="728" y="3564"/>
                  <a:ext cx="48" cy="23"/>
                  <a:chOff x="728" y="3564"/>
                  <a:chExt cx="48" cy="23"/>
                </a:xfrm>
              </p:grpSpPr>
              <p:sp>
                <p:nvSpPr>
                  <p:cNvPr id="2031"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2"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3"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0" name="Group 2493"/>
                <p:cNvGrpSpPr>
                  <a:grpSpLocks/>
                </p:cNvGrpSpPr>
                <p:nvPr/>
              </p:nvGrpSpPr>
              <p:grpSpPr bwMode="auto">
                <a:xfrm>
                  <a:off x="742" y="3582"/>
                  <a:ext cx="49" cy="23"/>
                  <a:chOff x="742" y="3582"/>
                  <a:chExt cx="49" cy="23"/>
                </a:xfrm>
              </p:grpSpPr>
              <p:sp>
                <p:nvSpPr>
                  <p:cNvPr id="2028"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9"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0"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1" name="Group 2497"/>
                <p:cNvGrpSpPr>
                  <a:grpSpLocks/>
                </p:cNvGrpSpPr>
                <p:nvPr/>
              </p:nvGrpSpPr>
              <p:grpSpPr bwMode="auto">
                <a:xfrm>
                  <a:off x="752" y="3597"/>
                  <a:ext cx="133" cy="106"/>
                  <a:chOff x="752" y="3597"/>
                  <a:chExt cx="133" cy="106"/>
                </a:xfrm>
              </p:grpSpPr>
              <p:sp>
                <p:nvSpPr>
                  <p:cNvPr id="2025"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6"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7"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2" name="Group 2501"/>
                <p:cNvGrpSpPr>
                  <a:grpSpLocks/>
                </p:cNvGrpSpPr>
                <p:nvPr/>
              </p:nvGrpSpPr>
              <p:grpSpPr bwMode="auto">
                <a:xfrm>
                  <a:off x="844" y="3694"/>
                  <a:ext cx="48" cy="23"/>
                  <a:chOff x="844" y="3694"/>
                  <a:chExt cx="48" cy="23"/>
                </a:xfrm>
              </p:grpSpPr>
              <p:sp>
                <p:nvSpPr>
                  <p:cNvPr id="2022"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3"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4"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3" name="Group 2505"/>
                <p:cNvGrpSpPr>
                  <a:grpSpLocks/>
                </p:cNvGrpSpPr>
                <p:nvPr/>
              </p:nvGrpSpPr>
              <p:grpSpPr bwMode="auto">
                <a:xfrm>
                  <a:off x="857" y="3710"/>
                  <a:ext cx="49" cy="22"/>
                  <a:chOff x="857" y="3710"/>
                  <a:chExt cx="49" cy="22"/>
                </a:xfrm>
              </p:grpSpPr>
              <p:sp>
                <p:nvSpPr>
                  <p:cNvPr id="2019"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0"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1"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4" name="Group 2509"/>
                <p:cNvGrpSpPr>
                  <a:grpSpLocks/>
                </p:cNvGrpSpPr>
                <p:nvPr/>
              </p:nvGrpSpPr>
              <p:grpSpPr bwMode="auto">
                <a:xfrm>
                  <a:off x="1086" y="3766"/>
                  <a:ext cx="49" cy="23"/>
                  <a:chOff x="1086" y="3766"/>
                  <a:chExt cx="49" cy="23"/>
                </a:xfrm>
              </p:grpSpPr>
              <p:sp>
                <p:nvSpPr>
                  <p:cNvPr id="2016"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7"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8"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5" name="Group 2513"/>
                <p:cNvGrpSpPr>
                  <a:grpSpLocks/>
                </p:cNvGrpSpPr>
                <p:nvPr/>
              </p:nvGrpSpPr>
              <p:grpSpPr bwMode="auto">
                <a:xfrm>
                  <a:off x="934" y="3740"/>
                  <a:ext cx="48" cy="23"/>
                  <a:chOff x="934" y="3740"/>
                  <a:chExt cx="48" cy="23"/>
                </a:xfrm>
              </p:grpSpPr>
              <p:sp>
                <p:nvSpPr>
                  <p:cNvPr id="2013"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4"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5"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6" name="Group 2517"/>
                <p:cNvGrpSpPr>
                  <a:grpSpLocks/>
                </p:cNvGrpSpPr>
                <p:nvPr/>
              </p:nvGrpSpPr>
              <p:grpSpPr bwMode="auto">
                <a:xfrm>
                  <a:off x="943" y="3754"/>
                  <a:ext cx="49" cy="23"/>
                  <a:chOff x="943" y="3754"/>
                  <a:chExt cx="49" cy="23"/>
                </a:xfrm>
              </p:grpSpPr>
              <p:sp>
                <p:nvSpPr>
                  <p:cNvPr id="2010"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1"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2"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007"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8"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9"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04" name="Group 2524"/>
              <p:cNvGrpSpPr>
                <a:grpSpLocks/>
              </p:cNvGrpSpPr>
              <p:nvPr/>
            </p:nvGrpSpPr>
            <p:grpSpPr bwMode="auto">
              <a:xfrm>
                <a:off x="920" y="3821"/>
                <a:ext cx="413" cy="50"/>
                <a:chOff x="920" y="3821"/>
                <a:chExt cx="413" cy="50"/>
              </a:xfrm>
            </p:grpSpPr>
            <p:sp>
              <p:nvSpPr>
                <p:cNvPr id="1925"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6"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7"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8"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905" name="Group 2529"/>
              <p:cNvGrpSpPr>
                <a:grpSpLocks/>
              </p:cNvGrpSpPr>
              <p:nvPr/>
            </p:nvGrpSpPr>
            <p:grpSpPr bwMode="auto">
              <a:xfrm>
                <a:off x="1227" y="3477"/>
                <a:ext cx="508" cy="321"/>
                <a:chOff x="1227" y="3477"/>
                <a:chExt cx="508" cy="321"/>
              </a:xfrm>
            </p:grpSpPr>
            <p:sp>
              <p:nvSpPr>
                <p:cNvPr id="1906"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7"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8"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9"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0"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1"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2"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3"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4"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5"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6"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7"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8"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9"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0"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1"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2"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3"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4"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343" name="Group 2096"/>
            <p:cNvGrpSpPr>
              <a:grpSpLocks/>
            </p:cNvGrpSpPr>
            <p:nvPr/>
          </p:nvGrpSpPr>
          <p:grpSpPr bwMode="auto">
            <a:xfrm>
              <a:off x="5003800" y="333375"/>
              <a:ext cx="431800" cy="328613"/>
              <a:chOff x="624" y="2968"/>
              <a:chExt cx="1331" cy="920"/>
            </a:xfrm>
          </p:grpSpPr>
          <p:sp>
            <p:nvSpPr>
              <p:cNvPr id="2344"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5"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6"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7"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8"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9"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0"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1"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2"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3"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4"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5"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56" name="Group 2109"/>
              <p:cNvGrpSpPr>
                <a:grpSpLocks/>
              </p:cNvGrpSpPr>
              <p:nvPr/>
            </p:nvGrpSpPr>
            <p:grpSpPr bwMode="auto">
              <a:xfrm>
                <a:off x="700" y="3526"/>
                <a:ext cx="515" cy="270"/>
                <a:chOff x="700" y="3526"/>
                <a:chExt cx="515" cy="270"/>
              </a:xfrm>
            </p:grpSpPr>
            <p:grpSp>
              <p:nvGrpSpPr>
                <p:cNvPr id="2382" name="Group 2110"/>
                <p:cNvGrpSpPr>
                  <a:grpSpLocks/>
                </p:cNvGrpSpPr>
                <p:nvPr/>
              </p:nvGrpSpPr>
              <p:grpSpPr bwMode="auto">
                <a:xfrm>
                  <a:off x="737" y="3534"/>
                  <a:ext cx="49" cy="23"/>
                  <a:chOff x="737" y="3534"/>
                  <a:chExt cx="49" cy="23"/>
                </a:xfrm>
              </p:grpSpPr>
              <p:sp>
                <p:nvSpPr>
                  <p:cNvPr id="27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3" name="Group 2114"/>
                <p:cNvGrpSpPr>
                  <a:grpSpLocks/>
                </p:cNvGrpSpPr>
                <p:nvPr/>
              </p:nvGrpSpPr>
              <p:grpSpPr bwMode="auto">
                <a:xfrm>
                  <a:off x="748" y="3547"/>
                  <a:ext cx="50" cy="23"/>
                  <a:chOff x="748" y="3547"/>
                  <a:chExt cx="50" cy="23"/>
                </a:xfrm>
              </p:grpSpPr>
              <p:sp>
                <p:nvSpPr>
                  <p:cNvPr id="27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84"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5"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6"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7"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88" name="Group 2122"/>
                <p:cNvGrpSpPr>
                  <a:grpSpLocks/>
                </p:cNvGrpSpPr>
                <p:nvPr/>
              </p:nvGrpSpPr>
              <p:grpSpPr bwMode="auto">
                <a:xfrm>
                  <a:off x="872" y="3547"/>
                  <a:ext cx="50" cy="23"/>
                  <a:chOff x="872" y="3547"/>
                  <a:chExt cx="50" cy="23"/>
                </a:xfrm>
              </p:grpSpPr>
              <p:sp>
                <p:nvSpPr>
                  <p:cNvPr id="27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9" name="Group 2126"/>
                <p:cNvGrpSpPr>
                  <a:grpSpLocks/>
                </p:cNvGrpSpPr>
                <p:nvPr/>
              </p:nvGrpSpPr>
              <p:grpSpPr bwMode="auto">
                <a:xfrm>
                  <a:off x="885" y="3559"/>
                  <a:ext cx="50" cy="23"/>
                  <a:chOff x="885" y="3559"/>
                  <a:chExt cx="50" cy="23"/>
                </a:xfrm>
              </p:grpSpPr>
              <p:sp>
                <p:nvSpPr>
                  <p:cNvPr id="27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0" name="Group 2130"/>
                <p:cNvGrpSpPr>
                  <a:grpSpLocks/>
                </p:cNvGrpSpPr>
                <p:nvPr/>
              </p:nvGrpSpPr>
              <p:grpSpPr bwMode="auto">
                <a:xfrm>
                  <a:off x="898" y="3571"/>
                  <a:ext cx="49" cy="23"/>
                  <a:chOff x="898" y="3571"/>
                  <a:chExt cx="49" cy="23"/>
                </a:xfrm>
              </p:grpSpPr>
              <p:sp>
                <p:nvSpPr>
                  <p:cNvPr id="27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1" name="Group 2134"/>
                <p:cNvGrpSpPr>
                  <a:grpSpLocks/>
                </p:cNvGrpSpPr>
                <p:nvPr/>
              </p:nvGrpSpPr>
              <p:grpSpPr bwMode="auto">
                <a:xfrm>
                  <a:off x="911" y="3585"/>
                  <a:ext cx="49" cy="23"/>
                  <a:chOff x="911" y="3585"/>
                  <a:chExt cx="49" cy="23"/>
                </a:xfrm>
              </p:grpSpPr>
              <p:sp>
                <p:nvSpPr>
                  <p:cNvPr id="27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2" name="Group 2138"/>
                <p:cNvGrpSpPr>
                  <a:grpSpLocks/>
                </p:cNvGrpSpPr>
                <p:nvPr/>
              </p:nvGrpSpPr>
              <p:grpSpPr bwMode="auto">
                <a:xfrm>
                  <a:off x="923" y="3600"/>
                  <a:ext cx="99" cy="73"/>
                  <a:chOff x="923" y="3600"/>
                  <a:chExt cx="99" cy="73"/>
                </a:xfrm>
              </p:grpSpPr>
              <p:grpSp>
                <p:nvGrpSpPr>
                  <p:cNvPr id="2763" name="Group 2139"/>
                  <p:cNvGrpSpPr>
                    <a:grpSpLocks/>
                  </p:cNvGrpSpPr>
                  <p:nvPr/>
                </p:nvGrpSpPr>
                <p:grpSpPr bwMode="auto">
                  <a:xfrm>
                    <a:off x="923" y="3600"/>
                    <a:ext cx="49" cy="23"/>
                    <a:chOff x="923" y="3600"/>
                    <a:chExt cx="49" cy="23"/>
                  </a:xfrm>
                </p:grpSpPr>
                <p:sp>
                  <p:nvSpPr>
                    <p:cNvPr id="27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4" name="Group 2143"/>
                  <p:cNvGrpSpPr>
                    <a:grpSpLocks/>
                  </p:cNvGrpSpPr>
                  <p:nvPr/>
                </p:nvGrpSpPr>
                <p:grpSpPr bwMode="auto">
                  <a:xfrm>
                    <a:off x="935" y="3612"/>
                    <a:ext cx="48" cy="23"/>
                    <a:chOff x="935" y="3612"/>
                    <a:chExt cx="48" cy="23"/>
                  </a:xfrm>
                </p:grpSpPr>
                <p:sp>
                  <p:nvSpPr>
                    <p:cNvPr id="27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5" name="Group 2147"/>
                  <p:cNvGrpSpPr>
                    <a:grpSpLocks/>
                  </p:cNvGrpSpPr>
                  <p:nvPr/>
                </p:nvGrpSpPr>
                <p:grpSpPr bwMode="auto">
                  <a:xfrm>
                    <a:off x="947" y="3625"/>
                    <a:ext cx="50" cy="22"/>
                    <a:chOff x="947" y="3625"/>
                    <a:chExt cx="50" cy="22"/>
                  </a:xfrm>
                </p:grpSpPr>
                <p:sp>
                  <p:nvSpPr>
                    <p:cNvPr id="27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6" name="Group 2151"/>
                  <p:cNvGrpSpPr>
                    <a:grpSpLocks/>
                  </p:cNvGrpSpPr>
                  <p:nvPr/>
                </p:nvGrpSpPr>
                <p:grpSpPr bwMode="auto">
                  <a:xfrm>
                    <a:off x="960" y="3637"/>
                    <a:ext cx="50" cy="23"/>
                    <a:chOff x="960" y="3637"/>
                    <a:chExt cx="50" cy="23"/>
                  </a:xfrm>
                </p:grpSpPr>
                <p:sp>
                  <p:nvSpPr>
                    <p:cNvPr id="27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7" name="Group 2155"/>
                  <p:cNvGrpSpPr>
                    <a:grpSpLocks/>
                  </p:cNvGrpSpPr>
                  <p:nvPr/>
                </p:nvGrpSpPr>
                <p:grpSpPr bwMode="auto">
                  <a:xfrm>
                    <a:off x="973" y="3650"/>
                    <a:ext cx="49" cy="23"/>
                    <a:chOff x="973" y="3650"/>
                    <a:chExt cx="49" cy="23"/>
                  </a:xfrm>
                </p:grpSpPr>
                <p:sp>
                  <p:nvSpPr>
                    <p:cNvPr id="27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3" name="Group 2159"/>
                <p:cNvGrpSpPr>
                  <a:grpSpLocks/>
                </p:cNvGrpSpPr>
                <p:nvPr/>
              </p:nvGrpSpPr>
              <p:grpSpPr bwMode="auto">
                <a:xfrm>
                  <a:off x="985" y="3665"/>
                  <a:ext cx="100" cy="73"/>
                  <a:chOff x="985" y="3665"/>
                  <a:chExt cx="100" cy="73"/>
                </a:xfrm>
              </p:grpSpPr>
              <p:grpSp>
                <p:nvGrpSpPr>
                  <p:cNvPr id="2743" name="Group 2160"/>
                  <p:cNvGrpSpPr>
                    <a:grpSpLocks/>
                  </p:cNvGrpSpPr>
                  <p:nvPr/>
                </p:nvGrpSpPr>
                <p:grpSpPr bwMode="auto">
                  <a:xfrm>
                    <a:off x="985" y="3665"/>
                    <a:ext cx="50" cy="23"/>
                    <a:chOff x="985" y="3665"/>
                    <a:chExt cx="50" cy="23"/>
                  </a:xfrm>
                </p:grpSpPr>
                <p:sp>
                  <p:nvSpPr>
                    <p:cNvPr id="2760"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1"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4" name="Group 2164"/>
                  <p:cNvGrpSpPr>
                    <a:grpSpLocks/>
                  </p:cNvGrpSpPr>
                  <p:nvPr/>
                </p:nvGrpSpPr>
                <p:grpSpPr bwMode="auto">
                  <a:xfrm>
                    <a:off x="997" y="3677"/>
                    <a:ext cx="49" cy="23"/>
                    <a:chOff x="997" y="3677"/>
                    <a:chExt cx="49" cy="23"/>
                  </a:xfrm>
                </p:grpSpPr>
                <p:sp>
                  <p:nvSpPr>
                    <p:cNvPr id="2757"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8"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9"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5" name="Group 2168"/>
                  <p:cNvGrpSpPr>
                    <a:grpSpLocks/>
                  </p:cNvGrpSpPr>
                  <p:nvPr/>
                </p:nvGrpSpPr>
                <p:grpSpPr bwMode="auto">
                  <a:xfrm>
                    <a:off x="1010" y="3690"/>
                    <a:ext cx="48" cy="23"/>
                    <a:chOff x="1010" y="3690"/>
                    <a:chExt cx="48" cy="23"/>
                  </a:xfrm>
                </p:grpSpPr>
                <p:sp>
                  <p:nvSpPr>
                    <p:cNvPr id="2754"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5"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6"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6" name="Group 2172"/>
                  <p:cNvGrpSpPr>
                    <a:grpSpLocks/>
                  </p:cNvGrpSpPr>
                  <p:nvPr/>
                </p:nvGrpSpPr>
                <p:grpSpPr bwMode="auto">
                  <a:xfrm>
                    <a:off x="1023" y="3703"/>
                    <a:ext cx="49" cy="22"/>
                    <a:chOff x="1023" y="3703"/>
                    <a:chExt cx="49" cy="22"/>
                  </a:xfrm>
                </p:grpSpPr>
                <p:sp>
                  <p:nvSpPr>
                    <p:cNvPr id="2751"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2"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3"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7" name="Group 2176"/>
                  <p:cNvGrpSpPr>
                    <a:grpSpLocks/>
                  </p:cNvGrpSpPr>
                  <p:nvPr/>
                </p:nvGrpSpPr>
                <p:grpSpPr bwMode="auto">
                  <a:xfrm>
                    <a:off x="1036" y="3716"/>
                    <a:ext cx="49" cy="22"/>
                    <a:chOff x="1036" y="3716"/>
                    <a:chExt cx="49" cy="22"/>
                  </a:xfrm>
                </p:grpSpPr>
                <p:sp>
                  <p:nvSpPr>
                    <p:cNvPr id="2748"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9"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0"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4" name="Group 2180"/>
                <p:cNvGrpSpPr>
                  <a:grpSpLocks/>
                </p:cNvGrpSpPr>
                <p:nvPr/>
              </p:nvGrpSpPr>
              <p:grpSpPr bwMode="auto">
                <a:xfrm>
                  <a:off x="1046" y="3727"/>
                  <a:ext cx="49" cy="23"/>
                  <a:chOff x="1046" y="3727"/>
                  <a:chExt cx="49" cy="23"/>
                </a:xfrm>
              </p:grpSpPr>
              <p:sp>
                <p:nvSpPr>
                  <p:cNvPr id="2740"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1"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2"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5" name="Group 2184"/>
                <p:cNvGrpSpPr>
                  <a:grpSpLocks/>
                </p:cNvGrpSpPr>
                <p:nvPr/>
              </p:nvGrpSpPr>
              <p:grpSpPr bwMode="auto">
                <a:xfrm>
                  <a:off x="1058" y="3739"/>
                  <a:ext cx="50" cy="23"/>
                  <a:chOff x="1058" y="3739"/>
                  <a:chExt cx="50" cy="23"/>
                </a:xfrm>
              </p:grpSpPr>
              <p:sp>
                <p:nvSpPr>
                  <p:cNvPr id="2737"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8"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9"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6" name="Group 2188"/>
                <p:cNvGrpSpPr>
                  <a:grpSpLocks/>
                </p:cNvGrpSpPr>
                <p:nvPr/>
              </p:nvGrpSpPr>
              <p:grpSpPr bwMode="auto">
                <a:xfrm>
                  <a:off x="1072" y="3753"/>
                  <a:ext cx="48" cy="22"/>
                  <a:chOff x="1072" y="3753"/>
                  <a:chExt cx="48" cy="22"/>
                </a:xfrm>
              </p:grpSpPr>
              <p:sp>
                <p:nvSpPr>
                  <p:cNvPr id="2734"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5"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6"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97"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8"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9"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00" name="Group 2195"/>
                <p:cNvGrpSpPr>
                  <a:grpSpLocks/>
                </p:cNvGrpSpPr>
                <p:nvPr/>
              </p:nvGrpSpPr>
              <p:grpSpPr bwMode="auto">
                <a:xfrm>
                  <a:off x="832" y="3547"/>
                  <a:ext cx="49" cy="23"/>
                  <a:chOff x="832" y="3547"/>
                  <a:chExt cx="49" cy="23"/>
                </a:xfrm>
              </p:grpSpPr>
              <p:sp>
                <p:nvSpPr>
                  <p:cNvPr id="2726"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2"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3"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1" name="Group 2199"/>
                <p:cNvGrpSpPr>
                  <a:grpSpLocks/>
                </p:cNvGrpSpPr>
                <p:nvPr/>
              </p:nvGrpSpPr>
              <p:grpSpPr bwMode="auto">
                <a:xfrm>
                  <a:off x="844" y="3560"/>
                  <a:ext cx="49" cy="22"/>
                  <a:chOff x="844" y="3560"/>
                  <a:chExt cx="49" cy="22"/>
                </a:xfrm>
              </p:grpSpPr>
              <p:sp>
                <p:nvSpPr>
                  <p:cNvPr id="2723"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4"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5"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2" name="Group 2203"/>
                <p:cNvGrpSpPr>
                  <a:grpSpLocks/>
                </p:cNvGrpSpPr>
                <p:nvPr/>
              </p:nvGrpSpPr>
              <p:grpSpPr bwMode="auto">
                <a:xfrm>
                  <a:off x="857" y="3572"/>
                  <a:ext cx="50" cy="23"/>
                  <a:chOff x="857" y="3572"/>
                  <a:chExt cx="50" cy="23"/>
                </a:xfrm>
              </p:grpSpPr>
              <p:sp>
                <p:nvSpPr>
                  <p:cNvPr id="2720"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1"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2"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3" name="Group 2207"/>
                <p:cNvGrpSpPr>
                  <a:grpSpLocks/>
                </p:cNvGrpSpPr>
                <p:nvPr/>
              </p:nvGrpSpPr>
              <p:grpSpPr bwMode="auto">
                <a:xfrm>
                  <a:off x="870" y="3585"/>
                  <a:ext cx="48" cy="23"/>
                  <a:chOff x="870" y="3585"/>
                  <a:chExt cx="48" cy="23"/>
                </a:xfrm>
              </p:grpSpPr>
              <p:sp>
                <p:nvSpPr>
                  <p:cNvPr id="2717"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8"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9"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4" name="Group 2211"/>
                <p:cNvGrpSpPr>
                  <a:grpSpLocks/>
                </p:cNvGrpSpPr>
                <p:nvPr/>
              </p:nvGrpSpPr>
              <p:grpSpPr bwMode="auto">
                <a:xfrm>
                  <a:off x="882" y="3600"/>
                  <a:ext cx="100" cy="73"/>
                  <a:chOff x="882" y="3600"/>
                  <a:chExt cx="100" cy="73"/>
                </a:xfrm>
              </p:grpSpPr>
              <p:grpSp>
                <p:nvGrpSpPr>
                  <p:cNvPr id="2697" name="Group 2212"/>
                  <p:cNvGrpSpPr>
                    <a:grpSpLocks/>
                  </p:cNvGrpSpPr>
                  <p:nvPr/>
                </p:nvGrpSpPr>
                <p:grpSpPr bwMode="auto">
                  <a:xfrm>
                    <a:off x="882" y="3600"/>
                    <a:ext cx="49" cy="23"/>
                    <a:chOff x="882" y="3600"/>
                    <a:chExt cx="49" cy="23"/>
                  </a:xfrm>
                </p:grpSpPr>
                <p:sp>
                  <p:nvSpPr>
                    <p:cNvPr id="2714"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5"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6"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8" name="Group 2216"/>
                  <p:cNvGrpSpPr>
                    <a:grpSpLocks/>
                  </p:cNvGrpSpPr>
                  <p:nvPr/>
                </p:nvGrpSpPr>
                <p:grpSpPr bwMode="auto">
                  <a:xfrm>
                    <a:off x="894" y="3612"/>
                    <a:ext cx="49" cy="23"/>
                    <a:chOff x="894" y="3612"/>
                    <a:chExt cx="49" cy="23"/>
                  </a:xfrm>
                </p:grpSpPr>
                <p:sp>
                  <p:nvSpPr>
                    <p:cNvPr id="2711"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2"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3"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9" name="Group 2220"/>
                  <p:cNvGrpSpPr>
                    <a:grpSpLocks/>
                  </p:cNvGrpSpPr>
                  <p:nvPr/>
                </p:nvGrpSpPr>
                <p:grpSpPr bwMode="auto">
                  <a:xfrm>
                    <a:off x="907" y="3625"/>
                    <a:ext cx="49" cy="23"/>
                    <a:chOff x="907" y="3625"/>
                    <a:chExt cx="49" cy="23"/>
                  </a:xfrm>
                </p:grpSpPr>
                <p:sp>
                  <p:nvSpPr>
                    <p:cNvPr id="2708"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9"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0"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0" name="Group 2224"/>
                  <p:cNvGrpSpPr>
                    <a:grpSpLocks/>
                  </p:cNvGrpSpPr>
                  <p:nvPr/>
                </p:nvGrpSpPr>
                <p:grpSpPr bwMode="auto">
                  <a:xfrm>
                    <a:off x="919" y="3638"/>
                    <a:ext cx="49" cy="22"/>
                    <a:chOff x="919" y="3638"/>
                    <a:chExt cx="49" cy="22"/>
                  </a:xfrm>
                </p:grpSpPr>
                <p:sp>
                  <p:nvSpPr>
                    <p:cNvPr id="2705"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6"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7"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1" name="Group 2228"/>
                  <p:cNvGrpSpPr>
                    <a:grpSpLocks/>
                  </p:cNvGrpSpPr>
                  <p:nvPr/>
                </p:nvGrpSpPr>
                <p:grpSpPr bwMode="auto">
                  <a:xfrm>
                    <a:off x="932" y="3651"/>
                    <a:ext cx="50" cy="22"/>
                    <a:chOff x="932" y="3651"/>
                    <a:chExt cx="50" cy="22"/>
                  </a:xfrm>
                </p:grpSpPr>
                <p:sp>
                  <p:nvSpPr>
                    <p:cNvPr id="2702"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3"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4"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5" name="Group 2232"/>
                <p:cNvGrpSpPr>
                  <a:grpSpLocks/>
                </p:cNvGrpSpPr>
                <p:nvPr/>
              </p:nvGrpSpPr>
              <p:grpSpPr bwMode="auto">
                <a:xfrm>
                  <a:off x="944" y="3665"/>
                  <a:ext cx="99" cy="74"/>
                  <a:chOff x="944" y="3665"/>
                  <a:chExt cx="99" cy="74"/>
                </a:xfrm>
              </p:grpSpPr>
              <p:grpSp>
                <p:nvGrpSpPr>
                  <p:cNvPr id="2677" name="Group 2233"/>
                  <p:cNvGrpSpPr>
                    <a:grpSpLocks/>
                  </p:cNvGrpSpPr>
                  <p:nvPr/>
                </p:nvGrpSpPr>
                <p:grpSpPr bwMode="auto">
                  <a:xfrm>
                    <a:off x="944" y="3665"/>
                    <a:ext cx="49" cy="23"/>
                    <a:chOff x="944" y="3665"/>
                    <a:chExt cx="49" cy="23"/>
                  </a:xfrm>
                </p:grpSpPr>
                <p:sp>
                  <p:nvSpPr>
                    <p:cNvPr id="2694"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5"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6"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8" name="Group 2237"/>
                  <p:cNvGrpSpPr>
                    <a:grpSpLocks/>
                  </p:cNvGrpSpPr>
                  <p:nvPr/>
                </p:nvGrpSpPr>
                <p:grpSpPr bwMode="auto">
                  <a:xfrm>
                    <a:off x="957" y="3678"/>
                    <a:ext cx="48" cy="23"/>
                    <a:chOff x="957" y="3678"/>
                    <a:chExt cx="48" cy="23"/>
                  </a:xfrm>
                </p:grpSpPr>
                <p:sp>
                  <p:nvSpPr>
                    <p:cNvPr id="2691"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2"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3"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9" name="Group 2241"/>
                  <p:cNvGrpSpPr>
                    <a:grpSpLocks/>
                  </p:cNvGrpSpPr>
                  <p:nvPr/>
                </p:nvGrpSpPr>
                <p:grpSpPr bwMode="auto">
                  <a:xfrm>
                    <a:off x="969" y="3690"/>
                    <a:ext cx="49" cy="23"/>
                    <a:chOff x="969" y="3690"/>
                    <a:chExt cx="49" cy="23"/>
                  </a:xfrm>
                </p:grpSpPr>
                <p:sp>
                  <p:nvSpPr>
                    <p:cNvPr id="2688"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9"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0"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0" name="Group 2245"/>
                  <p:cNvGrpSpPr>
                    <a:grpSpLocks/>
                  </p:cNvGrpSpPr>
                  <p:nvPr/>
                </p:nvGrpSpPr>
                <p:grpSpPr bwMode="auto">
                  <a:xfrm>
                    <a:off x="982" y="3703"/>
                    <a:ext cx="49" cy="23"/>
                    <a:chOff x="982" y="3703"/>
                    <a:chExt cx="49" cy="23"/>
                  </a:xfrm>
                </p:grpSpPr>
                <p:sp>
                  <p:nvSpPr>
                    <p:cNvPr id="2685"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6"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7"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1" name="Group 2249"/>
                  <p:cNvGrpSpPr>
                    <a:grpSpLocks/>
                  </p:cNvGrpSpPr>
                  <p:nvPr/>
                </p:nvGrpSpPr>
                <p:grpSpPr bwMode="auto">
                  <a:xfrm>
                    <a:off x="995" y="3716"/>
                    <a:ext cx="48" cy="23"/>
                    <a:chOff x="995" y="3716"/>
                    <a:chExt cx="48" cy="23"/>
                  </a:xfrm>
                </p:grpSpPr>
                <p:sp>
                  <p:nvSpPr>
                    <p:cNvPr id="2682"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3"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4"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6" name="Group 2253"/>
                <p:cNvGrpSpPr>
                  <a:grpSpLocks/>
                </p:cNvGrpSpPr>
                <p:nvPr/>
              </p:nvGrpSpPr>
              <p:grpSpPr bwMode="auto">
                <a:xfrm>
                  <a:off x="1005" y="3727"/>
                  <a:ext cx="49" cy="23"/>
                  <a:chOff x="1005" y="3727"/>
                  <a:chExt cx="49" cy="23"/>
                </a:xfrm>
              </p:grpSpPr>
              <p:sp>
                <p:nvSpPr>
                  <p:cNvPr id="2674"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5"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6"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7" name="Group 2257"/>
                <p:cNvGrpSpPr>
                  <a:grpSpLocks/>
                </p:cNvGrpSpPr>
                <p:nvPr/>
              </p:nvGrpSpPr>
              <p:grpSpPr bwMode="auto">
                <a:xfrm>
                  <a:off x="1018" y="3740"/>
                  <a:ext cx="49" cy="22"/>
                  <a:chOff x="1018" y="3740"/>
                  <a:chExt cx="49" cy="22"/>
                </a:xfrm>
              </p:grpSpPr>
              <p:sp>
                <p:nvSpPr>
                  <p:cNvPr id="2671"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2"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3"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8" name="Group 2261"/>
                <p:cNvGrpSpPr>
                  <a:grpSpLocks/>
                </p:cNvGrpSpPr>
                <p:nvPr/>
              </p:nvGrpSpPr>
              <p:grpSpPr bwMode="auto">
                <a:xfrm>
                  <a:off x="1030" y="3753"/>
                  <a:ext cx="49" cy="23"/>
                  <a:chOff x="1030" y="3753"/>
                  <a:chExt cx="49" cy="23"/>
                </a:xfrm>
              </p:grpSpPr>
              <p:sp>
                <p:nvSpPr>
                  <p:cNvPr id="2668"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9"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0"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09"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0"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1"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12" name="Group 2268"/>
                <p:cNvGrpSpPr>
                  <a:grpSpLocks/>
                </p:cNvGrpSpPr>
                <p:nvPr/>
              </p:nvGrpSpPr>
              <p:grpSpPr bwMode="auto">
                <a:xfrm>
                  <a:off x="790" y="3547"/>
                  <a:ext cx="49" cy="23"/>
                  <a:chOff x="790" y="3547"/>
                  <a:chExt cx="49" cy="23"/>
                </a:xfrm>
              </p:grpSpPr>
              <p:sp>
                <p:nvSpPr>
                  <p:cNvPr id="2665"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6"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7"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3" name="Group 2272"/>
                <p:cNvGrpSpPr>
                  <a:grpSpLocks/>
                </p:cNvGrpSpPr>
                <p:nvPr/>
              </p:nvGrpSpPr>
              <p:grpSpPr bwMode="auto">
                <a:xfrm>
                  <a:off x="803" y="3560"/>
                  <a:ext cx="49" cy="22"/>
                  <a:chOff x="803" y="3560"/>
                  <a:chExt cx="49" cy="22"/>
                </a:xfrm>
              </p:grpSpPr>
              <p:sp>
                <p:nvSpPr>
                  <p:cNvPr id="2662"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3"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4"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4" name="Group 2276"/>
                <p:cNvGrpSpPr>
                  <a:grpSpLocks/>
                </p:cNvGrpSpPr>
                <p:nvPr/>
              </p:nvGrpSpPr>
              <p:grpSpPr bwMode="auto">
                <a:xfrm>
                  <a:off x="815" y="3572"/>
                  <a:ext cx="50" cy="23"/>
                  <a:chOff x="815" y="3572"/>
                  <a:chExt cx="50" cy="23"/>
                </a:xfrm>
              </p:grpSpPr>
              <p:sp>
                <p:nvSpPr>
                  <p:cNvPr id="2659"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0"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1"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5" name="Group 2280"/>
                <p:cNvGrpSpPr>
                  <a:grpSpLocks/>
                </p:cNvGrpSpPr>
                <p:nvPr/>
              </p:nvGrpSpPr>
              <p:grpSpPr bwMode="auto">
                <a:xfrm>
                  <a:off x="828" y="3585"/>
                  <a:ext cx="49" cy="23"/>
                  <a:chOff x="828" y="3585"/>
                  <a:chExt cx="49" cy="23"/>
                </a:xfrm>
              </p:grpSpPr>
              <p:sp>
                <p:nvSpPr>
                  <p:cNvPr id="2656"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7"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8"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6" name="Group 2284"/>
                <p:cNvGrpSpPr>
                  <a:grpSpLocks/>
                </p:cNvGrpSpPr>
                <p:nvPr/>
              </p:nvGrpSpPr>
              <p:grpSpPr bwMode="auto">
                <a:xfrm>
                  <a:off x="840" y="3600"/>
                  <a:ext cx="100" cy="73"/>
                  <a:chOff x="840" y="3600"/>
                  <a:chExt cx="100" cy="73"/>
                </a:xfrm>
              </p:grpSpPr>
              <p:grpSp>
                <p:nvGrpSpPr>
                  <p:cNvPr id="2636" name="Group 2285"/>
                  <p:cNvGrpSpPr>
                    <a:grpSpLocks/>
                  </p:cNvGrpSpPr>
                  <p:nvPr/>
                </p:nvGrpSpPr>
                <p:grpSpPr bwMode="auto">
                  <a:xfrm>
                    <a:off x="840" y="3600"/>
                    <a:ext cx="49" cy="23"/>
                    <a:chOff x="840" y="3600"/>
                    <a:chExt cx="49" cy="23"/>
                  </a:xfrm>
                </p:grpSpPr>
                <p:sp>
                  <p:nvSpPr>
                    <p:cNvPr id="2653"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4"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5"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7" name="Group 2289"/>
                  <p:cNvGrpSpPr>
                    <a:grpSpLocks/>
                  </p:cNvGrpSpPr>
                  <p:nvPr/>
                </p:nvGrpSpPr>
                <p:grpSpPr bwMode="auto">
                  <a:xfrm>
                    <a:off x="853" y="3612"/>
                    <a:ext cx="48" cy="23"/>
                    <a:chOff x="853" y="3612"/>
                    <a:chExt cx="48" cy="23"/>
                  </a:xfrm>
                </p:grpSpPr>
                <p:sp>
                  <p:nvSpPr>
                    <p:cNvPr id="2650"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1"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2"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8" name="Group 2293"/>
                  <p:cNvGrpSpPr>
                    <a:grpSpLocks/>
                  </p:cNvGrpSpPr>
                  <p:nvPr/>
                </p:nvGrpSpPr>
                <p:grpSpPr bwMode="auto">
                  <a:xfrm>
                    <a:off x="865" y="3625"/>
                    <a:ext cx="49" cy="23"/>
                    <a:chOff x="865" y="3625"/>
                    <a:chExt cx="49" cy="23"/>
                  </a:xfrm>
                </p:grpSpPr>
                <p:sp>
                  <p:nvSpPr>
                    <p:cNvPr id="2647"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8"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9"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9" name="Group 2297"/>
                  <p:cNvGrpSpPr>
                    <a:grpSpLocks/>
                  </p:cNvGrpSpPr>
                  <p:nvPr/>
                </p:nvGrpSpPr>
                <p:grpSpPr bwMode="auto">
                  <a:xfrm>
                    <a:off x="878" y="3638"/>
                    <a:ext cx="49" cy="22"/>
                    <a:chOff x="878" y="3638"/>
                    <a:chExt cx="49" cy="22"/>
                  </a:xfrm>
                </p:grpSpPr>
                <p:sp>
                  <p:nvSpPr>
                    <p:cNvPr id="2644"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5"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6"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40" name="Group 2301"/>
                  <p:cNvGrpSpPr>
                    <a:grpSpLocks/>
                  </p:cNvGrpSpPr>
                  <p:nvPr/>
                </p:nvGrpSpPr>
                <p:grpSpPr bwMode="auto">
                  <a:xfrm>
                    <a:off x="890" y="3651"/>
                    <a:ext cx="50" cy="22"/>
                    <a:chOff x="890" y="3651"/>
                    <a:chExt cx="50" cy="22"/>
                  </a:xfrm>
                </p:grpSpPr>
                <p:sp>
                  <p:nvSpPr>
                    <p:cNvPr id="2641"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2"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3"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7" name="Group 2305"/>
                <p:cNvGrpSpPr>
                  <a:grpSpLocks/>
                </p:cNvGrpSpPr>
                <p:nvPr/>
              </p:nvGrpSpPr>
              <p:grpSpPr bwMode="auto">
                <a:xfrm>
                  <a:off x="903" y="3665"/>
                  <a:ext cx="99" cy="74"/>
                  <a:chOff x="903" y="3665"/>
                  <a:chExt cx="99" cy="74"/>
                </a:xfrm>
              </p:grpSpPr>
              <p:grpSp>
                <p:nvGrpSpPr>
                  <p:cNvPr id="2616" name="Group 2306"/>
                  <p:cNvGrpSpPr>
                    <a:grpSpLocks/>
                  </p:cNvGrpSpPr>
                  <p:nvPr/>
                </p:nvGrpSpPr>
                <p:grpSpPr bwMode="auto">
                  <a:xfrm>
                    <a:off x="903" y="3665"/>
                    <a:ext cx="49" cy="23"/>
                    <a:chOff x="903" y="3665"/>
                    <a:chExt cx="49" cy="23"/>
                  </a:xfrm>
                </p:grpSpPr>
                <p:sp>
                  <p:nvSpPr>
                    <p:cNvPr id="2633"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4"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5"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7" name="Group 2310"/>
                  <p:cNvGrpSpPr>
                    <a:grpSpLocks/>
                  </p:cNvGrpSpPr>
                  <p:nvPr/>
                </p:nvGrpSpPr>
                <p:grpSpPr bwMode="auto">
                  <a:xfrm>
                    <a:off x="914" y="3678"/>
                    <a:ext cx="49" cy="23"/>
                    <a:chOff x="914" y="3678"/>
                    <a:chExt cx="49" cy="23"/>
                  </a:xfrm>
                </p:grpSpPr>
                <p:sp>
                  <p:nvSpPr>
                    <p:cNvPr id="2630"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1"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2"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8" name="Group 2314"/>
                  <p:cNvGrpSpPr>
                    <a:grpSpLocks/>
                  </p:cNvGrpSpPr>
                  <p:nvPr/>
                </p:nvGrpSpPr>
                <p:grpSpPr bwMode="auto">
                  <a:xfrm>
                    <a:off x="928" y="3690"/>
                    <a:ext cx="48" cy="23"/>
                    <a:chOff x="928" y="3690"/>
                    <a:chExt cx="48" cy="23"/>
                  </a:xfrm>
                </p:grpSpPr>
                <p:sp>
                  <p:nvSpPr>
                    <p:cNvPr id="2627"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8"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9"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9" name="Group 2318"/>
                  <p:cNvGrpSpPr>
                    <a:grpSpLocks/>
                  </p:cNvGrpSpPr>
                  <p:nvPr/>
                </p:nvGrpSpPr>
                <p:grpSpPr bwMode="auto">
                  <a:xfrm>
                    <a:off x="940" y="3703"/>
                    <a:ext cx="49" cy="23"/>
                    <a:chOff x="940" y="3703"/>
                    <a:chExt cx="49" cy="23"/>
                  </a:xfrm>
                </p:grpSpPr>
                <p:sp>
                  <p:nvSpPr>
                    <p:cNvPr id="2624"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5"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6"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20" name="Group 2322"/>
                  <p:cNvGrpSpPr>
                    <a:grpSpLocks/>
                  </p:cNvGrpSpPr>
                  <p:nvPr/>
                </p:nvGrpSpPr>
                <p:grpSpPr bwMode="auto">
                  <a:xfrm>
                    <a:off x="953" y="3716"/>
                    <a:ext cx="49" cy="23"/>
                    <a:chOff x="953" y="3716"/>
                    <a:chExt cx="49" cy="23"/>
                  </a:xfrm>
                </p:grpSpPr>
                <p:sp>
                  <p:nvSpPr>
                    <p:cNvPr id="2621"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2"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3"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8" name="Group 2326"/>
                <p:cNvGrpSpPr>
                  <a:grpSpLocks/>
                </p:cNvGrpSpPr>
                <p:nvPr/>
              </p:nvGrpSpPr>
              <p:grpSpPr bwMode="auto">
                <a:xfrm>
                  <a:off x="963" y="3727"/>
                  <a:ext cx="49" cy="23"/>
                  <a:chOff x="963" y="3727"/>
                  <a:chExt cx="49" cy="23"/>
                </a:xfrm>
              </p:grpSpPr>
              <p:sp>
                <p:nvSpPr>
                  <p:cNvPr id="2613"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4"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5"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9" name="Group 2330"/>
                <p:cNvGrpSpPr>
                  <a:grpSpLocks/>
                </p:cNvGrpSpPr>
                <p:nvPr/>
              </p:nvGrpSpPr>
              <p:grpSpPr bwMode="auto">
                <a:xfrm>
                  <a:off x="976" y="3740"/>
                  <a:ext cx="50" cy="22"/>
                  <a:chOff x="976" y="3740"/>
                  <a:chExt cx="50" cy="22"/>
                </a:xfrm>
              </p:grpSpPr>
              <p:sp>
                <p:nvSpPr>
                  <p:cNvPr id="2610"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1"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2"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0" name="Group 2334"/>
                <p:cNvGrpSpPr>
                  <a:grpSpLocks/>
                </p:cNvGrpSpPr>
                <p:nvPr/>
              </p:nvGrpSpPr>
              <p:grpSpPr bwMode="auto">
                <a:xfrm>
                  <a:off x="761" y="3560"/>
                  <a:ext cx="50" cy="22"/>
                  <a:chOff x="761" y="3560"/>
                  <a:chExt cx="50" cy="22"/>
                </a:xfrm>
              </p:grpSpPr>
              <p:sp>
                <p:nvSpPr>
                  <p:cNvPr id="2607"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8"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9"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1" name="Group 2338"/>
                <p:cNvGrpSpPr>
                  <a:grpSpLocks/>
                </p:cNvGrpSpPr>
                <p:nvPr/>
              </p:nvGrpSpPr>
              <p:grpSpPr bwMode="auto">
                <a:xfrm>
                  <a:off x="774" y="3572"/>
                  <a:ext cx="49" cy="23"/>
                  <a:chOff x="774" y="3572"/>
                  <a:chExt cx="49" cy="23"/>
                </a:xfrm>
              </p:grpSpPr>
              <p:sp>
                <p:nvSpPr>
                  <p:cNvPr id="2604"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5"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6"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2" name="Group 2342"/>
                <p:cNvGrpSpPr>
                  <a:grpSpLocks/>
                </p:cNvGrpSpPr>
                <p:nvPr/>
              </p:nvGrpSpPr>
              <p:grpSpPr bwMode="auto">
                <a:xfrm>
                  <a:off x="787" y="3585"/>
                  <a:ext cx="49" cy="23"/>
                  <a:chOff x="787" y="3585"/>
                  <a:chExt cx="49" cy="23"/>
                </a:xfrm>
              </p:grpSpPr>
              <p:sp>
                <p:nvSpPr>
                  <p:cNvPr id="2601"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2"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3"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3" name="Group 2346"/>
                <p:cNvGrpSpPr>
                  <a:grpSpLocks/>
                </p:cNvGrpSpPr>
                <p:nvPr/>
              </p:nvGrpSpPr>
              <p:grpSpPr bwMode="auto">
                <a:xfrm>
                  <a:off x="799" y="3600"/>
                  <a:ext cx="99" cy="73"/>
                  <a:chOff x="799" y="3600"/>
                  <a:chExt cx="99" cy="73"/>
                </a:xfrm>
              </p:grpSpPr>
              <p:grpSp>
                <p:nvGrpSpPr>
                  <p:cNvPr id="2581" name="Group 2347"/>
                  <p:cNvGrpSpPr>
                    <a:grpSpLocks/>
                  </p:cNvGrpSpPr>
                  <p:nvPr/>
                </p:nvGrpSpPr>
                <p:grpSpPr bwMode="auto">
                  <a:xfrm>
                    <a:off x="799" y="3600"/>
                    <a:ext cx="48" cy="23"/>
                    <a:chOff x="799" y="3600"/>
                    <a:chExt cx="48" cy="23"/>
                  </a:xfrm>
                </p:grpSpPr>
                <p:sp>
                  <p:nvSpPr>
                    <p:cNvPr id="2598"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9"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0"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2" name="Group 2351"/>
                  <p:cNvGrpSpPr>
                    <a:grpSpLocks/>
                  </p:cNvGrpSpPr>
                  <p:nvPr/>
                </p:nvGrpSpPr>
                <p:grpSpPr bwMode="auto">
                  <a:xfrm>
                    <a:off x="811" y="3612"/>
                    <a:ext cx="48" cy="23"/>
                    <a:chOff x="811" y="3612"/>
                    <a:chExt cx="48" cy="23"/>
                  </a:xfrm>
                </p:grpSpPr>
                <p:sp>
                  <p:nvSpPr>
                    <p:cNvPr id="2595"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6"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7"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3" name="Group 2355"/>
                  <p:cNvGrpSpPr>
                    <a:grpSpLocks/>
                  </p:cNvGrpSpPr>
                  <p:nvPr/>
                </p:nvGrpSpPr>
                <p:grpSpPr bwMode="auto">
                  <a:xfrm>
                    <a:off x="823" y="3625"/>
                    <a:ext cx="49" cy="23"/>
                    <a:chOff x="823" y="3625"/>
                    <a:chExt cx="49" cy="23"/>
                  </a:xfrm>
                </p:grpSpPr>
                <p:sp>
                  <p:nvSpPr>
                    <p:cNvPr id="2592"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3"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4"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4" name="Group 2359"/>
                  <p:cNvGrpSpPr>
                    <a:grpSpLocks/>
                  </p:cNvGrpSpPr>
                  <p:nvPr/>
                </p:nvGrpSpPr>
                <p:grpSpPr bwMode="auto">
                  <a:xfrm>
                    <a:off x="836" y="3638"/>
                    <a:ext cx="50" cy="22"/>
                    <a:chOff x="836" y="3638"/>
                    <a:chExt cx="50" cy="22"/>
                  </a:xfrm>
                </p:grpSpPr>
                <p:sp>
                  <p:nvSpPr>
                    <p:cNvPr id="2589"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0"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1"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5" name="Group 2363"/>
                  <p:cNvGrpSpPr>
                    <a:grpSpLocks/>
                  </p:cNvGrpSpPr>
                  <p:nvPr/>
                </p:nvGrpSpPr>
                <p:grpSpPr bwMode="auto">
                  <a:xfrm>
                    <a:off x="849" y="3651"/>
                    <a:ext cx="49" cy="22"/>
                    <a:chOff x="849" y="3651"/>
                    <a:chExt cx="49" cy="22"/>
                  </a:xfrm>
                </p:grpSpPr>
                <p:sp>
                  <p:nvSpPr>
                    <p:cNvPr id="2586"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7"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8"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4" name="Group 2367"/>
                <p:cNvGrpSpPr>
                  <a:grpSpLocks/>
                </p:cNvGrpSpPr>
                <p:nvPr/>
              </p:nvGrpSpPr>
              <p:grpSpPr bwMode="auto">
                <a:xfrm>
                  <a:off x="861" y="3665"/>
                  <a:ext cx="99" cy="74"/>
                  <a:chOff x="861" y="3665"/>
                  <a:chExt cx="99" cy="74"/>
                </a:xfrm>
              </p:grpSpPr>
              <p:grpSp>
                <p:nvGrpSpPr>
                  <p:cNvPr id="2561" name="Group 2368"/>
                  <p:cNvGrpSpPr>
                    <a:grpSpLocks/>
                  </p:cNvGrpSpPr>
                  <p:nvPr/>
                </p:nvGrpSpPr>
                <p:grpSpPr bwMode="auto">
                  <a:xfrm>
                    <a:off x="861" y="3665"/>
                    <a:ext cx="50" cy="23"/>
                    <a:chOff x="861" y="3665"/>
                    <a:chExt cx="50" cy="23"/>
                  </a:xfrm>
                </p:grpSpPr>
                <p:sp>
                  <p:nvSpPr>
                    <p:cNvPr id="2578"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9"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0"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2" name="Group 2372"/>
                  <p:cNvGrpSpPr>
                    <a:grpSpLocks/>
                  </p:cNvGrpSpPr>
                  <p:nvPr/>
                </p:nvGrpSpPr>
                <p:grpSpPr bwMode="auto">
                  <a:xfrm>
                    <a:off x="873" y="3678"/>
                    <a:ext cx="49" cy="23"/>
                    <a:chOff x="873" y="3678"/>
                    <a:chExt cx="49" cy="23"/>
                  </a:xfrm>
                </p:grpSpPr>
                <p:sp>
                  <p:nvSpPr>
                    <p:cNvPr id="2575"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6"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7"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3" name="Group 2376"/>
                  <p:cNvGrpSpPr>
                    <a:grpSpLocks/>
                  </p:cNvGrpSpPr>
                  <p:nvPr/>
                </p:nvGrpSpPr>
                <p:grpSpPr bwMode="auto">
                  <a:xfrm>
                    <a:off x="886" y="3690"/>
                    <a:ext cx="49" cy="23"/>
                    <a:chOff x="886" y="3690"/>
                    <a:chExt cx="49" cy="23"/>
                  </a:xfrm>
                </p:grpSpPr>
                <p:sp>
                  <p:nvSpPr>
                    <p:cNvPr id="2572"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3"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4"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4" name="Group 2380"/>
                  <p:cNvGrpSpPr>
                    <a:grpSpLocks/>
                  </p:cNvGrpSpPr>
                  <p:nvPr/>
                </p:nvGrpSpPr>
                <p:grpSpPr bwMode="auto">
                  <a:xfrm>
                    <a:off x="899" y="3703"/>
                    <a:ext cx="48" cy="23"/>
                    <a:chOff x="899" y="3703"/>
                    <a:chExt cx="48" cy="23"/>
                  </a:xfrm>
                </p:grpSpPr>
                <p:sp>
                  <p:nvSpPr>
                    <p:cNvPr id="2569"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0"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1"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5" name="Group 2384"/>
                  <p:cNvGrpSpPr>
                    <a:grpSpLocks/>
                  </p:cNvGrpSpPr>
                  <p:nvPr/>
                </p:nvGrpSpPr>
                <p:grpSpPr bwMode="auto">
                  <a:xfrm>
                    <a:off x="912" y="3716"/>
                    <a:ext cx="48" cy="23"/>
                    <a:chOff x="912" y="3716"/>
                    <a:chExt cx="48" cy="23"/>
                  </a:xfrm>
                </p:grpSpPr>
                <p:sp>
                  <p:nvSpPr>
                    <p:cNvPr id="2566"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7"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8"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5" name="Group 2388"/>
                <p:cNvGrpSpPr>
                  <a:grpSpLocks/>
                </p:cNvGrpSpPr>
                <p:nvPr/>
              </p:nvGrpSpPr>
              <p:grpSpPr bwMode="auto">
                <a:xfrm>
                  <a:off x="922" y="3727"/>
                  <a:ext cx="49" cy="23"/>
                  <a:chOff x="922" y="3727"/>
                  <a:chExt cx="49" cy="23"/>
                </a:xfrm>
              </p:grpSpPr>
              <p:sp>
                <p:nvSpPr>
                  <p:cNvPr id="2558"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9"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0"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6" name="Group 2392"/>
                <p:cNvGrpSpPr>
                  <a:grpSpLocks/>
                </p:cNvGrpSpPr>
                <p:nvPr/>
              </p:nvGrpSpPr>
              <p:grpSpPr bwMode="auto">
                <a:xfrm>
                  <a:off x="895" y="3526"/>
                  <a:ext cx="44" cy="23"/>
                  <a:chOff x="895" y="3526"/>
                  <a:chExt cx="44" cy="23"/>
                </a:xfrm>
              </p:grpSpPr>
              <p:sp>
                <p:nvSpPr>
                  <p:cNvPr id="2555"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6"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7"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7" name="Group 2396"/>
                <p:cNvGrpSpPr>
                  <a:grpSpLocks/>
                </p:cNvGrpSpPr>
                <p:nvPr/>
              </p:nvGrpSpPr>
              <p:grpSpPr bwMode="auto">
                <a:xfrm>
                  <a:off x="907" y="3540"/>
                  <a:ext cx="45" cy="22"/>
                  <a:chOff x="907" y="3540"/>
                  <a:chExt cx="45" cy="22"/>
                </a:xfrm>
              </p:grpSpPr>
              <p:sp>
                <p:nvSpPr>
                  <p:cNvPr id="2552"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3"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4"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8" name="Group 2400"/>
                <p:cNvGrpSpPr>
                  <a:grpSpLocks/>
                </p:cNvGrpSpPr>
                <p:nvPr/>
              </p:nvGrpSpPr>
              <p:grpSpPr bwMode="auto">
                <a:xfrm>
                  <a:off x="920" y="3553"/>
                  <a:ext cx="45" cy="23"/>
                  <a:chOff x="920" y="3553"/>
                  <a:chExt cx="45" cy="23"/>
                </a:xfrm>
              </p:grpSpPr>
              <p:sp>
                <p:nvSpPr>
                  <p:cNvPr id="2549"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0"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1"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9" name="Group 2404"/>
                <p:cNvGrpSpPr>
                  <a:grpSpLocks/>
                </p:cNvGrpSpPr>
                <p:nvPr/>
              </p:nvGrpSpPr>
              <p:grpSpPr bwMode="auto">
                <a:xfrm>
                  <a:off x="934" y="3566"/>
                  <a:ext cx="44" cy="23"/>
                  <a:chOff x="934" y="3566"/>
                  <a:chExt cx="44" cy="23"/>
                </a:xfrm>
              </p:grpSpPr>
              <p:sp>
                <p:nvSpPr>
                  <p:cNvPr id="2546"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7"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8"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0" name="Group 2408"/>
                <p:cNvGrpSpPr>
                  <a:grpSpLocks/>
                </p:cNvGrpSpPr>
                <p:nvPr/>
              </p:nvGrpSpPr>
              <p:grpSpPr bwMode="auto">
                <a:xfrm>
                  <a:off x="949" y="3579"/>
                  <a:ext cx="83" cy="63"/>
                  <a:chOff x="949" y="3579"/>
                  <a:chExt cx="83" cy="63"/>
                </a:xfrm>
              </p:grpSpPr>
              <p:grpSp>
                <p:nvGrpSpPr>
                  <p:cNvPr id="2530" name="Group 2409"/>
                  <p:cNvGrpSpPr>
                    <a:grpSpLocks/>
                  </p:cNvGrpSpPr>
                  <p:nvPr/>
                </p:nvGrpSpPr>
                <p:grpSpPr bwMode="auto">
                  <a:xfrm>
                    <a:off x="949" y="3579"/>
                    <a:ext cx="44" cy="23"/>
                    <a:chOff x="949" y="3579"/>
                    <a:chExt cx="44" cy="23"/>
                  </a:xfrm>
                </p:grpSpPr>
                <p:sp>
                  <p:nvSpPr>
                    <p:cNvPr id="2543"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4"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5"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1" name="Group 2413"/>
                  <p:cNvGrpSpPr>
                    <a:grpSpLocks/>
                  </p:cNvGrpSpPr>
                  <p:nvPr/>
                </p:nvGrpSpPr>
                <p:grpSpPr bwMode="auto">
                  <a:xfrm>
                    <a:off x="961" y="3592"/>
                    <a:ext cx="45" cy="23"/>
                    <a:chOff x="961" y="3592"/>
                    <a:chExt cx="45" cy="23"/>
                  </a:xfrm>
                </p:grpSpPr>
                <p:sp>
                  <p:nvSpPr>
                    <p:cNvPr id="2540"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1"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2"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2" name="Group 2417"/>
                  <p:cNvGrpSpPr>
                    <a:grpSpLocks/>
                  </p:cNvGrpSpPr>
                  <p:nvPr/>
                </p:nvGrpSpPr>
                <p:grpSpPr bwMode="auto">
                  <a:xfrm>
                    <a:off x="974" y="3606"/>
                    <a:ext cx="44" cy="23"/>
                    <a:chOff x="974" y="3606"/>
                    <a:chExt cx="44" cy="23"/>
                  </a:xfrm>
                </p:grpSpPr>
                <p:sp>
                  <p:nvSpPr>
                    <p:cNvPr id="2537"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8"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9"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3" name="Group 2421"/>
                  <p:cNvGrpSpPr>
                    <a:grpSpLocks/>
                  </p:cNvGrpSpPr>
                  <p:nvPr/>
                </p:nvGrpSpPr>
                <p:grpSpPr bwMode="auto">
                  <a:xfrm>
                    <a:off x="987" y="3619"/>
                    <a:ext cx="45" cy="23"/>
                    <a:chOff x="987" y="3619"/>
                    <a:chExt cx="45" cy="23"/>
                  </a:xfrm>
                </p:grpSpPr>
                <p:sp>
                  <p:nvSpPr>
                    <p:cNvPr id="2534"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5"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6"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1" name="Group 2425"/>
                <p:cNvGrpSpPr>
                  <a:grpSpLocks/>
                </p:cNvGrpSpPr>
                <p:nvPr/>
              </p:nvGrpSpPr>
              <p:grpSpPr bwMode="auto">
                <a:xfrm>
                  <a:off x="1002" y="3632"/>
                  <a:ext cx="83" cy="63"/>
                  <a:chOff x="1002" y="3632"/>
                  <a:chExt cx="83" cy="63"/>
                </a:xfrm>
              </p:grpSpPr>
              <p:grpSp>
                <p:nvGrpSpPr>
                  <p:cNvPr id="2514" name="Group 2426"/>
                  <p:cNvGrpSpPr>
                    <a:grpSpLocks/>
                  </p:cNvGrpSpPr>
                  <p:nvPr/>
                </p:nvGrpSpPr>
                <p:grpSpPr bwMode="auto">
                  <a:xfrm>
                    <a:off x="1002" y="3632"/>
                    <a:ext cx="44" cy="22"/>
                    <a:chOff x="1002" y="3632"/>
                    <a:chExt cx="44" cy="22"/>
                  </a:xfrm>
                </p:grpSpPr>
                <p:sp>
                  <p:nvSpPr>
                    <p:cNvPr id="2527"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8"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9"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5" name="Group 2430"/>
                  <p:cNvGrpSpPr>
                    <a:grpSpLocks/>
                  </p:cNvGrpSpPr>
                  <p:nvPr/>
                </p:nvGrpSpPr>
                <p:grpSpPr bwMode="auto">
                  <a:xfrm>
                    <a:off x="1014" y="3645"/>
                    <a:ext cx="44" cy="23"/>
                    <a:chOff x="1014" y="3645"/>
                    <a:chExt cx="44" cy="23"/>
                  </a:xfrm>
                </p:grpSpPr>
                <p:sp>
                  <p:nvSpPr>
                    <p:cNvPr id="2524"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5"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6"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6" name="Group 2434"/>
                  <p:cNvGrpSpPr>
                    <a:grpSpLocks/>
                  </p:cNvGrpSpPr>
                  <p:nvPr/>
                </p:nvGrpSpPr>
                <p:grpSpPr bwMode="auto">
                  <a:xfrm>
                    <a:off x="1027" y="3659"/>
                    <a:ext cx="45" cy="23"/>
                    <a:chOff x="1027" y="3659"/>
                    <a:chExt cx="45" cy="23"/>
                  </a:xfrm>
                </p:grpSpPr>
                <p:sp>
                  <p:nvSpPr>
                    <p:cNvPr id="2521"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2"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3"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7" name="Group 2438"/>
                  <p:cNvGrpSpPr>
                    <a:grpSpLocks/>
                  </p:cNvGrpSpPr>
                  <p:nvPr/>
                </p:nvGrpSpPr>
                <p:grpSpPr bwMode="auto">
                  <a:xfrm>
                    <a:off x="1040" y="3672"/>
                    <a:ext cx="45" cy="23"/>
                    <a:chOff x="1040" y="3672"/>
                    <a:chExt cx="45" cy="23"/>
                  </a:xfrm>
                </p:grpSpPr>
                <p:sp>
                  <p:nvSpPr>
                    <p:cNvPr id="2518"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9"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0"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2" name="Group 2442"/>
                <p:cNvGrpSpPr>
                  <a:grpSpLocks/>
                </p:cNvGrpSpPr>
                <p:nvPr/>
              </p:nvGrpSpPr>
              <p:grpSpPr bwMode="auto">
                <a:xfrm>
                  <a:off x="1054" y="3685"/>
                  <a:ext cx="45" cy="23"/>
                  <a:chOff x="1054" y="3685"/>
                  <a:chExt cx="45" cy="23"/>
                </a:xfrm>
              </p:grpSpPr>
              <p:sp>
                <p:nvSpPr>
                  <p:cNvPr id="2511"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2"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3"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3" name="Group 2446"/>
                <p:cNvGrpSpPr>
                  <a:grpSpLocks/>
                </p:cNvGrpSpPr>
                <p:nvPr/>
              </p:nvGrpSpPr>
              <p:grpSpPr bwMode="auto">
                <a:xfrm>
                  <a:off x="1067" y="3698"/>
                  <a:ext cx="45" cy="23"/>
                  <a:chOff x="1067" y="3698"/>
                  <a:chExt cx="45" cy="23"/>
                </a:xfrm>
              </p:grpSpPr>
              <p:sp>
                <p:nvSpPr>
                  <p:cNvPr id="2508"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9"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0"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4" name="Group 2450"/>
                <p:cNvGrpSpPr>
                  <a:grpSpLocks/>
                </p:cNvGrpSpPr>
                <p:nvPr/>
              </p:nvGrpSpPr>
              <p:grpSpPr bwMode="auto">
                <a:xfrm>
                  <a:off x="1079" y="3712"/>
                  <a:ext cx="44" cy="23"/>
                  <a:chOff x="1079" y="3712"/>
                  <a:chExt cx="44" cy="23"/>
                </a:xfrm>
              </p:grpSpPr>
              <p:sp>
                <p:nvSpPr>
                  <p:cNvPr id="2505"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6"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7"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5" name="Group 2454"/>
                <p:cNvGrpSpPr>
                  <a:grpSpLocks/>
                </p:cNvGrpSpPr>
                <p:nvPr/>
              </p:nvGrpSpPr>
              <p:grpSpPr bwMode="auto">
                <a:xfrm>
                  <a:off x="1093" y="3725"/>
                  <a:ext cx="45" cy="23"/>
                  <a:chOff x="1093" y="3725"/>
                  <a:chExt cx="45" cy="23"/>
                </a:xfrm>
              </p:grpSpPr>
              <p:sp>
                <p:nvSpPr>
                  <p:cNvPr id="2502"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3"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4"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6" name="Group 2458"/>
                <p:cNvGrpSpPr>
                  <a:grpSpLocks/>
                </p:cNvGrpSpPr>
                <p:nvPr/>
              </p:nvGrpSpPr>
              <p:grpSpPr bwMode="auto">
                <a:xfrm>
                  <a:off x="1108" y="3739"/>
                  <a:ext cx="44" cy="23"/>
                  <a:chOff x="1108" y="3739"/>
                  <a:chExt cx="44" cy="23"/>
                </a:xfrm>
              </p:grpSpPr>
              <p:sp>
                <p:nvSpPr>
                  <p:cNvPr id="2499"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0"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1"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7" name="Group 2462"/>
                <p:cNvGrpSpPr>
                  <a:grpSpLocks/>
                </p:cNvGrpSpPr>
                <p:nvPr/>
              </p:nvGrpSpPr>
              <p:grpSpPr bwMode="auto">
                <a:xfrm>
                  <a:off x="1121" y="3753"/>
                  <a:ext cx="45" cy="23"/>
                  <a:chOff x="1121" y="3753"/>
                  <a:chExt cx="45" cy="23"/>
                </a:xfrm>
              </p:grpSpPr>
              <p:sp>
                <p:nvSpPr>
                  <p:cNvPr id="2496"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7"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8"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8" name="Group 2466"/>
                <p:cNvGrpSpPr>
                  <a:grpSpLocks/>
                </p:cNvGrpSpPr>
                <p:nvPr/>
              </p:nvGrpSpPr>
              <p:grpSpPr bwMode="auto">
                <a:xfrm>
                  <a:off x="1133" y="3767"/>
                  <a:ext cx="44" cy="23"/>
                  <a:chOff x="1133" y="3767"/>
                  <a:chExt cx="44" cy="23"/>
                </a:xfrm>
              </p:grpSpPr>
              <p:sp>
                <p:nvSpPr>
                  <p:cNvPr id="2493"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4"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5"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39"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0"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1"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2"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3"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4"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5"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6"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7"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8"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9"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50" name="Group 2481"/>
                <p:cNvGrpSpPr>
                  <a:grpSpLocks/>
                </p:cNvGrpSpPr>
                <p:nvPr/>
              </p:nvGrpSpPr>
              <p:grpSpPr bwMode="auto">
                <a:xfrm>
                  <a:off x="700" y="3535"/>
                  <a:ext cx="49" cy="24"/>
                  <a:chOff x="700" y="3535"/>
                  <a:chExt cx="49" cy="24"/>
                </a:xfrm>
              </p:grpSpPr>
              <p:sp>
                <p:nvSpPr>
                  <p:cNvPr id="2490"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1"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2"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1" name="Group 2485"/>
                <p:cNvGrpSpPr>
                  <a:grpSpLocks/>
                </p:cNvGrpSpPr>
                <p:nvPr/>
              </p:nvGrpSpPr>
              <p:grpSpPr bwMode="auto">
                <a:xfrm>
                  <a:off x="714" y="3551"/>
                  <a:ext cx="49" cy="22"/>
                  <a:chOff x="714" y="3551"/>
                  <a:chExt cx="49" cy="22"/>
                </a:xfrm>
              </p:grpSpPr>
              <p:sp>
                <p:nvSpPr>
                  <p:cNvPr id="2487"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8"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9"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2" name="Group 2489"/>
                <p:cNvGrpSpPr>
                  <a:grpSpLocks/>
                </p:cNvGrpSpPr>
                <p:nvPr/>
              </p:nvGrpSpPr>
              <p:grpSpPr bwMode="auto">
                <a:xfrm>
                  <a:off x="728" y="3564"/>
                  <a:ext cx="48" cy="23"/>
                  <a:chOff x="728" y="3564"/>
                  <a:chExt cx="48" cy="23"/>
                </a:xfrm>
              </p:grpSpPr>
              <p:sp>
                <p:nvSpPr>
                  <p:cNvPr id="2484"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5"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6"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3" name="Group 2493"/>
                <p:cNvGrpSpPr>
                  <a:grpSpLocks/>
                </p:cNvGrpSpPr>
                <p:nvPr/>
              </p:nvGrpSpPr>
              <p:grpSpPr bwMode="auto">
                <a:xfrm>
                  <a:off x="742" y="3582"/>
                  <a:ext cx="49" cy="23"/>
                  <a:chOff x="742" y="3582"/>
                  <a:chExt cx="49" cy="23"/>
                </a:xfrm>
              </p:grpSpPr>
              <p:sp>
                <p:nvSpPr>
                  <p:cNvPr id="2481"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2"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3"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4" name="Group 2497"/>
                <p:cNvGrpSpPr>
                  <a:grpSpLocks/>
                </p:cNvGrpSpPr>
                <p:nvPr/>
              </p:nvGrpSpPr>
              <p:grpSpPr bwMode="auto">
                <a:xfrm>
                  <a:off x="752" y="3597"/>
                  <a:ext cx="133" cy="106"/>
                  <a:chOff x="752" y="3597"/>
                  <a:chExt cx="133" cy="106"/>
                </a:xfrm>
              </p:grpSpPr>
              <p:sp>
                <p:nvSpPr>
                  <p:cNvPr id="2478"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9"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0"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5" name="Group 2501"/>
                <p:cNvGrpSpPr>
                  <a:grpSpLocks/>
                </p:cNvGrpSpPr>
                <p:nvPr/>
              </p:nvGrpSpPr>
              <p:grpSpPr bwMode="auto">
                <a:xfrm>
                  <a:off x="844" y="3694"/>
                  <a:ext cx="48" cy="23"/>
                  <a:chOff x="844" y="3694"/>
                  <a:chExt cx="48" cy="23"/>
                </a:xfrm>
              </p:grpSpPr>
              <p:sp>
                <p:nvSpPr>
                  <p:cNvPr id="2475"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6"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7"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6" name="Group 2505"/>
                <p:cNvGrpSpPr>
                  <a:grpSpLocks/>
                </p:cNvGrpSpPr>
                <p:nvPr/>
              </p:nvGrpSpPr>
              <p:grpSpPr bwMode="auto">
                <a:xfrm>
                  <a:off x="857" y="3710"/>
                  <a:ext cx="49" cy="22"/>
                  <a:chOff x="857" y="3710"/>
                  <a:chExt cx="49" cy="22"/>
                </a:xfrm>
              </p:grpSpPr>
              <p:sp>
                <p:nvSpPr>
                  <p:cNvPr id="2472"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3"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4"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7" name="Group 2509"/>
                <p:cNvGrpSpPr>
                  <a:grpSpLocks/>
                </p:cNvGrpSpPr>
                <p:nvPr/>
              </p:nvGrpSpPr>
              <p:grpSpPr bwMode="auto">
                <a:xfrm>
                  <a:off x="1086" y="3766"/>
                  <a:ext cx="49" cy="23"/>
                  <a:chOff x="1086" y="3766"/>
                  <a:chExt cx="49" cy="23"/>
                </a:xfrm>
              </p:grpSpPr>
              <p:sp>
                <p:nvSpPr>
                  <p:cNvPr id="2469"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0"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1"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8" name="Group 2513"/>
                <p:cNvGrpSpPr>
                  <a:grpSpLocks/>
                </p:cNvGrpSpPr>
                <p:nvPr/>
              </p:nvGrpSpPr>
              <p:grpSpPr bwMode="auto">
                <a:xfrm>
                  <a:off x="934" y="3740"/>
                  <a:ext cx="48" cy="23"/>
                  <a:chOff x="934" y="3740"/>
                  <a:chExt cx="48" cy="23"/>
                </a:xfrm>
              </p:grpSpPr>
              <p:sp>
                <p:nvSpPr>
                  <p:cNvPr id="2466"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7"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8"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9" name="Group 2517"/>
                <p:cNvGrpSpPr>
                  <a:grpSpLocks/>
                </p:cNvGrpSpPr>
                <p:nvPr/>
              </p:nvGrpSpPr>
              <p:grpSpPr bwMode="auto">
                <a:xfrm>
                  <a:off x="943" y="3754"/>
                  <a:ext cx="49" cy="23"/>
                  <a:chOff x="943" y="3754"/>
                  <a:chExt cx="49" cy="23"/>
                </a:xfrm>
              </p:grpSpPr>
              <p:sp>
                <p:nvSpPr>
                  <p:cNvPr id="2463"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4"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5"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60"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1"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2"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7" name="Group 2524"/>
              <p:cNvGrpSpPr>
                <a:grpSpLocks/>
              </p:cNvGrpSpPr>
              <p:nvPr/>
            </p:nvGrpSpPr>
            <p:grpSpPr bwMode="auto">
              <a:xfrm>
                <a:off x="920" y="3821"/>
                <a:ext cx="413" cy="50"/>
                <a:chOff x="920" y="3821"/>
                <a:chExt cx="413" cy="50"/>
              </a:xfrm>
            </p:grpSpPr>
            <p:sp>
              <p:nvSpPr>
                <p:cNvPr id="2378"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9"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0"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81"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358" name="Group 2529"/>
              <p:cNvGrpSpPr>
                <a:grpSpLocks/>
              </p:cNvGrpSpPr>
              <p:nvPr/>
            </p:nvGrpSpPr>
            <p:grpSpPr bwMode="auto">
              <a:xfrm>
                <a:off x="1227" y="3477"/>
                <a:ext cx="508" cy="321"/>
                <a:chOff x="1227" y="3477"/>
                <a:chExt cx="508" cy="321"/>
              </a:xfrm>
            </p:grpSpPr>
            <p:sp>
              <p:nvSpPr>
                <p:cNvPr id="2359"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0"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1"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2"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3"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4"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5"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6"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7"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8"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9"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0"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1"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2"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3"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4"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5"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6"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7"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801" name="Group 2096"/>
            <p:cNvGrpSpPr>
              <a:grpSpLocks/>
            </p:cNvGrpSpPr>
            <p:nvPr/>
          </p:nvGrpSpPr>
          <p:grpSpPr bwMode="auto">
            <a:xfrm>
              <a:off x="5940425" y="2060575"/>
              <a:ext cx="431800" cy="330200"/>
              <a:chOff x="624" y="2968"/>
              <a:chExt cx="1331" cy="920"/>
            </a:xfrm>
          </p:grpSpPr>
          <p:sp>
            <p:nvSpPr>
              <p:cNvPr id="280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14" name="Group 2109"/>
              <p:cNvGrpSpPr>
                <a:grpSpLocks/>
              </p:cNvGrpSpPr>
              <p:nvPr/>
            </p:nvGrpSpPr>
            <p:grpSpPr bwMode="auto">
              <a:xfrm>
                <a:off x="700" y="3526"/>
                <a:ext cx="515" cy="270"/>
                <a:chOff x="700" y="3526"/>
                <a:chExt cx="515" cy="270"/>
              </a:xfrm>
            </p:grpSpPr>
            <p:grpSp>
              <p:nvGrpSpPr>
                <p:cNvPr id="2840" name="Group 2110"/>
                <p:cNvGrpSpPr>
                  <a:grpSpLocks/>
                </p:cNvGrpSpPr>
                <p:nvPr/>
              </p:nvGrpSpPr>
              <p:grpSpPr bwMode="auto">
                <a:xfrm>
                  <a:off x="737" y="3534"/>
                  <a:ext cx="49" cy="23"/>
                  <a:chOff x="737" y="3534"/>
                  <a:chExt cx="49" cy="23"/>
                </a:xfrm>
              </p:grpSpPr>
              <p:sp>
                <p:nvSpPr>
                  <p:cNvPr id="325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1" name="Group 2114"/>
                <p:cNvGrpSpPr>
                  <a:grpSpLocks/>
                </p:cNvGrpSpPr>
                <p:nvPr/>
              </p:nvGrpSpPr>
              <p:grpSpPr bwMode="auto">
                <a:xfrm>
                  <a:off x="748" y="3547"/>
                  <a:ext cx="50" cy="23"/>
                  <a:chOff x="748" y="3547"/>
                  <a:chExt cx="50" cy="23"/>
                </a:xfrm>
              </p:grpSpPr>
              <p:sp>
                <p:nvSpPr>
                  <p:cNvPr id="324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4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46" name="Group 2122"/>
                <p:cNvGrpSpPr>
                  <a:grpSpLocks/>
                </p:cNvGrpSpPr>
                <p:nvPr/>
              </p:nvGrpSpPr>
              <p:grpSpPr bwMode="auto">
                <a:xfrm>
                  <a:off x="872" y="3547"/>
                  <a:ext cx="50" cy="23"/>
                  <a:chOff x="872" y="3547"/>
                  <a:chExt cx="50" cy="23"/>
                </a:xfrm>
              </p:grpSpPr>
              <p:sp>
                <p:nvSpPr>
                  <p:cNvPr id="324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7" name="Group 2126"/>
                <p:cNvGrpSpPr>
                  <a:grpSpLocks/>
                </p:cNvGrpSpPr>
                <p:nvPr/>
              </p:nvGrpSpPr>
              <p:grpSpPr bwMode="auto">
                <a:xfrm>
                  <a:off x="885" y="3559"/>
                  <a:ext cx="50" cy="23"/>
                  <a:chOff x="885" y="3559"/>
                  <a:chExt cx="50" cy="23"/>
                </a:xfrm>
              </p:grpSpPr>
              <p:sp>
                <p:nvSpPr>
                  <p:cNvPr id="324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8" name="Group 2130"/>
                <p:cNvGrpSpPr>
                  <a:grpSpLocks/>
                </p:cNvGrpSpPr>
                <p:nvPr/>
              </p:nvGrpSpPr>
              <p:grpSpPr bwMode="auto">
                <a:xfrm>
                  <a:off x="898" y="3571"/>
                  <a:ext cx="49" cy="23"/>
                  <a:chOff x="898" y="3571"/>
                  <a:chExt cx="49" cy="23"/>
                </a:xfrm>
              </p:grpSpPr>
              <p:sp>
                <p:nvSpPr>
                  <p:cNvPr id="323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9" name="Group 2134"/>
                <p:cNvGrpSpPr>
                  <a:grpSpLocks/>
                </p:cNvGrpSpPr>
                <p:nvPr/>
              </p:nvGrpSpPr>
              <p:grpSpPr bwMode="auto">
                <a:xfrm>
                  <a:off x="911" y="3585"/>
                  <a:ext cx="49" cy="23"/>
                  <a:chOff x="911" y="3585"/>
                  <a:chExt cx="49" cy="23"/>
                </a:xfrm>
              </p:grpSpPr>
              <p:sp>
                <p:nvSpPr>
                  <p:cNvPr id="323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0" name="Group 2138"/>
                <p:cNvGrpSpPr>
                  <a:grpSpLocks/>
                </p:cNvGrpSpPr>
                <p:nvPr/>
              </p:nvGrpSpPr>
              <p:grpSpPr bwMode="auto">
                <a:xfrm>
                  <a:off x="923" y="3600"/>
                  <a:ext cx="99" cy="73"/>
                  <a:chOff x="923" y="3600"/>
                  <a:chExt cx="99" cy="73"/>
                </a:xfrm>
              </p:grpSpPr>
              <p:grpSp>
                <p:nvGrpSpPr>
                  <p:cNvPr id="3216" name="Group 2139"/>
                  <p:cNvGrpSpPr>
                    <a:grpSpLocks/>
                  </p:cNvGrpSpPr>
                  <p:nvPr/>
                </p:nvGrpSpPr>
                <p:grpSpPr bwMode="auto">
                  <a:xfrm>
                    <a:off x="923" y="3600"/>
                    <a:ext cx="49" cy="23"/>
                    <a:chOff x="923" y="3600"/>
                    <a:chExt cx="49" cy="23"/>
                  </a:xfrm>
                </p:grpSpPr>
                <p:sp>
                  <p:nvSpPr>
                    <p:cNvPr id="323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7" name="Group 2143"/>
                  <p:cNvGrpSpPr>
                    <a:grpSpLocks/>
                  </p:cNvGrpSpPr>
                  <p:nvPr/>
                </p:nvGrpSpPr>
                <p:grpSpPr bwMode="auto">
                  <a:xfrm>
                    <a:off x="935" y="3612"/>
                    <a:ext cx="48" cy="23"/>
                    <a:chOff x="935" y="3612"/>
                    <a:chExt cx="48" cy="23"/>
                  </a:xfrm>
                </p:grpSpPr>
                <p:sp>
                  <p:nvSpPr>
                    <p:cNvPr id="323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8" name="Group 2147"/>
                  <p:cNvGrpSpPr>
                    <a:grpSpLocks/>
                  </p:cNvGrpSpPr>
                  <p:nvPr/>
                </p:nvGrpSpPr>
                <p:grpSpPr bwMode="auto">
                  <a:xfrm>
                    <a:off x="947" y="3625"/>
                    <a:ext cx="50" cy="22"/>
                    <a:chOff x="947" y="3625"/>
                    <a:chExt cx="50" cy="22"/>
                  </a:xfrm>
                </p:grpSpPr>
                <p:sp>
                  <p:nvSpPr>
                    <p:cNvPr id="322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9" name="Group 2151"/>
                  <p:cNvGrpSpPr>
                    <a:grpSpLocks/>
                  </p:cNvGrpSpPr>
                  <p:nvPr/>
                </p:nvGrpSpPr>
                <p:grpSpPr bwMode="auto">
                  <a:xfrm>
                    <a:off x="960" y="3637"/>
                    <a:ext cx="50" cy="23"/>
                    <a:chOff x="960" y="3637"/>
                    <a:chExt cx="50" cy="23"/>
                  </a:xfrm>
                </p:grpSpPr>
                <p:sp>
                  <p:nvSpPr>
                    <p:cNvPr id="322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0" name="Group 2155"/>
                  <p:cNvGrpSpPr>
                    <a:grpSpLocks/>
                  </p:cNvGrpSpPr>
                  <p:nvPr/>
                </p:nvGrpSpPr>
                <p:grpSpPr bwMode="auto">
                  <a:xfrm>
                    <a:off x="973" y="3650"/>
                    <a:ext cx="49" cy="23"/>
                    <a:chOff x="973" y="3650"/>
                    <a:chExt cx="49" cy="23"/>
                  </a:xfrm>
                </p:grpSpPr>
                <p:sp>
                  <p:nvSpPr>
                    <p:cNvPr id="322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1" name="Group 2159"/>
                <p:cNvGrpSpPr>
                  <a:grpSpLocks/>
                </p:cNvGrpSpPr>
                <p:nvPr/>
              </p:nvGrpSpPr>
              <p:grpSpPr bwMode="auto">
                <a:xfrm>
                  <a:off x="985" y="3665"/>
                  <a:ext cx="100" cy="73"/>
                  <a:chOff x="985" y="3665"/>
                  <a:chExt cx="100" cy="73"/>
                </a:xfrm>
              </p:grpSpPr>
              <p:grpSp>
                <p:nvGrpSpPr>
                  <p:cNvPr id="3196" name="Group 2160"/>
                  <p:cNvGrpSpPr>
                    <a:grpSpLocks/>
                  </p:cNvGrpSpPr>
                  <p:nvPr/>
                </p:nvGrpSpPr>
                <p:grpSpPr bwMode="auto">
                  <a:xfrm>
                    <a:off x="985" y="3665"/>
                    <a:ext cx="50" cy="23"/>
                    <a:chOff x="985" y="3665"/>
                    <a:chExt cx="50" cy="23"/>
                  </a:xfrm>
                </p:grpSpPr>
                <p:sp>
                  <p:nvSpPr>
                    <p:cNvPr id="321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7" name="Group 2164"/>
                  <p:cNvGrpSpPr>
                    <a:grpSpLocks/>
                  </p:cNvGrpSpPr>
                  <p:nvPr/>
                </p:nvGrpSpPr>
                <p:grpSpPr bwMode="auto">
                  <a:xfrm>
                    <a:off x="997" y="3677"/>
                    <a:ext cx="49" cy="23"/>
                    <a:chOff x="997" y="3677"/>
                    <a:chExt cx="49" cy="23"/>
                  </a:xfrm>
                </p:grpSpPr>
                <p:sp>
                  <p:nvSpPr>
                    <p:cNvPr id="321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8" name="Group 2168"/>
                  <p:cNvGrpSpPr>
                    <a:grpSpLocks/>
                  </p:cNvGrpSpPr>
                  <p:nvPr/>
                </p:nvGrpSpPr>
                <p:grpSpPr bwMode="auto">
                  <a:xfrm>
                    <a:off x="1010" y="3690"/>
                    <a:ext cx="48" cy="23"/>
                    <a:chOff x="1010" y="3690"/>
                    <a:chExt cx="48" cy="23"/>
                  </a:xfrm>
                </p:grpSpPr>
                <p:sp>
                  <p:nvSpPr>
                    <p:cNvPr id="320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9" name="Group 2172"/>
                  <p:cNvGrpSpPr>
                    <a:grpSpLocks/>
                  </p:cNvGrpSpPr>
                  <p:nvPr/>
                </p:nvGrpSpPr>
                <p:grpSpPr bwMode="auto">
                  <a:xfrm>
                    <a:off x="1023" y="3703"/>
                    <a:ext cx="49" cy="22"/>
                    <a:chOff x="1023" y="3703"/>
                    <a:chExt cx="49" cy="22"/>
                  </a:xfrm>
                </p:grpSpPr>
                <p:sp>
                  <p:nvSpPr>
                    <p:cNvPr id="320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0" name="Group 2176"/>
                  <p:cNvGrpSpPr>
                    <a:grpSpLocks/>
                  </p:cNvGrpSpPr>
                  <p:nvPr/>
                </p:nvGrpSpPr>
                <p:grpSpPr bwMode="auto">
                  <a:xfrm>
                    <a:off x="1036" y="3716"/>
                    <a:ext cx="49" cy="22"/>
                    <a:chOff x="1036" y="3716"/>
                    <a:chExt cx="49" cy="22"/>
                  </a:xfrm>
                </p:grpSpPr>
                <p:sp>
                  <p:nvSpPr>
                    <p:cNvPr id="320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2" name="Group 2180"/>
                <p:cNvGrpSpPr>
                  <a:grpSpLocks/>
                </p:cNvGrpSpPr>
                <p:nvPr/>
              </p:nvGrpSpPr>
              <p:grpSpPr bwMode="auto">
                <a:xfrm>
                  <a:off x="1046" y="3727"/>
                  <a:ext cx="49" cy="23"/>
                  <a:chOff x="1046" y="3727"/>
                  <a:chExt cx="49" cy="23"/>
                </a:xfrm>
              </p:grpSpPr>
              <p:sp>
                <p:nvSpPr>
                  <p:cNvPr id="319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3" name="Group 2184"/>
                <p:cNvGrpSpPr>
                  <a:grpSpLocks/>
                </p:cNvGrpSpPr>
                <p:nvPr/>
              </p:nvGrpSpPr>
              <p:grpSpPr bwMode="auto">
                <a:xfrm>
                  <a:off x="1058" y="3739"/>
                  <a:ext cx="50" cy="23"/>
                  <a:chOff x="1058" y="3739"/>
                  <a:chExt cx="50" cy="23"/>
                </a:xfrm>
              </p:grpSpPr>
              <p:sp>
                <p:nvSpPr>
                  <p:cNvPr id="319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4" name="Group 2188"/>
                <p:cNvGrpSpPr>
                  <a:grpSpLocks/>
                </p:cNvGrpSpPr>
                <p:nvPr/>
              </p:nvGrpSpPr>
              <p:grpSpPr bwMode="auto">
                <a:xfrm>
                  <a:off x="1072" y="3753"/>
                  <a:ext cx="48" cy="22"/>
                  <a:chOff x="1072" y="3753"/>
                  <a:chExt cx="48" cy="22"/>
                </a:xfrm>
              </p:grpSpPr>
              <p:sp>
                <p:nvSpPr>
                  <p:cNvPr id="318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5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58" name="Group 2195"/>
                <p:cNvGrpSpPr>
                  <a:grpSpLocks/>
                </p:cNvGrpSpPr>
                <p:nvPr/>
              </p:nvGrpSpPr>
              <p:grpSpPr bwMode="auto">
                <a:xfrm>
                  <a:off x="832" y="3547"/>
                  <a:ext cx="49" cy="23"/>
                  <a:chOff x="832" y="3547"/>
                  <a:chExt cx="49" cy="23"/>
                </a:xfrm>
              </p:grpSpPr>
              <p:sp>
                <p:nvSpPr>
                  <p:cNvPr id="318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9" name="Group 2199"/>
                <p:cNvGrpSpPr>
                  <a:grpSpLocks/>
                </p:cNvGrpSpPr>
                <p:nvPr/>
              </p:nvGrpSpPr>
              <p:grpSpPr bwMode="auto">
                <a:xfrm>
                  <a:off x="844" y="3560"/>
                  <a:ext cx="49" cy="22"/>
                  <a:chOff x="844" y="3560"/>
                  <a:chExt cx="49" cy="22"/>
                </a:xfrm>
              </p:grpSpPr>
              <p:sp>
                <p:nvSpPr>
                  <p:cNvPr id="318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0" name="Group 2203"/>
                <p:cNvGrpSpPr>
                  <a:grpSpLocks/>
                </p:cNvGrpSpPr>
                <p:nvPr/>
              </p:nvGrpSpPr>
              <p:grpSpPr bwMode="auto">
                <a:xfrm>
                  <a:off x="857" y="3572"/>
                  <a:ext cx="50" cy="23"/>
                  <a:chOff x="857" y="3572"/>
                  <a:chExt cx="50" cy="23"/>
                </a:xfrm>
              </p:grpSpPr>
              <p:sp>
                <p:nvSpPr>
                  <p:cNvPr id="317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1" name="Group 2207"/>
                <p:cNvGrpSpPr>
                  <a:grpSpLocks/>
                </p:cNvGrpSpPr>
                <p:nvPr/>
              </p:nvGrpSpPr>
              <p:grpSpPr bwMode="auto">
                <a:xfrm>
                  <a:off x="870" y="3585"/>
                  <a:ext cx="48" cy="23"/>
                  <a:chOff x="870" y="3585"/>
                  <a:chExt cx="48" cy="23"/>
                </a:xfrm>
              </p:grpSpPr>
              <p:sp>
                <p:nvSpPr>
                  <p:cNvPr id="317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2" name="Group 2211"/>
                <p:cNvGrpSpPr>
                  <a:grpSpLocks/>
                </p:cNvGrpSpPr>
                <p:nvPr/>
              </p:nvGrpSpPr>
              <p:grpSpPr bwMode="auto">
                <a:xfrm>
                  <a:off x="882" y="3600"/>
                  <a:ext cx="100" cy="73"/>
                  <a:chOff x="882" y="3600"/>
                  <a:chExt cx="100" cy="73"/>
                </a:xfrm>
              </p:grpSpPr>
              <p:grpSp>
                <p:nvGrpSpPr>
                  <p:cNvPr id="3155" name="Group 2212"/>
                  <p:cNvGrpSpPr>
                    <a:grpSpLocks/>
                  </p:cNvGrpSpPr>
                  <p:nvPr/>
                </p:nvGrpSpPr>
                <p:grpSpPr bwMode="auto">
                  <a:xfrm>
                    <a:off x="882" y="3600"/>
                    <a:ext cx="49" cy="23"/>
                    <a:chOff x="882" y="3600"/>
                    <a:chExt cx="49" cy="23"/>
                  </a:xfrm>
                </p:grpSpPr>
                <p:sp>
                  <p:nvSpPr>
                    <p:cNvPr id="317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6" name="Group 2216"/>
                  <p:cNvGrpSpPr>
                    <a:grpSpLocks/>
                  </p:cNvGrpSpPr>
                  <p:nvPr/>
                </p:nvGrpSpPr>
                <p:grpSpPr bwMode="auto">
                  <a:xfrm>
                    <a:off x="894" y="3612"/>
                    <a:ext cx="49" cy="23"/>
                    <a:chOff x="894" y="3612"/>
                    <a:chExt cx="49" cy="23"/>
                  </a:xfrm>
                </p:grpSpPr>
                <p:sp>
                  <p:nvSpPr>
                    <p:cNvPr id="316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7" name="Group 2220"/>
                  <p:cNvGrpSpPr>
                    <a:grpSpLocks/>
                  </p:cNvGrpSpPr>
                  <p:nvPr/>
                </p:nvGrpSpPr>
                <p:grpSpPr bwMode="auto">
                  <a:xfrm>
                    <a:off x="907" y="3625"/>
                    <a:ext cx="49" cy="23"/>
                    <a:chOff x="907" y="3625"/>
                    <a:chExt cx="49" cy="23"/>
                  </a:xfrm>
                </p:grpSpPr>
                <p:sp>
                  <p:nvSpPr>
                    <p:cNvPr id="316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8" name="Group 2224"/>
                  <p:cNvGrpSpPr>
                    <a:grpSpLocks/>
                  </p:cNvGrpSpPr>
                  <p:nvPr/>
                </p:nvGrpSpPr>
                <p:grpSpPr bwMode="auto">
                  <a:xfrm>
                    <a:off x="919" y="3638"/>
                    <a:ext cx="49" cy="22"/>
                    <a:chOff x="919" y="3638"/>
                    <a:chExt cx="49" cy="22"/>
                  </a:xfrm>
                </p:grpSpPr>
                <p:sp>
                  <p:nvSpPr>
                    <p:cNvPr id="316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9" name="Group 2228"/>
                  <p:cNvGrpSpPr>
                    <a:grpSpLocks/>
                  </p:cNvGrpSpPr>
                  <p:nvPr/>
                </p:nvGrpSpPr>
                <p:grpSpPr bwMode="auto">
                  <a:xfrm>
                    <a:off x="932" y="3651"/>
                    <a:ext cx="50" cy="22"/>
                    <a:chOff x="932" y="3651"/>
                    <a:chExt cx="50" cy="22"/>
                  </a:xfrm>
                </p:grpSpPr>
                <p:sp>
                  <p:nvSpPr>
                    <p:cNvPr id="316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3" name="Group 2232"/>
                <p:cNvGrpSpPr>
                  <a:grpSpLocks/>
                </p:cNvGrpSpPr>
                <p:nvPr/>
              </p:nvGrpSpPr>
              <p:grpSpPr bwMode="auto">
                <a:xfrm>
                  <a:off x="944" y="3665"/>
                  <a:ext cx="99" cy="74"/>
                  <a:chOff x="944" y="3665"/>
                  <a:chExt cx="99" cy="74"/>
                </a:xfrm>
              </p:grpSpPr>
              <p:grpSp>
                <p:nvGrpSpPr>
                  <p:cNvPr id="3135" name="Group 2233"/>
                  <p:cNvGrpSpPr>
                    <a:grpSpLocks/>
                  </p:cNvGrpSpPr>
                  <p:nvPr/>
                </p:nvGrpSpPr>
                <p:grpSpPr bwMode="auto">
                  <a:xfrm>
                    <a:off x="944" y="3665"/>
                    <a:ext cx="49" cy="23"/>
                    <a:chOff x="944" y="3665"/>
                    <a:chExt cx="49" cy="23"/>
                  </a:xfrm>
                </p:grpSpPr>
                <p:sp>
                  <p:nvSpPr>
                    <p:cNvPr id="315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6" name="Group 2237"/>
                  <p:cNvGrpSpPr>
                    <a:grpSpLocks/>
                  </p:cNvGrpSpPr>
                  <p:nvPr/>
                </p:nvGrpSpPr>
                <p:grpSpPr bwMode="auto">
                  <a:xfrm>
                    <a:off x="957" y="3678"/>
                    <a:ext cx="48" cy="23"/>
                    <a:chOff x="957" y="3678"/>
                    <a:chExt cx="48" cy="23"/>
                  </a:xfrm>
                </p:grpSpPr>
                <p:sp>
                  <p:nvSpPr>
                    <p:cNvPr id="314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7" name="Group 2241"/>
                  <p:cNvGrpSpPr>
                    <a:grpSpLocks/>
                  </p:cNvGrpSpPr>
                  <p:nvPr/>
                </p:nvGrpSpPr>
                <p:grpSpPr bwMode="auto">
                  <a:xfrm>
                    <a:off x="969" y="3690"/>
                    <a:ext cx="49" cy="23"/>
                    <a:chOff x="969" y="3690"/>
                    <a:chExt cx="49" cy="23"/>
                  </a:xfrm>
                </p:grpSpPr>
                <p:sp>
                  <p:nvSpPr>
                    <p:cNvPr id="314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8" name="Group 2245"/>
                  <p:cNvGrpSpPr>
                    <a:grpSpLocks/>
                  </p:cNvGrpSpPr>
                  <p:nvPr/>
                </p:nvGrpSpPr>
                <p:grpSpPr bwMode="auto">
                  <a:xfrm>
                    <a:off x="982" y="3703"/>
                    <a:ext cx="49" cy="23"/>
                    <a:chOff x="982" y="3703"/>
                    <a:chExt cx="49" cy="23"/>
                  </a:xfrm>
                </p:grpSpPr>
                <p:sp>
                  <p:nvSpPr>
                    <p:cNvPr id="314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9" name="Group 2249"/>
                  <p:cNvGrpSpPr>
                    <a:grpSpLocks/>
                  </p:cNvGrpSpPr>
                  <p:nvPr/>
                </p:nvGrpSpPr>
                <p:grpSpPr bwMode="auto">
                  <a:xfrm>
                    <a:off x="995" y="3716"/>
                    <a:ext cx="48" cy="23"/>
                    <a:chOff x="995" y="3716"/>
                    <a:chExt cx="48" cy="23"/>
                  </a:xfrm>
                </p:grpSpPr>
                <p:sp>
                  <p:nvSpPr>
                    <p:cNvPr id="314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4" name="Group 2253"/>
                <p:cNvGrpSpPr>
                  <a:grpSpLocks/>
                </p:cNvGrpSpPr>
                <p:nvPr/>
              </p:nvGrpSpPr>
              <p:grpSpPr bwMode="auto">
                <a:xfrm>
                  <a:off x="1005" y="3727"/>
                  <a:ext cx="49" cy="23"/>
                  <a:chOff x="1005" y="3727"/>
                  <a:chExt cx="49" cy="23"/>
                </a:xfrm>
              </p:grpSpPr>
              <p:sp>
                <p:nvSpPr>
                  <p:cNvPr id="313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5" name="Group 2257"/>
                <p:cNvGrpSpPr>
                  <a:grpSpLocks/>
                </p:cNvGrpSpPr>
                <p:nvPr/>
              </p:nvGrpSpPr>
              <p:grpSpPr bwMode="auto">
                <a:xfrm>
                  <a:off x="1018" y="3740"/>
                  <a:ext cx="49" cy="22"/>
                  <a:chOff x="1018" y="3740"/>
                  <a:chExt cx="49" cy="22"/>
                </a:xfrm>
              </p:grpSpPr>
              <p:sp>
                <p:nvSpPr>
                  <p:cNvPr id="312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6" name="Group 2261"/>
                <p:cNvGrpSpPr>
                  <a:grpSpLocks/>
                </p:cNvGrpSpPr>
                <p:nvPr/>
              </p:nvGrpSpPr>
              <p:grpSpPr bwMode="auto">
                <a:xfrm>
                  <a:off x="1030" y="3753"/>
                  <a:ext cx="49" cy="23"/>
                  <a:chOff x="1030" y="3753"/>
                  <a:chExt cx="49" cy="23"/>
                </a:xfrm>
              </p:grpSpPr>
              <p:sp>
                <p:nvSpPr>
                  <p:cNvPr id="312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6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70" name="Group 2268"/>
                <p:cNvGrpSpPr>
                  <a:grpSpLocks/>
                </p:cNvGrpSpPr>
                <p:nvPr/>
              </p:nvGrpSpPr>
              <p:grpSpPr bwMode="auto">
                <a:xfrm>
                  <a:off x="790" y="3547"/>
                  <a:ext cx="49" cy="23"/>
                  <a:chOff x="790" y="3547"/>
                  <a:chExt cx="49" cy="23"/>
                </a:xfrm>
              </p:grpSpPr>
              <p:sp>
                <p:nvSpPr>
                  <p:cNvPr id="312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1" name="Group 2272"/>
                <p:cNvGrpSpPr>
                  <a:grpSpLocks/>
                </p:cNvGrpSpPr>
                <p:nvPr/>
              </p:nvGrpSpPr>
              <p:grpSpPr bwMode="auto">
                <a:xfrm>
                  <a:off x="803" y="3560"/>
                  <a:ext cx="49" cy="22"/>
                  <a:chOff x="803" y="3560"/>
                  <a:chExt cx="49" cy="22"/>
                </a:xfrm>
              </p:grpSpPr>
              <p:sp>
                <p:nvSpPr>
                  <p:cNvPr id="312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2" name="Group 2276"/>
                <p:cNvGrpSpPr>
                  <a:grpSpLocks/>
                </p:cNvGrpSpPr>
                <p:nvPr/>
              </p:nvGrpSpPr>
              <p:grpSpPr bwMode="auto">
                <a:xfrm>
                  <a:off x="815" y="3572"/>
                  <a:ext cx="50" cy="23"/>
                  <a:chOff x="815" y="3572"/>
                  <a:chExt cx="50" cy="23"/>
                </a:xfrm>
              </p:grpSpPr>
              <p:sp>
                <p:nvSpPr>
                  <p:cNvPr id="311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3" name="Group 2280"/>
                <p:cNvGrpSpPr>
                  <a:grpSpLocks/>
                </p:cNvGrpSpPr>
                <p:nvPr/>
              </p:nvGrpSpPr>
              <p:grpSpPr bwMode="auto">
                <a:xfrm>
                  <a:off x="828" y="3585"/>
                  <a:ext cx="49" cy="23"/>
                  <a:chOff x="828" y="3585"/>
                  <a:chExt cx="49" cy="23"/>
                </a:xfrm>
              </p:grpSpPr>
              <p:sp>
                <p:nvSpPr>
                  <p:cNvPr id="311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4" name="Group 2284"/>
                <p:cNvGrpSpPr>
                  <a:grpSpLocks/>
                </p:cNvGrpSpPr>
                <p:nvPr/>
              </p:nvGrpSpPr>
              <p:grpSpPr bwMode="auto">
                <a:xfrm>
                  <a:off x="840" y="3600"/>
                  <a:ext cx="100" cy="73"/>
                  <a:chOff x="840" y="3600"/>
                  <a:chExt cx="100" cy="73"/>
                </a:xfrm>
              </p:grpSpPr>
              <p:grpSp>
                <p:nvGrpSpPr>
                  <p:cNvPr id="3094" name="Group 2285"/>
                  <p:cNvGrpSpPr>
                    <a:grpSpLocks/>
                  </p:cNvGrpSpPr>
                  <p:nvPr/>
                </p:nvGrpSpPr>
                <p:grpSpPr bwMode="auto">
                  <a:xfrm>
                    <a:off x="840" y="3600"/>
                    <a:ext cx="49" cy="23"/>
                    <a:chOff x="840" y="3600"/>
                    <a:chExt cx="49" cy="23"/>
                  </a:xfrm>
                </p:grpSpPr>
                <p:sp>
                  <p:nvSpPr>
                    <p:cNvPr id="311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5" name="Group 2289"/>
                  <p:cNvGrpSpPr>
                    <a:grpSpLocks/>
                  </p:cNvGrpSpPr>
                  <p:nvPr/>
                </p:nvGrpSpPr>
                <p:grpSpPr bwMode="auto">
                  <a:xfrm>
                    <a:off x="853" y="3612"/>
                    <a:ext cx="48" cy="23"/>
                    <a:chOff x="853" y="3612"/>
                    <a:chExt cx="48" cy="23"/>
                  </a:xfrm>
                </p:grpSpPr>
                <p:sp>
                  <p:nvSpPr>
                    <p:cNvPr id="310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6" name="Group 2293"/>
                  <p:cNvGrpSpPr>
                    <a:grpSpLocks/>
                  </p:cNvGrpSpPr>
                  <p:nvPr/>
                </p:nvGrpSpPr>
                <p:grpSpPr bwMode="auto">
                  <a:xfrm>
                    <a:off x="865" y="3625"/>
                    <a:ext cx="49" cy="23"/>
                    <a:chOff x="865" y="3625"/>
                    <a:chExt cx="49" cy="23"/>
                  </a:xfrm>
                </p:grpSpPr>
                <p:sp>
                  <p:nvSpPr>
                    <p:cNvPr id="310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7" name="Group 2297"/>
                  <p:cNvGrpSpPr>
                    <a:grpSpLocks/>
                  </p:cNvGrpSpPr>
                  <p:nvPr/>
                </p:nvGrpSpPr>
                <p:grpSpPr bwMode="auto">
                  <a:xfrm>
                    <a:off x="878" y="3638"/>
                    <a:ext cx="49" cy="22"/>
                    <a:chOff x="878" y="3638"/>
                    <a:chExt cx="49" cy="22"/>
                  </a:xfrm>
                </p:grpSpPr>
                <p:sp>
                  <p:nvSpPr>
                    <p:cNvPr id="310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8" name="Group 2301"/>
                  <p:cNvGrpSpPr>
                    <a:grpSpLocks/>
                  </p:cNvGrpSpPr>
                  <p:nvPr/>
                </p:nvGrpSpPr>
                <p:grpSpPr bwMode="auto">
                  <a:xfrm>
                    <a:off x="890" y="3651"/>
                    <a:ext cx="50" cy="22"/>
                    <a:chOff x="890" y="3651"/>
                    <a:chExt cx="50" cy="22"/>
                  </a:xfrm>
                </p:grpSpPr>
                <p:sp>
                  <p:nvSpPr>
                    <p:cNvPr id="309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5" name="Group 2305"/>
                <p:cNvGrpSpPr>
                  <a:grpSpLocks/>
                </p:cNvGrpSpPr>
                <p:nvPr/>
              </p:nvGrpSpPr>
              <p:grpSpPr bwMode="auto">
                <a:xfrm>
                  <a:off x="903" y="3665"/>
                  <a:ext cx="99" cy="74"/>
                  <a:chOff x="903" y="3665"/>
                  <a:chExt cx="99" cy="74"/>
                </a:xfrm>
              </p:grpSpPr>
              <p:grpSp>
                <p:nvGrpSpPr>
                  <p:cNvPr id="3074" name="Group 2306"/>
                  <p:cNvGrpSpPr>
                    <a:grpSpLocks/>
                  </p:cNvGrpSpPr>
                  <p:nvPr/>
                </p:nvGrpSpPr>
                <p:grpSpPr bwMode="auto">
                  <a:xfrm>
                    <a:off x="903" y="3665"/>
                    <a:ext cx="49" cy="23"/>
                    <a:chOff x="903" y="3665"/>
                    <a:chExt cx="49" cy="23"/>
                  </a:xfrm>
                </p:grpSpPr>
                <p:sp>
                  <p:nvSpPr>
                    <p:cNvPr id="309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5" name="Group 2310"/>
                  <p:cNvGrpSpPr>
                    <a:grpSpLocks/>
                  </p:cNvGrpSpPr>
                  <p:nvPr/>
                </p:nvGrpSpPr>
                <p:grpSpPr bwMode="auto">
                  <a:xfrm>
                    <a:off x="914" y="3678"/>
                    <a:ext cx="49" cy="23"/>
                    <a:chOff x="914" y="3678"/>
                    <a:chExt cx="49" cy="23"/>
                  </a:xfrm>
                </p:grpSpPr>
                <p:sp>
                  <p:nvSpPr>
                    <p:cNvPr id="308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6" name="Group 2314"/>
                  <p:cNvGrpSpPr>
                    <a:grpSpLocks/>
                  </p:cNvGrpSpPr>
                  <p:nvPr/>
                </p:nvGrpSpPr>
                <p:grpSpPr bwMode="auto">
                  <a:xfrm>
                    <a:off x="928" y="3690"/>
                    <a:ext cx="48" cy="23"/>
                    <a:chOff x="928" y="3690"/>
                    <a:chExt cx="48" cy="23"/>
                  </a:xfrm>
                </p:grpSpPr>
                <p:sp>
                  <p:nvSpPr>
                    <p:cNvPr id="308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7" name="Group 2318"/>
                  <p:cNvGrpSpPr>
                    <a:grpSpLocks/>
                  </p:cNvGrpSpPr>
                  <p:nvPr/>
                </p:nvGrpSpPr>
                <p:grpSpPr bwMode="auto">
                  <a:xfrm>
                    <a:off x="940" y="3703"/>
                    <a:ext cx="49" cy="23"/>
                    <a:chOff x="940" y="3703"/>
                    <a:chExt cx="49" cy="23"/>
                  </a:xfrm>
                </p:grpSpPr>
                <p:sp>
                  <p:nvSpPr>
                    <p:cNvPr id="308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8" name="Group 2322"/>
                  <p:cNvGrpSpPr>
                    <a:grpSpLocks/>
                  </p:cNvGrpSpPr>
                  <p:nvPr/>
                </p:nvGrpSpPr>
                <p:grpSpPr bwMode="auto">
                  <a:xfrm>
                    <a:off x="953" y="3716"/>
                    <a:ext cx="49" cy="23"/>
                    <a:chOff x="953" y="3716"/>
                    <a:chExt cx="49" cy="23"/>
                  </a:xfrm>
                </p:grpSpPr>
                <p:sp>
                  <p:nvSpPr>
                    <p:cNvPr id="307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6" name="Group 2326"/>
                <p:cNvGrpSpPr>
                  <a:grpSpLocks/>
                </p:cNvGrpSpPr>
                <p:nvPr/>
              </p:nvGrpSpPr>
              <p:grpSpPr bwMode="auto">
                <a:xfrm>
                  <a:off x="963" y="3727"/>
                  <a:ext cx="49" cy="23"/>
                  <a:chOff x="963" y="3727"/>
                  <a:chExt cx="49" cy="23"/>
                </a:xfrm>
              </p:grpSpPr>
              <p:sp>
                <p:nvSpPr>
                  <p:cNvPr id="307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7" name="Group 2330"/>
                <p:cNvGrpSpPr>
                  <a:grpSpLocks/>
                </p:cNvGrpSpPr>
                <p:nvPr/>
              </p:nvGrpSpPr>
              <p:grpSpPr bwMode="auto">
                <a:xfrm>
                  <a:off x="976" y="3740"/>
                  <a:ext cx="50" cy="22"/>
                  <a:chOff x="976" y="3740"/>
                  <a:chExt cx="50" cy="22"/>
                </a:xfrm>
              </p:grpSpPr>
              <p:sp>
                <p:nvSpPr>
                  <p:cNvPr id="306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8" name="Group 2334"/>
                <p:cNvGrpSpPr>
                  <a:grpSpLocks/>
                </p:cNvGrpSpPr>
                <p:nvPr/>
              </p:nvGrpSpPr>
              <p:grpSpPr bwMode="auto">
                <a:xfrm>
                  <a:off x="761" y="3560"/>
                  <a:ext cx="50" cy="22"/>
                  <a:chOff x="761" y="3560"/>
                  <a:chExt cx="50" cy="22"/>
                </a:xfrm>
              </p:grpSpPr>
              <p:sp>
                <p:nvSpPr>
                  <p:cNvPr id="306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9" name="Group 2338"/>
                <p:cNvGrpSpPr>
                  <a:grpSpLocks/>
                </p:cNvGrpSpPr>
                <p:nvPr/>
              </p:nvGrpSpPr>
              <p:grpSpPr bwMode="auto">
                <a:xfrm>
                  <a:off x="774" y="3572"/>
                  <a:ext cx="49" cy="23"/>
                  <a:chOff x="774" y="3572"/>
                  <a:chExt cx="49" cy="23"/>
                </a:xfrm>
              </p:grpSpPr>
              <p:sp>
                <p:nvSpPr>
                  <p:cNvPr id="306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0" name="Group 2342"/>
                <p:cNvGrpSpPr>
                  <a:grpSpLocks/>
                </p:cNvGrpSpPr>
                <p:nvPr/>
              </p:nvGrpSpPr>
              <p:grpSpPr bwMode="auto">
                <a:xfrm>
                  <a:off x="787" y="3585"/>
                  <a:ext cx="49" cy="23"/>
                  <a:chOff x="787" y="3585"/>
                  <a:chExt cx="49" cy="23"/>
                </a:xfrm>
              </p:grpSpPr>
              <p:sp>
                <p:nvSpPr>
                  <p:cNvPr id="305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1" name="Group 2346"/>
                <p:cNvGrpSpPr>
                  <a:grpSpLocks/>
                </p:cNvGrpSpPr>
                <p:nvPr/>
              </p:nvGrpSpPr>
              <p:grpSpPr bwMode="auto">
                <a:xfrm>
                  <a:off x="799" y="3600"/>
                  <a:ext cx="99" cy="73"/>
                  <a:chOff x="799" y="3600"/>
                  <a:chExt cx="99" cy="73"/>
                </a:xfrm>
              </p:grpSpPr>
              <p:grpSp>
                <p:nvGrpSpPr>
                  <p:cNvPr id="3039" name="Group 2347"/>
                  <p:cNvGrpSpPr>
                    <a:grpSpLocks/>
                  </p:cNvGrpSpPr>
                  <p:nvPr/>
                </p:nvGrpSpPr>
                <p:grpSpPr bwMode="auto">
                  <a:xfrm>
                    <a:off x="799" y="3600"/>
                    <a:ext cx="48" cy="23"/>
                    <a:chOff x="799" y="3600"/>
                    <a:chExt cx="48" cy="23"/>
                  </a:xfrm>
                </p:grpSpPr>
                <p:sp>
                  <p:nvSpPr>
                    <p:cNvPr id="305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0" name="Group 2351"/>
                  <p:cNvGrpSpPr>
                    <a:grpSpLocks/>
                  </p:cNvGrpSpPr>
                  <p:nvPr/>
                </p:nvGrpSpPr>
                <p:grpSpPr bwMode="auto">
                  <a:xfrm>
                    <a:off x="811" y="3612"/>
                    <a:ext cx="48" cy="23"/>
                    <a:chOff x="811" y="3612"/>
                    <a:chExt cx="48" cy="23"/>
                  </a:xfrm>
                </p:grpSpPr>
                <p:sp>
                  <p:nvSpPr>
                    <p:cNvPr id="305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1" name="Group 2355"/>
                  <p:cNvGrpSpPr>
                    <a:grpSpLocks/>
                  </p:cNvGrpSpPr>
                  <p:nvPr/>
                </p:nvGrpSpPr>
                <p:grpSpPr bwMode="auto">
                  <a:xfrm>
                    <a:off x="823" y="3625"/>
                    <a:ext cx="49" cy="23"/>
                    <a:chOff x="823" y="3625"/>
                    <a:chExt cx="49" cy="23"/>
                  </a:xfrm>
                </p:grpSpPr>
                <p:sp>
                  <p:nvSpPr>
                    <p:cNvPr id="305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2" name="Group 2359"/>
                  <p:cNvGrpSpPr>
                    <a:grpSpLocks/>
                  </p:cNvGrpSpPr>
                  <p:nvPr/>
                </p:nvGrpSpPr>
                <p:grpSpPr bwMode="auto">
                  <a:xfrm>
                    <a:off x="836" y="3638"/>
                    <a:ext cx="50" cy="22"/>
                    <a:chOff x="836" y="3638"/>
                    <a:chExt cx="50" cy="22"/>
                  </a:xfrm>
                </p:grpSpPr>
                <p:sp>
                  <p:nvSpPr>
                    <p:cNvPr id="304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3" name="Group 2363"/>
                  <p:cNvGrpSpPr>
                    <a:grpSpLocks/>
                  </p:cNvGrpSpPr>
                  <p:nvPr/>
                </p:nvGrpSpPr>
                <p:grpSpPr bwMode="auto">
                  <a:xfrm>
                    <a:off x="849" y="3651"/>
                    <a:ext cx="49" cy="22"/>
                    <a:chOff x="849" y="3651"/>
                    <a:chExt cx="49" cy="22"/>
                  </a:xfrm>
                </p:grpSpPr>
                <p:sp>
                  <p:nvSpPr>
                    <p:cNvPr id="304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2" name="Group 2367"/>
                <p:cNvGrpSpPr>
                  <a:grpSpLocks/>
                </p:cNvGrpSpPr>
                <p:nvPr/>
              </p:nvGrpSpPr>
              <p:grpSpPr bwMode="auto">
                <a:xfrm>
                  <a:off x="861" y="3665"/>
                  <a:ext cx="99" cy="74"/>
                  <a:chOff x="861" y="3665"/>
                  <a:chExt cx="99" cy="74"/>
                </a:xfrm>
              </p:grpSpPr>
              <p:grpSp>
                <p:nvGrpSpPr>
                  <p:cNvPr id="3019" name="Group 2368"/>
                  <p:cNvGrpSpPr>
                    <a:grpSpLocks/>
                  </p:cNvGrpSpPr>
                  <p:nvPr/>
                </p:nvGrpSpPr>
                <p:grpSpPr bwMode="auto">
                  <a:xfrm>
                    <a:off x="861" y="3665"/>
                    <a:ext cx="50" cy="23"/>
                    <a:chOff x="861" y="3665"/>
                    <a:chExt cx="50" cy="23"/>
                  </a:xfrm>
                </p:grpSpPr>
                <p:sp>
                  <p:nvSpPr>
                    <p:cNvPr id="303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0" name="Group 2372"/>
                  <p:cNvGrpSpPr>
                    <a:grpSpLocks/>
                  </p:cNvGrpSpPr>
                  <p:nvPr/>
                </p:nvGrpSpPr>
                <p:grpSpPr bwMode="auto">
                  <a:xfrm>
                    <a:off x="873" y="3678"/>
                    <a:ext cx="49" cy="23"/>
                    <a:chOff x="873" y="3678"/>
                    <a:chExt cx="49" cy="23"/>
                  </a:xfrm>
                </p:grpSpPr>
                <p:sp>
                  <p:nvSpPr>
                    <p:cNvPr id="303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1" name="Group 2376"/>
                  <p:cNvGrpSpPr>
                    <a:grpSpLocks/>
                  </p:cNvGrpSpPr>
                  <p:nvPr/>
                </p:nvGrpSpPr>
                <p:grpSpPr bwMode="auto">
                  <a:xfrm>
                    <a:off x="886" y="3690"/>
                    <a:ext cx="49" cy="23"/>
                    <a:chOff x="886" y="3690"/>
                    <a:chExt cx="49" cy="23"/>
                  </a:xfrm>
                </p:grpSpPr>
                <p:sp>
                  <p:nvSpPr>
                    <p:cNvPr id="303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2" name="Group 2380"/>
                  <p:cNvGrpSpPr>
                    <a:grpSpLocks/>
                  </p:cNvGrpSpPr>
                  <p:nvPr/>
                </p:nvGrpSpPr>
                <p:grpSpPr bwMode="auto">
                  <a:xfrm>
                    <a:off x="899" y="3703"/>
                    <a:ext cx="48" cy="23"/>
                    <a:chOff x="899" y="3703"/>
                    <a:chExt cx="48" cy="23"/>
                  </a:xfrm>
                </p:grpSpPr>
                <p:sp>
                  <p:nvSpPr>
                    <p:cNvPr id="302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3" name="Group 2384"/>
                  <p:cNvGrpSpPr>
                    <a:grpSpLocks/>
                  </p:cNvGrpSpPr>
                  <p:nvPr/>
                </p:nvGrpSpPr>
                <p:grpSpPr bwMode="auto">
                  <a:xfrm>
                    <a:off x="912" y="3716"/>
                    <a:ext cx="48" cy="23"/>
                    <a:chOff x="912" y="3716"/>
                    <a:chExt cx="48" cy="23"/>
                  </a:xfrm>
                </p:grpSpPr>
                <p:sp>
                  <p:nvSpPr>
                    <p:cNvPr id="302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3" name="Group 2388"/>
                <p:cNvGrpSpPr>
                  <a:grpSpLocks/>
                </p:cNvGrpSpPr>
                <p:nvPr/>
              </p:nvGrpSpPr>
              <p:grpSpPr bwMode="auto">
                <a:xfrm>
                  <a:off x="922" y="3727"/>
                  <a:ext cx="49" cy="23"/>
                  <a:chOff x="922" y="3727"/>
                  <a:chExt cx="49" cy="23"/>
                </a:xfrm>
              </p:grpSpPr>
              <p:sp>
                <p:nvSpPr>
                  <p:cNvPr id="301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4" name="Group 2392"/>
                <p:cNvGrpSpPr>
                  <a:grpSpLocks/>
                </p:cNvGrpSpPr>
                <p:nvPr/>
              </p:nvGrpSpPr>
              <p:grpSpPr bwMode="auto">
                <a:xfrm>
                  <a:off x="895" y="3526"/>
                  <a:ext cx="44" cy="23"/>
                  <a:chOff x="895" y="3526"/>
                  <a:chExt cx="44" cy="23"/>
                </a:xfrm>
              </p:grpSpPr>
              <p:sp>
                <p:nvSpPr>
                  <p:cNvPr id="301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5" name="Group 2396"/>
                <p:cNvGrpSpPr>
                  <a:grpSpLocks/>
                </p:cNvGrpSpPr>
                <p:nvPr/>
              </p:nvGrpSpPr>
              <p:grpSpPr bwMode="auto">
                <a:xfrm>
                  <a:off x="907" y="3540"/>
                  <a:ext cx="45" cy="22"/>
                  <a:chOff x="907" y="3540"/>
                  <a:chExt cx="45" cy="22"/>
                </a:xfrm>
              </p:grpSpPr>
              <p:sp>
                <p:nvSpPr>
                  <p:cNvPr id="301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6" name="Group 2400"/>
                <p:cNvGrpSpPr>
                  <a:grpSpLocks/>
                </p:cNvGrpSpPr>
                <p:nvPr/>
              </p:nvGrpSpPr>
              <p:grpSpPr bwMode="auto">
                <a:xfrm>
                  <a:off x="920" y="3553"/>
                  <a:ext cx="45" cy="23"/>
                  <a:chOff x="920" y="3553"/>
                  <a:chExt cx="45" cy="23"/>
                </a:xfrm>
              </p:grpSpPr>
              <p:sp>
                <p:nvSpPr>
                  <p:cNvPr id="300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7" name="Group 2404"/>
                <p:cNvGrpSpPr>
                  <a:grpSpLocks/>
                </p:cNvGrpSpPr>
                <p:nvPr/>
              </p:nvGrpSpPr>
              <p:grpSpPr bwMode="auto">
                <a:xfrm>
                  <a:off x="934" y="3566"/>
                  <a:ext cx="44" cy="23"/>
                  <a:chOff x="934" y="3566"/>
                  <a:chExt cx="44" cy="23"/>
                </a:xfrm>
              </p:grpSpPr>
              <p:sp>
                <p:nvSpPr>
                  <p:cNvPr id="300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8" name="Group 2408"/>
                <p:cNvGrpSpPr>
                  <a:grpSpLocks/>
                </p:cNvGrpSpPr>
                <p:nvPr/>
              </p:nvGrpSpPr>
              <p:grpSpPr bwMode="auto">
                <a:xfrm>
                  <a:off x="949" y="3579"/>
                  <a:ext cx="83" cy="63"/>
                  <a:chOff x="949" y="3579"/>
                  <a:chExt cx="83" cy="63"/>
                </a:xfrm>
              </p:grpSpPr>
              <p:grpSp>
                <p:nvGrpSpPr>
                  <p:cNvPr id="2988" name="Group 2409"/>
                  <p:cNvGrpSpPr>
                    <a:grpSpLocks/>
                  </p:cNvGrpSpPr>
                  <p:nvPr/>
                </p:nvGrpSpPr>
                <p:grpSpPr bwMode="auto">
                  <a:xfrm>
                    <a:off x="949" y="3579"/>
                    <a:ext cx="44" cy="23"/>
                    <a:chOff x="949" y="3579"/>
                    <a:chExt cx="44" cy="23"/>
                  </a:xfrm>
                </p:grpSpPr>
                <p:sp>
                  <p:nvSpPr>
                    <p:cNvPr id="300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89" name="Group 2413"/>
                  <p:cNvGrpSpPr>
                    <a:grpSpLocks/>
                  </p:cNvGrpSpPr>
                  <p:nvPr/>
                </p:nvGrpSpPr>
                <p:grpSpPr bwMode="auto">
                  <a:xfrm>
                    <a:off x="961" y="3592"/>
                    <a:ext cx="45" cy="23"/>
                    <a:chOff x="961" y="3592"/>
                    <a:chExt cx="45" cy="23"/>
                  </a:xfrm>
                </p:grpSpPr>
                <p:sp>
                  <p:nvSpPr>
                    <p:cNvPr id="299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0" name="Group 2417"/>
                  <p:cNvGrpSpPr>
                    <a:grpSpLocks/>
                  </p:cNvGrpSpPr>
                  <p:nvPr/>
                </p:nvGrpSpPr>
                <p:grpSpPr bwMode="auto">
                  <a:xfrm>
                    <a:off x="974" y="3606"/>
                    <a:ext cx="44" cy="23"/>
                    <a:chOff x="974" y="3606"/>
                    <a:chExt cx="44" cy="23"/>
                  </a:xfrm>
                </p:grpSpPr>
                <p:sp>
                  <p:nvSpPr>
                    <p:cNvPr id="299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1" name="Group 2421"/>
                  <p:cNvGrpSpPr>
                    <a:grpSpLocks/>
                  </p:cNvGrpSpPr>
                  <p:nvPr/>
                </p:nvGrpSpPr>
                <p:grpSpPr bwMode="auto">
                  <a:xfrm>
                    <a:off x="987" y="3619"/>
                    <a:ext cx="45" cy="23"/>
                    <a:chOff x="987" y="3619"/>
                    <a:chExt cx="45" cy="23"/>
                  </a:xfrm>
                </p:grpSpPr>
                <p:sp>
                  <p:nvSpPr>
                    <p:cNvPr id="299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9" name="Group 2425"/>
                <p:cNvGrpSpPr>
                  <a:grpSpLocks/>
                </p:cNvGrpSpPr>
                <p:nvPr/>
              </p:nvGrpSpPr>
              <p:grpSpPr bwMode="auto">
                <a:xfrm>
                  <a:off x="1002" y="3632"/>
                  <a:ext cx="83" cy="63"/>
                  <a:chOff x="1002" y="3632"/>
                  <a:chExt cx="83" cy="63"/>
                </a:xfrm>
              </p:grpSpPr>
              <p:grpSp>
                <p:nvGrpSpPr>
                  <p:cNvPr id="2972" name="Group 2426"/>
                  <p:cNvGrpSpPr>
                    <a:grpSpLocks/>
                  </p:cNvGrpSpPr>
                  <p:nvPr/>
                </p:nvGrpSpPr>
                <p:grpSpPr bwMode="auto">
                  <a:xfrm>
                    <a:off x="1002" y="3632"/>
                    <a:ext cx="44" cy="22"/>
                    <a:chOff x="1002" y="3632"/>
                    <a:chExt cx="44" cy="22"/>
                  </a:xfrm>
                </p:grpSpPr>
                <p:sp>
                  <p:nvSpPr>
                    <p:cNvPr id="298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3" name="Group 2430"/>
                  <p:cNvGrpSpPr>
                    <a:grpSpLocks/>
                  </p:cNvGrpSpPr>
                  <p:nvPr/>
                </p:nvGrpSpPr>
                <p:grpSpPr bwMode="auto">
                  <a:xfrm>
                    <a:off x="1014" y="3645"/>
                    <a:ext cx="44" cy="23"/>
                    <a:chOff x="1014" y="3645"/>
                    <a:chExt cx="44" cy="23"/>
                  </a:xfrm>
                </p:grpSpPr>
                <p:sp>
                  <p:nvSpPr>
                    <p:cNvPr id="298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4" name="Group 2434"/>
                  <p:cNvGrpSpPr>
                    <a:grpSpLocks/>
                  </p:cNvGrpSpPr>
                  <p:nvPr/>
                </p:nvGrpSpPr>
                <p:grpSpPr bwMode="auto">
                  <a:xfrm>
                    <a:off x="1027" y="3659"/>
                    <a:ext cx="45" cy="23"/>
                    <a:chOff x="1027" y="3659"/>
                    <a:chExt cx="45" cy="23"/>
                  </a:xfrm>
                </p:grpSpPr>
                <p:sp>
                  <p:nvSpPr>
                    <p:cNvPr id="297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5" name="Group 2438"/>
                  <p:cNvGrpSpPr>
                    <a:grpSpLocks/>
                  </p:cNvGrpSpPr>
                  <p:nvPr/>
                </p:nvGrpSpPr>
                <p:grpSpPr bwMode="auto">
                  <a:xfrm>
                    <a:off x="1040" y="3672"/>
                    <a:ext cx="45" cy="23"/>
                    <a:chOff x="1040" y="3672"/>
                    <a:chExt cx="45" cy="23"/>
                  </a:xfrm>
                </p:grpSpPr>
                <p:sp>
                  <p:nvSpPr>
                    <p:cNvPr id="297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90" name="Group 2442"/>
                <p:cNvGrpSpPr>
                  <a:grpSpLocks/>
                </p:cNvGrpSpPr>
                <p:nvPr/>
              </p:nvGrpSpPr>
              <p:grpSpPr bwMode="auto">
                <a:xfrm>
                  <a:off x="1054" y="3685"/>
                  <a:ext cx="45" cy="23"/>
                  <a:chOff x="1054" y="3685"/>
                  <a:chExt cx="45" cy="23"/>
                </a:xfrm>
              </p:grpSpPr>
              <p:sp>
                <p:nvSpPr>
                  <p:cNvPr id="296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1" name="Group 2446"/>
                <p:cNvGrpSpPr>
                  <a:grpSpLocks/>
                </p:cNvGrpSpPr>
                <p:nvPr/>
              </p:nvGrpSpPr>
              <p:grpSpPr bwMode="auto">
                <a:xfrm>
                  <a:off x="1067" y="3698"/>
                  <a:ext cx="45" cy="23"/>
                  <a:chOff x="1067" y="3698"/>
                  <a:chExt cx="45" cy="23"/>
                </a:xfrm>
              </p:grpSpPr>
              <p:sp>
                <p:nvSpPr>
                  <p:cNvPr id="296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2" name="Group 2450"/>
                <p:cNvGrpSpPr>
                  <a:grpSpLocks/>
                </p:cNvGrpSpPr>
                <p:nvPr/>
              </p:nvGrpSpPr>
              <p:grpSpPr bwMode="auto">
                <a:xfrm>
                  <a:off x="1079" y="3712"/>
                  <a:ext cx="44" cy="23"/>
                  <a:chOff x="1079" y="3712"/>
                  <a:chExt cx="44" cy="23"/>
                </a:xfrm>
              </p:grpSpPr>
              <p:sp>
                <p:nvSpPr>
                  <p:cNvPr id="296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3" name="Group 2454"/>
                <p:cNvGrpSpPr>
                  <a:grpSpLocks/>
                </p:cNvGrpSpPr>
                <p:nvPr/>
              </p:nvGrpSpPr>
              <p:grpSpPr bwMode="auto">
                <a:xfrm>
                  <a:off x="1093" y="3725"/>
                  <a:ext cx="45" cy="23"/>
                  <a:chOff x="1093" y="3725"/>
                  <a:chExt cx="45" cy="23"/>
                </a:xfrm>
              </p:grpSpPr>
              <p:sp>
                <p:nvSpPr>
                  <p:cNvPr id="296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4" name="Group 2458"/>
                <p:cNvGrpSpPr>
                  <a:grpSpLocks/>
                </p:cNvGrpSpPr>
                <p:nvPr/>
              </p:nvGrpSpPr>
              <p:grpSpPr bwMode="auto">
                <a:xfrm>
                  <a:off x="1108" y="3739"/>
                  <a:ext cx="44" cy="23"/>
                  <a:chOff x="1108" y="3739"/>
                  <a:chExt cx="44" cy="23"/>
                </a:xfrm>
              </p:grpSpPr>
              <p:sp>
                <p:nvSpPr>
                  <p:cNvPr id="295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5" name="Group 2462"/>
                <p:cNvGrpSpPr>
                  <a:grpSpLocks/>
                </p:cNvGrpSpPr>
                <p:nvPr/>
              </p:nvGrpSpPr>
              <p:grpSpPr bwMode="auto">
                <a:xfrm>
                  <a:off x="1121" y="3753"/>
                  <a:ext cx="45" cy="23"/>
                  <a:chOff x="1121" y="3753"/>
                  <a:chExt cx="45" cy="23"/>
                </a:xfrm>
              </p:grpSpPr>
              <p:sp>
                <p:nvSpPr>
                  <p:cNvPr id="295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6" name="Group 2466"/>
                <p:cNvGrpSpPr>
                  <a:grpSpLocks/>
                </p:cNvGrpSpPr>
                <p:nvPr/>
              </p:nvGrpSpPr>
              <p:grpSpPr bwMode="auto">
                <a:xfrm>
                  <a:off x="1133" y="3767"/>
                  <a:ext cx="44" cy="23"/>
                  <a:chOff x="1133" y="3767"/>
                  <a:chExt cx="44" cy="23"/>
                </a:xfrm>
              </p:grpSpPr>
              <p:sp>
                <p:nvSpPr>
                  <p:cNvPr id="295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9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908" name="Group 2481"/>
                <p:cNvGrpSpPr>
                  <a:grpSpLocks/>
                </p:cNvGrpSpPr>
                <p:nvPr/>
              </p:nvGrpSpPr>
              <p:grpSpPr bwMode="auto">
                <a:xfrm>
                  <a:off x="700" y="3535"/>
                  <a:ext cx="49" cy="24"/>
                  <a:chOff x="700" y="3535"/>
                  <a:chExt cx="49" cy="24"/>
                </a:xfrm>
              </p:grpSpPr>
              <p:sp>
                <p:nvSpPr>
                  <p:cNvPr id="294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09" name="Group 2485"/>
                <p:cNvGrpSpPr>
                  <a:grpSpLocks/>
                </p:cNvGrpSpPr>
                <p:nvPr/>
              </p:nvGrpSpPr>
              <p:grpSpPr bwMode="auto">
                <a:xfrm>
                  <a:off x="714" y="3551"/>
                  <a:ext cx="49" cy="22"/>
                  <a:chOff x="714" y="3551"/>
                  <a:chExt cx="49" cy="22"/>
                </a:xfrm>
              </p:grpSpPr>
              <p:sp>
                <p:nvSpPr>
                  <p:cNvPr id="294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0" name="Group 2489"/>
                <p:cNvGrpSpPr>
                  <a:grpSpLocks/>
                </p:cNvGrpSpPr>
                <p:nvPr/>
              </p:nvGrpSpPr>
              <p:grpSpPr bwMode="auto">
                <a:xfrm>
                  <a:off x="728" y="3564"/>
                  <a:ext cx="48" cy="23"/>
                  <a:chOff x="728" y="3564"/>
                  <a:chExt cx="48" cy="23"/>
                </a:xfrm>
              </p:grpSpPr>
              <p:sp>
                <p:nvSpPr>
                  <p:cNvPr id="294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1" name="Group 2493"/>
                <p:cNvGrpSpPr>
                  <a:grpSpLocks/>
                </p:cNvGrpSpPr>
                <p:nvPr/>
              </p:nvGrpSpPr>
              <p:grpSpPr bwMode="auto">
                <a:xfrm>
                  <a:off x="742" y="3582"/>
                  <a:ext cx="49" cy="23"/>
                  <a:chOff x="742" y="3582"/>
                  <a:chExt cx="49" cy="23"/>
                </a:xfrm>
              </p:grpSpPr>
              <p:sp>
                <p:nvSpPr>
                  <p:cNvPr id="293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2" name="Group 2497"/>
                <p:cNvGrpSpPr>
                  <a:grpSpLocks/>
                </p:cNvGrpSpPr>
                <p:nvPr/>
              </p:nvGrpSpPr>
              <p:grpSpPr bwMode="auto">
                <a:xfrm>
                  <a:off x="752" y="3597"/>
                  <a:ext cx="133" cy="106"/>
                  <a:chOff x="752" y="3597"/>
                  <a:chExt cx="133" cy="106"/>
                </a:xfrm>
              </p:grpSpPr>
              <p:sp>
                <p:nvSpPr>
                  <p:cNvPr id="293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3" name="Group 2501"/>
                <p:cNvGrpSpPr>
                  <a:grpSpLocks/>
                </p:cNvGrpSpPr>
                <p:nvPr/>
              </p:nvGrpSpPr>
              <p:grpSpPr bwMode="auto">
                <a:xfrm>
                  <a:off x="844" y="3694"/>
                  <a:ext cx="48" cy="23"/>
                  <a:chOff x="844" y="3694"/>
                  <a:chExt cx="48" cy="23"/>
                </a:xfrm>
              </p:grpSpPr>
              <p:sp>
                <p:nvSpPr>
                  <p:cNvPr id="293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4" name="Group 2505"/>
                <p:cNvGrpSpPr>
                  <a:grpSpLocks/>
                </p:cNvGrpSpPr>
                <p:nvPr/>
              </p:nvGrpSpPr>
              <p:grpSpPr bwMode="auto">
                <a:xfrm>
                  <a:off x="857" y="3710"/>
                  <a:ext cx="49" cy="22"/>
                  <a:chOff x="857" y="3710"/>
                  <a:chExt cx="49" cy="22"/>
                </a:xfrm>
              </p:grpSpPr>
              <p:sp>
                <p:nvSpPr>
                  <p:cNvPr id="293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5" name="Group 2509"/>
                <p:cNvGrpSpPr>
                  <a:grpSpLocks/>
                </p:cNvGrpSpPr>
                <p:nvPr/>
              </p:nvGrpSpPr>
              <p:grpSpPr bwMode="auto">
                <a:xfrm>
                  <a:off x="1086" y="3766"/>
                  <a:ext cx="49" cy="23"/>
                  <a:chOff x="1086" y="3766"/>
                  <a:chExt cx="49" cy="23"/>
                </a:xfrm>
              </p:grpSpPr>
              <p:sp>
                <p:nvSpPr>
                  <p:cNvPr id="292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6" name="Group 2513"/>
                <p:cNvGrpSpPr>
                  <a:grpSpLocks/>
                </p:cNvGrpSpPr>
                <p:nvPr/>
              </p:nvGrpSpPr>
              <p:grpSpPr bwMode="auto">
                <a:xfrm>
                  <a:off x="934" y="3740"/>
                  <a:ext cx="48" cy="23"/>
                  <a:chOff x="934" y="3740"/>
                  <a:chExt cx="48" cy="23"/>
                </a:xfrm>
              </p:grpSpPr>
              <p:sp>
                <p:nvSpPr>
                  <p:cNvPr id="292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7" name="Group 2517"/>
                <p:cNvGrpSpPr>
                  <a:grpSpLocks/>
                </p:cNvGrpSpPr>
                <p:nvPr/>
              </p:nvGrpSpPr>
              <p:grpSpPr bwMode="auto">
                <a:xfrm>
                  <a:off x="943" y="3754"/>
                  <a:ext cx="49" cy="23"/>
                  <a:chOff x="943" y="3754"/>
                  <a:chExt cx="49" cy="23"/>
                </a:xfrm>
              </p:grpSpPr>
              <p:sp>
                <p:nvSpPr>
                  <p:cNvPr id="292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91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15" name="Group 2524"/>
              <p:cNvGrpSpPr>
                <a:grpSpLocks/>
              </p:cNvGrpSpPr>
              <p:nvPr/>
            </p:nvGrpSpPr>
            <p:grpSpPr bwMode="auto">
              <a:xfrm>
                <a:off x="920" y="3821"/>
                <a:ext cx="413" cy="50"/>
                <a:chOff x="920" y="3821"/>
                <a:chExt cx="413" cy="50"/>
              </a:xfrm>
            </p:grpSpPr>
            <p:sp>
              <p:nvSpPr>
                <p:cNvPr id="283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816" name="Group 2529"/>
              <p:cNvGrpSpPr>
                <a:grpSpLocks/>
              </p:cNvGrpSpPr>
              <p:nvPr/>
            </p:nvGrpSpPr>
            <p:grpSpPr bwMode="auto">
              <a:xfrm>
                <a:off x="1227" y="3477"/>
                <a:ext cx="508" cy="321"/>
                <a:chOff x="1227" y="3477"/>
                <a:chExt cx="508" cy="321"/>
              </a:xfrm>
            </p:grpSpPr>
            <p:sp>
              <p:nvSpPr>
                <p:cNvPr id="281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aphicFrame>
          <p:nvGraphicFramePr>
            <p:cNvPr id="3254" name="Object 58"/>
            <p:cNvGraphicFramePr>
              <a:graphicFrameLocks noChangeAspect="1"/>
            </p:cNvGraphicFramePr>
            <p:nvPr>
              <p:extLst/>
            </p:nvPr>
          </p:nvGraphicFramePr>
          <p:xfrm>
            <a:off x="1979613" y="3213100"/>
            <a:ext cx="1390650" cy="1008063"/>
          </p:xfrm>
          <a:graphic>
            <a:graphicData uri="http://schemas.openxmlformats.org/presentationml/2006/ole">
              <mc:AlternateContent xmlns:mc="http://schemas.openxmlformats.org/markup-compatibility/2006">
                <mc:Choice xmlns:v="urn:schemas-microsoft-com:vml" Requires="v">
                  <p:oleObj spid="_x0000_s30829" name="VISIO" r:id="rId8" imgW="1687068" imgH="964692" progId="">
                    <p:embed/>
                  </p:oleObj>
                </mc:Choice>
                <mc:Fallback>
                  <p:oleObj name="VISIO" r:id="rId8" imgW="1687068" imgH="964692" progId="">
                    <p:embed/>
                    <p:pic>
                      <p:nvPicPr>
                        <p:cNvPr id="3254" name="Object 5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79613" y="3213100"/>
                          <a:ext cx="1390650" cy="100806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5" name="Object 58"/>
            <p:cNvGraphicFramePr>
              <a:graphicFrameLocks noChangeAspect="1"/>
            </p:cNvGraphicFramePr>
            <p:nvPr>
              <p:extLst/>
            </p:nvPr>
          </p:nvGraphicFramePr>
          <p:xfrm>
            <a:off x="6227763" y="3500438"/>
            <a:ext cx="1292225" cy="936625"/>
          </p:xfrm>
          <a:graphic>
            <a:graphicData uri="http://schemas.openxmlformats.org/presentationml/2006/ole">
              <mc:AlternateContent xmlns:mc="http://schemas.openxmlformats.org/markup-compatibility/2006">
                <mc:Choice xmlns:v="urn:schemas-microsoft-com:vml" Requires="v">
                  <p:oleObj spid="_x0000_s30830" name="VISIO" r:id="rId9" imgW="1687068" imgH="964692" progId="">
                    <p:embed/>
                  </p:oleObj>
                </mc:Choice>
                <mc:Fallback>
                  <p:oleObj name="VISIO" r:id="rId9" imgW="1687068" imgH="964692" progId="">
                    <p:embed/>
                    <p:pic>
                      <p:nvPicPr>
                        <p:cNvPr id="3255" name="Object 5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27763" y="3500438"/>
                          <a:ext cx="1292225" cy="93662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6" name="Object 58"/>
            <p:cNvGraphicFramePr>
              <a:graphicFrameLocks noChangeAspect="1"/>
            </p:cNvGraphicFramePr>
            <p:nvPr>
              <p:extLst/>
            </p:nvPr>
          </p:nvGraphicFramePr>
          <p:xfrm>
            <a:off x="3132138" y="2636838"/>
            <a:ext cx="658812" cy="477837"/>
          </p:xfrm>
          <a:graphic>
            <a:graphicData uri="http://schemas.openxmlformats.org/presentationml/2006/ole">
              <mc:AlternateContent xmlns:mc="http://schemas.openxmlformats.org/markup-compatibility/2006">
                <mc:Choice xmlns:v="urn:schemas-microsoft-com:vml" Requires="v">
                  <p:oleObj spid="_x0000_s30831" name="VISIO" r:id="rId10" imgW="1687068" imgH="964692" progId="">
                    <p:embed/>
                  </p:oleObj>
                </mc:Choice>
                <mc:Fallback>
                  <p:oleObj name="VISIO" r:id="rId10" imgW="1687068" imgH="964692" progId="">
                    <p:embed/>
                    <p:pic>
                      <p:nvPicPr>
                        <p:cNvPr id="3256" name="Object 5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2138" y="2636838"/>
                          <a:ext cx="658812" cy="4778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cxnSp>
          <p:nvCxnSpPr>
            <p:cNvPr id="3257" name="直接连接符 8018"/>
            <p:cNvCxnSpPr>
              <a:cxnSpLocks noChangeShapeType="1"/>
              <a:stCxn id="517" idx="6"/>
            </p:cNvCxnSpPr>
            <p:nvPr/>
          </p:nvCxnSpPr>
          <p:spPr bwMode="auto">
            <a:xfrm flipV="1">
              <a:off x="2195513" y="2852738"/>
              <a:ext cx="1008062"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258" name="直接连接符 8020"/>
            <p:cNvCxnSpPr>
              <a:cxnSpLocks noChangeShapeType="1"/>
            </p:cNvCxnSpPr>
            <p:nvPr/>
          </p:nvCxnSpPr>
          <p:spPr bwMode="auto">
            <a:xfrm>
              <a:off x="3708400" y="2924175"/>
              <a:ext cx="647700" cy="2889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3259" name="Text Box 1189"/>
            <p:cNvSpPr txBox="1">
              <a:spLocks noChangeArrowheads="1"/>
            </p:cNvSpPr>
            <p:nvPr/>
          </p:nvSpPr>
          <p:spPr bwMode="auto">
            <a:xfrm>
              <a:off x="7729538" y="295276"/>
              <a:ext cx="1009277" cy="454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CC"/>
                  </a:solidFill>
                  <a:latin typeface="微软雅黑" panose="020B0503020204020204" pitchFamily="34" charset="-122"/>
                  <a:ea typeface="微软雅黑" panose="020B0503020204020204" pitchFamily="34" charset="-122"/>
                </a:rPr>
                <a:t>覆盖网络</a:t>
              </a:r>
            </a:p>
          </p:txBody>
        </p:sp>
        <p:sp>
          <p:nvSpPr>
            <p:cNvPr id="3260" name="Text Box 1189"/>
            <p:cNvSpPr txBox="1">
              <a:spLocks noChangeArrowheads="1"/>
            </p:cNvSpPr>
            <p:nvPr/>
          </p:nvSpPr>
          <p:spPr bwMode="auto">
            <a:xfrm>
              <a:off x="7775574" y="2597150"/>
              <a:ext cx="963240" cy="75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实际网络</a:t>
              </a:r>
            </a:p>
          </p:txBody>
        </p:sp>
        <p:sp>
          <p:nvSpPr>
            <p:cNvPr id="3261" name="Text Box 3475"/>
            <p:cNvSpPr txBox="1">
              <a:spLocks noChangeArrowheads="1"/>
            </p:cNvSpPr>
            <p:nvPr/>
          </p:nvSpPr>
          <p:spPr bwMode="auto">
            <a:xfrm>
              <a:off x="533400" y="42116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3262" name="Text Box 3475"/>
            <p:cNvSpPr txBox="1">
              <a:spLocks noChangeArrowheads="1"/>
            </p:cNvSpPr>
            <p:nvPr/>
          </p:nvSpPr>
          <p:spPr bwMode="auto">
            <a:xfrm>
              <a:off x="6804025" y="2781300"/>
              <a:ext cx="2792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C</a:t>
              </a:r>
              <a:endParaRPr lang="en-US" altLang="zh-CN" sz="1100" b="1" i="1">
                <a:latin typeface="微软雅黑" panose="020B0503020204020204" pitchFamily="34" charset="-122"/>
                <a:ea typeface="微软雅黑" panose="020B0503020204020204" pitchFamily="34" charset="-122"/>
              </a:endParaRPr>
            </a:p>
          </p:txBody>
        </p:sp>
        <p:sp>
          <p:nvSpPr>
            <p:cNvPr id="3263" name="Text Box 3475"/>
            <p:cNvSpPr txBox="1">
              <a:spLocks noChangeArrowheads="1"/>
            </p:cNvSpPr>
            <p:nvPr/>
          </p:nvSpPr>
          <p:spPr bwMode="auto">
            <a:xfrm>
              <a:off x="5413375" y="41894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i="1">
                <a:latin typeface="微软雅黑" panose="020B0503020204020204" pitchFamily="34" charset="-122"/>
                <a:ea typeface="微软雅黑" panose="020B0503020204020204" pitchFamily="34" charset="-122"/>
              </a:endParaRPr>
            </a:p>
          </p:txBody>
        </p:sp>
        <p:sp>
          <p:nvSpPr>
            <p:cNvPr id="3264" name="Text Box 3475"/>
            <p:cNvSpPr txBox="1">
              <a:spLocks noChangeArrowheads="1"/>
            </p:cNvSpPr>
            <p:nvPr/>
          </p:nvSpPr>
          <p:spPr bwMode="auto">
            <a:xfrm>
              <a:off x="2843213" y="4292600"/>
              <a:ext cx="2968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
              </a:r>
            </a:p>
          </p:txBody>
        </p:sp>
      </p:grpSp>
      <p:sp>
        <p:nvSpPr>
          <p:cNvPr id="3265"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extLst>
      <p:ext uri="{BB962C8B-B14F-4D97-AF65-F5344CB8AC3E}">
        <p14:creationId xmlns:p14="http://schemas.microsoft.com/office/powerpoint/2010/main" val="32964003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465062" y="1053029"/>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Rectangle 303"/>
          <p:cNvSpPr>
            <a:spLocks noChangeArrowheads="1"/>
          </p:cNvSpPr>
          <p:nvPr/>
        </p:nvSpPr>
        <p:spPr bwMode="auto">
          <a:xfrm>
            <a:off x="2187660" y="2517488"/>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65" name="Rectangle 304"/>
          <p:cNvSpPr>
            <a:spLocks noChangeArrowheads="1"/>
          </p:cNvSpPr>
          <p:nvPr/>
        </p:nvSpPr>
        <p:spPr bwMode="auto">
          <a:xfrm>
            <a:off x="5003878" y="2517488"/>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66" name="Rectangle 305"/>
          <p:cNvSpPr>
            <a:spLocks noChangeArrowheads="1"/>
          </p:cNvSpPr>
          <p:nvPr/>
        </p:nvSpPr>
        <p:spPr bwMode="auto">
          <a:xfrm>
            <a:off x="3597275" y="3548100"/>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0" name="Rectangle 305"/>
          <p:cNvSpPr>
            <a:spLocks noChangeArrowheads="1"/>
          </p:cNvSpPr>
          <p:nvPr/>
        </p:nvSpPr>
        <p:spPr bwMode="auto">
          <a:xfrm>
            <a:off x="3651250" y="1640470"/>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693660" y="575054"/>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对等方之间互相传送文件数据块</a:t>
            </a:r>
          </a:p>
        </p:txBody>
      </p:sp>
      <p:sp>
        <p:nvSpPr>
          <p:cNvPr id="32" name="Rectangle 260"/>
          <p:cNvSpPr>
            <a:spLocks noChangeArrowheads="1"/>
          </p:cNvSpPr>
          <p:nvPr/>
        </p:nvSpPr>
        <p:spPr bwMode="auto">
          <a:xfrm>
            <a:off x="23400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3" name="Rectangle 261"/>
          <p:cNvSpPr>
            <a:spLocks noChangeArrowheads="1"/>
          </p:cNvSpPr>
          <p:nvPr/>
        </p:nvSpPr>
        <p:spPr bwMode="auto">
          <a:xfrm>
            <a:off x="2644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4" name="Rectangle 262"/>
          <p:cNvSpPr>
            <a:spLocks noChangeArrowheads="1"/>
          </p:cNvSpPr>
          <p:nvPr/>
        </p:nvSpPr>
        <p:spPr bwMode="auto">
          <a:xfrm>
            <a:off x="274328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5" name="Rectangle 263"/>
          <p:cNvSpPr>
            <a:spLocks noChangeArrowheads="1"/>
          </p:cNvSpPr>
          <p:nvPr/>
        </p:nvSpPr>
        <p:spPr bwMode="auto">
          <a:xfrm>
            <a:off x="29496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6" name="Rectangle 265"/>
          <p:cNvSpPr>
            <a:spLocks noChangeArrowheads="1"/>
          </p:cNvSpPr>
          <p:nvPr/>
        </p:nvSpPr>
        <p:spPr bwMode="auto">
          <a:xfrm>
            <a:off x="321001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7" name="Rectangle 266"/>
          <p:cNvSpPr>
            <a:spLocks noChangeArrowheads="1"/>
          </p:cNvSpPr>
          <p:nvPr/>
        </p:nvSpPr>
        <p:spPr bwMode="auto">
          <a:xfrm>
            <a:off x="3406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8" name="Rectangle 267"/>
          <p:cNvSpPr>
            <a:spLocks noChangeArrowheads="1"/>
          </p:cNvSpPr>
          <p:nvPr/>
        </p:nvSpPr>
        <p:spPr bwMode="auto">
          <a:xfrm>
            <a:off x="380373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39" name="Rectangle 268"/>
          <p:cNvSpPr>
            <a:spLocks noChangeArrowheads="1"/>
          </p:cNvSpPr>
          <p:nvPr/>
        </p:nvSpPr>
        <p:spPr bwMode="auto">
          <a:xfrm>
            <a:off x="504832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0" name="Rectangle 269"/>
          <p:cNvSpPr>
            <a:spLocks noChangeArrowheads="1"/>
          </p:cNvSpPr>
          <p:nvPr/>
        </p:nvSpPr>
        <p:spPr bwMode="auto">
          <a:xfrm>
            <a:off x="52277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1" name="Rectangle 270"/>
          <p:cNvSpPr>
            <a:spLocks noChangeArrowheads="1"/>
          </p:cNvSpPr>
          <p:nvPr/>
        </p:nvSpPr>
        <p:spPr bwMode="auto">
          <a:xfrm>
            <a:off x="555759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2" name="Rectangle 271"/>
          <p:cNvSpPr>
            <a:spLocks noChangeArrowheads="1"/>
          </p:cNvSpPr>
          <p:nvPr/>
        </p:nvSpPr>
        <p:spPr bwMode="auto">
          <a:xfrm>
            <a:off x="62087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3" name="Rectangle 272"/>
          <p:cNvSpPr>
            <a:spLocks noChangeArrowheads="1"/>
          </p:cNvSpPr>
          <p:nvPr/>
        </p:nvSpPr>
        <p:spPr bwMode="auto">
          <a:xfrm>
            <a:off x="64754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4" name="Rectangle 273"/>
          <p:cNvSpPr>
            <a:spLocks noChangeArrowheads="1"/>
          </p:cNvSpPr>
          <p:nvPr/>
        </p:nvSpPr>
        <p:spPr bwMode="auto">
          <a:xfrm>
            <a:off x="66374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5" name="Rectangle 274"/>
          <p:cNvSpPr>
            <a:spLocks noChangeArrowheads="1"/>
          </p:cNvSpPr>
          <p:nvPr/>
        </p:nvSpPr>
        <p:spPr bwMode="auto">
          <a:xfrm>
            <a:off x="67310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6" name="Rectangle 275"/>
          <p:cNvSpPr>
            <a:spLocks noChangeArrowheads="1"/>
          </p:cNvSpPr>
          <p:nvPr/>
        </p:nvSpPr>
        <p:spPr bwMode="auto">
          <a:xfrm>
            <a:off x="37496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7" name="Rectangle 276"/>
          <p:cNvSpPr>
            <a:spLocks noChangeArrowheads="1"/>
          </p:cNvSpPr>
          <p:nvPr/>
        </p:nvSpPr>
        <p:spPr bwMode="auto">
          <a:xfrm>
            <a:off x="406400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8" name="Rectangle 277"/>
          <p:cNvSpPr>
            <a:spLocks noChangeArrowheads="1"/>
          </p:cNvSpPr>
          <p:nvPr/>
        </p:nvSpPr>
        <p:spPr bwMode="auto">
          <a:xfrm>
            <a:off x="43592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49" name="Rectangle 278"/>
          <p:cNvSpPr>
            <a:spLocks noChangeArrowheads="1"/>
          </p:cNvSpPr>
          <p:nvPr/>
        </p:nvSpPr>
        <p:spPr bwMode="auto">
          <a:xfrm>
            <a:off x="36417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50" name="Rectangle 279"/>
          <p:cNvSpPr>
            <a:spLocks noChangeArrowheads="1"/>
          </p:cNvSpPr>
          <p:nvPr/>
        </p:nvSpPr>
        <p:spPr bwMode="auto">
          <a:xfrm>
            <a:off x="4764088"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51" name="Rectangle 280"/>
          <p:cNvSpPr>
            <a:spLocks noChangeArrowheads="1"/>
          </p:cNvSpPr>
          <p:nvPr/>
        </p:nvSpPr>
        <p:spPr bwMode="auto">
          <a:xfrm>
            <a:off x="49371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52" name="Rectangle 281"/>
          <p:cNvSpPr>
            <a:spLocks noChangeArrowheads="1"/>
          </p:cNvSpPr>
          <p:nvPr/>
        </p:nvSpPr>
        <p:spPr bwMode="auto">
          <a:xfrm>
            <a:off x="52133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53" name="Text Box 284"/>
          <p:cNvSpPr txBox="1">
            <a:spLocks noChangeArrowheads="1"/>
          </p:cNvSpPr>
          <p:nvPr/>
        </p:nvSpPr>
        <p:spPr bwMode="auto">
          <a:xfrm>
            <a:off x="1197060" y="2547070"/>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A</a:t>
            </a:r>
          </a:p>
        </p:txBody>
      </p:sp>
      <p:sp>
        <p:nvSpPr>
          <p:cNvPr id="54" name="Text Box 287"/>
          <p:cNvSpPr txBox="1">
            <a:spLocks noChangeArrowheads="1"/>
          </p:cNvSpPr>
          <p:nvPr/>
        </p:nvSpPr>
        <p:spPr bwMode="auto">
          <a:xfrm>
            <a:off x="6919990" y="2515320"/>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C</a:t>
            </a:r>
          </a:p>
        </p:txBody>
      </p:sp>
      <p:sp>
        <p:nvSpPr>
          <p:cNvPr id="55" name="Text Box 290"/>
          <p:cNvSpPr txBox="1">
            <a:spLocks noChangeArrowheads="1"/>
          </p:cNvSpPr>
          <p:nvPr/>
        </p:nvSpPr>
        <p:spPr bwMode="auto">
          <a:xfrm>
            <a:off x="2584450" y="3640140"/>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D</a:t>
            </a:r>
          </a:p>
        </p:txBody>
      </p:sp>
      <p:sp>
        <p:nvSpPr>
          <p:cNvPr id="56" name="Text Box 293"/>
          <p:cNvSpPr txBox="1">
            <a:spLocks noChangeArrowheads="1"/>
          </p:cNvSpPr>
          <p:nvPr/>
        </p:nvSpPr>
        <p:spPr bwMode="auto">
          <a:xfrm>
            <a:off x="4065588" y="1322390"/>
            <a:ext cx="7986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B</a:t>
            </a:r>
          </a:p>
        </p:txBody>
      </p:sp>
      <p:sp>
        <p:nvSpPr>
          <p:cNvPr id="57" name="Line 294"/>
          <p:cNvSpPr>
            <a:spLocks noChangeShapeType="1"/>
          </p:cNvSpPr>
          <p:nvPr/>
        </p:nvSpPr>
        <p:spPr bwMode="auto">
          <a:xfrm>
            <a:off x="4565650" y="1988950"/>
            <a:ext cx="0" cy="1574990"/>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58" name="Line 295"/>
          <p:cNvSpPr>
            <a:spLocks noChangeShapeType="1"/>
          </p:cNvSpPr>
          <p:nvPr/>
        </p:nvSpPr>
        <p:spPr bwMode="auto">
          <a:xfrm flipH="1">
            <a:off x="3263984" y="2005928"/>
            <a:ext cx="647615" cy="509392"/>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59" name="Line 296"/>
          <p:cNvSpPr>
            <a:spLocks noChangeShapeType="1"/>
          </p:cNvSpPr>
          <p:nvPr/>
        </p:nvSpPr>
        <p:spPr bwMode="auto">
          <a:xfrm>
            <a:off x="5327650" y="2005928"/>
            <a:ext cx="685800" cy="509392"/>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60" name="Line 298"/>
          <p:cNvSpPr>
            <a:spLocks noChangeShapeType="1"/>
          </p:cNvSpPr>
          <p:nvPr/>
        </p:nvSpPr>
        <p:spPr bwMode="auto">
          <a:xfrm flipH="1">
            <a:off x="4087869" y="2704525"/>
            <a:ext cx="930353" cy="0"/>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61" name="Line 300"/>
          <p:cNvSpPr>
            <a:spLocks noChangeShapeType="1"/>
          </p:cNvSpPr>
          <p:nvPr/>
        </p:nvSpPr>
        <p:spPr bwMode="auto">
          <a:xfrm flipH="1" flipV="1">
            <a:off x="3263983" y="2865968"/>
            <a:ext cx="592741" cy="700602"/>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62" name="Line 301"/>
          <p:cNvSpPr>
            <a:spLocks noChangeShapeType="1"/>
          </p:cNvSpPr>
          <p:nvPr/>
        </p:nvSpPr>
        <p:spPr bwMode="auto">
          <a:xfrm flipV="1">
            <a:off x="5099050" y="2865968"/>
            <a:ext cx="571500" cy="697972"/>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67" name="Rectangle 306"/>
          <p:cNvSpPr>
            <a:spLocks noChangeArrowheads="1"/>
          </p:cNvSpPr>
          <p:nvPr/>
        </p:nvSpPr>
        <p:spPr bwMode="auto">
          <a:xfrm>
            <a:off x="7002463" y="172726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68" name="Text Box 307"/>
          <p:cNvSpPr txBox="1">
            <a:spLocks noChangeArrowheads="1"/>
          </p:cNvSpPr>
          <p:nvPr/>
        </p:nvSpPr>
        <p:spPr bwMode="auto">
          <a:xfrm>
            <a:off x="7232650" y="1727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数据块</a:t>
            </a:r>
          </a:p>
        </p:txBody>
      </p:sp>
      <p:sp>
        <p:nvSpPr>
          <p:cNvPr id="69" name="Text Box 308"/>
          <p:cNvSpPr txBox="1">
            <a:spLocks noChangeArrowheads="1"/>
          </p:cNvSpPr>
          <p:nvPr/>
        </p:nvSpPr>
        <p:spPr bwMode="auto">
          <a:xfrm>
            <a:off x="7232650" y="1346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图例：</a:t>
            </a:r>
          </a:p>
        </p:txBody>
      </p:sp>
      <p:sp>
        <p:nvSpPr>
          <p:cNvPr id="70" name="Line 310"/>
          <p:cNvSpPr>
            <a:spLocks noChangeShapeType="1"/>
          </p:cNvSpPr>
          <p:nvPr/>
        </p:nvSpPr>
        <p:spPr bwMode="auto">
          <a:xfrm>
            <a:off x="6875463" y="2216210"/>
            <a:ext cx="304800" cy="0"/>
          </a:xfrm>
          <a:prstGeom prst="line">
            <a:avLst/>
          </a:prstGeom>
          <a:noFill/>
          <a:ln w="28575">
            <a:solidFill>
              <a:srgbClr val="CC00CC"/>
            </a:solidFill>
            <a:round/>
            <a:headEnd/>
            <a:tailEnd type="none" w="med" len="lg"/>
          </a:ln>
          <a:extLst>
            <a:ext uri="{909E8E84-426E-40DD-AFC4-6F175D3DCCD1}">
              <a14:hiddenFill xmlns:a14="http://schemas.microsoft.com/office/drawing/2010/main">
                <a:noFill/>
              </a14:hiddenFill>
            </a:ext>
          </a:extLst>
        </p:spPr>
        <p:txBody>
          <a:bodyPr/>
          <a:lstStyle/>
          <a:p>
            <a:endParaRPr lang="zh-CN" altLang="en-US" sz="1400" b="1" kern="0">
              <a:solidFill>
                <a:sysClr val="windowText" lastClr="000000"/>
              </a:solidFill>
              <a:latin typeface="微软雅黑" pitchFamily="34" charset="-122"/>
              <a:ea typeface="微软雅黑" pitchFamily="34" charset="-122"/>
            </a:endParaRPr>
          </a:p>
        </p:txBody>
      </p:sp>
      <p:sp>
        <p:nvSpPr>
          <p:cNvPr id="71" name="Text Box 311"/>
          <p:cNvSpPr txBox="1">
            <a:spLocks noChangeArrowheads="1"/>
          </p:cNvSpPr>
          <p:nvPr/>
        </p:nvSpPr>
        <p:spPr bwMode="auto">
          <a:xfrm>
            <a:off x="7156451" y="2063590"/>
            <a:ext cx="1125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dirty="0" smtClean="0">
                <a:latin typeface="微软雅黑" pitchFamily="34" charset="-122"/>
                <a:ea typeface="微软雅黑" pitchFamily="34" charset="-122"/>
              </a:rPr>
              <a:t>对等连接</a:t>
            </a:r>
            <a:endParaRPr lang="zh-CN" altLang="en-US" sz="1200" b="1" dirty="0">
              <a:latin typeface="微软雅黑" pitchFamily="34" charset="-122"/>
              <a:ea typeface="微软雅黑" pitchFamily="34" charset="-122"/>
            </a:endParaRPr>
          </a:p>
        </p:txBody>
      </p:sp>
      <p:sp>
        <p:nvSpPr>
          <p:cNvPr id="72" name="矩形 71"/>
          <p:cNvSpPr/>
          <p:nvPr/>
        </p:nvSpPr>
        <p:spPr>
          <a:xfrm>
            <a:off x="6775450" y="1651060"/>
            <a:ext cx="1600200" cy="685800"/>
          </a:xfrm>
          <a:prstGeom prst="rect">
            <a:avLst/>
          </a:prstGeom>
          <a:noFill/>
          <a:ln w="12700" cap="flat" cmpd="sng" algn="ctr">
            <a:solidFill>
              <a:schemeClr val="tx1"/>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FFFFFF"/>
              </a:solidFill>
              <a:effectLst/>
              <a:uLnTx/>
              <a:uFillTx/>
              <a:latin typeface="微软雅黑" pitchFamily="34" charset="-122"/>
              <a:ea typeface="微软雅黑" pitchFamily="34" charset="-122"/>
            </a:endParaRPr>
          </a:p>
        </p:txBody>
      </p:sp>
      <p:sp>
        <p:nvSpPr>
          <p:cNvPr id="73" name="Rectangle 275"/>
          <p:cNvSpPr>
            <a:spLocks noChangeArrowheads="1"/>
          </p:cNvSpPr>
          <p:nvPr/>
        </p:nvSpPr>
        <p:spPr bwMode="auto">
          <a:xfrm>
            <a:off x="40005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4" name="Rectangle 276"/>
          <p:cNvSpPr>
            <a:spLocks noChangeArrowheads="1"/>
          </p:cNvSpPr>
          <p:nvPr/>
        </p:nvSpPr>
        <p:spPr bwMode="auto">
          <a:xfrm>
            <a:off x="411797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5" name="Rectangle 277"/>
          <p:cNvSpPr>
            <a:spLocks noChangeArrowheads="1"/>
          </p:cNvSpPr>
          <p:nvPr/>
        </p:nvSpPr>
        <p:spPr bwMode="auto">
          <a:xfrm>
            <a:off x="46418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6" name="Rectangle 278"/>
          <p:cNvSpPr>
            <a:spLocks noChangeArrowheads="1"/>
          </p:cNvSpPr>
          <p:nvPr/>
        </p:nvSpPr>
        <p:spPr bwMode="auto">
          <a:xfrm>
            <a:off x="36957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7" name="Rectangle 279"/>
          <p:cNvSpPr>
            <a:spLocks noChangeArrowheads="1"/>
          </p:cNvSpPr>
          <p:nvPr/>
        </p:nvSpPr>
        <p:spPr bwMode="auto">
          <a:xfrm>
            <a:off x="4818063"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8" name="Rectangle 280"/>
          <p:cNvSpPr>
            <a:spLocks noChangeArrowheads="1"/>
          </p:cNvSpPr>
          <p:nvPr/>
        </p:nvSpPr>
        <p:spPr bwMode="auto">
          <a:xfrm>
            <a:off x="49149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79" name="Rectangle 281"/>
          <p:cNvSpPr>
            <a:spLocks noChangeArrowheads="1"/>
          </p:cNvSpPr>
          <p:nvPr/>
        </p:nvSpPr>
        <p:spPr bwMode="auto">
          <a:xfrm>
            <a:off x="52919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1" name="Rectangle 278"/>
          <p:cNvSpPr>
            <a:spLocks noChangeArrowheads="1"/>
          </p:cNvSpPr>
          <p:nvPr/>
        </p:nvSpPr>
        <p:spPr bwMode="auto">
          <a:xfrm>
            <a:off x="38036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2" name="Rectangle 278"/>
          <p:cNvSpPr>
            <a:spLocks noChangeArrowheads="1"/>
          </p:cNvSpPr>
          <p:nvPr/>
        </p:nvSpPr>
        <p:spPr bwMode="auto">
          <a:xfrm>
            <a:off x="42291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3" name="Rectangle 278"/>
          <p:cNvSpPr>
            <a:spLocks noChangeArrowheads="1"/>
          </p:cNvSpPr>
          <p:nvPr/>
        </p:nvSpPr>
        <p:spPr bwMode="auto">
          <a:xfrm>
            <a:off x="4337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4" name="Rectangle 269"/>
          <p:cNvSpPr>
            <a:spLocks noChangeArrowheads="1"/>
          </p:cNvSpPr>
          <p:nvPr/>
        </p:nvSpPr>
        <p:spPr bwMode="auto">
          <a:xfrm>
            <a:off x="53801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5" name="Rectangle 281"/>
          <p:cNvSpPr>
            <a:spLocks noChangeArrowheads="1"/>
          </p:cNvSpPr>
          <p:nvPr/>
        </p:nvSpPr>
        <p:spPr bwMode="auto">
          <a:xfrm>
            <a:off x="51646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6" name="Rectangle 281"/>
          <p:cNvSpPr>
            <a:spLocks noChangeArrowheads="1"/>
          </p:cNvSpPr>
          <p:nvPr/>
        </p:nvSpPr>
        <p:spPr bwMode="auto">
          <a:xfrm>
            <a:off x="54197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7" name="Rectangle 270"/>
          <p:cNvSpPr>
            <a:spLocks noChangeArrowheads="1"/>
          </p:cNvSpPr>
          <p:nvPr/>
        </p:nvSpPr>
        <p:spPr bwMode="auto">
          <a:xfrm>
            <a:off x="59182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8" name="Rectangle 277"/>
          <p:cNvSpPr>
            <a:spLocks noChangeArrowheads="1"/>
          </p:cNvSpPr>
          <p:nvPr/>
        </p:nvSpPr>
        <p:spPr bwMode="auto">
          <a:xfrm>
            <a:off x="44894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89" name="Rectangle 281"/>
          <p:cNvSpPr>
            <a:spLocks noChangeArrowheads="1"/>
          </p:cNvSpPr>
          <p:nvPr/>
        </p:nvSpPr>
        <p:spPr bwMode="auto">
          <a:xfrm>
            <a:off x="53276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90"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
        <p:nvSpPr>
          <p:cNvPr id="94" name="Rectangle 260"/>
          <p:cNvSpPr>
            <a:spLocks noChangeArrowheads="1"/>
          </p:cNvSpPr>
          <p:nvPr/>
        </p:nvSpPr>
        <p:spPr bwMode="auto">
          <a:xfrm>
            <a:off x="2336416" y="2530399"/>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95" name="Rectangle 275"/>
          <p:cNvSpPr>
            <a:spLocks noChangeArrowheads="1"/>
          </p:cNvSpPr>
          <p:nvPr/>
        </p:nvSpPr>
        <p:spPr bwMode="auto">
          <a:xfrm>
            <a:off x="40005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96" name="Rectangle 269"/>
          <p:cNvSpPr>
            <a:spLocks noChangeArrowheads="1"/>
          </p:cNvSpPr>
          <p:nvPr/>
        </p:nvSpPr>
        <p:spPr bwMode="auto">
          <a:xfrm>
            <a:off x="5380115" y="2527724"/>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97" name="Rectangle 280"/>
          <p:cNvSpPr>
            <a:spLocks noChangeArrowheads="1"/>
          </p:cNvSpPr>
          <p:nvPr/>
        </p:nvSpPr>
        <p:spPr bwMode="auto">
          <a:xfrm>
            <a:off x="4946649"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
        <p:nvSpPr>
          <p:cNvPr id="98" name="Rectangle 277"/>
          <p:cNvSpPr>
            <a:spLocks noChangeArrowheads="1"/>
          </p:cNvSpPr>
          <p:nvPr/>
        </p:nvSpPr>
        <p:spPr bwMode="auto">
          <a:xfrm>
            <a:off x="43592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7137605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repeatCount="indefinite" accel="50000" decel="50000" fill="hold" grpId="0" nodeType="clickEffect">
                                  <p:stCondLst>
                                    <p:cond delay="0"/>
                                  </p:stCondLst>
                                  <p:endCondLst>
                                    <p:cond evt="onNext" delay="0">
                                      <p:tgtEl>
                                        <p:sldTgt/>
                                      </p:tgtEl>
                                    </p:cond>
                                  </p:endCondLst>
                                  <p:childTnLst>
                                    <p:animMotion origin="layout" path="M 4.44444E-6 -8.64198E-7 L 0.17187 0.19877 " pathEditMode="relative" rAng="0" ptsTypes="AA">
                                      <p:cBhvr>
                                        <p:cTn id="6" dur="2000" fill="hold"/>
                                        <p:tgtEl>
                                          <p:spTgt spid="32"/>
                                        </p:tgtEl>
                                        <p:attrNameLst>
                                          <p:attrName>ppt_x</p:attrName>
                                          <p:attrName>ppt_y</p:attrName>
                                        </p:attrNameLst>
                                      </p:cBhvr>
                                      <p:rCtr x="8594" y="9938"/>
                                    </p:animMotion>
                                  </p:childTnLst>
                                </p:cTn>
                              </p:par>
                              <p:par>
                                <p:cTn id="7" presetID="42" presetClass="path" presetSubtype="0" repeatCount="indefinite" accel="50000" decel="50000" fill="hold" grpId="0" nodeType="withEffect">
                                  <p:stCondLst>
                                    <p:cond delay="0"/>
                                  </p:stCondLst>
                                  <p:endCondLst>
                                    <p:cond evt="onNext" delay="0">
                                      <p:tgtEl>
                                        <p:sldTgt/>
                                      </p:tgtEl>
                                    </p:cond>
                                  </p:endCondLst>
                                  <p:childTnLst>
                                    <p:animMotion origin="layout" path="M -2.77778E-6 0.00093 L -0.0375 0.16821 " pathEditMode="relative" rAng="0" ptsTypes="AA">
                                      <p:cBhvr>
                                        <p:cTn id="8" dur="2000" fill="hold"/>
                                        <p:tgtEl>
                                          <p:spTgt spid="95"/>
                                        </p:tgtEl>
                                        <p:attrNameLst>
                                          <p:attrName>ppt_x</p:attrName>
                                          <p:attrName>ppt_y</p:attrName>
                                        </p:attrNameLst>
                                      </p:cBhvr>
                                      <p:rCtr x="-1875" y="8364"/>
                                    </p:animMotion>
                                  </p:childTnLst>
                                </p:cTn>
                              </p:par>
                              <p:par>
                                <p:cTn id="9" presetID="42" presetClass="path" presetSubtype="0" repeatCount="indefinite" accel="50000" decel="50000" fill="hold" grpId="0" nodeType="withEffect">
                                  <p:stCondLst>
                                    <p:cond delay="0"/>
                                  </p:stCondLst>
                                  <p:endCondLst>
                                    <p:cond evt="onNext" delay="0">
                                      <p:tgtEl>
                                        <p:sldTgt/>
                                      </p:tgtEl>
                                    </p:cond>
                                  </p:endCondLst>
                                  <p:childTnLst>
                                    <p:animMotion origin="layout" path="M -8.33333E-7 2.34568E-6 L -0.03819 -0.16729 " pathEditMode="relative" rAng="0" ptsTypes="AA">
                                      <p:cBhvr>
                                        <p:cTn id="10" dur="2000" fill="hold"/>
                                        <p:tgtEl>
                                          <p:spTgt spid="96"/>
                                        </p:tgtEl>
                                        <p:attrNameLst>
                                          <p:attrName>ppt_x</p:attrName>
                                          <p:attrName>ppt_y</p:attrName>
                                        </p:attrNameLst>
                                      </p:cBhvr>
                                      <p:rCtr x="-1910" y="-8364"/>
                                    </p:animMotion>
                                  </p:childTnLst>
                                </p:cTn>
                              </p:par>
                              <p:par>
                                <p:cTn id="11" presetID="42" presetClass="path" presetSubtype="0" repeatCount="indefinite" accel="50000" decel="50000" fill="hold" grpId="0" nodeType="withEffect">
                                  <p:stCondLst>
                                    <p:cond delay="0"/>
                                  </p:stCondLst>
                                  <p:endCondLst>
                                    <p:cond evt="onNext" delay="0">
                                      <p:tgtEl>
                                        <p:sldTgt/>
                                      </p:tgtEl>
                                    </p:cond>
                                  </p:endCondLst>
                                  <p:childTnLst>
                                    <p:animMotion origin="layout" path="M 5E-6 1.85185E-6 L 0.09011 -0.19908 " pathEditMode="relative" rAng="0" ptsTypes="AA">
                                      <p:cBhvr>
                                        <p:cTn id="12" dur="2000" fill="hold"/>
                                        <p:tgtEl>
                                          <p:spTgt spid="97"/>
                                        </p:tgtEl>
                                        <p:attrNameLst>
                                          <p:attrName>ppt_x</p:attrName>
                                          <p:attrName>ppt_y</p:attrName>
                                        </p:attrNameLst>
                                      </p:cBhvr>
                                      <p:rCtr x="4497" y="-9969"/>
                                    </p:animMotion>
                                  </p:childTnLst>
                                </p:cTn>
                              </p:par>
                              <p:par>
                                <p:cTn id="13" presetID="42" presetClass="path" presetSubtype="0" repeatCount="indefinite" accel="50000" decel="50000" fill="hold" grpId="0" nodeType="withEffect">
                                  <p:stCondLst>
                                    <p:cond delay="0"/>
                                  </p:stCondLst>
                                  <p:endCondLst>
                                    <p:cond evt="onNext" delay="0">
                                      <p:tgtEl>
                                        <p:sldTgt/>
                                      </p:tgtEl>
                                    </p:cond>
                                  </p:endCondLst>
                                  <p:childTnLst>
                                    <p:animMotion origin="layout" path="M 1.11111E-6 1.85185E-6 L -0.04254 -0.20216 " pathEditMode="relative" rAng="0" ptsTypes="AA">
                                      <p:cBhvr>
                                        <p:cTn id="14" dur="2000" fill="hold"/>
                                        <p:tgtEl>
                                          <p:spTgt spid="98"/>
                                        </p:tgtEl>
                                        <p:attrNameLst>
                                          <p:attrName>ppt_x</p:attrName>
                                          <p:attrName>ppt_y</p:attrName>
                                        </p:attrNameLst>
                                      </p:cBhvr>
                                      <p:rCtr x="-2135" y="-101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95" grpId="0" animBg="1"/>
      <p:bldP spid="96" grpId="0" animBg="1"/>
      <p:bldP spid="97" grpId="0" animBg="1"/>
      <p:bldP spid="98"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 name="AutoShape 5"/>
          <p:cNvSpPr>
            <a:spLocks noChangeArrowheads="1"/>
          </p:cNvSpPr>
          <p:nvPr/>
        </p:nvSpPr>
        <p:spPr bwMode="auto">
          <a:xfrm>
            <a:off x="556963" y="61216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2784" name="Rectangle 6"/>
          <p:cNvSpPr>
            <a:spLocks noChangeArrowheads="1"/>
          </p:cNvSpPr>
          <p:nvPr/>
        </p:nvSpPr>
        <p:spPr bwMode="auto">
          <a:xfrm>
            <a:off x="4030179" y="578951"/>
            <a:ext cx="1102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BT </a:t>
            </a:r>
            <a:r>
              <a:rPr lang="zh-CN" altLang="en-US" sz="2000" b="1" dirty="0">
                <a:solidFill>
                  <a:schemeClr val="bg1"/>
                </a:solidFill>
                <a:latin typeface="微软雅黑" pitchFamily="34" charset="-122"/>
                <a:ea typeface="微软雅黑" pitchFamily="34" charset="-122"/>
              </a:rPr>
              <a:t>协议</a:t>
            </a:r>
          </a:p>
        </p:txBody>
      </p:sp>
      <p:sp>
        <p:nvSpPr>
          <p:cNvPr id="2785" name="Rectangle 68"/>
          <p:cNvSpPr>
            <a:spLocks noChangeArrowheads="1"/>
          </p:cNvSpPr>
          <p:nvPr/>
        </p:nvSpPr>
        <p:spPr bwMode="auto">
          <a:xfrm>
            <a:off x="556963" y="963310"/>
            <a:ext cx="8048776" cy="2336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5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smtClean="0">
                <a:latin typeface="微软雅黑" pitchFamily="34" charset="-122"/>
                <a:ea typeface="微软雅黑" pitchFamily="34" charset="-122"/>
              </a:rPr>
              <a:t>哪些</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是</a:t>
            </a:r>
            <a:r>
              <a:rPr lang="zh-CN" altLang="en-US" sz="2000" b="1" dirty="0">
                <a:solidFill>
                  <a:srgbClr val="0000FF"/>
                </a:solidFill>
                <a:latin typeface="微软雅黑" pitchFamily="34" charset="-122"/>
                <a:ea typeface="微软雅黑" pitchFamily="34" charset="-122"/>
              </a:rPr>
              <a:t>首先</a:t>
            </a:r>
            <a:r>
              <a:rPr lang="zh-CN" altLang="en-US" sz="2000" b="1" dirty="0">
                <a:latin typeface="微软雅黑" pitchFamily="34" charset="-122"/>
                <a:ea typeface="微软雅黑" pitchFamily="34" charset="-122"/>
              </a:rPr>
              <a:t>需要</a:t>
            </a:r>
            <a:r>
              <a:rPr lang="zh-CN" altLang="en-US" sz="2000" b="1" dirty="0">
                <a:solidFill>
                  <a:srgbClr val="0000FF"/>
                </a:solidFill>
                <a:latin typeface="微软雅黑" pitchFamily="34" charset="-122"/>
                <a:ea typeface="微软雅黑" pitchFamily="34" charset="-122"/>
              </a:rPr>
              <a:t>向其相邻</a:t>
            </a:r>
            <a:r>
              <a:rPr lang="zh-CN" altLang="en-US" sz="2000" b="1" dirty="0">
                <a:latin typeface="微软雅黑" pitchFamily="34" charset="-122"/>
                <a:ea typeface="微软雅黑" pitchFamily="34" charset="-122"/>
              </a:rPr>
              <a:t>对等方请求的？</a:t>
            </a:r>
            <a:endParaRPr lang="en-US" altLang="zh-CN" sz="2000" b="1" dirty="0" smtClean="0">
              <a:latin typeface="微软雅黑" pitchFamily="34" charset="-122"/>
              <a:ea typeface="微软雅黑" pitchFamily="34" charset="-122"/>
            </a:endParaRPr>
          </a:p>
          <a:p>
            <a:pPr marL="342900" indent="-342900" eaLnBrk="0" hangingPunct="0">
              <a:lnSpc>
                <a:spcPts val="35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方法：</a:t>
            </a:r>
            <a:r>
              <a:rPr lang="en-US" altLang="zh-CN" sz="2000" b="1" dirty="0" smtClean="0">
                <a:latin typeface="微软雅黑" pitchFamily="34" charset="-122"/>
                <a:ea typeface="微软雅黑" pitchFamily="34" charset="-122"/>
              </a:rPr>
              <a:t>A </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最稀有的优先 </a:t>
            </a:r>
            <a:r>
              <a:rPr lang="en-US" altLang="zh-CN" sz="2000" b="1" dirty="0">
                <a:latin typeface="微软雅黑" pitchFamily="34" charset="-122"/>
                <a:ea typeface="微软雅黑" pitchFamily="34" charset="-122"/>
              </a:rPr>
              <a:t>(rarest first) </a:t>
            </a:r>
            <a:r>
              <a:rPr lang="zh-CN" altLang="en-US" sz="2000" b="1" dirty="0">
                <a:latin typeface="微软雅黑" pitchFamily="34" charset="-122"/>
                <a:ea typeface="微软雅黑" pitchFamily="34" charset="-122"/>
              </a:rPr>
              <a:t>的技术，首先向其相邻对等方请求对应</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endParaRPr lang="en-US" altLang="zh-CN" sz="2000" b="1" dirty="0" smtClean="0">
              <a:latin typeface="微软雅黑" pitchFamily="34" charset="-122"/>
              <a:ea typeface="微软雅黑" pitchFamily="34" charset="-122"/>
            </a:endParaRPr>
          </a:p>
          <a:p>
            <a:pPr marL="342900" indent="-342900" eaLnBrk="0" hangingPunct="0">
              <a:lnSpc>
                <a:spcPts val="3500"/>
              </a:lnSpc>
              <a:buClr>
                <a:srgbClr val="0070C0"/>
              </a:buClr>
              <a:buFont typeface="Wingdings" pitchFamily="2" charset="2"/>
              <a:buChar char="l"/>
            </a:pPr>
            <a:r>
              <a:rPr lang="zh-CN" altLang="en-US" sz="2000" b="1" dirty="0" smtClean="0">
                <a:solidFill>
                  <a:srgbClr val="CC00CC"/>
                </a:solidFill>
                <a:latin typeface="微软雅黑" pitchFamily="34" charset="-122"/>
                <a:ea typeface="微软雅黑" pitchFamily="34" charset="-122"/>
              </a:rPr>
              <a:t>稀有：</a:t>
            </a:r>
            <a:r>
              <a:rPr lang="zh-CN" altLang="en-US" sz="2000" b="1" dirty="0" smtClean="0">
                <a:latin typeface="微软雅黑" pitchFamily="34" charset="-122"/>
                <a:ea typeface="微软雅黑" pitchFamily="34" charset="-122"/>
              </a:rPr>
              <a:t>如果 </a:t>
            </a:r>
            <a:r>
              <a:rPr lang="en-US" altLang="zh-CN" sz="2000" b="1" dirty="0" smtClean="0">
                <a:latin typeface="微软雅黑" pitchFamily="34" charset="-122"/>
                <a:ea typeface="微软雅黑" pitchFamily="34" charset="-122"/>
              </a:rPr>
              <a:t>A </a:t>
            </a:r>
            <a:r>
              <a:rPr lang="zh-CN" altLang="en-US" sz="2000" b="1" dirty="0" smtClean="0">
                <a:latin typeface="微软雅黑" pitchFamily="34" charset="-122"/>
                <a:ea typeface="微软雅黑" pitchFamily="34" charset="-122"/>
              </a:rPr>
              <a:t>所</a:t>
            </a:r>
            <a:r>
              <a:rPr lang="zh-CN" altLang="en-US" sz="2000" b="1" dirty="0">
                <a:latin typeface="微软雅黑" pitchFamily="34" charset="-122"/>
                <a:ea typeface="微软雅黑" pitchFamily="34" charset="-122"/>
              </a:rPr>
              <a:t>缺少</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在相邻对等方中的副本很少，那就是“很稀有的”</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5"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custDataLst>
      <p:tags r:id="rId1"/>
    </p:custDataLst>
    <p:extLst>
      <p:ext uri="{BB962C8B-B14F-4D97-AF65-F5344CB8AC3E}">
        <p14:creationId xmlns:p14="http://schemas.microsoft.com/office/powerpoint/2010/main" val="27841503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8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27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 grpId="0" uiExpand="1" build="p"/>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 name="AutoShape 5"/>
          <p:cNvSpPr>
            <a:spLocks noChangeArrowheads="1"/>
          </p:cNvSpPr>
          <p:nvPr/>
        </p:nvSpPr>
        <p:spPr bwMode="auto">
          <a:xfrm>
            <a:off x="556963" y="612162"/>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2784" name="Rectangle 6"/>
          <p:cNvSpPr>
            <a:spLocks noChangeArrowheads="1"/>
          </p:cNvSpPr>
          <p:nvPr/>
        </p:nvSpPr>
        <p:spPr bwMode="auto">
          <a:xfrm>
            <a:off x="4030179" y="578951"/>
            <a:ext cx="1102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BT </a:t>
            </a:r>
            <a:r>
              <a:rPr lang="zh-CN" altLang="en-US" sz="2000" b="1" dirty="0">
                <a:solidFill>
                  <a:schemeClr val="bg1"/>
                </a:solidFill>
                <a:latin typeface="微软雅黑" pitchFamily="34" charset="-122"/>
                <a:ea typeface="微软雅黑" pitchFamily="34" charset="-122"/>
              </a:rPr>
              <a:t>协议</a:t>
            </a:r>
          </a:p>
        </p:txBody>
      </p:sp>
      <p:sp>
        <p:nvSpPr>
          <p:cNvPr id="2785" name="Rectangle 68"/>
          <p:cNvSpPr>
            <a:spLocks noChangeArrowheads="1"/>
          </p:cNvSpPr>
          <p:nvPr/>
        </p:nvSpPr>
        <p:spPr bwMode="auto">
          <a:xfrm>
            <a:off x="556963" y="963310"/>
            <a:ext cx="8048776"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5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问题</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在很</a:t>
            </a:r>
            <a:r>
              <a:rPr lang="zh-CN" altLang="en-US" sz="2000" b="1" dirty="0" smtClean="0">
                <a:latin typeface="微软雅黑" pitchFamily="34" charset="-122"/>
                <a:ea typeface="微软雅黑" pitchFamily="34" charset="-122"/>
              </a:rPr>
              <a:t>多向 </a:t>
            </a:r>
            <a:r>
              <a:rPr lang="en-US" altLang="zh-CN" sz="2000" b="1" dirty="0" smtClean="0">
                <a:latin typeface="微软雅黑" pitchFamily="34" charset="-122"/>
                <a:ea typeface="微软雅黑" pitchFamily="34" charset="-122"/>
              </a:rPr>
              <a:t>A </a:t>
            </a:r>
            <a:r>
              <a:rPr lang="zh-CN" altLang="en-US" sz="2000" b="1" dirty="0" smtClean="0">
                <a:latin typeface="微软雅黑" pitchFamily="34" charset="-122"/>
                <a:ea typeface="微软雅黑" pitchFamily="34" charset="-122"/>
              </a:rPr>
              <a:t>请求</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的相邻对等方中，</a:t>
            </a:r>
            <a:r>
              <a:rPr lang="en-US" altLang="zh-CN" sz="2000" b="1" dirty="0" smtClean="0">
                <a:latin typeface="微软雅黑" pitchFamily="34" charset="-122"/>
                <a:ea typeface="微软雅黑" pitchFamily="34" charset="-122"/>
              </a:rPr>
              <a:t>A </a:t>
            </a:r>
            <a:r>
              <a:rPr lang="zh-CN" altLang="en-US" sz="2000" b="1" dirty="0" smtClean="0">
                <a:latin typeface="微软雅黑" pitchFamily="34" charset="-122"/>
                <a:ea typeface="微软雅黑" pitchFamily="34" charset="-122"/>
              </a:rPr>
              <a:t>应当</a:t>
            </a:r>
            <a:r>
              <a:rPr lang="zh-CN" altLang="en-US" sz="2000" b="1" dirty="0">
                <a:latin typeface="微软雅黑" pitchFamily="34" charset="-122"/>
                <a:ea typeface="微软雅黑" pitchFamily="34" charset="-122"/>
              </a:rPr>
              <a:t>向哪些相邻对等方发送所请求</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a:t>
            </a:r>
          </a:p>
          <a:p>
            <a:pPr marL="342900" indent="-342900" eaLnBrk="0" hangingPunct="0">
              <a:lnSpc>
                <a:spcPts val="35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方法：</a:t>
            </a:r>
            <a:r>
              <a:rPr lang="zh-CN" altLang="en-US" sz="2000" b="1" dirty="0" smtClean="0">
                <a:latin typeface="微软雅黑" pitchFamily="34" charset="-122"/>
                <a:ea typeface="微软雅黑" pitchFamily="34" charset="-122"/>
              </a:rPr>
              <a:t>凡</a:t>
            </a:r>
            <a:r>
              <a:rPr lang="zh-CN" altLang="en-US" sz="2000" b="1" dirty="0">
                <a:latin typeface="微软雅黑" pitchFamily="34" charset="-122"/>
                <a:ea typeface="微软雅黑" pitchFamily="34" charset="-122"/>
              </a:rPr>
              <a:t>当前以</a:t>
            </a:r>
            <a:r>
              <a:rPr lang="zh-CN" altLang="en-US" sz="2000" b="1" dirty="0">
                <a:solidFill>
                  <a:srgbClr val="C00000"/>
                </a:solidFill>
                <a:latin typeface="微软雅黑" pitchFamily="34" charset="-122"/>
                <a:ea typeface="微软雅黑" pitchFamily="34" charset="-122"/>
              </a:rPr>
              <a:t>最高数据率</a:t>
            </a:r>
            <a:r>
              <a:rPr lang="zh-CN" altLang="en-US" sz="2000" b="1" dirty="0">
                <a:latin typeface="微软雅黑" pitchFamily="34" charset="-122"/>
                <a:ea typeface="微软雅黑" pitchFamily="34" charset="-122"/>
              </a:rPr>
              <a:t>向 </a:t>
            </a:r>
            <a:r>
              <a:rPr lang="en-US" altLang="zh-CN" sz="2000" b="1" dirty="0">
                <a:latin typeface="微软雅黑" pitchFamily="34" charset="-122"/>
                <a:ea typeface="微软雅黑" pitchFamily="34" charset="-122"/>
              </a:rPr>
              <a:t>A </a:t>
            </a:r>
            <a:r>
              <a:rPr lang="zh-CN" altLang="en-US" sz="2000" b="1" dirty="0" smtClean="0">
                <a:latin typeface="微软雅黑" pitchFamily="34" charset="-122"/>
                <a:ea typeface="微软雅黑" pitchFamily="34" charset="-122"/>
              </a:rPr>
              <a:t>传送</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的某相邻对等方，</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就</a:t>
            </a:r>
            <a:r>
              <a:rPr lang="zh-CN" altLang="en-US" sz="2000" b="1" dirty="0">
                <a:solidFill>
                  <a:srgbClr val="C00000"/>
                </a:solidFill>
                <a:latin typeface="微软雅黑" pitchFamily="34" charset="-122"/>
                <a:ea typeface="微软雅黑" pitchFamily="34" charset="-122"/>
              </a:rPr>
              <a:t>优先</a:t>
            </a:r>
            <a:r>
              <a:rPr lang="zh-CN" altLang="en-US" sz="2000" b="1" dirty="0">
                <a:latin typeface="微软雅黑" pitchFamily="34" charset="-122"/>
                <a:ea typeface="微软雅黑" pitchFamily="34" charset="-122"/>
              </a:rPr>
              <a:t>把所请求</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块</a:t>
            </a:r>
            <a:r>
              <a:rPr lang="zh-CN" altLang="en-US" sz="2000" b="1" dirty="0">
                <a:latin typeface="微软雅黑" pitchFamily="34" charset="-122"/>
                <a:ea typeface="微软雅黑" pitchFamily="34" charset="-122"/>
              </a:rPr>
              <a:t>传送给该相邻对等方</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6506633" y="37227"/>
            <a:ext cx="26348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具有全分布式结构的</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文件共享程序</a:t>
            </a:r>
          </a:p>
        </p:txBody>
      </p:sp>
    </p:spTree>
    <p:custDataLst>
      <p:tags r:id="rId1"/>
    </p:custDataLst>
    <p:extLst>
      <p:ext uri="{BB962C8B-B14F-4D97-AF65-F5344CB8AC3E}">
        <p14:creationId xmlns:p14="http://schemas.microsoft.com/office/powerpoint/2010/main" val="31640578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8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 grpId="0" uiExpand="1" build="p"/>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08575"/>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060211" y="566304"/>
            <a:ext cx="30235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文件分发的分析</a:t>
            </a:r>
          </a:p>
        </p:txBody>
      </p:sp>
      <p:sp>
        <p:nvSpPr>
          <p:cNvPr id="15" name="Rectangle 68"/>
          <p:cNvSpPr>
            <a:spLocks noChangeArrowheads="1"/>
          </p:cNvSpPr>
          <p:nvPr/>
        </p:nvSpPr>
        <p:spPr bwMode="auto">
          <a:xfrm>
            <a:off x="556963" y="1021080"/>
            <a:ext cx="8048776"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buClr>
                <a:srgbClr val="0070C0"/>
              </a:buClr>
            </a:pPr>
            <a:r>
              <a:rPr lang="zh-CN" altLang="en-US" sz="2000" b="1" dirty="0" smtClean="0">
                <a:latin typeface="微软雅黑" pitchFamily="34" charset="-122"/>
                <a:ea typeface="微软雅黑" pitchFamily="34" charset="-122"/>
              </a:rPr>
              <a:t>一些概念</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从互联网传送数据到主机，叫做</a:t>
            </a:r>
            <a:r>
              <a:rPr lang="zh-CN" altLang="en-US" sz="2000" b="1" dirty="0" smtClean="0">
                <a:solidFill>
                  <a:srgbClr val="C00000"/>
                </a:solidFill>
                <a:latin typeface="微软雅黑" pitchFamily="34" charset="-122"/>
                <a:ea typeface="微软雅黑" pitchFamily="34" charset="-122"/>
              </a:rPr>
              <a:t>下载</a:t>
            </a:r>
            <a:r>
              <a:rPr lang="zh-CN" altLang="en-US" sz="2000" b="1" dirty="0" smtClean="0">
                <a:solidFill>
                  <a:srgbClr val="0000FF"/>
                </a:solidFill>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download)</a:t>
            </a:r>
            <a:r>
              <a:rPr lang="zh-CN" altLang="en-US" sz="2000" b="1" dirty="0">
                <a:latin typeface="微软雅黑" pitchFamily="34" charset="-122"/>
                <a:ea typeface="微软雅黑" pitchFamily="34" charset="-122"/>
              </a:rPr>
              <a:t>，</a:t>
            </a:r>
          </a:p>
          <a:p>
            <a:pPr marL="285750" indent="-28575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从</a:t>
            </a:r>
            <a:r>
              <a:rPr lang="zh-CN" altLang="en-US" sz="2000" b="1" dirty="0">
                <a:latin typeface="微软雅黑" pitchFamily="34" charset="-122"/>
                <a:ea typeface="微软雅黑" pitchFamily="34" charset="-122"/>
              </a:rPr>
              <a:t>主机向互联网传送，则称为</a:t>
            </a:r>
            <a:r>
              <a:rPr lang="zh-CN" altLang="en-US" sz="2000" b="1" dirty="0">
                <a:solidFill>
                  <a:srgbClr val="C00000"/>
                </a:solidFill>
                <a:latin typeface="微软雅黑" pitchFamily="34" charset="-122"/>
                <a:ea typeface="微软雅黑" pitchFamily="34" charset="-122"/>
              </a:rPr>
              <a:t>上</a:t>
            </a:r>
            <a:r>
              <a:rPr lang="zh-CN" altLang="en-US" sz="2000" b="1" dirty="0" smtClean="0">
                <a:solidFill>
                  <a:srgbClr val="C00000"/>
                </a:solidFill>
                <a:latin typeface="微软雅黑" pitchFamily="34" charset="-122"/>
                <a:ea typeface="微软雅黑" pitchFamily="34" charset="-122"/>
              </a:rPr>
              <a:t>传</a:t>
            </a:r>
            <a:r>
              <a:rPr lang="zh-CN" altLang="en-US" sz="2000" b="1" dirty="0" smtClean="0">
                <a:solidFill>
                  <a:srgbClr val="0000FF"/>
                </a:solidFill>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upload</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或</a:t>
            </a:r>
            <a:r>
              <a:rPr lang="zh-CN" altLang="en-US" sz="2000" b="1" dirty="0">
                <a:solidFill>
                  <a:srgbClr val="C00000"/>
                </a:solidFill>
                <a:latin typeface="微软雅黑" pitchFamily="34" charset="-122"/>
                <a:ea typeface="微软雅黑" pitchFamily="34" charset="-122"/>
              </a:rPr>
              <a:t>上载</a:t>
            </a:r>
            <a:r>
              <a:rPr lang="zh-CN" altLang="en-US" sz="2000" b="1" dirty="0" smtClean="0">
                <a:solidFill>
                  <a:srgbClr val="C00000"/>
                </a:solidFill>
                <a:latin typeface="微软雅黑" pitchFamily="34" charset="-122"/>
                <a:ea typeface="微软雅黑" pitchFamily="34" charset="-122"/>
              </a:rPr>
              <a:t>。</a:t>
            </a:r>
            <a:endParaRPr lang="zh-CN" altLang="en-US" sz="2000" b="1" dirty="0">
              <a:solidFill>
                <a:srgbClr val="C00000"/>
              </a:solidFill>
              <a:latin typeface="微软雅黑" pitchFamily="34" charset="-122"/>
              <a:ea typeface="微软雅黑" pitchFamily="34" charset="-122"/>
            </a:endParaRPr>
          </a:p>
        </p:txBody>
      </p:sp>
      <p:sp>
        <p:nvSpPr>
          <p:cNvPr id="5" name="Rectangle 4"/>
          <p:cNvSpPr>
            <a:spLocks noChangeArrowheads="1"/>
          </p:cNvSpPr>
          <p:nvPr/>
        </p:nvSpPr>
        <p:spPr bwMode="auto">
          <a:xfrm>
            <a:off x="7497233" y="37227"/>
            <a:ext cx="16442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文件分发的分析</a:t>
            </a:r>
          </a:p>
        </p:txBody>
      </p:sp>
    </p:spTree>
    <p:extLst>
      <p:ext uri="{BB962C8B-B14F-4D97-AF65-F5344CB8AC3E}">
        <p14:creationId xmlns:p14="http://schemas.microsoft.com/office/powerpoint/2010/main" val="19160137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025899" y="1078992"/>
            <a:ext cx="5579840"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91929" y="2252778"/>
            <a:ext cx="485811" cy="680135"/>
          </a:xfrm>
          <a:prstGeom prst="rect">
            <a:avLst/>
          </a:prstGeom>
        </p:spPr>
      </p:pic>
      <p:pic>
        <p:nvPicPr>
          <p:cNvPr id="7"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49099" y="2123431"/>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83968" y="127560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80312" y="1347614"/>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1920" y="3363838"/>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84168" y="379588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596336" y="3363838"/>
            <a:ext cx="499399" cy="499400"/>
          </a:xfrm>
          <a:prstGeom prst="rect">
            <a:avLst/>
          </a:prstGeom>
          <a:noFill/>
          <a:extLst>
            <a:ext uri="{909E8E84-426E-40DD-AFC4-6F175D3DCCD1}">
              <a14:hiddenFill xmlns:a14="http://schemas.microsoft.com/office/drawing/2010/main">
                <a:solidFill>
                  <a:srgbClr val="FFFFFF"/>
                </a:solidFill>
              </a14:hiddenFill>
            </a:ext>
          </a:extLst>
        </p:spPr>
      </p:pic>
      <p:sp>
        <p:nvSpPr>
          <p:cNvPr id="13" name="AutoShape 5"/>
          <p:cNvSpPr>
            <a:spLocks noChangeArrowheads="1"/>
          </p:cNvSpPr>
          <p:nvPr/>
        </p:nvSpPr>
        <p:spPr bwMode="auto">
          <a:xfrm>
            <a:off x="556963" y="611669"/>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14" name="Rectangle 6"/>
          <p:cNvSpPr>
            <a:spLocks noChangeArrowheads="1"/>
          </p:cNvSpPr>
          <p:nvPr/>
        </p:nvSpPr>
        <p:spPr bwMode="auto">
          <a:xfrm>
            <a:off x="3060211" y="569398"/>
            <a:ext cx="30235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文件分发的分析</a:t>
            </a:r>
          </a:p>
        </p:txBody>
      </p:sp>
      <p:sp>
        <p:nvSpPr>
          <p:cNvPr id="15" name="Rectangle 68"/>
          <p:cNvSpPr>
            <a:spLocks noChangeArrowheads="1"/>
          </p:cNvSpPr>
          <p:nvPr/>
        </p:nvSpPr>
        <p:spPr bwMode="auto">
          <a:xfrm>
            <a:off x="483810" y="997540"/>
            <a:ext cx="2579430"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有 </a:t>
            </a:r>
            <a:r>
              <a:rPr lang="en-US" altLang="zh-CN" sz="2000" b="1" i="1"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台主机从服务器</a:t>
            </a:r>
            <a:r>
              <a:rPr lang="zh-CN" altLang="en-US" sz="2000" b="1" dirty="0">
                <a:solidFill>
                  <a:srgbClr val="C00000"/>
                </a:solidFill>
                <a:latin typeface="微软雅黑" pitchFamily="34" charset="-122"/>
                <a:ea typeface="微软雅黑" pitchFamily="34" charset="-122"/>
              </a:rPr>
              <a:t>下载</a:t>
            </a:r>
            <a:r>
              <a:rPr lang="zh-CN" altLang="en-US" sz="2000" b="1" dirty="0">
                <a:latin typeface="微软雅黑" pitchFamily="34" charset="-122"/>
                <a:ea typeface="微软雅黑" pitchFamily="34" charset="-122"/>
              </a:rPr>
              <a:t>一个大文件，其长度为 </a:t>
            </a:r>
            <a:r>
              <a:rPr lang="en-US" altLang="zh-CN" sz="2000" b="1" i="1" dirty="0">
                <a:latin typeface="微软雅黑" pitchFamily="34" charset="-122"/>
                <a:ea typeface="微软雅黑" pitchFamily="34" charset="-122"/>
              </a:rPr>
              <a:t>F</a:t>
            </a:r>
            <a:r>
              <a:rPr lang="en-US" altLang="zh-CN" sz="2000" b="1" dirty="0">
                <a:latin typeface="微软雅黑" pitchFamily="34" charset="-122"/>
                <a:ea typeface="微软雅黑" pitchFamily="34" charset="-122"/>
              </a:rPr>
              <a:t> bit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285750" indent="-285750" eaLnBrk="0" hangingPunct="0">
              <a:lnSpc>
                <a:spcPts val="2900"/>
              </a:lnSpc>
              <a:buClr>
                <a:srgbClr val="0070C0"/>
              </a:buClr>
              <a:buFont typeface="Wingdings" pitchFamily="2" charset="2"/>
              <a:buChar char="l"/>
            </a:pPr>
            <a:r>
              <a:rPr lang="zh-CN" altLang="en-US" sz="2000" b="1" dirty="0" smtClean="0">
                <a:latin typeface="微软雅黑" pitchFamily="34" charset="-122"/>
                <a:ea typeface="微软雅黑" pitchFamily="34" charset="-122"/>
              </a:rPr>
              <a:t>假定</a:t>
            </a:r>
            <a:r>
              <a:rPr lang="zh-CN" altLang="en-US" sz="2000" b="1" dirty="0">
                <a:latin typeface="微软雅黑" pitchFamily="34" charset="-122"/>
                <a:ea typeface="微软雅黑" pitchFamily="34" charset="-122"/>
              </a:rPr>
              <a:t>主机与互联网连接的链路的上传速率和下载速率分别为 </a:t>
            </a:r>
            <a:r>
              <a:rPr lang="en-US" altLang="zh-CN" sz="2000" b="1" i="1" dirty="0" err="1">
                <a:latin typeface="微软雅黑" pitchFamily="34" charset="-122"/>
                <a:ea typeface="微软雅黑" pitchFamily="34" charset="-122"/>
              </a:rPr>
              <a:t>u</a:t>
            </a:r>
            <a:r>
              <a:rPr lang="en-US" altLang="zh-CN" sz="2000" b="1" i="1" baseline="-25000" dirty="0" err="1">
                <a:latin typeface="微软雅黑" pitchFamily="34" charset="-122"/>
                <a:ea typeface="微软雅黑" pitchFamily="34" charset="-122"/>
              </a:rPr>
              <a:t>i</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i="1" dirty="0">
                <a:latin typeface="微软雅黑" pitchFamily="34" charset="-122"/>
                <a:ea typeface="微软雅黑" pitchFamily="34" charset="-122"/>
              </a:rPr>
              <a:t>d</a:t>
            </a:r>
            <a:r>
              <a:rPr lang="en-US" altLang="zh-CN" sz="2000" b="1" i="1" baseline="-25000" dirty="0">
                <a:latin typeface="微软雅黑" pitchFamily="34" charset="-122"/>
                <a:ea typeface="微软雅黑" pitchFamily="34" charset="-122"/>
              </a:rPr>
              <a:t>i</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，单位都是 </a:t>
            </a:r>
            <a:r>
              <a:rPr lang="en-US" altLang="zh-CN" sz="2000" b="1" dirty="0">
                <a:latin typeface="微软雅黑" pitchFamily="34" charset="-122"/>
                <a:ea typeface="微软雅黑" pitchFamily="34" charset="-122"/>
              </a:rPr>
              <a:t>bit/s</a:t>
            </a:r>
            <a:r>
              <a:rPr lang="zh-CN" altLang="en-US" sz="2000" b="1" dirty="0">
                <a:latin typeface="微软雅黑" pitchFamily="34" charset="-122"/>
                <a:ea typeface="微软雅黑" pitchFamily="34" charset="-122"/>
              </a:rPr>
              <a:t>。</a:t>
            </a:r>
          </a:p>
        </p:txBody>
      </p:sp>
      <p:grpSp>
        <p:nvGrpSpPr>
          <p:cNvPr id="16" name="Group 457"/>
          <p:cNvGrpSpPr>
            <a:grpSpLocks/>
          </p:cNvGrpSpPr>
          <p:nvPr/>
        </p:nvGrpSpPr>
        <p:grpSpPr bwMode="auto">
          <a:xfrm>
            <a:off x="4455943" y="1763255"/>
            <a:ext cx="2715518" cy="1471274"/>
            <a:chOff x="1776" y="2768"/>
            <a:chExt cx="1824" cy="736"/>
          </a:xfrm>
          <a:solidFill>
            <a:schemeClr val="bg1">
              <a:lumMod val="95000"/>
            </a:schemeClr>
          </a:solidFill>
          <a:effectLst>
            <a:outerShdw blurRad="50800" dist="38100" dir="2700000" algn="tl" rotWithShape="0">
              <a:prstClr val="black">
                <a:alpha val="40000"/>
              </a:prstClr>
            </a:outerShdw>
          </a:effectLst>
        </p:grpSpPr>
        <p:grpSp>
          <p:nvGrpSpPr>
            <p:cNvPr id="17" name="Group 458"/>
            <p:cNvGrpSpPr>
              <a:grpSpLocks/>
            </p:cNvGrpSpPr>
            <p:nvPr/>
          </p:nvGrpSpPr>
          <p:grpSpPr bwMode="auto">
            <a:xfrm>
              <a:off x="1787" y="2783"/>
              <a:ext cx="1813" cy="721"/>
              <a:chOff x="1787" y="2783"/>
              <a:chExt cx="1813" cy="721"/>
            </a:xfrm>
            <a:grpFill/>
          </p:grpSpPr>
          <p:sp>
            <p:nvSpPr>
              <p:cNvPr id="27" name="Oval 459"/>
              <p:cNvSpPr>
                <a:spLocks noChangeArrowheads="1"/>
              </p:cNvSpPr>
              <p:nvPr/>
            </p:nvSpPr>
            <p:spPr bwMode="auto">
              <a:xfrm>
                <a:off x="2413" y="2783"/>
                <a:ext cx="780"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8" name="Oval 460"/>
              <p:cNvSpPr>
                <a:spLocks noChangeArrowheads="1"/>
              </p:cNvSpPr>
              <p:nvPr/>
            </p:nvSpPr>
            <p:spPr bwMode="auto">
              <a:xfrm>
                <a:off x="1974" y="2863"/>
                <a:ext cx="593"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9" name="Oval 461"/>
              <p:cNvSpPr>
                <a:spLocks noChangeArrowheads="1"/>
              </p:cNvSpPr>
              <p:nvPr/>
            </p:nvSpPr>
            <p:spPr bwMode="auto">
              <a:xfrm>
                <a:off x="1787" y="3045"/>
                <a:ext cx="396" cy="233"/>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0" name="Oval 462"/>
              <p:cNvSpPr>
                <a:spLocks noChangeArrowheads="1"/>
              </p:cNvSpPr>
              <p:nvPr/>
            </p:nvSpPr>
            <p:spPr bwMode="auto">
              <a:xfrm>
                <a:off x="1908" y="3154"/>
                <a:ext cx="604" cy="255"/>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1" name="Oval 463"/>
              <p:cNvSpPr>
                <a:spLocks noChangeArrowheads="1"/>
              </p:cNvSpPr>
              <p:nvPr/>
            </p:nvSpPr>
            <p:spPr bwMode="auto">
              <a:xfrm>
                <a:off x="2347" y="3198"/>
                <a:ext cx="912" cy="30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2" name="Oval 464"/>
              <p:cNvSpPr>
                <a:spLocks noChangeArrowheads="1"/>
              </p:cNvSpPr>
              <p:nvPr/>
            </p:nvSpPr>
            <p:spPr bwMode="auto">
              <a:xfrm>
                <a:off x="2941" y="2870"/>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3" name="Oval 465"/>
              <p:cNvSpPr>
                <a:spLocks noChangeArrowheads="1"/>
              </p:cNvSpPr>
              <p:nvPr/>
            </p:nvSpPr>
            <p:spPr bwMode="auto">
              <a:xfrm>
                <a:off x="3029" y="3023"/>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4" name="Oval 466"/>
              <p:cNvSpPr>
                <a:spLocks noChangeArrowheads="1"/>
              </p:cNvSpPr>
              <p:nvPr/>
            </p:nvSpPr>
            <p:spPr bwMode="auto">
              <a:xfrm>
                <a:off x="2974" y="3074"/>
                <a:ext cx="571"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5" name="Oval 467"/>
              <p:cNvSpPr>
                <a:spLocks noChangeArrowheads="1"/>
              </p:cNvSpPr>
              <p:nvPr/>
            </p:nvSpPr>
            <p:spPr bwMode="auto">
              <a:xfrm>
                <a:off x="2117" y="2957"/>
                <a:ext cx="1175"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18" name="Oval 468"/>
            <p:cNvSpPr>
              <a:spLocks noChangeArrowheads="1"/>
            </p:cNvSpPr>
            <p:nvPr/>
          </p:nvSpPr>
          <p:spPr bwMode="auto">
            <a:xfrm>
              <a:off x="2402" y="2768"/>
              <a:ext cx="780" cy="291"/>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9" name="Oval 469"/>
            <p:cNvSpPr>
              <a:spLocks noChangeArrowheads="1"/>
            </p:cNvSpPr>
            <p:nvPr/>
          </p:nvSpPr>
          <p:spPr bwMode="auto">
            <a:xfrm>
              <a:off x="1963" y="2848"/>
              <a:ext cx="593" cy="292"/>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0" name="Oval 470"/>
            <p:cNvSpPr>
              <a:spLocks noChangeArrowheads="1"/>
            </p:cNvSpPr>
            <p:nvPr/>
          </p:nvSpPr>
          <p:spPr bwMode="auto">
            <a:xfrm>
              <a:off x="1776" y="3030"/>
              <a:ext cx="396" cy="234"/>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1" name="Oval 471"/>
            <p:cNvSpPr>
              <a:spLocks noChangeArrowheads="1"/>
            </p:cNvSpPr>
            <p:nvPr/>
          </p:nvSpPr>
          <p:spPr bwMode="auto">
            <a:xfrm>
              <a:off x="1897" y="3140"/>
              <a:ext cx="604" cy="255"/>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2" name="Oval 472"/>
            <p:cNvSpPr>
              <a:spLocks noChangeArrowheads="1"/>
            </p:cNvSpPr>
            <p:nvPr/>
          </p:nvSpPr>
          <p:spPr bwMode="auto">
            <a:xfrm>
              <a:off x="2336" y="3183"/>
              <a:ext cx="912" cy="30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3" name="Oval 473"/>
            <p:cNvSpPr>
              <a:spLocks noChangeArrowheads="1"/>
            </p:cNvSpPr>
            <p:nvPr/>
          </p:nvSpPr>
          <p:spPr bwMode="auto">
            <a:xfrm>
              <a:off x="2930" y="2855"/>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4" name="Oval 474"/>
            <p:cNvSpPr>
              <a:spLocks noChangeArrowheads="1"/>
            </p:cNvSpPr>
            <p:nvPr/>
          </p:nvSpPr>
          <p:spPr bwMode="auto">
            <a:xfrm>
              <a:off x="3018" y="3008"/>
              <a:ext cx="571" cy="226"/>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5" name="Oval 475"/>
            <p:cNvSpPr>
              <a:spLocks noChangeArrowheads="1"/>
            </p:cNvSpPr>
            <p:nvPr/>
          </p:nvSpPr>
          <p:spPr bwMode="auto">
            <a:xfrm>
              <a:off x="2963" y="3059"/>
              <a:ext cx="571"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6" name="Oval 476"/>
            <p:cNvSpPr>
              <a:spLocks noChangeArrowheads="1"/>
            </p:cNvSpPr>
            <p:nvPr/>
          </p:nvSpPr>
          <p:spPr bwMode="auto">
            <a:xfrm>
              <a:off x="2106" y="2943"/>
              <a:ext cx="1175" cy="379"/>
            </a:xfrm>
            <a:prstGeom prst="ellipse">
              <a:avLst/>
            </a:prstGeom>
            <a:grpFill/>
            <a:ln>
              <a:noFill/>
            </a:ln>
            <a:extLst/>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36" name="Text Box 477"/>
          <p:cNvSpPr txBox="1">
            <a:spLocks noChangeArrowheads="1"/>
          </p:cNvSpPr>
          <p:nvPr/>
        </p:nvSpPr>
        <p:spPr bwMode="auto">
          <a:xfrm>
            <a:off x="5514942" y="2331284"/>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600" b="1" dirty="0">
                <a:solidFill>
                  <a:sysClr val="windowText" lastClr="000000"/>
                </a:solidFill>
                <a:latin typeface="微软雅黑" pitchFamily="34" charset="-122"/>
                <a:ea typeface="微软雅黑" pitchFamily="34" charset="-122"/>
              </a:rPr>
              <a:t>互联网</a:t>
            </a:r>
          </a:p>
        </p:txBody>
      </p:sp>
      <p:sp>
        <p:nvSpPr>
          <p:cNvPr id="37" name="Line 479"/>
          <p:cNvSpPr>
            <a:spLocks noChangeShapeType="1"/>
          </p:cNvSpPr>
          <p:nvPr/>
        </p:nvSpPr>
        <p:spPr bwMode="auto">
          <a:xfrm>
            <a:off x="3635866" y="2326194"/>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 name="Line 480"/>
          <p:cNvSpPr>
            <a:spLocks noChangeShapeType="1"/>
          </p:cNvSpPr>
          <p:nvPr/>
        </p:nvSpPr>
        <p:spPr bwMode="auto">
          <a:xfrm rot="10800000">
            <a:off x="3533073" y="2413021"/>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 name="Text Box 482"/>
          <p:cNvSpPr txBox="1">
            <a:spLocks noChangeArrowheads="1"/>
          </p:cNvSpPr>
          <p:nvPr/>
        </p:nvSpPr>
        <p:spPr bwMode="auto">
          <a:xfrm>
            <a:off x="7887628" y="290702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400" b="1" dirty="0">
                <a:solidFill>
                  <a:sysClr val="windowText" lastClr="000000"/>
                </a:solidFill>
                <a:latin typeface="微软雅黑" pitchFamily="34" charset="-122"/>
                <a:ea typeface="微软雅黑" pitchFamily="34" charset="-122"/>
              </a:rPr>
              <a:t>服务器</a:t>
            </a:r>
          </a:p>
        </p:txBody>
      </p:sp>
      <p:sp>
        <p:nvSpPr>
          <p:cNvPr id="40" name="Text Box 2748"/>
          <p:cNvSpPr txBox="1">
            <a:spLocks noChangeArrowheads="1"/>
          </p:cNvSpPr>
          <p:nvPr/>
        </p:nvSpPr>
        <p:spPr bwMode="auto">
          <a:xfrm>
            <a:off x="5787721" y="1393051"/>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a:solidFill>
                  <a:srgbClr val="0000FF"/>
                </a:solidFill>
                <a:latin typeface="微软雅黑" pitchFamily="34" charset="-122"/>
                <a:ea typeface="微软雅黑" pitchFamily="34" charset="-122"/>
                <a:sym typeface="Symbol" pitchFamily="18" charset="2"/>
              </a:rPr>
              <a:t></a:t>
            </a:r>
          </a:p>
        </p:txBody>
      </p:sp>
      <p:sp>
        <p:nvSpPr>
          <p:cNvPr id="41" name="Line 2750"/>
          <p:cNvSpPr>
            <a:spLocks noChangeShapeType="1"/>
          </p:cNvSpPr>
          <p:nvPr/>
        </p:nvSpPr>
        <p:spPr bwMode="auto">
          <a:xfrm rot="816166">
            <a:off x="4773355" y="1601052"/>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2" name="Line 2751"/>
          <p:cNvSpPr>
            <a:spLocks noChangeShapeType="1"/>
          </p:cNvSpPr>
          <p:nvPr/>
        </p:nvSpPr>
        <p:spPr bwMode="auto">
          <a:xfrm rot="11616166">
            <a:off x="4647972" y="1670705"/>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3" name="Line 2753"/>
          <p:cNvSpPr>
            <a:spLocks noChangeShapeType="1"/>
          </p:cNvSpPr>
          <p:nvPr/>
        </p:nvSpPr>
        <p:spPr bwMode="auto">
          <a:xfrm rot="18950026">
            <a:off x="4200657" y="3130530"/>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4" name="Line 2754"/>
          <p:cNvSpPr>
            <a:spLocks noChangeShapeType="1"/>
          </p:cNvSpPr>
          <p:nvPr/>
        </p:nvSpPr>
        <p:spPr bwMode="auto">
          <a:xfrm rot="8150026">
            <a:off x="4191620" y="3238346"/>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5" name="Line 2756"/>
          <p:cNvSpPr>
            <a:spLocks noChangeShapeType="1"/>
          </p:cNvSpPr>
          <p:nvPr/>
        </p:nvSpPr>
        <p:spPr bwMode="auto">
          <a:xfrm rot="13567995">
            <a:off x="5778552" y="3434763"/>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6" name="Line 2757"/>
          <p:cNvSpPr>
            <a:spLocks noChangeShapeType="1"/>
          </p:cNvSpPr>
          <p:nvPr/>
        </p:nvSpPr>
        <p:spPr bwMode="auto">
          <a:xfrm rot="2767995">
            <a:off x="5884250" y="3421405"/>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7" name="Line 2759"/>
          <p:cNvSpPr>
            <a:spLocks noChangeShapeType="1"/>
          </p:cNvSpPr>
          <p:nvPr/>
        </p:nvSpPr>
        <p:spPr bwMode="auto">
          <a:xfrm rot="18997895">
            <a:off x="6607799" y="1700282"/>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8" name="Line 2760"/>
          <p:cNvSpPr>
            <a:spLocks noChangeShapeType="1"/>
          </p:cNvSpPr>
          <p:nvPr/>
        </p:nvSpPr>
        <p:spPr bwMode="auto">
          <a:xfrm rot="8197895">
            <a:off x="6769329" y="1752760"/>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9" name="Line 2762"/>
          <p:cNvSpPr>
            <a:spLocks noChangeShapeType="1"/>
          </p:cNvSpPr>
          <p:nvPr/>
        </p:nvSpPr>
        <p:spPr bwMode="auto">
          <a:xfrm rot="1048487">
            <a:off x="6967007" y="3119080"/>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0" name="Line 2763"/>
          <p:cNvSpPr>
            <a:spLocks noChangeShapeType="1"/>
          </p:cNvSpPr>
          <p:nvPr/>
        </p:nvSpPr>
        <p:spPr bwMode="auto">
          <a:xfrm rot="11848487">
            <a:off x="6837104" y="3182053"/>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1" name="Line 2764"/>
          <p:cNvSpPr>
            <a:spLocks noChangeShapeType="1"/>
          </p:cNvSpPr>
          <p:nvPr/>
        </p:nvSpPr>
        <p:spPr bwMode="auto">
          <a:xfrm rot="10046881">
            <a:off x="7217774" y="2523146"/>
            <a:ext cx="769247" cy="129762"/>
          </a:xfrm>
          <a:prstGeom prst="line">
            <a:avLst/>
          </a:prstGeom>
          <a:noFill/>
          <a:ln w="5715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2" name="Text Box 2765"/>
          <p:cNvSpPr txBox="1">
            <a:spLocks noChangeArrowheads="1"/>
          </p:cNvSpPr>
          <p:nvPr/>
        </p:nvSpPr>
        <p:spPr bwMode="auto">
          <a:xfrm>
            <a:off x="7874492" y="1972449"/>
            <a:ext cx="6447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400" b="1" dirty="0" smtClean="0">
                <a:solidFill>
                  <a:sysClr val="windowText" lastClr="000000"/>
                </a:solidFill>
                <a:latin typeface="微软雅黑" pitchFamily="34" charset="-122"/>
                <a:ea typeface="微软雅黑" pitchFamily="34" charset="-122"/>
              </a:rPr>
              <a:t>文件</a:t>
            </a:r>
            <a:r>
              <a:rPr kumimoji="1" lang="en-US" altLang="zh-CN" sz="1400" b="1" i="1" dirty="0" smtClean="0">
                <a:solidFill>
                  <a:sysClr val="windowText" lastClr="000000"/>
                </a:solidFill>
                <a:latin typeface="微软雅黑" pitchFamily="34" charset="-122"/>
                <a:ea typeface="微软雅黑" pitchFamily="34" charset="-122"/>
              </a:rPr>
              <a:t>F</a:t>
            </a:r>
            <a:endParaRPr kumimoji="1" lang="en-US" altLang="zh-CN" sz="1400" b="1" i="1" dirty="0">
              <a:solidFill>
                <a:sysClr val="windowText" lastClr="000000"/>
              </a:solidFill>
              <a:latin typeface="微软雅黑" pitchFamily="34" charset="-122"/>
              <a:ea typeface="微软雅黑" pitchFamily="34" charset="-122"/>
            </a:endParaRPr>
          </a:p>
        </p:txBody>
      </p:sp>
      <p:sp>
        <p:nvSpPr>
          <p:cNvPr id="53" name="Text Box 2766"/>
          <p:cNvSpPr txBox="1">
            <a:spLocks noChangeArrowheads="1"/>
          </p:cNvSpPr>
          <p:nvPr/>
        </p:nvSpPr>
        <p:spPr bwMode="auto">
          <a:xfrm>
            <a:off x="7493392" y="2252726"/>
            <a:ext cx="36099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i="1" baseline="-25000">
                <a:solidFill>
                  <a:srgbClr val="0000FF"/>
                </a:solidFill>
                <a:latin typeface="微软雅黑" pitchFamily="34" charset="-122"/>
                <a:ea typeface="微软雅黑" pitchFamily="34" charset="-122"/>
              </a:rPr>
              <a:t>s</a:t>
            </a:r>
          </a:p>
        </p:txBody>
      </p:sp>
      <p:sp>
        <p:nvSpPr>
          <p:cNvPr id="54" name="Text Box 2767"/>
          <p:cNvSpPr txBox="1">
            <a:spLocks noChangeArrowheads="1"/>
          </p:cNvSpPr>
          <p:nvPr/>
        </p:nvSpPr>
        <p:spPr bwMode="auto">
          <a:xfrm>
            <a:off x="7075610" y="1717219"/>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u</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5" name="Text Box 2768"/>
          <p:cNvSpPr txBox="1">
            <a:spLocks noChangeArrowheads="1"/>
          </p:cNvSpPr>
          <p:nvPr/>
        </p:nvSpPr>
        <p:spPr bwMode="auto">
          <a:xfrm>
            <a:off x="7017837" y="3161062"/>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baseline="-25000">
                <a:solidFill>
                  <a:srgbClr val="0000FF"/>
                </a:solidFill>
                <a:latin typeface="微软雅黑" pitchFamily="34" charset="-122"/>
                <a:ea typeface="微软雅黑" pitchFamily="34" charset="-122"/>
              </a:rPr>
              <a:t>5</a:t>
            </a:r>
          </a:p>
        </p:txBody>
      </p:sp>
      <p:sp>
        <p:nvSpPr>
          <p:cNvPr id="56" name="Text Box 2769"/>
          <p:cNvSpPr txBox="1">
            <a:spLocks noChangeArrowheads="1"/>
          </p:cNvSpPr>
          <p:nvPr/>
        </p:nvSpPr>
        <p:spPr bwMode="auto">
          <a:xfrm>
            <a:off x="5826505" y="342058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4</a:t>
            </a:r>
          </a:p>
        </p:txBody>
      </p:sp>
      <p:sp>
        <p:nvSpPr>
          <p:cNvPr id="57" name="Text Box 2770"/>
          <p:cNvSpPr txBox="1">
            <a:spLocks noChangeArrowheads="1"/>
          </p:cNvSpPr>
          <p:nvPr/>
        </p:nvSpPr>
        <p:spPr bwMode="auto">
          <a:xfrm>
            <a:off x="4353151" y="293071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3</a:t>
            </a:r>
          </a:p>
        </p:txBody>
      </p:sp>
      <p:sp>
        <p:nvSpPr>
          <p:cNvPr id="58" name="Text Box 2771"/>
          <p:cNvSpPr txBox="1">
            <a:spLocks noChangeArrowheads="1"/>
          </p:cNvSpPr>
          <p:nvPr/>
        </p:nvSpPr>
        <p:spPr bwMode="auto">
          <a:xfrm>
            <a:off x="3841449" y="2120179"/>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2</a:t>
            </a:r>
          </a:p>
        </p:txBody>
      </p:sp>
      <p:sp>
        <p:nvSpPr>
          <p:cNvPr id="59" name="Text Box 2772"/>
          <p:cNvSpPr txBox="1">
            <a:spLocks noChangeArrowheads="1"/>
          </p:cNvSpPr>
          <p:nvPr/>
        </p:nvSpPr>
        <p:spPr bwMode="auto">
          <a:xfrm>
            <a:off x="4968773" y="139368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1</a:t>
            </a:r>
          </a:p>
        </p:txBody>
      </p:sp>
      <p:sp>
        <p:nvSpPr>
          <p:cNvPr id="60" name="Text Box 2773"/>
          <p:cNvSpPr txBox="1">
            <a:spLocks noChangeArrowheads="1"/>
          </p:cNvSpPr>
          <p:nvPr/>
        </p:nvSpPr>
        <p:spPr bwMode="auto">
          <a:xfrm>
            <a:off x="6717910" y="1488703"/>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d</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61" name="Text Box 2774"/>
          <p:cNvSpPr txBox="1">
            <a:spLocks noChangeArrowheads="1"/>
          </p:cNvSpPr>
          <p:nvPr/>
        </p:nvSpPr>
        <p:spPr bwMode="auto">
          <a:xfrm>
            <a:off x="4717469" y="1665139"/>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1</a:t>
            </a:r>
          </a:p>
        </p:txBody>
      </p:sp>
      <p:sp>
        <p:nvSpPr>
          <p:cNvPr id="62" name="Text Box 2775"/>
          <p:cNvSpPr txBox="1">
            <a:spLocks noChangeArrowheads="1"/>
          </p:cNvSpPr>
          <p:nvPr/>
        </p:nvSpPr>
        <p:spPr bwMode="auto">
          <a:xfrm>
            <a:off x="7240580" y="294447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5</a:t>
            </a:r>
          </a:p>
        </p:txBody>
      </p:sp>
      <p:sp>
        <p:nvSpPr>
          <p:cNvPr id="63" name="Text Box 2776"/>
          <p:cNvSpPr txBox="1">
            <a:spLocks noChangeArrowheads="1"/>
          </p:cNvSpPr>
          <p:nvPr/>
        </p:nvSpPr>
        <p:spPr bwMode="auto">
          <a:xfrm>
            <a:off x="6197760" y="333471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d</a:t>
            </a:r>
            <a:r>
              <a:rPr kumimoji="1" lang="en-US" altLang="zh-CN" sz="1400" b="1" baseline="-25000">
                <a:solidFill>
                  <a:srgbClr val="0000FF"/>
                </a:solidFill>
                <a:latin typeface="微软雅黑" pitchFamily="34" charset="-122"/>
                <a:ea typeface="微软雅黑" pitchFamily="34" charset="-122"/>
              </a:rPr>
              <a:t>4</a:t>
            </a:r>
          </a:p>
        </p:txBody>
      </p:sp>
      <p:sp>
        <p:nvSpPr>
          <p:cNvPr id="64" name="Text Box 2777"/>
          <p:cNvSpPr txBox="1">
            <a:spLocks noChangeArrowheads="1"/>
          </p:cNvSpPr>
          <p:nvPr/>
        </p:nvSpPr>
        <p:spPr bwMode="auto">
          <a:xfrm>
            <a:off x="4568957" y="3213142"/>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3</a:t>
            </a:r>
          </a:p>
        </p:txBody>
      </p:sp>
      <p:sp>
        <p:nvSpPr>
          <p:cNvPr id="65" name="Text Box 2778"/>
          <p:cNvSpPr txBox="1">
            <a:spLocks noChangeArrowheads="1"/>
          </p:cNvSpPr>
          <p:nvPr/>
        </p:nvSpPr>
        <p:spPr bwMode="auto">
          <a:xfrm>
            <a:off x="3789489" y="247631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2</a:t>
            </a:r>
          </a:p>
        </p:txBody>
      </p:sp>
      <p:sp>
        <p:nvSpPr>
          <p:cNvPr id="68" name="Rectangle 4"/>
          <p:cNvSpPr>
            <a:spLocks noChangeArrowheads="1"/>
          </p:cNvSpPr>
          <p:nvPr/>
        </p:nvSpPr>
        <p:spPr bwMode="auto">
          <a:xfrm>
            <a:off x="7497233" y="37227"/>
            <a:ext cx="16442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文件分发的分析</a:t>
            </a:r>
          </a:p>
        </p:txBody>
      </p:sp>
    </p:spTree>
    <p:custDataLst>
      <p:tags r:id="rId1"/>
    </p:custDataLst>
    <p:extLst>
      <p:ext uri="{BB962C8B-B14F-4D97-AF65-F5344CB8AC3E}">
        <p14:creationId xmlns:p14="http://schemas.microsoft.com/office/powerpoint/2010/main" val="22818514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xEl>
                                              <p:pRg st="1" end="1"/>
                                            </p:txEl>
                                          </p:spTgt>
                                        </p:tgtEl>
                                        <p:attrNameLst>
                                          <p:attrName>style.visibility</p:attrName>
                                        </p:attrNameLst>
                                      </p:cBhvr>
                                      <p:to>
                                        <p:strVal val="visible"/>
                                      </p:to>
                                    </p:set>
                                    <p:animEffect transition="in" filter="fade">
                                      <p:cBhvr>
                                        <p:cTn id="7" dur="500"/>
                                        <p:tgtEl>
                                          <p:spTgt spid="1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9" y="612527"/>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252835" y="589437"/>
            <a:ext cx="46570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rgbClr val="FFC000"/>
                </a:solidFill>
                <a:latin typeface="微软雅黑" pitchFamily="34" charset="-122"/>
                <a:ea typeface="微软雅黑" pitchFamily="34" charset="-122"/>
              </a:rPr>
              <a:t>客户</a:t>
            </a:r>
            <a:r>
              <a:rPr lang="en-US" altLang="zh-CN" sz="2000" b="1" dirty="0" smtClean="0">
                <a:solidFill>
                  <a:srgbClr val="FFC000"/>
                </a:solidFill>
                <a:latin typeface="微软雅黑" pitchFamily="34" charset="-122"/>
                <a:ea typeface="微软雅黑" pitchFamily="34" charset="-122"/>
              </a:rPr>
              <a:t>-</a:t>
            </a:r>
            <a:r>
              <a:rPr lang="zh-CN" altLang="en-US" sz="2000" b="1" dirty="0" smtClean="0">
                <a:solidFill>
                  <a:srgbClr val="FFC000"/>
                </a:solidFill>
                <a:latin typeface="微软雅黑" pitchFamily="34" charset="-122"/>
                <a:ea typeface="微软雅黑" pitchFamily="34" charset="-122"/>
              </a:rPr>
              <a:t>服务器</a:t>
            </a:r>
            <a:r>
              <a:rPr lang="zh-CN" altLang="en-US" sz="2000" b="1" dirty="0">
                <a:solidFill>
                  <a:schemeClr val="bg1"/>
                </a:solidFill>
                <a:latin typeface="微软雅黑" pitchFamily="34" charset="-122"/>
                <a:ea typeface="微软雅黑" pitchFamily="34" charset="-122"/>
              </a:rPr>
              <a:t>方式下分发的最短</a:t>
            </a:r>
            <a:r>
              <a:rPr lang="zh-CN" altLang="en-US" sz="2000" b="1" dirty="0" smtClean="0">
                <a:solidFill>
                  <a:schemeClr val="bg1"/>
                </a:solidFill>
                <a:latin typeface="微软雅黑" pitchFamily="34" charset="-122"/>
                <a:ea typeface="微软雅黑" pitchFamily="34" charset="-122"/>
              </a:rPr>
              <a:t>时间</a:t>
            </a:r>
            <a:r>
              <a:rPr lang="zh-CN" altLang="en-US" sz="2000" b="1" dirty="0">
                <a:solidFill>
                  <a:schemeClr val="bg1"/>
                </a:solidFill>
                <a:latin typeface="微软雅黑" pitchFamily="34" charset="-122"/>
                <a:ea typeface="微软雅黑" pitchFamily="34" charset="-122"/>
              </a:rPr>
              <a:t>分析</a:t>
            </a:r>
          </a:p>
        </p:txBody>
      </p:sp>
      <p:sp>
        <p:nvSpPr>
          <p:cNvPr id="4" name="Rectangle 68"/>
          <p:cNvSpPr>
            <a:spLocks noChangeArrowheads="1"/>
          </p:cNvSpPr>
          <p:nvPr/>
        </p:nvSpPr>
        <p:spPr bwMode="auto">
          <a:xfrm>
            <a:off x="556968" y="974860"/>
            <a:ext cx="834733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从服务器端考虑，</a:t>
            </a:r>
            <a:r>
              <a:rPr lang="zh-CN" altLang="en-US" sz="2000" b="1" dirty="0">
                <a:solidFill>
                  <a:srgbClr val="C00000"/>
                </a:solidFill>
                <a:latin typeface="微软雅黑" pitchFamily="34" charset="-122"/>
                <a:ea typeface="微软雅黑" pitchFamily="34" charset="-122"/>
              </a:rPr>
              <a:t>所有主机</a:t>
            </a:r>
            <a:r>
              <a:rPr lang="zh-CN" altLang="en-US" sz="2000" b="1" dirty="0">
                <a:latin typeface="微软雅黑" pitchFamily="34" charset="-122"/>
                <a:ea typeface="微软雅黑" pitchFamily="34" charset="-122"/>
              </a:rPr>
              <a:t>分发完毕的最短时间 </a:t>
            </a:r>
            <a:r>
              <a:rPr lang="en-US" altLang="zh-CN" sz="2000" b="1" i="1" dirty="0" err="1">
                <a:latin typeface="微软雅黑" pitchFamily="34" charset="-122"/>
                <a:ea typeface="微软雅黑" pitchFamily="34" charset="-122"/>
              </a:rPr>
              <a:t>T</a:t>
            </a:r>
            <a:r>
              <a:rPr lang="en-US" altLang="zh-CN" sz="2000" b="1" i="1" baseline="-25000" dirty="0" err="1">
                <a:latin typeface="微软雅黑" pitchFamily="34" charset="-122"/>
                <a:ea typeface="微软雅黑" pitchFamily="34" charset="-122"/>
              </a:rPr>
              <a:t>cs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不可能小于 </a:t>
            </a:r>
            <a:r>
              <a:rPr lang="en-US" altLang="zh-CN" sz="2000" b="1" i="1" dirty="0" smtClean="0">
                <a:latin typeface="微软雅黑" pitchFamily="34" charset="-122"/>
                <a:ea typeface="微软雅黑" pitchFamily="34" charset="-122"/>
              </a:rPr>
              <a:t>NF/u</a:t>
            </a:r>
            <a:r>
              <a:rPr lang="en-US" altLang="zh-CN" sz="2000" b="1" i="1" baseline="-25000" dirty="0" smtClean="0">
                <a:latin typeface="微软雅黑" pitchFamily="34" charset="-122"/>
                <a:ea typeface="微软雅黑" pitchFamily="34" charset="-122"/>
              </a:rPr>
              <a:t>s </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下载速率</a:t>
            </a:r>
            <a:r>
              <a:rPr lang="zh-CN" altLang="en-US" sz="2000" b="1" dirty="0">
                <a:solidFill>
                  <a:srgbClr val="C00000"/>
                </a:solidFill>
                <a:latin typeface="微软雅黑" pitchFamily="34" charset="-122"/>
                <a:ea typeface="微软雅黑" pitchFamily="34" charset="-122"/>
              </a:rPr>
              <a:t>最慢</a:t>
            </a:r>
            <a:r>
              <a:rPr lang="zh-CN" altLang="en-US" sz="2000" b="1" dirty="0">
                <a:latin typeface="微软雅黑" pitchFamily="34" charset="-122"/>
                <a:ea typeface="微软雅黑" pitchFamily="34" charset="-122"/>
              </a:rPr>
              <a:t>的主机的下载速率为 </a:t>
            </a:r>
            <a:r>
              <a:rPr lang="en-US" altLang="zh-CN" sz="2000" b="1" i="1" dirty="0" err="1">
                <a:latin typeface="微软雅黑" pitchFamily="34" charset="-122"/>
                <a:ea typeface="微软雅黑" pitchFamily="34" charset="-122"/>
              </a:rPr>
              <a:t>d</a:t>
            </a:r>
            <a:r>
              <a:rPr lang="en-US" altLang="zh-CN" sz="2000" b="1" baseline="-25000" dirty="0" err="1">
                <a:latin typeface="微软雅黑" pitchFamily="34" charset="-122"/>
                <a:ea typeface="微软雅黑" pitchFamily="34" charset="-122"/>
              </a:rPr>
              <a:t>min</a:t>
            </a:r>
            <a:r>
              <a:rPr lang="zh-CN" altLang="en-US" sz="2000" b="1" dirty="0">
                <a:latin typeface="微软雅黑" pitchFamily="34" charset="-122"/>
                <a:ea typeface="微软雅黑" pitchFamily="34" charset="-122"/>
              </a:rPr>
              <a:t>，则 </a:t>
            </a:r>
            <a:r>
              <a:rPr lang="en-US" altLang="zh-CN" sz="2000" b="1" i="1" dirty="0" err="1">
                <a:latin typeface="微软雅黑" pitchFamily="34" charset="-122"/>
                <a:ea typeface="微软雅黑" pitchFamily="34" charset="-122"/>
              </a:rPr>
              <a:t>T</a:t>
            </a:r>
            <a:r>
              <a:rPr lang="en-US" altLang="zh-CN" sz="2000" b="1" i="1" baseline="-25000" dirty="0" err="1">
                <a:latin typeface="微软雅黑" pitchFamily="34" charset="-122"/>
                <a:ea typeface="微软雅黑" pitchFamily="34" charset="-122"/>
              </a:rPr>
              <a:t>cs</a:t>
            </a:r>
            <a:r>
              <a:rPr lang="en-US" altLang="zh-CN" sz="2000" b="1" i="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不可能小于 </a:t>
            </a:r>
            <a:r>
              <a:rPr lang="en-US" altLang="zh-CN" sz="2000" b="1" i="1" dirty="0" smtClean="0">
                <a:latin typeface="微软雅黑" pitchFamily="34" charset="-122"/>
                <a:ea typeface="微软雅黑" pitchFamily="34" charset="-122"/>
              </a:rPr>
              <a:t>F/</a:t>
            </a:r>
            <a:r>
              <a:rPr lang="en-US" altLang="zh-CN" sz="2000" b="1" i="1" dirty="0" err="1" smtClean="0">
                <a:latin typeface="微软雅黑" pitchFamily="34" charset="-122"/>
                <a:ea typeface="微软雅黑" pitchFamily="34" charset="-122"/>
              </a:rPr>
              <a:t>d</a:t>
            </a:r>
            <a:r>
              <a:rPr lang="en-US" altLang="zh-CN" sz="2000" b="1" baseline="-25000" dirty="0" err="1" smtClean="0">
                <a:latin typeface="微软雅黑" pitchFamily="34" charset="-122"/>
                <a:ea typeface="微软雅黑" pitchFamily="34" charset="-122"/>
              </a:rPr>
              <a:t>min</a:t>
            </a:r>
            <a:r>
              <a:rPr lang="en-US" altLang="zh-CN" sz="2000" b="1" i="1" baseline="-25000"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由此可得出</a:t>
            </a:r>
            <a:r>
              <a:rPr lang="zh-CN" altLang="en-US" sz="2000" b="1" dirty="0">
                <a:solidFill>
                  <a:srgbClr val="C00000"/>
                </a:solidFill>
                <a:latin typeface="微软雅黑" pitchFamily="34" charset="-122"/>
                <a:ea typeface="微软雅黑" pitchFamily="34" charset="-122"/>
              </a:rPr>
              <a:t>所有主机</a:t>
            </a:r>
            <a:r>
              <a:rPr lang="zh-CN" altLang="en-US" sz="2000" b="1" dirty="0">
                <a:latin typeface="微软雅黑" pitchFamily="34" charset="-122"/>
                <a:ea typeface="微软雅黑" pitchFamily="34" charset="-122"/>
              </a:rPr>
              <a:t>都下载完文件 </a:t>
            </a:r>
            <a:r>
              <a:rPr lang="en-US" altLang="zh-CN" sz="2000" b="1" dirty="0">
                <a:latin typeface="微软雅黑" pitchFamily="34" charset="-122"/>
                <a:ea typeface="微软雅黑" pitchFamily="34" charset="-122"/>
              </a:rPr>
              <a:t>F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最少时间</a:t>
            </a:r>
            <a:r>
              <a:rPr lang="zh-CN" altLang="en-US" sz="2000" b="1" dirty="0">
                <a:latin typeface="微软雅黑" pitchFamily="34" charset="-122"/>
                <a:ea typeface="微软雅黑" pitchFamily="34" charset="-122"/>
              </a:rPr>
              <a:t>是</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algn="ctr" eaLnBrk="0" hangingPunct="0">
              <a:lnSpc>
                <a:spcPts val="3600"/>
              </a:lnSpc>
              <a:buClr>
                <a:srgbClr val="0070C0"/>
              </a:buClr>
            </a:pPr>
            <a:r>
              <a:rPr lang="en-US" altLang="zh-CN" sz="2000" b="1" i="1" dirty="0" err="1" smtClean="0">
                <a:solidFill>
                  <a:srgbClr val="0000FF"/>
                </a:solidFill>
                <a:latin typeface="微软雅黑" pitchFamily="34" charset="-122"/>
                <a:ea typeface="微软雅黑" pitchFamily="34" charset="-122"/>
              </a:rPr>
              <a:t>T</a:t>
            </a:r>
            <a:r>
              <a:rPr lang="en-US" altLang="zh-CN" sz="2000" b="1" baseline="-25000" dirty="0" err="1" smtClean="0">
                <a:solidFill>
                  <a:srgbClr val="0000FF"/>
                </a:solidFill>
                <a:latin typeface="微软雅黑" pitchFamily="34" charset="-122"/>
                <a:ea typeface="微软雅黑" pitchFamily="34" charset="-122"/>
              </a:rPr>
              <a:t>cs</a:t>
            </a:r>
            <a:r>
              <a:rPr lang="en-US" altLang="zh-CN" sz="2000" b="1" dirty="0" smtClean="0">
                <a:solidFill>
                  <a:srgbClr val="0000FF"/>
                </a:solidFill>
                <a:latin typeface="微软雅黑" pitchFamily="34" charset="-122"/>
                <a:ea typeface="微软雅黑" pitchFamily="34" charset="-122"/>
              </a:rPr>
              <a:t>=max</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NF/u</a:t>
            </a:r>
            <a:r>
              <a:rPr lang="en-US" altLang="zh-CN" sz="2000" b="1" i="1" baseline="-25000" dirty="0">
                <a:solidFill>
                  <a:srgbClr val="0000FF"/>
                </a:solidFill>
                <a:latin typeface="微软雅黑" pitchFamily="34" charset="-122"/>
                <a:ea typeface="微软雅黑" pitchFamily="34" charset="-122"/>
              </a:rPr>
              <a:t>s</a:t>
            </a:r>
            <a:r>
              <a:rPr lang="zh-CN" altLang="en-US" sz="2000" b="1" i="1" dirty="0">
                <a:solidFill>
                  <a:srgbClr val="0000FF"/>
                </a:solidFill>
                <a:latin typeface="微软雅黑" pitchFamily="34" charset="-122"/>
                <a:ea typeface="微软雅黑" pitchFamily="34" charset="-122"/>
              </a:rPr>
              <a:t>，</a:t>
            </a:r>
            <a:r>
              <a:rPr lang="en-US" altLang="zh-CN" sz="2000" b="1" i="1" dirty="0">
                <a:solidFill>
                  <a:srgbClr val="0000FF"/>
                </a:solidFill>
                <a:latin typeface="微软雅黑" pitchFamily="34" charset="-122"/>
                <a:ea typeface="微软雅黑" pitchFamily="34" charset="-122"/>
              </a:rPr>
              <a:t>F/</a:t>
            </a:r>
            <a:r>
              <a:rPr lang="en-US" altLang="zh-CN" sz="2000" b="1" i="1" dirty="0" err="1">
                <a:solidFill>
                  <a:srgbClr val="0000FF"/>
                </a:solidFill>
                <a:latin typeface="微软雅黑" pitchFamily="34" charset="-122"/>
                <a:ea typeface="微软雅黑" pitchFamily="34" charset="-122"/>
              </a:rPr>
              <a:t>d</a:t>
            </a:r>
            <a:r>
              <a:rPr lang="en-US" altLang="zh-CN" sz="2000" b="1" baseline="-25000" dirty="0" err="1">
                <a:solidFill>
                  <a:srgbClr val="0000FF"/>
                </a:solidFill>
                <a:latin typeface="微软雅黑" pitchFamily="34" charset="-122"/>
                <a:ea typeface="微软雅黑" pitchFamily="34" charset="-122"/>
              </a:rPr>
              <a:t>min</a:t>
            </a:r>
            <a:r>
              <a:rPr lang="en-US" altLang="zh-CN" sz="2000" b="1" i="1" baseline="-25000"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a:t>
            </a:r>
          </a:p>
        </p:txBody>
      </p:sp>
      <p:sp>
        <p:nvSpPr>
          <p:cNvPr id="5" name="Rectangle 4"/>
          <p:cNvSpPr>
            <a:spLocks noChangeArrowheads="1"/>
          </p:cNvSpPr>
          <p:nvPr/>
        </p:nvSpPr>
        <p:spPr bwMode="auto">
          <a:xfrm>
            <a:off x="7497233" y="37227"/>
            <a:ext cx="16442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文件分发的分析</a:t>
            </a:r>
          </a:p>
        </p:txBody>
      </p:sp>
    </p:spTree>
    <p:custDataLst>
      <p:tags r:id="rId1"/>
    </p:custDataLst>
    <p:extLst>
      <p:ext uri="{BB962C8B-B14F-4D97-AF65-F5344CB8AC3E}">
        <p14:creationId xmlns:p14="http://schemas.microsoft.com/office/powerpoint/2010/main" val="28132285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animEffect transition="in" filter="fade">
                                      <p:cBhvr>
                                        <p:cTn id="15"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84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2664005" y="577630"/>
            <a:ext cx="38347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方式下分发的最短</a:t>
            </a:r>
            <a:r>
              <a:rPr lang="zh-CN" altLang="en-US" sz="2000" b="1" dirty="0" smtClean="0">
                <a:solidFill>
                  <a:schemeClr val="bg1"/>
                </a:solidFill>
                <a:latin typeface="微软雅黑" pitchFamily="34" charset="-122"/>
                <a:ea typeface="微软雅黑" pitchFamily="34" charset="-122"/>
              </a:rPr>
              <a:t>时间分析</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1931"/>
            <a:ext cx="8048777" cy="2669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初始</a:t>
            </a:r>
            <a:r>
              <a:rPr lang="zh-CN" altLang="en-US" sz="2000" b="1" dirty="0">
                <a:latin typeface="微软雅黑" pitchFamily="34" charset="-122"/>
                <a:ea typeface="微软雅黑" pitchFamily="34" charset="-122"/>
              </a:rPr>
              <a:t>服务器文件分发的最少时间不可能小于 </a:t>
            </a:r>
            <a:r>
              <a:rPr lang="en-US" altLang="zh-CN" sz="2000" b="1" i="1" dirty="0" smtClean="0">
                <a:latin typeface="微软雅黑" pitchFamily="34" charset="-122"/>
                <a:ea typeface="微软雅黑" pitchFamily="34" charset="-122"/>
              </a:rPr>
              <a:t>F/u</a:t>
            </a:r>
            <a:r>
              <a:rPr lang="en-US" altLang="zh-CN" sz="2000" b="1" i="1" baseline="-25000" dirty="0" smtClean="0">
                <a:latin typeface="微软雅黑" pitchFamily="34" charset="-122"/>
                <a:ea typeface="微软雅黑" pitchFamily="34" charset="-122"/>
              </a:rPr>
              <a:t>s </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下载</a:t>
            </a:r>
            <a:r>
              <a:rPr lang="zh-CN" altLang="en-US" sz="2000" b="1" dirty="0">
                <a:latin typeface="微软雅黑" pitchFamily="34" charset="-122"/>
                <a:ea typeface="微软雅黑" pitchFamily="34" charset="-122"/>
              </a:rPr>
              <a:t>文件分发的最少时间不可能小于 </a:t>
            </a:r>
            <a:r>
              <a:rPr lang="en-US" altLang="zh-CN" sz="2000" b="1" i="1" dirty="0">
                <a:latin typeface="微软雅黑" pitchFamily="34" charset="-122"/>
                <a:ea typeface="微软雅黑" pitchFamily="34" charset="-122"/>
              </a:rPr>
              <a:t>F/</a:t>
            </a:r>
            <a:r>
              <a:rPr lang="en-US" altLang="zh-CN" sz="2000" b="1" i="1" dirty="0" err="1">
                <a:latin typeface="微软雅黑" pitchFamily="34" charset="-122"/>
                <a:ea typeface="微软雅黑" pitchFamily="34" charset="-122"/>
              </a:rPr>
              <a:t>d</a:t>
            </a:r>
            <a:r>
              <a:rPr lang="en-US" altLang="zh-CN" sz="2000" b="1" baseline="-25000" dirty="0" err="1">
                <a:latin typeface="微软雅黑" pitchFamily="34" charset="-122"/>
                <a:ea typeface="微软雅黑" pitchFamily="34" charset="-122"/>
              </a:rPr>
              <a:t>min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上载</a:t>
            </a:r>
            <a:r>
              <a:rPr lang="zh-CN" altLang="en-US" sz="2000" b="1" dirty="0">
                <a:latin typeface="微软雅黑" pitchFamily="34" charset="-122"/>
                <a:ea typeface="微软雅黑" pitchFamily="34" charset="-122"/>
              </a:rPr>
              <a:t>文件分发的最少时间不可能小于 </a:t>
            </a:r>
            <a:r>
              <a:rPr lang="en-US" altLang="zh-CN" sz="2000" b="1" i="1" dirty="0">
                <a:latin typeface="微软雅黑" pitchFamily="34" charset="-122"/>
                <a:ea typeface="微软雅黑" pitchFamily="34" charset="-122"/>
              </a:rPr>
              <a:t>NF/</a:t>
            </a:r>
            <a:r>
              <a:rPr lang="en-US" altLang="zh-CN" sz="2000" b="1" i="1" dirty="0" err="1">
                <a:latin typeface="微软雅黑" pitchFamily="34" charset="-122"/>
                <a:ea typeface="微软雅黑" pitchFamily="34" charset="-122"/>
              </a:rPr>
              <a:t>u</a:t>
            </a:r>
            <a:r>
              <a:rPr lang="en-US" altLang="zh-CN" sz="2000" b="1" baseline="-25000" dirty="0" err="1">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，其中是 </a:t>
            </a:r>
            <a:r>
              <a:rPr lang="en-US" altLang="zh-CN" sz="2000" b="1" i="1" dirty="0" err="1">
                <a:latin typeface="微软雅黑" pitchFamily="34" charset="-122"/>
                <a:ea typeface="微软雅黑" pitchFamily="34" charset="-122"/>
              </a:rPr>
              <a:t>u</a:t>
            </a:r>
            <a:r>
              <a:rPr lang="en-US" altLang="zh-CN" sz="2000" b="1" baseline="-25000" dirty="0" err="1">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 </a:t>
            </a:r>
            <a:r>
              <a:rPr lang="zh-CN" altLang="en-US" sz="2000" b="1" dirty="0">
                <a:latin typeface="微软雅黑" pitchFamily="34" charset="-122"/>
                <a:ea typeface="微软雅黑" pitchFamily="34" charset="-122"/>
              </a:rPr>
              <a:t>是上传速率之和。</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所有</a:t>
            </a:r>
            <a:r>
              <a:rPr lang="zh-CN" altLang="en-US" sz="2000" b="1" dirty="0">
                <a:latin typeface="微软雅黑" pitchFamily="34" charset="-122"/>
                <a:ea typeface="微软雅黑" pitchFamily="34" charset="-122"/>
              </a:rPr>
              <a:t>主机都下载完文件 </a:t>
            </a:r>
            <a:r>
              <a:rPr lang="en-US" altLang="zh-CN" sz="2000" b="1" i="1" dirty="0">
                <a:latin typeface="微软雅黑" pitchFamily="34" charset="-122"/>
                <a:ea typeface="微软雅黑" pitchFamily="34" charset="-122"/>
              </a:rPr>
              <a:t>F</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最少时间的下限</a:t>
            </a:r>
            <a:r>
              <a:rPr lang="zh-CN" altLang="en-US" sz="2000" b="1" dirty="0">
                <a:latin typeface="微软雅黑" pitchFamily="34" charset="-122"/>
                <a:ea typeface="微软雅黑" pitchFamily="34" charset="-122"/>
              </a:rPr>
              <a:t>是：</a:t>
            </a:r>
          </a:p>
          <a:p>
            <a:pPr algn="ctr" eaLnBrk="0" hangingPunct="0">
              <a:lnSpc>
                <a:spcPts val="3300"/>
              </a:lnSpc>
              <a:buClr>
                <a:srgbClr val="0070C0"/>
              </a:buClr>
            </a:pPr>
            <a:r>
              <a:rPr lang="en-US" altLang="zh-CN" sz="2000" b="1" i="1" dirty="0" smtClean="0">
                <a:solidFill>
                  <a:srgbClr val="0000FF"/>
                </a:solidFill>
                <a:latin typeface="微软雅黑" pitchFamily="34" charset="-122"/>
                <a:ea typeface="微软雅黑" pitchFamily="34" charset="-122"/>
              </a:rPr>
              <a:t>T</a:t>
            </a:r>
            <a:r>
              <a:rPr lang="en-US" altLang="zh-CN" sz="2000" b="1" baseline="-25000" dirty="0" smtClean="0">
                <a:solidFill>
                  <a:srgbClr val="0000FF"/>
                </a:solidFill>
                <a:latin typeface="微软雅黑" pitchFamily="34" charset="-122"/>
                <a:ea typeface="微软雅黑" pitchFamily="34" charset="-122"/>
              </a:rPr>
              <a:t>p2p</a:t>
            </a:r>
            <a:r>
              <a:rPr lang="en-US" altLang="zh-CN" sz="2000" b="1" dirty="0" smtClean="0">
                <a:solidFill>
                  <a:srgbClr val="0000FF"/>
                </a:solidFill>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&gt;= max</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F/u</a:t>
            </a:r>
            <a:r>
              <a:rPr lang="en-US" altLang="zh-CN" sz="2000" b="1" i="1" baseline="-25000" dirty="0">
                <a:solidFill>
                  <a:srgbClr val="0000FF"/>
                </a:solidFill>
                <a:latin typeface="微软雅黑" pitchFamily="34" charset="-122"/>
                <a:ea typeface="微软雅黑" pitchFamily="34" charset="-122"/>
              </a:rPr>
              <a:t>s</a:t>
            </a:r>
            <a:r>
              <a:rPr lang="en-US" altLang="zh-CN" sz="2000" b="1" i="1" dirty="0">
                <a:solidFill>
                  <a:srgbClr val="0000FF"/>
                </a:solidFill>
                <a:latin typeface="微软雅黑" pitchFamily="34" charset="-122"/>
                <a:ea typeface="微软雅黑" pitchFamily="34" charset="-122"/>
              </a:rPr>
              <a:t> </a:t>
            </a:r>
            <a:r>
              <a:rPr lang="zh-CN" altLang="en-US" sz="2000" b="1" i="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F/</a:t>
            </a:r>
            <a:r>
              <a:rPr lang="en-US" altLang="zh-CN" sz="2000" b="1" i="1" dirty="0" err="1">
                <a:solidFill>
                  <a:srgbClr val="0000FF"/>
                </a:solidFill>
                <a:latin typeface="微软雅黑" pitchFamily="34" charset="-122"/>
                <a:ea typeface="微软雅黑" pitchFamily="34" charset="-122"/>
              </a:rPr>
              <a:t>d</a:t>
            </a:r>
            <a:r>
              <a:rPr lang="en-US" altLang="zh-CN" sz="2000" b="1" baseline="-25000" dirty="0" err="1">
                <a:solidFill>
                  <a:srgbClr val="0000FF"/>
                </a:solidFill>
                <a:latin typeface="微软雅黑" pitchFamily="34" charset="-122"/>
                <a:ea typeface="微软雅黑" pitchFamily="34" charset="-122"/>
              </a:rPr>
              <a:t>min</a:t>
            </a:r>
            <a:r>
              <a:rPr lang="zh-CN" altLang="en-US" sz="2000" b="1" i="1" dirty="0">
                <a:solidFill>
                  <a:srgbClr val="0000FF"/>
                </a:solidFill>
                <a:latin typeface="微软雅黑" pitchFamily="34" charset="-122"/>
                <a:ea typeface="微软雅黑" pitchFamily="34" charset="-122"/>
              </a:rPr>
              <a:t>， </a:t>
            </a:r>
            <a:r>
              <a:rPr lang="en-US" altLang="zh-CN" sz="2000" b="1" i="1" dirty="0" smtClean="0">
                <a:solidFill>
                  <a:srgbClr val="0000FF"/>
                </a:solidFill>
                <a:latin typeface="微软雅黑" pitchFamily="34" charset="-122"/>
                <a:ea typeface="微软雅黑" pitchFamily="34" charset="-122"/>
              </a:rPr>
              <a:t>NF/</a:t>
            </a:r>
            <a:r>
              <a:rPr lang="en-US" altLang="zh-CN" sz="2000" b="1" i="1" dirty="0" err="1">
                <a:solidFill>
                  <a:srgbClr val="0000FF"/>
                </a:solidFill>
                <a:latin typeface="微软雅黑" pitchFamily="34" charset="-122"/>
                <a:ea typeface="微软雅黑" pitchFamily="34" charset="-122"/>
              </a:rPr>
              <a:t>u</a:t>
            </a:r>
            <a:r>
              <a:rPr lang="en-US" altLang="zh-CN" sz="2000" b="1" baseline="-25000" dirty="0" err="1">
                <a:solidFill>
                  <a:srgbClr val="0000FF"/>
                </a:solidFill>
                <a:latin typeface="微软雅黑" pitchFamily="34" charset="-122"/>
                <a:ea typeface="微软雅黑" pitchFamily="34" charset="-122"/>
              </a:rPr>
              <a:t>T</a:t>
            </a:r>
            <a:r>
              <a:rPr lang="en-US" altLang="zh-CN" sz="2000" b="1" i="1" baseline="-25000" dirty="0">
                <a:solidFill>
                  <a:srgbClr val="0000FF"/>
                </a:solidFill>
                <a:latin typeface="微软雅黑" pitchFamily="34" charset="-122"/>
                <a:ea typeface="微软雅黑" pitchFamily="34" charset="-122"/>
              </a:rPr>
              <a:t> </a:t>
            </a:r>
            <a:r>
              <a:rPr lang="en-US" altLang="zh-CN" sz="2000" b="1" i="1" dirty="0" smtClean="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a:t>
            </a:r>
          </a:p>
        </p:txBody>
      </p:sp>
      <p:sp>
        <p:nvSpPr>
          <p:cNvPr id="5" name="Rectangle 4"/>
          <p:cNvSpPr>
            <a:spLocks noChangeArrowheads="1"/>
          </p:cNvSpPr>
          <p:nvPr/>
        </p:nvSpPr>
        <p:spPr bwMode="auto">
          <a:xfrm>
            <a:off x="7497233" y="37227"/>
            <a:ext cx="16442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文件分发的分析</a:t>
            </a:r>
          </a:p>
        </p:txBody>
      </p:sp>
    </p:spTree>
    <p:custDataLst>
      <p:tags r:id="rId1"/>
    </p:custDataLst>
    <p:extLst>
      <p:ext uri="{BB962C8B-B14F-4D97-AF65-F5344CB8AC3E}">
        <p14:creationId xmlns:p14="http://schemas.microsoft.com/office/powerpoint/2010/main" val="9749007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fade">
                                      <p:cBhvr>
                                        <p:cTn id="17" dur="500"/>
                                        <p:tgtEl>
                                          <p:spTgt spid="4">
                                            <p:txEl>
                                              <p:pRg st="3" end="3"/>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
                                            <p:txEl>
                                              <p:pRg st="4" end="4"/>
                                            </p:txEl>
                                          </p:spTgt>
                                        </p:tgtEl>
                                        <p:attrNameLst>
                                          <p:attrName>style.visibility</p:attrName>
                                        </p:attrNameLst>
                                      </p:cBhvr>
                                      <p:to>
                                        <p:strVal val="visible"/>
                                      </p:to>
                                    </p:set>
                                    <p:animEffect transition="in" filter="fade">
                                      <p:cBhvr>
                                        <p:cTn id="20"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54"/>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976063" y="57964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时间比较</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5552"/>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设所有的对等方的上传速率</a:t>
            </a:r>
            <a:r>
              <a:rPr lang="zh-CN" altLang="en-US" sz="2000" b="1" dirty="0" smtClean="0">
                <a:latin typeface="微软雅黑" pitchFamily="34" charset="-122"/>
                <a:ea typeface="微软雅黑" pitchFamily="34" charset="-122"/>
              </a:rPr>
              <a:t>都是 </a:t>
            </a:r>
            <a:r>
              <a:rPr lang="en-US" altLang="zh-CN" sz="2000" b="1" i="1" dirty="0" smtClean="0">
                <a:latin typeface="微软雅黑" pitchFamily="34" charset="-122"/>
                <a:ea typeface="微软雅黑" pitchFamily="34" charset="-122"/>
              </a:rPr>
              <a:t>u</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并且 </a:t>
            </a:r>
            <a:r>
              <a:rPr lang="en-US" altLang="zh-CN" sz="2000" b="1" i="1" dirty="0" smtClean="0">
                <a:latin typeface="微软雅黑" pitchFamily="34" charset="-122"/>
                <a:ea typeface="微软雅黑" pitchFamily="34" charset="-122"/>
              </a:rPr>
              <a:t>F</a:t>
            </a:r>
            <a:r>
              <a:rPr lang="en-US" altLang="zh-CN" sz="2000" b="1" dirty="0" smtClean="0">
                <a:latin typeface="微软雅黑" pitchFamily="34" charset="-122"/>
                <a:ea typeface="微软雅黑" pitchFamily="34" charset="-122"/>
              </a:rPr>
              <a:t>/</a:t>
            </a:r>
            <a:r>
              <a:rPr lang="en-US" altLang="zh-CN" sz="2000" b="1" i="1" dirty="0" smtClean="0">
                <a:latin typeface="微软雅黑" pitchFamily="34" charset="-122"/>
                <a:ea typeface="微软雅黑" pitchFamily="34" charset="-122"/>
              </a:rPr>
              <a:t>u</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1 </a:t>
            </a:r>
            <a:r>
              <a:rPr lang="zh-CN" altLang="en-US" sz="2000" b="1" dirty="0" smtClean="0">
                <a:latin typeface="微软雅黑" pitchFamily="34" charset="-122"/>
                <a:ea typeface="微软雅黑" pitchFamily="34" charset="-122"/>
              </a:rPr>
              <a:t>小时。</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设服务器的上传</a:t>
            </a:r>
            <a:r>
              <a:rPr lang="zh-CN" altLang="en-US" sz="2000" b="1" dirty="0" smtClean="0">
                <a:latin typeface="微软雅黑" pitchFamily="34" charset="-122"/>
                <a:ea typeface="微软雅黑" pitchFamily="34" charset="-122"/>
              </a:rPr>
              <a:t>速率 </a:t>
            </a:r>
            <a:r>
              <a:rPr lang="en-US" altLang="zh-CN" sz="2000" b="1" i="1" dirty="0" smtClean="0">
                <a:latin typeface="微软雅黑" pitchFamily="34" charset="-122"/>
                <a:ea typeface="微软雅黑" pitchFamily="34" charset="-122"/>
              </a:rPr>
              <a:t>u</a:t>
            </a:r>
            <a:r>
              <a:rPr lang="en-US" altLang="zh-CN" sz="2000" b="1" baseline="-25000" dirty="0" smtClean="0">
                <a:latin typeface="微软雅黑" pitchFamily="34" charset="-122"/>
                <a:ea typeface="微软雅黑" pitchFamily="34" charset="-122"/>
              </a:rPr>
              <a:t>s</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 10</a:t>
            </a:r>
            <a:r>
              <a:rPr lang="en-US" altLang="zh-CN" sz="2000" b="1" i="1" dirty="0">
                <a:latin typeface="微软雅黑" pitchFamily="34" charset="-122"/>
                <a:ea typeface="微软雅黑" pitchFamily="34" charset="-122"/>
              </a:rPr>
              <a:t>u</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当 </a:t>
            </a:r>
            <a:r>
              <a:rPr lang="en-US" altLang="zh-CN" sz="2000" b="1" i="1" dirty="0" smtClean="0">
                <a:latin typeface="微软雅黑" pitchFamily="34" charset="-122"/>
                <a:ea typeface="微软雅黑" pitchFamily="34" charset="-122"/>
              </a:rPr>
              <a:t>N</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30 </a:t>
            </a:r>
            <a:r>
              <a:rPr lang="zh-CN" altLang="en-US" sz="2000" b="1" dirty="0" smtClean="0">
                <a:latin typeface="微软雅黑" pitchFamily="34" charset="-122"/>
                <a:ea typeface="微软雅黑" pitchFamily="34" charset="-122"/>
              </a:rPr>
              <a:t>时，</a:t>
            </a:r>
            <a:endParaRPr lang="en-US" altLang="zh-CN" sz="2000" b="1" dirty="0">
              <a:latin typeface="微软雅黑" pitchFamily="34" charset="-122"/>
              <a:ea typeface="微软雅黑" pitchFamily="34" charset="-122"/>
            </a:endParaRPr>
          </a:p>
          <a:p>
            <a:pPr marL="800100" lvl="1" indent="-342900" eaLnBrk="0" hangingPunct="0">
              <a:lnSpc>
                <a:spcPts val="3300"/>
              </a:lnSpc>
              <a:buClr>
                <a:srgbClr val="9900CC"/>
              </a:buClr>
              <a:buFont typeface="+mj-lt"/>
              <a:buAutoNum type="arabicPeriod"/>
            </a:pPr>
            <a:r>
              <a:rPr lang="en-US" altLang="zh-CN" b="1" dirty="0" smtClean="0">
                <a:solidFill>
                  <a:srgbClr val="C00000"/>
                </a:solidFill>
                <a:latin typeface="微软雅黑" pitchFamily="34" charset="-122"/>
                <a:ea typeface="微软雅黑" pitchFamily="34" charset="-122"/>
              </a:rPr>
              <a:t>P2P </a:t>
            </a:r>
            <a:r>
              <a:rPr lang="zh-CN" altLang="en-US" b="1" dirty="0" smtClean="0">
                <a:solidFill>
                  <a:srgbClr val="C00000"/>
                </a:solidFill>
                <a:latin typeface="微软雅黑" pitchFamily="34" charset="-122"/>
                <a:ea typeface="微软雅黑" pitchFamily="34" charset="-122"/>
              </a:rPr>
              <a:t>方式：</a:t>
            </a:r>
            <a:r>
              <a:rPr lang="zh-CN" altLang="en-US" b="1" dirty="0" smtClean="0">
                <a:latin typeface="微软雅黑" pitchFamily="34" charset="-122"/>
                <a:ea typeface="微软雅黑" pitchFamily="34" charset="-122"/>
              </a:rPr>
              <a:t>最少</a:t>
            </a:r>
            <a:r>
              <a:rPr lang="zh-CN" altLang="en-US" b="1" dirty="0">
                <a:latin typeface="微软雅黑" pitchFamily="34" charset="-122"/>
                <a:ea typeface="微软雅黑" pitchFamily="34" charset="-122"/>
              </a:rPr>
              <a:t>时间的下限是 </a:t>
            </a:r>
            <a:r>
              <a:rPr lang="en-US" altLang="zh-CN" b="1" dirty="0" smtClean="0">
                <a:latin typeface="微软雅黑" pitchFamily="34" charset="-122"/>
                <a:ea typeface="微软雅黑" pitchFamily="34" charset="-122"/>
              </a:rPr>
              <a:t>0.75 </a:t>
            </a:r>
            <a:r>
              <a:rPr lang="zh-CN" altLang="en-US" b="1" dirty="0" smtClean="0">
                <a:latin typeface="微软雅黑" pitchFamily="34" charset="-122"/>
                <a:ea typeface="微软雅黑" pitchFamily="34" charset="-122"/>
              </a:rPr>
              <a:t>小时 </a:t>
            </a:r>
            <a:r>
              <a:rPr lang="en-US" altLang="zh-CN" b="1" dirty="0">
                <a:latin typeface="微软雅黑" pitchFamily="34" charset="-122"/>
                <a:ea typeface="微软雅黑" pitchFamily="34" charset="-122"/>
              </a:rPr>
              <a:t>&lt; </a:t>
            </a:r>
            <a:r>
              <a:rPr lang="en-US" altLang="zh-CN" b="1" dirty="0" smtClean="0">
                <a:latin typeface="微软雅黑" pitchFamily="34" charset="-122"/>
                <a:ea typeface="微软雅黑" pitchFamily="34" charset="-122"/>
              </a:rPr>
              <a:t>1 </a:t>
            </a:r>
            <a:r>
              <a:rPr lang="zh-CN" altLang="en-US" b="1" dirty="0" smtClean="0">
                <a:latin typeface="微软雅黑" pitchFamily="34" charset="-122"/>
                <a:ea typeface="微软雅黑" pitchFamily="34" charset="-122"/>
              </a:rPr>
              <a:t>小时</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不管 </a:t>
            </a:r>
            <a:r>
              <a:rPr lang="en-US" altLang="zh-CN" b="1" i="1" dirty="0" smtClean="0">
                <a:latin typeface="微软雅黑" pitchFamily="34" charset="-122"/>
                <a:ea typeface="微软雅黑" pitchFamily="34" charset="-122"/>
              </a:rPr>
              <a:t>N</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多大）。</a:t>
            </a:r>
            <a:endParaRPr lang="en-US" altLang="zh-CN" b="1" dirty="0" smtClean="0">
              <a:latin typeface="微软雅黑" pitchFamily="34" charset="-122"/>
              <a:ea typeface="微软雅黑" pitchFamily="34" charset="-122"/>
            </a:endParaRPr>
          </a:p>
          <a:p>
            <a:pPr marL="800100" lvl="1" indent="-342900" eaLnBrk="0" hangingPunct="0">
              <a:lnSpc>
                <a:spcPts val="3300"/>
              </a:lnSpc>
              <a:buClr>
                <a:srgbClr val="9900CC"/>
              </a:buClr>
              <a:buFont typeface="+mj-lt"/>
              <a:buAutoNum type="arabicPeriod"/>
            </a:pPr>
            <a:r>
              <a:rPr lang="zh-CN" altLang="en-US" b="1" dirty="0" smtClean="0">
                <a:solidFill>
                  <a:srgbClr val="C00000"/>
                </a:solidFill>
                <a:latin typeface="微软雅黑" pitchFamily="34" charset="-122"/>
                <a:ea typeface="微软雅黑" pitchFamily="34" charset="-122"/>
              </a:rPr>
              <a:t>客户服务器方式：</a:t>
            </a:r>
            <a:r>
              <a:rPr lang="zh-CN" altLang="en-US" b="1" dirty="0" smtClean="0">
                <a:latin typeface="微软雅黑" pitchFamily="34" charset="-122"/>
                <a:ea typeface="微软雅黑" pitchFamily="34" charset="-122"/>
              </a:rPr>
              <a:t>最少</a:t>
            </a:r>
            <a:r>
              <a:rPr lang="zh-CN" altLang="en-US" b="1" dirty="0">
                <a:latin typeface="微软雅黑" pitchFamily="34" charset="-122"/>
                <a:ea typeface="微软雅黑" pitchFamily="34" charset="-122"/>
              </a:rPr>
              <a:t>时间</a:t>
            </a:r>
            <a:r>
              <a:rPr lang="zh-CN" altLang="en-US" b="1" dirty="0" smtClean="0">
                <a:latin typeface="微软雅黑" pitchFamily="34" charset="-122"/>
                <a:ea typeface="微软雅黑" pitchFamily="34" charset="-122"/>
              </a:rPr>
              <a:t>是 </a:t>
            </a:r>
            <a:r>
              <a:rPr lang="en-US" altLang="zh-CN" b="1" dirty="0" smtClean="0">
                <a:latin typeface="微软雅黑" pitchFamily="34" charset="-122"/>
                <a:ea typeface="微软雅黑" pitchFamily="34" charset="-122"/>
              </a:rPr>
              <a:t>3 </a:t>
            </a:r>
            <a:r>
              <a:rPr lang="zh-CN" altLang="en-US" b="1" dirty="0" smtClean="0">
                <a:latin typeface="微软雅黑" pitchFamily="34" charset="-122"/>
                <a:ea typeface="微软雅黑" pitchFamily="34" charset="-122"/>
              </a:rPr>
              <a:t>小时</a:t>
            </a:r>
            <a:r>
              <a:rPr lang="zh-CN" altLang="en-US" b="1" dirty="0">
                <a:latin typeface="微软雅黑" pitchFamily="34" charset="-122"/>
                <a:ea typeface="微软雅黑" pitchFamily="34" charset="-122"/>
              </a:rPr>
              <a:t>。</a:t>
            </a:r>
          </a:p>
        </p:txBody>
      </p:sp>
      <p:sp>
        <p:nvSpPr>
          <p:cNvPr id="5" name="Rectangle 4"/>
          <p:cNvSpPr>
            <a:spLocks noChangeArrowheads="1"/>
          </p:cNvSpPr>
          <p:nvPr/>
        </p:nvSpPr>
        <p:spPr bwMode="auto">
          <a:xfrm>
            <a:off x="7497233" y="37227"/>
            <a:ext cx="16442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文件分发的分析</a:t>
            </a:r>
          </a:p>
        </p:txBody>
      </p:sp>
    </p:spTree>
    <p:custDataLst>
      <p:tags r:id="rId1"/>
    </p:custDataLst>
    <p:extLst>
      <p:ext uri="{BB962C8B-B14F-4D97-AF65-F5344CB8AC3E}">
        <p14:creationId xmlns:p14="http://schemas.microsoft.com/office/powerpoint/2010/main" val="6303140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3" end="3"/>
                                            </p:txEl>
                                          </p:spTgt>
                                        </p:tgtEl>
                                        <p:attrNameLst>
                                          <p:attrName>style.visibility</p:attrName>
                                        </p:attrNameLst>
                                      </p:cBhvr>
                                      <p:to>
                                        <p:strVal val="visible"/>
                                      </p:to>
                                    </p:set>
                                    <p:animEffect transition="in" filter="fade">
                                      <p:cBhvr>
                                        <p:cTn id="10" dur="500"/>
                                        <p:tgtEl>
                                          <p:spTgt spid="4">
                                            <p:txEl>
                                              <p:pRg st="3" end="3"/>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4">
                                            <p:txEl>
                                              <p:pRg st="4" end="4"/>
                                            </p:txEl>
                                          </p:spTgt>
                                        </p:tgtEl>
                                        <p:attrNameLst>
                                          <p:attrName>style.visibility</p:attrName>
                                        </p:attrNameLst>
                                      </p:cBhvr>
                                      <p:to>
                                        <p:strVal val="visible"/>
                                      </p:to>
                                    </p:set>
                                    <p:animEffect transition="in" filter="fade">
                                      <p:cBhvr>
                                        <p:cTn id="13"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155"/>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06749" y="578028"/>
            <a:ext cx="37305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在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对等方中搜索对象</a:t>
            </a:r>
          </a:p>
        </p:txBody>
      </p:sp>
      <p:sp>
        <p:nvSpPr>
          <p:cNvPr id="4" name="Rectangle 68"/>
          <p:cNvSpPr>
            <a:spLocks noChangeArrowheads="1"/>
          </p:cNvSpPr>
          <p:nvPr/>
        </p:nvSpPr>
        <p:spPr bwMode="auto">
          <a:xfrm>
            <a:off x="556963" y="100537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Napster </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一个集中式目录服务器中</a:t>
            </a:r>
            <a:r>
              <a:rPr lang="zh-CN" altLang="en-US" sz="2000" b="1" dirty="0" smtClean="0">
                <a:latin typeface="微软雅黑" pitchFamily="34" charset="-122"/>
                <a:ea typeface="微软雅黑" pitchFamily="34" charset="-122"/>
              </a:rPr>
              <a:t>构建查找数据库，简单</a:t>
            </a:r>
            <a:r>
              <a:rPr lang="zh-CN" altLang="en-US" sz="2000" b="1" dirty="0">
                <a:latin typeface="微软雅黑" pitchFamily="34" charset="-122"/>
                <a:ea typeface="微软雅黑" pitchFamily="34" charset="-122"/>
              </a:rPr>
              <a:t>，但性能</a:t>
            </a:r>
            <a:r>
              <a:rPr lang="zh-CN" altLang="en-US" sz="2000" b="1" dirty="0" smtClean="0">
                <a:latin typeface="微软雅黑" pitchFamily="34" charset="-122"/>
                <a:ea typeface="微软雅黑" pitchFamily="34" charset="-122"/>
              </a:rPr>
              <a:t>上有</a:t>
            </a:r>
            <a:r>
              <a:rPr lang="zh-CN" altLang="en-US" sz="2000" b="1" dirty="0">
                <a:solidFill>
                  <a:srgbClr val="C00000"/>
                </a:solidFill>
                <a:latin typeface="微软雅黑" pitchFamily="34" charset="-122"/>
                <a:ea typeface="微软雅黑" pitchFamily="34" charset="-122"/>
              </a:rPr>
              <a:t>瓶颈。</a:t>
            </a:r>
          </a:p>
          <a:p>
            <a:pPr marL="285750" indent="-28575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Gnutella </a:t>
            </a: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一种采用全分布方法定位内容</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P2P </a:t>
            </a:r>
            <a:r>
              <a:rPr lang="zh-CN" altLang="en-US" sz="2000" b="1" dirty="0" smtClean="0">
                <a:latin typeface="微软雅黑" pitchFamily="34" charset="-122"/>
                <a:ea typeface="微软雅黑" pitchFamily="34" charset="-122"/>
              </a:rPr>
              <a:t>文件</a:t>
            </a:r>
            <a:r>
              <a:rPr lang="zh-CN" altLang="en-US" sz="2000" b="1" dirty="0">
                <a:latin typeface="微软雅黑" pitchFamily="34" charset="-122"/>
                <a:ea typeface="微软雅黑" pitchFamily="34" charset="-122"/>
              </a:rPr>
              <a:t>共享应用程序，它解决了集中式目录服务器所造成的瓶颈问题</a:t>
            </a:r>
            <a:r>
              <a:rPr lang="zh-CN" altLang="en-US" sz="2000" b="1" dirty="0" smtClean="0">
                <a:latin typeface="微软雅黑" pitchFamily="34" charset="-122"/>
                <a:ea typeface="微软雅黑" pitchFamily="34" charset="-122"/>
              </a:rPr>
              <a:t>。但 </a:t>
            </a:r>
            <a:r>
              <a:rPr lang="en-US" altLang="zh-CN" sz="2000" b="1" dirty="0" smtClean="0">
                <a:latin typeface="微软雅黑" pitchFamily="34" charset="-122"/>
                <a:ea typeface="微软雅黑" pitchFamily="34" charset="-122"/>
              </a:rPr>
              <a:t>Gnutella </a:t>
            </a: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在非结构化的覆盖网络中采用查询洪泛的</a:t>
            </a:r>
            <a:r>
              <a:rPr lang="zh-CN" altLang="en-US" sz="2000" b="1" dirty="0" smtClean="0">
                <a:latin typeface="微软雅黑" pitchFamily="34" charset="-122"/>
                <a:ea typeface="微软雅黑" pitchFamily="34" charset="-122"/>
              </a:rPr>
              <a:t>方法进行查找，</a:t>
            </a:r>
            <a:r>
              <a:rPr lang="zh-CN" altLang="en-US" sz="2000" b="1" dirty="0">
                <a:latin typeface="微软雅黑" pitchFamily="34" charset="-122"/>
                <a:ea typeface="微软雅黑" pitchFamily="34" charset="-122"/>
              </a:rPr>
              <a:t>因此查找的</a:t>
            </a:r>
            <a:r>
              <a:rPr lang="zh-CN" altLang="en-US" sz="2000" b="1" dirty="0">
                <a:solidFill>
                  <a:srgbClr val="C00000"/>
                </a:solidFill>
                <a:latin typeface="微软雅黑" pitchFamily="34" charset="-122"/>
                <a:ea typeface="微软雅黑" pitchFamily="34" charset="-122"/>
              </a:rPr>
              <a:t>效率较低。</a:t>
            </a:r>
          </a:p>
        </p:txBody>
      </p:sp>
      <p:sp>
        <p:nvSpPr>
          <p:cNvPr id="5"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spTree>
    <p:custDataLst>
      <p:tags r:id="rId1"/>
    </p:custDataLst>
    <p:extLst>
      <p:ext uri="{BB962C8B-B14F-4D97-AF65-F5344CB8AC3E}">
        <p14:creationId xmlns:p14="http://schemas.microsoft.com/office/powerpoint/2010/main" val="9871912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752"/>
            <a:ext cx="8048776" cy="388721"/>
          </a:xfrm>
          <a:prstGeom prst="roundRect">
            <a:avLst>
              <a:gd name="adj" fmla="val 16667"/>
            </a:avLst>
          </a:prstGeom>
          <a:solidFill>
            <a:srgbClr val="0089FA"/>
          </a:solidFill>
          <a:ln>
            <a:noFill/>
          </a:ln>
          <a:effectLst/>
          <a:extLst/>
        </p:spPr>
        <p:txBody>
          <a:bodyPr wrap="none" anchor="ctr"/>
          <a:lstStyle/>
          <a:p>
            <a:endParaRPr lang="zh-CN" altLang="en-US"/>
          </a:p>
        </p:txBody>
      </p:sp>
      <p:sp>
        <p:nvSpPr>
          <p:cNvPr id="3" name="Rectangle 6"/>
          <p:cNvSpPr>
            <a:spLocks noChangeArrowheads="1"/>
          </p:cNvSpPr>
          <p:nvPr/>
        </p:nvSpPr>
        <p:spPr bwMode="auto">
          <a:xfrm>
            <a:off x="2706749" y="573747"/>
            <a:ext cx="37305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smtClean="0">
                <a:solidFill>
                  <a:schemeClr val="bg1"/>
                </a:solidFill>
                <a:latin typeface="微软雅黑" pitchFamily="34" charset="-122"/>
                <a:ea typeface="微软雅黑" pitchFamily="34" charset="-122"/>
              </a:rPr>
              <a:t>在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对等方中搜索对象</a:t>
            </a:r>
          </a:p>
        </p:txBody>
      </p:sp>
      <p:sp>
        <p:nvSpPr>
          <p:cNvPr id="4" name="Rectangle 68"/>
          <p:cNvSpPr>
            <a:spLocks noChangeArrowheads="1"/>
          </p:cNvSpPr>
          <p:nvPr/>
        </p:nvSpPr>
        <p:spPr bwMode="auto">
          <a:xfrm>
            <a:off x="556963" y="1009970"/>
            <a:ext cx="8048776"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除了前述非结构化的查找技术外，人们还设计了结构化的查找技术，</a:t>
            </a:r>
            <a:r>
              <a:rPr lang="zh-CN" altLang="en-US" sz="2000" b="1" dirty="0" smtClean="0">
                <a:solidFill>
                  <a:srgbClr val="C00000"/>
                </a:solidFill>
                <a:latin typeface="微软雅黑" pitchFamily="34" charset="-122"/>
                <a:ea typeface="微软雅黑" pitchFamily="34" charset="-122"/>
              </a:rPr>
              <a:t>分布式</a:t>
            </a:r>
            <a:r>
              <a:rPr lang="zh-CN" altLang="en-US" sz="2000" b="1" dirty="0">
                <a:solidFill>
                  <a:srgbClr val="C00000"/>
                </a:solidFill>
                <a:latin typeface="微软雅黑" pitchFamily="34" charset="-122"/>
                <a:ea typeface="微软雅黑" pitchFamily="34" charset="-122"/>
              </a:rPr>
              <a:t>散列表 </a:t>
            </a:r>
            <a:r>
              <a:rPr lang="en-US" altLang="zh-CN" sz="2000" b="1" dirty="0">
                <a:latin typeface="微软雅黑" pitchFamily="34" charset="-122"/>
                <a:ea typeface="微软雅黑" pitchFamily="34" charset="-122"/>
              </a:rPr>
              <a:t>DHT (Distributed Hash </a:t>
            </a:r>
            <a:r>
              <a:rPr lang="en-US" altLang="zh-CN" sz="2000" b="1" dirty="0" smtClean="0">
                <a:latin typeface="微软雅黑" pitchFamily="34" charset="-122"/>
                <a:ea typeface="微软雅黑" pitchFamily="34" charset="-122"/>
              </a:rPr>
              <a:t>Table)</a:t>
            </a:r>
            <a:r>
              <a:rPr lang="zh-CN" altLang="en-US" sz="2000" b="1" dirty="0" smtClean="0">
                <a:latin typeface="微软雅黑" pitchFamily="34" charset="-122"/>
                <a:ea typeface="微软雅黑" pitchFamily="34" charset="-122"/>
              </a:rPr>
              <a:t>就是其中的典型代表。</a:t>
            </a:r>
            <a:endParaRPr lang="en-US" altLang="zh-CN" sz="2000" b="1" dirty="0" smtClean="0">
              <a:latin typeface="微软雅黑" pitchFamily="34" charset="-122"/>
              <a:ea typeface="微软雅黑" pitchFamily="34" charset="-122"/>
            </a:endParaRPr>
          </a:p>
          <a:p>
            <a:pPr marL="285750" indent="-285750" algn="just"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rPr>
              <a:t>DHT </a:t>
            </a:r>
            <a:r>
              <a:rPr lang="zh-CN" altLang="en-US" sz="2000" b="1" dirty="0">
                <a:latin typeface="微软雅黑" pitchFamily="34" charset="-122"/>
                <a:ea typeface="微软雅黑" pitchFamily="34" charset="-122"/>
              </a:rPr>
              <a:t>也可译为</a:t>
            </a:r>
            <a:r>
              <a:rPr lang="zh-CN" altLang="en-US" sz="2000" b="1" dirty="0">
                <a:solidFill>
                  <a:srgbClr val="C00000"/>
                </a:solidFill>
                <a:latin typeface="微软雅黑" pitchFamily="34" charset="-122"/>
                <a:ea typeface="微软雅黑" pitchFamily="34" charset="-122"/>
              </a:rPr>
              <a:t>分布式哈希表</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由</a:t>
            </a:r>
            <a:r>
              <a:rPr lang="zh-CN" altLang="en-US" sz="2000" b="1" dirty="0">
                <a:latin typeface="微软雅黑" pitchFamily="34" charset="-122"/>
                <a:ea typeface="微软雅黑" pitchFamily="34" charset="-122"/>
              </a:rPr>
              <a:t>大量对等方共同</a:t>
            </a:r>
            <a:r>
              <a:rPr lang="zh-CN" altLang="en-US" sz="2000" b="1" dirty="0" smtClean="0">
                <a:latin typeface="微软雅黑" pitchFamily="34" charset="-122"/>
                <a:ea typeface="微软雅黑" pitchFamily="34" charset="-122"/>
              </a:rPr>
              <a:t>维护。</a:t>
            </a:r>
            <a:endParaRPr lang="zh-CN" altLang="en-US" sz="2000" b="1" dirty="0">
              <a:latin typeface="微软雅黑" pitchFamily="34" charset="-122"/>
              <a:ea typeface="微软雅黑" pitchFamily="34" charset="-122"/>
            </a:endParaRPr>
          </a:p>
          <a:p>
            <a:pPr marL="285750" indent="-285750" algn="just"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广泛使用的 </a:t>
            </a:r>
            <a:r>
              <a:rPr lang="en-US" altLang="zh-CN" sz="2000" b="1" dirty="0">
                <a:solidFill>
                  <a:srgbClr val="C00000"/>
                </a:solidFill>
                <a:latin typeface="微软雅黑" pitchFamily="34" charset="-122"/>
                <a:ea typeface="微软雅黑" pitchFamily="34" charset="-122"/>
              </a:rPr>
              <a:t>Chord </a:t>
            </a:r>
            <a:r>
              <a:rPr lang="zh-CN" altLang="en-US" sz="2000" b="1" dirty="0">
                <a:solidFill>
                  <a:srgbClr val="C00000"/>
                </a:solidFill>
                <a:latin typeface="微软雅黑" pitchFamily="34" charset="-122"/>
                <a:ea typeface="微软雅黑" pitchFamily="34" charset="-122"/>
              </a:rPr>
              <a:t>算法</a:t>
            </a:r>
            <a:r>
              <a:rPr lang="zh-CN" altLang="en-US" sz="2000" b="1" dirty="0">
                <a:latin typeface="微软雅黑" pitchFamily="34" charset="-122"/>
                <a:ea typeface="微软雅黑" pitchFamily="34" charset="-122"/>
              </a:rPr>
              <a:t>是</a:t>
            </a:r>
            <a:r>
              <a:rPr lang="zh-CN" altLang="en-US" sz="2000" b="1" dirty="0" smtClean="0">
                <a:latin typeface="微软雅黑" pitchFamily="34" charset="-122"/>
                <a:ea typeface="微软雅黑" pitchFamily="34" charset="-122"/>
              </a:rPr>
              <a:t>美国</a:t>
            </a:r>
            <a:r>
              <a:rPr lang="en-US" altLang="zh-CN" sz="2000" b="1" dirty="0">
                <a:latin typeface="微软雅黑" pitchFamily="34" charset="-122"/>
                <a:ea typeface="微软雅黑" pitchFamily="34" charset="-122"/>
              </a:rPr>
              <a:t>MIT</a:t>
            </a:r>
            <a:r>
              <a:rPr lang="zh-CN" altLang="en-US" sz="2000" b="1" dirty="0" smtClean="0">
                <a:latin typeface="微软雅黑" pitchFamily="34" charset="-122"/>
                <a:ea typeface="微软雅黑" pitchFamily="34" charset="-122"/>
              </a:rPr>
              <a:t>于 </a:t>
            </a:r>
            <a:r>
              <a:rPr lang="en-US" altLang="zh-CN" sz="2000" b="1" dirty="0" smtClean="0">
                <a:latin typeface="微软雅黑" pitchFamily="34" charset="-122"/>
                <a:ea typeface="微软雅黑" pitchFamily="34" charset="-122"/>
              </a:rPr>
              <a:t>2001 </a:t>
            </a:r>
            <a:r>
              <a:rPr lang="zh-CN" altLang="en-US" sz="2000" b="1" dirty="0">
                <a:latin typeface="微软雅黑" pitchFamily="34" charset="-122"/>
                <a:ea typeface="微软雅黑" pitchFamily="34" charset="-122"/>
              </a:rPr>
              <a:t>年提出的。</a:t>
            </a:r>
          </a:p>
        </p:txBody>
      </p:sp>
      <p:sp>
        <p:nvSpPr>
          <p:cNvPr id="5"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spTree>
    <p:custDataLst>
      <p:tags r:id="rId1"/>
    </p:custDataLst>
    <p:extLst>
      <p:ext uri="{BB962C8B-B14F-4D97-AF65-F5344CB8AC3E}">
        <p14:creationId xmlns:p14="http://schemas.microsoft.com/office/powerpoint/2010/main" val="41867976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2" end="2"/>
                                            </p:txEl>
                                          </p:spTgt>
                                        </p:tgtEl>
                                        <p:attrNameLst>
                                          <p:attrName>style.visibility</p:attrName>
                                        </p:attrNameLst>
                                      </p:cBhvr>
                                      <p:to>
                                        <p:strVal val="visible"/>
                                      </p:to>
                                    </p:set>
                                    <p:animEffect transition="in" filter="fade">
                                      <p:cBhvr>
                                        <p:cTn id="10"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3" y="955373"/>
            <a:ext cx="78235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分布式散列表 </a:t>
            </a:r>
            <a:r>
              <a:rPr lang="en-US" altLang="zh-CN" sz="2000" b="1" dirty="0">
                <a:latin typeface="微软雅黑" pitchFamily="34" charset="-122"/>
                <a:ea typeface="微软雅黑" pitchFamily="34" charset="-122"/>
              </a:rPr>
              <a:t>DHT </a:t>
            </a:r>
            <a:r>
              <a:rPr lang="zh-CN" altLang="en-US" sz="2000" b="1" dirty="0">
                <a:latin typeface="微软雅黑" pitchFamily="34" charset="-122"/>
                <a:ea typeface="微软雅黑" pitchFamily="34" charset="-122"/>
              </a:rPr>
              <a:t>利用散列函数，把资源名 </a:t>
            </a:r>
            <a:r>
              <a:rPr lang="en-US" altLang="zh-CN" sz="2000" b="1" dirty="0">
                <a:latin typeface="微软雅黑" pitchFamily="34" charset="-122"/>
                <a:ea typeface="微软雅黑" pitchFamily="34" charset="-122"/>
              </a:rPr>
              <a:t>K </a:t>
            </a:r>
            <a:r>
              <a:rPr lang="zh-CN" altLang="en-US" sz="2000" b="1" dirty="0">
                <a:latin typeface="微软雅黑" pitchFamily="34" charset="-122"/>
                <a:ea typeface="微软雅黑" pitchFamily="34" charset="-122"/>
              </a:rPr>
              <a:t>及其存放</a:t>
            </a:r>
            <a:r>
              <a:rPr lang="zh-CN" altLang="en-US" sz="2000" b="1" dirty="0" smtClean="0">
                <a:latin typeface="微软雅黑" pitchFamily="34" charset="-122"/>
                <a:ea typeface="微软雅黑" pitchFamily="34" charset="-122"/>
              </a:rPr>
              <a:t>的节点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都分别</a:t>
            </a:r>
            <a:r>
              <a:rPr lang="zh-CN" altLang="en-US" sz="2000" b="1" dirty="0">
                <a:solidFill>
                  <a:srgbClr val="C00000"/>
                </a:solidFill>
                <a:latin typeface="微软雅黑" pitchFamily="34" charset="-122"/>
                <a:ea typeface="微软雅黑" pitchFamily="34" charset="-122"/>
              </a:rPr>
              <a:t>映射</a:t>
            </a:r>
            <a:r>
              <a:rPr lang="zh-CN" altLang="en-US" sz="2000" b="1" dirty="0">
                <a:latin typeface="微软雅黑" pitchFamily="34" charset="-122"/>
                <a:ea typeface="微软雅黑" pitchFamily="34" charset="-122"/>
              </a:rPr>
              <a:t>为</a:t>
            </a:r>
            <a:r>
              <a:rPr lang="zh-CN" altLang="en-US" sz="2000" b="1" dirty="0">
                <a:solidFill>
                  <a:srgbClr val="0000FF"/>
                </a:solidFill>
                <a:latin typeface="微软雅黑" pitchFamily="34" charset="-122"/>
                <a:ea typeface="微软雅黑" pitchFamily="34" charset="-122"/>
              </a:rPr>
              <a:t>资源名标识符 </a:t>
            </a:r>
            <a:r>
              <a:rPr lang="en-US" altLang="zh-CN" sz="2000" b="1" dirty="0">
                <a:solidFill>
                  <a:srgbClr val="0000FF"/>
                </a:solidFill>
                <a:latin typeface="微软雅黑" pitchFamily="34" charset="-122"/>
                <a:ea typeface="微软雅黑" pitchFamily="34" charset="-122"/>
              </a:rPr>
              <a:t>KID </a:t>
            </a:r>
            <a:r>
              <a:rPr lang="zh-CN" altLang="en-US" sz="2000" b="1" dirty="0" smtClean="0">
                <a:latin typeface="微软雅黑" pitchFamily="34" charset="-122"/>
                <a:ea typeface="微软雅黑" pitchFamily="34" charset="-122"/>
              </a:rPr>
              <a:t>和</a:t>
            </a:r>
            <a:r>
              <a:rPr lang="zh-CN" altLang="en-US" sz="2000" b="1" dirty="0" smtClean="0">
                <a:solidFill>
                  <a:srgbClr val="0000FF"/>
                </a:solidFill>
                <a:latin typeface="微软雅黑" pitchFamily="34" charset="-122"/>
                <a:ea typeface="微软雅黑" pitchFamily="34" charset="-122"/>
              </a:rPr>
              <a:t>节点标识符 </a:t>
            </a:r>
            <a:r>
              <a:rPr lang="en-US" altLang="zh-CN" sz="2000" b="1" dirty="0">
                <a:solidFill>
                  <a:srgbClr val="0000FF"/>
                </a:solidFill>
                <a:latin typeface="微软雅黑" pitchFamily="34" charset="-122"/>
                <a:ea typeface="微软雅黑" pitchFamily="34" charset="-122"/>
              </a:rPr>
              <a:t>NID</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Chord </a:t>
            </a:r>
            <a:r>
              <a:rPr lang="zh-CN" altLang="en-US" sz="2000" b="1" dirty="0" smtClean="0">
                <a:latin typeface="微软雅黑" pitchFamily="34" charset="-122"/>
                <a:ea typeface="微软雅黑" pitchFamily="34" charset="-122"/>
              </a:rPr>
              <a:t>把节点按</a:t>
            </a:r>
            <a:r>
              <a:rPr lang="zh-CN" altLang="en-US" sz="2000" b="1" dirty="0">
                <a:latin typeface="微软雅黑" pitchFamily="34" charset="-122"/>
                <a:ea typeface="微软雅黑" pitchFamily="34" charset="-122"/>
              </a:rPr>
              <a:t>标识符数值</a:t>
            </a:r>
            <a:r>
              <a:rPr lang="zh-CN" altLang="en-US" sz="2000" b="1" dirty="0">
                <a:solidFill>
                  <a:srgbClr val="C00000"/>
                </a:solidFill>
                <a:latin typeface="微软雅黑" pitchFamily="34" charset="-122"/>
                <a:ea typeface="微软雅黑" pitchFamily="34" charset="-122"/>
              </a:rPr>
              <a:t>从小到大</a:t>
            </a:r>
            <a:r>
              <a:rPr lang="zh-CN" altLang="en-US" sz="2000" b="1" dirty="0">
                <a:latin typeface="微软雅黑" pitchFamily="34" charset="-122"/>
                <a:ea typeface="微软雅黑" pitchFamily="34" charset="-122"/>
              </a:rPr>
              <a:t>沿顺时针排列成一个</a:t>
            </a:r>
            <a:r>
              <a:rPr lang="zh-CN" altLang="en-US" sz="2000" b="1" dirty="0">
                <a:solidFill>
                  <a:srgbClr val="C00000"/>
                </a:solidFill>
                <a:latin typeface="微软雅黑" pitchFamily="34" charset="-122"/>
                <a:ea typeface="微软雅黑" pitchFamily="34" charset="-122"/>
              </a:rPr>
              <a:t>环形覆盖网络</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每个资源由 </a:t>
            </a:r>
            <a:r>
              <a:rPr lang="en-US" altLang="zh-CN" sz="2000" b="1" dirty="0">
                <a:latin typeface="微软雅黑" pitchFamily="34" charset="-122"/>
                <a:ea typeface="微软雅黑" pitchFamily="34" charset="-122"/>
              </a:rPr>
              <a:t>Chord </a:t>
            </a:r>
            <a:r>
              <a:rPr lang="zh-CN" altLang="en-US" sz="2000" b="1" dirty="0">
                <a:latin typeface="微软雅黑" pitchFamily="34" charset="-122"/>
                <a:ea typeface="微软雅黑" pitchFamily="34" charset="-122"/>
              </a:rPr>
              <a:t>环上与其标识符值</a:t>
            </a:r>
            <a:r>
              <a:rPr lang="zh-CN" altLang="en-US" sz="2000" b="1" dirty="0">
                <a:solidFill>
                  <a:srgbClr val="C00000"/>
                </a:solidFill>
                <a:latin typeface="微软雅黑" pitchFamily="34" charset="-122"/>
                <a:ea typeface="微软雅黑" pitchFamily="34" charset="-122"/>
              </a:rPr>
              <a:t>最接近</a:t>
            </a:r>
            <a:r>
              <a:rPr lang="zh-CN" altLang="en-US" sz="2000" b="1" dirty="0">
                <a:latin typeface="微软雅黑" pitchFamily="34" charset="-122"/>
                <a:ea typeface="微软雅黑" pitchFamily="34" charset="-122"/>
              </a:rPr>
              <a:t>的下一</a:t>
            </a:r>
            <a:r>
              <a:rPr lang="zh-CN" altLang="en-US" sz="2000" b="1" dirty="0" smtClean="0">
                <a:latin typeface="微软雅黑" pitchFamily="34" charset="-122"/>
                <a:ea typeface="微软雅黑" pitchFamily="34" charset="-122"/>
              </a:rPr>
              <a:t>个节点提供</a:t>
            </a:r>
            <a:r>
              <a:rPr lang="zh-CN" altLang="en-US" sz="2000" b="1" dirty="0">
                <a:latin typeface="微软雅黑" pitchFamily="34" charset="-122"/>
                <a:ea typeface="微软雅黑" pitchFamily="34" charset="-122"/>
              </a:rPr>
              <a:t>服务</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 </a:t>
            </a:r>
            <a:r>
              <a:rPr lang="en-US" altLang="zh-CN" sz="2000" b="1" dirty="0">
                <a:solidFill>
                  <a:schemeClr val="bg1"/>
                </a:solidFill>
                <a:latin typeface="微软雅黑" pitchFamily="34" charset="-122"/>
                <a:ea typeface="微软雅黑" pitchFamily="34" charset="-122"/>
              </a:rPr>
              <a:t>DHT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环</a:t>
            </a:r>
          </a:p>
        </p:txBody>
      </p:sp>
      <p:sp>
        <p:nvSpPr>
          <p:cNvPr id="7"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spTree>
    <p:custDataLst>
      <p:tags r:id="rId1"/>
    </p:custDataLst>
    <p:extLst>
      <p:ext uri="{BB962C8B-B14F-4D97-AF65-F5344CB8AC3E}">
        <p14:creationId xmlns:p14="http://schemas.microsoft.com/office/powerpoint/2010/main" val="28490246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fade">
                                      <p:cBhvr>
                                        <p:cTn id="12"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08641"/>
            <a:ext cx="8048776" cy="29510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 </a:t>
            </a:r>
            <a:r>
              <a:rPr lang="en-US" altLang="zh-CN" sz="2000" b="1" dirty="0">
                <a:solidFill>
                  <a:schemeClr val="bg1"/>
                </a:solidFill>
                <a:latin typeface="微软雅黑" pitchFamily="34" charset="-122"/>
                <a:ea typeface="微软雅黑" pitchFamily="34" charset="-122"/>
              </a:rPr>
              <a:t>DHT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环</a:t>
            </a:r>
          </a:p>
        </p:txBody>
      </p:sp>
      <p:sp>
        <p:nvSpPr>
          <p:cNvPr id="8" name="Text Box 47"/>
          <p:cNvSpPr txBox="1">
            <a:spLocks noChangeArrowheads="1"/>
          </p:cNvSpPr>
          <p:nvPr/>
        </p:nvSpPr>
        <p:spPr bwMode="auto">
          <a:xfrm>
            <a:off x="7137596" y="3238228"/>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N13</a:t>
            </a:r>
          </a:p>
        </p:txBody>
      </p:sp>
      <p:sp>
        <p:nvSpPr>
          <p:cNvPr id="9" name="Text Box 81"/>
          <p:cNvSpPr txBox="1">
            <a:spLocks noChangeArrowheads="1"/>
          </p:cNvSpPr>
          <p:nvPr/>
        </p:nvSpPr>
        <p:spPr bwMode="auto">
          <a:xfrm>
            <a:off x="3947751" y="1171845"/>
            <a:ext cx="5580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图例：</a:t>
            </a:r>
          </a:p>
        </p:txBody>
      </p:sp>
      <p:sp>
        <p:nvSpPr>
          <p:cNvPr id="10" name="Text Box 47"/>
          <p:cNvSpPr txBox="1">
            <a:spLocks noChangeArrowheads="1"/>
          </p:cNvSpPr>
          <p:nvPr/>
        </p:nvSpPr>
        <p:spPr bwMode="auto">
          <a:xfrm>
            <a:off x="1552938" y="3627547"/>
            <a:ext cx="2460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KID </a:t>
            </a:r>
            <a:r>
              <a:rPr kumimoji="1" lang="zh-CN" altLang="en-US" sz="1400" b="1" dirty="0">
                <a:latin typeface="微软雅黑" panose="020B0503020204020204" pitchFamily="34" charset="-122"/>
                <a:ea typeface="微软雅黑" panose="020B0503020204020204" pitchFamily="34" charset="-122"/>
              </a:rPr>
              <a:t>和 </a:t>
            </a:r>
            <a:r>
              <a:rPr kumimoji="1" lang="en-US" altLang="zh-CN" sz="1400" b="1" dirty="0">
                <a:latin typeface="微软雅黑" panose="020B0503020204020204" pitchFamily="34" charset="-122"/>
                <a:ea typeface="微软雅黑" panose="020B0503020204020204" pitchFamily="34" charset="-122"/>
              </a:rPr>
              <a:t>NID </a:t>
            </a:r>
            <a:r>
              <a:rPr kumimoji="1" lang="zh-CN" altLang="en-US" sz="1400" b="1" dirty="0">
                <a:latin typeface="微软雅黑" panose="020B0503020204020204" pitchFamily="34" charset="-122"/>
                <a:ea typeface="微软雅黑" panose="020B0503020204020204" pitchFamily="34" charset="-122"/>
              </a:rPr>
              <a:t>映射在环上</a:t>
            </a:r>
            <a:r>
              <a:rPr kumimoji="1" lang="en-US" altLang="zh-CN" sz="1400" b="1" dirty="0">
                <a:latin typeface="微软雅黑" panose="020B0503020204020204" pitchFamily="34" charset="-122"/>
                <a:ea typeface="微软雅黑" panose="020B0503020204020204" pitchFamily="34" charset="-122"/>
              </a:rPr>
              <a:t> </a:t>
            </a:r>
          </a:p>
        </p:txBody>
      </p:sp>
      <p:sp>
        <p:nvSpPr>
          <p:cNvPr id="11" name="Text Box 47"/>
          <p:cNvSpPr txBox="1">
            <a:spLocks noChangeArrowheads="1"/>
          </p:cNvSpPr>
          <p:nvPr/>
        </p:nvSpPr>
        <p:spPr bwMode="auto">
          <a:xfrm>
            <a:off x="4648080" y="1171845"/>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NID</a:t>
            </a:r>
          </a:p>
        </p:txBody>
      </p:sp>
      <p:sp>
        <p:nvSpPr>
          <p:cNvPr id="12" name="Oval 53"/>
          <p:cNvSpPr>
            <a:spLocks noChangeArrowheads="1"/>
          </p:cNvSpPr>
          <p:nvPr/>
        </p:nvSpPr>
        <p:spPr bwMode="auto">
          <a:xfrm>
            <a:off x="4452582" y="124421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 name="Text Box 71"/>
          <p:cNvSpPr txBox="1">
            <a:spLocks noChangeArrowheads="1"/>
          </p:cNvSpPr>
          <p:nvPr/>
        </p:nvSpPr>
        <p:spPr bwMode="auto">
          <a:xfrm>
            <a:off x="4435259" y="1428895"/>
            <a:ext cx="148480" cy="161583"/>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panose="020B0503020204020204" pitchFamily="34" charset="-122"/>
              <a:ea typeface="微软雅黑" panose="020B0503020204020204" pitchFamily="34" charset="-122"/>
            </a:endParaRPr>
          </a:p>
        </p:txBody>
      </p:sp>
      <p:sp>
        <p:nvSpPr>
          <p:cNvPr id="14" name="Text Box 47"/>
          <p:cNvSpPr txBox="1">
            <a:spLocks noChangeArrowheads="1"/>
          </p:cNvSpPr>
          <p:nvPr/>
        </p:nvSpPr>
        <p:spPr bwMode="auto">
          <a:xfrm>
            <a:off x="4660453" y="1386756"/>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KID</a:t>
            </a:r>
          </a:p>
        </p:txBody>
      </p:sp>
      <p:sp>
        <p:nvSpPr>
          <p:cNvPr id="15" name="矩形 14"/>
          <p:cNvSpPr/>
          <p:nvPr/>
        </p:nvSpPr>
        <p:spPr>
          <a:xfrm>
            <a:off x="4007142" y="1159367"/>
            <a:ext cx="1009664" cy="49163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Oval 20"/>
          <p:cNvSpPr>
            <a:spLocks noChangeArrowheads="1"/>
          </p:cNvSpPr>
          <p:nvPr/>
        </p:nvSpPr>
        <p:spPr bwMode="auto">
          <a:xfrm>
            <a:off x="1512678" y="1266679"/>
            <a:ext cx="2197504" cy="221612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7" name="Text Box 31"/>
          <p:cNvSpPr txBox="1">
            <a:spLocks noChangeArrowheads="1"/>
          </p:cNvSpPr>
          <p:nvPr/>
        </p:nvSpPr>
        <p:spPr bwMode="auto">
          <a:xfrm>
            <a:off x="2507494" y="126667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p>
        </p:txBody>
      </p:sp>
      <p:sp>
        <p:nvSpPr>
          <p:cNvPr id="18" name="Text Box 33"/>
          <p:cNvSpPr txBox="1">
            <a:spLocks noChangeArrowheads="1"/>
          </p:cNvSpPr>
          <p:nvPr/>
        </p:nvSpPr>
        <p:spPr bwMode="auto">
          <a:xfrm>
            <a:off x="2706705" y="128414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p>
        </p:txBody>
      </p:sp>
      <p:sp>
        <p:nvSpPr>
          <p:cNvPr id="19" name="Text Box 34"/>
          <p:cNvSpPr txBox="1">
            <a:spLocks noChangeArrowheads="1"/>
          </p:cNvSpPr>
          <p:nvPr/>
        </p:nvSpPr>
        <p:spPr bwMode="auto">
          <a:xfrm>
            <a:off x="2889830" y="132532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p>
        </p:txBody>
      </p:sp>
      <p:sp>
        <p:nvSpPr>
          <p:cNvPr id="20" name="Text Box 35"/>
          <p:cNvSpPr txBox="1">
            <a:spLocks noChangeArrowheads="1"/>
          </p:cNvSpPr>
          <p:nvPr/>
        </p:nvSpPr>
        <p:spPr bwMode="auto">
          <a:xfrm>
            <a:off x="3079141" y="142265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p>
        </p:txBody>
      </p:sp>
      <p:sp>
        <p:nvSpPr>
          <p:cNvPr id="21" name="Text Box 36"/>
          <p:cNvSpPr txBox="1">
            <a:spLocks noChangeArrowheads="1"/>
          </p:cNvSpPr>
          <p:nvPr/>
        </p:nvSpPr>
        <p:spPr bwMode="auto">
          <a:xfrm>
            <a:off x="3200401" y="156116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p>
        </p:txBody>
      </p:sp>
      <p:sp>
        <p:nvSpPr>
          <p:cNvPr id="22" name="Text Box 37"/>
          <p:cNvSpPr txBox="1">
            <a:spLocks noChangeArrowheads="1"/>
          </p:cNvSpPr>
          <p:nvPr/>
        </p:nvSpPr>
        <p:spPr bwMode="auto">
          <a:xfrm>
            <a:off x="3317948" y="167721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p>
        </p:txBody>
      </p:sp>
      <p:sp>
        <p:nvSpPr>
          <p:cNvPr id="23" name="Text Box 38"/>
          <p:cNvSpPr txBox="1">
            <a:spLocks noChangeArrowheads="1"/>
          </p:cNvSpPr>
          <p:nvPr/>
        </p:nvSpPr>
        <p:spPr bwMode="auto">
          <a:xfrm>
            <a:off x="3420646" y="182195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p>
        </p:txBody>
      </p:sp>
      <p:sp>
        <p:nvSpPr>
          <p:cNvPr id="24" name="Text Box 39"/>
          <p:cNvSpPr txBox="1">
            <a:spLocks noChangeArrowheads="1"/>
          </p:cNvSpPr>
          <p:nvPr/>
        </p:nvSpPr>
        <p:spPr bwMode="auto">
          <a:xfrm>
            <a:off x="3472614" y="203782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p>
        </p:txBody>
      </p:sp>
      <p:sp>
        <p:nvSpPr>
          <p:cNvPr id="25" name="Text Box 40"/>
          <p:cNvSpPr txBox="1">
            <a:spLocks noChangeArrowheads="1"/>
          </p:cNvSpPr>
          <p:nvPr/>
        </p:nvSpPr>
        <p:spPr bwMode="auto">
          <a:xfrm>
            <a:off x="3504785" y="220628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p>
        </p:txBody>
      </p:sp>
      <p:sp>
        <p:nvSpPr>
          <p:cNvPr id="26" name="Text Box 41"/>
          <p:cNvSpPr txBox="1">
            <a:spLocks noChangeArrowheads="1"/>
          </p:cNvSpPr>
          <p:nvPr/>
        </p:nvSpPr>
        <p:spPr bwMode="auto">
          <a:xfrm>
            <a:off x="3501073" y="240094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p>
        </p:txBody>
      </p:sp>
      <p:sp>
        <p:nvSpPr>
          <p:cNvPr id="27" name="Text Box 42"/>
          <p:cNvSpPr txBox="1">
            <a:spLocks noChangeArrowheads="1"/>
          </p:cNvSpPr>
          <p:nvPr/>
        </p:nvSpPr>
        <p:spPr bwMode="auto">
          <a:xfrm>
            <a:off x="3455291" y="259560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p>
        </p:txBody>
      </p:sp>
      <p:sp>
        <p:nvSpPr>
          <p:cNvPr id="28" name="Text Box 43"/>
          <p:cNvSpPr txBox="1">
            <a:spLocks noChangeArrowheads="1"/>
          </p:cNvSpPr>
          <p:nvPr/>
        </p:nvSpPr>
        <p:spPr bwMode="auto">
          <a:xfrm>
            <a:off x="3360017" y="277279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p>
        </p:txBody>
      </p:sp>
      <p:sp>
        <p:nvSpPr>
          <p:cNvPr id="29" name="Text Box 44"/>
          <p:cNvSpPr txBox="1">
            <a:spLocks noChangeArrowheads="1"/>
          </p:cNvSpPr>
          <p:nvPr/>
        </p:nvSpPr>
        <p:spPr bwMode="auto">
          <a:xfrm>
            <a:off x="3221436" y="294998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p>
        </p:txBody>
      </p:sp>
      <p:sp>
        <p:nvSpPr>
          <p:cNvPr id="30" name="Text Box 45"/>
          <p:cNvSpPr txBox="1">
            <a:spLocks noChangeArrowheads="1"/>
          </p:cNvSpPr>
          <p:nvPr/>
        </p:nvSpPr>
        <p:spPr bwMode="auto">
          <a:xfrm>
            <a:off x="3090278" y="3057296"/>
            <a:ext cx="17941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p>
        </p:txBody>
      </p:sp>
      <p:sp>
        <p:nvSpPr>
          <p:cNvPr id="31" name="Text Box 46"/>
          <p:cNvSpPr txBox="1">
            <a:spLocks noChangeArrowheads="1"/>
          </p:cNvSpPr>
          <p:nvPr/>
        </p:nvSpPr>
        <p:spPr bwMode="auto">
          <a:xfrm>
            <a:off x="2926951" y="315836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p>
        </p:txBody>
      </p:sp>
      <p:sp>
        <p:nvSpPr>
          <p:cNvPr id="32" name="Text Box 47"/>
          <p:cNvSpPr txBox="1">
            <a:spLocks noChangeArrowheads="1"/>
          </p:cNvSpPr>
          <p:nvPr/>
        </p:nvSpPr>
        <p:spPr bwMode="auto">
          <a:xfrm>
            <a:off x="2719078" y="321576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p>
        </p:txBody>
      </p:sp>
      <p:sp>
        <p:nvSpPr>
          <p:cNvPr id="36" name="Oval 51"/>
          <p:cNvSpPr>
            <a:spLocks noChangeArrowheads="1"/>
          </p:cNvSpPr>
          <p:nvPr/>
        </p:nvSpPr>
        <p:spPr bwMode="auto">
          <a:xfrm>
            <a:off x="3012326" y="132657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9" name="Oval 54"/>
          <p:cNvSpPr>
            <a:spLocks noChangeArrowheads="1"/>
          </p:cNvSpPr>
          <p:nvPr/>
        </p:nvSpPr>
        <p:spPr bwMode="auto">
          <a:xfrm>
            <a:off x="3591398" y="1925526"/>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0" name="Oval 55"/>
          <p:cNvSpPr>
            <a:spLocks noChangeArrowheads="1"/>
          </p:cNvSpPr>
          <p:nvPr/>
        </p:nvSpPr>
        <p:spPr bwMode="auto">
          <a:xfrm>
            <a:off x="3680486" y="233730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1" name="Oval 56"/>
          <p:cNvSpPr>
            <a:spLocks noChangeArrowheads="1"/>
          </p:cNvSpPr>
          <p:nvPr/>
        </p:nvSpPr>
        <p:spPr bwMode="auto">
          <a:xfrm>
            <a:off x="3361254" y="312342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2" name="Oval 57"/>
          <p:cNvSpPr>
            <a:spLocks noChangeArrowheads="1"/>
          </p:cNvSpPr>
          <p:nvPr/>
        </p:nvSpPr>
        <p:spPr bwMode="auto">
          <a:xfrm>
            <a:off x="2997478" y="3363010"/>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3" name="Oval 58"/>
          <p:cNvSpPr>
            <a:spLocks noChangeArrowheads="1"/>
          </p:cNvSpPr>
          <p:nvPr/>
        </p:nvSpPr>
        <p:spPr bwMode="auto">
          <a:xfrm>
            <a:off x="2589158" y="345285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4" name="Oval 59"/>
          <p:cNvSpPr>
            <a:spLocks noChangeArrowheads="1"/>
          </p:cNvSpPr>
          <p:nvPr/>
        </p:nvSpPr>
        <p:spPr bwMode="auto">
          <a:xfrm>
            <a:off x="2165990" y="337049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5" name="Oval 60"/>
          <p:cNvSpPr>
            <a:spLocks noChangeArrowheads="1"/>
          </p:cNvSpPr>
          <p:nvPr/>
        </p:nvSpPr>
        <p:spPr bwMode="auto">
          <a:xfrm>
            <a:off x="1572070" y="2764058"/>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6" name="Oval 61"/>
          <p:cNvSpPr>
            <a:spLocks noChangeArrowheads="1"/>
          </p:cNvSpPr>
          <p:nvPr/>
        </p:nvSpPr>
        <p:spPr bwMode="auto">
          <a:xfrm>
            <a:off x="1482982" y="233730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7" name="Oval 62"/>
          <p:cNvSpPr>
            <a:spLocks noChangeArrowheads="1"/>
          </p:cNvSpPr>
          <p:nvPr/>
        </p:nvSpPr>
        <p:spPr bwMode="auto">
          <a:xfrm>
            <a:off x="1809638" y="156615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2798268" y="126667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3196689" y="142889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1972966" y="142889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2365201" y="126044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499835" y="174584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2382524" y="343538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954406" y="326692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1497830" y="212268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1663632" y="173336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2785894" y="343538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3196689" y="326068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3659452" y="254818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3487462" y="296121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1502779" y="256066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1657446" y="2956222"/>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3" name="Oval 51"/>
          <p:cNvSpPr>
            <a:spLocks noChangeArrowheads="1"/>
          </p:cNvSpPr>
          <p:nvPr/>
        </p:nvSpPr>
        <p:spPr bwMode="auto">
          <a:xfrm>
            <a:off x="2584209" y="124297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2540902" y="324321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p>
        </p:txBody>
      </p:sp>
      <p:sp>
        <p:nvSpPr>
          <p:cNvPr id="65" name="Text Box 47"/>
          <p:cNvSpPr txBox="1">
            <a:spLocks noChangeArrowheads="1"/>
          </p:cNvSpPr>
          <p:nvPr/>
        </p:nvSpPr>
        <p:spPr bwMode="auto">
          <a:xfrm>
            <a:off x="2351590" y="322699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p>
        </p:txBody>
      </p:sp>
      <p:sp>
        <p:nvSpPr>
          <p:cNvPr id="66" name="Text Box 47"/>
          <p:cNvSpPr txBox="1">
            <a:spLocks noChangeArrowheads="1"/>
          </p:cNvSpPr>
          <p:nvPr/>
        </p:nvSpPr>
        <p:spPr bwMode="auto">
          <a:xfrm>
            <a:off x="2161040" y="317958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p>
        </p:txBody>
      </p:sp>
      <p:sp>
        <p:nvSpPr>
          <p:cNvPr id="67" name="Text Box 47"/>
          <p:cNvSpPr txBox="1">
            <a:spLocks noChangeArrowheads="1"/>
          </p:cNvSpPr>
          <p:nvPr/>
        </p:nvSpPr>
        <p:spPr bwMode="auto">
          <a:xfrm>
            <a:off x="1989052" y="310096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p>
        </p:txBody>
      </p:sp>
      <p:sp>
        <p:nvSpPr>
          <p:cNvPr id="68" name="Text Box 47"/>
          <p:cNvSpPr txBox="1">
            <a:spLocks noChangeArrowheads="1"/>
          </p:cNvSpPr>
          <p:nvPr/>
        </p:nvSpPr>
        <p:spPr bwMode="auto">
          <a:xfrm>
            <a:off x="1898726" y="291504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p>
        </p:txBody>
      </p:sp>
      <p:sp>
        <p:nvSpPr>
          <p:cNvPr id="69" name="Text Box 47"/>
          <p:cNvSpPr txBox="1">
            <a:spLocks noChangeArrowheads="1"/>
          </p:cNvSpPr>
          <p:nvPr/>
        </p:nvSpPr>
        <p:spPr bwMode="auto">
          <a:xfrm>
            <a:off x="1750246" y="282520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p>
        </p:txBody>
      </p:sp>
      <p:sp>
        <p:nvSpPr>
          <p:cNvPr id="70" name="Text Box 47"/>
          <p:cNvSpPr txBox="1">
            <a:spLocks noChangeArrowheads="1"/>
          </p:cNvSpPr>
          <p:nvPr/>
        </p:nvSpPr>
        <p:spPr bwMode="auto">
          <a:xfrm>
            <a:off x="1661158" y="266922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p>
        </p:txBody>
      </p:sp>
      <p:sp>
        <p:nvSpPr>
          <p:cNvPr id="71" name="Text Box 47"/>
          <p:cNvSpPr txBox="1">
            <a:spLocks noChangeArrowheads="1"/>
          </p:cNvSpPr>
          <p:nvPr/>
        </p:nvSpPr>
        <p:spPr bwMode="auto">
          <a:xfrm>
            <a:off x="1572070" y="247207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p>
        </p:txBody>
      </p:sp>
      <p:sp>
        <p:nvSpPr>
          <p:cNvPr id="72" name="Text Box 47"/>
          <p:cNvSpPr txBox="1">
            <a:spLocks noChangeArrowheads="1"/>
          </p:cNvSpPr>
          <p:nvPr/>
        </p:nvSpPr>
        <p:spPr bwMode="auto">
          <a:xfrm>
            <a:off x="1572070" y="224995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p>
        </p:txBody>
      </p:sp>
      <p:sp>
        <p:nvSpPr>
          <p:cNvPr id="73" name="Text Box 47"/>
          <p:cNvSpPr txBox="1">
            <a:spLocks noChangeArrowheads="1"/>
          </p:cNvSpPr>
          <p:nvPr/>
        </p:nvSpPr>
        <p:spPr bwMode="auto">
          <a:xfrm>
            <a:off x="1572070" y="2046566"/>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p>
        </p:txBody>
      </p:sp>
      <p:sp>
        <p:nvSpPr>
          <p:cNvPr id="74" name="Text Box 47"/>
          <p:cNvSpPr txBox="1">
            <a:spLocks noChangeArrowheads="1"/>
          </p:cNvSpPr>
          <p:nvPr/>
        </p:nvSpPr>
        <p:spPr bwMode="auto">
          <a:xfrm>
            <a:off x="1648784" y="187311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p>
        </p:txBody>
      </p:sp>
      <p:sp>
        <p:nvSpPr>
          <p:cNvPr id="75" name="Text Box 47"/>
          <p:cNvSpPr txBox="1">
            <a:spLocks noChangeArrowheads="1"/>
          </p:cNvSpPr>
          <p:nvPr/>
        </p:nvSpPr>
        <p:spPr bwMode="auto">
          <a:xfrm>
            <a:off x="1731685" y="173461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p>
        </p:txBody>
      </p:sp>
      <p:sp>
        <p:nvSpPr>
          <p:cNvPr id="76" name="Text Box 47"/>
          <p:cNvSpPr txBox="1">
            <a:spLocks noChangeArrowheads="1"/>
          </p:cNvSpPr>
          <p:nvPr/>
        </p:nvSpPr>
        <p:spPr bwMode="auto">
          <a:xfrm>
            <a:off x="1803451" y="157364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p>
        </p:txBody>
      </p:sp>
      <p:sp>
        <p:nvSpPr>
          <p:cNvPr id="77" name="Text Box 47"/>
          <p:cNvSpPr txBox="1">
            <a:spLocks noChangeArrowheads="1"/>
          </p:cNvSpPr>
          <p:nvPr/>
        </p:nvSpPr>
        <p:spPr bwMode="auto">
          <a:xfrm>
            <a:off x="1969254" y="145385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p>
        </p:txBody>
      </p:sp>
      <p:sp>
        <p:nvSpPr>
          <p:cNvPr id="78" name="Text Box 47"/>
          <p:cNvSpPr txBox="1">
            <a:spLocks noChangeArrowheads="1"/>
          </p:cNvSpPr>
          <p:nvPr/>
        </p:nvSpPr>
        <p:spPr bwMode="auto">
          <a:xfrm>
            <a:off x="2136294" y="136900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p>
        </p:txBody>
      </p:sp>
      <p:sp>
        <p:nvSpPr>
          <p:cNvPr id="79" name="Text Box 47"/>
          <p:cNvSpPr txBox="1">
            <a:spLocks noChangeArrowheads="1"/>
          </p:cNvSpPr>
          <p:nvPr/>
        </p:nvSpPr>
        <p:spPr bwMode="auto">
          <a:xfrm>
            <a:off x="2350353" y="127915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p>
        </p:txBody>
      </p:sp>
      <p:grpSp>
        <p:nvGrpSpPr>
          <p:cNvPr id="188" name="组合 187"/>
          <p:cNvGrpSpPr/>
          <p:nvPr/>
        </p:nvGrpSpPr>
        <p:grpSpPr>
          <a:xfrm>
            <a:off x="3621094" y="2010378"/>
            <a:ext cx="445440" cy="261610"/>
            <a:chOff x="3621094" y="2010378"/>
            <a:chExt cx="445440" cy="261610"/>
          </a:xfrm>
        </p:grpSpPr>
        <p:sp>
          <p:nvSpPr>
            <p:cNvPr id="81" name="Oval 53"/>
            <p:cNvSpPr>
              <a:spLocks noChangeArrowheads="1"/>
            </p:cNvSpPr>
            <p:nvPr/>
          </p:nvSpPr>
          <p:spPr bwMode="auto">
            <a:xfrm>
              <a:off x="3621094" y="2093982"/>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3769573" y="2010378"/>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N7</a:t>
              </a:r>
            </a:p>
          </p:txBody>
        </p:sp>
      </p:grpSp>
      <p:grpSp>
        <p:nvGrpSpPr>
          <p:cNvPr id="189" name="组合 188"/>
          <p:cNvGrpSpPr/>
          <p:nvPr/>
        </p:nvGrpSpPr>
        <p:grpSpPr>
          <a:xfrm>
            <a:off x="3575313" y="2716641"/>
            <a:ext cx="444203" cy="261610"/>
            <a:chOff x="3575313" y="2716641"/>
            <a:chExt cx="444203" cy="261610"/>
          </a:xfrm>
        </p:grpSpPr>
        <p:sp>
          <p:nvSpPr>
            <p:cNvPr id="37" name="Oval 52"/>
            <p:cNvSpPr>
              <a:spLocks noChangeArrowheads="1"/>
            </p:cNvSpPr>
            <p:nvPr/>
          </p:nvSpPr>
          <p:spPr bwMode="auto">
            <a:xfrm>
              <a:off x="3575313" y="2750333"/>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3722555" y="2716641"/>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p>
          </p:txBody>
        </p:sp>
      </p:grpSp>
      <p:grpSp>
        <p:nvGrpSpPr>
          <p:cNvPr id="187" name="组合 186"/>
          <p:cNvGrpSpPr/>
          <p:nvPr/>
        </p:nvGrpSpPr>
        <p:grpSpPr>
          <a:xfrm>
            <a:off x="3324134" y="1447613"/>
            <a:ext cx="445441" cy="261610"/>
            <a:chOff x="3324134" y="1447613"/>
            <a:chExt cx="445441" cy="261610"/>
          </a:xfrm>
        </p:grpSpPr>
        <p:sp>
          <p:nvSpPr>
            <p:cNvPr id="33" name="Oval 48"/>
            <p:cNvSpPr>
              <a:spLocks noChangeArrowheads="1"/>
            </p:cNvSpPr>
            <p:nvPr/>
          </p:nvSpPr>
          <p:spPr bwMode="auto">
            <a:xfrm>
              <a:off x="3324134" y="1536208"/>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3472614" y="1447613"/>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N4</a:t>
              </a:r>
            </a:p>
          </p:txBody>
        </p:sp>
      </p:grpSp>
      <p:grpSp>
        <p:nvGrpSpPr>
          <p:cNvPr id="192" name="组合 191"/>
          <p:cNvGrpSpPr/>
          <p:nvPr/>
        </p:nvGrpSpPr>
        <p:grpSpPr>
          <a:xfrm>
            <a:off x="1964304" y="1082003"/>
            <a:ext cx="298198" cy="326927"/>
            <a:chOff x="1964304" y="1082003"/>
            <a:chExt cx="298198" cy="326927"/>
          </a:xfrm>
        </p:grpSpPr>
        <p:sp>
          <p:nvSpPr>
            <p:cNvPr id="38" name="Oval 53"/>
            <p:cNvSpPr>
              <a:spLocks noChangeArrowheads="1"/>
            </p:cNvSpPr>
            <p:nvPr/>
          </p:nvSpPr>
          <p:spPr bwMode="auto">
            <a:xfrm>
              <a:off x="2143718" y="1289140"/>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964304" y="1082003"/>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p>
          </p:txBody>
        </p:sp>
      </p:grpSp>
      <p:grpSp>
        <p:nvGrpSpPr>
          <p:cNvPr id="190" name="组合 189"/>
          <p:cNvGrpSpPr/>
          <p:nvPr/>
        </p:nvGrpSpPr>
        <p:grpSpPr>
          <a:xfrm>
            <a:off x="1482983" y="3100968"/>
            <a:ext cx="415743" cy="261610"/>
            <a:chOff x="1482983" y="3100968"/>
            <a:chExt cx="415743" cy="261610"/>
          </a:xfrm>
        </p:grpSpPr>
        <p:sp>
          <p:nvSpPr>
            <p:cNvPr id="34" name="Oval 49"/>
            <p:cNvSpPr>
              <a:spLocks noChangeArrowheads="1"/>
            </p:cNvSpPr>
            <p:nvPr/>
          </p:nvSpPr>
          <p:spPr bwMode="auto">
            <a:xfrm>
              <a:off x="1779942" y="310096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1482983" y="3100968"/>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N20</a:t>
              </a:r>
            </a:p>
          </p:txBody>
        </p:sp>
      </p:grpSp>
      <p:grpSp>
        <p:nvGrpSpPr>
          <p:cNvPr id="191" name="组合 190"/>
          <p:cNvGrpSpPr/>
          <p:nvPr/>
        </p:nvGrpSpPr>
        <p:grpSpPr>
          <a:xfrm>
            <a:off x="1215717" y="1770797"/>
            <a:ext cx="438017" cy="261610"/>
            <a:chOff x="1215717" y="1770797"/>
            <a:chExt cx="438017" cy="261610"/>
          </a:xfrm>
        </p:grpSpPr>
        <p:sp>
          <p:nvSpPr>
            <p:cNvPr id="35" name="Oval 50"/>
            <p:cNvSpPr>
              <a:spLocks noChangeArrowheads="1"/>
            </p:cNvSpPr>
            <p:nvPr/>
          </p:nvSpPr>
          <p:spPr bwMode="auto">
            <a:xfrm>
              <a:off x="1534950" y="189557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7" name="Text Box 47"/>
            <p:cNvSpPr txBox="1">
              <a:spLocks noChangeArrowheads="1"/>
            </p:cNvSpPr>
            <p:nvPr/>
          </p:nvSpPr>
          <p:spPr bwMode="auto">
            <a:xfrm>
              <a:off x="1215717" y="1770797"/>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N26</a:t>
              </a:r>
            </a:p>
          </p:txBody>
        </p:sp>
      </p:grpSp>
      <p:grpSp>
        <p:nvGrpSpPr>
          <p:cNvPr id="7" name="组合 6"/>
          <p:cNvGrpSpPr/>
          <p:nvPr/>
        </p:nvGrpSpPr>
        <p:grpSpPr>
          <a:xfrm>
            <a:off x="3674301" y="2549434"/>
            <a:ext cx="511019" cy="222112"/>
            <a:chOff x="3674301" y="2549434"/>
            <a:chExt cx="511019" cy="222112"/>
          </a:xfrm>
        </p:grpSpPr>
        <p:sp>
          <p:nvSpPr>
            <p:cNvPr id="80" name="Text Box 71"/>
            <p:cNvSpPr txBox="1">
              <a:spLocks noChangeArrowheads="1"/>
            </p:cNvSpPr>
            <p:nvPr/>
          </p:nvSpPr>
          <p:spPr bwMode="auto">
            <a:xfrm>
              <a:off x="3888359" y="2549434"/>
              <a:ext cx="296961"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p>
          </p:txBody>
        </p:sp>
        <p:cxnSp>
          <p:nvCxnSpPr>
            <p:cNvPr id="93" name="直接箭头连接符 92"/>
            <p:cNvCxnSpPr>
              <a:stCxn id="80" idx="1"/>
            </p:cNvCxnSpPr>
            <p:nvPr/>
          </p:nvCxnSpPr>
          <p:spPr bwMode="auto">
            <a:xfrm flipH="1">
              <a:off x="3674301" y="2634073"/>
              <a:ext cx="214058" cy="13747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6" name="组合 185"/>
          <p:cNvGrpSpPr/>
          <p:nvPr/>
        </p:nvGrpSpPr>
        <p:grpSpPr>
          <a:xfrm>
            <a:off x="3110076" y="1082003"/>
            <a:ext cx="279637" cy="457949"/>
            <a:chOff x="3110076" y="1082003"/>
            <a:chExt cx="279637" cy="457949"/>
          </a:xfrm>
        </p:grpSpPr>
        <p:sp>
          <p:nvSpPr>
            <p:cNvPr id="88" name="Text Box 71"/>
            <p:cNvSpPr txBox="1">
              <a:spLocks noChangeArrowheads="1"/>
            </p:cNvSpPr>
            <p:nvPr/>
          </p:nvSpPr>
          <p:spPr bwMode="auto">
            <a:xfrm>
              <a:off x="3110076" y="1082003"/>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p>
          </p:txBody>
        </p:sp>
        <p:cxnSp>
          <p:nvCxnSpPr>
            <p:cNvPr id="94" name="直接箭头连接符 93"/>
            <p:cNvCxnSpPr/>
            <p:nvPr/>
          </p:nvCxnSpPr>
          <p:spPr bwMode="auto">
            <a:xfrm>
              <a:off x="3264742" y="1291636"/>
              <a:ext cx="108885" cy="24831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4" name="组合 3"/>
          <p:cNvGrpSpPr/>
          <p:nvPr/>
        </p:nvGrpSpPr>
        <p:grpSpPr>
          <a:xfrm>
            <a:off x="3413222" y="1111950"/>
            <a:ext cx="279637" cy="425506"/>
            <a:chOff x="3413222" y="1111950"/>
            <a:chExt cx="279637" cy="425506"/>
          </a:xfrm>
        </p:grpSpPr>
        <p:sp>
          <p:nvSpPr>
            <p:cNvPr id="90" name="Text Box 71"/>
            <p:cNvSpPr txBox="1">
              <a:spLocks noChangeArrowheads="1"/>
            </p:cNvSpPr>
            <p:nvPr/>
          </p:nvSpPr>
          <p:spPr bwMode="auto">
            <a:xfrm>
              <a:off x="3413222" y="1111950"/>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p>
          </p:txBody>
        </p:sp>
        <p:cxnSp>
          <p:nvCxnSpPr>
            <p:cNvPr id="95" name="直接箭头连接符 94"/>
            <p:cNvCxnSpPr/>
            <p:nvPr/>
          </p:nvCxnSpPr>
          <p:spPr bwMode="auto">
            <a:xfrm flipH="1">
              <a:off x="3419409" y="1317840"/>
              <a:ext cx="154666" cy="21961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4" name="组合 183"/>
          <p:cNvGrpSpPr/>
          <p:nvPr/>
        </p:nvGrpSpPr>
        <p:grpSpPr>
          <a:xfrm>
            <a:off x="1109307" y="1992908"/>
            <a:ext cx="426880" cy="252881"/>
            <a:chOff x="1109307" y="1992908"/>
            <a:chExt cx="426880" cy="252881"/>
          </a:xfrm>
        </p:grpSpPr>
        <p:sp>
          <p:nvSpPr>
            <p:cNvPr id="92" name="Text Box 71"/>
            <p:cNvSpPr txBox="1">
              <a:spLocks noChangeArrowheads="1"/>
            </p:cNvSpPr>
            <p:nvPr/>
          </p:nvSpPr>
          <p:spPr bwMode="auto">
            <a:xfrm>
              <a:off x="1109307" y="2076512"/>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p>
          </p:txBody>
        </p:sp>
        <p:cxnSp>
          <p:nvCxnSpPr>
            <p:cNvPr id="96" name="直接箭头连接符 95"/>
            <p:cNvCxnSpPr/>
            <p:nvPr/>
          </p:nvCxnSpPr>
          <p:spPr bwMode="auto">
            <a:xfrm flipV="1">
              <a:off x="1387707" y="1992908"/>
              <a:ext cx="148480" cy="84851"/>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3" name="组合 182"/>
          <p:cNvGrpSpPr/>
          <p:nvPr/>
        </p:nvGrpSpPr>
        <p:grpSpPr>
          <a:xfrm>
            <a:off x="1536187" y="3214520"/>
            <a:ext cx="278400" cy="330245"/>
            <a:chOff x="1536187" y="3214520"/>
            <a:chExt cx="278400" cy="330245"/>
          </a:xfrm>
        </p:grpSpPr>
        <p:sp>
          <p:nvSpPr>
            <p:cNvPr id="91" name="Text Box 71"/>
            <p:cNvSpPr txBox="1">
              <a:spLocks noChangeArrowheads="1"/>
            </p:cNvSpPr>
            <p:nvPr/>
          </p:nvSpPr>
          <p:spPr bwMode="auto">
            <a:xfrm>
              <a:off x="1536187" y="3375488"/>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K12</a:t>
              </a:r>
            </a:p>
          </p:txBody>
        </p:sp>
        <p:cxnSp>
          <p:nvCxnSpPr>
            <p:cNvPr id="97" name="直接箭头连接符 96"/>
            <p:cNvCxnSpPr/>
            <p:nvPr/>
          </p:nvCxnSpPr>
          <p:spPr bwMode="auto">
            <a:xfrm flipV="1">
              <a:off x="1756433" y="3214520"/>
              <a:ext cx="53205" cy="16720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5" name="组合 184"/>
          <p:cNvGrpSpPr/>
          <p:nvPr/>
        </p:nvGrpSpPr>
        <p:grpSpPr>
          <a:xfrm>
            <a:off x="1530000" y="1304114"/>
            <a:ext cx="612481" cy="169277"/>
            <a:chOff x="1530000" y="1304114"/>
            <a:chExt cx="612481" cy="169277"/>
          </a:xfrm>
        </p:grpSpPr>
        <p:sp>
          <p:nvSpPr>
            <p:cNvPr id="89" name="Text Box 71"/>
            <p:cNvSpPr txBox="1">
              <a:spLocks noChangeArrowheads="1"/>
            </p:cNvSpPr>
            <p:nvPr/>
          </p:nvSpPr>
          <p:spPr bwMode="auto">
            <a:xfrm>
              <a:off x="1530000" y="1304114"/>
              <a:ext cx="309333"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p>
          </p:txBody>
        </p:sp>
        <p:cxnSp>
          <p:nvCxnSpPr>
            <p:cNvPr id="98" name="直接箭头连接符 97"/>
            <p:cNvCxnSpPr/>
            <p:nvPr/>
          </p:nvCxnSpPr>
          <p:spPr bwMode="auto">
            <a:xfrm flipV="1">
              <a:off x="1875217" y="1339053"/>
              <a:ext cx="267264" cy="4367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99" name="Oval 20"/>
          <p:cNvSpPr>
            <a:spLocks noChangeArrowheads="1"/>
          </p:cNvSpPr>
          <p:nvPr/>
        </p:nvSpPr>
        <p:spPr bwMode="auto">
          <a:xfrm>
            <a:off x="5373158" y="1260441"/>
            <a:ext cx="2197504" cy="221612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00" name="Text Box 31"/>
          <p:cNvSpPr txBox="1">
            <a:spLocks noChangeArrowheads="1"/>
          </p:cNvSpPr>
          <p:nvPr/>
        </p:nvSpPr>
        <p:spPr bwMode="auto">
          <a:xfrm>
            <a:off x="6367974" y="126044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p>
        </p:txBody>
      </p:sp>
      <p:sp>
        <p:nvSpPr>
          <p:cNvPr id="101" name="Text Box 33"/>
          <p:cNvSpPr txBox="1">
            <a:spLocks noChangeArrowheads="1"/>
          </p:cNvSpPr>
          <p:nvPr/>
        </p:nvSpPr>
        <p:spPr bwMode="auto">
          <a:xfrm>
            <a:off x="6567186" y="127791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p>
        </p:txBody>
      </p:sp>
      <p:sp>
        <p:nvSpPr>
          <p:cNvPr id="102" name="Text Box 34"/>
          <p:cNvSpPr txBox="1">
            <a:spLocks noChangeArrowheads="1"/>
          </p:cNvSpPr>
          <p:nvPr/>
        </p:nvSpPr>
        <p:spPr bwMode="auto">
          <a:xfrm>
            <a:off x="6750311" y="131908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p>
        </p:txBody>
      </p:sp>
      <p:sp>
        <p:nvSpPr>
          <p:cNvPr id="103" name="Text Box 35"/>
          <p:cNvSpPr txBox="1">
            <a:spLocks noChangeArrowheads="1"/>
          </p:cNvSpPr>
          <p:nvPr/>
        </p:nvSpPr>
        <p:spPr bwMode="auto">
          <a:xfrm>
            <a:off x="6939623" y="141641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p>
        </p:txBody>
      </p:sp>
      <p:sp>
        <p:nvSpPr>
          <p:cNvPr id="104" name="Text Box 36"/>
          <p:cNvSpPr txBox="1">
            <a:spLocks noChangeArrowheads="1"/>
          </p:cNvSpPr>
          <p:nvPr/>
        </p:nvSpPr>
        <p:spPr bwMode="auto">
          <a:xfrm>
            <a:off x="7060881" y="155492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p>
        </p:txBody>
      </p:sp>
      <p:sp>
        <p:nvSpPr>
          <p:cNvPr id="105" name="Text Box 37"/>
          <p:cNvSpPr txBox="1">
            <a:spLocks noChangeArrowheads="1"/>
          </p:cNvSpPr>
          <p:nvPr/>
        </p:nvSpPr>
        <p:spPr bwMode="auto">
          <a:xfrm>
            <a:off x="7178429" y="167097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p>
        </p:txBody>
      </p:sp>
      <p:sp>
        <p:nvSpPr>
          <p:cNvPr id="106" name="Text Box 38"/>
          <p:cNvSpPr txBox="1">
            <a:spLocks noChangeArrowheads="1"/>
          </p:cNvSpPr>
          <p:nvPr/>
        </p:nvSpPr>
        <p:spPr bwMode="auto">
          <a:xfrm>
            <a:off x="7281127" y="181571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p>
        </p:txBody>
      </p:sp>
      <p:sp>
        <p:nvSpPr>
          <p:cNvPr id="107" name="Text Box 39"/>
          <p:cNvSpPr txBox="1">
            <a:spLocks noChangeArrowheads="1"/>
          </p:cNvSpPr>
          <p:nvPr/>
        </p:nvSpPr>
        <p:spPr bwMode="auto">
          <a:xfrm>
            <a:off x="7333094" y="203159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p>
        </p:txBody>
      </p:sp>
      <p:sp>
        <p:nvSpPr>
          <p:cNvPr id="108" name="Text Box 40"/>
          <p:cNvSpPr txBox="1">
            <a:spLocks noChangeArrowheads="1"/>
          </p:cNvSpPr>
          <p:nvPr/>
        </p:nvSpPr>
        <p:spPr bwMode="auto">
          <a:xfrm>
            <a:off x="7365265" y="2200046"/>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p>
        </p:txBody>
      </p:sp>
      <p:sp>
        <p:nvSpPr>
          <p:cNvPr id="109" name="Text Box 41"/>
          <p:cNvSpPr txBox="1">
            <a:spLocks noChangeArrowheads="1"/>
          </p:cNvSpPr>
          <p:nvPr/>
        </p:nvSpPr>
        <p:spPr bwMode="auto">
          <a:xfrm>
            <a:off x="7361554" y="239470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p>
        </p:txBody>
      </p:sp>
      <p:sp>
        <p:nvSpPr>
          <p:cNvPr id="110" name="Text Box 42"/>
          <p:cNvSpPr txBox="1">
            <a:spLocks noChangeArrowheads="1"/>
          </p:cNvSpPr>
          <p:nvPr/>
        </p:nvSpPr>
        <p:spPr bwMode="auto">
          <a:xfrm>
            <a:off x="7315772" y="258936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p>
        </p:txBody>
      </p:sp>
      <p:sp>
        <p:nvSpPr>
          <p:cNvPr id="111" name="Text Box 43"/>
          <p:cNvSpPr txBox="1">
            <a:spLocks noChangeArrowheads="1"/>
          </p:cNvSpPr>
          <p:nvPr/>
        </p:nvSpPr>
        <p:spPr bwMode="auto">
          <a:xfrm>
            <a:off x="7220498" y="276655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p>
        </p:txBody>
      </p:sp>
      <p:sp>
        <p:nvSpPr>
          <p:cNvPr id="112" name="Text Box 44"/>
          <p:cNvSpPr txBox="1">
            <a:spLocks noChangeArrowheads="1"/>
          </p:cNvSpPr>
          <p:nvPr/>
        </p:nvSpPr>
        <p:spPr bwMode="auto">
          <a:xfrm>
            <a:off x="7081916" y="294374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p>
        </p:txBody>
      </p:sp>
      <p:sp>
        <p:nvSpPr>
          <p:cNvPr id="113" name="Text Box 45"/>
          <p:cNvSpPr txBox="1">
            <a:spLocks noChangeArrowheads="1"/>
          </p:cNvSpPr>
          <p:nvPr/>
        </p:nvSpPr>
        <p:spPr bwMode="auto">
          <a:xfrm>
            <a:off x="6950760" y="3051056"/>
            <a:ext cx="17941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p>
        </p:txBody>
      </p:sp>
      <p:sp>
        <p:nvSpPr>
          <p:cNvPr id="114" name="Text Box 46"/>
          <p:cNvSpPr txBox="1">
            <a:spLocks noChangeArrowheads="1"/>
          </p:cNvSpPr>
          <p:nvPr/>
        </p:nvSpPr>
        <p:spPr bwMode="auto">
          <a:xfrm>
            <a:off x="6787431" y="315213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p>
        </p:txBody>
      </p:sp>
      <p:sp>
        <p:nvSpPr>
          <p:cNvPr id="115" name="Text Box 47"/>
          <p:cNvSpPr txBox="1">
            <a:spLocks noChangeArrowheads="1"/>
          </p:cNvSpPr>
          <p:nvPr/>
        </p:nvSpPr>
        <p:spPr bwMode="auto">
          <a:xfrm>
            <a:off x="6579560" y="320952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p>
        </p:txBody>
      </p:sp>
      <p:sp>
        <p:nvSpPr>
          <p:cNvPr id="116" name="Oval 48"/>
          <p:cNvSpPr>
            <a:spLocks noChangeArrowheads="1"/>
          </p:cNvSpPr>
          <p:nvPr/>
        </p:nvSpPr>
        <p:spPr bwMode="auto">
          <a:xfrm>
            <a:off x="7184615" y="152996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7" name="Oval 49"/>
          <p:cNvSpPr>
            <a:spLocks noChangeArrowheads="1"/>
          </p:cNvSpPr>
          <p:nvPr/>
        </p:nvSpPr>
        <p:spPr bwMode="auto">
          <a:xfrm>
            <a:off x="5640422" y="3094730"/>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8" name="Oval 51"/>
          <p:cNvSpPr>
            <a:spLocks noChangeArrowheads="1"/>
          </p:cNvSpPr>
          <p:nvPr/>
        </p:nvSpPr>
        <p:spPr bwMode="auto">
          <a:xfrm>
            <a:off x="6872807" y="1320336"/>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9" name="Oval 52"/>
          <p:cNvSpPr>
            <a:spLocks noChangeArrowheads="1"/>
          </p:cNvSpPr>
          <p:nvPr/>
        </p:nvSpPr>
        <p:spPr bwMode="auto">
          <a:xfrm>
            <a:off x="7435794" y="2744093"/>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0" name="Oval 53"/>
          <p:cNvSpPr>
            <a:spLocks noChangeArrowheads="1"/>
          </p:cNvSpPr>
          <p:nvPr/>
        </p:nvSpPr>
        <p:spPr bwMode="auto">
          <a:xfrm>
            <a:off x="6004198" y="1282901"/>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1" name="Oval 54"/>
          <p:cNvSpPr>
            <a:spLocks noChangeArrowheads="1"/>
          </p:cNvSpPr>
          <p:nvPr/>
        </p:nvSpPr>
        <p:spPr bwMode="auto">
          <a:xfrm>
            <a:off x="7451879" y="1919288"/>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2" name="Oval 55"/>
          <p:cNvSpPr>
            <a:spLocks noChangeArrowheads="1"/>
          </p:cNvSpPr>
          <p:nvPr/>
        </p:nvSpPr>
        <p:spPr bwMode="auto">
          <a:xfrm>
            <a:off x="7540967" y="233106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3" name="Oval 56"/>
          <p:cNvSpPr>
            <a:spLocks noChangeArrowheads="1"/>
          </p:cNvSpPr>
          <p:nvPr/>
        </p:nvSpPr>
        <p:spPr bwMode="auto">
          <a:xfrm>
            <a:off x="7221735" y="311719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4" name="Oval 57"/>
          <p:cNvSpPr>
            <a:spLocks noChangeArrowheads="1"/>
          </p:cNvSpPr>
          <p:nvPr/>
        </p:nvSpPr>
        <p:spPr bwMode="auto">
          <a:xfrm>
            <a:off x="6857959" y="335677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5" name="Oval 58"/>
          <p:cNvSpPr>
            <a:spLocks noChangeArrowheads="1"/>
          </p:cNvSpPr>
          <p:nvPr/>
        </p:nvSpPr>
        <p:spPr bwMode="auto">
          <a:xfrm>
            <a:off x="6449638" y="3446614"/>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6" name="Oval 59"/>
          <p:cNvSpPr>
            <a:spLocks noChangeArrowheads="1"/>
          </p:cNvSpPr>
          <p:nvPr/>
        </p:nvSpPr>
        <p:spPr bwMode="auto">
          <a:xfrm>
            <a:off x="6026470" y="3364258"/>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7" name="Oval 60"/>
          <p:cNvSpPr>
            <a:spLocks noChangeArrowheads="1"/>
          </p:cNvSpPr>
          <p:nvPr/>
        </p:nvSpPr>
        <p:spPr bwMode="auto">
          <a:xfrm>
            <a:off x="5432550" y="2757820"/>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8" name="Oval 61"/>
          <p:cNvSpPr>
            <a:spLocks noChangeArrowheads="1"/>
          </p:cNvSpPr>
          <p:nvPr/>
        </p:nvSpPr>
        <p:spPr bwMode="auto">
          <a:xfrm>
            <a:off x="5343462" y="233106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9" name="Oval 62"/>
          <p:cNvSpPr>
            <a:spLocks noChangeArrowheads="1"/>
          </p:cNvSpPr>
          <p:nvPr/>
        </p:nvSpPr>
        <p:spPr bwMode="auto">
          <a:xfrm>
            <a:off x="5670118" y="155991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0" name="Oval 51"/>
          <p:cNvSpPr>
            <a:spLocks noChangeArrowheads="1"/>
          </p:cNvSpPr>
          <p:nvPr/>
        </p:nvSpPr>
        <p:spPr bwMode="auto">
          <a:xfrm>
            <a:off x="6658748" y="126044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1" name="Oval 51"/>
          <p:cNvSpPr>
            <a:spLocks noChangeArrowheads="1"/>
          </p:cNvSpPr>
          <p:nvPr/>
        </p:nvSpPr>
        <p:spPr bwMode="auto">
          <a:xfrm>
            <a:off x="7057170" y="142265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2" name="Oval 51"/>
          <p:cNvSpPr>
            <a:spLocks noChangeArrowheads="1"/>
          </p:cNvSpPr>
          <p:nvPr/>
        </p:nvSpPr>
        <p:spPr bwMode="auto">
          <a:xfrm>
            <a:off x="5833446" y="142265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3" name="Oval 51"/>
          <p:cNvSpPr>
            <a:spLocks noChangeArrowheads="1"/>
          </p:cNvSpPr>
          <p:nvPr/>
        </p:nvSpPr>
        <p:spPr bwMode="auto">
          <a:xfrm>
            <a:off x="6225681" y="125420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4" name="Oval 51"/>
          <p:cNvSpPr>
            <a:spLocks noChangeArrowheads="1"/>
          </p:cNvSpPr>
          <p:nvPr/>
        </p:nvSpPr>
        <p:spPr bwMode="auto">
          <a:xfrm>
            <a:off x="7360316" y="1739602"/>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5" name="Oval 51"/>
          <p:cNvSpPr>
            <a:spLocks noChangeArrowheads="1"/>
          </p:cNvSpPr>
          <p:nvPr/>
        </p:nvSpPr>
        <p:spPr bwMode="auto">
          <a:xfrm>
            <a:off x="6243004" y="342914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6" name="Oval 51"/>
          <p:cNvSpPr>
            <a:spLocks noChangeArrowheads="1"/>
          </p:cNvSpPr>
          <p:nvPr/>
        </p:nvSpPr>
        <p:spPr bwMode="auto">
          <a:xfrm>
            <a:off x="5814887" y="326068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7" name="Oval 51"/>
          <p:cNvSpPr>
            <a:spLocks noChangeArrowheads="1"/>
          </p:cNvSpPr>
          <p:nvPr/>
        </p:nvSpPr>
        <p:spPr bwMode="auto">
          <a:xfrm>
            <a:off x="5358310" y="2116442"/>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8" name="Oval 51"/>
          <p:cNvSpPr>
            <a:spLocks noChangeArrowheads="1"/>
          </p:cNvSpPr>
          <p:nvPr/>
        </p:nvSpPr>
        <p:spPr bwMode="auto">
          <a:xfrm>
            <a:off x="5524113" y="1727124"/>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9" name="Oval 51"/>
          <p:cNvSpPr>
            <a:spLocks noChangeArrowheads="1"/>
          </p:cNvSpPr>
          <p:nvPr/>
        </p:nvSpPr>
        <p:spPr bwMode="auto">
          <a:xfrm>
            <a:off x="6646375" y="342914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0" name="Oval 51"/>
          <p:cNvSpPr>
            <a:spLocks noChangeArrowheads="1"/>
          </p:cNvSpPr>
          <p:nvPr/>
        </p:nvSpPr>
        <p:spPr bwMode="auto">
          <a:xfrm>
            <a:off x="7519932" y="254194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1" name="Oval 51"/>
          <p:cNvSpPr>
            <a:spLocks noChangeArrowheads="1"/>
          </p:cNvSpPr>
          <p:nvPr/>
        </p:nvSpPr>
        <p:spPr bwMode="auto">
          <a:xfrm>
            <a:off x="7347943" y="295497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2" name="Oval 51"/>
          <p:cNvSpPr>
            <a:spLocks noChangeArrowheads="1"/>
          </p:cNvSpPr>
          <p:nvPr/>
        </p:nvSpPr>
        <p:spPr bwMode="auto">
          <a:xfrm>
            <a:off x="5363260" y="255442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3" name="Oval 51"/>
          <p:cNvSpPr>
            <a:spLocks noChangeArrowheads="1"/>
          </p:cNvSpPr>
          <p:nvPr/>
        </p:nvSpPr>
        <p:spPr bwMode="auto">
          <a:xfrm>
            <a:off x="5517927" y="294998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4" name="Oval 51"/>
          <p:cNvSpPr>
            <a:spLocks noChangeArrowheads="1"/>
          </p:cNvSpPr>
          <p:nvPr/>
        </p:nvSpPr>
        <p:spPr bwMode="auto">
          <a:xfrm>
            <a:off x="6444689" y="1236732"/>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5" name="Text Box 47"/>
          <p:cNvSpPr txBox="1">
            <a:spLocks noChangeArrowheads="1"/>
          </p:cNvSpPr>
          <p:nvPr/>
        </p:nvSpPr>
        <p:spPr bwMode="auto">
          <a:xfrm>
            <a:off x="6401382" y="323698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p>
        </p:txBody>
      </p:sp>
      <p:sp>
        <p:nvSpPr>
          <p:cNvPr id="146" name="Text Box 47"/>
          <p:cNvSpPr txBox="1">
            <a:spLocks noChangeArrowheads="1"/>
          </p:cNvSpPr>
          <p:nvPr/>
        </p:nvSpPr>
        <p:spPr bwMode="auto">
          <a:xfrm>
            <a:off x="6212070" y="322075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p>
        </p:txBody>
      </p:sp>
      <p:sp>
        <p:nvSpPr>
          <p:cNvPr id="147" name="Text Box 47"/>
          <p:cNvSpPr txBox="1">
            <a:spLocks noChangeArrowheads="1"/>
          </p:cNvSpPr>
          <p:nvPr/>
        </p:nvSpPr>
        <p:spPr bwMode="auto">
          <a:xfrm>
            <a:off x="6021521" y="317334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p>
        </p:txBody>
      </p:sp>
      <p:sp>
        <p:nvSpPr>
          <p:cNvPr id="148" name="Text Box 47"/>
          <p:cNvSpPr txBox="1">
            <a:spLocks noChangeArrowheads="1"/>
          </p:cNvSpPr>
          <p:nvPr/>
        </p:nvSpPr>
        <p:spPr bwMode="auto">
          <a:xfrm>
            <a:off x="5849532" y="309473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p>
        </p:txBody>
      </p:sp>
      <p:sp>
        <p:nvSpPr>
          <p:cNvPr id="149" name="Text Box 47"/>
          <p:cNvSpPr txBox="1">
            <a:spLocks noChangeArrowheads="1"/>
          </p:cNvSpPr>
          <p:nvPr/>
        </p:nvSpPr>
        <p:spPr bwMode="auto">
          <a:xfrm>
            <a:off x="5759206" y="290880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p>
        </p:txBody>
      </p:sp>
      <p:sp>
        <p:nvSpPr>
          <p:cNvPr id="150" name="Text Box 47"/>
          <p:cNvSpPr txBox="1">
            <a:spLocks noChangeArrowheads="1"/>
          </p:cNvSpPr>
          <p:nvPr/>
        </p:nvSpPr>
        <p:spPr bwMode="auto">
          <a:xfrm>
            <a:off x="5610726" y="281896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p>
        </p:txBody>
      </p:sp>
      <p:sp>
        <p:nvSpPr>
          <p:cNvPr id="151" name="Text Box 47"/>
          <p:cNvSpPr txBox="1">
            <a:spLocks noChangeArrowheads="1"/>
          </p:cNvSpPr>
          <p:nvPr/>
        </p:nvSpPr>
        <p:spPr bwMode="auto">
          <a:xfrm>
            <a:off x="5521639" y="266298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p>
        </p:txBody>
      </p:sp>
      <p:sp>
        <p:nvSpPr>
          <p:cNvPr id="152" name="Text Box 47"/>
          <p:cNvSpPr txBox="1">
            <a:spLocks noChangeArrowheads="1"/>
          </p:cNvSpPr>
          <p:nvPr/>
        </p:nvSpPr>
        <p:spPr bwMode="auto">
          <a:xfrm>
            <a:off x="5432551" y="246583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p>
        </p:txBody>
      </p:sp>
      <p:sp>
        <p:nvSpPr>
          <p:cNvPr id="153" name="Text Box 47"/>
          <p:cNvSpPr txBox="1">
            <a:spLocks noChangeArrowheads="1"/>
          </p:cNvSpPr>
          <p:nvPr/>
        </p:nvSpPr>
        <p:spPr bwMode="auto">
          <a:xfrm>
            <a:off x="5432551" y="224371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p>
        </p:txBody>
      </p:sp>
      <p:sp>
        <p:nvSpPr>
          <p:cNvPr id="154" name="Text Box 47"/>
          <p:cNvSpPr txBox="1">
            <a:spLocks noChangeArrowheads="1"/>
          </p:cNvSpPr>
          <p:nvPr/>
        </p:nvSpPr>
        <p:spPr bwMode="auto">
          <a:xfrm>
            <a:off x="5432551" y="204032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p>
        </p:txBody>
      </p:sp>
      <p:sp>
        <p:nvSpPr>
          <p:cNvPr id="155" name="Text Box 47"/>
          <p:cNvSpPr txBox="1">
            <a:spLocks noChangeArrowheads="1"/>
          </p:cNvSpPr>
          <p:nvPr/>
        </p:nvSpPr>
        <p:spPr bwMode="auto">
          <a:xfrm>
            <a:off x="5509265" y="186687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p>
        </p:txBody>
      </p:sp>
      <p:sp>
        <p:nvSpPr>
          <p:cNvPr id="156" name="Text Box 47"/>
          <p:cNvSpPr txBox="1">
            <a:spLocks noChangeArrowheads="1"/>
          </p:cNvSpPr>
          <p:nvPr/>
        </p:nvSpPr>
        <p:spPr bwMode="auto">
          <a:xfrm>
            <a:off x="5592167" y="172837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p>
        </p:txBody>
      </p:sp>
      <p:sp>
        <p:nvSpPr>
          <p:cNvPr id="157" name="Text Box 47"/>
          <p:cNvSpPr txBox="1">
            <a:spLocks noChangeArrowheads="1"/>
          </p:cNvSpPr>
          <p:nvPr/>
        </p:nvSpPr>
        <p:spPr bwMode="auto">
          <a:xfrm>
            <a:off x="5663932" y="156740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p>
        </p:txBody>
      </p:sp>
      <p:sp>
        <p:nvSpPr>
          <p:cNvPr id="158" name="Text Box 47"/>
          <p:cNvSpPr txBox="1">
            <a:spLocks noChangeArrowheads="1"/>
          </p:cNvSpPr>
          <p:nvPr/>
        </p:nvSpPr>
        <p:spPr bwMode="auto">
          <a:xfrm>
            <a:off x="5829735" y="144761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p>
        </p:txBody>
      </p:sp>
      <p:sp>
        <p:nvSpPr>
          <p:cNvPr id="159" name="Text Box 47"/>
          <p:cNvSpPr txBox="1">
            <a:spLocks noChangeArrowheads="1"/>
          </p:cNvSpPr>
          <p:nvPr/>
        </p:nvSpPr>
        <p:spPr bwMode="auto">
          <a:xfrm>
            <a:off x="5996774" y="136276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p>
        </p:txBody>
      </p:sp>
      <p:sp>
        <p:nvSpPr>
          <p:cNvPr id="160" name="Text Box 47"/>
          <p:cNvSpPr txBox="1">
            <a:spLocks noChangeArrowheads="1"/>
          </p:cNvSpPr>
          <p:nvPr/>
        </p:nvSpPr>
        <p:spPr bwMode="auto">
          <a:xfrm>
            <a:off x="6210834" y="127291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p>
        </p:txBody>
      </p:sp>
      <p:sp>
        <p:nvSpPr>
          <p:cNvPr id="161" name="Text Box 71"/>
          <p:cNvSpPr txBox="1">
            <a:spLocks noChangeArrowheads="1"/>
          </p:cNvSpPr>
          <p:nvPr/>
        </p:nvSpPr>
        <p:spPr bwMode="auto">
          <a:xfrm>
            <a:off x="7761212" y="2513248"/>
            <a:ext cx="237568"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p>
        </p:txBody>
      </p:sp>
      <p:sp>
        <p:nvSpPr>
          <p:cNvPr id="162" name="Oval 53"/>
          <p:cNvSpPr>
            <a:spLocks noChangeArrowheads="1"/>
          </p:cNvSpPr>
          <p:nvPr/>
        </p:nvSpPr>
        <p:spPr bwMode="auto">
          <a:xfrm>
            <a:off x="7481575" y="2087742"/>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63" name="Text Box 47"/>
          <p:cNvSpPr txBox="1">
            <a:spLocks noChangeArrowheads="1"/>
          </p:cNvSpPr>
          <p:nvPr/>
        </p:nvSpPr>
        <p:spPr bwMode="auto">
          <a:xfrm>
            <a:off x="7630055" y="2004139"/>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p>
        </p:txBody>
      </p:sp>
      <p:sp>
        <p:nvSpPr>
          <p:cNvPr id="164" name="Text Box 47"/>
          <p:cNvSpPr txBox="1">
            <a:spLocks noChangeArrowheads="1"/>
          </p:cNvSpPr>
          <p:nvPr/>
        </p:nvSpPr>
        <p:spPr bwMode="auto">
          <a:xfrm>
            <a:off x="7583036" y="2722881"/>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p>
        </p:txBody>
      </p:sp>
      <p:sp>
        <p:nvSpPr>
          <p:cNvPr id="165" name="Text Box 47"/>
          <p:cNvSpPr txBox="1">
            <a:spLocks noChangeArrowheads="1"/>
          </p:cNvSpPr>
          <p:nvPr/>
        </p:nvSpPr>
        <p:spPr bwMode="auto">
          <a:xfrm>
            <a:off x="7333094" y="1441374"/>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p>
        </p:txBody>
      </p:sp>
      <p:sp>
        <p:nvSpPr>
          <p:cNvPr id="166" name="Text Box 47"/>
          <p:cNvSpPr txBox="1">
            <a:spLocks noChangeArrowheads="1"/>
          </p:cNvSpPr>
          <p:nvPr/>
        </p:nvSpPr>
        <p:spPr bwMode="auto">
          <a:xfrm>
            <a:off x="5824785" y="1075764"/>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p>
        </p:txBody>
      </p:sp>
      <p:sp>
        <p:nvSpPr>
          <p:cNvPr id="167" name="Text Box 47"/>
          <p:cNvSpPr txBox="1">
            <a:spLocks noChangeArrowheads="1"/>
          </p:cNvSpPr>
          <p:nvPr/>
        </p:nvSpPr>
        <p:spPr bwMode="auto">
          <a:xfrm>
            <a:off x="5343462" y="3094730"/>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p>
        </p:txBody>
      </p:sp>
      <p:sp>
        <p:nvSpPr>
          <p:cNvPr id="168" name="Text Box 71"/>
          <p:cNvSpPr txBox="1">
            <a:spLocks noChangeArrowheads="1"/>
          </p:cNvSpPr>
          <p:nvPr/>
        </p:nvSpPr>
        <p:spPr bwMode="auto">
          <a:xfrm>
            <a:off x="6970556" y="1075764"/>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p>
        </p:txBody>
      </p:sp>
      <p:sp>
        <p:nvSpPr>
          <p:cNvPr id="169" name="Text Box 71"/>
          <p:cNvSpPr txBox="1">
            <a:spLocks noChangeArrowheads="1"/>
          </p:cNvSpPr>
          <p:nvPr/>
        </p:nvSpPr>
        <p:spPr bwMode="auto">
          <a:xfrm>
            <a:off x="5390479" y="1297875"/>
            <a:ext cx="309333"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p>
        </p:txBody>
      </p:sp>
      <p:sp>
        <p:nvSpPr>
          <p:cNvPr id="170" name="Text Box 71"/>
          <p:cNvSpPr txBox="1">
            <a:spLocks noChangeArrowheads="1"/>
          </p:cNvSpPr>
          <p:nvPr/>
        </p:nvSpPr>
        <p:spPr bwMode="auto">
          <a:xfrm>
            <a:off x="7273703" y="1105712"/>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p>
        </p:txBody>
      </p:sp>
      <p:cxnSp>
        <p:nvCxnSpPr>
          <p:cNvPr id="173" name="直接箭头连接符 172"/>
          <p:cNvCxnSpPr>
            <a:endCxn id="119" idx="7"/>
          </p:cNvCxnSpPr>
          <p:nvPr/>
        </p:nvCxnSpPr>
        <p:spPr bwMode="auto">
          <a:xfrm flipH="1">
            <a:off x="7537255" y="2662986"/>
            <a:ext cx="223957" cy="9857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直接箭头连接符 173"/>
          <p:cNvCxnSpPr/>
          <p:nvPr/>
        </p:nvCxnSpPr>
        <p:spPr bwMode="auto">
          <a:xfrm>
            <a:off x="7125223" y="1285397"/>
            <a:ext cx="108885" cy="24831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直接箭头连接符 174"/>
          <p:cNvCxnSpPr/>
          <p:nvPr/>
        </p:nvCxnSpPr>
        <p:spPr bwMode="auto">
          <a:xfrm flipH="1">
            <a:off x="7279890" y="1311601"/>
            <a:ext cx="154666" cy="21961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94" name="组合 193"/>
          <p:cNvGrpSpPr/>
          <p:nvPr/>
        </p:nvGrpSpPr>
        <p:grpSpPr>
          <a:xfrm>
            <a:off x="5207356" y="1351531"/>
            <a:ext cx="819115" cy="331493"/>
            <a:chOff x="5207356" y="1351531"/>
            <a:chExt cx="819115" cy="331493"/>
          </a:xfrm>
        </p:grpSpPr>
        <p:sp>
          <p:nvSpPr>
            <p:cNvPr id="172" name="Text Box 71"/>
            <p:cNvSpPr txBox="1">
              <a:spLocks noChangeArrowheads="1"/>
            </p:cNvSpPr>
            <p:nvPr/>
          </p:nvSpPr>
          <p:spPr bwMode="auto">
            <a:xfrm>
              <a:off x="5207356" y="1513747"/>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p>
          </p:txBody>
        </p:sp>
        <p:cxnSp>
          <p:nvCxnSpPr>
            <p:cNvPr id="176" name="直接箭头连接符 175"/>
            <p:cNvCxnSpPr/>
            <p:nvPr/>
          </p:nvCxnSpPr>
          <p:spPr bwMode="auto">
            <a:xfrm flipV="1">
              <a:off x="5474620" y="1351531"/>
              <a:ext cx="551851" cy="23334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93" name="组合 192"/>
          <p:cNvGrpSpPr/>
          <p:nvPr/>
        </p:nvGrpSpPr>
        <p:grpSpPr>
          <a:xfrm>
            <a:off x="7137597" y="3148385"/>
            <a:ext cx="592682" cy="169277"/>
            <a:chOff x="7137597" y="3148385"/>
            <a:chExt cx="592682" cy="169277"/>
          </a:xfrm>
        </p:grpSpPr>
        <p:sp>
          <p:nvSpPr>
            <p:cNvPr id="171" name="Text Box 71"/>
            <p:cNvSpPr txBox="1">
              <a:spLocks noChangeArrowheads="1"/>
            </p:cNvSpPr>
            <p:nvPr/>
          </p:nvSpPr>
          <p:spPr bwMode="auto">
            <a:xfrm>
              <a:off x="7451879" y="3148385"/>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K12</a:t>
              </a:r>
            </a:p>
          </p:txBody>
        </p:sp>
        <p:cxnSp>
          <p:nvCxnSpPr>
            <p:cNvPr id="177" name="直接箭头连接符 176"/>
            <p:cNvCxnSpPr>
              <a:stCxn id="171" idx="1"/>
            </p:cNvCxnSpPr>
            <p:nvPr/>
          </p:nvCxnSpPr>
          <p:spPr bwMode="auto">
            <a:xfrm flipH="1">
              <a:off x="7137597" y="3233024"/>
              <a:ext cx="314282" cy="58861"/>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78" name="直接箭头连接符 177"/>
          <p:cNvCxnSpPr/>
          <p:nvPr/>
        </p:nvCxnSpPr>
        <p:spPr bwMode="auto">
          <a:xfrm flipV="1">
            <a:off x="5735697" y="1332814"/>
            <a:ext cx="267264" cy="4367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9" name="Text Box 47"/>
          <p:cNvSpPr txBox="1">
            <a:spLocks noChangeArrowheads="1"/>
          </p:cNvSpPr>
          <p:nvPr/>
        </p:nvSpPr>
        <p:spPr bwMode="auto">
          <a:xfrm>
            <a:off x="5496692" y="3627547"/>
            <a:ext cx="20504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a:t>
            </a:r>
            <a:r>
              <a:rPr kumimoji="1" lang="en-US" altLang="zh-CN" sz="1400" b="1" dirty="0" smtClean="0">
                <a:latin typeface="微软雅黑" panose="020B0503020204020204" pitchFamily="34" charset="-122"/>
                <a:ea typeface="微软雅黑" panose="020B0503020204020204" pitchFamily="34" charset="-122"/>
              </a:rPr>
              <a:t>N13 </a:t>
            </a:r>
            <a:r>
              <a:rPr kumimoji="1" lang="zh-CN" altLang="en-US" sz="1400" b="1" dirty="0" smtClean="0">
                <a:latin typeface="微软雅黑" panose="020B0503020204020204" pitchFamily="34" charset="-122"/>
                <a:ea typeface="微软雅黑" panose="020B0503020204020204" pitchFamily="34" charset="-122"/>
              </a:rPr>
              <a:t>加入</a:t>
            </a:r>
            <a:r>
              <a:rPr kumimoji="1" lang="zh-CN" altLang="en-US" sz="1400" b="1" dirty="0">
                <a:latin typeface="微软雅黑" panose="020B0503020204020204" pitchFamily="34" charset="-122"/>
                <a:ea typeface="微软雅黑" panose="020B0503020204020204" pitchFamily="34" charset="-122"/>
              </a:rPr>
              <a:t>，</a:t>
            </a:r>
            <a:r>
              <a:rPr kumimoji="1" lang="en-US" altLang="zh-CN" sz="1400" b="1" dirty="0" smtClean="0">
                <a:latin typeface="微软雅黑" panose="020B0503020204020204" pitchFamily="34" charset="-122"/>
                <a:ea typeface="微软雅黑" panose="020B0503020204020204" pitchFamily="34" charset="-122"/>
              </a:rPr>
              <a:t>N26 </a:t>
            </a:r>
            <a:r>
              <a:rPr kumimoji="1" lang="zh-CN" altLang="en-US" sz="1400" b="1" dirty="0" smtClean="0">
                <a:latin typeface="微软雅黑" panose="020B0503020204020204" pitchFamily="34" charset="-122"/>
                <a:ea typeface="微软雅黑" panose="020B0503020204020204" pitchFamily="34" charset="-122"/>
              </a:rPr>
              <a:t>退出</a:t>
            </a:r>
            <a:r>
              <a:rPr kumimoji="1" lang="en-US" altLang="zh-CN" sz="1400" b="1" dirty="0" smtClean="0">
                <a:latin typeface="微软雅黑" panose="020B0503020204020204" pitchFamily="34" charset="-122"/>
                <a:ea typeface="微软雅黑" panose="020B0503020204020204" pitchFamily="34" charset="-122"/>
              </a:rPr>
              <a:t> </a:t>
            </a:r>
            <a:endParaRPr kumimoji="1" lang="en-US" altLang="zh-CN" sz="1400" b="1" dirty="0">
              <a:latin typeface="微软雅黑" panose="020B0503020204020204" pitchFamily="34" charset="-122"/>
              <a:ea typeface="微软雅黑" panose="020B0503020204020204" pitchFamily="34" charset="-122"/>
            </a:endParaRPr>
          </a:p>
        </p:txBody>
      </p:sp>
      <p:sp>
        <p:nvSpPr>
          <p:cNvPr id="180" name="Oval 52"/>
          <p:cNvSpPr>
            <a:spLocks noChangeArrowheads="1"/>
          </p:cNvSpPr>
          <p:nvPr/>
        </p:nvSpPr>
        <p:spPr bwMode="auto">
          <a:xfrm>
            <a:off x="7029948" y="3238228"/>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81" name="Oval 51"/>
          <p:cNvSpPr>
            <a:spLocks noChangeArrowheads="1"/>
          </p:cNvSpPr>
          <p:nvPr/>
        </p:nvSpPr>
        <p:spPr bwMode="auto">
          <a:xfrm>
            <a:off x="5426364" y="1926774"/>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82"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spTree>
    <p:custDataLst>
      <p:tags r:id="rId1"/>
    </p:custDataLst>
    <p:extLst>
      <p:ext uri="{BB962C8B-B14F-4D97-AF65-F5344CB8AC3E}">
        <p14:creationId xmlns:p14="http://schemas.microsoft.com/office/powerpoint/2010/main" val="2341588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7"/>
                                        </p:tgtEl>
                                        <p:attrNameLst>
                                          <p:attrName>style.visibility</p:attrName>
                                        </p:attrNameLst>
                                      </p:cBhvr>
                                      <p:to>
                                        <p:strVal val="visible"/>
                                      </p:to>
                                    </p:set>
                                    <p:animEffect transition="in" filter="fade">
                                      <p:cBhvr>
                                        <p:cTn id="7" dur="500"/>
                                        <p:tgtEl>
                                          <p:spTgt spid="187"/>
                                        </p:tgtEl>
                                      </p:cBhvr>
                                    </p:animEffect>
                                  </p:childTnLst>
                                </p:cTn>
                              </p:par>
                              <p:par>
                                <p:cTn id="8" presetID="10" presetClass="entr" presetSubtype="0" fill="hold" nodeType="withEffect">
                                  <p:stCondLst>
                                    <p:cond delay="0"/>
                                  </p:stCondLst>
                                  <p:childTnLst>
                                    <p:set>
                                      <p:cBhvr>
                                        <p:cTn id="9" dur="1" fill="hold">
                                          <p:stCondLst>
                                            <p:cond delay="0"/>
                                          </p:stCondLst>
                                        </p:cTn>
                                        <p:tgtEl>
                                          <p:spTgt spid="188"/>
                                        </p:tgtEl>
                                        <p:attrNameLst>
                                          <p:attrName>style.visibility</p:attrName>
                                        </p:attrNameLst>
                                      </p:cBhvr>
                                      <p:to>
                                        <p:strVal val="visible"/>
                                      </p:to>
                                    </p:set>
                                    <p:animEffect transition="in" filter="fade">
                                      <p:cBhvr>
                                        <p:cTn id="10" dur="500"/>
                                        <p:tgtEl>
                                          <p:spTgt spid="188"/>
                                        </p:tgtEl>
                                      </p:cBhvr>
                                    </p:animEffect>
                                  </p:childTnLst>
                                </p:cTn>
                              </p:par>
                              <p:par>
                                <p:cTn id="11" presetID="10" presetClass="entr" presetSubtype="0" fill="hold" nodeType="withEffect">
                                  <p:stCondLst>
                                    <p:cond delay="0"/>
                                  </p:stCondLst>
                                  <p:childTnLst>
                                    <p:set>
                                      <p:cBhvr>
                                        <p:cTn id="12" dur="1" fill="hold">
                                          <p:stCondLst>
                                            <p:cond delay="0"/>
                                          </p:stCondLst>
                                        </p:cTn>
                                        <p:tgtEl>
                                          <p:spTgt spid="189"/>
                                        </p:tgtEl>
                                        <p:attrNameLst>
                                          <p:attrName>style.visibility</p:attrName>
                                        </p:attrNameLst>
                                      </p:cBhvr>
                                      <p:to>
                                        <p:strVal val="visible"/>
                                      </p:to>
                                    </p:set>
                                    <p:animEffect transition="in" filter="fade">
                                      <p:cBhvr>
                                        <p:cTn id="13" dur="500"/>
                                        <p:tgtEl>
                                          <p:spTgt spid="189"/>
                                        </p:tgtEl>
                                      </p:cBhvr>
                                    </p:animEffect>
                                  </p:childTnLst>
                                </p:cTn>
                              </p:par>
                              <p:par>
                                <p:cTn id="14" presetID="10"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fade">
                                      <p:cBhvr>
                                        <p:cTn id="16" dur="500"/>
                                        <p:tgtEl>
                                          <p:spTgt spid="190"/>
                                        </p:tgtEl>
                                      </p:cBhvr>
                                    </p:animEffect>
                                  </p:childTnLst>
                                </p:cTn>
                              </p:par>
                              <p:par>
                                <p:cTn id="17" presetID="10" presetClass="entr" presetSubtype="0" fill="hold" nodeType="withEffect">
                                  <p:stCondLst>
                                    <p:cond delay="0"/>
                                  </p:stCondLst>
                                  <p:childTnLst>
                                    <p:set>
                                      <p:cBhvr>
                                        <p:cTn id="18" dur="1" fill="hold">
                                          <p:stCondLst>
                                            <p:cond delay="0"/>
                                          </p:stCondLst>
                                        </p:cTn>
                                        <p:tgtEl>
                                          <p:spTgt spid="191"/>
                                        </p:tgtEl>
                                        <p:attrNameLst>
                                          <p:attrName>style.visibility</p:attrName>
                                        </p:attrNameLst>
                                      </p:cBhvr>
                                      <p:to>
                                        <p:strVal val="visible"/>
                                      </p:to>
                                    </p:set>
                                    <p:animEffect transition="in" filter="fade">
                                      <p:cBhvr>
                                        <p:cTn id="19" dur="500"/>
                                        <p:tgtEl>
                                          <p:spTgt spid="191"/>
                                        </p:tgtEl>
                                      </p:cBhvr>
                                    </p:animEffect>
                                  </p:childTnLst>
                                </p:cTn>
                              </p:par>
                              <p:par>
                                <p:cTn id="20" presetID="10" presetClass="entr" presetSubtype="0" fill="hold" nodeType="withEffect">
                                  <p:stCondLst>
                                    <p:cond delay="0"/>
                                  </p:stCondLst>
                                  <p:childTnLst>
                                    <p:set>
                                      <p:cBhvr>
                                        <p:cTn id="21" dur="1" fill="hold">
                                          <p:stCondLst>
                                            <p:cond delay="0"/>
                                          </p:stCondLst>
                                        </p:cTn>
                                        <p:tgtEl>
                                          <p:spTgt spid="192"/>
                                        </p:tgtEl>
                                        <p:attrNameLst>
                                          <p:attrName>style.visibility</p:attrName>
                                        </p:attrNameLst>
                                      </p:cBhvr>
                                      <p:to>
                                        <p:strVal val="visible"/>
                                      </p:to>
                                    </p:set>
                                    <p:animEffect transition="in" filter="fade">
                                      <p:cBhvr>
                                        <p:cTn id="22" dur="500"/>
                                        <p:tgtEl>
                                          <p:spTgt spid="19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500"/>
                            </p:stCondLst>
                            <p:childTnLst>
                              <p:par>
                                <p:cTn id="29" presetID="10" presetClass="entr" presetSubtype="0" fill="hold" nodeType="afterEffect">
                                  <p:stCondLst>
                                    <p:cond delay="0"/>
                                  </p:stCondLst>
                                  <p:childTnLst>
                                    <p:set>
                                      <p:cBhvr>
                                        <p:cTn id="30" dur="1" fill="hold">
                                          <p:stCondLst>
                                            <p:cond delay="0"/>
                                          </p:stCondLst>
                                        </p:cTn>
                                        <p:tgtEl>
                                          <p:spTgt spid="186"/>
                                        </p:tgtEl>
                                        <p:attrNameLst>
                                          <p:attrName>style.visibility</p:attrName>
                                        </p:attrNameLst>
                                      </p:cBhvr>
                                      <p:to>
                                        <p:strVal val="visible"/>
                                      </p:to>
                                    </p:set>
                                    <p:animEffect transition="in" filter="fade">
                                      <p:cBhvr>
                                        <p:cTn id="31" dur="500"/>
                                        <p:tgtEl>
                                          <p:spTgt spid="186"/>
                                        </p:tgtEl>
                                      </p:cBhvr>
                                    </p:animEffect>
                                  </p:childTnLst>
                                </p:cTn>
                              </p:par>
                            </p:childTnLst>
                          </p:cTn>
                        </p:par>
                        <p:par>
                          <p:cTn id="32" fill="hold">
                            <p:stCondLst>
                              <p:cond delay="1000"/>
                            </p:stCondLst>
                            <p:childTnLst>
                              <p:par>
                                <p:cTn id="33" presetID="10" presetClass="entr" presetSubtype="0" fill="hold"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183"/>
                                        </p:tgtEl>
                                        <p:attrNameLst>
                                          <p:attrName>style.visibility</p:attrName>
                                        </p:attrNameLst>
                                      </p:cBhvr>
                                      <p:to>
                                        <p:strVal val="visible"/>
                                      </p:to>
                                    </p:set>
                                    <p:animEffect transition="in" filter="fade">
                                      <p:cBhvr>
                                        <p:cTn id="39" dur="500"/>
                                        <p:tgtEl>
                                          <p:spTgt spid="183"/>
                                        </p:tgtEl>
                                      </p:cBhvr>
                                    </p:animEffect>
                                  </p:childTnLst>
                                </p:cTn>
                              </p:par>
                            </p:childTnLst>
                          </p:cTn>
                        </p:par>
                        <p:par>
                          <p:cTn id="40" fill="hold">
                            <p:stCondLst>
                              <p:cond delay="2000"/>
                            </p:stCondLst>
                            <p:childTnLst>
                              <p:par>
                                <p:cTn id="41" presetID="10" presetClass="entr" presetSubtype="0" fill="hold" nodeType="afterEffect">
                                  <p:stCondLst>
                                    <p:cond delay="0"/>
                                  </p:stCondLst>
                                  <p:childTnLst>
                                    <p:set>
                                      <p:cBhvr>
                                        <p:cTn id="42" dur="1" fill="hold">
                                          <p:stCondLst>
                                            <p:cond delay="0"/>
                                          </p:stCondLst>
                                        </p:cTn>
                                        <p:tgtEl>
                                          <p:spTgt spid="184"/>
                                        </p:tgtEl>
                                        <p:attrNameLst>
                                          <p:attrName>style.visibility</p:attrName>
                                        </p:attrNameLst>
                                      </p:cBhvr>
                                      <p:to>
                                        <p:strVal val="visible"/>
                                      </p:to>
                                    </p:set>
                                    <p:animEffect transition="in" filter="fade">
                                      <p:cBhvr>
                                        <p:cTn id="43" dur="500"/>
                                        <p:tgtEl>
                                          <p:spTgt spid="184"/>
                                        </p:tgtEl>
                                      </p:cBhvr>
                                    </p:animEffect>
                                  </p:childTnLst>
                                </p:cTn>
                              </p:par>
                            </p:childTnLst>
                          </p:cTn>
                        </p:par>
                        <p:par>
                          <p:cTn id="44" fill="hold">
                            <p:stCondLst>
                              <p:cond delay="2500"/>
                            </p:stCondLst>
                            <p:childTnLst>
                              <p:par>
                                <p:cTn id="45" presetID="10" presetClass="entr" presetSubtype="0" fill="hold" nodeType="afterEffect">
                                  <p:stCondLst>
                                    <p:cond delay="0"/>
                                  </p:stCondLst>
                                  <p:childTnLst>
                                    <p:set>
                                      <p:cBhvr>
                                        <p:cTn id="46" dur="1" fill="hold">
                                          <p:stCondLst>
                                            <p:cond delay="0"/>
                                          </p:stCondLst>
                                        </p:cTn>
                                        <p:tgtEl>
                                          <p:spTgt spid="185"/>
                                        </p:tgtEl>
                                        <p:attrNameLst>
                                          <p:attrName>style.visibility</p:attrName>
                                        </p:attrNameLst>
                                      </p:cBhvr>
                                      <p:to>
                                        <p:strVal val="visible"/>
                                      </p:to>
                                    </p:set>
                                    <p:animEffect transition="in" filter="fade">
                                      <p:cBhvr>
                                        <p:cTn id="47" dur="500"/>
                                        <p:tgtEl>
                                          <p:spTgt spid="18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fade">
                                      <p:cBhvr>
                                        <p:cTn id="52" dur="500"/>
                                        <p:tgtEl>
                                          <p:spTgt spid="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99"/>
                                        </p:tgtEl>
                                        <p:attrNameLst>
                                          <p:attrName>style.visibility</p:attrName>
                                        </p:attrNameLst>
                                      </p:cBhvr>
                                      <p:to>
                                        <p:strVal val="visible"/>
                                      </p:to>
                                    </p:set>
                                    <p:animEffect transition="in" filter="fade">
                                      <p:cBhvr>
                                        <p:cTn id="55" dur="500"/>
                                        <p:tgtEl>
                                          <p:spTgt spid="99"/>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00"/>
                                        </p:tgtEl>
                                        <p:attrNameLst>
                                          <p:attrName>style.visibility</p:attrName>
                                        </p:attrNameLst>
                                      </p:cBhvr>
                                      <p:to>
                                        <p:strVal val="visible"/>
                                      </p:to>
                                    </p:set>
                                    <p:animEffect transition="in" filter="fade">
                                      <p:cBhvr>
                                        <p:cTn id="58" dur="500"/>
                                        <p:tgtEl>
                                          <p:spTgt spid="100"/>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1"/>
                                        </p:tgtEl>
                                        <p:attrNameLst>
                                          <p:attrName>style.visibility</p:attrName>
                                        </p:attrNameLst>
                                      </p:cBhvr>
                                      <p:to>
                                        <p:strVal val="visible"/>
                                      </p:to>
                                    </p:set>
                                    <p:animEffect transition="in" filter="fade">
                                      <p:cBhvr>
                                        <p:cTn id="61" dur="500"/>
                                        <p:tgtEl>
                                          <p:spTgt spid="101"/>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02"/>
                                        </p:tgtEl>
                                        <p:attrNameLst>
                                          <p:attrName>style.visibility</p:attrName>
                                        </p:attrNameLst>
                                      </p:cBhvr>
                                      <p:to>
                                        <p:strVal val="visible"/>
                                      </p:to>
                                    </p:set>
                                    <p:animEffect transition="in" filter="fade">
                                      <p:cBhvr>
                                        <p:cTn id="64" dur="500"/>
                                        <p:tgtEl>
                                          <p:spTgt spid="10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03"/>
                                        </p:tgtEl>
                                        <p:attrNameLst>
                                          <p:attrName>style.visibility</p:attrName>
                                        </p:attrNameLst>
                                      </p:cBhvr>
                                      <p:to>
                                        <p:strVal val="visible"/>
                                      </p:to>
                                    </p:set>
                                    <p:animEffect transition="in" filter="fade">
                                      <p:cBhvr>
                                        <p:cTn id="67" dur="500"/>
                                        <p:tgtEl>
                                          <p:spTgt spid="103"/>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04"/>
                                        </p:tgtEl>
                                        <p:attrNameLst>
                                          <p:attrName>style.visibility</p:attrName>
                                        </p:attrNameLst>
                                      </p:cBhvr>
                                      <p:to>
                                        <p:strVal val="visible"/>
                                      </p:to>
                                    </p:set>
                                    <p:animEffect transition="in" filter="fade">
                                      <p:cBhvr>
                                        <p:cTn id="70" dur="500"/>
                                        <p:tgtEl>
                                          <p:spTgt spid="104"/>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05"/>
                                        </p:tgtEl>
                                        <p:attrNameLst>
                                          <p:attrName>style.visibility</p:attrName>
                                        </p:attrNameLst>
                                      </p:cBhvr>
                                      <p:to>
                                        <p:strVal val="visible"/>
                                      </p:to>
                                    </p:set>
                                    <p:animEffect transition="in" filter="fade">
                                      <p:cBhvr>
                                        <p:cTn id="73" dur="500"/>
                                        <p:tgtEl>
                                          <p:spTgt spid="105"/>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06"/>
                                        </p:tgtEl>
                                        <p:attrNameLst>
                                          <p:attrName>style.visibility</p:attrName>
                                        </p:attrNameLst>
                                      </p:cBhvr>
                                      <p:to>
                                        <p:strVal val="visible"/>
                                      </p:to>
                                    </p:set>
                                    <p:animEffect transition="in" filter="fade">
                                      <p:cBhvr>
                                        <p:cTn id="76" dur="500"/>
                                        <p:tgtEl>
                                          <p:spTgt spid="106"/>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07"/>
                                        </p:tgtEl>
                                        <p:attrNameLst>
                                          <p:attrName>style.visibility</p:attrName>
                                        </p:attrNameLst>
                                      </p:cBhvr>
                                      <p:to>
                                        <p:strVal val="visible"/>
                                      </p:to>
                                    </p:set>
                                    <p:animEffect transition="in" filter="fade">
                                      <p:cBhvr>
                                        <p:cTn id="79" dur="500"/>
                                        <p:tgtEl>
                                          <p:spTgt spid="107"/>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108"/>
                                        </p:tgtEl>
                                        <p:attrNameLst>
                                          <p:attrName>style.visibility</p:attrName>
                                        </p:attrNameLst>
                                      </p:cBhvr>
                                      <p:to>
                                        <p:strVal val="visible"/>
                                      </p:to>
                                    </p:set>
                                    <p:animEffect transition="in" filter="fade">
                                      <p:cBhvr>
                                        <p:cTn id="82" dur="500"/>
                                        <p:tgtEl>
                                          <p:spTgt spid="108"/>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Effect transition="in" filter="fade">
                                      <p:cBhvr>
                                        <p:cTn id="85" dur="500"/>
                                        <p:tgtEl>
                                          <p:spTgt spid="109"/>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110"/>
                                        </p:tgtEl>
                                        <p:attrNameLst>
                                          <p:attrName>style.visibility</p:attrName>
                                        </p:attrNameLst>
                                      </p:cBhvr>
                                      <p:to>
                                        <p:strVal val="visible"/>
                                      </p:to>
                                    </p:set>
                                    <p:animEffect transition="in" filter="fade">
                                      <p:cBhvr>
                                        <p:cTn id="88" dur="500"/>
                                        <p:tgtEl>
                                          <p:spTgt spid="110"/>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Effect transition="in" filter="fade">
                                      <p:cBhvr>
                                        <p:cTn id="91" dur="500"/>
                                        <p:tgtEl>
                                          <p:spTgt spid="111"/>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12"/>
                                        </p:tgtEl>
                                        <p:attrNameLst>
                                          <p:attrName>style.visibility</p:attrName>
                                        </p:attrNameLst>
                                      </p:cBhvr>
                                      <p:to>
                                        <p:strVal val="visible"/>
                                      </p:to>
                                    </p:set>
                                    <p:animEffect transition="in" filter="fade">
                                      <p:cBhvr>
                                        <p:cTn id="94" dur="500"/>
                                        <p:tgtEl>
                                          <p:spTgt spid="112"/>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Effect transition="in" filter="fade">
                                      <p:cBhvr>
                                        <p:cTn id="97" dur="500"/>
                                        <p:tgtEl>
                                          <p:spTgt spid="113"/>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114"/>
                                        </p:tgtEl>
                                        <p:attrNameLst>
                                          <p:attrName>style.visibility</p:attrName>
                                        </p:attrNameLst>
                                      </p:cBhvr>
                                      <p:to>
                                        <p:strVal val="visible"/>
                                      </p:to>
                                    </p:set>
                                    <p:animEffect transition="in" filter="fade">
                                      <p:cBhvr>
                                        <p:cTn id="100" dur="500"/>
                                        <p:tgtEl>
                                          <p:spTgt spid="114"/>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Effect transition="in" filter="fade">
                                      <p:cBhvr>
                                        <p:cTn id="103" dur="500"/>
                                        <p:tgtEl>
                                          <p:spTgt spid="115"/>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16"/>
                                        </p:tgtEl>
                                        <p:attrNameLst>
                                          <p:attrName>style.visibility</p:attrName>
                                        </p:attrNameLst>
                                      </p:cBhvr>
                                      <p:to>
                                        <p:strVal val="visible"/>
                                      </p:to>
                                    </p:set>
                                    <p:animEffect transition="in" filter="fade">
                                      <p:cBhvr>
                                        <p:cTn id="106" dur="500"/>
                                        <p:tgtEl>
                                          <p:spTgt spid="116"/>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Effect transition="in" filter="fade">
                                      <p:cBhvr>
                                        <p:cTn id="109" dur="500"/>
                                        <p:tgtEl>
                                          <p:spTgt spid="117"/>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118"/>
                                        </p:tgtEl>
                                        <p:attrNameLst>
                                          <p:attrName>style.visibility</p:attrName>
                                        </p:attrNameLst>
                                      </p:cBhvr>
                                      <p:to>
                                        <p:strVal val="visible"/>
                                      </p:to>
                                    </p:set>
                                    <p:animEffect transition="in" filter="fade">
                                      <p:cBhvr>
                                        <p:cTn id="112" dur="500"/>
                                        <p:tgtEl>
                                          <p:spTgt spid="118"/>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Effect transition="in" filter="fade">
                                      <p:cBhvr>
                                        <p:cTn id="115" dur="500"/>
                                        <p:tgtEl>
                                          <p:spTgt spid="119"/>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120"/>
                                        </p:tgtEl>
                                        <p:attrNameLst>
                                          <p:attrName>style.visibility</p:attrName>
                                        </p:attrNameLst>
                                      </p:cBhvr>
                                      <p:to>
                                        <p:strVal val="visible"/>
                                      </p:to>
                                    </p:set>
                                    <p:animEffect transition="in" filter="fade">
                                      <p:cBhvr>
                                        <p:cTn id="118" dur="500"/>
                                        <p:tgtEl>
                                          <p:spTgt spid="120"/>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121"/>
                                        </p:tgtEl>
                                        <p:attrNameLst>
                                          <p:attrName>style.visibility</p:attrName>
                                        </p:attrNameLst>
                                      </p:cBhvr>
                                      <p:to>
                                        <p:strVal val="visible"/>
                                      </p:to>
                                    </p:set>
                                    <p:animEffect transition="in" filter="fade">
                                      <p:cBhvr>
                                        <p:cTn id="121" dur="500"/>
                                        <p:tgtEl>
                                          <p:spTgt spid="121"/>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122"/>
                                        </p:tgtEl>
                                        <p:attrNameLst>
                                          <p:attrName>style.visibility</p:attrName>
                                        </p:attrNameLst>
                                      </p:cBhvr>
                                      <p:to>
                                        <p:strVal val="visible"/>
                                      </p:to>
                                    </p:set>
                                    <p:animEffect transition="in" filter="fade">
                                      <p:cBhvr>
                                        <p:cTn id="124" dur="500"/>
                                        <p:tgtEl>
                                          <p:spTgt spid="12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123"/>
                                        </p:tgtEl>
                                        <p:attrNameLst>
                                          <p:attrName>style.visibility</p:attrName>
                                        </p:attrNameLst>
                                      </p:cBhvr>
                                      <p:to>
                                        <p:strVal val="visible"/>
                                      </p:to>
                                    </p:set>
                                    <p:animEffect transition="in" filter="fade">
                                      <p:cBhvr>
                                        <p:cTn id="127" dur="500"/>
                                        <p:tgtEl>
                                          <p:spTgt spid="123"/>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124"/>
                                        </p:tgtEl>
                                        <p:attrNameLst>
                                          <p:attrName>style.visibility</p:attrName>
                                        </p:attrNameLst>
                                      </p:cBhvr>
                                      <p:to>
                                        <p:strVal val="visible"/>
                                      </p:to>
                                    </p:set>
                                    <p:animEffect transition="in" filter="fade">
                                      <p:cBhvr>
                                        <p:cTn id="130" dur="500"/>
                                        <p:tgtEl>
                                          <p:spTgt spid="124"/>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125"/>
                                        </p:tgtEl>
                                        <p:attrNameLst>
                                          <p:attrName>style.visibility</p:attrName>
                                        </p:attrNameLst>
                                      </p:cBhvr>
                                      <p:to>
                                        <p:strVal val="visible"/>
                                      </p:to>
                                    </p:set>
                                    <p:animEffect transition="in" filter="fade">
                                      <p:cBhvr>
                                        <p:cTn id="133" dur="500"/>
                                        <p:tgtEl>
                                          <p:spTgt spid="125"/>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126"/>
                                        </p:tgtEl>
                                        <p:attrNameLst>
                                          <p:attrName>style.visibility</p:attrName>
                                        </p:attrNameLst>
                                      </p:cBhvr>
                                      <p:to>
                                        <p:strVal val="visible"/>
                                      </p:to>
                                    </p:set>
                                    <p:animEffect transition="in" filter="fade">
                                      <p:cBhvr>
                                        <p:cTn id="136" dur="500"/>
                                        <p:tgtEl>
                                          <p:spTgt spid="126"/>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27"/>
                                        </p:tgtEl>
                                        <p:attrNameLst>
                                          <p:attrName>style.visibility</p:attrName>
                                        </p:attrNameLst>
                                      </p:cBhvr>
                                      <p:to>
                                        <p:strVal val="visible"/>
                                      </p:to>
                                    </p:set>
                                    <p:animEffect transition="in" filter="fade">
                                      <p:cBhvr>
                                        <p:cTn id="139" dur="500"/>
                                        <p:tgtEl>
                                          <p:spTgt spid="127"/>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128"/>
                                        </p:tgtEl>
                                        <p:attrNameLst>
                                          <p:attrName>style.visibility</p:attrName>
                                        </p:attrNameLst>
                                      </p:cBhvr>
                                      <p:to>
                                        <p:strVal val="visible"/>
                                      </p:to>
                                    </p:set>
                                    <p:animEffect transition="in" filter="fade">
                                      <p:cBhvr>
                                        <p:cTn id="142" dur="500"/>
                                        <p:tgtEl>
                                          <p:spTgt spid="128"/>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129"/>
                                        </p:tgtEl>
                                        <p:attrNameLst>
                                          <p:attrName>style.visibility</p:attrName>
                                        </p:attrNameLst>
                                      </p:cBhvr>
                                      <p:to>
                                        <p:strVal val="visible"/>
                                      </p:to>
                                    </p:set>
                                    <p:animEffect transition="in" filter="fade">
                                      <p:cBhvr>
                                        <p:cTn id="145" dur="500"/>
                                        <p:tgtEl>
                                          <p:spTgt spid="129"/>
                                        </p:tgtEl>
                                      </p:cBhvr>
                                    </p:animEffect>
                                  </p:childTnLst>
                                </p:cTn>
                              </p:par>
                              <p:par>
                                <p:cTn id="146" presetID="10" presetClass="entr" presetSubtype="0" fill="hold" grpId="0" nodeType="withEffect">
                                  <p:stCondLst>
                                    <p:cond delay="0"/>
                                  </p:stCondLst>
                                  <p:childTnLst>
                                    <p:set>
                                      <p:cBhvr>
                                        <p:cTn id="147" dur="1" fill="hold">
                                          <p:stCondLst>
                                            <p:cond delay="0"/>
                                          </p:stCondLst>
                                        </p:cTn>
                                        <p:tgtEl>
                                          <p:spTgt spid="130"/>
                                        </p:tgtEl>
                                        <p:attrNameLst>
                                          <p:attrName>style.visibility</p:attrName>
                                        </p:attrNameLst>
                                      </p:cBhvr>
                                      <p:to>
                                        <p:strVal val="visible"/>
                                      </p:to>
                                    </p:set>
                                    <p:animEffect transition="in" filter="fade">
                                      <p:cBhvr>
                                        <p:cTn id="148" dur="500"/>
                                        <p:tgtEl>
                                          <p:spTgt spid="130"/>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131"/>
                                        </p:tgtEl>
                                        <p:attrNameLst>
                                          <p:attrName>style.visibility</p:attrName>
                                        </p:attrNameLst>
                                      </p:cBhvr>
                                      <p:to>
                                        <p:strVal val="visible"/>
                                      </p:to>
                                    </p:set>
                                    <p:animEffect transition="in" filter="fade">
                                      <p:cBhvr>
                                        <p:cTn id="151" dur="500"/>
                                        <p:tgtEl>
                                          <p:spTgt spid="131"/>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132"/>
                                        </p:tgtEl>
                                        <p:attrNameLst>
                                          <p:attrName>style.visibility</p:attrName>
                                        </p:attrNameLst>
                                      </p:cBhvr>
                                      <p:to>
                                        <p:strVal val="visible"/>
                                      </p:to>
                                    </p:set>
                                    <p:animEffect transition="in" filter="fade">
                                      <p:cBhvr>
                                        <p:cTn id="154" dur="500"/>
                                        <p:tgtEl>
                                          <p:spTgt spid="132"/>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133"/>
                                        </p:tgtEl>
                                        <p:attrNameLst>
                                          <p:attrName>style.visibility</p:attrName>
                                        </p:attrNameLst>
                                      </p:cBhvr>
                                      <p:to>
                                        <p:strVal val="visible"/>
                                      </p:to>
                                    </p:set>
                                    <p:animEffect transition="in" filter="fade">
                                      <p:cBhvr>
                                        <p:cTn id="157" dur="500"/>
                                        <p:tgtEl>
                                          <p:spTgt spid="133"/>
                                        </p:tgtEl>
                                      </p:cBhvr>
                                    </p:animEffect>
                                  </p:childTnLst>
                                </p:cTn>
                              </p:par>
                              <p:par>
                                <p:cTn id="158" presetID="10" presetClass="entr" presetSubtype="0" fill="hold" grpId="0" nodeType="withEffect">
                                  <p:stCondLst>
                                    <p:cond delay="0"/>
                                  </p:stCondLst>
                                  <p:childTnLst>
                                    <p:set>
                                      <p:cBhvr>
                                        <p:cTn id="159" dur="1" fill="hold">
                                          <p:stCondLst>
                                            <p:cond delay="0"/>
                                          </p:stCondLst>
                                        </p:cTn>
                                        <p:tgtEl>
                                          <p:spTgt spid="134"/>
                                        </p:tgtEl>
                                        <p:attrNameLst>
                                          <p:attrName>style.visibility</p:attrName>
                                        </p:attrNameLst>
                                      </p:cBhvr>
                                      <p:to>
                                        <p:strVal val="visible"/>
                                      </p:to>
                                    </p:set>
                                    <p:animEffect transition="in" filter="fade">
                                      <p:cBhvr>
                                        <p:cTn id="160" dur="500"/>
                                        <p:tgtEl>
                                          <p:spTgt spid="134"/>
                                        </p:tgtEl>
                                      </p:cBhvr>
                                    </p:animEffect>
                                  </p:childTnLst>
                                </p:cTn>
                              </p:par>
                              <p:par>
                                <p:cTn id="161" presetID="10" presetClass="entr" presetSubtype="0" fill="hold" grpId="0" nodeType="withEffect">
                                  <p:stCondLst>
                                    <p:cond delay="0"/>
                                  </p:stCondLst>
                                  <p:childTnLst>
                                    <p:set>
                                      <p:cBhvr>
                                        <p:cTn id="162" dur="1" fill="hold">
                                          <p:stCondLst>
                                            <p:cond delay="0"/>
                                          </p:stCondLst>
                                        </p:cTn>
                                        <p:tgtEl>
                                          <p:spTgt spid="135"/>
                                        </p:tgtEl>
                                        <p:attrNameLst>
                                          <p:attrName>style.visibility</p:attrName>
                                        </p:attrNameLst>
                                      </p:cBhvr>
                                      <p:to>
                                        <p:strVal val="visible"/>
                                      </p:to>
                                    </p:set>
                                    <p:animEffect transition="in" filter="fade">
                                      <p:cBhvr>
                                        <p:cTn id="163" dur="500"/>
                                        <p:tgtEl>
                                          <p:spTgt spid="135"/>
                                        </p:tgtEl>
                                      </p:cBhvr>
                                    </p:animEffect>
                                  </p:childTnLst>
                                </p:cTn>
                              </p:par>
                              <p:par>
                                <p:cTn id="164" presetID="10" presetClass="entr" presetSubtype="0" fill="hold" grpId="0" nodeType="withEffect">
                                  <p:stCondLst>
                                    <p:cond delay="0"/>
                                  </p:stCondLst>
                                  <p:childTnLst>
                                    <p:set>
                                      <p:cBhvr>
                                        <p:cTn id="165" dur="1" fill="hold">
                                          <p:stCondLst>
                                            <p:cond delay="0"/>
                                          </p:stCondLst>
                                        </p:cTn>
                                        <p:tgtEl>
                                          <p:spTgt spid="136"/>
                                        </p:tgtEl>
                                        <p:attrNameLst>
                                          <p:attrName>style.visibility</p:attrName>
                                        </p:attrNameLst>
                                      </p:cBhvr>
                                      <p:to>
                                        <p:strVal val="visible"/>
                                      </p:to>
                                    </p:set>
                                    <p:animEffect transition="in" filter="fade">
                                      <p:cBhvr>
                                        <p:cTn id="166" dur="500"/>
                                        <p:tgtEl>
                                          <p:spTgt spid="136"/>
                                        </p:tgtEl>
                                      </p:cBhvr>
                                    </p:animEffect>
                                  </p:childTnLst>
                                </p:cTn>
                              </p:par>
                              <p:par>
                                <p:cTn id="167" presetID="10" presetClass="entr" presetSubtype="0" fill="hold" grpId="0" nodeType="withEffect">
                                  <p:stCondLst>
                                    <p:cond delay="0"/>
                                  </p:stCondLst>
                                  <p:childTnLst>
                                    <p:set>
                                      <p:cBhvr>
                                        <p:cTn id="168" dur="1" fill="hold">
                                          <p:stCondLst>
                                            <p:cond delay="0"/>
                                          </p:stCondLst>
                                        </p:cTn>
                                        <p:tgtEl>
                                          <p:spTgt spid="137"/>
                                        </p:tgtEl>
                                        <p:attrNameLst>
                                          <p:attrName>style.visibility</p:attrName>
                                        </p:attrNameLst>
                                      </p:cBhvr>
                                      <p:to>
                                        <p:strVal val="visible"/>
                                      </p:to>
                                    </p:set>
                                    <p:animEffect transition="in" filter="fade">
                                      <p:cBhvr>
                                        <p:cTn id="169" dur="500"/>
                                        <p:tgtEl>
                                          <p:spTgt spid="137"/>
                                        </p:tgtEl>
                                      </p:cBhvr>
                                    </p:animEffect>
                                  </p:childTnLst>
                                </p:cTn>
                              </p:par>
                              <p:par>
                                <p:cTn id="170" presetID="10" presetClass="entr" presetSubtype="0" fill="hold" grpId="0" nodeType="withEffect">
                                  <p:stCondLst>
                                    <p:cond delay="0"/>
                                  </p:stCondLst>
                                  <p:childTnLst>
                                    <p:set>
                                      <p:cBhvr>
                                        <p:cTn id="171" dur="1" fill="hold">
                                          <p:stCondLst>
                                            <p:cond delay="0"/>
                                          </p:stCondLst>
                                        </p:cTn>
                                        <p:tgtEl>
                                          <p:spTgt spid="138"/>
                                        </p:tgtEl>
                                        <p:attrNameLst>
                                          <p:attrName>style.visibility</p:attrName>
                                        </p:attrNameLst>
                                      </p:cBhvr>
                                      <p:to>
                                        <p:strVal val="visible"/>
                                      </p:to>
                                    </p:set>
                                    <p:animEffect transition="in" filter="fade">
                                      <p:cBhvr>
                                        <p:cTn id="172" dur="500"/>
                                        <p:tgtEl>
                                          <p:spTgt spid="138"/>
                                        </p:tgtEl>
                                      </p:cBhvr>
                                    </p:animEffect>
                                  </p:childTnLst>
                                </p:cTn>
                              </p:par>
                              <p:par>
                                <p:cTn id="173" presetID="10" presetClass="entr" presetSubtype="0" fill="hold" grpId="0" nodeType="withEffect">
                                  <p:stCondLst>
                                    <p:cond delay="0"/>
                                  </p:stCondLst>
                                  <p:childTnLst>
                                    <p:set>
                                      <p:cBhvr>
                                        <p:cTn id="174" dur="1" fill="hold">
                                          <p:stCondLst>
                                            <p:cond delay="0"/>
                                          </p:stCondLst>
                                        </p:cTn>
                                        <p:tgtEl>
                                          <p:spTgt spid="139"/>
                                        </p:tgtEl>
                                        <p:attrNameLst>
                                          <p:attrName>style.visibility</p:attrName>
                                        </p:attrNameLst>
                                      </p:cBhvr>
                                      <p:to>
                                        <p:strVal val="visible"/>
                                      </p:to>
                                    </p:set>
                                    <p:animEffect transition="in" filter="fade">
                                      <p:cBhvr>
                                        <p:cTn id="175" dur="500"/>
                                        <p:tgtEl>
                                          <p:spTgt spid="139"/>
                                        </p:tgtEl>
                                      </p:cBhvr>
                                    </p:animEffect>
                                  </p:childTnLst>
                                </p:cTn>
                              </p:par>
                              <p:par>
                                <p:cTn id="176" presetID="10" presetClass="entr" presetSubtype="0" fill="hold" grpId="0" nodeType="withEffect">
                                  <p:stCondLst>
                                    <p:cond delay="0"/>
                                  </p:stCondLst>
                                  <p:childTnLst>
                                    <p:set>
                                      <p:cBhvr>
                                        <p:cTn id="177" dur="1" fill="hold">
                                          <p:stCondLst>
                                            <p:cond delay="0"/>
                                          </p:stCondLst>
                                        </p:cTn>
                                        <p:tgtEl>
                                          <p:spTgt spid="140"/>
                                        </p:tgtEl>
                                        <p:attrNameLst>
                                          <p:attrName>style.visibility</p:attrName>
                                        </p:attrNameLst>
                                      </p:cBhvr>
                                      <p:to>
                                        <p:strVal val="visible"/>
                                      </p:to>
                                    </p:set>
                                    <p:animEffect transition="in" filter="fade">
                                      <p:cBhvr>
                                        <p:cTn id="178" dur="500"/>
                                        <p:tgtEl>
                                          <p:spTgt spid="140"/>
                                        </p:tgtEl>
                                      </p:cBhvr>
                                    </p:animEffect>
                                  </p:childTnLst>
                                </p:cTn>
                              </p:par>
                              <p:par>
                                <p:cTn id="179" presetID="10" presetClass="entr" presetSubtype="0" fill="hold" grpId="0" nodeType="withEffect">
                                  <p:stCondLst>
                                    <p:cond delay="0"/>
                                  </p:stCondLst>
                                  <p:childTnLst>
                                    <p:set>
                                      <p:cBhvr>
                                        <p:cTn id="180" dur="1" fill="hold">
                                          <p:stCondLst>
                                            <p:cond delay="0"/>
                                          </p:stCondLst>
                                        </p:cTn>
                                        <p:tgtEl>
                                          <p:spTgt spid="141"/>
                                        </p:tgtEl>
                                        <p:attrNameLst>
                                          <p:attrName>style.visibility</p:attrName>
                                        </p:attrNameLst>
                                      </p:cBhvr>
                                      <p:to>
                                        <p:strVal val="visible"/>
                                      </p:to>
                                    </p:set>
                                    <p:animEffect transition="in" filter="fade">
                                      <p:cBhvr>
                                        <p:cTn id="181" dur="500"/>
                                        <p:tgtEl>
                                          <p:spTgt spid="141"/>
                                        </p:tgtEl>
                                      </p:cBhvr>
                                    </p:animEffect>
                                  </p:childTnLst>
                                </p:cTn>
                              </p:par>
                              <p:par>
                                <p:cTn id="182" presetID="10" presetClass="entr" presetSubtype="0" fill="hold" grpId="0" nodeType="withEffect">
                                  <p:stCondLst>
                                    <p:cond delay="0"/>
                                  </p:stCondLst>
                                  <p:childTnLst>
                                    <p:set>
                                      <p:cBhvr>
                                        <p:cTn id="183" dur="1" fill="hold">
                                          <p:stCondLst>
                                            <p:cond delay="0"/>
                                          </p:stCondLst>
                                        </p:cTn>
                                        <p:tgtEl>
                                          <p:spTgt spid="142"/>
                                        </p:tgtEl>
                                        <p:attrNameLst>
                                          <p:attrName>style.visibility</p:attrName>
                                        </p:attrNameLst>
                                      </p:cBhvr>
                                      <p:to>
                                        <p:strVal val="visible"/>
                                      </p:to>
                                    </p:set>
                                    <p:animEffect transition="in" filter="fade">
                                      <p:cBhvr>
                                        <p:cTn id="184" dur="500"/>
                                        <p:tgtEl>
                                          <p:spTgt spid="142"/>
                                        </p:tgtEl>
                                      </p:cBhvr>
                                    </p:animEffect>
                                  </p:childTnLst>
                                </p:cTn>
                              </p:par>
                              <p:par>
                                <p:cTn id="185" presetID="10" presetClass="entr" presetSubtype="0" fill="hold" grpId="0" nodeType="withEffect">
                                  <p:stCondLst>
                                    <p:cond delay="0"/>
                                  </p:stCondLst>
                                  <p:childTnLst>
                                    <p:set>
                                      <p:cBhvr>
                                        <p:cTn id="186" dur="1" fill="hold">
                                          <p:stCondLst>
                                            <p:cond delay="0"/>
                                          </p:stCondLst>
                                        </p:cTn>
                                        <p:tgtEl>
                                          <p:spTgt spid="143"/>
                                        </p:tgtEl>
                                        <p:attrNameLst>
                                          <p:attrName>style.visibility</p:attrName>
                                        </p:attrNameLst>
                                      </p:cBhvr>
                                      <p:to>
                                        <p:strVal val="visible"/>
                                      </p:to>
                                    </p:set>
                                    <p:animEffect transition="in" filter="fade">
                                      <p:cBhvr>
                                        <p:cTn id="187" dur="500"/>
                                        <p:tgtEl>
                                          <p:spTgt spid="143"/>
                                        </p:tgtEl>
                                      </p:cBhvr>
                                    </p:animEffect>
                                  </p:childTnLst>
                                </p:cTn>
                              </p:par>
                              <p:par>
                                <p:cTn id="188" presetID="10" presetClass="entr" presetSubtype="0" fill="hold" grpId="0" nodeType="withEffect">
                                  <p:stCondLst>
                                    <p:cond delay="0"/>
                                  </p:stCondLst>
                                  <p:childTnLst>
                                    <p:set>
                                      <p:cBhvr>
                                        <p:cTn id="189" dur="1" fill="hold">
                                          <p:stCondLst>
                                            <p:cond delay="0"/>
                                          </p:stCondLst>
                                        </p:cTn>
                                        <p:tgtEl>
                                          <p:spTgt spid="144"/>
                                        </p:tgtEl>
                                        <p:attrNameLst>
                                          <p:attrName>style.visibility</p:attrName>
                                        </p:attrNameLst>
                                      </p:cBhvr>
                                      <p:to>
                                        <p:strVal val="visible"/>
                                      </p:to>
                                    </p:set>
                                    <p:animEffect transition="in" filter="fade">
                                      <p:cBhvr>
                                        <p:cTn id="190" dur="500"/>
                                        <p:tgtEl>
                                          <p:spTgt spid="144"/>
                                        </p:tgtEl>
                                      </p:cBhvr>
                                    </p:animEffect>
                                  </p:childTnLst>
                                </p:cTn>
                              </p:par>
                              <p:par>
                                <p:cTn id="191" presetID="10" presetClass="entr" presetSubtype="0" fill="hold" grpId="0" nodeType="withEffect">
                                  <p:stCondLst>
                                    <p:cond delay="0"/>
                                  </p:stCondLst>
                                  <p:childTnLst>
                                    <p:set>
                                      <p:cBhvr>
                                        <p:cTn id="192" dur="1" fill="hold">
                                          <p:stCondLst>
                                            <p:cond delay="0"/>
                                          </p:stCondLst>
                                        </p:cTn>
                                        <p:tgtEl>
                                          <p:spTgt spid="145"/>
                                        </p:tgtEl>
                                        <p:attrNameLst>
                                          <p:attrName>style.visibility</p:attrName>
                                        </p:attrNameLst>
                                      </p:cBhvr>
                                      <p:to>
                                        <p:strVal val="visible"/>
                                      </p:to>
                                    </p:set>
                                    <p:animEffect transition="in" filter="fade">
                                      <p:cBhvr>
                                        <p:cTn id="193" dur="500"/>
                                        <p:tgtEl>
                                          <p:spTgt spid="145"/>
                                        </p:tgtEl>
                                      </p:cBhvr>
                                    </p:animEffect>
                                  </p:childTnLst>
                                </p:cTn>
                              </p:par>
                              <p:par>
                                <p:cTn id="194" presetID="10" presetClass="entr" presetSubtype="0" fill="hold" grpId="0" nodeType="withEffect">
                                  <p:stCondLst>
                                    <p:cond delay="0"/>
                                  </p:stCondLst>
                                  <p:childTnLst>
                                    <p:set>
                                      <p:cBhvr>
                                        <p:cTn id="195" dur="1" fill="hold">
                                          <p:stCondLst>
                                            <p:cond delay="0"/>
                                          </p:stCondLst>
                                        </p:cTn>
                                        <p:tgtEl>
                                          <p:spTgt spid="146"/>
                                        </p:tgtEl>
                                        <p:attrNameLst>
                                          <p:attrName>style.visibility</p:attrName>
                                        </p:attrNameLst>
                                      </p:cBhvr>
                                      <p:to>
                                        <p:strVal val="visible"/>
                                      </p:to>
                                    </p:set>
                                    <p:animEffect transition="in" filter="fade">
                                      <p:cBhvr>
                                        <p:cTn id="196" dur="500"/>
                                        <p:tgtEl>
                                          <p:spTgt spid="146"/>
                                        </p:tgtEl>
                                      </p:cBhvr>
                                    </p:animEffect>
                                  </p:childTnLst>
                                </p:cTn>
                              </p:par>
                              <p:par>
                                <p:cTn id="197" presetID="10" presetClass="entr" presetSubtype="0" fill="hold" grpId="0" nodeType="withEffect">
                                  <p:stCondLst>
                                    <p:cond delay="0"/>
                                  </p:stCondLst>
                                  <p:childTnLst>
                                    <p:set>
                                      <p:cBhvr>
                                        <p:cTn id="198" dur="1" fill="hold">
                                          <p:stCondLst>
                                            <p:cond delay="0"/>
                                          </p:stCondLst>
                                        </p:cTn>
                                        <p:tgtEl>
                                          <p:spTgt spid="147"/>
                                        </p:tgtEl>
                                        <p:attrNameLst>
                                          <p:attrName>style.visibility</p:attrName>
                                        </p:attrNameLst>
                                      </p:cBhvr>
                                      <p:to>
                                        <p:strVal val="visible"/>
                                      </p:to>
                                    </p:set>
                                    <p:animEffect transition="in" filter="fade">
                                      <p:cBhvr>
                                        <p:cTn id="199" dur="500"/>
                                        <p:tgtEl>
                                          <p:spTgt spid="147"/>
                                        </p:tgtEl>
                                      </p:cBhvr>
                                    </p:animEffect>
                                  </p:childTnLst>
                                </p:cTn>
                              </p:par>
                              <p:par>
                                <p:cTn id="200" presetID="10" presetClass="entr" presetSubtype="0" fill="hold" grpId="0" nodeType="withEffect">
                                  <p:stCondLst>
                                    <p:cond delay="0"/>
                                  </p:stCondLst>
                                  <p:childTnLst>
                                    <p:set>
                                      <p:cBhvr>
                                        <p:cTn id="201" dur="1" fill="hold">
                                          <p:stCondLst>
                                            <p:cond delay="0"/>
                                          </p:stCondLst>
                                        </p:cTn>
                                        <p:tgtEl>
                                          <p:spTgt spid="148"/>
                                        </p:tgtEl>
                                        <p:attrNameLst>
                                          <p:attrName>style.visibility</p:attrName>
                                        </p:attrNameLst>
                                      </p:cBhvr>
                                      <p:to>
                                        <p:strVal val="visible"/>
                                      </p:to>
                                    </p:set>
                                    <p:animEffect transition="in" filter="fade">
                                      <p:cBhvr>
                                        <p:cTn id="202" dur="500"/>
                                        <p:tgtEl>
                                          <p:spTgt spid="148"/>
                                        </p:tgtEl>
                                      </p:cBhvr>
                                    </p:animEffect>
                                  </p:childTnLst>
                                </p:cTn>
                              </p:par>
                              <p:par>
                                <p:cTn id="203" presetID="10" presetClass="entr" presetSubtype="0" fill="hold" grpId="0" nodeType="withEffect">
                                  <p:stCondLst>
                                    <p:cond delay="0"/>
                                  </p:stCondLst>
                                  <p:childTnLst>
                                    <p:set>
                                      <p:cBhvr>
                                        <p:cTn id="204" dur="1" fill="hold">
                                          <p:stCondLst>
                                            <p:cond delay="0"/>
                                          </p:stCondLst>
                                        </p:cTn>
                                        <p:tgtEl>
                                          <p:spTgt spid="149"/>
                                        </p:tgtEl>
                                        <p:attrNameLst>
                                          <p:attrName>style.visibility</p:attrName>
                                        </p:attrNameLst>
                                      </p:cBhvr>
                                      <p:to>
                                        <p:strVal val="visible"/>
                                      </p:to>
                                    </p:set>
                                    <p:animEffect transition="in" filter="fade">
                                      <p:cBhvr>
                                        <p:cTn id="205" dur="500"/>
                                        <p:tgtEl>
                                          <p:spTgt spid="149"/>
                                        </p:tgtEl>
                                      </p:cBhvr>
                                    </p:animEffect>
                                  </p:childTnLst>
                                </p:cTn>
                              </p:par>
                              <p:par>
                                <p:cTn id="206" presetID="10" presetClass="entr" presetSubtype="0" fill="hold" grpId="0" nodeType="withEffect">
                                  <p:stCondLst>
                                    <p:cond delay="0"/>
                                  </p:stCondLst>
                                  <p:childTnLst>
                                    <p:set>
                                      <p:cBhvr>
                                        <p:cTn id="207" dur="1" fill="hold">
                                          <p:stCondLst>
                                            <p:cond delay="0"/>
                                          </p:stCondLst>
                                        </p:cTn>
                                        <p:tgtEl>
                                          <p:spTgt spid="150"/>
                                        </p:tgtEl>
                                        <p:attrNameLst>
                                          <p:attrName>style.visibility</p:attrName>
                                        </p:attrNameLst>
                                      </p:cBhvr>
                                      <p:to>
                                        <p:strVal val="visible"/>
                                      </p:to>
                                    </p:set>
                                    <p:animEffect transition="in" filter="fade">
                                      <p:cBhvr>
                                        <p:cTn id="208" dur="500"/>
                                        <p:tgtEl>
                                          <p:spTgt spid="150"/>
                                        </p:tgtEl>
                                      </p:cBhvr>
                                    </p:animEffect>
                                  </p:childTnLst>
                                </p:cTn>
                              </p:par>
                              <p:par>
                                <p:cTn id="209" presetID="10" presetClass="entr" presetSubtype="0" fill="hold" grpId="0" nodeType="withEffect">
                                  <p:stCondLst>
                                    <p:cond delay="0"/>
                                  </p:stCondLst>
                                  <p:childTnLst>
                                    <p:set>
                                      <p:cBhvr>
                                        <p:cTn id="210" dur="1" fill="hold">
                                          <p:stCondLst>
                                            <p:cond delay="0"/>
                                          </p:stCondLst>
                                        </p:cTn>
                                        <p:tgtEl>
                                          <p:spTgt spid="151"/>
                                        </p:tgtEl>
                                        <p:attrNameLst>
                                          <p:attrName>style.visibility</p:attrName>
                                        </p:attrNameLst>
                                      </p:cBhvr>
                                      <p:to>
                                        <p:strVal val="visible"/>
                                      </p:to>
                                    </p:set>
                                    <p:animEffect transition="in" filter="fade">
                                      <p:cBhvr>
                                        <p:cTn id="211" dur="500"/>
                                        <p:tgtEl>
                                          <p:spTgt spid="151"/>
                                        </p:tgtEl>
                                      </p:cBhvr>
                                    </p:animEffect>
                                  </p:childTnLst>
                                </p:cTn>
                              </p:par>
                              <p:par>
                                <p:cTn id="212" presetID="10" presetClass="entr" presetSubtype="0" fill="hold" grpId="0" nodeType="withEffect">
                                  <p:stCondLst>
                                    <p:cond delay="0"/>
                                  </p:stCondLst>
                                  <p:childTnLst>
                                    <p:set>
                                      <p:cBhvr>
                                        <p:cTn id="213" dur="1" fill="hold">
                                          <p:stCondLst>
                                            <p:cond delay="0"/>
                                          </p:stCondLst>
                                        </p:cTn>
                                        <p:tgtEl>
                                          <p:spTgt spid="152"/>
                                        </p:tgtEl>
                                        <p:attrNameLst>
                                          <p:attrName>style.visibility</p:attrName>
                                        </p:attrNameLst>
                                      </p:cBhvr>
                                      <p:to>
                                        <p:strVal val="visible"/>
                                      </p:to>
                                    </p:set>
                                    <p:animEffect transition="in" filter="fade">
                                      <p:cBhvr>
                                        <p:cTn id="214" dur="500"/>
                                        <p:tgtEl>
                                          <p:spTgt spid="152"/>
                                        </p:tgtEl>
                                      </p:cBhvr>
                                    </p:animEffect>
                                  </p:childTnLst>
                                </p:cTn>
                              </p:par>
                              <p:par>
                                <p:cTn id="215" presetID="10" presetClass="entr" presetSubtype="0" fill="hold" grpId="0" nodeType="withEffect">
                                  <p:stCondLst>
                                    <p:cond delay="0"/>
                                  </p:stCondLst>
                                  <p:childTnLst>
                                    <p:set>
                                      <p:cBhvr>
                                        <p:cTn id="216" dur="1" fill="hold">
                                          <p:stCondLst>
                                            <p:cond delay="0"/>
                                          </p:stCondLst>
                                        </p:cTn>
                                        <p:tgtEl>
                                          <p:spTgt spid="153"/>
                                        </p:tgtEl>
                                        <p:attrNameLst>
                                          <p:attrName>style.visibility</p:attrName>
                                        </p:attrNameLst>
                                      </p:cBhvr>
                                      <p:to>
                                        <p:strVal val="visible"/>
                                      </p:to>
                                    </p:set>
                                    <p:animEffect transition="in" filter="fade">
                                      <p:cBhvr>
                                        <p:cTn id="217" dur="500"/>
                                        <p:tgtEl>
                                          <p:spTgt spid="153"/>
                                        </p:tgtEl>
                                      </p:cBhvr>
                                    </p:animEffect>
                                  </p:childTnLst>
                                </p:cTn>
                              </p:par>
                              <p:par>
                                <p:cTn id="218" presetID="10" presetClass="entr" presetSubtype="0" fill="hold" grpId="0" nodeType="withEffect">
                                  <p:stCondLst>
                                    <p:cond delay="0"/>
                                  </p:stCondLst>
                                  <p:childTnLst>
                                    <p:set>
                                      <p:cBhvr>
                                        <p:cTn id="219" dur="1" fill="hold">
                                          <p:stCondLst>
                                            <p:cond delay="0"/>
                                          </p:stCondLst>
                                        </p:cTn>
                                        <p:tgtEl>
                                          <p:spTgt spid="154"/>
                                        </p:tgtEl>
                                        <p:attrNameLst>
                                          <p:attrName>style.visibility</p:attrName>
                                        </p:attrNameLst>
                                      </p:cBhvr>
                                      <p:to>
                                        <p:strVal val="visible"/>
                                      </p:to>
                                    </p:set>
                                    <p:animEffect transition="in" filter="fade">
                                      <p:cBhvr>
                                        <p:cTn id="220" dur="500"/>
                                        <p:tgtEl>
                                          <p:spTgt spid="154"/>
                                        </p:tgtEl>
                                      </p:cBhvr>
                                    </p:animEffect>
                                  </p:childTnLst>
                                </p:cTn>
                              </p:par>
                              <p:par>
                                <p:cTn id="221" presetID="10" presetClass="entr" presetSubtype="0" fill="hold" grpId="0" nodeType="withEffect">
                                  <p:stCondLst>
                                    <p:cond delay="0"/>
                                  </p:stCondLst>
                                  <p:childTnLst>
                                    <p:set>
                                      <p:cBhvr>
                                        <p:cTn id="222" dur="1" fill="hold">
                                          <p:stCondLst>
                                            <p:cond delay="0"/>
                                          </p:stCondLst>
                                        </p:cTn>
                                        <p:tgtEl>
                                          <p:spTgt spid="155"/>
                                        </p:tgtEl>
                                        <p:attrNameLst>
                                          <p:attrName>style.visibility</p:attrName>
                                        </p:attrNameLst>
                                      </p:cBhvr>
                                      <p:to>
                                        <p:strVal val="visible"/>
                                      </p:to>
                                    </p:set>
                                    <p:animEffect transition="in" filter="fade">
                                      <p:cBhvr>
                                        <p:cTn id="223" dur="500"/>
                                        <p:tgtEl>
                                          <p:spTgt spid="155"/>
                                        </p:tgtEl>
                                      </p:cBhvr>
                                    </p:animEffect>
                                  </p:childTnLst>
                                </p:cTn>
                              </p:par>
                              <p:par>
                                <p:cTn id="224" presetID="10" presetClass="entr" presetSubtype="0" fill="hold" grpId="0" nodeType="withEffect">
                                  <p:stCondLst>
                                    <p:cond delay="0"/>
                                  </p:stCondLst>
                                  <p:childTnLst>
                                    <p:set>
                                      <p:cBhvr>
                                        <p:cTn id="225" dur="1" fill="hold">
                                          <p:stCondLst>
                                            <p:cond delay="0"/>
                                          </p:stCondLst>
                                        </p:cTn>
                                        <p:tgtEl>
                                          <p:spTgt spid="156"/>
                                        </p:tgtEl>
                                        <p:attrNameLst>
                                          <p:attrName>style.visibility</p:attrName>
                                        </p:attrNameLst>
                                      </p:cBhvr>
                                      <p:to>
                                        <p:strVal val="visible"/>
                                      </p:to>
                                    </p:set>
                                    <p:animEffect transition="in" filter="fade">
                                      <p:cBhvr>
                                        <p:cTn id="226" dur="500"/>
                                        <p:tgtEl>
                                          <p:spTgt spid="156"/>
                                        </p:tgtEl>
                                      </p:cBhvr>
                                    </p:animEffect>
                                  </p:childTnLst>
                                </p:cTn>
                              </p:par>
                              <p:par>
                                <p:cTn id="227" presetID="10" presetClass="entr" presetSubtype="0" fill="hold" grpId="0" nodeType="withEffect">
                                  <p:stCondLst>
                                    <p:cond delay="0"/>
                                  </p:stCondLst>
                                  <p:childTnLst>
                                    <p:set>
                                      <p:cBhvr>
                                        <p:cTn id="228" dur="1" fill="hold">
                                          <p:stCondLst>
                                            <p:cond delay="0"/>
                                          </p:stCondLst>
                                        </p:cTn>
                                        <p:tgtEl>
                                          <p:spTgt spid="157"/>
                                        </p:tgtEl>
                                        <p:attrNameLst>
                                          <p:attrName>style.visibility</p:attrName>
                                        </p:attrNameLst>
                                      </p:cBhvr>
                                      <p:to>
                                        <p:strVal val="visible"/>
                                      </p:to>
                                    </p:set>
                                    <p:animEffect transition="in" filter="fade">
                                      <p:cBhvr>
                                        <p:cTn id="229" dur="500"/>
                                        <p:tgtEl>
                                          <p:spTgt spid="157"/>
                                        </p:tgtEl>
                                      </p:cBhvr>
                                    </p:animEffect>
                                  </p:childTnLst>
                                </p:cTn>
                              </p:par>
                              <p:par>
                                <p:cTn id="230" presetID="10" presetClass="entr" presetSubtype="0" fill="hold" grpId="0" nodeType="withEffect">
                                  <p:stCondLst>
                                    <p:cond delay="0"/>
                                  </p:stCondLst>
                                  <p:childTnLst>
                                    <p:set>
                                      <p:cBhvr>
                                        <p:cTn id="231" dur="1" fill="hold">
                                          <p:stCondLst>
                                            <p:cond delay="0"/>
                                          </p:stCondLst>
                                        </p:cTn>
                                        <p:tgtEl>
                                          <p:spTgt spid="158"/>
                                        </p:tgtEl>
                                        <p:attrNameLst>
                                          <p:attrName>style.visibility</p:attrName>
                                        </p:attrNameLst>
                                      </p:cBhvr>
                                      <p:to>
                                        <p:strVal val="visible"/>
                                      </p:to>
                                    </p:set>
                                    <p:animEffect transition="in" filter="fade">
                                      <p:cBhvr>
                                        <p:cTn id="232" dur="500"/>
                                        <p:tgtEl>
                                          <p:spTgt spid="158"/>
                                        </p:tgtEl>
                                      </p:cBhvr>
                                    </p:animEffect>
                                  </p:childTnLst>
                                </p:cTn>
                              </p:par>
                              <p:par>
                                <p:cTn id="233" presetID="10" presetClass="entr" presetSubtype="0" fill="hold" grpId="0" nodeType="withEffect">
                                  <p:stCondLst>
                                    <p:cond delay="0"/>
                                  </p:stCondLst>
                                  <p:childTnLst>
                                    <p:set>
                                      <p:cBhvr>
                                        <p:cTn id="234" dur="1" fill="hold">
                                          <p:stCondLst>
                                            <p:cond delay="0"/>
                                          </p:stCondLst>
                                        </p:cTn>
                                        <p:tgtEl>
                                          <p:spTgt spid="159"/>
                                        </p:tgtEl>
                                        <p:attrNameLst>
                                          <p:attrName>style.visibility</p:attrName>
                                        </p:attrNameLst>
                                      </p:cBhvr>
                                      <p:to>
                                        <p:strVal val="visible"/>
                                      </p:to>
                                    </p:set>
                                    <p:animEffect transition="in" filter="fade">
                                      <p:cBhvr>
                                        <p:cTn id="235" dur="500"/>
                                        <p:tgtEl>
                                          <p:spTgt spid="159"/>
                                        </p:tgtEl>
                                      </p:cBhvr>
                                    </p:animEffect>
                                  </p:childTnLst>
                                </p:cTn>
                              </p:par>
                              <p:par>
                                <p:cTn id="236" presetID="10" presetClass="entr" presetSubtype="0" fill="hold" grpId="0" nodeType="withEffect">
                                  <p:stCondLst>
                                    <p:cond delay="0"/>
                                  </p:stCondLst>
                                  <p:childTnLst>
                                    <p:set>
                                      <p:cBhvr>
                                        <p:cTn id="237" dur="1" fill="hold">
                                          <p:stCondLst>
                                            <p:cond delay="0"/>
                                          </p:stCondLst>
                                        </p:cTn>
                                        <p:tgtEl>
                                          <p:spTgt spid="160"/>
                                        </p:tgtEl>
                                        <p:attrNameLst>
                                          <p:attrName>style.visibility</p:attrName>
                                        </p:attrNameLst>
                                      </p:cBhvr>
                                      <p:to>
                                        <p:strVal val="visible"/>
                                      </p:to>
                                    </p:set>
                                    <p:animEffect transition="in" filter="fade">
                                      <p:cBhvr>
                                        <p:cTn id="238" dur="500"/>
                                        <p:tgtEl>
                                          <p:spTgt spid="160"/>
                                        </p:tgtEl>
                                      </p:cBhvr>
                                    </p:animEffect>
                                  </p:childTnLst>
                                </p:cTn>
                              </p:par>
                              <p:par>
                                <p:cTn id="239" presetID="10" presetClass="entr" presetSubtype="0" fill="hold" grpId="0" nodeType="withEffect">
                                  <p:stCondLst>
                                    <p:cond delay="0"/>
                                  </p:stCondLst>
                                  <p:childTnLst>
                                    <p:set>
                                      <p:cBhvr>
                                        <p:cTn id="240" dur="1" fill="hold">
                                          <p:stCondLst>
                                            <p:cond delay="0"/>
                                          </p:stCondLst>
                                        </p:cTn>
                                        <p:tgtEl>
                                          <p:spTgt spid="161"/>
                                        </p:tgtEl>
                                        <p:attrNameLst>
                                          <p:attrName>style.visibility</p:attrName>
                                        </p:attrNameLst>
                                      </p:cBhvr>
                                      <p:to>
                                        <p:strVal val="visible"/>
                                      </p:to>
                                    </p:set>
                                    <p:animEffect transition="in" filter="fade">
                                      <p:cBhvr>
                                        <p:cTn id="241" dur="500"/>
                                        <p:tgtEl>
                                          <p:spTgt spid="161"/>
                                        </p:tgtEl>
                                      </p:cBhvr>
                                    </p:animEffect>
                                  </p:childTnLst>
                                </p:cTn>
                              </p:par>
                              <p:par>
                                <p:cTn id="242" presetID="10" presetClass="entr" presetSubtype="0" fill="hold" grpId="0" nodeType="withEffect">
                                  <p:stCondLst>
                                    <p:cond delay="0"/>
                                  </p:stCondLst>
                                  <p:childTnLst>
                                    <p:set>
                                      <p:cBhvr>
                                        <p:cTn id="243" dur="1" fill="hold">
                                          <p:stCondLst>
                                            <p:cond delay="0"/>
                                          </p:stCondLst>
                                        </p:cTn>
                                        <p:tgtEl>
                                          <p:spTgt spid="162"/>
                                        </p:tgtEl>
                                        <p:attrNameLst>
                                          <p:attrName>style.visibility</p:attrName>
                                        </p:attrNameLst>
                                      </p:cBhvr>
                                      <p:to>
                                        <p:strVal val="visible"/>
                                      </p:to>
                                    </p:set>
                                    <p:animEffect transition="in" filter="fade">
                                      <p:cBhvr>
                                        <p:cTn id="244" dur="500"/>
                                        <p:tgtEl>
                                          <p:spTgt spid="162"/>
                                        </p:tgtEl>
                                      </p:cBhvr>
                                    </p:animEffect>
                                  </p:childTnLst>
                                </p:cTn>
                              </p:par>
                              <p:par>
                                <p:cTn id="245" presetID="10" presetClass="entr" presetSubtype="0" fill="hold" grpId="0" nodeType="withEffect">
                                  <p:stCondLst>
                                    <p:cond delay="0"/>
                                  </p:stCondLst>
                                  <p:childTnLst>
                                    <p:set>
                                      <p:cBhvr>
                                        <p:cTn id="246" dur="1" fill="hold">
                                          <p:stCondLst>
                                            <p:cond delay="0"/>
                                          </p:stCondLst>
                                        </p:cTn>
                                        <p:tgtEl>
                                          <p:spTgt spid="163"/>
                                        </p:tgtEl>
                                        <p:attrNameLst>
                                          <p:attrName>style.visibility</p:attrName>
                                        </p:attrNameLst>
                                      </p:cBhvr>
                                      <p:to>
                                        <p:strVal val="visible"/>
                                      </p:to>
                                    </p:set>
                                    <p:animEffect transition="in" filter="fade">
                                      <p:cBhvr>
                                        <p:cTn id="247" dur="500"/>
                                        <p:tgtEl>
                                          <p:spTgt spid="163"/>
                                        </p:tgtEl>
                                      </p:cBhvr>
                                    </p:animEffect>
                                  </p:childTnLst>
                                </p:cTn>
                              </p:par>
                              <p:par>
                                <p:cTn id="248" presetID="10" presetClass="entr" presetSubtype="0" fill="hold" grpId="0" nodeType="withEffect">
                                  <p:stCondLst>
                                    <p:cond delay="0"/>
                                  </p:stCondLst>
                                  <p:childTnLst>
                                    <p:set>
                                      <p:cBhvr>
                                        <p:cTn id="249" dur="1" fill="hold">
                                          <p:stCondLst>
                                            <p:cond delay="0"/>
                                          </p:stCondLst>
                                        </p:cTn>
                                        <p:tgtEl>
                                          <p:spTgt spid="164"/>
                                        </p:tgtEl>
                                        <p:attrNameLst>
                                          <p:attrName>style.visibility</p:attrName>
                                        </p:attrNameLst>
                                      </p:cBhvr>
                                      <p:to>
                                        <p:strVal val="visible"/>
                                      </p:to>
                                    </p:set>
                                    <p:animEffect transition="in" filter="fade">
                                      <p:cBhvr>
                                        <p:cTn id="250" dur="500"/>
                                        <p:tgtEl>
                                          <p:spTgt spid="164"/>
                                        </p:tgtEl>
                                      </p:cBhvr>
                                    </p:animEffect>
                                  </p:childTnLst>
                                </p:cTn>
                              </p:par>
                              <p:par>
                                <p:cTn id="251" presetID="10" presetClass="entr" presetSubtype="0" fill="hold" grpId="0" nodeType="withEffect">
                                  <p:stCondLst>
                                    <p:cond delay="0"/>
                                  </p:stCondLst>
                                  <p:childTnLst>
                                    <p:set>
                                      <p:cBhvr>
                                        <p:cTn id="252" dur="1" fill="hold">
                                          <p:stCondLst>
                                            <p:cond delay="0"/>
                                          </p:stCondLst>
                                        </p:cTn>
                                        <p:tgtEl>
                                          <p:spTgt spid="165"/>
                                        </p:tgtEl>
                                        <p:attrNameLst>
                                          <p:attrName>style.visibility</p:attrName>
                                        </p:attrNameLst>
                                      </p:cBhvr>
                                      <p:to>
                                        <p:strVal val="visible"/>
                                      </p:to>
                                    </p:set>
                                    <p:animEffect transition="in" filter="fade">
                                      <p:cBhvr>
                                        <p:cTn id="253" dur="500"/>
                                        <p:tgtEl>
                                          <p:spTgt spid="165"/>
                                        </p:tgtEl>
                                      </p:cBhvr>
                                    </p:animEffect>
                                  </p:childTnLst>
                                </p:cTn>
                              </p:par>
                              <p:par>
                                <p:cTn id="254" presetID="10" presetClass="entr" presetSubtype="0" fill="hold" grpId="0" nodeType="withEffect">
                                  <p:stCondLst>
                                    <p:cond delay="0"/>
                                  </p:stCondLst>
                                  <p:childTnLst>
                                    <p:set>
                                      <p:cBhvr>
                                        <p:cTn id="255" dur="1" fill="hold">
                                          <p:stCondLst>
                                            <p:cond delay="0"/>
                                          </p:stCondLst>
                                        </p:cTn>
                                        <p:tgtEl>
                                          <p:spTgt spid="166"/>
                                        </p:tgtEl>
                                        <p:attrNameLst>
                                          <p:attrName>style.visibility</p:attrName>
                                        </p:attrNameLst>
                                      </p:cBhvr>
                                      <p:to>
                                        <p:strVal val="visible"/>
                                      </p:to>
                                    </p:set>
                                    <p:animEffect transition="in" filter="fade">
                                      <p:cBhvr>
                                        <p:cTn id="256" dur="500"/>
                                        <p:tgtEl>
                                          <p:spTgt spid="166"/>
                                        </p:tgtEl>
                                      </p:cBhvr>
                                    </p:animEffect>
                                  </p:childTnLst>
                                </p:cTn>
                              </p:par>
                              <p:par>
                                <p:cTn id="257" presetID="10" presetClass="entr" presetSubtype="0" fill="hold" grpId="0" nodeType="withEffect">
                                  <p:stCondLst>
                                    <p:cond delay="0"/>
                                  </p:stCondLst>
                                  <p:childTnLst>
                                    <p:set>
                                      <p:cBhvr>
                                        <p:cTn id="258" dur="1" fill="hold">
                                          <p:stCondLst>
                                            <p:cond delay="0"/>
                                          </p:stCondLst>
                                        </p:cTn>
                                        <p:tgtEl>
                                          <p:spTgt spid="167"/>
                                        </p:tgtEl>
                                        <p:attrNameLst>
                                          <p:attrName>style.visibility</p:attrName>
                                        </p:attrNameLst>
                                      </p:cBhvr>
                                      <p:to>
                                        <p:strVal val="visible"/>
                                      </p:to>
                                    </p:set>
                                    <p:animEffect transition="in" filter="fade">
                                      <p:cBhvr>
                                        <p:cTn id="259" dur="500"/>
                                        <p:tgtEl>
                                          <p:spTgt spid="167"/>
                                        </p:tgtEl>
                                      </p:cBhvr>
                                    </p:animEffect>
                                  </p:childTnLst>
                                </p:cTn>
                              </p:par>
                              <p:par>
                                <p:cTn id="260" presetID="10" presetClass="entr" presetSubtype="0" fill="hold" grpId="0" nodeType="withEffect">
                                  <p:stCondLst>
                                    <p:cond delay="0"/>
                                  </p:stCondLst>
                                  <p:childTnLst>
                                    <p:set>
                                      <p:cBhvr>
                                        <p:cTn id="261" dur="1" fill="hold">
                                          <p:stCondLst>
                                            <p:cond delay="0"/>
                                          </p:stCondLst>
                                        </p:cTn>
                                        <p:tgtEl>
                                          <p:spTgt spid="168"/>
                                        </p:tgtEl>
                                        <p:attrNameLst>
                                          <p:attrName>style.visibility</p:attrName>
                                        </p:attrNameLst>
                                      </p:cBhvr>
                                      <p:to>
                                        <p:strVal val="visible"/>
                                      </p:to>
                                    </p:set>
                                    <p:animEffect transition="in" filter="fade">
                                      <p:cBhvr>
                                        <p:cTn id="262" dur="500"/>
                                        <p:tgtEl>
                                          <p:spTgt spid="168"/>
                                        </p:tgtEl>
                                      </p:cBhvr>
                                    </p:animEffect>
                                  </p:childTnLst>
                                </p:cTn>
                              </p:par>
                              <p:par>
                                <p:cTn id="263" presetID="10" presetClass="entr" presetSubtype="0" fill="hold" grpId="0" nodeType="withEffect">
                                  <p:stCondLst>
                                    <p:cond delay="0"/>
                                  </p:stCondLst>
                                  <p:childTnLst>
                                    <p:set>
                                      <p:cBhvr>
                                        <p:cTn id="264" dur="1" fill="hold">
                                          <p:stCondLst>
                                            <p:cond delay="0"/>
                                          </p:stCondLst>
                                        </p:cTn>
                                        <p:tgtEl>
                                          <p:spTgt spid="169"/>
                                        </p:tgtEl>
                                        <p:attrNameLst>
                                          <p:attrName>style.visibility</p:attrName>
                                        </p:attrNameLst>
                                      </p:cBhvr>
                                      <p:to>
                                        <p:strVal val="visible"/>
                                      </p:to>
                                    </p:set>
                                    <p:animEffect transition="in" filter="fade">
                                      <p:cBhvr>
                                        <p:cTn id="265" dur="500"/>
                                        <p:tgtEl>
                                          <p:spTgt spid="169"/>
                                        </p:tgtEl>
                                      </p:cBhvr>
                                    </p:animEffect>
                                  </p:childTnLst>
                                </p:cTn>
                              </p:par>
                              <p:par>
                                <p:cTn id="266" presetID="10" presetClass="entr" presetSubtype="0" fill="hold" grpId="0" nodeType="withEffect">
                                  <p:stCondLst>
                                    <p:cond delay="0"/>
                                  </p:stCondLst>
                                  <p:childTnLst>
                                    <p:set>
                                      <p:cBhvr>
                                        <p:cTn id="267" dur="1" fill="hold">
                                          <p:stCondLst>
                                            <p:cond delay="0"/>
                                          </p:stCondLst>
                                        </p:cTn>
                                        <p:tgtEl>
                                          <p:spTgt spid="170"/>
                                        </p:tgtEl>
                                        <p:attrNameLst>
                                          <p:attrName>style.visibility</p:attrName>
                                        </p:attrNameLst>
                                      </p:cBhvr>
                                      <p:to>
                                        <p:strVal val="visible"/>
                                      </p:to>
                                    </p:set>
                                    <p:animEffect transition="in" filter="fade">
                                      <p:cBhvr>
                                        <p:cTn id="268" dur="500"/>
                                        <p:tgtEl>
                                          <p:spTgt spid="170"/>
                                        </p:tgtEl>
                                      </p:cBhvr>
                                    </p:animEffect>
                                  </p:childTnLst>
                                </p:cTn>
                              </p:par>
                              <p:par>
                                <p:cTn id="269" presetID="10" presetClass="entr" presetSubtype="0" fill="hold" nodeType="withEffect">
                                  <p:stCondLst>
                                    <p:cond delay="0"/>
                                  </p:stCondLst>
                                  <p:childTnLst>
                                    <p:set>
                                      <p:cBhvr>
                                        <p:cTn id="270" dur="1" fill="hold">
                                          <p:stCondLst>
                                            <p:cond delay="0"/>
                                          </p:stCondLst>
                                        </p:cTn>
                                        <p:tgtEl>
                                          <p:spTgt spid="173"/>
                                        </p:tgtEl>
                                        <p:attrNameLst>
                                          <p:attrName>style.visibility</p:attrName>
                                        </p:attrNameLst>
                                      </p:cBhvr>
                                      <p:to>
                                        <p:strVal val="visible"/>
                                      </p:to>
                                    </p:set>
                                    <p:animEffect transition="in" filter="fade">
                                      <p:cBhvr>
                                        <p:cTn id="271" dur="500"/>
                                        <p:tgtEl>
                                          <p:spTgt spid="173"/>
                                        </p:tgtEl>
                                      </p:cBhvr>
                                    </p:animEffect>
                                  </p:childTnLst>
                                </p:cTn>
                              </p:par>
                              <p:par>
                                <p:cTn id="272" presetID="10" presetClass="entr" presetSubtype="0" fill="hold" nodeType="withEffect">
                                  <p:stCondLst>
                                    <p:cond delay="0"/>
                                  </p:stCondLst>
                                  <p:childTnLst>
                                    <p:set>
                                      <p:cBhvr>
                                        <p:cTn id="273" dur="1" fill="hold">
                                          <p:stCondLst>
                                            <p:cond delay="0"/>
                                          </p:stCondLst>
                                        </p:cTn>
                                        <p:tgtEl>
                                          <p:spTgt spid="174"/>
                                        </p:tgtEl>
                                        <p:attrNameLst>
                                          <p:attrName>style.visibility</p:attrName>
                                        </p:attrNameLst>
                                      </p:cBhvr>
                                      <p:to>
                                        <p:strVal val="visible"/>
                                      </p:to>
                                    </p:set>
                                    <p:animEffect transition="in" filter="fade">
                                      <p:cBhvr>
                                        <p:cTn id="274" dur="500"/>
                                        <p:tgtEl>
                                          <p:spTgt spid="174"/>
                                        </p:tgtEl>
                                      </p:cBhvr>
                                    </p:animEffect>
                                  </p:childTnLst>
                                </p:cTn>
                              </p:par>
                              <p:par>
                                <p:cTn id="275" presetID="10" presetClass="entr" presetSubtype="0" fill="hold" nodeType="withEffect">
                                  <p:stCondLst>
                                    <p:cond delay="0"/>
                                  </p:stCondLst>
                                  <p:childTnLst>
                                    <p:set>
                                      <p:cBhvr>
                                        <p:cTn id="276" dur="1" fill="hold">
                                          <p:stCondLst>
                                            <p:cond delay="0"/>
                                          </p:stCondLst>
                                        </p:cTn>
                                        <p:tgtEl>
                                          <p:spTgt spid="175"/>
                                        </p:tgtEl>
                                        <p:attrNameLst>
                                          <p:attrName>style.visibility</p:attrName>
                                        </p:attrNameLst>
                                      </p:cBhvr>
                                      <p:to>
                                        <p:strVal val="visible"/>
                                      </p:to>
                                    </p:set>
                                    <p:animEffect transition="in" filter="fade">
                                      <p:cBhvr>
                                        <p:cTn id="277" dur="500"/>
                                        <p:tgtEl>
                                          <p:spTgt spid="175"/>
                                        </p:tgtEl>
                                      </p:cBhvr>
                                    </p:animEffect>
                                  </p:childTnLst>
                                </p:cTn>
                              </p:par>
                              <p:par>
                                <p:cTn id="278" presetID="10" presetClass="entr" presetSubtype="0" fill="hold" nodeType="withEffect">
                                  <p:stCondLst>
                                    <p:cond delay="0"/>
                                  </p:stCondLst>
                                  <p:childTnLst>
                                    <p:set>
                                      <p:cBhvr>
                                        <p:cTn id="279" dur="1" fill="hold">
                                          <p:stCondLst>
                                            <p:cond delay="0"/>
                                          </p:stCondLst>
                                        </p:cTn>
                                        <p:tgtEl>
                                          <p:spTgt spid="178"/>
                                        </p:tgtEl>
                                        <p:attrNameLst>
                                          <p:attrName>style.visibility</p:attrName>
                                        </p:attrNameLst>
                                      </p:cBhvr>
                                      <p:to>
                                        <p:strVal val="visible"/>
                                      </p:to>
                                    </p:set>
                                    <p:animEffect transition="in" filter="fade">
                                      <p:cBhvr>
                                        <p:cTn id="280" dur="500"/>
                                        <p:tgtEl>
                                          <p:spTgt spid="178"/>
                                        </p:tgtEl>
                                      </p:cBhvr>
                                    </p:animEffect>
                                  </p:childTnLst>
                                </p:cTn>
                              </p:par>
                              <p:par>
                                <p:cTn id="281" presetID="10" presetClass="entr" presetSubtype="0" fill="hold" grpId="0" nodeType="withEffect">
                                  <p:stCondLst>
                                    <p:cond delay="0"/>
                                  </p:stCondLst>
                                  <p:childTnLst>
                                    <p:set>
                                      <p:cBhvr>
                                        <p:cTn id="282" dur="1" fill="hold">
                                          <p:stCondLst>
                                            <p:cond delay="0"/>
                                          </p:stCondLst>
                                        </p:cTn>
                                        <p:tgtEl>
                                          <p:spTgt spid="179"/>
                                        </p:tgtEl>
                                        <p:attrNameLst>
                                          <p:attrName>style.visibility</p:attrName>
                                        </p:attrNameLst>
                                      </p:cBhvr>
                                      <p:to>
                                        <p:strVal val="visible"/>
                                      </p:to>
                                    </p:set>
                                    <p:animEffect transition="in" filter="fade">
                                      <p:cBhvr>
                                        <p:cTn id="283" dur="500"/>
                                        <p:tgtEl>
                                          <p:spTgt spid="179"/>
                                        </p:tgtEl>
                                      </p:cBhvr>
                                    </p:animEffect>
                                  </p:childTnLst>
                                </p:cTn>
                              </p:par>
                              <p:par>
                                <p:cTn id="284" presetID="10" presetClass="entr" presetSubtype="0" fill="hold" grpId="0" nodeType="withEffect">
                                  <p:stCondLst>
                                    <p:cond delay="0"/>
                                  </p:stCondLst>
                                  <p:childTnLst>
                                    <p:set>
                                      <p:cBhvr>
                                        <p:cTn id="285" dur="1" fill="hold">
                                          <p:stCondLst>
                                            <p:cond delay="0"/>
                                          </p:stCondLst>
                                        </p:cTn>
                                        <p:tgtEl>
                                          <p:spTgt spid="180"/>
                                        </p:tgtEl>
                                        <p:attrNameLst>
                                          <p:attrName>style.visibility</p:attrName>
                                        </p:attrNameLst>
                                      </p:cBhvr>
                                      <p:to>
                                        <p:strVal val="visible"/>
                                      </p:to>
                                    </p:set>
                                    <p:animEffect transition="in" filter="fade">
                                      <p:cBhvr>
                                        <p:cTn id="286" dur="500"/>
                                        <p:tgtEl>
                                          <p:spTgt spid="180"/>
                                        </p:tgtEl>
                                      </p:cBhvr>
                                    </p:animEffect>
                                  </p:childTnLst>
                                </p:cTn>
                              </p:par>
                              <p:par>
                                <p:cTn id="287" presetID="10" presetClass="entr" presetSubtype="0" fill="hold" grpId="0" nodeType="withEffect">
                                  <p:stCondLst>
                                    <p:cond delay="0"/>
                                  </p:stCondLst>
                                  <p:childTnLst>
                                    <p:set>
                                      <p:cBhvr>
                                        <p:cTn id="288" dur="1" fill="hold">
                                          <p:stCondLst>
                                            <p:cond delay="0"/>
                                          </p:stCondLst>
                                        </p:cTn>
                                        <p:tgtEl>
                                          <p:spTgt spid="181"/>
                                        </p:tgtEl>
                                        <p:attrNameLst>
                                          <p:attrName>style.visibility</p:attrName>
                                        </p:attrNameLst>
                                      </p:cBhvr>
                                      <p:to>
                                        <p:strVal val="visible"/>
                                      </p:to>
                                    </p:set>
                                    <p:animEffect transition="in" filter="fade">
                                      <p:cBhvr>
                                        <p:cTn id="289" dur="500"/>
                                        <p:tgtEl>
                                          <p:spTgt spid="181"/>
                                        </p:tgtEl>
                                      </p:cBhvr>
                                    </p:animEffect>
                                  </p:childTnLst>
                                </p:cTn>
                              </p:par>
                            </p:childTnLst>
                          </p:cTn>
                        </p:par>
                      </p:childTnLst>
                    </p:cTn>
                  </p:par>
                  <p:par>
                    <p:cTn id="290" fill="hold">
                      <p:stCondLst>
                        <p:cond delay="indefinite"/>
                      </p:stCondLst>
                      <p:childTnLst>
                        <p:par>
                          <p:cTn id="291" fill="hold">
                            <p:stCondLst>
                              <p:cond delay="0"/>
                            </p:stCondLst>
                            <p:childTnLst>
                              <p:par>
                                <p:cTn id="292" presetID="10" presetClass="entr" presetSubtype="0" fill="hold" nodeType="clickEffect">
                                  <p:stCondLst>
                                    <p:cond delay="0"/>
                                  </p:stCondLst>
                                  <p:childTnLst>
                                    <p:set>
                                      <p:cBhvr>
                                        <p:cTn id="293" dur="1" fill="hold">
                                          <p:stCondLst>
                                            <p:cond delay="0"/>
                                          </p:stCondLst>
                                        </p:cTn>
                                        <p:tgtEl>
                                          <p:spTgt spid="193"/>
                                        </p:tgtEl>
                                        <p:attrNameLst>
                                          <p:attrName>style.visibility</p:attrName>
                                        </p:attrNameLst>
                                      </p:cBhvr>
                                      <p:to>
                                        <p:strVal val="visible"/>
                                      </p:to>
                                    </p:set>
                                    <p:animEffect transition="in" filter="fade">
                                      <p:cBhvr>
                                        <p:cTn id="294" dur="500"/>
                                        <p:tgtEl>
                                          <p:spTgt spid="193"/>
                                        </p:tgtEl>
                                      </p:cBhvr>
                                    </p:animEffect>
                                  </p:childTnLst>
                                </p:cTn>
                              </p:par>
                            </p:childTnLst>
                          </p:cTn>
                        </p:par>
                      </p:childTnLst>
                    </p:cTn>
                  </p:par>
                  <p:par>
                    <p:cTn id="295" fill="hold">
                      <p:stCondLst>
                        <p:cond delay="indefinite"/>
                      </p:stCondLst>
                      <p:childTnLst>
                        <p:par>
                          <p:cTn id="296" fill="hold">
                            <p:stCondLst>
                              <p:cond delay="0"/>
                            </p:stCondLst>
                            <p:childTnLst>
                              <p:par>
                                <p:cTn id="297" presetID="10" presetClass="entr" presetSubtype="0" fill="hold" nodeType="clickEffect">
                                  <p:stCondLst>
                                    <p:cond delay="0"/>
                                  </p:stCondLst>
                                  <p:childTnLst>
                                    <p:set>
                                      <p:cBhvr>
                                        <p:cTn id="298" dur="1" fill="hold">
                                          <p:stCondLst>
                                            <p:cond delay="0"/>
                                          </p:stCondLst>
                                        </p:cTn>
                                        <p:tgtEl>
                                          <p:spTgt spid="194"/>
                                        </p:tgtEl>
                                        <p:attrNameLst>
                                          <p:attrName>style.visibility</p:attrName>
                                        </p:attrNameLst>
                                      </p:cBhvr>
                                      <p:to>
                                        <p:strVal val="visible"/>
                                      </p:to>
                                    </p:set>
                                    <p:animEffect transition="in" filter="fade">
                                      <p:cBhvr>
                                        <p:cTn id="299" dur="500"/>
                                        <p:tgtEl>
                                          <p:spTgt spid="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9" grpId="0" animBg="1"/>
      <p:bldP spid="100" grpId="0"/>
      <p:bldP spid="101" grpId="0"/>
      <p:bldP spid="102" grpId="0"/>
      <p:bldP spid="103" grpId="0"/>
      <p:bldP spid="104" grpId="0"/>
      <p:bldP spid="105" grpId="0"/>
      <p:bldP spid="106" grpId="0"/>
      <p:bldP spid="107" grpId="0"/>
      <p:bldP spid="108" grpId="0"/>
      <p:bldP spid="109" grpId="0"/>
      <p:bldP spid="110" grpId="0"/>
      <p:bldP spid="111" grpId="0"/>
      <p:bldP spid="112" grpId="0"/>
      <p:bldP spid="113" grpId="0"/>
      <p:bldP spid="114" grpId="0"/>
      <p:bldP spid="115" grpId="0"/>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p:bldP spid="146" grpId="0"/>
      <p:bldP spid="147" grpId="0"/>
      <p:bldP spid="148" grpId="0"/>
      <p:bldP spid="149" grpId="0"/>
      <p:bldP spid="150" grpId="0"/>
      <p:bldP spid="151" grpId="0"/>
      <p:bldP spid="152" grpId="0"/>
      <p:bldP spid="153" grpId="0"/>
      <p:bldP spid="154" grpId="0"/>
      <p:bldP spid="155" grpId="0"/>
      <p:bldP spid="156" grpId="0"/>
      <p:bldP spid="157" grpId="0"/>
      <p:bldP spid="158" grpId="0"/>
      <p:bldP spid="159" grpId="0"/>
      <p:bldP spid="160" grpId="0"/>
      <p:bldP spid="161" grpId="0" animBg="1"/>
      <p:bldP spid="162" grpId="0" animBg="1"/>
      <p:bldP spid="163" grpId="0"/>
      <p:bldP spid="164" grpId="0"/>
      <p:bldP spid="165" grpId="0"/>
      <p:bldP spid="166" grpId="0"/>
      <p:bldP spid="167" grpId="0"/>
      <p:bldP spid="168" grpId="0" animBg="1"/>
      <p:bldP spid="169" grpId="0" animBg="1"/>
      <p:bldP spid="170" grpId="0" animBg="1"/>
      <p:bldP spid="179" grpId="0"/>
      <p:bldP spid="180" grpId="0" animBg="1"/>
      <p:bldP spid="181"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4337465" y="995672"/>
            <a:ext cx="4562952" cy="29510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3"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 </a:t>
            </a:r>
            <a:r>
              <a:rPr lang="en-US" altLang="zh-CN" sz="2000" b="1" dirty="0">
                <a:solidFill>
                  <a:schemeClr val="bg1"/>
                </a:solidFill>
                <a:latin typeface="微软雅黑" pitchFamily="34" charset="-122"/>
                <a:ea typeface="微软雅黑" pitchFamily="34" charset="-122"/>
              </a:rPr>
              <a:t>DHT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环</a:t>
            </a:r>
          </a:p>
        </p:txBody>
      </p:sp>
      <p:sp>
        <p:nvSpPr>
          <p:cNvPr id="9" name="Text Box 81"/>
          <p:cNvSpPr txBox="1">
            <a:spLocks noChangeArrowheads="1"/>
          </p:cNvSpPr>
          <p:nvPr/>
        </p:nvSpPr>
        <p:spPr bwMode="auto">
          <a:xfrm>
            <a:off x="7690474" y="1395512"/>
            <a:ext cx="5580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图例：</a:t>
            </a:r>
          </a:p>
        </p:txBody>
      </p:sp>
      <p:sp>
        <p:nvSpPr>
          <p:cNvPr id="11" name="Text Box 47"/>
          <p:cNvSpPr txBox="1">
            <a:spLocks noChangeArrowheads="1"/>
          </p:cNvSpPr>
          <p:nvPr/>
        </p:nvSpPr>
        <p:spPr bwMode="auto">
          <a:xfrm>
            <a:off x="8390803" y="1395512"/>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NID</a:t>
            </a:r>
          </a:p>
        </p:txBody>
      </p:sp>
      <p:sp>
        <p:nvSpPr>
          <p:cNvPr id="12" name="Oval 53"/>
          <p:cNvSpPr>
            <a:spLocks noChangeArrowheads="1"/>
          </p:cNvSpPr>
          <p:nvPr/>
        </p:nvSpPr>
        <p:spPr bwMode="auto">
          <a:xfrm>
            <a:off x="8195305" y="1467886"/>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 name="Text Box 71"/>
          <p:cNvSpPr txBox="1">
            <a:spLocks noChangeArrowheads="1"/>
          </p:cNvSpPr>
          <p:nvPr/>
        </p:nvSpPr>
        <p:spPr bwMode="auto">
          <a:xfrm>
            <a:off x="8177982" y="1652562"/>
            <a:ext cx="148480" cy="161583"/>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panose="020B0503020204020204" pitchFamily="34" charset="-122"/>
              <a:ea typeface="微软雅黑" panose="020B0503020204020204" pitchFamily="34" charset="-122"/>
            </a:endParaRPr>
          </a:p>
        </p:txBody>
      </p:sp>
      <p:sp>
        <p:nvSpPr>
          <p:cNvPr id="14" name="Text Box 47"/>
          <p:cNvSpPr txBox="1">
            <a:spLocks noChangeArrowheads="1"/>
          </p:cNvSpPr>
          <p:nvPr/>
        </p:nvSpPr>
        <p:spPr bwMode="auto">
          <a:xfrm>
            <a:off x="8403176" y="1610423"/>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KID</a:t>
            </a:r>
          </a:p>
        </p:txBody>
      </p:sp>
      <p:sp>
        <p:nvSpPr>
          <p:cNvPr id="15" name="矩形 14"/>
          <p:cNvSpPr/>
          <p:nvPr/>
        </p:nvSpPr>
        <p:spPr>
          <a:xfrm>
            <a:off x="7749865" y="1383034"/>
            <a:ext cx="1009664" cy="49163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nvGrpSpPr>
          <p:cNvPr id="6" name="组合 5"/>
          <p:cNvGrpSpPr/>
          <p:nvPr/>
        </p:nvGrpSpPr>
        <p:grpSpPr>
          <a:xfrm>
            <a:off x="4673852" y="1190085"/>
            <a:ext cx="3076013" cy="2462762"/>
            <a:chOff x="4258509" y="1056107"/>
            <a:chExt cx="3076013" cy="2462762"/>
          </a:xfrm>
        </p:grpSpPr>
        <p:sp>
          <p:nvSpPr>
            <p:cNvPr id="16" name="Oval 20"/>
            <p:cNvSpPr>
              <a:spLocks noChangeArrowheads="1"/>
            </p:cNvSpPr>
            <p:nvPr/>
          </p:nvSpPr>
          <p:spPr bwMode="auto">
            <a:xfrm>
              <a:off x="4661880" y="1240783"/>
              <a:ext cx="2197504" cy="221612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7" name="Text Box 31"/>
            <p:cNvSpPr txBox="1">
              <a:spLocks noChangeArrowheads="1"/>
            </p:cNvSpPr>
            <p:nvPr/>
          </p:nvSpPr>
          <p:spPr bwMode="auto">
            <a:xfrm>
              <a:off x="5656696" y="124078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p>
          </p:txBody>
        </p:sp>
        <p:sp>
          <p:nvSpPr>
            <p:cNvPr id="18" name="Text Box 33"/>
            <p:cNvSpPr txBox="1">
              <a:spLocks noChangeArrowheads="1"/>
            </p:cNvSpPr>
            <p:nvPr/>
          </p:nvSpPr>
          <p:spPr bwMode="auto">
            <a:xfrm>
              <a:off x="5855907" y="125825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p>
          </p:txBody>
        </p:sp>
        <p:sp>
          <p:nvSpPr>
            <p:cNvPr id="19" name="Text Box 34"/>
            <p:cNvSpPr txBox="1">
              <a:spLocks noChangeArrowheads="1"/>
            </p:cNvSpPr>
            <p:nvPr/>
          </p:nvSpPr>
          <p:spPr bwMode="auto">
            <a:xfrm>
              <a:off x="6039032" y="129943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p>
          </p:txBody>
        </p:sp>
        <p:sp>
          <p:nvSpPr>
            <p:cNvPr id="20" name="Text Box 35"/>
            <p:cNvSpPr txBox="1">
              <a:spLocks noChangeArrowheads="1"/>
            </p:cNvSpPr>
            <p:nvPr/>
          </p:nvSpPr>
          <p:spPr bwMode="auto">
            <a:xfrm>
              <a:off x="6228343" y="1396761"/>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p>
          </p:txBody>
        </p:sp>
        <p:sp>
          <p:nvSpPr>
            <p:cNvPr id="21" name="Text Box 36"/>
            <p:cNvSpPr txBox="1">
              <a:spLocks noChangeArrowheads="1"/>
            </p:cNvSpPr>
            <p:nvPr/>
          </p:nvSpPr>
          <p:spPr bwMode="auto">
            <a:xfrm>
              <a:off x="6349603" y="153526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p>
          </p:txBody>
        </p:sp>
        <p:sp>
          <p:nvSpPr>
            <p:cNvPr id="22" name="Text Box 37"/>
            <p:cNvSpPr txBox="1">
              <a:spLocks noChangeArrowheads="1"/>
            </p:cNvSpPr>
            <p:nvPr/>
          </p:nvSpPr>
          <p:spPr bwMode="auto">
            <a:xfrm>
              <a:off x="6467150" y="165131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p>
          </p:txBody>
        </p:sp>
        <p:sp>
          <p:nvSpPr>
            <p:cNvPr id="23" name="Text Box 38"/>
            <p:cNvSpPr txBox="1">
              <a:spLocks noChangeArrowheads="1"/>
            </p:cNvSpPr>
            <p:nvPr/>
          </p:nvSpPr>
          <p:spPr bwMode="auto">
            <a:xfrm>
              <a:off x="6569848" y="179606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p>
          </p:txBody>
        </p:sp>
        <p:sp>
          <p:nvSpPr>
            <p:cNvPr id="24" name="Text Box 39"/>
            <p:cNvSpPr txBox="1">
              <a:spLocks noChangeArrowheads="1"/>
            </p:cNvSpPr>
            <p:nvPr/>
          </p:nvSpPr>
          <p:spPr bwMode="auto">
            <a:xfrm>
              <a:off x="6621816" y="201193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p>
          </p:txBody>
        </p:sp>
        <p:sp>
          <p:nvSpPr>
            <p:cNvPr id="25" name="Text Box 40"/>
            <p:cNvSpPr txBox="1">
              <a:spLocks noChangeArrowheads="1"/>
            </p:cNvSpPr>
            <p:nvPr/>
          </p:nvSpPr>
          <p:spPr bwMode="auto">
            <a:xfrm>
              <a:off x="6653987" y="218038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p>
          </p:txBody>
        </p:sp>
        <p:sp>
          <p:nvSpPr>
            <p:cNvPr id="26" name="Text Box 41"/>
            <p:cNvSpPr txBox="1">
              <a:spLocks noChangeArrowheads="1"/>
            </p:cNvSpPr>
            <p:nvPr/>
          </p:nvSpPr>
          <p:spPr bwMode="auto">
            <a:xfrm>
              <a:off x="6650275" y="237504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p>
          </p:txBody>
        </p:sp>
        <p:sp>
          <p:nvSpPr>
            <p:cNvPr id="27" name="Text Box 42"/>
            <p:cNvSpPr txBox="1">
              <a:spLocks noChangeArrowheads="1"/>
            </p:cNvSpPr>
            <p:nvPr/>
          </p:nvSpPr>
          <p:spPr bwMode="auto">
            <a:xfrm>
              <a:off x="6604493" y="256970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p>
          </p:txBody>
        </p:sp>
        <p:sp>
          <p:nvSpPr>
            <p:cNvPr id="28" name="Text Box 43"/>
            <p:cNvSpPr txBox="1">
              <a:spLocks noChangeArrowheads="1"/>
            </p:cNvSpPr>
            <p:nvPr/>
          </p:nvSpPr>
          <p:spPr bwMode="auto">
            <a:xfrm>
              <a:off x="6509219" y="274689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p>
          </p:txBody>
        </p:sp>
        <p:sp>
          <p:nvSpPr>
            <p:cNvPr id="29" name="Text Box 44"/>
            <p:cNvSpPr txBox="1">
              <a:spLocks noChangeArrowheads="1"/>
            </p:cNvSpPr>
            <p:nvPr/>
          </p:nvSpPr>
          <p:spPr bwMode="auto">
            <a:xfrm>
              <a:off x="6370638" y="292408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p>
          </p:txBody>
        </p:sp>
        <p:sp>
          <p:nvSpPr>
            <p:cNvPr id="30" name="Text Box 45"/>
            <p:cNvSpPr txBox="1">
              <a:spLocks noChangeArrowheads="1"/>
            </p:cNvSpPr>
            <p:nvPr/>
          </p:nvSpPr>
          <p:spPr bwMode="auto">
            <a:xfrm>
              <a:off x="6239480" y="3031400"/>
              <a:ext cx="17941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p>
          </p:txBody>
        </p:sp>
        <p:sp>
          <p:nvSpPr>
            <p:cNvPr id="31" name="Text Box 46"/>
            <p:cNvSpPr txBox="1">
              <a:spLocks noChangeArrowheads="1"/>
            </p:cNvSpPr>
            <p:nvPr/>
          </p:nvSpPr>
          <p:spPr bwMode="auto">
            <a:xfrm>
              <a:off x="6076153" y="313247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p>
          </p:txBody>
        </p:sp>
        <p:sp>
          <p:nvSpPr>
            <p:cNvPr id="32" name="Text Box 47"/>
            <p:cNvSpPr txBox="1">
              <a:spLocks noChangeArrowheads="1"/>
            </p:cNvSpPr>
            <p:nvPr/>
          </p:nvSpPr>
          <p:spPr bwMode="auto">
            <a:xfrm>
              <a:off x="5868280" y="318987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p>
          </p:txBody>
        </p:sp>
        <p:sp>
          <p:nvSpPr>
            <p:cNvPr id="36" name="Oval 51"/>
            <p:cNvSpPr>
              <a:spLocks noChangeArrowheads="1"/>
            </p:cNvSpPr>
            <p:nvPr/>
          </p:nvSpPr>
          <p:spPr bwMode="auto">
            <a:xfrm>
              <a:off x="6161528" y="130067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9" name="Oval 54"/>
            <p:cNvSpPr>
              <a:spLocks noChangeArrowheads="1"/>
            </p:cNvSpPr>
            <p:nvPr/>
          </p:nvSpPr>
          <p:spPr bwMode="auto">
            <a:xfrm>
              <a:off x="6740600" y="1899630"/>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0" name="Oval 55"/>
            <p:cNvSpPr>
              <a:spLocks noChangeArrowheads="1"/>
            </p:cNvSpPr>
            <p:nvPr/>
          </p:nvSpPr>
          <p:spPr bwMode="auto">
            <a:xfrm>
              <a:off x="6829688" y="231140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1" name="Oval 56"/>
            <p:cNvSpPr>
              <a:spLocks noChangeArrowheads="1"/>
            </p:cNvSpPr>
            <p:nvPr/>
          </p:nvSpPr>
          <p:spPr bwMode="auto">
            <a:xfrm>
              <a:off x="6510456" y="309753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2" name="Oval 57"/>
            <p:cNvSpPr>
              <a:spLocks noChangeArrowheads="1"/>
            </p:cNvSpPr>
            <p:nvPr/>
          </p:nvSpPr>
          <p:spPr bwMode="auto">
            <a:xfrm>
              <a:off x="6146680" y="3337114"/>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3" name="Oval 58"/>
            <p:cNvSpPr>
              <a:spLocks noChangeArrowheads="1"/>
            </p:cNvSpPr>
            <p:nvPr/>
          </p:nvSpPr>
          <p:spPr bwMode="auto">
            <a:xfrm>
              <a:off x="5738360" y="342695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4" name="Oval 59"/>
            <p:cNvSpPr>
              <a:spLocks noChangeArrowheads="1"/>
            </p:cNvSpPr>
            <p:nvPr/>
          </p:nvSpPr>
          <p:spPr bwMode="auto">
            <a:xfrm>
              <a:off x="5315192" y="334460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5" name="Oval 60"/>
            <p:cNvSpPr>
              <a:spLocks noChangeArrowheads="1"/>
            </p:cNvSpPr>
            <p:nvPr/>
          </p:nvSpPr>
          <p:spPr bwMode="auto">
            <a:xfrm>
              <a:off x="4721272" y="2738162"/>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6" name="Oval 61"/>
            <p:cNvSpPr>
              <a:spLocks noChangeArrowheads="1"/>
            </p:cNvSpPr>
            <p:nvPr/>
          </p:nvSpPr>
          <p:spPr bwMode="auto">
            <a:xfrm>
              <a:off x="4632184" y="231140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7" name="Oval 62"/>
            <p:cNvSpPr>
              <a:spLocks noChangeArrowheads="1"/>
            </p:cNvSpPr>
            <p:nvPr/>
          </p:nvSpPr>
          <p:spPr bwMode="auto">
            <a:xfrm>
              <a:off x="4958840" y="154025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5947470" y="124078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6345891" y="140299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5122168" y="140299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5514403" y="123454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6649037" y="171994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5531726" y="340948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5103608" y="324103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4647032" y="209678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4812834" y="170746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5935096" y="340948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6345891" y="3234793"/>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6808654" y="2522291"/>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6636664" y="2935317"/>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4651981" y="2534769"/>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4806648" y="2930326"/>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3" name="Oval 51"/>
            <p:cNvSpPr>
              <a:spLocks noChangeArrowheads="1"/>
            </p:cNvSpPr>
            <p:nvPr/>
          </p:nvSpPr>
          <p:spPr bwMode="auto">
            <a:xfrm>
              <a:off x="5733411" y="1217075"/>
              <a:ext cx="59392" cy="59895"/>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5690104" y="3217323"/>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p>
          </p:txBody>
        </p:sp>
        <p:sp>
          <p:nvSpPr>
            <p:cNvPr id="65" name="Text Box 47"/>
            <p:cNvSpPr txBox="1">
              <a:spLocks noChangeArrowheads="1"/>
            </p:cNvSpPr>
            <p:nvPr/>
          </p:nvSpPr>
          <p:spPr bwMode="auto">
            <a:xfrm>
              <a:off x="5500792" y="320110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p>
          </p:txBody>
        </p:sp>
        <p:sp>
          <p:nvSpPr>
            <p:cNvPr id="66" name="Text Box 47"/>
            <p:cNvSpPr txBox="1">
              <a:spLocks noChangeArrowheads="1"/>
            </p:cNvSpPr>
            <p:nvPr/>
          </p:nvSpPr>
          <p:spPr bwMode="auto">
            <a:xfrm>
              <a:off x="5310242" y="315368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p>
          </p:txBody>
        </p:sp>
        <p:sp>
          <p:nvSpPr>
            <p:cNvPr id="67" name="Text Box 47"/>
            <p:cNvSpPr txBox="1">
              <a:spLocks noChangeArrowheads="1"/>
            </p:cNvSpPr>
            <p:nvPr/>
          </p:nvSpPr>
          <p:spPr bwMode="auto">
            <a:xfrm>
              <a:off x="5138254" y="307507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p>
          </p:txBody>
        </p:sp>
        <p:sp>
          <p:nvSpPr>
            <p:cNvPr id="68" name="Text Box 47"/>
            <p:cNvSpPr txBox="1">
              <a:spLocks noChangeArrowheads="1"/>
            </p:cNvSpPr>
            <p:nvPr/>
          </p:nvSpPr>
          <p:spPr bwMode="auto">
            <a:xfrm>
              <a:off x="5047928" y="2889149"/>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p>
          </p:txBody>
        </p:sp>
        <p:sp>
          <p:nvSpPr>
            <p:cNvPr id="69" name="Text Box 47"/>
            <p:cNvSpPr txBox="1">
              <a:spLocks noChangeArrowheads="1"/>
            </p:cNvSpPr>
            <p:nvPr/>
          </p:nvSpPr>
          <p:spPr bwMode="auto">
            <a:xfrm>
              <a:off x="4899448" y="2799307"/>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p>
          </p:txBody>
        </p:sp>
        <p:sp>
          <p:nvSpPr>
            <p:cNvPr id="70" name="Text Box 47"/>
            <p:cNvSpPr txBox="1">
              <a:spLocks noChangeArrowheads="1"/>
            </p:cNvSpPr>
            <p:nvPr/>
          </p:nvSpPr>
          <p:spPr bwMode="auto">
            <a:xfrm>
              <a:off x="4810360" y="2643328"/>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p>
          </p:txBody>
        </p:sp>
        <p:sp>
          <p:nvSpPr>
            <p:cNvPr id="71" name="Text Box 47"/>
            <p:cNvSpPr txBox="1">
              <a:spLocks noChangeArrowheads="1"/>
            </p:cNvSpPr>
            <p:nvPr/>
          </p:nvSpPr>
          <p:spPr bwMode="auto">
            <a:xfrm>
              <a:off x="4721272" y="244617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p>
          </p:txBody>
        </p:sp>
        <p:sp>
          <p:nvSpPr>
            <p:cNvPr id="72" name="Text Box 47"/>
            <p:cNvSpPr txBox="1">
              <a:spLocks noChangeArrowheads="1"/>
            </p:cNvSpPr>
            <p:nvPr/>
          </p:nvSpPr>
          <p:spPr bwMode="auto">
            <a:xfrm>
              <a:off x="4721272" y="222406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p>
          </p:txBody>
        </p:sp>
        <p:sp>
          <p:nvSpPr>
            <p:cNvPr id="73" name="Text Box 47"/>
            <p:cNvSpPr txBox="1">
              <a:spLocks noChangeArrowheads="1"/>
            </p:cNvSpPr>
            <p:nvPr/>
          </p:nvSpPr>
          <p:spPr bwMode="auto">
            <a:xfrm>
              <a:off x="4721272" y="2020670"/>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p>
          </p:txBody>
        </p:sp>
        <p:sp>
          <p:nvSpPr>
            <p:cNvPr id="74" name="Text Box 47"/>
            <p:cNvSpPr txBox="1">
              <a:spLocks noChangeArrowheads="1"/>
            </p:cNvSpPr>
            <p:nvPr/>
          </p:nvSpPr>
          <p:spPr bwMode="auto">
            <a:xfrm>
              <a:off x="4797986" y="184722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p>
          </p:txBody>
        </p:sp>
        <p:sp>
          <p:nvSpPr>
            <p:cNvPr id="75" name="Text Box 47"/>
            <p:cNvSpPr txBox="1">
              <a:spLocks noChangeArrowheads="1"/>
            </p:cNvSpPr>
            <p:nvPr/>
          </p:nvSpPr>
          <p:spPr bwMode="auto">
            <a:xfrm>
              <a:off x="4880887" y="1708715"/>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p>
          </p:txBody>
        </p:sp>
        <p:sp>
          <p:nvSpPr>
            <p:cNvPr id="76" name="Text Box 47"/>
            <p:cNvSpPr txBox="1">
              <a:spLocks noChangeArrowheads="1"/>
            </p:cNvSpPr>
            <p:nvPr/>
          </p:nvSpPr>
          <p:spPr bwMode="auto">
            <a:xfrm>
              <a:off x="4952653" y="1547746"/>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p>
          </p:txBody>
        </p:sp>
        <p:sp>
          <p:nvSpPr>
            <p:cNvPr id="77" name="Text Box 47"/>
            <p:cNvSpPr txBox="1">
              <a:spLocks noChangeArrowheads="1"/>
            </p:cNvSpPr>
            <p:nvPr/>
          </p:nvSpPr>
          <p:spPr bwMode="auto">
            <a:xfrm>
              <a:off x="5118456" y="1427956"/>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p>
          </p:txBody>
        </p:sp>
        <p:sp>
          <p:nvSpPr>
            <p:cNvPr id="78" name="Text Box 47"/>
            <p:cNvSpPr txBox="1">
              <a:spLocks noChangeArrowheads="1"/>
            </p:cNvSpPr>
            <p:nvPr/>
          </p:nvSpPr>
          <p:spPr bwMode="auto">
            <a:xfrm>
              <a:off x="5285496" y="1343104"/>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p>
          </p:txBody>
        </p:sp>
        <p:sp>
          <p:nvSpPr>
            <p:cNvPr id="79" name="Text Box 47"/>
            <p:cNvSpPr txBox="1">
              <a:spLocks noChangeArrowheads="1"/>
            </p:cNvSpPr>
            <p:nvPr/>
          </p:nvSpPr>
          <p:spPr bwMode="auto">
            <a:xfrm>
              <a:off x="5499555" y="1253262"/>
              <a:ext cx="1781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p>
          </p:txBody>
        </p:sp>
        <p:grpSp>
          <p:nvGrpSpPr>
            <p:cNvPr id="188" name="组合 187"/>
            <p:cNvGrpSpPr/>
            <p:nvPr/>
          </p:nvGrpSpPr>
          <p:grpSpPr>
            <a:xfrm>
              <a:off x="6770296" y="1984482"/>
              <a:ext cx="445440" cy="261610"/>
              <a:chOff x="3621094" y="2010378"/>
              <a:chExt cx="445440" cy="261610"/>
            </a:xfrm>
          </p:grpSpPr>
          <p:sp>
            <p:nvSpPr>
              <p:cNvPr id="81" name="Oval 53"/>
              <p:cNvSpPr>
                <a:spLocks noChangeArrowheads="1"/>
              </p:cNvSpPr>
              <p:nvPr/>
            </p:nvSpPr>
            <p:spPr bwMode="auto">
              <a:xfrm>
                <a:off x="3621094" y="2093982"/>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3769573" y="2010378"/>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N7</a:t>
                </a:r>
              </a:p>
            </p:txBody>
          </p:sp>
        </p:grpSp>
        <p:grpSp>
          <p:nvGrpSpPr>
            <p:cNvPr id="189" name="组合 188"/>
            <p:cNvGrpSpPr/>
            <p:nvPr/>
          </p:nvGrpSpPr>
          <p:grpSpPr>
            <a:xfrm>
              <a:off x="6724515" y="2690745"/>
              <a:ext cx="444203" cy="261610"/>
              <a:chOff x="3575313" y="2716641"/>
              <a:chExt cx="444203" cy="261610"/>
            </a:xfrm>
          </p:grpSpPr>
          <p:sp>
            <p:nvSpPr>
              <p:cNvPr id="37" name="Oval 52"/>
              <p:cNvSpPr>
                <a:spLocks noChangeArrowheads="1"/>
              </p:cNvSpPr>
              <p:nvPr/>
            </p:nvSpPr>
            <p:spPr bwMode="auto">
              <a:xfrm>
                <a:off x="3575313" y="2750333"/>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3722555" y="2716641"/>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p>
            </p:txBody>
          </p:sp>
        </p:grpSp>
        <p:grpSp>
          <p:nvGrpSpPr>
            <p:cNvPr id="187" name="组合 186"/>
            <p:cNvGrpSpPr/>
            <p:nvPr/>
          </p:nvGrpSpPr>
          <p:grpSpPr>
            <a:xfrm>
              <a:off x="6473336" y="1421717"/>
              <a:ext cx="445441" cy="261610"/>
              <a:chOff x="3324134" y="1447613"/>
              <a:chExt cx="445441" cy="261610"/>
            </a:xfrm>
          </p:grpSpPr>
          <p:sp>
            <p:nvSpPr>
              <p:cNvPr id="33" name="Oval 48"/>
              <p:cNvSpPr>
                <a:spLocks noChangeArrowheads="1"/>
              </p:cNvSpPr>
              <p:nvPr/>
            </p:nvSpPr>
            <p:spPr bwMode="auto">
              <a:xfrm>
                <a:off x="3324134" y="1536208"/>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3472614" y="1447613"/>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N4</a:t>
                </a:r>
              </a:p>
            </p:txBody>
          </p:sp>
        </p:grpSp>
        <p:grpSp>
          <p:nvGrpSpPr>
            <p:cNvPr id="192" name="组合 191"/>
            <p:cNvGrpSpPr/>
            <p:nvPr/>
          </p:nvGrpSpPr>
          <p:grpSpPr>
            <a:xfrm>
              <a:off x="5113506" y="1056107"/>
              <a:ext cx="298198" cy="326927"/>
              <a:chOff x="1964304" y="1082003"/>
              <a:chExt cx="298198" cy="326927"/>
            </a:xfrm>
          </p:grpSpPr>
          <p:sp>
            <p:nvSpPr>
              <p:cNvPr id="38" name="Oval 53"/>
              <p:cNvSpPr>
                <a:spLocks noChangeArrowheads="1"/>
              </p:cNvSpPr>
              <p:nvPr/>
            </p:nvSpPr>
            <p:spPr bwMode="auto">
              <a:xfrm>
                <a:off x="2143718" y="1289140"/>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964304" y="1082003"/>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p>
            </p:txBody>
          </p:sp>
        </p:grpSp>
        <p:grpSp>
          <p:nvGrpSpPr>
            <p:cNvPr id="190" name="组合 189"/>
            <p:cNvGrpSpPr/>
            <p:nvPr/>
          </p:nvGrpSpPr>
          <p:grpSpPr>
            <a:xfrm>
              <a:off x="4632185" y="3075072"/>
              <a:ext cx="415743" cy="261610"/>
              <a:chOff x="1482983" y="3100968"/>
              <a:chExt cx="415743" cy="261610"/>
            </a:xfrm>
          </p:grpSpPr>
          <p:sp>
            <p:nvSpPr>
              <p:cNvPr id="34" name="Oval 49"/>
              <p:cNvSpPr>
                <a:spLocks noChangeArrowheads="1"/>
              </p:cNvSpPr>
              <p:nvPr/>
            </p:nvSpPr>
            <p:spPr bwMode="auto">
              <a:xfrm>
                <a:off x="1779942" y="310096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1482983" y="3100968"/>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N20</a:t>
                </a:r>
              </a:p>
            </p:txBody>
          </p:sp>
        </p:grpSp>
        <p:grpSp>
          <p:nvGrpSpPr>
            <p:cNvPr id="191" name="组合 190"/>
            <p:cNvGrpSpPr/>
            <p:nvPr/>
          </p:nvGrpSpPr>
          <p:grpSpPr>
            <a:xfrm>
              <a:off x="4364919" y="1744901"/>
              <a:ext cx="438017" cy="261610"/>
              <a:chOff x="1215717" y="1770797"/>
              <a:chExt cx="438017" cy="261610"/>
            </a:xfrm>
          </p:grpSpPr>
          <p:sp>
            <p:nvSpPr>
              <p:cNvPr id="35" name="Oval 50"/>
              <p:cNvSpPr>
                <a:spLocks noChangeArrowheads="1"/>
              </p:cNvSpPr>
              <p:nvPr/>
            </p:nvSpPr>
            <p:spPr bwMode="auto">
              <a:xfrm>
                <a:off x="1534950" y="1895579"/>
                <a:ext cx="118784" cy="11979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7" name="Text Box 47"/>
              <p:cNvSpPr txBox="1">
                <a:spLocks noChangeArrowheads="1"/>
              </p:cNvSpPr>
              <p:nvPr/>
            </p:nvSpPr>
            <p:spPr bwMode="auto">
              <a:xfrm>
                <a:off x="1215717" y="1770797"/>
                <a:ext cx="2969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N26</a:t>
                </a:r>
              </a:p>
            </p:txBody>
          </p:sp>
        </p:grpSp>
        <p:grpSp>
          <p:nvGrpSpPr>
            <p:cNvPr id="7" name="组合 6"/>
            <p:cNvGrpSpPr/>
            <p:nvPr/>
          </p:nvGrpSpPr>
          <p:grpSpPr>
            <a:xfrm>
              <a:off x="6823503" y="2523538"/>
              <a:ext cx="511019" cy="222112"/>
              <a:chOff x="3674301" y="2549434"/>
              <a:chExt cx="511019" cy="222112"/>
            </a:xfrm>
          </p:grpSpPr>
          <p:sp>
            <p:nvSpPr>
              <p:cNvPr id="80" name="Text Box 71"/>
              <p:cNvSpPr txBox="1">
                <a:spLocks noChangeArrowheads="1"/>
              </p:cNvSpPr>
              <p:nvPr/>
            </p:nvSpPr>
            <p:spPr bwMode="auto">
              <a:xfrm>
                <a:off x="3888359" y="2549434"/>
                <a:ext cx="296961"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p>
            </p:txBody>
          </p:sp>
          <p:cxnSp>
            <p:nvCxnSpPr>
              <p:cNvPr id="93" name="直接箭头连接符 92"/>
              <p:cNvCxnSpPr>
                <a:stCxn id="80" idx="1"/>
              </p:cNvCxnSpPr>
              <p:nvPr/>
            </p:nvCxnSpPr>
            <p:spPr bwMode="auto">
              <a:xfrm flipH="1">
                <a:off x="3674301" y="2634073"/>
                <a:ext cx="214058" cy="13747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6" name="组合 185"/>
            <p:cNvGrpSpPr/>
            <p:nvPr/>
          </p:nvGrpSpPr>
          <p:grpSpPr>
            <a:xfrm>
              <a:off x="6259278" y="1056107"/>
              <a:ext cx="279637" cy="457949"/>
              <a:chOff x="3110076" y="1082003"/>
              <a:chExt cx="279637" cy="457949"/>
            </a:xfrm>
          </p:grpSpPr>
          <p:sp>
            <p:nvSpPr>
              <p:cNvPr id="88" name="Text Box 71"/>
              <p:cNvSpPr txBox="1">
                <a:spLocks noChangeArrowheads="1"/>
              </p:cNvSpPr>
              <p:nvPr/>
            </p:nvSpPr>
            <p:spPr bwMode="auto">
              <a:xfrm>
                <a:off x="3110076" y="1082003"/>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p>
            </p:txBody>
          </p:sp>
          <p:cxnSp>
            <p:nvCxnSpPr>
              <p:cNvPr id="94" name="直接箭头连接符 93"/>
              <p:cNvCxnSpPr/>
              <p:nvPr/>
            </p:nvCxnSpPr>
            <p:spPr bwMode="auto">
              <a:xfrm>
                <a:off x="3264742" y="1291636"/>
                <a:ext cx="108885" cy="24831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4" name="组合 3"/>
            <p:cNvGrpSpPr/>
            <p:nvPr/>
          </p:nvGrpSpPr>
          <p:grpSpPr>
            <a:xfrm>
              <a:off x="6562424" y="1086054"/>
              <a:ext cx="279637" cy="425506"/>
              <a:chOff x="3413222" y="1111950"/>
              <a:chExt cx="279637" cy="425506"/>
            </a:xfrm>
          </p:grpSpPr>
          <p:sp>
            <p:nvSpPr>
              <p:cNvPr id="90" name="Text Box 71"/>
              <p:cNvSpPr txBox="1">
                <a:spLocks noChangeArrowheads="1"/>
              </p:cNvSpPr>
              <p:nvPr/>
            </p:nvSpPr>
            <p:spPr bwMode="auto">
              <a:xfrm>
                <a:off x="3413222" y="1111950"/>
                <a:ext cx="279637"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p>
            </p:txBody>
          </p:sp>
          <p:cxnSp>
            <p:nvCxnSpPr>
              <p:cNvPr id="95" name="直接箭头连接符 94"/>
              <p:cNvCxnSpPr/>
              <p:nvPr/>
            </p:nvCxnSpPr>
            <p:spPr bwMode="auto">
              <a:xfrm flipH="1">
                <a:off x="3419409" y="1317840"/>
                <a:ext cx="154666" cy="21961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4" name="组合 183"/>
            <p:cNvGrpSpPr/>
            <p:nvPr/>
          </p:nvGrpSpPr>
          <p:grpSpPr>
            <a:xfrm>
              <a:off x="4258509" y="1967012"/>
              <a:ext cx="426880" cy="252881"/>
              <a:chOff x="1109307" y="1992908"/>
              <a:chExt cx="426880" cy="252881"/>
            </a:xfrm>
          </p:grpSpPr>
          <p:sp>
            <p:nvSpPr>
              <p:cNvPr id="92" name="Text Box 71"/>
              <p:cNvSpPr txBox="1">
                <a:spLocks noChangeArrowheads="1"/>
              </p:cNvSpPr>
              <p:nvPr/>
            </p:nvSpPr>
            <p:spPr bwMode="auto">
              <a:xfrm>
                <a:off x="1109307" y="2076512"/>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p>
            </p:txBody>
          </p:sp>
          <p:cxnSp>
            <p:nvCxnSpPr>
              <p:cNvPr id="96" name="直接箭头连接符 95"/>
              <p:cNvCxnSpPr/>
              <p:nvPr/>
            </p:nvCxnSpPr>
            <p:spPr bwMode="auto">
              <a:xfrm flipV="1">
                <a:off x="1387707" y="1992908"/>
                <a:ext cx="148480" cy="84851"/>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3" name="组合 182"/>
            <p:cNvGrpSpPr/>
            <p:nvPr/>
          </p:nvGrpSpPr>
          <p:grpSpPr>
            <a:xfrm>
              <a:off x="4685389" y="3188624"/>
              <a:ext cx="278400" cy="330245"/>
              <a:chOff x="1536187" y="3214520"/>
              <a:chExt cx="278400" cy="330245"/>
            </a:xfrm>
          </p:grpSpPr>
          <p:sp>
            <p:nvSpPr>
              <p:cNvPr id="91" name="Text Box 71"/>
              <p:cNvSpPr txBox="1">
                <a:spLocks noChangeArrowheads="1"/>
              </p:cNvSpPr>
              <p:nvPr/>
            </p:nvSpPr>
            <p:spPr bwMode="auto">
              <a:xfrm>
                <a:off x="1536187" y="3375488"/>
                <a:ext cx="278400"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K12</a:t>
                </a:r>
              </a:p>
            </p:txBody>
          </p:sp>
          <p:cxnSp>
            <p:nvCxnSpPr>
              <p:cNvPr id="97" name="直接箭头连接符 96"/>
              <p:cNvCxnSpPr/>
              <p:nvPr/>
            </p:nvCxnSpPr>
            <p:spPr bwMode="auto">
              <a:xfrm flipV="1">
                <a:off x="1756433" y="3214520"/>
                <a:ext cx="53205" cy="16720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5" name="组合 184"/>
            <p:cNvGrpSpPr/>
            <p:nvPr/>
          </p:nvGrpSpPr>
          <p:grpSpPr>
            <a:xfrm>
              <a:off x="4679202" y="1278218"/>
              <a:ext cx="612481" cy="169277"/>
              <a:chOff x="1530000" y="1304114"/>
              <a:chExt cx="612481" cy="169277"/>
            </a:xfrm>
          </p:grpSpPr>
          <p:sp>
            <p:nvSpPr>
              <p:cNvPr id="89" name="Text Box 71"/>
              <p:cNvSpPr txBox="1">
                <a:spLocks noChangeArrowheads="1"/>
              </p:cNvSpPr>
              <p:nvPr/>
            </p:nvSpPr>
            <p:spPr bwMode="auto">
              <a:xfrm>
                <a:off x="1530000" y="1304114"/>
                <a:ext cx="309333" cy="16927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p>
            </p:txBody>
          </p:sp>
          <p:cxnSp>
            <p:nvCxnSpPr>
              <p:cNvPr id="98" name="直接箭头连接符 97"/>
              <p:cNvCxnSpPr/>
              <p:nvPr/>
            </p:nvCxnSpPr>
            <p:spPr bwMode="auto">
              <a:xfrm flipV="1">
                <a:off x="1875217" y="1339053"/>
                <a:ext cx="267264" cy="4367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sp>
        <p:nvSpPr>
          <p:cNvPr id="182"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sp>
        <p:nvSpPr>
          <p:cNvPr id="195" name="Rectangle 68"/>
          <p:cNvSpPr>
            <a:spLocks noChangeArrowheads="1"/>
          </p:cNvSpPr>
          <p:nvPr/>
        </p:nvSpPr>
        <p:spPr bwMode="auto">
          <a:xfrm>
            <a:off x="455820" y="955373"/>
            <a:ext cx="4027481" cy="38633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hangingPunct="0">
              <a:lnSpc>
                <a:spcPts val="2700"/>
              </a:lnSpc>
              <a:buClr>
                <a:srgbClr val="0070C0"/>
              </a:buClr>
              <a:buFont typeface="Wingdings" pitchFamily="2" charset="2"/>
              <a:buChar char="l"/>
            </a:pPr>
            <a:r>
              <a:rPr lang="zh-CN" altLang="en-US" b="1" dirty="0" smtClean="0">
                <a:latin typeface="微软雅黑" pitchFamily="34" charset="-122"/>
                <a:ea typeface="微软雅黑" pitchFamily="34" charset="-122"/>
              </a:rPr>
              <a:t>以查找</a:t>
            </a:r>
            <a:r>
              <a:rPr lang="en-US" altLang="zh-CN" b="1" dirty="0" smtClean="0">
                <a:latin typeface="微软雅黑" pitchFamily="34" charset="-122"/>
                <a:ea typeface="微软雅黑" pitchFamily="34" charset="-122"/>
              </a:rPr>
              <a:t>K23</a:t>
            </a:r>
            <a:r>
              <a:rPr lang="zh-CN" altLang="en-US" b="1" dirty="0" smtClean="0">
                <a:latin typeface="微软雅黑" pitchFamily="34" charset="-122"/>
                <a:ea typeface="微软雅黑" pitchFamily="34" charset="-122"/>
              </a:rPr>
              <a:t>为例，假设从节点</a:t>
            </a:r>
            <a:r>
              <a:rPr lang="en-US" altLang="zh-CN" b="1" dirty="0" smtClean="0">
                <a:latin typeface="微软雅黑" pitchFamily="34" charset="-122"/>
                <a:ea typeface="微软雅黑" pitchFamily="34" charset="-122"/>
              </a:rPr>
              <a:t>N4</a:t>
            </a:r>
            <a:r>
              <a:rPr lang="zh-CN" altLang="en-US" b="1" dirty="0" smtClean="0">
                <a:latin typeface="微软雅黑" pitchFamily="34" charset="-122"/>
                <a:ea typeface="微软雅黑" pitchFamily="34" charset="-122"/>
              </a:rPr>
              <a:t>开始。</a:t>
            </a:r>
            <a:endParaRPr lang="zh-CN" altLang="en-US" b="1" dirty="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N4</a:t>
            </a:r>
            <a:r>
              <a:rPr lang="zh-CN" altLang="en-US" sz="1600" b="1" dirty="0" smtClean="0">
                <a:latin typeface="微软雅黑" pitchFamily="34" charset="-122"/>
                <a:ea typeface="微软雅黑" pitchFamily="34" charset="-122"/>
              </a:rPr>
              <a:t>将查询转发给下一跳节点</a:t>
            </a:r>
            <a:r>
              <a:rPr lang="en-US" altLang="zh-CN" sz="1600" b="1" dirty="0" smtClean="0">
                <a:latin typeface="微软雅黑" pitchFamily="34" charset="-122"/>
                <a:ea typeface="微软雅黑" pitchFamily="34" charset="-122"/>
              </a:rPr>
              <a:t>N7</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N7</a:t>
            </a:r>
            <a:r>
              <a:rPr lang="zh-CN" altLang="en-US" sz="1600" b="1" dirty="0" smtClean="0">
                <a:latin typeface="微软雅黑" pitchFamily="34" charset="-122"/>
                <a:ea typeface="微软雅黑" pitchFamily="34" charset="-122"/>
              </a:rPr>
              <a:t>将</a:t>
            </a:r>
            <a:r>
              <a:rPr lang="zh-CN" altLang="en-US" sz="1600" b="1" dirty="0">
                <a:latin typeface="微软雅黑" pitchFamily="34" charset="-122"/>
                <a:ea typeface="微软雅黑" pitchFamily="34" charset="-122"/>
              </a:rPr>
              <a:t>查询转发给下一跳节点</a:t>
            </a:r>
            <a:r>
              <a:rPr lang="en-US" altLang="zh-CN" sz="1600" b="1" dirty="0" smtClean="0">
                <a:latin typeface="微软雅黑" pitchFamily="34" charset="-122"/>
                <a:ea typeface="微软雅黑" pitchFamily="34" charset="-122"/>
              </a:rPr>
              <a:t>N10</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N10</a:t>
            </a:r>
            <a:r>
              <a:rPr lang="zh-CN" altLang="en-US" sz="1600" b="1" dirty="0">
                <a:latin typeface="微软雅黑" pitchFamily="34" charset="-122"/>
                <a:ea typeface="微软雅黑" pitchFamily="34" charset="-122"/>
              </a:rPr>
              <a:t>将查询转发给下一跳节点</a:t>
            </a:r>
            <a:r>
              <a:rPr lang="en-US" altLang="zh-CN" sz="1600" b="1" dirty="0" smtClean="0">
                <a:latin typeface="微软雅黑" pitchFamily="34" charset="-122"/>
                <a:ea typeface="微软雅黑" pitchFamily="34" charset="-122"/>
              </a:rPr>
              <a:t>N20</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r>
              <a:rPr lang="en-US" altLang="zh-CN" sz="1600" b="1" dirty="0" smtClean="0">
                <a:latin typeface="微软雅黑" pitchFamily="34" charset="-122"/>
                <a:ea typeface="微软雅黑" pitchFamily="34" charset="-122"/>
              </a:rPr>
              <a:t>N20</a:t>
            </a:r>
            <a:r>
              <a:rPr lang="zh-CN" altLang="en-US" sz="1600" b="1" dirty="0" smtClean="0">
                <a:latin typeface="微软雅黑" pitchFamily="34" charset="-122"/>
                <a:ea typeface="微软雅黑" pitchFamily="34" charset="-122"/>
              </a:rPr>
              <a:t>将</a:t>
            </a:r>
            <a:r>
              <a:rPr lang="zh-CN" altLang="en-US" sz="1600" b="1" dirty="0">
                <a:latin typeface="微软雅黑" pitchFamily="34" charset="-122"/>
                <a:ea typeface="微软雅黑" pitchFamily="34" charset="-122"/>
              </a:rPr>
              <a:t>查询转发给下一跳节点</a:t>
            </a:r>
            <a:r>
              <a:rPr lang="en-US" altLang="zh-CN" sz="1600" b="1" dirty="0" smtClean="0">
                <a:latin typeface="微软雅黑" pitchFamily="34" charset="-122"/>
                <a:ea typeface="微软雅黑" pitchFamily="34" charset="-122"/>
              </a:rPr>
              <a:t>N26</a:t>
            </a:r>
            <a:r>
              <a:rPr lang="zh-CN" altLang="en-US" sz="1600" b="1" dirty="0" smtClean="0">
                <a:latin typeface="微软雅黑" pitchFamily="34" charset="-122"/>
                <a:ea typeface="微软雅黑" pitchFamily="34" charset="-122"/>
              </a:rPr>
              <a:t>，找到</a:t>
            </a:r>
            <a:r>
              <a:rPr lang="en-US" altLang="zh-CN" sz="1600" b="1" dirty="0" smtClean="0">
                <a:latin typeface="微软雅黑" pitchFamily="34" charset="-122"/>
                <a:ea typeface="微软雅黑" pitchFamily="34" charset="-122"/>
              </a:rPr>
              <a:t>K23</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需要</a:t>
            </a:r>
            <a:r>
              <a:rPr lang="en-US" altLang="zh-CN" sz="1600" b="1" dirty="0" smtClean="0">
                <a:solidFill>
                  <a:srgbClr val="C00000"/>
                </a:solidFill>
                <a:latin typeface="微软雅黑" pitchFamily="34" charset="-122"/>
                <a:ea typeface="微软雅黑" pitchFamily="34" charset="-122"/>
              </a:rPr>
              <a:t>4</a:t>
            </a:r>
            <a:r>
              <a:rPr lang="zh-CN" altLang="en-US" sz="1600" b="1" dirty="0" smtClean="0">
                <a:solidFill>
                  <a:srgbClr val="C00000"/>
                </a:solidFill>
                <a:latin typeface="微软雅黑" pitchFamily="34" charset="-122"/>
                <a:ea typeface="微软雅黑" pitchFamily="34" charset="-122"/>
              </a:rPr>
              <a:t>次查询</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a:p>
            <a:pPr marL="742950" lvl="1" indent="-285750" hangingPunct="0">
              <a:lnSpc>
                <a:spcPts val="2700"/>
              </a:lnSpc>
              <a:buClr>
                <a:srgbClr val="0070C0"/>
              </a:buClr>
              <a:buFont typeface="Wingdings" pitchFamily="2" charset="2"/>
              <a:buChar char="l"/>
            </a:pPr>
            <a:endParaRPr lang="zh-CN" altLang="en-US" sz="1600" b="1" dirty="0">
              <a:latin typeface="微软雅黑" pitchFamily="34" charset="-122"/>
              <a:ea typeface="微软雅黑" pitchFamily="34" charset="-122"/>
            </a:endParaRPr>
          </a:p>
        </p:txBody>
      </p:sp>
      <p:cxnSp>
        <p:nvCxnSpPr>
          <p:cNvPr id="197" name="直接箭头连接符 196"/>
          <p:cNvCxnSpPr>
            <a:stCxn id="81" idx="3"/>
            <a:endCxn id="37" idx="1"/>
          </p:cNvCxnSpPr>
          <p:nvPr/>
        </p:nvCxnSpPr>
        <p:spPr>
          <a:xfrm flipH="1">
            <a:off x="7157254" y="2304311"/>
            <a:ext cx="45781" cy="571647"/>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cxnSp>
        <p:nvCxnSpPr>
          <p:cNvPr id="198" name="直接箭头连接符 197"/>
          <p:cNvCxnSpPr>
            <a:stCxn id="37" idx="2"/>
          </p:cNvCxnSpPr>
          <p:nvPr/>
        </p:nvCxnSpPr>
        <p:spPr>
          <a:xfrm flipH="1">
            <a:off x="5426772" y="2918310"/>
            <a:ext cx="1713086" cy="302377"/>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cxnSp>
        <p:nvCxnSpPr>
          <p:cNvPr id="200" name="直接箭头连接符 199"/>
          <p:cNvCxnSpPr>
            <a:stCxn id="34" idx="7"/>
            <a:endCxn id="35" idx="5"/>
          </p:cNvCxnSpPr>
          <p:nvPr/>
        </p:nvCxnSpPr>
        <p:spPr>
          <a:xfrm flipH="1" flipV="1">
            <a:off x="5200883" y="2105908"/>
            <a:ext cx="244992" cy="1120686"/>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cxnSp>
        <p:nvCxnSpPr>
          <p:cNvPr id="203" name="直接箭头连接符 202"/>
          <p:cNvCxnSpPr>
            <a:stCxn id="33" idx="4"/>
            <a:endCxn id="24" idx="3"/>
          </p:cNvCxnSpPr>
          <p:nvPr/>
        </p:nvCxnSpPr>
        <p:spPr>
          <a:xfrm>
            <a:off x="6948071" y="1764080"/>
            <a:ext cx="267264" cy="512636"/>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spTree>
    <p:custDataLst>
      <p:tags r:id="rId1"/>
    </p:custDataLst>
    <p:extLst>
      <p:ext uri="{BB962C8B-B14F-4D97-AF65-F5344CB8AC3E}">
        <p14:creationId xmlns:p14="http://schemas.microsoft.com/office/powerpoint/2010/main" val="4681498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wipe(up)">
                                      <p:cBhvr>
                                        <p:cTn id="7" dur="500"/>
                                        <p:tgtEl>
                                          <p:spTgt spid="20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97"/>
                                        </p:tgtEl>
                                        <p:attrNameLst>
                                          <p:attrName>style.visibility</p:attrName>
                                        </p:attrNameLst>
                                      </p:cBhvr>
                                      <p:to>
                                        <p:strVal val="visible"/>
                                      </p:to>
                                    </p:set>
                                    <p:animEffect transition="in" filter="wipe(up)">
                                      <p:cBhvr>
                                        <p:cTn id="11" dur="500"/>
                                        <p:tgtEl>
                                          <p:spTgt spid="19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98"/>
                                        </p:tgtEl>
                                        <p:attrNameLst>
                                          <p:attrName>style.visibility</p:attrName>
                                        </p:attrNameLst>
                                      </p:cBhvr>
                                      <p:to>
                                        <p:strVal val="visible"/>
                                      </p:to>
                                    </p:set>
                                    <p:animEffect transition="in" filter="wipe(right)">
                                      <p:cBhvr>
                                        <p:cTn id="15" dur="500"/>
                                        <p:tgtEl>
                                          <p:spTgt spid="198"/>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200"/>
                                        </p:tgtEl>
                                        <p:attrNameLst>
                                          <p:attrName>style.visibility</p:attrName>
                                        </p:attrNameLst>
                                      </p:cBhvr>
                                      <p:to>
                                        <p:strVal val="visible"/>
                                      </p:to>
                                    </p:set>
                                    <p:animEffect transition="in" filter="wipe(down)">
                                      <p:cBhvr>
                                        <p:cTn id="19" dur="5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2783302" y="1062034"/>
            <a:ext cx="5868157" cy="32655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737582" y="575320"/>
            <a:ext cx="3687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通过指针表</a:t>
            </a:r>
            <a:r>
              <a:rPr lang="zh-CN" altLang="en-US" sz="2000" b="1" dirty="0">
                <a:solidFill>
                  <a:srgbClr val="FFC000"/>
                </a:solidFill>
                <a:latin typeface="微软雅黑" pitchFamily="34" charset="-122"/>
                <a:ea typeface="微软雅黑" pitchFamily="34" charset="-122"/>
              </a:rPr>
              <a:t>加速</a:t>
            </a:r>
            <a:r>
              <a:rPr lang="zh-CN" altLang="en-US" sz="2000" b="1" dirty="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表查找</a:t>
            </a:r>
          </a:p>
        </p:txBody>
      </p:sp>
      <p:sp>
        <p:nvSpPr>
          <p:cNvPr id="5" name="Rectangle 68"/>
          <p:cNvSpPr>
            <a:spLocks noChangeArrowheads="1"/>
          </p:cNvSpPr>
          <p:nvPr/>
        </p:nvSpPr>
        <p:spPr bwMode="auto">
          <a:xfrm>
            <a:off x="367334" y="1022889"/>
            <a:ext cx="2457313" cy="32085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73050" indent="-273050" eaLnBrk="0" hangingPunct="0">
              <a:lnSpc>
                <a:spcPts val="2700"/>
              </a:lnSpc>
              <a:buClr>
                <a:srgbClr val="0070C0"/>
              </a:buClr>
              <a:buFont typeface="Wingdings" pitchFamily="2" charset="2"/>
              <a:buChar char="l"/>
            </a:pPr>
            <a:r>
              <a:rPr lang="zh-CN" altLang="en-US" sz="1600" b="1" dirty="0">
                <a:latin typeface="微软雅黑" pitchFamily="34" charset="-122"/>
                <a:ea typeface="微软雅黑" pitchFamily="34" charset="-122"/>
              </a:rPr>
              <a:t>为了加速查找，在 </a:t>
            </a:r>
            <a:r>
              <a:rPr lang="en-US" altLang="zh-CN" sz="1600" b="1" dirty="0">
                <a:latin typeface="微软雅黑" pitchFamily="34" charset="-122"/>
                <a:ea typeface="微软雅黑" pitchFamily="34" charset="-122"/>
              </a:rPr>
              <a:t>Chord </a:t>
            </a:r>
            <a:r>
              <a:rPr lang="zh-CN" altLang="en-US" sz="1600" b="1" dirty="0">
                <a:latin typeface="微软雅黑" pitchFamily="34" charset="-122"/>
                <a:ea typeface="微软雅黑" pitchFamily="34" charset="-122"/>
              </a:rPr>
              <a:t>环上可以增加一些</a:t>
            </a:r>
            <a:r>
              <a:rPr lang="zh-CN" altLang="en-US" sz="1600" b="1" dirty="0">
                <a:solidFill>
                  <a:srgbClr val="0000FF"/>
                </a:solidFill>
                <a:latin typeface="微软雅黑" pitchFamily="34" charset="-122"/>
                <a:ea typeface="微软雅黑" pitchFamily="34" charset="-122"/>
              </a:rPr>
              <a:t>指针表</a:t>
            </a:r>
            <a:r>
              <a:rPr lang="en-US" altLang="zh-CN" sz="1600" b="1" dirty="0">
                <a:latin typeface="微软雅黑" pitchFamily="34" charset="-122"/>
                <a:ea typeface="微软雅黑" pitchFamily="34" charset="-122"/>
              </a:rPr>
              <a:t>(finger table)</a:t>
            </a:r>
            <a:r>
              <a:rPr lang="zh-CN" altLang="en-US" sz="1600" b="1" dirty="0" smtClean="0">
                <a:latin typeface="微软雅黑" pitchFamily="34" charset="-122"/>
                <a:ea typeface="微软雅黑" pitchFamily="34" charset="-122"/>
              </a:rPr>
              <a:t>，又</a:t>
            </a:r>
            <a:r>
              <a:rPr lang="zh-CN" altLang="en-US" sz="1600" b="1" dirty="0">
                <a:latin typeface="微软雅黑" pitchFamily="34" charset="-122"/>
                <a:ea typeface="微软雅黑" pitchFamily="34" charset="-122"/>
              </a:rPr>
              <a:t>称为</a:t>
            </a:r>
            <a:r>
              <a:rPr lang="zh-CN" altLang="en-US" sz="1600" b="1" dirty="0">
                <a:solidFill>
                  <a:srgbClr val="0000FF"/>
                </a:solidFill>
                <a:latin typeface="微软雅黑" pitchFamily="34" charset="-122"/>
                <a:ea typeface="微软雅黑" pitchFamily="34" charset="-122"/>
              </a:rPr>
              <a:t>路由表</a:t>
            </a:r>
            <a:r>
              <a:rPr lang="zh-CN" altLang="en-US" sz="1600" b="1" dirty="0">
                <a:latin typeface="微软雅黑" pitchFamily="34" charset="-122"/>
                <a:ea typeface="微软雅黑" pitchFamily="34" charset="-122"/>
              </a:rPr>
              <a:t>或</a:t>
            </a:r>
            <a:r>
              <a:rPr lang="zh-CN" altLang="en-US" sz="1600" b="1" dirty="0">
                <a:solidFill>
                  <a:srgbClr val="0000FF"/>
                </a:solidFill>
                <a:latin typeface="微软雅黑" pitchFamily="34" charset="-122"/>
                <a:ea typeface="微软雅黑" pitchFamily="34" charset="-122"/>
              </a:rPr>
              <a:t>查找器表。</a:t>
            </a:r>
          </a:p>
          <a:p>
            <a:pPr marL="273050" indent="-273050" eaLnBrk="0" hangingPunct="0">
              <a:lnSpc>
                <a:spcPts val="2700"/>
              </a:lnSpc>
              <a:buClr>
                <a:srgbClr val="0070C0"/>
              </a:buClr>
              <a:buFont typeface="Wingdings" pitchFamily="2" charset="2"/>
              <a:buChar char="l"/>
            </a:pPr>
            <a:r>
              <a:rPr lang="zh-CN" altLang="en-US" sz="1600" b="1" dirty="0" smtClean="0">
                <a:latin typeface="微软雅黑" pitchFamily="34" charset="-122"/>
                <a:ea typeface="微软雅黑" pitchFamily="34" charset="-122"/>
              </a:rPr>
              <a:t>对于节点 </a:t>
            </a:r>
            <a:r>
              <a:rPr lang="en-US" altLang="zh-CN" sz="1600" b="1" dirty="0" smtClean="0">
                <a:latin typeface="微软雅黑" pitchFamily="34" charset="-122"/>
                <a:ea typeface="微软雅黑" pitchFamily="34" charset="-122"/>
              </a:rPr>
              <a:t>N4</a:t>
            </a:r>
            <a:r>
              <a:rPr lang="zh-CN" altLang="en-US" sz="1600" b="1" dirty="0" smtClean="0">
                <a:latin typeface="微软雅黑" pitchFamily="34" charset="-122"/>
                <a:ea typeface="微软雅黑" pitchFamily="34" charset="-122"/>
              </a:rPr>
              <a:t>，其指针表的第 </a:t>
            </a:r>
            <a:r>
              <a:rPr lang="en-US" altLang="zh-CN" sz="1600" b="1" dirty="0" smtClean="0">
                <a:latin typeface="微软雅黑" pitchFamily="34" charset="-122"/>
                <a:ea typeface="微软雅黑" pitchFamily="34" charset="-122"/>
              </a:rPr>
              <a:t>2 </a:t>
            </a:r>
            <a:r>
              <a:rPr lang="zh-CN" altLang="en-US" sz="1600" b="1" dirty="0">
                <a:latin typeface="微软雅黑" pitchFamily="34" charset="-122"/>
                <a:ea typeface="微软雅黑" pitchFamily="34" charset="-122"/>
              </a:rPr>
              <a:t>列第 </a:t>
            </a:r>
            <a:r>
              <a:rPr lang="en-US" altLang="zh-CN" sz="1600" b="1" i="1" dirty="0" err="1">
                <a:latin typeface="微软雅黑" pitchFamily="34" charset="-122"/>
                <a:ea typeface="微软雅黑" pitchFamily="34" charset="-122"/>
              </a:rPr>
              <a:t>i</a:t>
            </a:r>
            <a:r>
              <a:rPr lang="en-US" altLang="zh-CN" sz="1600" b="1" i="1" dirty="0">
                <a:latin typeface="微软雅黑" pitchFamily="34" charset="-122"/>
                <a:ea typeface="微软雅黑" pitchFamily="34" charset="-122"/>
              </a:rPr>
              <a:t> </a:t>
            </a:r>
            <a:r>
              <a:rPr lang="en-US" altLang="zh-CN" sz="1600" b="1" i="1" dirty="0" smtClean="0">
                <a:latin typeface="微软雅黑" pitchFamily="34" charset="-122"/>
                <a:ea typeface="微软雅黑" pitchFamily="34" charset="-122"/>
              </a:rPr>
              <a:t> </a:t>
            </a:r>
            <a:r>
              <a:rPr lang="zh-CN" altLang="en-US" sz="1600" b="1" dirty="0" smtClean="0">
                <a:latin typeface="微软雅黑" pitchFamily="34" charset="-122"/>
                <a:ea typeface="微软雅黑" pitchFamily="34" charset="-122"/>
              </a:rPr>
              <a:t>行根据（</a:t>
            </a:r>
            <a:r>
              <a:rPr lang="en-US" altLang="zh-CN" sz="1600" b="1" dirty="0">
                <a:latin typeface="微软雅黑" pitchFamily="34" charset="-122"/>
                <a:ea typeface="微软雅黑" pitchFamily="34" charset="-122"/>
              </a:rPr>
              <a:t>N4 + 2</a:t>
            </a:r>
            <a:r>
              <a:rPr lang="en-US" altLang="zh-CN" sz="1600" b="1" i="1" baseline="30000" dirty="0">
                <a:latin typeface="微软雅黑" pitchFamily="34" charset="-122"/>
                <a:ea typeface="微软雅黑" pitchFamily="34" charset="-122"/>
              </a:rPr>
              <a:t>i – 1</a:t>
            </a:r>
            <a:r>
              <a:rPr lang="zh-CN" altLang="en-US" sz="1600" b="1" dirty="0">
                <a:latin typeface="微软雅黑" pitchFamily="34" charset="-122"/>
                <a:ea typeface="微软雅黑" pitchFamily="34" charset="-122"/>
              </a:rPr>
              <a:t>）计算得出</a:t>
            </a:r>
            <a:r>
              <a:rPr lang="zh-CN" altLang="en-US" sz="1600" b="1" dirty="0" smtClean="0">
                <a:latin typeface="微软雅黑" pitchFamily="34" charset="-122"/>
                <a:ea typeface="微软雅黑" pitchFamily="34" charset="-122"/>
              </a:rPr>
              <a:t>其</a:t>
            </a:r>
            <a:r>
              <a:rPr lang="zh-CN" altLang="en-US" sz="1600" b="1" dirty="0" smtClean="0">
                <a:solidFill>
                  <a:srgbClr val="0000FF"/>
                </a:solidFill>
                <a:latin typeface="微软雅黑" pitchFamily="34" charset="-122"/>
                <a:ea typeface="微软雅黑" pitchFamily="34" charset="-122"/>
              </a:rPr>
              <a:t>后继节点。</a:t>
            </a:r>
            <a:endParaRPr lang="zh-CN" altLang="en-US" sz="1600" b="1" dirty="0">
              <a:solidFill>
                <a:srgbClr val="0000FF"/>
              </a:solidFill>
              <a:latin typeface="微软雅黑" pitchFamily="34" charset="-122"/>
              <a:ea typeface="微软雅黑" pitchFamily="34" charset="-122"/>
            </a:endParaRPr>
          </a:p>
        </p:txBody>
      </p:sp>
      <p:grpSp>
        <p:nvGrpSpPr>
          <p:cNvPr id="6" name="组合 5"/>
          <p:cNvGrpSpPr/>
          <p:nvPr/>
        </p:nvGrpSpPr>
        <p:grpSpPr>
          <a:xfrm>
            <a:off x="2951985" y="1278383"/>
            <a:ext cx="5653754" cy="2840854"/>
            <a:chOff x="152399" y="419100"/>
            <a:chExt cx="7000772" cy="3554168"/>
          </a:xfrm>
        </p:grpSpPr>
        <p:sp>
          <p:nvSpPr>
            <p:cNvPr id="8" name="任意多边形 7"/>
            <p:cNvSpPr/>
            <p:nvPr/>
          </p:nvSpPr>
          <p:spPr>
            <a:xfrm>
              <a:off x="1703388" y="2362200"/>
              <a:ext cx="628650" cy="1282700"/>
            </a:xfrm>
            <a:custGeom>
              <a:avLst/>
              <a:gdLst>
                <a:gd name="connsiteX0" fmla="*/ 0 w 629174"/>
                <a:gd name="connsiteY0" fmla="*/ 0 h 1283516"/>
                <a:gd name="connsiteX1" fmla="*/ 629174 w 629174"/>
                <a:gd name="connsiteY1" fmla="*/ 700481 h 1283516"/>
                <a:gd name="connsiteX2" fmla="*/ 0 w 629174"/>
                <a:gd name="connsiteY2" fmla="*/ 1283516 h 1283516"/>
                <a:gd name="connsiteX3" fmla="*/ 0 w 629174"/>
                <a:gd name="connsiteY3" fmla="*/ 0 h 1283516"/>
              </a:gdLst>
              <a:ahLst/>
              <a:cxnLst>
                <a:cxn ang="0">
                  <a:pos x="connsiteX0" y="connsiteY0"/>
                </a:cxn>
                <a:cxn ang="0">
                  <a:pos x="connsiteX1" y="connsiteY1"/>
                </a:cxn>
                <a:cxn ang="0">
                  <a:pos x="connsiteX2" y="connsiteY2"/>
                </a:cxn>
                <a:cxn ang="0">
                  <a:pos x="connsiteX3" y="connsiteY3"/>
                </a:cxn>
              </a:cxnLst>
              <a:rect l="l" t="t" r="r" b="b"/>
              <a:pathLst>
                <a:path w="629174" h="1283516">
                  <a:moveTo>
                    <a:pt x="0" y="0"/>
                  </a:moveTo>
                  <a:lnTo>
                    <a:pt x="629174" y="700481"/>
                  </a:lnTo>
                  <a:lnTo>
                    <a:pt x="0" y="1283516"/>
                  </a:lnTo>
                  <a:lnTo>
                    <a:pt x="0" y="0"/>
                  </a:lnTo>
                  <a:close/>
                </a:path>
              </a:pathLst>
            </a:custGeom>
            <a:gradFill flip="none" rotWithShape="1">
              <a:gsLst>
                <a:gs pos="0">
                  <a:schemeClr val="bg2">
                    <a:lumMod val="20000"/>
                    <a:lumOff val="80000"/>
                    <a:shade val="30000"/>
                    <a:satMod val="115000"/>
                  </a:schemeClr>
                </a:gs>
                <a:gs pos="50000">
                  <a:schemeClr val="bg2">
                    <a:lumMod val="20000"/>
                    <a:lumOff val="80000"/>
                    <a:shade val="67500"/>
                    <a:satMod val="115000"/>
                  </a:schemeClr>
                </a:gs>
                <a:gs pos="100000">
                  <a:schemeClr val="bg2">
                    <a:lumMod val="20000"/>
                    <a:lumOff val="80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228600" y="533400"/>
              <a:ext cx="715963"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000" b="1">
                  <a:latin typeface="微软雅黑" panose="020B0503020204020204" pitchFamily="34" charset="-122"/>
                  <a:ea typeface="微软雅黑" panose="020B0503020204020204" pitchFamily="34" charset="-122"/>
                </a:rPr>
                <a:t>图例：</a:t>
              </a:r>
            </a:p>
          </p:txBody>
        </p:sp>
        <p:sp>
          <p:nvSpPr>
            <p:cNvPr id="10" name="Text Box 47"/>
            <p:cNvSpPr txBox="1">
              <a:spLocks noChangeArrowheads="1"/>
            </p:cNvSpPr>
            <p:nvPr/>
          </p:nvSpPr>
          <p:spPr bwMode="auto">
            <a:xfrm>
              <a:off x="1127125" y="533400"/>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NID</a:t>
              </a:r>
            </a:p>
          </p:txBody>
        </p:sp>
        <p:sp>
          <p:nvSpPr>
            <p:cNvPr id="11" name="Oval 53"/>
            <p:cNvSpPr>
              <a:spLocks noChangeArrowheads="1"/>
            </p:cNvSpPr>
            <p:nvPr/>
          </p:nvSpPr>
          <p:spPr bwMode="auto">
            <a:xfrm>
              <a:off x="876300" y="6254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2" name="Text Box 71"/>
            <p:cNvSpPr txBox="1">
              <a:spLocks noChangeArrowheads="1"/>
            </p:cNvSpPr>
            <p:nvPr/>
          </p:nvSpPr>
          <p:spPr bwMode="auto">
            <a:xfrm>
              <a:off x="854075" y="860425"/>
              <a:ext cx="190500" cy="206745"/>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900" b="1" dirty="0">
                <a:latin typeface="微软雅黑" panose="020B0503020204020204" pitchFamily="34" charset="-122"/>
                <a:ea typeface="微软雅黑" panose="020B0503020204020204" pitchFamily="34" charset="-122"/>
              </a:endParaRPr>
            </a:p>
          </p:txBody>
        </p:sp>
        <p:sp>
          <p:nvSpPr>
            <p:cNvPr id="13" name="Text Box 47"/>
            <p:cNvSpPr txBox="1">
              <a:spLocks noChangeArrowheads="1"/>
            </p:cNvSpPr>
            <p:nvPr/>
          </p:nvSpPr>
          <p:spPr bwMode="auto">
            <a:xfrm>
              <a:off x="1143001" y="819401"/>
              <a:ext cx="380999" cy="367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KID</a:t>
              </a:r>
            </a:p>
          </p:txBody>
        </p:sp>
        <p:sp>
          <p:nvSpPr>
            <p:cNvPr id="14" name="矩形 13"/>
            <p:cNvSpPr/>
            <p:nvPr/>
          </p:nvSpPr>
          <p:spPr bwMode="auto">
            <a:xfrm>
              <a:off x="266700" y="519113"/>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5" name="Oval 20"/>
            <p:cNvSpPr>
              <a:spLocks noChangeArrowheads="1"/>
            </p:cNvSpPr>
            <p:nvPr/>
          </p:nvSpPr>
          <p:spPr bwMode="auto">
            <a:xfrm>
              <a:off x="1987550" y="654050"/>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6" name="Text Box 31"/>
            <p:cNvSpPr txBox="1">
              <a:spLocks noChangeArrowheads="1"/>
            </p:cNvSpPr>
            <p:nvPr/>
          </p:nvSpPr>
          <p:spPr bwMode="auto">
            <a:xfrm>
              <a:off x="3263900" y="654050"/>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0</a:t>
              </a:r>
            </a:p>
          </p:txBody>
        </p:sp>
        <p:sp>
          <p:nvSpPr>
            <p:cNvPr id="17" name="Text Box 33"/>
            <p:cNvSpPr txBox="1">
              <a:spLocks noChangeArrowheads="1"/>
            </p:cNvSpPr>
            <p:nvPr/>
          </p:nvSpPr>
          <p:spPr bwMode="auto">
            <a:xfrm>
              <a:off x="3519487" y="67627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a:t>
              </a:r>
            </a:p>
          </p:txBody>
        </p:sp>
        <p:sp>
          <p:nvSpPr>
            <p:cNvPr id="18" name="Text Box 34"/>
            <p:cNvSpPr txBox="1">
              <a:spLocks noChangeArrowheads="1"/>
            </p:cNvSpPr>
            <p:nvPr/>
          </p:nvSpPr>
          <p:spPr bwMode="auto">
            <a:xfrm>
              <a:off x="3754438" y="72866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a:t>
              </a:r>
            </a:p>
          </p:txBody>
        </p:sp>
        <p:sp>
          <p:nvSpPr>
            <p:cNvPr id="19" name="Text Box 35"/>
            <p:cNvSpPr txBox="1">
              <a:spLocks noChangeArrowheads="1"/>
            </p:cNvSpPr>
            <p:nvPr/>
          </p:nvSpPr>
          <p:spPr bwMode="auto">
            <a:xfrm>
              <a:off x="3997325" y="85248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a:t>
              </a:r>
            </a:p>
          </p:txBody>
        </p:sp>
        <p:sp>
          <p:nvSpPr>
            <p:cNvPr id="20" name="Text Box 36"/>
            <p:cNvSpPr txBox="1">
              <a:spLocks noChangeArrowheads="1"/>
            </p:cNvSpPr>
            <p:nvPr/>
          </p:nvSpPr>
          <p:spPr bwMode="auto">
            <a:xfrm>
              <a:off x="4152898" y="102869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4</a:t>
              </a:r>
            </a:p>
          </p:txBody>
        </p:sp>
        <p:sp>
          <p:nvSpPr>
            <p:cNvPr id="21" name="Text Box 37"/>
            <p:cNvSpPr txBox="1">
              <a:spLocks noChangeArrowheads="1"/>
            </p:cNvSpPr>
            <p:nvPr/>
          </p:nvSpPr>
          <p:spPr bwMode="auto">
            <a:xfrm>
              <a:off x="4303712" y="11763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5</a:t>
              </a:r>
            </a:p>
          </p:txBody>
        </p:sp>
        <p:sp>
          <p:nvSpPr>
            <p:cNvPr id="22" name="Text Box 38"/>
            <p:cNvSpPr txBox="1">
              <a:spLocks noChangeArrowheads="1"/>
            </p:cNvSpPr>
            <p:nvPr/>
          </p:nvSpPr>
          <p:spPr bwMode="auto">
            <a:xfrm>
              <a:off x="4435474" y="13604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6</a:t>
              </a:r>
            </a:p>
          </p:txBody>
        </p:sp>
        <p:sp>
          <p:nvSpPr>
            <p:cNvPr id="23" name="Text Box 39"/>
            <p:cNvSpPr txBox="1">
              <a:spLocks noChangeArrowheads="1"/>
            </p:cNvSpPr>
            <p:nvPr/>
          </p:nvSpPr>
          <p:spPr bwMode="auto">
            <a:xfrm>
              <a:off x="4502150" y="163512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7</a:t>
              </a:r>
            </a:p>
          </p:txBody>
        </p:sp>
        <p:sp>
          <p:nvSpPr>
            <p:cNvPr id="24" name="Text Box 40"/>
            <p:cNvSpPr txBox="1">
              <a:spLocks noChangeArrowheads="1"/>
            </p:cNvSpPr>
            <p:nvPr/>
          </p:nvSpPr>
          <p:spPr bwMode="auto">
            <a:xfrm>
              <a:off x="4543426" y="18494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8</a:t>
              </a:r>
            </a:p>
          </p:txBody>
        </p:sp>
        <p:sp>
          <p:nvSpPr>
            <p:cNvPr id="25" name="Text Box 41"/>
            <p:cNvSpPr txBox="1">
              <a:spLocks noChangeArrowheads="1"/>
            </p:cNvSpPr>
            <p:nvPr/>
          </p:nvSpPr>
          <p:spPr bwMode="auto">
            <a:xfrm>
              <a:off x="4538665" y="20970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9</a:t>
              </a:r>
            </a:p>
          </p:txBody>
        </p:sp>
        <p:sp>
          <p:nvSpPr>
            <p:cNvPr id="26" name="Text Box 42"/>
            <p:cNvSpPr txBox="1">
              <a:spLocks noChangeArrowheads="1"/>
            </p:cNvSpPr>
            <p:nvPr/>
          </p:nvSpPr>
          <p:spPr bwMode="auto">
            <a:xfrm>
              <a:off x="4479926" y="23447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10</a:t>
              </a:r>
            </a:p>
          </p:txBody>
        </p:sp>
        <p:sp>
          <p:nvSpPr>
            <p:cNvPr id="27" name="Text Box 43"/>
            <p:cNvSpPr txBox="1">
              <a:spLocks noChangeArrowheads="1"/>
            </p:cNvSpPr>
            <p:nvPr/>
          </p:nvSpPr>
          <p:spPr bwMode="auto">
            <a:xfrm>
              <a:off x="4357688" y="25701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11</a:t>
              </a:r>
            </a:p>
          </p:txBody>
        </p:sp>
        <p:sp>
          <p:nvSpPr>
            <p:cNvPr id="28" name="Text Box 44"/>
            <p:cNvSpPr txBox="1">
              <a:spLocks noChangeArrowheads="1"/>
            </p:cNvSpPr>
            <p:nvPr/>
          </p:nvSpPr>
          <p:spPr bwMode="auto">
            <a:xfrm>
              <a:off x="4179888" y="27955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12</a:t>
              </a:r>
            </a:p>
          </p:txBody>
        </p:sp>
        <p:sp>
          <p:nvSpPr>
            <p:cNvPr id="29" name="Text Box 45"/>
            <p:cNvSpPr txBox="1">
              <a:spLocks noChangeArrowheads="1"/>
            </p:cNvSpPr>
            <p:nvPr/>
          </p:nvSpPr>
          <p:spPr bwMode="auto">
            <a:xfrm>
              <a:off x="4011614" y="2932111"/>
              <a:ext cx="230186"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13</a:t>
              </a:r>
            </a:p>
          </p:txBody>
        </p:sp>
        <p:sp>
          <p:nvSpPr>
            <p:cNvPr id="30" name="Text Box 46"/>
            <p:cNvSpPr txBox="1">
              <a:spLocks noChangeArrowheads="1"/>
            </p:cNvSpPr>
            <p:nvPr/>
          </p:nvSpPr>
          <p:spPr bwMode="auto">
            <a:xfrm>
              <a:off x="3802062" y="306070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14</a:t>
              </a:r>
            </a:p>
          </p:txBody>
        </p:sp>
        <p:sp>
          <p:nvSpPr>
            <p:cNvPr id="31" name="Text Box 47"/>
            <p:cNvSpPr txBox="1">
              <a:spLocks noChangeArrowheads="1"/>
            </p:cNvSpPr>
            <p:nvPr/>
          </p:nvSpPr>
          <p:spPr bwMode="auto">
            <a:xfrm>
              <a:off x="3535361" y="313372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15</a:t>
              </a:r>
            </a:p>
          </p:txBody>
        </p:sp>
        <p:sp>
          <p:nvSpPr>
            <p:cNvPr id="32" name="Oval 48"/>
            <p:cNvSpPr>
              <a:spLocks noChangeArrowheads="1"/>
            </p:cNvSpPr>
            <p:nvPr/>
          </p:nvSpPr>
          <p:spPr bwMode="auto">
            <a:xfrm>
              <a:off x="4311650" y="9969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3" name="Oval 49"/>
            <p:cNvSpPr>
              <a:spLocks noChangeArrowheads="1"/>
            </p:cNvSpPr>
            <p:nvPr/>
          </p:nvSpPr>
          <p:spPr bwMode="auto">
            <a:xfrm>
              <a:off x="2330450" y="29876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4" name="Oval 50"/>
            <p:cNvSpPr>
              <a:spLocks noChangeArrowheads="1"/>
            </p:cNvSpPr>
            <p:nvPr/>
          </p:nvSpPr>
          <p:spPr bwMode="auto">
            <a:xfrm>
              <a:off x="2016125" y="14541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5" name="Oval 51"/>
            <p:cNvSpPr>
              <a:spLocks noChangeArrowheads="1"/>
            </p:cNvSpPr>
            <p:nvPr/>
          </p:nvSpPr>
          <p:spPr bwMode="auto">
            <a:xfrm>
              <a:off x="3911600" y="730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6" name="Oval 52"/>
            <p:cNvSpPr>
              <a:spLocks noChangeArrowheads="1"/>
            </p:cNvSpPr>
            <p:nvPr/>
          </p:nvSpPr>
          <p:spPr bwMode="auto">
            <a:xfrm>
              <a:off x="4633913" y="25415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7" name="Oval 53"/>
            <p:cNvSpPr>
              <a:spLocks noChangeArrowheads="1"/>
            </p:cNvSpPr>
            <p:nvPr/>
          </p:nvSpPr>
          <p:spPr bwMode="auto">
            <a:xfrm>
              <a:off x="2797175" y="682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8" name="Oval 54"/>
            <p:cNvSpPr>
              <a:spLocks noChangeArrowheads="1"/>
            </p:cNvSpPr>
            <p:nvPr/>
          </p:nvSpPr>
          <p:spPr bwMode="auto">
            <a:xfrm>
              <a:off x="4654550" y="1492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9" name="Oval 55"/>
            <p:cNvSpPr>
              <a:spLocks noChangeArrowheads="1"/>
            </p:cNvSpPr>
            <p:nvPr/>
          </p:nvSpPr>
          <p:spPr bwMode="auto">
            <a:xfrm>
              <a:off x="47688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0" name="Oval 56"/>
            <p:cNvSpPr>
              <a:spLocks noChangeArrowheads="1"/>
            </p:cNvSpPr>
            <p:nvPr/>
          </p:nvSpPr>
          <p:spPr bwMode="auto">
            <a:xfrm>
              <a:off x="4359275" y="3016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1" name="Oval 57"/>
            <p:cNvSpPr>
              <a:spLocks noChangeArrowheads="1"/>
            </p:cNvSpPr>
            <p:nvPr/>
          </p:nvSpPr>
          <p:spPr bwMode="auto">
            <a:xfrm>
              <a:off x="3892550" y="3321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2" name="Oval 58"/>
            <p:cNvSpPr>
              <a:spLocks noChangeArrowheads="1"/>
            </p:cNvSpPr>
            <p:nvPr/>
          </p:nvSpPr>
          <p:spPr bwMode="auto">
            <a:xfrm>
              <a:off x="3368675" y="3435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3" name="Oval 59"/>
            <p:cNvSpPr>
              <a:spLocks noChangeArrowheads="1"/>
            </p:cNvSpPr>
            <p:nvPr/>
          </p:nvSpPr>
          <p:spPr bwMode="auto">
            <a:xfrm>
              <a:off x="2825750" y="33305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4" name="Oval 60"/>
            <p:cNvSpPr>
              <a:spLocks noChangeArrowheads="1"/>
            </p:cNvSpPr>
            <p:nvPr/>
          </p:nvSpPr>
          <p:spPr bwMode="auto">
            <a:xfrm>
              <a:off x="2063750" y="2559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5" name="Oval 61"/>
            <p:cNvSpPr>
              <a:spLocks noChangeArrowheads="1"/>
            </p:cNvSpPr>
            <p:nvPr/>
          </p:nvSpPr>
          <p:spPr bwMode="auto">
            <a:xfrm>
              <a:off x="19494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6" name="Oval 62"/>
            <p:cNvSpPr>
              <a:spLocks noChangeArrowheads="1"/>
            </p:cNvSpPr>
            <p:nvPr/>
          </p:nvSpPr>
          <p:spPr bwMode="auto">
            <a:xfrm>
              <a:off x="2368550" y="1035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7" name="Oval 51"/>
            <p:cNvSpPr>
              <a:spLocks noChangeArrowheads="1"/>
            </p:cNvSpPr>
            <p:nvPr/>
          </p:nvSpPr>
          <p:spPr bwMode="auto">
            <a:xfrm>
              <a:off x="3636963" y="654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4148138"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578100"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3081338"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4537075" y="12636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103563"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2554288" y="31988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968500" y="17430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2181225" y="12477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3621088"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414813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4741863" y="2284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4521200" y="2809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1974850" y="23002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2173288" y="28035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3362325" y="6238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3" name="Text Box 47"/>
            <p:cNvSpPr txBox="1">
              <a:spLocks noChangeArrowheads="1"/>
            </p:cNvSpPr>
            <p:nvPr/>
          </p:nvSpPr>
          <p:spPr bwMode="auto">
            <a:xfrm>
              <a:off x="3306763" y="316864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16</a:t>
              </a:r>
            </a:p>
          </p:txBody>
        </p:sp>
        <p:sp>
          <p:nvSpPr>
            <p:cNvPr id="64" name="Text Box 47"/>
            <p:cNvSpPr txBox="1">
              <a:spLocks noChangeArrowheads="1"/>
            </p:cNvSpPr>
            <p:nvPr/>
          </p:nvSpPr>
          <p:spPr bwMode="auto">
            <a:xfrm>
              <a:off x="3063876" y="314801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17</a:t>
              </a:r>
            </a:p>
          </p:txBody>
        </p:sp>
        <p:sp>
          <p:nvSpPr>
            <p:cNvPr id="65" name="Text Box 47"/>
            <p:cNvSpPr txBox="1">
              <a:spLocks noChangeArrowheads="1"/>
            </p:cNvSpPr>
            <p:nvPr/>
          </p:nvSpPr>
          <p:spPr bwMode="auto">
            <a:xfrm>
              <a:off x="2819401" y="30876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18</a:t>
              </a:r>
            </a:p>
          </p:txBody>
        </p:sp>
        <p:sp>
          <p:nvSpPr>
            <p:cNvPr id="66" name="Text Box 47"/>
            <p:cNvSpPr txBox="1">
              <a:spLocks noChangeArrowheads="1"/>
            </p:cNvSpPr>
            <p:nvPr/>
          </p:nvSpPr>
          <p:spPr bwMode="auto">
            <a:xfrm>
              <a:off x="2598739" y="29876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19</a:t>
              </a:r>
            </a:p>
          </p:txBody>
        </p:sp>
        <p:sp>
          <p:nvSpPr>
            <p:cNvPr id="67" name="Text Box 47"/>
            <p:cNvSpPr txBox="1">
              <a:spLocks noChangeArrowheads="1"/>
            </p:cNvSpPr>
            <p:nvPr/>
          </p:nvSpPr>
          <p:spPr bwMode="auto">
            <a:xfrm>
              <a:off x="2482851" y="275113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20</a:t>
              </a:r>
            </a:p>
          </p:txBody>
        </p:sp>
        <p:sp>
          <p:nvSpPr>
            <p:cNvPr id="68" name="Text Box 47"/>
            <p:cNvSpPr txBox="1">
              <a:spLocks noChangeArrowheads="1"/>
            </p:cNvSpPr>
            <p:nvPr/>
          </p:nvSpPr>
          <p:spPr bwMode="auto">
            <a:xfrm>
              <a:off x="2292351" y="26368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21</a:t>
              </a:r>
            </a:p>
          </p:txBody>
        </p:sp>
        <p:sp>
          <p:nvSpPr>
            <p:cNvPr id="69" name="Text Box 47"/>
            <p:cNvSpPr txBox="1">
              <a:spLocks noChangeArrowheads="1"/>
            </p:cNvSpPr>
            <p:nvPr/>
          </p:nvSpPr>
          <p:spPr bwMode="auto">
            <a:xfrm>
              <a:off x="2178051" y="243839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22</a:t>
              </a:r>
            </a:p>
          </p:txBody>
        </p:sp>
        <p:sp>
          <p:nvSpPr>
            <p:cNvPr id="70" name="Text Box 47"/>
            <p:cNvSpPr txBox="1">
              <a:spLocks noChangeArrowheads="1"/>
            </p:cNvSpPr>
            <p:nvPr/>
          </p:nvSpPr>
          <p:spPr bwMode="auto">
            <a:xfrm>
              <a:off x="2063749" y="2187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23</a:t>
              </a:r>
            </a:p>
          </p:txBody>
        </p:sp>
        <p:sp>
          <p:nvSpPr>
            <p:cNvPr id="71" name="Text Box 47"/>
            <p:cNvSpPr txBox="1">
              <a:spLocks noChangeArrowheads="1"/>
            </p:cNvSpPr>
            <p:nvPr/>
          </p:nvSpPr>
          <p:spPr bwMode="auto">
            <a:xfrm>
              <a:off x="2063749" y="190499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24</a:t>
              </a:r>
            </a:p>
          </p:txBody>
        </p:sp>
        <p:sp>
          <p:nvSpPr>
            <p:cNvPr id="72" name="Text Box 47"/>
            <p:cNvSpPr txBox="1">
              <a:spLocks noChangeArrowheads="1"/>
            </p:cNvSpPr>
            <p:nvPr/>
          </p:nvSpPr>
          <p:spPr bwMode="auto">
            <a:xfrm>
              <a:off x="2063749" y="164623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25</a:t>
              </a:r>
            </a:p>
          </p:txBody>
        </p:sp>
        <p:sp>
          <p:nvSpPr>
            <p:cNvPr id="73" name="Text Box 47"/>
            <p:cNvSpPr txBox="1">
              <a:spLocks noChangeArrowheads="1"/>
            </p:cNvSpPr>
            <p:nvPr/>
          </p:nvSpPr>
          <p:spPr bwMode="auto">
            <a:xfrm>
              <a:off x="2162175" y="142557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26</a:t>
              </a:r>
            </a:p>
          </p:txBody>
        </p:sp>
        <p:sp>
          <p:nvSpPr>
            <p:cNvPr id="74" name="Text Box 47"/>
            <p:cNvSpPr txBox="1">
              <a:spLocks noChangeArrowheads="1"/>
            </p:cNvSpPr>
            <p:nvPr/>
          </p:nvSpPr>
          <p:spPr bwMode="auto">
            <a:xfrm>
              <a:off x="2268538" y="12493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27</a:t>
              </a:r>
            </a:p>
          </p:txBody>
        </p:sp>
        <p:sp>
          <p:nvSpPr>
            <p:cNvPr id="75" name="Text Box 47"/>
            <p:cNvSpPr txBox="1">
              <a:spLocks noChangeArrowheads="1"/>
            </p:cNvSpPr>
            <p:nvPr/>
          </p:nvSpPr>
          <p:spPr bwMode="auto">
            <a:xfrm>
              <a:off x="2360613" y="1044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28</a:t>
              </a:r>
            </a:p>
          </p:txBody>
        </p:sp>
        <p:sp>
          <p:nvSpPr>
            <p:cNvPr id="76" name="Text Box 47"/>
            <p:cNvSpPr txBox="1">
              <a:spLocks noChangeArrowheads="1"/>
            </p:cNvSpPr>
            <p:nvPr/>
          </p:nvSpPr>
          <p:spPr bwMode="auto">
            <a:xfrm>
              <a:off x="2573338" y="8921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29</a:t>
              </a:r>
            </a:p>
          </p:txBody>
        </p:sp>
        <p:sp>
          <p:nvSpPr>
            <p:cNvPr id="77" name="Text Box 47"/>
            <p:cNvSpPr txBox="1">
              <a:spLocks noChangeArrowheads="1"/>
            </p:cNvSpPr>
            <p:nvPr/>
          </p:nvSpPr>
          <p:spPr bwMode="auto">
            <a:xfrm>
              <a:off x="2787650" y="7842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30</a:t>
              </a:r>
            </a:p>
          </p:txBody>
        </p:sp>
        <p:sp>
          <p:nvSpPr>
            <p:cNvPr id="78" name="Text Box 47"/>
            <p:cNvSpPr txBox="1">
              <a:spLocks noChangeArrowheads="1"/>
            </p:cNvSpPr>
            <p:nvPr/>
          </p:nvSpPr>
          <p:spPr bwMode="auto">
            <a:xfrm>
              <a:off x="3062288" y="6699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31</a:t>
              </a:r>
            </a:p>
          </p:txBody>
        </p:sp>
        <p:sp>
          <p:nvSpPr>
            <p:cNvPr id="79" name="Text Box 71"/>
            <p:cNvSpPr txBox="1">
              <a:spLocks noChangeArrowheads="1"/>
            </p:cNvSpPr>
            <p:nvPr/>
          </p:nvSpPr>
          <p:spPr bwMode="auto">
            <a:xfrm>
              <a:off x="5013325" y="2285999"/>
              <a:ext cx="454029"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K8</a:t>
              </a:r>
            </a:p>
          </p:txBody>
        </p:sp>
        <p:sp>
          <p:nvSpPr>
            <p:cNvPr id="80" name="Oval 53"/>
            <p:cNvSpPr>
              <a:spLocks noChangeArrowheads="1"/>
            </p:cNvSpPr>
            <p:nvPr/>
          </p:nvSpPr>
          <p:spPr bwMode="auto">
            <a:xfrm>
              <a:off x="4692650" y="170656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81" name="Text Box 47"/>
            <p:cNvSpPr txBox="1">
              <a:spLocks noChangeArrowheads="1"/>
            </p:cNvSpPr>
            <p:nvPr/>
          </p:nvSpPr>
          <p:spPr bwMode="auto">
            <a:xfrm>
              <a:off x="4883149" y="1600198"/>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N7</a:t>
              </a:r>
            </a:p>
          </p:txBody>
        </p:sp>
        <p:sp>
          <p:nvSpPr>
            <p:cNvPr id="82" name="Text Box 47"/>
            <p:cNvSpPr txBox="1">
              <a:spLocks noChangeArrowheads="1"/>
            </p:cNvSpPr>
            <p:nvPr/>
          </p:nvSpPr>
          <p:spPr bwMode="auto">
            <a:xfrm>
              <a:off x="4822825" y="2498724"/>
              <a:ext cx="47614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N10</a:t>
              </a:r>
            </a:p>
          </p:txBody>
        </p:sp>
        <p:sp>
          <p:nvSpPr>
            <p:cNvPr id="83" name="Text Box 47"/>
            <p:cNvSpPr txBox="1">
              <a:spLocks noChangeArrowheads="1"/>
            </p:cNvSpPr>
            <p:nvPr/>
          </p:nvSpPr>
          <p:spPr bwMode="auto">
            <a:xfrm>
              <a:off x="4533900" y="769938"/>
              <a:ext cx="47148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N4</a:t>
              </a:r>
            </a:p>
          </p:txBody>
        </p:sp>
        <p:sp>
          <p:nvSpPr>
            <p:cNvPr id="84" name="Text Box 47"/>
            <p:cNvSpPr txBox="1">
              <a:spLocks noChangeArrowheads="1"/>
            </p:cNvSpPr>
            <p:nvPr/>
          </p:nvSpPr>
          <p:spPr bwMode="auto">
            <a:xfrm>
              <a:off x="2590007" y="419268"/>
              <a:ext cx="514349"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N30</a:t>
              </a:r>
            </a:p>
          </p:txBody>
        </p:sp>
        <p:sp>
          <p:nvSpPr>
            <p:cNvPr id="85" name="Text Box 47"/>
            <p:cNvSpPr txBox="1">
              <a:spLocks noChangeArrowheads="1"/>
            </p:cNvSpPr>
            <p:nvPr/>
          </p:nvSpPr>
          <p:spPr bwMode="auto">
            <a:xfrm>
              <a:off x="1976438" y="3109914"/>
              <a:ext cx="438151"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N20</a:t>
              </a:r>
            </a:p>
          </p:txBody>
        </p:sp>
        <p:sp>
          <p:nvSpPr>
            <p:cNvPr id="86" name="Text Box 47"/>
            <p:cNvSpPr txBox="1">
              <a:spLocks noChangeArrowheads="1"/>
            </p:cNvSpPr>
            <p:nvPr/>
          </p:nvSpPr>
          <p:spPr bwMode="auto">
            <a:xfrm>
              <a:off x="1641693" y="1295401"/>
              <a:ext cx="47942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N26</a:t>
              </a:r>
            </a:p>
          </p:txBody>
        </p:sp>
        <p:sp>
          <p:nvSpPr>
            <p:cNvPr id="87" name="Text Box 71"/>
            <p:cNvSpPr txBox="1">
              <a:spLocks noChangeArrowheads="1"/>
            </p:cNvSpPr>
            <p:nvPr/>
          </p:nvSpPr>
          <p:spPr bwMode="auto">
            <a:xfrm>
              <a:off x="3968751" y="419100"/>
              <a:ext cx="427037"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K31</a:t>
              </a:r>
            </a:p>
          </p:txBody>
        </p:sp>
        <p:sp>
          <p:nvSpPr>
            <p:cNvPr id="88" name="Text Box 71"/>
            <p:cNvSpPr txBox="1">
              <a:spLocks noChangeArrowheads="1"/>
            </p:cNvSpPr>
            <p:nvPr/>
          </p:nvSpPr>
          <p:spPr bwMode="auto">
            <a:xfrm>
              <a:off x="1968500" y="701675"/>
              <a:ext cx="438153"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K29</a:t>
              </a:r>
            </a:p>
          </p:txBody>
        </p:sp>
        <p:sp>
          <p:nvSpPr>
            <p:cNvPr id="89" name="Text Box 71"/>
            <p:cNvSpPr txBox="1">
              <a:spLocks noChangeArrowheads="1"/>
            </p:cNvSpPr>
            <p:nvPr/>
          </p:nvSpPr>
          <p:spPr bwMode="auto">
            <a:xfrm>
              <a:off x="4425950" y="457198"/>
              <a:ext cx="419099"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a:t>
              </a:r>
            </a:p>
          </p:txBody>
        </p:sp>
        <p:sp>
          <p:nvSpPr>
            <p:cNvPr id="90" name="Text Box 71"/>
            <p:cNvSpPr txBox="1">
              <a:spLocks noChangeArrowheads="1"/>
            </p:cNvSpPr>
            <p:nvPr/>
          </p:nvSpPr>
          <p:spPr bwMode="auto">
            <a:xfrm>
              <a:off x="2262024" y="3352796"/>
              <a:ext cx="512764"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a:latin typeface="微软雅黑" panose="020B0503020204020204" pitchFamily="34" charset="-122"/>
                  <a:ea typeface="微软雅黑" panose="020B0503020204020204" pitchFamily="34" charset="-122"/>
                </a:rPr>
                <a:t>K12</a:t>
              </a:r>
              <a:endParaRPr kumimoji="1" lang="en-US" altLang="zh-CN" sz="10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1262063" y="1592263"/>
              <a:ext cx="466728"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K23</a:t>
              </a:r>
            </a:p>
          </p:txBody>
        </p:sp>
        <p:cxnSp>
          <p:nvCxnSpPr>
            <p:cNvPr id="92" name="直接箭头连接符 91"/>
            <p:cNvCxnSpPr/>
            <p:nvPr/>
          </p:nvCxnSpPr>
          <p:spPr bwMode="auto">
            <a:xfrm flipH="1">
              <a:off x="4776788" y="2408238"/>
              <a:ext cx="214312" cy="16668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bwMode="auto">
            <a:xfrm>
              <a:off x="423545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flipH="1">
              <a:off x="443388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V="1">
              <a:off x="1744663" y="1577975"/>
              <a:ext cx="273050" cy="1365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H="1" flipV="1">
              <a:off x="2392363" y="3140075"/>
              <a:ext cx="144462" cy="2206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245268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176"/>
            <p:cNvSpPr txBox="1">
              <a:spLocks noChangeArrowheads="1"/>
            </p:cNvSpPr>
            <p:nvPr/>
          </p:nvSpPr>
          <p:spPr bwMode="auto">
            <a:xfrm>
              <a:off x="5576890" y="764925"/>
              <a:ext cx="1576281" cy="1623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      N7</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+ 2      N7</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+ 4      N10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+ 8      N20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+ 16    N20</a:t>
              </a: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99" name="直接连接符 98"/>
            <p:cNvCxnSpPr/>
            <p:nvPr/>
          </p:nvCxnSpPr>
          <p:spPr>
            <a:xfrm flipV="1">
              <a:off x="5578475" y="10588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flipV="1">
              <a:off x="5570538" y="1303338"/>
              <a:ext cx="1363662" cy="6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flipV="1">
              <a:off x="5562600" y="15541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flipV="1">
              <a:off x="5562600" y="1812925"/>
              <a:ext cx="1363663"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flipV="1">
              <a:off x="6461125" y="838200"/>
              <a:ext cx="15875" cy="1227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TextBox 200"/>
            <p:cNvSpPr txBox="1">
              <a:spLocks noChangeArrowheads="1"/>
            </p:cNvSpPr>
            <p:nvPr/>
          </p:nvSpPr>
          <p:spPr bwMode="auto">
            <a:xfrm>
              <a:off x="152399" y="2327024"/>
              <a:ext cx="1833561" cy="16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+ 2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+ 4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+ 8      N30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+ 16    N4</a:t>
              </a: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05" name="矩形 104"/>
            <p:cNvSpPr/>
            <p:nvPr/>
          </p:nvSpPr>
          <p:spPr>
            <a:xfrm>
              <a:off x="195263" y="2362200"/>
              <a:ext cx="1489075" cy="12731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nvGrpSpPr>
            <p:cNvPr id="106" name="组合 115"/>
            <p:cNvGrpSpPr>
              <a:grpSpLocks/>
            </p:cNvGrpSpPr>
            <p:nvPr/>
          </p:nvGrpSpPr>
          <p:grpSpPr bwMode="auto">
            <a:xfrm>
              <a:off x="176213" y="2636838"/>
              <a:ext cx="1508125" cy="762000"/>
              <a:chOff x="304800" y="2636838"/>
              <a:chExt cx="1379538" cy="762000"/>
            </a:xfrm>
          </p:grpSpPr>
          <p:cxnSp>
            <p:nvCxnSpPr>
              <p:cNvPr id="107" name="直接连接符 106"/>
              <p:cNvCxnSpPr/>
              <p:nvPr/>
            </p:nvCxnSpPr>
            <p:spPr>
              <a:xfrm flipV="1">
                <a:off x="320773" y="2636838"/>
                <a:ext cx="1363565"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flipV="1">
                <a:off x="312060" y="2887663"/>
                <a:ext cx="1365017"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flipV="1">
                <a:off x="304800" y="3132138"/>
                <a:ext cx="1363564"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304800" y="3390900"/>
                <a:ext cx="1363564"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直接连接符 110"/>
            <p:cNvCxnSpPr/>
            <p:nvPr/>
          </p:nvCxnSpPr>
          <p:spPr>
            <a:xfrm flipV="1">
              <a:off x="1082675" y="2370138"/>
              <a:ext cx="14288" cy="127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Text Box 47"/>
            <p:cNvSpPr txBox="1">
              <a:spLocks noChangeArrowheads="1"/>
            </p:cNvSpPr>
            <p:nvPr/>
          </p:nvSpPr>
          <p:spPr bwMode="auto">
            <a:xfrm>
              <a:off x="5576890" y="534950"/>
              <a:ext cx="1365247"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N4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sp>
          <p:nvSpPr>
            <p:cNvPr id="113" name="Text Box 47"/>
            <p:cNvSpPr txBox="1">
              <a:spLocks noChangeArrowheads="1"/>
            </p:cNvSpPr>
            <p:nvPr/>
          </p:nvSpPr>
          <p:spPr bwMode="auto">
            <a:xfrm>
              <a:off x="212005" y="2060559"/>
              <a:ext cx="1418361"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N20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cxnSp>
          <p:nvCxnSpPr>
            <p:cNvPr id="114" name="直接箭头连接符 113"/>
            <p:cNvCxnSpPr/>
            <p:nvPr/>
          </p:nvCxnSpPr>
          <p:spPr bwMode="auto">
            <a:xfrm>
              <a:off x="4397375" y="1158875"/>
              <a:ext cx="250825" cy="14160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a:off x="4427538" y="1135063"/>
              <a:ext cx="288925" cy="61753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直接箭头连接符 115"/>
            <p:cNvCxnSpPr/>
            <p:nvPr/>
          </p:nvCxnSpPr>
          <p:spPr bwMode="auto">
            <a:xfrm flipH="1">
              <a:off x="2492375" y="1176950"/>
              <a:ext cx="1881188"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bwMode="auto">
            <a:xfrm flipH="1" flipV="1">
              <a:off x="2149475" y="1584325"/>
              <a:ext cx="220663" cy="1417638"/>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直接箭头连接符 117"/>
            <p:cNvCxnSpPr/>
            <p:nvPr/>
          </p:nvCxnSpPr>
          <p:spPr bwMode="auto">
            <a:xfrm flipV="1">
              <a:off x="2422525" y="846138"/>
              <a:ext cx="442913" cy="21558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9" name="直接箭头连接符 118"/>
            <p:cNvCxnSpPr/>
            <p:nvPr/>
          </p:nvCxnSpPr>
          <p:spPr bwMode="auto">
            <a:xfrm flipV="1">
              <a:off x="2397107" y="1085238"/>
              <a:ext cx="1897062"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5562600" y="830263"/>
              <a:ext cx="1371600" cy="1243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21" name="任意多边形 120"/>
            <p:cNvSpPr/>
            <p:nvPr/>
          </p:nvSpPr>
          <p:spPr>
            <a:xfrm>
              <a:off x="4479925" y="838200"/>
              <a:ext cx="1060450" cy="1241425"/>
            </a:xfrm>
            <a:custGeom>
              <a:avLst/>
              <a:gdLst>
                <a:gd name="connsiteX0" fmla="*/ 0 w 1082040"/>
                <a:gd name="connsiteY0" fmla="*/ 236220 h 1257300"/>
                <a:gd name="connsiteX1" fmla="*/ 0 w 1082040"/>
                <a:gd name="connsiteY1" fmla="*/ 236220 h 1257300"/>
                <a:gd name="connsiteX2" fmla="*/ 1074420 w 1082040"/>
                <a:gd name="connsiteY2" fmla="*/ 0 h 1257300"/>
                <a:gd name="connsiteX3" fmla="*/ 1082040 w 1082040"/>
                <a:gd name="connsiteY3" fmla="*/ 1257300 h 1257300"/>
                <a:gd name="connsiteX4" fmla="*/ 0 w 1082040"/>
                <a:gd name="connsiteY4" fmla="*/ 236220 h 1257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040" h="1257300">
                  <a:moveTo>
                    <a:pt x="0" y="236220"/>
                  </a:moveTo>
                  <a:lnTo>
                    <a:pt x="0" y="236220"/>
                  </a:lnTo>
                  <a:lnTo>
                    <a:pt x="1074420" y="0"/>
                  </a:lnTo>
                  <a:lnTo>
                    <a:pt x="1082040" y="1257300"/>
                  </a:lnTo>
                  <a:lnTo>
                    <a:pt x="0" y="236220"/>
                  </a:ln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sp>
        <p:nvSpPr>
          <p:cNvPr id="122" name="Rectangle 4"/>
          <p:cNvSpPr>
            <a:spLocks noChangeArrowheads="1"/>
          </p:cNvSpPr>
          <p:nvPr/>
        </p:nvSpPr>
        <p:spPr bwMode="auto">
          <a:xfrm>
            <a:off x="7357533" y="37227"/>
            <a:ext cx="178391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1100" b="1" dirty="0">
                <a:solidFill>
                  <a:srgbClr val="0070C0"/>
                </a:solidFill>
                <a:latin typeface="微软雅黑" pitchFamily="34" charset="-122"/>
                <a:ea typeface="微软雅黑" pitchFamily="34" charset="-122"/>
              </a:rPr>
              <a:t>在</a:t>
            </a:r>
            <a:r>
              <a:rPr lang="en-US" altLang="zh-CN" sz="1100" b="1" dirty="0">
                <a:solidFill>
                  <a:srgbClr val="0070C0"/>
                </a:solidFill>
                <a:latin typeface="微软雅黑" pitchFamily="34" charset="-122"/>
                <a:ea typeface="微软雅黑" pitchFamily="34" charset="-122"/>
              </a:rPr>
              <a:t>P2P</a:t>
            </a:r>
            <a:r>
              <a:rPr lang="zh-CN" altLang="en-US" sz="1100" b="1" dirty="0">
                <a:solidFill>
                  <a:srgbClr val="0070C0"/>
                </a:solidFill>
                <a:latin typeface="微软雅黑" pitchFamily="34" charset="-122"/>
                <a:ea typeface="微软雅黑" pitchFamily="34" charset="-122"/>
              </a:rPr>
              <a:t>对等方中搜索对象</a:t>
            </a:r>
          </a:p>
        </p:txBody>
      </p:sp>
      <p:cxnSp>
        <p:nvCxnSpPr>
          <p:cNvPr id="123" name="直接箭头连接符 122"/>
          <p:cNvCxnSpPr>
            <a:stCxn id="32" idx="4"/>
            <a:endCxn id="33" idx="6"/>
          </p:cNvCxnSpPr>
          <p:nvPr/>
        </p:nvCxnSpPr>
        <p:spPr>
          <a:xfrm flipH="1">
            <a:off x="4834034" y="1862074"/>
            <a:ext cx="1538460" cy="1530283"/>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cxnSp>
        <p:nvCxnSpPr>
          <p:cNvPr id="126" name="直接箭头连接符 125"/>
          <p:cNvCxnSpPr/>
          <p:nvPr/>
        </p:nvCxnSpPr>
        <p:spPr>
          <a:xfrm flipH="1" flipV="1">
            <a:off x="4552504" y="2199339"/>
            <a:ext cx="244992" cy="1120686"/>
          </a:xfrm>
          <a:prstGeom prst="straightConnector1">
            <a:avLst/>
          </a:prstGeom>
          <a:ln w="28575">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nvGrpSpPr>
          <p:cNvPr id="129" name="组合 128"/>
          <p:cNvGrpSpPr/>
          <p:nvPr/>
        </p:nvGrpSpPr>
        <p:grpSpPr>
          <a:xfrm>
            <a:off x="3970628" y="3916680"/>
            <a:ext cx="3770398" cy="745971"/>
            <a:chOff x="4276452" y="4006495"/>
            <a:chExt cx="3770398" cy="745971"/>
          </a:xfrm>
        </p:grpSpPr>
        <p:sp>
          <p:nvSpPr>
            <p:cNvPr id="127" name="对角圆角矩形 126"/>
            <p:cNvSpPr/>
            <p:nvPr/>
          </p:nvSpPr>
          <p:spPr>
            <a:xfrm>
              <a:off x="4276452" y="4006495"/>
              <a:ext cx="3770398" cy="745971"/>
            </a:xfrm>
            <a:prstGeom prst="round2DiagRect">
              <a:avLst>
                <a:gd name="adj1" fmla="val 15845"/>
                <a:gd name="adj2" fmla="val 0"/>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400"/>
            </a:p>
          </p:txBody>
        </p:sp>
        <p:sp>
          <p:nvSpPr>
            <p:cNvPr id="128" name="矩形 5"/>
            <p:cNvSpPr>
              <a:spLocks noChangeArrowheads="1"/>
            </p:cNvSpPr>
            <p:nvPr/>
          </p:nvSpPr>
          <p:spPr bwMode="auto">
            <a:xfrm>
              <a:off x="4399236" y="4161598"/>
              <a:ext cx="35890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ts val="2400"/>
                </a:lnSpc>
                <a:spcBef>
                  <a:spcPts val="0"/>
                </a:spcBef>
              </a:pPr>
              <a:r>
                <a:rPr lang="zh-CN" altLang="en-US" b="1" dirty="0" smtClean="0">
                  <a:solidFill>
                    <a:schemeClr val="bg1"/>
                  </a:solidFill>
                  <a:latin typeface="微软雅黑" panose="020B0503020204020204" pitchFamily="34" charset="-122"/>
                  <a:ea typeface="微软雅黑" panose="020B0503020204020204" pitchFamily="34" charset="-122"/>
                </a:rPr>
                <a:t>同样查找</a:t>
              </a:r>
              <a:r>
                <a:rPr lang="en-US" altLang="zh-CN" b="1" dirty="0" smtClean="0">
                  <a:solidFill>
                    <a:schemeClr val="bg1"/>
                  </a:solidFill>
                  <a:latin typeface="微软雅黑" panose="020B0503020204020204" pitchFamily="34" charset="-122"/>
                  <a:ea typeface="微软雅黑" panose="020B0503020204020204" pitchFamily="34" charset="-122"/>
                </a:rPr>
                <a:t>K23</a:t>
              </a:r>
              <a:r>
                <a:rPr lang="zh-CN" altLang="en-US" b="1" dirty="0" smtClean="0">
                  <a:solidFill>
                    <a:schemeClr val="bg1"/>
                  </a:solidFill>
                  <a:latin typeface="微软雅黑" panose="020B0503020204020204" pitchFamily="34" charset="-122"/>
                  <a:ea typeface="微软雅黑" panose="020B0503020204020204" pitchFamily="34" charset="-122"/>
                </a:rPr>
                <a:t>，此时仅需</a:t>
              </a:r>
              <a:r>
                <a:rPr lang="en-US" altLang="zh-CN" b="1" dirty="0" smtClean="0">
                  <a:solidFill>
                    <a:schemeClr val="bg1"/>
                  </a:solidFill>
                  <a:latin typeface="微软雅黑" panose="020B0503020204020204" pitchFamily="34" charset="-122"/>
                  <a:ea typeface="微软雅黑" panose="020B0503020204020204" pitchFamily="34" charset="-122"/>
                </a:rPr>
                <a:t>2</a:t>
              </a:r>
              <a:r>
                <a:rPr lang="zh-CN" altLang="en-US" b="1" dirty="0" smtClean="0">
                  <a:solidFill>
                    <a:schemeClr val="bg1"/>
                  </a:solidFill>
                  <a:latin typeface="微软雅黑" panose="020B0503020204020204" pitchFamily="34" charset="-122"/>
                  <a:ea typeface="微软雅黑" panose="020B0503020204020204" pitchFamily="34" charset="-122"/>
                </a:rPr>
                <a:t>次查询。</a:t>
              </a:r>
              <a:endParaRPr lang="zh-CN" altLang="en-US" b="1" dirty="0">
                <a:solidFill>
                  <a:schemeClr val="bg1"/>
                </a:solidFill>
                <a:latin typeface="微软雅黑" panose="020B0503020204020204" pitchFamily="34" charset="-122"/>
                <a:ea typeface="微软雅黑" panose="020B0503020204020204" pitchFamily="34" charset="-122"/>
              </a:endParaRPr>
            </a:p>
          </p:txBody>
        </p:sp>
      </p:grpSp>
    </p:spTree>
    <p:custDataLst>
      <p:tags r:id="rId1"/>
    </p:custDataLst>
    <p:extLst>
      <p:ext uri="{BB962C8B-B14F-4D97-AF65-F5344CB8AC3E}">
        <p14:creationId xmlns:p14="http://schemas.microsoft.com/office/powerpoint/2010/main" val="18282815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fad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23"/>
                                        </p:tgtEl>
                                        <p:attrNameLst>
                                          <p:attrName>style.visibility</p:attrName>
                                        </p:attrNameLst>
                                      </p:cBhvr>
                                      <p:to>
                                        <p:strVal val="visible"/>
                                      </p:to>
                                    </p:set>
                                    <p:animEffect transition="in" filter="wipe(right)">
                                      <p:cBhvr>
                                        <p:cTn id="12" dur="500"/>
                                        <p:tgtEl>
                                          <p:spTgt spid="123"/>
                                        </p:tgtEl>
                                      </p:cBhvr>
                                    </p:animEffect>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126"/>
                                        </p:tgtEl>
                                        <p:attrNameLst>
                                          <p:attrName>style.visibility</p:attrName>
                                        </p:attrNameLst>
                                      </p:cBhvr>
                                      <p:to>
                                        <p:strVal val="visible"/>
                                      </p:to>
                                    </p:set>
                                    <p:animEffect transition="in" filter="wipe(down)">
                                      <p:cBhvr>
                                        <p:cTn id="16" dur="500"/>
                                        <p:tgtEl>
                                          <p:spTgt spid="126"/>
                                        </p:tgtEl>
                                      </p:cBhvr>
                                    </p:animEffect>
                                  </p:childTnLst>
                                </p:cTn>
                              </p:par>
                            </p:childTnLst>
                          </p:cTn>
                        </p:par>
                        <p:par>
                          <p:cTn id="17" fill="hold">
                            <p:stCondLst>
                              <p:cond delay="1000"/>
                            </p:stCondLst>
                            <p:childTnLst>
                              <p:par>
                                <p:cTn id="18" presetID="10" presetClass="entr" presetSubtype="0" fill="hold" nodeType="afterEffect">
                                  <p:stCondLst>
                                    <p:cond delay="0"/>
                                  </p:stCondLst>
                                  <p:childTnLst>
                                    <p:set>
                                      <p:cBhvr>
                                        <p:cTn id="19" dur="1" fill="hold">
                                          <p:stCondLst>
                                            <p:cond delay="0"/>
                                          </p:stCondLst>
                                        </p:cTn>
                                        <p:tgtEl>
                                          <p:spTgt spid="129"/>
                                        </p:tgtEl>
                                        <p:attrNameLst>
                                          <p:attrName>style.visibility</p:attrName>
                                        </p:attrNameLst>
                                      </p:cBhvr>
                                      <p:to>
                                        <p:strVal val="visible"/>
                                      </p:to>
                                    </p:set>
                                    <p:animEffect transition="in" filter="fade">
                                      <p:cBhvr>
                                        <p:cTn id="20"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sz="quarter" idx="10"/>
          </p:nvPr>
        </p:nvSpPr>
        <p:spPr/>
        <p:txBody>
          <a:bodyPr/>
          <a:lstStyle/>
          <a:p>
            <a:r>
              <a:rPr lang="zh-CN" altLang="en-US" dirty="0"/>
              <a:t>只能进行</a:t>
            </a:r>
            <a:r>
              <a:rPr lang="zh-CN" altLang="en-US" dirty="0" smtClean="0">
                <a:solidFill>
                  <a:srgbClr val="C00000"/>
                </a:solidFill>
              </a:rPr>
              <a:t>精确</a:t>
            </a:r>
            <a:r>
              <a:rPr lang="zh-CN" altLang="en-US" dirty="0" smtClean="0"/>
              <a:t>匹配</a:t>
            </a:r>
            <a:r>
              <a:rPr lang="zh-CN" altLang="en-US" dirty="0"/>
              <a:t>，实用价值有</a:t>
            </a:r>
            <a:r>
              <a:rPr lang="zh-CN" altLang="en-US" dirty="0" smtClean="0"/>
              <a:t>局限性。</a:t>
            </a:r>
            <a:endParaRPr lang="zh-CN" altLang="en-US" dirty="0"/>
          </a:p>
          <a:p>
            <a:r>
              <a:rPr lang="zh-CN" altLang="en-US" dirty="0"/>
              <a:t>适应节点</a:t>
            </a:r>
            <a:r>
              <a:rPr lang="zh-CN" altLang="en-US" dirty="0">
                <a:solidFill>
                  <a:srgbClr val="C00000"/>
                </a:solidFill>
              </a:rPr>
              <a:t>动态变化</a:t>
            </a:r>
            <a:r>
              <a:rPr lang="zh-CN" altLang="en-US" dirty="0"/>
              <a:t>的能力</a:t>
            </a:r>
            <a:r>
              <a:rPr lang="zh-CN" altLang="en-US" dirty="0" smtClean="0"/>
              <a:t>低。</a:t>
            </a:r>
            <a:endParaRPr lang="zh-CN" altLang="en-US" dirty="0"/>
          </a:p>
          <a:p>
            <a:r>
              <a:rPr lang="zh-CN" altLang="en-US" dirty="0"/>
              <a:t>经过哈希之后，节点的</a:t>
            </a:r>
            <a:r>
              <a:rPr lang="zh-CN" altLang="en-US" dirty="0">
                <a:solidFill>
                  <a:srgbClr val="C00000"/>
                </a:solidFill>
              </a:rPr>
              <a:t>位置信息</a:t>
            </a:r>
            <a:r>
              <a:rPr lang="zh-CN" altLang="en-US" dirty="0"/>
              <a:t>被破坏了，来自同一个子网的站点很可能节点号相距甚远，这</a:t>
            </a:r>
            <a:r>
              <a:rPr lang="zh-CN" altLang="en-US" dirty="0">
                <a:solidFill>
                  <a:srgbClr val="C00000"/>
                </a:solidFill>
              </a:rPr>
              <a:t>不利于查询性能</a:t>
            </a:r>
            <a:r>
              <a:rPr lang="zh-CN" altLang="en-US" dirty="0"/>
              <a:t>的</a:t>
            </a:r>
            <a:r>
              <a:rPr lang="zh-CN" altLang="en-US" dirty="0" smtClean="0"/>
              <a:t>优化。</a:t>
            </a:r>
            <a:endParaRPr lang="zh-CN" altLang="en-US" dirty="0"/>
          </a:p>
          <a:p>
            <a:r>
              <a:rPr lang="zh-CN" altLang="en-US" dirty="0"/>
              <a:t>基于哈希表的系统</a:t>
            </a:r>
            <a:r>
              <a:rPr lang="zh-CN" altLang="en-US" dirty="0">
                <a:solidFill>
                  <a:srgbClr val="C00000"/>
                </a:solidFill>
              </a:rPr>
              <a:t>不能利用应用本身的信息</a:t>
            </a:r>
            <a:r>
              <a:rPr lang="zh-CN" altLang="en-US" dirty="0"/>
              <a:t>，许多应用（比如文件系统）的数据本身是按照层次结构组织的，而使用哈希函数后，这些层次信息就丢失</a:t>
            </a:r>
            <a:r>
              <a:rPr lang="zh-CN" altLang="en-US" dirty="0" smtClean="0"/>
              <a:t>了。</a:t>
            </a:r>
            <a:endParaRPr lang="zh-CN" altLang="en-US" dirty="0"/>
          </a:p>
        </p:txBody>
      </p:sp>
      <p:sp>
        <p:nvSpPr>
          <p:cNvPr id="3" name="文本占位符 2"/>
          <p:cNvSpPr>
            <a:spLocks noGrp="1"/>
          </p:cNvSpPr>
          <p:nvPr>
            <p:ph type="body" sz="quarter" idx="11"/>
          </p:nvPr>
        </p:nvSpPr>
        <p:spPr/>
        <p:txBody>
          <a:bodyPr/>
          <a:lstStyle/>
          <a:p>
            <a:r>
              <a:rPr lang="en-US" altLang="zh-CN" dirty="0" smtClean="0"/>
              <a:t>Chord </a:t>
            </a:r>
            <a:r>
              <a:rPr lang="zh-CN" altLang="en-US" dirty="0" smtClean="0"/>
              <a:t>存在的不足</a:t>
            </a:r>
            <a:endParaRPr lang="zh-CN" altLang="en-US" dirty="0"/>
          </a:p>
        </p:txBody>
      </p:sp>
    </p:spTree>
    <p:custDataLst>
      <p:tags r:id="rId1"/>
    </p:custDataLst>
    <p:extLst>
      <p:ext uri="{BB962C8B-B14F-4D97-AF65-F5344CB8AC3E}">
        <p14:creationId xmlns:p14="http://schemas.microsoft.com/office/powerpoint/2010/main" val="8690590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12.6|48.6|5.9"/>
</p:tagLst>
</file>

<file path=ppt/tags/tag2.xml><?xml version="1.0" encoding="utf-8"?>
<p:tagLst xmlns:a="http://schemas.openxmlformats.org/drawingml/2006/main" xmlns:r="http://schemas.openxmlformats.org/officeDocument/2006/relationships" xmlns:p="http://schemas.openxmlformats.org/presentationml/2006/main">
  <p:tag name="TIMING" val="|14.4|9.5|17.7|27.5|12.2|11"/>
</p:tagLst>
</file>

<file path=ppt/tags/tag3.xml><?xml version="1.0" encoding="utf-8"?>
<p:tagLst xmlns:a="http://schemas.openxmlformats.org/drawingml/2006/main" xmlns:r="http://schemas.openxmlformats.org/officeDocument/2006/relationships" xmlns:p="http://schemas.openxmlformats.org/presentationml/2006/main">
  <p:tag name="TIMING" val="|14.1|27.8|9.8|7.4"/>
</p:tagLst>
</file>

<file path=ppt/tags/tag4.xml><?xml version="1.0" encoding="utf-8"?>
<p:tagLst xmlns:a="http://schemas.openxmlformats.org/drawingml/2006/main" xmlns:r="http://schemas.openxmlformats.org/officeDocument/2006/relationships" xmlns:p="http://schemas.openxmlformats.org/presentationml/2006/main">
  <p:tag name="TIMING" val="|13.4|12.1"/>
</p:tagLst>
</file>

<file path=ppt/tags/tag5.xml><?xml version="1.0" encoding="utf-8"?>
<p:tagLst xmlns:a="http://schemas.openxmlformats.org/drawingml/2006/main" xmlns:r="http://schemas.openxmlformats.org/officeDocument/2006/relationships" xmlns:p="http://schemas.openxmlformats.org/presentationml/2006/main">
  <p:tag name="TIMING" val="|16.6|26|15.7|6.9"/>
</p:tagLst>
</file>

<file path=ppt/tags/tag6.xml><?xml version="1.0" encoding="utf-8"?>
<p:tagLst xmlns:a="http://schemas.openxmlformats.org/drawingml/2006/main" xmlns:r="http://schemas.openxmlformats.org/officeDocument/2006/relationships" xmlns:p="http://schemas.openxmlformats.org/presentationml/2006/main">
  <p:tag name="TIMING" val="|40.3|27.5|17.2|10.9"/>
</p:tagLst>
</file>

<file path=ppt/tags/tag7.xml><?xml version="1.0" encoding="utf-8"?>
<p:tagLst xmlns:a="http://schemas.openxmlformats.org/drawingml/2006/main" xmlns:r="http://schemas.openxmlformats.org/officeDocument/2006/relationships" xmlns:p="http://schemas.openxmlformats.org/presentationml/2006/main">
  <p:tag name="TIMING" val="|20.5|10|12.4|8.9|7.1|6.9"/>
</p:tagLst>
</file>

<file path=ppt/tags/tag8.xml><?xml version="1.0" encoding="utf-8"?>
<p:tagLst xmlns:a="http://schemas.openxmlformats.org/drawingml/2006/main" xmlns:r="http://schemas.openxmlformats.org/officeDocument/2006/relationships" xmlns:p="http://schemas.openxmlformats.org/presentationml/2006/main">
  <p:tag name="TIMING" val="|32.3"/>
</p:tagLst>
</file>

<file path=ppt/tags/tag9.xml><?xml version="1.0" encoding="utf-8"?>
<p:tagLst xmlns:a="http://schemas.openxmlformats.org/drawingml/2006/main" xmlns:r="http://schemas.openxmlformats.org/officeDocument/2006/relationships" xmlns:p="http://schemas.openxmlformats.org/presentationml/2006/main">
  <p:tag name="TIMING" val="|17"/>
</p:tagLst>
</file>

<file path=ppt/tags/tag10.xml><?xml version="1.0" encoding="utf-8"?>
<p:tagLst xmlns:a="http://schemas.openxmlformats.org/drawingml/2006/main" xmlns:r="http://schemas.openxmlformats.org/officeDocument/2006/relationships" xmlns:p="http://schemas.openxmlformats.org/presentationml/2006/main">
  <p:tag name="TIMING" val="|28.8|20.2|12.4|10.7"/>
</p:tagLst>
</file>

<file path=ppt/tags/tag11.xml><?xml version="1.0" encoding="utf-8"?>
<p:tagLst xmlns:a="http://schemas.openxmlformats.org/drawingml/2006/main" xmlns:r="http://schemas.openxmlformats.org/officeDocument/2006/relationships" xmlns:p="http://schemas.openxmlformats.org/presentationml/2006/main">
  <p:tag name="TIMING" val="|46"/>
</p:tagLst>
</file>

<file path=ppt/tags/tag12.xml><?xml version="1.0" encoding="utf-8"?>
<p:tagLst xmlns:a="http://schemas.openxmlformats.org/drawingml/2006/main" xmlns:r="http://schemas.openxmlformats.org/officeDocument/2006/relationships" xmlns:p="http://schemas.openxmlformats.org/presentationml/2006/main">
  <p:tag name="TIMING" val="|12.8|23.2"/>
</p:tagLst>
</file>

<file path=ppt/tags/tag13.xml><?xml version="1.0" encoding="utf-8"?>
<p:tagLst xmlns:a="http://schemas.openxmlformats.org/drawingml/2006/main" xmlns:r="http://schemas.openxmlformats.org/officeDocument/2006/relationships" xmlns:p="http://schemas.openxmlformats.org/presentationml/2006/main">
  <p:tag name="TIMING" val="|1.3"/>
</p:tagLst>
</file>

<file path=ppt/tags/tag14.xml><?xml version="1.0" encoding="utf-8"?>
<p:tagLst xmlns:a="http://schemas.openxmlformats.org/drawingml/2006/main" xmlns:r="http://schemas.openxmlformats.org/officeDocument/2006/relationships" xmlns:p="http://schemas.openxmlformats.org/presentationml/2006/main">
  <p:tag name="TIMING" val="|11.6|17.5"/>
</p:tagLst>
</file>

<file path=ppt/tags/tag15.xml><?xml version="1.0" encoding="utf-8"?>
<p:tagLst xmlns:a="http://schemas.openxmlformats.org/drawingml/2006/main" xmlns:r="http://schemas.openxmlformats.org/officeDocument/2006/relationships" xmlns:p="http://schemas.openxmlformats.org/presentationml/2006/main">
  <p:tag name="TIMING" val="|8|14.3|11.4"/>
</p:tagLst>
</file>

<file path=ppt/tags/tag16.xml><?xml version="1.0" encoding="utf-8"?>
<p:tagLst xmlns:a="http://schemas.openxmlformats.org/drawingml/2006/main" xmlns:r="http://schemas.openxmlformats.org/officeDocument/2006/relationships" xmlns:p="http://schemas.openxmlformats.org/presentationml/2006/main">
  <p:tag name="TIMING" val="|18.3|8.4"/>
</p:tagLst>
</file>

<file path=ppt/tags/tag17.xml><?xml version="1.0" encoding="utf-8"?>
<p:tagLst xmlns:a="http://schemas.openxmlformats.org/drawingml/2006/main" xmlns:r="http://schemas.openxmlformats.org/officeDocument/2006/relationships" xmlns:p="http://schemas.openxmlformats.org/presentationml/2006/main">
  <p:tag name="TIMING" val="|13.5|27|7|10.5|15|39.6"/>
</p:tagLst>
</file>

<file path=ppt/tags/tag18.xml><?xml version="1.0" encoding="utf-8"?>
<p:tagLst xmlns:a="http://schemas.openxmlformats.org/drawingml/2006/main" xmlns:r="http://schemas.openxmlformats.org/officeDocument/2006/relationships" xmlns:p="http://schemas.openxmlformats.org/presentationml/2006/main">
  <p:tag name="TIMING" val="|44.6|19.1|28.1"/>
</p:tagLst>
</file>

<file path=ppt/tags/tag19.xml><?xml version="1.0" encoding="utf-8"?>
<p:tagLst xmlns:a="http://schemas.openxmlformats.org/drawingml/2006/main" xmlns:r="http://schemas.openxmlformats.org/officeDocument/2006/relationships" xmlns:p="http://schemas.openxmlformats.org/presentationml/2006/main">
  <p:tag name="TIMING" val="|13.7|13.7|13.7|6"/>
</p:tagLst>
</file>

<file path=ppt/tags/tag20.xml><?xml version="1.0" encoding="utf-8"?>
<p:tagLst xmlns:a="http://schemas.openxmlformats.org/drawingml/2006/main" xmlns:r="http://schemas.openxmlformats.org/officeDocument/2006/relationships" xmlns:p="http://schemas.openxmlformats.org/presentationml/2006/main">
  <p:tag name="TIMING" val="|7.8|17.2|19.2|22.3"/>
</p:tagLst>
</file>

<file path=ppt/tags/tag21.xml><?xml version="1.0" encoding="utf-8"?>
<p:tagLst xmlns:a="http://schemas.openxmlformats.org/drawingml/2006/main" xmlns:r="http://schemas.openxmlformats.org/officeDocument/2006/relationships" xmlns:p="http://schemas.openxmlformats.org/presentationml/2006/main">
  <p:tag name="TIMING" val="|23.8|21"/>
</p:tagLst>
</file>

<file path=ppt/tags/tag22.xml><?xml version="1.0" encoding="utf-8"?>
<p:tagLst xmlns:a="http://schemas.openxmlformats.org/drawingml/2006/main" xmlns:r="http://schemas.openxmlformats.org/officeDocument/2006/relationships" xmlns:p="http://schemas.openxmlformats.org/presentationml/2006/main">
  <p:tag name="TIMING" val="|16.7"/>
</p:tagLst>
</file>

<file path=ppt/tags/tag23.xml><?xml version="1.0" encoding="utf-8"?>
<p:tagLst xmlns:a="http://schemas.openxmlformats.org/drawingml/2006/main" xmlns:r="http://schemas.openxmlformats.org/officeDocument/2006/relationships" xmlns:p="http://schemas.openxmlformats.org/presentationml/2006/main">
  <p:tag name="TIMING" val="|15.2|59.2|28.7"/>
</p:tagLst>
</file>

<file path=ppt/tags/tag24.xml><?xml version="1.0" encoding="utf-8"?>
<p:tagLst xmlns:a="http://schemas.openxmlformats.org/drawingml/2006/main" xmlns:r="http://schemas.openxmlformats.org/officeDocument/2006/relationships" xmlns:p="http://schemas.openxmlformats.org/presentationml/2006/main">
  <p:tag name="TIMING" val="|25.9|24.2"/>
</p:tagLst>
</file>

<file path=ppt/tags/tag25.xml><?xml version="1.0" encoding="utf-8"?>
<p:tagLst xmlns:a="http://schemas.openxmlformats.org/drawingml/2006/main" xmlns:r="http://schemas.openxmlformats.org/officeDocument/2006/relationships" xmlns:p="http://schemas.openxmlformats.org/presentationml/2006/main">
  <p:tag name="TIMING" val="|6.4|14.8"/>
</p:tagLst>
</file>

<file path=ppt/tags/tag26.xml><?xml version="1.0" encoding="utf-8"?>
<p:tagLst xmlns:a="http://schemas.openxmlformats.org/drawingml/2006/main" xmlns:r="http://schemas.openxmlformats.org/officeDocument/2006/relationships" xmlns:p="http://schemas.openxmlformats.org/presentationml/2006/main">
  <p:tag name="TIMING" val="|30.2|21.3|5"/>
</p:tagLst>
</file>

<file path=ppt/tags/tag27.xml><?xml version="1.0" encoding="utf-8"?>
<p:tagLst xmlns:a="http://schemas.openxmlformats.org/drawingml/2006/main" xmlns:r="http://schemas.openxmlformats.org/officeDocument/2006/relationships" xmlns:p="http://schemas.openxmlformats.org/presentationml/2006/main">
  <p:tag name="TIMING" val="|44.2|11.5|11.1"/>
</p:tagLst>
</file>

<file path=ppt/tags/tag28.xml><?xml version="1.0" encoding="utf-8"?>
<p:tagLst xmlns:a="http://schemas.openxmlformats.org/drawingml/2006/main" xmlns:r="http://schemas.openxmlformats.org/officeDocument/2006/relationships" xmlns:p="http://schemas.openxmlformats.org/presentationml/2006/main">
  <p:tag name="TIMING" val="|36.4|42.1|27.5"/>
</p:tagLst>
</file>

<file path=ppt/tags/tag29.xml><?xml version="1.0" encoding="utf-8"?>
<p:tagLst xmlns:a="http://schemas.openxmlformats.org/drawingml/2006/main" xmlns:r="http://schemas.openxmlformats.org/officeDocument/2006/relationships" xmlns:p="http://schemas.openxmlformats.org/presentationml/2006/main">
  <p:tag name="TIMING" val="|38.3"/>
</p:tagLst>
</file>

<file path=ppt/tags/tag30.xml><?xml version="1.0" encoding="utf-8"?>
<p:tagLst xmlns:a="http://schemas.openxmlformats.org/drawingml/2006/main" xmlns:r="http://schemas.openxmlformats.org/officeDocument/2006/relationships" xmlns:p="http://schemas.openxmlformats.org/presentationml/2006/main">
  <p:tag name="TIMING" val="|14|24.2|9.3"/>
</p:tagLst>
</file>

<file path=ppt/tags/tag31.xml><?xml version="1.0" encoding="utf-8"?>
<p:tagLst xmlns:a="http://schemas.openxmlformats.org/drawingml/2006/main" xmlns:r="http://schemas.openxmlformats.org/officeDocument/2006/relationships" xmlns:p="http://schemas.openxmlformats.org/presentationml/2006/main">
  <p:tag name="TIMING" val="|20.2|27.9"/>
</p:tagLst>
</file>

<file path=ppt/tags/tag32.xml><?xml version="1.0" encoding="utf-8"?>
<p:tagLst xmlns:a="http://schemas.openxmlformats.org/drawingml/2006/main" xmlns:r="http://schemas.openxmlformats.org/officeDocument/2006/relationships" xmlns:p="http://schemas.openxmlformats.org/presentationml/2006/main">
  <p:tag name="TIMING" val="|15.9|25.2|30.4"/>
</p:tagLst>
</file>

<file path=ppt/tags/tag33.xml><?xml version="1.0" encoding="utf-8"?>
<p:tagLst xmlns:a="http://schemas.openxmlformats.org/drawingml/2006/main" xmlns:r="http://schemas.openxmlformats.org/officeDocument/2006/relationships" xmlns:p="http://schemas.openxmlformats.org/presentationml/2006/main">
  <p:tag name="TIMING" val="|20.3"/>
</p:tagLst>
</file>

<file path=ppt/tags/tag34.xml><?xml version="1.0" encoding="utf-8"?>
<p:tagLst xmlns:a="http://schemas.openxmlformats.org/drawingml/2006/main" xmlns:r="http://schemas.openxmlformats.org/officeDocument/2006/relationships" xmlns:p="http://schemas.openxmlformats.org/presentationml/2006/main">
  <p:tag name="TIMING" val="|34.2|25.7"/>
</p:tagLst>
</file>

<file path=ppt/tags/tag35.xml><?xml version="1.0" encoding="utf-8"?>
<p:tagLst xmlns:a="http://schemas.openxmlformats.org/drawingml/2006/main" xmlns:r="http://schemas.openxmlformats.org/officeDocument/2006/relationships" xmlns:p="http://schemas.openxmlformats.org/presentationml/2006/main">
  <p:tag name="TIMING" val="|33.4|94"/>
</p:tagLst>
</file>

<file path=ppt/tags/tag36.xml><?xml version="1.0" encoding="utf-8"?>
<p:tagLst xmlns:a="http://schemas.openxmlformats.org/drawingml/2006/main" xmlns:r="http://schemas.openxmlformats.org/officeDocument/2006/relationships" xmlns:p="http://schemas.openxmlformats.org/presentationml/2006/main">
  <p:tag name="TIMING" val="|25.7"/>
</p:tagLst>
</file>

<file path=ppt/tags/tag37.xml><?xml version="1.0" encoding="utf-8"?>
<p:tagLst xmlns:a="http://schemas.openxmlformats.org/drawingml/2006/main" xmlns:r="http://schemas.openxmlformats.org/officeDocument/2006/relationships" xmlns:p="http://schemas.openxmlformats.org/presentationml/2006/main">
  <p:tag name="TIMING" val="|16"/>
</p:tagLst>
</file>

<file path=ppt/tags/tag38.xml><?xml version="1.0" encoding="utf-8"?>
<p:tagLst xmlns:a="http://schemas.openxmlformats.org/drawingml/2006/main" xmlns:r="http://schemas.openxmlformats.org/officeDocument/2006/relationships" xmlns:p="http://schemas.openxmlformats.org/presentationml/2006/main">
  <p:tag name="TIMING" val="|25.8|17.6"/>
</p:tagLst>
</file>

<file path=ppt/tags/tag39.xml><?xml version="1.0" encoding="utf-8"?>
<p:tagLst xmlns:a="http://schemas.openxmlformats.org/drawingml/2006/main" xmlns:r="http://schemas.openxmlformats.org/officeDocument/2006/relationships" xmlns:p="http://schemas.openxmlformats.org/presentationml/2006/main">
  <p:tag name="TIMING" val="|14|10.6|19.6|7.2"/>
</p:tagLst>
</file>

<file path=ppt/tags/tag40.xml><?xml version="1.0" encoding="utf-8"?>
<p:tagLst xmlns:a="http://schemas.openxmlformats.org/drawingml/2006/main" xmlns:r="http://schemas.openxmlformats.org/officeDocument/2006/relationships" xmlns:p="http://schemas.openxmlformats.org/presentationml/2006/main">
  <p:tag name="TIMING" val="|4.4"/>
</p:tagLst>
</file>

<file path=ppt/tags/tag41.xml><?xml version="1.0" encoding="utf-8"?>
<p:tagLst xmlns:a="http://schemas.openxmlformats.org/drawingml/2006/main" xmlns:r="http://schemas.openxmlformats.org/officeDocument/2006/relationships" xmlns:p="http://schemas.openxmlformats.org/presentationml/2006/main">
  <p:tag name="TIMING" val="|7.7"/>
</p:tagLst>
</file>

<file path=ppt/tags/tag42.xml><?xml version="1.0" encoding="utf-8"?>
<p:tagLst xmlns:a="http://schemas.openxmlformats.org/drawingml/2006/main" xmlns:r="http://schemas.openxmlformats.org/officeDocument/2006/relationships" xmlns:p="http://schemas.openxmlformats.org/presentationml/2006/main">
  <p:tag name="TIMING" val="|24.9"/>
</p:tagLst>
</file>

<file path=ppt/tags/tag43.xml><?xml version="1.0" encoding="utf-8"?>
<p:tagLst xmlns:a="http://schemas.openxmlformats.org/drawingml/2006/main" xmlns:r="http://schemas.openxmlformats.org/officeDocument/2006/relationships" xmlns:p="http://schemas.openxmlformats.org/presentationml/2006/main">
  <p:tag name="TIMING" val="|44.3"/>
</p:tagLst>
</file>

<file path=ppt/tags/tag44.xml><?xml version="1.0" encoding="utf-8"?>
<p:tagLst xmlns:a="http://schemas.openxmlformats.org/drawingml/2006/main" xmlns:r="http://schemas.openxmlformats.org/officeDocument/2006/relationships" xmlns:p="http://schemas.openxmlformats.org/presentationml/2006/main">
  <p:tag name="TIMING" val="|29.2"/>
</p:tagLst>
</file>

<file path=ppt/tags/tag45.xml><?xml version="1.0" encoding="utf-8"?>
<p:tagLst xmlns:a="http://schemas.openxmlformats.org/drawingml/2006/main" xmlns:r="http://schemas.openxmlformats.org/officeDocument/2006/relationships" xmlns:p="http://schemas.openxmlformats.org/presentationml/2006/main">
  <p:tag name="TIMING" val="|47.3"/>
</p:tagLst>
</file>

<file path=ppt/tags/tag46.xml><?xml version="1.0" encoding="utf-8"?>
<p:tagLst xmlns:a="http://schemas.openxmlformats.org/drawingml/2006/main" xmlns:r="http://schemas.openxmlformats.org/officeDocument/2006/relationships" xmlns:p="http://schemas.openxmlformats.org/presentationml/2006/main">
  <p:tag name="TIMING" val="|58.3|23.2|36.8|17.4|17.9"/>
</p:tagLst>
</file>

<file path=ppt/tags/tag47.xml><?xml version="1.0" encoding="utf-8"?>
<p:tagLst xmlns:a="http://schemas.openxmlformats.org/drawingml/2006/main" xmlns:r="http://schemas.openxmlformats.org/officeDocument/2006/relationships" xmlns:p="http://schemas.openxmlformats.org/presentationml/2006/main">
  <p:tag name="TIMING" val="|40.8|22.3"/>
</p:tagLst>
</file>

<file path=ppt/tags/tag48.xml><?xml version="1.0" encoding="utf-8"?>
<p:tagLst xmlns:a="http://schemas.openxmlformats.org/drawingml/2006/main" xmlns:r="http://schemas.openxmlformats.org/officeDocument/2006/relationships" xmlns:p="http://schemas.openxmlformats.org/presentationml/2006/main">
  <p:tag name="TIMING" val="|11|17.2"/>
</p:tagLst>
</file>

<file path=ppt/tags/tag49.xml><?xml version="1.0" encoding="utf-8"?>
<p:tagLst xmlns:a="http://schemas.openxmlformats.org/drawingml/2006/main" xmlns:r="http://schemas.openxmlformats.org/officeDocument/2006/relationships" xmlns:p="http://schemas.openxmlformats.org/presentationml/2006/main">
  <p:tag name="TIMING" val="|8|7.5|13.4|13.2"/>
</p:tagLst>
</file>

<file path=ppt/tags/tag50.xml><?xml version="1.0" encoding="utf-8"?>
<p:tagLst xmlns:a="http://schemas.openxmlformats.org/drawingml/2006/main" xmlns:r="http://schemas.openxmlformats.org/officeDocument/2006/relationships" xmlns:p="http://schemas.openxmlformats.org/presentationml/2006/main">
  <p:tag name="TIMING" val="|20.3"/>
</p:tagLst>
</file>

<file path=ppt/tags/tag51.xml><?xml version="1.0" encoding="utf-8"?>
<p:tagLst xmlns:a="http://schemas.openxmlformats.org/drawingml/2006/main" xmlns:r="http://schemas.openxmlformats.org/officeDocument/2006/relationships" xmlns:p="http://schemas.openxmlformats.org/presentationml/2006/main">
  <p:tag name="TIMING" val="|15.3|32.1"/>
</p:tagLst>
</file>

<file path=ppt/tags/tag52.xml><?xml version="1.0" encoding="utf-8"?>
<p:tagLst xmlns:a="http://schemas.openxmlformats.org/drawingml/2006/main" xmlns:r="http://schemas.openxmlformats.org/officeDocument/2006/relationships" xmlns:p="http://schemas.openxmlformats.org/presentationml/2006/main">
  <p:tag name="TIMING" val="|18.4|8.4|19.5"/>
</p:tagLst>
</file>

<file path=ppt/tags/tag53.xml><?xml version="1.0" encoding="utf-8"?>
<p:tagLst xmlns:a="http://schemas.openxmlformats.org/drawingml/2006/main" xmlns:r="http://schemas.openxmlformats.org/officeDocument/2006/relationships" xmlns:p="http://schemas.openxmlformats.org/presentationml/2006/main">
  <p:tag name="TIMING" val="|9.6|24.6"/>
</p:tagLst>
</file>

<file path=ppt/tags/tag54.xml><?xml version="1.0" encoding="utf-8"?>
<p:tagLst xmlns:a="http://schemas.openxmlformats.org/drawingml/2006/main" xmlns:r="http://schemas.openxmlformats.org/officeDocument/2006/relationships" xmlns:p="http://schemas.openxmlformats.org/presentationml/2006/main">
  <p:tag name="TIMING" val="|23.4"/>
</p:tagLst>
</file>

<file path=ppt/tags/tag55.xml><?xml version="1.0" encoding="utf-8"?>
<p:tagLst xmlns:a="http://schemas.openxmlformats.org/drawingml/2006/main" xmlns:r="http://schemas.openxmlformats.org/officeDocument/2006/relationships" xmlns:p="http://schemas.openxmlformats.org/presentationml/2006/main">
  <p:tag name="TIMING" val="|11.6"/>
</p:tagLst>
</file>

<file path=ppt/tags/tag56.xml><?xml version="1.0" encoding="utf-8"?>
<p:tagLst xmlns:a="http://schemas.openxmlformats.org/drawingml/2006/main" xmlns:r="http://schemas.openxmlformats.org/officeDocument/2006/relationships" xmlns:p="http://schemas.openxmlformats.org/presentationml/2006/main">
  <p:tag name="TIMING" val="|22.1|21.2"/>
</p:tagLst>
</file>

<file path=ppt/tags/tag57.xml><?xml version="1.0" encoding="utf-8"?>
<p:tagLst xmlns:a="http://schemas.openxmlformats.org/drawingml/2006/main" xmlns:r="http://schemas.openxmlformats.org/officeDocument/2006/relationships" xmlns:p="http://schemas.openxmlformats.org/presentationml/2006/main">
  <p:tag name="TIMING" val="|34.5"/>
</p:tagLst>
</file>

<file path=ppt/tags/tag58.xml><?xml version="1.0" encoding="utf-8"?>
<p:tagLst xmlns:a="http://schemas.openxmlformats.org/drawingml/2006/main" xmlns:r="http://schemas.openxmlformats.org/officeDocument/2006/relationships" xmlns:p="http://schemas.openxmlformats.org/presentationml/2006/main">
  <p:tag name="TIMING" val="|17.5|19.1"/>
</p:tagLst>
</file>

<file path=ppt/tags/tag59.xml><?xml version="1.0" encoding="utf-8"?>
<p:tagLst xmlns:a="http://schemas.openxmlformats.org/drawingml/2006/main" xmlns:r="http://schemas.openxmlformats.org/officeDocument/2006/relationships" xmlns:p="http://schemas.openxmlformats.org/presentationml/2006/main">
  <p:tag name="TIMING" val="|10.9|34.4|22.9"/>
</p:tagLst>
</file>

<file path=ppt/tags/tag60.xml><?xml version="1.0" encoding="utf-8"?>
<p:tagLst xmlns:a="http://schemas.openxmlformats.org/drawingml/2006/main" xmlns:r="http://schemas.openxmlformats.org/officeDocument/2006/relationships" xmlns:p="http://schemas.openxmlformats.org/presentationml/2006/main">
  <p:tag name="TIMING" val="|25.6|29.1|15.2"/>
</p:tagLst>
</file>

<file path=ppt/tags/tag61.xml><?xml version="1.0" encoding="utf-8"?>
<p:tagLst xmlns:a="http://schemas.openxmlformats.org/drawingml/2006/main" xmlns:r="http://schemas.openxmlformats.org/officeDocument/2006/relationships" xmlns:p="http://schemas.openxmlformats.org/presentationml/2006/main">
  <p:tag name="TIMING" val="|7.9|26.2|19.2"/>
</p:tagLst>
</file>

<file path=ppt/tags/tag62.xml><?xml version="1.0" encoding="utf-8"?>
<p:tagLst xmlns:a="http://schemas.openxmlformats.org/drawingml/2006/main" xmlns:r="http://schemas.openxmlformats.org/officeDocument/2006/relationships" xmlns:p="http://schemas.openxmlformats.org/presentationml/2006/main">
  <p:tag name="TIMING" val="|18.6|16.4|20.2"/>
</p:tagLst>
</file>

<file path=ppt/tags/tag63.xml><?xml version="1.0" encoding="utf-8"?>
<p:tagLst xmlns:a="http://schemas.openxmlformats.org/drawingml/2006/main" xmlns:r="http://schemas.openxmlformats.org/officeDocument/2006/relationships" xmlns:p="http://schemas.openxmlformats.org/presentationml/2006/main">
  <p:tag name="TIMING" val="|16.3"/>
</p:tagLst>
</file>

<file path=ppt/tags/tag64.xml><?xml version="1.0" encoding="utf-8"?>
<p:tagLst xmlns:a="http://schemas.openxmlformats.org/drawingml/2006/main" xmlns:r="http://schemas.openxmlformats.org/officeDocument/2006/relationships" xmlns:p="http://schemas.openxmlformats.org/presentationml/2006/main">
  <p:tag name="TIMING" val="|11.2|21.4|46.1|33.8"/>
</p:tagLst>
</file>

<file path=ppt/tags/tag65.xml><?xml version="1.0" encoding="utf-8"?>
<p:tagLst xmlns:a="http://schemas.openxmlformats.org/drawingml/2006/main" xmlns:r="http://schemas.openxmlformats.org/officeDocument/2006/relationships" xmlns:p="http://schemas.openxmlformats.org/presentationml/2006/main">
  <p:tag name="TIMING" val="|21|39.4"/>
</p:tagLst>
</file>

<file path=ppt/tags/tag66.xml><?xml version="1.0" encoding="utf-8"?>
<p:tagLst xmlns:a="http://schemas.openxmlformats.org/drawingml/2006/main" xmlns:r="http://schemas.openxmlformats.org/officeDocument/2006/relationships" xmlns:p="http://schemas.openxmlformats.org/presentationml/2006/main">
  <p:tag name="TIMING" val="|26.8|24.6"/>
</p:tagLst>
</file>

<file path=ppt/tags/tag67.xml><?xml version="1.0" encoding="utf-8"?>
<p:tagLst xmlns:a="http://schemas.openxmlformats.org/drawingml/2006/main" xmlns:r="http://schemas.openxmlformats.org/officeDocument/2006/relationships" xmlns:p="http://schemas.openxmlformats.org/presentationml/2006/main">
  <p:tag name="TIMING" val="|49"/>
</p:tagLst>
</file>

<file path=ppt/tags/tag68.xml><?xml version="1.0" encoding="utf-8"?>
<p:tagLst xmlns:a="http://schemas.openxmlformats.org/drawingml/2006/main" xmlns:r="http://schemas.openxmlformats.org/officeDocument/2006/relationships" xmlns:p="http://schemas.openxmlformats.org/presentationml/2006/main">
  <p:tag name="TIMING" val="|18.3|35.1"/>
</p:tagLst>
</file>

<file path=ppt/tags/tag69.xml><?xml version="1.0" encoding="utf-8"?>
<p:tagLst xmlns:a="http://schemas.openxmlformats.org/drawingml/2006/main" xmlns:r="http://schemas.openxmlformats.org/officeDocument/2006/relationships" xmlns:p="http://schemas.openxmlformats.org/presentationml/2006/main">
  <p:tag name="TIMING" val="|26.9"/>
</p:tagLst>
</file>

<file path=ppt/tags/tag70.xml><?xml version="1.0" encoding="utf-8"?>
<p:tagLst xmlns:a="http://schemas.openxmlformats.org/drawingml/2006/main" xmlns:r="http://schemas.openxmlformats.org/officeDocument/2006/relationships" xmlns:p="http://schemas.openxmlformats.org/presentationml/2006/main">
  <p:tag name="TIMING" val="|14.9|33.3"/>
</p:tagLst>
</file>

<file path=ppt/tags/tag71.xml><?xml version="1.0" encoding="utf-8"?>
<p:tagLst xmlns:a="http://schemas.openxmlformats.org/drawingml/2006/main" xmlns:r="http://schemas.openxmlformats.org/officeDocument/2006/relationships" xmlns:p="http://schemas.openxmlformats.org/presentationml/2006/main">
  <p:tag name="TIMING" val="|13.5"/>
</p:tagLst>
</file>

<file path=ppt/tags/tag72.xml><?xml version="1.0" encoding="utf-8"?>
<p:tagLst xmlns:a="http://schemas.openxmlformats.org/drawingml/2006/main" xmlns:r="http://schemas.openxmlformats.org/officeDocument/2006/relationships" xmlns:p="http://schemas.openxmlformats.org/presentationml/2006/main">
  <p:tag name="TIMING" val="|13.9"/>
</p:tagLst>
</file>

<file path=ppt/tags/tag73.xml><?xml version="1.0" encoding="utf-8"?>
<p:tagLst xmlns:a="http://schemas.openxmlformats.org/drawingml/2006/main" xmlns:r="http://schemas.openxmlformats.org/officeDocument/2006/relationships" xmlns:p="http://schemas.openxmlformats.org/presentationml/2006/main">
  <p:tag name="TIMING" val="|25.1"/>
</p:tagLst>
</file>

<file path=ppt/tags/tag74.xml><?xml version="1.0" encoding="utf-8"?>
<p:tagLst xmlns:a="http://schemas.openxmlformats.org/drawingml/2006/main" xmlns:r="http://schemas.openxmlformats.org/officeDocument/2006/relationships" xmlns:p="http://schemas.openxmlformats.org/presentationml/2006/main">
  <p:tag name="TIMING" val="|41.9"/>
</p:tagLst>
</file>

<file path=ppt/tags/tag75.xml><?xml version="1.0" encoding="utf-8"?>
<p:tagLst xmlns:a="http://schemas.openxmlformats.org/drawingml/2006/main" xmlns:r="http://schemas.openxmlformats.org/officeDocument/2006/relationships" xmlns:p="http://schemas.openxmlformats.org/presentationml/2006/main">
  <p:tag name="TIMING" val="|33.2|38.7"/>
</p:tagLst>
</file>

<file path=ppt/tags/tag76.xml><?xml version="1.0" encoding="utf-8"?>
<p:tagLst xmlns:a="http://schemas.openxmlformats.org/drawingml/2006/main" xmlns:r="http://schemas.openxmlformats.org/officeDocument/2006/relationships" xmlns:p="http://schemas.openxmlformats.org/presentationml/2006/main">
  <p:tag name="TIMING" val="|42.7|18.8"/>
</p:tagLst>
</file>

<file path=ppt/tags/tag77.xml><?xml version="1.0" encoding="utf-8"?>
<p:tagLst xmlns:a="http://schemas.openxmlformats.org/drawingml/2006/main" xmlns:r="http://schemas.openxmlformats.org/officeDocument/2006/relationships" xmlns:p="http://schemas.openxmlformats.org/presentationml/2006/main">
  <p:tag name="TIMING" val="|27.1|14.7|14.1"/>
</p:tagLst>
</file>

<file path=ppt/tags/tag78.xml><?xml version="1.0" encoding="utf-8"?>
<p:tagLst xmlns:a="http://schemas.openxmlformats.org/drawingml/2006/main" xmlns:r="http://schemas.openxmlformats.org/officeDocument/2006/relationships" xmlns:p="http://schemas.openxmlformats.org/presentationml/2006/main">
  <p:tag name="TIMING" val="|28.9"/>
</p:tagLst>
</file>

<file path=ppt/tags/tag79.xml><?xml version="1.0" encoding="utf-8"?>
<p:tagLst xmlns:a="http://schemas.openxmlformats.org/drawingml/2006/main" xmlns:r="http://schemas.openxmlformats.org/officeDocument/2006/relationships" xmlns:p="http://schemas.openxmlformats.org/presentationml/2006/main">
  <p:tag name="TIMING" val="|18.4"/>
</p:tagLst>
</file>

<file path=ppt/tags/tag80.xml><?xml version="1.0" encoding="utf-8"?>
<p:tagLst xmlns:a="http://schemas.openxmlformats.org/drawingml/2006/main" xmlns:r="http://schemas.openxmlformats.org/officeDocument/2006/relationships" xmlns:p="http://schemas.openxmlformats.org/presentationml/2006/main">
  <p:tag name="TIMING" val="|12.8|10.7|26"/>
</p:tagLst>
</file>

<file path=ppt/tags/tag81.xml><?xml version="1.0" encoding="utf-8"?>
<p:tagLst xmlns:a="http://schemas.openxmlformats.org/drawingml/2006/main" xmlns:r="http://schemas.openxmlformats.org/officeDocument/2006/relationships" xmlns:p="http://schemas.openxmlformats.org/presentationml/2006/main">
  <p:tag name="TIMING" val="|11.3|27.3|22.7|29.5"/>
</p:tagLst>
</file>

<file path=ppt/tags/tag82.xml><?xml version="1.0" encoding="utf-8"?>
<p:tagLst xmlns:a="http://schemas.openxmlformats.org/drawingml/2006/main" xmlns:r="http://schemas.openxmlformats.org/officeDocument/2006/relationships" xmlns:p="http://schemas.openxmlformats.org/presentationml/2006/main">
  <p:tag name="TIMING" val="|16.7"/>
</p:tagLst>
</file>

<file path=ppt/tags/tag83.xml><?xml version="1.0" encoding="utf-8"?>
<p:tagLst xmlns:a="http://schemas.openxmlformats.org/drawingml/2006/main" xmlns:r="http://schemas.openxmlformats.org/officeDocument/2006/relationships" xmlns:p="http://schemas.openxmlformats.org/presentationml/2006/main">
  <p:tag name="TIMING" val="|24.6|27.9|18.3"/>
</p:tagLst>
</file>

<file path=ppt/tags/tag84.xml><?xml version="1.0" encoding="utf-8"?>
<p:tagLst xmlns:a="http://schemas.openxmlformats.org/drawingml/2006/main" xmlns:r="http://schemas.openxmlformats.org/officeDocument/2006/relationships" xmlns:p="http://schemas.openxmlformats.org/presentationml/2006/main">
  <p:tag name="TIMING" val="|30.8"/>
</p:tagLst>
</file>

<file path=ppt/tags/tag85.xml><?xml version="1.0" encoding="utf-8"?>
<p:tagLst xmlns:a="http://schemas.openxmlformats.org/drawingml/2006/main" xmlns:r="http://schemas.openxmlformats.org/officeDocument/2006/relationships" xmlns:p="http://schemas.openxmlformats.org/presentationml/2006/main">
  <p:tag name="TIMING" val="|12.5|19.2"/>
</p:tagLst>
</file>

<file path=ppt/tags/tag86.xml><?xml version="1.0" encoding="utf-8"?>
<p:tagLst xmlns:a="http://schemas.openxmlformats.org/drawingml/2006/main" xmlns:r="http://schemas.openxmlformats.org/officeDocument/2006/relationships" xmlns:p="http://schemas.openxmlformats.org/presentationml/2006/main">
  <p:tag name="TIMING" val="|19.1|17.3"/>
</p:tagLst>
</file>

<file path=ppt/tags/tag87.xml><?xml version="1.0" encoding="utf-8"?>
<p:tagLst xmlns:a="http://schemas.openxmlformats.org/drawingml/2006/main" xmlns:r="http://schemas.openxmlformats.org/officeDocument/2006/relationships" xmlns:p="http://schemas.openxmlformats.org/presentationml/2006/main">
  <p:tag name="TIMING" val="|11|27.4|14.7"/>
</p:tagLst>
</file>

<file path=ppt/tags/tag88.xml><?xml version="1.0" encoding="utf-8"?>
<p:tagLst xmlns:a="http://schemas.openxmlformats.org/drawingml/2006/main" xmlns:r="http://schemas.openxmlformats.org/officeDocument/2006/relationships" xmlns:p="http://schemas.openxmlformats.org/presentationml/2006/main">
  <p:tag name="TIMING" val="|24.5"/>
</p:tagLst>
</file>

<file path=ppt/tags/tag89.xml><?xml version="1.0" encoding="utf-8"?>
<p:tagLst xmlns:a="http://schemas.openxmlformats.org/drawingml/2006/main" xmlns:r="http://schemas.openxmlformats.org/officeDocument/2006/relationships" xmlns:p="http://schemas.openxmlformats.org/presentationml/2006/main">
  <p:tag name="TIMING" val="|25.2"/>
</p:tagLst>
</file>

<file path=ppt/tags/tag90.xml><?xml version="1.0" encoding="utf-8"?>
<p:tagLst xmlns:a="http://schemas.openxmlformats.org/drawingml/2006/main" xmlns:r="http://schemas.openxmlformats.org/officeDocument/2006/relationships" xmlns:p="http://schemas.openxmlformats.org/presentationml/2006/main">
  <p:tag name="TIMING" val="|19.6|24.2|8.3|11.8"/>
</p:tagLst>
</file>

<file path=ppt/tags/tag91.xml><?xml version="1.0" encoding="utf-8"?>
<p:tagLst xmlns:a="http://schemas.openxmlformats.org/drawingml/2006/main" xmlns:r="http://schemas.openxmlformats.org/officeDocument/2006/relationships" xmlns:p="http://schemas.openxmlformats.org/presentationml/2006/main">
  <p:tag name="TIMING" val="|15.4|27.4"/>
</p:tagLst>
</file>

<file path=ppt/tags/tag92.xml><?xml version="1.0" encoding="utf-8"?>
<p:tagLst xmlns:a="http://schemas.openxmlformats.org/drawingml/2006/main" xmlns:r="http://schemas.openxmlformats.org/officeDocument/2006/relationships" xmlns:p="http://schemas.openxmlformats.org/presentationml/2006/main">
  <p:tag name="TIMING" val="|23.5|18.2"/>
</p:tagLst>
</file>

<file path=ppt/tags/tag93.xml><?xml version="1.0" encoding="utf-8"?>
<p:tagLst xmlns:a="http://schemas.openxmlformats.org/drawingml/2006/main" xmlns:r="http://schemas.openxmlformats.org/officeDocument/2006/relationships" xmlns:p="http://schemas.openxmlformats.org/presentationml/2006/main">
  <p:tag name="TIMING" val="|19.5|7.5|9.9"/>
</p:tagLst>
</file>

<file path=ppt/tags/tag94.xml><?xml version="1.0" encoding="utf-8"?>
<p:tagLst xmlns:a="http://schemas.openxmlformats.org/drawingml/2006/main" xmlns:r="http://schemas.openxmlformats.org/officeDocument/2006/relationships" xmlns:p="http://schemas.openxmlformats.org/presentationml/2006/main">
  <p:tag name="TIMING" val="|24.6"/>
</p:tagLst>
</file>

<file path=ppt/tags/tag95.xml><?xml version="1.0" encoding="utf-8"?>
<p:tagLst xmlns:a="http://schemas.openxmlformats.org/drawingml/2006/main" xmlns:r="http://schemas.openxmlformats.org/officeDocument/2006/relationships" xmlns:p="http://schemas.openxmlformats.org/presentationml/2006/main">
  <p:tag name="TIMING" val="|28.4|21.2|14.5"/>
</p:tagLst>
</file>

<file path=ppt/tags/tag96.xml><?xml version="1.0" encoding="utf-8"?>
<p:tagLst xmlns:a="http://schemas.openxmlformats.org/drawingml/2006/main" xmlns:r="http://schemas.openxmlformats.org/officeDocument/2006/relationships" xmlns:p="http://schemas.openxmlformats.org/presentationml/2006/main">
  <p:tag name="TIMING" val="|56.1"/>
</p:tagLst>
</file>

<file path=ppt/tags/tag97.xml><?xml version="1.0" encoding="utf-8"?>
<p:tagLst xmlns:a="http://schemas.openxmlformats.org/drawingml/2006/main" xmlns:r="http://schemas.openxmlformats.org/officeDocument/2006/relationships" xmlns:p="http://schemas.openxmlformats.org/presentationml/2006/main">
  <p:tag name="TIMING" val="|16.9|13.3|34.8|11.4"/>
</p:tagLst>
</file>

<file path=ppt/tags/tag98.xml><?xml version="1.0" encoding="utf-8"?>
<p:tagLst xmlns:a="http://schemas.openxmlformats.org/drawingml/2006/main" xmlns:r="http://schemas.openxmlformats.org/officeDocument/2006/relationships" xmlns:p="http://schemas.openxmlformats.org/presentationml/2006/main">
  <p:tag name="TIMING" val="|40.8"/>
</p:tagLst>
</file>

<file path=ppt/tags/tag99.xml><?xml version="1.0" encoding="utf-8"?>
<p:tagLst xmlns:a="http://schemas.openxmlformats.org/drawingml/2006/main" xmlns:r="http://schemas.openxmlformats.org/officeDocument/2006/relationships" xmlns:p="http://schemas.openxmlformats.org/presentationml/2006/main">
  <p:tag name="TIMING" val="|17.2|13.6|17.5|9.8"/>
</p:tagLst>
</file>

<file path=ppt/tags/tag100.xml><?xml version="1.0" encoding="utf-8"?>
<p:tagLst xmlns:a="http://schemas.openxmlformats.org/drawingml/2006/main" xmlns:r="http://schemas.openxmlformats.org/officeDocument/2006/relationships" xmlns:p="http://schemas.openxmlformats.org/presentationml/2006/main">
  <p:tag name="TIMING" val="|29|18|11.7|16|14.4"/>
</p:tagLst>
</file>

<file path=ppt/tags/tag101.xml><?xml version="1.0" encoding="utf-8"?>
<p:tagLst xmlns:a="http://schemas.openxmlformats.org/drawingml/2006/main" xmlns:r="http://schemas.openxmlformats.org/officeDocument/2006/relationships" xmlns:p="http://schemas.openxmlformats.org/presentationml/2006/main">
  <p:tag name="TIMING" val="|14.6|13.4"/>
</p:tagLst>
</file>

<file path=ppt/tags/tag102.xml><?xml version="1.0" encoding="utf-8"?>
<p:tagLst xmlns:a="http://schemas.openxmlformats.org/drawingml/2006/main" xmlns:r="http://schemas.openxmlformats.org/officeDocument/2006/relationships" xmlns:p="http://schemas.openxmlformats.org/presentationml/2006/main">
  <p:tag name="TIMING" val="|14.4|10.8|36.1"/>
</p:tagLst>
</file>

<file path=ppt/tags/tag103.xml><?xml version="1.0" encoding="utf-8"?>
<p:tagLst xmlns:a="http://schemas.openxmlformats.org/drawingml/2006/main" xmlns:r="http://schemas.openxmlformats.org/officeDocument/2006/relationships" xmlns:p="http://schemas.openxmlformats.org/presentationml/2006/main">
  <p:tag name="TIMING" val="|12.6"/>
</p:tagLst>
</file>

<file path=ppt/tags/tag104.xml><?xml version="1.0" encoding="utf-8"?>
<p:tagLst xmlns:a="http://schemas.openxmlformats.org/drawingml/2006/main" xmlns:r="http://schemas.openxmlformats.org/officeDocument/2006/relationships" xmlns:p="http://schemas.openxmlformats.org/presentationml/2006/main">
  <p:tag name="TIMING" val="|16.4|8.4|8.6"/>
</p:tagLst>
</file>

<file path=ppt/tags/tag105.xml><?xml version="1.0" encoding="utf-8"?>
<p:tagLst xmlns:a="http://schemas.openxmlformats.org/drawingml/2006/main" xmlns:r="http://schemas.openxmlformats.org/officeDocument/2006/relationships" xmlns:p="http://schemas.openxmlformats.org/presentationml/2006/main">
  <p:tag name="TIMING" val="|17"/>
</p:tagLst>
</file>

<file path=ppt/tags/tag106.xml><?xml version="1.0" encoding="utf-8"?>
<p:tagLst xmlns:a="http://schemas.openxmlformats.org/drawingml/2006/main" xmlns:r="http://schemas.openxmlformats.org/officeDocument/2006/relationships" xmlns:p="http://schemas.openxmlformats.org/presentationml/2006/main">
  <p:tag name="TIMING" val="|22.7|16.3"/>
</p:tagLst>
</file>

<file path=ppt/tags/tag107.xml><?xml version="1.0" encoding="utf-8"?>
<p:tagLst xmlns:a="http://schemas.openxmlformats.org/drawingml/2006/main" xmlns:r="http://schemas.openxmlformats.org/officeDocument/2006/relationships" xmlns:p="http://schemas.openxmlformats.org/presentationml/2006/main">
  <p:tag name="TIMING" val="|20.9|18.7"/>
</p:tagLst>
</file>

<file path=ppt/tags/tag108.xml><?xml version="1.0" encoding="utf-8"?>
<p:tagLst xmlns:a="http://schemas.openxmlformats.org/drawingml/2006/main" xmlns:r="http://schemas.openxmlformats.org/officeDocument/2006/relationships" xmlns:p="http://schemas.openxmlformats.org/presentationml/2006/main">
  <p:tag name="TIMING" val="|34.5|29.1"/>
</p:tagLst>
</file>

<file path=ppt/tags/tag109.xml><?xml version="1.0" encoding="utf-8"?>
<p:tagLst xmlns:a="http://schemas.openxmlformats.org/drawingml/2006/main" xmlns:r="http://schemas.openxmlformats.org/officeDocument/2006/relationships" xmlns:p="http://schemas.openxmlformats.org/presentationml/2006/main">
  <p:tag name="TIMING" val="|33.1|18.5|19.6"/>
</p:tagLst>
</file>

<file path=ppt/tags/tag110.xml><?xml version="1.0" encoding="utf-8"?>
<p:tagLst xmlns:a="http://schemas.openxmlformats.org/drawingml/2006/main" xmlns:r="http://schemas.openxmlformats.org/officeDocument/2006/relationships" xmlns:p="http://schemas.openxmlformats.org/presentationml/2006/main">
  <p:tag name="TIMING" val="|26.2|24.8"/>
</p:tagLst>
</file>

<file path=ppt/tags/tag111.xml><?xml version="1.0" encoding="utf-8"?>
<p:tagLst xmlns:a="http://schemas.openxmlformats.org/drawingml/2006/main" xmlns:r="http://schemas.openxmlformats.org/officeDocument/2006/relationships" xmlns:p="http://schemas.openxmlformats.org/presentationml/2006/main">
  <p:tag name="TIMING" val="|9.4"/>
</p:tagLst>
</file>

<file path=ppt/tags/tag112.xml><?xml version="1.0" encoding="utf-8"?>
<p:tagLst xmlns:a="http://schemas.openxmlformats.org/drawingml/2006/main" xmlns:r="http://schemas.openxmlformats.org/officeDocument/2006/relationships" xmlns:p="http://schemas.openxmlformats.org/presentationml/2006/main">
  <p:tag name="TIMING" val="|32.4"/>
</p:tagLst>
</file>

<file path=ppt/tags/tag113.xml><?xml version="1.0" encoding="utf-8"?>
<p:tagLst xmlns:a="http://schemas.openxmlformats.org/drawingml/2006/main" xmlns:r="http://schemas.openxmlformats.org/officeDocument/2006/relationships" xmlns:p="http://schemas.openxmlformats.org/presentationml/2006/main">
  <p:tag name="TIMING" val="|46.6"/>
</p:tagLst>
</file>

<file path=ppt/tags/tag114.xml><?xml version="1.0" encoding="utf-8"?>
<p:tagLst xmlns:a="http://schemas.openxmlformats.org/drawingml/2006/main" xmlns:r="http://schemas.openxmlformats.org/officeDocument/2006/relationships" xmlns:p="http://schemas.openxmlformats.org/presentationml/2006/main">
  <p:tag name="TIMING" val="|21.3|26.2"/>
</p:tagLst>
</file>

<file path=ppt/tags/tag115.xml><?xml version="1.0" encoding="utf-8"?>
<p:tagLst xmlns:a="http://schemas.openxmlformats.org/drawingml/2006/main" xmlns:r="http://schemas.openxmlformats.org/officeDocument/2006/relationships" xmlns:p="http://schemas.openxmlformats.org/presentationml/2006/main">
  <p:tag name="TIMING" val="|26.3|12.1"/>
</p:tagLst>
</file>

<file path=ppt/tags/tag116.xml><?xml version="1.0" encoding="utf-8"?>
<p:tagLst xmlns:a="http://schemas.openxmlformats.org/drawingml/2006/main" xmlns:r="http://schemas.openxmlformats.org/officeDocument/2006/relationships" xmlns:p="http://schemas.openxmlformats.org/presentationml/2006/main">
  <p:tag name="TIMING" val="|12.2"/>
</p:tagLst>
</file>

<file path=ppt/tags/tag117.xml><?xml version="1.0" encoding="utf-8"?>
<p:tagLst xmlns:a="http://schemas.openxmlformats.org/drawingml/2006/main" xmlns:r="http://schemas.openxmlformats.org/officeDocument/2006/relationships" xmlns:p="http://schemas.openxmlformats.org/presentationml/2006/main">
  <p:tag name="TIMING" val="|31.9"/>
</p:tagLst>
</file>

<file path=ppt/tags/tag118.xml><?xml version="1.0" encoding="utf-8"?>
<p:tagLst xmlns:a="http://schemas.openxmlformats.org/drawingml/2006/main" xmlns:r="http://schemas.openxmlformats.org/officeDocument/2006/relationships" xmlns:p="http://schemas.openxmlformats.org/presentationml/2006/main">
  <p:tag name="TIMING" val="|57.3"/>
</p:tagLst>
</file>

<file path=ppt/tags/tag119.xml><?xml version="1.0" encoding="utf-8"?>
<p:tagLst xmlns:a="http://schemas.openxmlformats.org/drawingml/2006/main" xmlns:r="http://schemas.openxmlformats.org/officeDocument/2006/relationships" xmlns:p="http://schemas.openxmlformats.org/presentationml/2006/main">
  <p:tag name="TIMING" val="|21.5|30.5"/>
</p:tagLst>
</file>

<file path=ppt/tags/tag120.xml><?xml version="1.0" encoding="utf-8"?>
<p:tagLst xmlns:a="http://schemas.openxmlformats.org/drawingml/2006/main" xmlns:r="http://schemas.openxmlformats.org/officeDocument/2006/relationships" xmlns:p="http://schemas.openxmlformats.org/presentationml/2006/main">
  <p:tag name="TIMING" val="|14.2|32.6"/>
</p:tagLst>
</file>

<file path=ppt/tags/tag121.xml><?xml version="1.0" encoding="utf-8"?>
<p:tagLst xmlns:a="http://schemas.openxmlformats.org/drawingml/2006/main" xmlns:r="http://schemas.openxmlformats.org/officeDocument/2006/relationships" xmlns:p="http://schemas.openxmlformats.org/presentationml/2006/main">
  <p:tag name="TIMING" val="|17.4|16.8"/>
</p:tagLst>
</file>

<file path=ppt/tags/tag122.xml><?xml version="1.0" encoding="utf-8"?>
<p:tagLst xmlns:a="http://schemas.openxmlformats.org/drawingml/2006/main" xmlns:r="http://schemas.openxmlformats.org/officeDocument/2006/relationships" xmlns:p="http://schemas.openxmlformats.org/presentationml/2006/main">
  <p:tag name="TIMING" val="|9.5"/>
</p:tagLst>
</file>

<file path=ppt/tags/tag123.xml><?xml version="1.0" encoding="utf-8"?>
<p:tagLst xmlns:a="http://schemas.openxmlformats.org/drawingml/2006/main" xmlns:r="http://schemas.openxmlformats.org/officeDocument/2006/relationships" xmlns:p="http://schemas.openxmlformats.org/presentationml/2006/main">
  <p:tag name="TIMING" val="|12.3|17.1"/>
</p:tagLst>
</file>

<file path=ppt/tags/tag124.xml><?xml version="1.0" encoding="utf-8"?>
<p:tagLst xmlns:a="http://schemas.openxmlformats.org/drawingml/2006/main" xmlns:r="http://schemas.openxmlformats.org/officeDocument/2006/relationships" xmlns:p="http://schemas.openxmlformats.org/presentationml/2006/main">
  <p:tag name="TIMING" val="|40.6|15.1"/>
</p:tagLst>
</file>

<file path=ppt/tags/tag125.xml><?xml version="1.0" encoding="utf-8"?>
<p:tagLst xmlns:a="http://schemas.openxmlformats.org/drawingml/2006/main" xmlns:r="http://schemas.openxmlformats.org/officeDocument/2006/relationships" xmlns:p="http://schemas.openxmlformats.org/presentationml/2006/main">
  <p:tag name="TIMING" val="|19.4|9.6|17.9"/>
</p:tagLst>
</file>

<file path=ppt/tags/tag126.xml><?xml version="1.0" encoding="utf-8"?>
<p:tagLst xmlns:a="http://schemas.openxmlformats.org/drawingml/2006/main" xmlns:r="http://schemas.openxmlformats.org/officeDocument/2006/relationships" xmlns:p="http://schemas.openxmlformats.org/presentationml/2006/main">
  <p:tag name="TIMING" val="|9.2"/>
</p:tagLst>
</file>

<file path=ppt/tags/tag127.xml><?xml version="1.0" encoding="utf-8"?>
<p:tagLst xmlns:a="http://schemas.openxmlformats.org/drawingml/2006/main" xmlns:r="http://schemas.openxmlformats.org/officeDocument/2006/relationships" xmlns:p="http://schemas.openxmlformats.org/presentationml/2006/main">
  <p:tag name="TIMING" val="|17.7"/>
</p:tagLst>
</file>

<file path=ppt/tags/tag128.xml><?xml version="1.0" encoding="utf-8"?>
<p:tagLst xmlns:a="http://schemas.openxmlformats.org/drawingml/2006/main" xmlns:r="http://schemas.openxmlformats.org/officeDocument/2006/relationships" xmlns:p="http://schemas.openxmlformats.org/presentationml/2006/main">
  <p:tag name="TIMING" val="|26|15.4"/>
</p:tagLst>
</file>

<file path=ppt/tags/tag129.xml><?xml version="1.0" encoding="utf-8"?>
<p:tagLst xmlns:a="http://schemas.openxmlformats.org/drawingml/2006/main" xmlns:r="http://schemas.openxmlformats.org/officeDocument/2006/relationships" xmlns:p="http://schemas.openxmlformats.org/presentationml/2006/main">
  <p:tag name="TIMING" val="|17.1|15.5|26.9|13"/>
</p:tagLst>
</file>

<file path=ppt/tags/tag130.xml><?xml version="1.0" encoding="utf-8"?>
<p:tagLst xmlns:a="http://schemas.openxmlformats.org/drawingml/2006/main" xmlns:r="http://schemas.openxmlformats.org/officeDocument/2006/relationships" xmlns:p="http://schemas.openxmlformats.org/presentationml/2006/main">
  <p:tag name="TIMING" val="|19.5"/>
</p:tagLst>
</file>

<file path=ppt/tags/tag131.xml><?xml version="1.0" encoding="utf-8"?>
<p:tagLst xmlns:a="http://schemas.openxmlformats.org/drawingml/2006/main" xmlns:r="http://schemas.openxmlformats.org/officeDocument/2006/relationships" xmlns:p="http://schemas.openxmlformats.org/presentationml/2006/main">
  <p:tag name="TIMING" val="|31.3"/>
</p:tagLst>
</file>

<file path=ppt/tags/tag132.xml><?xml version="1.0" encoding="utf-8"?>
<p:tagLst xmlns:a="http://schemas.openxmlformats.org/drawingml/2006/main" xmlns:r="http://schemas.openxmlformats.org/officeDocument/2006/relationships" xmlns:p="http://schemas.openxmlformats.org/presentationml/2006/main">
  <p:tag name="TIMING" val="|46.1"/>
</p:tagLst>
</file>

<file path=ppt/tags/tag133.xml><?xml version="1.0" encoding="utf-8"?>
<p:tagLst xmlns:a="http://schemas.openxmlformats.org/drawingml/2006/main" xmlns:r="http://schemas.openxmlformats.org/officeDocument/2006/relationships" xmlns:p="http://schemas.openxmlformats.org/presentationml/2006/main">
  <p:tag name="TIMING" val="|37"/>
</p:tagLst>
</file>

<file path=ppt/tags/tag134.xml><?xml version="1.0" encoding="utf-8"?>
<p:tagLst xmlns:a="http://schemas.openxmlformats.org/drawingml/2006/main" xmlns:r="http://schemas.openxmlformats.org/officeDocument/2006/relationships" xmlns:p="http://schemas.openxmlformats.org/presentationml/2006/main">
  <p:tag name="TIMING" val="|61.4|37.7|17.3|15.6"/>
</p:tagLst>
</file>

<file path=ppt/tags/tag135.xml><?xml version="1.0" encoding="utf-8"?>
<p:tagLst xmlns:a="http://schemas.openxmlformats.org/drawingml/2006/main" xmlns:r="http://schemas.openxmlformats.org/officeDocument/2006/relationships" xmlns:p="http://schemas.openxmlformats.org/presentationml/2006/main">
  <p:tag name="TIMING" val="|12"/>
</p:tagLst>
</file>

<file path=ppt/tags/tag136.xml><?xml version="1.0" encoding="utf-8"?>
<p:tagLst xmlns:a="http://schemas.openxmlformats.org/drawingml/2006/main" xmlns:r="http://schemas.openxmlformats.org/officeDocument/2006/relationships" xmlns:p="http://schemas.openxmlformats.org/presentationml/2006/main">
  <p:tag name="TIMING" val="|6.1|19.5|8.3"/>
</p:tagLst>
</file>

<file path=ppt/tags/tag137.xml><?xml version="1.0" encoding="utf-8"?>
<p:tagLst xmlns:a="http://schemas.openxmlformats.org/drawingml/2006/main" xmlns:r="http://schemas.openxmlformats.org/officeDocument/2006/relationships" xmlns:p="http://schemas.openxmlformats.org/presentationml/2006/main">
  <p:tag name="TIMING" val="|14.1"/>
</p:tagLst>
</file>

<file path=ppt/tags/tag138.xml><?xml version="1.0" encoding="utf-8"?>
<p:tagLst xmlns:a="http://schemas.openxmlformats.org/drawingml/2006/main" xmlns:r="http://schemas.openxmlformats.org/officeDocument/2006/relationships" xmlns:p="http://schemas.openxmlformats.org/presentationml/2006/main">
  <p:tag name="TIMING" val="|66|26.3|2.5"/>
</p:tagLst>
</file>

<file path=ppt/tags/tag139.xml><?xml version="1.0" encoding="utf-8"?>
<p:tagLst xmlns:a="http://schemas.openxmlformats.org/drawingml/2006/main" xmlns:r="http://schemas.openxmlformats.org/officeDocument/2006/relationships" xmlns:p="http://schemas.openxmlformats.org/presentationml/2006/main">
  <p:tag name="TIMING" val="|26.8"/>
</p:tagLst>
</file>

<file path=ppt/tags/tag140.xml><?xml version="1.0" encoding="utf-8"?>
<p:tagLst xmlns:a="http://schemas.openxmlformats.org/drawingml/2006/main" xmlns:r="http://schemas.openxmlformats.org/officeDocument/2006/relationships" xmlns:p="http://schemas.openxmlformats.org/presentationml/2006/main">
  <p:tag name="TIMING" val="|19"/>
</p:tagLst>
</file>

<file path=ppt/tags/tag141.xml><?xml version="1.0" encoding="utf-8"?>
<p:tagLst xmlns:a="http://schemas.openxmlformats.org/drawingml/2006/main" xmlns:r="http://schemas.openxmlformats.org/officeDocument/2006/relationships" xmlns:p="http://schemas.openxmlformats.org/presentationml/2006/main">
  <p:tag name="TIMING" val="|19.4"/>
</p:tagLst>
</file>

<file path=ppt/tags/tag142.xml><?xml version="1.0" encoding="utf-8"?>
<p:tagLst xmlns:a="http://schemas.openxmlformats.org/drawingml/2006/main" xmlns:r="http://schemas.openxmlformats.org/officeDocument/2006/relationships" xmlns:p="http://schemas.openxmlformats.org/presentationml/2006/main">
  <p:tag name="TIMING" val="|17.4"/>
</p:tagLst>
</file>

<file path=ppt/tags/tag143.xml><?xml version="1.0" encoding="utf-8"?>
<p:tagLst xmlns:a="http://schemas.openxmlformats.org/drawingml/2006/main" xmlns:r="http://schemas.openxmlformats.org/officeDocument/2006/relationships" xmlns:p="http://schemas.openxmlformats.org/presentationml/2006/main">
  <p:tag name="TIMING" val="|18.3"/>
</p:tagLst>
</file>

<file path=ppt/tags/tag144.xml><?xml version="1.0" encoding="utf-8"?>
<p:tagLst xmlns:a="http://schemas.openxmlformats.org/drawingml/2006/main" xmlns:r="http://schemas.openxmlformats.org/officeDocument/2006/relationships" xmlns:p="http://schemas.openxmlformats.org/presentationml/2006/main">
  <p:tag name="TIMING" val="|89.3|36.8"/>
</p:tagLst>
</file>

<file path=ppt/tags/tag145.xml><?xml version="1.0" encoding="utf-8"?>
<p:tagLst xmlns:a="http://schemas.openxmlformats.org/drawingml/2006/main" xmlns:r="http://schemas.openxmlformats.org/officeDocument/2006/relationships" xmlns:p="http://schemas.openxmlformats.org/presentationml/2006/main">
  <p:tag name="TIMING" val="|73.8|19.4|81.2"/>
</p:tagLst>
</file>

<file path=ppt/tags/tag146.xml><?xml version="1.0" encoding="utf-8"?>
<p:tagLst xmlns:a="http://schemas.openxmlformats.org/drawingml/2006/main" xmlns:r="http://schemas.openxmlformats.org/officeDocument/2006/relationships" xmlns:p="http://schemas.openxmlformats.org/presentationml/2006/main">
  <p:tag name="TIMING" val="|16.8"/>
</p:tagLst>
</file>

<file path=ppt/tags/tag147.xml><?xml version="1.0" encoding="utf-8"?>
<p:tagLst xmlns:a="http://schemas.openxmlformats.org/drawingml/2006/main" xmlns:r="http://schemas.openxmlformats.org/officeDocument/2006/relationships" xmlns:p="http://schemas.openxmlformats.org/presentationml/2006/main">
  <p:tag name="TIMING" val="|27.5"/>
</p:tagLst>
</file>

<file path=ppt/tags/tag148.xml><?xml version="1.0" encoding="utf-8"?>
<p:tagLst xmlns:a="http://schemas.openxmlformats.org/drawingml/2006/main" xmlns:r="http://schemas.openxmlformats.org/officeDocument/2006/relationships" xmlns:p="http://schemas.openxmlformats.org/presentationml/2006/main">
  <p:tag name="TIMING" val="|15.3"/>
</p:tagLst>
</file>

<file path=ppt/tags/tag149.xml><?xml version="1.0" encoding="utf-8"?>
<p:tagLst xmlns:a="http://schemas.openxmlformats.org/drawingml/2006/main" xmlns:r="http://schemas.openxmlformats.org/officeDocument/2006/relationships" xmlns:p="http://schemas.openxmlformats.org/presentationml/2006/main">
  <p:tag name="TIMING" val="|38.7|43.2"/>
</p:tagLst>
</file>

<file path=ppt/tags/tag150.xml><?xml version="1.0" encoding="utf-8"?>
<p:tagLst xmlns:a="http://schemas.openxmlformats.org/drawingml/2006/main" xmlns:r="http://schemas.openxmlformats.org/officeDocument/2006/relationships" xmlns:p="http://schemas.openxmlformats.org/presentationml/2006/main">
  <p:tag name="TIMING" val="|25.7|93.1|157.9|46.8|23.2"/>
</p:tagLst>
</file>

<file path=ppt/tags/tag151.xml><?xml version="1.0" encoding="utf-8"?>
<p:tagLst xmlns:a="http://schemas.openxmlformats.org/drawingml/2006/main" xmlns:r="http://schemas.openxmlformats.org/officeDocument/2006/relationships" xmlns:p="http://schemas.openxmlformats.org/presentationml/2006/main">
  <p:tag name="TIMING" val="|32.6"/>
</p:tagLst>
</file>

<file path=ppt/tags/tag152.xml><?xml version="1.0" encoding="utf-8"?>
<p:tagLst xmlns:a="http://schemas.openxmlformats.org/drawingml/2006/main" xmlns:r="http://schemas.openxmlformats.org/officeDocument/2006/relationships" xmlns:p="http://schemas.openxmlformats.org/presentationml/2006/main">
  <p:tag name="TIMING" val="|106.5|26.3"/>
</p:tagLst>
</file>

<file path=ppt/tags/tag153.xml><?xml version="1.0" encoding="utf-8"?>
<p:tagLst xmlns:a="http://schemas.openxmlformats.org/drawingml/2006/main" xmlns:r="http://schemas.openxmlformats.org/officeDocument/2006/relationships" xmlns:p="http://schemas.openxmlformats.org/presentationml/2006/main">
  <p:tag name="TIMING" val="|56.4|34.5|45"/>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9417</TotalTime>
  <Words>24646</Words>
  <Application>Microsoft Office PowerPoint</Application>
  <PresentationFormat>全屏显示(16:9)</PresentationFormat>
  <Paragraphs>4918</Paragraphs>
  <Slides>316</Slides>
  <Notes>271</Notes>
  <HiddenSlides>0</HiddenSlides>
  <MMClips>0</MMClips>
  <ScaleCrop>false</ScaleCrop>
  <HeadingPairs>
    <vt:vector size="8" baseType="variant">
      <vt:variant>
        <vt:lpstr>已用的字体</vt:lpstr>
      </vt:variant>
      <vt:variant>
        <vt:i4>15</vt:i4>
      </vt:variant>
      <vt:variant>
        <vt:lpstr>主题</vt:lpstr>
      </vt:variant>
      <vt:variant>
        <vt:i4>1</vt:i4>
      </vt:variant>
      <vt:variant>
        <vt:lpstr>嵌入 OLE 服务器</vt:lpstr>
      </vt:variant>
      <vt:variant>
        <vt:i4>3</vt:i4>
      </vt:variant>
      <vt:variant>
        <vt:lpstr>幻灯片标题</vt:lpstr>
      </vt:variant>
      <vt:variant>
        <vt:i4>316</vt:i4>
      </vt:variant>
    </vt:vector>
  </HeadingPairs>
  <TitlesOfParts>
    <vt:vector size="335" baseType="lpstr">
      <vt:lpstr>Times New Roman</vt:lpstr>
      <vt:lpstr>宋体</vt:lpstr>
      <vt:lpstr>Comic Sans MS</vt:lpstr>
      <vt:lpstr>MS PGothic</vt:lpstr>
      <vt:lpstr>微软雅黑</vt:lpstr>
      <vt:lpstr>Symbol</vt:lpstr>
      <vt:lpstr>굴림</vt:lpstr>
      <vt:lpstr>Calibri</vt:lpstr>
      <vt:lpstr>Courier New</vt:lpstr>
      <vt:lpstr>Wingdings 2</vt:lpstr>
      <vt:lpstr>Wingdings</vt:lpstr>
      <vt:lpstr>Webdings</vt:lpstr>
      <vt:lpstr>黑体</vt:lpstr>
      <vt:lpstr>Arial</vt:lpstr>
      <vt:lpstr>ZapfDingbats</vt:lpstr>
      <vt:lpstr>Office 主题​​</vt:lpstr>
      <vt:lpstr>VISIO</vt:lpstr>
      <vt:lpstr>Microsoft ClipArt Gallery</vt:lpstr>
      <vt:lpstr>Visio</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xing</cp:lastModifiedBy>
  <cp:revision>1048</cp:revision>
  <dcterms:created xsi:type="dcterms:W3CDTF">2018-07-18T08:51:30Z</dcterms:created>
  <dcterms:modified xsi:type="dcterms:W3CDTF">2026-06-27T10:17:12Z</dcterms:modified>
</cp:coreProperties>
</file>