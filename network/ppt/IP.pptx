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57" r:id="rId6"/>
    <p:sldId id="261" r:id="rId7"/>
    <p:sldId id="259" r:id="rId8"/>
    <p:sldId id="262" r:id="rId9"/>
    <p:sldId id="263" r:id="rId10"/>
    <p:sldId id="274" r:id="rId11"/>
    <p:sldId id="264" r:id="rId12"/>
    <p:sldId id="266" r:id="rId13"/>
    <p:sldId id="265" r:id="rId14"/>
    <p:sldId id="267" r:id="rId15"/>
    <p:sldId id="288" r:id="rId16"/>
    <p:sldId id="289" r:id="rId17"/>
    <p:sldId id="290" r:id="rId18"/>
    <p:sldId id="268" r:id="rId19"/>
    <p:sldId id="279" r:id="rId20"/>
    <p:sldId id="276" r:id="rId21"/>
    <p:sldId id="277" r:id="rId22"/>
    <p:sldId id="291" r:id="rId23"/>
    <p:sldId id="292" r:id="rId24"/>
    <p:sldId id="278" r:id="rId25"/>
    <p:sldId id="284" r:id="rId26"/>
    <p:sldId id="275" r:id="rId27"/>
    <p:sldId id="281" r:id="rId28"/>
    <p:sldId id="282" r:id="rId29"/>
    <p:sldId id="319" r:id="rId30"/>
    <p:sldId id="315" r:id="rId31"/>
    <p:sldId id="317" r:id="rId32"/>
    <p:sldId id="316" r:id="rId33"/>
    <p:sldId id="294" r:id="rId34"/>
    <p:sldId id="258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280" r:id="rId44"/>
    <p:sldId id="318" r:id="rId45"/>
    <p:sldId id="303" r:id="rId46"/>
    <p:sldId id="283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39" r:id="rId57"/>
    <p:sldId id="331" r:id="rId58"/>
    <p:sldId id="333" r:id="rId59"/>
    <p:sldId id="340" r:id="rId60"/>
    <p:sldId id="285" r:id="rId61"/>
    <p:sldId id="286" r:id="rId62"/>
    <p:sldId id="287" r:id="rId63"/>
    <p:sldId id="332" r:id="rId64"/>
    <p:sldId id="329" r:id="rId65"/>
    <p:sldId id="334" r:id="rId66"/>
    <p:sldId id="335" r:id="rId67"/>
    <p:sldId id="337" r:id="rId68"/>
    <p:sldId id="338" r:id="rId69"/>
    <p:sldId id="341" r:id="rId70"/>
    <p:sldId id="342" r:id="rId71"/>
    <p:sldId id="343" r:id="rId72"/>
    <p:sldId id="344" r:id="rId73"/>
    <p:sldId id="345" r:id="rId74"/>
    <p:sldId id="346" r:id="rId75"/>
    <p:sldId id="348" r:id="rId76"/>
    <p:sldId id="349" r:id="rId77"/>
    <p:sldId id="350" r:id="rId7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26E2D-E5C6-4FD5-A5C6-D45C69F5F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63771B-85A0-4D40-93AD-775BCAFE2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78076-5E27-4312-8546-DBC3565E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7EA337-9417-41BF-B4ED-C6E244B5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832143-6F9D-4F34-9DD6-A89B642D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34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6750A-6D01-441E-8164-A050E979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23CED-B3A6-413A-A4D1-A84BDFC36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78197-B102-42EB-8655-E7988D64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0BAC1-75C0-4539-87E7-06E19B93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9FF2C-E412-42C6-85B4-CE26DFB4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74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69BEF-55E8-4B51-A965-E84049432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9DBB7C-40C5-42B2-B9E0-C50D92C44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04429-4E2C-483C-A73C-848082E8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3533B1-3D0F-4E6C-9B52-9F2147C9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EF87A5-3A67-40C5-B6D8-D575784B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51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FDF76-EABB-4658-850F-6DA4A366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FF01A-9DD0-4E2C-903E-1CF766E17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946440-E7BA-4F06-B739-AA6282BF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A724A-04D9-42D3-99EC-FE738C1C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76F39-BA48-4A2B-AFBB-11877AA3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DBFE0-ED90-4466-839C-C911071C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88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16397-F5E8-4B5F-92DE-33CC06EB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A45FA1-754A-44D2-8DEA-D1B4EA660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C6FBC1-EE19-4C95-A1C9-77D1AEE04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6FBE30-E47C-49FE-B3EF-FF481711C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4F479E-F25A-4F9E-AF5B-6C4A4F979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A88492-D821-4A91-987A-C97959D0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F923E2-D40D-47C6-B457-11A911F6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9001F6-8E24-477C-868A-6943983B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00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9D79B-5CB1-4DC3-AA67-9FD228EE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6F8F9B-2CEA-4095-80B0-E58CBDAA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5B9BE2-2456-48D0-999D-08973330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519B60-B78D-41E1-88D7-AE16231C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51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8AEF94-F678-4A55-935D-673491E3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A33FEB-ED31-4D25-BDCA-A67DFA9C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72F691-429D-4CA1-B7C2-BBD35AC8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75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5A25C81B-668B-401B-9DED-65265B6824E3}"/>
              </a:ext>
            </a:extLst>
          </p:cNvPr>
          <p:cNvSpPr/>
          <p:nvPr/>
        </p:nvSpPr>
        <p:spPr>
          <a:xfrm>
            <a:off x="742627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AF257E-E9C5-43DA-8389-F7BF22F9570E}"/>
              </a:ext>
            </a:extLst>
          </p:cNvPr>
          <p:cNvCxnSpPr>
            <a:cxnSpLocks/>
          </p:cNvCxnSpPr>
          <p:nvPr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6BDB4A4-64BB-41DB-8196-5C5C6D9FA2C9}"/>
              </a:ext>
            </a:extLst>
          </p:cNvPr>
          <p:cNvSpPr/>
          <p:nvPr/>
        </p:nvSpPr>
        <p:spPr>
          <a:xfrm rot="10800000">
            <a:off x="458573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7B4F767-DB3B-471C-A27E-943F9CFDED12}"/>
              </a:ext>
            </a:extLst>
          </p:cNvPr>
          <p:cNvCxnSpPr/>
          <p:nvPr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144EF16-EC07-4504-B8D3-AFD5EE6C42E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765730" y="6017358"/>
            <a:ext cx="2660540" cy="258532"/>
          </a:xfrm>
        </p:spPr>
        <p:txBody>
          <a:bodyPr wrap="square" anchor="ctr" anchorCtr="0">
            <a:sp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子标题</a:t>
            </a:r>
          </a:p>
        </p:txBody>
      </p:sp>
      <p:sp>
        <p:nvSpPr>
          <p:cNvPr id="15" name="文本占位符 13">
            <a:extLst>
              <a:ext uri="{FF2B5EF4-FFF2-40B4-BE49-F238E27FC236}">
                <a16:creationId xmlns:a16="http://schemas.microsoft.com/office/drawing/2014/main" id="{19B64773-01E3-4FA3-89E1-FB591A18C1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5730" y="6285705"/>
            <a:ext cx="2660540" cy="243519"/>
          </a:xfrm>
        </p:spPr>
        <p:txBody>
          <a:bodyPr wrap="square" lIns="0" tIns="36000" rIns="0" bIns="36000" anchor="ctr" anchorCtr="0">
            <a:sp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en-US" altLang="zh-CN" dirty="0"/>
              <a:t>Sub title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46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实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7C56C81B-4C75-450D-8F5A-BA54C4ED0EB3}"/>
              </a:ext>
            </a:extLst>
          </p:cNvPr>
          <p:cNvSpPr/>
          <p:nvPr userDrawn="1"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1B69B0-D05B-4616-8A57-281D3C00F365}"/>
              </a:ext>
            </a:extLst>
          </p:cNvPr>
          <p:cNvCxnSpPr>
            <a:cxnSpLocks/>
          </p:cNvCxnSpPr>
          <p:nvPr userDrawn="1"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839DDF4-79C8-44EE-AF97-39F4B072CAF2}"/>
              </a:ext>
            </a:extLst>
          </p:cNvPr>
          <p:cNvSpPr/>
          <p:nvPr userDrawn="1"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E07024-FD41-48DE-A5EC-373127F7CFB1}"/>
              </a:ext>
            </a:extLst>
          </p:cNvPr>
          <p:cNvCxnSpPr/>
          <p:nvPr userDrawn="1"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DE3B3-89CB-4379-B76E-27F11F1FEF9A}"/>
              </a:ext>
            </a:extLst>
          </p:cNvPr>
          <p:cNvSpPr txBox="1"/>
          <p:nvPr userDrawn="1"/>
        </p:nvSpPr>
        <p:spPr>
          <a:xfrm>
            <a:off x="5849779" y="599889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实验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703B07-2B59-44BD-8E93-6D7C5F399CF1}"/>
              </a:ext>
            </a:extLst>
          </p:cNvPr>
          <p:cNvSpPr txBox="1"/>
          <p:nvPr userDrawn="1"/>
        </p:nvSpPr>
        <p:spPr>
          <a:xfrm>
            <a:off x="5631771" y="6262040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Experiment</a:t>
            </a:r>
            <a:endParaRPr lang="zh-CN" altLang="en-US" sz="12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</a:t>
            </a:r>
          </a:p>
        </p:txBody>
      </p:sp>
      <p:pic>
        <p:nvPicPr>
          <p:cNvPr id="3" name="图形 2" descr="书架上的书籍">
            <a:extLst>
              <a:ext uri="{FF2B5EF4-FFF2-40B4-BE49-F238E27FC236}">
                <a16:creationId xmlns:a16="http://schemas.microsoft.com/office/drawing/2014/main" id="{038CE38A-FA6F-41B4-8018-190585F9DF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4F0A5C-F3AD-4357-8FAC-14F9884F1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0320" y="503201"/>
            <a:ext cx="6470291" cy="3416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8042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教室">
            <a:extLst>
              <a:ext uri="{FF2B5EF4-FFF2-40B4-BE49-F238E27FC236}">
                <a16:creationId xmlns:a16="http://schemas.microsoft.com/office/drawing/2014/main" id="{210EE5BF-D78F-4871-A143-4CDE009831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7C56C81B-4C75-450D-8F5A-BA54C4ED0EB3}"/>
              </a:ext>
            </a:extLst>
          </p:cNvPr>
          <p:cNvSpPr/>
          <p:nvPr userDrawn="1"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1B69B0-D05B-4616-8A57-281D3C00F365}"/>
              </a:ext>
            </a:extLst>
          </p:cNvPr>
          <p:cNvCxnSpPr>
            <a:cxnSpLocks/>
          </p:cNvCxnSpPr>
          <p:nvPr userDrawn="1"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839DDF4-79C8-44EE-AF97-39F4B072CAF2}"/>
              </a:ext>
            </a:extLst>
          </p:cNvPr>
          <p:cNvSpPr/>
          <p:nvPr userDrawn="1"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E07024-FD41-48DE-A5EC-373127F7CFB1}"/>
              </a:ext>
            </a:extLst>
          </p:cNvPr>
          <p:cNvCxnSpPr/>
          <p:nvPr userDrawn="1"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DE3B3-89CB-4379-B76E-27F11F1FEF9A}"/>
              </a:ext>
            </a:extLst>
          </p:cNvPr>
          <p:cNvSpPr txBox="1"/>
          <p:nvPr userDrawn="1"/>
        </p:nvSpPr>
        <p:spPr>
          <a:xfrm>
            <a:off x="5849779" y="599889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练习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703B07-2B59-44BD-8E93-6D7C5F399CF1}"/>
              </a:ext>
            </a:extLst>
          </p:cNvPr>
          <p:cNvSpPr txBox="1"/>
          <p:nvPr userDrawn="1"/>
        </p:nvSpPr>
        <p:spPr>
          <a:xfrm>
            <a:off x="5631771" y="6262040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Practice</a:t>
            </a:r>
            <a:endParaRPr lang="zh-CN" altLang="en-US" sz="12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46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7C56C81B-4C75-450D-8F5A-BA54C4ED0EB3}"/>
              </a:ext>
            </a:extLst>
          </p:cNvPr>
          <p:cNvSpPr/>
          <p:nvPr userDrawn="1"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1B69B0-D05B-4616-8A57-281D3C00F365}"/>
              </a:ext>
            </a:extLst>
          </p:cNvPr>
          <p:cNvCxnSpPr>
            <a:cxnSpLocks/>
          </p:cNvCxnSpPr>
          <p:nvPr userDrawn="1"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839DDF4-79C8-44EE-AF97-39F4B072CAF2}"/>
              </a:ext>
            </a:extLst>
          </p:cNvPr>
          <p:cNvSpPr/>
          <p:nvPr userDrawn="1"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E07024-FD41-48DE-A5EC-373127F7CFB1}"/>
              </a:ext>
            </a:extLst>
          </p:cNvPr>
          <p:cNvCxnSpPr/>
          <p:nvPr userDrawn="1"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DE3B3-89CB-4379-B76E-27F11F1FEF9A}"/>
              </a:ext>
            </a:extLst>
          </p:cNvPr>
          <p:cNvSpPr txBox="1"/>
          <p:nvPr userDrawn="1"/>
        </p:nvSpPr>
        <p:spPr>
          <a:xfrm>
            <a:off x="5849779" y="599889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总结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703B07-2B59-44BD-8E93-6D7C5F399CF1}"/>
              </a:ext>
            </a:extLst>
          </p:cNvPr>
          <p:cNvSpPr txBox="1"/>
          <p:nvPr userDrawn="1"/>
        </p:nvSpPr>
        <p:spPr>
          <a:xfrm>
            <a:off x="5631771" y="6262040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Summary</a:t>
            </a:r>
            <a:endParaRPr lang="zh-CN" altLang="en-US" sz="12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9984669B-0DC6-4399-ABC9-62139CD54C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4452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966BD-0090-4466-A991-27FE2078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ECA7D-1F70-42E9-9FAE-E7339E8E0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61261D-5D65-45CD-AADA-1EED2BE09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9C4A9-3C70-4456-8D35-6F30A5F1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7B1CDA-CEB0-4E75-9777-E8AF8E0B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EBF795-ECFE-4BE4-9347-5ACA07D8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879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624FA-9B13-4806-8740-F2EA0177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F093AA-CFDB-488F-B797-260E366AA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FDDA66-909C-4E8D-9FBB-33EB08CE3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CDC12E-1FAF-4D9B-877D-4AFA18C4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437F97-AB23-43D0-9278-D8651B47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DEA511-F9E8-4589-B185-7016E679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353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48AA7-003C-4286-89BA-45EAD128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863A2C-6A36-46FE-A9B2-18C384A8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F1043-4E19-45C7-8156-2CEBBB65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36DD68-1BDF-4382-BAAC-20BF1572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A1A20-9134-4E07-939A-AFFAC4F3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981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B53C1A-3F8A-48E9-AF39-0BF5858CC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D3C757-FE47-45E3-B516-3FA09901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CB5EB-600F-4BF5-931F-47CE2134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448140-366F-45DC-99F5-A2522FC0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58043-C34D-467C-AA90-B381DC2F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10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23D40D-F5BE-4FD8-B1E1-BB4CDA58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C4F72-E7B4-412F-9171-B9B6BEEA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D3EBE-426F-40C8-AED7-4BC8BBBD4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65468-3DE4-4961-9497-C8C5DC302A93}" type="datetimeFigureOut">
              <a:rPr lang="zh-CN" altLang="en-US" smtClean="0"/>
              <a:t>2021/6/7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154B7-9D1D-420C-8464-9704AC299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2FD0A-D904-4DF0-BD56-1FA5202FC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5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8A797F-D6BB-4DDA-A289-7C99BD095AAD}"/>
              </a:ext>
            </a:extLst>
          </p:cNvPr>
          <p:cNvSpPr txBox="1"/>
          <p:nvPr/>
        </p:nvSpPr>
        <p:spPr>
          <a:xfrm>
            <a:off x="3626362" y="1025235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01361C-3A8B-4E7A-BC26-3A65C37C4923}"/>
              </a:ext>
            </a:extLst>
          </p:cNvPr>
          <p:cNvSpPr txBox="1"/>
          <p:nvPr/>
        </p:nvSpPr>
        <p:spPr>
          <a:xfrm>
            <a:off x="774224" y="1025236"/>
            <a:ext cx="2340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Chapter 4</a:t>
            </a:r>
            <a:endParaRPr lang="zh-CN" altLang="en-US" sz="3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66A9E9D5-6172-4F27-B438-D37DE6D110B1}"/>
              </a:ext>
            </a:extLst>
          </p:cNvPr>
          <p:cNvSpPr/>
          <p:nvPr/>
        </p:nvSpPr>
        <p:spPr>
          <a:xfrm>
            <a:off x="465826" y="803564"/>
            <a:ext cx="11421375" cy="5424474"/>
          </a:xfrm>
          <a:custGeom>
            <a:avLst/>
            <a:gdLst>
              <a:gd name="connsiteX0" fmla="*/ 0 w 11421375"/>
              <a:gd name="connsiteY0" fmla="*/ 4389538 h 5424474"/>
              <a:gd name="connsiteX1" fmla="*/ 2648462 w 11421375"/>
              <a:gd name="connsiteY1" fmla="*/ 4389538 h 5424474"/>
              <a:gd name="connsiteX2" fmla="*/ 2648462 w 11421375"/>
              <a:gd name="connsiteY2" fmla="*/ 5424474 h 5424474"/>
              <a:gd name="connsiteX3" fmla="*/ 0 w 11421375"/>
              <a:gd name="connsiteY3" fmla="*/ 5424474 h 5424474"/>
              <a:gd name="connsiteX4" fmla="*/ 8632058 w 11421375"/>
              <a:gd name="connsiteY4" fmla="*/ 4205273 h 5424474"/>
              <a:gd name="connsiteX5" fmla="*/ 11421375 w 11421375"/>
              <a:gd name="connsiteY5" fmla="*/ 4205273 h 5424474"/>
              <a:gd name="connsiteX6" fmla="*/ 11421375 w 11421375"/>
              <a:gd name="connsiteY6" fmla="*/ 5424473 h 5424474"/>
              <a:gd name="connsiteX7" fmla="*/ 8632058 w 11421375"/>
              <a:gd name="connsiteY7" fmla="*/ 5424473 h 5424474"/>
              <a:gd name="connsiteX8" fmla="*/ 7027429 w 11421375"/>
              <a:gd name="connsiteY8" fmla="*/ 4203909 h 5424474"/>
              <a:gd name="connsiteX9" fmla="*/ 8461724 w 11421375"/>
              <a:gd name="connsiteY9" fmla="*/ 4203909 h 5424474"/>
              <a:gd name="connsiteX10" fmla="*/ 8461724 w 11421375"/>
              <a:gd name="connsiteY10" fmla="*/ 4217010 h 5424474"/>
              <a:gd name="connsiteX11" fmla="*/ 8497019 w 11421375"/>
              <a:gd name="connsiteY11" fmla="*/ 4217010 h 5424474"/>
              <a:gd name="connsiteX12" fmla="*/ 8497019 w 11421375"/>
              <a:gd name="connsiteY12" fmla="*/ 5424474 h 5424474"/>
              <a:gd name="connsiteX13" fmla="*/ 6996023 w 11421375"/>
              <a:gd name="connsiteY13" fmla="*/ 5424474 h 5424474"/>
              <a:gd name="connsiteX14" fmla="*/ 6996023 w 11421375"/>
              <a:gd name="connsiteY14" fmla="*/ 4217010 h 5424474"/>
              <a:gd name="connsiteX15" fmla="*/ 7027429 w 11421375"/>
              <a:gd name="connsiteY15" fmla="*/ 4217010 h 5424474"/>
              <a:gd name="connsiteX16" fmla="*/ 2720718 w 11421375"/>
              <a:gd name="connsiteY16" fmla="*/ 3354366 h 5424474"/>
              <a:gd name="connsiteX17" fmla="*/ 4730195 w 11421375"/>
              <a:gd name="connsiteY17" fmla="*/ 3354366 h 5424474"/>
              <a:gd name="connsiteX18" fmla="*/ 4730195 w 11421375"/>
              <a:gd name="connsiteY18" fmla="*/ 4242887 h 5424474"/>
              <a:gd name="connsiteX19" fmla="*/ 6918384 w 11421375"/>
              <a:gd name="connsiteY19" fmla="*/ 4242887 h 5424474"/>
              <a:gd name="connsiteX20" fmla="*/ 6918384 w 11421375"/>
              <a:gd name="connsiteY20" fmla="*/ 5424472 h 5424474"/>
              <a:gd name="connsiteX21" fmla="*/ 4730195 w 11421375"/>
              <a:gd name="connsiteY21" fmla="*/ 5424472 h 5424474"/>
              <a:gd name="connsiteX22" fmla="*/ 2720718 w 11421375"/>
              <a:gd name="connsiteY22" fmla="*/ 5424472 h 5424474"/>
              <a:gd name="connsiteX23" fmla="*/ 4845961 w 11421375"/>
              <a:gd name="connsiteY23" fmla="*/ 2952382 h 5424474"/>
              <a:gd name="connsiteX24" fmla="*/ 9852404 w 11421375"/>
              <a:gd name="connsiteY24" fmla="*/ 2952382 h 5424474"/>
              <a:gd name="connsiteX25" fmla="*/ 9852404 w 11421375"/>
              <a:gd name="connsiteY25" fmla="*/ 4124456 h 5424474"/>
              <a:gd name="connsiteX26" fmla="*/ 4845961 w 11421375"/>
              <a:gd name="connsiteY26" fmla="*/ 4124456 h 5424474"/>
              <a:gd name="connsiteX27" fmla="*/ 776378 w 11421375"/>
              <a:gd name="connsiteY27" fmla="*/ 2862662 h 5424474"/>
              <a:gd name="connsiteX28" fmla="*/ 2648462 w 11421375"/>
              <a:gd name="connsiteY28" fmla="*/ 2862662 h 5424474"/>
              <a:gd name="connsiteX29" fmla="*/ 2648462 w 11421375"/>
              <a:gd name="connsiteY29" fmla="*/ 4242889 h 5424474"/>
              <a:gd name="connsiteX30" fmla="*/ 776378 w 11421375"/>
              <a:gd name="connsiteY30" fmla="*/ 4242889 h 5424474"/>
              <a:gd name="connsiteX31" fmla="*/ 7926849 w 11421375"/>
              <a:gd name="connsiteY31" fmla="*/ 2247166 h 5424474"/>
              <a:gd name="connsiteX32" fmla="*/ 9852404 w 11421375"/>
              <a:gd name="connsiteY32" fmla="*/ 2247166 h 5424474"/>
              <a:gd name="connsiteX33" fmla="*/ 9852404 w 11421375"/>
              <a:gd name="connsiteY33" fmla="*/ 2835562 h 5424474"/>
              <a:gd name="connsiteX34" fmla="*/ 7926849 w 11421375"/>
              <a:gd name="connsiteY34" fmla="*/ 2835562 h 5424474"/>
              <a:gd name="connsiteX35" fmla="*/ 10094881 w 11421375"/>
              <a:gd name="connsiteY35" fmla="*/ 2231002 h 5424474"/>
              <a:gd name="connsiteX36" fmla="*/ 11421375 w 11421375"/>
              <a:gd name="connsiteY36" fmla="*/ 2231002 h 5424474"/>
              <a:gd name="connsiteX37" fmla="*/ 11421375 w 11421375"/>
              <a:gd name="connsiteY37" fmla="*/ 4124456 h 5424474"/>
              <a:gd name="connsiteX38" fmla="*/ 10299940 w 11421375"/>
              <a:gd name="connsiteY38" fmla="*/ 4124456 h 5424474"/>
              <a:gd name="connsiteX39" fmla="*/ 10299940 w 11421375"/>
              <a:gd name="connsiteY39" fmla="*/ 4130745 h 5424474"/>
              <a:gd name="connsiteX40" fmla="*/ 9929004 w 11421375"/>
              <a:gd name="connsiteY40" fmla="*/ 4130745 h 5424474"/>
              <a:gd name="connsiteX41" fmla="*/ 9929004 w 11421375"/>
              <a:gd name="connsiteY41" fmla="*/ 2232934 h 5424474"/>
              <a:gd name="connsiteX42" fmla="*/ 10094881 w 11421375"/>
              <a:gd name="connsiteY42" fmla="*/ 2232934 h 5424474"/>
              <a:gd name="connsiteX43" fmla="*/ 2720720 w 11421375"/>
              <a:gd name="connsiteY43" fmla="*/ 2163617 h 5424474"/>
              <a:gd name="connsiteX44" fmla="*/ 4731854 w 11421375"/>
              <a:gd name="connsiteY44" fmla="*/ 2163617 h 5424474"/>
              <a:gd name="connsiteX45" fmla="*/ 4731854 w 11421375"/>
              <a:gd name="connsiteY45" fmla="*/ 3235035 h 5424474"/>
              <a:gd name="connsiteX46" fmla="*/ 2720720 w 11421375"/>
              <a:gd name="connsiteY46" fmla="*/ 3235035 h 5424474"/>
              <a:gd name="connsiteX47" fmla="*/ 6486248 w 11421375"/>
              <a:gd name="connsiteY47" fmla="*/ 1764144 h 5424474"/>
              <a:gd name="connsiteX48" fmla="*/ 7812742 w 11421375"/>
              <a:gd name="connsiteY48" fmla="*/ 1764144 h 5424474"/>
              <a:gd name="connsiteX49" fmla="*/ 7812742 w 11421375"/>
              <a:gd name="connsiteY49" fmla="*/ 2835562 h 5424474"/>
              <a:gd name="connsiteX50" fmla="*/ 6486248 w 11421375"/>
              <a:gd name="connsiteY50" fmla="*/ 2835562 h 5424474"/>
              <a:gd name="connsiteX51" fmla="*/ 4845961 w 11421375"/>
              <a:gd name="connsiteY51" fmla="*/ 1477817 h 5424474"/>
              <a:gd name="connsiteX52" fmla="*/ 6280257 w 11421375"/>
              <a:gd name="connsiteY52" fmla="*/ 1477817 h 5424474"/>
              <a:gd name="connsiteX53" fmla="*/ 6280257 w 11421375"/>
              <a:gd name="connsiteY53" fmla="*/ 2835562 h 5424474"/>
              <a:gd name="connsiteX54" fmla="*/ 4845961 w 11421375"/>
              <a:gd name="connsiteY54" fmla="*/ 2835562 h 5424474"/>
              <a:gd name="connsiteX55" fmla="*/ 6486248 w 11421375"/>
              <a:gd name="connsiteY55" fmla="*/ 513985 h 5424474"/>
              <a:gd name="connsiteX56" fmla="*/ 7784215 w 11421375"/>
              <a:gd name="connsiteY56" fmla="*/ 513985 h 5424474"/>
              <a:gd name="connsiteX57" fmla="*/ 7784215 w 11421375"/>
              <a:gd name="connsiteY57" fmla="*/ 1647324 h 5424474"/>
              <a:gd name="connsiteX58" fmla="*/ 6486248 w 11421375"/>
              <a:gd name="connsiteY58" fmla="*/ 1647324 h 5424474"/>
              <a:gd name="connsiteX59" fmla="*/ 7926849 w 11421375"/>
              <a:gd name="connsiteY59" fmla="*/ 0 h 5424474"/>
              <a:gd name="connsiteX60" fmla="*/ 11421375 w 11421375"/>
              <a:gd name="connsiteY60" fmla="*/ 0 h 5424474"/>
              <a:gd name="connsiteX61" fmla="*/ 11421375 w 11421375"/>
              <a:gd name="connsiteY61" fmla="*/ 2130346 h 5424474"/>
              <a:gd name="connsiteX62" fmla="*/ 7926849 w 11421375"/>
              <a:gd name="connsiteY62" fmla="*/ 2130346 h 5424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1421375" h="5424474">
                <a:moveTo>
                  <a:pt x="0" y="4389538"/>
                </a:moveTo>
                <a:lnTo>
                  <a:pt x="2648462" y="4389538"/>
                </a:lnTo>
                <a:lnTo>
                  <a:pt x="2648462" y="5424474"/>
                </a:lnTo>
                <a:lnTo>
                  <a:pt x="0" y="5424474"/>
                </a:lnTo>
                <a:close/>
                <a:moveTo>
                  <a:pt x="8632058" y="4205273"/>
                </a:moveTo>
                <a:lnTo>
                  <a:pt x="11421375" y="4205273"/>
                </a:lnTo>
                <a:lnTo>
                  <a:pt x="11421375" y="5424473"/>
                </a:lnTo>
                <a:lnTo>
                  <a:pt x="8632058" y="5424473"/>
                </a:lnTo>
                <a:close/>
                <a:moveTo>
                  <a:pt x="7027429" y="4203909"/>
                </a:moveTo>
                <a:lnTo>
                  <a:pt x="8461724" y="4203909"/>
                </a:lnTo>
                <a:lnTo>
                  <a:pt x="8461724" y="4217010"/>
                </a:lnTo>
                <a:lnTo>
                  <a:pt x="8497019" y="4217010"/>
                </a:lnTo>
                <a:lnTo>
                  <a:pt x="8497019" y="5424474"/>
                </a:lnTo>
                <a:lnTo>
                  <a:pt x="6996023" y="5424474"/>
                </a:lnTo>
                <a:lnTo>
                  <a:pt x="6996023" y="4217010"/>
                </a:lnTo>
                <a:lnTo>
                  <a:pt x="7027429" y="4217010"/>
                </a:lnTo>
                <a:close/>
                <a:moveTo>
                  <a:pt x="2720718" y="3354366"/>
                </a:moveTo>
                <a:lnTo>
                  <a:pt x="4730195" y="3354366"/>
                </a:lnTo>
                <a:lnTo>
                  <a:pt x="4730195" y="4242887"/>
                </a:lnTo>
                <a:lnTo>
                  <a:pt x="6918384" y="4242887"/>
                </a:lnTo>
                <a:lnTo>
                  <a:pt x="6918384" y="5424472"/>
                </a:lnTo>
                <a:lnTo>
                  <a:pt x="4730195" y="5424472"/>
                </a:lnTo>
                <a:lnTo>
                  <a:pt x="2720718" y="5424472"/>
                </a:lnTo>
                <a:close/>
                <a:moveTo>
                  <a:pt x="4845961" y="2952382"/>
                </a:moveTo>
                <a:lnTo>
                  <a:pt x="9852404" y="2952382"/>
                </a:lnTo>
                <a:lnTo>
                  <a:pt x="9852404" y="4124456"/>
                </a:lnTo>
                <a:lnTo>
                  <a:pt x="4845961" y="4124456"/>
                </a:lnTo>
                <a:close/>
                <a:moveTo>
                  <a:pt x="776378" y="2862662"/>
                </a:moveTo>
                <a:lnTo>
                  <a:pt x="2648462" y="2862662"/>
                </a:lnTo>
                <a:lnTo>
                  <a:pt x="2648462" y="4242889"/>
                </a:lnTo>
                <a:lnTo>
                  <a:pt x="776378" y="4242889"/>
                </a:lnTo>
                <a:close/>
                <a:moveTo>
                  <a:pt x="7926849" y="2247166"/>
                </a:moveTo>
                <a:lnTo>
                  <a:pt x="9852404" y="2247166"/>
                </a:lnTo>
                <a:lnTo>
                  <a:pt x="9852404" y="2835562"/>
                </a:lnTo>
                <a:lnTo>
                  <a:pt x="7926849" y="2835562"/>
                </a:lnTo>
                <a:close/>
                <a:moveTo>
                  <a:pt x="10094881" y="2231002"/>
                </a:moveTo>
                <a:lnTo>
                  <a:pt x="11421375" y="2231002"/>
                </a:lnTo>
                <a:lnTo>
                  <a:pt x="11421375" y="4124456"/>
                </a:lnTo>
                <a:lnTo>
                  <a:pt x="10299940" y="4124456"/>
                </a:lnTo>
                <a:lnTo>
                  <a:pt x="10299940" y="4130745"/>
                </a:lnTo>
                <a:lnTo>
                  <a:pt x="9929004" y="4130745"/>
                </a:lnTo>
                <a:lnTo>
                  <a:pt x="9929004" y="2232934"/>
                </a:lnTo>
                <a:lnTo>
                  <a:pt x="10094881" y="2232934"/>
                </a:lnTo>
                <a:close/>
                <a:moveTo>
                  <a:pt x="2720720" y="2163617"/>
                </a:moveTo>
                <a:lnTo>
                  <a:pt x="4731854" y="2163617"/>
                </a:lnTo>
                <a:lnTo>
                  <a:pt x="4731854" y="3235035"/>
                </a:lnTo>
                <a:lnTo>
                  <a:pt x="2720720" y="3235035"/>
                </a:lnTo>
                <a:close/>
                <a:moveTo>
                  <a:pt x="6486248" y="1764144"/>
                </a:moveTo>
                <a:lnTo>
                  <a:pt x="7812742" y="1764144"/>
                </a:lnTo>
                <a:lnTo>
                  <a:pt x="7812742" y="2835562"/>
                </a:lnTo>
                <a:lnTo>
                  <a:pt x="6486248" y="2835562"/>
                </a:lnTo>
                <a:close/>
                <a:moveTo>
                  <a:pt x="4845961" y="1477817"/>
                </a:moveTo>
                <a:lnTo>
                  <a:pt x="6280257" y="1477817"/>
                </a:lnTo>
                <a:lnTo>
                  <a:pt x="6280257" y="2835562"/>
                </a:lnTo>
                <a:lnTo>
                  <a:pt x="4845961" y="2835562"/>
                </a:lnTo>
                <a:close/>
                <a:moveTo>
                  <a:pt x="6486248" y="513985"/>
                </a:moveTo>
                <a:lnTo>
                  <a:pt x="7784215" y="513985"/>
                </a:lnTo>
                <a:lnTo>
                  <a:pt x="7784215" y="1647324"/>
                </a:lnTo>
                <a:lnTo>
                  <a:pt x="6486248" y="1647324"/>
                </a:lnTo>
                <a:close/>
                <a:moveTo>
                  <a:pt x="7926849" y="0"/>
                </a:moveTo>
                <a:lnTo>
                  <a:pt x="11421375" y="0"/>
                </a:lnTo>
                <a:lnTo>
                  <a:pt x="11421375" y="2130346"/>
                </a:lnTo>
                <a:lnTo>
                  <a:pt x="7926849" y="2130346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179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BBAD5E4-31A2-46D7-9FCE-A9589A236973}"/>
              </a:ext>
            </a:extLst>
          </p:cNvPr>
          <p:cNvSpPr txBox="1"/>
          <p:nvPr/>
        </p:nvSpPr>
        <p:spPr>
          <a:xfrm>
            <a:off x="5080338" y="200775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虚拟网络互连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2456B5-1B6E-49FB-B5A3-F2F2DECA0E52}"/>
              </a:ext>
            </a:extLst>
          </p:cNvPr>
          <p:cNvSpPr txBox="1"/>
          <p:nvPr/>
        </p:nvSpPr>
        <p:spPr>
          <a:xfrm>
            <a:off x="5105988" y="2570768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地址的使用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6F7B7D-E318-412E-92D4-021CA3B9322C}"/>
              </a:ext>
            </a:extLst>
          </p:cNvPr>
          <p:cNvSpPr txBox="1"/>
          <p:nvPr/>
        </p:nvSpPr>
        <p:spPr>
          <a:xfrm>
            <a:off x="4763042" y="3696804"/>
            <a:ext cx="2665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地址和</a:t>
            </a:r>
            <a:r>
              <a:rPr lang="en-US" altLang="zh-CN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endParaRPr lang="zh-CN" altLang="en-US" sz="2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1556C5D-5C38-4B45-BB2F-1C84A8E8D4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DBA0FD42-A8B3-4C9F-AAF9-1EC1AD5A2A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Contents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2D2A53-A049-48B0-9F8D-21F5F3716A8C}"/>
              </a:ext>
            </a:extLst>
          </p:cNvPr>
          <p:cNvSpPr txBox="1"/>
          <p:nvPr/>
        </p:nvSpPr>
        <p:spPr>
          <a:xfrm>
            <a:off x="5388114" y="425982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路由协议</a:t>
            </a:r>
            <a:endParaRPr lang="zh-CN" altLang="en-US" sz="2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F267F5-80C7-4A03-9D7B-9802A1948CC2}"/>
              </a:ext>
            </a:extLst>
          </p:cNvPr>
          <p:cNvSpPr txBox="1"/>
          <p:nvPr/>
        </p:nvSpPr>
        <p:spPr>
          <a:xfrm>
            <a:off x="5413763" y="3133786"/>
            <a:ext cx="1364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数据报</a:t>
            </a:r>
            <a:endParaRPr lang="zh-CN" altLang="en-US" sz="2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373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DFBA961-8C3C-48A3-9AE6-8B2608771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7280D4-07C5-40ED-97B9-026CBA39B3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38ABB4-2FA0-48D8-A5B0-E7657FC609C0}"/>
              </a:ext>
            </a:extLst>
          </p:cNvPr>
          <p:cNvSpPr txBox="1"/>
          <p:nvPr/>
        </p:nvSpPr>
        <p:spPr>
          <a:xfrm>
            <a:off x="3695345" y="1071834"/>
            <a:ext cx="4801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将数组分组从源主机送到目的主机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627B17-459E-467B-96CD-7328E768820D}"/>
              </a:ext>
            </a:extLst>
          </p:cNvPr>
          <p:cNvSpPr txBox="1"/>
          <p:nvPr/>
        </p:nvSpPr>
        <p:spPr>
          <a:xfrm>
            <a:off x="3487644" y="3262828"/>
            <a:ext cx="1780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Where am I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E5C9F0-DCAC-439E-A5B8-5E354FF83585}"/>
              </a:ext>
            </a:extLst>
          </p:cNvPr>
          <p:cNvSpPr txBox="1"/>
          <p:nvPr/>
        </p:nvSpPr>
        <p:spPr>
          <a:xfrm>
            <a:off x="3365816" y="3688400"/>
            <a:ext cx="1902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Where to go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7B454D-19FB-4381-ACEE-8E1D6093EE60}"/>
              </a:ext>
            </a:extLst>
          </p:cNvPr>
          <p:cNvSpPr txBox="1"/>
          <p:nvPr/>
        </p:nvSpPr>
        <p:spPr>
          <a:xfrm>
            <a:off x="3232061" y="4113972"/>
            <a:ext cx="2036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Which to take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6320B2-2EF3-472C-A666-41F12C2D3383}"/>
              </a:ext>
            </a:extLst>
          </p:cNvPr>
          <p:cNvSpPr txBox="1"/>
          <p:nvPr/>
        </p:nvSpPr>
        <p:spPr>
          <a:xfrm>
            <a:off x="3703344" y="2837256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Who am I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51150E-9B18-4AE3-B538-7FD26F099188}"/>
              </a:ext>
            </a:extLst>
          </p:cNvPr>
          <p:cNvSpPr txBox="1"/>
          <p:nvPr/>
        </p:nvSpPr>
        <p:spPr>
          <a:xfrm>
            <a:off x="5490705" y="3262828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我在哪儿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DEDAFD-278E-454E-873D-1DE81695FC6A}"/>
              </a:ext>
            </a:extLst>
          </p:cNvPr>
          <p:cNvSpPr txBox="1"/>
          <p:nvPr/>
        </p:nvSpPr>
        <p:spPr>
          <a:xfrm>
            <a:off x="5618946" y="36884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怎么走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7008B34-418C-4D33-A655-8037EA1A1F93}"/>
              </a:ext>
            </a:extLst>
          </p:cNvPr>
          <p:cNvSpPr txBox="1"/>
          <p:nvPr/>
        </p:nvSpPr>
        <p:spPr>
          <a:xfrm>
            <a:off x="5618946" y="411397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选哪个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A69B0B-B0B8-4EED-97FC-1B89473D73B7}"/>
              </a:ext>
            </a:extLst>
          </p:cNvPr>
          <p:cNvSpPr txBox="1"/>
          <p:nvPr/>
        </p:nvSpPr>
        <p:spPr>
          <a:xfrm>
            <a:off x="5618946" y="283725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我是谁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C47AE0-BB1E-4BF0-92FC-9812F31E6152}"/>
              </a:ext>
            </a:extLst>
          </p:cNvPr>
          <p:cNvSpPr txBox="1"/>
          <p:nvPr/>
        </p:nvSpPr>
        <p:spPr>
          <a:xfrm>
            <a:off x="6923804" y="326282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网络环境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E13F7A-3AC8-448E-B1FF-99699C999ED8}"/>
              </a:ext>
            </a:extLst>
          </p:cNvPr>
          <p:cNvSpPr txBox="1"/>
          <p:nvPr/>
        </p:nvSpPr>
        <p:spPr>
          <a:xfrm>
            <a:off x="6923804" y="368840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路由协议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7E28E4-0B5D-467E-AE30-B792218C2F25}"/>
              </a:ext>
            </a:extLst>
          </p:cNvPr>
          <p:cNvSpPr txBox="1"/>
          <p:nvPr/>
        </p:nvSpPr>
        <p:spPr>
          <a:xfrm>
            <a:off x="6923804" y="41139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路由状态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FB4A91-92D0-4DC5-BBB3-313FCC9B7097}"/>
              </a:ext>
            </a:extLst>
          </p:cNvPr>
          <p:cNvSpPr txBox="1"/>
          <p:nvPr/>
        </p:nvSpPr>
        <p:spPr>
          <a:xfrm>
            <a:off x="6923804" y="2837256"/>
            <a:ext cx="910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标识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C37DBEB-52A2-4487-AD4A-2ECA911D0D7B}"/>
              </a:ext>
            </a:extLst>
          </p:cNvPr>
          <p:cNvCxnSpPr>
            <a:cxnSpLocks/>
          </p:cNvCxnSpPr>
          <p:nvPr/>
        </p:nvCxnSpPr>
        <p:spPr>
          <a:xfrm>
            <a:off x="5362466" y="2036190"/>
            <a:ext cx="0" cy="3431356"/>
          </a:xfrm>
          <a:prstGeom prst="line">
            <a:avLst/>
          </a:prstGeom>
          <a:ln w="12700">
            <a:gradFill>
              <a:gsLst>
                <a:gs pos="75228">
                  <a:schemeClr val="bg1">
                    <a:lumMod val="50000"/>
                  </a:schemeClr>
                </a:gs>
                <a:gs pos="25000">
                  <a:schemeClr val="bg1">
                    <a:lumMod val="50000"/>
                  </a:schemeClr>
                </a:gs>
                <a:gs pos="0">
                  <a:schemeClr val="bg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C887891-241D-4EA7-A4C9-59F421C8FC2B}"/>
              </a:ext>
            </a:extLst>
          </p:cNvPr>
          <p:cNvCxnSpPr>
            <a:cxnSpLocks/>
          </p:cNvCxnSpPr>
          <p:nvPr/>
        </p:nvCxnSpPr>
        <p:spPr>
          <a:xfrm>
            <a:off x="6829534" y="2036190"/>
            <a:ext cx="0" cy="3431356"/>
          </a:xfrm>
          <a:prstGeom prst="line">
            <a:avLst/>
          </a:prstGeom>
          <a:ln w="12700">
            <a:gradFill>
              <a:gsLst>
                <a:gs pos="75228">
                  <a:schemeClr val="bg1">
                    <a:lumMod val="50000"/>
                  </a:schemeClr>
                </a:gs>
                <a:gs pos="25000">
                  <a:schemeClr val="bg1">
                    <a:lumMod val="50000"/>
                  </a:schemeClr>
                </a:gs>
                <a:gs pos="0">
                  <a:schemeClr val="bg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7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FE07CA8-FCA4-4BC7-9F6C-9DD72066CC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主要任务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3F1DFB-689B-4CCE-AB9C-1979DAC473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Objective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F071DF-7D3B-4DC7-ABE1-06E0DAB0DE2B}"/>
              </a:ext>
            </a:extLst>
          </p:cNvPr>
          <p:cNvSpPr txBox="1"/>
          <p:nvPr/>
        </p:nvSpPr>
        <p:spPr>
          <a:xfrm>
            <a:off x="2788223" y="390325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13F71-BF69-424B-9A0C-95E29B955BAC}"/>
              </a:ext>
            </a:extLst>
          </p:cNvPr>
          <p:cNvSpPr txBox="1"/>
          <p:nvPr/>
        </p:nvSpPr>
        <p:spPr>
          <a:xfrm>
            <a:off x="8808742" y="390325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路由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A776D17-51F6-4763-B6B7-D1F27FBA3A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41" y="2684058"/>
            <a:ext cx="1219200" cy="1219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F972076-3D00-489B-B35B-DA4F5138AC8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660" y="2684058"/>
            <a:ext cx="1219200" cy="1219200"/>
          </a:xfrm>
          <a:prstGeom prst="rect">
            <a:avLst/>
          </a:prstGeom>
        </p:spPr>
      </p:pic>
      <p:sp>
        <p:nvSpPr>
          <p:cNvPr id="11" name="弧形 10">
            <a:extLst>
              <a:ext uri="{FF2B5EF4-FFF2-40B4-BE49-F238E27FC236}">
                <a16:creationId xmlns:a16="http://schemas.microsoft.com/office/drawing/2014/main" id="{3A711186-86F6-4FE0-8A47-D7159CA2B0BA}"/>
              </a:ext>
            </a:extLst>
          </p:cNvPr>
          <p:cNvSpPr/>
          <p:nvPr/>
        </p:nvSpPr>
        <p:spPr>
          <a:xfrm>
            <a:off x="2078446" y="2133119"/>
            <a:ext cx="2014588" cy="1771575"/>
          </a:xfrm>
          <a:prstGeom prst="arc">
            <a:avLst>
              <a:gd name="adj1" fmla="val 1539298"/>
              <a:gd name="adj2" fmla="val 9174605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BA9593D8-4D59-4755-8A8E-458DF128447F}"/>
              </a:ext>
            </a:extLst>
          </p:cNvPr>
          <p:cNvSpPr/>
          <p:nvPr/>
        </p:nvSpPr>
        <p:spPr>
          <a:xfrm>
            <a:off x="8098965" y="2133119"/>
            <a:ext cx="2014588" cy="1771575"/>
          </a:xfrm>
          <a:prstGeom prst="arc">
            <a:avLst>
              <a:gd name="adj1" fmla="val 1539298"/>
              <a:gd name="adj2" fmla="val 9174605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163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椭圆 56">
            <a:extLst>
              <a:ext uri="{FF2B5EF4-FFF2-40B4-BE49-F238E27FC236}">
                <a16:creationId xmlns:a16="http://schemas.microsoft.com/office/drawing/2014/main" id="{46BD4BB5-29CD-43D9-AC3D-7156960A47B4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01D74E5E-70A8-4E75-A8A6-FA1E88CBEBA7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2504A2B5-6236-49DC-BA8F-AA98C48D36E8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29C0CBE-6D7E-44B0-8154-5A2C70A7A398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3CCC498C-F72F-4850-8130-409ED03D630B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564206-DD72-4879-B9C0-DC67ED477421}"/>
              </a:ext>
            </a:extLst>
          </p:cNvPr>
          <p:cNvSpPr txBox="1"/>
          <p:nvPr/>
        </p:nvSpPr>
        <p:spPr>
          <a:xfrm>
            <a:off x="4721265" y="2810504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4000" dirty="0">
                <a:gradFill>
                  <a:gsLst>
                    <a:gs pos="0">
                      <a:srgbClr val="FF0101"/>
                    </a:gs>
                    <a:gs pos="50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rgbClr val="C00000"/>
                    </a:gs>
                  </a:gsLst>
                  <a:lin ang="36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大黑简体" panose="03000509000000000000" pitchFamily="65" charset="-122"/>
                <a:ea typeface="方正大黑简体" panose="03000509000000000000" pitchFamily="65" charset="-122"/>
                <a:cs typeface="Montserrat" charset="0"/>
              </a:rPr>
              <a:t>虚电路服务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4F7499-294F-4552-ADAD-331217D1A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网络层服务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5A9BA5-BFBB-497C-AD9B-5152706C2E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Service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0C4779-76B8-4E63-BF0B-D6BA0BD46374}"/>
              </a:ext>
            </a:extLst>
          </p:cNvPr>
          <p:cNvSpPr txBox="1"/>
          <p:nvPr/>
        </p:nvSpPr>
        <p:spPr>
          <a:xfrm>
            <a:off x="4832802" y="4436412"/>
            <a:ext cx="2526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Virtual Circuit</a:t>
            </a:r>
            <a:endParaRPr lang="zh-CN" altLang="en-US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89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16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3" presetClass="entr" presetSubtype="16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repeatCount="indefinite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3" presetClass="entr" presetSubtype="16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xit" presetSubtype="0" repeatCount="indefinite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00078 0.0516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>
            <a:extLst>
              <a:ext uri="{FF2B5EF4-FFF2-40B4-BE49-F238E27FC236}">
                <a16:creationId xmlns:a16="http://schemas.microsoft.com/office/drawing/2014/main" id="{893B82DE-4E39-4353-A218-39E6E1CC15DD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85CB90D-0EE0-4A4B-A596-98DB2715F746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DB75A9-3A2E-4DF9-8BD2-A20CE55A10B9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761C2E9-4F94-41D8-9680-0E6CD1C2AC0F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FA291E0-446D-4395-8D73-3998DF875B4B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51A94B-0F1C-42B1-BB1C-3D19F1C2B08C}"/>
              </a:ext>
            </a:extLst>
          </p:cNvPr>
          <p:cNvSpPr txBox="1"/>
          <p:nvPr/>
        </p:nvSpPr>
        <p:spPr>
          <a:xfrm>
            <a:off x="4702093" y="2810504"/>
            <a:ext cx="27878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4000" dirty="0">
                <a:gradFill>
                  <a:gsLst>
                    <a:gs pos="0">
                      <a:srgbClr val="FF0101"/>
                    </a:gs>
                    <a:gs pos="50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rgbClr val="C00000"/>
                    </a:gs>
                  </a:gsLst>
                  <a:lin ang="36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大黑简体" panose="03000509000000000000" pitchFamily="65" charset="-122"/>
                <a:ea typeface="方正大黑简体" panose="03000509000000000000" pitchFamily="65" charset="-122"/>
                <a:cs typeface="Montserrat" charset="0"/>
              </a:rPr>
              <a:t>数据报服务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4B36E1B-D7A6-4BCC-B237-C513E4DAB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网络层服务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50ADA7-B9CB-4E45-A1CC-972F8B5DFD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Service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27963E-EC9F-4716-9115-DEA6CE7F7EA0}"/>
              </a:ext>
            </a:extLst>
          </p:cNvPr>
          <p:cNvSpPr txBox="1"/>
          <p:nvPr/>
        </p:nvSpPr>
        <p:spPr>
          <a:xfrm>
            <a:off x="5150069" y="4436412"/>
            <a:ext cx="1891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Datagram</a:t>
            </a:r>
            <a:endParaRPr lang="zh-CN" altLang="en-US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15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16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3" presetClass="entr" presetSubtype="16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repeatCount="indefinite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3" presetClass="entr" presetSubtype="16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xit" presetSubtype="0" repeatCount="indefinite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00078 0.0516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F6225-2736-46A4-A0BB-989C3E91A9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虚电路和数据报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19E3A683-59EE-4D8A-9679-5123EC8451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VC VS Datagram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26DA29-4BEB-4C33-A339-362F7B597266}"/>
              </a:ext>
            </a:extLst>
          </p:cNvPr>
          <p:cNvSpPr/>
          <p:nvPr/>
        </p:nvSpPr>
        <p:spPr>
          <a:xfrm>
            <a:off x="3739297" y="2483259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无连接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188E71-5752-4296-819C-AE8EA2733804}"/>
              </a:ext>
            </a:extLst>
          </p:cNvPr>
          <p:cNvSpPr/>
          <p:nvPr/>
        </p:nvSpPr>
        <p:spPr>
          <a:xfrm>
            <a:off x="3739297" y="3083604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随机到达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D080FF-7245-424F-8312-92039CE0846D}"/>
              </a:ext>
            </a:extLst>
          </p:cNvPr>
          <p:cNvSpPr/>
          <p:nvPr/>
        </p:nvSpPr>
        <p:spPr>
          <a:xfrm>
            <a:off x="3739296" y="3683950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最大努力交付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318B5A-8399-4B9D-8E15-EED462255FEC}"/>
              </a:ext>
            </a:extLst>
          </p:cNvPr>
          <p:cNvSpPr/>
          <p:nvPr/>
        </p:nvSpPr>
        <p:spPr>
          <a:xfrm>
            <a:off x="6190270" y="2483259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有</a:t>
            </a:r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连接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CC5EDF-6FA4-4DB6-A0D8-1250119D7C94}"/>
              </a:ext>
            </a:extLst>
          </p:cNvPr>
          <p:cNvSpPr/>
          <p:nvPr/>
        </p:nvSpPr>
        <p:spPr>
          <a:xfrm>
            <a:off x="6190270" y="3083604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有序到达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E9CAE8-093A-4639-925F-E94BF562EF2D}"/>
              </a:ext>
            </a:extLst>
          </p:cNvPr>
          <p:cNvSpPr/>
          <p:nvPr/>
        </p:nvSpPr>
        <p:spPr>
          <a:xfrm>
            <a:off x="6190269" y="3683950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可靠交付</a:t>
            </a:r>
          </a:p>
        </p:txBody>
      </p:sp>
    </p:spTree>
    <p:extLst>
      <p:ext uri="{BB962C8B-B14F-4D97-AF65-F5344CB8AC3E}">
        <p14:creationId xmlns:p14="http://schemas.microsoft.com/office/powerpoint/2010/main" val="779520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FB87AB1-8E14-4FA6-AAF1-6161833A7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87" y="26497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3906A90-BA0D-420C-9786-CC58F7DEA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261" y="476113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4E72786-E707-454E-BBE5-5B20A4745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616" y="50881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14A1B8-4CA9-4EE4-BAFC-23B31B566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816" y="342900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162A2D-E424-4651-B595-2FDB7F3C4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158" y="95127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826DEA-2491-41EE-980A-598ED3CCE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687" y="73987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云形 7">
            <a:extLst>
              <a:ext uri="{FF2B5EF4-FFF2-40B4-BE49-F238E27FC236}">
                <a16:creationId xmlns:a16="http://schemas.microsoft.com/office/drawing/2014/main" id="{A5652331-5BC9-49D8-8C93-DF796DC424D9}"/>
              </a:ext>
            </a:extLst>
          </p:cNvPr>
          <p:cNvSpPr/>
          <p:nvPr/>
        </p:nvSpPr>
        <p:spPr>
          <a:xfrm>
            <a:off x="3652683" y="2015612"/>
            <a:ext cx="4886633" cy="2526891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虚拟的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13496DB-EA5F-44CD-9E4E-CD7858FA61E6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172287" y="2878393"/>
            <a:ext cx="1480396" cy="2286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AABA8B7-68CB-4749-9B74-5F0C0AAC656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839287" y="1197076"/>
            <a:ext cx="637686" cy="9710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851830E-52C4-40C8-8C70-606FCFD044DD}"/>
              </a:ext>
            </a:extLst>
          </p:cNvPr>
          <p:cNvCxnSpPr>
            <a:stCxn id="6" idx="2"/>
          </p:cNvCxnSpPr>
          <p:nvPr/>
        </p:nvCxnSpPr>
        <p:spPr>
          <a:xfrm flipH="1">
            <a:off x="7993930" y="1408470"/>
            <a:ext cx="1682828" cy="9105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D5FC75D-9F82-4A1F-86CC-6043ABCACC4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399461" y="4232635"/>
            <a:ext cx="1097125" cy="757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99252D-26E3-4DF3-B5ED-8EC827BF987F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7400041" y="4232635"/>
            <a:ext cx="1136175" cy="8555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BBB6318-5DD8-4702-AE1D-EC04E21C7515}"/>
              </a:ext>
            </a:extLst>
          </p:cNvPr>
          <p:cNvCxnSpPr>
            <a:stCxn id="5" idx="1"/>
            <a:endCxn id="8" idx="0"/>
          </p:cNvCxnSpPr>
          <p:nvPr/>
        </p:nvCxnSpPr>
        <p:spPr>
          <a:xfrm flipH="1" flipV="1">
            <a:off x="8535244" y="3279058"/>
            <a:ext cx="991572" cy="378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27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F598891-67E5-4F31-8F63-919A12B1B8C4}"/>
              </a:ext>
            </a:extLst>
          </p:cNvPr>
          <p:cNvSpPr txBox="1"/>
          <p:nvPr/>
        </p:nvSpPr>
        <p:spPr>
          <a:xfrm>
            <a:off x="4008495" y="1384158"/>
            <a:ext cx="2012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Network Access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5E4CC7-1DAE-4F9B-A29E-DDB84CD354F1}"/>
              </a:ext>
            </a:extLst>
          </p:cNvPr>
          <p:cNvSpPr txBox="1"/>
          <p:nvPr/>
        </p:nvSpPr>
        <p:spPr>
          <a:xfrm>
            <a:off x="6180843" y="138415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网络接入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03C1E38-B4B3-4384-B5BC-0AB7193F84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关注的焦点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CECBD4F4-63DC-4B67-80DA-5B5FF67F5B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Focus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F83C4F-90B2-4A2C-B11E-6CBD4A71F1CA}"/>
              </a:ext>
            </a:extLst>
          </p:cNvPr>
          <p:cNvSpPr txBox="1"/>
          <p:nvPr/>
        </p:nvSpPr>
        <p:spPr>
          <a:xfrm>
            <a:off x="4217591" y="2367280"/>
            <a:ext cx="18029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Packet Length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AA13EB-5E42-4A07-87C4-DE39144FCC1A}"/>
              </a:ext>
            </a:extLst>
          </p:cNvPr>
          <p:cNvSpPr txBox="1"/>
          <p:nvPr/>
        </p:nvSpPr>
        <p:spPr>
          <a:xfrm>
            <a:off x="3954697" y="2858841"/>
            <a:ext cx="2065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Timeout Control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E0614C-9B3E-4393-8F26-A27C65BCD8AF}"/>
              </a:ext>
            </a:extLst>
          </p:cNvPr>
          <p:cNvSpPr txBox="1"/>
          <p:nvPr/>
        </p:nvSpPr>
        <p:spPr>
          <a:xfrm>
            <a:off x="4270490" y="3350402"/>
            <a:ext cx="1750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Error Recover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8DC469-A84A-4A6C-BDA1-96B682D711E2}"/>
              </a:ext>
            </a:extLst>
          </p:cNvPr>
          <p:cNvSpPr txBox="1"/>
          <p:nvPr/>
        </p:nvSpPr>
        <p:spPr>
          <a:xfrm>
            <a:off x="4276902" y="3841963"/>
            <a:ext cx="1743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Status Report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267724-5C9C-4B68-8F76-4E74C5B2883C}"/>
              </a:ext>
            </a:extLst>
          </p:cNvPr>
          <p:cNvSpPr txBox="1"/>
          <p:nvPr/>
        </p:nvSpPr>
        <p:spPr>
          <a:xfrm>
            <a:off x="4549412" y="1875719"/>
            <a:ext cx="1471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Addressing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E2E96D-D237-4120-B81C-D2573C553E3E}"/>
              </a:ext>
            </a:extLst>
          </p:cNvPr>
          <p:cNvSpPr txBox="1"/>
          <p:nvPr/>
        </p:nvSpPr>
        <p:spPr>
          <a:xfrm>
            <a:off x="4042158" y="4333524"/>
            <a:ext cx="1978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Route Selecting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31B41E-5DCE-4219-9709-F013241FD81A}"/>
              </a:ext>
            </a:extLst>
          </p:cNvPr>
          <p:cNvSpPr txBox="1"/>
          <p:nvPr/>
        </p:nvSpPr>
        <p:spPr>
          <a:xfrm>
            <a:off x="4393152" y="4825083"/>
            <a:ext cx="1627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Service Type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D6A6DB-B024-49DA-916F-1FB31F659922}"/>
              </a:ext>
            </a:extLst>
          </p:cNvPr>
          <p:cNvSpPr txBox="1"/>
          <p:nvPr/>
        </p:nvSpPr>
        <p:spPr>
          <a:xfrm>
            <a:off x="6180843" y="236728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数据报长度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99FE73-3012-4BB4-BB73-D348530D5981}"/>
              </a:ext>
            </a:extLst>
          </p:cNvPr>
          <p:cNvSpPr txBox="1"/>
          <p:nvPr/>
        </p:nvSpPr>
        <p:spPr>
          <a:xfrm>
            <a:off x="6180843" y="285884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超时控制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84F7FD-7258-4FF3-8CC0-B93350F6569B}"/>
              </a:ext>
            </a:extLst>
          </p:cNvPr>
          <p:cNvSpPr txBox="1"/>
          <p:nvPr/>
        </p:nvSpPr>
        <p:spPr>
          <a:xfrm>
            <a:off x="6180843" y="335040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错误恢复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7F49FB0-FC53-4203-8F02-03B9212DC125}"/>
              </a:ext>
            </a:extLst>
          </p:cNvPr>
          <p:cNvSpPr txBox="1"/>
          <p:nvPr/>
        </p:nvSpPr>
        <p:spPr>
          <a:xfrm>
            <a:off x="6180843" y="384196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状态报告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229876-7A85-4FA9-9BE7-EAD4DAAB3ECE}"/>
              </a:ext>
            </a:extLst>
          </p:cNvPr>
          <p:cNvSpPr txBox="1"/>
          <p:nvPr/>
        </p:nvSpPr>
        <p:spPr>
          <a:xfrm>
            <a:off x="6180843" y="187571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目标寻址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CE63AD-4365-43CE-A7C0-98BBD2C4687D}"/>
              </a:ext>
            </a:extLst>
          </p:cNvPr>
          <p:cNvSpPr txBox="1"/>
          <p:nvPr/>
        </p:nvSpPr>
        <p:spPr>
          <a:xfrm>
            <a:off x="6180843" y="433352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路由选择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271C28-3CD3-4D71-9A18-5CF95AB8499C}"/>
              </a:ext>
            </a:extLst>
          </p:cNvPr>
          <p:cNvSpPr txBox="1"/>
          <p:nvPr/>
        </p:nvSpPr>
        <p:spPr>
          <a:xfrm>
            <a:off x="6180843" y="482508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服务类型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6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08A3935-ED82-4C83-BF3E-5324B2E6C2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中间设备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B0002D-9411-4D6D-BCF6-1CA8B73257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Middleware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A235584-5C0C-468A-ACA7-BAA36C5CD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464551"/>
              </p:ext>
            </p:extLst>
          </p:nvPr>
        </p:nvGraphicFramePr>
        <p:xfrm>
          <a:off x="3817855" y="1982856"/>
          <a:ext cx="17062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52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应用层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运输层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4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网络层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链路层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75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物理层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3712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3FF99A4-D38E-49E8-B5B3-A5AAE0C17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866055"/>
              </p:ext>
            </p:extLst>
          </p:nvPr>
        </p:nvGraphicFramePr>
        <p:xfrm>
          <a:off x="5670746" y="1982856"/>
          <a:ext cx="248343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39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Gateway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router</a:t>
                      </a:r>
                      <a:endParaRPr lang="zh-CN" altLang="en-US" sz="1600" b="1" baseline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Bridge Switch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81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HUB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21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868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CA151AB-2EDC-40DE-A8DC-19C656C15F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网际协议</a:t>
            </a:r>
            <a:r>
              <a:rPr lang="en-US" altLang="zh-CN" dirty="0"/>
              <a:t>IP</a:t>
            </a:r>
            <a:r>
              <a:rPr lang="zh-CN" altLang="en-US" dirty="0"/>
              <a:t>及配套协议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BC85C0-5F3F-48BD-9FBD-7D6831C182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Protocols</a:t>
            </a:r>
            <a:endParaRPr lang="zh-CN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688E790-8B11-46E3-839B-2ABDB9694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422482"/>
              </p:ext>
            </p:extLst>
          </p:nvPr>
        </p:nvGraphicFramePr>
        <p:xfrm>
          <a:off x="3817855" y="1982856"/>
          <a:ext cx="170625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52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应用层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运输层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4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89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网络层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↓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32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链路层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75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物理层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37128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E42BB65-E546-49B9-92DE-CF1645A40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704233"/>
              </p:ext>
            </p:extLst>
          </p:nvPr>
        </p:nvGraphicFramePr>
        <p:xfrm>
          <a:off x="5670746" y="1982856"/>
          <a:ext cx="248343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39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HTTPS FTP SMTP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TCP UDP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4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ICMP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9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IP</a:t>
                      </a:r>
                      <a:endParaRPr lang="zh-CN" altLang="en-US" sz="1600" b="1" baseline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ARP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32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PPP CSMA/CD STP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81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CDMA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21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409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5013634-36DF-47CA-AF31-7CC4D2EA5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点分十进制记法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B8DDCB-39EF-4E1F-9079-B863DF779C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Dotted decimal notation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C32080-D88D-4E4D-899C-81884CF6BACF}"/>
              </a:ext>
            </a:extLst>
          </p:cNvPr>
          <p:cNvSpPr txBox="1"/>
          <p:nvPr/>
        </p:nvSpPr>
        <p:spPr>
          <a:xfrm>
            <a:off x="1492817" y="754144"/>
            <a:ext cx="9206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为每个互联网节点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每个接口分配一个全世界范围内唯一的长度为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位的标识符</a:t>
            </a:r>
          </a:p>
        </p:txBody>
      </p:sp>
      <p:graphicFrame>
        <p:nvGraphicFramePr>
          <p:cNvPr id="28" name="表格 7">
            <a:extLst>
              <a:ext uri="{FF2B5EF4-FFF2-40B4-BE49-F238E27FC236}">
                <a16:creationId xmlns:a16="http://schemas.microsoft.com/office/drawing/2014/main" id="{35CAE486-AB34-47F3-BD07-23EBC069E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84402"/>
              </p:ext>
            </p:extLst>
          </p:nvPr>
        </p:nvGraphicFramePr>
        <p:xfrm>
          <a:off x="3216000" y="2468353"/>
          <a:ext cx="5760000" cy="25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10000000000010110000001100011111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461986"/>
                  </a:ext>
                </a:extLst>
              </a:tr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5805"/>
                  </a:ext>
                </a:extLst>
              </a:tr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7281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10000000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00001011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00000011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00011111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720000">
                <a:tc gridSpan="4"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6121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840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8929971-9D25-4070-98CB-DCE25D6A59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地址的演进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AA424E-5DC0-4F3A-8FFB-567ECAB27F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Evolutions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9AEDE7-9AF4-41AF-B618-0B0526B7F658}"/>
              </a:ext>
            </a:extLst>
          </p:cNvPr>
          <p:cNvSpPr/>
          <p:nvPr/>
        </p:nvSpPr>
        <p:spPr>
          <a:xfrm>
            <a:off x="3618361" y="900897"/>
            <a:ext cx="2639505" cy="11943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分类的</a:t>
            </a:r>
            <a:r>
              <a:rPr lang="en-US" altLang="zh-CN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E3C580F-ED5E-4EC6-820B-1B27388DC6DF}"/>
              </a:ext>
            </a:extLst>
          </p:cNvPr>
          <p:cNvSpPr/>
          <p:nvPr/>
        </p:nvSpPr>
        <p:spPr>
          <a:xfrm>
            <a:off x="5799889" y="1567237"/>
            <a:ext cx="1812212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RFC 791</a:t>
            </a:r>
            <a:endParaRPr lang="zh-CN" altLang="en-US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618E3FD-18BC-4BA9-BAF6-841D3E4081AB}"/>
              </a:ext>
            </a:extLst>
          </p:cNvPr>
          <p:cNvSpPr/>
          <p:nvPr/>
        </p:nvSpPr>
        <p:spPr>
          <a:xfrm>
            <a:off x="3618361" y="2706073"/>
            <a:ext cx="2639505" cy="11943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划分子网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8EAC478-04C7-434F-8ACD-1E8570D5D501}"/>
              </a:ext>
            </a:extLst>
          </p:cNvPr>
          <p:cNvSpPr/>
          <p:nvPr/>
        </p:nvSpPr>
        <p:spPr>
          <a:xfrm>
            <a:off x="5799889" y="3372413"/>
            <a:ext cx="1812212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RFC 950</a:t>
            </a:r>
            <a:endParaRPr lang="zh-CN" altLang="en-US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929635-B436-4C4A-9A76-32C48C1676F7}"/>
              </a:ext>
            </a:extLst>
          </p:cNvPr>
          <p:cNvSpPr/>
          <p:nvPr/>
        </p:nvSpPr>
        <p:spPr>
          <a:xfrm>
            <a:off x="3618361" y="4439761"/>
            <a:ext cx="2639505" cy="11943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构造超网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4D000BC-1953-4E59-B64D-29C5B5C68DFF}"/>
              </a:ext>
            </a:extLst>
          </p:cNvPr>
          <p:cNvSpPr/>
          <p:nvPr/>
        </p:nvSpPr>
        <p:spPr>
          <a:xfrm>
            <a:off x="5799889" y="5106101"/>
            <a:ext cx="1812212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RFC 1009</a:t>
            </a:r>
            <a:endParaRPr lang="zh-CN" altLang="en-US" sz="1400" kern="100" dirty="0">
              <a:solidFill>
                <a:schemeClr val="tx1"/>
              </a:solidFill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239A114-E070-461B-8B54-B14F201645F9}"/>
              </a:ext>
            </a:extLst>
          </p:cNvPr>
          <p:cNvSpPr/>
          <p:nvPr/>
        </p:nvSpPr>
        <p:spPr>
          <a:xfrm>
            <a:off x="7336458" y="5363851"/>
            <a:ext cx="1336200" cy="2702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1987</a:t>
            </a:r>
            <a:r>
              <a:rPr lang="zh-CN" altLang="en-US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年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B7622D1-3536-49DD-A1EF-D5525652BE3E}"/>
              </a:ext>
            </a:extLst>
          </p:cNvPr>
          <p:cNvSpPr/>
          <p:nvPr/>
        </p:nvSpPr>
        <p:spPr>
          <a:xfrm>
            <a:off x="7336458" y="3630164"/>
            <a:ext cx="1336200" cy="2702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1985</a:t>
            </a:r>
            <a:r>
              <a:rPr lang="zh-CN" altLang="en-US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年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0105B6-A299-457C-A9A0-5F104D6AC4BC}"/>
              </a:ext>
            </a:extLst>
          </p:cNvPr>
          <p:cNvSpPr/>
          <p:nvPr/>
        </p:nvSpPr>
        <p:spPr>
          <a:xfrm>
            <a:off x="7336458" y="1824988"/>
            <a:ext cx="1336200" cy="2702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1981</a:t>
            </a:r>
            <a:r>
              <a:rPr lang="zh-CN" altLang="en-US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年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22F1F64-1D42-4B06-89B1-D536B6C111E3}"/>
              </a:ext>
            </a:extLst>
          </p:cNvPr>
          <p:cNvSpPr/>
          <p:nvPr/>
        </p:nvSpPr>
        <p:spPr>
          <a:xfrm>
            <a:off x="2786333" y="1567237"/>
            <a:ext cx="1368000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</a:t>
            </a:r>
            <a:endParaRPr lang="zh-CN" altLang="en-US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D358F8-6A57-4489-A311-F0B4170FD125}"/>
              </a:ext>
            </a:extLst>
          </p:cNvPr>
          <p:cNvSpPr/>
          <p:nvPr/>
        </p:nvSpPr>
        <p:spPr>
          <a:xfrm>
            <a:off x="2786333" y="3372413"/>
            <a:ext cx="1368000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Subnetting</a:t>
            </a:r>
            <a:endParaRPr lang="zh-CN" altLang="en-US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768E127-199F-46C3-8DB5-30478DCBC216}"/>
              </a:ext>
            </a:extLst>
          </p:cNvPr>
          <p:cNvSpPr/>
          <p:nvPr/>
        </p:nvSpPr>
        <p:spPr>
          <a:xfrm>
            <a:off x="2786333" y="5106101"/>
            <a:ext cx="1368000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CIDR</a:t>
            </a:r>
            <a:endParaRPr lang="zh-CN" altLang="en-US" sz="1400" kern="100" dirty="0">
              <a:solidFill>
                <a:schemeClr val="tx1"/>
              </a:solidFill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682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6D521C-128C-48D5-88DA-C9CD2A4B833D}"/>
              </a:ext>
            </a:extLst>
          </p:cNvPr>
          <p:cNvSpPr/>
          <p:nvPr/>
        </p:nvSpPr>
        <p:spPr>
          <a:xfrm>
            <a:off x="3285845" y="2494942"/>
            <a:ext cx="57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41EA1E-68AF-483C-BD19-E76BA4B662FC}"/>
              </a:ext>
            </a:extLst>
          </p:cNvPr>
          <p:cNvSpPr txBox="1"/>
          <p:nvPr/>
        </p:nvSpPr>
        <p:spPr>
          <a:xfrm>
            <a:off x="2663559" y="2474887"/>
            <a:ext cx="622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</a:t>
            </a:r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1998DB5D-73BA-48C3-BB10-0C102B383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180613"/>
              </p:ext>
            </p:extLst>
          </p:nvPr>
        </p:nvGraphicFramePr>
        <p:xfrm>
          <a:off x="3285845" y="2081013"/>
          <a:ext cx="5760000" cy="3708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2000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b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32bit</a:t>
                      </a:r>
                      <a:endParaRPr lang="zh-CN" altLang="en-US" b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A436E614-430C-412A-9C17-D133BC9DB6DF}"/>
              </a:ext>
            </a:extLst>
          </p:cNvPr>
          <p:cNvSpPr/>
          <p:nvPr/>
        </p:nvSpPr>
        <p:spPr>
          <a:xfrm>
            <a:off x="3285845" y="2494942"/>
            <a:ext cx="144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E22433-2BFE-4D7A-9DF8-15F6C3CBC54F}"/>
              </a:ext>
            </a:extLst>
          </p:cNvPr>
          <p:cNvSpPr txBox="1"/>
          <p:nvPr/>
        </p:nvSpPr>
        <p:spPr>
          <a:xfrm>
            <a:off x="3285845" y="2521054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1400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net </a:t>
            </a:r>
            <a:r>
              <a:rPr lang="en-US" altLang="zh-CN" sz="1400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ID</a:t>
            </a:r>
            <a:endParaRPr lang="zh-CN" altLang="en-US" sz="1400" kern="100" dirty="0">
              <a:solidFill>
                <a:schemeClr val="bg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6F4D8E8-5B9E-4451-B122-3A1FA500E07C}"/>
              </a:ext>
            </a:extLst>
          </p:cNvPr>
          <p:cNvCxnSpPr>
            <a:cxnSpLocks/>
          </p:cNvCxnSpPr>
          <p:nvPr/>
        </p:nvCxnSpPr>
        <p:spPr>
          <a:xfrm>
            <a:off x="3559706" y="2530942"/>
            <a:ext cx="0" cy="28800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7">
            <a:extLst>
              <a:ext uri="{FF2B5EF4-FFF2-40B4-BE49-F238E27FC236}">
                <a16:creationId xmlns:a16="http://schemas.microsoft.com/office/drawing/2014/main" id="{3419DA35-5B41-4E7D-BC94-35A152CD4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802540"/>
              </p:ext>
            </p:extLst>
          </p:nvPr>
        </p:nvGraphicFramePr>
        <p:xfrm>
          <a:off x="3315838" y="2994052"/>
          <a:ext cx="1410006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51189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622169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436648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8bit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→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416398F-0B4C-4DB3-B17B-A28FFE3CDD2D}"/>
              </a:ext>
            </a:extLst>
          </p:cNvPr>
          <p:cNvSpPr/>
          <p:nvPr/>
        </p:nvSpPr>
        <p:spPr>
          <a:xfrm>
            <a:off x="3285845" y="3512082"/>
            <a:ext cx="57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0E8F47-E0FF-4276-B8AB-C8CD4892D8DA}"/>
              </a:ext>
            </a:extLst>
          </p:cNvPr>
          <p:cNvSpPr txBox="1"/>
          <p:nvPr/>
        </p:nvSpPr>
        <p:spPr>
          <a:xfrm>
            <a:off x="2663559" y="3492027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F16D44-6DD5-441C-9B55-3354E07B2768}"/>
              </a:ext>
            </a:extLst>
          </p:cNvPr>
          <p:cNvSpPr/>
          <p:nvPr/>
        </p:nvSpPr>
        <p:spPr>
          <a:xfrm>
            <a:off x="3285845" y="3512082"/>
            <a:ext cx="288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6B7D1C-F11D-4900-8FB2-A2379CC478ED}"/>
              </a:ext>
            </a:extLst>
          </p:cNvPr>
          <p:cNvSpPr txBox="1"/>
          <p:nvPr/>
        </p:nvSpPr>
        <p:spPr>
          <a:xfrm>
            <a:off x="3285845" y="353819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1400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 net ID</a:t>
            </a:r>
            <a:endParaRPr lang="zh-CN" altLang="en-US" sz="1400" kern="100" dirty="0">
              <a:solidFill>
                <a:schemeClr val="bg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D36076-E975-4787-92C0-BBEFB188DAA1}"/>
              </a:ext>
            </a:extLst>
          </p:cNvPr>
          <p:cNvCxnSpPr>
            <a:cxnSpLocks/>
          </p:cNvCxnSpPr>
          <p:nvPr/>
        </p:nvCxnSpPr>
        <p:spPr>
          <a:xfrm>
            <a:off x="3680470" y="3548082"/>
            <a:ext cx="0" cy="28800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7">
            <a:extLst>
              <a:ext uri="{FF2B5EF4-FFF2-40B4-BE49-F238E27FC236}">
                <a16:creationId xmlns:a16="http://schemas.microsoft.com/office/drawing/2014/main" id="{29A6D8E0-7263-48FF-BD6B-B12ECF0B9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721617"/>
              </p:ext>
            </p:extLst>
          </p:nvPr>
        </p:nvGraphicFramePr>
        <p:xfrm>
          <a:off x="3315837" y="4011192"/>
          <a:ext cx="2850006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950002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950002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950002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16bit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→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A8217C5-B7E2-4745-8592-63E52DFFB309}"/>
              </a:ext>
            </a:extLst>
          </p:cNvPr>
          <p:cNvSpPr txBox="1"/>
          <p:nvPr/>
        </p:nvSpPr>
        <p:spPr>
          <a:xfrm>
            <a:off x="7029704" y="3538194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host ID</a:t>
            </a:r>
            <a:endParaRPr lang="zh-CN" altLang="en-US" sz="1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107512-EE69-4154-BE2B-24DD748255A1}"/>
              </a:ext>
            </a:extLst>
          </p:cNvPr>
          <p:cNvSpPr txBox="1"/>
          <p:nvPr/>
        </p:nvSpPr>
        <p:spPr>
          <a:xfrm>
            <a:off x="6408607" y="2521054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host ID</a:t>
            </a:r>
            <a:endParaRPr lang="zh-CN" altLang="en-US" sz="1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85FFFB-63E0-4972-8861-8619C22AEBDE}"/>
              </a:ext>
            </a:extLst>
          </p:cNvPr>
          <p:cNvSpPr/>
          <p:nvPr/>
        </p:nvSpPr>
        <p:spPr>
          <a:xfrm>
            <a:off x="3285843" y="4556885"/>
            <a:ext cx="57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8704BA-EBD8-4746-9C72-5DC22BC3AF56}"/>
              </a:ext>
            </a:extLst>
          </p:cNvPr>
          <p:cNvSpPr txBox="1"/>
          <p:nvPr/>
        </p:nvSpPr>
        <p:spPr>
          <a:xfrm>
            <a:off x="2663557" y="4536830"/>
            <a:ext cx="622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7ACF91-DEE4-4BC3-8D13-76CF9578AC9D}"/>
              </a:ext>
            </a:extLst>
          </p:cNvPr>
          <p:cNvSpPr/>
          <p:nvPr/>
        </p:nvSpPr>
        <p:spPr>
          <a:xfrm>
            <a:off x="3285843" y="4556885"/>
            <a:ext cx="432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269FBAF-48B1-475E-B023-9DE28EA91459}"/>
              </a:ext>
            </a:extLst>
          </p:cNvPr>
          <p:cNvSpPr txBox="1"/>
          <p:nvPr/>
        </p:nvSpPr>
        <p:spPr>
          <a:xfrm>
            <a:off x="3285843" y="4582997"/>
            <a:ext cx="1154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110</a:t>
            </a:r>
            <a:r>
              <a:rPr lang="en-US" altLang="zh-CN" sz="1400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net ID</a:t>
            </a:r>
            <a:endParaRPr lang="zh-CN" altLang="en-US" sz="1400" kern="100" dirty="0">
              <a:solidFill>
                <a:schemeClr val="bg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7D493FA-7F9A-41F5-BF71-A239B18B7F8E}"/>
              </a:ext>
            </a:extLst>
          </p:cNvPr>
          <p:cNvCxnSpPr>
            <a:cxnSpLocks/>
          </p:cNvCxnSpPr>
          <p:nvPr/>
        </p:nvCxnSpPr>
        <p:spPr>
          <a:xfrm>
            <a:off x="3783980" y="4592885"/>
            <a:ext cx="0" cy="28800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7">
            <a:extLst>
              <a:ext uri="{FF2B5EF4-FFF2-40B4-BE49-F238E27FC236}">
                <a16:creationId xmlns:a16="http://schemas.microsoft.com/office/drawing/2014/main" id="{FB941318-0AAC-4AC8-BC70-29FB8D077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876099"/>
              </p:ext>
            </p:extLst>
          </p:nvPr>
        </p:nvGraphicFramePr>
        <p:xfrm>
          <a:off x="3315835" y="5055995"/>
          <a:ext cx="4290009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30003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430003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1430003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24bit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→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FFB10D42-4688-45C8-942C-E5FAC4E030A1}"/>
              </a:ext>
            </a:extLst>
          </p:cNvPr>
          <p:cNvSpPr txBox="1"/>
          <p:nvPr/>
        </p:nvSpPr>
        <p:spPr>
          <a:xfrm>
            <a:off x="7935478" y="4582997"/>
            <a:ext cx="758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host ID</a:t>
            </a:r>
            <a:endParaRPr lang="zh-CN" altLang="en-US" sz="1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495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类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graphicFrame>
        <p:nvGraphicFramePr>
          <p:cNvPr id="30" name="表格 7">
            <a:extLst>
              <a:ext uri="{FF2B5EF4-FFF2-40B4-BE49-F238E27FC236}">
                <a16:creationId xmlns:a16="http://schemas.microsoft.com/office/drawing/2014/main" id="{C67E69C1-4119-4375-B01B-AD1F32715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231266"/>
              </p:ext>
            </p:extLst>
          </p:nvPr>
        </p:nvGraphicFramePr>
        <p:xfrm>
          <a:off x="1182953" y="1629000"/>
          <a:ext cx="9826095" cy="360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65219">
                  <a:extLst>
                    <a:ext uri="{9D8B030D-6E8A-4147-A177-3AD203B41FA5}">
                      <a16:colId xmlns:a16="http://schemas.microsoft.com/office/drawing/2014/main" val="3520373161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Net 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zh-CN" altLang="en-US" sz="14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14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ID</a:t>
                      </a:r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0XX XXXX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012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保留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1.0.0.0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126.0.0.0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0296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126.0.0.1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9750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126.255.255.254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3473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127,0.0.0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127.0.0.1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0695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127.255.255.254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367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449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5E479F9D-8220-4860-BD3D-F7C40DB37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066907"/>
              </p:ext>
            </p:extLst>
          </p:nvPr>
        </p:nvGraphicFramePr>
        <p:xfrm>
          <a:off x="1182953" y="2349000"/>
          <a:ext cx="9826095" cy="216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65219">
                  <a:extLst>
                    <a:ext uri="{9D8B030D-6E8A-4147-A177-3AD203B41FA5}">
                      <a16:colId xmlns:a16="http://schemas.microsoft.com/office/drawing/2014/main" val="3520373161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Net 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10XX XXXX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XXXX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XXXX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012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128.0.0.0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128.0.0.1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5627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191.255.0.0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192.255.255.254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771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类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5E479F9D-8220-4860-BD3D-F7C40DB37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912637"/>
              </p:ext>
            </p:extLst>
          </p:nvPr>
        </p:nvGraphicFramePr>
        <p:xfrm>
          <a:off x="1182953" y="2349000"/>
          <a:ext cx="9826095" cy="216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65219">
                  <a:extLst>
                    <a:ext uri="{9D8B030D-6E8A-4147-A177-3AD203B41FA5}">
                      <a16:colId xmlns:a16="http://schemas.microsoft.com/office/drawing/2014/main" val="3520373161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965219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Net 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110X XXXX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XXXX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XXXX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XXXX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XXXX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 </a:t>
                      </a:r>
                      <a:r>
                        <a:rPr lang="en-US" altLang="zh-CN" sz="1600" b="0" baseline="0" dirty="0" err="1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YYYY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012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223.255.255.254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08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47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0F1CEDC-2F88-40F6-BE1F-9EC8220681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E8F3F-CB9F-436F-9A81-70E2D4B40A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C4DB33-1930-459B-B79C-A1A3C4FFC4BC}"/>
              </a:ext>
            </a:extLst>
          </p:cNvPr>
          <p:cNvSpPr txBox="1"/>
          <p:nvPr/>
        </p:nvSpPr>
        <p:spPr>
          <a:xfrm>
            <a:off x="1690788" y="1716665"/>
            <a:ext cx="881042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段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8bit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共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32bit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表示；实际应用中使用点分十进制记法表示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由网络号和主机号组成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地址不仅仅表示一个网络上某个节点，还指明了这个节点属于哪个网络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网络号全为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的表示本网络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网络号为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127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的为本地环回测（</a:t>
            </a:r>
            <a:r>
              <a:rPr lang="en-US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loopback test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）试使用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通常使用主机号全为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的地址表示该网络地址</a:t>
            </a:r>
            <a:endParaRPr lang="en-US" altLang="zh-CN" sz="2000" kern="1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网络层设备如路由器至少有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牢记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的各次幂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1A434B59-E142-4D4F-B827-1A8B73B0C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80657"/>
              </p:ext>
            </p:extLst>
          </p:nvPr>
        </p:nvGraphicFramePr>
        <p:xfrm>
          <a:off x="1690787" y="4416516"/>
          <a:ext cx="8810424" cy="7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01303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652072928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940784930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3617023429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29276989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28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7">
            <a:extLst>
              <a:ext uri="{FF2B5EF4-FFF2-40B4-BE49-F238E27FC236}">
                <a16:creationId xmlns:a16="http://schemas.microsoft.com/office/drawing/2014/main" id="{09D997FC-CF8D-45D8-AF06-69151EC07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19017"/>
              </p:ext>
            </p:extLst>
          </p:nvPr>
        </p:nvGraphicFramePr>
        <p:xfrm>
          <a:off x="1146704" y="4391296"/>
          <a:ext cx="9898592" cy="144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2366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194954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631373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3283527">
                  <a:extLst>
                    <a:ext uri="{9D8B030D-6E8A-4147-A177-3AD203B41FA5}">
                      <a16:colId xmlns:a16="http://schemas.microsoft.com/office/drawing/2014/main" val="171315894"/>
                    </a:ext>
                  </a:extLst>
                </a:gridCol>
                <a:gridCol w="1194714">
                  <a:extLst>
                    <a:ext uri="{9D8B030D-6E8A-4147-A177-3AD203B41FA5}">
                      <a16:colId xmlns:a16="http://schemas.microsoft.com/office/drawing/2014/main" val="29744178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网络个数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第一个网络地址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最后一个网络地址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实际可用网络地址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主机个数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507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-2=126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1.0.0.1-126.255.255.254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24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16-2</a:t>
                      </a:r>
                      <a:endParaRPr lang="zh-CN" altLang="en-US" sz="1600" b="0" i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191.255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128.0.0.1-191.255.255.254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7352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21</a:t>
                      </a:r>
                      <a:endParaRPr lang="zh-CN" altLang="en-US" sz="1600" b="0" i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192.0.0.1-223.255.255.254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-2=254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68BAB60-8833-42A7-A3A0-C26D98977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15498"/>
              </p:ext>
            </p:extLst>
          </p:nvPr>
        </p:nvGraphicFramePr>
        <p:xfrm>
          <a:off x="1146705" y="2440576"/>
          <a:ext cx="9898592" cy="1695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2294">
                  <a:extLst>
                    <a:ext uri="{9D8B030D-6E8A-4147-A177-3AD203B41FA5}">
                      <a16:colId xmlns:a16="http://schemas.microsoft.com/office/drawing/2014/main" val="371445090"/>
                    </a:ext>
                  </a:extLst>
                </a:gridCol>
                <a:gridCol w="3147752">
                  <a:extLst>
                    <a:ext uri="{9D8B030D-6E8A-4147-A177-3AD203B41FA5}">
                      <a16:colId xmlns:a16="http://schemas.microsoft.com/office/drawing/2014/main" val="20607868"/>
                    </a:ext>
                  </a:extLst>
                </a:gridCol>
                <a:gridCol w="2611349">
                  <a:extLst>
                    <a:ext uri="{9D8B030D-6E8A-4147-A177-3AD203B41FA5}">
                      <a16:colId xmlns:a16="http://schemas.microsoft.com/office/drawing/2014/main" val="3380544799"/>
                    </a:ext>
                  </a:extLst>
                </a:gridCol>
                <a:gridCol w="3387197">
                  <a:extLst>
                    <a:ext uri="{9D8B030D-6E8A-4147-A177-3AD203B41FA5}">
                      <a16:colId xmlns:a16="http://schemas.microsoft.com/office/drawing/2014/main" val="350527839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分类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NetID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HostID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Demo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88810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</a:t>
                      </a:r>
                      <a:r>
                        <a:rPr lang="zh-CN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0xxxxxxx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yyyyyyyy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zzzzzzzz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1.x.y.z-127.x.y.z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45055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B</a:t>
                      </a:r>
                      <a:r>
                        <a:rPr lang="zh-CN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10xxxxxx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yyyyyyyy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zzzzzzzz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128.0.y.z-191.255.y.z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75521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110xxxxx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zzzzzzzz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192.0.0.z-223.255.255.z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2519733"/>
                  </a:ext>
                </a:extLst>
              </a:tr>
            </a:tbl>
          </a:graphicData>
        </a:graphic>
      </p:graphicFrame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7E969CD4-6158-4792-AF61-B1FC5C3C6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00856"/>
              </p:ext>
            </p:extLst>
          </p:nvPr>
        </p:nvGraphicFramePr>
        <p:xfrm>
          <a:off x="1146704" y="1294454"/>
          <a:ext cx="9898592" cy="7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237324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237324">
                  <a:extLst>
                    <a:ext uri="{9D8B030D-6E8A-4147-A177-3AD203B41FA5}">
                      <a16:colId xmlns:a16="http://schemas.microsoft.com/office/drawing/2014/main" val="652072928"/>
                    </a:ext>
                  </a:extLst>
                </a:gridCol>
                <a:gridCol w="1237324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237324">
                  <a:extLst>
                    <a:ext uri="{9D8B030D-6E8A-4147-A177-3AD203B41FA5}">
                      <a16:colId xmlns:a16="http://schemas.microsoft.com/office/drawing/2014/main" val="940784930"/>
                    </a:ext>
                  </a:extLst>
                </a:gridCol>
                <a:gridCol w="1237324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237324">
                  <a:extLst>
                    <a:ext uri="{9D8B030D-6E8A-4147-A177-3AD203B41FA5}">
                      <a16:colId xmlns:a16="http://schemas.microsoft.com/office/drawing/2014/main" val="3617023429"/>
                    </a:ext>
                  </a:extLst>
                </a:gridCol>
                <a:gridCol w="1237324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1237324">
                  <a:extLst>
                    <a:ext uri="{9D8B030D-6E8A-4147-A177-3AD203B41FA5}">
                      <a16:colId xmlns:a16="http://schemas.microsoft.com/office/drawing/2014/main" val="29276989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121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6371BD-0E01-4F22-8A31-D19535382F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191.25.10.1</a:t>
            </a:r>
            <a:r>
              <a:rPr lang="zh-CN" altLang="en-US" dirty="0"/>
              <a:t>是一个（ ）类地址。</a:t>
            </a:r>
          </a:p>
        </p:txBody>
      </p:sp>
      <p:graphicFrame>
        <p:nvGraphicFramePr>
          <p:cNvPr id="3" name="表格 7">
            <a:extLst>
              <a:ext uri="{FF2B5EF4-FFF2-40B4-BE49-F238E27FC236}">
                <a16:creationId xmlns:a16="http://schemas.microsoft.com/office/drawing/2014/main" id="{18CD56EA-F052-4396-962B-17CC498C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258851"/>
              </p:ext>
            </p:extLst>
          </p:nvPr>
        </p:nvGraphicFramePr>
        <p:xfrm>
          <a:off x="347865" y="2349000"/>
          <a:ext cx="11205040" cy="25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241008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1759576308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2555469599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162307253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是否可指派给主机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是否可指派给主机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0.1.2.3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172.18.255.255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012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1.2.3.4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191.255.255.252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126.255.255.255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127.0.0.1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192.2.3.8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180.0.255.255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218.75.230.30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0856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166.16.18.255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223.255.255.252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870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723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27771AF-6CDF-4938-912D-AE1DF973962C}"/>
              </a:ext>
            </a:extLst>
          </p:cNvPr>
          <p:cNvSpPr/>
          <p:nvPr/>
        </p:nvSpPr>
        <p:spPr>
          <a:xfrm>
            <a:off x="0" y="1941922"/>
            <a:ext cx="12192000" cy="34502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167824C-46E9-4B46-BB10-9D437F9F69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子网划分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5EB882-F491-4B71-A7C5-8558232FF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924E0A-E40E-492E-A7E0-07FE21A690EB}"/>
              </a:ext>
            </a:extLst>
          </p:cNvPr>
          <p:cNvSpPr/>
          <p:nvPr/>
        </p:nvSpPr>
        <p:spPr>
          <a:xfrm>
            <a:off x="3608957" y="1941923"/>
            <a:ext cx="6481864" cy="345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339F5B41-A7DD-473B-9013-17FDD2E9D68D}"/>
              </a:ext>
            </a:extLst>
          </p:cNvPr>
          <p:cNvSpPr/>
          <p:nvPr/>
        </p:nvSpPr>
        <p:spPr>
          <a:xfrm>
            <a:off x="0" y="1941922"/>
            <a:ext cx="12192000" cy="3450210"/>
          </a:xfrm>
          <a:custGeom>
            <a:avLst/>
            <a:gdLst/>
            <a:ahLst/>
            <a:cxnLst/>
            <a:rect l="l" t="t" r="r" b="b"/>
            <a:pathLst>
              <a:path w="12192000" h="3450210">
                <a:moveTo>
                  <a:pt x="3059667" y="2111314"/>
                </a:moveTo>
                <a:lnTo>
                  <a:pt x="3059667" y="2254822"/>
                </a:lnTo>
                <a:lnTo>
                  <a:pt x="3198226" y="2254822"/>
                </a:lnTo>
                <a:lnTo>
                  <a:pt x="3198226" y="2111314"/>
                </a:lnTo>
                <a:close/>
                <a:moveTo>
                  <a:pt x="3143792" y="1403673"/>
                </a:moveTo>
                <a:cubicBezTo>
                  <a:pt x="3005233" y="1403673"/>
                  <a:pt x="2902963" y="1436664"/>
                  <a:pt x="2836983" y="1502644"/>
                </a:cubicBezTo>
                <a:cubicBezTo>
                  <a:pt x="2813890" y="1525737"/>
                  <a:pt x="2795745" y="1550480"/>
                  <a:pt x="2782549" y="1576872"/>
                </a:cubicBezTo>
                <a:cubicBezTo>
                  <a:pt x="2766054" y="1609863"/>
                  <a:pt x="2757806" y="1642853"/>
                  <a:pt x="2757806" y="1675843"/>
                </a:cubicBezTo>
                <a:lnTo>
                  <a:pt x="2757806" y="1700586"/>
                </a:lnTo>
                <a:lnTo>
                  <a:pt x="2886468" y="1700586"/>
                </a:lnTo>
                <a:lnTo>
                  <a:pt x="2886468" y="1675843"/>
                </a:lnTo>
                <a:cubicBezTo>
                  <a:pt x="2886468" y="1639554"/>
                  <a:pt x="2904613" y="1603264"/>
                  <a:pt x="2940902" y="1566975"/>
                </a:cubicBezTo>
                <a:cubicBezTo>
                  <a:pt x="2980490" y="1527387"/>
                  <a:pt x="3048120" y="1507593"/>
                  <a:pt x="3143792" y="1507593"/>
                </a:cubicBezTo>
                <a:cubicBezTo>
                  <a:pt x="3232865" y="1507593"/>
                  <a:pt x="3292248" y="1522438"/>
                  <a:pt x="3321939" y="1552130"/>
                </a:cubicBezTo>
                <a:cubicBezTo>
                  <a:pt x="3341733" y="1571924"/>
                  <a:pt x="3351630" y="1595017"/>
                  <a:pt x="3351630" y="1621409"/>
                </a:cubicBezTo>
                <a:cubicBezTo>
                  <a:pt x="3351630" y="1657698"/>
                  <a:pt x="3333486" y="1685740"/>
                  <a:pt x="3297196" y="1705534"/>
                </a:cubicBezTo>
                <a:cubicBezTo>
                  <a:pt x="3254309" y="1725328"/>
                  <a:pt x="3196576" y="1756669"/>
                  <a:pt x="3123998" y="1799556"/>
                </a:cubicBezTo>
                <a:cubicBezTo>
                  <a:pt x="3091007" y="1819350"/>
                  <a:pt x="3074512" y="1852341"/>
                  <a:pt x="3074512" y="1898527"/>
                </a:cubicBezTo>
                <a:lnTo>
                  <a:pt x="3074512" y="1972755"/>
                </a:lnTo>
                <a:lnTo>
                  <a:pt x="3183380" y="1972755"/>
                </a:lnTo>
                <a:lnTo>
                  <a:pt x="3183380" y="1933167"/>
                </a:lnTo>
                <a:cubicBezTo>
                  <a:pt x="3183380" y="1910074"/>
                  <a:pt x="3191628" y="1891929"/>
                  <a:pt x="3208123" y="1878733"/>
                </a:cubicBezTo>
                <a:cubicBezTo>
                  <a:pt x="3237814" y="1855640"/>
                  <a:pt x="3285650" y="1829248"/>
                  <a:pt x="3351630" y="1799556"/>
                </a:cubicBezTo>
                <a:cubicBezTo>
                  <a:pt x="3394518" y="1779762"/>
                  <a:pt x="3427508" y="1753370"/>
                  <a:pt x="3450601" y="1720380"/>
                </a:cubicBezTo>
                <a:cubicBezTo>
                  <a:pt x="3470395" y="1690689"/>
                  <a:pt x="3480292" y="1656049"/>
                  <a:pt x="3480292" y="1616461"/>
                </a:cubicBezTo>
                <a:cubicBezTo>
                  <a:pt x="3480292" y="1570274"/>
                  <a:pt x="3458849" y="1525737"/>
                  <a:pt x="3415961" y="1482850"/>
                </a:cubicBezTo>
                <a:cubicBezTo>
                  <a:pt x="3363177" y="1430066"/>
                  <a:pt x="3272454" y="1403673"/>
                  <a:pt x="3143792" y="140367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50210"/>
                </a:lnTo>
                <a:lnTo>
                  <a:pt x="0" y="34502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45BBB8-E607-48C1-97A1-839556D6A921}"/>
              </a:ext>
            </a:extLst>
          </p:cNvPr>
          <p:cNvSpPr txBox="1"/>
          <p:nvPr/>
        </p:nvSpPr>
        <p:spPr>
          <a:xfrm>
            <a:off x="6180843" y="291799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地址利用率低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3066DC-6B2B-446F-B746-12C8BB128ECD}"/>
              </a:ext>
            </a:extLst>
          </p:cNvPr>
          <p:cNvSpPr txBox="1"/>
          <p:nvPr/>
        </p:nvSpPr>
        <p:spPr>
          <a:xfrm>
            <a:off x="6180843" y="390111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不够灵活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C6FECB-149F-49A0-9FCD-1CB240C8C3A3}"/>
              </a:ext>
            </a:extLst>
          </p:cNvPr>
          <p:cNvSpPr txBox="1"/>
          <p:nvPr/>
        </p:nvSpPr>
        <p:spPr>
          <a:xfrm>
            <a:off x="6180843" y="3409553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路由表维护难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50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-0.25 -2.22222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D7B50E-0AC1-4107-AD7B-239EEBCAB911}"/>
              </a:ext>
            </a:extLst>
          </p:cNvPr>
          <p:cNvSpPr txBox="1"/>
          <p:nvPr/>
        </p:nvSpPr>
        <p:spPr>
          <a:xfrm>
            <a:off x="2401857" y="1380227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000" kern="100" dirty="0"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2000">
                      <a:schemeClr val="accent6">
                        <a:lumMod val="75000"/>
                      </a:schemeClr>
                    </a:gs>
                    <a:gs pos="8300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禹卫书法行书简体&#10;" panose="02000603000000000000" pitchFamily="2" charset="-122"/>
                <a:ea typeface="禹卫书法行书简体&#10;" panose="02000603000000000000" pitchFamily="2" charset="-122"/>
                <a:cs typeface="Times New Roman" panose="02020603050405020304" pitchFamily="18" charset="0"/>
              </a:rPr>
              <a:t>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084540-87B5-40E4-852C-1C4B2BE459F9}"/>
              </a:ext>
            </a:extLst>
          </p:cNvPr>
          <p:cNvSpPr txBox="1"/>
          <p:nvPr/>
        </p:nvSpPr>
        <p:spPr>
          <a:xfrm>
            <a:off x="2755540" y="213124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000" kern="100" dirty="0"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2000">
                      <a:schemeClr val="accent6">
                        <a:lumMod val="75000"/>
                      </a:schemeClr>
                    </a:gs>
                    <a:gs pos="8300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禹卫书法行书简体&#10;" panose="02000603000000000000" pitchFamily="2" charset="-122"/>
                <a:ea typeface="禹卫书法行书简体&#10;" panose="02000603000000000000" pitchFamily="2" charset="-122"/>
                <a:cs typeface="Times New Roman" panose="02020603050405020304" pitchFamily="18" charset="0"/>
              </a:rPr>
              <a:t>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1C90DB-C4BD-4864-8D19-1F70869A6D21}"/>
              </a:ext>
            </a:extLst>
          </p:cNvPr>
          <p:cNvSpPr txBox="1"/>
          <p:nvPr/>
        </p:nvSpPr>
        <p:spPr>
          <a:xfrm>
            <a:off x="3232593" y="1487038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000" kern="100" dirty="0"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2000">
                      <a:schemeClr val="accent6">
                        <a:lumMod val="75000"/>
                      </a:schemeClr>
                    </a:gs>
                    <a:gs pos="8300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禹卫书法行书简体&#10;" panose="02000603000000000000" pitchFamily="2" charset="-122"/>
                <a:ea typeface="禹卫书法行书简体&#10;" panose="02000603000000000000" pitchFamily="2" charset="-122"/>
                <a:cs typeface="Times New Roman" panose="02020603050405020304" pitchFamily="18" charset="0"/>
              </a:rPr>
              <a:t>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96393E-519C-4A80-9313-23E73FADF2F5}"/>
              </a:ext>
            </a:extLst>
          </p:cNvPr>
          <p:cNvSpPr txBox="1"/>
          <p:nvPr/>
        </p:nvSpPr>
        <p:spPr>
          <a:xfrm>
            <a:off x="3471120" y="2247723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000" kern="100" dirty="0"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2000">
                      <a:schemeClr val="accent6">
                        <a:lumMod val="75000"/>
                      </a:schemeClr>
                    </a:gs>
                    <a:gs pos="8300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禹卫书法行书简体&#10;" panose="02000603000000000000" pitchFamily="2" charset="-122"/>
                <a:ea typeface="禹卫书法行书简体&#10;" panose="02000603000000000000" pitchFamily="2" charset="-122"/>
                <a:cs typeface="Times New Roman" panose="02020603050405020304" pitchFamily="18" charset="0"/>
              </a:rPr>
              <a:t>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C20AAE7-EC53-45E2-B3F2-47A801000CE6}"/>
              </a:ext>
            </a:extLst>
          </p:cNvPr>
          <p:cNvCxnSpPr/>
          <p:nvPr/>
        </p:nvCxnSpPr>
        <p:spPr>
          <a:xfrm>
            <a:off x="1544128" y="1293962"/>
            <a:ext cx="53138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689D466-69B6-4C7C-90ED-757137FA3C09}"/>
              </a:ext>
            </a:extLst>
          </p:cNvPr>
          <p:cNvCxnSpPr/>
          <p:nvPr/>
        </p:nvCxnSpPr>
        <p:spPr>
          <a:xfrm>
            <a:off x="2165230" y="888521"/>
            <a:ext cx="0" cy="45978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09AF9C7-683F-43E1-B94D-742B54AD07D0}"/>
              </a:ext>
            </a:extLst>
          </p:cNvPr>
          <p:cNvCxnSpPr/>
          <p:nvPr/>
        </p:nvCxnSpPr>
        <p:spPr>
          <a:xfrm>
            <a:off x="2001328" y="992038"/>
            <a:ext cx="0" cy="2769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F1C16D5-BC2B-4CCF-9559-B90560E9D1BE}"/>
              </a:ext>
            </a:extLst>
          </p:cNvPr>
          <p:cNvSpPr/>
          <p:nvPr/>
        </p:nvSpPr>
        <p:spPr>
          <a:xfrm>
            <a:off x="2320506" y="992038"/>
            <a:ext cx="360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4AC019-6ED3-4708-9720-87BB89459825}"/>
              </a:ext>
            </a:extLst>
          </p:cNvPr>
          <p:cNvSpPr/>
          <p:nvPr/>
        </p:nvSpPr>
        <p:spPr>
          <a:xfrm>
            <a:off x="2733727" y="992038"/>
            <a:ext cx="360000" cy="18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A06E2A-66F7-4DCB-A946-96293A5B09D3}"/>
              </a:ext>
            </a:extLst>
          </p:cNvPr>
          <p:cNvSpPr/>
          <p:nvPr/>
        </p:nvSpPr>
        <p:spPr>
          <a:xfrm>
            <a:off x="3146948" y="992038"/>
            <a:ext cx="360000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A9F662-D3A1-4A26-8740-E16A09273804}"/>
              </a:ext>
            </a:extLst>
          </p:cNvPr>
          <p:cNvSpPr/>
          <p:nvPr/>
        </p:nvSpPr>
        <p:spPr>
          <a:xfrm>
            <a:off x="3560169" y="992038"/>
            <a:ext cx="360000" cy="18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C0A250-0F6A-431A-807B-5A7376679DEA}"/>
              </a:ext>
            </a:extLst>
          </p:cNvPr>
          <p:cNvSpPr/>
          <p:nvPr/>
        </p:nvSpPr>
        <p:spPr>
          <a:xfrm>
            <a:off x="3973389" y="992038"/>
            <a:ext cx="3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5CF714F-A386-4835-91BC-26745AD142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41" y="598098"/>
            <a:ext cx="609600" cy="6096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0A38378-A7F1-49F4-AD63-5722AEC46447}"/>
              </a:ext>
            </a:extLst>
          </p:cNvPr>
          <p:cNvSpPr txBox="1"/>
          <p:nvPr/>
        </p:nvSpPr>
        <p:spPr>
          <a:xfrm>
            <a:off x="9445657" y="524103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2414</a:t>
            </a:r>
            <a:endParaRPr lang="zh-CN" altLang="en-US" sz="20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4FA274-BC57-4924-94B7-7C4515B2D522}"/>
              </a:ext>
            </a:extLst>
          </p:cNvPr>
          <p:cNvSpPr txBox="1"/>
          <p:nvPr/>
        </p:nvSpPr>
        <p:spPr>
          <a:xfrm>
            <a:off x="9445656" y="5712775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19:20-20:30</a:t>
            </a:r>
            <a:endParaRPr lang="zh-CN" altLang="en-US" sz="20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6CDD4C9-7D40-4114-B470-9C7F652C2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581" y="5714830"/>
            <a:ext cx="396000" cy="396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55697E3-31D1-40AE-A47C-7BDDD4D85C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581" y="5243094"/>
            <a:ext cx="396000" cy="3960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F6DC7024-9C82-4841-B473-0A8D4A3B9822}"/>
              </a:ext>
            </a:extLst>
          </p:cNvPr>
          <p:cNvSpPr txBox="1"/>
          <p:nvPr/>
        </p:nvSpPr>
        <p:spPr>
          <a:xfrm>
            <a:off x="1867387" y="4063041"/>
            <a:ext cx="400110" cy="84414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altLang="zh-CN" sz="1400" kern="1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RFC 950</a:t>
            </a:r>
            <a:endParaRPr lang="zh-CN" altLang="en-US" sz="1400" kern="1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798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1A73B26-52F5-4E2F-B8FB-5BA73B022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子网划分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7F46FB-9677-4181-84EE-7D14643FA0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9C36A1-0570-4573-8402-45CC3BE9FD45}"/>
              </a:ext>
            </a:extLst>
          </p:cNvPr>
          <p:cNvSpPr txBox="1"/>
          <p:nvPr/>
        </p:nvSpPr>
        <p:spPr>
          <a:xfrm>
            <a:off x="2233404" y="805878"/>
            <a:ext cx="772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向主机号借若干位充当子网号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级变为</a:t>
            </a:r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级</a:t>
            </a:r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对外仍然是一个网络</a:t>
            </a:r>
            <a:endParaRPr lang="zh-CN" altLang="en-US" sz="20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568D505C-BE7F-48F7-BCEC-03979656F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91234"/>
              </p:ext>
            </p:extLst>
          </p:nvPr>
        </p:nvGraphicFramePr>
        <p:xfrm>
          <a:off x="2233403" y="1627798"/>
          <a:ext cx="7725192" cy="324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31298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931298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928256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003042">
                  <a:extLst>
                    <a:ext uri="{9D8B030D-6E8A-4147-A177-3AD203B41FA5}">
                      <a16:colId xmlns:a16="http://schemas.microsoft.com/office/drawing/2014/main" val="2351189593"/>
                    </a:ext>
                  </a:extLst>
                </a:gridCol>
                <a:gridCol w="1931298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Net ID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Host ID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917783"/>
                  </a:ext>
                </a:extLst>
              </a:tr>
              <a:tr h="720000">
                <a:tc gridSpan="5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65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00001011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6121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7352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00001011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  <a:tr h="360000">
                <a:tc gridSpan="5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214729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Net ID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Host ID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941610"/>
                  </a:ext>
                </a:extLst>
              </a:tr>
            </a:tbl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3E54F69-D09A-4B8C-B6DB-F0E7A93AFC69}"/>
              </a:ext>
            </a:extLst>
          </p:cNvPr>
          <p:cNvCxnSpPr>
            <a:cxnSpLocks/>
          </p:cNvCxnSpPr>
          <p:nvPr/>
        </p:nvCxnSpPr>
        <p:spPr>
          <a:xfrm>
            <a:off x="6096000" y="2427359"/>
            <a:ext cx="0" cy="72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AA7E74C-9538-49DC-A8DA-8084643761A1}"/>
              </a:ext>
            </a:extLst>
          </p:cNvPr>
          <p:cNvCxnSpPr>
            <a:cxnSpLocks/>
          </p:cNvCxnSpPr>
          <p:nvPr/>
        </p:nvCxnSpPr>
        <p:spPr>
          <a:xfrm>
            <a:off x="6939273" y="3511442"/>
            <a:ext cx="0" cy="720000"/>
          </a:xfrm>
          <a:prstGeom prst="line">
            <a:avLst/>
          </a:prstGeom>
          <a:ln w="381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1627EBF-AAE8-43D0-90C1-C4F7DF4B5815}"/>
              </a:ext>
            </a:extLst>
          </p:cNvPr>
          <p:cNvCxnSpPr/>
          <p:nvPr/>
        </p:nvCxnSpPr>
        <p:spPr>
          <a:xfrm>
            <a:off x="5803769" y="2530093"/>
            <a:ext cx="29223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17C9139-FE49-4B95-BB64-659C21CEFB83}"/>
              </a:ext>
            </a:extLst>
          </p:cNvPr>
          <p:cNvCxnSpPr/>
          <p:nvPr/>
        </p:nvCxnSpPr>
        <p:spPr>
          <a:xfrm>
            <a:off x="6647042" y="3614175"/>
            <a:ext cx="29223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959D0EA-8810-46DD-9EA6-80453AF6C0D2}"/>
              </a:ext>
            </a:extLst>
          </p:cNvPr>
          <p:cNvCxnSpPr>
            <a:cxnSpLocks/>
          </p:cNvCxnSpPr>
          <p:nvPr/>
        </p:nvCxnSpPr>
        <p:spPr>
          <a:xfrm rot="-5400000">
            <a:off x="6463506" y="5096465"/>
            <a:ext cx="292231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BB0765C-DCA4-49DE-872D-4254C45E1C4F}"/>
              </a:ext>
            </a:extLst>
          </p:cNvPr>
          <p:cNvSpPr txBox="1"/>
          <p:nvPr/>
        </p:nvSpPr>
        <p:spPr>
          <a:xfrm>
            <a:off x="6132567" y="526561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子网号</a:t>
            </a:r>
          </a:p>
        </p:txBody>
      </p:sp>
    </p:spTree>
    <p:extLst>
      <p:ext uri="{BB962C8B-B14F-4D97-AF65-F5344CB8AC3E}">
        <p14:creationId xmlns:p14="http://schemas.microsoft.com/office/powerpoint/2010/main" val="3390322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53BFD0-6F27-4D75-B8B9-055A68B4E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子网掩码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C0926A-A321-4E26-851E-C44138C34F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Mask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37DE8C-B3E3-4EB8-BE66-43894264E8FF}"/>
              </a:ext>
            </a:extLst>
          </p:cNvPr>
          <p:cNvSpPr/>
          <p:nvPr/>
        </p:nvSpPr>
        <p:spPr>
          <a:xfrm>
            <a:off x="494145" y="3933435"/>
            <a:ext cx="11203709" cy="175092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0C74D6-4F8B-422A-9A41-36C853B3A595}"/>
              </a:ext>
            </a:extLst>
          </p:cNvPr>
          <p:cNvSpPr/>
          <p:nvPr/>
        </p:nvSpPr>
        <p:spPr>
          <a:xfrm>
            <a:off x="494145" y="1085644"/>
            <a:ext cx="5400000" cy="2343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B34387-8440-401F-AE2A-0B8A7F5F9055}"/>
              </a:ext>
            </a:extLst>
          </p:cNvPr>
          <p:cNvSpPr/>
          <p:nvPr/>
        </p:nvSpPr>
        <p:spPr>
          <a:xfrm>
            <a:off x="6297854" y="1079959"/>
            <a:ext cx="5400000" cy="234335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8E4EE2C-FC6A-49E4-BB1B-E2AD314DC2F8}"/>
              </a:ext>
            </a:extLst>
          </p:cNvPr>
          <p:cNvSpPr txBox="1"/>
          <p:nvPr/>
        </p:nvSpPr>
        <p:spPr>
          <a:xfrm>
            <a:off x="1225781" y="1749490"/>
            <a:ext cx="39292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位</a:t>
            </a:r>
            <a:endParaRPr lang="en-US" altLang="zh-CN" sz="20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对应网络地址的所有位都为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</a:p>
          <a:p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对应于主机地址的所有位置都为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98AEA86-2108-4CC4-8F4C-9442B054FF82}"/>
              </a:ext>
            </a:extLst>
          </p:cNvPr>
          <p:cNvSpPr txBox="1"/>
          <p:nvPr/>
        </p:nvSpPr>
        <p:spPr>
          <a:xfrm>
            <a:off x="6960568" y="1749490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255.0.0.0</a:t>
            </a:r>
          </a:p>
          <a:p>
            <a:pPr algn="l"/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255.255.0.0</a:t>
            </a:r>
          </a:p>
          <a:p>
            <a:pPr algn="l"/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255.255.255.0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1A8989-9218-4883-9643-1994FC5EE577}"/>
              </a:ext>
            </a:extLst>
          </p:cNvPr>
          <p:cNvSpPr txBox="1"/>
          <p:nvPr/>
        </p:nvSpPr>
        <p:spPr>
          <a:xfrm>
            <a:off x="1229407" y="4454955"/>
            <a:ext cx="79111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子网掩码和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地址按位进行逻辑“与”运算，可得到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地址的网络地址</a:t>
            </a:r>
            <a:endParaRPr lang="en-US" altLang="zh-CN" sz="20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不同子网的主机通信需要使用三层设备如路由器互联</a:t>
            </a:r>
            <a:endParaRPr lang="en-US" altLang="zh-CN" sz="20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A8C15FC-544E-4EAB-A6D8-75C6249BF14D}"/>
              </a:ext>
            </a:extLst>
          </p:cNvPr>
          <p:cNvGrpSpPr/>
          <p:nvPr/>
        </p:nvGrpSpPr>
        <p:grpSpPr>
          <a:xfrm>
            <a:off x="2322746" y="882363"/>
            <a:ext cx="1742798" cy="436011"/>
            <a:chOff x="1838960" y="2079567"/>
            <a:chExt cx="1742798" cy="436011"/>
          </a:xfrm>
        </p:grpSpPr>
        <p:sp>
          <p:nvSpPr>
            <p:cNvPr id="31" name="平行四边形 30">
              <a:extLst>
                <a:ext uri="{FF2B5EF4-FFF2-40B4-BE49-F238E27FC236}">
                  <a16:creationId xmlns:a16="http://schemas.microsoft.com/office/drawing/2014/main" id="{34B4272C-56FF-4F05-A1E0-7125A51B9ABC}"/>
                </a:ext>
              </a:extLst>
            </p:cNvPr>
            <p:cNvSpPr/>
            <p:nvPr/>
          </p:nvSpPr>
          <p:spPr>
            <a:xfrm>
              <a:off x="1838960" y="2079567"/>
              <a:ext cx="1742798" cy="197596"/>
            </a:xfrm>
            <a:prstGeom prst="parallelogram">
              <a:avLst>
                <a:gd name="adj" fmla="val 7209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469EFB8-DB06-40D8-9EBC-C8C9373446EB}"/>
                </a:ext>
              </a:extLst>
            </p:cNvPr>
            <p:cNvSpPr/>
            <p:nvPr/>
          </p:nvSpPr>
          <p:spPr>
            <a:xfrm>
              <a:off x="1993103" y="2079567"/>
              <a:ext cx="1588655" cy="43601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特点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3AB5FDB-425D-4120-9A7D-B3B96F78D54B}"/>
              </a:ext>
            </a:extLst>
          </p:cNvPr>
          <p:cNvGrpSpPr/>
          <p:nvPr/>
        </p:nvGrpSpPr>
        <p:grpSpPr>
          <a:xfrm>
            <a:off x="8126455" y="882363"/>
            <a:ext cx="1742798" cy="436011"/>
            <a:chOff x="1838960" y="2079567"/>
            <a:chExt cx="1742798" cy="436011"/>
          </a:xfrm>
        </p:grpSpPr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04765843-7AED-4004-B348-4CC7E1A347E7}"/>
                </a:ext>
              </a:extLst>
            </p:cNvPr>
            <p:cNvSpPr/>
            <p:nvPr/>
          </p:nvSpPr>
          <p:spPr>
            <a:xfrm>
              <a:off x="1838960" y="2079567"/>
              <a:ext cx="1742798" cy="197596"/>
            </a:xfrm>
            <a:prstGeom prst="parallelogram">
              <a:avLst>
                <a:gd name="adj" fmla="val 7209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6E3CF3B-896C-4AEB-8F4A-F6A9A5285098}"/>
                </a:ext>
              </a:extLst>
            </p:cNvPr>
            <p:cNvSpPr/>
            <p:nvPr/>
          </p:nvSpPr>
          <p:spPr>
            <a:xfrm>
              <a:off x="1993103" y="2079567"/>
              <a:ext cx="1588655" cy="43601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默认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3697FA2-3853-4008-B05D-2A123F43E67E}"/>
              </a:ext>
            </a:extLst>
          </p:cNvPr>
          <p:cNvGrpSpPr/>
          <p:nvPr/>
        </p:nvGrpSpPr>
        <p:grpSpPr>
          <a:xfrm>
            <a:off x="5224600" y="3725164"/>
            <a:ext cx="1742798" cy="436011"/>
            <a:chOff x="1838960" y="2079567"/>
            <a:chExt cx="1742798" cy="436011"/>
          </a:xfrm>
        </p:grpSpPr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533454B3-F86E-4600-A2FD-B1A0BA787913}"/>
                </a:ext>
              </a:extLst>
            </p:cNvPr>
            <p:cNvSpPr/>
            <p:nvPr/>
          </p:nvSpPr>
          <p:spPr>
            <a:xfrm>
              <a:off x="1838960" y="2079567"/>
              <a:ext cx="1742798" cy="197596"/>
            </a:xfrm>
            <a:prstGeom prst="parallelogram">
              <a:avLst>
                <a:gd name="adj" fmla="val 7209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6CDFBF-2410-47DC-9608-760FAF789CAB}"/>
                </a:ext>
              </a:extLst>
            </p:cNvPr>
            <p:cNvSpPr/>
            <p:nvPr/>
          </p:nvSpPr>
          <p:spPr>
            <a:xfrm>
              <a:off x="1993103" y="2079567"/>
              <a:ext cx="1588655" cy="43601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作用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657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F0E28C-70ED-4B85-BDF4-B8321BB49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1858714"/>
          </a:xfrm>
        </p:spPr>
        <p:txBody>
          <a:bodyPr>
            <a:spAutoFit/>
          </a:bodyPr>
          <a:lstStyle/>
          <a:p>
            <a:r>
              <a:rPr lang="zh-CN" altLang="en-US" dirty="0"/>
              <a:t>一个主机的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198.0.46.1</a:t>
            </a:r>
            <a:r>
              <a:rPr lang="zh-CN" altLang="en-US" dirty="0"/>
              <a:t>，则它的默认掩码是（）。</a:t>
            </a:r>
          </a:p>
          <a:p>
            <a:r>
              <a:rPr lang="en-US" altLang="zh-CN" dirty="0"/>
              <a:t>A:255.0.0.0</a:t>
            </a:r>
          </a:p>
          <a:p>
            <a:r>
              <a:rPr lang="en-US" altLang="zh-CN" dirty="0"/>
              <a:t>B:255.255.0.0</a:t>
            </a:r>
          </a:p>
          <a:p>
            <a:r>
              <a:rPr lang="en-US" altLang="zh-CN" dirty="0"/>
              <a:t>C:255.255.255.0</a:t>
            </a:r>
          </a:p>
          <a:p>
            <a:r>
              <a:rPr lang="en-US" altLang="zh-CN" dirty="0"/>
              <a:t>D:255.255.255.255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CA0184-0177-459B-8D72-E0F5CC28159C}"/>
              </a:ext>
            </a:extLst>
          </p:cNvPr>
          <p:cNvSpPr txBox="1"/>
          <p:nvPr/>
        </p:nvSpPr>
        <p:spPr>
          <a:xfrm>
            <a:off x="347865" y="3316823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答案：</a:t>
            </a:r>
            <a:r>
              <a:rPr lang="en-US" altLang="zh-CN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41689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6371BD-0E01-4F22-8A31-D19535382F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1103635"/>
          </a:xfrm>
        </p:spPr>
        <p:txBody>
          <a:bodyPr>
            <a:spAutoFit/>
          </a:bodyPr>
          <a:lstStyle/>
          <a:p>
            <a:r>
              <a:rPr lang="zh-CN" altLang="en-US" dirty="0"/>
              <a:t>一台主机的</a:t>
            </a:r>
            <a:r>
              <a:rPr lang="en-US" altLang="zh-CN" dirty="0"/>
              <a:t>IP</a:t>
            </a:r>
            <a:r>
              <a:rPr lang="zh-CN" altLang="en-US" dirty="0"/>
              <a:t>地址是</a:t>
            </a:r>
            <a:r>
              <a:rPr lang="en-US" altLang="zh-CN" dirty="0"/>
              <a:t>202.113.224.68</a:t>
            </a:r>
            <a:r>
              <a:rPr lang="zh-CN" altLang="en-US" dirty="0"/>
              <a:t>，子网掩码是</a:t>
            </a:r>
            <a:r>
              <a:rPr lang="en-US" altLang="zh-CN" dirty="0"/>
              <a:t>255.255.255.240</a:t>
            </a:r>
            <a:r>
              <a:rPr lang="zh-CN" altLang="en-US" dirty="0"/>
              <a:t>，则对应的主机号是（）。</a:t>
            </a:r>
          </a:p>
          <a:p>
            <a:r>
              <a:rPr lang="en-US" altLang="zh-CN" dirty="0"/>
              <a:t>A:4	B:6</a:t>
            </a:r>
          </a:p>
          <a:p>
            <a:r>
              <a:rPr lang="en-US" altLang="zh-CN" dirty="0"/>
              <a:t>C:8	D:68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DB35C06-D237-4AAA-9BBA-926681D13206}"/>
              </a:ext>
            </a:extLst>
          </p:cNvPr>
          <p:cNvGrpSpPr/>
          <p:nvPr/>
        </p:nvGrpSpPr>
        <p:grpSpPr>
          <a:xfrm>
            <a:off x="347865" y="2943197"/>
            <a:ext cx="10499060" cy="2585323"/>
            <a:chOff x="347865" y="2943197"/>
            <a:chExt cx="10499060" cy="2585323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9A1BB31-9B1E-4289-94C3-11B91943B51B}"/>
                </a:ext>
              </a:extLst>
            </p:cNvPr>
            <p:cNvSpPr txBox="1"/>
            <p:nvPr/>
          </p:nvSpPr>
          <p:spPr>
            <a:xfrm>
              <a:off x="347865" y="2943197"/>
              <a:ext cx="6514604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分析：</a:t>
              </a: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algn="l"/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网络号：</a:t>
              </a: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effectLst/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kern="100" dirty="0">
                  <a:effectLst/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地址：</a:t>
              </a:r>
              <a:r>
                <a:rPr lang="en-US" altLang="zh-CN" kern="100" dirty="0">
                  <a:effectLst/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	202.113.224.</a:t>
              </a:r>
              <a:r>
                <a:rPr lang="en-US" altLang="zh-CN" b="1" kern="100" dirty="0">
                  <a:solidFill>
                    <a:srgbClr val="FF0000"/>
                  </a:solidFill>
                  <a:effectLst/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68</a:t>
              </a:r>
              <a:r>
                <a:rPr lang="en-US" altLang="zh-CN" kern="100" dirty="0">
                  <a:effectLst/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	0100 0</a:t>
              </a:r>
              <a:r>
                <a:rPr lang="en-US" altLang="zh-CN" b="1" kern="100" dirty="0">
                  <a:solidFill>
                    <a:srgbClr val="FF0000"/>
                  </a:solidFill>
                  <a:effectLst/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</a:t>
              </a:r>
              <a:r>
                <a:rPr lang="en-US" altLang="zh-CN" kern="100" dirty="0">
                  <a:effectLst/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00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子网掩码：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	255.255.255.</a:t>
              </a:r>
              <a:r>
                <a:rPr lang="en-US" altLang="zh-CN" b="1" kern="100" dirty="0">
                  <a:solidFill>
                    <a:srgbClr val="FF0000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240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	1111 0</a:t>
              </a:r>
              <a:r>
                <a:rPr lang="en-US" altLang="zh-CN" b="1" kern="100" dirty="0">
                  <a:solidFill>
                    <a:srgbClr val="FF0000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0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00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		0100 0000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algn="l">
                <a:tabLst>
                  <a:tab pos="1800000" algn="l"/>
                  <a:tab pos="5040000" algn="l"/>
                </a:tabLst>
              </a:pP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主机号：</a:t>
              </a: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掩码取反与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地址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AND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68-64=4</a:t>
              </a:r>
            </a:p>
          </p:txBody>
        </p:sp>
        <p:sp>
          <p:nvSpPr>
            <p:cNvPr id="6" name="箭头: 右 5">
              <a:extLst>
                <a:ext uri="{FF2B5EF4-FFF2-40B4-BE49-F238E27FC236}">
                  <a16:creationId xmlns:a16="http://schemas.microsoft.com/office/drawing/2014/main" id="{B82D4E24-C3F0-4A66-AD4F-89B826F3A5F7}"/>
                </a:ext>
              </a:extLst>
            </p:cNvPr>
            <p:cNvSpPr/>
            <p:nvPr/>
          </p:nvSpPr>
          <p:spPr>
            <a:xfrm>
              <a:off x="6862469" y="4117255"/>
              <a:ext cx="619432" cy="186813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F0CB34C-AF86-4696-8EF6-1E55034E308B}"/>
                </a:ext>
              </a:extLst>
            </p:cNvPr>
            <p:cNvSpPr txBox="1"/>
            <p:nvPr/>
          </p:nvSpPr>
          <p:spPr>
            <a:xfrm>
              <a:off x="7481901" y="4010606"/>
              <a:ext cx="33650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网络号：</a:t>
              </a:r>
              <a:r>
                <a:rPr lang="en-US" altLang="zh-CN" sz="2000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202.113.224.64</a:t>
              </a:r>
              <a:endPara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225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1E50214-1D8D-4689-AC5A-A154B4360C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某主机的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128.200.68.101</a:t>
            </a:r>
            <a:r>
              <a:rPr lang="zh-CN" altLang="en-US" dirty="0"/>
              <a:t>，子网掩码为</a:t>
            </a:r>
            <a:r>
              <a:rPr lang="en-US" altLang="zh-CN" dirty="0"/>
              <a:t>255.255.255.240</a:t>
            </a:r>
            <a:r>
              <a:rPr lang="zh-CN" altLang="en-US" dirty="0"/>
              <a:t>，则该连接的主机号为多少？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04B4115-6B69-44C3-A7E3-E2D02D371E99}"/>
              </a:ext>
            </a:extLst>
          </p:cNvPr>
          <p:cNvGrpSpPr/>
          <p:nvPr/>
        </p:nvGrpSpPr>
        <p:grpSpPr>
          <a:xfrm>
            <a:off x="347865" y="2127119"/>
            <a:ext cx="9964335" cy="3416320"/>
            <a:chOff x="347865" y="2127119"/>
            <a:chExt cx="9964335" cy="341632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BE65845-3477-4D51-84D0-81209263E201}"/>
                </a:ext>
              </a:extLst>
            </p:cNvPr>
            <p:cNvSpPr txBox="1"/>
            <p:nvPr/>
          </p:nvSpPr>
          <p:spPr>
            <a:xfrm>
              <a:off x="347865" y="2127119"/>
              <a:ext cx="6638356" cy="34163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分析：</a:t>
              </a: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240</a:t>
              </a: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11110000</a:t>
              </a: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，借了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</a:t>
              </a: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位主机号，共划分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kern="100" baseline="300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=16</a:t>
              </a: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个子网；</a:t>
              </a: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主机号还剩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</a:t>
              </a: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位，每个子网有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kern="100" baseline="300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</a:t>
              </a: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=16</a:t>
              </a:r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个主机</a:t>
              </a: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0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16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32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48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64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80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96	96+5=101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112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9F6044D-28F3-4702-9B1F-CA9B2DBFA013}"/>
                </a:ext>
              </a:extLst>
            </p:cNvPr>
            <p:cNvSpPr txBox="1"/>
            <p:nvPr/>
          </p:nvSpPr>
          <p:spPr>
            <a:xfrm>
              <a:off x="7069004" y="2127119"/>
              <a:ext cx="324319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分析：</a:t>
              </a:r>
              <a:endPara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101	0110 </a:t>
              </a:r>
              <a:r>
                <a:rPr lang="en-US" altLang="zh-CN" b="1" kern="100" dirty="0">
                  <a:solidFill>
                    <a:srgbClr val="FF0000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0101</a:t>
              </a:r>
            </a:p>
            <a:p>
              <a:pPr indent="457200" algn="l">
                <a:tabLst>
                  <a:tab pos="1800000" algn="l"/>
                  <a:tab pos="5040000" algn="l"/>
                </a:tabLst>
              </a:pPr>
              <a:r>
                <a:rPr lang="en-US" altLang="zh-CN" kern="100" dirty="0"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240	1111 </a:t>
              </a:r>
              <a:r>
                <a:rPr lang="en-US" altLang="zh-CN" b="1" kern="100" dirty="0">
                  <a:solidFill>
                    <a:srgbClr val="FF0000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0000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09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6371BD-0E01-4F22-8A31-D19535382F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597856"/>
          </a:xfrm>
        </p:spPr>
        <p:txBody>
          <a:bodyPr>
            <a:spAutoFit/>
          </a:bodyPr>
          <a:lstStyle/>
          <a:p>
            <a:pPr algn="just"/>
            <a:r>
              <a:rPr lang="zh-CN" altLang="en-US" dirty="0"/>
              <a:t>主机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192.168.1.1</a:t>
            </a:r>
            <a:r>
              <a:rPr lang="zh-CN" altLang="en-US" dirty="0"/>
              <a:t>，主机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192.168.1.2</a:t>
            </a:r>
            <a:r>
              <a:rPr lang="zh-CN" altLang="en-US" dirty="0"/>
              <a:t>，采用默认子网掩码。请问两台主机是否可以通信？为什么？若主机</a:t>
            </a:r>
            <a:r>
              <a:rPr lang="en-US" altLang="zh-CN" dirty="0"/>
              <a:t>B</a:t>
            </a:r>
            <a:r>
              <a:rPr lang="zh-CN" altLang="en-US" dirty="0"/>
              <a:t>地址改为</a:t>
            </a:r>
            <a:r>
              <a:rPr lang="en-US" altLang="zh-CN" dirty="0"/>
              <a:t>172.168.1.2</a:t>
            </a:r>
            <a:r>
              <a:rPr lang="zh-CN" altLang="en-US" dirty="0"/>
              <a:t>，仍然采用默认子网掩码，通信情况又如何？如何改进？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5A9CD3-B894-41B6-A885-BCBFED6ACD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相同网络的主机通信 </a:t>
            </a:r>
            <a:r>
              <a:rPr lang="en-US" altLang="zh-CN" dirty="0"/>
              <a:t>VS </a:t>
            </a:r>
            <a:r>
              <a:rPr lang="zh-CN" altLang="en-US" dirty="0"/>
              <a:t>不同网络主机的通信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08BE5F-A340-46C1-AB36-BCEC4C5A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5" y="2729413"/>
            <a:ext cx="4191000" cy="12382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069DE6-A8C4-4C5D-BC7C-0486D0F9F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153" y="2110288"/>
            <a:ext cx="56197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36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4A673D2-9BFB-408D-AB6B-11D6A8529F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4" t="5032" r="14360" b="37107"/>
          <a:stretch/>
        </p:blipFill>
        <p:spPr>
          <a:xfrm>
            <a:off x="4834387" y="404040"/>
            <a:ext cx="5495026" cy="39681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8100" cap="sq">
            <a:solidFill>
              <a:schemeClr val="bg1">
                <a:lumMod val="50000"/>
              </a:schemeClr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3E57082-945D-4137-B56D-0DBDC4780C46}"/>
              </a:ext>
            </a:extLst>
          </p:cNvPr>
          <p:cNvSpPr txBox="1"/>
          <p:nvPr/>
        </p:nvSpPr>
        <p:spPr>
          <a:xfrm>
            <a:off x="1548425" y="2672745"/>
            <a:ext cx="3207930" cy="1938992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2000" b="1" dirty="0">
                <a:gradFill>
                  <a:gsLst>
                    <a:gs pos="0">
                      <a:srgbClr val="FF0101"/>
                    </a:gs>
                    <a:gs pos="50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rgbClr val="C00000"/>
                    </a:gs>
                  </a:gsLst>
                  <a:lin ang="36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禹卫书法行书简体&#10;" panose="02000603000000000000" pitchFamily="2" charset="-122"/>
                <a:ea typeface="禹卫书法行书简体&#10;" panose="02000603000000000000" pitchFamily="2" charset="-122"/>
              </a:rPr>
              <a:t>送别</a:t>
            </a:r>
            <a:endParaRPr lang="en-US" altLang="zh-CN" sz="12000" b="1" dirty="0">
              <a:gradFill>
                <a:gsLst>
                  <a:gs pos="0">
                    <a:srgbClr val="FF0101"/>
                  </a:gs>
                  <a:gs pos="50000">
                    <a:schemeClr val="accent4">
                      <a:lumMod val="60000"/>
                      <a:lumOff val="40000"/>
                    </a:schemeClr>
                  </a:gs>
                  <a:gs pos="100000">
                    <a:srgbClr val="C00000"/>
                  </a:gs>
                </a:gsLst>
                <a:lin ang="3600000" scaled="0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禹卫书法行书简体&#10;" panose="02000603000000000000" pitchFamily="2" charset="-122"/>
              <a:ea typeface="禹卫书法行书简体&#10;" panose="02000603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4382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982FC503-2250-45BB-8DA8-A41D1A6818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1754326"/>
          </a:xfrm>
        </p:spPr>
        <p:txBody>
          <a:bodyPr>
            <a:spAutoFit/>
          </a:bodyPr>
          <a:lstStyle/>
          <a:p>
            <a:r>
              <a:rPr lang="zh-CN" altLang="en-US" dirty="0"/>
              <a:t>已知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218.75.230.30</a:t>
            </a:r>
            <a:r>
              <a:rPr lang="zh-CN" altLang="en-US" dirty="0"/>
              <a:t>，子网掩码为</a:t>
            </a:r>
            <a:r>
              <a:rPr lang="en-US" altLang="zh-CN" dirty="0"/>
              <a:t>255.255.255.192</a:t>
            </a:r>
            <a:r>
              <a:rPr lang="zh-CN" altLang="en-US" dirty="0"/>
              <a:t>，问：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会产生多少个子网？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每个子网可分配的主机地址数量是多少？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每个子网的网络地址是多少？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每个子网可分配的最小主机地址和最大主机地址是多少？</a:t>
            </a:r>
          </a:p>
          <a:p>
            <a:r>
              <a:rPr lang="en-US" altLang="zh-CN" dirty="0"/>
              <a:t>5.</a:t>
            </a:r>
            <a:r>
              <a:rPr lang="zh-CN" altLang="en-US" dirty="0"/>
              <a:t>每个子网的广播地址是多少？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9D2BB8-6636-4715-9324-C698CCF307D7}"/>
              </a:ext>
            </a:extLst>
          </p:cNvPr>
          <p:cNvSpPr txBox="1"/>
          <p:nvPr/>
        </p:nvSpPr>
        <p:spPr>
          <a:xfrm>
            <a:off x="28522" y="282804"/>
            <a:ext cx="12442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14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uestion</a:t>
            </a:r>
            <a:endParaRPr lang="zh-CN" altLang="en-US" sz="1400" kern="1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582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9CFE600-0607-4221-A323-E0E3B8D10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33291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836">
                  <a:extLst>
                    <a:ext uri="{9D8B030D-6E8A-4147-A177-3AD203B41FA5}">
                      <a16:colId xmlns:a16="http://schemas.microsoft.com/office/drawing/2014/main" val="1396160529"/>
                    </a:ext>
                  </a:extLst>
                </a:gridCol>
                <a:gridCol w="3195782">
                  <a:extLst>
                    <a:ext uri="{9D8B030D-6E8A-4147-A177-3AD203B41FA5}">
                      <a16:colId xmlns:a16="http://schemas.microsoft.com/office/drawing/2014/main" val="2105875780"/>
                    </a:ext>
                  </a:extLst>
                </a:gridCol>
                <a:gridCol w="3195782">
                  <a:extLst>
                    <a:ext uri="{9D8B030D-6E8A-4147-A177-3AD203B41FA5}">
                      <a16:colId xmlns:a16="http://schemas.microsoft.com/office/drawing/2014/main" val="564207644"/>
                    </a:ext>
                  </a:extLst>
                </a:gridCol>
                <a:gridCol w="2093600">
                  <a:extLst>
                    <a:ext uri="{9D8B030D-6E8A-4147-A177-3AD203B41FA5}">
                      <a16:colId xmlns:a16="http://schemas.microsoft.com/office/drawing/2014/main" val="3828055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30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IP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843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255.255.255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b="1" i="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子网掩码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641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类地址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90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借了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位主机号，所以可划分位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个子网，分别是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00 01 10 11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主机号还剩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8-2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位，所以主机数量为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8-2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=2</a:t>
                      </a:r>
                      <a:r>
                        <a:rPr lang="en-US" altLang="zh-CN" sz="1600" b="0" i="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-2=62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19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557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00 0001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最小可分配主机地址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47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 …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 …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9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218.75.230.62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最大可分配主机地址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67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11 1111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218.75.230.63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89709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33A068C-C5E3-432D-9433-2177F74D213A}"/>
              </a:ext>
            </a:extLst>
          </p:cNvPr>
          <p:cNvSpPr txBox="1"/>
          <p:nvPr/>
        </p:nvSpPr>
        <p:spPr>
          <a:xfrm>
            <a:off x="135924" y="282804"/>
            <a:ext cx="10294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14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nswer</a:t>
            </a:r>
            <a:endParaRPr lang="zh-CN" altLang="en-US" sz="1400" kern="1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02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7">
            <a:extLst>
              <a:ext uri="{FF2B5EF4-FFF2-40B4-BE49-F238E27FC236}">
                <a16:creationId xmlns:a16="http://schemas.microsoft.com/office/drawing/2014/main" id="{7647F06A-6E19-4B97-9F9C-1CCCA680C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29237"/>
              </p:ext>
            </p:extLst>
          </p:nvPr>
        </p:nvGraphicFramePr>
        <p:xfrm>
          <a:off x="1056000" y="1700207"/>
          <a:ext cx="10080000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类地址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230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子网掩码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划分结果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8-2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86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D33CCFC-8099-49A2-AA75-D4F7EBADBC6E}"/>
              </a:ext>
            </a:extLst>
          </p:cNvPr>
          <p:cNvSpPr txBox="1"/>
          <p:nvPr/>
        </p:nvSpPr>
        <p:spPr>
          <a:xfrm>
            <a:off x="135924" y="282804"/>
            <a:ext cx="10294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14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nswer</a:t>
            </a:r>
            <a:endParaRPr lang="zh-CN" altLang="en-US" sz="1400" kern="1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9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8B904-7B56-40E0-8A29-D5559C3328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zh-CN" altLang="en-US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子网的最小主机地址比子网的网络地址大</a:t>
            </a:r>
            <a:r>
              <a:rPr lang="en-US" altLang="zh-CN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</a:p>
          <a:p>
            <a:pPr algn="ctr"/>
            <a:endParaRPr lang="en-US" altLang="zh-CN" sz="18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子网的最大主机地址比子网的广播地址小</a:t>
            </a:r>
            <a:r>
              <a:rPr lang="en-US" altLang="zh-CN" sz="18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</a:p>
          <a:p>
            <a:pPr algn="ctr"/>
            <a:endParaRPr lang="en-US" altLang="zh-CN" sz="1800" kern="1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子网的广播地址比下一个子网的网络地址小</a:t>
            </a:r>
            <a:r>
              <a:rPr lang="en-US" altLang="zh-CN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sz="18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536AE9-35C3-4506-8B19-DF913FAD25D6}"/>
              </a:ext>
            </a:extLst>
          </p:cNvPr>
          <p:cNvSpPr txBox="1"/>
          <p:nvPr/>
        </p:nvSpPr>
        <p:spPr>
          <a:xfrm>
            <a:off x="135924" y="282804"/>
            <a:ext cx="10294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1400" kern="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nswer</a:t>
            </a:r>
            <a:endParaRPr lang="zh-CN" altLang="en-US" sz="1400" kern="1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09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438709"/>
              </p:ext>
            </p:extLst>
          </p:nvPr>
        </p:nvGraphicFramePr>
        <p:xfrm>
          <a:off x="1056000" y="1700207"/>
          <a:ext cx="10080000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类地址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划分结果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主机数量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9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192.168.10.65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192.168.10.193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192.168.10.62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192.168.10.190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192.168.10.191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41488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192.168.10.0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255.255.255.192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C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6286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8B904-7B56-40E0-8A29-D5559C332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604ED0-9D01-451C-9199-70B0612DF9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31737585-11F9-4FB7-B322-737F0D387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010101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子网增量为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【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以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为增量划分子网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】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主机数量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128-2=126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个主机；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E9C1887-CE8C-4247-91BE-D336D250F645}"/>
              </a:ext>
            </a:extLst>
          </p:cNvPr>
          <p:cNvSpPr txBox="1"/>
          <p:nvPr/>
        </p:nvSpPr>
        <p:spPr>
          <a:xfrm>
            <a:off x="4621077" y="655782"/>
            <a:ext cx="3998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192.168.10.0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255.255.255.128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31EA5D1-2DA8-47DD-9D60-D120CF4D88ED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12" name="斜纹 11">
              <a:extLst>
                <a:ext uri="{FF2B5EF4-FFF2-40B4-BE49-F238E27FC236}">
                  <a16:creationId xmlns:a16="http://schemas.microsoft.com/office/drawing/2014/main" id="{47474516-977B-43C8-B6F3-743899BA67FE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07E31E9-740D-441F-A539-05F6DBC3D140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C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8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8B904-7B56-40E0-8A29-D5559C332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604ED0-9D01-451C-9199-70B0612DF9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31737585-11F9-4FB7-B322-737F0D387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08035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主机数量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128-2=126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个主机；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172.16.128.1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E9C1887-CE8C-4247-91BE-D336D250F645}"/>
              </a:ext>
            </a:extLst>
          </p:cNvPr>
          <p:cNvSpPr txBox="1"/>
          <p:nvPr/>
        </p:nvSpPr>
        <p:spPr>
          <a:xfrm>
            <a:off x="4621077" y="655782"/>
            <a:ext cx="36968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255.255.128.0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372A39-ADAB-445C-A670-7793505C5596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7" name="斜纹 6">
              <a:extLst>
                <a:ext uri="{FF2B5EF4-FFF2-40B4-BE49-F238E27FC236}">
                  <a16:creationId xmlns:a16="http://schemas.microsoft.com/office/drawing/2014/main" id="{FD73870A-E5FB-405F-9831-C94C961BC3F9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9D12CFD-AD14-4E7D-A3E6-4609D6EE6440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188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07033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256-192=64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64-2=62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172.16.64.1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172.16.128.1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172.16.192.1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172.16.63.254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172.16.191.254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172.16.63.255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172.16.191.255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6968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255.255.192.0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565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44601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子网在第三字节的增量为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256-255=1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子网在第四字节的增量为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9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9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=512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-2=126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前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个子网分别是：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998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255.255.255.128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6E0B0DA-CB43-485C-A7DE-342D529DA375}"/>
              </a:ext>
            </a:extLst>
          </p:cNvPr>
          <p:cNvSpPr txBox="1"/>
          <p:nvPr/>
        </p:nvSpPr>
        <p:spPr>
          <a:xfrm>
            <a:off x="414774" y="-106629"/>
            <a:ext cx="492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b="1" kern="100" dirty="0">
                <a:solidFill>
                  <a:srgbClr val="FFFF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+</a:t>
            </a:r>
            <a:endParaRPr lang="zh-CN" altLang="en-US" sz="4000" b="1" kern="100" dirty="0">
              <a:solidFill>
                <a:srgbClr val="FFFF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072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05144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子网在第三字节的增量为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256-255=1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子网在第四字节的增量为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256-192=64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=1024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前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个子网分别是：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64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128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192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172.16.0.65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172.16.0.193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172.16.0.62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172.16.0.190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172.16.0.191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998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255.255.255.192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AC70D06-C66C-482E-AA4A-4D2731FF8EB8}"/>
              </a:ext>
            </a:extLst>
          </p:cNvPr>
          <p:cNvSpPr txBox="1"/>
          <p:nvPr/>
        </p:nvSpPr>
        <p:spPr>
          <a:xfrm>
            <a:off x="414774" y="-106629"/>
            <a:ext cx="492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b="1" kern="100" dirty="0">
                <a:solidFill>
                  <a:srgbClr val="FFFF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+</a:t>
            </a:r>
            <a:endParaRPr lang="zh-CN" altLang="en-US" sz="4000" b="1" kern="100" dirty="0">
              <a:solidFill>
                <a:srgbClr val="FFFF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725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425815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4032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4032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子网在第二字节的增量为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23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10.0.0.1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10.128.0.1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3954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10.0.0.0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255.128.0.0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066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591820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子网在第二字节的增量为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256-192=64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64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192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10.0.0.1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10.65.0.1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10.128.0.1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10.192.0.1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10.63.255.254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10.191.255.254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10.63.255.255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10.191.255.255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3954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10.0.0.0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255.192.0.0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99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9122A53-07A9-4604-9D74-66E544F52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3416320"/>
          </a:xfrm>
        </p:spPr>
        <p:txBody>
          <a:bodyPr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类、</a:t>
            </a:r>
            <a:r>
              <a:rPr lang="en-US" altLang="zh-CN" dirty="0"/>
              <a:t>B</a:t>
            </a:r>
            <a:r>
              <a:rPr lang="zh-CN" altLang="en-US" dirty="0"/>
              <a:t>类、</a:t>
            </a:r>
            <a:r>
              <a:rPr lang="en-US" altLang="zh-CN" dirty="0"/>
              <a:t>A</a:t>
            </a:r>
            <a:r>
              <a:rPr lang="zh-CN" altLang="en-US" dirty="0"/>
              <a:t>类地址的子网划分：</a:t>
            </a:r>
            <a:endParaRPr lang="en-US" altLang="zh-CN" dirty="0"/>
          </a:p>
          <a:p>
            <a:pPr indent="457200"/>
            <a:r>
              <a:rPr lang="zh-CN" altLang="en-US" dirty="0"/>
              <a:t>子网的最小主机地址比子网的网络地址大</a:t>
            </a:r>
            <a:r>
              <a:rPr lang="en-US" altLang="zh-CN" dirty="0"/>
              <a:t>1</a:t>
            </a:r>
          </a:p>
          <a:p>
            <a:pPr indent="457200"/>
            <a:r>
              <a:rPr lang="zh-CN" altLang="en-US" dirty="0"/>
              <a:t>子网的最大主机地址比子网的广播地址小</a:t>
            </a:r>
            <a:r>
              <a:rPr lang="en-US" altLang="zh-CN" dirty="0"/>
              <a:t>1</a:t>
            </a:r>
          </a:p>
          <a:p>
            <a:pPr indent="457200"/>
            <a:r>
              <a:rPr lang="zh-CN" altLang="en-US" dirty="0"/>
              <a:t>子网的广播地址比下一个子网的网络地址小</a:t>
            </a:r>
            <a:r>
              <a:rPr lang="en-US" altLang="zh-CN" dirty="0"/>
              <a:t>1</a:t>
            </a:r>
          </a:p>
          <a:p>
            <a:pPr indent="457200"/>
            <a:endParaRPr lang="en-US" altLang="zh-CN" dirty="0"/>
          </a:p>
          <a:p>
            <a:r>
              <a:rPr lang="zh-CN" altLang="en-US" dirty="0"/>
              <a:t>对于给定一个</a:t>
            </a:r>
            <a:r>
              <a:rPr lang="zh-CN" altLang="en-US" b="1" dirty="0">
                <a:solidFill>
                  <a:srgbClr val="C00000"/>
                </a:solidFill>
              </a:rPr>
              <a:t>分类的</a:t>
            </a:r>
            <a:r>
              <a:rPr lang="en-US" altLang="zh-CN" b="1" dirty="0">
                <a:solidFill>
                  <a:srgbClr val="C00000"/>
                </a:solidFill>
              </a:rPr>
              <a:t>IP</a:t>
            </a:r>
            <a:r>
              <a:rPr lang="zh-CN" altLang="en-US" b="1" dirty="0">
                <a:solidFill>
                  <a:srgbClr val="C00000"/>
                </a:solidFill>
              </a:rPr>
              <a:t>地址和掩码</a:t>
            </a:r>
            <a:r>
              <a:rPr lang="zh-CN" altLang="en-US" dirty="0"/>
              <a:t>，应知晓：</a:t>
            </a:r>
            <a:endParaRPr lang="en-US" altLang="zh-CN" dirty="0"/>
          </a:p>
          <a:p>
            <a:pPr indent="457200"/>
            <a:r>
              <a:rPr lang="en-US" altLang="zh-CN" dirty="0"/>
              <a:t>1.</a:t>
            </a:r>
            <a:r>
              <a:rPr lang="zh-CN" altLang="en-US" dirty="0"/>
              <a:t>划分子网的数量</a:t>
            </a:r>
            <a:endParaRPr lang="en-US" altLang="zh-CN" dirty="0"/>
          </a:p>
          <a:p>
            <a:pPr indent="457200"/>
            <a:r>
              <a:rPr lang="en-US" altLang="zh-CN" dirty="0"/>
              <a:t>2.</a:t>
            </a:r>
            <a:r>
              <a:rPr lang="zh-CN" altLang="en-US" dirty="0"/>
              <a:t>每个子网可分配的主机数量</a:t>
            </a:r>
            <a:endParaRPr lang="en-US" altLang="zh-CN" dirty="0"/>
          </a:p>
          <a:p>
            <a:pPr indent="457200"/>
            <a:r>
              <a:rPr lang="en-US" altLang="zh-CN" dirty="0"/>
              <a:t>3.</a:t>
            </a:r>
            <a:r>
              <a:rPr lang="zh-CN" altLang="en-US" dirty="0"/>
              <a:t>每个子网的网络地址</a:t>
            </a:r>
            <a:endParaRPr lang="en-US" altLang="zh-CN" dirty="0"/>
          </a:p>
          <a:p>
            <a:pPr indent="457200"/>
            <a:r>
              <a:rPr lang="en-US" altLang="zh-CN" dirty="0"/>
              <a:t>4.</a:t>
            </a:r>
            <a:r>
              <a:rPr lang="zh-CN" altLang="en-US" dirty="0"/>
              <a:t>每个子网的广播地址</a:t>
            </a:r>
            <a:endParaRPr lang="en-US" altLang="zh-CN" dirty="0"/>
          </a:p>
          <a:p>
            <a:pPr indent="457200"/>
            <a:r>
              <a:rPr lang="en-US" altLang="zh-CN" dirty="0"/>
              <a:t>5.</a:t>
            </a:r>
            <a:r>
              <a:rPr lang="zh-CN" altLang="en-US" dirty="0"/>
              <a:t>每个子网的最小主机地址</a:t>
            </a:r>
            <a:endParaRPr lang="en-US" altLang="zh-CN" dirty="0"/>
          </a:p>
          <a:p>
            <a:pPr indent="457200"/>
            <a:r>
              <a:rPr lang="en-US" altLang="zh-CN" dirty="0"/>
              <a:t>6.</a:t>
            </a:r>
            <a:r>
              <a:rPr lang="zh-CN" altLang="en-US" dirty="0"/>
              <a:t>每个子网的最大主机地址</a:t>
            </a:r>
          </a:p>
        </p:txBody>
      </p:sp>
    </p:spTree>
    <p:extLst>
      <p:ext uri="{BB962C8B-B14F-4D97-AF65-F5344CB8AC3E}">
        <p14:creationId xmlns:p14="http://schemas.microsoft.com/office/powerpoint/2010/main" val="3576802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9146B8-E72E-428F-A125-8C9A52610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3693319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dirty="0">
                <a:latin typeface="Courier New" panose="02070309020205020404" pitchFamily="49" charset="0"/>
              </a:rPr>
              <a:t>有</a:t>
            </a:r>
            <a:r>
              <a:rPr lang="en-US" altLang="zh-CN" dirty="0">
                <a:latin typeface="Courier New" panose="02070309020205020404" pitchFamily="49" charset="0"/>
              </a:rPr>
              <a:t>4</a:t>
            </a:r>
            <a:r>
              <a:rPr lang="zh-CN" altLang="en-US" dirty="0">
                <a:latin typeface="Courier New" panose="02070309020205020404" pitchFamily="49" charset="0"/>
              </a:rPr>
              <a:t>台主机，</a:t>
            </a:r>
            <a:r>
              <a:rPr lang="en-US" altLang="zh-CN" dirty="0">
                <a:latin typeface="Courier New" panose="02070309020205020404" pitchFamily="49" charset="0"/>
              </a:rPr>
              <a:t>IP</a:t>
            </a:r>
            <a:r>
              <a:rPr lang="zh-CN" altLang="en-US" dirty="0">
                <a:latin typeface="Courier New" panose="02070309020205020404" pitchFamily="49" charset="0"/>
              </a:rPr>
              <a:t>地址和掩码分别如下，请问他们的通信情况是怎样的？</a:t>
            </a:r>
            <a:endParaRPr lang="en-US" altLang="zh-CN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0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192.168.0.1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.255.255.0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1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192.168.0.2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.255.255.0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2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192.168.0.65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.255.255.0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3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192.168.0.66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.255.255.0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endParaRPr lang="en-US" altLang="zh-CN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r>
              <a:rPr lang="zh-CN" altLang="en-US" dirty="0"/>
              <a:t>思路：分别求出各</a:t>
            </a:r>
            <a:r>
              <a:rPr lang="en-US" altLang="zh-CN" dirty="0"/>
              <a:t>IP</a:t>
            </a:r>
            <a:r>
              <a:rPr lang="zh-CN" altLang="en-US" dirty="0"/>
              <a:t>地址和掩码对应的网络地址，如果相同则可以通信；否则不可以。</a:t>
            </a:r>
            <a:endParaRPr lang="en-US" altLang="zh-CN" dirty="0">
              <a:latin typeface="Courier New" panose="02070309020205020404" pitchFamily="49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ED2920-7BE6-4AD9-B27E-BC9B57D90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同网络通信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6A2B95-1D30-4ED5-A570-47A1E5D37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667" y="1955149"/>
            <a:ext cx="61912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8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9146B8-E72E-428F-A125-8C9A52610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3693319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dirty="0">
                <a:latin typeface="Courier New" panose="02070309020205020404" pitchFamily="49" charset="0"/>
              </a:rPr>
              <a:t>如果子网掩码统一改为</a:t>
            </a:r>
            <a:r>
              <a:rPr lang="en-US" altLang="zh-CN" dirty="0">
                <a:latin typeface="Courier New" panose="02070309020205020404" pitchFamily="49" charset="0"/>
              </a:rPr>
              <a:t>255.255.255.192</a:t>
            </a:r>
            <a:r>
              <a:rPr lang="zh-CN" altLang="en-US" dirty="0">
                <a:latin typeface="Courier New" panose="02070309020205020404" pitchFamily="49" charset="0"/>
              </a:rPr>
              <a:t>，通信情况又如何？</a:t>
            </a:r>
            <a:endParaRPr lang="en-US" altLang="zh-CN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0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192.168.0.1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.255.255.192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1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192.168.0.2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.255.255.192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2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192.168.0.65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.255.255.192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zh-CN" altLang="en-US" dirty="0">
                <a:latin typeface="Courier New" panose="02070309020205020404" pitchFamily="49" charset="0"/>
              </a:rPr>
              <a:t>主机</a:t>
            </a:r>
            <a:r>
              <a:rPr lang="en-US" altLang="zh-CN" dirty="0">
                <a:latin typeface="Courier New" panose="02070309020205020404" pitchFamily="49" charset="0"/>
              </a:rPr>
              <a:t>3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dirty="0">
                <a:latin typeface="Courier New" panose="02070309020205020404" pitchFamily="49" charset="0"/>
              </a:rPr>
              <a:t>	IP</a:t>
            </a:r>
            <a:r>
              <a:rPr lang="zh-CN" altLang="en-US" dirty="0">
                <a:latin typeface="Courier New" panose="02070309020205020404" pitchFamily="49" charset="0"/>
              </a:rPr>
              <a:t>地址：</a:t>
            </a:r>
            <a:r>
              <a:rPr lang="en-US" altLang="zh-CN" dirty="0">
                <a:latin typeface="Courier New" panose="02070309020205020404" pitchFamily="49" charset="0"/>
              </a:rPr>
              <a:t>	192.168.0.66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  <a:tab pos="2340000" algn="l"/>
              </a:tabLst>
            </a:pPr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</a:t>
            </a:r>
            <a:r>
              <a:rPr lang="en-US" altLang="zh-CN" dirty="0">
                <a:latin typeface="Courier New" panose="02070309020205020404" pitchFamily="49" charset="0"/>
              </a:rPr>
              <a:t>.255.255.192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endParaRPr lang="en-US" altLang="zh-CN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r>
              <a:rPr lang="zh-CN" altLang="en-US" dirty="0"/>
              <a:t>思路：分别求出各</a:t>
            </a:r>
            <a:r>
              <a:rPr lang="en-US" altLang="zh-CN" dirty="0"/>
              <a:t>IP</a:t>
            </a:r>
            <a:r>
              <a:rPr lang="zh-CN" altLang="en-US" dirty="0"/>
              <a:t>地址和掩码对应的网络地址，如果相同则可以通信；否则不可以。</a:t>
            </a:r>
            <a:endParaRPr lang="en-US" altLang="zh-CN" dirty="0">
              <a:latin typeface="Courier New" panose="02070309020205020404" pitchFamily="49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ED2920-7BE6-4AD9-B27E-BC9B57D90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同网络通信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E62D80-4D46-4D54-BA5D-7C4D4CBC4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338" y="2246528"/>
            <a:ext cx="6027942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4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9146B8-E72E-428F-A125-8C9A52610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2308324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使用</a:t>
            </a:r>
            <a:r>
              <a:rPr lang="zh-CN" altLang="en-US" dirty="0">
                <a:latin typeface="Courier New" panose="02070309020205020404" pitchFamily="49" charset="0"/>
              </a:rPr>
              <a:t>路由器互相两个不同的网络</a:t>
            </a:r>
            <a:endParaRPr lang="en-US" altLang="zh-CN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r>
              <a:rPr lang="zh-CN" altLang="en-US" dirty="0"/>
              <a:t>提示：</a:t>
            </a:r>
            <a:endParaRPr lang="en-US" altLang="zh-CN" dirty="0"/>
          </a:p>
          <a:p>
            <a:pPr indent="457200"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r>
              <a:rPr lang="en-US" altLang="zh-CN" dirty="0">
                <a:latin typeface="Courier New" panose="02070309020205020404" pitchFamily="49" charset="0"/>
              </a:rPr>
              <a:t>1.</a:t>
            </a:r>
            <a:r>
              <a:rPr lang="zh-CN" altLang="en-US" dirty="0">
                <a:latin typeface="Courier New" panose="02070309020205020404" pitchFamily="49" charset="0"/>
              </a:rPr>
              <a:t>注意更改主机和路由器的默认掩码为</a:t>
            </a:r>
            <a:r>
              <a:rPr lang="en-US" altLang="zh-CN" dirty="0">
                <a:latin typeface="Courier New" panose="02070309020205020404" pitchFamily="49" charset="0"/>
              </a:rPr>
              <a:t>255.255.255.192</a:t>
            </a:r>
          </a:p>
          <a:p>
            <a:pPr indent="457200"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r>
              <a:rPr lang="en-US" altLang="zh-CN" dirty="0"/>
              <a:t>2.</a:t>
            </a:r>
            <a:r>
              <a:rPr lang="zh-CN" altLang="en-US" dirty="0"/>
              <a:t>主机的网关应和路由器的相应端口保持一致</a:t>
            </a:r>
            <a:endParaRPr lang="en-US" altLang="zh-CN" dirty="0"/>
          </a:p>
          <a:p>
            <a:pPr indent="457200"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endParaRPr lang="en-US" altLang="zh-CN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r>
              <a:rPr lang="zh-CN" altLang="en-US" dirty="0"/>
              <a:t>思考：</a:t>
            </a:r>
            <a:endParaRPr lang="en-US" altLang="zh-CN" dirty="0"/>
          </a:p>
          <a:p>
            <a:pPr indent="457200">
              <a:lnSpc>
                <a:spcPct val="100000"/>
              </a:lnSpc>
              <a:spcBef>
                <a:spcPts val="0"/>
              </a:spcBef>
              <a:tabLst>
                <a:tab pos="1080000" algn="l"/>
              </a:tabLst>
            </a:pPr>
            <a:r>
              <a:rPr lang="en-US" altLang="zh-CN" dirty="0">
                <a:latin typeface="Courier New" panose="02070309020205020404" pitchFamily="49" charset="0"/>
              </a:rPr>
              <a:t>1.</a:t>
            </a:r>
            <a:r>
              <a:rPr lang="zh-CN" altLang="en-US" dirty="0">
                <a:latin typeface="Courier New" panose="02070309020205020404" pitchFamily="49" charset="0"/>
              </a:rPr>
              <a:t>为什么首次通信会失败？</a:t>
            </a:r>
            <a:endParaRPr lang="en-US" altLang="zh-CN" dirty="0">
              <a:latin typeface="Courier New" panose="02070309020205020404" pitchFamily="49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ED2920-7BE6-4AD9-B27E-BC9B57D90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不同网络通信</a:t>
            </a:r>
          </a:p>
        </p:txBody>
      </p:sp>
    </p:spTree>
    <p:extLst>
      <p:ext uri="{BB962C8B-B14F-4D97-AF65-F5344CB8AC3E}">
        <p14:creationId xmlns:p14="http://schemas.microsoft.com/office/powerpoint/2010/main" val="3698828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B79C57B-A17B-4AF2-85DE-FF8C1378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1477328"/>
          </a:xfrm>
        </p:spPr>
        <p:txBody>
          <a:bodyPr>
            <a:spAutoFit/>
          </a:bodyPr>
          <a:lstStyle/>
          <a:p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140.111.0.0</a:t>
            </a:r>
            <a:r>
              <a:rPr lang="zh-CN" altLang="en-US" dirty="0"/>
              <a:t>的</a:t>
            </a:r>
            <a:r>
              <a:rPr lang="en-US" altLang="zh-CN" dirty="0"/>
              <a:t>B</a:t>
            </a:r>
            <a:r>
              <a:rPr lang="zh-CN" altLang="en-US" dirty="0"/>
              <a:t>类网络，划分为</a:t>
            </a:r>
            <a:r>
              <a:rPr lang="en-US" altLang="zh-CN" dirty="0"/>
              <a:t>9</a:t>
            </a:r>
            <a:r>
              <a:rPr lang="zh-CN" altLang="en-US" dirty="0"/>
              <a:t>个子网，则子网掩码为（）。</a:t>
            </a:r>
          </a:p>
          <a:p>
            <a:r>
              <a:rPr lang="en-US" altLang="zh-CN" dirty="0"/>
              <a:t>A:255.0.0.0</a:t>
            </a:r>
          </a:p>
          <a:p>
            <a:r>
              <a:rPr lang="en-US" altLang="zh-CN" dirty="0"/>
              <a:t>B:255.255.0.0</a:t>
            </a:r>
          </a:p>
          <a:p>
            <a:r>
              <a:rPr lang="en-US" altLang="zh-CN" dirty="0"/>
              <a:t>C:255.255.128.0</a:t>
            </a:r>
          </a:p>
          <a:p>
            <a:r>
              <a:rPr lang="en-US" altLang="zh-CN" dirty="0"/>
              <a:t>D:255.255.240.0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464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EC08D7C-10C6-490C-BACA-00CDB23F3DAA}"/>
              </a:ext>
            </a:extLst>
          </p:cNvPr>
          <p:cNvSpPr/>
          <p:nvPr/>
        </p:nvSpPr>
        <p:spPr>
          <a:xfrm>
            <a:off x="796002" y="3529781"/>
            <a:ext cx="10599996" cy="265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006957" y="3979972"/>
            <a:ext cx="94115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消除了传统的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类的地址以及子网划分的概念。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可以有效的分配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 v4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使用斜线记法：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IP/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网络前缀的比特数量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相应的，主机数量就是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bit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的数量。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如：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128.14.35.7/20</a:t>
            </a:r>
          </a:p>
          <a:p>
            <a:pPr algn="l"/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路由聚合（构造超网）：把网络前缀都相同的连续的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地址组成一个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4CD144-349B-4AFA-B9D0-355615590879}"/>
              </a:ext>
            </a:extLst>
          </p:cNvPr>
          <p:cNvSpPr txBox="1"/>
          <p:nvPr/>
        </p:nvSpPr>
        <p:spPr>
          <a:xfrm>
            <a:off x="796002" y="2159215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Classless Inter-Domain Routing</a:t>
            </a:r>
          </a:p>
          <a:p>
            <a:pPr algn="l"/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无分类域间路由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782DA9E3-7D1A-4476-A6ED-0FCEFF8F5C3A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951346"/>
          <a:ext cx="52999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666">
                  <a:extLst>
                    <a:ext uri="{9D8B030D-6E8A-4147-A177-3AD203B41FA5}">
                      <a16:colId xmlns:a16="http://schemas.microsoft.com/office/drawing/2014/main" val="2088523624"/>
                    </a:ext>
                  </a:extLst>
                </a:gridCol>
                <a:gridCol w="1766666">
                  <a:extLst>
                    <a:ext uri="{9D8B030D-6E8A-4147-A177-3AD203B41FA5}">
                      <a16:colId xmlns:a16="http://schemas.microsoft.com/office/drawing/2014/main" val="3706842671"/>
                    </a:ext>
                  </a:extLst>
                </a:gridCol>
                <a:gridCol w="1766666">
                  <a:extLst>
                    <a:ext uri="{9D8B030D-6E8A-4147-A177-3AD203B41FA5}">
                      <a16:colId xmlns:a16="http://schemas.microsoft.com/office/drawing/2014/main" val="1236870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48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812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6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70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网络前缀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2319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74DEE9F-B31B-4C17-B12A-FADB73E29BCE}"/>
              </a:ext>
            </a:extLst>
          </p:cNvPr>
          <p:cNvSpPr txBox="1"/>
          <p:nvPr/>
        </p:nvSpPr>
        <p:spPr>
          <a:xfrm>
            <a:off x="796002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9E1221-A93D-4AB0-867C-B9360654B145}"/>
              </a:ext>
            </a:extLst>
          </p:cNvPr>
          <p:cNvSpPr txBox="1"/>
          <p:nvPr/>
        </p:nvSpPr>
        <p:spPr>
          <a:xfrm>
            <a:off x="2129700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19F50A-A7F8-4F7C-B2B2-71A2D69C66E1}"/>
              </a:ext>
            </a:extLst>
          </p:cNvPr>
          <p:cNvSpPr txBox="1"/>
          <p:nvPr/>
        </p:nvSpPr>
        <p:spPr>
          <a:xfrm>
            <a:off x="3463398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20796A-89D9-4369-803A-460B866D7457}"/>
              </a:ext>
            </a:extLst>
          </p:cNvPr>
          <p:cNvSpPr txBox="1"/>
          <p:nvPr/>
        </p:nvSpPr>
        <p:spPr>
          <a:xfrm>
            <a:off x="4797097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662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BB90099-C9DA-407D-ACF8-08CC26683D20}"/>
              </a:ext>
            </a:extLst>
          </p:cNvPr>
          <p:cNvSpPr/>
          <p:nvPr/>
        </p:nvSpPr>
        <p:spPr>
          <a:xfrm>
            <a:off x="796002" y="738965"/>
            <a:ext cx="4801314" cy="5445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6455961" y="3391418"/>
            <a:ext cx="4940037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地址块的最小地址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</a:p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地址块的最大地址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</a:p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地址块的地址数量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主机地址</a:t>
            </a:r>
          </a:p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地址掩码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子网掩码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地址块聚合数量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某类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814EAB-BCEB-4E78-9220-5B533A9972C7}"/>
              </a:ext>
            </a:extLst>
          </p:cNvPr>
          <p:cNvSpPr txBox="1"/>
          <p:nvPr/>
        </p:nvSpPr>
        <p:spPr>
          <a:xfrm>
            <a:off x="1950164" y="2213169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0719E9-EF66-4ECA-AC3C-6E809CE8E94F}"/>
              </a:ext>
            </a:extLst>
          </p:cNvPr>
          <p:cNvSpPr txBox="1"/>
          <p:nvPr/>
        </p:nvSpPr>
        <p:spPr>
          <a:xfrm>
            <a:off x="796002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82ACF0-B0B7-4A9A-8E8F-0513B9BD7668}"/>
              </a:ext>
            </a:extLst>
          </p:cNvPr>
          <p:cNvSpPr txBox="1"/>
          <p:nvPr/>
        </p:nvSpPr>
        <p:spPr>
          <a:xfrm>
            <a:off x="2129700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99A7AE-1EB4-4F0C-BC7B-18D121335DED}"/>
              </a:ext>
            </a:extLst>
          </p:cNvPr>
          <p:cNvSpPr txBox="1"/>
          <p:nvPr/>
        </p:nvSpPr>
        <p:spPr>
          <a:xfrm>
            <a:off x="3463398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D0762D-2511-495C-854B-7B09328360BA}"/>
              </a:ext>
            </a:extLst>
          </p:cNvPr>
          <p:cNvSpPr txBox="1"/>
          <p:nvPr/>
        </p:nvSpPr>
        <p:spPr>
          <a:xfrm>
            <a:off x="4797097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82B82E-7DD9-4B25-B740-C94501DFCA9B}"/>
              </a:ext>
            </a:extLst>
          </p:cNvPr>
          <p:cNvSpPr txBox="1"/>
          <p:nvPr/>
        </p:nvSpPr>
        <p:spPr>
          <a:xfrm>
            <a:off x="6679210" y="738965"/>
            <a:ext cx="44935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128.14.35.7/20</a:t>
            </a:r>
            <a:endParaRPr lang="zh-CN" altLang="en-US" sz="4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797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1E0703-A2C9-42C9-B940-DD6A9A659A16}"/>
              </a:ext>
            </a:extLst>
          </p:cNvPr>
          <p:cNvSpPr/>
          <p:nvPr/>
        </p:nvSpPr>
        <p:spPr>
          <a:xfrm>
            <a:off x="560513" y="512251"/>
            <a:ext cx="720000" cy="7200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259B07-7AE1-4818-9DB6-CF44972F48B6}"/>
              </a:ext>
            </a:extLst>
          </p:cNvPr>
          <p:cNvSpPr/>
          <p:nvPr/>
        </p:nvSpPr>
        <p:spPr>
          <a:xfrm>
            <a:off x="796002" y="73671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249901-07C6-4C0E-AC5D-E447C76FAB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无分类域间路由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CB4286-B7BD-441D-B51A-3826DA9A08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CIDR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045024" y="948879"/>
            <a:ext cx="76226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128.14.35.7/20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地址块中的某个地址，求：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地址掩码、地址块数量、聚合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类网络的数量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网络地址、最小主机地址、最大主机地址、广播地址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55A2A2-BC52-4271-9078-8CE41F2DAE51}"/>
              </a:ext>
            </a:extLst>
          </p:cNvPr>
          <p:cNvSpPr txBox="1"/>
          <p:nvPr/>
        </p:nvSpPr>
        <p:spPr>
          <a:xfrm>
            <a:off x="796002" y="2481356"/>
            <a:ext cx="10599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网络前缀长度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32-20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聚合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32-20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÷2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=16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11B1146E-7D09-41CD-B2F6-999450B21138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3642033"/>
          <a:ext cx="1059999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1111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255.255.240.0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0010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128.14.35.7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128.14.32.0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128.14.32.1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1111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128.14.47.254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42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128.14.47.255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068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1E0703-A2C9-42C9-B940-DD6A9A659A16}"/>
              </a:ext>
            </a:extLst>
          </p:cNvPr>
          <p:cNvSpPr/>
          <p:nvPr/>
        </p:nvSpPr>
        <p:spPr>
          <a:xfrm>
            <a:off x="560513" y="512251"/>
            <a:ext cx="720000" cy="7200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259B07-7AE1-4818-9DB6-CF44972F48B6}"/>
              </a:ext>
            </a:extLst>
          </p:cNvPr>
          <p:cNvSpPr/>
          <p:nvPr/>
        </p:nvSpPr>
        <p:spPr>
          <a:xfrm>
            <a:off x="796002" y="73671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249901-07C6-4C0E-AC5D-E447C76FAB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无分类域间路由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CB4286-B7BD-441D-B51A-3826DA9A08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CIDR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045024" y="948879"/>
            <a:ext cx="74687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206.0.64.8/18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地址块中的某个地址，求：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地址掩码、地址块数量、聚合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类网络的数量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网络地址、最小主机地址、最大主机地址、广播地址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55A2A2-BC52-4271-9078-8CE41F2DAE51}"/>
              </a:ext>
            </a:extLst>
          </p:cNvPr>
          <p:cNvSpPr txBox="1"/>
          <p:nvPr/>
        </p:nvSpPr>
        <p:spPr>
          <a:xfrm>
            <a:off x="796002" y="2481356"/>
            <a:ext cx="10599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网络前缀长度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18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32-18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14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聚合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32-20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÷2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=64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11B1146E-7D09-41CD-B2F6-999450B21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0463"/>
              </p:ext>
            </p:extLst>
          </p:nvPr>
        </p:nvGraphicFramePr>
        <p:xfrm>
          <a:off x="796001" y="3642033"/>
          <a:ext cx="1059999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255.255.192.0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0000 1000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206.0.127.254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42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206.0.127.255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92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20">
            <a:extLst>
              <a:ext uri="{FF2B5EF4-FFF2-40B4-BE49-F238E27FC236}">
                <a16:creationId xmlns:a16="http://schemas.microsoft.com/office/drawing/2014/main" id="{35A5F934-D7AF-4F84-9C20-16E7D7995B2D}"/>
              </a:ext>
            </a:extLst>
          </p:cNvPr>
          <p:cNvGraphicFramePr>
            <a:graphicFrameLocks noGrp="1"/>
          </p:cNvGraphicFramePr>
          <p:nvPr/>
        </p:nvGraphicFramePr>
        <p:xfrm>
          <a:off x="6096001" y="793245"/>
          <a:ext cx="5299995" cy="322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995">
                  <a:extLst>
                    <a:ext uri="{9D8B030D-6E8A-4147-A177-3AD203B41FA5}">
                      <a16:colId xmlns:a16="http://schemas.microsoft.com/office/drawing/2014/main" val="301837864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64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将多个连续的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类的网络地址聚合起来映射到一个物理网络上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以这个聚合起来的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类地址的共同网络地址作为其网络号，可有效解决路由表内容冗余的问题。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394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方法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找出各地址的共同前缀，设置为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；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其余部分，全部置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；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6332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F1069D5-4B24-46FE-B2A6-9D80E2FDF5E8}"/>
              </a:ext>
            </a:extLst>
          </p:cNvPr>
          <p:cNvSpPr/>
          <p:nvPr/>
        </p:nvSpPr>
        <p:spPr>
          <a:xfrm>
            <a:off x="796002" y="738965"/>
            <a:ext cx="4801314" cy="5445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CDD281-F7D4-4086-BEE7-58D117085BF5}"/>
              </a:ext>
            </a:extLst>
          </p:cNvPr>
          <p:cNvSpPr txBox="1"/>
          <p:nvPr/>
        </p:nvSpPr>
        <p:spPr>
          <a:xfrm>
            <a:off x="1565443" y="2213169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路由聚合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82F9B5-1241-4429-92E0-681A8F969E08}"/>
              </a:ext>
            </a:extLst>
          </p:cNvPr>
          <p:cNvSpPr txBox="1"/>
          <p:nvPr/>
        </p:nvSpPr>
        <p:spPr>
          <a:xfrm>
            <a:off x="899101" y="4349093"/>
            <a:ext cx="46089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kern="100" dirty="0" err="1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SuperNetting</a:t>
            </a:r>
            <a:endParaRPr lang="zh-CN" altLang="en-US" sz="48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494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10">
            <a:extLst>
              <a:ext uri="{FF2B5EF4-FFF2-40B4-BE49-F238E27FC236}">
                <a16:creationId xmlns:a16="http://schemas.microsoft.com/office/drawing/2014/main" id="{73403954-1E93-45A2-88DA-35B7A83A035F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2846930"/>
          <a:ext cx="105999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172.1.4.128/25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127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0000 0100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172.1.4.0/25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127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0000 0100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172.1.5.0/24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0000 0101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172.1.6.0/24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0000 0110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172.1.7.0/24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0000 0111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42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5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共同前缀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0000 01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聚合网络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3793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172.1.4.0/22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42475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54007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268397" y="936905"/>
            <a:ext cx="9655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地址块分别如下，求聚合网络。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880000" algn="l"/>
                <a:tab pos="5040000" algn="l"/>
                <a:tab pos="648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172.1.4.128/25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172.1.4.0/25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172.1.5.0/24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172.1.6.0/24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172.1.7.0/24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21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54007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992680" y="936905"/>
            <a:ext cx="10206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地址块分别如下，求聚合网络。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880000" algn="l"/>
                <a:tab pos="5040000" algn="l"/>
                <a:tab pos="648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206.0.68.0/23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206.0.70.0/24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206.0.71.0/24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206.0.71.128/24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172.1.7.0/24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10">
            <a:extLst>
              <a:ext uri="{FF2B5EF4-FFF2-40B4-BE49-F238E27FC236}">
                <a16:creationId xmlns:a16="http://schemas.microsoft.com/office/drawing/2014/main" id="{73403954-1E93-45A2-88DA-35B7A83A035F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3217770"/>
          <a:ext cx="1059999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206.0.68.0/23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0100 010</a:t>
                      </a:r>
                      <a:r>
                        <a:rPr lang="en-US" altLang="zh-CN" sz="1600" b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endParaRPr lang="zh-CN" altLang="en-US" sz="1600" b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206.0.70.0/24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0100 0110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206.0.71.0/25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0100 0111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206.0.71.128/25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0100 0111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5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共同前缀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0100 01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聚合网络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64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3793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206.0.64.0/22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424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554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54007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268397" y="659906"/>
            <a:ext cx="72474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已知路由器中的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条路由分别如下。请问是否可以聚合成为一条路由？</a:t>
            </a: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如果可以，请写出聚合后的路由；如果不可以，请说明原因。</a:t>
            </a:r>
          </a:p>
          <a:p>
            <a:pPr algn="l">
              <a:tabLst>
                <a:tab pos="504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192.168.16.0/25	192.168.16.193</a:t>
            </a:r>
          </a:p>
          <a:p>
            <a:pPr algn="l">
              <a:tabLst>
                <a:tab pos="504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192.168.16.128/26	192.168.16.193</a:t>
            </a:r>
          </a:p>
        </p:txBody>
      </p:sp>
      <p:graphicFrame>
        <p:nvGraphicFramePr>
          <p:cNvPr id="8" name="表格 10">
            <a:extLst>
              <a:ext uri="{FF2B5EF4-FFF2-40B4-BE49-F238E27FC236}">
                <a16:creationId xmlns:a16="http://schemas.microsoft.com/office/drawing/2014/main" id="{73403954-1E93-45A2-88DA-35B7A83A035F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3959450"/>
          <a:ext cx="1059999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657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1909341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192.168.16.0/25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600" b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192.168.16.128/26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5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共同前缀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聚合网络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3793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192.168.16.0/24 192.168.16.193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424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89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856546"/>
            <a:ext cx="1012016" cy="5462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9ACC46-1FB4-4F66-8A64-EFD7E6A38DAF}"/>
              </a:ext>
            </a:extLst>
          </p:cNvPr>
          <p:cNvSpPr/>
          <p:nvPr/>
        </p:nvSpPr>
        <p:spPr>
          <a:xfrm>
            <a:off x="796001" y="2482028"/>
            <a:ext cx="1012016" cy="5462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796002" y="856546"/>
            <a:ext cx="10599997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tabLst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真题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192.168.4.0/30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中，能接收目的地址为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192.168.4.3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分组的最大主机数是（）。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A:0	B:1	C:2	D:4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真题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某路由表中有，其目的网络地址分别为：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35.230.32.0/21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35.230.40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35.230.48.0/21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35.230.56.0/21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，将这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条路由聚合后的目的网络地址是（）。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A:35.230.0.0/19	B:35.230.0.0/20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C:35.230.32.0/19	D:35.230.32.0/20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991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0937738-6253-4A72-9823-A7068ABC94CE}"/>
              </a:ext>
            </a:extLst>
          </p:cNvPr>
          <p:cNvSpPr/>
          <p:nvPr/>
        </p:nvSpPr>
        <p:spPr>
          <a:xfrm>
            <a:off x="796002" y="2774308"/>
            <a:ext cx="468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endParaRPr lang="zh-CN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6B69BC-E826-48D3-B5A5-8E5B02C085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地址和</a:t>
            </a:r>
            <a:r>
              <a:rPr lang="en-US" altLang="zh-CN" dirty="0"/>
              <a:t>MAC</a:t>
            </a:r>
            <a:r>
              <a:rPr lang="zh-CN" altLang="en-US" dirty="0"/>
              <a:t>地址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DFEA7-C6E1-4A14-9BED-C8D5D01AAB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IP vs MAC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36BA63-4BCE-4C7B-B308-F08C2B795DBE}"/>
              </a:ext>
            </a:extLst>
          </p:cNvPr>
          <p:cNvSpPr txBox="1"/>
          <p:nvPr/>
        </p:nvSpPr>
        <p:spPr>
          <a:xfrm>
            <a:off x="796002" y="4561724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网络层及以上各层使用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逻辑地址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路由器只根网络号转发数据报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8DE63E-5C1B-4743-A217-5E18FE080EB6}"/>
              </a:ext>
            </a:extLst>
          </p:cNvPr>
          <p:cNvSpPr/>
          <p:nvPr/>
        </p:nvSpPr>
        <p:spPr>
          <a:xfrm>
            <a:off x="6715998" y="2774308"/>
            <a:ext cx="468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MAC</a:t>
            </a:r>
            <a:endParaRPr lang="zh-CN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277954-9AE1-4D02-9250-965E42A1B9E4}"/>
              </a:ext>
            </a:extLst>
          </p:cNvPr>
          <p:cNvSpPr txBox="1"/>
          <p:nvPr/>
        </p:nvSpPr>
        <p:spPr>
          <a:xfrm>
            <a:off x="6715998" y="4561724"/>
            <a:ext cx="32303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链路层及以下各层使用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物理地址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帧只有拆了包才能看到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信息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箭头: 左右 12">
            <a:extLst>
              <a:ext uri="{FF2B5EF4-FFF2-40B4-BE49-F238E27FC236}">
                <a16:creationId xmlns:a16="http://schemas.microsoft.com/office/drawing/2014/main" id="{DBD4B7D0-F79F-4AA5-AF9D-F2D86B340702}"/>
              </a:ext>
            </a:extLst>
          </p:cNvPr>
          <p:cNvSpPr/>
          <p:nvPr/>
        </p:nvSpPr>
        <p:spPr>
          <a:xfrm>
            <a:off x="5476002" y="3226890"/>
            <a:ext cx="1239996" cy="534837"/>
          </a:xfrm>
          <a:prstGeom prst="left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</a:t>
            </a:r>
            <a:endParaRPr lang="zh-CN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CBBFD3CC-1D96-475C-8357-56242E544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408538"/>
              </p:ext>
            </p:extLst>
          </p:nvPr>
        </p:nvGraphicFramePr>
        <p:xfrm>
          <a:off x="3011339" y="934227"/>
          <a:ext cx="616932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1">
                  <a:extLst>
                    <a:ext uri="{9D8B030D-6E8A-4147-A177-3AD203B41FA5}">
                      <a16:colId xmlns:a16="http://schemas.microsoft.com/office/drawing/2014/main" val="3638564333"/>
                    </a:ext>
                  </a:extLst>
                </a:gridCol>
                <a:gridCol w="2056441">
                  <a:extLst>
                    <a:ext uri="{9D8B030D-6E8A-4147-A177-3AD203B41FA5}">
                      <a16:colId xmlns:a16="http://schemas.microsoft.com/office/drawing/2014/main" val="1765058771"/>
                    </a:ext>
                  </a:extLst>
                </a:gridCol>
                <a:gridCol w="2056441">
                  <a:extLst>
                    <a:ext uri="{9D8B030D-6E8A-4147-A177-3AD203B41FA5}">
                      <a16:colId xmlns:a16="http://schemas.microsoft.com/office/drawing/2014/main" val="326935120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ARP table for PC0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870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IP address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Hardware address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Interface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60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192.168.0.2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000A.F3BA.2603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fastEthernet0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45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870347"/>
                  </a:ext>
                </a:extLst>
              </a:tr>
            </a:tbl>
          </a:graphicData>
        </a:graphic>
      </p:graphicFrame>
      <p:sp>
        <p:nvSpPr>
          <p:cNvPr id="16" name="箭头: 上下 15">
            <a:extLst>
              <a:ext uri="{FF2B5EF4-FFF2-40B4-BE49-F238E27FC236}">
                <a16:creationId xmlns:a16="http://schemas.microsoft.com/office/drawing/2014/main" id="{754C808B-2AFA-42E4-B6B7-CAD81C497718}"/>
              </a:ext>
            </a:extLst>
          </p:cNvPr>
          <p:cNvSpPr/>
          <p:nvPr/>
        </p:nvSpPr>
        <p:spPr>
          <a:xfrm>
            <a:off x="5850147" y="2417587"/>
            <a:ext cx="491706" cy="920836"/>
          </a:xfrm>
          <a:prstGeom prst="upDown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3027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533BAB-381F-4E28-AB17-407E4DDB9EF1}"/>
              </a:ext>
            </a:extLst>
          </p:cNvPr>
          <p:cNvSpPr txBox="1"/>
          <p:nvPr/>
        </p:nvSpPr>
        <p:spPr>
          <a:xfrm>
            <a:off x="697953" y="4430374"/>
            <a:ext cx="107960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US" altLang="zh-CN" sz="1600" dirty="0"/>
              <a:t>1.</a:t>
            </a:r>
            <a:r>
              <a:rPr lang="zh-CN" altLang="en-US" sz="1600" dirty="0"/>
              <a:t>将目的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地址和源网络的地址掩码相与，如果相等</a:t>
            </a:r>
            <a:r>
              <a:rPr lang="en-US" altLang="zh-CN" sz="1600" dirty="0"/>
              <a:t>,</a:t>
            </a:r>
            <a:r>
              <a:rPr lang="zh-CN" altLang="en-US" sz="1600" dirty="0"/>
              <a:t>应直接交付给主机</a:t>
            </a:r>
            <a:r>
              <a:rPr lang="en-US" altLang="zh-CN" sz="1600" dirty="0"/>
              <a:t>;</a:t>
            </a:r>
            <a:r>
              <a:rPr lang="zh-CN" altLang="en-US" sz="1600" dirty="0"/>
              <a:t>否则，应间接交付给默认网关；</a:t>
            </a:r>
          </a:p>
          <a:p>
            <a:pPr algn="just"/>
            <a:r>
              <a:rPr lang="en-US" altLang="zh-CN" sz="1600" dirty="0"/>
              <a:t>2.</a:t>
            </a:r>
            <a:r>
              <a:rPr lang="zh-CN" altLang="en-US" sz="1600" dirty="0"/>
              <a:t>直接交付：主机在</a:t>
            </a:r>
            <a:r>
              <a:rPr lang="en-US" altLang="zh-CN" sz="1600" dirty="0"/>
              <a:t>ARP</a:t>
            </a:r>
            <a:r>
              <a:rPr lang="zh-CN" altLang="en-US" sz="1600" dirty="0"/>
              <a:t>高速缓存表中查找目的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地址对应的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地址。如果有，封装</a:t>
            </a:r>
            <a:r>
              <a:rPr lang="en-US" altLang="zh-CN" sz="1600" dirty="0"/>
              <a:t>IP</a:t>
            </a:r>
            <a:r>
              <a:rPr lang="zh-CN" altLang="en-US" sz="1600" dirty="0"/>
              <a:t>数据报成帧，并发送给目的主机；否则，发起对目的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地址的</a:t>
            </a:r>
            <a:r>
              <a:rPr lang="en-US" altLang="zh-CN" sz="1600" dirty="0"/>
              <a:t>ARP</a:t>
            </a:r>
            <a:r>
              <a:rPr lang="zh-CN" altLang="en-US" sz="1600" dirty="0"/>
              <a:t>请求；</a:t>
            </a:r>
            <a:endParaRPr lang="en-US" altLang="zh-CN" sz="1600" dirty="0"/>
          </a:p>
          <a:p>
            <a:pPr algn="just"/>
            <a:r>
              <a:rPr lang="en-US" altLang="zh-CN" sz="1600" dirty="0"/>
              <a:t>3.</a:t>
            </a:r>
            <a:r>
              <a:rPr lang="zh-CN" altLang="en-US" sz="1600" dirty="0"/>
              <a:t>间接交付：主机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高速缓存表中查找默认网关对应的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地址。如果有，则封帧交付给默认网关；如果没有，则发起对默认网关的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请求</a:t>
            </a:r>
            <a:endParaRPr lang="zh-CN" altLang="en-US" sz="16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F0A75E-F235-47BB-AC37-072986BFC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数据报的转发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6FB210-97EB-49B7-A0A2-EAD4A8E7A4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forwarding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1365E8-6913-4849-9282-D7336F80953A}"/>
              </a:ext>
            </a:extLst>
          </p:cNvPr>
          <p:cNvSpPr/>
          <p:nvPr/>
        </p:nvSpPr>
        <p:spPr>
          <a:xfrm>
            <a:off x="697953" y="3822594"/>
            <a:ext cx="10796094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路由器转发数据报的过程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A714CE-3071-4F80-8A27-F59F32B87E03}"/>
              </a:ext>
            </a:extLst>
          </p:cNvPr>
          <p:cNvSpPr txBox="1"/>
          <p:nvPr/>
        </p:nvSpPr>
        <p:spPr>
          <a:xfrm>
            <a:off x="697953" y="1033321"/>
            <a:ext cx="107960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US" altLang="zh-CN" sz="1600" dirty="0"/>
              <a:t>1.</a:t>
            </a:r>
            <a:r>
              <a:rPr lang="zh-CN" altLang="en-US" sz="1600" dirty="0"/>
              <a:t>将目的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地址和源网络的地址掩码相与，如果相等</a:t>
            </a:r>
            <a:r>
              <a:rPr lang="en-US" altLang="zh-CN" sz="1600" dirty="0"/>
              <a:t>,</a:t>
            </a:r>
            <a:r>
              <a:rPr lang="zh-CN" altLang="en-US" sz="1600" dirty="0"/>
              <a:t>应直接交付给主机</a:t>
            </a:r>
            <a:r>
              <a:rPr lang="en-US" altLang="zh-CN" sz="1600" dirty="0"/>
              <a:t>;</a:t>
            </a:r>
            <a:r>
              <a:rPr lang="zh-CN" altLang="en-US" sz="1600" dirty="0"/>
              <a:t>否则，应间接交付给默认网关；</a:t>
            </a:r>
          </a:p>
          <a:p>
            <a:pPr algn="just"/>
            <a:r>
              <a:rPr lang="en-US" altLang="zh-CN" sz="1600" dirty="0"/>
              <a:t>2.</a:t>
            </a:r>
            <a:r>
              <a:rPr lang="zh-CN" altLang="en-US" sz="1600" dirty="0"/>
              <a:t>直接交付：主机在</a:t>
            </a:r>
            <a:r>
              <a:rPr lang="en-US" altLang="zh-CN" sz="1600" dirty="0"/>
              <a:t>ARP</a:t>
            </a:r>
            <a:r>
              <a:rPr lang="zh-CN" altLang="en-US" sz="1600" dirty="0"/>
              <a:t>高速缓存表中查找目的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地址对应的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地址。如果有，封装</a:t>
            </a:r>
            <a:r>
              <a:rPr lang="en-US" altLang="zh-CN" sz="1600" dirty="0"/>
              <a:t>IP</a:t>
            </a:r>
            <a:r>
              <a:rPr lang="zh-CN" altLang="en-US" sz="1600" dirty="0"/>
              <a:t>数据报成帧，并发送给目的主机；否则，发起对目的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地址的</a:t>
            </a:r>
            <a:r>
              <a:rPr lang="en-US" altLang="zh-CN" sz="1600" dirty="0"/>
              <a:t>ARP</a:t>
            </a:r>
            <a:r>
              <a:rPr lang="zh-CN" altLang="en-US" sz="1600" dirty="0"/>
              <a:t>请求；</a:t>
            </a:r>
            <a:endParaRPr lang="en-US" altLang="zh-CN" sz="1600" dirty="0"/>
          </a:p>
          <a:p>
            <a:pPr algn="just"/>
            <a:r>
              <a:rPr lang="en-US" altLang="zh-CN" sz="1600" dirty="0"/>
              <a:t>3.</a:t>
            </a:r>
            <a:r>
              <a:rPr lang="zh-CN" altLang="en-US" sz="1600" dirty="0"/>
              <a:t>间接交付：主机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高速缓存表中查找默认网关对应的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地址。如果有，则封帧交付给默认网关；如果没有，则发起对默认网关的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请求</a:t>
            </a:r>
            <a:endParaRPr lang="zh-CN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1FC7B8-7157-4991-BC27-9026CEEA1470}"/>
              </a:ext>
            </a:extLst>
          </p:cNvPr>
          <p:cNvSpPr/>
          <p:nvPr/>
        </p:nvSpPr>
        <p:spPr>
          <a:xfrm>
            <a:off x="697953" y="425541"/>
            <a:ext cx="10796094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主机发送数据报的过程</a:t>
            </a:r>
          </a:p>
        </p:txBody>
      </p:sp>
    </p:spTree>
    <p:extLst>
      <p:ext uri="{BB962C8B-B14F-4D97-AF65-F5344CB8AC3E}">
        <p14:creationId xmlns:p14="http://schemas.microsoft.com/office/powerpoint/2010/main" val="384116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13D8F79-7BF2-4FDC-A486-19A703176C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网际控制报文协议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F5C3B-0941-4A8A-954C-F62E2F2C2C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ICMP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DBDF9D-85B4-4D14-B765-B032F1D5B361}"/>
              </a:ext>
            </a:extLst>
          </p:cNvPr>
          <p:cNvSpPr txBox="1"/>
          <p:nvPr/>
        </p:nvSpPr>
        <p:spPr>
          <a:xfrm>
            <a:off x="697953" y="1175835"/>
            <a:ext cx="473398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ICMP</a:t>
            </a: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Internet Control Message Protocol</a:t>
            </a: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RFC 792</a:t>
            </a: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报告差错和提供异常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网络层协议，不是高层协议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封装在</a:t>
            </a:r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数据报中发送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主机不可达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时间超时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参数错误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路由改变</a:t>
            </a:r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/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重定向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PING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分组网间探测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TRACERT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路由追踪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20268D-FC62-43F2-BFE9-08BCCF3BA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044" y="1596000"/>
            <a:ext cx="528750" cy="36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158634-209C-4B5C-8E7F-F678D43BF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46" y="1511400"/>
            <a:ext cx="529200" cy="5292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BE3D22B-9AD3-42A2-A697-5820DE5C3A9A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925046" y="1776000"/>
            <a:ext cx="368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071B30F-3E78-4097-BC04-3859BC2DC9CB}"/>
              </a:ext>
            </a:extLst>
          </p:cNvPr>
          <p:cNvSpPr txBox="1"/>
          <p:nvPr/>
        </p:nvSpPr>
        <p:spPr>
          <a:xfrm>
            <a:off x="8432059" y="14287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39CB81-21B0-4193-9B75-1EE34DBA9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296" y="4631100"/>
            <a:ext cx="528750" cy="3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75EF46-6FE5-4F92-8C69-8CCCC7B63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594" y="4546500"/>
            <a:ext cx="529200" cy="52920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61221BB-4162-41D1-8D3C-59CA875E081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925046" y="4811100"/>
            <a:ext cx="368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5A5919B-0827-405F-ACD3-EEAE3CDB1C61}"/>
              </a:ext>
            </a:extLst>
          </p:cNvPr>
          <p:cNvSpPr txBox="1"/>
          <p:nvPr/>
        </p:nvSpPr>
        <p:spPr>
          <a:xfrm>
            <a:off x="7721128" y="4461823"/>
            <a:ext cx="2427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无法转发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差错报告报文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0AA467A-B7C8-43DF-B62E-157B20F57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46" y="2283900"/>
            <a:ext cx="528750" cy="3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2699EBE-2892-45A8-8724-CFB5264C9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44" y="2199300"/>
            <a:ext cx="529200" cy="529200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0117B63-B1CA-4D4B-A398-15198461D17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6924596" y="2463900"/>
            <a:ext cx="368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2074873-6D86-4A41-A743-CE7859C342DD}"/>
              </a:ext>
            </a:extLst>
          </p:cNvPr>
          <p:cNvSpPr txBox="1"/>
          <p:nvPr/>
        </p:nvSpPr>
        <p:spPr>
          <a:xfrm>
            <a:off x="8431609" y="21146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CE087AE-A52A-498A-932B-FCC84887F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946" y="5331449"/>
            <a:ext cx="529200" cy="529200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1B20969-A06A-4674-8670-352D03C24F0F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6924146" y="5596049"/>
            <a:ext cx="368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5B5C83F-527B-4C78-867D-716F9A6D8584}"/>
              </a:ext>
            </a:extLst>
          </p:cNvPr>
          <p:cNvSpPr txBox="1"/>
          <p:nvPr/>
        </p:nvSpPr>
        <p:spPr>
          <a:xfrm>
            <a:off x="7713014" y="5248799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无法交付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差错报告报文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9D05152-9BAA-4F4F-AD69-C94A8D557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44" y="5331449"/>
            <a:ext cx="529200" cy="5292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CAA50AE-69C6-4956-8D1F-C8A4371D5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946" y="2940676"/>
            <a:ext cx="529200" cy="529200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6199C41-5698-437F-864F-8DD85DEAD83E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6924146" y="3205276"/>
            <a:ext cx="368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962CEED-21AA-46B9-90BC-54D40C65952A}"/>
              </a:ext>
            </a:extLst>
          </p:cNvPr>
          <p:cNvSpPr txBox="1"/>
          <p:nvPr/>
        </p:nvSpPr>
        <p:spPr>
          <a:xfrm>
            <a:off x="8431159" y="285802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4194C8E-87D4-4CD0-A001-49DD107C4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44" y="2940676"/>
            <a:ext cx="529200" cy="5292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211D23C7-B1CA-40C4-8ABE-7A7CD2F9E34D}"/>
              </a:ext>
            </a:extLst>
          </p:cNvPr>
          <p:cNvSpPr/>
          <p:nvPr/>
        </p:nvSpPr>
        <p:spPr>
          <a:xfrm>
            <a:off x="697953" y="425541"/>
            <a:ext cx="10796094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网际控制报文协议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ICMP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1AC530-C041-41AE-A536-894525719399}"/>
              </a:ext>
            </a:extLst>
          </p:cNvPr>
          <p:cNvSpPr/>
          <p:nvPr/>
        </p:nvSpPr>
        <p:spPr>
          <a:xfrm>
            <a:off x="697954" y="3575802"/>
            <a:ext cx="4733988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差错类型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97B5E5-D623-411C-9C0A-385D84338719}"/>
              </a:ext>
            </a:extLst>
          </p:cNvPr>
          <p:cNvSpPr/>
          <p:nvPr/>
        </p:nvSpPr>
        <p:spPr>
          <a:xfrm>
            <a:off x="697954" y="5153224"/>
            <a:ext cx="4733988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典型应用</a:t>
            </a:r>
          </a:p>
        </p:txBody>
      </p:sp>
    </p:spTree>
    <p:extLst>
      <p:ext uri="{BB962C8B-B14F-4D97-AF65-F5344CB8AC3E}">
        <p14:creationId xmlns:p14="http://schemas.microsoft.com/office/powerpoint/2010/main" val="2371078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9FC58EC-4D00-4418-B171-24B78A89B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99E0B7-C2FA-4398-A3D6-B8FF929EE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ICMP: ping &amp; tracert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99710A-5D47-4DED-A952-C420B8224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2286000"/>
            <a:ext cx="85820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671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13CDB7C-C992-459E-8771-C04838411F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数据报格式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E0DAC-A33F-4CEE-BEA2-171182F172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IP packet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E67B195-A1CF-4A97-966C-B17270B46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75364"/>
              </p:ext>
            </p:extLst>
          </p:nvPr>
        </p:nvGraphicFramePr>
        <p:xfrm>
          <a:off x="508000" y="454195"/>
          <a:ext cx="11176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56547639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3095973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2759833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73306479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965694495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814156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075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版本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VER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THL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区分服务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DSCP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总长度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38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标识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标志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FLAG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片偏移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FRAG OFFSET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886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生存时间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协议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PRO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首部校验和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CHKSUM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18545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源地址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SRC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2916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目的地址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5007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可选字段，长度可变（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字节）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DATA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42523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F8EFB54-D364-426A-8306-2FA6BA4E95C2}"/>
              </a:ext>
            </a:extLst>
          </p:cNvPr>
          <p:cNvSpPr txBox="1"/>
          <p:nvPr/>
        </p:nvSpPr>
        <p:spPr>
          <a:xfrm>
            <a:off x="508000" y="3309308"/>
            <a:ext cx="11176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版本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VER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0100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，表示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 v4</a:t>
            </a: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首部长度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THL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为单位，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最小值为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0101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，所以最短首部长度为：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4=20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最大值为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1111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，所以最大首部长度为：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(2</a:t>
            </a:r>
            <a:r>
              <a:rPr lang="en-US" altLang="zh-CN" sz="1600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-1)*4=15*4=60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总长度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首部和数据部分总和；最大数值为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1111 1111 1111 1111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，所以最大长度为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-1=65535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片偏移部分：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标识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ID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，每产生一个数据报，就加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，充当计算器的功能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FLAGS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3bit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，包括：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MF+DF+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保留位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more fragment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don’t fragment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片偏移以</a:t>
            </a:r>
            <a:r>
              <a:rPr lang="en-US" altLang="zh-CN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为单位，共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13bit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生存时间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TTL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早期为时间；现在为可通过的路由数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协议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PRO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数据部分是何种协议，如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ICMP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TCP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UDP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OSPF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等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769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24D107-3144-48E1-BD91-BE6A8297A4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2585323"/>
          </a:xfrm>
        </p:spPr>
        <p:txBody>
          <a:bodyPr>
            <a:spAutoFit/>
          </a:bodyPr>
          <a:lstStyle/>
          <a:p>
            <a:r>
              <a:rPr lang="zh-CN" altLang="en-US" dirty="0"/>
              <a:t>已经某</a:t>
            </a:r>
            <a:r>
              <a:rPr lang="en-US" altLang="zh-CN" dirty="0"/>
              <a:t>IP</a:t>
            </a:r>
            <a:r>
              <a:rPr lang="zh-CN" altLang="en-US" dirty="0"/>
              <a:t>报首部字段</a:t>
            </a:r>
            <a:r>
              <a:rPr lang="en-US" altLang="zh-CN" dirty="0"/>
              <a:t>THL</a:t>
            </a:r>
            <a:r>
              <a:rPr lang="zh-CN" altLang="en-US" dirty="0"/>
              <a:t>为</a:t>
            </a:r>
            <a:r>
              <a:rPr lang="en-US" altLang="zh-CN" dirty="0"/>
              <a:t>0101</a:t>
            </a:r>
            <a:r>
              <a:rPr lang="zh-CN" altLang="en-US" dirty="0"/>
              <a:t>，总长度字段</a:t>
            </a:r>
            <a:r>
              <a:rPr lang="en-US" altLang="zh-CN" dirty="0"/>
              <a:t>TL</a:t>
            </a:r>
            <a:r>
              <a:rPr lang="zh-CN" altLang="en-US" dirty="0"/>
              <a:t>为</a:t>
            </a:r>
            <a:r>
              <a:rPr lang="en-US" altLang="zh-CN" dirty="0"/>
              <a:t>0000 0011 1111 1100</a:t>
            </a:r>
            <a:r>
              <a:rPr lang="zh-CN" altLang="en-US" dirty="0"/>
              <a:t>，求数据部分字段</a:t>
            </a:r>
            <a:r>
              <a:rPr lang="en-US" altLang="zh-CN" dirty="0"/>
              <a:t>DATA</a:t>
            </a:r>
            <a:r>
              <a:rPr lang="zh-CN" altLang="en-US" dirty="0"/>
              <a:t>长度。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解：</a:t>
            </a:r>
          </a:p>
          <a:p>
            <a:pPr indent="457200"/>
            <a:r>
              <a:rPr lang="zh-CN" altLang="en-US" dirty="0"/>
              <a:t>首部长度为</a:t>
            </a:r>
            <a:r>
              <a:rPr lang="en-US" altLang="zh-CN" dirty="0"/>
              <a:t>(0101)</a:t>
            </a:r>
            <a:r>
              <a:rPr lang="en-US" altLang="zh-CN" baseline="-25000" dirty="0"/>
              <a:t>2</a:t>
            </a:r>
            <a:r>
              <a:rPr lang="en-US" altLang="zh-CN" dirty="0"/>
              <a:t>*4=5*4=20</a:t>
            </a:r>
            <a:r>
              <a:rPr lang="zh-CN" altLang="en-US" dirty="0"/>
              <a:t>字节</a:t>
            </a:r>
          </a:p>
          <a:p>
            <a:pPr indent="457200"/>
            <a:r>
              <a:rPr lang="zh-CN" altLang="en-US" dirty="0"/>
              <a:t>总长度为</a:t>
            </a:r>
            <a:r>
              <a:rPr lang="en-US" altLang="zh-CN" dirty="0"/>
              <a:t>1020</a:t>
            </a:r>
            <a:r>
              <a:rPr lang="zh-CN" altLang="en-US" dirty="0"/>
              <a:t>字节</a:t>
            </a:r>
          </a:p>
          <a:p>
            <a:r>
              <a:rPr lang="zh-CN" altLang="en-US" dirty="0"/>
              <a:t>故：</a:t>
            </a:r>
          </a:p>
          <a:p>
            <a:pPr indent="457200"/>
            <a:r>
              <a:rPr lang="zh-CN" altLang="en-US" dirty="0"/>
              <a:t>数据部分长度为</a:t>
            </a:r>
            <a:r>
              <a:rPr lang="en-US" altLang="zh-CN" dirty="0"/>
              <a:t>(001111111100)</a:t>
            </a:r>
            <a:r>
              <a:rPr lang="en-US" altLang="zh-CN" baseline="-25000" dirty="0"/>
              <a:t>2</a:t>
            </a:r>
            <a:r>
              <a:rPr lang="en-US" altLang="zh-CN" dirty="0"/>
              <a:t>-20=1020-20=1000</a:t>
            </a:r>
            <a:r>
              <a:rPr lang="zh-CN" altLang="en-US" dirty="0"/>
              <a:t>字节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998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4BE6762-6936-4E11-85BF-7EED8BC761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spAutoFit/>
          </a:bodyPr>
          <a:lstStyle/>
          <a:p>
            <a:r>
              <a:rPr lang="zh-CN" altLang="en-US" dirty="0"/>
              <a:t>已知采用固定长度首部的数据报，数据部分位</a:t>
            </a:r>
            <a:r>
              <a:rPr lang="en-US" altLang="zh-CN" dirty="0"/>
              <a:t>3800</a:t>
            </a:r>
            <a:r>
              <a:rPr lang="zh-CN" altLang="en-US" dirty="0"/>
              <a:t>字节，如何分片？（分片不超过</a:t>
            </a:r>
            <a:r>
              <a:rPr lang="en-US" altLang="zh-CN" dirty="0"/>
              <a:t>1420</a:t>
            </a:r>
            <a:r>
              <a:rPr lang="zh-CN" altLang="en-US" dirty="0"/>
              <a:t>字节）</a:t>
            </a:r>
            <a:endParaRPr lang="en-US" altLang="zh-CN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0B634ED-CE50-4512-8B5F-DC2B887D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730772"/>
              </p:ext>
            </p:extLst>
          </p:nvPr>
        </p:nvGraphicFramePr>
        <p:xfrm>
          <a:off x="493482" y="3659518"/>
          <a:ext cx="11205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506">
                  <a:extLst>
                    <a:ext uri="{9D8B030D-6E8A-4147-A177-3AD203B41FA5}">
                      <a16:colId xmlns:a16="http://schemas.microsoft.com/office/drawing/2014/main" val="4244565251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3415697127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1370464249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1101440198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2533963449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2167933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总长度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标识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FRAG OFFSET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18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原始数据报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20+3800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2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20+1400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45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20+1400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1400/8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8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20+1000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2800/8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4572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719AEF6-707A-40FD-AED3-315099967A5B}"/>
              </a:ext>
            </a:extLst>
          </p:cNvPr>
          <p:cNvSpPr/>
          <p:nvPr/>
        </p:nvSpPr>
        <p:spPr>
          <a:xfrm>
            <a:off x="493482" y="1729283"/>
            <a:ext cx="7793788" cy="415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IP v4</a:t>
            </a:r>
            <a:r>
              <a:rPr lang="zh-CN" altLang="en-US" dirty="0">
                <a:solidFill>
                  <a:schemeClr val="tx1"/>
                </a:solidFill>
              </a:rPr>
              <a:t>数据报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65EEBA-8207-4AC8-8CB8-A3F0EF5A13F4}"/>
              </a:ext>
            </a:extLst>
          </p:cNvPr>
          <p:cNvSpPr/>
          <p:nvPr/>
        </p:nvSpPr>
        <p:spPr>
          <a:xfrm>
            <a:off x="493482" y="2184564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103EB3-DD57-4232-976C-456A55CC3834}"/>
              </a:ext>
            </a:extLst>
          </p:cNvPr>
          <p:cNvSpPr/>
          <p:nvPr/>
        </p:nvSpPr>
        <p:spPr>
          <a:xfrm>
            <a:off x="1807270" y="2184563"/>
            <a:ext cx="6480000" cy="41595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3800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4F48A9-152C-4D50-AF30-663762B5AB2E}"/>
              </a:ext>
            </a:extLst>
          </p:cNvPr>
          <p:cNvSpPr/>
          <p:nvPr/>
        </p:nvSpPr>
        <p:spPr>
          <a:xfrm>
            <a:off x="493482" y="2639844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6F7A59-D58B-4534-95AB-30B3ECD18B43}"/>
              </a:ext>
            </a:extLst>
          </p:cNvPr>
          <p:cNvSpPr/>
          <p:nvPr/>
        </p:nvSpPr>
        <p:spPr>
          <a:xfrm>
            <a:off x="1807270" y="2639844"/>
            <a:ext cx="2160000" cy="4159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0-1399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BEB5C-131F-409C-83F9-E509A6B40645}"/>
              </a:ext>
            </a:extLst>
          </p:cNvPr>
          <p:cNvSpPr/>
          <p:nvPr/>
        </p:nvSpPr>
        <p:spPr>
          <a:xfrm>
            <a:off x="3967270" y="2639844"/>
            <a:ext cx="2160000" cy="415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1400-2799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FBACE7-90E1-468D-A0F9-D2E8DB0C60AE}"/>
              </a:ext>
            </a:extLst>
          </p:cNvPr>
          <p:cNvSpPr/>
          <p:nvPr/>
        </p:nvSpPr>
        <p:spPr>
          <a:xfrm>
            <a:off x="6127270" y="2639844"/>
            <a:ext cx="2160000" cy="415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2800-3799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B30185-F67C-41E1-8806-0D5F973995FD}"/>
              </a:ext>
            </a:extLst>
          </p:cNvPr>
          <p:cNvSpPr/>
          <p:nvPr/>
        </p:nvSpPr>
        <p:spPr>
          <a:xfrm>
            <a:off x="493482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B23621-B79E-4A6C-AA00-EFBAF7928A0A}"/>
              </a:ext>
            </a:extLst>
          </p:cNvPr>
          <p:cNvSpPr/>
          <p:nvPr/>
        </p:nvSpPr>
        <p:spPr>
          <a:xfrm>
            <a:off x="1807270" y="3097580"/>
            <a:ext cx="2160000" cy="4159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0-1399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322DBB-8F69-46A4-BD07-BD941756BC93}"/>
              </a:ext>
            </a:extLst>
          </p:cNvPr>
          <p:cNvSpPr/>
          <p:nvPr/>
        </p:nvSpPr>
        <p:spPr>
          <a:xfrm>
            <a:off x="5222065" y="3097580"/>
            <a:ext cx="2160000" cy="415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1400-2799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D8E9F9-ED70-4029-A09C-5125CAC2F536}"/>
              </a:ext>
            </a:extLst>
          </p:cNvPr>
          <p:cNvSpPr/>
          <p:nvPr/>
        </p:nvSpPr>
        <p:spPr>
          <a:xfrm>
            <a:off x="8636860" y="3097580"/>
            <a:ext cx="2160000" cy="415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2800-3799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56A688-B5F6-4A87-AD32-C4121D6EE405}"/>
              </a:ext>
            </a:extLst>
          </p:cNvPr>
          <p:cNvSpPr/>
          <p:nvPr/>
        </p:nvSpPr>
        <p:spPr>
          <a:xfrm>
            <a:off x="3967270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C6C2EB-0CCB-4413-A333-9314C76A4D2C}"/>
              </a:ext>
            </a:extLst>
          </p:cNvPr>
          <p:cNvSpPr/>
          <p:nvPr/>
        </p:nvSpPr>
        <p:spPr>
          <a:xfrm>
            <a:off x="7382065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</p:spTree>
    <p:extLst>
      <p:ext uri="{BB962C8B-B14F-4D97-AF65-F5344CB8AC3E}">
        <p14:creationId xmlns:p14="http://schemas.microsoft.com/office/powerpoint/2010/main" val="568269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5D6D69-F2FF-4BE2-9E69-86A449293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5602519" cy="646331"/>
          </a:xfrm>
        </p:spPr>
        <p:txBody>
          <a:bodyPr wrap="square">
            <a:spAutoFit/>
          </a:bodyPr>
          <a:lstStyle/>
          <a:p>
            <a:r>
              <a:rPr lang="en-US" altLang="zh-CN" dirty="0"/>
              <a:t>PT</a:t>
            </a:r>
            <a:r>
              <a:rPr lang="zh-CN" altLang="en-US" dirty="0"/>
              <a:t>：测试数据为</a:t>
            </a:r>
            <a:r>
              <a:rPr lang="en-US" altLang="zh-CN" dirty="0"/>
              <a:t>3000</a:t>
            </a:r>
            <a:r>
              <a:rPr lang="zh-CN" altLang="en-US" dirty="0"/>
              <a:t>，观察数据报的分片情况</a:t>
            </a:r>
          </a:p>
          <a:p>
            <a:r>
              <a:rPr lang="zh-CN" altLang="en-US" dirty="0"/>
              <a:t>注意：高层的协议的封帧并不体现在每片中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996054-7F1D-4691-B2CC-BFB90BA2B1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数据报分片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5304EB-0D0E-4AED-AA51-F13EE2BE0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465" y="2496916"/>
            <a:ext cx="5963788" cy="1590897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89925D93-242F-469C-9644-DC9E98AA002C}"/>
              </a:ext>
            </a:extLst>
          </p:cNvPr>
          <p:cNvSpPr txBox="1">
            <a:spLocks/>
          </p:cNvSpPr>
          <p:nvPr/>
        </p:nvSpPr>
        <p:spPr>
          <a:xfrm>
            <a:off x="6096000" y="1394365"/>
            <a:ext cx="5602520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WS</a:t>
            </a:r>
            <a:r>
              <a:rPr lang="zh-CN" altLang="en-US" dirty="0"/>
              <a:t>：测试数据为</a:t>
            </a:r>
            <a:r>
              <a:rPr lang="en-US" altLang="zh-CN" dirty="0"/>
              <a:t>3000</a:t>
            </a:r>
            <a:r>
              <a:rPr lang="zh-CN" altLang="en-US" dirty="0"/>
              <a:t>，观察数据报的分片情况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4568B38-0F85-435B-A11C-BBD76598D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5" y="2352368"/>
            <a:ext cx="56959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9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493CF0-1A29-4463-9EA3-981067659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369332"/>
          </a:xfrm>
        </p:spPr>
        <p:txBody>
          <a:bodyPr>
            <a:spAutoFit/>
          </a:bodyPr>
          <a:lstStyle/>
          <a:p>
            <a:r>
              <a:rPr lang="zh-CN" altLang="en-US" dirty="0"/>
              <a:t>已知某</a:t>
            </a:r>
            <a:r>
              <a:rPr lang="en-US" altLang="zh-CN" dirty="0"/>
              <a:t>IP</a:t>
            </a:r>
            <a:r>
              <a:rPr lang="zh-CN" altLang="en-US" dirty="0"/>
              <a:t>首部如下，求首部校验和。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45BB19C-C8A1-44A6-8B68-2CFAC3A7B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77743"/>
              </p:ext>
            </p:extLst>
          </p:nvPr>
        </p:nvGraphicFramePr>
        <p:xfrm>
          <a:off x="508000" y="1839652"/>
          <a:ext cx="1117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56547639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3095973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2759833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73306479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965694495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814156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075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38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886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生存时间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协议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PRO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首部校验和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CHKSUM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18545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源地址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SRC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2916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目的地址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5007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可选字段，长度可变（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字节）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DATA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425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665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67DE002-2C38-4014-A3EC-777B771CC568}"/>
              </a:ext>
            </a:extLst>
          </p:cNvPr>
          <p:cNvSpPr/>
          <p:nvPr/>
        </p:nvSpPr>
        <p:spPr>
          <a:xfrm>
            <a:off x="796002" y="3862074"/>
            <a:ext cx="4801314" cy="23224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" name="表格 20">
            <a:extLst>
              <a:ext uri="{FF2B5EF4-FFF2-40B4-BE49-F238E27FC236}">
                <a16:creationId xmlns:a16="http://schemas.microsoft.com/office/drawing/2014/main" id="{3B4AB4DA-BB89-4C5F-A542-5BCB67C58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75549"/>
              </p:ext>
            </p:extLst>
          </p:nvPr>
        </p:nvGraphicFramePr>
        <p:xfrm>
          <a:off x="6096001" y="998247"/>
          <a:ext cx="5299995" cy="46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995">
                  <a:extLst>
                    <a:ext uri="{9D8B030D-6E8A-4147-A177-3AD203B41FA5}">
                      <a16:colId xmlns:a16="http://schemas.microsoft.com/office/drawing/2014/main" val="301837864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64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使用不同的子网掩码划分子网</a:t>
                      </a:r>
                      <a:endParaRPr lang="en-US" altLang="zh-CN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不会造成</a:t>
                      </a:r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IP</a:t>
                      </a: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地址的浪费</a:t>
                      </a: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394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9247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17899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9497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558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使用相同的子网掩码划分子网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每个子网的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地址数量相同，容易造成浪费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63328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2346977-1D27-4356-933F-E804D19E1FBC}"/>
              </a:ext>
            </a:extLst>
          </p:cNvPr>
          <p:cNvSpPr/>
          <p:nvPr/>
        </p:nvSpPr>
        <p:spPr>
          <a:xfrm>
            <a:off x="796002" y="738966"/>
            <a:ext cx="4801314" cy="23224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89A50E-C7EA-4440-BABC-75AAEABF7092}"/>
              </a:ext>
            </a:extLst>
          </p:cNvPr>
          <p:cNvSpPr txBox="1"/>
          <p:nvPr/>
        </p:nvSpPr>
        <p:spPr>
          <a:xfrm>
            <a:off x="1565446" y="386207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定长子网掩码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58BECF-3C74-4FCC-9C38-28C2CC55ECB2}"/>
              </a:ext>
            </a:extLst>
          </p:cNvPr>
          <p:cNvSpPr txBox="1"/>
          <p:nvPr/>
        </p:nvSpPr>
        <p:spPr>
          <a:xfrm>
            <a:off x="2495692" y="4669339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FLSM</a:t>
            </a:r>
            <a:endParaRPr lang="zh-CN" altLang="en-US" sz="4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6118E1-8365-44EA-BC21-CA2C5C59D5B8}"/>
              </a:ext>
            </a:extLst>
          </p:cNvPr>
          <p:cNvSpPr txBox="1"/>
          <p:nvPr/>
        </p:nvSpPr>
        <p:spPr>
          <a:xfrm>
            <a:off x="1456947" y="5815158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Fixed Length Subnet Mask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3A4581-6A04-4A26-BBE2-0B172F2FE564}"/>
              </a:ext>
            </a:extLst>
          </p:cNvPr>
          <p:cNvSpPr txBox="1"/>
          <p:nvPr/>
        </p:nvSpPr>
        <p:spPr>
          <a:xfrm>
            <a:off x="1565444" y="738965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变长子网掩码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FFB41A-1A71-4A47-9636-B244B3ACD857}"/>
              </a:ext>
            </a:extLst>
          </p:cNvPr>
          <p:cNvSpPr txBox="1"/>
          <p:nvPr/>
        </p:nvSpPr>
        <p:spPr>
          <a:xfrm>
            <a:off x="2495689" y="1546231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VLSM</a:t>
            </a:r>
            <a:endParaRPr lang="zh-CN" altLang="en-US" sz="4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6CB985-DF3E-4382-A048-CDD5BAE6D8D5}"/>
              </a:ext>
            </a:extLst>
          </p:cNvPr>
          <p:cNvSpPr txBox="1"/>
          <p:nvPr/>
        </p:nvSpPr>
        <p:spPr>
          <a:xfrm>
            <a:off x="1250158" y="2692050"/>
            <a:ext cx="390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Variable Length Subnet Mask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上下 1">
            <a:extLst>
              <a:ext uri="{FF2B5EF4-FFF2-40B4-BE49-F238E27FC236}">
                <a16:creationId xmlns:a16="http://schemas.microsoft.com/office/drawing/2014/main" id="{33BB3757-D925-4CE9-9C71-1736E2BDD6F9}"/>
              </a:ext>
            </a:extLst>
          </p:cNvPr>
          <p:cNvSpPr/>
          <p:nvPr/>
        </p:nvSpPr>
        <p:spPr>
          <a:xfrm>
            <a:off x="3028444" y="3061381"/>
            <a:ext cx="336430" cy="800693"/>
          </a:xfrm>
          <a:prstGeom prst="up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390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E4BF45E-6144-4F18-9F05-4CAF2909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899933"/>
            <a:ext cx="8201025" cy="42576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1F68527-8488-4FF5-A7F4-526A740C1CBD}"/>
              </a:ext>
            </a:extLst>
          </p:cNvPr>
          <p:cNvSpPr/>
          <p:nvPr/>
        </p:nvSpPr>
        <p:spPr>
          <a:xfrm>
            <a:off x="796002" y="540070"/>
            <a:ext cx="10599996" cy="86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C4B8E2-7278-4520-9C2B-E338DF078274}"/>
              </a:ext>
            </a:extLst>
          </p:cNvPr>
          <p:cNvSpPr txBox="1"/>
          <p:nvPr/>
        </p:nvSpPr>
        <p:spPr>
          <a:xfrm>
            <a:off x="927819" y="613739"/>
            <a:ext cx="1033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已知分配到的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类网络为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218.75.230.0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，按下图需求采用定长子网掩码划分子网，请给出子网掩码、各子网的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地址、各主机的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地址以及路由器每个接口的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E6AA05-D187-422B-AEA4-96BAD4F267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定长子网掩码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90726EE-5AD6-4A9E-9B17-71DE58B059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FLSM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09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E4BF45E-6144-4F18-9F05-4CAF2909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8" y="1899933"/>
            <a:ext cx="8201025" cy="42576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1F68527-8488-4FF5-A7F4-526A740C1CBD}"/>
              </a:ext>
            </a:extLst>
          </p:cNvPr>
          <p:cNvSpPr/>
          <p:nvPr/>
        </p:nvSpPr>
        <p:spPr>
          <a:xfrm>
            <a:off x="796002" y="540070"/>
            <a:ext cx="10599996" cy="86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C4B8E2-7278-4520-9C2B-E338DF078274}"/>
              </a:ext>
            </a:extLst>
          </p:cNvPr>
          <p:cNvSpPr txBox="1"/>
          <p:nvPr/>
        </p:nvSpPr>
        <p:spPr>
          <a:xfrm>
            <a:off x="927819" y="613739"/>
            <a:ext cx="1033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已知分配到的地址块为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218.75.230.0/24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，按下图需求给出各网络分配的地址块。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E6AA05-D187-422B-AEA4-96BAD4F267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变长子网掩码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90726EE-5AD6-4A9E-9B17-71DE58B059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FLSM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492CD1-B6B4-44FC-A68A-827EC7FE609F}"/>
              </a:ext>
            </a:extLst>
          </p:cNvPr>
          <p:cNvSpPr txBox="1"/>
          <p:nvPr/>
        </p:nvSpPr>
        <p:spPr>
          <a:xfrm>
            <a:off x="267129" y="1789469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6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9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989CF4-9D91-4014-A1D2-FCF895EAA2FF}"/>
              </a:ext>
            </a:extLst>
          </p:cNvPr>
          <p:cNvSpPr txBox="1"/>
          <p:nvPr/>
        </p:nvSpPr>
        <p:spPr>
          <a:xfrm>
            <a:off x="267129" y="4344436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27bit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18A2F5-333F-42E2-A565-2AD87BD49CB1}"/>
              </a:ext>
            </a:extLst>
          </p:cNvPr>
          <p:cNvSpPr txBox="1"/>
          <p:nvPr/>
        </p:nvSpPr>
        <p:spPr>
          <a:xfrm>
            <a:off x="9801485" y="1789468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10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13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503533-826C-4A1E-B5B1-1C3E77F2984E}"/>
              </a:ext>
            </a:extLst>
          </p:cNvPr>
          <p:cNvSpPr txBox="1"/>
          <p:nvPr/>
        </p:nvSpPr>
        <p:spPr>
          <a:xfrm>
            <a:off x="9801484" y="4344435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12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15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FA3625-97FF-4B0A-83B0-1E96D54D9C86}"/>
              </a:ext>
            </a:extLst>
          </p:cNvPr>
          <p:cNvSpPr txBox="1"/>
          <p:nvPr/>
        </p:nvSpPr>
        <p:spPr>
          <a:xfrm>
            <a:off x="4971814" y="1620352"/>
            <a:ext cx="224837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4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2bit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30bit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83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1" grpId="0"/>
      <p:bldP spid="1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D6F62C3D-AF36-4150-9555-5AF86F34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40156"/>
              </p:ext>
            </p:extLst>
          </p:nvPr>
        </p:nvGraphicFramePr>
        <p:xfrm>
          <a:off x="2989004" y="91440"/>
          <a:ext cx="9202996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749">
                  <a:extLst>
                    <a:ext uri="{9D8B030D-6E8A-4147-A177-3AD203B41FA5}">
                      <a16:colId xmlns:a16="http://schemas.microsoft.com/office/drawing/2014/main" val="320337164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1106059369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5817546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3386734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218.75.230.0000 0000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44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34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218.75.230.31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218.75.230.0001 1111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4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218.75.230.32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26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24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218.75.230.47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218.75.230.0010 1111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22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218.75.230.48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17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569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218.75.230.0011 1111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67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34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59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218.75.230.79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218.75.230.0100 1111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255.255.255.1111 1100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6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41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218.75.230.0101 0011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89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grid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可再分配作它用的地址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0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67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83047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5492CD1-B6B4-44FC-A68A-827EC7FE609F}"/>
              </a:ext>
            </a:extLst>
          </p:cNvPr>
          <p:cNvSpPr txBox="1"/>
          <p:nvPr/>
        </p:nvSpPr>
        <p:spPr>
          <a:xfrm>
            <a:off x="796002" y="161511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endParaRPr lang="zh-CN" altLang="en-US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45CDB3-7AE9-4AE2-ACD0-5DFE0C1D3566}"/>
              </a:ext>
            </a:extLst>
          </p:cNvPr>
          <p:cNvSpPr txBox="1"/>
          <p:nvPr/>
        </p:nvSpPr>
        <p:spPr>
          <a:xfrm>
            <a:off x="109561" y="521109"/>
            <a:ext cx="27122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基本原则：</a:t>
            </a:r>
            <a:endParaRPr lang="en-US" altLang="zh-CN" sz="2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先给哪个网划分地址块都可以。通常先分配地址块数量多的网络；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起始地址必须是当前地址块地址数量的整数倍；</a:t>
            </a:r>
          </a:p>
        </p:txBody>
      </p:sp>
    </p:spTree>
    <p:extLst>
      <p:ext uri="{BB962C8B-B14F-4D97-AF65-F5344CB8AC3E}">
        <p14:creationId xmlns:p14="http://schemas.microsoft.com/office/powerpoint/2010/main" val="700547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9D8ED3F-1782-445D-A2D2-E0662CF81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27217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62EB39-360A-444C-81BB-6FA81ECBA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27" y="380043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07E2D8-C275-4791-899D-EABCFDA8E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373481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706EAD6-EC79-4797-A79B-9C2AC3977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271635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ECF05E-FEDB-4978-8283-8C6BCD57A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170347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E0B43A-FF9D-4E1F-A9A9-AE426639E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651" y="160544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云形 7">
            <a:extLst>
              <a:ext uri="{FF2B5EF4-FFF2-40B4-BE49-F238E27FC236}">
                <a16:creationId xmlns:a16="http://schemas.microsoft.com/office/drawing/2014/main" id="{DCDA3CBD-F4B3-4295-96F6-F6D3CBE997C7}"/>
              </a:ext>
            </a:extLst>
          </p:cNvPr>
          <p:cNvSpPr>
            <a:spLocks noChangeAspect="1"/>
          </p:cNvSpPr>
          <p:nvPr/>
        </p:nvSpPr>
        <p:spPr>
          <a:xfrm>
            <a:off x="1880251" y="2391922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A28ED8-0EB3-4480-AAE1-340B32988F0A}"/>
              </a:ext>
            </a:extLst>
          </p:cNvPr>
          <p:cNvCxnSpPr>
            <a:cxnSpLocks/>
            <a:stCxn id="2" idx="3"/>
            <a:endCxn id="8" idx="2"/>
          </p:cNvCxnSpPr>
          <p:nvPr/>
        </p:nvCxnSpPr>
        <p:spPr>
          <a:xfrm>
            <a:off x="1367808" y="2950393"/>
            <a:ext cx="519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C3F8E52-0EFA-41D5-B9EF-A3E876B0E897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>
            <a:off x="2960251" y="2062646"/>
            <a:ext cx="0" cy="393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15D0DA6-8E02-443D-A062-E427A9580EB1}"/>
              </a:ext>
            </a:extLst>
          </p:cNvPr>
          <p:cNvCxnSpPr>
            <a:cxnSpLocks/>
            <a:stCxn id="6" idx="2"/>
            <a:endCxn id="24" idx="3"/>
          </p:cNvCxnSpPr>
          <p:nvPr/>
        </p:nvCxnSpPr>
        <p:spPr>
          <a:xfrm>
            <a:off x="8942415" y="2160676"/>
            <a:ext cx="0" cy="2924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DBF2D69-8A07-42B1-B194-0EED62DCA098}"/>
              </a:ext>
            </a:extLst>
          </p:cNvPr>
          <p:cNvCxnSpPr>
            <a:cxnSpLocks/>
            <a:stCxn id="3" idx="0"/>
            <a:endCxn id="8" idx="1"/>
          </p:cNvCxnSpPr>
          <p:nvPr/>
        </p:nvCxnSpPr>
        <p:spPr>
          <a:xfrm flipV="1">
            <a:off x="2956327" y="3507675"/>
            <a:ext cx="3924" cy="29276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E0F55E4-A22A-4202-A271-CEE90E0C81C3}"/>
              </a:ext>
            </a:extLst>
          </p:cNvPr>
          <p:cNvCxnSpPr>
            <a:cxnSpLocks/>
            <a:stCxn id="4" idx="0"/>
            <a:endCxn id="24" idx="1"/>
          </p:cNvCxnSpPr>
          <p:nvPr/>
        </p:nvCxnSpPr>
        <p:spPr>
          <a:xfrm flipV="1">
            <a:off x="8942415" y="3505029"/>
            <a:ext cx="0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B5A4F7E-BC7D-49D3-97FA-C5D93C97B404}"/>
              </a:ext>
            </a:extLst>
          </p:cNvPr>
          <p:cNvCxnSpPr>
            <a:cxnSpLocks/>
            <a:stCxn id="5" idx="1"/>
            <a:endCxn id="24" idx="0"/>
          </p:cNvCxnSpPr>
          <p:nvPr/>
        </p:nvCxnSpPr>
        <p:spPr>
          <a:xfrm flipH="1">
            <a:off x="10020615" y="2944950"/>
            <a:ext cx="924309" cy="27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云形 23">
            <a:extLst>
              <a:ext uri="{FF2B5EF4-FFF2-40B4-BE49-F238E27FC236}">
                <a16:creationId xmlns:a16="http://schemas.microsoft.com/office/drawing/2014/main" id="{582DC936-1751-4036-A0F3-8E23F966C2AE}"/>
              </a:ext>
            </a:extLst>
          </p:cNvPr>
          <p:cNvSpPr>
            <a:spLocks noChangeAspect="1"/>
          </p:cNvSpPr>
          <p:nvPr/>
        </p:nvSpPr>
        <p:spPr>
          <a:xfrm>
            <a:off x="7862415" y="2389276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DA1BCDB-A7A5-4FA6-94BB-CB5F1D2E6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2780719"/>
            <a:ext cx="528750" cy="3600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C0650CBA-212A-4F99-BE69-C631C2C22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2770205"/>
            <a:ext cx="528750" cy="360000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295C6AF-EBB2-4EC2-A738-94D5BBC1AC30}"/>
              </a:ext>
            </a:extLst>
          </p:cNvPr>
          <p:cNvCxnSpPr>
            <a:stCxn id="38" idx="1"/>
            <a:endCxn id="8" idx="0"/>
          </p:cNvCxnSpPr>
          <p:nvPr/>
        </p:nvCxnSpPr>
        <p:spPr>
          <a:xfrm flipH="1" flipV="1">
            <a:off x="4038451" y="2950393"/>
            <a:ext cx="575636" cy="103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8D5563F-C7D2-4895-8FB0-1E01C9574ACD}"/>
              </a:ext>
            </a:extLst>
          </p:cNvPr>
          <p:cNvCxnSpPr>
            <a:stCxn id="39" idx="3"/>
            <a:endCxn id="24" idx="2"/>
          </p:cNvCxnSpPr>
          <p:nvPr/>
        </p:nvCxnSpPr>
        <p:spPr>
          <a:xfrm flipV="1">
            <a:off x="7383823" y="2947747"/>
            <a:ext cx="485292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6BE6C69F-FCD0-468C-BB19-756B3DAED3FD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5142837" y="2950205"/>
            <a:ext cx="1712236" cy="105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1742CD24-4324-40AF-8E3E-63F91892CAA5}"/>
              </a:ext>
            </a:extLst>
          </p:cNvPr>
          <p:cNvSpPr txBox="1"/>
          <p:nvPr/>
        </p:nvSpPr>
        <p:spPr>
          <a:xfrm>
            <a:off x="2308796" y="162710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BD4A874-1B75-44EA-9250-6483FCEDDC1F}"/>
              </a:ext>
            </a:extLst>
          </p:cNvPr>
          <p:cNvSpPr txBox="1"/>
          <p:nvPr/>
        </p:nvSpPr>
        <p:spPr>
          <a:xfrm>
            <a:off x="489233" y="276484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E1D834A-7EBF-4531-B34B-50492110B473}"/>
              </a:ext>
            </a:extLst>
          </p:cNvPr>
          <p:cNvSpPr txBox="1"/>
          <p:nvPr/>
        </p:nvSpPr>
        <p:spPr>
          <a:xfrm>
            <a:off x="2267345" y="384437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D0200A0-BAE0-4FFC-8CD4-1329BD3F375B}"/>
              </a:ext>
            </a:extLst>
          </p:cNvPr>
          <p:cNvSpPr txBox="1"/>
          <p:nvPr/>
        </p:nvSpPr>
        <p:spPr>
          <a:xfrm>
            <a:off x="9658165" y="172168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645F462-2253-4EA4-B2CF-8CBB4478F4C6}"/>
              </a:ext>
            </a:extLst>
          </p:cNvPr>
          <p:cNvSpPr txBox="1"/>
          <p:nvPr/>
        </p:nvSpPr>
        <p:spPr>
          <a:xfrm>
            <a:off x="11331799" y="27574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F2E1445-4DF9-4E8D-AE77-D334B46CB58F}"/>
              </a:ext>
            </a:extLst>
          </p:cNvPr>
          <p:cNvSpPr txBox="1"/>
          <p:nvPr/>
        </p:nvSpPr>
        <p:spPr>
          <a:xfrm>
            <a:off x="10031422" y="37364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9B7D3F5-6C82-4AF0-9DF3-9826E54304A2}"/>
              </a:ext>
            </a:extLst>
          </p:cNvPr>
          <p:cNvSpPr txBox="1"/>
          <p:nvPr/>
        </p:nvSpPr>
        <p:spPr>
          <a:xfrm>
            <a:off x="3949831" y="4609707"/>
            <a:ext cx="43845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Q1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：每个主机如何使用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地址？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Q2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：如何保证机构内主机间的专有业务？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Q3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：如果保证机构内主机的通用业务？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E9B7DFE-8395-4D0C-B4FD-43EAC4E33884}"/>
              </a:ext>
            </a:extLst>
          </p:cNvPr>
          <p:cNvSpPr txBox="1"/>
          <p:nvPr/>
        </p:nvSpPr>
        <p:spPr>
          <a:xfrm>
            <a:off x="4652067" y="235966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482CCED-EE87-409F-B15F-81CB679C7B42}"/>
              </a:ext>
            </a:extLst>
          </p:cNvPr>
          <p:cNvSpPr txBox="1"/>
          <p:nvPr/>
        </p:nvSpPr>
        <p:spPr>
          <a:xfrm>
            <a:off x="6884512" y="235966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89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专有地址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Private Address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FF84E2B-08DB-4650-820B-DFF8232F5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929349"/>
              </p:ext>
            </p:extLst>
          </p:nvPr>
        </p:nvGraphicFramePr>
        <p:xfrm>
          <a:off x="1255335" y="723350"/>
          <a:ext cx="96813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266">
                  <a:extLst>
                    <a:ext uri="{9D8B030D-6E8A-4147-A177-3AD203B41FA5}">
                      <a16:colId xmlns:a16="http://schemas.microsoft.com/office/drawing/2014/main" val="978379819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1535890720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2688389073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1212479717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802253670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b="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RFC 1918</a:t>
                      </a:r>
                      <a:endParaRPr lang="zh-CN" altLang="en-US" sz="1800" b="0" baseline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RFC1918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333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10.0.0.0/8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10.0.0.0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10.255.255.255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</a:t>
                      </a:r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APPANET</a:t>
                      </a:r>
                      <a:endParaRPr lang="zh-CN" altLang="en-US" sz="14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0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172.16.0.0/12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172.16.0.0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172.31.255.255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</a:t>
                      </a:r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B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76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192.168.0.0/16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192.168.0.0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192.168.255.255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256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</a:t>
                      </a:r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51013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BB7260C9-4C67-4CF8-AD2E-281D52BD5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424893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704660-606F-45A6-9FC8-31575D4E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27" y="532757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AF0A8E-15F8-412C-B8B5-D76AD8846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526196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BE0777-FE4B-47DF-A4CE-A9666FB41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42434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B21D26F-EE52-45E4-BB6F-CA192AE7B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323061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951FFDB-323E-4CE2-A461-F624A16EA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651" y="313258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云形 11">
            <a:extLst>
              <a:ext uri="{FF2B5EF4-FFF2-40B4-BE49-F238E27FC236}">
                <a16:creationId xmlns:a16="http://schemas.microsoft.com/office/drawing/2014/main" id="{D54103AC-F4D9-4A3C-B64F-1B38330271F7}"/>
              </a:ext>
            </a:extLst>
          </p:cNvPr>
          <p:cNvSpPr>
            <a:spLocks noChangeAspect="1"/>
          </p:cNvSpPr>
          <p:nvPr/>
        </p:nvSpPr>
        <p:spPr>
          <a:xfrm>
            <a:off x="1880251" y="3919065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8114FE9-BFB3-48C3-A1E0-436ACF9716D9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>
            <a:off x="1367808" y="4477536"/>
            <a:ext cx="519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026AEC8-36B2-4A83-9E62-8E68545DF614}"/>
              </a:ext>
            </a:extLst>
          </p:cNvPr>
          <p:cNvCxnSpPr>
            <a:cxnSpLocks/>
            <a:stCxn id="11" idx="2"/>
            <a:endCxn id="12" idx="3"/>
          </p:cNvCxnSpPr>
          <p:nvPr/>
        </p:nvCxnSpPr>
        <p:spPr>
          <a:xfrm>
            <a:off x="2960251" y="3589789"/>
            <a:ext cx="0" cy="393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2B58D80-1587-436D-A043-30A609C962F4}"/>
              </a:ext>
            </a:extLst>
          </p:cNvPr>
          <p:cNvCxnSpPr>
            <a:cxnSpLocks/>
            <a:stCxn id="10" idx="2"/>
            <a:endCxn id="19" idx="3"/>
          </p:cNvCxnSpPr>
          <p:nvPr/>
        </p:nvCxnSpPr>
        <p:spPr>
          <a:xfrm>
            <a:off x="8942415" y="3687819"/>
            <a:ext cx="0" cy="2924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513149B-694F-4E69-AD75-14C43F03CEE9}"/>
              </a:ext>
            </a:extLst>
          </p:cNvPr>
          <p:cNvCxnSpPr>
            <a:cxnSpLocks/>
            <a:stCxn id="7" idx="0"/>
            <a:endCxn id="12" idx="1"/>
          </p:cNvCxnSpPr>
          <p:nvPr/>
        </p:nvCxnSpPr>
        <p:spPr>
          <a:xfrm flipV="1">
            <a:off x="2956327" y="5034818"/>
            <a:ext cx="3924" cy="29276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97D58C-FB3F-4127-ACF5-33D442D068DA}"/>
              </a:ext>
            </a:extLst>
          </p:cNvPr>
          <p:cNvCxnSpPr>
            <a:cxnSpLocks/>
            <a:stCxn id="8" idx="0"/>
            <a:endCxn id="19" idx="1"/>
          </p:cNvCxnSpPr>
          <p:nvPr/>
        </p:nvCxnSpPr>
        <p:spPr>
          <a:xfrm flipV="1">
            <a:off x="8942415" y="5032172"/>
            <a:ext cx="0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0961DB-F33F-44F8-853D-D4B470A91700}"/>
              </a:ext>
            </a:extLst>
          </p:cNvPr>
          <p:cNvCxnSpPr>
            <a:cxnSpLocks/>
            <a:stCxn id="9" idx="1"/>
            <a:endCxn id="19" idx="0"/>
          </p:cNvCxnSpPr>
          <p:nvPr/>
        </p:nvCxnSpPr>
        <p:spPr>
          <a:xfrm flipH="1">
            <a:off x="10020615" y="4472093"/>
            <a:ext cx="924309" cy="27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云形 18">
            <a:extLst>
              <a:ext uri="{FF2B5EF4-FFF2-40B4-BE49-F238E27FC236}">
                <a16:creationId xmlns:a16="http://schemas.microsoft.com/office/drawing/2014/main" id="{5C1573F3-F85E-47B3-861F-C01149A358D9}"/>
              </a:ext>
            </a:extLst>
          </p:cNvPr>
          <p:cNvSpPr>
            <a:spLocks noChangeAspect="1"/>
          </p:cNvSpPr>
          <p:nvPr/>
        </p:nvSpPr>
        <p:spPr>
          <a:xfrm>
            <a:off x="7862415" y="3916419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D30EFD9-346A-49C8-AAB1-CDC19FADB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4307862"/>
            <a:ext cx="52875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86C2BCA-A04F-4C79-9DB2-7EF919504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4297348"/>
            <a:ext cx="528750" cy="360000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3680EBC-4A96-4E76-A974-8EC5B13F7986}"/>
              </a:ext>
            </a:extLst>
          </p:cNvPr>
          <p:cNvCxnSpPr>
            <a:stCxn id="20" idx="1"/>
            <a:endCxn id="12" idx="0"/>
          </p:cNvCxnSpPr>
          <p:nvPr/>
        </p:nvCxnSpPr>
        <p:spPr>
          <a:xfrm flipH="1" flipV="1">
            <a:off x="4038451" y="4477536"/>
            <a:ext cx="575636" cy="103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6C93861-EB96-48FA-A1BA-71556013B674}"/>
              </a:ext>
            </a:extLst>
          </p:cNvPr>
          <p:cNvCxnSpPr>
            <a:stCxn id="21" idx="3"/>
            <a:endCxn id="19" idx="2"/>
          </p:cNvCxnSpPr>
          <p:nvPr/>
        </p:nvCxnSpPr>
        <p:spPr>
          <a:xfrm flipV="1">
            <a:off x="7383823" y="4474890"/>
            <a:ext cx="485292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36E1AEB-F5CA-44D7-8FB2-7CE70C5E8D29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5142837" y="4477348"/>
            <a:ext cx="1712236" cy="105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2ACF4E2-79AF-47F7-942E-1F1BE45DE347}"/>
              </a:ext>
            </a:extLst>
          </p:cNvPr>
          <p:cNvSpPr txBox="1"/>
          <p:nvPr/>
        </p:nvSpPr>
        <p:spPr>
          <a:xfrm>
            <a:off x="2308796" y="315424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B9A05F0-181C-47A2-9326-916965DC444E}"/>
              </a:ext>
            </a:extLst>
          </p:cNvPr>
          <p:cNvSpPr txBox="1"/>
          <p:nvPr/>
        </p:nvSpPr>
        <p:spPr>
          <a:xfrm>
            <a:off x="489233" y="429199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CF2071-7FC0-42F0-898C-1D6BEE450025}"/>
              </a:ext>
            </a:extLst>
          </p:cNvPr>
          <p:cNvSpPr txBox="1"/>
          <p:nvPr/>
        </p:nvSpPr>
        <p:spPr>
          <a:xfrm>
            <a:off x="2267345" y="53715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BF48ED7-5BD6-4463-A43B-13D048F3F7CD}"/>
              </a:ext>
            </a:extLst>
          </p:cNvPr>
          <p:cNvSpPr txBox="1"/>
          <p:nvPr/>
        </p:nvSpPr>
        <p:spPr>
          <a:xfrm>
            <a:off x="9658165" y="324882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B8393C-5F32-4D7B-B32C-533F217CAC0F}"/>
              </a:ext>
            </a:extLst>
          </p:cNvPr>
          <p:cNvSpPr txBox="1"/>
          <p:nvPr/>
        </p:nvSpPr>
        <p:spPr>
          <a:xfrm>
            <a:off x="11331799" y="428459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4975A12-CA9C-4B83-B254-E1C6BCD57249}"/>
              </a:ext>
            </a:extLst>
          </p:cNvPr>
          <p:cNvSpPr txBox="1"/>
          <p:nvPr/>
        </p:nvSpPr>
        <p:spPr>
          <a:xfrm>
            <a:off x="10031422" y="526355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0D05F6-8BAE-499C-857D-36B382EFE71E}"/>
              </a:ext>
            </a:extLst>
          </p:cNvPr>
          <p:cNvSpPr txBox="1"/>
          <p:nvPr/>
        </p:nvSpPr>
        <p:spPr>
          <a:xfrm>
            <a:off x="4652067" y="38868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97BB3E0-E6D2-4BC5-8360-2F673DC2F85E}"/>
              </a:ext>
            </a:extLst>
          </p:cNvPr>
          <p:cNvSpPr txBox="1"/>
          <p:nvPr/>
        </p:nvSpPr>
        <p:spPr>
          <a:xfrm>
            <a:off x="6884512" y="38868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29D0EC9-CA9C-4CCE-85EF-F4096B6E6651}"/>
              </a:ext>
            </a:extLst>
          </p:cNvPr>
          <p:cNvSpPr txBox="1"/>
          <p:nvPr/>
        </p:nvSpPr>
        <p:spPr>
          <a:xfrm>
            <a:off x="3309545" y="3500069"/>
            <a:ext cx="12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10.1.0.0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31D3D6-B60B-4AB6-BC78-338EE9F18AB8}"/>
              </a:ext>
            </a:extLst>
          </p:cNvPr>
          <p:cNvSpPr txBox="1"/>
          <p:nvPr/>
        </p:nvSpPr>
        <p:spPr>
          <a:xfrm>
            <a:off x="7305588" y="3507665"/>
            <a:ext cx="12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10.2.0.0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68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虚拟专有网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Virtual Private Network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FCDCDE-B607-4D3B-964A-DCF79CB53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27217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E3F80D-23AA-49BD-A492-8973A7974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373624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0362AD-3589-49A7-8ECA-FA57906BD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373481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03C668-CB23-4BD1-890D-27B20D444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271635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C976E0-BD67-40D0-99AE-5B39F6AA2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164315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B057E8-E6D1-4C68-A58B-1445E483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164315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B9FD9D32-8FD0-4441-9095-3457D7EBF7D6}"/>
              </a:ext>
            </a:extLst>
          </p:cNvPr>
          <p:cNvSpPr>
            <a:spLocks noChangeAspect="1"/>
          </p:cNvSpPr>
          <p:nvPr/>
        </p:nvSpPr>
        <p:spPr>
          <a:xfrm>
            <a:off x="1880251" y="2391922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A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81511CB-F744-4E01-AD07-4690944208E3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>
            <a:off x="1367808" y="2950393"/>
            <a:ext cx="519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B3AAA6C-4796-4218-86EA-6CA15494AC81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2960251" y="2100353"/>
            <a:ext cx="4400" cy="3554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B8B26C8-5D2F-401F-904B-8708E79CC9BE}"/>
              </a:ext>
            </a:extLst>
          </p:cNvPr>
          <p:cNvCxnSpPr>
            <a:cxnSpLocks/>
            <a:stCxn id="9" idx="2"/>
            <a:endCxn id="18" idx="3"/>
          </p:cNvCxnSpPr>
          <p:nvPr/>
        </p:nvCxnSpPr>
        <p:spPr>
          <a:xfrm>
            <a:off x="8942415" y="2100353"/>
            <a:ext cx="0" cy="3527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25DA9F-1334-4BBC-B9E3-348A34A0C560}"/>
              </a:ext>
            </a:extLst>
          </p:cNvPr>
          <p:cNvCxnSpPr>
            <a:cxnSpLocks/>
            <a:stCxn id="6" idx="0"/>
            <a:endCxn id="11" idx="1"/>
          </p:cNvCxnSpPr>
          <p:nvPr/>
        </p:nvCxnSpPr>
        <p:spPr>
          <a:xfrm flipH="1" flipV="1">
            <a:off x="2960251" y="3507675"/>
            <a:ext cx="4400" cy="228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5FF495-2858-4D79-9D50-FC20FD7271A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flipV="1">
            <a:off x="8942415" y="3505029"/>
            <a:ext cx="0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1239EA-3A99-42E1-B149-9B4417334650}"/>
              </a:ext>
            </a:extLst>
          </p:cNvPr>
          <p:cNvCxnSpPr>
            <a:cxnSpLocks/>
            <a:stCxn id="8" idx="1"/>
            <a:endCxn id="18" idx="0"/>
          </p:cNvCxnSpPr>
          <p:nvPr/>
        </p:nvCxnSpPr>
        <p:spPr>
          <a:xfrm flipH="1">
            <a:off x="10020615" y="2944950"/>
            <a:ext cx="924309" cy="2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云形 17">
            <a:extLst>
              <a:ext uri="{FF2B5EF4-FFF2-40B4-BE49-F238E27FC236}">
                <a16:creationId xmlns:a16="http://schemas.microsoft.com/office/drawing/2014/main" id="{BC52BD86-75E6-4E84-B695-414453721170}"/>
              </a:ext>
            </a:extLst>
          </p:cNvPr>
          <p:cNvSpPr>
            <a:spLocks noChangeAspect="1"/>
          </p:cNvSpPr>
          <p:nvPr/>
        </p:nvSpPr>
        <p:spPr>
          <a:xfrm>
            <a:off x="7862415" y="2389276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B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366DA07-08F5-47F0-8314-56E3AB0E3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2780719"/>
            <a:ext cx="52875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0518387-7523-463C-BC63-2653510F5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2770205"/>
            <a:ext cx="528750" cy="360000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6A57E9-46B1-4910-9085-EBACCA5A3E0B}"/>
              </a:ext>
            </a:extLst>
          </p:cNvPr>
          <p:cNvCxnSpPr>
            <a:stCxn id="19" idx="1"/>
            <a:endCxn id="11" idx="0"/>
          </p:cNvCxnSpPr>
          <p:nvPr/>
        </p:nvCxnSpPr>
        <p:spPr>
          <a:xfrm flipH="1" flipV="1">
            <a:off x="4038451" y="2950393"/>
            <a:ext cx="575636" cy="103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6234435-24EF-43B1-B42E-AEE3C570C9D1}"/>
              </a:ext>
            </a:extLst>
          </p:cNvPr>
          <p:cNvCxnSpPr>
            <a:stCxn id="20" idx="3"/>
            <a:endCxn id="18" idx="2"/>
          </p:cNvCxnSpPr>
          <p:nvPr/>
        </p:nvCxnSpPr>
        <p:spPr>
          <a:xfrm flipV="1">
            <a:off x="7383823" y="2947747"/>
            <a:ext cx="485292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0C24D0-D0C8-4E8D-B6C1-D5651898218F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5142837" y="2950205"/>
            <a:ext cx="1712236" cy="10514"/>
          </a:xfrm>
          <a:prstGeom prst="line">
            <a:avLst/>
          </a:prstGeom>
          <a:ln w="762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B3343F3-06C5-44E3-A2FF-FDB02DFBEB18}"/>
              </a:ext>
            </a:extLst>
          </p:cNvPr>
          <p:cNvSpPr txBox="1"/>
          <p:nvPr/>
        </p:nvSpPr>
        <p:spPr>
          <a:xfrm>
            <a:off x="2321518" y="16813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7BBF7E-3E07-4C9E-BF7C-D018404110C7}"/>
              </a:ext>
            </a:extLst>
          </p:cNvPr>
          <p:cNvSpPr txBox="1"/>
          <p:nvPr/>
        </p:nvSpPr>
        <p:spPr>
          <a:xfrm>
            <a:off x="489233" y="276484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3C4E3-6657-4E18-ACAF-1DD77FD511CC}"/>
              </a:ext>
            </a:extLst>
          </p:cNvPr>
          <p:cNvSpPr txBox="1"/>
          <p:nvPr/>
        </p:nvSpPr>
        <p:spPr>
          <a:xfrm>
            <a:off x="2275669" y="37787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D091FA-E4BA-42D8-BFDA-318BCC245037}"/>
              </a:ext>
            </a:extLst>
          </p:cNvPr>
          <p:cNvSpPr txBox="1"/>
          <p:nvPr/>
        </p:nvSpPr>
        <p:spPr>
          <a:xfrm>
            <a:off x="9118039" y="16813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A448C0-F616-4D50-B8E9-639108E77BB3}"/>
              </a:ext>
            </a:extLst>
          </p:cNvPr>
          <p:cNvSpPr txBox="1"/>
          <p:nvPr/>
        </p:nvSpPr>
        <p:spPr>
          <a:xfrm>
            <a:off x="11331799" y="27574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35DBE0-2E53-47EC-9418-3184D519FF9D}"/>
              </a:ext>
            </a:extLst>
          </p:cNvPr>
          <p:cNvSpPr txBox="1"/>
          <p:nvPr/>
        </p:nvSpPr>
        <p:spPr>
          <a:xfrm>
            <a:off x="9125279" y="37787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33C93A6-8B09-43A9-906D-9F9FFD66A8B4}"/>
              </a:ext>
            </a:extLst>
          </p:cNvPr>
          <p:cNvSpPr txBox="1"/>
          <p:nvPr/>
        </p:nvSpPr>
        <p:spPr>
          <a:xfrm>
            <a:off x="4652067" y="235966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452CA9-CBC9-44DF-8A94-A9BEEEC04E8E}"/>
              </a:ext>
            </a:extLst>
          </p:cNvPr>
          <p:cNvSpPr txBox="1"/>
          <p:nvPr/>
        </p:nvSpPr>
        <p:spPr>
          <a:xfrm>
            <a:off x="6884512" y="235966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299EFBE-1AFF-419E-99C6-761774126A1B}"/>
              </a:ext>
            </a:extLst>
          </p:cNvPr>
          <p:cNvSpPr txBox="1"/>
          <p:nvPr/>
        </p:nvSpPr>
        <p:spPr>
          <a:xfrm>
            <a:off x="5401416" y="2253485"/>
            <a:ext cx="110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VPN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6C0A192-69F0-4097-839B-8C5E4ED84293}"/>
              </a:ext>
            </a:extLst>
          </p:cNvPr>
          <p:cNvSpPr txBox="1"/>
          <p:nvPr/>
        </p:nvSpPr>
        <p:spPr>
          <a:xfrm>
            <a:off x="5449507" y="2988884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Tunnel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045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网络地址转换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Network Address Transition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FCDCDE-B607-4D3B-964A-DCF79CB53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181681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E3F80D-23AA-49BD-A492-8973A7974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2831274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0362AD-3589-49A7-8ECA-FA57906BD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282984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03C668-CB23-4BD1-890D-27B20D444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1811375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C976E0-BD67-40D0-99AE-5B39F6AA2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73817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B057E8-E6D1-4C68-A58B-1445E483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73817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B9FD9D32-8FD0-4441-9095-3457D7EBF7D6}"/>
              </a:ext>
            </a:extLst>
          </p:cNvPr>
          <p:cNvSpPr>
            <a:spLocks noChangeAspect="1"/>
          </p:cNvSpPr>
          <p:nvPr/>
        </p:nvSpPr>
        <p:spPr>
          <a:xfrm>
            <a:off x="1880251" y="1486947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A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81511CB-F744-4E01-AD07-4690944208E3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>
            <a:off x="1367808" y="2045418"/>
            <a:ext cx="519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B3AAA6C-4796-4218-86EA-6CA15494AC81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2960251" y="1195378"/>
            <a:ext cx="4400" cy="3554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B8B26C8-5D2F-401F-904B-8708E79CC9BE}"/>
              </a:ext>
            </a:extLst>
          </p:cNvPr>
          <p:cNvCxnSpPr>
            <a:cxnSpLocks/>
            <a:stCxn id="9" idx="2"/>
            <a:endCxn id="18" idx="3"/>
          </p:cNvCxnSpPr>
          <p:nvPr/>
        </p:nvCxnSpPr>
        <p:spPr>
          <a:xfrm>
            <a:off x="8942415" y="1195378"/>
            <a:ext cx="0" cy="3527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25DA9F-1334-4BBC-B9E3-348A34A0C560}"/>
              </a:ext>
            </a:extLst>
          </p:cNvPr>
          <p:cNvCxnSpPr>
            <a:cxnSpLocks/>
            <a:stCxn id="6" idx="0"/>
            <a:endCxn id="11" idx="1"/>
          </p:cNvCxnSpPr>
          <p:nvPr/>
        </p:nvCxnSpPr>
        <p:spPr>
          <a:xfrm flipH="1" flipV="1">
            <a:off x="2960251" y="2602700"/>
            <a:ext cx="4400" cy="228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5FF495-2858-4D79-9D50-FC20FD7271A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flipV="1">
            <a:off x="8942415" y="2600054"/>
            <a:ext cx="0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1239EA-3A99-42E1-B149-9B4417334650}"/>
              </a:ext>
            </a:extLst>
          </p:cNvPr>
          <p:cNvCxnSpPr>
            <a:cxnSpLocks/>
            <a:stCxn id="8" idx="1"/>
            <a:endCxn id="18" idx="0"/>
          </p:cNvCxnSpPr>
          <p:nvPr/>
        </p:nvCxnSpPr>
        <p:spPr>
          <a:xfrm flipH="1">
            <a:off x="10020615" y="2039975"/>
            <a:ext cx="924309" cy="2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云形 17">
            <a:extLst>
              <a:ext uri="{FF2B5EF4-FFF2-40B4-BE49-F238E27FC236}">
                <a16:creationId xmlns:a16="http://schemas.microsoft.com/office/drawing/2014/main" id="{BC52BD86-75E6-4E84-B695-414453721170}"/>
              </a:ext>
            </a:extLst>
          </p:cNvPr>
          <p:cNvSpPr>
            <a:spLocks noChangeAspect="1"/>
          </p:cNvSpPr>
          <p:nvPr/>
        </p:nvSpPr>
        <p:spPr>
          <a:xfrm>
            <a:off x="7862415" y="1484301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B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366DA07-08F5-47F0-8314-56E3AB0E3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1875744"/>
            <a:ext cx="52875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0518387-7523-463C-BC63-2653510F5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1865230"/>
            <a:ext cx="528750" cy="360000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6A57E9-46B1-4910-9085-EBACCA5A3E0B}"/>
              </a:ext>
            </a:extLst>
          </p:cNvPr>
          <p:cNvCxnSpPr>
            <a:stCxn id="19" idx="1"/>
            <a:endCxn id="11" idx="0"/>
          </p:cNvCxnSpPr>
          <p:nvPr/>
        </p:nvCxnSpPr>
        <p:spPr>
          <a:xfrm flipH="1" flipV="1">
            <a:off x="4038451" y="2045418"/>
            <a:ext cx="575636" cy="103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6234435-24EF-43B1-B42E-AEE3C570C9D1}"/>
              </a:ext>
            </a:extLst>
          </p:cNvPr>
          <p:cNvCxnSpPr>
            <a:stCxn id="20" idx="3"/>
            <a:endCxn id="18" idx="2"/>
          </p:cNvCxnSpPr>
          <p:nvPr/>
        </p:nvCxnSpPr>
        <p:spPr>
          <a:xfrm flipV="1">
            <a:off x="7383823" y="2042772"/>
            <a:ext cx="485292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0C24D0-D0C8-4E8D-B6C1-D5651898218F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5142837" y="2045230"/>
            <a:ext cx="1712236" cy="10514"/>
          </a:xfrm>
          <a:prstGeom prst="line">
            <a:avLst/>
          </a:prstGeom>
          <a:ln w="762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B3343F3-06C5-44E3-A2FF-FDB02DFBEB18}"/>
              </a:ext>
            </a:extLst>
          </p:cNvPr>
          <p:cNvSpPr txBox="1"/>
          <p:nvPr/>
        </p:nvSpPr>
        <p:spPr>
          <a:xfrm>
            <a:off x="2321518" y="7763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7BBF7E-3E07-4C9E-BF7C-D018404110C7}"/>
              </a:ext>
            </a:extLst>
          </p:cNvPr>
          <p:cNvSpPr txBox="1"/>
          <p:nvPr/>
        </p:nvSpPr>
        <p:spPr>
          <a:xfrm>
            <a:off x="489233" y="185987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3C4E3-6657-4E18-ACAF-1DD77FD511CC}"/>
              </a:ext>
            </a:extLst>
          </p:cNvPr>
          <p:cNvSpPr txBox="1"/>
          <p:nvPr/>
        </p:nvSpPr>
        <p:spPr>
          <a:xfrm>
            <a:off x="2275669" y="287377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D091FA-E4BA-42D8-BFDA-318BCC245037}"/>
              </a:ext>
            </a:extLst>
          </p:cNvPr>
          <p:cNvSpPr txBox="1"/>
          <p:nvPr/>
        </p:nvSpPr>
        <p:spPr>
          <a:xfrm>
            <a:off x="9118039" y="7763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A448C0-F616-4D50-B8E9-639108E77BB3}"/>
              </a:ext>
            </a:extLst>
          </p:cNvPr>
          <p:cNvSpPr txBox="1"/>
          <p:nvPr/>
        </p:nvSpPr>
        <p:spPr>
          <a:xfrm>
            <a:off x="11331799" y="185247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35DBE0-2E53-47EC-9418-3184D519FF9D}"/>
              </a:ext>
            </a:extLst>
          </p:cNvPr>
          <p:cNvSpPr txBox="1"/>
          <p:nvPr/>
        </p:nvSpPr>
        <p:spPr>
          <a:xfrm>
            <a:off x="9125279" y="287377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33C93A6-8B09-43A9-906D-9F9FFD66A8B4}"/>
              </a:ext>
            </a:extLst>
          </p:cNvPr>
          <p:cNvSpPr txBox="1"/>
          <p:nvPr/>
        </p:nvSpPr>
        <p:spPr>
          <a:xfrm>
            <a:off x="4652067" y="14546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452CA9-CBC9-44DF-8A94-A9BEEEC04E8E}"/>
              </a:ext>
            </a:extLst>
          </p:cNvPr>
          <p:cNvSpPr txBox="1"/>
          <p:nvPr/>
        </p:nvSpPr>
        <p:spPr>
          <a:xfrm>
            <a:off x="6884512" y="14546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299EFBE-1AFF-419E-99C6-761774126A1B}"/>
              </a:ext>
            </a:extLst>
          </p:cNvPr>
          <p:cNvSpPr txBox="1"/>
          <p:nvPr/>
        </p:nvSpPr>
        <p:spPr>
          <a:xfrm>
            <a:off x="5401416" y="1348510"/>
            <a:ext cx="110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VPN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1D3437B-9ECE-46EA-BF01-C99D40BF6999}"/>
              </a:ext>
            </a:extLst>
          </p:cNvPr>
          <p:cNvSpPr txBox="1"/>
          <p:nvPr/>
        </p:nvSpPr>
        <p:spPr>
          <a:xfrm>
            <a:off x="5449507" y="208390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Tunnel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云形 32">
            <a:extLst>
              <a:ext uri="{FF2B5EF4-FFF2-40B4-BE49-F238E27FC236}">
                <a16:creationId xmlns:a16="http://schemas.microsoft.com/office/drawing/2014/main" id="{56BF97B7-D906-4B70-8C4F-E34430A3905C}"/>
              </a:ext>
            </a:extLst>
          </p:cNvPr>
          <p:cNvSpPr/>
          <p:nvPr/>
        </p:nvSpPr>
        <p:spPr>
          <a:xfrm>
            <a:off x="5176299" y="4123964"/>
            <a:ext cx="1645311" cy="1076458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A0CFD4E-C9D1-4F39-9395-36582E66F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7" y="44335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D86E9BA-D077-428D-A984-DF0F91AA8452}"/>
              </a:ext>
            </a:extLst>
          </p:cNvPr>
          <p:cNvCxnSpPr>
            <a:stCxn id="37" idx="3"/>
            <a:endCxn id="33" idx="2"/>
          </p:cNvCxnSpPr>
          <p:nvPr/>
        </p:nvCxnSpPr>
        <p:spPr>
          <a:xfrm>
            <a:off x="4652067" y="4662193"/>
            <a:ext cx="52933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2E8A1175-3075-4A1F-AA54-C136E172B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355" y="550897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3D9C75A-FF89-4CE7-BE7E-EF6B1D05F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181" y="44335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3BBE5DF-BF7F-4395-A645-EDFAE819F97A}"/>
              </a:ext>
            </a:extLst>
          </p:cNvPr>
          <p:cNvCxnSpPr>
            <a:stCxn id="33" idx="0"/>
            <a:endCxn id="43" idx="1"/>
          </p:cNvCxnSpPr>
          <p:nvPr/>
        </p:nvCxnSpPr>
        <p:spPr>
          <a:xfrm>
            <a:off x="6820239" y="4662193"/>
            <a:ext cx="48794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9B8E862-654E-4746-A21B-9C572A981B34}"/>
              </a:ext>
            </a:extLst>
          </p:cNvPr>
          <p:cNvCxnSpPr>
            <a:stCxn id="42" idx="0"/>
            <a:endCxn id="33" idx="1"/>
          </p:cNvCxnSpPr>
          <p:nvPr/>
        </p:nvCxnSpPr>
        <p:spPr>
          <a:xfrm flipV="1">
            <a:off x="5998955" y="5199276"/>
            <a:ext cx="0" cy="30969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0F56E1D-CEDA-4CB3-8BCB-F7A34348D3A0}"/>
              </a:ext>
            </a:extLst>
          </p:cNvPr>
          <p:cNvCxnSpPr>
            <a:cxnSpLocks/>
            <a:stCxn id="19" idx="2"/>
            <a:endCxn id="62" idx="0"/>
          </p:cNvCxnSpPr>
          <p:nvPr/>
        </p:nvCxnSpPr>
        <p:spPr>
          <a:xfrm>
            <a:off x="4878462" y="2235744"/>
            <a:ext cx="25794" cy="10457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880A14F-95C4-43EA-AF14-936677495175}"/>
              </a:ext>
            </a:extLst>
          </p:cNvPr>
          <p:cNvCxnSpPr>
            <a:cxnSpLocks/>
            <a:stCxn id="20" idx="2"/>
            <a:endCxn id="63" idx="0"/>
          </p:cNvCxnSpPr>
          <p:nvPr/>
        </p:nvCxnSpPr>
        <p:spPr>
          <a:xfrm>
            <a:off x="7119448" y="2225230"/>
            <a:ext cx="25912" cy="105624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D83FCA6-993C-4191-9F08-23798CAEC833}"/>
              </a:ext>
            </a:extLst>
          </p:cNvPr>
          <p:cNvSpPr txBox="1"/>
          <p:nvPr/>
        </p:nvSpPr>
        <p:spPr>
          <a:xfrm>
            <a:off x="3506091" y="3215536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NAT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7836902-6F6D-4EA0-B340-CA54BF64278C}"/>
              </a:ext>
            </a:extLst>
          </p:cNvPr>
          <p:cNvSpPr txBox="1"/>
          <p:nvPr/>
        </p:nvSpPr>
        <p:spPr>
          <a:xfrm>
            <a:off x="7487583" y="3215536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NAT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7BBDDE84-D06B-45B3-AC01-D7F56F17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256" y="3281479"/>
            <a:ext cx="576000" cy="5760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9292DAB9-2C88-4C33-9F27-5896D3027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360" y="3281479"/>
            <a:ext cx="576000" cy="576000"/>
          </a:xfrm>
          <a:prstGeom prst="rect">
            <a:avLst/>
          </a:prstGeom>
        </p:spPr>
      </p:pic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5A92AA1-6BC8-41E2-8F70-099EC893BC97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4904256" y="3857479"/>
            <a:ext cx="415233" cy="61609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4115A64-F3AE-47EA-9F78-CE0CA32897BD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6820162" y="3857479"/>
            <a:ext cx="325198" cy="61609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13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自治系统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Autonomous System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FCDCDE-B607-4D3B-964A-DCF79CB53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2316442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E3F80D-23AA-49BD-A492-8973A7974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333089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0362AD-3589-49A7-8ECA-FA57906BD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3329467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03C668-CB23-4BD1-890D-27B20D444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231099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C976E0-BD67-40D0-99AE-5B39F6AA2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1237802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B057E8-E6D1-4C68-A58B-1445E483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1237802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B9FD9D32-8FD0-4441-9095-3457D7EBF7D6}"/>
              </a:ext>
            </a:extLst>
          </p:cNvPr>
          <p:cNvSpPr>
            <a:spLocks noChangeAspect="1"/>
          </p:cNvSpPr>
          <p:nvPr/>
        </p:nvSpPr>
        <p:spPr>
          <a:xfrm>
            <a:off x="1691711" y="1986571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A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81511CB-F744-4E01-AD07-4690944208E3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>
            <a:off x="1367808" y="2545042"/>
            <a:ext cx="33060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B3AAA6C-4796-4218-86EA-6CA15494AC81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2771711" y="1695002"/>
            <a:ext cx="192940" cy="3554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B8B26C8-5D2F-401F-904B-8708E79CC9BE}"/>
              </a:ext>
            </a:extLst>
          </p:cNvPr>
          <p:cNvCxnSpPr>
            <a:cxnSpLocks/>
            <a:stCxn id="9" idx="2"/>
            <a:endCxn id="18" idx="3"/>
          </p:cNvCxnSpPr>
          <p:nvPr/>
        </p:nvCxnSpPr>
        <p:spPr>
          <a:xfrm>
            <a:off x="8942415" y="1695002"/>
            <a:ext cx="612755" cy="3527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25DA9F-1334-4BBC-B9E3-348A34A0C560}"/>
              </a:ext>
            </a:extLst>
          </p:cNvPr>
          <p:cNvCxnSpPr>
            <a:cxnSpLocks/>
            <a:stCxn id="6" idx="0"/>
            <a:endCxn id="11" idx="1"/>
          </p:cNvCxnSpPr>
          <p:nvPr/>
        </p:nvCxnSpPr>
        <p:spPr>
          <a:xfrm flipH="1" flipV="1">
            <a:off x="2771711" y="3102324"/>
            <a:ext cx="192940" cy="228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5FF495-2858-4D79-9D50-FC20FD7271A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flipV="1">
            <a:off x="8942415" y="3099678"/>
            <a:ext cx="612755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1239EA-3A99-42E1-B149-9B4417334650}"/>
              </a:ext>
            </a:extLst>
          </p:cNvPr>
          <p:cNvCxnSpPr>
            <a:cxnSpLocks/>
            <a:stCxn id="8" idx="1"/>
            <a:endCxn id="18" idx="0"/>
          </p:cNvCxnSpPr>
          <p:nvPr/>
        </p:nvCxnSpPr>
        <p:spPr>
          <a:xfrm flipH="1">
            <a:off x="10633370" y="2539599"/>
            <a:ext cx="311554" cy="2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云形 17">
            <a:extLst>
              <a:ext uri="{FF2B5EF4-FFF2-40B4-BE49-F238E27FC236}">
                <a16:creationId xmlns:a16="http://schemas.microsoft.com/office/drawing/2014/main" id="{BC52BD86-75E6-4E84-B695-414453721170}"/>
              </a:ext>
            </a:extLst>
          </p:cNvPr>
          <p:cNvSpPr>
            <a:spLocks noChangeAspect="1"/>
          </p:cNvSpPr>
          <p:nvPr/>
        </p:nvSpPr>
        <p:spPr>
          <a:xfrm>
            <a:off x="8475170" y="1983925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B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366DA07-08F5-47F0-8314-56E3AB0E3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2375368"/>
            <a:ext cx="52875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0518387-7523-463C-BC63-2653510F5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2364854"/>
            <a:ext cx="528750" cy="360000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6A57E9-46B1-4910-9085-EBACCA5A3E0B}"/>
              </a:ext>
            </a:extLst>
          </p:cNvPr>
          <p:cNvCxnSpPr>
            <a:stCxn id="19" idx="1"/>
            <a:endCxn id="11" idx="0"/>
          </p:cNvCxnSpPr>
          <p:nvPr/>
        </p:nvCxnSpPr>
        <p:spPr>
          <a:xfrm flipH="1" flipV="1">
            <a:off x="3849911" y="2545042"/>
            <a:ext cx="764176" cy="103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6234435-24EF-43B1-B42E-AEE3C570C9D1}"/>
              </a:ext>
            </a:extLst>
          </p:cNvPr>
          <p:cNvCxnSpPr>
            <a:stCxn id="20" idx="3"/>
            <a:endCxn id="18" idx="2"/>
          </p:cNvCxnSpPr>
          <p:nvPr/>
        </p:nvCxnSpPr>
        <p:spPr>
          <a:xfrm flipV="1">
            <a:off x="7383823" y="2542396"/>
            <a:ext cx="1098047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0C24D0-D0C8-4E8D-B6C1-D5651898218F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5142837" y="2544854"/>
            <a:ext cx="1712236" cy="10514"/>
          </a:xfrm>
          <a:prstGeom prst="line">
            <a:avLst/>
          </a:prstGeom>
          <a:ln w="762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B3343F3-06C5-44E3-A2FF-FDB02DFBEB18}"/>
              </a:ext>
            </a:extLst>
          </p:cNvPr>
          <p:cNvSpPr txBox="1"/>
          <p:nvPr/>
        </p:nvSpPr>
        <p:spPr>
          <a:xfrm>
            <a:off x="2321518" y="12759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7BBF7E-3E07-4C9E-BF7C-D018404110C7}"/>
              </a:ext>
            </a:extLst>
          </p:cNvPr>
          <p:cNvSpPr txBox="1"/>
          <p:nvPr/>
        </p:nvSpPr>
        <p:spPr>
          <a:xfrm>
            <a:off x="489233" y="23594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3C4E3-6657-4E18-ACAF-1DD77FD511CC}"/>
              </a:ext>
            </a:extLst>
          </p:cNvPr>
          <p:cNvSpPr txBox="1"/>
          <p:nvPr/>
        </p:nvSpPr>
        <p:spPr>
          <a:xfrm>
            <a:off x="2275669" y="33734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D091FA-E4BA-42D8-BFDA-318BCC245037}"/>
              </a:ext>
            </a:extLst>
          </p:cNvPr>
          <p:cNvSpPr txBox="1"/>
          <p:nvPr/>
        </p:nvSpPr>
        <p:spPr>
          <a:xfrm>
            <a:off x="9118039" y="12759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A448C0-F616-4D50-B8E9-639108E77BB3}"/>
              </a:ext>
            </a:extLst>
          </p:cNvPr>
          <p:cNvSpPr txBox="1"/>
          <p:nvPr/>
        </p:nvSpPr>
        <p:spPr>
          <a:xfrm>
            <a:off x="11331799" y="23521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35DBE0-2E53-47EC-9418-3184D519FF9D}"/>
              </a:ext>
            </a:extLst>
          </p:cNvPr>
          <p:cNvSpPr txBox="1"/>
          <p:nvPr/>
        </p:nvSpPr>
        <p:spPr>
          <a:xfrm>
            <a:off x="9125279" y="33734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33C93A6-8B09-43A9-906D-9F9FFD66A8B4}"/>
              </a:ext>
            </a:extLst>
          </p:cNvPr>
          <p:cNvSpPr txBox="1"/>
          <p:nvPr/>
        </p:nvSpPr>
        <p:spPr>
          <a:xfrm>
            <a:off x="4652067" y="195431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452CA9-CBC9-44DF-8A94-A9BEEEC04E8E}"/>
              </a:ext>
            </a:extLst>
          </p:cNvPr>
          <p:cNvSpPr txBox="1"/>
          <p:nvPr/>
        </p:nvSpPr>
        <p:spPr>
          <a:xfrm>
            <a:off x="6884512" y="195431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299EFBE-1AFF-419E-99C6-761774126A1B}"/>
              </a:ext>
            </a:extLst>
          </p:cNvPr>
          <p:cNvSpPr txBox="1"/>
          <p:nvPr/>
        </p:nvSpPr>
        <p:spPr>
          <a:xfrm>
            <a:off x="5656294" y="219692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VPN</a:t>
            </a:r>
            <a:endParaRPr lang="zh-CN" altLang="en-US" b="1" kern="1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1D3437B-9ECE-46EA-BF01-C99D40BF6999}"/>
              </a:ext>
            </a:extLst>
          </p:cNvPr>
          <p:cNvSpPr txBox="1"/>
          <p:nvPr/>
        </p:nvSpPr>
        <p:spPr>
          <a:xfrm>
            <a:off x="5449507" y="258353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Tunnel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云形 32">
            <a:extLst>
              <a:ext uri="{FF2B5EF4-FFF2-40B4-BE49-F238E27FC236}">
                <a16:creationId xmlns:a16="http://schemas.microsoft.com/office/drawing/2014/main" id="{56BF97B7-D906-4B70-8C4F-E34430A3905C}"/>
              </a:ext>
            </a:extLst>
          </p:cNvPr>
          <p:cNvSpPr/>
          <p:nvPr/>
        </p:nvSpPr>
        <p:spPr>
          <a:xfrm>
            <a:off x="5176299" y="3925998"/>
            <a:ext cx="1645311" cy="1076458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A0CFD4E-C9D1-4F39-9395-36582E66F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7" y="4235627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D86E9BA-D077-428D-A984-DF0F91AA8452}"/>
              </a:ext>
            </a:extLst>
          </p:cNvPr>
          <p:cNvCxnSpPr>
            <a:stCxn id="37" idx="3"/>
            <a:endCxn id="33" idx="2"/>
          </p:cNvCxnSpPr>
          <p:nvPr/>
        </p:nvCxnSpPr>
        <p:spPr>
          <a:xfrm>
            <a:off x="4652067" y="4464227"/>
            <a:ext cx="52933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2E8A1175-3075-4A1F-AA54-C136E172B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355" y="5311004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3D9C75A-FF89-4CE7-BE7E-EF6B1D05F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181" y="4235627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3BBE5DF-BF7F-4395-A645-EDFAE819F97A}"/>
              </a:ext>
            </a:extLst>
          </p:cNvPr>
          <p:cNvCxnSpPr>
            <a:stCxn id="33" idx="0"/>
            <a:endCxn id="43" idx="1"/>
          </p:cNvCxnSpPr>
          <p:nvPr/>
        </p:nvCxnSpPr>
        <p:spPr>
          <a:xfrm>
            <a:off x="6820239" y="4464227"/>
            <a:ext cx="48794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9B8E862-654E-4746-A21B-9C572A981B34}"/>
              </a:ext>
            </a:extLst>
          </p:cNvPr>
          <p:cNvCxnSpPr>
            <a:stCxn id="42" idx="0"/>
            <a:endCxn id="33" idx="1"/>
          </p:cNvCxnSpPr>
          <p:nvPr/>
        </p:nvCxnSpPr>
        <p:spPr>
          <a:xfrm flipV="1">
            <a:off x="5998955" y="5001310"/>
            <a:ext cx="0" cy="30969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0F56E1D-CEDA-4CB3-8BCB-F7A34348D3A0}"/>
              </a:ext>
            </a:extLst>
          </p:cNvPr>
          <p:cNvCxnSpPr>
            <a:cxnSpLocks/>
            <a:stCxn id="19" idx="2"/>
            <a:endCxn id="62" idx="0"/>
          </p:cNvCxnSpPr>
          <p:nvPr/>
        </p:nvCxnSpPr>
        <p:spPr>
          <a:xfrm>
            <a:off x="4878462" y="2735368"/>
            <a:ext cx="6940" cy="5491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880A14F-95C4-43EA-AF14-936677495175}"/>
              </a:ext>
            </a:extLst>
          </p:cNvPr>
          <p:cNvCxnSpPr>
            <a:cxnSpLocks/>
            <a:stCxn id="20" idx="2"/>
            <a:endCxn id="63" idx="0"/>
          </p:cNvCxnSpPr>
          <p:nvPr/>
        </p:nvCxnSpPr>
        <p:spPr>
          <a:xfrm>
            <a:off x="7119448" y="2724854"/>
            <a:ext cx="7058" cy="55963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D83FCA6-993C-4191-9F08-23798CAEC833}"/>
              </a:ext>
            </a:extLst>
          </p:cNvPr>
          <p:cNvSpPr txBox="1"/>
          <p:nvPr/>
        </p:nvSpPr>
        <p:spPr>
          <a:xfrm>
            <a:off x="4077764" y="338781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NAT</a:t>
            </a:r>
            <a:endParaRPr lang="zh-CN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7836902-6F6D-4EA0-B340-CA54BF64278C}"/>
              </a:ext>
            </a:extLst>
          </p:cNvPr>
          <p:cNvSpPr txBox="1"/>
          <p:nvPr/>
        </p:nvSpPr>
        <p:spPr>
          <a:xfrm>
            <a:off x="7352537" y="338781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NAT</a:t>
            </a:r>
            <a:endParaRPr lang="zh-CN" altLang="en-US" b="1" kern="1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7BBDDE84-D06B-45B3-AC01-D7F56F17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2" y="3284485"/>
            <a:ext cx="576000" cy="5760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9292DAB9-2C88-4C33-9F27-5896D3027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506" y="3284485"/>
            <a:ext cx="576000" cy="576000"/>
          </a:xfrm>
          <a:prstGeom prst="rect">
            <a:avLst/>
          </a:prstGeom>
        </p:spPr>
      </p:pic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5A92AA1-6BC8-41E2-8F70-099EC893BC97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4885402" y="3860485"/>
            <a:ext cx="467506" cy="27266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4115A64-F3AE-47EA-9F78-CE0CA32897BD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6801385" y="3860485"/>
            <a:ext cx="325121" cy="27266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3CC7708-068E-4DCC-8A1E-8391A9080945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7079553" y="0"/>
            <a:ext cx="0" cy="1954318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A559D10-81AF-40D8-8456-4D4466760332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4882258" y="0"/>
            <a:ext cx="0" cy="1954318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95FF5D80-0082-4F62-AE77-1CD0C8F4CF74}"/>
              </a:ext>
            </a:extLst>
          </p:cNvPr>
          <p:cNvSpPr txBox="1"/>
          <p:nvPr/>
        </p:nvSpPr>
        <p:spPr>
          <a:xfrm>
            <a:off x="3966943" y="416765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B9802C7-7A37-423C-B4B8-ADC7B7C7C664}"/>
              </a:ext>
            </a:extLst>
          </p:cNvPr>
          <p:cNvSpPr txBox="1"/>
          <p:nvPr/>
        </p:nvSpPr>
        <p:spPr>
          <a:xfrm>
            <a:off x="5555304" y="416765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7866063-16C2-4EEA-934A-FA49A2B2C9E2}"/>
              </a:ext>
            </a:extLst>
          </p:cNvPr>
          <p:cNvSpPr txBox="1"/>
          <p:nvPr/>
        </p:nvSpPr>
        <p:spPr>
          <a:xfrm>
            <a:off x="7308181" y="416765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E08EF6D-BFC6-4D67-BBD2-CD0089DD05CF}"/>
              </a:ext>
            </a:extLst>
          </p:cNvPr>
          <p:cNvSpPr txBox="1"/>
          <p:nvPr/>
        </p:nvSpPr>
        <p:spPr>
          <a:xfrm>
            <a:off x="3952768" y="21442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IGP</a:t>
            </a:r>
            <a:endParaRPr lang="zh-CN" altLang="en-US" sz="18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DD51D61-4DA7-453E-8C91-5981CF5A9788}"/>
              </a:ext>
            </a:extLst>
          </p:cNvPr>
          <p:cNvSpPr txBox="1"/>
          <p:nvPr/>
        </p:nvSpPr>
        <p:spPr>
          <a:xfrm>
            <a:off x="7675750" y="21442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IGP</a:t>
            </a:r>
            <a:endParaRPr lang="zh-CN" altLang="en-US" sz="18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B3F7520-BDDF-4717-8E88-53106866DD9B}"/>
              </a:ext>
            </a:extLst>
          </p:cNvPr>
          <p:cNvSpPr txBox="1"/>
          <p:nvPr/>
        </p:nvSpPr>
        <p:spPr>
          <a:xfrm>
            <a:off x="4292722" y="28436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EGP</a:t>
            </a:r>
            <a:endParaRPr lang="zh-CN" altLang="en-US" sz="18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BEEA04E-80B5-43A1-884D-FA69093887C3}"/>
              </a:ext>
            </a:extLst>
          </p:cNvPr>
          <p:cNvSpPr txBox="1"/>
          <p:nvPr/>
        </p:nvSpPr>
        <p:spPr>
          <a:xfrm>
            <a:off x="7139009" y="28436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EGP</a:t>
            </a:r>
            <a:endParaRPr lang="zh-CN" altLang="en-US" sz="18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4A0CB2D-78B2-4E92-94DA-8302DA916C4A}"/>
              </a:ext>
            </a:extLst>
          </p:cNvPr>
          <p:cNvSpPr txBox="1"/>
          <p:nvPr/>
        </p:nvSpPr>
        <p:spPr>
          <a:xfrm>
            <a:off x="7950778" y="5768204"/>
            <a:ext cx="4054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内部网关协议</a:t>
            </a:r>
            <a:r>
              <a:rPr lang="en-US" altLang="zh-CN" sz="1400" kern="100" dirty="0" err="1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IGP:Interior</a:t>
            </a:r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Gate Protocol</a:t>
            </a:r>
          </a:p>
          <a:p>
            <a:r>
              <a:rPr lang="zh-CN" altLang="en-US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外部网关协议</a:t>
            </a:r>
            <a:r>
              <a:rPr lang="en-US" altLang="zh-CN" sz="1400" kern="100" dirty="0" err="1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EGP:External</a:t>
            </a:r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Gate Protocol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414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内部网关协议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Interior Gate Protocol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82E14AB-3A10-4DFC-A05F-B4122861DC9B}"/>
              </a:ext>
            </a:extLst>
          </p:cNvPr>
          <p:cNvSpPr txBox="1"/>
          <p:nvPr/>
        </p:nvSpPr>
        <p:spPr>
          <a:xfrm>
            <a:off x="3100421" y="249984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RIP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FBD05DB-8076-4889-B21D-DFFA1E738AD7}"/>
              </a:ext>
            </a:extLst>
          </p:cNvPr>
          <p:cNvCxnSpPr>
            <a:cxnSpLocks/>
          </p:cNvCxnSpPr>
          <p:nvPr/>
        </p:nvCxnSpPr>
        <p:spPr>
          <a:xfrm>
            <a:off x="6096000" y="480767"/>
            <a:ext cx="0" cy="4977353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4F8B89F6-B502-4903-91B8-A6F97EDAE201}"/>
              </a:ext>
            </a:extLst>
          </p:cNvPr>
          <p:cNvSpPr txBox="1"/>
          <p:nvPr/>
        </p:nvSpPr>
        <p:spPr>
          <a:xfrm>
            <a:off x="8424411" y="249984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OSPF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0464641-D0C0-4465-B816-50F56E821C4D}"/>
              </a:ext>
            </a:extLst>
          </p:cNvPr>
          <p:cNvSpPr txBox="1"/>
          <p:nvPr/>
        </p:nvSpPr>
        <p:spPr>
          <a:xfrm>
            <a:off x="1803593" y="2896934"/>
            <a:ext cx="319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Routing Information Protocol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25149B7-6C40-40BD-A5DA-F644077DEDC9}"/>
              </a:ext>
            </a:extLst>
          </p:cNvPr>
          <p:cNvSpPr txBox="1"/>
          <p:nvPr/>
        </p:nvSpPr>
        <p:spPr>
          <a:xfrm>
            <a:off x="7411314" y="2896934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Open Shortcut Path First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BF6924-5E7D-4F80-B31B-378FF34531DE}"/>
              </a:ext>
            </a:extLst>
          </p:cNvPr>
          <p:cNvSpPr txBox="1"/>
          <p:nvPr/>
        </p:nvSpPr>
        <p:spPr>
          <a:xfrm>
            <a:off x="2614714" y="3294023"/>
            <a:ext cx="156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路由信息协议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3B40126-4D4F-4347-AD98-283742AB488D}"/>
              </a:ext>
            </a:extLst>
          </p:cNvPr>
          <p:cNvSpPr txBox="1"/>
          <p:nvPr/>
        </p:nvSpPr>
        <p:spPr>
          <a:xfrm>
            <a:off x="7776795" y="3294023"/>
            <a:ext cx="20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开放最短路径优先</a:t>
            </a:r>
          </a:p>
        </p:txBody>
      </p:sp>
    </p:spTree>
    <p:extLst>
      <p:ext uri="{BB962C8B-B14F-4D97-AF65-F5344CB8AC3E}">
        <p14:creationId xmlns:p14="http://schemas.microsoft.com/office/powerpoint/2010/main" val="1026672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97EE97A-3029-4F73-8482-570F2CB8C81E}"/>
              </a:ext>
            </a:extLst>
          </p:cNvPr>
          <p:cNvSpPr/>
          <p:nvPr/>
        </p:nvSpPr>
        <p:spPr>
          <a:xfrm>
            <a:off x="8601200" y="1090198"/>
            <a:ext cx="3361413" cy="12618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基于距离，也称跳数（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hop count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）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路由器到直连网络的距离：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路由器到非直连网络的距离：所经过的路由器数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内部网关协议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Interior Gate Protocol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82E14AB-3A10-4DFC-A05F-B4122861DC9B}"/>
              </a:ext>
            </a:extLst>
          </p:cNvPr>
          <p:cNvSpPr txBox="1"/>
          <p:nvPr/>
        </p:nvSpPr>
        <p:spPr>
          <a:xfrm>
            <a:off x="246669" y="55449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RIP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FBD05DB-8076-4889-B21D-DFFA1E738AD7}"/>
              </a:ext>
            </a:extLst>
          </p:cNvPr>
          <p:cNvCxnSpPr>
            <a:cxnSpLocks/>
          </p:cNvCxnSpPr>
          <p:nvPr/>
        </p:nvCxnSpPr>
        <p:spPr>
          <a:xfrm flipH="1">
            <a:off x="246669" y="923825"/>
            <a:ext cx="11698663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30464641-D0C0-4465-B816-50F56E821C4D}"/>
              </a:ext>
            </a:extLst>
          </p:cNvPr>
          <p:cNvSpPr txBox="1"/>
          <p:nvPr/>
        </p:nvSpPr>
        <p:spPr>
          <a:xfrm>
            <a:off x="246669" y="923825"/>
            <a:ext cx="319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Routing Information Protocol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BF6924-5E7D-4F80-B31B-378FF34531DE}"/>
              </a:ext>
            </a:extLst>
          </p:cNvPr>
          <p:cNvSpPr txBox="1"/>
          <p:nvPr/>
        </p:nvSpPr>
        <p:spPr>
          <a:xfrm>
            <a:off x="10375672" y="554493"/>
            <a:ext cx="156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路由信息协议</a:t>
            </a: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A0EB2307-63B2-4D9D-886C-1CA20B2DE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421" y="2545237"/>
            <a:ext cx="528750" cy="360000"/>
          </a:xfrm>
          <a:prstGeom prst="rect">
            <a:avLst/>
          </a:prstGeom>
        </p:spPr>
      </p:pic>
      <p:sp>
        <p:nvSpPr>
          <p:cNvPr id="36" name="云形 35">
            <a:extLst>
              <a:ext uri="{FF2B5EF4-FFF2-40B4-BE49-F238E27FC236}">
                <a16:creationId xmlns:a16="http://schemas.microsoft.com/office/drawing/2014/main" id="{D238F33D-C037-4D0B-8761-FA88FA5FB7D0}"/>
              </a:ext>
            </a:extLst>
          </p:cNvPr>
          <p:cNvSpPr/>
          <p:nvPr/>
        </p:nvSpPr>
        <p:spPr>
          <a:xfrm>
            <a:off x="1036023" y="239109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NET1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3" name="云形 82">
            <a:extLst>
              <a:ext uri="{FF2B5EF4-FFF2-40B4-BE49-F238E27FC236}">
                <a16:creationId xmlns:a16="http://schemas.microsoft.com/office/drawing/2014/main" id="{040B6228-D0F1-4229-A540-6D9A151E61B6}"/>
              </a:ext>
            </a:extLst>
          </p:cNvPr>
          <p:cNvSpPr/>
          <p:nvPr/>
        </p:nvSpPr>
        <p:spPr>
          <a:xfrm>
            <a:off x="4830781" y="239109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NET2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1ED173B1-3D0F-4806-A12A-DAA70931C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421" y="3789575"/>
            <a:ext cx="528750" cy="360000"/>
          </a:xfrm>
          <a:prstGeom prst="rect">
            <a:avLst/>
          </a:prstGeom>
        </p:spPr>
      </p:pic>
      <p:sp>
        <p:nvSpPr>
          <p:cNvPr id="86" name="云形 85">
            <a:extLst>
              <a:ext uri="{FF2B5EF4-FFF2-40B4-BE49-F238E27FC236}">
                <a16:creationId xmlns:a16="http://schemas.microsoft.com/office/drawing/2014/main" id="{30978726-3B5D-4C9B-927F-161F5ED7CC17}"/>
              </a:ext>
            </a:extLst>
          </p:cNvPr>
          <p:cNvSpPr/>
          <p:nvPr/>
        </p:nvSpPr>
        <p:spPr>
          <a:xfrm>
            <a:off x="1501724" y="3969575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NET3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77F11973-267C-4312-AF2B-562E2C8E9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046" y="4930900"/>
            <a:ext cx="528750" cy="360000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8E57C9B-9344-4DBC-AD09-3627E8BBC23D}"/>
              </a:ext>
            </a:extLst>
          </p:cNvPr>
          <p:cNvCxnSpPr>
            <a:stCxn id="36" idx="0"/>
            <a:endCxn id="82" idx="1"/>
          </p:cNvCxnSpPr>
          <p:nvPr/>
        </p:nvCxnSpPr>
        <p:spPr>
          <a:xfrm>
            <a:off x="1998743" y="2725237"/>
            <a:ext cx="110167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88C17A-21F2-479E-B542-600308D2CE22}"/>
              </a:ext>
            </a:extLst>
          </p:cNvPr>
          <p:cNvCxnSpPr>
            <a:stCxn id="82" idx="3"/>
            <a:endCxn id="83" idx="2"/>
          </p:cNvCxnSpPr>
          <p:nvPr/>
        </p:nvCxnSpPr>
        <p:spPr>
          <a:xfrm>
            <a:off x="3629171" y="2725237"/>
            <a:ext cx="120459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4D37C66-A6CC-48DC-8977-BBAA729A398F}"/>
              </a:ext>
            </a:extLst>
          </p:cNvPr>
          <p:cNvCxnSpPr>
            <a:stCxn id="83" idx="1"/>
            <a:endCxn id="85" idx="3"/>
          </p:cNvCxnSpPr>
          <p:nvPr/>
        </p:nvCxnSpPr>
        <p:spPr>
          <a:xfrm flipH="1">
            <a:off x="3629171" y="3058664"/>
            <a:ext cx="1683372" cy="91091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76760DD-C66A-4A23-87E3-F887F8FB713A}"/>
              </a:ext>
            </a:extLst>
          </p:cNvPr>
          <p:cNvCxnSpPr>
            <a:stCxn id="85" idx="1"/>
            <a:endCxn id="86" idx="0"/>
          </p:cNvCxnSpPr>
          <p:nvPr/>
        </p:nvCxnSpPr>
        <p:spPr>
          <a:xfrm flipH="1">
            <a:off x="2464444" y="3969575"/>
            <a:ext cx="635977" cy="3341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13D4D2E-60D4-4BD6-8484-B3B9180A297D}"/>
              </a:ext>
            </a:extLst>
          </p:cNvPr>
          <p:cNvCxnSpPr>
            <a:stCxn id="86" idx="1"/>
            <a:endCxn id="87" idx="1"/>
          </p:cNvCxnSpPr>
          <p:nvPr/>
        </p:nvCxnSpPr>
        <p:spPr>
          <a:xfrm>
            <a:off x="1983486" y="4637142"/>
            <a:ext cx="852560" cy="4737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云形 89">
            <a:extLst>
              <a:ext uri="{FF2B5EF4-FFF2-40B4-BE49-F238E27FC236}">
                <a16:creationId xmlns:a16="http://schemas.microsoft.com/office/drawing/2014/main" id="{9AE709E3-85EC-44E8-BD81-84B5B6F00EE7}"/>
              </a:ext>
            </a:extLst>
          </p:cNvPr>
          <p:cNvSpPr/>
          <p:nvPr/>
        </p:nvSpPr>
        <p:spPr>
          <a:xfrm>
            <a:off x="4396811" y="4776760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NET4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9F0D7CC-2D05-475D-8A5B-BBC1211C3F87}"/>
              </a:ext>
            </a:extLst>
          </p:cNvPr>
          <p:cNvCxnSpPr>
            <a:stCxn id="87" idx="3"/>
            <a:endCxn id="90" idx="2"/>
          </p:cNvCxnSpPr>
          <p:nvPr/>
        </p:nvCxnSpPr>
        <p:spPr>
          <a:xfrm>
            <a:off x="3364796" y="5110900"/>
            <a:ext cx="103500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86A57B04-8ABA-4BEE-B609-71A0090C1908}"/>
              </a:ext>
            </a:extLst>
          </p:cNvPr>
          <p:cNvSpPr txBox="1"/>
          <p:nvPr/>
        </p:nvSpPr>
        <p:spPr>
          <a:xfrm>
            <a:off x="3130419" y="215793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AEC3BF4-A26B-46A9-BD58-B52C58D4466E}"/>
              </a:ext>
            </a:extLst>
          </p:cNvPr>
          <p:cNvSpPr txBox="1"/>
          <p:nvPr/>
        </p:nvSpPr>
        <p:spPr>
          <a:xfrm>
            <a:off x="3129547" y="343024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F569E01-96AA-4501-B77B-2A46B5D3BC5A}"/>
              </a:ext>
            </a:extLst>
          </p:cNvPr>
          <p:cNvSpPr txBox="1"/>
          <p:nvPr/>
        </p:nvSpPr>
        <p:spPr>
          <a:xfrm>
            <a:off x="2870230" y="456824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77FD0A0A-980B-4B8F-A55E-BC3FEA00740E}"/>
              </a:ext>
            </a:extLst>
          </p:cNvPr>
          <p:cNvCxnSpPr>
            <a:stCxn id="96" idx="1"/>
          </p:cNvCxnSpPr>
          <p:nvPr/>
        </p:nvCxnSpPr>
        <p:spPr>
          <a:xfrm flipH="1">
            <a:off x="2271860" y="2342604"/>
            <a:ext cx="8585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E6BA24D4-08F1-4150-BC96-9AC54F3C27E8}"/>
              </a:ext>
            </a:extLst>
          </p:cNvPr>
          <p:cNvCxnSpPr>
            <a:stCxn id="96" idx="3"/>
          </p:cNvCxnSpPr>
          <p:nvPr/>
        </p:nvCxnSpPr>
        <p:spPr>
          <a:xfrm>
            <a:off x="3590801" y="2342604"/>
            <a:ext cx="64066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D568914-5D76-4F3C-A1FD-38AF61578BDF}"/>
              </a:ext>
            </a:extLst>
          </p:cNvPr>
          <p:cNvCxnSpPr>
            <a:stCxn id="82" idx="2"/>
          </p:cNvCxnSpPr>
          <p:nvPr/>
        </p:nvCxnSpPr>
        <p:spPr>
          <a:xfrm flipH="1">
            <a:off x="2549582" y="2905237"/>
            <a:ext cx="815214" cy="10500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07D2DB96-1C3E-4C11-BB8D-0CC2F41250A0}"/>
              </a:ext>
            </a:extLst>
          </p:cNvPr>
          <p:cNvCxnSpPr>
            <a:stCxn id="82" idx="2"/>
            <a:endCxn id="90" idx="3"/>
          </p:cNvCxnSpPr>
          <p:nvPr/>
        </p:nvCxnSpPr>
        <p:spPr>
          <a:xfrm>
            <a:off x="3364796" y="2905237"/>
            <a:ext cx="1513777" cy="19097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FD9D40E-A2AA-4A25-9EE7-5E9C82F14212}"/>
              </a:ext>
            </a:extLst>
          </p:cNvPr>
          <p:cNvSpPr txBox="1"/>
          <p:nvPr/>
        </p:nvSpPr>
        <p:spPr>
          <a:xfrm>
            <a:off x="2242458" y="199491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A9DF83E8-9532-4D81-BBBA-75F2E2AFCB46}"/>
              </a:ext>
            </a:extLst>
          </p:cNvPr>
          <p:cNvSpPr txBox="1"/>
          <p:nvPr/>
        </p:nvSpPr>
        <p:spPr>
          <a:xfrm>
            <a:off x="3888267" y="198267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E9FA9D6-744A-41B6-86CF-2A08AD678D60}"/>
              </a:ext>
            </a:extLst>
          </p:cNvPr>
          <p:cNvSpPr txBox="1"/>
          <p:nvPr/>
        </p:nvSpPr>
        <p:spPr>
          <a:xfrm>
            <a:off x="2357249" y="3484414"/>
            <a:ext cx="32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endParaRPr lang="zh-CN" altLang="en-US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F3DA436-3E79-40B8-B461-2FB7FC301025}"/>
              </a:ext>
            </a:extLst>
          </p:cNvPr>
          <p:cNvSpPr txBox="1"/>
          <p:nvPr/>
        </p:nvSpPr>
        <p:spPr>
          <a:xfrm>
            <a:off x="4751495" y="422742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</a:t>
            </a:r>
            <a:endParaRPr lang="zh-CN" altLang="en-US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4A3036F-CCFA-42D8-A72C-B3EC66928AC3}"/>
              </a:ext>
            </a:extLst>
          </p:cNvPr>
          <p:cNvSpPr/>
          <p:nvPr/>
        </p:nvSpPr>
        <p:spPr>
          <a:xfrm>
            <a:off x="8601200" y="2421077"/>
            <a:ext cx="3361414" cy="15029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最大距离：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表示不可达；因此适用于小型网络；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dirty="0">
                <a:solidFill>
                  <a:schemeClr val="tx1"/>
                </a:solidFill>
              </a:rPr>
              <a:t>按照约定的时间间隔，定期和相邻路由器交换全部信息；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简单、系统开销小；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好消息传播快、坏消息传播慢；</a:t>
            </a:r>
            <a:endParaRPr lang="en-US" altLang="zh-CN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A3826B5-7F4A-43FC-9295-380950282686}"/>
              </a:ext>
            </a:extLst>
          </p:cNvPr>
          <p:cNvSpPr/>
          <p:nvPr/>
        </p:nvSpPr>
        <p:spPr>
          <a:xfrm>
            <a:off x="7913268" y="1090198"/>
            <a:ext cx="708611" cy="1263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定义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C66A334-88D2-42ED-BB5E-6D8B7BEBC35B}"/>
              </a:ext>
            </a:extLst>
          </p:cNvPr>
          <p:cNvSpPr/>
          <p:nvPr/>
        </p:nvSpPr>
        <p:spPr>
          <a:xfrm>
            <a:off x="7892587" y="2417615"/>
            <a:ext cx="708611" cy="15029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特点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61A40F-7453-41C3-8575-EB1A652F741A}"/>
              </a:ext>
            </a:extLst>
          </p:cNvPr>
          <p:cNvSpPr/>
          <p:nvPr/>
        </p:nvSpPr>
        <p:spPr>
          <a:xfrm>
            <a:off x="8601200" y="5075054"/>
            <a:ext cx="3361414" cy="1009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RFC 1058</a:t>
            </a:r>
          </a:p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RFC 2453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F18F8B9-887F-44E2-8BC3-89A61BDC6FF8}"/>
              </a:ext>
            </a:extLst>
          </p:cNvPr>
          <p:cNvSpPr/>
          <p:nvPr/>
        </p:nvSpPr>
        <p:spPr>
          <a:xfrm>
            <a:off x="7892587" y="5071592"/>
            <a:ext cx="708611" cy="1009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标准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5062B55-2A53-48AB-9DF1-4CAA0A8D79EF}"/>
              </a:ext>
            </a:extLst>
          </p:cNvPr>
          <p:cNvSpPr/>
          <p:nvPr/>
        </p:nvSpPr>
        <p:spPr>
          <a:xfrm>
            <a:off x="8621879" y="4000265"/>
            <a:ext cx="3361414" cy="1009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</a:rPr>
              <a:t>目的网络 距离 下一跳路由器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just"/>
            <a:endParaRPr lang="en-US" altLang="zh-CN" sz="1400" dirty="0">
              <a:solidFill>
                <a:schemeClr val="tx1"/>
              </a:solidFill>
            </a:endParaRPr>
          </a:p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NET4  3  R2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342C6A-00FB-4021-B8AA-A833902B1C9B}"/>
              </a:ext>
            </a:extLst>
          </p:cNvPr>
          <p:cNvSpPr/>
          <p:nvPr/>
        </p:nvSpPr>
        <p:spPr>
          <a:xfrm>
            <a:off x="7913266" y="3996803"/>
            <a:ext cx="708611" cy="1009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3274266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>
            <a:extLst>
              <a:ext uri="{FF2B5EF4-FFF2-40B4-BE49-F238E27FC236}">
                <a16:creationId xmlns:a16="http://schemas.microsoft.com/office/drawing/2014/main" id="{66FB3ED7-D6F5-47B7-9E4A-22116919D9F1}"/>
              </a:ext>
            </a:extLst>
          </p:cNvPr>
          <p:cNvSpPr/>
          <p:nvPr/>
        </p:nvSpPr>
        <p:spPr>
          <a:xfrm>
            <a:off x="776377" y="1483743"/>
            <a:ext cx="3131389" cy="251306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7EE97A-3029-4F73-8482-570F2CB8C81E}"/>
              </a:ext>
            </a:extLst>
          </p:cNvPr>
          <p:cNvSpPr/>
          <p:nvPr/>
        </p:nvSpPr>
        <p:spPr>
          <a:xfrm>
            <a:off x="8601200" y="1090198"/>
            <a:ext cx="3361413" cy="653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使用</a:t>
            </a:r>
            <a:r>
              <a:rPr lang="zh-CN" altLang="en-US" sz="14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分布式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的链路状态协议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内部网关协议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Interior Gate Protocol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82E14AB-3A10-4DFC-A05F-B4122861DC9B}"/>
              </a:ext>
            </a:extLst>
          </p:cNvPr>
          <p:cNvSpPr txBox="1"/>
          <p:nvPr/>
        </p:nvSpPr>
        <p:spPr>
          <a:xfrm>
            <a:off x="246669" y="554493"/>
            <a:ext cx="736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OSPF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FBD05DB-8076-4889-B21D-DFFA1E738AD7}"/>
              </a:ext>
            </a:extLst>
          </p:cNvPr>
          <p:cNvCxnSpPr>
            <a:cxnSpLocks/>
          </p:cNvCxnSpPr>
          <p:nvPr/>
        </p:nvCxnSpPr>
        <p:spPr>
          <a:xfrm flipH="1">
            <a:off x="246669" y="923825"/>
            <a:ext cx="11698663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30464641-D0C0-4465-B816-50F56E821C4D}"/>
              </a:ext>
            </a:extLst>
          </p:cNvPr>
          <p:cNvSpPr txBox="1"/>
          <p:nvPr/>
        </p:nvSpPr>
        <p:spPr>
          <a:xfrm>
            <a:off x="246669" y="923825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Open Shortcut Path First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BF6924-5E7D-4F80-B31B-378FF34531DE}"/>
              </a:ext>
            </a:extLst>
          </p:cNvPr>
          <p:cNvSpPr txBox="1"/>
          <p:nvPr/>
        </p:nvSpPr>
        <p:spPr>
          <a:xfrm>
            <a:off x="9914006" y="554493"/>
            <a:ext cx="20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开放最短路径优先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4A3036F-CCFA-42D8-A72C-B3EC66928AC3}"/>
              </a:ext>
            </a:extLst>
          </p:cNvPr>
          <p:cNvSpPr/>
          <p:nvPr/>
        </p:nvSpPr>
        <p:spPr>
          <a:xfrm>
            <a:off x="8601200" y="1816701"/>
            <a:ext cx="3361414" cy="21073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en-US" sz="14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泛洪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，向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中所有路由器发送和本路由器相邻的所有路由器的链路状态信息；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当且仅当链路状态发生变化时才发送信息；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en-US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分层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的原理，将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进一步划分为若干区域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，以减少网络上的通信量；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A3826B5-7F4A-43FC-9295-380950282686}"/>
              </a:ext>
            </a:extLst>
          </p:cNvPr>
          <p:cNvSpPr/>
          <p:nvPr/>
        </p:nvSpPr>
        <p:spPr>
          <a:xfrm>
            <a:off x="7913268" y="1090198"/>
            <a:ext cx="708611" cy="6537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定义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C66A334-88D2-42ED-BB5E-6D8B7BEBC35B}"/>
              </a:ext>
            </a:extLst>
          </p:cNvPr>
          <p:cNvSpPr/>
          <p:nvPr/>
        </p:nvSpPr>
        <p:spPr>
          <a:xfrm>
            <a:off x="7892587" y="1816702"/>
            <a:ext cx="708611" cy="21038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特点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61A40F-7453-41C3-8575-EB1A652F741A}"/>
              </a:ext>
            </a:extLst>
          </p:cNvPr>
          <p:cNvSpPr/>
          <p:nvPr/>
        </p:nvSpPr>
        <p:spPr>
          <a:xfrm>
            <a:off x="8601200" y="5075054"/>
            <a:ext cx="3361414" cy="1009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RFC 2328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F18F8B9-887F-44E2-8BC3-89A61BDC6FF8}"/>
              </a:ext>
            </a:extLst>
          </p:cNvPr>
          <p:cNvSpPr/>
          <p:nvPr/>
        </p:nvSpPr>
        <p:spPr>
          <a:xfrm>
            <a:off x="7892587" y="5071592"/>
            <a:ext cx="708611" cy="1009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标准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5062B55-2A53-48AB-9DF1-4CAA0A8D79EF}"/>
              </a:ext>
            </a:extLst>
          </p:cNvPr>
          <p:cNvSpPr/>
          <p:nvPr/>
        </p:nvSpPr>
        <p:spPr>
          <a:xfrm>
            <a:off x="8621879" y="4000265"/>
            <a:ext cx="3361414" cy="1009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342C6A-00FB-4021-B8AA-A833902B1C9B}"/>
              </a:ext>
            </a:extLst>
          </p:cNvPr>
          <p:cNvSpPr/>
          <p:nvPr/>
        </p:nvSpPr>
        <p:spPr>
          <a:xfrm>
            <a:off x="7913266" y="3996803"/>
            <a:ext cx="708611" cy="1009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内容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CAD32A0-22FF-444C-928E-9CE146EDA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214" y="1743958"/>
            <a:ext cx="528750" cy="360000"/>
          </a:xfrm>
          <a:prstGeom prst="rect">
            <a:avLst/>
          </a:prstGeom>
        </p:spPr>
      </p:pic>
      <p:sp>
        <p:nvSpPr>
          <p:cNvPr id="17" name="云形 16">
            <a:extLst>
              <a:ext uri="{FF2B5EF4-FFF2-40B4-BE49-F238E27FC236}">
                <a16:creationId xmlns:a16="http://schemas.microsoft.com/office/drawing/2014/main" id="{4D6CE3A7-8B86-4B7F-A0EC-5A62D139FB95}"/>
              </a:ext>
            </a:extLst>
          </p:cNvPr>
          <p:cNvSpPr/>
          <p:nvPr/>
        </p:nvSpPr>
        <p:spPr>
          <a:xfrm>
            <a:off x="1229277" y="1791519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NET1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7C59D81-CA68-4DE9-BDDE-4190F7919081}"/>
              </a:ext>
            </a:extLst>
          </p:cNvPr>
          <p:cNvCxnSpPr>
            <a:cxnSpLocks/>
            <a:stCxn id="17" idx="0"/>
            <a:endCxn id="16" idx="1"/>
          </p:cNvCxnSpPr>
          <p:nvPr/>
        </p:nvCxnSpPr>
        <p:spPr>
          <a:xfrm flipV="1">
            <a:off x="2191997" y="1923958"/>
            <a:ext cx="288217" cy="20170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云形 20">
            <a:extLst>
              <a:ext uri="{FF2B5EF4-FFF2-40B4-BE49-F238E27FC236}">
                <a16:creationId xmlns:a16="http://schemas.microsoft.com/office/drawing/2014/main" id="{4DB2C3F5-B715-4920-864A-C36A9446D62E}"/>
              </a:ext>
            </a:extLst>
          </p:cNvPr>
          <p:cNvSpPr/>
          <p:nvPr/>
        </p:nvSpPr>
        <p:spPr>
          <a:xfrm>
            <a:off x="2480214" y="2802312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NET2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B25925F-AF5F-4A1F-9C66-1B480E0314E5}"/>
              </a:ext>
            </a:extLst>
          </p:cNvPr>
          <p:cNvCxnSpPr>
            <a:stCxn id="16" idx="2"/>
            <a:endCxn id="21" idx="3"/>
          </p:cNvCxnSpPr>
          <p:nvPr/>
        </p:nvCxnSpPr>
        <p:spPr>
          <a:xfrm>
            <a:off x="2744589" y="2103958"/>
            <a:ext cx="217387" cy="7365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9A18EE13-ACA8-4E48-855C-84940DBD1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904" y="2637709"/>
            <a:ext cx="528750" cy="360000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BE2BA74-A0AA-4235-8AE4-4D783C7AA73D}"/>
              </a:ext>
            </a:extLst>
          </p:cNvPr>
          <p:cNvCxnSpPr>
            <a:stCxn id="21" idx="0"/>
            <a:endCxn id="26" idx="1"/>
          </p:cNvCxnSpPr>
          <p:nvPr/>
        </p:nvCxnSpPr>
        <p:spPr>
          <a:xfrm flipV="1">
            <a:off x="3442934" y="2817709"/>
            <a:ext cx="684970" cy="3187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ED174379-5F0C-4131-82FB-8A45DD9E886E}"/>
              </a:ext>
            </a:extLst>
          </p:cNvPr>
          <p:cNvSpPr/>
          <p:nvPr/>
        </p:nvSpPr>
        <p:spPr>
          <a:xfrm>
            <a:off x="3090959" y="3559841"/>
            <a:ext cx="3131389" cy="251306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381835F-76DD-422A-B0E9-A76B3C632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796" y="3820056"/>
            <a:ext cx="528750" cy="360000"/>
          </a:xfrm>
          <a:prstGeom prst="rect">
            <a:avLst/>
          </a:prstGeom>
        </p:spPr>
      </p:pic>
      <p:sp>
        <p:nvSpPr>
          <p:cNvPr id="33" name="云形 32">
            <a:extLst>
              <a:ext uri="{FF2B5EF4-FFF2-40B4-BE49-F238E27FC236}">
                <a16:creationId xmlns:a16="http://schemas.microsoft.com/office/drawing/2014/main" id="{6FB0DC22-063A-468E-99AD-C8CD579F9C4D}"/>
              </a:ext>
            </a:extLst>
          </p:cNvPr>
          <p:cNvSpPr/>
          <p:nvPr/>
        </p:nvSpPr>
        <p:spPr>
          <a:xfrm>
            <a:off x="3328929" y="413988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NET5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F29CBDB-E118-49AB-9490-1B9FEBE6F870}"/>
              </a:ext>
            </a:extLst>
          </p:cNvPr>
          <p:cNvCxnSpPr>
            <a:cxnSpLocks/>
            <a:stCxn id="33" idx="0"/>
            <a:endCxn id="32" idx="1"/>
          </p:cNvCxnSpPr>
          <p:nvPr/>
        </p:nvCxnSpPr>
        <p:spPr>
          <a:xfrm flipV="1">
            <a:off x="4291649" y="4000056"/>
            <a:ext cx="503147" cy="47397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云形 34">
            <a:extLst>
              <a:ext uri="{FF2B5EF4-FFF2-40B4-BE49-F238E27FC236}">
                <a16:creationId xmlns:a16="http://schemas.microsoft.com/office/drawing/2014/main" id="{1AF9E6A2-DD48-4249-8E88-7B84F750FD6C}"/>
              </a:ext>
            </a:extLst>
          </p:cNvPr>
          <p:cNvSpPr/>
          <p:nvPr/>
        </p:nvSpPr>
        <p:spPr>
          <a:xfrm>
            <a:off x="5108457" y="4513873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NET6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56FE786-26BF-4E57-8B15-27072D3B08AB}"/>
              </a:ext>
            </a:extLst>
          </p:cNvPr>
          <p:cNvCxnSpPr>
            <a:stCxn id="32" idx="2"/>
            <a:endCxn id="35" idx="3"/>
          </p:cNvCxnSpPr>
          <p:nvPr/>
        </p:nvCxnSpPr>
        <p:spPr>
          <a:xfrm>
            <a:off x="5059171" y="4180056"/>
            <a:ext cx="531048" cy="3720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6B29C74-E9A9-4E38-AD49-6CF04B1626F5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>
            <a:off x="4392279" y="2997709"/>
            <a:ext cx="666892" cy="82234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2038B7CF-26AB-4451-97FE-F602940624E8}"/>
              </a:ext>
            </a:extLst>
          </p:cNvPr>
          <p:cNvSpPr/>
          <p:nvPr/>
        </p:nvSpPr>
        <p:spPr>
          <a:xfrm>
            <a:off x="4647912" y="1030251"/>
            <a:ext cx="3131389" cy="251306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DDA7BF89-990F-478E-9A39-B248C5576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024" y="1549825"/>
            <a:ext cx="528750" cy="360000"/>
          </a:xfrm>
          <a:prstGeom prst="rect">
            <a:avLst/>
          </a:prstGeom>
        </p:spPr>
      </p:pic>
      <p:sp>
        <p:nvSpPr>
          <p:cNvPr id="47" name="云形 46">
            <a:extLst>
              <a:ext uri="{FF2B5EF4-FFF2-40B4-BE49-F238E27FC236}">
                <a16:creationId xmlns:a16="http://schemas.microsoft.com/office/drawing/2014/main" id="{3374B425-7A94-4189-B044-E3ADF1ABBAE9}"/>
              </a:ext>
            </a:extLst>
          </p:cNvPr>
          <p:cNvSpPr/>
          <p:nvPr/>
        </p:nvSpPr>
        <p:spPr>
          <a:xfrm>
            <a:off x="5038652" y="233575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NET3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1585DA2-9AD6-49BB-BB5B-671185512B00}"/>
              </a:ext>
            </a:extLst>
          </p:cNvPr>
          <p:cNvCxnSpPr>
            <a:cxnSpLocks/>
            <a:stCxn id="47" idx="3"/>
            <a:endCxn id="46" idx="1"/>
          </p:cNvCxnSpPr>
          <p:nvPr/>
        </p:nvCxnSpPr>
        <p:spPr>
          <a:xfrm flipV="1">
            <a:off x="5520414" y="1729825"/>
            <a:ext cx="139610" cy="64414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云形 51">
            <a:extLst>
              <a:ext uri="{FF2B5EF4-FFF2-40B4-BE49-F238E27FC236}">
                <a16:creationId xmlns:a16="http://schemas.microsoft.com/office/drawing/2014/main" id="{5BED593D-CDF0-409C-9399-1B1423E31326}"/>
              </a:ext>
            </a:extLst>
          </p:cNvPr>
          <p:cNvSpPr/>
          <p:nvPr/>
        </p:nvSpPr>
        <p:spPr>
          <a:xfrm>
            <a:off x="6598392" y="1769818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NET4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C7416CA-E708-4035-8D5C-1D96FC380B90}"/>
              </a:ext>
            </a:extLst>
          </p:cNvPr>
          <p:cNvCxnSpPr>
            <a:cxnSpLocks/>
            <a:stCxn id="46" idx="3"/>
            <a:endCxn id="52" idx="2"/>
          </p:cNvCxnSpPr>
          <p:nvPr/>
        </p:nvCxnSpPr>
        <p:spPr>
          <a:xfrm>
            <a:off x="6188774" y="1729825"/>
            <a:ext cx="412607" cy="37413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CE848ED-ADFC-46BE-B22F-0E848A615A83}"/>
              </a:ext>
            </a:extLst>
          </p:cNvPr>
          <p:cNvCxnSpPr>
            <a:cxnSpLocks/>
            <a:stCxn id="26" idx="3"/>
            <a:endCxn id="47" idx="2"/>
          </p:cNvCxnSpPr>
          <p:nvPr/>
        </p:nvCxnSpPr>
        <p:spPr>
          <a:xfrm flipV="1">
            <a:off x="4656654" y="2669897"/>
            <a:ext cx="384987" cy="1478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E240329F-C658-4EF4-AC59-96604B04145E}"/>
              </a:ext>
            </a:extLst>
          </p:cNvPr>
          <p:cNvSpPr txBox="1"/>
          <p:nvPr/>
        </p:nvSpPr>
        <p:spPr>
          <a:xfrm>
            <a:off x="3010755" y="1899137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R10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AF57B95-1E14-4909-95CF-4A747A035E02}"/>
              </a:ext>
            </a:extLst>
          </p:cNvPr>
          <p:cNvSpPr txBox="1"/>
          <p:nvPr/>
        </p:nvSpPr>
        <p:spPr>
          <a:xfrm>
            <a:off x="5548586" y="124466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R20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745A117-C0F9-450C-B430-936FE3413FD8}"/>
              </a:ext>
            </a:extLst>
          </p:cNvPr>
          <p:cNvSpPr txBox="1"/>
          <p:nvPr/>
        </p:nvSpPr>
        <p:spPr>
          <a:xfrm>
            <a:off x="4171798" y="376296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R30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A83237-9929-4075-A642-D02A426677A9}"/>
              </a:ext>
            </a:extLst>
          </p:cNvPr>
          <p:cNvSpPr txBox="1"/>
          <p:nvPr/>
        </p:nvSpPr>
        <p:spPr>
          <a:xfrm>
            <a:off x="3981470" y="230529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R0</a:t>
            </a:r>
            <a:endParaRPr lang="zh-CN" altLang="en-US" b="1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5036112-5E33-4441-B73C-958D6DC1FA66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4392279" y="1650466"/>
            <a:ext cx="0" cy="98724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2821E691-B977-46F3-8139-BFB85EBBCE0D}"/>
              </a:ext>
            </a:extLst>
          </p:cNvPr>
          <p:cNvSpPr txBox="1"/>
          <p:nvPr/>
        </p:nvSpPr>
        <p:spPr>
          <a:xfrm>
            <a:off x="4153346" y="1252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b="1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FCAAA85-603C-4224-BCC1-2A9369C208CF}"/>
              </a:ext>
            </a:extLst>
          </p:cNvPr>
          <p:cNvSpPr txBox="1"/>
          <p:nvPr/>
        </p:nvSpPr>
        <p:spPr>
          <a:xfrm>
            <a:off x="849050" y="2637709"/>
            <a:ext cx="736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endParaRPr lang="zh-CN" altLang="en-US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3C9887B-140F-484C-A990-1BC2413657D7}"/>
              </a:ext>
            </a:extLst>
          </p:cNvPr>
          <p:cNvSpPr txBox="1"/>
          <p:nvPr/>
        </p:nvSpPr>
        <p:spPr>
          <a:xfrm>
            <a:off x="3829970" y="5581734"/>
            <a:ext cx="736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endParaRPr lang="zh-CN" altLang="en-US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FFDD7D2-B367-42FC-A94E-B0F49FE02986}"/>
              </a:ext>
            </a:extLst>
          </p:cNvPr>
          <p:cNvSpPr txBox="1"/>
          <p:nvPr/>
        </p:nvSpPr>
        <p:spPr>
          <a:xfrm>
            <a:off x="5806770" y="3066014"/>
            <a:ext cx="736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endParaRPr lang="zh-CN" altLang="en-US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75FF14DA-D817-4A5B-A13F-81734BBC4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302" y="3017099"/>
            <a:ext cx="528750" cy="360000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68C541A2-FD3E-47DB-B1A0-C7C9715111E5}"/>
              </a:ext>
            </a:extLst>
          </p:cNvPr>
          <p:cNvCxnSpPr>
            <a:endCxn id="81" idx="0"/>
          </p:cNvCxnSpPr>
          <p:nvPr/>
        </p:nvCxnSpPr>
        <p:spPr>
          <a:xfrm>
            <a:off x="1711038" y="2489959"/>
            <a:ext cx="65639" cy="5271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6BE7EE47-0018-474B-8795-753458BD2521}"/>
              </a:ext>
            </a:extLst>
          </p:cNvPr>
          <p:cNvSpPr txBox="1"/>
          <p:nvPr/>
        </p:nvSpPr>
        <p:spPr>
          <a:xfrm>
            <a:off x="1662392" y="33586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EB2FB6B-C58E-431A-B303-405D64A9D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807" y="2706014"/>
            <a:ext cx="528750" cy="360000"/>
          </a:xfrm>
          <a:prstGeom prst="rect">
            <a:avLst/>
          </a:prstGeom>
        </p:spPr>
      </p:pic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27B05410-574E-498E-9910-CD936A6DCAC0}"/>
              </a:ext>
            </a:extLst>
          </p:cNvPr>
          <p:cNvCxnSpPr>
            <a:stCxn id="52" idx="1"/>
            <a:endCxn id="94" idx="0"/>
          </p:cNvCxnSpPr>
          <p:nvPr/>
        </p:nvCxnSpPr>
        <p:spPr>
          <a:xfrm flipH="1">
            <a:off x="6522182" y="2437385"/>
            <a:ext cx="557972" cy="2686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889A0271-5774-45B9-929E-1205659FBFF7}"/>
              </a:ext>
            </a:extLst>
          </p:cNvPr>
          <p:cNvSpPr txBox="1"/>
          <p:nvPr/>
        </p:nvSpPr>
        <p:spPr>
          <a:xfrm>
            <a:off x="6758347" y="271147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DDDAED24-CB16-4FCE-B443-AFDD6C070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128" y="5264212"/>
            <a:ext cx="528750" cy="360000"/>
          </a:xfrm>
          <a:prstGeom prst="rect">
            <a:avLst/>
          </a:prstGeom>
        </p:spPr>
      </p:pic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1B373663-8432-46CF-9518-EF38AD650009}"/>
              </a:ext>
            </a:extLst>
          </p:cNvPr>
          <p:cNvCxnSpPr>
            <a:stCxn id="35" idx="1"/>
            <a:endCxn id="104" idx="3"/>
          </p:cNvCxnSpPr>
          <p:nvPr/>
        </p:nvCxnSpPr>
        <p:spPr>
          <a:xfrm flipH="1">
            <a:off x="4772878" y="5181440"/>
            <a:ext cx="817341" cy="262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1360971-D528-4405-A2ED-24A0AB9F8712}"/>
              </a:ext>
            </a:extLst>
          </p:cNvPr>
          <p:cNvSpPr txBox="1"/>
          <p:nvPr/>
        </p:nvSpPr>
        <p:spPr>
          <a:xfrm>
            <a:off x="4314607" y="491905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R31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19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路由协议的特点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Features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61A40F-7453-41C3-8575-EB1A652F741A}"/>
              </a:ext>
            </a:extLst>
          </p:cNvPr>
          <p:cNvSpPr/>
          <p:nvPr/>
        </p:nvSpPr>
        <p:spPr>
          <a:xfrm>
            <a:off x="6890873" y="1331191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完整性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F18F8B9-887F-44E2-8BC3-89A61BDC6FF8}"/>
              </a:ext>
            </a:extLst>
          </p:cNvPr>
          <p:cNvSpPr/>
          <p:nvPr/>
        </p:nvSpPr>
        <p:spPr>
          <a:xfrm>
            <a:off x="6182260" y="1331191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709701-F427-4C29-A01F-5F49E7AEA451}"/>
              </a:ext>
            </a:extLst>
          </p:cNvPr>
          <p:cNvSpPr/>
          <p:nvPr/>
        </p:nvSpPr>
        <p:spPr>
          <a:xfrm>
            <a:off x="1939713" y="1331191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正确性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1C51A7-4E88-4122-9E85-ED4E635B0D1C}"/>
              </a:ext>
            </a:extLst>
          </p:cNvPr>
          <p:cNvSpPr/>
          <p:nvPr/>
        </p:nvSpPr>
        <p:spPr>
          <a:xfrm>
            <a:off x="5301127" y="1331191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EA07342-A5B6-4B4E-A13E-793021ACF9C7}"/>
              </a:ext>
            </a:extLst>
          </p:cNvPr>
          <p:cNvSpPr/>
          <p:nvPr/>
        </p:nvSpPr>
        <p:spPr>
          <a:xfrm>
            <a:off x="6890873" y="2317449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适应性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F9D218-B35A-4083-AC9E-505C684A3253}"/>
              </a:ext>
            </a:extLst>
          </p:cNvPr>
          <p:cNvSpPr/>
          <p:nvPr/>
        </p:nvSpPr>
        <p:spPr>
          <a:xfrm>
            <a:off x="6182260" y="2317449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DF08DF-8DF4-4E8D-AC04-2FA5481C0C7C}"/>
              </a:ext>
            </a:extLst>
          </p:cNvPr>
          <p:cNvSpPr/>
          <p:nvPr/>
        </p:nvSpPr>
        <p:spPr>
          <a:xfrm>
            <a:off x="1939713" y="2317449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简单性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16CB199-18C0-4E9F-AF75-63F875FC0018}"/>
              </a:ext>
            </a:extLst>
          </p:cNvPr>
          <p:cNvSpPr/>
          <p:nvPr/>
        </p:nvSpPr>
        <p:spPr>
          <a:xfrm>
            <a:off x="5301127" y="2317449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EB20C6-543E-413F-B675-A9144AA78CAD}"/>
              </a:ext>
            </a:extLst>
          </p:cNvPr>
          <p:cNvSpPr/>
          <p:nvPr/>
        </p:nvSpPr>
        <p:spPr>
          <a:xfrm>
            <a:off x="6890873" y="3303707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公平性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19A667-EFEB-4FA8-8FD2-C5C4E11F955F}"/>
              </a:ext>
            </a:extLst>
          </p:cNvPr>
          <p:cNvSpPr/>
          <p:nvPr/>
        </p:nvSpPr>
        <p:spPr>
          <a:xfrm>
            <a:off x="6182260" y="3303707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727C5F-A354-4866-A3EC-83F0300AFB99}"/>
              </a:ext>
            </a:extLst>
          </p:cNvPr>
          <p:cNvSpPr/>
          <p:nvPr/>
        </p:nvSpPr>
        <p:spPr>
          <a:xfrm>
            <a:off x="1939713" y="3303707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稳定性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385CFD-07D5-4042-8A3A-9ACE24387A82}"/>
              </a:ext>
            </a:extLst>
          </p:cNvPr>
          <p:cNvSpPr/>
          <p:nvPr/>
        </p:nvSpPr>
        <p:spPr>
          <a:xfrm>
            <a:off x="5301127" y="3303707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D3BDD1-F9EB-4302-8C30-F950568A15CA}"/>
              </a:ext>
            </a:extLst>
          </p:cNvPr>
          <p:cNvSpPr/>
          <p:nvPr/>
        </p:nvSpPr>
        <p:spPr>
          <a:xfrm>
            <a:off x="1939713" y="4289965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最佳性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595060-5659-471A-80E9-8088199BEA47}"/>
              </a:ext>
            </a:extLst>
          </p:cNvPr>
          <p:cNvSpPr/>
          <p:nvPr/>
        </p:nvSpPr>
        <p:spPr>
          <a:xfrm>
            <a:off x="5301127" y="4289965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51B0B2-EC3D-4457-A870-17F7CD2C2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724" y="1538791"/>
            <a:ext cx="304800" cy="304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0EC5FF-17EF-408F-B68F-B00480231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724" y="2525049"/>
            <a:ext cx="304800" cy="304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1E2E50-78EC-47D2-897A-72D392669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726" y="2520736"/>
            <a:ext cx="304800" cy="304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8195C32-E612-4C2F-A2A9-5037B5E96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724" y="3509979"/>
            <a:ext cx="304800" cy="304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BFD79A-2AAC-49B2-8836-7307561AA2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726" y="3509979"/>
            <a:ext cx="304800" cy="3048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A1F4E430-28A8-45BA-8EE6-5C10312253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849" y="4497565"/>
            <a:ext cx="304800" cy="3048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4F39622-88D4-4400-AD91-A487E23623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726" y="1538791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13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ern="100" dirty="0" smtClean="0">
            <a:latin typeface="Courier New" panose="02070309020205020404" pitchFamily="49" charset="0"/>
            <a:ea typeface="微软雅黑 Light" panose="020B0502040204020203" pitchFamily="34" charset="-122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4108</TotalTime>
  <Words>4817</Words>
  <Application>Microsoft Office PowerPoint</Application>
  <PresentationFormat>宽屏</PresentationFormat>
  <Paragraphs>1474</Paragraphs>
  <Slides>77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6" baseType="lpstr">
      <vt:lpstr>等线</vt:lpstr>
      <vt:lpstr>等线 Light</vt:lpstr>
      <vt:lpstr>方正大黑简体</vt:lpstr>
      <vt:lpstr>微软雅黑</vt:lpstr>
      <vt:lpstr>微软雅黑 Light</vt:lpstr>
      <vt:lpstr>禹卫书法行书简体
</vt:lpstr>
      <vt:lpstr>Arial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冷 军</dc:creator>
  <cp:lastModifiedBy>冷 军</cp:lastModifiedBy>
  <cp:revision>1301</cp:revision>
  <dcterms:created xsi:type="dcterms:W3CDTF">2021-05-10T03:08:00Z</dcterms:created>
  <dcterms:modified xsi:type="dcterms:W3CDTF">2021-06-07T10:21:31Z</dcterms:modified>
</cp:coreProperties>
</file>