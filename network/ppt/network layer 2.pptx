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9" r:id="rId3"/>
    <p:sldId id="363" r:id="rId4"/>
    <p:sldId id="331" r:id="rId5"/>
    <p:sldId id="333" r:id="rId6"/>
    <p:sldId id="340" r:id="rId7"/>
    <p:sldId id="354" r:id="rId8"/>
    <p:sldId id="355" r:id="rId9"/>
    <p:sldId id="353" r:id="rId10"/>
    <p:sldId id="285" r:id="rId11"/>
    <p:sldId id="286" r:id="rId12"/>
    <p:sldId id="287" r:id="rId13"/>
    <p:sldId id="332" r:id="rId14"/>
    <p:sldId id="329" r:id="rId15"/>
    <p:sldId id="334" r:id="rId16"/>
    <p:sldId id="335" r:id="rId17"/>
    <p:sldId id="337" r:id="rId18"/>
    <p:sldId id="338" r:id="rId19"/>
    <p:sldId id="341" r:id="rId20"/>
    <p:sldId id="351" r:id="rId21"/>
    <p:sldId id="356" r:id="rId22"/>
    <p:sldId id="357" r:id="rId23"/>
    <p:sldId id="358" r:id="rId24"/>
    <p:sldId id="364" r:id="rId25"/>
    <p:sldId id="359" r:id="rId26"/>
    <p:sldId id="360" r:id="rId27"/>
    <p:sldId id="361" r:id="rId28"/>
    <p:sldId id="362" r:id="rId29"/>
    <p:sldId id="352" r:id="rId30"/>
    <p:sldId id="342" r:id="rId31"/>
    <p:sldId id="343" r:id="rId32"/>
    <p:sldId id="344" r:id="rId33"/>
    <p:sldId id="345" r:id="rId34"/>
    <p:sldId id="346" r:id="rId35"/>
    <p:sldId id="365" r:id="rId36"/>
    <p:sldId id="348" r:id="rId37"/>
    <p:sldId id="349" r:id="rId38"/>
    <p:sldId id="350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826E2D-E5C6-4FD5-A5C6-D45C69F5FC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63771B-85A0-4D40-93AD-775BCAFE2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978076-5E27-4312-8546-DBC3565EF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7EA337-9417-41BF-B4ED-C6E244B57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832143-6F9D-4F34-9DD6-A89B642DF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934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E6750A-6D01-441E-8164-A050E979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23CED-B3A6-413A-A4D1-A84BDFC36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C78197-B102-42EB-8655-E7988D64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40BAC1-75C0-4539-87E7-06E19B93B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A9FF2C-E412-42C6-85B4-CE26DFB42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74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EFDF76-EABB-4658-850F-6DA4A36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0FF01A-9DD0-4E2C-903E-1CF766E1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946440-E7BA-4F06-B739-AA6282BF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5A724A-04D9-42D3-99EC-FE738C1CA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E76F39-BA48-4A2B-AFBB-11877AA3C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CDBFE0-ED90-4466-839C-C911071C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884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616397-F5E8-4B5F-92DE-33CC06EB2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A45FA1-754A-44D2-8DEA-D1B4EA660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6FBC1-EE19-4C95-A1C9-77D1AEE04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6FBE30-E47C-49FE-B3EF-FF481711C3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54F479E-F25A-4F9E-AF5B-6C4A4F979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A88492-D821-4A91-987A-C97959D04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F923E2-D40D-47C6-B457-11A911F6A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001F6-8E24-477C-868A-6943983B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000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79D79B-5CB1-4DC3-AA67-9FD228EE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6F8F9B-2CEA-4095-80B0-E58CBDAA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5B9BE2-2456-48D0-999D-089733303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519B60-B78D-41E1-88D7-AE16231C4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51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 baseline="0">
                <a:latin typeface="Cuprum" panose="00000500000000000000" pitchFamily="2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21087"/>
            <a:ext cx="5257800" cy="369332"/>
          </a:xfrm>
        </p:spPr>
        <p:txBody>
          <a:bodyPr wrap="square" anchor="t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53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8AEF94-F678-4A55-935D-673491E3B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A33FEB-ED31-4D25-BDCA-A67DFA9C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72F691-429D-4CA1-B7C2-BBD35AC8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075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5A25C81B-668B-401B-9DED-65265B6824E3}"/>
              </a:ext>
            </a:extLst>
          </p:cNvPr>
          <p:cNvSpPr/>
          <p:nvPr/>
        </p:nvSpPr>
        <p:spPr>
          <a:xfrm>
            <a:off x="742627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AF257E-E9C5-43DA-8389-F7BF22F9570E}"/>
              </a:ext>
            </a:extLst>
          </p:cNvPr>
          <p:cNvCxnSpPr>
            <a:cxnSpLocks/>
          </p:cNvCxnSpPr>
          <p:nvPr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A6BDB4A4-64BB-41DB-8196-5C5C6D9FA2C9}"/>
              </a:ext>
            </a:extLst>
          </p:cNvPr>
          <p:cNvSpPr/>
          <p:nvPr/>
        </p:nvSpPr>
        <p:spPr>
          <a:xfrm rot="10800000">
            <a:off x="458573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B4F767-DB3B-471C-A27E-943F9CFDED12}"/>
              </a:ext>
            </a:extLst>
          </p:cNvPr>
          <p:cNvCxnSpPr/>
          <p:nvPr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144EF16-EC07-4504-B8D3-AFD5EE6C42E2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765730" y="6017358"/>
            <a:ext cx="2660540" cy="258532"/>
          </a:xfrm>
        </p:spPr>
        <p:txBody>
          <a:bodyPr wrap="square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子标题</a:t>
            </a:r>
          </a:p>
        </p:txBody>
      </p:sp>
      <p:sp>
        <p:nvSpPr>
          <p:cNvPr id="15" name="文本占位符 13">
            <a:extLst>
              <a:ext uri="{FF2B5EF4-FFF2-40B4-BE49-F238E27FC236}">
                <a16:creationId xmlns:a16="http://schemas.microsoft.com/office/drawing/2014/main" id="{19B64773-01E3-4FA3-89E1-FB591A18C1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65730" y="6285705"/>
            <a:ext cx="2660540" cy="243519"/>
          </a:xfrm>
        </p:spPr>
        <p:txBody>
          <a:bodyPr wrap="square" lIns="0" tIns="36000" rIns="0" bIns="36000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Sub title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2469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实验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Experiment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b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实验</a:t>
            </a:r>
          </a:p>
        </p:txBody>
      </p:sp>
      <p:pic>
        <p:nvPicPr>
          <p:cNvPr id="3" name="图形 2" descr="书架上的书籍">
            <a:extLst>
              <a:ext uri="{FF2B5EF4-FFF2-40B4-BE49-F238E27FC236}">
                <a16:creationId xmlns:a16="http://schemas.microsoft.com/office/drawing/2014/main" id="{038CE38A-FA6F-41B4-8018-190585F9DF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4F0A5C-F3AD-4357-8FAC-14F9884F1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30320" y="503201"/>
            <a:ext cx="6470291" cy="3416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0425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 descr="教室">
            <a:extLst>
              <a:ext uri="{FF2B5EF4-FFF2-40B4-BE49-F238E27FC236}">
                <a16:creationId xmlns:a16="http://schemas.microsoft.com/office/drawing/2014/main" id="{210EE5BF-D78F-4871-A143-4CDE009831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练习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Practice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046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3" name="图形 2" descr="打开的书">
            <a:extLst>
              <a:ext uri="{FF2B5EF4-FFF2-40B4-BE49-F238E27FC236}">
                <a16:creationId xmlns:a16="http://schemas.microsoft.com/office/drawing/2014/main" id="{9984669B-0DC6-4399-ABC9-62139CD54C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452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966BD-0090-4466-A991-27FE2078C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2ECA7D-1F70-42E9-9FAE-E7339E8E0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61261D-5D65-45CD-AADA-1EED2BE092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99C4A9-3C70-4456-8D35-6F30A5F18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7B1CDA-CEB0-4E75-9777-E8AF8E0B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EBF795-ECFE-4BE4-9347-5ACA07D8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879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624FA-9B13-4806-8740-F2EA01774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093AA-CFDB-488F-B797-260E366AA1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FDDA66-909C-4E8D-9FBB-33EB08CE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CDC12E-1FAF-4D9B-877D-4AFA18C4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437F97-AB23-43D0-9278-D8651B47A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DEA511-F9E8-4589-B185-7016E679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4353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448AA7-003C-4286-89BA-45EAD128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9863A2C-6A36-46FE-A9B2-18C384A8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DF1043-4E19-45C7-8156-2CEBBB656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36DD68-1BDF-4382-BAAC-20BF15724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CA1A20-9134-4E07-939A-AFFAC4F3D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8981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9B53C1A-3F8A-48E9-AF39-0BF5858CCE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D3C757-FE47-45E3-B516-3FA0990102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1CB5EB-600F-4BF5-931F-47CE21348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448140-366F-45DC-99F5-A2522FC05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58043-C34D-467C-AA90-B381DC2F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106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23D40D-F5BE-4FD8-B1E1-BB4CDA5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EC4F72-E7B4-412F-9171-B9B6BEEA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D3EBE-426F-40C8-AED7-4BC8BBBD4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65468-3DE4-4961-9497-C8C5DC302A93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154B7-9D1D-420C-8464-9704AC299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2FD0A-D904-4DF0-BD56-1FA5202FC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5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6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zh/%E7%BA%BF%E8%B7%AF-%E7%BD%91%E7%BB%9C-%E4%BA%8C%E8%BF%9B%E5%88%B6-null-%E4%B8%80-%E6%95%B0%E5%AD%97-%E4%BA%92%E8%81%94%E7%BD%91-%E7%A4%BE%E4%BC%9A-1285355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8A797F-D6BB-4DDA-A289-7C99BD095AAD}"/>
              </a:ext>
            </a:extLst>
          </p:cNvPr>
          <p:cNvSpPr txBox="1"/>
          <p:nvPr/>
        </p:nvSpPr>
        <p:spPr>
          <a:xfrm>
            <a:off x="3626362" y="102523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网络层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01361C-3A8B-4E7A-BC26-3A65C37C4923}"/>
              </a:ext>
            </a:extLst>
          </p:cNvPr>
          <p:cNvSpPr txBox="1"/>
          <p:nvPr/>
        </p:nvSpPr>
        <p:spPr>
          <a:xfrm>
            <a:off x="774224" y="1025236"/>
            <a:ext cx="23400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Chapter 4</a:t>
            </a:r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66A9E9D5-6172-4F27-B438-D37DE6D110B1}"/>
              </a:ext>
            </a:extLst>
          </p:cNvPr>
          <p:cNvSpPr/>
          <p:nvPr/>
        </p:nvSpPr>
        <p:spPr>
          <a:xfrm>
            <a:off x="465826" y="803564"/>
            <a:ext cx="11421375" cy="5424474"/>
          </a:xfrm>
          <a:custGeom>
            <a:avLst/>
            <a:gdLst>
              <a:gd name="connsiteX0" fmla="*/ 0 w 11421375"/>
              <a:gd name="connsiteY0" fmla="*/ 4389538 h 5424474"/>
              <a:gd name="connsiteX1" fmla="*/ 2648462 w 11421375"/>
              <a:gd name="connsiteY1" fmla="*/ 4389538 h 5424474"/>
              <a:gd name="connsiteX2" fmla="*/ 2648462 w 11421375"/>
              <a:gd name="connsiteY2" fmla="*/ 5424474 h 5424474"/>
              <a:gd name="connsiteX3" fmla="*/ 0 w 11421375"/>
              <a:gd name="connsiteY3" fmla="*/ 5424474 h 5424474"/>
              <a:gd name="connsiteX4" fmla="*/ 8632058 w 11421375"/>
              <a:gd name="connsiteY4" fmla="*/ 4205273 h 5424474"/>
              <a:gd name="connsiteX5" fmla="*/ 11421375 w 11421375"/>
              <a:gd name="connsiteY5" fmla="*/ 4205273 h 5424474"/>
              <a:gd name="connsiteX6" fmla="*/ 11421375 w 11421375"/>
              <a:gd name="connsiteY6" fmla="*/ 5424473 h 5424474"/>
              <a:gd name="connsiteX7" fmla="*/ 8632058 w 11421375"/>
              <a:gd name="connsiteY7" fmla="*/ 5424473 h 5424474"/>
              <a:gd name="connsiteX8" fmla="*/ 7027429 w 11421375"/>
              <a:gd name="connsiteY8" fmla="*/ 4203909 h 5424474"/>
              <a:gd name="connsiteX9" fmla="*/ 8461724 w 11421375"/>
              <a:gd name="connsiteY9" fmla="*/ 4203909 h 5424474"/>
              <a:gd name="connsiteX10" fmla="*/ 8461724 w 11421375"/>
              <a:gd name="connsiteY10" fmla="*/ 4217010 h 5424474"/>
              <a:gd name="connsiteX11" fmla="*/ 8497019 w 11421375"/>
              <a:gd name="connsiteY11" fmla="*/ 4217010 h 5424474"/>
              <a:gd name="connsiteX12" fmla="*/ 8497019 w 11421375"/>
              <a:gd name="connsiteY12" fmla="*/ 5424474 h 5424474"/>
              <a:gd name="connsiteX13" fmla="*/ 6996023 w 11421375"/>
              <a:gd name="connsiteY13" fmla="*/ 5424474 h 5424474"/>
              <a:gd name="connsiteX14" fmla="*/ 6996023 w 11421375"/>
              <a:gd name="connsiteY14" fmla="*/ 4217010 h 5424474"/>
              <a:gd name="connsiteX15" fmla="*/ 7027429 w 11421375"/>
              <a:gd name="connsiteY15" fmla="*/ 4217010 h 5424474"/>
              <a:gd name="connsiteX16" fmla="*/ 2720718 w 11421375"/>
              <a:gd name="connsiteY16" fmla="*/ 3354366 h 5424474"/>
              <a:gd name="connsiteX17" fmla="*/ 4730195 w 11421375"/>
              <a:gd name="connsiteY17" fmla="*/ 3354366 h 5424474"/>
              <a:gd name="connsiteX18" fmla="*/ 4730195 w 11421375"/>
              <a:gd name="connsiteY18" fmla="*/ 4242887 h 5424474"/>
              <a:gd name="connsiteX19" fmla="*/ 6918384 w 11421375"/>
              <a:gd name="connsiteY19" fmla="*/ 4242887 h 5424474"/>
              <a:gd name="connsiteX20" fmla="*/ 6918384 w 11421375"/>
              <a:gd name="connsiteY20" fmla="*/ 5424472 h 5424474"/>
              <a:gd name="connsiteX21" fmla="*/ 4730195 w 11421375"/>
              <a:gd name="connsiteY21" fmla="*/ 5424472 h 5424474"/>
              <a:gd name="connsiteX22" fmla="*/ 2720718 w 11421375"/>
              <a:gd name="connsiteY22" fmla="*/ 5424472 h 5424474"/>
              <a:gd name="connsiteX23" fmla="*/ 4845961 w 11421375"/>
              <a:gd name="connsiteY23" fmla="*/ 2952382 h 5424474"/>
              <a:gd name="connsiteX24" fmla="*/ 9852404 w 11421375"/>
              <a:gd name="connsiteY24" fmla="*/ 2952382 h 5424474"/>
              <a:gd name="connsiteX25" fmla="*/ 9852404 w 11421375"/>
              <a:gd name="connsiteY25" fmla="*/ 4124456 h 5424474"/>
              <a:gd name="connsiteX26" fmla="*/ 4845961 w 11421375"/>
              <a:gd name="connsiteY26" fmla="*/ 4124456 h 5424474"/>
              <a:gd name="connsiteX27" fmla="*/ 776378 w 11421375"/>
              <a:gd name="connsiteY27" fmla="*/ 2862662 h 5424474"/>
              <a:gd name="connsiteX28" fmla="*/ 2648462 w 11421375"/>
              <a:gd name="connsiteY28" fmla="*/ 2862662 h 5424474"/>
              <a:gd name="connsiteX29" fmla="*/ 2648462 w 11421375"/>
              <a:gd name="connsiteY29" fmla="*/ 4242889 h 5424474"/>
              <a:gd name="connsiteX30" fmla="*/ 776378 w 11421375"/>
              <a:gd name="connsiteY30" fmla="*/ 4242889 h 5424474"/>
              <a:gd name="connsiteX31" fmla="*/ 7926849 w 11421375"/>
              <a:gd name="connsiteY31" fmla="*/ 2247166 h 5424474"/>
              <a:gd name="connsiteX32" fmla="*/ 9852404 w 11421375"/>
              <a:gd name="connsiteY32" fmla="*/ 2247166 h 5424474"/>
              <a:gd name="connsiteX33" fmla="*/ 9852404 w 11421375"/>
              <a:gd name="connsiteY33" fmla="*/ 2835562 h 5424474"/>
              <a:gd name="connsiteX34" fmla="*/ 7926849 w 11421375"/>
              <a:gd name="connsiteY34" fmla="*/ 2835562 h 5424474"/>
              <a:gd name="connsiteX35" fmla="*/ 10094881 w 11421375"/>
              <a:gd name="connsiteY35" fmla="*/ 2231002 h 5424474"/>
              <a:gd name="connsiteX36" fmla="*/ 11421375 w 11421375"/>
              <a:gd name="connsiteY36" fmla="*/ 2231002 h 5424474"/>
              <a:gd name="connsiteX37" fmla="*/ 11421375 w 11421375"/>
              <a:gd name="connsiteY37" fmla="*/ 4124456 h 5424474"/>
              <a:gd name="connsiteX38" fmla="*/ 10299940 w 11421375"/>
              <a:gd name="connsiteY38" fmla="*/ 4124456 h 5424474"/>
              <a:gd name="connsiteX39" fmla="*/ 10299940 w 11421375"/>
              <a:gd name="connsiteY39" fmla="*/ 4130745 h 5424474"/>
              <a:gd name="connsiteX40" fmla="*/ 9929004 w 11421375"/>
              <a:gd name="connsiteY40" fmla="*/ 4130745 h 5424474"/>
              <a:gd name="connsiteX41" fmla="*/ 9929004 w 11421375"/>
              <a:gd name="connsiteY41" fmla="*/ 2232934 h 5424474"/>
              <a:gd name="connsiteX42" fmla="*/ 10094881 w 11421375"/>
              <a:gd name="connsiteY42" fmla="*/ 2232934 h 5424474"/>
              <a:gd name="connsiteX43" fmla="*/ 2720720 w 11421375"/>
              <a:gd name="connsiteY43" fmla="*/ 2163617 h 5424474"/>
              <a:gd name="connsiteX44" fmla="*/ 4731854 w 11421375"/>
              <a:gd name="connsiteY44" fmla="*/ 2163617 h 5424474"/>
              <a:gd name="connsiteX45" fmla="*/ 4731854 w 11421375"/>
              <a:gd name="connsiteY45" fmla="*/ 3235035 h 5424474"/>
              <a:gd name="connsiteX46" fmla="*/ 2720720 w 11421375"/>
              <a:gd name="connsiteY46" fmla="*/ 3235035 h 5424474"/>
              <a:gd name="connsiteX47" fmla="*/ 6486248 w 11421375"/>
              <a:gd name="connsiteY47" fmla="*/ 1764144 h 5424474"/>
              <a:gd name="connsiteX48" fmla="*/ 7812742 w 11421375"/>
              <a:gd name="connsiteY48" fmla="*/ 1764144 h 5424474"/>
              <a:gd name="connsiteX49" fmla="*/ 7812742 w 11421375"/>
              <a:gd name="connsiteY49" fmla="*/ 2835562 h 5424474"/>
              <a:gd name="connsiteX50" fmla="*/ 6486248 w 11421375"/>
              <a:gd name="connsiteY50" fmla="*/ 2835562 h 5424474"/>
              <a:gd name="connsiteX51" fmla="*/ 4845961 w 11421375"/>
              <a:gd name="connsiteY51" fmla="*/ 1477817 h 5424474"/>
              <a:gd name="connsiteX52" fmla="*/ 6280257 w 11421375"/>
              <a:gd name="connsiteY52" fmla="*/ 1477817 h 5424474"/>
              <a:gd name="connsiteX53" fmla="*/ 6280257 w 11421375"/>
              <a:gd name="connsiteY53" fmla="*/ 2835562 h 5424474"/>
              <a:gd name="connsiteX54" fmla="*/ 4845961 w 11421375"/>
              <a:gd name="connsiteY54" fmla="*/ 2835562 h 5424474"/>
              <a:gd name="connsiteX55" fmla="*/ 6486248 w 11421375"/>
              <a:gd name="connsiteY55" fmla="*/ 513985 h 5424474"/>
              <a:gd name="connsiteX56" fmla="*/ 7784215 w 11421375"/>
              <a:gd name="connsiteY56" fmla="*/ 513985 h 5424474"/>
              <a:gd name="connsiteX57" fmla="*/ 7784215 w 11421375"/>
              <a:gd name="connsiteY57" fmla="*/ 1647324 h 5424474"/>
              <a:gd name="connsiteX58" fmla="*/ 6486248 w 11421375"/>
              <a:gd name="connsiteY58" fmla="*/ 1647324 h 5424474"/>
              <a:gd name="connsiteX59" fmla="*/ 7926849 w 11421375"/>
              <a:gd name="connsiteY59" fmla="*/ 0 h 5424474"/>
              <a:gd name="connsiteX60" fmla="*/ 11421375 w 11421375"/>
              <a:gd name="connsiteY60" fmla="*/ 0 h 5424474"/>
              <a:gd name="connsiteX61" fmla="*/ 11421375 w 11421375"/>
              <a:gd name="connsiteY61" fmla="*/ 2130346 h 5424474"/>
              <a:gd name="connsiteX62" fmla="*/ 7926849 w 11421375"/>
              <a:gd name="connsiteY62" fmla="*/ 2130346 h 542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1421375" h="5424474">
                <a:moveTo>
                  <a:pt x="0" y="4389538"/>
                </a:moveTo>
                <a:lnTo>
                  <a:pt x="2648462" y="4389538"/>
                </a:lnTo>
                <a:lnTo>
                  <a:pt x="2648462" y="5424474"/>
                </a:lnTo>
                <a:lnTo>
                  <a:pt x="0" y="5424474"/>
                </a:lnTo>
                <a:close/>
                <a:moveTo>
                  <a:pt x="8632058" y="4205273"/>
                </a:moveTo>
                <a:lnTo>
                  <a:pt x="11421375" y="4205273"/>
                </a:lnTo>
                <a:lnTo>
                  <a:pt x="11421375" y="5424473"/>
                </a:lnTo>
                <a:lnTo>
                  <a:pt x="8632058" y="5424473"/>
                </a:lnTo>
                <a:close/>
                <a:moveTo>
                  <a:pt x="7027429" y="4203909"/>
                </a:moveTo>
                <a:lnTo>
                  <a:pt x="8461724" y="4203909"/>
                </a:lnTo>
                <a:lnTo>
                  <a:pt x="8461724" y="4217010"/>
                </a:lnTo>
                <a:lnTo>
                  <a:pt x="8497019" y="4217010"/>
                </a:lnTo>
                <a:lnTo>
                  <a:pt x="8497019" y="5424474"/>
                </a:lnTo>
                <a:lnTo>
                  <a:pt x="6996023" y="5424474"/>
                </a:lnTo>
                <a:lnTo>
                  <a:pt x="6996023" y="4217010"/>
                </a:lnTo>
                <a:lnTo>
                  <a:pt x="7027429" y="4217010"/>
                </a:lnTo>
                <a:close/>
                <a:moveTo>
                  <a:pt x="2720718" y="3354366"/>
                </a:moveTo>
                <a:lnTo>
                  <a:pt x="4730195" y="3354366"/>
                </a:lnTo>
                <a:lnTo>
                  <a:pt x="4730195" y="4242887"/>
                </a:lnTo>
                <a:lnTo>
                  <a:pt x="6918384" y="4242887"/>
                </a:lnTo>
                <a:lnTo>
                  <a:pt x="6918384" y="5424472"/>
                </a:lnTo>
                <a:lnTo>
                  <a:pt x="4730195" y="5424472"/>
                </a:lnTo>
                <a:lnTo>
                  <a:pt x="2720718" y="5424472"/>
                </a:lnTo>
                <a:close/>
                <a:moveTo>
                  <a:pt x="4845961" y="2952382"/>
                </a:moveTo>
                <a:lnTo>
                  <a:pt x="9852404" y="2952382"/>
                </a:lnTo>
                <a:lnTo>
                  <a:pt x="9852404" y="4124456"/>
                </a:lnTo>
                <a:lnTo>
                  <a:pt x="4845961" y="4124456"/>
                </a:lnTo>
                <a:close/>
                <a:moveTo>
                  <a:pt x="776378" y="2862662"/>
                </a:moveTo>
                <a:lnTo>
                  <a:pt x="2648462" y="2862662"/>
                </a:lnTo>
                <a:lnTo>
                  <a:pt x="2648462" y="4242889"/>
                </a:lnTo>
                <a:lnTo>
                  <a:pt x="776378" y="4242889"/>
                </a:lnTo>
                <a:close/>
                <a:moveTo>
                  <a:pt x="7926849" y="2247166"/>
                </a:moveTo>
                <a:lnTo>
                  <a:pt x="9852404" y="2247166"/>
                </a:lnTo>
                <a:lnTo>
                  <a:pt x="9852404" y="2835562"/>
                </a:lnTo>
                <a:lnTo>
                  <a:pt x="7926849" y="2835562"/>
                </a:lnTo>
                <a:close/>
                <a:moveTo>
                  <a:pt x="10094881" y="2231002"/>
                </a:moveTo>
                <a:lnTo>
                  <a:pt x="11421375" y="2231002"/>
                </a:lnTo>
                <a:lnTo>
                  <a:pt x="11421375" y="4124456"/>
                </a:lnTo>
                <a:lnTo>
                  <a:pt x="10299940" y="4124456"/>
                </a:lnTo>
                <a:lnTo>
                  <a:pt x="10299940" y="4130745"/>
                </a:lnTo>
                <a:lnTo>
                  <a:pt x="9929004" y="4130745"/>
                </a:lnTo>
                <a:lnTo>
                  <a:pt x="9929004" y="2232934"/>
                </a:lnTo>
                <a:lnTo>
                  <a:pt x="10094881" y="2232934"/>
                </a:lnTo>
                <a:close/>
                <a:moveTo>
                  <a:pt x="2720720" y="2163617"/>
                </a:moveTo>
                <a:lnTo>
                  <a:pt x="4731854" y="2163617"/>
                </a:lnTo>
                <a:lnTo>
                  <a:pt x="4731854" y="3235035"/>
                </a:lnTo>
                <a:lnTo>
                  <a:pt x="2720720" y="3235035"/>
                </a:lnTo>
                <a:close/>
                <a:moveTo>
                  <a:pt x="6486248" y="1764144"/>
                </a:moveTo>
                <a:lnTo>
                  <a:pt x="7812742" y="1764144"/>
                </a:lnTo>
                <a:lnTo>
                  <a:pt x="7812742" y="2835562"/>
                </a:lnTo>
                <a:lnTo>
                  <a:pt x="6486248" y="2835562"/>
                </a:lnTo>
                <a:close/>
                <a:moveTo>
                  <a:pt x="4845961" y="1477817"/>
                </a:moveTo>
                <a:lnTo>
                  <a:pt x="6280257" y="1477817"/>
                </a:lnTo>
                <a:lnTo>
                  <a:pt x="6280257" y="2835562"/>
                </a:lnTo>
                <a:lnTo>
                  <a:pt x="4845961" y="2835562"/>
                </a:lnTo>
                <a:close/>
                <a:moveTo>
                  <a:pt x="6486248" y="513985"/>
                </a:moveTo>
                <a:lnTo>
                  <a:pt x="7784215" y="513985"/>
                </a:lnTo>
                <a:lnTo>
                  <a:pt x="7784215" y="1647324"/>
                </a:lnTo>
                <a:lnTo>
                  <a:pt x="6486248" y="1647324"/>
                </a:lnTo>
                <a:close/>
                <a:moveTo>
                  <a:pt x="7926849" y="0"/>
                </a:moveTo>
                <a:lnTo>
                  <a:pt x="11421375" y="0"/>
                </a:lnTo>
                <a:lnTo>
                  <a:pt x="11421375" y="2130346"/>
                </a:lnTo>
                <a:lnTo>
                  <a:pt x="7926849" y="2130346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1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0937738-6253-4A72-9823-A7068ABC94CE}"/>
              </a:ext>
            </a:extLst>
          </p:cNvPr>
          <p:cNvSpPr/>
          <p:nvPr/>
        </p:nvSpPr>
        <p:spPr>
          <a:xfrm>
            <a:off x="796002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36B69BC-E826-48D3-B5A5-8E5B02C085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地址和</a:t>
            </a:r>
            <a:r>
              <a:rPr lang="en-US" altLang="zh-CN" dirty="0"/>
              <a:t>MAC</a:t>
            </a:r>
            <a:r>
              <a:rPr lang="zh-CN" altLang="en-US" dirty="0"/>
              <a:t>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2DFEA7-C6E1-4A14-9BED-C8D5D01AA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vs MAC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36BA63-4BCE-4C7B-B308-F08C2B795DBE}"/>
              </a:ext>
            </a:extLst>
          </p:cNvPr>
          <p:cNvSpPr txBox="1"/>
          <p:nvPr/>
        </p:nvSpPr>
        <p:spPr>
          <a:xfrm>
            <a:off x="796002" y="4561724"/>
            <a:ext cx="31854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网络层及以上各层使用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逻辑地址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路由器只根网络号转发数据报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8DE63E-5C1B-4743-A217-5E18FE080EB6}"/>
              </a:ext>
            </a:extLst>
          </p:cNvPr>
          <p:cNvSpPr/>
          <p:nvPr/>
        </p:nvSpPr>
        <p:spPr>
          <a:xfrm>
            <a:off x="6715998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MAC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B277954-9AE1-4D02-9250-965E42A1B9E4}"/>
              </a:ext>
            </a:extLst>
          </p:cNvPr>
          <p:cNvSpPr txBox="1"/>
          <p:nvPr/>
        </p:nvSpPr>
        <p:spPr>
          <a:xfrm>
            <a:off x="6715998" y="4561724"/>
            <a:ext cx="3230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链路层及以下各层使用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物理地址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帧只有拆了包才能看到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信息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箭头: 左右 12">
            <a:extLst>
              <a:ext uri="{FF2B5EF4-FFF2-40B4-BE49-F238E27FC236}">
                <a16:creationId xmlns:a16="http://schemas.microsoft.com/office/drawing/2014/main" id="{DBD4B7D0-F79F-4AA5-AF9D-F2D86B340702}"/>
              </a:ext>
            </a:extLst>
          </p:cNvPr>
          <p:cNvSpPr/>
          <p:nvPr/>
        </p:nvSpPr>
        <p:spPr>
          <a:xfrm>
            <a:off x="5476002" y="3226890"/>
            <a:ext cx="1239996" cy="534837"/>
          </a:xfrm>
          <a:prstGeom prst="leftRight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ARP</a:t>
            </a:r>
            <a:endParaRPr lang="zh-CN" alt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15" name="表格 15">
            <a:extLst>
              <a:ext uri="{FF2B5EF4-FFF2-40B4-BE49-F238E27FC236}">
                <a16:creationId xmlns:a16="http://schemas.microsoft.com/office/drawing/2014/main" id="{CBBFD3CC-1D96-475C-8357-56242E544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408538"/>
              </p:ext>
            </p:extLst>
          </p:nvPr>
        </p:nvGraphicFramePr>
        <p:xfrm>
          <a:off x="3011339" y="934227"/>
          <a:ext cx="616932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1">
                  <a:extLst>
                    <a:ext uri="{9D8B030D-6E8A-4147-A177-3AD203B41FA5}">
                      <a16:colId xmlns:a16="http://schemas.microsoft.com/office/drawing/2014/main" val="3638564333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1765058771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326935120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 table for PC0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870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Hardware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601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192.168.0.2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000A.F3BA.2603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fastEthernet0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5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870347"/>
                  </a:ext>
                </a:extLst>
              </a:tr>
            </a:tbl>
          </a:graphicData>
        </a:graphic>
      </p:graphicFrame>
      <p:sp>
        <p:nvSpPr>
          <p:cNvPr id="16" name="箭头: 上下 15">
            <a:extLst>
              <a:ext uri="{FF2B5EF4-FFF2-40B4-BE49-F238E27FC236}">
                <a16:creationId xmlns:a16="http://schemas.microsoft.com/office/drawing/2014/main" id="{754C808B-2AFA-42E4-B6B7-CAD81C497718}"/>
              </a:ext>
            </a:extLst>
          </p:cNvPr>
          <p:cNvSpPr/>
          <p:nvPr/>
        </p:nvSpPr>
        <p:spPr>
          <a:xfrm>
            <a:off x="5850147" y="2417587"/>
            <a:ext cx="491706" cy="920836"/>
          </a:xfrm>
          <a:prstGeom prst="upDown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8302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63E49BA-8423-A6D0-8813-DBDE71753E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CE30AA-2C7A-AD38-BAF6-F7CECEC960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5FA1423-6671-11A2-3047-BE2BD2181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86331"/>
              </p:ext>
            </p:extLst>
          </p:nvPr>
        </p:nvGraphicFramePr>
        <p:xfrm>
          <a:off x="2032000" y="719667"/>
          <a:ext cx="4788000" cy="334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53">
                  <a:extLst>
                    <a:ext uri="{9D8B030D-6E8A-4147-A177-3AD203B41FA5}">
                      <a16:colId xmlns:a16="http://schemas.microsoft.com/office/drawing/2014/main" val="1298098468"/>
                    </a:ext>
                  </a:extLst>
                </a:gridCol>
                <a:gridCol w="680682">
                  <a:extLst>
                    <a:ext uri="{9D8B030D-6E8A-4147-A177-3AD203B41FA5}">
                      <a16:colId xmlns:a16="http://schemas.microsoft.com/office/drawing/2014/main" val="3786676652"/>
                    </a:ext>
                  </a:extLst>
                </a:gridCol>
                <a:gridCol w="745065">
                  <a:extLst>
                    <a:ext uri="{9D8B030D-6E8A-4147-A177-3AD203B41FA5}">
                      <a16:colId xmlns:a16="http://schemas.microsoft.com/office/drawing/2014/main" val="3092522330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4237102363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1546270910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1773478025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4005713678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794738505"/>
                    </a:ext>
                  </a:extLst>
                </a:gridCol>
              </a:tblGrid>
              <a:tr h="230293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Application Layer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760125"/>
                  </a:ext>
                </a:extLst>
              </a:tr>
              <a:tr h="230293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Transport Layer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759638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29006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ICMP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IGMP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608700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461082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549254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ARP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2501089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924307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MAC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02304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Physical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2523587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AC17FB9-56C8-B4DD-CE28-E615236C34CD}"/>
              </a:ext>
            </a:extLst>
          </p:cNvPr>
          <p:cNvCxnSpPr/>
          <p:nvPr/>
        </p:nvCxnSpPr>
        <p:spPr>
          <a:xfrm>
            <a:off x="5994400" y="3081881"/>
            <a:ext cx="0" cy="36000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B49336D8-38A5-242B-AD1C-2FE8EB28873E}"/>
              </a:ext>
            </a:extLst>
          </p:cNvPr>
          <p:cNvCxnSpPr/>
          <p:nvPr/>
        </p:nvCxnSpPr>
        <p:spPr>
          <a:xfrm rot="16200000" flipH="1">
            <a:off x="5218785" y="1901729"/>
            <a:ext cx="432000" cy="1116000"/>
          </a:xfrm>
          <a:prstGeom prst="bentConnector3">
            <a:avLst>
              <a:gd name="adj1" fmla="val 346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841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533BAB-381F-4E28-AB17-407E4DDB9EF1}"/>
              </a:ext>
            </a:extLst>
          </p:cNvPr>
          <p:cNvSpPr txBox="1"/>
          <p:nvPr/>
        </p:nvSpPr>
        <p:spPr>
          <a:xfrm>
            <a:off x="697953" y="4430374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F0A75E-F235-47BB-AC37-072986BFCB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数据报的转发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6FB210-97EB-49B7-A0A2-EAD4A8E7A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forwarding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1365E8-6913-4849-9282-D7336F80953A}"/>
              </a:ext>
            </a:extLst>
          </p:cNvPr>
          <p:cNvSpPr/>
          <p:nvPr/>
        </p:nvSpPr>
        <p:spPr>
          <a:xfrm>
            <a:off x="697953" y="3822594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路由器转发数据报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A714CE-3071-4F80-8A27-F59F32B87E03}"/>
              </a:ext>
            </a:extLst>
          </p:cNvPr>
          <p:cNvSpPr txBox="1"/>
          <p:nvPr/>
        </p:nvSpPr>
        <p:spPr>
          <a:xfrm>
            <a:off x="697953" y="1033321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61FC7B8-7157-4991-BC27-9026CEEA1470}"/>
              </a:ext>
            </a:extLst>
          </p:cNvPr>
          <p:cNvSpPr/>
          <p:nvPr/>
        </p:nvSpPr>
        <p:spPr>
          <a:xfrm>
            <a:off x="697953" y="425541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主机发送数据报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6A347E3-8515-437A-8D5C-A8D113DDACEC}"/>
              </a:ext>
            </a:extLst>
          </p:cNvPr>
          <p:cNvCxnSpPr>
            <a:cxnSpLocks/>
          </p:cNvCxnSpPr>
          <p:nvPr/>
        </p:nvCxnSpPr>
        <p:spPr>
          <a:xfrm>
            <a:off x="697953" y="965541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D8B9209-C57D-435C-978B-7493517892E0}"/>
              </a:ext>
            </a:extLst>
          </p:cNvPr>
          <p:cNvCxnSpPr>
            <a:cxnSpLocks/>
          </p:cNvCxnSpPr>
          <p:nvPr/>
        </p:nvCxnSpPr>
        <p:spPr>
          <a:xfrm>
            <a:off x="697953" y="4362594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16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3D8F79-7BF2-4FDC-A486-19A703176C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网际控制报文协议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4F5C3B-0941-4A8A-954C-F62E2F2C2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ICMP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DBDF9D-85B4-4D14-B765-B032F1D5B361}"/>
              </a:ext>
            </a:extLst>
          </p:cNvPr>
          <p:cNvSpPr txBox="1"/>
          <p:nvPr/>
        </p:nvSpPr>
        <p:spPr>
          <a:xfrm>
            <a:off x="697953" y="1175835"/>
            <a:ext cx="47339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ICMP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Internet Control Message Protocol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RFC 792</a:t>
            </a: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报告差错和提供异常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网络层协议，不是高层协议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封装在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IP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数据报中发送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主机不可达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时间超时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参数错误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路由改变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/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重定向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PING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分组网间探测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TRACERT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路由追踪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268D-FC62-43F2-BFE9-08BCCF3BA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044" y="1596000"/>
            <a:ext cx="528750" cy="36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158634-209C-4B5C-8E7F-F678D43BF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1511400"/>
            <a:ext cx="529200" cy="5292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E3D22B-9AD3-42A2-A697-5820DE5C3A9A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6925046" y="1776000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071B30F-3E78-4097-BC04-3859BC2DC9CB}"/>
              </a:ext>
            </a:extLst>
          </p:cNvPr>
          <p:cNvSpPr txBox="1"/>
          <p:nvPr/>
        </p:nvSpPr>
        <p:spPr>
          <a:xfrm>
            <a:off x="8432059" y="142875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39CB81-21B0-4193-9B75-1EE34DBA9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296" y="4631100"/>
            <a:ext cx="528750" cy="36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075EF46-6FE5-4F92-8C69-8CCCC7B63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594" y="4546500"/>
            <a:ext cx="529200" cy="529200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1221BB-4162-41D1-8D3C-59CA875E081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925046" y="48111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5A5919B-0827-405F-ACD3-EEAE3CDB1C61}"/>
              </a:ext>
            </a:extLst>
          </p:cNvPr>
          <p:cNvSpPr txBox="1"/>
          <p:nvPr/>
        </p:nvSpPr>
        <p:spPr>
          <a:xfrm>
            <a:off x="7721128" y="4461823"/>
            <a:ext cx="2427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无法转发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0AA467A-B7C8-43DF-B62E-157B20F57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2283900"/>
            <a:ext cx="528750" cy="36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699EBE-2892-45A8-8724-CFB5264C9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199300"/>
            <a:ext cx="529200" cy="529200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0117B63-B1CA-4D4B-A398-15198461D17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924596" y="24639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F2074873-6D86-4A41-A743-CE7859C342DD}"/>
              </a:ext>
            </a:extLst>
          </p:cNvPr>
          <p:cNvSpPr txBox="1"/>
          <p:nvPr/>
        </p:nvSpPr>
        <p:spPr>
          <a:xfrm>
            <a:off x="8431609" y="21146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CE087AE-A52A-498A-932B-FCC84887F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5331449"/>
            <a:ext cx="529200" cy="529200"/>
          </a:xfrm>
          <a:prstGeom prst="rect">
            <a:avLst/>
          </a:prstGeom>
        </p:spPr>
      </p:pic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1B20969-A06A-4674-8670-352D03C24F0F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6924146" y="5596049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5B5C83F-527B-4C78-867D-716F9A6D8584}"/>
              </a:ext>
            </a:extLst>
          </p:cNvPr>
          <p:cNvSpPr txBox="1"/>
          <p:nvPr/>
        </p:nvSpPr>
        <p:spPr>
          <a:xfrm>
            <a:off x="7713014" y="5248799"/>
            <a:ext cx="2441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无法交付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9D05152-9BAA-4F4F-AD69-C94A8D557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5331449"/>
            <a:ext cx="529200" cy="5292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FCAA50AE-69C6-4956-8D1F-C8A4371D5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2940676"/>
            <a:ext cx="529200" cy="529200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6199C41-5698-437F-864F-8DD85DEAD83E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6924146" y="3205276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962CEED-21AA-46B9-90BC-54D40C65952A}"/>
              </a:ext>
            </a:extLst>
          </p:cNvPr>
          <p:cNvSpPr txBox="1"/>
          <p:nvPr/>
        </p:nvSpPr>
        <p:spPr>
          <a:xfrm>
            <a:off x="8431159" y="28580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94194C8E-87D4-4CD0-A001-49DD107C4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940676"/>
            <a:ext cx="529200" cy="529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1D23C7-B1CA-40C4-8ABE-7A7CD2F9E34D}"/>
              </a:ext>
            </a:extLst>
          </p:cNvPr>
          <p:cNvSpPr/>
          <p:nvPr/>
        </p:nvSpPr>
        <p:spPr>
          <a:xfrm>
            <a:off x="697953" y="425541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网际控制报文协议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ICMP</a:t>
            </a:r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91AC530-C041-41AE-A536-894525719399}"/>
              </a:ext>
            </a:extLst>
          </p:cNvPr>
          <p:cNvSpPr/>
          <p:nvPr/>
        </p:nvSpPr>
        <p:spPr>
          <a:xfrm>
            <a:off x="697954" y="3575802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差错类型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97B5E5-D623-411C-9C0A-385D84338719}"/>
              </a:ext>
            </a:extLst>
          </p:cNvPr>
          <p:cNvSpPr/>
          <p:nvPr/>
        </p:nvSpPr>
        <p:spPr>
          <a:xfrm>
            <a:off x="697954" y="5153224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典型应用</a:t>
            </a:r>
          </a:p>
        </p:txBody>
      </p:sp>
    </p:spTree>
    <p:extLst>
      <p:ext uri="{BB962C8B-B14F-4D97-AF65-F5344CB8AC3E}">
        <p14:creationId xmlns:p14="http://schemas.microsoft.com/office/powerpoint/2010/main" val="2371078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/>
          <a:lstStyle/>
          <a:p>
            <a:r>
              <a:rPr lang="zh-CN" altLang="en-US" dirty="0"/>
              <a:t>基本网络互联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搭建拓扑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配置主机</a:t>
            </a:r>
            <a:r>
              <a:rPr lang="en-US" altLang="zh-CN" dirty="0"/>
              <a:t>IP</a:t>
            </a:r>
            <a:r>
              <a:rPr lang="zh-CN" altLang="en-US" dirty="0"/>
              <a:t>地址、掩码和网关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配置交换机</a:t>
            </a:r>
            <a:r>
              <a:rPr lang="en-US" altLang="zh-CN" dirty="0"/>
              <a:t>-</a:t>
            </a:r>
            <a:r>
              <a:rPr lang="zh-CN" altLang="en-US" dirty="0"/>
              <a:t>手动或命令行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利用</a:t>
            </a:r>
            <a:r>
              <a:rPr lang="en-US" altLang="zh-CN" dirty="0"/>
              <a:t>ping</a:t>
            </a:r>
            <a:r>
              <a:rPr lang="zh-CN" altLang="en-US" dirty="0"/>
              <a:t>测试网络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使用命令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Ip address ip mask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No shutdown 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01E36FC-896B-4E8E-A144-2D1AE1CC0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69" y="2402771"/>
            <a:ext cx="657225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6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路由配置：</a:t>
            </a:r>
            <a:endParaRPr lang="en-US" altLang="zh-CN" dirty="0"/>
          </a:p>
          <a:p>
            <a:pPr lvl="1"/>
            <a:r>
              <a:rPr lang="en-US" altLang="zh-CN" sz="1600" dirty="0"/>
              <a:t>Router&gt;en</a:t>
            </a:r>
          </a:p>
          <a:p>
            <a:pPr lvl="1"/>
            <a:r>
              <a:rPr lang="en-US" altLang="zh-CN" sz="1600" dirty="0" err="1"/>
              <a:t>Router#conf</a:t>
            </a:r>
            <a:r>
              <a:rPr lang="en-US" altLang="zh-CN" sz="1600" dirty="0"/>
              <a:t> ter</a:t>
            </a:r>
          </a:p>
          <a:p>
            <a:pPr lvl="1"/>
            <a:r>
              <a:rPr lang="en-US" altLang="zh-CN" sz="1600" dirty="0"/>
              <a:t>Enter configuration commands, one per line. End with CNTL/Z.</a:t>
            </a:r>
          </a:p>
          <a:p>
            <a:pPr lvl="1"/>
            <a:r>
              <a:rPr lang="en-US" altLang="zh-CN" sz="1600" dirty="0"/>
              <a:t>Router(config)#int g0/0/0</a:t>
            </a:r>
          </a:p>
          <a:p>
            <a:pPr lvl="1"/>
            <a:r>
              <a:rPr lang="en-US" altLang="zh-CN" sz="1600" dirty="0"/>
              <a:t>Router(config-if)#ip address 192.168.0.254 255.255.255.0</a:t>
            </a:r>
          </a:p>
          <a:p>
            <a:pPr lvl="1"/>
            <a:r>
              <a:rPr lang="en-US" altLang="zh-CN" sz="1600" dirty="0"/>
              <a:t>Router(config-if)#no shutdown 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Router(config-if)#int g0/0/1</a:t>
            </a:r>
          </a:p>
          <a:p>
            <a:pPr lvl="1"/>
            <a:r>
              <a:rPr lang="en-US" altLang="zh-CN" sz="1600" dirty="0"/>
              <a:t>Router(config-if)#ip address 192.168.1.254 255.255.255.0</a:t>
            </a:r>
          </a:p>
          <a:p>
            <a:pPr lvl="1"/>
            <a:r>
              <a:rPr lang="en-US" altLang="zh-CN" sz="1600" dirty="0"/>
              <a:t>Router(config-if)#no shutdown</a:t>
            </a:r>
            <a:endParaRPr lang="zh-CN" altLang="en-US" sz="1600" dirty="0">
              <a:latin typeface="微软雅黑 Light" panose="020B0502040204020203" pitchFamily="34" charset="-122"/>
            </a:endParaRPr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2021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路由查看：</a:t>
            </a:r>
            <a:endParaRPr lang="en-US" altLang="zh-CN" sz="1600" dirty="0"/>
          </a:p>
          <a:p>
            <a:pPr lvl="1"/>
            <a:r>
              <a:rPr lang="en-US" altLang="zh-CN" sz="1600" dirty="0" err="1"/>
              <a:t>Router#show</a:t>
            </a:r>
            <a:r>
              <a:rPr lang="en-US" altLang="zh-CN" sz="1600" dirty="0"/>
              <a:t> ip route </a:t>
            </a:r>
          </a:p>
          <a:p>
            <a:pPr lvl="1"/>
            <a:r>
              <a:rPr lang="en-US" altLang="zh-CN" sz="1600" dirty="0"/>
              <a:t>Codes: L - local, C - connected, S - static, R - RIP, M - mobile, B – BGP, D - EIGRP, EX - EIGRP external, O - OSPF, IA - OSPF inter area, N1 - OSPF NSSA external type 1, N2 - OSPF NSSA external type 2, E1 - OSPF external type 1, E2 - OSPF external type 2, E – EGP, </a:t>
            </a:r>
            <a:r>
              <a:rPr lang="en-US" altLang="zh-CN" sz="1600" dirty="0" err="1"/>
              <a:t>i</a:t>
            </a:r>
            <a:r>
              <a:rPr lang="en-US" altLang="zh-CN" sz="1600" dirty="0"/>
              <a:t> - IS-IS, L1 - IS-IS level-1, L2 - IS-IS level-2, </a:t>
            </a:r>
            <a:r>
              <a:rPr lang="en-US" altLang="zh-CN" sz="1600" dirty="0" err="1"/>
              <a:t>ia</a:t>
            </a:r>
            <a:r>
              <a:rPr lang="en-US" altLang="zh-CN" sz="1600" dirty="0"/>
              <a:t> - IS-IS inter area, * - candidate default, U - per-user static route, o – ODR, P - periodic downloaded static route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Gateway of last resort is not set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192.168.0.0/24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192.168.0.0/24 is directly connected, GigabitEthernet0/0/0</a:t>
            </a:r>
          </a:p>
          <a:p>
            <a:pPr lvl="1"/>
            <a:r>
              <a:rPr lang="en-US" altLang="zh-CN" sz="1600" dirty="0"/>
              <a:t>L 192.168.0.254/32 is directly connected, GigabitEthernet0/0/0</a:t>
            </a:r>
          </a:p>
          <a:p>
            <a:pPr lvl="1"/>
            <a:r>
              <a:rPr lang="en-US" altLang="zh-CN" sz="1600" dirty="0"/>
              <a:t>192.168.1.0/24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192.168.1.0/24 is directly connected, GigabitEthernet0/0/1</a:t>
            </a:r>
          </a:p>
          <a:p>
            <a:pPr lvl="1"/>
            <a:r>
              <a:rPr lang="en-US" altLang="zh-CN" sz="1600" dirty="0"/>
              <a:t>L 192.168.1.254/32 is directly connected, GigabitEthernet0/0/1</a:t>
            </a:r>
            <a:endParaRPr lang="zh-CN" altLang="en-US" sz="1600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51623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99710A-5D47-4DED-A952-C420B8224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987" y="2286000"/>
            <a:ext cx="858202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26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13CDB7C-C992-459E-8771-C04838411F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数据报格式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3E0DAC-A33F-4CEE-BEA2-171182F17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E67B195-A1CF-4A97-966C-B17270B4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075364"/>
              </p:ext>
            </p:extLst>
          </p:nvPr>
        </p:nvGraphicFramePr>
        <p:xfrm>
          <a:off x="508000" y="454195"/>
          <a:ext cx="11176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版本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VER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THL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区分服务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DSCP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标志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FLAG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片偏移 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F8EFB54-D364-426A-8306-2FA6BA4E95C2}"/>
              </a:ext>
            </a:extLst>
          </p:cNvPr>
          <p:cNvSpPr txBox="1"/>
          <p:nvPr/>
        </p:nvSpPr>
        <p:spPr>
          <a:xfrm>
            <a:off x="508000" y="3309308"/>
            <a:ext cx="1117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版本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VER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，表示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THL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最小值为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，所以最短首部长度为：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*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4=20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最大值为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(2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-1)*4=15*4=60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总长度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首部和数据部分总和；最大数值为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1111 1111 1111 1111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，所以最大长度为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-1=65535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片偏移部分：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ID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，每产生一个数据报，就加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，充当计算器的功能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FLAGS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，包括：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MF+DF+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保留位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more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don’t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为单位，共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生存时间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早期为时间；现在为可通过的路由数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协议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PRO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数据部分是何种协议，如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ICMP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TCP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等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769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B24D107-3144-48E1-BD91-BE6A8297A4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2585323"/>
          </a:xfrm>
        </p:spPr>
        <p:txBody>
          <a:bodyPr>
            <a:spAutoFit/>
          </a:bodyPr>
          <a:lstStyle/>
          <a:p>
            <a:r>
              <a:rPr lang="zh-CN" altLang="en-US" dirty="0"/>
              <a:t>已经某</a:t>
            </a:r>
            <a:r>
              <a:rPr lang="en-US" altLang="zh-CN" dirty="0"/>
              <a:t>IP</a:t>
            </a:r>
            <a:r>
              <a:rPr lang="zh-CN" altLang="en-US" dirty="0"/>
              <a:t>报首部字段</a:t>
            </a:r>
            <a:r>
              <a:rPr lang="en-US" altLang="zh-CN" dirty="0"/>
              <a:t>THL</a:t>
            </a:r>
            <a:r>
              <a:rPr lang="zh-CN" altLang="en-US" dirty="0"/>
              <a:t>为</a:t>
            </a:r>
            <a:r>
              <a:rPr lang="en-US" altLang="zh-CN" dirty="0"/>
              <a:t>0101</a:t>
            </a:r>
            <a:r>
              <a:rPr lang="zh-CN" altLang="en-US" dirty="0"/>
              <a:t>，总长度字段</a:t>
            </a:r>
            <a:r>
              <a:rPr lang="en-US" altLang="zh-CN" dirty="0"/>
              <a:t>TL</a:t>
            </a:r>
            <a:r>
              <a:rPr lang="zh-CN" altLang="en-US" dirty="0"/>
              <a:t>为</a:t>
            </a:r>
            <a:r>
              <a:rPr lang="en-US" altLang="zh-CN" dirty="0"/>
              <a:t>0000 0011 1111 1100</a:t>
            </a:r>
            <a:r>
              <a:rPr lang="zh-CN" altLang="en-US" dirty="0"/>
              <a:t>，求数据部分字段</a:t>
            </a:r>
            <a:r>
              <a:rPr lang="en-US" altLang="zh-CN" dirty="0"/>
              <a:t>DATA</a:t>
            </a:r>
            <a:r>
              <a:rPr lang="zh-CN" altLang="en-US" dirty="0"/>
              <a:t>长度。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解：</a:t>
            </a:r>
          </a:p>
          <a:p>
            <a:pPr indent="457200"/>
            <a:r>
              <a:rPr lang="zh-CN" altLang="en-US" dirty="0"/>
              <a:t>首部长度为</a:t>
            </a:r>
            <a:r>
              <a:rPr lang="en-US" altLang="zh-CN" dirty="0"/>
              <a:t>(0101)</a:t>
            </a:r>
            <a:r>
              <a:rPr lang="en-US" altLang="zh-CN" baseline="-25000" dirty="0"/>
              <a:t>2</a:t>
            </a:r>
            <a:r>
              <a:rPr lang="en-US" altLang="zh-CN" dirty="0"/>
              <a:t>*4=5*4=20</a:t>
            </a:r>
            <a:r>
              <a:rPr lang="zh-CN" altLang="en-US" dirty="0"/>
              <a:t>字节</a:t>
            </a:r>
          </a:p>
          <a:p>
            <a:pPr indent="457200"/>
            <a:r>
              <a:rPr lang="zh-CN" altLang="en-US" dirty="0"/>
              <a:t>总长度为</a:t>
            </a:r>
            <a:r>
              <a:rPr lang="en-US" altLang="zh-CN" dirty="0"/>
              <a:t>1020</a:t>
            </a:r>
            <a:r>
              <a:rPr lang="zh-CN" altLang="en-US" dirty="0"/>
              <a:t>字节</a:t>
            </a:r>
          </a:p>
          <a:p>
            <a:r>
              <a:rPr lang="zh-CN" altLang="en-US" dirty="0"/>
              <a:t>故：</a:t>
            </a:r>
          </a:p>
          <a:p>
            <a:pPr indent="457200"/>
            <a:r>
              <a:rPr lang="zh-CN" altLang="en-US" dirty="0"/>
              <a:t>数据部分长度为</a:t>
            </a:r>
            <a:r>
              <a:rPr lang="en-US" altLang="zh-CN" dirty="0"/>
              <a:t>(001111111100)</a:t>
            </a:r>
            <a:r>
              <a:rPr lang="en-US" altLang="zh-CN" baseline="-25000" dirty="0"/>
              <a:t>2</a:t>
            </a:r>
            <a:r>
              <a:rPr lang="en-US" altLang="zh-CN" dirty="0"/>
              <a:t>-20=1020-20=1000</a:t>
            </a:r>
            <a:r>
              <a:rPr lang="zh-CN" altLang="en-US" dirty="0"/>
              <a:t>字节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0998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4BE6762-6936-4E11-85BF-7EED8BC761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spAutoFit/>
          </a:bodyPr>
          <a:lstStyle/>
          <a:p>
            <a:r>
              <a:rPr lang="zh-CN" altLang="en-US" dirty="0"/>
              <a:t>已知采用固定长度首部的数据报，数据部分位</a:t>
            </a:r>
            <a:r>
              <a:rPr lang="en-US" altLang="zh-CN" dirty="0"/>
              <a:t>3800</a:t>
            </a:r>
            <a:r>
              <a:rPr lang="zh-CN" altLang="en-US" dirty="0"/>
              <a:t>字节，如何分片？（分片不超过</a:t>
            </a:r>
            <a:r>
              <a:rPr lang="en-US" altLang="zh-CN" dirty="0"/>
              <a:t>1420</a:t>
            </a:r>
            <a:r>
              <a:rPr lang="zh-CN" altLang="en-US" dirty="0"/>
              <a:t>字节）</a:t>
            </a:r>
            <a:endParaRPr lang="en-US" altLang="zh-CN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E0B634ED-CE50-4512-8B5F-DC2B887D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730772"/>
              </p:ext>
            </p:extLst>
          </p:nvPr>
        </p:nvGraphicFramePr>
        <p:xfrm>
          <a:off x="493482" y="3659518"/>
          <a:ext cx="112050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506">
                  <a:extLst>
                    <a:ext uri="{9D8B030D-6E8A-4147-A177-3AD203B41FA5}">
                      <a16:colId xmlns:a16="http://schemas.microsoft.com/office/drawing/2014/main" val="4244565251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3415697127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3704642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101440198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5339634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1679335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18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原始数据报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20+3800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2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4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1400/8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8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54572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719AEF6-707A-40FD-AED3-315099967A5B}"/>
              </a:ext>
            </a:extLst>
          </p:cNvPr>
          <p:cNvSpPr/>
          <p:nvPr/>
        </p:nvSpPr>
        <p:spPr>
          <a:xfrm>
            <a:off x="493482" y="1729283"/>
            <a:ext cx="7793788" cy="4159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IP v4</a:t>
            </a:r>
            <a:r>
              <a:rPr lang="zh-CN" altLang="en-US" dirty="0">
                <a:solidFill>
                  <a:schemeClr val="tx1"/>
                </a:solidFill>
              </a:rPr>
              <a:t>数据报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3482" y="218456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1807270" y="2184563"/>
            <a:ext cx="6480000" cy="41595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3800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4F48A9-152C-4D50-AF30-663762B5AB2E}"/>
              </a:ext>
            </a:extLst>
          </p:cNvPr>
          <p:cNvSpPr/>
          <p:nvPr/>
        </p:nvSpPr>
        <p:spPr>
          <a:xfrm>
            <a:off x="493482" y="263984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1807270" y="2639844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3967270" y="2639844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FBACE7-90E1-468D-A0F9-D2E8DB0C60AE}"/>
              </a:ext>
            </a:extLst>
          </p:cNvPr>
          <p:cNvSpPr/>
          <p:nvPr/>
        </p:nvSpPr>
        <p:spPr>
          <a:xfrm>
            <a:off x="6127270" y="2639844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493482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1807270" y="3097580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322DBB-8F69-46A4-BD07-BD941756BC93}"/>
              </a:ext>
            </a:extLst>
          </p:cNvPr>
          <p:cNvSpPr/>
          <p:nvPr/>
        </p:nvSpPr>
        <p:spPr>
          <a:xfrm>
            <a:off x="5222065" y="3097580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D8E9F9-ED70-4029-A09C-5125CAC2F536}"/>
              </a:ext>
            </a:extLst>
          </p:cNvPr>
          <p:cNvSpPr/>
          <p:nvPr/>
        </p:nvSpPr>
        <p:spPr>
          <a:xfrm>
            <a:off x="8636860" y="3097580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56A688-B5F6-4A87-AD32-C4121D6EE405}"/>
              </a:ext>
            </a:extLst>
          </p:cNvPr>
          <p:cNvSpPr/>
          <p:nvPr/>
        </p:nvSpPr>
        <p:spPr>
          <a:xfrm>
            <a:off x="3967270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FC6C2EB-0CCB-4413-A333-9314C76A4D2C}"/>
              </a:ext>
            </a:extLst>
          </p:cNvPr>
          <p:cNvSpPr/>
          <p:nvPr/>
        </p:nvSpPr>
        <p:spPr>
          <a:xfrm>
            <a:off x="7382065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</p:spTree>
    <p:extLst>
      <p:ext uri="{BB962C8B-B14F-4D97-AF65-F5344CB8AC3E}">
        <p14:creationId xmlns:p14="http://schemas.microsoft.com/office/powerpoint/2010/main" val="568269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5D6D69-F2FF-4BE2-9E69-86A449293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5602519" cy="646331"/>
          </a:xfrm>
        </p:spPr>
        <p:txBody>
          <a:bodyPr wrap="square">
            <a:spAutoFit/>
          </a:bodyPr>
          <a:lstStyle/>
          <a:p>
            <a:r>
              <a:rPr lang="en-US" altLang="zh-CN" dirty="0"/>
              <a:t>PT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</a:p>
          <a:p>
            <a:r>
              <a:rPr lang="zh-CN" altLang="en-US" dirty="0"/>
              <a:t>注意：高层的协议的封帧并不体现在每片中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996054-7F1D-4691-B2CC-BFB90BA2B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数据报分片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5304EB-0D0E-4AED-AA51-F13EE2BE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465" y="2496916"/>
            <a:ext cx="5963788" cy="1590897"/>
          </a:xfrm>
          <a:prstGeom prst="rect">
            <a:avLst/>
          </a:prstGeom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89925D93-242F-469C-9644-DC9E98AA002C}"/>
              </a:ext>
            </a:extLst>
          </p:cNvPr>
          <p:cNvSpPr txBox="1">
            <a:spLocks/>
          </p:cNvSpPr>
          <p:nvPr/>
        </p:nvSpPr>
        <p:spPr>
          <a:xfrm>
            <a:off x="6096000" y="1394365"/>
            <a:ext cx="560252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WS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  <a:endParaRPr lang="en-US" altLang="zh-CN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4568B38-0F85-435B-A11C-BBD76598D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5" y="2352368"/>
            <a:ext cx="569595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294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493CF0-1A29-4463-9EA3-981067659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369332"/>
          </a:xfrm>
        </p:spPr>
        <p:txBody>
          <a:bodyPr>
            <a:spAutoFit/>
          </a:bodyPr>
          <a:lstStyle/>
          <a:p>
            <a:r>
              <a:rPr lang="zh-CN" altLang="en-US" dirty="0"/>
              <a:t>已知某</a:t>
            </a:r>
            <a:r>
              <a:rPr lang="en-US" altLang="zh-CN" dirty="0"/>
              <a:t>IP</a:t>
            </a:r>
            <a:r>
              <a:rPr lang="zh-CN" altLang="en-US" dirty="0"/>
              <a:t>首部如下，求首部校验和。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F45BB19C-C8A1-44A6-8B68-2CFAC3A7B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777743"/>
              </p:ext>
            </p:extLst>
          </p:nvPr>
        </p:nvGraphicFramePr>
        <p:xfrm>
          <a:off x="508000" y="1839652"/>
          <a:ext cx="1117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665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7DE002-2C38-4014-A3EC-777B771CC568}"/>
              </a:ext>
            </a:extLst>
          </p:cNvPr>
          <p:cNvSpPr/>
          <p:nvPr/>
        </p:nvSpPr>
        <p:spPr>
          <a:xfrm>
            <a:off x="796002" y="3862074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" name="表格 20">
            <a:extLst>
              <a:ext uri="{FF2B5EF4-FFF2-40B4-BE49-F238E27FC236}">
                <a16:creationId xmlns:a16="http://schemas.microsoft.com/office/drawing/2014/main" id="{3B4AB4DA-BB89-4C5F-A542-5BCB67C58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5549"/>
              </p:ext>
            </p:extLst>
          </p:nvPr>
        </p:nvGraphicFramePr>
        <p:xfrm>
          <a:off x="6096001" y="998247"/>
          <a:ext cx="5299995" cy="46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使用不同的子网掩码划分子网</a:t>
                      </a:r>
                      <a:endParaRPr lang="en-US" altLang="zh-CN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不会造成</a:t>
                      </a:r>
                      <a:r>
                        <a:rPr lang="en-US" altLang="zh-CN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地址的浪费</a:t>
                      </a: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924729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1789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894974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15589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使用相同的子网掩码划分子网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每个子网的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地址数量相同，容易造成浪费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D2346977-1D27-4356-933F-E804D19E1FBC}"/>
              </a:ext>
            </a:extLst>
          </p:cNvPr>
          <p:cNvSpPr/>
          <p:nvPr/>
        </p:nvSpPr>
        <p:spPr>
          <a:xfrm>
            <a:off x="796002" y="738966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889A50E-C7EA-4440-BABC-75AAEABF7092}"/>
              </a:ext>
            </a:extLst>
          </p:cNvPr>
          <p:cNvSpPr txBox="1"/>
          <p:nvPr/>
        </p:nvSpPr>
        <p:spPr>
          <a:xfrm>
            <a:off x="1565446" y="38620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定长子网掩码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58BECF-3C74-4FCC-9C38-28C2CC55ECB2}"/>
              </a:ext>
            </a:extLst>
          </p:cNvPr>
          <p:cNvSpPr txBox="1"/>
          <p:nvPr/>
        </p:nvSpPr>
        <p:spPr>
          <a:xfrm>
            <a:off x="2495692" y="4669339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A6118E1-8365-44EA-BC21-CA2C5C59D5B8}"/>
              </a:ext>
            </a:extLst>
          </p:cNvPr>
          <p:cNvSpPr txBox="1"/>
          <p:nvPr/>
        </p:nvSpPr>
        <p:spPr>
          <a:xfrm>
            <a:off x="1456947" y="5815158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Fixed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43A4581-6A04-4A26-BBE2-0B172F2FE564}"/>
              </a:ext>
            </a:extLst>
          </p:cNvPr>
          <p:cNvSpPr txBox="1"/>
          <p:nvPr/>
        </p:nvSpPr>
        <p:spPr>
          <a:xfrm>
            <a:off x="1565444" y="738965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变长子网掩码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FFB41A-1A71-4A47-9636-B244B3ACD857}"/>
              </a:ext>
            </a:extLst>
          </p:cNvPr>
          <p:cNvSpPr txBox="1"/>
          <p:nvPr/>
        </p:nvSpPr>
        <p:spPr>
          <a:xfrm>
            <a:off x="2495689" y="1546231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6CB985-DF3E-4382-A048-CDD5BAE6D8D5}"/>
              </a:ext>
            </a:extLst>
          </p:cNvPr>
          <p:cNvSpPr txBox="1"/>
          <p:nvPr/>
        </p:nvSpPr>
        <p:spPr>
          <a:xfrm>
            <a:off x="1250158" y="2692050"/>
            <a:ext cx="390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Variable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箭头: 上下 1">
            <a:extLst>
              <a:ext uri="{FF2B5EF4-FFF2-40B4-BE49-F238E27FC236}">
                <a16:creationId xmlns:a16="http://schemas.microsoft.com/office/drawing/2014/main" id="{33BB3757-D925-4CE9-9C71-1736E2BDD6F9}"/>
              </a:ext>
            </a:extLst>
          </p:cNvPr>
          <p:cNvSpPr/>
          <p:nvPr/>
        </p:nvSpPr>
        <p:spPr>
          <a:xfrm>
            <a:off x="3028444" y="3061381"/>
            <a:ext cx="336430" cy="800693"/>
          </a:xfrm>
          <a:prstGeom prst="up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390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，按下图需求采用定长子网掩码划分子网，请给出子网掩码、各子网的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地址、各主机的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地址以及路由器每个接口的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定长子网掩码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097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8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已知分配到的地址块为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，按下图需求给出各网络分配的地址块。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变长子网掩码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267129" y="1789469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6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9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989CF4-9D91-4014-A1D2-FCF895EAA2FF}"/>
              </a:ext>
            </a:extLst>
          </p:cNvPr>
          <p:cNvSpPr txBox="1"/>
          <p:nvPr/>
        </p:nvSpPr>
        <p:spPr>
          <a:xfrm>
            <a:off x="267129" y="4344436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27bit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18A2F5-333F-42E2-A565-2AD87BD49CB1}"/>
              </a:ext>
            </a:extLst>
          </p:cNvPr>
          <p:cNvSpPr txBox="1"/>
          <p:nvPr/>
        </p:nvSpPr>
        <p:spPr>
          <a:xfrm>
            <a:off x="9801485" y="1789468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13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503533-826C-4A1E-B5B1-1C3E77F2984E}"/>
              </a:ext>
            </a:extLst>
          </p:cNvPr>
          <p:cNvSpPr txBox="1"/>
          <p:nvPr/>
        </p:nvSpPr>
        <p:spPr>
          <a:xfrm>
            <a:off x="9801484" y="4344435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A3625-97FF-4B0A-83B0-1E96D54D9C86}"/>
              </a:ext>
            </a:extLst>
          </p:cNvPr>
          <p:cNvSpPr txBox="1"/>
          <p:nvPr/>
        </p:nvSpPr>
        <p:spPr>
          <a:xfrm>
            <a:off x="4971814" y="1620352"/>
            <a:ext cx="224837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4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2bit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30bit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8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D6F62C3D-AF36-4150-9555-5AF86F34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440156"/>
              </p:ext>
            </p:extLst>
          </p:nvPr>
        </p:nvGraphicFramePr>
        <p:xfrm>
          <a:off x="2989004" y="91440"/>
          <a:ext cx="9202996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749">
                  <a:extLst>
                    <a:ext uri="{9D8B030D-6E8A-4147-A177-3AD203B41FA5}">
                      <a16:colId xmlns:a16="http://schemas.microsoft.com/office/drawing/2014/main" val="32033716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06059369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5817546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33867348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44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34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4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26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45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220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17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69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6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34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593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218.75.230.79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0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255.255.255.1111 1100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36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41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89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grid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可再分配作它用的地址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30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76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30477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796002" y="1615113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endParaRPr lang="zh-CN" altLang="en-US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245CDB3-7AE9-4AE2-ACD0-5DFE0C1D3566}"/>
              </a:ext>
            </a:extLst>
          </p:cNvPr>
          <p:cNvSpPr txBox="1"/>
          <p:nvPr/>
        </p:nvSpPr>
        <p:spPr>
          <a:xfrm>
            <a:off x="109561" y="521109"/>
            <a:ext cx="271229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基本原则：</a:t>
            </a:r>
            <a:endParaRPr lang="en-US" altLang="zh-CN" sz="2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先给哪个网划分地址块都可以。通常先分配地址块数量多的网络；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起始地址必须是当前地址块地址数量的整数倍；</a:t>
            </a:r>
          </a:p>
        </p:txBody>
      </p:sp>
    </p:spTree>
    <p:extLst>
      <p:ext uri="{BB962C8B-B14F-4D97-AF65-F5344CB8AC3E}">
        <p14:creationId xmlns:p14="http://schemas.microsoft.com/office/powerpoint/2010/main" val="700547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9D8ED3F-1782-445D-A2D2-E0662CF81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908" y="13311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462EB39-360A-444C-81BB-6FA81ECBA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3127" y="219071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B07E2D8-C275-4791-899D-EABCFDA8E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2203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706EAD6-EC79-4797-A79B-9C2AC397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24" y="132570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ECF05E-FEDB-4978-8283-8C6BCD57A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48427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E0B43A-FF9D-4E1F-A9A9-AE426639E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051" y="47197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云形 7">
            <a:extLst>
              <a:ext uri="{FF2B5EF4-FFF2-40B4-BE49-F238E27FC236}">
                <a16:creationId xmlns:a16="http://schemas.microsoft.com/office/drawing/2014/main" id="{DCDA3CBD-F4B3-4295-96F6-F6D3CBE997C7}"/>
              </a:ext>
            </a:extLst>
          </p:cNvPr>
          <p:cNvSpPr>
            <a:spLocks noChangeAspect="1"/>
          </p:cNvSpPr>
          <p:nvPr/>
        </p:nvSpPr>
        <p:spPr>
          <a:xfrm>
            <a:off x="3175651" y="100127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A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6A28ED8-0EB3-4480-AAE1-340B32988F0A}"/>
              </a:ext>
            </a:extLst>
          </p:cNvPr>
          <p:cNvCxnSpPr>
            <a:cxnSpLocks/>
            <a:stCxn id="2" idx="3"/>
            <a:endCxn id="8" idx="2"/>
          </p:cNvCxnSpPr>
          <p:nvPr/>
        </p:nvCxnSpPr>
        <p:spPr>
          <a:xfrm>
            <a:off x="3006108" y="1559743"/>
            <a:ext cx="1762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C3F8E52-0EFA-41D5-B9EF-A3E876B0E897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>
            <a:off x="4255651" y="929171"/>
            <a:ext cx="0" cy="135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15D0DA6-8E02-443D-A062-E427A9580EB1}"/>
              </a:ext>
            </a:extLst>
          </p:cNvPr>
          <p:cNvCxnSpPr>
            <a:cxnSpLocks/>
            <a:stCxn id="6" idx="2"/>
            <a:endCxn id="24" idx="3"/>
          </p:cNvCxnSpPr>
          <p:nvPr/>
        </p:nvCxnSpPr>
        <p:spPr>
          <a:xfrm>
            <a:off x="8942415" y="941476"/>
            <a:ext cx="0" cy="1210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DBF2D69-8A07-42B1-B194-0EED62DCA098}"/>
              </a:ext>
            </a:extLst>
          </p:cNvPr>
          <p:cNvCxnSpPr>
            <a:cxnSpLocks/>
            <a:stCxn id="3" idx="0"/>
            <a:endCxn id="8" idx="1"/>
          </p:cNvCxnSpPr>
          <p:nvPr/>
        </p:nvCxnSpPr>
        <p:spPr>
          <a:xfrm flipV="1">
            <a:off x="4251727" y="2117025"/>
            <a:ext cx="3924" cy="736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E0F55E4-A22A-4202-A271-CEE90E0C81C3}"/>
              </a:ext>
            </a:extLst>
          </p:cNvPr>
          <p:cNvCxnSpPr>
            <a:cxnSpLocks/>
            <a:stCxn id="4" idx="0"/>
            <a:endCxn id="24" idx="1"/>
          </p:cNvCxnSpPr>
          <p:nvPr/>
        </p:nvCxnSpPr>
        <p:spPr>
          <a:xfrm flipV="1">
            <a:off x="8942415" y="2114379"/>
            <a:ext cx="0" cy="105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B5A4F7E-BC7D-49D3-97FA-C5D93C97B404}"/>
              </a:ext>
            </a:extLst>
          </p:cNvPr>
          <p:cNvCxnSpPr>
            <a:cxnSpLocks/>
            <a:stCxn id="5" idx="1"/>
            <a:endCxn id="24" idx="0"/>
          </p:cNvCxnSpPr>
          <p:nvPr/>
        </p:nvCxnSpPr>
        <p:spPr>
          <a:xfrm flipH="1">
            <a:off x="10020615" y="1554300"/>
            <a:ext cx="162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云形 23">
            <a:extLst>
              <a:ext uri="{FF2B5EF4-FFF2-40B4-BE49-F238E27FC236}">
                <a16:creationId xmlns:a16="http://schemas.microsoft.com/office/drawing/2014/main" id="{582DC936-1751-4036-A0F3-8E23F966C2AE}"/>
              </a:ext>
            </a:extLst>
          </p:cNvPr>
          <p:cNvSpPr>
            <a:spLocks noChangeAspect="1"/>
          </p:cNvSpPr>
          <p:nvPr/>
        </p:nvSpPr>
        <p:spPr>
          <a:xfrm>
            <a:off x="7862415" y="99862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B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DA1BCDB-A7A5-4FA6-94BB-CB5F1D2E6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812" y="1390069"/>
            <a:ext cx="528750" cy="360000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C0650CBA-212A-4F99-BE69-C631C2C22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198" y="1379555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295C6AF-EBB2-4EC2-A738-94D5BBC1AC30}"/>
              </a:ext>
            </a:extLst>
          </p:cNvPr>
          <p:cNvCxnSpPr>
            <a:stCxn id="38" idx="1"/>
            <a:endCxn id="8" idx="0"/>
          </p:cNvCxnSpPr>
          <p:nvPr/>
        </p:nvCxnSpPr>
        <p:spPr>
          <a:xfrm flipH="1" flipV="1">
            <a:off x="5333851" y="1559743"/>
            <a:ext cx="127961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8D5563F-C7D2-4895-8FB0-1E01C9574ACD}"/>
              </a:ext>
            </a:extLst>
          </p:cNvPr>
          <p:cNvCxnSpPr>
            <a:stCxn id="39" idx="3"/>
            <a:endCxn id="24" idx="2"/>
          </p:cNvCxnSpPr>
          <p:nvPr/>
        </p:nvCxnSpPr>
        <p:spPr>
          <a:xfrm flipV="1">
            <a:off x="7621948" y="1557097"/>
            <a:ext cx="24716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6BE6C69F-FCD0-468C-BB19-756B3DAED3FD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5990562" y="1559555"/>
            <a:ext cx="11026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D9B7D3F5-6C82-4AF0-9DF3-9826E54304A2}"/>
              </a:ext>
            </a:extLst>
          </p:cNvPr>
          <p:cNvSpPr txBox="1"/>
          <p:nvPr/>
        </p:nvSpPr>
        <p:spPr>
          <a:xfrm>
            <a:off x="3949831" y="5352657"/>
            <a:ext cx="43845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：每个主机如何使用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Q2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：如何保证机构内主机间的专有业务？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Q3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：如果保证机构内主机的通用业务？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E9B7DFE-8395-4D0C-B4FD-43EAC4E33884}"/>
              </a:ext>
            </a:extLst>
          </p:cNvPr>
          <p:cNvSpPr txBox="1"/>
          <p:nvPr/>
        </p:nvSpPr>
        <p:spPr>
          <a:xfrm>
            <a:off x="5566467" y="1130944"/>
            <a:ext cx="351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482CCED-EE87-409F-B15F-81CB679C7B42}"/>
              </a:ext>
            </a:extLst>
          </p:cNvPr>
          <p:cNvSpPr txBox="1"/>
          <p:nvPr/>
        </p:nvSpPr>
        <p:spPr>
          <a:xfrm>
            <a:off x="7189312" y="1130944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13C823A9-4170-3AAF-388B-9489CD860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108" y="382101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B5D70FC-BC8F-5069-3302-8B2672E32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1327" y="468058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C4EAFB5-0237-464D-165D-314304C5C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015" y="471021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96B7303B-9A04-30A9-0D7B-8177481E7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1124" y="38155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0117ADF-BA78-7832-8A53-DF040BFF8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015" y="297414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83E5B31-2B75-5057-C8B8-E78F667A9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251" y="296184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云形 20">
            <a:extLst>
              <a:ext uri="{FF2B5EF4-FFF2-40B4-BE49-F238E27FC236}">
                <a16:creationId xmlns:a16="http://schemas.microsoft.com/office/drawing/2014/main" id="{AB5D22BE-90C9-A805-0012-E81D7FF6326F}"/>
              </a:ext>
            </a:extLst>
          </p:cNvPr>
          <p:cNvSpPr>
            <a:spLocks noChangeAspect="1"/>
          </p:cNvSpPr>
          <p:nvPr/>
        </p:nvSpPr>
        <p:spPr>
          <a:xfrm>
            <a:off x="3173851" y="349114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A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AB1B2E1-671F-B7A3-19D8-20BA6CB962FB}"/>
              </a:ext>
            </a:extLst>
          </p:cNvPr>
          <p:cNvCxnSpPr>
            <a:cxnSpLocks/>
            <a:stCxn id="15" idx="3"/>
            <a:endCxn id="21" idx="2"/>
          </p:cNvCxnSpPr>
          <p:nvPr/>
        </p:nvCxnSpPr>
        <p:spPr>
          <a:xfrm>
            <a:off x="3004308" y="4049613"/>
            <a:ext cx="1762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11BCB1C-F890-FFC8-FB14-835F596A7066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>
            <a:off x="4253851" y="3419041"/>
            <a:ext cx="0" cy="135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95C4D48-C905-3FEC-A5E7-6E26F2E1734A}"/>
              </a:ext>
            </a:extLst>
          </p:cNvPr>
          <p:cNvCxnSpPr>
            <a:cxnSpLocks/>
            <a:stCxn id="19" idx="2"/>
            <a:endCxn id="29" idx="3"/>
          </p:cNvCxnSpPr>
          <p:nvPr/>
        </p:nvCxnSpPr>
        <p:spPr>
          <a:xfrm>
            <a:off x="8940615" y="3431346"/>
            <a:ext cx="0" cy="1210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1E2DD1D-5641-0F4A-9F69-A71882F1F248}"/>
              </a:ext>
            </a:extLst>
          </p:cNvPr>
          <p:cNvCxnSpPr>
            <a:cxnSpLocks/>
            <a:stCxn id="16" idx="0"/>
            <a:endCxn id="21" idx="1"/>
          </p:cNvCxnSpPr>
          <p:nvPr/>
        </p:nvCxnSpPr>
        <p:spPr>
          <a:xfrm flipV="1">
            <a:off x="4249927" y="4606895"/>
            <a:ext cx="3924" cy="736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88B36E3-F7AD-5F8A-996F-DC4FEC6D453A}"/>
              </a:ext>
            </a:extLst>
          </p:cNvPr>
          <p:cNvCxnSpPr>
            <a:cxnSpLocks/>
            <a:stCxn id="17" idx="0"/>
            <a:endCxn id="29" idx="1"/>
          </p:cNvCxnSpPr>
          <p:nvPr/>
        </p:nvCxnSpPr>
        <p:spPr>
          <a:xfrm flipV="1">
            <a:off x="8940615" y="4604249"/>
            <a:ext cx="0" cy="105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4454EF2-B445-F23A-9AF0-6407884AC0BB}"/>
              </a:ext>
            </a:extLst>
          </p:cNvPr>
          <p:cNvCxnSpPr>
            <a:cxnSpLocks/>
            <a:stCxn id="18" idx="1"/>
            <a:endCxn id="29" idx="0"/>
          </p:cNvCxnSpPr>
          <p:nvPr/>
        </p:nvCxnSpPr>
        <p:spPr>
          <a:xfrm flipH="1">
            <a:off x="10018815" y="4044170"/>
            <a:ext cx="162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云形 28">
            <a:extLst>
              <a:ext uri="{FF2B5EF4-FFF2-40B4-BE49-F238E27FC236}">
                <a16:creationId xmlns:a16="http://schemas.microsoft.com/office/drawing/2014/main" id="{18E40F6D-28F1-1E75-B662-7D687CFC38D6}"/>
              </a:ext>
            </a:extLst>
          </p:cNvPr>
          <p:cNvSpPr>
            <a:spLocks noChangeAspect="1"/>
          </p:cNvSpPr>
          <p:nvPr/>
        </p:nvSpPr>
        <p:spPr>
          <a:xfrm>
            <a:off x="7860615" y="348849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B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69EF15F-556C-E295-2363-F0BD4C292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7505" y="3879939"/>
            <a:ext cx="528750" cy="360000"/>
          </a:xfrm>
          <a:prstGeom prst="rect">
            <a:avLst/>
          </a:prstGeom>
        </p:spPr>
      </p:pic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8D6CA22-0990-82BA-8C27-115B8E35D96F}"/>
              </a:ext>
            </a:extLst>
          </p:cNvPr>
          <p:cNvCxnSpPr>
            <a:stCxn id="30" idx="1"/>
            <a:endCxn id="21" idx="0"/>
          </p:cNvCxnSpPr>
          <p:nvPr/>
        </p:nvCxnSpPr>
        <p:spPr>
          <a:xfrm flipH="1" flipV="1">
            <a:off x="5332051" y="4049613"/>
            <a:ext cx="945454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ABD8CF4-6073-6202-C496-860C66C288CD}"/>
              </a:ext>
            </a:extLst>
          </p:cNvPr>
          <p:cNvCxnSpPr>
            <a:cxnSpLocks/>
            <a:stCxn id="30" idx="3"/>
            <a:endCxn id="29" idx="2"/>
          </p:cNvCxnSpPr>
          <p:nvPr/>
        </p:nvCxnSpPr>
        <p:spPr>
          <a:xfrm flipV="1">
            <a:off x="6806255" y="4046967"/>
            <a:ext cx="1061060" cy="129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F3E1B9F7-CFF7-BDF6-7A92-E56316215B11}"/>
              </a:ext>
            </a:extLst>
          </p:cNvPr>
          <p:cNvSpPr txBox="1"/>
          <p:nvPr/>
        </p:nvSpPr>
        <p:spPr>
          <a:xfrm>
            <a:off x="6394243" y="362081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89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ECED16F-8C68-4F68-B070-C0C3A5A1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9228AD-3699-4D0D-B83D-6CEF166A7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64F42F9-47C0-E970-3661-B88744134D3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509631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CD55-AB3B-3FE3-B01A-68FACF8B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39854F49-B29B-4E0D-4F7B-DAE76CF3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C836D0-AA1D-EA39-1C5A-DA454836E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Router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DFA5D087-258D-E111-F928-33559FE1B9F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87256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82AE-5697-D5C2-2F1F-47D7E0DF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AD3977C-75B8-1FED-9DDA-EA835EDC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EEF756C-1F8F-89A0-FB14-38F4E3F7D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Static Route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C996C2E0-AD2E-51AB-6433-76FDDFFF5C7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403" r="4403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324502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4C9A5-65EF-A633-B696-02BECD4C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122BC1EA-F8DE-6DF1-567F-7B7EB756C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默认路由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8EA13B1E-E5E9-70B5-9C0E-826E5254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8"/>
            <a:ext cx="5257800" cy="646331"/>
          </a:xfrm>
        </p:spPr>
        <p:txBody>
          <a:bodyPr/>
          <a:lstStyle/>
          <a:p>
            <a:r>
              <a:rPr lang="en-US" altLang="zh-CN" dirty="0"/>
              <a:t>Default Router</a:t>
            </a:r>
          </a:p>
          <a:p>
            <a:r>
              <a:rPr lang="en-US" altLang="zh-CN" dirty="0"/>
              <a:t>0.0.0.0/0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087C292C-1976-6160-00EE-9E9F174373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1996284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8E496-4056-BC35-4D03-4D39792AD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D639B6D-EDC8-4EF3-4B0B-459B37DDA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主机路由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695BCE4C-5F1B-B846-D2B1-9FC54B2EC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anchor="t" anchorCtr="0"/>
          <a:lstStyle/>
          <a:p>
            <a:r>
              <a:rPr lang="en-US" altLang="zh-CN" dirty="0"/>
              <a:t>Host Route</a:t>
            </a:r>
          </a:p>
          <a:p>
            <a:r>
              <a:rPr lang="en-US" altLang="zh-CN" dirty="0"/>
              <a:t>/32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9998271-948F-F939-1CFF-5972A93148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84" r="13684"/>
          <a:stretch/>
        </p:blipFill>
        <p:spPr>
          <a:xfrm>
            <a:off x="6131376" y="1066981"/>
            <a:ext cx="5876984" cy="4550534"/>
          </a:xfrm>
          <a:blipFill>
            <a:blip r:embed="rId2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41032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D5EB-C1E1-4D58-3943-9DD055D9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B1060CB-FCCB-759C-561A-4DD329E1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路由聚合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1EC304-E1E6-84C4-CD24-A1272BB9E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Aggregation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176BA749-A5EC-C0A4-0ECA-F6DDA91FC73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392755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BF99-1045-56F3-69E4-1ED901A4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69DB152-0129-5AFC-567F-EFF51E21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7A9F707E-16EC-B357-E5E2-17CE3B611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Routing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B9C4D383-76D9-2A44-8122-F575D3C96A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16252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2327-6097-8896-72EB-18811562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8E82AF0-BD73-F3F6-45B9-55625064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开放最短路径优先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44A5CE-452C-5382-B3B4-8EE9F1EA8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Open Shortest Path First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F25A5609-063E-1DBC-24CF-5F356FC2B6B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682930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83AE8-F1AB-7CAA-0B49-2D8E6BB9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5A96591-2B78-6F3E-0B58-A736F361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路由信息协议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D7AF2E56-FE4F-A02C-600D-D1FCE423E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Routing Information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3D64BFCD-54E4-0752-1935-191AE999C37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73963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8928D7-7317-4184-936C-DECF53790C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路由分类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59AB514-A4C5-4C55-91AC-5A01BD5B66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Router type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D3C030F-DA63-4262-A260-E8F783CF074C}"/>
              </a:ext>
            </a:extLst>
          </p:cNvPr>
          <p:cNvSpPr txBox="1"/>
          <p:nvPr/>
        </p:nvSpPr>
        <p:spPr>
          <a:xfrm>
            <a:off x="1299882" y="1801906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默认路由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特定主机路由</a:t>
            </a:r>
          </a:p>
        </p:txBody>
      </p:sp>
    </p:spTree>
    <p:extLst>
      <p:ext uri="{BB962C8B-B14F-4D97-AF65-F5344CB8AC3E}">
        <p14:creationId xmlns:p14="http://schemas.microsoft.com/office/powerpoint/2010/main" val="1635791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专有地址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Private Address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FF84E2B-08DB-4650-820B-DFF8232F5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29349"/>
              </p:ext>
            </p:extLst>
          </p:nvPr>
        </p:nvGraphicFramePr>
        <p:xfrm>
          <a:off x="1255335" y="723350"/>
          <a:ext cx="96813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266">
                  <a:extLst>
                    <a:ext uri="{9D8B030D-6E8A-4147-A177-3AD203B41FA5}">
                      <a16:colId xmlns:a16="http://schemas.microsoft.com/office/drawing/2014/main" val="978379819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535890720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2688389073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212479717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80225367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800" b="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RFC 1918</a:t>
                      </a:r>
                      <a:endParaRPr lang="zh-CN" altLang="en-US" sz="1800" b="0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RFC1918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333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10.0.0.0/8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APPANET</a:t>
                      </a:r>
                      <a:endParaRPr lang="zh-CN" altLang="en-US" sz="14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409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172.16.0.0/12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172.31.255.255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66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192.168.0.0/16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510130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BB7260C9-4C67-4CF8-AD2E-281D52BD5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42489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8704660-606F-45A6-9FC8-31575D4EF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532757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DAF0A8E-15F8-412C-B8B5-D76AD8846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526196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FBE0777-FE4B-47DF-A4CE-A9666FB41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42434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B21D26F-EE52-45E4-BB6F-CA192AE7B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23061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951FFDB-323E-4CE2-A461-F624A16EA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313258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云形 11">
            <a:extLst>
              <a:ext uri="{FF2B5EF4-FFF2-40B4-BE49-F238E27FC236}">
                <a16:creationId xmlns:a16="http://schemas.microsoft.com/office/drawing/2014/main" id="{D54103AC-F4D9-4A3C-B64F-1B38330271F7}"/>
              </a:ext>
            </a:extLst>
          </p:cNvPr>
          <p:cNvSpPr>
            <a:spLocks noChangeAspect="1"/>
          </p:cNvSpPr>
          <p:nvPr/>
        </p:nvSpPr>
        <p:spPr>
          <a:xfrm>
            <a:off x="1880251" y="391906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8114FE9-BFB3-48C3-A1E0-436ACF9716D9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1367808" y="4477536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026AEC8-36B2-4A83-9E62-8E68545DF614}"/>
              </a:ext>
            </a:extLst>
          </p:cNvPr>
          <p:cNvCxnSpPr>
            <a:cxnSpLocks/>
            <a:stCxn id="11" idx="2"/>
            <a:endCxn id="12" idx="3"/>
          </p:cNvCxnSpPr>
          <p:nvPr/>
        </p:nvCxnSpPr>
        <p:spPr>
          <a:xfrm>
            <a:off x="2960251" y="3589789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B58D80-1587-436D-A043-30A609C962F4}"/>
              </a:ext>
            </a:extLst>
          </p:cNvPr>
          <p:cNvCxnSpPr>
            <a:cxnSpLocks/>
            <a:stCxn id="10" idx="2"/>
            <a:endCxn id="19" idx="3"/>
          </p:cNvCxnSpPr>
          <p:nvPr/>
        </p:nvCxnSpPr>
        <p:spPr>
          <a:xfrm>
            <a:off x="8942415" y="3687819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513149B-694F-4E69-AD75-14C43F03CEE9}"/>
              </a:ext>
            </a:extLst>
          </p:cNvPr>
          <p:cNvCxnSpPr>
            <a:cxnSpLocks/>
            <a:stCxn id="7" idx="0"/>
            <a:endCxn id="12" idx="1"/>
          </p:cNvCxnSpPr>
          <p:nvPr/>
        </p:nvCxnSpPr>
        <p:spPr>
          <a:xfrm flipV="1">
            <a:off x="2956327" y="5034818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97D58C-FB3F-4127-ACF5-33D442D068DA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flipV="1">
            <a:off x="8942415" y="5032172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0961DB-F33F-44F8-853D-D4B470A91700}"/>
              </a:ext>
            </a:extLst>
          </p:cNvPr>
          <p:cNvCxnSpPr>
            <a:cxnSpLocks/>
            <a:stCxn id="9" idx="1"/>
            <a:endCxn id="19" idx="0"/>
          </p:cNvCxnSpPr>
          <p:nvPr/>
        </p:nvCxnSpPr>
        <p:spPr>
          <a:xfrm flipH="1">
            <a:off x="10020615" y="4472093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云形 18">
            <a:extLst>
              <a:ext uri="{FF2B5EF4-FFF2-40B4-BE49-F238E27FC236}">
                <a16:creationId xmlns:a16="http://schemas.microsoft.com/office/drawing/2014/main" id="{5C1573F3-F85E-47B3-861F-C01149A358D9}"/>
              </a:ext>
            </a:extLst>
          </p:cNvPr>
          <p:cNvSpPr>
            <a:spLocks noChangeAspect="1"/>
          </p:cNvSpPr>
          <p:nvPr/>
        </p:nvSpPr>
        <p:spPr>
          <a:xfrm>
            <a:off x="7862415" y="3916419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30EFD9-346A-49C8-AAB1-CDC19FADB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4307862"/>
            <a:ext cx="528750" cy="3600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986C2BCA-A04F-4C79-9DB2-7EF91950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4297348"/>
            <a:ext cx="528750" cy="360000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C3680EBC-4A96-4E76-A974-8EC5B13F7986}"/>
              </a:ext>
            </a:extLst>
          </p:cNvPr>
          <p:cNvCxnSpPr>
            <a:stCxn id="20" idx="1"/>
            <a:endCxn id="12" idx="0"/>
          </p:cNvCxnSpPr>
          <p:nvPr/>
        </p:nvCxnSpPr>
        <p:spPr>
          <a:xfrm flipH="1" flipV="1">
            <a:off x="4038451" y="4477536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6C93861-EB96-48FA-A1BA-71556013B674}"/>
              </a:ext>
            </a:extLst>
          </p:cNvPr>
          <p:cNvCxnSpPr>
            <a:stCxn id="21" idx="3"/>
            <a:endCxn id="19" idx="2"/>
          </p:cNvCxnSpPr>
          <p:nvPr/>
        </p:nvCxnSpPr>
        <p:spPr>
          <a:xfrm flipV="1">
            <a:off x="7383823" y="4474890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6E1AEB-F5CA-44D7-8FB2-7CE70C5E8D2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5142837" y="4477348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D2ACF4E2-79AF-47F7-942E-1F1BE45DE347}"/>
              </a:ext>
            </a:extLst>
          </p:cNvPr>
          <p:cNvSpPr txBox="1"/>
          <p:nvPr/>
        </p:nvSpPr>
        <p:spPr>
          <a:xfrm>
            <a:off x="2308796" y="315424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B9A05F0-181C-47A2-9326-916965DC444E}"/>
              </a:ext>
            </a:extLst>
          </p:cNvPr>
          <p:cNvSpPr txBox="1"/>
          <p:nvPr/>
        </p:nvSpPr>
        <p:spPr>
          <a:xfrm>
            <a:off x="489233" y="429199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F2071-7FC0-42F0-898C-1D6BEE450025}"/>
              </a:ext>
            </a:extLst>
          </p:cNvPr>
          <p:cNvSpPr txBox="1"/>
          <p:nvPr/>
        </p:nvSpPr>
        <p:spPr>
          <a:xfrm>
            <a:off x="2267345" y="537151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BF48ED7-5BD6-4463-A43B-13D048F3F7CD}"/>
              </a:ext>
            </a:extLst>
          </p:cNvPr>
          <p:cNvSpPr txBox="1"/>
          <p:nvPr/>
        </p:nvSpPr>
        <p:spPr>
          <a:xfrm>
            <a:off x="9658165" y="324882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B8393C-5F32-4D7B-B32C-533F217CAC0F}"/>
              </a:ext>
            </a:extLst>
          </p:cNvPr>
          <p:cNvSpPr txBox="1"/>
          <p:nvPr/>
        </p:nvSpPr>
        <p:spPr>
          <a:xfrm>
            <a:off x="11331799" y="428459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4975A12-CA9C-4B83-B254-E1C6BCD57249}"/>
              </a:ext>
            </a:extLst>
          </p:cNvPr>
          <p:cNvSpPr txBox="1"/>
          <p:nvPr/>
        </p:nvSpPr>
        <p:spPr>
          <a:xfrm>
            <a:off x="10031422" y="526355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C0D05F6-8BAE-499C-857D-36B382EFE71E}"/>
              </a:ext>
            </a:extLst>
          </p:cNvPr>
          <p:cNvSpPr txBox="1"/>
          <p:nvPr/>
        </p:nvSpPr>
        <p:spPr>
          <a:xfrm>
            <a:off x="4652067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97BB3E0-E6D2-4BC5-8360-2F673DC2F85E}"/>
              </a:ext>
            </a:extLst>
          </p:cNvPr>
          <p:cNvSpPr txBox="1"/>
          <p:nvPr/>
        </p:nvSpPr>
        <p:spPr>
          <a:xfrm>
            <a:off x="6884512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29D0EC9-CA9C-4CCE-85EF-F4096B6E6651}"/>
              </a:ext>
            </a:extLst>
          </p:cNvPr>
          <p:cNvSpPr txBox="1"/>
          <p:nvPr/>
        </p:nvSpPr>
        <p:spPr>
          <a:xfrm>
            <a:off x="3309545" y="3500069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10.1.0.0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F31D3D6-B60B-4AB6-BC78-338EE9F18AB8}"/>
              </a:ext>
            </a:extLst>
          </p:cNvPr>
          <p:cNvSpPr txBox="1"/>
          <p:nvPr/>
        </p:nvSpPr>
        <p:spPr>
          <a:xfrm>
            <a:off x="7305588" y="3507665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10.2.0.0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68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虚拟专有网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Virtual Private Network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73624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2100353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2100353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3507675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2253485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6C0A192-69F0-4097-839B-8C5E4ED84293}"/>
              </a:ext>
            </a:extLst>
          </p:cNvPr>
          <p:cNvSpPr txBox="1"/>
          <p:nvPr/>
        </p:nvSpPr>
        <p:spPr>
          <a:xfrm>
            <a:off x="5449507" y="2988884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045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网络地址转换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Network Address Transition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1816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283127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8298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1811375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1486947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045418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1195378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195378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2602700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2600054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039975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148430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1875744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1865230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045418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042772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045230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185987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18524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1348510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08390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4123964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662193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5089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662193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199276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235744"/>
            <a:ext cx="25794" cy="104573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225230"/>
            <a:ext cx="25912" cy="105624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3506091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NAT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487583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256" y="3281479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60" y="3281479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904256" y="3857479"/>
            <a:ext cx="415233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20162" y="3857479"/>
            <a:ext cx="325198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13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自治系统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Autonomous System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31644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33089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32946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31099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691711" y="198657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545042"/>
            <a:ext cx="33060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771711" y="1695002"/>
            <a:ext cx="19294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695002"/>
            <a:ext cx="612755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771711" y="3102324"/>
            <a:ext cx="19294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099678"/>
            <a:ext cx="612755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633370" y="2539599"/>
            <a:ext cx="311554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8475170" y="198392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375368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364854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3849911" y="2545042"/>
            <a:ext cx="76417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542396"/>
            <a:ext cx="109804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544854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35949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3521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656294" y="219692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58353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3925998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464227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31100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464227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001310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735368"/>
            <a:ext cx="6940" cy="54911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724854"/>
            <a:ext cx="7058" cy="55963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4077764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>
                <a:solidFill>
                  <a:schemeClr val="bg1">
                    <a:lumMod val="50000"/>
                  </a:schemeClr>
                </a:solidFill>
              </a:rPr>
              <a:t>NAT</a:t>
            </a:r>
            <a:endParaRPr lang="zh-CN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352537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2" y="3284485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506" y="3284485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885402" y="3860485"/>
            <a:ext cx="467506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01385" y="3860485"/>
            <a:ext cx="325121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03CC7708-068E-4DCC-8A1E-8391A9080945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079553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A559D10-81AF-40D8-8456-4D4466760332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882258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95FF5D80-0082-4F62-AE77-1CD0C8F4CF74}"/>
              </a:ext>
            </a:extLst>
          </p:cNvPr>
          <p:cNvSpPr txBox="1"/>
          <p:nvPr/>
        </p:nvSpPr>
        <p:spPr>
          <a:xfrm>
            <a:off x="3966943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B9802C7-7A37-423C-B4B8-ADC7B7C7C664}"/>
              </a:ext>
            </a:extLst>
          </p:cNvPr>
          <p:cNvSpPr txBox="1"/>
          <p:nvPr/>
        </p:nvSpPr>
        <p:spPr>
          <a:xfrm>
            <a:off x="5555304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7866063-16C2-4EEA-934A-FA49A2B2C9E2}"/>
              </a:ext>
            </a:extLst>
          </p:cNvPr>
          <p:cNvSpPr txBox="1"/>
          <p:nvPr/>
        </p:nvSpPr>
        <p:spPr>
          <a:xfrm>
            <a:off x="7308181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E08EF6D-BFC6-4D67-BBD2-CD0089DD05CF}"/>
              </a:ext>
            </a:extLst>
          </p:cNvPr>
          <p:cNvSpPr txBox="1"/>
          <p:nvPr/>
        </p:nvSpPr>
        <p:spPr>
          <a:xfrm>
            <a:off x="3952768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DD51D61-4DA7-453E-8C91-5981CF5A9788}"/>
              </a:ext>
            </a:extLst>
          </p:cNvPr>
          <p:cNvSpPr txBox="1"/>
          <p:nvPr/>
        </p:nvSpPr>
        <p:spPr>
          <a:xfrm>
            <a:off x="7675750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3F7520-BDDF-4717-8E88-53106866DD9B}"/>
              </a:ext>
            </a:extLst>
          </p:cNvPr>
          <p:cNvSpPr txBox="1"/>
          <p:nvPr/>
        </p:nvSpPr>
        <p:spPr>
          <a:xfrm>
            <a:off x="4292722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BBEEA04E-80B5-43A1-884D-FA69093887C3}"/>
              </a:ext>
            </a:extLst>
          </p:cNvPr>
          <p:cNvSpPr txBox="1"/>
          <p:nvPr/>
        </p:nvSpPr>
        <p:spPr>
          <a:xfrm>
            <a:off x="7139009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4A0CB2D-78B2-4E92-94DA-8302DA916C4A}"/>
              </a:ext>
            </a:extLst>
          </p:cNvPr>
          <p:cNvSpPr txBox="1"/>
          <p:nvPr/>
        </p:nvSpPr>
        <p:spPr>
          <a:xfrm>
            <a:off x="7950778" y="5768204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内部网关协议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IGP:Interior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</a:p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外部网关协议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EGP:External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1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3100421" y="249984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>
            <a:off x="6096000" y="480767"/>
            <a:ext cx="0" cy="4977353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F8B89F6-B502-4903-91B8-A6F97EDAE201}"/>
              </a:ext>
            </a:extLst>
          </p:cNvPr>
          <p:cNvSpPr txBox="1"/>
          <p:nvPr/>
        </p:nvSpPr>
        <p:spPr>
          <a:xfrm>
            <a:off x="8424411" y="2499844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1803593" y="2896934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25149B7-6C40-40BD-A5DA-F644077DEDC9}"/>
              </a:ext>
            </a:extLst>
          </p:cNvPr>
          <p:cNvSpPr txBox="1"/>
          <p:nvPr/>
        </p:nvSpPr>
        <p:spPr>
          <a:xfrm>
            <a:off x="7411314" y="2896934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2614714" y="329402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3B40126-4D4F-4347-AD98-283742AB488D}"/>
              </a:ext>
            </a:extLst>
          </p:cNvPr>
          <p:cNvSpPr txBox="1"/>
          <p:nvPr/>
        </p:nvSpPr>
        <p:spPr>
          <a:xfrm>
            <a:off x="7776795" y="329402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</p:spTree>
    <p:extLst>
      <p:ext uri="{BB962C8B-B14F-4D97-AF65-F5344CB8AC3E}">
        <p14:creationId xmlns:p14="http://schemas.microsoft.com/office/powerpoint/2010/main" val="102667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B598B03-1F90-7512-41BB-A27EDBC6BA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C48582-D4FC-0ECA-2371-BD1118D6F9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C300E0-11BC-ADD6-345F-17C76AE46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7377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7401301" y="1090198"/>
            <a:ext cx="4536000" cy="12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基于距离，也称跳数（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hop count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路由器到直连网络的距离：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路由器到非直连网络的距离：所经过的路由器数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+1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10375672" y="55449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pic>
        <p:nvPicPr>
          <p:cNvPr id="82" name="图片 81">
            <a:extLst>
              <a:ext uri="{FF2B5EF4-FFF2-40B4-BE49-F238E27FC236}">
                <a16:creationId xmlns:a16="http://schemas.microsoft.com/office/drawing/2014/main" id="{A0EB2307-63B2-4D9D-886C-1CA20B2DE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2545237"/>
            <a:ext cx="528750" cy="360000"/>
          </a:xfrm>
          <a:prstGeom prst="rect">
            <a:avLst/>
          </a:prstGeom>
        </p:spPr>
      </p:pic>
      <p:sp>
        <p:nvSpPr>
          <p:cNvPr id="36" name="云形 35">
            <a:extLst>
              <a:ext uri="{FF2B5EF4-FFF2-40B4-BE49-F238E27FC236}">
                <a16:creationId xmlns:a16="http://schemas.microsoft.com/office/drawing/2014/main" id="{D238F33D-C037-4D0B-8761-FA88FA5FB7D0}"/>
              </a:ext>
            </a:extLst>
          </p:cNvPr>
          <p:cNvSpPr/>
          <p:nvPr/>
        </p:nvSpPr>
        <p:spPr>
          <a:xfrm>
            <a:off x="1036023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云形 82">
            <a:extLst>
              <a:ext uri="{FF2B5EF4-FFF2-40B4-BE49-F238E27FC236}">
                <a16:creationId xmlns:a16="http://schemas.microsoft.com/office/drawing/2014/main" id="{040B6228-D0F1-4229-A540-6D9A151E61B6}"/>
              </a:ext>
            </a:extLst>
          </p:cNvPr>
          <p:cNvSpPr/>
          <p:nvPr/>
        </p:nvSpPr>
        <p:spPr>
          <a:xfrm>
            <a:off x="4830781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5" name="图片 84">
            <a:extLst>
              <a:ext uri="{FF2B5EF4-FFF2-40B4-BE49-F238E27FC236}">
                <a16:creationId xmlns:a16="http://schemas.microsoft.com/office/drawing/2014/main" id="{1ED173B1-3D0F-4806-A12A-DAA70931C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3789575"/>
            <a:ext cx="528750" cy="360000"/>
          </a:xfrm>
          <a:prstGeom prst="rect">
            <a:avLst/>
          </a:prstGeom>
        </p:spPr>
      </p:pic>
      <p:sp>
        <p:nvSpPr>
          <p:cNvPr id="86" name="云形 85">
            <a:extLst>
              <a:ext uri="{FF2B5EF4-FFF2-40B4-BE49-F238E27FC236}">
                <a16:creationId xmlns:a16="http://schemas.microsoft.com/office/drawing/2014/main" id="{30978726-3B5D-4C9B-927F-161F5ED7CC17}"/>
              </a:ext>
            </a:extLst>
          </p:cNvPr>
          <p:cNvSpPr/>
          <p:nvPr/>
        </p:nvSpPr>
        <p:spPr>
          <a:xfrm>
            <a:off x="1501724" y="3969575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77F11973-267C-4312-AF2B-562E2C8E98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046" y="4930900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8E57C9B-9344-4DBC-AD09-3627E8BBC23D}"/>
              </a:ext>
            </a:extLst>
          </p:cNvPr>
          <p:cNvCxnSpPr>
            <a:stCxn id="36" idx="0"/>
            <a:endCxn id="82" idx="1"/>
          </p:cNvCxnSpPr>
          <p:nvPr/>
        </p:nvCxnSpPr>
        <p:spPr>
          <a:xfrm>
            <a:off x="1998743" y="2725237"/>
            <a:ext cx="1101678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088C17A-21F2-479E-B542-600308D2CE22}"/>
              </a:ext>
            </a:extLst>
          </p:cNvPr>
          <p:cNvCxnSpPr>
            <a:stCxn id="82" idx="3"/>
            <a:endCxn id="83" idx="2"/>
          </p:cNvCxnSpPr>
          <p:nvPr/>
        </p:nvCxnSpPr>
        <p:spPr>
          <a:xfrm>
            <a:off x="3629171" y="2725237"/>
            <a:ext cx="120459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4D37C66-A6CC-48DC-8977-BBAA729A398F}"/>
              </a:ext>
            </a:extLst>
          </p:cNvPr>
          <p:cNvCxnSpPr>
            <a:stCxn id="83" idx="1"/>
            <a:endCxn id="85" idx="3"/>
          </p:cNvCxnSpPr>
          <p:nvPr/>
        </p:nvCxnSpPr>
        <p:spPr>
          <a:xfrm flipH="1">
            <a:off x="3629171" y="3058664"/>
            <a:ext cx="1683372" cy="9109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76760DD-C66A-4A23-87E3-F887F8FB713A}"/>
              </a:ext>
            </a:extLst>
          </p:cNvPr>
          <p:cNvCxnSpPr>
            <a:stCxn id="85" idx="1"/>
            <a:endCxn id="86" idx="0"/>
          </p:cNvCxnSpPr>
          <p:nvPr/>
        </p:nvCxnSpPr>
        <p:spPr>
          <a:xfrm flipH="1">
            <a:off x="2464444" y="3969575"/>
            <a:ext cx="635977" cy="334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13D4D2E-60D4-4BD6-8484-B3B9180A297D}"/>
              </a:ext>
            </a:extLst>
          </p:cNvPr>
          <p:cNvCxnSpPr>
            <a:stCxn id="86" idx="1"/>
            <a:endCxn id="87" idx="1"/>
          </p:cNvCxnSpPr>
          <p:nvPr/>
        </p:nvCxnSpPr>
        <p:spPr>
          <a:xfrm>
            <a:off x="1983486" y="4637142"/>
            <a:ext cx="852560" cy="4737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云形 89">
            <a:extLst>
              <a:ext uri="{FF2B5EF4-FFF2-40B4-BE49-F238E27FC236}">
                <a16:creationId xmlns:a16="http://schemas.microsoft.com/office/drawing/2014/main" id="{9AE709E3-85EC-44E8-BD81-84B5B6F00EE7}"/>
              </a:ext>
            </a:extLst>
          </p:cNvPr>
          <p:cNvSpPr/>
          <p:nvPr/>
        </p:nvSpPr>
        <p:spPr>
          <a:xfrm>
            <a:off x="4396811" y="4776760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9F0D7CC-2D05-475D-8A5B-BBC1211C3F87}"/>
              </a:ext>
            </a:extLst>
          </p:cNvPr>
          <p:cNvCxnSpPr>
            <a:stCxn id="87" idx="3"/>
            <a:endCxn id="90" idx="2"/>
          </p:cNvCxnSpPr>
          <p:nvPr/>
        </p:nvCxnSpPr>
        <p:spPr>
          <a:xfrm>
            <a:off x="3364796" y="5110900"/>
            <a:ext cx="103500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86A57B04-8ABA-4BEE-B609-71A0090C1908}"/>
              </a:ext>
            </a:extLst>
          </p:cNvPr>
          <p:cNvSpPr txBox="1"/>
          <p:nvPr/>
        </p:nvSpPr>
        <p:spPr>
          <a:xfrm>
            <a:off x="3175303" y="2251075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AEC3BF4-A26B-46A9-BD58-B52C58D4466E}"/>
              </a:ext>
            </a:extLst>
          </p:cNvPr>
          <p:cNvSpPr txBox="1"/>
          <p:nvPr/>
        </p:nvSpPr>
        <p:spPr>
          <a:xfrm>
            <a:off x="3174431" y="352338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7F569E01-96AA-4501-B77B-2A46B5D3BC5A}"/>
              </a:ext>
            </a:extLst>
          </p:cNvPr>
          <p:cNvSpPr txBox="1"/>
          <p:nvPr/>
        </p:nvSpPr>
        <p:spPr>
          <a:xfrm>
            <a:off x="2915114" y="4644444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77FD0A0A-980B-4B8F-A55E-BC3FEA00740E}"/>
              </a:ext>
            </a:extLst>
          </p:cNvPr>
          <p:cNvCxnSpPr>
            <a:stCxn id="96" idx="1"/>
          </p:cNvCxnSpPr>
          <p:nvPr/>
        </p:nvCxnSpPr>
        <p:spPr>
          <a:xfrm flipH="1">
            <a:off x="2271860" y="2389575"/>
            <a:ext cx="90344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E6BA24D4-08F1-4150-BC96-9AC54F3C27E8}"/>
              </a:ext>
            </a:extLst>
          </p:cNvPr>
          <p:cNvCxnSpPr>
            <a:stCxn id="96" idx="3"/>
          </p:cNvCxnSpPr>
          <p:nvPr/>
        </p:nvCxnSpPr>
        <p:spPr>
          <a:xfrm>
            <a:off x="3545917" y="2389575"/>
            <a:ext cx="68555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BD568914-5D76-4F3C-A1FD-38AF61578BDF}"/>
              </a:ext>
            </a:extLst>
          </p:cNvPr>
          <p:cNvCxnSpPr>
            <a:stCxn id="82" idx="2"/>
          </p:cNvCxnSpPr>
          <p:nvPr/>
        </p:nvCxnSpPr>
        <p:spPr>
          <a:xfrm flipH="1">
            <a:off x="2549582" y="2905237"/>
            <a:ext cx="815214" cy="105001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7D2DB96-1C3E-4C11-BB8D-0CC2F41250A0}"/>
              </a:ext>
            </a:extLst>
          </p:cNvPr>
          <p:cNvCxnSpPr>
            <a:stCxn id="82" idx="2"/>
            <a:endCxn id="90" idx="3"/>
          </p:cNvCxnSpPr>
          <p:nvPr/>
        </p:nvCxnSpPr>
        <p:spPr>
          <a:xfrm>
            <a:off x="3364796" y="2905237"/>
            <a:ext cx="1513777" cy="190973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FD9D40E-A2AA-4A25-9EE7-5E9C82F14212}"/>
              </a:ext>
            </a:extLst>
          </p:cNvPr>
          <p:cNvSpPr txBox="1"/>
          <p:nvPr/>
        </p:nvSpPr>
        <p:spPr>
          <a:xfrm>
            <a:off x="2264900" y="1994910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9DF83E8-9532-4D81-BBBA-75F2E2AFCB46}"/>
              </a:ext>
            </a:extLst>
          </p:cNvPr>
          <p:cNvSpPr txBox="1"/>
          <p:nvPr/>
        </p:nvSpPr>
        <p:spPr>
          <a:xfrm>
            <a:off x="3910709" y="198267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7E9FA9D6-744A-41B6-86CF-2A08AD678D60}"/>
              </a:ext>
            </a:extLst>
          </p:cNvPr>
          <p:cNvSpPr txBox="1"/>
          <p:nvPr/>
        </p:nvSpPr>
        <p:spPr>
          <a:xfrm>
            <a:off x="2357249" y="3484414"/>
            <a:ext cx="322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F3DA436-3E79-40B8-B461-2FB7FC301025}"/>
              </a:ext>
            </a:extLst>
          </p:cNvPr>
          <p:cNvSpPr txBox="1"/>
          <p:nvPr/>
        </p:nvSpPr>
        <p:spPr>
          <a:xfrm>
            <a:off x="4773937" y="422742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7401301" y="2417615"/>
            <a:ext cx="4536000" cy="21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最大距离：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15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表示不可达；因此适用于小型网络；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按照约定的时间间隔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，定期和</a:t>
            </a:r>
            <a:r>
              <a: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相邻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路由器交换路由表全部信息；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超过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180s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，则认为邻居不存在，更新路由表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简单、系统开销小；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b="1" kern="1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好消息传播快、坏消息传播慢；</a:t>
            </a:r>
            <a:endParaRPr lang="en-US" altLang="zh-CN" sz="1400" b="1" kern="10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6674760" y="1090198"/>
            <a:ext cx="720000" cy="1224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6674760" y="2417615"/>
            <a:ext cx="720000" cy="21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7401301" y="544157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1058</a:t>
            </a: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2453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674760" y="544157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7401301" y="469811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目的网络 距离 下一跳路由器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NET4  3  R2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6674760" y="469811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27426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椭圆 13">
            <a:extLst>
              <a:ext uri="{FF2B5EF4-FFF2-40B4-BE49-F238E27FC236}">
                <a16:creationId xmlns:a16="http://schemas.microsoft.com/office/drawing/2014/main" id="{66FB3ED7-D6F5-47B7-9E4A-22116919D9F1}"/>
              </a:ext>
            </a:extLst>
          </p:cNvPr>
          <p:cNvSpPr/>
          <p:nvPr/>
        </p:nvSpPr>
        <p:spPr>
          <a:xfrm>
            <a:off x="776377" y="1483743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8601200" y="1090198"/>
            <a:ext cx="3361413" cy="653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使用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分布式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的链路状态协议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736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9914006" y="55449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8601200" y="1816701"/>
            <a:ext cx="3361414" cy="21073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泛洪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，向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中所有路由器发送和本路由器相邻的所有路由器的链路状态信息；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当且仅当链路状态发生变化时才发送信息；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分层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的原理，将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进一步划分为若干区域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，以减少网络上的通信量；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7902928" y="1102676"/>
            <a:ext cx="708611" cy="6537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7902928" y="1829180"/>
            <a:ext cx="708611" cy="2103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8601200" y="5075054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</a:rPr>
              <a:t>RFC 2328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7902928" y="5071592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8621879" y="4000265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7902928" y="4009281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CAD32A0-22FF-444C-928E-9CE146ED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214" y="1743958"/>
            <a:ext cx="528750" cy="360000"/>
          </a:xfrm>
          <a:prstGeom prst="rect">
            <a:avLst/>
          </a:prstGeom>
        </p:spPr>
      </p:pic>
      <p:sp>
        <p:nvSpPr>
          <p:cNvPr id="17" name="云形 16">
            <a:extLst>
              <a:ext uri="{FF2B5EF4-FFF2-40B4-BE49-F238E27FC236}">
                <a16:creationId xmlns:a16="http://schemas.microsoft.com/office/drawing/2014/main" id="{4D6CE3A7-8B86-4B7F-A0EC-5A62D139FB95}"/>
              </a:ext>
            </a:extLst>
          </p:cNvPr>
          <p:cNvSpPr/>
          <p:nvPr/>
        </p:nvSpPr>
        <p:spPr>
          <a:xfrm>
            <a:off x="1229277" y="1791519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7C59D81-CA68-4DE9-BDDE-4190F7919081}"/>
              </a:ext>
            </a:extLst>
          </p:cNvPr>
          <p:cNvCxnSpPr>
            <a:cxnSpLocks/>
            <a:stCxn id="17" idx="0"/>
            <a:endCxn id="16" idx="1"/>
          </p:cNvCxnSpPr>
          <p:nvPr/>
        </p:nvCxnSpPr>
        <p:spPr>
          <a:xfrm flipV="1">
            <a:off x="2191997" y="1923958"/>
            <a:ext cx="288217" cy="20170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云形 20">
            <a:extLst>
              <a:ext uri="{FF2B5EF4-FFF2-40B4-BE49-F238E27FC236}">
                <a16:creationId xmlns:a16="http://schemas.microsoft.com/office/drawing/2014/main" id="{4DB2C3F5-B715-4920-864A-C36A9446D62E}"/>
              </a:ext>
            </a:extLst>
          </p:cNvPr>
          <p:cNvSpPr/>
          <p:nvPr/>
        </p:nvSpPr>
        <p:spPr>
          <a:xfrm>
            <a:off x="2480214" y="2802312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B25925F-AF5F-4A1F-9C66-1B480E0314E5}"/>
              </a:ext>
            </a:extLst>
          </p:cNvPr>
          <p:cNvCxnSpPr>
            <a:stCxn id="16" idx="2"/>
            <a:endCxn id="21" idx="3"/>
          </p:cNvCxnSpPr>
          <p:nvPr/>
        </p:nvCxnSpPr>
        <p:spPr>
          <a:xfrm>
            <a:off x="2744589" y="2103958"/>
            <a:ext cx="217387" cy="736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9A18EE13-ACA8-4E48-855C-84940DBD1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904" y="2637709"/>
            <a:ext cx="528750" cy="360000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BE2BA74-A0AA-4235-8AE4-4D783C7AA73D}"/>
              </a:ext>
            </a:extLst>
          </p:cNvPr>
          <p:cNvCxnSpPr>
            <a:stCxn id="21" idx="0"/>
            <a:endCxn id="26" idx="1"/>
          </p:cNvCxnSpPr>
          <p:nvPr/>
        </p:nvCxnSpPr>
        <p:spPr>
          <a:xfrm flipV="1">
            <a:off x="3442934" y="2817709"/>
            <a:ext cx="684970" cy="31874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ED174379-5F0C-4131-82FB-8A45DD9E886E}"/>
              </a:ext>
            </a:extLst>
          </p:cNvPr>
          <p:cNvSpPr/>
          <p:nvPr/>
        </p:nvSpPr>
        <p:spPr>
          <a:xfrm>
            <a:off x="3090959" y="355984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3381835F-76DD-422A-B0E9-A76B3C632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796" y="3820056"/>
            <a:ext cx="528750" cy="360000"/>
          </a:xfrm>
          <a:prstGeom prst="rect">
            <a:avLst/>
          </a:prstGeom>
        </p:spPr>
      </p:pic>
      <p:sp>
        <p:nvSpPr>
          <p:cNvPr id="33" name="云形 32">
            <a:extLst>
              <a:ext uri="{FF2B5EF4-FFF2-40B4-BE49-F238E27FC236}">
                <a16:creationId xmlns:a16="http://schemas.microsoft.com/office/drawing/2014/main" id="{6FB0DC22-063A-468E-99AD-C8CD579F9C4D}"/>
              </a:ext>
            </a:extLst>
          </p:cNvPr>
          <p:cNvSpPr/>
          <p:nvPr/>
        </p:nvSpPr>
        <p:spPr>
          <a:xfrm>
            <a:off x="3328929" y="413988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NET5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F29CBDB-E118-49AB-9490-1B9FEBE6F870}"/>
              </a:ext>
            </a:extLst>
          </p:cNvPr>
          <p:cNvCxnSpPr>
            <a:cxnSpLocks/>
            <a:stCxn id="33" idx="0"/>
            <a:endCxn id="32" idx="1"/>
          </p:cNvCxnSpPr>
          <p:nvPr/>
        </p:nvCxnSpPr>
        <p:spPr>
          <a:xfrm flipV="1">
            <a:off x="4291649" y="4000056"/>
            <a:ext cx="503147" cy="47397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云形 34">
            <a:extLst>
              <a:ext uri="{FF2B5EF4-FFF2-40B4-BE49-F238E27FC236}">
                <a16:creationId xmlns:a16="http://schemas.microsoft.com/office/drawing/2014/main" id="{1AF9E6A2-DD48-4249-8E88-7B84F750FD6C}"/>
              </a:ext>
            </a:extLst>
          </p:cNvPr>
          <p:cNvSpPr/>
          <p:nvPr/>
        </p:nvSpPr>
        <p:spPr>
          <a:xfrm>
            <a:off x="5108457" y="4513873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NET6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56FE786-26BF-4E57-8B15-27072D3B08AB}"/>
              </a:ext>
            </a:extLst>
          </p:cNvPr>
          <p:cNvCxnSpPr>
            <a:stCxn id="32" idx="2"/>
            <a:endCxn id="35" idx="3"/>
          </p:cNvCxnSpPr>
          <p:nvPr/>
        </p:nvCxnSpPr>
        <p:spPr>
          <a:xfrm>
            <a:off x="5059171" y="4180056"/>
            <a:ext cx="531048" cy="37202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6B29C74-E9A9-4E38-AD49-6CF04B1626F5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>
            <a:off x="4392279" y="2997709"/>
            <a:ext cx="666892" cy="8223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2038B7CF-26AB-4451-97FE-F602940624E8}"/>
              </a:ext>
            </a:extLst>
          </p:cNvPr>
          <p:cNvSpPr/>
          <p:nvPr/>
        </p:nvSpPr>
        <p:spPr>
          <a:xfrm>
            <a:off x="4647912" y="103025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DDA7BF89-990F-478E-9A39-B248C5576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024" y="1549825"/>
            <a:ext cx="528750" cy="360000"/>
          </a:xfrm>
          <a:prstGeom prst="rect">
            <a:avLst/>
          </a:prstGeom>
        </p:spPr>
      </p:pic>
      <p:sp>
        <p:nvSpPr>
          <p:cNvPr id="47" name="云形 46">
            <a:extLst>
              <a:ext uri="{FF2B5EF4-FFF2-40B4-BE49-F238E27FC236}">
                <a16:creationId xmlns:a16="http://schemas.microsoft.com/office/drawing/2014/main" id="{3374B425-7A94-4189-B044-E3ADF1ABBAE9}"/>
              </a:ext>
            </a:extLst>
          </p:cNvPr>
          <p:cNvSpPr/>
          <p:nvPr/>
        </p:nvSpPr>
        <p:spPr>
          <a:xfrm>
            <a:off x="5038652" y="233575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1585DA2-9AD6-49BB-BB5B-671185512B00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5520414" y="1729825"/>
            <a:ext cx="139610" cy="64414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云形 51">
            <a:extLst>
              <a:ext uri="{FF2B5EF4-FFF2-40B4-BE49-F238E27FC236}">
                <a16:creationId xmlns:a16="http://schemas.microsoft.com/office/drawing/2014/main" id="{5BED593D-CDF0-409C-9399-1B1423E31326}"/>
              </a:ext>
            </a:extLst>
          </p:cNvPr>
          <p:cNvSpPr/>
          <p:nvPr/>
        </p:nvSpPr>
        <p:spPr>
          <a:xfrm>
            <a:off x="6598392" y="1769818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C7416CA-E708-4035-8D5C-1D96FC380B90}"/>
              </a:ext>
            </a:extLst>
          </p:cNvPr>
          <p:cNvCxnSpPr>
            <a:cxnSpLocks/>
            <a:stCxn id="46" idx="3"/>
            <a:endCxn id="52" idx="2"/>
          </p:cNvCxnSpPr>
          <p:nvPr/>
        </p:nvCxnSpPr>
        <p:spPr>
          <a:xfrm>
            <a:off x="6188774" y="1729825"/>
            <a:ext cx="412607" cy="37413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8CE848ED-ADFC-46BE-B22F-0E848A615A83}"/>
              </a:ext>
            </a:extLst>
          </p:cNvPr>
          <p:cNvCxnSpPr>
            <a:cxnSpLocks/>
            <a:stCxn id="26" idx="3"/>
            <a:endCxn id="47" idx="2"/>
          </p:cNvCxnSpPr>
          <p:nvPr/>
        </p:nvCxnSpPr>
        <p:spPr>
          <a:xfrm flipV="1">
            <a:off x="4656654" y="2669897"/>
            <a:ext cx="384987" cy="147812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E240329F-C658-4EF4-AC59-96604B04145E}"/>
              </a:ext>
            </a:extLst>
          </p:cNvPr>
          <p:cNvSpPr txBox="1"/>
          <p:nvPr/>
        </p:nvSpPr>
        <p:spPr>
          <a:xfrm>
            <a:off x="3078081" y="1899137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AF57B95-1E14-4909-95CF-4A747A035E02}"/>
              </a:ext>
            </a:extLst>
          </p:cNvPr>
          <p:cNvSpPr txBox="1"/>
          <p:nvPr/>
        </p:nvSpPr>
        <p:spPr>
          <a:xfrm>
            <a:off x="5615912" y="124466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745A117-C0F9-450C-B430-936FE3413FD8}"/>
              </a:ext>
            </a:extLst>
          </p:cNvPr>
          <p:cNvSpPr txBox="1"/>
          <p:nvPr/>
        </p:nvSpPr>
        <p:spPr>
          <a:xfrm>
            <a:off x="4239124" y="3762964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8A83237-9929-4075-A642-D02A426677A9}"/>
              </a:ext>
            </a:extLst>
          </p:cNvPr>
          <p:cNvSpPr txBox="1"/>
          <p:nvPr/>
        </p:nvSpPr>
        <p:spPr>
          <a:xfrm>
            <a:off x="4026354" y="230529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R0</a:t>
            </a:r>
            <a:endParaRPr lang="zh-CN" altLang="en-US" sz="1200" b="1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5036112-5E33-4441-B73C-958D6DC1FA66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392279" y="1650466"/>
            <a:ext cx="0" cy="987243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2821E691-B977-46F3-8139-BFB85EBBCE0D}"/>
              </a:ext>
            </a:extLst>
          </p:cNvPr>
          <p:cNvSpPr txBox="1"/>
          <p:nvPr/>
        </p:nvSpPr>
        <p:spPr>
          <a:xfrm>
            <a:off x="4198230" y="1252996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FCAAA85-603C-4224-BCC1-2A9369C208CF}"/>
              </a:ext>
            </a:extLst>
          </p:cNvPr>
          <p:cNvSpPr txBox="1"/>
          <p:nvPr/>
        </p:nvSpPr>
        <p:spPr>
          <a:xfrm>
            <a:off x="802706" y="262907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3C9887B-140F-484C-A990-1BC2413657D7}"/>
              </a:ext>
            </a:extLst>
          </p:cNvPr>
          <p:cNvSpPr txBox="1"/>
          <p:nvPr/>
        </p:nvSpPr>
        <p:spPr>
          <a:xfrm>
            <a:off x="4903266" y="5657176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FDD7D2-B367-42FC-A94E-B0F49FE02986}"/>
              </a:ext>
            </a:extLst>
          </p:cNvPr>
          <p:cNvSpPr txBox="1"/>
          <p:nvPr/>
        </p:nvSpPr>
        <p:spPr>
          <a:xfrm>
            <a:off x="5896538" y="3218418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75FF14DA-D817-4A5B-A13F-81734BBC4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302" y="3017099"/>
            <a:ext cx="528750" cy="360000"/>
          </a:xfrm>
          <a:prstGeom prst="rect">
            <a:avLst/>
          </a:prstGeom>
        </p:spPr>
      </p:pic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8C541A2-FD3E-47DB-B1A0-C7C9715111E5}"/>
              </a:ext>
            </a:extLst>
          </p:cNvPr>
          <p:cNvCxnSpPr>
            <a:endCxn id="81" idx="0"/>
          </p:cNvCxnSpPr>
          <p:nvPr/>
        </p:nvCxnSpPr>
        <p:spPr>
          <a:xfrm>
            <a:off x="1711038" y="2489959"/>
            <a:ext cx="65639" cy="527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6BE7EE47-0018-474B-8795-753458BD2521}"/>
              </a:ext>
            </a:extLst>
          </p:cNvPr>
          <p:cNvSpPr txBox="1"/>
          <p:nvPr/>
        </p:nvSpPr>
        <p:spPr>
          <a:xfrm>
            <a:off x="1729718" y="33586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4" name="图片 93">
            <a:extLst>
              <a:ext uri="{FF2B5EF4-FFF2-40B4-BE49-F238E27FC236}">
                <a16:creationId xmlns:a16="http://schemas.microsoft.com/office/drawing/2014/main" id="{EEB2FB6B-C58E-431A-B303-405D64A9D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807" y="2706014"/>
            <a:ext cx="528750" cy="360000"/>
          </a:xfrm>
          <a:prstGeom prst="rect">
            <a:avLst/>
          </a:prstGeom>
        </p:spPr>
      </p:pic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27B05410-574E-498E-9910-CD936A6DCAC0}"/>
              </a:ext>
            </a:extLst>
          </p:cNvPr>
          <p:cNvCxnSpPr>
            <a:stCxn id="52" idx="1"/>
            <a:endCxn id="94" idx="0"/>
          </p:cNvCxnSpPr>
          <p:nvPr/>
        </p:nvCxnSpPr>
        <p:spPr>
          <a:xfrm flipH="1">
            <a:off x="6522182" y="2437385"/>
            <a:ext cx="557972" cy="268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889A0271-5774-45B9-929E-1205659FBFF7}"/>
              </a:ext>
            </a:extLst>
          </p:cNvPr>
          <p:cNvSpPr txBox="1"/>
          <p:nvPr/>
        </p:nvSpPr>
        <p:spPr>
          <a:xfrm>
            <a:off x="6825673" y="271147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DDDAED24-CB16-4FCE-B443-AFDD6C07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128" y="5264212"/>
            <a:ext cx="528750" cy="360000"/>
          </a:xfrm>
          <a:prstGeom prst="rect">
            <a:avLst/>
          </a:prstGeom>
        </p:spPr>
      </p:pic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B373663-8432-46CF-9518-EF38AD650009}"/>
              </a:ext>
            </a:extLst>
          </p:cNvPr>
          <p:cNvCxnSpPr>
            <a:stCxn id="35" idx="1"/>
            <a:endCxn id="104" idx="3"/>
          </p:cNvCxnSpPr>
          <p:nvPr/>
        </p:nvCxnSpPr>
        <p:spPr>
          <a:xfrm flipH="1">
            <a:off x="4772878" y="5181440"/>
            <a:ext cx="817341" cy="2627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1360971-D528-4405-A2ED-24A0AB9F8712}"/>
              </a:ext>
            </a:extLst>
          </p:cNvPr>
          <p:cNvSpPr txBox="1"/>
          <p:nvPr/>
        </p:nvSpPr>
        <p:spPr>
          <a:xfrm>
            <a:off x="4381933" y="491905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419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路由协议的特点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Features</a:t>
            </a:r>
            <a:endParaRPr lang="zh-CN" altLang="en-US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689087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完整性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182260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709701-F427-4C29-A01F-5F49E7AEA451}"/>
              </a:ext>
            </a:extLst>
          </p:cNvPr>
          <p:cNvSpPr/>
          <p:nvPr/>
        </p:nvSpPr>
        <p:spPr>
          <a:xfrm>
            <a:off x="193971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正确性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1C51A7-4E88-4122-9E85-ED4E635B0D1C}"/>
              </a:ext>
            </a:extLst>
          </p:cNvPr>
          <p:cNvSpPr/>
          <p:nvPr/>
        </p:nvSpPr>
        <p:spPr>
          <a:xfrm>
            <a:off x="5301127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EA07342-A5B6-4B4E-A13E-793021ACF9C7}"/>
              </a:ext>
            </a:extLst>
          </p:cNvPr>
          <p:cNvSpPr/>
          <p:nvPr/>
        </p:nvSpPr>
        <p:spPr>
          <a:xfrm>
            <a:off x="689087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适应性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0F9D218-B35A-4083-AC9E-505C684A3253}"/>
              </a:ext>
            </a:extLst>
          </p:cNvPr>
          <p:cNvSpPr/>
          <p:nvPr/>
        </p:nvSpPr>
        <p:spPr>
          <a:xfrm>
            <a:off x="6182260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DF08DF-8DF4-4E8D-AC04-2FA5481C0C7C}"/>
              </a:ext>
            </a:extLst>
          </p:cNvPr>
          <p:cNvSpPr/>
          <p:nvPr/>
        </p:nvSpPr>
        <p:spPr>
          <a:xfrm>
            <a:off x="193971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简单性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6CB199-18C0-4E9F-AF75-63F875FC0018}"/>
              </a:ext>
            </a:extLst>
          </p:cNvPr>
          <p:cNvSpPr/>
          <p:nvPr/>
        </p:nvSpPr>
        <p:spPr>
          <a:xfrm>
            <a:off x="5301127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7EB20C6-543E-413F-B675-A9144AA78CAD}"/>
              </a:ext>
            </a:extLst>
          </p:cNvPr>
          <p:cNvSpPr/>
          <p:nvPr/>
        </p:nvSpPr>
        <p:spPr>
          <a:xfrm>
            <a:off x="689087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公平性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19A667-EFEB-4FA8-8FD2-C5C4E11F955F}"/>
              </a:ext>
            </a:extLst>
          </p:cNvPr>
          <p:cNvSpPr/>
          <p:nvPr/>
        </p:nvSpPr>
        <p:spPr>
          <a:xfrm>
            <a:off x="6182260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9727C5F-A354-4866-A3EC-83F0300AFB99}"/>
              </a:ext>
            </a:extLst>
          </p:cNvPr>
          <p:cNvSpPr/>
          <p:nvPr/>
        </p:nvSpPr>
        <p:spPr>
          <a:xfrm>
            <a:off x="193971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稳定性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D385CFD-07D5-4042-8A3A-9ACE24387A82}"/>
              </a:ext>
            </a:extLst>
          </p:cNvPr>
          <p:cNvSpPr/>
          <p:nvPr/>
        </p:nvSpPr>
        <p:spPr>
          <a:xfrm>
            <a:off x="5301127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8D3BDD1-F9EB-4302-8C30-F950568A15CA}"/>
              </a:ext>
            </a:extLst>
          </p:cNvPr>
          <p:cNvSpPr/>
          <p:nvPr/>
        </p:nvSpPr>
        <p:spPr>
          <a:xfrm>
            <a:off x="1939713" y="4289965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最佳性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3595060-5659-471A-80E9-8088199BEA47}"/>
              </a:ext>
            </a:extLst>
          </p:cNvPr>
          <p:cNvSpPr/>
          <p:nvPr/>
        </p:nvSpPr>
        <p:spPr>
          <a:xfrm>
            <a:off x="5301127" y="4289965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951B0B2-EC3D-4457-A870-17F7CD2C2CE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70EC5FF-17EF-408F-B68F-B0048023129B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252504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31E2E50-78EC-47D2-897A-72D392669A0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2520736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8195C32-E612-4C2F-A2A9-5037B5E963E3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0BFD79A-2AAC-49B2-8836-7307561AA2B5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A1F4E430-28A8-45BA-8EE6-5C103122538E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4497565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4F39622-88D4-4400-AD91-A487E2362334}"/>
              </a:ext>
            </a:extLst>
          </p:cNvPr>
          <p:cNvPicPr>
            <a:picLocks noChangeAspect="1"/>
          </p:cNvPicPr>
          <p:nvPr/>
        </p:nvPicPr>
        <p:blipFill>
          <a:blip r:embed="rId8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13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100" dirty="0" smtClean="0">
            <a:latin typeface="Courier New" panose="02070309020205020404" pitchFamily="49" charset="0"/>
            <a:ea typeface="微软雅黑 Light" panose="020B0502040204020203" pitchFamily="34" charset="-122"/>
            <a:cs typeface="Times New Roman" panose="020206030504050203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4487</TotalTime>
  <Words>2049</Words>
  <Application>Microsoft Office PowerPoint</Application>
  <PresentationFormat>宽屏</PresentationFormat>
  <Paragraphs>506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7" baseType="lpstr">
      <vt:lpstr>Cuprum</vt:lpstr>
      <vt:lpstr>等线</vt:lpstr>
      <vt:lpstr>等线 Light</vt:lpstr>
      <vt:lpstr>微软雅黑</vt:lpstr>
      <vt:lpstr>微软雅黑 Light</vt:lpstr>
      <vt:lpstr>Arial</vt:lpstr>
      <vt:lpstr>Courier New</vt:lpstr>
      <vt:lpstr>Montserrat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路由</vt:lpstr>
      <vt:lpstr>路由器</vt:lpstr>
      <vt:lpstr>静态路由</vt:lpstr>
      <vt:lpstr>默认路由</vt:lpstr>
      <vt:lpstr>主机路由</vt:lpstr>
      <vt:lpstr>路由聚合</vt:lpstr>
      <vt:lpstr>路由协议</vt:lpstr>
      <vt:lpstr>开放最短路径优先</vt:lpstr>
      <vt:lpstr>路由信息协议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cn plaman</cp:lastModifiedBy>
  <cp:revision>1348</cp:revision>
  <dcterms:created xsi:type="dcterms:W3CDTF">2021-05-10T03:08:00Z</dcterms:created>
  <dcterms:modified xsi:type="dcterms:W3CDTF">2025-11-13T12:51:03Z</dcterms:modified>
</cp:coreProperties>
</file>