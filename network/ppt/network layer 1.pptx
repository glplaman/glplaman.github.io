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73" r:id="rId5"/>
    <p:sldId id="257" r:id="rId6"/>
    <p:sldId id="261" r:id="rId7"/>
    <p:sldId id="259" r:id="rId8"/>
    <p:sldId id="262" r:id="rId9"/>
    <p:sldId id="263" r:id="rId10"/>
    <p:sldId id="274" r:id="rId11"/>
    <p:sldId id="264" r:id="rId12"/>
    <p:sldId id="266" r:id="rId13"/>
    <p:sldId id="265" r:id="rId14"/>
    <p:sldId id="267" r:id="rId15"/>
    <p:sldId id="288" r:id="rId16"/>
    <p:sldId id="289" r:id="rId17"/>
    <p:sldId id="290" r:id="rId18"/>
    <p:sldId id="268" r:id="rId19"/>
    <p:sldId id="279" r:id="rId20"/>
    <p:sldId id="276" r:id="rId21"/>
    <p:sldId id="277" r:id="rId22"/>
    <p:sldId id="291" r:id="rId23"/>
    <p:sldId id="292" r:id="rId24"/>
    <p:sldId id="278" r:id="rId25"/>
    <p:sldId id="284" r:id="rId26"/>
    <p:sldId id="339" r:id="rId27"/>
    <p:sldId id="340" r:id="rId28"/>
    <p:sldId id="341" r:id="rId29"/>
    <p:sldId id="275" r:id="rId30"/>
    <p:sldId id="281" r:id="rId31"/>
    <p:sldId id="282" r:id="rId32"/>
    <p:sldId id="315" r:id="rId33"/>
    <p:sldId id="317" r:id="rId34"/>
    <p:sldId id="316" r:id="rId35"/>
    <p:sldId id="294" r:id="rId36"/>
    <p:sldId id="258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280" r:id="rId46"/>
    <p:sldId id="318" r:id="rId47"/>
    <p:sldId id="303" r:id="rId48"/>
    <p:sldId id="343" r:id="rId49"/>
    <p:sldId id="283" r:id="rId50"/>
    <p:sldId id="320" r:id="rId51"/>
    <p:sldId id="321" r:id="rId52"/>
    <p:sldId id="322" r:id="rId53"/>
    <p:sldId id="323" r:id="rId54"/>
    <p:sldId id="324" r:id="rId55"/>
    <p:sldId id="325" r:id="rId56"/>
    <p:sldId id="326" r:id="rId57"/>
    <p:sldId id="327" r:id="rId58"/>
    <p:sldId id="328" r:id="rId59"/>
    <p:sldId id="260" r:id="rId60"/>
    <p:sldId id="334" r:id="rId61"/>
    <p:sldId id="335" r:id="rId62"/>
    <p:sldId id="337" r:id="rId63"/>
    <p:sldId id="338" r:id="rId64"/>
    <p:sldId id="293" r:id="rId65"/>
    <p:sldId id="285" r:id="rId66"/>
    <p:sldId id="286" r:id="rId67"/>
    <p:sldId id="287" r:id="rId68"/>
    <p:sldId id="332" r:id="rId69"/>
    <p:sldId id="329" r:id="rId70"/>
    <p:sldId id="331" r:id="rId71"/>
    <p:sldId id="269" r:id="rId72"/>
    <p:sldId id="314" r:id="rId73"/>
    <p:sldId id="333" r:id="rId74"/>
    <p:sldId id="342" r:id="rId7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ctr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7046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860000" y="6017358"/>
            <a:ext cx="247200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60000" y="6275890"/>
            <a:ext cx="2472000" cy="263149"/>
          </a:xfrm>
        </p:spPr>
        <p:txBody>
          <a:bodyPr wrap="square" lIns="46800" rIns="468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8FA202-8560-4255-963F-796411D0CC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582612"/>
            <a:ext cx="10800000" cy="5261593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695890" y="5998891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模拟操作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538796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Simulation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000" y="1131217"/>
            <a:ext cx="10800000" cy="469931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000" y="1216551"/>
            <a:ext cx="10800000" cy="461397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65F0590-DB9D-4B39-984F-02D99F66515B}"/>
              </a:ext>
            </a:extLst>
          </p:cNvPr>
          <p:cNvSpPr txBox="1"/>
          <p:nvPr userDrawn="1"/>
        </p:nvSpPr>
        <p:spPr>
          <a:xfrm>
            <a:off x="711489" y="489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C12C75-A78F-46FA-B7F8-54C0462FE861}"/>
              </a:ext>
            </a:extLst>
          </p:cNvPr>
          <p:cNvSpPr txBox="1"/>
          <p:nvPr userDrawn="1"/>
        </p:nvSpPr>
        <p:spPr>
          <a:xfrm>
            <a:off x="3050250" y="48935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8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8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000" y="1394365"/>
            <a:ext cx="10800000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726276E-305B-4D4B-8430-5D634744C93A}"/>
              </a:ext>
            </a:extLst>
          </p:cNvPr>
          <p:cNvSpPr txBox="1"/>
          <p:nvPr userDrawn="1"/>
        </p:nvSpPr>
        <p:spPr>
          <a:xfrm>
            <a:off x="720000" y="489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600EA-2DE6-4EC4-945D-34DEA9AA942C}"/>
              </a:ext>
            </a:extLst>
          </p:cNvPr>
          <p:cNvSpPr txBox="1"/>
          <p:nvPr userDrawn="1"/>
        </p:nvSpPr>
        <p:spPr>
          <a:xfrm>
            <a:off x="2844504" y="489351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8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8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2022/4/5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4" r:id="rId2"/>
    <p:sldLayoutId id="2147483660" r:id="rId3"/>
    <p:sldLayoutId id="2147483661" r:id="rId4"/>
    <p:sldLayoutId id="2147483662" r:id="rId5"/>
    <p:sldLayoutId id="214748366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buClr>
          <a:srgbClr val="C00000"/>
        </a:buClr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ebp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fif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492F98CF-3E95-4DAB-A4BA-8EAE42FE7D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79963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390930979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84280457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61237631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27931442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668843488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104644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3600" dirty="0">
                          <a:latin typeface="Cuprum" panose="00000500000000000000" pitchFamily="2" charset="0"/>
                        </a:rPr>
                        <a:t>Chapter 4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600" dirty="0">
                          <a:latin typeface="Cuprum" panose="00000500000000000000" pitchFamily="2" charset="0"/>
                        </a:rPr>
                        <a:t>网络层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95023410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26944948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4946335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3600" dirty="0">
                        <a:latin typeface="Cuprum" panose="00000500000000000000" pitchFamily="2" charset="0"/>
                      </a:endParaRPr>
                    </a:p>
                  </a:txBody>
                  <a:tcPr anchor="ctr">
                    <a:blipFill dpi="0" rotWithShape="1">
                      <a:blip r:embed="rId2"/>
                      <a:srcRect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27913008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4318826" y="1025235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1242291" y="1671566"/>
            <a:ext cx="184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2BBAD5E4-31A2-46D7-9FCE-A9589A236973}"/>
              </a:ext>
            </a:extLst>
          </p:cNvPr>
          <p:cNvSpPr txBox="1"/>
          <p:nvPr/>
        </p:nvSpPr>
        <p:spPr>
          <a:xfrm>
            <a:off x="5080341" y="2007750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虚拟网络互连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2456B5-1B6E-49FB-B5A3-F2F2DECA0E52}"/>
              </a:ext>
            </a:extLst>
          </p:cNvPr>
          <p:cNvSpPr txBox="1"/>
          <p:nvPr/>
        </p:nvSpPr>
        <p:spPr>
          <a:xfrm>
            <a:off x="5105989" y="2570768"/>
            <a:ext cx="1980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地址的使用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A6F7B7D-E318-412E-92D4-021CA3B9322C}"/>
              </a:ext>
            </a:extLst>
          </p:cNvPr>
          <p:cNvSpPr txBox="1"/>
          <p:nvPr/>
        </p:nvSpPr>
        <p:spPr>
          <a:xfrm>
            <a:off x="4763042" y="3696804"/>
            <a:ext cx="2665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地址和</a:t>
            </a:r>
            <a:r>
              <a:rPr lang="en-US" altLang="zh-CN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</a:t>
            </a:r>
            <a:endParaRPr lang="zh-CN" altLang="en-US" sz="24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B1556C5D-5C38-4B45-BB2F-1C84A8E8D4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主要内容</a:t>
            </a:r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DBA0FD42-A8B3-4C9F-AAF9-1EC1AD5A2AB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Contents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2D2A53-A049-48B0-9F8D-21F5F3716A8C}"/>
              </a:ext>
            </a:extLst>
          </p:cNvPr>
          <p:cNvSpPr txBox="1"/>
          <p:nvPr/>
        </p:nvSpPr>
        <p:spPr>
          <a:xfrm>
            <a:off x="5388117" y="425982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路由协议</a:t>
            </a:r>
            <a:endParaRPr lang="zh-CN" altLang="en-US" sz="24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F267F5-80C7-4A03-9D7B-9802A1948CC2}"/>
              </a:ext>
            </a:extLst>
          </p:cNvPr>
          <p:cNvSpPr txBox="1"/>
          <p:nvPr/>
        </p:nvSpPr>
        <p:spPr>
          <a:xfrm>
            <a:off x="5413765" y="3133786"/>
            <a:ext cx="1364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数据报</a:t>
            </a:r>
            <a:endParaRPr lang="zh-CN" altLang="en-US" sz="24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20E261-D90E-4D05-8470-75A3D8601BDB}"/>
              </a:ext>
            </a:extLst>
          </p:cNvPr>
          <p:cNvSpPr txBox="1"/>
          <p:nvPr/>
        </p:nvSpPr>
        <p:spPr>
          <a:xfrm>
            <a:off x="5388117" y="482284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常用命令</a:t>
            </a:r>
            <a:endParaRPr lang="zh-CN" altLang="en-US" sz="24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9373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DFBA961-8C3C-48A3-9AE6-8B2608771E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7280D4-07C5-40ED-97B9-026CBA39B3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Overview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D38ABB4-2FA0-48D8-A5B0-E7657FC609C0}"/>
              </a:ext>
            </a:extLst>
          </p:cNvPr>
          <p:cNvSpPr txBox="1"/>
          <p:nvPr/>
        </p:nvSpPr>
        <p:spPr>
          <a:xfrm>
            <a:off x="3695345" y="1071834"/>
            <a:ext cx="48013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将数组分组从源主机送到目的主机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627B17-459E-467B-96CD-7328E768820D}"/>
              </a:ext>
            </a:extLst>
          </p:cNvPr>
          <p:cNvSpPr txBox="1"/>
          <p:nvPr/>
        </p:nvSpPr>
        <p:spPr>
          <a:xfrm>
            <a:off x="3487644" y="3262828"/>
            <a:ext cx="17805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Where am I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？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E5C9F0-DCAC-439E-A5B8-5E354FF83585}"/>
              </a:ext>
            </a:extLst>
          </p:cNvPr>
          <p:cNvSpPr txBox="1"/>
          <p:nvPr/>
        </p:nvSpPr>
        <p:spPr>
          <a:xfrm>
            <a:off x="3365816" y="3688400"/>
            <a:ext cx="19023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Where to go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？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7B454D-19FB-4381-ACEE-8E1D6093EE60}"/>
              </a:ext>
            </a:extLst>
          </p:cNvPr>
          <p:cNvSpPr txBox="1"/>
          <p:nvPr/>
        </p:nvSpPr>
        <p:spPr>
          <a:xfrm>
            <a:off x="3232061" y="4113972"/>
            <a:ext cx="20361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Which to take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？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320B2-2EF3-472C-A666-41F12C2D3383}"/>
              </a:ext>
            </a:extLst>
          </p:cNvPr>
          <p:cNvSpPr txBox="1"/>
          <p:nvPr/>
        </p:nvSpPr>
        <p:spPr>
          <a:xfrm>
            <a:off x="3703344" y="2837256"/>
            <a:ext cx="1564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Who am I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？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D51150E-9B18-4AE3-B538-7FD26F099188}"/>
              </a:ext>
            </a:extLst>
          </p:cNvPr>
          <p:cNvSpPr txBox="1"/>
          <p:nvPr/>
        </p:nvSpPr>
        <p:spPr>
          <a:xfrm>
            <a:off x="5490705" y="3262828"/>
            <a:ext cx="1210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我在哪儿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9DEDAFD-278E-454E-873D-1DE81695FC6A}"/>
              </a:ext>
            </a:extLst>
          </p:cNvPr>
          <p:cNvSpPr txBox="1"/>
          <p:nvPr/>
        </p:nvSpPr>
        <p:spPr>
          <a:xfrm>
            <a:off x="5618946" y="368840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怎么走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7008B34-418C-4D33-A655-8037EA1A1F93}"/>
              </a:ext>
            </a:extLst>
          </p:cNvPr>
          <p:cNvSpPr txBox="1"/>
          <p:nvPr/>
        </p:nvSpPr>
        <p:spPr>
          <a:xfrm>
            <a:off x="5618946" y="4113972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选哪个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9A69B0B-B0B8-4EED-97FC-1B89473D73B7}"/>
              </a:ext>
            </a:extLst>
          </p:cNvPr>
          <p:cNvSpPr txBox="1"/>
          <p:nvPr/>
        </p:nvSpPr>
        <p:spPr>
          <a:xfrm>
            <a:off x="5618946" y="2837256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我是谁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BC47AE0-BB1E-4BF0-92FC-9812F31E6152}"/>
              </a:ext>
            </a:extLst>
          </p:cNvPr>
          <p:cNvSpPr txBox="1"/>
          <p:nvPr/>
        </p:nvSpPr>
        <p:spPr>
          <a:xfrm>
            <a:off x="6923804" y="326282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网络环境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4E13F7A-3AC8-448E-B1FF-99699C999ED8}"/>
              </a:ext>
            </a:extLst>
          </p:cNvPr>
          <p:cNvSpPr txBox="1"/>
          <p:nvPr/>
        </p:nvSpPr>
        <p:spPr>
          <a:xfrm>
            <a:off x="6923804" y="368840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路由协议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D7E28E4-0B5D-467E-AE30-B792218C2F25}"/>
              </a:ext>
            </a:extLst>
          </p:cNvPr>
          <p:cNvSpPr txBox="1"/>
          <p:nvPr/>
        </p:nvSpPr>
        <p:spPr>
          <a:xfrm>
            <a:off x="6923804" y="411397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路由状态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CFB4A91-92D0-4DC5-BBB3-313FCC9B7097}"/>
              </a:ext>
            </a:extLst>
          </p:cNvPr>
          <p:cNvSpPr txBox="1"/>
          <p:nvPr/>
        </p:nvSpPr>
        <p:spPr>
          <a:xfrm>
            <a:off x="6923804" y="2837256"/>
            <a:ext cx="910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C37DBEB-52A2-4487-AD4A-2ECA911D0D7B}"/>
              </a:ext>
            </a:extLst>
          </p:cNvPr>
          <p:cNvCxnSpPr>
            <a:cxnSpLocks/>
          </p:cNvCxnSpPr>
          <p:nvPr/>
        </p:nvCxnSpPr>
        <p:spPr>
          <a:xfrm>
            <a:off x="5362466" y="2036190"/>
            <a:ext cx="0" cy="3431356"/>
          </a:xfrm>
          <a:prstGeom prst="line">
            <a:avLst/>
          </a:prstGeom>
          <a:ln w="12700">
            <a:gradFill>
              <a:gsLst>
                <a:gs pos="75228">
                  <a:schemeClr val="bg1">
                    <a:lumMod val="50000"/>
                  </a:schemeClr>
                </a:gs>
                <a:gs pos="25000">
                  <a:schemeClr val="bg1">
                    <a:lumMod val="50000"/>
                  </a:schemeClr>
                </a:gs>
                <a:gs pos="0">
                  <a:schemeClr val="bg1"/>
                </a:gs>
                <a:gs pos="5000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C887891-241D-4EA7-A4C9-59F421C8FC2B}"/>
              </a:ext>
            </a:extLst>
          </p:cNvPr>
          <p:cNvCxnSpPr>
            <a:cxnSpLocks/>
          </p:cNvCxnSpPr>
          <p:nvPr/>
        </p:nvCxnSpPr>
        <p:spPr>
          <a:xfrm>
            <a:off x="6829534" y="2036190"/>
            <a:ext cx="0" cy="3431356"/>
          </a:xfrm>
          <a:prstGeom prst="line">
            <a:avLst/>
          </a:prstGeom>
          <a:ln w="12700">
            <a:gradFill>
              <a:gsLst>
                <a:gs pos="75228">
                  <a:schemeClr val="bg1">
                    <a:lumMod val="50000"/>
                  </a:schemeClr>
                </a:gs>
                <a:gs pos="25000">
                  <a:schemeClr val="bg1">
                    <a:lumMod val="50000"/>
                  </a:schemeClr>
                </a:gs>
                <a:gs pos="0">
                  <a:schemeClr val="bg1"/>
                </a:gs>
                <a:gs pos="5000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77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FE07CA8-FCA4-4BC7-9F6C-9DD72066CC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主要任务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F1DFB-689B-4CCE-AB9C-1979DAC473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Objective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F071DF-7D3B-4DC7-ABE1-06E0DAB0DE2B}"/>
              </a:ext>
            </a:extLst>
          </p:cNvPr>
          <p:cNvSpPr txBox="1"/>
          <p:nvPr/>
        </p:nvSpPr>
        <p:spPr>
          <a:xfrm>
            <a:off x="2788223" y="390325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转发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13F71-BF69-424B-9A0C-95E29B955BAC}"/>
              </a:ext>
            </a:extLst>
          </p:cNvPr>
          <p:cNvSpPr txBox="1"/>
          <p:nvPr/>
        </p:nvSpPr>
        <p:spPr>
          <a:xfrm>
            <a:off x="8808742" y="390325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路由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A776D17-51F6-4763-B6B7-D1F27FBA3AA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141" y="2684058"/>
            <a:ext cx="1219200" cy="12192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F972076-3D00-489B-B35B-DA4F5138AC8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6660" y="2684058"/>
            <a:ext cx="1219200" cy="1219200"/>
          </a:xfrm>
          <a:prstGeom prst="rect">
            <a:avLst/>
          </a:prstGeom>
        </p:spPr>
      </p:pic>
      <p:sp>
        <p:nvSpPr>
          <p:cNvPr id="11" name="弧形 10">
            <a:extLst>
              <a:ext uri="{FF2B5EF4-FFF2-40B4-BE49-F238E27FC236}">
                <a16:creationId xmlns:a16="http://schemas.microsoft.com/office/drawing/2014/main" id="{3A711186-86F6-4FE0-8A47-D7159CA2B0BA}"/>
              </a:ext>
            </a:extLst>
          </p:cNvPr>
          <p:cNvSpPr/>
          <p:nvPr/>
        </p:nvSpPr>
        <p:spPr>
          <a:xfrm>
            <a:off x="2078446" y="2133119"/>
            <a:ext cx="2014588" cy="1771575"/>
          </a:xfrm>
          <a:prstGeom prst="arc">
            <a:avLst>
              <a:gd name="adj1" fmla="val 1539298"/>
              <a:gd name="adj2" fmla="val 9174605"/>
            </a:avLst>
          </a:prstGeom>
          <a:noFill/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BA9593D8-4D59-4755-8A8E-458DF128447F}"/>
              </a:ext>
            </a:extLst>
          </p:cNvPr>
          <p:cNvSpPr/>
          <p:nvPr/>
        </p:nvSpPr>
        <p:spPr>
          <a:xfrm>
            <a:off x="8098965" y="2133119"/>
            <a:ext cx="2014588" cy="1771575"/>
          </a:xfrm>
          <a:prstGeom prst="arc">
            <a:avLst>
              <a:gd name="adj1" fmla="val 1539298"/>
              <a:gd name="adj2" fmla="val 9174605"/>
            </a:avLst>
          </a:prstGeom>
          <a:noFill/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1163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椭圆 56">
            <a:extLst>
              <a:ext uri="{FF2B5EF4-FFF2-40B4-BE49-F238E27FC236}">
                <a16:creationId xmlns:a16="http://schemas.microsoft.com/office/drawing/2014/main" id="{46BD4BB5-29CD-43D9-AC3D-7156960A47B4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01D74E5E-70A8-4E75-A8A6-FA1E88CBEBA7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2504A2B5-6236-49DC-BA8F-AA98C48D36E8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29C0CBE-6D7E-44B0-8154-5A2C70A7A398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3CCC498C-F72F-4850-8130-409ED03D630B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7564206-DD72-4879-B9C0-DC67ED477421}"/>
              </a:ext>
            </a:extLst>
          </p:cNvPr>
          <p:cNvSpPr txBox="1"/>
          <p:nvPr/>
        </p:nvSpPr>
        <p:spPr>
          <a:xfrm>
            <a:off x="4721265" y="2810504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zh-CN" altLang="en-US" sz="4000" dirty="0">
                <a:gradFill>
                  <a:gsLst>
                    <a:gs pos="0">
                      <a:srgbClr val="FF0101"/>
                    </a:gs>
                    <a:gs pos="50000">
                      <a:schemeClr val="accent4">
                        <a:lumMod val="60000"/>
                        <a:lumOff val="40000"/>
                      </a:schemeClr>
                    </a:gs>
                    <a:gs pos="100000">
                      <a:srgbClr val="C00000"/>
                    </a:gs>
                  </a:gsLst>
                  <a:lin ang="3600000" scaled="0"/>
                </a:gra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方正大黑简体" panose="03000509000000000000" pitchFamily="65" charset="-122"/>
                <a:ea typeface="方正大黑简体" panose="03000509000000000000" pitchFamily="65" charset="-122"/>
                <a:cs typeface="Montserrat" charset="0"/>
              </a:rPr>
              <a:t>虚电路服务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4F7499-294F-4552-ADAD-331217D1A7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网络层服务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5A9BA5-BFBB-497C-AD9B-5152706C2E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Service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A0C4779-76B8-4E63-BF0B-D6BA0BD46374}"/>
              </a:ext>
            </a:extLst>
          </p:cNvPr>
          <p:cNvSpPr txBox="1"/>
          <p:nvPr/>
        </p:nvSpPr>
        <p:spPr>
          <a:xfrm>
            <a:off x="4832802" y="4436412"/>
            <a:ext cx="25263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Virtual Circuit</a:t>
            </a:r>
            <a:endParaRPr lang="zh-CN" altLang="en-US" sz="28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893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3" presetClass="entr" presetSubtype="16" repeatCount="indefinite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repeatCount="indefinite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3" presetClass="entr" presetSubtype="16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repeatCount="indefinite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3" presetClass="entr" presetSubtype="16" repeatCount="indefinite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repeatCount="indefinite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3" presetClass="entr" presetSubtype="16" repeatCount="indefinite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repeatCount="indefinite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42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.00078 0.05162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" y="25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893B82DE-4E39-4353-A218-39E6E1CC15DD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85CB90D-0EE0-4A4B-A596-98DB2715F746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CDB75A9-3A2E-4DF9-8BD2-A20CE55A10B9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9761C2E9-4F94-41D8-9680-0E6CD1C2AC0F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FA291E0-446D-4395-8D73-3998DF875B4B}"/>
              </a:ext>
            </a:extLst>
          </p:cNvPr>
          <p:cNvSpPr/>
          <p:nvPr/>
        </p:nvSpPr>
        <p:spPr>
          <a:xfrm>
            <a:off x="3576000" y="3626594"/>
            <a:ext cx="5040000" cy="54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B51A94B-0F1C-42B1-BB1C-3D19F1C2B08C}"/>
              </a:ext>
            </a:extLst>
          </p:cNvPr>
          <p:cNvSpPr txBox="1"/>
          <p:nvPr/>
        </p:nvSpPr>
        <p:spPr>
          <a:xfrm>
            <a:off x="4702093" y="2810504"/>
            <a:ext cx="27878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zh-CN" altLang="en-US" sz="4000" dirty="0">
                <a:gradFill>
                  <a:gsLst>
                    <a:gs pos="0">
                      <a:srgbClr val="FF0101"/>
                    </a:gs>
                    <a:gs pos="50000">
                      <a:schemeClr val="accent4">
                        <a:lumMod val="60000"/>
                        <a:lumOff val="40000"/>
                      </a:schemeClr>
                    </a:gs>
                    <a:gs pos="100000">
                      <a:srgbClr val="C00000"/>
                    </a:gs>
                  </a:gsLst>
                  <a:lin ang="3600000" scaled="0"/>
                </a:gra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方正大黑简体" panose="03000509000000000000" pitchFamily="65" charset="-122"/>
                <a:ea typeface="方正大黑简体" panose="03000509000000000000" pitchFamily="65" charset="-122"/>
                <a:cs typeface="Montserrat" charset="0"/>
              </a:rPr>
              <a:t>数据报服务</a:t>
            </a: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4B36E1B-D7A6-4BCC-B237-C513E4DAB2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网络层服务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50ADA7-B9CB-4E45-A1CC-972F8B5DFD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Service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27963E-EC9F-4716-9115-DEA6CE7F7EA0}"/>
              </a:ext>
            </a:extLst>
          </p:cNvPr>
          <p:cNvSpPr txBox="1"/>
          <p:nvPr/>
        </p:nvSpPr>
        <p:spPr>
          <a:xfrm>
            <a:off x="5150069" y="4436412"/>
            <a:ext cx="18918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Datagram</a:t>
            </a:r>
            <a:endParaRPr lang="zh-CN" altLang="en-US" sz="28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215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3" presetClass="entr" presetSubtype="16" repeatCount="indefinite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repeatCount="indefinite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3" presetClass="entr" presetSubtype="16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repeatCount="indefinite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3" presetClass="entr" presetSubtype="16" repeatCount="indefinite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repeatCount="indefinite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3" presetClass="entr" presetSubtype="16" repeatCount="indefinite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repeatCount="indefinite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42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.00078 0.05162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" y="25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5F6225-2736-46A4-A0BB-989C3E91A9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虚电路和数据报</a:t>
            </a:r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19E3A683-59EE-4D8A-9679-5123EC8451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VC VS Datagram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26DA29-4BEB-4C33-A339-362F7B597266}"/>
              </a:ext>
            </a:extLst>
          </p:cNvPr>
          <p:cNvSpPr/>
          <p:nvPr/>
        </p:nvSpPr>
        <p:spPr>
          <a:xfrm>
            <a:off x="3739297" y="2483259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无连接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188E71-5752-4296-819C-AE8EA2733804}"/>
              </a:ext>
            </a:extLst>
          </p:cNvPr>
          <p:cNvSpPr/>
          <p:nvPr/>
        </p:nvSpPr>
        <p:spPr>
          <a:xfrm>
            <a:off x="3739297" y="3083604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随机到达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D080FF-7245-424F-8312-92039CE0846D}"/>
              </a:ext>
            </a:extLst>
          </p:cNvPr>
          <p:cNvSpPr/>
          <p:nvPr/>
        </p:nvSpPr>
        <p:spPr>
          <a:xfrm>
            <a:off x="3739296" y="3683950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最大努力交付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E318B5A-8399-4B9D-8E15-EED462255FEC}"/>
              </a:ext>
            </a:extLst>
          </p:cNvPr>
          <p:cNvSpPr/>
          <p:nvPr/>
        </p:nvSpPr>
        <p:spPr>
          <a:xfrm>
            <a:off x="6190270" y="2483259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有</a:t>
            </a:r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连接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CC5EDF-6FA4-4DB6-A0D8-1250119D7C94}"/>
              </a:ext>
            </a:extLst>
          </p:cNvPr>
          <p:cNvSpPr/>
          <p:nvPr/>
        </p:nvSpPr>
        <p:spPr>
          <a:xfrm>
            <a:off x="6190270" y="3083604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有序到达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AE9CAE8-093A-4639-925F-E94BF562EF2D}"/>
              </a:ext>
            </a:extLst>
          </p:cNvPr>
          <p:cNvSpPr/>
          <p:nvPr/>
        </p:nvSpPr>
        <p:spPr>
          <a:xfrm>
            <a:off x="6190269" y="3683950"/>
            <a:ext cx="2262433" cy="420868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可靠交付</a:t>
            </a:r>
          </a:p>
        </p:txBody>
      </p:sp>
    </p:spTree>
    <p:extLst>
      <p:ext uri="{BB962C8B-B14F-4D97-AF65-F5344CB8AC3E}">
        <p14:creationId xmlns:p14="http://schemas.microsoft.com/office/powerpoint/2010/main" val="779520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CFB87AB1-8E14-4FA6-AAF1-6161833A7F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087" y="2649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3906A90-BA0D-420C-9786-CC58F7DEA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261" y="476113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4E72786-E707-454E-BBE5-5B20A4745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7616" y="50881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914A1B8-4CA9-4EE4-BAFC-23B31B566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6816" y="342900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8162A2D-E424-4651-B595-2FDB7F3C4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158" y="9512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8826DEA-2491-41EE-980A-598ED3CCE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687" y="7398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A5652331-5BC9-49D8-8C93-DF796DC424D9}"/>
              </a:ext>
            </a:extLst>
          </p:cNvPr>
          <p:cNvSpPr/>
          <p:nvPr/>
        </p:nvSpPr>
        <p:spPr>
          <a:xfrm>
            <a:off x="3652683" y="2015612"/>
            <a:ext cx="4886633" cy="2526891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虚拟的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13496DB-EA5F-44CD-9E4E-CD7858FA61E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2172287" y="2878393"/>
            <a:ext cx="1480396" cy="22860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AABA8B7-68CB-4749-9B74-5F0C0AAC656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839287" y="1197076"/>
            <a:ext cx="637686" cy="9710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851830E-52C4-40C8-8C70-606FCFD044DD}"/>
              </a:ext>
            </a:extLst>
          </p:cNvPr>
          <p:cNvCxnSpPr>
            <a:stCxn id="6" idx="2"/>
          </p:cNvCxnSpPr>
          <p:nvPr/>
        </p:nvCxnSpPr>
        <p:spPr>
          <a:xfrm flipH="1">
            <a:off x="7993930" y="1408470"/>
            <a:ext cx="1682828" cy="91052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D5FC75D-9F82-4A1F-86CC-6043ABCACC4D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399461" y="4232635"/>
            <a:ext cx="1097125" cy="7570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399252D-26E3-4DF3-B5ED-8EC827BF987F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7400041" y="4232635"/>
            <a:ext cx="1136175" cy="8555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BBB6318-5DD8-4702-AE1D-EC04E21C7515}"/>
              </a:ext>
            </a:extLst>
          </p:cNvPr>
          <p:cNvCxnSpPr>
            <a:stCxn id="5" idx="1"/>
            <a:endCxn id="8" idx="0"/>
          </p:cNvCxnSpPr>
          <p:nvPr/>
        </p:nvCxnSpPr>
        <p:spPr>
          <a:xfrm flipH="1" flipV="1">
            <a:off x="8535244" y="3279058"/>
            <a:ext cx="991572" cy="378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6278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EF598891-67E5-4F31-8F63-919A12B1B8C4}"/>
              </a:ext>
            </a:extLst>
          </p:cNvPr>
          <p:cNvSpPr txBox="1"/>
          <p:nvPr/>
        </p:nvSpPr>
        <p:spPr>
          <a:xfrm>
            <a:off x="4008495" y="1384158"/>
            <a:ext cx="20120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Network Access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5E4CC7-1DAE-4F9B-A29E-DDB84CD354F1}"/>
              </a:ext>
            </a:extLst>
          </p:cNvPr>
          <p:cNvSpPr txBox="1"/>
          <p:nvPr/>
        </p:nvSpPr>
        <p:spPr>
          <a:xfrm>
            <a:off x="6180843" y="138415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网络接入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03C1E38-B4B3-4384-B5BC-0AB7193F84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关注的焦点</a:t>
            </a:r>
          </a:p>
        </p:txBody>
      </p:sp>
      <p:sp>
        <p:nvSpPr>
          <p:cNvPr id="27" name="文本占位符 26">
            <a:extLst>
              <a:ext uri="{FF2B5EF4-FFF2-40B4-BE49-F238E27FC236}">
                <a16:creationId xmlns:a16="http://schemas.microsoft.com/office/drawing/2014/main" id="{CECBD4F4-63DC-4B67-80DA-5B5FF67F5B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Focus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F83C4F-90B2-4A2C-B11E-6CBD4A71F1CA}"/>
              </a:ext>
            </a:extLst>
          </p:cNvPr>
          <p:cNvSpPr txBox="1"/>
          <p:nvPr/>
        </p:nvSpPr>
        <p:spPr>
          <a:xfrm>
            <a:off x="4217591" y="2367280"/>
            <a:ext cx="18029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Packet Length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AA13EB-5E42-4A07-87C4-DE39144FCC1A}"/>
              </a:ext>
            </a:extLst>
          </p:cNvPr>
          <p:cNvSpPr txBox="1"/>
          <p:nvPr/>
        </p:nvSpPr>
        <p:spPr>
          <a:xfrm>
            <a:off x="3954697" y="2858841"/>
            <a:ext cx="2065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Timeout Control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E0614C-9B3E-4393-8F26-A27C65BCD8AF}"/>
              </a:ext>
            </a:extLst>
          </p:cNvPr>
          <p:cNvSpPr txBox="1"/>
          <p:nvPr/>
        </p:nvSpPr>
        <p:spPr>
          <a:xfrm>
            <a:off x="4270490" y="3350402"/>
            <a:ext cx="17500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Error Recover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8DC469-A84A-4A6C-BDA1-96B682D711E2}"/>
              </a:ext>
            </a:extLst>
          </p:cNvPr>
          <p:cNvSpPr txBox="1"/>
          <p:nvPr/>
        </p:nvSpPr>
        <p:spPr>
          <a:xfrm>
            <a:off x="4276902" y="3841963"/>
            <a:ext cx="17436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Status Report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267724-5C9C-4B68-8F76-4E74C5B2883C}"/>
              </a:ext>
            </a:extLst>
          </p:cNvPr>
          <p:cNvSpPr txBox="1"/>
          <p:nvPr/>
        </p:nvSpPr>
        <p:spPr>
          <a:xfrm>
            <a:off x="4549412" y="1875719"/>
            <a:ext cx="1471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Addressing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E2E96D-D237-4120-B81C-D2573C553E3E}"/>
              </a:ext>
            </a:extLst>
          </p:cNvPr>
          <p:cNvSpPr txBox="1"/>
          <p:nvPr/>
        </p:nvSpPr>
        <p:spPr>
          <a:xfrm>
            <a:off x="4042158" y="4333524"/>
            <a:ext cx="19784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Route Selecting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31B41E-5DCE-4219-9709-F013241FD81A}"/>
              </a:ext>
            </a:extLst>
          </p:cNvPr>
          <p:cNvSpPr txBox="1"/>
          <p:nvPr/>
        </p:nvSpPr>
        <p:spPr>
          <a:xfrm>
            <a:off x="4393152" y="4825083"/>
            <a:ext cx="1627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Service Type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9D6A6DB-B024-49DA-916F-1FB31F659922}"/>
              </a:ext>
            </a:extLst>
          </p:cNvPr>
          <p:cNvSpPr txBox="1"/>
          <p:nvPr/>
        </p:nvSpPr>
        <p:spPr>
          <a:xfrm>
            <a:off x="6180843" y="236728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数据报长度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B99FE73-3012-4BB4-BB73-D348530D5981}"/>
              </a:ext>
            </a:extLst>
          </p:cNvPr>
          <p:cNvSpPr txBox="1"/>
          <p:nvPr/>
        </p:nvSpPr>
        <p:spPr>
          <a:xfrm>
            <a:off x="6180843" y="285884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超时控制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84F7FD-7258-4FF3-8CC0-B93350F6569B}"/>
              </a:ext>
            </a:extLst>
          </p:cNvPr>
          <p:cNvSpPr txBox="1"/>
          <p:nvPr/>
        </p:nvSpPr>
        <p:spPr>
          <a:xfrm>
            <a:off x="6180843" y="335040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错误恢复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7F49FB0-FC53-4203-8F02-03B9212DC125}"/>
              </a:ext>
            </a:extLst>
          </p:cNvPr>
          <p:cNvSpPr txBox="1"/>
          <p:nvPr/>
        </p:nvSpPr>
        <p:spPr>
          <a:xfrm>
            <a:off x="6180843" y="384196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状态报告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1229876-7A85-4FA9-9BE7-EAD4DAAB3ECE}"/>
              </a:ext>
            </a:extLst>
          </p:cNvPr>
          <p:cNvSpPr txBox="1"/>
          <p:nvPr/>
        </p:nvSpPr>
        <p:spPr>
          <a:xfrm>
            <a:off x="6180843" y="187571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目标寻址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CCE63AD-4365-43CE-A7C0-98BBD2C4687D}"/>
              </a:ext>
            </a:extLst>
          </p:cNvPr>
          <p:cNvSpPr txBox="1"/>
          <p:nvPr/>
        </p:nvSpPr>
        <p:spPr>
          <a:xfrm>
            <a:off x="6180843" y="433352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路由选择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C271C28-3CD3-4D71-9A18-5CF95AB8499C}"/>
              </a:ext>
            </a:extLst>
          </p:cNvPr>
          <p:cNvSpPr txBox="1"/>
          <p:nvPr/>
        </p:nvSpPr>
        <p:spPr>
          <a:xfrm>
            <a:off x="6180843" y="482508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服务类型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617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08A3935-ED82-4C83-BF3E-5324B2E6C2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中间设备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B0002D-9411-4D6D-BCF6-1CA8B73257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Middleware</a:t>
            </a:r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A235584-5C0C-468A-ACA7-BAA36C5CD3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464551"/>
              </p:ext>
            </p:extLst>
          </p:nvPr>
        </p:nvGraphicFramePr>
        <p:xfrm>
          <a:off x="3817855" y="1982856"/>
          <a:ext cx="170625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252">
                  <a:extLst>
                    <a:ext uri="{9D8B030D-6E8A-4147-A177-3AD203B41FA5}">
                      <a16:colId xmlns:a16="http://schemas.microsoft.com/office/drawing/2014/main" val="33122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应用层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运输层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42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网络层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263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链路层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75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物理层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837128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3FF99A4-D38E-49E8-B5B3-A5AAE0C17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866055"/>
              </p:ext>
            </p:extLst>
          </p:nvPr>
        </p:nvGraphicFramePr>
        <p:xfrm>
          <a:off x="5670746" y="1982856"/>
          <a:ext cx="248343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439">
                  <a:extLst>
                    <a:ext uri="{9D8B030D-6E8A-4147-A177-3AD203B41FA5}">
                      <a16:colId xmlns:a16="http://schemas.microsoft.com/office/drawing/2014/main" val="331228076"/>
                    </a:ext>
                  </a:extLst>
                </a:gridCol>
              </a:tblGrid>
              <a:tr h="7416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Gateway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router</a:t>
                      </a:r>
                      <a:endParaRPr lang="zh-CN" altLang="en-US" sz="1600" b="1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263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Bridge Switch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81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HUB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218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868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CA151AB-2EDC-40DE-A8DC-19C656C15F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网际协议</a:t>
            </a:r>
            <a:r>
              <a:rPr lang="en-US" altLang="zh-CN" dirty="0"/>
              <a:t>IP</a:t>
            </a:r>
            <a:r>
              <a:rPr lang="zh-CN" altLang="en-US" dirty="0"/>
              <a:t>及配套协议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BC85C0-5F3F-48BD-9FBD-7D6831C182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Protocols</a:t>
            </a:r>
            <a:endParaRPr lang="zh-CN" altLang="en-US" dirty="0"/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A688E790-8B11-46E3-839B-2ABDB96943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422482"/>
              </p:ext>
            </p:extLst>
          </p:nvPr>
        </p:nvGraphicFramePr>
        <p:xfrm>
          <a:off x="3817855" y="1982856"/>
          <a:ext cx="170625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252">
                  <a:extLst>
                    <a:ext uri="{9D8B030D-6E8A-4147-A177-3AD203B41FA5}">
                      <a16:colId xmlns:a16="http://schemas.microsoft.com/office/drawing/2014/main" val="33122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应用层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运输层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42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↑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897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网络层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263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↓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325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链路层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75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物理层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83712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E42BB65-E546-49B9-92DE-CF1645A400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704233"/>
              </p:ext>
            </p:extLst>
          </p:nvPr>
        </p:nvGraphicFramePr>
        <p:xfrm>
          <a:off x="5670746" y="1982856"/>
          <a:ext cx="248343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439">
                  <a:extLst>
                    <a:ext uri="{9D8B030D-6E8A-4147-A177-3AD203B41FA5}">
                      <a16:colId xmlns:a16="http://schemas.microsoft.com/office/drawing/2014/main" val="33122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HTTPS FTP SMTP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TCP UDP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42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FF"/>
                          </a:highlight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ICMP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FFFFFF"/>
                        </a:highlight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9897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endParaRPr lang="zh-CN" altLang="en-US" sz="1600" b="1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263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FF"/>
                          </a:highlight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ARP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FFFFFF"/>
                        </a:highlight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325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PPP CSMA/CD STP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81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CDMA</a:t>
                      </a:r>
                      <a:endParaRPr lang="zh-CN" altLang="en-US" sz="16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218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0409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5013634-36DF-47CA-AF31-7CC4D2EA5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地址的点分十进制记法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B8DDCB-39EF-4E1F-9079-B863DF779C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Dotted decimal notation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2C32080-D88D-4E4D-899C-81884CF6BACF}"/>
              </a:ext>
            </a:extLst>
          </p:cNvPr>
          <p:cNvSpPr txBox="1"/>
          <p:nvPr/>
        </p:nvSpPr>
        <p:spPr>
          <a:xfrm>
            <a:off x="1492817" y="754144"/>
            <a:ext cx="92063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为每个互联网节点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/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每个接口分配一个全世界范围内唯一的长度为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位的标识符</a:t>
            </a:r>
          </a:p>
        </p:txBody>
      </p:sp>
      <p:graphicFrame>
        <p:nvGraphicFramePr>
          <p:cNvPr id="28" name="表格 7">
            <a:extLst>
              <a:ext uri="{FF2B5EF4-FFF2-40B4-BE49-F238E27FC236}">
                <a16:creationId xmlns:a16="http://schemas.microsoft.com/office/drawing/2014/main" id="{35CAE486-AB34-47F3-BD07-23EBC069E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984402"/>
              </p:ext>
            </p:extLst>
          </p:nvPr>
        </p:nvGraphicFramePr>
        <p:xfrm>
          <a:off x="3216000" y="2468353"/>
          <a:ext cx="5760000" cy="25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10000000000010110000001100011111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0461986"/>
                  </a:ext>
                </a:extLst>
              </a:tr>
              <a:tr h="360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75805"/>
                  </a:ext>
                </a:extLst>
              </a:tr>
              <a:tr h="360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281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10000000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00001011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00000011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00011111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720000">
                <a:tc gridSpan="4"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61216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1840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8929971-9D25-4070-98CB-DCE25D6A59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地址使用的演进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AA424E-5DC0-4F3A-8FFB-567ECAB27F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Evolutions</a:t>
            </a:r>
            <a:endParaRPr lang="zh-CN" altLang="en-US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B9AEDE7-9AF4-41AF-B618-0B0526B7F658}"/>
              </a:ext>
            </a:extLst>
          </p:cNvPr>
          <p:cNvSpPr/>
          <p:nvPr/>
        </p:nvSpPr>
        <p:spPr>
          <a:xfrm>
            <a:off x="3618361" y="900897"/>
            <a:ext cx="2639505" cy="11943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分类编址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E3C580F-ED5E-4EC6-820B-1B27388DC6DF}"/>
              </a:ext>
            </a:extLst>
          </p:cNvPr>
          <p:cNvSpPr/>
          <p:nvPr/>
        </p:nvSpPr>
        <p:spPr>
          <a:xfrm>
            <a:off x="5799889" y="1567237"/>
            <a:ext cx="1812212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RFC 791</a:t>
            </a:r>
            <a:endParaRPr lang="zh-CN" altLang="en-US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618E3FD-18BC-4BA9-BAF6-841D3E4081AB}"/>
              </a:ext>
            </a:extLst>
          </p:cNvPr>
          <p:cNvSpPr/>
          <p:nvPr/>
        </p:nvSpPr>
        <p:spPr>
          <a:xfrm>
            <a:off x="3618361" y="2706073"/>
            <a:ext cx="2639505" cy="11943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划分子网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8EAC478-04C7-434F-8ACD-1E8570D5D501}"/>
              </a:ext>
            </a:extLst>
          </p:cNvPr>
          <p:cNvSpPr/>
          <p:nvPr/>
        </p:nvSpPr>
        <p:spPr>
          <a:xfrm>
            <a:off x="5799889" y="3372413"/>
            <a:ext cx="1812212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RFC 950</a:t>
            </a:r>
            <a:endParaRPr lang="zh-CN" altLang="en-US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2929635-B436-4C4A-9A76-32C48C1676F7}"/>
              </a:ext>
            </a:extLst>
          </p:cNvPr>
          <p:cNvSpPr/>
          <p:nvPr/>
        </p:nvSpPr>
        <p:spPr>
          <a:xfrm>
            <a:off x="3618361" y="4439761"/>
            <a:ext cx="2639505" cy="11943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kern="100" dirty="0">
                <a:solidFill>
                  <a:schemeClr val="tx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无分类编址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4D000BC-1953-4E59-B64D-29C5B5C68DFF}"/>
              </a:ext>
            </a:extLst>
          </p:cNvPr>
          <p:cNvSpPr/>
          <p:nvPr/>
        </p:nvSpPr>
        <p:spPr>
          <a:xfrm>
            <a:off x="5799889" y="5106101"/>
            <a:ext cx="1812212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RFC 1009</a:t>
            </a:r>
            <a:endParaRPr lang="zh-CN" altLang="en-US" sz="1400" kern="100" dirty="0">
              <a:solidFill>
                <a:schemeClr val="tx1"/>
              </a:solidFill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239A114-E070-461B-8B54-B14F201645F9}"/>
              </a:ext>
            </a:extLst>
          </p:cNvPr>
          <p:cNvSpPr/>
          <p:nvPr/>
        </p:nvSpPr>
        <p:spPr>
          <a:xfrm>
            <a:off x="7336458" y="5363851"/>
            <a:ext cx="1336200" cy="27022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1987</a:t>
            </a:r>
            <a:r>
              <a:rPr lang="zh-CN" altLang="en-US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年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B7622D1-3536-49DD-A1EF-D5525652BE3E}"/>
              </a:ext>
            </a:extLst>
          </p:cNvPr>
          <p:cNvSpPr/>
          <p:nvPr/>
        </p:nvSpPr>
        <p:spPr>
          <a:xfrm>
            <a:off x="7336458" y="3630164"/>
            <a:ext cx="1336200" cy="27022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1985</a:t>
            </a:r>
            <a:r>
              <a:rPr lang="zh-CN" altLang="en-US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年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E0105B6-A299-457C-A9A0-5F104D6AC4BC}"/>
              </a:ext>
            </a:extLst>
          </p:cNvPr>
          <p:cNvSpPr/>
          <p:nvPr/>
        </p:nvSpPr>
        <p:spPr>
          <a:xfrm>
            <a:off x="7336458" y="1824988"/>
            <a:ext cx="1336200" cy="27022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1981</a:t>
            </a:r>
            <a:r>
              <a:rPr lang="zh-CN" altLang="en-US" sz="1200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年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22F1F64-1D42-4B06-89B1-D536B6C111E3}"/>
              </a:ext>
            </a:extLst>
          </p:cNvPr>
          <p:cNvSpPr/>
          <p:nvPr/>
        </p:nvSpPr>
        <p:spPr>
          <a:xfrm>
            <a:off x="2786333" y="1567237"/>
            <a:ext cx="1368000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kern="1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</a:t>
            </a:r>
            <a:endParaRPr lang="zh-CN" altLang="en-US" kern="100" dirty="0">
              <a:solidFill>
                <a:schemeClr val="tx1"/>
              </a:solidFill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AD358F8-6A57-4489-A311-F0B4170FD125}"/>
              </a:ext>
            </a:extLst>
          </p:cNvPr>
          <p:cNvSpPr/>
          <p:nvPr/>
        </p:nvSpPr>
        <p:spPr>
          <a:xfrm>
            <a:off x="2786333" y="3372413"/>
            <a:ext cx="1368000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kern="1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Subnetting</a:t>
            </a:r>
            <a:endParaRPr lang="zh-CN" altLang="en-US" kern="100" dirty="0">
              <a:solidFill>
                <a:schemeClr val="tx1"/>
              </a:solidFill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D768E127-199F-46C3-8DB5-30478DCBC216}"/>
              </a:ext>
            </a:extLst>
          </p:cNvPr>
          <p:cNvSpPr/>
          <p:nvPr/>
        </p:nvSpPr>
        <p:spPr>
          <a:xfrm>
            <a:off x="2786333" y="5106101"/>
            <a:ext cx="1368000" cy="52797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kern="100" dirty="0">
                <a:solidFill>
                  <a:schemeClr val="tx1"/>
                </a:solidFill>
                <a:effectLst/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CIDR</a:t>
            </a:r>
            <a:endParaRPr lang="zh-CN" altLang="en-US" kern="100" dirty="0">
              <a:solidFill>
                <a:schemeClr val="tx1"/>
              </a:solidFill>
              <a:effectLst/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A639D10-E9A0-43EE-8966-FEA2070CE579}"/>
              </a:ext>
            </a:extLst>
          </p:cNvPr>
          <p:cNvSpPr txBox="1"/>
          <p:nvPr/>
        </p:nvSpPr>
        <p:spPr>
          <a:xfrm>
            <a:off x="2786333" y="1223921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阶段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B163FF2-DBA8-4EC0-9579-638593A67742}"/>
              </a:ext>
            </a:extLst>
          </p:cNvPr>
          <p:cNvSpPr txBox="1"/>
          <p:nvPr/>
        </p:nvSpPr>
        <p:spPr>
          <a:xfrm>
            <a:off x="2786332" y="2990102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阶段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7AC2390-9B50-4AFC-9180-533095ECCBDE}"/>
              </a:ext>
            </a:extLst>
          </p:cNvPr>
          <p:cNvSpPr txBox="1"/>
          <p:nvPr/>
        </p:nvSpPr>
        <p:spPr>
          <a:xfrm>
            <a:off x="2786331" y="4690372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阶段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5682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62B4D1D-6BC1-408D-A01D-65581425A0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000" y="6017358"/>
            <a:ext cx="2472000" cy="258532"/>
          </a:xfrm>
        </p:spPr>
        <p:txBody>
          <a:bodyPr/>
          <a:lstStyle/>
          <a:p>
            <a:r>
              <a:rPr lang="zh-CN" altLang="en-US" dirty="0"/>
              <a:t>分类编址的</a:t>
            </a:r>
            <a:r>
              <a:rPr lang="en-US" altLang="zh-CN" dirty="0"/>
              <a:t>IP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D9CB5E-2406-469D-AC18-93D4C6E11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315131"/>
            <a:ext cx="2472000" cy="263149"/>
          </a:xfrm>
        </p:spPr>
        <p:txBody>
          <a:bodyPr lIns="0" rIns="0">
            <a:spAutoFit/>
          </a:bodyPr>
          <a:lstStyle/>
          <a:p>
            <a:r>
              <a:rPr lang="en-US" altLang="zh-CN" dirty="0"/>
              <a:t>Classification IP</a:t>
            </a:r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46D521C-128C-48D5-88DA-C9CD2A4B833D}"/>
              </a:ext>
            </a:extLst>
          </p:cNvPr>
          <p:cNvSpPr/>
          <p:nvPr/>
        </p:nvSpPr>
        <p:spPr>
          <a:xfrm>
            <a:off x="3285845" y="1786729"/>
            <a:ext cx="5760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241EA1E-68AF-483C-BD19-E76BA4B662FC}"/>
              </a:ext>
            </a:extLst>
          </p:cNvPr>
          <p:cNvSpPr txBox="1"/>
          <p:nvPr/>
        </p:nvSpPr>
        <p:spPr>
          <a:xfrm>
            <a:off x="2663559" y="1766674"/>
            <a:ext cx="6222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</a:t>
            </a:r>
          </a:p>
        </p:txBody>
      </p:sp>
      <p:graphicFrame>
        <p:nvGraphicFramePr>
          <p:cNvPr id="9" name="表格 7">
            <a:extLst>
              <a:ext uri="{FF2B5EF4-FFF2-40B4-BE49-F238E27FC236}">
                <a16:creationId xmlns:a16="http://schemas.microsoft.com/office/drawing/2014/main" id="{1998DB5D-73BA-48C3-BB10-0C102B3838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043518"/>
              </p:ext>
            </p:extLst>
          </p:nvPr>
        </p:nvGraphicFramePr>
        <p:xfrm>
          <a:off x="3285845" y="843881"/>
          <a:ext cx="5759998" cy="37084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70296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3419406">
                  <a:extLst>
                    <a:ext uri="{9D8B030D-6E8A-4147-A177-3AD203B41FA5}">
                      <a16:colId xmlns:a16="http://schemas.microsoft.com/office/drawing/2014/main" val="3364853701"/>
                    </a:ext>
                  </a:extLst>
                </a:gridCol>
                <a:gridCol w="1170296">
                  <a:extLst>
                    <a:ext uri="{9D8B030D-6E8A-4147-A177-3AD203B41FA5}">
                      <a16:colId xmlns:a16="http://schemas.microsoft.com/office/drawing/2014/main" val="320311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←</a:t>
                      </a:r>
                      <a:endParaRPr lang="zh-CN" altLang="en-US" b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32bit=</a:t>
                      </a:r>
                      <a:r>
                        <a:rPr lang="zh-CN" altLang="en-US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网络号</a:t>
                      </a:r>
                      <a:r>
                        <a:rPr lang="en-US" altLang="zh-CN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zh-CN" altLang="en-US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主机号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CN" altLang="en-US" b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→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A436E614-430C-412A-9C17-D133BC9DB6DF}"/>
              </a:ext>
            </a:extLst>
          </p:cNvPr>
          <p:cNvSpPr/>
          <p:nvPr/>
        </p:nvSpPr>
        <p:spPr>
          <a:xfrm>
            <a:off x="3285845" y="1786729"/>
            <a:ext cx="144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8E22433-2BFE-4D7A-9DF8-15F6C3CBC54F}"/>
              </a:ext>
            </a:extLst>
          </p:cNvPr>
          <p:cNvSpPr txBox="1"/>
          <p:nvPr/>
        </p:nvSpPr>
        <p:spPr>
          <a:xfrm>
            <a:off x="3285845" y="1812841"/>
            <a:ext cx="15456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b="1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400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  net </a:t>
            </a:r>
            <a:r>
              <a:rPr lang="en-US" altLang="zh-CN" sz="1400" kern="1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ID-</a:t>
            </a:r>
            <a:r>
              <a:rPr lang="zh-CN" altLang="en-US" sz="1400" kern="1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</a:t>
            </a:r>
            <a:endParaRPr lang="zh-CN" altLang="en-US" sz="1400" kern="100" dirty="0">
              <a:solidFill>
                <a:schemeClr val="bg1"/>
              </a:solidFill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6F4D8E8-5B9E-4451-B122-3A1FA500E07C}"/>
              </a:ext>
            </a:extLst>
          </p:cNvPr>
          <p:cNvCxnSpPr>
            <a:cxnSpLocks/>
          </p:cNvCxnSpPr>
          <p:nvPr/>
        </p:nvCxnSpPr>
        <p:spPr>
          <a:xfrm>
            <a:off x="3559706" y="1822729"/>
            <a:ext cx="0" cy="28800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表格 7">
            <a:extLst>
              <a:ext uri="{FF2B5EF4-FFF2-40B4-BE49-F238E27FC236}">
                <a16:creationId xmlns:a16="http://schemas.microsoft.com/office/drawing/2014/main" id="{3419DA35-5B41-4E7D-BC94-35A152CD4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6612549"/>
              </p:ext>
            </p:extLst>
          </p:nvPr>
        </p:nvGraphicFramePr>
        <p:xfrm>
          <a:off x="3285843" y="2269135"/>
          <a:ext cx="1410006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351189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622169">
                  <a:extLst>
                    <a:ext uri="{9D8B030D-6E8A-4147-A177-3AD203B41FA5}">
                      <a16:colId xmlns:a16="http://schemas.microsoft.com/office/drawing/2014/main" val="3364853701"/>
                    </a:ext>
                  </a:extLst>
                </a:gridCol>
                <a:gridCol w="436648">
                  <a:extLst>
                    <a:ext uri="{9D8B030D-6E8A-4147-A177-3AD203B41FA5}">
                      <a16:colId xmlns:a16="http://schemas.microsoft.com/office/drawing/2014/main" val="320311846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←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8bit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CN" altLang="en-US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→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A416398F-0B4C-4DB3-B17B-A28FFE3CDD2D}"/>
              </a:ext>
            </a:extLst>
          </p:cNvPr>
          <p:cNvSpPr/>
          <p:nvPr/>
        </p:nvSpPr>
        <p:spPr>
          <a:xfrm>
            <a:off x="3285845" y="2803869"/>
            <a:ext cx="5760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A0E8F47-E0FF-4276-B8AB-C8CD4892D8DA}"/>
              </a:ext>
            </a:extLst>
          </p:cNvPr>
          <p:cNvSpPr txBox="1"/>
          <p:nvPr/>
        </p:nvSpPr>
        <p:spPr>
          <a:xfrm>
            <a:off x="2663559" y="278381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F16D44-6DD5-441C-9B55-3354E07B2768}"/>
              </a:ext>
            </a:extLst>
          </p:cNvPr>
          <p:cNvSpPr/>
          <p:nvPr/>
        </p:nvSpPr>
        <p:spPr>
          <a:xfrm>
            <a:off x="3285845" y="2803869"/>
            <a:ext cx="288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B6B7D1C-F11D-4900-8FB2-A2379CC478ED}"/>
              </a:ext>
            </a:extLst>
          </p:cNvPr>
          <p:cNvSpPr txBox="1"/>
          <p:nvPr/>
        </p:nvSpPr>
        <p:spPr>
          <a:xfrm>
            <a:off x="3285845" y="2829981"/>
            <a:ext cx="1667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b="1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10</a:t>
            </a:r>
            <a:r>
              <a:rPr lang="en-US" altLang="zh-CN" sz="1400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   net ID-</a:t>
            </a:r>
            <a:r>
              <a:rPr lang="zh-CN" altLang="en-US" sz="1400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36076-E975-4787-92C0-BBEFB188DAA1}"/>
              </a:ext>
            </a:extLst>
          </p:cNvPr>
          <p:cNvCxnSpPr>
            <a:cxnSpLocks/>
          </p:cNvCxnSpPr>
          <p:nvPr/>
        </p:nvCxnSpPr>
        <p:spPr>
          <a:xfrm>
            <a:off x="3680470" y="2839869"/>
            <a:ext cx="0" cy="28800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表格 7">
            <a:extLst>
              <a:ext uri="{FF2B5EF4-FFF2-40B4-BE49-F238E27FC236}">
                <a16:creationId xmlns:a16="http://schemas.microsoft.com/office/drawing/2014/main" id="{29A6D8E0-7263-48FF-BD6B-B12ECF0B9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217522"/>
              </p:ext>
            </p:extLst>
          </p:nvPr>
        </p:nvGraphicFramePr>
        <p:xfrm>
          <a:off x="3315837" y="3302979"/>
          <a:ext cx="2850006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950002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950002">
                  <a:extLst>
                    <a:ext uri="{9D8B030D-6E8A-4147-A177-3AD203B41FA5}">
                      <a16:colId xmlns:a16="http://schemas.microsoft.com/office/drawing/2014/main" val="3364853701"/>
                    </a:ext>
                  </a:extLst>
                </a:gridCol>
                <a:gridCol w="950002">
                  <a:extLst>
                    <a:ext uri="{9D8B030D-6E8A-4147-A177-3AD203B41FA5}">
                      <a16:colId xmlns:a16="http://schemas.microsoft.com/office/drawing/2014/main" val="320311846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←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16bit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CN" altLang="en-US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→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</a:tbl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DA8217C5-B7E2-4745-8592-63E52DFFB309}"/>
              </a:ext>
            </a:extLst>
          </p:cNvPr>
          <p:cNvSpPr txBox="1"/>
          <p:nvPr/>
        </p:nvSpPr>
        <p:spPr>
          <a:xfrm>
            <a:off x="7029704" y="2829981"/>
            <a:ext cx="1391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host ID-</a:t>
            </a:r>
            <a:r>
              <a:rPr lang="zh-CN" altLang="en-US" sz="1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4107512-EE69-4154-BE2B-24DD748255A1}"/>
              </a:ext>
            </a:extLst>
          </p:cNvPr>
          <p:cNvSpPr txBox="1"/>
          <p:nvPr/>
        </p:nvSpPr>
        <p:spPr>
          <a:xfrm>
            <a:off x="6408607" y="1812841"/>
            <a:ext cx="1391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host ID-</a:t>
            </a:r>
            <a:r>
              <a:rPr lang="zh-CN" altLang="en-US" sz="1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885FFFB-63E0-4972-8861-8619C22AEBDE}"/>
              </a:ext>
            </a:extLst>
          </p:cNvPr>
          <p:cNvSpPr/>
          <p:nvPr/>
        </p:nvSpPr>
        <p:spPr>
          <a:xfrm>
            <a:off x="3285843" y="3848672"/>
            <a:ext cx="5760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8704BA-EBD8-4746-9C72-5DC22BC3AF56}"/>
              </a:ext>
            </a:extLst>
          </p:cNvPr>
          <p:cNvSpPr txBox="1"/>
          <p:nvPr/>
        </p:nvSpPr>
        <p:spPr>
          <a:xfrm>
            <a:off x="2663557" y="3828617"/>
            <a:ext cx="6222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97ACF91-DEE4-4BC3-8D13-76CF9578AC9D}"/>
              </a:ext>
            </a:extLst>
          </p:cNvPr>
          <p:cNvSpPr/>
          <p:nvPr/>
        </p:nvSpPr>
        <p:spPr>
          <a:xfrm>
            <a:off x="3285843" y="3848672"/>
            <a:ext cx="432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269FBAF-48B1-475E-B023-9DE28EA91459}"/>
              </a:ext>
            </a:extLst>
          </p:cNvPr>
          <p:cNvSpPr txBox="1"/>
          <p:nvPr/>
        </p:nvSpPr>
        <p:spPr>
          <a:xfrm>
            <a:off x="3285843" y="3874784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b="1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110</a:t>
            </a:r>
            <a:r>
              <a:rPr lang="en-US" altLang="zh-CN" sz="1400" kern="100" dirty="0"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   </a:t>
            </a:r>
            <a:r>
              <a:rPr lang="en-US" altLang="zh-CN" sz="1400" kern="1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net ID-</a:t>
            </a:r>
            <a:r>
              <a:rPr lang="zh-CN" altLang="en-US" sz="1400" kern="1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</a:t>
            </a:r>
            <a:endParaRPr lang="zh-CN" altLang="en-US" sz="1400" kern="100" dirty="0">
              <a:solidFill>
                <a:schemeClr val="bg1"/>
              </a:solidFill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7D493FA-7F9A-41F5-BF71-A239B18B7F8E}"/>
              </a:ext>
            </a:extLst>
          </p:cNvPr>
          <p:cNvCxnSpPr>
            <a:cxnSpLocks/>
          </p:cNvCxnSpPr>
          <p:nvPr/>
        </p:nvCxnSpPr>
        <p:spPr>
          <a:xfrm>
            <a:off x="3783980" y="3884672"/>
            <a:ext cx="0" cy="28800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7">
            <a:extLst>
              <a:ext uri="{FF2B5EF4-FFF2-40B4-BE49-F238E27FC236}">
                <a16:creationId xmlns:a16="http://schemas.microsoft.com/office/drawing/2014/main" id="{FB941318-0AAC-4AC8-BC70-29FB8D0771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140167"/>
              </p:ext>
            </p:extLst>
          </p:nvPr>
        </p:nvGraphicFramePr>
        <p:xfrm>
          <a:off x="3315835" y="4347782"/>
          <a:ext cx="4290009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430003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430003">
                  <a:extLst>
                    <a:ext uri="{9D8B030D-6E8A-4147-A177-3AD203B41FA5}">
                      <a16:colId xmlns:a16="http://schemas.microsoft.com/office/drawing/2014/main" val="3364853701"/>
                    </a:ext>
                  </a:extLst>
                </a:gridCol>
                <a:gridCol w="1430003">
                  <a:extLst>
                    <a:ext uri="{9D8B030D-6E8A-4147-A177-3AD203B41FA5}">
                      <a16:colId xmlns:a16="http://schemas.microsoft.com/office/drawing/2014/main" val="320311846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←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24bit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CN" altLang="en-US" sz="14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→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</a:tbl>
          </a:graphicData>
        </a:graphic>
      </p:graphicFrame>
      <p:sp>
        <p:nvSpPr>
          <p:cNvPr id="29" name="文本框 28">
            <a:extLst>
              <a:ext uri="{FF2B5EF4-FFF2-40B4-BE49-F238E27FC236}">
                <a16:creationId xmlns:a16="http://schemas.microsoft.com/office/drawing/2014/main" id="{FFB10D42-4688-45C8-942C-E5FAC4E030A1}"/>
              </a:ext>
            </a:extLst>
          </p:cNvPr>
          <p:cNvSpPr txBox="1"/>
          <p:nvPr/>
        </p:nvSpPr>
        <p:spPr>
          <a:xfrm>
            <a:off x="7666536" y="3874784"/>
            <a:ext cx="1391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host ID-</a:t>
            </a:r>
            <a:r>
              <a:rPr lang="zh-CN" altLang="en-US" sz="14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</a:t>
            </a:r>
            <a:endParaRPr lang="zh-CN" altLang="en-US" sz="14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4EB916-D161-4EB2-B0D2-39C383B87D48}"/>
              </a:ext>
            </a:extLst>
          </p:cNvPr>
          <p:cNvSpPr txBox="1"/>
          <p:nvPr/>
        </p:nvSpPr>
        <p:spPr>
          <a:xfrm>
            <a:off x="3315835" y="5013791"/>
            <a:ext cx="27238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不能分配给主机的地址：</a:t>
            </a:r>
            <a:endParaRPr lang="en-US" altLang="zh-CN" kern="100" dirty="0">
              <a:latin typeface="Cuprum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全</a:t>
            </a:r>
            <a:r>
              <a:rPr lang="en-US" altLang="zh-CN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的地址</a:t>
            </a:r>
            <a:r>
              <a:rPr lang="en-US" altLang="zh-CN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</a:t>
            </a: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endParaRPr lang="en-US" altLang="zh-CN" kern="100" dirty="0">
              <a:latin typeface="Cuprum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全</a:t>
            </a:r>
            <a:r>
              <a:rPr lang="en-US" altLang="zh-CN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的地址</a:t>
            </a:r>
            <a:r>
              <a:rPr lang="en-US" altLang="zh-CN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</a:t>
            </a:r>
            <a:r>
              <a:rPr lang="zh-CN" altLang="en-US" kern="100" dirty="0"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</a:p>
        </p:txBody>
      </p:sp>
    </p:spTree>
    <p:extLst>
      <p:ext uri="{BB962C8B-B14F-4D97-AF65-F5344CB8AC3E}">
        <p14:creationId xmlns:p14="http://schemas.microsoft.com/office/powerpoint/2010/main" val="4011495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62B4D1D-6BC1-408D-A01D-65581425A0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000" y="6017358"/>
            <a:ext cx="2472000" cy="258532"/>
          </a:xfrm>
        </p:spPr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类</a:t>
            </a:r>
            <a:r>
              <a:rPr lang="en-US" altLang="zh-CN" dirty="0"/>
              <a:t>IP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D9CB5E-2406-469D-AC18-93D4C6E11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315131"/>
            <a:ext cx="2472000" cy="263149"/>
          </a:xfrm>
        </p:spPr>
        <p:txBody>
          <a:bodyPr lIns="0" rIns="0">
            <a:spAutoFit/>
          </a:bodyPr>
          <a:lstStyle/>
          <a:p>
            <a:r>
              <a:rPr lang="en-US" altLang="zh-CN" dirty="0"/>
              <a:t>Classification IP</a:t>
            </a:r>
            <a:endParaRPr lang="zh-CN" altLang="en-US" dirty="0"/>
          </a:p>
        </p:txBody>
      </p:sp>
      <p:graphicFrame>
        <p:nvGraphicFramePr>
          <p:cNvPr id="30" name="表格 7">
            <a:extLst>
              <a:ext uri="{FF2B5EF4-FFF2-40B4-BE49-F238E27FC236}">
                <a16:creationId xmlns:a16="http://schemas.microsoft.com/office/drawing/2014/main" id="{C67E69C1-4119-4375-B01B-AD1F32715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781365"/>
              </p:ext>
            </p:extLst>
          </p:nvPr>
        </p:nvGraphicFramePr>
        <p:xfrm>
          <a:off x="660000" y="540735"/>
          <a:ext cx="10872000" cy="540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512000">
                  <a:extLst>
                    <a:ext uri="{9D8B030D-6E8A-4147-A177-3AD203B41FA5}">
                      <a16:colId xmlns:a16="http://schemas.microsoft.com/office/drawing/2014/main" val="202260817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352037316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Net ID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Host ID/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主机地址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400" b="0" baseline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host</a:t>
                      </a:r>
                      <a:r>
                        <a:rPr lang="zh-CN" altLang="en-US" sz="1400" b="0" baseline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zh-CN" sz="1400" b="0" baseline="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ID</a:t>
                      </a:r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15259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代表本机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0.0.0.0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最小网络号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保留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第一个网络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1.0.0.0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5538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1.0.0.1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61904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1.255.255.254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591442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1.255.255.255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4424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02966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最后一个网路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126.0.0.0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997505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5234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934731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不指派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127.0.0.0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最大网络号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7301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网络测试地址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127.0.0.1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006953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51451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127.255.255.254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36759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0306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449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62B4D1D-6BC1-408D-A01D-65581425A0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000" y="6017358"/>
            <a:ext cx="2472000" cy="258532"/>
          </a:xfrm>
        </p:spPr>
        <p:txBody>
          <a:bodyPr/>
          <a:lstStyle/>
          <a:p>
            <a:r>
              <a:rPr lang="en-US" altLang="zh-CN" dirty="0"/>
              <a:t>B</a:t>
            </a:r>
            <a:r>
              <a:rPr lang="zh-CN" altLang="en-US" dirty="0"/>
              <a:t>类</a:t>
            </a:r>
            <a:r>
              <a:rPr lang="en-US" altLang="zh-CN" dirty="0"/>
              <a:t>IP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D9CB5E-2406-469D-AC18-93D4C6E11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315131"/>
            <a:ext cx="2472000" cy="263149"/>
          </a:xfrm>
        </p:spPr>
        <p:txBody>
          <a:bodyPr lIns="0" rIns="0">
            <a:spAutoFit/>
          </a:bodyPr>
          <a:lstStyle/>
          <a:p>
            <a:r>
              <a:rPr lang="en-US" altLang="zh-CN" dirty="0"/>
              <a:t>Classification IP</a:t>
            </a:r>
            <a:endParaRPr lang="zh-CN" altLang="en-US" dirty="0"/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5E479F9D-8220-4860-BD3D-F7C40DB37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047226"/>
              </p:ext>
            </p:extLst>
          </p:nvPr>
        </p:nvGraphicFramePr>
        <p:xfrm>
          <a:off x="660000" y="1269000"/>
          <a:ext cx="10872000" cy="43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512000">
                  <a:extLst>
                    <a:ext uri="{9D8B030D-6E8A-4147-A177-3AD203B41FA5}">
                      <a16:colId xmlns:a16="http://schemas.microsoft.com/office/drawing/2014/main" val="305559166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352037316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Net ID/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Host ID/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主机地址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15259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第一个网络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128.0.0.1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56275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43130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128.0.255.254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kumimoji="0" lang="en-US" altLang="zh-CN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00 0000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9287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128.0.255.255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kumimoji="0" lang="en-US" altLang="zh-CN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00 0000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7964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3608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最后一个网络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191.255.0.0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5538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191.255.0.1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35185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51698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192.255.255.254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7301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192.255.255.255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657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8771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62B4D1D-6BC1-408D-A01D-65581425A0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000" y="6017358"/>
            <a:ext cx="2472000" cy="258532"/>
          </a:xfrm>
        </p:spPr>
        <p:txBody>
          <a:bodyPr/>
          <a:lstStyle/>
          <a:p>
            <a:r>
              <a:rPr lang="en-US" altLang="zh-CN" dirty="0"/>
              <a:t>C</a:t>
            </a:r>
            <a:r>
              <a:rPr lang="zh-CN" altLang="en-US" dirty="0"/>
              <a:t>类</a:t>
            </a:r>
            <a:r>
              <a:rPr lang="en-US" altLang="zh-CN" dirty="0"/>
              <a:t>IP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D9CB5E-2406-469D-AC18-93D4C6E11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315131"/>
            <a:ext cx="2472000" cy="263149"/>
          </a:xfrm>
        </p:spPr>
        <p:txBody>
          <a:bodyPr lIns="0" rIns="0">
            <a:spAutoFit/>
          </a:bodyPr>
          <a:lstStyle/>
          <a:p>
            <a:r>
              <a:rPr lang="en-US" altLang="zh-CN" dirty="0"/>
              <a:t>Classification IP</a:t>
            </a:r>
            <a:endParaRPr lang="zh-CN" altLang="en-US" dirty="0"/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5E479F9D-8220-4860-BD3D-F7C40DB37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499541"/>
              </p:ext>
            </p:extLst>
          </p:nvPr>
        </p:nvGraphicFramePr>
        <p:xfrm>
          <a:off x="660000" y="1269000"/>
          <a:ext cx="10872000" cy="43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512000">
                  <a:extLst>
                    <a:ext uri="{9D8B030D-6E8A-4147-A177-3AD203B41FA5}">
                      <a16:colId xmlns:a16="http://schemas.microsoft.com/office/drawing/2014/main" val="71720503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352037316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Net ID/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baseline="0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host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ID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15259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第一个网络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192.0.0.1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5538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80637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192.0.0.254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62444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192.0.0.255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51622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530885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最后一个网络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223.255.255.0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87301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223.255.255.1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0000 0001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28891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…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51247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223.255.255.254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0856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223.255.255.255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kern="1200" baseline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110</a:t>
                      </a: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64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3470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20F1CEDC-2F88-40F6-BE1F-9EC8220681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说明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5E8F3F-CB9F-436F-9A81-70E2D4B40AC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Tips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C4DB33-1930-459B-B79C-A1A3C4FFC4BC}"/>
              </a:ext>
            </a:extLst>
          </p:cNvPr>
          <p:cNvSpPr txBox="1"/>
          <p:nvPr/>
        </p:nvSpPr>
        <p:spPr>
          <a:xfrm>
            <a:off x="1690788" y="1716665"/>
            <a:ext cx="881042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由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段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8bit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共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32bit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表示；实际应用中使用点分十进制记法表示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由网络号和主机号组成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地址不仅仅表示一个网络上某个节点，还指明了这个节点属于哪个网络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网络号全为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的表示本网络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网络号为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127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的为本地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环回测试 </a:t>
            </a:r>
            <a:r>
              <a:rPr lang="en-US" altLang="zh-CN" sz="14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loopback test 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通常使用主机号全为</a:t>
            </a:r>
            <a:r>
              <a:rPr lang="en-US" altLang="zh-CN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的地址表示该网络地址</a:t>
            </a:r>
            <a:endParaRPr lang="en-US" altLang="zh-CN" sz="2000" kern="1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网络层设备如路由器至少有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牢记</a:t>
            </a:r>
            <a:r>
              <a:rPr lang="en-US" altLang="zh-CN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sz="20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的各次幂</a:t>
            </a:r>
            <a:endParaRPr lang="en-US" altLang="zh-CN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1A434B59-E142-4D4F-B827-1A8B73B0C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480657"/>
              </p:ext>
            </p:extLst>
          </p:nvPr>
        </p:nvGraphicFramePr>
        <p:xfrm>
          <a:off x="1690787" y="4416516"/>
          <a:ext cx="8810424" cy="7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01303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652072928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940784930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3617023429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  <a:gridCol w="1101303">
                  <a:extLst>
                    <a:ext uri="{9D8B030D-6E8A-4147-A177-3AD203B41FA5}">
                      <a16:colId xmlns:a16="http://schemas.microsoft.com/office/drawing/2014/main" val="292769893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64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32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286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E2DAEC3-34CE-407E-9F3D-68BF013050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" name="表格 7">
            <a:extLst>
              <a:ext uri="{FF2B5EF4-FFF2-40B4-BE49-F238E27FC236}">
                <a16:creationId xmlns:a16="http://schemas.microsoft.com/office/drawing/2014/main" id="{09D997FC-CF8D-45D8-AF06-69151EC079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171124"/>
              </p:ext>
            </p:extLst>
          </p:nvPr>
        </p:nvGraphicFramePr>
        <p:xfrm>
          <a:off x="820093" y="4391296"/>
          <a:ext cx="10551815" cy="144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771415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273811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73903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993792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  <a:gridCol w="3500212">
                  <a:extLst>
                    <a:ext uri="{9D8B030D-6E8A-4147-A177-3AD203B41FA5}">
                      <a16:colId xmlns:a16="http://schemas.microsoft.com/office/drawing/2014/main" val="171315894"/>
                    </a:ext>
                  </a:extLst>
                </a:gridCol>
                <a:gridCol w="1273555">
                  <a:extLst>
                    <a:ext uri="{9D8B030D-6E8A-4147-A177-3AD203B41FA5}">
                      <a16:colId xmlns:a16="http://schemas.microsoft.com/office/drawing/2014/main" val="29744178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地址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网络个数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第一个网络地址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最后一个网络地址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实际可用网络地址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主机个数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0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类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-2=126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.0.0.0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126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.0.0.0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1.0.0.1-126.255.255.254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24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-2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类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16-2</a:t>
                      </a:r>
                      <a:endParaRPr lang="zh-CN" altLang="en-US" sz="1600" b="0" i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191.255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128.0.0.1-191.255.255.254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16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-2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73521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zh-CN" altLang="en-US" sz="1600" b="0" i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类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21</a:t>
                      </a:r>
                      <a:endParaRPr lang="zh-CN" altLang="en-US" sz="1600" b="0" i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.0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192.0.0.1-223.255.255.254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altLang="zh-CN" sz="1600" b="0" i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-2=254</a:t>
                      </a:r>
                      <a:endParaRPr lang="zh-CN" altLang="en-US" sz="1600" b="0" i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068BAB60-8833-42A7-A3A0-C26D98977D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846069"/>
              </p:ext>
            </p:extLst>
          </p:nvPr>
        </p:nvGraphicFramePr>
        <p:xfrm>
          <a:off x="820093" y="2440576"/>
          <a:ext cx="10551815" cy="1440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88732">
                  <a:extLst>
                    <a:ext uri="{9D8B030D-6E8A-4147-A177-3AD203B41FA5}">
                      <a16:colId xmlns:a16="http://schemas.microsoft.com/office/drawing/2014/main" val="371445090"/>
                    </a:ext>
                  </a:extLst>
                </a:gridCol>
                <a:gridCol w="3382023">
                  <a:extLst>
                    <a:ext uri="{9D8B030D-6E8A-4147-A177-3AD203B41FA5}">
                      <a16:colId xmlns:a16="http://schemas.microsoft.com/office/drawing/2014/main" val="20607868"/>
                    </a:ext>
                  </a:extLst>
                </a:gridCol>
                <a:gridCol w="3487270">
                  <a:extLst>
                    <a:ext uri="{9D8B030D-6E8A-4147-A177-3AD203B41FA5}">
                      <a16:colId xmlns:a16="http://schemas.microsoft.com/office/drawing/2014/main" val="3380544799"/>
                    </a:ext>
                  </a:extLst>
                </a:gridCol>
                <a:gridCol w="2993790">
                  <a:extLst>
                    <a:ext uri="{9D8B030D-6E8A-4147-A177-3AD203B41FA5}">
                      <a16:colId xmlns:a16="http://schemas.microsoft.com/office/drawing/2014/main" val="350527839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分类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NetID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HostID</a:t>
                      </a:r>
                      <a:endParaRPr lang="zh-CN" sz="1600" b="0" i="0" kern="100" baseline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Demo</a:t>
                      </a:r>
                      <a:endParaRPr lang="zh-CN" sz="1600" b="0" i="0" kern="100" baseline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0888103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</a:t>
                      </a:r>
                      <a:endParaRPr lang="zh-CN" sz="1600" b="0" i="0" kern="100" baseline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0xxxxxxx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xxxxxxxx</a:t>
                      </a:r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yyyyyyyy</a:t>
                      </a:r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zzzzzzzz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1.x.y.z-127.x.y.z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450552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</a:t>
                      </a:r>
                      <a:endParaRPr lang="zh-CN" sz="1600" b="0" i="0" kern="100" baseline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10xxxxxx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xxxxxxxx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yyyyyyyy</a:t>
                      </a:r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zzzzzzzz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128.0.y.z-191.255.y.z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7755218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sz="1600" b="0" i="0" kern="100" baseline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</a:t>
                      </a:r>
                      <a:endParaRPr lang="zh-CN" sz="1600" b="0" i="0" kern="100" baseline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110xxxxx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xxxxxxxx</a:t>
                      </a:r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xxxxxxxx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 err="1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zzzzzzzz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kern="100" baseline="0" dirty="0">
                          <a:effectLst/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192.0.0.z-223.255.255.z</a:t>
                      </a:r>
                      <a:endParaRPr lang="zh-CN" sz="1600" b="0" i="0" kern="100" baseline="0" dirty="0">
                        <a:effectLst/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02519733"/>
                  </a:ext>
                </a:extLst>
              </a:tr>
            </a:tbl>
          </a:graphicData>
        </a:graphic>
      </p:graphicFrame>
      <p:graphicFrame>
        <p:nvGraphicFramePr>
          <p:cNvPr id="9" name="表格 7">
            <a:extLst>
              <a:ext uri="{FF2B5EF4-FFF2-40B4-BE49-F238E27FC236}">
                <a16:creationId xmlns:a16="http://schemas.microsoft.com/office/drawing/2014/main" id="{7E969CD4-6158-4792-AF61-B1FC5C3C6B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316049"/>
              </p:ext>
            </p:extLst>
          </p:nvPr>
        </p:nvGraphicFramePr>
        <p:xfrm>
          <a:off x="820092" y="1394365"/>
          <a:ext cx="10551816" cy="7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318977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652072928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940784930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3617023429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  <a:gridCol w="1318977">
                  <a:extLst>
                    <a:ext uri="{9D8B030D-6E8A-4147-A177-3AD203B41FA5}">
                      <a16:colId xmlns:a16="http://schemas.microsoft.com/office/drawing/2014/main" val="292769893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600" b="0" baseline="3000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64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32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121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66371BD-0E01-4F22-8A31-D19535382F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191.25.10.1</a:t>
            </a:r>
            <a:r>
              <a:rPr lang="zh-CN" altLang="en-US" dirty="0"/>
              <a:t>是一个（ ）类地址。</a:t>
            </a:r>
          </a:p>
        </p:txBody>
      </p:sp>
      <p:graphicFrame>
        <p:nvGraphicFramePr>
          <p:cNvPr id="3" name="表格 7">
            <a:extLst>
              <a:ext uri="{FF2B5EF4-FFF2-40B4-BE49-F238E27FC236}">
                <a16:creationId xmlns:a16="http://schemas.microsoft.com/office/drawing/2014/main" id="{18CD56EA-F052-4396-962B-17CC498C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258851"/>
              </p:ext>
            </p:extLst>
          </p:nvPr>
        </p:nvGraphicFramePr>
        <p:xfrm>
          <a:off x="347865" y="2349000"/>
          <a:ext cx="11205040" cy="25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241008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2241008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  <a:gridCol w="2241008">
                  <a:extLst>
                    <a:ext uri="{9D8B030D-6E8A-4147-A177-3AD203B41FA5}">
                      <a16:colId xmlns:a16="http://schemas.microsoft.com/office/drawing/2014/main" val="1759576308"/>
                    </a:ext>
                  </a:extLst>
                </a:gridCol>
                <a:gridCol w="2241008">
                  <a:extLst>
                    <a:ext uri="{9D8B030D-6E8A-4147-A177-3AD203B41FA5}">
                      <a16:colId xmlns:a16="http://schemas.microsoft.com/office/drawing/2014/main" val="2555469599"/>
                    </a:ext>
                  </a:extLst>
                </a:gridCol>
                <a:gridCol w="2241008">
                  <a:extLst>
                    <a:ext uri="{9D8B030D-6E8A-4147-A177-3AD203B41FA5}">
                      <a16:colId xmlns:a16="http://schemas.microsoft.com/office/drawing/2014/main" val="162307253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是否可指派给主机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是否可指派给主机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15259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0.1.2.3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172.18.255.255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10127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1.2.3.4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191.255.255.252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126.255.255.255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192.0.0.255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5538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127.0.0.1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192.2.3.8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7301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180.0.255.255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218.75.230.30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0856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166.16.18.255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baseline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Courier New" panose="02070309020205020404" pitchFamily="49" charset="0"/>
                        </a:rPr>
                        <a:t>223.255.255.252</a:t>
                      </a:r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baseline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870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3723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27771AF-6CDF-4938-912D-AE1DF973962C}"/>
              </a:ext>
            </a:extLst>
          </p:cNvPr>
          <p:cNvSpPr/>
          <p:nvPr/>
        </p:nvSpPr>
        <p:spPr>
          <a:xfrm>
            <a:off x="0" y="1941922"/>
            <a:ext cx="12192000" cy="345021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3924E0A-E40E-492E-A7E0-07FE21A690EB}"/>
              </a:ext>
            </a:extLst>
          </p:cNvPr>
          <p:cNvSpPr/>
          <p:nvPr/>
        </p:nvSpPr>
        <p:spPr>
          <a:xfrm>
            <a:off x="3608957" y="1941923"/>
            <a:ext cx="6481864" cy="34502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339F5B41-A7DD-473B-9013-17FDD2E9D68D}"/>
              </a:ext>
            </a:extLst>
          </p:cNvPr>
          <p:cNvSpPr/>
          <p:nvPr/>
        </p:nvSpPr>
        <p:spPr>
          <a:xfrm>
            <a:off x="0" y="1941922"/>
            <a:ext cx="12192000" cy="3450210"/>
          </a:xfrm>
          <a:custGeom>
            <a:avLst/>
            <a:gdLst/>
            <a:ahLst/>
            <a:cxnLst/>
            <a:rect l="l" t="t" r="r" b="b"/>
            <a:pathLst>
              <a:path w="12192000" h="3450210">
                <a:moveTo>
                  <a:pt x="3059667" y="2111314"/>
                </a:moveTo>
                <a:lnTo>
                  <a:pt x="3059667" y="2254822"/>
                </a:lnTo>
                <a:lnTo>
                  <a:pt x="3198226" y="2254822"/>
                </a:lnTo>
                <a:lnTo>
                  <a:pt x="3198226" y="2111314"/>
                </a:lnTo>
                <a:close/>
                <a:moveTo>
                  <a:pt x="3143792" y="1403673"/>
                </a:moveTo>
                <a:cubicBezTo>
                  <a:pt x="3005233" y="1403673"/>
                  <a:pt x="2902963" y="1436664"/>
                  <a:pt x="2836983" y="1502644"/>
                </a:cubicBezTo>
                <a:cubicBezTo>
                  <a:pt x="2813890" y="1525737"/>
                  <a:pt x="2795745" y="1550480"/>
                  <a:pt x="2782549" y="1576872"/>
                </a:cubicBezTo>
                <a:cubicBezTo>
                  <a:pt x="2766054" y="1609863"/>
                  <a:pt x="2757806" y="1642853"/>
                  <a:pt x="2757806" y="1675843"/>
                </a:cubicBezTo>
                <a:lnTo>
                  <a:pt x="2757806" y="1700586"/>
                </a:lnTo>
                <a:lnTo>
                  <a:pt x="2886468" y="1700586"/>
                </a:lnTo>
                <a:lnTo>
                  <a:pt x="2886468" y="1675843"/>
                </a:lnTo>
                <a:cubicBezTo>
                  <a:pt x="2886468" y="1639554"/>
                  <a:pt x="2904613" y="1603264"/>
                  <a:pt x="2940902" y="1566975"/>
                </a:cubicBezTo>
                <a:cubicBezTo>
                  <a:pt x="2980490" y="1527387"/>
                  <a:pt x="3048120" y="1507593"/>
                  <a:pt x="3143792" y="1507593"/>
                </a:cubicBezTo>
                <a:cubicBezTo>
                  <a:pt x="3232865" y="1507593"/>
                  <a:pt x="3292248" y="1522438"/>
                  <a:pt x="3321939" y="1552130"/>
                </a:cubicBezTo>
                <a:cubicBezTo>
                  <a:pt x="3341733" y="1571924"/>
                  <a:pt x="3351630" y="1595017"/>
                  <a:pt x="3351630" y="1621409"/>
                </a:cubicBezTo>
                <a:cubicBezTo>
                  <a:pt x="3351630" y="1657698"/>
                  <a:pt x="3333486" y="1685740"/>
                  <a:pt x="3297196" y="1705534"/>
                </a:cubicBezTo>
                <a:cubicBezTo>
                  <a:pt x="3254309" y="1725328"/>
                  <a:pt x="3196576" y="1756669"/>
                  <a:pt x="3123998" y="1799556"/>
                </a:cubicBezTo>
                <a:cubicBezTo>
                  <a:pt x="3091007" y="1819350"/>
                  <a:pt x="3074512" y="1852341"/>
                  <a:pt x="3074512" y="1898527"/>
                </a:cubicBezTo>
                <a:lnTo>
                  <a:pt x="3074512" y="1972755"/>
                </a:lnTo>
                <a:lnTo>
                  <a:pt x="3183380" y="1972755"/>
                </a:lnTo>
                <a:lnTo>
                  <a:pt x="3183380" y="1933167"/>
                </a:lnTo>
                <a:cubicBezTo>
                  <a:pt x="3183380" y="1910074"/>
                  <a:pt x="3191628" y="1891929"/>
                  <a:pt x="3208123" y="1878733"/>
                </a:cubicBezTo>
                <a:cubicBezTo>
                  <a:pt x="3237814" y="1855640"/>
                  <a:pt x="3285650" y="1829248"/>
                  <a:pt x="3351630" y="1799556"/>
                </a:cubicBezTo>
                <a:cubicBezTo>
                  <a:pt x="3394518" y="1779762"/>
                  <a:pt x="3427508" y="1753370"/>
                  <a:pt x="3450601" y="1720380"/>
                </a:cubicBezTo>
                <a:cubicBezTo>
                  <a:pt x="3470395" y="1690689"/>
                  <a:pt x="3480292" y="1656049"/>
                  <a:pt x="3480292" y="1616461"/>
                </a:cubicBezTo>
                <a:cubicBezTo>
                  <a:pt x="3480292" y="1570274"/>
                  <a:pt x="3458849" y="1525737"/>
                  <a:pt x="3415961" y="1482850"/>
                </a:cubicBezTo>
                <a:cubicBezTo>
                  <a:pt x="3363177" y="1430066"/>
                  <a:pt x="3272454" y="1403673"/>
                  <a:pt x="3143792" y="140367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3450210"/>
                </a:lnTo>
                <a:lnTo>
                  <a:pt x="0" y="345021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45BBB8-E607-48C1-97A1-839556D6A921}"/>
              </a:ext>
            </a:extLst>
          </p:cNvPr>
          <p:cNvSpPr txBox="1"/>
          <p:nvPr/>
        </p:nvSpPr>
        <p:spPr>
          <a:xfrm>
            <a:off x="6180843" y="291799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地址利用率低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3066DC-6B2B-446F-B746-12C8BB128ECD}"/>
              </a:ext>
            </a:extLst>
          </p:cNvPr>
          <p:cNvSpPr txBox="1"/>
          <p:nvPr/>
        </p:nvSpPr>
        <p:spPr>
          <a:xfrm>
            <a:off x="6180843" y="390111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不够灵活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6FECB-149F-49A0-9FCD-1CB240C8C3A3}"/>
              </a:ext>
            </a:extLst>
          </p:cNvPr>
          <p:cNvSpPr txBox="1"/>
          <p:nvPr/>
        </p:nvSpPr>
        <p:spPr>
          <a:xfrm>
            <a:off x="6180843" y="3409553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路由表维护难</a:t>
            </a:r>
            <a:endParaRPr lang="zh-CN" altLang="en-US" sz="20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550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2.22222E-6 L -0.25 -2.22222E-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E05C5-3441-468A-8C73-BE3BB05D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子网划分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CC3B8F-6FDE-4384-906A-F139F6CC1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Sub network</a:t>
            </a:r>
            <a:endParaRPr lang="zh-CN" altLang="en-US" dirty="0"/>
          </a:p>
        </p:txBody>
      </p:sp>
      <p:pic>
        <p:nvPicPr>
          <p:cNvPr id="30" name="图片占位符 29">
            <a:extLst>
              <a:ext uri="{FF2B5EF4-FFF2-40B4-BE49-F238E27FC236}">
                <a16:creationId xmlns:a16="http://schemas.microsoft.com/office/drawing/2014/main" id="{27D938DE-FA38-4F16-9877-004F79EC9ED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" r="157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077986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1A73B26-52F5-4E2F-B8FB-5BA73B022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子网划分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F46FB-9677-4181-84EE-7D14643FA0E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9C36A1-0570-4573-8402-45CC3BE9FD45}"/>
              </a:ext>
            </a:extLst>
          </p:cNvPr>
          <p:cNvSpPr txBox="1"/>
          <p:nvPr/>
        </p:nvSpPr>
        <p:spPr>
          <a:xfrm>
            <a:off x="2233404" y="1884870"/>
            <a:ext cx="77251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向主机号</a:t>
            </a:r>
            <a:r>
              <a:rPr lang="zh-CN" altLang="en-US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借</a:t>
            </a:r>
            <a:r>
              <a:rPr lang="zh-CN" altLang="en-US" sz="20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若干位充当子网号</a:t>
            </a:r>
            <a:r>
              <a:rPr lang="en-US" altLang="zh-CN" sz="20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,</a:t>
            </a:r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从</a:t>
            </a:r>
            <a:r>
              <a:rPr lang="en-US" altLang="zh-CN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级变为</a:t>
            </a:r>
            <a:r>
              <a:rPr lang="en-US" altLang="zh-CN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级</a:t>
            </a:r>
            <a:r>
              <a:rPr lang="en-US" altLang="zh-CN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,</a:t>
            </a:r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对外仍然是一个网络</a:t>
            </a:r>
            <a:endParaRPr lang="en-US" altLang="zh-CN" sz="20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r>
              <a:rPr lang="zh-CN" altLang="en-US" sz="20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需要借助</a:t>
            </a:r>
            <a:r>
              <a:rPr lang="zh-CN" altLang="en-US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子网掩码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Mask</a:t>
            </a:r>
            <a:r>
              <a:rPr lang="zh-CN" altLang="en-US" sz="20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来区分划分的子网和主机</a:t>
            </a:r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568D505C-BE7F-48F7-BCEC-03979656F9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609843"/>
              </p:ext>
            </p:extLst>
          </p:nvPr>
        </p:nvGraphicFramePr>
        <p:xfrm>
          <a:off x="2233403" y="3127414"/>
          <a:ext cx="7725192" cy="144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931298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931298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931298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931298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Net ID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Host ID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91778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00001011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61216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00001011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</a:tbl>
          </a:graphicData>
        </a:graphic>
      </p:graphicFrame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AA7E74C-9538-49DC-A8DA-8084643761A1}"/>
              </a:ext>
            </a:extLst>
          </p:cNvPr>
          <p:cNvCxnSpPr>
            <a:cxnSpLocks/>
          </p:cNvCxnSpPr>
          <p:nvPr/>
        </p:nvCxnSpPr>
        <p:spPr>
          <a:xfrm>
            <a:off x="6939273" y="4590434"/>
            <a:ext cx="0" cy="720000"/>
          </a:xfrm>
          <a:prstGeom prst="line">
            <a:avLst/>
          </a:prstGeom>
          <a:ln w="3810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3E54F69-D09A-4B8C-B6DB-F0E7A93AFC69}"/>
              </a:ext>
            </a:extLst>
          </p:cNvPr>
          <p:cNvCxnSpPr>
            <a:cxnSpLocks/>
          </p:cNvCxnSpPr>
          <p:nvPr/>
        </p:nvCxnSpPr>
        <p:spPr>
          <a:xfrm>
            <a:off x="6096000" y="4590434"/>
            <a:ext cx="0" cy="720000"/>
          </a:xfrm>
          <a:prstGeom prst="line">
            <a:avLst/>
          </a:prstGeom>
          <a:ln w="3810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11627EBF-AAE8-43D0-90C1-C4F7DF4B5815}"/>
              </a:ext>
            </a:extLst>
          </p:cNvPr>
          <p:cNvCxnSpPr>
            <a:cxnSpLocks/>
          </p:cNvCxnSpPr>
          <p:nvPr/>
        </p:nvCxnSpPr>
        <p:spPr>
          <a:xfrm flipH="1">
            <a:off x="6096000" y="4693168"/>
            <a:ext cx="292231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217C9139-FE49-4B95-BB64-659C21CEFB83}"/>
              </a:ext>
            </a:extLst>
          </p:cNvPr>
          <p:cNvCxnSpPr/>
          <p:nvPr/>
        </p:nvCxnSpPr>
        <p:spPr>
          <a:xfrm>
            <a:off x="6647042" y="4693167"/>
            <a:ext cx="292231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0765C-DCA4-49DE-872D-4254C45E1C4F}"/>
              </a:ext>
            </a:extLst>
          </p:cNvPr>
          <p:cNvSpPr txBox="1"/>
          <p:nvPr/>
        </p:nvSpPr>
        <p:spPr>
          <a:xfrm>
            <a:off x="6030051" y="491032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子网号</a:t>
            </a:r>
          </a:p>
        </p:txBody>
      </p:sp>
    </p:spTree>
    <p:extLst>
      <p:ext uri="{BB962C8B-B14F-4D97-AF65-F5344CB8AC3E}">
        <p14:creationId xmlns:p14="http://schemas.microsoft.com/office/powerpoint/2010/main" val="3390322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3BFD0-6F27-4D75-B8B9-055A68B4EA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子网掩码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C0926A-A321-4E26-851E-C44138C34F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Mask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E37DE8C-B3E3-4EB8-BE66-43894264E8FF}"/>
              </a:ext>
            </a:extLst>
          </p:cNvPr>
          <p:cNvSpPr/>
          <p:nvPr/>
        </p:nvSpPr>
        <p:spPr>
          <a:xfrm>
            <a:off x="494145" y="3933435"/>
            <a:ext cx="11203709" cy="17509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80C74D6-4F8B-422A-9A41-36C853B3A595}"/>
              </a:ext>
            </a:extLst>
          </p:cNvPr>
          <p:cNvSpPr/>
          <p:nvPr/>
        </p:nvSpPr>
        <p:spPr>
          <a:xfrm>
            <a:off x="494145" y="1085644"/>
            <a:ext cx="5400000" cy="234335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FB34387-8440-401F-AE2A-0B8A7F5F9055}"/>
              </a:ext>
            </a:extLst>
          </p:cNvPr>
          <p:cNvSpPr/>
          <p:nvPr/>
        </p:nvSpPr>
        <p:spPr>
          <a:xfrm>
            <a:off x="6297854" y="1079959"/>
            <a:ext cx="5400000" cy="234335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8E4EE2C-FC6A-49E4-BB1B-E2AD314DC2F8}"/>
              </a:ext>
            </a:extLst>
          </p:cNvPr>
          <p:cNvSpPr txBox="1"/>
          <p:nvPr/>
        </p:nvSpPr>
        <p:spPr>
          <a:xfrm>
            <a:off x="1225781" y="1749490"/>
            <a:ext cx="346921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长度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位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对应于网络地址的所有位都为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对应于主机地址的所有位置都为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98AEA86-2108-4CC4-8F4C-9442B054FF82}"/>
              </a:ext>
            </a:extLst>
          </p:cNvPr>
          <p:cNvSpPr txBox="1"/>
          <p:nvPr/>
        </p:nvSpPr>
        <p:spPr>
          <a:xfrm>
            <a:off x="6960568" y="1749490"/>
            <a:ext cx="36359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255.0.0.0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255.255.0.0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255.255.255.0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51A8989-9218-4883-9643-1994FC5EE577}"/>
              </a:ext>
            </a:extLst>
          </p:cNvPr>
          <p:cNvSpPr txBox="1"/>
          <p:nvPr/>
        </p:nvSpPr>
        <p:spPr>
          <a:xfrm>
            <a:off x="1229407" y="4454955"/>
            <a:ext cx="70647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求网络地址以判断是否属于同一个网络：</a:t>
            </a:r>
            <a:endParaRPr lang="en-US" altLang="zh-CN" sz="16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子网掩码和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地址按位进行逻辑“与”运算，可得到</a:t>
            </a:r>
            <a:r>
              <a:rPr lang="en-US" altLang="zh-CN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16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地址对应的网络地址</a:t>
            </a:r>
            <a:endParaRPr lang="en-US" altLang="zh-CN" sz="16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不同网络的主机如果通信，需要使用三层设备，如路由器互联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仅仅凭借一个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地址不能判断属于哪个网络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AA8C15FC-544E-4EAB-A6D8-75C6249BF14D}"/>
              </a:ext>
            </a:extLst>
          </p:cNvPr>
          <p:cNvGrpSpPr/>
          <p:nvPr/>
        </p:nvGrpSpPr>
        <p:grpSpPr>
          <a:xfrm>
            <a:off x="2322746" y="882363"/>
            <a:ext cx="1742798" cy="436011"/>
            <a:chOff x="1838960" y="2079567"/>
            <a:chExt cx="1742798" cy="436011"/>
          </a:xfrm>
        </p:grpSpPr>
        <p:sp>
          <p:nvSpPr>
            <p:cNvPr id="31" name="平行四边形 30">
              <a:extLst>
                <a:ext uri="{FF2B5EF4-FFF2-40B4-BE49-F238E27FC236}">
                  <a16:creationId xmlns:a16="http://schemas.microsoft.com/office/drawing/2014/main" id="{34B4272C-56FF-4F05-A1E0-7125A51B9ABC}"/>
                </a:ext>
              </a:extLst>
            </p:cNvPr>
            <p:cNvSpPr/>
            <p:nvPr/>
          </p:nvSpPr>
          <p:spPr>
            <a:xfrm>
              <a:off x="1838960" y="2079567"/>
              <a:ext cx="1742798" cy="197596"/>
            </a:xfrm>
            <a:prstGeom prst="parallelogram">
              <a:avLst>
                <a:gd name="adj" fmla="val 72091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469EFB8-DB06-40D8-9EBC-C8C9373446EB}"/>
                </a:ext>
              </a:extLst>
            </p:cNvPr>
            <p:cNvSpPr/>
            <p:nvPr/>
          </p:nvSpPr>
          <p:spPr>
            <a:xfrm>
              <a:off x="1993103" y="2079567"/>
              <a:ext cx="1588655" cy="43601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特点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F3AB5FDB-425D-4120-9A7D-B3B96F78D54B}"/>
              </a:ext>
            </a:extLst>
          </p:cNvPr>
          <p:cNvGrpSpPr/>
          <p:nvPr/>
        </p:nvGrpSpPr>
        <p:grpSpPr>
          <a:xfrm>
            <a:off x="8126455" y="882363"/>
            <a:ext cx="1742798" cy="436011"/>
            <a:chOff x="1838960" y="2079567"/>
            <a:chExt cx="1742798" cy="436011"/>
          </a:xfrm>
        </p:grpSpPr>
        <p:sp>
          <p:nvSpPr>
            <p:cNvPr id="34" name="平行四边形 33">
              <a:extLst>
                <a:ext uri="{FF2B5EF4-FFF2-40B4-BE49-F238E27FC236}">
                  <a16:creationId xmlns:a16="http://schemas.microsoft.com/office/drawing/2014/main" id="{04765843-7AED-4004-B348-4CC7E1A347E7}"/>
                </a:ext>
              </a:extLst>
            </p:cNvPr>
            <p:cNvSpPr/>
            <p:nvPr/>
          </p:nvSpPr>
          <p:spPr>
            <a:xfrm>
              <a:off x="1838960" y="2079567"/>
              <a:ext cx="1742798" cy="197596"/>
            </a:xfrm>
            <a:prstGeom prst="parallelogram">
              <a:avLst>
                <a:gd name="adj" fmla="val 72091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6E3CF3B-896C-4AEB-8F4A-F6A9A5285098}"/>
                </a:ext>
              </a:extLst>
            </p:cNvPr>
            <p:cNvSpPr/>
            <p:nvPr/>
          </p:nvSpPr>
          <p:spPr>
            <a:xfrm>
              <a:off x="1993103" y="2079567"/>
              <a:ext cx="1588655" cy="43601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默认掩码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83697FA2-3853-4008-B05D-2A123F43E67E}"/>
              </a:ext>
            </a:extLst>
          </p:cNvPr>
          <p:cNvGrpSpPr/>
          <p:nvPr/>
        </p:nvGrpSpPr>
        <p:grpSpPr>
          <a:xfrm>
            <a:off x="5224600" y="3725164"/>
            <a:ext cx="1742798" cy="436011"/>
            <a:chOff x="1838960" y="2079567"/>
            <a:chExt cx="1742798" cy="436011"/>
          </a:xfrm>
        </p:grpSpPr>
        <p:sp>
          <p:nvSpPr>
            <p:cNvPr id="37" name="平行四边形 36">
              <a:extLst>
                <a:ext uri="{FF2B5EF4-FFF2-40B4-BE49-F238E27FC236}">
                  <a16:creationId xmlns:a16="http://schemas.microsoft.com/office/drawing/2014/main" id="{533454B3-F86E-4600-A2FD-B1A0BA787913}"/>
                </a:ext>
              </a:extLst>
            </p:cNvPr>
            <p:cNvSpPr/>
            <p:nvPr/>
          </p:nvSpPr>
          <p:spPr>
            <a:xfrm>
              <a:off x="1838960" y="2079567"/>
              <a:ext cx="1742798" cy="197596"/>
            </a:xfrm>
            <a:prstGeom prst="parallelogram">
              <a:avLst>
                <a:gd name="adj" fmla="val 72091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AA6CDFBF-2410-47DC-9608-760FAF789CAB}"/>
                </a:ext>
              </a:extLst>
            </p:cNvPr>
            <p:cNvSpPr/>
            <p:nvPr/>
          </p:nvSpPr>
          <p:spPr>
            <a:xfrm>
              <a:off x="1993103" y="2079567"/>
              <a:ext cx="1588655" cy="43601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作用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9657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F0E28C-70ED-4B85-BDF4-B8321BB494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一个主机的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198.0.46.1</a:t>
            </a:r>
            <a:r>
              <a:rPr lang="zh-CN" altLang="en-US" dirty="0"/>
              <a:t>，则它的默认掩码是（）。</a:t>
            </a:r>
          </a:p>
          <a:p>
            <a:r>
              <a:rPr lang="en-US" altLang="zh-CN" dirty="0"/>
              <a:t>A:255.0.0.0</a:t>
            </a:r>
          </a:p>
          <a:p>
            <a:r>
              <a:rPr lang="en-US" altLang="zh-CN" dirty="0"/>
              <a:t>B:255.255.0.0</a:t>
            </a:r>
          </a:p>
          <a:p>
            <a:r>
              <a:rPr lang="en-US" altLang="zh-CN" dirty="0"/>
              <a:t>C:255.255.255.0</a:t>
            </a:r>
          </a:p>
          <a:p>
            <a:r>
              <a:rPr lang="en-US" altLang="zh-CN" dirty="0"/>
              <a:t>D:255.255.255.255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1689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F0E28C-70ED-4B85-BDF4-B8321BB494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已知某个网络地址为</a:t>
            </a:r>
            <a:r>
              <a:rPr lang="en-US" altLang="zh-CN" dirty="0"/>
              <a:t>218.75.230.0</a:t>
            </a:r>
            <a:r>
              <a:rPr lang="zh-CN" altLang="en-US" dirty="0"/>
              <a:t>，使用子网掩码</a:t>
            </a:r>
            <a:r>
              <a:rPr lang="en-US" altLang="zh-CN" dirty="0"/>
              <a:t>255.255.255.128</a:t>
            </a:r>
            <a:r>
              <a:rPr lang="zh-CN" altLang="en-US" dirty="0"/>
              <a:t>划分子网，请给出划分的细节</a:t>
            </a:r>
            <a:endParaRPr lang="en-US" altLang="zh-CN" dirty="0"/>
          </a:p>
          <a:p>
            <a:r>
              <a:rPr lang="zh-CN" altLang="en-US" dirty="0"/>
              <a:t>提示：先判断是第几类的网络地址，再看看掩码借了几位</a:t>
            </a:r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10089C2E-D0B2-429C-8C3B-2ED6C848E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309420"/>
              </p:ext>
            </p:extLst>
          </p:nvPr>
        </p:nvGraphicFramePr>
        <p:xfrm>
          <a:off x="1416000" y="2178000"/>
          <a:ext cx="9360000" cy="4320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91911809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219218864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345771862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1100240597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317299644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类网络地址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470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默认掩码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6329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现在掩码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000 0000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8716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96155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000 0000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8308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149002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111 1110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9921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47437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000 0000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6876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最小地址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000 0001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37309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最大地址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111 1110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063528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218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230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kern="120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ysClr val="windowText" lastClr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111 1111</a:t>
                      </a:r>
                      <a:endParaRPr lang="zh-CN" altLang="en-US" sz="1600" b="0" dirty="0">
                        <a:solidFill>
                          <a:sysClr val="windowText" lastClr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39729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90A6641-9EBB-4F03-A057-F8E0678591ED}"/>
              </a:ext>
            </a:extLst>
          </p:cNvPr>
          <p:cNvSpPr txBox="1"/>
          <p:nvPr/>
        </p:nvSpPr>
        <p:spPr>
          <a:xfrm>
            <a:off x="493481" y="4169664"/>
            <a:ext cx="7184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endParaRPr lang="zh-CN" altLang="en-US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EDEC1E-F71C-4F21-AD6C-67130E3873EE}"/>
              </a:ext>
            </a:extLst>
          </p:cNvPr>
          <p:cNvSpPr txBox="1"/>
          <p:nvPr/>
        </p:nvSpPr>
        <p:spPr>
          <a:xfrm>
            <a:off x="493480" y="5572710"/>
            <a:ext cx="7184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71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F0E28C-70ED-4B85-BDF4-B8321BB494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已知某个网络地址为</a:t>
            </a:r>
            <a:r>
              <a:rPr lang="en-US" altLang="zh-CN" dirty="0"/>
              <a:t>218.75.230.0</a:t>
            </a:r>
            <a:r>
              <a:rPr lang="zh-CN" altLang="en-US" dirty="0"/>
              <a:t>，使用子网掩码</a:t>
            </a:r>
            <a:r>
              <a:rPr lang="en-US" altLang="zh-CN" dirty="0"/>
              <a:t>255.255.255.192</a:t>
            </a:r>
            <a:r>
              <a:rPr lang="zh-CN" altLang="en-US" dirty="0"/>
              <a:t>划分子网，请给出划分的细节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89EE966-5C0D-4EE6-8AE7-A36AF6643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519" y="1732593"/>
            <a:ext cx="5760000" cy="4648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6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F0E28C-70ED-4B85-BDF4-B8321BB494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某主机的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180.80.77.55</a:t>
            </a:r>
            <a:r>
              <a:rPr lang="zh-CN" altLang="en-US" dirty="0"/>
              <a:t>，子网掩码为</a:t>
            </a:r>
            <a:r>
              <a:rPr lang="en-US" altLang="zh-CN" dirty="0"/>
              <a:t>255.255.252.0</a:t>
            </a:r>
            <a:r>
              <a:rPr lang="zh-CN" altLang="en-US" dirty="0"/>
              <a:t>，如果该主机向其所在子网发送广播分组，则目的地址可以是？</a:t>
            </a:r>
            <a:endParaRPr lang="en-US" altLang="zh-CN" dirty="0"/>
          </a:p>
          <a:p>
            <a:r>
              <a:rPr lang="en-US" altLang="zh-CN" dirty="0"/>
              <a:t>A</a:t>
            </a:r>
            <a:r>
              <a:rPr lang="zh-CN" altLang="en-US" dirty="0"/>
              <a:t>：</a:t>
            </a:r>
            <a:r>
              <a:rPr lang="en-US" altLang="zh-CN" dirty="0"/>
              <a:t>180.80.76.0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：</a:t>
            </a:r>
            <a:r>
              <a:rPr lang="en-US" altLang="zh-CN" dirty="0"/>
              <a:t>180.80.76.255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：</a:t>
            </a:r>
            <a:r>
              <a:rPr lang="en-US" altLang="zh-CN" dirty="0"/>
              <a:t>180.80.77.255</a:t>
            </a:r>
          </a:p>
          <a:p>
            <a:r>
              <a:rPr lang="en-US" altLang="zh-CN" dirty="0"/>
              <a:t>D</a:t>
            </a:r>
            <a:r>
              <a:rPr lang="zh-CN" altLang="en-US" dirty="0"/>
              <a:t>：</a:t>
            </a:r>
            <a:r>
              <a:rPr lang="en-US" altLang="zh-CN" dirty="0"/>
              <a:t>180.80.79.255</a:t>
            </a:r>
          </a:p>
          <a:p>
            <a:endParaRPr lang="en-US" altLang="zh-CN" dirty="0"/>
          </a:p>
          <a:p>
            <a:r>
              <a:rPr lang="zh-CN" altLang="en-US" dirty="0"/>
              <a:t>思路：几类</a:t>
            </a:r>
            <a:r>
              <a:rPr lang="en-US" altLang="zh-CN" dirty="0"/>
              <a:t>IP</a:t>
            </a:r>
            <a:r>
              <a:rPr lang="zh-CN" altLang="en-US" dirty="0"/>
              <a:t>地址？借了几位主机号？网络地址是多少？对应子网的广播地址是多少？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1.IP</a:t>
            </a:r>
            <a:r>
              <a:rPr lang="zh-CN" altLang="en-US" dirty="0"/>
              <a:t>地址为</a:t>
            </a:r>
            <a:r>
              <a:rPr lang="en-US" altLang="zh-CN" dirty="0"/>
              <a:t>B</a:t>
            </a:r>
            <a:r>
              <a:rPr lang="zh-CN" altLang="en-US" dirty="0"/>
              <a:t>类地址，默认掩码是</a:t>
            </a:r>
            <a:r>
              <a:rPr lang="en-US" altLang="zh-CN" dirty="0"/>
              <a:t>255.255.0.0</a:t>
            </a:r>
            <a:r>
              <a:rPr lang="zh-CN" altLang="en-US" dirty="0"/>
              <a:t>，根据提供的掩码，可知，主机有</a:t>
            </a:r>
            <a:r>
              <a:rPr lang="en-US" altLang="zh-CN" dirty="0"/>
              <a:t>2</a:t>
            </a:r>
            <a:r>
              <a:rPr lang="zh-CN" altLang="en-US" dirty="0"/>
              <a:t>位被借去划分子网</a:t>
            </a:r>
            <a:endParaRPr lang="en-US" altLang="zh-CN" dirty="0"/>
          </a:p>
          <a:p>
            <a:r>
              <a:rPr lang="en-US" altLang="zh-CN" dirty="0"/>
              <a:t>2.IP</a:t>
            </a:r>
            <a:r>
              <a:rPr lang="zh-CN" altLang="en-US" dirty="0"/>
              <a:t>地址</a:t>
            </a:r>
            <a:r>
              <a:rPr lang="en-US" altLang="zh-CN" dirty="0"/>
              <a:t>&amp;</a:t>
            </a:r>
            <a:r>
              <a:rPr lang="zh-CN" altLang="en-US" dirty="0"/>
              <a:t>掩码，求出网络地址为：</a:t>
            </a:r>
            <a:endParaRPr lang="en-US" altLang="zh-CN" dirty="0"/>
          </a:p>
          <a:p>
            <a:r>
              <a:rPr lang="en-US" altLang="zh-CN" dirty="0"/>
              <a:t>		180.80.</a:t>
            </a:r>
            <a:r>
              <a:rPr lang="en-US" altLang="zh-CN" b="1" dirty="0">
                <a:solidFill>
                  <a:srgbClr val="FF0000"/>
                </a:solidFill>
              </a:rPr>
              <a:t>01</a:t>
            </a:r>
            <a:r>
              <a:rPr lang="en-US" altLang="zh-CN" dirty="0"/>
              <a:t>00 1100.0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zh-CN" altLang="en-US" dirty="0"/>
              <a:t>主机号全为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	180.80.</a:t>
            </a:r>
            <a:r>
              <a:rPr lang="en-US" altLang="zh-CN" b="1" dirty="0">
                <a:solidFill>
                  <a:srgbClr val="FF0000"/>
                </a:solidFill>
              </a:rPr>
              <a:t>01</a:t>
            </a:r>
            <a:r>
              <a:rPr lang="en-US" altLang="zh-CN" dirty="0"/>
              <a:t>11 1111.255</a:t>
            </a:r>
            <a:r>
              <a:rPr lang="zh-CN" altLang="en-US" dirty="0"/>
              <a:t>，所以对应的广播地址为</a:t>
            </a:r>
            <a:r>
              <a:rPr lang="en-US" altLang="zh-CN" dirty="0"/>
              <a:t>180.80.79.255</a:t>
            </a:r>
          </a:p>
        </p:txBody>
      </p:sp>
    </p:spTree>
    <p:extLst>
      <p:ext uri="{BB962C8B-B14F-4D97-AF65-F5344CB8AC3E}">
        <p14:creationId xmlns:p14="http://schemas.microsoft.com/office/powerpoint/2010/main" val="4250690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66371BD-0E01-4F22-8A31-D19535382F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一台主机的</a:t>
            </a:r>
            <a:r>
              <a:rPr lang="en-US" altLang="zh-CN" dirty="0"/>
              <a:t>IP</a:t>
            </a:r>
            <a:r>
              <a:rPr lang="zh-CN" altLang="en-US" dirty="0"/>
              <a:t>地址是</a:t>
            </a:r>
            <a:r>
              <a:rPr lang="en-US" altLang="zh-CN" dirty="0"/>
              <a:t>202.113.224.68</a:t>
            </a:r>
            <a:r>
              <a:rPr lang="zh-CN" altLang="en-US" dirty="0"/>
              <a:t>，子网掩码是</a:t>
            </a:r>
            <a:r>
              <a:rPr lang="en-US" altLang="zh-CN" dirty="0"/>
              <a:t>255.255.255.240</a:t>
            </a:r>
            <a:r>
              <a:rPr lang="zh-CN" altLang="en-US" dirty="0"/>
              <a:t>，则对应的主机号是（）。</a:t>
            </a:r>
          </a:p>
          <a:p>
            <a:r>
              <a:rPr lang="en-US" altLang="zh-CN" dirty="0"/>
              <a:t>A:4	B:6</a:t>
            </a:r>
          </a:p>
          <a:p>
            <a:r>
              <a:rPr lang="en-US" altLang="zh-CN" dirty="0"/>
              <a:t>C:8	D:68</a:t>
            </a:r>
          </a:p>
          <a:p>
            <a:endParaRPr lang="en-US" altLang="zh-CN" dirty="0"/>
          </a:p>
          <a:p>
            <a:endParaRPr lang="en-US" altLang="zh-CN" dirty="0"/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分析：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网络号：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202.113.224.</a:t>
            </a:r>
            <a:r>
              <a:rPr lang="en-US" altLang="zh-CN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68</a:t>
            </a:r>
            <a:r>
              <a:rPr lang="en-US" altLang="zh-CN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0100 0</a:t>
            </a:r>
            <a:r>
              <a:rPr lang="en-US" altLang="zh-CN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00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255.255.255.</a:t>
            </a:r>
            <a:r>
              <a:rPr lang="en-US" altLang="zh-CN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240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1111 0</a:t>
            </a:r>
            <a:r>
              <a:rPr lang="en-US" altLang="zh-CN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00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网络地址：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  <a:sym typeface="Wingdings 3" panose="05040102010807070707" pitchFamily="18" charset="2"/>
              </a:rPr>
              <a:t>202.113.224.</a:t>
            </a:r>
            <a:r>
              <a:rPr lang="en-US" altLang="zh-CN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  <a:sym typeface="Wingdings 3" panose="05040102010807070707" pitchFamily="18" charset="2"/>
              </a:rPr>
              <a:t>64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0100 0000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800000" algn="l"/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主机号：网络地址开始到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地址为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64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  <a:sym typeface="Wingdings 3" panose="05040102010807070707" pitchFamily="18" charset="2"/>
              </a:rPr>
              <a:t>68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  <a:sym typeface="Wingdings 3" panose="05040102010807070707" pitchFamily="18" charset="2"/>
              </a:rPr>
              <a:t>，所以，主机号为：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68-64=4</a:t>
            </a:r>
          </a:p>
          <a:p>
            <a:endParaRPr lang="en-US" altLang="zh-CN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B82D4E24-C3F0-4A66-AD4F-89B826F3A5F7}"/>
              </a:ext>
            </a:extLst>
          </p:cNvPr>
          <p:cNvSpPr/>
          <p:nvPr/>
        </p:nvSpPr>
        <p:spPr>
          <a:xfrm flipH="1">
            <a:off x="4942892" y="3942642"/>
            <a:ext cx="619432" cy="186813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225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31E50214-1D8D-4689-AC5A-A154B4360C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某主机的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128.200.68.101</a:t>
            </a:r>
            <a:r>
              <a:rPr lang="zh-CN" altLang="en-US" dirty="0"/>
              <a:t>，子网掩码为</a:t>
            </a:r>
            <a:r>
              <a:rPr lang="en-US" altLang="zh-CN" dirty="0"/>
              <a:t>255.255.255.240</a:t>
            </a:r>
            <a:r>
              <a:rPr lang="zh-CN" altLang="en-US" dirty="0"/>
              <a:t>，则该连接的主机号为多少？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BE65845-3477-4D51-84D0-81209263E201}"/>
              </a:ext>
            </a:extLst>
          </p:cNvPr>
          <p:cNvSpPr txBox="1"/>
          <p:nvPr/>
        </p:nvSpPr>
        <p:spPr>
          <a:xfrm>
            <a:off x="696000" y="2117975"/>
            <a:ext cx="66383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分析：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240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11110000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，借了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位主机号，共划分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=16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个子网；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主机号还剩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位，每个子网有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=16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个主机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48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64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80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96	96+5=101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112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F6044D-28F3-4702-9B1F-CA9B2DBFA013}"/>
              </a:ext>
            </a:extLst>
          </p:cNvPr>
          <p:cNvSpPr txBox="1"/>
          <p:nvPr/>
        </p:nvSpPr>
        <p:spPr>
          <a:xfrm>
            <a:off x="7417139" y="2117975"/>
            <a:ext cx="32431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分析：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101	0110 </a:t>
            </a:r>
            <a:r>
              <a:rPr lang="en-US" altLang="zh-CN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</a:p>
          <a:p>
            <a:pPr indent="457200" algn="l">
              <a:tabLst>
                <a:tab pos="18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240	1111 </a:t>
            </a:r>
            <a:r>
              <a:rPr lang="en-US" altLang="zh-CN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0000</a:t>
            </a:r>
          </a:p>
        </p:txBody>
      </p:sp>
    </p:spTree>
    <p:extLst>
      <p:ext uri="{BB962C8B-B14F-4D97-AF65-F5344CB8AC3E}">
        <p14:creationId xmlns:p14="http://schemas.microsoft.com/office/powerpoint/2010/main" val="404109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66371BD-0E01-4F22-8A31-D19535382F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主机</a:t>
            </a:r>
            <a:r>
              <a:rPr lang="en-US" altLang="zh-CN" dirty="0"/>
              <a:t>A</a:t>
            </a:r>
            <a:r>
              <a:rPr lang="zh-CN" altLang="en-US" dirty="0"/>
              <a:t>的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192.168.1.1</a:t>
            </a:r>
            <a:r>
              <a:rPr lang="zh-CN" altLang="en-US" dirty="0"/>
              <a:t>，主机</a:t>
            </a:r>
            <a:r>
              <a:rPr lang="en-US" altLang="zh-CN" dirty="0"/>
              <a:t>B</a:t>
            </a:r>
            <a:r>
              <a:rPr lang="zh-CN" altLang="en-US" dirty="0"/>
              <a:t>的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192.168.1.2</a:t>
            </a:r>
            <a:r>
              <a:rPr lang="zh-CN" altLang="en-US" dirty="0"/>
              <a:t>，采用默认子网掩码。请问两台主机是否可以通信？为什么？若主机</a:t>
            </a:r>
            <a:r>
              <a:rPr lang="en-US" altLang="zh-CN" dirty="0"/>
              <a:t>B</a:t>
            </a:r>
            <a:r>
              <a:rPr lang="zh-CN" altLang="en-US" dirty="0"/>
              <a:t>地址改为</a:t>
            </a:r>
            <a:r>
              <a:rPr lang="en-US" altLang="zh-CN" dirty="0"/>
              <a:t>172.168.1.2</a:t>
            </a:r>
            <a:r>
              <a:rPr lang="zh-CN" altLang="en-US" dirty="0"/>
              <a:t>，仍然采用默认子网掩码，通信情况又如何？如何改进？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5A9CD3-B894-41B6-A885-BCBFED6ACD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相同网络的主机通信 </a:t>
            </a:r>
            <a:r>
              <a:rPr lang="en-US" altLang="zh-CN" dirty="0"/>
              <a:t>VS </a:t>
            </a:r>
            <a:r>
              <a:rPr lang="zh-CN" altLang="en-US" dirty="0"/>
              <a:t>不同网络主机的通信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F08BE5F-A340-46C1-AB36-BCEC4C5A7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65" y="2729413"/>
            <a:ext cx="4191000" cy="123825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5069DE6-A8C4-4C5D-BC7C-0486D0F9F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153" y="2110288"/>
            <a:ext cx="561975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7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982FC503-2250-45BB-8DA8-A41D1A6818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已知</a:t>
            </a:r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218.75.230.30</a:t>
            </a:r>
            <a:r>
              <a:rPr lang="zh-CN" altLang="en-US" dirty="0"/>
              <a:t>，子网掩码为</a:t>
            </a:r>
            <a:r>
              <a:rPr lang="en-US" altLang="zh-CN" dirty="0"/>
              <a:t>255.255.255.192</a:t>
            </a:r>
            <a:r>
              <a:rPr lang="zh-CN" altLang="en-US" dirty="0"/>
              <a:t>，问：</a:t>
            </a:r>
          </a:p>
          <a:p>
            <a:r>
              <a:rPr lang="en-US" altLang="zh-CN" dirty="0"/>
              <a:t>1.</a:t>
            </a:r>
            <a:r>
              <a:rPr lang="zh-CN" altLang="en-US" dirty="0"/>
              <a:t>会产生多少个子网？</a:t>
            </a:r>
          </a:p>
          <a:p>
            <a:r>
              <a:rPr lang="en-US" altLang="zh-CN" dirty="0"/>
              <a:t>2.</a:t>
            </a:r>
            <a:r>
              <a:rPr lang="zh-CN" altLang="en-US" dirty="0"/>
              <a:t>每个子网可分配的主机地址数量是多少？</a:t>
            </a:r>
          </a:p>
          <a:p>
            <a:r>
              <a:rPr lang="en-US" altLang="zh-CN" dirty="0"/>
              <a:t>3.</a:t>
            </a:r>
            <a:r>
              <a:rPr lang="zh-CN" altLang="en-US" dirty="0"/>
              <a:t>每个子网的网络地址是多少？</a:t>
            </a:r>
          </a:p>
          <a:p>
            <a:r>
              <a:rPr lang="en-US" altLang="zh-CN" dirty="0"/>
              <a:t>4.</a:t>
            </a:r>
            <a:r>
              <a:rPr lang="zh-CN" altLang="en-US" dirty="0"/>
              <a:t>每个子网可分配的最小主机地址和最大主机地址是多少？</a:t>
            </a:r>
          </a:p>
          <a:p>
            <a:r>
              <a:rPr lang="en-US" altLang="zh-CN" dirty="0"/>
              <a:t>5.</a:t>
            </a:r>
            <a:r>
              <a:rPr lang="zh-CN" altLang="en-US" dirty="0"/>
              <a:t>每个子网的广播地址是多少？</a:t>
            </a:r>
          </a:p>
        </p:txBody>
      </p:sp>
    </p:spTree>
    <p:extLst>
      <p:ext uri="{BB962C8B-B14F-4D97-AF65-F5344CB8AC3E}">
        <p14:creationId xmlns:p14="http://schemas.microsoft.com/office/powerpoint/2010/main" val="2946582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3">
            <a:extLst>
              <a:ext uri="{FF2B5EF4-FFF2-40B4-BE49-F238E27FC236}">
                <a16:creationId xmlns:a16="http://schemas.microsoft.com/office/drawing/2014/main" id="{69CFE600-0607-4221-A323-E0E3B8D103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332919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836">
                  <a:extLst>
                    <a:ext uri="{9D8B030D-6E8A-4147-A177-3AD203B41FA5}">
                      <a16:colId xmlns:a16="http://schemas.microsoft.com/office/drawing/2014/main" val="1396160529"/>
                    </a:ext>
                  </a:extLst>
                </a:gridCol>
                <a:gridCol w="3195782">
                  <a:extLst>
                    <a:ext uri="{9D8B030D-6E8A-4147-A177-3AD203B41FA5}">
                      <a16:colId xmlns:a16="http://schemas.microsoft.com/office/drawing/2014/main" val="2105875780"/>
                    </a:ext>
                  </a:extLst>
                </a:gridCol>
                <a:gridCol w="3195782">
                  <a:extLst>
                    <a:ext uri="{9D8B030D-6E8A-4147-A177-3AD203B41FA5}">
                      <a16:colId xmlns:a16="http://schemas.microsoft.com/office/drawing/2014/main" val="564207644"/>
                    </a:ext>
                  </a:extLst>
                </a:gridCol>
                <a:gridCol w="2093600">
                  <a:extLst>
                    <a:ext uri="{9D8B030D-6E8A-4147-A177-3AD203B41FA5}">
                      <a16:colId xmlns:a16="http://schemas.microsoft.com/office/drawing/2014/main" val="3828055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30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1843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255.255.255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altLang="zh-CN" sz="1600" b="1" i="0" spc="800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</a:t>
                      </a: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子网掩码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641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类地址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907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借了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位主机号，所以可划分位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个子网，分别是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00 01 10 11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88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主机号还剩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8-2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位，所以主机数量为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i="0" baseline="300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8-2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=2</a:t>
                      </a:r>
                      <a:r>
                        <a:rPr lang="en-US" altLang="zh-CN" sz="1600" b="0" i="0" baseline="300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-2=62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819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i="0" spc="800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218.75.230.0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557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0" kern="1200" spc="800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</a:t>
                      </a: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00 0001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218.75.230.1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最小可分配主机地址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447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… …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… …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…</a:t>
                      </a:r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…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390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0" kern="1200" spc="800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</a:t>
                      </a: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11 1110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218.75.230.62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最大可分配主机地址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4679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0" kern="1200" spc="800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</a:t>
                      </a:r>
                      <a:r>
                        <a:rPr lang="en-US" altLang="zh-CN" sz="1600" b="0" i="0" spc="8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11 1111</a:t>
                      </a:r>
                      <a:endParaRPr lang="zh-CN" altLang="en-US" sz="1600" b="0" i="0" spc="8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218.75.230.63</a:t>
                      </a:r>
                      <a:endParaRPr lang="zh-CN" altLang="en-US" sz="1600" b="0" i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="0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897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02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7">
            <a:extLst>
              <a:ext uri="{FF2B5EF4-FFF2-40B4-BE49-F238E27FC236}">
                <a16:creationId xmlns:a16="http://schemas.microsoft.com/office/drawing/2014/main" id="{7647F06A-6E19-4B97-9F9C-1CCCA680CF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129237"/>
              </p:ext>
            </p:extLst>
          </p:nvPr>
        </p:nvGraphicFramePr>
        <p:xfrm>
          <a:off x="1056000" y="1700207"/>
          <a:ext cx="10080000" cy="400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类地址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230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子网掩码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11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划分结果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子网个数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主机个数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8-2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=62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9860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218.75.230.128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218.75.230.192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218.75.230.65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218.75.230.193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218.75.230.62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218.75.230.190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218.75.230.191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991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28B904-7B56-40E0-8A29-D5559C3328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ctr"/>
            <a:r>
              <a:rPr lang="zh-CN" altLang="en-US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子网的最小主机地址比子网的网络地址大</a:t>
            </a:r>
            <a:r>
              <a:rPr lang="en-US" altLang="zh-CN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</a:p>
          <a:p>
            <a:pPr algn="ctr"/>
            <a:endParaRPr lang="en-US" altLang="zh-CN" sz="18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8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子网的最大主机地址比子网的广播地址小</a:t>
            </a:r>
            <a:r>
              <a:rPr lang="en-US" altLang="zh-CN" sz="1800" kern="1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</a:p>
          <a:p>
            <a:pPr algn="ctr"/>
            <a:endParaRPr lang="en-US" altLang="zh-CN" sz="1800" kern="1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子网的广播地址比下一个子网的网络地址小</a:t>
            </a:r>
            <a:r>
              <a:rPr lang="en-US" altLang="zh-CN" sz="18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800" kern="1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5009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438709"/>
              </p:ext>
            </p:extLst>
          </p:nvPr>
        </p:nvGraphicFramePr>
        <p:xfrm>
          <a:off x="1056000" y="1700207"/>
          <a:ext cx="10080000" cy="400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类地址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划分子网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划分结果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子网个数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主机数量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=62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4920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64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192.168.10.65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192.168.10.193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192.168.10.62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192.168.10.190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192.168.10.191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41488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192.168.10.0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255.255.255.192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2D8F8E3-4216-4389-BB83-EF60910B2567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8" name="斜纹 7">
              <a:extLst>
                <a:ext uri="{FF2B5EF4-FFF2-40B4-BE49-F238E27FC236}">
                  <a16:creationId xmlns:a16="http://schemas.microsoft.com/office/drawing/2014/main" id="{344B951F-B894-4E0B-9565-43772DD44A3F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24FBE87-2C3A-4FF9-9BCD-529668B0EA1B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C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6286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28B904-7B56-40E0-8A29-D5559C3328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604ED0-9D01-451C-9199-70B0612DF94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aphicFrame>
        <p:nvGraphicFramePr>
          <p:cNvPr id="9" name="表格 7">
            <a:extLst>
              <a:ext uri="{FF2B5EF4-FFF2-40B4-BE49-F238E27FC236}">
                <a16:creationId xmlns:a16="http://schemas.microsoft.com/office/drawing/2014/main" id="{31737585-11F9-4FB7-B322-737F0D387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010101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子网增量为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256-128=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【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以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为增量划分子网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】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子网个数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主机数量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128-2=126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</a:t>
                      </a:r>
                      <a:endParaRPr lang="en-US" altLang="zh-CN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=64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个主机；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2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192.168.10.255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6E9C1887-CE8C-4247-91BE-D336D250F645}"/>
              </a:ext>
            </a:extLst>
          </p:cNvPr>
          <p:cNvSpPr txBox="1"/>
          <p:nvPr/>
        </p:nvSpPr>
        <p:spPr>
          <a:xfrm>
            <a:off x="4621077" y="655782"/>
            <a:ext cx="39982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192.168.10.0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255.255.255.128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31EA5D1-2DA8-47DD-9D60-D120CF4D88ED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12" name="斜纹 11">
              <a:extLst>
                <a:ext uri="{FF2B5EF4-FFF2-40B4-BE49-F238E27FC236}">
                  <a16:creationId xmlns:a16="http://schemas.microsoft.com/office/drawing/2014/main" id="{47474516-977B-43C8-B6F3-743899BA67FE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C07E31E9-740D-441F-A539-05F6DBC3D140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C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88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28B904-7B56-40E0-8A29-D5559C3328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604ED0-9D01-451C-9199-70B0612DF94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aphicFrame>
        <p:nvGraphicFramePr>
          <p:cNvPr id="9" name="表格 7">
            <a:extLst>
              <a:ext uri="{FF2B5EF4-FFF2-40B4-BE49-F238E27FC236}">
                <a16:creationId xmlns:a16="http://schemas.microsoft.com/office/drawing/2014/main" id="{31737585-11F9-4FB7-B322-737F0D387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080359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256-128=128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子网个数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主机数量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128-2=126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</a:t>
                      </a:r>
                      <a:endParaRPr lang="en-US" altLang="zh-CN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=64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个主机；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172.16.128.1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172.16.127.254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172.16.127.255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6E9C1887-CE8C-4247-91BE-D336D250F645}"/>
              </a:ext>
            </a:extLst>
          </p:cNvPr>
          <p:cNvSpPr txBox="1"/>
          <p:nvPr/>
        </p:nvSpPr>
        <p:spPr>
          <a:xfrm>
            <a:off x="4621077" y="655782"/>
            <a:ext cx="36968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172.16.0.0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255.255.128.0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0372A39-ADAB-445C-A670-7793505C5596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7" name="斜纹 6">
              <a:extLst>
                <a:ext uri="{FF2B5EF4-FFF2-40B4-BE49-F238E27FC236}">
                  <a16:creationId xmlns:a16="http://schemas.microsoft.com/office/drawing/2014/main" id="{FD73870A-E5FB-405F-9831-C94C961BC3F9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9D12CFD-AD14-4E7D-A3E6-4609D6EE6440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41880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070339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256-192=64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64-2=62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64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192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172.16.64.1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172.16.128.1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172.16.192.1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172.16.63.254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172.16.127.254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172.16.191.254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172.16.63.255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172.16.127.255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172.16.191.255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36968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172.16.0.0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255.255.192.0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2D8F8E3-4216-4389-BB83-EF60910B2567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8" name="斜纹 7">
              <a:extLst>
                <a:ext uri="{FF2B5EF4-FFF2-40B4-BE49-F238E27FC236}">
                  <a16:creationId xmlns:a16="http://schemas.microsoft.com/office/drawing/2014/main" id="{344B951F-B894-4E0B-9565-43772DD44A3F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24FBE87-2C3A-4FF9-9BCD-529668B0EA1B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2565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144601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子网在第三字节的增量为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256-255=1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子网在第四字节的增量为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256-128=128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向主机位借了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9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位，所以划分为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9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=512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-2=126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前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个子网分别是：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172.16.1.255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39982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172.16.0.0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255.255.255.128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2D8F8E3-4216-4389-BB83-EF60910B2567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8" name="斜纹 7">
              <a:extLst>
                <a:ext uri="{FF2B5EF4-FFF2-40B4-BE49-F238E27FC236}">
                  <a16:creationId xmlns:a16="http://schemas.microsoft.com/office/drawing/2014/main" id="{344B951F-B894-4E0B-9565-43772DD44A3F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24FBE87-2C3A-4FF9-9BCD-529668B0EA1B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86E0B0DA-CB43-485C-A7DE-342D529DA375}"/>
              </a:ext>
            </a:extLst>
          </p:cNvPr>
          <p:cNvSpPr txBox="1"/>
          <p:nvPr/>
        </p:nvSpPr>
        <p:spPr>
          <a:xfrm>
            <a:off x="414774" y="-106629"/>
            <a:ext cx="4924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4000" b="1" kern="100" dirty="0">
                <a:solidFill>
                  <a:srgbClr val="FFFF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+</a:t>
            </a:r>
            <a:endParaRPr lang="zh-CN" altLang="en-US" sz="4000" b="1" kern="100" dirty="0">
              <a:solidFill>
                <a:srgbClr val="FFFF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072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6051449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子网在第三字节的增量为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256-255=1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子网在第四字节的增量为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256-192=64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向主机位借了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位，所以划分为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=1024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-2=62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前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个子网分别是：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endParaRPr lang="zh-CN" altLang="en-US" sz="1600" b="1" kern="1200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64</a:t>
                      </a:r>
                      <a:endParaRPr lang="zh-CN" altLang="en-US" sz="1600" b="1" kern="1200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128</a:t>
                      </a:r>
                      <a:endParaRPr lang="zh-CN" altLang="en-US" sz="1600" b="1" kern="1200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192</a:t>
                      </a:r>
                      <a:endParaRPr lang="zh-CN" altLang="en-US" sz="1600" b="1" kern="1200" dirty="0">
                        <a:solidFill>
                          <a:srgbClr val="C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172.16.0.65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172.16.0.129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172.16.0.193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172.16.0.62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172.16.0.126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172.16.0.190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172.16.0.127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172.16.0.191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172.16.0.255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39982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172.16.0.0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255.255.255.192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35B95F5D-C3D6-4518-BF00-A8ED82667CC8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13" name="斜纹 12">
              <a:extLst>
                <a:ext uri="{FF2B5EF4-FFF2-40B4-BE49-F238E27FC236}">
                  <a16:creationId xmlns:a16="http://schemas.microsoft.com/office/drawing/2014/main" id="{417D830E-D4EE-4AF3-98F0-367429B31524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FBD320D3-1357-4254-A1FE-24C684B1E27F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11926638-28AE-442F-A315-5B5A03016624}"/>
              </a:ext>
            </a:extLst>
          </p:cNvPr>
          <p:cNvSpPr txBox="1"/>
          <p:nvPr/>
        </p:nvSpPr>
        <p:spPr>
          <a:xfrm>
            <a:off x="414774" y="-106629"/>
            <a:ext cx="4924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4000" b="1" kern="100" dirty="0">
                <a:solidFill>
                  <a:srgbClr val="FFFF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+</a:t>
            </a:r>
            <a:endParaRPr lang="zh-CN" altLang="en-US" sz="4000" b="1" kern="100" dirty="0">
              <a:solidFill>
                <a:srgbClr val="FFFF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725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425815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4032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4032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子网在第二字节的增量为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256-128=128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向主机位借了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位，所以划分为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23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128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10.0.0.1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10.128.0.1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10.127.255.254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10.255.255.254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10.127.255.255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33954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10.0.0.0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255.128.0.0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2D8F8E3-4216-4389-BB83-EF60910B2567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8" name="斜纹 7">
              <a:extLst>
                <a:ext uri="{FF2B5EF4-FFF2-40B4-BE49-F238E27FC236}">
                  <a16:creationId xmlns:a16="http://schemas.microsoft.com/office/drawing/2014/main" id="{344B951F-B894-4E0B-9565-43772DD44A3F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24FBE87-2C3A-4FF9-9BCD-529668B0EA1B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066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7">
            <a:extLst>
              <a:ext uri="{FF2B5EF4-FFF2-40B4-BE49-F238E27FC236}">
                <a16:creationId xmlns:a16="http://schemas.microsoft.com/office/drawing/2014/main" id="{BA99F7AF-CEF3-4C5F-84F2-5E13D4030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91820"/>
              </p:ext>
            </p:extLst>
          </p:nvPr>
        </p:nvGraphicFramePr>
        <p:xfrm>
          <a:off x="1056000" y="1700207"/>
          <a:ext cx="10080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60983243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12067862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10194461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23314415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1106687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快速划分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子网在第二字节的增量为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256-192=64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945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向主机位借了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位，所以划分为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=4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个子网；每个子网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r>
                        <a:rPr lang="en-US" altLang="zh-CN" sz="1600" b="0" baseline="300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-2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个主机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000000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85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75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74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0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64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128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</a:t>
                      </a:r>
                      <a:r>
                        <a:rPr lang="en-US" altLang="zh-CN" sz="1600" b="1" kern="1200" dirty="0">
                          <a:solidFill>
                            <a:srgbClr val="C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  <a:cs typeface="+mn-cs"/>
                        </a:rPr>
                        <a:t>192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.0.0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6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最小主机地址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10.0.0.1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10.65.0.1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10.128.0.1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10.192.0.1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33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最大主机地址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10.63.255.254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10.127.255.254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10.191.255.254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10.255.255.254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63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广播地址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10.63.255.255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10.127.255.255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10.191.255.255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48457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8482876-F307-465B-A685-226C5A89849F}"/>
              </a:ext>
            </a:extLst>
          </p:cNvPr>
          <p:cNvSpPr txBox="1"/>
          <p:nvPr/>
        </p:nvSpPr>
        <p:spPr>
          <a:xfrm>
            <a:off x="4621077" y="655782"/>
            <a:ext cx="33954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800000" algn="l"/>
              </a:tabLst>
            </a:pP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10.0.0.0</a:t>
            </a:r>
            <a:endParaRPr lang="en-US" altLang="zh-CN" sz="20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子网掩码：</a:t>
            </a:r>
            <a:r>
              <a:rPr lang="en-US" altLang="zh-CN" sz="20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20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255.192.0.0</a:t>
            </a:r>
            <a:endParaRPr lang="zh-CN" altLang="en-US" sz="20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A86437-32D1-4110-BB78-CED3BFD40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类地址的子网划分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67DEA00-6C28-4105-9DE5-6ABF423355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Subnetting</a:t>
            </a:r>
            <a:endParaRPr lang="zh-CN" altLang="en-US" dirty="0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D4B8841B-DC1C-42AE-9F39-D0EA4F91F5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2D8F8E3-4216-4389-BB83-EF60910B2567}"/>
              </a:ext>
            </a:extLst>
          </p:cNvPr>
          <p:cNvGrpSpPr/>
          <p:nvPr/>
        </p:nvGrpSpPr>
        <p:grpSpPr>
          <a:xfrm>
            <a:off x="0" y="0"/>
            <a:ext cx="1202515" cy="1202515"/>
            <a:chOff x="0" y="0"/>
            <a:chExt cx="1202515" cy="1202515"/>
          </a:xfrm>
        </p:grpSpPr>
        <p:sp>
          <p:nvSpPr>
            <p:cNvPr id="8" name="斜纹 7">
              <a:extLst>
                <a:ext uri="{FF2B5EF4-FFF2-40B4-BE49-F238E27FC236}">
                  <a16:creationId xmlns:a16="http://schemas.microsoft.com/office/drawing/2014/main" id="{344B951F-B894-4E0B-9565-43772DD44A3F}"/>
                </a:ext>
              </a:extLst>
            </p:cNvPr>
            <p:cNvSpPr/>
            <p:nvPr/>
          </p:nvSpPr>
          <p:spPr>
            <a:xfrm>
              <a:off x="0" y="0"/>
              <a:ext cx="1202515" cy="1202515"/>
            </a:xfrm>
            <a:prstGeom prst="diagStripe">
              <a:avLst>
                <a:gd name="adj" fmla="val 336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24FBE87-2C3A-4FF9-9BCD-529668B0EA1B}"/>
                </a:ext>
              </a:extLst>
            </p:cNvPr>
            <p:cNvSpPr txBox="1"/>
            <p:nvPr/>
          </p:nvSpPr>
          <p:spPr>
            <a:xfrm>
              <a:off x="119477" y="78658"/>
              <a:ext cx="49244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9992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9122A53-07A9-4604-9D74-66E544F522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7865" y="1394365"/>
            <a:ext cx="11205038" cy="3416320"/>
          </a:xfrm>
        </p:spPr>
        <p:txBody>
          <a:bodyPr>
            <a:spAutoFit/>
          </a:bodyPr>
          <a:lstStyle/>
          <a:p>
            <a:r>
              <a:rPr lang="en-US" altLang="zh-CN" dirty="0"/>
              <a:t>C</a:t>
            </a:r>
            <a:r>
              <a:rPr lang="zh-CN" altLang="en-US" dirty="0"/>
              <a:t>类、</a:t>
            </a:r>
            <a:r>
              <a:rPr lang="en-US" altLang="zh-CN" dirty="0"/>
              <a:t>B</a:t>
            </a:r>
            <a:r>
              <a:rPr lang="zh-CN" altLang="en-US" dirty="0"/>
              <a:t>类、</a:t>
            </a:r>
            <a:r>
              <a:rPr lang="en-US" altLang="zh-CN" dirty="0"/>
              <a:t>A</a:t>
            </a:r>
            <a:r>
              <a:rPr lang="zh-CN" altLang="en-US" dirty="0"/>
              <a:t>类地址的子网划分：</a:t>
            </a:r>
            <a:endParaRPr lang="en-US" altLang="zh-CN" dirty="0"/>
          </a:p>
          <a:p>
            <a:pPr indent="457200"/>
            <a:r>
              <a:rPr lang="zh-CN" altLang="en-US" dirty="0"/>
              <a:t>子网的最小主机地址比子网的网络地址大</a:t>
            </a:r>
            <a:r>
              <a:rPr lang="en-US" altLang="zh-CN" dirty="0"/>
              <a:t>1</a:t>
            </a:r>
          </a:p>
          <a:p>
            <a:pPr indent="457200"/>
            <a:r>
              <a:rPr lang="zh-CN" altLang="en-US" dirty="0"/>
              <a:t>子网的最大主机地址比子网的广播地址小</a:t>
            </a:r>
            <a:r>
              <a:rPr lang="en-US" altLang="zh-CN" dirty="0"/>
              <a:t>1</a:t>
            </a:r>
          </a:p>
          <a:p>
            <a:pPr indent="457200"/>
            <a:r>
              <a:rPr lang="zh-CN" altLang="en-US" dirty="0"/>
              <a:t>子网的广播地址比下一个子网的网络地址小</a:t>
            </a:r>
            <a:r>
              <a:rPr lang="en-US" altLang="zh-CN" dirty="0"/>
              <a:t>1</a:t>
            </a:r>
          </a:p>
          <a:p>
            <a:pPr indent="457200"/>
            <a:endParaRPr lang="en-US" altLang="zh-CN" dirty="0"/>
          </a:p>
          <a:p>
            <a:r>
              <a:rPr lang="zh-CN" altLang="en-US" dirty="0"/>
              <a:t>对于给定一个</a:t>
            </a:r>
            <a:r>
              <a:rPr lang="zh-CN" altLang="en-US" b="1" dirty="0">
                <a:solidFill>
                  <a:srgbClr val="C00000"/>
                </a:solidFill>
              </a:rPr>
              <a:t>分类的</a:t>
            </a:r>
            <a:r>
              <a:rPr lang="en-US" altLang="zh-CN" b="1" dirty="0">
                <a:solidFill>
                  <a:srgbClr val="C00000"/>
                </a:solidFill>
              </a:rPr>
              <a:t>IP</a:t>
            </a:r>
            <a:r>
              <a:rPr lang="zh-CN" altLang="en-US" b="1" dirty="0">
                <a:solidFill>
                  <a:srgbClr val="C00000"/>
                </a:solidFill>
              </a:rPr>
              <a:t>地址和掩码</a:t>
            </a:r>
            <a:r>
              <a:rPr lang="zh-CN" altLang="en-US" dirty="0"/>
              <a:t>，应知晓：</a:t>
            </a:r>
            <a:endParaRPr lang="en-US" altLang="zh-CN" dirty="0"/>
          </a:p>
          <a:p>
            <a:pPr indent="457200"/>
            <a:r>
              <a:rPr lang="en-US" altLang="zh-CN" dirty="0"/>
              <a:t>1.</a:t>
            </a:r>
            <a:r>
              <a:rPr lang="zh-CN" altLang="en-US" dirty="0"/>
              <a:t>划分子网的数量</a:t>
            </a:r>
            <a:endParaRPr lang="en-US" altLang="zh-CN" dirty="0"/>
          </a:p>
          <a:p>
            <a:pPr indent="457200"/>
            <a:r>
              <a:rPr lang="en-US" altLang="zh-CN" dirty="0"/>
              <a:t>2.</a:t>
            </a:r>
            <a:r>
              <a:rPr lang="zh-CN" altLang="en-US" dirty="0"/>
              <a:t>每个子网可分配的主机数量</a:t>
            </a:r>
            <a:endParaRPr lang="en-US" altLang="zh-CN" dirty="0"/>
          </a:p>
          <a:p>
            <a:pPr indent="457200"/>
            <a:r>
              <a:rPr lang="en-US" altLang="zh-CN" dirty="0"/>
              <a:t>3.</a:t>
            </a:r>
            <a:r>
              <a:rPr lang="zh-CN" altLang="en-US" dirty="0"/>
              <a:t>每个子网的网络地址</a:t>
            </a:r>
            <a:endParaRPr lang="en-US" altLang="zh-CN" dirty="0"/>
          </a:p>
          <a:p>
            <a:pPr indent="457200"/>
            <a:r>
              <a:rPr lang="en-US" altLang="zh-CN" dirty="0"/>
              <a:t>4.</a:t>
            </a:r>
            <a:r>
              <a:rPr lang="zh-CN" altLang="en-US" dirty="0"/>
              <a:t>每个子网的广播地址</a:t>
            </a:r>
            <a:endParaRPr lang="en-US" altLang="zh-CN" dirty="0"/>
          </a:p>
          <a:p>
            <a:pPr indent="457200"/>
            <a:r>
              <a:rPr lang="en-US" altLang="zh-CN" dirty="0"/>
              <a:t>5.</a:t>
            </a:r>
            <a:r>
              <a:rPr lang="zh-CN" altLang="en-US" dirty="0"/>
              <a:t>每个子网的最小主机地址</a:t>
            </a:r>
            <a:endParaRPr lang="en-US" altLang="zh-CN" dirty="0"/>
          </a:p>
          <a:p>
            <a:pPr indent="457200"/>
            <a:r>
              <a:rPr lang="en-US" altLang="zh-CN" dirty="0"/>
              <a:t>6.</a:t>
            </a:r>
            <a:r>
              <a:rPr lang="zh-CN" altLang="en-US" dirty="0"/>
              <a:t>每个子网的最大主机地址</a:t>
            </a:r>
          </a:p>
        </p:txBody>
      </p:sp>
    </p:spTree>
    <p:extLst>
      <p:ext uri="{BB962C8B-B14F-4D97-AF65-F5344CB8AC3E}">
        <p14:creationId xmlns:p14="http://schemas.microsoft.com/office/powerpoint/2010/main" val="3576802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F9146B8-E72E-428F-A125-8C9A52610C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有</a:t>
            </a:r>
            <a:r>
              <a:rPr lang="en-US" altLang="zh-CN" dirty="0"/>
              <a:t>4</a:t>
            </a:r>
            <a:r>
              <a:rPr lang="zh-CN" altLang="en-US" dirty="0"/>
              <a:t>台主机，</a:t>
            </a:r>
            <a:r>
              <a:rPr lang="en-US" altLang="zh-CN" dirty="0"/>
              <a:t>IP</a:t>
            </a:r>
            <a:r>
              <a:rPr lang="zh-CN" altLang="en-US" dirty="0"/>
              <a:t>地址和掩码分别如下，请问他们的通信情况是怎样的？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主机</a:t>
            </a:r>
            <a:r>
              <a:rPr lang="en-US" altLang="zh-CN" dirty="0"/>
              <a:t>0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192.168.0.1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255.255.255.0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192.168.0.2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255.255.255.0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192.168.0.65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255.255.255.0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3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192.168.0.66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255.255.255.0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思路：分别求出各</a:t>
            </a:r>
            <a:r>
              <a:rPr lang="en-US" altLang="zh-CN" dirty="0"/>
              <a:t>IP</a:t>
            </a:r>
            <a:r>
              <a:rPr lang="zh-CN" altLang="en-US" dirty="0"/>
              <a:t>地址和掩码对应的网络地址，如果相同则可以通信；否则不可以。</a:t>
            </a:r>
            <a:endParaRPr lang="en-US" altLang="zh-CN" dirty="0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AED2920-7BE6-4AD9-B27E-BC9B57D90C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同网络通信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96A2B95-1D30-4ED5-A570-47A1E5D37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667" y="1955149"/>
            <a:ext cx="619125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85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F9146B8-E72E-428F-A125-8C9A52610C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如果子网掩码统一改为</a:t>
            </a:r>
            <a:r>
              <a:rPr lang="en-US" altLang="zh-CN" dirty="0"/>
              <a:t>255.255.255.192</a:t>
            </a:r>
            <a:r>
              <a:rPr lang="zh-CN" altLang="en-US" dirty="0"/>
              <a:t>，通信情况又如何？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主机</a:t>
            </a:r>
            <a:r>
              <a:rPr lang="en-US" altLang="zh-CN" dirty="0"/>
              <a:t>0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192.168.0.1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255.255.255.192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192.168.0.2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255.255.255.192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192.168.0.65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255.255.255.192</a:t>
            </a:r>
          </a:p>
          <a:p>
            <a:r>
              <a:rPr lang="zh-CN" altLang="en-US" dirty="0"/>
              <a:t>主机</a:t>
            </a:r>
            <a:r>
              <a:rPr lang="en-US" altLang="zh-CN" dirty="0"/>
              <a:t>3</a:t>
            </a:r>
            <a:r>
              <a:rPr lang="zh-CN" altLang="en-US" dirty="0"/>
              <a:t>：</a:t>
            </a:r>
            <a:r>
              <a:rPr lang="en-US" altLang="zh-CN" dirty="0"/>
              <a:t>	IP</a:t>
            </a:r>
            <a:r>
              <a:rPr lang="zh-CN" altLang="en-US" dirty="0"/>
              <a:t>地址：</a:t>
            </a:r>
            <a:r>
              <a:rPr lang="en-US" altLang="zh-CN" dirty="0"/>
              <a:t>	192.168.0.66</a:t>
            </a:r>
          </a:p>
          <a:p>
            <a:r>
              <a:rPr lang="en-US" altLang="zh-CN" dirty="0"/>
              <a:t>	</a:t>
            </a:r>
            <a:r>
              <a:rPr lang="zh-CN" altLang="en-US" dirty="0"/>
              <a:t>子网掩码：</a:t>
            </a:r>
            <a:r>
              <a:rPr lang="en-US" altLang="zh-CN" dirty="0"/>
              <a:t>	255.255.255.192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思路：分别求出各</a:t>
            </a:r>
            <a:r>
              <a:rPr lang="en-US" altLang="zh-CN" dirty="0"/>
              <a:t>IP</a:t>
            </a:r>
            <a:r>
              <a:rPr lang="zh-CN" altLang="en-US" dirty="0"/>
              <a:t>地址和掩码对应的网络地址，如果相同则可以通信；否则不可以。</a:t>
            </a:r>
            <a:endParaRPr lang="en-US" altLang="zh-CN" dirty="0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AED2920-7BE6-4AD9-B27E-BC9B57D90C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同网络通信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2E62D80-4D46-4D54-BA5D-7C4D4CBC4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186" y="2246528"/>
            <a:ext cx="6027942" cy="198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41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F9146B8-E72E-428F-A125-8C9A52610C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使用路由器互相两个不同的网络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提示：</a:t>
            </a:r>
            <a:endParaRPr lang="en-US" altLang="zh-CN" dirty="0"/>
          </a:p>
          <a:p>
            <a:r>
              <a:rPr lang="en-US" altLang="zh-CN" dirty="0"/>
              <a:t>1.</a:t>
            </a:r>
            <a:r>
              <a:rPr lang="zh-CN" altLang="en-US" dirty="0"/>
              <a:t>注意更改主机和路由器的默认掩码为</a:t>
            </a:r>
            <a:r>
              <a:rPr lang="en-US" altLang="zh-CN" dirty="0"/>
              <a:t>255.255.255.192</a:t>
            </a:r>
          </a:p>
          <a:p>
            <a:r>
              <a:rPr lang="en-US" altLang="zh-CN" dirty="0"/>
              <a:t>2.</a:t>
            </a:r>
            <a:r>
              <a:rPr lang="zh-CN" altLang="en-US" dirty="0"/>
              <a:t>主机的网关应和路由器的相应端口保持一致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思考：</a:t>
            </a:r>
            <a:endParaRPr lang="en-US" altLang="zh-CN" dirty="0"/>
          </a:p>
          <a:p>
            <a:r>
              <a:rPr lang="en-US" altLang="zh-CN" dirty="0"/>
              <a:t>1.</a:t>
            </a:r>
            <a:r>
              <a:rPr lang="zh-CN" altLang="en-US" dirty="0"/>
              <a:t>为什么首次通信会失败？</a:t>
            </a:r>
            <a:endParaRPr lang="en-US" altLang="zh-CN" dirty="0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AED2920-7BE6-4AD9-B27E-BC9B57D90C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不同网络通信</a:t>
            </a:r>
          </a:p>
        </p:txBody>
      </p:sp>
    </p:spTree>
    <p:extLst>
      <p:ext uri="{BB962C8B-B14F-4D97-AF65-F5344CB8AC3E}">
        <p14:creationId xmlns:p14="http://schemas.microsoft.com/office/powerpoint/2010/main" val="3698828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AFBE1A9-B215-47E0-9FC8-7322D6DDA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AED2920-7BE6-4AD9-B27E-BC9B57D90C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静态路由</a:t>
            </a:r>
          </a:p>
        </p:txBody>
      </p:sp>
    </p:spTree>
    <p:extLst>
      <p:ext uri="{BB962C8B-B14F-4D97-AF65-F5344CB8AC3E}">
        <p14:creationId xmlns:p14="http://schemas.microsoft.com/office/powerpoint/2010/main" val="33407715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2B79C57B-A17B-4AF2-85DE-FF8C1378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7865" y="1394365"/>
            <a:ext cx="11205038" cy="1477328"/>
          </a:xfrm>
        </p:spPr>
        <p:txBody>
          <a:bodyPr>
            <a:spAutoFit/>
          </a:bodyPr>
          <a:lstStyle/>
          <a:p>
            <a:r>
              <a:rPr lang="en-US" altLang="zh-CN" dirty="0"/>
              <a:t>IP</a:t>
            </a:r>
            <a:r>
              <a:rPr lang="zh-CN" altLang="en-US" dirty="0"/>
              <a:t>地址为</a:t>
            </a:r>
            <a:r>
              <a:rPr lang="en-US" altLang="zh-CN" dirty="0"/>
              <a:t>140.111.0.0</a:t>
            </a:r>
            <a:r>
              <a:rPr lang="zh-CN" altLang="en-US" dirty="0"/>
              <a:t>的</a:t>
            </a:r>
            <a:r>
              <a:rPr lang="en-US" altLang="zh-CN" dirty="0"/>
              <a:t>B</a:t>
            </a:r>
            <a:r>
              <a:rPr lang="zh-CN" altLang="en-US" dirty="0"/>
              <a:t>类网络，划分为</a:t>
            </a:r>
            <a:r>
              <a:rPr lang="en-US" altLang="zh-CN" dirty="0"/>
              <a:t>9</a:t>
            </a:r>
            <a:r>
              <a:rPr lang="zh-CN" altLang="en-US" dirty="0"/>
              <a:t>个子网，则子网掩码为（）。</a:t>
            </a:r>
          </a:p>
          <a:p>
            <a:r>
              <a:rPr lang="en-US" altLang="zh-CN" dirty="0"/>
              <a:t>A:255.0.0.0</a:t>
            </a:r>
          </a:p>
          <a:p>
            <a:r>
              <a:rPr lang="en-US" altLang="zh-CN" dirty="0"/>
              <a:t>B:255.255.0.0</a:t>
            </a:r>
          </a:p>
          <a:p>
            <a:r>
              <a:rPr lang="en-US" altLang="zh-CN" dirty="0"/>
              <a:t>C:255.255.128.0</a:t>
            </a:r>
          </a:p>
          <a:p>
            <a:r>
              <a:rPr lang="en-US" altLang="zh-CN" dirty="0"/>
              <a:t>D:255.255.240.0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4464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EC08D7C-10C6-490C-BACA-00CDB23F3DAA}"/>
              </a:ext>
            </a:extLst>
          </p:cNvPr>
          <p:cNvSpPr/>
          <p:nvPr/>
        </p:nvSpPr>
        <p:spPr>
          <a:xfrm>
            <a:off x="796002" y="3529781"/>
            <a:ext cx="10599996" cy="265470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1006957" y="3979972"/>
            <a:ext cx="941155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消除了传统的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类的地址以及子网划分的概念。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可以有效的分配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使用斜线记法：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IP/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网络前缀的比特数量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;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相应的，主机数量就是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32-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网络前缀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bit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的数量。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如：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128.14.35.7/20</a:t>
            </a:r>
          </a:p>
          <a:p>
            <a:pPr algn="l"/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路由聚合（构造超网）：把网络前缀都相同的连续的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地址组成一个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CIDR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84CD144-349B-4AFA-B9D0-355615590879}"/>
              </a:ext>
            </a:extLst>
          </p:cNvPr>
          <p:cNvSpPr txBox="1"/>
          <p:nvPr/>
        </p:nvSpPr>
        <p:spPr>
          <a:xfrm>
            <a:off x="796002" y="2159215"/>
            <a:ext cx="4801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Classless Inter-Domain Routing</a:t>
            </a:r>
          </a:p>
          <a:p>
            <a:pPr algn="l"/>
            <a:r>
              <a:rPr lang="zh-CN" altLang="en-US" sz="20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无分类域间路由</a:t>
            </a:r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782DA9E3-7D1A-4476-A6ED-0FCEFF8F5C3A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951346"/>
          <a:ext cx="529999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666">
                  <a:extLst>
                    <a:ext uri="{9D8B030D-6E8A-4147-A177-3AD203B41FA5}">
                      <a16:colId xmlns:a16="http://schemas.microsoft.com/office/drawing/2014/main" val="2088523624"/>
                    </a:ext>
                  </a:extLst>
                </a:gridCol>
                <a:gridCol w="1766666">
                  <a:extLst>
                    <a:ext uri="{9D8B030D-6E8A-4147-A177-3AD203B41FA5}">
                      <a16:colId xmlns:a16="http://schemas.microsoft.com/office/drawing/2014/main" val="3706842671"/>
                    </a:ext>
                  </a:extLst>
                </a:gridCol>
                <a:gridCol w="1766666">
                  <a:extLst>
                    <a:ext uri="{9D8B030D-6E8A-4147-A177-3AD203B41FA5}">
                      <a16:colId xmlns:a16="http://schemas.microsoft.com/office/drawing/2014/main" val="12368706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8348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zh-CN" altLang="en-US" sz="1600" b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8812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子网号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568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zh-CN" altLang="en-US" sz="1600" b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709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网络前缀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主机号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6823196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B74DEE9F-B31B-4C17-B12A-FADB73E29BCE}"/>
              </a:ext>
            </a:extLst>
          </p:cNvPr>
          <p:cNvSpPr txBox="1"/>
          <p:nvPr/>
        </p:nvSpPr>
        <p:spPr>
          <a:xfrm>
            <a:off x="796002" y="95134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endParaRPr lang="zh-CN" altLang="en-US" sz="8000" kern="1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9E1221-A93D-4AB0-867C-B9360654B145}"/>
              </a:ext>
            </a:extLst>
          </p:cNvPr>
          <p:cNvSpPr txBox="1"/>
          <p:nvPr/>
        </p:nvSpPr>
        <p:spPr>
          <a:xfrm>
            <a:off x="2129700" y="95134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</a:t>
            </a:r>
            <a:endParaRPr lang="zh-CN" altLang="en-US" sz="8000" kern="1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19F50A-A7F8-4F7C-B2B2-71A2D69C66E1}"/>
              </a:ext>
            </a:extLst>
          </p:cNvPr>
          <p:cNvSpPr txBox="1"/>
          <p:nvPr/>
        </p:nvSpPr>
        <p:spPr>
          <a:xfrm>
            <a:off x="3463398" y="95134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endParaRPr lang="zh-CN" altLang="en-US" sz="8000" kern="1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20796A-89D9-4369-803A-460B866D7457}"/>
              </a:ext>
            </a:extLst>
          </p:cNvPr>
          <p:cNvSpPr txBox="1"/>
          <p:nvPr/>
        </p:nvSpPr>
        <p:spPr>
          <a:xfrm>
            <a:off x="4797097" y="95134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</a:t>
            </a:r>
            <a:endParaRPr lang="zh-CN" altLang="en-US" sz="8000" kern="1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662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FBB90099-C9DA-407D-ACF8-08CC26683D20}"/>
              </a:ext>
            </a:extLst>
          </p:cNvPr>
          <p:cNvSpPr/>
          <p:nvPr/>
        </p:nvSpPr>
        <p:spPr>
          <a:xfrm>
            <a:off x="796002" y="738965"/>
            <a:ext cx="4801314" cy="5445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6455961" y="3391418"/>
            <a:ext cx="4940037" cy="2793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200000"/>
              </a:lnSpc>
              <a:tabLst>
                <a:tab pos="4752000" algn="r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地址块的最小地址</a:t>
            </a:r>
            <a:r>
              <a:rPr lang="en-US" altLang="zh-CN" u="dotDotDashHeavy" kern="100" dirty="0">
                <a:uFill>
                  <a:solidFill>
                    <a:schemeClr val="accent2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</a:p>
          <a:p>
            <a:pPr algn="l">
              <a:lnSpc>
                <a:spcPct val="200000"/>
              </a:lnSpc>
              <a:tabLst>
                <a:tab pos="4752000" algn="r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地址块的最大地址</a:t>
            </a:r>
            <a:r>
              <a:rPr lang="en-US" altLang="zh-CN" u="dotDotDashHeavy" kern="100" dirty="0">
                <a:uFill>
                  <a:solidFill>
                    <a:schemeClr val="accent2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</a:p>
          <a:p>
            <a:pPr algn="l">
              <a:lnSpc>
                <a:spcPct val="200000"/>
              </a:lnSpc>
              <a:tabLst>
                <a:tab pos="4752000" algn="r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地址块的地址数量</a:t>
            </a:r>
            <a:r>
              <a:rPr lang="en-US" altLang="zh-CN" u="dotDotDashHeavy" kern="100" dirty="0">
                <a:uFill>
                  <a:solidFill>
                    <a:schemeClr val="accent2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主机地址</a:t>
            </a:r>
          </a:p>
          <a:p>
            <a:pPr algn="l">
              <a:lnSpc>
                <a:spcPct val="200000"/>
              </a:lnSpc>
              <a:tabLst>
                <a:tab pos="4752000" algn="r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地址掩码</a:t>
            </a:r>
            <a:r>
              <a:rPr lang="en-US" altLang="zh-CN" u="dotDotDashHeavy" kern="100" dirty="0">
                <a:uFill>
                  <a:solidFill>
                    <a:schemeClr val="accent2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子网掩码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  <a:tabLst>
                <a:tab pos="4752000" algn="r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地址块聚合数量</a:t>
            </a:r>
            <a:r>
              <a:rPr lang="en-US" altLang="zh-CN" u="dotDotDashHeavy" kern="100" dirty="0">
                <a:uFill>
                  <a:solidFill>
                    <a:schemeClr val="accent2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某类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814EAB-BCEB-4E78-9220-5B533A9972C7}"/>
              </a:ext>
            </a:extLst>
          </p:cNvPr>
          <p:cNvSpPr txBox="1"/>
          <p:nvPr/>
        </p:nvSpPr>
        <p:spPr>
          <a:xfrm>
            <a:off x="1950164" y="2213169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地址块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F0719E9-EF66-4ECA-AC3C-6E809CE8E94F}"/>
              </a:ext>
            </a:extLst>
          </p:cNvPr>
          <p:cNvSpPr txBox="1"/>
          <p:nvPr/>
        </p:nvSpPr>
        <p:spPr>
          <a:xfrm>
            <a:off x="796002" y="392069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endParaRPr lang="zh-CN" altLang="en-US" sz="8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82ACF0-B0B7-4A9A-8E8F-0513B9BD7668}"/>
              </a:ext>
            </a:extLst>
          </p:cNvPr>
          <p:cNvSpPr txBox="1"/>
          <p:nvPr/>
        </p:nvSpPr>
        <p:spPr>
          <a:xfrm>
            <a:off x="2129700" y="392069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</a:t>
            </a:r>
            <a:endParaRPr lang="zh-CN" altLang="en-US" sz="8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099A7AE-1EB4-4F0C-BC7B-18D121335DED}"/>
              </a:ext>
            </a:extLst>
          </p:cNvPr>
          <p:cNvSpPr txBox="1"/>
          <p:nvPr/>
        </p:nvSpPr>
        <p:spPr>
          <a:xfrm>
            <a:off x="3463398" y="392069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endParaRPr lang="zh-CN" altLang="en-US" sz="8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3D0762D-2511-495C-854B-7B09328360BA}"/>
              </a:ext>
            </a:extLst>
          </p:cNvPr>
          <p:cNvSpPr txBox="1"/>
          <p:nvPr/>
        </p:nvSpPr>
        <p:spPr>
          <a:xfrm>
            <a:off x="4797097" y="3920696"/>
            <a:ext cx="800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</a:t>
            </a:r>
            <a:endParaRPr lang="zh-CN" altLang="en-US" sz="8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F82B82E-7DD9-4B25-B740-C94501DFCA9B}"/>
              </a:ext>
            </a:extLst>
          </p:cNvPr>
          <p:cNvSpPr txBox="1"/>
          <p:nvPr/>
        </p:nvSpPr>
        <p:spPr>
          <a:xfrm>
            <a:off x="6679210" y="738965"/>
            <a:ext cx="44935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4000" kern="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128.14.35.7/20</a:t>
            </a:r>
            <a:endParaRPr lang="zh-CN" altLang="en-US" sz="4000" kern="1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797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DD1E0703-A2C9-42C9-B940-DD6A9A659A16}"/>
              </a:ext>
            </a:extLst>
          </p:cNvPr>
          <p:cNvSpPr/>
          <p:nvPr/>
        </p:nvSpPr>
        <p:spPr>
          <a:xfrm>
            <a:off x="560513" y="512251"/>
            <a:ext cx="720000" cy="7200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259B07-7AE1-4818-9DB6-CF44972F48B6}"/>
              </a:ext>
            </a:extLst>
          </p:cNvPr>
          <p:cNvSpPr/>
          <p:nvPr/>
        </p:nvSpPr>
        <p:spPr>
          <a:xfrm>
            <a:off x="796002" y="736710"/>
            <a:ext cx="10599996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249901-07C6-4C0E-AC5D-E447C76FA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无分类域间路由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CB4286-B7BD-441D-B51A-3826DA9A08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CIDR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1045024" y="948879"/>
            <a:ext cx="76226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128.14.35.7/20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CIDR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地址块中的某个地址，求：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>
              <a:tabLst>
                <a:tab pos="5040000" algn="l"/>
              </a:tabLst>
            </a:pP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地址掩码、地址块数量、聚合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类网络的数量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5040000" algn="l"/>
              </a:tabLst>
            </a:pP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2.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网络地址、最小主机地址、最大主机地址、广播地址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55A2A2-BC52-4271-9078-8CE41F2DAE51}"/>
              </a:ext>
            </a:extLst>
          </p:cNvPr>
          <p:cNvSpPr txBox="1"/>
          <p:nvPr/>
        </p:nvSpPr>
        <p:spPr>
          <a:xfrm>
            <a:off x="796002" y="2481356"/>
            <a:ext cx="105999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网络前缀长度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</a:t>
            </a:r>
          </a:p>
          <a:p>
            <a:pPr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地址数量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32-20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12</a:t>
            </a:r>
          </a:p>
          <a:p>
            <a:pPr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聚合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类网络数量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32-20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÷2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=16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11B1146E-7D09-41CD-B2F6-999450B21138}"/>
              </a:ext>
            </a:extLst>
          </p:cNvPr>
          <p:cNvGraphicFramePr>
            <a:graphicFrameLocks noGrp="1"/>
          </p:cNvGraphicFramePr>
          <p:nvPr/>
        </p:nvGraphicFramePr>
        <p:xfrm>
          <a:off x="796001" y="3642033"/>
          <a:ext cx="10599995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999">
                  <a:extLst>
                    <a:ext uri="{9D8B030D-6E8A-4147-A177-3AD203B41FA5}">
                      <a16:colId xmlns:a16="http://schemas.microsoft.com/office/drawing/2014/main" val="131438675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979083125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3574282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470084288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90721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1111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255.255.240.0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017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14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0010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0011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128.14.35.7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29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0010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128.14.32.0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979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0010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128.14.32.1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03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0010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1111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128.14.47.254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42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14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0010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128.14.47.255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92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8068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DD1E0703-A2C9-42C9-B940-DD6A9A659A16}"/>
              </a:ext>
            </a:extLst>
          </p:cNvPr>
          <p:cNvSpPr/>
          <p:nvPr/>
        </p:nvSpPr>
        <p:spPr>
          <a:xfrm>
            <a:off x="560513" y="512251"/>
            <a:ext cx="720000" cy="7200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259B07-7AE1-4818-9DB6-CF44972F48B6}"/>
              </a:ext>
            </a:extLst>
          </p:cNvPr>
          <p:cNvSpPr/>
          <p:nvPr/>
        </p:nvSpPr>
        <p:spPr>
          <a:xfrm>
            <a:off x="796002" y="736710"/>
            <a:ext cx="10599996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249901-07C6-4C0E-AC5D-E447C76FA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无分类域间路由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CB4286-B7BD-441D-B51A-3826DA9A08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CIDR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1045024" y="948879"/>
            <a:ext cx="74687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206.0.64.8/18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CIDR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地址块中的某个地址，求：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>
              <a:tabLst>
                <a:tab pos="5040000" algn="l"/>
              </a:tabLst>
            </a:pP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地址掩码、地址块数量、聚合</a:t>
            </a: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类网络的数量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indent="457200" algn="l">
              <a:tabLst>
                <a:tab pos="5040000" algn="l"/>
              </a:tabLst>
            </a:pPr>
            <a:r>
              <a:rPr lang="en-US" altLang="zh-CN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2.</a:t>
            </a:r>
            <a:r>
              <a: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网络地址、最小主机地址、最大主机地址、广播地址</a:t>
            </a:r>
            <a:endParaRPr lang="en-US" altLang="zh-CN" sz="2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55A2A2-BC52-4271-9078-8CE41F2DAE51}"/>
              </a:ext>
            </a:extLst>
          </p:cNvPr>
          <p:cNvSpPr txBox="1"/>
          <p:nvPr/>
        </p:nvSpPr>
        <p:spPr>
          <a:xfrm>
            <a:off x="796002" y="2481356"/>
            <a:ext cx="105999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网络前缀长度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18</a:t>
            </a:r>
          </a:p>
          <a:p>
            <a:pPr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地址数量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32-18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14</a:t>
            </a:r>
          </a:p>
          <a:p>
            <a:pPr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聚合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类网络数量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32-20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÷2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=2</a:t>
            </a:r>
            <a:r>
              <a:rPr lang="en-US" altLang="zh-CN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=64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11B1146E-7D09-41CD-B2F6-999450B21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00463"/>
              </p:ext>
            </p:extLst>
          </p:nvPr>
        </p:nvGraphicFramePr>
        <p:xfrm>
          <a:off x="796001" y="3642033"/>
          <a:ext cx="10599995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999">
                  <a:extLst>
                    <a:ext uri="{9D8B030D-6E8A-4147-A177-3AD203B41FA5}">
                      <a16:colId xmlns:a16="http://schemas.microsoft.com/office/drawing/2014/main" val="131438675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979083125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3574282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470084288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90721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11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255.255.192.0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017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0000 1000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206.0.64.8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29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01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206.0.64.0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979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01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206.0.64.1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03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01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11 1111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206.0.127.254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42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1111 1111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206.0.127.255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92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925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表格 20">
            <a:extLst>
              <a:ext uri="{FF2B5EF4-FFF2-40B4-BE49-F238E27FC236}">
                <a16:creationId xmlns:a16="http://schemas.microsoft.com/office/drawing/2014/main" id="{35A5F934-D7AF-4F84-9C20-16E7D7995B2D}"/>
              </a:ext>
            </a:extLst>
          </p:cNvPr>
          <p:cNvGraphicFramePr>
            <a:graphicFrameLocks noGrp="1"/>
          </p:cNvGraphicFramePr>
          <p:nvPr/>
        </p:nvGraphicFramePr>
        <p:xfrm>
          <a:off x="6096001" y="793245"/>
          <a:ext cx="5299995" cy="322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将多个连续的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类的网络地址聚合起来映射到一个物理网络上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以这个聚合起来的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类地址的共同网络地址作为其网络号，可有效解决路由表内容冗余的问题。</a:t>
                      </a: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方法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找出各地址的共同前缀，设置为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；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其余部分，全部置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；</a:t>
                      </a: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F1069D5-4B24-46FE-B2A6-9D80E2FDF5E8}"/>
              </a:ext>
            </a:extLst>
          </p:cNvPr>
          <p:cNvSpPr/>
          <p:nvPr/>
        </p:nvSpPr>
        <p:spPr>
          <a:xfrm>
            <a:off x="796002" y="738965"/>
            <a:ext cx="4801314" cy="5445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CDD281-F7D4-4086-BEE7-58D117085BF5}"/>
              </a:ext>
            </a:extLst>
          </p:cNvPr>
          <p:cNvSpPr txBox="1"/>
          <p:nvPr/>
        </p:nvSpPr>
        <p:spPr>
          <a:xfrm>
            <a:off x="1565443" y="2213169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路由聚合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A82F9B5-1241-4429-92E0-681A8F969E08}"/>
              </a:ext>
            </a:extLst>
          </p:cNvPr>
          <p:cNvSpPr txBox="1"/>
          <p:nvPr/>
        </p:nvSpPr>
        <p:spPr>
          <a:xfrm>
            <a:off x="899101" y="4349093"/>
            <a:ext cx="46089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800" kern="100" dirty="0" err="1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SuperNetting</a:t>
            </a:r>
            <a:endParaRPr lang="zh-CN" altLang="en-US" sz="48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4947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10">
            <a:extLst>
              <a:ext uri="{FF2B5EF4-FFF2-40B4-BE49-F238E27FC236}">
                <a16:creationId xmlns:a16="http://schemas.microsoft.com/office/drawing/2014/main" id="{73403954-1E93-45A2-88DA-35B7A83A035F}"/>
              </a:ext>
            </a:extLst>
          </p:cNvPr>
          <p:cNvGraphicFramePr>
            <a:graphicFrameLocks noGrp="1"/>
          </p:cNvGraphicFramePr>
          <p:nvPr/>
        </p:nvGraphicFramePr>
        <p:xfrm>
          <a:off x="796001" y="2846930"/>
          <a:ext cx="1059999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999">
                  <a:extLst>
                    <a:ext uri="{9D8B030D-6E8A-4147-A177-3AD203B41FA5}">
                      <a16:colId xmlns:a16="http://schemas.microsoft.com/office/drawing/2014/main" val="131438675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979083125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3574282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470084288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90721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172.1.4.128/25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127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0000 0100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017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172.1.4.0/25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127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0000 0100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29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172.1.5.0/24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0000 0101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979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172.1.6.0/24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0000 0110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03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172.1.7.0/24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0000 0111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42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85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共同前缀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0000 01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92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聚合网络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3793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172.1.4.0/22</a:t>
                      </a:r>
                      <a:endParaRPr lang="zh-CN" alt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042475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E0349F97-87AA-495C-825D-01C7E2B971B5}"/>
              </a:ext>
            </a:extLst>
          </p:cNvPr>
          <p:cNvSpPr/>
          <p:nvPr/>
        </p:nvSpPr>
        <p:spPr>
          <a:xfrm>
            <a:off x="796002" y="540070"/>
            <a:ext cx="10599996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1268397" y="936905"/>
            <a:ext cx="965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CIDR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地址块分别如下，求聚合网络。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880000" algn="l"/>
                <a:tab pos="5040000" algn="l"/>
                <a:tab pos="6480000" algn="l"/>
              </a:tabLst>
            </a:pP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172.1.4.128/25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172.1.4.0/25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172.1.5.0/24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172.1.6.0/24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172.1.7.0/24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921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0349F97-87AA-495C-825D-01C7E2B971B5}"/>
              </a:ext>
            </a:extLst>
          </p:cNvPr>
          <p:cNvSpPr/>
          <p:nvPr/>
        </p:nvSpPr>
        <p:spPr>
          <a:xfrm>
            <a:off x="796002" y="540070"/>
            <a:ext cx="10599996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992680" y="936905"/>
            <a:ext cx="10206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CIDR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地址块分别如下，求聚合网络。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880000" algn="l"/>
                <a:tab pos="5040000" algn="l"/>
                <a:tab pos="6480000" algn="l"/>
              </a:tabLst>
            </a:pP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206.0.68.0/23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206.0.70.0/24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206.0.71.0/24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206.0.71.128/24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172.1.7.0/24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10">
            <a:extLst>
              <a:ext uri="{FF2B5EF4-FFF2-40B4-BE49-F238E27FC236}">
                <a16:creationId xmlns:a16="http://schemas.microsoft.com/office/drawing/2014/main" id="{73403954-1E93-45A2-88DA-35B7A83A035F}"/>
              </a:ext>
            </a:extLst>
          </p:cNvPr>
          <p:cNvGraphicFramePr>
            <a:graphicFrameLocks noGrp="1"/>
          </p:cNvGraphicFramePr>
          <p:nvPr/>
        </p:nvGraphicFramePr>
        <p:xfrm>
          <a:off x="796001" y="3217770"/>
          <a:ext cx="10599995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999">
                  <a:extLst>
                    <a:ext uri="{9D8B030D-6E8A-4147-A177-3AD203B41FA5}">
                      <a16:colId xmlns:a16="http://schemas.microsoft.com/office/drawing/2014/main" val="131438675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979083125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3574282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470084288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90721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206.0.68.0/23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0100 010</a:t>
                      </a:r>
                      <a:r>
                        <a:rPr lang="en-US" altLang="zh-CN" sz="1600" b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endParaRPr lang="zh-CN" altLang="en-US" sz="1600" b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017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206.0.70.0/24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0100 0110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29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206.0.71.0/25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0100 0111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979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206.0.71.128/25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0100 0111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1</a:t>
                      </a:r>
                      <a:r>
                        <a:rPr lang="en-US" altLang="zh-CN" sz="160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03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85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共同前缀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0100 01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92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聚合网络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64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3793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206.0.64.0/22</a:t>
                      </a:r>
                      <a:endParaRPr lang="zh-CN" alt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0424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3554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0349F97-87AA-495C-825D-01C7E2B971B5}"/>
              </a:ext>
            </a:extLst>
          </p:cNvPr>
          <p:cNvSpPr/>
          <p:nvPr/>
        </p:nvSpPr>
        <p:spPr>
          <a:xfrm>
            <a:off x="796002" y="540070"/>
            <a:ext cx="10599996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1268397" y="659906"/>
            <a:ext cx="72474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已知路由器中的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条路由分别如下。请问是否可以聚合成为一条路由？</a:t>
            </a: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如果可以，请写出聚合后的路由；如果不可以，请说明原因。</a:t>
            </a:r>
          </a:p>
          <a:p>
            <a:pPr algn="l">
              <a:tabLst>
                <a:tab pos="5040000" algn="l"/>
              </a:tabLst>
            </a:pP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192.168.16.0/25	192.168.16.193</a:t>
            </a:r>
          </a:p>
          <a:p>
            <a:pPr algn="l">
              <a:tabLst>
                <a:tab pos="5040000" algn="l"/>
              </a:tabLst>
            </a:pP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192.168.16.128/26	192.168.16.193</a:t>
            </a:r>
          </a:p>
        </p:txBody>
      </p:sp>
      <p:graphicFrame>
        <p:nvGraphicFramePr>
          <p:cNvPr id="8" name="表格 10">
            <a:extLst>
              <a:ext uri="{FF2B5EF4-FFF2-40B4-BE49-F238E27FC236}">
                <a16:creationId xmlns:a16="http://schemas.microsoft.com/office/drawing/2014/main" id="{73403954-1E93-45A2-88DA-35B7A83A035F}"/>
              </a:ext>
            </a:extLst>
          </p:cNvPr>
          <p:cNvGraphicFramePr>
            <a:graphicFrameLocks noGrp="1"/>
          </p:cNvGraphicFramePr>
          <p:nvPr/>
        </p:nvGraphicFramePr>
        <p:xfrm>
          <a:off x="796001" y="3959450"/>
          <a:ext cx="10599995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657">
                  <a:extLst>
                    <a:ext uri="{9D8B030D-6E8A-4147-A177-3AD203B41FA5}">
                      <a16:colId xmlns:a16="http://schemas.microsoft.com/office/drawing/2014/main" val="1314386756"/>
                    </a:ext>
                  </a:extLst>
                </a:gridCol>
                <a:gridCol w="1909341">
                  <a:extLst>
                    <a:ext uri="{9D8B030D-6E8A-4147-A177-3AD203B41FA5}">
                      <a16:colId xmlns:a16="http://schemas.microsoft.com/office/drawing/2014/main" val="1979083125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35742826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1470084288"/>
                    </a:ext>
                  </a:extLst>
                </a:gridCol>
                <a:gridCol w="2119999">
                  <a:extLst>
                    <a:ext uri="{9D8B030D-6E8A-4147-A177-3AD203B41FA5}">
                      <a16:colId xmlns:a16="http://schemas.microsoft.com/office/drawing/2014/main" val="37907216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192.168.16.0/25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600" b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017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192.168.16.128/26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29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60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85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共同前缀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1" baseline="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1" kern="1200" baseline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16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0000 0000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92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聚合网络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168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3793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192.168.16.0/24 192.168.16.193</a:t>
                      </a:r>
                      <a:endParaRPr lang="zh-CN" altLang="en-US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zh-CN" altLang="en-US" sz="16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0424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890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0349F97-87AA-495C-825D-01C7E2B971B5}"/>
              </a:ext>
            </a:extLst>
          </p:cNvPr>
          <p:cNvSpPr/>
          <p:nvPr/>
        </p:nvSpPr>
        <p:spPr>
          <a:xfrm>
            <a:off x="796002" y="856546"/>
            <a:ext cx="1012016" cy="5462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9ACC46-1FB4-4F66-8A64-EFD7E6A38DAF}"/>
              </a:ext>
            </a:extLst>
          </p:cNvPr>
          <p:cNvSpPr/>
          <p:nvPr/>
        </p:nvSpPr>
        <p:spPr>
          <a:xfrm>
            <a:off x="796001" y="2482028"/>
            <a:ext cx="1012016" cy="5462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B461951-DB78-4AEC-AFBA-0F0948E10144}"/>
              </a:ext>
            </a:extLst>
          </p:cNvPr>
          <p:cNvSpPr txBox="1"/>
          <p:nvPr/>
        </p:nvSpPr>
        <p:spPr>
          <a:xfrm>
            <a:off x="796002" y="856546"/>
            <a:ext cx="10599997" cy="3797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tabLst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【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真题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】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子网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192.168.4.0/30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中，能接收目的地址为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192.168.4.3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分组的最大主机数是（）。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A:0	B:1	C:2	D:4</a:t>
            </a: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【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真题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】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某路由表中有，其目的网络地址分别为：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35.230.32.0/21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35.230.40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0/21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35.230.48.0/21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35.230.56.0/21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，将这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条路由聚合后的目的网络地址是（）。</a:t>
            </a: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A:35.230.0.0/19	B:35.230.0.0/20</a:t>
            </a: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C:35.230.32.0/19	D:35.230.32.0/20</a:t>
            </a:r>
          </a:p>
          <a:p>
            <a:pPr algn="l">
              <a:lnSpc>
                <a:spcPct val="150000"/>
              </a:lnSpc>
              <a:tabLst>
                <a:tab pos="720000" algn="l"/>
                <a:tab pos="2160000" algn="l"/>
                <a:tab pos="3600000" algn="l"/>
                <a:tab pos="504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991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3879F57-6618-4C79-8E65-02F4C56A0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550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5"/>
            <a:ext cx="4801314" cy="5445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977B2F6-FF92-42F6-8631-B24E5B718259}"/>
              </a:ext>
            </a:extLst>
          </p:cNvPr>
          <p:cNvGrpSpPr/>
          <p:nvPr/>
        </p:nvGrpSpPr>
        <p:grpSpPr>
          <a:xfrm>
            <a:off x="796005" y="4108012"/>
            <a:ext cx="4801314" cy="2014923"/>
            <a:chOff x="796005" y="3461867"/>
            <a:chExt cx="4801314" cy="2014923"/>
          </a:xfrm>
        </p:grpSpPr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889A50E-C7EA-4440-BABC-75AAEABF7092}"/>
                </a:ext>
              </a:extLst>
            </p:cNvPr>
            <p:cNvSpPr txBox="1"/>
            <p:nvPr/>
          </p:nvSpPr>
          <p:spPr>
            <a:xfrm>
              <a:off x="796005" y="3461867"/>
              <a:ext cx="480131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6000" kern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rPr>
                <a:t>定长子网掩码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5358BECF-3C74-4FCC-9C38-28C2CC55ECB2}"/>
                </a:ext>
              </a:extLst>
            </p:cNvPr>
            <p:cNvSpPr txBox="1"/>
            <p:nvPr/>
          </p:nvSpPr>
          <p:spPr>
            <a:xfrm>
              <a:off x="2373863" y="4349093"/>
              <a:ext cx="165943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8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FLSM</a:t>
              </a:r>
              <a:endParaRPr lang="zh-CN" altLang="en-US" sz="48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A6118E1-8365-44EA-BC21-CA2C5C59D5B8}"/>
                </a:ext>
              </a:extLst>
            </p:cNvPr>
            <p:cNvSpPr txBox="1"/>
            <p:nvPr/>
          </p:nvSpPr>
          <p:spPr>
            <a:xfrm>
              <a:off x="1264587" y="5076680"/>
              <a:ext cx="38779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Fixed Length Subnet Mask</a:t>
              </a:r>
              <a:endPara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02BD2-3CE3-49D4-9E77-4DB1A42E1EB6}"/>
              </a:ext>
            </a:extLst>
          </p:cNvPr>
          <p:cNvGrpSpPr/>
          <p:nvPr/>
        </p:nvGrpSpPr>
        <p:grpSpPr>
          <a:xfrm>
            <a:off x="796003" y="738965"/>
            <a:ext cx="4801314" cy="2014923"/>
            <a:chOff x="796006" y="3461867"/>
            <a:chExt cx="4801314" cy="2014923"/>
          </a:xfrm>
        </p:grpSpPr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443A4581-6A04-4A26-BBE2-0B172F2FE564}"/>
                </a:ext>
              </a:extLst>
            </p:cNvPr>
            <p:cNvSpPr txBox="1"/>
            <p:nvPr/>
          </p:nvSpPr>
          <p:spPr>
            <a:xfrm>
              <a:off x="796006" y="3461867"/>
              <a:ext cx="480131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6000" kern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rPr>
                <a:t>变长子网掩码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1FFB41A-1A71-4A47-9636-B244B3ACD857}"/>
                </a:ext>
              </a:extLst>
            </p:cNvPr>
            <p:cNvSpPr txBox="1"/>
            <p:nvPr/>
          </p:nvSpPr>
          <p:spPr>
            <a:xfrm>
              <a:off x="2373863" y="4349093"/>
              <a:ext cx="165943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48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VLSM</a:t>
              </a:r>
              <a:endParaRPr lang="zh-CN" altLang="en-US" sz="48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36CB985-DF3E-4382-A048-CDD5BAE6D8D5}"/>
                </a:ext>
              </a:extLst>
            </p:cNvPr>
            <p:cNvSpPr txBox="1"/>
            <p:nvPr/>
          </p:nvSpPr>
          <p:spPr>
            <a:xfrm>
              <a:off x="1033756" y="5076680"/>
              <a:ext cx="43396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kern="100" dirty="0">
                  <a:solidFill>
                    <a:schemeClr val="bg1"/>
                  </a:solidFill>
                  <a:latin typeface="Courier New" panose="02070309020205020404" pitchFamily="49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Variable Length Subnet Mask</a:t>
              </a:r>
              <a:endParaRPr lang="zh-CN" altLang="en-US" sz="2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标题 25">
            <a:extLst>
              <a:ext uri="{FF2B5EF4-FFF2-40B4-BE49-F238E27FC236}">
                <a16:creationId xmlns:a16="http://schemas.microsoft.com/office/drawing/2014/main" id="{C90178D7-6B56-443D-A507-3814D26CA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</a:t>
            </a:r>
          </a:p>
        </p:txBody>
      </p:sp>
      <p:sp>
        <p:nvSpPr>
          <p:cNvPr id="27" name="文本占位符 26">
            <a:extLst>
              <a:ext uri="{FF2B5EF4-FFF2-40B4-BE49-F238E27FC236}">
                <a16:creationId xmlns:a16="http://schemas.microsoft.com/office/drawing/2014/main" id="{5CC5803D-0856-4A30-A1C2-1FD40116FC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pic>
        <p:nvPicPr>
          <p:cNvPr id="30" name="图片占位符 29">
            <a:extLst>
              <a:ext uri="{FF2B5EF4-FFF2-40B4-BE49-F238E27FC236}">
                <a16:creationId xmlns:a16="http://schemas.microsoft.com/office/drawing/2014/main" id="{E396EBEE-906E-42F5-8924-767E9573001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22" r="802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64407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0x0100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7960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路由器转发数据报的过程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7960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主机发送数据报的过程</a:t>
            </a:r>
          </a:p>
        </p:txBody>
      </p: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8831CD3-A90B-4275-AB93-264AF5D410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数据报的传送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86C034-9A29-445A-96DF-BDAC570F16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Packet Delivery</a:t>
            </a:r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F4E2DE-2267-465D-B676-3AA19DB489AD}"/>
              </a:ext>
            </a:extLst>
          </p:cNvPr>
          <p:cNvGrpSpPr/>
          <p:nvPr/>
        </p:nvGrpSpPr>
        <p:grpSpPr>
          <a:xfrm>
            <a:off x="10993470" y="2675663"/>
            <a:ext cx="461986" cy="767539"/>
            <a:chOff x="7285530" y="1882507"/>
            <a:chExt cx="461986" cy="767539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3AB78C8-336A-4AFA-AFE9-18CAD9ECC0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0316" y="2192846"/>
              <a:ext cx="457200" cy="457200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57D347-4A37-4517-83F4-27C69E5AAA37}"/>
                </a:ext>
              </a:extLst>
            </p:cNvPr>
            <p:cNvSpPr txBox="1"/>
            <p:nvPr/>
          </p:nvSpPr>
          <p:spPr>
            <a:xfrm>
              <a:off x="7285530" y="1882507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r2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0CBC27B-C99A-4BB9-B132-727D4ED5E574}"/>
              </a:ext>
            </a:extLst>
          </p:cNvPr>
          <p:cNvCxnSpPr>
            <a:cxnSpLocks/>
          </p:cNvCxnSpPr>
          <p:nvPr/>
        </p:nvCxnSpPr>
        <p:spPr>
          <a:xfrm>
            <a:off x="792263" y="3762599"/>
            <a:ext cx="288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2CBAE15F-FC97-4045-AA3F-86A8834AFD5C}"/>
              </a:ext>
            </a:extLst>
          </p:cNvPr>
          <p:cNvGrpSpPr/>
          <p:nvPr/>
        </p:nvGrpSpPr>
        <p:grpSpPr>
          <a:xfrm>
            <a:off x="2096961" y="2675663"/>
            <a:ext cx="457200" cy="1086936"/>
            <a:chOff x="1598650" y="1882507"/>
            <a:chExt cx="457200" cy="1086936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E6AEB822-1064-4BC9-920A-B29831845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2192846"/>
              <a:ext cx="457200" cy="4572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1267872-C254-4E81-AF7A-D455B7EBCFF1}"/>
                </a:ext>
              </a:extLst>
            </p:cNvPr>
            <p:cNvSpPr txBox="1"/>
            <p:nvPr/>
          </p:nvSpPr>
          <p:spPr>
            <a:xfrm>
              <a:off x="1630722" y="1882507"/>
              <a:ext cx="393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h1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FB89CC1A-2E00-4646-B432-3382B44C9233}"/>
                </a:ext>
              </a:extLst>
            </p:cNvPr>
            <p:cNvCxnSpPr>
              <a:cxnSpLocks/>
            </p:cNvCxnSpPr>
            <p:nvPr/>
          </p:nvCxnSpPr>
          <p:spPr>
            <a:xfrm>
              <a:off x="1827250" y="2650046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A0F2461A-C454-4411-8B1A-0DEFC86B371D}"/>
              </a:ext>
            </a:extLst>
          </p:cNvPr>
          <p:cNvGrpSpPr/>
          <p:nvPr/>
        </p:nvGrpSpPr>
        <p:grpSpPr>
          <a:xfrm>
            <a:off x="3225408" y="2675663"/>
            <a:ext cx="484294" cy="1077878"/>
            <a:chOff x="4444483" y="1882507"/>
            <a:chExt cx="484294" cy="107787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2CB833C9-CBF0-4E9B-9706-E6D819713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44483" y="2192846"/>
              <a:ext cx="457200" cy="457200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E18D3C3-D8BB-4CD6-AC3B-73D8FE593908}"/>
                </a:ext>
              </a:extLst>
            </p:cNvPr>
            <p:cNvSpPr txBox="1"/>
            <p:nvPr/>
          </p:nvSpPr>
          <p:spPr>
            <a:xfrm>
              <a:off x="4466791" y="1882507"/>
              <a:ext cx="461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r2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66FA4683-6F38-4895-9C18-8464AD531743}"/>
                </a:ext>
              </a:extLst>
            </p:cNvPr>
            <p:cNvCxnSpPr>
              <a:cxnSpLocks/>
            </p:cNvCxnSpPr>
            <p:nvPr/>
          </p:nvCxnSpPr>
          <p:spPr>
            <a:xfrm>
              <a:off x="4672308" y="2640988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B0270CBD-FF97-472C-A73D-4E525BDD89B5}"/>
              </a:ext>
            </a:extLst>
          </p:cNvPr>
          <p:cNvGrpSpPr/>
          <p:nvPr/>
        </p:nvGrpSpPr>
        <p:grpSpPr>
          <a:xfrm>
            <a:off x="820246" y="3762599"/>
            <a:ext cx="461986" cy="1206325"/>
            <a:chOff x="1596257" y="2969443"/>
            <a:chExt cx="461986" cy="1206325"/>
          </a:xfrm>
        </p:grpSpPr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06F1469C-3B1C-473D-9A20-8D08C32517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3375161"/>
              <a:ext cx="457200" cy="457200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39978C4-8567-4828-90E3-9BD7A6684156}"/>
                </a:ext>
              </a:extLst>
            </p:cNvPr>
            <p:cNvSpPr txBox="1"/>
            <p:nvPr/>
          </p:nvSpPr>
          <p:spPr>
            <a:xfrm>
              <a:off x="1596257" y="3806436"/>
              <a:ext cx="4619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h2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431D58A-84A3-4DB1-8063-0B70F6E258F7}"/>
                </a:ext>
              </a:extLst>
            </p:cNvPr>
            <p:cNvCxnSpPr>
              <a:cxnSpLocks/>
            </p:cNvCxnSpPr>
            <p:nvPr/>
          </p:nvCxnSpPr>
          <p:spPr>
            <a:xfrm>
              <a:off x="1824150" y="2969443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259F1DC8-C25A-4D8C-BA31-332961C5A88F}"/>
              </a:ext>
            </a:extLst>
          </p:cNvPr>
          <p:cNvGrpSpPr/>
          <p:nvPr/>
        </p:nvGrpSpPr>
        <p:grpSpPr>
          <a:xfrm>
            <a:off x="1667656" y="3762599"/>
            <a:ext cx="465192" cy="1206325"/>
            <a:chOff x="1594654" y="2969443"/>
            <a:chExt cx="465192" cy="1206325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90F66AF3-1299-41BD-BA6B-BE8B5B86E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3375161"/>
              <a:ext cx="457200" cy="457200"/>
            </a:xfrm>
            <a:prstGeom prst="rect">
              <a:avLst/>
            </a:prstGeom>
          </p:spPr>
        </p:pic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5BB3D65-2091-4592-9961-111890C0718A}"/>
                </a:ext>
              </a:extLst>
            </p:cNvPr>
            <p:cNvSpPr txBox="1"/>
            <p:nvPr/>
          </p:nvSpPr>
          <p:spPr>
            <a:xfrm>
              <a:off x="1594654" y="3806436"/>
              <a:ext cx="4651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h3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0C72B260-0E0F-4039-AECC-06FCEDEC3D7F}"/>
                </a:ext>
              </a:extLst>
            </p:cNvPr>
            <p:cNvCxnSpPr>
              <a:cxnSpLocks/>
            </p:cNvCxnSpPr>
            <p:nvPr/>
          </p:nvCxnSpPr>
          <p:spPr>
            <a:xfrm>
              <a:off x="1824150" y="2969443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云形 23">
            <a:extLst>
              <a:ext uri="{FF2B5EF4-FFF2-40B4-BE49-F238E27FC236}">
                <a16:creationId xmlns:a16="http://schemas.microsoft.com/office/drawing/2014/main" id="{A4DC435F-3759-4B96-85C8-961E9A52B1E9}"/>
              </a:ext>
            </a:extLst>
          </p:cNvPr>
          <p:cNvSpPr/>
          <p:nvPr/>
        </p:nvSpPr>
        <p:spPr>
          <a:xfrm>
            <a:off x="5926850" y="2838056"/>
            <a:ext cx="1739435" cy="753092"/>
          </a:xfrm>
          <a:prstGeom prst="cloud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448E4A3-929F-49D9-99A8-8AFFBC1CB2AC}"/>
              </a:ext>
            </a:extLst>
          </p:cNvPr>
          <p:cNvCxnSpPr>
            <a:cxnSpLocks/>
            <a:stCxn id="13" idx="3"/>
            <a:endCxn id="24" idx="2"/>
          </p:cNvCxnSpPr>
          <p:nvPr/>
        </p:nvCxnSpPr>
        <p:spPr>
          <a:xfrm>
            <a:off x="3682608" y="3214602"/>
            <a:ext cx="2249637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00AA22FD-E3A2-4E97-B990-D8D03FAE1537}"/>
              </a:ext>
            </a:extLst>
          </p:cNvPr>
          <p:cNvCxnSpPr>
            <a:stCxn id="24" idx="0"/>
            <a:endCxn id="5" idx="1"/>
          </p:cNvCxnSpPr>
          <p:nvPr/>
        </p:nvCxnSpPr>
        <p:spPr>
          <a:xfrm>
            <a:off x="7664835" y="3214602"/>
            <a:ext cx="3333421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D4B7365D-9409-4A11-8A6E-9606D0653988}"/>
              </a:ext>
            </a:extLst>
          </p:cNvPr>
          <p:cNvGrpSpPr/>
          <p:nvPr/>
        </p:nvGrpSpPr>
        <p:grpSpPr>
          <a:xfrm>
            <a:off x="588543" y="1619158"/>
            <a:ext cx="1440000" cy="1767603"/>
            <a:chOff x="1134908" y="3401901"/>
            <a:chExt cx="1800000" cy="1767603"/>
          </a:xfrm>
          <a:solidFill>
            <a:schemeClr val="accent2"/>
          </a:solidFill>
        </p:grpSpPr>
        <p:sp>
          <p:nvSpPr>
            <p:cNvPr id="28" name="立方体 27">
              <a:extLst>
                <a:ext uri="{FF2B5EF4-FFF2-40B4-BE49-F238E27FC236}">
                  <a16:creationId xmlns:a16="http://schemas.microsoft.com/office/drawing/2014/main" id="{45CEE08F-F506-4132-AA43-DF70FEFB0CCD}"/>
                </a:ext>
              </a:extLst>
            </p:cNvPr>
            <p:cNvSpPr/>
            <p:nvPr/>
          </p:nvSpPr>
          <p:spPr>
            <a:xfrm>
              <a:off x="1134908" y="4737504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物理层</a:t>
              </a:r>
            </a:p>
          </p:txBody>
        </p:sp>
        <p:sp>
          <p:nvSpPr>
            <p:cNvPr id="29" name="立方体 28">
              <a:extLst>
                <a:ext uri="{FF2B5EF4-FFF2-40B4-BE49-F238E27FC236}">
                  <a16:creationId xmlns:a16="http://schemas.microsoft.com/office/drawing/2014/main" id="{44FB6BF9-20B9-4446-BCAF-5EF267E57782}"/>
                </a:ext>
              </a:extLst>
            </p:cNvPr>
            <p:cNvSpPr/>
            <p:nvPr/>
          </p:nvSpPr>
          <p:spPr>
            <a:xfrm>
              <a:off x="1134908" y="4403604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数据链路层</a:t>
              </a:r>
            </a:p>
          </p:txBody>
        </p:sp>
        <p:sp>
          <p:nvSpPr>
            <p:cNvPr id="30" name="立方体 29">
              <a:extLst>
                <a:ext uri="{FF2B5EF4-FFF2-40B4-BE49-F238E27FC236}">
                  <a16:creationId xmlns:a16="http://schemas.microsoft.com/office/drawing/2014/main" id="{B0D3F87C-A746-429D-89CA-F74279845FFF}"/>
                </a:ext>
              </a:extLst>
            </p:cNvPr>
            <p:cNvSpPr/>
            <p:nvPr/>
          </p:nvSpPr>
          <p:spPr>
            <a:xfrm>
              <a:off x="1134908" y="4069703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网络层</a:t>
              </a:r>
            </a:p>
          </p:txBody>
        </p:sp>
        <p:sp>
          <p:nvSpPr>
            <p:cNvPr id="31" name="立方体 30">
              <a:extLst>
                <a:ext uri="{FF2B5EF4-FFF2-40B4-BE49-F238E27FC236}">
                  <a16:creationId xmlns:a16="http://schemas.microsoft.com/office/drawing/2014/main" id="{976F88A1-BEA5-4CEA-AEDE-24E64ECB4EAA}"/>
                </a:ext>
              </a:extLst>
            </p:cNvPr>
            <p:cNvSpPr/>
            <p:nvPr/>
          </p:nvSpPr>
          <p:spPr>
            <a:xfrm>
              <a:off x="1134908" y="3735802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运输层</a:t>
              </a:r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FED4661C-79DB-4846-8145-CEAE2DEC18D3}"/>
                </a:ext>
              </a:extLst>
            </p:cNvPr>
            <p:cNvSpPr/>
            <p:nvPr/>
          </p:nvSpPr>
          <p:spPr>
            <a:xfrm>
              <a:off x="1134908" y="3401901"/>
              <a:ext cx="1800000" cy="432000"/>
            </a:xfrm>
            <a:prstGeom prst="cube">
              <a:avLst/>
            </a:prstGeom>
            <a:grpFill/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A721C4A-4DCB-427C-8EC5-842E0AEB6858}"/>
              </a:ext>
            </a:extLst>
          </p:cNvPr>
          <p:cNvGrpSpPr/>
          <p:nvPr/>
        </p:nvGrpSpPr>
        <p:grpSpPr>
          <a:xfrm>
            <a:off x="3839465" y="2029997"/>
            <a:ext cx="1440000" cy="1099801"/>
            <a:chOff x="1134908" y="4069703"/>
            <a:chExt cx="1800000" cy="1099801"/>
          </a:xfrm>
          <a:solidFill>
            <a:schemeClr val="accent2"/>
          </a:solidFill>
        </p:grpSpPr>
        <p:sp>
          <p:nvSpPr>
            <p:cNvPr id="34" name="立方体 33">
              <a:extLst>
                <a:ext uri="{FF2B5EF4-FFF2-40B4-BE49-F238E27FC236}">
                  <a16:creationId xmlns:a16="http://schemas.microsoft.com/office/drawing/2014/main" id="{5EE0B429-FA9D-4B47-A29D-038CEE3B2237}"/>
                </a:ext>
              </a:extLst>
            </p:cNvPr>
            <p:cNvSpPr/>
            <p:nvPr/>
          </p:nvSpPr>
          <p:spPr>
            <a:xfrm>
              <a:off x="1134908" y="4737504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物理层</a:t>
              </a:r>
            </a:p>
          </p:txBody>
        </p:sp>
        <p:sp>
          <p:nvSpPr>
            <p:cNvPr id="35" name="立方体 34">
              <a:extLst>
                <a:ext uri="{FF2B5EF4-FFF2-40B4-BE49-F238E27FC236}">
                  <a16:creationId xmlns:a16="http://schemas.microsoft.com/office/drawing/2014/main" id="{673C2CB7-BB32-44E6-9B44-F5FEDF285A4E}"/>
                </a:ext>
              </a:extLst>
            </p:cNvPr>
            <p:cNvSpPr/>
            <p:nvPr/>
          </p:nvSpPr>
          <p:spPr>
            <a:xfrm>
              <a:off x="1134908" y="4403604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数据链路层</a:t>
              </a:r>
            </a:p>
          </p:txBody>
        </p:sp>
        <p:sp>
          <p:nvSpPr>
            <p:cNvPr id="36" name="立方体 35">
              <a:extLst>
                <a:ext uri="{FF2B5EF4-FFF2-40B4-BE49-F238E27FC236}">
                  <a16:creationId xmlns:a16="http://schemas.microsoft.com/office/drawing/2014/main" id="{C33AB3F3-2F26-4EC9-A36F-E1C24666FBDE}"/>
                </a:ext>
              </a:extLst>
            </p:cNvPr>
            <p:cNvSpPr/>
            <p:nvPr/>
          </p:nvSpPr>
          <p:spPr>
            <a:xfrm>
              <a:off x="1134908" y="4069703"/>
              <a:ext cx="1800000" cy="432000"/>
            </a:xfrm>
            <a:prstGeom prst="cube">
              <a:avLst/>
            </a:prstGeom>
            <a:ln/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网络层</a:t>
              </a:r>
            </a:p>
          </p:txBody>
        </p: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D7BBC0D-97A2-44E1-9087-DCEA61F37B9F}"/>
              </a:ext>
            </a:extLst>
          </p:cNvPr>
          <p:cNvCxnSpPr>
            <a:cxnSpLocks/>
          </p:cNvCxnSpPr>
          <p:nvPr/>
        </p:nvCxnSpPr>
        <p:spPr>
          <a:xfrm>
            <a:off x="8132048" y="1805545"/>
            <a:ext cx="360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C16AEB52-F108-4A3F-886B-498EC772D8DA}"/>
              </a:ext>
            </a:extLst>
          </p:cNvPr>
          <p:cNvGrpSpPr/>
          <p:nvPr/>
        </p:nvGrpSpPr>
        <p:grpSpPr>
          <a:xfrm>
            <a:off x="8541570" y="705582"/>
            <a:ext cx="470000" cy="1086936"/>
            <a:chOff x="1592251" y="1882507"/>
            <a:chExt cx="470000" cy="1086936"/>
          </a:xfrm>
        </p:grpSpPr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AA21C7B5-1A0B-4CFA-8271-C10FDEB981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2192846"/>
              <a:ext cx="457200" cy="457200"/>
            </a:xfrm>
            <a:prstGeom prst="rect">
              <a:avLst/>
            </a:prstGeom>
          </p:spPr>
        </p:pic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03697D2-974E-438C-B970-057E40A878ED}"/>
                </a:ext>
              </a:extLst>
            </p:cNvPr>
            <p:cNvSpPr txBox="1"/>
            <p:nvPr/>
          </p:nvSpPr>
          <p:spPr>
            <a:xfrm>
              <a:off x="1592251" y="1882507"/>
              <a:ext cx="470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h4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CA83E0FD-CC52-480F-A899-3C6F68C1B9F2}"/>
                </a:ext>
              </a:extLst>
            </p:cNvPr>
            <p:cNvCxnSpPr>
              <a:cxnSpLocks/>
            </p:cNvCxnSpPr>
            <p:nvPr/>
          </p:nvCxnSpPr>
          <p:spPr>
            <a:xfrm>
              <a:off x="1827250" y="2650046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0066BF18-AACA-49B7-8D1E-365765A330CD}"/>
              </a:ext>
            </a:extLst>
          </p:cNvPr>
          <p:cNvGrpSpPr/>
          <p:nvPr/>
        </p:nvGrpSpPr>
        <p:grpSpPr>
          <a:xfrm>
            <a:off x="9123872" y="1818573"/>
            <a:ext cx="471604" cy="1206325"/>
            <a:chOff x="1591448" y="2969443"/>
            <a:chExt cx="471604" cy="1206325"/>
          </a:xfrm>
        </p:grpSpPr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A2213208-EADD-48C3-BD90-BF84D27DC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3375161"/>
              <a:ext cx="457200" cy="457200"/>
            </a:xfrm>
            <a:prstGeom prst="rect">
              <a:avLst/>
            </a:prstGeom>
          </p:spPr>
        </p:pic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92664D6-9A3A-4C68-B9C2-CC4D14F704D6}"/>
                </a:ext>
              </a:extLst>
            </p:cNvPr>
            <p:cNvSpPr txBox="1"/>
            <p:nvPr/>
          </p:nvSpPr>
          <p:spPr>
            <a:xfrm>
              <a:off x="1591448" y="3806436"/>
              <a:ext cx="471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h5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A2BA898F-7F19-489A-89F8-AC81BDA2FFAD}"/>
                </a:ext>
              </a:extLst>
            </p:cNvPr>
            <p:cNvCxnSpPr>
              <a:cxnSpLocks/>
            </p:cNvCxnSpPr>
            <p:nvPr/>
          </p:nvCxnSpPr>
          <p:spPr>
            <a:xfrm>
              <a:off x="1824150" y="2969443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9855464-83AF-450C-B0FA-4C3CE201A028}"/>
              </a:ext>
            </a:extLst>
          </p:cNvPr>
          <p:cNvGrpSpPr/>
          <p:nvPr/>
        </p:nvGrpSpPr>
        <p:grpSpPr>
          <a:xfrm>
            <a:off x="9976091" y="1818573"/>
            <a:ext cx="473207" cy="1206325"/>
            <a:chOff x="1590646" y="2969443"/>
            <a:chExt cx="473207" cy="1206325"/>
          </a:xfrm>
        </p:grpSpPr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1DC47245-7352-4A23-9397-22AB05CE2C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3375161"/>
              <a:ext cx="457200" cy="457200"/>
            </a:xfrm>
            <a:prstGeom prst="rect">
              <a:avLst/>
            </a:prstGeom>
          </p:spPr>
        </p:pic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1A258BE-3137-4B96-85F6-960A1195253D}"/>
                </a:ext>
              </a:extLst>
            </p:cNvPr>
            <p:cNvSpPr txBox="1"/>
            <p:nvPr/>
          </p:nvSpPr>
          <p:spPr>
            <a:xfrm>
              <a:off x="1590646" y="3806436"/>
              <a:ext cx="4732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h6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C1C725C4-9793-422F-B400-4F34C0EE582E}"/>
                </a:ext>
              </a:extLst>
            </p:cNvPr>
            <p:cNvCxnSpPr>
              <a:cxnSpLocks/>
            </p:cNvCxnSpPr>
            <p:nvPr/>
          </p:nvCxnSpPr>
          <p:spPr>
            <a:xfrm>
              <a:off x="1824150" y="2969443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Picture 4">
            <a:extLst>
              <a:ext uri="{FF2B5EF4-FFF2-40B4-BE49-F238E27FC236}">
                <a16:creationId xmlns:a16="http://schemas.microsoft.com/office/drawing/2014/main" id="{E138127A-AC4C-4070-8308-C133B7664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5317" y="3744521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" name="组合 50">
            <a:extLst>
              <a:ext uri="{FF2B5EF4-FFF2-40B4-BE49-F238E27FC236}">
                <a16:creationId xmlns:a16="http://schemas.microsoft.com/office/drawing/2014/main" id="{E503A527-B70B-4668-A3B4-A704CAF28A6F}"/>
              </a:ext>
            </a:extLst>
          </p:cNvPr>
          <p:cNvGrpSpPr/>
          <p:nvPr/>
        </p:nvGrpSpPr>
        <p:grpSpPr>
          <a:xfrm>
            <a:off x="9094205" y="4861554"/>
            <a:ext cx="463589" cy="767539"/>
            <a:chOff x="7283927" y="1882507"/>
            <a:chExt cx="463589" cy="767539"/>
          </a:xfrm>
        </p:grpSpPr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3378F7A0-29B5-4509-966F-5878EE9B8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0316" y="2192846"/>
              <a:ext cx="457200" cy="457200"/>
            </a:xfrm>
            <a:prstGeom prst="rect">
              <a:avLst/>
            </a:prstGeom>
          </p:spPr>
        </p:pic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2CF4B1B-0585-430F-A0E8-914B5F4030D9}"/>
                </a:ext>
              </a:extLst>
            </p:cNvPr>
            <p:cNvSpPr txBox="1"/>
            <p:nvPr/>
          </p:nvSpPr>
          <p:spPr>
            <a:xfrm>
              <a:off x="7283927" y="1882507"/>
              <a:ext cx="404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r3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3D2FBD8-3DAC-4764-82AC-1695C1181FE1}"/>
              </a:ext>
            </a:extLst>
          </p:cNvPr>
          <p:cNvCxnSpPr>
            <a:cxnSpLocks/>
          </p:cNvCxnSpPr>
          <p:nvPr/>
        </p:nvCxnSpPr>
        <p:spPr>
          <a:xfrm>
            <a:off x="5717345" y="5406856"/>
            <a:ext cx="144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134476B-6958-4452-9864-8F3E18B1982D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7157345" y="5396708"/>
            <a:ext cx="1943249" cy="3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D3D6F25-22BD-4102-BA10-06C40F8E0265}"/>
              </a:ext>
            </a:extLst>
          </p:cNvPr>
          <p:cNvGrpSpPr/>
          <p:nvPr/>
        </p:nvGrpSpPr>
        <p:grpSpPr>
          <a:xfrm>
            <a:off x="9541287" y="4019012"/>
            <a:ext cx="1377696" cy="1377696"/>
            <a:chOff x="4632960" y="3095530"/>
            <a:chExt cx="1377696" cy="1377696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B4E6B95B-6CC0-4E18-80C6-288BFC7CC162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任意多边形: 形状 57">
              <a:extLst>
                <a:ext uri="{FF2B5EF4-FFF2-40B4-BE49-F238E27FC236}">
                  <a16:creationId xmlns:a16="http://schemas.microsoft.com/office/drawing/2014/main" id="{586946FF-3A61-4206-86A4-CEBAB34269B0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D30BF5C4-A4C4-48E3-8715-E7291300B9CA}"/>
              </a:ext>
            </a:extLst>
          </p:cNvPr>
          <p:cNvGrpSpPr/>
          <p:nvPr/>
        </p:nvGrpSpPr>
        <p:grpSpPr>
          <a:xfrm>
            <a:off x="9541287" y="4019012"/>
            <a:ext cx="1377696" cy="1377696"/>
            <a:chOff x="4632960" y="3095530"/>
            <a:chExt cx="1377696" cy="1377696"/>
          </a:xfrm>
        </p:grpSpPr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34483054-F8F7-44D2-8C89-70D4AEC542F1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任意多边形: 形状 60">
              <a:extLst>
                <a:ext uri="{FF2B5EF4-FFF2-40B4-BE49-F238E27FC236}">
                  <a16:creationId xmlns:a16="http://schemas.microsoft.com/office/drawing/2014/main" id="{D24DE632-BAA0-4D32-8BAF-CFF4F6349625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2EF12235-5123-4446-81AE-C6E84CF329F8}"/>
              </a:ext>
            </a:extLst>
          </p:cNvPr>
          <p:cNvGrpSpPr/>
          <p:nvPr/>
        </p:nvGrpSpPr>
        <p:grpSpPr>
          <a:xfrm>
            <a:off x="9541287" y="4019012"/>
            <a:ext cx="1377696" cy="1377696"/>
            <a:chOff x="4632960" y="3095530"/>
            <a:chExt cx="1377696" cy="1377696"/>
          </a:xfrm>
        </p:grpSpPr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1209F581-6E17-4CC2-81D0-1061116F77F8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任意多边形: 形状 63">
              <a:extLst>
                <a:ext uri="{FF2B5EF4-FFF2-40B4-BE49-F238E27FC236}">
                  <a16:creationId xmlns:a16="http://schemas.microsoft.com/office/drawing/2014/main" id="{19359CBA-4E7B-4EAB-B908-E4089176F37E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F9855D23-7053-4B90-B65E-BCAB89F01C90}"/>
              </a:ext>
            </a:extLst>
          </p:cNvPr>
          <p:cNvGrpSpPr/>
          <p:nvPr/>
        </p:nvGrpSpPr>
        <p:grpSpPr>
          <a:xfrm>
            <a:off x="9541287" y="4019012"/>
            <a:ext cx="1377696" cy="1377696"/>
            <a:chOff x="4632960" y="3095530"/>
            <a:chExt cx="1377696" cy="1377696"/>
          </a:xfrm>
        </p:grpSpPr>
        <p:sp>
          <p:nvSpPr>
            <p:cNvPr id="66" name="椭圆 65">
              <a:extLst>
                <a:ext uri="{FF2B5EF4-FFF2-40B4-BE49-F238E27FC236}">
                  <a16:creationId xmlns:a16="http://schemas.microsoft.com/office/drawing/2014/main" id="{F14B0244-95A7-43E6-8E09-B7BA77C8C704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任意多边形: 形状 66">
              <a:extLst>
                <a:ext uri="{FF2B5EF4-FFF2-40B4-BE49-F238E27FC236}">
                  <a16:creationId xmlns:a16="http://schemas.microsoft.com/office/drawing/2014/main" id="{DE31F3CA-3247-4B72-898D-BC15A1996228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08B9D6A7-EC87-4E09-9051-0750DE8FB1DA}"/>
              </a:ext>
            </a:extLst>
          </p:cNvPr>
          <p:cNvCxnSpPr>
            <a:stCxn id="5" idx="0"/>
          </p:cNvCxnSpPr>
          <p:nvPr/>
        </p:nvCxnSpPr>
        <p:spPr>
          <a:xfrm flipV="1">
            <a:off x="11226856" y="1805545"/>
            <a:ext cx="0" cy="118045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93F247B3-7718-4639-9991-D773EB7EB370}"/>
              </a:ext>
            </a:extLst>
          </p:cNvPr>
          <p:cNvGrpSpPr/>
          <p:nvPr/>
        </p:nvGrpSpPr>
        <p:grpSpPr>
          <a:xfrm>
            <a:off x="5690247" y="4307067"/>
            <a:ext cx="473207" cy="1086936"/>
            <a:chOff x="1590647" y="1882507"/>
            <a:chExt cx="473207" cy="1086936"/>
          </a:xfrm>
        </p:grpSpPr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58A81BD-BBD5-4653-BF31-86DA64346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2192846"/>
              <a:ext cx="457200" cy="457200"/>
            </a:xfrm>
            <a:prstGeom prst="rect">
              <a:avLst/>
            </a:prstGeom>
          </p:spPr>
        </p:pic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DDC28A01-5D03-4618-B56A-62AECF2CBE66}"/>
                </a:ext>
              </a:extLst>
            </p:cNvPr>
            <p:cNvSpPr txBox="1"/>
            <p:nvPr/>
          </p:nvSpPr>
          <p:spPr>
            <a:xfrm>
              <a:off x="1590647" y="1882507"/>
              <a:ext cx="4732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h8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9CB20FC1-362C-4CCC-999D-B68DC92CEF1C}"/>
                </a:ext>
              </a:extLst>
            </p:cNvPr>
            <p:cNvCxnSpPr>
              <a:cxnSpLocks/>
            </p:cNvCxnSpPr>
            <p:nvPr/>
          </p:nvCxnSpPr>
          <p:spPr>
            <a:xfrm>
              <a:off x="1827250" y="2650046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A5894C93-5A03-43A0-A5D8-E25DE303042B}"/>
              </a:ext>
            </a:extLst>
          </p:cNvPr>
          <p:cNvGrpSpPr/>
          <p:nvPr/>
        </p:nvGrpSpPr>
        <p:grpSpPr>
          <a:xfrm>
            <a:off x="6631942" y="4319920"/>
            <a:ext cx="457200" cy="1086936"/>
            <a:chOff x="1598650" y="1882507"/>
            <a:chExt cx="457200" cy="1086936"/>
          </a:xfrm>
        </p:grpSpPr>
        <p:pic>
          <p:nvPicPr>
            <p:cNvPr id="74" name="图片 73">
              <a:extLst>
                <a:ext uri="{FF2B5EF4-FFF2-40B4-BE49-F238E27FC236}">
                  <a16:creationId xmlns:a16="http://schemas.microsoft.com/office/drawing/2014/main" id="{0AF97094-8EEC-48E0-AA14-B04155DAE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8650" y="2192846"/>
              <a:ext cx="457200" cy="457200"/>
            </a:xfrm>
            <a:prstGeom prst="rect">
              <a:avLst/>
            </a:prstGeom>
          </p:spPr>
        </p:pic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4AD5F53-C4F8-4C0C-88D5-D83F6F560897}"/>
                </a:ext>
              </a:extLst>
            </p:cNvPr>
            <p:cNvSpPr txBox="1"/>
            <p:nvPr/>
          </p:nvSpPr>
          <p:spPr>
            <a:xfrm>
              <a:off x="1603471" y="1882507"/>
              <a:ext cx="4475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en-US" altLang="zh-CN" sz="1800" kern="100" dirty="0">
                  <a:effectLst/>
                  <a:latin typeface="Poppins Light" panose="000004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h7</a:t>
              </a:r>
              <a:endParaRPr lang="zh-CN" altLang="en-US" sz="1800" kern="100" dirty="0">
                <a:effectLst/>
                <a:latin typeface="Poppins Light" panose="000004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2E12EF75-F19C-40E6-B902-2CF41FEED8E6}"/>
                </a:ext>
              </a:extLst>
            </p:cNvPr>
            <p:cNvCxnSpPr>
              <a:cxnSpLocks/>
            </p:cNvCxnSpPr>
            <p:nvPr/>
          </p:nvCxnSpPr>
          <p:spPr>
            <a:xfrm>
              <a:off x="1827250" y="2650046"/>
              <a:ext cx="1550" cy="3193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8049A77C-5126-42F9-A541-BA40F44754AD}"/>
              </a:ext>
            </a:extLst>
          </p:cNvPr>
          <p:cNvGrpSpPr/>
          <p:nvPr/>
        </p:nvGrpSpPr>
        <p:grpSpPr>
          <a:xfrm rot="20271045">
            <a:off x="10495384" y="2742106"/>
            <a:ext cx="1377696" cy="1377696"/>
            <a:chOff x="4632960" y="3095530"/>
            <a:chExt cx="1377696" cy="1377696"/>
          </a:xfrm>
        </p:grpSpPr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D0B8D6F3-F1AA-485D-9EBF-10A159564DB8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任意多边形: 形状 78">
              <a:extLst>
                <a:ext uri="{FF2B5EF4-FFF2-40B4-BE49-F238E27FC236}">
                  <a16:creationId xmlns:a16="http://schemas.microsoft.com/office/drawing/2014/main" id="{0CF4FDB9-0763-4E9A-ADAF-AA76D65C1544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8D557E86-F96C-496B-922A-5951CFEBFF67}"/>
              </a:ext>
            </a:extLst>
          </p:cNvPr>
          <p:cNvGrpSpPr/>
          <p:nvPr/>
        </p:nvGrpSpPr>
        <p:grpSpPr>
          <a:xfrm rot="20271045">
            <a:off x="10495384" y="2742106"/>
            <a:ext cx="1377696" cy="1377696"/>
            <a:chOff x="4632960" y="3095530"/>
            <a:chExt cx="1377696" cy="1377696"/>
          </a:xfrm>
        </p:grpSpPr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D3C0A940-A85B-40C8-91C7-2451C93000F2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任意多边形: 形状 81">
              <a:extLst>
                <a:ext uri="{FF2B5EF4-FFF2-40B4-BE49-F238E27FC236}">
                  <a16:creationId xmlns:a16="http://schemas.microsoft.com/office/drawing/2014/main" id="{91ECBF67-FE8E-49F4-95B4-0D25C5895D3A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E53F4BAD-768F-4094-8814-08F20C945998}"/>
              </a:ext>
            </a:extLst>
          </p:cNvPr>
          <p:cNvGrpSpPr/>
          <p:nvPr/>
        </p:nvGrpSpPr>
        <p:grpSpPr>
          <a:xfrm rot="20271045">
            <a:off x="10495384" y="2742106"/>
            <a:ext cx="1377696" cy="1377696"/>
            <a:chOff x="4632960" y="3095530"/>
            <a:chExt cx="1377696" cy="1377696"/>
          </a:xfrm>
        </p:grpSpPr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D428B9C-0B93-4540-98BC-F2F0476E7267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任意多边形: 形状 84">
              <a:extLst>
                <a:ext uri="{FF2B5EF4-FFF2-40B4-BE49-F238E27FC236}">
                  <a16:creationId xmlns:a16="http://schemas.microsoft.com/office/drawing/2014/main" id="{E6285DB6-D7B3-4040-9FA1-E8F0AC772A87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25EFAA5C-727F-4F52-9B39-DAE6F5CC8A52}"/>
              </a:ext>
            </a:extLst>
          </p:cNvPr>
          <p:cNvGrpSpPr/>
          <p:nvPr/>
        </p:nvGrpSpPr>
        <p:grpSpPr>
          <a:xfrm rot="20271045">
            <a:off x="10495384" y="2742106"/>
            <a:ext cx="1377696" cy="1377696"/>
            <a:chOff x="4632960" y="3095530"/>
            <a:chExt cx="1377696" cy="1377696"/>
          </a:xfrm>
        </p:grpSpPr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5C7D46D6-4E92-4434-8848-81F7312F9EB3}"/>
                </a:ext>
              </a:extLst>
            </p:cNvPr>
            <p:cNvSpPr/>
            <p:nvPr/>
          </p:nvSpPr>
          <p:spPr>
            <a:xfrm>
              <a:off x="4632960" y="3095530"/>
              <a:ext cx="1377696" cy="137769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任意多边形: 形状 87">
              <a:extLst>
                <a:ext uri="{FF2B5EF4-FFF2-40B4-BE49-F238E27FC236}">
                  <a16:creationId xmlns:a16="http://schemas.microsoft.com/office/drawing/2014/main" id="{FA152B7F-A50B-4311-B5C6-9BAD413CEE55}"/>
                </a:ext>
              </a:extLst>
            </p:cNvPr>
            <p:cNvSpPr/>
            <p:nvPr/>
          </p:nvSpPr>
          <p:spPr>
            <a:xfrm>
              <a:off x="4632960" y="3773424"/>
              <a:ext cx="670848" cy="699802"/>
            </a:xfrm>
            <a:custGeom>
              <a:avLst/>
              <a:gdLst>
                <a:gd name="connsiteX0" fmla="*/ 1287 w 670848"/>
                <a:gd name="connsiteY0" fmla="*/ 0 h 699802"/>
                <a:gd name="connsiteX1" fmla="*/ 670848 w 670848"/>
                <a:gd name="connsiteY1" fmla="*/ 0 h 699802"/>
                <a:gd name="connsiteX2" fmla="*/ 670848 w 670848"/>
                <a:gd name="connsiteY2" fmla="*/ 699802 h 699802"/>
                <a:gd name="connsiteX3" fmla="*/ 550021 w 670848"/>
                <a:gd name="connsiteY3" fmla="*/ 687621 h 699802"/>
                <a:gd name="connsiteX4" fmla="*/ 0 w 670848"/>
                <a:gd name="connsiteY4" fmla="*/ 12768 h 699802"/>
                <a:gd name="connsiteX5" fmla="*/ 1287 w 670848"/>
                <a:gd name="connsiteY5" fmla="*/ 0 h 699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0848" h="699802">
                  <a:moveTo>
                    <a:pt x="1287" y="0"/>
                  </a:moveTo>
                  <a:lnTo>
                    <a:pt x="670848" y="0"/>
                  </a:lnTo>
                  <a:lnTo>
                    <a:pt x="670848" y="699802"/>
                  </a:lnTo>
                  <a:lnTo>
                    <a:pt x="550021" y="687621"/>
                  </a:lnTo>
                  <a:cubicBezTo>
                    <a:pt x="236125" y="623389"/>
                    <a:pt x="0" y="345653"/>
                    <a:pt x="0" y="12768"/>
                  </a:cubicBezTo>
                  <a:lnTo>
                    <a:pt x="1287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03967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3" presetClass="entr" presetSubtype="16" repeatCount="indefinite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repeatCount="indefinite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3" presetClass="entr" presetSubtype="16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3" presetClass="entr" presetSubtype="16" repeatCount="indefinite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repeatCount="indefinite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3" presetClass="entr" presetSubtype="1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3" presetClass="entr" presetSubtype="16" repeatCount="indefinite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repeatCount="indefinite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3" presetClass="entr" presetSubtype="16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2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3" presetClass="entr" presetSubtype="16" repeatCount="indefinite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2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repeatCount="indefinite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A52AFAD-730C-4E15-8007-DA6E2EAB67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81B6971-875D-4FD8-8D21-03977650E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ABAA3E-28C7-4A39-A258-D2DED85EF4E7}"/>
              </a:ext>
            </a:extLst>
          </p:cNvPr>
          <p:cNvSpPr txBox="1"/>
          <p:nvPr/>
        </p:nvSpPr>
        <p:spPr>
          <a:xfrm>
            <a:off x="1068747" y="1071418"/>
            <a:ext cx="567463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创建拓扑</a:t>
            </a:r>
          </a:p>
          <a:p>
            <a:pPr algn="l">
              <a:tabLst>
                <a:tab pos="2160000" algn="l"/>
              </a:tabLst>
            </a:pP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注意路由器配置完毕后把端口打开（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on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</a:p>
          <a:p>
            <a:pPr algn="l">
              <a:tabLst>
                <a:tab pos="2160000" algn="l"/>
              </a:tabLst>
            </a:pP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160000" algn="l"/>
              </a:tabLst>
            </a:pP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相关命令：</a:t>
            </a: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主机清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缓存：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 –d</a:t>
            </a: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交换机清转发表：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#clear mac-address-table</a:t>
            </a: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路由器清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#clear arp</a:t>
            </a:r>
          </a:p>
          <a:p>
            <a:pPr algn="l">
              <a:tabLst>
                <a:tab pos="216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路由器查看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	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#show arp</a:t>
            </a:r>
          </a:p>
          <a:p>
            <a:pPr algn="l">
              <a:tabLst>
                <a:tab pos="216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16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2160000" algn="l"/>
              </a:tabLst>
            </a:pP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清除不成功处置：保存项目，重新启动</a:t>
            </a:r>
          </a:p>
          <a:p>
            <a:pPr algn="l"/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776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1252625" y="66958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ICMP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zh-CN" altLang="en-US" dirty="0"/>
              <a:t>是网络层协议，不是高层协议</a:t>
            </a:r>
            <a:endParaRPr lang="en-US" altLang="zh-CN" dirty="0"/>
          </a:p>
          <a:p>
            <a:r>
              <a:rPr lang="zh-CN" altLang="en-US" dirty="0"/>
              <a:t>封装在</a:t>
            </a:r>
            <a:r>
              <a:rPr lang="en-US" altLang="zh-CN" dirty="0"/>
              <a:t>IP</a:t>
            </a:r>
            <a:r>
              <a:rPr lang="zh-CN" altLang="en-US" dirty="0"/>
              <a:t>数据报中发送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950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8200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3707400" y="1776000"/>
            <a:ext cx="47785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5593974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8650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500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3707400" y="4811100"/>
            <a:ext cx="4778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4883043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8200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050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3706950" y="2463900"/>
            <a:ext cx="4778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5593524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7300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3706500" y="5596049"/>
            <a:ext cx="47785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4874929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050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7300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3706500" y="3205276"/>
            <a:ext cx="47785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5593074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050" y="2940676"/>
            <a:ext cx="529200" cy="5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占位符 25">
            <a:extLst>
              <a:ext uri="{FF2B5EF4-FFF2-40B4-BE49-F238E27FC236}">
                <a16:creationId xmlns:a16="http://schemas.microsoft.com/office/drawing/2014/main" id="{464C2BA2-C994-4763-91D8-1640914B51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733E629-826D-4BA0-A218-9A8A14BFB55A}"/>
              </a:ext>
            </a:extLst>
          </p:cNvPr>
          <p:cNvSpPr txBox="1"/>
          <p:nvPr/>
        </p:nvSpPr>
        <p:spPr>
          <a:xfrm>
            <a:off x="2169459" y="1362635"/>
            <a:ext cx="8632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&gt;</a:t>
            </a:r>
            <a:r>
              <a:rPr lang="en-US" altLang="zh-CN" dirty="0" err="1"/>
              <a:t>tracert</a:t>
            </a:r>
            <a:r>
              <a:rPr lang="en-US" altLang="zh-CN" dirty="0"/>
              <a:t> url / ip</a:t>
            </a:r>
          </a:p>
          <a:p>
            <a:pPr lvl="1"/>
            <a:r>
              <a:rPr lang="zh-CN" altLang="en-US" dirty="0"/>
              <a:t>如果只有一跳那就说明是有公网</a:t>
            </a:r>
            <a:r>
              <a:rPr lang="en-US" altLang="zh-CN" dirty="0"/>
              <a:t>IP</a:t>
            </a:r>
            <a:r>
              <a:rPr lang="zh-CN" altLang="en-US" dirty="0"/>
              <a:t>地址的，如果超过一跳那就肯定是内网</a:t>
            </a:r>
            <a:r>
              <a:rPr lang="en-US" altLang="zh-CN" dirty="0"/>
              <a:t>IP</a:t>
            </a:r>
            <a:r>
              <a:rPr lang="zh-CN" altLang="en-US" dirty="0"/>
              <a:t>地址</a:t>
            </a:r>
            <a:endParaRPr lang="en-US" altLang="zh-CN" dirty="0"/>
          </a:p>
          <a:p>
            <a:pPr lvl="1"/>
            <a:r>
              <a:rPr lang="zh-CN" altLang="en-US" dirty="0"/>
              <a:t>查看自己的</a:t>
            </a:r>
            <a:r>
              <a:rPr lang="en-US" altLang="zh-CN" dirty="0"/>
              <a:t>IP</a:t>
            </a:r>
          </a:p>
          <a:p>
            <a:endParaRPr lang="zh-CN" altLang="en-US" dirty="0"/>
          </a:p>
          <a:p>
            <a:pPr algn="l"/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28" name="表格 5">
            <a:extLst>
              <a:ext uri="{FF2B5EF4-FFF2-40B4-BE49-F238E27FC236}">
                <a16:creationId xmlns:a16="http://schemas.microsoft.com/office/drawing/2014/main" id="{6CCEC282-3F28-457D-8FA7-AAF738030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933229"/>
              </p:ext>
            </p:extLst>
          </p:nvPr>
        </p:nvGraphicFramePr>
        <p:xfrm>
          <a:off x="3216000" y="2458251"/>
          <a:ext cx="5760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760000">
                  <a:extLst>
                    <a:ext uri="{9D8B030D-6E8A-4147-A177-3AD203B41FA5}">
                      <a16:colId xmlns:a16="http://schemas.microsoft.com/office/drawing/2014/main" val="3297559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aseline="0" dirty="0"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Command</a:t>
                      </a:r>
                      <a:endParaRPr lang="zh-CN" altLang="en-US" sz="1600" baseline="0" dirty="0">
                        <a:latin typeface="Cuprum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3715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solidFill>
                            <a:schemeClr val="tx1"/>
                          </a:solidFill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&gt;route print</a:t>
                      </a:r>
                      <a:endParaRPr lang="zh-CN" altLang="en-US" sz="1600" baseline="0" dirty="0">
                        <a:latin typeface="Cuprum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7681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solidFill>
                            <a:schemeClr val="tx1"/>
                          </a:solidFill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&gt;</a:t>
                      </a:r>
                      <a:r>
                        <a:rPr lang="en-US" altLang="zh-CN" sz="1600" baseline="0" dirty="0" err="1">
                          <a:solidFill>
                            <a:schemeClr val="tx1"/>
                          </a:solidFill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tracert</a:t>
                      </a:r>
                      <a:r>
                        <a:rPr lang="en-US" altLang="zh-CN" sz="1600" baseline="0" dirty="0">
                          <a:solidFill>
                            <a:schemeClr val="tx1"/>
                          </a:solidFill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 URL / IP</a:t>
                      </a:r>
                      <a:endParaRPr lang="zh-CN" altLang="en-US" sz="1600" baseline="0" dirty="0">
                        <a:latin typeface="Cuprum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8444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aseline="0" dirty="0">
                          <a:solidFill>
                            <a:schemeClr val="tx1"/>
                          </a:solidFill>
                          <a:latin typeface="Cuprum" panose="00000500000000000000" pitchFamily="2" charset="0"/>
                          <a:ea typeface="微软雅黑 Light" panose="020B0502040204020203" pitchFamily="34" charset="-122"/>
                        </a:rPr>
                        <a:t>&gt;</a:t>
                      </a:r>
                      <a:endParaRPr lang="zh-CN" altLang="en-US" sz="1600" baseline="0" dirty="0">
                        <a:latin typeface="Cuprum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9108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6046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3278</TotalTime>
  <Words>4962</Words>
  <Application>Microsoft Office PowerPoint</Application>
  <PresentationFormat>宽屏</PresentationFormat>
  <Paragraphs>1455</Paragraphs>
  <Slides>74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74</vt:i4>
      </vt:variant>
    </vt:vector>
  </HeadingPairs>
  <TitlesOfParts>
    <vt:vector size="84" baseType="lpstr">
      <vt:lpstr>等线</vt:lpstr>
      <vt:lpstr>等线 Light</vt:lpstr>
      <vt:lpstr>方正大黑简体</vt:lpstr>
      <vt:lpstr>微软雅黑</vt:lpstr>
      <vt:lpstr>微软雅黑 Light</vt:lpstr>
      <vt:lpstr>Arial</vt:lpstr>
      <vt:lpstr>Courier New</vt:lpstr>
      <vt:lpstr>Cuprum</vt:lpstr>
      <vt:lpstr>Poppins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子网划分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IP数据报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冷 军</cp:lastModifiedBy>
  <cp:revision>1186</cp:revision>
  <dcterms:created xsi:type="dcterms:W3CDTF">2021-05-10T03:08:00Z</dcterms:created>
  <dcterms:modified xsi:type="dcterms:W3CDTF">2022-04-05T12:17:10Z</dcterms:modified>
</cp:coreProperties>
</file>