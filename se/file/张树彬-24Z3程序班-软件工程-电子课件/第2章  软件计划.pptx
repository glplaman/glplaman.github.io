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140.xml" ContentType="application/vnd.openxmlformats-officedocument.presentationml.tags+xml"/>
  <Override PartName="/ppt/tags/tag151.xml" ContentType="application/vnd.openxmlformats-officedocument.presentationml.tags+xml"/>
  <Override PartName="/ppt/slides/slide36.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tags/tag49.xml" ContentType="application/vnd.openxmlformats-officedocument.presentationml.tags+xml"/>
  <Override PartName="/ppt/tags/tag96.xml" ContentType="application/vnd.openxmlformats-officedocument.presentationml.tags+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38.xml" ContentType="application/vnd.openxmlformats-officedocument.presentationml.tags+xml"/>
  <Override PartName="/ppt/tags/tag85.xml" ContentType="application/vnd.openxmlformats-officedocument.presentationml.tags+xml"/>
  <Override PartName="/ppt/tags/tag189.xml" ContentType="application/vnd.openxmlformats-officedocument.presentationml.tags+xml"/>
  <Override PartName="/ppt/notesSlides/notesSlide16.xml" ContentType="application/vnd.openxmlformats-officedocument.presentationml.notes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178.xml" ContentType="application/vnd.openxmlformats-officedocument.presentationml.tags+xml"/>
  <Override PartName="/ppt/tags/tag52.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167.xml" ContentType="application/vnd.openxmlformats-officedocument.presentationml.tags+xml"/>
  <Override PartName="/ppt/tags/tag41.xml" ContentType="application/vnd.openxmlformats-officedocument.presentationml.tags+xml"/>
  <Override PartName="/ppt/tags/tag145.xml" ContentType="application/vnd.openxmlformats-officedocument.presentationml.tags+xml"/>
  <Override PartName="/ppt/notesSlides/notesSlide7.xml" ContentType="application/vnd.openxmlformats-officedocument.presentationml.notesSlide+xml"/>
  <Override PartName="/ppt/tags/tag192.xml" ContentType="application/vnd.openxmlformats-officedocument.presentationml.tags+xml"/>
  <Override PartName="/ppt/slides/slide77.xml" ContentType="application/vnd.openxmlformats-officedocument.presentationml.slide+xml"/>
  <Override PartName="/ppt/tags/tag30.xml" ContentType="application/vnd.openxmlformats-officedocument.presentationml.tags+xml"/>
  <Override PartName="/ppt/tags/tag134.xml" ContentType="application/vnd.openxmlformats-officedocument.presentationml.tags+xml"/>
  <Override PartName="/ppt/tags/tag181.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tags/tag112.xml" ContentType="application/vnd.openxmlformats-officedocument.presentationml.tags+xml"/>
  <Override PartName="/ppt/tags/tag123.xml" ContentType="application/vnd.openxmlformats-officedocument.presentationml.tags+xml"/>
  <Override PartName="/ppt/tags/tag170.xml" ContentType="application/vnd.openxmlformats-officedocument.presentationml.tags+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tags/tag101.xml" ContentType="application/vnd.openxmlformats-officedocument.presentationml.tags+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tags/tag68.xml" ContentType="application/vnd.openxmlformats-officedocument.presentationml.tags+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tags/tag57.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tags/tag35.xml" ContentType="application/vnd.openxmlformats-officedocument.presentationml.tags+xml"/>
  <Override PartName="/ppt/tags/tag46.xml" ContentType="application/vnd.openxmlformats-officedocument.presentationml.tags+xml"/>
  <Override PartName="/ppt/tags/tag82.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197.xml" ContentType="application/vnd.openxmlformats-officedocument.presentationml.tag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128.xml" ContentType="application/vnd.openxmlformats-officedocument.presentationml.tags+xml"/>
  <Override PartName="/ppt/tags/tag175.xml" ContentType="application/vnd.openxmlformats-officedocument.presentationml.tags+xml"/>
  <Override PartName="/ppt/tags/tag13.xml" ContentType="application/vnd.openxmlformats-officedocument.presentationml.tags+xml"/>
  <Override PartName="/ppt/tags/tag60.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slides/slide49.xml" ContentType="application/vnd.openxmlformats-officedocument.presentationml.slide+xml"/>
  <Override PartName="/ppt/tags/tag106.xml" ContentType="application/vnd.openxmlformats-officedocument.presentationml.tags+xml"/>
  <Override PartName="/ppt/notesSlides/notesSlide4.xml" ContentType="application/vnd.openxmlformats-officedocument.presentationml.notesSlide+xml"/>
  <Override PartName="/ppt/tags/tag142.xml" ContentType="application/vnd.openxmlformats-officedocument.presentationml.tags+xml"/>
  <Override PartName="/ppt/tags/tag153.xml" ContentType="application/vnd.openxmlformats-officedocument.presentationml.tags+xml"/>
  <Override PartName="/ppt/slides/slide38.xml" ContentType="application/vnd.openxmlformats-officedocument.presentationml.slide+xml"/>
  <Override PartName="/ppt/tags/tag131.xml" ContentType="application/vnd.openxmlformats-officedocument.presentationml.tags+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ags/tag98.xml" ContentType="application/vnd.openxmlformats-officedocument.presentationml.tags+xml"/>
  <Override PartName="/ppt/tags/tag120.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tags/tag87.xml" ContentType="application/vnd.openxmlformats-officedocument.presentationml.tags+xml"/>
  <Default Extension="wmf" ContentType="image/x-wmf"/>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169.xml" ContentType="application/vnd.openxmlformats-officedocument.presentationml.tags+xml"/>
  <Override PartName="/ppt/tags/tag43.xml" ContentType="application/vnd.openxmlformats-officedocument.presentationml.tags+xml"/>
  <Override PartName="/ppt/tags/tag90.xml" ContentType="application/vnd.openxmlformats-officedocument.presentationml.tags+xml"/>
  <Override PartName="/ppt/tags/tag147.xml" ContentType="application/vnd.openxmlformats-officedocument.presentationml.tags+xml"/>
  <Override PartName="/ppt/tags/tag194.xml" ContentType="application/vnd.openxmlformats-officedocument.presentationml.tags+xml"/>
  <Override PartName="/ppt/notesSlides/notesSlide9.xml" ContentType="application/vnd.openxmlformats-officedocument.presentationml.notesSlide+xml"/>
  <Override PartName="/ppt/slides/slide79.xml" ContentType="application/vnd.openxmlformats-officedocument.presentationml.slide+xml"/>
  <Override PartName="/ppt/tags/tag32.xml" ContentType="application/vnd.openxmlformats-officedocument.presentationml.tags+xml"/>
  <Override PartName="/ppt/tags/tag136.xml" ContentType="application/vnd.openxmlformats-officedocument.presentationml.tags+xml"/>
  <Override PartName="/ppt/tags/tag183.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tags/tag114.xml" ContentType="application/vnd.openxmlformats-officedocument.presentationml.tags+xml"/>
  <Override PartName="/ppt/tags/tag125.xml" ContentType="application/vnd.openxmlformats-officedocument.presentationml.tags+xml"/>
  <Override PartName="/ppt/tags/tag161.xml" ContentType="application/vnd.openxmlformats-officedocument.presentationml.tags+xml"/>
  <Override PartName="/ppt/tags/tag172.xml" ContentType="application/vnd.openxmlformats-officedocument.presentationml.tags+xml"/>
  <Override PartName="/ppt/slideMasters/slideMaster2.xml" ContentType="application/vnd.openxmlformats-officedocument.presentationml.slideMaster+xml"/>
  <Override PartName="/ppt/slides/slide57.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tags/tag59.xml" ContentType="application/vnd.openxmlformats-officedocument.presentationml.tags+xml"/>
  <Override PartName="/ppt/tags/tag77.xml" ContentType="application/vnd.openxmlformats-officedocument.presentationml.tags+xml"/>
  <Override PartName="/ppt/tags/tag88.xml" ContentType="application/vnd.openxmlformats-officedocument.presentationml.tags+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9.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66.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tags/tag188.xml" ContentType="application/vnd.openxmlformats-officedocument.presentationml.tags+xml"/>
  <Override PartName="/ppt/notesSlides/notesSlide15.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26.xml" ContentType="application/vnd.openxmlformats-officedocument.presentationml.tags+xml"/>
  <Override PartName="/ppt/tags/tag55.xml" ContentType="application/vnd.openxmlformats-officedocument.presentationml.tags+xml"/>
  <Override PartName="/ppt/tags/tag73.xml" ContentType="application/vnd.openxmlformats-officedocument.presentationml.tags+xml"/>
  <Override PartName="/ppt/tags/tag159.xml" ContentType="application/vnd.openxmlformats-officedocument.presentationml.tags+xml"/>
  <Override PartName="/ppt/tags/tag177.xml" ContentType="application/vnd.openxmlformats-officedocument.presentationml.tags+xml"/>
  <Override PartName="/ppt/tags/tag15.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62.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tags/tag119.xml" ContentType="application/vnd.openxmlformats-officedocument.presentationml.tags+xml"/>
  <Override PartName="/ppt/tags/tag137.xml" ContentType="application/vnd.openxmlformats-officedocument.presentationml.tags+xml"/>
  <Override PartName="/ppt/tags/tag148.xml" ContentType="application/vnd.openxmlformats-officedocument.presentationml.tags+xml"/>
  <Override PartName="/ppt/tags/tag166.xml" ContentType="application/vnd.openxmlformats-officedocument.presentationml.tags+xml"/>
  <Override PartName="/ppt/tags/tag184.xml" ContentType="application/vnd.openxmlformats-officedocument.presentationml.tags+xml"/>
  <Override PartName="/ppt/tags/tag195.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Override PartName="/ppt/tags/tag108.xml" ContentType="application/vnd.openxmlformats-officedocument.presentationml.tags+xml"/>
  <Override PartName="/ppt/tags/tag126.xml" ContentType="application/vnd.openxmlformats-officedocument.presentationml.tags+xml"/>
  <Override PartName="/ppt/notesSlides/notesSlide6.xml" ContentType="application/vnd.openxmlformats-officedocument.presentationml.notesSlide+xml"/>
  <Override PartName="/ppt/tags/tag155.xml" ContentType="application/vnd.openxmlformats-officedocument.presentationml.tags+xml"/>
  <Override PartName="/ppt/tags/tag173.xml" ContentType="application/vnd.openxmlformats-officedocument.presentationml.tags+xml"/>
  <Override PartName="/ppt/slides/slide8.xml" ContentType="application/vnd.openxmlformats-officedocument.presentationml.slide+xml"/>
  <Override PartName="/ppt/slides/slide69.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33.xml" ContentType="application/vnd.openxmlformats-officedocument.presentationml.tags+xml"/>
  <Override PartName="/ppt/tags/tag144.xml" ContentType="application/vnd.openxmlformats-officedocument.presentationml.tags+xml"/>
  <Override PartName="/ppt/tags/tag162.xml" ContentType="application/vnd.openxmlformats-officedocument.presentationml.tags+xml"/>
  <Override PartName="/ppt/tags/tag180.xml" ContentType="application/vnd.openxmlformats-officedocument.presentationml.tags+xml"/>
  <Override PartName="/ppt/tags/tag191.xml" ContentType="application/vnd.openxmlformats-officedocument.presentationml.tags+xml"/>
  <Override PartName="/ppt/slides/slide29.xml" ContentType="application/vnd.openxmlformats-officedocument.presentationml.slide+xml"/>
  <Override PartName="/ppt/slides/slide76.xml" ContentType="application/vnd.openxmlformats-officedocument.presentationml.slide+xml"/>
  <Override PartName="/ppt/tags/tag122.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slides/slide43.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tags/tag45.xml" ContentType="application/vnd.openxmlformats-officedocument.presentationml.tags+xml"/>
  <Override PartName="/ppt/tags/tag92.xml" ContentType="application/vnd.openxmlformats-officedocument.presentationml.tags+xml"/>
  <Override PartName="/ppt/tags/tag149.xml" ContentType="application/vnd.openxmlformats-officedocument.presentationml.tags+xml"/>
  <Override PartName="/ppt/tags/tag196.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tags/tag138.xml" ContentType="application/vnd.openxmlformats-officedocument.presentationml.tags+xml"/>
  <Override PartName="/ppt/tags/tag185.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tags/tag163.xml" ContentType="application/vnd.openxmlformats-officedocument.presentationml.tags+xml"/>
  <Override PartName="/ppt/tags/tag174.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Override PartName="/ppt/slides/slide48.xml" ContentType="application/vnd.openxmlformats-officedocument.presentationml.slide+xml"/>
  <Override PartName="/ppt/notesSlides/notesSlide3.xml" ContentType="application/vnd.openxmlformats-officedocument.presentationml.notesSlide+xml"/>
  <Override PartName="/ppt/tags/tag141.xml" ContentType="application/vnd.openxmlformats-officedocument.presentationml.tags+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notesSlides/notesSlide17.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179.xml" ContentType="application/vnd.openxmlformats-officedocument.presentationml.tags+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Override PartName="/ppt/tags/tag168.xml" ContentType="application/vnd.openxmlformats-officedocument.presentationml.tags+xml"/>
  <Override PartName="/ppt/tags/tag53.xml" ContentType="application/vnd.openxmlformats-officedocument.presentationml.tags+xml"/>
  <Override PartName="/ppt/tags/tag157.xml" ContentType="application/vnd.openxmlformats-officedocument.presentationml.tags+xml"/>
  <Default Extension="vml" ContentType="application/vnd.openxmlformats-officedocument.vmlDrawing"/>
  <Override PartName="/ppt/notesSlides/notesSlide8.xml" ContentType="application/vnd.openxmlformats-officedocument.presentationml.notesSlide+xml"/>
  <Override PartName="/ppt/tags/tag31.xml" ContentType="application/vnd.openxmlformats-officedocument.presentationml.tags+xml"/>
  <Override PartName="/ppt/tags/tag42.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tags/tag182.xml" ContentType="application/vnd.openxmlformats-officedocument.presentationml.tags+xml"/>
  <Override PartName="/ppt/tags/tag193.xml" ContentType="application/vnd.openxmlformats-officedocument.presentationml.tags+xml"/>
  <Override PartName="/ppt/slides/slide78.xml" ContentType="application/vnd.openxmlformats-officedocument.presentationml.slide+xml"/>
  <Override PartName="/ppt/tags/tag20.xml" ContentType="application/vnd.openxmlformats-officedocument.presentationml.tags+xml"/>
  <Override PartName="/ppt/tags/tag124.xml" ContentType="application/vnd.openxmlformats-officedocument.presentationml.tags+xml"/>
  <Override PartName="/ppt/tags/tag171.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slideMasters/slideMaster1.xml" ContentType="application/vnd.openxmlformats-officedocument.presentationml.slideMaster+xml"/>
  <Override PartName="/ppt/slides/slide45.xml" ContentType="application/vnd.openxmlformats-officedocument.presentationml.slide+xml"/>
  <Override PartName="/ppt/theme/theme3.xml" ContentType="application/vnd.openxmlformats-officedocument.theme+xml"/>
  <Override PartName="/ppt/tags/tag102.xml" ContentType="application/vnd.openxmlformats-officedocument.presentationml.tags+xml"/>
  <Override PartName="/ppt/slides/slide34.xml" ContentType="application/vnd.openxmlformats-officedocument.presentationml.slide+xml"/>
  <Override PartName="/ppt/slides/slide81.xml" ContentType="application/vnd.openxmlformats-officedocument.presentationml.slide+xml"/>
  <Override PartName="/ppt/tags/tag58.xml" ContentType="application/vnd.openxmlformats-officedocument.presentationml.tags+xml"/>
  <Override PartName="/ppt/tags/tag69.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36.xml" ContentType="application/vnd.openxmlformats-officedocument.presentationml.tags+xml"/>
  <Override PartName="/ppt/tags/tag83.xml" ContentType="application/vnd.openxmlformats-officedocument.presentationml.tags+xml"/>
  <Override PartName="/ppt/tags/tag187.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tags/tag143.xml" ContentType="application/vnd.openxmlformats-officedocument.presentationml.tags+xml"/>
  <Override PartName="/ppt/notesSlides/notesSlide5.xml" ContentType="application/vnd.openxmlformats-officedocument.presentationml.notesSlide+xml"/>
  <Override PartName="/ppt/tags/tag190.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tags/tag132.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85"/>
  </p:notesMasterIdLst>
  <p:sldIdLst>
    <p:sldId id="257" r:id="rId3"/>
    <p:sldId id="258" r:id="rId4"/>
    <p:sldId id="259" r:id="rId5"/>
    <p:sldId id="266" r:id="rId6"/>
    <p:sldId id="268" r:id="rId7"/>
    <p:sldId id="278" r:id="rId8"/>
    <p:sldId id="277" r:id="rId9"/>
    <p:sldId id="269" r:id="rId10"/>
    <p:sldId id="270" r:id="rId11"/>
    <p:sldId id="271" r:id="rId12"/>
    <p:sldId id="272" r:id="rId13"/>
    <p:sldId id="273" r:id="rId14"/>
    <p:sldId id="282" r:id="rId15"/>
    <p:sldId id="260" r:id="rId16"/>
    <p:sldId id="295" r:id="rId17"/>
    <p:sldId id="291" r:id="rId18"/>
    <p:sldId id="296" r:id="rId19"/>
    <p:sldId id="297" r:id="rId20"/>
    <p:sldId id="293" r:id="rId21"/>
    <p:sldId id="366" r:id="rId22"/>
    <p:sldId id="367" r:id="rId23"/>
    <p:sldId id="292" r:id="rId24"/>
    <p:sldId id="294" r:id="rId25"/>
    <p:sldId id="298" r:id="rId26"/>
    <p:sldId id="299" r:id="rId27"/>
    <p:sldId id="300" r:id="rId28"/>
    <p:sldId id="301" r:id="rId29"/>
    <p:sldId id="302" r:id="rId30"/>
    <p:sldId id="303" r:id="rId31"/>
    <p:sldId id="264" r:id="rId32"/>
    <p:sldId id="312" r:id="rId33"/>
    <p:sldId id="304" r:id="rId34"/>
    <p:sldId id="310" r:id="rId35"/>
    <p:sldId id="311" r:id="rId36"/>
    <p:sldId id="313" r:id="rId37"/>
    <p:sldId id="314" r:id="rId38"/>
    <p:sldId id="305" r:id="rId39"/>
    <p:sldId id="319" r:id="rId40"/>
    <p:sldId id="315" r:id="rId41"/>
    <p:sldId id="316" r:id="rId42"/>
    <p:sldId id="320" r:id="rId43"/>
    <p:sldId id="368" r:id="rId44"/>
    <p:sldId id="369" r:id="rId45"/>
    <p:sldId id="321" r:id="rId46"/>
    <p:sldId id="371" r:id="rId47"/>
    <p:sldId id="370" r:id="rId48"/>
    <p:sldId id="372" r:id="rId49"/>
    <p:sldId id="306" r:id="rId50"/>
    <p:sldId id="323" r:id="rId51"/>
    <p:sldId id="325" r:id="rId52"/>
    <p:sldId id="307" r:id="rId53"/>
    <p:sldId id="326" r:id="rId54"/>
    <p:sldId id="308" r:id="rId55"/>
    <p:sldId id="328" r:id="rId56"/>
    <p:sldId id="309" r:id="rId57"/>
    <p:sldId id="329" r:id="rId58"/>
    <p:sldId id="263" r:id="rId59"/>
    <p:sldId id="336" r:id="rId60"/>
    <p:sldId id="337" r:id="rId61"/>
    <p:sldId id="338" r:id="rId62"/>
    <p:sldId id="342" r:id="rId63"/>
    <p:sldId id="265" r:id="rId64"/>
    <p:sldId id="340" r:id="rId65"/>
    <p:sldId id="344" r:id="rId66"/>
    <p:sldId id="339" r:id="rId67"/>
    <p:sldId id="345" r:id="rId68"/>
    <p:sldId id="350" r:id="rId69"/>
    <p:sldId id="351" r:id="rId70"/>
    <p:sldId id="353" r:id="rId71"/>
    <p:sldId id="373" r:id="rId72"/>
    <p:sldId id="354" r:id="rId73"/>
    <p:sldId id="355" r:id="rId74"/>
    <p:sldId id="356" r:id="rId75"/>
    <p:sldId id="357" r:id="rId76"/>
    <p:sldId id="358" r:id="rId77"/>
    <p:sldId id="360" r:id="rId78"/>
    <p:sldId id="359" r:id="rId79"/>
    <p:sldId id="361" r:id="rId80"/>
    <p:sldId id="362" r:id="rId81"/>
    <p:sldId id="364" r:id="rId82"/>
    <p:sldId id="363" r:id="rId83"/>
    <p:sldId id="374" r:id="rId8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p:normalViewPr>
  <p:slideViewPr>
    <p:cSldViewPr snapToGrid="0">
      <p:cViewPr varScale="1">
        <p:scale>
          <a:sx n="116" d="100"/>
          <a:sy n="116" d="100"/>
        </p:scale>
        <p:origin x="-126" y="-390"/>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1013" y="1279525"/>
            <a:ext cx="6140450"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2</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6">
                <a:lumMod val="60000"/>
                <a:lumOff val="40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38552"/>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 xmlns:p14="http://schemas.microsoft.com/office/powerpoint/2010/main"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image" Target="../media/image1.png"/><Relationship Id="rId4" Type="http://schemas.openxmlformats.org/officeDocument/2006/relationships/slideLayout" Target="../slideLayouts/slideLayout17.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8.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19.xml"/><Relationship Id="rId7" Type="http://schemas.openxmlformats.org/officeDocument/2006/relationships/slideLayout" Target="../slideLayouts/slideLayout8.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5.png"/><Relationship Id="rId5" Type="http://schemas.openxmlformats.org/officeDocument/2006/relationships/tags" Target="../tags/tag21.xm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23.xml"/></Relationships>
</file>

<file path=ppt/slides/_rels/slide4.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tags" Target="../tags/tag36.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6" Type="http://schemas.openxmlformats.org/officeDocument/2006/relationships/slideLayout" Target="../slideLayouts/slideLayout18.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5" Type="http://schemas.openxmlformats.org/officeDocument/2006/relationships/tags" Target="../tags/tag3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37.xml"/></Relationships>
</file>

<file path=ppt/slides/_rels/slide5.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Layout" Target="../slideLayouts/slideLayout18.xml"/><Relationship Id="rId5" Type="http://schemas.openxmlformats.org/officeDocument/2006/relationships/tags" Target="../tags/tag43.xm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tags" Target="../tags/tag51.xml"/><Relationship Id="rId7" Type="http://schemas.openxmlformats.org/officeDocument/2006/relationships/tags" Target="../tags/tag55.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tags" Target="../tags/tag68.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5" Type="http://schemas.openxmlformats.org/officeDocument/2006/relationships/notesSlide" Target="../notesSlides/notesSlide2.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0" Type="http://schemas.openxmlformats.org/officeDocument/2006/relationships/tags" Target="../tags/tag78.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slideLayout" Target="../slideLayouts/slideLayout18.xml"/><Relationship Id="rId5" Type="http://schemas.openxmlformats.org/officeDocument/2006/relationships/tags" Target="../tags/tag86.xml"/><Relationship Id="rId10" Type="http://schemas.openxmlformats.org/officeDocument/2006/relationships/tags" Target="../tags/tag91.xml"/><Relationship Id="rId4" Type="http://schemas.openxmlformats.org/officeDocument/2006/relationships/tags" Target="../tags/tag85.xml"/><Relationship Id="rId9" Type="http://schemas.openxmlformats.org/officeDocument/2006/relationships/tags" Target="../tags/tag90.xml"/></Relationships>
</file>

<file path=ppt/slides/_rels/slide11.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tags" Target="../tags/tag104.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17" Type="http://schemas.openxmlformats.org/officeDocument/2006/relationships/slideLayout" Target="../slideLayouts/slideLayout18.xml"/><Relationship Id="rId2" Type="http://schemas.openxmlformats.org/officeDocument/2006/relationships/tags" Target="../tags/tag93.xml"/><Relationship Id="rId16" Type="http://schemas.openxmlformats.org/officeDocument/2006/relationships/tags" Target="../tags/tag107.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5" Type="http://schemas.openxmlformats.org/officeDocument/2006/relationships/tags" Target="../tags/tag10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 Id="rId14" Type="http://schemas.openxmlformats.org/officeDocument/2006/relationships/tags" Target="../tags/tag10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0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22.xml"/></Relationships>
</file>

<file path=ppt/slides/_rels/slide31.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18.emf"/><Relationship Id="rId5" Type="http://schemas.openxmlformats.org/officeDocument/2006/relationships/slideLayout" Target="../slideLayouts/slideLayout16.xml"/><Relationship Id="rId4" Type="http://schemas.openxmlformats.org/officeDocument/2006/relationships/tags" Target="../tags/tag126.xml"/></Relationships>
</file>

<file path=ppt/slides/_rels/slide32.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tags" Target="../tags/tag139.xml"/><Relationship Id="rId18" Type="http://schemas.openxmlformats.org/officeDocument/2006/relationships/tags" Target="../tags/tag144.xml"/><Relationship Id="rId3" Type="http://schemas.openxmlformats.org/officeDocument/2006/relationships/tags" Target="../tags/tag129.xml"/><Relationship Id="rId21" Type="http://schemas.openxmlformats.org/officeDocument/2006/relationships/slideLayout" Target="../slideLayouts/slideLayout18.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tags" Target="../tags/tag143.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tags" Target="../tags/tag146.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5" Type="http://schemas.openxmlformats.org/officeDocument/2006/relationships/tags" Target="../tags/tag131.xml"/><Relationship Id="rId15" Type="http://schemas.openxmlformats.org/officeDocument/2006/relationships/tags" Target="../tags/tag141.xml"/><Relationship Id="rId10" Type="http://schemas.openxmlformats.org/officeDocument/2006/relationships/tags" Target="../tags/tag136.xml"/><Relationship Id="rId19" Type="http://schemas.openxmlformats.org/officeDocument/2006/relationships/tags" Target="../tags/tag145.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tags" Target="../tags/tag147.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12" Type="http://schemas.openxmlformats.org/officeDocument/2006/relationships/slideLayout" Target="../slideLayouts/slideLayout18.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tags" Target="../tags/tag158.xml"/><Relationship Id="rId5" Type="http://schemas.openxmlformats.org/officeDocument/2006/relationships/tags" Target="../tags/tag152.xml"/><Relationship Id="rId10" Type="http://schemas.openxmlformats.org/officeDocument/2006/relationships/tags" Target="../tags/tag157.xml"/><Relationship Id="rId4" Type="http://schemas.openxmlformats.org/officeDocument/2006/relationships/tags" Target="../tags/tag151.xml"/><Relationship Id="rId9" Type="http://schemas.openxmlformats.org/officeDocument/2006/relationships/tags" Target="../tags/tag15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7.xml"/><Relationship Id="rId1" Type="http://schemas.openxmlformats.org/officeDocument/2006/relationships/vmlDrawing" Target="../drawings/vmlDrawing1.vml"/><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7.xml"/><Relationship Id="rId1" Type="http://schemas.openxmlformats.org/officeDocument/2006/relationships/vmlDrawing" Target="../drawings/vmlDrawing2.v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7.xml"/><Relationship Id="rId1" Type="http://schemas.openxmlformats.org/officeDocument/2006/relationships/vmlDrawing" Target="../drawings/vmlDrawing3.v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6" Type="http://schemas.openxmlformats.org/officeDocument/2006/relationships/slideLayout" Target="../slideLayouts/slideLayout18.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tags" Target="../tags/tag173.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18.xml"/><Relationship Id="rId1" Type="http://schemas.openxmlformats.org/officeDocument/2006/relationships/tags" Target="../tags/tag174.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75.xml"/></Relationships>
</file>

<file path=ppt/slides/_rels/slide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tags" Target="../tags/tag188.xml"/><Relationship Id="rId18" Type="http://schemas.openxmlformats.org/officeDocument/2006/relationships/tags" Target="../tags/tag193.xml"/><Relationship Id="rId3" Type="http://schemas.openxmlformats.org/officeDocument/2006/relationships/tags" Target="../tags/tag178.xml"/><Relationship Id="rId21" Type="http://schemas.openxmlformats.org/officeDocument/2006/relationships/tags" Target="../tags/tag196.xml"/><Relationship Id="rId7" Type="http://schemas.openxmlformats.org/officeDocument/2006/relationships/tags" Target="../tags/tag182.xml"/><Relationship Id="rId12" Type="http://schemas.openxmlformats.org/officeDocument/2006/relationships/tags" Target="../tags/tag187.xml"/><Relationship Id="rId17" Type="http://schemas.openxmlformats.org/officeDocument/2006/relationships/tags" Target="../tags/tag192.xml"/><Relationship Id="rId2" Type="http://schemas.openxmlformats.org/officeDocument/2006/relationships/tags" Target="../tags/tag177.xml"/><Relationship Id="rId16" Type="http://schemas.openxmlformats.org/officeDocument/2006/relationships/tags" Target="../tags/tag191.xml"/><Relationship Id="rId20" Type="http://schemas.openxmlformats.org/officeDocument/2006/relationships/tags" Target="../tags/tag195.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5" Type="http://schemas.openxmlformats.org/officeDocument/2006/relationships/tags" Target="../tags/tag190.xml"/><Relationship Id="rId10" Type="http://schemas.openxmlformats.org/officeDocument/2006/relationships/tags" Target="../tags/tag185.xml"/><Relationship Id="rId19" Type="http://schemas.openxmlformats.org/officeDocument/2006/relationships/tags" Target="../tags/tag194.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 Id="rId22"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9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7.xml"/><Relationship Id="rId1" Type="http://schemas.openxmlformats.org/officeDocument/2006/relationships/vmlDrawing" Target="../drawings/vmlDrawing4.v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554545"/>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6037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30997"/>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pic>
        <p:nvPicPr>
          <p:cNvPr id="47" name="图片 14"/>
          <p:cNvPicPr>
            <a:picLocks noChangeAspect="1"/>
          </p:cNvPicPr>
          <p:nvPr/>
        </p:nvPicPr>
        <p:blipFill>
          <a:blip r:embed="rId9" cstate="print"/>
          <a:stretch>
            <a:fillRect/>
          </a:stretch>
        </p:blipFill>
        <p:spPr>
          <a:xfrm>
            <a:off x="5542280" y="1628775"/>
            <a:ext cx="611505" cy="611505"/>
          </a:xfrm>
          <a:prstGeom prst="rect">
            <a:avLst/>
          </a:prstGeom>
          <a:noFill/>
          <a:ln w="9525">
            <a:noFill/>
          </a:ln>
        </p:spPr>
      </p:pic>
      <p:sp>
        <p:nvSpPr>
          <p:cNvPr id="48" name="椭圆 47"/>
          <p:cNvSpPr/>
          <p:nvPr/>
        </p:nvSpPr>
        <p:spPr>
          <a:xfrm>
            <a:off x="5542280" y="1628775"/>
            <a:ext cx="611505" cy="61150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6275705" y="1628775"/>
            <a:ext cx="4351655" cy="60960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6556375" y="1689100"/>
            <a:ext cx="3947795"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软件问题定义及可行性研究</a:t>
            </a:r>
          </a:p>
        </p:txBody>
      </p:sp>
      <p:sp>
        <p:nvSpPr>
          <p:cNvPr id="53" name="文本框 21"/>
          <p:cNvSpPr txBox="1"/>
          <p:nvPr/>
        </p:nvSpPr>
        <p:spPr>
          <a:xfrm>
            <a:off x="5580380" y="1714500"/>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pic>
        <p:nvPicPr>
          <p:cNvPr id="54" name="图片 24"/>
          <p:cNvPicPr>
            <a:picLocks noChangeAspect="1"/>
          </p:cNvPicPr>
          <p:nvPr/>
        </p:nvPicPr>
        <p:blipFill>
          <a:blip r:embed="rId9" cstate="print"/>
          <a:stretch>
            <a:fillRect/>
          </a:stretch>
        </p:blipFill>
        <p:spPr>
          <a:xfrm>
            <a:off x="4923790" y="2543175"/>
            <a:ext cx="611505" cy="612775"/>
          </a:xfrm>
          <a:prstGeom prst="rect">
            <a:avLst/>
          </a:prstGeom>
          <a:noFill/>
          <a:ln w="9525">
            <a:noFill/>
          </a:ln>
        </p:spPr>
      </p:pic>
      <p:sp>
        <p:nvSpPr>
          <p:cNvPr id="55" name="椭圆 54"/>
          <p:cNvSpPr/>
          <p:nvPr/>
        </p:nvSpPr>
        <p:spPr>
          <a:xfrm>
            <a:off x="4923790" y="2543175"/>
            <a:ext cx="611505" cy="61277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5657215" y="2543175"/>
            <a:ext cx="4038600" cy="611505"/>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5938520" y="2605405"/>
            <a:ext cx="33147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需求分析</a:t>
            </a:r>
          </a:p>
        </p:txBody>
      </p:sp>
      <p:sp>
        <p:nvSpPr>
          <p:cNvPr id="60" name="文本框 28"/>
          <p:cNvSpPr txBox="1"/>
          <p:nvPr/>
        </p:nvSpPr>
        <p:spPr>
          <a:xfrm>
            <a:off x="4961890" y="2630805"/>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pic>
        <p:nvPicPr>
          <p:cNvPr id="61" name="图片 32"/>
          <p:cNvPicPr>
            <a:picLocks noChangeAspect="1"/>
          </p:cNvPicPr>
          <p:nvPr/>
        </p:nvPicPr>
        <p:blipFill>
          <a:blip r:embed="rId9" cstate="print"/>
          <a:stretch>
            <a:fillRect/>
          </a:stretch>
        </p:blipFill>
        <p:spPr>
          <a:xfrm>
            <a:off x="4201160" y="3459480"/>
            <a:ext cx="611505" cy="612775"/>
          </a:xfrm>
          <a:prstGeom prst="rect">
            <a:avLst/>
          </a:prstGeom>
          <a:noFill/>
          <a:ln w="9525">
            <a:noFill/>
          </a:ln>
        </p:spPr>
      </p:pic>
      <p:sp>
        <p:nvSpPr>
          <p:cNvPr id="62" name="椭圆 61"/>
          <p:cNvSpPr/>
          <p:nvPr/>
        </p:nvSpPr>
        <p:spPr>
          <a:xfrm>
            <a:off x="4201160" y="3459480"/>
            <a:ext cx="611505" cy="61277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4934585" y="3459480"/>
            <a:ext cx="4037330" cy="610870"/>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5215255" y="3521075"/>
            <a:ext cx="33147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需求分析图形工具</a:t>
            </a:r>
          </a:p>
        </p:txBody>
      </p:sp>
      <p:sp>
        <p:nvSpPr>
          <p:cNvPr id="67" name="文本框 36"/>
          <p:cNvSpPr txBox="1"/>
          <p:nvPr/>
        </p:nvSpPr>
        <p:spPr>
          <a:xfrm>
            <a:off x="4239260" y="3546475"/>
            <a:ext cx="63500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nvGrpSpPr>
          <p:cNvPr id="6" name="组合 5"/>
          <p:cNvGrpSpPr/>
          <p:nvPr/>
        </p:nvGrpSpPr>
        <p:grpSpPr>
          <a:xfrm>
            <a:off x="3565525" y="4384040"/>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数据字典</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7" name="组合 6"/>
          <p:cNvGrpSpPr/>
          <p:nvPr/>
        </p:nvGrpSpPr>
        <p:grpSpPr>
          <a:xfrm>
            <a:off x="2767330" y="5290185"/>
            <a:ext cx="4666637" cy="611505"/>
            <a:chOff x="5228" y="7274"/>
            <a:chExt cx="7100" cy="963"/>
          </a:xfrm>
        </p:grpSpPr>
        <p:pic>
          <p:nvPicPr>
            <p:cNvPr id="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9" name="椭圆 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10" name="组合 42"/>
            <p:cNvGrpSpPr/>
            <p:nvPr/>
          </p:nvGrpSpPr>
          <p:grpSpPr>
            <a:xfrm>
              <a:off x="6383" y="7274"/>
              <a:ext cx="5945" cy="960"/>
              <a:chOff x="6004452" y="1971917"/>
              <a:chExt cx="3406249" cy="610204"/>
            </a:xfrm>
          </p:grpSpPr>
          <p:pic>
            <p:nvPicPr>
              <p:cNvPr id="1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12" name="圆角矩形 1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13" name="文本框 43"/>
            <p:cNvSpPr txBox="1"/>
            <p:nvPr/>
          </p:nvSpPr>
          <p:spPr>
            <a:xfrm>
              <a:off x="6825" y="7371"/>
              <a:ext cx="522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数据字典</a:t>
              </a:r>
            </a:p>
          </p:txBody>
        </p:sp>
        <p:sp>
          <p:nvSpPr>
            <p:cNvPr id="1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05</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56966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626178"/>
            <a:ext cx="5137150" cy="160591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软件问题定义及</a:t>
            </a: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可行性研究</a:t>
            </a:r>
          </a:p>
        </p:txBody>
      </p:sp>
      <p:grpSp>
        <p:nvGrpSpPr>
          <p:cNvPr id="11" name="组合 10"/>
          <p:cNvGrpSpPr/>
          <p:nvPr/>
        </p:nvGrpSpPr>
        <p:grpSpPr>
          <a:xfrm>
            <a:off x="6006465" y="4531995"/>
            <a:ext cx="2898140" cy="1436370"/>
            <a:chOff x="9459" y="7137"/>
            <a:chExt cx="4564" cy="2262"/>
          </a:xfrm>
        </p:grpSpPr>
        <p:sp>
          <p:nvSpPr>
            <p:cNvPr id="48" name="文本框 47"/>
            <p:cNvSpPr txBox="1"/>
            <p:nvPr/>
          </p:nvSpPr>
          <p:spPr>
            <a:xfrm>
              <a:off x="9459" y="7137"/>
              <a:ext cx="3706"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软件问题定义</a:t>
              </a:r>
            </a:p>
          </p:txBody>
        </p:sp>
        <p:grpSp>
          <p:nvGrpSpPr>
            <p:cNvPr id="9" name="组合 8"/>
            <p:cNvGrpSpPr/>
            <p:nvPr/>
          </p:nvGrpSpPr>
          <p:grpSpPr>
            <a:xfrm>
              <a:off x="9459" y="7917"/>
              <a:ext cx="4564" cy="1483"/>
              <a:chOff x="9459" y="7917"/>
              <a:chExt cx="4564" cy="1483"/>
            </a:xfrm>
          </p:grpSpPr>
          <p:sp>
            <p:nvSpPr>
              <p:cNvPr id="50" name="文本框 49"/>
              <p:cNvSpPr txBox="1"/>
              <p:nvPr/>
            </p:nvSpPr>
            <p:spPr>
              <a:xfrm>
                <a:off x="9459" y="7917"/>
                <a:ext cx="3706"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可行性研究</a:t>
                </a:r>
              </a:p>
            </p:txBody>
          </p:sp>
          <p:sp>
            <p:nvSpPr>
              <p:cNvPr id="8" name="文本框 7"/>
              <p:cNvSpPr txBox="1"/>
              <p:nvPr/>
            </p:nvSpPr>
            <p:spPr>
              <a:xfrm>
                <a:off x="9459" y="8742"/>
                <a:ext cx="4565"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指定项目开发计划</a:t>
                </a:r>
              </a:p>
            </p:txBody>
          </p:sp>
        </p:grpSp>
      </p:gr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fontAlgn="base"/>
            <a:r>
              <a:rPr lang="zh-CN" altLang="en-US" sz="3600">
                <a:solidFill>
                  <a:schemeClr val="accent1"/>
                </a:solidFill>
              </a:rPr>
              <a:t>1.1 软件问题的定义</a:t>
            </a:r>
          </a:p>
        </p:txBody>
      </p:sp>
      <p:sp>
        <p:nvSpPr>
          <p:cNvPr id="100" name="文本框 99"/>
          <p:cNvSpPr txBox="1"/>
          <p:nvPr/>
        </p:nvSpPr>
        <p:spPr>
          <a:xfrm>
            <a:off x="5262245" y="785495"/>
            <a:ext cx="6301105" cy="1556385"/>
          </a:xfrm>
          <a:prstGeom prst="rect">
            <a:avLst/>
          </a:prstGeom>
          <a:solidFill>
            <a:schemeClr val="accent3">
              <a:lumMod val="20000"/>
              <a:lumOff val="80000"/>
            </a:schemeClr>
          </a:solidFill>
          <a:ln w="9525">
            <a:noFill/>
          </a:ln>
        </p:spPr>
        <p:txBody>
          <a:bodyPr wrap="square">
            <a:spAutoFit/>
          </a:bodyPr>
          <a:lstStyle/>
          <a:p>
            <a:pPr marL="0" indent="127000" algn="l" fontAlgn="auto">
              <a:lnSpc>
                <a:spcPct val="130000"/>
              </a:lnSpc>
            </a:pPr>
            <a:r>
              <a:rPr lang="en-US" altLang="zh-CN" sz="2000" b="0" u="none">
                <a:latin typeface="宋体" panose="02010600030101010101" pitchFamily="2" charset="-122"/>
                <a:ea typeface="宋体" panose="02010600030101010101" pitchFamily="2" charset="-122"/>
                <a:cs typeface="宋体" panose="02010600030101010101" pitchFamily="2" charset="-122"/>
              </a:rPr>
              <a:t>   </a:t>
            </a:r>
            <a:r>
              <a:rPr lang="zh-CN" altLang="en-US" b="0" u="none">
                <a:latin typeface="宋体" panose="02010600030101010101" pitchFamily="2" charset="-122"/>
                <a:ea typeface="宋体" panose="02010600030101010101" pitchFamily="2" charset="-122"/>
                <a:cs typeface="宋体" panose="02010600030101010101" pitchFamily="2" charset="-122"/>
              </a:rPr>
              <a:t>在软件工程项目开始时，往往要先进行系统定义，确定系统硬件、软件的功能和接口。系统定义涉及的问题不完全属于软件工程范畴，它为系统提供总体概貌，根据对需求的初步理解，把系统功能分配给硬件、软件及系统的其他部分。</a:t>
            </a:r>
            <a:endParaRPr lang="zh-CN" altLang="en-US">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grpSp>
        <p:nvGrpSpPr>
          <p:cNvPr id="5" name="组合 4"/>
          <p:cNvGrpSpPr/>
          <p:nvPr/>
        </p:nvGrpSpPr>
        <p:grpSpPr>
          <a:xfrm>
            <a:off x="1221105" y="2384425"/>
            <a:ext cx="10120630" cy="3421380"/>
            <a:chOff x="2060" y="3526"/>
            <a:chExt cx="15096" cy="5498"/>
          </a:xfrm>
        </p:grpSpPr>
        <p:sp>
          <p:nvSpPr>
            <p:cNvPr id="6" name="MH_Other_1"/>
            <p:cNvSpPr>
              <a:spLocks noChangeArrowheads="1"/>
            </p:cNvSpPr>
            <p:nvPr>
              <p:custDataLst>
                <p:tags r:id="rId1"/>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2"/>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3"/>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4"/>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5"/>
              </p:custDataLst>
            </p:nvPr>
          </p:nvSpPr>
          <p:spPr>
            <a:xfrm>
              <a:off x="4684" y="3613"/>
              <a:ext cx="10704" cy="128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充分理解所涉及的问题，对问题的解决办法进行论证。</a:t>
              </a:r>
            </a:p>
          </p:txBody>
        </p:sp>
        <p:sp>
          <p:nvSpPr>
            <p:cNvPr id="11" name="MH_Other_5"/>
            <p:cNvSpPr>
              <a:spLocks noChangeArrowheads="1"/>
            </p:cNvSpPr>
            <p:nvPr>
              <p:custDataLst>
                <p:tags r:id="rId6"/>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7"/>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8"/>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9"/>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0"/>
              </p:custDataLst>
            </p:nvPr>
          </p:nvSpPr>
          <p:spPr>
            <a:xfrm>
              <a:off x="9924" y="7570"/>
              <a:ext cx="7233" cy="128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  表达解决方案，以便进行复审。</a:t>
              </a:r>
            </a:p>
          </p:txBody>
        </p:sp>
        <p:sp>
          <p:nvSpPr>
            <p:cNvPr id="16" name="MH_Other_9"/>
            <p:cNvSpPr>
              <a:spLocks noChangeArrowheads="1"/>
            </p:cNvSpPr>
            <p:nvPr>
              <p:custDataLst>
                <p:tags r:id="rId11"/>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12"/>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13"/>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4"/>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5"/>
              </p:custDataLst>
            </p:nvPr>
          </p:nvSpPr>
          <p:spPr>
            <a:xfrm>
              <a:off x="7290" y="5611"/>
              <a:ext cx="8906" cy="1280"/>
            </a:xfrm>
            <a:prstGeom prst="rect">
              <a:avLst/>
            </a:prstGeom>
          </p:spPr>
          <p:txBody>
            <a:bodyPr lIns="0" tIns="0" rIns="0" bIns="0" anchor="ctr">
              <a:noAutofit/>
            </a:bodyPr>
            <a:lstStyle/>
            <a:p>
              <a:pPr lvl="0" algn="just">
                <a:lnSpc>
                  <a:spcPct val="120000"/>
                </a:lnSpc>
                <a:spcBef>
                  <a:spcPct val="0"/>
                </a:spcBef>
              </a:pPr>
              <a:r>
                <a:rPr lang="en-US" altLang="zh-CN" sz="1600" dirty="0" smtClean="0">
                  <a:solidFill>
                    <a:srgbClr val="000000"/>
                  </a:solidFill>
                  <a:latin typeface="微软雅黑" panose="020B0503020204020204" charset="-122"/>
                  <a:ea typeface="微软雅黑" panose="020B0503020204020204" charset="-122"/>
                  <a:sym typeface="+mn-ea"/>
                </a:rPr>
                <a:t>      </a:t>
              </a: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评价问题解决办法的不同实现方案。</a:t>
              </a:r>
            </a:p>
          </p:txBody>
        </p:sp>
      </p:grpSp>
      <p:sp>
        <p:nvSpPr>
          <p:cNvPr id="22"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1.1.1 </a:t>
            </a:r>
            <a:r>
              <a:rPr lang="zh-CN" altLang="en-US" sz="2400" dirty="0" smtClean="0">
                <a:solidFill>
                  <a:schemeClr val="tx1"/>
                </a:solidFill>
              </a:rPr>
              <a:t>软件问题定义的任务</a:t>
            </a:r>
          </a:p>
        </p:txBody>
      </p:sp>
      <p:sp>
        <p:nvSpPr>
          <p:cNvPr id="25" name="矩形 24"/>
          <p:cNvSpPr>
            <a:spLocks noChangeAspect="1"/>
          </p:cNvSpPr>
          <p:nvPr/>
        </p:nvSpPr>
        <p:spPr>
          <a:xfrm>
            <a:off x="5109210" y="648335"/>
            <a:ext cx="6607810" cy="183134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1.1 </a:t>
            </a:r>
            <a:r>
              <a:rPr lang="zh-CN" altLang="en-US"/>
              <a:t>软件问题定义</a:t>
            </a:r>
          </a:p>
        </p:txBody>
      </p:sp>
      <p:sp>
        <p:nvSpPr>
          <p:cNvPr id="1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 </a:t>
            </a:r>
            <a:r>
              <a:rPr lang="zh-CN" altLang="en-US" sz="2400" dirty="0" smtClean="0">
                <a:solidFill>
                  <a:schemeClr val="tx1"/>
                </a:solidFill>
              </a:rPr>
              <a:t>明确系统的目标，规模和基本要求</a:t>
            </a:r>
          </a:p>
        </p:txBody>
      </p:sp>
      <p:grpSp>
        <p:nvGrpSpPr>
          <p:cNvPr id="4" name="组合 3"/>
          <p:cNvGrpSpPr/>
          <p:nvPr/>
        </p:nvGrpSpPr>
        <p:grpSpPr>
          <a:xfrm>
            <a:off x="482600" y="2305050"/>
            <a:ext cx="11374755" cy="3938905"/>
            <a:chOff x="760" y="3630"/>
            <a:chExt cx="17913" cy="6203"/>
          </a:xfrm>
        </p:grpSpPr>
        <p:cxnSp>
          <p:nvCxnSpPr>
            <p:cNvPr id="3075" name="MH_Other_1"/>
            <p:cNvCxnSpPr>
              <a:cxnSpLocks noChangeShapeType="1"/>
            </p:cNvCxnSpPr>
            <p:nvPr>
              <p:custDataLst>
                <p:tags r:id="rId1"/>
              </p:custDataLst>
            </p:nvPr>
          </p:nvCxnSpPr>
          <p:spPr bwMode="auto">
            <a:xfrm>
              <a:off x="760" y="5558"/>
              <a:ext cx="17913" cy="0"/>
            </a:xfrm>
            <a:prstGeom prst="line">
              <a:avLst/>
            </a:prstGeom>
            <a:noFill/>
            <a:ln w="76200" algn="ctr">
              <a:solidFill>
                <a:srgbClr val="E0E0E0"/>
              </a:solidFill>
              <a:miter lim="800000"/>
              <a:tailEnd type="triangle" w="med" len="med"/>
            </a:ln>
          </p:spPr>
        </p:cxnSp>
        <p:sp>
          <p:nvSpPr>
            <p:cNvPr id="70" name="MH_SubTitle_1"/>
            <p:cNvSpPr/>
            <p:nvPr>
              <p:custDataLst>
                <p:tags r:id="rId2"/>
              </p:custDataLst>
            </p:nvPr>
          </p:nvSpPr>
          <p:spPr>
            <a:xfrm>
              <a:off x="2330" y="3983"/>
              <a:ext cx="3297" cy="1372"/>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基本要求</a:t>
              </a:r>
            </a:p>
          </p:txBody>
        </p:sp>
        <p:sp>
          <p:nvSpPr>
            <p:cNvPr id="71" name="MH_Other_2"/>
            <p:cNvSpPr/>
            <p:nvPr>
              <p:custDataLst>
                <p:tags r:id="rId3"/>
              </p:custDataLst>
            </p:nvPr>
          </p:nvSpPr>
          <p:spPr>
            <a:xfrm>
              <a:off x="2090" y="3630"/>
              <a:ext cx="940" cy="70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1</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78" name="MH_Text_1"/>
            <p:cNvSpPr txBox="1">
              <a:spLocks noChangeArrowheads="1"/>
            </p:cNvSpPr>
            <p:nvPr>
              <p:custDataLst>
                <p:tags r:id="rId4"/>
              </p:custDataLst>
            </p:nvPr>
          </p:nvSpPr>
          <p:spPr bwMode="auto">
            <a:xfrm>
              <a:off x="1274" y="6158"/>
              <a:ext cx="5296" cy="3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zh-CN" altLang="en-US" sz="1600" b="1" dirty="0" smtClean="0">
                  <a:latin typeface="微软雅黑" panose="020B0503020204020204" charset="-122"/>
                  <a:ea typeface="微软雅黑" panose="020B0503020204020204" charset="-122"/>
                </a:rPr>
                <a:t>       包括软件的功能、性能、输入（数据的来源、类型、数量，数据的组织以及提供的频度）、输出（如报告、文件或数据，说明其用途、产生频度、接口及分发对象）、处理流程和数据流程、安全和保密方面的要求、同本系统相连接的其他系统等。</a:t>
              </a:r>
            </a:p>
          </p:txBody>
        </p:sp>
        <p:sp>
          <p:nvSpPr>
            <p:cNvPr id="73" name="MH_SubTitle_2"/>
            <p:cNvSpPr/>
            <p:nvPr>
              <p:custDataLst>
                <p:tags r:id="rId5"/>
              </p:custDataLst>
            </p:nvPr>
          </p:nvSpPr>
          <p:spPr>
            <a:xfrm>
              <a:off x="7668" y="3983"/>
              <a:ext cx="3297" cy="1372"/>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系统目标</a:t>
              </a:r>
            </a:p>
          </p:txBody>
        </p:sp>
        <p:sp>
          <p:nvSpPr>
            <p:cNvPr id="74" name="MH_Other_3"/>
            <p:cNvSpPr/>
            <p:nvPr>
              <p:custDataLst>
                <p:tags r:id="rId6"/>
              </p:custDataLst>
            </p:nvPr>
          </p:nvSpPr>
          <p:spPr>
            <a:xfrm>
              <a:off x="7428" y="3630"/>
              <a:ext cx="940" cy="70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2</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81" name="MH_Text_2"/>
            <p:cNvSpPr txBox="1">
              <a:spLocks noChangeArrowheads="1"/>
            </p:cNvSpPr>
            <p:nvPr>
              <p:custDataLst>
                <p:tags r:id="rId7"/>
              </p:custDataLst>
            </p:nvPr>
          </p:nvSpPr>
          <p:spPr bwMode="auto">
            <a:xfrm>
              <a:off x="7160" y="6143"/>
              <a:ext cx="4176" cy="26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sz="1600" b="1" dirty="0" smtClean="0">
                  <a:latin typeface="微软雅黑" panose="020B0503020204020204" charset="-122"/>
                  <a:ea typeface="微软雅黑" panose="020B0503020204020204" charset="-122"/>
                </a:rPr>
                <a:t>       例如，人力与设备费用的减少；处理速度的提高；控制精度或生产能力的提高；管理信息服务的改进；人员利用率的改进等。</a:t>
              </a:r>
            </a:p>
          </p:txBody>
        </p:sp>
        <p:sp>
          <p:nvSpPr>
            <p:cNvPr id="76" name="MH_SubTitle_3"/>
            <p:cNvSpPr/>
            <p:nvPr>
              <p:custDataLst>
                <p:tags r:id="rId8"/>
              </p:custDataLst>
            </p:nvPr>
          </p:nvSpPr>
          <p:spPr>
            <a:xfrm>
              <a:off x="12913" y="3983"/>
              <a:ext cx="3297" cy="1372"/>
            </a:xfrm>
            <a:prstGeom prst="rect">
              <a:avLst/>
            </a:prstGeom>
            <a:solidFill>
              <a:srgbClr val="44C0A2"/>
            </a:solidFill>
            <a:ln w="12700" cap="flat" cmpd="sng" algn="ctr">
              <a:noFill/>
              <a:prstDash val="solid"/>
              <a:miter lim="800000"/>
            </a:ln>
            <a:effectLst/>
          </p:spPr>
          <p:txBody>
            <a:bodyPr tIns="180000" anchor="ctr">
              <a:normAutofit/>
            </a:bodyPr>
            <a:lstStyle/>
            <a:p>
              <a:pPr algn="ctr"/>
              <a:r>
                <a:rPr lang="zh-CN" altLang="en-US" b="1" dirty="0">
                  <a:solidFill>
                    <a:schemeClr val="bg1"/>
                  </a:solidFill>
                  <a:latin typeface="微软雅黑" panose="020B0503020204020204" charset="-122"/>
                  <a:ea typeface="微软雅黑" panose="020B0503020204020204" charset="-122"/>
                </a:rPr>
                <a:t>系统开发条件，</a:t>
              </a:r>
            </a:p>
            <a:p>
              <a:pPr algn="ctr"/>
              <a:r>
                <a:rPr lang="zh-CN" altLang="en-US" b="1" dirty="0">
                  <a:solidFill>
                    <a:schemeClr val="bg1"/>
                  </a:solidFill>
                  <a:latin typeface="微软雅黑" panose="020B0503020204020204" charset="-122"/>
                  <a:ea typeface="微软雅黑" panose="020B0503020204020204" charset="-122"/>
                </a:rPr>
                <a:t>假定和限制</a:t>
              </a:r>
            </a:p>
          </p:txBody>
        </p:sp>
        <p:sp>
          <p:nvSpPr>
            <p:cNvPr id="77" name="MH_Other_4"/>
            <p:cNvSpPr/>
            <p:nvPr>
              <p:custDataLst>
                <p:tags r:id="rId9"/>
              </p:custDataLst>
            </p:nvPr>
          </p:nvSpPr>
          <p:spPr>
            <a:xfrm>
              <a:off x="12673" y="3630"/>
              <a:ext cx="940" cy="705"/>
            </a:xfrm>
            <a:prstGeom prst="ellipse">
              <a:avLst/>
            </a:prstGeom>
            <a:solidFill>
              <a:srgbClr val="38A68C"/>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3</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84" name="MH_Text_3"/>
            <p:cNvSpPr txBox="1">
              <a:spLocks noChangeArrowheads="1"/>
            </p:cNvSpPr>
            <p:nvPr>
              <p:custDataLst>
                <p:tags r:id="rId10"/>
              </p:custDataLst>
            </p:nvPr>
          </p:nvSpPr>
          <p:spPr bwMode="auto">
            <a:xfrm>
              <a:off x="12150" y="6143"/>
              <a:ext cx="5205" cy="26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en-US" altLang="zh-CN" sz="1600" b="1" dirty="0" smtClean="0">
                  <a:latin typeface="微软雅黑" panose="020B0503020204020204" charset="-122"/>
                  <a:ea typeface="微软雅黑" panose="020B0503020204020204" charset="-122"/>
                </a:rPr>
                <a:t>      </a:t>
              </a:r>
              <a:r>
                <a:rPr lang="zh-CN" altLang="en-US" sz="1600" b="1" dirty="0" smtClean="0">
                  <a:latin typeface="微软雅黑" panose="020B0503020204020204" charset="-122"/>
                  <a:ea typeface="微软雅黑" panose="020B0503020204020204" charset="-122"/>
                </a:rPr>
                <a:t>例如，系统运行寿命的最小值；经费、投资的来源和限制；法律和政策的限制；硬件、软件、运行环境和开发环境的条件及限制；可利用的信息和资源；完成期限等。。</a:t>
              </a:r>
              <a:endParaRPr lang="zh-CN" altLang="en-US" sz="1600" b="1" dirty="0" smtClean="0">
                <a:solidFill>
                  <a:schemeClr val="tx1">
                    <a:lumMod val="65000"/>
                    <a:lumOff val="35000"/>
                  </a:schemeClr>
                </a:solidFill>
                <a:latin typeface="幼圆" panose="02010509060101010101" pitchFamily="49" charset="-122"/>
                <a:ea typeface="微软雅黑" panose="020B0503020204020204" charset="-122"/>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1.1 </a:t>
            </a:r>
            <a:r>
              <a:rPr lang="zh-CN" altLang="en-US"/>
              <a:t>软件问题定义</a:t>
            </a:r>
          </a:p>
        </p:txBody>
      </p:sp>
      <p:sp>
        <p:nvSpPr>
          <p:cNvPr id="1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1.1.2 </a:t>
            </a:r>
            <a:r>
              <a:rPr lang="zh-CN" altLang="en-US" sz="2400" dirty="0" smtClean="0">
                <a:solidFill>
                  <a:schemeClr val="tx1"/>
                </a:solidFill>
              </a:rPr>
              <a:t>明确系统的目标，规模和基本要求</a:t>
            </a:r>
          </a:p>
        </p:txBody>
      </p:sp>
      <p:grpSp>
        <p:nvGrpSpPr>
          <p:cNvPr id="2" name="组合 1"/>
          <p:cNvGrpSpPr/>
          <p:nvPr/>
        </p:nvGrpSpPr>
        <p:grpSpPr>
          <a:xfrm>
            <a:off x="2562225" y="2280285"/>
            <a:ext cx="7066915" cy="3190875"/>
            <a:chOff x="760" y="3630"/>
            <a:chExt cx="11129" cy="5025"/>
          </a:xfrm>
        </p:grpSpPr>
        <p:cxnSp>
          <p:nvCxnSpPr>
            <p:cNvPr id="5" name="MH_Other_1"/>
            <p:cNvCxnSpPr>
              <a:cxnSpLocks noChangeShapeType="1"/>
            </p:cNvCxnSpPr>
            <p:nvPr>
              <p:custDataLst>
                <p:tags r:id="rId1"/>
              </p:custDataLst>
            </p:nvPr>
          </p:nvCxnSpPr>
          <p:spPr bwMode="auto">
            <a:xfrm flipV="1">
              <a:off x="760" y="5359"/>
              <a:ext cx="11129" cy="4"/>
            </a:xfrm>
            <a:prstGeom prst="line">
              <a:avLst/>
            </a:prstGeom>
            <a:noFill/>
            <a:ln w="76200" algn="ctr">
              <a:solidFill>
                <a:srgbClr val="E0E0E0"/>
              </a:solidFill>
              <a:miter lim="800000"/>
              <a:tailEnd type="triangle" w="med" len="med"/>
            </a:ln>
          </p:spPr>
        </p:cxnSp>
        <p:sp>
          <p:nvSpPr>
            <p:cNvPr id="6" name="MH_Text_1"/>
            <p:cNvSpPr txBox="1">
              <a:spLocks noChangeArrowheads="1"/>
            </p:cNvSpPr>
            <p:nvPr>
              <p:custDataLst>
                <p:tags r:id="rId2"/>
              </p:custDataLst>
            </p:nvPr>
          </p:nvSpPr>
          <p:spPr bwMode="auto">
            <a:xfrm>
              <a:off x="2062" y="5963"/>
              <a:ext cx="4043" cy="26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zh-CN" altLang="en-US" sz="1600" b="1" dirty="0" smtClean="0">
                  <a:latin typeface="微软雅黑" panose="020B0503020204020204" charset="-122"/>
                  <a:ea typeface="微软雅黑" panose="020B0503020204020204" charset="-122"/>
                </a:rPr>
                <a:t>       </a:t>
              </a:r>
              <a:r>
                <a:rPr lang="zh-CN" altLang="en-US" sz="1600" dirty="0" smtClean="0">
                  <a:latin typeface="微软雅黑" panose="020B0503020204020204" charset="-122"/>
                  <a:ea typeface="微软雅黑" panose="020B0503020204020204" charset="-122"/>
                </a:rPr>
                <a:t> </a:t>
              </a:r>
              <a:r>
                <a:rPr lang="zh-CN" altLang="en-US" sz="1600" b="1" dirty="0" smtClean="0">
                  <a:latin typeface="微软雅黑" panose="020B0503020204020204" charset="-122"/>
                  <a:ea typeface="微软雅黑" panose="020B0503020204020204" charset="-122"/>
                </a:rPr>
                <a:t>可采用调查、加权、确定模型、建立基准点或仿真等方法进行可行性研究。</a:t>
              </a:r>
            </a:p>
          </p:txBody>
        </p:sp>
        <p:sp>
          <p:nvSpPr>
            <p:cNvPr id="7" name="MH_Text_2"/>
            <p:cNvSpPr txBox="1">
              <a:spLocks noChangeArrowheads="1"/>
            </p:cNvSpPr>
            <p:nvPr>
              <p:custDataLst>
                <p:tags r:id="rId3"/>
              </p:custDataLst>
            </p:nvPr>
          </p:nvSpPr>
          <p:spPr bwMode="auto">
            <a:xfrm>
              <a:off x="6885" y="5948"/>
              <a:ext cx="4950" cy="26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rIns="0">
              <a:no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sz="1600" b="1" dirty="0" smtClean="0">
                  <a:latin typeface="微软雅黑" panose="020B0503020204020204" charset="-122"/>
                  <a:ea typeface="微软雅黑" panose="020B0503020204020204" charset="-122"/>
                </a:rPr>
                <a:t>       例如，经费的多少，各项功能的优先次序，开发时间的长短及使用的难易程度等。</a:t>
              </a:r>
            </a:p>
          </p:txBody>
        </p:sp>
        <p:sp>
          <p:nvSpPr>
            <p:cNvPr id="16" name="MH_SubTitle_1"/>
            <p:cNvSpPr/>
            <p:nvPr>
              <p:custDataLst>
                <p:tags r:id="rId4"/>
              </p:custDataLst>
            </p:nvPr>
          </p:nvSpPr>
          <p:spPr>
            <a:xfrm>
              <a:off x="2330" y="3983"/>
              <a:ext cx="3297" cy="1372"/>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可行性研究方法</a:t>
              </a:r>
            </a:p>
          </p:txBody>
        </p:sp>
        <p:sp>
          <p:nvSpPr>
            <p:cNvPr id="17" name="MH_Other_2"/>
            <p:cNvSpPr/>
            <p:nvPr>
              <p:custDataLst>
                <p:tags r:id="rId5"/>
              </p:custDataLst>
            </p:nvPr>
          </p:nvSpPr>
          <p:spPr>
            <a:xfrm>
              <a:off x="2090" y="3630"/>
              <a:ext cx="940" cy="70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smtClean="0">
                  <a:solidFill>
                    <a:srgbClr val="FFFFFF"/>
                  </a:solidFill>
                  <a:latin typeface="Arial" panose="020B0604020202020204" pitchFamily="34" charset="0"/>
                  <a:ea typeface="幼圆" panose="02010509060101010101" pitchFamily="49" charset="-122"/>
                  <a:cs typeface="Arial" panose="020B0604020202020204" pitchFamily="34" charset="0"/>
                </a:rPr>
                <a:t>4</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18" name="MH_SubTitle_2"/>
            <p:cNvSpPr/>
            <p:nvPr>
              <p:custDataLst>
                <p:tags r:id="rId6"/>
              </p:custDataLst>
            </p:nvPr>
          </p:nvSpPr>
          <p:spPr>
            <a:xfrm>
              <a:off x="7668" y="3983"/>
              <a:ext cx="3297" cy="1372"/>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评价尺度</a:t>
              </a:r>
            </a:p>
          </p:txBody>
        </p:sp>
        <p:sp>
          <p:nvSpPr>
            <p:cNvPr id="9" name="MH_Other_3"/>
            <p:cNvSpPr/>
            <p:nvPr>
              <p:custDataLst>
                <p:tags r:id="rId7"/>
              </p:custDataLst>
            </p:nvPr>
          </p:nvSpPr>
          <p:spPr>
            <a:xfrm>
              <a:off x="7428" y="3630"/>
              <a:ext cx="940" cy="70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smtClean="0">
                  <a:solidFill>
                    <a:srgbClr val="FFFFFF"/>
                  </a:solidFill>
                  <a:latin typeface="Arial" panose="020B0604020202020204" pitchFamily="34" charset="0"/>
                  <a:ea typeface="幼圆" panose="02010509060101010101" pitchFamily="49" charset="-122"/>
                  <a:cs typeface="Arial" panose="020B0604020202020204" pitchFamily="34" charset="0"/>
                </a:rPr>
                <a:t>5</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1.1 </a:t>
            </a:r>
            <a:r>
              <a:rPr lang="zh-CN" altLang="en-US"/>
              <a:t>软件问题定义</a:t>
            </a:r>
          </a:p>
        </p:txBody>
      </p:sp>
      <p:sp>
        <p:nvSpPr>
          <p:cNvPr id="1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1.1.3 </a:t>
            </a:r>
            <a:r>
              <a:rPr lang="zh-CN" altLang="en-US" sz="2400" dirty="0" smtClean="0">
                <a:solidFill>
                  <a:schemeClr val="tx1"/>
                </a:solidFill>
              </a:rPr>
              <a:t>设计新系统可能的解决方案</a:t>
            </a:r>
          </a:p>
        </p:txBody>
      </p:sp>
      <p:sp>
        <p:nvSpPr>
          <p:cNvPr id="100" name="文本框 99"/>
          <p:cNvSpPr txBox="1"/>
          <p:nvPr/>
        </p:nvSpPr>
        <p:spPr>
          <a:xfrm>
            <a:off x="754380" y="3062605"/>
            <a:ext cx="5400760" cy="3046988"/>
          </a:xfrm>
          <a:prstGeom prst="rect">
            <a:avLst/>
          </a:prstGeom>
          <a:noFill/>
          <a:ln w="9525">
            <a:noFill/>
          </a:ln>
        </p:spPr>
        <p:txBody>
          <a:bodyPr wrap="square">
            <a:spAutoFit/>
          </a:bodyPr>
          <a:lstStyle/>
          <a:p>
            <a:pPr marL="0" indent="266700" algn="l" fontAlgn="auto">
              <a:lnSpc>
                <a:spcPct val="120000"/>
              </a:lnSpc>
            </a:pPr>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r>
              <a:rPr lang="zh-CN" altLang="en-US" sz="2000" b="0" u="none" dirty="0">
                <a:latin typeface="宋体" panose="02010600030101010101" pitchFamily="2" charset="-122"/>
                <a:ea typeface="宋体" panose="02010600030101010101" pitchFamily="2" charset="-122"/>
                <a:cs typeface="宋体" panose="02010600030101010101" pitchFamily="2" charset="-122"/>
              </a:rPr>
              <a:t>系统分析员在分析现有系统的基础上，针对新系统的开发目标，设计出新系统的若干种高层次的可能解法。可以用高层</a:t>
            </a:r>
            <a:r>
              <a:rPr lang="zh-CN" altLang="en-US" sz="2000" b="0" u="none" dirty="0">
                <a:solidFill>
                  <a:schemeClr val="accent2">
                    <a:lumMod val="50000"/>
                  </a:schemeClr>
                </a:solidFill>
                <a:latin typeface="宋体" panose="02010600030101010101" pitchFamily="2" charset="-122"/>
                <a:ea typeface="宋体" panose="02010600030101010101" pitchFamily="2" charset="-122"/>
                <a:cs typeface="宋体" panose="02010600030101010101" pitchFamily="2" charset="-122"/>
              </a:rPr>
              <a:t>数据流图</a:t>
            </a:r>
            <a:r>
              <a:rPr lang="zh-CN" altLang="en-US" sz="2000" b="0" u="none" dirty="0">
                <a:latin typeface="宋体" panose="02010600030101010101" pitchFamily="2" charset="-122"/>
                <a:ea typeface="宋体" panose="02010600030101010101" pitchFamily="2" charset="-122"/>
                <a:cs typeface="宋体" panose="02010600030101010101" pitchFamily="2" charset="-122"/>
              </a:rPr>
              <a:t>和</a:t>
            </a:r>
            <a:r>
              <a:rPr lang="zh-CN" altLang="en-US" sz="2000" b="0" u="none" dirty="0">
                <a:solidFill>
                  <a:schemeClr val="accent2">
                    <a:lumMod val="50000"/>
                  </a:schemeClr>
                </a:solidFill>
                <a:latin typeface="宋体" panose="02010600030101010101" pitchFamily="2" charset="-122"/>
                <a:ea typeface="宋体" panose="02010600030101010101" pitchFamily="2" charset="-122"/>
                <a:cs typeface="宋体" panose="02010600030101010101" pitchFamily="2" charset="-122"/>
              </a:rPr>
              <a:t>数据字典</a:t>
            </a:r>
            <a:r>
              <a:rPr lang="zh-CN" altLang="en-US" sz="2000" b="0" u="none" dirty="0">
                <a:latin typeface="宋体" panose="02010600030101010101" pitchFamily="2" charset="-122"/>
                <a:ea typeface="宋体" panose="02010600030101010101" pitchFamily="2" charset="-122"/>
                <a:cs typeface="宋体" panose="02010600030101010101" pitchFamily="2" charset="-122"/>
              </a:rPr>
              <a:t>来描述系统的基本功能和处理流程。先从</a:t>
            </a:r>
            <a:r>
              <a:rPr lang="zh-CN" altLang="en-US" sz="2000" b="0" u="none" dirty="0">
                <a:solidFill>
                  <a:srgbClr val="00B0F0"/>
                </a:solidFill>
                <a:latin typeface="宋体" panose="02010600030101010101" pitchFamily="2" charset="-122"/>
                <a:ea typeface="宋体" panose="02010600030101010101" pitchFamily="2" charset="-122"/>
                <a:cs typeface="宋体" panose="02010600030101010101" pitchFamily="2" charset="-122"/>
              </a:rPr>
              <a:t>技术的角度</a:t>
            </a:r>
            <a:r>
              <a:rPr lang="zh-CN" altLang="en-US" sz="2000" b="0" u="none" dirty="0">
                <a:latin typeface="宋体" panose="02010600030101010101" pitchFamily="2" charset="-122"/>
                <a:ea typeface="宋体" panose="02010600030101010101" pitchFamily="2" charset="-122"/>
                <a:cs typeface="宋体" panose="02010600030101010101" pitchFamily="2" charset="-122"/>
              </a:rPr>
              <a:t>出发提出不同的解决方案，再从</a:t>
            </a:r>
            <a:r>
              <a:rPr lang="zh-CN" altLang="en-US" sz="2000" b="0" u="none" dirty="0">
                <a:solidFill>
                  <a:srgbClr val="00B0F0"/>
                </a:solidFill>
                <a:latin typeface="宋体" panose="02010600030101010101" pitchFamily="2" charset="-122"/>
                <a:ea typeface="宋体" panose="02010600030101010101" pitchFamily="2" charset="-122"/>
                <a:cs typeface="宋体" panose="02010600030101010101" pitchFamily="2" charset="-122"/>
              </a:rPr>
              <a:t>经济可行性和操作可行性</a:t>
            </a:r>
            <a:r>
              <a:rPr lang="zh-CN" altLang="en-US" sz="2000" b="0" u="none" dirty="0">
                <a:latin typeface="宋体" panose="02010600030101010101" pitchFamily="2" charset="-122"/>
                <a:ea typeface="宋体" panose="02010600030101010101" pitchFamily="2" charset="-122"/>
                <a:cs typeface="宋体" panose="02010600030101010101" pitchFamily="2" charset="-122"/>
              </a:rPr>
              <a:t>进行考虑，优化和推荐方案。最后，要将上述分析设计结果整理成文档，供用户方的决策者选择。</a:t>
            </a:r>
            <a:endParaRPr lang="zh-CN" altLang="en-US" sz="2000" dirty="0"/>
          </a:p>
        </p:txBody>
      </p:sp>
      <p:sp>
        <p:nvSpPr>
          <p:cNvPr id="167" name="圆角矩形"/>
          <p:cNvSpPr/>
          <p:nvPr/>
        </p:nvSpPr>
        <p:spPr>
          <a:xfrm>
            <a:off x="754380" y="2209165"/>
            <a:ext cx="5318874" cy="853440"/>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5" name="学士帽"/>
          <p:cNvSpPr/>
          <p:nvPr/>
        </p:nvSpPr>
        <p:spPr bwMode="auto">
          <a:xfrm>
            <a:off x="754380" y="1950085"/>
            <a:ext cx="670560" cy="472440"/>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7" name="文本框 6"/>
          <p:cNvSpPr txBox="1"/>
          <p:nvPr/>
        </p:nvSpPr>
        <p:spPr>
          <a:xfrm>
            <a:off x="754380" y="2315845"/>
            <a:ext cx="5277930" cy="640080"/>
          </a:xfrm>
          <a:prstGeom prst="rect">
            <a:avLst/>
          </a:prstGeom>
          <a:noFill/>
        </p:spPr>
        <p:txBody>
          <a:bodyPr wrap="square" rtlCol="0">
            <a:spAutoFit/>
          </a:bodyPr>
          <a:lstStyle/>
          <a:p>
            <a:pPr algn="l" eaLnBrk="1" fontAlgn="auto" hangingPunct="1">
              <a:spcBef>
                <a:spcPts val="0"/>
              </a:spcBef>
              <a:spcAft>
                <a:spcPts val="0"/>
              </a:spcAft>
              <a:defRPr/>
            </a:pPr>
            <a:r>
              <a:rPr lang="en-US" altLang="zh-CN" dirty="0">
                <a:solidFill>
                  <a:schemeClr val="bg2">
                    <a:lumMod val="50000"/>
                  </a:schemeClr>
                </a:solidFill>
                <a:sym typeface="+mn-ea"/>
              </a:rPr>
              <a:t>       </a:t>
            </a:r>
            <a:r>
              <a:rPr lang="zh-CN" altLang="en-US" dirty="0">
                <a:solidFill>
                  <a:schemeClr val="bg2">
                    <a:lumMod val="50000"/>
                  </a:schemeClr>
                </a:solidFill>
                <a:sym typeface="+mn-ea"/>
              </a:rPr>
              <a:t>现在尚未进入需求分析阶段，对系统的描述不是完整的、详细的，只是概括的、高层的。</a:t>
            </a:r>
            <a:endParaRPr lang="zh-CN" altLang="en-US" dirty="0"/>
          </a:p>
        </p:txBody>
      </p:sp>
      <p:pic>
        <p:nvPicPr>
          <p:cNvPr id="2" name="图片 1" descr="A000220150821B05PPIC"/>
          <p:cNvPicPr>
            <a:picLocks noChangeAspect="1"/>
          </p:cNvPicPr>
          <p:nvPr/>
        </p:nvPicPr>
        <p:blipFill>
          <a:blip r:embed="rId2" cstate="print"/>
          <a:stretch>
            <a:fillRect/>
          </a:stretch>
        </p:blipFill>
        <p:spPr>
          <a:xfrm>
            <a:off x="6578221" y="2053590"/>
            <a:ext cx="4967785" cy="3657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1.2 </a:t>
            </a:r>
            <a:r>
              <a:rPr lang="zh-CN" altLang="en-US"/>
              <a:t>可行性研究</a:t>
            </a:r>
          </a:p>
        </p:txBody>
      </p:sp>
      <p:sp>
        <p:nvSpPr>
          <p:cNvPr id="19" name="TextBox 6"/>
          <p:cNvSpPr txBox="1"/>
          <p:nvPr/>
        </p:nvSpPr>
        <p:spPr>
          <a:xfrm>
            <a:off x="809588" y="1403145"/>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1.2.1 </a:t>
            </a:r>
            <a:r>
              <a:rPr lang="zh-CN" altLang="en-US" sz="2400" dirty="0" smtClean="0">
                <a:solidFill>
                  <a:schemeClr val="tx1"/>
                </a:solidFill>
              </a:rPr>
              <a:t>技术可行性</a:t>
            </a:r>
          </a:p>
        </p:txBody>
      </p:sp>
      <p:grpSp>
        <p:nvGrpSpPr>
          <p:cNvPr id="7" name="组合 6"/>
          <p:cNvGrpSpPr/>
          <p:nvPr/>
        </p:nvGrpSpPr>
        <p:grpSpPr>
          <a:xfrm>
            <a:off x="496570" y="2252980"/>
            <a:ext cx="11198860" cy="3523615"/>
            <a:chOff x="1188" y="3570"/>
            <a:chExt cx="17636" cy="5549"/>
          </a:xfrm>
        </p:grpSpPr>
        <p:grpSp>
          <p:nvGrpSpPr>
            <p:cNvPr id="8" name="组合 7"/>
            <p:cNvGrpSpPr/>
            <p:nvPr/>
          </p:nvGrpSpPr>
          <p:grpSpPr>
            <a:xfrm>
              <a:off x="1188" y="4149"/>
              <a:ext cx="4361" cy="4371"/>
              <a:chOff x="1326396" y="2857496"/>
              <a:chExt cx="3253555" cy="3356199"/>
            </a:xfrm>
          </p:grpSpPr>
          <p:grpSp>
            <p:nvGrpSpPr>
              <p:cNvPr id="9" name="组合 10"/>
              <p:cNvGrpSpPr/>
              <p:nvPr/>
            </p:nvGrpSpPr>
            <p:grpSpPr>
              <a:xfrm>
                <a:off x="1452528" y="2857496"/>
                <a:ext cx="3111298" cy="2928958"/>
                <a:chOff x="3413330" y="1857364"/>
                <a:chExt cx="5365341" cy="4053374"/>
              </a:xfrm>
            </p:grpSpPr>
            <p:sp>
              <p:nvSpPr>
                <p:cNvPr id="12" name="MH_SubTitle_1"/>
                <p:cNvSpPr/>
                <p:nvPr>
                  <p:custDataLst>
                    <p:tags r:id="rId9"/>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3" name="MH_SubTitle_3"/>
                <p:cNvSpPr/>
                <p:nvPr>
                  <p:custDataLst>
                    <p:tags r:id="rId10"/>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4" name="MH_Other_1"/>
                <p:cNvSpPr/>
                <p:nvPr>
                  <p:custDataLst>
                    <p:tags r:id="rId11"/>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5" name="MH_Title_1"/>
                <p:cNvSpPr/>
                <p:nvPr>
                  <p:custDataLst>
                    <p:tags r:id="rId12"/>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考虑</a:t>
                  </a:r>
                  <a:endParaRPr lang="en-US" altLang="zh-CN" sz="2800" b="1" dirty="0" smtClean="0">
                    <a:solidFill>
                      <a:srgbClr val="FFFFFF"/>
                    </a:solidFill>
                    <a:latin typeface="微软雅黑" panose="020B0503020204020204" charset="-122"/>
                    <a:ea typeface="微软雅黑" panose="020B0503020204020204" charset="-122"/>
                  </a:endParaRPr>
                </a:p>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方面</a:t>
                  </a:r>
                  <a:endParaRPr lang="zh-CN" altLang="en-US" sz="2800" b="1" dirty="0">
                    <a:solidFill>
                      <a:srgbClr val="FFFFFF"/>
                    </a:solidFill>
                    <a:latin typeface="微软雅黑" panose="020B0503020204020204" charset="-122"/>
                    <a:ea typeface="微软雅黑" panose="020B0503020204020204" charset="-122"/>
                  </a:endParaRPr>
                </a:p>
              </p:txBody>
            </p:sp>
            <p:sp>
              <p:nvSpPr>
                <p:cNvPr id="16" name="MH_Other_2"/>
                <p:cNvSpPr/>
                <p:nvPr>
                  <p:custDataLst>
                    <p:tags r:id="rId13"/>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rgbClr val="7D7D7D"/>
                      </a:solidFill>
                      <a:latin typeface="微软雅黑" panose="020B0503020204020204" charset="-122"/>
                      <a:ea typeface="微软雅黑" panose="020B0503020204020204" charset="-122"/>
                    </a:rPr>
                    <a:t>经济可行性</a:t>
                  </a:r>
                  <a:endParaRPr lang="zh-CN" altLang="en-US" sz="2000" dirty="0">
                    <a:solidFill>
                      <a:srgbClr val="7D7D7D"/>
                    </a:solidFill>
                    <a:latin typeface="微软雅黑" panose="020B0503020204020204" charset="-122"/>
                    <a:ea typeface="微软雅黑" panose="020B0503020204020204" charset="-122"/>
                  </a:endParaRPr>
                </a:p>
              </p:txBody>
            </p:sp>
          </p:grpSp>
          <p:sp>
            <p:nvSpPr>
              <p:cNvPr id="10" name="MH_SubTitle_2"/>
              <p:cNvSpPr/>
              <p:nvPr>
                <p:custDataLst>
                  <p:tags r:id="rId7"/>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smtClean="0">
                    <a:solidFill>
                      <a:schemeClr val="tx1"/>
                    </a:solidFill>
                    <a:latin typeface="微软雅黑" panose="020B0503020204020204" charset="-122"/>
                    <a:ea typeface="微软雅黑" panose="020B0503020204020204" charset="-122"/>
                  </a:rPr>
                  <a:t>技术可行性</a:t>
                </a:r>
                <a:endParaRPr lang="zh-CN" altLang="en-US" sz="2000" b="1" dirty="0">
                  <a:solidFill>
                    <a:schemeClr val="tx1"/>
                  </a:solidFill>
                  <a:latin typeface="微软雅黑" panose="020B0503020204020204" charset="-122"/>
                  <a:ea typeface="微软雅黑" panose="020B0503020204020204" charset="-122"/>
                </a:endParaRPr>
              </a:p>
            </p:txBody>
          </p:sp>
          <p:sp>
            <p:nvSpPr>
              <p:cNvPr id="11" name="MH_Other_3"/>
              <p:cNvSpPr/>
              <p:nvPr>
                <p:custDataLst>
                  <p:tags r:id="rId8"/>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rgbClr val="7D7D7D"/>
                    </a:solidFill>
                    <a:latin typeface="微软雅黑" panose="020B0503020204020204" charset="-122"/>
                    <a:ea typeface="微软雅黑" panose="020B0503020204020204" charset="-122"/>
                  </a:rPr>
                  <a:t>社会因素可行性</a:t>
                </a:r>
                <a:endParaRPr lang="zh-CN" altLang="en-US" sz="2000" dirty="0">
                  <a:solidFill>
                    <a:srgbClr val="7D7D7D"/>
                  </a:solidFill>
                  <a:latin typeface="微软雅黑" panose="020B0503020204020204" charset="-122"/>
                  <a:ea typeface="微软雅黑" panose="020B0503020204020204" charset="-122"/>
                </a:endParaRPr>
              </a:p>
            </p:txBody>
          </p:sp>
        </p:grpSp>
        <p:sp>
          <p:nvSpPr>
            <p:cNvPr id="4" name="任意多边形 3"/>
            <p:cNvSpPr/>
            <p:nvPr/>
          </p:nvSpPr>
          <p:spPr>
            <a:xfrm flipH="1">
              <a:off x="4900" y="3570"/>
              <a:ext cx="12600" cy="112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0" name="组合 19"/>
            <p:cNvGrpSpPr/>
            <p:nvPr/>
          </p:nvGrpSpPr>
          <p:grpSpPr>
            <a:xfrm>
              <a:off x="5916" y="3852"/>
              <a:ext cx="5684" cy="843"/>
              <a:chOff x="4238100" y="2643182"/>
              <a:chExt cx="4495181" cy="677876"/>
            </a:xfrm>
          </p:grpSpPr>
          <p:sp>
            <p:nvSpPr>
              <p:cNvPr id="21" name="MH_SubTitle_1"/>
              <p:cNvSpPr/>
              <p:nvPr>
                <p:custDataLst>
                  <p:tags r:id="rId5"/>
                </p:custDataLst>
              </p:nvPr>
            </p:nvSpPr>
            <p:spPr>
              <a:xfrm>
                <a:off x="4552858" y="2648007"/>
                <a:ext cx="4180423" cy="667422"/>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技术可行性定义</a:t>
                </a:r>
              </a:p>
            </p:txBody>
          </p:sp>
          <p:sp>
            <p:nvSpPr>
              <p:cNvPr id="22" name="MH_Other_1"/>
              <p:cNvSpPr/>
              <p:nvPr>
                <p:custDataLst>
                  <p:tags r:id="rId6"/>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1</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27" name="MH_SubTitle_1"/>
            <p:cNvSpPr txBox="1">
              <a:spLocks noChangeArrowheads="1"/>
            </p:cNvSpPr>
            <p:nvPr>
              <p:custDataLst>
                <p:tags r:id="rId1"/>
              </p:custDataLst>
            </p:nvPr>
          </p:nvSpPr>
          <p:spPr bwMode="auto">
            <a:xfrm flipH="1">
              <a:off x="6195" y="5150"/>
              <a:ext cx="10971" cy="1350"/>
            </a:xfrm>
            <a:prstGeom prst="rect">
              <a:avLst/>
            </a:prstGeom>
            <a:noFill/>
            <a:ln w="9525">
              <a:noFill/>
              <a:miter lim="800000"/>
            </a:ln>
          </p:spPr>
          <p:txBody>
            <a:bodyPr lIns="216000" tIns="34290" rIns="68580" bIns="34290" anchor="ctr"/>
            <a:lstStyle/>
            <a:p>
              <a:r>
                <a:rPr lang="zh-CN" altLang="en-US" sz="2000" dirty="0" smtClean="0">
                  <a:latin typeface="宋体" pitchFamily="2" charset="-122"/>
                  <a:ea typeface="宋体" pitchFamily="2" charset="-122"/>
                </a:rPr>
                <a:t>技术可行性是指对设备条件、技术解决方案的实用性和技术资源的可用性的度量。</a:t>
              </a:r>
            </a:p>
            <a:p>
              <a:r>
                <a:rPr lang="zh-CN" altLang="en-US" sz="2000" dirty="0" smtClean="0">
                  <a:latin typeface="宋体" pitchFamily="2" charset="-122"/>
                  <a:ea typeface="宋体" pitchFamily="2" charset="-122"/>
                </a:rPr>
                <a:t>在决定采用何种开发方法和工具时，必须考虑设备条件，通常选择实用的、开发人员掌握较好的一类；</a:t>
              </a:r>
            </a:p>
          </p:txBody>
        </p:sp>
        <p:grpSp>
          <p:nvGrpSpPr>
            <p:cNvPr id="6" name="组合 5"/>
            <p:cNvGrpSpPr/>
            <p:nvPr/>
          </p:nvGrpSpPr>
          <p:grpSpPr>
            <a:xfrm>
              <a:off x="5916" y="6955"/>
              <a:ext cx="12908" cy="2165"/>
              <a:chOff x="5913" y="6693"/>
              <a:chExt cx="12908" cy="2165"/>
            </a:xfrm>
          </p:grpSpPr>
          <p:grpSp>
            <p:nvGrpSpPr>
              <p:cNvPr id="23" name="组合 22"/>
              <p:cNvGrpSpPr/>
              <p:nvPr/>
            </p:nvGrpSpPr>
            <p:grpSpPr>
              <a:xfrm>
                <a:off x="5913" y="6693"/>
                <a:ext cx="5812" cy="843"/>
                <a:chOff x="4821999" y="3614732"/>
                <a:chExt cx="4596408" cy="677876"/>
              </a:xfrm>
            </p:grpSpPr>
            <p:sp>
              <p:nvSpPr>
                <p:cNvPr id="24" name="MH_SubTitle_2"/>
                <p:cNvSpPr/>
                <p:nvPr>
                  <p:custDataLst>
                    <p:tags r:id="rId3"/>
                  </p:custDataLst>
                </p:nvPr>
              </p:nvSpPr>
              <p:spPr>
                <a:xfrm>
                  <a:off x="5249848" y="3619557"/>
                  <a:ext cx="4168559" cy="667422"/>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000" b="1" dirty="0">
                      <a:solidFill>
                        <a:schemeClr val="bg1"/>
                      </a:solidFill>
                      <a:latin typeface="微软雅黑" panose="020B0503020204020204" charset="-122"/>
                      <a:ea typeface="微软雅黑" panose="020B0503020204020204" charset="-122"/>
                    </a:rPr>
                    <a:t>用户使用和操作可行性</a:t>
                  </a:r>
                </a:p>
              </p:txBody>
            </p:sp>
            <p:sp>
              <p:nvSpPr>
                <p:cNvPr id="25" name="MH_Other_2"/>
                <p:cNvSpPr/>
                <p:nvPr>
                  <p:custDataLst>
                    <p:tags r:id="rId4"/>
                  </p:custDataLst>
                </p:nvPr>
              </p:nvSpPr>
              <p:spPr>
                <a:xfrm>
                  <a:off x="4821999" y="3614732"/>
                  <a:ext cx="714891"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2</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28" name="MH_SubTitle_1"/>
              <p:cNvSpPr txBox="1">
                <a:spLocks noChangeArrowheads="1"/>
              </p:cNvSpPr>
              <p:nvPr>
                <p:custDataLst>
                  <p:tags r:id="rId2"/>
                </p:custDataLst>
              </p:nvPr>
            </p:nvSpPr>
            <p:spPr bwMode="auto">
              <a:xfrm flipH="1">
                <a:off x="6192" y="7508"/>
                <a:ext cx="12629" cy="1350"/>
              </a:xfrm>
              <a:prstGeom prst="rect">
                <a:avLst/>
              </a:prstGeom>
              <a:noFill/>
              <a:ln w="9525">
                <a:noFill/>
                <a:miter lim="800000"/>
              </a:ln>
            </p:spPr>
            <p:txBody>
              <a:bodyPr lIns="216000" tIns="34290" rIns="68580" bIns="34290" anchor="ctr"/>
              <a:lstStyle/>
              <a:p>
                <a:r>
                  <a:rPr lang="zh-CN" altLang="en-US" sz="2000" dirty="0" smtClean="0">
                    <a:latin typeface="宋体" pitchFamily="2" charset="-122"/>
                    <a:ea typeface="宋体" pitchFamily="2" charset="-122"/>
                  </a:rPr>
                  <a:t>用户使用可行性是指使用软件对用户内部组织管理制度的影响程度；用户操作可行性是指软件系统所采用的操作方式对用户来说是否可行。</a:t>
                </a:r>
              </a:p>
            </p:txBody>
          </p:sp>
        </p:gr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1.2 </a:t>
            </a:r>
            <a:r>
              <a:rPr lang="zh-CN" altLang="en-US"/>
              <a:t>可行性研究</a:t>
            </a:r>
          </a:p>
        </p:txBody>
      </p:sp>
      <p:sp>
        <p:nvSpPr>
          <p:cNvPr id="19" name="TextBox 6"/>
          <p:cNvSpPr txBox="1"/>
          <p:nvPr/>
        </p:nvSpPr>
        <p:spPr>
          <a:xfrm>
            <a:off x="809588" y="1403145"/>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1.2.2 </a:t>
            </a:r>
            <a:r>
              <a:rPr lang="zh-CN" altLang="en-US" sz="2400" dirty="0" smtClean="0">
                <a:solidFill>
                  <a:schemeClr val="tx1"/>
                </a:solidFill>
              </a:rPr>
              <a:t>经济可行性</a:t>
            </a:r>
          </a:p>
        </p:txBody>
      </p:sp>
      <p:grpSp>
        <p:nvGrpSpPr>
          <p:cNvPr id="2" name="组合 1"/>
          <p:cNvGrpSpPr/>
          <p:nvPr/>
        </p:nvGrpSpPr>
        <p:grpSpPr>
          <a:xfrm>
            <a:off x="754380" y="2225675"/>
            <a:ext cx="2769235" cy="2775585"/>
            <a:chOff x="1326396" y="2857496"/>
            <a:chExt cx="3253555" cy="3356199"/>
          </a:xfrm>
        </p:grpSpPr>
        <p:grpSp>
          <p:nvGrpSpPr>
            <p:cNvPr id="4" name="组合 10"/>
            <p:cNvGrpSpPr/>
            <p:nvPr/>
          </p:nvGrpSpPr>
          <p:grpSpPr>
            <a:xfrm>
              <a:off x="1452526" y="2857496"/>
              <a:ext cx="3111298" cy="2928958"/>
              <a:chOff x="3413330" y="1857364"/>
              <a:chExt cx="5365341" cy="4053374"/>
            </a:xfrm>
          </p:grpSpPr>
          <p:sp>
            <p:nvSpPr>
              <p:cNvPr id="6" name="MH_SubTitle_1"/>
              <p:cNvSpPr/>
              <p:nvPr>
                <p:custDataLst>
                  <p:tags r:id="rId9"/>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7" name="MH_SubTitle_3"/>
              <p:cNvSpPr/>
              <p:nvPr>
                <p:custDataLst>
                  <p:tags r:id="rId10"/>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8" name="MH_Other_1"/>
              <p:cNvSpPr/>
              <p:nvPr>
                <p:custDataLst>
                  <p:tags r:id="rId11"/>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9" name="MH_Title_1"/>
              <p:cNvSpPr/>
              <p:nvPr>
                <p:custDataLst>
                  <p:tags r:id="rId12"/>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考虑</a:t>
                </a:r>
                <a:endParaRPr lang="en-US" altLang="zh-CN" sz="2800" b="1" dirty="0" smtClean="0">
                  <a:solidFill>
                    <a:srgbClr val="FFFFFF"/>
                  </a:solidFill>
                  <a:latin typeface="微软雅黑" panose="020B0503020204020204" charset="-122"/>
                  <a:ea typeface="微软雅黑" panose="020B0503020204020204" charset="-122"/>
                </a:endParaRPr>
              </a:p>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方面</a:t>
                </a:r>
                <a:endParaRPr lang="zh-CN" altLang="en-US" sz="2800" b="1" dirty="0">
                  <a:solidFill>
                    <a:srgbClr val="FFFFFF"/>
                  </a:solidFill>
                  <a:latin typeface="微软雅黑" panose="020B0503020204020204" charset="-122"/>
                  <a:ea typeface="微软雅黑" panose="020B0503020204020204" charset="-122"/>
                </a:endParaRPr>
              </a:p>
            </p:txBody>
          </p:sp>
          <p:sp>
            <p:nvSpPr>
              <p:cNvPr id="10" name="MH_Other_2"/>
              <p:cNvSpPr/>
              <p:nvPr>
                <p:custDataLst>
                  <p:tags r:id="rId13"/>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rgbClr val="7D7D7D"/>
                    </a:solidFill>
                    <a:latin typeface="微软雅黑" panose="020B0503020204020204" charset="-122"/>
                    <a:ea typeface="微软雅黑" panose="020B0503020204020204" charset="-122"/>
                  </a:rPr>
                  <a:t>社会因素可行性</a:t>
                </a:r>
              </a:p>
            </p:txBody>
          </p:sp>
        </p:grpSp>
        <p:sp>
          <p:nvSpPr>
            <p:cNvPr id="5" name="MH_SubTitle_2"/>
            <p:cNvSpPr/>
            <p:nvPr>
              <p:custDataLst>
                <p:tags r:id="rId7"/>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smtClean="0">
                  <a:solidFill>
                    <a:schemeClr val="tx1"/>
                  </a:solidFill>
                  <a:latin typeface="微软雅黑" panose="020B0503020204020204" charset="-122"/>
                  <a:ea typeface="微软雅黑" panose="020B0503020204020204" charset="-122"/>
                </a:rPr>
                <a:t>经济可行性</a:t>
              </a:r>
              <a:endParaRPr lang="zh-CN" altLang="en-US" sz="2000" b="1" dirty="0">
                <a:solidFill>
                  <a:schemeClr val="tx1"/>
                </a:solidFill>
                <a:latin typeface="微软雅黑" panose="020B0503020204020204" charset="-122"/>
                <a:ea typeface="微软雅黑" panose="020B0503020204020204" charset="-122"/>
              </a:endParaRPr>
            </a:p>
          </p:txBody>
        </p:sp>
        <p:sp>
          <p:nvSpPr>
            <p:cNvPr id="11" name="MH_Other_3"/>
            <p:cNvSpPr/>
            <p:nvPr>
              <p:custDataLst>
                <p:tags r:id="rId8"/>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rgbClr val="7D7D7D"/>
                  </a:solidFill>
                  <a:latin typeface="微软雅黑" panose="020B0503020204020204" charset="-122"/>
                  <a:ea typeface="微软雅黑" panose="020B0503020204020204" charset="-122"/>
                </a:rPr>
                <a:t>技术可行性</a:t>
              </a:r>
              <a:endParaRPr lang="zh-CN" altLang="en-US" sz="2000" dirty="0">
                <a:solidFill>
                  <a:srgbClr val="7D7D7D"/>
                </a:solidFill>
                <a:latin typeface="微软雅黑" panose="020B0503020204020204" charset="-122"/>
                <a:ea typeface="微软雅黑" panose="020B0503020204020204" charset="-122"/>
              </a:endParaRPr>
            </a:p>
          </p:txBody>
        </p:sp>
      </p:grpSp>
      <p:sp>
        <p:nvSpPr>
          <p:cNvPr id="12" name="任意多边形 11"/>
          <p:cNvSpPr/>
          <p:nvPr/>
        </p:nvSpPr>
        <p:spPr>
          <a:xfrm flipH="1">
            <a:off x="3111500" y="1858010"/>
            <a:ext cx="7715250" cy="714375"/>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24" name="组合 23"/>
          <p:cNvGrpSpPr/>
          <p:nvPr/>
        </p:nvGrpSpPr>
        <p:grpSpPr>
          <a:xfrm>
            <a:off x="3754755" y="2137410"/>
            <a:ext cx="7143115" cy="3302635"/>
            <a:chOff x="5913" y="3366"/>
            <a:chExt cx="11249" cy="5201"/>
          </a:xfrm>
        </p:grpSpPr>
        <p:grpSp>
          <p:nvGrpSpPr>
            <p:cNvPr id="13" name="组合 12"/>
            <p:cNvGrpSpPr/>
            <p:nvPr/>
          </p:nvGrpSpPr>
          <p:grpSpPr>
            <a:xfrm>
              <a:off x="6025" y="3366"/>
              <a:ext cx="4950" cy="843"/>
              <a:chOff x="4238100" y="2643182"/>
              <a:chExt cx="4295433" cy="677876"/>
            </a:xfrm>
          </p:grpSpPr>
          <p:sp>
            <p:nvSpPr>
              <p:cNvPr id="14" name="MH_SubTitle_1"/>
              <p:cNvSpPr/>
              <p:nvPr>
                <p:custDataLst>
                  <p:tags r:id="rId5"/>
                </p:custDataLst>
              </p:nvPr>
            </p:nvSpPr>
            <p:spPr>
              <a:xfrm>
                <a:off x="4553182" y="2647945"/>
                <a:ext cx="3980351" cy="667173"/>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经济可行性定义</a:t>
                </a:r>
              </a:p>
            </p:txBody>
          </p:sp>
          <p:sp>
            <p:nvSpPr>
              <p:cNvPr id="15" name="MH_Other_1"/>
              <p:cNvSpPr/>
              <p:nvPr>
                <p:custDataLst>
                  <p:tags r:id="rId6"/>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1</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grpSp>
          <p:nvGrpSpPr>
            <p:cNvPr id="16" name="组合 15"/>
            <p:cNvGrpSpPr/>
            <p:nvPr/>
          </p:nvGrpSpPr>
          <p:grpSpPr>
            <a:xfrm>
              <a:off x="5913" y="5514"/>
              <a:ext cx="5063" cy="843"/>
              <a:chOff x="4821999" y="3614732"/>
              <a:chExt cx="4295267" cy="677876"/>
            </a:xfrm>
          </p:grpSpPr>
          <p:sp>
            <p:nvSpPr>
              <p:cNvPr id="17" name="MH_SubTitle_2"/>
              <p:cNvSpPr/>
              <p:nvPr>
                <p:custDataLst>
                  <p:tags r:id="rId3"/>
                </p:custDataLst>
              </p:nvPr>
            </p:nvSpPr>
            <p:spPr>
              <a:xfrm>
                <a:off x="5249564" y="3619495"/>
                <a:ext cx="3867702" cy="667173"/>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000" b="1" dirty="0">
                    <a:solidFill>
                      <a:schemeClr val="bg1"/>
                    </a:solidFill>
                    <a:latin typeface="微软雅黑" panose="020B0503020204020204" charset="-122"/>
                    <a:ea typeface="微软雅黑" panose="020B0503020204020204" charset="-122"/>
                  </a:rPr>
                  <a:t>投资和效益分析</a:t>
                </a:r>
              </a:p>
            </p:txBody>
          </p:sp>
          <p:sp>
            <p:nvSpPr>
              <p:cNvPr id="18" name="MH_Other_2"/>
              <p:cNvSpPr/>
              <p:nvPr>
                <p:custDataLst>
                  <p:tags r:id="rId4"/>
                </p:custDataLst>
              </p:nvPr>
            </p:nvSpPr>
            <p:spPr>
              <a:xfrm>
                <a:off x="4821999" y="3614732"/>
                <a:ext cx="714891"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2</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21" name="MH_SubTitle_1"/>
            <p:cNvSpPr txBox="1">
              <a:spLocks noChangeArrowheads="1"/>
            </p:cNvSpPr>
            <p:nvPr>
              <p:custDataLst>
                <p:tags r:id="rId1"/>
              </p:custDataLst>
            </p:nvPr>
          </p:nvSpPr>
          <p:spPr bwMode="auto">
            <a:xfrm flipH="1">
              <a:off x="6192" y="4388"/>
              <a:ext cx="10971" cy="900"/>
            </a:xfrm>
            <a:prstGeom prst="rect">
              <a:avLst/>
            </a:prstGeom>
            <a:noFill/>
            <a:ln w="9525">
              <a:noFill/>
              <a:miter lim="800000"/>
            </a:ln>
          </p:spPr>
          <p:txBody>
            <a:bodyPr lIns="216000" tIns="34290" rIns="68580" bIns="34290" anchor="ctr"/>
            <a:lstStyle/>
            <a:p>
              <a:r>
                <a:rPr lang="zh-CN" altLang="en-US" sz="2000" dirty="0" smtClean="0">
                  <a:latin typeface="宋体" pitchFamily="2" charset="-122"/>
                  <a:ea typeface="宋体" pitchFamily="2" charset="-122"/>
                </a:rPr>
                <a:t>经济可行性是指希望以最小的成本开发出具有最佳的经济效益的软件产品。</a:t>
              </a:r>
            </a:p>
          </p:txBody>
        </p:sp>
        <p:sp>
          <p:nvSpPr>
            <p:cNvPr id="22" name="MH_SubTitle_1"/>
            <p:cNvSpPr txBox="1">
              <a:spLocks noChangeArrowheads="1"/>
            </p:cNvSpPr>
            <p:nvPr>
              <p:custDataLst>
                <p:tags r:id="rId2"/>
              </p:custDataLst>
            </p:nvPr>
          </p:nvSpPr>
          <p:spPr bwMode="auto">
            <a:xfrm flipH="1">
              <a:off x="6192" y="7667"/>
              <a:ext cx="10971" cy="900"/>
            </a:xfrm>
            <a:prstGeom prst="rect">
              <a:avLst/>
            </a:prstGeom>
            <a:noFill/>
            <a:ln w="9525">
              <a:noFill/>
              <a:miter lim="800000"/>
            </a:ln>
          </p:spPr>
          <p:txBody>
            <a:bodyPr lIns="216000" tIns="34290" rIns="68580" bIns="34290" anchor="ctr"/>
            <a:lstStyle/>
            <a:p>
              <a:r>
                <a:rPr lang="zh-CN" altLang="en-US" sz="2000" dirty="0" smtClean="0">
                  <a:latin typeface="宋体" pitchFamily="2" charset="-122"/>
                  <a:ea typeface="宋体" pitchFamily="2" charset="-122"/>
                </a:rPr>
                <a:t>（1）支出。说明所需的费用，包括基本建设投资，移动设备和固定设备购置费用，操作系统、应用软件、网络软件和数据库管理软件费用，其他一次性支出及非一次性支出费用。</a:t>
              </a:r>
            </a:p>
            <a:p>
              <a:r>
                <a:rPr lang="zh-CN" altLang="en-US" sz="2000" dirty="0" smtClean="0">
                  <a:latin typeface="宋体" pitchFamily="2" charset="-122"/>
                  <a:ea typeface="宋体" pitchFamily="2" charset="-122"/>
                </a:rPr>
                <a:t>（2）收益。</a:t>
              </a:r>
            </a:p>
            <a:p>
              <a:r>
                <a:rPr lang="zh-CN" altLang="en-US" sz="2000" dirty="0" smtClean="0">
                  <a:latin typeface="宋体" pitchFamily="2" charset="-122"/>
                  <a:ea typeface="宋体" pitchFamily="2" charset="-122"/>
                </a:rPr>
                <a:t>（3）收益/投资比。</a:t>
              </a:r>
            </a:p>
            <a:p>
              <a:r>
                <a:rPr lang="zh-CN" altLang="en-US" sz="2000" dirty="0" smtClean="0">
                  <a:latin typeface="宋体" pitchFamily="2" charset="-122"/>
                  <a:ea typeface="宋体" pitchFamily="2" charset="-122"/>
                </a:rPr>
                <a:t>（4）投资回收周期（一般假定为5年）。</a:t>
              </a:r>
            </a:p>
            <a:p>
              <a:r>
                <a:rPr lang="zh-CN" altLang="en-US" sz="2000" dirty="0" smtClean="0">
                  <a:latin typeface="宋体" pitchFamily="2" charset="-122"/>
                  <a:ea typeface="宋体" pitchFamily="2" charset="-122"/>
                </a:rPr>
                <a:t>（5）敏感度分析。</a:t>
              </a: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1.2 </a:t>
            </a:r>
            <a:r>
              <a:rPr lang="zh-CN" altLang="en-US"/>
              <a:t>可行性研究</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1.2.3 </a:t>
            </a:r>
            <a:r>
              <a:rPr lang="zh-CN" altLang="en-US" sz="2400" dirty="0" smtClean="0">
                <a:solidFill>
                  <a:schemeClr val="tx1"/>
                </a:solidFill>
              </a:rPr>
              <a:t>社会因素方面的可行性</a:t>
            </a:r>
          </a:p>
        </p:txBody>
      </p:sp>
      <p:grpSp>
        <p:nvGrpSpPr>
          <p:cNvPr id="35" name="组合 34"/>
          <p:cNvGrpSpPr/>
          <p:nvPr/>
        </p:nvGrpSpPr>
        <p:grpSpPr>
          <a:xfrm>
            <a:off x="901065" y="2434590"/>
            <a:ext cx="10298430" cy="2857500"/>
            <a:chOff x="600" y="4050"/>
            <a:chExt cx="16218" cy="4500"/>
          </a:xfrm>
        </p:grpSpPr>
        <p:grpSp>
          <p:nvGrpSpPr>
            <p:cNvPr id="12" name="组合 11"/>
            <p:cNvGrpSpPr/>
            <p:nvPr/>
          </p:nvGrpSpPr>
          <p:grpSpPr>
            <a:xfrm>
              <a:off x="600" y="4050"/>
              <a:ext cx="15862" cy="4500"/>
              <a:chOff x="600" y="4050"/>
              <a:chExt cx="15862" cy="4500"/>
            </a:xfrm>
          </p:grpSpPr>
          <p:grpSp>
            <p:nvGrpSpPr>
              <p:cNvPr id="2" name="组合 1"/>
              <p:cNvGrpSpPr/>
              <p:nvPr/>
            </p:nvGrpSpPr>
            <p:grpSpPr>
              <a:xfrm>
                <a:off x="600" y="4179"/>
                <a:ext cx="4361" cy="4371"/>
                <a:chOff x="1326396" y="2857496"/>
                <a:chExt cx="3253555" cy="3356199"/>
              </a:xfrm>
            </p:grpSpPr>
            <p:grpSp>
              <p:nvGrpSpPr>
                <p:cNvPr id="4" name="组合 10"/>
                <p:cNvGrpSpPr/>
                <p:nvPr/>
              </p:nvGrpSpPr>
              <p:grpSpPr>
                <a:xfrm>
                  <a:off x="1452524" y="2857496"/>
                  <a:ext cx="3111298" cy="2928958"/>
                  <a:chOff x="3413330" y="1857364"/>
                  <a:chExt cx="5365341" cy="4053374"/>
                </a:xfrm>
              </p:grpSpPr>
              <p:sp>
                <p:nvSpPr>
                  <p:cNvPr id="6" name="MH_SubTitle_1"/>
                  <p:cNvSpPr/>
                  <p:nvPr>
                    <p:custDataLst>
                      <p:tags r:id="rId6"/>
                    </p:custDataLst>
                  </p:nvPr>
                </p:nvSpPr>
                <p:spPr bwMode="auto">
                  <a:xfrm>
                    <a:off x="3413330" y="1857364"/>
                    <a:ext cx="2832476" cy="3042398"/>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7" name="MH_SubTitle_3"/>
                  <p:cNvSpPr/>
                  <p:nvPr>
                    <p:custDataLst>
                      <p:tags r:id="rId7"/>
                    </p:custDataLst>
                  </p:nvPr>
                </p:nvSpPr>
                <p:spPr bwMode="auto">
                  <a:xfrm>
                    <a:off x="3900190" y="4561024"/>
                    <a:ext cx="4551279" cy="1349714"/>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8" name="MH_Other_1"/>
                  <p:cNvSpPr/>
                  <p:nvPr>
                    <p:custDataLst>
                      <p:tags r:id="rId8"/>
                    </p:custDataLst>
                  </p:nvPr>
                </p:nvSpPr>
                <p:spPr bwMode="auto">
                  <a:xfrm>
                    <a:off x="6038836" y="1886732"/>
                    <a:ext cx="2739835" cy="2952220"/>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chemeClr val="accent5">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9" name="MH_Title_1"/>
                  <p:cNvSpPr/>
                  <p:nvPr>
                    <p:custDataLst>
                      <p:tags r:id="rId9"/>
                    </p:custDataLst>
                  </p:nvPr>
                </p:nvSpPr>
                <p:spPr>
                  <a:xfrm>
                    <a:off x="4473783" y="2682073"/>
                    <a:ext cx="3244436" cy="2433327"/>
                  </a:xfrm>
                  <a:prstGeom prst="ellipse">
                    <a:avLst/>
                  </a:prstGeom>
                  <a:solidFill>
                    <a:schemeClr val="accent5">
                      <a:lumMod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92500" lnSpcReduction="10000"/>
                  </a:bodyPr>
                  <a:lstStyle/>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考虑</a:t>
                    </a:r>
                    <a:endParaRPr lang="en-US" altLang="zh-CN" sz="2800" b="1" dirty="0" smtClean="0">
                      <a:solidFill>
                        <a:srgbClr val="FFFFFF"/>
                      </a:solidFill>
                      <a:latin typeface="微软雅黑" panose="020B0503020204020204" charset="-122"/>
                      <a:ea typeface="微软雅黑" panose="020B0503020204020204" charset="-122"/>
                    </a:endParaRPr>
                  </a:p>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rPr>
                      <a:t>方面</a:t>
                    </a:r>
                    <a:endParaRPr lang="zh-CN" altLang="en-US" sz="2800" b="1" dirty="0">
                      <a:solidFill>
                        <a:srgbClr val="FFFFFF"/>
                      </a:solidFill>
                      <a:latin typeface="微软雅黑" panose="020B0503020204020204" charset="-122"/>
                      <a:ea typeface="微软雅黑" panose="020B0503020204020204" charset="-122"/>
                    </a:endParaRPr>
                  </a:p>
                </p:txBody>
              </p:sp>
              <p:sp>
                <p:nvSpPr>
                  <p:cNvPr id="10" name="MH_Other_2"/>
                  <p:cNvSpPr/>
                  <p:nvPr>
                    <p:custDataLst>
                      <p:tags r:id="rId10"/>
                    </p:custDataLst>
                  </p:nvPr>
                </p:nvSpPr>
                <p:spPr>
                  <a:xfrm rot="10873167">
                    <a:off x="3933420" y="2276800"/>
                    <a:ext cx="4325161" cy="32438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rgbClr val="7D7D7D"/>
                        </a:solidFill>
                        <a:latin typeface="微软雅黑" panose="020B0503020204020204" charset="-122"/>
                        <a:ea typeface="微软雅黑" panose="020B0503020204020204" charset="-122"/>
                      </a:rPr>
                      <a:t>技术可行性</a:t>
                    </a:r>
                    <a:endParaRPr lang="zh-CN" altLang="en-US" sz="2000" dirty="0">
                      <a:solidFill>
                        <a:srgbClr val="7D7D7D"/>
                      </a:solidFill>
                      <a:latin typeface="微软雅黑" panose="020B0503020204020204" charset="-122"/>
                      <a:ea typeface="微软雅黑" panose="020B0503020204020204" charset="-122"/>
                    </a:endParaRPr>
                  </a:p>
                </p:txBody>
              </p:sp>
            </p:grpSp>
            <p:sp>
              <p:nvSpPr>
                <p:cNvPr id="5" name="MH_SubTitle_2"/>
                <p:cNvSpPr/>
                <p:nvPr>
                  <p:custDataLst>
                    <p:tags r:id="rId4"/>
                  </p:custDataLst>
                </p:nvPr>
              </p:nvSpPr>
              <p:spPr>
                <a:xfrm rot="3673167">
                  <a:off x="1180142" y="3116078"/>
                  <a:ext cx="3243871" cy="29513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b="1" dirty="0" smtClean="0">
                      <a:solidFill>
                        <a:schemeClr val="tx1"/>
                      </a:solidFill>
                      <a:latin typeface="微软雅黑" panose="020B0503020204020204" charset="-122"/>
                      <a:ea typeface="微软雅黑" panose="020B0503020204020204" charset="-122"/>
                    </a:rPr>
                    <a:t>社会因素可行性</a:t>
                  </a:r>
                  <a:endParaRPr lang="zh-CN" altLang="en-US" sz="2000" b="1" dirty="0">
                    <a:solidFill>
                      <a:schemeClr val="tx1"/>
                    </a:solidFill>
                    <a:latin typeface="微软雅黑" panose="020B0503020204020204" charset="-122"/>
                    <a:ea typeface="微软雅黑" panose="020B0503020204020204" charset="-122"/>
                  </a:endParaRPr>
                </a:p>
              </p:txBody>
            </p:sp>
            <p:sp>
              <p:nvSpPr>
                <p:cNvPr id="11" name="MH_Other_3"/>
                <p:cNvSpPr/>
                <p:nvPr>
                  <p:custDataLst>
                    <p:tags r:id="rId5"/>
                  </p:custDataLst>
                </p:nvPr>
              </p:nvSpPr>
              <p:spPr>
                <a:xfrm rot="18073167">
                  <a:off x="1532859" y="3092810"/>
                  <a:ext cx="3243871" cy="2850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smtClean="0">
                      <a:solidFill>
                        <a:srgbClr val="7D7D7D"/>
                      </a:solidFill>
                      <a:latin typeface="微软雅黑" panose="020B0503020204020204" charset="-122"/>
                      <a:ea typeface="微软雅黑" panose="020B0503020204020204" charset="-122"/>
                    </a:rPr>
                    <a:t>经济可行性</a:t>
                  </a:r>
                  <a:endParaRPr lang="zh-CN" altLang="en-US" sz="2000" dirty="0">
                    <a:solidFill>
                      <a:srgbClr val="7D7D7D"/>
                    </a:solidFill>
                    <a:latin typeface="微软雅黑" panose="020B0503020204020204" charset="-122"/>
                    <a:ea typeface="微软雅黑" panose="020B0503020204020204" charset="-122"/>
                  </a:endParaRPr>
                </a:p>
              </p:txBody>
            </p:sp>
          </p:grpSp>
          <p:sp>
            <p:nvSpPr>
              <p:cNvPr id="13" name="任意多边形 12"/>
              <p:cNvSpPr/>
              <p:nvPr/>
            </p:nvSpPr>
            <p:spPr>
              <a:xfrm flipH="1">
                <a:off x="4312" y="4050"/>
                <a:ext cx="12150" cy="788"/>
              </a:xfrm>
              <a:custGeom>
                <a:avLst/>
                <a:gdLst>
                  <a:gd name="connsiteX0" fmla="*/ 3336967 w 3336967"/>
                  <a:gd name="connsiteY0" fmla="*/ 534390 h 534390"/>
                  <a:gd name="connsiteX1" fmla="*/ 2315689 w 3336967"/>
                  <a:gd name="connsiteY1" fmla="*/ 0 h 534390"/>
                  <a:gd name="connsiteX2" fmla="*/ 0 w 3336967"/>
                  <a:gd name="connsiteY2" fmla="*/ 0 h 534390"/>
                  <a:gd name="connsiteX0-1" fmla="*/ 3336967 w 3336967"/>
                  <a:gd name="connsiteY0-2" fmla="*/ 534390 h 534390"/>
                  <a:gd name="connsiteX1-3" fmla="*/ 2955249 w 3336967"/>
                  <a:gd name="connsiteY1-4" fmla="*/ 0 h 534390"/>
                  <a:gd name="connsiteX2-5" fmla="*/ 0 w 3336967"/>
                  <a:gd name="connsiteY2-6" fmla="*/ 0 h 534390"/>
                  <a:gd name="connsiteX0-7" fmla="*/ 3336967 w 3336967"/>
                  <a:gd name="connsiteY0-8" fmla="*/ 534390 h 534390"/>
                  <a:gd name="connsiteX1-9" fmla="*/ 3160870 w 3336967"/>
                  <a:gd name="connsiteY1-10" fmla="*/ 0 h 534390"/>
                  <a:gd name="connsiteX2-11" fmla="*/ 0 w 3336967"/>
                  <a:gd name="connsiteY2-12" fmla="*/ 0 h 534390"/>
                </a:gdLst>
                <a:ahLst/>
                <a:cxnLst>
                  <a:cxn ang="0">
                    <a:pos x="connsiteX0-1" y="connsiteY0-2"/>
                  </a:cxn>
                  <a:cxn ang="0">
                    <a:pos x="connsiteX1-3" y="connsiteY1-4"/>
                  </a:cxn>
                  <a:cxn ang="0">
                    <a:pos x="connsiteX2-5" y="connsiteY2-6"/>
                  </a:cxn>
                </a:cxnLst>
                <a:rect l="l" t="t" r="r" b="b"/>
                <a:pathLst>
                  <a:path w="3336967" h="534390">
                    <a:moveTo>
                      <a:pt x="3336967" y="534390"/>
                    </a:moveTo>
                    <a:lnTo>
                      <a:pt x="3160870" y="0"/>
                    </a:lnTo>
                    <a:lnTo>
                      <a:pt x="0" y="0"/>
                    </a:lnTo>
                  </a:path>
                </a:pathLst>
              </a:custGeom>
              <a:ln w="285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7" name="组合 26"/>
            <p:cNvGrpSpPr/>
            <p:nvPr/>
          </p:nvGrpSpPr>
          <p:grpSpPr>
            <a:xfrm>
              <a:off x="5440" y="4207"/>
              <a:ext cx="4950" cy="843"/>
              <a:chOff x="4238100" y="2643182"/>
              <a:chExt cx="4295433" cy="677876"/>
            </a:xfrm>
          </p:grpSpPr>
          <p:sp>
            <p:nvSpPr>
              <p:cNvPr id="28" name="MH_SubTitle_1"/>
              <p:cNvSpPr/>
              <p:nvPr>
                <p:custDataLst>
                  <p:tags r:id="rId2"/>
                </p:custDataLst>
              </p:nvPr>
            </p:nvSpPr>
            <p:spPr>
              <a:xfrm>
                <a:off x="4553182" y="2647945"/>
                <a:ext cx="3980351" cy="667173"/>
              </a:xfrm>
              <a:prstGeom prst="rect">
                <a:avLst/>
              </a:prstGeom>
              <a:solidFill>
                <a:schemeClr val="accent5">
                  <a:lumMod val="75000"/>
                </a:schemeClr>
              </a:solidFill>
              <a:ln w="28575" cap="flat" cmpd="sng" algn="ctr">
                <a:solidFill>
                  <a:srgbClr val="FFFFFF"/>
                </a:solidFill>
                <a:prstDash val="solid"/>
                <a:miter lim="800000"/>
              </a:ln>
              <a:effectLst>
                <a:outerShdw blurRad="50800" dist="25400" dir="2700000" algn="tl" rotWithShape="0">
                  <a:srgbClr val="3D3F41">
                    <a:lumMod val="40000"/>
                    <a:lumOff val="60000"/>
                    <a:alpha val="40000"/>
                  </a:srgbClr>
                </a:outerShdw>
              </a:effectLst>
            </p:spPr>
            <p:txBody>
              <a:bodyPr lIns="432000" tIns="36000" rIns="72000" bIns="36000" anchor="ctr">
                <a:normAutofit/>
              </a:bodyPr>
              <a:lstStyle/>
              <a:p>
                <a:pPr algn="just">
                  <a:lnSpc>
                    <a:spcPct val="110000"/>
                  </a:lnSpc>
                  <a:defRPr/>
                </a:pPr>
                <a:r>
                  <a:rPr lang="zh-CN" altLang="en-US" sz="2100" b="1" dirty="0">
                    <a:solidFill>
                      <a:schemeClr val="bg1"/>
                    </a:solidFill>
                    <a:latin typeface="微软雅黑" panose="020B0503020204020204" charset="-122"/>
                    <a:ea typeface="微软雅黑" panose="020B0503020204020204" charset="-122"/>
                  </a:rPr>
                  <a:t>社会因素可行性定义</a:t>
                </a:r>
              </a:p>
            </p:txBody>
          </p:sp>
          <p:sp>
            <p:nvSpPr>
              <p:cNvPr id="29" name="MH_Other_1"/>
              <p:cNvSpPr/>
              <p:nvPr>
                <p:custDataLst>
                  <p:tags r:id="rId3"/>
                </p:custDataLst>
              </p:nvPr>
            </p:nvSpPr>
            <p:spPr>
              <a:xfrm>
                <a:off x="4238100" y="2643182"/>
                <a:ext cx="714892" cy="677876"/>
              </a:xfrm>
              <a:prstGeom prst="ellipse">
                <a:avLst/>
              </a:prstGeom>
              <a:solidFill>
                <a:srgbClr val="FFFFFF"/>
              </a:solidFill>
              <a:ln w="28575" cap="flat" cmpd="sng" algn="ctr">
                <a:solidFill>
                  <a:schemeClr val="tx1"/>
                </a:solidFill>
                <a:prstDash val="solid"/>
                <a:miter lim="800000"/>
              </a:ln>
              <a:effectLst>
                <a:outerShdw blurRad="50800" dist="12700" dir="2700000" algn="tl" rotWithShape="0">
                  <a:srgbClr val="3D3F41">
                    <a:lumMod val="20000"/>
                    <a:lumOff val="80000"/>
                    <a:alpha val="36000"/>
                  </a:srgbClr>
                </a:outerShdw>
              </a:effectLst>
            </p:spPr>
            <p:txBody>
              <a:bodyPr lIns="0" tIns="0" rIns="0" bIns="0" anchor="ctr">
                <a:normAutofit/>
              </a:bodyPr>
              <a:lstStyle/>
              <a:p>
                <a:pPr algn="ctr" eaLnBrk="1" fontAlgn="auto" hangingPunct="1">
                  <a:spcBef>
                    <a:spcPts val="0"/>
                  </a:spcBef>
                  <a:spcAft>
                    <a:spcPts val="0"/>
                  </a:spcAft>
                  <a:defRPr/>
                </a:pPr>
                <a:r>
                  <a:rPr lang="en-US" altLang="zh-CN" sz="2000" b="1" kern="0" dirty="0">
                    <a:solidFill>
                      <a:schemeClr val="accent5">
                        <a:lumMod val="75000"/>
                      </a:schemeClr>
                    </a:solidFill>
                    <a:latin typeface="Kozuka Gothic Pr6N B" panose="020B0800000000000000" pitchFamily="34" charset="-128"/>
                    <a:ea typeface="Kozuka Gothic Pr6N B" panose="020B0800000000000000" pitchFamily="34" charset="-128"/>
                  </a:rPr>
                  <a:t>1</a:t>
                </a:r>
                <a:endParaRPr lang="zh-CN" altLang="en-US" sz="2000" b="1" kern="0" dirty="0">
                  <a:solidFill>
                    <a:schemeClr val="accent5">
                      <a:lumMod val="75000"/>
                    </a:schemeClr>
                  </a:solidFill>
                  <a:latin typeface="Kozuka Gothic Pr6N B" panose="020B0800000000000000" pitchFamily="34" charset="-128"/>
                  <a:ea typeface="Kozuka Gothic Pr6N B" panose="020B0800000000000000" pitchFamily="34" charset="-128"/>
                </a:endParaRPr>
              </a:p>
            </p:txBody>
          </p:sp>
        </p:grpSp>
        <p:sp>
          <p:nvSpPr>
            <p:cNvPr id="33" name="MH_SubTitle_1"/>
            <p:cNvSpPr txBox="1">
              <a:spLocks noChangeArrowheads="1"/>
            </p:cNvSpPr>
            <p:nvPr>
              <p:custDataLst>
                <p:tags r:id="rId1"/>
              </p:custDataLst>
            </p:nvPr>
          </p:nvSpPr>
          <p:spPr bwMode="auto">
            <a:xfrm flipH="1">
              <a:off x="5440" y="6142"/>
              <a:ext cx="11378" cy="900"/>
            </a:xfrm>
            <a:prstGeom prst="rect">
              <a:avLst/>
            </a:prstGeom>
            <a:noFill/>
            <a:ln w="9525">
              <a:noFill/>
              <a:miter lim="800000"/>
            </a:ln>
          </p:spPr>
          <p:txBody>
            <a:bodyPr lIns="216000" tIns="34290" rIns="68580" bIns="34290" anchor="ctr"/>
            <a:lstStyle/>
            <a:p>
              <a:r>
                <a:rPr lang="zh-CN" altLang="en-US" sz="2000" dirty="0" smtClean="0">
                  <a:latin typeface="宋体" pitchFamily="2" charset="-122"/>
                  <a:ea typeface="宋体" pitchFamily="2" charset="-122"/>
                </a:rPr>
                <a:t>社会因素方面的可行性主要从法律、用户等方面分析可行性；</a:t>
              </a:r>
            </a:p>
            <a:p>
              <a:r>
                <a:rPr lang="zh-CN" altLang="en-US" sz="2000" dirty="0" smtClean="0">
                  <a:latin typeface="宋体" pitchFamily="2" charset="-122"/>
                  <a:ea typeface="宋体" pitchFamily="2" charset="-122"/>
                </a:rPr>
                <a:t>法律方面的可行性是指要开发的项目是否存在任何侵权、妨碍等责任问题；</a:t>
              </a:r>
            </a:p>
            <a:p>
              <a:r>
                <a:rPr lang="zh-CN" altLang="en-US" sz="2000" dirty="0" smtClean="0">
                  <a:latin typeface="宋体" pitchFamily="2" charset="-122"/>
                  <a:ea typeface="宋体" pitchFamily="2" charset="-122"/>
                </a:rPr>
                <a:t>用户方面的可行性是指对用户内部组织管理制度的影响程度，用户操作方式是否可行等。</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1.2 </a:t>
            </a:r>
            <a:r>
              <a:rPr lang="zh-CN" altLang="en-US"/>
              <a:t>可行性研究</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1.2.4 </a:t>
            </a:r>
            <a:r>
              <a:rPr lang="zh-CN" altLang="en-US" sz="2400" dirty="0" smtClean="0">
                <a:solidFill>
                  <a:schemeClr val="tx1"/>
                </a:solidFill>
              </a:rPr>
              <a:t>可行性分析结论</a:t>
            </a:r>
          </a:p>
        </p:txBody>
      </p:sp>
      <p:sp>
        <p:nvSpPr>
          <p:cNvPr id="45" name="文本框 44"/>
          <p:cNvSpPr txBox="1"/>
          <p:nvPr>
            <p:custDataLst>
              <p:tags r:id="rId1"/>
            </p:custDataLst>
          </p:nvPr>
        </p:nvSpPr>
        <p:spPr>
          <a:xfrm>
            <a:off x="7722870" y="4208145"/>
            <a:ext cx="2942590" cy="1351915"/>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t>（</a:t>
            </a:r>
            <a:r>
              <a:rPr lang="en-US" altLang="zh-CN" dirty="0" smtClean="0"/>
              <a:t>3</a:t>
            </a:r>
            <a:r>
              <a:rPr lang="zh-CN" altLang="en-US" dirty="0" smtClean="0"/>
              <a:t>）不能进行或不必进行开发（例如所需技术不成熟、经济上不划算等）。</a:t>
            </a:r>
          </a:p>
        </p:txBody>
      </p:sp>
      <p:grpSp>
        <p:nvGrpSpPr>
          <p:cNvPr id="46" name="组合 45"/>
          <p:cNvGrpSpPr/>
          <p:nvPr>
            <p:custDataLst>
              <p:tags r:id="rId2"/>
            </p:custDataLst>
          </p:nvPr>
        </p:nvGrpSpPr>
        <p:grpSpPr>
          <a:xfrm>
            <a:off x="4780280" y="1890395"/>
            <a:ext cx="3357880" cy="3361055"/>
            <a:chOff x="4545541" y="1813445"/>
            <a:chExt cx="3358094" cy="3360852"/>
          </a:xfrm>
        </p:grpSpPr>
        <p:grpSp>
          <p:nvGrpSpPr>
            <p:cNvPr id="47" name="组合 46"/>
            <p:cNvGrpSpPr/>
            <p:nvPr/>
          </p:nvGrpSpPr>
          <p:grpSpPr>
            <a:xfrm rot="19780964">
              <a:off x="4545541" y="1813445"/>
              <a:ext cx="3358094" cy="3360852"/>
              <a:chOff x="4292600" y="1528763"/>
              <a:chExt cx="3863975" cy="3867151"/>
            </a:xfrm>
          </p:grpSpPr>
          <p:sp>
            <p:nvSpPr>
              <p:cNvPr id="52" name="Freeform 5"/>
              <p:cNvSpPr/>
              <p:nvPr>
                <p:custDataLst>
                  <p:tags r:id="rId14"/>
                </p:custDataLst>
              </p:nvPr>
            </p:nvSpPr>
            <p:spPr bwMode="auto">
              <a:xfrm>
                <a:off x="6096000" y="1528763"/>
                <a:ext cx="2060575" cy="2708275"/>
              </a:xfrm>
              <a:custGeom>
                <a:avLst/>
                <a:gdLst>
                  <a:gd name="T0" fmla="*/ 0 w 10817"/>
                  <a:gd name="T1" fmla="*/ 9470 h 14205"/>
                  <a:gd name="T2" fmla="*/ 8202 w 10817"/>
                  <a:gd name="T3" fmla="*/ 14205 h 14205"/>
                  <a:gd name="T4" fmla="*/ 4736 w 10817"/>
                  <a:gd name="T5" fmla="*/ 1268 h 14205"/>
                  <a:gd name="T6" fmla="*/ 0 w 10817"/>
                  <a:gd name="T7" fmla="*/ 0 h 14205"/>
                  <a:gd name="T8" fmla="*/ 0 w 10817"/>
                  <a:gd name="T9" fmla="*/ 9470 h 14205"/>
                </a:gdLst>
                <a:ahLst/>
                <a:cxnLst>
                  <a:cxn ang="0">
                    <a:pos x="T0" y="T1"/>
                  </a:cxn>
                  <a:cxn ang="0">
                    <a:pos x="T2" y="T3"/>
                  </a:cxn>
                  <a:cxn ang="0">
                    <a:pos x="T4" y="T5"/>
                  </a:cxn>
                  <a:cxn ang="0">
                    <a:pos x="T6" y="T7"/>
                  </a:cxn>
                  <a:cxn ang="0">
                    <a:pos x="T8" y="T9"/>
                  </a:cxn>
                </a:cxnLst>
                <a:rect l="0" t="0" r="r" b="b"/>
                <a:pathLst>
                  <a:path w="10817" h="14205">
                    <a:moveTo>
                      <a:pt x="0" y="9470"/>
                    </a:moveTo>
                    <a:lnTo>
                      <a:pt x="8202" y="14205"/>
                    </a:lnTo>
                    <a:cubicBezTo>
                      <a:pt x="10817" y="9675"/>
                      <a:pt x="9265" y="3884"/>
                      <a:pt x="4736" y="1268"/>
                    </a:cubicBezTo>
                    <a:cubicBezTo>
                      <a:pt x="3296" y="437"/>
                      <a:pt x="1663" y="0"/>
                      <a:pt x="0" y="0"/>
                    </a:cubicBezTo>
                    <a:lnTo>
                      <a:pt x="0" y="9470"/>
                    </a:lnTo>
                    <a:close/>
                  </a:path>
                </a:pathLst>
              </a:custGeom>
              <a:solidFill>
                <a:schemeClr val="accent3">
                  <a:lumMod val="20000"/>
                  <a:lumOff val="8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8" name="Freeform 7"/>
              <p:cNvSpPr/>
              <p:nvPr>
                <p:custDataLst>
                  <p:tags r:id="rId15"/>
                </p:custDataLst>
              </p:nvPr>
            </p:nvSpPr>
            <p:spPr bwMode="auto">
              <a:xfrm>
                <a:off x="4533900" y="3333751"/>
                <a:ext cx="3124200" cy="2062163"/>
              </a:xfrm>
              <a:custGeom>
                <a:avLst/>
                <a:gdLst>
                  <a:gd name="T0" fmla="*/ 8201 w 16403"/>
                  <a:gd name="T1" fmla="*/ 0 h 10816"/>
                  <a:gd name="T2" fmla="*/ 0 w 16403"/>
                  <a:gd name="T3" fmla="*/ 4735 h 10816"/>
                  <a:gd name="T4" fmla="*/ 12937 w 16403"/>
                  <a:gd name="T5" fmla="*/ 8201 h 10816"/>
                  <a:gd name="T6" fmla="*/ 16403 w 16403"/>
                  <a:gd name="T7" fmla="*/ 4735 h 10816"/>
                  <a:gd name="T8" fmla="*/ 8201 w 16403"/>
                  <a:gd name="T9" fmla="*/ 0 h 10816"/>
                </a:gdLst>
                <a:ahLst/>
                <a:cxnLst>
                  <a:cxn ang="0">
                    <a:pos x="T0" y="T1"/>
                  </a:cxn>
                  <a:cxn ang="0">
                    <a:pos x="T2" y="T3"/>
                  </a:cxn>
                  <a:cxn ang="0">
                    <a:pos x="T4" y="T5"/>
                  </a:cxn>
                  <a:cxn ang="0">
                    <a:pos x="T6" y="T7"/>
                  </a:cxn>
                  <a:cxn ang="0">
                    <a:pos x="T8" y="T9"/>
                  </a:cxn>
                </a:cxnLst>
                <a:rect l="0" t="0" r="r" b="b"/>
                <a:pathLst>
                  <a:path w="16403" h="10816">
                    <a:moveTo>
                      <a:pt x="8201" y="0"/>
                    </a:moveTo>
                    <a:lnTo>
                      <a:pt x="0" y="4735"/>
                    </a:lnTo>
                    <a:cubicBezTo>
                      <a:pt x="2615" y="9265"/>
                      <a:pt x="8407" y="10816"/>
                      <a:pt x="12937" y="8201"/>
                    </a:cubicBezTo>
                    <a:cubicBezTo>
                      <a:pt x="14376" y="7370"/>
                      <a:pt x="15572" y="6175"/>
                      <a:pt x="16403" y="4735"/>
                    </a:cubicBezTo>
                    <a:lnTo>
                      <a:pt x="8201" y="0"/>
                    </a:lnTo>
                    <a:close/>
                  </a:path>
                </a:pathLst>
              </a:custGeom>
              <a:solidFill>
                <a:schemeClr val="accent3">
                  <a:lumMod val="40000"/>
                  <a:lumOff val="6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9" name="Freeform 9"/>
              <p:cNvSpPr/>
              <p:nvPr>
                <p:custDataLst>
                  <p:tags r:id="rId16"/>
                </p:custDataLst>
              </p:nvPr>
            </p:nvSpPr>
            <p:spPr bwMode="auto">
              <a:xfrm>
                <a:off x="4292600" y="1528763"/>
                <a:ext cx="1803400" cy="2708275"/>
              </a:xfrm>
              <a:custGeom>
                <a:avLst/>
                <a:gdLst>
                  <a:gd name="T0" fmla="*/ 18940 w 18940"/>
                  <a:gd name="T1" fmla="*/ 18940 h 28411"/>
                  <a:gd name="T2" fmla="*/ 18940 w 18940"/>
                  <a:gd name="T3" fmla="*/ 0 h 28411"/>
                  <a:gd name="T4" fmla="*/ 0 w 18940"/>
                  <a:gd name="T5" fmla="*/ 18940 h 28411"/>
                  <a:gd name="T6" fmla="*/ 2537 w 18940"/>
                  <a:gd name="T7" fmla="*/ 28411 h 28411"/>
                  <a:gd name="T8" fmla="*/ 18940 w 18940"/>
                  <a:gd name="T9" fmla="*/ 18940 h 28411"/>
                </a:gdLst>
                <a:ahLst/>
                <a:cxnLst>
                  <a:cxn ang="0">
                    <a:pos x="T0" y="T1"/>
                  </a:cxn>
                  <a:cxn ang="0">
                    <a:pos x="T2" y="T3"/>
                  </a:cxn>
                  <a:cxn ang="0">
                    <a:pos x="T4" y="T5"/>
                  </a:cxn>
                  <a:cxn ang="0">
                    <a:pos x="T6" y="T7"/>
                  </a:cxn>
                  <a:cxn ang="0">
                    <a:pos x="T8" y="T9"/>
                  </a:cxn>
                </a:cxnLst>
                <a:rect l="0" t="0" r="r" b="b"/>
                <a:pathLst>
                  <a:path w="18940" h="28411">
                    <a:moveTo>
                      <a:pt x="18940" y="18940"/>
                    </a:moveTo>
                    <a:lnTo>
                      <a:pt x="18940" y="0"/>
                    </a:lnTo>
                    <a:cubicBezTo>
                      <a:pt x="8480" y="0"/>
                      <a:pt x="0" y="8480"/>
                      <a:pt x="0" y="18940"/>
                    </a:cubicBezTo>
                    <a:cubicBezTo>
                      <a:pt x="0" y="22265"/>
                      <a:pt x="875" y="25531"/>
                      <a:pt x="2537" y="28411"/>
                    </a:cubicBezTo>
                    <a:lnTo>
                      <a:pt x="18940" y="18940"/>
                    </a:lnTo>
                    <a:close/>
                  </a:path>
                </a:pathLst>
              </a:custGeom>
              <a:solidFill>
                <a:schemeClr val="accent3">
                  <a:lumMod val="60000"/>
                  <a:lumOff val="4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grpSp>
        <p:grpSp>
          <p:nvGrpSpPr>
            <p:cNvPr id="60" name="组合 59"/>
            <p:cNvGrpSpPr/>
            <p:nvPr/>
          </p:nvGrpSpPr>
          <p:grpSpPr>
            <a:xfrm>
              <a:off x="7117751" y="2851667"/>
              <a:ext cx="642223" cy="844731"/>
              <a:chOff x="7269873" y="3048000"/>
              <a:chExt cx="484632" cy="637448"/>
            </a:xfrm>
          </p:grpSpPr>
          <p:sp>
            <p:nvSpPr>
              <p:cNvPr id="61" name="任意多边形 60"/>
              <p:cNvSpPr/>
              <p:nvPr>
                <p:custDataLst>
                  <p:tags r:id="rId12"/>
                </p:custDataLst>
              </p:nvPr>
            </p:nvSpPr>
            <p:spPr>
              <a:xfrm>
                <a:off x="7269873"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A4C47E"/>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62" name="任意多边形 61"/>
              <p:cNvSpPr/>
              <p:nvPr>
                <p:custDataLst>
                  <p:tags r:id="rId13"/>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53000">
                    <a:srgbClr val="A4C47E">
                      <a:lumMod val="75000"/>
                    </a:srgbClr>
                  </a:gs>
                  <a:gs pos="0">
                    <a:srgbClr val="A4C47E">
                      <a:lumMod val="75000"/>
                      <a:alpha val="0"/>
                    </a:srgbClr>
                  </a:gs>
                  <a:gs pos="100000">
                    <a:srgbClr val="A4C47E">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63" name="组合 62"/>
            <p:cNvGrpSpPr/>
            <p:nvPr/>
          </p:nvGrpSpPr>
          <p:grpSpPr>
            <a:xfrm rot="7200000">
              <a:off x="5228836" y="4295958"/>
              <a:ext cx="642222" cy="844731"/>
              <a:chOff x="7237791" y="3049926"/>
              <a:chExt cx="484632" cy="637448"/>
            </a:xfrm>
          </p:grpSpPr>
          <p:sp>
            <p:nvSpPr>
              <p:cNvPr id="72" name="任意多边形 71"/>
              <p:cNvSpPr/>
              <p:nvPr>
                <p:custDataLst>
                  <p:tags r:id="rId10"/>
                </p:custDataLst>
              </p:nvPr>
            </p:nvSpPr>
            <p:spPr>
              <a:xfrm>
                <a:off x="7237791" y="3049926"/>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4D91BF"/>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73" name="任意多边形 72"/>
              <p:cNvSpPr/>
              <p:nvPr>
                <p:custDataLst>
                  <p:tags r:id="rId11"/>
                </p:custDataLst>
              </p:nvPr>
            </p:nvSpPr>
            <p:spPr>
              <a:xfrm>
                <a:off x="7237791" y="3049926"/>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4D91BF">
                      <a:lumMod val="75000"/>
                    </a:srgbClr>
                  </a:gs>
                  <a:gs pos="29000">
                    <a:srgbClr val="4D91BF">
                      <a:lumMod val="75000"/>
                      <a:alpha val="31000"/>
                    </a:srgbClr>
                  </a:gs>
                  <a:gs pos="0">
                    <a:srgbClr val="4D91BF">
                      <a:lumMod val="75000"/>
                      <a:alpha val="0"/>
                    </a:srgbClr>
                  </a:gs>
                  <a:gs pos="100000">
                    <a:srgbClr val="4D91BF">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74" name="组合 73"/>
            <p:cNvGrpSpPr/>
            <p:nvPr/>
          </p:nvGrpSpPr>
          <p:grpSpPr>
            <a:xfrm rot="14400000">
              <a:off x="4930608" y="1940029"/>
              <a:ext cx="642223" cy="844731"/>
              <a:chOff x="7269877" y="3048000"/>
              <a:chExt cx="484632" cy="637448"/>
            </a:xfrm>
          </p:grpSpPr>
          <p:sp>
            <p:nvSpPr>
              <p:cNvPr id="75" name="任意多边形 74"/>
              <p:cNvSpPr/>
              <p:nvPr>
                <p:custDataLst>
                  <p:tags r:id="rId8"/>
                </p:custDataLst>
              </p:nvPr>
            </p:nvSpPr>
            <p:spPr>
              <a:xfrm>
                <a:off x="7269877"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0FA1AB"/>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76" name="任意多边形 75"/>
              <p:cNvSpPr/>
              <p:nvPr>
                <p:custDataLst>
                  <p:tags r:id="rId9"/>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0FA1AB">
                      <a:lumMod val="75000"/>
                    </a:srgbClr>
                  </a:gs>
                  <a:gs pos="29000">
                    <a:srgbClr val="0FA1AB">
                      <a:lumMod val="75000"/>
                      <a:alpha val="22000"/>
                    </a:srgbClr>
                  </a:gs>
                  <a:gs pos="0">
                    <a:srgbClr val="0FA1AB">
                      <a:lumMod val="75000"/>
                      <a:alpha val="0"/>
                    </a:srgbClr>
                  </a:gs>
                  <a:gs pos="100000">
                    <a:srgbClr val="0FA1AB">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sp>
        <p:nvSpPr>
          <p:cNvPr id="77" name="文本框 76"/>
          <p:cNvSpPr txBox="1"/>
          <p:nvPr>
            <p:custDataLst>
              <p:tags r:id="rId3"/>
            </p:custDataLst>
          </p:nvPr>
        </p:nvSpPr>
        <p:spPr>
          <a:xfrm>
            <a:off x="855345" y="2919095"/>
            <a:ext cx="3705860" cy="1421765"/>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t>（</a:t>
            </a:r>
            <a:r>
              <a:rPr lang="en-US" altLang="zh-CN" dirty="0" smtClean="0"/>
              <a:t>2</a:t>
            </a:r>
            <a:r>
              <a:rPr lang="zh-CN" altLang="en-US" dirty="0" smtClean="0"/>
              <a:t>）需要等待某些条件（例如资金、人力、设备等）落实之后才能开发；或需要对开发目标进行某些修改之后才能开发。</a:t>
            </a:r>
          </a:p>
        </p:txBody>
      </p:sp>
      <p:sp>
        <p:nvSpPr>
          <p:cNvPr id="78" name="文本框 77"/>
          <p:cNvSpPr txBox="1"/>
          <p:nvPr>
            <p:custDataLst>
              <p:tags r:id="rId4"/>
            </p:custDataLst>
          </p:nvPr>
        </p:nvSpPr>
        <p:spPr>
          <a:xfrm>
            <a:off x="7682865" y="1722755"/>
            <a:ext cx="2226945" cy="662940"/>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t>（</a:t>
            </a:r>
            <a:r>
              <a:rPr lang="en-US" altLang="zh-CN" dirty="0" smtClean="0"/>
              <a:t>1</a:t>
            </a:r>
            <a:r>
              <a:rPr lang="zh-CN" altLang="en-US" dirty="0" smtClean="0"/>
              <a:t>）可以进行开发。</a:t>
            </a:r>
          </a:p>
        </p:txBody>
      </p:sp>
      <p:sp>
        <p:nvSpPr>
          <p:cNvPr id="79" name="文本框 78"/>
          <p:cNvSpPr txBox="1"/>
          <p:nvPr>
            <p:custDataLst>
              <p:tags r:id="rId5"/>
            </p:custDataLst>
          </p:nvPr>
        </p:nvSpPr>
        <p:spPr>
          <a:xfrm>
            <a:off x="5200650" y="3187700"/>
            <a:ext cx="458470" cy="584835"/>
          </a:xfrm>
          <a:prstGeom prst="rect">
            <a:avLst/>
          </a:prstGeom>
          <a:noFill/>
        </p:spPr>
        <p:txBody>
          <a:bodyPr wrap="none" rtlCol="0">
            <a:normAutofit/>
          </a:bodyPr>
          <a:lstStyle/>
          <a:p>
            <a:r>
              <a:rPr lang="en-US" altLang="zh-CN" sz="3200" b="1" smtClean="0">
                <a:solidFill>
                  <a:srgbClr val="FFFFFF"/>
                </a:solidFill>
                <a:sym typeface="Arial" panose="020B0604020202020204" pitchFamily="34" charset="0"/>
              </a:rPr>
              <a:t>A</a:t>
            </a:r>
            <a:endParaRPr lang="zh-CN" altLang="en-US" sz="3200" b="1">
              <a:solidFill>
                <a:srgbClr val="FFFFFF"/>
              </a:solidFill>
              <a:sym typeface="Arial" panose="020B0604020202020204" pitchFamily="34" charset="0"/>
            </a:endParaRPr>
          </a:p>
        </p:txBody>
      </p:sp>
      <p:sp>
        <p:nvSpPr>
          <p:cNvPr id="80" name="文本框 79"/>
          <p:cNvSpPr txBox="1"/>
          <p:nvPr>
            <p:custDataLst>
              <p:tags r:id="rId6"/>
            </p:custDataLst>
          </p:nvPr>
        </p:nvSpPr>
        <p:spPr>
          <a:xfrm>
            <a:off x="6585585" y="4019550"/>
            <a:ext cx="481330" cy="584835"/>
          </a:xfrm>
          <a:prstGeom prst="rect">
            <a:avLst/>
          </a:prstGeom>
          <a:noFill/>
        </p:spPr>
        <p:txBody>
          <a:bodyPr wrap="none" rtlCol="0">
            <a:normAutofit/>
          </a:bodyPr>
          <a:lstStyle/>
          <a:p>
            <a:r>
              <a:rPr lang="en-US" altLang="zh-CN" sz="3200" b="1" smtClean="0">
                <a:solidFill>
                  <a:srgbClr val="FFFFFF"/>
                </a:solidFill>
                <a:sym typeface="Arial" panose="020B0604020202020204" pitchFamily="34" charset="0"/>
              </a:rPr>
              <a:t>C</a:t>
            </a:r>
            <a:endParaRPr lang="zh-CN" altLang="en-US" sz="3200" b="1">
              <a:solidFill>
                <a:srgbClr val="FFFFFF"/>
              </a:solidFill>
              <a:sym typeface="Arial" panose="020B0604020202020204" pitchFamily="34" charset="0"/>
            </a:endParaRPr>
          </a:p>
        </p:txBody>
      </p:sp>
      <p:sp>
        <p:nvSpPr>
          <p:cNvPr id="81" name="文本框 80"/>
          <p:cNvSpPr txBox="1"/>
          <p:nvPr>
            <p:custDataLst>
              <p:tags r:id="rId7"/>
            </p:custDataLst>
          </p:nvPr>
        </p:nvSpPr>
        <p:spPr>
          <a:xfrm>
            <a:off x="6536055" y="2385695"/>
            <a:ext cx="458470" cy="584835"/>
          </a:xfrm>
          <a:prstGeom prst="rect">
            <a:avLst/>
          </a:prstGeom>
          <a:noFill/>
        </p:spPr>
        <p:txBody>
          <a:bodyPr wrap="none" rtlCol="0">
            <a:normAutofit/>
          </a:bodyPr>
          <a:lstStyle/>
          <a:p>
            <a:r>
              <a:rPr lang="en-US" altLang="zh-CN" sz="3200" b="1" smtClean="0">
                <a:solidFill>
                  <a:srgbClr val="FFFFFF"/>
                </a:solidFill>
                <a:sym typeface="Arial" panose="020B0604020202020204" pitchFamily="34" charset="0"/>
              </a:rPr>
              <a:t>B</a:t>
            </a:r>
            <a:endParaRPr lang="zh-CN" altLang="en-US" sz="3200" b="1">
              <a:solidFill>
                <a:srgbClr val="FFFFFF"/>
              </a:solidFill>
              <a:sym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1.2 </a:t>
            </a:r>
            <a:r>
              <a:rPr lang="zh-CN" altLang="en-US"/>
              <a:t>可行性研究</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1.2.5 </a:t>
            </a:r>
            <a:r>
              <a:rPr lang="zh-CN" altLang="en-US" sz="2400" dirty="0" smtClean="0">
                <a:solidFill>
                  <a:schemeClr val="tx1"/>
                </a:solidFill>
              </a:rPr>
              <a:t>可行性研究总结</a:t>
            </a:r>
          </a:p>
        </p:txBody>
      </p:sp>
      <p:grpSp>
        <p:nvGrpSpPr>
          <p:cNvPr id="5" name="组合 4"/>
          <p:cNvGrpSpPr/>
          <p:nvPr/>
        </p:nvGrpSpPr>
        <p:grpSpPr>
          <a:xfrm>
            <a:off x="4445" y="2123948"/>
            <a:ext cx="12183110" cy="3464885"/>
            <a:chOff x="0" y="3538"/>
            <a:chExt cx="19186" cy="5186"/>
          </a:xfrm>
        </p:grpSpPr>
        <p:sp>
          <p:nvSpPr>
            <p:cNvPr id="167" name=" 167"/>
            <p:cNvSpPr/>
            <p:nvPr/>
          </p:nvSpPr>
          <p:spPr>
            <a:xfrm>
              <a:off x="0" y="4195"/>
              <a:ext cx="19186" cy="4529"/>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2" name="学士帽"/>
            <p:cNvSpPr/>
            <p:nvPr/>
          </p:nvSpPr>
          <p:spPr bwMode="auto">
            <a:xfrm>
              <a:off x="1268" y="3538"/>
              <a:ext cx="1927" cy="1349"/>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rgbClr val="000000"/>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7" name="文本框 6"/>
            <p:cNvSpPr txBox="1"/>
            <p:nvPr/>
          </p:nvSpPr>
          <p:spPr>
            <a:xfrm>
              <a:off x="2747" y="4194"/>
              <a:ext cx="3637" cy="1232"/>
            </a:xfrm>
            <a:prstGeom prst="rect">
              <a:avLst/>
            </a:prstGeom>
            <a:noFill/>
          </p:spPr>
          <p:txBody>
            <a:bodyPr wrap="square" rtlCol="0">
              <a:spAutoFit/>
              <a:scene3d>
                <a:camera prst="isometricOffAxis1Right"/>
                <a:lightRig rig="threePt" dir="t"/>
              </a:scene3d>
            </a:bodyPr>
            <a:lstStyle/>
            <a:p>
              <a:r>
                <a:rPr lang="zh-CN" altLang="en-US" sz="4800" dirty="0">
                  <a:solidFill>
                    <a:srgbClr val="CC3399"/>
                  </a:solidFill>
                  <a:effectLst>
                    <a:outerShdw blurRad="60007" dist="310007" dir="7680000" sy="30000" kx="1300200" algn="ctr" rotWithShape="0">
                      <a:prstClr val="black">
                        <a:alpha val="32000"/>
                      </a:prstClr>
                    </a:outerShdw>
                  </a:effectLst>
                </a:rPr>
                <a:t>总结：</a:t>
              </a:r>
            </a:p>
          </p:txBody>
        </p:sp>
        <p:sp>
          <p:nvSpPr>
            <p:cNvPr id="9" name="文本框 8"/>
            <p:cNvSpPr txBox="1"/>
            <p:nvPr/>
          </p:nvSpPr>
          <p:spPr>
            <a:xfrm>
              <a:off x="1173" y="5248"/>
              <a:ext cx="16839" cy="3102"/>
            </a:xfrm>
            <a:prstGeom prst="rect">
              <a:avLst/>
            </a:prstGeom>
            <a:noFill/>
          </p:spPr>
          <p:txBody>
            <a:bodyPr wrap="square" rtlCol="0">
              <a:spAutoFit/>
            </a:bodyPr>
            <a:lstStyle/>
            <a:p>
              <a:pPr fontAlgn="auto">
                <a:lnSpc>
                  <a:spcPct val="130000"/>
                </a:lnSpc>
              </a:pPr>
              <a:r>
                <a:rPr lang="en-US" altLang="zh-CN" sz="2000" dirty="0"/>
                <a:t>       </a:t>
              </a:r>
              <a:r>
                <a:rPr lang="zh-CN" altLang="en-US" sz="2000" dirty="0"/>
                <a:t>可行性研究阶段不要急于着手解决问题，其主要目的是得到系统确实可行的结论，或及时中止不可行的项目。应避免在项目进行了较长时间后，才发现项目根本不可行，以致造成浪费。可行性报告要得到用户单位决策者的认可，所提出的结论要有具体、充分的理由。由用户单位的决策者根据可行性报告，选择决定所采用的具体解决方案。可行的项目才能进入下一步——即制订项目的开发计划和实施阶段。</a:t>
              </a:r>
            </a:p>
          </p:txBody>
        </p:sp>
      </p:grpSp>
      <p:pic>
        <p:nvPicPr>
          <p:cNvPr id="20483" name="Picture 3" descr="D:\Teliss_Tong\Copy\定期备份\工作备份\！PPT图片及版面资源\06-PPT精选插图\04-图标\passort_09.png"/>
          <p:cNvPicPr>
            <a:picLocks noChangeAspect="1" noChangeArrowheads="1"/>
          </p:cNvPicPr>
          <p:nvPr/>
        </p:nvPicPr>
        <p:blipFill rotWithShape="1">
          <a:blip r:embed="rId2" cstate="email"/>
          <a:srcRect t="18644" b="7443"/>
          <a:stretch>
            <a:fillRect/>
          </a:stretch>
        </p:blipFill>
        <p:spPr bwMode="auto">
          <a:xfrm>
            <a:off x="9749155" y="-52705"/>
            <a:ext cx="2438400" cy="1802130"/>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r>
              <a:rPr lang="zh-CN" altLang="en-US">
                <a:solidFill>
                  <a:schemeClr val="accent1"/>
                </a:solidFill>
              </a:rPr>
              <a:t>1.3 制订项目开发计划</a:t>
            </a:r>
          </a:p>
        </p:txBody>
      </p:sp>
      <p:pic>
        <p:nvPicPr>
          <p:cNvPr id="2" name="图片 1"/>
          <p:cNvPicPr>
            <a:picLocks noChangeAspect="1"/>
          </p:cNvPicPr>
          <p:nvPr/>
        </p:nvPicPr>
        <p:blipFill>
          <a:blip r:embed="rId2" cstate="print"/>
          <a:srcRect l="14153" t="15475" r="19547" b="6419"/>
          <a:stretch>
            <a:fillRect/>
          </a:stretch>
        </p:blipFill>
        <p:spPr>
          <a:xfrm>
            <a:off x="1459865" y="2060575"/>
            <a:ext cx="9929495" cy="3657600"/>
          </a:xfrm>
          <a:prstGeom prst="rect">
            <a:avLst/>
          </a:prstGeom>
        </p:spPr>
      </p:pic>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项目开发计划</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项目开发计划</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3" name="灯片编号占位符 2"/>
          <p:cNvSpPr>
            <a:spLocks noGrp="1"/>
          </p:cNvSpPr>
          <p:nvPr>
            <p:ph type="sldNum" sz="quarter" idx="12"/>
          </p:nvPr>
        </p:nvSpPr>
        <p:spPr/>
        <p:txBody>
          <a:bodyPr/>
          <a:lstStyle/>
          <a:p>
            <a:fld id="{EF906490-237C-474C-BA2E-D98840BC1F8F}" type="slidenum">
              <a:rPr lang="zh-CN" altLang="en-US" smtClean="0"/>
              <a:pPr/>
              <a:t>14</a:t>
            </a:fld>
            <a:endParaRPr lang="zh-CN" altLang="en-US"/>
          </a:p>
        </p:txBody>
      </p:sp>
      <p:sp>
        <p:nvSpPr>
          <p:cNvPr id="17" name="文本框 39"/>
          <p:cNvSpPr txBox="1"/>
          <p:nvPr/>
        </p:nvSpPr>
        <p:spPr>
          <a:xfrm>
            <a:off x="6163310" y="256385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a:t>
            </a:r>
          </a:p>
        </p:txBody>
      </p:sp>
      <p:sp>
        <p:nvSpPr>
          <p:cNvPr id="18" name="文本框 47"/>
          <p:cNvSpPr txBox="1"/>
          <p:nvPr/>
        </p:nvSpPr>
        <p:spPr>
          <a:xfrm>
            <a:off x="6163310" y="3452858"/>
            <a:ext cx="2353310"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需求分析方法</a:t>
            </a:r>
          </a:p>
        </p:txBody>
      </p:sp>
      <p:sp>
        <p:nvSpPr>
          <p:cNvPr id="19" name="文本框 49"/>
          <p:cNvSpPr txBox="1"/>
          <p:nvPr/>
        </p:nvSpPr>
        <p:spPr>
          <a:xfrm>
            <a:off x="6163310" y="3948158"/>
            <a:ext cx="2567940"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需求分析步骤</a:t>
            </a:r>
          </a:p>
        </p:txBody>
      </p:sp>
      <p:grpSp>
        <p:nvGrpSpPr>
          <p:cNvPr id="25" name="组合 2"/>
          <p:cNvGrpSpPr/>
          <p:nvPr/>
        </p:nvGrpSpPr>
        <p:grpSpPr>
          <a:xfrm>
            <a:off x="3428449" y="2152106"/>
            <a:ext cx="2362200" cy="2362200"/>
            <a:chOff x="977900" y="2247899"/>
            <a:chExt cx="2362200" cy="2362200"/>
          </a:xfrm>
        </p:grpSpPr>
        <p:sp>
          <p:nvSpPr>
            <p:cNvPr id="26" name="椭圆 25"/>
            <p:cNvSpPr/>
            <p:nvPr/>
          </p:nvSpPr>
          <p:spPr>
            <a:xfrm>
              <a:off x="977900" y="2247899"/>
              <a:ext cx="2362200" cy="2362200"/>
            </a:xfrm>
            <a:prstGeom prst="ellipse">
              <a:avLst/>
            </a:prstGeom>
            <a:solidFill>
              <a:schemeClr val="bg1"/>
            </a:solidFill>
            <a:ln>
              <a:solidFill>
                <a:srgbClr val="EF41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文本框 5"/>
            <p:cNvSpPr txBox="1"/>
            <p:nvPr/>
          </p:nvSpPr>
          <p:spPr>
            <a:xfrm>
              <a:off x="1316396" y="2644169"/>
              <a:ext cx="1736009" cy="1569660"/>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02</a:t>
              </a:r>
            </a:p>
          </p:txBody>
        </p:sp>
      </p:grpSp>
    </p:spTree>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2.1</a:t>
            </a:r>
            <a:r>
              <a:rPr lang="zh-CN" altLang="zh-CN">
                <a:solidFill>
                  <a:srgbClr val="FF0000"/>
                </a:solidFill>
              </a:rPr>
              <a:t> 需求分析方法</a:t>
            </a:r>
          </a:p>
        </p:txBody>
      </p:sp>
      <p:sp>
        <p:nvSpPr>
          <p:cNvPr id="7" name="文本框 6"/>
          <p:cNvSpPr txBox="1"/>
          <p:nvPr/>
        </p:nvSpPr>
        <p:spPr>
          <a:xfrm>
            <a:off x="754380" y="2931160"/>
            <a:ext cx="476250" cy="158496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需求分析方法</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需求分析</a:t>
            </a:r>
          </a:p>
        </p:txBody>
      </p:sp>
      <p:sp>
        <p:nvSpPr>
          <p:cNvPr id="2" name="文本框 1"/>
          <p:cNvSpPr txBox="1"/>
          <p:nvPr/>
        </p:nvSpPr>
        <p:spPr>
          <a:xfrm>
            <a:off x="1614805" y="2148205"/>
            <a:ext cx="9601200" cy="3297555"/>
          </a:xfrm>
          <a:prstGeom prst="rect">
            <a:avLst/>
          </a:prstGeom>
          <a:noFill/>
        </p:spPr>
        <p:txBody>
          <a:bodyPr wrap="square" rtlCol="0">
            <a:spAutoFit/>
          </a:bodyPr>
          <a:lstStyle/>
          <a:p>
            <a:pPr marL="285750" indent="-285750" algn="l">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rPr>
              <a:t>通常把将要建立的系统称为“目标系统”。</a:t>
            </a:r>
            <a:r>
              <a:rPr lang="zh-CN" altLang="en-US" dirty="0">
                <a:solidFill>
                  <a:srgbClr val="00B050"/>
                </a:solidFill>
                <a:latin typeface="微软雅黑" panose="020B0503020204020204" charset="-122"/>
                <a:ea typeface="微软雅黑" panose="020B0503020204020204" charset="-122"/>
              </a:rPr>
              <a:t>需求分析（Requirements Analysis）是研究用户要求，以得到目标系统的需求定义的过程</a:t>
            </a:r>
            <a:r>
              <a:rPr lang="zh-CN" altLang="en-US" dirty="0">
                <a:latin typeface="微软雅黑" panose="020B0503020204020204" charset="-122"/>
                <a:ea typeface="微软雅黑" panose="020B0503020204020204" charset="-122"/>
              </a:rPr>
              <a:t>。</a:t>
            </a:r>
          </a:p>
          <a:p>
            <a:pPr marL="285750" indent="-285750" algn="l">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rPr>
              <a:t>需求分析的</a:t>
            </a:r>
            <a:r>
              <a:rPr lang="zh-CN" altLang="en-US" dirty="0">
                <a:solidFill>
                  <a:srgbClr val="00B050"/>
                </a:solidFill>
                <a:latin typeface="微软雅黑" panose="020B0503020204020204" charset="-122"/>
                <a:ea typeface="微软雅黑" panose="020B0503020204020204" charset="-122"/>
              </a:rPr>
              <a:t>基本任务是软件人员和用户一起完全弄清用户对系统的确切要求</a:t>
            </a:r>
            <a:r>
              <a:rPr lang="zh-CN" altLang="en-US" dirty="0">
                <a:latin typeface="微软雅黑" panose="020B0503020204020204" charset="-122"/>
                <a:ea typeface="微软雅黑" panose="020B0503020204020204" charset="-122"/>
              </a:rPr>
              <a:t>。需求分析的结果是否正确，关系到软件开发的成败，正确的需求分析是整个系统开发的基础。因此，需求分析过程要进行调查研究，分析和描述系统的逻辑模型，并进行复审。</a:t>
            </a:r>
          </a:p>
          <a:p>
            <a:pPr marL="285750" indent="-285750" algn="l">
              <a:lnSpc>
                <a:spcPct val="130000"/>
              </a:lnSpc>
              <a:buClrTx/>
              <a:buFont typeface="Wingdings" panose="05000000000000000000" charset="0"/>
              <a:buChar char="Ø"/>
            </a:pPr>
            <a:r>
              <a:rPr lang="zh-CN" altLang="en-US" dirty="0">
                <a:latin typeface="微软雅黑" panose="020B0503020204020204" charset="-122"/>
                <a:ea typeface="微软雅黑" panose="020B0503020204020204" charset="-122"/>
              </a:rPr>
              <a:t>需求分析是理解、分析和表达“</a:t>
            </a:r>
            <a:r>
              <a:rPr lang="zh-CN" altLang="en-US" dirty="0">
                <a:solidFill>
                  <a:srgbClr val="00B050"/>
                </a:solidFill>
                <a:latin typeface="微软雅黑" panose="020B0503020204020204" charset="-122"/>
                <a:ea typeface="微软雅黑" panose="020B0503020204020204" charset="-122"/>
              </a:rPr>
              <a:t>系统必须做什么</a:t>
            </a:r>
            <a:r>
              <a:rPr lang="zh-CN" altLang="en-US" dirty="0">
                <a:latin typeface="微软雅黑" panose="020B0503020204020204" charset="-122"/>
                <a:ea typeface="微软雅黑" panose="020B0503020204020204" charset="-122"/>
              </a:rPr>
              <a:t>”的过程。需求分析阶段并不需要马上进行具体的系统设计和需求实现，而是反复多次地对用户提出的要求进行细化，以便充分理解用户的需求。</a:t>
            </a:r>
            <a:r>
              <a:rPr lang="zh-CN" altLang="en-US" dirty="0">
                <a:solidFill>
                  <a:srgbClr val="00B050"/>
                </a:solidFill>
                <a:latin typeface="微软雅黑" panose="020B0503020204020204" charset="-122"/>
                <a:ea typeface="微软雅黑" panose="020B0503020204020204" charset="-122"/>
              </a:rPr>
              <a:t>通过分析得出对系统完整、准确、清晰、具体的要求</a:t>
            </a:r>
            <a:r>
              <a:rPr lang="zh-CN" altLang="en-US" dirty="0">
                <a:latin typeface="微软雅黑" panose="020B0503020204020204" charset="-122"/>
                <a:ea typeface="微软雅黑" panose="020B0503020204020204" charset="-122"/>
              </a:rPr>
              <a:t>。表达是通过</a:t>
            </a:r>
            <a:r>
              <a:rPr lang="zh-CN" altLang="en-US" dirty="0">
                <a:solidFill>
                  <a:srgbClr val="00B050"/>
                </a:solidFill>
                <a:latin typeface="微软雅黑" panose="020B0503020204020204" charset="-122"/>
                <a:ea typeface="微软雅黑" panose="020B0503020204020204" charset="-122"/>
              </a:rPr>
              <a:t>建立模型（简称建模）、规格说明和复审</a:t>
            </a:r>
            <a:r>
              <a:rPr lang="zh-CN" altLang="en-US" dirty="0">
                <a:latin typeface="微软雅黑" panose="020B0503020204020204" charset="-122"/>
                <a:ea typeface="微软雅黑" panose="020B0503020204020204" charset="-122"/>
              </a:rPr>
              <a:t>，说明“系统必须做什么”的过程</a:t>
            </a:r>
            <a:r>
              <a:rPr lang="zh-CN" altLang="en-US"/>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2.1</a:t>
            </a:r>
            <a:r>
              <a:rPr lang="zh-CN" altLang="zh-CN">
                <a:solidFill>
                  <a:srgbClr val="FF0000"/>
                </a:solidFill>
              </a:rPr>
              <a:t> 需求分析方法</a:t>
            </a:r>
          </a:p>
        </p:txBody>
      </p:sp>
      <p:grpSp>
        <p:nvGrpSpPr>
          <p:cNvPr id="14" name="组合 13"/>
          <p:cNvGrpSpPr/>
          <p:nvPr/>
        </p:nvGrpSpPr>
        <p:grpSpPr>
          <a:xfrm>
            <a:off x="754380" y="2124075"/>
            <a:ext cx="10518775" cy="4045585"/>
            <a:chOff x="1188" y="2985"/>
            <a:chExt cx="16565" cy="6371"/>
          </a:xfrm>
        </p:grpSpPr>
        <p:grpSp>
          <p:nvGrpSpPr>
            <p:cNvPr id="6" name="组合 5"/>
            <p:cNvGrpSpPr/>
            <p:nvPr/>
          </p:nvGrpSpPr>
          <p:grpSpPr>
            <a:xfrm>
              <a:off x="1188" y="2985"/>
              <a:ext cx="13040" cy="1533"/>
              <a:chOff x="1145" y="3666"/>
              <a:chExt cx="13040" cy="1533"/>
            </a:xfrm>
          </p:grpSpPr>
          <p:sp>
            <p:nvSpPr>
              <p:cNvPr id="7" name="Oval 5"/>
              <p:cNvSpPr/>
              <p:nvPr/>
            </p:nvSpPr>
            <p:spPr>
              <a:xfrm>
                <a:off x="1145" y="3736"/>
                <a:ext cx="1223" cy="122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9"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2562" y="4181"/>
                <a:ext cx="11623" cy="10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建立模型就是描述用户需求，可使用的工具有实体－关系图、数据流图、状态转换图、数据字典、层次图、Warnier图、IPO图等。</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建立模型</a:t>
                </a:r>
              </a:p>
            </p:txBody>
          </p:sp>
        </p:grpSp>
        <p:grpSp>
          <p:nvGrpSpPr>
            <p:cNvPr id="12" name="组合 11"/>
            <p:cNvGrpSpPr/>
            <p:nvPr/>
          </p:nvGrpSpPr>
          <p:grpSpPr>
            <a:xfrm>
              <a:off x="3828" y="7823"/>
              <a:ext cx="13925" cy="1533"/>
              <a:chOff x="6622" y="7984"/>
              <a:chExt cx="13925" cy="1533"/>
            </a:xfrm>
          </p:grpSpPr>
          <p:grpSp>
            <p:nvGrpSpPr>
              <p:cNvPr id="15" name="组合 14"/>
              <p:cNvGrpSpPr/>
              <p:nvPr/>
            </p:nvGrpSpPr>
            <p:grpSpPr>
              <a:xfrm>
                <a:off x="6622" y="7984"/>
                <a:ext cx="13925" cy="1533"/>
                <a:chOff x="1145" y="5803"/>
                <a:chExt cx="13925" cy="1533"/>
              </a:xfrm>
            </p:grpSpPr>
            <p:sp>
              <p:nvSpPr>
                <p:cNvPr id="10" name="Oval 21"/>
                <p:cNvSpPr/>
                <p:nvPr/>
              </p:nvSpPr>
              <p:spPr>
                <a:xfrm>
                  <a:off x="1145" y="5861"/>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0" name="矩形 19"/>
                <p:cNvSpPr/>
                <p:nvPr/>
              </p:nvSpPr>
              <p:spPr>
                <a:xfrm>
                  <a:off x="2562" y="6318"/>
                  <a:ext cx="12508" cy="101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复审是指需求分析的结果要经过严格的审查，以确保软件产品的质量。</a:t>
                  </a:r>
                </a:p>
                <a:p>
                  <a:pPr marL="0" marR="0" lvl="0" indent="0" algn="l" defTabSz="914400" rtl="0" eaLnBrk="1" fontAlgn="auto" latinLnBrk="0" hangingPunct="1">
                    <a:lnSpc>
                      <a:spcPct val="10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软件需求是进行软件质量度量的基础，与需求不符就是软件质量不高。</a:t>
                  </a:r>
                </a:p>
              </p:txBody>
            </p:sp>
            <p:sp>
              <p:nvSpPr>
                <p:cNvPr id="3585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复审</a:t>
                  </a:r>
                </a:p>
              </p:txBody>
            </p:sp>
          </p:grpSp>
          <p:sp>
            <p:nvSpPr>
              <p:cNvPr id="4" name="Freeform 7"/>
              <p:cNvSpPr>
                <a:spLocks noEditPoints="1"/>
              </p:cNvSpPr>
              <p:nvPr/>
            </p:nvSpPr>
            <p:spPr bwMode="auto">
              <a:xfrm>
                <a:off x="6915" y="833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nvGrpSpPr>
            <p:cNvPr id="11" name="组合 10"/>
            <p:cNvGrpSpPr/>
            <p:nvPr/>
          </p:nvGrpSpPr>
          <p:grpSpPr>
            <a:xfrm>
              <a:off x="2605" y="5139"/>
              <a:ext cx="13321" cy="2420"/>
              <a:chOff x="10037" y="3658"/>
              <a:chExt cx="13321" cy="2420"/>
            </a:xfrm>
          </p:grpSpPr>
          <p:sp>
            <p:nvSpPr>
              <p:cNvPr id="16" name="Oval 26"/>
              <p:cNvSpPr/>
              <p:nvPr/>
            </p:nvSpPr>
            <p:spPr>
              <a:xfrm>
                <a:off x="10037" y="3727"/>
                <a:ext cx="1223" cy="1223"/>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4" name="矩形 23"/>
              <p:cNvSpPr/>
              <p:nvPr/>
            </p:nvSpPr>
            <p:spPr>
              <a:xfrm>
                <a:off x="11427" y="4176"/>
                <a:ext cx="11931" cy="190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软件需求分析阶段要求用需求规格说明表达用户对系统的要求。软件需求规格说明一般含有以下内容：软件的目标，系统的数据描述、功能描述和行为描述，软件确认标准，资料目录，附录等。规格说明可用文字方式表示，也可用图形表示。</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规格说明</a:t>
                </a:r>
              </a:p>
            </p:txBody>
          </p:sp>
          <p:sp>
            <p:nvSpPr>
              <p:cNvPr id="5" name="Freeform 7"/>
              <p:cNvSpPr>
                <a:spLocks noEditPoints="1"/>
              </p:cNvSpPr>
              <p:nvPr/>
            </p:nvSpPr>
            <p:spPr bwMode="auto">
              <a:xfrm>
                <a:off x="10330" y="4018"/>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2.1.1 </a:t>
            </a:r>
            <a:r>
              <a:rPr lang="zh-CN" altLang="en-US" sz="2400" dirty="0" smtClean="0">
                <a:solidFill>
                  <a:schemeClr val="tx1"/>
                </a:solidFill>
              </a:rPr>
              <a:t>需求分析表达方式</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2.1</a:t>
            </a:r>
            <a:r>
              <a:rPr lang="zh-CN" altLang="zh-CN">
                <a:solidFill>
                  <a:srgbClr val="FF0000"/>
                </a:solidFill>
              </a:rPr>
              <a:t> 需求分析方法</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2.1.2 </a:t>
            </a:r>
            <a:r>
              <a:rPr lang="zh-CN" altLang="en-US" sz="2400" dirty="0" smtClean="0">
                <a:solidFill>
                  <a:schemeClr val="tx1"/>
                </a:solidFill>
              </a:rPr>
              <a:t>如何进行调查研究</a:t>
            </a:r>
          </a:p>
        </p:txBody>
      </p:sp>
      <p:grpSp>
        <p:nvGrpSpPr>
          <p:cNvPr id="37" name="组合 36"/>
          <p:cNvGrpSpPr/>
          <p:nvPr/>
        </p:nvGrpSpPr>
        <p:grpSpPr>
          <a:xfrm>
            <a:off x="754380" y="2123440"/>
            <a:ext cx="9889490" cy="1150620"/>
            <a:chOff x="1188" y="3092"/>
            <a:chExt cx="15574" cy="1812"/>
          </a:xfrm>
        </p:grpSpPr>
        <p:grpSp>
          <p:nvGrpSpPr>
            <p:cNvPr id="38" name="组合 37"/>
            <p:cNvGrpSpPr/>
            <p:nvPr/>
          </p:nvGrpSpPr>
          <p:grpSpPr>
            <a:xfrm>
              <a:off x="1188" y="3092"/>
              <a:ext cx="4947" cy="930"/>
              <a:chOff x="508000" y="3196191"/>
              <a:chExt cx="3141314" cy="590550"/>
            </a:xfrm>
          </p:grpSpPr>
          <p:sp>
            <p:nvSpPr>
              <p:cNvPr id="39"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1</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40" name="直接连接符 39"/>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1"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访谈</a:t>
                </a:r>
              </a:p>
            </p:txBody>
          </p:sp>
        </p:grpSp>
        <p:sp>
          <p:nvSpPr>
            <p:cNvPr id="42" name="矩形 8"/>
            <p:cNvSpPr>
              <a:spLocks noChangeArrowheads="1"/>
            </p:cNvSpPr>
            <p:nvPr/>
          </p:nvSpPr>
          <p:spPr bwMode="auto">
            <a:xfrm>
              <a:off x="1901" y="3608"/>
              <a:ext cx="14861"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访谈有正式访谈和非正式访谈。正式访谈，事先准备好具体问题，询问用户；非正式访谈，鼓励被访问人员表达想法。</a:t>
              </a:r>
            </a:p>
          </p:txBody>
        </p:sp>
      </p:grpSp>
      <p:grpSp>
        <p:nvGrpSpPr>
          <p:cNvPr id="43" name="组合 42"/>
          <p:cNvGrpSpPr/>
          <p:nvPr/>
        </p:nvGrpSpPr>
        <p:grpSpPr>
          <a:xfrm>
            <a:off x="809625" y="4504055"/>
            <a:ext cx="9940290" cy="1565910"/>
            <a:chOff x="1195" y="5840"/>
            <a:chExt cx="15654" cy="2466"/>
          </a:xfrm>
        </p:grpSpPr>
        <p:grpSp>
          <p:nvGrpSpPr>
            <p:cNvPr id="44" name="组合 43"/>
            <p:cNvGrpSpPr/>
            <p:nvPr/>
          </p:nvGrpSpPr>
          <p:grpSpPr>
            <a:xfrm>
              <a:off x="1195" y="5840"/>
              <a:ext cx="1009" cy="930"/>
              <a:chOff x="512763" y="4940853"/>
              <a:chExt cx="640566" cy="590550"/>
            </a:xfrm>
          </p:grpSpPr>
          <p:sp>
            <p:nvSpPr>
              <p:cNvPr id="45" name="TextBox 10"/>
              <p:cNvSpPr txBox="1">
                <a:spLocks noChangeArrowheads="1"/>
              </p:cNvSpPr>
              <p:nvPr/>
            </p:nvSpPr>
            <p:spPr bwMode="auto">
              <a:xfrm>
                <a:off x="512763" y="4940853"/>
                <a:ext cx="371407"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charset="-128"/>
                  </a:rPr>
                  <a:t>3</a:t>
                </a:r>
              </a:p>
            </p:txBody>
          </p:sp>
          <p:cxnSp>
            <p:nvCxnSpPr>
              <p:cNvPr id="46" name="直接连接符 4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7" name="矩形 12"/>
              <p:cNvSpPr>
                <a:spLocks noChangeArrowheads="1"/>
              </p:cNvSpPr>
              <p:nvPr/>
            </p:nvSpPr>
            <p:spPr bwMode="auto">
              <a:xfrm>
                <a:off x="960438" y="5036103"/>
                <a:ext cx="192891"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开会</a:t>
                </a:r>
              </a:p>
            </p:txBody>
          </p:sp>
        </p:grpSp>
        <p:sp>
          <p:nvSpPr>
            <p:cNvPr id="48" name="矩形 9"/>
            <p:cNvSpPr>
              <a:spLocks noChangeArrowheads="1"/>
            </p:cNvSpPr>
            <p:nvPr/>
          </p:nvSpPr>
          <p:spPr bwMode="auto">
            <a:xfrm>
              <a:off x="1900" y="6665"/>
              <a:ext cx="14949" cy="16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可采用“开会—讨论—确认”的方法进行调查。开会之前，要让每位与会者做好充分的准备。开会时，用户和开发者共同合作，标识问题，提出解决方案的要素，商讨不同的方法，最后确定软件的基本需求。</a:t>
              </a:r>
            </a:p>
          </p:txBody>
        </p:sp>
      </p:grpSp>
      <p:grpSp>
        <p:nvGrpSpPr>
          <p:cNvPr id="49" name="组合 48"/>
          <p:cNvGrpSpPr/>
          <p:nvPr/>
        </p:nvGrpSpPr>
        <p:grpSpPr>
          <a:xfrm>
            <a:off x="754380" y="3274060"/>
            <a:ext cx="9995535" cy="1126490"/>
            <a:chOff x="1195" y="5840"/>
            <a:chExt cx="15741" cy="1774"/>
          </a:xfrm>
        </p:grpSpPr>
        <p:grpSp>
          <p:nvGrpSpPr>
            <p:cNvPr id="50" name="组合 49"/>
            <p:cNvGrpSpPr/>
            <p:nvPr/>
          </p:nvGrpSpPr>
          <p:grpSpPr>
            <a:xfrm>
              <a:off x="1195" y="5840"/>
              <a:ext cx="2845" cy="930"/>
              <a:chOff x="512763" y="4940853"/>
              <a:chExt cx="1806374" cy="590550"/>
            </a:xfrm>
          </p:grpSpPr>
          <p:sp>
            <p:nvSpPr>
              <p:cNvPr id="51" name="TextBox 10"/>
              <p:cNvSpPr txBox="1">
                <a:spLocks noChangeArrowheads="1"/>
              </p:cNvSpPr>
              <p:nvPr/>
            </p:nvSpPr>
            <p:spPr bwMode="auto">
              <a:xfrm>
                <a:off x="512763" y="4940853"/>
                <a:ext cx="361235"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2</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52" name="直接连接符 5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53" name="矩形 12"/>
              <p:cNvSpPr>
                <a:spLocks noChangeArrowheads="1"/>
              </p:cNvSpPr>
              <p:nvPr/>
            </p:nvSpPr>
            <p:spPr bwMode="auto">
              <a:xfrm>
                <a:off x="960438" y="5036103"/>
                <a:ext cx="135869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分发调查问卷</a:t>
                </a:r>
              </a:p>
            </p:txBody>
          </p:sp>
        </p:grpSp>
        <p:sp>
          <p:nvSpPr>
            <p:cNvPr id="54" name="矩形 9"/>
            <p:cNvSpPr>
              <a:spLocks noChangeArrowheads="1"/>
            </p:cNvSpPr>
            <p:nvPr/>
          </p:nvSpPr>
          <p:spPr bwMode="auto">
            <a:xfrm>
              <a:off x="1938" y="6472"/>
              <a:ext cx="14998"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fontAlgn="auto">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调查表中列出需要的内容，让用户书面回答问题。书面回答经过仔细思考，可能回答得更准确。但是调查表的回收率往往不是很高。在需要做大量调查研究时，才采用分发调查表的方法。</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2.1</a:t>
            </a:r>
            <a:r>
              <a:rPr lang="zh-CN" altLang="zh-CN">
                <a:solidFill>
                  <a:srgbClr val="FF0000"/>
                </a:solidFill>
              </a:rPr>
              <a:t> 需求分析方法</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2.1.3 </a:t>
            </a:r>
            <a:r>
              <a:rPr lang="zh-CN" altLang="en-US" sz="2400" dirty="0" smtClean="0">
                <a:solidFill>
                  <a:schemeClr val="tx1"/>
                </a:solidFill>
              </a:rPr>
              <a:t>确定系统需求</a:t>
            </a:r>
          </a:p>
        </p:txBody>
      </p:sp>
      <p:grpSp>
        <p:nvGrpSpPr>
          <p:cNvPr id="31" name="组合 30"/>
          <p:cNvGrpSpPr/>
          <p:nvPr/>
        </p:nvGrpSpPr>
        <p:grpSpPr>
          <a:xfrm>
            <a:off x="754380" y="2296160"/>
            <a:ext cx="5060315" cy="3221355"/>
            <a:chOff x="6195" y="2828"/>
            <a:chExt cx="7969" cy="5073"/>
          </a:xfrm>
        </p:grpSpPr>
        <p:grpSp>
          <p:nvGrpSpPr>
            <p:cNvPr id="17" name="组合 16"/>
            <p:cNvGrpSpPr/>
            <p:nvPr/>
          </p:nvGrpSpPr>
          <p:grpSpPr>
            <a:xfrm>
              <a:off x="6195" y="2828"/>
              <a:ext cx="4947" cy="930"/>
              <a:chOff x="508000" y="3196191"/>
              <a:chExt cx="3141314"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1</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291441"/>
                <a:ext cx="268887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系统的运行环境要求</a:t>
                </a:r>
              </a:p>
            </p:txBody>
          </p:sp>
        </p:grpSp>
        <p:sp>
          <p:nvSpPr>
            <p:cNvPr id="26" name="矩形 8"/>
            <p:cNvSpPr>
              <a:spLocks noChangeArrowheads="1"/>
            </p:cNvSpPr>
            <p:nvPr/>
          </p:nvSpPr>
          <p:spPr bwMode="auto">
            <a:xfrm>
              <a:off x="6908" y="3563"/>
              <a:ext cx="7256" cy="43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lvl="0" indent="0" fontAlgn="auto">
                <a:lnSpc>
                  <a:spcPct val="120000"/>
                </a:lnSpc>
                <a:spcBef>
                  <a:spcPct val="0"/>
                </a:spcBef>
                <a:buNone/>
              </a:pPr>
              <a:r>
                <a:rPr lang="en-US" sz="1600" dirty="0">
                  <a:latin typeface="微软雅黑" panose="020B0503020204020204" charset="-122"/>
                  <a:ea typeface="微软雅黑" panose="020B0503020204020204" charset="-122"/>
                  <a:sym typeface="+mn-ea"/>
                </a:rPr>
                <a:t>       </a:t>
              </a:r>
              <a:r>
                <a:rPr sz="1600" dirty="0">
                  <a:latin typeface="微软雅黑" panose="020B0503020204020204" charset="-122"/>
                  <a:ea typeface="微软雅黑" panose="020B0503020204020204" charset="-122"/>
                  <a:sym typeface="+mn-ea"/>
                </a:rPr>
                <a:t>系统的运行环境要求包括硬件环境要求和软件环境要求两方面。</a:t>
              </a:r>
            </a:p>
            <a:p>
              <a:pPr marL="0" lvl="0" indent="0" fontAlgn="auto">
                <a:lnSpc>
                  <a:spcPct val="120000"/>
                </a:lnSpc>
                <a:spcBef>
                  <a:spcPct val="0"/>
                </a:spcBef>
                <a:buNone/>
              </a:pPr>
              <a:r>
                <a:rPr sz="1600" dirty="0">
                  <a:latin typeface="微软雅黑" panose="020B0503020204020204" charset="-122"/>
                  <a:ea typeface="微软雅黑" panose="020B0503020204020204" charset="-122"/>
                  <a:sym typeface="+mn-ea"/>
                </a:rPr>
                <a:t>       硬件环境要求是指对外存储器种类、数据输入方式、数据通信接口等的要求。</a:t>
              </a:r>
            </a:p>
            <a:p>
              <a:pPr marL="0" lvl="0" indent="0" fontAlgn="auto">
                <a:lnSpc>
                  <a:spcPct val="120000"/>
                </a:lnSpc>
                <a:spcBef>
                  <a:spcPct val="0"/>
                </a:spcBef>
                <a:buNone/>
              </a:pPr>
              <a:r>
                <a:rPr sz="1600" dirty="0">
                  <a:latin typeface="微软雅黑" panose="020B0503020204020204" charset="-122"/>
                  <a:ea typeface="微软雅黑" panose="020B0503020204020204" charset="-122"/>
                  <a:sym typeface="+mn-ea"/>
                </a:rPr>
                <a:t>       软件环境要求是指对操作系统、网络软件、数据库管理系统、中间件、多媒体信息处理软件等的要求。</a:t>
              </a:r>
            </a:p>
          </p:txBody>
        </p:sp>
      </p:grpSp>
      <p:grpSp>
        <p:nvGrpSpPr>
          <p:cNvPr id="27" name="组合 26"/>
          <p:cNvGrpSpPr/>
          <p:nvPr/>
        </p:nvGrpSpPr>
        <p:grpSpPr>
          <a:xfrm>
            <a:off x="754380" y="4850130"/>
            <a:ext cx="4885055" cy="1122045"/>
            <a:chOff x="7327" y="4130"/>
            <a:chExt cx="7693" cy="1767"/>
          </a:xfrm>
        </p:grpSpPr>
        <p:sp>
          <p:nvSpPr>
            <p:cNvPr id="28" name="矩形 9"/>
            <p:cNvSpPr>
              <a:spLocks noChangeArrowheads="1"/>
            </p:cNvSpPr>
            <p:nvPr/>
          </p:nvSpPr>
          <p:spPr bwMode="auto">
            <a:xfrm>
              <a:off x="8257" y="4755"/>
              <a:ext cx="6763"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系统的性能要求，是指系统所需的存储容量、安全性、可靠性、期望的响应时间等。</a:t>
              </a:r>
            </a:p>
          </p:txBody>
        </p:sp>
        <p:grpSp>
          <p:nvGrpSpPr>
            <p:cNvPr id="29" name="组合 28"/>
            <p:cNvGrpSpPr/>
            <p:nvPr/>
          </p:nvGrpSpPr>
          <p:grpSpPr>
            <a:xfrm>
              <a:off x="7327" y="4130"/>
              <a:ext cx="4349" cy="930"/>
              <a:chOff x="512763" y="4940853"/>
              <a:chExt cx="2761382" cy="590550"/>
            </a:xfrm>
          </p:grpSpPr>
          <p:sp>
            <p:nvSpPr>
              <p:cNvPr id="30" name="TextBox 10"/>
              <p:cNvSpPr txBox="1">
                <a:spLocks noChangeArrowheads="1"/>
              </p:cNvSpPr>
              <p:nvPr/>
            </p:nvSpPr>
            <p:spPr bwMode="auto">
              <a:xfrm>
                <a:off x="512763" y="4940853"/>
                <a:ext cx="361316"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2</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32" name="直接连接符 31"/>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3" name="矩形 12"/>
              <p:cNvSpPr>
                <a:spLocks noChangeArrowheads="1"/>
              </p:cNvSpPr>
              <p:nvPr/>
            </p:nvSpPr>
            <p:spPr bwMode="auto">
              <a:xfrm>
                <a:off x="960438" y="5036103"/>
                <a:ext cx="231370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dirty="0">
                    <a:solidFill>
                      <a:srgbClr val="E67819"/>
                    </a:solidFill>
                    <a:latin typeface="微软雅黑" panose="020B0503020204020204" charset="-122"/>
                    <a:ea typeface="微软雅黑" panose="020B0503020204020204" charset="-122"/>
                  </a:rPr>
                  <a:t>系统的性能要求</a:t>
                </a:r>
              </a:p>
            </p:txBody>
          </p:sp>
        </p:grpSp>
      </p:grpSp>
      <p:grpSp>
        <p:nvGrpSpPr>
          <p:cNvPr id="34" name="组合 33"/>
          <p:cNvGrpSpPr/>
          <p:nvPr/>
        </p:nvGrpSpPr>
        <p:grpSpPr>
          <a:xfrm>
            <a:off x="5982335" y="2391410"/>
            <a:ext cx="5496560" cy="1080770"/>
            <a:chOff x="6027" y="6717"/>
            <a:chExt cx="8656" cy="1702"/>
          </a:xfrm>
        </p:grpSpPr>
        <p:grpSp>
          <p:nvGrpSpPr>
            <p:cNvPr id="35" name="组合 34"/>
            <p:cNvGrpSpPr/>
            <p:nvPr/>
          </p:nvGrpSpPr>
          <p:grpSpPr>
            <a:xfrm>
              <a:off x="6027" y="6717"/>
              <a:ext cx="1462" cy="930"/>
              <a:chOff x="512763" y="4940853"/>
              <a:chExt cx="928490" cy="590550"/>
            </a:xfrm>
          </p:grpSpPr>
          <p:sp>
            <p:nvSpPr>
              <p:cNvPr id="36" name="TextBox 10"/>
              <p:cNvSpPr txBox="1">
                <a:spLocks noChangeArrowheads="1"/>
              </p:cNvSpPr>
              <p:nvPr/>
            </p:nvSpPr>
            <p:spPr bwMode="auto">
              <a:xfrm>
                <a:off x="512763" y="4940853"/>
                <a:ext cx="371580"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3</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37" name="直接连接符 36"/>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8" name="矩形 12"/>
              <p:cNvSpPr>
                <a:spLocks noChangeArrowheads="1"/>
              </p:cNvSpPr>
              <p:nvPr/>
            </p:nvSpPr>
            <p:spPr bwMode="auto">
              <a:xfrm>
                <a:off x="960438" y="5036103"/>
                <a:ext cx="48081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dirty="0">
                    <a:solidFill>
                      <a:srgbClr val="E67819"/>
                    </a:solidFill>
                    <a:latin typeface="微软雅黑" panose="020B0503020204020204" charset="-122"/>
                    <a:ea typeface="微软雅黑" panose="020B0503020204020204" charset="-122"/>
                  </a:rPr>
                  <a:t>系统功能</a:t>
                </a:r>
              </a:p>
            </p:txBody>
          </p:sp>
        </p:grpSp>
        <p:sp>
          <p:nvSpPr>
            <p:cNvPr id="39" name="矩形 9"/>
            <p:cNvSpPr>
              <a:spLocks noChangeArrowheads="1"/>
            </p:cNvSpPr>
            <p:nvPr/>
          </p:nvSpPr>
          <p:spPr bwMode="auto">
            <a:xfrm>
              <a:off x="6957" y="7277"/>
              <a:ext cx="7726"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       确定目标系统必须具备的所有功能，系统功能的限制条件和设计约束。</a:t>
              </a:r>
            </a:p>
          </p:txBody>
        </p:sp>
      </p:grpSp>
      <p:grpSp>
        <p:nvGrpSpPr>
          <p:cNvPr id="63" name="组合 62"/>
          <p:cNvGrpSpPr/>
          <p:nvPr/>
        </p:nvGrpSpPr>
        <p:grpSpPr>
          <a:xfrm>
            <a:off x="5982335" y="4264025"/>
            <a:ext cx="5497830" cy="1747520"/>
            <a:chOff x="6027" y="6717"/>
            <a:chExt cx="8658" cy="2752"/>
          </a:xfrm>
        </p:grpSpPr>
        <p:grpSp>
          <p:nvGrpSpPr>
            <p:cNvPr id="64" name="组合 63"/>
            <p:cNvGrpSpPr/>
            <p:nvPr/>
          </p:nvGrpSpPr>
          <p:grpSpPr>
            <a:xfrm>
              <a:off x="6027" y="6717"/>
              <a:ext cx="5328" cy="930"/>
              <a:chOff x="512763" y="4940853"/>
              <a:chExt cx="3383675" cy="590550"/>
            </a:xfrm>
          </p:grpSpPr>
          <p:sp>
            <p:nvSpPr>
              <p:cNvPr id="65" name="TextBox 10"/>
              <p:cNvSpPr txBox="1">
                <a:spLocks noChangeArrowheads="1"/>
              </p:cNvSpPr>
              <p:nvPr/>
            </p:nvSpPr>
            <p:spPr bwMode="auto">
              <a:xfrm>
                <a:off x="512763" y="4940853"/>
                <a:ext cx="360727"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4</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66" name="直接连接符 65"/>
              <p:cNvCxnSpPr/>
              <p:nvPr/>
            </p:nvCxnSpPr>
            <p:spPr>
              <a:xfrm flipH="1">
                <a:off x="512763" y="494085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67" name="矩形 12"/>
              <p:cNvSpPr>
                <a:spLocks noChangeArrowheads="1"/>
              </p:cNvSpPr>
              <p:nvPr/>
            </p:nvSpPr>
            <p:spPr bwMode="auto">
              <a:xfrm>
                <a:off x="960438" y="5036103"/>
                <a:ext cx="2936000"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b="1" dirty="0">
                    <a:solidFill>
                      <a:srgbClr val="E67819"/>
                    </a:solidFill>
                    <a:latin typeface="微软雅黑" panose="020B0503020204020204" charset="-122"/>
                    <a:ea typeface="微软雅黑" panose="020B0503020204020204" charset="-122"/>
                  </a:rPr>
                  <a:t>接口需求</a:t>
                </a:r>
              </a:p>
            </p:txBody>
          </p:sp>
        </p:grpSp>
        <p:sp>
          <p:nvSpPr>
            <p:cNvPr id="68" name="矩形 9"/>
            <p:cNvSpPr>
              <a:spLocks noChangeArrowheads="1"/>
            </p:cNvSpPr>
            <p:nvPr/>
          </p:nvSpPr>
          <p:spPr bwMode="auto">
            <a:xfrm>
              <a:off x="6957" y="7329"/>
              <a:ext cx="7728" cy="2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       接口需求描述系统与其环境的通信的格式。常见的接口需求有用户接口需求、硬件接口需求、软件接口需求、通信接口需求等。例如，嵌入式系统与仪器、仪表、传感器等的接口需求。</a:t>
              </a:r>
            </a:p>
          </p:txBody>
        </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2.1</a:t>
            </a:r>
            <a:r>
              <a:rPr lang="zh-CN" altLang="zh-CN">
                <a:solidFill>
                  <a:srgbClr val="FF0000"/>
                </a:solidFill>
                <a:sym typeface="+mn-ea"/>
              </a:rPr>
              <a:t> 需求分析方法</a:t>
            </a:r>
            <a:endParaRPr lang="zh-CN" altLang="en-US"/>
          </a:p>
        </p:txBody>
      </p:sp>
      <p:grpSp>
        <p:nvGrpSpPr>
          <p:cNvPr id="2" name="组合 1"/>
          <p:cNvGrpSpPr/>
          <p:nvPr/>
        </p:nvGrpSpPr>
        <p:grpSpPr>
          <a:xfrm>
            <a:off x="809625" y="1403350"/>
            <a:ext cx="10575290" cy="4542790"/>
            <a:chOff x="1275" y="2210"/>
            <a:chExt cx="16654" cy="7154"/>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1500" y="3150"/>
              <a:ext cx="16429" cy="6214"/>
              <a:chOff x="1500" y="3150"/>
              <a:chExt cx="16429" cy="6214"/>
            </a:xfrm>
          </p:grpSpPr>
          <p:sp>
            <p:nvSpPr>
              <p:cNvPr id="22" name="TextBox 21"/>
              <p:cNvSpPr txBox="1"/>
              <p:nvPr/>
            </p:nvSpPr>
            <p:spPr>
              <a:xfrm>
                <a:off x="3298" y="3420"/>
                <a:ext cx="13522" cy="624"/>
              </a:xfrm>
              <a:prstGeom prst="rect">
                <a:avLst/>
              </a:prstGeom>
              <a:noFill/>
            </p:spPr>
            <p:txBody>
              <a:bodyPr wrap="square">
                <a:spAutoFit/>
              </a:bodyPr>
              <a:lstStyle/>
              <a:p>
                <a:r>
                  <a:rPr sz="2000" dirty="0" smtClean="0">
                    <a:sym typeface="+mn-ea"/>
                  </a:rPr>
                  <a:t>对某高校医疗费管理系统进行需求分析</a:t>
                </a:r>
              </a:p>
            </p:txBody>
          </p:sp>
          <p:sp>
            <p:nvSpPr>
              <p:cNvPr id="24" name="矩形 23"/>
              <p:cNvSpPr>
                <a:spLocks noChangeAspect="1"/>
              </p:cNvSpPr>
              <p:nvPr/>
            </p:nvSpPr>
            <p:spPr>
              <a:xfrm>
                <a:off x="1500" y="4275"/>
                <a:ext cx="16429" cy="508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2-1</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04" y="4453"/>
                <a:ext cx="15536" cy="4744"/>
              </a:xfrm>
              <a:prstGeom prst="rect">
                <a:avLst/>
              </a:prstGeom>
              <a:solidFill>
                <a:schemeClr val="bg1">
                  <a:lumMod val="95000"/>
                </a:schemeClr>
              </a:solidFill>
            </p:spPr>
            <p:txBody>
              <a:bodyPr wrap="square">
                <a:spAutoFit/>
              </a:bodyPr>
              <a:lstStyle/>
              <a:p>
                <a:pPr fontAlgn="auto">
                  <a:lnSpc>
                    <a:spcPct val="120000"/>
                  </a:lnSpc>
                </a:pPr>
                <a:r>
                  <a:rPr lang="en-US" sz="1600" dirty="0" smtClean="0">
                    <a:latin typeface="Times New Roman" panose="02020603050405020304" charset="0"/>
                    <a:ea typeface="宋体" panose="02010600030101010101" pitchFamily="2" charset="-122"/>
                  </a:rPr>
                  <a:t>        </a:t>
                </a:r>
                <a:r>
                  <a:rPr sz="1600" dirty="0" smtClean="0">
                    <a:latin typeface="Times New Roman" panose="02020603050405020304" charset="0"/>
                    <a:ea typeface="宋体" panose="02010600030101010101" pitchFamily="2" charset="-122"/>
                  </a:rPr>
                  <a:t>某高校医疗费分为校内门诊费、校外门诊费、住院费和子女医疗费4种。系统要求在数据库中存放每个职工的职工号、姓名、所属部门。职工报销医疗费时填写所属部门、职工号、姓名、日期、医疗费类别和金额。该校规定，每年每个职工的医疗费有一个限额（如1 000元），限额在年初时确定。每个职工一年内报销的医疗费，不超过限额时可全部报销；超过限额时，超出部分只可报销90%，其余10%由职工个人承担。职工子女的医疗费也有限额（如240元），超出部分只可报销50%。</a:t>
                </a:r>
              </a:p>
              <a:p>
                <a:pPr fontAlgn="auto">
                  <a:lnSpc>
                    <a:spcPct val="120000"/>
                  </a:lnSpc>
                </a:pPr>
                <a:r>
                  <a:rPr sz="1600" dirty="0" smtClean="0">
                    <a:latin typeface="Times New Roman" panose="02020603050405020304" charset="0"/>
                    <a:ea typeface="宋体" panose="02010600030101010101" pitchFamily="2" charset="-122"/>
                  </a:rPr>
                  <a:t>        医疗费管理系统每天记录当天报销的若干职工或职工子女的医疗费的类别和金额。在当天下班前，让系统自动结账、统计当天报销的医疗费总额，供出纳员核对。每笔账要保存备查，每天所报销的费用要和各个职工已报销的金额累计起来，以便检查哪些职工已超额；系统要配有适当的查询功能。年终结算后，下一年度开始时，要对数据库文件进行初始化，每位职工当年的医疗费余额作为历年账户的余额，新年度的医疗费限额作为新年度的余额。职工调离本单位、调入本单位或在本单位各部门间调动，数据库文件要及时修改。</a:t>
                </a:r>
              </a:p>
            </p:txBody>
          </p:sp>
        </p:grpSp>
      </p:gr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2.1</a:t>
            </a:r>
            <a:r>
              <a:rPr lang="zh-CN" altLang="zh-CN">
                <a:solidFill>
                  <a:srgbClr val="FF0000"/>
                </a:solidFill>
                <a:sym typeface="+mn-ea"/>
              </a:rPr>
              <a:t> 需求分析方法</a:t>
            </a:r>
            <a:endParaRPr lang="zh-CN" altLang="en-US">
              <a:solidFill>
                <a:srgbClr val="FF0000"/>
              </a:solidFill>
              <a:sym typeface="+mn-ea"/>
            </a:endParaRPr>
          </a:p>
        </p:txBody>
      </p:sp>
      <p:grpSp>
        <p:nvGrpSpPr>
          <p:cNvPr id="6" name="组合 5"/>
          <p:cNvGrpSpPr/>
          <p:nvPr/>
        </p:nvGrpSpPr>
        <p:grpSpPr>
          <a:xfrm>
            <a:off x="754380" y="1980565"/>
            <a:ext cx="10638155" cy="3878580"/>
            <a:chOff x="1236" y="3119"/>
            <a:chExt cx="16753" cy="6108"/>
          </a:xfrm>
        </p:grpSpPr>
        <p:sp>
          <p:nvSpPr>
            <p:cNvPr id="7" name="文本框 6"/>
            <p:cNvSpPr txBox="1"/>
            <p:nvPr/>
          </p:nvSpPr>
          <p:spPr>
            <a:xfrm>
              <a:off x="1236" y="3628"/>
              <a:ext cx="720" cy="5184"/>
            </a:xfrm>
            <a:prstGeom prst="rect">
              <a:avLst/>
            </a:prstGeom>
            <a:noFill/>
          </p:spPr>
          <p:txBody>
            <a:bodyPr vert="eaVert" wrap="none" rtlCol="0">
              <a:spAutoFit/>
            </a:bodyPr>
            <a:lstStyle/>
            <a:p>
              <a:pPr algn="l"/>
              <a:r>
                <a:rPr dirty="0" smtClean="0">
                  <a:solidFill>
                    <a:schemeClr val="bg1"/>
                  </a:solidFill>
                  <a:sym typeface="+mn-ea"/>
                </a:rPr>
                <a:t>某高校医疗费管理系统需求分析</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14" name="TextBox 6"/>
            <p:cNvSpPr txBox="1"/>
            <p:nvPr/>
          </p:nvSpPr>
          <p:spPr>
            <a:xfrm>
              <a:off x="2215" y="3119"/>
              <a:ext cx="10322" cy="2639"/>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rPr>
                <a:t>（1）系统的运行环境要求。</a:t>
              </a:r>
            </a:p>
            <a:p>
              <a:pPr>
                <a:lnSpc>
                  <a:spcPct val="130000"/>
                </a:lnSpc>
              </a:pPr>
              <a:r>
                <a:rPr lang="zh-CN" altLang="en-US" sz="1600" dirty="0">
                  <a:latin typeface="微软雅黑" panose="020B0503020204020204" charset="-122"/>
                  <a:ea typeface="微软雅黑" panose="020B0503020204020204" charset="-122"/>
                </a:rPr>
                <a:t>      </a:t>
              </a:r>
              <a:r>
                <a:rPr lang="zh-CN" altLang="en-US" sz="1600" dirty="0">
                  <a:solidFill>
                    <a:srgbClr val="0070C0"/>
                  </a:solidFill>
                  <a:latin typeface="微软雅黑" panose="020B0503020204020204" charset="-122"/>
                  <a:ea typeface="微软雅黑" panose="020B0503020204020204" charset="-122"/>
                </a:rPr>
                <a:t> 该系统的规模不太大，可以和用户单位的财务管理系统使用相同的计算机硬件设备、操作系统和数据库管理系统</a:t>
              </a:r>
              <a:r>
                <a:rPr lang="zh-CN" altLang="en-US" sz="1600" dirty="0">
                  <a:latin typeface="微软雅黑" panose="020B0503020204020204" charset="-122"/>
                  <a:ea typeface="微软雅黑" panose="020B0503020204020204" charset="-122"/>
                </a:rPr>
                <a:t>。在使用数据库管理系统建立数据库结构时，如果用英文来定义字段名，则应在数据字典中说明各字段名所对应的中文含义。</a:t>
              </a:r>
            </a:p>
          </p:txBody>
        </p:sp>
        <p:sp>
          <p:nvSpPr>
            <p:cNvPr id="15" name="TextBox 6"/>
            <p:cNvSpPr txBox="1"/>
            <p:nvPr/>
          </p:nvSpPr>
          <p:spPr>
            <a:xfrm>
              <a:off x="2215" y="5590"/>
              <a:ext cx="15774" cy="3637"/>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sym typeface="+mn-ea"/>
                </a:rPr>
                <a:t>（2）系统的性能要求。</a:t>
              </a:r>
            </a:p>
            <a:p>
              <a:pPr>
                <a:lnSpc>
                  <a:spcPct val="130000"/>
                </a:lnSpc>
              </a:pPr>
              <a:r>
                <a:rPr lang="zh-CN" altLang="en-US" sz="1600" dirty="0">
                  <a:latin typeface="微软雅黑" panose="020B0503020204020204" charset="-122"/>
                  <a:ea typeface="微软雅黑" panose="020B0503020204020204" charset="-122"/>
                  <a:sym typeface="+mn-ea"/>
                </a:rPr>
                <a:t>       由于医疗费管理系统涉及会计经费问题，数据不能随意更改，但</a:t>
              </a:r>
            </a:p>
            <a:p>
              <a:pPr>
                <a:lnSpc>
                  <a:spcPct val="130000"/>
                </a:lnSpc>
              </a:pPr>
              <a:r>
                <a:rPr lang="zh-CN" altLang="en-US" sz="1600" dirty="0">
                  <a:latin typeface="微软雅黑" panose="020B0503020204020204" charset="-122"/>
                  <a:ea typeface="微软雅黑" panose="020B0503020204020204" charset="-122"/>
                  <a:sym typeface="+mn-ea"/>
                </a:rPr>
                <a:t>数据输入时又难免会出错。因而在每输入一位职工的医疗费后，系统</a:t>
              </a:r>
            </a:p>
            <a:p>
              <a:pPr>
                <a:lnSpc>
                  <a:spcPct val="130000"/>
                </a:lnSpc>
              </a:pPr>
              <a:r>
                <a:rPr lang="zh-CN" altLang="en-US" sz="1600" dirty="0">
                  <a:latin typeface="微软雅黑" panose="020B0503020204020204" charset="-122"/>
                  <a:ea typeface="微软雅黑" panose="020B0503020204020204" charset="-122"/>
                  <a:sym typeface="+mn-ea"/>
                </a:rPr>
                <a:t>屏幕应提示“数据有误吗？”，若有误可及时更改，避免输入数据出</a:t>
              </a:r>
            </a:p>
            <a:p>
              <a:pPr>
                <a:lnSpc>
                  <a:spcPct val="130000"/>
                </a:lnSpc>
              </a:pPr>
              <a:r>
                <a:rPr lang="zh-CN" altLang="en-US" sz="1600" dirty="0">
                  <a:latin typeface="微软雅黑" panose="020B0503020204020204" charset="-122"/>
                  <a:ea typeface="微软雅黑" panose="020B0503020204020204" charset="-122"/>
                  <a:sym typeface="+mn-ea"/>
                </a:rPr>
                <a:t>错。每天报销工作结束时，应让出纳员核对一下经费总额。若有数据有误。这时可让计算机显示出每笔报销账目，供相关人员仔细核对，此时计算机系统可提示再允许修改一次。正式登记账目后，输入的数据就不允许修改了，由此来</a:t>
              </a:r>
              <a:r>
                <a:rPr lang="zh-CN" altLang="en-US" sz="1600" dirty="0">
                  <a:solidFill>
                    <a:srgbClr val="0070C0"/>
                  </a:solidFill>
                  <a:latin typeface="微软雅黑" panose="020B0503020204020204" charset="-122"/>
                  <a:ea typeface="微软雅黑" panose="020B0503020204020204" charset="-122"/>
                  <a:sym typeface="+mn-ea"/>
                </a:rPr>
                <a:t>保证财务制度的严格性，并保证数据的安全性</a:t>
              </a:r>
              <a:r>
                <a:rPr lang="zh-CN" altLang="en-US" sz="1600" dirty="0">
                  <a:latin typeface="微软雅黑" panose="020B0503020204020204" charset="-122"/>
                  <a:ea typeface="微软雅黑" panose="020B0503020204020204" charset="-122"/>
                  <a:sym typeface="+mn-ea"/>
                </a:rPr>
                <a:t>。</a:t>
              </a:r>
            </a:p>
          </p:txBody>
        </p:sp>
      </p:gr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例</a:t>
              </a:r>
              <a:r>
                <a:rPr kumimoji="0" lang="en-US"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2-1</a:t>
              </a:r>
            </a:p>
          </p:txBody>
        </p:sp>
      </p:grpSp>
      <p:pic>
        <p:nvPicPr>
          <p:cNvPr id="4" name="图片 3" descr="A000220150322F25PPIC"/>
          <p:cNvPicPr>
            <a:picLocks noChangeAspect="1"/>
          </p:cNvPicPr>
          <p:nvPr/>
        </p:nvPicPr>
        <p:blipFill>
          <a:blip r:embed="rId2" cstate="print"/>
          <a:stretch>
            <a:fillRect/>
          </a:stretch>
        </p:blipFill>
        <p:spPr>
          <a:xfrm>
            <a:off x="7930515" y="1889125"/>
            <a:ext cx="3750945" cy="270446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2.1</a:t>
            </a:r>
            <a:r>
              <a:rPr lang="zh-CN" altLang="zh-CN">
                <a:solidFill>
                  <a:srgbClr val="FF0000"/>
                </a:solidFill>
                <a:sym typeface="+mn-ea"/>
              </a:rPr>
              <a:t> 需求分析方法</a:t>
            </a:r>
            <a:endParaRPr lang="zh-CN" altLang="en-US">
              <a:solidFill>
                <a:srgbClr val="FF0000"/>
              </a:solidFill>
              <a:sym typeface="+mn-ea"/>
            </a:endParaRPr>
          </a:p>
        </p:txBody>
      </p:sp>
      <p:grpSp>
        <p:nvGrpSpPr>
          <p:cNvPr id="6" name="组合 5"/>
          <p:cNvGrpSpPr/>
          <p:nvPr/>
        </p:nvGrpSpPr>
        <p:grpSpPr>
          <a:xfrm>
            <a:off x="754380" y="1980565"/>
            <a:ext cx="11078845" cy="3750945"/>
            <a:chOff x="1236" y="3119"/>
            <a:chExt cx="17447" cy="5907"/>
          </a:xfrm>
        </p:grpSpPr>
        <p:sp>
          <p:nvSpPr>
            <p:cNvPr id="7" name="文本框 6"/>
            <p:cNvSpPr txBox="1"/>
            <p:nvPr/>
          </p:nvSpPr>
          <p:spPr>
            <a:xfrm>
              <a:off x="1236" y="3628"/>
              <a:ext cx="720" cy="5184"/>
            </a:xfrm>
            <a:prstGeom prst="rect">
              <a:avLst/>
            </a:prstGeom>
            <a:noFill/>
          </p:spPr>
          <p:txBody>
            <a:bodyPr vert="eaVert" wrap="none" rtlCol="0">
              <a:spAutoFit/>
            </a:bodyPr>
            <a:lstStyle/>
            <a:p>
              <a:pPr algn="l"/>
              <a:r>
                <a:rPr dirty="0" smtClean="0">
                  <a:solidFill>
                    <a:schemeClr val="bg1"/>
                  </a:solidFill>
                  <a:sym typeface="+mn-ea"/>
                </a:rPr>
                <a:t>某高校医疗费管理系统需求分析</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14" name="TextBox 6"/>
            <p:cNvSpPr txBox="1"/>
            <p:nvPr/>
          </p:nvSpPr>
          <p:spPr>
            <a:xfrm>
              <a:off x="2215" y="3119"/>
              <a:ext cx="10148" cy="3674"/>
            </a:xfrm>
            <a:prstGeom prst="rect">
              <a:avLst/>
            </a:prstGeom>
            <a:noFill/>
          </p:spPr>
          <p:txBody>
            <a:bodyPr wrap="square" rtlCol="0">
              <a:spAutoFit/>
            </a:bodyPr>
            <a:lstStyle/>
            <a:p>
              <a:pPr>
                <a:lnSpc>
                  <a:spcPct val="130000"/>
                </a:lnSpc>
              </a:pPr>
              <a:r>
                <a:rPr lang="zh-CN" altLang="en-US" sz="1600" dirty="0">
                  <a:latin typeface="微软雅黑" panose="020B0503020204020204" charset="-122"/>
                  <a:ea typeface="微软雅黑" panose="020B0503020204020204" charset="-122"/>
                </a:rPr>
                <a:t>（3）系统功能。</a:t>
              </a:r>
            </a:p>
            <a:p>
              <a:pPr>
                <a:lnSpc>
                  <a:spcPct val="130000"/>
                </a:lnSpc>
              </a:pPr>
              <a:r>
                <a:rPr lang="zh-CN" altLang="en-US" sz="1600" dirty="0">
                  <a:latin typeface="微软雅黑" panose="020B0503020204020204" charset="-122"/>
                  <a:ea typeface="微软雅黑" panose="020B0503020204020204" charset="-122"/>
                </a:rPr>
                <a:t>       为方便用户使用，可设计</a:t>
              </a:r>
              <a:r>
                <a:rPr lang="zh-CN" altLang="en-US" sz="1600" dirty="0">
                  <a:solidFill>
                    <a:srgbClr val="0070C0"/>
                  </a:solidFill>
                  <a:latin typeface="微软雅黑" panose="020B0503020204020204" charset="-122"/>
                  <a:ea typeface="微软雅黑" panose="020B0503020204020204" charset="-122"/>
                </a:rPr>
                <a:t>表格形式</a:t>
              </a:r>
              <a:r>
                <a:rPr lang="zh-CN" altLang="en-US" sz="1600" dirty="0">
                  <a:latin typeface="微软雅黑" panose="020B0503020204020204" charset="-122"/>
                  <a:ea typeface="微软雅黑" panose="020B0503020204020204" charset="-122"/>
                </a:rPr>
                <a:t>的屏幕输入格式，让用户像填表那样输入相应的数据。输入若干行后，若数据表格填满，则可以清除屏幕上表格中的数据，供用户继续输入数据。</a:t>
              </a:r>
            </a:p>
            <a:p>
              <a:pPr>
                <a:lnSpc>
                  <a:spcPct val="130000"/>
                </a:lnSpc>
              </a:pPr>
              <a:r>
                <a:rPr lang="zh-CN" altLang="en-US" sz="1600" dirty="0">
                  <a:latin typeface="微软雅黑" panose="020B0503020204020204" charset="-122"/>
                  <a:ea typeface="微软雅黑" panose="020B0503020204020204" charset="-122"/>
                </a:rPr>
                <a:t>       分析系统的数据流程如下：</a:t>
              </a:r>
              <a:r>
                <a:rPr lang="zh-CN" altLang="en-US" sz="1600" dirty="0">
                  <a:solidFill>
                    <a:srgbClr val="0070C0"/>
                  </a:solidFill>
                  <a:latin typeface="微软雅黑" panose="020B0503020204020204" charset="-122"/>
                  <a:ea typeface="微软雅黑" panose="020B0503020204020204" charset="-122"/>
                </a:rPr>
                <a:t>职工或职工子女医疗费报销时，输入职工报销的日期、职工号、姓名、部门、医疗费类别和金额。</a:t>
              </a:r>
            </a:p>
            <a:p>
              <a:pPr>
                <a:lnSpc>
                  <a:spcPct val="130000"/>
                </a:lnSpc>
              </a:pPr>
              <a:endParaRPr lang="zh-CN" altLang="en-US" sz="1600" dirty="0">
                <a:latin typeface="微软雅黑" panose="020B0503020204020204" charset="-122"/>
                <a:ea typeface="微软雅黑" panose="020B0503020204020204" charset="-122"/>
              </a:endParaRPr>
            </a:p>
          </p:txBody>
        </p:sp>
        <p:sp>
          <p:nvSpPr>
            <p:cNvPr id="15" name="TextBox 6"/>
            <p:cNvSpPr txBox="1"/>
            <p:nvPr/>
          </p:nvSpPr>
          <p:spPr>
            <a:xfrm>
              <a:off x="2194" y="6360"/>
              <a:ext cx="16489" cy="2666"/>
            </a:xfrm>
            <a:prstGeom prst="rect">
              <a:avLst/>
            </a:prstGeom>
            <a:noFill/>
          </p:spPr>
          <p:txBody>
            <a:bodyPr wrap="square" rtlCol="0">
              <a:spAutoFit/>
            </a:bodyPr>
            <a:lstStyle/>
            <a:p>
              <a:pPr>
                <a:lnSpc>
                  <a:spcPct val="130000"/>
                </a:lnSpc>
              </a:pPr>
              <a:r>
                <a:rPr lang="en-US" altLang="zh-CN" sz="1600" dirty="0">
                  <a:latin typeface="微软雅黑" panose="020B0503020204020204" charset="-122"/>
                  <a:ea typeface="微软雅黑" panose="020B0503020204020204" charset="-122"/>
                  <a:sym typeface="+mn-ea"/>
                </a:rPr>
                <a:t>       </a:t>
              </a:r>
              <a:r>
                <a:rPr lang="zh-CN" altLang="en-US" sz="1600" dirty="0">
                  <a:latin typeface="微软雅黑" panose="020B0503020204020204" charset="-122"/>
                  <a:ea typeface="微软雅黑" panose="020B0503020204020204" charset="-122"/>
                  <a:sym typeface="+mn-ea"/>
                </a:rPr>
                <a:t>上述</a:t>
              </a:r>
              <a:r>
                <a:rPr lang="zh-CN" altLang="en-US" sz="1600" dirty="0">
                  <a:solidFill>
                    <a:srgbClr val="0070C0"/>
                  </a:solidFill>
                  <a:latin typeface="微软雅黑" panose="020B0503020204020204" charset="-122"/>
                  <a:ea typeface="微软雅黑" panose="020B0503020204020204" charset="-122"/>
                  <a:sym typeface="+mn-ea"/>
                </a:rPr>
                <a:t>数据输入以后要多次使用</a:t>
              </a:r>
              <a:r>
                <a:rPr lang="zh-CN" altLang="en-US" sz="1600" dirty="0">
                  <a:latin typeface="微软雅黑" panose="020B0503020204020204" charset="-122"/>
                  <a:ea typeface="微软雅黑" panose="020B0503020204020204" charset="-122"/>
                  <a:sym typeface="+mn-ea"/>
                </a:rPr>
                <a:t>：</a:t>
              </a:r>
            </a:p>
            <a:p>
              <a:pPr>
                <a:lnSpc>
                  <a:spcPct val="130000"/>
                </a:lnSpc>
              </a:pPr>
              <a:r>
                <a:rPr lang="zh-CN" altLang="en-US" sz="1600" dirty="0">
                  <a:latin typeface="微软雅黑" panose="020B0503020204020204" charset="-122"/>
                  <a:ea typeface="微软雅黑" panose="020B0503020204020204" charset="-122"/>
                  <a:sym typeface="+mn-ea"/>
                </a:rPr>
                <a:t>① 报销当天要算出医疗费分类总额和各类总金额，以便核对</a:t>
              </a:r>
              <a:r>
                <a:rPr lang="zh-CN" altLang="en-US" sz="1600" dirty="0" smtClean="0">
                  <a:latin typeface="微软雅黑" panose="020B0503020204020204" charset="-122"/>
                  <a:ea typeface="微软雅黑" panose="020B0503020204020204" charset="-122"/>
                  <a:sym typeface="+mn-ea"/>
                </a:rPr>
                <a:t>出纳员支出</a:t>
              </a:r>
              <a:endParaRPr lang="en-US" altLang="zh-CN" sz="1600" dirty="0" smtClean="0">
                <a:latin typeface="微软雅黑" panose="020B0503020204020204" charset="-122"/>
                <a:ea typeface="微软雅黑" panose="020B0503020204020204" charset="-122"/>
                <a:sym typeface="+mn-ea"/>
              </a:endParaRPr>
            </a:p>
            <a:p>
              <a:pPr>
                <a:lnSpc>
                  <a:spcPct val="130000"/>
                </a:lnSpc>
              </a:pPr>
              <a:r>
                <a:rPr lang="zh-CN" altLang="en-US" sz="1600" dirty="0" smtClean="0">
                  <a:latin typeface="微软雅黑" panose="020B0503020204020204" charset="-122"/>
                  <a:ea typeface="微软雅黑" panose="020B0503020204020204" charset="-122"/>
                  <a:sym typeface="+mn-ea"/>
                </a:rPr>
                <a:t>的</a:t>
              </a:r>
              <a:r>
                <a:rPr lang="zh-CN" altLang="en-US" sz="1600" dirty="0">
                  <a:latin typeface="微软雅黑" panose="020B0503020204020204" charset="-122"/>
                  <a:ea typeface="微软雅黑" panose="020B0503020204020204" charset="-122"/>
                  <a:sym typeface="+mn-ea"/>
                </a:rPr>
                <a:t>金额总数；</a:t>
              </a:r>
            </a:p>
            <a:p>
              <a:pPr>
                <a:lnSpc>
                  <a:spcPct val="130000"/>
                </a:lnSpc>
              </a:pPr>
              <a:r>
                <a:rPr lang="zh-CN" altLang="en-US" sz="1600" dirty="0">
                  <a:latin typeface="微软雅黑" panose="020B0503020204020204" charset="-122"/>
                  <a:ea typeface="微软雅黑" panose="020B0503020204020204" charset="-122"/>
                  <a:sym typeface="+mn-ea"/>
                </a:rPr>
                <a:t>② 每笔账要保存在医疗费明细账上，供统计全校医疗费支出总账和输出个人医疗费明细账用；</a:t>
              </a:r>
            </a:p>
            <a:p>
              <a:pPr>
                <a:lnSpc>
                  <a:spcPct val="130000"/>
                </a:lnSpc>
              </a:pPr>
              <a:r>
                <a:rPr lang="zh-CN" altLang="en-US" sz="1600" dirty="0">
                  <a:latin typeface="微软雅黑" panose="020B0503020204020204" charset="-122"/>
                  <a:ea typeface="微软雅黑" panose="020B0503020204020204" charset="-122"/>
                  <a:sym typeface="+mn-ea"/>
                </a:rPr>
                <a:t>③ 每笔账要累加到对应的职工或职工子女的医疗费累计账上去，以便及时了解该职工或职工子女的医疗费是否超额。</a:t>
              </a:r>
            </a:p>
          </p:txBody>
        </p:sp>
      </p:gr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例</a:t>
              </a:r>
              <a:r>
                <a:rPr kumimoji="0" lang="en-US"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2-1</a:t>
              </a:r>
            </a:p>
          </p:txBody>
        </p:sp>
      </p:grpSp>
      <p:pic>
        <p:nvPicPr>
          <p:cNvPr id="5" name="图片 4" descr="A000220150322F13PPIC"/>
          <p:cNvPicPr>
            <a:picLocks noChangeAspect="1"/>
          </p:cNvPicPr>
          <p:nvPr/>
        </p:nvPicPr>
        <p:blipFill>
          <a:blip r:embed="rId2" cstate="print"/>
          <a:stretch>
            <a:fillRect/>
          </a:stretch>
        </p:blipFill>
        <p:spPr>
          <a:xfrm>
            <a:off x="7875751" y="1980565"/>
            <a:ext cx="3806344" cy="2577787"/>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2.2</a:t>
            </a:r>
            <a:r>
              <a:rPr lang="zh-CN" altLang="zh-CN">
                <a:solidFill>
                  <a:srgbClr val="FF0000"/>
                </a:solidFill>
              </a:rPr>
              <a:t> 需求分析步骤</a:t>
            </a:r>
          </a:p>
        </p:txBody>
      </p:sp>
      <p:grpSp>
        <p:nvGrpSpPr>
          <p:cNvPr id="82" name="组合 81"/>
          <p:cNvGrpSpPr/>
          <p:nvPr/>
        </p:nvGrpSpPr>
        <p:grpSpPr>
          <a:xfrm>
            <a:off x="3260090" y="1969770"/>
            <a:ext cx="7059295" cy="4147478"/>
            <a:chOff x="4616" y="2833"/>
            <a:chExt cx="11285" cy="7158"/>
          </a:xfrm>
        </p:grpSpPr>
        <p:sp>
          <p:nvSpPr>
            <p:cNvPr id="5" name="任意多边形 4"/>
            <p:cNvSpPr/>
            <p:nvPr/>
          </p:nvSpPr>
          <p:spPr>
            <a:xfrm rot="10800000">
              <a:off x="12532" y="2833"/>
              <a:ext cx="3369" cy="7060"/>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1" name="组合 20"/>
            <p:cNvGrpSpPr/>
            <p:nvPr/>
          </p:nvGrpSpPr>
          <p:grpSpPr>
            <a:xfrm>
              <a:off x="4616" y="2974"/>
              <a:ext cx="8331" cy="960"/>
              <a:chOff x="3635" y="2998"/>
              <a:chExt cx="8331" cy="960"/>
            </a:xfrm>
          </p:grpSpPr>
          <p:sp>
            <p:nvSpPr>
              <p:cNvPr id="64" name="圆角矩形 63"/>
              <p:cNvSpPr/>
              <p:nvPr/>
            </p:nvSpPr>
            <p:spPr>
              <a:xfrm rot="10800000">
                <a:off x="3635" y="3068"/>
                <a:ext cx="8297"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10944" y="2998"/>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11147" y="3116"/>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4033" y="3194"/>
                <a:ext cx="7093" cy="664"/>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algn="l" eaLnBrk="1" hangingPunct="1">
                  <a:lnSpc>
                    <a:spcPct val="100000"/>
                  </a:lnSpc>
                  <a:buNone/>
                </a:pPr>
                <a:r>
                  <a:rPr lang="zh-CN" altLang="en-US" sz="1800" dirty="0">
                    <a:latin typeface="微软雅黑" panose="020B0503020204020204" charset="-122"/>
                    <a:ea typeface="微软雅黑" panose="020B0503020204020204" charset="-122"/>
                  </a:rPr>
                  <a:t>建立系统模型</a:t>
                </a:r>
              </a:p>
            </p:txBody>
          </p:sp>
        </p:grpSp>
        <p:grpSp>
          <p:nvGrpSpPr>
            <p:cNvPr id="22" name="组合 21"/>
            <p:cNvGrpSpPr/>
            <p:nvPr/>
          </p:nvGrpSpPr>
          <p:grpSpPr>
            <a:xfrm>
              <a:off x="4616" y="3974"/>
              <a:ext cx="9421" cy="996"/>
              <a:chOff x="3567" y="4096"/>
              <a:chExt cx="9421" cy="996"/>
            </a:xfrm>
          </p:grpSpPr>
          <p:sp>
            <p:nvSpPr>
              <p:cNvPr id="62" name="圆角矩形 61"/>
              <p:cNvSpPr/>
              <p:nvPr/>
            </p:nvSpPr>
            <p:spPr>
              <a:xfrm rot="10800000">
                <a:off x="3567" y="4166"/>
                <a:ext cx="9384"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1966" y="4096"/>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7" name="文本框 45"/>
              <p:cNvSpPr txBox="1"/>
              <p:nvPr/>
            </p:nvSpPr>
            <p:spPr>
              <a:xfrm>
                <a:off x="12168" y="4258"/>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72" name="文本框 60"/>
              <p:cNvSpPr txBox="1"/>
              <p:nvPr/>
            </p:nvSpPr>
            <p:spPr>
              <a:xfrm>
                <a:off x="3965" y="4344"/>
                <a:ext cx="3830" cy="689"/>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写出需求规格说明</a:t>
                </a:r>
              </a:p>
            </p:txBody>
          </p:sp>
        </p:grpSp>
        <p:grpSp>
          <p:nvGrpSpPr>
            <p:cNvPr id="26" name="组合 25"/>
            <p:cNvGrpSpPr/>
            <p:nvPr/>
          </p:nvGrpSpPr>
          <p:grpSpPr>
            <a:xfrm>
              <a:off x="4666" y="5948"/>
              <a:ext cx="10542" cy="989"/>
              <a:chOff x="2446" y="6531"/>
              <a:chExt cx="10542" cy="989"/>
            </a:xfrm>
          </p:grpSpPr>
          <p:sp>
            <p:nvSpPr>
              <p:cNvPr id="59" name="圆角矩形 58"/>
              <p:cNvSpPr/>
              <p:nvPr/>
            </p:nvSpPr>
            <p:spPr>
              <a:xfrm rot="10800000">
                <a:off x="2446" y="6599"/>
                <a:ext cx="10484"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1966" y="6531"/>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9" name="文本框 47"/>
              <p:cNvSpPr txBox="1"/>
              <p:nvPr/>
            </p:nvSpPr>
            <p:spPr>
              <a:xfrm>
                <a:off x="12168" y="6686"/>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4" name="文本框 62"/>
              <p:cNvSpPr txBox="1"/>
              <p:nvPr/>
            </p:nvSpPr>
            <p:spPr>
              <a:xfrm>
                <a:off x="2794" y="6771"/>
                <a:ext cx="4122" cy="684"/>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制定初步的测试计划</a:t>
                </a:r>
              </a:p>
            </p:txBody>
          </p:sp>
        </p:grpSp>
        <p:grpSp>
          <p:nvGrpSpPr>
            <p:cNvPr id="28" name="组合 27"/>
            <p:cNvGrpSpPr/>
            <p:nvPr/>
          </p:nvGrpSpPr>
          <p:grpSpPr>
            <a:xfrm>
              <a:off x="4668" y="7028"/>
              <a:ext cx="10482" cy="989"/>
              <a:chOff x="1757" y="7696"/>
              <a:chExt cx="10482" cy="989"/>
            </a:xfrm>
          </p:grpSpPr>
          <p:sp>
            <p:nvSpPr>
              <p:cNvPr id="19485" name="文本框 47"/>
              <p:cNvSpPr txBox="1"/>
              <p:nvPr/>
            </p:nvSpPr>
            <p:spPr>
              <a:xfrm>
                <a:off x="11720" y="7769"/>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57" name="圆角矩形 56"/>
              <p:cNvSpPr/>
              <p:nvPr/>
            </p:nvSpPr>
            <p:spPr>
              <a:xfrm rot="10800000">
                <a:off x="1757" y="7765"/>
                <a:ext cx="10139"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10910" y="7696"/>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0" name="文本框 48"/>
              <p:cNvSpPr txBox="1"/>
              <p:nvPr/>
            </p:nvSpPr>
            <p:spPr>
              <a:xfrm>
                <a:off x="11123" y="7851"/>
                <a:ext cx="518"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5" name="文本框 63"/>
              <p:cNvSpPr txBox="1"/>
              <p:nvPr/>
            </p:nvSpPr>
            <p:spPr>
              <a:xfrm>
                <a:off x="2103" y="7936"/>
                <a:ext cx="5142" cy="684"/>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algn="l" eaLnBrk="1" hangingPunct="1">
                  <a:lnSpc>
                    <a:spcPct val="100000"/>
                  </a:lnSpc>
                  <a:spcBef>
                    <a:spcPts val="1000"/>
                  </a:spcBef>
                  <a:buNone/>
                </a:pPr>
                <a:r>
                  <a:rPr lang="zh-CN" altLang="en-US" sz="1800" dirty="0">
                    <a:latin typeface="微软雅黑" panose="020B0503020204020204" charset="-122"/>
                    <a:ea typeface="微软雅黑" panose="020B0503020204020204" charset="-122"/>
                  </a:rPr>
                  <a:t>编写初步的用户手册</a:t>
                </a:r>
              </a:p>
            </p:txBody>
          </p:sp>
        </p:grpSp>
        <p:grpSp>
          <p:nvGrpSpPr>
            <p:cNvPr id="25" name="组合 24"/>
            <p:cNvGrpSpPr/>
            <p:nvPr/>
          </p:nvGrpSpPr>
          <p:grpSpPr>
            <a:xfrm>
              <a:off x="4716" y="4921"/>
              <a:ext cx="10261" cy="1008"/>
              <a:chOff x="3041" y="5342"/>
              <a:chExt cx="10261" cy="1008"/>
            </a:xfrm>
          </p:grpSpPr>
          <p:sp>
            <p:nvSpPr>
              <p:cNvPr id="61" name="圆角矩形 60"/>
              <p:cNvSpPr/>
              <p:nvPr/>
            </p:nvSpPr>
            <p:spPr>
              <a:xfrm rot="10800000">
                <a:off x="3041" y="5441"/>
                <a:ext cx="10117"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8" name="文本框 46"/>
              <p:cNvSpPr txBox="1"/>
              <p:nvPr/>
            </p:nvSpPr>
            <p:spPr>
              <a:xfrm>
                <a:off x="12411" y="5516"/>
                <a:ext cx="518"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73" name="文本框 61"/>
              <p:cNvSpPr txBox="1"/>
              <p:nvPr/>
            </p:nvSpPr>
            <p:spPr>
              <a:xfrm>
                <a:off x="3339" y="5609"/>
                <a:ext cx="3708" cy="697"/>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algn="l" eaLnBrk="1" hangingPunct="1">
                  <a:lnSpc>
                    <a:spcPct val="100000"/>
                  </a:lnSpc>
                  <a:spcBef>
                    <a:spcPts val="1000"/>
                  </a:spcBef>
                  <a:buNone/>
                </a:pPr>
                <a:r>
                  <a:rPr lang="zh-CN" altLang="en-US" sz="1800" dirty="0">
                    <a:latin typeface="微软雅黑" panose="020B0503020204020204" charset="-122"/>
                    <a:ea typeface="微软雅黑" panose="020B0503020204020204" charset="-122"/>
                  </a:rPr>
                  <a:t>修正开发计划</a:t>
                </a:r>
              </a:p>
            </p:txBody>
          </p:sp>
          <p:sp>
            <p:nvSpPr>
              <p:cNvPr id="76" name="椭圆 75"/>
              <p:cNvSpPr/>
              <p:nvPr/>
            </p:nvSpPr>
            <p:spPr>
              <a:xfrm rot="10800000">
                <a:off x="12159" y="5342"/>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7" name="文本框 46"/>
              <p:cNvSpPr txBox="1"/>
              <p:nvPr/>
            </p:nvSpPr>
            <p:spPr>
              <a:xfrm>
                <a:off x="12411" y="5446"/>
                <a:ext cx="891" cy="87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30" name="组合 29"/>
            <p:cNvGrpSpPr/>
            <p:nvPr/>
          </p:nvGrpSpPr>
          <p:grpSpPr>
            <a:xfrm>
              <a:off x="4666" y="8033"/>
              <a:ext cx="9420" cy="989"/>
              <a:chOff x="3568" y="6531"/>
              <a:chExt cx="9420" cy="989"/>
            </a:xfrm>
          </p:grpSpPr>
          <p:sp>
            <p:nvSpPr>
              <p:cNvPr id="34" name="圆角矩形 33"/>
              <p:cNvSpPr/>
              <p:nvPr/>
            </p:nvSpPr>
            <p:spPr>
              <a:xfrm rot="10800000">
                <a:off x="3568" y="6599"/>
                <a:ext cx="9362"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5" name="椭圆 44"/>
              <p:cNvSpPr/>
              <p:nvPr/>
            </p:nvSpPr>
            <p:spPr>
              <a:xfrm rot="10800000">
                <a:off x="11966" y="6531"/>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0" name="文本框 47"/>
              <p:cNvSpPr txBox="1"/>
              <p:nvPr/>
            </p:nvSpPr>
            <p:spPr>
              <a:xfrm>
                <a:off x="12168" y="6686"/>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6</a:t>
                </a:r>
              </a:p>
            </p:txBody>
          </p:sp>
          <p:sp>
            <p:nvSpPr>
              <p:cNvPr id="52" name="文本框 62"/>
              <p:cNvSpPr txBox="1"/>
              <p:nvPr/>
            </p:nvSpPr>
            <p:spPr>
              <a:xfrm>
                <a:off x="3916" y="6771"/>
                <a:ext cx="5241" cy="684"/>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编写数据要求说明书</a:t>
                </a:r>
              </a:p>
            </p:txBody>
          </p:sp>
        </p:grpSp>
        <p:grpSp>
          <p:nvGrpSpPr>
            <p:cNvPr id="54" name="组合 53"/>
            <p:cNvGrpSpPr/>
            <p:nvPr/>
          </p:nvGrpSpPr>
          <p:grpSpPr>
            <a:xfrm>
              <a:off x="4616" y="9002"/>
              <a:ext cx="8031" cy="989"/>
              <a:chOff x="4957" y="6531"/>
              <a:chExt cx="8031" cy="989"/>
            </a:xfrm>
          </p:grpSpPr>
          <p:sp>
            <p:nvSpPr>
              <p:cNvPr id="55" name="圆角矩形 54"/>
              <p:cNvSpPr/>
              <p:nvPr/>
            </p:nvSpPr>
            <p:spPr>
              <a:xfrm rot="10800000">
                <a:off x="4957" y="6599"/>
                <a:ext cx="7973"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6" name="椭圆 55"/>
              <p:cNvSpPr/>
              <p:nvPr/>
            </p:nvSpPr>
            <p:spPr>
              <a:xfrm rot="10800000">
                <a:off x="11966" y="6531"/>
                <a:ext cx="1022"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8" name="文本框 47"/>
              <p:cNvSpPr txBox="1"/>
              <p:nvPr/>
            </p:nvSpPr>
            <p:spPr>
              <a:xfrm>
                <a:off x="12168" y="6686"/>
                <a:ext cx="519" cy="834"/>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7</a:t>
                </a:r>
              </a:p>
            </p:txBody>
          </p:sp>
          <p:sp>
            <p:nvSpPr>
              <p:cNvPr id="80" name="文本框 62"/>
              <p:cNvSpPr txBox="1"/>
              <p:nvPr/>
            </p:nvSpPr>
            <p:spPr>
              <a:xfrm>
                <a:off x="5355" y="6763"/>
                <a:ext cx="6140" cy="664"/>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dirty="0">
                    <a:latin typeface="微软雅黑" panose="020B0503020204020204" charset="-122"/>
                    <a:ea typeface="微软雅黑" panose="020B0503020204020204" charset="-122"/>
                  </a:rPr>
                  <a:t>复审</a:t>
                </a:r>
              </a:p>
            </p:txBody>
          </p:sp>
        </p:grpSp>
      </p:gr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2.2 </a:t>
            </a:r>
            <a:r>
              <a:rPr lang="zh-CN" altLang="en-US" sz="2400" dirty="0" smtClean="0">
                <a:solidFill>
                  <a:schemeClr val="tx1"/>
                </a:solidFill>
              </a:rPr>
              <a:t>需求分析七步骤</a:t>
            </a:r>
            <a:endParaRPr lang="en-US" altLang="zh-CN" sz="2400" dirty="0" smtClean="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2.2.1 </a:t>
            </a:r>
            <a:r>
              <a:rPr lang="zh-CN" altLang="en-US" sz="2400" dirty="0" smtClean="0">
                <a:solidFill>
                  <a:schemeClr val="tx1"/>
                </a:solidFill>
              </a:rPr>
              <a:t>建立系统模型</a:t>
            </a:r>
            <a:r>
              <a:rPr lang="en-US" altLang="zh-CN" sz="2400" dirty="0" smtClean="0">
                <a:solidFill>
                  <a:schemeClr val="tx1"/>
                </a:solidFill>
              </a:rPr>
              <a:t> </a:t>
            </a:r>
            <a:endParaRPr lang="zh-CN" altLang="en-US" sz="2400" dirty="0" smtClean="0">
              <a:solidFill>
                <a:schemeClr val="tx1"/>
              </a:solidFill>
            </a:endParaRPr>
          </a:p>
        </p:txBody>
      </p:sp>
      <p:grpSp>
        <p:nvGrpSpPr>
          <p:cNvPr id="2" name="组合 1"/>
          <p:cNvGrpSpPr/>
          <p:nvPr/>
        </p:nvGrpSpPr>
        <p:grpSpPr>
          <a:xfrm>
            <a:off x="809625" y="1907540"/>
            <a:ext cx="10589260" cy="4413885"/>
            <a:chOff x="1387" y="3375"/>
            <a:chExt cx="16676" cy="6951"/>
          </a:xfrm>
        </p:grpSpPr>
        <p:grpSp>
          <p:nvGrpSpPr>
            <p:cNvPr id="14" name="组合 13"/>
            <p:cNvGrpSpPr/>
            <p:nvPr/>
          </p:nvGrpSpPr>
          <p:grpSpPr>
            <a:xfrm>
              <a:off x="6890" y="3375"/>
              <a:ext cx="4510" cy="4163"/>
              <a:chOff x="3519413" y="1886732"/>
              <a:chExt cx="4791165" cy="4042598"/>
            </a:xfrm>
          </p:grpSpPr>
          <p:sp>
            <p:nvSpPr>
              <p:cNvPr id="15"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6"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8" name="组合 12"/>
              <p:cNvGrpSpPr/>
              <p:nvPr/>
            </p:nvGrpSpPr>
            <p:grpSpPr>
              <a:xfrm>
                <a:off x="3519413" y="2255891"/>
                <a:ext cx="4643177" cy="3573229"/>
                <a:chOff x="3519413" y="2255891"/>
                <a:chExt cx="4643177" cy="3573229"/>
              </a:xfrm>
            </p:grpSpPr>
            <p:sp>
              <p:nvSpPr>
                <p:cNvPr id="20" name="MH_SubTitle_2"/>
                <p:cNvSpPr/>
                <p:nvPr>
                  <p:custDataLst>
                    <p:tags r:id="rId11"/>
                  </p:custDataLst>
                </p:nvPr>
              </p:nvSpPr>
              <p:spPr>
                <a:xfrm rot="3673167">
                  <a:off x="4060059" y="1846853"/>
                  <a:ext cx="3243870"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功能模型</a:t>
                  </a:r>
                </a:p>
              </p:txBody>
            </p:sp>
            <p:sp>
              <p:nvSpPr>
                <p:cNvPr id="21" name="MH_Other_2"/>
                <p:cNvSpPr/>
                <p:nvPr>
                  <p:custDataLst>
                    <p:tags r:id="rId12"/>
                  </p:custDataLst>
                </p:nvPr>
              </p:nvSpPr>
              <p:spPr>
                <a:xfrm rot="10873167">
                  <a:off x="3932990" y="2255891"/>
                  <a:ext cx="3919715" cy="328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行为模型</a:t>
                  </a:r>
                </a:p>
              </p:txBody>
            </p:sp>
            <p:sp>
              <p:nvSpPr>
                <p:cNvPr id="22" name="MH_Other_3"/>
                <p:cNvSpPr/>
                <p:nvPr>
                  <p:custDataLst>
                    <p:tags r:id="rId13"/>
                  </p:custDataLst>
                </p:nvPr>
              </p:nvSpPr>
              <p:spPr>
                <a:xfrm rot="18073167">
                  <a:off x="4378074" y="2044604"/>
                  <a:ext cx="3243871"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数据模型</a:t>
                  </a:r>
                </a:p>
              </p:txBody>
            </p:sp>
          </p:grpSp>
          <p:sp>
            <p:nvSpPr>
              <p:cNvPr id="4"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a:bodyPr>
              <a:lstStyle/>
              <a:p>
                <a:pPr algn="ctr">
                  <a:lnSpc>
                    <a:spcPct val="120000"/>
                  </a:lnSpc>
                  <a:spcBef>
                    <a:spcPts val="450"/>
                  </a:spcBef>
                  <a:spcAft>
                    <a:spcPts val="450"/>
                  </a:spcAft>
                  <a:defRPr/>
                </a:pPr>
                <a:r>
                  <a:rPr lang="zh-CN" altLang="en-US" sz="2800" b="1" dirty="0">
                    <a:solidFill>
                      <a:srgbClr val="FFFFFF"/>
                    </a:solidFill>
                    <a:latin typeface="微软雅黑" panose="020B0503020204020204" charset="-122"/>
                    <a:ea typeface="微软雅黑" panose="020B0503020204020204" charset="-122"/>
                  </a:rPr>
                  <a:t>建模</a:t>
                </a:r>
              </a:p>
            </p:txBody>
          </p:sp>
        </p:grpSp>
        <p:sp>
          <p:nvSpPr>
            <p:cNvPr id="23" name="MH_Other_2"/>
            <p:cNvSpPr/>
            <p:nvPr>
              <p:custDataLst>
                <p:tags r:id="rId1"/>
              </p:custDataLst>
            </p:nvPr>
          </p:nvSpPr>
          <p:spPr>
            <a:xfrm rot="16200000" flipH="1" flipV="1">
              <a:off x="11090" y="3347"/>
              <a:ext cx="735" cy="1239"/>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4" name="MH_SubTitle_4"/>
            <p:cNvSpPr txBox="1"/>
            <p:nvPr>
              <p:custDataLst>
                <p:tags r:id="rId2"/>
              </p:custDataLst>
            </p:nvPr>
          </p:nvSpPr>
          <p:spPr bwMode="auto">
            <a:xfrm>
              <a:off x="12077" y="3375"/>
              <a:ext cx="5986"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功能模型</a:t>
              </a:r>
              <a:endParaRPr lang="en-US" altLang="zh-CN" sz="2000" dirty="0" smtClean="0"/>
            </a:p>
            <a:p>
              <a:pPr>
                <a:lnSpc>
                  <a:spcPct val="120000"/>
                </a:lnSpc>
                <a:defRPr/>
              </a:pPr>
              <a:r>
                <a:rPr lang="zh-CN" altLang="en-US" sz="2000" dirty="0" smtClean="0"/>
                <a:t>为了定义软件的功能，建立功能模型；</a:t>
              </a:r>
            </a:p>
            <a:p>
              <a:pPr>
                <a:lnSpc>
                  <a:spcPct val="120000"/>
                </a:lnSpc>
                <a:defRPr/>
              </a:pPr>
              <a:r>
                <a:rPr lang="zh-CN" altLang="en-US" sz="2000" dirty="0" smtClean="0"/>
                <a:t>用</a:t>
              </a:r>
              <a:r>
                <a:rPr lang="zh-CN" altLang="en-US" sz="2000" dirty="0" smtClean="0">
                  <a:solidFill>
                    <a:schemeClr val="accent2">
                      <a:lumMod val="75000"/>
                    </a:schemeClr>
                  </a:solidFill>
                </a:rPr>
                <a:t>数据流图</a:t>
              </a:r>
              <a:r>
                <a:rPr lang="zh-CN" altLang="en-US" sz="2000" dirty="0" smtClean="0"/>
                <a:t>来描述数据在</a:t>
              </a:r>
              <a:r>
                <a:rPr lang="zh-CN" altLang="en-US" sz="2000" dirty="0" smtClean="0">
                  <a:solidFill>
                    <a:schemeClr val="accent3">
                      <a:lumMod val="75000"/>
                    </a:schemeClr>
                  </a:solidFill>
                </a:rPr>
                <a:t>系统中移动时如何变换</a:t>
              </a:r>
              <a:r>
                <a:rPr lang="zh-CN" altLang="en-US" sz="2000" dirty="0" smtClean="0"/>
                <a:t>以及描绘</a:t>
              </a:r>
              <a:r>
                <a:rPr lang="zh-CN" altLang="en-US" sz="2000" dirty="0" smtClean="0">
                  <a:solidFill>
                    <a:schemeClr val="accent3">
                      <a:lumMod val="75000"/>
                    </a:schemeClr>
                  </a:solidFill>
                </a:rPr>
                <a:t>变换数据流的功能和子功能。</a:t>
              </a:r>
            </a:p>
          </p:txBody>
        </p:sp>
        <p:sp>
          <p:nvSpPr>
            <p:cNvPr id="25" name="MH_Other_2"/>
            <p:cNvSpPr/>
            <p:nvPr>
              <p:custDataLst>
                <p:tags r:id="rId3"/>
              </p:custDataLst>
            </p:nvPr>
          </p:nvSpPr>
          <p:spPr>
            <a:xfrm rot="5400000" flipV="1">
              <a:off x="6646" y="3404"/>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6" name="MH_SubTitle_4"/>
            <p:cNvSpPr txBox="1"/>
            <p:nvPr>
              <p:custDataLst>
                <p:tags r:id="rId4"/>
              </p:custDataLst>
            </p:nvPr>
          </p:nvSpPr>
          <p:spPr bwMode="auto">
            <a:xfrm>
              <a:off x="1387" y="3600"/>
              <a:ext cx="4838"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数据模型</a:t>
              </a:r>
              <a:endParaRPr lang="en-US" altLang="zh-CN" sz="2000" dirty="0" smtClean="0"/>
            </a:p>
            <a:p>
              <a:r>
                <a:rPr lang="zh-CN" altLang="en-US" sz="2000" dirty="0" smtClean="0"/>
                <a:t>为了理解和表示问题的信息域，建立数据模型；</a:t>
              </a:r>
            </a:p>
            <a:p>
              <a:r>
                <a:rPr lang="zh-CN" altLang="en-US" sz="2000" dirty="0" smtClean="0"/>
                <a:t>用</a:t>
              </a:r>
              <a:r>
                <a:rPr lang="zh-CN" altLang="en-US" sz="2000" dirty="0" smtClean="0">
                  <a:solidFill>
                    <a:schemeClr val="accent2">
                      <a:lumMod val="75000"/>
                    </a:schemeClr>
                  </a:solidFill>
                </a:rPr>
                <a:t>实体－关系图</a:t>
              </a:r>
              <a:r>
                <a:rPr lang="zh-CN" altLang="en-US" sz="2000" dirty="0" smtClean="0"/>
                <a:t>来描述实体之间的关系。</a:t>
              </a:r>
            </a:p>
          </p:txBody>
        </p:sp>
        <p:sp>
          <p:nvSpPr>
            <p:cNvPr id="27" name="MH_Other_2"/>
            <p:cNvSpPr/>
            <p:nvPr>
              <p:custDataLst>
                <p:tags r:id="rId5"/>
              </p:custDataLst>
            </p:nvPr>
          </p:nvSpPr>
          <p:spPr>
            <a:xfrm rot="16200000">
              <a:off x="7462" y="6300"/>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8" name="MH_SubTitle_4"/>
            <p:cNvSpPr txBox="1"/>
            <p:nvPr>
              <p:custDataLst>
                <p:tags r:id="rId6"/>
              </p:custDataLst>
            </p:nvPr>
          </p:nvSpPr>
          <p:spPr bwMode="auto">
            <a:xfrm>
              <a:off x="2340" y="7538"/>
              <a:ext cx="9300" cy="2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行为模型</a:t>
              </a:r>
              <a:endParaRPr lang="en-US" altLang="zh-CN" sz="2000" dirty="0" smtClean="0"/>
            </a:p>
            <a:p>
              <a:pPr>
                <a:lnSpc>
                  <a:spcPct val="110000"/>
                </a:lnSpc>
                <a:defRPr/>
              </a:pPr>
              <a:r>
                <a:rPr lang="zh-CN" altLang="en-US" sz="2000" dirty="0" smtClean="0"/>
                <a:t>为了表示软件的行为，建立行为模型；</a:t>
              </a:r>
            </a:p>
            <a:p>
              <a:pPr>
                <a:lnSpc>
                  <a:spcPct val="110000"/>
                </a:lnSpc>
                <a:defRPr/>
              </a:pPr>
              <a:r>
                <a:rPr lang="zh-CN" altLang="en-US" sz="2000" dirty="0" smtClean="0"/>
                <a:t>用</a:t>
              </a:r>
              <a:r>
                <a:rPr lang="zh-CN" altLang="en-US" sz="2000" dirty="0" smtClean="0">
                  <a:solidFill>
                    <a:schemeClr val="accent2">
                      <a:lumMod val="75000"/>
                    </a:schemeClr>
                  </a:solidFill>
                </a:rPr>
                <a:t>状态转换图</a:t>
              </a:r>
              <a:r>
                <a:rPr lang="zh-CN" altLang="en-US" sz="2000" dirty="0" smtClean="0"/>
                <a:t>来描绘系统的各种行为模式（状态）和不同状态间的转换。</a:t>
              </a:r>
            </a:p>
          </p:txBody>
        </p:sp>
      </p:grpSp>
      <p:sp>
        <p:nvSpPr>
          <p:cNvPr id="5" name="圆角矩形标注 4"/>
          <p:cNvSpPr/>
          <p:nvPr/>
        </p:nvSpPr>
        <p:spPr>
          <a:xfrm>
            <a:off x="7738744" y="4336415"/>
            <a:ext cx="3267075" cy="1544955"/>
          </a:xfrm>
          <a:prstGeom prst="wedgeRoundRectCallout">
            <a:avLst>
              <a:gd name="adj1" fmla="val -74781"/>
              <a:gd name="adj2" fmla="val -45684"/>
              <a:gd name="adj3" fmla="val 16667"/>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smtClean="0">
                <a:solidFill>
                  <a:schemeClr val="tx1">
                    <a:lumMod val="50000"/>
                  </a:schemeClr>
                </a:solidFill>
                <a:sym typeface="+mn-ea"/>
              </a:rPr>
              <a:t>       </a:t>
            </a:r>
            <a:r>
              <a:rPr lang="zh-CN" altLang="en-US" b="1" dirty="0">
                <a:solidFill>
                  <a:schemeClr val="accent6">
                    <a:lumMod val="75000"/>
                  </a:schemeClr>
                </a:solidFill>
                <a:sym typeface="+mn-ea"/>
              </a:rPr>
              <a:t>模型是为了理解事物而对事物作出的一种抽象，是对事物的一种无歧义的书面描述。模型由一组图形符号和组成图形的规则组成。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pic>
        <p:nvPicPr>
          <p:cNvPr id="2" name="图片 1"/>
          <p:cNvPicPr>
            <a:picLocks noChangeAspect="1"/>
          </p:cNvPicPr>
          <p:nvPr/>
        </p:nvPicPr>
        <p:blipFill>
          <a:blip r:embed="rId2" cstate="print"/>
          <a:srcRect l="8582" t="1947" r="12198"/>
          <a:stretch>
            <a:fillRect/>
          </a:stretch>
        </p:blipFill>
        <p:spPr>
          <a:xfrm>
            <a:off x="1471930" y="1946910"/>
            <a:ext cx="9980295" cy="3913505"/>
          </a:xfrm>
          <a:prstGeom prst="rect">
            <a:avLst/>
          </a:prstGeom>
        </p:spPr>
      </p:pic>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需求规格说明</a:t>
            </a:r>
          </a:p>
        </p:txBody>
      </p:sp>
      <p:sp>
        <p:nvSpPr>
          <p:cNvPr id="5" name="文本框 4"/>
          <p:cNvSpPr txBox="1"/>
          <p:nvPr/>
        </p:nvSpPr>
        <p:spPr>
          <a:xfrm>
            <a:off x="754380" y="2138045"/>
            <a:ext cx="476250" cy="3531870"/>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2.2.2 </a:t>
            </a:r>
            <a:r>
              <a:rPr lang="zh-CN" altLang="en-US" spc="160" dirty="0">
                <a:solidFill>
                  <a:schemeClr val="bg1"/>
                </a:solidFill>
                <a:latin typeface="微软雅黑" panose="020B0503020204020204" charset="-122"/>
                <a:ea typeface="微软雅黑" panose="020B0503020204020204" charset="-122"/>
              </a:rPr>
              <a:t>软件需求规格说明的框架</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sp>
        <p:nvSpPr>
          <p:cNvPr id="100" name="文本框 99"/>
          <p:cNvSpPr txBox="1"/>
          <p:nvPr/>
        </p:nvSpPr>
        <p:spPr>
          <a:xfrm>
            <a:off x="1462405" y="3155315"/>
            <a:ext cx="4105882" cy="1532727"/>
          </a:xfrm>
          <a:prstGeom prst="rect">
            <a:avLst/>
          </a:prstGeom>
          <a:noFill/>
          <a:ln w="9525">
            <a:noFill/>
          </a:ln>
        </p:spPr>
        <p:txBody>
          <a:bodyPr wrap="square">
            <a:spAutoFit/>
          </a:bodyPr>
          <a:lstStyle/>
          <a:p>
            <a:pPr marL="0" indent="26670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通过需求分析，可对目标系统有更深入、更具体的了解，因而可以更准确地估计系统的开发成本和进度，修正前阶段制订的开发计划。</a:t>
            </a: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lang="zh-CN" altLang="en-US" dirty="0" smtClean="0">
                <a:sym typeface="+mn-ea"/>
              </a:rPr>
              <a:t>修正开发计划</a:t>
            </a: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sp>
        <p:nvSpPr>
          <p:cNvPr id="5" name="文本框 4"/>
          <p:cNvSpPr txBox="1"/>
          <p:nvPr/>
        </p:nvSpPr>
        <p:spPr>
          <a:xfrm>
            <a:off x="754380" y="2869565"/>
            <a:ext cx="457200" cy="2034540"/>
          </a:xfrm>
          <a:prstGeom prst="rect">
            <a:avLst/>
          </a:prstGeom>
          <a:noFill/>
        </p:spPr>
        <p:txBody>
          <a:bodyPr vert="eaVert" wrap="none" rtlCol="0">
            <a:spAutoFit/>
          </a:bodyPr>
          <a:lstStyle/>
          <a:p>
            <a:pPr algn="l"/>
            <a:r>
              <a:rPr lang="en-US" altLang="zh-CN" dirty="0" smtClean="0">
                <a:solidFill>
                  <a:schemeClr val="bg1"/>
                </a:solidFill>
                <a:sym typeface="+mn-ea"/>
              </a:rPr>
              <a:t>2.2.3 </a:t>
            </a:r>
            <a:r>
              <a:rPr lang="zh-CN" altLang="en-US" dirty="0" smtClean="0">
                <a:solidFill>
                  <a:schemeClr val="bg1"/>
                </a:solidFill>
                <a:sym typeface="+mn-ea"/>
              </a:rPr>
              <a:t>修正开发计划</a:t>
            </a:r>
            <a:endParaRPr lang="zh-CN" altLang="en-US" spc="160" dirty="0" smtClean="0">
              <a:solidFill>
                <a:schemeClr val="bg1"/>
              </a:solidFill>
              <a:latin typeface="微软雅黑" panose="020B0503020204020204" charset="-122"/>
              <a:ea typeface="微软雅黑" panose="020B0503020204020204" charset="-122"/>
              <a:sym typeface="+mn-ea"/>
            </a:endParaRPr>
          </a:p>
        </p:txBody>
      </p:sp>
      <p:pic>
        <p:nvPicPr>
          <p:cNvPr id="13" name="图片 12"/>
          <p:cNvPicPr>
            <a:picLocks noChangeAspect="1"/>
          </p:cNvPicPr>
          <p:nvPr/>
        </p:nvPicPr>
        <p:blipFill rotWithShape="1">
          <a:blip r:embed="rId2" cstate="print">
            <a:extLst>
              <a:ext uri="{28A0092B-C50C-407E-A947-70E740481C1C}">
                <a14:useLocalDpi xmlns:a14="http://schemas.microsoft.com/office/drawing/2010/main" xmlns="" val="0"/>
              </a:ext>
            </a:extLst>
          </a:blip>
          <a:srcRect t="4783" b="4783"/>
          <a:stretch>
            <a:fillRect/>
          </a:stretch>
        </p:blipFill>
        <p:spPr>
          <a:xfrm>
            <a:off x="5630520" y="2282456"/>
            <a:ext cx="5837580" cy="3340423"/>
          </a:xfrm>
          <a:prstGeom prst="rect">
            <a:avLst/>
          </a:prstGeom>
          <a:noFill/>
          <a:ln w="28575">
            <a:solidFill>
              <a:schemeClr val="bg1"/>
            </a:solidFill>
          </a:ln>
          <a:effectLst>
            <a:outerShdw blurRad="63500" algn="ctr" rotWithShape="0">
              <a:prstClr val="black">
                <a:alpha val="40000"/>
              </a:prstClr>
            </a:outerShdw>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sp>
        <p:nvSpPr>
          <p:cNvPr id="2" name="文本框 1"/>
          <p:cNvSpPr txBox="1"/>
          <p:nvPr/>
        </p:nvSpPr>
        <p:spPr>
          <a:xfrm>
            <a:off x="1668780" y="2229485"/>
            <a:ext cx="5765800" cy="3297555"/>
          </a:xfrm>
          <a:prstGeom prst="rect">
            <a:avLst/>
          </a:prstGeom>
          <a:noFill/>
          <a:ln w="9525">
            <a:noFill/>
          </a:ln>
        </p:spPr>
        <p:txBody>
          <a:bodyPr wrap="square">
            <a:spAutoFit/>
          </a:bodyPr>
          <a:lstStyle/>
          <a:p>
            <a:pPr marL="0" indent="26670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为了验证系统是否满足用户需求，必须对系统功能进行测试。</a:t>
            </a:r>
            <a:r>
              <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rPr>
              <a:t>在系统开发早期就制订测试计划，有利于明确设计目标，保证设计的正确性</a:t>
            </a:r>
            <a:r>
              <a:rPr lang="zh-CN" altLang="en-US" b="0" u="none" dirty="0">
                <a:latin typeface="宋体" panose="02010600030101010101" pitchFamily="2" charset="-122"/>
                <a:ea typeface="宋体" panose="02010600030101010101" pitchFamily="2" charset="-122"/>
                <a:cs typeface="宋体" panose="02010600030101010101" pitchFamily="2" charset="-122"/>
              </a:rPr>
              <a:t>。</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软件测试计划描述测试策略，以及测试活动的范围、方法、资源和进度。它规定了被测试的项、特性，应完成的测试任务，承担各项工作的人员职责及与本计划有关的风险等。</a:t>
            </a:r>
          </a:p>
          <a:p>
            <a:pPr>
              <a:lnSpc>
                <a:spcPct val="130000"/>
              </a:lnSpc>
            </a:pPr>
            <a:r>
              <a:rPr lang="zh-CN" altLang="en-US" b="0" u="none" dirty="0">
                <a:latin typeface="宋体" panose="02010600030101010101" pitchFamily="2" charset="-122"/>
                <a:ea typeface="宋体" panose="02010600030101010101" pitchFamily="2" charset="-122"/>
                <a:cs typeface="宋体" panose="02010600030101010101" pitchFamily="2" charset="-122"/>
              </a:rPr>
              <a:t>    软件确认交付时，依据预先制订的软件测试计划进行验收，因而测试计划要得到用户方决策者的批准。</a:t>
            </a:r>
            <a:endParaRPr lang="zh-CN" altLang="en-US" dirty="0"/>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测试计划</a:t>
            </a:r>
          </a:p>
        </p:txBody>
      </p:sp>
      <p:sp>
        <p:nvSpPr>
          <p:cNvPr id="5" name="文本框 4"/>
          <p:cNvSpPr txBox="1"/>
          <p:nvPr/>
        </p:nvSpPr>
        <p:spPr>
          <a:xfrm>
            <a:off x="754380" y="2518410"/>
            <a:ext cx="457200" cy="2720340"/>
          </a:xfrm>
          <a:prstGeom prst="rect">
            <a:avLst/>
          </a:prstGeom>
          <a:noFill/>
        </p:spPr>
        <p:txBody>
          <a:bodyPr vert="eaVert" wrap="none" rtlCol="0">
            <a:spAutoFit/>
          </a:bodyPr>
          <a:lstStyle/>
          <a:p>
            <a:pPr algn="l"/>
            <a:r>
              <a:rPr lang="en-US" altLang="zh-CN" dirty="0" smtClean="0">
                <a:solidFill>
                  <a:schemeClr val="bg1"/>
                </a:solidFill>
                <a:sym typeface="+mn-ea"/>
              </a:rPr>
              <a:t>2.2.4 </a:t>
            </a:r>
            <a:r>
              <a:rPr lang="zh-CN" altLang="en-US" dirty="0" smtClean="0">
                <a:solidFill>
                  <a:schemeClr val="bg1"/>
                </a:solidFill>
                <a:sym typeface="+mn-ea"/>
              </a:rPr>
              <a:t>制定初步的测试计划</a:t>
            </a:r>
            <a:endParaRPr lang="zh-CN" altLang="en-US" spc="160" dirty="0" smtClean="0">
              <a:solidFill>
                <a:schemeClr val="bg1"/>
              </a:solidFill>
              <a:latin typeface="微软雅黑" panose="020B0503020204020204" charset="-122"/>
              <a:ea typeface="微软雅黑" panose="020B0503020204020204" charset="-122"/>
              <a:sym typeface="+mn-ea"/>
            </a:endParaRPr>
          </a:p>
        </p:txBody>
      </p:sp>
      <p:pic>
        <p:nvPicPr>
          <p:cNvPr id="7" name="图片 6" descr="A000220150321J36PPIC"/>
          <p:cNvPicPr>
            <a:picLocks noChangeAspect="1"/>
          </p:cNvPicPr>
          <p:nvPr/>
        </p:nvPicPr>
        <p:blipFill>
          <a:blip r:embed="rId2" cstate="print"/>
          <a:stretch>
            <a:fillRect/>
          </a:stretch>
        </p:blipFill>
        <p:spPr>
          <a:xfrm>
            <a:off x="7260258" y="2202190"/>
            <a:ext cx="4370705" cy="334899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pic>
        <p:nvPicPr>
          <p:cNvPr id="16" name="图片 15"/>
          <p:cNvPicPr>
            <a:picLocks noChangeAspect="1"/>
          </p:cNvPicPr>
          <p:nvPr/>
        </p:nvPicPr>
        <p:blipFill>
          <a:blip r:embed="rId3" cstate="print"/>
          <a:srcRect l="17063" t="5956" r="15059"/>
          <a:stretch>
            <a:fillRect/>
          </a:stretch>
        </p:blipFill>
        <p:spPr>
          <a:xfrm>
            <a:off x="2113915" y="2122170"/>
            <a:ext cx="8300720" cy="3609340"/>
          </a:xfrm>
          <a:prstGeom prst="rect">
            <a:avLst/>
          </a:prstGeom>
          <a:ln>
            <a:noFill/>
          </a:ln>
          <a:effectLst>
            <a:softEdge rad="31750"/>
          </a:effectLst>
        </p:spPr>
      </p:pic>
      <p:sp>
        <p:nvSpPr>
          <p:cNvPr id="5" name="文本框 4"/>
          <p:cNvSpPr txBox="1"/>
          <p:nvPr/>
        </p:nvSpPr>
        <p:spPr>
          <a:xfrm>
            <a:off x="754380" y="2607945"/>
            <a:ext cx="476250" cy="2287270"/>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2.2.5 </a:t>
            </a:r>
            <a:r>
              <a:rPr lang="zh-CN" altLang="en-US" spc="160" dirty="0">
                <a:solidFill>
                  <a:schemeClr val="bg1"/>
                </a:solidFill>
                <a:latin typeface="微软雅黑" panose="020B0503020204020204" charset="-122"/>
                <a:ea typeface="微软雅黑" panose="020B0503020204020204" charset="-122"/>
              </a:rPr>
              <a:t>编写用户手册</a:t>
            </a: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用户手册</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内容</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sp>
        <p:nvSpPr>
          <p:cNvPr id="5" name="文本框 4"/>
          <p:cNvSpPr txBox="1"/>
          <p:nvPr/>
        </p:nvSpPr>
        <p:spPr>
          <a:xfrm>
            <a:off x="754380" y="2577465"/>
            <a:ext cx="457200" cy="2720340"/>
          </a:xfrm>
          <a:prstGeom prst="rect">
            <a:avLst/>
          </a:prstGeom>
          <a:noFill/>
        </p:spPr>
        <p:txBody>
          <a:bodyPr vert="eaVert" wrap="none" rtlCol="0">
            <a:spAutoFit/>
          </a:bodyPr>
          <a:lstStyle/>
          <a:p>
            <a:pPr algn="l"/>
            <a:r>
              <a:rPr lang="en-US" altLang="zh-CN" dirty="0" smtClean="0">
                <a:solidFill>
                  <a:schemeClr val="bg1"/>
                </a:solidFill>
                <a:sym typeface="+mn-ea"/>
              </a:rPr>
              <a:t>2.2.6 </a:t>
            </a:r>
            <a:r>
              <a:rPr lang="zh-CN" altLang="en-US" dirty="0" smtClean="0">
                <a:solidFill>
                  <a:schemeClr val="bg1"/>
                </a:solidFill>
                <a:sym typeface="+mn-ea"/>
              </a:rPr>
              <a:t>编写数据要求说明书</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用户要求说明书</a:t>
            </a:r>
          </a:p>
        </p:txBody>
      </p:sp>
      <p:pic>
        <p:nvPicPr>
          <p:cNvPr id="4" name="Picture 1"/>
          <p:cNvPicPr>
            <a:picLocks noChangeAspect="1" noChangeArrowheads="1"/>
          </p:cNvPicPr>
          <p:nvPr/>
        </p:nvPicPr>
        <p:blipFill>
          <a:blip r:embed="rId2" cstate="print"/>
          <a:srcRect l="19445" t="8856" r="19110" b="3583"/>
          <a:stretch>
            <a:fillRect/>
          </a:stretch>
        </p:blipFill>
        <p:spPr bwMode="auto">
          <a:xfrm>
            <a:off x="2638696" y="1976845"/>
            <a:ext cx="6923315" cy="37350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2.2</a:t>
            </a:r>
            <a:r>
              <a:rPr lang="zh-CN" altLang="zh-CN">
                <a:solidFill>
                  <a:srgbClr val="FF0000"/>
                </a:solidFill>
                <a:sym typeface="+mn-ea"/>
              </a:rPr>
              <a:t> 需求分析步骤</a:t>
            </a:r>
            <a:endParaRPr lang="zh-CN" altLang="en-US"/>
          </a:p>
        </p:txBody>
      </p:sp>
      <p:sp>
        <p:nvSpPr>
          <p:cNvPr id="100" name="文本框 99"/>
          <p:cNvSpPr txBox="1"/>
          <p:nvPr/>
        </p:nvSpPr>
        <p:spPr>
          <a:xfrm>
            <a:off x="1545590" y="2015490"/>
            <a:ext cx="6824345" cy="3260090"/>
          </a:xfrm>
          <a:prstGeom prst="rect">
            <a:avLst/>
          </a:prstGeom>
          <a:noFill/>
          <a:ln w="9525">
            <a:noFill/>
          </a:ln>
        </p:spPr>
        <p:txBody>
          <a:bodyPr wrap="square">
            <a:spAutoFit/>
          </a:bodyPr>
          <a:lstStyle/>
          <a:p>
            <a:pPr marL="0" indent="0" algn="l" fontAlgn="auto">
              <a:lnSpc>
                <a:spcPct val="130000"/>
              </a:lnSpc>
            </a:pPr>
            <a:r>
              <a:rPr lang="en-US" altLang="zh-CN" sz="1600" b="0" u="none" dirty="0">
                <a:latin typeface="宋体" panose="02010600030101010101" pitchFamily="2" charset="-122"/>
                <a:ea typeface="宋体" panose="02010600030101010101" pitchFamily="2" charset="-122"/>
                <a:cs typeface="宋体" panose="02010600030101010101" pitchFamily="2" charset="-122"/>
              </a:rPr>
              <a:t>    </a:t>
            </a:r>
            <a:r>
              <a:rPr lang="zh-CN" altLang="en-US" sz="1600" b="0" u="none" dirty="0">
                <a:latin typeface="宋体" panose="02010600030101010101" pitchFamily="2" charset="-122"/>
                <a:ea typeface="宋体" panose="02010600030101010101" pitchFamily="2" charset="-122"/>
                <a:cs typeface="宋体" panose="02010600030101010101" pitchFamily="2" charset="-122"/>
              </a:rPr>
              <a:t>复审是指由系统分析员和用户一起对需求分析结果进行严格的审查，</a:t>
            </a:r>
            <a:r>
              <a:rPr lang="zh-CN" altLang="en-US" sz="1600" b="0" u="none" dirty="0">
                <a:solidFill>
                  <a:srgbClr val="00B050"/>
                </a:solidFill>
                <a:latin typeface="宋体" panose="02010600030101010101" pitchFamily="2" charset="-122"/>
                <a:ea typeface="宋体" panose="02010600030101010101" pitchFamily="2" charset="-122"/>
                <a:cs typeface="宋体" panose="02010600030101010101" pitchFamily="2" charset="-122"/>
              </a:rPr>
              <a:t>以确保软件需求的一致性、完整性和正确性</a:t>
            </a:r>
            <a:r>
              <a:rPr lang="zh-CN" altLang="en-US" sz="1600" b="0" u="none" dirty="0">
                <a:latin typeface="宋体" panose="02010600030101010101" pitchFamily="2" charset="-122"/>
                <a:ea typeface="宋体" panose="02010600030101010101" pitchFamily="2" charset="-122"/>
                <a:cs typeface="宋体" panose="02010600030101010101" pitchFamily="2" charset="-122"/>
              </a:rPr>
              <a:t>。审查内容包括实体－关系图、详细的数据流图、数据字典、状态转换图和一些简明的算法描述等。</a:t>
            </a:r>
          </a:p>
          <a:p>
            <a:pPr marL="0" indent="0" algn="l" fontAlgn="auto">
              <a:lnSpc>
                <a:spcPct val="130000"/>
              </a:lnSpc>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    用户的复查是从</a:t>
            </a:r>
            <a:r>
              <a:rPr lang="zh-CN" altLang="en-US" sz="1600" dirty="0">
                <a:solidFill>
                  <a:srgbClr val="0070C0"/>
                </a:solidFill>
                <a:latin typeface="宋体" panose="02010600030101010101" pitchFamily="2" charset="-122"/>
                <a:ea typeface="宋体" panose="02010600030101010101" pitchFamily="2" charset="-122"/>
                <a:cs typeface="宋体" panose="02010600030101010101" pitchFamily="2" charset="-122"/>
                <a:sym typeface="+mn-ea"/>
              </a:rPr>
              <a:t>数据流图</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的输入端开始，系统分析员借助于数据流图和数据字典及简明的算法描述，向用户解释如何将输入数据一步一步地转换为输出数据。在此过程中很可能引出新的问题，此时应及时修正和补充实体－关系图、详细的数据流图、数据字典、状态转换图和一些简明的算法描述。然后再由用户对修改后的系统做复查，</a:t>
            </a:r>
            <a:r>
              <a:rPr lang="zh-CN" altLang="en-US" sz="1600" dirty="0">
                <a:solidFill>
                  <a:srgbClr val="0070C0"/>
                </a:solidFill>
                <a:latin typeface="宋体" panose="02010600030101010101" pitchFamily="2" charset="-122"/>
                <a:ea typeface="宋体" panose="02010600030101010101" pitchFamily="2" charset="-122"/>
                <a:cs typeface="宋体" panose="02010600030101010101" pitchFamily="2" charset="-122"/>
                <a:sym typeface="+mn-ea"/>
              </a:rPr>
              <a:t>如此反复多次，循环进行，才能得到完整、准确的需求分析结果</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1600" b="0" u="none" dirty="0">
              <a:latin typeface="宋体" panose="02010600030101010101" pitchFamily="2" charset="-122"/>
              <a:ea typeface="宋体" panose="02010600030101010101" pitchFamily="2" charset="-122"/>
              <a:cs typeface="宋体" panose="02010600030101010101" pitchFamily="2" charset="-122"/>
            </a:endParaRPr>
          </a:p>
          <a:p>
            <a:endParaRPr lang="zh-CN" altLang="en-US" sz="1600" dirty="0"/>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复审</a:t>
            </a:r>
          </a:p>
        </p:txBody>
      </p:sp>
      <p:sp>
        <p:nvSpPr>
          <p:cNvPr id="5" name="文本框 4"/>
          <p:cNvSpPr txBox="1"/>
          <p:nvPr/>
        </p:nvSpPr>
        <p:spPr>
          <a:xfrm>
            <a:off x="754380" y="2577465"/>
            <a:ext cx="457200" cy="1120140"/>
          </a:xfrm>
          <a:prstGeom prst="rect">
            <a:avLst/>
          </a:prstGeom>
          <a:noFill/>
        </p:spPr>
        <p:txBody>
          <a:bodyPr vert="eaVert" wrap="none" rtlCol="0">
            <a:spAutoFit/>
          </a:bodyPr>
          <a:lstStyle/>
          <a:p>
            <a:pPr algn="l"/>
            <a:r>
              <a:rPr lang="en-US" altLang="zh-CN" dirty="0" smtClean="0">
                <a:solidFill>
                  <a:schemeClr val="bg1"/>
                </a:solidFill>
                <a:sym typeface="+mn-ea"/>
              </a:rPr>
              <a:t>2.2.7 </a:t>
            </a:r>
            <a:r>
              <a:rPr lang="zh-CN" altLang="en-US" dirty="0" smtClean="0">
                <a:solidFill>
                  <a:schemeClr val="bg1"/>
                </a:solidFill>
                <a:sym typeface="+mn-ea"/>
              </a:rPr>
              <a:t>复审</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8" name="文本框 7"/>
          <p:cNvSpPr txBox="1"/>
          <p:nvPr/>
        </p:nvSpPr>
        <p:spPr>
          <a:xfrm>
            <a:off x="1504646" y="4585648"/>
            <a:ext cx="10314315" cy="1692771"/>
          </a:xfrm>
          <a:prstGeom prst="rect">
            <a:avLst/>
          </a:prstGeom>
          <a:noFill/>
        </p:spPr>
        <p:txBody>
          <a:bodyPr wrap="square" rtlCol="0">
            <a:spAutoFit/>
          </a:bodyPr>
          <a:lstStyle/>
          <a:p>
            <a:pPr fontAlgn="auto">
              <a:lnSpc>
                <a:spcPct val="130000"/>
              </a:lnSpc>
            </a:pPr>
            <a:endParaRPr lang="zh-CN" altLang="en-US" sz="1600" dirty="0">
              <a:latin typeface="宋体" panose="02010600030101010101" pitchFamily="2" charset="-122"/>
              <a:ea typeface="宋体" panose="02010600030101010101" pitchFamily="2" charset="-122"/>
              <a:cs typeface="宋体" panose="02010600030101010101" pitchFamily="2" charset="-122"/>
              <a:sym typeface="+mn-ea"/>
            </a:endParaRPr>
          </a:p>
          <a:p>
            <a:pPr>
              <a:lnSpc>
                <a:spcPct val="130000"/>
              </a:lnSpc>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    需求分析阶段结束时，提供的文档应包括以下内容：</a:t>
            </a:r>
            <a:r>
              <a:rPr lang="zh-CN" altLang="en-US" sz="1600" dirty="0">
                <a:solidFill>
                  <a:srgbClr val="0070C0"/>
                </a:solidFill>
                <a:latin typeface="宋体" panose="02010600030101010101" pitchFamily="2" charset="-122"/>
                <a:ea typeface="宋体" panose="02010600030101010101" pitchFamily="2" charset="-122"/>
                <a:cs typeface="宋体" panose="02010600030101010101" pitchFamily="2" charset="-122"/>
                <a:sym typeface="+mn-ea"/>
              </a:rPr>
              <a:t>修正后的项目开发计划、软件需求规格说明书、实体－关系图、详细的数据流图、数据字典、状态转换图和一些简明的算法描述、初步的测试计划、用户手册和数据要求说明书等。</a:t>
            </a:r>
          </a:p>
          <a:p>
            <a:pPr fontAlgn="auto">
              <a:lnSpc>
                <a:spcPct val="130000"/>
              </a:lnSpc>
            </a:pPr>
            <a:endParaRPr lang="zh-CN" altLang="en-US" sz="1600" dirty="0">
              <a:solidFill>
                <a:srgbClr val="0070C0"/>
              </a:solidFill>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9" name="图片 8" descr="A000220150318R98PPIC"/>
          <p:cNvPicPr>
            <a:picLocks noChangeAspect="1"/>
          </p:cNvPicPr>
          <p:nvPr/>
        </p:nvPicPr>
        <p:blipFill>
          <a:blip r:embed="rId2" cstate="print"/>
          <a:stretch>
            <a:fillRect/>
          </a:stretch>
        </p:blipFill>
        <p:spPr>
          <a:xfrm>
            <a:off x="8369300" y="1905000"/>
            <a:ext cx="3357880" cy="2980899"/>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3" name="灯片编号占位符 2"/>
          <p:cNvSpPr>
            <a:spLocks noGrp="1"/>
          </p:cNvSpPr>
          <p:nvPr>
            <p:ph type="sldNum" sz="quarter" idx="12"/>
          </p:nvPr>
        </p:nvSpPr>
        <p:spPr>
          <a:xfrm>
            <a:off x="8557260" y="6339205"/>
            <a:ext cx="2743200" cy="365125"/>
          </a:xfrm>
        </p:spPr>
        <p:txBody>
          <a:bodyPr/>
          <a:lstStyle/>
          <a:p>
            <a:fld id="{EF906490-237C-474C-BA2E-D98840BC1F8F}" type="slidenum">
              <a:rPr lang="zh-CN" altLang="en-US" smtClean="0"/>
              <a:pPr/>
              <a:t>30</a:t>
            </a:fld>
            <a:endParaRPr lang="zh-CN" altLang="en-US"/>
          </a:p>
        </p:txBody>
      </p:sp>
      <p:sp>
        <p:nvSpPr>
          <p:cNvPr id="17" name="文本框 39"/>
          <p:cNvSpPr txBox="1"/>
          <p:nvPr/>
        </p:nvSpPr>
        <p:spPr>
          <a:xfrm>
            <a:off x="6163310" y="256385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需求分析图形工具</a:t>
            </a:r>
          </a:p>
        </p:txBody>
      </p:sp>
      <p:grpSp>
        <p:nvGrpSpPr>
          <p:cNvPr id="25" name="组合 2"/>
          <p:cNvGrpSpPr/>
          <p:nvPr/>
        </p:nvGrpSpPr>
        <p:grpSpPr>
          <a:xfrm>
            <a:off x="3428449" y="2152106"/>
            <a:ext cx="2362200" cy="2362200"/>
            <a:chOff x="977900" y="2247899"/>
            <a:chExt cx="2362200" cy="2362200"/>
          </a:xfrm>
        </p:grpSpPr>
        <p:sp>
          <p:nvSpPr>
            <p:cNvPr id="26" name="椭圆 25"/>
            <p:cNvSpPr/>
            <p:nvPr/>
          </p:nvSpPr>
          <p:spPr>
            <a:xfrm>
              <a:off x="977900" y="2247899"/>
              <a:ext cx="2362200" cy="2362200"/>
            </a:xfrm>
            <a:prstGeom prst="ellipse">
              <a:avLst/>
            </a:prstGeom>
            <a:solidFill>
              <a:schemeClr val="bg1"/>
            </a:solidFill>
            <a:ln>
              <a:solidFill>
                <a:srgbClr val="EF41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03</a:t>
              </a:r>
            </a:p>
          </p:txBody>
        </p:sp>
      </p:grpSp>
      <p:grpSp>
        <p:nvGrpSpPr>
          <p:cNvPr id="7" name="组合 6"/>
          <p:cNvGrpSpPr/>
          <p:nvPr/>
        </p:nvGrpSpPr>
        <p:grpSpPr>
          <a:xfrm>
            <a:off x="6163310" y="3631565"/>
            <a:ext cx="4921250" cy="1478915"/>
            <a:chOff x="9706" y="5438"/>
            <a:chExt cx="7750" cy="2329"/>
          </a:xfrm>
        </p:grpSpPr>
        <p:sp>
          <p:nvSpPr>
            <p:cNvPr id="18" name="文本框 47"/>
            <p:cNvSpPr txBox="1"/>
            <p:nvPr/>
          </p:nvSpPr>
          <p:spPr>
            <a:xfrm>
              <a:off x="9706" y="5438"/>
              <a:ext cx="3706"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实体</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关系图</a:t>
              </a:r>
            </a:p>
          </p:txBody>
        </p:sp>
        <p:sp>
          <p:nvSpPr>
            <p:cNvPr id="19" name="文本框 49"/>
            <p:cNvSpPr txBox="1"/>
            <p:nvPr/>
          </p:nvSpPr>
          <p:spPr>
            <a:xfrm>
              <a:off x="9706" y="6218"/>
              <a:ext cx="4044"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数据流图</a:t>
              </a:r>
            </a:p>
          </p:txBody>
        </p:sp>
        <p:sp>
          <p:nvSpPr>
            <p:cNvPr id="2" name="文本框 49"/>
            <p:cNvSpPr txBox="1"/>
            <p:nvPr/>
          </p:nvSpPr>
          <p:spPr>
            <a:xfrm>
              <a:off x="9706" y="7109"/>
              <a:ext cx="4044"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状态转换图</a:t>
              </a:r>
            </a:p>
          </p:txBody>
        </p:sp>
        <p:sp>
          <p:nvSpPr>
            <p:cNvPr id="4" name="文本框 49"/>
            <p:cNvSpPr txBox="1"/>
            <p:nvPr/>
          </p:nvSpPr>
          <p:spPr>
            <a:xfrm>
              <a:off x="13412" y="5438"/>
              <a:ext cx="4044"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层次图</a:t>
              </a:r>
            </a:p>
          </p:txBody>
        </p:sp>
        <p:sp>
          <p:nvSpPr>
            <p:cNvPr id="5" name="文本框 49"/>
            <p:cNvSpPr txBox="1"/>
            <p:nvPr/>
          </p:nvSpPr>
          <p:spPr>
            <a:xfrm>
              <a:off x="13412" y="6218"/>
              <a:ext cx="4044"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Warnier</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sp>
          <p:nvSpPr>
            <p:cNvPr id="6" name="文本框 49"/>
            <p:cNvSpPr txBox="1"/>
            <p:nvPr/>
          </p:nvSpPr>
          <p:spPr>
            <a:xfrm>
              <a:off x="13412" y="7109"/>
              <a:ext cx="4044"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IPO</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图</a:t>
              </a:r>
            </a:p>
          </p:txBody>
        </p:sp>
      </p:grpSp>
    </p:spTree>
  </p:cSld>
  <p:clrMapOvr>
    <a:masterClrMapping/>
  </p:clrMapOvr>
  <p:transition spd="slow">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endParaRPr lang="zh-CN" altLang="en-US"/>
          </a:p>
        </p:txBody>
      </p:sp>
      <p:grpSp>
        <p:nvGrpSpPr>
          <p:cNvPr id="3" name="组合 2"/>
          <p:cNvGrpSpPr/>
          <p:nvPr/>
        </p:nvGrpSpPr>
        <p:grpSpPr>
          <a:xfrm>
            <a:off x="595242" y="1142984"/>
            <a:ext cx="3718237" cy="602467"/>
            <a:chOff x="595242" y="1142984"/>
            <a:chExt cx="3718237" cy="602467"/>
          </a:xfrm>
        </p:grpSpPr>
        <p:cxnSp>
          <p:nvCxnSpPr>
            <p:cNvPr id="4" name="直接连接符 3"/>
            <p:cNvCxnSpPr/>
            <p:nvPr/>
          </p:nvCxnSpPr>
          <p:spPr>
            <a:xfrm>
              <a:off x="1332953" y="1682327"/>
              <a:ext cx="2268000" cy="0"/>
            </a:xfrm>
            <a:prstGeom prst="line">
              <a:avLst/>
            </a:prstGeom>
            <a:ln w="12700">
              <a:solidFill>
                <a:srgbClr val="00B0F0"/>
              </a:solidFill>
              <a:prstDash val="dash"/>
            </a:ln>
          </p:spPr>
          <p:style>
            <a:lnRef idx="1">
              <a:schemeClr val="accent6"/>
            </a:lnRef>
            <a:fillRef idx="0">
              <a:schemeClr val="accent6"/>
            </a:fillRef>
            <a:effectRef idx="0">
              <a:schemeClr val="accent6"/>
            </a:effectRef>
            <a:fontRef idx="minor">
              <a:schemeClr val="tx1"/>
            </a:fontRef>
          </p:style>
        </p:cxnSp>
        <p:sp>
          <p:nvSpPr>
            <p:cNvPr id="5" name="矩形 4"/>
            <p:cNvSpPr/>
            <p:nvPr/>
          </p:nvSpPr>
          <p:spPr>
            <a:xfrm>
              <a:off x="1523968" y="1142984"/>
              <a:ext cx="2789511" cy="581057"/>
            </a:xfrm>
            <a:prstGeom prst="rect">
              <a:avLst/>
            </a:prstGeom>
          </p:spPr>
          <p:txBody>
            <a:bodyPr wrap="square">
              <a:spAutoFit/>
            </a:bodyPr>
            <a:lstStyle/>
            <a:p>
              <a:pPr>
                <a:lnSpc>
                  <a:spcPct val="150000"/>
                </a:lnSpc>
              </a:pPr>
              <a:r>
                <a:rPr lang="zh-CN" altLang="en-US" sz="2400" b="1" dirty="0" smtClean="0">
                  <a:solidFill>
                    <a:schemeClr val="tx1">
                      <a:lumMod val="75000"/>
                      <a:lumOff val="25000"/>
                    </a:schemeClr>
                  </a:solidFill>
                  <a:effectLst/>
                  <a:latin typeface="微软雅黑" panose="020B0503020204020204" charset="-122"/>
                  <a:ea typeface="微软雅黑" panose="020B0503020204020204" charset="-122"/>
                </a:rPr>
                <a:t>  符号</a:t>
              </a:r>
              <a:endParaRPr lang="zh-CN" altLang="en-US" sz="2400" b="1" dirty="0">
                <a:solidFill>
                  <a:schemeClr val="tx1">
                    <a:lumMod val="75000"/>
                    <a:lumOff val="25000"/>
                  </a:schemeClr>
                </a:solidFill>
                <a:effectLst/>
                <a:latin typeface="微软雅黑" panose="020B0503020204020204" charset="-122"/>
                <a:ea typeface="微软雅黑" panose="020B0503020204020204" charset="-122"/>
              </a:endParaRPr>
            </a:p>
          </p:txBody>
        </p:sp>
        <p:grpSp>
          <p:nvGrpSpPr>
            <p:cNvPr id="6" name="组合 28"/>
            <p:cNvGrpSpPr/>
            <p:nvPr/>
          </p:nvGrpSpPr>
          <p:grpSpPr>
            <a:xfrm>
              <a:off x="595242" y="1235266"/>
              <a:ext cx="1241465" cy="510185"/>
              <a:chOff x="608247" y="1503808"/>
              <a:chExt cx="1241465" cy="510185"/>
            </a:xfrm>
          </p:grpSpPr>
          <p:sp>
            <p:nvSpPr>
              <p:cNvPr id="7" name="椭圆 29"/>
              <p:cNvSpPr/>
              <p:nvPr/>
            </p:nvSpPr>
            <p:spPr>
              <a:xfrm>
                <a:off x="608280" y="1552144"/>
                <a:ext cx="857255" cy="413625"/>
              </a:xfrm>
              <a:prstGeom prst="roundRect">
                <a:avLst/>
              </a:prstGeom>
              <a:solidFill>
                <a:srgbClr val="00B0F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sp>
            <p:nvSpPr>
              <p:cNvPr id="8" name="TextBox 14"/>
              <p:cNvSpPr txBox="1"/>
              <p:nvPr/>
            </p:nvSpPr>
            <p:spPr>
              <a:xfrm>
                <a:off x="608247" y="1503808"/>
                <a:ext cx="1241465" cy="510185"/>
              </a:xfrm>
              <a:prstGeom prst="roundRect">
                <a:avLst/>
              </a:prstGeom>
              <a:noFill/>
            </p:spPr>
            <p:txBody>
              <a:bodyPr wrap="square" rtlCol="0">
                <a:spAutoFit/>
              </a:bodyPr>
              <a:lstStyle/>
              <a:p>
                <a:r>
                  <a:rPr lang="en-US" altLang="zh-CN" sz="2400" dirty="0">
                    <a:solidFill>
                      <a:schemeClr val="bg1"/>
                    </a:solidFill>
                    <a:latin typeface="Impact" panose="020B0806030902050204" pitchFamily="34" charset="0"/>
                  </a:rPr>
                  <a:t>E-R</a:t>
                </a:r>
                <a:r>
                  <a:rPr lang="zh-CN" altLang="en-US" sz="2400" dirty="0">
                    <a:solidFill>
                      <a:schemeClr val="bg1"/>
                    </a:solidFill>
                    <a:latin typeface="Impact" panose="020B0806030902050204" pitchFamily="34" charset="0"/>
                  </a:rPr>
                  <a:t>图</a:t>
                </a:r>
              </a:p>
            </p:txBody>
          </p:sp>
        </p:grpSp>
      </p:grpSp>
      <p:graphicFrame>
        <p:nvGraphicFramePr>
          <p:cNvPr id="15" name="表格 14"/>
          <p:cNvGraphicFramePr>
            <a:graphicFrameLocks noGrp="1"/>
          </p:cNvGraphicFramePr>
          <p:nvPr/>
        </p:nvGraphicFramePr>
        <p:xfrm>
          <a:off x="2595538" y="2750492"/>
          <a:ext cx="8572559" cy="2500322"/>
        </p:xfrm>
        <a:graphic>
          <a:graphicData uri="http://schemas.openxmlformats.org/drawingml/2006/table">
            <a:tbl>
              <a:tblPr/>
              <a:tblGrid>
                <a:gridCol w="1624965"/>
                <a:gridCol w="1213390"/>
                <a:gridCol w="5734204"/>
              </a:tblGrid>
              <a:tr h="405130">
                <a:tc>
                  <a:txBody>
                    <a:bodyPr/>
                    <a:lstStyle/>
                    <a:p>
                      <a:pPr algn="ctr">
                        <a:spcBef>
                          <a:spcPts val="200"/>
                        </a:spcBef>
                        <a:spcAft>
                          <a:spcPts val="200"/>
                        </a:spcAft>
                      </a:pPr>
                      <a:r>
                        <a:rPr lang="zh-CN" sz="1800" kern="100" dirty="0">
                          <a:latin typeface="Times New Roman" panose="02020603050405020304"/>
                          <a:ea typeface="宋体" panose="02010600030101010101" pitchFamily="2" charset="-122"/>
                          <a:cs typeface="Times New Roman" panose="02020603050405020304"/>
                        </a:rPr>
                        <a:t>符</a:t>
                      </a:r>
                      <a:r>
                        <a:rPr lang="en-US" sz="1800" kern="100" dirty="0">
                          <a:latin typeface="Times New Roman" panose="02020603050405020304"/>
                          <a:ea typeface="宋体" panose="02010600030101010101" pitchFamily="2" charset="-122"/>
                          <a:cs typeface="Times New Roman" panose="02020603050405020304"/>
                        </a:rPr>
                        <a:t>    </a:t>
                      </a:r>
                      <a:r>
                        <a:rPr lang="zh-CN" sz="1800" kern="100" dirty="0">
                          <a:latin typeface="Times New Roman" panose="02020603050405020304"/>
                          <a:ea typeface="宋体" panose="02010600030101010101" pitchFamily="2" charset="-122"/>
                          <a:cs typeface="Times New Roman" panose="02020603050405020304"/>
                        </a:rPr>
                        <a:t>号</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200"/>
                        </a:spcBef>
                        <a:spcAft>
                          <a:spcPts val="200"/>
                        </a:spcAft>
                      </a:pPr>
                      <a:r>
                        <a:rPr lang="zh-CN" sz="1800" kern="100">
                          <a:latin typeface="Times New Roman" panose="02020603050405020304"/>
                          <a:ea typeface="宋体" panose="02010600030101010101" pitchFamily="2" charset="-122"/>
                          <a:cs typeface="Times New Roman" panose="02020603050405020304"/>
                        </a:rPr>
                        <a:t>名</a:t>
                      </a:r>
                      <a:r>
                        <a:rPr lang="en-US" sz="1800" kern="100">
                          <a:latin typeface="Times New Roman" panose="02020603050405020304"/>
                          <a:ea typeface="宋体" panose="02010600030101010101" pitchFamily="2" charset="-122"/>
                          <a:cs typeface="Times New Roman" panose="02020603050405020304"/>
                        </a:rPr>
                        <a:t>    </a:t>
                      </a:r>
                      <a:r>
                        <a:rPr lang="zh-CN" sz="1800" kern="100">
                          <a:latin typeface="Times New Roman" panose="02020603050405020304"/>
                          <a:ea typeface="宋体" panose="02010600030101010101" pitchFamily="2" charset="-122"/>
                          <a:cs typeface="Times New Roman" panose="02020603050405020304"/>
                        </a:rPr>
                        <a:t>称</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200"/>
                        </a:spcBef>
                        <a:spcAft>
                          <a:spcPts val="200"/>
                        </a:spcAft>
                      </a:pPr>
                      <a:r>
                        <a:rPr lang="zh-CN" sz="1800" kern="100">
                          <a:latin typeface="Times New Roman" panose="02020603050405020304"/>
                          <a:ea typeface="宋体" panose="02010600030101010101" pitchFamily="2" charset="-122"/>
                          <a:cs typeface="Times New Roman" panose="02020603050405020304"/>
                        </a:rPr>
                        <a:t>说</a:t>
                      </a:r>
                      <a:r>
                        <a:rPr lang="en-US" sz="1800" kern="100">
                          <a:latin typeface="Times New Roman" panose="02020603050405020304"/>
                          <a:ea typeface="宋体" panose="02010600030101010101" pitchFamily="2" charset="-122"/>
                          <a:cs typeface="Times New Roman" panose="02020603050405020304"/>
                        </a:rPr>
                        <a:t>    </a:t>
                      </a:r>
                      <a:r>
                        <a:rPr lang="zh-CN" sz="1800" kern="100">
                          <a:latin typeface="Times New Roman" panose="02020603050405020304"/>
                          <a:ea typeface="宋体" panose="02010600030101010101" pitchFamily="2" charset="-122"/>
                          <a:cs typeface="Times New Roman" panose="02020603050405020304"/>
                        </a:rPr>
                        <a:t>明</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7870">
                <a:tc>
                  <a:txBody>
                    <a:bodyPr/>
                    <a:lstStyle/>
                    <a:p>
                      <a:pPr algn="ctr">
                        <a:spcBef>
                          <a:spcPts val="300"/>
                        </a:spcBef>
                        <a:spcAft>
                          <a:spcPts val="200"/>
                        </a:spcAft>
                      </a:pPr>
                      <a:endParaRPr lang="en-US" sz="1800" kern="100">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200"/>
                        </a:spcBef>
                        <a:spcAft>
                          <a:spcPts val="200"/>
                        </a:spcAft>
                      </a:pPr>
                      <a:r>
                        <a:rPr lang="zh-CN" sz="1800" kern="100" dirty="0">
                          <a:latin typeface="Times New Roman" panose="02020603050405020304"/>
                          <a:ea typeface="宋体" panose="02010600030101010101" pitchFamily="2" charset="-122"/>
                          <a:cs typeface="Times New Roman" panose="02020603050405020304"/>
                        </a:rPr>
                        <a:t>实体</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Bef>
                          <a:spcPts val="200"/>
                        </a:spcBef>
                        <a:spcAft>
                          <a:spcPts val="200"/>
                        </a:spcAft>
                      </a:pPr>
                      <a:r>
                        <a:rPr lang="zh-CN" sz="1800" kern="100">
                          <a:latin typeface="Times New Roman" panose="02020603050405020304"/>
                          <a:ea typeface="宋体" panose="02010600030101010101" pitchFamily="2" charset="-122"/>
                          <a:cs typeface="Times New Roman" panose="02020603050405020304"/>
                        </a:rPr>
                        <a:t>实体是软件中必须理解的、具有一系列不同性质或属性的事物。</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2942">
                <a:tc>
                  <a:txBody>
                    <a:bodyPr/>
                    <a:lstStyle/>
                    <a:p>
                      <a:pPr algn="ctr">
                        <a:spcBef>
                          <a:spcPts val="200"/>
                        </a:spcBef>
                        <a:spcAft>
                          <a:spcPts val="200"/>
                        </a:spcAft>
                      </a:pPr>
                      <a:endParaRPr lang="en-US" sz="1800" kern="100">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200"/>
                        </a:spcBef>
                        <a:spcAft>
                          <a:spcPts val="200"/>
                        </a:spcAft>
                      </a:pPr>
                      <a:r>
                        <a:rPr lang="zh-CN" sz="1800" kern="100">
                          <a:latin typeface="Times New Roman" panose="02020603050405020304"/>
                          <a:ea typeface="宋体" panose="02010600030101010101" pitchFamily="2" charset="-122"/>
                          <a:cs typeface="Times New Roman" panose="02020603050405020304"/>
                        </a:rPr>
                        <a:t>关系</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Bef>
                          <a:spcPts val="200"/>
                        </a:spcBef>
                        <a:spcAft>
                          <a:spcPts val="200"/>
                        </a:spcAft>
                      </a:pPr>
                      <a:r>
                        <a:rPr lang="zh-CN" sz="1800" kern="100" dirty="0">
                          <a:latin typeface="Times New Roman" panose="02020603050405020304"/>
                          <a:ea typeface="宋体" panose="02010600030101010101" pitchFamily="2" charset="-122"/>
                          <a:cs typeface="Times New Roman" panose="02020603050405020304"/>
                        </a:rPr>
                        <a:t>实体之间相互连接的方式称为关系（或联系）。</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14380">
                <a:tc>
                  <a:txBody>
                    <a:bodyPr/>
                    <a:lstStyle/>
                    <a:p>
                      <a:pPr algn="ctr">
                        <a:spcBef>
                          <a:spcPts val="200"/>
                        </a:spcBef>
                        <a:spcAft>
                          <a:spcPts val="200"/>
                        </a:spcAft>
                      </a:pPr>
                      <a:endParaRPr lang="en-US" sz="1800" kern="100" dirty="0">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Bef>
                          <a:spcPts val="200"/>
                        </a:spcBef>
                        <a:spcAft>
                          <a:spcPts val="200"/>
                        </a:spcAft>
                      </a:pPr>
                      <a:r>
                        <a:rPr lang="zh-CN" sz="1800" kern="100">
                          <a:latin typeface="Times New Roman" panose="02020603050405020304"/>
                          <a:ea typeface="宋体" panose="02010600030101010101" pitchFamily="2" charset="-122"/>
                          <a:cs typeface="Times New Roman" panose="02020603050405020304"/>
                        </a:rPr>
                        <a:t>属性</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Bef>
                          <a:spcPts val="200"/>
                        </a:spcBef>
                        <a:spcAft>
                          <a:spcPts val="200"/>
                        </a:spcAft>
                      </a:pPr>
                      <a:r>
                        <a:rPr lang="zh-CN" sz="1800" kern="100" dirty="0">
                          <a:latin typeface="Times New Roman" panose="02020603050405020304"/>
                          <a:ea typeface="宋体" panose="02010600030101010101" pitchFamily="2" charset="-122"/>
                          <a:cs typeface="Times New Roman" panose="02020603050405020304"/>
                        </a:rPr>
                        <a:t>属性定义了实体的性质。应根据对所解决问题的理解，来确定实体的一组合适的属性。</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89099" name="Picture 11"/>
          <p:cNvPicPr>
            <a:picLocks noChangeAspect="1" noChangeArrowheads="1"/>
          </p:cNvPicPr>
          <p:nvPr/>
        </p:nvPicPr>
        <p:blipFill>
          <a:blip r:embed="rId6" cstate="print"/>
          <a:srcRect/>
          <a:stretch>
            <a:fillRect/>
          </a:stretch>
        </p:blipFill>
        <p:spPr bwMode="auto">
          <a:xfrm>
            <a:off x="3053059" y="3327394"/>
            <a:ext cx="695325" cy="352425"/>
          </a:xfrm>
          <a:prstGeom prst="rect">
            <a:avLst/>
          </a:prstGeom>
          <a:noFill/>
        </p:spPr>
      </p:pic>
      <p:grpSp>
        <p:nvGrpSpPr>
          <p:cNvPr id="24" name="组合 23"/>
          <p:cNvGrpSpPr/>
          <p:nvPr/>
        </p:nvGrpSpPr>
        <p:grpSpPr>
          <a:xfrm>
            <a:off x="736576" y="2285992"/>
            <a:ext cx="1192525" cy="3500462"/>
            <a:chOff x="760052" y="2285992"/>
            <a:chExt cx="1263983" cy="3500462"/>
          </a:xfrm>
          <a:solidFill>
            <a:srgbClr val="00B0F0"/>
          </a:solidFill>
        </p:grpSpPr>
        <p:sp>
          <p:nvSpPr>
            <p:cNvPr id="21" name="MH_Other_1"/>
            <p:cNvSpPr/>
            <p:nvPr>
              <p:custDataLst>
                <p:tags r:id="rId2"/>
              </p:custDataLst>
            </p:nvPr>
          </p:nvSpPr>
          <p:spPr bwMode="auto">
            <a:xfrm>
              <a:off x="760052" y="2291406"/>
              <a:ext cx="173567" cy="24241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normAutofit/>
            </a:bodyPr>
            <a:lstStyle/>
            <a:p>
              <a:pPr algn="ctr" eaLnBrk="1" fontAlgn="auto" hangingPunct="1">
                <a:spcBef>
                  <a:spcPts val="0"/>
                </a:spcBef>
                <a:spcAft>
                  <a:spcPts val="0"/>
                </a:spcAft>
                <a:defRPr/>
              </a:pPr>
              <a:endParaRPr lang="zh-CN" altLang="en-US" sz="900" spc="200">
                <a:solidFill>
                  <a:schemeClr val="accent1"/>
                </a:solidFill>
              </a:endParaRPr>
            </a:p>
          </p:txBody>
        </p:sp>
        <p:sp>
          <p:nvSpPr>
            <p:cNvPr id="22" name="MH_Other_2"/>
            <p:cNvSpPr/>
            <p:nvPr>
              <p:custDataLst>
                <p:tags r:id="rId3"/>
              </p:custDataLst>
            </p:nvPr>
          </p:nvSpPr>
          <p:spPr bwMode="auto">
            <a:xfrm>
              <a:off x="1881159" y="3294056"/>
              <a:ext cx="142876" cy="24923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lstStyle/>
            <a:p>
              <a:pPr algn="ctr" eaLnBrk="1" fontAlgn="auto" hangingPunct="1">
                <a:spcBef>
                  <a:spcPts val="0"/>
                </a:spcBef>
                <a:spcAft>
                  <a:spcPts val="0"/>
                </a:spcAft>
                <a:defRPr/>
              </a:pPr>
              <a:endParaRPr lang="zh-CN" altLang="en-US" sz="900" b="1" spc="200" dirty="0">
                <a:solidFill>
                  <a:schemeClr val="accent1"/>
                </a:solidFill>
              </a:endParaRPr>
            </a:p>
          </p:txBody>
        </p:sp>
        <p:sp>
          <p:nvSpPr>
            <p:cNvPr id="23" name="MH_SubTitle_1"/>
            <p:cNvSpPr/>
            <p:nvPr>
              <p:custDataLst>
                <p:tags r:id="rId4"/>
              </p:custDataLst>
            </p:nvPr>
          </p:nvSpPr>
          <p:spPr bwMode="auto">
            <a:xfrm>
              <a:off x="760383" y="2285992"/>
              <a:ext cx="1263651" cy="3429024"/>
            </a:xfrm>
            <a:custGeom>
              <a:avLst/>
              <a:gdLst>
                <a:gd name="connsiteX0" fmla="*/ 0 w 1079880"/>
                <a:gd name="connsiteY0" fmla="*/ 2762546 h 3739786"/>
                <a:gd name="connsiteX1" fmla="*/ 44068 w 1079880"/>
                <a:gd name="connsiteY1" fmla="*/ 2762546 h 3739786"/>
                <a:gd name="connsiteX2" fmla="*/ 44068 w 1079880"/>
                <a:gd name="connsiteY2" fmla="*/ 3688106 h 3739786"/>
                <a:gd name="connsiteX3" fmla="*/ 771229 w 1079880"/>
                <a:gd name="connsiteY3" fmla="*/ 3688106 h 3739786"/>
                <a:gd name="connsiteX4" fmla="*/ 771229 w 1079880"/>
                <a:gd name="connsiteY4" fmla="*/ 3739786 h 3739786"/>
                <a:gd name="connsiteX5" fmla="*/ 0 w 1079880"/>
                <a:gd name="connsiteY5" fmla="*/ 3739786 h 3739786"/>
                <a:gd name="connsiteX6" fmla="*/ 308650 w 1079880"/>
                <a:gd name="connsiteY6" fmla="*/ 0 h 3739786"/>
                <a:gd name="connsiteX7" fmla="*/ 1079880 w 1079880"/>
                <a:gd name="connsiteY7" fmla="*/ 0 h 3739786"/>
                <a:gd name="connsiteX8" fmla="*/ 1079880 w 1079880"/>
                <a:gd name="connsiteY8" fmla="*/ 977241 h 3739786"/>
                <a:gd name="connsiteX9" fmla="*/ 1035812 w 1079880"/>
                <a:gd name="connsiteY9" fmla="*/ 977241 h 3739786"/>
                <a:gd name="connsiteX10" fmla="*/ 1035812 w 1079880"/>
                <a:gd name="connsiteY10" fmla="*/ 51681 h 3739786"/>
                <a:gd name="connsiteX11" fmla="*/ 308650 w 1079880"/>
                <a:gd name="connsiteY11" fmla="*/ 51681 h 373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9880" h="3739786">
                  <a:moveTo>
                    <a:pt x="0" y="2762546"/>
                  </a:moveTo>
                  <a:lnTo>
                    <a:pt x="44068" y="2762546"/>
                  </a:lnTo>
                  <a:lnTo>
                    <a:pt x="44068" y="3688106"/>
                  </a:lnTo>
                  <a:lnTo>
                    <a:pt x="771229" y="3688106"/>
                  </a:lnTo>
                  <a:lnTo>
                    <a:pt x="771229" y="3739786"/>
                  </a:lnTo>
                  <a:lnTo>
                    <a:pt x="0" y="3739786"/>
                  </a:lnTo>
                  <a:close/>
                  <a:moveTo>
                    <a:pt x="308650" y="0"/>
                  </a:moveTo>
                  <a:lnTo>
                    <a:pt x="1079880" y="0"/>
                  </a:lnTo>
                  <a:lnTo>
                    <a:pt x="1079880" y="977241"/>
                  </a:lnTo>
                  <a:lnTo>
                    <a:pt x="1035812" y="977241"/>
                  </a:lnTo>
                  <a:lnTo>
                    <a:pt x="1035812" y="51681"/>
                  </a:lnTo>
                  <a:lnTo>
                    <a:pt x="308650" y="5168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vert="eaVert" anchor="ctr">
              <a:normAutofit/>
            </a:bodyPr>
            <a:lstStyle/>
            <a:p>
              <a:pPr algn="ctr" eaLnBrk="1" fontAlgn="auto" hangingPunct="1">
                <a:spcBef>
                  <a:spcPts val="0"/>
                </a:spcBef>
                <a:spcAft>
                  <a:spcPts val="0"/>
                </a:spcAft>
                <a:defRPr/>
              </a:pPr>
              <a:r>
                <a:rPr lang="zh-CN" altLang="en-US" sz="3600" b="1" spc="500" dirty="0" smtClean="0">
                  <a:solidFill>
                    <a:schemeClr val="tx1">
                      <a:lumMod val="75000"/>
                      <a:lumOff val="25000"/>
                    </a:schemeClr>
                  </a:solidFill>
                </a:rPr>
                <a:t>基本符号</a:t>
              </a:r>
              <a:endParaRPr lang="zh-CN" altLang="en-US" sz="3600" b="1" spc="500" dirty="0">
                <a:solidFill>
                  <a:schemeClr val="tx1">
                    <a:lumMod val="75000"/>
                    <a:lumOff val="25000"/>
                  </a:schemeClr>
                </a:solidFill>
              </a:endParaRPr>
            </a:p>
          </p:txBody>
        </p:sp>
      </p:grpSp>
      <p:sp>
        <p:nvSpPr>
          <p:cNvPr id="10" name="流程图: 决策 9"/>
          <p:cNvSpPr/>
          <p:nvPr/>
        </p:nvSpPr>
        <p:spPr>
          <a:xfrm>
            <a:off x="3053080" y="4039870"/>
            <a:ext cx="714375" cy="357505"/>
          </a:xfrm>
          <a:prstGeom prst="flowChartDecision">
            <a:avLst/>
          </a:prstGeom>
          <a:noFill/>
          <a:ln>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可选过程 10"/>
          <p:cNvSpPr/>
          <p:nvPr/>
        </p:nvSpPr>
        <p:spPr>
          <a:xfrm>
            <a:off x="2586990" y="4715510"/>
            <a:ext cx="662940" cy="373380"/>
          </a:xfrm>
          <a:prstGeom prst="flowChartAlternateProcess">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440430" y="4715510"/>
            <a:ext cx="710565" cy="37274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MH_Other_1"/>
          <p:cNvSpPr/>
          <p:nvPr>
            <p:custDataLst>
              <p:tags r:id="rId1"/>
            </p:custDataLst>
          </p:nvPr>
        </p:nvSpPr>
        <p:spPr bwMode="auto">
          <a:xfrm>
            <a:off x="1794485" y="3327091"/>
            <a:ext cx="163755" cy="242411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anchor="ctr">
            <a:normAutofit/>
          </a:bodyPr>
          <a:lstStyle/>
          <a:p>
            <a:pPr algn="ctr" eaLnBrk="1" fontAlgn="auto" hangingPunct="1">
              <a:spcBef>
                <a:spcPts val="0"/>
              </a:spcBef>
              <a:spcAft>
                <a:spcPts val="0"/>
              </a:spcAft>
              <a:defRPr/>
            </a:pPr>
            <a:endParaRPr lang="zh-CN" altLang="en-US" sz="900" spc="200">
              <a:solidFill>
                <a:schemeClr val="accent1"/>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3.1.1 </a:t>
            </a:r>
            <a:r>
              <a:rPr lang="zh-CN" altLang="en-US" sz="2400" dirty="0" smtClean="0">
                <a:solidFill>
                  <a:schemeClr val="tx1"/>
                </a:solidFill>
              </a:rPr>
              <a:t>实体</a:t>
            </a:r>
          </a:p>
        </p:txBody>
      </p:sp>
      <p:grpSp>
        <p:nvGrpSpPr>
          <p:cNvPr id="21" name="组合 20"/>
          <p:cNvGrpSpPr/>
          <p:nvPr/>
        </p:nvGrpSpPr>
        <p:grpSpPr>
          <a:xfrm>
            <a:off x="754380" y="2290445"/>
            <a:ext cx="5547995" cy="923925"/>
            <a:chOff x="2060" y="3526"/>
            <a:chExt cx="8737" cy="1455"/>
          </a:xfrm>
        </p:grpSpPr>
        <p:sp>
          <p:nvSpPr>
            <p:cNvPr id="4" name="MH_Other_1"/>
            <p:cNvSpPr>
              <a:spLocks noChangeArrowheads="1"/>
            </p:cNvSpPr>
            <p:nvPr>
              <p:custDataLst>
                <p:tags r:id="rId16"/>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5" name="MH_Other_2"/>
            <p:cNvSpPr>
              <a:spLocks noChangeArrowheads="1"/>
            </p:cNvSpPr>
            <p:nvPr>
              <p:custDataLst>
                <p:tags r:id="rId17"/>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8"/>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9"/>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SubTitle_1"/>
            <p:cNvSpPr/>
            <p:nvPr>
              <p:custDataLst>
                <p:tags r:id="rId20"/>
              </p:custDataLst>
            </p:nvPr>
          </p:nvSpPr>
          <p:spPr>
            <a:xfrm>
              <a:off x="4684" y="3638"/>
              <a:ext cx="6113" cy="571"/>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只有单个值的事物不是实体，如姓名。</a:t>
              </a:r>
            </a:p>
          </p:txBody>
        </p:sp>
      </p:grpSp>
      <p:grpSp>
        <p:nvGrpSpPr>
          <p:cNvPr id="22" name="组合 21"/>
          <p:cNvGrpSpPr/>
          <p:nvPr/>
        </p:nvGrpSpPr>
        <p:grpSpPr>
          <a:xfrm>
            <a:off x="6207760" y="2290445"/>
            <a:ext cx="5221605" cy="923925"/>
            <a:chOff x="7327" y="7570"/>
            <a:chExt cx="8223" cy="1455"/>
          </a:xfrm>
        </p:grpSpPr>
        <p:sp>
          <p:nvSpPr>
            <p:cNvPr id="9" name="MH_Other_5"/>
            <p:cNvSpPr>
              <a:spLocks noChangeArrowheads="1"/>
            </p:cNvSpPr>
            <p:nvPr>
              <p:custDataLst>
                <p:tags r:id="rId11"/>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0" name="MH_Other_6"/>
            <p:cNvSpPr>
              <a:spLocks noChangeArrowheads="1"/>
            </p:cNvSpPr>
            <p:nvPr>
              <p:custDataLst>
                <p:tags r:id="rId12"/>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7"/>
            <p:cNvSpPr>
              <a:spLocks noChangeArrowheads="1"/>
            </p:cNvSpPr>
            <p:nvPr>
              <p:custDataLst>
                <p:tags r:id="rId13"/>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8"/>
            <p:cNvSpPr>
              <a:spLocks noChangeArrowheads="1"/>
            </p:cNvSpPr>
            <p:nvPr>
              <p:custDataLst>
                <p:tags r:id="rId14"/>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SubTitle_3"/>
            <p:cNvSpPr/>
            <p:nvPr>
              <p:custDataLst>
                <p:tags r:id="rId15"/>
              </p:custDataLst>
            </p:nvPr>
          </p:nvSpPr>
          <p:spPr>
            <a:xfrm>
              <a:off x="9924" y="7570"/>
              <a:ext cx="5626" cy="1280"/>
            </a:xfrm>
            <a:prstGeom prst="rect">
              <a:avLst/>
            </a:prstGeom>
          </p:spPr>
          <p:txBody>
            <a:bodyPr lIns="0" tIns="0" rIns="0" bIns="0" anchor="ctr">
              <a:noAutofit/>
            </a:bodyPr>
            <a:lstStyle/>
            <a:p>
              <a:pPr>
                <a:lnSpc>
                  <a:spcPct val="130000"/>
                </a:lnSpc>
                <a:defRPr/>
              </a:pPr>
              <a:r>
                <a:rPr lang="en-US" altLang="zh-CN" sz="1600" dirty="0" smtClean="0">
                  <a:solidFill>
                    <a:srgbClr val="000000"/>
                  </a:solidFill>
                  <a:latin typeface="微软雅黑" panose="020B0503020204020204" charset="-122"/>
                  <a:ea typeface="微软雅黑" panose="020B0503020204020204" charset="-122"/>
                  <a:sym typeface="+mn-ea"/>
                </a:rPr>
                <a:t>     </a:t>
              </a:r>
              <a:r>
                <a:rPr lang="zh-CN" altLang="en-US" sz="1600" dirty="0" smtClean="0">
                  <a:solidFill>
                    <a:srgbClr val="000000"/>
                  </a:solidFill>
                  <a:latin typeface="微软雅黑" panose="020B0503020204020204" charset="-122"/>
                  <a:ea typeface="微软雅黑" panose="020B0503020204020204" charset="-122"/>
                  <a:sym typeface="+mn-ea"/>
                </a:rPr>
                <a:t>实体之间是有关联的。例如，“教师”和“学生”的关联是通过“课程”建立的：“教师”教某门“课程”，“学生”学某门“课程”。</a:t>
              </a:r>
            </a:p>
          </p:txBody>
        </p:sp>
      </p:grpSp>
      <p:grpSp>
        <p:nvGrpSpPr>
          <p:cNvPr id="20" name="组合 19"/>
          <p:cNvGrpSpPr/>
          <p:nvPr/>
        </p:nvGrpSpPr>
        <p:grpSpPr>
          <a:xfrm>
            <a:off x="754380" y="4388485"/>
            <a:ext cx="4960620" cy="1135380"/>
            <a:chOff x="4720" y="5568"/>
            <a:chExt cx="7812" cy="1788"/>
          </a:xfrm>
        </p:grpSpPr>
        <p:sp>
          <p:nvSpPr>
            <p:cNvPr id="14" name="MH_Other_9"/>
            <p:cNvSpPr>
              <a:spLocks noChangeArrowheads="1"/>
            </p:cNvSpPr>
            <p:nvPr>
              <p:custDataLst>
                <p:tags r:id="rId6"/>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5" name="MH_Other_10"/>
            <p:cNvSpPr>
              <a:spLocks noChangeArrowheads="1"/>
            </p:cNvSpPr>
            <p:nvPr>
              <p:custDataLst>
                <p:tags r:id="rId7"/>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11"/>
            <p:cNvSpPr>
              <a:spLocks noChangeArrowheads="1"/>
            </p:cNvSpPr>
            <p:nvPr>
              <p:custDataLst>
                <p:tags r:id="rId8"/>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Other_12"/>
            <p:cNvSpPr>
              <a:spLocks noChangeArrowheads="1"/>
            </p:cNvSpPr>
            <p:nvPr>
              <p:custDataLst>
                <p:tags r:id="rId9"/>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SubTitle_2"/>
            <p:cNvSpPr/>
            <p:nvPr>
              <p:custDataLst>
                <p:tags r:id="rId10"/>
              </p:custDataLst>
            </p:nvPr>
          </p:nvSpPr>
          <p:spPr>
            <a:xfrm>
              <a:off x="7344" y="6076"/>
              <a:ext cx="5188" cy="1280"/>
            </a:xfrm>
            <a:prstGeom prst="rect">
              <a:avLst/>
            </a:prstGeom>
          </p:spPr>
          <p:txBody>
            <a:bodyPr lIns="0" tIns="0" rIns="0" bIns="0" anchor="ctr">
              <a:noAutofit/>
            </a:bodyPr>
            <a:lstStyle/>
            <a:p>
              <a:pPr lvl="0" algn="just">
                <a:lnSpc>
                  <a:spcPct val="12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实体可以是外部实体（如产生或使用信息的事物）、事物（如报表、屏幕显示）、事件（如升级、留级）、角色（如学生、教师）、单位（如系、班级）、地点（如教室）或结构（如文件）等。</a:t>
              </a:r>
            </a:p>
          </p:txBody>
        </p:sp>
      </p:grpSp>
      <p:grpSp>
        <p:nvGrpSpPr>
          <p:cNvPr id="23" name="组合 22"/>
          <p:cNvGrpSpPr/>
          <p:nvPr/>
        </p:nvGrpSpPr>
        <p:grpSpPr>
          <a:xfrm>
            <a:off x="6207760" y="4388485"/>
            <a:ext cx="5221605" cy="923925"/>
            <a:chOff x="7327" y="7570"/>
            <a:chExt cx="8223" cy="1455"/>
          </a:xfrm>
        </p:grpSpPr>
        <p:sp>
          <p:nvSpPr>
            <p:cNvPr id="24" name="MH_Other_5"/>
            <p:cNvSpPr>
              <a:spLocks noChangeArrowheads="1"/>
            </p:cNvSpPr>
            <p:nvPr>
              <p:custDataLst>
                <p:tags r:id="rId1"/>
              </p:custDataLst>
            </p:nvPr>
          </p:nvSpPr>
          <p:spPr bwMode="auto">
            <a:xfrm>
              <a:off x="7327" y="7570"/>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25" name="MH_Other_6"/>
            <p:cNvSpPr>
              <a:spLocks noChangeArrowheads="1"/>
            </p:cNvSpPr>
            <p:nvPr>
              <p:custDataLst>
                <p:tags r:id="rId2"/>
              </p:custDataLst>
            </p:nvPr>
          </p:nvSpPr>
          <p:spPr bwMode="auto">
            <a:xfrm>
              <a:off x="8447" y="7735"/>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7"/>
            <p:cNvSpPr>
              <a:spLocks noChangeArrowheads="1"/>
            </p:cNvSpPr>
            <p:nvPr>
              <p:custDataLst>
                <p:tags r:id="rId3"/>
              </p:custDataLst>
            </p:nvPr>
          </p:nvSpPr>
          <p:spPr bwMode="auto">
            <a:xfrm>
              <a:off x="7567" y="8410"/>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8"/>
            <p:cNvSpPr>
              <a:spLocks noChangeArrowheads="1"/>
            </p:cNvSpPr>
            <p:nvPr>
              <p:custDataLst>
                <p:tags r:id="rId4"/>
              </p:custDataLst>
            </p:nvPr>
          </p:nvSpPr>
          <p:spPr bwMode="auto">
            <a:xfrm>
              <a:off x="8447" y="8410"/>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SubTitle_3"/>
            <p:cNvSpPr/>
            <p:nvPr>
              <p:custDataLst>
                <p:tags r:id="rId5"/>
              </p:custDataLst>
            </p:nvPr>
          </p:nvSpPr>
          <p:spPr>
            <a:xfrm>
              <a:off x="9924" y="7570"/>
              <a:ext cx="5626" cy="1280"/>
            </a:xfrm>
            <a:prstGeom prst="rect">
              <a:avLst/>
            </a:prstGeom>
          </p:spPr>
          <p:txBody>
            <a:bodyPr lIns="0" tIns="0" rIns="0" bIns="0" anchor="ctr">
              <a:noAutofit/>
            </a:bodyPr>
            <a:lstStyle/>
            <a:p>
              <a:pPr>
                <a:lnSpc>
                  <a:spcPct val="130000"/>
                </a:lnSpc>
                <a:defRPr/>
              </a:pPr>
              <a:r>
                <a:rPr lang="en-US" altLang="zh-CN" sz="1600" dirty="0" smtClean="0">
                  <a:solidFill>
                    <a:srgbClr val="000000"/>
                  </a:solidFill>
                  <a:latin typeface="微软雅黑" panose="020B0503020204020204" charset="-122"/>
                  <a:ea typeface="微软雅黑" panose="020B0503020204020204" charset="-122"/>
                  <a:sym typeface="+mn-ea"/>
                </a:rPr>
                <a:t>      </a:t>
              </a:r>
              <a:r>
                <a:rPr lang="zh-CN" altLang="en-US" sz="1600" dirty="0" smtClean="0">
                  <a:solidFill>
                    <a:srgbClr val="000000"/>
                  </a:solidFill>
                  <a:latin typeface="微软雅黑" panose="020B0503020204020204" charset="-122"/>
                  <a:ea typeface="微软雅黑" panose="020B0503020204020204" charset="-122"/>
                  <a:sym typeface="+mn-ea"/>
                </a:rPr>
                <a:t>实体只定义了数据，没有定义对数据的操作，这是实体与面向对象方法中类或对象的显著区别。</a:t>
              </a:r>
            </a:p>
          </p:txBody>
        </p:sp>
      </p:gr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3.1.2 </a:t>
            </a:r>
            <a:r>
              <a:rPr lang="zh-CN" altLang="en-US" sz="2400" dirty="0" smtClean="0">
                <a:solidFill>
                  <a:schemeClr val="tx1"/>
                </a:solidFill>
              </a:rPr>
              <a:t>属性</a:t>
            </a:r>
          </a:p>
        </p:txBody>
      </p:sp>
      <p:grpSp>
        <p:nvGrpSpPr>
          <p:cNvPr id="4" name="组合 3"/>
          <p:cNvGrpSpPr/>
          <p:nvPr/>
        </p:nvGrpSpPr>
        <p:grpSpPr>
          <a:xfrm>
            <a:off x="952500" y="1969770"/>
            <a:ext cx="9975215" cy="3989070"/>
            <a:chOff x="1500" y="3102"/>
            <a:chExt cx="15709" cy="6282"/>
          </a:xfrm>
        </p:grpSpPr>
        <p:sp>
          <p:nvSpPr>
            <p:cNvPr id="24" name="矩形 23"/>
            <p:cNvSpPr>
              <a:spLocks noChangeAspect="1"/>
            </p:cNvSpPr>
            <p:nvPr/>
          </p:nvSpPr>
          <p:spPr>
            <a:xfrm>
              <a:off x="1500" y="3102"/>
              <a:ext cx="15709" cy="628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3318"/>
              <a:ext cx="15200" cy="5754"/>
            </a:xfrm>
            <a:prstGeom prst="rect">
              <a:avLst/>
            </a:prstGeom>
            <a:solidFill>
              <a:schemeClr val="bg1">
                <a:lumMod val="95000"/>
              </a:schemeClr>
            </a:solidFill>
          </p:spPr>
          <p:txBody>
            <a:bodyPr wrap="square">
              <a:spAutoFit/>
            </a:bodyPr>
            <a:lstStyle/>
            <a:p>
              <a:pPr marL="266700" indent="-266700" fontAlgn="auto">
                <a:lnSpc>
                  <a:spcPct val="130000"/>
                </a:lnSpc>
              </a:pPr>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为实体的实例命名。</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描述实体的实例。</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引用另一个实体的实例。</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可以根据一个或多个属性找到实体的一个实例时</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这样的属性称为关键字（或标识符）。</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例如，在学生学籍管理系统中，学生的属性有学</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号、姓名、性别、班级、课程、成绩等，其中</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marL="266700" indent="-26670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学号就是关键字。</a:t>
              </a:r>
              <a:endParaRPr lang="zh-CN" altLang="en-US" b="0" u="none">
                <a:latin typeface="宋体" panose="02010600030101010101" pitchFamily="2" charset="-122"/>
                <a:ea typeface="宋体" panose="02010600030101010101" pitchFamily="2" charset="-122"/>
                <a:cs typeface="宋体" panose="02010600030101010101" pitchFamily="2" charset="-122"/>
              </a:endParaRPr>
            </a:p>
            <a:p>
              <a:pPr indent="0" fontAlgn="auto">
                <a:lnSpc>
                  <a:spcPct val="130000"/>
                </a:lnSpc>
              </a:pPr>
              <a:r>
                <a:rPr lang="zh-CN" altLang="en-US">
                  <a:latin typeface="宋体" panose="02010600030101010101" pitchFamily="2" charset="-122"/>
                  <a:ea typeface="宋体" panose="02010600030101010101" pitchFamily="2" charset="-122"/>
                  <a:cs typeface="宋体" panose="02010600030101010101" pitchFamily="2" charset="-122"/>
                  <a:sym typeface="+mn-ea"/>
                </a:rPr>
                <a:t>又如，某高校图书馆图书流通管理系统中，读者的属性有读者编号、姓名、性别、部门、借书日期、图书编号、书名、还书日期等，其中的读者编号是关键字。</a:t>
              </a:r>
              <a:endParaRPr dirty="0" smtClean="0">
                <a:latin typeface="Times New Roman" panose="02020603050405020304" charset="0"/>
                <a:ea typeface="宋体" panose="02010600030101010101" pitchFamily="2" charset="-122"/>
              </a:endParaRPr>
            </a:p>
          </p:txBody>
        </p:sp>
      </p:grpSp>
      <p:pic>
        <p:nvPicPr>
          <p:cNvPr id="64513" name="图片 20"/>
          <p:cNvPicPr>
            <a:picLocks noChangeAspect="1" noChangeArrowheads="1"/>
          </p:cNvPicPr>
          <p:nvPr/>
        </p:nvPicPr>
        <p:blipFill>
          <a:blip r:embed="rId2" cstate="print"/>
          <a:srcRect/>
          <a:stretch>
            <a:fillRect/>
          </a:stretch>
        </p:blipFill>
        <p:spPr bwMode="auto">
          <a:xfrm>
            <a:off x="6155140" y="2203403"/>
            <a:ext cx="4455141" cy="26637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3.1.3 </a:t>
            </a:r>
            <a:r>
              <a:rPr lang="zh-CN" altLang="en-US" sz="2400" dirty="0" smtClean="0">
                <a:solidFill>
                  <a:schemeClr val="tx1"/>
                </a:solidFill>
              </a:rPr>
              <a:t>关系</a:t>
            </a:r>
          </a:p>
        </p:txBody>
      </p:sp>
      <p:grpSp>
        <p:nvGrpSpPr>
          <p:cNvPr id="4" name="组合 3"/>
          <p:cNvGrpSpPr/>
          <p:nvPr/>
        </p:nvGrpSpPr>
        <p:grpSpPr>
          <a:xfrm>
            <a:off x="952500" y="1969770"/>
            <a:ext cx="10129482" cy="3928110"/>
            <a:chOff x="1500" y="3102"/>
            <a:chExt cx="15709" cy="6679"/>
          </a:xfrm>
        </p:grpSpPr>
        <p:sp>
          <p:nvSpPr>
            <p:cNvPr id="24" name="矩形 23"/>
            <p:cNvSpPr>
              <a:spLocks noChangeAspect="1"/>
            </p:cNvSpPr>
            <p:nvPr/>
          </p:nvSpPr>
          <p:spPr>
            <a:xfrm>
              <a:off x="1500" y="3102"/>
              <a:ext cx="15709" cy="667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25" y="3318"/>
              <a:ext cx="15294" cy="6280"/>
            </a:xfrm>
            <a:prstGeom prst="rect">
              <a:avLst/>
            </a:prstGeom>
            <a:solidFill>
              <a:schemeClr val="bg1">
                <a:lumMod val="95000"/>
              </a:schemeClr>
            </a:solidFill>
          </p:spPr>
          <p:txBody>
            <a:bodyPr wrap="square">
              <a:spAutoFit/>
            </a:bodyPr>
            <a:lstStyle/>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实体之间相互连接的方式称为关系（或联系）。</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关系可分为以下</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3</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类。</a:t>
              </a:r>
              <a:endParaRPr lang="zh-CN" altLang="en-US" b="0"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一对一关系（</a:t>
              </a:r>
              <a:r>
                <a:rPr lang="en-US" altLang="zh-CN" dirty="0">
                  <a:solidFill>
                    <a:srgbClr val="7F00E4"/>
                  </a:solidFill>
                  <a:latin typeface="Times New Roman" panose="02020603050405020304" charset="0"/>
                  <a:ea typeface="Times New Roman" panose="02020603050405020304" charset="0"/>
                  <a:cs typeface="Times New Roman" panose="02020603050405020304" charset="0"/>
                  <a:sym typeface="+mn-ea"/>
                </a:rPr>
                <a:t>1</a:t>
              </a:r>
              <a:r>
                <a:rPr lang="en-US" altLang="zh-CN"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dirty="0">
                  <a:solidFill>
                    <a:srgbClr val="7F00E4"/>
                  </a:solidFill>
                  <a:latin typeface="Times New Roman" panose="02020603050405020304" charset="0"/>
                  <a:ea typeface="Times New Roman" panose="02020603050405020304" charset="0"/>
                  <a:cs typeface="Times New Roman" panose="02020603050405020304" charset="0"/>
                  <a:sym typeface="+mn-ea"/>
                </a:rPr>
                <a:t>1</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例如，一个学生只有一个学号，只有一个年级，</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只有一个性别等等。</a:t>
              </a:r>
              <a:endParaRPr lang="zh-CN" altLang="en-US" b="0" u="none" dirty="0">
                <a:solidFill>
                  <a:srgbClr val="7F00E4"/>
                </a:solidFill>
                <a:latin typeface="Wingdings" panose="05000000000000000000" charset="0"/>
                <a:ea typeface="Wingdings" panose="05000000000000000000" charset="0"/>
                <a:cs typeface="Wingdings" panose="05000000000000000000" charset="0"/>
              </a:endParaRPr>
            </a:p>
            <a:p>
              <a:pPr marL="0" indent="0" algn="l" fontAlgn="auto"/>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一对多关系（</a:t>
              </a:r>
              <a:r>
                <a:rPr lang="en-US" altLang="zh-CN" dirty="0">
                  <a:solidFill>
                    <a:srgbClr val="7F00E4"/>
                  </a:solidFill>
                  <a:latin typeface="Times New Roman" panose="02020603050405020304" charset="0"/>
                  <a:ea typeface="Times New Roman" panose="02020603050405020304" charset="0"/>
                  <a:cs typeface="Times New Roman" panose="02020603050405020304" charset="0"/>
                  <a:sym typeface="+mn-ea"/>
                </a:rPr>
                <a:t>1</a:t>
              </a:r>
              <a:r>
                <a:rPr lang="en-US" altLang="zh-CN"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i="1" dirty="0">
                  <a:solidFill>
                    <a:srgbClr val="7F00E4"/>
                  </a:solidFill>
                  <a:latin typeface="Times New Roman" panose="02020603050405020304" charset="0"/>
                  <a:ea typeface="Times New Roman" panose="02020603050405020304" charset="0"/>
                  <a:cs typeface="Times New Roman" panose="02020603050405020304" charset="0"/>
                  <a:sym typeface="+mn-ea"/>
                </a:rPr>
                <a:t>N</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例如，一个老师教多个课程等等。</a:t>
              </a:r>
            </a:p>
            <a:p>
              <a:pPr marL="0" indent="0" algn="l" fontAlgn="auto"/>
              <a:r>
                <a:rPr lang="en-US" altLang="zh-CN" dirty="0">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多对多关系（</a:t>
              </a:r>
              <a:r>
                <a:rPr lang="en-US" altLang="zh-CN" i="1" dirty="0">
                  <a:solidFill>
                    <a:srgbClr val="7F00E4"/>
                  </a:solidFill>
                  <a:latin typeface="Times New Roman" panose="02020603050405020304" charset="0"/>
                  <a:ea typeface="Times New Roman" panose="02020603050405020304" charset="0"/>
                  <a:cs typeface="Times New Roman" panose="02020603050405020304" charset="0"/>
                  <a:sym typeface="+mn-ea"/>
                </a:rPr>
                <a:t>M</a:t>
              </a:r>
              <a:r>
                <a:rPr lang="en-US" altLang="zh-CN"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i="1" dirty="0">
                  <a:solidFill>
                    <a:srgbClr val="7F00E4"/>
                  </a:solidFill>
                  <a:latin typeface="Times New Roman" panose="02020603050405020304" charset="0"/>
                  <a:ea typeface="Times New Roman" panose="02020603050405020304" charset="0"/>
                  <a:cs typeface="Times New Roman" panose="02020603050405020304" charset="0"/>
                  <a:sym typeface="+mn-ea"/>
                </a:rPr>
                <a:t>N</a:t>
              </a:r>
              <a:r>
                <a:rPr lang="zh-CN" altLang="en-US"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rgbClr val="7F00E4"/>
                  </a:solidFill>
                  <a:latin typeface="宋体" panose="02010600030101010101" pitchFamily="2" charset="-122"/>
                  <a:ea typeface="宋体" panose="02010600030101010101" pitchFamily="2" charset="-122"/>
                  <a:cs typeface="宋体" panose="02010600030101010101" pitchFamily="2" charset="-122"/>
                  <a:sym typeface="+mn-ea"/>
                </a:rPr>
                <a:t>：</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例如，学生与课程之间的关系是多对多，一个</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学生可以学多门课程，而每门课程也可以有多</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个学生来学。关系也可能有属性。例如，学生</a:t>
              </a:r>
            </a:p>
            <a:p>
              <a:pPr marL="0" indent="0" algn="l" fontAlgn="auto"/>
              <a:r>
                <a:rPr lang="zh-CN" altLang="en-US" dirty="0">
                  <a:latin typeface="宋体" panose="02010600030101010101" pitchFamily="2" charset="-122"/>
                  <a:ea typeface="宋体" panose="02010600030101010101" pitchFamily="2" charset="-122"/>
                  <a:cs typeface="宋体" panose="02010600030101010101" pitchFamily="2" charset="-122"/>
                  <a:sym typeface="+mn-ea"/>
                </a:rPr>
                <a:t>“学”某门课程所取得的成绩，既不是学生的属性，也不是课程的属性。因为成绩由特定的学生和特定的课程共同决定，所以它是学生和课程之间的关系“学”的属性。</a:t>
              </a:r>
              <a:endParaRPr dirty="0" smtClean="0">
                <a:latin typeface="Times New Roman" panose="02020603050405020304" charset="0"/>
                <a:ea typeface="宋体" panose="02010600030101010101" pitchFamily="2" charset="-122"/>
              </a:endParaRPr>
            </a:p>
          </p:txBody>
        </p:sp>
      </p:grpSp>
      <p:pic>
        <p:nvPicPr>
          <p:cNvPr id="63489" name="图片 20"/>
          <p:cNvPicPr>
            <a:picLocks noChangeAspect="1" noChangeArrowheads="1"/>
          </p:cNvPicPr>
          <p:nvPr/>
        </p:nvPicPr>
        <p:blipFill>
          <a:blip r:embed="rId2" cstate="print"/>
          <a:srcRect/>
          <a:stretch>
            <a:fillRect/>
          </a:stretch>
        </p:blipFill>
        <p:spPr bwMode="auto">
          <a:xfrm>
            <a:off x="6155141" y="2244346"/>
            <a:ext cx="4646210" cy="277802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sp>
        <p:nvSpPr>
          <p:cNvPr id="22" name="TextBox 21"/>
          <p:cNvSpPr txBox="1"/>
          <p:nvPr/>
        </p:nvSpPr>
        <p:spPr>
          <a:xfrm>
            <a:off x="2094230" y="2171700"/>
            <a:ext cx="8586470" cy="396240"/>
          </a:xfrm>
          <a:prstGeom prst="rect">
            <a:avLst/>
          </a:prstGeom>
          <a:noFill/>
        </p:spPr>
        <p:txBody>
          <a:bodyPr wrap="square">
            <a:spAutoFit/>
          </a:bodyPr>
          <a:lstStyle/>
          <a:p>
            <a:r>
              <a:rPr lang="zh-CN" altLang="en-US" sz="2000" dirty="0" smtClean="0">
                <a:sym typeface="+mn-ea"/>
              </a:rPr>
              <a:t>学生成绩管理系统中教师与学生的实体</a:t>
            </a:r>
            <a:r>
              <a:rPr lang="en-US" altLang="zh-CN" sz="2000" dirty="0" smtClean="0">
                <a:sym typeface="+mn-ea"/>
              </a:rPr>
              <a:t>-</a:t>
            </a:r>
            <a:r>
              <a:rPr lang="zh-CN" altLang="en-US" sz="2000" dirty="0" smtClean="0">
                <a:sym typeface="+mn-ea"/>
              </a:rPr>
              <a:t>关系图</a:t>
            </a:r>
            <a:endParaRPr lang="zh-CN" altLang="en-US" sz="2000" b="1" dirty="0">
              <a:latin typeface="Times New Roman" panose="02020603050405020304" charset="0"/>
            </a:endParaRPr>
          </a:p>
        </p:txBody>
      </p:sp>
      <p:grpSp>
        <p:nvGrpSpPr>
          <p:cNvPr id="25" name="组合 5"/>
          <p:cNvGrpSpPr/>
          <p:nvPr/>
        </p:nvGrpSpPr>
        <p:grpSpPr>
          <a:xfrm>
            <a:off x="952500" y="2000250"/>
            <a:ext cx="1226185" cy="71437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350145"/>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grpSp>
        <p:nvGrpSpPr>
          <p:cNvPr id="2" name="组合 1"/>
          <p:cNvGrpSpPr/>
          <p:nvPr/>
        </p:nvGrpSpPr>
        <p:grpSpPr>
          <a:xfrm>
            <a:off x="952500" y="2857500"/>
            <a:ext cx="10432415" cy="2268220"/>
            <a:chOff x="1500" y="4500"/>
            <a:chExt cx="16429" cy="3572"/>
          </a:xfrm>
        </p:grpSpPr>
        <p:sp>
          <p:nvSpPr>
            <p:cNvPr id="24" name="矩形 23"/>
            <p:cNvSpPr>
              <a:spLocks noChangeAspect="1"/>
            </p:cNvSpPr>
            <p:nvPr/>
          </p:nvSpPr>
          <p:spPr>
            <a:xfrm>
              <a:off x="1500" y="4500"/>
              <a:ext cx="16429" cy="3572"/>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2222" y="4972"/>
              <a:ext cx="14984" cy="2640"/>
            </a:xfrm>
            <a:prstGeom prst="rect">
              <a:avLst/>
            </a:prstGeom>
            <a:solidFill>
              <a:schemeClr val="bg1">
                <a:lumMod val="95000"/>
              </a:schemeClr>
            </a:solidFill>
          </p:spPr>
          <p:txBody>
            <a:bodyPr wrap="square">
              <a:spAutoFit/>
            </a:bodyPr>
            <a:lstStyle/>
            <a:p>
              <a:pPr fontAlgn="auto">
                <a:lnSpc>
                  <a:spcPct val="130000"/>
                </a:lnSpc>
              </a:pPr>
              <a:r>
                <a:rPr lang="en-US" sz="2000" dirty="0" smtClean="0">
                  <a:latin typeface="Times New Roman" panose="02020603050405020304" charset="0"/>
                  <a:ea typeface="宋体" panose="02010600030101010101" pitchFamily="2" charset="-122"/>
                </a:rPr>
                <a:t>        </a:t>
              </a:r>
              <a:r>
                <a:rPr sz="2000" dirty="0" smtClean="0">
                  <a:latin typeface="Times New Roman" panose="02020603050405020304" charset="0"/>
                  <a:ea typeface="宋体" panose="02010600030101010101" pitchFamily="2" charset="-122"/>
                </a:rPr>
                <a:t>在一个学期中，每名学生学若干门课程，每位教师教若干门课程，学生考试成绩合格后可以根据该课程的学时数获得相应的学分。学生属于某系、年级，有学号和姓名等；教师有工号、姓名、职称、职务等。若要开发一个学生成绩管理系统，试画出该系统中教师与学生的实体－关系图。</a:t>
              </a: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3.1</a:t>
            </a:r>
            <a:r>
              <a:rPr lang="zh-CN" altLang="zh-CN">
                <a:solidFill>
                  <a:srgbClr val="FF0000"/>
                </a:solidFill>
                <a:sym typeface="+mn-ea"/>
              </a:rPr>
              <a:t> 实体</a:t>
            </a:r>
            <a:r>
              <a:rPr lang="en-US" altLang="zh-CN">
                <a:solidFill>
                  <a:srgbClr val="FF0000"/>
                </a:solidFill>
                <a:sym typeface="+mn-ea"/>
              </a:rPr>
              <a:t>-</a:t>
            </a:r>
            <a:r>
              <a:rPr lang="zh-CN" altLang="en-US">
                <a:solidFill>
                  <a:srgbClr val="FF0000"/>
                </a:solidFill>
                <a:sym typeface="+mn-ea"/>
              </a:rPr>
              <a:t>关系图</a:t>
            </a: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6" name="组合 5"/>
          <p:cNvGrpSpPr/>
          <p:nvPr/>
        </p:nvGrpSpPr>
        <p:grpSpPr>
          <a:xfrm>
            <a:off x="601345" y="1954530"/>
            <a:ext cx="11317605" cy="4399915"/>
            <a:chOff x="1043" y="2820"/>
            <a:chExt cx="17823" cy="6929"/>
          </a:xfrm>
        </p:grpSpPr>
        <p:sp>
          <p:nvSpPr>
            <p:cNvPr id="24" name="矩形 23"/>
            <p:cNvSpPr>
              <a:spLocks noChangeAspect="1"/>
            </p:cNvSpPr>
            <p:nvPr/>
          </p:nvSpPr>
          <p:spPr>
            <a:xfrm>
              <a:off x="1043" y="3945"/>
              <a:ext cx="17823" cy="5804"/>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4" name="组合 3"/>
            <p:cNvGrpSpPr/>
            <p:nvPr/>
          </p:nvGrpSpPr>
          <p:grpSpPr>
            <a:xfrm>
              <a:off x="1043" y="2820"/>
              <a:ext cx="10167" cy="1125"/>
              <a:chOff x="834" y="3101"/>
              <a:chExt cx="10167" cy="1125"/>
            </a:xfrm>
          </p:grpSpPr>
          <p:sp>
            <p:nvSpPr>
              <p:cNvPr id="22" name="TextBox 21"/>
              <p:cNvSpPr txBox="1"/>
              <p:nvPr/>
            </p:nvSpPr>
            <p:spPr>
              <a:xfrm>
                <a:off x="2507" y="3371"/>
                <a:ext cx="8494" cy="624"/>
              </a:xfrm>
              <a:prstGeom prst="rect">
                <a:avLst/>
              </a:prstGeom>
              <a:noFill/>
            </p:spPr>
            <p:txBody>
              <a:bodyPr wrap="square">
                <a:spAutoFit/>
              </a:bodyPr>
              <a:lstStyle/>
              <a:p>
                <a:r>
                  <a:rPr lang="zh-CN" altLang="en-US" sz="2000" dirty="0" smtClean="0">
                    <a:sym typeface="+mn-ea"/>
                  </a:rPr>
                  <a:t>学生成绩管理系统中教师与学生的实体</a:t>
                </a:r>
                <a:r>
                  <a:rPr lang="en-US" altLang="zh-CN" sz="2000" dirty="0" smtClean="0">
                    <a:sym typeface="+mn-ea"/>
                  </a:rPr>
                  <a:t>-</a:t>
                </a:r>
                <a:r>
                  <a:rPr lang="zh-CN" altLang="en-US" sz="2000" dirty="0" smtClean="0">
                    <a:sym typeface="+mn-ea"/>
                  </a:rPr>
                  <a:t>关系图</a:t>
                </a:r>
                <a:endParaRPr lang="zh-CN" altLang="en-US" sz="2000" b="1" dirty="0">
                  <a:latin typeface="Times New Roman" panose="02020603050405020304" charset="0"/>
                </a:endParaRPr>
              </a:p>
            </p:txBody>
          </p:sp>
          <p:grpSp>
            <p:nvGrpSpPr>
              <p:cNvPr id="25" name="组合 5"/>
              <p:cNvGrpSpPr/>
              <p:nvPr/>
            </p:nvGrpSpPr>
            <p:grpSpPr>
              <a:xfrm>
                <a:off x="834" y="3101"/>
                <a:ext cx="1797"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57137"/>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2-2</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grpSp>
        <p:sp>
          <p:nvSpPr>
            <p:cNvPr id="33" name="TextBox 32"/>
            <p:cNvSpPr txBox="1"/>
            <p:nvPr/>
          </p:nvSpPr>
          <p:spPr>
            <a:xfrm>
              <a:off x="1043" y="4676"/>
              <a:ext cx="1258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305" y="4279"/>
              <a:ext cx="9905" cy="5438"/>
            </a:xfrm>
            <a:prstGeom prst="rect">
              <a:avLst/>
            </a:prstGeom>
            <a:solidFill>
              <a:schemeClr val="bg1">
                <a:lumMod val="95000"/>
              </a:schemeClr>
            </a:solidFill>
          </p:spPr>
          <p:txBody>
            <a:bodyPr wrap="square">
              <a:spAutoFit/>
            </a:bodyPr>
            <a:lstStyle/>
            <a:p>
              <a:pPr fontAlgn="auto">
                <a:lnSpc>
                  <a:spcPct val="120000"/>
                </a:lnSpc>
              </a:pPr>
              <a:r>
                <a:rPr lang="en-US" dirty="0" smtClean="0">
                  <a:latin typeface="Times New Roman" panose="02020603050405020304" charset="0"/>
                  <a:ea typeface="宋体" panose="02010600030101010101" pitchFamily="2" charset="-122"/>
                </a:rPr>
                <a:t>        </a:t>
              </a:r>
              <a:r>
                <a:rPr dirty="0" smtClean="0">
                  <a:latin typeface="Times New Roman" panose="02020603050405020304" charset="0"/>
                  <a:ea typeface="宋体" panose="02010600030101010101" pitchFamily="2" charset="-122"/>
                </a:rPr>
                <a:t>分析可知，该系统共有教师、学生和课程3类实体。</a:t>
              </a:r>
            </a:p>
            <a:p>
              <a:pPr marL="342900" indent="-342900" fontAlgn="auto">
                <a:lnSpc>
                  <a:spcPct val="120000"/>
                </a:lnSpc>
                <a:buClrTx/>
                <a:buFont typeface="Wingdings" panose="05000000000000000000" charset="0"/>
                <a:buChar char="Ø"/>
              </a:pPr>
              <a:r>
                <a:rPr dirty="0" smtClean="0">
                  <a:latin typeface="Times New Roman" panose="02020603050405020304" charset="0"/>
                  <a:ea typeface="宋体" panose="02010600030101010101" pitchFamily="2" charset="-122"/>
                </a:rPr>
                <a:t>教师的属性有：</a:t>
              </a:r>
              <a:r>
                <a:rPr dirty="0" smtClean="0">
                  <a:solidFill>
                    <a:srgbClr val="00B050"/>
                  </a:solidFill>
                  <a:latin typeface="Times New Roman" panose="02020603050405020304" charset="0"/>
                  <a:ea typeface="宋体" panose="02010600030101010101" pitchFamily="2" charset="-122"/>
                </a:rPr>
                <a:t>工号、姓名、性别、职称、职务。</a:t>
              </a:r>
            </a:p>
            <a:p>
              <a:pPr marL="342900" indent="-342900" fontAlgn="auto">
                <a:lnSpc>
                  <a:spcPct val="120000"/>
                </a:lnSpc>
                <a:buClrTx/>
                <a:buFont typeface="Wingdings" panose="05000000000000000000" charset="0"/>
                <a:buChar char="Ø"/>
              </a:pPr>
              <a:r>
                <a:rPr dirty="0" smtClean="0">
                  <a:latin typeface="Times New Roman" panose="02020603050405020304" charset="0"/>
                  <a:ea typeface="宋体" panose="02010600030101010101" pitchFamily="2" charset="-122"/>
                </a:rPr>
                <a:t>学生的属性有：</a:t>
              </a:r>
              <a:r>
                <a:rPr dirty="0" smtClean="0">
                  <a:solidFill>
                    <a:srgbClr val="00B050"/>
                  </a:solidFill>
                  <a:latin typeface="Times New Roman" panose="02020603050405020304" charset="0"/>
                  <a:ea typeface="宋体" panose="02010600030101010101" pitchFamily="2" charset="-122"/>
                </a:rPr>
                <a:t>学号、姓名、性别、系、年级。</a:t>
              </a:r>
            </a:p>
            <a:p>
              <a:pPr marL="342900" indent="-342900" fontAlgn="auto">
                <a:lnSpc>
                  <a:spcPct val="120000"/>
                </a:lnSpc>
                <a:buClrTx/>
                <a:buFont typeface="Wingdings" panose="05000000000000000000" charset="0"/>
                <a:buChar char="Ø"/>
              </a:pPr>
              <a:r>
                <a:rPr dirty="0" smtClean="0">
                  <a:latin typeface="Times New Roman" panose="02020603050405020304" charset="0"/>
                  <a:ea typeface="宋体" panose="02010600030101010101" pitchFamily="2" charset="-122"/>
                </a:rPr>
                <a:t>课程的属性有：</a:t>
              </a:r>
              <a:r>
                <a:rPr dirty="0" smtClean="0">
                  <a:solidFill>
                    <a:srgbClr val="00B050"/>
                  </a:solidFill>
                  <a:latin typeface="Times New Roman" panose="02020603050405020304" charset="0"/>
                  <a:ea typeface="宋体" panose="02010600030101010101" pitchFamily="2" charset="-122"/>
                </a:rPr>
                <a:t>课程号、课程名、学时、学分。</a:t>
              </a:r>
            </a:p>
            <a:p>
              <a:pPr fontAlgn="auto">
                <a:lnSpc>
                  <a:spcPct val="120000"/>
                </a:lnSpc>
              </a:pPr>
              <a:r>
                <a:rPr dirty="0" smtClean="0">
                  <a:latin typeface="Times New Roman" panose="02020603050405020304" charset="0"/>
                  <a:ea typeface="宋体" panose="02010600030101010101" pitchFamily="2" charset="-122"/>
                </a:rPr>
                <a:t>“教师”</a:t>
              </a:r>
              <a:r>
                <a:rPr dirty="0" smtClean="0">
                  <a:solidFill>
                    <a:srgbClr val="FF0000"/>
                  </a:solidFill>
                  <a:latin typeface="Times New Roman" panose="02020603050405020304" charset="0"/>
                  <a:ea typeface="宋体" panose="02010600030101010101" pitchFamily="2" charset="-122"/>
                </a:rPr>
                <a:t>教</a:t>
              </a:r>
              <a:r>
                <a:rPr dirty="0" smtClean="0">
                  <a:latin typeface="Times New Roman" panose="02020603050405020304" charset="0"/>
                  <a:ea typeface="宋体" panose="02010600030101010101" pitchFamily="2" charset="-122"/>
                </a:rPr>
                <a:t>“课程”，“学生”</a:t>
              </a:r>
              <a:r>
                <a:rPr dirty="0" smtClean="0">
                  <a:solidFill>
                    <a:srgbClr val="FF0000"/>
                  </a:solidFill>
                  <a:latin typeface="Times New Roman" panose="02020603050405020304" charset="0"/>
                  <a:ea typeface="宋体" panose="02010600030101010101" pitchFamily="2" charset="-122"/>
                </a:rPr>
                <a:t>学</a:t>
              </a:r>
              <a:r>
                <a:rPr dirty="0" smtClean="0">
                  <a:latin typeface="Times New Roman" panose="02020603050405020304" charset="0"/>
                  <a:ea typeface="宋体" panose="02010600030101010101" pitchFamily="2" charset="-122"/>
                </a:rPr>
                <a:t>“课程”，相互之间建立关系。</a:t>
              </a:r>
            </a:p>
            <a:p>
              <a:pPr fontAlgn="auto">
                <a:lnSpc>
                  <a:spcPct val="120000"/>
                </a:lnSpc>
              </a:pPr>
              <a:r>
                <a:rPr dirty="0" smtClean="0">
                  <a:latin typeface="Times New Roman" panose="02020603050405020304" charset="0"/>
                  <a:ea typeface="宋体" panose="02010600030101010101" pitchFamily="2" charset="-122"/>
                </a:rPr>
                <a:t>① </a:t>
              </a:r>
              <a:r>
                <a:rPr dirty="0" smtClean="0">
                  <a:solidFill>
                    <a:schemeClr val="accent6">
                      <a:lumMod val="75000"/>
                    </a:schemeClr>
                  </a:solidFill>
                  <a:latin typeface="Times New Roman" panose="02020603050405020304" charset="0"/>
                  <a:ea typeface="宋体" panose="02010600030101010101" pitchFamily="2" charset="-122"/>
                </a:rPr>
                <a:t>每门课程由一位教师担任，而每位教师可以担任多门课程的教学工作，</a:t>
              </a:r>
              <a:r>
                <a:rPr dirty="0" smtClean="0">
                  <a:latin typeface="Times New Roman" panose="02020603050405020304" charset="0"/>
                  <a:ea typeface="宋体" panose="02010600030101010101" pitchFamily="2" charset="-122"/>
                </a:rPr>
                <a:t>因而教师与课程的关系是“教”，是一对多的关系（1∶N）。</a:t>
              </a:r>
            </a:p>
            <a:p>
              <a:pPr fontAlgn="auto">
                <a:lnSpc>
                  <a:spcPct val="120000"/>
                </a:lnSpc>
              </a:pPr>
              <a:r>
                <a:rPr dirty="0" smtClean="0">
                  <a:latin typeface="Times New Roman" panose="02020603050405020304" charset="0"/>
                  <a:ea typeface="宋体" panose="02010600030101010101" pitchFamily="2" charset="-122"/>
                </a:rPr>
                <a:t>② 某名学生学某门课程后，得到成绩。</a:t>
              </a:r>
              <a:r>
                <a:rPr dirty="0" smtClean="0">
                  <a:solidFill>
                    <a:schemeClr val="accent6">
                      <a:lumMod val="75000"/>
                    </a:schemeClr>
                  </a:solidFill>
                  <a:latin typeface="Times New Roman" panose="02020603050405020304" charset="0"/>
                  <a:ea typeface="宋体" panose="02010600030101010101" pitchFamily="2" charset="-122"/>
                </a:rPr>
                <a:t>学生与课程的关系是“学”，是多对多的关系</a:t>
              </a:r>
              <a:r>
                <a:rPr dirty="0" smtClean="0">
                  <a:latin typeface="Times New Roman" panose="02020603050405020304" charset="0"/>
                  <a:ea typeface="宋体" panose="02010600030101010101" pitchFamily="2" charset="-122"/>
                </a:rPr>
                <a:t>（M∶N），成绩是关系“学”的属性</a:t>
              </a:r>
              <a:r>
                <a:rPr sz="2000" dirty="0" smtClean="0">
                  <a:latin typeface="Times New Roman" panose="02020603050405020304" charset="0"/>
                  <a:ea typeface="宋体" panose="02010600030101010101" pitchFamily="2" charset="-122"/>
                </a:rPr>
                <a:t>。</a:t>
              </a:r>
            </a:p>
          </p:txBody>
        </p:sp>
      </p:grpSp>
      <p:pic>
        <p:nvPicPr>
          <p:cNvPr id="61443" name="图片 20"/>
          <p:cNvPicPr>
            <a:picLocks noChangeAspect="1" noChangeArrowheads="1"/>
          </p:cNvPicPr>
          <p:nvPr/>
        </p:nvPicPr>
        <p:blipFill>
          <a:blip r:embed="rId4" cstate="print"/>
          <a:srcRect/>
          <a:stretch>
            <a:fillRect/>
          </a:stretch>
        </p:blipFill>
        <p:spPr bwMode="auto">
          <a:xfrm>
            <a:off x="7141999" y="2967679"/>
            <a:ext cx="4737526" cy="28326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3.2.1 </a:t>
            </a:r>
            <a:r>
              <a:rPr lang="zh-CN" altLang="en-US" sz="2400" dirty="0" smtClean="0">
                <a:solidFill>
                  <a:schemeClr val="tx1"/>
                </a:solidFill>
              </a:rPr>
              <a:t>数据流图的基本符号</a:t>
            </a:r>
          </a:p>
        </p:txBody>
      </p:sp>
      <p:sp>
        <p:nvSpPr>
          <p:cNvPr id="22" name="矩形 21"/>
          <p:cNvSpPr/>
          <p:nvPr/>
        </p:nvSpPr>
        <p:spPr>
          <a:xfrm>
            <a:off x="789305" y="2070100"/>
            <a:ext cx="10638790" cy="364109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1005840" y="2370455"/>
          <a:ext cx="10206355" cy="3040409"/>
        </p:xfrm>
        <a:graphic>
          <a:graphicData uri="http://schemas.openxmlformats.org/drawingml/2006/table">
            <a:tbl>
              <a:tblPr firstRow="1" firstCol="1" bandRow="1">
                <a:tableStyleId>{F5AB1C69-6EDB-4FF4-983F-18BD219EF322}</a:tableStyleId>
              </a:tblPr>
              <a:tblGrid>
                <a:gridCol w="2983230"/>
                <a:gridCol w="7223125"/>
              </a:tblGrid>
              <a:tr h="579755">
                <a:tc>
                  <a:txBody>
                    <a:bodyPr/>
                    <a:lstStyle/>
                    <a:p>
                      <a:pPr algn="ctr">
                        <a:lnSpc>
                          <a:spcPct val="115000"/>
                        </a:lnSpc>
                        <a:spcAft>
                          <a:spcPts val="0"/>
                        </a:spcAft>
                      </a:pPr>
                      <a:r>
                        <a:rPr lang="zh-CN" altLang="en-US" sz="2000" kern="100" dirty="0" smtClean="0">
                          <a:effectLst/>
                        </a:rPr>
                        <a:t>符号</a:t>
                      </a:r>
                      <a:endParaRPr lang="zh-CN" altLang="en-US" sz="2000" kern="100" dirty="0" smtClean="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r>
              <a:tr h="570894">
                <a:tc>
                  <a:txBody>
                    <a:bodyPr/>
                    <a:lstStyle/>
                    <a:p>
                      <a:pPr algn="ctr">
                        <a:lnSpc>
                          <a:spcPct val="115000"/>
                        </a:lnSpc>
                        <a:spcAft>
                          <a:spcPts val="0"/>
                        </a:spcAft>
                      </a:pPr>
                      <a:r>
                        <a:rPr lang="zh-CN" sz="1800" kern="100" dirty="0">
                          <a:effectLst/>
                        </a:rPr>
                        <a:t>或</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数据的源点或终点</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12140">
                <a:tc>
                  <a:txBody>
                    <a:bodyPr/>
                    <a:lstStyle/>
                    <a:p>
                      <a:pPr algn="ctr">
                        <a:lnSpc>
                          <a:spcPct val="115000"/>
                        </a:lnSpc>
                        <a:spcAft>
                          <a:spcPts val="0"/>
                        </a:spcAft>
                      </a:pPr>
                      <a:r>
                        <a:rPr lang="zh-CN" sz="1800" kern="100" dirty="0">
                          <a:effectLst/>
                        </a:rPr>
                        <a:t>或</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数据处理</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28650">
                <a:tc>
                  <a:txBody>
                    <a:bodyPr/>
                    <a:lstStyle/>
                    <a:p>
                      <a:pPr algn="ctr">
                        <a:lnSpc>
                          <a:spcPct val="115000"/>
                        </a:lnSpc>
                        <a:spcAft>
                          <a:spcPts val="0"/>
                        </a:spcAft>
                      </a:pPr>
                      <a:r>
                        <a:rPr lang="zh-CN" sz="1800" kern="100" dirty="0">
                          <a:effectLst/>
                        </a:rPr>
                        <a:t>或</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数据存储</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48970">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数据流</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bl>
          </a:graphicData>
        </a:graphic>
      </p:graphicFrame>
      <p:sp>
        <p:nvSpPr>
          <p:cNvPr id="1073752523" name="矩形 1073752522"/>
          <p:cNvSpPr>
            <a:spLocks noRot="1"/>
          </p:cNvSpPr>
          <p:nvPr/>
        </p:nvSpPr>
        <p:spPr>
          <a:xfrm>
            <a:off x="1505585" y="3092450"/>
            <a:ext cx="457200" cy="396240"/>
          </a:xfrm>
          <a:prstGeom prst="rect">
            <a:avLst/>
          </a:prstGeom>
          <a:solidFill>
            <a:srgbClr val="FFFFFF"/>
          </a:solidFill>
          <a:ln w="9525" cap="flat" cmpd="sng">
            <a:solidFill>
              <a:schemeClr val="bg1"/>
            </a:solidFill>
            <a:prstDash val="solid"/>
            <a:miter/>
            <a:headEnd type="none" w="med" len="med"/>
            <a:tailEnd type="none" w="med" len="med"/>
          </a:ln>
        </p:spPr>
        <p:txBody>
          <a:bodyPr/>
          <a:lstStyle/>
          <a:p>
            <a:endParaRPr lang="zh-CN" altLang="en-US"/>
          </a:p>
        </p:txBody>
      </p:sp>
      <p:sp>
        <p:nvSpPr>
          <p:cNvPr id="1073752522" name="立方体 1073752521"/>
          <p:cNvSpPr>
            <a:spLocks noRot="1"/>
          </p:cNvSpPr>
          <p:nvPr/>
        </p:nvSpPr>
        <p:spPr>
          <a:xfrm>
            <a:off x="2986088" y="3087370"/>
            <a:ext cx="460375" cy="401320"/>
          </a:xfrm>
          <a:prstGeom prst="cube">
            <a:avLst>
              <a:gd name="adj" fmla="val 25000"/>
            </a:avLst>
          </a:prstGeom>
          <a:noFill/>
          <a:ln w="9525" cap="flat" cmpd="sng">
            <a:solidFill>
              <a:schemeClr val="bg1">
                <a:alpha val="94000"/>
              </a:schemeClr>
            </a:solidFill>
            <a:prstDash val="solid"/>
            <a:miter/>
            <a:headEnd type="none" w="med" len="med"/>
            <a:tailEnd type="none" w="med" len="med"/>
          </a:ln>
        </p:spPr>
        <p:txBody>
          <a:bodyPr/>
          <a:lstStyle/>
          <a:p>
            <a:endParaRPr lang="zh-CN" altLang="en-US">
              <a:solidFill>
                <a:schemeClr val="bg1"/>
              </a:solidFill>
            </a:endParaRPr>
          </a:p>
        </p:txBody>
      </p:sp>
      <p:sp>
        <p:nvSpPr>
          <p:cNvPr id="1073752521" name="圆角矩形 1073752520"/>
          <p:cNvSpPr>
            <a:spLocks noRot="1"/>
          </p:cNvSpPr>
          <p:nvPr/>
        </p:nvSpPr>
        <p:spPr>
          <a:xfrm>
            <a:off x="1564323" y="3720783"/>
            <a:ext cx="338455" cy="338455"/>
          </a:xfrm>
          <a:prstGeom prst="roundRect">
            <a:avLst>
              <a:gd name="adj" fmla="val 16667"/>
            </a:avLst>
          </a:prstGeom>
          <a:noFill/>
          <a:ln w="9525" cap="flat" cmpd="sng">
            <a:solidFill>
              <a:schemeClr val="bg1"/>
            </a:solidFill>
            <a:prstDash val="solid"/>
            <a:headEnd type="none" w="med" len="med"/>
            <a:tailEnd type="none" w="med" len="med"/>
          </a:ln>
        </p:spPr>
        <p:txBody>
          <a:bodyPr/>
          <a:lstStyle/>
          <a:p>
            <a:endParaRPr lang="zh-CN" altLang="en-US"/>
          </a:p>
        </p:txBody>
      </p:sp>
      <p:sp>
        <p:nvSpPr>
          <p:cNvPr id="1073752520" name="椭圆 1073752519"/>
          <p:cNvSpPr>
            <a:spLocks noRot="1"/>
          </p:cNvSpPr>
          <p:nvPr/>
        </p:nvSpPr>
        <p:spPr>
          <a:xfrm>
            <a:off x="3062923" y="3720783"/>
            <a:ext cx="306705" cy="306705"/>
          </a:xfrm>
          <a:prstGeom prst="ellipse">
            <a:avLst/>
          </a:prstGeom>
          <a:noFill/>
          <a:ln w="9525" cap="flat" cmpd="sng">
            <a:solidFill>
              <a:schemeClr val="bg1"/>
            </a:solidFill>
            <a:prstDash val="solid"/>
            <a:headEnd type="none" w="med" len="med"/>
            <a:tailEnd type="none" w="med" len="med"/>
          </a:ln>
        </p:spPr>
        <p:txBody>
          <a:bodyPr/>
          <a:lstStyle/>
          <a:p>
            <a:endParaRPr lang="zh-CN" altLang="en-US"/>
          </a:p>
        </p:txBody>
      </p:sp>
      <p:sp>
        <p:nvSpPr>
          <p:cNvPr id="1073752519" name="流程图: 库存数据 1073752518"/>
          <p:cNvSpPr>
            <a:spLocks noRot="1" noChangeAspect="1"/>
          </p:cNvSpPr>
          <p:nvPr/>
        </p:nvSpPr>
        <p:spPr>
          <a:xfrm>
            <a:off x="1505585" y="4357688"/>
            <a:ext cx="457200" cy="238125"/>
          </a:xfrm>
          <a:prstGeom prst="flowChartOnlineStorage">
            <a:avLst/>
          </a:prstGeom>
          <a:solidFill>
            <a:srgbClr val="FFFFFF"/>
          </a:solidFill>
          <a:ln w="9525" cap="flat" cmpd="sng">
            <a:solidFill>
              <a:schemeClr val="bg1"/>
            </a:solidFill>
            <a:prstDash val="solid"/>
            <a:miter/>
            <a:headEnd type="none" w="med" len="med"/>
            <a:tailEnd type="none" w="med" len="med"/>
          </a:ln>
        </p:spPr>
        <p:txBody>
          <a:bodyPr/>
          <a:lstStyle/>
          <a:p>
            <a:endParaRPr lang="zh-CN" altLang="en-US"/>
          </a:p>
        </p:txBody>
      </p:sp>
      <p:grpSp>
        <p:nvGrpSpPr>
          <p:cNvPr id="1073752515" name="组合 1073752514"/>
          <p:cNvGrpSpPr>
            <a:grpSpLocks noRot="1" noChangeAspect="1"/>
          </p:cNvGrpSpPr>
          <p:nvPr/>
        </p:nvGrpSpPr>
        <p:grpSpPr>
          <a:xfrm>
            <a:off x="3062923" y="4358005"/>
            <a:ext cx="450215" cy="237490"/>
            <a:chOff x="2269" y="9807"/>
            <a:chExt cx="900" cy="475"/>
          </a:xfrm>
        </p:grpSpPr>
        <p:sp>
          <p:nvSpPr>
            <p:cNvPr id="1073752516" name="直接连接符 1073752515"/>
            <p:cNvSpPr>
              <a:spLocks noChangeAspect="1"/>
            </p:cNvSpPr>
            <p:nvPr/>
          </p:nvSpPr>
          <p:spPr>
            <a:xfrm>
              <a:off x="2269" y="9807"/>
              <a:ext cx="900" cy="0"/>
            </a:xfrm>
            <a:prstGeom prst="line">
              <a:avLst/>
            </a:prstGeom>
            <a:ln w="9525" cap="flat" cmpd="sng">
              <a:solidFill>
                <a:schemeClr val="bg1"/>
              </a:solidFill>
              <a:prstDash val="solid"/>
              <a:headEnd type="none" w="med" len="med"/>
              <a:tailEnd type="none" w="med" len="med"/>
            </a:ln>
          </p:spPr>
        </p:sp>
        <p:sp>
          <p:nvSpPr>
            <p:cNvPr id="1073752517" name="直接连接符 1073752516"/>
            <p:cNvSpPr>
              <a:spLocks noChangeAspect="1"/>
            </p:cNvSpPr>
            <p:nvPr/>
          </p:nvSpPr>
          <p:spPr>
            <a:xfrm>
              <a:off x="2269" y="9807"/>
              <a:ext cx="0" cy="468"/>
            </a:xfrm>
            <a:prstGeom prst="line">
              <a:avLst/>
            </a:prstGeom>
            <a:ln w="9525" cap="flat" cmpd="sng">
              <a:solidFill>
                <a:schemeClr val="bg1"/>
              </a:solidFill>
              <a:prstDash val="solid"/>
              <a:headEnd type="none" w="med" len="med"/>
              <a:tailEnd type="none" w="med" len="med"/>
            </a:ln>
          </p:spPr>
        </p:sp>
        <p:sp>
          <p:nvSpPr>
            <p:cNvPr id="1073752518" name="直接连接符 1073752517"/>
            <p:cNvSpPr>
              <a:spLocks noChangeAspect="1"/>
            </p:cNvSpPr>
            <p:nvPr/>
          </p:nvSpPr>
          <p:spPr>
            <a:xfrm>
              <a:off x="2269" y="10282"/>
              <a:ext cx="900" cy="0"/>
            </a:xfrm>
            <a:prstGeom prst="line">
              <a:avLst/>
            </a:prstGeom>
            <a:ln w="9525" cap="flat" cmpd="sng">
              <a:solidFill>
                <a:schemeClr val="bg1"/>
              </a:solidFill>
              <a:prstDash val="solid"/>
              <a:headEnd type="none" w="med" len="med"/>
              <a:tailEnd type="none" w="med" len="med"/>
            </a:ln>
          </p:spPr>
        </p:sp>
      </p:grpSp>
      <p:cxnSp>
        <p:nvCxnSpPr>
          <p:cNvPr id="2" name="直接箭头连接符 1"/>
          <p:cNvCxnSpPr/>
          <p:nvPr/>
        </p:nvCxnSpPr>
        <p:spPr>
          <a:xfrm>
            <a:off x="1962785" y="5101590"/>
            <a:ext cx="892810" cy="0"/>
          </a:xfrm>
          <a:prstGeom prst="straightConnector1">
            <a:avLst/>
          </a:prstGeom>
          <a:ln w="28575" cmpd="sng">
            <a:solidFill>
              <a:schemeClr val="bg1"/>
            </a:solidFill>
            <a:prstDash val="solid"/>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3.2.1 </a:t>
            </a:r>
            <a:r>
              <a:rPr lang="zh-CN" altLang="en-US" sz="2400" dirty="0" smtClean="0">
                <a:solidFill>
                  <a:schemeClr val="tx1"/>
                </a:solidFill>
              </a:rPr>
              <a:t>数据流图的附加符号</a:t>
            </a:r>
          </a:p>
        </p:txBody>
      </p:sp>
      <p:sp>
        <p:nvSpPr>
          <p:cNvPr id="22" name="矩形 21"/>
          <p:cNvSpPr/>
          <p:nvPr/>
        </p:nvSpPr>
        <p:spPr>
          <a:xfrm>
            <a:off x="417195" y="2603500"/>
            <a:ext cx="4834255" cy="301625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541655" y="2814320"/>
          <a:ext cx="4585970" cy="2593975"/>
        </p:xfrm>
        <a:graphic>
          <a:graphicData uri="http://schemas.openxmlformats.org/drawingml/2006/table">
            <a:tbl>
              <a:tblPr firstRow="1" firstCol="1" bandRow="1">
                <a:tableStyleId>{5C22544A-7EE6-4342-B048-85BDC9FD1C3A}</a:tableStyleId>
              </a:tblPr>
              <a:tblGrid>
                <a:gridCol w="1388745"/>
                <a:gridCol w="3197225"/>
              </a:tblGrid>
              <a:tr h="628650">
                <a:tc>
                  <a:txBody>
                    <a:bodyPr/>
                    <a:lstStyle/>
                    <a:p>
                      <a:pPr algn="ctr">
                        <a:lnSpc>
                          <a:spcPct val="115000"/>
                        </a:lnSpc>
                        <a:spcAft>
                          <a:spcPts val="0"/>
                        </a:spcAft>
                      </a:pPr>
                      <a:r>
                        <a:rPr lang="zh-CN" altLang="en-US" sz="2000" kern="100" dirty="0" smtClean="0">
                          <a:effectLst/>
                          <a:latin typeface="微软雅黑" panose="020B0503020204020204" charset="-122"/>
                          <a:ea typeface="微软雅黑" panose="020B0503020204020204" charset="-122"/>
                        </a:rPr>
                        <a:t>符号</a:t>
                      </a:r>
                    </a:p>
                  </a:txBody>
                  <a:tcPr marL="68580" marR="68580" marT="0" marB="0" anchor="ctr"/>
                </a:tc>
                <a:tc>
                  <a:txBody>
                    <a:bodyPr/>
                    <a:lstStyle/>
                    <a:p>
                      <a:pPr algn="ctr">
                        <a:lnSpc>
                          <a:spcPct val="115000"/>
                        </a:lnSpc>
                        <a:spcAft>
                          <a:spcPts val="0"/>
                        </a:spcAft>
                      </a:pPr>
                      <a:r>
                        <a:rPr lang="zh-CN" sz="2000" kern="100" dirty="0">
                          <a:effectLst/>
                          <a:latin typeface="微软雅黑" panose="020B0503020204020204" charset="-122"/>
                          <a:ea typeface="微软雅黑" panose="020B0503020204020204" charset="-122"/>
                        </a:rPr>
                        <a:t>表示内容</a:t>
                      </a:r>
                    </a:p>
                  </a:txBody>
                  <a:tcPr marL="68580" marR="68580" marT="0" marB="0" anchor="ctr"/>
                </a:tc>
              </a:tr>
              <a:tr h="619125">
                <a:tc>
                  <a:txBody>
                    <a:bodyPr/>
                    <a:lstStyle/>
                    <a:p>
                      <a:pPr algn="ctr">
                        <a:lnSpc>
                          <a:spcPct val="115000"/>
                        </a:lnSpc>
                        <a:spcAft>
                          <a:spcPts val="0"/>
                        </a:spcAft>
                      </a:pPr>
                      <a:r>
                        <a:rPr lang="en-US" altLang="zh-CN" sz="1800" kern="100" dirty="0">
                          <a:effectLst/>
                          <a:latin typeface="微软雅黑" panose="020B0503020204020204" charset="-122"/>
                          <a:ea typeface="微软雅黑" panose="020B0503020204020204" charset="-122"/>
                        </a:rPr>
                        <a:t>*</a:t>
                      </a: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solidFill>
                            <a:srgbClr val="5F5E5C"/>
                          </a:solidFill>
                          <a:effectLst/>
                          <a:latin typeface="微软雅黑" panose="020B0503020204020204" charset="-122"/>
                          <a:ea typeface="微软雅黑" panose="020B0503020204020204" charset="-122"/>
                        </a:rPr>
                        <a:t>数据流之间是“与”关系。</a:t>
                      </a:r>
                    </a:p>
                  </a:txBody>
                  <a:tcPr marL="68580" marR="68580" marT="0" marB="0" anchor="ctr"/>
                </a:tc>
              </a:tr>
              <a:tr h="664845">
                <a:tc>
                  <a:txBody>
                    <a:bodyPr/>
                    <a:lstStyle/>
                    <a:p>
                      <a:pPr algn="ctr">
                        <a:lnSpc>
                          <a:spcPct val="115000"/>
                        </a:lnSpc>
                        <a:spcAft>
                          <a:spcPts val="0"/>
                        </a:spcAft>
                      </a:pPr>
                      <a:r>
                        <a:rPr lang="en-US" altLang="zh-CN" sz="1800" kern="100" dirty="0">
                          <a:effectLst/>
                          <a:latin typeface="微软雅黑" panose="020B0503020204020204" charset="-122"/>
                          <a:ea typeface="微软雅黑" panose="020B0503020204020204" charset="-122"/>
                        </a:rPr>
                        <a:t>+</a:t>
                      </a: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solidFill>
                            <a:srgbClr val="5F5E5C"/>
                          </a:solidFill>
                          <a:effectLst/>
                          <a:latin typeface="微软雅黑" panose="020B0503020204020204" charset="-122"/>
                          <a:ea typeface="微软雅黑" panose="020B0503020204020204" charset="-122"/>
                        </a:rPr>
                        <a:t>数据流之间是“或”关系</a:t>
                      </a:r>
                    </a:p>
                  </a:txBody>
                  <a:tcPr marL="68580" marR="68580" marT="0" marB="0" anchor="ctr"/>
                </a:tc>
              </a:tr>
              <a:tr h="681355">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solidFill>
                            <a:srgbClr val="5F5E5C"/>
                          </a:solidFill>
                          <a:effectLst/>
                          <a:latin typeface="微软雅黑" panose="020B0503020204020204" charset="-122"/>
                          <a:ea typeface="微软雅黑" panose="020B0503020204020204" charset="-122"/>
                          <a:sym typeface="+mn-ea"/>
                        </a:rPr>
                        <a:t>数据流之间是互斥关系</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bl>
          </a:graphicData>
        </a:graphic>
      </p:graphicFrame>
      <p:pic>
        <p:nvPicPr>
          <p:cNvPr id="100" name="图片 99"/>
          <p:cNvPicPr/>
          <p:nvPr/>
        </p:nvPicPr>
        <p:blipFill>
          <a:blip r:embed="rId4" cstate="print"/>
          <a:stretch>
            <a:fillRect/>
          </a:stretch>
        </p:blipFill>
        <p:spPr>
          <a:xfrm>
            <a:off x="5758815" y="1238885"/>
            <a:ext cx="5887720" cy="4665980"/>
          </a:xfrm>
          <a:prstGeom prst="rect">
            <a:avLst/>
          </a:prstGeom>
          <a:noFill/>
          <a:ln w="9525">
            <a:noFill/>
          </a:ln>
        </p:spPr>
      </p:pic>
      <p:sp>
        <p:nvSpPr>
          <p:cNvPr id="5" name="流程图: 联系 4"/>
          <p:cNvSpPr/>
          <p:nvPr/>
        </p:nvSpPr>
        <p:spPr>
          <a:xfrm>
            <a:off x="1120150" y="5035740"/>
            <a:ext cx="189230" cy="159385"/>
          </a:xfrm>
          <a:prstGeom prst="flowChartConnector">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p>
        </p:txBody>
      </p:sp>
      <p:sp>
        <p:nvSpPr>
          <p:cNvPr id="24" name="矩形 23"/>
          <p:cNvSpPr>
            <a:spLocks noChangeAspect="1"/>
          </p:cNvSpPr>
          <p:nvPr/>
        </p:nvSpPr>
        <p:spPr>
          <a:xfrm>
            <a:off x="5589905" y="1002665"/>
            <a:ext cx="6226175" cy="4902200"/>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sp>
        <p:nvSpPr>
          <p:cNvPr id="6" name="文本框 5"/>
          <p:cNvSpPr txBox="1"/>
          <p:nvPr>
            <p:custDataLst>
              <p:tags r:id="rId1"/>
            </p:custDataLst>
          </p:nvPr>
        </p:nvSpPr>
        <p:spPr>
          <a:xfrm>
            <a:off x="5589270" y="645160"/>
            <a:ext cx="2505710" cy="593725"/>
          </a:xfrm>
          <a:prstGeom prst="rect">
            <a:avLst/>
          </a:prstGeom>
          <a:solidFill>
            <a:srgbClr val="D74B4B"/>
          </a:solidFill>
          <a:ln>
            <a:noFill/>
          </a:ln>
          <a:effectLst/>
          <a:extLs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90170" tIns="46990" rIns="90170" bIns="46990" anchor="ctr">
            <a:normAutofit/>
          </a:bodyPr>
          <a:lstStyle>
            <a:defPPr>
              <a:defRPr lang="zh-CN"/>
            </a:defPPr>
            <a:lvl1pPr eaLnBrk="1" hangingPunct="1">
              <a:defRPr sz="2000">
                <a:solidFill>
                  <a:schemeClr val="bg1"/>
                </a:solidFill>
                <a:latin typeface="+mj-lt"/>
                <a:ea typeface="+mj-ea"/>
                <a:cs typeface="+mj-cs"/>
              </a:defRPr>
            </a:lvl1pPr>
            <a:lvl2pPr marL="742950" indent="-285750">
              <a:defRPr>
                <a:ea typeface="宋体" panose="02010600030101010101" pitchFamily="2" charset="-122"/>
              </a:defRPr>
            </a:lvl2pPr>
            <a:lvl3pPr marL="1143000" indent="-228600">
              <a:defRPr>
                <a:ea typeface="宋体" panose="02010600030101010101" pitchFamily="2" charset="-122"/>
              </a:defRPr>
            </a:lvl3pPr>
            <a:lvl4pPr marL="1600200" indent="-228600">
              <a:defRPr>
                <a:ea typeface="宋体" panose="02010600030101010101" pitchFamily="2" charset="-122"/>
              </a:defRPr>
            </a:lvl4pPr>
            <a:lvl5pPr marL="2057400" indent="-228600">
              <a:defRPr>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ea typeface="宋体" panose="02010600030101010101" pitchFamily="2" charset="-122"/>
              </a:defRPr>
            </a:lvl9pPr>
          </a:lstStyle>
          <a:p>
            <a:r>
              <a:rPr lang="zh-CN" altLang="zh-CN" sz="2800" b="1" dirty="0" smtClean="0">
                <a:solidFill>
                  <a:schemeClr val="bg1"/>
                </a:solidFill>
                <a:latin typeface="微软雅黑" panose="020B0503020204020204" charset="-122"/>
                <a:ea typeface="微软雅黑" panose="020B0503020204020204" charset="-122"/>
                <a:sym typeface="+mn-ea"/>
              </a:rPr>
              <a:t>附加符号示例</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3.2.2 </a:t>
            </a:r>
            <a:r>
              <a:rPr lang="zh-CN" altLang="en-US" sz="2400" dirty="0" smtClean="0">
                <a:solidFill>
                  <a:schemeClr val="tx1"/>
                </a:solidFill>
              </a:rPr>
              <a:t>画数据流图的步骤</a:t>
            </a:r>
          </a:p>
        </p:txBody>
      </p:sp>
      <p:grpSp>
        <p:nvGrpSpPr>
          <p:cNvPr id="7" name="组合 6"/>
          <p:cNvGrpSpPr/>
          <p:nvPr/>
        </p:nvGrpSpPr>
        <p:grpSpPr>
          <a:xfrm>
            <a:off x="1007745" y="2061210"/>
            <a:ext cx="9939976" cy="4006850"/>
            <a:chOff x="677" y="2256"/>
            <a:chExt cx="18064" cy="7820"/>
          </a:xfrm>
        </p:grpSpPr>
        <p:grpSp>
          <p:nvGrpSpPr>
            <p:cNvPr id="6" name="组合 5"/>
            <p:cNvGrpSpPr/>
            <p:nvPr/>
          </p:nvGrpSpPr>
          <p:grpSpPr>
            <a:xfrm>
              <a:off x="677" y="2256"/>
              <a:ext cx="17811" cy="4369"/>
              <a:chOff x="677" y="2256"/>
              <a:chExt cx="17811" cy="4369"/>
            </a:xfrm>
          </p:grpSpPr>
          <p:sp>
            <p:nvSpPr>
              <p:cNvPr id="17415" name="Oval 5"/>
              <p:cNvSpPr>
                <a:spLocks noChangeArrowheads="1"/>
              </p:cNvSpPr>
              <p:nvPr>
                <p:custDataLst>
                  <p:tags r:id="rId4"/>
                </p:custDataLst>
              </p:nvPr>
            </p:nvSpPr>
            <p:spPr bwMode="auto">
              <a:xfrm>
                <a:off x="8341" y="2256"/>
                <a:ext cx="2487" cy="2487"/>
              </a:xfrm>
              <a:prstGeom prst="ellipse">
                <a:avLst/>
              </a:prstGeom>
              <a:solidFill>
                <a:schemeClr val="accent3">
                  <a:lumMod val="60000"/>
                  <a:lumOff val="40000"/>
                </a:schemeClr>
              </a:solidFill>
              <a:ln>
                <a:noFill/>
              </a:ln>
              <a:effectLst/>
              <a:extLst>
                <a:ext uri="{91240B29-F687-4F45-9708-019B960494DF}">
                  <a14:hiddenLine xmlns:a14="http://schemas.microsoft.com/office/drawing/2010/main" xmlns="" w="9525">
                    <a:solidFill>
                      <a:srgbClr val="000000"/>
                    </a:solidFill>
                    <a:rou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02</a:t>
                </a:r>
              </a:p>
            </p:txBody>
          </p:sp>
          <p:sp>
            <p:nvSpPr>
              <p:cNvPr id="17416" name="Line 6"/>
              <p:cNvSpPr>
                <a:spLocks noChangeShapeType="1"/>
              </p:cNvSpPr>
              <p:nvPr>
                <p:custDataLst>
                  <p:tags r:id="rId5"/>
                </p:custDataLst>
              </p:nvPr>
            </p:nvSpPr>
            <p:spPr bwMode="auto">
              <a:xfrm>
                <a:off x="11233"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sp>
            <p:nvSpPr>
              <p:cNvPr id="17417" name="Oval 7"/>
              <p:cNvSpPr>
                <a:spLocks noChangeArrowheads="1"/>
              </p:cNvSpPr>
              <p:nvPr>
                <p:custDataLst>
                  <p:tags r:id="rId6"/>
                </p:custDataLst>
              </p:nvPr>
            </p:nvSpPr>
            <p:spPr bwMode="auto">
              <a:xfrm>
                <a:off x="14627" y="2256"/>
                <a:ext cx="2487" cy="2487"/>
              </a:xfrm>
              <a:prstGeom prst="ellipse">
                <a:avLst/>
              </a:prstGeom>
              <a:solidFill>
                <a:schemeClr val="accent3">
                  <a:lumMod val="75000"/>
                </a:schemeClr>
              </a:solidFill>
              <a:ln>
                <a:noFill/>
              </a:ln>
              <a:effectLst/>
              <a:extLst>
                <a:ext uri="{91240B29-F687-4F45-9708-019B960494DF}">
                  <a14:hiddenLine xmlns:a14="http://schemas.microsoft.com/office/drawing/2010/main" xmlns="" w="9525">
                    <a:solidFill>
                      <a:srgbClr val="000000"/>
                    </a:solidFill>
                    <a:rou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a:solidFill>
                      <a:schemeClr val="bg1"/>
                    </a:solidFill>
                    <a:latin typeface="+mn-lt"/>
                    <a:ea typeface="+mn-ea"/>
                  </a:rPr>
                  <a:t>03</a:t>
                </a:r>
              </a:p>
            </p:txBody>
          </p:sp>
          <p:sp>
            <p:nvSpPr>
              <p:cNvPr id="17418" name="Oval 8"/>
              <p:cNvSpPr>
                <a:spLocks noChangeArrowheads="1"/>
              </p:cNvSpPr>
              <p:nvPr>
                <p:custDataLst>
                  <p:tags r:id="rId7"/>
                </p:custDataLst>
              </p:nvPr>
            </p:nvSpPr>
            <p:spPr bwMode="auto">
              <a:xfrm>
                <a:off x="2054" y="2256"/>
                <a:ext cx="2487" cy="2487"/>
              </a:xfrm>
              <a:prstGeom prst="ellipse">
                <a:avLst/>
              </a:prstGeom>
              <a:solidFill>
                <a:schemeClr val="accent3">
                  <a:lumMod val="40000"/>
                  <a:lumOff val="60000"/>
                </a:schemeClr>
              </a:solidFill>
              <a:ln>
                <a:noFill/>
              </a:ln>
              <a:effectLst/>
              <a:extLst>
                <a:ext uri="{91240B29-F687-4F45-9708-019B960494DF}">
                  <a14:hiddenLine xmlns:a14="http://schemas.microsoft.com/office/drawing/2010/main" xmlns="" w="9525">
                    <a:solidFill>
                      <a:srgbClr val="000000"/>
                    </a:solidFill>
                    <a:rou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170" tIns="46990" rIns="90170" bIns="46990" anchor="ct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800" dirty="0">
                    <a:solidFill>
                      <a:schemeClr val="bg1"/>
                    </a:solidFill>
                    <a:latin typeface="+mn-lt"/>
                    <a:ea typeface="+mn-ea"/>
                  </a:rPr>
                  <a:t>01</a:t>
                </a:r>
              </a:p>
            </p:txBody>
          </p:sp>
          <p:sp>
            <p:nvSpPr>
              <p:cNvPr id="17419" name="Line 9"/>
              <p:cNvSpPr>
                <a:spLocks noChangeShapeType="1"/>
              </p:cNvSpPr>
              <p:nvPr>
                <p:custDataLst>
                  <p:tags r:id="rId8"/>
                </p:custDataLst>
              </p:nvPr>
            </p:nvSpPr>
            <p:spPr bwMode="auto">
              <a:xfrm>
                <a:off x="4946" y="3606"/>
                <a:ext cx="2990" cy="0"/>
              </a:xfrm>
              <a:prstGeom prst="line">
                <a:avLst/>
              </a:prstGeom>
              <a:noFill/>
              <a:ln w="28575" cmpd="sng">
                <a:solidFill>
                  <a:srgbClr val="D74B4B"/>
                </a:solidFill>
                <a:prstDash val="lg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latin typeface="+mn-lt"/>
                  <a:ea typeface="+mn-ea"/>
                  <a:sym typeface="Arial" panose="020B0604020202020204" pitchFamily="34" charset="0"/>
                </a:endParaRPr>
              </a:p>
            </p:txBody>
          </p:sp>
          <p:sp>
            <p:nvSpPr>
              <p:cNvPr id="17420" name="Text Box 10"/>
              <p:cNvSpPr txBox="1">
                <a:spLocks noChangeArrowheads="1"/>
              </p:cNvSpPr>
              <p:nvPr>
                <p:custDataLst>
                  <p:tags r:id="rId9"/>
                </p:custDataLst>
              </p:nvPr>
            </p:nvSpPr>
            <p:spPr bwMode="auto">
              <a:xfrm>
                <a:off x="677" y="5283"/>
                <a:ext cx="5244" cy="1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0170" tIns="46990" rIns="90170" bIns="46990" anchor="ctr">
                <a:normAutofit fontScale="97500"/>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400" b="1" dirty="0">
                    <a:solidFill>
                      <a:schemeClr val="tx2"/>
                    </a:solidFill>
                    <a:latin typeface="+mj-lt"/>
                    <a:ea typeface="+mj-ea"/>
                    <a:cs typeface="+mj-cs"/>
                  </a:rPr>
                  <a:t>画顶层数据流图</a:t>
                </a:r>
              </a:p>
            </p:txBody>
          </p:sp>
          <p:sp>
            <p:nvSpPr>
              <p:cNvPr id="17421" name="Text Box 11"/>
              <p:cNvSpPr txBox="1">
                <a:spLocks noChangeArrowheads="1"/>
              </p:cNvSpPr>
              <p:nvPr>
                <p:custDataLst>
                  <p:tags r:id="rId10"/>
                </p:custDataLst>
              </p:nvPr>
            </p:nvSpPr>
            <p:spPr bwMode="auto">
              <a:xfrm>
                <a:off x="6961" y="5283"/>
                <a:ext cx="5244" cy="134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400" b="1" dirty="0">
                    <a:solidFill>
                      <a:schemeClr val="tx2"/>
                    </a:solidFill>
                    <a:latin typeface="+mj-lt"/>
                    <a:ea typeface="+mj-ea"/>
                    <a:cs typeface="+mj-cs"/>
                  </a:rPr>
                  <a:t>画各层数的据流图</a:t>
                </a:r>
              </a:p>
            </p:txBody>
          </p:sp>
          <p:sp>
            <p:nvSpPr>
              <p:cNvPr id="17422" name="Text Box 12"/>
              <p:cNvSpPr txBox="1">
                <a:spLocks noChangeArrowheads="1"/>
              </p:cNvSpPr>
              <p:nvPr>
                <p:custDataLst>
                  <p:tags r:id="rId11"/>
                </p:custDataLst>
              </p:nvPr>
            </p:nvSpPr>
            <p:spPr bwMode="auto">
              <a:xfrm>
                <a:off x="13244" y="5283"/>
                <a:ext cx="5244" cy="134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wrap="square" lIns="90170" tIns="46990" rIns="90170" bIns="46990" anchor="ctr">
                <a:normAutofit/>
              </a:bodyPr>
              <a:lstStyle>
                <a:lvl1pPr>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1pPr>
                <a:lvl2pPr marL="742950" indent="-28575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2pPr>
                <a:lvl3pPr marL="11430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3pPr>
                <a:lvl4pPr marL="16002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4pPr>
                <a:lvl5pPr marL="2057400" indent="-228600">
                  <a:spcBef>
                    <a:spcPct val="20000"/>
                  </a:spcBef>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5pPr>
                <a:lvl6pPr marL="25146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6pPr>
                <a:lvl7pPr marL="29718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7pPr>
                <a:lvl8pPr marL="34290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8pPr>
                <a:lvl9pPr marL="3886200" indent="-228600" eaLnBrk="0" fontAlgn="base" hangingPunct="0">
                  <a:spcBef>
                    <a:spcPct val="20000"/>
                  </a:spcBef>
                  <a:spcAft>
                    <a:spcPct val="0"/>
                  </a:spcAft>
                  <a:buChar char="»"/>
                  <a:defRPr sz="1600">
                    <a:solidFill>
                      <a:srgbClr val="475F77"/>
                    </a:solidFill>
                    <a:latin typeface="Arial" panose="020B0604020202020204" pitchFamily="34" charset="0"/>
                    <a:ea typeface="黑体" panose="02010609060101010101" pitchFamily="49" charset="-122"/>
                    <a:sym typeface="Arial" panose="020B0604020202020204" pitchFamily="34" charset="0"/>
                  </a:defRPr>
                </a:lvl9pPr>
              </a:lstStyle>
              <a:p>
                <a:pPr algn="ctr" eaLnBrk="1" hangingPunct="1">
                  <a:spcBef>
                    <a:spcPct val="0"/>
                  </a:spcBef>
                  <a:buFontTx/>
                  <a:buNone/>
                </a:pPr>
                <a:r>
                  <a:rPr lang="zh-CN" altLang="zh-CN" sz="2400" b="1" dirty="0">
                    <a:solidFill>
                      <a:schemeClr val="tx2"/>
                    </a:solidFill>
                    <a:latin typeface="+mj-lt"/>
                    <a:ea typeface="+mj-ea"/>
                    <a:cs typeface="+mj-cs"/>
                  </a:rPr>
                  <a:t>画总的数据流图</a:t>
                </a:r>
              </a:p>
            </p:txBody>
          </p:sp>
        </p:grpSp>
        <p:sp>
          <p:nvSpPr>
            <p:cNvPr id="2" name="文本框 1"/>
            <p:cNvSpPr txBox="1"/>
            <p:nvPr>
              <p:custDataLst>
                <p:tags r:id="rId1"/>
              </p:custDataLst>
            </p:nvPr>
          </p:nvSpPr>
          <p:spPr>
            <a:xfrm>
              <a:off x="677" y="6626"/>
              <a:ext cx="5241" cy="3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a:t>	       </a:t>
              </a:r>
              <a:r>
                <a:rPr lang="zh-CN" altLang="en-US"/>
                <a:t>列出系统的全部数据源和数据终点，将系统加工处理过程作为一个整体，即可得到顶层数据流图。</a:t>
              </a:r>
            </a:p>
          </p:txBody>
        </p:sp>
        <p:sp>
          <p:nvSpPr>
            <p:cNvPr id="4" name="文本框 3"/>
            <p:cNvSpPr txBox="1"/>
            <p:nvPr>
              <p:custDataLst>
                <p:tags r:id="rId2"/>
              </p:custDataLst>
            </p:nvPr>
          </p:nvSpPr>
          <p:spPr>
            <a:xfrm>
              <a:off x="6964" y="6626"/>
              <a:ext cx="5241" cy="3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a:t>        </a:t>
              </a:r>
              <a:r>
                <a:rPr lang="zh-CN" altLang="en-US"/>
                <a:t>对系统处理过程自顶向下、逐步分解，每层画出数据流图。</a:t>
              </a:r>
            </a:p>
          </p:txBody>
        </p:sp>
        <p:sp>
          <p:nvSpPr>
            <p:cNvPr id="5" name="文本框 4"/>
            <p:cNvSpPr txBox="1"/>
            <p:nvPr>
              <p:custDataLst>
                <p:tags r:id="rId3"/>
              </p:custDataLst>
            </p:nvPr>
          </p:nvSpPr>
          <p:spPr>
            <a:xfrm>
              <a:off x="13250" y="6626"/>
              <a:ext cx="5491" cy="3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vert="horz" wrap="square" lIns="91440" tIns="45720" rIns="91440" bIns="45720" numCol="1" anchor="t" anchorCtr="0" compatLnSpc="1">
              <a:normAutofit/>
            </a:bodyPr>
            <a:lstStyle>
              <a:lvl1pPr marL="14605" indent="-14605" eaLnBrk="1" hangingPunct="1">
                <a:spcBef>
                  <a:spcPct val="20000"/>
                </a:spcBef>
                <a:buFontTx/>
                <a:buNone/>
                <a:defRPr sz="1800">
                  <a:latin typeface="+mn-lt"/>
                  <a:ea typeface="+mn-ea"/>
                  <a:sym typeface="Arial" panose="020B0604020202020204" pitchFamily="34" charset="0"/>
                </a:defRPr>
              </a:lvl1pPr>
              <a:lvl2pPr marL="742950" indent="-285750">
                <a:spcBef>
                  <a:spcPct val="20000"/>
                </a:spcBef>
                <a:buChar char="–"/>
                <a:defRPr sz="1600">
                  <a:solidFill>
                    <a:srgbClr val="475F77"/>
                  </a:solidFill>
                  <a:sym typeface="Arial" panose="020B0604020202020204" pitchFamily="34" charset="0"/>
                </a:defRPr>
              </a:lvl2pPr>
              <a:lvl3pPr marL="1143000" indent="-228600">
                <a:spcBef>
                  <a:spcPct val="20000"/>
                </a:spcBef>
                <a:buChar char="•"/>
                <a:defRPr sz="1600">
                  <a:solidFill>
                    <a:srgbClr val="475F77"/>
                  </a:solidFill>
                  <a:sym typeface="Arial" panose="020B0604020202020204" pitchFamily="34" charset="0"/>
                </a:defRPr>
              </a:lvl3pPr>
              <a:lvl4pPr marL="1600200" indent="-228600">
                <a:spcBef>
                  <a:spcPct val="20000"/>
                </a:spcBef>
                <a:buChar char="–"/>
                <a:defRPr sz="1600">
                  <a:solidFill>
                    <a:srgbClr val="475F77"/>
                  </a:solidFill>
                  <a:sym typeface="Arial" panose="020B0604020202020204" pitchFamily="34" charset="0"/>
                </a:defRPr>
              </a:lvl4pPr>
              <a:lvl5pPr marL="2057400" indent="-228600">
                <a:spcBef>
                  <a:spcPct val="20000"/>
                </a:spcBef>
                <a:buChar char="»"/>
                <a:defRPr sz="1600">
                  <a:solidFill>
                    <a:srgbClr val="475F77"/>
                  </a:solidFill>
                  <a:sym typeface="Arial" panose="020B0604020202020204" pitchFamily="34" charset="0"/>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a:t>       </a:t>
              </a:r>
              <a:r>
                <a:rPr lang="zh-CN" altLang="en-US"/>
                <a:t>这一步对了解整个系统很有好处，但也要根据实际情况来决定总图的布局，不要把数据流图画得太复杂。</a:t>
              </a:r>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3.2.3 </a:t>
            </a:r>
            <a:r>
              <a:rPr lang="zh-CN" altLang="en-US" sz="2400" dirty="0" smtClean="0">
                <a:solidFill>
                  <a:schemeClr val="tx1"/>
                </a:solidFill>
              </a:rPr>
              <a:t>注意事项</a:t>
            </a:r>
          </a:p>
        </p:txBody>
      </p:sp>
      <p:grpSp>
        <p:nvGrpSpPr>
          <p:cNvPr id="14" name="组合 13"/>
          <p:cNvGrpSpPr/>
          <p:nvPr/>
        </p:nvGrpSpPr>
        <p:grpSpPr>
          <a:xfrm>
            <a:off x="754380" y="2134235"/>
            <a:ext cx="5158740" cy="1352550"/>
            <a:chOff x="1188" y="3093"/>
            <a:chExt cx="8124" cy="2130"/>
          </a:xfrm>
        </p:grpSpPr>
        <p:grpSp>
          <p:nvGrpSpPr>
            <p:cNvPr id="5" name="组合 4"/>
            <p:cNvGrpSpPr/>
            <p:nvPr/>
          </p:nvGrpSpPr>
          <p:grpSpPr>
            <a:xfrm>
              <a:off x="1188" y="3093"/>
              <a:ext cx="8124" cy="930"/>
              <a:chOff x="508000" y="3196191"/>
              <a:chExt cx="5158698" cy="590550"/>
            </a:xfrm>
          </p:grpSpPr>
          <p:sp>
            <p:nvSpPr>
              <p:cNvPr id="21" name="TextBox 1"/>
              <p:cNvSpPr txBox="1">
                <a:spLocks noChangeArrowheads="1"/>
              </p:cNvSpPr>
              <p:nvPr/>
            </p:nvSpPr>
            <p:spPr bwMode="auto">
              <a:xfrm>
                <a:off x="508000" y="3196191"/>
                <a:ext cx="318132"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1</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22" name="直接连接符 21"/>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751" y="3291428"/>
                <a:ext cx="4705947" cy="4143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数据处理不一定是一个程序</a:t>
                </a:r>
              </a:p>
            </p:txBody>
          </p:sp>
        </p:grpSp>
        <p:sp>
          <p:nvSpPr>
            <p:cNvPr id="24" name="矩形 8"/>
            <p:cNvSpPr>
              <a:spLocks noChangeArrowheads="1"/>
            </p:cNvSpPr>
            <p:nvPr/>
          </p:nvSpPr>
          <p:spPr bwMode="auto">
            <a:xfrm>
              <a:off x="1689" y="3927"/>
              <a:ext cx="7568"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sz="1600" dirty="0">
                  <a:latin typeface="微软雅黑" panose="020B0503020204020204" charset="-122"/>
                  <a:ea typeface="微软雅黑" panose="020B0503020204020204" charset="-122"/>
                </a:rPr>
                <a:t>一个处理框可以代表一个程序或一个模块，也可以是一个处理过程。</a:t>
              </a:r>
            </a:p>
          </p:txBody>
        </p:sp>
      </p:grpSp>
      <p:grpSp>
        <p:nvGrpSpPr>
          <p:cNvPr id="6" name="组合 5"/>
          <p:cNvGrpSpPr/>
          <p:nvPr/>
        </p:nvGrpSpPr>
        <p:grpSpPr>
          <a:xfrm>
            <a:off x="754380" y="3495491"/>
            <a:ext cx="6177280" cy="1237615"/>
            <a:chOff x="1195" y="6125"/>
            <a:chExt cx="9728" cy="1949"/>
          </a:xfrm>
        </p:grpSpPr>
        <p:grpSp>
          <p:nvGrpSpPr>
            <p:cNvPr id="29" name="组合 28"/>
            <p:cNvGrpSpPr/>
            <p:nvPr/>
          </p:nvGrpSpPr>
          <p:grpSpPr>
            <a:xfrm>
              <a:off x="1195" y="6125"/>
              <a:ext cx="9728" cy="930"/>
              <a:chOff x="512763" y="5121828"/>
              <a:chExt cx="6176675" cy="590550"/>
            </a:xfrm>
          </p:grpSpPr>
          <p:sp>
            <p:nvSpPr>
              <p:cNvPr id="25" name="TextBox 10"/>
              <p:cNvSpPr txBox="1">
                <a:spLocks noChangeArrowheads="1"/>
              </p:cNvSpPr>
              <p:nvPr/>
            </p:nvSpPr>
            <p:spPr bwMode="auto">
              <a:xfrm>
                <a:off x="512763" y="5121828"/>
                <a:ext cx="361274"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2</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26" name="直接连接符 25"/>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394" y="5217082"/>
                <a:ext cx="5729044" cy="4629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一个数据存储不一定是一个文件</a:t>
                </a:r>
              </a:p>
            </p:txBody>
          </p:sp>
        </p:grpSp>
        <p:sp>
          <p:nvSpPr>
            <p:cNvPr id="28" name="矩形 9"/>
            <p:cNvSpPr>
              <a:spLocks noChangeArrowheads="1"/>
            </p:cNvSpPr>
            <p:nvPr/>
          </p:nvSpPr>
          <p:spPr bwMode="auto">
            <a:xfrm>
              <a:off x="1696" y="6920"/>
              <a:ext cx="7376" cy="11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zh-CN" altLang="en-US" sz="1600" dirty="0">
                  <a:latin typeface="微软雅黑" panose="020B0503020204020204" charset="-122"/>
                  <a:ea typeface="微软雅黑" panose="020B0503020204020204" charset="-122"/>
                </a:rPr>
                <a:t>它可以表示一个文件或一个数据项，数据可以存储在任何介质上，包括人脑。</a:t>
              </a:r>
            </a:p>
          </p:txBody>
        </p:sp>
      </p:grpSp>
      <p:grpSp>
        <p:nvGrpSpPr>
          <p:cNvPr id="9" name="组合 8"/>
          <p:cNvGrpSpPr/>
          <p:nvPr/>
        </p:nvGrpSpPr>
        <p:grpSpPr>
          <a:xfrm>
            <a:off x="754380" y="4800410"/>
            <a:ext cx="7097396" cy="1228725"/>
            <a:chOff x="1195" y="6153"/>
            <a:chExt cx="11177" cy="1935"/>
          </a:xfrm>
        </p:grpSpPr>
        <p:grpSp>
          <p:nvGrpSpPr>
            <p:cNvPr id="10" name="组合 9"/>
            <p:cNvGrpSpPr/>
            <p:nvPr/>
          </p:nvGrpSpPr>
          <p:grpSpPr>
            <a:xfrm>
              <a:off x="1195" y="6153"/>
              <a:ext cx="11177" cy="930"/>
              <a:chOff x="512763" y="5140941"/>
              <a:chExt cx="7095444" cy="590550"/>
            </a:xfrm>
          </p:grpSpPr>
          <p:sp>
            <p:nvSpPr>
              <p:cNvPr id="11" name="TextBox 10"/>
              <p:cNvSpPr txBox="1">
                <a:spLocks noChangeArrowheads="1"/>
              </p:cNvSpPr>
              <p:nvPr/>
            </p:nvSpPr>
            <p:spPr bwMode="auto">
              <a:xfrm>
                <a:off x="512763" y="5140941"/>
                <a:ext cx="371356"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3</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12" name="直接连接符 11"/>
              <p:cNvCxnSpPr/>
              <p:nvPr/>
            </p:nvCxnSpPr>
            <p:spPr>
              <a:xfrm flipH="1">
                <a:off x="512763" y="514094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960315" y="5237491"/>
                <a:ext cx="6647892" cy="3849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数据存储和数据流都是数据</a:t>
                </a:r>
              </a:p>
            </p:txBody>
          </p:sp>
        </p:grpSp>
        <p:sp>
          <p:nvSpPr>
            <p:cNvPr id="16" name="矩形 9"/>
            <p:cNvSpPr>
              <a:spLocks noChangeArrowheads="1"/>
            </p:cNvSpPr>
            <p:nvPr/>
          </p:nvSpPr>
          <p:spPr bwMode="auto">
            <a:xfrm>
              <a:off x="1764" y="6934"/>
              <a:ext cx="7308" cy="11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sz="1600" dirty="0">
                  <a:latin typeface="微软雅黑" panose="020B0503020204020204" charset="-122"/>
                  <a:ea typeface="微软雅黑" panose="020B0503020204020204" charset="-122"/>
                </a:rPr>
                <a:t>数据存储是静止状态的数据，数据流是运动状态的数据。</a:t>
              </a:r>
            </a:p>
          </p:txBody>
        </p:sp>
      </p:grpSp>
      <p:grpSp>
        <p:nvGrpSpPr>
          <p:cNvPr id="8" name="组合 7"/>
          <p:cNvGrpSpPr/>
          <p:nvPr/>
        </p:nvGrpSpPr>
        <p:grpSpPr>
          <a:xfrm>
            <a:off x="6166749" y="1516567"/>
            <a:ext cx="5296535" cy="2510790"/>
            <a:chOff x="1188" y="3093"/>
            <a:chExt cx="8341" cy="3954"/>
          </a:xfrm>
        </p:grpSpPr>
        <p:grpSp>
          <p:nvGrpSpPr>
            <p:cNvPr id="15" name="组合 14"/>
            <p:cNvGrpSpPr/>
            <p:nvPr/>
          </p:nvGrpSpPr>
          <p:grpSpPr>
            <a:xfrm>
              <a:off x="1188" y="3093"/>
              <a:ext cx="8124" cy="930"/>
              <a:chOff x="508000" y="3196191"/>
              <a:chExt cx="5158698" cy="590550"/>
            </a:xfrm>
          </p:grpSpPr>
          <p:sp>
            <p:nvSpPr>
              <p:cNvPr id="17" name="TextBox 1"/>
              <p:cNvSpPr txBox="1">
                <a:spLocks noChangeArrowheads="1"/>
              </p:cNvSpPr>
              <p:nvPr/>
            </p:nvSpPr>
            <p:spPr bwMode="auto">
              <a:xfrm>
                <a:off x="508000" y="3196191"/>
                <a:ext cx="360677"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charset="-128"/>
                  </a:rPr>
                  <a:t>4</a:t>
                </a:r>
                <a:endParaRPr lang="zh-CN" altLang="en-US" sz="2800" dirty="0">
                  <a:solidFill>
                    <a:srgbClr val="E67819"/>
                  </a:solidFill>
                  <a:latin typeface="Impact" panose="020B0806030902050204" pitchFamily="34" charset="0"/>
                  <a:ea typeface="MS UI Gothic" panose="020B0600070205080204" charset="-128"/>
                </a:endParaRPr>
              </a:p>
            </p:txBody>
          </p:sp>
          <p:cxnSp>
            <p:nvCxnSpPr>
              <p:cNvPr id="18" name="直接连接符 1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0" name="矩形 7"/>
              <p:cNvSpPr>
                <a:spLocks noChangeArrowheads="1"/>
              </p:cNvSpPr>
              <p:nvPr/>
            </p:nvSpPr>
            <p:spPr bwMode="auto">
              <a:xfrm>
                <a:off x="960751" y="3291428"/>
                <a:ext cx="4705947"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分层次地画数据流图</a:t>
                </a:r>
              </a:p>
            </p:txBody>
          </p:sp>
        </p:grpSp>
        <p:sp>
          <p:nvSpPr>
            <p:cNvPr id="30" name="矩形 8"/>
            <p:cNvSpPr>
              <a:spLocks noChangeArrowheads="1"/>
            </p:cNvSpPr>
            <p:nvPr/>
          </p:nvSpPr>
          <p:spPr bwMode="auto">
            <a:xfrm>
              <a:off x="1689" y="4023"/>
              <a:ext cx="7840" cy="3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调查研究表明，如果一张数据流图中包含的处理多于9个，人们将难以领会它的含义，此时数据流图应该分层绘制，通过把复杂的功能分解为子功能来细化数据流图，因而数据流图可分为高层总体数据流图和多张细化的数据流分图。</a:t>
              </a:r>
            </a:p>
          </p:txBody>
        </p:sp>
      </p:grpSp>
      <p:grpSp>
        <p:nvGrpSpPr>
          <p:cNvPr id="31" name="组合 30"/>
          <p:cNvGrpSpPr/>
          <p:nvPr/>
        </p:nvGrpSpPr>
        <p:grpSpPr>
          <a:xfrm>
            <a:off x="6158675" y="4077341"/>
            <a:ext cx="5467350" cy="1949450"/>
            <a:chOff x="1195" y="6125"/>
            <a:chExt cx="8610" cy="3070"/>
          </a:xfrm>
        </p:grpSpPr>
        <p:grpSp>
          <p:nvGrpSpPr>
            <p:cNvPr id="32" name="组合 31"/>
            <p:cNvGrpSpPr/>
            <p:nvPr/>
          </p:nvGrpSpPr>
          <p:grpSpPr>
            <a:xfrm>
              <a:off x="1195" y="6125"/>
              <a:ext cx="8610" cy="930"/>
              <a:chOff x="512763" y="5121828"/>
              <a:chExt cx="5466650" cy="590550"/>
            </a:xfrm>
          </p:grpSpPr>
          <p:sp>
            <p:nvSpPr>
              <p:cNvPr id="33" name="TextBox 10"/>
              <p:cNvSpPr txBox="1">
                <a:spLocks noChangeArrowheads="1"/>
              </p:cNvSpPr>
              <p:nvPr/>
            </p:nvSpPr>
            <p:spPr bwMode="auto">
              <a:xfrm>
                <a:off x="512763" y="5121828"/>
                <a:ext cx="373978"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charset="-128"/>
                  </a:rPr>
                  <a:t>5</a:t>
                </a:r>
              </a:p>
            </p:txBody>
          </p:sp>
          <p:cxnSp>
            <p:nvCxnSpPr>
              <p:cNvPr id="34" name="直接连接符 33"/>
              <p:cNvCxnSpPr/>
              <p:nvPr/>
            </p:nvCxnSpPr>
            <p:spPr>
              <a:xfrm flipH="1">
                <a:off x="512763" y="5121828"/>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5" name="矩形 12"/>
              <p:cNvSpPr>
                <a:spLocks noChangeArrowheads="1"/>
              </p:cNvSpPr>
              <p:nvPr/>
            </p:nvSpPr>
            <p:spPr bwMode="auto">
              <a:xfrm>
                <a:off x="960387" y="5217082"/>
                <a:ext cx="5019026"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数据流图细化原则</a:t>
                </a:r>
              </a:p>
            </p:txBody>
          </p:sp>
        </p:grpSp>
        <p:sp>
          <p:nvSpPr>
            <p:cNvPr id="36" name="矩形 9"/>
            <p:cNvSpPr>
              <a:spLocks noChangeArrowheads="1"/>
            </p:cNvSpPr>
            <p:nvPr/>
          </p:nvSpPr>
          <p:spPr bwMode="auto">
            <a:xfrm>
              <a:off x="1907" y="7055"/>
              <a:ext cx="7628" cy="2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数据流图分层细化时必须保持信息的连续性，即细化前后对应功能的输入/输出数据必须相同。如果在把一个功能细化为子功能时需要写出程序代码，就不应进行细化了。</a:t>
              </a:r>
            </a:p>
          </p:txBody>
        </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a:t>
            </a:r>
            <a:r>
              <a:rPr lang="zh-CN" altLang="en-US">
                <a:solidFill>
                  <a:srgbClr val="FF0000"/>
                </a:solidFill>
                <a:sym typeface="+mn-ea"/>
              </a:rPr>
              <a:t>图</a:t>
            </a:r>
          </a:p>
        </p:txBody>
      </p:sp>
      <p:grpSp>
        <p:nvGrpSpPr>
          <p:cNvPr id="2" name="组合 1"/>
          <p:cNvGrpSpPr/>
          <p:nvPr/>
        </p:nvGrpSpPr>
        <p:grpSpPr>
          <a:xfrm>
            <a:off x="809625" y="1403350"/>
            <a:ext cx="10574655" cy="4542790"/>
            <a:chOff x="1275" y="2210"/>
            <a:chExt cx="16653" cy="7154"/>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1500" y="3150"/>
              <a:ext cx="16429" cy="6214"/>
              <a:chOff x="1500" y="3150"/>
              <a:chExt cx="16429" cy="6214"/>
            </a:xfrm>
          </p:grpSpPr>
          <p:sp>
            <p:nvSpPr>
              <p:cNvPr id="22" name="TextBox 21"/>
              <p:cNvSpPr txBox="1"/>
              <p:nvPr/>
            </p:nvSpPr>
            <p:spPr>
              <a:xfrm>
                <a:off x="3298" y="3420"/>
                <a:ext cx="13522" cy="624"/>
              </a:xfrm>
              <a:prstGeom prst="rect">
                <a:avLst/>
              </a:prstGeom>
              <a:noFill/>
            </p:spPr>
            <p:txBody>
              <a:bodyPr wrap="square">
                <a:spAutoFit/>
              </a:bodyPr>
              <a:lstStyle/>
              <a:p>
                <a:r>
                  <a:rPr lang="zh-CN" sz="2000" dirty="0" smtClean="0">
                    <a:sym typeface="+mn-ea"/>
                  </a:rPr>
                  <a:t>招</a:t>
                </a:r>
                <a:r>
                  <a:rPr sz="2000" dirty="0" smtClean="0">
                    <a:sym typeface="+mn-ea"/>
                  </a:rPr>
                  <a:t>聘考试成绩管理系统的数据流图</a:t>
                </a:r>
              </a:p>
            </p:txBody>
          </p:sp>
          <p:sp>
            <p:nvSpPr>
              <p:cNvPr id="24" name="矩形 23"/>
              <p:cNvSpPr>
                <a:spLocks noChangeAspect="1"/>
              </p:cNvSpPr>
              <p:nvPr/>
            </p:nvSpPr>
            <p:spPr>
              <a:xfrm>
                <a:off x="1500" y="4275"/>
                <a:ext cx="16429" cy="508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2-3</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904" y="4453"/>
                <a:ext cx="15536" cy="4744"/>
              </a:xfrm>
              <a:prstGeom prst="rect">
                <a:avLst/>
              </a:prstGeom>
              <a:solidFill>
                <a:schemeClr val="bg1">
                  <a:lumMod val="95000"/>
                </a:schemeClr>
              </a:solidFill>
            </p:spPr>
            <p:txBody>
              <a:bodyPr wrap="square">
                <a:spAutoFit/>
              </a:bodyPr>
              <a:lstStyle/>
              <a:p>
                <a:pPr fontAlgn="auto">
                  <a:lnSpc>
                    <a:spcPct val="120000"/>
                  </a:lnSpc>
                </a:pPr>
                <a:r>
                  <a:rPr lang="en-US" sz="1600" dirty="0" smtClean="0">
                    <a:latin typeface="Times New Roman" panose="02020603050405020304" charset="0"/>
                    <a:ea typeface="宋体" panose="02010600030101010101" pitchFamily="2" charset="-122"/>
                  </a:rPr>
                  <a:t>        </a:t>
                </a:r>
                <a:r>
                  <a:rPr sz="1600" dirty="0" smtClean="0">
                    <a:latin typeface="Times New Roman" panose="02020603050405020304" charset="0"/>
                    <a:ea typeface="宋体" panose="02010600030101010101" pitchFamily="2" charset="-122"/>
                  </a:rPr>
                  <a:t>某市人事局举行招聘考试，分为法律、行政、财经三个专业，每个专业的考生参加两门基础课和一门专业课的考试。考生报名后，招聘委员会需作一些考前处理，如编排考生准考证号、安排考场等，并将考生基本情况输入系统。考试结束后，将每位考生各门考试课程的成绩输入系统，由系统计算出每位考生的成绩总分，然后将考生成绩单分发给每位考生。录用工作是这样进行的：三个专业的考生分别按成绩总分进行排序，录用时从高分到低分录取，总分相同的按专业课成绩高的优先录取。录用工作结束后，对考试情况进行各种分析。</a:t>
                </a:r>
              </a:p>
              <a:p>
                <a:pPr fontAlgn="auto">
                  <a:lnSpc>
                    <a:spcPct val="120000"/>
                  </a:lnSpc>
                </a:pPr>
                <a:r>
                  <a:rPr sz="1600" dirty="0" smtClean="0">
                    <a:latin typeface="Times New Roman" panose="02020603050405020304" charset="0"/>
                    <a:ea typeface="宋体" panose="02010600030101010101" pitchFamily="2" charset="-122"/>
                  </a:rPr>
                  <a:t>        如何画本系统的数据流图呢？数据流图共有4种成分：数据源点或终点、数据处理、数据存储和数据流。其中，数据源点为考生。考生的基本情况（包括姓名、性别、住址、报考专业等）放入数据库中存储起来。考生参加完考试后，进行成绩统计，并将考生成绩单发给考生。招聘单位录用考生后，发放录用通知书给考生，因而数据的终点也是考生。</a:t>
                </a:r>
              </a:p>
            </p:txBody>
          </p:sp>
        </p:gr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p>
        </p:txBody>
      </p:sp>
      <p:sp>
        <p:nvSpPr>
          <p:cNvPr id="5" name="文本框 4"/>
          <p:cNvSpPr txBox="1"/>
          <p:nvPr/>
        </p:nvSpPr>
        <p:spPr>
          <a:xfrm>
            <a:off x="754380" y="2176780"/>
            <a:ext cx="457200" cy="3520440"/>
          </a:xfrm>
          <a:prstGeom prst="rect">
            <a:avLst/>
          </a:prstGeom>
          <a:noFill/>
        </p:spPr>
        <p:txBody>
          <a:bodyPr vert="eaVert" wrap="none" rtlCol="0">
            <a:spAutoFit/>
          </a:bodyPr>
          <a:lstStyle/>
          <a:p>
            <a:pPr algn="l"/>
            <a:r>
              <a:rPr lang="zh-CN" dirty="0" smtClean="0">
                <a:solidFill>
                  <a:schemeClr val="bg1"/>
                </a:solidFill>
                <a:sym typeface="+mn-ea"/>
              </a:rPr>
              <a:t>招</a:t>
            </a:r>
            <a:r>
              <a:rPr dirty="0" smtClean="0">
                <a:solidFill>
                  <a:schemeClr val="bg1"/>
                </a:solidFill>
                <a:sym typeface="+mn-ea"/>
              </a:rPr>
              <a:t>聘考试成绩管理系统的数据流图</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数据流图</a:t>
            </a:r>
          </a:p>
        </p:txBody>
      </p:sp>
      <p:sp>
        <p:nvSpPr>
          <p:cNvPr id="103" name="文本框 102"/>
          <p:cNvSpPr txBox="1"/>
          <p:nvPr/>
        </p:nvSpPr>
        <p:spPr>
          <a:xfrm>
            <a:off x="2421890" y="425704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7" name="文本框 6"/>
          <p:cNvSpPr txBox="1"/>
          <p:nvPr/>
        </p:nvSpPr>
        <p:spPr>
          <a:xfrm>
            <a:off x="1800898" y="4134211"/>
            <a:ext cx="9269730" cy="1407160"/>
          </a:xfrm>
          <a:prstGeom prst="rect">
            <a:avLst/>
          </a:prstGeom>
          <a:noFill/>
          <a:ln w="9525">
            <a:noFill/>
          </a:ln>
        </p:spPr>
        <p:txBody>
          <a:bodyPr wrap="square">
            <a:spAutoFit/>
          </a:bodyPr>
          <a:lstStyle/>
          <a:p>
            <a:pPr fontAlgn="auto">
              <a:lnSpc>
                <a:spcPct val="120000"/>
              </a:lnSpc>
            </a:pPr>
            <a:r>
              <a:rPr lang="en-US" dirty="0" smtClean="0">
                <a:latin typeface="Times New Roman" panose="02020603050405020304" charset="0"/>
                <a:ea typeface="宋体" panose="02010600030101010101" pitchFamily="2" charset="-122"/>
                <a:sym typeface="+mn-ea"/>
              </a:rPr>
              <a:t>        </a:t>
            </a:r>
            <a:r>
              <a:rPr dirty="0" smtClean="0">
                <a:latin typeface="Times New Roman" panose="02020603050405020304" charset="0"/>
                <a:ea typeface="宋体" panose="02010600030101010101" pitchFamily="2" charset="-122"/>
                <a:sym typeface="+mn-ea"/>
              </a:rPr>
              <a:t>数据流图共有4种成分：</a:t>
            </a:r>
            <a:r>
              <a:rPr dirty="0" smtClean="0">
                <a:solidFill>
                  <a:srgbClr val="00B050"/>
                </a:solidFill>
                <a:latin typeface="Times New Roman" panose="02020603050405020304" charset="0"/>
                <a:ea typeface="宋体" panose="02010600030101010101" pitchFamily="2" charset="-122"/>
                <a:sym typeface="+mn-ea"/>
              </a:rPr>
              <a:t>数据源点或终点、数据处理、数据存储和数据流</a:t>
            </a:r>
            <a:r>
              <a:rPr dirty="0" smtClean="0">
                <a:latin typeface="Times New Roman" panose="02020603050405020304" charset="0"/>
                <a:ea typeface="宋体" panose="02010600030101010101" pitchFamily="2" charset="-122"/>
                <a:sym typeface="+mn-ea"/>
              </a:rPr>
              <a:t>。其中，数据源点为考生。考生的基本情况（包括姓名、性别、住址、报考专业等）放入数据库中存储起来。考生参加完考试后，进行成绩统计，并将考生成绩单发给考生。招聘单位录用考生后，发放录用通知书给考生，因而数据的终点也是考生。</a:t>
            </a:r>
            <a:endParaRPr lang="zh-CN" altLang="en-US" dirty="0"/>
          </a:p>
        </p:txBody>
      </p:sp>
      <p:sp>
        <p:nvSpPr>
          <p:cNvPr id="9" name="矩形 8"/>
          <p:cNvSpPr/>
          <p:nvPr/>
        </p:nvSpPr>
        <p:spPr>
          <a:xfrm>
            <a:off x="2552132" y="2975212"/>
            <a:ext cx="914400" cy="4776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考生</a:t>
            </a:r>
            <a:endParaRPr lang="zh-CN" altLang="en-US" dirty="0">
              <a:solidFill>
                <a:schemeClr val="tx1"/>
              </a:solidFill>
            </a:endParaRPr>
          </a:p>
        </p:txBody>
      </p:sp>
      <p:sp>
        <p:nvSpPr>
          <p:cNvPr id="10" name="圆角矩形 9"/>
          <p:cNvSpPr/>
          <p:nvPr/>
        </p:nvSpPr>
        <p:spPr>
          <a:xfrm>
            <a:off x="5117911" y="2579428"/>
            <a:ext cx="2402006" cy="1255594"/>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招聘考试成绩</a:t>
            </a:r>
            <a:endParaRPr lang="en-US" altLang="zh-CN" dirty="0" smtClean="0">
              <a:solidFill>
                <a:schemeClr val="tx1"/>
              </a:solidFill>
            </a:endParaRPr>
          </a:p>
          <a:p>
            <a:pPr algn="ctr"/>
            <a:r>
              <a:rPr lang="zh-CN" altLang="en-US" dirty="0" smtClean="0">
                <a:solidFill>
                  <a:schemeClr val="tx1"/>
                </a:solidFill>
              </a:rPr>
              <a:t>管理系统</a:t>
            </a:r>
            <a:endParaRPr lang="zh-CN" altLang="en-US" dirty="0">
              <a:solidFill>
                <a:schemeClr val="tx1"/>
              </a:solidFill>
            </a:endParaRPr>
          </a:p>
        </p:txBody>
      </p:sp>
      <p:sp>
        <p:nvSpPr>
          <p:cNvPr id="12" name="矩形 11"/>
          <p:cNvSpPr/>
          <p:nvPr/>
        </p:nvSpPr>
        <p:spPr>
          <a:xfrm>
            <a:off x="9241809" y="2991133"/>
            <a:ext cx="914400" cy="4776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考生</a:t>
            </a:r>
            <a:endParaRPr lang="zh-CN" altLang="en-US" dirty="0">
              <a:solidFill>
                <a:schemeClr val="tx1"/>
              </a:solidFill>
            </a:endParaRPr>
          </a:p>
        </p:txBody>
      </p:sp>
      <p:cxnSp>
        <p:nvCxnSpPr>
          <p:cNvPr id="14" name="直接箭头连接符 13"/>
          <p:cNvCxnSpPr>
            <a:stCxn id="9" idx="3"/>
            <a:endCxn id="10" idx="1"/>
          </p:cNvCxnSpPr>
          <p:nvPr/>
        </p:nvCxnSpPr>
        <p:spPr>
          <a:xfrm flipV="1">
            <a:off x="3466532" y="3207225"/>
            <a:ext cx="1651379" cy="682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3"/>
            <a:endCxn id="12" idx="1"/>
          </p:cNvCxnSpPr>
          <p:nvPr/>
        </p:nvCxnSpPr>
        <p:spPr>
          <a:xfrm>
            <a:off x="7519917" y="3207225"/>
            <a:ext cx="1721892" cy="2274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671248" y="2756848"/>
            <a:ext cx="1351128" cy="369332"/>
          </a:xfrm>
          <a:prstGeom prst="rect">
            <a:avLst/>
          </a:prstGeom>
          <a:noFill/>
        </p:spPr>
        <p:txBody>
          <a:bodyPr wrap="square" rtlCol="0">
            <a:spAutoFit/>
          </a:bodyPr>
          <a:lstStyle/>
          <a:p>
            <a:r>
              <a:rPr lang="zh-CN" altLang="en-US" dirty="0" smtClean="0"/>
              <a:t>考生情况</a:t>
            </a:r>
            <a:endParaRPr lang="zh-CN" altLang="en-US" dirty="0"/>
          </a:p>
        </p:txBody>
      </p:sp>
      <p:sp>
        <p:nvSpPr>
          <p:cNvPr id="26" name="TextBox 25"/>
          <p:cNvSpPr txBox="1"/>
          <p:nvPr/>
        </p:nvSpPr>
        <p:spPr>
          <a:xfrm>
            <a:off x="3687170" y="3318681"/>
            <a:ext cx="1351128" cy="369332"/>
          </a:xfrm>
          <a:prstGeom prst="rect">
            <a:avLst/>
          </a:prstGeom>
          <a:noFill/>
        </p:spPr>
        <p:txBody>
          <a:bodyPr wrap="square" rtlCol="0">
            <a:spAutoFit/>
          </a:bodyPr>
          <a:lstStyle/>
          <a:p>
            <a:r>
              <a:rPr lang="zh-CN" altLang="en-US" dirty="0" smtClean="0"/>
              <a:t>考生成绩</a:t>
            </a:r>
            <a:endParaRPr lang="zh-CN" altLang="en-US" dirty="0"/>
          </a:p>
        </p:txBody>
      </p:sp>
      <p:sp>
        <p:nvSpPr>
          <p:cNvPr id="27" name="TextBox 26"/>
          <p:cNvSpPr txBox="1"/>
          <p:nvPr/>
        </p:nvSpPr>
        <p:spPr>
          <a:xfrm>
            <a:off x="7713260" y="2745475"/>
            <a:ext cx="1351128" cy="369332"/>
          </a:xfrm>
          <a:prstGeom prst="rect">
            <a:avLst/>
          </a:prstGeom>
          <a:noFill/>
        </p:spPr>
        <p:txBody>
          <a:bodyPr wrap="square" rtlCol="0">
            <a:spAutoFit/>
          </a:bodyPr>
          <a:lstStyle/>
          <a:p>
            <a:r>
              <a:rPr lang="zh-CN" altLang="en-US" dirty="0" smtClean="0"/>
              <a:t>考生成绩单</a:t>
            </a:r>
            <a:endParaRPr lang="zh-CN" altLang="en-US" dirty="0"/>
          </a:p>
        </p:txBody>
      </p:sp>
      <p:sp>
        <p:nvSpPr>
          <p:cNvPr id="28" name="TextBox 27"/>
          <p:cNvSpPr txBox="1"/>
          <p:nvPr/>
        </p:nvSpPr>
        <p:spPr>
          <a:xfrm>
            <a:off x="7672315" y="3291386"/>
            <a:ext cx="1730991" cy="369332"/>
          </a:xfrm>
          <a:prstGeom prst="rect">
            <a:avLst/>
          </a:prstGeom>
          <a:noFill/>
        </p:spPr>
        <p:txBody>
          <a:bodyPr wrap="square" rtlCol="0">
            <a:spAutoFit/>
          </a:bodyPr>
          <a:lstStyle/>
          <a:p>
            <a:r>
              <a:rPr lang="zh-CN" altLang="en-US" dirty="0" smtClean="0"/>
              <a:t>考生录取通知</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p>
        </p:txBody>
      </p:sp>
      <p:sp>
        <p:nvSpPr>
          <p:cNvPr id="5" name="文本框 4"/>
          <p:cNvSpPr txBox="1"/>
          <p:nvPr/>
        </p:nvSpPr>
        <p:spPr>
          <a:xfrm>
            <a:off x="754380" y="2176780"/>
            <a:ext cx="457200" cy="3520440"/>
          </a:xfrm>
          <a:prstGeom prst="rect">
            <a:avLst/>
          </a:prstGeom>
          <a:noFill/>
        </p:spPr>
        <p:txBody>
          <a:bodyPr vert="eaVert" wrap="none" rtlCol="0">
            <a:spAutoFit/>
          </a:bodyPr>
          <a:lstStyle/>
          <a:p>
            <a:pPr algn="l"/>
            <a:r>
              <a:rPr lang="zh-CN" dirty="0" smtClean="0">
                <a:solidFill>
                  <a:schemeClr val="bg1"/>
                </a:solidFill>
                <a:sym typeface="+mn-ea"/>
              </a:rPr>
              <a:t>招</a:t>
            </a:r>
            <a:r>
              <a:rPr dirty="0" smtClean="0">
                <a:solidFill>
                  <a:schemeClr val="bg1"/>
                </a:solidFill>
                <a:sym typeface="+mn-ea"/>
              </a:rPr>
              <a:t>聘考试成绩管理系统的数据流图</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数据流图</a:t>
            </a:r>
          </a:p>
        </p:txBody>
      </p:sp>
      <p:sp>
        <p:nvSpPr>
          <p:cNvPr id="103" name="文本框 102"/>
          <p:cNvSpPr txBox="1"/>
          <p:nvPr/>
        </p:nvSpPr>
        <p:spPr>
          <a:xfrm>
            <a:off x="2421890" y="425704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7" name="文本框 6"/>
          <p:cNvSpPr txBox="1"/>
          <p:nvPr/>
        </p:nvSpPr>
        <p:spPr>
          <a:xfrm>
            <a:off x="1455420" y="1900555"/>
            <a:ext cx="5528310" cy="3260090"/>
          </a:xfrm>
          <a:prstGeom prst="rect">
            <a:avLst/>
          </a:prstGeom>
          <a:noFill/>
          <a:ln w="9525">
            <a:noFill/>
          </a:ln>
        </p:spPr>
        <p:txBody>
          <a:bodyPr wrap="square">
            <a:spAutoFit/>
          </a:bodyPr>
          <a:lstStyle/>
          <a:p>
            <a:pPr marL="0" indent="0" algn="l" fontAlgn="auto">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1</a:t>
            </a:r>
            <a:r>
              <a:rPr lang="zh-CN" altLang="en-US" sz="1600" b="0" u="none" dirty="0">
                <a:latin typeface="宋体" panose="02010600030101010101" pitchFamily="2" charset="-122"/>
                <a:ea typeface="宋体" panose="02010600030101010101" pitchFamily="2" charset="-122"/>
                <a:cs typeface="宋体" panose="02010600030101010101" pitchFamily="2" charset="-122"/>
              </a:rPr>
              <a:t>）考生报名后，将考生基本情况（姓名、性别、住址、报考专业等）输入考生文件。</a:t>
            </a:r>
          </a:p>
          <a:p>
            <a:pPr>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2</a:t>
            </a:r>
            <a:r>
              <a:rPr lang="zh-CN" altLang="en-US" sz="1600" b="0" u="none" dirty="0">
                <a:latin typeface="宋体" panose="02010600030101010101" pitchFamily="2" charset="-122"/>
                <a:ea typeface="宋体" panose="02010600030101010101" pitchFamily="2" charset="-122"/>
                <a:cs typeface="宋体" panose="02010600030101010101" pitchFamily="2" charset="-122"/>
              </a:rPr>
              <a:t>）招聘委员会工作人员要根据考生报考的专业、地址来进行编排准考证号、安排考场等考前处理，并将这些信息存放到考生文件中去。</a:t>
            </a:r>
          </a:p>
          <a:p>
            <a:pPr>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3</a:t>
            </a:r>
            <a:r>
              <a:rPr lang="zh-CN" altLang="en-US" sz="1600" b="0" u="none" dirty="0">
                <a:latin typeface="宋体" panose="02010600030101010101" pitchFamily="2" charset="-122"/>
                <a:ea typeface="宋体" panose="02010600030101010101" pitchFamily="2" charset="-122"/>
                <a:cs typeface="宋体" panose="02010600030101010101" pitchFamily="2" charset="-122"/>
              </a:rPr>
              <a:t>）考试结束后将每位考生每门课的成绩输入到系统中去。</a:t>
            </a:r>
          </a:p>
          <a:p>
            <a:pPr>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4</a:t>
            </a:r>
            <a:r>
              <a:rPr lang="zh-CN" altLang="en-US" sz="1600" b="0" u="none" dirty="0">
                <a:latin typeface="宋体" panose="02010600030101010101" pitchFamily="2" charset="-122"/>
                <a:ea typeface="宋体" panose="02010600030101010101" pitchFamily="2" charset="-122"/>
                <a:cs typeface="宋体" panose="02010600030101010101" pitchFamily="2" charset="-122"/>
              </a:rPr>
              <a:t>）计算每位考生各门课的成绩总分，打印考生成绩单。</a:t>
            </a:r>
          </a:p>
          <a:p>
            <a:pPr>
              <a:lnSpc>
                <a:spcPct val="130000"/>
              </a:lnSpc>
            </a:pP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5</a:t>
            </a:r>
            <a:r>
              <a:rPr lang="zh-CN" altLang="en-US" sz="1600" b="0" u="none" dirty="0">
                <a:latin typeface="宋体" panose="02010600030101010101" pitchFamily="2" charset="-122"/>
                <a:ea typeface="宋体" panose="02010600030101010101" pitchFamily="2" charset="-122"/>
                <a:cs typeface="宋体" panose="02010600030101010101" pitchFamily="2" charset="-122"/>
              </a:rPr>
              <a:t>）各专业分别将考生按成绩总分从高分到低分排序，供招聘单位在录用时参考。</a:t>
            </a:r>
          </a:p>
          <a:p>
            <a:endParaRPr lang="zh-CN" altLang="en-US" sz="1600" dirty="0"/>
          </a:p>
        </p:txBody>
      </p:sp>
      <p:sp>
        <p:nvSpPr>
          <p:cNvPr id="104" name="文本框 103"/>
          <p:cNvSpPr txBox="1"/>
          <p:nvPr/>
        </p:nvSpPr>
        <p:spPr>
          <a:xfrm>
            <a:off x="7227570" y="451993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6" name="文本框 5"/>
          <p:cNvSpPr txBox="1"/>
          <p:nvPr/>
        </p:nvSpPr>
        <p:spPr>
          <a:xfrm>
            <a:off x="1455420" y="4785995"/>
            <a:ext cx="10524490" cy="1042035"/>
          </a:xfrm>
          <a:prstGeom prst="rect">
            <a:avLst/>
          </a:prstGeom>
          <a:noFill/>
        </p:spPr>
        <p:txBody>
          <a:bodyPr wrap="square" rtlCol="0">
            <a:spAutoFit/>
          </a:bodyPr>
          <a:lstStyle/>
          <a:p>
            <a:pPr marL="0" indent="0" algn="l" fontAlgn="auto">
              <a:lnSpc>
                <a:spcPct val="130000"/>
              </a:lnSpc>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宋体" panose="02010600030101010101" pitchFamily="2" charset="-122"/>
                <a:ea typeface="宋体" panose="02010600030101010101" pitchFamily="2" charset="-122"/>
                <a:cs typeface="宋体" panose="02010600030101010101" pitchFamily="2" charset="-122"/>
                <a:sym typeface="+mn-ea"/>
              </a:rPr>
              <a:t>6</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）录用工作按考生成绩总分从高分到低分依次进行，总分相同时专业课成绩高的优先录用。</a:t>
            </a:r>
          </a:p>
          <a:p>
            <a:pPr>
              <a:lnSpc>
                <a:spcPct val="130000"/>
              </a:lnSpc>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宋体" panose="02010600030101010101" pitchFamily="2" charset="-122"/>
                <a:ea typeface="宋体" panose="02010600030101010101" pitchFamily="2" charset="-122"/>
                <a:cs typeface="宋体" panose="02010600030101010101" pitchFamily="2" charset="-122"/>
                <a:sym typeface="+mn-ea"/>
              </a:rPr>
              <a:t>7</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）输出录用通知书，将录用通知书发放给被录用的考生。</a:t>
            </a:r>
          </a:p>
          <a:p>
            <a:pPr>
              <a:lnSpc>
                <a:spcPct val="130000"/>
              </a:lnSpc>
            </a:pP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1600" dirty="0">
                <a:latin typeface="Times New Roman" panose="02020603050405020304" charset="0"/>
                <a:ea typeface="Times New Roman" panose="02020603050405020304" charset="0"/>
                <a:cs typeface="Times New Roman" panose="02020603050405020304" charset="0"/>
                <a:sym typeface="+mn-ea"/>
              </a:rPr>
              <a:t>8</a:t>
            </a:r>
            <a:r>
              <a:rPr lang="zh-CN" altLang="en-US" sz="1600" dirty="0">
                <a:latin typeface="宋体" panose="02010600030101010101" pitchFamily="2" charset="-122"/>
                <a:ea typeface="宋体" panose="02010600030101010101" pitchFamily="2" charset="-122"/>
                <a:cs typeface="宋体" panose="02010600030101010101" pitchFamily="2" charset="-122"/>
                <a:sym typeface="+mn-ea"/>
              </a:rPr>
              <a:t>）录用工作结束后，进行各种统计：报名人数、实考人数、成绩总分平均分、各科成绩平均分等。</a:t>
            </a:r>
            <a:endParaRPr lang="zh-CN" altLang="en-US" sz="1600" dirty="0"/>
          </a:p>
        </p:txBody>
      </p:sp>
      <p:pic>
        <p:nvPicPr>
          <p:cNvPr id="8" name="图片 7"/>
          <p:cNvPicPr>
            <a:picLocks noChangeAspect="1"/>
          </p:cNvPicPr>
          <p:nvPr/>
        </p:nvPicPr>
        <p:blipFill>
          <a:blip r:embed="rId2" cstate="print"/>
          <a:stretch>
            <a:fillRect/>
          </a:stretch>
        </p:blipFill>
        <p:spPr>
          <a:xfrm>
            <a:off x="6897370" y="2092325"/>
            <a:ext cx="4692650" cy="253047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a:t>
            </a:r>
            <a:r>
              <a:rPr lang="zh-CN" altLang="en-US">
                <a:solidFill>
                  <a:srgbClr val="FF0000"/>
                </a:solidFill>
                <a:sym typeface="+mn-ea"/>
              </a:rPr>
              <a:t>图</a:t>
            </a:r>
          </a:p>
        </p:txBody>
      </p:sp>
      <p:grpSp>
        <p:nvGrpSpPr>
          <p:cNvPr id="14" name="组合 13"/>
          <p:cNvGrpSpPr/>
          <p:nvPr/>
        </p:nvGrpSpPr>
        <p:grpSpPr>
          <a:xfrm>
            <a:off x="809625" y="1403350"/>
            <a:ext cx="10575290" cy="4542790"/>
            <a:chOff x="1275" y="2210"/>
            <a:chExt cx="16654" cy="7154"/>
          </a:xfrm>
        </p:grpSpPr>
        <p:sp>
          <p:nvSpPr>
            <p:cNvPr id="15"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16" name="组合 15"/>
            <p:cNvGrpSpPr/>
            <p:nvPr/>
          </p:nvGrpSpPr>
          <p:grpSpPr>
            <a:xfrm>
              <a:off x="1500" y="3150"/>
              <a:ext cx="16429" cy="6214"/>
              <a:chOff x="1500" y="3150"/>
              <a:chExt cx="16429" cy="6214"/>
            </a:xfrm>
          </p:grpSpPr>
          <p:sp>
            <p:nvSpPr>
              <p:cNvPr id="17" name="TextBox 21"/>
              <p:cNvSpPr txBox="1"/>
              <p:nvPr/>
            </p:nvSpPr>
            <p:spPr>
              <a:xfrm>
                <a:off x="3298" y="3420"/>
                <a:ext cx="13522" cy="624"/>
              </a:xfrm>
              <a:prstGeom prst="rect">
                <a:avLst/>
              </a:prstGeom>
              <a:noFill/>
            </p:spPr>
            <p:txBody>
              <a:bodyPr wrap="square">
                <a:spAutoFit/>
              </a:bodyPr>
              <a:lstStyle/>
              <a:p>
                <a:r>
                  <a:rPr sz="2000" dirty="0" smtClean="0">
                    <a:sym typeface="+mn-ea"/>
                  </a:rPr>
                  <a:t>对</a:t>
                </a:r>
                <a:r>
                  <a:rPr lang="zh-CN" sz="2000" dirty="0" smtClean="0">
                    <a:sym typeface="+mn-ea"/>
                  </a:rPr>
                  <a:t>例</a:t>
                </a:r>
                <a:r>
                  <a:rPr lang="en-US" altLang="zh-CN" sz="2000" dirty="0" smtClean="0">
                    <a:sym typeface="+mn-ea"/>
                  </a:rPr>
                  <a:t>2-1</a:t>
                </a:r>
                <a:r>
                  <a:rPr sz="2000" dirty="0" smtClean="0">
                    <a:sym typeface="+mn-ea"/>
                  </a:rPr>
                  <a:t>某高校医疗费管理系统进行需求分析</a:t>
                </a:r>
              </a:p>
            </p:txBody>
          </p:sp>
          <p:sp>
            <p:nvSpPr>
              <p:cNvPr id="18" name="矩形 17"/>
              <p:cNvSpPr>
                <a:spLocks noChangeAspect="1"/>
              </p:cNvSpPr>
              <p:nvPr/>
            </p:nvSpPr>
            <p:spPr>
              <a:xfrm>
                <a:off x="1500" y="4275"/>
                <a:ext cx="16429" cy="508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0" name="组合 5"/>
              <p:cNvGrpSpPr/>
              <p:nvPr/>
            </p:nvGrpSpPr>
            <p:grpSpPr>
              <a:xfrm>
                <a:off x="1500" y="3150"/>
                <a:ext cx="1931" cy="1125"/>
                <a:chOff x="2738416" y="1357299"/>
                <a:chExt cx="1071570" cy="714379"/>
              </a:xfrm>
            </p:grpSpPr>
            <p:pic>
              <p:nvPicPr>
                <p:cNvPr id="21" name="Picture 2" descr="E:\仝德志文件，勿删！\03-参考文档\！PPT图片及版面资源\06-PPT精选插图\12-标签\蓝色燕尾01.png"/>
                <p:cNvPicPr>
                  <a:picLocks noChangeAspect="1" noChangeArrowheads="1"/>
                </p:cNvPicPr>
                <p:nvPr/>
              </p:nvPicPr>
              <p:blipFill>
                <a:blip r:embed="rId3"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3" name="TextBox 7"/>
                <p:cNvSpPr txBox="1"/>
                <p:nvPr/>
              </p:nvSpPr>
              <p:spPr>
                <a:xfrm>
                  <a:off x="2811667" y="1467155"/>
                  <a:ext cx="998319" cy="457203"/>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2-4</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28"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29" name="TextBox 33"/>
              <p:cNvSpPr txBox="1"/>
              <p:nvPr/>
            </p:nvSpPr>
            <p:spPr>
              <a:xfrm>
                <a:off x="1904" y="4453"/>
                <a:ext cx="15741" cy="4798"/>
              </a:xfrm>
              <a:prstGeom prst="rect">
                <a:avLst/>
              </a:prstGeom>
              <a:solidFill>
                <a:schemeClr val="bg1">
                  <a:lumMod val="95000"/>
                </a:schemeClr>
              </a:solidFill>
            </p:spPr>
            <p:txBody>
              <a:bodyPr wrap="square">
                <a:spAutoFit/>
              </a:bodyPr>
              <a:lstStyle/>
              <a:p>
                <a:pPr fontAlgn="auto">
                  <a:lnSpc>
                    <a:spcPct val="120000"/>
                  </a:lnSpc>
                </a:pPr>
                <a:r>
                  <a:rPr lang="en-US" sz="1600" dirty="0" smtClean="0">
                    <a:latin typeface="Times New Roman" panose="02020603050405020304" charset="0"/>
                    <a:ea typeface="宋体" panose="02010600030101010101" pitchFamily="2" charset="-122"/>
                  </a:rPr>
                  <a:t>        </a:t>
                </a:r>
                <a:r>
                  <a:rPr sz="1600" dirty="0" smtClean="0">
                    <a:latin typeface="Times New Roman" panose="02020603050405020304" charset="0"/>
                    <a:ea typeface="宋体" panose="02010600030101010101" pitchFamily="2" charset="-122"/>
                  </a:rPr>
                  <a:t>某高校医疗费分为校内门诊费、校外门诊费、住院费和子女医疗费4种。系统要求在数据库中存放每个职工的职工号、姓名、所属部门。职工报销医疗费时填写所属部门、职工号、姓名、日期、医疗费类别和金额。该校规定，每年每个职工的医疗费有一个限额（如1 000元），限额在年初时确定。每个职工一年内报销的医疗费，不超过限额时可全部报销；超过限额时，超出部分只可报销90%，其余10%由职工个人承担。职工子女的医疗费也有限额（如240元），超出部分只可报销50%。</a:t>
                </a:r>
              </a:p>
              <a:p>
                <a:pPr fontAlgn="auto">
                  <a:lnSpc>
                    <a:spcPct val="120000"/>
                  </a:lnSpc>
                </a:pPr>
                <a:r>
                  <a:rPr sz="1600" dirty="0" smtClean="0">
                    <a:latin typeface="Times New Roman" panose="02020603050405020304" charset="0"/>
                    <a:ea typeface="宋体" panose="02010600030101010101" pitchFamily="2" charset="-122"/>
                  </a:rPr>
                  <a:t>        医疗费管理系统每天记录当天报销的若干职工或职工子女的医疗费的类别和金额。在当天下班前，让系统自动结账、统计当天报销的医疗费总额，供出纳员核对。每笔账要保存备查，每天所报销的费用要和各个职工已报销的金额累计起来，以便检查哪些职工已超额；系统要配有适当的查询功能。年终结算后，下一年度开始时，要对数据库文件进行初始化，每位职工当年的医疗费余额作为历年账户的余额，新年度的医疗费限额作为新年度的余额。职工调离本单位、调入本单位或在本单位各部门间调动，数据库文件要及时修改。</a:t>
                </a:r>
              </a:p>
            </p:txBody>
          </p:sp>
        </p:gr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p>
        </p:txBody>
      </p:sp>
      <p:sp>
        <p:nvSpPr>
          <p:cNvPr id="5" name="文本框 4"/>
          <p:cNvSpPr txBox="1"/>
          <p:nvPr/>
        </p:nvSpPr>
        <p:spPr>
          <a:xfrm>
            <a:off x="754380" y="2176780"/>
            <a:ext cx="457200" cy="3520440"/>
          </a:xfrm>
          <a:prstGeom prst="rect">
            <a:avLst/>
          </a:prstGeom>
          <a:noFill/>
        </p:spPr>
        <p:txBody>
          <a:bodyPr vert="eaVert" wrap="none" rtlCol="0">
            <a:spAutoFit/>
          </a:bodyPr>
          <a:lstStyle/>
          <a:p>
            <a:pPr algn="l"/>
            <a:r>
              <a:rPr dirty="0" smtClean="0">
                <a:solidFill>
                  <a:schemeClr val="bg1"/>
                </a:solidFill>
                <a:sym typeface="+mn-ea"/>
              </a:rPr>
              <a:t>某高校医疗费管理系统的数据流图</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数据流图</a:t>
            </a:r>
          </a:p>
        </p:txBody>
      </p:sp>
      <p:sp>
        <p:nvSpPr>
          <p:cNvPr id="103" name="文本框 102"/>
          <p:cNvSpPr txBox="1"/>
          <p:nvPr/>
        </p:nvSpPr>
        <p:spPr>
          <a:xfrm>
            <a:off x="2421890" y="425704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7" name="文本框 6"/>
          <p:cNvSpPr txBox="1"/>
          <p:nvPr/>
        </p:nvSpPr>
        <p:spPr>
          <a:xfrm>
            <a:off x="1455420" y="1900555"/>
            <a:ext cx="5390515" cy="3539430"/>
          </a:xfrm>
          <a:prstGeom prst="rect">
            <a:avLst/>
          </a:prstGeom>
          <a:noFill/>
          <a:ln w="9525">
            <a:noFill/>
          </a:ln>
        </p:spPr>
        <p:txBody>
          <a:bodyPr wrap="square">
            <a:spAutoFit/>
          </a:bodyPr>
          <a:lstStyle/>
          <a:p>
            <a:pPr marL="0" indent="0" algn="l" fontAlgn="auto">
              <a:lnSpc>
                <a:spcPct val="130000"/>
              </a:lnSpc>
            </a:pPr>
            <a:r>
              <a:rPr sz="1600" u="none" dirty="0">
                <a:solidFill>
                  <a:srgbClr val="FF0000"/>
                </a:solidFill>
                <a:latin typeface="微软雅黑" pitchFamily="34" charset="-122"/>
                <a:ea typeface="微软雅黑" pitchFamily="34" charset="-122"/>
                <a:cs typeface="宋体" panose="02010600030101010101" pitchFamily="2" charset="-122"/>
              </a:rPr>
              <a:t>（1）数据输入</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① </a:t>
            </a:r>
            <a:r>
              <a:rPr sz="1600" b="1" u="none"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报销医疗费时，需要的数据有</a:t>
            </a:r>
            <a:r>
              <a:rPr sz="1600"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a:t>
            </a:r>
            <a:r>
              <a:rPr sz="1600" b="0" u="none" dirty="0">
                <a:latin typeface="宋体" panose="02010600030101010101" pitchFamily="2" charset="-122"/>
                <a:ea typeface="宋体" panose="02010600030101010101" pitchFamily="2" charset="-122"/>
                <a:cs typeface="宋体" panose="02010600030101010101" pitchFamily="2" charset="-122"/>
              </a:rPr>
              <a:t>职工号、姓名、所属部门、报销日期、校外门诊费、校内门诊费、住院费、子女医疗费。</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② 核对（结算）：</a:t>
            </a:r>
            <a:r>
              <a:rPr sz="1600" b="0" u="none" dirty="0">
                <a:latin typeface="宋体" panose="02010600030101010101" pitchFamily="2" charset="-122"/>
                <a:ea typeface="宋体" panose="02010600030101010101" pitchFamily="2" charset="-122"/>
                <a:cs typeface="宋体" panose="02010600030101010101" pitchFamily="2" charset="-122"/>
              </a:rPr>
              <a:t>显示当日报销人数、各类医疗费总额及所有类别的总额，供核对。若数额有错，将当日报销人员及分类数额全部列出，供出纳员一一仔细核对，发现错误后应进入“修改”模块进行修改。</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③ 累加：</a:t>
            </a:r>
            <a:r>
              <a:rPr sz="1600" b="0" u="none" dirty="0">
                <a:latin typeface="宋体" panose="02010600030101010101" pitchFamily="2" charset="-122"/>
                <a:ea typeface="宋体" panose="02010600030101010101" pitchFamily="2" charset="-122"/>
                <a:cs typeface="宋体" panose="02010600030101010101" pitchFamily="2" charset="-122"/>
              </a:rPr>
              <a:t>核对正确后，应执行“累加”程序。</a:t>
            </a:r>
          </a:p>
          <a:p>
            <a:pPr marL="0" indent="0" algn="l" fontAlgn="auto">
              <a:lnSpc>
                <a:spcPct val="130000"/>
              </a:lnSpc>
            </a:pPr>
            <a:endParaRPr sz="1600" b="0" u="none" dirty="0">
              <a:latin typeface="宋体" panose="02010600030101010101" pitchFamily="2" charset="-122"/>
              <a:ea typeface="宋体" panose="02010600030101010101" pitchFamily="2" charset="-122"/>
              <a:cs typeface="宋体" panose="02010600030101010101" pitchFamily="2" charset="-122"/>
            </a:endParaRPr>
          </a:p>
          <a:p>
            <a:endParaRPr lang="zh-CN" altLang="en-US" sz="1600" dirty="0"/>
          </a:p>
        </p:txBody>
      </p:sp>
      <p:sp>
        <p:nvSpPr>
          <p:cNvPr id="104" name="文本框 103"/>
          <p:cNvSpPr txBox="1"/>
          <p:nvPr/>
        </p:nvSpPr>
        <p:spPr>
          <a:xfrm>
            <a:off x="7227570" y="451993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6" name="文本框 5"/>
          <p:cNvSpPr txBox="1"/>
          <p:nvPr/>
        </p:nvSpPr>
        <p:spPr>
          <a:xfrm>
            <a:off x="1455420" y="4785995"/>
            <a:ext cx="10431780" cy="1052596"/>
          </a:xfrm>
          <a:prstGeom prst="rect">
            <a:avLst/>
          </a:prstGeom>
          <a:noFill/>
        </p:spPr>
        <p:txBody>
          <a:bodyPr wrap="square" rtlCol="0">
            <a:spAutoFit/>
          </a:bodyPr>
          <a:lstStyle/>
          <a:p>
            <a:pPr marL="0" indent="0" algn="l" fontAlgn="auto">
              <a:lnSpc>
                <a:spcPct val="130000"/>
              </a:lnSpc>
            </a:pPr>
            <a:r>
              <a:rPr sz="1600" dirty="0" smtClean="0">
                <a:latin typeface="宋体" panose="02010600030101010101" pitchFamily="2" charset="-122"/>
                <a:ea typeface="宋体" panose="02010600030101010101" pitchFamily="2" charset="-122"/>
                <a:cs typeface="宋体" panose="02010600030101010101" pitchFamily="2" charset="-122"/>
                <a:sym typeface="+mn-ea"/>
              </a:rPr>
              <a:t>将医疗费明细账存到当年全校医疗费明细账文件中去</a:t>
            </a:r>
            <a:r>
              <a:rPr sz="1600" dirty="0">
                <a:latin typeface="宋体" panose="02010600030101010101" pitchFamily="2" charset="-122"/>
                <a:ea typeface="宋体" panose="02010600030101010101" pitchFamily="2" charset="-122"/>
                <a:cs typeface="宋体" panose="02010600030101010101" pitchFamily="2" charset="-122"/>
                <a:sym typeface="+mn-ea"/>
              </a:rPr>
              <a:t>，此项功能不可重复执行。</a:t>
            </a:r>
            <a:endParaRPr sz="1600"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lnSpc>
                <a:spcPct val="130000"/>
              </a:lnSpc>
            </a:pPr>
            <a:r>
              <a:rPr sz="1600" dirty="0" smtClean="0">
                <a:latin typeface="宋体" panose="02010600030101010101" pitchFamily="2" charset="-122"/>
                <a:ea typeface="宋体" panose="02010600030101010101" pitchFamily="2" charset="-122"/>
                <a:cs typeface="宋体" panose="02010600030101010101" pitchFamily="2" charset="-122"/>
                <a:sym typeface="+mn-ea"/>
              </a:rPr>
              <a:t>把当日报销医疗费的职工的金额分类累加到每个职工各自的医疗费总额中去</a:t>
            </a:r>
            <a:r>
              <a:rPr sz="1600" dirty="0">
                <a:latin typeface="宋体" panose="02010600030101010101" pitchFamily="2" charset="-122"/>
                <a:ea typeface="宋体" panose="02010600030101010101" pitchFamily="2" charset="-122"/>
                <a:cs typeface="宋体" panose="02010600030101010101" pitchFamily="2" charset="-122"/>
                <a:sym typeface="+mn-ea"/>
              </a:rPr>
              <a:t>，并算出医疗费的余额（限额总额）。当总额超过限额时，余额为0。</a:t>
            </a:r>
            <a:endParaRPr lang="zh-CN" altLang="en-US" sz="1600" dirty="0"/>
          </a:p>
        </p:txBody>
      </p:sp>
      <p:graphicFrame>
        <p:nvGraphicFramePr>
          <p:cNvPr id="49155" name="对象 37"/>
          <p:cNvGraphicFramePr>
            <a:graphicFrameLocks noChangeAspect="1"/>
          </p:cNvGraphicFramePr>
          <p:nvPr/>
        </p:nvGraphicFramePr>
        <p:xfrm>
          <a:off x="0" y="0"/>
          <a:ext cx="161925" cy="180975"/>
        </p:xfrm>
        <a:graphic>
          <a:graphicData uri="http://schemas.openxmlformats.org/presentationml/2006/ole">
            <p:oleObj spid="_x0000_s49155" r:id="rId3" imgW="164814" imgH="177492" progId="Equation.DSMT4">
              <p:embed/>
            </p:oleObj>
          </a:graphicData>
        </a:graphic>
      </p:graphicFrame>
      <p:grpSp>
        <p:nvGrpSpPr>
          <p:cNvPr id="49153" name="组合 8694"/>
          <p:cNvGrpSpPr>
            <a:grpSpLocks/>
          </p:cNvGrpSpPr>
          <p:nvPr/>
        </p:nvGrpSpPr>
        <p:grpSpPr bwMode="auto">
          <a:xfrm>
            <a:off x="7206017" y="2118956"/>
            <a:ext cx="4072697" cy="2698703"/>
            <a:chOff x="2610" y="2434"/>
            <a:chExt cx="5532" cy="3468"/>
          </a:xfrm>
        </p:grpSpPr>
        <p:pic>
          <p:nvPicPr>
            <p:cNvPr id="49156" name="图片 8693"/>
            <p:cNvPicPr>
              <a:picLocks noChangeAspect="1" noChangeArrowheads="1"/>
            </p:cNvPicPr>
            <p:nvPr/>
          </p:nvPicPr>
          <p:blipFill>
            <a:blip r:embed="rId4" cstate="print"/>
            <a:srcRect/>
            <a:stretch>
              <a:fillRect/>
            </a:stretch>
          </p:blipFill>
          <p:spPr bwMode="auto">
            <a:xfrm>
              <a:off x="2610" y="2434"/>
              <a:ext cx="5532" cy="3468"/>
            </a:xfrm>
            <a:prstGeom prst="rect">
              <a:avLst/>
            </a:prstGeom>
            <a:noFill/>
          </p:spPr>
        </p:pic>
        <p:sp>
          <p:nvSpPr>
            <p:cNvPr id="49154" name="文本框 8692"/>
            <p:cNvSpPr txBox="1">
              <a:spLocks noChangeArrowheads="1"/>
            </p:cNvSpPr>
            <p:nvPr/>
          </p:nvSpPr>
          <p:spPr bwMode="auto">
            <a:xfrm>
              <a:off x="5805" y="3863"/>
              <a:ext cx="261" cy="24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endParaRPr lang="zh-CN" altLang="en-US"/>
            </a:p>
          </p:txBody>
        </p:sp>
      </p:grpSp>
      <p:sp>
        <p:nvSpPr>
          <p:cNvPr id="49157"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9158" name="Rectangle 6"/>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p>
        </p:txBody>
      </p:sp>
      <p:sp>
        <p:nvSpPr>
          <p:cNvPr id="5" name="文本框 4"/>
          <p:cNvSpPr txBox="1"/>
          <p:nvPr/>
        </p:nvSpPr>
        <p:spPr>
          <a:xfrm>
            <a:off x="754380" y="2176780"/>
            <a:ext cx="457200" cy="3520440"/>
          </a:xfrm>
          <a:prstGeom prst="rect">
            <a:avLst/>
          </a:prstGeom>
          <a:noFill/>
        </p:spPr>
        <p:txBody>
          <a:bodyPr vert="eaVert" wrap="none" rtlCol="0">
            <a:spAutoFit/>
          </a:bodyPr>
          <a:lstStyle/>
          <a:p>
            <a:pPr algn="l"/>
            <a:r>
              <a:rPr dirty="0" smtClean="0">
                <a:solidFill>
                  <a:schemeClr val="bg1"/>
                </a:solidFill>
                <a:sym typeface="+mn-ea"/>
              </a:rPr>
              <a:t>某高校医疗费管理系统的数据流图</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数据流图</a:t>
            </a:r>
          </a:p>
        </p:txBody>
      </p:sp>
      <p:sp>
        <p:nvSpPr>
          <p:cNvPr id="103" name="文本框 102"/>
          <p:cNvSpPr txBox="1"/>
          <p:nvPr/>
        </p:nvSpPr>
        <p:spPr>
          <a:xfrm>
            <a:off x="2421890" y="425704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7" name="文本框 6"/>
          <p:cNvSpPr txBox="1"/>
          <p:nvPr/>
        </p:nvSpPr>
        <p:spPr>
          <a:xfrm>
            <a:off x="1455418" y="1900555"/>
            <a:ext cx="5518587" cy="2899255"/>
          </a:xfrm>
          <a:prstGeom prst="rect">
            <a:avLst/>
          </a:prstGeom>
          <a:noFill/>
          <a:ln w="9525">
            <a:noFill/>
          </a:ln>
        </p:spPr>
        <p:txBody>
          <a:bodyPr wrap="square">
            <a:spAutoFit/>
          </a:bodyPr>
          <a:lstStyle/>
          <a:p>
            <a:pPr marL="0" indent="0" algn="l" fontAlgn="auto">
              <a:lnSpc>
                <a:spcPct val="130000"/>
              </a:lnSpc>
            </a:pPr>
            <a:r>
              <a:rPr sz="1600" dirty="0">
                <a:solidFill>
                  <a:srgbClr val="FF0000"/>
                </a:solidFill>
                <a:latin typeface="微软雅黑" pitchFamily="34" charset="-122"/>
                <a:ea typeface="微软雅黑" pitchFamily="34" charset="-122"/>
                <a:cs typeface="宋体" panose="02010600030101010101" pitchFamily="2" charset="-122"/>
              </a:rPr>
              <a:t>（2）统计</a:t>
            </a:r>
          </a:p>
          <a:p>
            <a:pPr marL="0" indent="0" algn="l" fontAlgn="auto">
              <a:lnSpc>
                <a:spcPct val="130000"/>
              </a:lnSpc>
            </a:pPr>
            <a:r>
              <a:rPr sz="1600" b="0" u="none" dirty="0">
                <a:latin typeface="宋体" panose="02010600030101010101" pitchFamily="2" charset="-122"/>
                <a:ea typeface="宋体" panose="02010600030101010101" pitchFamily="2" charset="-122"/>
                <a:cs typeface="宋体" panose="02010600030101010101" pitchFamily="2" charset="-122"/>
              </a:rPr>
              <a:t>当医疗费超过限额时，称为“超支”。统计未超支职工、已超支职工、未超支子女、已超支子女，这里每项统计要求列出有关人员名单及医疗费总额。另外，统计全校医疗费总支出，要求分类列出总支出，再列出各类医疗费总额。</a:t>
            </a:r>
          </a:p>
          <a:p>
            <a:pPr marL="0" indent="0" algn="l" fontAlgn="auto">
              <a:lnSpc>
                <a:spcPct val="130000"/>
              </a:lnSpc>
            </a:pPr>
            <a:r>
              <a:rPr sz="1600" dirty="0">
                <a:solidFill>
                  <a:srgbClr val="FF0000"/>
                </a:solidFill>
                <a:latin typeface="微软雅黑" pitchFamily="34" charset="-122"/>
                <a:ea typeface="微软雅黑" pitchFamily="34" charset="-122"/>
                <a:cs typeface="宋体" panose="02010600030101010101" pitchFamily="2" charset="-122"/>
              </a:rPr>
              <a:t>（3）修改</a:t>
            </a:r>
          </a:p>
          <a:p>
            <a:pPr marL="0" indent="0" algn="l" fontAlgn="auto">
              <a:lnSpc>
                <a:spcPct val="130000"/>
              </a:lnSpc>
            </a:pPr>
            <a:r>
              <a:rPr sz="1600" b="0" u="none" dirty="0">
                <a:latin typeface="宋体" panose="02010600030101010101" pitchFamily="2" charset="-122"/>
                <a:ea typeface="宋体" panose="02010600030101010101" pitchFamily="2" charset="-122"/>
                <a:cs typeface="宋体" panose="02010600030101010101" pitchFamily="2" charset="-122"/>
              </a:rPr>
              <a:t>会计账是不能随意修改的，这里只允许修改当天输入错的数据。</a:t>
            </a:r>
          </a:p>
          <a:p>
            <a:endParaRPr sz="1600" dirty="0">
              <a:solidFill>
                <a:schemeClr val="accent5">
                  <a:lumMod val="75000"/>
                </a:schemeClr>
              </a:solidFill>
              <a:latin typeface="宋体" panose="02010600030101010101" pitchFamily="2" charset="-122"/>
              <a:ea typeface="宋体" panose="02010600030101010101" pitchFamily="2" charset="-122"/>
              <a:cs typeface="宋体" panose="02010600030101010101" pitchFamily="2" charset="-122"/>
            </a:endParaRPr>
          </a:p>
        </p:txBody>
      </p:sp>
      <p:sp>
        <p:nvSpPr>
          <p:cNvPr id="104" name="文本框 103"/>
          <p:cNvSpPr txBox="1"/>
          <p:nvPr/>
        </p:nvSpPr>
        <p:spPr>
          <a:xfrm>
            <a:off x="1455420" y="4485640"/>
            <a:ext cx="9801860" cy="1618905"/>
          </a:xfrm>
          <a:prstGeom prst="rect">
            <a:avLst/>
          </a:prstGeom>
          <a:noFill/>
          <a:ln w="9525">
            <a:noFill/>
          </a:ln>
        </p:spPr>
        <p:txBody>
          <a:bodyPr wrap="square">
            <a:spAutoFit/>
          </a:bodyPr>
          <a:lstStyle/>
          <a:p>
            <a:pPr marL="0" indent="0" algn="l" fontAlgn="auto">
              <a:lnSpc>
                <a:spcPct val="130000"/>
              </a:lnSpc>
            </a:pPr>
            <a:r>
              <a:rPr sz="1600" dirty="0">
                <a:solidFill>
                  <a:srgbClr val="FF0000"/>
                </a:solidFill>
                <a:latin typeface="微软雅黑" pitchFamily="34" charset="-122"/>
                <a:ea typeface="微软雅黑" pitchFamily="34" charset="-122"/>
                <a:cs typeface="宋体" panose="02010600030101010101" pitchFamily="2" charset="-122"/>
                <a:sym typeface="+mn-ea"/>
              </a:rPr>
              <a:t>（4）查询打印</a:t>
            </a:r>
            <a:endParaRPr sz="1600" dirty="0">
              <a:solidFill>
                <a:srgbClr val="FF0000"/>
              </a:solidFill>
              <a:latin typeface="微软雅黑" pitchFamily="34" charset="-122"/>
              <a:ea typeface="微软雅黑" pitchFamily="34" charset="-122"/>
              <a:cs typeface="宋体" panose="02010600030101010101" pitchFamily="2" charset="-122"/>
            </a:endParaRPr>
          </a:p>
          <a:p>
            <a:pPr marL="0" indent="0" algn="l" fontAlgn="auto">
              <a:lnSpc>
                <a:spcPct val="130000"/>
              </a:lnSpc>
            </a:pPr>
            <a:r>
              <a:rPr sz="1600" dirty="0">
                <a:latin typeface="宋体" panose="02010600030101010101" pitchFamily="2" charset="-122"/>
                <a:ea typeface="宋体" panose="02010600030101010101" pitchFamily="2" charset="-122"/>
                <a:cs typeface="宋体" panose="02010600030101010101" pitchFamily="2" charset="-122"/>
                <a:sym typeface="+mn-ea"/>
              </a:rPr>
              <a:t>查询内容可以选择在屏幕上显示，也可选用打印机输出结果。可查询以下内容：未超支职工；已超支职工；未超支子女；已超支子女；全校总支出；指定职工的医疗费明细账（最后一行列出各项累计数据）；全校职工医疗费明细账。</a:t>
            </a:r>
            <a:endParaRPr sz="1600" b="0" u="none" dirty="0">
              <a:latin typeface="宋体" panose="02010600030101010101" pitchFamily="2" charset="-122"/>
              <a:ea typeface="宋体" panose="02010600030101010101" pitchFamily="2" charset="-122"/>
              <a:cs typeface="宋体" panose="02010600030101010101" pitchFamily="2" charset="-122"/>
            </a:endParaRPr>
          </a:p>
          <a:p>
            <a:pPr marL="0" indent="0" algn="ctr"/>
            <a:endParaRPr sz="16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48131" name="对象 37"/>
          <p:cNvGraphicFramePr>
            <a:graphicFrameLocks noChangeAspect="1"/>
          </p:cNvGraphicFramePr>
          <p:nvPr/>
        </p:nvGraphicFramePr>
        <p:xfrm>
          <a:off x="0" y="0"/>
          <a:ext cx="161925" cy="180975"/>
        </p:xfrm>
        <a:graphic>
          <a:graphicData uri="http://schemas.openxmlformats.org/presentationml/2006/ole">
            <p:oleObj spid="_x0000_s48131" r:id="rId3" imgW="164814" imgH="177492" progId="Equation.DSMT4">
              <p:embed/>
            </p:oleObj>
          </a:graphicData>
        </a:graphic>
      </p:graphicFrame>
      <p:grpSp>
        <p:nvGrpSpPr>
          <p:cNvPr id="48129" name="组合 8694"/>
          <p:cNvGrpSpPr>
            <a:grpSpLocks/>
          </p:cNvGrpSpPr>
          <p:nvPr/>
        </p:nvGrpSpPr>
        <p:grpSpPr bwMode="auto">
          <a:xfrm>
            <a:off x="7260609" y="2105310"/>
            <a:ext cx="4086345" cy="2725997"/>
            <a:chOff x="2610" y="2434"/>
            <a:chExt cx="5532" cy="3468"/>
          </a:xfrm>
        </p:grpSpPr>
        <p:pic>
          <p:nvPicPr>
            <p:cNvPr id="48132" name="图片 8693"/>
            <p:cNvPicPr>
              <a:picLocks noChangeAspect="1" noChangeArrowheads="1"/>
            </p:cNvPicPr>
            <p:nvPr/>
          </p:nvPicPr>
          <p:blipFill>
            <a:blip r:embed="rId4" cstate="print"/>
            <a:srcRect/>
            <a:stretch>
              <a:fillRect/>
            </a:stretch>
          </p:blipFill>
          <p:spPr bwMode="auto">
            <a:xfrm>
              <a:off x="2610" y="2434"/>
              <a:ext cx="5532" cy="3468"/>
            </a:xfrm>
            <a:prstGeom prst="rect">
              <a:avLst/>
            </a:prstGeom>
            <a:noFill/>
          </p:spPr>
        </p:pic>
        <p:sp>
          <p:nvSpPr>
            <p:cNvPr id="48130" name="文本框 8692"/>
            <p:cNvSpPr txBox="1">
              <a:spLocks noChangeArrowheads="1"/>
            </p:cNvSpPr>
            <p:nvPr/>
          </p:nvSpPr>
          <p:spPr bwMode="auto">
            <a:xfrm>
              <a:off x="5805" y="3863"/>
              <a:ext cx="261" cy="24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endParaRPr lang="zh-CN" altLang="en-US"/>
            </a:p>
          </p:txBody>
        </p:sp>
      </p:grpSp>
      <p:sp>
        <p:nvSpPr>
          <p:cNvPr id="48133"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8134" name="Rectangle 6"/>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数据流图</a:t>
            </a:r>
            <a:endParaRPr lang="zh-CN" altLang="en-US"/>
          </a:p>
        </p:txBody>
      </p:sp>
      <p:sp>
        <p:nvSpPr>
          <p:cNvPr id="5" name="文本框 4"/>
          <p:cNvSpPr txBox="1"/>
          <p:nvPr/>
        </p:nvSpPr>
        <p:spPr>
          <a:xfrm>
            <a:off x="754380" y="2176780"/>
            <a:ext cx="457200" cy="3520440"/>
          </a:xfrm>
          <a:prstGeom prst="rect">
            <a:avLst/>
          </a:prstGeom>
          <a:noFill/>
        </p:spPr>
        <p:txBody>
          <a:bodyPr vert="eaVert" wrap="none" rtlCol="0">
            <a:spAutoFit/>
          </a:bodyPr>
          <a:lstStyle/>
          <a:p>
            <a:pPr algn="l"/>
            <a:r>
              <a:rPr dirty="0" smtClean="0">
                <a:solidFill>
                  <a:schemeClr val="bg1"/>
                </a:solidFill>
                <a:sym typeface="+mn-ea"/>
              </a:rPr>
              <a:t>某高校医疗费管理系统的数据流图</a:t>
            </a:r>
            <a:endParaRPr lang="zh-CN" altLang="en-US" spc="160" dirty="0" smtClean="0">
              <a:solidFill>
                <a:schemeClr val="bg1"/>
              </a:solidFill>
              <a:latin typeface="微软雅黑" panose="020B0503020204020204" charset="-122"/>
              <a:ea typeface="微软雅黑" panose="020B0503020204020204" charset="-122"/>
              <a:sym typeface="+mn-ea"/>
            </a:endParaRPr>
          </a:p>
        </p:txBody>
      </p:sp>
      <p:sp>
        <p:nvSpPr>
          <p:cNvPr id="2" name="矩形 1"/>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数据流图</a:t>
            </a:r>
          </a:p>
        </p:txBody>
      </p:sp>
      <p:sp>
        <p:nvSpPr>
          <p:cNvPr id="103" name="文本框 102"/>
          <p:cNvSpPr txBox="1"/>
          <p:nvPr/>
        </p:nvSpPr>
        <p:spPr>
          <a:xfrm>
            <a:off x="2421890" y="425704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sp>
        <p:nvSpPr>
          <p:cNvPr id="7" name="文本框 6"/>
          <p:cNvSpPr txBox="1"/>
          <p:nvPr/>
        </p:nvSpPr>
        <p:spPr>
          <a:xfrm>
            <a:off x="1537307" y="2163133"/>
            <a:ext cx="5145405" cy="3219343"/>
          </a:xfrm>
          <a:prstGeom prst="rect">
            <a:avLst/>
          </a:prstGeom>
          <a:noFill/>
          <a:ln w="9525">
            <a:noFill/>
          </a:ln>
        </p:spPr>
        <p:txBody>
          <a:bodyPr wrap="square">
            <a:spAutoFit/>
          </a:bodyPr>
          <a:lstStyle/>
          <a:p>
            <a:pPr marL="0" indent="0" algn="l" fontAlgn="auto">
              <a:lnSpc>
                <a:spcPct val="130000"/>
              </a:lnSpc>
            </a:pPr>
            <a:endParaRPr sz="1600"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lnSpc>
                <a:spcPct val="130000"/>
              </a:lnSpc>
            </a:pPr>
            <a:r>
              <a:rPr sz="1600" dirty="0">
                <a:solidFill>
                  <a:srgbClr val="FF0000"/>
                </a:solidFill>
                <a:latin typeface="微软雅黑" pitchFamily="34" charset="-122"/>
                <a:ea typeface="微软雅黑" pitchFamily="34" charset="-122"/>
                <a:cs typeface="宋体" panose="02010600030101010101" pitchFamily="2" charset="-122"/>
              </a:rPr>
              <a:t>（5）系统维护</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① 改医疗费限额</a:t>
            </a:r>
            <a:r>
              <a:rPr sz="1600" b="0" u="none" dirty="0">
                <a:latin typeface="宋体" panose="02010600030101010101" pitchFamily="2" charset="-122"/>
                <a:ea typeface="宋体" panose="02010600030101010101" pitchFamily="2" charset="-122"/>
                <a:cs typeface="宋体" panose="02010600030101010101" pitchFamily="2" charset="-122"/>
              </a:rPr>
              <a:t>（在年初进行）。</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② 初始化</a:t>
            </a:r>
            <a:r>
              <a:rPr sz="1600" b="0" u="none" dirty="0">
                <a:latin typeface="宋体" panose="02010600030101010101" pitchFamily="2" charset="-122"/>
                <a:ea typeface="宋体" panose="02010600030101010101" pitchFamily="2" charset="-122"/>
                <a:cs typeface="宋体" panose="02010600030101010101" pitchFamily="2" charset="-122"/>
              </a:rPr>
              <a:t>（在年初进行）：</a:t>
            </a:r>
          </a:p>
          <a:p>
            <a:pPr marL="0" indent="0" algn="l" fontAlgn="auto">
              <a:lnSpc>
                <a:spcPct val="130000"/>
              </a:lnSpc>
            </a:pPr>
            <a:r>
              <a:rPr lang="en-US" sz="1600" b="0" u="none" dirty="0" smtClean="0">
                <a:latin typeface="宋体" panose="02010600030101010101" pitchFamily="2" charset="-122"/>
                <a:ea typeface="宋体" panose="02010600030101010101" pitchFamily="2" charset="-122"/>
                <a:cs typeface="宋体" panose="02010600030101010101" pitchFamily="2" charset="-122"/>
              </a:rPr>
              <a:t>    </a:t>
            </a:r>
            <a:r>
              <a:rPr sz="1600" b="0" u="none" dirty="0" smtClean="0">
                <a:latin typeface="宋体" panose="02010600030101010101" pitchFamily="2" charset="-122"/>
                <a:ea typeface="宋体" panose="02010600030101010101" pitchFamily="2" charset="-122"/>
                <a:cs typeface="宋体" panose="02010600030101010101" pitchFamily="2" charset="-122"/>
              </a:rPr>
              <a:t>清除每个职工医疗费明细账的数据</a:t>
            </a:r>
            <a:r>
              <a:rPr sz="1600" b="0" u="none" dirty="0">
                <a:latin typeface="宋体" panose="02010600030101010101" pitchFamily="2" charset="-122"/>
                <a:ea typeface="宋体" panose="02010600030101010101" pitchFamily="2" charset="-122"/>
                <a:cs typeface="宋体" panose="02010600030101010101" pitchFamily="2" charset="-122"/>
              </a:rPr>
              <a:t>。</a:t>
            </a:r>
          </a:p>
          <a:p>
            <a:pPr marL="0" indent="0" algn="l" fontAlgn="auto">
              <a:lnSpc>
                <a:spcPct val="130000"/>
              </a:lnSpc>
            </a:pPr>
            <a:r>
              <a:rPr sz="1600" b="0" u="none" dirty="0" smtClean="0">
                <a:latin typeface="宋体" panose="02010600030101010101" pitchFamily="2" charset="-122"/>
                <a:ea typeface="宋体" panose="02010600030101010101" pitchFamily="2" charset="-122"/>
                <a:cs typeface="宋体" panose="02010600030101010101" pitchFamily="2" charset="-122"/>
              </a:rPr>
              <a:t></a:t>
            </a:r>
            <a:r>
              <a:rPr lang="en-US" sz="1600" b="0" u="none" dirty="0" smtClean="0">
                <a:latin typeface="宋体" panose="02010600030101010101" pitchFamily="2" charset="-122"/>
                <a:ea typeface="宋体" panose="02010600030101010101" pitchFamily="2" charset="-122"/>
                <a:cs typeface="宋体" panose="02010600030101010101" pitchFamily="2" charset="-122"/>
              </a:rPr>
              <a:t>  </a:t>
            </a:r>
            <a:r>
              <a:rPr sz="1600" b="0" u="none" dirty="0" smtClean="0">
                <a:latin typeface="宋体" panose="02010600030101010101" pitchFamily="2" charset="-122"/>
                <a:ea typeface="宋体" panose="02010600030101010101" pitchFamily="2" charset="-122"/>
                <a:cs typeface="宋体" panose="02010600030101010101" pitchFamily="2" charset="-122"/>
              </a:rPr>
              <a:t>职工医疗费累计文件中各类医疗费赋</a:t>
            </a:r>
            <a:r>
              <a:rPr sz="1600" b="0" u="none" dirty="0">
                <a:latin typeface="宋体" panose="02010600030101010101" pitchFamily="2" charset="-122"/>
                <a:ea typeface="宋体" panose="02010600030101010101" pitchFamily="2" charset="-122"/>
                <a:cs typeface="宋体" panose="02010600030101010101" pitchFamily="2" charset="-122"/>
              </a:rPr>
              <a:t>0，“余额”为当年限额，总额也为0。</a:t>
            </a:r>
          </a:p>
          <a:p>
            <a:pPr marL="0" indent="0" algn="l" fontAlgn="auto">
              <a:lnSpc>
                <a:spcPct val="130000"/>
              </a:lnSpc>
            </a:pPr>
            <a:r>
              <a:rPr sz="1600" b="1"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③ 人员调动：</a:t>
            </a:r>
            <a:r>
              <a:rPr sz="1600" b="0" u="none" dirty="0">
                <a:latin typeface="宋体" panose="02010600030101010101" pitchFamily="2" charset="-122"/>
                <a:ea typeface="宋体" panose="02010600030101010101" pitchFamily="2" charset="-122"/>
                <a:cs typeface="宋体" panose="02010600030101010101" pitchFamily="2" charset="-122"/>
              </a:rPr>
              <a:t>新增人员添加信息；人员内部调动时修改职工所属部门；人员调离本单位时进行注销。</a:t>
            </a:r>
          </a:p>
          <a:p>
            <a:endParaRPr lang="zh-CN" altLang="en-US" sz="1600" dirty="0"/>
          </a:p>
        </p:txBody>
      </p:sp>
      <p:sp>
        <p:nvSpPr>
          <p:cNvPr id="104" name="文本框 103"/>
          <p:cNvSpPr txBox="1"/>
          <p:nvPr/>
        </p:nvSpPr>
        <p:spPr>
          <a:xfrm>
            <a:off x="7227570" y="4519930"/>
            <a:ext cx="5080000" cy="365760"/>
          </a:xfrm>
          <a:prstGeom prst="rect">
            <a:avLst/>
          </a:prstGeom>
          <a:noFill/>
          <a:ln w="9525">
            <a:noFill/>
          </a:ln>
        </p:spPr>
        <p:txBody>
          <a:bodyPr>
            <a:spAutoFit/>
          </a:bodyPr>
          <a:lstStyle/>
          <a:p>
            <a:pPr marL="0" indent="0" algn="ctr"/>
            <a:r>
              <a:rPr lang="en-US" altLang="zh-CN" b="0" u="none">
                <a:latin typeface="宋体" panose="02010600030101010101" pitchFamily="2" charset="-122"/>
                <a:ea typeface="宋体" panose="02010600030101010101" pitchFamily="2" charset="-122"/>
                <a:cs typeface="宋体" panose="02010600030101010101" pitchFamily="2" charset="-122"/>
              </a:rPr>
              <a:t> </a:t>
            </a:r>
            <a:endParaRPr lang="zh-CN" altLang="en-US"/>
          </a:p>
        </p:txBody>
      </p:sp>
      <p:graphicFrame>
        <p:nvGraphicFramePr>
          <p:cNvPr id="47107" name="对象 37"/>
          <p:cNvGraphicFramePr>
            <a:graphicFrameLocks noChangeAspect="1"/>
          </p:cNvGraphicFramePr>
          <p:nvPr/>
        </p:nvGraphicFramePr>
        <p:xfrm>
          <a:off x="0" y="0"/>
          <a:ext cx="161925" cy="180975"/>
        </p:xfrm>
        <a:graphic>
          <a:graphicData uri="http://schemas.openxmlformats.org/presentationml/2006/ole">
            <p:oleObj spid="_x0000_s47107" r:id="rId3" imgW="164814" imgH="177492" progId="Equation.DSMT4">
              <p:embed/>
            </p:oleObj>
          </a:graphicData>
        </a:graphic>
      </p:graphicFrame>
      <p:grpSp>
        <p:nvGrpSpPr>
          <p:cNvPr id="47105" name="组合 8694"/>
          <p:cNvGrpSpPr>
            <a:grpSpLocks/>
          </p:cNvGrpSpPr>
          <p:nvPr/>
        </p:nvGrpSpPr>
        <p:grpSpPr bwMode="auto">
          <a:xfrm>
            <a:off x="6714699" y="2091662"/>
            <a:ext cx="4864266" cy="3326499"/>
            <a:chOff x="2610" y="2434"/>
            <a:chExt cx="5532" cy="3468"/>
          </a:xfrm>
        </p:grpSpPr>
        <p:pic>
          <p:nvPicPr>
            <p:cNvPr id="47108" name="图片 8693"/>
            <p:cNvPicPr>
              <a:picLocks noChangeAspect="1" noChangeArrowheads="1"/>
            </p:cNvPicPr>
            <p:nvPr/>
          </p:nvPicPr>
          <p:blipFill>
            <a:blip r:embed="rId4" cstate="print"/>
            <a:srcRect/>
            <a:stretch>
              <a:fillRect/>
            </a:stretch>
          </p:blipFill>
          <p:spPr bwMode="auto">
            <a:xfrm>
              <a:off x="2610" y="2434"/>
              <a:ext cx="5532" cy="3468"/>
            </a:xfrm>
            <a:prstGeom prst="rect">
              <a:avLst/>
            </a:prstGeom>
            <a:noFill/>
          </p:spPr>
        </p:pic>
        <p:sp>
          <p:nvSpPr>
            <p:cNvPr id="47106" name="文本框 8692"/>
            <p:cNvSpPr txBox="1">
              <a:spLocks noChangeArrowheads="1"/>
            </p:cNvSpPr>
            <p:nvPr/>
          </p:nvSpPr>
          <p:spPr bwMode="auto">
            <a:xfrm>
              <a:off x="5805" y="3863"/>
              <a:ext cx="261" cy="240"/>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endParaRPr lang="zh-CN" altLang="en-US"/>
            </a:p>
          </p:txBody>
        </p:sp>
      </p:grpSp>
      <p:sp>
        <p:nvSpPr>
          <p:cNvPr id="47109" name="Rectangle 5"/>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7110" name="Rectangle 6"/>
          <p:cNvSpPr>
            <a:spLocks noChangeArrowheads="1"/>
          </p:cNvSpPr>
          <p:nvPr/>
        </p:nvSpPr>
        <p:spPr bwMode="auto">
          <a:xfrm>
            <a:off x="0" y="0"/>
            <a:ext cx="0" cy="0"/>
          </a:xfrm>
          <a:prstGeom prst="rect">
            <a:avLst/>
          </a:prstGeom>
          <a:solidFill>
            <a:schemeClr val="accent1"/>
          </a:solidFill>
          <a:ln w="9525">
            <a:solidFill>
              <a:schemeClr val="tx1"/>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3.3</a:t>
            </a:r>
            <a:r>
              <a:rPr lang="zh-CN" altLang="zh-CN">
                <a:solidFill>
                  <a:srgbClr val="FF0000"/>
                </a:solidFill>
                <a:sym typeface="+mn-ea"/>
              </a:rPr>
              <a:t> 状态转换图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3.3.1 </a:t>
            </a:r>
            <a:r>
              <a:rPr lang="zh-CN" altLang="en-US" sz="2400" dirty="0" smtClean="0">
                <a:solidFill>
                  <a:schemeClr val="tx1"/>
                </a:solidFill>
              </a:rPr>
              <a:t>画状态转换图的步骤</a:t>
            </a:r>
            <a:r>
              <a:rPr lang="en-US" sz="2400" dirty="0" smtClean="0">
                <a:solidFill>
                  <a:schemeClr val="tx1"/>
                </a:solidFill>
              </a:rPr>
              <a:t> </a:t>
            </a:r>
          </a:p>
        </p:txBody>
      </p:sp>
      <p:sp>
        <p:nvSpPr>
          <p:cNvPr id="6" name="MH_Other_1"/>
          <p:cNvSpPr>
            <a:spLocks noChangeArrowheads="1"/>
          </p:cNvSpPr>
          <p:nvPr>
            <p:custDataLst>
              <p:tags r:id="rId1"/>
            </p:custDataLst>
          </p:nvPr>
        </p:nvSpPr>
        <p:spPr bwMode="auto">
          <a:xfrm>
            <a:off x="1070610" y="2444115"/>
            <a:ext cx="671195" cy="436880"/>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7" name="MH_Other_2"/>
          <p:cNvSpPr>
            <a:spLocks noChangeArrowheads="1"/>
          </p:cNvSpPr>
          <p:nvPr>
            <p:custDataLst>
              <p:tags r:id="rId2"/>
            </p:custDataLst>
          </p:nvPr>
        </p:nvSpPr>
        <p:spPr bwMode="auto">
          <a:xfrm>
            <a:off x="1779905" y="2534920"/>
            <a:ext cx="532130" cy="346075"/>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3"/>
            </p:custDataLst>
          </p:nvPr>
        </p:nvSpPr>
        <p:spPr bwMode="auto">
          <a:xfrm>
            <a:off x="1222375" y="2905760"/>
            <a:ext cx="519430" cy="337820"/>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4"/>
            </p:custDataLst>
          </p:nvPr>
        </p:nvSpPr>
        <p:spPr bwMode="auto">
          <a:xfrm>
            <a:off x="1779905" y="2905760"/>
            <a:ext cx="671195" cy="2889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5"/>
            </p:custDataLst>
          </p:nvPr>
        </p:nvSpPr>
        <p:spPr>
          <a:xfrm>
            <a:off x="2733040" y="2491740"/>
            <a:ext cx="6780530" cy="703580"/>
          </a:xfrm>
          <a:prstGeom prst="rect">
            <a:avLst/>
          </a:prstGeom>
        </p:spPr>
        <p:txBody>
          <a:bodyPr lIns="0" tIns="0" rIns="0" bIns="0" anchor="ctr">
            <a:noAutofit/>
          </a:bodyPr>
          <a:lstStyle/>
          <a:p>
            <a:pPr>
              <a:lnSpc>
                <a:spcPct val="140000"/>
              </a:lnSpc>
              <a:defRPr/>
            </a:pPr>
            <a:r>
              <a:rPr lang="zh-CN" altLang="en-US" dirty="0" smtClean="0">
                <a:solidFill>
                  <a:srgbClr val="000000"/>
                </a:solidFill>
                <a:latin typeface="微软雅黑" panose="020B0503020204020204" charset="-122"/>
                <a:ea typeface="微软雅黑" panose="020B0503020204020204" charset="-122"/>
                <a:sym typeface="+mn-ea"/>
              </a:rPr>
              <a:t>找出实体的所有状态。</a:t>
            </a:r>
          </a:p>
        </p:txBody>
      </p:sp>
      <p:grpSp>
        <p:nvGrpSpPr>
          <p:cNvPr id="4" name="组合 3"/>
          <p:cNvGrpSpPr/>
          <p:nvPr/>
        </p:nvGrpSpPr>
        <p:grpSpPr>
          <a:xfrm>
            <a:off x="4384040" y="4850130"/>
            <a:ext cx="6713855" cy="799465"/>
            <a:chOff x="6940" y="7350"/>
            <a:chExt cx="10573" cy="1259"/>
          </a:xfrm>
        </p:grpSpPr>
        <p:sp>
          <p:nvSpPr>
            <p:cNvPr id="11" name="MH_Other_5"/>
            <p:cNvSpPr>
              <a:spLocks noChangeArrowheads="1"/>
            </p:cNvSpPr>
            <p:nvPr>
              <p:custDataLst>
                <p:tags r:id="rId11"/>
              </p:custDataLst>
            </p:nvPr>
          </p:nvSpPr>
          <p:spPr bwMode="auto">
            <a:xfrm>
              <a:off x="6940" y="7350"/>
              <a:ext cx="1057" cy="688"/>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2" name="MH_Other_6"/>
            <p:cNvSpPr>
              <a:spLocks noChangeArrowheads="1"/>
            </p:cNvSpPr>
            <p:nvPr>
              <p:custDataLst>
                <p:tags r:id="rId12"/>
              </p:custDataLst>
            </p:nvPr>
          </p:nvSpPr>
          <p:spPr bwMode="auto">
            <a:xfrm>
              <a:off x="8058" y="7493"/>
              <a:ext cx="838" cy="545"/>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3"/>
              </p:custDataLst>
            </p:nvPr>
          </p:nvSpPr>
          <p:spPr bwMode="auto">
            <a:xfrm>
              <a:off x="7180" y="8077"/>
              <a:ext cx="818" cy="532"/>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4"/>
              </p:custDataLst>
            </p:nvPr>
          </p:nvSpPr>
          <p:spPr bwMode="auto">
            <a:xfrm>
              <a:off x="8058" y="8077"/>
              <a:ext cx="1057" cy="45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5"/>
              </p:custDataLst>
            </p:nvPr>
          </p:nvSpPr>
          <p:spPr>
            <a:xfrm>
              <a:off x="9531" y="7350"/>
              <a:ext cx="7983" cy="1108"/>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分析从一种状态可以转换到哪几种其他状态，实体的什么行为能引起这种转换，有无状态转换的限制条件。</a:t>
              </a:r>
            </a:p>
          </p:txBody>
        </p:sp>
      </p:grpSp>
      <p:sp>
        <p:nvSpPr>
          <p:cNvPr id="16" name="MH_Other_9"/>
          <p:cNvSpPr>
            <a:spLocks noChangeArrowheads="1"/>
          </p:cNvSpPr>
          <p:nvPr>
            <p:custDataLst>
              <p:tags r:id="rId6"/>
            </p:custDataLst>
          </p:nvPr>
        </p:nvSpPr>
        <p:spPr bwMode="auto">
          <a:xfrm>
            <a:off x="2755900" y="3566795"/>
            <a:ext cx="671195" cy="436880"/>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7" name="MH_Other_10"/>
          <p:cNvSpPr>
            <a:spLocks noChangeArrowheads="1"/>
          </p:cNvSpPr>
          <p:nvPr>
            <p:custDataLst>
              <p:tags r:id="rId7"/>
            </p:custDataLst>
          </p:nvPr>
        </p:nvSpPr>
        <p:spPr bwMode="auto">
          <a:xfrm>
            <a:off x="3465195" y="3657600"/>
            <a:ext cx="532130" cy="34607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8"/>
            </p:custDataLst>
          </p:nvPr>
        </p:nvSpPr>
        <p:spPr bwMode="auto">
          <a:xfrm>
            <a:off x="2907665" y="4028440"/>
            <a:ext cx="519430" cy="33782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 name="MH_Other_12"/>
          <p:cNvSpPr>
            <a:spLocks noChangeArrowheads="1"/>
          </p:cNvSpPr>
          <p:nvPr>
            <p:custDataLst>
              <p:tags r:id="rId9"/>
            </p:custDataLst>
          </p:nvPr>
        </p:nvSpPr>
        <p:spPr bwMode="auto">
          <a:xfrm>
            <a:off x="3465195" y="4028440"/>
            <a:ext cx="671195" cy="2889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0"/>
            </p:custDataLst>
          </p:nvPr>
        </p:nvSpPr>
        <p:spPr>
          <a:xfrm>
            <a:off x="4384040" y="3590290"/>
            <a:ext cx="4842510" cy="703580"/>
          </a:xfrm>
          <a:prstGeom prst="rect">
            <a:avLst/>
          </a:prstGeom>
        </p:spPr>
        <p:txBody>
          <a:bodyPr lIns="0" tIns="0" rIns="0" bIns="0" anchor="ctr">
            <a:noAutofit/>
          </a:bodyPr>
          <a:lstStyle/>
          <a:p>
            <a:pPr lvl="0" algn="just">
              <a:lnSpc>
                <a:spcPct val="120000"/>
              </a:lnSpc>
              <a:spcBef>
                <a:spcPct val="0"/>
              </a:spcBef>
            </a:pPr>
            <a:r>
              <a:rPr lang="en-US" dirty="0" smtClean="0">
                <a:solidFill>
                  <a:srgbClr val="000000"/>
                </a:solidFill>
                <a:latin typeface="微软雅黑" panose="020B0503020204020204" charset="-122"/>
                <a:ea typeface="微软雅黑" panose="020B0503020204020204" charset="-122"/>
                <a:sym typeface="+mn-ea"/>
              </a:rPr>
              <a:t>       </a:t>
            </a:r>
            <a:r>
              <a:rPr dirty="0" smtClean="0">
                <a:solidFill>
                  <a:srgbClr val="000000"/>
                </a:solidFill>
                <a:latin typeface="微软雅黑" panose="020B0503020204020204" charset="-122"/>
                <a:ea typeface="微软雅黑" panose="020B0503020204020204" charset="-122"/>
                <a:sym typeface="+mn-ea"/>
              </a:rPr>
              <a:t>分析在不同状态下，实体的行为规则有无差别，若无差别则应将它们合并为一种状态。</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3.3</a:t>
            </a:r>
            <a:r>
              <a:rPr lang="zh-CN" altLang="zh-CN">
                <a:solidFill>
                  <a:srgbClr val="FF0000"/>
                </a:solidFill>
                <a:sym typeface="+mn-ea"/>
              </a:rPr>
              <a:t> 状态转换图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3.3.2 </a:t>
            </a:r>
            <a:r>
              <a:rPr lang="zh-CN" altLang="en-US" sz="2400" dirty="0" smtClean="0">
                <a:solidFill>
                  <a:schemeClr val="tx1"/>
                </a:solidFill>
              </a:rPr>
              <a:t>状态转换图的符号</a:t>
            </a:r>
          </a:p>
        </p:txBody>
      </p:sp>
      <p:sp>
        <p:nvSpPr>
          <p:cNvPr id="22" name="矩形 21"/>
          <p:cNvSpPr/>
          <p:nvPr/>
        </p:nvSpPr>
        <p:spPr>
          <a:xfrm>
            <a:off x="789305" y="1969770"/>
            <a:ext cx="10638790" cy="387858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992505" y="2113280"/>
          <a:ext cx="10206355" cy="3597939"/>
        </p:xfrm>
        <a:graphic>
          <a:graphicData uri="http://schemas.openxmlformats.org/drawingml/2006/table">
            <a:tbl>
              <a:tblPr firstRow="1" firstCol="1" bandRow="1">
                <a:tableStyleId>{F5AB1C69-6EDB-4FF4-983F-18BD219EF322}</a:tableStyleId>
              </a:tblPr>
              <a:tblGrid>
                <a:gridCol w="2983230"/>
                <a:gridCol w="7223125"/>
              </a:tblGrid>
              <a:tr h="579755">
                <a:tc>
                  <a:txBody>
                    <a:bodyPr/>
                    <a:lstStyle/>
                    <a:p>
                      <a:pPr algn="ctr">
                        <a:lnSpc>
                          <a:spcPct val="115000"/>
                        </a:lnSpc>
                        <a:spcAft>
                          <a:spcPts val="0"/>
                        </a:spcAft>
                      </a:pPr>
                      <a:r>
                        <a:rPr lang="zh-CN" altLang="en-US" sz="2000" kern="100" dirty="0" smtClean="0">
                          <a:effectLst/>
                        </a:rPr>
                        <a:t>符号</a:t>
                      </a:r>
                      <a:endParaRPr lang="zh-CN" altLang="en-US" sz="2000" kern="100" dirty="0" smtClean="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r>
              <a:tr h="570894">
                <a:tc>
                  <a:txBody>
                    <a:bodyPr/>
                    <a:lstStyle/>
                    <a:p>
                      <a:pPr algn="ctr">
                        <a:lnSpc>
                          <a:spcPct val="115000"/>
                        </a:lnSpc>
                        <a:spcAft>
                          <a:spcPts val="0"/>
                        </a:spcAft>
                      </a:pPr>
                      <a:r>
                        <a:rPr lang="zh-CN" sz="1800" kern="100" dirty="0">
                          <a:effectLst/>
                        </a:rPr>
                        <a:t>椭圆</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表示实体的一种状态，椭圆内部填写状态名。</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12140">
                <a:tc>
                  <a:txBody>
                    <a:bodyPr/>
                    <a:lstStyle/>
                    <a:p>
                      <a:pPr algn="ctr">
                        <a:lnSpc>
                          <a:spcPct val="115000"/>
                        </a:lnSpc>
                        <a:spcAft>
                          <a:spcPts val="0"/>
                        </a:spcAft>
                      </a:pPr>
                      <a:r>
                        <a:rPr lang="zh-CN" sz="1800" kern="100" dirty="0">
                          <a:effectLst/>
                        </a:rPr>
                        <a:t>箭头</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表示从箭头出发的状态可以转换到箭头指向的状态。</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28650">
                <a:tc>
                  <a:txBody>
                    <a:bodyPr/>
                    <a:lstStyle/>
                    <a:p>
                      <a:pPr algn="ctr">
                        <a:lnSpc>
                          <a:spcPct val="115000"/>
                        </a:lnSpc>
                        <a:spcAft>
                          <a:spcPts val="0"/>
                        </a:spcAft>
                      </a:pPr>
                      <a:r>
                        <a:rPr lang="zh-CN" sz="1800" kern="100" dirty="0">
                          <a:effectLst/>
                        </a:rPr>
                        <a:t>事件</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箭头线附近可标出引起状态转换的事件名。事件名后面可加方括号[ ]，方括号内写状态转换的条件。</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557530">
                <a:tc>
                  <a:txBody>
                    <a:bodyPr/>
                    <a:lstStyle/>
                    <a:p>
                      <a:pPr algn="ctr">
                        <a:lnSpc>
                          <a:spcPct val="115000"/>
                        </a:lnSpc>
                        <a:spcAft>
                          <a:spcPts val="0"/>
                        </a:spcAft>
                      </a:pPr>
                      <a:r>
                        <a:rPr lang="zh-CN" sz="1800" kern="100" dirty="0">
                          <a:effectLst/>
                        </a:rPr>
                        <a:t>实心圆</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指出该实体被创建后所处的初始状态。</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48970">
                <a:tc>
                  <a:txBody>
                    <a:bodyPr/>
                    <a:lstStyle/>
                    <a:p>
                      <a:pPr algn="ctr">
                        <a:lnSpc>
                          <a:spcPct val="115000"/>
                        </a:lnSpc>
                        <a:spcAft>
                          <a:spcPts val="0"/>
                        </a:spcAft>
                        <a:buNone/>
                      </a:pPr>
                      <a:r>
                        <a:rPr lang="zh-CN" altLang="en-US" sz="1800" kern="100" dirty="0">
                          <a:effectLst/>
                        </a:rPr>
                        <a:t>内部实心的同心圆</a:t>
                      </a: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表示实体的最终状态。</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3.2</a:t>
            </a:r>
            <a:r>
              <a:rPr lang="zh-CN" altLang="zh-CN">
                <a:solidFill>
                  <a:srgbClr val="FF0000"/>
                </a:solidFill>
                <a:sym typeface="+mn-ea"/>
              </a:rPr>
              <a:t> 数据流</a:t>
            </a:r>
            <a:r>
              <a:rPr lang="zh-CN" altLang="en-US">
                <a:solidFill>
                  <a:srgbClr val="FF0000"/>
                </a:solidFill>
                <a:sym typeface="+mn-ea"/>
              </a:rPr>
              <a:t>图</a:t>
            </a: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952500" y="2000251"/>
            <a:ext cx="10432415" cy="4252594"/>
            <a:chOff x="1500" y="3150"/>
            <a:chExt cx="16429" cy="6697"/>
          </a:xfrm>
        </p:grpSpPr>
        <p:sp>
          <p:nvSpPr>
            <p:cNvPr id="22" name="TextBox 21"/>
            <p:cNvSpPr txBox="1"/>
            <p:nvPr/>
          </p:nvSpPr>
          <p:spPr>
            <a:xfrm>
              <a:off x="3298" y="3420"/>
              <a:ext cx="13522" cy="624"/>
            </a:xfrm>
            <a:prstGeom prst="rect">
              <a:avLst/>
            </a:prstGeom>
            <a:noFill/>
          </p:spPr>
          <p:txBody>
            <a:bodyPr wrap="square">
              <a:spAutoFit/>
            </a:bodyPr>
            <a:lstStyle/>
            <a:p>
              <a:r>
                <a:rPr sz="2000" dirty="0" smtClean="0">
                  <a:sym typeface="+mn-ea"/>
                </a:rPr>
                <a:t>数据结构中“栈”的状态转换图</a:t>
              </a:r>
            </a:p>
          </p:txBody>
        </p:sp>
        <p:sp>
          <p:nvSpPr>
            <p:cNvPr id="24" name="矩形 23"/>
            <p:cNvSpPr>
              <a:spLocks noChangeAspect="1"/>
            </p:cNvSpPr>
            <p:nvPr/>
          </p:nvSpPr>
          <p:spPr>
            <a:xfrm>
              <a:off x="1500" y="4500"/>
              <a:ext cx="16429" cy="534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2-5</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36" y="4786"/>
              <a:ext cx="15392" cy="4752"/>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pic>
        <p:nvPicPr>
          <p:cNvPr id="44033" name="图片 30"/>
          <p:cNvPicPr>
            <a:picLocks noChangeAspect="1" noChangeArrowheads="1"/>
          </p:cNvPicPr>
          <p:nvPr/>
        </p:nvPicPr>
        <p:blipFill>
          <a:blip r:embed="rId3" cstate="print"/>
          <a:srcRect b="2873"/>
          <a:stretch>
            <a:fillRect/>
          </a:stretch>
        </p:blipFill>
        <p:spPr bwMode="auto">
          <a:xfrm>
            <a:off x="3411941" y="3166281"/>
            <a:ext cx="5459104" cy="277613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3.4</a:t>
            </a:r>
            <a:r>
              <a:rPr lang="zh-CN" altLang="zh-CN">
                <a:solidFill>
                  <a:srgbClr val="FF0000"/>
                </a:solidFill>
                <a:sym typeface="+mn-ea"/>
              </a:rPr>
              <a:t> 层次图</a:t>
            </a:r>
            <a:endParaRPr lang="zh-CN" altLang="en-US">
              <a:solidFill>
                <a:srgbClr val="FF0000"/>
              </a:solidFill>
              <a:sym typeface="+mn-ea"/>
            </a:endParaRP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3.4.1 </a:t>
            </a:r>
            <a:r>
              <a:rPr lang="zh-CN" altLang="en-US" sz="2400" dirty="0" smtClean="0">
                <a:solidFill>
                  <a:schemeClr val="tx1"/>
                </a:solidFill>
              </a:rPr>
              <a:t>层次图构成</a:t>
            </a:r>
          </a:p>
        </p:txBody>
      </p:sp>
      <p:sp>
        <p:nvSpPr>
          <p:cNvPr id="102" name="文本框 101"/>
          <p:cNvSpPr txBox="1"/>
          <p:nvPr/>
        </p:nvSpPr>
        <p:spPr>
          <a:xfrm>
            <a:off x="5272405" y="1723390"/>
            <a:ext cx="6329045" cy="4010025"/>
          </a:xfrm>
          <a:prstGeom prst="rect">
            <a:avLst/>
          </a:prstGeom>
          <a:noFill/>
          <a:ln w="9525">
            <a:noFill/>
          </a:ln>
        </p:spPr>
        <p:txBody>
          <a:bodyPr wrap="square">
            <a:spAutoFit/>
          </a:bodyPr>
          <a:lstStyle/>
          <a:p>
            <a:pPr marL="0" indent="0" algn="l" fontAlgn="auto">
              <a:lnSpc>
                <a:spcPct val="130000"/>
              </a:lnSpc>
            </a:pPr>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solidFill>
                  <a:schemeClr val="accent1">
                    <a:lumMod val="75000"/>
                  </a:schemeClr>
                </a:solidFill>
                <a:latin typeface="宋体" panose="02010600030101010101" pitchFamily="2" charset="-122"/>
                <a:ea typeface="宋体" panose="02010600030101010101" pitchFamily="2" charset="-122"/>
                <a:cs typeface="宋体" panose="02010600030101010101" pitchFamily="2" charset="-122"/>
              </a:rPr>
              <a:t>层次图是由一系列多层次的树形结构矩形框组成的，可用来描述数据的层次结构，也可用来描述程序结构。</a:t>
            </a:r>
            <a:r>
              <a:rPr lang="zh-CN" altLang="en-US" b="0" u="none" dirty="0">
                <a:latin typeface="宋体" panose="02010600030101010101" pitchFamily="2" charset="-122"/>
                <a:ea typeface="宋体" panose="02010600030101010101" pitchFamily="2" charset="-122"/>
                <a:cs typeface="宋体" panose="02010600030101010101" pitchFamily="2" charset="-122"/>
              </a:rPr>
              <a:t>层次图的顶层是一个单独的矩形框，它代表数据结构的整体，下面各层的矩形框代表这个数据结构的子集，最底层的各个框代表组成这个数据的元素。</a:t>
            </a:r>
          </a:p>
          <a:p>
            <a:r>
              <a:rPr lang="zh-CN" altLang="en-US" b="0" u="none" dirty="0">
                <a:latin typeface="宋体" panose="02010600030101010101" pitchFamily="2" charset="-122"/>
                <a:ea typeface="宋体" panose="02010600030101010101" pitchFamily="2" charset="-122"/>
                <a:cs typeface="宋体" panose="02010600030101010101" pitchFamily="2" charset="-122"/>
              </a:rPr>
              <a:t>    随着结构描述的细化，</a:t>
            </a:r>
            <a:r>
              <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rPr>
              <a:t>层次图对数据结构的描述也越加详细</a:t>
            </a:r>
            <a:r>
              <a:rPr lang="zh-CN" altLang="en-US" b="0" u="none" dirty="0">
                <a:latin typeface="宋体" panose="02010600030101010101" pitchFamily="2" charset="-122"/>
                <a:ea typeface="宋体" panose="02010600030101010101" pitchFamily="2" charset="-122"/>
                <a:cs typeface="宋体" panose="02010600030101010101" pitchFamily="2" charset="-122"/>
              </a:rPr>
              <a:t>，系统分析员从顶层数据开始分类，沿着图中各条路径反复细化，直到确定了数据结构的全部细节为止，这样的处理模式很</a:t>
            </a:r>
            <a:r>
              <a:rPr lang="zh-CN" altLang="en-US" b="0" u="none" dirty="0">
                <a:solidFill>
                  <a:schemeClr val="accent1">
                    <a:lumMod val="75000"/>
                  </a:schemeClr>
                </a:solidFill>
                <a:latin typeface="宋体" panose="02010600030101010101" pitchFamily="2" charset="-122"/>
                <a:ea typeface="宋体" panose="02010600030101010101" pitchFamily="2" charset="-122"/>
                <a:cs typeface="宋体" panose="02010600030101010101" pitchFamily="2" charset="-122"/>
              </a:rPr>
              <a:t>适合需求分析的需要</a:t>
            </a:r>
            <a:r>
              <a:rPr lang="zh-CN" altLang="en-US" b="0" u="none" dirty="0">
                <a:latin typeface="宋体" panose="02010600030101010101" pitchFamily="2" charset="-122"/>
                <a:ea typeface="宋体" panose="02010600030101010101" pitchFamily="2" charset="-122"/>
                <a:cs typeface="宋体" panose="02010600030101010101" pitchFamily="2" charset="-122"/>
              </a:rPr>
              <a:t>。</a:t>
            </a:r>
          </a:p>
          <a:p>
            <a:r>
              <a:rPr lang="zh-CN" altLang="en-US" b="0" u="none" dirty="0">
                <a:latin typeface="宋体" panose="02010600030101010101" pitchFamily="2" charset="-122"/>
                <a:ea typeface="宋体" panose="02010600030101010101" pitchFamily="2" charset="-122"/>
                <a:cs typeface="宋体" panose="02010600030101010101" pitchFamily="2" charset="-122"/>
              </a:rPr>
              <a:t>    在需求分析时，层次图可以用来描述系统中的数据结构，也可以初步根据软件的功能需求来描述软件的结构。</a:t>
            </a:r>
            <a:endParaRPr lang="zh-CN" altLang="en-US" dirty="0"/>
          </a:p>
        </p:txBody>
      </p:sp>
      <p:grpSp>
        <p:nvGrpSpPr>
          <p:cNvPr id="10" name="组合 9"/>
          <p:cNvGrpSpPr/>
          <p:nvPr/>
        </p:nvGrpSpPr>
        <p:grpSpPr>
          <a:xfrm>
            <a:off x="830580" y="2202180"/>
            <a:ext cx="3816985" cy="3629025"/>
            <a:chOff x="2287" y="3300"/>
            <a:chExt cx="6634" cy="6003"/>
          </a:xfrm>
        </p:grpSpPr>
        <p:sp>
          <p:nvSpPr>
            <p:cNvPr id="8" name="MH_PageTitle"/>
            <p:cNvSpPr/>
            <p:nvPr>
              <p:custDataLst>
                <p:tags r:id="rId1"/>
              </p:custDataLst>
            </p:nvPr>
          </p:nvSpPr>
          <p:spPr>
            <a:xfrm>
              <a:off x="2960" y="4013"/>
              <a:ext cx="5961" cy="5290"/>
            </a:xfrm>
            <a:prstGeom prst="ellipse">
              <a:avLst/>
            </a:prstGeom>
            <a:noFill/>
            <a:ln w="28575">
              <a:solidFill>
                <a:srgbClr val="C0C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864000" anchor="ctr">
              <a:noAutofit/>
            </a:bodyPr>
            <a:lstStyle/>
            <a:p>
              <a:pPr algn="ctr" eaLnBrk="1" fontAlgn="auto" hangingPunct="1">
                <a:spcBef>
                  <a:spcPts val="0"/>
                </a:spcBef>
                <a:spcAft>
                  <a:spcPts val="0"/>
                </a:spcAft>
                <a:defRPr/>
              </a:pPr>
              <a:r>
                <a:rPr lang="zh-CN" altLang="en-US" sz="4800" b="1" dirty="0">
                  <a:solidFill>
                    <a:schemeClr val="accent6">
                      <a:lumMod val="75000"/>
                    </a:schemeClr>
                  </a:solidFill>
                  <a:latin typeface="Arial" panose="020B0604020202020204" pitchFamily="34" charset="0"/>
                  <a:ea typeface="微软雅黑" panose="020B0503020204020204" charset="-122"/>
                </a:rPr>
                <a:t>层次图</a:t>
              </a:r>
            </a:p>
          </p:txBody>
        </p:sp>
        <p:pic>
          <p:nvPicPr>
            <p:cNvPr id="11" name="图片 10" descr="u=321976340,3580506010&amp;fm=21&amp;gp=0.jpg"/>
            <p:cNvPicPr>
              <a:picLocks noChangeAspect="1"/>
            </p:cNvPicPr>
            <p:nvPr/>
          </p:nvPicPr>
          <p:blipFill>
            <a:blip r:embed="rId3" cstate="print"/>
            <a:srcRect b="12500"/>
            <a:stretch>
              <a:fillRect/>
            </a:stretch>
          </p:blipFill>
          <p:spPr>
            <a:xfrm>
              <a:off x="2287" y="3300"/>
              <a:ext cx="3854" cy="3199"/>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gr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3.4</a:t>
            </a:r>
            <a:r>
              <a:rPr lang="zh-CN" altLang="zh-CN">
                <a:solidFill>
                  <a:srgbClr val="FF0000"/>
                </a:solidFill>
                <a:sym typeface="+mn-ea"/>
              </a:rPr>
              <a:t> 层次图</a:t>
            </a:r>
            <a:endParaRPr lang="zh-CN" altLang="en-US">
              <a:solidFill>
                <a:srgbClr val="FF0000"/>
              </a:solidFill>
              <a:sym typeface="+mn-ea"/>
            </a:endParaRP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952500" y="2000251"/>
            <a:ext cx="10432415" cy="4182109"/>
            <a:chOff x="1500" y="3150"/>
            <a:chExt cx="16429" cy="6586"/>
          </a:xfrm>
        </p:grpSpPr>
        <p:sp>
          <p:nvSpPr>
            <p:cNvPr id="22" name="TextBox 21"/>
            <p:cNvSpPr txBox="1"/>
            <p:nvPr/>
          </p:nvSpPr>
          <p:spPr>
            <a:xfrm>
              <a:off x="3298" y="3420"/>
              <a:ext cx="13522" cy="624"/>
            </a:xfrm>
            <a:prstGeom prst="rect">
              <a:avLst/>
            </a:prstGeom>
            <a:noFill/>
          </p:spPr>
          <p:txBody>
            <a:bodyPr wrap="square">
              <a:spAutoFit/>
            </a:bodyPr>
            <a:lstStyle/>
            <a:p>
              <a:r>
                <a:rPr sz="2000" dirty="0" smtClean="0">
                  <a:sym typeface="+mn-ea"/>
                </a:rPr>
                <a:t>某企业组织结构的层次图</a:t>
              </a:r>
            </a:p>
          </p:txBody>
        </p:sp>
        <p:sp>
          <p:nvSpPr>
            <p:cNvPr id="24" name="矩形 23"/>
            <p:cNvSpPr>
              <a:spLocks noChangeAspect="1"/>
            </p:cNvSpPr>
            <p:nvPr/>
          </p:nvSpPr>
          <p:spPr>
            <a:xfrm>
              <a:off x="1500" y="4500"/>
              <a:ext cx="16429" cy="5236"/>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2-6</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36" y="4786"/>
              <a:ext cx="15392" cy="4798"/>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sp>
        <p:nvSpPr>
          <p:cNvPr id="42046" name="Rectangle 6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41985" name="组合 8582"/>
          <p:cNvGrpSpPr>
            <a:grpSpLocks/>
          </p:cNvGrpSpPr>
          <p:nvPr/>
        </p:nvGrpSpPr>
        <p:grpSpPr bwMode="auto">
          <a:xfrm>
            <a:off x="2797791" y="3118513"/>
            <a:ext cx="6496334" cy="2872854"/>
            <a:chOff x="1462" y="5068"/>
            <a:chExt cx="8099" cy="2957"/>
          </a:xfrm>
        </p:grpSpPr>
        <p:grpSp>
          <p:nvGrpSpPr>
            <p:cNvPr id="42043" name="组合 8583"/>
            <p:cNvGrpSpPr>
              <a:grpSpLocks/>
            </p:cNvGrpSpPr>
            <p:nvPr/>
          </p:nvGrpSpPr>
          <p:grpSpPr bwMode="auto">
            <a:xfrm>
              <a:off x="8530" y="6399"/>
              <a:ext cx="862" cy="360"/>
              <a:chOff x="1631" y="6399"/>
              <a:chExt cx="862" cy="360"/>
            </a:xfrm>
          </p:grpSpPr>
          <p:sp>
            <p:nvSpPr>
              <p:cNvPr id="42045" name="任意多边形 8584"/>
              <p:cNvSpPr>
                <a:spLocks/>
              </p:cNvSpPr>
              <p:nvPr/>
            </p:nvSpPr>
            <p:spPr bwMode="auto">
              <a:xfrm>
                <a:off x="1631" y="6550"/>
                <a:ext cx="862"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44" name="自选图形 8585"/>
              <p:cNvSpPr>
                <a:spLocks noChangeShapeType="1"/>
              </p:cNvSpPr>
              <p:nvPr/>
            </p:nvSpPr>
            <p:spPr bwMode="auto">
              <a:xfrm>
                <a:off x="2062" y="6399"/>
                <a:ext cx="0" cy="3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grpSp>
          <p:nvGrpSpPr>
            <p:cNvPr id="42040" name="组合 8586"/>
            <p:cNvGrpSpPr>
              <a:grpSpLocks/>
            </p:cNvGrpSpPr>
            <p:nvPr/>
          </p:nvGrpSpPr>
          <p:grpSpPr bwMode="auto">
            <a:xfrm>
              <a:off x="7091" y="6399"/>
              <a:ext cx="862" cy="360"/>
              <a:chOff x="7091" y="6399"/>
              <a:chExt cx="862" cy="360"/>
            </a:xfrm>
          </p:grpSpPr>
          <p:sp>
            <p:nvSpPr>
              <p:cNvPr id="42042" name="任意多边形 8587"/>
              <p:cNvSpPr>
                <a:spLocks/>
              </p:cNvSpPr>
              <p:nvPr/>
            </p:nvSpPr>
            <p:spPr bwMode="auto">
              <a:xfrm>
                <a:off x="7091" y="6550"/>
                <a:ext cx="862"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41" name="自选图形 8588"/>
              <p:cNvSpPr>
                <a:spLocks noChangeShapeType="1"/>
              </p:cNvSpPr>
              <p:nvPr/>
            </p:nvSpPr>
            <p:spPr bwMode="auto">
              <a:xfrm>
                <a:off x="7522" y="6399"/>
                <a:ext cx="0" cy="3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sp>
          <p:nvSpPr>
            <p:cNvPr id="42039" name="自选图形 8589"/>
            <p:cNvSpPr>
              <a:spLocks noChangeShapeType="1"/>
            </p:cNvSpPr>
            <p:nvPr/>
          </p:nvSpPr>
          <p:spPr bwMode="auto">
            <a:xfrm>
              <a:off x="7522" y="5610"/>
              <a:ext cx="0" cy="2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nvGrpSpPr>
            <p:cNvPr id="42036" name="组合 8590"/>
            <p:cNvGrpSpPr>
              <a:grpSpLocks/>
            </p:cNvGrpSpPr>
            <p:nvPr/>
          </p:nvGrpSpPr>
          <p:grpSpPr bwMode="auto">
            <a:xfrm>
              <a:off x="5653" y="6399"/>
              <a:ext cx="862" cy="360"/>
              <a:chOff x="5653" y="6399"/>
              <a:chExt cx="862" cy="360"/>
            </a:xfrm>
          </p:grpSpPr>
          <p:sp>
            <p:nvSpPr>
              <p:cNvPr id="42038" name="任意多边形 8591"/>
              <p:cNvSpPr>
                <a:spLocks/>
              </p:cNvSpPr>
              <p:nvPr/>
            </p:nvSpPr>
            <p:spPr bwMode="auto">
              <a:xfrm>
                <a:off x="5653" y="6550"/>
                <a:ext cx="862"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37" name="自选图形 8592"/>
              <p:cNvSpPr>
                <a:spLocks noChangeShapeType="1"/>
              </p:cNvSpPr>
              <p:nvPr/>
            </p:nvSpPr>
            <p:spPr bwMode="auto">
              <a:xfrm>
                <a:off x="6084" y="6399"/>
                <a:ext cx="0" cy="3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sp>
          <p:nvSpPr>
            <p:cNvPr id="42035" name="自选图形 8593"/>
            <p:cNvSpPr>
              <a:spLocks noChangeShapeType="1"/>
            </p:cNvSpPr>
            <p:nvPr/>
          </p:nvSpPr>
          <p:spPr bwMode="auto">
            <a:xfrm>
              <a:off x="6084" y="5610"/>
              <a:ext cx="0" cy="2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34" name="自选图形 8594"/>
            <p:cNvSpPr>
              <a:spLocks noChangeShapeType="1"/>
            </p:cNvSpPr>
            <p:nvPr/>
          </p:nvSpPr>
          <p:spPr bwMode="auto">
            <a:xfrm>
              <a:off x="4790" y="5610"/>
              <a:ext cx="0" cy="2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nvGrpSpPr>
            <p:cNvPr id="42031" name="组合 8595"/>
            <p:cNvGrpSpPr>
              <a:grpSpLocks/>
            </p:cNvGrpSpPr>
            <p:nvPr/>
          </p:nvGrpSpPr>
          <p:grpSpPr bwMode="auto">
            <a:xfrm>
              <a:off x="4575" y="6339"/>
              <a:ext cx="431" cy="420"/>
              <a:chOff x="4575" y="6339"/>
              <a:chExt cx="431" cy="420"/>
            </a:xfrm>
          </p:grpSpPr>
          <p:sp>
            <p:nvSpPr>
              <p:cNvPr id="42033" name="自选图形 8596"/>
              <p:cNvSpPr>
                <a:spLocks noChangeShapeType="1"/>
              </p:cNvSpPr>
              <p:nvPr/>
            </p:nvSpPr>
            <p:spPr bwMode="auto">
              <a:xfrm>
                <a:off x="4790" y="6339"/>
                <a:ext cx="0" cy="21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32" name="任意多边形 8597"/>
              <p:cNvSpPr>
                <a:spLocks/>
              </p:cNvSpPr>
              <p:nvPr/>
            </p:nvSpPr>
            <p:spPr bwMode="auto">
              <a:xfrm>
                <a:off x="4575" y="6550"/>
                <a:ext cx="431"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grpSp>
          <p:nvGrpSpPr>
            <p:cNvPr id="42028" name="组合 8598"/>
            <p:cNvGrpSpPr>
              <a:grpSpLocks/>
            </p:cNvGrpSpPr>
            <p:nvPr/>
          </p:nvGrpSpPr>
          <p:grpSpPr bwMode="auto">
            <a:xfrm>
              <a:off x="3067" y="6399"/>
              <a:ext cx="862" cy="360"/>
              <a:chOff x="3067" y="6399"/>
              <a:chExt cx="862" cy="360"/>
            </a:xfrm>
          </p:grpSpPr>
          <p:sp>
            <p:nvSpPr>
              <p:cNvPr id="42030" name="任意多边形 8599"/>
              <p:cNvSpPr>
                <a:spLocks/>
              </p:cNvSpPr>
              <p:nvPr/>
            </p:nvSpPr>
            <p:spPr bwMode="auto">
              <a:xfrm>
                <a:off x="3067" y="6550"/>
                <a:ext cx="862"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29" name="自选图形 8600"/>
              <p:cNvSpPr>
                <a:spLocks noChangeShapeType="1"/>
              </p:cNvSpPr>
              <p:nvPr/>
            </p:nvSpPr>
            <p:spPr bwMode="auto">
              <a:xfrm>
                <a:off x="3498" y="6399"/>
                <a:ext cx="0" cy="3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grpSp>
          <p:nvGrpSpPr>
            <p:cNvPr id="42025" name="组合 8601"/>
            <p:cNvGrpSpPr>
              <a:grpSpLocks/>
            </p:cNvGrpSpPr>
            <p:nvPr/>
          </p:nvGrpSpPr>
          <p:grpSpPr bwMode="auto">
            <a:xfrm>
              <a:off x="1631" y="6399"/>
              <a:ext cx="862" cy="360"/>
              <a:chOff x="1631" y="6399"/>
              <a:chExt cx="862" cy="360"/>
            </a:xfrm>
          </p:grpSpPr>
          <p:sp>
            <p:nvSpPr>
              <p:cNvPr id="42027" name="任意多边形 8602"/>
              <p:cNvSpPr>
                <a:spLocks/>
              </p:cNvSpPr>
              <p:nvPr/>
            </p:nvSpPr>
            <p:spPr bwMode="auto">
              <a:xfrm>
                <a:off x="1631" y="6550"/>
                <a:ext cx="862" cy="209"/>
              </a:xfrm>
              <a:custGeom>
                <a:avLst/>
                <a:gdLst/>
                <a:ahLst/>
                <a:cxnLst>
                  <a:cxn ang="0">
                    <a:pos x="0" y="209"/>
                  </a:cxn>
                  <a:cxn ang="0">
                    <a:pos x="0" y="0"/>
                  </a:cxn>
                  <a:cxn ang="0">
                    <a:pos x="878" y="0"/>
                  </a:cxn>
                  <a:cxn ang="0">
                    <a:pos x="878" y="209"/>
                  </a:cxn>
                </a:cxnLst>
                <a:rect l="0" t="0" r="r" b="b"/>
                <a:pathLst>
                  <a:path w="878" h="209">
                    <a:moveTo>
                      <a:pt x="0" y="209"/>
                    </a:moveTo>
                    <a:lnTo>
                      <a:pt x="0" y="0"/>
                    </a:lnTo>
                    <a:lnTo>
                      <a:pt x="878" y="0"/>
                    </a:lnTo>
                    <a:lnTo>
                      <a:pt x="878" y="209"/>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2026" name="自选图形 8603"/>
              <p:cNvSpPr>
                <a:spLocks noChangeShapeType="1"/>
              </p:cNvSpPr>
              <p:nvPr/>
            </p:nvSpPr>
            <p:spPr bwMode="auto">
              <a:xfrm>
                <a:off x="2062" y="6399"/>
                <a:ext cx="0" cy="35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sp>
          <p:nvSpPr>
            <p:cNvPr id="42024" name="自选图形 8604"/>
            <p:cNvSpPr>
              <a:spLocks noChangeShapeType="1"/>
            </p:cNvSpPr>
            <p:nvPr/>
          </p:nvSpPr>
          <p:spPr bwMode="auto">
            <a:xfrm>
              <a:off x="3498" y="5610"/>
              <a:ext cx="0" cy="26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grpSp>
          <p:nvGrpSpPr>
            <p:cNvPr id="42018" name="组合 8605"/>
            <p:cNvGrpSpPr>
              <a:grpSpLocks/>
            </p:cNvGrpSpPr>
            <p:nvPr/>
          </p:nvGrpSpPr>
          <p:grpSpPr bwMode="auto">
            <a:xfrm>
              <a:off x="1462" y="5832"/>
              <a:ext cx="1195" cy="2193"/>
              <a:chOff x="1462" y="5832"/>
              <a:chExt cx="1195" cy="2193"/>
            </a:xfrm>
          </p:grpSpPr>
          <p:sp>
            <p:nvSpPr>
              <p:cNvPr id="42023" name="文本框 8606"/>
              <p:cNvSpPr txBox="1">
                <a:spLocks noChangeArrowheads="1"/>
              </p:cNvSpPr>
              <p:nvPr/>
            </p:nvSpPr>
            <p:spPr bwMode="auto">
              <a:xfrm>
                <a:off x="1606"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计划发展管理部</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2019" name="组合 8607"/>
              <p:cNvGrpSpPr>
                <a:grpSpLocks/>
              </p:cNvGrpSpPr>
              <p:nvPr/>
            </p:nvGrpSpPr>
            <p:grpSpPr bwMode="auto">
              <a:xfrm>
                <a:off x="1462" y="6704"/>
                <a:ext cx="1195" cy="1321"/>
                <a:chOff x="1462" y="6704"/>
                <a:chExt cx="1195" cy="1321"/>
              </a:xfrm>
            </p:grpSpPr>
            <p:sp>
              <p:nvSpPr>
                <p:cNvPr id="42022" name="文本框 8608"/>
                <p:cNvSpPr txBox="1">
                  <a:spLocks noChangeArrowheads="1"/>
                </p:cNvSpPr>
                <p:nvPr/>
              </p:nvSpPr>
              <p:spPr bwMode="auto">
                <a:xfrm>
                  <a:off x="1462" y="670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计划处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21" name="文本框 8609"/>
                <p:cNvSpPr txBox="1">
                  <a:spLocks noChangeArrowheads="1"/>
                </p:cNvSpPr>
                <p:nvPr/>
              </p:nvSpPr>
              <p:spPr bwMode="auto">
                <a:xfrm>
                  <a:off x="1889" y="670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发展处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20" name="文本框 8610"/>
                <p:cNvSpPr txBox="1">
                  <a:spLocks noChangeArrowheads="1"/>
                </p:cNvSpPr>
                <p:nvPr/>
              </p:nvSpPr>
              <p:spPr bwMode="auto">
                <a:xfrm>
                  <a:off x="2317" y="670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办公室</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grpSp>
          <p:nvGrpSpPr>
            <p:cNvPr id="42012" name="组合 8611"/>
            <p:cNvGrpSpPr>
              <a:grpSpLocks/>
            </p:cNvGrpSpPr>
            <p:nvPr/>
          </p:nvGrpSpPr>
          <p:grpSpPr bwMode="auto">
            <a:xfrm>
              <a:off x="2900" y="5832"/>
              <a:ext cx="1195" cy="2193"/>
              <a:chOff x="2793" y="5832"/>
              <a:chExt cx="1195" cy="2193"/>
            </a:xfrm>
          </p:grpSpPr>
          <p:sp>
            <p:nvSpPr>
              <p:cNvPr id="42017" name="文本框 8612"/>
              <p:cNvSpPr txBox="1">
                <a:spLocks noChangeArrowheads="1"/>
              </p:cNvSpPr>
              <p:nvPr/>
            </p:nvSpPr>
            <p:spPr bwMode="auto">
              <a:xfrm>
                <a:off x="2936"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技术质量管理部</a:t>
                </a:r>
                <a:endParaRPr kumimoji="0" lang="zh-CN" sz="12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42013" name="组合 8613"/>
              <p:cNvGrpSpPr>
                <a:grpSpLocks/>
              </p:cNvGrpSpPr>
              <p:nvPr/>
            </p:nvGrpSpPr>
            <p:grpSpPr bwMode="auto">
              <a:xfrm>
                <a:off x="2793" y="6704"/>
                <a:ext cx="1195" cy="1321"/>
                <a:chOff x="1462" y="8549"/>
                <a:chExt cx="1195" cy="1321"/>
              </a:xfrm>
            </p:grpSpPr>
            <p:sp>
              <p:nvSpPr>
                <p:cNvPr id="42016" name="文本框 8614"/>
                <p:cNvSpPr txBox="1">
                  <a:spLocks noChangeArrowheads="1"/>
                </p:cNvSpPr>
                <p:nvPr/>
              </p:nvSpPr>
              <p:spPr bwMode="auto">
                <a:xfrm>
                  <a:off x="1462" y="8549"/>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技术处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15" name="文本框 8615"/>
                <p:cNvSpPr txBox="1">
                  <a:spLocks noChangeArrowheads="1"/>
                </p:cNvSpPr>
                <p:nvPr/>
              </p:nvSpPr>
              <p:spPr bwMode="auto">
                <a:xfrm>
                  <a:off x="1889" y="8549"/>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质量处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14" name="文本框 8616"/>
                <p:cNvSpPr txBox="1">
                  <a:spLocks noChangeArrowheads="1"/>
                </p:cNvSpPr>
                <p:nvPr/>
              </p:nvSpPr>
              <p:spPr bwMode="auto">
                <a:xfrm>
                  <a:off x="2317" y="8549"/>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新品处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grpSp>
          <p:nvGrpSpPr>
            <p:cNvPr id="42007" name="组合 8617"/>
            <p:cNvGrpSpPr>
              <a:grpSpLocks/>
            </p:cNvGrpSpPr>
            <p:nvPr/>
          </p:nvGrpSpPr>
          <p:grpSpPr bwMode="auto">
            <a:xfrm>
              <a:off x="4338" y="5832"/>
              <a:ext cx="907" cy="2193"/>
              <a:chOff x="4330" y="5832"/>
              <a:chExt cx="907" cy="2193"/>
            </a:xfrm>
          </p:grpSpPr>
          <p:sp>
            <p:nvSpPr>
              <p:cNvPr id="42011" name="文本框 8618"/>
              <p:cNvSpPr txBox="1">
                <a:spLocks noChangeArrowheads="1"/>
              </p:cNvSpPr>
              <p:nvPr/>
            </p:nvSpPr>
            <p:spPr bwMode="auto">
              <a:xfrm>
                <a:off x="4330"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企业策划管理部</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2008" name="组合 8619"/>
              <p:cNvGrpSpPr>
                <a:grpSpLocks/>
              </p:cNvGrpSpPr>
              <p:nvPr/>
            </p:nvGrpSpPr>
            <p:grpSpPr bwMode="auto">
              <a:xfrm>
                <a:off x="4400" y="6704"/>
                <a:ext cx="767" cy="1321"/>
                <a:chOff x="1462" y="8437"/>
                <a:chExt cx="767" cy="1321"/>
              </a:xfrm>
            </p:grpSpPr>
            <p:sp>
              <p:nvSpPr>
                <p:cNvPr id="42010" name="文本框 8620"/>
                <p:cNvSpPr txBox="1">
                  <a:spLocks noChangeArrowheads="1"/>
                </p:cNvSpPr>
                <p:nvPr/>
              </p:nvSpPr>
              <p:spPr bwMode="auto">
                <a:xfrm>
                  <a:off x="1462" y="843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企管处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09" name="文本框 8621"/>
                <p:cNvSpPr txBox="1">
                  <a:spLocks noChangeArrowheads="1"/>
                </p:cNvSpPr>
                <p:nvPr/>
              </p:nvSpPr>
              <p:spPr bwMode="auto">
                <a:xfrm>
                  <a:off x="1889" y="843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策划处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grpSp>
          <p:nvGrpSpPr>
            <p:cNvPr id="42001" name="组合 8622"/>
            <p:cNvGrpSpPr>
              <a:grpSpLocks/>
            </p:cNvGrpSpPr>
            <p:nvPr/>
          </p:nvGrpSpPr>
          <p:grpSpPr bwMode="auto">
            <a:xfrm>
              <a:off x="5489" y="5832"/>
              <a:ext cx="1195" cy="2193"/>
              <a:chOff x="5433" y="5832"/>
              <a:chExt cx="1195" cy="2193"/>
            </a:xfrm>
          </p:grpSpPr>
          <p:sp>
            <p:nvSpPr>
              <p:cNvPr id="42006" name="文本框 8623"/>
              <p:cNvSpPr txBox="1">
                <a:spLocks noChangeArrowheads="1"/>
              </p:cNvSpPr>
              <p:nvPr/>
            </p:nvSpPr>
            <p:spPr bwMode="auto">
              <a:xfrm>
                <a:off x="5577"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生产配套管理部</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2002" name="组合 8624"/>
              <p:cNvGrpSpPr>
                <a:grpSpLocks/>
              </p:cNvGrpSpPr>
              <p:nvPr/>
            </p:nvGrpSpPr>
            <p:grpSpPr bwMode="auto">
              <a:xfrm>
                <a:off x="5433" y="6704"/>
                <a:ext cx="1195" cy="1321"/>
                <a:chOff x="1462" y="8497"/>
                <a:chExt cx="1195" cy="1321"/>
              </a:xfrm>
            </p:grpSpPr>
            <p:sp>
              <p:nvSpPr>
                <p:cNvPr id="42005" name="文本框 8625"/>
                <p:cNvSpPr txBox="1">
                  <a:spLocks noChangeArrowheads="1"/>
                </p:cNvSpPr>
                <p:nvPr/>
              </p:nvSpPr>
              <p:spPr bwMode="auto">
                <a:xfrm>
                  <a:off x="1462" y="849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配套一处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04" name="文本框 8626"/>
                <p:cNvSpPr txBox="1">
                  <a:spLocks noChangeArrowheads="1"/>
                </p:cNvSpPr>
                <p:nvPr/>
              </p:nvSpPr>
              <p:spPr bwMode="auto">
                <a:xfrm>
                  <a:off x="1889" y="849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配套二处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2003" name="文本框 8627"/>
                <p:cNvSpPr txBox="1">
                  <a:spLocks noChangeArrowheads="1"/>
                </p:cNvSpPr>
                <p:nvPr/>
              </p:nvSpPr>
              <p:spPr bwMode="auto">
                <a:xfrm>
                  <a:off x="2317" y="849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生产处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grpSp>
          <p:nvGrpSpPr>
            <p:cNvPr id="41995" name="组合 8628"/>
            <p:cNvGrpSpPr>
              <a:grpSpLocks/>
            </p:cNvGrpSpPr>
            <p:nvPr/>
          </p:nvGrpSpPr>
          <p:grpSpPr bwMode="auto">
            <a:xfrm>
              <a:off x="6927" y="5832"/>
              <a:ext cx="1195" cy="2193"/>
              <a:chOff x="6899" y="5832"/>
              <a:chExt cx="1195" cy="2193"/>
            </a:xfrm>
          </p:grpSpPr>
          <p:sp>
            <p:nvSpPr>
              <p:cNvPr id="42000" name="文本框 8629"/>
              <p:cNvSpPr txBox="1">
                <a:spLocks noChangeArrowheads="1"/>
              </p:cNvSpPr>
              <p:nvPr/>
            </p:nvSpPr>
            <p:spPr bwMode="auto">
              <a:xfrm>
                <a:off x="7043"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市场营销管理部</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1996" name="组合 8630"/>
              <p:cNvGrpSpPr>
                <a:grpSpLocks/>
              </p:cNvGrpSpPr>
              <p:nvPr/>
            </p:nvGrpSpPr>
            <p:grpSpPr bwMode="auto">
              <a:xfrm>
                <a:off x="6899" y="6704"/>
                <a:ext cx="1195" cy="1321"/>
                <a:chOff x="1462" y="8414"/>
                <a:chExt cx="1195" cy="1321"/>
              </a:xfrm>
            </p:grpSpPr>
            <p:sp>
              <p:nvSpPr>
                <p:cNvPr id="41999" name="文本框 8631"/>
                <p:cNvSpPr txBox="1">
                  <a:spLocks noChangeArrowheads="1"/>
                </p:cNvSpPr>
                <p:nvPr/>
              </p:nvSpPr>
              <p:spPr bwMode="auto">
                <a:xfrm>
                  <a:off x="1462" y="841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国际市场处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998" name="文本框 8632"/>
                <p:cNvSpPr txBox="1">
                  <a:spLocks noChangeArrowheads="1"/>
                </p:cNvSpPr>
                <p:nvPr/>
              </p:nvSpPr>
              <p:spPr bwMode="auto">
                <a:xfrm>
                  <a:off x="1889" y="841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国内市场处</a:t>
                  </a:r>
                  <a:endParaRPr kumimoji="0" lang="zh-CN" sz="12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1997" name="文本框 8633"/>
                <p:cNvSpPr txBox="1">
                  <a:spLocks noChangeArrowheads="1"/>
                </p:cNvSpPr>
                <p:nvPr/>
              </p:nvSpPr>
              <p:spPr bwMode="auto">
                <a:xfrm>
                  <a:off x="2317" y="8414"/>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市场研究处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grpSp>
          <p:nvGrpSpPr>
            <p:cNvPr id="41989" name="组合 8634"/>
            <p:cNvGrpSpPr>
              <a:grpSpLocks/>
            </p:cNvGrpSpPr>
            <p:nvPr/>
          </p:nvGrpSpPr>
          <p:grpSpPr bwMode="auto">
            <a:xfrm>
              <a:off x="8366" y="5832"/>
              <a:ext cx="1195" cy="2193"/>
              <a:chOff x="8366" y="5832"/>
              <a:chExt cx="1195" cy="2193"/>
            </a:xfrm>
          </p:grpSpPr>
          <p:sp>
            <p:nvSpPr>
              <p:cNvPr id="41994" name="文本框 8635"/>
              <p:cNvSpPr txBox="1">
                <a:spLocks noChangeArrowheads="1"/>
              </p:cNvSpPr>
              <p:nvPr/>
            </p:nvSpPr>
            <p:spPr bwMode="auto">
              <a:xfrm>
                <a:off x="8510" y="5832"/>
                <a:ext cx="907" cy="567"/>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内政事务管理部</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41990" name="组合 8636"/>
              <p:cNvGrpSpPr>
                <a:grpSpLocks/>
              </p:cNvGrpSpPr>
              <p:nvPr/>
            </p:nvGrpSpPr>
            <p:grpSpPr bwMode="auto">
              <a:xfrm>
                <a:off x="8366" y="6704"/>
                <a:ext cx="1195" cy="1321"/>
                <a:chOff x="1462" y="8427"/>
                <a:chExt cx="1195" cy="1321"/>
              </a:xfrm>
            </p:grpSpPr>
            <p:sp>
              <p:nvSpPr>
                <p:cNvPr id="41993" name="文本框 8637"/>
                <p:cNvSpPr txBox="1">
                  <a:spLocks noChangeArrowheads="1"/>
                </p:cNvSpPr>
                <p:nvPr/>
              </p:nvSpPr>
              <p:spPr bwMode="auto">
                <a:xfrm>
                  <a:off x="1462" y="842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财务处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992" name="文本框 8638"/>
                <p:cNvSpPr txBox="1">
                  <a:spLocks noChangeArrowheads="1"/>
                </p:cNvSpPr>
                <p:nvPr/>
              </p:nvSpPr>
              <p:spPr bwMode="auto">
                <a:xfrm>
                  <a:off x="1889" y="842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人事处</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41991" name="文本框 8639"/>
                <p:cNvSpPr txBox="1">
                  <a:spLocks noChangeArrowheads="1"/>
                </p:cNvSpPr>
                <p:nvPr/>
              </p:nvSpPr>
              <p:spPr bwMode="auto">
                <a:xfrm>
                  <a:off x="2317" y="8427"/>
                  <a:ext cx="340" cy="1321"/>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办公室</a:t>
                  </a:r>
                  <a:endParaRPr kumimoji="0" lang="zh-CN" sz="1200" b="1"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grpSp>
        <p:sp>
          <p:nvSpPr>
            <p:cNvPr id="41988" name="任意多边形 8640"/>
            <p:cNvSpPr>
              <a:spLocks/>
            </p:cNvSpPr>
            <p:nvPr/>
          </p:nvSpPr>
          <p:spPr bwMode="auto">
            <a:xfrm>
              <a:off x="2062" y="5607"/>
              <a:ext cx="6917" cy="215"/>
            </a:xfrm>
            <a:custGeom>
              <a:avLst/>
              <a:gdLst/>
              <a:ahLst/>
              <a:cxnLst>
                <a:cxn ang="0">
                  <a:pos x="0" y="297"/>
                </a:cxn>
                <a:cxn ang="0">
                  <a:pos x="0" y="0"/>
                </a:cxn>
                <a:cxn ang="0">
                  <a:pos x="6927" y="0"/>
                </a:cxn>
                <a:cxn ang="0">
                  <a:pos x="6927" y="297"/>
                </a:cxn>
              </a:cxnLst>
              <a:rect l="0" t="0" r="r" b="b"/>
              <a:pathLst>
                <a:path w="6927" h="297">
                  <a:moveTo>
                    <a:pt x="0" y="297"/>
                  </a:moveTo>
                  <a:lnTo>
                    <a:pt x="0" y="0"/>
                  </a:lnTo>
                  <a:lnTo>
                    <a:pt x="6927" y="0"/>
                  </a:lnTo>
                  <a:lnTo>
                    <a:pt x="6927" y="297"/>
                  </a:lnTo>
                </a:path>
              </a:pathLst>
            </a:cu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1987" name="自选图形 8641"/>
            <p:cNvSpPr>
              <a:spLocks noChangeShapeType="1"/>
            </p:cNvSpPr>
            <p:nvPr/>
          </p:nvSpPr>
          <p:spPr bwMode="auto">
            <a:xfrm>
              <a:off x="5524" y="5402"/>
              <a:ext cx="0" cy="20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b="1"/>
            </a:p>
          </p:txBody>
        </p:sp>
        <p:sp>
          <p:nvSpPr>
            <p:cNvPr id="41986" name="文本框 8642"/>
            <p:cNvSpPr txBox="1">
              <a:spLocks noChangeArrowheads="1"/>
            </p:cNvSpPr>
            <p:nvPr/>
          </p:nvSpPr>
          <p:spPr bwMode="auto">
            <a:xfrm>
              <a:off x="5205" y="5068"/>
              <a:ext cx="719" cy="342"/>
            </a:xfrm>
            <a:prstGeom prst="rect">
              <a:avLst/>
            </a:prstGeom>
            <a:solidFill>
              <a:srgbClr val="FFFFFF"/>
            </a:solidFill>
            <a:ln w="9525">
              <a:solidFill>
                <a:srgbClr val="000000"/>
              </a:solidFill>
              <a:miter lim="800000"/>
              <a:headEnd/>
              <a:tailEnd/>
            </a:ln>
          </p:spPr>
          <p:txBody>
            <a:bodyPr vert="horz" wrap="square" lIns="18000" tIns="18000" rIns="18000" bIns="18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2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某企业</a:t>
              </a:r>
              <a:endParaRPr kumimoji="0" lang="zh-CN" sz="1200" b="1"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3.5</a:t>
            </a:r>
            <a:r>
              <a:rPr lang="zh-CN" altLang="zh-CN">
                <a:solidFill>
                  <a:srgbClr val="FF0000"/>
                </a:solidFill>
                <a:sym typeface="+mn-ea"/>
              </a:rPr>
              <a:t> </a:t>
            </a:r>
            <a:r>
              <a:rPr lang="en-US">
                <a:solidFill>
                  <a:srgbClr val="FF0000"/>
                </a:solidFill>
                <a:sym typeface="+mn-ea"/>
              </a:rPr>
              <a:t>Warnier </a:t>
            </a:r>
            <a:r>
              <a:rPr lang="zh-CN" altLang="en-US">
                <a:solidFill>
                  <a:srgbClr val="FF0000"/>
                </a:solidFill>
                <a:sym typeface="+mn-ea"/>
              </a:rPr>
              <a:t>图</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3.5.1 Warnier </a:t>
            </a:r>
            <a:r>
              <a:rPr lang="zh-CN" altLang="en-US" sz="2400" dirty="0" smtClean="0">
                <a:solidFill>
                  <a:schemeClr val="tx1"/>
                </a:solidFill>
              </a:rPr>
              <a:t>图的符号</a:t>
            </a:r>
          </a:p>
        </p:txBody>
      </p:sp>
      <p:sp>
        <p:nvSpPr>
          <p:cNvPr id="22" name="矩形 21"/>
          <p:cNvSpPr/>
          <p:nvPr/>
        </p:nvSpPr>
        <p:spPr>
          <a:xfrm>
            <a:off x="927100" y="2042161"/>
            <a:ext cx="10839450" cy="344424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1143635" y="2317750"/>
          <a:ext cx="10281920" cy="2953613"/>
        </p:xfrm>
        <a:graphic>
          <a:graphicData uri="http://schemas.openxmlformats.org/drawingml/2006/table">
            <a:tbl>
              <a:tblPr firstRow="1" firstCol="1" bandRow="1">
                <a:tableStyleId>{F5AB1C69-6EDB-4FF4-983F-18BD219EF322}</a:tableStyleId>
              </a:tblPr>
              <a:tblGrid>
                <a:gridCol w="3113405"/>
                <a:gridCol w="7168515"/>
              </a:tblGrid>
              <a:tr h="808990">
                <a:tc>
                  <a:txBody>
                    <a:bodyPr/>
                    <a:lstStyle/>
                    <a:p>
                      <a:pPr algn="ctr">
                        <a:lnSpc>
                          <a:spcPct val="115000"/>
                        </a:lnSpc>
                        <a:spcAft>
                          <a:spcPts val="0"/>
                        </a:spcAft>
                      </a:pPr>
                      <a:r>
                        <a:rPr lang="zh-CN" altLang="en-US" sz="2000" kern="100" dirty="0" smtClean="0">
                          <a:effectLst/>
                        </a:rPr>
                        <a:t>符号</a:t>
                      </a:r>
                      <a:endParaRPr lang="zh-CN" altLang="en-US" sz="2000" kern="100" dirty="0" smtClean="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r>
              <a:tr h="694633">
                <a:tc>
                  <a:txBody>
                    <a:bodyPr/>
                    <a:lstStyle/>
                    <a:p>
                      <a:pPr algn="ctr">
                        <a:lnSpc>
                          <a:spcPct val="115000"/>
                        </a:lnSpc>
                        <a:spcAft>
                          <a:spcPts val="0"/>
                        </a:spcAft>
                      </a:pPr>
                      <a:r>
                        <a:rPr lang="zh-CN" altLang="en-US" sz="1800" kern="100" dirty="0">
                          <a:effectLst/>
                        </a:rPr>
                        <a:t>花括号</a:t>
                      </a:r>
                      <a:r>
                        <a:rPr lang="en-US" altLang="zh-CN" sz="1800" kern="100" dirty="0">
                          <a:effectLst/>
                        </a:rPr>
                        <a:t>{ }</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表示属于数据结构的同一层次。</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729587">
                <a:tc>
                  <a:txBody>
                    <a:bodyPr/>
                    <a:lstStyle/>
                    <a:p>
                      <a:pPr algn="ctr">
                        <a:lnSpc>
                          <a:spcPct val="115000"/>
                        </a:lnSpc>
                        <a:spcAft>
                          <a:spcPts val="0"/>
                        </a:spcAft>
                      </a:pPr>
                      <a:r>
                        <a:rPr lang="zh-CN" altLang="en-US" sz="1800" kern="100" dirty="0">
                          <a:effectLst/>
                        </a:rPr>
                        <a:t>异或符号   </a:t>
                      </a:r>
                      <a:endParaRPr lang="zh-CN" altLang="en-US"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表示在一定条件下才出现，该符号上、下方的两个名字所代表的数据只能出现一个。</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720403">
                <a:tc>
                  <a:txBody>
                    <a:bodyPr/>
                    <a:lstStyle/>
                    <a:p>
                      <a:pPr algn="ctr">
                        <a:lnSpc>
                          <a:spcPct val="115000"/>
                        </a:lnSpc>
                        <a:spcAft>
                          <a:spcPts val="0"/>
                        </a:spcAft>
                      </a:pPr>
                      <a:r>
                        <a:rPr lang="en-US" altLang="zh-CN" sz="1800" kern="100" dirty="0">
                          <a:effectLst/>
                        </a:rPr>
                        <a:t>    </a:t>
                      </a:r>
                      <a:r>
                        <a:rPr lang="zh-CN" sz="1800" kern="100" dirty="0">
                          <a:effectLst/>
                        </a:rPr>
                        <a:t>圆括号（）</a:t>
                      </a: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sym typeface="+mn-ea"/>
                        </a:rPr>
                        <a:t>指明了这类数据重复出现的次数。</a:t>
                      </a:r>
                      <a:endParaRPr lang="zh-CN"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tr>
            </a:tbl>
          </a:graphicData>
        </a:graphic>
      </p:graphicFrame>
      <p:sp>
        <p:nvSpPr>
          <p:cNvPr id="5" name="流程图: 联系 4"/>
          <p:cNvSpPr/>
          <p:nvPr/>
        </p:nvSpPr>
        <p:spPr>
          <a:xfrm>
            <a:off x="3176713" y="4075426"/>
            <a:ext cx="261354" cy="231159"/>
          </a:xfrm>
          <a:prstGeom prst="flowChartConnector">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3.5</a:t>
            </a:r>
            <a:r>
              <a:rPr lang="zh-CN" altLang="zh-CN">
                <a:solidFill>
                  <a:srgbClr val="FF0000"/>
                </a:solidFill>
                <a:sym typeface="+mn-ea"/>
              </a:rPr>
              <a:t> </a:t>
            </a:r>
            <a:r>
              <a:rPr lang="en-US">
                <a:solidFill>
                  <a:srgbClr val="FF0000"/>
                </a:solidFill>
                <a:sym typeface="+mn-ea"/>
              </a:rPr>
              <a:t>Warnier </a:t>
            </a:r>
            <a:r>
              <a:rPr lang="zh-CN" altLang="en-US">
                <a:solidFill>
                  <a:srgbClr val="FF0000"/>
                </a:solidFill>
                <a:sym typeface="+mn-ea"/>
              </a:rPr>
              <a:t>图</a:t>
            </a: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995680" y="2000251"/>
            <a:ext cx="10432415" cy="3795394"/>
            <a:chOff x="1500" y="3150"/>
            <a:chExt cx="16429" cy="5977"/>
          </a:xfrm>
        </p:grpSpPr>
        <p:sp>
          <p:nvSpPr>
            <p:cNvPr id="22" name="TextBox 21"/>
            <p:cNvSpPr txBox="1"/>
            <p:nvPr/>
          </p:nvSpPr>
          <p:spPr>
            <a:xfrm>
              <a:off x="3298" y="3420"/>
              <a:ext cx="13522" cy="628"/>
            </a:xfrm>
            <a:prstGeom prst="rect">
              <a:avLst/>
            </a:prstGeom>
            <a:noFill/>
          </p:spPr>
          <p:txBody>
            <a:bodyPr wrap="square">
              <a:spAutoFit/>
            </a:bodyPr>
            <a:lstStyle/>
            <a:p>
              <a:r>
                <a:rPr sz="2000" dirty="0" smtClean="0">
                  <a:sym typeface="+mn-ea"/>
                </a:rPr>
                <a:t>某企业组织结构的Warnier图</a:t>
              </a:r>
            </a:p>
          </p:txBody>
        </p:sp>
        <p:sp>
          <p:nvSpPr>
            <p:cNvPr id="24" name="矩形 23"/>
            <p:cNvSpPr>
              <a:spLocks noChangeAspect="1"/>
            </p:cNvSpPr>
            <p:nvPr/>
          </p:nvSpPr>
          <p:spPr>
            <a:xfrm>
              <a:off x="1500" y="4500"/>
              <a:ext cx="16429" cy="4627"/>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2-7</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36" y="4786"/>
              <a:ext cx="15392" cy="4176"/>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sp>
        <p:nvSpPr>
          <p:cNvPr id="39958" name="Rectangle 2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9937" name="组合 8548"/>
          <p:cNvGrpSpPr>
            <a:grpSpLocks/>
          </p:cNvGrpSpPr>
          <p:nvPr/>
        </p:nvGrpSpPr>
        <p:grpSpPr bwMode="auto">
          <a:xfrm>
            <a:off x="3974738" y="3013170"/>
            <a:ext cx="3828133" cy="2691860"/>
            <a:chOff x="3014" y="2164"/>
            <a:chExt cx="2953" cy="2681"/>
          </a:xfrm>
        </p:grpSpPr>
        <p:sp>
          <p:nvSpPr>
            <p:cNvPr id="39957" name="自选图形 8549"/>
            <p:cNvSpPr>
              <a:spLocks/>
            </p:cNvSpPr>
            <p:nvPr/>
          </p:nvSpPr>
          <p:spPr bwMode="auto">
            <a:xfrm>
              <a:off x="3605" y="2396"/>
              <a:ext cx="290" cy="2211"/>
            </a:xfrm>
            <a:prstGeom prst="leftBrace">
              <a:avLst>
                <a:gd name="adj1" fmla="val 63534"/>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56" name="文本框 8550"/>
            <p:cNvSpPr txBox="1">
              <a:spLocks noChangeArrowheads="1"/>
            </p:cNvSpPr>
            <p:nvPr/>
          </p:nvSpPr>
          <p:spPr bwMode="auto">
            <a:xfrm>
              <a:off x="3905" y="2280"/>
              <a:ext cx="129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计划发展管理部</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55" name="文本框 8551"/>
            <p:cNvSpPr txBox="1">
              <a:spLocks noChangeArrowheads="1"/>
            </p:cNvSpPr>
            <p:nvPr/>
          </p:nvSpPr>
          <p:spPr bwMode="auto">
            <a:xfrm>
              <a:off x="3905" y="2716"/>
              <a:ext cx="1292"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技术质量管理部</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54" name="文本框 8552"/>
            <p:cNvSpPr txBox="1">
              <a:spLocks noChangeArrowheads="1"/>
            </p:cNvSpPr>
            <p:nvPr/>
          </p:nvSpPr>
          <p:spPr bwMode="auto">
            <a:xfrm>
              <a:off x="3905" y="3153"/>
              <a:ext cx="129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企业策划管理部</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53" name="文本框 8553"/>
            <p:cNvSpPr txBox="1">
              <a:spLocks noChangeArrowheads="1"/>
            </p:cNvSpPr>
            <p:nvPr/>
          </p:nvSpPr>
          <p:spPr bwMode="auto">
            <a:xfrm>
              <a:off x="3905" y="3589"/>
              <a:ext cx="129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生产配套管理部</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52" name="文本框 8554"/>
            <p:cNvSpPr txBox="1">
              <a:spLocks noChangeArrowheads="1"/>
            </p:cNvSpPr>
            <p:nvPr/>
          </p:nvSpPr>
          <p:spPr bwMode="auto">
            <a:xfrm>
              <a:off x="3905" y="4026"/>
              <a:ext cx="129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市场营销管理部</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9951" name="文本框 8555"/>
            <p:cNvSpPr txBox="1">
              <a:spLocks noChangeArrowheads="1"/>
            </p:cNvSpPr>
            <p:nvPr/>
          </p:nvSpPr>
          <p:spPr bwMode="auto">
            <a:xfrm>
              <a:off x="3905" y="4463"/>
              <a:ext cx="1293"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内政事务管理部</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50" name="文本框 8556"/>
            <p:cNvSpPr txBox="1">
              <a:spLocks noChangeArrowheads="1"/>
            </p:cNvSpPr>
            <p:nvPr/>
          </p:nvSpPr>
          <p:spPr bwMode="auto">
            <a:xfrm>
              <a:off x="3014" y="3375"/>
              <a:ext cx="564" cy="25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某企业</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49" name="自选图形 8557"/>
            <p:cNvSpPr>
              <a:spLocks/>
            </p:cNvSpPr>
            <p:nvPr/>
          </p:nvSpPr>
          <p:spPr bwMode="auto">
            <a:xfrm>
              <a:off x="5209" y="2272"/>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48" name="文本框 8558"/>
            <p:cNvSpPr txBox="1">
              <a:spLocks noChangeArrowheads="1"/>
            </p:cNvSpPr>
            <p:nvPr/>
          </p:nvSpPr>
          <p:spPr bwMode="auto">
            <a:xfrm>
              <a:off x="5314" y="2164"/>
              <a:ext cx="653" cy="49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室</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47" name="文本框 8559"/>
            <p:cNvSpPr txBox="1">
              <a:spLocks noChangeArrowheads="1"/>
            </p:cNvSpPr>
            <p:nvPr/>
          </p:nvSpPr>
          <p:spPr bwMode="auto">
            <a:xfrm>
              <a:off x="5314" y="4347"/>
              <a:ext cx="612" cy="49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室</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46" name="文本框 8560"/>
            <p:cNvSpPr txBox="1">
              <a:spLocks noChangeArrowheads="1"/>
            </p:cNvSpPr>
            <p:nvPr/>
          </p:nvSpPr>
          <p:spPr bwMode="auto">
            <a:xfrm>
              <a:off x="5314" y="2722"/>
              <a:ext cx="65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45" name="文本框 8561"/>
            <p:cNvSpPr txBox="1">
              <a:spLocks noChangeArrowheads="1"/>
            </p:cNvSpPr>
            <p:nvPr/>
          </p:nvSpPr>
          <p:spPr bwMode="auto">
            <a:xfrm>
              <a:off x="5314" y="3156"/>
              <a:ext cx="65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a:t>
              </a:r>
              <a:r>
                <a:rPr kumimoji="0" lang="en-US" altLang="zh-CN" sz="1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9944" name="文本框 8562"/>
            <p:cNvSpPr txBox="1">
              <a:spLocks noChangeArrowheads="1"/>
            </p:cNvSpPr>
            <p:nvPr/>
          </p:nvSpPr>
          <p:spPr bwMode="auto">
            <a:xfrm>
              <a:off x="5314" y="3587"/>
              <a:ext cx="65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a:t>
              </a:r>
              <a:r>
                <a:rPr kumimoji="0" lang="en-US" altLang="zh-CN" sz="1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9943" name="文本框 8563"/>
            <p:cNvSpPr txBox="1">
              <a:spLocks noChangeArrowheads="1"/>
            </p:cNvSpPr>
            <p:nvPr/>
          </p:nvSpPr>
          <p:spPr bwMode="auto">
            <a:xfrm>
              <a:off x="5314" y="4026"/>
              <a:ext cx="651"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处</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r>
                <a:rPr kumimoji="0" lang="en-US" altLang="zh-CN" sz="1400" b="0" i="0" u="none" strike="noStrike" cap="none" normalizeH="0" baseline="0" smtClean="0">
                  <a:ln>
                    <a:noFill/>
                  </a:ln>
                  <a:solidFill>
                    <a:schemeClr val="tx1"/>
                  </a:solidFill>
                  <a:effectLst/>
                  <a:latin typeface="黑体" pitchFamily="49" charset="-122"/>
                  <a:ea typeface="黑体" pitchFamily="49" charset="-122"/>
                  <a:cs typeface="Times New Roman" pitchFamily="18" charset="0"/>
                </a:rPr>
                <a:t>)</a:t>
              </a:r>
              <a:endParaRPr kumimoji="0" lang="en-US" alt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39942" name="自选图形 8564"/>
            <p:cNvSpPr>
              <a:spLocks/>
            </p:cNvSpPr>
            <p:nvPr/>
          </p:nvSpPr>
          <p:spPr bwMode="auto">
            <a:xfrm>
              <a:off x="5209" y="4453"/>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41" name="自选图形 8565"/>
            <p:cNvSpPr>
              <a:spLocks/>
            </p:cNvSpPr>
            <p:nvPr/>
          </p:nvSpPr>
          <p:spPr bwMode="auto">
            <a:xfrm>
              <a:off x="5209" y="2712"/>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40" name="自选图形 8566"/>
            <p:cNvSpPr>
              <a:spLocks/>
            </p:cNvSpPr>
            <p:nvPr/>
          </p:nvSpPr>
          <p:spPr bwMode="auto">
            <a:xfrm>
              <a:off x="5209" y="3579"/>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39" name="自选图形 8567"/>
            <p:cNvSpPr>
              <a:spLocks/>
            </p:cNvSpPr>
            <p:nvPr/>
          </p:nvSpPr>
          <p:spPr bwMode="auto">
            <a:xfrm>
              <a:off x="5209" y="3147"/>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39938" name="自选图形 8568"/>
            <p:cNvSpPr>
              <a:spLocks/>
            </p:cNvSpPr>
            <p:nvPr/>
          </p:nvSpPr>
          <p:spPr bwMode="auto">
            <a:xfrm>
              <a:off x="5209" y="4018"/>
              <a:ext cx="85" cy="277"/>
            </a:xfrm>
            <a:prstGeom prst="leftBrace">
              <a:avLst>
                <a:gd name="adj1" fmla="val 27157"/>
                <a:gd name="adj2" fmla="val 50000"/>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3.7</a:t>
            </a:r>
            <a:r>
              <a:rPr lang="zh-CN" altLang="zh-CN">
                <a:solidFill>
                  <a:srgbClr val="FF0000"/>
                </a:solidFill>
                <a:sym typeface="+mn-ea"/>
              </a:rPr>
              <a:t> </a:t>
            </a:r>
            <a:r>
              <a:rPr lang="en-US">
                <a:solidFill>
                  <a:srgbClr val="FF0000"/>
                </a:solidFill>
                <a:sym typeface="+mn-ea"/>
              </a:rPr>
              <a:t>IPO </a:t>
            </a:r>
            <a:r>
              <a:rPr lang="zh-CN" altLang="en-US">
                <a:solidFill>
                  <a:srgbClr val="FF0000"/>
                </a:solidFill>
                <a:sym typeface="+mn-ea"/>
              </a:rPr>
              <a:t>图</a:t>
            </a:r>
          </a:p>
        </p:txBody>
      </p:sp>
      <p:sp>
        <p:nvSpPr>
          <p:cNvPr id="19" name="TextBox 6"/>
          <p:cNvSpPr txBox="1"/>
          <p:nvPr/>
        </p:nvSpPr>
        <p:spPr>
          <a:xfrm>
            <a:off x="809625" y="1403350"/>
            <a:ext cx="446278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3.6.1 IPO</a:t>
            </a:r>
            <a:r>
              <a:rPr lang="zh-CN" altLang="en-US" sz="2400" dirty="0" smtClean="0">
                <a:solidFill>
                  <a:schemeClr val="tx1"/>
                </a:solidFill>
              </a:rPr>
              <a:t>图</a:t>
            </a:r>
          </a:p>
        </p:txBody>
      </p:sp>
      <p:sp>
        <p:nvSpPr>
          <p:cNvPr id="2" name="矩形 1"/>
          <p:cNvSpPr/>
          <p:nvPr/>
        </p:nvSpPr>
        <p:spPr>
          <a:xfrm>
            <a:off x="927100" y="2042160"/>
            <a:ext cx="10839450" cy="3623945"/>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1205865" y="2231390"/>
          <a:ext cx="10281920" cy="3253105"/>
        </p:xfrm>
        <a:graphic>
          <a:graphicData uri="http://schemas.openxmlformats.org/drawingml/2006/table">
            <a:tbl>
              <a:tblPr firstRow="1" firstCol="1" bandRow="1">
                <a:tableStyleId>{F5AB1C69-6EDB-4FF4-983F-18BD219EF322}</a:tableStyleId>
              </a:tblPr>
              <a:tblGrid>
                <a:gridCol w="3113405"/>
                <a:gridCol w="7168515"/>
              </a:tblGrid>
              <a:tr h="781050">
                <a:tc>
                  <a:txBody>
                    <a:bodyPr/>
                    <a:lstStyle/>
                    <a:p>
                      <a:pPr algn="ctr">
                        <a:lnSpc>
                          <a:spcPct val="115000"/>
                        </a:lnSpc>
                        <a:spcAft>
                          <a:spcPts val="0"/>
                        </a:spcAft>
                      </a:pPr>
                      <a:r>
                        <a:rPr lang="zh-CN" altLang="en-US" sz="2000" kern="100" dirty="0" smtClean="0">
                          <a:effectLst/>
                        </a:rPr>
                        <a:t>符号</a:t>
                      </a:r>
                      <a:endParaRPr lang="zh-CN" altLang="en-US" sz="2000" kern="100" dirty="0" smtClean="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r>
              <a:tr h="608330">
                <a:tc rowSpan="3">
                  <a:txBody>
                    <a:bodyPr/>
                    <a:lstStyle/>
                    <a:p>
                      <a:pPr algn="ctr">
                        <a:lnSpc>
                          <a:spcPct val="115000"/>
                        </a:lnSpc>
                        <a:spcAft>
                          <a:spcPts val="0"/>
                        </a:spcAft>
                      </a:pP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左边方框中列出有关的输入数据。</a:t>
                      </a:r>
                      <a:endParaRPr lang="en-US" alt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504825">
                <a:tc vMerge="1">
                  <a:txBody>
                    <a:bodyPr/>
                    <a:lstStyle/>
                    <a:p>
                      <a:endParaRPr lang="zh-CN"/>
                    </a:p>
                  </a:txBody>
                  <a:tcP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中间方框中列出主要的处理。</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64845">
                <a:tc vMerge="1">
                  <a:txBody>
                    <a:bodyPr/>
                    <a:lstStyle/>
                    <a:p>
                      <a:endParaRPr lang="zh-CN"/>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右边方框中列出产生的输出数据。</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94055">
                <a:tc>
                  <a:txBody>
                    <a:bodyPr/>
                    <a:lstStyle/>
                    <a:p>
                      <a:pPr algn="ctr">
                        <a:lnSpc>
                          <a:spcPct val="115000"/>
                        </a:lnSpc>
                        <a:spcAft>
                          <a:spcPts val="0"/>
                        </a:spcAft>
                      </a:pPr>
                      <a:endParaRPr 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sym typeface="+mn-ea"/>
                        </a:rPr>
                        <a:t>指出数据通信的情况。</a:t>
                      </a:r>
                      <a:endParaRPr lang="zh-CN"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tr>
            </a:tbl>
          </a:graphicData>
        </a:graphic>
      </p:graphicFrame>
      <p:sp>
        <p:nvSpPr>
          <p:cNvPr id="4" name="矩形 3"/>
          <p:cNvSpPr/>
          <p:nvPr/>
        </p:nvSpPr>
        <p:spPr>
          <a:xfrm>
            <a:off x="1535372" y="3461072"/>
            <a:ext cx="609600" cy="10058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379296" y="3461073"/>
            <a:ext cx="609600" cy="10058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264166" y="3456949"/>
            <a:ext cx="609600" cy="10058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7"/>
          <p:cNvSpPr/>
          <p:nvPr/>
        </p:nvSpPr>
        <p:spPr>
          <a:xfrm>
            <a:off x="1722120" y="4983480"/>
            <a:ext cx="1874520" cy="259080"/>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3.5</a:t>
            </a:r>
            <a:r>
              <a:rPr lang="zh-CN" altLang="zh-CN">
                <a:solidFill>
                  <a:srgbClr val="FF0000"/>
                </a:solidFill>
                <a:sym typeface="+mn-ea"/>
              </a:rPr>
              <a:t> </a:t>
            </a:r>
            <a:r>
              <a:rPr lang="en-US">
                <a:solidFill>
                  <a:srgbClr val="FF0000"/>
                </a:solidFill>
                <a:sym typeface="+mn-ea"/>
              </a:rPr>
              <a:t>IPO </a:t>
            </a:r>
            <a:r>
              <a:rPr lang="zh-CN" altLang="en-US">
                <a:solidFill>
                  <a:srgbClr val="FF0000"/>
                </a:solidFill>
                <a:sym typeface="+mn-ea"/>
              </a:rPr>
              <a:t>图</a:t>
            </a:r>
          </a:p>
        </p:txBody>
      </p:sp>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968385" y="1877421"/>
            <a:ext cx="10318115" cy="4250228"/>
            <a:chOff x="1500" y="3150"/>
            <a:chExt cx="16249" cy="6175"/>
          </a:xfrm>
        </p:grpSpPr>
        <p:sp>
          <p:nvSpPr>
            <p:cNvPr id="22" name="TextBox 21"/>
            <p:cNvSpPr txBox="1"/>
            <p:nvPr/>
          </p:nvSpPr>
          <p:spPr>
            <a:xfrm>
              <a:off x="3298" y="3420"/>
              <a:ext cx="13522" cy="624"/>
            </a:xfrm>
            <a:prstGeom prst="rect">
              <a:avLst/>
            </a:prstGeom>
            <a:noFill/>
          </p:spPr>
          <p:txBody>
            <a:bodyPr wrap="square">
              <a:spAutoFit/>
            </a:bodyPr>
            <a:lstStyle/>
            <a:p>
              <a:r>
                <a:rPr sz="2000" dirty="0" smtClean="0">
                  <a:sym typeface="+mn-ea"/>
                </a:rPr>
                <a:t>招聘考试成绩管理系统的IPO图</a:t>
              </a:r>
            </a:p>
          </p:txBody>
        </p:sp>
        <p:sp>
          <p:nvSpPr>
            <p:cNvPr id="24" name="矩形 23"/>
            <p:cNvSpPr>
              <a:spLocks noChangeAspect="1"/>
            </p:cNvSpPr>
            <p:nvPr/>
          </p:nvSpPr>
          <p:spPr>
            <a:xfrm>
              <a:off x="1500" y="4500"/>
              <a:ext cx="16249" cy="4825"/>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1931" cy="1125"/>
              <a:chOff x="2738416" y="1357299"/>
              <a:chExt cx="1071570"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17011" y="1178703"/>
                <a:ext cx="714379" cy="1071570"/>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998319"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2-8</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836" y="4786"/>
              <a:ext cx="15612" cy="4427"/>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sp>
        <p:nvSpPr>
          <p:cNvPr id="37902" name="Rectangle 14"/>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7889" name="组合 8569"/>
          <p:cNvGrpSpPr>
            <a:grpSpLocks/>
          </p:cNvGrpSpPr>
          <p:nvPr/>
        </p:nvGrpSpPr>
        <p:grpSpPr bwMode="auto">
          <a:xfrm>
            <a:off x="2988862" y="3050275"/>
            <a:ext cx="6537276" cy="2968388"/>
            <a:chOff x="2661" y="6222"/>
            <a:chExt cx="5337" cy="2027"/>
          </a:xfrm>
        </p:grpSpPr>
        <p:sp>
          <p:nvSpPr>
            <p:cNvPr id="37901" name="文本框 8570"/>
            <p:cNvSpPr txBox="1">
              <a:spLocks noChangeArrowheads="1"/>
            </p:cNvSpPr>
            <p:nvPr/>
          </p:nvSpPr>
          <p:spPr bwMode="auto">
            <a:xfrm>
              <a:off x="2661" y="6494"/>
              <a:ext cx="1240" cy="17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US" altLang="zh-CN" dirty="0" smtClean="0">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考生基本情况</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smtClean="0">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smtClean="0">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考生成绩</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900" name="文本框 8571"/>
            <p:cNvSpPr txBox="1">
              <a:spLocks noChangeArrowheads="1"/>
            </p:cNvSpPr>
            <p:nvPr/>
          </p:nvSpPr>
          <p:spPr bwMode="auto">
            <a:xfrm>
              <a:off x="2928" y="6222"/>
              <a:ext cx="568"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输入</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899" name="文本框 8572"/>
            <p:cNvSpPr txBox="1">
              <a:spLocks noChangeArrowheads="1"/>
            </p:cNvSpPr>
            <p:nvPr/>
          </p:nvSpPr>
          <p:spPr bwMode="auto">
            <a:xfrm>
              <a:off x="4889" y="6222"/>
              <a:ext cx="660"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处理</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898" name="文本框 8573"/>
            <p:cNvSpPr txBox="1">
              <a:spLocks noChangeArrowheads="1"/>
            </p:cNvSpPr>
            <p:nvPr/>
          </p:nvSpPr>
          <p:spPr bwMode="auto">
            <a:xfrm>
              <a:off x="7164" y="6222"/>
              <a:ext cx="647" cy="25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输出</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897" name="文本框 8574"/>
            <p:cNvSpPr txBox="1">
              <a:spLocks noChangeArrowheads="1"/>
            </p:cNvSpPr>
            <p:nvPr/>
          </p:nvSpPr>
          <p:spPr bwMode="auto">
            <a:xfrm>
              <a:off x="4905" y="6494"/>
              <a:ext cx="856" cy="17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考前处理</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smtClean="0">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计算总分</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总分排序</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录用工作</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896" name="文本框 8575"/>
            <p:cNvSpPr txBox="1">
              <a:spLocks noChangeArrowheads="1"/>
            </p:cNvSpPr>
            <p:nvPr/>
          </p:nvSpPr>
          <p:spPr bwMode="auto">
            <a:xfrm>
              <a:off x="6769" y="6494"/>
              <a:ext cx="1229" cy="1755"/>
            </a:xfrm>
            <a:prstGeom prst="rect">
              <a:avLst/>
            </a:prstGeom>
            <a:solidFill>
              <a:srgbClr val="FFFFFF"/>
            </a:solidFill>
            <a:ln w="9525">
              <a:solidFill>
                <a:srgbClr val="000000"/>
              </a:solidFill>
              <a:miter lim="800000"/>
              <a:headEnd/>
              <a:tailEnd/>
            </a:ln>
          </p:spPr>
          <p:txBody>
            <a:bodyPr vert="horz" wrap="square" lIns="36000" tIns="36000" rIns="36000" bIns="360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考生准考证号</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zh-CN" dirty="0" smtClean="0">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考生成绩单</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总分名次表</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录用通知书</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37895" name="自选图形 8576"/>
            <p:cNvSpPr>
              <a:spLocks noChangeArrowheads="1"/>
            </p:cNvSpPr>
            <p:nvPr/>
          </p:nvSpPr>
          <p:spPr bwMode="auto">
            <a:xfrm>
              <a:off x="3903" y="7520"/>
              <a:ext cx="994" cy="273"/>
            </a:xfrm>
            <a:prstGeom prst="rightArrow">
              <a:avLst>
                <a:gd name="adj1" fmla="val 50000"/>
                <a:gd name="adj2" fmla="val 9102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94" name="自选图形 8577"/>
            <p:cNvSpPr>
              <a:spLocks noChangeArrowheads="1"/>
            </p:cNvSpPr>
            <p:nvPr/>
          </p:nvSpPr>
          <p:spPr bwMode="auto">
            <a:xfrm>
              <a:off x="5763" y="6840"/>
              <a:ext cx="994" cy="170"/>
            </a:xfrm>
            <a:prstGeom prst="rightArrow">
              <a:avLst>
                <a:gd name="adj1" fmla="val 50000"/>
                <a:gd name="adj2" fmla="val 14617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93" name="自选图形 8578"/>
            <p:cNvSpPr>
              <a:spLocks noChangeArrowheads="1"/>
            </p:cNvSpPr>
            <p:nvPr/>
          </p:nvSpPr>
          <p:spPr bwMode="auto">
            <a:xfrm>
              <a:off x="5763" y="7343"/>
              <a:ext cx="994" cy="170"/>
            </a:xfrm>
            <a:prstGeom prst="rightArrow">
              <a:avLst>
                <a:gd name="adj1" fmla="val 50000"/>
                <a:gd name="adj2" fmla="val 14617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92" name="自选图形 8579"/>
            <p:cNvSpPr>
              <a:spLocks noChangeArrowheads="1"/>
            </p:cNvSpPr>
            <p:nvPr/>
          </p:nvSpPr>
          <p:spPr bwMode="auto">
            <a:xfrm>
              <a:off x="5763" y="7582"/>
              <a:ext cx="994" cy="170"/>
            </a:xfrm>
            <a:prstGeom prst="rightArrow">
              <a:avLst>
                <a:gd name="adj1" fmla="val 50000"/>
                <a:gd name="adj2" fmla="val 14617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91" name="自选图形 8580"/>
            <p:cNvSpPr>
              <a:spLocks noChangeArrowheads="1"/>
            </p:cNvSpPr>
            <p:nvPr/>
          </p:nvSpPr>
          <p:spPr bwMode="auto">
            <a:xfrm>
              <a:off x="5763" y="7821"/>
              <a:ext cx="994" cy="170"/>
            </a:xfrm>
            <a:prstGeom prst="rightArrow">
              <a:avLst>
                <a:gd name="adj1" fmla="val 50000"/>
                <a:gd name="adj2" fmla="val 14617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890" name="自选图形 8581"/>
            <p:cNvSpPr>
              <a:spLocks noChangeArrowheads="1"/>
            </p:cNvSpPr>
            <p:nvPr/>
          </p:nvSpPr>
          <p:spPr bwMode="auto">
            <a:xfrm>
              <a:off x="3903" y="6840"/>
              <a:ext cx="994" cy="170"/>
            </a:xfrm>
            <a:prstGeom prst="rightArrow">
              <a:avLst>
                <a:gd name="adj1" fmla="val 50000"/>
                <a:gd name="adj2" fmla="val 146176"/>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3" name="灯片编号占位符 2"/>
          <p:cNvSpPr>
            <a:spLocks noGrp="1"/>
          </p:cNvSpPr>
          <p:nvPr>
            <p:ph type="sldNum" sz="quarter" idx="12"/>
          </p:nvPr>
        </p:nvSpPr>
        <p:spPr/>
        <p:txBody>
          <a:bodyPr/>
          <a:lstStyle/>
          <a:p>
            <a:fld id="{EF906490-237C-474C-BA2E-D98840BC1F8F}" type="slidenum">
              <a:rPr lang="zh-CN" altLang="en-US" smtClean="0"/>
              <a:pPr/>
              <a:t>57</a:t>
            </a:fld>
            <a:endParaRPr lang="zh-CN" altLang="en-US"/>
          </a:p>
        </p:txBody>
      </p:sp>
      <p:sp>
        <p:nvSpPr>
          <p:cNvPr id="17" name="文本框 39"/>
          <p:cNvSpPr txBox="1"/>
          <p:nvPr/>
        </p:nvSpPr>
        <p:spPr>
          <a:xfrm>
            <a:off x="6163310" y="256385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数据字典</a:t>
            </a:r>
          </a:p>
        </p:txBody>
      </p:sp>
      <p:sp>
        <p:nvSpPr>
          <p:cNvPr id="18" name="文本框 47"/>
          <p:cNvSpPr txBox="1"/>
          <p:nvPr/>
        </p:nvSpPr>
        <p:spPr>
          <a:xfrm>
            <a:off x="6163310" y="3452858"/>
            <a:ext cx="2353310"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数据字典的内容</a:t>
            </a:r>
          </a:p>
        </p:txBody>
      </p:sp>
      <p:sp>
        <p:nvSpPr>
          <p:cNvPr id="19" name="文本框 49"/>
          <p:cNvSpPr txBox="1"/>
          <p:nvPr/>
        </p:nvSpPr>
        <p:spPr>
          <a:xfrm>
            <a:off x="6163310" y="3948430"/>
            <a:ext cx="321881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数据字典使用的符号</a:t>
            </a:r>
          </a:p>
        </p:txBody>
      </p:sp>
      <p:grpSp>
        <p:nvGrpSpPr>
          <p:cNvPr id="25" name="组合 2"/>
          <p:cNvGrpSpPr/>
          <p:nvPr/>
        </p:nvGrpSpPr>
        <p:grpSpPr>
          <a:xfrm>
            <a:off x="3428449" y="2152106"/>
            <a:ext cx="2362200" cy="2362200"/>
            <a:chOff x="977900" y="2247899"/>
            <a:chExt cx="2362200" cy="2362200"/>
          </a:xfrm>
        </p:grpSpPr>
        <p:sp>
          <p:nvSpPr>
            <p:cNvPr id="26" name="椭圆 25"/>
            <p:cNvSpPr/>
            <p:nvPr/>
          </p:nvSpPr>
          <p:spPr>
            <a:xfrm>
              <a:off x="977900" y="2247899"/>
              <a:ext cx="2362200" cy="2362200"/>
            </a:xfrm>
            <a:prstGeom prst="ellipse">
              <a:avLst/>
            </a:prstGeom>
            <a:solidFill>
              <a:schemeClr val="bg1"/>
            </a:solidFill>
            <a:ln>
              <a:solidFill>
                <a:srgbClr val="EF41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04</a:t>
              </a:r>
            </a:p>
          </p:txBody>
        </p:sp>
      </p:grpSp>
      <p:sp>
        <p:nvSpPr>
          <p:cNvPr id="4" name="文本框 49"/>
          <p:cNvSpPr txBox="1"/>
          <p:nvPr/>
        </p:nvSpPr>
        <p:spPr>
          <a:xfrm>
            <a:off x="6163310" y="4514215"/>
            <a:ext cx="295465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数据字典与图形工具</a:t>
            </a:r>
          </a:p>
        </p:txBody>
      </p:sp>
    </p:spTree>
  </p:cSld>
  <p:clrMapOvr>
    <a:masterClrMapping/>
  </p:clrMapOvr>
  <p:transition spd="slow">
    <p:wip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4.1</a:t>
            </a:r>
            <a:r>
              <a:rPr lang="zh-CN" altLang="zh-CN">
                <a:solidFill>
                  <a:srgbClr val="FF0000"/>
                </a:solidFill>
                <a:sym typeface="+mn-ea"/>
              </a:rPr>
              <a:t> 数据字典的内容</a:t>
            </a:r>
            <a:endParaRPr lang="zh-CN" altLang="en-US"/>
          </a:p>
        </p:txBody>
      </p:sp>
      <p:grpSp>
        <p:nvGrpSpPr>
          <p:cNvPr id="37" name="组合 36"/>
          <p:cNvGrpSpPr/>
          <p:nvPr/>
        </p:nvGrpSpPr>
        <p:grpSpPr>
          <a:xfrm>
            <a:off x="821055" y="588645"/>
            <a:ext cx="11255375" cy="6048375"/>
            <a:chOff x="1221" y="1228"/>
            <a:chExt cx="17725" cy="9525"/>
          </a:xfrm>
        </p:grpSpPr>
        <p:sp>
          <p:nvSpPr>
            <p:cNvPr id="38" name="任意多边形 37"/>
            <p:cNvSpPr/>
            <p:nvPr/>
          </p:nvSpPr>
          <p:spPr>
            <a:xfrm rot="10800000">
              <a:off x="2093" y="5248"/>
              <a:ext cx="3300" cy="1208"/>
            </a:xfrm>
            <a:custGeom>
              <a:avLst/>
              <a:gdLst>
                <a:gd name="connsiteX0" fmla="*/ 1047805 w 2095611"/>
                <a:gd name="connsiteY0" fmla="*/ 0 h 766220"/>
                <a:gd name="connsiteX1" fmla="*/ 1179914 w 2095611"/>
                <a:gd name="connsiteY1" fmla="*/ 205503 h 766220"/>
                <a:gd name="connsiteX2" fmla="*/ 2095611 w 2095611"/>
                <a:gd name="connsiteY2" fmla="*/ 205503 h 766220"/>
                <a:gd name="connsiteX3" fmla="*/ 2095611 w 2095611"/>
                <a:gd name="connsiteY3" fmla="*/ 766220 h 766220"/>
                <a:gd name="connsiteX4" fmla="*/ 0 w 2095611"/>
                <a:gd name="connsiteY4" fmla="*/ 766220 h 766220"/>
                <a:gd name="connsiteX5" fmla="*/ 0 w 2095611"/>
                <a:gd name="connsiteY5" fmla="*/ 205503 h 766220"/>
                <a:gd name="connsiteX6" fmla="*/ 915695 w 2095611"/>
                <a:gd name="connsiteY6" fmla="*/ 205503 h 76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611" h="766220">
                  <a:moveTo>
                    <a:pt x="1047805" y="0"/>
                  </a:moveTo>
                  <a:lnTo>
                    <a:pt x="1179914" y="205503"/>
                  </a:lnTo>
                  <a:lnTo>
                    <a:pt x="2095611" y="205503"/>
                  </a:lnTo>
                  <a:lnTo>
                    <a:pt x="2095611" y="766220"/>
                  </a:lnTo>
                  <a:lnTo>
                    <a:pt x="0" y="766220"/>
                  </a:lnTo>
                  <a:lnTo>
                    <a:pt x="0" y="205503"/>
                  </a:lnTo>
                  <a:lnTo>
                    <a:pt x="915695" y="205503"/>
                  </a:ln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7412" name="文本框 4"/>
            <p:cNvSpPr txBox="1"/>
            <p:nvPr/>
          </p:nvSpPr>
          <p:spPr>
            <a:xfrm>
              <a:off x="2473" y="5398"/>
              <a:ext cx="2825" cy="606"/>
            </a:xfrm>
            <a:prstGeom prst="rect">
              <a:avLst/>
            </a:prstGeom>
            <a:noFill/>
            <a:ln w="9525">
              <a:noFill/>
            </a:ln>
          </p:spPr>
          <p:txBody>
            <a:bodyPr anchor="t">
              <a:spAutoFit/>
            </a:bodyPr>
            <a:lstStyle/>
            <a:p>
              <a:pPr lvl="0" indent="0" algn="ctr" eaLnBrk="1" hangingPunct="1">
                <a:buFont typeface="Arial" panose="020B0604020202020204" pitchFamily="34" charset="0"/>
                <a:buNone/>
              </a:pPr>
              <a:r>
                <a:rPr lang="zh-CN" altLang="en-US" b="1" dirty="0">
                  <a:solidFill>
                    <a:srgbClr val="FFFFFF"/>
                  </a:solidFill>
                  <a:latin typeface="微软雅黑" panose="020B0503020204020204" charset="-122"/>
                  <a:ea typeface="微软雅黑" panose="020B0503020204020204" charset="-122"/>
                </a:rPr>
                <a:t>数据元素</a:t>
              </a:r>
            </a:p>
          </p:txBody>
        </p:sp>
        <p:sp>
          <p:nvSpPr>
            <p:cNvPr id="39" name="任意多边形 38"/>
            <p:cNvSpPr/>
            <p:nvPr/>
          </p:nvSpPr>
          <p:spPr>
            <a:xfrm>
              <a:off x="5393" y="4915"/>
              <a:ext cx="3300" cy="1208"/>
            </a:xfrm>
            <a:custGeom>
              <a:avLst/>
              <a:gdLst>
                <a:gd name="connsiteX0" fmla="*/ 1047805 w 2095611"/>
                <a:gd name="connsiteY0" fmla="*/ 0 h 766220"/>
                <a:gd name="connsiteX1" fmla="*/ 1179914 w 2095611"/>
                <a:gd name="connsiteY1" fmla="*/ 205503 h 766220"/>
                <a:gd name="connsiteX2" fmla="*/ 2095611 w 2095611"/>
                <a:gd name="connsiteY2" fmla="*/ 205503 h 766220"/>
                <a:gd name="connsiteX3" fmla="*/ 2095611 w 2095611"/>
                <a:gd name="connsiteY3" fmla="*/ 766220 h 766220"/>
                <a:gd name="connsiteX4" fmla="*/ 0 w 2095611"/>
                <a:gd name="connsiteY4" fmla="*/ 766220 h 766220"/>
                <a:gd name="connsiteX5" fmla="*/ 0 w 2095611"/>
                <a:gd name="connsiteY5" fmla="*/ 205503 h 766220"/>
                <a:gd name="connsiteX6" fmla="*/ 915695 w 2095611"/>
                <a:gd name="connsiteY6" fmla="*/ 205503 h 76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611" h="766220">
                  <a:moveTo>
                    <a:pt x="1047805" y="0"/>
                  </a:moveTo>
                  <a:lnTo>
                    <a:pt x="1179914" y="205503"/>
                  </a:lnTo>
                  <a:lnTo>
                    <a:pt x="2095611" y="205503"/>
                  </a:lnTo>
                  <a:lnTo>
                    <a:pt x="2095611" y="766220"/>
                  </a:lnTo>
                  <a:lnTo>
                    <a:pt x="0" y="766220"/>
                  </a:lnTo>
                  <a:lnTo>
                    <a:pt x="0" y="205503"/>
                  </a:lnTo>
                  <a:lnTo>
                    <a:pt x="915695" y="205503"/>
                  </a:lnTo>
                  <a:close/>
                </a:path>
              </a:pathLst>
            </a:cu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7414" name="文本框 6"/>
            <p:cNvSpPr txBox="1"/>
            <p:nvPr/>
          </p:nvSpPr>
          <p:spPr>
            <a:xfrm>
              <a:off x="5773" y="5393"/>
              <a:ext cx="2662" cy="606"/>
            </a:xfrm>
            <a:prstGeom prst="rect">
              <a:avLst/>
            </a:prstGeom>
            <a:noFill/>
            <a:ln w="9525">
              <a:noFill/>
            </a:ln>
          </p:spPr>
          <p:txBody>
            <a:bodyPr anchor="t">
              <a:spAutoFit/>
            </a:bodyPr>
            <a:lstStyle/>
            <a:p>
              <a:pPr lvl="0" indent="0" algn="ctr" eaLnBrk="1" hangingPunct="1">
                <a:buFont typeface="Arial" panose="020B0604020202020204" pitchFamily="34" charset="0"/>
                <a:buNone/>
              </a:pPr>
              <a:r>
                <a:rPr lang="zh-CN" altLang="en-US" b="1" dirty="0">
                  <a:solidFill>
                    <a:srgbClr val="FFFFFF"/>
                  </a:solidFill>
                  <a:latin typeface="微软雅黑" panose="020B0503020204020204" charset="-122"/>
                  <a:ea typeface="微软雅黑" panose="020B0503020204020204" charset="-122"/>
                </a:rPr>
                <a:t>数据流</a:t>
              </a:r>
            </a:p>
          </p:txBody>
        </p:sp>
        <p:sp>
          <p:nvSpPr>
            <p:cNvPr id="40" name="任意多边形 39"/>
            <p:cNvSpPr/>
            <p:nvPr/>
          </p:nvSpPr>
          <p:spPr>
            <a:xfrm rot="10800000">
              <a:off x="8668" y="5248"/>
              <a:ext cx="3300" cy="1208"/>
            </a:xfrm>
            <a:custGeom>
              <a:avLst/>
              <a:gdLst>
                <a:gd name="connsiteX0" fmla="*/ 1047805 w 2095611"/>
                <a:gd name="connsiteY0" fmla="*/ 0 h 766220"/>
                <a:gd name="connsiteX1" fmla="*/ 1179914 w 2095611"/>
                <a:gd name="connsiteY1" fmla="*/ 205503 h 766220"/>
                <a:gd name="connsiteX2" fmla="*/ 2095611 w 2095611"/>
                <a:gd name="connsiteY2" fmla="*/ 205503 h 766220"/>
                <a:gd name="connsiteX3" fmla="*/ 2095611 w 2095611"/>
                <a:gd name="connsiteY3" fmla="*/ 766220 h 766220"/>
                <a:gd name="connsiteX4" fmla="*/ 0 w 2095611"/>
                <a:gd name="connsiteY4" fmla="*/ 766220 h 766220"/>
                <a:gd name="connsiteX5" fmla="*/ 0 w 2095611"/>
                <a:gd name="connsiteY5" fmla="*/ 205503 h 766220"/>
                <a:gd name="connsiteX6" fmla="*/ 915695 w 2095611"/>
                <a:gd name="connsiteY6" fmla="*/ 205503 h 76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611" h="766220">
                  <a:moveTo>
                    <a:pt x="1047805" y="0"/>
                  </a:moveTo>
                  <a:lnTo>
                    <a:pt x="1179914" y="205503"/>
                  </a:lnTo>
                  <a:lnTo>
                    <a:pt x="2095611" y="205503"/>
                  </a:lnTo>
                  <a:lnTo>
                    <a:pt x="2095611" y="766220"/>
                  </a:lnTo>
                  <a:lnTo>
                    <a:pt x="0" y="766220"/>
                  </a:lnTo>
                  <a:lnTo>
                    <a:pt x="0" y="205503"/>
                  </a:lnTo>
                  <a:lnTo>
                    <a:pt x="915695" y="205503"/>
                  </a:ln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7416" name="文本框 8"/>
            <p:cNvSpPr txBox="1"/>
            <p:nvPr/>
          </p:nvSpPr>
          <p:spPr>
            <a:xfrm>
              <a:off x="9048" y="5398"/>
              <a:ext cx="2822" cy="606"/>
            </a:xfrm>
            <a:prstGeom prst="rect">
              <a:avLst/>
            </a:prstGeom>
            <a:noFill/>
            <a:ln w="9525">
              <a:noFill/>
            </a:ln>
          </p:spPr>
          <p:txBody>
            <a:bodyPr anchor="t">
              <a:spAutoFit/>
            </a:bodyPr>
            <a:lstStyle/>
            <a:p>
              <a:pPr lvl="0" indent="0" algn="ctr" eaLnBrk="1" hangingPunct="1">
                <a:buFont typeface="Arial" panose="020B0604020202020204" pitchFamily="34" charset="0"/>
                <a:buNone/>
              </a:pPr>
              <a:r>
                <a:rPr lang="zh-CN" altLang="en-US" b="1" dirty="0">
                  <a:solidFill>
                    <a:srgbClr val="FFFFFF"/>
                  </a:solidFill>
                  <a:latin typeface="微软雅黑" panose="020B0503020204020204" charset="-122"/>
                  <a:ea typeface="微软雅黑" panose="020B0503020204020204" charset="-122"/>
                </a:rPr>
                <a:t>数据存储</a:t>
              </a:r>
            </a:p>
          </p:txBody>
        </p:sp>
        <p:sp>
          <p:nvSpPr>
            <p:cNvPr id="41" name="任意多边形 40"/>
            <p:cNvSpPr/>
            <p:nvPr/>
          </p:nvSpPr>
          <p:spPr>
            <a:xfrm>
              <a:off x="11940" y="4918"/>
              <a:ext cx="3300" cy="1208"/>
            </a:xfrm>
            <a:custGeom>
              <a:avLst/>
              <a:gdLst>
                <a:gd name="connsiteX0" fmla="*/ 1047805 w 2095611"/>
                <a:gd name="connsiteY0" fmla="*/ 0 h 766220"/>
                <a:gd name="connsiteX1" fmla="*/ 1179914 w 2095611"/>
                <a:gd name="connsiteY1" fmla="*/ 205503 h 766220"/>
                <a:gd name="connsiteX2" fmla="*/ 2095611 w 2095611"/>
                <a:gd name="connsiteY2" fmla="*/ 205503 h 766220"/>
                <a:gd name="connsiteX3" fmla="*/ 2095611 w 2095611"/>
                <a:gd name="connsiteY3" fmla="*/ 766220 h 766220"/>
                <a:gd name="connsiteX4" fmla="*/ 0 w 2095611"/>
                <a:gd name="connsiteY4" fmla="*/ 766220 h 766220"/>
                <a:gd name="connsiteX5" fmla="*/ 0 w 2095611"/>
                <a:gd name="connsiteY5" fmla="*/ 205503 h 766220"/>
                <a:gd name="connsiteX6" fmla="*/ 915695 w 2095611"/>
                <a:gd name="connsiteY6" fmla="*/ 205503 h 76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611" h="766220">
                  <a:moveTo>
                    <a:pt x="1047805" y="0"/>
                  </a:moveTo>
                  <a:lnTo>
                    <a:pt x="1179914" y="205503"/>
                  </a:lnTo>
                  <a:lnTo>
                    <a:pt x="2095611" y="205503"/>
                  </a:lnTo>
                  <a:lnTo>
                    <a:pt x="2095611" y="766220"/>
                  </a:lnTo>
                  <a:lnTo>
                    <a:pt x="0" y="766220"/>
                  </a:lnTo>
                  <a:lnTo>
                    <a:pt x="0" y="205503"/>
                  </a:lnTo>
                  <a:lnTo>
                    <a:pt x="915695" y="205503"/>
                  </a:lnTo>
                  <a:close/>
                </a:path>
              </a:pathLst>
            </a:custGeom>
            <a:solidFill>
              <a:srgbClr val="FBAD2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lt"/>
                <a:ea typeface="+mn-ea"/>
                <a:cs typeface="+mn-cs"/>
              </a:endParaRPr>
            </a:p>
          </p:txBody>
        </p:sp>
        <p:sp>
          <p:nvSpPr>
            <p:cNvPr id="17418" name="文本框 12"/>
            <p:cNvSpPr txBox="1"/>
            <p:nvPr/>
          </p:nvSpPr>
          <p:spPr>
            <a:xfrm>
              <a:off x="12320" y="5395"/>
              <a:ext cx="2663" cy="606"/>
            </a:xfrm>
            <a:prstGeom prst="rect">
              <a:avLst/>
            </a:prstGeom>
            <a:noFill/>
            <a:ln w="9525">
              <a:noFill/>
            </a:ln>
          </p:spPr>
          <p:txBody>
            <a:bodyPr anchor="t">
              <a:spAutoFit/>
            </a:bodyPr>
            <a:lstStyle/>
            <a:p>
              <a:pPr lvl="0" indent="0" algn="ctr" eaLnBrk="1" hangingPunct="1">
                <a:buFont typeface="Arial" panose="020B0604020202020204" pitchFamily="34" charset="0"/>
                <a:buNone/>
              </a:pPr>
              <a:r>
                <a:rPr lang="zh-CN" altLang="en-US" b="1" dirty="0">
                  <a:solidFill>
                    <a:srgbClr val="FFFFFF"/>
                  </a:solidFill>
                  <a:latin typeface="微软雅黑" panose="020B0503020204020204" charset="-122"/>
                  <a:ea typeface="微软雅黑" panose="020B0503020204020204" charset="-122"/>
                </a:rPr>
                <a:t>数据处理</a:t>
              </a:r>
            </a:p>
          </p:txBody>
        </p:sp>
        <p:sp>
          <p:nvSpPr>
            <p:cNvPr id="17419" name="矩形 13"/>
            <p:cNvSpPr/>
            <p:nvPr/>
          </p:nvSpPr>
          <p:spPr>
            <a:xfrm>
              <a:off x="1221" y="6456"/>
              <a:ext cx="7388" cy="2588"/>
            </a:xfrm>
            <a:prstGeom prst="rect">
              <a:avLst/>
            </a:prstGeom>
            <a:noFill/>
            <a:ln w="9525">
              <a:noFill/>
            </a:ln>
          </p:spPr>
          <p:txBody>
            <a:bodyPr wrap="square" anchor="t">
              <a:spAutoFit/>
            </a:bodyPr>
            <a:lstStyle/>
            <a:p>
              <a:pPr lvl="0" indent="0" algn="just" fontAlgn="auto">
                <a:lnSpc>
                  <a:spcPct val="120000"/>
                </a:lnSpc>
                <a:buFont typeface="Arial" panose="020B0604020202020204" pitchFamily="34" charset="0"/>
                <a:buNone/>
              </a:pPr>
              <a:r>
                <a:rPr sz="1400" dirty="0">
                  <a:solidFill>
                    <a:srgbClr val="262626"/>
                  </a:solidFill>
                  <a:latin typeface="微软雅黑" panose="020B0503020204020204" charset="-122"/>
                  <a:ea typeface="微软雅黑" panose="020B0503020204020204" charset="-122"/>
                </a:rPr>
                <a:t>（1）数据元素的名称、编号，如准考证号、身份证号。</a:t>
              </a:r>
            </a:p>
            <a:p>
              <a:pPr lvl="0" indent="0" algn="just" fontAlgn="auto">
                <a:lnSpc>
                  <a:spcPct val="120000"/>
                </a:lnSpc>
                <a:buFont typeface="Arial" panose="020B0604020202020204" pitchFamily="34" charset="0"/>
                <a:buNone/>
              </a:pPr>
              <a:r>
                <a:rPr sz="1400" dirty="0">
                  <a:solidFill>
                    <a:srgbClr val="262626"/>
                  </a:solidFill>
                  <a:latin typeface="微软雅黑" panose="020B0503020204020204" charset="-122"/>
                  <a:ea typeface="微软雅黑" panose="020B0503020204020204" charset="-122"/>
                </a:rPr>
                <a:t>（2）数据元素的别名（不同时期或不同用户对同一元素所用的不同名称）。</a:t>
              </a:r>
            </a:p>
            <a:p>
              <a:pPr lvl="0" indent="0" algn="just" fontAlgn="auto">
                <a:lnSpc>
                  <a:spcPct val="120000"/>
                </a:lnSpc>
                <a:buFont typeface="Arial" panose="020B0604020202020204" pitchFamily="34" charset="0"/>
                <a:buNone/>
              </a:pPr>
              <a:r>
                <a:rPr sz="1400" dirty="0">
                  <a:solidFill>
                    <a:srgbClr val="262626"/>
                  </a:solidFill>
                  <a:latin typeface="微软雅黑" panose="020B0503020204020204" charset="-122"/>
                  <a:ea typeface="微软雅黑" panose="020B0503020204020204" charset="-122"/>
                </a:rPr>
                <a:t>（3）数据元素的取值范围和取值含义。</a:t>
              </a:r>
            </a:p>
            <a:p>
              <a:pPr lvl="0" indent="0" algn="just" fontAlgn="auto">
                <a:lnSpc>
                  <a:spcPct val="120000"/>
                </a:lnSpc>
                <a:buFont typeface="Arial" panose="020B0604020202020204" pitchFamily="34" charset="0"/>
                <a:buNone/>
              </a:pPr>
              <a:r>
                <a:rPr sz="1400" dirty="0">
                  <a:solidFill>
                    <a:srgbClr val="262626"/>
                  </a:solidFill>
                  <a:latin typeface="微软雅黑" panose="020B0503020204020204" charset="-122"/>
                  <a:ea typeface="微软雅黑" panose="020B0503020204020204" charset="-122"/>
                </a:rPr>
                <a:t>（4）数据元素的长度定义，应便于定义数据库结构。</a:t>
              </a:r>
            </a:p>
            <a:p>
              <a:pPr lvl="0" indent="0" algn="just" fontAlgn="auto">
                <a:lnSpc>
                  <a:spcPct val="120000"/>
                </a:lnSpc>
                <a:buFont typeface="Arial" panose="020B0604020202020204" pitchFamily="34" charset="0"/>
                <a:buNone/>
              </a:pPr>
              <a:r>
                <a:rPr sz="1400" dirty="0">
                  <a:solidFill>
                    <a:srgbClr val="262626"/>
                  </a:solidFill>
                  <a:latin typeface="微软雅黑" panose="020B0503020204020204" charset="-122"/>
                  <a:ea typeface="微软雅黑" panose="020B0503020204020204" charset="-122"/>
                </a:rPr>
                <a:t>（5）数据元素的简单描述。</a:t>
              </a:r>
            </a:p>
          </p:txBody>
        </p:sp>
        <p:sp>
          <p:nvSpPr>
            <p:cNvPr id="17420" name="矩形 14"/>
            <p:cNvSpPr/>
            <p:nvPr/>
          </p:nvSpPr>
          <p:spPr>
            <a:xfrm>
              <a:off x="4083" y="3504"/>
              <a:ext cx="5489" cy="1541"/>
            </a:xfrm>
            <a:prstGeom prst="rect">
              <a:avLst/>
            </a:prstGeom>
            <a:noFill/>
            <a:ln w="9525">
              <a:noFill/>
            </a:ln>
          </p:spPr>
          <p:txBody>
            <a:bodyPr wrap="square" anchor="t">
              <a:spAutoFit/>
            </a:bodyPr>
            <a:lstStyle/>
            <a:p>
              <a:pPr lvl="0" indent="0" algn="just" fontAlgn="auto">
                <a:lnSpc>
                  <a:spcPct val="120000"/>
                </a:lnSpc>
                <a:buFont typeface="Arial" panose="020B0604020202020204" pitchFamily="34" charset="0"/>
                <a:buNone/>
              </a:pPr>
              <a:r>
                <a:rPr lang="en-US" sz="1600" dirty="0">
                  <a:solidFill>
                    <a:srgbClr val="262626"/>
                  </a:solidFill>
                  <a:latin typeface="微软雅黑" panose="020B0503020204020204" charset="-122"/>
                  <a:ea typeface="微软雅黑" panose="020B0503020204020204" charset="-122"/>
                </a:rPr>
                <a:t>       </a:t>
              </a:r>
              <a:r>
                <a:rPr sz="1600" dirty="0">
                  <a:solidFill>
                    <a:srgbClr val="262626"/>
                  </a:solidFill>
                  <a:latin typeface="微软雅黑" panose="020B0503020204020204" charset="-122"/>
                  <a:ea typeface="微软雅黑" panose="020B0503020204020204" charset="-122"/>
                </a:rPr>
                <a:t>数据流主要包括数据流的来源、去处、组成数据流的数据项、数据流的流通量。</a:t>
              </a:r>
            </a:p>
          </p:txBody>
        </p:sp>
        <p:sp>
          <p:nvSpPr>
            <p:cNvPr id="17421" name="矩形 15"/>
            <p:cNvSpPr/>
            <p:nvPr/>
          </p:nvSpPr>
          <p:spPr>
            <a:xfrm>
              <a:off x="8667" y="6842"/>
              <a:ext cx="3809" cy="1541"/>
            </a:xfrm>
            <a:prstGeom prst="rect">
              <a:avLst/>
            </a:prstGeom>
            <a:noFill/>
            <a:ln w="9525">
              <a:noFill/>
            </a:ln>
          </p:spPr>
          <p:txBody>
            <a:bodyPr wrap="square" anchor="t">
              <a:spAutoFit/>
            </a:bodyPr>
            <a:lstStyle/>
            <a:p>
              <a:pPr lvl="0" indent="0" algn="just" fontAlgn="auto">
                <a:lnSpc>
                  <a:spcPct val="120000"/>
                </a:lnSpc>
                <a:buFont typeface="Arial" panose="020B0604020202020204" pitchFamily="34" charset="0"/>
                <a:buNone/>
              </a:pPr>
              <a:r>
                <a:rPr lang="en-US" sz="1600" dirty="0">
                  <a:solidFill>
                    <a:srgbClr val="262626"/>
                  </a:solidFill>
                  <a:latin typeface="微软雅黑" panose="020B0503020204020204" charset="-122"/>
                  <a:ea typeface="微软雅黑" panose="020B0503020204020204" charset="-122"/>
                </a:rPr>
                <a:t>       </a:t>
              </a:r>
              <a:r>
                <a:rPr sz="1600" dirty="0">
                  <a:solidFill>
                    <a:srgbClr val="262626"/>
                  </a:solidFill>
                  <a:latin typeface="微软雅黑" panose="020B0503020204020204" charset="-122"/>
                  <a:ea typeface="微软雅黑" panose="020B0503020204020204" charset="-122"/>
                </a:rPr>
                <a:t>数据存储描述数据文件的结构及数据文件中记录的存放规则。</a:t>
              </a:r>
            </a:p>
          </p:txBody>
        </p:sp>
        <p:sp>
          <p:nvSpPr>
            <p:cNvPr id="17422" name="矩形 16"/>
            <p:cNvSpPr/>
            <p:nvPr/>
          </p:nvSpPr>
          <p:spPr>
            <a:xfrm>
              <a:off x="10090" y="2925"/>
              <a:ext cx="6734" cy="2007"/>
            </a:xfrm>
            <a:prstGeom prst="rect">
              <a:avLst/>
            </a:prstGeom>
            <a:noFill/>
            <a:ln w="9525">
              <a:noFill/>
            </a:ln>
          </p:spPr>
          <p:txBody>
            <a:bodyPr wrap="square" anchor="t">
              <a:spAutoFit/>
            </a:bodyPr>
            <a:lstStyle/>
            <a:p>
              <a:pPr lvl="0" indent="0" algn="just" fontAlgn="auto">
                <a:lnSpc>
                  <a:spcPct val="120000"/>
                </a:lnSpc>
                <a:buFont typeface="Arial" panose="020B0604020202020204" pitchFamily="34" charset="0"/>
                <a:buNone/>
              </a:pPr>
              <a:r>
                <a:rPr lang="en-US" sz="1600" dirty="0">
                  <a:solidFill>
                    <a:srgbClr val="262626"/>
                  </a:solidFill>
                  <a:latin typeface="微软雅黑" panose="020B0503020204020204" charset="-122"/>
                  <a:ea typeface="微软雅黑" panose="020B0503020204020204" charset="-122"/>
                </a:rPr>
                <a:t>       </a:t>
              </a:r>
              <a:r>
                <a:rPr sz="1600" dirty="0">
                  <a:solidFill>
                    <a:srgbClr val="262626"/>
                  </a:solidFill>
                  <a:latin typeface="微软雅黑" panose="020B0503020204020204" charset="-122"/>
                  <a:ea typeface="微软雅黑" panose="020B0503020204020204" charset="-122"/>
                </a:rPr>
                <a:t>数据字典中可以描述数据处理的逻辑功能及其算法，如计算公式、简明的处理描述等。但是一般情况下，数据处理用其他工具描述会更清晰、更合适。</a:t>
              </a:r>
            </a:p>
          </p:txBody>
        </p:sp>
        <p:pic>
          <p:nvPicPr>
            <p:cNvPr id="17423" name="图片 17"/>
            <p:cNvPicPr>
              <a:picLocks noChangeAspect="1"/>
            </p:cNvPicPr>
            <p:nvPr/>
          </p:nvPicPr>
          <p:blipFill>
            <a:blip r:embed="rId3" cstate="print"/>
            <a:srcRect l="19328" r="26750"/>
            <a:stretch>
              <a:fillRect/>
            </a:stretch>
          </p:blipFill>
          <p:spPr>
            <a:xfrm>
              <a:off x="15432" y="6456"/>
              <a:ext cx="2512" cy="4297"/>
            </a:xfrm>
            <a:prstGeom prst="rect">
              <a:avLst/>
            </a:prstGeom>
            <a:noFill/>
            <a:ln w="9525">
              <a:noFill/>
            </a:ln>
          </p:spPr>
        </p:pic>
        <p:pic>
          <p:nvPicPr>
            <p:cNvPr id="17424" name="图片 18"/>
            <p:cNvPicPr>
              <a:picLocks noChangeAspect="1"/>
            </p:cNvPicPr>
            <p:nvPr/>
          </p:nvPicPr>
          <p:blipFill>
            <a:blip r:embed="rId4" cstate="print"/>
            <a:srcRect l="27312" t="7133" r="27983" b="24818"/>
            <a:stretch>
              <a:fillRect/>
            </a:stretch>
          </p:blipFill>
          <p:spPr>
            <a:xfrm>
              <a:off x="17289" y="1228"/>
              <a:ext cx="1657" cy="2075"/>
            </a:xfrm>
            <a:prstGeom prst="rect">
              <a:avLst/>
            </a:prstGeom>
            <a:noFill/>
            <a:ln w="9525">
              <a:noFill/>
            </a:ln>
          </p:spPr>
        </p:pic>
      </p:grpSp>
      <p:sp>
        <p:nvSpPr>
          <p:cNvPr id="42"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数据字典内容</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4.2</a:t>
            </a:r>
            <a:r>
              <a:rPr lang="zh-CN" altLang="zh-CN">
                <a:solidFill>
                  <a:srgbClr val="FF0000"/>
                </a:solidFill>
                <a:sym typeface="+mn-ea"/>
              </a:rPr>
              <a:t> 数据字典使用的符号</a:t>
            </a:r>
            <a:endParaRPr lang="zh-CN" altLang="en-US"/>
          </a:p>
        </p:txBody>
      </p:sp>
      <p:sp>
        <p:nvSpPr>
          <p:cNvPr id="2" name="矩形 1"/>
          <p:cNvSpPr/>
          <p:nvPr/>
        </p:nvSpPr>
        <p:spPr>
          <a:xfrm>
            <a:off x="927100" y="1950720"/>
            <a:ext cx="10839450" cy="3729990"/>
          </a:xfrm>
          <a:prstGeom prst="rect">
            <a:avLst/>
          </a:prstGeom>
          <a:solidFill>
            <a:sysClr val="window" lastClr="FFFFFF"/>
          </a:solidFill>
          <a:ln w="3175" cap="flat" cmpd="sng" algn="ctr">
            <a:solidFill>
              <a:sysClr val="window" lastClr="FFFFFF">
                <a:lumMod val="75000"/>
              </a:sysClr>
            </a:solidFill>
            <a:prstDash val="solid"/>
          </a:ln>
          <a:effectLst>
            <a:outerShdw blurRad="50800" dist="38100" dir="5400000" algn="t" rotWithShape="0">
              <a:prstClr val="black">
                <a:alpha val="40000"/>
              </a:prstClr>
            </a:outerShdw>
          </a:effectLst>
        </p:spPr>
        <p:txBody>
          <a:bodyPr anchor="ctr"/>
          <a:lstStyle/>
          <a:p>
            <a:pPr algn="ctr">
              <a:defRPr/>
            </a:pPr>
            <a:endParaRPr lang="zh-CN" altLang="en-US" kern="0">
              <a:solidFill>
                <a:sysClr val="window" lastClr="FFFFFF"/>
              </a:solidFill>
              <a:latin typeface="Tahoma" panose="020B0604030504040204"/>
              <a:ea typeface="微软雅黑" panose="020B0503020204020204" charset="-122"/>
            </a:endParaRPr>
          </a:p>
        </p:txBody>
      </p:sp>
      <p:graphicFrame>
        <p:nvGraphicFramePr>
          <p:cNvPr id="23" name="表格 22"/>
          <p:cNvGraphicFramePr>
            <a:graphicFrameLocks noGrp="1"/>
          </p:cNvGraphicFramePr>
          <p:nvPr/>
        </p:nvGraphicFramePr>
        <p:xfrm>
          <a:off x="1205865" y="2026285"/>
          <a:ext cx="10281920" cy="3578225"/>
        </p:xfrm>
        <a:graphic>
          <a:graphicData uri="http://schemas.openxmlformats.org/drawingml/2006/table">
            <a:tbl>
              <a:tblPr firstRow="1" firstCol="1" bandRow="1">
                <a:tableStyleId>{F5AB1C69-6EDB-4FF4-983F-18BD219EF322}</a:tableStyleId>
              </a:tblPr>
              <a:tblGrid>
                <a:gridCol w="2366645"/>
                <a:gridCol w="7915275"/>
              </a:tblGrid>
              <a:tr h="628650">
                <a:tc>
                  <a:txBody>
                    <a:bodyPr/>
                    <a:lstStyle/>
                    <a:p>
                      <a:pPr algn="ctr">
                        <a:lnSpc>
                          <a:spcPct val="115000"/>
                        </a:lnSpc>
                        <a:spcAft>
                          <a:spcPts val="0"/>
                        </a:spcAft>
                      </a:pPr>
                      <a:r>
                        <a:rPr lang="zh-CN" altLang="en-US" sz="2000" kern="100" dirty="0" smtClean="0">
                          <a:effectLst/>
                        </a:rPr>
                        <a:t>符号</a:t>
                      </a:r>
                      <a:endParaRPr lang="zh-CN" altLang="en-US" sz="2000" kern="100" dirty="0" smtClean="0">
                        <a:effectLst/>
                        <a:latin typeface="微软雅黑" panose="020B0503020204020204" charset="-122"/>
                        <a:ea typeface="微软雅黑" panose="020B0503020204020204" charset="-122"/>
                      </a:endParaRPr>
                    </a:p>
                  </a:txBody>
                  <a:tcPr marL="68580" marR="68580" marT="0" marB="0" anchor="ctr"/>
                </a:tc>
                <a:tc>
                  <a:txBody>
                    <a:bodyPr/>
                    <a:lstStyle/>
                    <a:p>
                      <a:pPr algn="ctr">
                        <a:lnSpc>
                          <a:spcPct val="115000"/>
                        </a:lnSpc>
                        <a:spcAft>
                          <a:spcPts val="0"/>
                        </a:spcAft>
                      </a:pPr>
                      <a:r>
                        <a:rPr lang="zh-CN" sz="2000" kern="100" dirty="0">
                          <a:effectLst/>
                        </a:rPr>
                        <a:t>表示内容</a:t>
                      </a:r>
                      <a:endParaRPr lang="zh-CN" sz="2000" kern="100" dirty="0">
                        <a:effectLst/>
                        <a:latin typeface="微软雅黑" panose="020B0503020204020204" charset="-122"/>
                        <a:ea typeface="微软雅黑" panose="020B0503020204020204" charset="-122"/>
                      </a:endParaRPr>
                    </a:p>
                  </a:txBody>
                  <a:tcPr marL="68580" marR="68580" marT="0" marB="0" anchor="ctr"/>
                </a:tc>
              </a:tr>
              <a:tr h="501015">
                <a:tc>
                  <a:txBody>
                    <a:bodyPr/>
                    <a:lstStyle/>
                    <a:p>
                      <a:pPr algn="ctr">
                        <a:lnSpc>
                          <a:spcPct val="115000"/>
                        </a:lnSpc>
                        <a:spcAft>
                          <a:spcPts val="0"/>
                        </a:spcAft>
                      </a:pPr>
                      <a:r>
                        <a:rPr lang="en-US" altLang="zh-CN" sz="1800" kern="100" dirty="0">
                          <a:effectLst/>
                        </a:rPr>
                        <a:t>=</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表示“等价于”或“定义为”。</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593090">
                <a:tc>
                  <a:txBody>
                    <a:bodyPr/>
                    <a:lstStyle/>
                    <a:p>
                      <a:pPr algn="ctr">
                        <a:lnSpc>
                          <a:spcPct val="115000"/>
                        </a:lnSpc>
                        <a:spcAft>
                          <a:spcPts val="0"/>
                        </a:spcAft>
                        <a:buNone/>
                      </a:pPr>
                      <a:r>
                        <a:rPr lang="en-US" altLang="zh-CN" sz="1800" kern="100" dirty="0">
                          <a:effectLst/>
                        </a:rPr>
                        <a:t>+</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rPr>
                        <a:t>表示“和”，连接两个数据元素。</a:t>
                      </a:r>
                      <a:endParaRPr lang="zh-CN" altLang="en-US"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561975">
                <a:tc>
                  <a:txBody>
                    <a:bodyPr/>
                    <a:lstStyle/>
                    <a:p>
                      <a:pPr algn="ctr">
                        <a:lnSpc>
                          <a:spcPct val="115000"/>
                        </a:lnSpc>
                        <a:spcAft>
                          <a:spcPts val="0"/>
                        </a:spcAft>
                        <a:buNone/>
                      </a:pPr>
                      <a:r>
                        <a:rPr lang="en-US" altLang="zh-CN" sz="1800" kern="100" dirty="0">
                          <a:effectLst/>
                        </a:rPr>
                        <a:t>[]</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rPr>
                        <a:t>表示“或”，对[ ]中列举的各数据元素，用“|”分隔，表示可任选其中某一项。</a:t>
                      </a:r>
                      <a:endParaRPr lang="zh-CN" sz="1600" kern="100" dirty="0">
                        <a:solidFill>
                          <a:srgbClr val="5F5E5C"/>
                        </a:solidFill>
                        <a:effectLst/>
                        <a:latin typeface="微软雅黑" panose="020B0503020204020204" charset="-122"/>
                        <a:ea typeface="微软雅黑" panose="020B0503020204020204" charset="-122"/>
                      </a:endParaRPr>
                    </a:p>
                  </a:txBody>
                  <a:tcPr marL="68580" marR="68580" marT="0" marB="0" anchor="ctr"/>
                </a:tc>
              </a:tr>
              <a:tr h="675640">
                <a:tc>
                  <a:txBody>
                    <a:bodyPr/>
                    <a:lstStyle/>
                    <a:p>
                      <a:pPr algn="ctr">
                        <a:lnSpc>
                          <a:spcPct val="115000"/>
                        </a:lnSpc>
                        <a:spcAft>
                          <a:spcPts val="0"/>
                        </a:spcAft>
                        <a:buNone/>
                      </a:pPr>
                      <a:r>
                        <a:rPr lang="en-US" altLang="zh-CN" sz="1800" kern="100" dirty="0">
                          <a:effectLst/>
                        </a:rPr>
                        <a:t>{}</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altLang="en-US" sz="1600" kern="100" dirty="0">
                          <a:effectLst/>
                          <a:sym typeface="+mn-ea"/>
                        </a:rPr>
                        <a:t>表示“重复”，对{ }中的内容可重复使用。如果要对{ }表示的重复次数加以限制，可将重复次数的下限和上限写在花括号的左右</a:t>
                      </a:r>
                      <a:endParaRPr lang="zh-CN" altLang="en-US"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tr>
              <a:tr h="617855">
                <a:tc>
                  <a:txBody>
                    <a:bodyPr/>
                    <a:lstStyle/>
                    <a:p>
                      <a:pPr algn="ctr">
                        <a:lnSpc>
                          <a:spcPct val="115000"/>
                        </a:lnSpc>
                        <a:spcAft>
                          <a:spcPts val="0"/>
                        </a:spcAft>
                      </a:pPr>
                      <a:r>
                        <a:rPr lang="en-US" altLang="zh-CN" sz="1800" kern="100" dirty="0">
                          <a:effectLst/>
                        </a:rPr>
                        <a:t>()</a:t>
                      </a:r>
                      <a:endParaRPr lang="en-US" altLang="zh-CN" sz="1800" kern="100" dirty="0">
                        <a:effectLst/>
                        <a:latin typeface="微软雅黑" panose="020B0503020204020204" charset="-122"/>
                        <a:ea typeface="微软雅黑" panose="020B0503020204020204" charset="-122"/>
                      </a:endParaRPr>
                    </a:p>
                  </a:txBody>
                  <a:tcPr marL="68580" marR="68580" marT="0" marB="0" anchor="ctr"/>
                </a:tc>
                <a:tc>
                  <a:txBody>
                    <a:bodyPr/>
                    <a:lstStyle/>
                    <a:p>
                      <a:pPr marL="285750" indent="-285750" algn="just">
                        <a:lnSpc>
                          <a:spcPct val="120000"/>
                        </a:lnSpc>
                        <a:spcAft>
                          <a:spcPts val="0"/>
                        </a:spcAft>
                        <a:buFont typeface="Arial" panose="020B0604020202020204" pitchFamily="34" charset="0"/>
                        <a:buChar char="•"/>
                      </a:pPr>
                      <a:r>
                        <a:rPr lang="zh-CN" sz="1600" kern="100" dirty="0">
                          <a:effectLst/>
                          <a:sym typeface="+mn-ea"/>
                        </a:rPr>
                        <a:t>表示“可选”，对( )中的内容可选、可不选，各选项之间用“，”号隔开。</a:t>
                      </a:r>
                      <a:endParaRPr lang="zh-CN" sz="1600" kern="100" dirty="0">
                        <a:solidFill>
                          <a:srgbClr val="5F5E5C"/>
                        </a:solidFill>
                        <a:effectLst/>
                        <a:latin typeface="微软雅黑" panose="020B0503020204020204" charset="-122"/>
                        <a:ea typeface="微软雅黑" panose="020B0503020204020204" charset="-122"/>
                        <a:sym typeface="+mn-ea"/>
                      </a:endParaRPr>
                    </a:p>
                  </a:txBody>
                  <a:tcPr marL="68580" marR="68580" marT="0" marB="0" anchor="ctr"/>
                </a:tc>
              </a:tr>
            </a:tbl>
          </a:graphicData>
        </a:graphic>
      </p:graphicFrame>
      <p:sp>
        <p:nvSpPr>
          <p:cNvPr id="19" name="TextBox 6"/>
          <p:cNvSpPr txBox="1"/>
          <p:nvPr/>
        </p:nvSpPr>
        <p:spPr>
          <a:xfrm>
            <a:off x="809625" y="1403350"/>
            <a:ext cx="8696325"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数据字典符号</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4.3</a:t>
            </a:r>
            <a:r>
              <a:rPr lang="zh-CN" altLang="zh-CN">
                <a:solidFill>
                  <a:srgbClr val="FF0000"/>
                </a:solidFill>
                <a:sym typeface="+mn-ea"/>
              </a:rPr>
              <a:t> 数据字典与图形工具</a:t>
            </a:r>
            <a:endParaRPr lang="zh-CN" altLang="en-US"/>
          </a:p>
        </p:txBody>
      </p:sp>
      <p:sp>
        <p:nvSpPr>
          <p:cNvPr id="66" name="文本框 44"/>
          <p:cNvSpPr txBox="1"/>
          <p:nvPr/>
        </p:nvSpPr>
        <p:spPr>
          <a:xfrm>
            <a:off x="2790190" y="2762250"/>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3" name="文本框 44"/>
          <p:cNvSpPr txBox="1"/>
          <p:nvPr/>
        </p:nvSpPr>
        <p:spPr>
          <a:xfrm>
            <a:off x="1990725" y="3756660"/>
            <a:ext cx="309880" cy="483235"/>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2</a:t>
            </a:r>
          </a:p>
        </p:txBody>
      </p:sp>
      <p:sp>
        <p:nvSpPr>
          <p:cNvPr id="24" name="文本框 44"/>
          <p:cNvSpPr txBox="1"/>
          <p:nvPr/>
        </p:nvSpPr>
        <p:spPr>
          <a:xfrm>
            <a:off x="2790190" y="4727575"/>
            <a:ext cx="309880" cy="48323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5" name="任意多边形 4"/>
          <p:cNvSpPr/>
          <p:nvPr>
            <p:custDataLst>
              <p:tags r:id="rId1"/>
            </p:custDataLst>
          </p:nvPr>
        </p:nvSpPr>
        <p:spPr>
          <a:xfrm>
            <a:off x="5969635" y="1299845"/>
            <a:ext cx="2376805" cy="4859020"/>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EF4150"/>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13" name="任意多边形 12"/>
          <p:cNvSpPr/>
          <p:nvPr>
            <p:custDataLst>
              <p:tags r:id="rId2"/>
            </p:custDataLst>
          </p:nvPr>
        </p:nvSpPr>
        <p:spPr>
          <a:xfrm rot="10800000">
            <a:off x="3591560" y="1325245"/>
            <a:ext cx="2378075" cy="4859020"/>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6" name="圆角矩形 5"/>
          <p:cNvSpPr/>
          <p:nvPr>
            <p:custDataLst>
              <p:tags r:id="rId3"/>
            </p:custDataLst>
          </p:nvPr>
        </p:nvSpPr>
        <p:spPr>
          <a:xfrm>
            <a:off x="7247255" y="1697990"/>
            <a:ext cx="4130675" cy="664210"/>
          </a:xfrm>
          <a:prstGeom prst="roundRect">
            <a:avLst>
              <a:gd name="adj" fmla="val 50000"/>
            </a:avLst>
          </a:prstGeom>
          <a:solidFill>
            <a:srgbClr val="FFFFFF"/>
          </a:solidFill>
          <a:ln>
            <a:solidFill>
              <a:srgbClr val="EF4150"/>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7" name="椭圆 6"/>
          <p:cNvSpPr/>
          <p:nvPr>
            <p:custDataLst>
              <p:tags r:id="rId4"/>
            </p:custDataLst>
          </p:nvPr>
        </p:nvSpPr>
        <p:spPr>
          <a:xfrm>
            <a:off x="7225030" y="1698625"/>
            <a:ext cx="660400" cy="713740"/>
          </a:xfrm>
          <a:prstGeom prst="ellipse">
            <a:avLst/>
          </a:prstGeom>
          <a:solidFill>
            <a:srgbClr val="EF4150"/>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4</a:t>
            </a:r>
          </a:p>
        </p:txBody>
      </p:sp>
      <p:sp>
        <p:nvSpPr>
          <p:cNvPr id="8" name="文本框 54"/>
          <p:cNvSpPr txBox="1">
            <a:spLocks noChangeArrowheads="1"/>
          </p:cNvSpPr>
          <p:nvPr>
            <p:custDataLst>
              <p:tags r:id="rId5"/>
            </p:custDataLst>
          </p:nvPr>
        </p:nvSpPr>
        <p:spPr bwMode="auto">
          <a:xfrm>
            <a:off x="7942580" y="1750695"/>
            <a:ext cx="3270250" cy="1070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smtClean="0">
                <a:latin typeface="Arial" panose="020B0604020202020204" pitchFamily="34" charset="0"/>
                <a:ea typeface="黑体" panose="02010609060101010101" pitchFamily="49" charset="-122"/>
              </a:rPr>
              <a:t>编写数据字典时，不能有遗漏和重复，要避免不一致性。</a:t>
            </a:r>
          </a:p>
        </p:txBody>
      </p:sp>
      <p:sp>
        <p:nvSpPr>
          <p:cNvPr id="9" name="圆角矩形 8"/>
          <p:cNvSpPr/>
          <p:nvPr>
            <p:custDataLst>
              <p:tags r:id="rId6"/>
            </p:custDataLst>
          </p:nvPr>
        </p:nvSpPr>
        <p:spPr>
          <a:xfrm>
            <a:off x="6452235" y="3507105"/>
            <a:ext cx="4925695" cy="611505"/>
          </a:xfrm>
          <a:prstGeom prst="roundRect">
            <a:avLst>
              <a:gd name="adj" fmla="val 50000"/>
            </a:avLst>
          </a:prstGeom>
          <a:solidFill>
            <a:srgbClr val="FFFFFF"/>
          </a:solidFill>
          <a:ln>
            <a:solidFill>
              <a:srgbClr val="EF4150"/>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10" name="椭圆 9"/>
          <p:cNvSpPr/>
          <p:nvPr>
            <p:custDataLst>
              <p:tags r:id="rId7"/>
            </p:custDataLst>
          </p:nvPr>
        </p:nvSpPr>
        <p:spPr>
          <a:xfrm>
            <a:off x="6431915" y="3456305"/>
            <a:ext cx="660400" cy="713740"/>
          </a:xfrm>
          <a:prstGeom prst="ellipse">
            <a:avLst/>
          </a:prstGeom>
          <a:solidFill>
            <a:srgbClr val="EF4150"/>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5</a:t>
            </a:r>
          </a:p>
        </p:txBody>
      </p:sp>
      <p:sp>
        <p:nvSpPr>
          <p:cNvPr id="11" name="文本框 55"/>
          <p:cNvSpPr txBox="1">
            <a:spLocks noChangeArrowheads="1"/>
          </p:cNvSpPr>
          <p:nvPr>
            <p:custDataLst>
              <p:tags r:id="rId8"/>
            </p:custDataLst>
          </p:nvPr>
        </p:nvSpPr>
        <p:spPr bwMode="auto">
          <a:xfrm>
            <a:off x="7092315" y="3561080"/>
            <a:ext cx="4107180" cy="15824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a:latin typeface="Arial" panose="020B0604020202020204" pitchFamily="34" charset="0"/>
                <a:ea typeface="黑体" panose="02010609060101010101" pitchFamily="49" charset="-122"/>
              </a:rPr>
              <a:t>数据字典中条目的排列要有一定规律，要能通过名字方便地查阅条目的内容。</a:t>
            </a:r>
          </a:p>
        </p:txBody>
      </p:sp>
      <p:sp>
        <p:nvSpPr>
          <p:cNvPr id="20" name="圆角矩形 19"/>
          <p:cNvSpPr/>
          <p:nvPr>
            <p:custDataLst>
              <p:tags r:id="rId9"/>
            </p:custDataLst>
          </p:nvPr>
        </p:nvSpPr>
        <p:spPr>
          <a:xfrm>
            <a:off x="7272020" y="5173980"/>
            <a:ext cx="4105275" cy="612775"/>
          </a:xfrm>
          <a:prstGeom prst="roundRect">
            <a:avLst>
              <a:gd name="adj" fmla="val 50000"/>
            </a:avLst>
          </a:prstGeom>
          <a:solidFill>
            <a:srgbClr val="FFFFFF"/>
          </a:solidFill>
          <a:ln>
            <a:solidFill>
              <a:srgbClr val="EF4150"/>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21" name="椭圆 20"/>
          <p:cNvSpPr/>
          <p:nvPr>
            <p:custDataLst>
              <p:tags r:id="rId10"/>
            </p:custDataLst>
          </p:nvPr>
        </p:nvSpPr>
        <p:spPr>
          <a:xfrm>
            <a:off x="7248525" y="5124450"/>
            <a:ext cx="660400" cy="713740"/>
          </a:xfrm>
          <a:prstGeom prst="ellipse">
            <a:avLst/>
          </a:prstGeom>
          <a:solidFill>
            <a:srgbClr val="EF4150"/>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6</a:t>
            </a:r>
          </a:p>
        </p:txBody>
      </p:sp>
      <p:sp>
        <p:nvSpPr>
          <p:cNvPr id="22" name="文本框 56"/>
          <p:cNvSpPr txBox="1">
            <a:spLocks noChangeArrowheads="1"/>
          </p:cNvSpPr>
          <p:nvPr>
            <p:custDataLst>
              <p:tags r:id="rId11"/>
            </p:custDataLst>
          </p:nvPr>
        </p:nvSpPr>
        <p:spPr bwMode="auto">
          <a:xfrm>
            <a:off x="7955915" y="5195570"/>
            <a:ext cx="3243580" cy="892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a:spcBef>
                <a:spcPct val="0"/>
              </a:spcBef>
              <a:buNone/>
            </a:pPr>
            <a:r>
              <a:rPr lang="zh-CN" altLang="en-US" sz="1800" dirty="0">
                <a:latin typeface="Arial" panose="020B0604020202020204" pitchFamily="34" charset="0"/>
                <a:ea typeface="黑体" panose="02010609060101010101" pitchFamily="49" charset="-122"/>
              </a:rPr>
              <a:t>数据字典的编写，要易于更新和修改。</a:t>
            </a:r>
          </a:p>
        </p:txBody>
      </p:sp>
      <p:sp>
        <p:nvSpPr>
          <p:cNvPr id="32" name="圆角矩形 31"/>
          <p:cNvSpPr/>
          <p:nvPr>
            <p:custDataLst>
              <p:tags r:id="rId12"/>
            </p:custDataLst>
          </p:nvPr>
        </p:nvSpPr>
        <p:spPr>
          <a:xfrm rot="10800000">
            <a:off x="685800" y="1697990"/>
            <a:ext cx="3978275" cy="714375"/>
          </a:xfrm>
          <a:prstGeom prst="roundRect">
            <a:avLst>
              <a:gd name="adj" fmla="val 50000"/>
            </a:avLst>
          </a:prstGeom>
          <a:solidFill>
            <a:srgbClr val="FFFFFF"/>
          </a:solidFill>
          <a:ln>
            <a:solidFill>
              <a:srgbClr val="58BDA8"/>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33" name="椭圆 32"/>
          <p:cNvSpPr/>
          <p:nvPr>
            <p:custDataLst>
              <p:tags r:id="rId13"/>
            </p:custDataLst>
          </p:nvPr>
        </p:nvSpPr>
        <p:spPr>
          <a:xfrm>
            <a:off x="4025900" y="1698625"/>
            <a:ext cx="660400" cy="713740"/>
          </a:xfrm>
          <a:prstGeom prst="ellipse">
            <a:avLst/>
          </a:prstGeom>
          <a:solidFill>
            <a:srgbClr val="58BDA8"/>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1</a:t>
            </a:r>
          </a:p>
        </p:txBody>
      </p:sp>
      <p:sp>
        <p:nvSpPr>
          <p:cNvPr id="52" name="文本框 59"/>
          <p:cNvSpPr txBox="1">
            <a:spLocks noChangeArrowheads="1"/>
          </p:cNvSpPr>
          <p:nvPr>
            <p:custDataLst>
              <p:tags r:id="rId14"/>
            </p:custDataLst>
          </p:nvPr>
        </p:nvSpPr>
        <p:spPr bwMode="auto">
          <a:xfrm>
            <a:off x="942340" y="1750695"/>
            <a:ext cx="3103245" cy="8902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dirty="0" smtClean="0">
                <a:latin typeface="Arial" panose="020B0604020202020204" pitchFamily="34" charset="0"/>
                <a:ea typeface="黑体" panose="02010609060101010101" pitchFamily="49" charset="-122"/>
              </a:rPr>
              <a:t>可以用图形工具描述的内容，尽量用图形工具。</a:t>
            </a:r>
          </a:p>
        </p:txBody>
      </p:sp>
      <p:sp>
        <p:nvSpPr>
          <p:cNvPr id="30" name="圆角矩形 29"/>
          <p:cNvSpPr/>
          <p:nvPr>
            <p:custDataLst>
              <p:tags r:id="rId15"/>
            </p:custDataLst>
          </p:nvPr>
        </p:nvSpPr>
        <p:spPr>
          <a:xfrm rot="10800000">
            <a:off x="685165" y="3509010"/>
            <a:ext cx="4757420" cy="611505"/>
          </a:xfrm>
          <a:prstGeom prst="roundRect">
            <a:avLst>
              <a:gd name="adj" fmla="val 50000"/>
            </a:avLst>
          </a:prstGeom>
          <a:solidFill>
            <a:srgbClr val="FFFFFF"/>
          </a:solidFill>
          <a:ln>
            <a:solidFill>
              <a:srgbClr val="58BDA8"/>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31" name="椭圆 30"/>
          <p:cNvSpPr/>
          <p:nvPr>
            <p:custDataLst>
              <p:tags r:id="rId16"/>
            </p:custDataLst>
          </p:nvPr>
        </p:nvSpPr>
        <p:spPr>
          <a:xfrm rot="10800000">
            <a:off x="4804410" y="3456305"/>
            <a:ext cx="660400" cy="713740"/>
          </a:xfrm>
          <a:prstGeom prst="ellipse">
            <a:avLst/>
          </a:prstGeom>
          <a:solidFill>
            <a:srgbClr val="58BDA8"/>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53" name="文本框 60"/>
          <p:cNvSpPr txBox="1">
            <a:spLocks noChangeArrowheads="1"/>
          </p:cNvSpPr>
          <p:nvPr>
            <p:custDataLst>
              <p:tags r:id="rId17"/>
            </p:custDataLst>
          </p:nvPr>
        </p:nvSpPr>
        <p:spPr bwMode="auto">
          <a:xfrm>
            <a:off x="925830" y="3561080"/>
            <a:ext cx="3638550" cy="6089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a:spcBef>
                <a:spcPct val="0"/>
              </a:spcBef>
              <a:buNone/>
            </a:pPr>
            <a:r>
              <a:rPr lang="zh-CN" altLang="en-US" sz="1800" dirty="0" smtClean="0">
                <a:latin typeface="Arial" panose="020B0604020202020204" pitchFamily="34" charset="0"/>
                <a:ea typeface="黑体" panose="02010609060101010101" pitchFamily="49" charset="-122"/>
              </a:rPr>
              <a:t>有关数据的组成，要在数据字典中描述。</a:t>
            </a:r>
          </a:p>
        </p:txBody>
      </p:sp>
      <p:sp>
        <p:nvSpPr>
          <p:cNvPr id="28" name="圆角矩形 27"/>
          <p:cNvSpPr/>
          <p:nvPr>
            <p:custDataLst>
              <p:tags r:id="rId18"/>
            </p:custDataLst>
          </p:nvPr>
        </p:nvSpPr>
        <p:spPr>
          <a:xfrm rot="10800000">
            <a:off x="685800" y="5175885"/>
            <a:ext cx="4020185" cy="611505"/>
          </a:xfrm>
          <a:prstGeom prst="roundRect">
            <a:avLst>
              <a:gd name="adj" fmla="val 50000"/>
            </a:avLst>
          </a:prstGeom>
          <a:solidFill>
            <a:srgbClr val="FFFFFF"/>
          </a:solidFill>
          <a:ln>
            <a:solidFill>
              <a:srgbClr val="58BDA8"/>
            </a:solid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endParaRPr lang="zh-CN" altLang="en-US" sz="1800">
              <a:solidFill>
                <a:srgbClr val="4D4D4D"/>
              </a:solidFill>
            </a:endParaRPr>
          </a:p>
        </p:txBody>
      </p:sp>
      <p:sp>
        <p:nvSpPr>
          <p:cNvPr id="54" name="文本框 61"/>
          <p:cNvSpPr txBox="1">
            <a:spLocks noChangeArrowheads="1"/>
          </p:cNvSpPr>
          <p:nvPr>
            <p:custDataLst>
              <p:tags r:id="rId19"/>
            </p:custDataLst>
          </p:nvPr>
        </p:nvSpPr>
        <p:spPr bwMode="auto">
          <a:xfrm>
            <a:off x="925830" y="5195570"/>
            <a:ext cx="3119755" cy="708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rgbClr val="4D4D4D"/>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rgbClr val="4D4D4D"/>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rgbClr val="4D4D4D"/>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rgbClr val="4D4D4D"/>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rgbClr val="4D4D4D"/>
                </a:solidFill>
                <a:latin typeface="Calibri" panose="020F0502020204030204" charset="0"/>
                <a:ea typeface="宋体" panose="02010600030101010101" pitchFamily="2" charset="-122"/>
              </a:defRPr>
            </a:lvl9pPr>
          </a:lstStyle>
          <a:p>
            <a:pPr>
              <a:spcBef>
                <a:spcPct val="0"/>
              </a:spcBef>
              <a:buNone/>
            </a:pPr>
            <a:r>
              <a:rPr lang="zh-CN" altLang="en-US" sz="1800" dirty="0">
                <a:latin typeface="Arial" panose="020B0604020202020204" pitchFamily="34" charset="0"/>
                <a:ea typeface="黑体" panose="02010609060101010101" pitchFamily="49" charset="-122"/>
              </a:rPr>
              <a:t>有关数据的加工细节，要在数据字典中描述。</a:t>
            </a:r>
          </a:p>
        </p:txBody>
      </p:sp>
      <p:sp>
        <p:nvSpPr>
          <p:cNvPr id="35" name="椭圆 34"/>
          <p:cNvSpPr/>
          <p:nvPr>
            <p:custDataLst>
              <p:tags r:id="rId20"/>
            </p:custDataLst>
          </p:nvPr>
        </p:nvSpPr>
        <p:spPr>
          <a:xfrm>
            <a:off x="4804410" y="3455670"/>
            <a:ext cx="660400" cy="713740"/>
          </a:xfrm>
          <a:prstGeom prst="ellipse">
            <a:avLst/>
          </a:prstGeom>
          <a:solidFill>
            <a:srgbClr val="58BDA8"/>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2</a:t>
            </a:r>
          </a:p>
        </p:txBody>
      </p:sp>
      <p:sp>
        <p:nvSpPr>
          <p:cNvPr id="36" name="椭圆 35"/>
          <p:cNvSpPr/>
          <p:nvPr>
            <p:custDataLst>
              <p:tags r:id="rId21"/>
            </p:custDataLst>
          </p:nvPr>
        </p:nvSpPr>
        <p:spPr>
          <a:xfrm>
            <a:off x="4045585" y="5123815"/>
            <a:ext cx="660400" cy="713740"/>
          </a:xfrm>
          <a:prstGeom prst="ellipse">
            <a:avLst/>
          </a:prstGeom>
          <a:solidFill>
            <a:srgbClr val="58BDA8"/>
          </a:solidFill>
          <a:ln>
            <a:noFill/>
          </a:ln>
        </p:spPr>
        <p:style>
          <a:lnRef idx="2">
            <a:srgbClr val="EF4150">
              <a:shade val="50000"/>
            </a:srgbClr>
          </a:lnRef>
          <a:fillRef idx="1">
            <a:srgbClr val="EF4150"/>
          </a:fillRef>
          <a:effectRef idx="0">
            <a:srgbClr val="EF4150"/>
          </a:effectRef>
          <a:fontRef idx="minor">
            <a:srgbClr val="FFFFFF"/>
          </a:fontRef>
        </p:style>
        <p:txBody>
          <a:bodyPr anchor="ctr">
            <a:normAutofit/>
          </a:bodyPr>
          <a:lstStyle/>
          <a:p>
            <a:pPr algn="ctr" eaLnBrk="1" hangingPunct="1">
              <a:spcBef>
                <a:spcPts val="0"/>
              </a:spcBef>
              <a:spcAft>
                <a:spcPts val="0"/>
              </a:spcAft>
              <a:defRPr/>
            </a:pPr>
            <a:r>
              <a:rPr lang="en-US" altLang="zh-CN" sz="1800">
                <a:solidFill>
                  <a:schemeClr val="bg1"/>
                </a:solidFill>
              </a:rPr>
              <a:t>3</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sym typeface="+mn-ea"/>
              </a:rPr>
              <a:t>4.4</a:t>
            </a:r>
            <a:r>
              <a:rPr lang="zh-CN" altLang="zh-CN">
                <a:solidFill>
                  <a:srgbClr val="FF0000"/>
                </a:solidFill>
                <a:sym typeface="+mn-ea"/>
              </a:rPr>
              <a:t> 数据字典示例</a:t>
            </a:r>
            <a:endParaRPr lang="en-US">
              <a:solidFill>
                <a:srgbClr val="FF0000"/>
              </a:solidFill>
              <a:sym typeface="+mn-ea"/>
            </a:endParaRPr>
          </a:p>
        </p:txBody>
      </p:sp>
      <p:grpSp>
        <p:nvGrpSpPr>
          <p:cNvPr id="4" name="组合 3"/>
          <p:cNvGrpSpPr/>
          <p:nvPr/>
        </p:nvGrpSpPr>
        <p:grpSpPr>
          <a:xfrm>
            <a:off x="809625" y="1403350"/>
            <a:ext cx="10617835" cy="4531995"/>
            <a:chOff x="1275" y="2210"/>
            <a:chExt cx="16721" cy="7137"/>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1568" y="3150"/>
              <a:ext cx="16429" cy="6038"/>
              <a:chOff x="1500" y="3150"/>
              <a:chExt cx="16429" cy="6038"/>
            </a:xfrm>
          </p:grpSpPr>
          <p:sp>
            <p:nvSpPr>
              <p:cNvPr id="22" name="TextBox 21"/>
              <p:cNvSpPr txBox="1"/>
              <p:nvPr/>
            </p:nvSpPr>
            <p:spPr>
              <a:xfrm>
                <a:off x="3562" y="3399"/>
                <a:ext cx="13522" cy="628"/>
              </a:xfrm>
              <a:prstGeom prst="rect">
                <a:avLst/>
              </a:prstGeom>
              <a:noFill/>
            </p:spPr>
            <p:txBody>
              <a:bodyPr wrap="square">
                <a:spAutoFit/>
              </a:bodyPr>
              <a:lstStyle/>
              <a:p>
                <a:r>
                  <a:rPr sz="2000" dirty="0" smtClean="0">
                    <a:sym typeface="+mn-ea"/>
                  </a:rPr>
                  <a:t>编写例2-3招聘考试成绩管理系统的数据字典。</a:t>
                </a:r>
              </a:p>
            </p:txBody>
          </p:sp>
          <p:sp>
            <p:nvSpPr>
              <p:cNvPr id="24" name="矩形 23"/>
              <p:cNvSpPr>
                <a:spLocks noChangeAspect="1"/>
              </p:cNvSpPr>
              <p:nvPr/>
            </p:nvSpPr>
            <p:spPr>
              <a:xfrm>
                <a:off x="1500" y="4275"/>
                <a:ext cx="16429" cy="4913"/>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2123" cy="1865"/>
                <a:chOff x="2738416" y="1357299"/>
                <a:chExt cx="1178117" cy="1184466"/>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70285" y="1125430"/>
                  <a:ext cx="714379" cy="1178117"/>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1104866" cy="1074610"/>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2-10</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77" y="4375"/>
                <a:ext cx="15511" cy="4752"/>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sp>
          <p:nvSpPr>
            <p:cNvPr id="100" name="文本框 99"/>
            <p:cNvSpPr txBox="1"/>
            <p:nvPr/>
          </p:nvSpPr>
          <p:spPr>
            <a:xfrm>
              <a:off x="1845" y="4499"/>
              <a:ext cx="8000" cy="4848"/>
            </a:xfrm>
            <a:prstGeom prst="rect">
              <a:avLst/>
            </a:prstGeom>
            <a:noFill/>
            <a:ln w="9525">
              <a:noFill/>
            </a:ln>
          </p:spPr>
          <p:txBody>
            <a:bodyPr>
              <a:spAutoFit/>
            </a:bodyPr>
            <a:lstStyle/>
            <a:p>
              <a:pPr marL="0" indent="0" algn="l" fontAlgn="auto"/>
              <a:r>
                <a:rPr lang="zh-CN" altLang="en-US" b="0" u="none">
                  <a:latin typeface="宋体" panose="02010600030101010101" pitchFamily="2" charset="-122"/>
                  <a:ea typeface="宋体" panose="02010600030101010101" pitchFamily="2" charset="-122"/>
                  <a:cs typeface="宋体" panose="02010600030101010101" pitchFamily="2" charset="-122"/>
                </a:rPr>
                <a:t>（</a:t>
              </a:r>
              <a:r>
                <a:rPr lang="en-US" altLang="zh-CN" b="0" u="none">
                  <a:latin typeface="宋体" panose="02010600030101010101" pitchFamily="2" charset="-122"/>
                  <a:ea typeface="宋体" panose="02010600030101010101" pitchFamily="2" charset="-122"/>
                  <a:cs typeface="宋体" panose="02010600030101010101" pitchFamily="2" charset="-122"/>
                </a:rPr>
                <a:t>1</a:t>
              </a:r>
              <a:r>
                <a:rPr lang="zh-CN" altLang="en-US" b="0" u="none">
                  <a:latin typeface="宋体" panose="02010600030101010101" pitchFamily="2" charset="-122"/>
                  <a:ea typeface="宋体" panose="02010600030101010101" pitchFamily="2" charset="-122"/>
                  <a:cs typeface="宋体" panose="02010600030101010101" pitchFamily="2" charset="-122"/>
                </a:rPr>
                <a:t>）数据项定义。</a:t>
              </a:r>
            </a:p>
            <a:p>
              <a:r>
                <a:rPr lang="zh-CN" altLang="en-US" b="0" u="none">
                  <a:latin typeface="宋体" panose="02010600030101010101" pitchFamily="2" charset="-122"/>
                  <a:ea typeface="宋体" panose="02010600030101010101" pitchFamily="2" charset="-122"/>
                  <a:cs typeface="宋体" panose="02010600030101010101" pitchFamily="2" charset="-122"/>
                </a:rPr>
                <a:t>专业代号＝</a:t>
              </a:r>
              <a:r>
                <a:rPr lang="en-US" altLang="zh-CN" b="0" u="none">
                  <a:latin typeface="黑体" panose="02010609060101010101" pitchFamily="49" charset="-122"/>
                  <a:ea typeface="黑体" panose="02010609060101010101" pitchFamily="49" charset="-122"/>
                  <a:cs typeface="黑体" panose="02010609060101010101" pitchFamily="49" charset="-122"/>
                </a:rPr>
                <a:t>[</a:t>
              </a:r>
              <a:r>
                <a:rPr lang="en-US" altLang="zh-CN" b="0" u="none">
                  <a:latin typeface="宋体" panose="02010600030101010101" pitchFamily="2" charset="-122"/>
                  <a:ea typeface="宋体" panose="02010600030101010101" pitchFamily="2" charset="-122"/>
                  <a:cs typeface="宋体" panose="02010600030101010101" pitchFamily="2" charset="-122"/>
                </a:rPr>
                <a:t>1</a:t>
              </a:r>
              <a:r>
                <a:rPr lang="zh-CN" altLang="en-US" b="0" u="none">
                  <a:latin typeface="宋体" panose="02010600030101010101" pitchFamily="2" charset="-122"/>
                  <a:ea typeface="宋体" panose="02010600030101010101" pitchFamily="2" charset="-122"/>
                  <a:cs typeface="宋体" panose="02010600030101010101" pitchFamily="2" charset="-122"/>
                </a:rPr>
                <a:t>＝法律 </a:t>
              </a:r>
              <a:r>
                <a:rPr lang="en-US" altLang="zh-CN" b="0" u="none">
                  <a:latin typeface="宋体" panose="02010600030101010101" pitchFamily="2" charset="-122"/>
                  <a:ea typeface="宋体" panose="02010600030101010101" pitchFamily="2" charset="-122"/>
                  <a:cs typeface="宋体" panose="02010600030101010101" pitchFamily="2" charset="-122"/>
                </a:rPr>
                <a:t>| 2</a:t>
              </a:r>
              <a:r>
                <a:rPr lang="zh-CN" altLang="en-US" b="0" u="none">
                  <a:latin typeface="宋体" panose="02010600030101010101" pitchFamily="2" charset="-122"/>
                  <a:ea typeface="宋体" panose="02010600030101010101" pitchFamily="2" charset="-122"/>
                  <a:cs typeface="宋体" panose="02010600030101010101" pitchFamily="2" charset="-122"/>
                </a:rPr>
                <a:t>＝行政 </a:t>
              </a:r>
              <a:r>
                <a:rPr lang="en-US" altLang="zh-CN" b="0" u="none">
                  <a:latin typeface="宋体" panose="02010600030101010101" pitchFamily="2" charset="-122"/>
                  <a:ea typeface="宋体" panose="02010600030101010101" pitchFamily="2" charset="-122"/>
                  <a:cs typeface="宋体" panose="02010600030101010101" pitchFamily="2" charset="-122"/>
                </a:rPr>
                <a:t>| 3</a:t>
              </a:r>
              <a:r>
                <a:rPr lang="zh-CN" altLang="en-US" b="0" u="none">
                  <a:latin typeface="宋体" panose="02010600030101010101" pitchFamily="2" charset="-122"/>
                  <a:ea typeface="宋体" panose="02010600030101010101" pitchFamily="2" charset="-122"/>
                  <a:cs typeface="宋体" panose="02010600030101010101" pitchFamily="2" charset="-122"/>
                </a:rPr>
                <a:t>＝财经</a:t>
              </a:r>
              <a:r>
                <a:rPr lang="en-US" altLang="zh-CN" b="0" u="none">
                  <a:latin typeface="黑体" panose="02010609060101010101" pitchFamily="49" charset="-122"/>
                  <a:ea typeface="黑体" panose="02010609060101010101" pitchFamily="49" charset="-122"/>
                  <a:cs typeface="黑体" panose="02010609060101010101" pitchFamily="49" charset="-122"/>
                </a:rPr>
                <a:t>]</a:t>
              </a:r>
              <a:endParaRPr lang="en-US" altLang="zh-CN" b="0" u="none">
                <a:latin typeface="宋体" panose="02010600030101010101" pitchFamily="2" charset="-122"/>
                <a:ea typeface="宋体" panose="02010600030101010101" pitchFamily="2" charset="-122"/>
                <a:cs typeface="宋体" panose="02010600030101010101" pitchFamily="2" charset="-122"/>
              </a:endParaRPr>
            </a:p>
            <a:p>
              <a:pPr marL="0" indent="0" algn="l" fontAlgn="auto"/>
              <a:r>
                <a:rPr lang="zh-CN" altLang="en-US" b="0" u="none">
                  <a:latin typeface="宋体" panose="02010600030101010101" pitchFamily="2" charset="-122"/>
                  <a:ea typeface="宋体" panose="02010600030101010101" pitchFamily="2" charset="-122"/>
                  <a:cs typeface="宋体" panose="02010600030101010101" pitchFamily="2" charset="-122"/>
                </a:rPr>
                <a:t>考生＝准考证号＋姓名＋性别＋出生年月＋地址＋</a:t>
              </a:r>
              <a:r>
                <a:rPr lang="en-US" altLang="zh-CN" b="0" u="none">
                  <a:latin typeface="宋体" panose="02010600030101010101" pitchFamily="2" charset="-122"/>
                  <a:ea typeface="宋体" panose="02010600030101010101" pitchFamily="2" charset="-122"/>
                  <a:cs typeface="宋体" panose="02010600030101010101" pitchFamily="2" charset="-122"/>
                </a:rPr>
                <a:t>1{</a:t>
              </a:r>
              <a:r>
                <a:rPr lang="zh-CN" altLang="en-US" b="0" u="none">
                  <a:latin typeface="宋体" panose="02010600030101010101" pitchFamily="2" charset="-122"/>
                  <a:ea typeface="宋体" panose="02010600030101010101" pitchFamily="2" charset="-122"/>
                  <a:cs typeface="宋体" panose="02010600030101010101" pitchFamily="2" charset="-122"/>
                </a:rPr>
                <a:t>课程名＋成绩</a:t>
              </a:r>
              <a:r>
                <a:rPr lang="en-US" altLang="zh-CN" b="0" u="none">
                  <a:latin typeface="Times New Roman" panose="02020603050405020304" charset="0"/>
                  <a:ea typeface="Times New Roman" panose="02020603050405020304" charset="0"/>
                  <a:cs typeface="Times New Roman" panose="02020603050405020304" charset="0"/>
                </a:rPr>
                <a:t>}3</a:t>
              </a:r>
              <a:r>
                <a:rPr lang="zh-CN" altLang="en-US" b="0" u="none">
                  <a:latin typeface="宋体" panose="02010600030101010101" pitchFamily="2" charset="-122"/>
                  <a:ea typeface="宋体" panose="02010600030101010101" pitchFamily="2" charset="-122"/>
                  <a:cs typeface="宋体" panose="02010600030101010101" pitchFamily="2" charset="-122"/>
                </a:rPr>
                <a:t>＋总分＋名次＋专业代号＋录用否＋录用单位</a:t>
              </a:r>
            </a:p>
            <a:p>
              <a:r>
                <a:rPr lang="zh-CN" altLang="en-US" b="0" u="none">
                  <a:latin typeface="宋体" panose="02010600030101010101" pitchFamily="2" charset="-122"/>
                  <a:ea typeface="宋体" panose="02010600030101010101" pitchFamily="2" charset="-122"/>
                  <a:cs typeface="宋体" panose="02010600030101010101" pitchFamily="2" charset="-122"/>
                </a:rPr>
                <a:t>考生文件分两种：一种按准考证号次序排列，另一种按考生成绩总分由高到低排列。</a:t>
              </a:r>
            </a:p>
            <a:p>
              <a:r>
                <a:rPr lang="zh-CN" altLang="en-US" b="0" u="none">
                  <a:latin typeface="宋体" panose="02010600030101010101" pitchFamily="2" charset="-122"/>
                  <a:ea typeface="宋体" panose="02010600030101010101" pitchFamily="2" charset="-122"/>
                  <a:cs typeface="宋体" panose="02010600030101010101" pitchFamily="2" charset="-122"/>
                </a:rPr>
                <a:t>考生成绩单＝准考证号＋姓名＋专业＋</a:t>
              </a:r>
              <a:r>
                <a:rPr lang="en-US" altLang="zh-CN" b="0" u="none">
                  <a:latin typeface="宋体" panose="02010600030101010101" pitchFamily="2" charset="-122"/>
                  <a:ea typeface="宋体" panose="02010600030101010101" pitchFamily="2" charset="-122"/>
                  <a:cs typeface="宋体" panose="02010600030101010101" pitchFamily="2" charset="-122"/>
                </a:rPr>
                <a:t>1{</a:t>
              </a:r>
              <a:r>
                <a:rPr lang="zh-CN" altLang="en-US" b="0" u="none">
                  <a:latin typeface="宋体" panose="02010600030101010101" pitchFamily="2" charset="-122"/>
                  <a:ea typeface="宋体" panose="02010600030101010101" pitchFamily="2" charset="-122"/>
                  <a:cs typeface="宋体" panose="02010600030101010101" pitchFamily="2" charset="-122"/>
                </a:rPr>
                <a:t>课程名＋成绩</a:t>
              </a:r>
              <a:r>
                <a:rPr lang="en-US" altLang="zh-CN" b="0" u="none">
                  <a:latin typeface="Times New Roman" panose="02020603050405020304" charset="0"/>
                  <a:ea typeface="Times New Roman" panose="02020603050405020304" charset="0"/>
                  <a:cs typeface="Times New Roman" panose="02020603050405020304" charset="0"/>
                </a:rPr>
                <a:t>}3</a:t>
              </a:r>
              <a:r>
                <a:rPr lang="zh-CN" altLang="en-US" b="0" u="none">
                  <a:latin typeface="宋体" panose="02010600030101010101" pitchFamily="2" charset="-122"/>
                  <a:ea typeface="宋体" panose="02010600030101010101" pitchFamily="2" charset="-122"/>
                  <a:cs typeface="宋体" panose="02010600030101010101" pitchFamily="2" charset="-122"/>
                </a:rPr>
                <a:t>＋总分</a:t>
              </a:r>
            </a:p>
            <a:p>
              <a:r>
                <a:rPr lang="zh-CN" altLang="en-US" b="0" u="none">
                  <a:latin typeface="宋体" panose="02010600030101010101" pitchFamily="2" charset="-122"/>
                  <a:ea typeface="宋体" panose="02010600030101010101" pitchFamily="2" charset="-122"/>
                  <a:cs typeface="宋体" panose="02010600030101010101" pitchFamily="2" charset="-122"/>
                </a:rPr>
                <a:t>录用通知书＝准考证号＋专业＋姓名＋录用单位</a:t>
              </a:r>
            </a:p>
            <a:p>
              <a:endParaRPr lang="zh-CN" altLang="en-US" sz="1600"/>
            </a:p>
          </p:txBody>
        </p:sp>
        <p:sp>
          <p:nvSpPr>
            <p:cNvPr id="2" name="文本框 1"/>
            <p:cNvSpPr txBox="1"/>
            <p:nvPr/>
          </p:nvSpPr>
          <p:spPr>
            <a:xfrm>
              <a:off x="10728" y="4499"/>
              <a:ext cx="6424" cy="4464"/>
            </a:xfrm>
            <a:prstGeom prst="rect">
              <a:avLst/>
            </a:prstGeom>
            <a:noFill/>
          </p:spPr>
          <p:txBody>
            <a:bodyPr wrap="square" rtlCol="0" anchor="t">
              <a:spAutoFit/>
            </a:bodyPr>
            <a:lstStyle/>
            <a:p>
              <a:pPr marL="0" indent="0" algn="l" fontAlgn="auto"/>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）处理算法。</a:t>
              </a:r>
              <a:endParaRPr lang="zh-CN" altLang="en-US">
                <a:solidFill>
                  <a:srgbClr val="7F00E4"/>
                </a:solidFill>
                <a:latin typeface="Wingdings" panose="05000000000000000000" charset="0"/>
                <a:ea typeface="Wingdings" panose="05000000000000000000" charset="0"/>
                <a:cs typeface="Wingdings" panose="05000000000000000000" charset="0"/>
                <a:sym typeface="+mn-ea"/>
              </a:endParaRPr>
            </a:p>
            <a:p>
              <a:pPr marL="0" indent="0" algn="l" fontAlgn="auto"/>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三个专业的考生分别按总分由高到低的次序排序，输出成绩单，供录用参考。</a:t>
              </a:r>
              <a:endParaRPr lang="zh-CN" altLang="en-US">
                <a:solidFill>
                  <a:srgbClr val="7F00E4"/>
                </a:solidFill>
                <a:latin typeface="Wingdings" panose="05000000000000000000" charset="0"/>
                <a:ea typeface="Wingdings" panose="05000000000000000000" charset="0"/>
                <a:cs typeface="Wingdings" panose="05000000000000000000" charset="0"/>
                <a:sym typeface="+mn-ea"/>
              </a:endParaRPr>
            </a:p>
            <a:p>
              <a:pPr marL="0" indent="0" algn="l" fontAlgn="auto"/>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按照准考证号的顺序将考生成绩单打印出来，一份给招聘委员会留底，另一份发给考生。</a:t>
              </a:r>
              <a:endParaRPr lang="zh-CN" altLang="en-US">
                <a:solidFill>
                  <a:srgbClr val="7F00E4"/>
                </a:solidFill>
                <a:latin typeface="Wingdings" panose="05000000000000000000" charset="0"/>
                <a:ea typeface="Wingdings" panose="05000000000000000000" charset="0"/>
                <a:cs typeface="Wingdings" panose="05000000000000000000" charset="0"/>
                <a:sym typeface="+mn-ea"/>
              </a:endParaRPr>
            </a:p>
            <a:p>
              <a:pPr marL="0" indent="0" algn="l" fontAlgn="auto"/>
              <a:r>
                <a:rPr lang="en-US" altLang="zh-CN">
                  <a:solidFill>
                    <a:srgbClr val="7F00E4"/>
                  </a:solidFill>
                  <a:latin typeface="Wingdings" panose="05000000000000000000" charset="0"/>
                  <a:ea typeface="Wingdings" panose="05000000000000000000" charset="0"/>
                  <a:cs typeface="Wingdings" panose="05000000000000000000" charset="0"/>
                  <a:sym typeface="+mn-ea"/>
                </a:rPr>
                <a:t>Ø </a:t>
              </a:r>
              <a:r>
                <a:rPr lang="zh-CN" altLang="en-US">
                  <a:latin typeface="宋体" panose="02010600030101010101" pitchFamily="2" charset="-122"/>
                  <a:ea typeface="宋体" panose="02010600030101010101" pitchFamily="2" charset="-122"/>
                  <a:cs typeface="宋体" panose="02010600030101010101" pitchFamily="2" charset="-122"/>
                  <a:sym typeface="+mn-ea"/>
                </a:rPr>
                <a:t>录用原则：各专业按考生成绩总分从高到低的次序录用，总分相同时专业课成绩高的优先录用。</a:t>
              </a:r>
              <a:endParaRPr lang="zh-CN" altLang="en-US"/>
            </a:p>
          </p:txBody>
        </p:sp>
      </p:gr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3" name="灯片编号占位符 2"/>
          <p:cNvSpPr>
            <a:spLocks noGrp="1"/>
          </p:cNvSpPr>
          <p:nvPr>
            <p:ph type="sldNum" sz="quarter" idx="12"/>
          </p:nvPr>
        </p:nvSpPr>
        <p:spPr/>
        <p:txBody>
          <a:bodyPr/>
          <a:lstStyle/>
          <a:p>
            <a:fld id="{EF906490-237C-474C-BA2E-D98840BC1F8F}" type="slidenum">
              <a:rPr lang="zh-CN" altLang="en-US" smtClean="0"/>
              <a:pPr/>
              <a:t>62</a:t>
            </a:fld>
            <a:endParaRPr lang="zh-CN" altLang="en-US"/>
          </a:p>
        </p:txBody>
      </p:sp>
      <p:sp>
        <p:nvSpPr>
          <p:cNvPr id="17" name="文本框 39"/>
          <p:cNvSpPr txBox="1"/>
          <p:nvPr/>
        </p:nvSpPr>
        <p:spPr>
          <a:xfrm>
            <a:off x="6163310" y="256385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软件计划阶段文档</a:t>
            </a:r>
          </a:p>
        </p:txBody>
      </p:sp>
      <p:sp>
        <p:nvSpPr>
          <p:cNvPr id="18" name="文本框 47"/>
          <p:cNvSpPr txBox="1"/>
          <p:nvPr/>
        </p:nvSpPr>
        <p:spPr>
          <a:xfrm>
            <a:off x="6163310" y="3453130"/>
            <a:ext cx="4603750"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软件计划阶段文档的编写步骤</a:t>
            </a:r>
          </a:p>
        </p:txBody>
      </p:sp>
      <p:sp>
        <p:nvSpPr>
          <p:cNvPr id="19" name="文本框 49"/>
          <p:cNvSpPr txBox="1"/>
          <p:nvPr/>
        </p:nvSpPr>
        <p:spPr>
          <a:xfrm>
            <a:off x="6163310" y="3948430"/>
            <a:ext cx="321881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软件计划实例</a:t>
            </a:r>
          </a:p>
        </p:txBody>
      </p:sp>
      <p:grpSp>
        <p:nvGrpSpPr>
          <p:cNvPr id="25" name="组合 2"/>
          <p:cNvGrpSpPr/>
          <p:nvPr/>
        </p:nvGrpSpPr>
        <p:grpSpPr>
          <a:xfrm>
            <a:off x="3428449" y="2152106"/>
            <a:ext cx="2362200" cy="2362200"/>
            <a:chOff x="977900" y="2247899"/>
            <a:chExt cx="2362200" cy="2362200"/>
          </a:xfrm>
        </p:grpSpPr>
        <p:sp>
          <p:nvSpPr>
            <p:cNvPr id="26" name="椭圆 25"/>
            <p:cNvSpPr/>
            <p:nvPr/>
          </p:nvSpPr>
          <p:spPr>
            <a:xfrm>
              <a:off x="977900" y="2247899"/>
              <a:ext cx="2362200" cy="2362200"/>
            </a:xfrm>
            <a:prstGeom prst="ellipse">
              <a:avLst/>
            </a:prstGeom>
            <a:solidFill>
              <a:schemeClr val="bg1"/>
            </a:solidFill>
            <a:ln>
              <a:solidFill>
                <a:srgbClr val="EF41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05</a:t>
              </a:r>
            </a:p>
          </p:txBody>
        </p:sp>
      </p:grpSp>
    </p:spTree>
  </p:cSld>
  <p:clrMapOvr>
    <a:masterClrMapping/>
  </p:clrMapOvr>
  <p:transition spd="slow">
    <p:wip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5.1 </a:t>
            </a:r>
            <a:r>
              <a:rPr lang="zh-CN" altLang="en-US">
                <a:solidFill>
                  <a:srgbClr val="FF0000"/>
                </a:solidFill>
                <a:sym typeface="+mn-ea"/>
              </a:rPr>
              <a:t>软件计划阶段文档的编写步骤</a:t>
            </a:r>
          </a:p>
        </p:txBody>
      </p:sp>
      <p:grpSp>
        <p:nvGrpSpPr>
          <p:cNvPr id="9" name="组合 8"/>
          <p:cNvGrpSpPr/>
          <p:nvPr/>
        </p:nvGrpSpPr>
        <p:grpSpPr>
          <a:xfrm>
            <a:off x="5080" y="1469390"/>
            <a:ext cx="12181840" cy="4175760"/>
            <a:chOff x="-4" y="3250"/>
            <a:chExt cx="19184" cy="6576"/>
          </a:xfrm>
        </p:grpSpPr>
        <p:sp>
          <p:nvSpPr>
            <p:cNvPr id="21" name="矩形 20"/>
            <p:cNvSpPr/>
            <p:nvPr/>
          </p:nvSpPr>
          <p:spPr>
            <a:xfrm>
              <a:off x="-4" y="3525"/>
              <a:ext cx="19184" cy="5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 name="组合 1"/>
            <p:cNvGrpSpPr/>
            <p:nvPr/>
          </p:nvGrpSpPr>
          <p:grpSpPr>
            <a:xfrm>
              <a:off x="1353" y="3284"/>
              <a:ext cx="3667" cy="6542"/>
              <a:chOff x="768995" y="2060848"/>
              <a:chExt cx="1944216" cy="4154085"/>
            </a:xfrm>
          </p:grpSpPr>
          <p:sp>
            <p:nvSpPr>
              <p:cNvPr id="22" name="五边形 21"/>
              <p:cNvSpPr/>
              <p:nvPr/>
            </p:nvSpPr>
            <p:spPr>
              <a:xfrm>
                <a:off x="768995" y="2060848"/>
                <a:ext cx="1944216" cy="648072"/>
              </a:xfrm>
              <a:prstGeom prst="homePlate">
                <a:avLst/>
              </a:prstGeom>
              <a:gradFill flip="none" rotWithShape="1">
                <a:gsLst>
                  <a:gs pos="7000">
                    <a:srgbClr val="8F155B"/>
                  </a:gs>
                  <a:gs pos="19000">
                    <a:srgbClr val="AA3C6E"/>
                  </a:gs>
                  <a:gs pos="91000">
                    <a:srgbClr val="FD8BD4"/>
                  </a:gs>
                  <a:gs pos="61000">
                    <a:srgbClr val="FB25AF"/>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804999" y="3140967"/>
                <a:ext cx="1872208" cy="307396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4" name="组合 23"/>
              <p:cNvGrpSpPr/>
              <p:nvPr/>
            </p:nvGrpSpPr>
            <p:grpSpPr>
              <a:xfrm>
                <a:off x="1536522" y="2723128"/>
                <a:ext cx="409163" cy="738055"/>
                <a:chOff x="1596797" y="2291080"/>
                <a:chExt cx="409163" cy="738055"/>
              </a:xfrm>
            </p:grpSpPr>
            <p:sp>
              <p:nvSpPr>
                <p:cNvPr id="25" name="矩形 24"/>
                <p:cNvSpPr/>
                <p:nvPr/>
              </p:nvSpPr>
              <p:spPr>
                <a:xfrm>
                  <a:off x="1756373"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6" name="组合 25"/>
                <p:cNvGrpSpPr/>
                <p:nvPr/>
              </p:nvGrpSpPr>
              <p:grpSpPr>
                <a:xfrm>
                  <a:off x="1596797" y="2619972"/>
                  <a:ext cx="409163" cy="409163"/>
                  <a:chOff x="1596797" y="2619972"/>
                  <a:chExt cx="409163" cy="409163"/>
                </a:xfrm>
              </p:grpSpPr>
              <p:sp>
                <p:nvSpPr>
                  <p:cNvPr id="27" name="椭圆 26"/>
                  <p:cNvSpPr/>
                  <p:nvPr/>
                </p:nvSpPr>
                <p:spPr>
                  <a:xfrm>
                    <a:off x="1596797"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31" name="组合 30"/>
                  <p:cNvGrpSpPr/>
                  <p:nvPr/>
                </p:nvGrpSpPr>
                <p:grpSpPr>
                  <a:xfrm rot="1267204">
                    <a:off x="1650858" y="2671937"/>
                    <a:ext cx="301040" cy="301040"/>
                    <a:chOff x="3518404" y="1580443"/>
                    <a:chExt cx="1276350" cy="1276350"/>
                  </a:xfrm>
                </p:grpSpPr>
                <p:sp>
                  <p:nvSpPr>
                    <p:cNvPr id="32" name="椭圆 31"/>
                    <p:cNvSpPr/>
                    <p:nvPr/>
                  </p:nvSpPr>
                  <p:spPr bwMode="auto">
                    <a:xfrm>
                      <a:off x="3518404" y="1580443"/>
                      <a:ext cx="1276350" cy="1276350"/>
                    </a:xfrm>
                    <a:prstGeom prst="ellipse">
                      <a:avLst/>
                    </a:prstGeom>
                    <a:gradFill flip="none" rotWithShape="1">
                      <a:gsLst>
                        <a:gs pos="0">
                          <a:srgbClr val="F08CE2"/>
                        </a:gs>
                        <a:gs pos="47000">
                          <a:srgbClr val="E85ECE"/>
                        </a:gs>
                        <a:gs pos="82000">
                          <a:srgbClr val="A21673"/>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椭圆 46"/>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椭圆 47"/>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49" name="Text Box 39"/>
              <p:cNvSpPr txBox="1">
                <a:spLocks noChangeArrowheads="1"/>
              </p:cNvSpPr>
              <p:nvPr/>
            </p:nvSpPr>
            <p:spPr bwMode="auto">
              <a:xfrm>
                <a:off x="804999" y="3536473"/>
                <a:ext cx="1872208" cy="749268"/>
              </a:xfrm>
              <a:prstGeom prst="rect">
                <a:avLst/>
              </a:prstGeom>
              <a:noFill/>
              <a:ln w="9525">
                <a:noFill/>
                <a:miter lim="800000"/>
              </a:ln>
            </p:spPr>
            <p:txBody>
              <a:bodyPr wrap="square">
                <a:spAutoFit/>
              </a:bodyPr>
              <a:lstStyle/>
              <a:p>
                <a:pPr algn="ctr">
                  <a:lnSpc>
                    <a:spcPct val="120000"/>
                  </a:lnSpc>
                  <a:defRPr/>
                </a:pPr>
                <a:r>
                  <a:rPr lang="zh-CN" altLang="en-US" b="1" dirty="0">
                    <a:solidFill>
                      <a:srgbClr val="A21673"/>
                    </a:solidFill>
                    <a:latin typeface="微软雅黑" panose="020B0503020204020204" charset="-122"/>
                    <a:ea typeface="微软雅黑" panose="020B0503020204020204" charset="-122"/>
                  </a:rPr>
                  <a:t>编写软件问题</a:t>
                </a:r>
              </a:p>
              <a:p>
                <a:pPr algn="ctr">
                  <a:lnSpc>
                    <a:spcPct val="120000"/>
                  </a:lnSpc>
                  <a:defRPr/>
                </a:pPr>
                <a:r>
                  <a:rPr lang="zh-CN" altLang="en-US" b="1" dirty="0">
                    <a:solidFill>
                      <a:srgbClr val="A21673"/>
                    </a:solidFill>
                    <a:latin typeface="微软雅黑" panose="020B0503020204020204" charset="-122"/>
                    <a:ea typeface="微软雅黑" panose="020B0503020204020204" charset="-122"/>
                  </a:rPr>
                  <a:t>定义文档。</a:t>
                </a:r>
              </a:p>
            </p:txBody>
          </p:sp>
          <p:sp>
            <p:nvSpPr>
              <p:cNvPr id="51" name="TextBox 15"/>
              <p:cNvSpPr txBox="1"/>
              <p:nvPr/>
            </p:nvSpPr>
            <p:spPr>
              <a:xfrm>
                <a:off x="1109275" y="2132856"/>
                <a:ext cx="1342908" cy="48321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步骤一</a:t>
                </a:r>
              </a:p>
            </p:txBody>
          </p:sp>
        </p:grpSp>
        <p:grpSp>
          <p:nvGrpSpPr>
            <p:cNvPr id="4" name="组合 3"/>
            <p:cNvGrpSpPr/>
            <p:nvPr/>
          </p:nvGrpSpPr>
          <p:grpSpPr>
            <a:xfrm>
              <a:off x="5475" y="3250"/>
              <a:ext cx="3667" cy="6542"/>
              <a:chOff x="3415289" y="2060848"/>
              <a:chExt cx="1944216" cy="4154085"/>
            </a:xfrm>
          </p:grpSpPr>
          <p:sp>
            <p:nvSpPr>
              <p:cNvPr id="52" name="五边形 51"/>
              <p:cNvSpPr/>
              <p:nvPr/>
            </p:nvSpPr>
            <p:spPr>
              <a:xfrm>
                <a:off x="3415289" y="2060848"/>
                <a:ext cx="1944216" cy="648072"/>
              </a:xfrm>
              <a:prstGeom prst="homePlate">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3451293" y="3140967"/>
                <a:ext cx="1872208" cy="307396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54" name="组合 53"/>
              <p:cNvGrpSpPr/>
              <p:nvPr/>
            </p:nvGrpSpPr>
            <p:grpSpPr>
              <a:xfrm>
                <a:off x="4182816" y="2723128"/>
                <a:ext cx="409163" cy="738055"/>
                <a:chOff x="4252755" y="2291080"/>
                <a:chExt cx="409163" cy="738055"/>
              </a:xfrm>
            </p:grpSpPr>
            <p:grpSp>
              <p:nvGrpSpPr>
                <p:cNvPr id="55" name="组合 54"/>
                <p:cNvGrpSpPr/>
                <p:nvPr/>
              </p:nvGrpSpPr>
              <p:grpSpPr>
                <a:xfrm>
                  <a:off x="4252755" y="2291080"/>
                  <a:ext cx="409163" cy="738055"/>
                  <a:chOff x="4252755" y="2291080"/>
                  <a:chExt cx="409163" cy="738055"/>
                </a:xfrm>
              </p:grpSpPr>
              <p:sp>
                <p:nvSpPr>
                  <p:cNvPr id="60" name="矩形 59"/>
                  <p:cNvSpPr/>
                  <p:nvPr/>
                </p:nvSpPr>
                <p:spPr>
                  <a:xfrm>
                    <a:off x="4409982"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1" name="椭圆 60"/>
                  <p:cNvSpPr/>
                  <p:nvPr/>
                </p:nvSpPr>
                <p:spPr>
                  <a:xfrm>
                    <a:off x="4252755"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56" name="组合 55"/>
                <p:cNvGrpSpPr/>
                <p:nvPr/>
              </p:nvGrpSpPr>
              <p:grpSpPr>
                <a:xfrm rot="1267204">
                  <a:off x="4309455" y="2671937"/>
                  <a:ext cx="301040" cy="301040"/>
                  <a:chOff x="3518404" y="1580443"/>
                  <a:chExt cx="1276350" cy="1276350"/>
                </a:xfrm>
              </p:grpSpPr>
              <p:sp>
                <p:nvSpPr>
                  <p:cNvPr id="57" name="椭圆 56"/>
                  <p:cNvSpPr/>
                  <p:nvPr/>
                </p:nvSpPr>
                <p:spPr bwMode="auto">
                  <a:xfrm>
                    <a:off x="3518404" y="1580443"/>
                    <a:ext cx="1276350" cy="1276350"/>
                  </a:xfrm>
                  <a:prstGeom prst="ellipse">
                    <a:avLst/>
                  </a:prstGeom>
                  <a:gradFill flip="none" rotWithShape="1">
                    <a:gsLst>
                      <a:gs pos="0">
                        <a:srgbClr val="FFC000"/>
                      </a:gs>
                      <a:gs pos="47000">
                        <a:schemeClr val="accent6"/>
                      </a:gs>
                      <a:gs pos="82000">
                        <a:schemeClr val="accent6">
                          <a:lumMod val="75000"/>
                        </a:schemeClr>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椭圆 57"/>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椭圆 58"/>
                  <p:cNvSpPr/>
                  <p:nvPr/>
                </p:nvSpPr>
                <p:spPr bwMode="auto">
                  <a:xfrm rot="912585">
                    <a:off x="3692475" y="1631589"/>
                    <a:ext cx="838059" cy="838059"/>
                  </a:xfrm>
                  <a:prstGeom prst="ellipse">
                    <a:avLst/>
                  </a:prstGeom>
                  <a:solidFill>
                    <a:schemeClr val="accent2">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62" name="Text Box 39"/>
              <p:cNvSpPr txBox="1">
                <a:spLocks noChangeArrowheads="1"/>
              </p:cNvSpPr>
              <p:nvPr/>
            </p:nvSpPr>
            <p:spPr bwMode="auto">
              <a:xfrm>
                <a:off x="3588489" y="3536473"/>
                <a:ext cx="1584176" cy="757098"/>
              </a:xfrm>
              <a:prstGeom prst="rect">
                <a:avLst/>
              </a:prstGeom>
              <a:noFill/>
              <a:ln w="9525">
                <a:noFill/>
                <a:miter lim="800000"/>
              </a:ln>
            </p:spPr>
            <p:txBody>
              <a:bodyPr wrap="square">
                <a:spAutoFit/>
              </a:bodyPr>
              <a:lstStyle/>
              <a:p>
                <a:pPr algn="ctr">
                  <a:lnSpc>
                    <a:spcPct val="120000"/>
                  </a:lnSpc>
                  <a:defRPr/>
                </a:pPr>
                <a:r>
                  <a:rPr lang="zh-CN" altLang="en-US" b="1" dirty="0">
                    <a:solidFill>
                      <a:schemeClr val="accent2">
                        <a:lumMod val="75000"/>
                      </a:schemeClr>
                    </a:solidFill>
                    <a:latin typeface="微软雅黑" panose="020B0503020204020204" charset="-122"/>
                    <a:ea typeface="微软雅黑" panose="020B0503020204020204" charset="-122"/>
                  </a:rPr>
                  <a:t>书写可行性研究</a:t>
                </a:r>
                <a:r>
                  <a:rPr lang="zh-CN" altLang="en-US" b="1" dirty="0" smtClean="0">
                    <a:solidFill>
                      <a:schemeClr val="accent2">
                        <a:lumMod val="75000"/>
                      </a:schemeClr>
                    </a:solidFill>
                    <a:latin typeface="微软雅黑" panose="020B0503020204020204" charset="-122"/>
                    <a:ea typeface="微软雅黑" panose="020B0503020204020204" charset="-122"/>
                  </a:rPr>
                  <a:t>报告。</a:t>
                </a:r>
                <a:endParaRPr lang="zh-CN" altLang="en-US" b="1" dirty="0">
                  <a:solidFill>
                    <a:schemeClr val="accent2">
                      <a:lumMod val="75000"/>
                    </a:schemeClr>
                  </a:solidFill>
                  <a:latin typeface="微软雅黑" panose="020B0503020204020204" charset="-122"/>
                  <a:ea typeface="微软雅黑" panose="020B0503020204020204" charset="-122"/>
                </a:endParaRPr>
              </a:p>
            </p:txBody>
          </p:sp>
          <p:sp>
            <p:nvSpPr>
              <p:cNvPr id="63" name="TextBox 25"/>
              <p:cNvSpPr txBox="1"/>
              <p:nvPr/>
            </p:nvSpPr>
            <p:spPr>
              <a:xfrm>
                <a:off x="3451346" y="4307383"/>
                <a:ext cx="1872289" cy="1752526"/>
              </a:xfrm>
              <a:prstGeom prst="rect">
                <a:avLst/>
              </a:prstGeom>
              <a:noFill/>
            </p:spPr>
            <p:txBody>
              <a:bodyPr wrap="square" rtlCol="0">
                <a:spAutoFit/>
              </a:bodyPr>
              <a:lstStyle/>
              <a:p>
                <a:pPr>
                  <a:lnSpc>
                    <a:spcPct val="130000"/>
                  </a:lnSpc>
                </a:pPr>
                <a:r>
                  <a:rPr lang="en-US" altLang="zh-CN" sz="1400" dirty="0">
                    <a:solidFill>
                      <a:schemeClr val="tx1">
                        <a:lumMod val="65000"/>
                        <a:lumOff val="35000"/>
                      </a:schemeClr>
                    </a:solidFill>
                    <a:latin typeface="微软雅黑" panose="020B0503020204020204" charset="-122"/>
                    <a:ea typeface="微软雅黑" panose="020B0503020204020204" charset="-122"/>
                  </a:rPr>
                  <a:t>       </a:t>
                </a:r>
                <a:r>
                  <a:rPr lang="zh-CN" altLang="en-US" sz="1400" dirty="0">
                    <a:solidFill>
                      <a:schemeClr val="tx1">
                        <a:lumMod val="75000"/>
                      </a:schemeClr>
                    </a:solidFill>
                    <a:latin typeface="微软雅黑" panose="020B0503020204020204" charset="-122"/>
                    <a:ea typeface="微软雅黑" panose="020B0503020204020204" charset="-122"/>
                  </a:rPr>
                  <a:t>软件需求说明书包含的内容有：软件需求规格说明、实体－关系图、数据流图、数据字典、状态转换图、层次图、IPO图等。</a:t>
                </a:r>
              </a:p>
            </p:txBody>
          </p:sp>
          <p:sp>
            <p:nvSpPr>
              <p:cNvPr id="64" name="TextBox 26"/>
              <p:cNvSpPr txBox="1"/>
              <p:nvPr/>
            </p:nvSpPr>
            <p:spPr>
              <a:xfrm>
                <a:off x="3715943" y="2132856"/>
                <a:ext cx="1114661" cy="483215"/>
              </a:xfrm>
              <a:prstGeom prst="rect">
                <a:avLst/>
              </a:prstGeom>
              <a:noFill/>
            </p:spPr>
            <p:txBody>
              <a:bodyPr wrap="square" rtlCol="0">
                <a:spAutoFit/>
              </a:bodyPr>
              <a:lstStyle/>
              <a:p>
                <a:pPr algn="ctr"/>
                <a:r>
                  <a:rPr lang="zh-CN" altLang="en-US" sz="2400" b="1" dirty="0">
                    <a:solidFill>
                      <a:schemeClr val="bg1"/>
                    </a:solidFill>
                    <a:latin typeface="微软雅黑" panose="020B0503020204020204" charset="-122"/>
                    <a:ea typeface="微软雅黑" panose="020B0503020204020204" charset="-122"/>
                  </a:rPr>
                  <a:t>步骤二</a:t>
                </a:r>
              </a:p>
            </p:txBody>
          </p:sp>
        </p:grpSp>
        <p:grpSp>
          <p:nvGrpSpPr>
            <p:cNvPr id="5" name="组合 4"/>
            <p:cNvGrpSpPr/>
            <p:nvPr/>
          </p:nvGrpSpPr>
          <p:grpSpPr>
            <a:xfrm>
              <a:off x="9741" y="3250"/>
              <a:ext cx="3667" cy="6542"/>
              <a:chOff x="6061583" y="2060848"/>
              <a:chExt cx="1944216" cy="4154085"/>
            </a:xfrm>
          </p:grpSpPr>
          <p:sp>
            <p:nvSpPr>
              <p:cNvPr id="65" name="五边形 64"/>
              <p:cNvSpPr/>
              <p:nvPr/>
            </p:nvSpPr>
            <p:spPr>
              <a:xfrm>
                <a:off x="6061583" y="2060848"/>
                <a:ext cx="1944216" cy="648072"/>
              </a:xfrm>
              <a:prstGeom prst="homePlate">
                <a:avLst/>
              </a:prstGeom>
              <a:gradFill flip="none" rotWithShape="1">
                <a:gsLst>
                  <a:gs pos="8000">
                    <a:srgbClr val="5F9127"/>
                  </a:gs>
                  <a:gs pos="28000">
                    <a:srgbClr val="70AC2E"/>
                  </a:gs>
                  <a:gs pos="96000">
                    <a:srgbClr val="A4DD47"/>
                  </a:gs>
                  <a:gs pos="67000">
                    <a:srgbClr val="92D050"/>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097587" y="3140967"/>
                <a:ext cx="1872208" cy="307396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67" name="组合 66"/>
              <p:cNvGrpSpPr/>
              <p:nvPr/>
            </p:nvGrpSpPr>
            <p:grpSpPr>
              <a:xfrm>
                <a:off x="6829110" y="2723128"/>
                <a:ext cx="409163" cy="738055"/>
                <a:chOff x="6899049" y="2291080"/>
                <a:chExt cx="409163" cy="738055"/>
              </a:xfrm>
            </p:grpSpPr>
            <p:sp>
              <p:nvSpPr>
                <p:cNvPr id="68" name="椭圆 67"/>
                <p:cNvSpPr/>
                <p:nvPr/>
              </p:nvSpPr>
              <p:spPr>
                <a:xfrm>
                  <a:off x="6899049"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69" name="组合 68"/>
                <p:cNvGrpSpPr/>
                <p:nvPr/>
              </p:nvGrpSpPr>
              <p:grpSpPr>
                <a:xfrm>
                  <a:off x="6953110" y="2291080"/>
                  <a:ext cx="301040" cy="681897"/>
                  <a:chOff x="6955749" y="2291080"/>
                  <a:chExt cx="301040" cy="681897"/>
                </a:xfrm>
              </p:grpSpPr>
              <p:sp>
                <p:nvSpPr>
                  <p:cNvPr id="70" name="矩形 69"/>
                  <p:cNvSpPr/>
                  <p:nvPr/>
                </p:nvSpPr>
                <p:spPr>
                  <a:xfrm>
                    <a:off x="7056276"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71" name="组合 70"/>
                  <p:cNvGrpSpPr/>
                  <p:nvPr/>
                </p:nvGrpSpPr>
                <p:grpSpPr>
                  <a:xfrm rot="1267204">
                    <a:off x="6955749" y="2671937"/>
                    <a:ext cx="301040" cy="301040"/>
                    <a:chOff x="3518404" y="1580443"/>
                    <a:chExt cx="1276350" cy="1276350"/>
                  </a:xfrm>
                </p:grpSpPr>
                <p:sp>
                  <p:nvSpPr>
                    <p:cNvPr id="72" name="椭圆 71"/>
                    <p:cNvSpPr/>
                    <p:nvPr/>
                  </p:nvSpPr>
                  <p:spPr bwMode="auto">
                    <a:xfrm>
                      <a:off x="3518404" y="1580443"/>
                      <a:ext cx="1276350" cy="1276350"/>
                    </a:xfrm>
                    <a:prstGeom prst="ellipse">
                      <a:avLst/>
                    </a:prstGeom>
                    <a:gradFill flip="none" rotWithShape="1">
                      <a:gsLst>
                        <a:gs pos="0">
                          <a:srgbClr val="A4DD47"/>
                        </a:gs>
                        <a:gs pos="47000">
                          <a:srgbClr val="729B15"/>
                        </a:gs>
                        <a:gs pos="82000">
                          <a:srgbClr val="4C680E"/>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3" name="椭圆 72"/>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 name="椭圆 73"/>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75" name="Text Box 39"/>
              <p:cNvSpPr txBox="1">
                <a:spLocks noChangeArrowheads="1"/>
              </p:cNvSpPr>
              <p:nvPr/>
            </p:nvSpPr>
            <p:spPr bwMode="auto">
              <a:xfrm>
                <a:off x="6178317" y="3536473"/>
                <a:ext cx="1697108" cy="749268"/>
              </a:xfrm>
              <a:prstGeom prst="rect">
                <a:avLst/>
              </a:prstGeom>
              <a:noFill/>
              <a:ln w="9525">
                <a:noFill/>
                <a:miter lim="800000"/>
              </a:ln>
            </p:spPr>
            <p:txBody>
              <a:bodyPr wrap="square">
                <a:spAutoFit/>
              </a:bodyPr>
              <a:lstStyle/>
              <a:p>
                <a:pPr algn="ctr">
                  <a:lnSpc>
                    <a:spcPct val="120000"/>
                  </a:lnSpc>
                  <a:defRPr/>
                </a:pPr>
                <a:r>
                  <a:rPr lang="zh-CN" altLang="en-US" b="1" dirty="0">
                    <a:solidFill>
                      <a:schemeClr val="accent3">
                        <a:lumMod val="75000"/>
                      </a:schemeClr>
                    </a:solidFill>
                    <a:latin typeface="微软雅黑" panose="020B0503020204020204" charset="-122"/>
                    <a:ea typeface="微软雅黑" panose="020B0503020204020204" charset="-122"/>
                  </a:rPr>
                  <a:t>编写软件</a:t>
                </a:r>
                <a:r>
                  <a:rPr lang="zh-CN" altLang="en-US" b="1" dirty="0" smtClean="0">
                    <a:solidFill>
                      <a:schemeClr val="accent3">
                        <a:lumMod val="75000"/>
                      </a:schemeClr>
                    </a:solidFill>
                    <a:latin typeface="微软雅黑" panose="020B0503020204020204" charset="-122"/>
                    <a:ea typeface="微软雅黑" panose="020B0503020204020204" charset="-122"/>
                  </a:rPr>
                  <a:t>需求</a:t>
                </a:r>
                <a:endParaRPr lang="en-US" altLang="zh-CN" b="1" dirty="0" smtClean="0">
                  <a:solidFill>
                    <a:schemeClr val="accent3">
                      <a:lumMod val="75000"/>
                    </a:schemeClr>
                  </a:solidFill>
                  <a:latin typeface="微软雅黑" panose="020B0503020204020204" charset="-122"/>
                  <a:ea typeface="微软雅黑" panose="020B0503020204020204" charset="-122"/>
                </a:endParaRPr>
              </a:p>
              <a:p>
                <a:pPr algn="ctr">
                  <a:lnSpc>
                    <a:spcPct val="120000"/>
                  </a:lnSpc>
                  <a:defRPr/>
                </a:pPr>
                <a:r>
                  <a:rPr lang="zh-CN" altLang="en-US" b="1" dirty="0" smtClean="0">
                    <a:solidFill>
                      <a:schemeClr val="accent3">
                        <a:lumMod val="75000"/>
                      </a:schemeClr>
                    </a:solidFill>
                    <a:latin typeface="微软雅黑" panose="020B0503020204020204" charset="-122"/>
                    <a:ea typeface="微软雅黑" panose="020B0503020204020204" charset="-122"/>
                  </a:rPr>
                  <a:t>说明书</a:t>
                </a:r>
                <a:endParaRPr lang="zh-CN" altLang="en-US" b="1" dirty="0">
                  <a:solidFill>
                    <a:schemeClr val="accent3">
                      <a:lumMod val="75000"/>
                    </a:schemeClr>
                  </a:solidFill>
                  <a:latin typeface="微软雅黑" panose="020B0503020204020204" charset="-122"/>
                  <a:ea typeface="微软雅黑" panose="020B0503020204020204" charset="-122"/>
                </a:endParaRPr>
              </a:p>
            </p:txBody>
          </p:sp>
          <p:sp>
            <p:nvSpPr>
              <p:cNvPr id="76" name="TextBox 36"/>
              <p:cNvSpPr txBox="1"/>
              <p:nvPr/>
            </p:nvSpPr>
            <p:spPr>
              <a:xfrm>
                <a:off x="6111335" y="4307100"/>
                <a:ext cx="1845205" cy="1752526"/>
              </a:xfrm>
              <a:prstGeom prst="rect">
                <a:avLst/>
              </a:prstGeom>
              <a:noFill/>
            </p:spPr>
            <p:txBody>
              <a:bodyPr wrap="square" rtlCol="0">
                <a:spAutoFit/>
              </a:bodyPr>
              <a:lstStyle/>
              <a:p>
                <a:pPr>
                  <a:lnSpc>
                    <a:spcPct val="130000"/>
                  </a:lnSpc>
                </a:pPr>
                <a:r>
                  <a:rPr lang="en-US" altLang="zh-CN" sz="1400" dirty="0">
                    <a:solidFill>
                      <a:schemeClr val="tx1">
                        <a:lumMod val="65000"/>
                        <a:lumOff val="35000"/>
                      </a:schemeClr>
                    </a:solidFill>
                    <a:latin typeface="微软雅黑" panose="020B0503020204020204" charset="-122"/>
                    <a:ea typeface="微软雅黑" panose="020B0503020204020204" charset="-122"/>
                  </a:rPr>
                  <a:t>       </a:t>
                </a:r>
                <a:r>
                  <a:rPr lang="zh-CN" altLang="en-US" sz="1400" dirty="0">
                    <a:solidFill>
                      <a:schemeClr val="tx1">
                        <a:lumMod val="75000"/>
                      </a:schemeClr>
                    </a:solidFill>
                    <a:latin typeface="微软雅黑" panose="020B0503020204020204" charset="-122"/>
                    <a:ea typeface="微软雅黑" panose="020B0503020204020204" charset="-122"/>
                  </a:rPr>
                  <a:t>在需求分析阶段，对系统有了更进一步的了解，因而能更加准确地估计软件开发成本和对资源的要求；对进度计划可以作适当的修正。</a:t>
                </a:r>
              </a:p>
            </p:txBody>
          </p:sp>
          <p:sp>
            <p:nvSpPr>
              <p:cNvPr id="77" name="TextBox 37"/>
              <p:cNvSpPr txBox="1"/>
              <p:nvPr/>
            </p:nvSpPr>
            <p:spPr>
              <a:xfrm>
                <a:off x="6362237" y="2132856"/>
                <a:ext cx="1114661" cy="483215"/>
              </a:xfrm>
              <a:prstGeom prst="rect">
                <a:avLst/>
              </a:prstGeom>
              <a:noFill/>
            </p:spPr>
            <p:txBody>
              <a:bodyPr wrap="square" rtlCol="0">
                <a:spAutoFit/>
              </a:bodyPr>
              <a:lstStyle/>
              <a:p>
                <a:pPr algn="ctr"/>
                <a:r>
                  <a:rPr lang="zh-CN" altLang="en-US" sz="2400" b="1" dirty="0">
                    <a:solidFill>
                      <a:schemeClr val="bg1"/>
                    </a:solidFill>
                    <a:latin typeface="微软雅黑" panose="020B0503020204020204" charset="-122"/>
                    <a:ea typeface="微软雅黑" panose="020B0503020204020204" charset="-122"/>
                  </a:rPr>
                  <a:t>步骤三</a:t>
                </a:r>
              </a:p>
            </p:txBody>
          </p:sp>
        </p:grpSp>
        <p:grpSp>
          <p:nvGrpSpPr>
            <p:cNvPr id="6" name="组合 5"/>
            <p:cNvGrpSpPr/>
            <p:nvPr/>
          </p:nvGrpSpPr>
          <p:grpSpPr>
            <a:xfrm>
              <a:off x="13798" y="3267"/>
              <a:ext cx="3667" cy="6542"/>
              <a:chOff x="8159095" y="2060848"/>
              <a:chExt cx="1944216" cy="4154085"/>
            </a:xfrm>
          </p:grpSpPr>
          <p:sp>
            <p:nvSpPr>
              <p:cNvPr id="78" name="五边形 77"/>
              <p:cNvSpPr/>
              <p:nvPr/>
            </p:nvSpPr>
            <p:spPr>
              <a:xfrm>
                <a:off x="8159095" y="2060848"/>
                <a:ext cx="1944216" cy="648072"/>
              </a:xfrm>
              <a:prstGeom prst="homePlate">
                <a:avLst/>
              </a:prstGeom>
              <a:gradFill flip="none" rotWithShape="1">
                <a:gsLst>
                  <a:gs pos="7000">
                    <a:srgbClr val="8F155B"/>
                  </a:gs>
                  <a:gs pos="19000">
                    <a:srgbClr val="AA3C6E"/>
                  </a:gs>
                  <a:gs pos="91000">
                    <a:srgbClr val="FD8BD4"/>
                  </a:gs>
                  <a:gs pos="61000">
                    <a:srgbClr val="FB25AF"/>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圆角矩形 78"/>
              <p:cNvSpPr/>
              <p:nvPr/>
            </p:nvSpPr>
            <p:spPr>
              <a:xfrm>
                <a:off x="8195099" y="3140967"/>
                <a:ext cx="1872208" cy="307396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94" name="组合 93"/>
              <p:cNvGrpSpPr/>
              <p:nvPr/>
            </p:nvGrpSpPr>
            <p:grpSpPr>
              <a:xfrm>
                <a:off x="8926622" y="2723128"/>
                <a:ext cx="409163" cy="738055"/>
                <a:chOff x="1596797" y="2291080"/>
                <a:chExt cx="409163" cy="738055"/>
              </a:xfrm>
            </p:grpSpPr>
            <p:sp>
              <p:nvSpPr>
                <p:cNvPr id="95" name="矩形 94"/>
                <p:cNvSpPr/>
                <p:nvPr/>
              </p:nvSpPr>
              <p:spPr>
                <a:xfrm>
                  <a:off x="1756373"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96" name="组合 95"/>
                <p:cNvGrpSpPr/>
                <p:nvPr/>
              </p:nvGrpSpPr>
              <p:grpSpPr>
                <a:xfrm>
                  <a:off x="1596797" y="2619972"/>
                  <a:ext cx="409163" cy="409163"/>
                  <a:chOff x="1596797" y="2619972"/>
                  <a:chExt cx="409163" cy="409163"/>
                </a:xfrm>
              </p:grpSpPr>
              <p:sp>
                <p:nvSpPr>
                  <p:cNvPr id="97" name="椭圆 96"/>
                  <p:cNvSpPr/>
                  <p:nvPr/>
                </p:nvSpPr>
                <p:spPr>
                  <a:xfrm>
                    <a:off x="1596797"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98" name="组合 97"/>
                  <p:cNvGrpSpPr/>
                  <p:nvPr/>
                </p:nvGrpSpPr>
                <p:grpSpPr>
                  <a:xfrm rot="1267204">
                    <a:off x="1650858" y="2671937"/>
                    <a:ext cx="301040" cy="301040"/>
                    <a:chOff x="3518404" y="1580443"/>
                    <a:chExt cx="1276350" cy="1276350"/>
                  </a:xfrm>
                </p:grpSpPr>
                <p:sp>
                  <p:nvSpPr>
                    <p:cNvPr id="99" name="椭圆 98"/>
                    <p:cNvSpPr/>
                    <p:nvPr/>
                  </p:nvSpPr>
                  <p:spPr bwMode="auto">
                    <a:xfrm>
                      <a:off x="3518404" y="1580443"/>
                      <a:ext cx="1276350" cy="1276350"/>
                    </a:xfrm>
                    <a:prstGeom prst="ellipse">
                      <a:avLst/>
                    </a:prstGeom>
                    <a:gradFill flip="none" rotWithShape="1">
                      <a:gsLst>
                        <a:gs pos="0">
                          <a:srgbClr val="F08CE2"/>
                        </a:gs>
                        <a:gs pos="47000">
                          <a:srgbClr val="E85ECE"/>
                        </a:gs>
                        <a:gs pos="82000">
                          <a:srgbClr val="A21673"/>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0" name="椭圆 99"/>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1" name="椭圆 100"/>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102" name="Text Box 39"/>
              <p:cNvSpPr txBox="1">
                <a:spLocks noChangeArrowheads="1"/>
              </p:cNvSpPr>
              <p:nvPr/>
            </p:nvSpPr>
            <p:spPr bwMode="auto">
              <a:xfrm>
                <a:off x="8345937" y="3536473"/>
                <a:ext cx="1496346" cy="757098"/>
              </a:xfrm>
              <a:prstGeom prst="rect">
                <a:avLst/>
              </a:prstGeom>
              <a:noFill/>
              <a:ln w="9525">
                <a:noFill/>
                <a:miter lim="800000"/>
              </a:ln>
            </p:spPr>
            <p:txBody>
              <a:bodyPr wrap="square">
                <a:spAutoFit/>
              </a:bodyPr>
              <a:lstStyle/>
              <a:p>
                <a:pPr algn="ctr">
                  <a:lnSpc>
                    <a:spcPct val="120000"/>
                  </a:lnSpc>
                  <a:defRPr/>
                </a:pPr>
                <a:r>
                  <a:rPr lang="zh-CN" altLang="en-US" b="1" dirty="0">
                    <a:solidFill>
                      <a:srgbClr val="A21673"/>
                    </a:solidFill>
                    <a:latin typeface="微软雅黑" panose="020B0503020204020204" charset="-122"/>
                    <a:ea typeface="微软雅黑" panose="020B0503020204020204" charset="-122"/>
                  </a:rPr>
                  <a:t>修改、完善项目开发</a:t>
                </a:r>
                <a:r>
                  <a:rPr lang="zh-CN" altLang="en-US" b="1" dirty="0" smtClean="0">
                    <a:solidFill>
                      <a:srgbClr val="A21673"/>
                    </a:solidFill>
                    <a:latin typeface="微软雅黑" panose="020B0503020204020204" charset="-122"/>
                    <a:ea typeface="微软雅黑" panose="020B0503020204020204" charset="-122"/>
                  </a:rPr>
                  <a:t>计划</a:t>
                </a:r>
                <a:endParaRPr lang="zh-CN" altLang="en-US" b="1" dirty="0">
                  <a:solidFill>
                    <a:srgbClr val="A21673"/>
                  </a:solidFill>
                  <a:latin typeface="微软雅黑" panose="020B0503020204020204" charset="-122"/>
                  <a:ea typeface="微软雅黑" panose="020B0503020204020204" charset="-122"/>
                </a:endParaRPr>
              </a:p>
            </p:txBody>
          </p:sp>
          <p:sp>
            <p:nvSpPr>
              <p:cNvPr id="103" name="TextBox 14"/>
              <p:cNvSpPr txBox="1"/>
              <p:nvPr/>
            </p:nvSpPr>
            <p:spPr>
              <a:xfrm>
                <a:off x="8198623" y="4464519"/>
                <a:ext cx="1881209" cy="368284"/>
              </a:xfrm>
              <a:prstGeom prst="rect">
                <a:avLst/>
              </a:prstGeom>
              <a:noFill/>
            </p:spPr>
            <p:txBody>
              <a:bodyPr wrap="square" rtlCol="0">
                <a:spAutoFit/>
              </a:bodyPr>
              <a:lstStyle/>
              <a:p>
                <a:pPr>
                  <a:lnSpc>
                    <a:spcPct val="130000"/>
                  </a:lnSpc>
                </a:pPr>
                <a:endParaRPr lang="en-US" altLang="zh-CN" sz="1400" dirty="0">
                  <a:solidFill>
                    <a:schemeClr val="tx1">
                      <a:lumMod val="65000"/>
                      <a:lumOff val="35000"/>
                    </a:schemeClr>
                  </a:solidFill>
                  <a:latin typeface="微软雅黑" panose="020B0503020204020204" charset="-122"/>
                  <a:ea typeface="微软雅黑" panose="020B0503020204020204" charset="-122"/>
                </a:endParaRPr>
              </a:p>
            </p:txBody>
          </p:sp>
          <p:sp>
            <p:nvSpPr>
              <p:cNvPr id="104" name="TextBox 15"/>
              <p:cNvSpPr txBox="1"/>
              <p:nvPr/>
            </p:nvSpPr>
            <p:spPr>
              <a:xfrm>
                <a:off x="8499375" y="2132856"/>
                <a:ext cx="1342908" cy="48321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步骤四</a:t>
                </a:r>
              </a:p>
            </p:txBody>
          </p:sp>
        </p:grpSp>
      </p:gr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5.1 </a:t>
            </a:r>
            <a:r>
              <a:rPr lang="zh-CN" altLang="en-US">
                <a:solidFill>
                  <a:srgbClr val="FF0000"/>
                </a:solidFill>
                <a:sym typeface="+mn-ea"/>
              </a:rPr>
              <a:t>软件计划阶段文档的编写步骤</a:t>
            </a:r>
          </a:p>
        </p:txBody>
      </p:sp>
      <p:grpSp>
        <p:nvGrpSpPr>
          <p:cNvPr id="7" name="组合 6"/>
          <p:cNvGrpSpPr/>
          <p:nvPr/>
        </p:nvGrpSpPr>
        <p:grpSpPr>
          <a:xfrm>
            <a:off x="-24765" y="1421765"/>
            <a:ext cx="12242165" cy="2636520"/>
            <a:chOff x="-231" y="2263"/>
            <a:chExt cx="19279" cy="4152"/>
          </a:xfrm>
        </p:grpSpPr>
        <p:sp>
          <p:nvSpPr>
            <p:cNvPr id="21" name="矩形 20"/>
            <p:cNvSpPr/>
            <p:nvPr/>
          </p:nvSpPr>
          <p:spPr>
            <a:xfrm>
              <a:off x="-231" y="2589"/>
              <a:ext cx="19279" cy="5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 name="组合 1"/>
            <p:cNvGrpSpPr/>
            <p:nvPr/>
          </p:nvGrpSpPr>
          <p:grpSpPr>
            <a:xfrm>
              <a:off x="1346" y="2280"/>
              <a:ext cx="3671" cy="3781"/>
              <a:chOff x="768995" y="2060848"/>
              <a:chExt cx="1944216" cy="2400944"/>
            </a:xfrm>
          </p:grpSpPr>
          <p:sp>
            <p:nvSpPr>
              <p:cNvPr id="22" name="五边形 21"/>
              <p:cNvSpPr/>
              <p:nvPr/>
            </p:nvSpPr>
            <p:spPr>
              <a:xfrm>
                <a:off x="768995" y="2060848"/>
                <a:ext cx="1944216" cy="648072"/>
              </a:xfrm>
              <a:prstGeom prst="homePlate">
                <a:avLst/>
              </a:prstGeom>
              <a:gradFill flip="none" rotWithShape="1">
                <a:gsLst>
                  <a:gs pos="7000">
                    <a:srgbClr val="8F155B"/>
                  </a:gs>
                  <a:gs pos="19000">
                    <a:srgbClr val="AA3C6E"/>
                  </a:gs>
                  <a:gs pos="91000">
                    <a:srgbClr val="FD8BD4"/>
                  </a:gs>
                  <a:gs pos="61000">
                    <a:srgbClr val="FB25AF"/>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805009" y="3140937"/>
                <a:ext cx="1872188" cy="132085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4" name="组合 23"/>
              <p:cNvGrpSpPr/>
              <p:nvPr/>
            </p:nvGrpSpPr>
            <p:grpSpPr>
              <a:xfrm>
                <a:off x="1536522" y="2723128"/>
                <a:ext cx="409163" cy="738055"/>
                <a:chOff x="1596797" y="2291080"/>
                <a:chExt cx="409163" cy="738055"/>
              </a:xfrm>
            </p:grpSpPr>
            <p:sp>
              <p:nvSpPr>
                <p:cNvPr id="25" name="矩形 24"/>
                <p:cNvSpPr/>
                <p:nvPr/>
              </p:nvSpPr>
              <p:spPr>
                <a:xfrm>
                  <a:off x="1756373"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26" name="组合 25"/>
                <p:cNvGrpSpPr/>
                <p:nvPr/>
              </p:nvGrpSpPr>
              <p:grpSpPr>
                <a:xfrm>
                  <a:off x="1596797" y="2619972"/>
                  <a:ext cx="409163" cy="409163"/>
                  <a:chOff x="1596797" y="2619972"/>
                  <a:chExt cx="409163" cy="409163"/>
                </a:xfrm>
              </p:grpSpPr>
              <p:sp>
                <p:nvSpPr>
                  <p:cNvPr id="27" name="椭圆 26"/>
                  <p:cNvSpPr/>
                  <p:nvPr/>
                </p:nvSpPr>
                <p:spPr>
                  <a:xfrm>
                    <a:off x="1596797"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31" name="组合 30"/>
                  <p:cNvGrpSpPr/>
                  <p:nvPr/>
                </p:nvGrpSpPr>
                <p:grpSpPr>
                  <a:xfrm rot="1267204">
                    <a:off x="1650858" y="2671937"/>
                    <a:ext cx="301040" cy="301040"/>
                    <a:chOff x="3518404" y="1580443"/>
                    <a:chExt cx="1276350" cy="1276350"/>
                  </a:xfrm>
                </p:grpSpPr>
                <p:sp>
                  <p:nvSpPr>
                    <p:cNvPr id="32" name="椭圆 31"/>
                    <p:cNvSpPr/>
                    <p:nvPr/>
                  </p:nvSpPr>
                  <p:spPr bwMode="auto">
                    <a:xfrm>
                      <a:off x="3518404" y="1580443"/>
                      <a:ext cx="1276350" cy="1276350"/>
                    </a:xfrm>
                    <a:prstGeom prst="ellipse">
                      <a:avLst/>
                    </a:prstGeom>
                    <a:gradFill flip="none" rotWithShape="1">
                      <a:gsLst>
                        <a:gs pos="0">
                          <a:srgbClr val="F08CE2"/>
                        </a:gs>
                        <a:gs pos="47000">
                          <a:srgbClr val="E85ECE"/>
                        </a:gs>
                        <a:gs pos="82000">
                          <a:srgbClr val="A21673"/>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椭圆 46"/>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椭圆 47"/>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49" name="Text Box 39"/>
              <p:cNvSpPr txBox="1">
                <a:spLocks noChangeArrowheads="1"/>
              </p:cNvSpPr>
              <p:nvPr/>
            </p:nvSpPr>
            <p:spPr bwMode="auto">
              <a:xfrm>
                <a:off x="804999" y="3536473"/>
                <a:ext cx="1872208" cy="749268"/>
              </a:xfrm>
              <a:prstGeom prst="rect">
                <a:avLst/>
              </a:prstGeom>
              <a:noFill/>
              <a:ln w="9525">
                <a:noFill/>
                <a:miter lim="800000"/>
              </a:ln>
            </p:spPr>
            <p:txBody>
              <a:bodyPr wrap="square">
                <a:spAutoFit/>
              </a:bodyPr>
              <a:lstStyle/>
              <a:p>
                <a:pPr algn="ctr">
                  <a:lnSpc>
                    <a:spcPct val="120000"/>
                  </a:lnSpc>
                  <a:defRPr/>
                </a:pPr>
                <a:r>
                  <a:rPr lang="zh-CN" altLang="en-US" b="1" dirty="0">
                    <a:solidFill>
                      <a:srgbClr val="A21673"/>
                    </a:solidFill>
                    <a:latin typeface="微软雅黑" panose="020B0503020204020204" charset="-122"/>
                    <a:ea typeface="微软雅黑" panose="020B0503020204020204" charset="-122"/>
                  </a:rPr>
                  <a:t>制订初步的系统</a:t>
                </a:r>
              </a:p>
              <a:p>
                <a:pPr algn="ctr">
                  <a:lnSpc>
                    <a:spcPct val="120000"/>
                  </a:lnSpc>
                  <a:defRPr/>
                </a:pPr>
                <a:r>
                  <a:rPr lang="zh-CN" altLang="en-US" b="1" dirty="0">
                    <a:solidFill>
                      <a:srgbClr val="A21673"/>
                    </a:solidFill>
                    <a:latin typeface="微软雅黑" panose="020B0503020204020204" charset="-122"/>
                    <a:ea typeface="微软雅黑" panose="020B0503020204020204" charset="-122"/>
                  </a:rPr>
                  <a:t>测试计划</a:t>
                </a:r>
              </a:p>
            </p:txBody>
          </p:sp>
          <p:sp>
            <p:nvSpPr>
              <p:cNvPr id="51" name="TextBox 15"/>
              <p:cNvSpPr txBox="1"/>
              <p:nvPr/>
            </p:nvSpPr>
            <p:spPr>
              <a:xfrm>
                <a:off x="1109275" y="2132856"/>
                <a:ext cx="1342908" cy="483215"/>
              </a:xfrm>
              <a:prstGeom prst="rect">
                <a:avLst/>
              </a:prstGeom>
              <a:noFill/>
            </p:spPr>
            <p:txBody>
              <a:bodyPr wrap="square" rtlCol="0">
                <a:spAutoFit/>
              </a:bodyPr>
              <a:lstStyle/>
              <a:p>
                <a:r>
                  <a:rPr lang="zh-CN" altLang="en-US" sz="2400" b="1" dirty="0">
                    <a:solidFill>
                      <a:schemeClr val="bg1"/>
                    </a:solidFill>
                    <a:latin typeface="微软雅黑" panose="020B0503020204020204" charset="-122"/>
                    <a:ea typeface="微软雅黑" panose="020B0503020204020204" charset="-122"/>
                  </a:rPr>
                  <a:t>步骤五</a:t>
                </a:r>
                <a:endParaRPr lang="en-US" altLang="zh-CN" sz="2400" b="1" dirty="0">
                  <a:solidFill>
                    <a:schemeClr val="bg1"/>
                  </a:solidFill>
                  <a:latin typeface="微软雅黑" panose="020B0503020204020204" charset="-122"/>
                  <a:ea typeface="微软雅黑" panose="020B0503020204020204" charset="-122"/>
                </a:endParaRPr>
              </a:p>
            </p:txBody>
          </p:sp>
        </p:grpSp>
        <p:grpSp>
          <p:nvGrpSpPr>
            <p:cNvPr id="4" name="组合 3"/>
            <p:cNvGrpSpPr/>
            <p:nvPr/>
          </p:nvGrpSpPr>
          <p:grpSpPr>
            <a:xfrm>
              <a:off x="7205" y="2263"/>
              <a:ext cx="3739" cy="4118"/>
              <a:chOff x="3415289" y="2060848"/>
              <a:chExt cx="1979928" cy="2615019"/>
            </a:xfrm>
          </p:grpSpPr>
          <p:sp>
            <p:nvSpPr>
              <p:cNvPr id="52" name="五边形 51"/>
              <p:cNvSpPr/>
              <p:nvPr/>
            </p:nvSpPr>
            <p:spPr>
              <a:xfrm>
                <a:off x="3415289" y="2060848"/>
                <a:ext cx="1944216" cy="648072"/>
              </a:xfrm>
              <a:prstGeom prst="homePlat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3451297" y="3140937"/>
                <a:ext cx="1872433" cy="132787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54" name="组合 53"/>
              <p:cNvGrpSpPr/>
              <p:nvPr/>
            </p:nvGrpSpPr>
            <p:grpSpPr>
              <a:xfrm>
                <a:off x="4182816" y="2723128"/>
                <a:ext cx="409163" cy="738055"/>
                <a:chOff x="4252755" y="2291080"/>
                <a:chExt cx="409163" cy="738055"/>
              </a:xfrm>
            </p:grpSpPr>
            <p:grpSp>
              <p:nvGrpSpPr>
                <p:cNvPr id="55" name="组合 54"/>
                <p:cNvGrpSpPr/>
                <p:nvPr/>
              </p:nvGrpSpPr>
              <p:grpSpPr>
                <a:xfrm>
                  <a:off x="4252755" y="2291080"/>
                  <a:ext cx="409163" cy="738055"/>
                  <a:chOff x="4252755" y="2291080"/>
                  <a:chExt cx="409163" cy="738055"/>
                </a:xfrm>
              </p:grpSpPr>
              <p:sp>
                <p:nvSpPr>
                  <p:cNvPr id="60" name="矩形 59"/>
                  <p:cNvSpPr/>
                  <p:nvPr/>
                </p:nvSpPr>
                <p:spPr>
                  <a:xfrm>
                    <a:off x="4409982"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1" name="椭圆 60"/>
                  <p:cNvSpPr/>
                  <p:nvPr/>
                </p:nvSpPr>
                <p:spPr>
                  <a:xfrm>
                    <a:off x="4252755"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56" name="组合 55"/>
                <p:cNvGrpSpPr/>
                <p:nvPr/>
              </p:nvGrpSpPr>
              <p:grpSpPr>
                <a:xfrm rot="1267204">
                  <a:off x="4309455" y="2671937"/>
                  <a:ext cx="301040" cy="301040"/>
                  <a:chOff x="3518404" y="1580443"/>
                  <a:chExt cx="1276350" cy="1276350"/>
                </a:xfrm>
              </p:grpSpPr>
              <p:sp>
                <p:nvSpPr>
                  <p:cNvPr id="57" name="椭圆 56"/>
                  <p:cNvSpPr/>
                  <p:nvPr/>
                </p:nvSpPr>
                <p:spPr bwMode="auto">
                  <a:xfrm>
                    <a:off x="3518404" y="1580443"/>
                    <a:ext cx="1276350" cy="1276350"/>
                  </a:xfrm>
                  <a:prstGeom prst="ellipse">
                    <a:avLst/>
                  </a:prstGeom>
                  <a:gradFill flip="none" rotWithShape="1">
                    <a:gsLst>
                      <a:gs pos="0">
                        <a:srgbClr val="FFC000"/>
                      </a:gs>
                      <a:gs pos="47000">
                        <a:schemeClr val="accent6"/>
                      </a:gs>
                      <a:gs pos="82000">
                        <a:schemeClr val="accent6">
                          <a:lumMod val="75000"/>
                        </a:schemeClr>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椭圆 57"/>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椭圆 58"/>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62" name="Text Box 39"/>
              <p:cNvSpPr txBox="1">
                <a:spLocks noChangeArrowheads="1"/>
              </p:cNvSpPr>
              <p:nvPr/>
            </p:nvSpPr>
            <p:spPr bwMode="auto">
              <a:xfrm>
                <a:off x="3588489" y="3536473"/>
                <a:ext cx="1584176" cy="749268"/>
              </a:xfrm>
              <a:prstGeom prst="rect">
                <a:avLst/>
              </a:prstGeom>
              <a:noFill/>
              <a:ln w="9525">
                <a:noFill/>
                <a:miter lim="800000"/>
              </a:ln>
            </p:spPr>
            <p:txBody>
              <a:bodyPr wrap="square">
                <a:spAutoFit/>
              </a:bodyPr>
              <a:lstStyle/>
              <a:p>
                <a:pPr algn="ctr">
                  <a:lnSpc>
                    <a:spcPct val="120000"/>
                  </a:lnSpc>
                  <a:defRPr/>
                </a:pPr>
                <a:r>
                  <a:rPr lang="zh-CN" altLang="en-US" b="1" dirty="0">
                    <a:solidFill>
                      <a:srgbClr val="92D050"/>
                    </a:solidFill>
                    <a:latin typeface="微软雅黑" panose="020B0503020204020204" charset="-122"/>
                    <a:ea typeface="微软雅黑" panose="020B0503020204020204" charset="-122"/>
                  </a:rPr>
                  <a:t>编写初步的用户手册</a:t>
                </a:r>
              </a:p>
            </p:txBody>
          </p:sp>
          <p:sp>
            <p:nvSpPr>
              <p:cNvPr id="63" name="TextBox 25"/>
              <p:cNvSpPr txBox="1"/>
              <p:nvPr/>
            </p:nvSpPr>
            <p:spPr>
              <a:xfrm>
                <a:off x="3451280" y="4307583"/>
                <a:ext cx="1943937" cy="368284"/>
              </a:xfrm>
              <a:prstGeom prst="rect">
                <a:avLst/>
              </a:prstGeom>
              <a:noFill/>
            </p:spPr>
            <p:txBody>
              <a:bodyPr wrap="square" rtlCol="0">
                <a:spAutoFit/>
              </a:bodyPr>
              <a:lstStyle/>
              <a:p>
                <a:pPr>
                  <a:lnSpc>
                    <a:spcPct val="130000"/>
                  </a:lnSpc>
                </a:pPr>
                <a:endParaRPr lang="zh-CN" altLang="en-US" sz="1400" dirty="0">
                  <a:solidFill>
                    <a:schemeClr val="tx1">
                      <a:lumMod val="65000"/>
                      <a:lumOff val="35000"/>
                    </a:schemeClr>
                  </a:solidFill>
                  <a:latin typeface="微软雅黑" panose="020B0503020204020204" charset="-122"/>
                  <a:ea typeface="微软雅黑" panose="020B0503020204020204" charset="-122"/>
                </a:endParaRPr>
              </a:p>
            </p:txBody>
          </p:sp>
          <p:sp>
            <p:nvSpPr>
              <p:cNvPr id="64" name="TextBox 26"/>
              <p:cNvSpPr txBox="1"/>
              <p:nvPr/>
            </p:nvSpPr>
            <p:spPr>
              <a:xfrm>
                <a:off x="3715943" y="2132856"/>
                <a:ext cx="1114661" cy="483215"/>
              </a:xfrm>
              <a:prstGeom prst="rect">
                <a:avLst/>
              </a:prstGeom>
              <a:noFill/>
            </p:spPr>
            <p:txBody>
              <a:bodyPr wrap="square" rtlCol="0">
                <a:spAutoFit/>
              </a:bodyPr>
              <a:lstStyle/>
              <a:p>
                <a:pPr algn="ctr"/>
                <a:r>
                  <a:rPr lang="zh-CN" altLang="en-US" sz="2400" b="1" dirty="0">
                    <a:solidFill>
                      <a:schemeClr val="bg1"/>
                    </a:solidFill>
                    <a:latin typeface="微软雅黑" panose="020B0503020204020204" charset="-122"/>
                    <a:ea typeface="微软雅黑" panose="020B0503020204020204" charset="-122"/>
                  </a:rPr>
                  <a:t>步骤六</a:t>
                </a:r>
              </a:p>
            </p:txBody>
          </p:sp>
        </p:grpSp>
        <p:grpSp>
          <p:nvGrpSpPr>
            <p:cNvPr id="5" name="组合 4"/>
            <p:cNvGrpSpPr/>
            <p:nvPr/>
          </p:nvGrpSpPr>
          <p:grpSpPr>
            <a:xfrm>
              <a:off x="13557" y="2297"/>
              <a:ext cx="3671" cy="4118"/>
              <a:chOff x="6061583" y="2060848"/>
              <a:chExt cx="1944216" cy="2614536"/>
            </a:xfrm>
          </p:grpSpPr>
          <p:sp>
            <p:nvSpPr>
              <p:cNvPr id="65" name="五边形 64"/>
              <p:cNvSpPr/>
              <p:nvPr/>
            </p:nvSpPr>
            <p:spPr>
              <a:xfrm>
                <a:off x="6061583" y="2060848"/>
                <a:ext cx="1944216" cy="648072"/>
              </a:xfrm>
              <a:prstGeom prst="homePlate">
                <a:avLst/>
              </a:prstGeom>
              <a:gradFill flip="none" rotWithShape="1">
                <a:gsLst>
                  <a:gs pos="8000">
                    <a:srgbClr val="5F9127"/>
                  </a:gs>
                  <a:gs pos="28000">
                    <a:srgbClr val="70AC2E"/>
                  </a:gs>
                  <a:gs pos="96000">
                    <a:srgbClr val="A4DD47"/>
                  </a:gs>
                  <a:gs pos="67000">
                    <a:srgbClr val="92D050"/>
                  </a:gs>
                </a:gsLst>
                <a:lin ang="16200000" scaled="1"/>
                <a:tileRect/>
              </a:gradFill>
              <a:ln w="28575">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097597" y="3140937"/>
                <a:ext cx="1872188" cy="1264686"/>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67" name="组合 66"/>
              <p:cNvGrpSpPr/>
              <p:nvPr/>
            </p:nvGrpSpPr>
            <p:grpSpPr>
              <a:xfrm>
                <a:off x="6829110" y="2723128"/>
                <a:ext cx="409163" cy="738055"/>
                <a:chOff x="6899049" y="2291080"/>
                <a:chExt cx="409163" cy="738055"/>
              </a:xfrm>
            </p:grpSpPr>
            <p:sp>
              <p:nvSpPr>
                <p:cNvPr id="68" name="椭圆 67"/>
                <p:cNvSpPr/>
                <p:nvPr/>
              </p:nvSpPr>
              <p:spPr>
                <a:xfrm>
                  <a:off x="6899049" y="2619972"/>
                  <a:ext cx="409163" cy="40916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69" name="组合 68"/>
                <p:cNvGrpSpPr/>
                <p:nvPr/>
              </p:nvGrpSpPr>
              <p:grpSpPr>
                <a:xfrm>
                  <a:off x="6953110" y="2291080"/>
                  <a:ext cx="301040" cy="681897"/>
                  <a:chOff x="6955749" y="2291080"/>
                  <a:chExt cx="301040" cy="681897"/>
                </a:xfrm>
              </p:grpSpPr>
              <p:sp>
                <p:nvSpPr>
                  <p:cNvPr id="70" name="矩形 69"/>
                  <p:cNvSpPr/>
                  <p:nvPr/>
                </p:nvSpPr>
                <p:spPr>
                  <a:xfrm>
                    <a:off x="7056276" y="2291080"/>
                    <a:ext cx="90010" cy="417839"/>
                  </a:xfrm>
                  <a:prstGeom prst="rect">
                    <a:avLst/>
                  </a:prstGeom>
                  <a:gradFill flip="none" rotWithShape="1">
                    <a:gsLst>
                      <a:gs pos="49000">
                        <a:schemeClr val="bg1">
                          <a:lumMod val="85000"/>
                        </a:schemeClr>
                      </a:gs>
                      <a:gs pos="9000">
                        <a:schemeClr val="bg1">
                          <a:lumMod val="50000"/>
                        </a:schemeClr>
                      </a:gs>
                      <a:gs pos="98000">
                        <a:schemeClr val="tx1">
                          <a:lumMod val="85000"/>
                          <a:lumOff val="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nvGrpSpPr>
                  <p:cNvPr id="71" name="组合 70"/>
                  <p:cNvGrpSpPr/>
                  <p:nvPr/>
                </p:nvGrpSpPr>
                <p:grpSpPr>
                  <a:xfrm rot="1267204">
                    <a:off x="6955749" y="2671937"/>
                    <a:ext cx="301040" cy="301040"/>
                    <a:chOff x="3518404" y="1580443"/>
                    <a:chExt cx="1276350" cy="1276350"/>
                  </a:xfrm>
                </p:grpSpPr>
                <p:sp>
                  <p:nvSpPr>
                    <p:cNvPr id="72" name="椭圆 71"/>
                    <p:cNvSpPr/>
                    <p:nvPr/>
                  </p:nvSpPr>
                  <p:spPr bwMode="auto">
                    <a:xfrm>
                      <a:off x="3518404" y="1580443"/>
                      <a:ext cx="1276350" cy="1276350"/>
                    </a:xfrm>
                    <a:prstGeom prst="ellipse">
                      <a:avLst/>
                    </a:prstGeom>
                    <a:gradFill flip="none" rotWithShape="1">
                      <a:gsLst>
                        <a:gs pos="0">
                          <a:srgbClr val="A4DD47"/>
                        </a:gs>
                        <a:gs pos="47000">
                          <a:srgbClr val="729B15"/>
                        </a:gs>
                        <a:gs pos="82000">
                          <a:srgbClr val="4C680E"/>
                        </a:gs>
                      </a:gsLst>
                      <a:path path="circle">
                        <a:fillToRect r="100000" b="100000"/>
                      </a:path>
                      <a:tileRect l="-100000" t="-100000"/>
                    </a:gradFill>
                    <a:ln w="6350">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3" name="椭圆 72"/>
                    <p:cNvSpPr/>
                    <p:nvPr/>
                  </p:nvSpPr>
                  <p:spPr bwMode="auto">
                    <a:xfrm rot="20122633">
                      <a:off x="3974016" y="2569456"/>
                      <a:ext cx="774700" cy="266700"/>
                    </a:xfrm>
                    <a:prstGeom prst="ellipse">
                      <a:avLst/>
                    </a:prstGeom>
                    <a:gradFill flip="none" rotWithShape="1">
                      <a:gsLst>
                        <a:gs pos="0">
                          <a:schemeClr val="bg1">
                            <a:alpha val="55000"/>
                          </a:schemeClr>
                        </a:gs>
                        <a:gs pos="50000">
                          <a:schemeClr val="bg1">
                            <a:shade val="67500"/>
                            <a:satMod val="115000"/>
                            <a:alpha val="12000"/>
                          </a:schemeClr>
                        </a:gs>
                        <a:gs pos="100000">
                          <a:schemeClr val="bg1">
                            <a:shade val="100000"/>
                            <a:satMod val="115000"/>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 name="椭圆 73"/>
                    <p:cNvSpPr/>
                    <p:nvPr/>
                  </p:nvSpPr>
                  <p:spPr bwMode="auto">
                    <a:xfrm rot="912585">
                      <a:off x="3692475" y="1631589"/>
                      <a:ext cx="838059" cy="838059"/>
                    </a:xfrm>
                    <a:prstGeom prst="ellipse">
                      <a:avLst/>
                    </a:prstGeom>
                    <a:gradFill flip="none" rotWithShape="1">
                      <a:gsLst>
                        <a:gs pos="0">
                          <a:schemeClr val="bg1">
                            <a:alpha val="0"/>
                          </a:schemeClr>
                        </a:gs>
                        <a:gs pos="16000">
                          <a:schemeClr val="bg1">
                            <a:alpha val="51000"/>
                          </a:schemeClr>
                        </a:gs>
                        <a:gs pos="30000">
                          <a:schemeClr val="bg1">
                            <a:alpha val="0"/>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75" name="Text Box 39"/>
              <p:cNvSpPr txBox="1">
                <a:spLocks noChangeArrowheads="1"/>
              </p:cNvSpPr>
              <p:nvPr/>
            </p:nvSpPr>
            <p:spPr bwMode="auto">
              <a:xfrm>
                <a:off x="6178317" y="3536473"/>
                <a:ext cx="1697108" cy="749268"/>
              </a:xfrm>
              <a:prstGeom prst="rect">
                <a:avLst/>
              </a:prstGeom>
              <a:noFill/>
              <a:ln w="9525">
                <a:noFill/>
                <a:miter lim="800000"/>
              </a:ln>
            </p:spPr>
            <p:txBody>
              <a:bodyPr wrap="square">
                <a:spAutoFit/>
              </a:bodyPr>
              <a:lstStyle/>
              <a:p>
                <a:pPr algn="ctr">
                  <a:lnSpc>
                    <a:spcPct val="120000"/>
                  </a:lnSpc>
                  <a:defRPr/>
                </a:pPr>
                <a:r>
                  <a:rPr lang="zh-CN" altLang="en-US" b="1" dirty="0">
                    <a:solidFill>
                      <a:schemeClr val="accent3">
                        <a:lumMod val="75000"/>
                      </a:schemeClr>
                    </a:solidFill>
                    <a:latin typeface="微软雅黑" panose="020B0503020204020204" charset="-122"/>
                    <a:ea typeface="微软雅黑" panose="020B0503020204020204" charset="-122"/>
                  </a:rPr>
                  <a:t>编写数据要求</a:t>
                </a:r>
              </a:p>
              <a:p>
                <a:pPr algn="ctr">
                  <a:lnSpc>
                    <a:spcPct val="120000"/>
                  </a:lnSpc>
                  <a:defRPr/>
                </a:pPr>
                <a:r>
                  <a:rPr lang="zh-CN" altLang="en-US" b="1" dirty="0">
                    <a:solidFill>
                      <a:schemeClr val="accent3">
                        <a:lumMod val="75000"/>
                      </a:schemeClr>
                    </a:solidFill>
                    <a:latin typeface="微软雅黑" panose="020B0503020204020204" charset="-122"/>
                    <a:ea typeface="微软雅黑" panose="020B0503020204020204" charset="-122"/>
                  </a:rPr>
                  <a:t>说明书</a:t>
                </a:r>
              </a:p>
            </p:txBody>
          </p:sp>
          <p:sp>
            <p:nvSpPr>
              <p:cNvPr id="76" name="TextBox 36"/>
              <p:cNvSpPr txBox="1"/>
              <p:nvPr/>
            </p:nvSpPr>
            <p:spPr>
              <a:xfrm>
                <a:off x="6111335" y="4307100"/>
                <a:ext cx="1845205" cy="368284"/>
              </a:xfrm>
              <a:prstGeom prst="rect">
                <a:avLst/>
              </a:prstGeom>
              <a:noFill/>
            </p:spPr>
            <p:txBody>
              <a:bodyPr wrap="square" rtlCol="0">
                <a:spAutoFit/>
              </a:bodyPr>
              <a:lstStyle/>
              <a:p>
                <a:pPr>
                  <a:lnSpc>
                    <a:spcPct val="130000"/>
                  </a:lnSpc>
                </a:pPr>
                <a:r>
                  <a:rPr lang="en-US" altLang="zh-CN" sz="1400" dirty="0">
                    <a:solidFill>
                      <a:schemeClr val="tx1">
                        <a:lumMod val="65000"/>
                        <a:lumOff val="35000"/>
                      </a:schemeClr>
                    </a:solidFill>
                    <a:latin typeface="微软雅黑" panose="020B0503020204020204" charset="-122"/>
                    <a:ea typeface="微软雅黑" panose="020B0503020204020204" charset="-122"/>
                  </a:rPr>
                  <a:t>   </a:t>
                </a:r>
                <a:endParaRPr lang="zh-CN" altLang="en-US" sz="1400" dirty="0">
                  <a:solidFill>
                    <a:schemeClr val="tx1">
                      <a:lumMod val="65000"/>
                      <a:lumOff val="35000"/>
                    </a:schemeClr>
                  </a:solidFill>
                  <a:latin typeface="微软雅黑" panose="020B0503020204020204" charset="-122"/>
                  <a:ea typeface="微软雅黑" panose="020B0503020204020204" charset="-122"/>
                </a:endParaRPr>
              </a:p>
            </p:txBody>
          </p:sp>
          <p:sp>
            <p:nvSpPr>
              <p:cNvPr id="77" name="TextBox 37"/>
              <p:cNvSpPr txBox="1"/>
              <p:nvPr/>
            </p:nvSpPr>
            <p:spPr>
              <a:xfrm>
                <a:off x="6362237" y="2132856"/>
                <a:ext cx="1114661" cy="483215"/>
              </a:xfrm>
              <a:prstGeom prst="rect">
                <a:avLst/>
              </a:prstGeom>
              <a:noFill/>
            </p:spPr>
            <p:txBody>
              <a:bodyPr wrap="square" rtlCol="0">
                <a:spAutoFit/>
              </a:bodyPr>
              <a:lstStyle/>
              <a:p>
                <a:pPr algn="ctr"/>
                <a:r>
                  <a:rPr lang="zh-CN" altLang="en-US" sz="2400" b="1" dirty="0">
                    <a:solidFill>
                      <a:schemeClr val="bg1"/>
                    </a:solidFill>
                    <a:latin typeface="微软雅黑" panose="020B0503020204020204" charset="-122"/>
                    <a:ea typeface="微软雅黑" panose="020B0503020204020204" charset="-122"/>
                  </a:rPr>
                  <a:t>步骤七</a:t>
                </a:r>
                <a:endParaRPr lang="en-US" altLang="zh-CN" sz="2400" b="1" dirty="0">
                  <a:solidFill>
                    <a:schemeClr val="bg1"/>
                  </a:solidFill>
                  <a:latin typeface="微软雅黑" panose="020B0503020204020204" charset="-122"/>
                  <a:ea typeface="微软雅黑" panose="020B0503020204020204" charset="-122"/>
                </a:endParaRPr>
              </a:p>
            </p:txBody>
          </p:sp>
        </p:grpSp>
      </p:grpSp>
      <p:sp>
        <p:nvSpPr>
          <p:cNvPr id="8" name="文本框 7"/>
          <p:cNvSpPr txBox="1"/>
          <p:nvPr/>
        </p:nvSpPr>
        <p:spPr>
          <a:xfrm>
            <a:off x="976630" y="4243252"/>
            <a:ext cx="10417810" cy="1463040"/>
          </a:xfrm>
          <a:prstGeom prst="rect">
            <a:avLst/>
          </a:prstGeom>
          <a:noFill/>
          <a:ln w="9525">
            <a:noFill/>
          </a:ln>
        </p:spPr>
        <p:txBody>
          <a:bodyPr wrap="square">
            <a:spAutoFit/>
          </a:bodyPr>
          <a:lstStyle/>
          <a:p>
            <a:pPr marL="0" indent="0" algn="l" fontAlgn="auto"/>
            <a:r>
              <a:rPr lang="en-US" altLang="zh-CN" b="0" u="none" dirty="0">
                <a:latin typeface="宋体" panose="02010600030101010101" pitchFamily="2" charset="-122"/>
                <a:ea typeface="宋体" panose="02010600030101010101" pitchFamily="2" charset="-122"/>
                <a:cs typeface="宋体" panose="02010600030101010101" pitchFamily="2" charset="-122"/>
              </a:rPr>
              <a:t>    </a:t>
            </a:r>
            <a:r>
              <a:rPr lang="zh-CN" altLang="en-US" b="0" u="none" dirty="0">
                <a:latin typeface="宋体" panose="02010600030101010101" pitchFamily="2" charset="-122"/>
                <a:ea typeface="宋体" panose="02010600030101010101" pitchFamily="2" charset="-122"/>
                <a:cs typeface="宋体" panose="02010600030101010101" pitchFamily="2" charset="-122"/>
              </a:rPr>
              <a:t>软件系统需求说明方面的新发展，要求用非形式化、半形式化和形式化的规格说明来定义软件系统的需求。</a:t>
            </a:r>
          </a:p>
          <a:p>
            <a:pPr marL="285750" indent="-285750" algn="l" fontAlgn="auto">
              <a:buClrTx/>
              <a:buFont typeface="Wingdings" panose="05000000000000000000" charset="0"/>
              <a:buChar char="Ø"/>
            </a:pP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用自然语言描述需求规格说明，是典型的非形式化方法；</a:t>
            </a:r>
          </a:p>
          <a:p>
            <a:pPr marL="285750" indent="-285750" algn="l" fontAlgn="auto">
              <a:buClrTx/>
              <a:buFont typeface="Wingdings" panose="05000000000000000000" charset="0"/>
              <a:buChar char="Ø"/>
            </a:pP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用数据流图、实体－关系图建立模型，是典型的半形式化方法；</a:t>
            </a:r>
          </a:p>
          <a:p>
            <a:pPr marL="285750" indent="-285750" algn="l" fontAlgn="auto">
              <a:buClrTx/>
              <a:buFont typeface="Wingdings" panose="05000000000000000000" charset="0"/>
              <a:buChar char="Ø"/>
            </a:pP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形式化规格说明使用数学表示以达到其精确性。</a:t>
            </a:r>
            <a:endParaRPr lang="zh-CN" altLang="en-US" dirty="0">
              <a:solidFill>
                <a:srgbClr val="0070C0"/>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grpSp>
        <p:nvGrpSpPr>
          <p:cNvPr id="4" name="组合 3"/>
          <p:cNvGrpSpPr/>
          <p:nvPr/>
        </p:nvGrpSpPr>
        <p:grpSpPr>
          <a:xfrm>
            <a:off x="809625" y="1403350"/>
            <a:ext cx="10405110" cy="4354830"/>
            <a:chOff x="1275" y="2210"/>
            <a:chExt cx="16386" cy="6858"/>
          </a:xfrm>
        </p:grpSpPr>
        <p:sp>
          <p:nvSpPr>
            <p:cNvPr id="19" name="TextBox 6"/>
            <p:cNvSpPr txBox="1"/>
            <p:nvPr/>
          </p:nvSpPr>
          <p:spPr>
            <a:xfrm>
              <a:off x="1275" y="2210"/>
              <a:ext cx="13695" cy="892"/>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案例</a:t>
              </a:r>
            </a:p>
          </p:txBody>
        </p:sp>
        <p:grpSp>
          <p:nvGrpSpPr>
            <p:cNvPr id="5" name="组合 4"/>
            <p:cNvGrpSpPr/>
            <p:nvPr/>
          </p:nvGrpSpPr>
          <p:grpSpPr>
            <a:xfrm>
              <a:off x="1568" y="3150"/>
              <a:ext cx="16093" cy="5918"/>
              <a:chOff x="1500" y="3150"/>
              <a:chExt cx="16093" cy="5918"/>
            </a:xfrm>
          </p:grpSpPr>
          <p:sp>
            <p:nvSpPr>
              <p:cNvPr id="22" name="TextBox 21"/>
              <p:cNvSpPr txBox="1"/>
              <p:nvPr/>
            </p:nvSpPr>
            <p:spPr>
              <a:xfrm>
                <a:off x="3298" y="3420"/>
                <a:ext cx="13522" cy="624"/>
              </a:xfrm>
              <a:prstGeom prst="rect">
                <a:avLst/>
              </a:prstGeom>
              <a:noFill/>
            </p:spPr>
            <p:txBody>
              <a:bodyPr wrap="square">
                <a:spAutoFit/>
              </a:bodyPr>
              <a:lstStyle/>
              <a:p>
                <a:r>
                  <a:rPr sz="2000" dirty="0" smtClean="0">
                    <a:sym typeface="+mn-ea"/>
                  </a:rPr>
                  <a:t>制订展会观众信息管理系统的软件开发初步计划</a:t>
                </a:r>
                <a:r>
                  <a:rPr lang="zh-CN" sz="2000" dirty="0" smtClean="0">
                    <a:sym typeface="+mn-ea"/>
                  </a:rPr>
                  <a:t>。</a:t>
                </a:r>
              </a:p>
            </p:txBody>
          </p:sp>
          <p:sp>
            <p:nvSpPr>
              <p:cNvPr id="24" name="矩形 23"/>
              <p:cNvSpPr>
                <a:spLocks noChangeAspect="1"/>
              </p:cNvSpPr>
              <p:nvPr/>
            </p:nvSpPr>
            <p:spPr>
              <a:xfrm>
                <a:off x="1500" y="4499"/>
                <a:ext cx="16093" cy="4569"/>
              </a:xfrm>
              <a:prstGeom prst="rect">
                <a:avLst/>
              </a:prstGeom>
              <a:ln w="12700">
                <a:solidFill>
                  <a:srgbClr val="0883C8"/>
                </a:solidFill>
                <a:prstDash val="dash"/>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b="1" dirty="0">
                  <a:latin typeface="Times New Roman" panose="02020603050405020304" charset="0"/>
                </a:endParaRPr>
              </a:p>
            </p:txBody>
          </p:sp>
          <p:grpSp>
            <p:nvGrpSpPr>
              <p:cNvPr id="25" name="组合 5"/>
              <p:cNvGrpSpPr/>
              <p:nvPr/>
            </p:nvGrpSpPr>
            <p:grpSpPr>
              <a:xfrm>
                <a:off x="1500" y="3150"/>
                <a:ext cx="2173" cy="1125"/>
                <a:chOff x="2737860" y="1357297"/>
                <a:chExt cx="1205698" cy="714379"/>
              </a:xfrm>
            </p:grpSpPr>
            <p:pic>
              <p:nvPicPr>
                <p:cNvPr id="26" name="Picture 2" descr="E:\仝德志文件，勿删！\03-参考文档\！PPT图片及版面资源\06-PPT精选插图\12-标签\蓝色燕尾01.png"/>
                <p:cNvPicPr>
                  <a:picLocks noChangeAspect="1" noChangeArrowheads="1"/>
                </p:cNvPicPr>
                <p:nvPr/>
              </p:nvPicPr>
              <p:blipFill>
                <a:blip r:embed="rId2" cstate="email"/>
                <a:srcRect/>
                <a:stretch>
                  <a:fillRect/>
                </a:stretch>
              </p:blipFill>
              <p:spPr bwMode="auto">
                <a:xfrm rot="16200000">
                  <a:off x="2935458" y="1159699"/>
                  <a:ext cx="714379" cy="1109575"/>
                </a:xfrm>
                <a:prstGeom prst="rect">
                  <a:avLst/>
                </a:prstGeom>
                <a:noFill/>
                <a:extLst>
                  <a:ext uri="{909E8E84-426E-40DD-AFC4-6F175D3DCCD1}">
                    <a14:hiddenFill xmlns:a14="http://schemas.microsoft.com/office/drawing/2010/main" xmlns="">
                      <a:solidFill>
                        <a:srgbClr val="FFFFFF"/>
                      </a:solidFill>
                    </a14:hiddenFill>
                  </a:ext>
                </a:extLst>
              </p:spPr>
            </p:pic>
            <p:sp>
              <p:nvSpPr>
                <p:cNvPr id="27" name="TextBox 7"/>
                <p:cNvSpPr txBox="1"/>
                <p:nvPr/>
              </p:nvSpPr>
              <p:spPr>
                <a:xfrm>
                  <a:off x="2811667" y="1467155"/>
                  <a:ext cx="1131891" cy="460378"/>
                </a:xfrm>
                <a:prstGeom prst="rect">
                  <a:avLst/>
                </a:prstGeom>
                <a:noFill/>
              </p:spPr>
              <p:txBody>
                <a:bodyPr wrap="square" rtlCol="0">
                  <a:spAutoFit/>
                </a:bodyPr>
                <a:lstStyle/>
                <a:p>
                  <a:r>
                    <a:rPr lang="zh-CN" altLang="en-US" sz="2400" dirty="0" smtClean="0">
                      <a:solidFill>
                        <a:schemeClr val="bg1"/>
                      </a:solidFill>
                      <a:sym typeface="+mn-ea"/>
                    </a:rPr>
                    <a:t>例 </a:t>
                  </a:r>
                  <a:r>
                    <a:rPr lang="en-US" altLang="zh-CN" sz="2400" dirty="0" smtClean="0">
                      <a:solidFill>
                        <a:schemeClr val="bg1"/>
                      </a:solidFill>
                      <a:sym typeface="+mn-ea"/>
                    </a:rPr>
                    <a:t>2-11</a:t>
                  </a:r>
                  <a:endParaRPr lang="en-US" altLang="zh-CN" sz="2400" b="1" dirty="0" smtClean="0">
                    <a:solidFill>
                      <a:schemeClr val="bg1"/>
                    </a:solidFill>
                    <a:latin typeface="微软雅黑" panose="020B0503020204020204" charset="-122"/>
                    <a:ea typeface="微软雅黑" panose="020B0503020204020204" charset="-122"/>
                    <a:sym typeface="+mn-ea"/>
                  </a:endParaRPr>
                </a:p>
              </p:txBody>
            </p:sp>
          </p:grpSp>
          <p:sp>
            <p:nvSpPr>
              <p:cNvPr id="33" name="TextBox 32"/>
              <p:cNvSpPr txBox="1"/>
              <p:nvPr/>
            </p:nvSpPr>
            <p:spPr>
              <a:xfrm>
                <a:off x="1725" y="4725"/>
                <a:ext cx="13522" cy="658"/>
              </a:xfrm>
              <a:prstGeom prst="rect">
                <a:avLst/>
              </a:prstGeom>
              <a:noFill/>
            </p:spPr>
            <p:txBody>
              <a:bodyPr wrap="square">
                <a:spAutoFit/>
              </a:bodyPr>
              <a:lstStyle/>
              <a:p>
                <a:endParaRPr lang="zh-CN" altLang="en-US" sz="2000" b="1" dirty="0">
                  <a:solidFill>
                    <a:srgbClr val="00B0F0"/>
                  </a:solidFill>
                  <a:latin typeface="微软雅黑" panose="020B0503020204020204" charset="-122"/>
                  <a:ea typeface="微软雅黑" panose="020B0503020204020204" charset="-122"/>
                </a:endParaRPr>
              </a:p>
            </p:txBody>
          </p:sp>
          <p:sp>
            <p:nvSpPr>
              <p:cNvPr id="34" name="TextBox 33"/>
              <p:cNvSpPr txBox="1"/>
              <p:nvPr/>
            </p:nvSpPr>
            <p:spPr>
              <a:xfrm>
                <a:off x="1776" y="4725"/>
                <a:ext cx="15511" cy="4176"/>
              </a:xfrm>
              <a:prstGeom prst="rect">
                <a:avLst/>
              </a:prstGeom>
              <a:solidFill>
                <a:schemeClr val="bg1">
                  <a:lumMod val="95000"/>
                </a:schemeClr>
              </a:solidFill>
            </p:spPr>
            <p:txBody>
              <a:bodyPr wrap="square">
                <a:spAutoFit/>
              </a:bodyPr>
              <a:lstStyle/>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a:p>
                <a:pPr fontAlgn="auto">
                  <a:lnSpc>
                    <a:spcPct val="120000"/>
                  </a:lnSpc>
                </a:pPr>
                <a:endParaRPr lang="en-US" sz="2000" dirty="0" smtClean="0">
                  <a:latin typeface="Times New Roman" panose="02020603050405020304" charset="0"/>
                  <a:ea typeface="宋体" panose="02010600030101010101" pitchFamily="2" charset="-122"/>
                </a:endParaRPr>
              </a:p>
            </p:txBody>
          </p:sp>
        </p:grpSp>
        <p:sp>
          <p:nvSpPr>
            <p:cNvPr id="100" name="文本框 99"/>
            <p:cNvSpPr txBox="1"/>
            <p:nvPr/>
          </p:nvSpPr>
          <p:spPr>
            <a:xfrm>
              <a:off x="1861" y="4776"/>
              <a:ext cx="15526" cy="3888"/>
            </a:xfrm>
            <a:prstGeom prst="rect">
              <a:avLst/>
            </a:prstGeom>
            <a:noFill/>
            <a:ln w="9525">
              <a:noFill/>
            </a:ln>
          </p:spPr>
          <p:txBody>
            <a:bodyPr wrap="square">
              <a:spAutoFit/>
            </a:bodyPr>
            <a:lstStyle/>
            <a:p>
              <a:pPr marL="0" indent="0" algn="l" fontAlgn="auto">
                <a:lnSpc>
                  <a:spcPct val="130000"/>
                </a:lnSpc>
              </a:pPr>
              <a:r>
                <a:rPr lang="en-US" sz="2000" b="0" u="none" dirty="0" smtClean="0"/>
                <a:t>        </a:t>
              </a:r>
              <a:r>
                <a:rPr sz="2000" b="0" u="none" dirty="0" smtClean="0">
                  <a:latin typeface="宋体" pitchFamily="2" charset="-122"/>
                  <a:ea typeface="宋体" pitchFamily="2" charset="-122"/>
                </a:rPr>
                <a:t>某展览公司要开发一个展会观众信息管理系统</a:t>
              </a:r>
              <a:r>
                <a:rPr sz="2000" b="0" u="none" dirty="0">
                  <a:latin typeface="宋体" pitchFamily="2" charset="-122"/>
                  <a:ea typeface="宋体" pitchFamily="2" charset="-122"/>
                </a:rPr>
                <a:t>，从何处着手解决问题呢？如果立即开始考虑实现展会观众信息管理系统的详细方案并且动手编写程序，显然不符合软件工程的思想。系统分析员首先要考虑开发这样一个系统是否可行？是不是能够产生经济效益？而不是要求马上实现它。还要进一步考虑，用户面临的问题究竟是什么？为什么会提出开发这样的系统呢？在软件计划时期，系统分析员的工作分为问题定义、可行性研究和需求分析3个阶段。</a:t>
              </a:r>
            </a:p>
          </p:txBody>
        </p:sp>
      </p:gr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pic>
        <p:nvPicPr>
          <p:cNvPr id="2" name="图片 1"/>
          <p:cNvPicPr>
            <a:picLocks noChangeAspect="1"/>
          </p:cNvPicPr>
          <p:nvPr/>
        </p:nvPicPr>
        <p:blipFill>
          <a:blip r:embed="rId2" cstate="screen"/>
          <a:stretch>
            <a:fillRect/>
          </a:stretch>
        </p:blipFill>
        <p:spPr>
          <a:xfrm>
            <a:off x="9165540" y="3493826"/>
            <a:ext cx="2698313" cy="2347415"/>
          </a:xfrm>
          <a:prstGeom prst="rect">
            <a:avLst/>
          </a:prstGeom>
        </p:spPr>
      </p:pic>
      <p:grpSp>
        <p:nvGrpSpPr>
          <p:cNvPr id="6" name="组合 5"/>
          <p:cNvGrpSpPr/>
          <p:nvPr/>
        </p:nvGrpSpPr>
        <p:grpSpPr>
          <a:xfrm>
            <a:off x="754380" y="2048510"/>
            <a:ext cx="10682605" cy="3472180"/>
            <a:chOff x="1236" y="3226"/>
            <a:chExt cx="16823" cy="5468"/>
          </a:xfrm>
        </p:grpSpPr>
        <p:sp>
          <p:nvSpPr>
            <p:cNvPr id="7" name="文本框 6"/>
            <p:cNvSpPr txBox="1"/>
            <p:nvPr/>
          </p:nvSpPr>
          <p:spPr>
            <a:xfrm>
              <a:off x="1236" y="3715"/>
              <a:ext cx="750" cy="2347"/>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）问题定义</a:t>
              </a:r>
            </a:p>
          </p:txBody>
        </p:sp>
        <p:sp>
          <p:nvSpPr>
            <p:cNvPr id="14" name="TextBox 6"/>
            <p:cNvSpPr txBox="1"/>
            <p:nvPr/>
          </p:nvSpPr>
          <p:spPr>
            <a:xfrm>
              <a:off x="2526" y="3226"/>
              <a:ext cx="15533" cy="3422"/>
            </a:xfrm>
            <a:prstGeom prst="rect">
              <a:avLst/>
            </a:prstGeom>
            <a:noFill/>
          </p:spPr>
          <p:txBody>
            <a:bodyPr wrap="square" rtlCol="0">
              <a:spAutoFit/>
            </a:bodyPr>
            <a:lstStyle/>
            <a:p>
              <a:pPr>
                <a:lnSpc>
                  <a:spcPct val="130000"/>
                </a:lnSpc>
              </a:pPr>
              <a:r>
                <a:rPr lang="en-US" altLang="zh-CN" sz="1600" dirty="0">
                  <a:solidFill>
                    <a:schemeClr val="tx1">
                      <a:lumMod val="65000"/>
                      <a:lumOff val="35000"/>
                    </a:schemeClr>
                  </a:solidFill>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良好的问题定义应该明确地描述实际问题，而不是隐含地描述解决问题的方案。经调查后得知，目前绝大多数展会仍然使用纸质门票，人工收取门票；对于需要向展会观众了解、统计的信息，则由工作人员发放问卷调查表。随着展会规模的扩大，工作量越来越大，不利于分析和统计参展观众的情况。因此，</a:t>
              </a:r>
              <a:r>
                <a:rPr lang="zh-CN" altLang="en-US" dirty="0">
                  <a:solidFill>
                    <a:srgbClr val="00B050"/>
                  </a:solidFill>
                  <a:latin typeface="微软雅黑" panose="020B0503020204020204" charset="-122"/>
                  <a:ea typeface="微软雅黑" panose="020B0503020204020204" charset="-122"/>
                </a:rPr>
                <a:t>软件开发的目标是对展会观众的信息进行管理和分析。</a:t>
              </a:r>
            </a:p>
            <a:p>
              <a:pPr>
                <a:lnSpc>
                  <a:spcPct val="130000"/>
                </a:lnSpc>
              </a:pPr>
              <a:endParaRPr lang="zh-CN" altLang="en-US" sz="1600" dirty="0">
                <a:solidFill>
                  <a:srgbClr val="00B050"/>
                </a:solidFill>
                <a:latin typeface="微软雅黑" panose="020B0503020204020204" charset="-122"/>
                <a:ea typeface="微软雅黑" panose="020B0503020204020204" charset="-122"/>
              </a:endParaRPr>
            </a:p>
            <a:p>
              <a:pPr>
                <a:lnSpc>
                  <a:spcPct val="130000"/>
                </a:lnSpc>
              </a:pP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15" name="TextBox 6"/>
            <p:cNvSpPr txBox="1"/>
            <p:nvPr/>
          </p:nvSpPr>
          <p:spPr>
            <a:xfrm>
              <a:off x="2633" y="5713"/>
              <a:ext cx="11750" cy="2981"/>
            </a:xfrm>
            <a:prstGeom prst="rect">
              <a:avLst/>
            </a:prstGeom>
            <a:noFill/>
          </p:spPr>
          <p:txBody>
            <a:bodyPr wrap="square" rtlCol="0">
              <a:spAutoFit/>
            </a:bodyPr>
            <a:lstStyle/>
            <a:p>
              <a:pPr>
                <a:lnSpc>
                  <a:spcPct val="130000"/>
                </a:lnSpc>
              </a:pPr>
              <a:r>
                <a:rPr lang="en-US" altLang="zh-CN" dirty="0">
                  <a:solidFill>
                    <a:schemeClr val="tx1">
                      <a:lumMod val="65000"/>
                      <a:lumOff val="35000"/>
                    </a:schemeClr>
                  </a:solidFill>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系统分析员应该考虑的另一个关键问题是</a:t>
              </a:r>
              <a:r>
                <a:rPr lang="zh-CN" altLang="en-US" dirty="0">
                  <a:solidFill>
                    <a:srgbClr val="00B050"/>
                  </a:solidFill>
                  <a:latin typeface="微软雅黑" panose="020B0503020204020204" charset="-122"/>
                  <a:ea typeface="微软雅黑" panose="020B0503020204020204" charset="-122"/>
                  <a:sym typeface="+mn-ea"/>
                </a:rPr>
                <a:t>软件预期的目标规模</a:t>
              </a:r>
              <a:r>
                <a:rPr lang="zh-CN" altLang="en-US" dirty="0">
                  <a:latin typeface="微软雅黑" panose="020B0503020204020204" charset="-122"/>
                  <a:ea typeface="微软雅黑" panose="020B0503020204020204" charset="-122"/>
                  <a:sym typeface="+mn-ea"/>
                </a:rPr>
                <a:t>。为了开发展会观众信息管理系统，最多可以花多少钱呢？这肯定会有某个限度。应该考虑下述3个基本数字：</a:t>
              </a:r>
              <a:r>
                <a:rPr lang="zh-CN" altLang="en-US" dirty="0">
                  <a:solidFill>
                    <a:srgbClr val="00B050"/>
                  </a:solidFill>
                  <a:latin typeface="微软雅黑" panose="020B0503020204020204" charset="-122"/>
                  <a:ea typeface="微软雅黑" panose="020B0503020204020204" charset="-122"/>
                  <a:sym typeface="+mn-ea"/>
                </a:rPr>
                <a:t>目前用于展会管理所花费的成本、新系统的开发成本和运行费用。</a:t>
              </a:r>
              <a:r>
                <a:rPr lang="zh-CN" altLang="en-US" dirty="0">
                  <a:latin typeface="微软雅黑" panose="020B0503020204020204" charset="-122"/>
                  <a:ea typeface="微软雅黑" panose="020B0503020204020204" charset="-122"/>
                  <a:sym typeface="+mn-ea"/>
                </a:rPr>
                <a:t>新系统的运行费用必须低于目前的成本，且节省的费用应该能使公司在一个合理的期限内收回开发时的投资。</a:t>
              </a:r>
            </a:p>
          </p:txBody>
        </p:sp>
      </p:gr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问题定义</a:t>
              </a:r>
            </a:p>
          </p:txBody>
        </p:sp>
      </p:gr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grpSp>
        <p:nvGrpSpPr>
          <p:cNvPr id="6" name="组合 5"/>
          <p:cNvGrpSpPr/>
          <p:nvPr/>
        </p:nvGrpSpPr>
        <p:grpSpPr>
          <a:xfrm>
            <a:off x="754380" y="1936750"/>
            <a:ext cx="10873740" cy="4080510"/>
            <a:chOff x="1236" y="3050"/>
            <a:chExt cx="17124" cy="6426"/>
          </a:xfrm>
        </p:grpSpPr>
        <p:sp>
          <p:nvSpPr>
            <p:cNvPr id="7" name="文本框 6"/>
            <p:cNvSpPr txBox="1"/>
            <p:nvPr/>
          </p:nvSpPr>
          <p:spPr>
            <a:xfrm>
              <a:off x="1236" y="3715"/>
              <a:ext cx="750" cy="2347"/>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）问题定义</a:t>
              </a:r>
            </a:p>
          </p:txBody>
        </p:sp>
        <p:sp>
          <p:nvSpPr>
            <p:cNvPr id="14" name="TextBox 6"/>
            <p:cNvSpPr txBox="1"/>
            <p:nvPr/>
          </p:nvSpPr>
          <p:spPr>
            <a:xfrm>
              <a:off x="5643" y="3050"/>
              <a:ext cx="12411" cy="4115"/>
            </a:xfrm>
            <a:prstGeom prst="rect">
              <a:avLst/>
            </a:prstGeom>
            <a:noFill/>
          </p:spPr>
          <p:txBody>
            <a:bodyPr wrap="square" rtlCol="0">
              <a:spAutoFit/>
            </a:bodyPr>
            <a:lstStyle/>
            <a:p>
              <a:pPr>
                <a:lnSpc>
                  <a:spcPct val="130000"/>
                </a:lnSpc>
              </a:pPr>
              <a:r>
                <a:rPr lang="en-US" altLang="zh-CN" dirty="0">
                  <a:solidFill>
                    <a:schemeClr val="tx1">
                      <a:lumMod val="65000"/>
                      <a:lumOff val="35000"/>
                    </a:schemeClr>
                  </a:solidFill>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目前，每次展会至少都要使用两名工作人员，收取展会的门票和对观众人工发放问卷调查表并进行回收、统计工作。每名工作人员每个月的工资和岗位津贴共约2 000元，故每年为此项工作花费的人工费约为4.8万元。因此，</a:t>
              </a:r>
              <a:r>
                <a:rPr lang="zh-CN" altLang="en-US" dirty="0">
                  <a:solidFill>
                    <a:srgbClr val="00B050"/>
                  </a:solidFill>
                  <a:latin typeface="微软雅黑" panose="020B0503020204020204" charset="-122"/>
                  <a:ea typeface="微软雅黑" panose="020B0503020204020204" charset="-122"/>
                </a:rPr>
                <a:t>新系统每年最多可能获得的经济效益是4.8万元</a:t>
              </a:r>
              <a:r>
                <a:rPr lang="zh-CN" altLang="en-US" dirty="0">
                  <a:latin typeface="微软雅黑" panose="020B0503020204020204" charset="-122"/>
                  <a:ea typeface="微软雅黑" panose="020B0503020204020204" charset="-122"/>
                </a:rPr>
                <a:t>。</a:t>
              </a:r>
            </a:p>
            <a:p>
              <a:pPr>
                <a:lnSpc>
                  <a:spcPct val="130000"/>
                </a:lnSpc>
              </a:pPr>
              <a:r>
                <a:rPr lang="zh-CN" altLang="en-US" dirty="0">
                  <a:latin typeface="微软雅黑" panose="020B0503020204020204" charset="-122"/>
                  <a:ea typeface="微软雅黑" panose="020B0503020204020204" charset="-122"/>
                </a:rPr>
                <a:t>       为了每年能节省4.8万元，对本系统投资多少钱是可以接受的呢？</a:t>
              </a:r>
              <a:r>
                <a:rPr lang="zh-CN" altLang="en-US" dirty="0">
                  <a:solidFill>
                    <a:srgbClr val="00B050"/>
                  </a:solidFill>
                  <a:latin typeface="微软雅黑" panose="020B0503020204020204" charset="-122"/>
                  <a:ea typeface="微软雅黑" panose="020B0503020204020204" charset="-122"/>
                </a:rPr>
                <a:t>假设2年收回投资，因此，9.6万元可能是投资额的一个合理的上限</a:t>
              </a:r>
              <a:r>
                <a:rPr lang="zh-CN" altLang="en-US" dirty="0">
                  <a:latin typeface="微软雅黑" panose="020B0503020204020204" charset="-122"/>
                  <a:ea typeface="微软雅黑" panose="020B0503020204020204" charset="-122"/>
                </a:rPr>
                <a:t>。虽然这是一个很粗略的数字，但是它确实能使用户对项目规模有一些了解</a:t>
              </a:r>
              <a:r>
                <a:rPr lang="zh-CN" altLang="en-US" dirty="0" smtClean="0">
                  <a:latin typeface="微软雅黑" panose="020B0503020204020204" charset="-122"/>
                  <a:ea typeface="微软雅黑" panose="020B0503020204020204" charset="-122"/>
                </a:rPr>
                <a:t>。</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15" name="TextBox 6"/>
            <p:cNvSpPr txBox="1"/>
            <p:nvPr/>
          </p:nvSpPr>
          <p:spPr>
            <a:xfrm>
              <a:off x="2505" y="7062"/>
              <a:ext cx="15855" cy="2414"/>
            </a:xfrm>
            <a:prstGeom prst="rect">
              <a:avLst/>
            </a:prstGeom>
            <a:noFill/>
          </p:spPr>
          <p:txBody>
            <a:bodyPr wrap="square" rtlCol="0">
              <a:spAutoFit/>
            </a:bodyPr>
            <a:lstStyle/>
            <a:p>
              <a:pPr>
                <a:lnSpc>
                  <a:spcPct val="130000"/>
                </a:lnSpc>
              </a:pPr>
              <a:r>
                <a:rPr lang="en-US" altLang="zh-CN" sz="1600" dirty="0">
                  <a:solidFill>
                    <a:schemeClr val="tx1">
                      <a:lumMod val="65000"/>
                      <a:lumOff val="35000"/>
                    </a:schemeClr>
                  </a:solidFill>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系统分析员对所需要解决的问题和项目的规模进行分析后，</a:t>
              </a:r>
              <a:r>
                <a:rPr lang="zh-CN" altLang="en-US" dirty="0">
                  <a:solidFill>
                    <a:srgbClr val="00B050"/>
                  </a:solidFill>
                  <a:latin typeface="微软雅黑" panose="020B0503020204020204" charset="-122"/>
                  <a:ea typeface="微软雅黑" panose="020B0503020204020204" charset="-122"/>
                  <a:sym typeface="+mn-ea"/>
                </a:rPr>
                <a:t>写出关于系统规模和目标的报告书</a:t>
              </a:r>
              <a:r>
                <a:rPr lang="zh-CN" altLang="en-US" dirty="0">
                  <a:latin typeface="微软雅黑" panose="020B0503020204020204" charset="-122"/>
                  <a:ea typeface="微软雅黑" panose="020B0503020204020204" charset="-122"/>
                  <a:sym typeface="+mn-ea"/>
                </a:rPr>
                <a:t>，如下表所示。系统分析员还应请系统用户（公司经理和展会工作人员等）一起对此进行研究、讨论，双方达成共识，在经过有关领导的批准后，再开发软件，才可能开发出确实能满足用户实际需要的软件系统。</a:t>
              </a:r>
              <a:endParaRPr lang="zh-CN" altLang="en-US" b="1" dirty="0">
                <a:solidFill>
                  <a:srgbClr val="FF0000"/>
                </a:solidFill>
                <a:latin typeface="微软雅黑" panose="020B0503020204020204" charset="-122"/>
                <a:ea typeface="微软雅黑" panose="020B0503020204020204" charset="-122"/>
              </a:endParaRPr>
            </a:p>
          </p:txBody>
        </p:sp>
      </p:gr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问题定义</a:t>
              </a:r>
            </a:p>
          </p:txBody>
        </p:sp>
      </p:grpSp>
      <p:pic>
        <p:nvPicPr>
          <p:cNvPr id="11" name="图片 10" descr="u=527448630,1098629668&amp;fm=214&amp;gp=0.jpg"/>
          <p:cNvPicPr>
            <a:picLocks noChangeAspect="1"/>
          </p:cNvPicPr>
          <p:nvPr/>
        </p:nvPicPr>
        <p:blipFill>
          <a:blip r:embed="rId2" cstate="print">
            <a:clrChange>
              <a:clrFrom>
                <a:srgbClr val="FFFFFF"/>
              </a:clrFrom>
              <a:clrTo>
                <a:srgbClr val="FFFFFF">
                  <a:alpha val="0"/>
                </a:srgbClr>
              </a:clrTo>
            </a:clrChange>
          </a:blip>
          <a:srcRect r="1665" b="9598"/>
          <a:stretch>
            <a:fillRect/>
          </a:stretch>
        </p:blipFill>
        <p:spPr>
          <a:xfrm>
            <a:off x="1540449" y="2142953"/>
            <a:ext cx="2279126" cy="207199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49034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1</a:t>
            </a:r>
            <a:r>
              <a:rPr lang="zh-CN" altLang="en-US" spc="160" dirty="0">
                <a:solidFill>
                  <a:schemeClr val="bg1"/>
                </a:solidFill>
                <a:latin typeface="微软雅黑" panose="020B0503020204020204" charset="-122"/>
                <a:ea typeface="微软雅黑" panose="020B0503020204020204" charset="-122"/>
              </a:rPr>
              <a:t>）问题定义</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问题定义</a:t>
              </a:r>
            </a:p>
          </p:txBody>
        </p:sp>
      </p:grpSp>
      <p:graphicFrame>
        <p:nvGraphicFramePr>
          <p:cNvPr id="2" name="表格 -1"/>
          <p:cNvGraphicFramePr/>
          <p:nvPr/>
        </p:nvGraphicFramePr>
        <p:xfrm>
          <a:off x="1678305" y="2359025"/>
          <a:ext cx="9628505" cy="3388360"/>
        </p:xfrm>
        <a:graphic>
          <a:graphicData uri="http://schemas.openxmlformats.org/drawingml/2006/table">
            <a:tbl>
              <a:tblPr firstRow="1" bandRow="1">
                <a:tableStyleId>{5940675A-B579-460E-94D1-54222C63F5DA}</a:tableStyleId>
              </a:tblPr>
              <a:tblGrid>
                <a:gridCol w="1517650"/>
                <a:gridCol w="8110855"/>
              </a:tblGrid>
              <a:tr h="408940">
                <a:tc gridSpan="2">
                  <a:txBody>
                    <a:bodyPr/>
                    <a:lstStyle/>
                    <a:p>
                      <a:pPr marL="0" indent="0" algn="ctr">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关于展会观众信息管理系统规模和目标的报告书</a:t>
                      </a:r>
                      <a:r>
                        <a:rPr lang="en-US" altLang="zh-CN" sz="1600" b="0" u="none" dirty="0">
                          <a:latin typeface="Times New Roman" panose="02020603050405020304" charset="0"/>
                          <a:ea typeface="Times New Roman" panose="02020603050405020304" charset="0"/>
                          <a:cs typeface="Times New Roman" panose="02020603050405020304" charset="0"/>
                        </a:rPr>
                        <a:t>20</a:t>
                      </a:r>
                      <a:r>
                        <a:rPr lang="en-US" altLang="zh-CN" sz="1600" b="0" u="none" dirty="0">
                          <a:latin typeface="宋体" panose="02010600030101010101" pitchFamily="2" charset="-122"/>
                          <a:ea typeface="宋体" panose="02010600030101010101" pitchFamily="2" charset="-122"/>
                          <a:cs typeface="宋体" panose="02010600030101010101" pitchFamily="2" charset="-122"/>
                        </a:rPr>
                        <a:t>15</a:t>
                      </a:r>
                      <a:r>
                        <a:rPr lang="en-US" altLang="zh-CN" sz="1600" b="0" u="none" dirty="0">
                          <a:latin typeface="Times New Roman" panose="02020603050405020304" charset="0"/>
                          <a:ea typeface="Times New Roman" panose="02020603050405020304" charset="0"/>
                          <a:cs typeface="Times New Roman" panose="02020603050405020304" charset="0"/>
                        </a:rPr>
                        <a:t>.</a:t>
                      </a:r>
                      <a:r>
                        <a:rPr lang="en-US" altLang="zh-CN" sz="1600" b="0" u="none" dirty="0">
                          <a:latin typeface="宋体" panose="02010600030101010101" pitchFamily="2" charset="-122"/>
                          <a:ea typeface="宋体" panose="02010600030101010101" pitchFamily="2" charset="-122"/>
                          <a:cs typeface="宋体" panose="02010600030101010101" pitchFamily="2" charset="-122"/>
                        </a:rPr>
                        <a:t>3</a:t>
                      </a:r>
                      <a:r>
                        <a:rPr lang="en-US" altLang="zh-CN" sz="1600" b="0" u="none" dirty="0">
                          <a:latin typeface="Times New Roman" panose="02020603050405020304" charset="0"/>
                          <a:ea typeface="Times New Roman" panose="02020603050405020304" charset="0"/>
                          <a:cs typeface="Times New Roman" panose="02020603050405020304" charset="0"/>
                        </a:rPr>
                        <a:t>.2</a:t>
                      </a:r>
                      <a:r>
                        <a:rPr lang="en-US" altLang="zh-CN" sz="1600" b="0" u="none" dirty="0">
                          <a:latin typeface="宋体" panose="02010600030101010101" pitchFamily="2" charset="-122"/>
                          <a:ea typeface="宋体" panose="02010600030101010101" pitchFamily="2" charset="-122"/>
                          <a:cs typeface="宋体" panose="02010600030101010101" pitchFamily="2" charset="-122"/>
                        </a:rPr>
                        <a:t>1</a:t>
                      </a:r>
                      <a:endParaRPr lang="zh-CN" altLang="en-US" sz="16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409575">
                <a:tc>
                  <a:txBody>
                    <a:bodyPr/>
                    <a:lstStyle/>
                    <a:p>
                      <a:pPr marL="0" indent="0" algn="ctr">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项目名称</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展会</a:t>
                      </a:r>
                      <a:r>
                        <a:rPr lang="zh-CN" altLang="en-US" sz="1600" b="0" u="none" dirty="0">
                          <a:latin typeface="宋体" panose="02010600030101010101" pitchFamily="2" charset="-122"/>
                          <a:ea typeface="宋体" panose="02010600030101010101" pitchFamily="2" charset="-122"/>
                          <a:cs typeface="宋体" panose="02010600030101010101" pitchFamily="2" charset="-122"/>
                        </a:rPr>
                        <a:t>观众信息管理系统</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8940">
                <a:tc>
                  <a:txBody>
                    <a:bodyPr/>
                    <a:lstStyle/>
                    <a:p>
                      <a:pPr marL="0" indent="0" algn="ctr">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项目执行者</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某</a:t>
                      </a:r>
                      <a:r>
                        <a:rPr lang="zh-CN" altLang="en-US" sz="1600" b="0" u="none" dirty="0">
                          <a:latin typeface="宋体" panose="02010600030101010101" pitchFamily="2" charset="-122"/>
                          <a:ea typeface="宋体" panose="02010600030101010101" pitchFamily="2" charset="-122"/>
                          <a:cs typeface="宋体" panose="02010600030101010101" pitchFamily="2" charset="-122"/>
                        </a:rPr>
                        <a:t>软件公司项目经理 </a:t>
                      </a:r>
                      <a:r>
                        <a:rPr lang="en-US" altLang="zh-CN" sz="1600" b="0" u="none" dirty="0">
                          <a:latin typeface="宋体" panose="02010600030101010101" pitchFamily="2" charset="-122"/>
                          <a:ea typeface="宋体" panose="02010600030101010101" pitchFamily="2" charset="-122"/>
                          <a:cs typeface="宋体" panose="02010600030101010101" pitchFamily="2" charset="-122"/>
                        </a:rPr>
                        <a:t>×××</a:t>
                      </a:r>
                      <a:endParaRPr lang="zh-CN" altLang="en-US" sz="1600" b="0" u="none" dirty="0">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10210">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问  题</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目前</a:t>
                      </a:r>
                      <a:r>
                        <a:rPr lang="zh-CN" altLang="en-US" sz="1600" b="0" u="none" dirty="0">
                          <a:latin typeface="宋体" panose="02010600030101010101" pitchFamily="2" charset="-122"/>
                          <a:ea typeface="宋体" panose="02010600030101010101" pitchFamily="2" charset="-122"/>
                          <a:cs typeface="宋体" panose="02010600030101010101" pitchFamily="2" charset="-122"/>
                        </a:rPr>
                        <a:t>人工分析和统计展会观众情况的费用太高</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8940">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项目目标</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开发费</a:t>
                      </a:r>
                      <a:r>
                        <a:rPr lang="zh-CN" altLang="en-US" sz="1600" b="0" u="none" dirty="0">
                          <a:latin typeface="宋体" panose="02010600030101010101" pitchFamily="2" charset="-122"/>
                          <a:ea typeface="宋体" panose="02010600030101010101" pitchFamily="2" charset="-122"/>
                          <a:cs typeface="宋体" panose="02010600030101010101" pitchFamily="2" charset="-122"/>
                        </a:rPr>
                        <a:t>用较低的展会观众信息管理系统</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9575">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项目规模</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开发</a:t>
                      </a:r>
                      <a:r>
                        <a:rPr lang="zh-CN" altLang="en-US" sz="1600" b="0" u="none" dirty="0">
                          <a:latin typeface="宋体" panose="02010600030101010101" pitchFamily="2" charset="-122"/>
                          <a:ea typeface="宋体" panose="02010600030101010101" pitchFamily="2" charset="-122"/>
                          <a:cs typeface="宋体" panose="02010600030101010101" pitchFamily="2" charset="-122"/>
                        </a:rPr>
                        <a:t>成本应不超过</a:t>
                      </a:r>
                      <a:r>
                        <a:rPr lang="en-US" altLang="zh-CN" sz="1600" b="0" u="none" dirty="0">
                          <a:latin typeface="宋体" panose="02010600030101010101" pitchFamily="2" charset="-122"/>
                          <a:ea typeface="宋体" panose="02010600030101010101" pitchFamily="2" charset="-122"/>
                          <a:cs typeface="宋体" panose="02010600030101010101" pitchFamily="2" charset="-122"/>
                        </a:rPr>
                        <a:t>9.6</a:t>
                      </a:r>
                      <a:r>
                        <a:rPr lang="zh-CN" altLang="en-US" sz="1600" b="0" u="none" dirty="0">
                          <a:latin typeface="宋体" panose="02010600030101010101" pitchFamily="2" charset="-122"/>
                          <a:ea typeface="宋体" panose="02010600030101010101" pitchFamily="2" charset="-122"/>
                          <a:cs typeface="宋体" panose="02010600030101010101" pitchFamily="2" charset="-122"/>
                        </a:rPr>
                        <a:t>万元（</a:t>
                      </a:r>
                      <a:r>
                        <a:rPr lang="en-US" altLang="zh-CN" sz="1600" b="0" u="none" dirty="0">
                          <a:latin typeface="宋体" panose="02010600030101010101" pitchFamily="2" charset="-122"/>
                          <a:ea typeface="宋体" panose="02010600030101010101" pitchFamily="2" charset="-122"/>
                          <a:cs typeface="宋体" panose="02010600030101010101" pitchFamily="2" charset="-122"/>
                        </a:rPr>
                        <a:t>±30%</a:t>
                      </a:r>
                      <a:r>
                        <a:rPr lang="zh-CN" altLang="en-US" sz="1600" b="0" u="none" dirty="0">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08940">
                <a:tc>
                  <a:txBody>
                    <a:bodyPr/>
                    <a:lstStyle/>
                    <a:p>
                      <a:pPr marL="0" indent="0" algn="ctr">
                        <a:buNone/>
                      </a:pPr>
                      <a:r>
                        <a:rPr lang="zh-CN" altLang="en-US" sz="1600" b="0" u="none">
                          <a:latin typeface="宋体" panose="02010600030101010101" pitchFamily="2" charset="-122"/>
                          <a:ea typeface="宋体" panose="02010600030101010101" pitchFamily="2" charset="-122"/>
                          <a:cs typeface="宋体" panose="02010600030101010101" pitchFamily="2" charset="-122"/>
                        </a:rPr>
                        <a:t>初步设想</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用</a:t>
                      </a:r>
                      <a:r>
                        <a:rPr lang="zh-CN" altLang="en-US" sz="1600" b="0" u="none" dirty="0">
                          <a:latin typeface="宋体" panose="02010600030101010101" pitchFamily="2" charset="-122"/>
                          <a:ea typeface="宋体" panose="02010600030101010101" pitchFamily="2" charset="-122"/>
                          <a:cs typeface="宋体" panose="02010600030101010101" pitchFamily="2" charset="-122"/>
                        </a:rPr>
                        <a:t>计算机系统分析观众的基本情况和参观情况，生成分析和统计报表</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23240">
                <a:tc>
                  <a:txBody>
                    <a:bodyPr/>
                    <a:lstStyle/>
                    <a:p>
                      <a:pPr marL="0" indent="0" algn="ctr">
                        <a:buNone/>
                      </a:pPr>
                      <a:r>
                        <a:rPr lang="zh-CN" altLang="en-US" sz="1600" b="0" u="none" dirty="0">
                          <a:latin typeface="宋体" panose="02010600030101010101" pitchFamily="2" charset="-122"/>
                          <a:ea typeface="宋体" panose="02010600030101010101" pitchFamily="2" charset="-122"/>
                          <a:cs typeface="宋体" panose="02010600030101010101" pitchFamily="2" charset="-122"/>
                        </a:rPr>
                        <a:t>可行性研究</a:t>
                      </a:r>
                    </a:p>
                  </a:txBody>
                  <a:tcPr marL="0" marR="0" marT="0" marB="1" anchor="ctr">
                    <a:lnL w="952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marL="0" indent="0" algn="l">
                        <a:buNone/>
                      </a:pPr>
                      <a:r>
                        <a:rPr lang="zh-CN" altLang="en-US" sz="1600" b="0" u="none" dirty="0" smtClean="0">
                          <a:latin typeface="宋体" panose="02010600030101010101" pitchFamily="2" charset="-122"/>
                          <a:ea typeface="宋体" panose="02010600030101010101" pitchFamily="2" charset="-122"/>
                          <a:cs typeface="宋体" panose="02010600030101010101" pitchFamily="2" charset="-122"/>
                        </a:rPr>
                        <a:t>  为了</a:t>
                      </a:r>
                      <a:r>
                        <a:rPr lang="zh-CN" altLang="en-US" sz="1600" b="0" u="none" dirty="0">
                          <a:latin typeface="宋体" panose="02010600030101010101" pitchFamily="2" charset="-122"/>
                          <a:ea typeface="宋体" panose="02010600030101010101" pitchFamily="2" charset="-122"/>
                          <a:cs typeface="宋体" panose="02010600030101010101" pitchFamily="2" charset="-122"/>
                        </a:rPr>
                        <a:t>更全面地研究展会观众信息管理系统项目的可行性，建议进行大约历时两周的可行性研究，成本不超过</a:t>
                      </a:r>
                      <a:r>
                        <a:rPr lang="en-US" altLang="zh-CN" sz="1600" b="0" u="none" dirty="0">
                          <a:latin typeface="宋体" panose="02010600030101010101" pitchFamily="2" charset="-122"/>
                          <a:ea typeface="宋体" panose="02010600030101010101" pitchFamily="2" charset="-122"/>
                          <a:cs typeface="宋体" panose="02010600030101010101" pitchFamily="2" charset="-122"/>
                        </a:rPr>
                        <a:t>6 000</a:t>
                      </a:r>
                      <a:r>
                        <a:rPr lang="zh-CN" altLang="en-US" sz="1600" b="0" u="none" dirty="0">
                          <a:latin typeface="宋体" panose="02010600030101010101" pitchFamily="2" charset="-122"/>
                          <a:ea typeface="宋体" panose="02010600030101010101" pitchFamily="2" charset="-122"/>
                          <a:cs typeface="宋体" panose="02010600030101010101" pitchFamily="2" charset="-122"/>
                        </a:rPr>
                        <a:t>元</a:t>
                      </a:r>
                    </a:p>
                  </a:txBody>
                  <a:tcPr marL="0" marR="0" marT="0" marB="1" anchor="ctr">
                    <a:lnL w="12700"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00" name="文本框 99"/>
          <p:cNvSpPr txBox="1"/>
          <p:nvPr/>
        </p:nvSpPr>
        <p:spPr>
          <a:xfrm>
            <a:off x="3556000" y="1993265"/>
            <a:ext cx="5080000" cy="365760"/>
          </a:xfrm>
          <a:prstGeom prst="rect">
            <a:avLst/>
          </a:prstGeom>
          <a:noFill/>
          <a:ln w="9525">
            <a:noFill/>
          </a:ln>
        </p:spPr>
        <p:txBody>
          <a:bodyPr wrap="square">
            <a:spAutoFit/>
          </a:bodyPr>
          <a:lstStyle/>
          <a:p>
            <a:pPr marL="0" indent="0" algn="ctr"/>
            <a:r>
              <a:rPr lang="zh-CN" altLang="en-US" b="0" u="none">
                <a:solidFill>
                  <a:srgbClr val="7F00E4"/>
                </a:solidFill>
                <a:latin typeface="黑体" panose="02010609060101010101" pitchFamily="49" charset="-122"/>
                <a:ea typeface="黑体" panose="02010609060101010101" pitchFamily="49" charset="-122"/>
                <a:cs typeface="黑体" panose="02010609060101010101" pitchFamily="49" charset="-122"/>
              </a:rPr>
              <a:t>关于系统规模和目标的报告书</a:t>
            </a:r>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100" name="文本框 99"/>
          <p:cNvSpPr txBox="1"/>
          <p:nvPr/>
        </p:nvSpPr>
        <p:spPr>
          <a:xfrm>
            <a:off x="1873885" y="2252345"/>
            <a:ext cx="5735955" cy="3610219"/>
          </a:xfrm>
          <a:prstGeom prst="rect">
            <a:avLst/>
          </a:prstGeom>
          <a:noFill/>
          <a:ln w="9525">
            <a:noFill/>
          </a:ln>
        </p:spPr>
        <p:txBody>
          <a:bodyPr wrap="square">
            <a:spAutoFit/>
          </a:bodyPr>
          <a:lstStyle/>
          <a:p>
            <a:pPr marL="0" indent="0" algn="l" fontAlgn="auto">
              <a:lnSpc>
                <a:spcPct val="130000"/>
              </a:lnSpc>
            </a:pPr>
            <a:r>
              <a:rPr lang="en-US" altLang="zh-CN"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1</a:t>
            </a:r>
            <a:r>
              <a:rPr lang="zh-CN" altLang="en-US" b="0" u="none" dirty="0">
                <a:solidFill>
                  <a:srgbClr val="7F00E4"/>
                </a:solidFill>
                <a:latin typeface="黑体" panose="02010609060101010101" pitchFamily="49" charset="-122"/>
                <a:ea typeface="黑体" panose="02010609060101010101" pitchFamily="49" charset="-122"/>
                <a:cs typeface="黑体" panose="02010609060101010101" pitchFamily="49" charset="-122"/>
              </a:rPr>
              <a:t>）复查系统规模和目标</a:t>
            </a:r>
            <a:endParaRPr lang="zh-CN" altLang="en-US" b="0" u="none" dirty="0">
              <a:latin typeface="宋体" panose="02010600030101010101" pitchFamily="2" charset="-122"/>
              <a:ea typeface="宋体" panose="02010600030101010101" pitchFamily="2" charset="-122"/>
              <a:cs typeface="宋体" panose="02010600030101010101" pitchFamily="2" charset="-122"/>
            </a:endParaRPr>
          </a:p>
          <a:p>
            <a:pPr marL="0" indent="0" algn="l" fontAlgn="auto">
              <a:lnSpc>
                <a:spcPct val="130000"/>
              </a:lnSpc>
            </a:pPr>
            <a:r>
              <a:rPr lang="zh-CN" altLang="en-US" b="0" u="none" dirty="0">
                <a:solidFill>
                  <a:schemeClr val="tx1">
                    <a:lumMod val="65000"/>
                    <a:lumOff val="35000"/>
                  </a:schemeClr>
                </a:solidFill>
                <a:latin typeface="微软雅黑" panose="020B0503020204020204" charset="-122"/>
                <a:ea typeface="微软雅黑" panose="020B0503020204020204" charset="-122"/>
              </a:rPr>
              <a:t>        </a:t>
            </a:r>
            <a:r>
              <a:rPr lang="zh-CN" altLang="en-US" b="0" u="none" dirty="0">
                <a:solidFill>
                  <a:schemeClr val="tx1">
                    <a:lumMod val="75000"/>
                  </a:schemeClr>
                </a:solidFill>
                <a:latin typeface="微软雅黑" panose="020B0503020204020204" charset="-122"/>
                <a:ea typeface="微软雅黑" panose="020B0503020204020204" charset="-122"/>
              </a:rPr>
              <a:t>为了确保从一个正确的出发点着手进行可行性研究，首先通过访问经理和展会工作人员进一步验证上一阶段写出的</a:t>
            </a:r>
            <a:r>
              <a:rPr lang="zh-CN" altLang="en-US" b="0" u="none" dirty="0">
                <a:solidFill>
                  <a:schemeClr val="tx1">
                    <a:lumMod val="65000"/>
                    <a:lumOff val="35000"/>
                  </a:schemeClr>
                </a:solidFill>
                <a:latin typeface="微软雅黑" panose="020B0503020204020204" charset="-122"/>
                <a:ea typeface="微软雅黑" panose="020B0503020204020204" charset="-122"/>
              </a:rPr>
              <a:t>“</a:t>
            </a:r>
            <a:r>
              <a:rPr lang="zh-CN" altLang="en-US" b="0" u="none" dirty="0">
                <a:solidFill>
                  <a:srgbClr val="00B050"/>
                </a:solidFill>
                <a:latin typeface="微软雅黑" panose="020B0503020204020204" charset="-122"/>
                <a:ea typeface="微软雅黑" panose="020B0503020204020204" charset="-122"/>
              </a:rPr>
              <a:t>关于系统规模和目标的报告书”的正确性</a:t>
            </a:r>
            <a:r>
              <a:rPr lang="zh-CN" altLang="en-US" b="0" u="none" dirty="0">
                <a:solidFill>
                  <a:schemeClr val="tx1">
                    <a:lumMod val="65000"/>
                    <a:lumOff val="35000"/>
                  </a:schemeClr>
                </a:solidFill>
                <a:latin typeface="微软雅黑" panose="020B0503020204020204" charset="-122"/>
                <a:ea typeface="微软雅黑" panose="020B0503020204020204" charset="-122"/>
              </a:rPr>
              <a:t>。</a:t>
            </a:r>
          </a:p>
          <a:p>
            <a:pPr marL="0" indent="0" algn="l" fontAlgn="auto">
              <a:lnSpc>
                <a:spcPct val="130000"/>
              </a:lnSpc>
            </a:pPr>
            <a:endParaRPr lang="zh-CN" altLang="en-US" b="0" u="none" dirty="0">
              <a:solidFill>
                <a:schemeClr val="tx1">
                  <a:lumMod val="65000"/>
                  <a:lumOff val="35000"/>
                </a:schemeClr>
              </a:solidFill>
              <a:latin typeface="微软雅黑" panose="020B0503020204020204" charset="-122"/>
              <a:ea typeface="微软雅黑" panose="020B0503020204020204" charset="-122"/>
            </a:endParaRPr>
          </a:p>
          <a:p>
            <a:pPr>
              <a:lnSpc>
                <a:spcPct val="130000"/>
              </a:lnSpc>
            </a:pPr>
            <a:r>
              <a:rPr lang="zh-CN" altLang="en-US" b="0" u="none" dirty="0">
                <a:solidFill>
                  <a:schemeClr val="tx1">
                    <a:lumMod val="75000"/>
                  </a:schemeClr>
                </a:solidFill>
                <a:latin typeface="微软雅黑" panose="020B0503020204020204" charset="-122"/>
                <a:ea typeface="微软雅黑" panose="020B0503020204020204" charset="-122"/>
              </a:rPr>
              <a:t>       通过访问，系统分析员对人工统计展会观众情况存在的弊端有了更具体的认识，并且了解到观众对各参展商的逗留时间和参观情况也应该计入信息系统。本系统应当含有参展商信息和观众对各参展单位的参观信息。</a:t>
            </a:r>
          </a:p>
          <a:p>
            <a:endParaRPr lang="zh-CN" altLang="en-US" dirty="0">
              <a:solidFill>
                <a:schemeClr val="tx1">
                  <a:lumMod val="65000"/>
                  <a:lumOff val="35000"/>
                </a:schemeClr>
              </a:solidFill>
              <a:latin typeface="微软雅黑" panose="020B0503020204020204" charset="-122"/>
              <a:ea typeface="微软雅黑" panose="020B0503020204020204" charset="-122"/>
            </a:endParaRPr>
          </a:p>
        </p:txBody>
      </p:sp>
      <p:grpSp>
        <p:nvGrpSpPr>
          <p:cNvPr id="2" name="组合 1"/>
          <p:cNvGrpSpPr/>
          <p:nvPr/>
        </p:nvGrpSpPr>
        <p:grpSpPr>
          <a:xfrm>
            <a:off x="8253730" y="2480945"/>
            <a:ext cx="2664460" cy="2664460"/>
            <a:chOff x="7526" y="5044"/>
            <a:chExt cx="4196" cy="4196"/>
          </a:xfrm>
        </p:grpSpPr>
        <p:grpSp>
          <p:nvGrpSpPr>
            <p:cNvPr id="31" name="组合 30"/>
            <p:cNvGrpSpPr/>
            <p:nvPr/>
          </p:nvGrpSpPr>
          <p:grpSpPr>
            <a:xfrm>
              <a:off x="7526" y="5044"/>
              <a:ext cx="4196" cy="4196"/>
              <a:chOff x="925401" y="3148271"/>
              <a:chExt cx="2664296" cy="2664296"/>
            </a:xfrm>
          </p:grpSpPr>
          <p:sp>
            <p:nvSpPr>
              <p:cNvPr id="32" name="椭圆 31"/>
              <p:cNvSpPr/>
              <p:nvPr/>
            </p:nvSpPr>
            <p:spPr>
              <a:xfrm>
                <a:off x="925401" y="3148271"/>
                <a:ext cx="2664296" cy="2664296"/>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069417" y="3292287"/>
                <a:ext cx="2376264" cy="237626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5" name="图片 34"/>
            <p:cNvPicPr>
              <a:picLocks noChangeAspect="1"/>
            </p:cNvPicPr>
            <p:nvPr/>
          </p:nvPicPr>
          <p:blipFill>
            <a:blip r:embed="rId2" cstate="print">
              <a:biLevel thresh="25000"/>
              <a:extLst>
                <a:ext uri="{28A0092B-C50C-407E-A947-70E740481C1C}">
                  <a14:useLocalDpi xmlns:a14="http://schemas.microsoft.com/office/drawing/2010/main" xmlns="" val="0"/>
                </a:ext>
              </a:extLst>
            </a:blip>
            <a:stretch>
              <a:fillRect/>
            </a:stretch>
          </p:blipFill>
          <p:spPr>
            <a:xfrm>
              <a:off x="8490" y="6008"/>
              <a:ext cx="2268" cy="2268"/>
            </a:xfrm>
            <a:prstGeom prst="rect">
              <a:avLst/>
            </a:prstGeom>
          </p:spPr>
        </p:pic>
      </p:gr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sym typeface="+mn-ea"/>
              </a:rPr>
              <a:t>5.2 </a:t>
            </a:r>
            <a:r>
              <a:rPr lang="zh-CN" altLang="en-US" dirty="0">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100" name="文本框 99"/>
          <p:cNvSpPr txBox="1"/>
          <p:nvPr/>
        </p:nvSpPr>
        <p:spPr>
          <a:xfrm>
            <a:off x="1433015" y="2088572"/>
            <a:ext cx="4749421" cy="2751522"/>
          </a:xfrm>
          <a:prstGeom prst="rect">
            <a:avLst/>
          </a:prstGeom>
          <a:noFill/>
          <a:ln w="9525">
            <a:noFill/>
          </a:ln>
        </p:spPr>
        <p:txBody>
          <a:bodyPr wrap="square">
            <a:spAutoFit/>
          </a:bodyPr>
          <a:lstStyle/>
          <a:p>
            <a:pPr>
              <a:lnSpc>
                <a:spcPct val="120000"/>
              </a:lnSpc>
            </a:pPr>
            <a:r>
              <a:rPr lang="en-US" altLang="zh-CN" dirty="0" smtClean="0">
                <a:solidFill>
                  <a:srgbClr val="7F00E4"/>
                </a:solidFill>
                <a:latin typeface="黑体" panose="02010609060101010101" pitchFamily="49" charset="-122"/>
                <a:ea typeface="黑体" panose="02010609060101010101" pitchFamily="49" charset="-122"/>
                <a:cs typeface="黑体" panose="02010609060101010101" pitchFamily="49" charset="-122"/>
              </a:rPr>
              <a:t>2</a:t>
            </a:r>
            <a:r>
              <a:rPr lang="zh-CN" altLang="en-US" dirty="0" smtClean="0">
                <a:solidFill>
                  <a:srgbClr val="7F00E4"/>
                </a:solidFill>
                <a:latin typeface="黑体" panose="02010609060101010101" pitchFamily="49" charset="-122"/>
                <a:ea typeface="黑体" panose="02010609060101010101" pitchFamily="49" charset="-122"/>
                <a:cs typeface="黑体" panose="02010609060101010101" pitchFamily="49" charset="-122"/>
              </a:rPr>
              <a:t>）研究现有的系统</a:t>
            </a:r>
          </a:p>
          <a:p>
            <a:pPr>
              <a:lnSpc>
                <a:spcPct val="120000"/>
              </a:lnSpc>
            </a:pPr>
            <a:r>
              <a:rPr lang="en-US" altLang="zh-CN" dirty="0" smtClean="0">
                <a:solidFill>
                  <a:schemeClr val="tx1">
                    <a:lumMod val="65000"/>
                    <a:lumOff val="35000"/>
                  </a:schemeClr>
                </a:solidFill>
                <a:latin typeface="微软雅黑" panose="020B0503020204020204" charset="-122"/>
                <a:ea typeface="微软雅黑" panose="020B0503020204020204" charset="-122"/>
              </a:rPr>
              <a:t>       </a:t>
            </a:r>
            <a:r>
              <a:rPr lang="zh-CN" altLang="en-US" dirty="0" smtClean="0">
                <a:solidFill>
                  <a:schemeClr val="tx1">
                    <a:lumMod val="75000"/>
                  </a:schemeClr>
                </a:solidFill>
                <a:latin typeface="微软雅黑" panose="020B0503020204020204" charset="-122"/>
                <a:ea typeface="微软雅黑" panose="020B0503020204020204" charset="-122"/>
              </a:rPr>
              <a:t>了解任何应用领域的最快速有效的方法，几乎都是研究现有的系统。通过访问具体处理展会事务的两名工作人员</a:t>
            </a:r>
            <a:r>
              <a:rPr lang="zh-CN" altLang="en-US" dirty="0" smtClean="0">
                <a:solidFill>
                  <a:srgbClr val="00B050"/>
                </a:solidFill>
                <a:latin typeface="微软雅黑" panose="020B0503020204020204" charset="-122"/>
                <a:ea typeface="微软雅黑" panose="020B0503020204020204" charset="-122"/>
              </a:rPr>
              <a:t>处理展会事务的大致过程</a:t>
            </a:r>
            <a:r>
              <a:rPr lang="zh-CN" altLang="en-US" dirty="0" smtClean="0">
                <a:solidFill>
                  <a:schemeClr val="tx1">
                    <a:lumMod val="65000"/>
                    <a:lumOff val="35000"/>
                  </a:schemeClr>
                </a:solidFill>
                <a:latin typeface="微软雅黑" panose="020B0503020204020204" charset="-122"/>
                <a:ea typeface="微软雅黑" panose="020B0503020204020204" charset="-122"/>
              </a:rPr>
              <a:t>：</a:t>
            </a:r>
            <a:endParaRPr lang="en-US" altLang="zh-CN" dirty="0" smtClean="0">
              <a:solidFill>
                <a:schemeClr val="tx1">
                  <a:lumMod val="65000"/>
                  <a:lumOff val="35000"/>
                </a:schemeClr>
              </a:solidFill>
              <a:latin typeface="微软雅黑" panose="020B0503020204020204" charset="-122"/>
              <a:ea typeface="微软雅黑" panose="020B0503020204020204" charset="-122"/>
            </a:endParaRPr>
          </a:p>
          <a:p>
            <a:pPr>
              <a:lnSpc>
                <a:spcPct val="120000"/>
              </a:lnSpc>
            </a:pPr>
            <a:r>
              <a:rPr lang="en-US" altLang="zh-CN" dirty="0" smtClean="0">
                <a:solidFill>
                  <a:schemeClr val="tx1">
                    <a:lumMod val="65000"/>
                    <a:lumOff val="35000"/>
                  </a:schemeClr>
                </a:solidFill>
                <a:latin typeface="微软雅黑" panose="020B0503020204020204" charset="-122"/>
                <a:ea typeface="微软雅黑" panose="020B0503020204020204" charset="-122"/>
              </a:rPr>
              <a:t>       </a:t>
            </a:r>
            <a:r>
              <a:rPr lang="zh-CN" altLang="en-US" dirty="0" smtClean="0">
                <a:solidFill>
                  <a:schemeClr val="tx1">
                    <a:lumMod val="75000"/>
                  </a:schemeClr>
                </a:solidFill>
                <a:latin typeface="微软雅黑" panose="020B0503020204020204" charset="-122"/>
                <a:ea typeface="微软雅黑" panose="020B0503020204020204" charset="-122"/>
              </a:rPr>
              <a:t>观众购买门票，同时填写简单的情况调查表，工作人员发放磁卡门票给观众，同时回收调查表，将信息输入计算机中；</a:t>
            </a:r>
            <a:endParaRPr lang="en-US" altLang="zh-CN" dirty="0" smtClean="0">
              <a:solidFill>
                <a:schemeClr val="tx1">
                  <a:lumMod val="75000"/>
                </a:schemeClr>
              </a:solidFill>
              <a:latin typeface="微软雅黑" panose="020B0503020204020204" charset="-122"/>
              <a:ea typeface="微软雅黑" panose="020B0503020204020204" charset="-122"/>
            </a:endParaRPr>
          </a:p>
        </p:txBody>
      </p:sp>
      <p:sp>
        <p:nvSpPr>
          <p:cNvPr id="14" name="TextBox 13"/>
          <p:cNvSpPr txBox="1"/>
          <p:nvPr/>
        </p:nvSpPr>
        <p:spPr>
          <a:xfrm>
            <a:off x="1528549" y="4790365"/>
            <a:ext cx="9853685" cy="1061381"/>
          </a:xfrm>
          <a:prstGeom prst="rect">
            <a:avLst/>
          </a:prstGeom>
          <a:noFill/>
        </p:spPr>
        <p:txBody>
          <a:bodyPr wrap="square" rtlCol="0">
            <a:spAutoFit/>
          </a:bodyPr>
          <a:lstStyle/>
          <a:p>
            <a:pPr>
              <a:lnSpc>
                <a:spcPct val="120000"/>
              </a:lnSpc>
            </a:pPr>
            <a:r>
              <a:rPr lang="en-US" altLang="zh-CN" dirty="0" smtClean="0">
                <a:solidFill>
                  <a:schemeClr val="tx1">
                    <a:lumMod val="65000"/>
                    <a:lumOff val="35000"/>
                  </a:schemeClr>
                </a:solidFill>
                <a:latin typeface="微软雅黑" panose="020B0503020204020204" charset="-122"/>
                <a:ea typeface="微软雅黑" panose="020B0503020204020204" charset="-122"/>
              </a:rPr>
              <a:t>       </a:t>
            </a:r>
            <a:r>
              <a:rPr lang="zh-CN" altLang="en-US" dirty="0" smtClean="0">
                <a:solidFill>
                  <a:schemeClr val="tx1">
                    <a:lumMod val="75000"/>
                  </a:schemeClr>
                </a:solidFill>
                <a:latin typeface="微软雅黑" panose="020B0503020204020204" charset="-122"/>
                <a:ea typeface="微软雅黑" panose="020B0503020204020204" charset="-122"/>
              </a:rPr>
              <a:t>观众在展会入口处刷卡入内参观，每到某参展商处，都可以刷卡，以便数据库随时记录观众的走向，最终汇总并分析和统计得出本次展会所需要的报表。开始时，把展会观众信息管理系统先看做一个黑盒子，如图所示的系统流程图描绘了处理展会事务的大致过程。</a:t>
            </a:r>
          </a:p>
        </p:txBody>
      </p:sp>
      <p:sp>
        <p:nvSpPr>
          <p:cNvPr id="22530" name="Rectangle 2"/>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2529" name="对象 33"/>
          <p:cNvGraphicFramePr>
            <a:graphicFrameLocks noChangeAspect="1"/>
          </p:cNvGraphicFramePr>
          <p:nvPr/>
        </p:nvGraphicFramePr>
        <p:xfrm>
          <a:off x="6141493" y="2074460"/>
          <a:ext cx="5404513" cy="2679161"/>
        </p:xfrm>
        <a:graphic>
          <a:graphicData uri="http://schemas.openxmlformats.org/presentationml/2006/ole">
            <p:oleObj spid="_x0000_s22529" r:id="rId3" imgW="4457734" imgH="2218590" progId="Visio.Drawing.11">
              <p:embed/>
            </p:oleObj>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6" name="文本框 5"/>
          <p:cNvSpPr txBox="1"/>
          <p:nvPr/>
        </p:nvSpPr>
        <p:spPr>
          <a:xfrm>
            <a:off x="1540510" y="4667250"/>
            <a:ext cx="9938385" cy="1160145"/>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在数据流图上</a:t>
            </a:r>
            <a:r>
              <a:rPr lang="zh-CN" altLang="en-US" dirty="0">
                <a:solidFill>
                  <a:srgbClr val="00B050"/>
                </a:solidFill>
                <a:latin typeface="微软雅黑" panose="020B0503020204020204" charset="-122"/>
                <a:ea typeface="微软雅黑" panose="020B0503020204020204" charset="-122"/>
                <a:sym typeface="+mn-ea"/>
              </a:rPr>
              <a:t>直接用数字标明关键功能的执行顺序</a:t>
            </a:r>
            <a:r>
              <a:rPr lang="zh-CN" altLang="en-US" dirty="0">
                <a:latin typeface="微软雅黑" panose="020B0503020204020204" charset="-122"/>
                <a:ea typeface="微软雅黑" panose="020B0503020204020204" charset="-122"/>
                <a:sym typeface="+mn-ea"/>
              </a:rPr>
              <a:t>很有必要，在以后的系统设计过程中这将起重要作用，</a:t>
            </a:r>
            <a:r>
              <a:rPr lang="zh-CN" altLang="en-US" dirty="0">
                <a:solidFill>
                  <a:srgbClr val="00B050"/>
                </a:solidFill>
                <a:latin typeface="微软雅黑" panose="020B0503020204020204" charset="-122"/>
                <a:ea typeface="微软雅黑" panose="020B0503020204020204" charset="-122"/>
                <a:sym typeface="+mn-ea"/>
              </a:rPr>
              <a:t>可以增加及时发现和纠正误解的可能性</a:t>
            </a:r>
            <a:r>
              <a:rPr lang="zh-CN" altLang="en-US" dirty="0">
                <a:latin typeface="微软雅黑" panose="020B0503020204020204" charset="-122"/>
                <a:ea typeface="微软雅黑" panose="020B0503020204020204" charset="-122"/>
                <a:sym typeface="+mn-ea"/>
              </a:rPr>
              <a:t>。必须请系统用户和有关人员仔细审查图中所示的系统流程图，有错误时应及时纠正，有遗漏时应及时补充。</a:t>
            </a:r>
          </a:p>
        </p:txBody>
      </p:sp>
      <p:sp>
        <p:nvSpPr>
          <p:cNvPr id="8" name="文本框 7"/>
          <p:cNvSpPr txBox="1"/>
          <p:nvPr/>
        </p:nvSpPr>
        <p:spPr>
          <a:xfrm>
            <a:off x="1499567" y="2044359"/>
            <a:ext cx="3906520" cy="2859405"/>
          </a:xfrm>
          <a:prstGeom prst="rect">
            <a:avLst/>
          </a:prstGeom>
          <a:noFill/>
        </p:spPr>
        <p:txBody>
          <a:bodyPr wrap="square" rtlCol="0" anchor="t">
            <a:spAutoFit/>
          </a:bodyPr>
          <a:lstStyle/>
          <a:p>
            <a:pPr fontAlgn="auto">
              <a:lnSpc>
                <a:spcPct val="130000"/>
              </a:lnSpc>
            </a:pPr>
            <a:r>
              <a:rPr lang="en-US" altLang="zh-CN" sz="1800"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3）导出新系统的高层逻辑模型</a:t>
            </a:r>
            <a:r>
              <a:rPr lang="en-US" altLang="zh-CN" sz="1600" dirty="0">
                <a:latin typeface="微软雅黑" panose="020B0503020204020204" charset="-122"/>
                <a:ea typeface="微软雅黑" panose="020B0503020204020204" charset="-122"/>
                <a:sym typeface="+mn-ea"/>
              </a:rPr>
              <a:t>     </a:t>
            </a:r>
          </a:p>
          <a:p>
            <a:pPr fontAlgn="auto">
              <a:lnSpc>
                <a:spcPct val="130000"/>
              </a:lnSpc>
            </a:pPr>
            <a:r>
              <a:rPr lang="zh-CN" altLang="en-US" dirty="0">
                <a:latin typeface="微软雅黑" panose="020B0503020204020204" charset="-122"/>
                <a:ea typeface="微软雅黑" panose="020B0503020204020204" charset="-122"/>
                <a:sym typeface="+mn-ea"/>
              </a:rPr>
              <a:t>      </a:t>
            </a:r>
            <a:r>
              <a:rPr lang="zh-CN" altLang="en-US" dirty="0">
                <a:solidFill>
                  <a:srgbClr val="00B050"/>
                </a:solidFill>
                <a:latin typeface="微软雅黑" panose="020B0503020204020204" charset="-122"/>
                <a:ea typeface="微软雅黑" panose="020B0503020204020204" charset="-122"/>
                <a:sym typeface="+mn-ea"/>
              </a:rPr>
              <a:t>下一步应该着重描绘系统的逻辑功能</a:t>
            </a:r>
            <a:r>
              <a:rPr lang="zh-CN" altLang="en-US" dirty="0">
                <a:latin typeface="微软雅黑" panose="020B0503020204020204" charset="-122"/>
                <a:ea typeface="微软雅黑" panose="020B0503020204020204" charset="-122"/>
                <a:sym typeface="+mn-ea"/>
              </a:rPr>
              <a:t>。在可行性研究阶段，还不需要考虑完成这些功能的具体算法，因此</a:t>
            </a:r>
            <a:r>
              <a:rPr lang="zh-CN" altLang="en-US" dirty="0">
                <a:solidFill>
                  <a:srgbClr val="00B050"/>
                </a:solidFill>
                <a:latin typeface="微软雅黑" panose="020B0503020204020204" charset="-122"/>
                <a:ea typeface="微软雅黑" panose="020B0503020204020204" charset="-122"/>
                <a:sym typeface="+mn-ea"/>
              </a:rPr>
              <a:t>没必要把它分解成一系列更具体的数据处理功能，只需画出系统的高层逻辑模型即可</a:t>
            </a:r>
            <a:r>
              <a:rPr lang="zh-CN" altLang="en-US" dirty="0">
                <a:latin typeface="微软雅黑" panose="020B0503020204020204" charset="-122"/>
                <a:ea typeface="微软雅黑" panose="020B0503020204020204" charset="-122"/>
                <a:sym typeface="+mn-ea"/>
              </a:rPr>
              <a:t>，如图所示。</a:t>
            </a:r>
          </a:p>
          <a:p>
            <a:endParaRPr lang="zh-CN" altLang="en-US" dirty="0"/>
          </a:p>
        </p:txBody>
      </p:sp>
      <p:sp>
        <p:nvSpPr>
          <p:cNvPr id="21557" name="Rectangle 53"/>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1505" name="组合 8547"/>
          <p:cNvGrpSpPr>
            <a:grpSpLocks/>
          </p:cNvGrpSpPr>
          <p:nvPr/>
        </p:nvGrpSpPr>
        <p:grpSpPr bwMode="auto">
          <a:xfrm>
            <a:off x="5486399" y="1876565"/>
            <a:ext cx="6127825" cy="2845559"/>
            <a:chOff x="1482" y="2505"/>
            <a:chExt cx="8127" cy="2980"/>
          </a:xfrm>
        </p:grpSpPr>
        <p:sp>
          <p:nvSpPr>
            <p:cNvPr id="21556" name="AutoShape 6882"/>
            <p:cNvSpPr>
              <a:spLocks noChangeArrowheads="1"/>
            </p:cNvSpPr>
            <p:nvPr/>
          </p:nvSpPr>
          <p:spPr bwMode="auto">
            <a:xfrm>
              <a:off x="2461" y="4238"/>
              <a:ext cx="1078" cy="109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55" name="Line 6880"/>
            <p:cNvSpPr>
              <a:spLocks noChangeShapeType="1"/>
            </p:cNvSpPr>
            <p:nvPr/>
          </p:nvSpPr>
          <p:spPr bwMode="auto">
            <a:xfrm>
              <a:off x="2109" y="4915"/>
              <a:ext cx="35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54" name="Line 6891"/>
            <p:cNvSpPr>
              <a:spLocks noChangeShapeType="1"/>
            </p:cNvSpPr>
            <p:nvPr/>
          </p:nvSpPr>
          <p:spPr bwMode="auto">
            <a:xfrm>
              <a:off x="3539" y="4915"/>
              <a:ext cx="5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53" name="Line 6902"/>
            <p:cNvSpPr>
              <a:spLocks noChangeShapeType="1"/>
            </p:cNvSpPr>
            <p:nvPr/>
          </p:nvSpPr>
          <p:spPr bwMode="auto">
            <a:xfrm>
              <a:off x="4979" y="4915"/>
              <a:ext cx="5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52" name="Line 6903"/>
            <p:cNvSpPr>
              <a:spLocks noChangeShapeType="1"/>
            </p:cNvSpPr>
            <p:nvPr/>
          </p:nvSpPr>
          <p:spPr bwMode="auto">
            <a:xfrm>
              <a:off x="6599" y="4915"/>
              <a:ext cx="5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51" name="Line 6907"/>
            <p:cNvSpPr>
              <a:spLocks noChangeShapeType="1"/>
            </p:cNvSpPr>
            <p:nvPr/>
          </p:nvSpPr>
          <p:spPr bwMode="auto">
            <a:xfrm flipV="1">
              <a:off x="8039" y="4573"/>
              <a:ext cx="562" cy="235"/>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50" name="Line 6908"/>
            <p:cNvSpPr>
              <a:spLocks noChangeShapeType="1"/>
            </p:cNvSpPr>
            <p:nvPr/>
          </p:nvSpPr>
          <p:spPr bwMode="auto">
            <a:xfrm>
              <a:off x="8039" y="4974"/>
              <a:ext cx="562" cy="285"/>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9" name="Line 6912"/>
            <p:cNvSpPr>
              <a:spLocks noChangeShapeType="1"/>
            </p:cNvSpPr>
            <p:nvPr/>
          </p:nvSpPr>
          <p:spPr bwMode="auto">
            <a:xfrm flipV="1">
              <a:off x="3000" y="2991"/>
              <a:ext cx="0" cy="1247"/>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8" name="Line 6925"/>
            <p:cNvSpPr>
              <a:spLocks noChangeShapeType="1"/>
            </p:cNvSpPr>
            <p:nvPr/>
          </p:nvSpPr>
          <p:spPr bwMode="auto">
            <a:xfrm flipV="1">
              <a:off x="4521" y="2991"/>
              <a:ext cx="940" cy="1244"/>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7" name="Line 6926"/>
            <p:cNvSpPr>
              <a:spLocks noChangeShapeType="1"/>
            </p:cNvSpPr>
            <p:nvPr/>
          </p:nvSpPr>
          <p:spPr bwMode="auto">
            <a:xfrm flipH="1" flipV="1">
              <a:off x="5670" y="2990"/>
              <a:ext cx="386" cy="124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6" name="Line 6927"/>
            <p:cNvSpPr>
              <a:spLocks noChangeShapeType="1"/>
            </p:cNvSpPr>
            <p:nvPr/>
          </p:nvSpPr>
          <p:spPr bwMode="auto">
            <a:xfrm>
              <a:off x="6158" y="2990"/>
              <a:ext cx="1443" cy="124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5" name="Line 6928"/>
            <p:cNvSpPr>
              <a:spLocks noChangeShapeType="1"/>
            </p:cNvSpPr>
            <p:nvPr/>
          </p:nvSpPr>
          <p:spPr bwMode="auto">
            <a:xfrm>
              <a:off x="3490" y="2990"/>
              <a:ext cx="3914" cy="1242"/>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200"/>
            </a:p>
          </p:txBody>
        </p:sp>
        <p:sp>
          <p:nvSpPr>
            <p:cNvPr id="21544" name="Line 6883"/>
            <p:cNvSpPr>
              <a:spLocks noChangeShapeType="1"/>
            </p:cNvSpPr>
            <p:nvPr/>
          </p:nvSpPr>
          <p:spPr bwMode="auto">
            <a:xfrm>
              <a:off x="2456" y="4547"/>
              <a:ext cx="108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43" name="Text Box 6885"/>
            <p:cNvSpPr txBox="1">
              <a:spLocks noChangeArrowheads="1"/>
            </p:cNvSpPr>
            <p:nvPr/>
          </p:nvSpPr>
          <p:spPr bwMode="auto">
            <a:xfrm>
              <a:off x="2545" y="4783"/>
              <a:ext cx="900" cy="26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输入</a:t>
              </a:r>
              <a:endPar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调查表</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42" name="AutoShape 6887"/>
            <p:cNvSpPr>
              <a:spLocks noChangeArrowheads="1"/>
            </p:cNvSpPr>
            <p:nvPr/>
          </p:nvSpPr>
          <p:spPr bwMode="auto">
            <a:xfrm>
              <a:off x="4081" y="4235"/>
              <a:ext cx="898" cy="109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41" name="Line 6888"/>
            <p:cNvSpPr>
              <a:spLocks noChangeShapeType="1"/>
            </p:cNvSpPr>
            <p:nvPr/>
          </p:nvSpPr>
          <p:spPr bwMode="auto">
            <a:xfrm>
              <a:off x="4079" y="4547"/>
              <a:ext cx="90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40" name="Text Box 6890"/>
            <p:cNvSpPr txBox="1">
              <a:spLocks noChangeArrowheads="1"/>
            </p:cNvSpPr>
            <p:nvPr/>
          </p:nvSpPr>
          <p:spPr bwMode="auto">
            <a:xfrm>
              <a:off x="4155" y="4783"/>
              <a:ext cx="75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刷卡</a:t>
              </a:r>
              <a:endPar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入内</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39" name="AutoShape 6893"/>
            <p:cNvSpPr>
              <a:spLocks noChangeArrowheads="1"/>
            </p:cNvSpPr>
            <p:nvPr/>
          </p:nvSpPr>
          <p:spPr bwMode="auto">
            <a:xfrm>
              <a:off x="5521" y="4235"/>
              <a:ext cx="1078" cy="109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8" name="Line 6894"/>
            <p:cNvSpPr>
              <a:spLocks noChangeShapeType="1"/>
            </p:cNvSpPr>
            <p:nvPr/>
          </p:nvSpPr>
          <p:spPr bwMode="auto">
            <a:xfrm>
              <a:off x="5519" y="4547"/>
              <a:ext cx="108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7" name="Text Box 6896"/>
            <p:cNvSpPr txBox="1">
              <a:spLocks noChangeArrowheads="1"/>
            </p:cNvSpPr>
            <p:nvPr/>
          </p:nvSpPr>
          <p:spPr bwMode="auto">
            <a:xfrm>
              <a:off x="5613" y="4783"/>
              <a:ext cx="90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各展台</a:t>
              </a:r>
              <a:endPar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刷卡</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36" name="AutoShape 6898"/>
            <p:cNvSpPr>
              <a:spLocks noChangeArrowheads="1"/>
            </p:cNvSpPr>
            <p:nvPr/>
          </p:nvSpPr>
          <p:spPr bwMode="auto">
            <a:xfrm>
              <a:off x="7141" y="4235"/>
              <a:ext cx="898" cy="1092"/>
            </a:xfrm>
            <a:prstGeom prst="flowChartAlternateProcess">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5" name="Line 6899"/>
            <p:cNvSpPr>
              <a:spLocks noChangeShapeType="1"/>
            </p:cNvSpPr>
            <p:nvPr/>
          </p:nvSpPr>
          <p:spPr bwMode="auto">
            <a:xfrm>
              <a:off x="7139" y="4547"/>
              <a:ext cx="90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4" name="Text Box 6901"/>
            <p:cNvSpPr txBox="1">
              <a:spLocks noChangeArrowheads="1"/>
            </p:cNvSpPr>
            <p:nvPr/>
          </p:nvSpPr>
          <p:spPr bwMode="auto">
            <a:xfrm>
              <a:off x="7397" y="4826"/>
              <a:ext cx="75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汇总</a:t>
              </a:r>
              <a:endPar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分析</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nvGrpSpPr>
            <p:cNvPr id="21528" name="组合 8531"/>
            <p:cNvGrpSpPr>
              <a:grpSpLocks/>
            </p:cNvGrpSpPr>
            <p:nvPr/>
          </p:nvGrpSpPr>
          <p:grpSpPr bwMode="auto">
            <a:xfrm>
              <a:off x="2271" y="2505"/>
              <a:ext cx="1836" cy="488"/>
              <a:chOff x="2507" y="9713"/>
              <a:chExt cx="1836" cy="488"/>
            </a:xfrm>
          </p:grpSpPr>
          <p:sp>
            <p:nvSpPr>
              <p:cNvPr id="21533" name="Text Box 6914"/>
              <p:cNvSpPr txBox="1">
                <a:spLocks noChangeArrowheads="1"/>
              </p:cNvSpPr>
              <p:nvPr/>
            </p:nvSpPr>
            <p:spPr bwMode="auto">
              <a:xfrm>
                <a:off x="2582" y="9828"/>
                <a:ext cx="1761" cy="2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D1  </a:t>
                </a:r>
                <a:r>
                  <a:rPr kumimoji="0" lang="zh-CN" altLang="en-US"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观众信息文件</a:t>
                </a:r>
                <a:endParaRPr kumimoji="0" lang="zh-CN" altLang="en-US"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32" name="Line 6915"/>
              <p:cNvSpPr>
                <a:spLocks noChangeShapeType="1"/>
              </p:cNvSpPr>
              <p:nvPr/>
            </p:nvSpPr>
            <p:spPr bwMode="auto">
              <a:xfrm>
                <a:off x="2507" y="9713"/>
                <a:ext cx="0" cy="48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1" name="Line 6916"/>
              <p:cNvSpPr>
                <a:spLocks noChangeShapeType="1"/>
              </p:cNvSpPr>
              <p:nvPr/>
            </p:nvSpPr>
            <p:spPr bwMode="auto">
              <a:xfrm>
                <a:off x="2507" y="9722"/>
                <a:ext cx="162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30" name="Line 6917"/>
              <p:cNvSpPr>
                <a:spLocks noChangeShapeType="1"/>
              </p:cNvSpPr>
              <p:nvPr/>
            </p:nvSpPr>
            <p:spPr bwMode="auto">
              <a:xfrm>
                <a:off x="2507" y="10193"/>
                <a:ext cx="1620"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29" name="Line 6918"/>
              <p:cNvSpPr>
                <a:spLocks noChangeShapeType="1"/>
              </p:cNvSpPr>
              <p:nvPr/>
            </p:nvSpPr>
            <p:spPr bwMode="auto">
              <a:xfrm>
                <a:off x="2867" y="9722"/>
                <a:ext cx="0" cy="46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grpSp>
        <p:grpSp>
          <p:nvGrpSpPr>
            <p:cNvPr id="21522" name="组合 8532"/>
            <p:cNvGrpSpPr>
              <a:grpSpLocks/>
            </p:cNvGrpSpPr>
            <p:nvPr/>
          </p:nvGrpSpPr>
          <p:grpSpPr bwMode="auto">
            <a:xfrm>
              <a:off x="4622" y="2505"/>
              <a:ext cx="2254" cy="488"/>
              <a:chOff x="4487" y="9713"/>
              <a:chExt cx="2254" cy="488"/>
            </a:xfrm>
          </p:grpSpPr>
          <p:sp>
            <p:nvSpPr>
              <p:cNvPr id="21527" name="Text Box 6914"/>
              <p:cNvSpPr txBox="1">
                <a:spLocks noChangeArrowheads="1"/>
              </p:cNvSpPr>
              <p:nvPr/>
            </p:nvSpPr>
            <p:spPr bwMode="auto">
              <a:xfrm>
                <a:off x="4581" y="9828"/>
                <a:ext cx="2160" cy="25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D2  </a:t>
                </a:r>
                <a:r>
                  <a:rPr kumimoji="0" lang="zh-CN" altLang="en-US"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磁卡门票信息文件</a:t>
                </a:r>
                <a:endParaRPr kumimoji="0" lang="zh-CN" altLang="en-US"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26" name="Line 6921"/>
              <p:cNvSpPr>
                <a:spLocks noChangeShapeType="1"/>
              </p:cNvSpPr>
              <p:nvPr/>
            </p:nvSpPr>
            <p:spPr bwMode="auto">
              <a:xfrm>
                <a:off x="4487" y="9713"/>
                <a:ext cx="0" cy="48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25" name="Line 6922"/>
              <p:cNvSpPr>
                <a:spLocks noChangeShapeType="1"/>
              </p:cNvSpPr>
              <p:nvPr/>
            </p:nvSpPr>
            <p:spPr bwMode="auto">
              <a:xfrm>
                <a:off x="4487" y="9722"/>
                <a:ext cx="198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24" name="Line 6923"/>
              <p:cNvSpPr>
                <a:spLocks noChangeShapeType="1"/>
              </p:cNvSpPr>
              <p:nvPr/>
            </p:nvSpPr>
            <p:spPr bwMode="auto">
              <a:xfrm>
                <a:off x="4487" y="10193"/>
                <a:ext cx="1984" cy="0"/>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23" name="Line 6924"/>
              <p:cNvSpPr>
                <a:spLocks noChangeShapeType="1"/>
              </p:cNvSpPr>
              <p:nvPr/>
            </p:nvSpPr>
            <p:spPr bwMode="auto">
              <a:xfrm>
                <a:off x="4877" y="9725"/>
                <a:ext cx="0" cy="46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grpSp>
        <p:sp>
          <p:nvSpPr>
            <p:cNvPr id="21521" name="Text Box 6878"/>
            <p:cNvSpPr txBox="1">
              <a:spLocks noChangeArrowheads="1"/>
            </p:cNvSpPr>
            <p:nvPr/>
          </p:nvSpPr>
          <p:spPr bwMode="auto">
            <a:xfrm>
              <a:off x="2898" y="4252"/>
              <a:ext cx="20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12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520" name="Text Box 6878"/>
            <p:cNvSpPr txBox="1">
              <a:spLocks noChangeArrowheads="1"/>
            </p:cNvSpPr>
            <p:nvPr/>
          </p:nvSpPr>
          <p:spPr bwMode="auto">
            <a:xfrm>
              <a:off x="4423" y="4252"/>
              <a:ext cx="20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12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519" name="Text Box 6878"/>
            <p:cNvSpPr txBox="1">
              <a:spLocks noChangeArrowheads="1"/>
            </p:cNvSpPr>
            <p:nvPr/>
          </p:nvSpPr>
          <p:spPr bwMode="auto">
            <a:xfrm>
              <a:off x="5958" y="4252"/>
              <a:ext cx="20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12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21518" name="Text Box 6878"/>
            <p:cNvSpPr txBox="1">
              <a:spLocks noChangeArrowheads="1"/>
            </p:cNvSpPr>
            <p:nvPr/>
          </p:nvSpPr>
          <p:spPr bwMode="auto">
            <a:xfrm>
              <a:off x="7479" y="4252"/>
              <a:ext cx="200" cy="28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en-US" altLang="zh-CN" sz="12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21514" name="组合 8543"/>
            <p:cNvGrpSpPr>
              <a:grpSpLocks/>
            </p:cNvGrpSpPr>
            <p:nvPr/>
          </p:nvGrpSpPr>
          <p:grpSpPr bwMode="auto">
            <a:xfrm>
              <a:off x="8601" y="4342"/>
              <a:ext cx="901" cy="471"/>
              <a:chOff x="8486" y="11550"/>
              <a:chExt cx="901" cy="471"/>
            </a:xfrm>
          </p:grpSpPr>
          <p:sp>
            <p:nvSpPr>
              <p:cNvPr id="21517" name="Text Box 6905"/>
              <p:cNvSpPr txBox="1">
                <a:spLocks noChangeArrowheads="1"/>
              </p:cNvSpPr>
              <p:nvPr/>
            </p:nvSpPr>
            <p:spPr bwMode="auto">
              <a:xfrm>
                <a:off x="8577" y="11678"/>
                <a:ext cx="738" cy="27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参展商</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16" name="Line 6906"/>
              <p:cNvSpPr>
                <a:spLocks noChangeShapeType="1"/>
              </p:cNvSpPr>
              <p:nvPr/>
            </p:nvSpPr>
            <p:spPr bwMode="auto">
              <a:xfrm flipH="1">
                <a:off x="9186" y="11821"/>
                <a:ext cx="198" cy="19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15" name="矩形 8538"/>
              <p:cNvSpPr>
                <a:spLocks noChangeArrowheads="1"/>
              </p:cNvSpPr>
              <p:nvPr/>
            </p:nvSpPr>
            <p:spPr bwMode="auto">
              <a:xfrm>
                <a:off x="8486" y="11550"/>
                <a:ext cx="901" cy="471"/>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grpSp>
        <p:grpSp>
          <p:nvGrpSpPr>
            <p:cNvPr id="21510" name="组合 8542"/>
            <p:cNvGrpSpPr>
              <a:grpSpLocks/>
            </p:cNvGrpSpPr>
            <p:nvPr/>
          </p:nvGrpSpPr>
          <p:grpSpPr bwMode="auto">
            <a:xfrm>
              <a:off x="8601" y="5014"/>
              <a:ext cx="1008" cy="471"/>
              <a:chOff x="8281" y="13068"/>
              <a:chExt cx="1008" cy="471"/>
            </a:xfrm>
          </p:grpSpPr>
          <p:sp>
            <p:nvSpPr>
              <p:cNvPr id="21513" name="Text Box 6905"/>
              <p:cNvSpPr txBox="1">
                <a:spLocks noChangeArrowheads="1"/>
              </p:cNvSpPr>
              <p:nvPr/>
            </p:nvSpPr>
            <p:spPr bwMode="auto">
              <a:xfrm>
                <a:off x="8302" y="13182"/>
                <a:ext cx="987" cy="2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展会公司</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12" name="Line 6906"/>
              <p:cNvSpPr>
                <a:spLocks noChangeShapeType="1"/>
              </p:cNvSpPr>
              <p:nvPr/>
            </p:nvSpPr>
            <p:spPr bwMode="auto">
              <a:xfrm flipH="1">
                <a:off x="8997" y="13339"/>
                <a:ext cx="198" cy="19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11" name="矩形 8541"/>
              <p:cNvSpPr>
                <a:spLocks noChangeArrowheads="1"/>
              </p:cNvSpPr>
              <p:nvPr/>
            </p:nvSpPr>
            <p:spPr bwMode="auto">
              <a:xfrm>
                <a:off x="8281" y="13068"/>
                <a:ext cx="918" cy="471"/>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grpSp>
        <p:grpSp>
          <p:nvGrpSpPr>
            <p:cNvPr id="21506" name="组合 8546"/>
            <p:cNvGrpSpPr>
              <a:grpSpLocks/>
            </p:cNvGrpSpPr>
            <p:nvPr/>
          </p:nvGrpSpPr>
          <p:grpSpPr bwMode="auto">
            <a:xfrm>
              <a:off x="1482" y="4668"/>
              <a:ext cx="845" cy="488"/>
              <a:chOff x="1482" y="4668"/>
              <a:chExt cx="845" cy="488"/>
            </a:xfrm>
          </p:grpSpPr>
          <p:sp>
            <p:nvSpPr>
              <p:cNvPr id="21509" name="Text Box 6878"/>
              <p:cNvSpPr txBox="1">
                <a:spLocks noChangeArrowheads="1"/>
              </p:cNvSpPr>
              <p:nvPr/>
            </p:nvSpPr>
            <p:spPr bwMode="auto">
              <a:xfrm>
                <a:off x="1595" y="4782"/>
                <a:ext cx="732" cy="2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观众</a:t>
                </a:r>
                <a:endParaRPr kumimoji="0" lang="zh-CN" sz="12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21508" name="Line 6879"/>
              <p:cNvSpPr>
                <a:spLocks noChangeShapeType="1"/>
              </p:cNvSpPr>
              <p:nvPr/>
            </p:nvSpPr>
            <p:spPr bwMode="auto">
              <a:xfrm flipH="1">
                <a:off x="1923" y="4974"/>
                <a:ext cx="180" cy="18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200"/>
              </a:p>
            </p:txBody>
          </p:sp>
          <p:sp>
            <p:nvSpPr>
              <p:cNvPr id="21507" name="矩形 8533"/>
              <p:cNvSpPr>
                <a:spLocks noChangeArrowheads="1"/>
              </p:cNvSpPr>
              <p:nvPr/>
            </p:nvSpPr>
            <p:spPr bwMode="auto">
              <a:xfrm>
                <a:off x="1482" y="4668"/>
                <a:ext cx="624" cy="488"/>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200"/>
              </a:p>
            </p:txBody>
          </p:sp>
        </p:gr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6" name="文本框 5"/>
          <p:cNvSpPr txBox="1"/>
          <p:nvPr/>
        </p:nvSpPr>
        <p:spPr>
          <a:xfrm>
            <a:off x="1784350" y="4624705"/>
            <a:ext cx="9694545" cy="1516380"/>
          </a:xfrm>
          <a:prstGeom prst="rect">
            <a:avLst/>
          </a:prstGeom>
          <a:noFill/>
        </p:spPr>
        <p:txBody>
          <a:bodyPr wrap="square" rtlCol="0" anchor="t">
            <a:spAutoFit/>
          </a:bodyPr>
          <a:lstStyle/>
          <a:p>
            <a:pPr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可行性研究的上述步骤可以看做是一个循环：</a:t>
            </a:r>
            <a:r>
              <a:rPr lang="zh-CN" altLang="en-US" dirty="0">
                <a:solidFill>
                  <a:srgbClr val="00B050"/>
                </a:solidFill>
                <a:latin typeface="微软雅黑" panose="020B0503020204020204" charset="-122"/>
                <a:ea typeface="微软雅黑" panose="020B0503020204020204" charset="-122"/>
                <a:sym typeface="+mn-ea"/>
              </a:rPr>
              <a:t>系统分析员定义问题，分析问题，导出试探性的逻辑模型，在此基础上再次定义问题、分析问题、修改逻辑模型</a:t>
            </a:r>
            <a:r>
              <a:rPr lang="zh-CN" altLang="en-US" dirty="0">
                <a:latin typeface="微软雅黑" panose="020B0503020204020204" charset="-122"/>
                <a:ea typeface="微软雅黑" panose="020B0503020204020204" charset="-122"/>
                <a:sym typeface="+mn-ea"/>
              </a:rPr>
              <a:t>……重复这个循环，直至系统逻辑模型得到用户的认可。</a:t>
            </a:r>
          </a:p>
          <a:p>
            <a:pPr algn="l">
              <a:lnSpc>
                <a:spcPct val="130000"/>
              </a:lnSpc>
            </a:pPr>
            <a:endParaRPr lang="zh-CN" altLang="en-US" dirty="0">
              <a:latin typeface="微软雅黑" panose="020B0503020204020204" charset="-122"/>
              <a:ea typeface="微软雅黑" panose="020B0503020204020204" charset="-122"/>
              <a:sym typeface="+mn-ea"/>
            </a:endParaRPr>
          </a:p>
        </p:txBody>
      </p:sp>
      <p:sp>
        <p:nvSpPr>
          <p:cNvPr id="8" name="文本框 7"/>
          <p:cNvSpPr txBox="1"/>
          <p:nvPr/>
        </p:nvSpPr>
        <p:spPr>
          <a:xfrm>
            <a:off x="1784350" y="2221230"/>
            <a:ext cx="4820285" cy="2228850"/>
          </a:xfrm>
          <a:prstGeom prst="rect">
            <a:avLst/>
          </a:prstGeom>
          <a:noFill/>
        </p:spPr>
        <p:txBody>
          <a:bodyPr wrap="square" rtlCol="0" anchor="t">
            <a:spAutoFit/>
          </a:bodyPr>
          <a:lstStyle/>
          <a:p>
            <a:pPr fontAlgn="auto">
              <a:lnSpc>
                <a:spcPct val="130000"/>
              </a:lnSpc>
            </a:pPr>
            <a:r>
              <a:rPr lang="en-US" altLang="zh-CN">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4）进一步确定系统规模和目标</a:t>
            </a:r>
            <a:endParaRPr lang="zh-CN" altLang="en-US" dirty="0">
              <a:latin typeface="微软雅黑" panose="020B0503020204020204" charset="-122"/>
              <a:ea typeface="微软雅黑" panose="020B0503020204020204" charset="-122"/>
              <a:sym typeface="+mn-ea"/>
            </a:endParaRPr>
          </a:p>
          <a:p>
            <a:pPr algn="l" fontAlgn="auto">
              <a:lnSpc>
                <a:spcPct val="130000"/>
              </a:lnSpc>
            </a:pPr>
            <a:r>
              <a:rPr lang="zh-CN" altLang="en-US" dirty="0">
                <a:latin typeface="微软雅黑" panose="020B0503020204020204" charset="-122"/>
                <a:ea typeface="微软雅黑" panose="020B0503020204020204" charset="-122"/>
                <a:sym typeface="+mn-ea"/>
              </a:rPr>
              <a:t>       系统分析员现在对展会观众信息管理系统的认识，已经比问题定义阶段深入多了，</a:t>
            </a:r>
            <a:r>
              <a:rPr lang="zh-CN" altLang="en-US" dirty="0">
                <a:solidFill>
                  <a:srgbClr val="00B050"/>
                </a:solidFill>
                <a:latin typeface="微软雅黑" panose="020B0503020204020204" charset="-122"/>
                <a:ea typeface="微软雅黑" panose="020B0503020204020204" charset="-122"/>
                <a:sym typeface="+mn-ea"/>
              </a:rPr>
              <a:t>根据现有的认识，可以更准确地确定系统规模和目标</a:t>
            </a:r>
            <a:r>
              <a:rPr lang="zh-CN" altLang="en-US" dirty="0">
                <a:latin typeface="微软雅黑" panose="020B0503020204020204" charset="-122"/>
                <a:ea typeface="微软雅黑" panose="020B0503020204020204" charset="-122"/>
                <a:sym typeface="+mn-ea"/>
              </a:rPr>
              <a:t>。如果系统规模有较大变化，则应及时报告给客户，以便做出新的决策。</a:t>
            </a:r>
            <a:endParaRPr lang="zh-CN" altLang="en-US" dirty="0">
              <a:latin typeface="微软雅黑" panose="020B0503020204020204" charset="-122"/>
              <a:ea typeface="微软雅黑" panose="020B0503020204020204" charset="-122"/>
            </a:endParaRPr>
          </a:p>
        </p:txBody>
      </p:sp>
      <p:pic>
        <p:nvPicPr>
          <p:cNvPr id="2" name="图片 1" descr="A000220150321C48PPIC"/>
          <p:cNvPicPr>
            <a:picLocks noChangeAspect="1"/>
          </p:cNvPicPr>
          <p:nvPr/>
        </p:nvPicPr>
        <p:blipFill>
          <a:blip r:embed="rId3" cstate="print"/>
          <a:stretch>
            <a:fillRect/>
          </a:stretch>
        </p:blipFill>
        <p:spPr>
          <a:xfrm>
            <a:off x="6132830" y="1583055"/>
            <a:ext cx="5548630" cy="304165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8" name="文本框 7"/>
          <p:cNvSpPr txBox="1"/>
          <p:nvPr/>
        </p:nvSpPr>
        <p:spPr>
          <a:xfrm>
            <a:off x="1555115" y="1949450"/>
            <a:ext cx="8298180" cy="4010025"/>
          </a:xfrm>
          <a:prstGeom prst="rect">
            <a:avLst/>
          </a:prstGeom>
          <a:noFill/>
        </p:spPr>
        <p:txBody>
          <a:bodyPr wrap="square" rtlCol="0" anchor="t">
            <a:spAutoFit/>
          </a:bodyPr>
          <a:lstStyle/>
          <a:p>
            <a:pPr fontAlgn="auto">
              <a:lnSpc>
                <a:spcPct val="130000"/>
              </a:lnSpc>
            </a:pPr>
            <a:r>
              <a:rPr lang="en-US" altLang="zh-CN">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5）导出和评价供选择的解法</a:t>
            </a:r>
          </a:p>
          <a:p>
            <a:pPr algn="l" fontAlgn="auto">
              <a:lnSpc>
                <a:spcPct val="130000"/>
              </a:lnSpc>
            </a:pPr>
            <a:r>
              <a:rPr lang="zh-CN" altLang="en-US" dirty="0">
                <a:latin typeface="微软雅黑" panose="020B0503020204020204" charset="-122"/>
                <a:ea typeface="微软雅黑" panose="020B0503020204020204" charset="-122"/>
                <a:sym typeface="+mn-ea"/>
              </a:rPr>
              <a:t>       下一步，系统分析员开始考虑如何实现这个系统，导出一些供选择的解决办法，并且分析这些解法的可行性。导出供选择解法的一个常用方法是从数据流图出发，设想几种划分模块的模式，并为每种模式设想一个系统。</a:t>
            </a:r>
          </a:p>
          <a:p>
            <a:pPr algn="l" fontAlgn="auto">
              <a:lnSpc>
                <a:spcPct val="130000"/>
              </a:lnSpc>
            </a:pPr>
            <a:r>
              <a:rPr lang="zh-CN" altLang="en-US" dirty="0">
                <a:latin typeface="微软雅黑" panose="020B0503020204020204" charset="-122"/>
                <a:ea typeface="微软雅黑" panose="020B0503020204020204" charset="-122"/>
                <a:sym typeface="+mn-ea"/>
              </a:rPr>
              <a:t>        在分析供选择的解法时，首先考虑的是</a:t>
            </a:r>
            <a:r>
              <a:rPr lang="zh-CN" altLang="en-US" dirty="0">
                <a:solidFill>
                  <a:srgbClr val="00B050"/>
                </a:solidFill>
                <a:latin typeface="微软雅黑" panose="020B0503020204020204" charset="-122"/>
                <a:ea typeface="微软雅黑" panose="020B0503020204020204" charset="-122"/>
                <a:sym typeface="+mn-ea"/>
              </a:rPr>
              <a:t>技术可行性</a:t>
            </a:r>
            <a:r>
              <a:rPr lang="zh-CN" altLang="en-US" dirty="0">
                <a:latin typeface="微软雅黑" panose="020B0503020204020204" charset="-122"/>
                <a:ea typeface="微软雅黑" panose="020B0503020204020204" charset="-122"/>
                <a:sym typeface="+mn-ea"/>
              </a:rPr>
              <a:t>。显然，从技术角度看不可能实现的方案是没有意义的。接下来考虑</a:t>
            </a:r>
            <a:r>
              <a:rPr lang="zh-CN" altLang="en-US" dirty="0">
                <a:solidFill>
                  <a:srgbClr val="00B050"/>
                </a:solidFill>
                <a:latin typeface="微软雅黑" panose="020B0503020204020204" charset="-122"/>
                <a:ea typeface="微软雅黑" panose="020B0503020204020204" charset="-122"/>
                <a:sym typeface="+mn-ea"/>
              </a:rPr>
              <a:t>操作可行性</a:t>
            </a:r>
            <a:r>
              <a:rPr lang="zh-CN" altLang="en-US" dirty="0">
                <a:latin typeface="微软雅黑" panose="020B0503020204020204" charset="-122"/>
                <a:ea typeface="微软雅黑" panose="020B0503020204020204" charset="-122"/>
                <a:sym typeface="+mn-ea"/>
              </a:rPr>
              <a:t>，由于需要统计观众的出入情况，因此将门票由纸张改为磁卡式门票，同时在入口处设置读卡器，这样可以及时统计观众的动态流向。最后考虑</a:t>
            </a:r>
            <a:r>
              <a:rPr lang="zh-CN" altLang="en-US" dirty="0">
                <a:solidFill>
                  <a:srgbClr val="00B050"/>
                </a:solidFill>
                <a:latin typeface="微软雅黑" panose="020B0503020204020204" charset="-122"/>
                <a:ea typeface="微软雅黑" panose="020B0503020204020204" charset="-122"/>
                <a:sym typeface="+mn-ea"/>
              </a:rPr>
              <a:t>经济可行性</a:t>
            </a:r>
            <a:r>
              <a:rPr lang="zh-CN" altLang="en-US" dirty="0">
                <a:latin typeface="微软雅黑" panose="020B0503020204020204" charset="-122"/>
                <a:ea typeface="微软雅黑" panose="020B0503020204020204" charset="-122"/>
                <a:sym typeface="+mn-ea"/>
              </a:rPr>
              <a:t>，不能简单地比较成本和效益，还应该考虑货币的时间价值。</a:t>
            </a:r>
          </a:p>
          <a:p>
            <a:pPr algn="l" fontAlgn="auto">
              <a:lnSpc>
                <a:spcPct val="130000"/>
              </a:lnSpc>
            </a:pPr>
            <a:r>
              <a:rPr lang="zh-CN" altLang="en-US" dirty="0">
                <a:latin typeface="微软雅黑" panose="020B0503020204020204" charset="-122"/>
                <a:ea typeface="微软雅黑" panose="020B0503020204020204" charset="-122"/>
                <a:sym typeface="+mn-ea"/>
              </a:rPr>
              <a:t>       </a:t>
            </a:r>
          </a:p>
          <a:p>
            <a:pPr algn="l" fontAlgn="auto">
              <a:lnSpc>
                <a:spcPct val="130000"/>
              </a:lnSpc>
            </a:pPr>
            <a:endParaRPr lang="zh-CN" altLang="en-US" dirty="0">
              <a:latin typeface="微软雅黑" panose="020B0503020204020204" charset="-122"/>
              <a:ea typeface="微软雅黑" panose="020B0503020204020204" charset="-122"/>
              <a:sym typeface="+mn-ea"/>
            </a:endParaRPr>
          </a:p>
        </p:txBody>
      </p:sp>
      <p:pic>
        <p:nvPicPr>
          <p:cNvPr id="4" name="图片 3" descr="A000220150322J98PPIC"/>
          <p:cNvPicPr>
            <a:picLocks noChangeAspect="1"/>
          </p:cNvPicPr>
          <p:nvPr/>
        </p:nvPicPr>
        <p:blipFill>
          <a:blip r:embed="rId3" cstate="print"/>
          <a:stretch>
            <a:fillRect/>
          </a:stretch>
        </p:blipFill>
        <p:spPr>
          <a:xfrm>
            <a:off x="9960610" y="1949450"/>
            <a:ext cx="1731010" cy="4009390"/>
          </a:xfrm>
          <a:prstGeom prst="rect">
            <a:avLst/>
          </a:prstGeom>
        </p:spPr>
      </p:pic>
      <p:sp>
        <p:nvSpPr>
          <p:cNvPr id="101" name="文本框 100"/>
          <p:cNvSpPr txBox="1"/>
          <p:nvPr/>
        </p:nvSpPr>
        <p:spPr>
          <a:xfrm>
            <a:off x="1555115" y="5155565"/>
            <a:ext cx="8175625" cy="803910"/>
          </a:xfrm>
          <a:prstGeom prst="rect">
            <a:avLst/>
          </a:prstGeom>
          <a:noFill/>
          <a:ln w="9525">
            <a:noFill/>
          </a:ln>
        </p:spPr>
        <p:txBody>
          <a:bodyPr wrap="square">
            <a:spAutoFit/>
          </a:bodyPr>
          <a:lstStyle/>
          <a:p>
            <a:pPr marL="0" algn="l">
              <a:lnSpc>
                <a:spcPct val="130000"/>
              </a:lnSpc>
            </a:pPr>
            <a:r>
              <a:rPr lang="en-US" altLang="zh-CN" sz="1800" b="0" u="none" dirty="0">
                <a:latin typeface="微软雅黑" panose="020B0503020204020204" charset="-122"/>
                <a:ea typeface="微软雅黑" panose="020B0503020204020204" charset="-122"/>
              </a:rPr>
              <a:t>       </a:t>
            </a:r>
            <a:r>
              <a:rPr lang="zh-CN" altLang="en-US" sz="1800" b="0" u="none" dirty="0">
                <a:latin typeface="微软雅黑" panose="020B0503020204020204" charset="-122"/>
                <a:ea typeface="微软雅黑" panose="020B0503020204020204" charset="-122"/>
              </a:rPr>
              <a:t>为了给客户提供在一定范围内的选择余地，系统分析员应该至少提出3种类型的供选择方案：</a:t>
            </a:r>
            <a:r>
              <a:rPr lang="zh-CN" altLang="en-US" sz="1800" b="0" u="none" dirty="0">
                <a:solidFill>
                  <a:srgbClr val="00B050"/>
                </a:solidFill>
                <a:effectLst/>
                <a:latin typeface="微软雅黑" panose="020B0503020204020204" charset="-122"/>
                <a:ea typeface="微软雅黑" panose="020B0503020204020204" charset="-122"/>
              </a:rPr>
              <a:t>低成本系统、中等成本系统和高成本系统</a:t>
            </a:r>
            <a:r>
              <a:rPr lang="zh-CN" altLang="en-US" sz="1800" b="0" u="none" dirty="0">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8" name="文本框 7"/>
          <p:cNvSpPr txBox="1"/>
          <p:nvPr/>
        </p:nvSpPr>
        <p:spPr>
          <a:xfrm>
            <a:off x="1555115" y="1949450"/>
            <a:ext cx="4792980" cy="2941320"/>
          </a:xfrm>
          <a:prstGeom prst="rect">
            <a:avLst/>
          </a:prstGeom>
          <a:noFill/>
        </p:spPr>
        <p:txBody>
          <a:bodyPr wrap="square" rtlCol="0" anchor="t">
            <a:spAutoFit/>
          </a:bodyPr>
          <a:lstStyle/>
          <a:p>
            <a:pPr fontAlgn="auto">
              <a:lnSpc>
                <a:spcPct val="130000"/>
              </a:lnSpc>
            </a:pPr>
            <a:r>
              <a:rPr lang="en-US" altLang="zh-CN"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5）导出和评价供选择的解法</a:t>
            </a:r>
          </a:p>
          <a:p>
            <a:pPr fontAlgn="auto">
              <a:lnSpc>
                <a:spcPct val="130000"/>
              </a:lnSpc>
            </a:pPr>
            <a:r>
              <a:rPr lang="zh-CN" altLang="en-US" dirty="0">
                <a:latin typeface="微软雅黑" panose="020B0503020204020204" charset="-122"/>
                <a:ea typeface="微软雅黑" panose="020B0503020204020204" charset="-122"/>
                <a:sym typeface="+mn-ea"/>
              </a:rPr>
              <a:t>（1）低成本系统方案。</a:t>
            </a:r>
          </a:p>
          <a:p>
            <a:pPr algn="l" fontAlgn="auto">
              <a:lnSpc>
                <a:spcPct val="130000"/>
              </a:lnSpc>
            </a:pPr>
            <a:r>
              <a:rPr lang="zh-CN" altLang="en-US" dirty="0">
                <a:latin typeface="微软雅黑" panose="020B0503020204020204" charset="-122"/>
                <a:ea typeface="微软雅黑" panose="020B0503020204020204" charset="-122"/>
                <a:sym typeface="+mn-ea"/>
              </a:rPr>
              <a:t>       如果不采用磁卡式门票，仍然使用纸质门票，只是将观众信息输入计算机，这样</a:t>
            </a:r>
            <a:r>
              <a:rPr lang="zh-CN" altLang="en-US" dirty="0">
                <a:solidFill>
                  <a:srgbClr val="00B050"/>
                </a:solidFill>
                <a:latin typeface="微软雅黑" panose="020B0503020204020204" charset="-122"/>
                <a:ea typeface="微软雅黑" panose="020B0503020204020204" charset="-122"/>
                <a:sym typeface="+mn-ea"/>
              </a:rPr>
              <a:t>人工成本很低</a:t>
            </a:r>
            <a:r>
              <a:rPr lang="zh-CN" altLang="en-US" dirty="0">
                <a:latin typeface="微软雅黑" panose="020B0503020204020204" charset="-122"/>
                <a:ea typeface="微软雅黑" panose="020B0503020204020204" charset="-122"/>
                <a:sym typeface="+mn-ea"/>
              </a:rPr>
              <a:t>，大约可减少一半，即每年可减少1.2万元。</a:t>
            </a:r>
            <a:r>
              <a:rPr lang="zh-CN" altLang="en-US" dirty="0">
                <a:solidFill>
                  <a:srgbClr val="00B050"/>
                </a:solidFill>
                <a:latin typeface="微软雅黑" panose="020B0503020204020204" charset="-122"/>
                <a:ea typeface="微软雅黑" panose="020B0503020204020204" charset="-122"/>
                <a:sym typeface="+mn-ea"/>
              </a:rPr>
              <a:t>除了已经进行的可行性研究的费用外，不再需要新的投资。</a:t>
            </a:r>
            <a:r>
              <a:rPr lang="zh-CN" altLang="en-US" dirty="0">
                <a:latin typeface="微软雅黑" panose="020B0503020204020204" charset="-122"/>
                <a:ea typeface="微软雅黑" panose="020B0503020204020204" charset="-122"/>
                <a:sym typeface="+mn-ea"/>
              </a:rPr>
              <a:t>这是一个很诱人的低成本方案。</a:t>
            </a:r>
          </a:p>
        </p:txBody>
      </p:sp>
      <p:sp>
        <p:nvSpPr>
          <p:cNvPr id="101" name="文本框 100"/>
          <p:cNvSpPr txBox="1"/>
          <p:nvPr/>
        </p:nvSpPr>
        <p:spPr>
          <a:xfrm>
            <a:off x="1555115" y="4768850"/>
            <a:ext cx="9761855" cy="1516380"/>
          </a:xfrm>
          <a:prstGeom prst="rect">
            <a:avLst/>
          </a:prstGeom>
          <a:noFill/>
          <a:ln w="9525">
            <a:noFill/>
          </a:ln>
        </p:spPr>
        <p:txBody>
          <a:bodyPr wrap="square">
            <a:spAutoFit/>
          </a:bodyPr>
          <a:lstStyle/>
          <a:p>
            <a:pPr marL="0" algn="l">
              <a:lnSpc>
                <a:spcPct val="130000"/>
              </a:lnSpc>
            </a:pPr>
            <a:r>
              <a:rPr lang="en-US" altLang="zh-CN" sz="1800" b="0" u="none"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sym typeface="+mn-ea"/>
              </a:rPr>
              <a:t>但是也必须认识上述低成本方案的</a:t>
            </a:r>
            <a:r>
              <a:rPr lang="zh-CN" altLang="en-US" dirty="0">
                <a:solidFill>
                  <a:srgbClr val="00B050"/>
                </a:solidFill>
                <a:latin typeface="微软雅黑" panose="020B0503020204020204" charset="-122"/>
                <a:ea typeface="微软雅黑" panose="020B0503020204020204" charset="-122"/>
                <a:sym typeface="+mn-ea"/>
              </a:rPr>
              <a:t>缺点</a:t>
            </a:r>
            <a:r>
              <a:rPr lang="zh-CN" altLang="en-US" dirty="0">
                <a:latin typeface="微软雅黑" panose="020B0503020204020204" charset="-122"/>
                <a:ea typeface="微软雅黑" panose="020B0503020204020204" charset="-122"/>
                <a:sym typeface="+mn-ea"/>
              </a:rPr>
              <a:t>：没有对展会观众信息的分析和统计，不能记录观众感兴趣的参展项目及其逗留时间。随着展会规模的扩大，人工处理展会事务的费用也将成比例地增加。</a:t>
            </a:r>
          </a:p>
          <a:p>
            <a:pPr marL="0" algn="l">
              <a:lnSpc>
                <a:spcPct val="130000"/>
              </a:lnSpc>
            </a:pPr>
            <a:r>
              <a:rPr lang="en-US" altLang="zh-CN" sz="1800" b="0" u="none"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p:txBody>
      </p:sp>
      <p:pic>
        <p:nvPicPr>
          <p:cNvPr id="2" name="图片 1" descr="A000220150322G83PPIC"/>
          <p:cNvPicPr>
            <a:picLocks noChangeAspect="1"/>
          </p:cNvPicPr>
          <p:nvPr/>
        </p:nvPicPr>
        <p:blipFill>
          <a:blip r:embed="rId3" cstate="print"/>
          <a:stretch>
            <a:fillRect/>
          </a:stretch>
        </p:blipFill>
        <p:spPr>
          <a:xfrm>
            <a:off x="6939915" y="2464435"/>
            <a:ext cx="4224655" cy="2203450"/>
          </a:xfrm>
          <a:prstGeom prst="rect">
            <a:avLst/>
          </a:prstGeom>
        </p:spPr>
      </p:pic>
      <p:sp>
        <p:nvSpPr>
          <p:cNvPr id="5" name="矩形 4"/>
          <p:cNvSpPr/>
          <p:nvPr/>
        </p:nvSpPr>
        <p:spPr>
          <a:xfrm>
            <a:off x="8730615" y="1962785"/>
            <a:ext cx="1150364" cy="396240"/>
          </a:xfrm>
          <a:prstGeom prst="rect">
            <a:avLst/>
          </a:prstGeom>
          <a:noFill/>
          <a:ln>
            <a:noFill/>
          </a:ln>
        </p:spPr>
        <p:txBody>
          <a:bodyPr wrap="square" rtlCol="0" anchor="t">
            <a:spAutoFit/>
          </a:bodyPr>
          <a:lstStyle/>
          <a:p>
            <a:pPr algn="ctr"/>
            <a:r>
              <a:rPr lang="zh-CN" altLang="en-US" sz="2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低成本</a:t>
            </a:r>
          </a:p>
        </p:txBody>
      </p:sp>
      <p:sp>
        <p:nvSpPr>
          <p:cNvPr id="6" name="矩形 5"/>
          <p:cNvSpPr/>
          <p:nvPr/>
        </p:nvSpPr>
        <p:spPr>
          <a:xfrm>
            <a:off x="10124440" y="1962785"/>
            <a:ext cx="1175906" cy="396240"/>
          </a:xfrm>
          <a:prstGeom prst="rect">
            <a:avLst/>
          </a:prstGeom>
          <a:noFill/>
          <a:ln>
            <a:noFill/>
          </a:ln>
        </p:spPr>
        <p:txBody>
          <a:bodyPr wrap="square" rtlCol="0" anchor="t">
            <a:spAutoFit/>
          </a:bodyPr>
          <a:lstStyle/>
          <a:p>
            <a:pPr algn="ctr"/>
            <a:r>
              <a:rPr lang="zh-CN" altLang="en-US" sz="2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高成本</a:t>
            </a:r>
          </a:p>
        </p:txBody>
      </p:sp>
      <p:sp>
        <p:nvSpPr>
          <p:cNvPr id="9" name="矩形 8"/>
          <p:cNvSpPr/>
          <p:nvPr/>
        </p:nvSpPr>
        <p:spPr>
          <a:xfrm>
            <a:off x="6832600" y="1962785"/>
            <a:ext cx="1414145" cy="396240"/>
          </a:xfrm>
          <a:prstGeom prst="rect">
            <a:avLst/>
          </a:prstGeom>
          <a:noFill/>
          <a:ln>
            <a:noFill/>
          </a:ln>
        </p:spPr>
        <p:txBody>
          <a:bodyPr wrap="square" rtlCol="0" anchor="t">
            <a:spAutoFit/>
          </a:bodyPr>
          <a:lstStyle/>
          <a:p>
            <a:pPr algn="ctr"/>
            <a:r>
              <a:rPr lang="zh-CN" altLang="en-US" sz="2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中等成本</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8" name="文本框 7"/>
          <p:cNvSpPr txBox="1"/>
          <p:nvPr/>
        </p:nvSpPr>
        <p:spPr>
          <a:xfrm>
            <a:off x="1514171" y="2138651"/>
            <a:ext cx="4217888" cy="2613023"/>
          </a:xfrm>
          <a:prstGeom prst="rect">
            <a:avLst/>
          </a:prstGeom>
          <a:noFill/>
        </p:spPr>
        <p:txBody>
          <a:bodyPr wrap="square" rtlCol="0" anchor="t">
            <a:spAutoFit/>
          </a:bodyPr>
          <a:lstStyle/>
          <a:p>
            <a:pPr fontAlgn="auto">
              <a:lnSpc>
                <a:spcPct val="130000"/>
              </a:lnSpc>
            </a:pPr>
            <a:r>
              <a:rPr lang="en-US" altLang="zh-CN" dirty="0">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5）导出和评价供选择的解法</a:t>
            </a:r>
          </a:p>
          <a:p>
            <a:pPr fontAlgn="auto">
              <a:lnSpc>
                <a:spcPct val="130000"/>
              </a:lnSpc>
            </a:pPr>
            <a:r>
              <a:rPr lang="zh-CN" altLang="en-US" dirty="0">
                <a:latin typeface="微软雅黑" panose="020B0503020204020204" charset="-122"/>
                <a:ea typeface="微软雅黑" panose="020B0503020204020204" charset="-122"/>
                <a:sym typeface="+mn-ea"/>
              </a:rPr>
              <a:t>（2）中等成本系统方案。</a:t>
            </a:r>
          </a:p>
          <a:p>
            <a:pPr fontAlgn="auto">
              <a:lnSpc>
                <a:spcPct val="130000"/>
              </a:lnSpc>
            </a:pPr>
            <a:r>
              <a:rPr lang="zh-CN" altLang="en-US" dirty="0">
                <a:latin typeface="微软雅黑" panose="020B0503020204020204" charset="-122"/>
                <a:ea typeface="微软雅黑" panose="020B0503020204020204" charset="-122"/>
                <a:sym typeface="+mn-ea"/>
              </a:rPr>
              <a:t>       作为中等成本的解决方案，建议采用费用较为低廉的磁卡门票，</a:t>
            </a:r>
            <a:r>
              <a:rPr lang="zh-CN" altLang="en-US" dirty="0">
                <a:solidFill>
                  <a:srgbClr val="00B050"/>
                </a:solidFill>
                <a:latin typeface="微软雅黑" panose="020B0503020204020204" charset="-122"/>
                <a:ea typeface="微软雅黑" panose="020B0503020204020204" charset="-122"/>
                <a:sym typeface="+mn-ea"/>
              </a:rPr>
              <a:t>不仅可以记录观众信息，还能在各参展商处设置读卡器，记录观众的逗留时间</a:t>
            </a:r>
            <a:r>
              <a:rPr lang="zh-CN" altLang="en-US" dirty="0" smtClean="0">
                <a:solidFill>
                  <a:srgbClr val="00B050"/>
                </a:solidFill>
                <a:latin typeface="微软雅黑" panose="020B0503020204020204" charset="-122"/>
                <a:ea typeface="微软雅黑" panose="020B0503020204020204" charset="-122"/>
                <a:sym typeface="+mn-ea"/>
              </a:rPr>
              <a:t>。</a:t>
            </a:r>
            <a:endParaRPr lang="en-US" altLang="zh-CN" dirty="0" smtClean="0">
              <a:solidFill>
                <a:srgbClr val="00B050"/>
              </a:solidFill>
              <a:latin typeface="微软雅黑" panose="020B0503020204020204" charset="-122"/>
              <a:ea typeface="微软雅黑" panose="020B0503020204020204" charset="-122"/>
              <a:sym typeface="+mn-ea"/>
            </a:endParaRPr>
          </a:p>
          <a:p>
            <a:pPr fontAlgn="auto">
              <a:lnSpc>
                <a:spcPct val="130000"/>
              </a:lnSpc>
            </a:pPr>
            <a:r>
              <a:rPr lang="zh-CN" altLang="en-US" dirty="0" smtClean="0">
                <a:latin typeface="微软雅黑" panose="020B0503020204020204" charset="-122"/>
                <a:ea typeface="微软雅黑" panose="020B0503020204020204" charset="-122"/>
                <a:sym typeface="+mn-ea"/>
              </a:rPr>
              <a:t>       这样，基本实现现有系统的</a:t>
            </a:r>
            <a:r>
              <a:rPr lang="zh-CN" altLang="en-US" dirty="0" smtClean="0">
                <a:solidFill>
                  <a:srgbClr val="00B050"/>
                </a:solidFill>
                <a:latin typeface="微软雅黑" panose="020B0503020204020204" charset="-122"/>
                <a:ea typeface="微软雅黑" panose="020B0503020204020204" charset="-122"/>
                <a:sym typeface="+mn-ea"/>
              </a:rPr>
              <a:t>功能</a:t>
            </a:r>
            <a:r>
              <a:rPr lang="zh-CN" altLang="en-US" dirty="0" smtClean="0">
                <a:latin typeface="微软雅黑" panose="020B0503020204020204" charset="-122"/>
                <a:ea typeface="微软雅黑" panose="020B0503020204020204" charset="-122"/>
                <a:sym typeface="+mn-ea"/>
              </a:rPr>
              <a:t>：</a:t>
            </a:r>
            <a:endParaRPr lang="zh-CN" altLang="en-US" dirty="0">
              <a:solidFill>
                <a:srgbClr val="00B050"/>
              </a:solidFill>
              <a:latin typeface="微软雅黑" panose="020B0503020204020204" charset="-122"/>
              <a:ea typeface="微软雅黑" panose="020B0503020204020204" charset="-122"/>
              <a:sym typeface="+mn-ea"/>
            </a:endParaRPr>
          </a:p>
        </p:txBody>
      </p:sp>
      <p:sp>
        <p:nvSpPr>
          <p:cNvPr id="101" name="文本框 100"/>
          <p:cNvSpPr txBox="1"/>
          <p:nvPr/>
        </p:nvSpPr>
        <p:spPr>
          <a:xfrm>
            <a:off x="1514172" y="4723736"/>
            <a:ext cx="10034905" cy="1172629"/>
          </a:xfrm>
          <a:prstGeom prst="rect">
            <a:avLst/>
          </a:prstGeom>
          <a:noFill/>
          <a:ln w="9525">
            <a:noFill/>
          </a:ln>
        </p:spPr>
        <p:txBody>
          <a:bodyPr wrap="square">
            <a:spAutoFit/>
          </a:bodyPr>
          <a:lstStyle/>
          <a:p>
            <a:pPr fontAlgn="auto">
              <a:lnSpc>
                <a:spcPct val="130000"/>
              </a:lnSpc>
            </a:pPr>
            <a:r>
              <a:rPr lang="zh-CN" altLang="en-US" dirty="0" smtClean="0">
                <a:latin typeface="微软雅黑" panose="020B0503020204020204" charset="-122"/>
                <a:ea typeface="微软雅黑" panose="020B0503020204020204" charset="-122"/>
                <a:sym typeface="+mn-ea"/>
              </a:rPr>
              <a:t>       观众</a:t>
            </a:r>
            <a:r>
              <a:rPr lang="zh-CN" altLang="en-US" dirty="0">
                <a:latin typeface="微软雅黑" panose="020B0503020204020204" charset="-122"/>
                <a:ea typeface="微软雅黑" panose="020B0503020204020204" charset="-122"/>
                <a:sym typeface="+mn-ea"/>
              </a:rPr>
              <a:t>信息调查表交给工作人员，操作员把这些数据通过终端送入计算机，观众在参观过程中在展台前刷卡，数据被搜集并存储在数据库中。最后运行系统程序，从数据库中读取数据，统计和分析出观众分类统计表、参观时间明细表等，并可根据需要打印报表。</a:t>
            </a:r>
            <a:endParaRPr lang="zh-CN" altLang="en-US" dirty="0">
              <a:latin typeface="微软雅黑" panose="020B0503020204020204" charset="-122"/>
              <a:ea typeface="微软雅黑" panose="020B0503020204020204" charset="-122"/>
            </a:endParaRPr>
          </a:p>
        </p:txBody>
      </p:sp>
      <p:sp>
        <p:nvSpPr>
          <p:cNvPr id="13337" name="Rectangle 2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3313" name="组合 8691"/>
          <p:cNvGrpSpPr>
            <a:grpSpLocks/>
          </p:cNvGrpSpPr>
          <p:nvPr/>
        </p:nvGrpSpPr>
        <p:grpSpPr bwMode="auto">
          <a:xfrm>
            <a:off x="5895833" y="1978926"/>
            <a:ext cx="5746059" cy="2784143"/>
            <a:chOff x="1445" y="6956"/>
            <a:chExt cx="7811" cy="3648"/>
          </a:xfrm>
        </p:grpSpPr>
        <p:sp>
          <p:nvSpPr>
            <p:cNvPr id="13336" name="Line 6941"/>
            <p:cNvSpPr>
              <a:spLocks noChangeShapeType="1"/>
            </p:cNvSpPr>
            <p:nvPr/>
          </p:nvSpPr>
          <p:spPr bwMode="auto">
            <a:xfrm>
              <a:off x="7268" y="7730"/>
              <a:ext cx="1" cy="624"/>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35" name="Line 6937"/>
            <p:cNvSpPr>
              <a:spLocks noChangeShapeType="1"/>
            </p:cNvSpPr>
            <p:nvPr/>
          </p:nvSpPr>
          <p:spPr bwMode="auto">
            <a:xfrm>
              <a:off x="5872" y="7354"/>
              <a:ext cx="85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34" name="Line 6953"/>
            <p:cNvSpPr>
              <a:spLocks noChangeShapeType="1"/>
            </p:cNvSpPr>
            <p:nvPr/>
          </p:nvSpPr>
          <p:spPr bwMode="auto">
            <a:xfrm flipV="1">
              <a:off x="2235" y="7461"/>
              <a:ext cx="1363" cy="1099"/>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33" name="Line 6932"/>
            <p:cNvSpPr>
              <a:spLocks noChangeShapeType="1"/>
            </p:cNvSpPr>
            <p:nvPr/>
          </p:nvSpPr>
          <p:spPr bwMode="auto">
            <a:xfrm>
              <a:off x="2691" y="7273"/>
              <a:ext cx="90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32" name="AutoShape 6933"/>
            <p:cNvSpPr>
              <a:spLocks noChangeArrowheads="1"/>
            </p:cNvSpPr>
            <p:nvPr/>
          </p:nvSpPr>
          <p:spPr bwMode="auto">
            <a:xfrm>
              <a:off x="3528" y="7127"/>
              <a:ext cx="900" cy="468"/>
            </a:xfrm>
            <a:prstGeom prst="flowChartDisplay">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31" name="Text Box 6934"/>
            <p:cNvSpPr txBox="1">
              <a:spLocks noChangeArrowheads="1"/>
            </p:cNvSpPr>
            <p:nvPr/>
          </p:nvSpPr>
          <p:spPr bwMode="auto">
            <a:xfrm>
              <a:off x="3711" y="7242"/>
              <a:ext cx="684" cy="19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终端</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3330" name="Line 6935"/>
            <p:cNvSpPr>
              <a:spLocks noChangeShapeType="1"/>
            </p:cNvSpPr>
            <p:nvPr/>
          </p:nvSpPr>
          <p:spPr bwMode="auto">
            <a:xfrm>
              <a:off x="4428" y="7354"/>
              <a:ext cx="540" cy="0"/>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29" name="AutoShape 6938"/>
            <p:cNvSpPr>
              <a:spLocks noChangeArrowheads="1"/>
            </p:cNvSpPr>
            <p:nvPr/>
          </p:nvSpPr>
          <p:spPr bwMode="auto">
            <a:xfrm>
              <a:off x="6726" y="6960"/>
              <a:ext cx="1080" cy="780"/>
            </a:xfrm>
            <a:prstGeom prst="flowChartMagneticDisk">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28" name="Text Box 6939"/>
            <p:cNvSpPr txBox="1">
              <a:spLocks noChangeArrowheads="1"/>
            </p:cNvSpPr>
            <p:nvPr/>
          </p:nvSpPr>
          <p:spPr bwMode="auto">
            <a:xfrm>
              <a:off x="6946" y="7217"/>
              <a:ext cx="747" cy="26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事务</a:t>
              </a: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数据</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3327" name="Text Box 6940"/>
            <p:cNvSpPr txBox="1">
              <a:spLocks noChangeArrowheads="1"/>
            </p:cNvSpPr>
            <p:nvPr/>
          </p:nvSpPr>
          <p:spPr bwMode="auto">
            <a:xfrm>
              <a:off x="4967" y="7010"/>
              <a:ext cx="1013" cy="680"/>
            </a:xfrm>
            <a:prstGeom prst="rect">
              <a:avLst/>
            </a:prstGeom>
            <a:solidFill>
              <a:srgbClr val="FFFFFF"/>
            </a:solidFill>
            <a:ln w="9525">
              <a:solidFill>
                <a:srgbClr val="000000"/>
              </a:solidFill>
              <a:miter lim="800000"/>
              <a:headEnd/>
              <a:tailEnd/>
            </a:ln>
          </p:spPr>
          <p:txBody>
            <a:bodyPr vert="horz" wrap="square" lIns="54000" tIns="45720" rIns="5400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数据搜集程序</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3326" name="Line 6942"/>
            <p:cNvSpPr>
              <a:spLocks noChangeShapeType="1"/>
            </p:cNvSpPr>
            <p:nvPr/>
          </p:nvSpPr>
          <p:spPr bwMode="auto">
            <a:xfrm flipH="1">
              <a:off x="6465" y="8883"/>
              <a:ext cx="683" cy="795"/>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25" name="Line 6943"/>
            <p:cNvSpPr>
              <a:spLocks noChangeShapeType="1"/>
            </p:cNvSpPr>
            <p:nvPr/>
          </p:nvSpPr>
          <p:spPr bwMode="auto">
            <a:xfrm>
              <a:off x="7428" y="8946"/>
              <a:ext cx="837" cy="768"/>
            </a:xfrm>
            <a:prstGeom prst="line">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1400"/>
            </a:p>
          </p:txBody>
        </p:sp>
        <p:sp>
          <p:nvSpPr>
            <p:cNvPr id="13324" name="AutoShape 6930"/>
            <p:cNvSpPr>
              <a:spLocks noChangeArrowheads="1"/>
            </p:cNvSpPr>
            <p:nvPr/>
          </p:nvSpPr>
          <p:spPr bwMode="auto">
            <a:xfrm>
              <a:off x="1445" y="8560"/>
              <a:ext cx="1440" cy="624"/>
            </a:xfrm>
            <a:prstGeom prst="parallelogram">
              <a:avLst>
                <a:gd name="adj" fmla="val 57692"/>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23" name="Text Box 6931"/>
            <p:cNvSpPr txBox="1">
              <a:spLocks noChangeArrowheads="1"/>
            </p:cNvSpPr>
            <p:nvPr/>
          </p:nvSpPr>
          <p:spPr bwMode="auto">
            <a:xfrm>
              <a:off x="1713" y="8725"/>
              <a:ext cx="1012" cy="23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调查表</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3322" name="AutoShape 6951"/>
            <p:cNvSpPr>
              <a:spLocks noChangeArrowheads="1"/>
            </p:cNvSpPr>
            <p:nvPr/>
          </p:nvSpPr>
          <p:spPr bwMode="auto">
            <a:xfrm>
              <a:off x="1448" y="6956"/>
              <a:ext cx="1440" cy="624"/>
            </a:xfrm>
            <a:prstGeom prst="parallelogram">
              <a:avLst>
                <a:gd name="adj" fmla="val 57692"/>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21" name="Text Box 6952"/>
            <p:cNvSpPr txBox="1">
              <a:spLocks noChangeArrowheads="1"/>
            </p:cNvSpPr>
            <p:nvPr/>
          </p:nvSpPr>
          <p:spPr bwMode="auto">
            <a:xfrm>
              <a:off x="1782" y="7062"/>
              <a:ext cx="780" cy="26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门票</a:t>
              </a:r>
              <a:endPar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信息</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3320" name="Text Box 6936"/>
            <p:cNvSpPr txBox="1">
              <a:spLocks noChangeArrowheads="1"/>
            </p:cNvSpPr>
            <p:nvPr/>
          </p:nvSpPr>
          <p:spPr bwMode="auto">
            <a:xfrm>
              <a:off x="6752" y="8349"/>
              <a:ext cx="1015" cy="680"/>
            </a:xfrm>
            <a:prstGeom prst="rect">
              <a:avLst/>
            </a:prstGeom>
            <a:solidFill>
              <a:srgbClr val="FFFFFF"/>
            </a:solidFill>
            <a:ln w="9525">
              <a:solidFill>
                <a:srgbClr val="000000"/>
              </a:solidFill>
              <a:miter lim="800000"/>
              <a:headEnd/>
              <a:tailEnd/>
            </a:ln>
          </p:spPr>
          <p:txBody>
            <a:bodyPr vert="horz" wrap="square" lIns="54000" tIns="45720" rIns="5400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数据搜集程序</a:t>
              </a:r>
              <a:endParaRPr kumimoji="0" lang="zh-CN" sz="14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13317" name="组合 8689"/>
            <p:cNvGrpSpPr>
              <a:grpSpLocks/>
            </p:cNvGrpSpPr>
            <p:nvPr/>
          </p:nvGrpSpPr>
          <p:grpSpPr bwMode="auto">
            <a:xfrm>
              <a:off x="5629" y="9623"/>
              <a:ext cx="1771" cy="981"/>
              <a:chOff x="5506" y="9623"/>
              <a:chExt cx="1771" cy="981"/>
            </a:xfrm>
          </p:grpSpPr>
          <p:sp>
            <p:nvSpPr>
              <p:cNvPr id="13319" name="AutoShape 6948"/>
              <p:cNvSpPr>
                <a:spLocks noChangeArrowheads="1"/>
              </p:cNvSpPr>
              <p:nvPr/>
            </p:nvSpPr>
            <p:spPr bwMode="auto">
              <a:xfrm>
                <a:off x="5506" y="9623"/>
                <a:ext cx="1620" cy="981"/>
              </a:xfrm>
              <a:prstGeom prst="flowChartPunchedTap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18" name="Text Box 6949"/>
              <p:cNvSpPr txBox="1">
                <a:spLocks noChangeArrowheads="1"/>
              </p:cNvSpPr>
              <p:nvPr/>
            </p:nvSpPr>
            <p:spPr bwMode="auto">
              <a:xfrm>
                <a:off x="5515" y="9891"/>
                <a:ext cx="1762" cy="32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观众分类</a:t>
                </a:r>
                <a:endPar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分析表</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nvGrpSpPr>
            <p:cNvPr id="13314" name="组合 8690"/>
            <p:cNvGrpSpPr>
              <a:grpSpLocks/>
            </p:cNvGrpSpPr>
            <p:nvPr/>
          </p:nvGrpSpPr>
          <p:grpSpPr bwMode="auto">
            <a:xfrm>
              <a:off x="7419" y="9623"/>
              <a:ext cx="1837" cy="981"/>
              <a:chOff x="7419" y="9623"/>
              <a:chExt cx="1837" cy="981"/>
            </a:xfrm>
          </p:grpSpPr>
          <p:sp>
            <p:nvSpPr>
              <p:cNvPr id="13316" name="AutoShape 6948"/>
              <p:cNvSpPr>
                <a:spLocks noChangeArrowheads="1"/>
              </p:cNvSpPr>
              <p:nvPr/>
            </p:nvSpPr>
            <p:spPr bwMode="auto">
              <a:xfrm>
                <a:off x="7450" y="9623"/>
                <a:ext cx="1620" cy="981"/>
              </a:xfrm>
              <a:prstGeom prst="flowChartPunchedTape">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1400"/>
              </a:p>
            </p:txBody>
          </p:sp>
          <p:sp>
            <p:nvSpPr>
              <p:cNvPr id="13315" name="Text Box 6946"/>
              <p:cNvSpPr txBox="1">
                <a:spLocks noChangeArrowheads="1"/>
              </p:cNvSpPr>
              <p:nvPr/>
            </p:nvSpPr>
            <p:spPr bwMode="auto">
              <a:xfrm>
                <a:off x="7419" y="9837"/>
                <a:ext cx="1837" cy="2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参观时间</a:t>
                </a:r>
                <a:endParaRPr kumimoji="0" lang="en-US" alt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zh-CN" sz="14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明细表</a:t>
                </a:r>
                <a:endParaRPr kumimoji="0" lang="zh-CN" sz="1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grpSp>
      </p:gr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graphicFrame>
        <p:nvGraphicFramePr>
          <p:cNvPr id="8" name="表格 7"/>
          <p:cNvGraphicFramePr>
            <a:graphicFrameLocks noGrp="1"/>
          </p:cNvGraphicFramePr>
          <p:nvPr/>
        </p:nvGraphicFramePr>
        <p:xfrm>
          <a:off x="2169993" y="2113698"/>
          <a:ext cx="8666329" cy="3657600"/>
        </p:xfrm>
        <a:graphic>
          <a:graphicData uri="http://schemas.openxmlformats.org/drawingml/2006/table">
            <a:tbl>
              <a:tblPr/>
              <a:tblGrid>
                <a:gridCol w="3172381"/>
                <a:gridCol w="1531679"/>
                <a:gridCol w="2288432"/>
                <a:gridCol w="1673837"/>
              </a:tblGrid>
              <a:tr h="229396">
                <a:tc gridSpan="4">
                  <a:txBody>
                    <a:bodyPr/>
                    <a:lstStyle/>
                    <a:p>
                      <a:pPr indent="266700" algn="ctr">
                        <a:spcAft>
                          <a:spcPts val="0"/>
                        </a:spcAft>
                      </a:pPr>
                      <a:r>
                        <a:rPr lang="zh-CN" sz="1600" kern="500">
                          <a:latin typeface="Times New Roman"/>
                          <a:ea typeface="宋体"/>
                          <a:cs typeface="Times New Roman"/>
                        </a:rPr>
                        <a:t>开发成本</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人力（</a:t>
                      </a:r>
                      <a:r>
                        <a:rPr lang="en-US" sz="1600" kern="500">
                          <a:latin typeface="Times New Roman"/>
                          <a:ea typeface="宋体"/>
                          <a:cs typeface="Times New Roman"/>
                        </a:rPr>
                        <a:t>6</a:t>
                      </a:r>
                      <a:r>
                        <a:rPr lang="zh-CN" sz="1600" kern="500">
                          <a:latin typeface="Times New Roman"/>
                          <a:ea typeface="宋体"/>
                          <a:cs typeface="Times New Roman"/>
                        </a:rPr>
                        <a:t>人月，</a:t>
                      </a:r>
                      <a:r>
                        <a:rPr lang="en-US" sz="1600" kern="500">
                          <a:latin typeface="Times New Roman"/>
                          <a:ea typeface="宋体"/>
                          <a:cs typeface="Times New Roman"/>
                        </a:rPr>
                        <a:t>8 000</a:t>
                      </a:r>
                      <a:r>
                        <a:rPr lang="zh-CN" sz="1600" kern="500">
                          <a:latin typeface="Times New Roman"/>
                          <a:ea typeface="宋体"/>
                          <a:cs typeface="Times New Roman"/>
                        </a:rPr>
                        <a:t>元</a:t>
                      </a:r>
                      <a:r>
                        <a:rPr lang="en-US" sz="1600" kern="500">
                          <a:latin typeface="Times New Roman"/>
                          <a:ea typeface="宋体"/>
                          <a:cs typeface="Times New Roman"/>
                        </a:rPr>
                        <a:t>/</a:t>
                      </a:r>
                      <a:r>
                        <a:rPr lang="zh-CN" sz="1600" kern="500">
                          <a:latin typeface="Times New Roman"/>
                          <a:ea typeface="宋体"/>
                          <a:cs typeface="Times New Roman"/>
                        </a:rPr>
                        <a:t>人月）</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marR="57150" indent="2057400" algn="l">
                        <a:spcAft>
                          <a:spcPts val="0"/>
                        </a:spcAft>
                      </a:pPr>
                      <a:r>
                        <a:rPr lang="en-US" sz="1600" kern="500">
                          <a:latin typeface="Times New Roman"/>
                          <a:ea typeface="宋体"/>
                          <a:cs typeface="Times New Roman"/>
                        </a:rPr>
                        <a:t>4.8</a:t>
                      </a:r>
                      <a:r>
                        <a:rPr lang="zh-CN" sz="1600" kern="500">
                          <a:latin typeface="Times New Roman"/>
                          <a:ea typeface="宋体"/>
                          <a:cs typeface="Times New Roman"/>
                        </a:rPr>
                        <a:t>万元</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购买硬件</a:t>
                      </a:r>
                    </a:p>
                  </a:txBody>
                  <a:tcPr marL="68580" marR="68580" marT="0" marB="0">
                    <a:lnL>
                      <a:noFill/>
                    </a:lnL>
                    <a:lnR>
                      <a:noFill/>
                    </a:lnR>
                    <a:lnT>
                      <a:noFill/>
                    </a:lnT>
                    <a:lnB>
                      <a:noFill/>
                    </a:lnB>
                  </a:tcPr>
                </a:tc>
                <a:tc gridSpan="3">
                  <a:txBody>
                    <a:bodyPr/>
                    <a:lstStyle/>
                    <a:p>
                      <a:pPr marR="228600" indent="2057400" algn="just">
                        <a:spcAft>
                          <a:spcPts val="0"/>
                        </a:spcAft>
                      </a:pPr>
                      <a:r>
                        <a:rPr lang="en-US" sz="1600" kern="500">
                          <a:latin typeface="Times New Roman"/>
                          <a:ea typeface="宋体"/>
                          <a:cs typeface="Times New Roman"/>
                        </a:rPr>
                        <a:t>2.0</a:t>
                      </a:r>
                      <a:r>
                        <a:rPr lang="zh-CN" sz="1600" kern="500">
                          <a:latin typeface="Times New Roman"/>
                          <a:ea typeface="宋体"/>
                          <a:cs typeface="Times New Roman"/>
                        </a:rPr>
                        <a:t>万元</a:t>
                      </a:r>
                    </a:p>
                  </a:txBody>
                  <a:tcPr marL="68580" marR="68580" marT="0" marB="0">
                    <a:lnL>
                      <a:noFill/>
                    </a:lnL>
                    <a:lnR>
                      <a:noFill/>
                    </a:lnR>
                    <a:lnT>
                      <a:noFill/>
                    </a:lnT>
                    <a:lnB>
                      <a:noFill/>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总计</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gridSpan="3">
                  <a:txBody>
                    <a:bodyPr/>
                    <a:lstStyle/>
                    <a:p>
                      <a:pPr indent="2057400" algn="l">
                        <a:spcAft>
                          <a:spcPts val="0"/>
                        </a:spcAft>
                      </a:pPr>
                      <a:r>
                        <a:rPr lang="en-US" sz="1600" kern="500">
                          <a:latin typeface="Times New Roman"/>
                          <a:ea typeface="宋体"/>
                          <a:cs typeface="Times New Roman"/>
                        </a:rPr>
                        <a:t>6.8</a:t>
                      </a:r>
                      <a:r>
                        <a:rPr lang="zh-CN" sz="1600" kern="500">
                          <a:latin typeface="Times New Roman"/>
                          <a:ea typeface="宋体"/>
                          <a:cs typeface="Times New Roman"/>
                        </a:rPr>
                        <a:t>万元</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229396">
                <a:tc gridSpan="4">
                  <a:txBody>
                    <a:bodyPr/>
                    <a:lstStyle/>
                    <a:p>
                      <a:pPr indent="266700" algn="ctr">
                        <a:spcAft>
                          <a:spcPts val="0"/>
                        </a:spcAft>
                      </a:pPr>
                      <a:r>
                        <a:rPr lang="zh-CN" sz="1600" kern="500">
                          <a:latin typeface="Times New Roman"/>
                          <a:ea typeface="宋体"/>
                          <a:cs typeface="Times New Roman"/>
                        </a:rPr>
                        <a:t>新系统的运行费用</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人力和物资（</a:t>
                      </a:r>
                      <a:r>
                        <a:rPr lang="en-US" sz="1600" kern="500">
                          <a:latin typeface="Times New Roman"/>
                          <a:ea typeface="宋体"/>
                          <a:cs typeface="Times New Roman"/>
                        </a:rPr>
                        <a:t>250</a:t>
                      </a:r>
                      <a:r>
                        <a:rPr lang="zh-CN" sz="1600" kern="500">
                          <a:latin typeface="Times New Roman"/>
                          <a:ea typeface="宋体"/>
                          <a:cs typeface="Times New Roman"/>
                        </a:rPr>
                        <a:t>元</a:t>
                      </a:r>
                      <a:r>
                        <a:rPr lang="en-US" sz="1600" kern="500">
                          <a:latin typeface="Times New Roman"/>
                          <a:ea typeface="宋体"/>
                          <a:cs typeface="Times New Roman"/>
                        </a:rPr>
                        <a:t>/</a:t>
                      </a:r>
                      <a:r>
                        <a:rPr lang="zh-CN" sz="1600" kern="500">
                          <a:latin typeface="Times New Roman"/>
                          <a:ea typeface="宋体"/>
                          <a:cs typeface="Times New Roman"/>
                        </a:rPr>
                        <a:t>月）</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indent="2057400" algn="l">
                        <a:spcAft>
                          <a:spcPts val="0"/>
                        </a:spcAft>
                      </a:pPr>
                      <a:r>
                        <a:rPr lang="en-US" sz="1600" kern="500">
                          <a:latin typeface="Times New Roman"/>
                          <a:ea typeface="宋体"/>
                          <a:cs typeface="Times New Roman"/>
                        </a:rPr>
                        <a:t>0.3</a:t>
                      </a:r>
                      <a:r>
                        <a:rPr lang="zh-CN" sz="1600" kern="500">
                          <a:latin typeface="Times New Roman"/>
                          <a:ea typeface="宋体"/>
                          <a:cs typeface="Times New Roman"/>
                        </a:rPr>
                        <a:t>万元</a:t>
                      </a:r>
                      <a:r>
                        <a:rPr lang="en-US" sz="1600" kern="500">
                          <a:latin typeface="Times New Roman"/>
                          <a:ea typeface="宋体"/>
                          <a:cs typeface="Times New Roman"/>
                        </a:rPr>
                        <a:t>/</a:t>
                      </a:r>
                      <a:r>
                        <a:rPr lang="zh-CN" sz="1600" kern="500">
                          <a:latin typeface="Times New Roman"/>
                          <a:ea typeface="宋体"/>
                          <a:cs typeface="Times New Roman"/>
                        </a:rPr>
                        <a:t>年</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维护</a:t>
                      </a:r>
                    </a:p>
                  </a:txBody>
                  <a:tcPr marL="68580" marR="68580" marT="0" marB="0">
                    <a:lnL>
                      <a:noFill/>
                    </a:lnL>
                    <a:lnR>
                      <a:noFill/>
                    </a:lnR>
                    <a:lnT>
                      <a:noFill/>
                    </a:lnT>
                    <a:lnB>
                      <a:noFill/>
                    </a:lnB>
                  </a:tcPr>
                </a:tc>
                <a:tc gridSpan="3">
                  <a:txBody>
                    <a:bodyPr/>
                    <a:lstStyle/>
                    <a:p>
                      <a:pPr indent="2057400" algn="l">
                        <a:spcAft>
                          <a:spcPts val="0"/>
                        </a:spcAft>
                      </a:pPr>
                      <a:r>
                        <a:rPr lang="en-US" sz="1600" kern="500">
                          <a:latin typeface="Times New Roman"/>
                          <a:ea typeface="宋体"/>
                          <a:cs typeface="Times New Roman"/>
                        </a:rPr>
                        <a:t>0.1</a:t>
                      </a:r>
                      <a:r>
                        <a:rPr lang="zh-CN" sz="1600" kern="500">
                          <a:latin typeface="Times New Roman"/>
                          <a:ea typeface="宋体"/>
                          <a:cs typeface="Times New Roman"/>
                        </a:rPr>
                        <a:t>万元</a:t>
                      </a:r>
                      <a:r>
                        <a:rPr lang="en-US" sz="1600" kern="500">
                          <a:latin typeface="Times New Roman"/>
                          <a:ea typeface="宋体"/>
                          <a:cs typeface="Times New Roman"/>
                        </a:rPr>
                        <a:t>/</a:t>
                      </a:r>
                      <a:r>
                        <a:rPr lang="zh-CN" sz="1600" kern="500">
                          <a:latin typeface="Times New Roman"/>
                          <a:ea typeface="宋体"/>
                          <a:cs typeface="Times New Roman"/>
                        </a:rPr>
                        <a:t>年</a:t>
                      </a:r>
                    </a:p>
                  </a:txBody>
                  <a:tcPr marL="68580" marR="68580" marT="0" marB="0">
                    <a:lnL>
                      <a:noFill/>
                    </a:lnL>
                    <a:lnR>
                      <a:noFill/>
                    </a:lnR>
                    <a:lnT>
                      <a:noFill/>
                    </a:lnT>
                    <a:lnB>
                      <a:noFill/>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总计</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gridSpan="3">
                  <a:txBody>
                    <a:bodyPr/>
                    <a:lstStyle/>
                    <a:p>
                      <a:pPr indent="2057400" algn="l">
                        <a:spcAft>
                          <a:spcPts val="0"/>
                        </a:spcAft>
                      </a:pPr>
                      <a:r>
                        <a:rPr lang="en-US" sz="1600" kern="500">
                          <a:latin typeface="Times New Roman"/>
                          <a:ea typeface="宋体"/>
                          <a:cs typeface="Times New Roman"/>
                        </a:rPr>
                        <a:t>0.4</a:t>
                      </a:r>
                      <a:r>
                        <a:rPr lang="zh-CN" sz="1600" kern="500">
                          <a:latin typeface="Times New Roman"/>
                          <a:ea typeface="宋体"/>
                          <a:cs typeface="Times New Roman"/>
                        </a:rPr>
                        <a:t>万元</a:t>
                      </a:r>
                      <a:r>
                        <a:rPr lang="en-US" sz="1600" kern="500">
                          <a:latin typeface="Times New Roman"/>
                          <a:ea typeface="宋体"/>
                          <a:cs typeface="Times New Roman"/>
                        </a:rPr>
                        <a:t>/</a:t>
                      </a:r>
                      <a:r>
                        <a:rPr lang="zh-CN" sz="1600" kern="500">
                          <a:latin typeface="Times New Roman"/>
                          <a:ea typeface="宋体"/>
                          <a:cs typeface="Times New Roman"/>
                        </a:rPr>
                        <a:t>年</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现有系统的运行费用</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2057400" algn="l">
                        <a:spcAft>
                          <a:spcPts val="0"/>
                        </a:spcAft>
                      </a:pPr>
                      <a:r>
                        <a:rPr lang="en-US" sz="1600" kern="500">
                          <a:latin typeface="Times New Roman"/>
                          <a:ea typeface="宋体"/>
                          <a:cs typeface="Times New Roman"/>
                        </a:rPr>
                        <a:t>4.8</a:t>
                      </a:r>
                      <a:r>
                        <a:rPr lang="zh-CN" sz="1600" kern="500">
                          <a:latin typeface="Times New Roman"/>
                          <a:ea typeface="宋体"/>
                          <a:cs typeface="Times New Roman"/>
                        </a:rPr>
                        <a:t>万元</a:t>
                      </a:r>
                      <a:r>
                        <a:rPr lang="en-US" sz="1600" kern="500">
                          <a:latin typeface="Times New Roman"/>
                          <a:ea typeface="宋体"/>
                          <a:cs typeface="Times New Roman"/>
                        </a:rPr>
                        <a:t>/</a:t>
                      </a:r>
                      <a:r>
                        <a:rPr lang="zh-CN" sz="1600" kern="500">
                          <a:latin typeface="Times New Roman"/>
                          <a:ea typeface="宋体"/>
                          <a:cs typeface="Times New Roman"/>
                        </a:rPr>
                        <a:t>年</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每年节省的费用</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2057400" algn="l">
                        <a:spcAft>
                          <a:spcPts val="0"/>
                        </a:spcAft>
                      </a:pPr>
                      <a:r>
                        <a:rPr lang="en-US" sz="1600" kern="500">
                          <a:latin typeface="Times New Roman"/>
                          <a:ea typeface="宋体"/>
                          <a:cs typeface="Times New Roman"/>
                        </a:rPr>
                        <a:t>4.4</a:t>
                      </a:r>
                      <a:r>
                        <a:rPr lang="zh-CN" sz="1600" kern="500">
                          <a:latin typeface="Times New Roman"/>
                          <a:ea typeface="宋体"/>
                          <a:cs typeface="Times New Roman"/>
                        </a:rPr>
                        <a:t>万元</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229396">
                <a:tc>
                  <a:txBody>
                    <a:bodyPr/>
                    <a:lstStyle/>
                    <a:p>
                      <a:pPr indent="266700" algn="ctr">
                        <a:spcAft>
                          <a:spcPts val="0"/>
                        </a:spcAft>
                      </a:pPr>
                      <a:r>
                        <a:rPr lang="zh-CN" sz="1600" kern="500">
                          <a:latin typeface="Times New Roman"/>
                          <a:ea typeface="宋体"/>
                          <a:cs typeface="Times New Roman"/>
                        </a:rPr>
                        <a:t>年</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cs typeface="Times New Roman"/>
                        </a:rPr>
                        <a:t>节省</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cs typeface="Times New Roman"/>
                        </a:rPr>
                        <a:t>现在值（以</a:t>
                      </a:r>
                      <a:r>
                        <a:rPr lang="en-US" sz="1600" kern="500">
                          <a:latin typeface="Times New Roman"/>
                          <a:ea typeface="宋体"/>
                          <a:cs typeface="Times New Roman"/>
                        </a:rPr>
                        <a:t>5%</a:t>
                      </a:r>
                      <a:r>
                        <a:rPr lang="zh-CN" sz="1600" kern="500">
                          <a:latin typeface="Times New Roman"/>
                          <a:ea typeface="宋体"/>
                          <a:cs typeface="Times New Roman"/>
                        </a:rPr>
                        <a:t>计算）</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zh-CN" sz="1600" kern="500">
                          <a:latin typeface="Times New Roman"/>
                          <a:ea typeface="宋体"/>
                          <a:cs typeface="Times New Roman"/>
                        </a:rPr>
                        <a:t>累计现在值</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9396">
                <a:tc>
                  <a:txBody>
                    <a:bodyPr/>
                    <a:lstStyle/>
                    <a:p>
                      <a:pPr indent="266700" algn="ctr">
                        <a:spcAft>
                          <a:spcPts val="0"/>
                        </a:spcAft>
                      </a:pPr>
                      <a:r>
                        <a:rPr lang="en-US" sz="1600" kern="500">
                          <a:latin typeface="Times New Roman"/>
                          <a:ea typeface="宋体"/>
                          <a:cs typeface="Times New Roman"/>
                        </a:rPr>
                        <a:t>1</a:t>
                      </a:r>
                      <a:endParaRPr lang="zh-CN" sz="1600" kern="500">
                        <a:latin typeface="Times New Roman"/>
                        <a:ea typeface="宋体"/>
                        <a:cs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ctr">
                        <a:spcAft>
                          <a:spcPts val="0"/>
                        </a:spcAft>
                      </a:pPr>
                      <a:r>
                        <a:rPr lang="en-US" sz="1600" kern="500">
                          <a:latin typeface="Times New Roman"/>
                          <a:ea typeface="宋体"/>
                          <a:cs typeface="Times New Roman"/>
                        </a:rPr>
                        <a:t>4.4</a:t>
                      </a:r>
                      <a:r>
                        <a:rPr lang="zh-CN" sz="1600" kern="500">
                          <a:latin typeface="Times New Roman"/>
                          <a:ea typeface="宋体"/>
                          <a:cs typeface="Times New Roman"/>
                        </a:rPr>
                        <a:t>万元</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ctr">
                        <a:spcAft>
                          <a:spcPts val="0"/>
                        </a:spcAft>
                      </a:pPr>
                      <a:r>
                        <a:rPr lang="en-US" sz="1600" kern="500">
                          <a:latin typeface="Times New Roman"/>
                          <a:ea typeface="宋体"/>
                          <a:cs typeface="Times New Roman"/>
                        </a:rPr>
                        <a:t>4.19</a:t>
                      </a:r>
                      <a:r>
                        <a:rPr lang="zh-CN" sz="1600" kern="500">
                          <a:latin typeface="Times New Roman"/>
                          <a:ea typeface="宋体"/>
                          <a:cs typeface="Times New Roman"/>
                        </a:rPr>
                        <a:t>万元</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ctr">
                        <a:spcAft>
                          <a:spcPts val="0"/>
                        </a:spcAft>
                      </a:pPr>
                      <a:r>
                        <a:rPr lang="en-US" sz="1600" kern="500">
                          <a:latin typeface="Times New Roman"/>
                          <a:ea typeface="宋体"/>
                          <a:cs typeface="Times New Roman"/>
                        </a:rPr>
                        <a:t>4.19</a:t>
                      </a:r>
                      <a:r>
                        <a:rPr lang="zh-CN" sz="1600" kern="500">
                          <a:latin typeface="Times New Roman"/>
                          <a:ea typeface="宋体"/>
                          <a:cs typeface="Times New Roman"/>
                        </a:rPr>
                        <a:t>万元</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229396">
                <a:tc>
                  <a:txBody>
                    <a:bodyPr/>
                    <a:lstStyle/>
                    <a:p>
                      <a:pPr indent="266700" algn="ctr">
                        <a:spcAft>
                          <a:spcPts val="0"/>
                        </a:spcAft>
                      </a:pPr>
                      <a:r>
                        <a:rPr lang="en-US" sz="1600" kern="500">
                          <a:latin typeface="Times New Roman"/>
                          <a:ea typeface="宋体"/>
                          <a:cs typeface="Times New Roman"/>
                        </a:rPr>
                        <a:t>2</a:t>
                      </a:r>
                      <a:endParaRPr lang="zh-CN" sz="1600" kern="500">
                        <a:latin typeface="Times New Roman"/>
                        <a:ea typeface="宋体"/>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kern="500">
                          <a:latin typeface="Times New Roman"/>
                          <a:ea typeface="宋体"/>
                          <a:cs typeface="Times New Roman"/>
                        </a:rPr>
                        <a:t>4.4</a:t>
                      </a:r>
                      <a:r>
                        <a:rPr lang="zh-CN" sz="1600" kern="500">
                          <a:latin typeface="Times New Roman"/>
                          <a:ea typeface="宋体"/>
                          <a:cs typeface="Times New Roman"/>
                        </a:rPr>
                        <a:t>万元</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kern="500">
                          <a:latin typeface="Times New Roman"/>
                          <a:ea typeface="宋体"/>
                          <a:cs typeface="Times New Roman"/>
                        </a:rPr>
                        <a:t>3.99</a:t>
                      </a:r>
                      <a:r>
                        <a:rPr lang="zh-CN" sz="1600" kern="500">
                          <a:latin typeface="Times New Roman"/>
                          <a:ea typeface="宋体"/>
                          <a:cs typeface="Times New Roman"/>
                        </a:rPr>
                        <a:t>万元</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kern="500">
                          <a:latin typeface="Times New Roman"/>
                          <a:ea typeface="宋体"/>
                          <a:cs typeface="Times New Roman"/>
                        </a:rPr>
                        <a:t>8.18</a:t>
                      </a:r>
                      <a:r>
                        <a:rPr lang="zh-CN" sz="1600" kern="500">
                          <a:latin typeface="Times New Roman"/>
                          <a:ea typeface="宋体"/>
                          <a:cs typeface="Times New Roman"/>
                        </a:rPr>
                        <a:t>万元</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r h="229396">
                <a:tc>
                  <a:txBody>
                    <a:bodyPr/>
                    <a:lstStyle/>
                    <a:p>
                      <a:pPr indent="114300" algn="just">
                        <a:spcAft>
                          <a:spcPts val="0"/>
                        </a:spcAft>
                      </a:pPr>
                      <a:r>
                        <a:rPr lang="zh-CN" sz="1600" kern="500">
                          <a:latin typeface="Times New Roman"/>
                          <a:ea typeface="宋体"/>
                          <a:cs typeface="Times New Roman"/>
                        </a:rPr>
                        <a:t>投资回收期</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marR="228600" indent="2457450" algn="l">
                        <a:spcAft>
                          <a:spcPts val="0"/>
                        </a:spcAft>
                      </a:pPr>
                      <a:r>
                        <a:rPr lang="en-US" sz="1600" kern="500">
                          <a:latin typeface="Times New Roman"/>
                          <a:ea typeface="宋体"/>
                          <a:cs typeface="Times New Roman"/>
                        </a:rPr>
                        <a:t>1.65</a:t>
                      </a:r>
                      <a:r>
                        <a:rPr lang="zh-CN" sz="1600" kern="500">
                          <a:latin typeface="Times New Roman"/>
                          <a:ea typeface="宋体"/>
                          <a:cs typeface="Times New Roman"/>
                        </a:rPr>
                        <a:t>年</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r>
              <a:tr h="229396">
                <a:tc>
                  <a:txBody>
                    <a:bodyPr/>
                    <a:lstStyle/>
                    <a:p>
                      <a:pPr indent="114300" algn="just">
                        <a:spcAft>
                          <a:spcPts val="0"/>
                        </a:spcAft>
                      </a:pPr>
                      <a:r>
                        <a:rPr lang="zh-CN" sz="1600" kern="500">
                          <a:latin typeface="Times New Roman"/>
                          <a:ea typeface="宋体"/>
                          <a:cs typeface="Times New Roman"/>
                        </a:rPr>
                        <a:t>纯收入</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gridSpan="3">
                  <a:txBody>
                    <a:bodyPr/>
                    <a:lstStyle/>
                    <a:p>
                      <a:pPr indent="2457450" algn="l">
                        <a:spcAft>
                          <a:spcPts val="0"/>
                        </a:spcAft>
                      </a:pPr>
                      <a:r>
                        <a:rPr lang="en-US" sz="1600" kern="500" dirty="0">
                          <a:latin typeface="Times New Roman"/>
                          <a:ea typeface="宋体"/>
                          <a:cs typeface="Times New Roman"/>
                        </a:rPr>
                        <a:t>1.38</a:t>
                      </a:r>
                      <a:r>
                        <a:rPr lang="zh-CN" sz="1600" kern="500" dirty="0">
                          <a:latin typeface="Times New Roman"/>
                          <a:ea typeface="宋体"/>
                          <a:cs typeface="Times New Roman"/>
                        </a:rPr>
                        <a:t>万元</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bl>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8" name="文本框 7"/>
          <p:cNvSpPr txBox="1"/>
          <p:nvPr/>
        </p:nvSpPr>
        <p:spPr>
          <a:xfrm>
            <a:off x="1555115" y="1958340"/>
            <a:ext cx="5060950" cy="2941320"/>
          </a:xfrm>
          <a:prstGeom prst="rect">
            <a:avLst/>
          </a:prstGeom>
          <a:noFill/>
        </p:spPr>
        <p:txBody>
          <a:bodyPr wrap="square" rtlCol="0" anchor="t">
            <a:spAutoFit/>
          </a:bodyPr>
          <a:lstStyle/>
          <a:p>
            <a:pPr fontAlgn="auto">
              <a:lnSpc>
                <a:spcPct val="130000"/>
              </a:lnSpc>
            </a:pPr>
            <a:r>
              <a:rPr lang="en-US" altLang="zh-CN">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5）导出和评价供选择的解法</a:t>
            </a:r>
          </a:p>
          <a:p>
            <a:pPr fontAlgn="auto">
              <a:lnSpc>
                <a:spcPct val="130000"/>
              </a:lnSpc>
            </a:pPr>
            <a:r>
              <a:rPr lang="zh-CN" altLang="en-US" dirty="0">
                <a:latin typeface="微软雅黑" panose="020B0503020204020204" charset="-122"/>
                <a:ea typeface="微软雅黑" panose="020B0503020204020204" charset="-122"/>
                <a:sym typeface="+mn-ea"/>
              </a:rPr>
              <a:t>（3）高成本系统方案。</a:t>
            </a:r>
          </a:p>
          <a:p>
            <a:pPr fontAlgn="auto">
              <a:lnSpc>
                <a:spcPct val="130000"/>
              </a:lnSpc>
            </a:pPr>
            <a:r>
              <a:rPr lang="zh-CN" altLang="en-US" dirty="0">
                <a:latin typeface="微软雅黑" panose="020B0503020204020204" charset="-122"/>
                <a:ea typeface="微软雅黑" panose="020B0503020204020204" charset="-122"/>
                <a:sym typeface="+mn-ea"/>
              </a:rPr>
              <a:t>       采用光盘式门票，其中预存所有参展商信息，让观众保留，建议建立一个中央数据库，为开发完整的展会管理系统做好准备，并且把展会观众信息管理系统作为该系统的第一个子系统。这样做开发成本大约将增加到15万元，</a:t>
            </a:r>
            <a:r>
              <a:rPr lang="zh-CN" altLang="en-US" dirty="0">
                <a:solidFill>
                  <a:srgbClr val="00B050"/>
                </a:solidFill>
                <a:latin typeface="微软雅黑" panose="020B0503020204020204" charset="-122"/>
                <a:ea typeface="微软雅黑" panose="020B0503020204020204" charset="-122"/>
                <a:sym typeface="+mn-ea"/>
              </a:rPr>
              <a:t>然而从观众管理这项应用中获得的经济效益不变</a:t>
            </a:r>
            <a:r>
              <a:rPr lang="zh-CN" altLang="en-US" dirty="0">
                <a:latin typeface="微软雅黑" panose="020B0503020204020204" charset="-122"/>
                <a:ea typeface="微软雅黑" panose="020B0503020204020204" charset="-122"/>
                <a:sym typeface="+mn-ea"/>
              </a:rPr>
              <a:t>。</a:t>
            </a:r>
          </a:p>
        </p:txBody>
      </p:sp>
      <p:sp>
        <p:nvSpPr>
          <p:cNvPr id="101" name="文本框 100"/>
          <p:cNvSpPr txBox="1"/>
          <p:nvPr/>
        </p:nvSpPr>
        <p:spPr>
          <a:xfrm>
            <a:off x="1555115" y="4777740"/>
            <a:ext cx="9761855" cy="1160145"/>
          </a:xfrm>
          <a:prstGeom prst="rect">
            <a:avLst/>
          </a:prstGeom>
          <a:noFill/>
          <a:ln w="9525">
            <a:noFill/>
          </a:ln>
        </p:spPr>
        <p:txBody>
          <a:bodyPr wrap="square">
            <a:spAutoFit/>
          </a:bodyPr>
          <a:lstStyle/>
          <a:p>
            <a:pPr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因此，如果仅考虑这一项应用，投资是不划算的。但是，</a:t>
            </a:r>
            <a:r>
              <a:rPr lang="zh-CN" altLang="en-US" dirty="0">
                <a:solidFill>
                  <a:srgbClr val="00B050"/>
                </a:solidFill>
                <a:latin typeface="微软雅黑" panose="020B0503020204020204" charset="-122"/>
                <a:ea typeface="微软雅黑" panose="020B0503020204020204" charset="-122"/>
                <a:sym typeface="+mn-ea"/>
              </a:rPr>
              <a:t>将来其他应用系统（例如，参展商管理、物资管理等）能以较低成本实现，而且这些子系统能集成为一个完整的系统。</a:t>
            </a:r>
            <a:r>
              <a:rPr lang="zh-CN" altLang="en-US" dirty="0">
                <a:latin typeface="微软雅黑" panose="020B0503020204020204" charset="-122"/>
                <a:ea typeface="微软雅黑" panose="020B0503020204020204" charset="-122"/>
                <a:sym typeface="+mn-ea"/>
              </a:rPr>
              <a:t>如果该公司经理对这个方案感兴趣，可以针对它完成更详尽的可行性研究（大约需要1.5万元）。</a:t>
            </a:r>
            <a:endParaRPr lang="zh-CN" altLang="en-US" dirty="0">
              <a:latin typeface="微软雅黑" panose="020B0503020204020204" charset="-122"/>
              <a:ea typeface="微软雅黑" panose="020B0503020204020204" charset="-122"/>
            </a:endParaRPr>
          </a:p>
        </p:txBody>
      </p:sp>
      <p:pic>
        <p:nvPicPr>
          <p:cNvPr id="2" name="图片 1" descr="A000220150322G83PPIC"/>
          <p:cNvPicPr>
            <a:picLocks noChangeAspect="1"/>
          </p:cNvPicPr>
          <p:nvPr/>
        </p:nvPicPr>
        <p:blipFill>
          <a:blip r:embed="rId3" cstate="print"/>
          <a:stretch>
            <a:fillRect/>
          </a:stretch>
        </p:blipFill>
        <p:spPr>
          <a:xfrm>
            <a:off x="6939915" y="2464435"/>
            <a:ext cx="4224655" cy="2203450"/>
          </a:xfrm>
          <a:prstGeom prst="rect">
            <a:avLst/>
          </a:prstGeom>
        </p:spPr>
      </p:pic>
      <p:sp>
        <p:nvSpPr>
          <p:cNvPr id="5" name="矩形 4"/>
          <p:cNvSpPr/>
          <p:nvPr/>
        </p:nvSpPr>
        <p:spPr>
          <a:xfrm>
            <a:off x="8730615" y="1962785"/>
            <a:ext cx="1054830" cy="396240"/>
          </a:xfrm>
          <a:prstGeom prst="rect">
            <a:avLst/>
          </a:prstGeom>
          <a:noFill/>
          <a:ln>
            <a:noFill/>
          </a:ln>
        </p:spPr>
        <p:txBody>
          <a:bodyPr wrap="square" rtlCol="0" anchor="t">
            <a:spAutoFit/>
          </a:bodyPr>
          <a:lstStyle/>
          <a:p>
            <a:pPr algn="ctr"/>
            <a:r>
              <a:rPr lang="zh-CN" altLang="en-US" sz="2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高成本</a:t>
            </a:r>
          </a:p>
        </p:txBody>
      </p:sp>
      <p:sp>
        <p:nvSpPr>
          <p:cNvPr id="6" name="矩形 5"/>
          <p:cNvSpPr/>
          <p:nvPr/>
        </p:nvSpPr>
        <p:spPr>
          <a:xfrm>
            <a:off x="10124440" y="1962785"/>
            <a:ext cx="1066724" cy="396240"/>
          </a:xfrm>
          <a:prstGeom prst="rect">
            <a:avLst/>
          </a:prstGeom>
          <a:noFill/>
          <a:ln>
            <a:noFill/>
          </a:ln>
        </p:spPr>
        <p:txBody>
          <a:bodyPr wrap="square" rtlCol="0" anchor="t">
            <a:spAutoFit/>
          </a:bodyPr>
          <a:lstStyle/>
          <a:p>
            <a:pPr algn="ctr"/>
            <a:r>
              <a:rPr lang="zh-CN" altLang="en-US" sz="2000" b="1"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低成本</a:t>
            </a:r>
          </a:p>
        </p:txBody>
      </p:sp>
      <p:sp>
        <p:nvSpPr>
          <p:cNvPr id="9" name="矩形 8"/>
          <p:cNvSpPr/>
          <p:nvPr/>
        </p:nvSpPr>
        <p:spPr>
          <a:xfrm>
            <a:off x="6832600" y="1962785"/>
            <a:ext cx="1414145" cy="396240"/>
          </a:xfrm>
          <a:prstGeom prst="rect">
            <a:avLst/>
          </a:prstGeom>
          <a:noFill/>
          <a:ln>
            <a:noFill/>
          </a:ln>
        </p:spPr>
        <p:txBody>
          <a:bodyPr wrap="square" rtlCol="0" anchor="t">
            <a:spAutoFit/>
          </a:bodyPr>
          <a:lstStyle/>
          <a:p>
            <a:pPr algn="ctr"/>
            <a:r>
              <a:rPr lang="zh-CN" altLang="en-US" sz="2000" b="1">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中等成本</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1739265"/>
          </a:xfrm>
          <a:prstGeom prst="rect">
            <a:avLst/>
          </a:prstGeom>
          <a:noFill/>
        </p:spPr>
        <p:txBody>
          <a:bodyPr vert="eaVert" wrap="none" rtlCol="0">
            <a:spAutoFit/>
          </a:bodyPr>
          <a:lstStyle/>
          <a:p>
            <a:r>
              <a:rPr lang="en-US" altLang="zh-CN" spc="160" dirty="0">
                <a:solidFill>
                  <a:schemeClr val="bg1"/>
                </a:solidFill>
                <a:latin typeface="微软雅黑" panose="020B0503020204020204" charset="-122"/>
                <a:ea typeface="微软雅黑" panose="020B0503020204020204" charset="-122"/>
              </a:rPr>
              <a:t>2</a:t>
            </a:r>
            <a:r>
              <a:rPr lang="zh-CN" altLang="en-US" spc="160" dirty="0">
                <a:solidFill>
                  <a:schemeClr val="bg1"/>
                </a:solidFill>
                <a:latin typeface="微软雅黑" panose="020B0503020204020204" charset="-122"/>
                <a:ea typeface="微软雅黑" panose="020B0503020204020204" charset="-122"/>
              </a:rPr>
              <a:t>）可行性研究</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可行性</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研究</a:t>
              </a:r>
            </a:p>
          </p:txBody>
        </p:sp>
      </p:grpSp>
      <p:sp>
        <p:nvSpPr>
          <p:cNvPr id="8" name="文本框 7"/>
          <p:cNvSpPr txBox="1"/>
          <p:nvPr/>
        </p:nvSpPr>
        <p:spPr>
          <a:xfrm>
            <a:off x="1555115" y="2639695"/>
            <a:ext cx="4953635" cy="2228850"/>
          </a:xfrm>
          <a:prstGeom prst="rect">
            <a:avLst/>
          </a:prstGeom>
          <a:noFill/>
        </p:spPr>
        <p:txBody>
          <a:bodyPr wrap="square" rtlCol="0" anchor="t">
            <a:spAutoFit/>
          </a:bodyPr>
          <a:lstStyle/>
          <a:p>
            <a:pPr fontAlgn="auto">
              <a:lnSpc>
                <a:spcPct val="130000"/>
              </a:lnSpc>
            </a:pPr>
            <a:r>
              <a:rPr lang="en-US" altLang="zh-CN">
                <a:solidFill>
                  <a:srgbClr val="7F00E4"/>
                </a:solidFill>
                <a:latin typeface="黑体" panose="02010609060101010101" pitchFamily="49" charset="-122"/>
                <a:ea typeface="黑体" panose="02010609060101010101" pitchFamily="49" charset="-122"/>
                <a:cs typeface="黑体" panose="02010609060101010101" pitchFamily="49" charset="-122"/>
                <a:sym typeface="+mn-ea"/>
              </a:rPr>
              <a:t>6）推荐最佳方案</a:t>
            </a:r>
            <a:endParaRPr lang="zh-CN" altLang="en-US" dirty="0">
              <a:latin typeface="微软雅黑" panose="020B0503020204020204" charset="-122"/>
              <a:ea typeface="微软雅黑" panose="020B0503020204020204" charset="-122"/>
              <a:sym typeface="+mn-ea"/>
            </a:endParaRPr>
          </a:p>
          <a:p>
            <a:pPr fontAlgn="auto">
              <a:lnSpc>
                <a:spcPct val="130000"/>
              </a:lnSpc>
            </a:pPr>
            <a:r>
              <a:rPr lang="zh-CN" altLang="en-US" dirty="0">
                <a:latin typeface="微软雅黑" panose="020B0503020204020204" charset="-122"/>
                <a:ea typeface="微软雅黑" panose="020B0503020204020204" charset="-122"/>
                <a:sym typeface="+mn-ea"/>
              </a:rPr>
              <a:t>       低成本系统方案虽然诱人，但是很难付诸实现；高成本系统方案从长远看是合理的，但是它所需要的投资超出了预算。从已经确定的系统规模和目标来看，显然中等成本系统方案是最好的。</a:t>
            </a:r>
          </a:p>
        </p:txBody>
      </p:sp>
      <p:pic>
        <p:nvPicPr>
          <p:cNvPr id="4" name="图片 3" descr="A000220150321G04PPIC"/>
          <p:cNvPicPr>
            <a:picLocks noChangeAspect="1"/>
          </p:cNvPicPr>
          <p:nvPr/>
        </p:nvPicPr>
        <p:blipFill>
          <a:blip r:embed="rId3" cstate="print"/>
          <a:stretch>
            <a:fillRect/>
          </a:stretch>
        </p:blipFill>
        <p:spPr>
          <a:xfrm>
            <a:off x="6964680" y="1928495"/>
            <a:ext cx="4720590" cy="365125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sym typeface="+mn-ea"/>
              </a:rPr>
              <a:t>5.2 </a:t>
            </a:r>
            <a:r>
              <a:rPr lang="zh-CN" altLang="en-US">
                <a:solidFill>
                  <a:srgbClr val="FF0000"/>
                </a:solidFill>
                <a:sym typeface="+mn-ea"/>
              </a:rPr>
              <a:t>软件计划实例</a:t>
            </a:r>
          </a:p>
        </p:txBody>
      </p:sp>
      <p:sp>
        <p:nvSpPr>
          <p:cNvPr id="7" name="文本框 6"/>
          <p:cNvSpPr txBox="1"/>
          <p:nvPr/>
        </p:nvSpPr>
        <p:spPr>
          <a:xfrm>
            <a:off x="754380" y="2359025"/>
            <a:ext cx="476250" cy="2983865"/>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3</a:t>
            </a:r>
            <a:r>
              <a:rPr lang="zh-CN" altLang="en-US" spc="160" dirty="0">
                <a:solidFill>
                  <a:schemeClr val="bg1"/>
                </a:solidFill>
                <a:latin typeface="微软雅黑" panose="020B0503020204020204" charset="-122"/>
                <a:ea typeface="微软雅黑" panose="020B0503020204020204" charset="-122"/>
              </a:rPr>
              <a:t>）制订软件开发初步计划</a:t>
            </a:r>
          </a:p>
        </p:txBody>
      </p:sp>
      <p:grpSp>
        <p:nvGrpSpPr>
          <p:cNvPr id="12" name="组合 11"/>
          <p:cNvGrpSpPr/>
          <p:nvPr/>
        </p:nvGrpSpPr>
        <p:grpSpPr>
          <a:xfrm>
            <a:off x="0" y="665480"/>
            <a:ext cx="12192000" cy="964565"/>
            <a:chOff x="0" y="-127"/>
            <a:chExt cx="19200" cy="1519"/>
          </a:xfrm>
        </p:grpSpPr>
        <p:cxnSp>
          <p:nvCxnSpPr>
            <p:cNvPr id="13" name="直接连接符 12"/>
            <p:cNvCxnSpPr/>
            <p:nvPr/>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6230" y="-127"/>
              <a:ext cx="2022" cy="1519"/>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制定开发初步计划</a:t>
              </a:r>
            </a:p>
          </p:txBody>
        </p:sp>
      </p:grpSp>
      <p:sp>
        <p:nvSpPr>
          <p:cNvPr id="101" name="文本框 100"/>
          <p:cNvSpPr txBox="1"/>
          <p:nvPr/>
        </p:nvSpPr>
        <p:spPr>
          <a:xfrm>
            <a:off x="1555115" y="4094480"/>
            <a:ext cx="9888220" cy="1872615"/>
          </a:xfrm>
          <a:prstGeom prst="rect">
            <a:avLst/>
          </a:prstGeom>
          <a:noFill/>
          <a:ln w="9525">
            <a:noFill/>
          </a:ln>
        </p:spPr>
        <p:txBody>
          <a:bodyPr wrap="square">
            <a:spAutoFit/>
          </a:bodyPr>
          <a:lstStyle/>
          <a:p>
            <a:pPr algn="l" fontAlgn="auto">
              <a:lnSpc>
                <a:spcPct val="130000"/>
              </a:lnSpc>
            </a:pPr>
            <a:r>
              <a:rPr lang="en-US" altLang="zh-CN" dirty="0">
                <a:latin typeface="微软雅黑" panose="020B0503020204020204" charset="-122"/>
                <a:ea typeface="微软雅黑" panose="020B0503020204020204" charset="-122"/>
                <a:sym typeface="+mn-ea"/>
              </a:rPr>
              <a:t>       </a:t>
            </a:r>
            <a:r>
              <a:rPr lang="zh-CN" altLang="en-US" dirty="0">
                <a:latin typeface="微软雅黑" panose="020B0503020204020204" charset="-122"/>
                <a:ea typeface="微软雅黑" panose="020B0503020204020204" charset="-122"/>
                <a:sym typeface="+mn-ea"/>
              </a:rPr>
              <a:t>应该</a:t>
            </a:r>
            <a:r>
              <a:rPr lang="zh-CN" altLang="en-US" dirty="0">
                <a:solidFill>
                  <a:srgbClr val="00B050"/>
                </a:solidFill>
                <a:latin typeface="微软雅黑" panose="020B0503020204020204" charset="-122"/>
                <a:ea typeface="微软雅黑" panose="020B0503020204020204" charset="-122"/>
                <a:sym typeface="+mn-ea"/>
              </a:rPr>
              <a:t>为所推荐的最佳方案草拟一份开发计划</a:t>
            </a:r>
            <a:r>
              <a:rPr lang="zh-CN" altLang="en-US" dirty="0">
                <a:latin typeface="微软雅黑" panose="020B0503020204020204" charset="-122"/>
                <a:ea typeface="微软雅黑" panose="020B0503020204020204" charset="-122"/>
                <a:sym typeface="+mn-ea"/>
              </a:rPr>
              <a:t>。把软件系统生存周期划分成阶段，有助于制订出相对合理的开发计划。当然，在开发阶段的早期制订的开发计划是比较粗略的，系统分析员归纳整理本阶段的工作成果，</a:t>
            </a:r>
            <a:r>
              <a:rPr lang="zh-CN" altLang="en-US" dirty="0">
                <a:solidFill>
                  <a:srgbClr val="00B050"/>
                </a:solidFill>
                <a:latin typeface="微软雅黑" panose="020B0503020204020204" charset="-122"/>
                <a:ea typeface="微软雅黑" panose="020B0503020204020204" charset="-122"/>
                <a:sym typeface="+mn-ea"/>
              </a:rPr>
              <a:t>写出正式的文档</a:t>
            </a:r>
            <a:r>
              <a:rPr lang="zh-CN" altLang="en-US" dirty="0">
                <a:latin typeface="微软雅黑" panose="020B0503020204020204" charset="-122"/>
                <a:ea typeface="微软雅黑" panose="020B0503020204020204" charset="-122"/>
                <a:sym typeface="+mn-ea"/>
              </a:rPr>
              <a:t>，其中成本/效益分析的内容可根据表中所示的实现计划进行适当修正，提交给有经理和展会全体工作人员参加的会议进行审查，在得到有关领导的正式批准后，</a:t>
            </a:r>
            <a:r>
              <a:rPr lang="zh-CN" altLang="en-US" dirty="0">
                <a:solidFill>
                  <a:srgbClr val="00B050"/>
                </a:solidFill>
                <a:latin typeface="微软雅黑" panose="020B0503020204020204" charset="-122"/>
                <a:ea typeface="微软雅黑" panose="020B0503020204020204" charset="-122"/>
                <a:sym typeface="+mn-ea"/>
              </a:rPr>
              <a:t>才可进入正式的系统实施阶段</a:t>
            </a:r>
            <a:r>
              <a:rPr lang="zh-CN" altLang="en-US" dirty="0">
                <a:latin typeface="微软雅黑" panose="020B0503020204020204" charset="-122"/>
                <a:ea typeface="微软雅黑" panose="020B0503020204020204" charset="-122"/>
                <a:sym typeface="+mn-ea"/>
              </a:rPr>
              <a:t>。</a:t>
            </a:r>
          </a:p>
        </p:txBody>
      </p:sp>
      <p:graphicFrame>
        <p:nvGraphicFramePr>
          <p:cNvPr id="9" name="表格 8"/>
          <p:cNvGraphicFramePr>
            <a:graphicFrameLocks noGrp="1"/>
          </p:cNvGraphicFramePr>
          <p:nvPr/>
        </p:nvGraphicFramePr>
        <p:xfrm>
          <a:off x="1801504" y="2060813"/>
          <a:ext cx="9362365" cy="2025667"/>
        </p:xfrm>
        <a:graphic>
          <a:graphicData uri="http://schemas.openxmlformats.org/drawingml/2006/table">
            <a:tbl>
              <a:tblPr/>
              <a:tblGrid>
                <a:gridCol w="3266667"/>
                <a:gridCol w="6095698"/>
              </a:tblGrid>
              <a:tr h="289381">
                <a:tc>
                  <a:txBody>
                    <a:bodyPr/>
                    <a:lstStyle/>
                    <a:p>
                      <a:pPr indent="266700" algn="ctr">
                        <a:spcAft>
                          <a:spcPts val="0"/>
                        </a:spcAft>
                      </a:pPr>
                      <a:r>
                        <a:rPr lang="zh-CN" sz="1600" kern="500">
                          <a:latin typeface="Times New Roman"/>
                          <a:ea typeface="宋体"/>
                          <a:cs typeface="Times New Roman"/>
                        </a:rPr>
                        <a:t>阶</a:t>
                      </a:r>
                      <a:r>
                        <a:rPr lang="en-US" sz="1600" kern="500">
                          <a:latin typeface="Times New Roman"/>
                          <a:ea typeface="宋体"/>
                          <a:cs typeface="Times New Roman"/>
                        </a:rPr>
                        <a:t>  </a:t>
                      </a:r>
                      <a:r>
                        <a:rPr lang="zh-CN" sz="1600" kern="500">
                          <a:latin typeface="Times New Roman"/>
                          <a:ea typeface="宋体"/>
                          <a:cs typeface="Times New Roman"/>
                        </a:rPr>
                        <a:t>段</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c>
                  <a:txBody>
                    <a:bodyPr/>
                    <a:lstStyle/>
                    <a:p>
                      <a:pPr indent="266700" algn="ctr">
                        <a:spcAft>
                          <a:spcPts val="0"/>
                        </a:spcAft>
                      </a:pPr>
                      <a:r>
                        <a:rPr lang="zh-CN" sz="1600" kern="500">
                          <a:latin typeface="Times New Roman"/>
                          <a:ea typeface="宋体"/>
                          <a:cs typeface="Times New Roman"/>
                        </a:rPr>
                        <a:t>需要用的时间（月）</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DCE9"/>
                    </a:solidFill>
                  </a:tcPr>
                </a:tc>
              </a:tr>
              <a:tr h="289381">
                <a:tc>
                  <a:txBody>
                    <a:bodyPr/>
                    <a:lstStyle/>
                    <a:p>
                      <a:pPr indent="266700" algn="ctr">
                        <a:spcAft>
                          <a:spcPts val="0"/>
                        </a:spcAft>
                      </a:pPr>
                      <a:r>
                        <a:rPr lang="zh-CN" sz="1600" kern="500">
                          <a:latin typeface="Times New Roman"/>
                          <a:ea typeface="宋体"/>
                          <a:cs typeface="Times New Roman"/>
                        </a:rPr>
                        <a:t>可行性研究</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indent="266700" algn="ctr">
                        <a:spcAft>
                          <a:spcPts val="0"/>
                        </a:spcAft>
                      </a:pPr>
                      <a:r>
                        <a:rPr lang="en-US" sz="1600" kern="500">
                          <a:latin typeface="Times New Roman"/>
                          <a:ea typeface="宋体"/>
                          <a:cs typeface="Times New Roman"/>
                        </a:rPr>
                        <a:t>0.5</a:t>
                      </a:r>
                      <a:endParaRPr lang="zh-CN" sz="1600" kern="500">
                        <a:latin typeface="Times New Roman"/>
                        <a:ea typeface="宋体"/>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289381">
                <a:tc>
                  <a:txBody>
                    <a:bodyPr/>
                    <a:lstStyle/>
                    <a:p>
                      <a:pPr indent="266700" algn="ctr">
                        <a:spcAft>
                          <a:spcPts val="0"/>
                        </a:spcAft>
                      </a:pPr>
                      <a:r>
                        <a:rPr lang="zh-CN" sz="1600" kern="500">
                          <a:latin typeface="Times New Roman"/>
                          <a:ea typeface="宋体"/>
                          <a:cs typeface="Times New Roman"/>
                        </a:rPr>
                        <a:t>需求分析</a:t>
                      </a:r>
                    </a:p>
                  </a:txBody>
                  <a:tcPr marL="68580" marR="68580" marT="0" marB="0" anchor="ctr">
                    <a:lnL>
                      <a:noFill/>
                    </a:lnL>
                    <a:lnR>
                      <a:noFill/>
                    </a:lnR>
                    <a:lnT>
                      <a:noFill/>
                    </a:lnT>
                    <a:lnB>
                      <a:noFill/>
                    </a:lnB>
                  </a:tcPr>
                </a:tc>
                <a:tc>
                  <a:txBody>
                    <a:bodyPr/>
                    <a:lstStyle/>
                    <a:p>
                      <a:pPr indent="266700" algn="ctr">
                        <a:spcAft>
                          <a:spcPts val="0"/>
                        </a:spcAft>
                      </a:pPr>
                      <a:r>
                        <a:rPr lang="en-US" sz="1600" kern="500">
                          <a:latin typeface="Times New Roman"/>
                          <a:ea typeface="宋体"/>
                          <a:cs typeface="Times New Roman"/>
                        </a:rPr>
                        <a:t>1.0</a:t>
                      </a:r>
                      <a:endParaRPr lang="zh-CN" sz="1600" kern="500">
                        <a:latin typeface="Times New Roman"/>
                        <a:ea typeface="宋体"/>
                        <a:cs typeface="Times New Roman"/>
                      </a:endParaRPr>
                    </a:p>
                  </a:txBody>
                  <a:tcPr marL="68580" marR="68580" marT="0" marB="0" anchor="ctr">
                    <a:lnL>
                      <a:noFill/>
                    </a:lnL>
                    <a:lnR>
                      <a:noFill/>
                    </a:lnR>
                    <a:lnT>
                      <a:noFill/>
                    </a:lnT>
                    <a:lnB>
                      <a:noFill/>
                    </a:lnB>
                  </a:tcPr>
                </a:tc>
              </a:tr>
              <a:tr h="289381">
                <a:tc>
                  <a:txBody>
                    <a:bodyPr/>
                    <a:lstStyle/>
                    <a:p>
                      <a:pPr indent="266700" algn="ctr">
                        <a:spcAft>
                          <a:spcPts val="0"/>
                        </a:spcAft>
                      </a:pPr>
                      <a:r>
                        <a:rPr lang="zh-CN" sz="1600" kern="500">
                          <a:latin typeface="Times New Roman"/>
                          <a:ea typeface="宋体"/>
                          <a:cs typeface="Times New Roman"/>
                        </a:rPr>
                        <a:t>概要设计</a:t>
                      </a:r>
                    </a:p>
                  </a:txBody>
                  <a:tcPr marL="68580" marR="68580" marT="0" marB="0" anchor="ctr">
                    <a:lnL>
                      <a:noFill/>
                    </a:lnL>
                    <a:lnR>
                      <a:noFill/>
                    </a:lnR>
                    <a:lnT>
                      <a:noFill/>
                    </a:lnT>
                    <a:lnB>
                      <a:noFill/>
                    </a:lnB>
                  </a:tcPr>
                </a:tc>
                <a:tc>
                  <a:txBody>
                    <a:bodyPr/>
                    <a:lstStyle/>
                    <a:p>
                      <a:pPr indent="266700" algn="ctr">
                        <a:spcAft>
                          <a:spcPts val="0"/>
                        </a:spcAft>
                      </a:pPr>
                      <a:r>
                        <a:rPr lang="en-US" sz="1600" kern="500">
                          <a:latin typeface="Times New Roman"/>
                          <a:ea typeface="宋体"/>
                          <a:cs typeface="Times New Roman"/>
                        </a:rPr>
                        <a:t>0.5</a:t>
                      </a:r>
                      <a:endParaRPr lang="zh-CN" sz="1600" kern="500">
                        <a:latin typeface="Times New Roman"/>
                        <a:ea typeface="宋体"/>
                        <a:cs typeface="Times New Roman"/>
                      </a:endParaRPr>
                    </a:p>
                  </a:txBody>
                  <a:tcPr marL="68580" marR="68580" marT="0" marB="0" anchor="ctr">
                    <a:lnL>
                      <a:noFill/>
                    </a:lnL>
                    <a:lnR>
                      <a:noFill/>
                    </a:lnR>
                    <a:lnT>
                      <a:noFill/>
                    </a:lnT>
                    <a:lnB>
                      <a:noFill/>
                    </a:lnB>
                  </a:tcPr>
                </a:tc>
              </a:tr>
              <a:tr h="289381">
                <a:tc>
                  <a:txBody>
                    <a:bodyPr/>
                    <a:lstStyle/>
                    <a:p>
                      <a:pPr indent="266700" algn="ctr">
                        <a:spcAft>
                          <a:spcPts val="0"/>
                        </a:spcAft>
                      </a:pPr>
                      <a:r>
                        <a:rPr lang="zh-CN" sz="1600" kern="500">
                          <a:latin typeface="Times New Roman"/>
                          <a:ea typeface="宋体"/>
                          <a:cs typeface="Times New Roman"/>
                        </a:rPr>
                        <a:t>详细设计</a:t>
                      </a:r>
                    </a:p>
                  </a:txBody>
                  <a:tcPr marL="68580" marR="68580" marT="0" marB="0" anchor="ctr">
                    <a:lnL>
                      <a:noFill/>
                    </a:lnL>
                    <a:lnR>
                      <a:noFill/>
                    </a:lnR>
                    <a:lnT>
                      <a:noFill/>
                    </a:lnT>
                    <a:lnB>
                      <a:noFill/>
                    </a:lnB>
                  </a:tcPr>
                </a:tc>
                <a:tc>
                  <a:txBody>
                    <a:bodyPr/>
                    <a:lstStyle/>
                    <a:p>
                      <a:pPr indent="266700" algn="ctr">
                        <a:spcAft>
                          <a:spcPts val="0"/>
                        </a:spcAft>
                      </a:pPr>
                      <a:r>
                        <a:rPr lang="en-US" sz="1600" kern="500">
                          <a:latin typeface="Times New Roman"/>
                          <a:ea typeface="宋体"/>
                          <a:cs typeface="Times New Roman"/>
                        </a:rPr>
                        <a:t>1.0</a:t>
                      </a:r>
                      <a:endParaRPr lang="zh-CN" sz="1600" kern="500">
                        <a:latin typeface="Times New Roman"/>
                        <a:ea typeface="宋体"/>
                        <a:cs typeface="Times New Roman"/>
                      </a:endParaRPr>
                    </a:p>
                  </a:txBody>
                  <a:tcPr marL="68580" marR="68580" marT="0" marB="0" anchor="ctr">
                    <a:lnL>
                      <a:noFill/>
                    </a:lnL>
                    <a:lnR>
                      <a:noFill/>
                    </a:lnR>
                    <a:lnT>
                      <a:noFill/>
                    </a:lnT>
                    <a:lnB>
                      <a:noFill/>
                    </a:lnB>
                  </a:tcPr>
                </a:tc>
              </a:tr>
              <a:tr h="289381">
                <a:tc>
                  <a:txBody>
                    <a:bodyPr/>
                    <a:lstStyle/>
                    <a:p>
                      <a:pPr indent="266700" algn="ctr">
                        <a:spcAft>
                          <a:spcPts val="0"/>
                        </a:spcAft>
                      </a:pPr>
                      <a:r>
                        <a:rPr lang="zh-CN" sz="1600" kern="500">
                          <a:latin typeface="Times New Roman"/>
                          <a:ea typeface="宋体"/>
                          <a:cs typeface="Times New Roman"/>
                        </a:rPr>
                        <a:t>系统实现</a:t>
                      </a: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kern="500">
                          <a:latin typeface="Times New Roman"/>
                          <a:ea typeface="宋体"/>
                          <a:cs typeface="Times New Roman"/>
                        </a:rPr>
                        <a:t>2.0</a:t>
                      </a:r>
                      <a:endParaRPr lang="zh-CN" sz="1600" kern="500">
                        <a:latin typeface="Times New Roman"/>
                        <a:ea typeface="宋体"/>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r h="289381">
                <a:tc>
                  <a:txBody>
                    <a:bodyPr/>
                    <a:lstStyle/>
                    <a:p>
                      <a:pPr indent="266700" algn="ctr">
                        <a:spcAft>
                          <a:spcPts val="0"/>
                        </a:spcAft>
                      </a:pPr>
                      <a:r>
                        <a:rPr lang="zh-CN" sz="1600" kern="500">
                          <a:latin typeface="Times New Roman"/>
                          <a:ea typeface="宋体"/>
                          <a:cs typeface="Times New Roman"/>
                        </a:rPr>
                        <a:t>总 计</a:t>
                      </a: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600" kern="500" dirty="0">
                          <a:latin typeface="Times New Roman"/>
                          <a:ea typeface="宋体"/>
                          <a:cs typeface="Times New Roman"/>
                        </a:rPr>
                        <a:t>5.0</a:t>
                      </a:r>
                      <a:endParaRPr lang="zh-CN" sz="1600" kern="500" dirty="0">
                        <a:latin typeface="Times New Roman"/>
                        <a:ea typeface="宋体"/>
                        <a:cs typeface="Times New Roman"/>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r>
              <a:rPr lang="zh-CN" altLang="en-US">
                <a:solidFill>
                  <a:srgbClr val="FF0000"/>
                </a:solidFill>
              </a:rPr>
              <a:t>总结</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总结</a:t>
            </a:r>
          </a:p>
        </p:txBody>
      </p:sp>
      <p:sp>
        <p:nvSpPr>
          <p:cNvPr id="102" name="文本框 101"/>
          <p:cNvSpPr txBox="1"/>
          <p:nvPr/>
        </p:nvSpPr>
        <p:spPr>
          <a:xfrm>
            <a:off x="1406525" y="2499360"/>
            <a:ext cx="10183495" cy="2973122"/>
          </a:xfrm>
          <a:prstGeom prst="rect">
            <a:avLst/>
          </a:prstGeom>
          <a:noFill/>
          <a:ln w="9525">
            <a:noFill/>
          </a:ln>
        </p:spPr>
        <p:txBody>
          <a:bodyPr wrap="square">
            <a:spAutoFit/>
          </a:bodyPr>
          <a:lstStyle/>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可行性研究是指通过对用户进行详细的调查研究，</a:t>
            </a:r>
            <a:r>
              <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rPr>
              <a:t>确定所开发软件的系统功能、性能、目标、规模，该软件系统同其他系统或其他软件之间的相互关系</a:t>
            </a:r>
            <a:r>
              <a:rPr lang="zh-CN" altLang="en-US" b="0" u="none" dirty="0">
                <a:solidFill>
                  <a:schemeClr val="accent3">
                    <a:lumMod val="75000"/>
                  </a:schemeClr>
                </a:solidFill>
                <a:latin typeface="宋体" panose="02010600030101010101" pitchFamily="2" charset="-122"/>
                <a:ea typeface="宋体" panose="02010600030101010101" pitchFamily="2" charset="-122"/>
                <a:cs typeface="宋体" panose="02010600030101010101" pitchFamily="2" charset="-122"/>
              </a:rPr>
              <a:t>。</a:t>
            </a:r>
            <a:r>
              <a:rPr lang="zh-CN" altLang="en-US" b="0" u="none" dirty="0">
                <a:latin typeface="宋体" panose="02010600030101010101" pitchFamily="2" charset="-122"/>
                <a:ea typeface="宋体" panose="02010600030101010101" pitchFamily="2" charset="-122"/>
                <a:cs typeface="宋体" panose="02010600030101010101" pitchFamily="2" charset="-122"/>
              </a:rPr>
              <a:t>软件开发人员要从</a:t>
            </a:r>
            <a:r>
              <a:rPr lang="zh-CN" altLang="en-US" b="0" u="none"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技术、经济、社会</a:t>
            </a:r>
            <a:r>
              <a:rPr lang="zh-CN" altLang="en-US" b="0" u="none" dirty="0">
                <a:latin typeface="宋体" panose="02010600030101010101" pitchFamily="2" charset="-122"/>
                <a:ea typeface="宋体" panose="02010600030101010101" pitchFamily="2" charset="-122"/>
                <a:cs typeface="宋体" panose="02010600030101010101" pitchFamily="2" charset="-122"/>
              </a:rPr>
              <a:t>因素等方面写出可行性研究报告。</a:t>
            </a:r>
          </a:p>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需求分析是研究用户要求，以得到目标系统的需求定义的过程，是</a:t>
            </a: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理解、分析和表达“系统必须做什么”的过程。</a:t>
            </a:r>
          </a:p>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需求分析阶段要</a:t>
            </a:r>
            <a:r>
              <a:rPr lang="zh-CN" altLang="en-US" b="0" u="none" dirty="0">
                <a:solidFill>
                  <a:srgbClr val="0070C0"/>
                </a:solidFill>
                <a:latin typeface="宋体" panose="02010600030101010101" pitchFamily="2" charset="-122"/>
                <a:ea typeface="宋体" panose="02010600030101010101" pitchFamily="2" charset="-122"/>
                <a:cs typeface="宋体" panose="02010600030101010101" pitchFamily="2" charset="-122"/>
              </a:rPr>
              <a:t>建立数据模型、功能模型和行为模型。</a:t>
            </a:r>
            <a:r>
              <a:rPr lang="zh-CN" altLang="en-US" b="0" u="none" dirty="0">
                <a:latin typeface="宋体" panose="02010600030101010101" pitchFamily="2" charset="-122"/>
                <a:ea typeface="宋体" panose="02010600030101010101" pitchFamily="2" charset="-122"/>
                <a:cs typeface="宋体" panose="02010600030101010101" pitchFamily="2" charset="-122"/>
              </a:rPr>
              <a:t>建立模型是为了描述用户需求；为软件的设计奠定基础；定义一组需求，用以验收软件产品。</a:t>
            </a:r>
          </a:p>
          <a:p>
            <a:pPr marL="285750" indent="-285750" algn="l" fontAlgn="auto">
              <a:lnSpc>
                <a:spcPct val="130000"/>
              </a:lnSpc>
              <a:buClrTx/>
              <a:buFont typeface="Arial" panose="020B0604020202020204" pitchFamily="34" charset="0"/>
              <a:buChar char="•"/>
            </a:pPr>
            <a:endParaRPr lang="zh-CN" altLang="en-US" dirty="0"/>
          </a:p>
        </p:txBody>
      </p:sp>
      <p:sp>
        <p:nvSpPr>
          <p:cNvPr id="7" name="文本框 6"/>
          <p:cNvSpPr txBox="1"/>
          <p:nvPr/>
        </p:nvSpPr>
        <p:spPr>
          <a:xfrm>
            <a:off x="754380" y="2877185"/>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可行性研究总结</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r>
              <a:rPr lang="zh-CN" altLang="en-US">
                <a:solidFill>
                  <a:srgbClr val="FF0000"/>
                </a:solidFill>
              </a:rPr>
              <a:t>总结</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总结</a:t>
            </a:r>
          </a:p>
        </p:txBody>
      </p:sp>
      <p:sp>
        <p:nvSpPr>
          <p:cNvPr id="102" name="文本框 101"/>
          <p:cNvSpPr txBox="1"/>
          <p:nvPr/>
        </p:nvSpPr>
        <p:spPr>
          <a:xfrm>
            <a:off x="1406525" y="2377440"/>
            <a:ext cx="10183495" cy="2973122"/>
          </a:xfrm>
          <a:prstGeom prst="rect">
            <a:avLst/>
          </a:prstGeom>
          <a:noFill/>
          <a:ln w="9525">
            <a:noFill/>
          </a:ln>
        </p:spPr>
        <p:txBody>
          <a:bodyPr wrap="square">
            <a:spAutoFit/>
          </a:bodyPr>
          <a:lstStyle/>
          <a:p>
            <a:pPr marL="285750" indent="-285750" algn="l" fontAlgn="auto">
              <a:lnSpc>
                <a:spcPct val="130000"/>
              </a:lnSpc>
              <a:buClrTx/>
              <a:buFont typeface="Arial" panose="020B0604020202020204" pitchFamily="34" charset="0"/>
              <a:buChar char="•"/>
            </a:pPr>
            <a:r>
              <a:rPr lang="zh-CN" altLang="en-US" dirty="0">
                <a:solidFill>
                  <a:srgbClr val="00B050"/>
                </a:solidFill>
                <a:latin typeface="宋体" panose="02010600030101010101" pitchFamily="2" charset="-122"/>
                <a:ea typeface="宋体" panose="02010600030101010101" pitchFamily="2" charset="-122"/>
                <a:cs typeface="宋体" panose="02010600030101010101" pitchFamily="2" charset="-122"/>
                <a:sym typeface="+mn-ea"/>
              </a:rPr>
              <a:t>数据模型用实体－关系图来描述实体之间的关系，用层次图、Warnier图描述数据结构。功能模型用数据流图、IPO图来描述。行为模型用状态转换图来描绘。数据字典用来描述软件使用或产生的所有实体。</a:t>
            </a:r>
            <a:endPar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sym typeface="+mn-ea"/>
            </a:endParaRPr>
          </a:p>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需求分析阶段除了</a:t>
            </a:r>
            <a:r>
              <a:rPr lang="zh-CN" altLang="en-US" b="0" u="none" dirty="0">
                <a:solidFill>
                  <a:schemeClr val="accent6">
                    <a:lumMod val="75000"/>
                  </a:schemeClr>
                </a:solidFill>
                <a:latin typeface="宋体" panose="02010600030101010101" pitchFamily="2" charset="-122"/>
                <a:ea typeface="宋体" panose="02010600030101010101" pitchFamily="2" charset="-122"/>
                <a:cs typeface="宋体" panose="02010600030101010101" pitchFamily="2" charset="-122"/>
              </a:rPr>
              <a:t>建立模型之外，还应写出软件需求规格说明、系统测试计划，修订系统开发计划</a:t>
            </a:r>
            <a:r>
              <a:rPr lang="zh-CN" altLang="en-US" b="0" u="none" dirty="0">
                <a:latin typeface="宋体" panose="02010600030101010101" pitchFamily="2" charset="-122"/>
                <a:ea typeface="宋体" panose="02010600030101010101" pitchFamily="2" charset="-122"/>
                <a:cs typeface="宋体" panose="02010600030101010101" pitchFamily="2" charset="-122"/>
              </a:rPr>
              <a:t>，有时附上可执行的原型及初步的用户手册。</a:t>
            </a:r>
          </a:p>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软件需求规格说明的内容为：</a:t>
            </a:r>
            <a:r>
              <a:rPr lang="zh-CN" altLang="en-US" b="0" u="none" dirty="0">
                <a:solidFill>
                  <a:srgbClr val="00B050"/>
                </a:solidFill>
                <a:latin typeface="宋体" panose="02010600030101010101" pitchFamily="2" charset="-122"/>
                <a:ea typeface="宋体" panose="02010600030101010101" pitchFamily="2" charset="-122"/>
                <a:cs typeface="宋体" panose="02010600030101010101" pitchFamily="2" charset="-122"/>
              </a:rPr>
              <a:t>软件的目标，系统的数据描述、功能描述和行为描述，软件确认标准，资料目录，附录</a:t>
            </a:r>
            <a:r>
              <a:rPr lang="zh-CN" altLang="en-US" b="0" u="none" dirty="0">
                <a:latin typeface="宋体" panose="02010600030101010101" pitchFamily="2" charset="-122"/>
                <a:ea typeface="宋体" panose="02010600030101010101" pitchFamily="2" charset="-122"/>
                <a:cs typeface="宋体" panose="02010600030101010101" pitchFamily="2" charset="-122"/>
              </a:rPr>
              <a:t>等。</a:t>
            </a:r>
          </a:p>
          <a:p>
            <a:pPr marL="285750" indent="-285750" algn="l" fontAlgn="auto">
              <a:lnSpc>
                <a:spcPct val="130000"/>
              </a:lnSpc>
              <a:buClrTx/>
              <a:buFont typeface="Arial" panose="020B0604020202020204" pitchFamily="34" charset="0"/>
              <a:buChar char="•"/>
            </a:pPr>
            <a:r>
              <a:rPr lang="zh-CN" altLang="en-US" b="0" u="none" dirty="0">
                <a:latin typeface="宋体" panose="02010600030101010101" pitchFamily="2" charset="-122"/>
                <a:ea typeface="宋体" panose="02010600030101010101" pitchFamily="2" charset="-122"/>
                <a:cs typeface="宋体" panose="02010600030101010101" pitchFamily="2" charset="-122"/>
              </a:rPr>
              <a:t>复审是指需求分析的结果要经过系统分</a:t>
            </a:r>
            <a:endParaRPr lang="zh-CN" altLang="en-US" dirty="0"/>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可行性研究总结</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3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3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3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3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3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3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4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4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4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45.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3"/>
</p:tagLst>
</file>

<file path=ppt/tags/tag47.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4"/>
</p:tagLst>
</file>

<file path=ppt/tags/tag4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3"/>
</p:tagLst>
</file>

<file path=ppt/tags/tag4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5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5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56.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2"/>
</p:tagLst>
</file>

<file path=ppt/tags/tag59.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63.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64.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6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69.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71.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2"/>
</p:tagLst>
</file>

<file path=ppt/tags/tag72.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2"/>
</p:tagLst>
</file>

<file path=ppt/tags/tag73.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7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7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7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7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81.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82.xml><?xml version="1.0" encoding="utf-8"?>
<p:tagLst xmlns:a="http://schemas.openxmlformats.org/drawingml/2006/main" xmlns:r="http://schemas.openxmlformats.org/officeDocument/2006/relationships" xmlns:p="http://schemas.openxmlformats.org/presentationml/2006/main">
  <p:tag name="MH" val="20150917102857"/>
  <p:tag name="MH_LIBRARY" val="GRAPHIC"/>
  <p:tag name="MH_TYPE" val="SubTitle"/>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SubTitle"/>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MH" val="20150917113950"/>
  <p:tag name="MH_LIBRARY" val="GRAPHIC"/>
  <p:tag name="MH_TYPE" val="Other"/>
  <p:tag name="MH_ORDER" val="1"/>
</p:tagLst>
</file>

<file path=ppt/tags/tag85.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2"/>
</p:tagLst>
</file>

<file path=ppt/tags/tag86.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3"/>
</p:tagLst>
</file>

<file path=ppt/tags/tag87.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SubTitle"/>
  <p:tag name="MH_ORDER" val="3"/>
</p:tagLst>
</file>

<file path=ppt/tags/tag89.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Title"/>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MH" val="20150918110650"/>
  <p:tag name="MH_LIBRARY" val="GRAPHIC"/>
  <p:tag name="MH_TYPE" val="Other"/>
  <p:tag name="MH_ORDER" val="2"/>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2_1"/>
  <p:tag name="KSO_WM_UNIT_ID" val="diagram781_4*q_h_f*1_2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USESOURCEFORMAT_APPLY" val="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4*i*2"/>
  <p:tag name="KSO_WM_TEMPLATE_CATEGORY" val="diagram"/>
  <p:tag name="KSO_WM_TEMPLATE_INDEX" val="781"/>
  <p:tag name="KSO_WM_UNIT_INDEX" val="2"/>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3_1"/>
  <p:tag name="KSO_WM_UNIT_ID" val="diagram781_4*q_h_f*1_3_1"/>
  <p:tag name="KSO_WM_UNIT_CLEAR" val="1"/>
  <p:tag name="KSO_WM_UNIT_LAYERLEVEL" val="1_1_1"/>
  <p:tag name="KSO_WM_UNIT_VALUE" val="32"/>
  <p:tag name="KSO_WM_UNIT_HIGHLIGHT" val="0"/>
  <p:tag name="KSO_WM_UNIT_COMPATIBLE" val="0"/>
  <p:tag name="KSO_WM_UNIT_PRESET_TEXT_INDEX" val="4"/>
  <p:tag name="KSO_WM_UNIT_PRESET_TEXT_LEN" val="57"/>
  <p:tag name="KSO_WM_DIAGRAM_GROUP_CODE" val="q1-1"/>
  <p:tag name="KSO_WM_UNIT_USESOURCEFORMAT_APPLY" val="1"/>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1_1"/>
  <p:tag name="KSO_WM_UNIT_ID" val="diagram781_4*q_h_f*1_1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0"/>
  <p:tag name="KSO_WM_UNIT_ID" val="diagram781_4*q_i*1_10"/>
  <p:tag name="KSO_WM_UNIT_CLEAR" val="1"/>
  <p:tag name="KSO_WM_UNIT_LAYERLEVEL" val="1_1"/>
  <p:tag name="KSO_WM_DIAGRAM_GROUP_CODE" val="q1-1"/>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1"/>
  <p:tag name="KSO_WM_UNIT_ID" val="diagram781_4*q_i*1_11"/>
  <p:tag name="KSO_WM_UNIT_CLEAR" val="1"/>
  <p:tag name="KSO_WM_UNIT_LAYERLEVEL" val="1_1"/>
  <p:tag name="KSO_WM_DIAGRAM_GROUP_CODE" val="q1-1"/>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2"/>
  <p:tag name="KSO_WM_UNIT_ID" val="diagram781_4*q_i*1_12"/>
  <p:tag name="KSO_WM_UNIT_CLEAR" val="1"/>
  <p:tag name="KSO_WM_UNIT_LAYERLEVEL" val="1_1"/>
  <p:tag name="KSO_WM_DIAGRAM_GROUP_CODE" val="q1-1"/>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8"/>
  <p:tag name="KSO_WM_UNIT_ID" val="diagram781_4*q_i*1_8"/>
  <p:tag name="KSO_WM_UNIT_CLEAR" val="1"/>
  <p:tag name="KSO_WM_UNIT_LAYERLEVEL" val="1_1"/>
  <p:tag name="KSO_WM_DIAGRAM_GROUP_CODE" val="q1-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9"/>
  <p:tag name="KSO_WM_UNIT_ID" val="diagram781_4*q_i*1_9"/>
  <p:tag name="KSO_WM_UNIT_CLEAR" val="1"/>
  <p:tag name="KSO_WM_UNIT_LAYERLEVEL" val="1_1"/>
  <p:tag name="KSO_WM_DIAGRAM_GROUP_CODE" val="q1-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6"/>
  <p:tag name="KSO_WM_UNIT_ID" val="diagram781_4*q_i*1_6"/>
  <p:tag name="KSO_WM_UNIT_CLEAR" val="1"/>
  <p:tag name="KSO_WM_UNIT_LAYERLEVEL" val="1_1"/>
  <p:tag name="KSO_WM_DIAGRAM_GROUP_CODE" val="q1-1"/>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7"/>
  <p:tag name="KSO_WM_UNIT_ID" val="diagram781_4*q_i*1_7"/>
  <p:tag name="KSO_WM_UNIT_CLEAR" val="1"/>
  <p:tag name="KSO_WM_UNIT_LAYERLEVEL" val="1_1"/>
  <p:tag name="KSO_WM_DIAGRAM_GROUP_CODE" val="q1-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4"/>
  <p:tag name="KSO_WM_UNIT_ID" val="diagram781_4*q_i*1_4"/>
  <p:tag name="KSO_WM_UNIT_CLEAR" val="1"/>
  <p:tag name="KSO_WM_UNIT_LAYERLEVEL" val="1_1"/>
  <p:tag name="KSO_WM_DIAGRAM_GROUP_CODE" val="q1-1"/>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5"/>
  <p:tag name="KSO_WM_UNIT_ID" val="diagram781_4*q_i*1_5"/>
  <p:tag name="KSO_WM_UNIT_CLEAR" val="1"/>
  <p:tag name="KSO_WM_UNIT_LAYERLEVEL" val="1_1"/>
  <p:tag name="KSO_WM_DIAGRAM_GROUP_CODE" val="q1-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
  <p:tag name="KSO_WM_UNIT_ID" val="diagram781_4*q_i*1_1"/>
  <p:tag name="KSO_WM_UNIT_CLEAR" val="1"/>
  <p:tag name="KSO_WM_UNIT_LAYERLEVEL" val="1_1"/>
  <p:tag name="KSO_WM_DIAGRAM_GROUP_CODE" val="q1-1"/>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2"/>
  <p:tag name="KSO_WM_UNIT_ID" val="diagram781_4*q_i*1_2"/>
  <p:tag name="KSO_WM_UNIT_CLEAR" val="1"/>
  <p:tag name="KSO_WM_UNIT_LAYERLEVEL" val="1_1"/>
  <p:tag name="KSO_WM_DIAGRAM_GROUP_CODE" val="q1-1"/>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3"/>
  <p:tag name="KSO_WM_UNIT_ID" val="diagram781_4*q_i*1_3"/>
  <p:tag name="KSO_WM_UNIT_CLEAR" val="1"/>
  <p:tag name="KSO_WM_UNIT_LAYERLEVEL" val="1_1"/>
  <p:tag name="KSO_WM_DIAGRAM_GROUP_CODE" val="q1-1"/>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0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11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11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11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11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11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11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12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12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1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23.xml><?xml version="1.0" encoding="utf-8"?>
<p:tagLst xmlns:a="http://schemas.openxmlformats.org/drawingml/2006/main" xmlns:r="http://schemas.openxmlformats.org/officeDocument/2006/relationships" xmlns:p="http://schemas.openxmlformats.org/presentationml/2006/main">
  <p:tag name="MH" val="20150918134605"/>
  <p:tag name="MH_LIBRARY" val="GRAPHIC"/>
  <p:tag name="MH_TYPE" val="Other"/>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MH" val="20150918134605"/>
  <p:tag name="MH_LIBRARY" val="GRAPHIC"/>
  <p:tag name="MH_TYPE" val="Other"/>
  <p:tag name="MH_ORDER" val="1"/>
</p:tagLst>
</file>

<file path=ppt/tags/tag125.xml><?xml version="1.0" encoding="utf-8"?>
<p:tagLst xmlns:a="http://schemas.openxmlformats.org/drawingml/2006/main" xmlns:r="http://schemas.openxmlformats.org/officeDocument/2006/relationships" xmlns:p="http://schemas.openxmlformats.org/presentationml/2006/main">
  <p:tag name="MH" val="20150918134605"/>
  <p:tag name="MH_LIBRARY" val="GRAPHIC"/>
  <p:tag name="MH_TYPE" val="Other"/>
  <p:tag name="MH_ORDER" val="2"/>
</p:tagLst>
</file>

<file path=ppt/tags/tag126.xml><?xml version="1.0" encoding="utf-8"?>
<p:tagLst xmlns:a="http://schemas.openxmlformats.org/drawingml/2006/main" xmlns:r="http://schemas.openxmlformats.org/officeDocument/2006/relationships" xmlns:p="http://schemas.openxmlformats.org/presentationml/2006/main">
  <p:tag name="MH" val="20150918134605"/>
  <p:tag name="MH_LIBRARY" val="GRAPHIC"/>
  <p:tag name="MH_TYPE" val="SubTitle"/>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3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3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3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3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3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3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4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4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4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4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4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4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4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l_h_a"/>
  <p:tag name="KSO_WM_UNIT_INDEX" val="1_1_1"/>
  <p:tag name="KSO_WM_UNIT_CLEAR" val="1"/>
  <p:tag name="KSO_WM_UNIT_LAYERLEVEL" val="1_1_1"/>
  <p:tag name="KSO_WM_UNIT_VALUE" val="7"/>
  <p:tag name="KSO_WM_UNIT_HIGHLIGHT" val="0"/>
  <p:tag name="KSO_WM_UNIT_COMPATIBLE" val="0"/>
  <p:tag name="KSO_WM_UNIT_ID" val="custom160034_51*l_h_a*1_1_1"/>
  <p:tag name="KSO_WM_DIAGRAM_GROUP_CODE" val="l1-14"/>
  <p:tag name="KSO_WM_UNIT_PRESET_TEXT" val="在此编辑标题"/>
  <p:tag name="KSO_WM_UNIT_USESOURCEFORMAT_APPLY" val="1"/>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1_1"/>
  <p:tag name="KSO_WM_UNIT_CLEAR" val="1"/>
  <p:tag name="KSO_WM_UNIT_LAYERLEVEL" val="1_1_1"/>
  <p:tag name="KSO_WM_UNIT_VALUE" val="91"/>
  <p:tag name="KSO_WM_UNIT_HIGHLIGHT" val="0"/>
  <p:tag name="KSO_WM_UNIT_COMPATIBLE" val="0"/>
  <p:tag name="KSO_WM_UNIT_ID" val="custom160034_20*m_h_f*1_1_1"/>
  <p:tag name="KSO_WM_UNIT_PRESET_TEXT_INDEX" val="2"/>
  <p:tag name="KSO_WM_UNIT_PRESET_TEXT_LEN" val="20"/>
  <p:tag name="KSO_WM_DIAGRAM_GROUP_CODE" val="m1-1"/>
  <p:tag name="KSO_WM_UNIT_USESOURCEFORMAT_APPLY" val="1"/>
</p:tagLst>
</file>

<file path=ppt/tags/tag1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2_1"/>
  <p:tag name="KSO_WM_UNIT_CLEAR" val="1"/>
  <p:tag name="KSO_WM_UNIT_LAYERLEVEL" val="1_1_1"/>
  <p:tag name="KSO_WM_UNIT_VALUE" val="91"/>
  <p:tag name="KSO_WM_UNIT_HIGHLIGHT" val="0"/>
  <p:tag name="KSO_WM_UNIT_COMPATIBLE" val="0"/>
  <p:tag name="KSO_WM_UNIT_ID" val="custom160034_20*m_h_f*1_2_1"/>
  <p:tag name="KSO_WM_UNIT_PRESET_TEXT_INDEX" val="2"/>
  <p:tag name="KSO_WM_UNIT_PRESET_TEXT_LEN" val="20"/>
  <p:tag name="KSO_WM_DIAGRAM_GROUP_CODE" val="m1-1"/>
  <p:tag name="KSO_WM_UNIT_USESOURCEFORMAT_APPLY" val="1"/>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f"/>
  <p:tag name="KSO_WM_UNIT_INDEX" val="1_3_1"/>
  <p:tag name="KSO_WM_UNIT_CLEAR" val="1"/>
  <p:tag name="KSO_WM_UNIT_LAYERLEVEL" val="1_1_1"/>
  <p:tag name="KSO_WM_UNIT_VALUE" val="91"/>
  <p:tag name="KSO_WM_UNIT_HIGHLIGHT" val="0"/>
  <p:tag name="KSO_WM_UNIT_COMPATIBLE" val="0"/>
  <p:tag name="KSO_WM_UNIT_ID" val="custom160034_20*m_h_f*1_3_1"/>
  <p:tag name="KSO_WM_UNIT_PRESET_TEXT_INDEX" val="2"/>
  <p:tag name="KSO_WM_UNIT_PRESET_TEXT_LEN" val="20"/>
  <p:tag name="KSO_WM_DIAGRAM_GROUP_CODE" val="m1-1"/>
  <p:tag name="KSO_WM_UNIT_USESOURCEFORMAT_APPLY" val="1"/>
</p:tagLst>
</file>

<file path=ppt/tags/tag1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1"/>
  <p:tag name="KSO_WM_UNIT_CLEAR" val="1"/>
  <p:tag name="KSO_WM_UNIT_LAYERLEVEL" val="1_1"/>
  <p:tag name="KSO_WM_UNIT_ID" val="custom160034_20*m_i*1_1"/>
  <p:tag name="KSO_WM_DIAGRAM_GROUP_CODE" val="m1-1"/>
  <p:tag name="KSO_WM_UNIT_USESOURCEFORMAT_APPLY" val="1"/>
</p:tagLst>
</file>

<file path=ppt/tags/tag1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2"/>
  <p:tag name="KSO_WM_UNIT_CLEAR" val="1"/>
  <p:tag name="KSO_WM_UNIT_LAYERLEVEL" val="1_1"/>
  <p:tag name="KSO_WM_UNIT_ID" val="custom160034_20*m_i*1_2"/>
  <p:tag name="KSO_WM_DIAGRAM_GROUP_CODE" val="m1-1"/>
  <p:tag name="KSO_WM_UNIT_USESOURCEFORMAT_APPLY" val="1"/>
</p:tagLst>
</file>

<file path=ppt/tags/tag1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3"/>
  <p:tag name="KSO_WM_UNIT_CLEAR" val="1"/>
  <p:tag name="KSO_WM_UNIT_LAYERLEVEL" val="1_1"/>
  <p:tag name="KSO_WM_UNIT_ID" val="custom160034_20*m_i*1_3"/>
  <p:tag name="KSO_WM_DIAGRAM_GROUP_CODE" val="m1-1"/>
  <p:tag name="KSO_WM_UNIT_USESOURCEFORMAT_APPLY" val="1"/>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4"/>
  <p:tag name="KSO_WM_UNIT_CLEAR" val="1"/>
  <p:tag name="KSO_WM_UNIT_LAYERLEVEL" val="1_1"/>
  <p:tag name="KSO_WM_UNIT_ID" val="custom160034_20*m_i*1_4"/>
  <p:tag name="KSO_WM_DIAGRAM_GROUP_CODE" val="m1-1"/>
  <p:tag name="KSO_WM_UNIT_USESOURCEFORMAT_APPLY" val="1"/>
</p:tagLst>
</file>

<file path=ppt/tags/tag1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i"/>
  <p:tag name="KSO_WM_UNIT_INDEX" val="1_5"/>
  <p:tag name="KSO_WM_UNIT_CLEAR" val="1"/>
  <p:tag name="KSO_WM_UNIT_LAYERLEVEL" val="1_1"/>
  <p:tag name="KSO_WM_UNIT_ID" val="custom160034_20*m_i*1_5"/>
  <p:tag name="KSO_WM_DIAGRAM_GROUP_CODE" val="m1-1"/>
  <p:tag name="KSO_WM_UNIT_USESOURCEFORMAT_APPLY" val="1"/>
</p:tagLst>
</file>

<file path=ppt/tags/tag1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1_1"/>
  <p:tag name="KSO_WM_UNIT_CLEAR" val="1"/>
  <p:tag name="KSO_WM_UNIT_LAYERLEVEL" val="1_1_1"/>
  <p:tag name="KSO_WM_UNIT_VALUE" val="24"/>
  <p:tag name="KSO_WM_UNIT_HIGHLIGHT" val="0"/>
  <p:tag name="KSO_WM_UNIT_COMPATIBLE" val="0"/>
  <p:tag name="KSO_WM_UNIT_ID" val="custom160034_20*m_h_a*1_1_1"/>
  <p:tag name="KSO_WM_UNIT_PRESET_TEXT_INDEX" val="0"/>
  <p:tag name="KSO_WM_UNIT_PRESET_TEXT_LEN" val="9"/>
  <p:tag name="KSO_WM_DIAGRAM_GROUP_CODE" val="m1-1"/>
  <p:tag name="KSO_WM_UNIT_USESOURCEFORMAT_APPLY" val="1"/>
</p:tagLst>
</file>

<file path=ppt/tags/tag1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2_1"/>
  <p:tag name="KSO_WM_UNIT_CLEAR" val="1"/>
  <p:tag name="KSO_WM_UNIT_LAYERLEVEL" val="1_1_1"/>
  <p:tag name="KSO_WM_UNIT_VALUE" val="24"/>
  <p:tag name="KSO_WM_UNIT_HIGHLIGHT" val="0"/>
  <p:tag name="KSO_WM_UNIT_COMPATIBLE" val="0"/>
  <p:tag name="KSO_WM_UNIT_ID" val="custom160034_20*m_h_a*1_2_1"/>
  <p:tag name="KSO_WM_UNIT_PRESET_TEXT_INDEX" val="0"/>
  <p:tag name="KSO_WM_UNIT_PRESET_TEXT_LEN" val="9"/>
  <p:tag name="KSO_WM_DIAGRAM_GROUP_CODE" val="m1-1"/>
  <p:tag name="KSO_WM_UNIT_USESOURCEFORMAT_APPLY" val="1"/>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034"/>
  <p:tag name="KSO_WM_UNIT_TYPE" val="m_h_a"/>
  <p:tag name="KSO_WM_UNIT_INDEX" val="1_3_1"/>
  <p:tag name="KSO_WM_UNIT_CLEAR" val="1"/>
  <p:tag name="KSO_WM_UNIT_LAYERLEVEL" val="1_1_1"/>
  <p:tag name="KSO_WM_UNIT_VALUE" val="24"/>
  <p:tag name="KSO_WM_UNIT_HIGHLIGHT" val="0"/>
  <p:tag name="KSO_WM_UNIT_COMPATIBLE" val="0"/>
  <p:tag name="KSO_WM_UNIT_ID" val="custom160034_20*m_h_a*1_3_1"/>
  <p:tag name="KSO_WM_UNIT_PRESET_TEXT_INDEX" val="0"/>
  <p:tag name="KSO_WM_UNIT_PRESET_TEXT_LEN" val="9"/>
  <p:tag name="KSO_WM_DIAGRAM_GROUP_CODE" val="m1-1"/>
  <p:tag name="KSO_WM_UNIT_USESOURCEFORMAT_APPLY" val="1"/>
</p:tagLst>
</file>

<file path=ppt/tags/tag15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74.xml><?xml version="1.0" encoding="utf-8"?>
<p:tagLst xmlns:a="http://schemas.openxmlformats.org/drawingml/2006/main" xmlns:r="http://schemas.openxmlformats.org/officeDocument/2006/relationships" xmlns:p="http://schemas.openxmlformats.org/presentationml/2006/main">
  <p:tag name="MH" val="20150917162534"/>
  <p:tag name="MH_LIBRARY" val="GRAPHIC"/>
  <p:tag name="MH_TYPE" val="PageTitle"/>
  <p:tag name="MH_ORDER" val="PageTitle"/>
</p:tagLst>
</file>

<file path=ppt/tags/tag17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7*r_i*1_1"/>
  <p:tag name="KSO_WM_UNIT_LAYERLEVEL" val="1_1"/>
  <p:tag name="KSO_WM_DIAGRAM_GROUP_CODE" val="r1-1"/>
  <p:tag name="KSO_WM_UNIT_DIAGRAM_CONTRAST_TITLE_CNT" val="5"/>
  <p:tag name="KSO_WM_UNIT_DIAGRAM_DIMENSION_TITLE_CNT" val="2"/>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
  <p:tag name="KSO_WM_UNIT_ID" val="custom160596_37*r_i*1_2"/>
  <p:tag name="KSO_WM_UNIT_LAYERLEVEL" val="1_1"/>
  <p:tag name="KSO_WM_DIAGRAM_GROUP_CODE" val="r1-1"/>
  <p:tag name="KSO_WM_UNIT_DIAGRAM_CONTRAST_TITLE_CNT" val="5"/>
  <p:tag name="KSO_WM_UNIT_DIAGRAM_DIMENSION_TITLE_CNT" val="2"/>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7*r_i*1_3"/>
  <p:tag name="KSO_WM_UNIT_LAYERLEVEL" val="1_1"/>
  <p:tag name="KSO_WM_DIAGRAM_GROUP_CODE" val="r1-1"/>
  <p:tag name="KSO_WM_UNIT_DIAGRAM_CONTRAST_TITLE_CNT" val="5"/>
  <p:tag name="KSO_WM_UNIT_DIAGRAM_DIMENSION_TITLE_CNT" val="2"/>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7*r_i*1_4"/>
  <p:tag name="KSO_WM_UNIT_LAYERLEVEL" val="1_1"/>
  <p:tag name="KSO_WM_DIAGRAM_GROUP_CODE" val="r1-1"/>
  <p:tag name="KSO_WM_UNIT_DIAGRAM_CONTRAST_TITLE_CNT" val="5"/>
  <p:tag name="KSO_WM_UNIT_DIAGRAM_DIMENSION_TITLE_CNT" val="2"/>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7*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7*r_i*1_5"/>
  <p:tag name="KSO_WM_UNIT_LAYERLEVEL" val="1_1"/>
  <p:tag name="KSO_WM_DIAGRAM_GROUP_CODE" val="r1-1"/>
  <p:tag name="KSO_WM_UNIT_DIAGRAM_CONTRAST_TITLE_CNT" val="5"/>
  <p:tag name="KSO_WM_UNIT_DIAGRAM_DIMENSION_TITLE_CNT" val="2"/>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7*r_i*1_6"/>
  <p:tag name="KSO_WM_UNIT_LAYERLEVEL" val="1_1"/>
  <p:tag name="KSO_WM_DIAGRAM_GROUP_CODE" val="r1-1"/>
  <p:tag name="KSO_WM_UNIT_DIAGRAM_CONTRAST_TITLE_CNT" val="5"/>
  <p:tag name="KSO_WM_UNIT_DIAGRAM_DIMENSION_TITLE_CNT" val="2"/>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7*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7*r_i*1_7"/>
  <p:tag name="KSO_WM_UNIT_LAYERLEVEL" val="1_1"/>
  <p:tag name="KSO_WM_DIAGRAM_GROUP_CODE" val="r1-1"/>
  <p:tag name="KSO_WM_UNIT_DIAGRAM_CONTRAST_TITLE_CNT" val="5"/>
  <p:tag name="KSO_WM_UNIT_DIAGRAM_DIMENSION_TITLE_CNT" val="2"/>
  <p:tag name="KSO_WM_UNIT_USESOURCEFORMAT_APPLY" val="1"/>
</p:tagLst>
</file>

<file path=ppt/tags/tag1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7*r_i*1_8"/>
  <p:tag name="KSO_WM_UNIT_LAYERLEVEL" val="1_1"/>
  <p:tag name="KSO_WM_DIAGRAM_GROUP_CODE" val="r1-1"/>
  <p:tag name="KSO_WM_UNIT_DIAGRAM_CONTRAST_TITLE_CNT" val="5"/>
  <p:tag name="KSO_WM_UNIT_DIAGRAM_DIMENSION_TITLE_CNT" val="2"/>
  <p:tag name="KSO_WM_UNIT_USESOURCEFORMAT_APPLY" val="1"/>
</p:tagLst>
</file>

<file path=ppt/tags/tag1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7*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1"/>
  <p:tag name="KSO_WM_UNIT_ID" val="custom160596_37*r_i*1_21"/>
  <p:tag name="KSO_WM_UNIT_LAYERLEVEL" val="1_1"/>
  <p:tag name="KSO_WM_DIAGRAM_GROUP_CODE" val="r1-1"/>
  <p:tag name="KSO_WM_UNIT_DIAGRAM_CONTRAST_TITLE_CNT" val="5"/>
  <p:tag name="KSO_WM_UNIT_DIAGRAM_DIMENSION_TITLE_CNT" val="2"/>
  <p:tag name="KSO_WM_UNIT_USESOURCEFORMAT_APPLY" val="1"/>
</p:tagLst>
</file>

<file path=ppt/tags/tag1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7*r_i*1_22"/>
  <p:tag name="KSO_WM_UNIT_LAYERLEVEL" val="1_1"/>
  <p:tag name="KSO_WM_DIAGRAM_GROUP_CODE" val="r1-1"/>
  <p:tag name="KSO_WM_UNIT_DIAGRAM_CONTRAST_TITLE_CNT" val="5"/>
  <p:tag name="KSO_WM_UNIT_DIAGRAM_DIMENSION_TITLE_CNT" val="2"/>
  <p:tag name="KSO_WM_UNIT_USESOURCEFORMAT_APPLY" val="1"/>
</p:tagLst>
</file>

<file path=ppt/tags/tag1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1"/>
  <p:tag name="KSO_WM_UNIT_ID" val="custom160596_37*r_v*1_1"/>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9"/>
  <p:tag name="KSO_WM_UNIT_ID" val="custom160596_37*r_i*1_19"/>
  <p:tag name="KSO_WM_UNIT_LAYERLEVEL" val="1_1"/>
  <p:tag name="KSO_WM_DIAGRAM_GROUP_CODE" val="r1-1"/>
  <p:tag name="KSO_WM_UNIT_DIAGRAM_CONTRAST_TITLE_CNT" val="5"/>
  <p:tag name="KSO_WM_UNIT_DIAGRAM_DIMENSION_TITLE_CNT" val="2"/>
  <p:tag name="KSO_WM_UNIT_USESOURCEFORMAT_APPLY" val="1"/>
</p:tagLst>
</file>

<file path=ppt/tags/tag1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0"/>
  <p:tag name="KSO_WM_UNIT_ID" val="custom160596_37*r_i*1_20"/>
  <p:tag name="KSO_WM_UNIT_LAYERLEVEL" val="1_1"/>
  <p:tag name="KSO_WM_DIAGRAM_GROUP_CODE" val="r1-1"/>
  <p:tag name="KSO_WM_UNIT_DIAGRAM_CONTRAST_TITLE_CNT" val="5"/>
  <p:tag name="KSO_WM_UNIT_DIAGRAM_DIMENSION_TITLE_CNT" val="2"/>
  <p:tag name="KSO_WM_UNIT_USESOURCEFORMAT_APPLY" val="1"/>
</p:tagLst>
</file>

<file path=ppt/tags/tag1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3"/>
  <p:tag name="KSO_WM_UNIT_ID" val="custom160596_37*r_v*1_3"/>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7"/>
  <p:tag name="KSO_WM_UNIT_ID" val="custom160596_37*r_i*1_17"/>
  <p:tag name="KSO_WM_UNIT_LAYERLEVEL" val="1_1"/>
  <p:tag name="KSO_WM_DIAGRAM_GROUP_CODE" val="r1-1"/>
  <p:tag name="KSO_WM_UNIT_DIAGRAM_CONTRAST_TITLE_CNT" val="5"/>
  <p:tag name="KSO_WM_UNIT_DIAGRAM_DIMENSION_TITLE_CNT" val="2"/>
  <p:tag name="KSO_WM_UNIT_USESOURCEFORMAT_APPLY" val="1"/>
</p:tagLst>
</file>

<file path=ppt/tags/tag1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5"/>
  <p:tag name="KSO_WM_UNIT_ID" val="custom160596_37*r_v*1_5"/>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1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7*r_i*1_22"/>
  <p:tag name="KSO_WM_UNIT_LAYERLEVEL" val="1_1"/>
  <p:tag name="KSO_WM_DIAGRAM_GROUP_CODE" val="r1-1"/>
  <p:tag name="KSO_WM_UNIT_DIAGRAM_CONTRAST_TITLE_CNT" val="5"/>
  <p:tag name="KSO_WM_UNIT_DIAGRAM_DIMENSION_TITLE_CNT" val="2"/>
  <p:tag name="KSO_WM_UNIT_USESOURCEFORMAT_APPLY" val="1"/>
</p:tagLst>
</file>

<file path=ppt/tags/tag1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22"/>
  <p:tag name="KSO_WM_UNIT_ID" val="custom160596_37*r_i*1_22"/>
  <p:tag name="KSO_WM_UNIT_LAYERLEVEL" val="1_1"/>
  <p:tag name="KSO_WM_DIAGRAM_GROUP_CODE" val="r1-1"/>
  <p:tag name="KSO_WM_UNIT_DIAGRAM_CONTRAST_TITLE_CNT" val="5"/>
  <p:tag name="KSO_WM_UNIT_DIAGRAM_DIMENSION_TITLE_CNT" val="2"/>
  <p:tag name="KSO_WM_UNIT_USESOURCEFORMAT_APPLY" val="1"/>
</p:tagLst>
</file>

<file path=ppt/tags/tag19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TotalTime>
  <Words>7828</Words>
  <Application>WPS 演示</Application>
  <PresentationFormat>自定义</PresentationFormat>
  <Paragraphs>911</Paragraphs>
  <Slides>82</Slides>
  <Notes>17</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82</vt:i4>
      </vt:variant>
    </vt:vector>
  </HeadingPairs>
  <TitlesOfParts>
    <vt:vector size="86" baseType="lpstr">
      <vt:lpstr>Office 主题</vt:lpstr>
      <vt:lpstr>1_A000120141119A01PPBG</vt:lpstr>
      <vt:lpstr>MathType 6.0 Equation</vt:lpstr>
      <vt:lpstr>Microsoft Office Visio 绘图</vt:lpstr>
      <vt:lpstr>幻灯片 1</vt:lpstr>
      <vt:lpstr>幻灯片 2</vt:lpstr>
      <vt:lpstr>幻灯片 3</vt:lpstr>
      <vt:lpstr>1.1 软件问题的定义</vt:lpstr>
      <vt:lpstr>1.1 软件问题定义</vt:lpstr>
      <vt:lpstr>1.1 软件问题定义</vt:lpstr>
      <vt:lpstr>1.1 软件问题定义</vt:lpstr>
      <vt:lpstr>1.2 可行性研究</vt:lpstr>
      <vt:lpstr>1.2 可行性研究</vt:lpstr>
      <vt:lpstr>1.2 可行性研究</vt:lpstr>
      <vt:lpstr>1.2 可行性研究</vt:lpstr>
      <vt:lpstr>1.2 可行性研究</vt:lpstr>
      <vt:lpstr>1.3 制订项目开发计划</vt:lpstr>
      <vt:lpstr>幻灯片 14</vt:lpstr>
      <vt:lpstr>2.1 需求分析方法</vt:lpstr>
      <vt:lpstr>2.1 需求分析方法</vt:lpstr>
      <vt:lpstr>2.1 需求分析方法</vt:lpstr>
      <vt:lpstr>2.1 需求分析方法</vt:lpstr>
      <vt:lpstr>2.1 需求分析方法</vt:lpstr>
      <vt:lpstr>2.1 需求分析方法</vt:lpstr>
      <vt:lpstr>2.1 需求分析方法</vt:lpstr>
      <vt:lpstr>2.2 需求分析步骤</vt:lpstr>
      <vt:lpstr>2.2 需求分析步骤</vt:lpstr>
      <vt:lpstr>2.2 需求分析步骤</vt:lpstr>
      <vt:lpstr>2.2 需求分析步骤</vt:lpstr>
      <vt:lpstr>2.2 需求分析步骤</vt:lpstr>
      <vt:lpstr>2.2 需求分析步骤</vt:lpstr>
      <vt:lpstr>2.2 需求分析步骤</vt:lpstr>
      <vt:lpstr>2.2 需求分析步骤</vt:lpstr>
      <vt:lpstr>幻灯片 30</vt:lpstr>
      <vt:lpstr>3.1 实体-关系图</vt:lpstr>
      <vt:lpstr>3.1 实体-关系图</vt:lpstr>
      <vt:lpstr>3.1 实体-关系图</vt:lpstr>
      <vt:lpstr>3.1 实体-关系图</vt:lpstr>
      <vt:lpstr>3.1 实体-关系图</vt:lpstr>
      <vt:lpstr>3.1 实体-关系图</vt:lpstr>
      <vt:lpstr>3.2 数据流图</vt:lpstr>
      <vt:lpstr>3.2 数据流图</vt:lpstr>
      <vt:lpstr>3.2 数据流图</vt:lpstr>
      <vt:lpstr>3.2 数据流图</vt:lpstr>
      <vt:lpstr>3.2 数据流图</vt:lpstr>
      <vt:lpstr>3.2 数据流图</vt:lpstr>
      <vt:lpstr>3.2 数据流图</vt:lpstr>
      <vt:lpstr>3.2 数据流图</vt:lpstr>
      <vt:lpstr>3.2 数据流图</vt:lpstr>
      <vt:lpstr>3.2 数据流图</vt:lpstr>
      <vt:lpstr>3.2 数据流图</vt:lpstr>
      <vt:lpstr>3.3 状态转换图</vt:lpstr>
      <vt:lpstr>3.3 状态转换图</vt:lpstr>
      <vt:lpstr>3.2 数据流图</vt:lpstr>
      <vt:lpstr>3.4 层次图</vt:lpstr>
      <vt:lpstr>3.4 层次图</vt:lpstr>
      <vt:lpstr>3.5 Warnier 图</vt:lpstr>
      <vt:lpstr>3.5 Warnier 图</vt:lpstr>
      <vt:lpstr>3.7 IPO 图</vt:lpstr>
      <vt:lpstr>3.5 IPO 图</vt:lpstr>
      <vt:lpstr>幻灯片 57</vt:lpstr>
      <vt:lpstr>4.1 数据字典的内容</vt:lpstr>
      <vt:lpstr>4.2 数据字典使用的符号</vt:lpstr>
      <vt:lpstr>4.3 数据字典与图形工具</vt:lpstr>
      <vt:lpstr>4.4 数据字典示例</vt:lpstr>
      <vt:lpstr>幻灯片 62</vt:lpstr>
      <vt:lpstr>5.1 软件计划阶段文档的编写步骤</vt:lpstr>
      <vt:lpstr>5.1 软件计划阶段文档的编写步骤</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5.2 软件计划实例</vt:lpstr>
      <vt:lpstr>总结</vt:lpstr>
      <vt:lpstr>总结</vt:lpstr>
      <vt:lpstr>幻灯片 82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44</cp:revision>
  <dcterms:created xsi:type="dcterms:W3CDTF">2016-12-13T14:21:00Z</dcterms:created>
  <dcterms:modified xsi:type="dcterms:W3CDTF">2017-03-30T00:41:37Z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2052-10.1.0.6065</vt:lpwstr>
  </property>
</Properties>
</file>