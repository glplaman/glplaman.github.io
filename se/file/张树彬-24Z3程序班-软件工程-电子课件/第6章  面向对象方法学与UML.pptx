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notesSlides/notesSlide2.xml" ContentType="application/vnd.openxmlformats-officedocument.presentationml.notesSlide+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notesSlides/notesSlide3.xml" ContentType="application/vnd.openxmlformats-officedocument.presentationml.notesSlide+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notesSlides/notesSlide4.xml" ContentType="application/vnd.openxmlformats-officedocument.presentationml.notesSlide+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notesSlides/notesSlide5.xml" ContentType="application/vnd.openxmlformats-officedocument.presentationml.notesSlide+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133"/>
  </p:notesMasterIdLst>
  <p:sldIdLst>
    <p:sldId id="359" r:id="rId2"/>
    <p:sldId id="265" r:id="rId3"/>
    <p:sldId id="259" r:id="rId4"/>
    <p:sldId id="258" r:id="rId5"/>
    <p:sldId id="291" r:id="rId6"/>
    <p:sldId id="292" r:id="rId7"/>
    <p:sldId id="293" r:id="rId8"/>
    <p:sldId id="294" r:id="rId9"/>
    <p:sldId id="296" r:id="rId10"/>
    <p:sldId id="266" r:id="rId11"/>
    <p:sldId id="300" r:id="rId12"/>
    <p:sldId id="299" r:id="rId13"/>
    <p:sldId id="301" r:id="rId14"/>
    <p:sldId id="302" r:id="rId15"/>
    <p:sldId id="267" r:id="rId16"/>
    <p:sldId id="304" r:id="rId17"/>
    <p:sldId id="305" r:id="rId18"/>
    <p:sldId id="306" r:id="rId19"/>
    <p:sldId id="307" r:id="rId20"/>
    <p:sldId id="308" r:id="rId21"/>
    <p:sldId id="314" r:id="rId22"/>
    <p:sldId id="315" r:id="rId23"/>
    <p:sldId id="309" r:id="rId24"/>
    <p:sldId id="310" r:id="rId25"/>
    <p:sldId id="311" r:id="rId26"/>
    <p:sldId id="316" r:id="rId27"/>
    <p:sldId id="312" r:id="rId28"/>
    <p:sldId id="313" r:id="rId29"/>
    <p:sldId id="262" r:id="rId30"/>
    <p:sldId id="268" r:id="rId31"/>
    <p:sldId id="317" r:id="rId32"/>
    <p:sldId id="318" r:id="rId33"/>
    <p:sldId id="269" r:id="rId34"/>
    <p:sldId id="319" r:id="rId35"/>
    <p:sldId id="320" r:id="rId36"/>
    <p:sldId id="321" r:id="rId37"/>
    <p:sldId id="322" r:id="rId38"/>
    <p:sldId id="323" r:id="rId39"/>
    <p:sldId id="324" r:id="rId40"/>
    <p:sldId id="325" r:id="rId41"/>
    <p:sldId id="263" r:id="rId42"/>
    <p:sldId id="270" r:id="rId43"/>
    <p:sldId id="326" r:id="rId44"/>
    <p:sldId id="327" r:id="rId45"/>
    <p:sldId id="332" r:id="rId46"/>
    <p:sldId id="333" r:id="rId47"/>
    <p:sldId id="334" r:id="rId48"/>
    <p:sldId id="335" r:id="rId49"/>
    <p:sldId id="336" r:id="rId50"/>
    <p:sldId id="492" r:id="rId51"/>
    <p:sldId id="272" r:id="rId52"/>
    <p:sldId id="365" r:id="rId53"/>
    <p:sldId id="366" r:id="rId54"/>
    <p:sldId id="476" r:id="rId55"/>
    <p:sldId id="477" r:id="rId56"/>
    <p:sldId id="491" r:id="rId57"/>
    <p:sldId id="495" r:id="rId58"/>
    <p:sldId id="496" r:id="rId59"/>
    <p:sldId id="497" r:id="rId60"/>
    <p:sldId id="498" r:id="rId61"/>
    <p:sldId id="499" r:id="rId62"/>
    <p:sldId id="500" r:id="rId63"/>
    <p:sldId id="494" r:id="rId64"/>
    <p:sldId id="490" r:id="rId65"/>
    <p:sldId id="489" r:id="rId66"/>
    <p:sldId id="474" r:id="rId67"/>
    <p:sldId id="475" r:id="rId68"/>
    <p:sldId id="367" r:id="rId69"/>
    <p:sldId id="368" r:id="rId70"/>
    <p:sldId id="369" r:id="rId71"/>
    <p:sldId id="363" r:id="rId72"/>
    <p:sldId id="371" r:id="rId73"/>
    <p:sldId id="370" r:id="rId74"/>
    <p:sldId id="364" r:id="rId75"/>
    <p:sldId id="273" r:id="rId76"/>
    <p:sldId id="488" r:id="rId77"/>
    <p:sldId id="467" r:id="rId78"/>
    <p:sldId id="274" r:id="rId79"/>
    <p:sldId id="487" r:id="rId80"/>
    <p:sldId id="472" r:id="rId81"/>
    <p:sldId id="470" r:id="rId82"/>
    <p:sldId id="468" r:id="rId83"/>
    <p:sldId id="486" r:id="rId84"/>
    <p:sldId id="465" r:id="rId85"/>
    <p:sldId id="466" r:id="rId86"/>
    <p:sldId id="485" r:id="rId87"/>
    <p:sldId id="501" r:id="rId88"/>
    <p:sldId id="464" r:id="rId89"/>
    <p:sldId id="484" r:id="rId90"/>
    <p:sldId id="277" r:id="rId91"/>
    <p:sldId id="502" r:id="rId92"/>
    <p:sldId id="462" r:id="rId93"/>
    <p:sldId id="483" r:id="rId94"/>
    <p:sldId id="504" r:id="rId95"/>
    <p:sldId id="503" r:id="rId96"/>
    <p:sldId id="506" r:id="rId97"/>
    <p:sldId id="278" r:id="rId98"/>
    <p:sldId id="482" r:id="rId99"/>
    <p:sldId id="457" r:id="rId100"/>
    <p:sldId id="458" r:id="rId101"/>
    <p:sldId id="459" r:id="rId102"/>
    <p:sldId id="460" r:id="rId103"/>
    <p:sldId id="480" r:id="rId104"/>
    <p:sldId id="261" r:id="rId105"/>
    <p:sldId id="377" r:id="rId106"/>
    <p:sldId id="376" r:id="rId107"/>
    <p:sldId id="271" r:id="rId108"/>
    <p:sldId id="382" r:id="rId109"/>
    <p:sldId id="378" r:id="rId110"/>
    <p:sldId id="379" r:id="rId111"/>
    <p:sldId id="380" r:id="rId112"/>
    <p:sldId id="381" r:id="rId113"/>
    <p:sldId id="280" r:id="rId114"/>
    <p:sldId id="505" r:id="rId115"/>
    <p:sldId id="450" r:id="rId116"/>
    <p:sldId id="451" r:id="rId117"/>
    <p:sldId id="452" r:id="rId118"/>
    <p:sldId id="453" r:id="rId119"/>
    <p:sldId id="454" r:id="rId120"/>
    <p:sldId id="455" r:id="rId121"/>
    <p:sldId id="456" r:id="rId122"/>
    <p:sldId id="281" r:id="rId123"/>
    <p:sldId id="384" r:id="rId124"/>
    <p:sldId id="479" r:id="rId125"/>
    <p:sldId id="282" r:id="rId126"/>
    <p:sldId id="478" r:id="rId127"/>
    <p:sldId id="283" r:id="rId128"/>
    <p:sldId id="447" r:id="rId129"/>
    <p:sldId id="285" r:id="rId130"/>
    <p:sldId id="284" r:id="rId131"/>
    <p:sldId id="493" r:id="rId132"/>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E7"/>
    <a:srgbClr val="3B9582"/>
    <a:srgbClr val="78CFF7"/>
    <a:srgbClr val="00B0F0"/>
    <a:srgbClr val="58BDA8"/>
    <a:srgbClr val="FDC200"/>
    <a:srgbClr val="EF41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3" d="100"/>
          <a:sy n="103" d="100"/>
        </p:scale>
        <p:origin x="138" y="3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ea typeface="微软雅黑" panose="020B0503020204020204" pitchFamily="34" charset="-122"/>
              </a:defRPr>
            </a:lvl1pPr>
          </a:lstStyle>
          <a:p>
            <a:fld id="{D2A48B96-639E-45A3-A0BA-2464DFDB1FAA}" type="datetimeFigureOut">
              <a:rPr lang="zh-CN" altLang="en-US" smtClean="0"/>
              <a:pPr/>
              <a:t>2026/5/18</a:t>
            </a:fld>
            <a:endParaRPr lang="zh-CN" altLang="en-US" dirty="0"/>
          </a:p>
        </p:txBody>
      </p:sp>
      <p:sp>
        <p:nvSpPr>
          <p:cNvPr id="4" name="幻灯片图像占位符 3"/>
          <p:cNvSpPr>
            <a:spLocks noGrp="1" noRot="1" noChangeAspect="1"/>
          </p:cNvSpPr>
          <p:nvPr>
            <p:ph type="sldImg" idx="2"/>
          </p:nvPr>
        </p:nvSpPr>
        <p:spPr>
          <a:xfrm>
            <a:off x="481584" y="1279287"/>
            <a:ext cx="6140578" cy="3454075"/>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A6837353-30EB-4A48-80EB-173D804AEFBD}"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1013" y="1279525"/>
            <a:ext cx="6140450" cy="3454400"/>
          </a:xfrm>
        </p:spPr>
        <p:txBody>
          <a:bodyPr/>
          <a:lstStyle/>
          <a:p>
            <a:endParaRPr lang="zh-CN" altLang="en-US"/>
          </a:p>
        </p:txBody>
      </p:sp>
      <p:sp>
        <p:nvSpPr>
          <p:cNvPr id="6147" name="备注占位符 2"/>
          <p:cNvSpPr>
            <a:spLocks noGrp="1"/>
          </p:cNvSpPr>
          <p:nvPr>
            <p:ph type="body" idx="1"/>
          </p:nvPr>
        </p:nvSpPr>
        <p:spPr>
          <a:noFill/>
        </p:spPr>
        <p:txBody>
          <a:bodyPr anchor="t"/>
          <a:lstStyle/>
          <a:p>
            <a:pPr eaLnBrk="1" hangingPunct="1">
              <a:spcBef>
                <a:spcPct val="0"/>
              </a:spcBef>
            </a:pPr>
            <a:r>
              <a:rPr lang="zh-CN" altLang="en-US" dirty="0"/>
              <a:t>模板来自于 </a:t>
            </a:r>
            <a:r>
              <a:rPr lang="en-US" altLang="zh-CN" dirty="0"/>
              <a:t>http://docer.wps.cn</a:t>
            </a:r>
            <a:endParaRPr lang="zh-CN" altLang="en-US" dirty="0"/>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微软雅黑" panose="020B0503020204020204" pitchFamily="34" charset="-122"/>
              </a:rPr>
              <a:pPr algn="r" eaLnBrk="1" hangingPunct="1">
                <a:buFont typeface="Arial" panose="020B0604020202020204" pitchFamily="34" charset="0"/>
                <a:buNone/>
              </a:pPr>
              <a:t>3</a:t>
            </a:fld>
            <a:endParaRPr lang="zh-CN" altLang="en-US" sz="1300" dirty="0">
              <a:latin typeface="Calibri" panose="020F0502020204030204" charset="0"/>
              <a:ea typeface="微软雅黑" panose="020B0503020204020204" pitchFamily="34"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txBody>
          <a:bodyPr/>
          <a:lstStyle/>
          <a:p>
            <a:endParaRPr lang="zh-CN" altLang="en-US"/>
          </a:p>
        </p:txBody>
      </p:sp>
      <p:sp>
        <p:nvSpPr>
          <p:cNvPr id="3" name="备注占位符 2"/>
          <p:cNvSpPr>
            <a:spLocks noGrp="1"/>
          </p:cNvSpPr>
          <p:nvPr>
            <p:ph type="body" idx="1"/>
          </p:nvPr>
        </p:nvSpPr>
        <p:spPr/>
        <p:txBody>
          <a:bodyPr/>
          <a:lstStyle/>
          <a:p>
            <a:r>
              <a:rPr lang="zh-CN" altLang="en-US" dirty="0"/>
              <a:t>通常在</a:t>
            </a:r>
            <a:r>
              <a:rPr lang="en-US" altLang="zh-CN" dirty="0"/>
              <a:t>A</a:t>
            </a:r>
            <a:r>
              <a:rPr lang="zh-CN" altLang="en-US" dirty="0"/>
              <a:t>中</a:t>
            </a:r>
            <a:r>
              <a:rPr lang="en-US" altLang="zh-CN" dirty="0"/>
              <a:t>new</a:t>
            </a:r>
            <a:r>
              <a:rPr lang="zh-CN" altLang="en-US" dirty="0"/>
              <a:t>一个</a:t>
            </a:r>
            <a:r>
              <a:rPr lang="en-US" altLang="zh-CN" dirty="0"/>
              <a:t>B</a:t>
            </a:r>
            <a:r>
              <a:rPr lang="zh-CN" altLang="en-US" dirty="0"/>
              <a:t>出来</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59</a:t>
            </a:fld>
            <a:endParaRPr lang="zh-CN" altLang="en-US" dirty="0"/>
          </a:p>
        </p:txBody>
      </p:sp>
    </p:spTree>
    <p:extLst>
      <p:ext uri="{BB962C8B-B14F-4D97-AF65-F5344CB8AC3E}">
        <p14:creationId xmlns:p14="http://schemas.microsoft.com/office/powerpoint/2010/main" val="847527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txBody>
          <a:bodyPr/>
          <a:lstStyle/>
          <a:p>
            <a:endParaRPr lang="zh-CN" altLang="en-US"/>
          </a:p>
        </p:txBody>
      </p:sp>
      <p:sp>
        <p:nvSpPr>
          <p:cNvPr id="3" name="备注占位符 2"/>
          <p:cNvSpPr>
            <a:spLocks noGrp="1"/>
          </p:cNvSpPr>
          <p:nvPr>
            <p:ph type="body" idx="1"/>
          </p:nvPr>
        </p:nvSpPr>
        <p:spPr/>
        <p:txBody>
          <a:bodyPr/>
          <a:lstStyle/>
          <a:p>
            <a:r>
              <a:rPr lang="en-US" altLang="zh-CN" dirty="0"/>
              <a:t>A </a:t>
            </a:r>
            <a:r>
              <a:rPr lang="zh-CN" altLang="en-US" dirty="0"/>
              <a:t>拥有多个 </a:t>
            </a:r>
            <a:r>
              <a:rPr lang="en-US" altLang="zh-CN" dirty="0"/>
              <a:t>B</a:t>
            </a:r>
            <a:r>
              <a:rPr lang="zh-CN" altLang="en-US" dirty="0"/>
              <a:t>（比如一个用户有多张券、多个地址）。</a:t>
            </a:r>
          </a:p>
          <a:p>
            <a:r>
              <a:rPr lang="en-US" altLang="zh-CN" dirty="0"/>
              <a:t>B </a:t>
            </a:r>
            <a:r>
              <a:rPr lang="zh-CN" altLang="en-US" dirty="0"/>
              <a:t>可以脱离 </a:t>
            </a:r>
            <a:r>
              <a:rPr lang="en-US" altLang="zh-CN" dirty="0"/>
              <a:t>A </a:t>
            </a:r>
            <a:r>
              <a:rPr lang="zh-CN" altLang="en-US" dirty="0"/>
              <a:t>独立存在（或者 </a:t>
            </a:r>
            <a:r>
              <a:rPr lang="en-US" altLang="zh-CN" dirty="0"/>
              <a:t>B </a:t>
            </a:r>
            <a:r>
              <a:rPr lang="zh-CN" altLang="en-US" dirty="0"/>
              <a:t>的生死由第三方规则决定，而不是 </a:t>
            </a:r>
            <a:r>
              <a:rPr lang="en-US" altLang="zh-CN" dirty="0"/>
              <a:t>A </a:t>
            </a:r>
            <a:r>
              <a:rPr lang="zh-CN" altLang="en-US" dirty="0"/>
              <a:t>说了算）。</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60</a:t>
            </a:fld>
            <a:endParaRPr lang="zh-CN" altLang="en-US" dirty="0"/>
          </a:p>
        </p:txBody>
      </p:sp>
    </p:spTree>
    <p:extLst>
      <p:ext uri="{BB962C8B-B14F-4D97-AF65-F5344CB8AC3E}">
        <p14:creationId xmlns:p14="http://schemas.microsoft.com/office/powerpoint/2010/main" val="2419771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61</a:t>
            </a:fld>
            <a:endParaRPr lang="zh-CN" altLang="en-US" dirty="0"/>
          </a:p>
        </p:txBody>
      </p:sp>
    </p:spTree>
    <p:extLst>
      <p:ext uri="{BB962C8B-B14F-4D97-AF65-F5344CB8AC3E}">
        <p14:creationId xmlns:p14="http://schemas.microsoft.com/office/powerpoint/2010/main" val="921023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4A6E4-7BB8-75D2-D3BF-91116C51CF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4DF79C-93AF-472D-47C1-2E8F4E281904}"/>
              </a:ext>
            </a:extLst>
          </p:cNvPr>
          <p:cNvSpPr>
            <a:spLocks noGrp="1" noRot="1" noChangeAspect="1"/>
          </p:cNvSpPr>
          <p:nvPr>
            <p:ph type="sldImg"/>
          </p:nvPr>
        </p:nvSpPr>
        <p:spPr>
          <a:xfrm>
            <a:off x="481013" y="1279525"/>
            <a:ext cx="6140450" cy="3454400"/>
          </a:xfrm>
        </p:spPr>
        <p:txBody>
          <a:bodyPr/>
          <a:lstStyle/>
          <a:p>
            <a:endParaRPr lang="zh-CN" altLang="en-US"/>
          </a:p>
        </p:txBody>
      </p:sp>
      <p:sp>
        <p:nvSpPr>
          <p:cNvPr id="3" name="备注占位符 2">
            <a:extLst>
              <a:ext uri="{FF2B5EF4-FFF2-40B4-BE49-F238E27FC236}">
                <a16:creationId xmlns:a16="http://schemas.microsoft.com/office/drawing/2014/main" id="{BFF1C7BF-D3DA-3B36-ECE8-A90C8EAFBDE8}"/>
              </a:ext>
            </a:extLst>
          </p:cNvPr>
          <p:cNvSpPr>
            <a:spLocks noGrp="1"/>
          </p:cNvSpPr>
          <p:nvPr>
            <p:ph type="body" idx="1"/>
          </p:nvPr>
        </p:nvSpPr>
        <p:spPr/>
        <p:txBody>
          <a:bodyPr/>
          <a:lstStyle/>
          <a:p>
            <a:r>
              <a:rPr lang="zh-CN" altLang="en-US" dirty="0"/>
              <a:t>一个模块（类）是否需要另一个模块（类）的支持</a:t>
            </a:r>
          </a:p>
        </p:txBody>
      </p:sp>
      <p:sp>
        <p:nvSpPr>
          <p:cNvPr id="4" name="灯片编号占位符 3">
            <a:extLst>
              <a:ext uri="{FF2B5EF4-FFF2-40B4-BE49-F238E27FC236}">
                <a16:creationId xmlns:a16="http://schemas.microsoft.com/office/drawing/2014/main" id="{5E9C314B-4F42-B827-2E2A-A3E4D61C161F}"/>
              </a:ext>
            </a:extLst>
          </p:cNvPr>
          <p:cNvSpPr>
            <a:spLocks noGrp="1"/>
          </p:cNvSpPr>
          <p:nvPr>
            <p:ph type="sldNum" sz="quarter" idx="5"/>
          </p:nvPr>
        </p:nvSpPr>
        <p:spPr/>
        <p:txBody>
          <a:bodyPr/>
          <a:lstStyle/>
          <a:p>
            <a:fld id="{A6837353-30EB-4A48-80EB-173D804AEFBD}" type="slidenum">
              <a:rPr lang="zh-CN" altLang="en-US" smtClean="0"/>
              <a:pPr/>
              <a:t>62</a:t>
            </a:fld>
            <a:endParaRPr lang="zh-CN" altLang="en-US" dirty="0"/>
          </a:p>
        </p:txBody>
      </p:sp>
    </p:spTree>
    <p:extLst>
      <p:ext uri="{BB962C8B-B14F-4D97-AF65-F5344CB8AC3E}">
        <p14:creationId xmlns:p14="http://schemas.microsoft.com/office/powerpoint/2010/main" val="1268597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p:nvPr>
        </p:nvSpPr>
        <p:spPr>
          <a:xfrm>
            <a:off x="694801" y="360000"/>
            <a:ext cx="5401200" cy="523220"/>
          </a:xfrm>
          <a:prstGeom prst="rect">
            <a:avLst/>
          </a:prstGeom>
        </p:spPr>
        <p:txBody>
          <a:bodyPr/>
          <a:lstStyle>
            <a:lvl1pPr>
              <a:defRPr lang="zh-CN" altLang="en-US" dirty="0"/>
            </a:lvl1pPr>
          </a:lstStyle>
          <a:p>
            <a:r>
              <a:rPr lang="zh-CN" altLang="en-US" dirty="0"/>
              <a:t>单击此处编辑母版标题样式</a:t>
            </a:r>
          </a:p>
        </p:txBody>
      </p:sp>
      <p:cxnSp>
        <p:nvCxnSpPr>
          <p:cNvPr id="13" name="直接连接符 12"/>
          <p:cNvCxnSpPr/>
          <p:nvPr userDrawn="1"/>
        </p:nvCxnSpPr>
        <p:spPr>
          <a:xfrm>
            <a:off x="0" y="1322996"/>
            <a:ext cx="121920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1021715"/>
            <a:ext cx="12192000" cy="252095"/>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
    <p:spTree>
      <p:nvGrpSpPr>
        <p:cNvPr id="1" name=""/>
        <p:cNvGrpSpPr/>
        <p:nvPr/>
      </p:nvGrpSpPr>
      <p:grpSpPr>
        <a:xfrm>
          <a:off x="0" y="0"/>
          <a:ext cx="0" cy="0"/>
          <a:chOff x="0" y="0"/>
          <a:chExt cx="0" cy="0"/>
        </a:xfrm>
      </p:grpSpPr>
      <p:sp>
        <p:nvSpPr>
          <p:cNvPr id="2" name="标题 1"/>
          <p:cNvSpPr>
            <a:spLocks noGrp="1"/>
          </p:cNvSpPr>
          <p:nvPr>
            <p:ph type="title"/>
          </p:nvPr>
        </p:nvSpPr>
        <p:spPr>
          <a:xfrm>
            <a:off x="694801" y="360000"/>
            <a:ext cx="5401200" cy="523220"/>
          </a:xfrm>
          <a:prstGeom prst="rect">
            <a:avLst/>
          </a:prstGeom>
        </p:spPr>
        <p:txBody>
          <a:bodyPr/>
          <a:lstStyle>
            <a:lvl1pPr>
              <a:defRPr lang="zh-CN" altLang="en-US" baseline="0"/>
            </a:lvl1pPr>
          </a:lstStyle>
          <a:p>
            <a:r>
              <a:rPr lang="zh-CN" altLang="en-US"/>
              <a:t>单击此处编辑母版标题样式</a:t>
            </a:r>
          </a:p>
        </p:txBody>
      </p:sp>
      <p:sp>
        <p:nvSpPr>
          <p:cNvPr id="18" name="任意多边形 17"/>
          <p:cNvSpPr/>
          <p:nvPr/>
        </p:nvSpPr>
        <p:spPr>
          <a:xfrm>
            <a:off x="694800" y="1080000"/>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BE2EBFC0-D595-1B58-A0B1-E8DEF923815C}"/>
              </a:ext>
            </a:extLst>
          </p:cNvPr>
          <p:cNvSpPr>
            <a:spLocks noGrp="1"/>
          </p:cNvSpPr>
          <p:nvPr>
            <p:ph type="body" sz="quarter" idx="10"/>
          </p:nvPr>
        </p:nvSpPr>
        <p:spPr>
          <a:xfrm>
            <a:off x="900001" y="1322832"/>
            <a:ext cx="5196000" cy="400110"/>
          </a:xfrm>
        </p:spPr>
        <p:txBody>
          <a:bodyPr wrap="square">
            <a:spAutoFit/>
          </a:bodyPr>
          <a:lstStyle>
            <a:lvl1pPr indent="0">
              <a:lnSpc>
                <a:spcPct val="100000"/>
              </a:lnSpc>
              <a:spcBef>
                <a:spcPts val="0"/>
              </a:spcBef>
              <a:spcAft>
                <a:spcPts val="0"/>
              </a:spcAft>
              <a:buNone/>
              <a:defRPr baseline="0">
                <a:latin typeface="+mj-lt"/>
                <a:ea typeface="+mj-ea"/>
              </a:defRPr>
            </a:lvl1pPr>
            <a:lvl2pPr>
              <a:buNone/>
              <a:defRPr/>
            </a:lvl2pPr>
            <a:lvl3pPr>
              <a:buNone/>
              <a:defRPr/>
            </a:lvl3pPr>
            <a:lvl4pPr>
              <a:buNone/>
              <a:defRPr/>
            </a:lvl4pPr>
            <a:lvl5pPr>
              <a:buNone/>
              <a:defRPr/>
            </a:lvl5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标题 1"/>
          <p:cNvSpPr>
            <a:spLocks noGrp="1"/>
          </p:cNvSpPr>
          <p:nvPr>
            <p:ph type="title"/>
          </p:nvPr>
        </p:nvSpPr>
        <p:spPr>
          <a:xfrm>
            <a:off x="694801" y="360000"/>
            <a:ext cx="5401200" cy="523220"/>
          </a:xfrm>
          <a:prstGeom prst="rect">
            <a:avLst/>
          </a:prstGeom>
        </p:spPr>
        <p:txBody>
          <a:bodyPr/>
          <a:lstStyle>
            <a:lvl1pPr>
              <a:defRPr lang="zh-CN" altLang="en-US"/>
            </a:lvl1pPr>
          </a:lstStyle>
          <a:p>
            <a:r>
              <a:rPr lang="zh-CN" altLang="en-US"/>
              <a:t>单击此处编辑母版标题样式</a:t>
            </a:r>
          </a:p>
        </p:txBody>
      </p:sp>
      <p:sp>
        <p:nvSpPr>
          <p:cNvPr id="3" name="矩形 2">
            <a:extLst>
              <a:ext uri="{FF2B5EF4-FFF2-40B4-BE49-F238E27FC236}">
                <a16:creationId xmlns:a16="http://schemas.microsoft.com/office/drawing/2014/main" id="{D5907F13-2792-A368-4ED9-C809424D2600}"/>
              </a:ext>
            </a:extLst>
          </p:cNvPr>
          <p:cNvSpPr/>
          <p:nvPr userDrawn="1"/>
        </p:nvSpPr>
        <p:spPr>
          <a:xfrm>
            <a:off x="0" y="2160000"/>
            <a:ext cx="12192000" cy="3600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endParaRPr lang="zh-CN" altLang="en-US" dirty="0"/>
          </a:p>
        </p:txBody>
      </p:sp>
      <p:sp>
        <p:nvSpPr>
          <p:cNvPr id="5" name="文本占位符 4">
            <a:extLst>
              <a:ext uri="{FF2B5EF4-FFF2-40B4-BE49-F238E27FC236}">
                <a16:creationId xmlns:a16="http://schemas.microsoft.com/office/drawing/2014/main" id="{1226BFA4-5BFD-D163-88FF-2B5BB7808C5E}"/>
              </a:ext>
            </a:extLst>
          </p:cNvPr>
          <p:cNvSpPr>
            <a:spLocks noGrp="1"/>
          </p:cNvSpPr>
          <p:nvPr>
            <p:ph type="body" sz="quarter" idx="10"/>
          </p:nvPr>
        </p:nvSpPr>
        <p:spPr>
          <a:xfrm>
            <a:off x="360000" y="2519363"/>
            <a:ext cx="7725747" cy="2845739"/>
          </a:xfrm>
        </p:spPr>
        <p:txBody>
          <a:bodyPr>
            <a:normAutofit/>
          </a:bodyPr>
          <a:lstStyle>
            <a:lvl1pPr indent="0">
              <a:lnSpc>
                <a:spcPct val="125000"/>
              </a:lnSpc>
              <a:spcBef>
                <a:spcPts val="0"/>
              </a:spcBef>
              <a:buNone/>
              <a:defRPr sz="1800">
                <a:solidFill>
                  <a:schemeClr val="bg1"/>
                </a:solidFill>
                <a:latin typeface="+mn-ea"/>
                <a:ea typeface="+mn-ea"/>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zh-CN" altLang="en-US" dirty="0"/>
              <a:t>单击此处编辑母版文本样式</a:t>
            </a:r>
          </a:p>
        </p:txBody>
      </p:sp>
      <p:sp>
        <p:nvSpPr>
          <p:cNvPr id="4" name="任意多边形 17">
            <a:extLst>
              <a:ext uri="{FF2B5EF4-FFF2-40B4-BE49-F238E27FC236}">
                <a16:creationId xmlns:a16="http://schemas.microsoft.com/office/drawing/2014/main" id="{BA8F5439-FE99-C70F-AD8F-BD18D4EB35E8}"/>
              </a:ext>
            </a:extLst>
          </p:cNvPr>
          <p:cNvSpPr/>
          <p:nvPr userDrawn="1"/>
        </p:nvSpPr>
        <p:spPr>
          <a:xfrm>
            <a:off x="694800" y="1080000"/>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微软雅黑 Light" panose="020B0502040204020203" pitchFamily="34" charset="-122"/>
                <a:cs typeface="Arial" charset="0"/>
              </a:rPr>
              <a:t>T</a:t>
            </a:r>
            <a:endParaRPr lang="zh-CN" altLang="en-US" sz="21400" dirty="0">
              <a:latin typeface="微软雅黑 Light" panose="020B0502040204020203" pitchFamily="34" charset="-122"/>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微软雅黑 Light" panose="020B0502040204020203" pitchFamily="34" charset="-122"/>
                <a:cs typeface="Arial" charset="0"/>
              </a:rPr>
              <a:t>HANK   YOU!</a:t>
            </a:r>
            <a:endParaRPr lang="zh-CN" altLang="en-US" sz="5700" b="1" dirty="0">
              <a:latin typeface="微软雅黑 Light" panose="020B0502040204020203" pitchFamily="34" charset="-122"/>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p14="http://schemas.microsoft.com/office/powerpoint/2010/main" val="4223807772"/>
      </p:ext>
    </p:extLst>
  </p:cSld>
  <p:clrMapOvr>
    <a:masterClrMapping/>
  </p:clrMapOvr>
  <p:transition>
    <p:randomBar dir="ver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7"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userDrawn="1"/>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
        <p:nvSpPr>
          <p:cNvPr id="2" name="标题占位符 1">
            <a:extLst>
              <a:ext uri="{FF2B5EF4-FFF2-40B4-BE49-F238E27FC236}">
                <a16:creationId xmlns:a16="http://schemas.microsoft.com/office/drawing/2014/main" id="{13A34D21-64EE-F0D3-1942-3BAE257F779B}"/>
              </a:ext>
            </a:extLst>
          </p:cNvPr>
          <p:cNvSpPr>
            <a:spLocks noGrp="1"/>
          </p:cNvSpPr>
          <p:nvPr>
            <p:ph type="title"/>
          </p:nvPr>
        </p:nvSpPr>
        <p:spPr>
          <a:xfrm>
            <a:off x="696000" y="360000"/>
            <a:ext cx="10800000" cy="523220"/>
          </a:xfrm>
          <a:prstGeom prst="rect">
            <a:avLst/>
          </a:prstGeom>
        </p:spPr>
        <p:txBody>
          <a:bodyPr vert="horz" lIns="91440" tIns="45720" rIns="91440" bIns="45720" rtlCol="0" anchor="ctr">
            <a:sp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91A8F45-1A9C-051A-B272-17956143C42E}"/>
              </a:ext>
            </a:extLst>
          </p:cNvPr>
          <p:cNvSpPr>
            <a:spLocks noGrp="1"/>
          </p:cNvSpPr>
          <p:nvPr>
            <p:ph type="body" idx="1"/>
          </p:nvPr>
        </p:nvSpPr>
        <p:spPr>
          <a:xfrm>
            <a:off x="696000" y="935999"/>
            <a:ext cx="10800000" cy="5175551"/>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4" r:id="rId3"/>
    <p:sldLayoutId id="2147483662" r:id="rId4"/>
    <p:sldLayoutId id="2147483671" r:id="rId5"/>
  </p:sldLayoutIdLst>
  <p:hf hdr="0" ftr="0" dt="0"/>
  <p:txStyles>
    <p:titleStyle>
      <a:lvl1pPr algn="l" rtl="0" eaLnBrk="1" fontAlgn="base" hangingPunct="1">
        <a:lnSpc>
          <a:spcPct val="100000"/>
        </a:lnSpc>
        <a:spcBef>
          <a:spcPct val="0"/>
        </a:spcBef>
        <a:spcAft>
          <a:spcPct val="0"/>
        </a:spcAft>
        <a:defRPr sz="2800" kern="1200" baseline="0">
          <a:solidFill>
            <a:srgbClr val="00B0F0"/>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00000"/>
        </a:lnSpc>
        <a:spcBef>
          <a:spcPts val="0"/>
        </a:spcBef>
        <a:spcAft>
          <a:spcPts val="600"/>
        </a:spcAft>
        <a:buClr>
          <a:schemeClr val="tx1"/>
        </a:buClr>
        <a:buSzPct val="80000"/>
        <a:buFont typeface="Arial" panose="020B0604020202020204" pitchFamily="34" charset="0"/>
        <a:buChar char="•"/>
        <a:defRPr sz="2000" kern="1200" baseline="0">
          <a:solidFill>
            <a:schemeClr val="tx1"/>
          </a:solidFill>
          <a:latin typeface="+mn-lt"/>
          <a:ea typeface="+mn-ea"/>
          <a:cs typeface="+mn-cs"/>
        </a:defRPr>
      </a:lvl1pPr>
      <a:lvl2pPr marL="360000" indent="-180000" algn="l" rtl="0" eaLnBrk="1" fontAlgn="base" hangingPunct="1">
        <a:lnSpc>
          <a:spcPct val="100000"/>
        </a:lnSpc>
        <a:spcBef>
          <a:spcPts val="0"/>
        </a:spcBef>
        <a:spcAft>
          <a:spcPts val="600"/>
        </a:spcAft>
        <a:buClr>
          <a:schemeClr val="tx1"/>
        </a:buClr>
        <a:buSzPct val="80000"/>
        <a:buFont typeface="Arial" panose="020B0604020202020204" pitchFamily="34" charset="0"/>
        <a:buChar char="•"/>
        <a:defRPr sz="1800" kern="1200" baseline="0">
          <a:solidFill>
            <a:schemeClr val="tx1"/>
          </a:solidFill>
          <a:latin typeface="+mn-lt"/>
          <a:ea typeface="+mn-ea"/>
          <a:cs typeface="+mn-cs"/>
        </a:defRPr>
      </a:lvl2pPr>
      <a:lvl3pPr marL="540000" indent="-180000" algn="l" rtl="0" eaLnBrk="1" fontAlgn="base" hangingPunct="1">
        <a:lnSpc>
          <a:spcPct val="100000"/>
        </a:lnSpc>
        <a:spcBef>
          <a:spcPts val="0"/>
        </a:spcBef>
        <a:spcAft>
          <a:spcPts val="600"/>
        </a:spcAft>
        <a:buClr>
          <a:schemeClr val="tx1"/>
        </a:buClr>
        <a:buSzPct val="80000"/>
        <a:buFont typeface="Arial" panose="020B0604020202020204" pitchFamily="34" charset="0"/>
        <a:buChar char="•"/>
        <a:defRPr sz="1600" kern="1200" baseline="0">
          <a:solidFill>
            <a:srgbClr val="262626"/>
          </a:solidFill>
          <a:latin typeface="+mn-lt"/>
          <a:ea typeface="+mn-ea"/>
          <a:cs typeface="+mn-cs"/>
        </a:defRPr>
      </a:lvl3pPr>
      <a:lvl4pPr marL="285750" indent="-285750" algn="l" rtl="0" eaLnBrk="1" fontAlgn="base" hangingPunct="1">
        <a:lnSpc>
          <a:spcPct val="150000"/>
        </a:lnSpc>
        <a:spcBef>
          <a:spcPts val="500"/>
        </a:spcBef>
        <a:spcAft>
          <a:spcPct val="0"/>
        </a:spcAft>
        <a:buClr>
          <a:schemeClr val="tx1"/>
        </a:buClr>
        <a:buSzPct val="80000"/>
        <a:buFont typeface="Arial" panose="020B0604020202020204" pitchFamily="34" charset="0"/>
        <a:buChar char="•"/>
        <a:defRPr sz="1800" kern="120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Arial" panose="020B0604020202020204" pitchFamily="34" charset="0"/>
        <a:buChar char="•"/>
        <a:defRPr kern="120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4.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19.xml"/><Relationship Id="rId7" Type="http://schemas.openxmlformats.org/officeDocument/2006/relationships/slideLayout" Target="../slideLayouts/slideLayout4.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5.png"/><Relationship Id="rId5" Type="http://schemas.openxmlformats.org/officeDocument/2006/relationships/tags" Target="../tags/tag21.xml"/><Relationship Id="rId10" Type="http://schemas.openxmlformats.org/officeDocument/2006/relationships/image" Target="../media/image4.png"/><Relationship Id="rId4" Type="http://schemas.openxmlformats.org/officeDocument/2006/relationships/tags" Target="../tags/tag20.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5.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slideLayout" Target="../slideLayouts/slideLayout2.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3.xml"/><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7.jpeg"/><Relationship Id="rId4"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tags" Target="../tags/tag67.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5" Type="http://schemas.openxmlformats.org/officeDocument/2006/relationships/tags" Target="../tags/tag60.xml"/><Relationship Id="rId10" Type="http://schemas.openxmlformats.org/officeDocument/2006/relationships/tags" Target="../tags/tag65.xml"/><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tags" Target="../tags/tag86.xml"/><Relationship Id="rId3" Type="http://schemas.openxmlformats.org/officeDocument/2006/relationships/tags" Target="../tags/tag71.xml"/><Relationship Id="rId21" Type="http://schemas.openxmlformats.org/officeDocument/2006/relationships/tags" Target="../tags/tag89.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 Type="http://schemas.openxmlformats.org/officeDocument/2006/relationships/tags" Target="../tags/tag70.xml"/><Relationship Id="rId16" Type="http://schemas.openxmlformats.org/officeDocument/2006/relationships/tags" Target="../tags/tag84.xml"/><Relationship Id="rId20" Type="http://schemas.openxmlformats.org/officeDocument/2006/relationships/tags" Target="../tags/tag88.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5" Type="http://schemas.openxmlformats.org/officeDocument/2006/relationships/tags" Target="../tags/tag83.xml"/><Relationship Id="rId10" Type="http://schemas.openxmlformats.org/officeDocument/2006/relationships/tags" Target="../tags/tag78.xml"/><Relationship Id="rId19" Type="http://schemas.openxmlformats.org/officeDocument/2006/relationships/tags" Target="../tags/tag87.xml"/><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 Id="rId2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tags" Target="../tags/tag114.xml"/><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tags" Target="../tags/tag113.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tags" Target="../tags/tag112.xml"/><Relationship Id="rId5" Type="http://schemas.openxmlformats.org/officeDocument/2006/relationships/tags" Target="../tags/tag106.xml"/><Relationship Id="rId15" Type="http://schemas.openxmlformats.org/officeDocument/2006/relationships/slideLayout" Target="../slideLayouts/slideLayout2.xml"/><Relationship Id="rId10" Type="http://schemas.openxmlformats.org/officeDocument/2006/relationships/tags" Target="../tags/tag111.xml"/><Relationship Id="rId4" Type="http://schemas.openxmlformats.org/officeDocument/2006/relationships/tags" Target="../tags/tag105.xml"/><Relationship Id="rId9" Type="http://schemas.openxmlformats.org/officeDocument/2006/relationships/tags" Target="../tags/tag110.xml"/><Relationship Id="rId14" Type="http://schemas.openxmlformats.org/officeDocument/2006/relationships/tags" Target="../tags/tag115.xml"/></Relationships>
</file>

<file path=ppt/slides/_rels/slide21.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tags" Target="../tags/tag128.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5" Type="http://schemas.openxmlformats.org/officeDocument/2006/relationships/slideLayout" Target="../slideLayouts/slideLayout2.xml"/><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tags" Target="../tags/tag129.xml"/></Relationships>
</file>

<file path=ppt/slides/_rels/slide22.xml.rels><?xml version="1.0" encoding="UTF-8" standalone="yes"?>
<Relationships xmlns="http://schemas.openxmlformats.org/package/2006/relationships"><Relationship Id="rId8" Type="http://schemas.openxmlformats.org/officeDocument/2006/relationships/tags" Target="../tags/tag137.xml"/><Relationship Id="rId13" Type="http://schemas.openxmlformats.org/officeDocument/2006/relationships/tags" Target="../tags/tag142.xml"/><Relationship Id="rId3" Type="http://schemas.openxmlformats.org/officeDocument/2006/relationships/tags" Target="../tags/tag132.xml"/><Relationship Id="rId7" Type="http://schemas.openxmlformats.org/officeDocument/2006/relationships/tags" Target="../tags/tag136.xml"/><Relationship Id="rId12" Type="http://schemas.openxmlformats.org/officeDocument/2006/relationships/tags" Target="../tags/tag141.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11" Type="http://schemas.openxmlformats.org/officeDocument/2006/relationships/tags" Target="../tags/tag140.xml"/><Relationship Id="rId5" Type="http://schemas.openxmlformats.org/officeDocument/2006/relationships/tags" Target="../tags/tag134.xml"/><Relationship Id="rId15" Type="http://schemas.openxmlformats.org/officeDocument/2006/relationships/slideLayout" Target="../slideLayouts/slideLayout2.xml"/><Relationship Id="rId10" Type="http://schemas.openxmlformats.org/officeDocument/2006/relationships/tags" Target="../tags/tag139.xml"/><Relationship Id="rId4" Type="http://schemas.openxmlformats.org/officeDocument/2006/relationships/tags" Target="../tags/tag133.xml"/><Relationship Id="rId9" Type="http://schemas.openxmlformats.org/officeDocument/2006/relationships/tags" Target="../tags/tag138.xml"/><Relationship Id="rId14" Type="http://schemas.openxmlformats.org/officeDocument/2006/relationships/tags" Target="../tags/tag143.xml"/></Relationships>
</file>

<file path=ppt/slides/_rels/slide23.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tags" Target="../tags/tag156.xml"/><Relationship Id="rId18" Type="http://schemas.openxmlformats.org/officeDocument/2006/relationships/tags" Target="../tags/tag161.xml"/><Relationship Id="rId3" Type="http://schemas.openxmlformats.org/officeDocument/2006/relationships/tags" Target="../tags/tag146.xml"/><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tags" Target="../tags/tag160.xml"/><Relationship Id="rId2" Type="http://schemas.openxmlformats.org/officeDocument/2006/relationships/tags" Target="../tags/tag145.xml"/><Relationship Id="rId16" Type="http://schemas.openxmlformats.org/officeDocument/2006/relationships/tags" Target="../tags/tag159.xml"/><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5" Type="http://schemas.openxmlformats.org/officeDocument/2006/relationships/tags" Target="../tags/tag148.xml"/><Relationship Id="rId15" Type="http://schemas.openxmlformats.org/officeDocument/2006/relationships/tags" Target="../tags/tag158.xml"/><Relationship Id="rId10" Type="http://schemas.openxmlformats.org/officeDocument/2006/relationships/tags" Target="../tags/tag153.xml"/><Relationship Id="rId19" Type="http://schemas.openxmlformats.org/officeDocument/2006/relationships/slideLayout" Target="../slideLayouts/slideLayout2.xml"/><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tags" Target="../tags/tag157.xml"/></Relationships>
</file>

<file path=ppt/slides/_rels/slide24.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5" Type="http://schemas.openxmlformats.org/officeDocument/2006/relationships/slideLayout" Target="../slideLayouts/slideLayout2.xml"/><Relationship Id="rId4" Type="http://schemas.openxmlformats.org/officeDocument/2006/relationships/tags" Target="../tags/tag168.xml"/></Relationships>
</file>

<file path=ppt/slides/_rels/slide26.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5" Type="http://schemas.openxmlformats.org/officeDocument/2006/relationships/slideLayout" Target="../slideLayouts/slideLayout2.xml"/><Relationship Id="rId4" Type="http://schemas.openxmlformats.org/officeDocument/2006/relationships/tags" Target="../tags/tag172.xml"/></Relationships>
</file>

<file path=ppt/slides/_rels/slide27.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78.xml"/><Relationship Id="rId7" Type="http://schemas.openxmlformats.org/officeDocument/2006/relationships/tags" Target="../tags/tag182.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3.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 Id="rId5" Type="http://schemas.openxmlformats.org/officeDocument/2006/relationships/slideLayout" Target="../slideLayouts/slideLayout2.xml"/><Relationship Id="rId4" Type="http://schemas.openxmlformats.org/officeDocument/2006/relationships/tags" Target="../tags/tag187.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9.xml"/><Relationship Id="rId1" Type="http://schemas.openxmlformats.org/officeDocument/2006/relationships/tags" Target="../tags/tag188.xml"/></Relationships>
</file>

<file path=ppt/slides/_rels/slide33.xml.rels><?xml version="1.0" encoding="UTF-8" standalone="yes"?>
<Relationships xmlns="http://schemas.openxmlformats.org/package/2006/relationships"><Relationship Id="rId8" Type="http://schemas.openxmlformats.org/officeDocument/2006/relationships/tags" Target="../tags/tag197.xml"/><Relationship Id="rId13" Type="http://schemas.openxmlformats.org/officeDocument/2006/relationships/tags" Target="../tags/tag202.xml"/><Relationship Id="rId18" Type="http://schemas.openxmlformats.org/officeDocument/2006/relationships/tags" Target="../tags/tag207.xml"/><Relationship Id="rId3" Type="http://schemas.openxmlformats.org/officeDocument/2006/relationships/tags" Target="../tags/tag192.xml"/><Relationship Id="rId21" Type="http://schemas.openxmlformats.org/officeDocument/2006/relationships/slideLayout" Target="../slideLayouts/slideLayout2.xml"/><Relationship Id="rId7" Type="http://schemas.openxmlformats.org/officeDocument/2006/relationships/tags" Target="../tags/tag196.xml"/><Relationship Id="rId12" Type="http://schemas.openxmlformats.org/officeDocument/2006/relationships/tags" Target="../tags/tag201.xml"/><Relationship Id="rId17" Type="http://schemas.openxmlformats.org/officeDocument/2006/relationships/tags" Target="../tags/tag206.xml"/><Relationship Id="rId2" Type="http://schemas.openxmlformats.org/officeDocument/2006/relationships/tags" Target="../tags/tag191.xml"/><Relationship Id="rId16" Type="http://schemas.openxmlformats.org/officeDocument/2006/relationships/tags" Target="../tags/tag205.xml"/><Relationship Id="rId20" Type="http://schemas.openxmlformats.org/officeDocument/2006/relationships/tags" Target="../tags/tag209.xml"/><Relationship Id="rId1" Type="http://schemas.openxmlformats.org/officeDocument/2006/relationships/tags" Target="../tags/tag190.xml"/><Relationship Id="rId6" Type="http://schemas.openxmlformats.org/officeDocument/2006/relationships/tags" Target="../tags/tag195.xml"/><Relationship Id="rId11" Type="http://schemas.openxmlformats.org/officeDocument/2006/relationships/tags" Target="../tags/tag200.xml"/><Relationship Id="rId5" Type="http://schemas.openxmlformats.org/officeDocument/2006/relationships/tags" Target="../tags/tag194.xml"/><Relationship Id="rId15" Type="http://schemas.openxmlformats.org/officeDocument/2006/relationships/tags" Target="../tags/tag204.xml"/><Relationship Id="rId10" Type="http://schemas.openxmlformats.org/officeDocument/2006/relationships/tags" Target="../tags/tag199.xml"/><Relationship Id="rId19" Type="http://schemas.openxmlformats.org/officeDocument/2006/relationships/tags" Target="../tags/tag208.xml"/><Relationship Id="rId4" Type="http://schemas.openxmlformats.org/officeDocument/2006/relationships/tags" Target="../tags/tag193.xml"/><Relationship Id="rId9" Type="http://schemas.openxmlformats.org/officeDocument/2006/relationships/tags" Target="../tags/tag198.xml"/><Relationship Id="rId14" Type="http://schemas.openxmlformats.org/officeDocument/2006/relationships/tags" Target="../tags/tag20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tags" Target="../tags/tag217.xml"/><Relationship Id="rId13" Type="http://schemas.openxmlformats.org/officeDocument/2006/relationships/tags" Target="../tags/tag222.xml"/><Relationship Id="rId3" Type="http://schemas.openxmlformats.org/officeDocument/2006/relationships/tags" Target="../tags/tag212.xml"/><Relationship Id="rId7" Type="http://schemas.openxmlformats.org/officeDocument/2006/relationships/tags" Target="../tags/tag216.xml"/><Relationship Id="rId12" Type="http://schemas.openxmlformats.org/officeDocument/2006/relationships/tags" Target="../tags/tag221.xml"/><Relationship Id="rId17" Type="http://schemas.openxmlformats.org/officeDocument/2006/relationships/slideLayout" Target="../slideLayouts/slideLayout2.xml"/><Relationship Id="rId2" Type="http://schemas.openxmlformats.org/officeDocument/2006/relationships/tags" Target="../tags/tag211.xml"/><Relationship Id="rId16" Type="http://schemas.openxmlformats.org/officeDocument/2006/relationships/tags" Target="../tags/tag225.xml"/><Relationship Id="rId1" Type="http://schemas.openxmlformats.org/officeDocument/2006/relationships/tags" Target="../tags/tag210.xml"/><Relationship Id="rId6" Type="http://schemas.openxmlformats.org/officeDocument/2006/relationships/tags" Target="../tags/tag215.xml"/><Relationship Id="rId11" Type="http://schemas.openxmlformats.org/officeDocument/2006/relationships/tags" Target="../tags/tag220.xml"/><Relationship Id="rId5" Type="http://schemas.openxmlformats.org/officeDocument/2006/relationships/tags" Target="../tags/tag214.xml"/><Relationship Id="rId15" Type="http://schemas.openxmlformats.org/officeDocument/2006/relationships/tags" Target="../tags/tag224.xml"/><Relationship Id="rId10" Type="http://schemas.openxmlformats.org/officeDocument/2006/relationships/tags" Target="../tags/tag219.xml"/><Relationship Id="rId4" Type="http://schemas.openxmlformats.org/officeDocument/2006/relationships/tags" Target="../tags/tag213.xml"/><Relationship Id="rId9" Type="http://schemas.openxmlformats.org/officeDocument/2006/relationships/tags" Target="../tags/tag218.xml"/><Relationship Id="rId14" Type="http://schemas.openxmlformats.org/officeDocument/2006/relationships/tags" Target="../tags/tag223.xml"/></Relationships>
</file>

<file path=ppt/slides/_rels/slide36.xml.rels><?xml version="1.0" encoding="UTF-8" standalone="yes"?>
<Relationships xmlns="http://schemas.openxmlformats.org/package/2006/relationships"><Relationship Id="rId8" Type="http://schemas.openxmlformats.org/officeDocument/2006/relationships/tags" Target="../tags/tag233.xml"/><Relationship Id="rId13" Type="http://schemas.openxmlformats.org/officeDocument/2006/relationships/tags" Target="../tags/tag238.xml"/><Relationship Id="rId18" Type="http://schemas.openxmlformats.org/officeDocument/2006/relationships/tags" Target="../tags/tag243.xml"/><Relationship Id="rId26" Type="http://schemas.openxmlformats.org/officeDocument/2006/relationships/tags" Target="../tags/tag251.xml"/><Relationship Id="rId3" Type="http://schemas.openxmlformats.org/officeDocument/2006/relationships/tags" Target="../tags/tag228.xml"/><Relationship Id="rId21" Type="http://schemas.openxmlformats.org/officeDocument/2006/relationships/tags" Target="../tags/tag246.xml"/><Relationship Id="rId7" Type="http://schemas.openxmlformats.org/officeDocument/2006/relationships/tags" Target="../tags/tag232.xml"/><Relationship Id="rId12" Type="http://schemas.openxmlformats.org/officeDocument/2006/relationships/tags" Target="../tags/tag237.xml"/><Relationship Id="rId17" Type="http://schemas.openxmlformats.org/officeDocument/2006/relationships/tags" Target="../tags/tag242.xml"/><Relationship Id="rId25" Type="http://schemas.openxmlformats.org/officeDocument/2006/relationships/tags" Target="../tags/tag250.xml"/><Relationship Id="rId2" Type="http://schemas.openxmlformats.org/officeDocument/2006/relationships/tags" Target="../tags/tag227.xml"/><Relationship Id="rId16" Type="http://schemas.openxmlformats.org/officeDocument/2006/relationships/tags" Target="../tags/tag241.xml"/><Relationship Id="rId20" Type="http://schemas.openxmlformats.org/officeDocument/2006/relationships/tags" Target="../tags/tag245.xml"/><Relationship Id="rId1" Type="http://schemas.openxmlformats.org/officeDocument/2006/relationships/tags" Target="../tags/tag226.xml"/><Relationship Id="rId6" Type="http://schemas.openxmlformats.org/officeDocument/2006/relationships/tags" Target="../tags/tag231.xml"/><Relationship Id="rId11" Type="http://schemas.openxmlformats.org/officeDocument/2006/relationships/tags" Target="../tags/tag236.xml"/><Relationship Id="rId24" Type="http://schemas.openxmlformats.org/officeDocument/2006/relationships/tags" Target="../tags/tag249.xml"/><Relationship Id="rId5" Type="http://schemas.openxmlformats.org/officeDocument/2006/relationships/tags" Target="../tags/tag230.xml"/><Relationship Id="rId15" Type="http://schemas.openxmlformats.org/officeDocument/2006/relationships/tags" Target="../tags/tag240.xml"/><Relationship Id="rId23" Type="http://schemas.openxmlformats.org/officeDocument/2006/relationships/tags" Target="../tags/tag248.xml"/><Relationship Id="rId10" Type="http://schemas.openxmlformats.org/officeDocument/2006/relationships/tags" Target="../tags/tag235.xml"/><Relationship Id="rId19" Type="http://schemas.openxmlformats.org/officeDocument/2006/relationships/tags" Target="../tags/tag244.xml"/><Relationship Id="rId4" Type="http://schemas.openxmlformats.org/officeDocument/2006/relationships/tags" Target="../tags/tag229.xml"/><Relationship Id="rId9" Type="http://schemas.openxmlformats.org/officeDocument/2006/relationships/tags" Target="../tags/tag234.xml"/><Relationship Id="rId14" Type="http://schemas.openxmlformats.org/officeDocument/2006/relationships/tags" Target="../tags/tag239.xml"/><Relationship Id="rId22" Type="http://schemas.openxmlformats.org/officeDocument/2006/relationships/tags" Target="../tags/tag247.xml"/><Relationship Id="rId27"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54.xml"/><Relationship Id="rId7" Type="http://schemas.openxmlformats.org/officeDocument/2006/relationships/tags" Target="../tags/tag258.xml"/><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59.xml"/></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emf"/></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260.xml"/></Relationships>
</file>

<file path=ppt/slides/_rels/slide44.xml.rels><?xml version="1.0" encoding="UTF-8" standalone="yes"?>
<Relationships xmlns="http://schemas.openxmlformats.org/package/2006/relationships"><Relationship Id="rId8" Type="http://schemas.openxmlformats.org/officeDocument/2006/relationships/tags" Target="../tags/tag268.xml"/><Relationship Id="rId13" Type="http://schemas.openxmlformats.org/officeDocument/2006/relationships/tags" Target="../tags/tag273.xml"/><Relationship Id="rId18" Type="http://schemas.openxmlformats.org/officeDocument/2006/relationships/image" Target="../media/image12.png"/><Relationship Id="rId3" Type="http://schemas.openxmlformats.org/officeDocument/2006/relationships/tags" Target="../tags/tag263.xml"/><Relationship Id="rId7" Type="http://schemas.openxmlformats.org/officeDocument/2006/relationships/tags" Target="../tags/tag267.xml"/><Relationship Id="rId12" Type="http://schemas.openxmlformats.org/officeDocument/2006/relationships/tags" Target="../tags/tag272.xml"/><Relationship Id="rId17" Type="http://schemas.openxmlformats.org/officeDocument/2006/relationships/slideLayout" Target="../slideLayouts/slideLayout2.xml"/><Relationship Id="rId2" Type="http://schemas.openxmlformats.org/officeDocument/2006/relationships/tags" Target="../tags/tag262.xml"/><Relationship Id="rId16" Type="http://schemas.openxmlformats.org/officeDocument/2006/relationships/tags" Target="../tags/tag276.xml"/><Relationship Id="rId1" Type="http://schemas.openxmlformats.org/officeDocument/2006/relationships/tags" Target="../tags/tag261.xml"/><Relationship Id="rId6" Type="http://schemas.openxmlformats.org/officeDocument/2006/relationships/tags" Target="../tags/tag266.xml"/><Relationship Id="rId11" Type="http://schemas.openxmlformats.org/officeDocument/2006/relationships/tags" Target="../tags/tag271.xml"/><Relationship Id="rId5" Type="http://schemas.openxmlformats.org/officeDocument/2006/relationships/tags" Target="../tags/tag265.xml"/><Relationship Id="rId15" Type="http://schemas.openxmlformats.org/officeDocument/2006/relationships/tags" Target="../tags/tag275.xml"/><Relationship Id="rId10" Type="http://schemas.openxmlformats.org/officeDocument/2006/relationships/tags" Target="../tags/tag270.xml"/><Relationship Id="rId4" Type="http://schemas.openxmlformats.org/officeDocument/2006/relationships/tags" Target="../tags/tag264.xml"/><Relationship Id="rId9" Type="http://schemas.openxmlformats.org/officeDocument/2006/relationships/tags" Target="../tags/tag269.xml"/><Relationship Id="rId14" Type="http://schemas.openxmlformats.org/officeDocument/2006/relationships/tags" Target="../tags/tag274.xml"/></Relationships>
</file>

<file path=ppt/slides/_rels/slide45.xml.rels><?xml version="1.0" encoding="UTF-8" standalone="yes"?>
<Relationships xmlns="http://schemas.openxmlformats.org/package/2006/relationships"><Relationship Id="rId8" Type="http://schemas.openxmlformats.org/officeDocument/2006/relationships/tags" Target="../tags/tag284.xml"/><Relationship Id="rId13" Type="http://schemas.openxmlformats.org/officeDocument/2006/relationships/tags" Target="../tags/tag289.xml"/><Relationship Id="rId3" Type="http://schemas.openxmlformats.org/officeDocument/2006/relationships/tags" Target="../tags/tag279.xml"/><Relationship Id="rId7" Type="http://schemas.openxmlformats.org/officeDocument/2006/relationships/tags" Target="../tags/tag283.xml"/><Relationship Id="rId12" Type="http://schemas.openxmlformats.org/officeDocument/2006/relationships/tags" Target="../tags/tag288.xml"/><Relationship Id="rId2" Type="http://schemas.openxmlformats.org/officeDocument/2006/relationships/tags" Target="../tags/tag278.xml"/><Relationship Id="rId16" Type="http://schemas.openxmlformats.org/officeDocument/2006/relationships/image" Target="../media/image11.png"/><Relationship Id="rId1" Type="http://schemas.openxmlformats.org/officeDocument/2006/relationships/tags" Target="../tags/tag277.xml"/><Relationship Id="rId6" Type="http://schemas.openxmlformats.org/officeDocument/2006/relationships/tags" Target="../tags/tag282.xml"/><Relationship Id="rId11" Type="http://schemas.openxmlformats.org/officeDocument/2006/relationships/tags" Target="../tags/tag287.xml"/><Relationship Id="rId5" Type="http://schemas.openxmlformats.org/officeDocument/2006/relationships/tags" Target="../tags/tag281.xml"/><Relationship Id="rId15" Type="http://schemas.openxmlformats.org/officeDocument/2006/relationships/slideLayout" Target="../slideLayouts/slideLayout2.xml"/><Relationship Id="rId10" Type="http://schemas.openxmlformats.org/officeDocument/2006/relationships/tags" Target="../tags/tag286.xml"/><Relationship Id="rId4" Type="http://schemas.openxmlformats.org/officeDocument/2006/relationships/tags" Target="../tags/tag280.xml"/><Relationship Id="rId9" Type="http://schemas.openxmlformats.org/officeDocument/2006/relationships/tags" Target="../tags/tag285.xml"/><Relationship Id="rId14" Type="http://schemas.openxmlformats.org/officeDocument/2006/relationships/tags" Target="../tags/tag290.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tags" Target="../tags/tag293.xml"/><Relationship Id="rId2" Type="http://schemas.openxmlformats.org/officeDocument/2006/relationships/tags" Target="../tags/tag292.xml"/><Relationship Id="rId1" Type="http://schemas.openxmlformats.org/officeDocument/2006/relationships/tags" Target="../tags/tag291.xml"/><Relationship Id="rId5" Type="http://schemas.openxmlformats.org/officeDocument/2006/relationships/slideLayout" Target="../slideLayouts/slideLayout2.xml"/><Relationship Id="rId4" Type="http://schemas.openxmlformats.org/officeDocument/2006/relationships/tags" Target="../tags/tag294.xml"/></Relationships>
</file>

<file path=ppt/slides/_rels/slide5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97.xml"/><Relationship Id="rId7" Type="http://schemas.openxmlformats.org/officeDocument/2006/relationships/tags" Target="../tags/tag301.xml"/><Relationship Id="rId2" Type="http://schemas.openxmlformats.org/officeDocument/2006/relationships/tags" Target="../tags/tag296.xml"/><Relationship Id="rId1" Type="http://schemas.openxmlformats.org/officeDocument/2006/relationships/tags" Target="../tags/tag295.xml"/><Relationship Id="rId6" Type="http://schemas.openxmlformats.org/officeDocument/2006/relationships/tags" Target="../tags/tag300.xml"/><Relationship Id="rId5" Type="http://schemas.openxmlformats.org/officeDocument/2006/relationships/tags" Target="../tags/tag299.xml"/><Relationship Id="rId4" Type="http://schemas.openxmlformats.org/officeDocument/2006/relationships/tags" Target="../tags/tag298.xml"/></Relationships>
</file>

<file path=ppt/slides/_rels/slide5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04.xml"/><Relationship Id="rId7" Type="http://schemas.openxmlformats.org/officeDocument/2006/relationships/tags" Target="../tags/tag308.xml"/><Relationship Id="rId2" Type="http://schemas.openxmlformats.org/officeDocument/2006/relationships/tags" Target="../tags/tag303.xml"/><Relationship Id="rId1" Type="http://schemas.openxmlformats.org/officeDocument/2006/relationships/tags" Target="../tags/tag302.xml"/><Relationship Id="rId6" Type="http://schemas.openxmlformats.org/officeDocument/2006/relationships/tags" Target="../tags/tag307.xml"/><Relationship Id="rId5" Type="http://schemas.openxmlformats.org/officeDocument/2006/relationships/tags" Target="../tags/tag306.xml"/><Relationship Id="rId4" Type="http://schemas.openxmlformats.org/officeDocument/2006/relationships/tags" Target="../tags/tag305.xml"/></Relationships>
</file>

<file path=ppt/slides/_rels/slide55.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11.xml"/><Relationship Id="rId7" Type="http://schemas.openxmlformats.org/officeDocument/2006/relationships/tags" Target="../tags/tag315.xml"/><Relationship Id="rId2" Type="http://schemas.openxmlformats.org/officeDocument/2006/relationships/tags" Target="../tags/tag310.xml"/><Relationship Id="rId1" Type="http://schemas.openxmlformats.org/officeDocument/2006/relationships/tags" Target="../tags/tag309.xml"/><Relationship Id="rId6" Type="http://schemas.openxmlformats.org/officeDocument/2006/relationships/tags" Target="../tags/tag314.xml"/><Relationship Id="rId5" Type="http://schemas.openxmlformats.org/officeDocument/2006/relationships/tags" Target="../tags/tag313.xml"/><Relationship Id="rId4" Type="http://schemas.openxmlformats.org/officeDocument/2006/relationships/tags" Target="../tags/tag312.xml"/></Relationships>
</file>

<file path=ppt/slides/_rels/slide5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318.xml"/><Relationship Id="rId7" Type="http://schemas.openxmlformats.org/officeDocument/2006/relationships/image" Target="../media/image16.png"/><Relationship Id="rId2" Type="http://schemas.openxmlformats.org/officeDocument/2006/relationships/tags" Target="../tags/tag317.xml"/><Relationship Id="rId1" Type="http://schemas.openxmlformats.org/officeDocument/2006/relationships/tags" Target="../tags/tag316.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slideLayout" Target="../slideLayouts/slideLayout2.xml"/><Relationship Id="rId9" Type="http://schemas.openxmlformats.org/officeDocument/2006/relationships/image" Target="../media/image18.png"/></Relationships>
</file>

<file path=ppt/slides/_rels/slide57.xml.rels><?xml version="1.0" encoding="UTF-8" standalone="yes"?>
<Relationships xmlns="http://schemas.openxmlformats.org/package/2006/relationships"><Relationship Id="rId3" Type="http://schemas.openxmlformats.org/officeDocument/2006/relationships/tags" Target="../tags/tag321.xml"/><Relationship Id="rId2" Type="http://schemas.openxmlformats.org/officeDocument/2006/relationships/tags" Target="../tags/tag320.xml"/><Relationship Id="rId1" Type="http://schemas.openxmlformats.org/officeDocument/2006/relationships/tags" Target="../tags/tag319.xml"/><Relationship Id="rId5" Type="http://schemas.openxmlformats.org/officeDocument/2006/relationships/slideLayout" Target="../slideLayouts/slideLayout2.xml"/><Relationship Id="rId4" Type="http://schemas.openxmlformats.org/officeDocument/2006/relationships/tags" Target="../tags/tag322.xml"/></Relationships>
</file>

<file path=ppt/slides/_rels/slide58.xml.rels><?xml version="1.0" encoding="UTF-8" standalone="yes"?>
<Relationships xmlns="http://schemas.openxmlformats.org/package/2006/relationships"><Relationship Id="rId3" Type="http://schemas.openxmlformats.org/officeDocument/2006/relationships/tags" Target="../tags/tag325.xml"/><Relationship Id="rId2" Type="http://schemas.openxmlformats.org/officeDocument/2006/relationships/tags" Target="../tags/tag324.xml"/><Relationship Id="rId1" Type="http://schemas.openxmlformats.org/officeDocument/2006/relationships/tags" Target="../tags/tag323.xml"/><Relationship Id="rId5" Type="http://schemas.openxmlformats.org/officeDocument/2006/relationships/slideLayout" Target="../slideLayouts/slideLayout2.xml"/><Relationship Id="rId4" Type="http://schemas.openxmlformats.org/officeDocument/2006/relationships/tags" Target="../tags/tag326.xml"/></Relationships>
</file>

<file path=ppt/slides/_rels/slide59.xml.rels><?xml version="1.0" encoding="UTF-8" standalone="yes"?>
<Relationships xmlns="http://schemas.openxmlformats.org/package/2006/relationships"><Relationship Id="rId3" Type="http://schemas.openxmlformats.org/officeDocument/2006/relationships/tags" Target="../tags/tag329.xml"/><Relationship Id="rId2" Type="http://schemas.openxmlformats.org/officeDocument/2006/relationships/tags" Target="../tags/tag328.xml"/><Relationship Id="rId1" Type="http://schemas.openxmlformats.org/officeDocument/2006/relationships/tags" Target="../tags/tag327.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330.xml"/></Relationships>
</file>

<file path=ppt/slides/_rels/slide60.xml.rels><?xml version="1.0" encoding="UTF-8" standalone="yes"?>
<Relationships xmlns="http://schemas.openxmlformats.org/package/2006/relationships"><Relationship Id="rId3" Type="http://schemas.openxmlformats.org/officeDocument/2006/relationships/tags" Target="../tags/tag333.xml"/><Relationship Id="rId2" Type="http://schemas.openxmlformats.org/officeDocument/2006/relationships/tags" Target="../tags/tag332.xml"/><Relationship Id="rId1" Type="http://schemas.openxmlformats.org/officeDocument/2006/relationships/tags" Target="../tags/tag331.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334.xml"/></Relationships>
</file>

<file path=ppt/slides/_rels/slide61.xml.rels><?xml version="1.0" encoding="UTF-8" standalone="yes"?>
<Relationships xmlns="http://schemas.openxmlformats.org/package/2006/relationships"><Relationship Id="rId3" Type="http://schemas.openxmlformats.org/officeDocument/2006/relationships/tags" Target="../tags/tag337.xml"/><Relationship Id="rId2" Type="http://schemas.openxmlformats.org/officeDocument/2006/relationships/tags" Target="../tags/tag336.xml"/><Relationship Id="rId1" Type="http://schemas.openxmlformats.org/officeDocument/2006/relationships/tags" Target="../tags/tag335.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338.xml"/></Relationships>
</file>

<file path=ppt/slides/_rels/slide62.xml.rels><?xml version="1.0" encoding="UTF-8" standalone="yes"?>
<Relationships xmlns="http://schemas.openxmlformats.org/package/2006/relationships"><Relationship Id="rId3" Type="http://schemas.openxmlformats.org/officeDocument/2006/relationships/tags" Target="../tags/tag341.xml"/><Relationship Id="rId2" Type="http://schemas.openxmlformats.org/officeDocument/2006/relationships/tags" Target="../tags/tag340.xml"/><Relationship Id="rId1" Type="http://schemas.openxmlformats.org/officeDocument/2006/relationships/tags" Target="../tags/tag339.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342.xml"/></Relationships>
</file>

<file path=ppt/slides/_rels/slide63.xml.rels><?xml version="1.0" encoding="UTF-8" standalone="yes"?>
<Relationships xmlns="http://schemas.openxmlformats.org/package/2006/relationships"><Relationship Id="rId3" Type="http://schemas.openxmlformats.org/officeDocument/2006/relationships/tags" Target="../tags/tag345.xml"/><Relationship Id="rId7" Type="http://schemas.openxmlformats.org/officeDocument/2006/relationships/image" Target="../media/image20.png"/><Relationship Id="rId2" Type="http://schemas.openxmlformats.org/officeDocument/2006/relationships/tags" Target="../tags/tag344.xml"/><Relationship Id="rId1" Type="http://schemas.openxmlformats.org/officeDocument/2006/relationships/tags" Target="../tags/tag343.xml"/><Relationship Id="rId6" Type="http://schemas.openxmlformats.org/officeDocument/2006/relationships/slideLayout" Target="../slideLayouts/slideLayout2.xml"/><Relationship Id="rId5" Type="http://schemas.openxmlformats.org/officeDocument/2006/relationships/tags" Target="../tags/tag347.xml"/><Relationship Id="rId4" Type="http://schemas.openxmlformats.org/officeDocument/2006/relationships/tags" Target="../tags/tag346.xml"/></Relationships>
</file>

<file path=ppt/slides/_rels/slide64.xml.rels><?xml version="1.0" encoding="UTF-8" standalone="yes"?>
<Relationships xmlns="http://schemas.openxmlformats.org/package/2006/relationships"><Relationship Id="rId3" Type="http://schemas.openxmlformats.org/officeDocument/2006/relationships/tags" Target="../tags/tag350.xml"/><Relationship Id="rId7" Type="http://schemas.openxmlformats.org/officeDocument/2006/relationships/image" Target="../media/image21.png"/><Relationship Id="rId2" Type="http://schemas.openxmlformats.org/officeDocument/2006/relationships/tags" Target="../tags/tag349.xml"/><Relationship Id="rId1" Type="http://schemas.openxmlformats.org/officeDocument/2006/relationships/tags" Target="../tags/tag348.xml"/><Relationship Id="rId6" Type="http://schemas.openxmlformats.org/officeDocument/2006/relationships/slideLayout" Target="../slideLayouts/slideLayout2.xml"/><Relationship Id="rId5" Type="http://schemas.openxmlformats.org/officeDocument/2006/relationships/tags" Target="../tags/tag352.xml"/><Relationship Id="rId4" Type="http://schemas.openxmlformats.org/officeDocument/2006/relationships/tags" Target="../tags/tag351.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4.xml"/><Relationship Id="rId1" Type="http://schemas.openxmlformats.org/officeDocument/2006/relationships/tags" Target="../tags/tag353.xml"/><Relationship Id="rId4" Type="http://schemas.openxmlformats.org/officeDocument/2006/relationships/image" Target="../media/image22.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6.xml"/><Relationship Id="rId1" Type="http://schemas.openxmlformats.org/officeDocument/2006/relationships/tags" Target="../tags/tag355.xml"/><Relationship Id="rId4" Type="http://schemas.openxmlformats.org/officeDocument/2006/relationships/image" Target="../media/image23.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8.xml"/><Relationship Id="rId1" Type="http://schemas.openxmlformats.org/officeDocument/2006/relationships/tags" Target="../tags/tag357.xml"/><Relationship Id="rId4" Type="http://schemas.openxmlformats.org/officeDocument/2006/relationships/image" Target="../media/image24.png"/></Relationships>
</file>

<file path=ppt/slides/_rels/slide68.xml.rels><?xml version="1.0" encoding="UTF-8" standalone="yes"?>
<Relationships xmlns="http://schemas.openxmlformats.org/package/2006/relationships"><Relationship Id="rId3" Type="http://schemas.openxmlformats.org/officeDocument/2006/relationships/tags" Target="../tags/tag361.xml"/><Relationship Id="rId2" Type="http://schemas.openxmlformats.org/officeDocument/2006/relationships/tags" Target="../tags/tag360.xml"/><Relationship Id="rId1" Type="http://schemas.openxmlformats.org/officeDocument/2006/relationships/tags" Target="../tags/tag359.xml"/><Relationship Id="rId6" Type="http://schemas.openxmlformats.org/officeDocument/2006/relationships/image" Target="../media/image25.png"/><Relationship Id="rId5" Type="http://schemas.openxmlformats.org/officeDocument/2006/relationships/slideLayout" Target="../slideLayouts/slideLayout2.xml"/><Relationship Id="rId4" Type="http://schemas.openxmlformats.org/officeDocument/2006/relationships/tags" Target="../tags/tag362.xml"/></Relationships>
</file>

<file path=ppt/slides/_rels/slide69.xml.rels><?xml version="1.0" encoding="UTF-8" standalone="yes"?>
<Relationships xmlns="http://schemas.openxmlformats.org/package/2006/relationships"><Relationship Id="rId3" Type="http://schemas.openxmlformats.org/officeDocument/2006/relationships/tags" Target="../tags/tag365.xml"/><Relationship Id="rId2" Type="http://schemas.openxmlformats.org/officeDocument/2006/relationships/tags" Target="../tags/tag364.xml"/><Relationship Id="rId1" Type="http://schemas.openxmlformats.org/officeDocument/2006/relationships/tags" Target="../tags/tag363.xml"/><Relationship Id="rId6" Type="http://schemas.openxmlformats.org/officeDocument/2006/relationships/image" Target="../media/image26.png"/><Relationship Id="rId5" Type="http://schemas.openxmlformats.org/officeDocument/2006/relationships/slideLayout" Target="../slideLayouts/slideLayout2.xml"/><Relationship Id="rId4" Type="http://schemas.openxmlformats.org/officeDocument/2006/relationships/tags" Target="../tags/tag366.xml"/></Relationships>
</file>

<file path=ppt/slides/_rels/slide70.xml.rels><?xml version="1.0" encoding="UTF-8" standalone="yes"?>
<Relationships xmlns="http://schemas.openxmlformats.org/package/2006/relationships"><Relationship Id="rId3" Type="http://schemas.openxmlformats.org/officeDocument/2006/relationships/tags" Target="../tags/tag369.xml"/><Relationship Id="rId2" Type="http://schemas.openxmlformats.org/officeDocument/2006/relationships/tags" Target="../tags/tag368.xml"/><Relationship Id="rId1" Type="http://schemas.openxmlformats.org/officeDocument/2006/relationships/tags" Target="../tags/tag367.xml"/><Relationship Id="rId6" Type="http://schemas.openxmlformats.org/officeDocument/2006/relationships/image" Target="../media/image27.png"/><Relationship Id="rId5" Type="http://schemas.openxmlformats.org/officeDocument/2006/relationships/slideLayout" Target="../slideLayouts/slideLayout2.xml"/><Relationship Id="rId4" Type="http://schemas.openxmlformats.org/officeDocument/2006/relationships/tags" Target="../tags/tag370.xml"/></Relationships>
</file>

<file path=ppt/slides/_rels/slide71.xml.rels><?xml version="1.0" encoding="UTF-8" standalone="yes"?>
<Relationships xmlns="http://schemas.openxmlformats.org/package/2006/relationships"><Relationship Id="rId8" Type="http://schemas.openxmlformats.org/officeDocument/2006/relationships/tags" Target="../tags/tag378.xml"/><Relationship Id="rId13" Type="http://schemas.openxmlformats.org/officeDocument/2006/relationships/tags" Target="../tags/tag383.xml"/><Relationship Id="rId3" Type="http://schemas.openxmlformats.org/officeDocument/2006/relationships/tags" Target="../tags/tag373.xml"/><Relationship Id="rId7" Type="http://schemas.openxmlformats.org/officeDocument/2006/relationships/tags" Target="../tags/tag377.xml"/><Relationship Id="rId12" Type="http://schemas.openxmlformats.org/officeDocument/2006/relationships/tags" Target="../tags/tag382.xml"/><Relationship Id="rId2" Type="http://schemas.openxmlformats.org/officeDocument/2006/relationships/tags" Target="../tags/tag372.xml"/><Relationship Id="rId1" Type="http://schemas.openxmlformats.org/officeDocument/2006/relationships/tags" Target="../tags/tag371.xml"/><Relationship Id="rId6" Type="http://schemas.openxmlformats.org/officeDocument/2006/relationships/tags" Target="../tags/tag376.xml"/><Relationship Id="rId11" Type="http://schemas.openxmlformats.org/officeDocument/2006/relationships/tags" Target="../tags/tag381.xml"/><Relationship Id="rId5" Type="http://schemas.openxmlformats.org/officeDocument/2006/relationships/tags" Target="../tags/tag375.xml"/><Relationship Id="rId10" Type="http://schemas.openxmlformats.org/officeDocument/2006/relationships/tags" Target="../tags/tag380.xml"/><Relationship Id="rId4" Type="http://schemas.openxmlformats.org/officeDocument/2006/relationships/tags" Target="../tags/tag374.xml"/><Relationship Id="rId9" Type="http://schemas.openxmlformats.org/officeDocument/2006/relationships/tags" Target="../tags/tag379.xml"/><Relationship Id="rId14"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tags" Target="../tags/tag386.xml"/><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image" Target="../media/image28.png"/><Relationship Id="rId5" Type="http://schemas.openxmlformats.org/officeDocument/2006/relationships/slideLayout" Target="../slideLayouts/slideLayout2.xml"/><Relationship Id="rId4" Type="http://schemas.openxmlformats.org/officeDocument/2006/relationships/tags" Target="../tags/tag387.xml"/></Relationships>
</file>

<file path=ppt/slides/_rels/slide73.xml.rels><?xml version="1.0" encoding="UTF-8" standalone="yes"?>
<Relationships xmlns="http://schemas.openxmlformats.org/package/2006/relationships"><Relationship Id="rId3" Type="http://schemas.openxmlformats.org/officeDocument/2006/relationships/tags" Target="../tags/tag390.xml"/><Relationship Id="rId2" Type="http://schemas.openxmlformats.org/officeDocument/2006/relationships/tags" Target="../tags/tag389.xml"/><Relationship Id="rId1" Type="http://schemas.openxmlformats.org/officeDocument/2006/relationships/tags" Target="../tags/tag388.xml"/><Relationship Id="rId6" Type="http://schemas.openxmlformats.org/officeDocument/2006/relationships/image" Target="../media/image28.png"/><Relationship Id="rId5" Type="http://schemas.openxmlformats.org/officeDocument/2006/relationships/slideLayout" Target="../slideLayouts/slideLayout2.xml"/><Relationship Id="rId4" Type="http://schemas.openxmlformats.org/officeDocument/2006/relationships/tags" Target="../tags/tag391.xml"/></Relationships>
</file>

<file path=ppt/slides/_rels/slide74.xml.rels><?xml version="1.0" encoding="UTF-8" standalone="yes"?>
<Relationships xmlns="http://schemas.openxmlformats.org/package/2006/relationships"><Relationship Id="rId8" Type="http://schemas.openxmlformats.org/officeDocument/2006/relationships/tags" Target="../tags/tag399.xml"/><Relationship Id="rId13" Type="http://schemas.openxmlformats.org/officeDocument/2006/relationships/tags" Target="../tags/tag404.xml"/><Relationship Id="rId3" Type="http://schemas.openxmlformats.org/officeDocument/2006/relationships/tags" Target="../tags/tag394.xml"/><Relationship Id="rId7" Type="http://schemas.openxmlformats.org/officeDocument/2006/relationships/tags" Target="../tags/tag398.xml"/><Relationship Id="rId12" Type="http://schemas.openxmlformats.org/officeDocument/2006/relationships/tags" Target="../tags/tag403.xml"/><Relationship Id="rId17" Type="http://schemas.openxmlformats.org/officeDocument/2006/relationships/slideLayout" Target="../slideLayouts/slideLayout2.xml"/><Relationship Id="rId2" Type="http://schemas.openxmlformats.org/officeDocument/2006/relationships/tags" Target="../tags/tag393.xml"/><Relationship Id="rId16" Type="http://schemas.openxmlformats.org/officeDocument/2006/relationships/tags" Target="../tags/tag407.xml"/><Relationship Id="rId1" Type="http://schemas.openxmlformats.org/officeDocument/2006/relationships/tags" Target="../tags/tag392.xml"/><Relationship Id="rId6" Type="http://schemas.openxmlformats.org/officeDocument/2006/relationships/tags" Target="../tags/tag397.xml"/><Relationship Id="rId11" Type="http://schemas.openxmlformats.org/officeDocument/2006/relationships/tags" Target="../tags/tag402.xml"/><Relationship Id="rId5" Type="http://schemas.openxmlformats.org/officeDocument/2006/relationships/tags" Target="../tags/tag396.xml"/><Relationship Id="rId15" Type="http://schemas.openxmlformats.org/officeDocument/2006/relationships/tags" Target="../tags/tag406.xml"/><Relationship Id="rId10" Type="http://schemas.openxmlformats.org/officeDocument/2006/relationships/tags" Target="../tags/tag401.xml"/><Relationship Id="rId4" Type="http://schemas.openxmlformats.org/officeDocument/2006/relationships/tags" Target="../tags/tag395.xml"/><Relationship Id="rId9" Type="http://schemas.openxmlformats.org/officeDocument/2006/relationships/tags" Target="../tags/tag400.xml"/><Relationship Id="rId14" Type="http://schemas.openxmlformats.org/officeDocument/2006/relationships/tags" Target="../tags/tag405.xml"/></Relationships>
</file>

<file path=ppt/slides/_rels/slide75.xml.rels><?xml version="1.0" encoding="UTF-8" standalone="yes"?>
<Relationships xmlns="http://schemas.openxmlformats.org/package/2006/relationships"><Relationship Id="rId3" Type="http://schemas.openxmlformats.org/officeDocument/2006/relationships/tags" Target="../tags/tag410.xml"/><Relationship Id="rId2" Type="http://schemas.openxmlformats.org/officeDocument/2006/relationships/tags" Target="../tags/tag409.xml"/><Relationship Id="rId1" Type="http://schemas.openxmlformats.org/officeDocument/2006/relationships/tags" Target="../tags/tag408.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tags" Target="../tags/tag418.xml"/><Relationship Id="rId13" Type="http://schemas.openxmlformats.org/officeDocument/2006/relationships/tags" Target="../tags/tag423.xml"/><Relationship Id="rId3" Type="http://schemas.openxmlformats.org/officeDocument/2006/relationships/tags" Target="../tags/tag413.xml"/><Relationship Id="rId7" Type="http://schemas.openxmlformats.org/officeDocument/2006/relationships/tags" Target="../tags/tag417.xml"/><Relationship Id="rId12" Type="http://schemas.openxmlformats.org/officeDocument/2006/relationships/tags" Target="../tags/tag422.xml"/><Relationship Id="rId2" Type="http://schemas.openxmlformats.org/officeDocument/2006/relationships/tags" Target="../tags/tag412.xml"/><Relationship Id="rId16" Type="http://schemas.openxmlformats.org/officeDocument/2006/relationships/slideLayout" Target="../slideLayouts/slideLayout2.xml"/><Relationship Id="rId1" Type="http://schemas.openxmlformats.org/officeDocument/2006/relationships/tags" Target="../tags/tag411.xml"/><Relationship Id="rId6" Type="http://schemas.openxmlformats.org/officeDocument/2006/relationships/tags" Target="../tags/tag416.xml"/><Relationship Id="rId11" Type="http://schemas.openxmlformats.org/officeDocument/2006/relationships/tags" Target="../tags/tag421.xml"/><Relationship Id="rId5" Type="http://schemas.openxmlformats.org/officeDocument/2006/relationships/tags" Target="../tags/tag415.xml"/><Relationship Id="rId15" Type="http://schemas.openxmlformats.org/officeDocument/2006/relationships/tags" Target="../tags/tag425.xml"/><Relationship Id="rId10" Type="http://schemas.openxmlformats.org/officeDocument/2006/relationships/tags" Target="../tags/tag420.xml"/><Relationship Id="rId4" Type="http://schemas.openxmlformats.org/officeDocument/2006/relationships/tags" Target="../tags/tag414.xml"/><Relationship Id="rId9" Type="http://schemas.openxmlformats.org/officeDocument/2006/relationships/tags" Target="../tags/tag419.xml"/><Relationship Id="rId14" Type="http://schemas.openxmlformats.org/officeDocument/2006/relationships/tags" Target="../tags/tag424.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7.xml"/><Relationship Id="rId1" Type="http://schemas.openxmlformats.org/officeDocument/2006/relationships/tags" Target="../tags/tag426.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9.xml"/><Relationship Id="rId1" Type="http://schemas.openxmlformats.org/officeDocument/2006/relationships/tags" Target="../tags/tag428.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1.xml"/><Relationship Id="rId1" Type="http://schemas.openxmlformats.org/officeDocument/2006/relationships/tags" Target="../tags/tag43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34.xml"/><Relationship Id="rId7" Type="http://schemas.openxmlformats.org/officeDocument/2006/relationships/tags" Target="../tags/tag438.xml"/><Relationship Id="rId2" Type="http://schemas.openxmlformats.org/officeDocument/2006/relationships/tags" Target="../tags/tag433.xml"/><Relationship Id="rId1" Type="http://schemas.openxmlformats.org/officeDocument/2006/relationships/tags" Target="../tags/tag432.xml"/><Relationship Id="rId6" Type="http://schemas.openxmlformats.org/officeDocument/2006/relationships/tags" Target="../tags/tag437.xml"/><Relationship Id="rId5" Type="http://schemas.openxmlformats.org/officeDocument/2006/relationships/tags" Target="../tags/tag436.xml"/><Relationship Id="rId4" Type="http://schemas.openxmlformats.org/officeDocument/2006/relationships/tags" Target="../tags/tag435.xml"/></Relationships>
</file>

<file path=ppt/slides/_rels/slide8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slideLayout" Target="../slideLayouts/slideLayout2.xml"/><Relationship Id="rId1" Type="http://schemas.openxmlformats.org/officeDocument/2006/relationships/tags" Target="../tags/tag439.xml"/></Relationships>
</file>

<file path=ppt/slides/_rels/slide100.xml.rels><?xml version="1.0" encoding="UTF-8" standalone="yes"?>
<Relationships xmlns="http://schemas.openxmlformats.org/package/2006/relationships"><Relationship Id="rId8" Type="http://schemas.openxmlformats.org/officeDocument/2006/relationships/tags" Target="../tags/tag447.xml"/><Relationship Id="rId3" Type="http://schemas.openxmlformats.org/officeDocument/2006/relationships/tags" Target="../tags/tag442.xml"/><Relationship Id="rId7" Type="http://schemas.openxmlformats.org/officeDocument/2006/relationships/tags" Target="../tags/tag446.xml"/><Relationship Id="rId12" Type="http://schemas.openxmlformats.org/officeDocument/2006/relationships/slideLayout" Target="../slideLayouts/slideLayout2.xml"/><Relationship Id="rId2" Type="http://schemas.openxmlformats.org/officeDocument/2006/relationships/tags" Target="../tags/tag441.xml"/><Relationship Id="rId1" Type="http://schemas.openxmlformats.org/officeDocument/2006/relationships/tags" Target="../tags/tag440.xml"/><Relationship Id="rId6" Type="http://schemas.openxmlformats.org/officeDocument/2006/relationships/tags" Target="../tags/tag445.xml"/><Relationship Id="rId11" Type="http://schemas.openxmlformats.org/officeDocument/2006/relationships/tags" Target="../tags/tag450.xml"/><Relationship Id="rId5" Type="http://schemas.openxmlformats.org/officeDocument/2006/relationships/tags" Target="../tags/tag444.xml"/><Relationship Id="rId10" Type="http://schemas.openxmlformats.org/officeDocument/2006/relationships/tags" Target="../tags/tag449.xml"/><Relationship Id="rId4" Type="http://schemas.openxmlformats.org/officeDocument/2006/relationships/tags" Target="../tags/tag443.xml"/><Relationship Id="rId9" Type="http://schemas.openxmlformats.org/officeDocument/2006/relationships/tags" Target="../tags/tag448.xml"/></Relationships>
</file>

<file path=ppt/slides/_rels/slide101.xml.rels><?xml version="1.0" encoding="UTF-8" standalone="yes"?>
<Relationships xmlns="http://schemas.openxmlformats.org/package/2006/relationships"><Relationship Id="rId8" Type="http://schemas.openxmlformats.org/officeDocument/2006/relationships/tags" Target="../tags/tag458.xml"/><Relationship Id="rId3" Type="http://schemas.openxmlformats.org/officeDocument/2006/relationships/tags" Target="../tags/tag453.xml"/><Relationship Id="rId7" Type="http://schemas.openxmlformats.org/officeDocument/2006/relationships/tags" Target="../tags/tag457.xml"/><Relationship Id="rId12" Type="http://schemas.openxmlformats.org/officeDocument/2006/relationships/slideLayout" Target="../slideLayouts/slideLayout2.xml"/><Relationship Id="rId2" Type="http://schemas.openxmlformats.org/officeDocument/2006/relationships/tags" Target="../tags/tag452.xml"/><Relationship Id="rId1" Type="http://schemas.openxmlformats.org/officeDocument/2006/relationships/tags" Target="../tags/tag451.xml"/><Relationship Id="rId6" Type="http://schemas.openxmlformats.org/officeDocument/2006/relationships/tags" Target="../tags/tag456.xml"/><Relationship Id="rId11" Type="http://schemas.openxmlformats.org/officeDocument/2006/relationships/tags" Target="../tags/tag461.xml"/><Relationship Id="rId5" Type="http://schemas.openxmlformats.org/officeDocument/2006/relationships/tags" Target="../tags/tag455.xml"/><Relationship Id="rId10" Type="http://schemas.openxmlformats.org/officeDocument/2006/relationships/tags" Target="../tags/tag460.xml"/><Relationship Id="rId4" Type="http://schemas.openxmlformats.org/officeDocument/2006/relationships/tags" Target="../tags/tag454.xml"/><Relationship Id="rId9" Type="http://schemas.openxmlformats.org/officeDocument/2006/relationships/tags" Target="../tags/tag459.xml"/></Relationships>
</file>

<file path=ppt/slides/_rels/slide102.xml.rels><?xml version="1.0" encoding="UTF-8" standalone="yes"?>
<Relationships xmlns="http://schemas.openxmlformats.org/package/2006/relationships"><Relationship Id="rId8" Type="http://schemas.openxmlformats.org/officeDocument/2006/relationships/tags" Target="../tags/tag469.xml"/><Relationship Id="rId3" Type="http://schemas.openxmlformats.org/officeDocument/2006/relationships/tags" Target="../tags/tag464.xml"/><Relationship Id="rId7" Type="http://schemas.openxmlformats.org/officeDocument/2006/relationships/tags" Target="../tags/tag468.xml"/><Relationship Id="rId12" Type="http://schemas.openxmlformats.org/officeDocument/2006/relationships/slideLayout" Target="../slideLayouts/slideLayout2.xml"/><Relationship Id="rId2" Type="http://schemas.openxmlformats.org/officeDocument/2006/relationships/tags" Target="../tags/tag463.xml"/><Relationship Id="rId1" Type="http://schemas.openxmlformats.org/officeDocument/2006/relationships/tags" Target="../tags/tag462.xml"/><Relationship Id="rId6" Type="http://schemas.openxmlformats.org/officeDocument/2006/relationships/tags" Target="../tags/tag467.xml"/><Relationship Id="rId11" Type="http://schemas.openxmlformats.org/officeDocument/2006/relationships/tags" Target="../tags/tag472.xml"/><Relationship Id="rId5" Type="http://schemas.openxmlformats.org/officeDocument/2006/relationships/tags" Target="../tags/tag466.xml"/><Relationship Id="rId10" Type="http://schemas.openxmlformats.org/officeDocument/2006/relationships/tags" Target="../tags/tag471.xml"/><Relationship Id="rId4" Type="http://schemas.openxmlformats.org/officeDocument/2006/relationships/tags" Target="../tags/tag465.xml"/><Relationship Id="rId9" Type="http://schemas.openxmlformats.org/officeDocument/2006/relationships/tags" Target="../tags/tag470.xml"/></Relationships>
</file>

<file path=ppt/slides/_rels/slide10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73.xml"/></Relationships>
</file>

<file path=ppt/slides/_rels/slide10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8" Type="http://schemas.openxmlformats.org/officeDocument/2006/relationships/tags" Target="../tags/tag481.xml"/><Relationship Id="rId13" Type="http://schemas.openxmlformats.org/officeDocument/2006/relationships/tags" Target="../tags/tag486.xml"/><Relationship Id="rId3" Type="http://schemas.openxmlformats.org/officeDocument/2006/relationships/tags" Target="../tags/tag476.xml"/><Relationship Id="rId7" Type="http://schemas.openxmlformats.org/officeDocument/2006/relationships/tags" Target="../tags/tag480.xml"/><Relationship Id="rId12" Type="http://schemas.openxmlformats.org/officeDocument/2006/relationships/tags" Target="../tags/tag485.xml"/><Relationship Id="rId2" Type="http://schemas.openxmlformats.org/officeDocument/2006/relationships/tags" Target="../tags/tag475.xml"/><Relationship Id="rId1" Type="http://schemas.openxmlformats.org/officeDocument/2006/relationships/tags" Target="../tags/tag474.xml"/><Relationship Id="rId6" Type="http://schemas.openxmlformats.org/officeDocument/2006/relationships/tags" Target="../tags/tag479.xml"/><Relationship Id="rId11" Type="http://schemas.openxmlformats.org/officeDocument/2006/relationships/tags" Target="../tags/tag484.xml"/><Relationship Id="rId5" Type="http://schemas.openxmlformats.org/officeDocument/2006/relationships/tags" Target="../tags/tag478.xml"/><Relationship Id="rId10" Type="http://schemas.openxmlformats.org/officeDocument/2006/relationships/tags" Target="../tags/tag483.xml"/><Relationship Id="rId4" Type="http://schemas.openxmlformats.org/officeDocument/2006/relationships/tags" Target="../tags/tag477.xml"/><Relationship Id="rId9" Type="http://schemas.openxmlformats.org/officeDocument/2006/relationships/tags" Target="../tags/tag482.xml"/><Relationship Id="rId14"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89.xml"/><Relationship Id="rId7" Type="http://schemas.openxmlformats.org/officeDocument/2006/relationships/tags" Target="../tags/tag493.xml"/><Relationship Id="rId2" Type="http://schemas.openxmlformats.org/officeDocument/2006/relationships/tags" Target="../tags/tag488.xml"/><Relationship Id="rId1" Type="http://schemas.openxmlformats.org/officeDocument/2006/relationships/tags" Target="../tags/tag487.xml"/><Relationship Id="rId6" Type="http://schemas.openxmlformats.org/officeDocument/2006/relationships/tags" Target="../tags/tag492.xml"/><Relationship Id="rId5" Type="http://schemas.openxmlformats.org/officeDocument/2006/relationships/tags" Target="../tags/tag491.xml"/><Relationship Id="rId4" Type="http://schemas.openxmlformats.org/officeDocument/2006/relationships/tags" Target="../tags/tag490.xml"/></Relationships>
</file>

<file path=ppt/slides/_rels/slide109.xml.rels><?xml version="1.0" encoding="UTF-8" standalone="yes"?>
<Relationships xmlns="http://schemas.openxmlformats.org/package/2006/relationships"><Relationship Id="rId8" Type="http://schemas.openxmlformats.org/officeDocument/2006/relationships/tags" Target="../tags/tag501.xml"/><Relationship Id="rId13" Type="http://schemas.openxmlformats.org/officeDocument/2006/relationships/tags" Target="../tags/tag506.xml"/><Relationship Id="rId3" Type="http://schemas.openxmlformats.org/officeDocument/2006/relationships/tags" Target="../tags/tag496.xml"/><Relationship Id="rId7" Type="http://schemas.openxmlformats.org/officeDocument/2006/relationships/tags" Target="../tags/tag500.xml"/><Relationship Id="rId12" Type="http://schemas.openxmlformats.org/officeDocument/2006/relationships/tags" Target="../tags/tag505.xml"/><Relationship Id="rId2" Type="http://schemas.openxmlformats.org/officeDocument/2006/relationships/tags" Target="../tags/tag495.xml"/><Relationship Id="rId16" Type="http://schemas.openxmlformats.org/officeDocument/2006/relationships/slideLayout" Target="../slideLayouts/slideLayout2.xml"/><Relationship Id="rId1" Type="http://schemas.openxmlformats.org/officeDocument/2006/relationships/tags" Target="../tags/tag494.xml"/><Relationship Id="rId6" Type="http://schemas.openxmlformats.org/officeDocument/2006/relationships/tags" Target="../tags/tag499.xml"/><Relationship Id="rId11" Type="http://schemas.openxmlformats.org/officeDocument/2006/relationships/tags" Target="../tags/tag504.xml"/><Relationship Id="rId5" Type="http://schemas.openxmlformats.org/officeDocument/2006/relationships/tags" Target="../tags/tag498.xml"/><Relationship Id="rId15" Type="http://schemas.openxmlformats.org/officeDocument/2006/relationships/tags" Target="../tags/tag508.xml"/><Relationship Id="rId10" Type="http://schemas.openxmlformats.org/officeDocument/2006/relationships/tags" Target="../tags/tag503.xml"/><Relationship Id="rId4" Type="http://schemas.openxmlformats.org/officeDocument/2006/relationships/tags" Target="../tags/tag497.xml"/><Relationship Id="rId9" Type="http://schemas.openxmlformats.org/officeDocument/2006/relationships/tags" Target="../tags/tag502.xml"/><Relationship Id="rId14" Type="http://schemas.openxmlformats.org/officeDocument/2006/relationships/tags" Target="../tags/tag507.xml"/></Relationships>
</file>

<file path=ppt/slides/_rels/slide110.xml.rels><?xml version="1.0" encoding="UTF-8" standalone="yes"?>
<Relationships xmlns="http://schemas.openxmlformats.org/package/2006/relationships"><Relationship Id="rId3" Type="http://schemas.openxmlformats.org/officeDocument/2006/relationships/tags" Target="../tags/tag511.xml"/><Relationship Id="rId7" Type="http://schemas.openxmlformats.org/officeDocument/2006/relationships/image" Target="../media/image41.png"/><Relationship Id="rId2" Type="http://schemas.openxmlformats.org/officeDocument/2006/relationships/tags" Target="../tags/tag510.xml"/><Relationship Id="rId1" Type="http://schemas.openxmlformats.org/officeDocument/2006/relationships/tags" Target="../tags/tag509.xml"/><Relationship Id="rId6" Type="http://schemas.openxmlformats.org/officeDocument/2006/relationships/slideLayout" Target="../slideLayouts/slideLayout2.xml"/><Relationship Id="rId5" Type="http://schemas.openxmlformats.org/officeDocument/2006/relationships/tags" Target="../tags/tag513.xml"/><Relationship Id="rId4" Type="http://schemas.openxmlformats.org/officeDocument/2006/relationships/tags" Target="../tags/tag512.xml"/></Relationships>
</file>

<file path=ppt/slides/_rels/slide111.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16.xml"/><Relationship Id="rId7" Type="http://schemas.openxmlformats.org/officeDocument/2006/relationships/tags" Target="../tags/tag520.xml"/><Relationship Id="rId2" Type="http://schemas.openxmlformats.org/officeDocument/2006/relationships/tags" Target="../tags/tag515.xml"/><Relationship Id="rId1" Type="http://schemas.openxmlformats.org/officeDocument/2006/relationships/tags" Target="../tags/tag514.xml"/><Relationship Id="rId6" Type="http://schemas.openxmlformats.org/officeDocument/2006/relationships/tags" Target="../tags/tag519.xml"/><Relationship Id="rId5" Type="http://schemas.openxmlformats.org/officeDocument/2006/relationships/tags" Target="../tags/tag518.xml"/><Relationship Id="rId4" Type="http://schemas.openxmlformats.org/officeDocument/2006/relationships/tags" Target="../tags/tag517.xml"/></Relationships>
</file>

<file path=ppt/slides/_rels/slide1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1.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2.xml"/></Relationships>
</file>

<file path=ppt/slides/_rels/slide115.xml.rels><?xml version="1.0" encoding="UTF-8" standalone="yes"?>
<Relationships xmlns="http://schemas.openxmlformats.org/package/2006/relationships"><Relationship Id="rId8" Type="http://schemas.openxmlformats.org/officeDocument/2006/relationships/tags" Target="../tags/tag530.xml"/><Relationship Id="rId3" Type="http://schemas.openxmlformats.org/officeDocument/2006/relationships/tags" Target="../tags/tag525.xml"/><Relationship Id="rId7" Type="http://schemas.openxmlformats.org/officeDocument/2006/relationships/tags" Target="../tags/tag529.xml"/><Relationship Id="rId2" Type="http://schemas.openxmlformats.org/officeDocument/2006/relationships/tags" Target="../tags/tag524.xml"/><Relationship Id="rId1" Type="http://schemas.openxmlformats.org/officeDocument/2006/relationships/tags" Target="../tags/tag523.xml"/><Relationship Id="rId6" Type="http://schemas.openxmlformats.org/officeDocument/2006/relationships/tags" Target="../tags/tag528.xml"/><Relationship Id="rId11" Type="http://schemas.openxmlformats.org/officeDocument/2006/relationships/slideLayout" Target="../slideLayouts/slideLayout2.xml"/><Relationship Id="rId5" Type="http://schemas.openxmlformats.org/officeDocument/2006/relationships/tags" Target="../tags/tag527.xml"/><Relationship Id="rId10" Type="http://schemas.openxmlformats.org/officeDocument/2006/relationships/tags" Target="../tags/tag532.xml"/><Relationship Id="rId4" Type="http://schemas.openxmlformats.org/officeDocument/2006/relationships/tags" Target="../tags/tag526.xml"/><Relationship Id="rId9" Type="http://schemas.openxmlformats.org/officeDocument/2006/relationships/tags" Target="../tags/tag531.xml"/></Relationships>
</file>

<file path=ppt/slides/_rels/slide116.xml.rels><?xml version="1.0" encoding="UTF-8" standalone="yes"?>
<Relationships xmlns="http://schemas.openxmlformats.org/package/2006/relationships"><Relationship Id="rId8" Type="http://schemas.openxmlformats.org/officeDocument/2006/relationships/tags" Target="../tags/tag540.xml"/><Relationship Id="rId13" Type="http://schemas.openxmlformats.org/officeDocument/2006/relationships/tags" Target="../tags/tag545.xml"/><Relationship Id="rId3" Type="http://schemas.openxmlformats.org/officeDocument/2006/relationships/tags" Target="../tags/tag535.xml"/><Relationship Id="rId7" Type="http://schemas.openxmlformats.org/officeDocument/2006/relationships/tags" Target="../tags/tag539.xml"/><Relationship Id="rId12" Type="http://schemas.openxmlformats.org/officeDocument/2006/relationships/tags" Target="../tags/tag544.xml"/><Relationship Id="rId2" Type="http://schemas.openxmlformats.org/officeDocument/2006/relationships/tags" Target="../tags/tag534.xml"/><Relationship Id="rId1" Type="http://schemas.openxmlformats.org/officeDocument/2006/relationships/tags" Target="../tags/tag533.xml"/><Relationship Id="rId6" Type="http://schemas.openxmlformats.org/officeDocument/2006/relationships/tags" Target="../tags/tag538.xml"/><Relationship Id="rId11" Type="http://schemas.openxmlformats.org/officeDocument/2006/relationships/tags" Target="../tags/tag543.xml"/><Relationship Id="rId5" Type="http://schemas.openxmlformats.org/officeDocument/2006/relationships/tags" Target="../tags/tag537.xml"/><Relationship Id="rId15" Type="http://schemas.openxmlformats.org/officeDocument/2006/relationships/slideLayout" Target="../slideLayouts/slideLayout2.xml"/><Relationship Id="rId10" Type="http://schemas.openxmlformats.org/officeDocument/2006/relationships/tags" Target="../tags/tag542.xml"/><Relationship Id="rId4" Type="http://schemas.openxmlformats.org/officeDocument/2006/relationships/tags" Target="../tags/tag536.xml"/><Relationship Id="rId9" Type="http://schemas.openxmlformats.org/officeDocument/2006/relationships/tags" Target="../tags/tag541.xml"/><Relationship Id="rId14" Type="http://schemas.openxmlformats.org/officeDocument/2006/relationships/tags" Target="../tags/tag546.xml"/></Relationships>
</file>

<file path=ppt/slides/_rels/slide11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tags" Target="../tags/tag549.xml"/><Relationship Id="rId7" Type="http://schemas.openxmlformats.org/officeDocument/2006/relationships/slideLayout" Target="../slideLayouts/slideLayout2.xml"/><Relationship Id="rId2" Type="http://schemas.openxmlformats.org/officeDocument/2006/relationships/tags" Target="../tags/tag548.xml"/><Relationship Id="rId1" Type="http://schemas.openxmlformats.org/officeDocument/2006/relationships/tags" Target="../tags/tag547.xml"/><Relationship Id="rId6" Type="http://schemas.openxmlformats.org/officeDocument/2006/relationships/tags" Target="../tags/tag552.xml"/><Relationship Id="rId5" Type="http://schemas.openxmlformats.org/officeDocument/2006/relationships/tags" Target="../tags/tag551.xml"/><Relationship Id="rId4" Type="http://schemas.openxmlformats.org/officeDocument/2006/relationships/tags" Target="../tags/tag550.xml"/></Relationships>
</file>

<file path=ppt/slides/_rels/slide123.xml.rels><?xml version="1.0" encoding="UTF-8" standalone="yes"?>
<Relationships xmlns="http://schemas.openxmlformats.org/package/2006/relationships"><Relationship Id="rId3" Type="http://schemas.openxmlformats.org/officeDocument/2006/relationships/tags" Target="../tags/tag555.xml"/><Relationship Id="rId2" Type="http://schemas.openxmlformats.org/officeDocument/2006/relationships/tags" Target="../tags/tag554.xml"/><Relationship Id="rId1" Type="http://schemas.openxmlformats.org/officeDocument/2006/relationships/tags" Target="../tags/tag553.xml"/><Relationship Id="rId5" Type="http://schemas.openxmlformats.org/officeDocument/2006/relationships/slideLayout" Target="../slideLayouts/slideLayout2.xml"/><Relationship Id="rId4" Type="http://schemas.openxmlformats.org/officeDocument/2006/relationships/tags" Target="../tags/tag556.xml"/></Relationships>
</file>

<file path=ppt/slides/_rels/slide124.xml.rels><?xml version="1.0" encoding="UTF-8" standalone="yes"?>
<Relationships xmlns="http://schemas.openxmlformats.org/package/2006/relationships"><Relationship Id="rId3" Type="http://schemas.openxmlformats.org/officeDocument/2006/relationships/tags" Target="../tags/tag559.xml"/><Relationship Id="rId2" Type="http://schemas.openxmlformats.org/officeDocument/2006/relationships/tags" Target="../tags/tag558.xml"/><Relationship Id="rId1" Type="http://schemas.openxmlformats.org/officeDocument/2006/relationships/tags" Target="../tags/tag557.xml"/><Relationship Id="rId5" Type="http://schemas.openxmlformats.org/officeDocument/2006/relationships/slideLayout" Target="../slideLayouts/slideLayout2.xml"/><Relationship Id="rId4" Type="http://schemas.openxmlformats.org/officeDocument/2006/relationships/tags" Target="../tags/tag560.xml"/></Relationships>
</file>

<file path=ppt/slides/_rels/slide125.xml.rels><?xml version="1.0" encoding="UTF-8" standalone="yes"?>
<Relationships xmlns="http://schemas.openxmlformats.org/package/2006/relationships"><Relationship Id="rId3" Type="http://schemas.openxmlformats.org/officeDocument/2006/relationships/tags" Target="../tags/tag563.xml"/><Relationship Id="rId2" Type="http://schemas.openxmlformats.org/officeDocument/2006/relationships/tags" Target="../tags/tag562.xml"/><Relationship Id="rId1" Type="http://schemas.openxmlformats.org/officeDocument/2006/relationships/tags" Target="../tags/tag561.xml"/><Relationship Id="rId5" Type="http://schemas.openxmlformats.org/officeDocument/2006/relationships/slideLayout" Target="../slideLayouts/slideLayout2.xml"/><Relationship Id="rId4" Type="http://schemas.openxmlformats.org/officeDocument/2006/relationships/tags" Target="../tags/tag564.xml"/></Relationships>
</file>

<file path=ppt/slides/_rels/slide126.xml.rels><?xml version="1.0" encoding="UTF-8" standalone="yes"?>
<Relationships xmlns="http://schemas.openxmlformats.org/package/2006/relationships"><Relationship Id="rId3" Type="http://schemas.openxmlformats.org/officeDocument/2006/relationships/tags" Target="../tags/tag567.xml"/><Relationship Id="rId2" Type="http://schemas.openxmlformats.org/officeDocument/2006/relationships/tags" Target="../tags/tag566.xml"/><Relationship Id="rId1" Type="http://schemas.openxmlformats.org/officeDocument/2006/relationships/tags" Target="../tags/tag565.xml"/><Relationship Id="rId5" Type="http://schemas.openxmlformats.org/officeDocument/2006/relationships/slideLayout" Target="../slideLayouts/slideLayout2.xml"/><Relationship Id="rId4" Type="http://schemas.openxmlformats.org/officeDocument/2006/relationships/tags" Target="../tags/tag568.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a:solidFill>
                <a:srgbClr val="292929"/>
              </a:solidFill>
              <a:latin typeface="Calibri" panose="020F0502020204030204" charset="0"/>
              <a:ea typeface="微软雅黑" panose="020B0503020204020204" pitchFamily="34" charset="-122"/>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a typeface="微软雅黑" panose="020B0503020204020204" pitchFamily="34" charset="-122"/>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p>
        </p:txBody>
      </p:sp>
    </p:spTree>
    <p:custDataLst>
      <p:tags r:id="rId1"/>
    </p:custDataLst>
  </p:cSld>
  <p:clrMapOvr>
    <a:masterClrMapping/>
  </p:clrMapOvr>
  <p:transition>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 </a:t>
            </a:r>
            <a:r>
              <a:rPr lang="zh-CN" altLang="en-US" dirty="0"/>
              <a:t>面向对象方法学与</a:t>
            </a:r>
            <a:r>
              <a:rPr lang="en-US" altLang="zh-CN" dirty="0"/>
              <a:t>UML</a:t>
            </a:r>
          </a:p>
        </p:txBody>
      </p:sp>
      <p:sp>
        <p:nvSpPr>
          <p:cNvPr id="100" name="文本框 99"/>
          <p:cNvSpPr txBox="1"/>
          <p:nvPr/>
        </p:nvSpPr>
        <p:spPr>
          <a:xfrm>
            <a:off x="1497330" y="2001520"/>
            <a:ext cx="9828530" cy="3693795"/>
          </a:xfrm>
          <a:prstGeom prst="rect">
            <a:avLst/>
          </a:prstGeom>
          <a:noFill/>
          <a:ln w="9525">
            <a:noFill/>
          </a:ln>
        </p:spPr>
        <p:txBody>
          <a:bodyPr wrap="square">
            <a:spAutoFit/>
          </a:bodyPr>
          <a:lstStyle/>
          <a:p>
            <a:pPr marL="0" indent="0" algn="l" fontAlgn="auto">
              <a:lnSpc>
                <a:spcPct val="130000"/>
              </a:lnSpc>
            </a:pPr>
            <a:r>
              <a:rPr lang="en-US" altLang="zh-CN" sz="2000" dirty="0">
                <a:latin typeface="微软雅黑" panose="020B0503020204020204" charset="-122"/>
                <a:ea typeface="微软雅黑" panose="020B0503020204020204" charset="-122"/>
                <a:sym typeface="+mn-ea"/>
              </a:rPr>
              <a:t>    </a:t>
            </a: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面向对象方法有许多优点，是目前广泛使用的软件开发方法之一。面向对象方法的要素是对象、类、继承和用消息通信。</a:t>
            </a:r>
          </a:p>
          <a:p>
            <a:pPr marL="0" indent="0" algn="l" fontAlgn="auto">
              <a:lnSpc>
                <a:spcPct val="130000"/>
              </a:lnSpc>
            </a:pPr>
            <a:r>
              <a:rPr lang="zh-CN" altLang="en-US" dirty="0">
                <a:latin typeface="微软雅黑" panose="020B0503020204020204" charset="-122"/>
                <a:ea typeface="微软雅黑" panose="020B0503020204020204" charset="-122"/>
                <a:sym typeface="+mn-ea"/>
              </a:rPr>
              <a:t>       软件工程领域在1995～1997年期间取得的最重要的成果之一，是统一建模语言（Unified Modeling Language，UML）。UML是一种直观的、通用的、可视化建模语言。</a:t>
            </a:r>
          </a:p>
          <a:p>
            <a:pPr marL="0" indent="0" algn="l" fontAlgn="auto">
              <a:lnSpc>
                <a:spcPct val="130000"/>
              </a:lnSpc>
            </a:pPr>
            <a:r>
              <a:rPr lang="zh-CN" altLang="en-US" dirty="0">
                <a:latin typeface="微软雅黑" panose="020B0503020204020204" charset="-122"/>
                <a:ea typeface="微软雅黑" panose="020B0503020204020204" charset="-122"/>
                <a:sym typeface="+mn-ea"/>
              </a:rPr>
              <a:t>       在用面向对象方法进行软件分析和设计时，必须按照其方法和原则，要懂得UML的概念、符号和使用规则，然后再学习如何灵活应用UML进行软件的分析、设计。目前在设计移动互联系统时，常采用面向对象方法。</a:t>
            </a:r>
          </a:p>
          <a:p>
            <a:pPr marL="0" indent="0" algn="l" fontAlgn="auto">
              <a:lnSpc>
                <a:spcPct val="130000"/>
              </a:lnSpc>
            </a:pPr>
            <a:r>
              <a:rPr lang="zh-CN" altLang="en-US" dirty="0">
                <a:latin typeface="微软雅黑" panose="020B0503020204020204" charset="-122"/>
                <a:ea typeface="微软雅黑" panose="020B0503020204020204" charset="-122"/>
                <a:sym typeface="+mn-ea"/>
              </a:rPr>
              <a:t>       在介绍用面向对象的方法进行软件分析和设计时，本书采用统一建模语言（UML）来描述系统。</a:t>
            </a:r>
          </a:p>
          <a:p>
            <a:pPr marL="0" indent="0" algn="l" fontAlgn="auto">
              <a:lnSpc>
                <a:spcPct val="130000"/>
              </a:lnSpc>
            </a:pPr>
            <a:r>
              <a:rPr lang="zh-CN" altLang="en-US" dirty="0">
                <a:latin typeface="微软雅黑" panose="020B0503020204020204" charset="-122"/>
                <a:ea typeface="微软雅黑" panose="020B0503020204020204" charset="-122"/>
                <a:sym typeface="+mn-ea"/>
              </a:rPr>
              <a:t>★ 本章重点：</a:t>
            </a:r>
            <a:r>
              <a:rPr lang="zh-CN" altLang="en-US" dirty="0">
                <a:solidFill>
                  <a:srgbClr val="C00000"/>
                </a:solidFill>
                <a:latin typeface="微软雅黑" panose="020B0503020204020204" charset="-122"/>
                <a:ea typeface="微软雅黑" panose="020B0503020204020204" charset="-122"/>
                <a:sym typeface="+mn-ea"/>
              </a:rPr>
              <a:t>面向对象方法的概念；UML图。</a:t>
            </a:r>
          </a:p>
        </p:txBody>
      </p:sp>
      <p:sp>
        <p:nvSpPr>
          <p:cNvPr id="7" name="文本框 6"/>
          <p:cNvSpPr txBox="1"/>
          <p:nvPr/>
        </p:nvSpPr>
        <p:spPr>
          <a:xfrm>
            <a:off x="754380" y="2520315"/>
            <a:ext cx="476250" cy="265557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面向对象方法学与</a:t>
            </a:r>
            <a:r>
              <a:rPr lang="en-US" altLang="zh-CN" spc="160" dirty="0">
                <a:solidFill>
                  <a:schemeClr val="bg1"/>
                </a:solidFill>
                <a:latin typeface="微软雅黑" panose="020B0503020204020204" charset="-122"/>
                <a:ea typeface="微软雅黑" panose="020B0503020204020204" charset="-122"/>
              </a:rPr>
              <a:t>UML</a:t>
            </a:r>
          </a:p>
        </p:txBody>
      </p:sp>
    </p:spTree>
  </p:cSld>
  <p:clrMapOvr>
    <a:masterClrMapping/>
  </p:clrMapOvr>
  <p:transition>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ea typeface="微软雅黑" panose="020B0503020204020204" pitchFamily="34" charset="-122"/>
            </a:endParaRPr>
          </a:p>
        </p:txBody>
      </p:sp>
      <p:sp>
        <p:nvSpPr>
          <p:cNvPr id="5123" name="Text Box 20"/>
          <p:cNvSpPr txBox="1">
            <a:spLocks noChangeArrowheads="1"/>
          </p:cNvSpPr>
          <p:nvPr>
            <p:custDataLst>
              <p:tags r:id="rId3"/>
            </p:custDataLst>
          </p:nvPr>
        </p:nvSpPr>
        <p:spPr bwMode="auto">
          <a:xfrm>
            <a:off x="1794269" y="1781267"/>
            <a:ext cx="2415116" cy="46166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Times New Roman" panose="02020603050405020304" pitchFamily="18"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ea typeface="微软雅黑" panose="020B0503020204020204" pitchFamily="3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469255" y="1536700"/>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面向对象方法概述</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735830" y="2659380"/>
            <a:ext cx="5048250" cy="612775"/>
            <a:chOff x="7754" y="4005"/>
            <a:chExt cx="7781"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sp>
          <p:nvSpPr>
            <p:cNvPr id="59" name="文本框 27"/>
            <p:cNvSpPr txBox="1"/>
            <p:nvPr/>
          </p:nvSpPr>
          <p:spPr>
            <a:xfrm>
              <a:off x="9352" y="4103"/>
              <a:ext cx="618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UML</a:t>
              </a:r>
              <a:r>
                <a:rPr lang="zh-CN" altLang="en-US" sz="2400" b="1" dirty="0">
                  <a:solidFill>
                    <a:schemeClr val="bg1"/>
                  </a:solidFill>
                  <a:latin typeface="微软雅黑" panose="020B0503020204020204" charset="-122"/>
                  <a:ea typeface="微软雅黑" panose="020B0503020204020204" charset="-122"/>
                </a:rPr>
                <a:t>概述</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4002405" y="376745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UML</a:t>
              </a:r>
              <a:r>
                <a:rPr lang="zh-CN" altLang="en-US" sz="2400" b="1" dirty="0">
                  <a:solidFill>
                    <a:schemeClr val="bg1"/>
                  </a:solidFill>
                  <a:latin typeface="微软雅黑" panose="020B0503020204020204" charset="-122"/>
                  <a:ea typeface="微软雅黑" panose="020B0503020204020204" charset="-122"/>
                </a:rPr>
                <a:t>图</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6" name="组合 5"/>
          <p:cNvGrpSpPr/>
          <p:nvPr/>
        </p:nvGrpSpPr>
        <p:grpSpPr>
          <a:xfrm>
            <a:off x="3216910" y="4869180"/>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grpSp>
        <p:sp>
          <p:nvSpPr>
            <p:cNvPr id="7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UML</a:t>
              </a:r>
              <a:r>
                <a:rPr lang="zh-CN" altLang="en-US" sz="2400" b="1" dirty="0">
                  <a:solidFill>
                    <a:schemeClr val="bg1"/>
                  </a:solidFill>
                  <a:latin typeface="微软雅黑" panose="020B0503020204020204" charset="-122"/>
                  <a:ea typeface="微软雅黑" panose="020B0503020204020204" charset="-122"/>
                </a:rPr>
                <a:t>的应用</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04</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ea typeface="微软雅黑" panose="020B0503020204020204" pitchFamily="34" charset="-122"/>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面向对象方法概述</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面向对象方法的要素和优点</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面向对象方法的概念</a:t>
              </a:r>
            </a:p>
          </p:txBody>
        </p:sp>
      </p:gr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endParaRPr lang="en-US" altLang="zh-CN" dirty="0"/>
          </a:p>
        </p:txBody>
      </p:sp>
      <p:sp>
        <p:nvSpPr>
          <p:cNvPr id="21" name="文本占位符 20">
            <a:extLst>
              <a:ext uri="{FF2B5EF4-FFF2-40B4-BE49-F238E27FC236}">
                <a16:creationId xmlns:a16="http://schemas.microsoft.com/office/drawing/2014/main" id="{984881A7-0385-1A50-D787-CC039718B2E0}"/>
              </a:ext>
            </a:extLst>
          </p:cNvPr>
          <p:cNvSpPr>
            <a:spLocks noGrp="1"/>
          </p:cNvSpPr>
          <p:nvPr>
            <p:ph type="body" sz="quarter" idx="10"/>
          </p:nvPr>
        </p:nvSpPr>
        <p:spPr>
          <a:xfrm>
            <a:off x="900001" y="1322832"/>
            <a:ext cx="5196000" cy="400110"/>
          </a:xfrm>
        </p:spPr>
        <p:txBody>
          <a:bodyPr/>
          <a:lstStyle/>
          <a:p>
            <a:r>
              <a:rPr lang="zh-CN" altLang="en-US" dirty="0">
                <a:sym typeface="+mn-ea"/>
              </a:rPr>
              <a:t>传统软件工程方法</a:t>
            </a:r>
          </a:p>
        </p:txBody>
      </p:sp>
      <p:grpSp>
        <p:nvGrpSpPr>
          <p:cNvPr id="15" name="组合 14"/>
          <p:cNvGrpSpPr/>
          <p:nvPr/>
        </p:nvGrpSpPr>
        <p:grpSpPr>
          <a:xfrm>
            <a:off x="579453" y="1075803"/>
            <a:ext cx="11129645" cy="4598672"/>
            <a:chOff x="-234" y="1310"/>
            <a:chExt cx="17527" cy="7242"/>
          </a:xfrm>
        </p:grpSpPr>
        <p:grpSp>
          <p:nvGrpSpPr>
            <p:cNvPr id="2" name="组合 1"/>
            <p:cNvGrpSpPr/>
            <p:nvPr/>
          </p:nvGrpSpPr>
          <p:grpSpPr>
            <a:xfrm>
              <a:off x="-234" y="1310"/>
              <a:ext cx="17527" cy="7242"/>
              <a:chOff x="450350" y="1099955"/>
              <a:chExt cx="11129581" cy="4598538"/>
            </a:xfrm>
          </p:grpSpPr>
          <p:sp>
            <p:nvSpPr>
              <p:cNvPr id="4" name="MH_Other_1"/>
              <p:cNvSpPr/>
              <p:nvPr>
                <p:custDataLst>
                  <p:tags r:id="rId1"/>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2"/>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3"/>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4"/>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5"/>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6"/>
                </p:custDataLst>
              </p:nvPr>
            </p:nvSpPr>
            <p:spPr bwMode="auto">
              <a:xfrm>
                <a:off x="7379431" y="2888698"/>
                <a:ext cx="4200500" cy="137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传统软件工程方法（结构化分析方法）是其他软件技术的基础，曾经是主要使用的系统分析设计方法。结构化分析方法将结构化分析和结构化设计人为地分离成两个独立的部分</a:t>
                </a:r>
                <a:r>
                  <a:rPr lang="zh-CN" dirty="0">
                    <a:latin typeface="微软雅黑" panose="020B0503020204020204" charset="-122"/>
                    <a:ea typeface="微软雅黑" panose="020B0503020204020204" charset="-122"/>
                    <a:sym typeface="+mn-ea"/>
                  </a:rPr>
                  <a:t>。</a:t>
                </a:r>
              </a:p>
            </p:txBody>
          </p:sp>
          <p:sp>
            <p:nvSpPr>
              <p:cNvPr id="11" name="MH_SubTitle_2"/>
              <p:cNvSpPr txBox="1">
                <a:spLocks noChangeArrowheads="1"/>
              </p:cNvSpPr>
              <p:nvPr>
                <p:custDataLst>
                  <p:tags r:id="rId7"/>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8"/>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9"/>
                </p:custDataLst>
              </p:nvPr>
            </p:nvSpPr>
            <p:spPr bwMode="auto">
              <a:xfrm>
                <a:off x="450350" y="3942133"/>
                <a:ext cx="4359251" cy="1520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lang="zh-CN" dirty="0">
                    <a:latin typeface="微软雅黑" panose="020B0503020204020204" charset="-122"/>
                    <a:ea typeface="微软雅黑" panose="020B0503020204020204" charset="-122"/>
                    <a:sym typeface="+mn-ea"/>
                  </a:rPr>
                  <a:t>结构化分析方法</a:t>
                </a:r>
                <a:r>
                  <a:rPr dirty="0">
                    <a:latin typeface="微软雅黑" panose="020B0503020204020204" charset="-122"/>
                    <a:ea typeface="微软雅黑" panose="020B0503020204020204" charset="-122"/>
                    <a:sym typeface="+mn-ea"/>
                  </a:rPr>
                  <a:t>将描述数据对象和描述作用于数据上的操作分别进行，采用不同的表示方法。实际上数据和对数据的处理是密切相关、不可分割的，分别处理会增加软件开发和维护的难度。</a:t>
                </a:r>
              </a:p>
              <a:p>
                <a:pPr indent="457200" algn="just">
                  <a:lnSpc>
                    <a:spcPct val="120000"/>
                  </a:lnSpc>
                  <a:defRPr/>
                </a:pPr>
                <a:endParaRPr dirty="0">
                  <a:latin typeface="微软雅黑" panose="020B0503020204020204" charset="-122"/>
                  <a:ea typeface="微软雅黑" panose="020B0503020204020204" charset="-122"/>
                  <a:sym typeface="+mn-ea"/>
                </a:endParaRPr>
              </a:p>
            </p:txBody>
          </p:sp>
          <p:sp>
            <p:nvSpPr>
              <p:cNvPr id="14" name="MH_SubTitle_1"/>
              <p:cNvSpPr txBox="1">
                <a:spLocks noChangeArrowheads="1"/>
              </p:cNvSpPr>
              <p:nvPr>
                <p:custDataLst>
                  <p:tags r:id="rId10"/>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1"/>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2</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2"/>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75457" name="Rectangle 1"/>
            <p:cNvSpPr>
              <a:spLocks noChangeArrowheads="1"/>
            </p:cNvSpPr>
            <p:nvPr/>
          </p:nvSpPr>
          <p:spPr bwMode="auto">
            <a:xfrm>
              <a:off x="6139" y="2352"/>
              <a:ext cx="5815" cy="63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9875" algn="l" defTabSz="914400" rtl="0" eaLnBrk="1" fontAlgn="base" latinLnBrk="0" hangingPunct="1">
                <a:lnSpc>
                  <a:spcPct val="100000"/>
                </a:lnSpc>
                <a:spcBef>
                  <a:spcPct val="0"/>
                </a:spcBef>
                <a:spcAft>
                  <a:spcPct val="0"/>
                </a:spcAft>
                <a:buClrTx/>
                <a:buSzTx/>
                <a:buFontTx/>
                <a:buNone/>
              </a:pPr>
              <a:endParaRPr kumimoji="0" lang="en-US" sz="2000" b="1"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sym typeface="+mn-ea"/>
              </a:endParaRPr>
            </a:p>
          </p:txBody>
        </p:sp>
      </p:grpSp>
    </p:spTree>
  </p:cSld>
  <p:clrMapOvr>
    <a:masterClrMapping/>
  </p:clrMapOvr>
  <p:transition>
    <p:wheel spokes="3"/>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endParaRPr lang="en-US" altLang="zh-CN" dirty="0"/>
          </a:p>
        </p:txBody>
      </p:sp>
      <p:sp>
        <p:nvSpPr>
          <p:cNvPr id="5" name="文本占位符 4">
            <a:extLst>
              <a:ext uri="{FF2B5EF4-FFF2-40B4-BE49-F238E27FC236}">
                <a16:creationId xmlns:a16="http://schemas.microsoft.com/office/drawing/2014/main" id="{E7C81A44-6D7B-C1E0-2BCB-6CAD0A161E54}"/>
              </a:ext>
            </a:extLst>
          </p:cNvPr>
          <p:cNvSpPr>
            <a:spLocks noGrp="1"/>
          </p:cNvSpPr>
          <p:nvPr>
            <p:ph type="body" sz="quarter" idx="10"/>
          </p:nvPr>
        </p:nvSpPr>
        <p:spPr>
          <a:xfrm>
            <a:off x="360000" y="2519363"/>
            <a:ext cx="7725747" cy="2845739"/>
          </a:xfrm>
        </p:spPr>
        <p:txBody>
          <a:bodyPr/>
          <a:lstStyle/>
          <a:p>
            <a:r>
              <a:rPr lang="zh-CN" altLang="en-US" dirty="0"/>
              <a:t>面向对象方法简称为</a:t>
            </a:r>
            <a:r>
              <a:rPr lang="en-US" altLang="zh-CN" dirty="0"/>
              <a:t>OO</a:t>
            </a:r>
            <a:r>
              <a:rPr lang="zh-CN" altLang="en-US" dirty="0"/>
              <a:t>（</a:t>
            </a:r>
            <a:r>
              <a:rPr lang="en-US" altLang="zh-CN" dirty="0"/>
              <a:t>Objected Oriented</a:t>
            </a:r>
            <a:r>
              <a:rPr lang="zh-CN" altLang="en-US" dirty="0"/>
              <a:t>）方法，是</a:t>
            </a:r>
            <a:r>
              <a:rPr lang="en-US" altLang="zh-CN" dirty="0"/>
              <a:t>1979</a:t>
            </a:r>
            <a:r>
              <a:rPr lang="zh-CN" altLang="en-US" dirty="0"/>
              <a:t>年以后发展起来的，是当前软件方法学的主要方向，也是目前最有效、最实用和最流行的软件开发方法之一。面向对象方法是在汲取结构化思想和优点的基础上发展起来的，是对结构化方法的进一步发展和扩充。</a:t>
            </a:r>
          </a:p>
        </p:txBody>
      </p:sp>
      <p:sp>
        <p:nvSpPr>
          <p:cNvPr id="20" name="矩形 19"/>
          <p:cNvSpPr/>
          <p:nvPr/>
        </p:nvSpPr>
        <p:spPr>
          <a:xfrm>
            <a:off x="6911340" y="1646157"/>
            <a:ext cx="5280660" cy="1266190"/>
          </a:xfrm>
          <a:prstGeom prst="rect">
            <a:avLst/>
          </a:prstGeom>
          <a:noFill/>
          <a:ln>
            <a:noFill/>
          </a:ln>
        </p:spPr>
        <p:txBody>
          <a:bodyPr wrap="square" rtlCol="0" anchor="t">
            <a:prstTxWarp prst="textStop">
              <a:avLst/>
            </a:prstTxWarp>
            <a:spAutoFit/>
          </a:bodyPr>
          <a:lstStyle/>
          <a:p>
            <a:pPr algn="ctr"/>
            <a:r>
              <a:rPr lang="en-US" altLang="zh-CN" sz="4000" kern="0" dirty="0">
                <a:solidFill>
                  <a:schemeClr val="tx1"/>
                </a:solidFill>
                <a:latin typeface="微软雅黑" panose="020B0503020204020204" charset="-122"/>
                <a:ea typeface="微软雅黑" panose="020B0503020204020204" charset="-122"/>
                <a:cs typeface="宋体" panose="02010600030101010101" pitchFamily="2" charset="-122"/>
                <a:sym typeface="+mn-ea"/>
              </a:rPr>
              <a:t>Objected Oriented</a:t>
            </a:r>
            <a:endParaRPr lang="en-US" altLang="zh-CN" sz="4000" b="1" kern="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宋体" panose="02010600030101010101" pitchFamily="2" charset="-122"/>
              <a:sym typeface="+mn-ea"/>
            </a:endParaRPr>
          </a:p>
        </p:txBody>
      </p:sp>
    </p:spTree>
  </p:cSld>
  <p:clrMapOvr>
    <a:masterClrMapping/>
  </p:clrMapOvr>
  <p:transition>
    <p:wheel spokes="3"/>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endParaRPr lang="en-US" altLang="zh-CN" dirty="0"/>
          </a:p>
        </p:txBody>
      </p:sp>
      <p:sp>
        <p:nvSpPr>
          <p:cNvPr id="4" name="文本占位符 3">
            <a:extLst>
              <a:ext uri="{FF2B5EF4-FFF2-40B4-BE49-F238E27FC236}">
                <a16:creationId xmlns:a16="http://schemas.microsoft.com/office/drawing/2014/main" id="{0E7D4694-9ED6-A9B4-BDEC-F9FCF8692891}"/>
              </a:ext>
            </a:extLst>
          </p:cNvPr>
          <p:cNvSpPr>
            <a:spLocks noGrp="1"/>
          </p:cNvSpPr>
          <p:nvPr>
            <p:ph type="body" sz="quarter" idx="10"/>
          </p:nvPr>
        </p:nvSpPr>
        <p:spPr>
          <a:xfrm>
            <a:off x="360000" y="2519363"/>
            <a:ext cx="7725747" cy="2845739"/>
          </a:xfrm>
        </p:spPr>
        <p:txBody>
          <a:bodyPr>
            <a:normAutofit/>
          </a:bodyPr>
          <a:lstStyle/>
          <a:p>
            <a:r>
              <a:rPr lang="en-US" altLang="zh-CN" dirty="0"/>
              <a:t>面向对象方法与传统方法的不同之处在于，其目的是有效地描述和刻画问题领域的信息和行为，以全局的观点来考虑系统中各种对象的联系，考虑系统的完整性和一致性，是对问题域的完整、直接的映射。</a:t>
            </a:r>
          </a:p>
          <a:p>
            <a:r>
              <a:rPr lang="en-US" altLang="zh-CN" dirty="0"/>
              <a:t>面向对象设计方法和传统方法一样，也分为面向对象分析和面向对象设计两个步骤，但分析和设计时所用的概念和表示法是相同的，它把两个步骤结合在一起，不强调分析与设计之间的严格区分，不同的阶段可以交错、回溯；不过，分析和设计仍然有不同的分工和侧重点。</a:t>
            </a:r>
          </a:p>
          <a:p>
            <a:endParaRPr lang="zh-CN" altLang="en-US" dirty="0"/>
          </a:p>
          <a:p>
            <a:endParaRPr lang="zh-CN" altLang="en-US" dirty="0"/>
          </a:p>
        </p:txBody>
      </p:sp>
      <p:sp>
        <p:nvSpPr>
          <p:cNvPr id="17" name="MH_Picture_2"/>
          <p:cNvSpPr/>
          <p:nvPr>
            <p:custDataLst>
              <p:tags r:id="rId1"/>
            </p:custDataLst>
          </p:nvPr>
        </p:nvSpPr>
        <p:spPr>
          <a:xfrm>
            <a:off x="8126730" y="2628331"/>
            <a:ext cx="3298825" cy="2259965"/>
          </a:xfrm>
          <a:prstGeom prst="ellipse">
            <a:avLst/>
          </a:prstGeom>
          <a:blipFill dpi="0" rotWithShape="1">
            <a:blip r:embed="rId3"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0" name="矩形 9">
            <a:extLst>
              <a:ext uri="{FF2B5EF4-FFF2-40B4-BE49-F238E27FC236}">
                <a16:creationId xmlns:a16="http://schemas.microsoft.com/office/drawing/2014/main" id="{BEF36018-C10D-76CB-AD30-BE3520A7FBFE}"/>
              </a:ext>
            </a:extLst>
          </p:cNvPr>
          <p:cNvSpPr/>
          <p:nvPr/>
        </p:nvSpPr>
        <p:spPr>
          <a:xfrm>
            <a:off x="6911340" y="1646157"/>
            <a:ext cx="5280660" cy="1266190"/>
          </a:xfrm>
          <a:prstGeom prst="rect">
            <a:avLst/>
          </a:prstGeom>
          <a:noFill/>
          <a:ln>
            <a:noFill/>
          </a:ln>
        </p:spPr>
        <p:txBody>
          <a:bodyPr wrap="square" rtlCol="0" anchor="t">
            <a:prstTxWarp prst="textStop">
              <a:avLst/>
            </a:prstTxWarp>
            <a:spAutoFit/>
          </a:bodyPr>
          <a:lstStyle/>
          <a:p>
            <a:pPr algn="ctr"/>
            <a:r>
              <a:rPr lang="en-US" altLang="zh-CN" sz="4000" kern="0" dirty="0">
                <a:solidFill>
                  <a:schemeClr val="tx1"/>
                </a:solidFill>
                <a:latin typeface="微软雅黑" panose="020B0503020204020204" charset="-122"/>
                <a:ea typeface="微软雅黑" panose="020B0503020204020204" charset="-122"/>
                <a:cs typeface="宋体" panose="02010600030101010101" pitchFamily="2" charset="-122"/>
                <a:sym typeface="+mn-ea"/>
              </a:rPr>
              <a:t>Objected Oriented</a:t>
            </a:r>
            <a:endParaRPr lang="en-US" altLang="zh-CN" sz="4000" b="1" kern="0"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宋体" panose="02010600030101010101" pitchFamily="2" charset="-122"/>
              <a:sym typeface="+mn-ea"/>
            </a:endParaRPr>
          </a:p>
        </p:txBody>
      </p:sp>
    </p:spTree>
  </p:cSld>
  <p:clrMapOvr>
    <a:masterClrMapping/>
  </p:clrMapOvr>
  <p:transition>
    <p:wheel spokes="3"/>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endParaRPr lang="en-US" altLang="zh-CN" dirty="0"/>
          </a:p>
        </p:txBody>
      </p:sp>
      <p:sp>
        <p:nvSpPr>
          <p:cNvPr id="10" name="文本占位符 9">
            <a:extLst>
              <a:ext uri="{FF2B5EF4-FFF2-40B4-BE49-F238E27FC236}">
                <a16:creationId xmlns:a16="http://schemas.microsoft.com/office/drawing/2014/main" id="{28DA5A88-5103-35A9-5FDC-79225FB603A1}"/>
              </a:ext>
            </a:extLst>
          </p:cNvPr>
          <p:cNvSpPr>
            <a:spLocks noGrp="1"/>
          </p:cNvSpPr>
          <p:nvPr>
            <p:ph type="body" sz="quarter" idx="10"/>
          </p:nvPr>
        </p:nvSpPr>
        <p:spPr>
          <a:xfrm>
            <a:off x="360000" y="2519363"/>
            <a:ext cx="7725747" cy="2845739"/>
          </a:xfrm>
        </p:spPr>
        <p:txBody>
          <a:bodyPr>
            <a:normAutofit/>
          </a:bodyPr>
          <a:lstStyle/>
          <a:p>
            <a:r>
              <a:rPr lang="zh-CN" altLang="en-US" dirty="0"/>
              <a:t>在面向对象分析（</a:t>
            </a:r>
            <a:r>
              <a:rPr lang="en-US" altLang="zh-CN" dirty="0"/>
              <a:t>Object Oriented Analysis</a:t>
            </a:r>
            <a:r>
              <a:rPr lang="zh-CN" altLang="en-US" dirty="0"/>
              <a:t>，</a:t>
            </a:r>
            <a:r>
              <a:rPr lang="en-US" altLang="zh-CN" dirty="0"/>
              <a:t>OOA</a:t>
            </a:r>
            <a:r>
              <a:rPr lang="zh-CN" altLang="en-US" dirty="0"/>
              <a:t>）阶段考虑问题和系统责任，建立一个独立于系统实现的</a:t>
            </a:r>
            <a:r>
              <a:rPr lang="en-US" altLang="zh-CN" dirty="0"/>
              <a:t>OOA</a:t>
            </a:r>
            <a:r>
              <a:rPr lang="zh-CN" altLang="en-US" dirty="0"/>
              <a:t>模型。在分析阶段通常建立</a:t>
            </a:r>
            <a:r>
              <a:rPr lang="en-US" altLang="zh-CN" dirty="0"/>
              <a:t>3</a:t>
            </a:r>
            <a:r>
              <a:rPr lang="zh-CN" altLang="en-US" dirty="0"/>
              <a:t>种模型：对象模型、动态模型和功能模型。首先定义对象及其属性，建立对象模型。这里的对象和传统方法中的数据对象（实体）不同，需要根据问题域中的操作规则和内在性质定义对象的行为特征（服务），建立动态模型，用动态模型描述对象的生存周期。分析对象之间的关系采用封装、继承、消息通信等原则使问题域的复杂性得到控制。最后根据对象及其生存周期定义处理过程，建立功能模型。</a:t>
            </a:r>
          </a:p>
        </p:txBody>
      </p:sp>
      <p:pic>
        <p:nvPicPr>
          <p:cNvPr id="4" name="图片 3" descr="A000220150821A96PPIC"/>
          <p:cNvPicPr>
            <a:picLocks noChangeAspect="1"/>
          </p:cNvPicPr>
          <p:nvPr/>
        </p:nvPicPr>
        <p:blipFill>
          <a:blip r:embed="rId5" cstate="print"/>
          <a:stretch>
            <a:fillRect/>
          </a:stretch>
        </p:blipFill>
        <p:spPr>
          <a:xfrm>
            <a:off x="8529637" y="3214532"/>
            <a:ext cx="3302000" cy="3273425"/>
          </a:xfrm>
          <a:prstGeom prst="rect">
            <a:avLst/>
          </a:prstGeom>
        </p:spPr>
      </p:pic>
      <p:grpSp>
        <p:nvGrpSpPr>
          <p:cNvPr id="16" name="组合 15"/>
          <p:cNvGrpSpPr/>
          <p:nvPr/>
        </p:nvGrpSpPr>
        <p:grpSpPr>
          <a:xfrm flipH="1">
            <a:off x="7193915" y="1725930"/>
            <a:ext cx="5013325" cy="973455"/>
            <a:chOff x="1" y="3428100"/>
            <a:chExt cx="5013433" cy="973302"/>
          </a:xfrm>
        </p:grpSpPr>
        <p:sp>
          <p:nvSpPr>
            <p:cNvPr id="6"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面向对象分析阶段</a:t>
              </a:r>
            </a:p>
          </p:txBody>
        </p:sp>
        <p:sp>
          <p:nvSpPr>
            <p:cNvPr id="8"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Tree>
  </p:cSld>
  <p:clrMapOvr>
    <a:masterClrMapping/>
  </p:clrMapOvr>
  <p:transition>
    <p:wheel spokes="3"/>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endParaRPr lang="en-US" altLang="zh-CN" dirty="0"/>
          </a:p>
        </p:txBody>
      </p:sp>
      <p:sp>
        <p:nvSpPr>
          <p:cNvPr id="17" name="文本占位符 16">
            <a:extLst>
              <a:ext uri="{FF2B5EF4-FFF2-40B4-BE49-F238E27FC236}">
                <a16:creationId xmlns:a16="http://schemas.microsoft.com/office/drawing/2014/main" id="{4511F903-C8BC-C512-75A3-ADBB4AC3D937}"/>
              </a:ext>
            </a:extLst>
          </p:cNvPr>
          <p:cNvSpPr>
            <a:spLocks noGrp="1"/>
          </p:cNvSpPr>
          <p:nvPr>
            <p:ph type="body" sz="quarter" idx="10"/>
          </p:nvPr>
        </p:nvSpPr>
        <p:spPr>
          <a:xfrm>
            <a:off x="360000" y="2519363"/>
            <a:ext cx="7725747" cy="2845739"/>
          </a:xfrm>
        </p:spPr>
        <p:txBody>
          <a:bodyPr>
            <a:normAutofit/>
          </a:bodyPr>
          <a:lstStyle/>
          <a:p>
            <a:r>
              <a:rPr lang="zh-CN" altLang="en-US" dirty="0"/>
              <a:t>在面向对象设计（</a:t>
            </a:r>
            <a:r>
              <a:rPr lang="en-US" altLang="zh-CN" dirty="0"/>
              <a:t>Object Oriented Design</a:t>
            </a:r>
            <a:r>
              <a:rPr lang="zh-CN" altLang="en-US" dirty="0"/>
              <a:t>，</a:t>
            </a:r>
            <a:r>
              <a:rPr lang="en-US" altLang="zh-CN" dirty="0"/>
              <a:t>OOD</a:t>
            </a:r>
            <a:r>
              <a:rPr lang="zh-CN" altLang="en-US" dirty="0"/>
              <a:t>）阶段考虑与实现有关的因素，对</a:t>
            </a:r>
            <a:r>
              <a:rPr lang="en-US" altLang="zh-CN" dirty="0"/>
              <a:t>OOA</a:t>
            </a:r>
            <a:r>
              <a:rPr lang="zh-CN" altLang="en-US" dirty="0"/>
              <a:t>模型进行调整并补充与实现有关的部分，形成面向对象设计模型。</a:t>
            </a:r>
          </a:p>
          <a:p>
            <a:r>
              <a:rPr lang="zh-CN" altLang="en-US" dirty="0"/>
              <a:t>面向对象方法考虑问题的基本原则是，尽可能模拟人类习惯的思维方式。面向对象使描述问题的问题空间（也称为问题域）与实现解法的解空间（也称为求解域）在概念和表示方法上尽可能一致。面向对象方法有许多优点，是目前广泛使用的软件开发方法之一。</a:t>
            </a:r>
          </a:p>
        </p:txBody>
      </p:sp>
      <p:grpSp>
        <p:nvGrpSpPr>
          <p:cNvPr id="16" name="组合 15"/>
          <p:cNvGrpSpPr/>
          <p:nvPr/>
        </p:nvGrpSpPr>
        <p:grpSpPr>
          <a:xfrm flipH="1">
            <a:off x="7193915" y="1725930"/>
            <a:ext cx="5013325" cy="973455"/>
            <a:chOff x="1" y="3428100"/>
            <a:chExt cx="5013433" cy="973302"/>
          </a:xfrm>
        </p:grpSpPr>
        <p:sp>
          <p:nvSpPr>
            <p:cNvPr id="6"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面向对象设计阶段</a:t>
              </a:r>
            </a:p>
          </p:txBody>
        </p:sp>
        <p:sp>
          <p:nvSpPr>
            <p:cNvPr id="8"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2</a:t>
              </a:r>
            </a:p>
          </p:txBody>
        </p:sp>
        <p:sp>
          <p:nvSpPr>
            <p:cNvPr id="21"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Tree>
  </p:cSld>
  <p:clrMapOvr>
    <a:masterClrMapping/>
  </p:clrMapOvr>
  <p:transition>
    <p:wheel spokes="3"/>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AAC26BAE-2B01-D3EB-3BA9-915D9D665061}"/>
              </a:ext>
            </a:extLst>
          </p:cNvPr>
          <p:cNvSpPr>
            <a:spLocks noGrp="1"/>
          </p:cNvSpPr>
          <p:nvPr>
            <p:ph type="body" sz="quarter" idx="10"/>
          </p:nvPr>
        </p:nvSpPr>
        <p:spPr>
          <a:xfrm>
            <a:off x="900001" y="1322832"/>
            <a:ext cx="5196000" cy="400110"/>
          </a:xfrm>
        </p:spPr>
        <p:txBody>
          <a:bodyPr/>
          <a:lstStyle/>
          <a:p>
            <a:r>
              <a:rPr lang="en-US" altLang="zh-CN"/>
              <a:t>6.1.1 </a:t>
            </a:r>
            <a:r>
              <a:rPr lang="en-US" altLang="zh-CN">
                <a:sym typeface="+mn-ea"/>
              </a:rPr>
              <a:t>面向对象方法的要素和优点</a:t>
            </a:r>
            <a:endParaRPr lang="en-US" altLang="zh-CN" dirty="0"/>
          </a:p>
        </p:txBody>
      </p:sp>
      <p:grpSp>
        <p:nvGrpSpPr>
          <p:cNvPr id="9" name="组合 8"/>
          <p:cNvGrpSpPr/>
          <p:nvPr/>
        </p:nvGrpSpPr>
        <p:grpSpPr>
          <a:xfrm>
            <a:off x="620396" y="1403350"/>
            <a:ext cx="11249660" cy="4598672"/>
            <a:chOff x="450350" y="1099955"/>
            <a:chExt cx="11249597" cy="4598538"/>
          </a:xfrm>
        </p:grpSpPr>
        <p:sp>
          <p:nvSpPr>
            <p:cNvPr id="10" name="MH_Other_1"/>
            <p:cNvSpPr/>
            <p:nvPr>
              <p:custDataLst>
                <p:tags r:id="rId2"/>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11" name="MH_Other_2"/>
            <p:cNvSpPr/>
            <p:nvPr>
              <p:custDataLst>
                <p:tags r:id="rId3"/>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2" name="MH_Other_3"/>
            <p:cNvSpPr/>
            <p:nvPr>
              <p:custDataLst>
                <p:tags r:id="rId4"/>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3" name="MH_Other_4"/>
            <p:cNvSpPr/>
            <p:nvPr>
              <p:custDataLst>
                <p:tags r:id="rId5"/>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14" name="MH_Other_6"/>
            <p:cNvCxnSpPr/>
            <p:nvPr>
              <p:custDataLst>
                <p:tags r:id="rId6"/>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MH_Text_2"/>
            <p:cNvSpPr txBox="1">
              <a:spLocks noChangeArrowheads="1"/>
            </p:cNvSpPr>
            <p:nvPr>
              <p:custDataLst>
                <p:tags r:id="rId7"/>
              </p:custDataLst>
            </p:nvPr>
          </p:nvSpPr>
          <p:spPr bwMode="auto">
            <a:xfrm>
              <a:off x="7379431" y="2888698"/>
              <a:ext cx="4320516" cy="137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latin typeface="微软雅黑" panose="020B0503020204020204" charset="-122"/>
                  <a:ea typeface="微软雅黑" panose="020B0503020204020204" charset="-122"/>
                  <a:sym typeface="+mn-ea"/>
                </a:rPr>
                <a:t>面向对象方法认为客观世界是由各种对象组成的，任何事物都是对象，复杂对象由简单对象组成。把面向对象实体抽象为问题域中的对象，用对象分解取代了传统的功能分解。</a:t>
              </a:r>
              <a:endParaRPr>
                <a:latin typeface="微软雅黑" panose="020B0503020204020204" charset="-122"/>
                <a:ea typeface="微软雅黑" panose="020B0503020204020204" charset="-122"/>
              </a:endParaRPr>
            </a:p>
            <a:p>
              <a:pPr indent="457200" algn="just">
                <a:lnSpc>
                  <a:spcPct val="120000"/>
                </a:lnSpc>
                <a:defRPr/>
              </a:pPr>
              <a:endParaRPr>
                <a:latin typeface="微软雅黑" panose="020B0503020204020204" charset="-122"/>
                <a:ea typeface="微软雅黑" panose="020B0503020204020204" charset="-122"/>
                <a:sym typeface="+mn-ea"/>
              </a:endParaRPr>
            </a:p>
          </p:txBody>
        </p:sp>
        <p:sp>
          <p:nvSpPr>
            <p:cNvPr id="17" name="MH_SubTitle_2"/>
            <p:cNvSpPr txBox="1">
              <a:spLocks noChangeArrowheads="1"/>
            </p:cNvSpPr>
            <p:nvPr>
              <p:custDataLst>
                <p:tags r:id="rId8"/>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8" name="MH_Other_7"/>
            <p:cNvSpPr txBox="1">
              <a:spLocks noChangeArrowheads="1"/>
            </p:cNvSpPr>
            <p:nvPr>
              <p:custDataLst>
                <p:tags r:id="rId9"/>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1</a:t>
              </a:r>
            </a:p>
          </p:txBody>
        </p:sp>
        <p:sp>
          <p:nvSpPr>
            <p:cNvPr id="19" name="MH_Text_1"/>
            <p:cNvSpPr txBox="1">
              <a:spLocks noChangeArrowheads="1"/>
            </p:cNvSpPr>
            <p:nvPr>
              <p:custDataLst>
                <p:tags r:id="rId10"/>
              </p:custDataLst>
            </p:nvPr>
          </p:nvSpPr>
          <p:spPr bwMode="auto">
            <a:xfrm>
              <a:off x="450350" y="3942133"/>
              <a:ext cx="4359251" cy="1520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l" fontAlgn="auto">
                <a:lnSpc>
                  <a:spcPct val="120000"/>
                </a:lnSpc>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把所有对象都划分成各种对象类，每个对象类都定义了一组数据和一组方法。其中，数据用于表示对象的静态属性，是对象的状态信息。方法是允许施加于该类对象上的操作，是该类所有对象共享的。</a:t>
              </a:r>
            </a:p>
          </p:txBody>
        </p:sp>
        <p:sp>
          <p:nvSpPr>
            <p:cNvPr id="20" name="MH_SubTitle_1"/>
            <p:cNvSpPr txBox="1">
              <a:spLocks noChangeArrowheads="1"/>
            </p:cNvSpPr>
            <p:nvPr>
              <p:custDataLst>
                <p:tags r:id="rId11"/>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21" name="MH_Other_8"/>
            <p:cNvSpPr txBox="1">
              <a:spLocks noChangeArrowheads="1"/>
            </p:cNvSpPr>
            <p:nvPr>
              <p:custDataLst>
                <p:tags r:id="rId12"/>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2</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22" name="MH_Other_5"/>
            <p:cNvCxnSpPr/>
            <p:nvPr>
              <p:custDataLst>
                <p:tags r:id="rId13"/>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3" name="文本框 22"/>
          <p:cNvSpPr txBox="1"/>
          <p:nvPr/>
        </p:nvSpPr>
        <p:spPr>
          <a:xfrm>
            <a:off x="8036560" y="2811780"/>
            <a:ext cx="1828800" cy="365760"/>
          </a:xfrm>
          <a:prstGeom prst="rect">
            <a:avLst/>
          </a:prstGeom>
          <a:noFill/>
        </p:spPr>
        <p:txBody>
          <a:bodyPr wrap="square" rtlCol="0">
            <a:spAutoFit/>
          </a:bodyPr>
          <a:lstStyle/>
          <a:p>
            <a:r>
              <a:rPr lang="zh-CN" altLang="en-US" b="1">
                <a:solidFill>
                  <a:schemeClr val="accent2">
                    <a:lumMod val="75000"/>
                  </a:schemeClr>
                </a:solidFill>
              </a:rPr>
              <a:t>对象</a:t>
            </a:r>
          </a:p>
        </p:txBody>
      </p:sp>
      <p:sp>
        <p:nvSpPr>
          <p:cNvPr id="24" name="文本框 4"/>
          <p:cNvSpPr txBox="1">
            <a:spLocks noChangeArrowheads="1"/>
          </p:cNvSpPr>
          <p:nvPr>
            <p:custDataLst>
              <p:tags r:id="rId1"/>
            </p:custDataLst>
          </p:nvPr>
        </p:nvSpPr>
        <p:spPr bwMode="auto">
          <a:xfrm>
            <a:off x="2551163" y="3784082"/>
            <a:ext cx="1648415" cy="36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l" eaLnBrk="1" hangingPunct="1">
              <a:spcBef>
                <a:spcPct val="0"/>
              </a:spcBef>
              <a:buFontTx/>
              <a:buNone/>
            </a:pPr>
            <a:r>
              <a:rPr lang="zh-CN" altLang="en-US" sz="1800" b="1">
                <a:solidFill>
                  <a:schemeClr val="accent4">
                    <a:lumMod val="75000"/>
                  </a:schemeClr>
                </a:solidFill>
                <a:latin typeface="+mj-lt"/>
                <a:ea typeface="+mj-ea"/>
                <a:cs typeface="+mj-cs"/>
              </a:rPr>
              <a:t>类</a:t>
            </a:r>
          </a:p>
        </p:txBody>
      </p:sp>
      <p:sp>
        <p:nvSpPr>
          <p:cNvPr id="30" name="Rectangle 1">
            <a:extLst>
              <a:ext uri="{FF2B5EF4-FFF2-40B4-BE49-F238E27FC236}">
                <a16:creationId xmlns:a16="http://schemas.microsoft.com/office/drawing/2014/main" id="{7B9A1943-19CF-197D-6DF8-613AC6773CBD}"/>
              </a:ext>
            </a:extLst>
          </p:cNvPr>
          <p:cNvSpPr>
            <a:spLocks noChangeArrowheads="1"/>
          </p:cNvSpPr>
          <p:nvPr/>
        </p:nvSpPr>
        <p:spPr bwMode="auto">
          <a:xfrm>
            <a:off x="600218" y="2056130"/>
            <a:ext cx="3692525" cy="400110"/>
          </a:xfrm>
          <a:prstGeom prst="rect">
            <a:avLst/>
          </a:prstGeom>
          <a:noFill/>
          <a:ln w="9525">
            <a:noFill/>
            <a:miter lim="800000"/>
          </a:ln>
          <a:effectLst/>
        </p:spPr>
        <p:txBody>
          <a:bodyPr vert="horz" wrap="square" lIns="91440" tIns="45720" rIns="91440" bIns="45720" numCol="1" anchor="ctr" anchorCtr="0" compatLnSpc="1">
            <a:spAutoFit/>
          </a:bodyPr>
          <a:lstStyle/>
          <a:p>
            <a:pPr lvl="0" indent="269875" fontAlgn="base">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sym typeface="+mn-ea"/>
              </a:rPr>
              <a:t>面向对象方法</a:t>
            </a:r>
            <a:r>
              <a:rPr lang="zh-CN" altLang="en-US" sz="2000" b="1" dirty="0">
                <a:latin typeface="微软雅黑" panose="020B0503020204020204" charset="-122"/>
                <a:ea typeface="微软雅黑" panose="020B0503020204020204" charset="-122"/>
                <a:sym typeface="+mn-ea"/>
              </a:rPr>
              <a:t>的要素：</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wheel spokes="3"/>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7" name="文本占位符 6">
            <a:extLst>
              <a:ext uri="{FF2B5EF4-FFF2-40B4-BE49-F238E27FC236}">
                <a16:creationId xmlns:a16="http://schemas.microsoft.com/office/drawing/2014/main" id="{11340C45-B18E-A46C-501C-F49B08AFB9D8}"/>
              </a:ext>
            </a:extLst>
          </p:cNvPr>
          <p:cNvSpPr>
            <a:spLocks noGrp="1"/>
          </p:cNvSpPr>
          <p:nvPr>
            <p:ph type="body" sz="quarter" idx="10"/>
          </p:nvPr>
        </p:nvSpPr>
        <p:spPr>
          <a:xfrm>
            <a:off x="900001" y="1322832"/>
            <a:ext cx="5196000" cy="400110"/>
          </a:xfrm>
        </p:spPr>
        <p:txBody>
          <a:bodyPr/>
          <a:lstStyle/>
          <a:p>
            <a:r>
              <a:rPr lang="en-US" altLang="zh-CN"/>
              <a:t>6.1.1 </a:t>
            </a:r>
            <a:r>
              <a:rPr lang="en-US" altLang="zh-CN">
                <a:sym typeface="+mn-ea"/>
              </a:rPr>
              <a:t>面向对象方法的要素和优点</a:t>
            </a:r>
            <a:endParaRPr lang="en-US" altLang="zh-CN" dirty="0"/>
          </a:p>
        </p:txBody>
      </p:sp>
      <p:grpSp>
        <p:nvGrpSpPr>
          <p:cNvPr id="9" name="组合 8"/>
          <p:cNvGrpSpPr/>
          <p:nvPr/>
        </p:nvGrpSpPr>
        <p:grpSpPr>
          <a:xfrm>
            <a:off x="208916" y="1281430"/>
            <a:ext cx="11630025" cy="4598672"/>
            <a:chOff x="450350" y="1099955"/>
            <a:chExt cx="11629960" cy="4598538"/>
          </a:xfrm>
        </p:grpSpPr>
        <p:sp>
          <p:nvSpPr>
            <p:cNvPr id="10" name="MH_Other_1"/>
            <p:cNvSpPr/>
            <p:nvPr>
              <p:custDataLst>
                <p:tags r:id="rId2"/>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11" name="MH_Other_2"/>
            <p:cNvSpPr/>
            <p:nvPr>
              <p:custDataLst>
                <p:tags r:id="rId3"/>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2" name="MH_Other_3"/>
            <p:cNvSpPr/>
            <p:nvPr>
              <p:custDataLst>
                <p:tags r:id="rId4"/>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3" name="MH_Other_4"/>
            <p:cNvSpPr/>
            <p:nvPr>
              <p:custDataLst>
                <p:tags r:id="rId5"/>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14" name="MH_Other_6"/>
            <p:cNvCxnSpPr/>
            <p:nvPr>
              <p:custDataLst>
                <p:tags r:id="rId6"/>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MH_Text_2"/>
            <p:cNvSpPr txBox="1">
              <a:spLocks noChangeArrowheads="1"/>
            </p:cNvSpPr>
            <p:nvPr>
              <p:custDataLst>
                <p:tags r:id="rId7"/>
              </p:custDataLst>
            </p:nvPr>
          </p:nvSpPr>
          <p:spPr bwMode="auto">
            <a:xfrm>
              <a:off x="7379431" y="2888698"/>
              <a:ext cx="4700879" cy="137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latin typeface="微软雅黑" panose="020B0503020204020204" charset="-122"/>
                  <a:ea typeface="微软雅黑" panose="020B0503020204020204" charset="-122"/>
                  <a:sym typeface="+mn-ea"/>
                </a:rPr>
                <a:t>按照父类（或称为基类）与子类（或称为派生类）的关系，把若干对象类组成一个层次结构的系统（也称为类等级）</a:t>
              </a:r>
              <a:r>
                <a:rPr lang="zh-CN">
                  <a:latin typeface="微软雅黑" panose="020B0503020204020204" charset="-122"/>
                  <a:ea typeface="微软雅黑" panose="020B0503020204020204" charset="-122"/>
                  <a:sym typeface="+mn-ea"/>
                </a:rPr>
                <a:t>。</a:t>
              </a:r>
              <a:r>
                <a:rPr>
                  <a:latin typeface="微软雅黑" panose="020B0503020204020204" charset="-122"/>
                  <a:ea typeface="微软雅黑" panose="020B0503020204020204" charset="-122"/>
                  <a:sym typeface="+mn-ea"/>
                </a:rPr>
                <a:t>在层次结构中，下层的派生类具有和上层的基类相同的特性（包括数据和方法），称为继承。</a:t>
              </a:r>
            </a:p>
          </p:txBody>
        </p:sp>
        <p:sp>
          <p:nvSpPr>
            <p:cNvPr id="17" name="MH_SubTitle_2"/>
            <p:cNvSpPr txBox="1">
              <a:spLocks noChangeArrowheads="1"/>
            </p:cNvSpPr>
            <p:nvPr>
              <p:custDataLst>
                <p:tags r:id="rId8"/>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8" name="MH_Other_7"/>
            <p:cNvSpPr txBox="1">
              <a:spLocks noChangeArrowheads="1"/>
            </p:cNvSpPr>
            <p:nvPr>
              <p:custDataLst>
                <p:tags r:id="rId9"/>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3</a:t>
              </a:r>
            </a:p>
          </p:txBody>
        </p:sp>
        <p:sp>
          <p:nvSpPr>
            <p:cNvPr id="19" name="MH_Text_1"/>
            <p:cNvSpPr txBox="1">
              <a:spLocks noChangeArrowheads="1"/>
            </p:cNvSpPr>
            <p:nvPr>
              <p:custDataLst>
                <p:tags r:id="rId10"/>
              </p:custDataLst>
            </p:nvPr>
          </p:nvSpPr>
          <p:spPr bwMode="auto">
            <a:xfrm>
              <a:off x="450350" y="3942133"/>
              <a:ext cx="4359251" cy="1520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l" fontAlgn="auto">
                <a:lnSpc>
                  <a:spcPct val="120000"/>
                </a:lnSpc>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对象彼此之间仅能通过传递消息相互联系。对象与传统数据的本质区别是，它不是被动地等待外界对它施加操作，而是必须发消息请求执行某个操作，处理它的数据。对象是处理的主体，外界不能直接对它的数据进行操作。</a:t>
              </a:r>
            </a:p>
          </p:txBody>
        </p:sp>
        <p:sp>
          <p:nvSpPr>
            <p:cNvPr id="20" name="MH_SubTitle_1"/>
            <p:cNvSpPr txBox="1">
              <a:spLocks noChangeArrowheads="1"/>
            </p:cNvSpPr>
            <p:nvPr>
              <p:custDataLst>
                <p:tags r:id="rId11"/>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21" name="MH_Other_8"/>
            <p:cNvSpPr txBox="1">
              <a:spLocks noChangeArrowheads="1"/>
            </p:cNvSpPr>
            <p:nvPr>
              <p:custDataLst>
                <p:tags r:id="rId12"/>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4</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22" name="MH_Other_5"/>
            <p:cNvCxnSpPr/>
            <p:nvPr>
              <p:custDataLst>
                <p:tags r:id="rId13"/>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3" name="文本框 22"/>
          <p:cNvSpPr txBox="1"/>
          <p:nvPr/>
        </p:nvSpPr>
        <p:spPr>
          <a:xfrm>
            <a:off x="8051800" y="2729865"/>
            <a:ext cx="1828800" cy="365760"/>
          </a:xfrm>
          <a:prstGeom prst="rect">
            <a:avLst/>
          </a:prstGeom>
          <a:noFill/>
        </p:spPr>
        <p:txBody>
          <a:bodyPr wrap="square" rtlCol="0">
            <a:spAutoFit/>
          </a:bodyPr>
          <a:lstStyle/>
          <a:p>
            <a:r>
              <a:rPr lang="zh-CN" altLang="en-US" b="1">
                <a:solidFill>
                  <a:schemeClr val="accent2">
                    <a:lumMod val="75000"/>
                  </a:schemeClr>
                </a:solidFill>
              </a:rPr>
              <a:t>继承</a:t>
            </a:r>
          </a:p>
        </p:txBody>
      </p:sp>
      <p:sp>
        <p:nvSpPr>
          <p:cNvPr id="24" name="文本框 4"/>
          <p:cNvSpPr txBox="1">
            <a:spLocks noChangeArrowheads="1"/>
          </p:cNvSpPr>
          <p:nvPr>
            <p:custDataLst>
              <p:tags r:id="rId1"/>
            </p:custDataLst>
          </p:nvPr>
        </p:nvSpPr>
        <p:spPr bwMode="auto">
          <a:xfrm>
            <a:off x="2551163" y="3784082"/>
            <a:ext cx="1648415" cy="36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l" eaLnBrk="1" hangingPunct="1">
              <a:spcBef>
                <a:spcPct val="0"/>
              </a:spcBef>
              <a:buFontTx/>
              <a:buNone/>
            </a:pPr>
            <a:r>
              <a:rPr lang="zh-CN" altLang="en-US" sz="1800" b="1">
                <a:solidFill>
                  <a:schemeClr val="accent4">
                    <a:lumMod val="75000"/>
                  </a:schemeClr>
                </a:solidFill>
                <a:latin typeface="+mj-lt"/>
                <a:ea typeface="+mj-ea"/>
                <a:cs typeface="+mj-cs"/>
              </a:rPr>
              <a:t>用消息通信</a:t>
            </a:r>
          </a:p>
        </p:txBody>
      </p:sp>
      <p:grpSp>
        <p:nvGrpSpPr>
          <p:cNvPr id="2" name="组合 1"/>
          <p:cNvGrpSpPr/>
          <p:nvPr/>
        </p:nvGrpSpPr>
        <p:grpSpPr>
          <a:xfrm>
            <a:off x="6096635" y="487680"/>
            <a:ext cx="5738495" cy="1250315"/>
            <a:chOff x="881" y="2735"/>
            <a:chExt cx="9037" cy="1969"/>
          </a:xfrm>
        </p:grpSpPr>
        <p:sp>
          <p:nvSpPr>
            <p:cNvPr id="167" name="圆角矩形"/>
            <p:cNvSpPr/>
            <p:nvPr/>
          </p:nvSpPr>
          <p:spPr>
            <a:xfrm>
              <a:off x="1188" y="3071"/>
              <a:ext cx="8687" cy="156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5" name="文本框 4"/>
            <p:cNvSpPr txBox="1"/>
            <p:nvPr/>
          </p:nvSpPr>
          <p:spPr>
            <a:xfrm>
              <a:off x="1224" y="3006"/>
              <a:ext cx="8694" cy="1698"/>
            </a:xfrm>
            <a:prstGeom prst="rect">
              <a:avLst/>
            </a:prstGeom>
            <a:noFill/>
          </p:spPr>
          <p:txBody>
            <a:bodyPr wrap="square" rtlCol="0">
              <a:spAutoFit/>
            </a:bodyPr>
            <a:lstStyle/>
            <a:p>
              <a:pPr algn="l" fontAlgn="auto">
                <a:lnSpc>
                  <a:spcPct val="12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对象的信息都被封装在该对象类的定义中，必须发消息请求执行它的某个操作，处理它的数据，不能从外界直接对它的数据进行操作，这就是封装性。</a:t>
              </a:r>
              <a:endParaRPr lang="zh-CN" dirty="0">
                <a:solidFill>
                  <a:schemeClr val="tx1"/>
                </a:solidFill>
                <a:latin typeface="微软雅黑" panose="020B0503020204020204" charset="-122"/>
                <a:ea typeface="微软雅黑" panose="020B0503020204020204" charset="-122"/>
                <a:sym typeface="+mn-ea"/>
              </a:endParaRPr>
            </a:p>
          </p:txBody>
        </p:sp>
      </p:grpSp>
      <p:sp>
        <p:nvSpPr>
          <p:cNvPr id="26" name="Rectangle 1">
            <a:extLst>
              <a:ext uri="{FF2B5EF4-FFF2-40B4-BE49-F238E27FC236}">
                <a16:creationId xmlns:a16="http://schemas.microsoft.com/office/drawing/2014/main" id="{992298A5-4CEF-5D5A-DF08-42C313D63A45}"/>
              </a:ext>
            </a:extLst>
          </p:cNvPr>
          <p:cNvSpPr>
            <a:spLocks noChangeArrowheads="1"/>
          </p:cNvSpPr>
          <p:nvPr/>
        </p:nvSpPr>
        <p:spPr bwMode="auto">
          <a:xfrm>
            <a:off x="600218" y="2056130"/>
            <a:ext cx="3692525" cy="400110"/>
          </a:xfrm>
          <a:prstGeom prst="rect">
            <a:avLst/>
          </a:prstGeom>
          <a:noFill/>
          <a:ln w="9525">
            <a:noFill/>
            <a:miter lim="800000"/>
          </a:ln>
          <a:effectLst/>
        </p:spPr>
        <p:txBody>
          <a:bodyPr vert="horz" wrap="square" lIns="91440" tIns="45720" rIns="91440" bIns="45720" numCol="1" anchor="ctr" anchorCtr="0" compatLnSpc="1">
            <a:spAutoFit/>
          </a:bodyPr>
          <a:lstStyle/>
          <a:p>
            <a:pPr lvl="0" indent="269875" fontAlgn="base">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sym typeface="+mn-ea"/>
              </a:rPr>
              <a:t>面向对象方法</a:t>
            </a:r>
            <a:r>
              <a:rPr lang="zh-CN" altLang="en-US" sz="2000" b="1" dirty="0">
                <a:latin typeface="微软雅黑" panose="020B0503020204020204" charset="-122"/>
                <a:ea typeface="微软雅黑" panose="020B0503020204020204" charset="-122"/>
                <a:sym typeface="+mn-ea"/>
              </a:rPr>
              <a:t>的要素：</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wheel spokes="3"/>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DFD83F7C-6429-6030-5067-8869421C0798}"/>
              </a:ext>
            </a:extLst>
          </p:cNvPr>
          <p:cNvSpPr>
            <a:spLocks noGrp="1"/>
          </p:cNvSpPr>
          <p:nvPr>
            <p:ph type="body" sz="quarter" idx="10"/>
          </p:nvPr>
        </p:nvSpPr>
        <p:spPr>
          <a:xfrm>
            <a:off x="900001" y="1322832"/>
            <a:ext cx="5196000" cy="400110"/>
          </a:xfrm>
        </p:spPr>
        <p:txBody>
          <a:bodyPr/>
          <a:lstStyle/>
          <a:p>
            <a:r>
              <a:rPr lang="en-US" altLang="zh-CN"/>
              <a:t>6.1.1 </a:t>
            </a:r>
            <a:r>
              <a:rPr lang="en-US" altLang="zh-CN">
                <a:sym typeface="+mn-ea"/>
              </a:rPr>
              <a:t>面向对象方法的要素和优点</a:t>
            </a:r>
            <a:endParaRPr lang="en-US" altLang="zh-CN" dirty="0"/>
          </a:p>
        </p:txBody>
      </p:sp>
      <p:pic>
        <p:nvPicPr>
          <p:cNvPr id="13" name="图片 12"/>
          <p:cNvPicPr>
            <a:picLocks noChangeAspect="1"/>
          </p:cNvPicPr>
          <p:nvPr/>
        </p:nvPicPr>
        <p:blipFill>
          <a:blip r:embed="rId2" cstate="print"/>
          <a:stretch>
            <a:fillRect/>
          </a:stretch>
        </p:blipFill>
        <p:spPr>
          <a:xfrm>
            <a:off x="8311487" y="1494724"/>
            <a:ext cx="3879246" cy="1533874"/>
          </a:xfrm>
          <a:prstGeom prst="rect">
            <a:avLst/>
          </a:prstGeom>
        </p:spPr>
      </p:pic>
      <p:sp>
        <p:nvSpPr>
          <p:cNvPr id="9" name="文本框 8"/>
          <p:cNvSpPr txBox="1"/>
          <p:nvPr/>
        </p:nvSpPr>
        <p:spPr>
          <a:xfrm>
            <a:off x="590550" y="3138988"/>
            <a:ext cx="11011535" cy="2463110"/>
          </a:xfrm>
          <a:prstGeom prst="rect">
            <a:avLst/>
          </a:prstGeom>
          <a:noFill/>
        </p:spPr>
        <p:txBody>
          <a:bodyPr wrap="square" rtlCol="0" anchor="t">
            <a:spAutoFit/>
          </a:bodyPr>
          <a:lstStyle/>
          <a:p>
            <a:pPr fontAlgn="auto">
              <a:lnSpc>
                <a:spcPct val="120000"/>
              </a:lnSpc>
            </a:pPr>
            <a:r>
              <a:rPr lang="zh-CN" altLang="en-US" dirty="0"/>
              <a:t>综上所述，面向对象就是使用对象、类和继承机制，并且对象之间仅能通过传递消息实现彼此通信。可以用下列方程来概括：</a:t>
            </a:r>
          </a:p>
          <a:p>
            <a:pPr indent="0" fontAlgn="auto">
              <a:lnSpc>
                <a:spcPct val="120000"/>
              </a:lnSpc>
              <a:buFont typeface="Arial" panose="020B0604020202020204" pitchFamily="34" charset="0"/>
              <a:buNone/>
            </a:pPr>
            <a:r>
              <a:rPr lang="zh-CN" altLang="en-US" dirty="0"/>
              <a:t>                                    OO＝Objects＋Classes＋Inheritance＋Communication with Messages</a:t>
            </a:r>
          </a:p>
          <a:p>
            <a:pPr indent="0" fontAlgn="auto">
              <a:lnSpc>
                <a:spcPct val="120000"/>
              </a:lnSpc>
              <a:buFont typeface="Arial" panose="020B0604020202020204" pitchFamily="34" charset="0"/>
              <a:buNone/>
            </a:pPr>
            <a:r>
              <a:rPr lang="zh-CN" altLang="en-US" dirty="0"/>
              <a:t>                                                （面向对象＝对象＋类＋继承＋用消息通信）</a:t>
            </a:r>
          </a:p>
          <a:p>
            <a:pPr fontAlgn="auto">
              <a:lnSpc>
                <a:spcPct val="120000"/>
              </a:lnSpc>
            </a:pPr>
            <a:r>
              <a:rPr lang="zh-CN" altLang="en-US" dirty="0"/>
              <a:t>仅使用对象和消息的方法，称为基于对象的方法（Object-based），不能称为面向对象方法。</a:t>
            </a:r>
          </a:p>
          <a:p>
            <a:pPr fontAlgn="auto">
              <a:lnSpc>
                <a:spcPct val="120000"/>
              </a:lnSpc>
            </a:pPr>
            <a:r>
              <a:rPr lang="zh-CN" altLang="en-US" dirty="0"/>
              <a:t>使用对象、消息和类的方法，称为基于类的方法（Class-based），也不能称为面向对象方法。</a:t>
            </a:r>
          </a:p>
          <a:p>
            <a:pPr fontAlgn="auto">
              <a:lnSpc>
                <a:spcPct val="120000"/>
              </a:lnSpc>
            </a:pPr>
            <a:r>
              <a:rPr lang="zh-CN" altLang="en-US" dirty="0"/>
              <a:t>只有同时使用对象、类、继承和消息的方法，才是面向对象的方法。</a:t>
            </a:r>
          </a:p>
        </p:txBody>
      </p:sp>
      <p:sp>
        <p:nvSpPr>
          <p:cNvPr id="7" name="Rectangle 1">
            <a:extLst>
              <a:ext uri="{FF2B5EF4-FFF2-40B4-BE49-F238E27FC236}">
                <a16:creationId xmlns:a16="http://schemas.microsoft.com/office/drawing/2014/main" id="{8EFCDBD5-6E0D-E4CD-C2C4-5F1A34F9F330}"/>
              </a:ext>
            </a:extLst>
          </p:cNvPr>
          <p:cNvSpPr>
            <a:spLocks noChangeArrowheads="1"/>
          </p:cNvSpPr>
          <p:nvPr/>
        </p:nvSpPr>
        <p:spPr bwMode="auto">
          <a:xfrm>
            <a:off x="600218" y="2056130"/>
            <a:ext cx="3692525" cy="400110"/>
          </a:xfrm>
          <a:prstGeom prst="rect">
            <a:avLst/>
          </a:prstGeom>
          <a:noFill/>
          <a:ln w="9525">
            <a:noFill/>
            <a:miter lim="800000"/>
          </a:ln>
          <a:effectLst/>
        </p:spPr>
        <p:txBody>
          <a:bodyPr vert="horz" wrap="square" lIns="91440" tIns="45720" rIns="91440" bIns="45720" numCol="1" anchor="ctr" anchorCtr="0" compatLnSpc="1">
            <a:spAutoFit/>
          </a:bodyPr>
          <a:lstStyle/>
          <a:p>
            <a:pPr lvl="0" indent="269875" fontAlgn="base">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sym typeface="+mn-ea"/>
              </a:rPr>
              <a:t>面向对象方法</a:t>
            </a:r>
            <a:r>
              <a:rPr lang="zh-CN" altLang="en-US" sz="2000" b="1" dirty="0">
                <a:latin typeface="微软雅黑" panose="020B0503020204020204" charset="-122"/>
                <a:ea typeface="微软雅黑" panose="020B0503020204020204" charset="-122"/>
                <a:sym typeface="+mn-ea"/>
              </a:rPr>
              <a:t>的要素：</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wheel spokes="3"/>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7" name="文本占位符 6">
            <a:extLst>
              <a:ext uri="{FF2B5EF4-FFF2-40B4-BE49-F238E27FC236}">
                <a16:creationId xmlns:a16="http://schemas.microsoft.com/office/drawing/2014/main" id="{BBD4D877-341A-4DFD-37F6-0080E55B2DE7}"/>
              </a:ext>
            </a:extLst>
          </p:cNvPr>
          <p:cNvSpPr>
            <a:spLocks noGrp="1"/>
          </p:cNvSpPr>
          <p:nvPr>
            <p:ph type="body" sz="quarter" idx="10"/>
          </p:nvPr>
        </p:nvSpPr>
        <p:spPr>
          <a:xfrm>
            <a:off x="900001" y="1322832"/>
            <a:ext cx="5196000" cy="400110"/>
          </a:xfrm>
        </p:spPr>
        <p:txBody>
          <a:bodyPr/>
          <a:lstStyle/>
          <a:p>
            <a:r>
              <a:rPr lang="en-US" altLang="zh-CN"/>
              <a:t>6.1.1 </a:t>
            </a:r>
            <a:r>
              <a:rPr lang="en-US" altLang="zh-CN">
                <a:sym typeface="+mn-ea"/>
              </a:rPr>
              <a:t>面向对象方法的要素和优点</a:t>
            </a:r>
            <a:endParaRPr lang="en-US" altLang="zh-CN" dirty="0"/>
          </a:p>
        </p:txBody>
      </p:sp>
      <p:sp>
        <p:nvSpPr>
          <p:cNvPr id="21" name="TextBox 1"/>
          <p:cNvSpPr txBox="1">
            <a:spLocks noChangeArrowheads="1"/>
          </p:cNvSpPr>
          <p:nvPr/>
        </p:nvSpPr>
        <p:spPr bwMode="auto">
          <a:xfrm>
            <a:off x="1459865" y="2612595"/>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1459865" y="2612595"/>
            <a:ext cx="590555" cy="590622"/>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1912307" y="2707857"/>
            <a:ext cx="1279203" cy="9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与人类习惯的思维方法一致</a:t>
            </a:r>
          </a:p>
        </p:txBody>
      </p:sp>
      <p:sp>
        <p:nvSpPr>
          <p:cNvPr id="24" name="矩形 8"/>
          <p:cNvSpPr>
            <a:spLocks noChangeArrowheads="1"/>
          </p:cNvSpPr>
          <p:nvPr/>
        </p:nvSpPr>
        <p:spPr bwMode="auto">
          <a:xfrm>
            <a:off x="3301365" y="2514805"/>
            <a:ext cx="7920000" cy="1911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5000"/>
              </a:lnSpc>
            </a:pPr>
            <a:r>
              <a:rPr sz="1600" dirty="0"/>
              <a:t>传统的程序设计技术是面向过程的设计方法，以算法为核心，把数据和过程作为相互独立的部分，数据代表问题空间中的客体，程序代码用于处理数据。这样，忽略了数据和操作之间的内在联系，问题空间和解空间并不一致。</a:t>
            </a:r>
          </a:p>
          <a:p>
            <a:pPr>
              <a:lnSpc>
                <a:spcPct val="125000"/>
              </a:lnSpc>
            </a:pPr>
            <a:r>
              <a:rPr sz="1600" dirty="0"/>
              <a:t>面向对象技术以对象为核心，尽可能接近人类习惯的抽象思维方法，描述问题空间和描述解空间尽可能一致。对象分类、从特殊到一般、建立类等级、获得继承等开发过程，符合人类认识世界、解决问题的过程。</a:t>
            </a:r>
          </a:p>
        </p:txBody>
      </p:sp>
      <p:sp>
        <p:nvSpPr>
          <p:cNvPr id="25" name="TextBox 10"/>
          <p:cNvSpPr txBox="1">
            <a:spLocks noChangeArrowheads="1"/>
          </p:cNvSpPr>
          <p:nvPr/>
        </p:nvSpPr>
        <p:spPr bwMode="auto">
          <a:xfrm>
            <a:off x="1460500" y="4952320"/>
            <a:ext cx="355730" cy="521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6" name="直接连接符 25"/>
          <p:cNvCxnSpPr/>
          <p:nvPr/>
        </p:nvCxnSpPr>
        <p:spPr>
          <a:xfrm flipH="1">
            <a:off x="1460500" y="4952320"/>
            <a:ext cx="581488"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1901305" y="5047570"/>
            <a:ext cx="1217211" cy="3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稳定性好</a:t>
            </a:r>
          </a:p>
        </p:txBody>
      </p:sp>
      <p:sp>
        <p:nvSpPr>
          <p:cNvPr id="28" name="矩形 9"/>
          <p:cNvSpPr>
            <a:spLocks noChangeArrowheads="1"/>
          </p:cNvSpPr>
          <p:nvPr/>
        </p:nvSpPr>
        <p:spPr bwMode="auto">
          <a:xfrm>
            <a:off x="3306074" y="4809445"/>
            <a:ext cx="7920000" cy="1022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5000"/>
              </a:lnSpc>
            </a:pPr>
            <a:r>
              <a:rPr lang="zh-CN" altLang="en-US" sz="1600" dirty="0"/>
              <a:t>面向对象方法用对象模拟问题域中的实体，以对象间的联系刻画实体间的联系。当系统的功能需求变化时不会引起软件结构的整体变化，只需进行局部的修改。由于现实世界中的实体是相对稳定的，因而，以对象为中心构造的软件系统也比较稳定。</a:t>
            </a:r>
          </a:p>
        </p:txBody>
      </p:sp>
      <p:sp>
        <p:nvSpPr>
          <p:cNvPr id="16" name="Rectangle 1"/>
          <p:cNvSpPr>
            <a:spLocks noChangeArrowheads="1"/>
          </p:cNvSpPr>
          <p:nvPr/>
        </p:nvSpPr>
        <p:spPr bwMode="auto">
          <a:xfrm>
            <a:off x="600218" y="2056130"/>
            <a:ext cx="3692525" cy="400110"/>
          </a:xfrm>
          <a:prstGeom prst="rect">
            <a:avLst/>
          </a:prstGeom>
          <a:noFill/>
          <a:ln w="9525">
            <a:noFill/>
            <a:miter lim="800000"/>
          </a:ln>
          <a:effectLst/>
        </p:spPr>
        <p:txBody>
          <a:bodyPr vert="horz" wrap="square" lIns="91440" tIns="45720" rIns="91440" bIns="45720" numCol="1" anchor="ctr" anchorCtr="0" compatLnSpc="1">
            <a:spAutoFit/>
          </a:bodyPr>
          <a:lstStyle/>
          <a:p>
            <a:pPr lvl="0" indent="269875" fontAlgn="base">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sym typeface="+mn-ea"/>
              </a:rPr>
              <a:t>面向对象方法</a:t>
            </a:r>
            <a:r>
              <a:rPr lang="zh-CN" altLang="en-US" sz="2000" b="1" dirty="0">
                <a:latin typeface="微软雅黑" panose="020B0503020204020204" charset="-122"/>
                <a:ea typeface="微软雅黑" panose="020B0503020204020204" charset="-122"/>
                <a:sym typeface="+mn-ea"/>
              </a:rPr>
              <a:t>的优点：</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wheel spokes="3"/>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9" name="文本占位符 8">
            <a:extLst>
              <a:ext uri="{FF2B5EF4-FFF2-40B4-BE49-F238E27FC236}">
                <a16:creationId xmlns:a16="http://schemas.microsoft.com/office/drawing/2014/main" id="{CEA8D42A-8C1C-13A2-5A70-4C14BAD21A43}"/>
              </a:ext>
            </a:extLst>
          </p:cNvPr>
          <p:cNvSpPr>
            <a:spLocks noGrp="1"/>
          </p:cNvSpPr>
          <p:nvPr>
            <p:ph type="body" sz="quarter" idx="10"/>
          </p:nvPr>
        </p:nvSpPr>
        <p:spPr>
          <a:xfrm>
            <a:off x="900001" y="1322832"/>
            <a:ext cx="5196000" cy="400110"/>
          </a:xfrm>
        </p:spPr>
        <p:txBody>
          <a:bodyPr/>
          <a:lstStyle/>
          <a:p>
            <a:r>
              <a:rPr lang="en-US" altLang="zh-CN"/>
              <a:t>6.1.1 </a:t>
            </a:r>
            <a:r>
              <a:rPr lang="en-US" altLang="zh-CN">
                <a:sym typeface="+mn-ea"/>
              </a:rPr>
              <a:t>面向对象方法的要素和优点</a:t>
            </a:r>
            <a:endParaRPr lang="en-US" altLang="zh-CN" dirty="0"/>
          </a:p>
        </p:txBody>
      </p:sp>
      <p:grpSp>
        <p:nvGrpSpPr>
          <p:cNvPr id="4" name="组合 3"/>
          <p:cNvGrpSpPr/>
          <p:nvPr/>
        </p:nvGrpSpPr>
        <p:grpSpPr>
          <a:xfrm>
            <a:off x="1397000" y="3709033"/>
            <a:ext cx="2967990" cy="590549"/>
            <a:chOff x="512763" y="5121828"/>
            <a:chExt cx="2967506" cy="590550"/>
          </a:xfrm>
        </p:grpSpPr>
        <p:sp>
          <p:nvSpPr>
            <p:cNvPr id="25" name="TextBox 10"/>
            <p:cNvSpPr txBox="1">
              <a:spLocks noChangeArrowheads="1"/>
            </p:cNvSpPr>
            <p:nvPr/>
          </p:nvSpPr>
          <p:spPr bwMode="auto">
            <a:xfrm>
              <a:off x="512763" y="5121828"/>
              <a:ext cx="360645" cy="522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4</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6" name="直接连接符 25"/>
            <p:cNvCxnSpPr/>
            <p:nvPr/>
          </p:nvCxnSpPr>
          <p:spPr>
            <a:xfrm flipH="1">
              <a:off x="512763" y="5121828"/>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217078"/>
              <a:ext cx="2519831" cy="369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较易开发大型软件产品</a:t>
              </a:r>
            </a:p>
          </p:txBody>
        </p:sp>
      </p:grpSp>
      <p:sp>
        <p:nvSpPr>
          <p:cNvPr id="28" name="矩形 9"/>
          <p:cNvSpPr>
            <a:spLocks noChangeArrowheads="1"/>
          </p:cNvSpPr>
          <p:nvPr/>
        </p:nvSpPr>
        <p:spPr bwMode="auto">
          <a:xfrm>
            <a:off x="4693285" y="3740148"/>
            <a:ext cx="6083935" cy="702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t>用面向对象技术开发大型软件时，把大型产品看做是一系列相互独立的小产品，降低了开发的技术难度和开发工作管理的难度。</a:t>
            </a:r>
          </a:p>
        </p:txBody>
      </p:sp>
      <p:grpSp>
        <p:nvGrpSpPr>
          <p:cNvPr id="10" name="组合 9"/>
          <p:cNvGrpSpPr/>
          <p:nvPr/>
        </p:nvGrpSpPr>
        <p:grpSpPr>
          <a:xfrm>
            <a:off x="1397000" y="4991732"/>
            <a:ext cx="3004185" cy="590549"/>
            <a:chOff x="512763" y="5140941"/>
            <a:chExt cx="3002126" cy="590550"/>
          </a:xfrm>
        </p:grpSpPr>
        <p:sp>
          <p:nvSpPr>
            <p:cNvPr id="11" name="TextBox 10"/>
            <p:cNvSpPr txBox="1">
              <a:spLocks noChangeArrowheads="1"/>
            </p:cNvSpPr>
            <p:nvPr/>
          </p:nvSpPr>
          <p:spPr bwMode="auto">
            <a:xfrm>
              <a:off x="512763" y="5140941"/>
              <a:ext cx="373912" cy="522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5</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2" name="直接连接符 11"/>
            <p:cNvCxnSpPr/>
            <p:nvPr/>
          </p:nvCxnSpPr>
          <p:spPr>
            <a:xfrm flipH="1">
              <a:off x="512763" y="514094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234" y="5237488"/>
              <a:ext cx="2554655" cy="369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可维护性好</a:t>
              </a:r>
            </a:p>
          </p:txBody>
        </p:sp>
      </p:grpSp>
      <p:grpSp>
        <p:nvGrpSpPr>
          <p:cNvPr id="32" name="组合 31"/>
          <p:cNvGrpSpPr/>
          <p:nvPr/>
        </p:nvGrpSpPr>
        <p:grpSpPr>
          <a:xfrm>
            <a:off x="1397000" y="2454910"/>
            <a:ext cx="2967990" cy="590549"/>
            <a:chOff x="512763" y="5140941"/>
            <a:chExt cx="2965680" cy="590550"/>
          </a:xfrm>
        </p:grpSpPr>
        <p:sp>
          <p:nvSpPr>
            <p:cNvPr id="33" name="TextBox 10"/>
            <p:cNvSpPr txBox="1">
              <a:spLocks noChangeArrowheads="1"/>
            </p:cNvSpPr>
            <p:nvPr/>
          </p:nvSpPr>
          <p:spPr bwMode="auto">
            <a:xfrm>
              <a:off x="512763" y="5140941"/>
              <a:ext cx="37137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34" name="直接连接符 33"/>
            <p:cNvCxnSpPr/>
            <p:nvPr/>
          </p:nvCxnSpPr>
          <p:spPr>
            <a:xfrm flipH="1">
              <a:off x="512763" y="514094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5" name="矩形 34"/>
            <p:cNvSpPr>
              <a:spLocks noChangeArrowheads="1"/>
            </p:cNvSpPr>
            <p:nvPr/>
          </p:nvSpPr>
          <p:spPr bwMode="auto">
            <a:xfrm>
              <a:off x="960198" y="5237488"/>
              <a:ext cx="2518245" cy="36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可重用性好</a:t>
              </a:r>
            </a:p>
          </p:txBody>
        </p:sp>
      </p:grpSp>
      <p:sp>
        <p:nvSpPr>
          <p:cNvPr id="36" name="矩形 9"/>
          <p:cNvSpPr>
            <a:spLocks noChangeArrowheads="1"/>
          </p:cNvSpPr>
          <p:nvPr/>
        </p:nvSpPr>
        <p:spPr bwMode="auto">
          <a:xfrm>
            <a:off x="4693285" y="2351405"/>
            <a:ext cx="6083935" cy="134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sz="1600" dirty="0"/>
              <a:t>面向对象技术可以重复使用一个对象类。例如，创建类的实例，直接使用类；派生一个满足当前需要的新类。子类可以重用其父类的数据结构和程序代码，并且可以方便地进行修改和扩充，子类的修改并不影响父类的使用。</a:t>
            </a:r>
          </a:p>
        </p:txBody>
      </p:sp>
      <p:sp>
        <p:nvSpPr>
          <p:cNvPr id="2" name="Rectangle 1">
            <a:extLst>
              <a:ext uri="{FF2B5EF4-FFF2-40B4-BE49-F238E27FC236}">
                <a16:creationId xmlns:a16="http://schemas.microsoft.com/office/drawing/2014/main" id="{2D9DCEB5-E70A-1430-F78D-EC0112BE30CD}"/>
              </a:ext>
            </a:extLst>
          </p:cNvPr>
          <p:cNvSpPr>
            <a:spLocks noChangeArrowheads="1"/>
          </p:cNvSpPr>
          <p:nvPr/>
        </p:nvSpPr>
        <p:spPr bwMode="auto">
          <a:xfrm>
            <a:off x="600218" y="2056130"/>
            <a:ext cx="3692525" cy="400110"/>
          </a:xfrm>
          <a:prstGeom prst="rect">
            <a:avLst/>
          </a:prstGeom>
          <a:noFill/>
          <a:ln w="9525">
            <a:noFill/>
            <a:miter lim="800000"/>
          </a:ln>
          <a:effectLst/>
        </p:spPr>
        <p:txBody>
          <a:bodyPr vert="horz" wrap="square" lIns="91440" tIns="45720" rIns="91440" bIns="45720" numCol="1" anchor="ctr" anchorCtr="0" compatLnSpc="1">
            <a:spAutoFit/>
          </a:bodyPr>
          <a:lstStyle/>
          <a:p>
            <a:pPr lvl="0" indent="269875" fontAlgn="base">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sym typeface="+mn-ea"/>
              </a:rPr>
              <a:t>面向对象方法</a:t>
            </a:r>
            <a:r>
              <a:rPr lang="zh-CN" altLang="en-US" sz="2000" b="1" dirty="0">
                <a:latin typeface="微软雅黑" panose="020B0503020204020204" charset="-122"/>
                <a:ea typeface="微软雅黑" panose="020B0503020204020204" charset="-122"/>
                <a:sym typeface="+mn-ea"/>
              </a:rPr>
              <a:t>的优点：</a:t>
            </a:r>
            <a:endParaRPr lang="en-US" altLang="en-US" sz="2000" b="1" dirty="0">
              <a:latin typeface="微软雅黑" panose="020B0503020204020204" charset="-122"/>
              <a:ea typeface="微软雅黑" panose="020B0503020204020204" charset="-122"/>
              <a:sym typeface="+mn-ea"/>
            </a:endParaRPr>
          </a:p>
        </p:txBody>
      </p:sp>
      <p:sp>
        <p:nvSpPr>
          <p:cNvPr id="15" name="矩形 9">
            <a:extLst>
              <a:ext uri="{FF2B5EF4-FFF2-40B4-BE49-F238E27FC236}">
                <a16:creationId xmlns:a16="http://schemas.microsoft.com/office/drawing/2014/main" id="{852D4A08-2EF5-0173-4845-D3AB5EE2C605}"/>
              </a:ext>
            </a:extLst>
          </p:cNvPr>
          <p:cNvSpPr>
            <a:spLocks noChangeArrowheads="1"/>
          </p:cNvSpPr>
          <p:nvPr/>
        </p:nvSpPr>
        <p:spPr bwMode="auto">
          <a:xfrm>
            <a:off x="4693285" y="4811430"/>
            <a:ext cx="6083935" cy="702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t>由于面向对象的软件稳定性比较好、容易修改、容易理解、易于测试和调试，因而软件的可维护性好。</a:t>
            </a:r>
          </a:p>
        </p:txBody>
      </p:sp>
    </p:spTree>
  </p:cSld>
  <p:clrMapOvr>
    <a:masterClrMapping/>
  </p:clrMapOvr>
  <p:transition>
    <p:wheel spokes="3"/>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14" name="文本占位符 13">
            <a:extLst>
              <a:ext uri="{FF2B5EF4-FFF2-40B4-BE49-F238E27FC236}">
                <a16:creationId xmlns:a16="http://schemas.microsoft.com/office/drawing/2014/main" id="{6F264850-A7A7-1761-0230-483721A3B99A}"/>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grpSp>
        <p:nvGrpSpPr>
          <p:cNvPr id="10" name="组合 9"/>
          <p:cNvGrpSpPr/>
          <p:nvPr/>
        </p:nvGrpSpPr>
        <p:grpSpPr>
          <a:xfrm>
            <a:off x="1517650" y="2122170"/>
            <a:ext cx="9248775" cy="3624580"/>
            <a:chOff x="2318" y="2831"/>
            <a:chExt cx="14565" cy="5708"/>
          </a:xfrm>
        </p:grpSpPr>
        <p:sp>
          <p:nvSpPr>
            <p:cNvPr id="37" name="泪滴形 36"/>
            <p:cNvSpPr/>
            <p:nvPr>
              <p:custDataLst>
                <p:tags r:id="rId1"/>
              </p:custDataLst>
            </p:nvPr>
          </p:nvSpPr>
          <p:spPr>
            <a:xfrm rot="8100000">
              <a:off x="14555" y="2831"/>
              <a:ext cx="2328" cy="2328"/>
            </a:xfrm>
            <a:prstGeom prst="teardrop">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38" name="椭圆 37"/>
            <p:cNvSpPr/>
            <p:nvPr>
              <p:custDataLst>
                <p:tags r:id="rId2"/>
              </p:custDataLst>
            </p:nvPr>
          </p:nvSpPr>
          <p:spPr>
            <a:xfrm>
              <a:off x="14707" y="2984"/>
              <a:ext cx="2015" cy="201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0" name="泪滴形 39"/>
            <p:cNvSpPr/>
            <p:nvPr>
              <p:custDataLst>
                <p:tags r:id="rId3"/>
              </p:custDataLst>
            </p:nvPr>
          </p:nvSpPr>
          <p:spPr>
            <a:xfrm rot="8100000">
              <a:off x="2318" y="2831"/>
              <a:ext cx="2328" cy="2328"/>
            </a:xfrm>
            <a:prstGeom prst="teardrop">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1" name="椭圆 40"/>
            <p:cNvSpPr/>
            <p:nvPr>
              <p:custDataLst>
                <p:tags r:id="rId4"/>
              </p:custDataLst>
            </p:nvPr>
          </p:nvSpPr>
          <p:spPr>
            <a:xfrm>
              <a:off x="2470" y="2984"/>
              <a:ext cx="2015" cy="201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6" name="泪滴形 15"/>
            <p:cNvSpPr/>
            <p:nvPr>
              <p:custDataLst>
                <p:tags r:id="rId5"/>
              </p:custDataLst>
            </p:nvPr>
          </p:nvSpPr>
          <p:spPr>
            <a:xfrm rot="8100000">
              <a:off x="12901" y="3619"/>
              <a:ext cx="2328" cy="2328"/>
            </a:xfrm>
            <a:prstGeom prst="teardrop">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7" name="椭圆 16"/>
            <p:cNvSpPr/>
            <p:nvPr>
              <p:custDataLst>
                <p:tags r:id="rId6"/>
              </p:custDataLst>
            </p:nvPr>
          </p:nvSpPr>
          <p:spPr>
            <a:xfrm>
              <a:off x="13054" y="3771"/>
              <a:ext cx="2015" cy="201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8" name="泪滴形 17"/>
            <p:cNvSpPr/>
            <p:nvPr>
              <p:custDataLst>
                <p:tags r:id="rId7"/>
              </p:custDataLst>
            </p:nvPr>
          </p:nvSpPr>
          <p:spPr>
            <a:xfrm rot="8100000">
              <a:off x="3971" y="3619"/>
              <a:ext cx="2328" cy="2328"/>
            </a:xfrm>
            <a:prstGeom prst="teardrop">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8"/>
              </p:custDataLst>
            </p:nvPr>
          </p:nvSpPr>
          <p:spPr>
            <a:xfrm>
              <a:off x="4124" y="3771"/>
              <a:ext cx="2015" cy="201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0" name="泪滴形 19"/>
            <p:cNvSpPr/>
            <p:nvPr>
              <p:custDataLst>
                <p:tags r:id="rId9"/>
              </p:custDataLst>
            </p:nvPr>
          </p:nvSpPr>
          <p:spPr>
            <a:xfrm rot="8100000">
              <a:off x="10663" y="4409"/>
              <a:ext cx="2913" cy="2912"/>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1" name="椭圆 20"/>
            <p:cNvSpPr/>
            <p:nvPr>
              <p:custDataLst>
                <p:tags r:id="rId10"/>
              </p:custDataLst>
            </p:nvPr>
          </p:nvSpPr>
          <p:spPr>
            <a:xfrm>
              <a:off x="10853" y="4599"/>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2" name="泪滴形 21"/>
            <p:cNvSpPr/>
            <p:nvPr>
              <p:custDataLst>
                <p:tags r:id="rId11"/>
              </p:custDataLst>
            </p:nvPr>
          </p:nvSpPr>
          <p:spPr>
            <a:xfrm rot="8100000">
              <a:off x="5624" y="4409"/>
              <a:ext cx="2912" cy="2912"/>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3" name="椭圆 22"/>
            <p:cNvSpPr/>
            <p:nvPr>
              <p:custDataLst>
                <p:tags r:id="rId12"/>
              </p:custDataLst>
            </p:nvPr>
          </p:nvSpPr>
          <p:spPr>
            <a:xfrm>
              <a:off x="5814" y="4599"/>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4" name="泪滴形 23"/>
            <p:cNvSpPr/>
            <p:nvPr>
              <p:custDataLst>
                <p:tags r:id="rId13"/>
              </p:custDataLst>
            </p:nvPr>
          </p:nvSpPr>
          <p:spPr>
            <a:xfrm rot="8100000">
              <a:off x="7863" y="5064"/>
              <a:ext cx="3475" cy="3475"/>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5" name="椭圆 24"/>
            <p:cNvSpPr/>
            <p:nvPr>
              <p:custDataLst>
                <p:tags r:id="rId14"/>
              </p:custDataLst>
            </p:nvPr>
          </p:nvSpPr>
          <p:spPr>
            <a:xfrm>
              <a:off x="8090" y="5291"/>
              <a:ext cx="3008" cy="30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6" name="文本框 13"/>
            <p:cNvSpPr txBox="1">
              <a:spLocks noChangeArrowheads="1"/>
            </p:cNvSpPr>
            <p:nvPr>
              <p:custDataLst>
                <p:tags r:id="rId15"/>
              </p:custDataLst>
            </p:nvPr>
          </p:nvSpPr>
          <p:spPr bwMode="auto">
            <a:xfrm>
              <a:off x="8360" y="6526"/>
              <a:ext cx="248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类和实例</a:t>
              </a:r>
            </a:p>
          </p:txBody>
        </p:sp>
        <p:sp>
          <p:nvSpPr>
            <p:cNvPr id="27" name="文本框 14"/>
            <p:cNvSpPr txBox="1">
              <a:spLocks noChangeArrowheads="1"/>
            </p:cNvSpPr>
            <p:nvPr>
              <p:custDataLst>
                <p:tags r:id="rId16"/>
              </p:custDataLst>
            </p:nvPr>
          </p:nvSpPr>
          <p:spPr bwMode="auto">
            <a:xfrm>
              <a:off x="11353" y="5641"/>
              <a:ext cx="153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消息</a:t>
              </a:r>
            </a:p>
          </p:txBody>
        </p:sp>
        <p:sp>
          <p:nvSpPr>
            <p:cNvPr id="28" name="文本框 15"/>
            <p:cNvSpPr txBox="1">
              <a:spLocks noChangeArrowheads="1"/>
            </p:cNvSpPr>
            <p:nvPr>
              <p:custDataLst>
                <p:tags r:id="rId17"/>
              </p:custDataLst>
            </p:nvPr>
          </p:nvSpPr>
          <p:spPr bwMode="auto">
            <a:xfrm>
              <a:off x="13438" y="4459"/>
              <a:ext cx="1255"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继承</a:t>
              </a:r>
            </a:p>
          </p:txBody>
        </p:sp>
        <p:sp>
          <p:nvSpPr>
            <p:cNvPr id="2" name="文本框 16"/>
            <p:cNvSpPr txBox="1">
              <a:spLocks noChangeArrowheads="1"/>
            </p:cNvSpPr>
            <p:nvPr>
              <p:custDataLst>
                <p:tags r:id="rId18"/>
              </p:custDataLst>
            </p:nvPr>
          </p:nvSpPr>
          <p:spPr bwMode="auto">
            <a:xfrm>
              <a:off x="6313" y="5589"/>
              <a:ext cx="1535"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对象</a:t>
              </a:r>
            </a:p>
          </p:txBody>
        </p:sp>
        <p:sp>
          <p:nvSpPr>
            <p:cNvPr id="30" name="文本框 17"/>
            <p:cNvSpPr txBox="1">
              <a:spLocks noChangeArrowheads="1"/>
            </p:cNvSpPr>
            <p:nvPr>
              <p:custDataLst>
                <p:tags r:id="rId19"/>
              </p:custDataLst>
            </p:nvPr>
          </p:nvSpPr>
          <p:spPr bwMode="auto">
            <a:xfrm>
              <a:off x="4508" y="4508"/>
              <a:ext cx="125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封装</a:t>
              </a:r>
            </a:p>
          </p:txBody>
        </p:sp>
        <p:sp>
          <p:nvSpPr>
            <p:cNvPr id="42" name="文本框 17"/>
            <p:cNvSpPr txBox="1">
              <a:spLocks noChangeArrowheads="1"/>
            </p:cNvSpPr>
            <p:nvPr>
              <p:custDataLst>
                <p:tags r:id="rId20"/>
              </p:custDataLst>
            </p:nvPr>
          </p:nvSpPr>
          <p:spPr bwMode="auto">
            <a:xfrm>
              <a:off x="2871" y="3720"/>
              <a:ext cx="125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多态</a:t>
              </a:r>
            </a:p>
          </p:txBody>
        </p:sp>
        <p:sp>
          <p:nvSpPr>
            <p:cNvPr id="43" name="文本框 17"/>
            <p:cNvSpPr txBox="1">
              <a:spLocks noChangeArrowheads="1"/>
            </p:cNvSpPr>
            <p:nvPr>
              <p:custDataLst>
                <p:tags r:id="rId21"/>
              </p:custDataLst>
            </p:nvPr>
          </p:nvSpPr>
          <p:spPr bwMode="auto">
            <a:xfrm>
              <a:off x="15093" y="3720"/>
              <a:ext cx="1253"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a:latin typeface="+mj-lt"/>
                  <a:ea typeface="+mj-ea"/>
                  <a:cs typeface="+mj-cs"/>
                </a:rPr>
                <a:t>重载</a:t>
              </a:r>
            </a:p>
          </p:txBody>
        </p:sp>
      </p:grpSp>
    </p:spTree>
  </p:cSld>
  <p:clrMapOvr>
    <a:masterClrMapping/>
  </p:clrMapOvr>
  <p:transition>
    <p:wheel spokes="3"/>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5" name="文本占位符 4">
            <a:extLst>
              <a:ext uri="{FF2B5EF4-FFF2-40B4-BE49-F238E27FC236}">
                <a16:creationId xmlns:a16="http://schemas.microsoft.com/office/drawing/2014/main" id="{84174FFA-48F3-B173-4F0D-9480ABAD3B49}"/>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3075" name="MH_SubTitle_1"/>
          <p:cNvSpPr>
            <a:spLocks noChangeArrowheads="1"/>
          </p:cNvSpPr>
          <p:nvPr/>
        </p:nvSpPr>
        <p:spPr bwMode="auto">
          <a:xfrm>
            <a:off x="1925922" y="2679031"/>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b="1" dirty="0">
                <a:solidFill>
                  <a:srgbClr val="E26664"/>
                </a:solidFill>
                <a:latin typeface="微软雅黑 Light" panose="020B0502040204020203" pitchFamily="34" charset="-122"/>
                <a:ea typeface="幼圆" panose="02010509060101010101" pitchFamily="49" charset="-122"/>
                <a:cs typeface="Arial" panose="020B0604020202020204" pitchFamily="34" charset="0"/>
              </a:rPr>
              <a:t>对象的定义 </a:t>
            </a:r>
            <a:r>
              <a:rPr lang="en-US" altLang="zh-CN" sz="2000" b="1" dirty="0">
                <a:solidFill>
                  <a:srgbClr val="E26664"/>
                </a:solidFill>
                <a:latin typeface="微软雅黑 Light" panose="020B0502040204020203" pitchFamily="34" charset="-122"/>
                <a:ea typeface="幼圆" panose="02010509060101010101" pitchFamily="49" charset="-122"/>
                <a:cs typeface="Arial" panose="020B0604020202020204" pitchFamily="34" charset="0"/>
              </a:rPr>
              <a:t>Object</a:t>
            </a:r>
            <a:endParaRPr lang="zh-CN" altLang="en-US" sz="2000" b="1" dirty="0">
              <a:solidFill>
                <a:srgbClr val="E26664"/>
              </a:solidFill>
              <a:latin typeface="微软雅黑 Light" panose="020B0502040204020203" pitchFamily="34" charset="-122"/>
              <a:ea typeface="幼圆" panose="02010509060101010101" pitchFamily="49" charset="-122"/>
              <a:cs typeface="Arial" panose="020B0604020202020204" pitchFamily="34" charset="0"/>
            </a:endParaRPr>
          </a:p>
        </p:txBody>
      </p:sp>
      <p:sp>
        <p:nvSpPr>
          <p:cNvPr id="44" name="MH_Other_1"/>
          <p:cNvSpPr/>
          <p:nvPr/>
        </p:nvSpPr>
        <p:spPr>
          <a:xfrm>
            <a:off x="1857660" y="2694906"/>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77" name="MH_Text_1"/>
          <p:cNvSpPr>
            <a:spLocks noChangeArrowheads="1"/>
          </p:cNvSpPr>
          <p:nvPr/>
        </p:nvSpPr>
        <p:spPr bwMode="auto">
          <a:xfrm>
            <a:off x="2139282" y="3514691"/>
            <a:ext cx="8506460" cy="2405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fontAlgn="auto">
              <a:lnSpc>
                <a:spcPct val="120000"/>
              </a:lnSpc>
              <a:defRPr/>
            </a:pPr>
            <a:endParaRPr lang="en-US" altLang="zh-CN" dirty="0">
              <a:solidFill>
                <a:schemeClr val="tx1"/>
              </a:solidFill>
              <a:latin typeface="微软雅黑" panose="020B0503020204020204" charset="-122"/>
              <a:ea typeface="微软雅黑" panose="020B0503020204020204" charset="-122"/>
              <a:cs typeface="Arial" panose="020B0604020202020204" pitchFamily="34" charset="0"/>
            </a:endParaRPr>
          </a:p>
        </p:txBody>
      </p:sp>
      <p:cxnSp>
        <p:nvCxnSpPr>
          <p:cNvPr id="3078" name="MH_Other_2"/>
          <p:cNvCxnSpPr>
            <a:cxnSpLocks noChangeShapeType="1"/>
          </p:cNvCxnSpPr>
          <p:nvPr/>
        </p:nvCxnSpPr>
        <p:spPr bwMode="auto">
          <a:xfrm flipV="1">
            <a:off x="2025650" y="3278361"/>
            <a:ext cx="8916670" cy="635"/>
          </a:xfrm>
          <a:prstGeom prst="line">
            <a:avLst/>
          </a:prstGeom>
          <a:noFill/>
          <a:ln w="19050" algn="ctr">
            <a:solidFill>
              <a:srgbClr val="BFBFBF"/>
            </a:solidFill>
            <a:prstDash val="sysDash"/>
            <a:miter lim="800000"/>
          </a:ln>
        </p:spPr>
      </p:cxnSp>
      <p:sp>
        <p:nvSpPr>
          <p:cNvPr id="3079" name="MH_Other_3"/>
          <p:cNvSpPr txBox="1">
            <a:spLocks noChangeArrowheads="1"/>
          </p:cNvSpPr>
          <p:nvPr/>
        </p:nvSpPr>
        <p:spPr bwMode="auto">
          <a:xfrm>
            <a:off x="1127727" y="2712368"/>
            <a:ext cx="731520"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E26664"/>
                </a:solidFill>
                <a:ea typeface="幼圆" panose="02010509060101010101" pitchFamily="49" charset="-122"/>
              </a:rPr>
              <a:t>01</a:t>
            </a:r>
            <a:endParaRPr lang="zh-CN" altLang="en-US" sz="4800" b="1">
              <a:solidFill>
                <a:srgbClr val="E26664"/>
              </a:solidFill>
              <a:ea typeface="幼圆" panose="02010509060101010101" pitchFamily="49" charset="-122"/>
            </a:endParaRPr>
          </a:p>
        </p:txBody>
      </p:sp>
      <p:sp>
        <p:nvSpPr>
          <p:cNvPr id="15" name="泪滴形 14"/>
          <p:cNvSpPr/>
          <p:nvPr>
            <p:custDataLst>
              <p:tags r:id="rId1"/>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6" name="椭圆 15"/>
          <p:cNvSpPr/>
          <p:nvPr>
            <p:custDataLst>
              <p:tags r:id="rId2"/>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7" name="文本框 16"/>
          <p:cNvSpPr txBox="1">
            <a:spLocks noChangeArrowheads="1"/>
          </p:cNvSpPr>
          <p:nvPr>
            <p:custDataLst>
              <p:tags r:id="rId3"/>
            </p:custDataLst>
          </p:nvPr>
        </p:nvSpPr>
        <p:spPr bwMode="auto">
          <a:xfrm>
            <a:off x="10361029" y="903450"/>
            <a:ext cx="893628" cy="3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对象</a:t>
            </a:r>
          </a:p>
        </p:txBody>
      </p:sp>
      <p:sp>
        <p:nvSpPr>
          <p:cNvPr id="9" name="文本框 8">
            <a:extLst>
              <a:ext uri="{FF2B5EF4-FFF2-40B4-BE49-F238E27FC236}">
                <a16:creationId xmlns:a16="http://schemas.microsoft.com/office/drawing/2014/main" id="{252FEB2D-3C5A-D5C7-137C-5C873E69D6C6}"/>
              </a:ext>
            </a:extLst>
          </p:cNvPr>
          <p:cNvSpPr txBox="1"/>
          <p:nvPr/>
        </p:nvSpPr>
        <p:spPr>
          <a:xfrm>
            <a:off x="1925922" y="3514581"/>
            <a:ext cx="9016398" cy="1727461"/>
          </a:xfrm>
          <a:prstGeom prst="rect">
            <a:avLst/>
          </a:prstGeom>
          <a:noFill/>
        </p:spPr>
        <p:txBody>
          <a:bodyPr wrap="square" rtlCol="0">
            <a:spAutoFit/>
          </a:bodyPr>
          <a:lstStyle/>
          <a:p>
            <a:pPr indent="457200" algn="just" fontAlgn="auto">
              <a:lnSpc>
                <a:spcPct val="120000"/>
              </a:lnSpc>
              <a:defRPr/>
            </a:pPr>
            <a:r>
              <a:rPr lang="en-US" altLang="zh-CN" dirty="0"/>
              <a:t>在应用领域中，有意义的、与所要解决的问题有关系的任何事物都可以作为对象，可以是具体的物理实体的抽象、人为的概念等。例如，一名学生、一个班级、借书、还书等。</a:t>
            </a:r>
          </a:p>
          <a:p>
            <a:pPr indent="457200" algn="just" fontAlgn="auto">
              <a:lnSpc>
                <a:spcPct val="120000"/>
              </a:lnSpc>
              <a:defRPr/>
            </a:pPr>
            <a:r>
              <a:rPr lang="en-US" altLang="zh-CN" dirty="0" err="1"/>
              <a:t>对象是封装了数据结构及可施加在这些数据结构上的操作的封装体，它有唯一的标识符，向外界提供一组服务（操作</a:t>
            </a:r>
            <a:r>
              <a:rPr lang="en-US" altLang="zh-CN" dirty="0"/>
              <a:t>）。</a:t>
            </a:r>
            <a:endParaRPr lang="zh-CN" altLang="en-US" dirty="0"/>
          </a:p>
        </p:txBody>
      </p:sp>
    </p:spTree>
  </p:cSld>
  <p:clrMapOvr>
    <a:masterClrMapping/>
  </p:clrMapOvr>
  <p:transition>
    <p:wheel spokes="3"/>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E61178CE-F90B-A9C3-52B5-02FDF03E5B73}"/>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3080" name="MH_SubTitle_2"/>
          <p:cNvSpPr>
            <a:spLocks noChangeArrowheads="1"/>
          </p:cNvSpPr>
          <p:nvPr/>
        </p:nvSpPr>
        <p:spPr bwMode="auto">
          <a:xfrm>
            <a:off x="1559084" y="2353786"/>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en-US" altLang="zh-CN" sz="2000" b="1" dirty="0" err="1">
                <a:solidFill>
                  <a:srgbClr val="946A7D"/>
                </a:solidFill>
                <a:latin typeface="微软雅黑 Light" panose="020B0502040204020203" pitchFamily="34" charset="-122"/>
                <a:ea typeface="幼圆" panose="02010509060101010101" pitchFamily="49" charset="-122"/>
                <a:cs typeface="Arial" panose="020B0604020202020204" pitchFamily="34" charset="0"/>
              </a:rPr>
              <a:t>属性</a:t>
            </a:r>
            <a:r>
              <a:rPr lang="en-US" altLang="zh-CN" sz="2000" b="1" dirty="0">
                <a:solidFill>
                  <a:srgbClr val="946A7D"/>
                </a:solidFill>
                <a:latin typeface="微软雅黑 Light" panose="020B0502040204020203" pitchFamily="34" charset="-122"/>
                <a:ea typeface="幼圆" panose="02010509060101010101" pitchFamily="49" charset="-122"/>
                <a:cs typeface="Arial" panose="020B0604020202020204" pitchFamily="34" charset="0"/>
              </a:rPr>
              <a:t> Attribute</a:t>
            </a:r>
          </a:p>
        </p:txBody>
      </p:sp>
      <p:sp>
        <p:nvSpPr>
          <p:cNvPr id="49" name="MH_Other_4"/>
          <p:cNvSpPr/>
          <p:nvPr/>
        </p:nvSpPr>
        <p:spPr>
          <a:xfrm>
            <a:off x="1490822" y="2369661"/>
            <a:ext cx="68262" cy="1320800"/>
          </a:xfrm>
          <a:prstGeom prst="rect">
            <a:avLst/>
          </a:prstGeom>
          <a:solidFill>
            <a:srgbClr val="946A7D">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2" name="MH_Text_2"/>
          <p:cNvSpPr>
            <a:spLocks noChangeArrowheads="1"/>
          </p:cNvSpPr>
          <p:nvPr/>
        </p:nvSpPr>
        <p:spPr bwMode="auto">
          <a:xfrm>
            <a:off x="1558767" y="3061811"/>
            <a:ext cx="9885838" cy="139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defRPr/>
            </a:pPr>
            <a:r>
              <a:rPr lang="en-US" altLang="zh-CN" dirty="0" err="1"/>
              <a:t>属性是对象的数据，它是对客观世界实体所具有性质的抽象。每个对象都有自己特有的属性值</a:t>
            </a:r>
            <a:r>
              <a:rPr lang="en-US" altLang="zh-CN" dirty="0"/>
              <a:t>。</a:t>
            </a:r>
          </a:p>
          <a:p>
            <a:pPr indent="457200" algn="l" fontAlgn="auto">
              <a:lnSpc>
                <a:spcPct val="120000"/>
              </a:lnSpc>
              <a:defRPr/>
            </a:pPr>
            <a:r>
              <a:rPr lang="en-US" altLang="zh-CN" dirty="0"/>
              <a:t>例如，在学生成绩管理系统中，可以定义“学生”类，并定义姓名、性别、学号等相同的属性。每位学生有自己特定的姓名、学号、性别、年龄等，这些就是学生类的属性。</a:t>
            </a:r>
          </a:p>
        </p:txBody>
      </p:sp>
      <p:cxnSp>
        <p:nvCxnSpPr>
          <p:cNvPr id="3083" name="MH_Other_5"/>
          <p:cNvCxnSpPr>
            <a:cxnSpLocks noChangeShapeType="1"/>
          </p:cNvCxnSpPr>
          <p:nvPr/>
        </p:nvCxnSpPr>
        <p:spPr bwMode="auto">
          <a:xfrm flipV="1">
            <a:off x="1659255" y="2933065"/>
            <a:ext cx="9785350" cy="22225"/>
          </a:xfrm>
          <a:prstGeom prst="line">
            <a:avLst/>
          </a:prstGeom>
          <a:noFill/>
          <a:ln w="19050" algn="ctr">
            <a:solidFill>
              <a:srgbClr val="BFBFBF"/>
            </a:solidFill>
            <a:prstDash val="sysDash"/>
            <a:miter lim="800000"/>
          </a:ln>
        </p:spPr>
      </p:cxnSp>
      <p:sp>
        <p:nvSpPr>
          <p:cNvPr id="3084" name="MH_Other_6"/>
          <p:cNvSpPr txBox="1">
            <a:spLocks noChangeArrowheads="1"/>
          </p:cNvSpPr>
          <p:nvPr/>
        </p:nvSpPr>
        <p:spPr bwMode="auto">
          <a:xfrm>
            <a:off x="760889" y="2388711"/>
            <a:ext cx="731520" cy="1301750"/>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946A7D"/>
                </a:solidFill>
                <a:ea typeface="幼圆" panose="02010509060101010101" pitchFamily="49" charset="-122"/>
              </a:rPr>
              <a:t>02</a:t>
            </a:r>
            <a:endParaRPr lang="zh-CN" altLang="en-US" sz="4800" b="1">
              <a:solidFill>
                <a:srgbClr val="946A7D"/>
              </a:solidFill>
              <a:ea typeface="幼圆" panose="02010509060101010101" pitchFamily="49" charset="-122"/>
            </a:endParaRPr>
          </a:p>
        </p:txBody>
      </p:sp>
      <p:sp>
        <p:nvSpPr>
          <p:cNvPr id="11" name="泪滴形 10"/>
          <p:cNvSpPr/>
          <p:nvPr>
            <p:custDataLst>
              <p:tags r:id="rId1"/>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2" name="椭圆 11"/>
          <p:cNvSpPr/>
          <p:nvPr>
            <p:custDataLst>
              <p:tags r:id="rId2"/>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3" name="文本框 16"/>
          <p:cNvSpPr txBox="1">
            <a:spLocks noChangeArrowheads="1"/>
          </p:cNvSpPr>
          <p:nvPr>
            <p:custDataLst>
              <p:tags r:id="rId3"/>
            </p:custDataLst>
          </p:nvPr>
        </p:nvSpPr>
        <p:spPr bwMode="auto">
          <a:xfrm>
            <a:off x="10361029" y="903450"/>
            <a:ext cx="893628" cy="3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对象</a:t>
            </a:r>
          </a:p>
        </p:txBody>
      </p:sp>
    </p:spTree>
  </p:cSld>
  <p:clrMapOvr>
    <a:masterClrMapping/>
  </p:clrMapOvr>
  <p:transition>
    <p:wheel spokes="3"/>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04A1226E-C78F-6903-D22D-4D9F727DBDE0}"/>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3085" name="MH_SubTitle_3"/>
          <p:cNvSpPr>
            <a:spLocks noChangeArrowheads="1"/>
          </p:cNvSpPr>
          <p:nvPr/>
        </p:nvSpPr>
        <p:spPr bwMode="auto">
          <a:xfrm>
            <a:off x="1559456" y="2315506"/>
            <a:ext cx="4572000" cy="600075"/>
          </a:xfrm>
          <a:prstGeom prst="rect">
            <a:avLst/>
          </a:prstGeom>
          <a:noFill/>
          <a:ln w="9525">
            <a:noFill/>
            <a:miter lim="800000"/>
          </a:ln>
        </p:spPr>
        <p:txBody>
          <a:bodyPr anchor="b"/>
          <a:lstStyle/>
          <a:p>
            <a:pPr eaLnBrk="1" hangingPunct="1"/>
            <a:r>
              <a:rPr lang="en-US" altLang="zh-CN" sz="2000" b="1" dirty="0" err="1">
                <a:solidFill>
                  <a:srgbClr val="B39572"/>
                </a:solidFill>
                <a:latin typeface="微软雅黑 Light" panose="020B0502040204020203" pitchFamily="34" charset="-122"/>
                <a:ea typeface="幼圆" panose="02010509060101010101" pitchFamily="49" charset="-122"/>
                <a:cs typeface="Arial" panose="020B0604020202020204" pitchFamily="34" charset="0"/>
              </a:rPr>
              <a:t>方法</a:t>
            </a:r>
            <a:r>
              <a:rPr lang="en-US" altLang="zh-CN" sz="2000" b="1" dirty="0">
                <a:solidFill>
                  <a:srgbClr val="B39572"/>
                </a:solidFill>
                <a:latin typeface="微软雅黑 Light" panose="020B0502040204020203" pitchFamily="34" charset="-122"/>
                <a:ea typeface="幼圆" panose="02010509060101010101" pitchFamily="49" charset="-122"/>
                <a:cs typeface="Arial" panose="020B0604020202020204" pitchFamily="34" charset="0"/>
              </a:rPr>
              <a:t> Method</a:t>
            </a:r>
          </a:p>
        </p:txBody>
      </p:sp>
      <p:sp>
        <p:nvSpPr>
          <p:cNvPr id="54" name="MH_Other_7"/>
          <p:cNvSpPr/>
          <p:nvPr/>
        </p:nvSpPr>
        <p:spPr>
          <a:xfrm>
            <a:off x="1491194" y="2331381"/>
            <a:ext cx="68262" cy="1320800"/>
          </a:xfrm>
          <a:prstGeom prst="rect">
            <a:avLst/>
          </a:prstGeom>
          <a:solidFill>
            <a:srgbClr val="B39572">
              <a:lumMod val="40000"/>
              <a:lumOff val="60000"/>
            </a:srgb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1559139" y="3021626"/>
            <a:ext cx="9674860" cy="3074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457200">
              <a:lnSpc>
                <a:spcPct val="140000"/>
              </a:lnSpc>
              <a:defRPr/>
            </a:pPr>
            <a:r>
              <a:rPr lang="en-US" altLang="zh-CN" dirty="0" err="1"/>
              <a:t>方法是对象所能执行的操作。方法描述了对象执行操作的算法和响应消息的方法，方法的实现要给出代码</a:t>
            </a:r>
            <a:r>
              <a:rPr lang="en-US" altLang="zh-CN" dirty="0"/>
              <a:t>。</a:t>
            </a:r>
          </a:p>
          <a:p>
            <a:pPr indent="457200">
              <a:lnSpc>
                <a:spcPct val="140000"/>
              </a:lnSpc>
              <a:defRPr/>
            </a:pPr>
            <a:r>
              <a:rPr lang="en-US" altLang="zh-CN" dirty="0"/>
              <a:t>对象中的数据表示对象的状态，一个对象的状态只能由该对象的操作来改变。每当需要改变对象的状态时，只能由其他对象向该对象发送消息，对象响应消息时，按照消息模式找出与之匹配的方法，并执行该方法来改变对象的状态。</a:t>
            </a:r>
          </a:p>
          <a:p>
            <a:pPr indent="457200">
              <a:lnSpc>
                <a:spcPct val="140000"/>
              </a:lnSpc>
              <a:defRPr/>
            </a:pPr>
            <a:r>
              <a:rPr lang="en-US" altLang="zh-CN" dirty="0" err="1"/>
              <a:t>例如</a:t>
            </a:r>
            <a:r>
              <a:rPr lang="en-US" altLang="zh-CN" dirty="0"/>
              <a:t>，“</a:t>
            </a:r>
            <a:r>
              <a:rPr lang="en-US" altLang="zh-CN" dirty="0" err="1"/>
              <a:t>学生”对象可以定义选课、补考、升级</a:t>
            </a:r>
            <a:r>
              <a:rPr lang="en-US" altLang="zh-CN" dirty="0"/>
              <a:t>/</a:t>
            </a:r>
            <a:r>
              <a:rPr lang="en-US" altLang="zh-CN" dirty="0" err="1"/>
              <a:t>留级等操作，每个对象实现具体的操作。有的学生成绩不好，需要通过补考来决定升级或留级，而成绩合格的学生可直接升级</a:t>
            </a:r>
            <a:r>
              <a:rPr lang="en-US" altLang="zh-CN" dirty="0"/>
              <a:t>。</a:t>
            </a:r>
          </a:p>
          <a:p>
            <a:pPr indent="457200" algn="l" fontAlgn="auto">
              <a:lnSpc>
                <a:spcPct val="140000"/>
              </a:lnSpc>
              <a:defRPr/>
            </a:pPr>
            <a:endParaRPr lang="en-US" altLang="zh-CN" dirty="0"/>
          </a:p>
        </p:txBody>
      </p:sp>
      <p:cxnSp>
        <p:nvCxnSpPr>
          <p:cNvPr id="3088" name="MH_Other_8"/>
          <p:cNvCxnSpPr>
            <a:cxnSpLocks noChangeShapeType="1"/>
          </p:cNvCxnSpPr>
          <p:nvPr/>
        </p:nvCxnSpPr>
        <p:spPr bwMode="auto">
          <a:xfrm flipV="1">
            <a:off x="1659255" y="2887345"/>
            <a:ext cx="9541510" cy="27940"/>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761261" y="2348843"/>
            <a:ext cx="731520" cy="1303338"/>
          </a:xfrm>
          <a:prstGeom prst="rect">
            <a:avLst/>
          </a:prstGeom>
          <a:noFill/>
          <a:ln w="9525">
            <a:noFill/>
            <a:miter lim="800000"/>
          </a:ln>
        </p:spPr>
        <p:txBody>
          <a:bodyPr vert="eaVert" lIns="0" tIns="0" rIns="0" bIns="0">
            <a:spAutoFit/>
          </a:bodyPr>
          <a:lstStyle/>
          <a:p>
            <a:pPr algn="ctr" eaLnBrk="1" hangingPunct="1"/>
            <a:r>
              <a:rPr lang="en-US" altLang="zh-CN" sz="4800" b="1">
                <a:solidFill>
                  <a:srgbClr val="B39572"/>
                </a:solidFill>
                <a:ea typeface="幼圆" panose="02010509060101010101" pitchFamily="49" charset="-122"/>
              </a:rPr>
              <a:t>03</a:t>
            </a:r>
            <a:endParaRPr lang="zh-CN" altLang="en-US" sz="4800" b="1">
              <a:solidFill>
                <a:srgbClr val="B39572"/>
              </a:solidFill>
              <a:ea typeface="幼圆" panose="02010509060101010101" pitchFamily="49" charset="-122"/>
            </a:endParaRPr>
          </a:p>
        </p:txBody>
      </p:sp>
      <p:sp>
        <p:nvSpPr>
          <p:cNvPr id="11" name="泪滴形 10"/>
          <p:cNvSpPr/>
          <p:nvPr>
            <p:custDataLst>
              <p:tags r:id="rId1"/>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2" name="椭圆 11"/>
          <p:cNvSpPr/>
          <p:nvPr>
            <p:custDataLst>
              <p:tags r:id="rId2"/>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3" name="文本框 16"/>
          <p:cNvSpPr txBox="1">
            <a:spLocks noChangeArrowheads="1"/>
          </p:cNvSpPr>
          <p:nvPr>
            <p:custDataLst>
              <p:tags r:id="rId3"/>
            </p:custDataLst>
          </p:nvPr>
        </p:nvSpPr>
        <p:spPr bwMode="auto">
          <a:xfrm>
            <a:off x="10361029" y="903450"/>
            <a:ext cx="893628" cy="3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对象</a:t>
            </a:r>
          </a:p>
        </p:txBody>
      </p:sp>
    </p:spTree>
  </p:cSld>
  <p:clrMapOvr>
    <a:masterClrMapping/>
  </p:clrMapOvr>
  <p:transition>
    <p:wheel spokes="3"/>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99A83578-3502-83AD-23AB-44DF7ED1C6BC}"/>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grpSp>
        <p:nvGrpSpPr>
          <p:cNvPr id="10" name="组合 9"/>
          <p:cNvGrpSpPr/>
          <p:nvPr/>
        </p:nvGrpSpPr>
        <p:grpSpPr>
          <a:xfrm>
            <a:off x="760740" y="2084247"/>
            <a:ext cx="10992485" cy="3986530"/>
            <a:chOff x="1460501" y="1604963"/>
            <a:chExt cx="10992485" cy="3986530"/>
          </a:xfrm>
        </p:grpSpPr>
        <p:sp>
          <p:nvSpPr>
            <p:cNvPr id="11" name="MH_SubTitle_1"/>
            <p:cNvSpPr>
              <a:spLocks noChangeArrowheads="1"/>
            </p:cNvSpPr>
            <p:nvPr/>
          </p:nvSpPr>
          <p:spPr bwMode="auto">
            <a:xfrm>
              <a:off x="2260601" y="1604963"/>
              <a:ext cx="7413625" cy="600075"/>
            </a:xfrm>
            <a:prstGeom prst="rect">
              <a:avLst/>
            </a:prstGeom>
            <a:noFill/>
            <a:ln w="9525">
              <a:noFill/>
              <a:miter lim="800000"/>
            </a:ln>
            <a:extLst>
              <a:ext uri="{909E8E84-426E-40DD-AFC4-6F175D3DCCD1}">
                <a14:hiddenFill xmlns:a14="http://schemas.microsoft.com/office/drawing/2010/main">
                  <a:solidFill>
                    <a:srgbClr val="FFFF99"/>
                  </a:solidFill>
                </a14:hiddenFill>
              </a:ext>
            </a:extLst>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en-US" altLang="zh-CN" sz="2000" b="1" dirty="0" err="1">
                  <a:solidFill>
                    <a:srgbClr val="FF0000"/>
                  </a:solidFill>
                  <a:latin typeface="微软雅黑 Light" panose="020B0502040204020203" pitchFamily="34" charset="-122"/>
                  <a:ea typeface="幼圆" panose="02010509060101010101" pitchFamily="49" charset="-122"/>
                  <a:cs typeface="Arial" panose="020B0604020202020204" pitchFamily="34" charset="0"/>
                </a:rPr>
                <a:t>对象的特点</a:t>
              </a:r>
              <a:r>
                <a:rPr lang="en-US" altLang="zh-CN" sz="2000" b="1" dirty="0">
                  <a:solidFill>
                    <a:srgbClr val="FF0000"/>
                  </a:solidFill>
                  <a:latin typeface="微软雅黑 Light" panose="020B0502040204020203" pitchFamily="34" charset="-122"/>
                  <a:ea typeface="幼圆" panose="02010509060101010101" pitchFamily="49" charset="-122"/>
                  <a:cs typeface="Arial" panose="020B0604020202020204" pitchFamily="34" charset="0"/>
                </a:rPr>
                <a:t> Feature</a:t>
              </a:r>
            </a:p>
          </p:txBody>
        </p:sp>
        <p:sp>
          <p:nvSpPr>
            <p:cNvPr id="12" name="MH_Other_1"/>
            <p:cNvSpPr/>
            <p:nvPr/>
          </p:nvSpPr>
          <p:spPr>
            <a:xfrm>
              <a:off x="2192338" y="1620838"/>
              <a:ext cx="68262" cy="1320800"/>
            </a:xfrm>
            <a:prstGeom prst="rect">
              <a:avLst/>
            </a:prstGeom>
            <a:solidFill>
              <a:srgbClr val="FF0000"/>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00B050"/>
                </a:solidFill>
                <a:latin typeface="Calibri" panose="020F0502020204030204"/>
                <a:ea typeface="幼圆" panose="02010509060101010101" pitchFamily="49" charset="-122"/>
              </a:endParaRPr>
            </a:p>
          </p:txBody>
        </p:sp>
        <p:sp>
          <p:nvSpPr>
            <p:cNvPr id="13" name="MH_Text_1"/>
            <p:cNvSpPr>
              <a:spLocks noChangeArrowheads="1"/>
            </p:cNvSpPr>
            <p:nvPr/>
          </p:nvSpPr>
          <p:spPr bwMode="auto">
            <a:xfrm>
              <a:off x="2260601" y="2272983"/>
              <a:ext cx="10192385" cy="331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fontAlgn="auto">
                <a:lnSpc>
                  <a:spcPct val="150000"/>
                </a:lnSpc>
                <a:buFont typeface="Wingdings" panose="05000000000000000000" charset="0"/>
                <a:buChar char="Ø"/>
                <a:defRPr/>
              </a:pPr>
              <a:r>
                <a:rPr lang="en-US" altLang="zh-CN" dirty="0" err="1">
                  <a:solidFill>
                    <a:srgbClr val="00B050"/>
                  </a:solidFill>
                  <a:latin typeface="微软雅黑" panose="020B0503020204020204" charset="-122"/>
                  <a:ea typeface="微软雅黑" panose="020B0503020204020204" charset="-122"/>
                  <a:cs typeface="Arial" panose="020B0604020202020204" pitchFamily="34" charset="0"/>
                </a:rPr>
                <a:t>以数据为核心</a:t>
              </a:r>
              <a:r>
                <a:rPr lang="en-US" altLang="zh-CN" dirty="0" err="1">
                  <a:solidFill>
                    <a:schemeClr val="tx1"/>
                  </a:solidFill>
                  <a:latin typeface="微软雅黑" panose="020B0503020204020204" charset="-122"/>
                  <a:ea typeface="微软雅黑" panose="020B0503020204020204" charset="-122"/>
                  <a:cs typeface="Arial" panose="020B0604020202020204" pitchFamily="34" charset="0"/>
                </a:rPr>
                <a:t>：对象的操作围绕对其数据所需要做的处理来设置，操作的结果往往与当时所处的状态（数据的值）有关</a:t>
              </a:r>
              <a:r>
                <a:rPr lang="en-US" altLang="zh-CN" dirty="0">
                  <a:solidFill>
                    <a:schemeClr val="tx1"/>
                  </a:solidFill>
                  <a:latin typeface="微软雅黑" panose="020B0503020204020204" charset="-122"/>
                  <a:ea typeface="微软雅黑" panose="020B0503020204020204" charset="-122"/>
                  <a:cs typeface="Arial" panose="020B0604020202020204" pitchFamily="34" charset="0"/>
                </a:rPr>
                <a:t>。</a:t>
              </a:r>
            </a:p>
            <a:p>
              <a:pPr marL="285750" indent="-285750" algn="l" fontAlgn="auto">
                <a:lnSpc>
                  <a:spcPct val="150000"/>
                </a:lnSpc>
                <a:buFont typeface="Wingdings" panose="05000000000000000000" charset="0"/>
                <a:buChar char="Ø"/>
                <a:defRPr/>
              </a:pPr>
              <a:r>
                <a:rPr lang="en-US" altLang="zh-CN" dirty="0">
                  <a:solidFill>
                    <a:srgbClr val="00B050"/>
                  </a:solidFill>
                  <a:latin typeface="微软雅黑" panose="020B0503020204020204" charset="-122"/>
                  <a:ea typeface="微软雅黑" panose="020B0503020204020204" charset="-122"/>
                  <a:cs typeface="Arial" panose="020B0604020202020204" pitchFamily="34" charset="0"/>
                </a:rPr>
                <a:t>主动性</a:t>
              </a:r>
              <a:r>
                <a:rPr lang="en-US" altLang="zh-CN" dirty="0">
                  <a:solidFill>
                    <a:schemeClr val="tx1"/>
                  </a:solidFill>
                  <a:latin typeface="微软雅黑" panose="020B0503020204020204" charset="-122"/>
                  <a:ea typeface="微软雅黑" panose="020B0503020204020204" charset="-122"/>
                  <a:cs typeface="Arial" panose="020B0604020202020204" pitchFamily="34" charset="0"/>
                </a:rPr>
                <a:t>：对象是进行处理的主体，不是被动地等待对它进行处理，而是必须通过接口向对象发送消息，请求它执行某个操作，处理它的私有数据。</a:t>
              </a:r>
            </a:p>
            <a:p>
              <a:pPr marL="285750" indent="-285750" algn="l" fontAlgn="auto">
                <a:lnSpc>
                  <a:spcPct val="150000"/>
                </a:lnSpc>
                <a:buFont typeface="Wingdings" panose="05000000000000000000" charset="0"/>
                <a:buChar char="Ø"/>
                <a:defRPr/>
              </a:pPr>
              <a:r>
                <a:rPr lang="en-US" altLang="zh-CN" dirty="0" err="1">
                  <a:solidFill>
                    <a:srgbClr val="00B050"/>
                  </a:solidFill>
                  <a:latin typeface="微软雅黑" panose="020B0503020204020204" charset="-122"/>
                  <a:ea typeface="微软雅黑" panose="020B0503020204020204" charset="-122"/>
                  <a:cs typeface="Arial" panose="020B0604020202020204" pitchFamily="34" charset="0"/>
                </a:rPr>
                <a:t>实现了数据封装</a:t>
              </a:r>
              <a:r>
                <a:rPr lang="en-US" altLang="zh-CN" dirty="0" err="1">
                  <a:solidFill>
                    <a:schemeClr val="tx1"/>
                  </a:solidFill>
                  <a:latin typeface="微软雅黑" panose="020B0503020204020204" charset="-122"/>
                  <a:ea typeface="微软雅黑" panose="020B0503020204020204" charset="-122"/>
                  <a:cs typeface="Arial" panose="020B0604020202020204" pitchFamily="34" charset="0"/>
                </a:rPr>
                <a:t>：对象的数据是封装起来的，是不可见的，对数据的访问和处理只能通过公有的操作进行</a:t>
              </a:r>
              <a:r>
                <a:rPr lang="en-US" altLang="zh-CN" dirty="0">
                  <a:solidFill>
                    <a:schemeClr val="tx1"/>
                  </a:solidFill>
                  <a:latin typeface="微软雅黑" panose="020B0503020204020204" charset="-122"/>
                  <a:ea typeface="微软雅黑" panose="020B0503020204020204" charset="-122"/>
                  <a:cs typeface="Arial" panose="020B0604020202020204" pitchFamily="34" charset="0"/>
                </a:rPr>
                <a:t>。</a:t>
              </a:r>
            </a:p>
            <a:p>
              <a:pPr marL="285750" indent="-285750" algn="l" fontAlgn="auto">
                <a:lnSpc>
                  <a:spcPct val="150000"/>
                </a:lnSpc>
                <a:buFont typeface="Wingdings" panose="05000000000000000000" charset="0"/>
                <a:buChar char="Ø"/>
                <a:defRPr/>
              </a:pPr>
              <a:r>
                <a:rPr lang="en-US" altLang="zh-CN" dirty="0" err="1">
                  <a:solidFill>
                    <a:srgbClr val="00B050"/>
                  </a:solidFill>
                  <a:latin typeface="微软雅黑" panose="020B0503020204020204" charset="-122"/>
                  <a:ea typeface="微软雅黑" panose="020B0503020204020204" charset="-122"/>
                  <a:cs typeface="Arial" panose="020B0604020202020204" pitchFamily="34" charset="0"/>
                </a:rPr>
                <a:t>本质上具有并行性</a:t>
              </a:r>
              <a:r>
                <a:rPr lang="en-US" altLang="zh-CN" dirty="0" err="1">
                  <a:solidFill>
                    <a:schemeClr val="tx1"/>
                  </a:solidFill>
                  <a:latin typeface="微软雅黑" panose="020B0503020204020204" charset="-122"/>
                  <a:ea typeface="微软雅黑" panose="020B0503020204020204" charset="-122"/>
                  <a:cs typeface="Arial" panose="020B0604020202020204" pitchFamily="34" charset="0"/>
                </a:rPr>
                <a:t>：不同对象各自独立地处理自身的数据，彼此通过发送消息传递信息完成通信</a:t>
              </a:r>
              <a:r>
                <a:rPr lang="en-US" altLang="zh-CN" dirty="0">
                  <a:solidFill>
                    <a:schemeClr val="tx1"/>
                  </a:solidFill>
                  <a:latin typeface="微软雅黑" panose="020B0503020204020204" charset="-122"/>
                  <a:ea typeface="微软雅黑" panose="020B0503020204020204" charset="-122"/>
                  <a:cs typeface="Arial" panose="020B0604020202020204" pitchFamily="34" charset="0"/>
                </a:rPr>
                <a:t>。</a:t>
              </a:r>
            </a:p>
            <a:p>
              <a:pPr marL="285750" indent="-285750" algn="l" fontAlgn="auto">
                <a:lnSpc>
                  <a:spcPct val="150000"/>
                </a:lnSpc>
                <a:buFont typeface="Wingdings" panose="05000000000000000000" charset="0"/>
                <a:buChar char="Ø"/>
                <a:defRPr/>
              </a:pPr>
              <a:r>
                <a:rPr lang="en-US" altLang="zh-CN" dirty="0" err="1">
                  <a:solidFill>
                    <a:srgbClr val="00B050"/>
                  </a:solidFill>
                  <a:latin typeface="微软雅黑" panose="020B0503020204020204" charset="-122"/>
                  <a:ea typeface="微软雅黑" panose="020B0503020204020204" charset="-122"/>
                  <a:cs typeface="Arial" panose="020B0604020202020204" pitchFamily="34" charset="0"/>
                </a:rPr>
                <a:t>模块独立性好</a:t>
              </a:r>
              <a:r>
                <a:rPr lang="en-US" altLang="zh-CN" dirty="0" err="1">
                  <a:solidFill>
                    <a:schemeClr val="tx1"/>
                  </a:solidFill>
                  <a:latin typeface="微软雅黑" panose="020B0503020204020204" charset="-122"/>
                  <a:ea typeface="微软雅黑" panose="020B0503020204020204" charset="-122"/>
                  <a:cs typeface="Arial" panose="020B0604020202020204" pitchFamily="34" charset="0"/>
                </a:rPr>
                <a:t>：要求模块内聚性强，耦合性弱</a:t>
              </a:r>
              <a:r>
                <a:rPr lang="en-US" altLang="zh-CN" dirty="0">
                  <a:solidFill>
                    <a:schemeClr val="tx1"/>
                  </a:solidFill>
                  <a:latin typeface="微软雅黑" panose="020B0503020204020204" charset="-122"/>
                  <a:ea typeface="微软雅黑" panose="020B0503020204020204" charset="-122"/>
                  <a:cs typeface="Arial" panose="020B0604020202020204" pitchFamily="34" charset="0"/>
                </a:rPr>
                <a:t>。</a:t>
              </a:r>
            </a:p>
          </p:txBody>
        </p:sp>
        <p:cxnSp>
          <p:nvCxnSpPr>
            <p:cNvPr id="14" name="MH_Other_2"/>
            <p:cNvCxnSpPr>
              <a:cxnSpLocks noChangeShapeType="1"/>
            </p:cNvCxnSpPr>
            <p:nvPr/>
          </p:nvCxnSpPr>
          <p:spPr bwMode="auto">
            <a:xfrm>
              <a:off x="2360921" y="2204861"/>
              <a:ext cx="9981565" cy="5080"/>
            </a:xfrm>
            <a:prstGeom prst="line">
              <a:avLst/>
            </a:prstGeom>
            <a:noFill/>
            <a:ln w="19050" algn="ctr">
              <a:solidFill>
                <a:srgbClr val="BFBFBF"/>
              </a:solidFill>
              <a:prstDash val="sysDash"/>
              <a:miter lim="800000"/>
            </a:ln>
          </p:spPr>
        </p:cxnSp>
        <p:sp>
          <p:nvSpPr>
            <p:cNvPr id="15" name="MH_Other_3"/>
            <p:cNvSpPr txBox="1">
              <a:spLocks noChangeArrowheads="1"/>
            </p:cNvSpPr>
            <p:nvPr/>
          </p:nvSpPr>
          <p:spPr bwMode="auto">
            <a:xfrm>
              <a:off x="1460501" y="1637665"/>
              <a:ext cx="731520" cy="1303338"/>
            </a:xfrm>
            <a:prstGeom prst="rect">
              <a:avLst/>
            </a:prstGeom>
            <a:noFill/>
            <a:ln w="9525">
              <a:noFill/>
              <a:miter lim="800000"/>
            </a:ln>
            <a:extLst>
              <a:ext uri="{909E8E84-426E-40DD-AFC4-6F175D3DCCD1}">
                <a14:hiddenFill xmlns:a14="http://schemas.microsoft.com/office/drawing/2010/main">
                  <a:solidFill>
                    <a:srgbClr val="FFFF99"/>
                  </a:solidFill>
                </a14:hiddenFill>
              </a:ext>
            </a:extLst>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dirty="0">
                  <a:solidFill>
                    <a:srgbClr val="FF0000"/>
                  </a:solidFill>
                  <a:ea typeface="幼圆" panose="02010509060101010101" pitchFamily="49" charset="-122"/>
                </a:rPr>
                <a:t>04</a:t>
              </a:r>
            </a:p>
          </p:txBody>
        </p:sp>
      </p:grpSp>
      <p:grpSp>
        <p:nvGrpSpPr>
          <p:cNvPr id="16" name="组合 15"/>
          <p:cNvGrpSpPr/>
          <p:nvPr/>
        </p:nvGrpSpPr>
        <p:grpSpPr>
          <a:xfrm>
            <a:off x="9959915" y="217227"/>
            <a:ext cx="1695273" cy="1693460"/>
            <a:chOff x="9959915" y="217227"/>
            <a:chExt cx="1849120" cy="1849120"/>
          </a:xfrm>
        </p:grpSpPr>
        <p:sp>
          <p:nvSpPr>
            <p:cNvPr id="17" name="泪滴形 16"/>
            <p:cNvSpPr/>
            <p:nvPr>
              <p:custDataLst>
                <p:tags r:id="rId1"/>
              </p:custDataLst>
            </p:nvPr>
          </p:nvSpPr>
          <p:spPr>
            <a:xfrm rot="8100000">
              <a:off x="9959915" y="217227"/>
              <a:ext cx="1849120" cy="184912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8" name="椭圆 17"/>
            <p:cNvSpPr/>
            <p:nvPr>
              <p:custDataLst>
                <p:tags r:id="rId2"/>
              </p:custDataLst>
            </p:nvPr>
          </p:nvSpPr>
          <p:spPr>
            <a:xfrm>
              <a:off x="10080565" y="337877"/>
              <a:ext cx="1600200" cy="1600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文本框 16"/>
            <p:cNvSpPr txBox="1">
              <a:spLocks noChangeArrowheads="1"/>
            </p:cNvSpPr>
            <p:nvPr>
              <p:custDataLst>
                <p:tags r:id="rId3"/>
              </p:custDataLst>
            </p:nvPr>
          </p:nvSpPr>
          <p:spPr bwMode="auto">
            <a:xfrm>
              <a:off x="10397430" y="966527"/>
              <a:ext cx="974725"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对象</a:t>
              </a:r>
            </a:p>
          </p:txBody>
        </p:sp>
      </p:grpSp>
    </p:spTree>
  </p:cSld>
  <p:clrMapOvr>
    <a:masterClrMapping/>
  </p:clrMapOvr>
  <p:transition>
    <p:wheel spokes="3"/>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10" name="文本占位符 9">
            <a:extLst>
              <a:ext uri="{FF2B5EF4-FFF2-40B4-BE49-F238E27FC236}">
                <a16:creationId xmlns:a16="http://schemas.microsoft.com/office/drawing/2014/main" id="{819C238F-CE8E-1EA9-3650-BB1BD7EA8475}"/>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6" name="MH_Other_1"/>
          <p:cNvSpPr/>
          <p:nvPr>
            <p:custDataLst>
              <p:tags r:id="rId1"/>
            </p:custDataLst>
          </p:nvPr>
        </p:nvSpPr>
        <p:spPr bwMode="auto">
          <a:xfrm>
            <a:off x="0" y="2621392"/>
            <a:ext cx="2800125" cy="8397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2"/>
            </p:custDataLst>
          </p:nvPr>
        </p:nvSpPr>
        <p:spPr bwMode="auto">
          <a:xfrm>
            <a:off x="2268855" y="5615305"/>
            <a:ext cx="9605010" cy="1492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 name="MH_Other_3"/>
          <p:cNvSpPr/>
          <p:nvPr>
            <p:custDataLst>
              <p:tags r:id="rId3"/>
            </p:custDataLst>
          </p:nvPr>
        </p:nvSpPr>
        <p:spPr>
          <a:xfrm>
            <a:off x="2624084" y="2990988"/>
            <a:ext cx="673217" cy="788041"/>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 name="MH_Other_4"/>
          <p:cNvSpPr>
            <a:spLocks noChangeArrowheads="1"/>
          </p:cNvSpPr>
          <p:nvPr>
            <p:custDataLst>
              <p:tags r:id="rId4"/>
            </p:custDataLst>
          </p:nvPr>
        </p:nvSpPr>
        <p:spPr bwMode="gray">
          <a:xfrm rot="15266332" flipV="1">
            <a:off x="2501586" y="2967920"/>
            <a:ext cx="78053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5"/>
          <p:cNvSpPr>
            <a:spLocks noChangeArrowheads="1"/>
          </p:cNvSpPr>
          <p:nvPr>
            <p:custDataLst>
              <p:tags r:id="rId5"/>
            </p:custDataLst>
          </p:nvPr>
        </p:nvSpPr>
        <p:spPr bwMode="gray">
          <a:xfrm rot="15334360" flipV="1">
            <a:off x="1980529" y="5392046"/>
            <a:ext cx="531372"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2277968" y="4130158"/>
            <a:ext cx="605655" cy="8535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1672615" y="3880837"/>
            <a:ext cx="673217" cy="788041"/>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4080853" y="3239920"/>
            <a:ext cx="7436142" cy="176458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spAutoFit/>
          </a:bodyPr>
          <a:lstStyle/>
          <a:p>
            <a:pPr indent="457200">
              <a:lnSpc>
                <a:spcPct val="130000"/>
              </a:lnSpc>
              <a:defRPr/>
            </a:pPr>
            <a:r>
              <a:rPr lang="da-DK" altLang="zh-CN" dirty="0">
                <a:solidFill>
                  <a:schemeClr val="tx1"/>
                </a:solidFill>
              </a:rPr>
              <a:t>类是对具有相同数据和相同操作的一组相似对象的定义。在定义类的属性和操作时，一定要与所解决的问题域有关。</a:t>
            </a:r>
          </a:p>
          <a:p>
            <a:pPr indent="457200">
              <a:lnSpc>
                <a:spcPct val="130000"/>
              </a:lnSpc>
              <a:defRPr/>
            </a:pPr>
            <a:r>
              <a:rPr lang="da-DK" altLang="zh-CN" dirty="0">
                <a:solidFill>
                  <a:schemeClr val="tx1"/>
                </a:solidFill>
              </a:rPr>
              <a:t>同类对象具有相同的属性和方法，但是，每个对象的属性值不同，执行方法的结果也不同。</a:t>
            </a:r>
          </a:p>
          <a:p>
            <a:pPr indent="457200">
              <a:lnSpc>
                <a:spcPct val="130000"/>
              </a:lnSpc>
              <a:defRPr/>
            </a:pPr>
            <a:endParaRPr lang="da-DK" altLang="zh-CN" dirty="0">
              <a:solidFill>
                <a:schemeClr val="tx1"/>
              </a:solidFill>
            </a:endParaRPr>
          </a:p>
        </p:txBody>
      </p:sp>
      <p:sp>
        <p:nvSpPr>
          <p:cNvPr id="35" name="MH_SubTitle_2"/>
          <p:cNvSpPr/>
          <p:nvPr>
            <p:custDataLst>
              <p:tags r:id="rId9"/>
            </p:custDataLst>
          </p:nvPr>
        </p:nvSpPr>
        <p:spPr>
          <a:xfrm flipH="1">
            <a:off x="7178567" y="1864321"/>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类 </a:t>
            </a:r>
            <a:r>
              <a:rPr lang="en-US" altLang="zh-CN" sz="2400" b="1" dirty="0">
                <a:solidFill>
                  <a:schemeClr val="bg1"/>
                </a:solidFill>
                <a:latin typeface="微软雅黑" panose="020B0503020204020204" charset="-122"/>
                <a:ea typeface="微软雅黑" panose="020B0503020204020204" charset="-122"/>
              </a:rPr>
              <a:t>Class</a:t>
            </a:r>
            <a:endParaRPr lang="zh-CN" altLang="en-US" sz="2400" b="1" dirty="0">
              <a:solidFill>
                <a:schemeClr val="bg1"/>
              </a:solidFill>
              <a:latin typeface="微软雅黑" panose="020B0503020204020204" charset="-122"/>
              <a:ea typeface="微软雅黑" panose="020B0503020204020204" charset="-122"/>
            </a:endParaRPr>
          </a:p>
        </p:txBody>
      </p:sp>
      <p:sp>
        <p:nvSpPr>
          <p:cNvPr id="36" name="MH_Other_5"/>
          <p:cNvSpPr/>
          <p:nvPr>
            <p:custDataLst>
              <p:tags r:id="rId10"/>
            </p:custDataLst>
          </p:nvPr>
        </p:nvSpPr>
        <p:spPr>
          <a:xfrm flipH="1">
            <a:off x="11185407" y="1742659"/>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37" name="MH_Other_6"/>
          <p:cNvSpPr/>
          <p:nvPr>
            <p:custDataLst>
              <p:tags r:id="rId11"/>
            </p:custDataLst>
          </p:nvPr>
        </p:nvSpPr>
        <p:spPr>
          <a:xfrm flipH="1">
            <a:off x="10688324" y="1741079"/>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8" name="泪滴形 17"/>
          <p:cNvSpPr/>
          <p:nvPr>
            <p:custDataLst>
              <p:tags r:id="rId12"/>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13"/>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0" name="文本框 16"/>
          <p:cNvSpPr txBox="1">
            <a:spLocks noChangeArrowheads="1"/>
          </p:cNvSpPr>
          <p:nvPr>
            <p:custDataLst>
              <p:tags r:id="rId14"/>
            </p:custDataLst>
          </p:nvPr>
        </p:nvSpPr>
        <p:spPr bwMode="auto">
          <a:xfrm>
            <a:off x="10361029" y="712378"/>
            <a:ext cx="893628" cy="759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类和实例</a:t>
            </a:r>
          </a:p>
        </p:txBody>
      </p:sp>
    </p:spTree>
  </p:cSld>
  <p:clrMapOvr>
    <a:masterClrMapping/>
  </p:clrMapOvr>
  <p:transition>
    <p:wheel spokes="3"/>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10" name="文本占位符 9">
            <a:extLst>
              <a:ext uri="{FF2B5EF4-FFF2-40B4-BE49-F238E27FC236}">
                <a16:creationId xmlns:a16="http://schemas.microsoft.com/office/drawing/2014/main" id="{A3ADFC6F-5D9D-4471-21FF-7E7AC3CAE299}"/>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6" name="MH_Other_1"/>
          <p:cNvSpPr/>
          <p:nvPr>
            <p:custDataLst>
              <p:tags r:id="rId1"/>
            </p:custDataLst>
          </p:nvPr>
        </p:nvSpPr>
        <p:spPr bwMode="auto">
          <a:xfrm>
            <a:off x="0" y="2621392"/>
            <a:ext cx="2800125" cy="8397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2"/>
            </p:custDataLst>
          </p:nvPr>
        </p:nvSpPr>
        <p:spPr bwMode="auto">
          <a:xfrm>
            <a:off x="2268855" y="5615305"/>
            <a:ext cx="9605010" cy="1492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 name="MH_Other_3"/>
          <p:cNvSpPr/>
          <p:nvPr>
            <p:custDataLst>
              <p:tags r:id="rId3"/>
            </p:custDataLst>
          </p:nvPr>
        </p:nvSpPr>
        <p:spPr>
          <a:xfrm>
            <a:off x="2624084" y="2990988"/>
            <a:ext cx="673217" cy="788041"/>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 name="MH_Other_4"/>
          <p:cNvSpPr>
            <a:spLocks noChangeArrowheads="1"/>
          </p:cNvSpPr>
          <p:nvPr>
            <p:custDataLst>
              <p:tags r:id="rId4"/>
            </p:custDataLst>
          </p:nvPr>
        </p:nvSpPr>
        <p:spPr bwMode="gray">
          <a:xfrm rot="15266332" flipV="1">
            <a:off x="2501586" y="2967920"/>
            <a:ext cx="78053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5"/>
          <p:cNvSpPr>
            <a:spLocks noChangeArrowheads="1"/>
          </p:cNvSpPr>
          <p:nvPr>
            <p:custDataLst>
              <p:tags r:id="rId5"/>
            </p:custDataLst>
          </p:nvPr>
        </p:nvSpPr>
        <p:spPr bwMode="gray">
          <a:xfrm rot="15334360" flipV="1">
            <a:off x="1980529" y="5392046"/>
            <a:ext cx="531372"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2277968" y="4130158"/>
            <a:ext cx="605655" cy="8535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1672615" y="3880837"/>
            <a:ext cx="673217" cy="788041"/>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3928453" y="2738905"/>
            <a:ext cx="7436142" cy="284571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spAutoFit/>
          </a:bodyPr>
          <a:lstStyle/>
          <a:p>
            <a:pPr indent="457200">
              <a:lnSpc>
                <a:spcPct val="130000"/>
              </a:lnSpc>
              <a:defRPr/>
            </a:pPr>
            <a:r>
              <a:rPr lang="da-DK" altLang="zh-CN" dirty="0">
                <a:solidFill>
                  <a:schemeClr val="tx1"/>
                </a:solidFill>
              </a:rPr>
              <a:t>例如，在学生成绩管理系统中，可以定义“学生”类，该类可定义姓名、学号、性别、年龄等相同的属性。类中的每位学生都有自己特定的姓名、学号、性别、年龄等，这些就是学生类的属性。可以定义学生类的操作：“留级”/“升级”，如果某个学生对象的不及格课程门数达到规定的数量，就要“留级”，而成绩合格的学生则“升级”。</a:t>
            </a:r>
          </a:p>
          <a:p>
            <a:pPr indent="457200">
              <a:lnSpc>
                <a:spcPct val="130000"/>
              </a:lnSpc>
              <a:defRPr/>
            </a:pPr>
            <a:r>
              <a:rPr lang="da-DK" altLang="zh-CN" dirty="0">
                <a:solidFill>
                  <a:schemeClr val="tx1"/>
                </a:solidFill>
              </a:rPr>
              <a:t>而在学校图书馆管理系统中，可以定义借书证号、姓名、性别等属性，可以定义“借书”/“还书”等操作。但是“留级”/“升级”与图书馆管理没有关系，就不必定义了。</a:t>
            </a:r>
          </a:p>
        </p:txBody>
      </p:sp>
      <p:sp>
        <p:nvSpPr>
          <p:cNvPr id="35" name="MH_SubTitle_2"/>
          <p:cNvSpPr/>
          <p:nvPr>
            <p:custDataLst>
              <p:tags r:id="rId9"/>
            </p:custDataLst>
          </p:nvPr>
        </p:nvSpPr>
        <p:spPr>
          <a:xfrm flipH="1">
            <a:off x="7178567" y="1864321"/>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类 </a:t>
            </a:r>
            <a:r>
              <a:rPr lang="en-US" altLang="zh-CN" sz="2400" b="1" dirty="0">
                <a:solidFill>
                  <a:schemeClr val="bg1"/>
                </a:solidFill>
                <a:latin typeface="微软雅黑" panose="020B0503020204020204" charset="-122"/>
                <a:ea typeface="微软雅黑" panose="020B0503020204020204" charset="-122"/>
              </a:rPr>
              <a:t>Class</a:t>
            </a:r>
            <a:endParaRPr lang="zh-CN" altLang="en-US" sz="2400" b="1" dirty="0">
              <a:solidFill>
                <a:schemeClr val="bg1"/>
              </a:solidFill>
              <a:latin typeface="微软雅黑" panose="020B0503020204020204" charset="-122"/>
              <a:ea typeface="微软雅黑" panose="020B0503020204020204" charset="-122"/>
            </a:endParaRPr>
          </a:p>
        </p:txBody>
      </p:sp>
      <p:sp>
        <p:nvSpPr>
          <p:cNvPr id="36" name="MH_Other_5"/>
          <p:cNvSpPr/>
          <p:nvPr>
            <p:custDataLst>
              <p:tags r:id="rId10"/>
            </p:custDataLst>
          </p:nvPr>
        </p:nvSpPr>
        <p:spPr>
          <a:xfrm flipH="1">
            <a:off x="11185407" y="1742659"/>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37" name="MH_Other_6"/>
          <p:cNvSpPr/>
          <p:nvPr>
            <p:custDataLst>
              <p:tags r:id="rId11"/>
            </p:custDataLst>
          </p:nvPr>
        </p:nvSpPr>
        <p:spPr>
          <a:xfrm flipH="1">
            <a:off x="10688324" y="1741079"/>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8" name="泪滴形 17"/>
          <p:cNvSpPr/>
          <p:nvPr>
            <p:custDataLst>
              <p:tags r:id="rId12"/>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13"/>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0" name="文本框 16"/>
          <p:cNvSpPr txBox="1">
            <a:spLocks noChangeArrowheads="1"/>
          </p:cNvSpPr>
          <p:nvPr>
            <p:custDataLst>
              <p:tags r:id="rId14"/>
            </p:custDataLst>
          </p:nvPr>
        </p:nvSpPr>
        <p:spPr bwMode="auto">
          <a:xfrm>
            <a:off x="10361029" y="712378"/>
            <a:ext cx="893628" cy="759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类和实例</a:t>
            </a:r>
          </a:p>
        </p:txBody>
      </p:sp>
    </p:spTree>
  </p:cSld>
  <p:clrMapOvr>
    <a:masterClrMapping/>
  </p:clrMapOvr>
  <p:transition>
    <p:wheel spokes="3"/>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10" name="文本占位符 9">
            <a:extLst>
              <a:ext uri="{FF2B5EF4-FFF2-40B4-BE49-F238E27FC236}">
                <a16:creationId xmlns:a16="http://schemas.microsoft.com/office/drawing/2014/main" id="{8ACBC730-137F-11A4-61A9-2923AA5162E7}"/>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6" name="MH_Other_1"/>
          <p:cNvSpPr/>
          <p:nvPr>
            <p:custDataLst>
              <p:tags r:id="rId1"/>
            </p:custDataLst>
          </p:nvPr>
        </p:nvSpPr>
        <p:spPr bwMode="auto">
          <a:xfrm>
            <a:off x="0" y="2621392"/>
            <a:ext cx="2800125" cy="83973"/>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2"/>
            </p:custDataLst>
          </p:nvPr>
        </p:nvSpPr>
        <p:spPr bwMode="auto">
          <a:xfrm>
            <a:off x="2268855" y="5615305"/>
            <a:ext cx="9605010" cy="1492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 name="MH_Other_3"/>
          <p:cNvSpPr/>
          <p:nvPr>
            <p:custDataLst>
              <p:tags r:id="rId3"/>
            </p:custDataLst>
          </p:nvPr>
        </p:nvSpPr>
        <p:spPr>
          <a:xfrm>
            <a:off x="2624084" y="2990988"/>
            <a:ext cx="673217" cy="788041"/>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 name="MH_Other_4"/>
          <p:cNvSpPr>
            <a:spLocks noChangeArrowheads="1"/>
          </p:cNvSpPr>
          <p:nvPr>
            <p:custDataLst>
              <p:tags r:id="rId4"/>
            </p:custDataLst>
          </p:nvPr>
        </p:nvSpPr>
        <p:spPr bwMode="gray">
          <a:xfrm rot="15266332" flipV="1">
            <a:off x="2501586" y="2967920"/>
            <a:ext cx="780539" cy="6821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5"/>
          <p:cNvSpPr>
            <a:spLocks noChangeArrowheads="1"/>
          </p:cNvSpPr>
          <p:nvPr>
            <p:custDataLst>
              <p:tags r:id="rId5"/>
            </p:custDataLst>
          </p:nvPr>
        </p:nvSpPr>
        <p:spPr bwMode="gray">
          <a:xfrm rot="15334360" flipV="1">
            <a:off x="1980529" y="5392046"/>
            <a:ext cx="531372" cy="75266"/>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2277968" y="4130158"/>
            <a:ext cx="605655" cy="8535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1672615" y="3880837"/>
            <a:ext cx="673217" cy="788041"/>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4065905" y="3387090"/>
            <a:ext cx="7435850" cy="1446530"/>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endParaRPr lang="da-DK" altLang="zh-CN" dirty="0">
              <a:solidFill>
                <a:schemeClr val="tx1"/>
              </a:solidFill>
            </a:endParaRPr>
          </a:p>
        </p:txBody>
      </p:sp>
      <p:sp>
        <p:nvSpPr>
          <p:cNvPr id="35" name="MH_SubTitle_2"/>
          <p:cNvSpPr/>
          <p:nvPr>
            <p:custDataLst>
              <p:tags r:id="rId9"/>
            </p:custDataLst>
          </p:nvPr>
        </p:nvSpPr>
        <p:spPr>
          <a:xfrm flipH="1">
            <a:off x="7178567" y="1864321"/>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实例 </a:t>
            </a:r>
            <a:r>
              <a:rPr lang="en-US" altLang="zh-CN" sz="2400" b="1" dirty="0">
                <a:solidFill>
                  <a:schemeClr val="bg1"/>
                </a:solidFill>
                <a:latin typeface="微软雅黑" panose="020B0503020204020204" charset="-122"/>
                <a:ea typeface="微软雅黑" panose="020B0503020204020204" charset="-122"/>
              </a:rPr>
              <a:t>Instance</a:t>
            </a:r>
            <a:endParaRPr lang="zh-CN" altLang="en-US" sz="2400" b="1" dirty="0">
              <a:solidFill>
                <a:schemeClr val="bg1"/>
              </a:solidFill>
              <a:latin typeface="微软雅黑" panose="020B0503020204020204" charset="-122"/>
              <a:ea typeface="微软雅黑" panose="020B0503020204020204" charset="-122"/>
            </a:endParaRPr>
          </a:p>
        </p:txBody>
      </p:sp>
      <p:sp>
        <p:nvSpPr>
          <p:cNvPr id="36" name="MH_Other_5"/>
          <p:cNvSpPr/>
          <p:nvPr>
            <p:custDataLst>
              <p:tags r:id="rId10"/>
            </p:custDataLst>
          </p:nvPr>
        </p:nvSpPr>
        <p:spPr>
          <a:xfrm flipH="1">
            <a:off x="11185407" y="1742659"/>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37" name="MH_Other_6"/>
          <p:cNvSpPr/>
          <p:nvPr>
            <p:custDataLst>
              <p:tags r:id="rId11"/>
            </p:custDataLst>
          </p:nvPr>
        </p:nvSpPr>
        <p:spPr>
          <a:xfrm flipH="1">
            <a:off x="10688324" y="1741079"/>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8" name="泪滴形 17"/>
          <p:cNvSpPr/>
          <p:nvPr>
            <p:custDataLst>
              <p:tags r:id="rId12"/>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13"/>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20" name="文本框 16"/>
          <p:cNvSpPr txBox="1">
            <a:spLocks noChangeArrowheads="1"/>
          </p:cNvSpPr>
          <p:nvPr>
            <p:custDataLst>
              <p:tags r:id="rId14"/>
            </p:custDataLst>
          </p:nvPr>
        </p:nvSpPr>
        <p:spPr bwMode="auto">
          <a:xfrm>
            <a:off x="10361029" y="712378"/>
            <a:ext cx="893628" cy="759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类和实例</a:t>
            </a:r>
          </a:p>
        </p:txBody>
      </p:sp>
      <p:sp>
        <p:nvSpPr>
          <p:cNvPr id="9" name="文本框 8">
            <a:extLst>
              <a:ext uri="{FF2B5EF4-FFF2-40B4-BE49-F238E27FC236}">
                <a16:creationId xmlns:a16="http://schemas.microsoft.com/office/drawing/2014/main" id="{CE75E143-F135-F526-5573-D3BA962F1C72}"/>
              </a:ext>
            </a:extLst>
          </p:cNvPr>
          <p:cNvSpPr txBox="1"/>
          <p:nvPr/>
        </p:nvSpPr>
        <p:spPr>
          <a:xfrm>
            <a:off x="3781048" y="3759144"/>
            <a:ext cx="6108164" cy="1498936"/>
          </a:xfrm>
          <a:prstGeom prst="rect">
            <a:avLst/>
          </a:prstGeom>
          <a:noFill/>
        </p:spPr>
        <p:txBody>
          <a:bodyPr wrap="square" rtlCol="0">
            <a:spAutoFit/>
          </a:bodyPr>
          <a:lstStyle/>
          <a:p>
            <a:pPr indent="457200">
              <a:lnSpc>
                <a:spcPct val="130000"/>
              </a:lnSpc>
              <a:defRPr/>
            </a:pPr>
            <a:r>
              <a:rPr lang="da-DK" altLang="zh-CN" dirty="0"/>
              <a:t>实例是由某个特定的类所描述的一个具体对象。例如，学生是一个类，某位学生“王伟”就是学生类的一个实例。</a:t>
            </a:r>
          </a:p>
          <a:p>
            <a:pPr indent="457200">
              <a:lnSpc>
                <a:spcPct val="130000"/>
              </a:lnSpc>
              <a:defRPr/>
            </a:pPr>
            <a:r>
              <a:rPr lang="da-DK" altLang="zh-CN" dirty="0"/>
              <a:t>一般地</a:t>
            </a:r>
            <a:r>
              <a:rPr lang="da-DK" altLang="zh-CN"/>
              <a:t>，实例的概念还有更广泛的用法，其他建模元素也有实例</a:t>
            </a:r>
            <a:r>
              <a:rPr lang="da-DK" altLang="zh-CN" dirty="0"/>
              <a:t>。</a:t>
            </a:r>
            <a:endParaRPr lang="zh-CN" altLang="en-US" dirty="0"/>
          </a:p>
        </p:txBody>
      </p:sp>
    </p:spTree>
  </p:cSld>
  <p:clrMapOvr>
    <a:masterClrMapping/>
  </p:clrMapOvr>
  <p:transition>
    <p:wheel spokes="3"/>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7BB32233-636D-220A-ABE7-CEFD97B228B5}"/>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100" name="文本框 99"/>
          <p:cNvSpPr txBox="1"/>
          <p:nvPr/>
        </p:nvSpPr>
        <p:spPr>
          <a:xfrm>
            <a:off x="768509" y="2025460"/>
            <a:ext cx="10722904" cy="777457"/>
          </a:xfrm>
          <a:prstGeom prst="rect">
            <a:avLst/>
          </a:prstGeom>
          <a:solidFill>
            <a:schemeClr val="accent3">
              <a:lumMod val="20000"/>
              <a:lumOff val="80000"/>
            </a:schemeClr>
          </a:solidFill>
          <a:ln w="9525">
            <a:noFill/>
          </a:ln>
        </p:spPr>
        <p:txBody>
          <a:bodyPr wrap="square">
            <a:spAutoFit/>
          </a:bodyPr>
          <a:lstStyle/>
          <a:p>
            <a:pPr marL="0" indent="127000" algn="l" fontAlgn="auto">
              <a:lnSpc>
                <a:spcPct val="130000"/>
              </a:lnSpc>
            </a:pPr>
            <a:r>
              <a:rPr lang="en-US" altLang="zh-CN" dirty="0">
                <a:latin typeface="+mj-lt"/>
                <a:ea typeface="+mj-ea"/>
              </a:rPr>
              <a:t>   </a:t>
            </a:r>
            <a:r>
              <a:rPr lang="zh-CN" altLang="en-US" dirty="0">
                <a:latin typeface="+mj-lt"/>
                <a:ea typeface="+mj-ea"/>
              </a:rPr>
              <a:t>消息就是向对象发出的服务请求，是要求某个对象执行它所属的类中所定义的某个操作的规格说明。</a:t>
            </a:r>
          </a:p>
          <a:p>
            <a:pPr marL="0" indent="127000" algn="l" fontAlgn="auto">
              <a:lnSpc>
                <a:spcPct val="130000"/>
              </a:lnSpc>
            </a:pPr>
            <a:r>
              <a:rPr lang="zh-CN" altLang="en-US" dirty="0">
                <a:latin typeface="+mj-lt"/>
                <a:ea typeface="+mj-ea"/>
              </a:rPr>
              <a:t>    一个消息通常由以下3部分组成：</a:t>
            </a:r>
          </a:p>
        </p:txBody>
      </p:sp>
      <p:sp>
        <p:nvSpPr>
          <p:cNvPr id="6" name="MH_Other_1"/>
          <p:cNvSpPr>
            <a:spLocks noChangeArrowheads="1"/>
          </p:cNvSpPr>
          <p:nvPr>
            <p:custDataLst>
              <p:tags r:id="rId1"/>
            </p:custDataLst>
          </p:nvPr>
        </p:nvSpPr>
        <p:spPr bwMode="auto">
          <a:xfrm>
            <a:off x="1912891" y="3099631"/>
            <a:ext cx="710643" cy="49472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2"/>
            </p:custDataLst>
          </p:nvPr>
        </p:nvSpPr>
        <p:spPr bwMode="auto">
          <a:xfrm>
            <a:off x="2663759" y="3202310"/>
            <a:ext cx="563151" cy="392046"/>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3"/>
            </p:custDataLst>
          </p:nvPr>
        </p:nvSpPr>
        <p:spPr bwMode="auto">
          <a:xfrm>
            <a:off x="2073791" y="3622359"/>
            <a:ext cx="549743" cy="382712"/>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4"/>
            </p:custDataLst>
          </p:nvPr>
        </p:nvSpPr>
        <p:spPr bwMode="auto">
          <a:xfrm>
            <a:off x="2663759" y="3622359"/>
            <a:ext cx="710643" cy="32670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5"/>
            </p:custDataLst>
          </p:nvPr>
        </p:nvSpPr>
        <p:spPr>
          <a:xfrm>
            <a:off x="3604024" y="3358370"/>
            <a:ext cx="7176154" cy="387341"/>
          </a:xfrm>
          <a:prstGeom prst="rect">
            <a:avLst/>
          </a:prstGeom>
        </p:spPr>
        <p:txBody>
          <a:bodyPr lIns="72000" tIns="36000" rIns="72000" bIns="36000" anchor="ctr">
            <a:spAutoFit/>
          </a:bodyPr>
          <a:lstStyle/>
          <a:p>
            <a:pPr>
              <a:lnSpc>
                <a:spcPct val="125000"/>
              </a:lnSpc>
              <a:defRPr/>
            </a:pPr>
            <a:r>
              <a:rPr lang="zh-CN" altLang="en-US" dirty="0">
                <a:latin typeface="+mj-lt"/>
                <a:ea typeface="+mj-ea"/>
                <a:sym typeface="+mn-ea"/>
              </a:rPr>
              <a:t>接收消息的对象（提供服务的对象的标识符）</a:t>
            </a:r>
          </a:p>
        </p:txBody>
      </p:sp>
      <p:sp>
        <p:nvSpPr>
          <p:cNvPr id="11" name="MH_Other_5"/>
          <p:cNvSpPr>
            <a:spLocks noChangeArrowheads="1"/>
          </p:cNvSpPr>
          <p:nvPr>
            <p:custDataLst>
              <p:tags r:id="rId6"/>
            </p:custDataLst>
          </p:nvPr>
        </p:nvSpPr>
        <p:spPr bwMode="auto">
          <a:xfrm>
            <a:off x="1895565" y="5547955"/>
            <a:ext cx="710643" cy="49472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7"/>
            </p:custDataLst>
          </p:nvPr>
        </p:nvSpPr>
        <p:spPr bwMode="auto">
          <a:xfrm>
            <a:off x="2646433" y="5650633"/>
            <a:ext cx="563151" cy="392046"/>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8"/>
            </p:custDataLst>
          </p:nvPr>
        </p:nvSpPr>
        <p:spPr bwMode="auto">
          <a:xfrm>
            <a:off x="2056465" y="6070683"/>
            <a:ext cx="549743" cy="382712"/>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9"/>
            </p:custDataLst>
          </p:nvPr>
        </p:nvSpPr>
        <p:spPr bwMode="auto">
          <a:xfrm>
            <a:off x="2646433" y="6070683"/>
            <a:ext cx="710643" cy="32670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0"/>
            </p:custDataLst>
          </p:nvPr>
        </p:nvSpPr>
        <p:spPr>
          <a:xfrm>
            <a:off x="3604024" y="5752554"/>
            <a:ext cx="4849133" cy="387341"/>
          </a:xfrm>
          <a:prstGeom prst="rect">
            <a:avLst/>
          </a:prstGeom>
        </p:spPr>
        <p:txBody>
          <a:bodyPr lIns="72000" tIns="36000" rIns="72000" bIns="36000" anchor="ctr">
            <a:spAutoFit/>
          </a:bodyPr>
          <a:lstStyle/>
          <a:p>
            <a:pPr>
              <a:lnSpc>
                <a:spcPct val="125000"/>
              </a:lnSpc>
              <a:defRPr/>
            </a:pPr>
            <a:r>
              <a:rPr lang="zh-CN" altLang="en-US" dirty="0">
                <a:latin typeface="+mj-lt"/>
                <a:ea typeface="+mj-ea"/>
                <a:sym typeface="+mn-ea"/>
              </a:rPr>
              <a:t>输入信息和回答信息</a:t>
            </a:r>
          </a:p>
        </p:txBody>
      </p:sp>
      <p:sp>
        <p:nvSpPr>
          <p:cNvPr id="16" name="MH_Other_9"/>
          <p:cNvSpPr>
            <a:spLocks noChangeArrowheads="1"/>
          </p:cNvSpPr>
          <p:nvPr>
            <p:custDataLst>
              <p:tags r:id="rId11"/>
            </p:custDataLst>
          </p:nvPr>
        </p:nvSpPr>
        <p:spPr bwMode="auto">
          <a:xfrm>
            <a:off x="1881050" y="4274824"/>
            <a:ext cx="710643" cy="49472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12"/>
            </p:custDataLst>
          </p:nvPr>
        </p:nvSpPr>
        <p:spPr bwMode="auto">
          <a:xfrm>
            <a:off x="2631918" y="4377503"/>
            <a:ext cx="563151" cy="392046"/>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13"/>
            </p:custDataLst>
          </p:nvPr>
        </p:nvSpPr>
        <p:spPr bwMode="auto">
          <a:xfrm>
            <a:off x="2041950" y="4797552"/>
            <a:ext cx="549743" cy="382712"/>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14"/>
            </p:custDataLst>
          </p:nvPr>
        </p:nvSpPr>
        <p:spPr bwMode="auto">
          <a:xfrm>
            <a:off x="2631918" y="4797552"/>
            <a:ext cx="710643" cy="32670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5"/>
            </p:custDataLst>
          </p:nvPr>
        </p:nvSpPr>
        <p:spPr>
          <a:xfrm>
            <a:off x="3604024" y="4506182"/>
            <a:ext cx="5970743" cy="387341"/>
          </a:xfrm>
          <a:prstGeom prst="rect">
            <a:avLst/>
          </a:prstGeom>
        </p:spPr>
        <p:txBody>
          <a:bodyPr lIns="72000" tIns="36000" rIns="72000" bIns="36000" anchor="ctr">
            <a:spAutoFit/>
          </a:bodyPr>
          <a:lstStyle/>
          <a:p>
            <a:pPr lvl="0" algn="just">
              <a:lnSpc>
                <a:spcPct val="125000"/>
              </a:lnSpc>
              <a:spcBef>
                <a:spcPct val="0"/>
              </a:spcBef>
            </a:pPr>
            <a:r>
              <a:rPr lang="zh-CN" altLang="en-US" dirty="0">
                <a:latin typeface="+mj-lt"/>
                <a:ea typeface="+mj-ea"/>
                <a:sym typeface="+mn-ea"/>
              </a:rPr>
              <a:t>消息标识符（也称为消息名、服务标识）</a:t>
            </a:r>
          </a:p>
        </p:txBody>
      </p:sp>
      <p:sp>
        <p:nvSpPr>
          <p:cNvPr id="25" name="矩形 24"/>
          <p:cNvSpPr>
            <a:spLocks noChangeAspect="1"/>
          </p:cNvSpPr>
          <p:nvPr/>
        </p:nvSpPr>
        <p:spPr>
          <a:xfrm>
            <a:off x="628487" y="1921966"/>
            <a:ext cx="10999405" cy="112148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0" name="泪滴形 29"/>
          <p:cNvSpPr/>
          <p:nvPr>
            <p:custDataLst>
              <p:tags r:id="rId16"/>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31" name="椭圆 30"/>
          <p:cNvSpPr/>
          <p:nvPr>
            <p:custDataLst>
              <p:tags r:id="rId17"/>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32" name="文本框 16"/>
          <p:cNvSpPr txBox="1">
            <a:spLocks noChangeArrowheads="1"/>
          </p:cNvSpPr>
          <p:nvPr>
            <p:custDataLst>
              <p:tags r:id="rId18"/>
            </p:custDataLst>
          </p:nvPr>
        </p:nvSpPr>
        <p:spPr bwMode="auto">
          <a:xfrm>
            <a:off x="10361029" y="889802"/>
            <a:ext cx="893628"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消息</a:t>
            </a:r>
          </a:p>
        </p:txBody>
      </p:sp>
    </p:spTree>
  </p:cSld>
  <p:clrMapOvr>
    <a:masterClrMapping/>
  </p:clrMapOvr>
  <p:transition>
    <p:wheel spokes="3"/>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t>6.1 </a:t>
            </a:r>
            <a:r>
              <a:rPr lang="zh-CN" altLang="en-US"/>
              <a:t>面向对象方法概述</a:t>
            </a:r>
            <a:endParaRPr lang="zh-CN" altLang="en-US" dirty="0"/>
          </a:p>
        </p:txBody>
      </p:sp>
      <p:sp>
        <p:nvSpPr>
          <p:cNvPr id="4" name="文本占位符 3">
            <a:extLst>
              <a:ext uri="{FF2B5EF4-FFF2-40B4-BE49-F238E27FC236}">
                <a16:creationId xmlns:a16="http://schemas.microsoft.com/office/drawing/2014/main" id="{CE58DA5E-DB71-86B7-350C-032DD394C8AA}"/>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grpSp>
        <p:nvGrpSpPr>
          <p:cNvPr id="5" name="组合 4"/>
          <p:cNvGrpSpPr/>
          <p:nvPr/>
        </p:nvGrpSpPr>
        <p:grpSpPr>
          <a:xfrm>
            <a:off x="0" y="2506345"/>
            <a:ext cx="12192000" cy="3171825"/>
            <a:chOff x="0" y="4082"/>
            <a:chExt cx="19200" cy="4995"/>
          </a:xfrm>
        </p:grpSpPr>
        <p:sp>
          <p:nvSpPr>
            <p:cNvPr id="6" name="矩形 5"/>
            <p:cNvSpPr/>
            <p:nvPr/>
          </p:nvSpPr>
          <p:spPr>
            <a:xfrm>
              <a:off x="0" y="4082"/>
              <a:ext cx="19200" cy="4995"/>
            </a:xfrm>
            <a:prstGeom prst="rect">
              <a:avLst/>
            </a:prstGeom>
            <a:solidFill>
              <a:schemeClr val="accent3">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73" y="4743"/>
              <a:ext cx="11505" cy="3770"/>
            </a:xfrm>
            <a:prstGeom prst="rect">
              <a:avLst/>
            </a:prstGeom>
          </p:spPr>
          <p:txBody>
            <a:bodyPr wrap="square">
              <a:spAutoFit/>
            </a:bodyPr>
            <a:lstStyle/>
            <a:p>
              <a:pPr indent="457200">
                <a:lnSpc>
                  <a:spcPct val="120000"/>
                </a:lnSpc>
                <a:defRPr/>
              </a:pPr>
              <a:r>
                <a:rPr lang="zh-CN" altLang="en-US" dirty="0">
                  <a:solidFill>
                    <a:schemeClr val="bg1"/>
                  </a:solidFill>
                  <a:ea typeface="微软雅黑" panose="020B0503020204020204" charset="-122"/>
                </a:rPr>
                <a:t>封装就是把对象的属性和方法（服务）结合成一个独立的单位，尽可能隐蔽对象的内部细节。封装实际上也就是信息隐藏，通过封装把对象的实现细节对外界隐藏起来。对用户来说，实现部分是不可见的，用户可见的是接口（即协议）。</a:t>
              </a:r>
            </a:p>
            <a:p>
              <a:pPr indent="457200">
                <a:lnSpc>
                  <a:spcPct val="120000"/>
                </a:lnSpc>
                <a:defRPr/>
              </a:pPr>
              <a:r>
                <a:rPr lang="zh-CN" altLang="en-US" dirty="0">
                  <a:solidFill>
                    <a:schemeClr val="bg1"/>
                  </a:solidFill>
                  <a:ea typeface="微软雅黑" panose="020B0503020204020204" charset="-122"/>
                </a:rPr>
                <a:t>封装可以保护对象，防止用户直接存取对象的内部细节，封装也保护了客户端，对象实现部分的改变不会影响客户端。</a:t>
              </a:r>
            </a:p>
            <a:p>
              <a:pPr indent="457200">
                <a:lnSpc>
                  <a:spcPct val="120000"/>
                </a:lnSpc>
                <a:defRPr/>
              </a:pPr>
              <a:endParaRPr lang="zh-CN" altLang="en-US" dirty="0">
                <a:solidFill>
                  <a:schemeClr val="bg1"/>
                </a:solidFill>
                <a:ea typeface="微软雅黑" panose="020B0503020204020204" charset="-122"/>
              </a:endParaRPr>
            </a:p>
          </p:txBody>
        </p:sp>
      </p:grpSp>
      <p:sp>
        <p:nvSpPr>
          <p:cNvPr id="20" name="矩形 19"/>
          <p:cNvSpPr/>
          <p:nvPr/>
        </p:nvSpPr>
        <p:spPr>
          <a:xfrm>
            <a:off x="6586855" y="1553210"/>
            <a:ext cx="5280660" cy="1266190"/>
          </a:xfrm>
          <a:prstGeom prst="rect">
            <a:avLst/>
          </a:prstGeom>
          <a:noFill/>
          <a:ln>
            <a:noFill/>
          </a:ln>
        </p:spPr>
        <p:txBody>
          <a:bodyPr wrap="square" rtlCol="0" anchor="t">
            <a:prstTxWarp prst="textStop">
              <a:avLst/>
            </a:prstTxWarp>
            <a:spAutoFit/>
          </a:bodyPr>
          <a:lstStyle/>
          <a:p>
            <a:pPr algn="ctr"/>
            <a:r>
              <a:rPr lang="en-US" altLang="zh-CN" sz="4000" kern="0" dirty="0">
                <a:solidFill>
                  <a:schemeClr val="tx1"/>
                </a:solidFill>
                <a:latin typeface="微软雅黑" panose="020B0503020204020204" charset="-122"/>
                <a:ea typeface="微软雅黑" panose="020B0503020204020204" charset="-122"/>
                <a:cs typeface="宋体" panose="02010600030101010101" pitchFamily="2" charset="-122"/>
                <a:sym typeface="+mn-ea"/>
              </a:rPr>
              <a:t>Encapsulation</a:t>
            </a:r>
          </a:p>
        </p:txBody>
      </p:sp>
      <p:grpSp>
        <p:nvGrpSpPr>
          <p:cNvPr id="9" name="组合 8"/>
          <p:cNvGrpSpPr/>
          <p:nvPr/>
        </p:nvGrpSpPr>
        <p:grpSpPr>
          <a:xfrm>
            <a:off x="9959915" y="217227"/>
            <a:ext cx="1695273" cy="1693460"/>
            <a:chOff x="9959915" y="217227"/>
            <a:chExt cx="1849120" cy="1849120"/>
          </a:xfrm>
        </p:grpSpPr>
        <p:sp>
          <p:nvSpPr>
            <p:cNvPr id="10" name="泪滴形 9"/>
            <p:cNvSpPr/>
            <p:nvPr>
              <p:custDataLst>
                <p:tags r:id="rId1"/>
              </p:custDataLst>
            </p:nvPr>
          </p:nvSpPr>
          <p:spPr>
            <a:xfrm rot="8100000">
              <a:off x="9959915" y="217227"/>
              <a:ext cx="1849120" cy="184912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1" name="椭圆 10"/>
            <p:cNvSpPr/>
            <p:nvPr>
              <p:custDataLst>
                <p:tags r:id="rId2"/>
              </p:custDataLst>
            </p:nvPr>
          </p:nvSpPr>
          <p:spPr>
            <a:xfrm>
              <a:off x="10080565" y="337877"/>
              <a:ext cx="1600200" cy="1600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2" name="文本框 16"/>
            <p:cNvSpPr txBox="1">
              <a:spLocks noChangeArrowheads="1"/>
            </p:cNvSpPr>
            <p:nvPr>
              <p:custDataLst>
                <p:tags r:id="rId3"/>
              </p:custDataLst>
            </p:nvPr>
          </p:nvSpPr>
          <p:spPr bwMode="auto">
            <a:xfrm>
              <a:off x="10397430" y="951624"/>
              <a:ext cx="974725" cy="46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封装</a:t>
              </a:r>
            </a:p>
          </p:txBody>
        </p:sp>
      </p:grpSp>
    </p:spTree>
  </p:cSld>
  <p:clrMapOvr>
    <a:masterClrMapping/>
  </p:clrMapOvr>
  <p:transition>
    <p:wheel spokes="3"/>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5" name="文本占位符 4">
            <a:extLst>
              <a:ext uri="{FF2B5EF4-FFF2-40B4-BE49-F238E27FC236}">
                <a16:creationId xmlns:a16="http://schemas.microsoft.com/office/drawing/2014/main" id="{7B2A1A80-8C97-DFBA-7B2B-AB8650F38B05}"/>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12" name="MH_Desc_1"/>
          <p:cNvSpPr/>
          <p:nvPr>
            <p:custDataLst>
              <p:tags r:id="rId1"/>
            </p:custDataLst>
          </p:nvPr>
        </p:nvSpPr>
        <p:spPr>
          <a:xfrm>
            <a:off x="5981700" y="2315845"/>
            <a:ext cx="5628005" cy="32162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特殊类的对象拥有其一般类的全部属性与服务，称为特殊类对一般类的继承。继承是子类自动地拥有父类中定义的属性和方法的机制。</a:t>
            </a:r>
          </a:p>
          <a:p>
            <a:pPr indent="457200">
              <a:lnSpc>
                <a:spcPct val="120000"/>
              </a:lnSpc>
            </a:pPr>
            <a:r>
              <a:rPr dirty="0">
                <a:solidFill>
                  <a:schemeClr val="tx1"/>
                </a:solidFill>
                <a:latin typeface="微软雅黑" panose="020B0503020204020204" charset="-122"/>
                <a:ea typeface="微软雅黑" panose="020B0503020204020204" charset="-122"/>
              </a:rPr>
              <a:t>面向对象方法把类组成一个层次结构的系统，称为类等级：子类/父类或派生类/基类或特殊类/一般类。继承具有传递性，一个对象继承了它所在的类等级中、它的上层类的全部属性和方法，它的子类又继承了它的属性和方法。</a:t>
            </a:r>
          </a:p>
        </p:txBody>
      </p:sp>
      <p:sp>
        <p:nvSpPr>
          <p:cNvPr id="2" name="矩形 1"/>
          <p:cNvSpPr/>
          <p:nvPr/>
        </p:nvSpPr>
        <p:spPr>
          <a:xfrm>
            <a:off x="595630" y="2926080"/>
            <a:ext cx="4682490" cy="1737360"/>
          </a:xfrm>
          <a:prstGeom prst="rect">
            <a:avLst/>
          </a:prstGeom>
          <a:noFill/>
          <a:ln>
            <a:noFill/>
          </a:ln>
        </p:spPr>
        <p:txBody>
          <a:bodyPr wrap="square" rtlCol="0" anchor="t">
            <a:prstTxWarp prst="textDoubleWave1">
              <a:avLst/>
            </a:prstTxWarp>
            <a:spAutoFit/>
          </a:bodyPr>
          <a:lstStyle/>
          <a:p>
            <a:pPr algn="ctr"/>
            <a:r>
              <a:rPr lang="zh-CN" altLang="en-US" sz="4000" b="1" dirty="0">
                <a:solidFill>
                  <a:schemeClr val="tx1"/>
                </a:solidFill>
                <a:effectLst>
                  <a:outerShdw blurRad="38100" dist="19050" dir="2700000" algn="tl" rotWithShape="0">
                    <a:schemeClr val="dk1">
                      <a:alpha val="40000"/>
                    </a:schemeClr>
                  </a:outerShdw>
                </a:effectLst>
              </a:rPr>
              <a:t>Inheritance</a:t>
            </a:r>
          </a:p>
        </p:txBody>
      </p:sp>
      <p:grpSp>
        <p:nvGrpSpPr>
          <p:cNvPr id="6" name="组合 5"/>
          <p:cNvGrpSpPr/>
          <p:nvPr/>
        </p:nvGrpSpPr>
        <p:grpSpPr>
          <a:xfrm>
            <a:off x="9959915" y="217227"/>
            <a:ext cx="1695273" cy="1693460"/>
            <a:chOff x="9959915" y="217227"/>
            <a:chExt cx="1849120" cy="1849120"/>
          </a:xfrm>
        </p:grpSpPr>
        <p:sp>
          <p:nvSpPr>
            <p:cNvPr id="7" name="泪滴形 6"/>
            <p:cNvSpPr/>
            <p:nvPr>
              <p:custDataLst>
                <p:tags r:id="rId2"/>
              </p:custDataLst>
            </p:nvPr>
          </p:nvSpPr>
          <p:spPr>
            <a:xfrm rot="8100000">
              <a:off x="9959915" y="217227"/>
              <a:ext cx="1849120" cy="184912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8" name="椭圆 7"/>
            <p:cNvSpPr/>
            <p:nvPr>
              <p:custDataLst>
                <p:tags r:id="rId3"/>
              </p:custDataLst>
            </p:nvPr>
          </p:nvSpPr>
          <p:spPr>
            <a:xfrm>
              <a:off x="10080565" y="337877"/>
              <a:ext cx="1600200" cy="1600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9" name="文本框 16"/>
            <p:cNvSpPr txBox="1">
              <a:spLocks noChangeArrowheads="1"/>
            </p:cNvSpPr>
            <p:nvPr>
              <p:custDataLst>
                <p:tags r:id="rId4"/>
              </p:custDataLst>
            </p:nvPr>
          </p:nvSpPr>
          <p:spPr bwMode="auto">
            <a:xfrm>
              <a:off x="10397430" y="951624"/>
              <a:ext cx="974725" cy="46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继承</a:t>
              </a:r>
            </a:p>
          </p:txBody>
        </p:sp>
      </p:grpSp>
    </p:spTree>
  </p:cSld>
  <p:clrMapOvr>
    <a:masterClrMapping/>
  </p:clrMapOvr>
  <p:transition>
    <p:wheel spokes="3"/>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6.1 </a:t>
            </a:r>
            <a:r>
              <a:rPr lang="zh-CN" altLang="en-US" dirty="0"/>
              <a:t>面向对象方法概述</a:t>
            </a:r>
          </a:p>
        </p:txBody>
      </p:sp>
      <p:sp>
        <p:nvSpPr>
          <p:cNvPr id="5" name="文本占位符 4">
            <a:extLst>
              <a:ext uri="{FF2B5EF4-FFF2-40B4-BE49-F238E27FC236}">
                <a16:creationId xmlns:a16="http://schemas.microsoft.com/office/drawing/2014/main" id="{188A49C6-5CBD-673D-A062-CD74C52DCAC7}"/>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12" name="MH_Desc_1"/>
          <p:cNvSpPr/>
          <p:nvPr>
            <p:custDataLst>
              <p:tags r:id="rId1"/>
            </p:custDataLst>
          </p:nvPr>
        </p:nvSpPr>
        <p:spPr>
          <a:xfrm>
            <a:off x="5981700" y="2315845"/>
            <a:ext cx="5628005" cy="32162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继承有两类：单继承和多重继承。</a:t>
            </a:r>
          </a:p>
          <a:p>
            <a:pPr marL="285750" indent="-285750">
              <a:lnSpc>
                <a:spcPct val="120000"/>
              </a:lnSpc>
              <a:buFont typeface="Wingdings" panose="05000000000000000000" charset="0"/>
              <a:buChar char="Ø"/>
            </a:pPr>
            <a:r>
              <a:rPr dirty="0">
                <a:solidFill>
                  <a:schemeClr val="tx1"/>
                </a:solidFill>
                <a:latin typeface="微软雅黑" panose="020B0503020204020204" charset="-122"/>
                <a:ea typeface="微软雅黑" panose="020B0503020204020204" charset="-122"/>
              </a:rPr>
              <a:t>单继承：一个类只允许有一个父类，即类等级为树形结构时，类的继承是单继承。例如，学生类分为专科生、本科生、研究生3个子类，就是单继承。</a:t>
            </a:r>
          </a:p>
          <a:p>
            <a:pPr marL="285750" indent="-285750">
              <a:lnSpc>
                <a:spcPct val="120000"/>
              </a:lnSpc>
              <a:buFont typeface="Wingdings" panose="05000000000000000000" charset="0"/>
              <a:buChar char="Ø"/>
            </a:pPr>
            <a:r>
              <a:rPr dirty="0">
                <a:solidFill>
                  <a:schemeClr val="tx1"/>
                </a:solidFill>
                <a:latin typeface="微软雅黑" panose="020B0503020204020204" charset="-122"/>
                <a:ea typeface="微软雅黑" panose="020B0503020204020204" charset="-122"/>
              </a:rPr>
              <a:t>多重继承：当一个类有多个父类，即类等级为网状结构时，类的继承是多重继承。例如，冷藏车继承了汽车类和冷藏设备类两个类的属性和服务。</a:t>
            </a:r>
          </a:p>
        </p:txBody>
      </p:sp>
      <p:sp>
        <p:nvSpPr>
          <p:cNvPr id="2" name="矩形 1"/>
          <p:cNvSpPr/>
          <p:nvPr/>
        </p:nvSpPr>
        <p:spPr>
          <a:xfrm>
            <a:off x="595630" y="2926080"/>
            <a:ext cx="4682490" cy="1737360"/>
          </a:xfrm>
          <a:prstGeom prst="rect">
            <a:avLst/>
          </a:prstGeom>
          <a:noFill/>
          <a:ln>
            <a:noFill/>
          </a:ln>
        </p:spPr>
        <p:txBody>
          <a:bodyPr wrap="square" rtlCol="0" anchor="t">
            <a:prstTxWarp prst="textDoubleWave1">
              <a:avLst/>
            </a:prstTxWarp>
            <a:spAutoFit/>
          </a:bodyPr>
          <a:lstStyle/>
          <a:p>
            <a:pPr algn="ctr"/>
            <a:r>
              <a:rPr lang="zh-CN" altLang="en-US" sz="4000" b="1">
                <a:solidFill>
                  <a:schemeClr val="tx1"/>
                </a:solidFill>
                <a:effectLst>
                  <a:outerShdw blurRad="38100" dist="19050" dir="2700000" algn="tl" rotWithShape="0">
                    <a:schemeClr val="dk1">
                      <a:alpha val="40000"/>
                    </a:schemeClr>
                  </a:outerShdw>
                </a:effectLst>
              </a:rPr>
              <a:t>Inheritance</a:t>
            </a:r>
          </a:p>
        </p:txBody>
      </p:sp>
      <p:grpSp>
        <p:nvGrpSpPr>
          <p:cNvPr id="6" name="组合 5"/>
          <p:cNvGrpSpPr/>
          <p:nvPr/>
        </p:nvGrpSpPr>
        <p:grpSpPr>
          <a:xfrm>
            <a:off x="9959915" y="217227"/>
            <a:ext cx="1695273" cy="1693460"/>
            <a:chOff x="9959915" y="217227"/>
            <a:chExt cx="1849120" cy="1849120"/>
          </a:xfrm>
        </p:grpSpPr>
        <p:sp>
          <p:nvSpPr>
            <p:cNvPr id="7" name="泪滴形 6"/>
            <p:cNvSpPr/>
            <p:nvPr>
              <p:custDataLst>
                <p:tags r:id="rId2"/>
              </p:custDataLst>
            </p:nvPr>
          </p:nvSpPr>
          <p:spPr>
            <a:xfrm rot="8100000">
              <a:off x="9959915" y="217227"/>
              <a:ext cx="1849120" cy="184912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8" name="椭圆 7"/>
            <p:cNvSpPr/>
            <p:nvPr>
              <p:custDataLst>
                <p:tags r:id="rId3"/>
              </p:custDataLst>
            </p:nvPr>
          </p:nvSpPr>
          <p:spPr>
            <a:xfrm>
              <a:off x="10080565" y="337877"/>
              <a:ext cx="1600200" cy="1600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9" name="文本框 16"/>
            <p:cNvSpPr txBox="1">
              <a:spLocks noChangeArrowheads="1"/>
            </p:cNvSpPr>
            <p:nvPr>
              <p:custDataLst>
                <p:tags r:id="rId4"/>
              </p:custDataLst>
            </p:nvPr>
          </p:nvSpPr>
          <p:spPr bwMode="auto">
            <a:xfrm>
              <a:off x="10397430" y="951624"/>
              <a:ext cx="974725" cy="46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消息</a:t>
              </a:r>
            </a:p>
          </p:txBody>
        </p:sp>
      </p:grpSp>
    </p:spTree>
  </p:cSld>
  <p:clrMapOvr>
    <a:masterClrMapping/>
  </p:clrMapOvr>
  <p:transition>
    <p:wheel spokes="3"/>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4" name="文本占位符 3">
            <a:extLst>
              <a:ext uri="{FF2B5EF4-FFF2-40B4-BE49-F238E27FC236}">
                <a16:creationId xmlns:a16="http://schemas.microsoft.com/office/drawing/2014/main" id="{EA4F28FA-B738-4669-55AA-7B07910AB4A3}"/>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grpSp>
        <p:nvGrpSpPr>
          <p:cNvPr id="5" name="组合 4"/>
          <p:cNvGrpSpPr/>
          <p:nvPr/>
        </p:nvGrpSpPr>
        <p:grpSpPr>
          <a:xfrm>
            <a:off x="0" y="2506345"/>
            <a:ext cx="12192000" cy="3171825"/>
            <a:chOff x="0" y="4082"/>
            <a:chExt cx="19200" cy="4995"/>
          </a:xfrm>
        </p:grpSpPr>
        <p:sp>
          <p:nvSpPr>
            <p:cNvPr id="6" name="矩形 5"/>
            <p:cNvSpPr/>
            <p:nvPr/>
          </p:nvSpPr>
          <p:spPr>
            <a:xfrm>
              <a:off x="0" y="4082"/>
              <a:ext cx="19200" cy="4995"/>
            </a:xfrm>
            <a:prstGeom prst="rect">
              <a:avLst/>
            </a:prstGeom>
            <a:solidFill>
              <a:schemeClr val="accent3">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254" y="4782"/>
              <a:ext cx="16448" cy="3492"/>
            </a:xfrm>
            <a:prstGeom prst="rect">
              <a:avLst/>
            </a:prstGeom>
          </p:spPr>
          <p:txBody>
            <a:bodyPr wrap="square">
              <a:spAutoFit/>
            </a:bodyPr>
            <a:lstStyle/>
            <a:p>
              <a:pPr indent="457200">
                <a:lnSpc>
                  <a:spcPct val="130000"/>
                </a:lnSpc>
                <a:defRPr/>
              </a:pPr>
              <a:r>
                <a:rPr dirty="0">
                  <a:solidFill>
                    <a:schemeClr val="bg1"/>
                  </a:solidFill>
                  <a:ea typeface="微软雅黑" panose="020B0503020204020204" charset="-122"/>
                </a:rPr>
                <a:t>多态性是指允许属于不同类的对象对同一消息做出响应。例如，不同层次的类可以共享一个行为的名称，在接收到发给它的消息时，根据对象所属的类动态选用在该类中定义的实现算法，即该行为具有多态性。</a:t>
              </a:r>
            </a:p>
            <a:p>
              <a:pPr indent="457200">
                <a:lnSpc>
                  <a:spcPct val="130000"/>
                </a:lnSpc>
                <a:defRPr/>
              </a:pPr>
              <a:r>
                <a:rPr dirty="0">
                  <a:solidFill>
                    <a:schemeClr val="bg1"/>
                  </a:solidFill>
                  <a:ea typeface="微软雅黑" panose="020B0503020204020204" charset="-122"/>
                </a:rPr>
                <a:t>例如，多边形的特殊类有正多边形、轴向矩形。在多边形绘图时，需要确定n个顶点的坐标；在正多边形绘图时，需要确定其边数、中心坐标、外接圆半径和一个顶点的坐标；而在轴向矩形绘图时，只需要确定与坐标原点相对的一个顶点的坐标。因此，多边形绘图时的算法具有多态性。</a:t>
              </a:r>
            </a:p>
          </p:txBody>
        </p:sp>
      </p:grpSp>
      <p:sp>
        <p:nvSpPr>
          <p:cNvPr id="20" name="矩形 19"/>
          <p:cNvSpPr/>
          <p:nvPr/>
        </p:nvSpPr>
        <p:spPr>
          <a:xfrm>
            <a:off x="6586855" y="1553210"/>
            <a:ext cx="5280660" cy="1266190"/>
          </a:xfrm>
          <a:prstGeom prst="rect">
            <a:avLst/>
          </a:prstGeom>
          <a:noFill/>
          <a:ln>
            <a:noFill/>
          </a:ln>
        </p:spPr>
        <p:txBody>
          <a:bodyPr wrap="square" rtlCol="0" anchor="t">
            <a:prstTxWarp prst="textStop">
              <a:avLst/>
            </a:prstTxWarp>
            <a:spAutoFit/>
          </a:bodyPr>
          <a:lstStyle/>
          <a:p>
            <a:pPr algn="ctr"/>
            <a:r>
              <a:rPr lang="en-US" altLang="zh-CN" sz="4000" kern="0" dirty="0">
                <a:solidFill>
                  <a:schemeClr val="tx1"/>
                </a:solidFill>
                <a:latin typeface="微软雅黑" panose="020B0503020204020204" charset="-122"/>
                <a:ea typeface="微软雅黑" panose="020B0503020204020204" charset="-122"/>
                <a:cs typeface="宋体" panose="02010600030101010101" pitchFamily="2" charset="-122"/>
                <a:sym typeface="+mn-ea"/>
              </a:rPr>
              <a:t>Polymorphism</a:t>
            </a:r>
          </a:p>
        </p:txBody>
      </p:sp>
      <p:grpSp>
        <p:nvGrpSpPr>
          <p:cNvPr id="8" name="组合 7"/>
          <p:cNvGrpSpPr/>
          <p:nvPr/>
        </p:nvGrpSpPr>
        <p:grpSpPr>
          <a:xfrm>
            <a:off x="9959915" y="217227"/>
            <a:ext cx="1695273" cy="1693460"/>
            <a:chOff x="9959915" y="217227"/>
            <a:chExt cx="1849120" cy="1849120"/>
          </a:xfrm>
        </p:grpSpPr>
        <p:sp>
          <p:nvSpPr>
            <p:cNvPr id="9" name="泪滴形 8"/>
            <p:cNvSpPr/>
            <p:nvPr>
              <p:custDataLst>
                <p:tags r:id="rId1"/>
              </p:custDataLst>
            </p:nvPr>
          </p:nvSpPr>
          <p:spPr>
            <a:xfrm rot="8100000">
              <a:off x="9959915" y="217227"/>
              <a:ext cx="1849120" cy="184912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0" name="椭圆 9"/>
            <p:cNvSpPr/>
            <p:nvPr>
              <p:custDataLst>
                <p:tags r:id="rId2"/>
              </p:custDataLst>
            </p:nvPr>
          </p:nvSpPr>
          <p:spPr>
            <a:xfrm>
              <a:off x="10080565" y="337877"/>
              <a:ext cx="1600200" cy="1600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1" name="文本框 16"/>
            <p:cNvSpPr txBox="1">
              <a:spLocks noChangeArrowheads="1"/>
            </p:cNvSpPr>
            <p:nvPr>
              <p:custDataLst>
                <p:tags r:id="rId3"/>
              </p:custDataLst>
            </p:nvPr>
          </p:nvSpPr>
          <p:spPr bwMode="auto">
            <a:xfrm>
              <a:off x="10397430" y="772794"/>
              <a:ext cx="974725" cy="82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多态性</a:t>
              </a:r>
            </a:p>
          </p:txBody>
        </p:sp>
      </p:grpSp>
    </p:spTree>
  </p:cSld>
  <p:clrMapOvr>
    <a:masterClrMapping/>
  </p:clrMapOvr>
  <p:transition>
    <p:wheel spokes="3"/>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6.1 </a:t>
            </a:r>
            <a:r>
              <a:rPr lang="zh-CN" altLang="en-US" dirty="0"/>
              <a:t>面向对象方法概述</a:t>
            </a:r>
          </a:p>
        </p:txBody>
      </p:sp>
      <p:sp>
        <p:nvSpPr>
          <p:cNvPr id="6" name="文本占位符 5">
            <a:extLst>
              <a:ext uri="{FF2B5EF4-FFF2-40B4-BE49-F238E27FC236}">
                <a16:creationId xmlns:a16="http://schemas.microsoft.com/office/drawing/2014/main" id="{CDF5956D-E650-B07D-088C-3A21B10755AF}"/>
              </a:ext>
            </a:extLst>
          </p:cNvPr>
          <p:cNvSpPr>
            <a:spLocks noGrp="1"/>
          </p:cNvSpPr>
          <p:nvPr>
            <p:ph type="body" sz="quarter" idx="10"/>
          </p:nvPr>
        </p:nvSpPr>
        <p:spPr>
          <a:xfrm>
            <a:off x="900001" y="1322832"/>
            <a:ext cx="5196000" cy="400110"/>
          </a:xfrm>
        </p:spPr>
        <p:txBody>
          <a:bodyPr/>
          <a:lstStyle/>
          <a:p>
            <a:r>
              <a:rPr lang="en-US" altLang="zh-CN" dirty="0"/>
              <a:t>6.1.2 </a:t>
            </a:r>
            <a:r>
              <a:rPr lang="zh-CN" altLang="en-US" dirty="0"/>
              <a:t>面向对象方法的概念</a:t>
            </a:r>
          </a:p>
        </p:txBody>
      </p:sp>
      <p:sp>
        <p:nvSpPr>
          <p:cNvPr id="5" name="MH_Other_1"/>
          <p:cNvSpPr/>
          <p:nvPr>
            <p:custDataLst>
              <p:tags r:id="rId1"/>
            </p:custDataLst>
          </p:nvPr>
        </p:nvSpPr>
        <p:spPr>
          <a:xfrm>
            <a:off x="2646680" y="3066415"/>
            <a:ext cx="6797040" cy="892175"/>
          </a:xfrm>
          <a:custGeom>
            <a:avLst/>
            <a:gdLst>
              <a:gd name="connsiteX0" fmla="*/ 0 w 6192688"/>
              <a:gd name="connsiteY0" fmla="*/ 0 h 1261899"/>
              <a:gd name="connsiteX1" fmla="*/ 1656183 w 6192688"/>
              <a:gd name="connsiteY1" fmla="*/ 0 h 1261899"/>
              <a:gd name="connsiteX2" fmla="*/ 4179979 w 6192688"/>
              <a:gd name="connsiteY2" fmla="*/ 0 h 1261899"/>
              <a:gd name="connsiteX3" fmla="*/ 6192688 w 6192688"/>
              <a:gd name="connsiteY3" fmla="*/ 0 h 1261899"/>
              <a:gd name="connsiteX4" fmla="*/ 6192688 w 6192688"/>
              <a:gd name="connsiteY4" fmla="*/ 72008 h 1261899"/>
              <a:gd name="connsiteX5" fmla="*/ 4176343 w 6192688"/>
              <a:gd name="connsiteY5" fmla="*/ 72008 h 1261899"/>
              <a:gd name="connsiteX6" fmla="*/ 2918081 w 6192688"/>
              <a:gd name="connsiteY6" fmla="*/ 1261899 h 1261899"/>
              <a:gd name="connsiteX7" fmla="*/ 1659819 w 6192688"/>
              <a:gd name="connsiteY7" fmla="*/ 72008 h 1261899"/>
              <a:gd name="connsiteX8" fmla="*/ 0 w 6192688"/>
              <a:gd name="connsiteY8" fmla="*/ 72008 h 1261899"/>
              <a:gd name="connsiteX9" fmla="*/ 91440 w 6192688"/>
              <a:gd name="connsiteY9" fmla="*/ 91440 h 1261899"/>
              <a:gd name="connsiteX0-1" fmla="*/ 1656183 w 6192688"/>
              <a:gd name="connsiteY0-2" fmla="*/ 0 h 1261899"/>
              <a:gd name="connsiteX1-3" fmla="*/ 4179979 w 6192688"/>
              <a:gd name="connsiteY1-4" fmla="*/ 0 h 1261899"/>
              <a:gd name="connsiteX2-5" fmla="*/ 6192688 w 6192688"/>
              <a:gd name="connsiteY2-6" fmla="*/ 0 h 1261899"/>
              <a:gd name="connsiteX3-7" fmla="*/ 6192688 w 6192688"/>
              <a:gd name="connsiteY3-8" fmla="*/ 72008 h 1261899"/>
              <a:gd name="connsiteX4-9" fmla="*/ 4176343 w 6192688"/>
              <a:gd name="connsiteY4-10" fmla="*/ 72008 h 1261899"/>
              <a:gd name="connsiteX5-11" fmla="*/ 2918081 w 6192688"/>
              <a:gd name="connsiteY5-12" fmla="*/ 1261899 h 1261899"/>
              <a:gd name="connsiteX6-13" fmla="*/ 1659819 w 6192688"/>
              <a:gd name="connsiteY6-14" fmla="*/ 72008 h 1261899"/>
              <a:gd name="connsiteX7-15" fmla="*/ 0 w 6192688"/>
              <a:gd name="connsiteY7-16" fmla="*/ 72008 h 1261899"/>
              <a:gd name="connsiteX8-17" fmla="*/ 91440 w 6192688"/>
              <a:gd name="connsiteY8-18" fmla="*/ 91440 h 1261899"/>
              <a:gd name="connsiteX0-19" fmla="*/ 4179979 w 6192688"/>
              <a:gd name="connsiteY0-20" fmla="*/ 0 h 1261899"/>
              <a:gd name="connsiteX1-21" fmla="*/ 6192688 w 6192688"/>
              <a:gd name="connsiteY1-22" fmla="*/ 0 h 1261899"/>
              <a:gd name="connsiteX2-23" fmla="*/ 6192688 w 6192688"/>
              <a:gd name="connsiteY2-24" fmla="*/ 72008 h 1261899"/>
              <a:gd name="connsiteX3-25" fmla="*/ 4176343 w 6192688"/>
              <a:gd name="connsiteY3-26" fmla="*/ 72008 h 1261899"/>
              <a:gd name="connsiteX4-27" fmla="*/ 2918081 w 6192688"/>
              <a:gd name="connsiteY4-28" fmla="*/ 1261899 h 1261899"/>
              <a:gd name="connsiteX5-29" fmla="*/ 1659819 w 6192688"/>
              <a:gd name="connsiteY5-30" fmla="*/ 72008 h 1261899"/>
              <a:gd name="connsiteX6-31" fmla="*/ 0 w 6192688"/>
              <a:gd name="connsiteY6-32" fmla="*/ 72008 h 1261899"/>
              <a:gd name="connsiteX7-33" fmla="*/ 91440 w 6192688"/>
              <a:gd name="connsiteY7-34" fmla="*/ 91440 h 1261899"/>
              <a:gd name="connsiteX0-35" fmla="*/ 6192688 w 6192688"/>
              <a:gd name="connsiteY0-36" fmla="*/ 0 h 1261899"/>
              <a:gd name="connsiteX1-37" fmla="*/ 6192688 w 6192688"/>
              <a:gd name="connsiteY1-38" fmla="*/ 72008 h 1261899"/>
              <a:gd name="connsiteX2-39" fmla="*/ 4176343 w 6192688"/>
              <a:gd name="connsiteY2-40" fmla="*/ 72008 h 1261899"/>
              <a:gd name="connsiteX3-41" fmla="*/ 2918081 w 6192688"/>
              <a:gd name="connsiteY3-42" fmla="*/ 1261899 h 1261899"/>
              <a:gd name="connsiteX4-43" fmla="*/ 1659819 w 6192688"/>
              <a:gd name="connsiteY4-44" fmla="*/ 72008 h 1261899"/>
              <a:gd name="connsiteX5-45" fmla="*/ 0 w 6192688"/>
              <a:gd name="connsiteY5-46" fmla="*/ 72008 h 1261899"/>
              <a:gd name="connsiteX6-47" fmla="*/ 91440 w 6192688"/>
              <a:gd name="connsiteY6-48" fmla="*/ 91440 h 1261899"/>
              <a:gd name="connsiteX0-49" fmla="*/ 6192688 w 6192688"/>
              <a:gd name="connsiteY0-50" fmla="*/ 7233 h 1197124"/>
              <a:gd name="connsiteX1-51" fmla="*/ 4176343 w 6192688"/>
              <a:gd name="connsiteY1-52" fmla="*/ 7233 h 1197124"/>
              <a:gd name="connsiteX2-53" fmla="*/ 2918081 w 6192688"/>
              <a:gd name="connsiteY2-54" fmla="*/ 1197124 h 1197124"/>
              <a:gd name="connsiteX3-55" fmla="*/ 1659819 w 6192688"/>
              <a:gd name="connsiteY3-56" fmla="*/ 7233 h 1197124"/>
              <a:gd name="connsiteX4-57" fmla="*/ 0 w 6192688"/>
              <a:gd name="connsiteY4-58" fmla="*/ 7233 h 1197124"/>
              <a:gd name="connsiteX5-59" fmla="*/ 91440 w 6192688"/>
              <a:gd name="connsiteY5-60" fmla="*/ 26665 h 1197124"/>
              <a:gd name="connsiteX0-61" fmla="*/ 6101248 w 6101248"/>
              <a:gd name="connsiteY0-62" fmla="*/ 0 h 1189891"/>
              <a:gd name="connsiteX1-63" fmla="*/ 4084903 w 6101248"/>
              <a:gd name="connsiteY1-64" fmla="*/ 0 h 1189891"/>
              <a:gd name="connsiteX2-65" fmla="*/ 2826641 w 6101248"/>
              <a:gd name="connsiteY2-66" fmla="*/ 1189891 h 1189891"/>
              <a:gd name="connsiteX3-67" fmla="*/ 1568379 w 6101248"/>
              <a:gd name="connsiteY3-68" fmla="*/ 0 h 1189891"/>
              <a:gd name="connsiteX4-69" fmla="*/ 0 w 6101248"/>
              <a:gd name="connsiteY4-70" fmla="*/ 19432 h 1189891"/>
              <a:gd name="connsiteX0-71" fmla="*/ 6144791 w 6144791"/>
              <a:gd name="connsiteY0-72" fmla="*/ 0 h 1189891"/>
              <a:gd name="connsiteX1-73" fmla="*/ 4128446 w 6144791"/>
              <a:gd name="connsiteY1-74" fmla="*/ 0 h 1189891"/>
              <a:gd name="connsiteX2-75" fmla="*/ 2870184 w 6144791"/>
              <a:gd name="connsiteY2-76" fmla="*/ 1189891 h 1189891"/>
              <a:gd name="connsiteX3-77" fmla="*/ 1611922 w 6144791"/>
              <a:gd name="connsiteY3-78" fmla="*/ 0 h 1189891"/>
              <a:gd name="connsiteX4-79" fmla="*/ 0 w 6144791"/>
              <a:gd name="connsiteY4-80" fmla="*/ 4918 h 1189891"/>
              <a:gd name="connsiteX0-81" fmla="*/ 9163763 w 9163763"/>
              <a:gd name="connsiteY0-82" fmla="*/ 14515 h 1189891"/>
              <a:gd name="connsiteX1-83" fmla="*/ 4128446 w 9163763"/>
              <a:gd name="connsiteY1-84" fmla="*/ 0 h 1189891"/>
              <a:gd name="connsiteX2-85" fmla="*/ 2870184 w 9163763"/>
              <a:gd name="connsiteY2-86" fmla="*/ 1189891 h 1189891"/>
              <a:gd name="connsiteX3-87" fmla="*/ 1611922 w 9163763"/>
              <a:gd name="connsiteY3-88" fmla="*/ 0 h 1189891"/>
              <a:gd name="connsiteX4-89" fmla="*/ 0 w 9163763"/>
              <a:gd name="connsiteY4-90" fmla="*/ 4918 h 1189891"/>
              <a:gd name="connsiteX0-91" fmla="*/ 5938570 w 5938570"/>
              <a:gd name="connsiteY0-92" fmla="*/ 14516 h 1189891"/>
              <a:gd name="connsiteX1-93" fmla="*/ 4128446 w 5938570"/>
              <a:gd name="connsiteY1-94" fmla="*/ 0 h 1189891"/>
              <a:gd name="connsiteX2-95" fmla="*/ 2870184 w 5938570"/>
              <a:gd name="connsiteY2-96" fmla="*/ 1189891 h 1189891"/>
              <a:gd name="connsiteX3-97" fmla="*/ 1611922 w 5938570"/>
              <a:gd name="connsiteY3-98" fmla="*/ 0 h 1189891"/>
              <a:gd name="connsiteX4-99" fmla="*/ 0 w 5938570"/>
              <a:gd name="connsiteY4-100" fmla="*/ 4918 h 118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938570" h="1189891">
                <a:moveTo>
                  <a:pt x="5938570" y="14516"/>
                </a:moveTo>
                <a:lnTo>
                  <a:pt x="4128446" y="0"/>
                </a:lnTo>
                <a:cubicBezTo>
                  <a:pt x="4092690" y="663472"/>
                  <a:pt x="3542913" y="1189891"/>
                  <a:pt x="2870184" y="1189891"/>
                </a:cubicBezTo>
                <a:cubicBezTo>
                  <a:pt x="2197455" y="1189891"/>
                  <a:pt x="1647677" y="663471"/>
                  <a:pt x="1611922" y="0"/>
                </a:cubicBezTo>
                <a:lnTo>
                  <a:pt x="0" y="4918"/>
                </a:lnTo>
              </a:path>
            </a:pathLst>
          </a:custGeom>
          <a:noFill/>
          <a:ln w="76200" cmpd="thinThick">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endParaRPr>
          </a:p>
        </p:txBody>
      </p:sp>
      <p:sp>
        <p:nvSpPr>
          <p:cNvPr id="9" name="MH_Title_1"/>
          <p:cNvSpPr/>
          <p:nvPr>
            <p:custDataLst>
              <p:tags r:id="rId2"/>
            </p:custDataLst>
          </p:nvPr>
        </p:nvSpPr>
        <p:spPr>
          <a:xfrm>
            <a:off x="4762500" y="2164715"/>
            <a:ext cx="2395220" cy="1565275"/>
          </a:xfrm>
          <a:prstGeom prst="ellipse">
            <a:avLst/>
          </a:prstGeom>
          <a:solidFill>
            <a:schemeClr val="accent5">
              <a:lumMod val="60000"/>
              <a:lumOff val="40000"/>
            </a:schemeClr>
          </a:solidFill>
          <a:ln w="127000" cmpd="thinThick">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3200" b="1" dirty="0">
                <a:solidFill>
                  <a:schemeClr val="tx1"/>
                </a:solidFill>
                <a:latin typeface="微软雅黑" panose="020B0503020204020204" charset="-122"/>
                <a:ea typeface="微软雅黑" panose="020B0503020204020204" charset="-122"/>
              </a:rPr>
              <a:t>重载</a:t>
            </a:r>
          </a:p>
        </p:txBody>
      </p:sp>
      <p:sp>
        <p:nvSpPr>
          <p:cNvPr id="10" name="MH_SubTitle_1"/>
          <p:cNvSpPr/>
          <p:nvPr>
            <p:custDataLst>
              <p:tags r:id="rId3"/>
            </p:custDataLst>
          </p:nvPr>
        </p:nvSpPr>
        <p:spPr>
          <a:xfrm>
            <a:off x="1728470" y="2677160"/>
            <a:ext cx="2578100" cy="709930"/>
          </a:xfrm>
          <a:prstGeom prst="roundRect">
            <a:avLst>
              <a:gd name="adj" fmla="val 3013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a:solidFill>
                  <a:schemeClr val="tx2">
                    <a:lumMod val="75000"/>
                  </a:schemeClr>
                </a:solidFill>
                <a:latin typeface="微软雅黑" panose="020B0503020204020204" charset="-122"/>
                <a:ea typeface="微软雅黑" panose="020B0503020204020204" charset="-122"/>
              </a:rPr>
              <a:t>函数重载</a:t>
            </a:r>
          </a:p>
        </p:txBody>
      </p:sp>
      <p:sp>
        <p:nvSpPr>
          <p:cNvPr id="12" name="MH_SubTitle_1"/>
          <p:cNvSpPr/>
          <p:nvPr>
            <p:custDataLst>
              <p:tags r:id="rId4"/>
            </p:custDataLst>
          </p:nvPr>
        </p:nvSpPr>
        <p:spPr>
          <a:xfrm>
            <a:off x="7586345" y="2677160"/>
            <a:ext cx="2643505" cy="709930"/>
          </a:xfrm>
          <a:prstGeom prst="roundRect">
            <a:avLst>
              <a:gd name="adj" fmla="val 36824"/>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a:solidFill>
                  <a:schemeClr val="tx2">
                    <a:lumMod val="75000"/>
                  </a:schemeClr>
                </a:solidFill>
                <a:latin typeface="微软雅黑" panose="020B0503020204020204" charset="-122"/>
                <a:ea typeface="微软雅黑" panose="020B0503020204020204" charset="-122"/>
                <a:sym typeface="+mn-ea"/>
              </a:rPr>
              <a:t>运算符重载</a:t>
            </a:r>
          </a:p>
        </p:txBody>
      </p:sp>
      <p:sp>
        <p:nvSpPr>
          <p:cNvPr id="16" name="泪滴形 15"/>
          <p:cNvSpPr/>
          <p:nvPr>
            <p:custDataLst>
              <p:tags r:id="rId5"/>
            </p:custDataLst>
          </p:nvPr>
        </p:nvSpPr>
        <p:spPr>
          <a:xfrm rot="8100000">
            <a:off x="9959915" y="217227"/>
            <a:ext cx="1695273" cy="169346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7" name="椭圆 16"/>
          <p:cNvSpPr/>
          <p:nvPr>
            <p:custDataLst>
              <p:tags r:id="rId6"/>
            </p:custDataLst>
          </p:nvPr>
        </p:nvSpPr>
        <p:spPr>
          <a:xfrm>
            <a:off x="10070527" y="327721"/>
            <a:ext cx="1467063" cy="146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8" name="文本框 16"/>
          <p:cNvSpPr txBox="1">
            <a:spLocks noChangeArrowheads="1"/>
          </p:cNvSpPr>
          <p:nvPr>
            <p:custDataLst>
              <p:tags r:id="rId7"/>
            </p:custDataLst>
          </p:nvPr>
        </p:nvSpPr>
        <p:spPr bwMode="auto">
          <a:xfrm>
            <a:off x="10361029" y="889802"/>
            <a:ext cx="893628"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2400" b="1" dirty="0">
                <a:latin typeface="+mj-lt"/>
                <a:ea typeface="+mj-ea"/>
                <a:cs typeface="+mj-cs"/>
              </a:rPr>
              <a:t>重载</a:t>
            </a:r>
          </a:p>
        </p:txBody>
      </p:sp>
      <p:sp>
        <p:nvSpPr>
          <p:cNvPr id="14" name="文本框 13">
            <a:extLst>
              <a:ext uri="{FF2B5EF4-FFF2-40B4-BE49-F238E27FC236}">
                <a16:creationId xmlns:a16="http://schemas.microsoft.com/office/drawing/2014/main" id="{E948909B-77AF-B846-669F-05AF4B28DD58}"/>
              </a:ext>
            </a:extLst>
          </p:cNvPr>
          <p:cNvSpPr txBox="1"/>
          <p:nvPr/>
        </p:nvSpPr>
        <p:spPr>
          <a:xfrm>
            <a:off x="1056322" y="4341812"/>
            <a:ext cx="3706178" cy="1477328"/>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在同一作用域内的若干参数特征不同的函数，可以使用相同的函数名。在</a:t>
            </a:r>
            <a:r>
              <a:rPr lang="en-US" altLang="zh-CN" dirty="0">
                <a:latin typeface="微软雅黑" panose="020B0503020204020204" charset="-122"/>
                <a:ea typeface="微软雅黑" panose="020B0503020204020204" charset="-122"/>
              </a:rPr>
              <a:t>C++</a:t>
            </a:r>
            <a:r>
              <a:rPr lang="zh-CN" altLang="en-US" dirty="0">
                <a:latin typeface="微软雅黑" panose="020B0503020204020204" charset="-122"/>
                <a:ea typeface="微软雅黑" panose="020B0503020204020204" charset="-122"/>
              </a:rPr>
              <a:t>语言中，函数重载是根据函数变元的个数和类型决定使用哪个实现代码的。</a:t>
            </a:r>
            <a:endParaRPr lang="zh-CN" altLang="zh-CN" dirty="0">
              <a:latin typeface="微软雅黑" panose="020B0503020204020204" charset="-122"/>
              <a:ea typeface="微软雅黑" panose="020B0503020204020204" charset="-122"/>
            </a:endParaRPr>
          </a:p>
        </p:txBody>
      </p:sp>
      <p:sp>
        <p:nvSpPr>
          <p:cNvPr id="19" name="文本框 18">
            <a:extLst>
              <a:ext uri="{FF2B5EF4-FFF2-40B4-BE49-F238E27FC236}">
                <a16:creationId xmlns:a16="http://schemas.microsoft.com/office/drawing/2014/main" id="{EF17137F-F8EB-6A05-CE62-9EB1EA88243F}"/>
              </a:ext>
            </a:extLst>
          </p:cNvPr>
          <p:cNvSpPr txBox="1"/>
          <p:nvPr/>
        </p:nvSpPr>
        <p:spPr>
          <a:xfrm>
            <a:off x="7313929" y="4405675"/>
            <a:ext cx="3706178" cy="1393779"/>
          </a:xfrm>
          <a:prstGeom prst="rect">
            <a:avLst/>
          </a:prstGeom>
          <a:noFill/>
        </p:spPr>
        <p:txBody>
          <a:bodyPr wrap="square" rtlCol="0">
            <a:spAutoFit/>
          </a:bodyPr>
          <a:lstStyle/>
          <a:p>
            <a:pPr>
              <a:lnSpc>
                <a:spcPct val="120000"/>
              </a:lnSpc>
            </a:pPr>
            <a:r>
              <a:rPr lang="zh-CN" altLang="en-US" dirty="0">
                <a:latin typeface="微软雅黑" panose="020B0503020204020204" charset="-122"/>
                <a:ea typeface="微软雅黑" panose="020B0503020204020204" charset="-122"/>
                <a:sym typeface="+mn-ea"/>
              </a:rPr>
              <a:t>同一运算符可以施加于不同类型的操作数上面。在</a:t>
            </a:r>
            <a:r>
              <a:rPr lang="en-US" altLang="zh-CN" dirty="0">
                <a:latin typeface="微软雅黑" panose="020B0503020204020204" charset="-122"/>
                <a:ea typeface="微软雅黑" panose="020B0503020204020204" charset="-122"/>
                <a:sym typeface="+mn-ea"/>
              </a:rPr>
              <a:t>C++</a:t>
            </a:r>
            <a:r>
              <a:rPr lang="zh-CN" altLang="en-US" dirty="0">
                <a:latin typeface="微软雅黑" panose="020B0503020204020204" charset="-122"/>
                <a:ea typeface="微软雅黑" panose="020B0503020204020204" charset="-122"/>
                <a:sym typeface="+mn-ea"/>
              </a:rPr>
              <a:t>语言中，运算符重载是根据被操作数的类型决定使用运算符的哪种语义的。</a:t>
            </a:r>
          </a:p>
        </p:txBody>
      </p:sp>
    </p:spTree>
  </p:cSld>
  <p:clrMapOvr>
    <a:masterClrMapping/>
  </p:clrMapOvr>
  <p:transition>
    <p:wheel spokes="3"/>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ea typeface="微软雅黑" panose="020B0503020204020204" pitchFamily="34" charset="-122"/>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2</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概述</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的发展</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的内容</a:t>
              </a:r>
            </a:p>
          </p:txBody>
        </p:sp>
      </p:grpSp>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6.2 </a:t>
            </a:r>
            <a:r>
              <a:rPr lang="zh-CN" altLang="en-US" dirty="0">
                <a:sym typeface="+mn-ea"/>
              </a:rPr>
              <a:t>UML概述</a:t>
            </a:r>
            <a:endParaRPr lang="zh-CN" altLang="en-US" dirty="0"/>
          </a:p>
        </p:txBody>
      </p:sp>
      <p:sp>
        <p:nvSpPr>
          <p:cNvPr id="6" name="文本占位符 5">
            <a:extLst>
              <a:ext uri="{FF2B5EF4-FFF2-40B4-BE49-F238E27FC236}">
                <a16:creationId xmlns:a16="http://schemas.microsoft.com/office/drawing/2014/main" id="{7B79E3F3-2A79-77C0-5FB6-E297AA985C33}"/>
              </a:ext>
            </a:extLst>
          </p:cNvPr>
          <p:cNvSpPr>
            <a:spLocks noGrp="1"/>
          </p:cNvSpPr>
          <p:nvPr>
            <p:ph type="body" sz="quarter" idx="10"/>
          </p:nvPr>
        </p:nvSpPr>
        <p:spPr>
          <a:xfrm>
            <a:off x="900001" y="1322832"/>
            <a:ext cx="5196000" cy="400110"/>
          </a:xfrm>
        </p:spPr>
        <p:txBody>
          <a:bodyPr/>
          <a:lstStyle/>
          <a:p>
            <a:r>
              <a:rPr lang="en-US" altLang="zh-CN" dirty="0"/>
              <a:t>6.2.1 </a:t>
            </a:r>
            <a:r>
              <a:rPr lang="en-US" altLang="zh-CN" dirty="0" err="1">
                <a:sym typeface="+mn-ea"/>
              </a:rPr>
              <a:t>UML的发展</a:t>
            </a:r>
            <a:endParaRPr lang="zh-CN" altLang="en-US" dirty="0"/>
          </a:p>
        </p:txBody>
      </p:sp>
      <p:sp>
        <p:nvSpPr>
          <p:cNvPr id="5" name="文本框 4"/>
          <p:cNvSpPr txBox="1"/>
          <p:nvPr/>
        </p:nvSpPr>
        <p:spPr>
          <a:xfrm>
            <a:off x="695325" y="4441190"/>
            <a:ext cx="10571480" cy="1793248"/>
          </a:xfrm>
          <a:prstGeom prst="rect">
            <a:avLst/>
          </a:prstGeom>
          <a:noFill/>
          <a:ln w="9525">
            <a:noFill/>
          </a:ln>
        </p:spPr>
        <p:txBody>
          <a:bodyPr wrap="square">
            <a:spAutoFit/>
          </a:bodyPr>
          <a:lstStyle/>
          <a:p>
            <a:pPr marL="0" indent="457200" algn="l" fontAlgn="auto">
              <a:lnSpc>
                <a:spcPct val="125000"/>
              </a:lnSpc>
            </a:pPr>
            <a:r>
              <a:rPr lang="zh-CN" altLang="en-US" dirty="0"/>
              <a:t>1996年年底，UML已经稳定地占领了面向对象技术市场的85%，成为事实上的工业标准。1997年11月，国际对象管理组织（OMG）批准把UML 1.1作为基于面向对象技术的标准建模语言。在计算机学术界、软件产业界、商业界，UML已经逐渐成为人们为各种系统建立模型，描述系统体系结构、商业体系结构和商业过程时使用的统一工具，在实践过程中人们还在不断扩展它的应用领域。对象技术组织（Object Technology Organization）已将UML作为对象建模技术（OMT）的行业标准。</a:t>
            </a:r>
          </a:p>
        </p:txBody>
      </p:sp>
      <p:pic>
        <p:nvPicPr>
          <p:cNvPr id="7" name="图片 6"/>
          <p:cNvPicPr>
            <a:picLocks noChangeAspect="1"/>
          </p:cNvPicPr>
          <p:nvPr/>
        </p:nvPicPr>
        <p:blipFill>
          <a:blip r:embed="rId2" cstate="print"/>
          <a:srcRect t="8451" b="6866"/>
          <a:stretch>
            <a:fillRect/>
          </a:stretch>
        </p:blipFill>
        <p:spPr>
          <a:xfrm>
            <a:off x="7977673" y="2128026"/>
            <a:ext cx="3289132" cy="2061704"/>
          </a:xfrm>
          <a:prstGeom prst="rect">
            <a:avLst/>
          </a:prstGeom>
        </p:spPr>
      </p:pic>
      <p:sp>
        <p:nvSpPr>
          <p:cNvPr id="10" name="文本框 9">
            <a:extLst>
              <a:ext uri="{FF2B5EF4-FFF2-40B4-BE49-F238E27FC236}">
                <a16:creationId xmlns:a16="http://schemas.microsoft.com/office/drawing/2014/main" id="{51665623-B313-F17A-3D36-92ACC55051EA}"/>
              </a:ext>
            </a:extLst>
          </p:cNvPr>
          <p:cNvSpPr txBox="1"/>
          <p:nvPr/>
        </p:nvSpPr>
        <p:spPr>
          <a:xfrm>
            <a:off x="695325" y="2162176"/>
            <a:ext cx="6591883" cy="1793248"/>
          </a:xfrm>
          <a:prstGeom prst="rect">
            <a:avLst/>
          </a:prstGeom>
          <a:noFill/>
        </p:spPr>
        <p:txBody>
          <a:bodyPr wrap="square" rtlCol="0">
            <a:spAutoFit/>
          </a:bodyPr>
          <a:lstStyle/>
          <a:p>
            <a:pPr indent="457200">
              <a:lnSpc>
                <a:spcPct val="125000"/>
              </a:lnSpc>
            </a:pPr>
            <a:r>
              <a:rPr lang="zh-CN" altLang="en-US" dirty="0"/>
              <a:t>统一建模语言（</a:t>
            </a:r>
            <a:r>
              <a:rPr lang="en-US" altLang="zh-CN" dirty="0"/>
              <a:t>UML</a:t>
            </a:r>
            <a:r>
              <a:rPr lang="zh-CN" altLang="en-US" dirty="0"/>
              <a:t>）是由世界著名的面向对象技术专家</a:t>
            </a:r>
            <a:r>
              <a:rPr lang="en-US" altLang="zh-CN" dirty="0"/>
              <a:t>Grady Booch</a:t>
            </a:r>
            <a:r>
              <a:rPr lang="zh-CN" altLang="en-US" dirty="0"/>
              <a:t>，</a:t>
            </a:r>
            <a:r>
              <a:rPr lang="en-US" altLang="zh-CN" dirty="0"/>
              <a:t>Jim Rumbaugh</a:t>
            </a:r>
            <a:r>
              <a:rPr lang="zh-CN" altLang="en-US" dirty="0"/>
              <a:t>和</a:t>
            </a:r>
            <a:r>
              <a:rPr lang="en-US" altLang="zh-CN" dirty="0"/>
              <a:t>Ivar Jacobson</a:t>
            </a:r>
            <a:r>
              <a:rPr lang="zh-CN" altLang="en-US" dirty="0"/>
              <a:t>发起，在面向对象的</a:t>
            </a:r>
            <a:r>
              <a:rPr lang="en-US" altLang="zh-CN" dirty="0"/>
              <a:t>Booch</a:t>
            </a:r>
            <a:r>
              <a:rPr lang="zh-CN" altLang="en-US" dirty="0"/>
              <a:t>方法、对象建模技术（</a:t>
            </a:r>
            <a:r>
              <a:rPr lang="en-US" altLang="zh-CN" dirty="0"/>
              <a:t>Object Modeling Technique</a:t>
            </a:r>
            <a:r>
              <a:rPr lang="zh-CN" altLang="en-US" dirty="0"/>
              <a:t>，</a:t>
            </a:r>
            <a:r>
              <a:rPr lang="en-US" altLang="zh-CN" dirty="0"/>
              <a:t>OMT</a:t>
            </a:r>
            <a:r>
              <a:rPr lang="zh-CN" altLang="en-US" dirty="0"/>
              <a:t>）和面向对象软件工程（</a:t>
            </a:r>
            <a:r>
              <a:rPr lang="en-US" altLang="zh-CN" dirty="0"/>
              <a:t>Object Oriented Software Engineering</a:t>
            </a:r>
            <a:r>
              <a:rPr lang="zh-CN" altLang="en-US" dirty="0"/>
              <a:t>，</a:t>
            </a:r>
            <a:r>
              <a:rPr lang="en-US" altLang="zh-CN" dirty="0"/>
              <a:t>OOSE</a:t>
            </a:r>
            <a:r>
              <a:rPr lang="zh-CN" altLang="en-US" dirty="0"/>
              <a:t>）的基础上，不断进行完善和发展的一种建模语言。</a:t>
            </a: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6.2 </a:t>
            </a:r>
            <a:r>
              <a:rPr lang="zh-CN" altLang="en-US" dirty="0">
                <a:sym typeface="+mn-ea"/>
              </a:rPr>
              <a:t>UML概述</a:t>
            </a:r>
            <a:endParaRPr lang="zh-CN" altLang="en-US" dirty="0"/>
          </a:p>
        </p:txBody>
      </p:sp>
      <p:sp>
        <p:nvSpPr>
          <p:cNvPr id="4" name="文本占位符 3">
            <a:extLst>
              <a:ext uri="{FF2B5EF4-FFF2-40B4-BE49-F238E27FC236}">
                <a16:creationId xmlns:a16="http://schemas.microsoft.com/office/drawing/2014/main" id="{1CA5C299-627F-3084-15D0-4A746B7FE152}"/>
              </a:ext>
            </a:extLst>
          </p:cNvPr>
          <p:cNvSpPr>
            <a:spLocks noGrp="1"/>
          </p:cNvSpPr>
          <p:nvPr>
            <p:ph type="body" sz="quarter" idx="10"/>
          </p:nvPr>
        </p:nvSpPr>
        <p:spPr>
          <a:xfrm>
            <a:off x="900001" y="1322832"/>
            <a:ext cx="5196000" cy="400110"/>
          </a:xfrm>
        </p:spPr>
        <p:txBody>
          <a:bodyPr/>
          <a:lstStyle/>
          <a:p>
            <a:r>
              <a:rPr lang="en-US" altLang="zh-CN"/>
              <a:t>6.2.1 </a:t>
            </a:r>
            <a:r>
              <a:rPr lang="en-US" altLang="zh-CN" dirty="0" err="1">
                <a:sym typeface="+mn-ea"/>
              </a:rPr>
              <a:t>UML的发展</a:t>
            </a:r>
            <a:endParaRPr lang="zh-CN" altLang="en-US" dirty="0"/>
          </a:p>
        </p:txBody>
      </p:sp>
      <p:grpSp>
        <p:nvGrpSpPr>
          <p:cNvPr id="8" name="组合 7"/>
          <p:cNvGrpSpPr/>
          <p:nvPr/>
        </p:nvGrpSpPr>
        <p:grpSpPr>
          <a:xfrm>
            <a:off x="1147445" y="1526540"/>
            <a:ext cx="9897110" cy="4491990"/>
            <a:chOff x="2043" y="1972"/>
            <a:chExt cx="15586" cy="7074"/>
          </a:xfrm>
        </p:grpSpPr>
        <p:sp>
          <p:nvSpPr>
            <p:cNvPr id="9" name="MH_Other_1"/>
            <p:cNvSpPr txBox="1">
              <a:spLocks noChangeArrowheads="1"/>
            </p:cNvSpPr>
            <p:nvPr>
              <p:custDataLst>
                <p:tags r:id="rId1"/>
              </p:custDataLst>
            </p:nvPr>
          </p:nvSpPr>
          <p:spPr bwMode="auto">
            <a:xfrm>
              <a:off x="2043" y="1972"/>
              <a:ext cx="1563" cy="3780"/>
            </a:xfrm>
            <a:prstGeom prst="rect">
              <a:avLst/>
            </a:prstGeom>
            <a:noFill/>
            <a:ln w="9525">
              <a:noFill/>
              <a:miter lim="800000"/>
            </a:ln>
          </p:spPr>
          <p:txBody>
            <a:bodyPr anchor="ctr"/>
            <a:lstStyle/>
            <a:p>
              <a:pPr algn="ctr" eaLnBrk="1" hangingPunct="1"/>
              <a:r>
                <a:rPr lang="en-US" altLang="zh-CN" sz="15000" b="1">
                  <a:solidFill>
                    <a:srgbClr val="01AFEE"/>
                  </a:solidFill>
                  <a:latin typeface="MS PMincho" panose="02020600040205080304" pitchFamily="18" charset="-128"/>
                  <a:ea typeface="MS PMincho" panose="02020600040205080304" pitchFamily="18" charset="-128"/>
                </a:rPr>
                <a:t>1</a:t>
              </a:r>
              <a:endParaRPr lang="zh-CN" altLang="en-US" sz="15000" b="1">
                <a:solidFill>
                  <a:srgbClr val="01AFEE"/>
                </a:solidFill>
                <a:latin typeface="MS PMincho" panose="02020600040205080304" pitchFamily="18" charset="-128"/>
                <a:ea typeface="MS PMincho" panose="02020600040205080304" pitchFamily="18" charset="-128"/>
              </a:endParaRPr>
            </a:p>
          </p:txBody>
        </p:sp>
        <p:grpSp>
          <p:nvGrpSpPr>
            <p:cNvPr id="10" name="组合 9"/>
            <p:cNvGrpSpPr/>
            <p:nvPr/>
          </p:nvGrpSpPr>
          <p:grpSpPr>
            <a:xfrm>
              <a:off x="3096" y="3075"/>
              <a:ext cx="14533" cy="5971"/>
              <a:chOff x="3096" y="3075"/>
              <a:chExt cx="14533" cy="5971"/>
            </a:xfrm>
          </p:grpSpPr>
          <p:sp>
            <p:nvSpPr>
              <p:cNvPr id="11" name="MH_Text_1"/>
              <p:cNvSpPr/>
              <p:nvPr>
                <p:custDataLst>
                  <p:tags r:id="rId2"/>
                </p:custDataLst>
              </p:nvPr>
            </p:nvSpPr>
            <p:spPr bwMode="auto">
              <a:xfrm>
                <a:off x="3606" y="3075"/>
                <a:ext cx="13430" cy="2825"/>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dirty="0">
                    <a:latin typeface="+mn-ea"/>
                  </a:rPr>
                  <a:t>模型是为了理解事物而对事物做出的一种抽象，是对事物的一种书面描述。通常，模型由一组图形符号和组织这些符号的规则组成，模型的描述应当无歧义。在开发软件系统时，建立模型的目的是为了更好地理解问题、减少问题的复杂性、验证模型是否满足用户对系统的需求，并在设计过程中逐步把实现的有关细节加进模型中，最终用程序实现模型。</a:t>
                </a:r>
              </a:p>
            </p:txBody>
          </p:sp>
          <p:sp>
            <p:nvSpPr>
              <p:cNvPr id="12" name="MH_Text_2"/>
              <p:cNvSpPr/>
              <p:nvPr>
                <p:custDataLst>
                  <p:tags r:id="rId3"/>
                </p:custDataLst>
              </p:nvPr>
            </p:nvSpPr>
            <p:spPr bwMode="auto">
              <a:xfrm>
                <a:off x="4659" y="6450"/>
                <a:ext cx="12970" cy="2596"/>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a:latin typeface="+mn-ea"/>
                  </a:rPr>
                  <a:t>UML采用了面向对象的概念，引入了各种独立于语言的表示符号。UML通过建立用例模型、静态模型和动态模型完成对整个系统的建模，所定义的概念和符号可用于软件开发过程的分析、设计和实现的全过程。软件开发人员不必在开发过程的不同阶段进行概念和符号的转换。</a:t>
                </a:r>
              </a:p>
            </p:txBody>
          </p:sp>
          <p:sp>
            <p:nvSpPr>
              <p:cNvPr id="13" name="MH_Other_2"/>
              <p:cNvSpPr txBox="1">
                <a:spLocks noChangeArrowheads="1"/>
              </p:cNvSpPr>
              <p:nvPr>
                <p:custDataLst>
                  <p:tags r:id="rId4"/>
                </p:custDataLst>
              </p:nvPr>
            </p:nvSpPr>
            <p:spPr bwMode="auto">
              <a:xfrm>
                <a:off x="3096" y="5266"/>
                <a:ext cx="1563" cy="3780"/>
              </a:xfrm>
              <a:prstGeom prst="rect">
                <a:avLst/>
              </a:prstGeom>
              <a:noFill/>
              <a:ln w="9525">
                <a:noFill/>
                <a:miter lim="800000"/>
              </a:ln>
            </p:spPr>
            <p:txBody>
              <a:bodyPr anchor="ctr"/>
              <a:lstStyle/>
              <a:p>
                <a:pPr algn="ctr" eaLnBrk="1" hangingPunct="1"/>
                <a:r>
                  <a:rPr lang="en-US" altLang="zh-CN" sz="15000" b="1">
                    <a:solidFill>
                      <a:srgbClr val="01AFEE"/>
                    </a:solidFill>
                    <a:latin typeface="MS PMincho" panose="02020600040205080304" pitchFamily="18" charset="-128"/>
                    <a:ea typeface="MS PMincho" panose="02020600040205080304" pitchFamily="18" charset="-128"/>
                  </a:rPr>
                  <a:t>2</a:t>
                </a:r>
                <a:endParaRPr lang="zh-CN" altLang="en-US" sz="15000" b="1">
                  <a:solidFill>
                    <a:srgbClr val="01AFEE"/>
                  </a:solidFill>
                  <a:latin typeface="MS PMincho" panose="02020600040205080304" pitchFamily="18" charset="-128"/>
                  <a:ea typeface="MS PMincho" panose="02020600040205080304" pitchFamily="18" charset="-128"/>
                </a:endParaRPr>
              </a:p>
            </p:txBody>
          </p:sp>
        </p:grpSp>
      </p:gr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6.2 </a:t>
            </a:r>
            <a:r>
              <a:rPr lang="zh-CN" altLang="en-US" dirty="0">
                <a:sym typeface="+mn-ea"/>
              </a:rPr>
              <a:t>UML概述</a:t>
            </a:r>
            <a:endParaRPr lang="zh-CN" altLang="en-US" dirty="0"/>
          </a:p>
        </p:txBody>
      </p:sp>
      <p:sp>
        <p:nvSpPr>
          <p:cNvPr id="10" name="文本占位符 9">
            <a:extLst>
              <a:ext uri="{FF2B5EF4-FFF2-40B4-BE49-F238E27FC236}">
                <a16:creationId xmlns:a16="http://schemas.microsoft.com/office/drawing/2014/main" id="{BDE2F7C0-A67E-06BC-2EBE-731123BFF70D}"/>
              </a:ext>
            </a:extLst>
          </p:cNvPr>
          <p:cNvSpPr>
            <a:spLocks noGrp="1"/>
          </p:cNvSpPr>
          <p:nvPr>
            <p:ph type="body" sz="quarter" idx="10"/>
          </p:nvPr>
        </p:nvSpPr>
        <p:spPr>
          <a:xfrm>
            <a:off x="900001" y="1322832"/>
            <a:ext cx="5196000" cy="400110"/>
          </a:xfrm>
        </p:spPr>
        <p:txBody>
          <a:bodyPr/>
          <a:lstStyle/>
          <a:p>
            <a:r>
              <a:rPr lang="en-US" altLang="zh-CN" dirty="0"/>
              <a:t>6.2.1 </a:t>
            </a:r>
            <a:r>
              <a:rPr lang="en-US" altLang="zh-CN" dirty="0" err="1">
                <a:sym typeface="+mn-ea"/>
              </a:rPr>
              <a:t>UML的发展</a:t>
            </a:r>
            <a:endParaRPr lang="zh-CN" altLang="en-US" dirty="0"/>
          </a:p>
        </p:txBody>
      </p:sp>
      <p:grpSp>
        <p:nvGrpSpPr>
          <p:cNvPr id="8" name="组合 7"/>
          <p:cNvGrpSpPr/>
          <p:nvPr/>
        </p:nvGrpSpPr>
        <p:grpSpPr>
          <a:xfrm>
            <a:off x="1386205" y="2197100"/>
            <a:ext cx="9419590" cy="2677160"/>
            <a:chOff x="2043" y="1972"/>
            <a:chExt cx="14834" cy="4216"/>
          </a:xfrm>
        </p:grpSpPr>
        <p:sp>
          <p:nvSpPr>
            <p:cNvPr id="9" name="MH_Other_1"/>
            <p:cNvSpPr txBox="1">
              <a:spLocks noChangeArrowheads="1"/>
            </p:cNvSpPr>
            <p:nvPr>
              <p:custDataLst>
                <p:tags r:id="rId1"/>
              </p:custDataLst>
            </p:nvPr>
          </p:nvSpPr>
          <p:spPr bwMode="auto">
            <a:xfrm>
              <a:off x="2043" y="1972"/>
              <a:ext cx="1563" cy="3780"/>
            </a:xfrm>
            <a:prstGeom prst="rect">
              <a:avLst/>
            </a:prstGeom>
            <a:noFill/>
            <a:ln w="9525">
              <a:noFill/>
              <a:miter lim="800000"/>
            </a:ln>
          </p:spPr>
          <p:txBody>
            <a:bodyPr anchor="ctr"/>
            <a:lstStyle/>
            <a:p>
              <a:pPr algn="ctr" eaLnBrk="1" hangingPunct="1"/>
              <a:r>
                <a:rPr lang="en-US" altLang="zh-CN" sz="15000" b="1">
                  <a:solidFill>
                    <a:srgbClr val="01AFEE"/>
                  </a:solidFill>
                  <a:latin typeface="MS PMincho" panose="02020600040205080304" pitchFamily="18" charset="-128"/>
                  <a:ea typeface="MS PMincho" panose="02020600040205080304" pitchFamily="18" charset="-128"/>
                </a:rPr>
                <a:t>3</a:t>
              </a:r>
              <a:endParaRPr lang="zh-CN" altLang="en-US" sz="15000" b="1">
                <a:solidFill>
                  <a:srgbClr val="01AFEE"/>
                </a:solidFill>
                <a:latin typeface="MS PMincho" panose="02020600040205080304" pitchFamily="18" charset="-128"/>
                <a:ea typeface="MS PMincho" panose="02020600040205080304" pitchFamily="18" charset="-128"/>
              </a:endParaRPr>
            </a:p>
          </p:txBody>
        </p:sp>
        <p:sp>
          <p:nvSpPr>
            <p:cNvPr id="11" name="MH_Text_1"/>
            <p:cNvSpPr/>
            <p:nvPr>
              <p:custDataLst>
                <p:tags r:id="rId2"/>
              </p:custDataLst>
            </p:nvPr>
          </p:nvSpPr>
          <p:spPr bwMode="auto">
            <a:xfrm>
              <a:off x="3750" y="3363"/>
              <a:ext cx="13127" cy="2825"/>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a:latin typeface="+mn-ea"/>
                </a:rPr>
                <a:t>面向对象软件工程（OOSE）方法的最大特点是面向用例（Use Case）。用例代表某些用户可见的功能，实现一个具体的用户目标。用例代表一类功能而不是使用该功能的某一具体实例。用例是精确描述需求的重要工具，贯穿于整个软件开发过程，包括对系统的测试和验证过程。</a:t>
              </a:r>
            </a:p>
          </p:txBody>
        </p:sp>
      </p:gr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6.2 </a:t>
            </a:r>
            <a:r>
              <a:rPr lang="zh-CN" altLang="en-US" dirty="0">
                <a:sym typeface="+mn-ea"/>
              </a:rPr>
              <a:t>UML概述</a:t>
            </a:r>
            <a:endParaRPr lang="zh-CN" altLang="en-US" dirty="0"/>
          </a:p>
        </p:txBody>
      </p:sp>
      <p:sp>
        <p:nvSpPr>
          <p:cNvPr id="14" name="文本占位符 13">
            <a:extLst>
              <a:ext uri="{FF2B5EF4-FFF2-40B4-BE49-F238E27FC236}">
                <a16:creationId xmlns:a16="http://schemas.microsoft.com/office/drawing/2014/main" id="{44C0BC1D-A0DA-A1A3-D654-B9BCA4FB42D7}"/>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grpSp>
        <p:nvGrpSpPr>
          <p:cNvPr id="2" name="组合 1"/>
          <p:cNvGrpSpPr/>
          <p:nvPr/>
        </p:nvGrpSpPr>
        <p:grpSpPr>
          <a:xfrm>
            <a:off x="754380" y="2239010"/>
            <a:ext cx="10675620" cy="4110355"/>
            <a:chOff x="1188" y="3406"/>
            <a:chExt cx="16812" cy="6473"/>
          </a:xfrm>
        </p:grpSpPr>
        <p:grpSp>
          <p:nvGrpSpPr>
            <p:cNvPr id="21" name="组合 20"/>
            <p:cNvGrpSpPr/>
            <p:nvPr/>
          </p:nvGrpSpPr>
          <p:grpSpPr>
            <a:xfrm>
              <a:off x="1188" y="3607"/>
              <a:ext cx="7538" cy="1455"/>
              <a:chOff x="2060" y="3526"/>
              <a:chExt cx="7538" cy="1455"/>
            </a:xfrm>
          </p:grpSpPr>
          <p:sp>
            <p:nvSpPr>
              <p:cNvPr id="4" name="MH_Other_1"/>
              <p:cNvSpPr>
                <a:spLocks noChangeArrowheads="1"/>
              </p:cNvSpPr>
              <p:nvPr>
                <p:custDataLst>
                  <p:tags r:id="rId16"/>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5" name="MH_Other_2"/>
              <p:cNvSpPr>
                <a:spLocks noChangeArrowheads="1"/>
              </p:cNvSpPr>
              <p:nvPr>
                <p:custDataLst>
                  <p:tags r:id="rId17"/>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18"/>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19"/>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SubTitle_1"/>
              <p:cNvSpPr/>
              <p:nvPr>
                <p:custDataLst>
                  <p:tags r:id="rId20"/>
                </p:custDataLst>
              </p:nvPr>
            </p:nvSpPr>
            <p:spPr>
              <a:xfrm>
                <a:off x="4410" y="3811"/>
                <a:ext cx="5188" cy="1040"/>
              </a:xfrm>
              <a:prstGeom prst="rect">
                <a:avLst/>
              </a:prstGeom>
            </p:spPr>
            <p:txBody>
              <a:bodyPr lIns="72000" tIns="36000" rIns="72000" bIns="36000" anchor="ctr">
                <a:spAutoFit/>
              </a:bodyPr>
              <a:lstStyle/>
              <a:p>
                <a:pPr indent="457200">
                  <a:lnSpc>
                    <a:spcPct val="125000"/>
                  </a:lnSpc>
                  <a:defRPr/>
                </a:pPr>
                <a:r>
                  <a:rPr lang="zh-CN" altLang="en-US" sz="1600" dirty="0">
                    <a:solidFill>
                      <a:srgbClr val="000000"/>
                    </a:solidFill>
                    <a:latin typeface="微软雅黑" panose="020B0503020204020204" charset="-122"/>
                    <a:ea typeface="微软雅黑" panose="020B0503020204020204" charset="-122"/>
                    <a:sym typeface="+mn-ea"/>
                  </a:rPr>
                  <a:t>UML是一种描述、构造、可视化和文档化的软件建模语言。</a:t>
                </a:r>
              </a:p>
            </p:txBody>
          </p:sp>
        </p:grpSp>
        <p:grpSp>
          <p:nvGrpSpPr>
            <p:cNvPr id="22" name="组合 21"/>
            <p:cNvGrpSpPr/>
            <p:nvPr/>
          </p:nvGrpSpPr>
          <p:grpSpPr>
            <a:xfrm>
              <a:off x="9776" y="3406"/>
              <a:ext cx="8224" cy="2009"/>
              <a:chOff x="7327" y="7369"/>
              <a:chExt cx="8224" cy="2009"/>
            </a:xfrm>
          </p:grpSpPr>
          <p:sp>
            <p:nvSpPr>
              <p:cNvPr id="9" name="MH_Other_5"/>
              <p:cNvSpPr>
                <a:spLocks noChangeArrowheads="1"/>
              </p:cNvSpPr>
              <p:nvPr>
                <p:custDataLst>
                  <p:tags r:id="rId11"/>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0" name="MH_Other_6"/>
              <p:cNvSpPr>
                <a:spLocks noChangeArrowheads="1"/>
              </p:cNvSpPr>
              <p:nvPr>
                <p:custDataLst>
                  <p:tags r:id="rId12"/>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7"/>
              <p:cNvSpPr>
                <a:spLocks noChangeArrowheads="1"/>
              </p:cNvSpPr>
              <p:nvPr>
                <p:custDataLst>
                  <p:tags r:id="rId13"/>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8"/>
              <p:cNvSpPr>
                <a:spLocks noChangeArrowheads="1"/>
              </p:cNvSpPr>
              <p:nvPr>
                <p:custDataLst>
                  <p:tags r:id="rId14"/>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SubTitle_3"/>
              <p:cNvSpPr/>
              <p:nvPr>
                <p:custDataLst>
                  <p:tags r:id="rId15"/>
                </p:custDataLst>
              </p:nvPr>
            </p:nvSpPr>
            <p:spPr>
              <a:xfrm>
                <a:off x="9768" y="7369"/>
                <a:ext cx="5783" cy="2009"/>
              </a:xfrm>
              <a:prstGeom prst="rect">
                <a:avLst/>
              </a:prstGeom>
            </p:spPr>
            <p:txBody>
              <a:bodyPr wrap="square" lIns="72000" tIns="36000" rIns="72000" bIns="36000" anchor="ctr">
                <a:spAutoFit/>
              </a:bodyPr>
              <a:lstStyle/>
              <a:p>
                <a:pPr indent="457200">
                  <a:lnSpc>
                    <a:spcPct val="125000"/>
                  </a:lnSpc>
                  <a:defRPr/>
                </a:pPr>
                <a:r>
                  <a:rPr lang="zh-CN" altLang="en-US" sz="1600" dirty="0">
                    <a:solidFill>
                      <a:srgbClr val="000000"/>
                    </a:solidFill>
                    <a:latin typeface="微软雅黑" panose="020B0503020204020204" charset="-122"/>
                    <a:ea typeface="微软雅黑" panose="020B0503020204020204" charset="-122"/>
                    <a:sym typeface="+mn-ea"/>
                  </a:rPr>
                  <a:t>UML采用图形表示法，是一种可视化的图形建模语言。UML的主要内容包括UML语义、UML表示法和几种模型。</a:t>
                </a:r>
              </a:p>
            </p:txBody>
          </p:sp>
        </p:grpSp>
        <p:grpSp>
          <p:nvGrpSpPr>
            <p:cNvPr id="20" name="组合 19"/>
            <p:cNvGrpSpPr/>
            <p:nvPr/>
          </p:nvGrpSpPr>
          <p:grpSpPr>
            <a:xfrm>
              <a:off x="1188" y="6468"/>
              <a:ext cx="7537" cy="2494"/>
              <a:chOff x="4720" y="5125"/>
              <a:chExt cx="7537" cy="2494"/>
            </a:xfrm>
          </p:grpSpPr>
          <p:sp>
            <p:nvSpPr>
              <p:cNvPr id="23" name="MH_Other_9"/>
              <p:cNvSpPr>
                <a:spLocks noChangeArrowheads="1"/>
              </p:cNvSpPr>
              <p:nvPr>
                <p:custDataLst>
                  <p:tags r:id="rId6"/>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24" name="MH_Other_10"/>
              <p:cNvSpPr>
                <a:spLocks noChangeArrowheads="1"/>
              </p:cNvSpPr>
              <p:nvPr>
                <p:custDataLst>
                  <p:tags r:id="rId7"/>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5" name="MH_Other_11"/>
              <p:cNvSpPr>
                <a:spLocks noChangeArrowheads="1"/>
              </p:cNvSpPr>
              <p:nvPr>
                <p:custDataLst>
                  <p:tags r:id="rId8"/>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9"/>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SubTitle_2"/>
              <p:cNvSpPr/>
              <p:nvPr>
                <p:custDataLst>
                  <p:tags r:id="rId10"/>
                </p:custDataLst>
              </p:nvPr>
            </p:nvSpPr>
            <p:spPr>
              <a:xfrm>
                <a:off x="7070" y="5125"/>
                <a:ext cx="5187" cy="2494"/>
              </a:xfrm>
              <a:prstGeom prst="rect">
                <a:avLst/>
              </a:prstGeom>
            </p:spPr>
            <p:txBody>
              <a:bodyPr lIns="72000" tIns="36000" rIns="72000" bIns="36000" anchor="ctr">
                <a:spAutoFit/>
              </a:bodyPr>
              <a:lstStyle/>
              <a:p>
                <a:pPr lvl="0" indent="457200" algn="just">
                  <a:lnSpc>
                    <a:spcPct val="125000"/>
                  </a:lnSpc>
                  <a:spcBef>
                    <a:spcPct val="0"/>
                  </a:spcBef>
                </a:pPr>
                <a:r>
                  <a:rPr lang="zh-CN" altLang="en-US" sz="1600" dirty="0">
                    <a:solidFill>
                      <a:srgbClr val="000000"/>
                    </a:solidFill>
                    <a:latin typeface="微软雅黑" panose="020B0503020204020204" charset="-122"/>
                    <a:ea typeface="微软雅黑" panose="020B0503020204020204" charset="-122"/>
                    <a:sym typeface="+mn-ea"/>
                  </a:rPr>
                  <a:t>UML是面向对象技术中软件分析与设计的标准建模语言，它统一了面向对象建模的基本概念、术语及其图形符号，建立了便于交流的通用语言。</a:t>
                </a:r>
              </a:p>
            </p:txBody>
          </p:sp>
        </p:grpSp>
        <p:grpSp>
          <p:nvGrpSpPr>
            <p:cNvPr id="28" name="组合 27"/>
            <p:cNvGrpSpPr/>
            <p:nvPr/>
          </p:nvGrpSpPr>
          <p:grpSpPr>
            <a:xfrm>
              <a:off x="9776" y="5931"/>
              <a:ext cx="8224" cy="3948"/>
              <a:chOff x="7327" y="6590"/>
              <a:chExt cx="8224" cy="3948"/>
            </a:xfrm>
          </p:grpSpPr>
          <p:sp>
            <p:nvSpPr>
              <p:cNvPr id="30" name="MH_Other_5"/>
              <p:cNvSpPr>
                <a:spLocks noChangeArrowheads="1"/>
              </p:cNvSpPr>
              <p:nvPr>
                <p:custDataLst>
                  <p:tags r:id="rId1"/>
                </p:custDataLst>
              </p:nvPr>
            </p:nvSpPr>
            <p:spPr bwMode="auto">
              <a:xfrm>
                <a:off x="7327" y="7570"/>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04</a:t>
                </a:r>
                <a:endParaRPr lang="zh-CN" altLang="en-US" sz="2400" b="1" dirty="0">
                  <a:solidFill>
                    <a:srgbClr val="FFFFFF"/>
                  </a:solidFill>
                  <a:ea typeface="微软雅黑" panose="020B0503020204020204" charset="-122"/>
                </a:endParaRPr>
              </a:p>
            </p:txBody>
          </p:sp>
          <p:sp>
            <p:nvSpPr>
              <p:cNvPr id="31" name="MH_Other_6"/>
              <p:cNvSpPr>
                <a:spLocks noChangeArrowheads="1"/>
              </p:cNvSpPr>
              <p:nvPr>
                <p:custDataLst>
                  <p:tags r:id="rId2"/>
                </p:custDataLst>
              </p:nvPr>
            </p:nvSpPr>
            <p:spPr bwMode="auto">
              <a:xfrm>
                <a:off x="8447" y="7735"/>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2" name="MH_Other_7"/>
              <p:cNvSpPr>
                <a:spLocks noChangeArrowheads="1"/>
              </p:cNvSpPr>
              <p:nvPr>
                <p:custDataLst>
                  <p:tags r:id="rId3"/>
                </p:custDataLst>
              </p:nvPr>
            </p:nvSpPr>
            <p:spPr bwMode="auto">
              <a:xfrm>
                <a:off x="7567" y="8410"/>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3" name="MH_Other_8"/>
              <p:cNvSpPr>
                <a:spLocks noChangeArrowheads="1"/>
              </p:cNvSpPr>
              <p:nvPr>
                <p:custDataLst>
                  <p:tags r:id="rId4"/>
                </p:custDataLst>
              </p:nvPr>
            </p:nvSpPr>
            <p:spPr bwMode="auto">
              <a:xfrm>
                <a:off x="8447" y="8410"/>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4" name="MH_SubTitle_3"/>
              <p:cNvSpPr/>
              <p:nvPr>
                <p:custDataLst>
                  <p:tags r:id="rId5"/>
                </p:custDataLst>
              </p:nvPr>
            </p:nvSpPr>
            <p:spPr>
              <a:xfrm>
                <a:off x="9768" y="6590"/>
                <a:ext cx="5783" cy="3948"/>
              </a:xfrm>
              <a:prstGeom prst="rect">
                <a:avLst/>
              </a:prstGeom>
            </p:spPr>
            <p:txBody>
              <a:bodyPr lIns="72000" tIns="36000" rIns="72000" bIns="36000" anchor="ctr">
                <a:spAutoFit/>
              </a:bodyPr>
              <a:lstStyle/>
              <a:p>
                <a:pPr indent="457200">
                  <a:lnSpc>
                    <a:spcPct val="125000"/>
                  </a:lnSpc>
                  <a:defRPr/>
                </a:pPr>
                <a:r>
                  <a:rPr lang="zh-CN" altLang="en-US" sz="1600" dirty="0">
                    <a:solidFill>
                      <a:srgbClr val="000000"/>
                    </a:solidFill>
                    <a:latin typeface="微软雅黑" panose="020B0503020204020204" charset="-122"/>
                    <a:ea typeface="微软雅黑" panose="020B0503020204020204" charset="-122"/>
                    <a:sym typeface="+mn-ea"/>
                  </a:rPr>
                  <a:t>UML表示法为建模者和建模工具的开发者提供了标准的图形符号和文字表达的语法。这些图形符号和文字所表达的是应用级的模型，使用这些图形符号和正文语法为系统建模构造了标准的系统模型。</a:t>
                </a:r>
                <a:endParaRPr lang="en-US" altLang="zh-CN" sz="1600" dirty="0">
                  <a:solidFill>
                    <a:srgbClr val="000000"/>
                  </a:solidFill>
                  <a:latin typeface="微软雅黑" panose="020B0503020204020204" charset="-122"/>
                  <a:ea typeface="微软雅黑" panose="020B0503020204020204" charset="-122"/>
                  <a:sym typeface="+mn-ea"/>
                </a:endParaRPr>
              </a:p>
              <a:p>
                <a:pPr indent="457200">
                  <a:lnSpc>
                    <a:spcPct val="125000"/>
                  </a:lnSpc>
                  <a:defRPr/>
                </a:pPr>
                <a:r>
                  <a:rPr lang="zh-CN" altLang="en-US" sz="1600" dirty="0">
                    <a:solidFill>
                      <a:srgbClr val="000000"/>
                    </a:solidFill>
                    <a:latin typeface="微软雅黑" panose="020B0503020204020204" charset="-122"/>
                    <a:ea typeface="微软雅黑" panose="020B0503020204020204" charset="-122"/>
                    <a:sym typeface="+mn-ea"/>
                  </a:rPr>
                  <a:t>UML表示法由UML图、视图、模型元素、通用机制和扩展机制组成。</a:t>
                </a:r>
              </a:p>
            </p:txBody>
          </p:sp>
        </p:grpSp>
      </p:gr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4" name="文本占位符 3">
            <a:extLst>
              <a:ext uri="{FF2B5EF4-FFF2-40B4-BE49-F238E27FC236}">
                <a16:creationId xmlns:a16="http://schemas.microsoft.com/office/drawing/2014/main" id="{D356E68C-9D67-55F9-005C-181CCBCD9BD0}"/>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grpSp>
        <p:nvGrpSpPr>
          <p:cNvPr id="14" name="组合 13"/>
          <p:cNvGrpSpPr/>
          <p:nvPr/>
        </p:nvGrpSpPr>
        <p:grpSpPr>
          <a:xfrm>
            <a:off x="754380" y="2655712"/>
            <a:ext cx="5034915" cy="1303020"/>
            <a:chOff x="1188" y="3092"/>
            <a:chExt cx="7929" cy="2052"/>
          </a:xfrm>
        </p:grpSpPr>
        <p:grpSp>
          <p:nvGrpSpPr>
            <p:cNvPr id="15" name="组合 14"/>
            <p:cNvGrpSpPr/>
            <p:nvPr/>
          </p:nvGrpSpPr>
          <p:grpSpPr>
            <a:xfrm>
              <a:off x="1188" y="3092"/>
              <a:ext cx="4947" cy="930"/>
              <a:chOff x="508000" y="3196191"/>
              <a:chExt cx="3141314" cy="590550"/>
            </a:xfrm>
          </p:grpSpPr>
          <p:sp>
            <p:nvSpPr>
              <p:cNvPr id="16"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7" name="直接连接符 1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8"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UML的基本元素层</a:t>
                </a:r>
              </a:p>
            </p:txBody>
          </p:sp>
        </p:grpSp>
        <p:sp>
          <p:nvSpPr>
            <p:cNvPr id="35" name="矩形 8"/>
            <p:cNvSpPr>
              <a:spLocks noChangeArrowheads="1"/>
            </p:cNvSpPr>
            <p:nvPr/>
          </p:nvSpPr>
          <p:spPr bwMode="auto">
            <a:xfrm>
              <a:off x="1893" y="3848"/>
              <a:ext cx="7224"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基本元素层由基本元素（Thing）组成，代表要定义的所有事物。</a:t>
              </a:r>
            </a:p>
          </p:txBody>
        </p:sp>
      </p:grpSp>
      <p:grpSp>
        <p:nvGrpSpPr>
          <p:cNvPr id="42" name="组合 41"/>
          <p:cNvGrpSpPr/>
          <p:nvPr/>
        </p:nvGrpSpPr>
        <p:grpSpPr>
          <a:xfrm>
            <a:off x="809625" y="4162943"/>
            <a:ext cx="5118735" cy="1896745"/>
            <a:chOff x="1195" y="5840"/>
            <a:chExt cx="8061" cy="2987"/>
          </a:xfrm>
        </p:grpSpPr>
        <p:grpSp>
          <p:nvGrpSpPr>
            <p:cNvPr id="43" name="组合 42"/>
            <p:cNvGrpSpPr/>
            <p:nvPr/>
          </p:nvGrpSpPr>
          <p:grpSpPr>
            <a:xfrm>
              <a:off x="1195" y="5840"/>
              <a:ext cx="2433" cy="930"/>
              <a:chOff x="512763" y="4940853"/>
              <a:chExt cx="1544783" cy="590550"/>
            </a:xfrm>
          </p:grpSpPr>
          <p:sp>
            <p:nvSpPr>
              <p:cNvPr id="44" name="TextBox 10"/>
              <p:cNvSpPr txBox="1">
                <a:spLocks noChangeArrowheads="1"/>
              </p:cNvSpPr>
              <p:nvPr/>
            </p:nvSpPr>
            <p:spPr bwMode="auto">
              <a:xfrm>
                <a:off x="512763" y="4940853"/>
                <a:ext cx="36125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45" name="直接连接符 44"/>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6" name="矩形 12"/>
              <p:cNvSpPr>
                <a:spLocks noChangeArrowheads="1"/>
              </p:cNvSpPr>
              <p:nvPr/>
            </p:nvSpPr>
            <p:spPr bwMode="auto">
              <a:xfrm>
                <a:off x="960438" y="5036103"/>
                <a:ext cx="1097108"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元模型层</a:t>
                </a:r>
              </a:p>
            </p:txBody>
          </p:sp>
        </p:grpSp>
        <p:sp>
          <p:nvSpPr>
            <p:cNvPr id="47" name="矩形 9"/>
            <p:cNvSpPr>
              <a:spLocks noChangeArrowheads="1"/>
            </p:cNvSpPr>
            <p:nvPr/>
          </p:nvSpPr>
          <p:spPr bwMode="auto">
            <a:xfrm>
              <a:off x="1900" y="6665"/>
              <a:ext cx="7356" cy="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元模型层由UML的基本元素组成，包括面向对象和面向构件的概念，每个概念都是基本元素的实例。它为建模者和使用者提供了简单、一致、通用的表示符号和说明。</a:t>
              </a:r>
            </a:p>
          </p:txBody>
        </p:sp>
      </p:grpSp>
      <p:grpSp>
        <p:nvGrpSpPr>
          <p:cNvPr id="48" name="组合 47"/>
          <p:cNvGrpSpPr/>
          <p:nvPr/>
        </p:nvGrpSpPr>
        <p:grpSpPr>
          <a:xfrm>
            <a:off x="6562725" y="2573538"/>
            <a:ext cx="4764881" cy="1680210"/>
            <a:chOff x="1188" y="3946"/>
            <a:chExt cx="8808" cy="2646"/>
          </a:xfrm>
        </p:grpSpPr>
        <p:grpSp>
          <p:nvGrpSpPr>
            <p:cNvPr id="49" name="组合 48"/>
            <p:cNvGrpSpPr/>
            <p:nvPr/>
          </p:nvGrpSpPr>
          <p:grpSpPr>
            <a:xfrm>
              <a:off x="1188" y="3946"/>
              <a:ext cx="4947" cy="930"/>
              <a:chOff x="508000" y="3196191"/>
              <a:chExt cx="3141314" cy="590550"/>
            </a:xfrm>
          </p:grpSpPr>
          <p:sp>
            <p:nvSpPr>
              <p:cNvPr id="50" name="TextBox 1"/>
              <p:cNvSpPr txBox="1">
                <a:spLocks noChangeArrowheads="1"/>
              </p:cNvSpPr>
              <p:nvPr/>
            </p:nvSpPr>
            <p:spPr bwMode="auto">
              <a:xfrm>
                <a:off x="508000" y="3196191"/>
                <a:ext cx="36067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51" name="直接连接符 50"/>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2"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静态模型层</a:t>
                </a:r>
              </a:p>
            </p:txBody>
          </p:sp>
        </p:grpSp>
        <p:sp>
          <p:nvSpPr>
            <p:cNvPr id="53" name="矩形 8"/>
            <p:cNvSpPr>
              <a:spLocks noChangeArrowheads="1"/>
            </p:cNvSpPr>
            <p:nvPr/>
          </p:nvSpPr>
          <p:spPr bwMode="auto">
            <a:xfrm>
              <a:off x="1893" y="4702"/>
              <a:ext cx="8103" cy="1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静态模型层由UML静态模型组成，静态模型描述系统的元素及元素间的关系，常称为类模型。</a:t>
              </a:r>
            </a:p>
          </p:txBody>
        </p:sp>
      </p:grpSp>
      <p:grpSp>
        <p:nvGrpSpPr>
          <p:cNvPr id="54" name="组合 53"/>
          <p:cNvGrpSpPr/>
          <p:nvPr/>
        </p:nvGrpSpPr>
        <p:grpSpPr>
          <a:xfrm>
            <a:off x="6562725" y="4258193"/>
            <a:ext cx="4760595" cy="1565910"/>
            <a:chOff x="1195" y="5840"/>
            <a:chExt cx="7497" cy="2466"/>
          </a:xfrm>
        </p:grpSpPr>
        <p:grpSp>
          <p:nvGrpSpPr>
            <p:cNvPr id="55" name="组合 54"/>
            <p:cNvGrpSpPr/>
            <p:nvPr/>
          </p:nvGrpSpPr>
          <p:grpSpPr>
            <a:xfrm>
              <a:off x="1195" y="5840"/>
              <a:ext cx="2793" cy="930"/>
              <a:chOff x="512763" y="4940853"/>
              <a:chExt cx="1773191" cy="590550"/>
            </a:xfrm>
          </p:grpSpPr>
          <p:sp>
            <p:nvSpPr>
              <p:cNvPr id="56" name="TextBox 10"/>
              <p:cNvSpPr txBox="1">
                <a:spLocks noChangeArrowheads="1"/>
              </p:cNvSpPr>
              <p:nvPr/>
            </p:nvSpPr>
            <p:spPr bwMode="auto">
              <a:xfrm>
                <a:off x="512763" y="4940853"/>
                <a:ext cx="3641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4</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57" name="直接连接符 56"/>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8" name="矩形 12"/>
              <p:cNvSpPr>
                <a:spLocks noChangeArrowheads="1"/>
              </p:cNvSpPr>
              <p:nvPr/>
            </p:nvSpPr>
            <p:spPr bwMode="auto">
              <a:xfrm>
                <a:off x="960438" y="5036103"/>
                <a:ext cx="1325516"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用例模型层</a:t>
                </a:r>
              </a:p>
            </p:txBody>
          </p:sp>
        </p:grpSp>
        <p:sp>
          <p:nvSpPr>
            <p:cNvPr id="59" name="矩形 9"/>
            <p:cNvSpPr>
              <a:spLocks noChangeArrowheads="1"/>
            </p:cNvSpPr>
            <p:nvPr/>
          </p:nvSpPr>
          <p:spPr bwMode="auto">
            <a:xfrm>
              <a:off x="1900" y="6665"/>
              <a:ext cx="6792" cy="1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用例模型层由用例模型组成，用例模型从用户的角度描述系统需求，它是所有开发活动的指南。</a:t>
              </a:r>
            </a:p>
          </p:txBody>
        </p:sp>
      </p:grpSp>
      <p:sp>
        <p:nvSpPr>
          <p:cNvPr id="28" name="Rectangle 1"/>
          <p:cNvSpPr>
            <a:spLocks noChangeArrowheads="1"/>
          </p:cNvSpPr>
          <p:nvPr/>
        </p:nvSpPr>
        <p:spPr bwMode="auto">
          <a:xfrm>
            <a:off x="600218" y="2056130"/>
            <a:ext cx="10358934" cy="400110"/>
          </a:xfrm>
          <a:prstGeom prst="rect">
            <a:avLst/>
          </a:prstGeom>
          <a:noFill/>
          <a:ln w="9525">
            <a:noFill/>
            <a:miter lim="800000"/>
          </a:ln>
          <a:effectLst/>
        </p:spPr>
        <p:txBody>
          <a:bodyPr vert="horz" wrap="square" lIns="91440" tIns="45720" rIns="91440" bIns="45720" numCol="1" anchor="ctr" anchorCtr="0" compatLnSpc="1">
            <a:spAutoFit/>
          </a:bodyPr>
          <a:lstStyle/>
          <a:p>
            <a:pPr indent="269875" fontAlgn="base">
              <a:spcBef>
                <a:spcPct val="0"/>
              </a:spcBef>
              <a:spcAft>
                <a:spcPct val="0"/>
              </a:spcAft>
            </a:pPr>
            <a:r>
              <a:rPr lang="en-US" altLang="en-US" sz="2000" b="1" dirty="0">
                <a:latin typeface="微软雅黑" panose="020B0503020204020204" charset="-122"/>
                <a:ea typeface="微软雅黑" panose="020B0503020204020204" charset="-122"/>
                <a:sym typeface="+mn-ea"/>
              </a:rPr>
              <a:t>UML</a:t>
            </a:r>
            <a:r>
              <a:rPr lang="zh-CN" altLang="en-US" sz="2000" b="1" dirty="0">
                <a:latin typeface="微软雅黑" panose="020B0503020204020204" charset="-122"/>
                <a:ea typeface="微软雅黑" panose="020B0503020204020204" charset="-122"/>
                <a:sym typeface="+mn-ea"/>
              </a:rPr>
              <a:t>语义是定义在一个建立模型的框架中的，建模框架有如下</a:t>
            </a:r>
            <a:r>
              <a:rPr lang="en-US" altLang="en-US" sz="2000" b="1" dirty="0">
                <a:latin typeface="微软雅黑" panose="020B0503020204020204" charset="-122"/>
                <a:ea typeface="微软雅黑" panose="020B0503020204020204" charset="-122"/>
                <a:sym typeface="+mn-ea"/>
              </a:rPr>
              <a:t>4</a:t>
            </a:r>
            <a:r>
              <a:rPr lang="zh-CN" altLang="en-US" sz="2000" b="1" dirty="0">
                <a:latin typeface="微软雅黑" panose="020B0503020204020204" charset="-122"/>
                <a:ea typeface="微软雅黑" panose="020B0503020204020204" charset="-122"/>
                <a:sym typeface="+mn-ea"/>
              </a:rPr>
              <a:t>个层次（抽象级别）。</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33" name="文本占位符 32">
            <a:extLst>
              <a:ext uri="{FF2B5EF4-FFF2-40B4-BE49-F238E27FC236}">
                <a16:creationId xmlns:a16="http://schemas.microsoft.com/office/drawing/2014/main" id="{7918CE1F-4C3A-4FA7-0270-6CC19665D696}"/>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sp>
        <p:nvSpPr>
          <p:cNvPr id="67" name="MH_Other_5"/>
          <p:cNvSpPr>
            <a:spLocks noChangeShapeType="1"/>
          </p:cNvSpPr>
          <p:nvPr>
            <p:custDataLst>
              <p:tags r:id="rId1"/>
            </p:custDataLst>
          </p:nvPr>
        </p:nvSpPr>
        <p:spPr bwMode="black">
          <a:xfrm flipH="1">
            <a:off x="809325" y="4538316"/>
            <a:ext cx="8147256" cy="635"/>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68" name="MH_SubTitle_1"/>
          <p:cNvSpPr txBox="1">
            <a:spLocks noChangeArrowheads="1"/>
          </p:cNvSpPr>
          <p:nvPr>
            <p:custDataLst>
              <p:tags r:id="rId2"/>
            </p:custDataLst>
          </p:nvPr>
        </p:nvSpPr>
        <p:spPr bwMode="auto">
          <a:xfrm flipH="1">
            <a:off x="754069" y="4039613"/>
            <a:ext cx="8526396" cy="346249"/>
          </a:xfrm>
          <a:prstGeom prst="rect">
            <a:avLst/>
          </a:prstGeom>
          <a:noFill/>
          <a:ln w="9525">
            <a:noFill/>
            <a:miter lim="800000"/>
          </a:ln>
        </p:spPr>
        <p:txBody>
          <a:bodyPr lIns="216000" tIns="34290" rIns="68580" bIns="34290" anchor="ctr">
            <a:spAutoFit/>
          </a:bodyPr>
          <a:lstStyle/>
          <a:p>
            <a:pPr algn="ctr"/>
            <a:r>
              <a:rPr lang="zh-CN" altLang="zh-CN"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行为图：</a:t>
            </a:r>
            <a:r>
              <a:rPr lang="zh-CN" altLang="zh-CN" dirty="0">
                <a:solidFill>
                  <a:schemeClr val="tx1">
                    <a:lumMod val="50000"/>
                  </a:schemeClr>
                </a:solidFill>
                <a:latin typeface="微软雅黑" panose="020B0503020204020204" charset="-122"/>
                <a:ea typeface="微软雅黑" panose="020B0503020204020204" charset="-122"/>
                <a:cs typeface="宋体" panose="02010600030101010101" pitchFamily="2" charset="-122"/>
                <a:sym typeface="+mn-ea"/>
              </a:rPr>
              <a:t>包括状态图和活动图，用于描述系统的动态行为和对象之间的交互关系。</a:t>
            </a:r>
          </a:p>
        </p:txBody>
      </p:sp>
      <p:sp>
        <p:nvSpPr>
          <p:cNvPr id="5" name="MH_Other_4"/>
          <p:cNvSpPr/>
          <p:nvPr>
            <p:custDataLst>
              <p:tags r:id="rId3"/>
            </p:custDataLst>
          </p:nvPr>
        </p:nvSpPr>
        <p:spPr bwMode="gray">
          <a:xfrm rot="5160000" flipH="1">
            <a:off x="9564968" y="2964701"/>
            <a:ext cx="963930" cy="1026190"/>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7" name="MH_Other_4"/>
          <p:cNvSpPr/>
          <p:nvPr>
            <p:custDataLst>
              <p:tags r:id="rId4"/>
            </p:custDataLst>
          </p:nvPr>
        </p:nvSpPr>
        <p:spPr bwMode="gray">
          <a:xfrm rot="3240000" flipH="1">
            <a:off x="9056953" y="3479051"/>
            <a:ext cx="963930" cy="1026190"/>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8" name="MH_Other_4"/>
          <p:cNvSpPr/>
          <p:nvPr>
            <p:custDataLst>
              <p:tags r:id="rId5"/>
            </p:custDataLst>
          </p:nvPr>
        </p:nvSpPr>
        <p:spPr bwMode="gray">
          <a:xfrm rot="780000" flipH="1">
            <a:off x="8980101" y="4197251"/>
            <a:ext cx="963958" cy="1026160"/>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9" name="MH_Other_4"/>
          <p:cNvSpPr/>
          <p:nvPr>
            <p:custDataLst>
              <p:tags r:id="rId6"/>
            </p:custDataLst>
          </p:nvPr>
        </p:nvSpPr>
        <p:spPr bwMode="gray">
          <a:xfrm rot="20520000" flipH="1">
            <a:off x="9269670" y="4723031"/>
            <a:ext cx="963958" cy="1017905"/>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0" name="MH_Other_4"/>
          <p:cNvSpPr/>
          <p:nvPr>
            <p:custDataLst>
              <p:tags r:id="rId7"/>
            </p:custDataLst>
          </p:nvPr>
        </p:nvSpPr>
        <p:spPr bwMode="gray">
          <a:xfrm rot="18660000" flipH="1">
            <a:off x="9777064" y="5030356"/>
            <a:ext cx="937260" cy="996979"/>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1" name="MH_Title_1"/>
          <p:cNvSpPr>
            <a:spLocks noChangeArrowheads="1"/>
          </p:cNvSpPr>
          <p:nvPr>
            <p:custDataLst>
              <p:tags r:id="rId8"/>
            </p:custDataLst>
          </p:nvPr>
        </p:nvSpPr>
        <p:spPr bwMode="gray">
          <a:xfrm flipH="1">
            <a:off x="9731329" y="3671471"/>
            <a:ext cx="1571036" cy="1518920"/>
          </a:xfrm>
          <a:prstGeom prst="ellipse">
            <a:avLst/>
          </a:prstGeom>
          <a:solidFill>
            <a:schemeClr val="accent6">
              <a:lumMod val="50000"/>
            </a:schemeClr>
          </a:solidFill>
          <a:ln w="190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defRPr/>
            </a:pPr>
            <a:r>
              <a:rPr lang="zh-CN" altLang="en-US" sz="2000" b="1" dirty="0"/>
              <a:t>UML的</a:t>
            </a:r>
          </a:p>
          <a:p>
            <a:pPr algn="ctr">
              <a:lnSpc>
                <a:spcPct val="120000"/>
              </a:lnSpc>
              <a:defRPr/>
            </a:pPr>
            <a:r>
              <a:rPr lang="zh-CN" altLang="en-US" sz="2000" b="1" dirty="0"/>
              <a:t>模型图</a:t>
            </a:r>
          </a:p>
        </p:txBody>
      </p:sp>
      <p:sp>
        <p:nvSpPr>
          <p:cNvPr id="13" name="MH_Other_5"/>
          <p:cNvSpPr>
            <a:spLocks noChangeShapeType="1"/>
          </p:cNvSpPr>
          <p:nvPr>
            <p:custDataLst>
              <p:tags r:id="rId9"/>
            </p:custDataLst>
          </p:nvPr>
        </p:nvSpPr>
        <p:spPr bwMode="black">
          <a:xfrm flipH="1">
            <a:off x="1206837" y="5190108"/>
            <a:ext cx="8379072" cy="2413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14" name="MH_SubTitle_1"/>
          <p:cNvSpPr txBox="1">
            <a:spLocks noChangeArrowheads="1"/>
          </p:cNvSpPr>
          <p:nvPr>
            <p:custDataLst>
              <p:tags r:id="rId10"/>
            </p:custDataLst>
          </p:nvPr>
        </p:nvSpPr>
        <p:spPr bwMode="auto">
          <a:xfrm flipH="1">
            <a:off x="1206202" y="4691405"/>
            <a:ext cx="7864707" cy="346249"/>
          </a:xfrm>
          <a:prstGeom prst="rect">
            <a:avLst/>
          </a:prstGeom>
          <a:noFill/>
          <a:ln w="9525">
            <a:noFill/>
            <a:miter lim="800000"/>
          </a:ln>
        </p:spPr>
        <p:txBody>
          <a:bodyPr lIns="216000" tIns="34290" rIns="68580" bIns="34290" anchor="ctr">
            <a:spAutoFit/>
          </a:bodyPr>
          <a:lstStyle/>
          <a:p>
            <a:pPr algn="ctr"/>
            <a:r>
              <a:rPr lang="zh-CN" altLang="zh-CN"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rPr>
              <a:t>交互图：</a:t>
            </a:r>
            <a:r>
              <a:rPr lang="zh-CN" altLang="zh-CN" dirty="0">
                <a:solidFill>
                  <a:schemeClr val="tx1">
                    <a:lumMod val="50000"/>
                  </a:schemeClr>
                </a:solidFill>
                <a:latin typeface="微软雅黑" panose="020B0503020204020204" charset="-122"/>
                <a:ea typeface="微软雅黑" panose="020B0503020204020204" charset="-122"/>
                <a:cs typeface="宋体" panose="02010600030101010101" pitchFamily="2" charset="-122"/>
              </a:rPr>
              <a:t>包括顺序图和协作图，用于描述系统的对象之间的动态合作关系。</a:t>
            </a:r>
          </a:p>
        </p:txBody>
      </p:sp>
      <p:sp>
        <p:nvSpPr>
          <p:cNvPr id="16" name="MH_Other_5"/>
          <p:cNvSpPr>
            <a:spLocks noChangeShapeType="1"/>
          </p:cNvSpPr>
          <p:nvPr>
            <p:custDataLst>
              <p:tags r:id="rId11"/>
            </p:custDataLst>
          </p:nvPr>
        </p:nvSpPr>
        <p:spPr bwMode="black">
          <a:xfrm flipH="1" flipV="1">
            <a:off x="1497041" y="3161707"/>
            <a:ext cx="8584818" cy="7366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17" name="MH_SubTitle_1"/>
          <p:cNvSpPr txBox="1">
            <a:spLocks noChangeArrowheads="1"/>
          </p:cNvSpPr>
          <p:nvPr>
            <p:custDataLst>
              <p:tags r:id="rId12"/>
            </p:custDataLst>
          </p:nvPr>
        </p:nvSpPr>
        <p:spPr bwMode="auto">
          <a:xfrm flipH="1">
            <a:off x="1497994" y="2663004"/>
            <a:ext cx="8194946" cy="346249"/>
          </a:xfrm>
          <a:prstGeom prst="rect">
            <a:avLst/>
          </a:prstGeom>
          <a:noFill/>
          <a:ln w="9525">
            <a:noFill/>
            <a:miter lim="800000"/>
          </a:ln>
        </p:spPr>
        <p:txBody>
          <a:bodyPr lIns="216000" tIns="34290" rIns="68580" bIns="34290" anchor="ctr">
            <a:spAutoFit/>
          </a:bodyPr>
          <a:lstStyle/>
          <a:p>
            <a:pPr algn="l"/>
            <a:r>
              <a:rPr lang="zh-CN" altLang="zh-CN"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用例图：</a:t>
            </a:r>
            <a:r>
              <a:rPr lang="zh-CN" altLang="zh-CN" dirty="0">
                <a:solidFill>
                  <a:schemeClr val="tx1">
                    <a:lumMod val="50000"/>
                  </a:schemeClr>
                </a:solidFill>
                <a:latin typeface="微软雅黑" panose="020B0503020204020204" charset="-122"/>
                <a:ea typeface="微软雅黑" panose="020B0503020204020204" charset="-122"/>
                <a:cs typeface="宋体" panose="02010600030101010101" pitchFamily="2" charset="-122"/>
                <a:sym typeface="+mn-ea"/>
              </a:rPr>
              <a:t>用于表示系统的功能，并指出各功能的操作者。</a:t>
            </a:r>
          </a:p>
        </p:txBody>
      </p:sp>
      <p:sp>
        <p:nvSpPr>
          <p:cNvPr id="18" name="文本框 17"/>
          <p:cNvSpPr txBox="1"/>
          <p:nvPr/>
        </p:nvSpPr>
        <p:spPr>
          <a:xfrm>
            <a:off x="10047568" y="3050441"/>
            <a:ext cx="511190" cy="579120"/>
          </a:xfrm>
          <a:prstGeom prst="rect">
            <a:avLst/>
          </a:prstGeom>
          <a:noFill/>
        </p:spPr>
        <p:txBody>
          <a:bodyPr wrap="square" rtlCol="0">
            <a:spAutoFit/>
          </a:bodyPr>
          <a:lstStyle/>
          <a:p>
            <a:r>
              <a:rPr lang="en-US" altLang="zh-CN" sz="3200" b="1">
                <a:solidFill>
                  <a:schemeClr val="bg1"/>
                </a:solidFill>
              </a:rPr>
              <a:t>1</a:t>
            </a:r>
          </a:p>
        </p:txBody>
      </p:sp>
      <p:sp>
        <p:nvSpPr>
          <p:cNvPr id="19" name="文本框 18"/>
          <p:cNvSpPr txBox="1"/>
          <p:nvPr/>
        </p:nvSpPr>
        <p:spPr>
          <a:xfrm>
            <a:off x="9439220" y="3580666"/>
            <a:ext cx="502300" cy="579120"/>
          </a:xfrm>
          <a:prstGeom prst="rect">
            <a:avLst/>
          </a:prstGeom>
          <a:noFill/>
        </p:spPr>
        <p:txBody>
          <a:bodyPr wrap="square" rtlCol="0">
            <a:spAutoFit/>
          </a:bodyPr>
          <a:lstStyle/>
          <a:p>
            <a:pPr algn="l"/>
            <a:r>
              <a:rPr lang="en-US" altLang="zh-CN" sz="3200" b="1">
                <a:solidFill>
                  <a:schemeClr val="bg1"/>
                </a:solidFill>
              </a:rPr>
              <a:t>2</a:t>
            </a:r>
          </a:p>
        </p:txBody>
      </p:sp>
      <p:sp>
        <p:nvSpPr>
          <p:cNvPr id="20" name="文本框 19"/>
          <p:cNvSpPr txBox="1"/>
          <p:nvPr/>
        </p:nvSpPr>
        <p:spPr>
          <a:xfrm>
            <a:off x="9249349" y="4196616"/>
            <a:ext cx="579137" cy="579120"/>
          </a:xfrm>
          <a:prstGeom prst="rect">
            <a:avLst/>
          </a:prstGeom>
          <a:noFill/>
        </p:spPr>
        <p:txBody>
          <a:bodyPr wrap="square" rtlCol="0">
            <a:spAutoFit/>
          </a:bodyPr>
          <a:lstStyle/>
          <a:p>
            <a:pPr algn="l"/>
            <a:r>
              <a:rPr lang="en-US" altLang="zh-CN" sz="3200" b="1">
                <a:solidFill>
                  <a:schemeClr val="bg1"/>
                </a:solidFill>
              </a:rPr>
              <a:t>3</a:t>
            </a:r>
          </a:p>
        </p:txBody>
      </p:sp>
      <p:sp>
        <p:nvSpPr>
          <p:cNvPr id="21" name="文本框 20"/>
          <p:cNvSpPr txBox="1"/>
          <p:nvPr/>
        </p:nvSpPr>
        <p:spPr>
          <a:xfrm>
            <a:off x="9439220" y="4745891"/>
            <a:ext cx="579137" cy="579120"/>
          </a:xfrm>
          <a:prstGeom prst="rect">
            <a:avLst/>
          </a:prstGeom>
          <a:noFill/>
        </p:spPr>
        <p:txBody>
          <a:bodyPr wrap="square" rtlCol="0">
            <a:spAutoFit/>
          </a:bodyPr>
          <a:lstStyle/>
          <a:p>
            <a:pPr algn="l"/>
            <a:r>
              <a:rPr lang="en-US" altLang="zh-CN" sz="3200" b="1">
                <a:solidFill>
                  <a:schemeClr val="bg1"/>
                </a:solidFill>
              </a:rPr>
              <a:t>4</a:t>
            </a:r>
          </a:p>
        </p:txBody>
      </p:sp>
      <p:sp>
        <p:nvSpPr>
          <p:cNvPr id="22" name="文本框 21"/>
          <p:cNvSpPr txBox="1"/>
          <p:nvPr/>
        </p:nvSpPr>
        <p:spPr>
          <a:xfrm>
            <a:off x="10013277" y="5190391"/>
            <a:ext cx="579137" cy="579120"/>
          </a:xfrm>
          <a:prstGeom prst="rect">
            <a:avLst/>
          </a:prstGeom>
          <a:noFill/>
        </p:spPr>
        <p:txBody>
          <a:bodyPr wrap="square" rtlCol="0">
            <a:spAutoFit/>
          </a:bodyPr>
          <a:lstStyle/>
          <a:p>
            <a:pPr algn="l"/>
            <a:r>
              <a:rPr lang="en-US" altLang="zh-CN" sz="3200" b="1">
                <a:solidFill>
                  <a:schemeClr val="bg1"/>
                </a:solidFill>
              </a:rPr>
              <a:t>5</a:t>
            </a:r>
          </a:p>
        </p:txBody>
      </p:sp>
      <p:sp>
        <p:nvSpPr>
          <p:cNvPr id="24" name="MH_Other_5"/>
          <p:cNvSpPr>
            <a:spLocks noChangeShapeType="1"/>
          </p:cNvSpPr>
          <p:nvPr>
            <p:custDataLst>
              <p:tags r:id="rId13"/>
            </p:custDataLst>
          </p:nvPr>
        </p:nvSpPr>
        <p:spPr bwMode="black">
          <a:xfrm flipH="1">
            <a:off x="1206837" y="3886524"/>
            <a:ext cx="8074263" cy="635"/>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25" name="MH_SubTitle_1"/>
          <p:cNvSpPr txBox="1">
            <a:spLocks noChangeArrowheads="1"/>
          </p:cNvSpPr>
          <p:nvPr>
            <p:custDataLst>
              <p:tags r:id="rId14"/>
            </p:custDataLst>
          </p:nvPr>
        </p:nvSpPr>
        <p:spPr bwMode="auto">
          <a:xfrm flipH="1">
            <a:off x="1206837" y="3387821"/>
            <a:ext cx="7738732" cy="346249"/>
          </a:xfrm>
          <a:prstGeom prst="rect">
            <a:avLst/>
          </a:prstGeom>
          <a:noFill/>
          <a:ln w="9525">
            <a:noFill/>
            <a:miter lim="800000"/>
          </a:ln>
        </p:spPr>
        <p:txBody>
          <a:bodyPr lIns="216000" tIns="34290" rIns="68580" bIns="34290" anchor="ctr">
            <a:spAutoFit/>
          </a:bodyPr>
          <a:lstStyle/>
          <a:p>
            <a:pPr algn="l"/>
            <a:r>
              <a:rPr lang="zh-CN" altLang="zh-CN"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静态图：</a:t>
            </a:r>
            <a:r>
              <a:rPr lang="zh-CN" altLang="zh-CN" dirty="0">
                <a:solidFill>
                  <a:schemeClr val="tx1">
                    <a:lumMod val="50000"/>
                  </a:schemeClr>
                </a:solidFill>
                <a:latin typeface="微软雅黑" panose="020B0503020204020204" charset="-122"/>
                <a:ea typeface="微软雅黑" panose="020B0503020204020204" charset="-122"/>
                <a:cs typeface="宋体" panose="02010600030101010101" pitchFamily="2" charset="-122"/>
                <a:sym typeface="+mn-ea"/>
              </a:rPr>
              <a:t>包括类图、对象图及包，表示系统的静态结构。</a:t>
            </a:r>
          </a:p>
        </p:txBody>
      </p:sp>
      <p:sp>
        <p:nvSpPr>
          <p:cNvPr id="26" name="MH_Other_5"/>
          <p:cNvSpPr>
            <a:spLocks noChangeShapeType="1"/>
          </p:cNvSpPr>
          <p:nvPr>
            <p:custDataLst>
              <p:tags r:id="rId15"/>
            </p:custDataLst>
          </p:nvPr>
        </p:nvSpPr>
        <p:spPr bwMode="black">
          <a:xfrm flipH="1" flipV="1">
            <a:off x="1496406" y="5865396"/>
            <a:ext cx="8739763" cy="64135"/>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27" name="MH_SubTitle_1"/>
          <p:cNvSpPr txBox="1">
            <a:spLocks noChangeArrowheads="1"/>
          </p:cNvSpPr>
          <p:nvPr>
            <p:custDataLst>
              <p:tags r:id="rId16"/>
            </p:custDataLst>
          </p:nvPr>
        </p:nvSpPr>
        <p:spPr bwMode="auto">
          <a:xfrm flipH="1">
            <a:off x="1497041" y="5366692"/>
            <a:ext cx="8258419" cy="346249"/>
          </a:xfrm>
          <a:prstGeom prst="rect">
            <a:avLst/>
          </a:prstGeom>
          <a:noFill/>
          <a:ln w="9525">
            <a:noFill/>
            <a:miter lim="800000"/>
          </a:ln>
        </p:spPr>
        <p:txBody>
          <a:bodyPr lIns="216000" tIns="34290" rIns="68580" bIns="34290" anchor="ctr">
            <a:spAutoFit/>
          </a:bodyPr>
          <a:lstStyle/>
          <a:p>
            <a:pPr algn="l"/>
            <a:r>
              <a:rPr lang="zh-CN" altLang="zh-CN"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rPr>
              <a:t>实现图：</a:t>
            </a:r>
            <a:r>
              <a:rPr lang="zh-CN" altLang="zh-CN" dirty="0">
                <a:solidFill>
                  <a:schemeClr val="tx1">
                    <a:lumMod val="50000"/>
                  </a:schemeClr>
                </a:solidFill>
                <a:latin typeface="微软雅黑" panose="020B0503020204020204" charset="-122"/>
                <a:ea typeface="微软雅黑" panose="020B0503020204020204" charset="-122"/>
                <a:cs typeface="宋体" panose="02010600030101010101" pitchFamily="2" charset="-122"/>
              </a:rPr>
              <a:t>包括构件图和配置图，用于描述系统的物理实现。</a:t>
            </a:r>
          </a:p>
        </p:txBody>
      </p:sp>
      <p:sp>
        <p:nvSpPr>
          <p:cNvPr id="31" name="Rectangle 1"/>
          <p:cNvSpPr>
            <a:spLocks noChangeArrowheads="1"/>
          </p:cNvSpPr>
          <p:nvPr/>
        </p:nvSpPr>
        <p:spPr bwMode="auto">
          <a:xfrm>
            <a:off x="600218" y="2056130"/>
            <a:ext cx="10358934" cy="400110"/>
          </a:xfrm>
          <a:prstGeom prst="rect">
            <a:avLst/>
          </a:prstGeom>
          <a:noFill/>
          <a:ln w="9525">
            <a:noFill/>
            <a:miter lim="800000"/>
          </a:ln>
          <a:effectLst/>
        </p:spPr>
        <p:txBody>
          <a:bodyPr vert="horz" wrap="square" lIns="91440" tIns="45720" rIns="91440" bIns="45720" numCol="1" anchor="ctr" anchorCtr="0" compatLnSpc="1">
            <a:spAutoFit/>
          </a:bodyPr>
          <a:lstStyle/>
          <a:p>
            <a:pPr indent="269875" fontAlgn="base">
              <a:spcBef>
                <a:spcPct val="0"/>
              </a:spcBef>
              <a:spcAft>
                <a:spcPct val="0"/>
              </a:spcAft>
            </a:pPr>
            <a:r>
              <a:rPr lang="en-US" altLang="en-US" sz="2000" b="1" dirty="0">
                <a:latin typeface="微软雅黑" panose="020B0503020204020204" charset="-122"/>
                <a:ea typeface="微软雅黑" panose="020B0503020204020204" charset="-122"/>
                <a:sym typeface="+mn-ea"/>
              </a:rPr>
              <a:t>UML</a:t>
            </a:r>
            <a:r>
              <a:rPr lang="zh-CN" altLang="en-US" sz="2000" b="1" dirty="0">
                <a:latin typeface="微软雅黑" panose="020B0503020204020204" charset="-122"/>
                <a:ea typeface="微软雅黑" panose="020B0503020204020204" charset="-122"/>
                <a:sym typeface="+mn-ea"/>
              </a:rPr>
              <a:t>的模型是用图来表示的，共有</a:t>
            </a:r>
            <a:r>
              <a:rPr lang="en-US" altLang="en-US" sz="2000" b="1" dirty="0">
                <a:latin typeface="微软雅黑" panose="020B0503020204020204" charset="-122"/>
                <a:ea typeface="微软雅黑" panose="020B0503020204020204" charset="-122"/>
                <a:sym typeface="+mn-ea"/>
              </a:rPr>
              <a:t>5</a:t>
            </a:r>
            <a:r>
              <a:rPr lang="zh-CN" altLang="en-US" sz="2000" b="1" dirty="0">
                <a:latin typeface="微软雅黑" panose="020B0503020204020204" charset="-122"/>
                <a:ea typeface="微软雅黑" panose="020B0503020204020204" charset="-122"/>
                <a:sym typeface="+mn-ea"/>
              </a:rPr>
              <a:t>类</a:t>
            </a:r>
            <a:r>
              <a:rPr lang="en-US" altLang="en-US" sz="2000" b="1" dirty="0">
                <a:latin typeface="微软雅黑" panose="020B0503020204020204" charset="-122"/>
                <a:ea typeface="微软雅黑" panose="020B0503020204020204" charset="-122"/>
                <a:sym typeface="+mn-ea"/>
              </a:rPr>
              <a:t>9</a:t>
            </a:r>
            <a:r>
              <a:rPr lang="zh-CN" altLang="en-US" sz="2000" b="1" dirty="0">
                <a:latin typeface="微软雅黑" panose="020B0503020204020204" charset="-122"/>
                <a:ea typeface="微软雅黑" panose="020B0503020204020204" charset="-122"/>
                <a:sym typeface="+mn-ea"/>
              </a:rPr>
              <a:t>种图。</a:t>
            </a:r>
            <a:endParaRPr lang="en-US" altLang="en-US" sz="2000" b="1" dirty="0">
              <a:latin typeface="微软雅黑" panose="020B0503020204020204" charset="-122"/>
              <a:ea typeface="微软雅黑" panose="020B0503020204020204" charset="-122"/>
              <a:sym typeface="+mn-ea"/>
            </a:endParaRPr>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4" name="文本占位符 3">
            <a:extLst>
              <a:ext uri="{FF2B5EF4-FFF2-40B4-BE49-F238E27FC236}">
                <a16:creationId xmlns:a16="http://schemas.microsoft.com/office/drawing/2014/main" id="{87D26ADB-DAA9-6ED9-A8DC-2F64EF66AE82}"/>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sp>
        <p:nvSpPr>
          <p:cNvPr id="66" name="文本框 44"/>
          <p:cNvSpPr txBox="1"/>
          <p:nvPr/>
        </p:nvSpPr>
        <p:spPr>
          <a:xfrm>
            <a:off x="1542248" y="4034370"/>
            <a:ext cx="259524" cy="48329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24" name="文本框 44"/>
          <p:cNvSpPr txBox="1"/>
          <p:nvPr/>
        </p:nvSpPr>
        <p:spPr>
          <a:xfrm>
            <a:off x="1542248" y="5639314"/>
            <a:ext cx="259524" cy="48329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45" name="任意多边形 44"/>
          <p:cNvSpPr/>
          <p:nvPr>
            <p:custDataLst>
              <p:tags r:id="rId1"/>
            </p:custDataLst>
          </p:nvPr>
        </p:nvSpPr>
        <p:spPr>
          <a:xfrm>
            <a:off x="5975969" y="2799159"/>
            <a:ext cx="2059178" cy="3797417"/>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6" name="任意多边形 45"/>
          <p:cNvSpPr/>
          <p:nvPr>
            <p:custDataLst>
              <p:tags r:id="rId2"/>
            </p:custDataLst>
          </p:nvPr>
        </p:nvSpPr>
        <p:spPr>
          <a:xfrm rot="10800000">
            <a:off x="3915728" y="2799159"/>
            <a:ext cx="2060242" cy="3797417"/>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51" name="圆角矩形 50"/>
          <p:cNvSpPr/>
          <p:nvPr>
            <p:custDataLst>
              <p:tags r:id="rId3"/>
            </p:custDataLst>
          </p:nvPr>
        </p:nvSpPr>
        <p:spPr>
          <a:xfrm>
            <a:off x="6995454" y="3131038"/>
            <a:ext cx="3634938" cy="478113"/>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56" name="椭圆 55"/>
          <p:cNvSpPr/>
          <p:nvPr>
            <p:custDataLst>
              <p:tags r:id="rId4"/>
            </p:custDataLst>
          </p:nvPr>
        </p:nvSpPr>
        <p:spPr>
          <a:xfrm>
            <a:off x="6975777" y="3090590"/>
            <a:ext cx="572230" cy="557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5</a:t>
            </a:r>
          </a:p>
        </p:txBody>
      </p:sp>
      <p:sp>
        <p:nvSpPr>
          <p:cNvPr id="57" name="文本框 54"/>
          <p:cNvSpPr txBox="1">
            <a:spLocks noChangeArrowheads="1"/>
          </p:cNvSpPr>
          <p:nvPr>
            <p:custDataLst>
              <p:tags r:id="rId5"/>
            </p:custDataLst>
          </p:nvPr>
        </p:nvSpPr>
        <p:spPr bwMode="auto">
          <a:xfrm>
            <a:off x="7433667" y="3176152"/>
            <a:ext cx="29201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dirty="0" err="1">
                <a:solidFill>
                  <a:srgbClr val="EF4150"/>
                </a:solidFill>
                <a:latin typeface="微软雅黑" panose="020B0503020204020204" charset="-122"/>
                <a:ea typeface="微软雅黑" panose="020B0503020204020204" charset="-122"/>
                <a:sym typeface="+mn-ea"/>
              </a:rPr>
              <a:t>状态视图</a:t>
            </a:r>
            <a:endParaRPr sz="2000" dirty="0">
              <a:solidFill>
                <a:srgbClr val="EF4150"/>
              </a:solidFill>
              <a:latin typeface="微软雅黑" panose="020B0503020204020204" charset="-122"/>
              <a:ea typeface="微软雅黑" panose="020B0503020204020204" charset="-122"/>
              <a:sym typeface="+mn-ea"/>
            </a:endParaRPr>
          </a:p>
        </p:txBody>
      </p:sp>
      <p:sp>
        <p:nvSpPr>
          <p:cNvPr id="58" name="圆角矩形 57"/>
          <p:cNvSpPr/>
          <p:nvPr>
            <p:custDataLst>
              <p:tags r:id="rId6"/>
            </p:custDataLst>
          </p:nvPr>
        </p:nvSpPr>
        <p:spPr>
          <a:xfrm>
            <a:off x="6413119" y="4007923"/>
            <a:ext cx="3909354" cy="478113"/>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59" name="椭圆 58"/>
          <p:cNvSpPr/>
          <p:nvPr>
            <p:custDataLst>
              <p:tags r:id="rId7"/>
            </p:custDataLst>
          </p:nvPr>
        </p:nvSpPr>
        <p:spPr>
          <a:xfrm>
            <a:off x="6395037" y="3968512"/>
            <a:ext cx="572230" cy="557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6</a:t>
            </a:r>
          </a:p>
        </p:txBody>
      </p:sp>
      <p:sp>
        <p:nvSpPr>
          <p:cNvPr id="60" name="文本框 55"/>
          <p:cNvSpPr txBox="1">
            <a:spLocks noChangeArrowheads="1"/>
          </p:cNvSpPr>
          <p:nvPr>
            <p:custDataLst>
              <p:tags r:id="rId8"/>
            </p:custDataLst>
          </p:nvPr>
        </p:nvSpPr>
        <p:spPr bwMode="auto">
          <a:xfrm>
            <a:off x="6874732" y="4091411"/>
            <a:ext cx="34472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EF4150"/>
                </a:solidFill>
                <a:latin typeface="微软雅黑" panose="020B0503020204020204" charset="-122"/>
                <a:ea typeface="微软雅黑" panose="020B0503020204020204" charset="-122"/>
                <a:sym typeface="+mn-ea"/>
              </a:rPr>
              <a:t>活动视图</a:t>
            </a:r>
          </a:p>
        </p:txBody>
      </p:sp>
      <p:sp>
        <p:nvSpPr>
          <p:cNvPr id="61" name="圆角矩形 60"/>
          <p:cNvSpPr/>
          <p:nvPr>
            <p:custDataLst>
              <p:tags r:id="rId9"/>
            </p:custDataLst>
          </p:nvPr>
        </p:nvSpPr>
        <p:spPr>
          <a:xfrm>
            <a:off x="6321647" y="4889994"/>
            <a:ext cx="4000825" cy="479150"/>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7500" lnSpcReduction="10000"/>
          </a:bodyPr>
          <a:lstStyle/>
          <a:p>
            <a:pPr algn="ctr" eaLnBrk="1" hangingPunct="1">
              <a:spcBef>
                <a:spcPts val="0"/>
              </a:spcBef>
              <a:spcAft>
                <a:spcPts val="0"/>
              </a:spcAft>
              <a:defRPr/>
            </a:pPr>
            <a:endParaRPr lang="zh-CN" altLang="en-US" sz="1800">
              <a:solidFill>
                <a:schemeClr val="tx1"/>
              </a:solidFill>
            </a:endParaRPr>
          </a:p>
        </p:txBody>
      </p:sp>
      <p:sp>
        <p:nvSpPr>
          <p:cNvPr id="62" name="椭圆 61"/>
          <p:cNvSpPr/>
          <p:nvPr>
            <p:custDataLst>
              <p:tags r:id="rId10"/>
            </p:custDataLst>
          </p:nvPr>
        </p:nvSpPr>
        <p:spPr>
          <a:xfrm>
            <a:off x="6302502" y="4851102"/>
            <a:ext cx="572230" cy="557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7</a:t>
            </a:r>
          </a:p>
        </p:txBody>
      </p:sp>
      <p:sp>
        <p:nvSpPr>
          <p:cNvPr id="63" name="文本框 56"/>
          <p:cNvSpPr txBox="1">
            <a:spLocks noChangeArrowheads="1"/>
          </p:cNvSpPr>
          <p:nvPr>
            <p:custDataLst>
              <p:tags r:id="rId11"/>
            </p:custDataLst>
          </p:nvPr>
        </p:nvSpPr>
        <p:spPr bwMode="auto">
          <a:xfrm>
            <a:off x="6967799" y="4931997"/>
            <a:ext cx="32020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EF4150"/>
                </a:solidFill>
                <a:latin typeface="微软雅黑" panose="020B0503020204020204" charset="-122"/>
                <a:ea typeface="微软雅黑" panose="020B0503020204020204" charset="-122"/>
                <a:sym typeface="+mn-ea"/>
              </a:rPr>
              <a:t>交互视图</a:t>
            </a:r>
          </a:p>
        </p:txBody>
      </p:sp>
      <p:sp>
        <p:nvSpPr>
          <p:cNvPr id="64" name="圆角矩形 63"/>
          <p:cNvSpPr/>
          <p:nvPr>
            <p:custDataLst>
              <p:tags r:id="rId12"/>
            </p:custDataLst>
          </p:nvPr>
        </p:nvSpPr>
        <p:spPr>
          <a:xfrm>
            <a:off x="7059271" y="5818735"/>
            <a:ext cx="3570589" cy="478113"/>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65" name="椭圆 64"/>
          <p:cNvSpPr/>
          <p:nvPr>
            <p:custDataLst>
              <p:tags r:id="rId13"/>
            </p:custDataLst>
          </p:nvPr>
        </p:nvSpPr>
        <p:spPr>
          <a:xfrm>
            <a:off x="7041190" y="5778288"/>
            <a:ext cx="572230" cy="5579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8</a:t>
            </a:r>
          </a:p>
        </p:txBody>
      </p:sp>
      <p:sp>
        <p:nvSpPr>
          <p:cNvPr id="67" name="文本框 57"/>
          <p:cNvSpPr txBox="1">
            <a:spLocks noChangeArrowheads="1"/>
          </p:cNvSpPr>
          <p:nvPr>
            <p:custDataLst>
              <p:tags r:id="rId14"/>
            </p:custDataLst>
          </p:nvPr>
        </p:nvSpPr>
        <p:spPr bwMode="auto">
          <a:xfrm>
            <a:off x="7648519" y="5857109"/>
            <a:ext cx="28856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EF4150"/>
                </a:solidFill>
                <a:latin typeface="微软雅黑" panose="020B0503020204020204" charset="-122"/>
                <a:ea typeface="微软雅黑" panose="020B0503020204020204" charset="-122"/>
                <a:sym typeface="+mn-ea"/>
              </a:rPr>
              <a:t>模型管理视图</a:t>
            </a:r>
          </a:p>
        </p:txBody>
      </p:sp>
      <p:sp>
        <p:nvSpPr>
          <p:cNvPr id="68" name="圆角矩形 67"/>
          <p:cNvSpPr/>
          <p:nvPr>
            <p:custDataLst>
              <p:tags r:id="rId15"/>
            </p:custDataLst>
          </p:nvPr>
        </p:nvSpPr>
        <p:spPr>
          <a:xfrm rot="10800000">
            <a:off x="1092335" y="3131556"/>
            <a:ext cx="3854577" cy="478113"/>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69" name="椭圆 68"/>
          <p:cNvSpPr/>
          <p:nvPr>
            <p:custDataLst>
              <p:tags r:id="rId16"/>
            </p:custDataLst>
          </p:nvPr>
        </p:nvSpPr>
        <p:spPr>
          <a:xfrm>
            <a:off x="4393827" y="3090590"/>
            <a:ext cx="572230" cy="5579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1</a:t>
            </a:r>
          </a:p>
        </p:txBody>
      </p:sp>
      <p:sp>
        <p:nvSpPr>
          <p:cNvPr id="70" name="文本框 59"/>
          <p:cNvSpPr txBox="1">
            <a:spLocks noChangeArrowheads="1"/>
          </p:cNvSpPr>
          <p:nvPr>
            <p:custDataLst>
              <p:tags r:id="rId17"/>
            </p:custDataLst>
          </p:nvPr>
        </p:nvSpPr>
        <p:spPr bwMode="auto">
          <a:xfrm>
            <a:off x="1177425" y="3161114"/>
            <a:ext cx="32164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fontAlgn="auto">
              <a:lnSpc>
                <a:spcPct val="100000"/>
              </a:lnSpc>
              <a:spcBef>
                <a:spcPct val="0"/>
              </a:spcBef>
              <a:buFontTx/>
              <a:buNone/>
            </a:pPr>
            <a:r>
              <a:rPr sz="2000" dirty="0" err="1">
                <a:solidFill>
                  <a:srgbClr val="58BDA8"/>
                </a:solidFill>
                <a:latin typeface="微软雅黑" panose="020B0503020204020204" charset="-122"/>
                <a:ea typeface="微软雅黑" panose="020B0503020204020204" charset="-122"/>
                <a:sym typeface="+mn-ea"/>
              </a:rPr>
              <a:t>静态视图</a:t>
            </a:r>
            <a:endParaRPr sz="2000" dirty="0">
              <a:solidFill>
                <a:srgbClr val="58BDA8"/>
              </a:solidFill>
              <a:latin typeface="微软雅黑" panose="020B0503020204020204" charset="-122"/>
              <a:ea typeface="微软雅黑" panose="020B0503020204020204" charset="-122"/>
              <a:sym typeface="+mn-ea"/>
            </a:endParaRPr>
          </a:p>
        </p:txBody>
      </p:sp>
      <p:sp>
        <p:nvSpPr>
          <p:cNvPr id="71" name="圆角矩形 70"/>
          <p:cNvSpPr/>
          <p:nvPr>
            <p:custDataLst>
              <p:tags r:id="rId18"/>
            </p:custDataLst>
          </p:nvPr>
        </p:nvSpPr>
        <p:spPr>
          <a:xfrm rot="10800000">
            <a:off x="1680520" y="4009997"/>
            <a:ext cx="3848195" cy="478113"/>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72" name="椭圆 71"/>
          <p:cNvSpPr/>
          <p:nvPr>
            <p:custDataLst>
              <p:tags r:id="rId19"/>
            </p:custDataLst>
          </p:nvPr>
        </p:nvSpPr>
        <p:spPr>
          <a:xfrm>
            <a:off x="4975098" y="3968512"/>
            <a:ext cx="572230" cy="5579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2</a:t>
            </a:r>
          </a:p>
        </p:txBody>
      </p:sp>
      <p:sp>
        <p:nvSpPr>
          <p:cNvPr id="73" name="文本框 60"/>
          <p:cNvSpPr txBox="1">
            <a:spLocks noChangeArrowheads="1"/>
          </p:cNvSpPr>
          <p:nvPr>
            <p:custDataLst>
              <p:tags r:id="rId20"/>
            </p:custDataLst>
          </p:nvPr>
        </p:nvSpPr>
        <p:spPr bwMode="auto">
          <a:xfrm>
            <a:off x="1856018" y="4080003"/>
            <a:ext cx="2864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58BDA8"/>
                </a:solidFill>
                <a:latin typeface="微软雅黑" panose="020B0503020204020204" charset="-122"/>
                <a:ea typeface="微软雅黑" panose="020B0503020204020204" charset="-122"/>
                <a:sym typeface="+mn-ea"/>
              </a:rPr>
              <a:t>用例视图</a:t>
            </a:r>
          </a:p>
        </p:txBody>
      </p:sp>
      <p:sp>
        <p:nvSpPr>
          <p:cNvPr id="74" name="圆角矩形 73"/>
          <p:cNvSpPr/>
          <p:nvPr>
            <p:custDataLst>
              <p:tags r:id="rId21"/>
            </p:custDataLst>
          </p:nvPr>
        </p:nvSpPr>
        <p:spPr>
          <a:xfrm rot="10800000">
            <a:off x="1680520" y="4891550"/>
            <a:ext cx="3973703" cy="478113"/>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75" name="椭圆 74"/>
          <p:cNvSpPr/>
          <p:nvPr>
            <p:custDataLst>
              <p:tags r:id="rId22"/>
            </p:custDataLst>
          </p:nvPr>
        </p:nvSpPr>
        <p:spPr>
          <a:xfrm>
            <a:off x="5101669" y="4851102"/>
            <a:ext cx="572230" cy="5579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3</a:t>
            </a:r>
          </a:p>
        </p:txBody>
      </p:sp>
      <p:sp>
        <p:nvSpPr>
          <p:cNvPr id="76" name="文本框 61"/>
          <p:cNvSpPr txBox="1">
            <a:spLocks noChangeArrowheads="1"/>
          </p:cNvSpPr>
          <p:nvPr>
            <p:custDataLst>
              <p:tags r:id="rId23"/>
            </p:custDataLst>
          </p:nvPr>
        </p:nvSpPr>
        <p:spPr bwMode="auto">
          <a:xfrm>
            <a:off x="1802305" y="4937702"/>
            <a:ext cx="29903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58BDA8"/>
                </a:solidFill>
                <a:latin typeface="微软雅黑" panose="020B0503020204020204" charset="-122"/>
                <a:ea typeface="微软雅黑" panose="020B0503020204020204" charset="-122"/>
                <a:sym typeface="+mn-ea"/>
              </a:rPr>
              <a:t>实现视图</a:t>
            </a:r>
          </a:p>
        </p:txBody>
      </p:sp>
      <p:sp>
        <p:nvSpPr>
          <p:cNvPr id="77" name="圆角矩形 76"/>
          <p:cNvSpPr/>
          <p:nvPr>
            <p:custDataLst>
              <p:tags r:id="rId24"/>
            </p:custDataLst>
          </p:nvPr>
        </p:nvSpPr>
        <p:spPr>
          <a:xfrm rot="10800000">
            <a:off x="1092335" y="5817180"/>
            <a:ext cx="3806182" cy="478113"/>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0000"/>
          </a:bodyPr>
          <a:lstStyle/>
          <a:p>
            <a:pPr algn="ctr" eaLnBrk="1" hangingPunct="1">
              <a:spcBef>
                <a:spcPts val="0"/>
              </a:spcBef>
              <a:spcAft>
                <a:spcPts val="0"/>
              </a:spcAft>
              <a:defRPr/>
            </a:pPr>
            <a:endParaRPr lang="zh-CN" altLang="en-US" sz="1800">
              <a:solidFill>
                <a:schemeClr val="tx1"/>
              </a:solidFill>
            </a:endParaRPr>
          </a:p>
        </p:txBody>
      </p:sp>
      <p:sp>
        <p:nvSpPr>
          <p:cNvPr id="78" name="椭圆 77"/>
          <p:cNvSpPr/>
          <p:nvPr>
            <p:custDataLst>
              <p:tags r:id="rId25"/>
            </p:custDataLst>
          </p:nvPr>
        </p:nvSpPr>
        <p:spPr>
          <a:xfrm>
            <a:off x="4345964" y="5778288"/>
            <a:ext cx="572230" cy="5579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87500" lnSpcReduction="10000"/>
          </a:bodyPr>
          <a:lstStyle/>
          <a:p>
            <a:pPr algn="ctr" eaLnBrk="1" hangingPunct="1">
              <a:spcBef>
                <a:spcPts val="0"/>
              </a:spcBef>
              <a:spcAft>
                <a:spcPts val="0"/>
              </a:spcAft>
              <a:defRPr/>
            </a:pPr>
            <a:r>
              <a:rPr lang="en-US" altLang="zh-CN" sz="2400" b="1" dirty="0">
                <a:solidFill>
                  <a:schemeClr val="bg1"/>
                </a:solidFill>
                <a:latin typeface="微软雅黑" panose="020B0503020204020204" pitchFamily="34" charset="-122"/>
                <a:ea typeface="微软雅黑" panose="020B0503020204020204" pitchFamily="34" charset="-122"/>
              </a:rPr>
              <a:t>4</a:t>
            </a:r>
          </a:p>
        </p:txBody>
      </p:sp>
      <p:sp>
        <p:nvSpPr>
          <p:cNvPr id="79" name="文本框 62"/>
          <p:cNvSpPr txBox="1">
            <a:spLocks noChangeArrowheads="1"/>
          </p:cNvSpPr>
          <p:nvPr>
            <p:custDataLst>
              <p:tags r:id="rId26"/>
            </p:custDataLst>
          </p:nvPr>
        </p:nvSpPr>
        <p:spPr bwMode="auto">
          <a:xfrm>
            <a:off x="1200825" y="5857109"/>
            <a:ext cx="31451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2000">
                <a:solidFill>
                  <a:srgbClr val="58BDA8"/>
                </a:solidFill>
                <a:latin typeface="微软雅黑" panose="020B0503020204020204" charset="-122"/>
                <a:ea typeface="微软雅黑" panose="020B0503020204020204" charset="-122"/>
                <a:sym typeface="+mn-ea"/>
              </a:rPr>
              <a:t>部署视图</a:t>
            </a:r>
          </a:p>
        </p:txBody>
      </p:sp>
      <p:sp>
        <p:nvSpPr>
          <p:cNvPr id="33" name="Rectangle 1"/>
          <p:cNvSpPr>
            <a:spLocks noChangeArrowheads="1"/>
          </p:cNvSpPr>
          <p:nvPr/>
        </p:nvSpPr>
        <p:spPr bwMode="auto">
          <a:xfrm>
            <a:off x="600218" y="2056130"/>
            <a:ext cx="10358934" cy="707886"/>
          </a:xfrm>
          <a:prstGeom prst="rect">
            <a:avLst/>
          </a:prstGeom>
          <a:noFill/>
          <a:ln w="9525">
            <a:noFill/>
            <a:miter lim="800000"/>
          </a:ln>
          <a:effectLst/>
        </p:spPr>
        <p:txBody>
          <a:bodyPr vert="horz" wrap="square" lIns="91440" tIns="45720" rIns="91440" bIns="45720" numCol="1" anchor="ctr" anchorCtr="0" compatLnSpc="1">
            <a:spAutoFit/>
          </a:bodyPr>
          <a:lstStyle/>
          <a:p>
            <a:pPr indent="269875" fontAlgn="base">
              <a:spcBef>
                <a:spcPct val="0"/>
              </a:spcBef>
              <a:spcAft>
                <a:spcPct val="0"/>
              </a:spcAft>
            </a:pPr>
            <a:r>
              <a:rPr lang="zh-CN" altLang="en-US" sz="2000" dirty="0"/>
              <a:t>视图由若干张图构成，从不同的目的或角度描述系统。</a:t>
            </a:r>
            <a:r>
              <a:rPr lang="en-US" sz="2000" dirty="0"/>
              <a:t>UML</a:t>
            </a:r>
            <a:r>
              <a:rPr lang="zh-CN" altLang="en-US" sz="2000" dirty="0"/>
              <a:t>视图主要包括：静态视图、用例视图、实现视图、部署视图、状态视图、活动视图、交互视图、模型管理视图等。</a:t>
            </a:r>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14" name="文本占位符 13">
            <a:extLst>
              <a:ext uri="{FF2B5EF4-FFF2-40B4-BE49-F238E27FC236}">
                <a16:creationId xmlns:a16="http://schemas.microsoft.com/office/drawing/2014/main" id="{30761FF0-3A81-B242-1270-678383BF57DD}"/>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sp>
        <p:nvSpPr>
          <p:cNvPr id="4" name="MH_Other_1"/>
          <p:cNvSpPr/>
          <p:nvPr>
            <p:custDataLst>
              <p:tags r:id="rId1"/>
            </p:custDataLst>
          </p:nvPr>
        </p:nvSpPr>
        <p:spPr>
          <a:xfrm rot="21439215">
            <a:off x="2876084" y="4110952"/>
            <a:ext cx="1547378" cy="1241232"/>
          </a:xfrm>
          <a:prstGeom prst="roundRect">
            <a:avLst>
              <a:gd name="adj" fmla="val 18567"/>
            </a:avLst>
          </a:prstGeom>
          <a:solidFill>
            <a:srgbClr val="58BDA8"/>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400" dirty="0">
                <a:latin typeface="+mj-ea"/>
                <a:ea typeface="+mj-ea"/>
              </a:rPr>
              <a:t>元素</a:t>
            </a:r>
          </a:p>
        </p:txBody>
      </p:sp>
      <p:cxnSp>
        <p:nvCxnSpPr>
          <p:cNvPr id="5" name="MH_Other_2"/>
          <p:cNvCxnSpPr>
            <a:cxnSpLocks/>
            <a:stCxn id="4" idx="3"/>
            <a:endCxn id="10" idx="1"/>
          </p:cNvCxnSpPr>
          <p:nvPr>
            <p:custDataLst>
              <p:tags r:id="rId2"/>
            </p:custDataLst>
          </p:nvPr>
        </p:nvCxnSpPr>
        <p:spPr>
          <a:xfrm>
            <a:off x="4422616" y="4695395"/>
            <a:ext cx="1437070" cy="256150"/>
          </a:xfrm>
          <a:prstGeom prst="straightConnector1">
            <a:avLst/>
          </a:prstGeom>
          <a:ln>
            <a:solidFill>
              <a:srgbClr val="58BDA8"/>
            </a:solidFill>
            <a:tailEnd type="triangle"/>
          </a:ln>
        </p:spPr>
        <p:style>
          <a:lnRef idx="1">
            <a:schemeClr val="accent1"/>
          </a:lnRef>
          <a:fillRef idx="0">
            <a:schemeClr val="accent1"/>
          </a:fillRef>
          <a:effectRef idx="0">
            <a:schemeClr val="accent1"/>
          </a:effectRef>
          <a:fontRef idx="minor">
            <a:schemeClr val="tx1"/>
          </a:fontRef>
        </p:style>
      </p:cxnSp>
      <p:sp>
        <p:nvSpPr>
          <p:cNvPr id="6" name="MH_Other_3"/>
          <p:cNvSpPr/>
          <p:nvPr>
            <p:custDataLst>
              <p:tags r:id="rId3"/>
            </p:custDataLst>
          </p:nvPr>
        </p:nvSpPr>
        <p:spPr>
          <a:xfrm rot="183635">
            <a:off x="2488737" y="2849060"/>
            <a:ext cx="1549387" cy="1241232"/>
          </a:xfrm>
          <a:prstGeom prst="roundRect">
            <a:avLst>
              <a:gd name="adj" fmla="val 18567"/>
            </a:avLst>
          </a:prstGeom>
          <a:solidFill>
            <a:srgbClr val="EF4150"/>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400" dirty="0">
                <a:latin typeface="+mj-ea"/>
                <a:ea typeface="+mj-ea"/>
              </a:rPr>
              <a:t>模型</a:t>
            </a:r>
          </a:p>
        </p:txBody>
      </p:sp>
      <p:cxnSp>
        <p:nvCxnSpPr>
          <p:cNvPr id="7" name="MH_Other_4"/>
          <p:cNvCxnSpPr>
            <a:cxnSpLocks/>
            <a:stCxn id="6" idx="3"/>
            <a:endCxn id="9" idx="1"/>
          </p:cNvCxnSpPr>
          <p:nvPr>
            <p:custDataLst>
              <p:tags r:id="rId4"/>
            </p:custDataLst>
          </p:nvPr>
        </p:nvCxnSpPr>
        <p:spPr>
          <a:xfrm flipV="1">
            <a:off x="4037019" y="3376428"/>
            <a:ext cx="1775677" cy="134610"/>
          </a:xfrm>
          <a:prstGeom prst="straightConnector1">
            <a:avLst/>
          </a:prstGeom>
          <a:ln>
            <a:solidFill>
              <a:srgbClr val="EF4150"/>
            </a:solidFill>
            <a:tailEnd type="triangle"/>
          </a:ln>
        </p:spPr>
        <p:style>
          <a:lnRef idx="1">
            <a:schemeClr val="accent1"/>
          </a:lnRef>
          <a:fillRef idx="0">
            <a:schemeClr val="accent1"/>
          </a:fillRef>
          <a:effectRef idx="0">
            <a:schemeClr val="accent1"/>
          </a:effectRef>
          <a:fontRef idx="minor">
            <a:schemeClr val="tx1"/>
          </a:fontRef>
        </p:style>
      </p:cxnSp>
      <p:sp>
        <p:nvSpPr>
          <p:cNvPr id="8" name="MH_Other_5"/>
          <p:cNvSpPr/>
          <p:nvPr>
            <p:custDataLst>
              <p:tags r:id="rId5"/>
            </p:custDataLst>
          </p:nvPr>
        </p:nvSpPr>
        <p:spPr>
          <a:xfrm>
            <a:off x="1471201" y="3402130"/>
            <a:ext cx="1220242" cy="1988196"/>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MH_Text_2"/>
          <p:cNvSpPr txBox="1"/>
          <p:nvPr>
            <p:custDataLst>
              <p:tags r:id="rId6"/>
            </p:custDataLst>
          </p:nvPr>
        </p:nvSpPr>
        <p:spPr>
          <a:xfrm>
            <a:off x="5812696" y="2697295"/>
            <a:ext cx="4775200" cy="1358265"/>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en-US" altLang="zh-CN" sz="1800" dirty="0"/>
              <a:t>       </a:t>
            </a:r>
            <a:r>
              <a:rPr lang="zh-CN" altLang="en-US" sz="1800" dirty="0"/>
              <a:t>图中使用的概念，如用例、类、对象、消息和关系，统称为模型元素。模型元素在图中用相应的图形符号表示。</a:t>
            </a:r>
          </a:p>
        </p:txBody>
      </p:sp>
      <p:sp>
        <p:nvSpPr>
          <p:cNvPr id="10" name="MH_Text_1"/>
          <p:cNvSpPr txBox="1"/>
          <p:nvPr>
            <p:custDataLst>
              <p:tags r:id="rId7"/>
            </p:custDataLst>
          </p:nvPr>
        </p:nvSpPr>
        <p:spPr>
          <a:xfrm>
            <a:off x="5859686" y="4512760"/>
            <a:ext cx="4728210" cy="877570"/>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en-US" altLang="zh-CN" sz="1800" dirty="0"/>
              <a:t>       </a:t>
            </a:r>
            <a:r>
              <a:rPr lang="zh-CN" altLang="en-US" sz="1800" dirty="0"/>
              <a:t>一个模型元素可以在多个不同的图中出现，但它的含义和符号是相同的。</a:t>
            </a: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5" name="文本占位符 4">
            <a:extLst>
              <a:ext uri="{FF2B5EF4-FFF2-40B4-BE49-F238E27FC236}">
                <a16:creationId xmlns:a16="http://schemas.microsoft.com/office/drawing/2014/main" id="{F2675D46-3B0A-B60B-144D-3B7215674F34}"/>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sp>
        <p:nvSpPr>
          <p:cNvPr id="36" name="任意多边形 35"/>
          <p:cNvSpPr/>
          <p:nvPr/>
        </p:nvSpPr>
        <p:spPr>
          <a:xfrm rot="10800000">
            <a:off x="9559897" y="1969815"/>
            <a:ext cx="2195830" cy="4149725"/>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485" name="文本框 47"/>
          <p:cNvSpPr txBox="1"/>
          <p:nvPr/>
        </p:nvSpPr>
        <p:spPr>
          <a:xfrm>
            <a:off x="9884382" y="5278165"/>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57" name="圆角矩形 56"/>
          <p:cNvSpPr/>
          <p:nvPr/>
        </p:nvSpPr>
        <p:spPr>
          <a:xfrm rot="10800000">
            <a:off x="4390361" y="5275625"/>
            <a:ext cx="5598796"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8" name="椭圆 57"/>
          <p:cNvSpPr/>
          <p:nvPr/>
        </p:nvSpPr>
        <p:spPr>
          <a:xfrm rot="10800000">
            <a:off x="9401147" y="5231810"/>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9" name="圆角矩形 58"/>
          <p:cNvSpPr/>
          <p:nvPr/>
        </p:nvSpPr>
        <p:spPr>
          <a:xfrm rot="10800000">
            <a:off x="4399886" y="4529977"/>
            <a:ext cx="6206491"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椭圆 59"/>
          <p:cNvSpPr/>
          <p:nvPr/>
        </p:nvSpPr>
        <p:spPr>
          <a:xfrm rot="10800000">
            <a:off x="10031067" y="4492035"/>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 name="圆角矩形 60"/>
          <p:cNvSpPr/>
          <p:nvPr/>
        </p:nvSpPr>
        <p:spPr>
          <a:xfrm rot="10800000">
            <a:off x="4399251" y="3784328"/>
            <a:ext cx="6356351"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 name="圆角矩形 61"/>
          <p:cNvSpPr/>
          <p:nvPr/>
        </p:nvSpPr>
        <p:spPr>
          <a:xfrm rot="10800000">
            <a:off x="4399251" y="3038679"/>
            <a:ext cx="6236336"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3" name="椭圆 62"/>
          <p:cNvSpPr/>
          <p:nvPr/>
        </p:nvSpPr>
        <p:spPr>
          <a:xfrm rot="10800000">
            <a:off x="10071707" y="2986450"/>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 name="圆角矩形 63"/>
          <p:cNvSpPr/>
          <p:nvPr/>
        </p:nvSpPr>
        <p:spPr>
          <a:xfrm rot="10800000">
            <a:off x="4384011" y="2293030"/>
            <a:ext cx="5626736"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5" name="椭圆 64"/>
          <p:cNvSpPr/>
          <p:nvPr/>
        </p:nvSpPr>
        <p:spPr>
          <a:xfrm rot="10800000">
            <a:off x="9421467" y="2248580"/>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6" name="文本框 44"/>
          <p:cNvSpPr txBox="1"/>
          <p:nvPr/>
        </p:nvSpPr>
        <p:spPr>
          <a:xfrm>
            <a:off x="9542117" y="2323510"/>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67" name="文本框 45"/>
          <p:cNvSpPr txBox="1"/>
          <p:nvPr/>
        </p:nvSpPr>
        <p:spPr>
          <a:xfrm>
            <a:off x="10151717" y="3048680"/>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2</a:t>
            </a:r>
            <a:endParaRPr lang="zh-CN" altLang="en-US" sz="2400" b="1" dirty="0">
              <a:solidFill>
                <a:schemeClr val="bg1"/>
              </a:solidFill>
              <a:latin typeface="微软雅黑" panose="020B0503020204020204" charset="-122"/>
              <a:ea typeface="微软雅黑" panose="020B0503020204020204" charset="-122"/>
            </a:endParaRPr>
          </a:p>
        </p:txBody>
      </p:sp>
      <p:sp>
        <p:nvSpPr>
          <p:cNvPr id="68" name="文本框 46"/>
          <p:cNvSpPr txBox="1"/>
          <p:nvPr/>
        </p:nvSpPr>
        <p:spPr>
          <a:xfrm>
            <a:off x="10296497" y="3847510"/>
            <a:ext cx="309245"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69" name="文本框 47"/>
          <p:cNvSpPr txBox="1"/>
          <p:nvPr/>
        </p:nvSpPr>
        <p:spPr>
          <a:xfrm>
            <a:off x="10151717" y="4590460"/>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70" name="文本框 48"/>
          <p:cNvSpPr txBox="1"/>
          <p:nvPr/>
        </p:nvSpPr>
        <p:spPr>
          <a:xfrm>
            <a:off x="9528147" y="5330235"/>
            <a:ext cx="309245"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5</a:t>
            </a:r>
            <a:endParaRPr lang="zh-CN" altLang="en-US" sz="2400" b="1" dirty="0">
              <a:solidFill>
                <a:schemeClr val="bg1"/>
              </a:solidFill>
              <a:latin typeface="微软雅黑" panose="020B0503020204020204" charset="-122"/>
              <a:ea typeface="微软雅黑" panose="020B0503020204020204" charset="-122"/>
            </a:endParaRPr>
          </a:p>
        </p:txBody>
      </p:sp>
      <p:sp>
        <p:nvSpPr>
          <p:cNvPr id="71" name="文本框 59"/>
          <p:cNvSpPr txBox="1"/>
          <p:nvPr/>
        </p:nvSpPr>
        <p:spPr>
          <a:xfrm>
            <a:off x="4816446" y="2369547"/>
            <a:ext cx="4344671"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chemeClr val="accent6">
                    <a:lumMod val="50000"/>
                  </a:schemeClr>
                </a:solidFill>
                <a:latin typeface="微软雅黑" panose="020B0503020204020204" charset="-122"/>
                <a:ea typeface="微软雅黑" panose="020B0503020204020204" charset="-122"/>
              </a:rPr>
              <a:t>字符串</a:t>
            </a:r>
            <a:r>
              <a:rPr lang="zh-CN" altLang="en-US" sz="1800" b="1" dirty="0">
                <a:latin typeface="微软雅黑" panose="020B0503020204020204" charset="-122"/>
                <a:ea typeface="微软雅黑" panose="020B0503020204020204" charset="-122"/>
              </a:rPr>
              <a:t>：用于表示有关模型的信息。</a:t>
            </a:r>
          </a:p>
        </p:txBody>
      </p:sp>
      <p:sp>
        <p:nvSpPr>
          <p:cNvPr id="72" name="文本框 60"/>
          <p:cNvSpPr txBox="1"/>
          <p:nvPr/>
        </p:nvSpPr>
        <p:spPr>
          <a:xfrm>
            <a:off x="4816446" y="3115196"/>
            <a:ext cx="4471036"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chemeClr val="accent6">
                    <a:lumMod val="50000"/>
                  </a:schemeClr>
                </a:solidFill>
                <a:latin typeface="微软雅黑" panose="020B0503020204020204" charset="-122"/>
                <a:ea typeface="微软雅黑" panose="020B0503020204020204" charset="-122"/>
              </a:rPr>
              <a:t>名字</a:t>
            </a:r>
            <a:r>
              <a:rPr lang="zh-CN" altLang="en-US" sz="1800" b="1" dirty="0">
                <a:latin typeface="微软雅黑" panose="020B0503020204020204" charset="-122"/>
                <a:ea typeface="微软雅黑" panose="020B0503020204020204" charset="-122"/>
              </a:rPr>
              <a:t>：用于表示模型元素。</a:t>
            </a:r>
          </a:p>
        </p:txBody>
      </p:sp>
      <p:sp>
        <p:nvSpPr>
          <p:cNvPr id="73" name="文本框 61"/>
          <p:cNvSpPr txBox="1"/>
          <p:nvPr/>
        </p:nvSpPr>
        <p:spPr>
          <a:xfrm>
            <a:off x="4816446" y="3860845"/>
            <a:ext cx="5213986"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chemeClr val="accent6">
                    <a:lumMod val="50000"/>
                  </a:schemeClr>
                </a:solidFill>
                <a:latin typeface="微软雅黑" panose="020B0503020204020204" charset="-122"/>
                <a:ea typeface="微软雅黑" panose="020B0503020204020204" charset="-122"/>
              </a:rPr>
              <a:t>标号</a:t>
            </a:r>
            <a:r>
              <a:rPr lang="zh-CN" altLang="en-US" sz="1800" b="1" dirty="0">
                <a:latin typeface="微软雅黑" panose="020B0503020204020204" charset="-122"/>
                <a:ea typeface="微软雅黑" panose="020B0503020204020204" charset="-122"/>
              </a:rPr>
              <a:t>：用于表示附属于图形符号的字符。</a:t>
            </a:r>
          </a:p>
        </p:txBody>
      </p:sp>
      <p:sp>
        <p:nvSpPr>
          <p:cNvPr id="74" name="文本框 62"/>
          <p:cNvSpPr txBox="1"/>
          <p:nvPr/>
        </p:nvSpPr>
        <p:spPr>
          <a:xfrm>
            <a:off x="4816446" y="4606494"/>
            <a:ext cx="4916806"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chemeClr val="accent6">
                    <a:lumMod val="50000"/>
                  </a:schemeClr>
                </a:solidFill>
                <a:latin typeface="微软雅黑" panose="020B0503020204020204" charset="-122"/>
                <a:ea typeface="微软雅黑" panose="020B0503020204020204" charset="-122"/>
              </a:rPr>
              <a:t>特定字符串</a:t>
            </a:r>
            <a:r>
              <a:rPr lang="zh-CN" altLang="en-US" sz="1800" b="1" dirty="0">
                <a:latin typeface="微软雅黑" panose="020B0503020204020204" charset="-122"/>
                <a:ea typeface="微软雅黑" panose="020B0503020204020204" charset="-122"/>
              </a:rPr>
              <a:t>：用于表示附属于模型元素的特性。</a:t>
            </a:r>
          </a:p>
        </p:txBody>
      </p:sp>
      <p:sp>
        <p:nvSpPr>
          <p:cNvPr id="75" name="文本框 63"/>
          <p:cNvSpPr txBox="1"/>
          <p:nvPr/>
        </p:nvSpPr>
        <p:spPr>
          <a:xfrm>
            <a:off x="4816446" y="5352143"/>
            <a:ext cx="4605021"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chemeClr val="accent6">
                    <a:lumMod val="50000"/>
                  </a:schemeClr>
                </a:solidFill>
                <a:latin typeface="微软雅黑" panose="020B0503020204020204" charset="-122"/>
                <a:ea typeface="微软雅黑" panose="020B0503020204020204" charset="-122"/>
              </a:rPr>
              <a:t>类型表达式</a:t>
            </a:r>
            <a:r>
              <a:rPr lang="zh-CN" altLang="en-US" sz="1800" b="1" dirty="0">
                <a:latin typeface="微软雅黑" panose="020B0503020204020204" charset="-122"/>
                <a:ea typeface="微软雅黑" panose="020B0503020204020204" charset="-122"/>
              </a:rPr>
              <a:t>：用于声明属性变量和参数。</a:t>
            </a:r>
          </a:p>
        </p:txBody>
      </p:sp>
      <p:sp>
        <p:nvSpPr>
          <p:cNvPr id="76" name="椭圆 75"/>
          <p:cNvSpPr/>
          <p:nvPr/>
        </p:nvSpPr>
        <p:spPr>
          <a:xfrm rot="10800000">
            <a:off x="10186642" y="3777660"/>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7" name="文本框 46"/>
          <p:cNvSpPr txBox="1"/>
          <p:nvPr/>
        </p:nvSpPr>
        <p:spPr>
          <a:xfrm>
            <a:off x="10296497" y="3799885"/>
            <a:ext cx="531495" cy="48323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167" name="圆角矩形"/>
          <p:cNvSpPr/>
          <p:nvPr/>
        </p:nvSpPr>
        <p:spPr>
          <a:xfrm>
            <a:off x="745916" y="3090277"/>
            <a:ext cx="3600000" cy="174394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anchor="ctr">
            <a:spAutoFit/>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fontAlgn="auto">
              <a:lnSpc>
                <a:spcPct val="110000"/>
              </a:lnSpc>
            </a:pPr>
            <a:r>
              <a:rPr lang="zh-CN" altLang="en-US" dirty="0">
                <a:solidFill>
                  <a:schemeClr val="tx1"/>
                </a:solidFill>
                <a:sym typeface="+mn-ea"/>
              </a:rPr>
              <a:t> </a:t>
            </a:r>
            <a:r>
              <a:rPr lang="en-US" altLang="zh-CN" dirty="0">
                <a:solidFill>
                  <a:schemeClr val="tx1"/>
                </a:solidFill>
                <a:sym typeface="+mn-ea"/>
              </a:rPr>
              <a:t>UML </a:t>
            </a:r>
            <a:r>
              <a:rPr lang="zh-CN" altLang="en-US" dirty="0">
                <a:solidFill>
                  <a:schemeClr val="tx1"/>
                </a:solidFill>
                <a:sym typeface="+mn-ea"/>
              </a:rPr>
              <a:t>为所有元素在语义和语法上提供了简单、一致、通用的定义性说明。</a:t>
            </a:r>
            <a:r>
              <a:rPr lang="en-US" altLang="zh-CN" dirty="0">
                <a:solidFill>
                  <a:schemeClr val="tx1"/>
                </a:solidFill>
                <a:sym typeface="+mn-ea"/>
              </a:rPr>
              <a:t>UML </a:t>
            </a:r>
            <a:r>
              <a:rPr lang="zh-CN" altLang="en-US" dirty="0">
                <a:solidFill>
                  <a:schemeClr val="tx1"/>
                </a:solidFill>
                <a:sym typeface="+mn-ea"/>
              </a:rPr>
              <a:t>利用通用机制为图附加一些额外信息。</a:t>
            </a:r>
          </a:p>
          <a:p>
            <a:pPr fontAlgn="auto">
              <a:lnSpc>
                <a:spcPct val="110000"/>
              </a:lnSpc>
            </a:pPr>
            <a:r>
              <a:rPr lang="zh-CN" altLang="en-US" dirty="0">
                <a:solidFill>
                  <a:schemeClr val="tx1"/>
                </a:solidFill>
                <a:sym typeface="+mn-ea"/>
              </a:rPr>
              <a:t>通用机制的表示方法有：</a:t>
            </a:r>
            <a:endParaRPr lang="zh-CN" altLang="en-US" dirty="0">
              <a:solidFill>
                <a:schemeClr val="tx1"/>
              </a:solidFill>
            </a:endParaRPr>
          </a:p>
        </p:txBody>
      </p:sp>
      <p:sp>
        <p:nvSpPr>
          <p:cNvPr id="6" name="学士帽"/>
          <p:cNvSpPr/>
          <p:nvPr/>
        </p:nvSpPr>
        <p:spPr bwMode="auto">
          <a:xfrm>
            <a:off x="550971" y="2822442"/>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6" name="文本占位符 5">
            <a:extLst>
              <a:ext uri="{FF2B5EF4-FFF2-40B4-BE49-F238E27FC236}">
                <a16:creationId xmlns:a16="http://schemas.microsoft.com/office/drawing/2014/main" id="{6B6C6BC9-7FC3-E8CA-CF74-EC2457484A56}"/>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grpSp>
        <p:nvGrpSpPr>
          <p:cNvPr id="2" name="组合 1"/>
          <p:cNvGrpSpPr/>
          <p:nvPr/>
        </p:nvGrpSpPr>
        <p:grpSpPr>
          <a:xfrm>
            <a:off x="627380" y="3046730"/>
            <a:ext cx="3875405" cy="2714625"/>
            <a:chOff x="988" y="4798"/>
            <a:chExt cx="6103" cy="4275"/>
          </a:xfrm>
        </p:grpSpPr>
        <p:sp>
          <p:nvSpPr>
            <p:cNvPr id="160" name=" 160"/>
            <p:cNvSpPr/>
            <p:nvPr/>
          </p:nvSpPr>
          <p:spPr>
            <a:xfrm>
              <a:off x="5043" y="4798"/>
              <a:ext cx="2048" cy="1205"/>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 2050"/>
            <p:cNvSpPr/>
            <p:nvPr/>
          </p:nvSpPr>
          <p:spPr bwMode="auto">
            <a:xfrm>
              <a:off x="988" y="6279"/>
              <a:ext cx="4191" cy="2794"/>
            </a:xfrm>
            <a:custGeom>
              <a:avLst/>
              <a:gdLst>
                <a:gd name="T0" fmla="*/ 151004 w 5185"/>
                <a:gd name="T1" fmla="*/ 1065477 h 3880"/>
                <a:gd name="T2" fmla="*/ 1873403 w 5185"/>
                <a:gd name="T3" fmla="*/ 1297678 h 3880"/>
                <a:gd name="T4" fmla="*/ 751713 w 5185"/>
                <a:gd name="T5" fmla="*/ 1241832 h 3880"/>
                <a:gd name="T6" fmla="*/ 1108464 w 5185"/>
                <a:gd name="T7" fmla="*/ 1148144 h 3880"/>
                <a:gd name="T8" fmla="*/ 751713 w 5185"/>
                <a:gd name="T9" fmla="*/ 1241832 h 3880"/>
                <a:gd name="T10" fmla="*/ 1726808 w 5185"/>
                <a:gd name="T11" fmla="*/ 1012203 h 3880"/>
                <a:gd name="T12" fmla="*/ 1726073 w 5185"/>
                <a:gd name="T13" fmla="*/ 1007794 h 3880"/>
                <a:gd name="T14" fmla="*/ 1726808 w 5185"/>
                <a:gd name="T15" fmla="*/ 44089 h 3880"/>
                <a:gd name="T16" fmla="*/ 1726441 w 5185"/>
                <a:gd name="T17" fmla="*/ 39680 h 3880"/>
                <a:gd name="T18" fmla="*/ 1724604 w 5185"/>
                <a:gd name="T19" fmla="*/ 30862 h 3880"/>
                <a:gd name="T20" fmla="*/ 1721297 w 5185"/>
                <a:gd name="T21" fmla="*/ 23147 h 3880"/>
                <a:gd name="T22" fmla="*/ 1716888 w 5185"/>
                <a:gd name="T23" fmla="*/ 15798 h 3880"/>
                <a:gd name="T24" fmla="*/ 1711010 w 5185"/>
                <a:gd name="T25" fmla="*/ 9920 h 3880"/>
                <a:gd name="T26" fmla="*/ 1703662 w 5185"/>
                <a:gd name="T27" fmla="*/ 5144 h 3880"/>
                <a:gd name="T28" fmla="*/ 1695946 w 5185"/>
                <a:gd name="T29" fmla="*/ 1837 h 3880"/>
                <a:gd name="T30" fmla="*/ 1687128 w 5185"/>
                <a:gd name="T31" fmla="*/ 367 h 3880"/>
                <a:gd name="T32" fmla="*/ 222281 w 5185"/>
                <a:gd name="T33" fmla="*/ 0 h 3880"/>
                <a:gd name="T34" fmla="*/ 217872 w 5185"/>
                <a:gd name="T35" fmla="*/ 367 h 3880"/>
                <a:gd name="T36" fmla="*/ 209054 w 5185"/>
                <a:gd name="T37" fmla="*/ 1837 h 3880"/>
                <a:gd name="T38" fmla="*/ 201338 w 5185"/>
                <a:gd name="T39" fmla="*/ 5144 h 3880"/>
                <a:gd name="T40" fmla="*/ 194358 w 5185"/>
                <a:gd name="T41" fmla="*/ 9920 h 3880"/>
                <a:gd name="T42" fmla="*/ 188112 w 5185"/>
                <a:gd name="T43" fmla="*/ 15798 h 3880"/>
                <a:gd name="T44" fmla="*/ 183336 w 5185"/>
                <a:gd name="T45" fmla="*/ 23147 h 3880"/>
                <a:gd name="T46" fmla="*/ 180029 w 5185"/>
                <a:gd name="T47" fmla="*/ 30862 h 3880"/>
                <a:gd name="T48" fmla="*/ 178559 w 5185"/>
                <a:gd name="T49" fmla="*/ 39680 h 3880"/>
                <a:gd name="T50" fmla="*/ 178192 w 5185"/>
                <a:gd name="T51" fmla="*/ 1003386 h 3880"/>
                <a:gd name="T52" fmla="*/ 178559 w 5185"/>
                <a:gd name="T53" fmla="*/ 1007794 h 3880"/>
                <a:gd name="T54" fmla="*/ 178192 w 5185"/>
                <a:gd name="T55" fmla="*/ 1012203 h 3880"/>
                <a:gd name="T56" fmla="*/ 1727176 w 5185"/>
                <a:gd name="T57" fmla="*/ 1012571 h 3880"/>
                <a:gd name="T58" fmla="*/ 1616954 w 5185"/>
                <a:gd name="T59" fmla="*/ 937620 h 3880"/>
                <a:gd name="T60" fmla="*/ 288046 w 5185"/>
                <a:gd name="T61" fmla="*/ 109854 h 3880"/>
                <a:gd name="T62" fmla="*/ 1616954 w 5185"/>
                <a:gd name="T63" fmla="*/ 937620 h 3880"/>
                <a:gd name="T64" fmla="*/ 4409 w 5185"/>
                <a:gd name="T65" fmla="*/ 1350584 h 3880"/>
                <a:gd name="T66" fmla="*/ 0 w 5185"/>
                <a:gd name="T67" fmla="*/ 1359402 h 3880"/>
                <a:gd name="T68" fmla="*/ 735 w 5185"/>
                <a:gd name="T69" fmla="*/ 1369322 h 3880"/>
                <a:gd name="T70" fmla="*/ 3307 w 5185"/>
                <a:gd name="T71" fmla="*/ 1379977 h 3880"/>
                <a:gd name="T72" fmla="*/ 7348 w 5185"/>
                <a:gd name="T73" fmla="*/ 1390999 h 3880"/>
                <a:gd name="T74" fmla="*/ 13227 w 5185"/>
                <a:gd name="T75" fmla="*/ 1401654 h 3880"/>
                <a:gd name="T76" fmla="*/ 19473 w 5185"/>
                <a:gd name="T77" fmla="*/ 1411206 h 3880"/>
                <a:gd name="T78" fmla="*/ 26821 w 5185"/>
                <a:gd name="T79" fmla="*/ 1418554 h 3880"/>
                <a:gd name="T80" fmla="*/ 35271 w 5185"/>
                <a:gd name="T81" fmla="*/ 1423698 h 3880"/>
                <a:gd name="T82" fmla="*/ 41884 w 5185"/>
                <a:gd name="T83" fmla="*/ 1425168 h 3880"/>
                <a:gd name="T84" fmla="*/ 1860911 w 5185"/>
                <a:gd name="T85" fmla="*/ 1425535 h 3880"/>
                <a:gd name="T86" fmla="*/ 1863116 w 5185"/>
                <a:gd name="T87" fmla="*/ 1425168 h 3880"/>
                <a:gd name="T88" fmla="*/ 1869729 w 5185"/>
                <a:gd name="T89" fmla="*/ 1423698 h 3880"/>
                <a:gd name="T90" fmla="*/ 1878179 w 5185"/>
                <a:gd name="T91" fmla="*/ 1418554 h 3880"/>
                <a:gd name="T92" fmla="*/ 1885527 w 5185"/>
                <a:gd name="T93" fmla="*/ 1411206 h 3880"/>
                <a:gd name="T94" fmla="*/ 1892141 w 5185"/>
                <a:gd name="T95" fmla="*/ 1401654 h 3880"/>
                <a:gd name="T96" fmla="*/ 1897652 w 5185"/>
                <a:gd name="T97" fmla="*/ 1390999 h 3880"/>
                <a:gd name="T98" fmla="*/ 1901693 w 5185"/>
                <a:gd name="T99" fmla="*/ 1379977 h 3880"/>
                <a:gd name="T100" fmla="*/ 1903898 w 5185"/>
                <a:gd name="T101" fmla="*/ 1369322 h 3880"/>
                <a:gd name="T102" fmla="*/ 1905000 w 5185"/>
                <a:gd name="T103" fmla="*/ 1359402 h 3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185" h="3880">
                  <a:moveTo>
                    <a:pt x="4775" y="2900"/>
                  </a:moveTo>
                  <a:lnTo>
                    <a:pt x="411" y="2900"/>
                  </a:lnTo>
                  <a:lnTo>
                    <a:pt x="87" y="3532"/>
                  </a:lnTo>
                  <a:lnTo>
                    <a:pt x="5099" y="3532"/>
                  </a:lnTo>
                  <a:lnTo>
                    <a:pt x="4775" y="2900"/>
                  </a:lnTo>
                  <a:close/>
                  <a:moveTo>
                    <a:pt x="2046" y="3380"/>
                  </a:moveTo>
                  <a:lnTo>
                    <a:pt x="2181" y="3125"/>
                  </a:lnTo>
                  <a:lnTo>
                    <a:pt x="3017" y="3125"/>
                  </a:lnTo>
                  <a:lnTo>
                    <a:pt x="3139" y="3380"/>
                  </a:lnTo>
                  <a:lnTo>
                    <a:pt x="2046" y="3380"/>
                  </a:lnTo>
                  <a:close/>
                  <a:moveTo>
                    <a:pt x="4700" y="2755"/>
                  </a:moveTo>
                  <a:lnTo>
                    <a:pt x="4700" y="2755"/>
                  </a:lnTo>
                  <a:lnTo>
                    <a:pt x="4698" y="2743"/>
                  </a:lnTo>
                  <a:lnTo>
                    <a:pt x="4700" y="2731"/>
                  </a:lnTo>
                  <a:lnTo>
                    <a:pt x="4700" y="120"/>
                  </a:lnTo>
                  <a:lnTo>
                    <a:pt x="4699" y="108"/>
                  </a:lnTo>
                  <a:lnTo>
                    <a:pt x="4697" y="95"/>
                  </a:lnTo>
                  <a:lnTo>
                    <a:pt x="4694" y="84"/>
                  </a:lnTo>
                  <a:lnTo>
                    <a:pt x="4690" y="73"/>
                  </a:lnTo>
                  <a:lnTo>
                    <a:pt x="4685" y="63"/>
                  </a:lnTo>
                  <a:lnTo>
                    <a:pt x="4680" y="53"/>
                  </a:lnTo>
                  <a:lnTo>
                    <a:pt x="4673" y="43"/>
                  </a:lnTo>
                  <a:lnTo>
                    <a:pt x="4665" y="34"/>
                  </a:lnTo>
                  <a:lnTo>
                    <a:pt x="4657" y="27"/>
                  </a:lnTo>
                  <a:lnTo>
                    <a:pt x="4647" y="20"/>
                  </a:lnTo>
                  <a:lnTo>
                    <a:pt x="4637" y="14"/>
                  </a:lnTo>
                  <a:lnTo>
                    <a:pt x="4627" y="9"/>
                  </a:lnTo>
                  <a:lnTo>
                    <a:pt x="4616" y="5"/>
                  </a:lnTo>
                  <a:lnTo>
                    <a:pt x="4605" y="2"/>
                  </a:lnTo>
                  <a:lnTo>
                    <a:pt x="4592" y="1"/>
                  </a:lnTo>
                  <a:lnTo>
                    <a:pt x="4580" y="0"/>
                  </a:lnTo>
                  <a:lnTo>
                    <a:pt x="605" y="0"/>
                  </a:lnTo>
                  <a:lnTo>
                    <a:pt x="593" y="1"/>
                  </a:lnTo>
                  <a:lnTo>
                    <a:pt x="581" y="2"/>
                  </a:lnTo>
                  <a:lnTo>
                    <a:pt x="569" y="5"/>
                  </a:lnTo>
                  <a:lnTo>
                    <a:pt x="558" y="9"/>
                  </a:lnTo>
                  <a:lnTo>
                    <a:pt x="548" y="14"/>
                  </a:lnTo>
                  <a:lnTo>
                    <a:pt x="538" y="20"/>
                  </a:lnTo>
                  <a:lnTo>
                    <a:pt x="529" y="27"/>
                  </a:lnTo>
                  <a:lnTo>
                    <a:pt x="521" y="34"/>
                  </a:lnTo>
                  <a:lnTo>
                    <a:pt x="512" y="43"/>
                  </a:lnTo>
                  <a:lnTo>
                    <a:pt x="505" y="53"/>
                  </a:lnTo>
                  <a:lnTo>
                    <a:pt x="499" y="63"/>
                  </a:lnTo>
                  <a:lnTo>
                    <a:pt x="494" y="73"/>
                  </a:lnTo>
                  <a:lnTo>
                    <a:pt x="490" y="84"/>
                  </a:lnTo>
                  <a:lnTo>
                    <a:pt x="488" y="95"/>
                  </a:lnTo>
                  <a:lnTo>
                    <a:pt x="486" y="108"/>
                  </a:lnTo>
                  <a:lnTo>
                    <a:pt x="485" y="120"/>
                  </a:lnTo>
                  <a:lnTo>
                    <a:pt x="485" y="2731"/>
                  </a:lnTo>
                  <a:lnTo>
                    <a:pt x="486" y="2743"/>
                  </a:lnTo>
                  <a:lnTo>
                    <a:pt x="485" y="2755"/>
                  </a:lnTo>
                  <a:lnTo>
                    <a:pt x="484" y="2756"/>
                  </a:lnTo>
                  <a:lnTo>
                    <a:pt x="4701" y="2756"/>
                  </a:lnTo>
                  <a:lnTo>
                    <a:pt x="4700" y="2755"/>
                  </a:lnTo>
                  <a:close/>
                  <a:moveTo>
                    <a:pt x="4401" y="2552"/>
                  </a:moveTo>
                  <a:lnTo>
                    <a:pt x="784" y="2552"/>
                  </a:lnTo>
                  <a:lnTo>
                    <a:pt x="784" y="299"/>
                  </a:lnTo>
                  <a:lnTo>
                    <a:pt x="4401" y="299"/>
                  </a:lnTo>
                  <a:lnTo>
                    <a:pt x="4401" y="2552"/>
                  </a:lnTo>
                  <a:close/>
                  <a:moveTo>
                    <a:pt x="5172" y="3676"/>
                  </a:moveTo>
                  <a:lnTo>
                    <a:pt x="12" y="3676"/>
                  </a:lnTo>
                  <a:lnTo>
                    <a:pt x="0" y="3700"/>
                  </a:lnTo>
                  <a:lnTo>
                    <a:pt x="1" y="3713"/>
                  </a:lnTo>
                  <a:lnTo>
                    <a:pt x="2" y="3727"/>
                  </a:lnTo>
                  <a:lnTo>
                    <a:pt x="5" y="3741"/>
                  </a:lnTo>
                  <a:lnTo>
                    <a:pt x="9" y="3756"/>
                  </a:lnTo>
                  <a:lnTo>
                    <a:pt x="14" y="3771"/>
                  </a:lnTo>
                  <a:lnTo>
                    <a:pt x="20" y="3786"/>
                  </a:lnTo>
                  <a:lnTo>
                    <a:pt x="28" y="3801"/>
                  </a:lnTo>
                  <a:lnTo>
                    <a:pt x="36" y="3815"/>
                  </a:lnTo>
                  <a:lnTo>
                    <a:pt x="44" y="3828"/>
                  </a:lnTo>
                  <a:lnTo>
                    <a:pt x="53" y="3841"/>
                  </a:lnTo>
                  <a:lnTo>
                    <a:pt x="63" y="3852"/>
                  </a:lnTo>
                  <a:lnTo>
                    <a:pt x="73" y="3861"/>
                  </a:lnTo>
                  <a:lnTo>
                    <a:pt x="85" y="3869"/>
                  </a:lnTo>
                  <a:lnTo>
                    <a:pt x="96" y="3875"/>
                  </a:lnTo>
                  <a:lnTo>
                    <a:pt x="108" y="3878"/>
                  </a:lnTo>
                  <a:lnTo>
                    <a:pt x="114" y="3879"/>
                  </a:lnTo>
                  <a:lnTo>
                    <a:pt x="120" y="3880"/>
                  </a:lnTo>
                  <a:lnTo>
                    <a:pt x="5065" y="3880"/>
                  </a:lnTo>
                  <a:lnTo>
                    <a:pt x="5071" y="3879"/>
                  </a:lnTo>
                  <a:lnTo>
                    <a:pt x="5077" y="3878"/>
                  </a:lnTo>
                  <a:lnTo>
                    <a:pt x="5089" y="3875"/>
                  </a:lnTo>
                  <a:lnTo>
                    <a:pt x="5101" y="3869"/>
                  </a:lnTo>
                  <a:lnTo>
                    <a:pt x="5112" y="3861"/>
                  </a:lnTo>
                  <a:lnTo>
                    <a:pt x="5122" y="3852"/>
                  </a:lnTo>
                  <a:lnTo>
                    <a:pt x="5132" y="3841"/>
                  </a:lnTo>
                  <a:lnTo>
                    <a:pt x="5141" y="3828"/>
                  </a:lnTo>
                  <a:lnTo>
                    <a:pt x="5150" y="3815"/>
                  </a:lnTo>
                  <a:lnTo>
                    <a:pt x="5158" y="3801"/>
                  </a:lnTo>
                  <a:lnTo>
                    <a:pt x="5165" y="3786"/>
                  </a:lnTo>
                  <a:lnTo>
                    <a:pt x="5171" y="3771"/>
                  </a:lnTo>
                  <a:lnTo>
                    <a:pt x="5176" y="3756"/>
                  </a:lnTo>
                  <a:lnTo>
                    <a:pt x="5180" y="3741"/>
                  </a:lnTo>
                  <a:lnTo>
                    <a:pt x="5182" y="3727"/>
                  </a:lnTo>
                  <a:lnTo>
                    <a:pt x="5184" y="3713"/>
                  </a:lnTo>
                  <a:lnTo>
                    <a:pt x="5185" y="3700"/>
                  </a:lnTo>
                  <a:lnTo>
                    <a:pt x="5172" y="367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bIns="36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dirty="0">
                <a:solidFill>
                  <a:srgbClr val="FFFFFF"/>
                </a:solidFill>
                <a:ea typeface="微软雅黑" panose="020B0503020204020204" pitchFamily="34" charset="-122"/>
              </a:endParaRPr>
            </a:p>
          </p:txBody>
        </p:sp>
        <p:sp>
          <p:nvSpPr>
            <p:cNvPr id="22" name="文本框 21"/>
            <p:cNvSpPr txBox="1"/>
            <p:nvPr/>
          </p:nvSpPr>
          <p:spPr>
            <a:xfrm>
              <a:off x="1916" y="6951"/>
              <a:ext cx="2336" cy="624"/>
            </a:xfrm>
            <a:prstGeom prst="rect">
              <a:avLst/>
            </a:prstGeom>
            <a:noFill/>
          </p:spPr>
          <p:txBody>
            <a:bodyPr wrap="square" rtlCol="0">
              <a:spAutoFit/>
            </a:bodyPr>
            <a:lstStyle/>
            <a:p>
              <a:pPr algn="ctr"/>
              <a:r>
                <a:rPr lang="zh-CN" altLang="en-US" sz="2000" b="1"/>
                <a:t>扩展机制</a:t>
              </a:r>
            </a:p>
          </p:txBody>
        </p:sp>
      </p:grpSp>
      <p:grpSp>
        <p:nvGrpSpPr>
          <p:cNvPr id="5" name="组合 4"/>
          <p:cNvGrpSpPr/>
          <p:nvPr/>
        </p:nvGrpSpPr>
        <p:grpSpPr>
          <a:xfrm>
            <a:off x="3828415" y="1527810"/>
            <a:ext cx="7458075" cy="4218305"/>
            <a:chOff x="3668" y="3363"/>
            <a:chExt cx="11745" cy="6643"/>
          </a:xfrm>
        </p:grpSpPr>
        <p:sp>
          <p:nvSpPr>
            <p:cNvPr id="28" name="泪滴形 27"/>
            <p:cNvSpPr/>
            <p:nvPr/>
          </p:nvSpPr>
          <p:spPr>
            <a:xfrm rot="8100000">
              <a:off x="10590" y="3363"/>
              <a:ext cx="2913" cy="2913"/>
            </a:xfrm>
            <a:prstGeom prst="teardrop">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泪滴形 25"/>
            <p:cNvSpPr/>
            <p:nvPr/>
          </p:nvSpPr>
          <p:spPr>
            <a:xfrm rot="8100000">
              <a:off x="5508" y="3363"/>
              <a:ext cx="2913" cy="2913"/>
            </a:xfrm>
            <a:prstGeom prst="teardrop">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3" name="组合 12"/>
            <p:cNvGrpSpPr/>
            <p:nvPr/>
          </p:nvGrpSpPr>
          <p:grpSpPr>
            <a:xfrm>
              <a:off x="3668" y="3553"/>
              <a:ext cx="11745" cy="6453"/>
              <a:chOff x="3668" y="3553"/>
              <a:chExt cx="11745" cy="6453"/>
            </a:xfrm>
          </p:grpSpPr>
          <p:sp>
            <p:nvSpPr>
              <p:cNvPr id="14" name="椭圆 13"/>
              <p:cNvSpPr/>
              <p:nvPr/>
            </p:nvSpPr>
            <p:spPr>
              <a:xfrm>
                <a:off x="10780" y="3553"/>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a:off x="5698" y="3553"/>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泪滴形 15"/>
              <p:cNvSpPr/>
              <p:nvPr/>
            </p:nvSpPr>
            <p:spPr>
              <a:xfrm rot="8100000">
                <a:off x="7738" y="4018"/>
                <a:ext cx="3475" cy="3475"/>
              </a:xfrm>
              <a:prstGeom prst="teardrop">
                <a:avLst>
                  <a:gd name="adj" fmla="val 128439"/>
                </a:avLst>
              </a:prstGeom>
              <a:solidFill>
                <a:srgbClr val="EF41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a:off x="7965" y="4245"/>
                <a:ext cx="3008" cy="30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文本框 13"/>
              <p:cNvSpPr txBox="1"/>
              <p:nvPr/>
            </p:nvSpPr>
            <p:spPr>
              <a:xfrm>
                <a:off x="8068" y="5079"/>
                <a:ext cx="2815" cy="1337"/>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400" b="1" dirty="0">
                    <a:latin typeface="微软雅黑" panose="020B0503020204020204" charset="-122"/>
                    <a:ea typeface="微软雅黑" panose="020B0503020204020204" charset="-122"/>
                  </a:rPr>
                  <a:t>标签</a:t>
                </a:r>
              </a:p>
              <a:p>
                <a:pPr marL="0" lvl="0" indent="0" algn="ctr" eaLnBrk="1" hangingPunct="1">
                  <a:lnSpc>
                    <a:spcPct val="100000"/>
                  </a:lnSpc>
                  <a:spcBef>
                    <a:spcPct val="0"/>
                  </a:spcBef>
                  <a:buNone/>
                </a:pPr>
                <a:r>
                  <a:rPr lang="zh-CN" altLang="en-US" sz="2400" b="1" dirty="0">
                    <a:latin typeface="微软雅黑" panose="020B0503020204020204" charset="-122"/>
                    <a:ea typeface="微软雅黑" panose="020B0503020204020204" charset="-122"/>
                  </a:rPr>
                  <a:t>（用</a:t>
                </a:r>
                <a:r>
                  <a:rPr lang="en-US" altLang="zh-CN" sz="2400" b="1" dirty="0">
                    <a:latin typeface="微软雅黑" panose="020B0503020204020204" charset="-122"/>
                    <a:ea typeface="微软雅黑" panose="020B0503020204020204" charset="-122"/>
                  </a:rPr>
                  <a:t>{}</a:t>
                </a:r>
                <a:r>
                  <a:rPr lang="zh-CN" altLang="en-US" sz="2400" b="1" dirty="0">
                    <a:latin typeface="微软雅黑" panose="020B0503020204020204" charset="-122"/>
                    <a:ea typeface="微软雅黑" panose="020B0503020204020204" charset="-122"/>
                  </a:rPr>
                  <a:t>表示）</a:t>
                </a:r>
              </a:p>
            </p:txBody>
          </p:sp>
          <p:sp>
            <p:nvSpPr>
              <p:cNvPr id="19" name="文本框 14"/>
              <p:cNvSpPr txBox="1"/>
              <p:nvPr/>
            </p:nvSpPr>
            <p:spPr>
              <a:xfrm>
                <a:off x="10406" y="4059"/>
                <a:ext cx="3283" cy="1138"/>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版型</a:t>
                </a:r>
              </a:p>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（用《》表示）</a:t>
                </a:r>
              </a:p>
            </p:txBody>
          </p:sp>
          <p:sp>
            <p:nvSpPr>
              <p:cNvPr id="20" name="文本框 16"/>
              <p:cNvSpPr txBox="1"/>
              <p:nvPr/>
            </p:nvSpPr>
            <p:spPr>
              <a:xfrm>
                <a:off x="5698" y="4059"/>
                <a:ext cx="2267" cy="1138"/>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约束</a:t>
                </a:r>
              </a:p>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（用</a:t>
                </a:r>
                <a:r>
                  <a:rPr lang="en-US" altLang="zh-CN" sz="2000" b="1" dirty="0">
                    <a:latin typeface="微软雅黑" panose="020B0503020204020204" charset="-122"/>
                    <a:ea typeface="微软雅黑" panose="020B0503020204020204" charset="-122"/>
                  </a:rPr>
                  <a:t>{}</a:t>
                </a:r>
                <a:r>
                  <a:rPr lang="zh-CN" altLang="en-US" sz="2000" b="1" dirty="0">
                    <a:latin typeface="微软雅黑" panose="020B0503020204020204" charset="-122"/>
                    <a:ea typeface="微软雅黑" panose="020B0503020204020204" charset="-122"/>
                  </a:rPr>
                  <a:t>表示）</a:t>
                </a:r>
              </a:p>
            </p:txBody>
          </p:sp>
          <p:sp>
            <p:nvSpPr>
              <p:cNvPr id="21" name="矩形 20"/>
              <p:cNvSpPr/>
              <p:nvPr/>
            </p:nvSpPr>
            <p:spPr>
              <a:xfrm>
                <a:off x="3668" y="9424"/>
                <a:ext cx="11745" cy="582"/>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sz="1800" dirty="0">
                    <a:latin typeface="微软雅黑" panose="020B0503020204020204" charset="-122"/>
                    <a:ea typeface="微软雅黑" panose="020B0503020204020204" charset="-122"/>
                  </a:rPr>
                  <a:t>UML的扩展机制使它能够适应一些特殊方法或用户的某些特殊需要。</a:t>
                </a:r>
              </a:p>
            </p:txBody>
          </p:sp>
        </p:grpSp>
      </p:gr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6.2 </a:t>
            </a:r>
            <a:r>
              <a:rPr lang="zh-CN" altLang="en-US" dirty="0">
                <a:sym typeface="+mn-ea"/>
              </a:rPr>
              <a:t>UML概述</a:t>
            </a:r>
            <a:endParaRPr lang="zh-CN" altLang="en-US" dirty="0"/>
          </a:p>
        </p:txBody>
      </p:sp>
      <p:sp>
        <p:nvSpPr>
          <p:cNvPr id="5" name="文本占位符 4">
            <a:extLst>
              <a:ext uri="{FF2B5EF4-FFF2-40B4-BE49-F238E27FC236}">
                <a16:creationId xmlns:a16="http://schemas.microsoft.com/office/drawing/2014/main" id="{57D80601-C431-10C3-853E-1888FF99554C}"/>
              </a:ext>
            </a:extLst>
          </p:cNvPr>
          <p:cNvSpPr>
            <a:spLocks noGrp="1"/>
          </p:cNvSpPr>
          <p:nvPr>
            <p:ph type="body" sz="quarter" idx="10"/>
          </p:nvPr>
        </p:nvSpPr>
        <p:spPr>
          <a:xfrm>
            <a:off x="900001" y="1322832"/>
            <a:ext cx="5196000" cy="400110"/>
          </a:xfrm>
        </p:spPr>
        <p:txBody>
          <a:bodyPr/>
          <a:lstStyle/>
          <a:p>
            <a:r>
              <a:rPr lang="en-US" altLang="zh-CN" dirty="0"/>
              <a:t>6.2.2 </a:t>
            </a:r>
            <a:r>
              <a:rPr lang="en-US" altLang="zh-CN" dirty="0" err="1">
                <a:sym typeface="+mn-ea"/>
              </a:rPr>
              <a:t>UML的</a:t>
            </a:r>
            <a:r>
              <a:rPr lang="zh-CN" altLang="en-US" dirty="0">
                <a:sym typeface="+mn-ea"/>
              </a:rPr>
              <a:t>内容</a:t>
            </a:r>
          </a:p>
        </p:txBody>
      </p:sp>
      <p:grpSp>
        <p:nvGrpSpPr>
          <p:cNvPr id="2" name="组合 1"/>
          <p:cNvGrpSpPr/>
          <p:nvPr/>
        </p:nvGrpSpPr>
        <p:grpSpPr>
          <a:xfrm>
            <a:off x="617615" y="2130589"/>
            <a:ext cx="10942955" cy="4106862"/>
            <a:chOff x="3342" y="5139"/>
            <a:chExt cx="17233" cy="6467"/>
          </a:xfrm>
        </p:grpSpPr>
        <p:sp>
          <p:nvSpPr>
            <p:cNvPr id="25" name="MH_SubTitle_2"/>
            <p:cNvSpPr/>
            <p:nvPr/>
          </p:nvSpPr>
          <p:spPr>
            <a:xfrm>
              <a:off x="3342" y="6756"/>
              <a:ext cx="8134" cy="1615"/>
            </a:xfrm>
            <a:prstGeom prst="rect">
              <a:avLst/>
            </a:prstGeom>
            <a:solidFill>
              <a:srgbClr val="FFF6D9"/>
            </a:solidFill>
            <a:ln w="25400" cap="flat" cmpd="sng" algn="ctr">
              <a:noFill/>
              <a:prstDash val="solid"/>
            </a:ln>
            <a:effectLst/>
          </p:spPr>
          <p:txBody>
            <a:bodyPr rIns="216000"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b="1" dirty="0">
                  <a:solidFill>
                    <a:srgbClr val="FDC200"/>
                  </a:solidFill>
                </a:rPr>
                <a:t>静态模型</a:t>
              </a:r>
              <a:r>
                <a:rPr lang="zh-CN" altLang="en-US" dirty="0"/>
                <a:t>描述系统内的对象、类、包以及类与类、包与包之间的相互关系等。静态模型用类图、对象图、包、构件图、部署图等描述。</a:t>
              </a:r>
            </a:p>
          </p:txBody>
        </p:sp>
        <p:sp>
          <p:nvSpPr>
            <p:cNvPr id="26" name="MH_Other_1"/>
            <p:cNvSpPr/>
            <p:nvPr/>
          </p:nvSpPr>
          <p:spPr>
            <a:xfrm flipH="1">
              <a:off x="11161" y="6756"/>
              <a:ext cx="2078"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Times New Roman" panose="02020603050405020304" pitchFamily="18" charset="0"/>
                  <a:ea typeface="微软雅黑" panose="020B0503020204020204" pitchFamily="34" charset="-122"/>
                </a:rPr>
                <a:t>02</a:t>
              </a:r>
              <a:endParaRPr lang="zh-CN" altLang="en-US" sz="3200" kern="0" dirty="0">
                <a:solidFill>
                  <a:srgbClr val="FFFFFF"/>
                </a:solidFill>
                <a:latin typeface="Times New Roman" panose="02020603050405020304" pitchFamily="18" charset="0"/>
                <a:ea typeface="微软雅黑" panose="020B0503020204020204" pitchFamily="34" charset="-122"/>
              </a:endParaRPr>
            </a:p>
          </p:txBody>
        </p:sp>
        <p:sp>
          <p:nvSpPr>
            <p:cNvPr id="27" name="MH_SubTitle_1"/>
            <p:cNvSpPr/>
            <p:nvPr/>
          </p:nvSpPr>
          <p:spPr>
            <a:xfrm>
              <a:off x="11369" y="5139"/>
              <a:ext cx="9206" cy="1617"/>
            </a:xfrm>
            <a:prstGeom prst="rect">
              <a:avLst/>
            </a:prstGeom>
            <a:solidFill>
              <a:srgbClr val="EEF9DF"/>
            </a:solidFill>
            <a:ln w="25400" cap="flat" cmpd="sng" algn="ctr">
              <a:noFill/>
              <a:prstDash val="solid"/>
            </a:ln>
            <a:effectLst/>
          </p:spPr>
          <p:txBody>
            <a:bodyPr l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defRPr/>
              </a:pPr>
              <a:r>
                <a:rPr lang="zh-CN" altLang="en-US" b="1" dirty="0">
                  <a:solidFill>
                    <a:srgbClr val="58BDA8"/>
                  </a:solidFill>
                </a:rPr>
                <a:t>用例模型</a:t>
              </a:r>
              <a:r>
                <a:rPr lang="zh-CN" altLang="en-US" dirty="0"/>
                <a:t>描述用户所理解的系统功能。用例模型通过用例图描述。</a:t>
              </a:r>
            </a:p>
          </p:txBody>
        </p:sp>
        <p:sp>
          <p:nvSpPr>
            <p:cNvPr id="28" name="MH_Other_2"/>
            <p:cNvSpPr/>
            <p:nvPr/>
          </p:nvSpPr>
          <p:spPr>
            <a:xfrm>
              <a:off x="9669" y="5139"/>
              <a:ext cx="2077" cy="1617"/>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77BA27"/>
            </a:solidFill>
            <a:ln w="19050" cap="flat" cmpd="sng" algn="ctr">
              <a:noFill/>
              <a:prstDash val="solid"/>
            </a:ln>
            <a:effectLst/>
          </p:spPr>
          <p:txBody>
            <a:bodyPr lIns="0" tIns="0" rIns="144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Times New Roman" panose="02020603050405020304" pitchFamily="18" charset="0"/>
                  <a:ea typeface="微软雅黑" panose="020B0503020204020204" pitchFamily="34" charset="-122"/>
                </a:rPr>
                <a:t>01</a:t>
              </a:r>
              <a:endParaRPr lang="zh-CN" altLang="en-US" sz="3200" kern="0" dirty="0">
                <a:solidFill>
                  <a:srgbClr val="FFFFFF"/>
                </a:solidFill>
                <a:latin typeface="Times New Roman" panose="02020603050405020304" pitchFamily="18" charset="0"/>
                <a:ea typeface="微软雅黑" panose="020B0503020204020204" pitchFamily="34" charset="-122"/>
              </a:endParaRPr>
            </a:p>
          </p:txBody>
        </p:sp>
        <p:sp>
          <p:nvSpPr>
            <p:cNvPr id="5126" name="MH_SubTitle_4"/>
            <p:cNvSpPr>
              <a:spLocks noChangeArrowheads="1"/>
            </p:cNvSpPr>
            <p:nvPr/>
          </p:nvSpPr>
          <p:spPr bwMode="auto">
            <a:xfrm>
              <a:off x="3429" y="9991"/>
              <a:ext cx="8048" cy="1615"/>
            </a:xfrm>
            <a:prstGeom prst="rect">
              <a:avLst/>
            </a:prstGeom>
            <a:solidFill>
              <a:srgbClr val="FFF6D9"/>
            </a:solidFill>
            <a:ln w="25400" algn="ctr">
              <a:noFill/>
              <a:miter lim="800000"/>
            </a:ln>
          </p:spPr>
          <p:txBody>
            <a:bodyPr r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b="1" dirty="0">
                  <a:solidFill>
                    <a:srgbClr val="FDC200"/>
                  </a:solidFill>
                </a:rPr>
                <a:t>实现模型</a:t>
              </a:r>
              <a:r>
                <a:rPr lang="zh-CN" altLang="en-US" dirty="0"/>
                <a:t>包括构件图和部署图，它们描述了系统实现时的一些特性。</a:t>
              </a:r>
            </a:p>
          </p:txBody>
        </p:sp>
        <p:sp>
          <p:nvSpPr>
            <p:cNvPr id="36" name="MH_Other_3"/>
            <p:cNvSpPr/>
            <p:nvPr/>
          </p:nvSpPr>
          <p:spPr>
            <a:xfrm flipH="1">
              <a:off x="11161" y="9991"/>
              <a:ext cx="2078"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Times New Roman" panose="02020603050405020304" pitchFamily="18" charset="0"/>
                  <a:ea typeface="微软雅黑" panose="020B0503020204020204" pitchFamily="34" charset="-122"/>
                </a:rPr>
                <a:t>04</a:t>
              </a:r>
              <a:endParaRPr lang="zh-CN" altLang="en-US" sz="3200" kern="0" dirty="0">
                <a:solidFill>
                  <a:srgbClr val="FFFFFF"/>
                </a:solidFill>
                <a:latin typeface="Times New Roman" panose="02020603050405020304" pitchFamily="18" charset="0"/>
                <a:ea typeface="微软雅黑" panose="020B0503020204020204" pitchFamily="34" charset="-122"/>
              </a:endParaRPr>
            </a:p>
          </p:txBody>
        </p:sp>
        <p:sp>
          <p:nvSpPr>
            <p:cNvPr id="5128" name="MH_SubTitle_3"/>
            <p:cNvSpPr>
              <a:spLocks noChangeArrowheads="1"/>
            </p:cNvSpPr>
            <p:nvPr/>
          </p:nvSpPr>
          <p:spPr bwMode="auto">
            <a:xfrm>
              <a:off x="11369" y="8376"/>
              <a:ext cx="9205" cy="1615"/>
            </a:xfrm>
            <a:prstGeom prst="rect">
              <a:avLst/>
            </a:prstGeom>
            <a:solidFill>
              <a:srgbClr val="EEF9DF"/>
            </a:solidFill>
            <a:ln w="25400" algn="ctr">
              <a:noFill/>
              <a:miter lim="800000"/>
            </a:ln>
          </p:spPr>
          <p:txBody>
            <a:bodyPr l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b="1" dirty="0">
                  <a:solidFill>
                    <a:srgbClr val="58BDA8"/>
                  </a:solidFill>
                </a:rPr>
                <a:t>动态模型</a:t>
              </a:r>
              <a:r>
                <a:rPr lang="zh-CN" altLang="en-US" dirty="0"/>
                <a:t>描述系统的行为，描述系统中的对象通过通信相互协作的方式及对象在系统中改变状态的方式等。动态模型用状态图、顺序图、活动图、协作图等描述。</a:t>
              </a:r>
            </a:p>
          </p:txBody>
        </p:sp>
        <p:sp>
          <p:nvSpPr>
            <p:cNvPr id="38" name="MH_Other_4"/>
            <p:cNvSpPr/>
            <p:nvPr/>
          </p:nvSpPr>
          <p:spPr>
            <a:xfrm>
              <a:off x="9669" y="8376"/>
              <a:ext cx="2077"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77BA27"/>
            </a:solidFill>
            <a:ln w="19050" cap="flat" cmpd="sng" algn="ctr">
              <a:noFill/>
              <a:prstDash val="solid"/>
            </a:ln>
            <a:effectLst/>
          </p:spPr>
          <p:txBody>
            <a:bodyPr lIns="0" tIns="0" rIns="144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Times New Roman" panose="02020603050405020304" pitchFamily="18" charset="0"/>
                  <a:ea typeface="微软雅黑" panose="020B0503020204020204" pitchFamily="34" charset="-122"/>
                </a:rPr>
                <a:t>03</a:t>
              </a:r>
              <a:endParaRPr lang="zh-CN" altLang="en-US" sz="3200" kern="0" dirty="0">
                <a:solidFill>
                  <a:srgbClr val="FFFFFF"/>
                </a:solidFill>
                <a:latin typeface="Times New Roman" panose="02020603050405020304" pitchFamily="18" charset="0"/>
                <a:ea typeface="微软雅黑" panose="020B0503020204020204" pitchFamily="34" charset="-122"/>
              </a:endParaRPr>
            </a:p>
          </p:txBody>
        </p:sp>
      </p:grpSp>
      <p:sp>
        <p:nvSpPr>
          <p:cNvPr id="13" name="Rectangle 1"/>
          <p:cNvSpPr>
            <a:spLocks noChangeArrowheads="1"/>
          </p:cNvSpPr>
          <p:nvPr/>
        </p:nvSpPr>
        <p:spPr bwMode="auto">
          <a:xfrm>
            <a:off x="3725555" y="1360100"/>
            <a:ext cx="7656678" cy="707886"/>
          </a:xfrm>
          <a:prstGeom prst="rect">
            <a:avLst/>
          </a:prstGeom>
          <a:noFill/>
          <a:ln w="9525">
            <a:noFill/>
            <a:miter lim="800000"/>
          </a:ln>
          <a:effectLst/>
        </p:spPr>
        <p:txBody>
          <a:bodyPr vert="horz" wrap="square" lIns="91440" tIns="45720" rIns="91440" bIns="45720" numCol="1" anchor="ctr" anchorCtr="0" compatLnSpc="1">
            <a:spAutoFit/>
          </a:bodyPr>
          <a:lstStyle/>
          <a:p>
            <a:r>
              <a:rPr lang="en-US" sz="2000" dirty="0"/>
              <a:t>UML</a:t>
            </a:r>
            <a:r>
              <a:rPr lang="zh-CN" altLang="en-US" sz="2000" dirty="0"/>
              <a:t>可以建立系统的用例模型、静态模型、动态模型和实现模型，每种模型由适当的</a:t>
            </a:r>
            <a:r>
              <a:rPr lang="en-US" sz="2000" dirty="0"/>
              <a:t>UML</a:t>
            </a:r>
            <a:r>
              <a:rPr lang="zh-CN" altLang="en-US" sz="2000" dirty="0"/>
              <a:t>图组成。</a:t>
            </a: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ea typeface="微软雅黑" panose="020B0503020204020204" pitchFamily="34" charset="-122"/>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3</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UML</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图</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用例图</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类图和包</a:t>
              </a:r>
            </a:p>
          </p:txBody>
        </p:sp>
      </p:grpSp>
      <p:grpSp>
        <p:nvGrpSpPr>
          <p:cNvPr id="3" name="组合 2"/>
          <p:cNvGrpSpPr/>
          <p:nvPr/>
        </p:nvGrpSpPr>
        <p:grpSpPr>
          <a:xfrm>
            <a:off x="8722360" y="4135755"/>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顺序图</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活动图</a:t>
              </a:r>
            </a:p>
          </p:txBody>
        </p:sp>
      </p:grpSp>
      <p:grpSp>
        <p:nvGrpSpPr>
          <p:cNvPr id="7" name="组合 6"/>
          <p:cNvGrpSpPr/>
          <p:nvPr/>
        </p:nvGrpSpPr>
        <p:grpSpPr>
          <a:xfrm>
            <a:off x="6006465" y="5165725"/>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对象图</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状态图</a:t>
              </a:r>
            </a:p>
          </p:txBody>
        </p:sp>
      </p:grpSp>
      <p:grpSp>
        <p:nvGrpSpPr>
          <p:cNvPr id="12" name="组合 11"/>
          <p:cNvGrpSpPr/>
          <p:nvPr/>
        </p:nvGrpSpPr>
        <p:grpSpPr>
          <a:xfrm>
            <a:off x="8722360" y="5165725"/>
            <a:ext cx="3712845" cy="913130"/>
            <a:chOff x="9459" y="7137"/>
            <a:chExt cx="5847" cy="1438"/>
          </a:xfrm>
        </p:grpSpPr>
        <p:sp>
          <p:nvSpPr>
            <p:cNvPr id="13" name="文本框 12"/>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协作图</a:t>
              </a:r>
            </a:p>
          </p:txBody>
        </p:sp>
        <p:sp>
          <p:nvSpPr>
            <p:cNvPr id="14" name="文本框 13"/>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构件图</a:t>
              </a:r>
            </a:p>
          </p:txBody>
        </p:sp>
      </p:grpSp>
      <p:sp>
        <p:nvSpPr>
          <p:cNvPr id="15" name="文本框 14"/>
          <p:cNvSpPr txBox="1"/>
          <p:nvPr/>
        </p:nvSpPr>
        <p:spPr>
          <a:xfrm>
            <a:off x="6006465" y="617029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部署图</a:t>
            </a:r>
          </a:p>
        </p:txBody>
      </p:sp>
    </p:spTree>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a:sym typeface="+mn-ea"/>
              </a:rPr>
              <a:t>6.3 </a:t>
            </a:r>
            <a:r>
              <a:rPr lang="en-US" altLang="zh-CN">
                <a:sym typeface="+mn-ea"/>
              </a:rPr>
              <a:t>UML</a:t>
            </a:r>
            <a:r>
              <a:rPr lang="zh-CN" altLang="en-US">
                <a:sym typeface="+mn-ea"/>
              </a:rPr>
              <a:t>图</a:t>
            </a:r>
            <a:endParaRPr lang="zh-CN" altLang="en-US" dirty="0"/>
          </a:p>
        </p:txBody>
      </p:sp>
      <p:sp>
        <p:nvSpPr>
          <p:cNvPr id="18" name="文本占位符 17">
            <a:extLst>
              <a:ext uri="{FF2B5EF4-FFF2-40B4-BE49-F238E27FC236}">
                <a16:creationId xmlns:a16="http://schemas.microsoft.com/office/drawing/2014/main" id="{80C4EC70-2196-9428-A676-88911B6F54EF}"/>
              </a:ext>
            </a:extLst>
          </p:cNvPr>
          <p:cNvSpPr>
            <a:spLocks noGrp="1"/>
          </p:cNvSpPr>
          <p:nvPr>
            <p:ph type="body" sz="quarter" idx="10"/>
          </p:nvPr>
        </p:nvSpPr>
        <p:spPr/>
        <p:txBody>
          <a:bodyPr/>
          <a:lstStyle/>
          <a:p>
            <a:endParaRPr lang="zh-CN" altLang="en-US"/>
          </a:p>
        </p:txBody>
      </p:sp>
      <p:sp>
        <p:nvSpPr>
          <p:cNvPr id="5" name="矩形 4"/>
          <p:cNvSpPr/>
          <p:nvPr/>
        </p:nvSpPr>
        <p:spPr>
          <a:xfrm>
            <a:off x="1057910" y="2078954"/>
            <a:ext cx="10076180" cy="4156710"/>
          </a:xfrm>
          <a:prstGeom prst="rect">
            <a:avLst/>
          </a:prstGeom>
          <a:solidFill>
            <a:sysClr val="window" lastClr="FFFFFF"/>
          </a:solidFill>
          <a:ln w="3175" cap="flat" cmpd="sng" algn="ctr">
            <a:solidFill>
              <a:sysClr val="window" lastClr="FFFFFF">
                <a:lumMod val="75000"/>
              </a:sysClr>
            </a:solidFill>
            <a:prstDash val="solid"/>
          </a:ln>
          <a:effectLst>
            <a:outerShdw blurRad="50800" dist="38100" dir="5400000" algn="t" rotWithShape="0">
              <a:prstClr val="black">
                <a:alpha val="40000"/>
              </a:prstClr>
            </a:outerShdw>
          </a:effectLst>
        </p:spPr>
        <p:txBody>
          <a:bodyPr anchor="ctr"/>
          <a:lstStyle/>
          <a:p>
            <a:pPr algn="ctr">
              <a:defRPr/>
            </a:pPr>
            <a:endParaRPr lang="zh-CN" altLang="en-US" kern="0" dirty="0">
              <a:solidFill>
                <a:sysClr val="window" lastClr="FFFFFF"/>
              </a:solidFill>
              <a:latin typeface="Times New Roman" panose="02020603050405020304" pitchFamily="18" charset="0"/>
              <a:ea typeface="微软雅黑" panose="020B0503020204020204" charset="-122"/>
            </a:endParaRPr>
          </a:p>
        </p:txBody>
      </p:sp>
      <p:graphicFrame>
        <p:nvGraphicFramePr>
          <p:cNvPr id="6" name="表格 5"/>
          <p:cNvGraphicFramePr>
            <a:graphicFrameLocks noGrp="1"/>
          </p:cNvGraphicFramePr>
          <p:nvPr/>
        </p:nvGraphicFramePr>
        <p:xfrm>
          <a:off x="1173480" y="2184364"/>
          <a:ext cx="9844405" cy="3971163"/>
        </p:xfrm>
        <a:graphic>
          <a:graphicData uri="http://schemas.openxmlformats.org/drawingml/2006/table">
            <a:tbl>
              <a:tblPr firstRow="1" firstCol="1" bandRow="1">
                <a:tableStyleId>{F5AB1C69-6EDB-4FF4-983F-18BD219EF322}</a:tableStyleId>
              </a:tblPr>
              <a:tblGrid>
                <a:gridCol w="2877185">
                  <a:extLst>
                    <a:ext uri="{9D8B030D-6E8A-4147-A177-3AD203B41FA5}">
                      <a16:colId xmlns:a16="http://schemas.microsoft.com/office/drawing/2014/main" val="20000"/>
                    </a:ext>
                  </a:extLst>
                </a:gridCol>
                <a:gridCol w="6967220">
                  <a:extLst>
                    <a:ext uri="{9D8B030D-6E8A-4147-A177-3AD203B41FA5}">
                      <a16:colId xmlns:a16="http://schemas.microsoft.com/office/drawing/2014/main" val="20001"/>
                    </a:ext>
                  </a:extLst>
                </a:gridCol>
              </a:tblGrid>
              <a:tr h="598805">
                <a:tc>
                  <a:txBody>
                    <a:bodyPr/>
                    <a:lstStyle/>
                    <a:p>
                      <a:pPr algn="ctr">
                        <a:lnSpc>
                          <a:spcPct val="115000"/>
                        </a:lnSpc>
                        <a:spcAft>
                          <a:spcPts val="0"/>
                        </a:spcAft>
                      </a:pPr>
                      <a:r>
                        <a:rPr lang="zh-CN" altLang="en-US" sz="2000" kern="100" dirty="0">
                          <a:effectLst/>
                        </a:rPr>
                        <a:t>符号</a:t>
                      </a:r>
                      <a:endParaRPr lang="zh-CN" altLang="en-US" sz="2000" kern="100" dirty="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pPr>
                      <a:r>
                        <a:rPr lang="zh-CN" sz="2000" kern="100" dirty="0">
                          <a:effectLst/>
                        </a:rPr>
                        <a:t>表示内容</a:t>
                      </a:r>
                      <a:endParaRPr lang="zh-CN" sz="2000" kern="100" dirty="0">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0"/>
                  </a:ext>
                </a:extLst>
              </a:tr>
              <a:tr h="669290">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800" kern="100" dirty="0">
                          <a:effectLst/>
                        </a:rPr>
                        <a:t>注释：</a:t>
                      </a:r>
                      <a:r>
                        <a:rPr sz="1800" kern="100" dirty="0">
                          <a:effectLst/>
                        </a:rPr>
                        <a:t>框中的文字是注释内容。</a:t>
                      </a:r>
                      <a:endParaRPr sz="18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1"/>
                  </a:ext>
                </a:extLst>
              </a:tr>
              <a:tr h="687070">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800" kern="100" dirty="0">
                          <a:effectLst/>
                        </a:rPr>
                        <a:t>同步</a:t>
                      </a:r>
                      <a:r>
                        <a:rPr sz="1800" kern="100" dirty="0">
                          <a:effectLst/>
                        </a:rPr>
                        <a:t>消息：表示调用者发出消息后必须等待消息返回。只有当处理消息的操作执行完毕，调用者才可以继续执行自己的操作。</a:t>
                      </a:r>
                      <a:endParaRPr sz="18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2"/>
                  </a:ext>
                </a:extLst>
              </a:tr>
              <a:tr h="663575">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800" kern="100" dirty="0">
                          <a:effectLst/>
                        </a:rPr>
                        <a:t>异步消息：发送者发出消息后，不用等待消息处理完就可以继续执行自己的操作。异步消息主要用于描述实时系统中的并发行为。</a:t>
                      </a:r>
                      <a:endParaRPr lang="zh-CN" altLang="en-US" sz="18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3"/>
                  </a:ext>
                </a:extLst>
              </a:tr>
              <a:tr h="694055">
                <a:tc>
                  <a:txBody>
                    <a:bodyPr/>
                    <a:lstStyle/>
                    <a:p>
                      <a:pPr algn="ctr">
                        <a:lnSpc>
                          <a:spcPct val="115000"/>
                        </a:lnSpc>
                        <a:spcAft>
                          <a:spcPts val="0"/>
                        </a:spcAft>
                        <a:buNone/>
                      </a:pPr>
                      <a:endParaRPr lang="zh-CN" altLang="en-US"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800" kern="100" dirty="0">
                          <a:effectLst/>
                        </a:rPr>
                        <a:t>简单消息：表示简单的控制流，只表示消息从一个对象传给另一个对象，没有描述通信的任何细节。</a:t>
                      </a:r>
                      <a:endParaRPr lang="zh-CN" altLang="en-US" sz="18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4"/>
                  </a:ext>
                </a:extLst>
              </a:tr>
              <a:tr h="633095">
                <a:tc>
                  <a:txBody>
                    <a:bodyPr/>
                    <a:lstStyle/>
                    <a:p>
                      <a:pPr algn="ctr">
                        <a:lnSpc>
                          <a:spcPct val="115000"/>
                        </a:lnSpc>
                        <a:spcAft>
                          <a:spcPts val="0"/>
                        </a:spcAft>
                        <a:buNone/>
                      </a:pPr>
                      <a:endParaRPr lang="zh-CN" altLang="en-US"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800" kern="100" dirty="0">
                          <a:effectLst/>
                          <a:sym typeface="+mn-ea"/>
                        </a:rPr>
                        <a:t>同步且立即返回：</a:t>
                      </a:r>
                      <a:r>
                        <a:rPr lang="zh-CN" altLang="en-US" sz="1800" kern="100" dirty="0">
                          <a:effectLst/>
                        </a:rPr>
                        <a:t>可以把一个简单消息和一个同步消息合并成一个消息，这样的消息表示操作调用一旦完成就立即返回。</a:t>
                      </a:r>
                      <a:endParaRPr lang="zh-CN" altLang="en-US" sz="18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5"/>
                  </a:ext>
                </a:extLst>
              </a:tr>
            </a:tbl>
          </a:graphicData>
        </a:graphic>
      </p:graphicFrame>
      <p:graphicFrame>
        <p:nvGraphicFramePr>
          <p:cNvPr id="2" name="对象 1"/>
          <p:cNvGraphicFramePr>
            <a:graphicFrameLocks/>
          </p:cNvGraphicFramePr>
          <p:nvPr/>
        </p:nvGraphicFramePr>
        <p:xfrm>
          <a:off x="2084070" y="2843177"/>
          <a:ext cx="648335" cy="1389380"/>
        </p:xfrm>
        <a:graphic>
          <a:graphicData uri="http://schemas.openxmlformats.org/presentationml/2006/ole">
            <mc:AlternateContent xmlns:mc="http://schemas.openxmlformats.org/markup-compatibility/2006">
              <mc:Choice xmlns:v="urn:schemas-microsoft-com:vml" Requires="v">
                <p:oleObj spid="_x0000_s1070" r:id="rId3" imgW="391491" imgH="1202707" progId="Word.Document.12">
                  <p:embed/>
                </p:oleObj>
              </mc:Choice>
              <mc:Fallback>
                <p:oleObj r:id="rId3" imgW="391491" imgH="1202707" progId="Word.Document.12">
                  <p:embed/>
                  <p:pic>
                    <p:nvPicPr>
                      <p:cNvPr id="0" name="Picture 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4070" y="2843177"/>
                        <a:ext cx="648335" cy="1389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9" name="直接箭头连接符 8"/>
          <p:cNvCxnSpPr/>
          <p:nvPr/>
        </p:nvCxnSpPr>
        <p:spPr>
          <a:xfrm>
            <a:off x="1962785" y="5204424"/>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0" name="直线箭头"/>
          <p:cNvSpPr/>
          <p:nvPr/>
        </p:nvSpPr>
        <p:spPr>
          <a:xfrm>
            <a:off x="1962150" y="3743289"/>
            <a:ext cx="1118870" cy="19367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90" name="右箭头"/>
          <p:cNvSpPr/>
          <p:nvPr/>
        </p:nvSpPr>
        <p:spPr>
          <a:xfrm flipH="1">
            <a:off x="1962785" y="4441789"/>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nvGrpSpPr>
          <p:cNvPr id="12" name="组合 11"/>
          <p:cNvGrpSpPr/>
          <p:nvPr/>
        </p:nvGrpSpPr>
        <p:grpSpPr>
          <a:xfrm>
            <a:off x="1885950" y="5747984"/>
            <a:ext cx="1271905" cy="137795"/>
            <a:chOff x="3091" y="8880"/>
            <a:chExt cx="2003" cy="217"/>
          </a:xfrm>
        </p:grpSpPr>
        <p:sp>
          <p:nvSpPr>
            <p:cNvPr id="2050" name="双向箭头"/>
            <p:cNvSpPr/>
            <p:nvPr/>
          </p:nvSpPr>
          <p:spPr bwMode="auto">
            <a:xfrm>
              <a:off x="3091" y="8881"/>
              <a:ext cx="1764" cy="216"/>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3282" y="8880"/>
              <a:ext cx="1813" cy="217"/>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sp>
        <p:nvSpPr>
          <p:cNvPr id="167" name="圆角矩形"/>
          <p:cNvSpPr/>
          <p:nvPr/>
        </p:nvSpPr>
        <p:spPr>
          <a:xfrm>
            <a:off x="7039345" y="584081"/>
            <a:ext cx="4104000" cy="132802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zh-CN" altLang="en-US">
                <a:solidFill>
                  <a:schemeClr val="tx1"/>
                </a:solidFill>
                <a:sym typeface="+mn-ea"/>
              </a:rPr>
              <a:t> </a:t>
            </a:r>
            <a:r>
              <a:rPr lang="en-US" altLang="zh-CN" dirty="0">
                <a:solidFill>
                  <a:schemeClr val="tx1"/>
                </a:solidFill>
                <a:sym typeface="+mn-ea"/>
              </a:rPr>
              <a:t>UML</a:t>
            </a:r>
            <a:r>
              <a:rPr lang="zh-CN" altLang="en-US" dirty="0">
                <a:solidFill>
                  <a:schemeClr val="tx1"/>
                </a:solidFill>
                <a:sym typeface="+mn-ea"/>
              </a:rPr>
              <a:t>图包括用例图、类图、对象图、状态图、顺序图、活动图、协作图、构件图、</a:t>
            </a:r>
            <a:r>
              <a:rPr lang="zh-CN" altLang="en-US">
                <a:solidFill>
                  <a:schemeClr val="tx1"/>
                </a:solidFill>
                <a:sym typeface="+mn-ea"/>
              </a:rPr>
              <a:t>部署图</a:t>
            </a:r>
            <a:r>
              <a:rPr lang="en-US" altLang="zh-CN" dirty="0">
                <a:solidFill>
                  <a:schemeClr val="tx1"/>
                </a:solidFill>
                <a:sym typeface="+mn-ea"/>
              </a:rPr>
              <a:t>9</a:t>
            </a:r>
            <a:r>
              <a:rPr lang="zh-CN" altLang="en-US" dirty="0">
                <a:solidFill>
                  <a:schemeClr val="tx1"/>
                </a:solidFill>
                <a:sym typeface="+mn-ea"/>
              </a:rPr>
              <a:t>种。以下几种符号</a:t>
            </a:r>
            <a:r>
              <a:rPr lang="zh-CN" altLang="en-US">
                <a:solidFill>
                  <a:schemeClr val="tx1"/>
                </a:solidFill>
                <a:sym typeface="+mn-ea"/>
              </a:rPr>
              <a:t>在各种</a:t>
            </a:r>
            <a:r>
              <a:rPr lang="en-US" altLang="zh-CN" dirty="0">
                <a:solidFill>
                  <a:schemeClr val="tx1"/>
                </a:solidFill>
                <a:sym typeface="+mn-ea"/>
              </a:rPr>
              <a:t>UML</a:t>
            </a:r>
            <a:r>
              <a:rPr lang="zh-CN" altLang="en-US" dirty="0">
                <a:solidFill>
                  <a:schemeClr val="tx1"/>
                </a:solidFill>
                <a:sym typeface="+mn-ea"/>
              </a:rPr>
              <a:t>图中可能都要用。</a:t>
            </a:r>
            <a:endParaRPr lang="zh-CN" altLang="en-US" dirty="0">
              <a:solidFill>
                <a:schemeClr val="tx1"/>
              </a:solidFill>
            </a:endParaRPr>
          </a:p>
        </p:txBody>
      </p:sp>
      <p:sp>
        <p:nvSpPr>
          <p:cNvPr id="13" name="学士帽"/>
          <p:cNvSpPr/>
          <p:nvPr/>
        </p:nvSpPr>
        <p:spPr bwMode="auto">
          <a:xfrm>
            <a:off x="6928376" y="410210"/>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Tree>
  </p:cSld>
  <p:clrMapOvr>
    <a:masterClrMapping/>
  </p:clrMapOvr>
  <p:transition>
    <p:diamon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dirty="0"/>
              <a:t>6.3 </a:t>
            </a:r>
            <a:r>
              <a:rPr lang="zh-CN" altLang="en-US" dirty="0">
                <a:sym typeface="+mn-ea"/>
              </a:rPr>
              <a:t>UML图</a:t>
            </a:r>
            <a:endParaRPr lang="zh-CN" altLang="en-US" dirty="0"/>
          </a:p>
        </p:txBody>
      </p:sp>
      <p:sp>
        <p:nvSpPr>
          <p:cNvPr id="6" name="文本占位符 5">
            <a:extLst>
              <a:ext uri="{FF2B5EF4-FFF2-40B4-BE49-F238E27FC236}">
                <a16:creationId xmlns:a16="http://schemas.microsoft.com/office/drawing/2014/main" id="{1F213C3D-C6DA-6BC9-BFDF-8C3A2861F61B}"/>
              </a:ext>
            </a:extLst>
          </p:cNvPr>
          <p:cNvSpPr>
            <a:spLocks noGrp="1"/>
          </p:cNvSpPr>
          <p:nvPr>
            <p:ph type="body" sz="quarter" idx="10"/>
          </p:nvPr>
        </p:nvSpPr>
        <p:spPr/>
        <p:txBody>
          <a:bodyPr/>
          <a:lstStyle/>
          <a:p>
            <a:r>
              <a:rPr lang="en-US" altLang="zh-CN" dirty="0"/>
              <a:t>6.3.1 </a:t>
            </a:r>
            <a:r>
              <a:rPr lang="zh-CN" altLang="en-US" dirty="0"/>
              <a:t>用例图</a:t>
            </a:r>
          </a:p>
        </p:txBody>
      </p:sp>
      <p:sp>
        <p:nvSpPr>
          <p:cNvPr id="16" name="MH_Desc_1"/>
          <p:cNvSpPr/>
          <p:nvPr>
            <p:custDataLst>
              <p:tags r:id="rId1"/>
            </p:custDataLst>
          </p:nvPr>
        </p:nvSpPr>
        <p:spPr>
          <a:xfrm>
            <a:off x="5028565" y="2134870"/>
            <a:ext cx="6472555" cy="35039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lang="zh-CN" altLang="en-US" dirty="0">
                <a:solidFill>
                  <a:schemeClr val="tx1"/>
                </a:solidFill>
                <a:latin typeface="微软雅黑" panose="020B0503020204020204" charset="-122"/>
                <a:ea typeface="微软雅黑" panose="020B0503020204020204" charset="-122"/>
              </a:rPr>
              <a:t>用例代表某些用户可见的功能，实现一个具体的用户目标。整个系统功能是由一系列用例组成的，待所有用例设计完成，系统设计工作也就完成了，这就是用例驱动方法。</a:t>
            </a:r>
          </a:p>
          <a:p>
            <a:pPr indent="457200">
              <a:lnSpc>
                <a:spcPct val="120000"/>
              </a:lnSpc>
            </a:pPr>
            <a:r>
              <a:rPr lang="zh-CN" altLang="en-US" dirty="0">
                <a:solidFill>
                  <a:schemeClr val="tx1"/>
                </a:solidFill>
                <a:latin typeface="微软雅黑" panose="020B0503020204020204" charset="-122"/>
                <a:ea typeface="微软雅黑" panose="020B0503020204020204" charset="-122"/>
              </a:rPr>
              <a:t>用例图（Use Case Diagram）定义了系统的功能需求。用例图从用户的角度描述系统功能，并指出各功能的操作者。用UML开发软件，是对用例进行迭代、渐增式地构造的过程。</a:t>
            </a:r>
          </a:p>
          <a:p>
            <a:pPr indent="457200">
              <a:lnSpc>
                <a:spcPct val="120000"/>
              </a:lnSpc>
            </a:pPr>
            <a:r>
              <a:rPr lang="zh-CN" altLang="en-US" dirty="0">
                <a:solidFill>
                  <a:schemeClr val="tx1"/>
                </a:solidFill>
                <a:latin typeface="微软雅黑" panose="020B0503020204020204" charset="-122"/>
                <a:ea typeface="微软雅黑" panose="020B0503020204020204" charset="-122"/>
              </a:rPr>
              <a:t>用例图的主要元素是用例、执行者和通信联系。用例图中用方框画出系统的功能范围，该系统功能的用例都置于方框中，用例的执行者都置于方框外。执行者和用例之间要进行通信联系（信息交换）。</a:t>
            </a:r>
          </a:p>
        </p:txBody>
      </p:sp>
      <p:sp>
        <p:nvSpPr>
          <p:cNvPr id="17" name="矩形 16"/>
          <p:cNvSpPr/>
          <p:nvPr/>
        </p:nvSpPr>
        <p:spPr>
          <a:xfrm>
            <a:off x="6030595" y="846161"/>
            <a:ext cx="4682490" cy="1396024"/>
          </a:xfrm>
          <a:prstGeom prst="rect">
            <a:avLst/>
          </a:prstGeom>
          <a:noFill/>
          <a:ln>
            <a:noFill/>
          </a:ln>
        </p:spPr>
        <p:txBody>
          <a:bodyPr wrap="square" rtlCol="0" anchor="t">
            <a:prstTxWarp prst="textCanDown">
              <a:avLst/>
            </a:prstTxWarp>
            <a:spAutoFit/>
          </a:bodyPr>
          <a:lstStyle/>
          <a:p>
            <a:pPr algn="ctr"/>
            <a:r>
              <a:rPr lang="zh-CN" altLang="en-US" sz="3600" b="1" dirty="0">
                <a:solidFill>
                  <a:schemeClr val="tx1"/>
                </a:solidFill>
                <a:effectLst>
                  <a:outerShdw blurRad="38100" dist="19050" dir="2700000" algn="tl" rotWithShape="0">
                    <a:schemeClr val="dk1">
                      <a:alpha val="40000"/>
                    </a:schemeClr>
                  </a:outerShdw>
                </a:effectLst>
              </a:rPr>
              <a:t>Use Case Diagram</a:t>
            </a:r>
          </a:p>
        </p:txBody>
      </p:sp>
      <p:grpSp>
        <p:nvGrpSpPr>
          <p:cNvPr id="42" name="组合 41">
            <a:extLst>
              <a:ext uri="{FF2B5EF4-FFF2-40B4-BE49-F238E27FC236}">
                <a16:creationId xmlns:a16="http://schemas.microsoft.com/office/drawing/2014/main" id="{3218CA75-3AF4-37B0-0A32-3FC857FC2281}"/>
              </a:ext>
            </a:extLst>
          </p:cNvPr>
          <p:cNvGrpSpPr/>
          <p:nvPr/>
        </p:nvGrpSpPr>
        <p:grpSpPr>
          <a:xfrm>
            <a:off x="52108" y="2435290"/>
            <a:ext cx="3678726" cy="3528999"/>
            <a:chOff x="52108" y="2435290"/>
            <a:chExt cx="3678726" cy="3528999"/>
          </a:xfrm>
        </p:grpSpPr>
        <p:cxnSp>
          <p:nvCxnSpPr>
            <p:cNvPr id="9" name="直接箭头连接符 8"/>
            <p:cNvCxnSpPr>
              <a:cxnSpLocks/>
            </p:cNvCxnSpPr>
            <p:nvPr/>
          </p:nvCxnSpPr>
          <p:spPr>
            <a:xfrm>
              <a:off x="1408767"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0" name="直线箭头"/>
            <p:cNvSpPr/>
            <p:nvPr/>
          </p:nvSpPr>
          <p:spPr>
            <a:xfrm>
              <a:off x="1391622" y="4100514"/>
              <a:ext cx="1118870" cy="19367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90" name="右箭头"/>
            <p:cNvSpPr/>
            <p:nvPr/>
          </p:nvSpPr>
          <p:spPr>
            <a:xfrm flipH="1">
              <a:off x="1391940" y="4399917"/>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双向箭头"/>
            <p:cNvSpPr/>
            <p:nvPr/>
          </p:nvSpPr>
          <p:spPr bwMode="auto">
            <a:xfrm>
              <a:off x="1885950" y="563943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2007235" y="563880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5" name="矩形 14">
              <a:extLst>
                <a:ext uri="{FF2B5EF4-FFF2-40B4-BE49-F238E27FC236}">
                  <a16:creationId xmlns:a16="http://schemas.microsoft.com/office/drawing/2014/main" id="{DBB97BEF-6B6E-56E1-1FC8-80CC4F2AF5FB}"/>
                </a:ext>
              </a:extLst>
            </p:cNvPr>
            <p:cNvSpPr/>
            <p:nvPr/>
          </p:nvSpPr>
          <p:spPr>
            <a:xfrm>
              <a:off x="821094" y="2435290"/>
              <a:ext cx="2259926" cy="33394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zh-CN" altLang="en-US" sz="1600" dirty="0">
                  <a:solidFill>
                    <a:schemeClr val="tx1"/>
                  </a:solidFill>
                </a:rPr>
                <a:t>自动售水系统</a:t>
              </a:r>
            </a:p>
          </p:txBody>
        </p:sp>
        <p:sp>
          <p:nvSpPr>
            <p:cNvPr id="19" name="椭圆 18">
              <a:extLst>
                <a:ext uri="{FF2B5EF4-FFF2-40B4-BE49-F238E27FC236}">
                  <a16:creationId xmlns:a16="http://schemas.microsoft.com/office/drawing/2014/main" id="{3C3BECD8-68D9-6FA2-9A75-58BA7067A01B}"/>
                </a:ext>
              </a:extLst>
            </p:cNvPr>
            <p:cNvSpPr/>
            <p:nvPr/>
          </p:nvSpPr>
          <p:spPr>
            <a:xfrm>
              <a:off x="1493857" y="306300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一元</a:t>
              </a:r>
            </a:p>
          </p:txBody>
        </p:sp>
        <p:sp>
          <p:nvSpPr>
            <p:cNvPr id="20" name="椭圆 19">
              <a:extLst>
                <a:ext uri="{FF2B5EF4-FFF2-40B4-BE49-F238E27FC236}">
                  <a16:creationId xmlns:a16="http://schemas.microsoft.com/office/drawing/2014/main" id="{E0281BC6-38C2-AB8C-7DED-1899655B5F46}"/>
                </a:ext>
              </a:extLst>
            </p:cNvPr>
            <p:cNvSpPr/>
            <p:nvPr/>
          </p:nvSpPr>
          <p:spPr>
            <a:xfrm>
              <a:off x="1493857" y="3875406"/>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五角</a:t>
              </a:r>
            </a:p>
          </p:txBody>
        </p:sp>
        <p:sp>
          <p:nvSpPr>
            <p:cNvPr id="21" name="椭圆 20">
              <a:extLst>
                <a:ext uri="{FF2B5EF4-FFF2-40B4-BE49-F238E27FC236}">
                  <a16:creationId xmlns:a16="http://schemas.microsoft.com/office/drawing/2014/main" id="{E755BC3B-B261-7047-2352-48DF0AACA606}"/>
                </a:ext>
              </a:extLst>
            </p:cNvPr>
            <p:cNvSpPr/>
            <p:nvPr/>
          </p:nvSpPr>
          <p:spPr>
            <a:xfrm>
              <a:off x="1493857" y="4560109"/>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退币</a:t>
              </a:r>
            </a:p>
          </p:txBody>
        </p:sp>
        <p:sp>
          <p:nvSpPr>
            <p:cNvPr id="22" name="椭圆 21">
              <a:extLst>
                <a:ext uri="{FF2B5EF4-FFF2-40B4-BE49-F238E27FC236}">
                  <a16:creationId xmlns:a16="http://schemas.microsoft.com/office/drawing/2014/main" id="{36F8D5E5-F8EF-A449-5623-C8D90AA6C9C1}"/>
                </a:ext>
              </a:extLst>
            </p:cNvPr>
            <p:cNvSpPr/>
            <p:nvPr/>
          </p:nvSpPr>
          <p:spPr>
            <a:xfrm>
              <a:off x="1493857" y="523464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取款</a:t>
              </a:r>
            </a:p>
          </p:txBody>
        </p:sp>
        <p:pic>
          <p:nvPicPr>
            <p:cNvPr id="23" name="图片 155">
              <a:extLst>
                <a:ext uri="{FF2B5EF4-FFF2-40B4-BE49-F238E27FC236}">
                  <a16:creationId xmlns:a16="http://schemas.microsoft.com/office/drawing/2014/main" id="{59474438-C477-08F6-9E31-64F71640B6F0}"/>
                </a:ext>
              </a:extLst>
            </p:cNvPr>
            <p:cNvPicPr>
              <a:picLocks noChangeAspect="1"/>
            </p:cNvPicPr>
            <p:nvPr/>
          </p:nvPicPr>
          <p:blipFill>
            <a:blip r:embed="rId3" cstate="print"/>
            <a:stretch>
              <a:fillRect/>
            </a:stretch>
          </p:blipFill>
          <p:spPr>
            <a:xfrm>
              <a:off x="275368" y="2990936"/>
              <a:ext cx="283210" cy="490855"/>
            </a:xfrm>
            <a:prstGeom prst="rect">
              <a:avLst/>
            </a:prstGeom>
            <a:noFill/>
            <a:ln w="9525">
              <a:noFill/>
            </a:ln>
          </p:spPr>
        </p:pic>
        <p:pic>
          <p:nvPicPr>
            <p:cNvPr id="24" name="图片 155">
              <a:extLst>
                <a:ext uri="{FF2B5EF4-FFF2-40B4-BE49-F238E27FC236}">
                  <a16:creationId xmlns:a16="http://schemas.microsoft.com/office/drawing/2014/main" id="{92A65600-0C45-7001-059D-9E64BAE4A12C}"/>
                </a:ext>
              </a:extLst>
            </p:cNvPr>
            <p:cNvPicPr>
              <a:picLocks noChangeAspect="1"/>
            </p:cNvPicPr>
            <p:nvPr/>
          </p:nvPicPr>
          <p:blipFill>
            <a:blip r:embed="rId3" cstate="print"/>
            <a:stretch>
              <a:fillRect/>
            </a:stretch>
          </p:blipFill>
          <p:spPr>
            <a:xfrm>
              <a:off x="275368" y="3803334"/>
              <a:ext cx="283210" cy="490855"/>
            </a:xfrm>
            <a:prstGeom prst="rect">
              <a:avLst/>
            </a:prstGeom>
            <a:noFill/>
            <a:ln w="9525">
              <a:noFill/>
            </a:ln>
          </p:spPr>
        </p:pic>
        <p:pic>
          <p:nvPicPr>
            <p:cNvPr id="25" name="图片 155">
              <a:extLst>
                <a:ext uri="{FF2B5EF4-FFF2-40B4-BE49-F238E27FC236}">
                  <a16:creationId xmlns:a16="http://schemas.microsoft.com/office/drawing/2014/main" id="{15608162-3136-EF69-49A9-1B849E421806}"/>
                </a:ext>
              </a:extLst>
            </p:cNvPr>
            <p:cNvPicPr>
              <a:picLocks noChangeAspect="1"/>
            </p:cNvPicPr>
            <p:nvPr/>
          </p:nvPicPr>
          <p:blipFill>
            <a:blip r:embed="rId3" cstate="print"/>
            <a:stretch>
              <a:fillRect/>
            </a:stretch>
          </p:blipFill>
          <p:spPr>
            <a:xfrm>
              <a:off x="272140" y="5162576"/>
              <a:ext cx="283210" cy="490855"/>
            </a:xfrm>
            <a:prstGeom prst="rect">
              <a:avLst/>
            </a:prstGeom>
            <a:noFill/>
            <a:ln w="9525">
              <a:noFill/>
            </a:ln>
          </p:spPr>
        </p:pic>
        <p:pic>
          <p:nvPicPr>
            <p:cNvPr id="26" name="图片 155">
              <a:extLst>
                <a:ext uri="{FF2B5EF4-FFF2-40B4-BE49-F238E27FC236}">
                  <a16:creationId xmlns:a16="http://schemas.microsoft.com/office/drawing/2014/main" id="{58CF81FD-CA8F-0379-8107-140AEEFEFDC5}"/>
                </a:ext>
              </a:extLst>
            </p:cNvPr>
            <p:cNvPicPr>
              <a:picLocks noChangeAspect="1"/>
            </p:cNvPicPr>
            <p:nvPr/>
          </p:nvPicPr>
          <p:blipFill>
            <a:blip r:embed="rId3" cstate="print"/>
            <a:stretch>
              <a:fillRect/>
            </a:stretch>
          </p:blipFill>
          <p:spPr>
            <a:xfrm>
              <a:off x="3317359" y="4488037"/>
              <a:ext cx="283210" cy="490855"/>
            </a:xfrm>
            <a:prstGeom prst="rect">
              <a:avLst/>
            </a:prstGeom>
            <a:noFill/>
            <a:ln w="9525">
              <a:noFill/>
            </a:ln>
          </p:spPr>
        </p:pic>
        <p:cxnSp>
          <p:nvCxnSpPr>
            <p:cNvPr id="28" name="直接连接符 27">
              <a:extLst>
                <a:ext uri="{FF2B5EF4-FFF2-40B4-BE49-F238E27FC236}">
                  <a16:creationId xmlns:a16="http://schemas.microsoft.com/office/drawing/2014/main" id="{12CF4993-2398-17E7-7FB1-404ECB6F68BE}"/>
                </a:ext>
              </a:extLst>
            </p:cNvPr>
            <p:cNvCxnSpPr>
              <a:stCxn id="23" idx="3"/>
              <a:endCxn id="19" idx="2"/>
            </p:cNvCxnSpPr>
            <p:nvPr/>
          </p:nvCxnSpPr>
          <p:spPr>
            <a:xfrm flipV="1">
              <a:off x="558578" y="3236363"/>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C90266C-D4D2-9206-5CCB-3BD063C6CE40}"/>
                </a:ext>
              </a:extLst>
            </p:cNvPr>
            <p:cNvCxnSpPr>
              <a:stCxn id="24" idx="3"/>
              <a:endCxn id="20" idx="2"/>
            </p:cNvCxnSpPr>
            <p:nvPr/>
          </p:nvCxnSpPr>
          <p:spPr>
            <a:xfrm flipV="1">
              <a:off x="558578" y="4048761"/>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9625D61B-694A-D1C2-B97E-D08409E36134}"/>
                </a:ext>
              </a:extLst>
            </p:cNvPr>
            <p:cNvCxnSpPr>
              <a:stCxn id="25" idx="3"/>
              <a:endCxn id="22" idx="2"/>
            </p:cNvCxnSpPr>
            <p:nvPr/>
          </p:nvCxnSpPr>
          <p:spPr>
            <a:xfrm flipV="1">
              <a:off x="555350" y="5408003"/>
              <a:ext cx="93850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D6C09536-0851-8984-AFBC-26926197BF88}"/>
                </a:ext>
              </a:extLst>
            </p:cNvPr>
            <p:cNvCxnSpPr>
              <a:stCxn id="21" idx="6"/>
              <a:endCxn id="26" idx="1"/>
            </p:cNvCxnSpPr>
            <p:nvPr/>
          </p:nvCxnSpPr>
          <p:spPr>
            <a:xfrm>
              <a:off x="2408257" y="4733464"/>
              <a:ext cx="90910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2247B20C-1056-5EAF-7062-E7D312C5B981}"/>
                </a:ext>
              </a:extLst>
            </p:cNvPr>
            <p:cNvSpPr txBox="1"/>
            <p:nvPr/>
          </p:nvSpPr>
          <p:spPr>
            <a:xfrm>
              <a:off x="3187095" y="4955114"/>
              <a:ext cx="543739" cy="307777"/>
            </a:xfrm>
            <a:prstGeom prst="rect">
              <a:avLst/>
            </a:prstGeom>
            <a:noFill/>
          </p:spPr>
          <p:txBody>
            <a:bodyPr wrap="none" rtlCol="0">
              <a:spAutoFit/>
            </a:bodyPr>
            <a:lstStyle/>
            <a:p>
              <a:r>
                <a:rPr lang="zh-CN" altLang="en-US" sz="1400" dirty="0"/>
                <a:t>顾客</a:t>
              </a:r>
            </a:p>
          </p:txBody>
        </p:sp>
        <p:sp>
          <p:nvSpPr>
            <p:cNvPr id="37" name="文本框 36">
              <a:extLst>
                <a:ext uri="{FF2B5EF4-FFF2-40B4-BE49-F238E27FC236}">
                  <a16:creationId xmlns:a16="http://schemas.microsoft.com/office/drawing/2014/main" id="{B83502EE-9F15-369B-37D9-9A267E9D5791}"/>
                </a:ext>
              </a:extLst>
            </p:cNvPr>
            <p:cNvSpPr txBox="1"/>
            <p:nvPr/>
          </p:nvSpPr>
          <p:spPr>
            <a:xfrm>
              <a:off x="145104" y="3426928"/>
              <a:ext cx="543739" cy="307777"/>
            </a:xfrm>
            <a:prstGeom prst="rect">
              <a:avLst/>
            </a:prstGeom>
            <a:noFill/>
          </p:spPr>
          <p:txBody>
            <a:bodyPr wrap="none" rtlCol="0">
              <a:spAutoFit/>
            </a:bodyPr>
            <a:lstStyle/>
            <a:p>
              <a:r>
                <a:rPr lang="zh-CN" altLang="en-US" sz="1400" dirty="0"/>
                <a:t>顾客</a:t>
              </a:r>
            </a:p>
          </p:txBody>
        </p:sp>
        <p:sp>
          <p:nvSpPr>
            <p:cNvPr id="39" name="文本框 38">
              <a:extLst>
                <a:ext uri="{FF2B5EF4-FFF2-40B4-BE49-F238E27FC236}">
                  <a16:creationId xmlns:a16="http://schemas.microsoft.com/office/drawing/2014/main" id="{57C2CE5A-C4FB-DE0B-91EF-EC740328E84E}"/>
                </a:ext>
              </a:extLst>
            </p:cNvPr>
            <p:cNvSpPr txBox="1"/>
            <p:nvPr/>
          </p:nvSpPr>
          <p:spPr>
            <a:xfrm>
              <a:off x="145104" y="4252211"/>
              <a:ext cx="543739" cy="307777"/>
            </a:xfrm>
            <a:prstGeom prst="rect">
              <a:avLst/>
            </a:prstGeom>
            <a:noFill/>
          </p:spPr>
          <p:txBody>
            <a:bodyPr wrap="none" rtlCol="0">
              <a:spAutoFit/>
            </a:bodyPr>
            <a:lstStyle/>
            <a:p>
              <a:r>
                <a:rPr lang="zh-CN" altLang="en-US" sz="1400" dirty="0"/>
                <a:t>顾客</a:t>
              </a:r>
            </a:p>
          </p:txBody>
        </p:sp>
        <p:sp>
          <p:nvSpPr>
            <p:cNvPr id="41" name="文本框 40">
              <a:extLst>
                <a:ext uri="{FF2B5EF4-FFF2-40B4-BE49-F238E27FC236}">
                  <a16:creationId xmlns:a16="http://schemas.microsoft.com/office/drawing/2014/main" id="{136AE3F3-846A-34AB-DC92-CE78DB769717}"/>
                </a:ext>
              </a:extLst>
            </p:cNvPr>
            <p:cNvSpPr txBox="1"/>
            <p:nvPr/>
          </p:nvSpPr>
          <p:spPr>
            <a:xfrm>
              <a:off x="52108" y="5656512"/>
              <a:ext cx="723275" cy="307777"/>
            </a:xfrm>
            <a:prstGeom prst="rect">
              <a:avLst/>
            </a:prstGeom>
            <a:noFill/>
          </p:spPr>
          <p:txBody>
            <a:bodyPr wrap="none" rtlCol="0">
              <a:spAutoFit/>
            </a:bodyPr>
            <a:lstStyle/>
            <a:p>
              <a:r>
                <a:rPr lang="zh-CN" altLang="en-US" sz="1400" dirty="0"/>
                <a:t>收银员</a:t>
              </a:r>
            </a:p>
          </p:txBody>
        </p:sp>
      </p:grpSp>
    </p:spTree>
  </p:cSld>
  <p:clrMapOvr>
    <a:masterClrMapping/>
  </p:clrMapOvr>
  <p:transition>
    <p:pull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8" name="文本占位符 7">
            <a:extLst>
              <a:ext uri="{FF2B5EF4-FFF2-40B4-BE49-F238E27FC236}">
                <a16:creationId xmlns:a16="http://schemas.microsoft.com/office/drawing/2014/main" id="{8B2D29BC-B1F6-0A8C-9F56-CFF4E01ACDC5}"/>
              </a:ext>
            </a:extLst>
          </p:cNvPr>
          <p:cNvSpPr>
            <a:spLocks noGrp="1"/>
          </p:cNvSpPr>
          <p:nvPr>
            <p:ph type="body" sz="quarter" idx="10"/>
          </p:nvPr>
        </p:nvSpPr>
        <p:spPr>
          <a:xfrm>
            <a:off x="900001" y="1322832"/>
            <a:ext cx="5196000" cy="400110"/>
          </a:xfrm>
        </p:spPr>
        <p:txBody>
          <a:bodyPr/>
          <a:lstStyle/>
          <a:p>
            <a:r>
              <a:rPr lang="en-US" altLang="zh-CN" dirty="0"/>
              <a:t>6.3.1 </a:t>
            </a:r>
            <a:r>
              <a:rPr lang="zh-CN" altLang="en-US" dirty="0"/>
              <a:t>用例图</a:t>
            </a:r>
          </a:p>
        </p:txBody>
      </p:sp>
      <p:cxnSp>
        <p:nvCxnSpPr>
          <p:cNvPr id="9" name="直接箭头连接符 8"/>
          <p:cNvCxnSpPr/>
          <p:nvPr/>
        </p:nvCxnSpPr>
        <p:spPr>
          <a:xfrm>
            <a:off x="1962785"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0" name="右箭头"/>
          <p:cNvSpPr/>
          <p:nvPr/>
        </p:nvSpPr>
        <p:spPr>
          <a:xfrm flipH="1">
            <a:off x="1962785" y="4332605"/>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双向箭头"/>
          <p:cNvSpPr/>
          <p:nvPr/>
        </p:nvSpPr>
        <p:spPr bwMode="auto">
          <a:xfrm>
            <a:off x="1885950" y="563943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2007235" y="563880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8" name="Oval 15"/>
          <p:cNvSpPr>
            <a:spLocks noChangeArrowheads="1"/>
          </p:cNvSpPr>
          <p:nvPr>
            <p:custDataLst>
              <p:tags r:id="rId1"/>
            </p:custDataLst>
          </p:nvPr>
        </p:nvSpPr>
        <p:spPr bwMode="auto">
          <a:xfrm>
            <a:off x="1130935" y="2440305"/>
            <a:ext cx="3153410" cy="3182620"/>
          </a:xfrm>
          <a:prstGeom prst="ellipse">
            <a:avLst/>
          </a:prstGeom>
          <a:noFill/>
          <a:ln w="19050">
            <a:solidFill>
              <a:schemeClr val="accent1">
                <a:alpha val="50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 name="Line 16"/>
          <p:cNvSpPr>
            <a:spLocks noChangeShapeType="1"/>
          </p:cNvSpPr>
          <p:nvPr>
            <p:custDataLst>
              <p:tags r:id="rId2"/>
            </p:custDataLst>
          </p:nvPr>
        </p:nvSpPr>
        <p:spPr bwMode="gray">
          <a:xfrm>
            <a:off x="958215" y="4038600"/>
            <a:ext cx="3483610" cy="0"/>
          </a:xfrm>
          <a:prstGeom prst="line">
            <a:avLst/>
          </a:prstGeom>
          <a:noFill/>
          <a:ln w="28575">
            <a:solidFill>
              <a:schemeClr val="accent1">
                <a:alpha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2" name="Line 17"/>
          <p:cNvSpPr>
            <a:spLocks noChangeShapeType="1"/>
          </p:cNvSpPr>
          <p:nvPr>
            <p:custDataLst>
              <p:tags r:id="rId3"/>
            </p:custDataLst>
          </p:nvPr>
        </p:nvSpPr>
        <p:spPr bwMode="gray">
          <a:xfrm>
            <a:off x="2700020" y="2204720"/>
            <a:ext cx="0" cy="3663950"/>
          </a:xfrm>
          <a:prstGeom prst="line">
            <a:avLst/>
          </a:prstGeom>
          <a:noFill/>
          <a:ln w="28575">
            <a:solidFill>
              <a:schemeClr val="accent1">
                <a:alpha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6" name="Oval 10"/>
          <p:cNvSpPr>
            <a:spLocks noChangeArrowheads="1"/>
          </p:cNvSpPr>
          <p:nvPr>
            <p:custDataLst>
              <p:tags r:id="rId4"/>
            </p:custDataLst>
          </p:nvPr>
        </p:nvSpPr>
        <p:spPr bwMode="gray">
          <a:xfrm>
            <a:off x="1303655" y="2620645"/>
            <a:ext cx="2789555" cy="2811145"/>
          </a:xfrm>
          <a:prstGeom prst="ellipse">
            <a:avLst/>
          </a:prstGeom>
          <a:noFill/>
          <a:ln w="9525">
            <a:solidFill>
              <a:schemeClr val="accent1">
                <a:alpha val="50000"/>
              </a:schemeClr>
            </a:solidFill>
            <a:round/>
          </a:ln>
          <a:effectLst/>
          <a:extLst>
            <a:ext uri="{909E8E84-426E-40DD-AFC4-6F175D3DCCD1}">
              <a14:hiddenFill xmlns:a14="http://schemas.microsoft.com/office/drawing/2010/main">
                <a:solidFill>
                  <a:schemeClr val="accent1">
                    <a:alpha val="64999"/>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5"/>
            </p:custDataLst>
          </p:nvPr>
        </p:nvSpPr>
        <p:spPr bwMode="gray">
          <a:xfrm>
            <a:off x="1622425" y="2957830"/>
            <a:ext cx="2137410" cy="2181860"/>
          </a:xfrm>
          <a:prstGeom prst="ellipse">
            <a:avLst/>
          </a:prstGeom>
          <a:solidFill>
            <a:schemeClr val="accent1">
              <a:lumMod val="60000"/>
              <a:lumOff val="40000"/>
            </a:scheme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41" name="KSO_GT1"/>
          <p:cNvSpPr>
            <a:spLocks noChangeArrowheads="1"/>
          </p:cNvSpPr>
          <p:nvPr>
            <p:custDataLst>
              <p:tags r:id="rId6"/>
            </p:custDataLst>
          </p:nvPr>
        </p:nvSpPr>
        <p:spPr bwMode="gray">
          <a:xfrm>
            <a:off x="2007235" y="3350260"/>
            <a:ext cx="1368425" cy="1397635"/>
          </a:xfrm>
          <a:prstGeom prst="ellipse">
            <a:avLst/>
          </a:prstGeom>
          <a:solidFill>
            <a:schemeClr val="accent1"/>
          </a:solidFill>
          <a:ln>
            <a:noFill/>
          </a:ln>
          <a:effectLst/>
        </p:spPr>
        <p:txBody>
          <a:bodyPr wrap="square" lIns="0" tIns="0" rIns="0" bIns="0" anchor="ctr">
            <a:normAutofit/>
          </a:bodyPr>
          <a:lstStyle/>
          <a:p>
            <a:pPr algn="ctr">
              <a:defRPr/>
            </a:pPr>
            <a:r>
              <a:rPr lang="zh-CN" altLang="en-US" sz="2800" kern="0" dirty="0">
                <a:solidFill>
                  <a:schemeClr val="bg1"/>
                </a:solidFill>
                <a:latin typeface="+mj-lt"/>
                <a:ea typeface="+mj-ea"/>
                <a:cs typeface="+mj-cs"/>
              </a:rPr>
              <a:t>用例</a:t>
            </a:r>
          </a:p>
        </p:txBody>
      </p:sp>
      <p:sp>
        <p:nvSpPr>
          <p:cNvPr id="43" name="Oval 19"/>
          <p:cNvSpPr>
            <a:spLocks noChangeArrowheads="1"/>
          </p:cNvSpPr>
          <p:nvPr>
            <p:custDataLst>
              <p:tags r:id="rId7"/>
            </p:custDataLst>
          </p:nvPr>
        </p:nvSpPr>
        <p:spPr bwMode="gray">
          <a:xfrm>
            <a:off x="3121025" y="2386330"/>
            <a:ext cx="251460" cy="251460"/>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8"/>
            </p:custDataLst>
          </p:nvPr>
        </p:nvSpPr>
        <p:spPr>
          <a:xfrm>
            <a:off x="3608070" y="2210435"/>
            <a:ext cx="7013575" cy="640080"/>
          </a:xfrm>
          <a:prstGeom prst="rect">
            <a:avLst/>
          </a:prstGeom>
          <a:noFill/>
        </p:spPr>
        <p:txBody>
          <a:bodyPr wrap="square" lIns="0" rIns="0">
            <a:normAutofit/>
          </a:bodyPr>
          <a:lstStyle/>
          <a:p>
            <a:pPr>
              <a:lnSpc>
                <a:spcPct val="130000"/>
              </a:lnSpc>
              <a:spcBef>
                <a:spcPts val="600"/>
              </a:spcBef>
              <a:defRPr/>
            </a:pPr>
            <a:r>
              <a:rPr lang="zh-CN" altLang="en-US" dirty="0"/>
              <a:t>用例是一个类，它代表一类功能而不是使用该功能的某一具体实例。</a:t>
            </a:r>
          </a:p>
        </p:txBody>
      </p:sp>
      <p:sp>
        <p:nvSpPr>
          <p:cNvPr id="46" name="Oval 19"/>
          <p:cNvSpPr>
            <a:spLocks noChangeArrowheads="1"/>
          </p:cNvSpPr>
          <p:nvPr>
            <p:custDataLst>
              <p:tags r:id="rId9"/>
            </p:custDataLst>
          </p:nvPr>
        </p:nvSpPr>
        <p:spPr bwMode="gray">
          <a:xfrm>
            <a:off x="3805555" y="3145155"/>
            <a:ext cx="251460" cy="251460"/>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0"/>
            </p:custDataLst>
          </p:nvPr>
        </p:nvSpPr>
        <p:spPr>
          <a:xfrm>
            <a:off x="4277360" y="3007360"/>
            <a:ext cx="6617970" cy="487680"/>
          </a:xfrm>
          <a:prstGeom prst="rect">
            <a:avLst/>
          </a:prstGeom>
          <a:noFill/>
        </p:spPr>
        <p:txBody>
          <a:bodyPr wrap="square" lIns="0" rIns="0">
            <a:normAutofit/>
          </a:bodyPr>
          <a:lstStyle/>
          <a:p>
            <a:pPr>
              <a:lnSpc>
                <a:spcPct val="130000"/>
              </a:lnSpc>
              <a:spcBef>
                <a:spcPts val="600"/>
              </a:spcBef>
              <a:defRPr/>
            </a:pPr>
            <a:r>
              <a:rPr lang="zh-CN" altLang="en-US" dirty="0"/>
              <a:t>用例代表某些用户可见的功能，实现一个具体用户目标。</a:t>
            </a:r>
          </a:p>
        </p:txBody>
      </p:sp>
      <p:sp>
        <p:nvSpPr>
          <p:cNvPr id="49" name="Oval 19"/>
          <p:cNvSpPr>
            <a:spLocks noChangeArrowheads="1"/>
          </p:cNvSpPr>
          <p:nvPr>
            <p:custDataLst>
              <p:tags r:id="rId11"/>
            </p:custDataLst>
          </p:nvPr>
        </p:nvSpPr>
        <p:spPr bwMode="gray">
          <a:xfrm>
            <a:off x="4144010" y="3909695"/>
            <a:ext cx="251460" cy="251460"/>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0" name="文本框 49"/>
          <p:cNvSpPr txBox="1"/>
          <p:nvPr>
            <p:custDataLst>
              <p:tags r:id="rId12"/>
            </p:custDataLst>
          </p:nvPr>
        </p:nvSpPr>
        <p:spPr>
          <a:xfrm>
            <a:off x="4644390" y="3804285"/>
            <a:ext cx="6251575" cy="487680"/>
          </a:xfrm>
          <a:prstGeom prst="rect">
            <a:avLst/>
          </a:prstGeom>
          <a:noFill/>
        </p:spPr>
        <p:txBody>
          <a:bodyPr wrap="square" lIns="0" rIns="0">
            <a:normAutofit/>
          </a:bodyPr>
          <a:lstStyle/>
          <a:p>
            <a:pPr>
              <a:lnSpc>
                <a:spcPct val="130000"/>
              </a:lnSpc>
              <a:spcBef>
                <a:spcPts val="600"/>
              </a:spcBef>
              <a:defRPr/>
            </a:pPr>
            <a:r>
              <a:rPr lang="zh-CN" altLang="en-US" dirty="0"/>
              <a:t>用例由执行者激活，并提供确切的值给执行者。</a:t>
            </a:r>
          </a:p>
        </p:txBody>
      </p:sp>
      <p:sp>
        <p:nvSpPr>
          <p:cNvPr id="53" name="Oval 19"/>
          <p:cNvSpPr>
            <a:spLocks noChangeArrowheads="1"/>
          </p:cNvSpPr>
          <p:nvPr>
            <p:custDataLst>
              <p:tags r:id="rId13"/>
            </p:custDataLst>
          </p:nvPr>
        </p:nvSpPr>
        <p:spPr bwMode="gray">
          <a:xfrm>
            <a:off x="3805555" y="4693920"/>
            <a:ext cx="251460" cy="251460"/>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4" name="文本框 53"/>
          <p:cNvSpPr txBox="1"/>
          <p:nvPr>
            <p:custDataLst>
              <p:tags r:id="rId14"/>
            </p:custDataLst>
          </p:nvPr>
        </p:nvSpPr>
        <p:spPr>
          <a:xfrm>
            <a:off x="4307205" y="4601210"/>
            <a:ext cx="6846570" cy="487680"/>
          </a:xfrm>
          <a:prstGeom prst="rect">
            <a:avLst/>
          </a:prstGeom>
          <a:noFill/>
        </p:spPr>
        <p:txBody>
          <a:bodyPr wrap="square" lIns="0" rIns="0">
            <a:normAutofit/>
          </a:bodyPr>
          <a:lstStyle/>
          <a:p>
            <a:pPr>
              <a:lnSpc>
                <a:spcPct val="130000"/>
              </a:lnSpc>
              <a:spcBef>
                <a:spcPts val="600"/>
              </a:spcBef>
              <a:defRPr/>
            </a:pPr>
            <a:r>
              <a:rPr lang="zh-CN" altLang="en-US" dirty="0"/>
              <a:t>用例可大可小，但必须是对一个具体用户目标实现的完整描述。</a:t>
            </a:r>
          </a:p>
        </p:txBody>
      </p:sp>
      <p:sp>
        <p:nvSpPr>
          <p:cNvPr id="56" name="Oval 19"/>
          <p:cNvSpPr>
            <a:spLocks noChangeArrowheads="1"/>
          </p:cNvSpPr>
          <p:nvPr>
            <p:custDataLst>
              <p:tags r:id="rId15"/>
            </p:custDataLst>
          </p:nvPr>
        </p:nvSpPr>
        <p:spPr bwMode="gray">
          <a:xfrm>
            <a:off x="3122930" y="5436870"/>
            <a:ext cx="251460" cy="251460"/>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6"/>
            </p:custDataLst>
          </p:nvPr>
        </p:nvSpPr>
        <p:spPr>
          <a:xfrm>
            <a:off x="3585210" y="5398135"/>
            <a:ext cx="8141970" cy="487680"/>
          </a:xfrm>
          <a:prstGeom prst="rect">
            <a:avLst/>
          </a:prstGeom>
          <a:noFill/>
        </p:spPr>
        <p:txBody>
          <a:bodyPr wrap="square" lIns="0" rIns="0">
            <a:normAutofit/>
          </a:bodyPr>
          <a:lstStyle/>
          <a:p>
            <a:pPr>
              <a:lnSpc>
                <a:spcPct val="130000"/>
              </a:lnSpc>
              <a:spcBef>
                <a:spcPts val="600"/>
              </a:spcBef>
              <a:defRPr/>
            </a:pPr>
            <a:r>
              <a:rPr lang="zh-CN" altLang="en-US" dirty="0"/>
              <a:t>用例之间存在一定的关系，如一般－特殊关系、包含关系（特殊的依赖关系）。</a:t>
            </a:r>
          </a:p>
        </p:txBody>
      </p:sp>
      <p:sp>
        <p:nvSpPr>
          <p:cNvPr id="167" name="圆角矩形"/>
          <p:cNvSpPr/>
          <p:nvPr/>
        </p:nvSpPr>
        <p:spPr>
          <a:xfrm>
            <a:off x="6546215" y="824865"/>
            <a:ext cx="5318760" cy="72199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3" name="学士帽"/>
          <p:cNvSpPr/>
          <p:nvPr/>
        </p:nvSpPr>
        <p:spPr bwMode="auto">
          <a:xfrm>
            <a:off x="6351270" y="611505"/>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35" name="文本框 34"/>
          <p:cNvSpPr txBox="1"/>
          <p:nvPr/>
        </p:nvSpPr>
        <p:spPr>
          <a:xfrm>
            <a:off x="6828790" y="997902"/>
            <a:ext cx="5036185" cy="375920"/>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dirty="0" err="1">
                <a:solidFill>
                  <a:schemeClr val="tx1"/>
                </a:solidFill>
                <a:latin typeface="微软雅黑" panose="020B0503020204020204" charset="-122"/>
                <a:ea typeface="微软雅黑" panose="020B0503020204020204" charset="-122"/>
                <a:sym typeface="+mn-ea"/>
              </a:rPr>
              <a:t>用例用椭圆</a:t>
            </a:r>
            <a:r>
              <a:rPr lang="zh-CN" altLang="en-US" dirty="0">
                <a:solidFill>
                  <a:schemeClr val="tx1"/>
                </a:solidFill>
                <a:latin typeface="微软雅黑" panose="020B0503020204020204" charset="-122"/>
                <a:ea typeface="微软雅黑" panose="020B0503020204020204" charset="-122"/>
                <a:sym typeface="+mn-ea"/>
              </a:rPr>
              <a:t>（</a:t>
            </a:r>
            <a:r>
              <a:rPr lang="en-US" dirty="0">
                <a:solidFill>
                  <a:schemeClr val="tx1"/>
                </a:solidFill>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      </a:t>
            </a:r>
            <a:r>
              <a:rPr lang="en-US" dirty="0">
                <a:solidFill>
                  <a:schemeClr val="tx1"/>
                </a:solidFill>
                <a:latin typeface="微软雅黑" panose="020B0503020204020204" charset="-122"/>
                <a:ea typeface="微软雅黑" panose="020B0503020204020204" charset="-122"/>
                <a:sym typeface="+mn-ea"/>
              </a:rPr>
              <a:t> </a:t>
            </a:r>
            <a:r>
              <a:rPr lang="zh-CN" altLang="en-US" dirty="0">
                <a:solidFill>
                  <a:schemeClr val="tx1"/>
                </a:solidFill>
                <a:latin typeface="微软雅黑" panose="020B0503020204020204" charset="-122"/>
                <a:ea typeface="微软雅黑" panose="020B0503020204020204" charset="-122"/>
                <a:sym typeface="+mn-ea"/>
              </a:rPr>
              <a:t>）</a:t>
            </a:r>
            <a:r>
              <a:rPr dirty="0" err="1">
                <a:solidFill>
                  <a:schemeClr val="tx1"/>
                </a:solidFill>
                <a:latin typeface="微软雅黑" panose="020B0503020204020204" charset="-122"/>
                <a:ea typeface="微软雅黑" panose="020B0503020204020204" charset="-122"/>
                <a:sym typeface="+mn-ea"/>
              </a:rPr>
              <a:t>表示</a:t>
            </a:r>
            <a:r>
              <a:rPr dirty="0">
                <a:solidFill>
                  <a:schemeClr val="tx1"/>
                </a:solidFill>
                <a:latin typeface="微软雅黑" panose="020B0503020204020204" charset="-122"/>
                <a:ea typeface="微软雅黑" panose="020B0503020204020204" charset="-122"/>
                <a:sym typeface="+mn-ea"/>
              </a:rPr>
              <a:t>。</a:t>
            </a:r>
          </a:p>
        </p:txBody>
      </p:sp>
      <p:pic>
        <p:nvPicPr>
          <p:cNvPr id="6" name="图片 154"/>
          <p:cNvPicPr>
            <a:picLocks noChangeAspect="1"/>
          </p:cNvPicPr>
          <p:nvPr/>
        </p:nvPicPr>
        <p:blipFill>
          <a:blip r:embed="rId18" cstate="print"/>
          <a:stretch>
            <a:fillRect/>
          </a:stretch>
        </p:blipFill>
        <p:spPr>
          <a:xfrm>
            <a:off x="8767908" y="1026160"/>
            <a:ext cx="445135" cy="319405"/>
          </a:xfrm>
          <a:prstGeom prst="rect">
            <a:avLst/>
          </a:prstGeom>
          <a:noFill/>
          <a:ln w="9525">
            <a:noFill/>
          </a:ln>
        </p:spPr>
      </p:pic>
    </p:spTree>
  </p:cSld>
  <p:clrMapOvr>
    <a:masterClrMapping/>
  </p:clrMapOvr>
  <p:transition>
    <p:diamon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5" name="文本占位符 4">
            <a:extLst>
              <a:ext uri="{FF2B5EF4-FFF2-40B4-BE49-F238E27FC236}">
                <a16:creationId xmlns:a16="http://schemas.microsoft.com/office/drawing/2014/main" id="{02436DB0-50CD-7B3C-3369-848C2AEB5291}"/>
              </a:ext>
            </a:extLst>
          </p:cNvPr>
          <p:cNvSpPr>
            <a:spLocks noGrp="1"/>
          </p:cNvSpPr>
          <p:nvPr>
            <p:ph type="body" sz="quarter" idx="10"/>
          </p:nvPr>
        </p:nvSpPr>
        <p:spPr>
          <a:xfrm>
            <a:off x="900001" y="1322832"/>
            <a:ext cx="5196000" cy="400110"/>
          </a:xfrm>
        </p:spPr>
        <p:txBody>
          <a:bodyPr/>
          <a:lstStyle/>
          <a:p>
            <a:r>
              <a:rPr lang="en-US" altLang="zh-CN" dirty="0"/>
              <a:t>6.3.1 </a:t>
            </a:r>
            <a:r>
              <a:rPr lang="zh-CN" altLang="en-US" dirty="0"/>
              <a:t>用例图</a:t>
            </a:r>
          </a:p>
        </p:txBody>
      </p:sp>
      <p:cxnSp>
        <p:nvCxnSpPr>
          <p:cNvPr id="9" name="直接箭头连接符 8"/>
          <p:cNvCxnSpPr/>
          <p:nvPr/>
        </p:nvCxnSpPr>
        <p:spPr>
          <a:xfrm>
            <a:off x="1962785"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0" name="右箭头"/>
          <p:cNvSpPr/>
          <p:nvPr/>
        </p:nvSpPr>
        <p:spPr>
          <a:xfrm flipH="1">
            <a:off x="1962785" y="4332605"/>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双向箭头"/>
          <p:cNvSpPr/>
          <p:nvPr/>
        </p:nvSpPr>
        <p:spPr bwMode="auto">
          <a:xfrm>
            <a:off x="1885950" y="563943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2007235" y="563880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7" name="Oval 15"/>
          <p:cNvSpPr>
            <a:spLocks noChangeArrowheads="1"/>
          </p:cNvSpPr>
          <p:nvPr>
            <p:custDataLst>
              <p:tags r:id="rId1"/>
            </p:custDataLst>
          </p:nvPr>
        </p:nvSpPr>
        <p:spPr bwMode="auto">
          <a:xfrm>
            <a:off x="1798955" y="2409825"/>
            <a:ext cx="3153410" cy="3182620"/>
          </a:xfrm>
          <a:prstGeom prst="ellipse">
            <a:avLst/>
          </a:prstGeom>
          <a:noFill/>
          <a:ln w="19050">
            <a:solidFill>
              <a:srgbClr val="4F5A71">
                <a:alpha val="50000"/>
              </a:srgbClr>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6" name="Line 16"/>
          <p:cNvSpPr>
            <a:spLocks noChangeShapeType="1"/>
          </p:cNvSpPr>
          <p:nvPr>
            <p:custDataLst>
              <p:tags r:id="rId2"/>
            </p:custDataLst>
          </p:nvPr>
        </p:nvSpPr>
        <p:spPr bwMode="gray">
          <a:xfrm>
            <a:off x="1626235" y="4008120"/>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7" name="Line 17"/>
          <p:cNvSpPr>
            <a:spLocks noChangeShapeType="1"/>
          </p:cNvSpPr>
          <p:nvPr>
            <p:custDataLst>
              <p:tags r:id="rId3"/>
            </p:custDataLst>
          </p:nvPr>
        </p:nvSpPr>
        <p:spPr bwMode="gray">
          <a:xfrm>
            <a:off x="3368040" y="2174240"/>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1" name="Oval 10"/>
          <p:cNvSpPr>
            <a:spLocks noChangeArrowheads="1"/>
          </p:cNvSpPr>
          <p:nvPr>
            <p:custDataLst>
              <p:tags r:id="rId4"/>
            </p:custDataLst>
          </p:nvPr>
        </p:nvSpPr>
        <p:spPr bwMode="gray">
          <a:xfrm>
            <a:off x="1971675" y="2590165"/>
            <a:ext cx="2789555" cy="2811145"/>
          </a:xfrm>
          <a:prstGeom prst="ellipse">
            <a:avLst/>
          </a:prstGeom>
          <a:noFill/>
          <a:ln w="9525">
            <a:solidFill>
              <a:srgbClr val="4F5A71">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8" name="Oval 13"/>
          <p:cNvSpPr>
            <a:spLocks noChangeArrowheads="1"/>
          </p:cNvSpPr>
          <p:nvPr>
            <p:custDataLst>
              <p:tags r:id="rId5"/>
            </p:custDataLst>
          </p:nvPr>
        </p:nvSpPr>
        <p:spPr bwMode="gray">
          <a:xfrm>
            <a:off x="2290445" y="2927350"/>
            <a:ext cx="2137410" cy="2181860"/>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0" name="KSO_GT1"/>
          <p:cNvSpPr>
            <a:spLocks noChangeArrowheads="1"/>
          </p:cNvSpPr>
          <p:nvPr>
            <p:custDataLst>
              <p:tags r:id="rId6"/>
            </p:custDataLst>
          </p:nvPr>
        </p:nvSpPr>
        <p:spPr bwMode="gray">
          <a:xfrm>
            <a:off x="2675255" y="3319780"/>
            <a:ext cx="1368425" cy="1397635"/>
          </a:xfrm>
          <a:prstGeom prst="ellipse">
            <a:avLst/>
          </a:prstGeom>
          <a:solidFill>
            <a:srgbClr val="4F5A71"/>
          </a:solidFill>
          <a:ln>
            <a:noFill/>
          </a:ln>
          <a:effectLst/>
        </p:spPr>
        <p:txBody>
          <a:bodyPr wrap="square" lIns="0" tIns="0" rIns="0" bIns="0" anchor="ctr">
            <a:normAutofit/>
          </a:bodyPr>
          <a:lstStyle/>
          <a:p>
            <a:pPr algn="ctr">
              <a:defRPr/>
            </a:pPr>
            <a:r>
              <a:rPr lang="zh-CN" altLang="en-US" sz="2400" kern="0" dirty="0">
                <a:solidFill>
                  <a:srgbClr val="FFFFFF"/>
                </a:solidFill>
                <a:latin typeface="微软雅黑 Light" panose="020B0502040204020203" pitchFamily="34" charset="-122"/>
                <a:ea typeface="黑体" panose="02010609060101010101" pitchFamily="49" charset="-122"/>
                <a:cs typeface="+mn-ea"/>
              </a:rPr>
              <a:t>执行者</a:t>
            </a:r>
          </a:p>
        </p:txBody>
      </p:sp>
      <p:sp>
        <p:nvSpPr>
          <p:cNvPr id="13" name="Oval 19"/>
          <p:cNvSpPr>
            <a:spLocks noChangeArrowheads="1"/>
          </p:cNvSpPr>
          <p:nvPr>
            <p:custDataLst>
              <p:tags r:id="rId7"/>
            </p:custDataLst>
          </p:nvPr>
        </p:nvSpPr>
        <p:spPr bwMode="gray">
          <a:xfrm>
            <a:off x="3789045" y="235585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2" name="文本框 41"/>
          <p:cNvSpPr txBox="1"/>
          <p:nvPr>
            <p:custDataLst>
              <p:tags r:id="rId8"/>
            </p:custDataLst>
          </p:nvPr>
        </p:nvSpPr>
        <p:spPr>
          <a:xfrm>
            <a:off x="4276090" y="2179955"/>
            <a:ext cx="4515485" cy="487680"/>
          </a:xfrm>
          <a:prstGeom prst="rect">
            <a:avLst/>
          </a:prstGeom>
          <a:noFill/>
        </p:spPr>
        <p:txBody>
          <a:bodyPr wrap="square" lIns="0" rIns="0">
            <a:normAutofit/>
          </a:bodyPr>
          <a:lstStyle/>
          <a:p>
            <a:pPr>
              <a:lnSpc>
                <a:spcPct val="130000"/>
              </a:lnSpc>
              <a:spcBef>
                <a:spcPts val="600"/>
              </a:spcBef>
              <a:defRPr/>
            </a:pPr>
            <a:r>
              <a:rPr lang="zh-CN" altLang="en-US" dirty="0"/>
              <a:t>执行者实际上就是类。</a:t>
            </a:r>
          </a:p>
        </p:txBody>
      </p:sp>
      <p:sp>
        <p:nvSpPr>
          <p:cNvPr id="44" name="Oval 19"/>
          <p:cNvSpPr>
            <a:spLocks noChangeArrowheads="1"/>
          </p:cNvSpPr>
          <p:nvPr>
            <p:custDataLst>
              <p:tags r:id="rId9"/>
            </p:custDataLst>
          </p:nvPr>
        </p:nvSpPr>
        <p:spPr bwMode="gray">
          <a:xfrm>
            <a:off x="4553585" y="3380105"/>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5" name="文本框 44"/>
          <p:cNvSpPr txBox="1"/>
          <p:nvPr>
            <p:custDataLst>
              <p:tags r:id="rId10"/>
            </p:custDataLst>
          </p:nvPr>
        </p:nvSpPr>
        <p:spPr>
          <a:xfrm>
            <a:off x="5025390" y="3242310"/>
            <a:ext cx="5185410" cy="487680"/>
          </a:xfrm>
          <a:prstGeom prst="rect">
            <a:avLst/>
          </a:prstGeom>
          <a:noFill/>
        </p:spPr>
        <p:txBody>
          <a:bodyPr wrap="square" lIns="0" rIns="0">
            <a:normAutofit/>
          </a:bodyPr>
          <a:lstStyle/>
          <a:p>
            <a:pPr>
              <a:lnSpc>
                <a:spcPct val="130000"/>
              </a:lnSpc>
              <a:spcBef>
                <a:spcPts val="600"/>
              </a:spcBef>
              <a:defRPr/>
            </a:pPr>
            <a:r>
              <a:rPr lang="zh-CN" altLang="en-US" dirty="0"/>
              <a:t>执行者是与系统交互的人或物。</a:t>
            </a:r>
          </a:p>
        </p:txBody>
      </p:sp>
      <p:sp>
        <p:nvSpPr>
          <p:cNvPr id="14" name="Oval 19"/>
          <p:cNvSpPr>
            <a:spLocks noChangeArrowheads="1"/>
          </p:cNvSpPr>
          <p:nvPr>
            <p:custDataLst>
              <p:tags r:id="rId11"/>
            </p:custDataLst>
          </p:nvPr>
        </p:nvSpPr>
        <p:spPr bwMode="gray">
          <a:xfrm>
            <a:off x="4553585" y="440690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2" name="文本框 51"/>
          <p:cNvSpPr txBox="1"/>
          <p:nvPr>
            <p:custDataLst>
              <p:tags r:id="rId12"/>
            </p:custDataLst>
          </p:nvPr>
        </p:nvSpPr>
        <p:spPr>
          <a:xfrm>
            <a:off x="5055870" y="4314825"/>
            <a:ext cx="5292725" cy="487680"/>
          </a:xfrm>
          <a:prstGeom prst="rect">
            <a:avLst/>
          </a:prstGeom>
          <a:noFill/>
        </p:spPr>
        <p:txBody>
          <a:bodyPr wrap="square" lIns="0" rIns="0">
            <a:normAutofit/>
          </a:bodyPr>
          <a:lstStyle/>
          <a:p>
            <a:pPr>
              <a:lnSpc>
                <a:spcPct val="130000"/>
              </a:lnSpc>
              <a:spcBef>
                <a:spcPts val="600"/>
              </a:spcBef>
              <a:defRPr/>
            </a:pPr>
            <a:r>
              <a:rPr lang="zh-CN" altLang="en-US" dirty="0"/>
              <a:t>执行者是能够使用某个功能的一类人或物。</a:t>
            </a:r>
          </a:p>
        </p:txBody>
      </p:sp>
      <p:sp>
        <p:nvSpPr>
          <p:cNvPr id="15" name="Oval 19"/>
          <p:cNvSpPr>
            <a:spLocks noChangeArrowheads="1"/>
          </p:cNvSpPr>
          <p:nvPr>
            <p:custDataLst>
              <p:tags r:id="rId13"/>
            </p:custDataLst>
          </p:nvPr>
        </p:nvSpPr>
        <p:spPr bwMode="gray">
          <a:xfrm>
            <a:off x="3790950" y="540639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5" name="文本框 54"/>
          <p:cNvSpPr txBox="1"/>
          <p:nvPr>
            <p:custDataLst>
              <p:tags r:id="rId14"/>
            </p:custDataLst>
          </p:nvPr>
        </p:nvSpPr>
        <p:spPr>
          <a:xfrm>
            <a:off x="4253230" y="5367655"/>
            <a:ext cx="6419850" cy="487680"/>
          </a:xfrm>
          <a:prstGeom prst="rect">
            <a:avLst/>
          </a:prstGeom>
          <a:noFill/>
        </p:spPr>
        <p:txBody>
          <a:bodyPr wrap="square" lIns="0" rIns="0">
            <a:normAutofit/>
          </a:bodyPr>
          <a:lstStyle/>
          <a:p>
            <a:pPr>
              <a:lnSpc>
                <a:spcPct val="130000"/>
              </a:lnSpc>
              <a:spcBef>
                <a:spcPts val="600"/>
              </a:spcBef>
              <a:defRPr/>
            </a:pPr>
            <a:r>
              <a:rPr lang="zh-CN" altLang="en-US" dirty="0"/>
              <a:t>执行者之间可以有一般－特殊关系。</a:t>
            </a:r>
          </a:p>
        </p:txBody>
      </p:sp>
      <p:sp>
        <p:nvSpPr>
          <p:cNvPr id="167" name="圆角矩形"/>
          <p:cNvSpPr/>
          <p:nvPr/>
        </p:nvSpPr>
        <p:spPr>
          <a:xfrm>
            <a:off x="6546215" y="824865"/>
            <a:ext cx="5318760" cy="78041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6" name="学士帽"/>
          <p:cNvSpPr/>
          <p:nvPr/>
        </p:nvSpPr>
        <p:spPr bwMode="auto">
          <a:xfrm>
            <a:off x="6351270" y="611505"/>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35" name="文本框 34"/>
          <p:cNvSpPr txBox="1"/>
          <p:nvPr/>
        </p:nvSpPr>
        <p:spPr>
          <a:xfrm>
            <a:off x="6482715" y="1027168"/>
            <a:ext cx="5404485" cy="375809"/>
          </a:xfrm>
          <a:prstGeom prst="rect">
            <a:avLst/>
          </a:prstGeom>
          <a:noFill/>
        </p:spPr>
        <p:txBody>
          <a:bodyPr wrap="square" rtlCol="0">
            <a:spAutoFit/>
          </a:bodyPr>
          <a:lstStyle/>
          <a:p>
            <a:pPr marL="0" indent="0" algn="l" fontAlgn="auto">
              <a:lnSpc>
                <a:spcPct val="110000"/>
              </a:lnSpc>
            </a:pPr>
            <a:r>
              <a:rPr lang="en-US" dirty="0">
                <a:solidFill>
                  <a:schemeClr val="tx1"/>
                </a:solidFill>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执行者也称角色，用一个人形图案（     ）表示。</a:t>
            </a:r>
          </a:p>
        </p:txBody>
      </p:sp>
      <p:pic>
        <p:nvPicPr>
          <p:cNvPr id="2" name="图片 155"/>
          <p:cNvPicPr>
            <a:picLocks noChangeAspect="1"/>
          </p:cNvPicPr>
          <p:nvPr/>
        </p:nvPicPr>
        <p:blipFill>
          <a:blip r:embed="rId16" cstate="print"/>
          <a:stretch>
            <a:fillRect/>
          </a:stretch>
        </p:blipFill>
        <p:spPr>
          <a:xfrm>
            <a:off x="10486106" y="969645"/>
            <a:ext cx="283210" cy="490855"/>
          </a:xfrm>
          <a:prstGeom prst="rect">
            <a:avLst/>
          </a:prstGeom>
          <a:noFill/>
          <a:ln w="9525">
            <a:noFill/>
          </a:ln>
        </p:spPr>
      </p:pic>
    </p:spTree>
  </p:cSld>
  <p:clrMapOvr>
    <a:masterClrMapping/>
  </p:clrMapOvr>
  <p:transition>
    <p:diamon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9" name="文本占位符 8">
            <a:extLst>
              <a:ext uri="{FF2B5EF4-FFF2-40B4-BE49-F238E27FC236}">
                <a16:creationId xmlns:a16="http://schemas.microsoft.com/office/drawing/2014/main" id="{B66D6281-42A3-F5A2-EABE-36BD52F4BD6D}"/>
              </a:ext>
            </a:extLst>
          </p:cNvPr>
          <p:cNvSpPr>
            <a:spLocks noGrp="1"/>
          </p:cNvSpPr>
          <p:nvPr>
            <p:ph type="body" sz="quarter" idx="10"/>
          </p:nvPr>
        </p:nvSpPr>
        <p:spPr>
          <a:xfrm>
            <a:off x="900001" y="1322832"/>
            <a:ext cx="5196000" cy="400110"/>
          </a:xfrm>
        </p:spPr>
        <p:txBody>
          <a:bodyPr/>
          <a:lstStyle/>
          <a:p>
            <a:r>
              <a:rPr lang="en-US" altLang="zh-CN" dirty="0"/>
              <a:t>6.3.1 </a:t>
            </a:r>
            <a:r>
              <a:rPr lang="zh-CN" altLang="en-US" dirty="0"/>
              <a:t>用例图</a:t>
            </a:r>
          </a:p>
        </p:txBody>
      </p:sp>
      <p:grpSp>
        <p:nvGrpSpPr>
          <p:cNvPr id="5" name="组合 4"/>
          <p:cNvGrpSpPr/>
          <p:nvPr/>
        </p:nvGrpSpPr>
        <p:grpSpPr>
          <a:xfrm>
            <a:off x="0" y="2506345"/>
            <a:ext cx="12192000" cy="3171825"/>
            <a:chOff x="0" y="3947"/>
            <a:chExt cx="19200" cy="4995"/>
          </a:xfrm>
        </p:grpSpPr>
        <p:sp>
          <p:nvSpPr>
            <p:cNvPr id="6" name="矩形 5"/>
            <p:cNvSpPr/>
            <p:nvPr/>
          </p:nvSpPr>
          <p:spPr>
            <a:xfrm>
              <a:off x="0" y="3947"/>
              <a:ext cx="19200" cy="4995"/>
            </a:xfrm>
            <a:prstGeom prst="rect">
              <a:avLst/>
            </a:prstGeom>
            <a:solidFill>
              <a:schemeClr val="accent3">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88" y="4559"/>
              <a:ext cx="17610" cy="3770"/>
              <a:chOff x="1188" y="4559"/>
              <a:chExt cx="17610" cy="3770"/>
            </a:xfrm>
          </p:grpSpPr>
          <p:sp>
            <p:nvSpPr>
              <p:cNvPr id="7" name="矩形 6"/>
              <p:cNvSpPr/>
              <p:nvPr/>
            </p:nvSpPr>
            <p:spPr>
              <a:xfrm>
                <a:off x="1188" y="4559"/>
                <a:ext cx="10281" cy="3770"/>
              </a:xfrm>
              <a:prstGeom prst="rect">
                <a:avLst/>
              </a:prstGeom>
            </p:spPr>
            <p:txBody>
              <a:bodyPr wrap="square">
                <a:spAutoFit/>
              </a:bodyPr>
              <a:lstStyle/>
              <a:p>
                <a:pPr indent="457200">
                  <a:lnSpc>
                    <a:spcPct val="120000"/>
                  </a:lnSpc>
                  <a:defRPr/>
                </a:pPr>
                <a:r>
                  <a:rPr dirty="0">
                    <a:solidFill>
                      <a:schemeClr val="bg1"/>
                    </a:solidFill>
                    <a:ea typeface="微软雅黑" panose="020B0503020204020204" charset="-122"/>
                  </a:rPr>
                  <a:t>执行者和用例之间要交换信息，称为通信联系。执行者与用例之间用线段连接，表示两者之间进行通信联系。</a:t>
                </a:r>
              </a:p>
              <a:p>
                <a:pPr indent="457200">
                  <a:lnSpc>
                    <a:spcPct val="120000"/>
                  </a:lnSpc>
                  <a:defRPr/>
                </a:pPr>
                <a:r>
                  <a:rPr dirty="0">
                    <a:solidFill>
                      <a:schemeClr val="bg1"/>
                    </a:solidFill>
                    <a:ea typeface="微软雅黑" panose="020B0503020204020204" charset="-122"/>
                  </a:rPr>
                  <a:t>执行者不一定是一个具体的人，可能是使用该系统的其他系统或设备等，但都用人形图案来表示。执行者激活用例，并与用例交换信息。单个执行者可与多个用例联系；反过来，一个用例也可与多个执行者联系。对于同一个用例，不同执行者起的作用也可以不同。</a:t>
                </a:r>
              </a:p>
            </p:txBody>
          </p:sp>
          <p:pic>
            <p:nvPicPr>
              <p:cNvPr id="4" name="图片 3" descr="A000220150318F01PPIC.png"/>
              <p:cNvPicPr>
                <a:picLocks noChangeAspect="1"/>
              </p:cNvPicPr>
              <p:nvPr/>
            </p:nvPicPr>
            <p:blipFill>
              <a:blip r:embed="rId2" cstate="print"/>
              <a:stretch>
                <a:fillRect/>
              </a:stretch>
            </p:blipFill>
            <p:spPr>
              <a:xfrm>
                <a:off x="11917" y="4560"/>
                <a:ext cx="6881" cy="3132"/>
              </a:xfrm>
              <a:prstGeom prst="rect">
                <a:avLst/>
              </a:prstGeom>
            </p:spPr>
          </p:pic>
        </p:grpSp>
      </p:grpSp>
    </p:spTree>
  </p:cSld>
  <p:clrMapOvr>
    <a:masterClrMapping/>
  </p:clrMapOvr>
  <p:transition>
    <p:diamon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8" name="文本占位符 7">
            <a:extLst>
              <a:ext uri="{FF2B5EF4-FFF2-40B4-BE49-F238E27FC236}">
                <a16:creationId xmlns:a16="http://schemas.microsoft.com/office/drawing/2014/main" id="{2A2B351C-5058-ED0B-5BD9-1BE69E9C05C7}"/>
              </a:ext>
            </a:extLst>
          </p:cNvPr>
          <p:cNvSpPr>
            <a:spLocks noGrp="1"/>
          </p:cNvSpPr>
          <p:nvPr>
            <p:ph type="body" sz="quarter" idx="10"/>
          </p:nvPr>
        </p:nvSpPr>
        <p:spPr>
          <a:xfrm>
            <a:off x="900001" y="1322832"/>
            <a:ext cx="5196000" cy="400110"/>
          </a:xfrm>
        </p:spPr>
        <p:txBody>
          <a:bodyPr/>
          <a:lstStyle/>
          <a:p>
            <a:r>
              <a:rPr lang="en-US" altLang="zh-CN" dirty="0"/>
              <a:t>6.3.1 </a:t>
            </a:r>
            <a:r>
              <a:rPr lang="zh-CN" altLang="en-US" dirty="0"/>
              <a:t>用例图</a:t>
            </a:r>
          </a:p>
        </p:txBody>
      </p:sp>
      <p:cxnSp>
        <p:nvCxnSpPr>
          <p:cNvPr id="9" name="直接箭头连接符 8"/>
          <p:cNvCxnSpPr/>
          <p:nvPr/>
        </p:nvCxnSpPr>
        <p:spPr>
          <a:xfrm>
            <a:off x="1962785"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0" name="右箭头"/>
          <p:cNvSpPr/>
          <p:nvPr/>
        </p:nvSpPr>
        <p:spPr>
          <a:xfrm flipH="1">
            <a:off x="1962785" y="4332605"/>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nvGrpSpPr>
          <p:cNvPr id="12" name="组合 11"/>
          <p:cNvGrpSpPr/>
          <p:nvPr/>
        </p:nvGrpSpPr>
        <p:grpSpPr>
          <a:xfrm>
            <a:off x="1885950" y="5638800"/>
            <a:ext cx="1271905" cy="137795"/>
            <a:chOff x="3091" y="8880"/>
            <a:chExt cx="2003" cy="217"/>
          </a:xfrm>
        </p:grpSpPr>
        <p:sp>
          <p:nvSpPr>
            <p:cNvPr id="2050" name="双向箭头"/>
            <p:cNvSpPr/>
            <p:nvPr/>
          </p:nvSpPr>
          <p:spPr bwMode="auto">
            <a:xfrm>
              <a:off x="3091" y="8881"/>
              <a:ext cx="1764" cy="216"/>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3282" y="8880"/>
              <a:ext cx="1813" cy="217"/>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grpSp>
        <p:nvGrpSpPr>
          <p:cNvPr id="2" name="组合 1"/>
          <p:cNvGrpSpPr/>
          <p:nvPr/>
        </p:nvGrpSpPr>
        <p:grpSpPr>
          <a:xfrm>
            <a:off x="2744470" y="2642990"/>
            <a:ext cx="7276265" cy="3283048"/>
            <a:chOff x="2182286" y="2117725"/>
            <a:chExt cx="8483000" cy="4341395"/>
          </a:xfrm>
        </p:grpSpPr>
        <p:sp>
          <p:nvSpPr>
            <p:cNvPr id="4" name="MH_Other_1"/>
            <p:cNvSpPr/>
            <p:nvPr/>
          </p:nvSpPr>
          <p:spPr>
            <a:xfrm>
              <a:off x="2497668" y="2719473"/>
              <a:ext cx="5185833" cy="2519947"/>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dirty="0">
                <a:solidFill>
                  <a:srgbClr val="FFFFFF"/>
                </a:solidFill>
                <a:latin typeface="微软雅黑 Light" panose="020B0502040204020203" pitchFamily="34" charset="-122"/>
                <a:ea typeface="微软雅黑" panose="020B0503020204020204" pitchFamily="34" charset="-122"/>
              </a:endParaRPr>
            </a:p>
          </p:txBody>
        </p:sp>
        <p:sp>
          <p:nvSpPr>
            <p:cNvPr id="5" name="MH_Desc_1"/>
            <p:cNvSpPr/>
            <p:nvPr/>
          </p:nvSpPr>
          <p:spPr>
            <a:xfrm>
              <a:off x="2182286" y="2117725"/>
              <a:ext cx="7970020" cy="4247311"/>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indent="457200">
                <a:lnSpc>
                  <a:spcPct val="140000"/>
                </a:lnSpc>
              </a:pPr>
              <a:r>
                <a:rPr sz="2400" dirty="0">
                  <a:latin typeface="+mn-ea"/>
                </a:rPr>
                <a:t>脚本是用例的实例。脚本是系统的一次具体执行过程。用例图中应尽可能包含所有的脚本，才能较完整地从用户使用的角度来描述系统的功能。</a:t>
              </a:r>
            </a:p>
          </p:txBody>
        </p:sp>
        <p:sp>
          <p:nvSpPr>
            <p:cNvPr id="6" name="MH_Other_2"/>
            <p:cNvSpPr/>
            <p:nvPr/>
          </p:nvSpPr>
          <p:spPr bwMode="auto">
            <a:xfrm>
              <a:off x="7623635" y="4101683"/>
              <a:ext cx="3041651" cy="2357437"/>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dirty="0">
                <a:solidFill>
                  <a:srgbClr val="FFFFFF"/>
                </a:solidFill>
                <a:latin typeface="微软雅黑 Light" panose="020B0502040204020203" pitchFamily="34" charset="-122"/>
                <a:ea typeface="微软雅黑" panose="020B0503020204020204" pitchFamily="34" charset="-122"/>
              </a:endParaRPr>
            </a:p>
          </p:txBody>
        </p:sp>
      </p:grpSp>
    </p:spTree>
  </p:cSld>
  <p:clrMapOvr>
    <a:masterClrMapping/>
  </p:clrMapOvr>
  <p:transition>
    <p:diamon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7E7BD63E-4CF3-25D8-F931-5CB7582517D8}"/>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6-1 </a:t>
            </a:r>
            <a:r>
              <a:rPr lang="zh-CN" altLang="en-US" dirty="0">
                <a:sym typeface="+mn-ea"/>
              </a:rPr>
              <a:t>画出饮用水自动售水系统的用例图。</a:t>
            </a:r>
          </a:p>
        </p:txBody>
      </p:sp>
      <p:cxnSp>
        <p:nvCxnSpPr>
          <p:cNvPr id="9" name="直接箭头连接符 8"/>
          <p:cNvCxnSpPr/>
          <p:nvPr/>
        </p:nvCxnSpPr>
        <p:spPr>
          <a:xfrm>
            <a:off x="1962785"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0" name="右箭头"/>
          <p:cNvSpPr/>
          <p:nvPr/>
        </p:nvSpPr>
        <p:spPr>
          <a:xfrm flipH="1">
            <a:off x="1962785" y="4332605"/>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4" name="矩形 23"/>
          <p:cNvSpPr>
            <a:spLocks noChangeAspect="1"/>
          </p:cNvSpPr>
          <p:nvPr/>
        </p:nvSpPr>
        <p:spPr>
          <a:xfrm>
            <a:off x="867410" y="2934970"/>
            <a:ext cx="10432415" cy="229870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3" name="TextBox 32"/>
          <p:cNvSpPr txBox="1"/>
          <p:nvPr/>
        </p:nvSpPr>
        <p:spPr>
          <a:xfrm>
            <a:off x="1010920" y="3220720"/>
            <a:ext cx="8586470" cy="417830"/>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081405" y="3137853"/>
            <a:ext cx="10004425" cy="1892935"/>
          </a:xfrm>
          <a:prstGeom prst="rect">
            <a:avLst/>
          </a:prstGeom>
          <a:solidFill>
            <a:schemeClr val="bg1">
              <a:lumMod val="95000"/>
            </a:schemeClr>
          </a:solidFill>
        </p:spPr>
        <p:txBody>
          <a:bodyPr wrap="square">
            <a:spAutoFit/>
          </a:bodyPr>
          <a:lstStyle/>
          <a:p>
            <a:pPr fontAlgn="auto">
              <a:lnSpc>
                <a:spcPct val="130000"/>
              </a:lnSpc>
            </a:pPr>
            <a:r>
              <a:rPr lang="en-US" altLang="en-US" dirty="0"/>
              <a:t>        饮用水自动售水系统的使用方法如下：供水正常时，绿灯亮，等待顾客投币。如果顾客投入一元硬币，则可以自动控制放水5 L；若投入五角硬币，可放水2.5 L；如果选择一元，投入两个五角硬币，也可放水5 L。如果连续放水较多，饮用水来不及供应，会亮红灯表示要求顾客等待，并会把顾客投入的硬币掉下来。供水恢复正常时，红灯灭、绿灯亮。顾客投入的硬币由收银员定期回收。要求画出该系统的用例图。</a:t>
            </a:r>
          </a:p>
        </p:txBody>
      </p:sp>
    </p:spTree>
  </p:cSld>
  <p:clrMapOvr>
    <a:masterClrMapping/>
  </p:clrMapOvr>
  <p:transition>
    <p:diamon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B5CDC710-DC06-FAD9-78A8-9C5B87F36892}"/>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6-1 </a:t>
            </a:r>
            <a:r>
              <a:rPr lang="zh-CN" altLang="en-US" dirty="0">
                <a:sym typeface="+mn-ea"/>
              </a:rPr>
              <a:t>画出饮用水自动售水系统的用例图。</a:t>
            </a:r>
          </a:p>
        </p:txBody>
      </p:sp>
      <p:cxnSp>
        <p:nvCxnSpPr>
          <p:cNvPr id="9" name="直接箭头连接符 8"/>
          <p:cNvCxnSpPr/>
          <p:nvPr/>
        </p:nvCxnSpPr>
        <p:spPr>
          <a:xfrm>
            <a:off x="1962785" y="509524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0" name="右箭头"/>
          <p:cNvSpPr/>
          <p:nvPr/>
        </p:nvSpPr>
        <p:spPr>
          <a:xfrm flipH="1">
            <a:off x="1962785" y="4332605"/>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双向箭头"/>
          <p:cNvSpPr/>
          <p:nvPr/>
        </p:nvSpPr>
        <p:spPr bwMode="auto">
          <a:xfrm>
            <a:off x="1885950" y="563943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1" name="直线箭头"/>
          <p:cNvSpPr/>
          <p:nvPr/>
        </p:nvSpPr>
        <p:spPr>
          <a:xfrm>
            <a:off x="2007235" y="563880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4" name="矩形 23"/>
          <p:cNvSpPr>
            <a:spLocks noChangeAspect="1"/>
          </p:cNvSpPr>
          <p:nvPr/>
        </p:nvSpPr>
        <p:spPr>
          <a:xfrm>
            <a:off x="913130" y="2707612"/>
            <a:ext cx="10432415" cy="321246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3" name="TextBox 32"/>
          <p:cNvSpPr txBox="1"/>
          <p:nvPr/>
        </p:nvSpPr>
        <p:spPr>
          <a:xfrm>
            <a:off x="1056640" y="3235960"/>
            <a:ext cx="8586470" cy="417830"/>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196657" y="2843184"/>
            <a:ext cx="9865360" cy="2941320"/>
          </a:xfrm>
          <a:prstGeom prst="rect">
            <a:avLst/>
          </a:prstGeom>
          <a:solidFill>
            <a:schemeClr val="bg1">
              <a:lumMod val="95000"/>
            </a:schemeClr>
          </a:solidFill>
        </p:spPr>
        <p:txBody>
          <a:bodyPr wrap="square">
            <a:spAutoFit/>
          </a:bodyPr>
          <a:lstStyle/>
          <a:p>
            <a:pPr fontAlgn="auto">
              <a:lnSpc>
                <a:spcPct val="130000"/>
              </a:lnSpc>
            </a:pPr>
            <a:r>
              <a:rPr lang="en-US" altLang="en-US" dirty="0"/>
              <a:t>        解：下面通过分析该系统的脚本、用例、执行者，从而画出用例图。</a:t>
            </a:r>
          </a:p>
          <a:p>
            <a:pPr fontAlgn="auto">
              <a:lnSpc>
                <a:spcPct val="130000"/>
              </a:lnSpc>
            </a:pPr>
            <a:r>
              <a:rPr lang="en-US" altLang="en-US" dirty="0"/>
              <a:t>        顾客甲投入一个一元硬币，系统收到钱后放出5 L水，这个过程就是一个脚本。饮用水自动售水系统中，投入硬币的人可以是甲，也可以是乙，但是甲或乙不能称为执行者。因为具体某个人，如甲，可以放入一元硬币，也可以放入五角硬币，还可以执行取款功能，把钱取走。</a:t>
            </a:r>
          </a:p>
          <a:p>
            <a:pPr fontAlgn="auto">
              <a:lnSpc>
                <a:spcPct val="130000"/>
              </a:lnSpc>
            </a:pPr>
            <a:r>
              <a:rPr lang="en-US" altLang="en-US" dirty="0"/>
              <a:t>根据系统功能，可以将执行者分为收银员和顾客两类。顾客可以投入一元或五角的硬币，顾客投入两个五角硬币和投入一个一元硬币的效果相同，因而顾客买水有两个脚本。如果系统饮用水产生得不够，系统亮红灯并把投入的硬币掉下来，这个过程是另一个脚本。收银员取款也是一个脚本。故系统共有4个脚本。图</a:t>
            </a:r>
            <a:r>
              <a:rPr lang="zh-CN" altLang="en-US" dirty="0"/>
              <a:t>示</a:t>
            </a:r>
            <a:r>
              <a:rPr lang="en-US" altLang="en-US" dirty="0"/>
              <a:t>是饮用水自动售水系统的用例图。</a:t>
            </a:r>
          </a:p>
        </p:txBody>
      </p:sp>
    </p:spTree>
  </p:cSld>
  <p:clrMapOvr>
    <a:masterClrMapping/>
  </p:clrMapOvr>
  <p:transition>
    <p:diamon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箭头连接符 3"/>
          <p:cNvCxnSpPr/>
          <p:nvPr/>
        </p:nvCxnSpPr>
        <p:spPr>
          <a:xfrm>
            <a:off x="1962785" y="4610048"/>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 name="右箭头"/>
          <p:cNvSpPr/>
          <p:nvPr/>
        </p:nvSpPr>
        <p:spPr>
          <a:xfrm flipH="1">
            <a:off x="1962785" y="3847413"/>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7" name="双向箭头"/>
          <p:cNvSpPr/>
          <p:nvPr/>
        </p:nvSpPr>
        <p:spPr bwMode="auto">
          <a:xfrm>
            <a:off x="1885950" y="5154243"/>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8" name="直线箭头"/>
          <p:cNvSpPr/>
          <p:nvPr/>
        </p:nvSpPr>
        <p:spPr>
          <a:xfrm>
            <a:off x="2007235" y="5153608"/>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1" name="矩形 10"/>
          <p:cNvSpPr>
            <a:spLocks noChangeAspect="1"/>
          </p:cNvSpPr>
          <p:nvPr/>
        </p:nvSpPr>
        <p:spPr>
          <a:xfrm>
            <a:off x="879793" y="2465018"/>
            <a:ext cx="10432415" cy="341756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13" name="TextBox 12"/>
          <p:cNvSpPr txBox="1"/>
          <p:nvPr/>
        </p:nvSpPr>
        <p:spPr>
          <a:xfrm>
            <a:off x="1056640" y="2750768"/>
            <a:ext cx="8586470" cy="417830"/>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18" name="标题 2"/>
          <p:cNvSpPr txBox="1">
            <a:spLocks/>
          </p:cNvSpPr>
          <p:nvPr/>
        </p:nvSpPr>
        <p:spPr>
          <a:xfrm>
            <a:off x="906463" y="413658"/>
            <a:ext cx="8415337" cy="855290"/>
          </a:xfrm>
          <a:prstGeom prst="rect">
            <a:avLst/>
          </a:prstGeom>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zh-CN" altLang="en-US" sz="3600" b="0" i="0" u="none" strike="noStrike" kern="1200" cap="none" spc="0" normalizeH="0" baseline="0" noProof="0" dirty="0">
              <a:ln>
                <a:noFill/>
              </a:ln>
              <a:solidFill>
                <a:srgbClr val="FF0000"/>
              </a:solidFill>
              <a:effectLst/>
              <a:uLnTx/>
              <a:uFillTx/>
              <a:latin typeface="+mj-lt"/>
              <a:ea typeface="+mj-ea"/>
              <a:cs typeface="+mj-cs"/>
            </a:endParaRPr>
          </a:p>
        </p:txBody>
      </p:sp>
      <p:cxnSp>
        <p:nvCxnSpPr>
          <p:cNvPr id="14" name="直接箭头连接符 13">
            <a:extLst>
              <a:ext uri="{FF2B5EF4-FFF2-40B4-BE49-F238E27FC236}">
                <a16:creationId xmlns:a16="http://schemas.microsoft.com/office/drawing/2014/main" id="{CE2C0F39-6AC8-18A4-9480-48728548FD96}"/>
              </a:ext>
            </a:extLst>
          </p:cNvPr>
          <p:cNvCxnSpPr>
            <a:cxnSpLocks/>
          </p:cNvCxnSpPr>
          <p:nvPr/>
        </p:nvCxnSpPr>
        <p:spPr>
          <a:xfrm>
            <a:off x="2730136" y="501353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9" name="直线箭头">
            <a:extLst>
              <a:ext uri="{FF2B5EF4-FFF2-40B4-BE49-F238E27FC236}">
                <a16:creationId xmlns:a16="http://schemas.microsoft.com/office/drawing/2014/main" id="{E49918DC-0FE5-E86A-D619-DCAC82DDE539}"/>
              </a:ext>
            </a:extLst>
          </p:cNvPr>
          <p:cNvSpPr/>
          <p:nvPr/>
        </p:nvSpPr>
        <p:spPr>
          <a:xfrm>
            <a:off x="2712991" y="4018804"/>
            <a:ext cx="1118870" cy="19367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 name="右箭头">
            <a:extLst>
              <a:ext uri="{FF2B5EF4-FFF2-40B4-BE49-F238E27FC236}">
                <a16:creationId xmlns:a16="http://schemas.microsoft.com/office/drawing/2014/main" id="{55AF3FD0-0B6F-81EF-4A07-4DA3BC4CA963}"/>
              </a:ext>
            </a:extLst>
          </p:cNvPr>
          <p:cNvSpPr/>
          <p:nvPr/>
        </p:nvSpPr>
        <p:spPr>
          <a:xfrm flipH="1">
            <a:off x="2713309" y="4318207"/>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1" name="双向箭头">
            <a:extLst>
              <a:ext uri="{FF2B5EF4-FFF2-40B4-BE49-F238E27FC236}">
                <a16:creationId xmlns:a16="http://schemas.microsoft.com/office/drawing/2014/main" id="{276F094B-0E9D-F70E-34FC-A14072733830}"/>
              </a:ext>
            </a:extLst>
          </p:cNvPr>
          <p:cNvSpPr/>
          <p:nvPr/>
        </p:nvSpPr>
        <p:spPr bwMode="auto">
          <a:xfrm>
            <a:off x="3207319" y="555772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22" name="直线箭头">
            <a:extLst>
              <a:ext uri="{FF2B5EF4-FFF2-40B4-BE49-F238E27FC236}">
                <a16:creationId xmlns:a16="http://schemas.microsoft.com/office/drawing/2014/main" id="{970E8866-7ED5-6683-50E1-D1C92F7692C4}"/>
              </a:ext>
            </a:extLst>
          </p:cNvPr>
          <p:cNvSpPr/>
          <p:nvPr/>
        </p:nvSpPr>
        <p:spPr>
          <a:xfrm>
            <a:off x="3328604" y="555709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3" name="矩形 22">
            <a:extLst>
              <a:ext uri="{FF2B5EF4-FFF2-40B4-BE49-F238E27FC236}">
                <a16:creationId xmlns:a16="http://schemas.microsoft.com/office/drawing/2014/main" id="{5707CB20-D67B-E85A-CAC1-81074C7B40A9}"/>
              </a:ext>
            </a:extLst>
          </p:cNvPr>
          <p:cNvSpPr/>
          <p:nvPr/>
        </p:nvSpPr>
        <p:spPr>
          <a:xfrm>
            <a:off x="2142463" y="2577524"/>
            <a:ext cx="2160000" cy="324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zh-CN" altLang="en-US" sz="1600" dirty="0">
                <a:solidFill>
                  <a:schemeClr val="tx1"/>
                </a:solidFill>
              </a:rPr>
              <a:t>自动售水系统</a:t>
            </a:r>
          </a:p>
        </p:txBody>
      </p:sp>
      <p:sp>
        <p:nvSpPr>
          <p:cNvPr id="24" name="椭圆 23">
            <a:extLst>
              <a:ext uri="{FF2B5EF4-FFF2-40B4-BE49-F238E27FC236}">
                <a16:creationId xmlns:a16="http://schemas.microsoft.com/office/drawing/2014/main" id="{601CFE6A-27C4-B11B-AC0D-1A2224F099DE}"/>
              </a:ext>
            </a:extLst>
          </p:cNvPr>
          <p:cNvSpPr/>
          <p:nvPr/>
        </p:nvSpPr>
        <p:spPr>
          <a:xfrm>
            <a:off x="2815226" y="298129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一元</a:t>
            </a:r>
          </a:p>
        </p:txBody>
      </p:sp>
      <p:sp>
        <p:nvSpPr>
          <p:cNvPr id="25" name="椭圆 24">
            <a:extLst>
              <a:ext uri="{FF2B5EF4-FFF2-40B4-BE49-F238E27FC236}">
                <a16:creationId xmlns:a16="http://schemas.microsoft.com/office/drawing/2014/main" id="{92A77900-5FE3-64D3-983A-297DBD71ED7F}"/>
              </a:ext>
            </a:extLst>
          </p:cNvPr>
          <p:cNvSpPr/>
          <p:nvPr/>
        </p:nvSpPr>
        <p:spPr>
          <a:xfrm>
            <a:off x="2815226" y="3793696"/>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五角</a:t>
            </a:r>
          </a:p>
        </p:txBody>
      </p:sp>
      <p:sp>
        <p:nvSpPr>
          <p:cNvPr id="26" name="椭圆 25">
            <a:extLst>
              <a:ext uri="{FF2B5EF4-FFF2-40B4-BE49-F238E27FC236}">
                <a16:creationId xmlns:a16="http://schemas.microsoft.com/office/drawing/2014/main" id="{DC167578-3191-8908-7DE7-31DCAB8D45DD}"/>
              </a:ext>
            </a:extLst>
          </p:cNvPr>
          <p:cNvSpPr/>
          <p:nvPr/>
        </p:nvSpPr>
        <p:spPr>
          <a:xfrm>
            <a:off x="2815226" y="4478399"/>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退币</a:t>
            </a:r>
          </a:p>
        </p:txBody>
      </p:sp>
      <p:sp>
        <p:nvSpPr>
          <p:cNvPr id="27" name="椭圆 26">
            <a:extLst>
              <a:ext uri="{FF2B5EF4-FFF2-40B4-BE49-F238E27FC236}">
                <a16:creationId xmlns:a16="http://schemas.microsoft.com/office/drawing/2014/main" id="{1965CB1F-1D2E-6796-9483-78C019B1D7A9}"/>
              </a:ext>
            </a:extLst>
          </p:cNvPr>
          <p:cNvSpPr/>
          <p:nvPr/>
        </p:nvSpPr>
        <p:spPr>
          <a:xfrm>
            <a:off x="2815226" y="515293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取款</a:t>
            </a:r>
          </a:p>
        </p:txBody>
      </p:sp>
      <p:pic>
        <p:nvPicPr>
          <p:cNvPr id="28" name="图片 155">
            <a:extLst>
              <a:ext uri="{FF2B5EF4-FFF2-40B4-BE49-F238E27FC236}">
                <a16:creationId xmlns:a16="http://schemas.microsoft.com/office/drawing/2014/main" id="{BCEF64B2-E009-2B9F-4FA9-0D3F5AE2C511}"/>
              </a:ext>
            </a:extLst>
          </p:cNvPr>
          <p:cNvPicPr>
            <a:picLocks noChangeAspect="1"/>
          </p:cNvPicPr>
          <p:nvPr/>
        </p:nvPicPr>
        <p:blipFill>
          <a:blip r:embed="rId2" cstate="print"/>
          <a:stretch>
            <a:fillRect/>
          </a:stretch>
        </p:blipFill>
        <p:spPr>
          <a:xfrm>
            <a:off x="1596737" y="2909226"/>
            <a:ext cx="283210" cy="490855"/>
          </a:xfrm>
          <a:prstGeom prst="rect">
            <a:avLst/>
          </a:prstGeom>
          <a:noFill/>
          <a:ln w="9525">
            <a:noFill/>
          </a:ln>
        </p:spPr>
      </p:pic>
      <p:pic>
        <p:nvPicPr>
          <p:cNvPr id="29" name="图片 155">
            <a:extLst>
              <a:ext uri="{FF2B5EF4-FFF2-40B4-BE49-F238E27FC236}">
                <a16:creationId xmlns:a16="http://schemas.microsoft.com/office/drawing/2014/main" id="{0AEA19D8-E814-79FE-F808-161D6BCA84ED}"/>
              </a:ext>
            </a:extLst>
          </p:cNvPr>
          <p:cNvPicPr>
            <a:picLocks noChangeAspect="1"/>
          </p:cNvPicPr>
          <p:nvPr/>
        </p:nvPicPr>
        <p:blipFill>
          <a:blip r:embed="rId2" cstate="print"/>
          <a:stretch>
            <a:fillRect/>
          </a:stretch>
        </p:blipFill>
        <p:spPr>
          <a:xfrm>
            <a:off x="1596737" y="3721624"/>
            <a:ext cx="283210" cy="490855"/>
          </a:xfrm>
          <a:prstGeom prst="rect">
            <a:avLst/>
          </a:prstGeom>
          <a:noFill/>
          <a:ln w="9525">
            <a:noFill/>
          </a:ln>
        </p:spPr>
      </p:pic>
      <p:pic>
        <p:nvPicPr>
          <p:cNvPr id="30" name="图片 155">
            <a:extLst>
              <a:ext uri="{FF2B5EF4-FFF2-40B4-BE49-F238E27FC236}">
                <a16:creationId xmlns:a16="http://schemas.microsoft.com/office/drawing/2014/main" id="{03212A39-2DA1-6637-BDB1-27F73EB48141}"/>
              </a:ext>
            </a:extLst>
          </p:cNvPr>
          <p:cNvPicPr>
            <a:picLocks noChangeAspect="1"/>
          </p:cNvPicPr>
          <p:nvPr/>
        </p:nvPicPr>
        <p:blipFill>
          <a:blip r:embed="rId2" cstate="print"/>
          <a:stretch>
            <a:fillRect/>
          </a:stretch>
        </p:blipFill>
        <p:spPr>
          <a:xfrm>
            <a:off x="1593509" y="5080866"/>
            <a:ext cx="283210" cy="490855"/>
          </a:xfrm>
          <a:prstGeom prst="rect">
            <a:avLst/>
          </a:prstGeom>
          <a:noFill/>
          <a:ln w="9525">
            <a:noFill/>
          </a:ln>
        </p:spPr>
      </p:pic>
      <p:pic>
        <p:nvPicPr>
          <p:cNvPr id="31" name="图片 155">
            <a:extLst>
              <a:ext uri="{FF2B5EF4-FFF2-40B4-BE49-F238E27FC236}">
                <a16:creationId xmlns:a16="http://schemas.microsoft.com/office/drawing/2014/main" id="{7937A8F2-AA6E-DC4D-8146-805A6128E729}"/>
              </a:ext>
            </a:extLst>
          </p:cNvPr>
          <p:cNvPicPr>
            <a:picLocks noChangeAspect="1"/>
          </p:cNvPicPr>
          <p:nvPr/>
        </p:nvPicPr>
        <p:blipFill>
          <a:blip r:embed="rId2" cstate="print"/>
          <a:stretch>
            <a:fillRect/>
          </a:stretch>
        </p:blipFill>
        <p:spPr>
          <a:xfrm>
            <a:off x="4638728" y="4406327"/>
            <a:ext cx="283210" cy="490855"/>
          </a:xfrm>
          <a:prstGeom prst="rect">
            <a:avLst/>
          </a:prstGeom>
          <a:noFill/>
          <a:ln w="9525">
            <a:noFill/>
          </a:ln>
        </p:spPr>
      </p:pic>
      <p:cxnSp>
        <p:nvCxnSpPr>
          <p:cNvPr id="32" name="直接连接符 31">
            <a:extLst>
              <a:ext uri="{FF2B5EF4-FFF2-40B4-BE49-F238E27FC236}">
                <a16:creationId xmlns:a16="http://schemas.microsoft.com/office/drawing/2014/main" id="{3EABE9BA-DE59-CB44-D979-D9BDC9032029}"/>
              </a:ext>
            </a:extLst>
          </p:cNvPr>
          <p:cNvCxnSpPr>
            <a:stCxn id="28" idx="3"/>
            <a:endCxn id="24" idx="2"/>
          </p:cNvCxnSpPr>
          <p:nvPr/>
        </p:nvCxnSpPr>
        <p:spPr>
          <a:xfrm flipV="1">
            <a:off x="1879947" y="3154653"/>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5D81398D-BA5E-B7AA-A32B-CA518BBF0C1A}"/>
              </a:ext>
            </a:extLst>
          </p:cNvPr>
          <p:cNvCxnSpPr>
            <a:stCxn id="29" idx="3"/>
            <a:endCxn id="25" idx="2"/>
          </p:cNvCxnSpPr>
          <p:nvPr/>
        </p:nvCxnSpPr>
        <p:spPr>
          <a:xfrm flipV="1">
            <a:off x="1879947" y="3967051"/>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F230C641-DB42-4572-5866-43A40E8A38BC}"/>
              </a:ext>
            </a:extLst>
          </p:cNvPr>
          <p:cNvCxnSpPr>
            <a:stCxn id="30" idx="3"/>
            <a:endCxn id="27" idx="2"/>
          </p:cNvCxnSpPr>
          <p:nvPr/>
        </p:nvCxnSpPr>
        <p:spPr>
          <a:xfrm flipV="1">
            <a:off x="1876719" y="5326293"/>
            <a:ext cx="93850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E3230236-FE47-84B1-1350-71A41A5AACB5}"/>
              </a:ext>
            </a:extLst>
          </p:cNvPr>
          <p:cNvCxnSpPr>
            <a:stCxn id="26" idx="6"/>
            <a:endCxn id="31" idx="1"/>
          </p:cNvCxnSpPr>
          <p:nvPr/>
        </p:nvCxnSpPr>
        <p:spPr>
          <a:xfrm>
            <a:off x="3729626" y="4651754"/>
            <a:ext cx="90910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CC431FCB-AD46-D920-8801-6814C40F33AB}"/>
              </a:ext>
            </a:extLst>
          </p:cNvPr>
          <p:cNvSpPr txBox="1"/>
          <p:nvPr/>
        </p:nvSpPr>
        <p:spPr>
          <a:xfrm>
            <a:off x="4508464" y="4873404"/>
            <a:ext cx="543739" cy="307777"/>
          </a:xfrm>
          <a:prstGeom prst="rect">
            <a:avLst/>
          </a:prstGeom>
          <a:noFill/>
        </p:spPr>
        <p:txBody>
          <a:bodyPr wrap="none" rtlCol="0">
            <a:spAutoFit/>
          </a:bodyPr>
          <a:lstStyle/>
          <a:p>
            <a:r>
              <a:rPr lang="zh-CN" altLang="en-US" sz="1400" dirty="0"/>
              <a:t>顾客</a:t>
            </a:r>
          </a:p>
        </p:txBody>
      </p:sp>
      <p:sp>
        <p:nvSpPr>
          <p:cNvPr id="37" name="文本框 36">
            <a:extLst>
              <a:ext uri="{FF2B5EF4-FFF2-40B4-BE49-F238E27FC236}">
                <a16:creationId xmlns:a16="http://schemas.microsoft.com/office/drawing/2014/main" id="{F250BAC1-6954-F76A-2062-7BA340F0B20B}"/>
              </a:ext>
            </a:extLst>
          </p:cNvPr>
          <p:cNvSpPr txBox="1"/>
          <p:nvPr/>
        </p:nvSpPr>
        <p:spPr>
          <a:xfrm>
            <a:off x="1466473" y="3345218"/>
            <a:ext cx="543739" cy="307777"/>
          </a:xfrm>
          <a:prstGeom prst="rect">
            <a:avLst/>
          </a:prstGeom>
          <a:noFill/>
        </p:spPr>
        <p:txBody>
          <a:bodyPr wrap="none" rtlCol="0">
            <a:spAutoFit/>
          </a:bodyPr>
          <a:lstStyle/>
          <a:p>
            <a:r>
              <a:rPr lang="zh-CN" altLang="en-US" sz="1400" dirty="0"/>
              <a:t>顾客</a:t>
            </a:r>
          </a:p>
        </p:txBody>
      </p:sp>
      <p:sp>
        <p:nvSpPr>
          <p:cNvPr id="38" name="文本框 37">
            <a:extLst>
              <a:ext uri="{FF2B5EF4-FFF2-40B4-BE49-F238E27FC236}">
                <a16:creationId xmlns:a16="http://schemas.microsoft.com/office/drawing/2014/main" id="{2E065058-7C6B-E44D-FE92-1ACD4BAA79BE}"/>
              </a:ext>
            </a:extLst>
          </p:cNvPr>
          <p:cNvSpPr txBox="1"/>
          <p:nvPr/>
        </p:nvSpPr>
        <p:spPr>
          <a:xfrm>
            <a:off x="1466473" y="4170501"/>
            <a:ext cx="543739" cy="307777"/>
          </a:xfrm>
          <a:prstGeom prst="rect">
            <a:avLst/>
          </a:prstGeom>
          <a:noFill/>
        </p:spPr>
        <p:txBody>
          <a:bodyPr wrap="none" rtlCol="0">
            <a:spAutoFit/>
          </a:bodyPr>
          <a:lstStyle/>
          <a:p>
            <a:r>
              <a:rPr lang="zh-CN" altLang="en-US" sz="1400" dirty="0"/>
              <a:t>顾客</a:t>
            </a:r>
          </a:p>
        </p:txBody>
      </p:sp>
      <p:sp>
        <p:nvSpPr>
          <p:cNvPr id="39" name="文本框 38">
            <a:extLst>
              <a:ext uri="{FF2B5EF4-FFF2-40B4-BE49-F238E27FC236}">
                <a16:creationId xmlns:a16="http://schemas.microsoft.com/office/drawing/2014/main" id="{824BD16D-D48F-92D7-968D-F0724B98768C}"/>
              </a:ext>
            </a:extLst>
          </p:cNvPr>
          <p:cNvSpPr txBox="1"/>
          <p:nvPr/>
        </p:nvSpPr>
        <p:spPr>
          <a:xfrm>
            <a:off x="1373477" y="5574802"/>
            <a:ext cx="723275" cy="307777"/>
          </a:xfrm>
          <a:prstGeom prst="rect">
            <a:avLst/>
          </a:prstGeom>
          <a:noFill/>
        </p:spPr>
        <p:txBody>
          <a:bodyPr wrap="none" rtlCol="0">
            <a:spAutoFit/>
          </a:bodyPr>
          <a:lstStyle/>
          <a:p>
            <a:r>
              <a:rPr lang="zh-CN" altLang="en-US" sz="1400" dirty="0"/>
              <a:t>收银员</a:t>
            </a:r>
          </a:p>
        </p:txBody>
      </p:sp>
      <p:sp>
        <p:nvSpPr>
          <p:cNvPr id="40" name="标题 39">
            <a:extLst>
              <a:ext uri="{FF2B5EF4-FFF2-40B4-BE49-F238E27FC236}">
                <a16:creationId xmlns:a16="http://schemas.microsoft.com/office/drawing/2014/main" id="{FC513700-38D9-E27E-4348-FBEA77D669D4}"/>
              </a:ext>
            </a:extLst>
          </p:cNvPr>
          <p:cNvSpPr>
            <a:spLocks noGrp="1"/>
          </p:cNvSpPr>
          <p:nvPr>
            <p:ph type="title"/>
          </p:nvPr>
        </p:nvSpPr>
        <p:spPr>
          <a:xfrm>
            <a:off x="694801" y="360000"/>
            <a:ext cx="5401200" cy="523220"/>
          </a:xfrm>
        </p:spPr>
        <p:txBody>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41" name="文本占位符 40">
            <a:extLst>
              <a:ext uri="{FF2B5EF4-FFF2-40B4-BE49-F238E27FC236}">
                <a16:creationId xmlns:a16="http://schemas.microsoft.com/office/drawing/2014/main" id="{6858C012-2218-75AB-0E9D-C77C424F3F56}"/>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6-1 </a:t>
            </a:r>
            <a:r>
              <a:rPr lang="zh-CN" altLang="en-US" dirty="0">
                <a:sym typeface="+mn-ea"/>
              </a:rPr>
              <a:t>画出饮用水自动售水系统的用例图。</a:t>
            </a:r>
          </a:p>
        </p:txBody>
      </p:sp>
      <p:cxnSp>
        <p:nvCxnSpPr>
          <p:cNvPr id="2" name="直接箭头连接符 1">
            <a:extLst>
              <a:ext uri="{FF2B5EF4-FFF2-40B4-BE49-F238E27FC236}">
                <a16:creationId xmlns:a16="http://schemas.microsoft.com/office/drawing/2014/main" id="{B6AE965E-82A2-97CF-E64B-23242E1E223D}"/>
              </a:ext>
            </a:extLst>
          </p:cNvPr>
          <p:cNvCxnSpPr>
            <a:cxnSpLocks/>
          </p:cNvCxnSpPr>
          <p:nvPr/>
        </p:nvCxnSpPr>
        <p:spPr>
          <a:xfrm>
            <a:off x="8715723" y="5013530"/>
            <a:ext cx="1084580" cy="1905"/>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 name="直线箭头">
            <a:extLst>
              <a:ext uri="{FF2B5EF4-FFF2-40B4-BE49-F238E27FC236}">
                <a16:creationId xmlns:a16="http://schemas.microsoft.com/office/drawing/2014/main" id="{2B265679-71DA-559B-9213-E091E4674F7F}"/>
              </a:ext>
            </a:extLst>
          </p:cNvPr>
          <p:cNvSpPr/>
          <p:nvPr/>
        </p:nvSpPr>
        <p:spPr>
          <a:xfrm>
            <a:off x="8698578" y="4018804"/>
            <a:ext cx="1118870" cy="19367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6" name="右箭头">
            <a:extLst>
              <a:ext uri="{FF2B5EF4-FFF2-40B4-BE49-F238E27FC236}">
                <a16:creationId xmlns:a16="http://schemas.microsoft.com/office/drawing/2014/main" id="{80CDF686-F78B-6AB8-984F-DE03819BFFE6}"/>
              </a:ext>
            </a:extLst>
          </p:cNvPr>
          <p:cNvSpPr/>
          <p:nvPr/>
        </p:nvSpPr>
        <p:spPr>
          <a:xfrm flipH="1">
            <a:off x="8698896" y="4318207"/>
            <a:ext cx="1118235" cy="137160"/>
          </a:xfrm>
          <a:custGeom>
            <a:avLst/>
            <a:gdLst>
              <a:gd name="connsiteX0" fmla="*/ 1240677 w 4290025"/>
              <a:gd name="connsiteY0" fmla="*/ 0 h 1695451"/>
              <a:gd name="connsiteX1" fmla="*/ 1749568 w 4290025"/>
              <a:gd name="connsiteY1" fmla="*/ 0 h 1695451"/>
              <a:gd name="connsiteX2" fmla="*/ 776733 w 4290025"/>
              <a:gd name="connsiteY2" fmla="*/ 1329431 h 1695451"/>
              <a:gd name="connsiteX3" fmla="*/ 4290025 w 4290025"/>
              <a:gd name="connsiteY3" fmla="*/ 1329431 h 1695451"/>
              <a:gd name="connsiteX4" fmla="*/ 4290025 w 4290025"/>
              <a:gd name="connsiteY4" fmla="*/ 1695451 h 1695451"/>
              <a:gd name="connsiteX5" fmla="*/ 0 w 4290025"/>
              <a:gd name="connsiteY5" fmla="*/ 1695451 h 169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0025" h="1695451">
                <a:moveTo>
                  <a:pt x="1240677" y="0"/>
                </a:moveTo>
                <a:lnTo>
                  <a:pt x="1749568" y="0"/>
                </a:lnTo>
                <a:lnTo>
                  <a:pt x="776733" y="1329431"/>
                </a:lnTo>
                <a:lnTo>
                  <a:pt x="4290025" y="1329431"/>
                </a:lnTo>
                <a:lnTo>
                  <a:pt x="4290025" y="1695451"/>
                </a:lnTo>
                <a:lnTo>
                  <a:pt x="0" y="16954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9" name="双向箭头">
            <a:extLst>
              <a:ext uri="{FF2B5EF4-FFF2-40B4-BE49-F238E27FC236}">
                <a16:creationId xmlns:a16="http://schemas.microsoft.com/office/drawing/2014/main" id="{77521082-4F3A-9FC3-13F6-2AEE849485DF}"/>
              </a:ext>
            </a:extLst>
          </p:cNvPr>
          <p:cNvSpPr/>
          <p:nvPr/>
        </p:nvSpPr>
        <p:spPr bwMode="auto">
          <a:xfrm>
            <a:off x="9192906" y="5557725"/>
            <a:ext cx="1120140" cy="137160"/>
          </a:xfrm>
          <a:custGeom>
            <a:avLst/>
            <a:gdLst>
              <a:gd name="T0" fmla="*/ 227471085 w 5356"/>
              <a:gd name="T1" fmla="*/ 228095693 h 2003"/>
              <a:gd name="T2" fmla="*/ 227471085 w 5356"/>
              <a:gd name="T3" fmla="*/ 228095693 h 2003"/>
              <a:gd name="T4" fmla="*/ 227471085 w 5356"/>
              <a:gd name="T5" fmla="*/ 228095693 h 2003"/>
              <a:gd name="T6" fmla="*/ 227471085 w 5356"/>
              <a:gd name="T7" fmla="*/ 228095693 h 2003"/>
              <a:gd name="T8" fmla="*/ 227471085 w 5356"/>
              <a:gd name="T9" fmla="*/ 228095693 h 2003"/>
              <a:gd name="T10" fmla="*/ 227471085 w 5356"/>
              <a:gd name="T11" fmla="*/ 228095693 h 2003"/>
              <a:gd name="T12" fmla="*/ 227471085 w 5356"/>
              <a:gd name="T13" fmla="*/ 228095693 h 2003"/>
              <a:gd name="T14" fmla="*/ 227471085 w 5356"/>
              <a:gd name="T15" fmla="*/ 228095693 h 2003"/>
              <a:gd name="T16" fmla="*/ 227471085 w 5356"/>
              <a:gd name="T17" fmla="*/ 228095693 h 2003"/>
              <a:gd name="T18" fmla="*/ 227471085 w 5356"/>
              <a:gd name="T19" fmla="*/ 228095693 h 2003"/>
              <a:gd name="T20" fmla="*/ 227471085 w 5356"/>
              <a:gd name="T21" fmla="*/ 228095693 h 2003"/>
              <a:gd name="T22" fmla="*/ 227471085 w 5356"/>
              <a:gd name="T23" fmla="*/ 228095693 h 2003"/>
              <a:gd name="T24" fmla="*/ 227471085 w 5356"/>
              <a:gd name="T25" fmla="*/ 228095693 h 2003"/>
              <a:gd name="T26" fmla="*/ 227471085 w 5356"/>
              <a:gd name="T27" fmla="*/ 228095693 h 2003"/>
              <a:gd name="T28" fmla="*/ 227471085 w 5356"/>
              <a:gd name="T29" fmla="*/ 228095693 h 2003"/>
              <a:gd name="T30" fmla="*/ 227471085 w 5356"/>
              <a:gd name="T31" fmla="*/ 228095693 h 2003"/>
              <a:gd name="T32" fmla="*/ 227471085 w 5356"/>
              <a:gd name="T33" fmla="*/ 228095693 h 2003"/>
              <a:gd name="T34" fmla="*/ 227471085 w 5356"/>
              <a:gd name="T35" fmla="*/ 228095693 h 2003"/>
              <a:gd name="T36" fmla="*/ 227471085 w 5356"/>
              <a:gd name="T37" fmla="*/ 228095693 h 2003"/>
              <a:gd name="T38" fmla="*/ 227471085 w 5356"/>
              <a:gd name="T39" fmla="*/ 228095693 h 2003"/>
              <a:gd name="T40" fmla="*/ 227471085 w 5356"/>
              <a:gd name="T41" fmla="*/ 228095693 h 2003"/>
              <a:gd name="T42" fmla="*/ 227471085 w 5356"/>
              <a:gd name="T43" fmla="*/ 228095693 h 2003"/>
              <a:gd name="T44" fmla="*/ 227471085 w 5356"/>
              <a:gd name="T45" fmla="*/ 228095693 h 2003"/>
              <a:gd name="T46" fmla="*/ 227471085 w 5356"/>
              <a:gd name="T47" fmla="*/ 228095693 h 2003"/>
              <a:gd name="T48" fmla="*/ 227471085 w 5356"/>
              <a:gd name="T49" fmla="*/ 228095693 h 2003"/>
              <a:gd name="T50" fmla="*/ 227471085 w 5356"/>
              <a:gd name="T51" fmla="*/ 228095693 h 2003"/>
              <a:gd name="T52" fmla="*/ 227471085 w 5356"/>
              <a:gd name="T53" fmla="*/ 228095693 h 2003"/>
              <a:gd name="T54" fmla="*/ 227471085 w 5356"/>
              <a:gd name="T55" fmla="*/ 228095693 h 2003"/>
              <a:gd name="T56" fmla="*/ 227471085 w 5356"/>
              <a:gd name="T57" fmla="*/ 228095693 h 2003"/>
              <a:gd name="T58" fmla="*/ 227471085 w 5356"/>
              <a:gd name="T59" fmla="*/ 228095693 h 2003"/>
              <a:gd name="T60" fmla="*/ 227471085 w 5356"/>
              <a:gd name="T61" fmla="*/ 228095693 h 2003"/>
              <a:gd name="T62" fmla="*/ 227471085 w 5356"/>
              <a:gd name="T63" fmla="*/ 228095693 h 2003"/>
              <a:gd name="T64" fmla="*/ 227471085 w 5356"/>
              <a:gd name="T65" fmla="*/ 228095693 h 2003"/>
              <a:gd name="T66" fmla="*/ 227471085 w 5356"/>
              <a:gd name="T67" fmla="*/ 228095693 h 2003"/>
              <a:gd name="T68" fmla="*/ 227471085 w 5356"/>
              <a:gd name="T69" fmla="*/ 228095693 h 2003"/>
              <a:gd name="T70" fmla="*/ 227471085 w 5356"/>
              <a:gd name="T71" fmla="*/ 228095693 h 2003"/>
              <a:gd name="T72" fmla="*/ 227471085 w 5356"/>
              <a:gd name="T73" fmla="*/ 228095693 h 2003"/>
              <a:gd name="T74" fmla="*/ 227471085 w 5356"/>
              <a:gd name="T75" fmla="*/ 228095693 h 2003"/>
              <a:gd name="T76" fmla="*/ 227471085 w 5356"/>
              <a:gd name="T77" fmla="*/ 228095693 h 2003"/>
              <a:gd name="T78" fmla="*/ 227471085 w 5356"/>
              <a:gd name="T79" fmla="*/ 228095693 h 2003"/>
              <a:gd name="T80" fmla="*/ 227471085 w 5356"/>
              <a:gd name="T81" fmla="*/ 228095693 h 2003"/>
              <a:gd name="T82" fmla="*/ 227471085 w 5356"/>
              <a:gd name="T83" fmla="*/ 228095693 h 2003"/>
              <a:gd name="T84" fmla="*/ 227471085 w 5356"/>
              <a:gd name="T85" fmla="*/ 228095693 h 2003"/>
              <a:gd name="T86" fmla="*/ 227471085 w 5356"/>
              <a:gd name="T87" fmla="*/ 228095693 h 2003"/>
              <a:gd name="T88" fmla="*/ 227471085 w 5356"/>
              <a:gd name="T89" fmla="*/ 228095693 h 2003"/>
              <a:gd name="T90" fmla="*/ 227471085 w 5356"/>
              <a:gd name="T91" fmla="*/ 228095693 h 2003"/>
              <a:gd name="T92" fmla="*/ 227471085 w 5356"/>
              <a:gd name="T93" fmla="*/ 228095693 h 2003"/>
              <a:gd name="T94" fmla="*/ 227471085 w 5356"/>
              <a:gd name="T95" fmla="*/ 228095693 h 2003"/>
              <a:gd name="T96" fmla="*/ 227471085 w 5356"/>
              <a:gd name="T97" fmla="*/ 228095693 h 2003"/>
              <a:gd name="T98" fmla="*/ 227471085 w 5356"/>
              <a:gd name="T99" fmla="*/ 228095693 h 2003"/>
              <a:gd name="T100" fmla="*/ 227471085 w 5356"/>
              <a:gd name="T101" fmla="*/ 228095693 h 2003"/>
              <a:gd name="T102" fmla="*/ 227471085 w 5356"/>
              <a:gd name="T103" fmla="*/ 228095693 h 2003"/>
              <a:gd name="T104" fmla="*/ 227471085 w 5356"/>
              <a:gd name="T105" fmla="*/ 228095693 h 2003"/>
              <a:gd name="T106" fmla="*/ 227471085 w 5356"/>
              <a:gd name="T107" fmla="*/ 228095693 h 20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56" h="2003">
                <a:moveTo>
                  <a:pt x="4544" y="908"/>
                </a:moveTo>
                <a:lnTo>
                  <a:pt x="4544" y="908"/>
                </a:lnTo>
                <a:lnTo>
                  <a:pt x="4516" y="886"/>
                </a:lnTo>
                <a:lnTo>
                  <a:pt x="4488" y="864"/>
                </a:lnTo>
                <a:lnTo>
                  <a:pt x="4462" y="841"/>
                </a:lnTo>
                <a:lnTo>
                  <a:pt x="4437" y="818"/>
                </a:lnTo>
                <a:lnTo>
                  <a:pt x="4411" y="794"/>
                </a:lnTo>
                <a:lnTo>
                  <a:pt x="4387" y="770"/>
                </a:lnTo>
                <a:lnTo>
                  <a:pt x="4364" y="746"/>
                </a:lnTo>
                <a:lnTo>
                  <a:pt x="4342" y="721"/>
                </a:lnTo>
                <a:lnTo>
                  <a:pt x="4320" y="695"/>
                </a:lnTo>
                <a:lnTo>
                  <a:pt x="4300" y="670"/>
                </a:lnTo>
                <a:lnTo>
                  <a:pt x="4280" y="643"/>
                </a:lnTo>
                <a:lnTo>
                  <a:pt x="4262" y="618"/>
                </a:lnTo>
                <a:lnTo>
                  <a:pt x="4244" y="590"/>
                </a:lnTo>
                <a:lnTo>
                  <a:pt x="4227" y="564"/>
                </a:lnTo>
                <a:lnTo>
                  <a:pt x="4211" y="536"/>
                </a:lnTo>
                <a:lnTo>
                  <a:pt x="4196" y="509"/>
                </a:lnTo>
                <a:lnTo>
                  <a:pt x="4182" y="482"/>
                </a:lnTo>
                <a:lnTo>
                  <a:pt x="4170" y="454"/>
                </a:lnTo>
                <a:lnTo>
                  <a:pt x="4157" y="425"/>
                </a:lnTo>
                <a:lnTo>
                  <a:pt x="4146" y="396"/>
                </a:lnTo>
                <a:lnTo>
                  <a:pt x="4135" y="366"/>
                </a:lnTo>
                <a:lnTo>
                  <a:pt x="4126" y="336"/>
                </a:lnTo>
                <a:lnTo>
                  <a:pt x="4117" y="305"/>
                </a:lnTo>
                <a:lnTo>
                  <a:pt x="4109" y="273"/>
                </a:lnTo>
                <a:lnTo>
                  <a:pt x="4102" y="241"/>
                </a:lnTo>
                <a:lnTo>
                  <a:pt x="4095" y="208"/>
                </a:lnTo>
                <a:lnTo>
                  <a:pt x="4089" y="175"/>
                </a:lnTo>
                <a:lnTo>
                  <a:pt x="4085" y="141"/>
                </a:lnTo>
                <a:lnTo>
                  <a:pt x="4081" y="107"/>
                </a:lnTo>
                <a:lnTo>
                  <a:pt x="4079" y="72"/>
                </a:lnTo>
                <a:lnTo>
                  <a:pt x="4077" y="36"/>
                </a:lnTo>
                <a:lnTo>
                  <a:pt x="4075" y="0"/>
                </a:lnTo>
                <a:lnTo>
                  <a:pt x="4102" y="0"/>
                </a:lnTo>
                <a:lnTo>
                  <a:pt x="4166" y="69"/>
                </a:lnTo>
                <a:lnTo>
                  <a:pt x="4232" y="137"/>
                </a:lnTo>
                <a:lnTo>
                  <a:pt x="4300" y="204"/>
                </a:lnTo>
                <a:lnTo>
                  <a:pt x="4369" y="269"/>
                </a:lnTo>
                <a:lnTo>
                  <a:pt x="4440" y="334"/>
                </a:lnTo>
                <a:lnTo>
                  <a:pt x="4513" y="398"/>
                </a:lnTo>
                <a:lnTo>
                  <a:pt x="4586" y="460"/>
                </a:lnTo>
                <a:lnTo>
                  <a:pt x="4662" y="523"/>
                </a:lnTo>
                <a:lnTo>
                  <a:pt x="4739" y="584"/>
                </a:lnTo>
                <a:lnTo>
                  <a:pt x="4820" y="645"/>
                </a:lnTo>
                <a:lnTo>
                  <a:pt x="4903" y="704"/>
                </a:lnTo>
                <a:lnTo>
                  <a:pt x="4989" y="764"/>
                </a:lnTo>
                <a:lnTo>
                  <a:pt x="5076" y="824"/>
                </a:lnTo>
                <a:lnTo>
                  <a:pt x="5167" y="884"/>
                </a:lnTo>
                <a:lnTo>
                  <a:pt x="5260" y="943"/>
                </a:lnTo>
                <a:lnTo>
                  <a:pt x="5356" y="1002"/>
                </a:lnTo>
                <a:lnTo>
                  <a:pt x="5356" y="1029"/>
                </a:lnTo>
                <a:lnTo>
                  <a:pt x="5260" y="1085"/>
                </a:lnTo>
                <a:lnTo>
                  <a:pt x="5167" y="1143"/>
                </a:lnTo>
                <a:lnTo>
                  <a:pt x="5076" y="1200"/>
                </a:lnTo>
                <a:lnTo>
                  <a:pt x="4989" y="1259"/>
                </a:lnTo>
                <a:lnTo>
                  <a:pt x="4903" y="1318"/>
                </a:lnTo>
                <a:lnTo>
                  <a:pt x="4820" y="1376"/>
                </a:lnTo>
                <a:lnTo>
                  <a:pt x="4739" y="1435"/>
                </a:lnTo>
                <a:lnTo>
                  <a:pt x="4662" y="1495"/>
                </a:lnTo>
                <a:lnTo>
                  <a:pt x="4586" y="1556"/>
                </a:lnTo>
                <a:lnTo>
                  <a:pt x="4513" y="1617"/>
                </a:lnTo>
                <a:lnTo>
                  <a:pt x="4440" y="1680"/>
                </a:lnTo>
                <a:lnTo>
                  <a:pt x="4369" y="1743"/>
                </a:lnTo>
                <a:lnTo>
                  <a:pt x="4300" y="1808"/>
                </a:lnTo>
                <a:lnTo>
                  <a:pt x="4232" y="1872"/>
                </a:lnTo>
                <a:lnTo>
                  <a:pt x="4166" y="1938"/>
                </a:lnTo>
                <a:lnTo>
                  <a:pt x="4102" y="2003"/>
                </a:lnTo>
                <a:lnTo>
                  <a:pt x="4075" y="2003"/>
                </a:lnTo>
                <a:lnTo>
                  <a:pt x="4077" y="1969"/>
                </a:lnTo>
                <a:lnTo>
                  <a:pt x="4079" y="1934"/>
                </a:lnTo>
                <a:lnTo>
                  <a:pt x="4081" y="1900"/>
                </a:lnTo>
                <a:lnTo>
                  <a:pt x="4085" y="1866"/>
                </a:lnTo>
                <a:lnTo>
                  <a:pt x="4089" y="1834"/>
                </a:lnTo>
                <a:lnTo>
                  <a:pt x="4095" y="1802"/>
                </a:lnTo>
                <a:lnTo>
                  <a:pt x="4102" y="1770"/>
                </a:lnTo>
                <a:lnTo>
                  <a:pt x="4109" y="1739"/>
                </a:lnTo>
                <a:lnTo>
                  <a:pt x="4117" y="1708"/>
                </a:lnTo>
                <a:lnTo>
                  <a:pt x="4126" y="1678"/>
                </a:lnTo>
                <a:lnTo>
                  <a:pt x="4135" y="1648"/>
                </a:lnTo>
                <a:lnTo>
                  <a:pt x="4146" y="1619"/>
                </a:lnTo>
                <a:lnTo>
                  <a:pt x="4157" y="1590"/>
                </a:lnTo>
                <a:lnTo>
                  <a:pt x="4170" y="1563"/>
                </a:lnTo>
                <a:lnTo>
                  <a:pt x="4182" y="1535"/>
                </a:lnTo>
                <a:lnTo>
                  <a:pt x="4196" y="1509"/>
                </a:lnTo>
                <a:lnTo>
                  <a:pt x="4211" y="1481"/>
                </a:lnTo>
                <a:lnTo>
                  <a:pt x="4227" y="1455"/>
                </a:lnTo>
                <a:lnTo>
                  <a:pt x="4244" y="1428"/>
                </a:lnTo>
                <a:lnTo>
                  <a:pt x="4262" y="1403"/>
                </a:lnTo>
                <a:lnTo>
                  <a:pt x="4280" y="1376"/>
                </a:lnTo>
                <a:lnTo>
                  <a:pt x="4300" y="1351"/>
                </a:lnTo>
                <a:lnTo>
                  <a:pt x="4320" y="1327"/>
                </a:lnTo>
                <a:lnTo>
                  <a:pt x="4342" y="1302"/>
                </a:lnTo>
                <a:lnTo>
                  <a:pt x="4364" y="1277"/>
                </a:lnTo>
                <a:lnTo>
                  <a:pt x="4387" y="1254"/>
                </a:lnTo>
                <a:lnTo>
                  <a:pt x="4411" y="1230"/>
                </a:lnTo>
                <a:lnTo>
                  <a:pt x="4437" y="1207"/>
                </a:lnTo>
                <a:lnTo>
                  <a:pt x="4462" y="1185"/>
                </a:lnTo>
                <a:lnTo>
                  <a:pt x="4488" y="1163"/>
                </a:lnTo>
                <a:lnTo>
                  <a:pt x="4516" y="1142"/>
                </a:lnTo>
                <a:lnTo>
                  <a:pt x="4544" y="1120"/>
                </a:lnTo>
                <a:lnTo>
                  <a:pt x="809" y="1120"/>
                </a:lnTo>
                <a:lnTo>
                  <a:pt x="837" y="1142"/>
                </a:lnTo>
                <a:lnTo>
                  <a:pt x="864" y="1163"/>
                </a:lnTo>
                <a:lnTo>
                  <a:pt x="891" y="1185"/>
                </a:lnTo>
                <a:lnTo>
                  <a:pt x="917" y="1207"/>
                </a:lnTo>
                <a:lnTo>
                  <a:pt x="942" y="1230"/>
                </a:lnTo>
                <a:lnTo>
                  <a:pt x="966" y="1254"/>
                </a:lnTo>
                <a:lnTo>
                  <a:pt x="989" y="1277"/>
                </a:lnTo>
                <a:lnTo>
                  <a:pt x="1012" y="1302"/>
                </a:lnTo>
                <a:lnTo>
                  <a:pt x="1032" y="1326"/>
                </a:lnTo>
                <a:lnTo>
                  <a:pt x="1053" y="1351"/>
                </a:lnTo>
                <a:lnTo>
                  <a:pt x="1073" y="1376"/>
                </a:lnTo>
                <a:lnTo>
                  <a:pt x="1091" y="1402"/>
                </a:lnTo>
                <a:lnTo>
                  <a:pt x="1110" y="1427"/>
                </a:lnTo>
                <a:lnTo>
                  <a:pt x="1127" y="1452"/>
                </a:lnTo>
                <a:lnTo>
                  <a:pt x="1142" y="1479"/>
                </a:lnTo>
                <a:lnTo>
                  <a:pt x="1157" y="1505"/>
                </a:lnTo>
                <a:lnTo>
                  <a:pt x="1170" y="1533"/>
                </a:lnTo>
                <a:lnTo>
                  <a:pt x="1184" y="1560"/>
                </a:lnTo>
                <a:lnTo>
                  <a:pt x="1196" y="1589"/>
                </a:lnTo>
                <a:lnTo>
                  <a:pt x="1207" y="1618"/>
                </a:lnTo>
                <a:lnTo>
                  <a:pt x="1218" y="1648"/>
                </a:lnTo>
                <a:lnTo>
                  <a:pt x="1228" y="1677"/>
                </a:lnTo>
                <a:lnTo>
                  <a:pt x="1237" y="1708"/>
                </a:lnTo>
                <a:lnTo>
                  <a:pt x="1245" y="1739"/>
                </a:lnTo>
                <a:lnTo>
                  <a:pt x="1252" y="1770"/>
                </a:lnTo>
                <a:lnTo>
                  <a:pt x="1259" y="1802"/>
                </a:lnTo>
                <a:lnTo>
                  <a:pt x="1265" y="1834"/>
                </a:lnTo>
                <a:lnTo>
                  <a:pt x="1269" y="1866"/>
                </a:lnTo>
                <a:lnTo>
                  <a:pt x="1273" y="1900"/>
                </a:lnTo>
                <a:lnTo>
                  <a:pt x="1276" y="1934"/>
                </a:lnTo>
                <a:lnTo>
                  <a:pt x="1279" y="1969"/>
                </a:lnTo>
                <a:lnTo>
                  <a:pt x="1280" y="2003"/>
                </a:lnTo>
                <a:lnTo>
                  <a:pt x="1251" y="2003"/>
                </a:lnTo>
                <a:lnTo>
                  <a:pt x="1187" y="1938"/>
                </a:lnTo>
                <a:lnTo>
                  <a:pt x="1121" y="1872"/>
                </a:lnTo>
                <a:lnTo>
                  <a:pt x="1054" y="1808"/>
                </a:lnTo>
                <a:lnTo>
                  <a:pt x="985" y="1743"/>
                </a:lnTo>
                <a:lnTo>
                  <a:pt x="915" y="1680"/>
                </a:lnTo>
                <a:lnTo>
                  <a:pt x="843" y="1618"/>
                </a:lnTo>
                <a:lnTo>
                  <a:pt x="769" y="1557"/>
                </a:lnTo>
                <a:lnTo>
                  <a:pt x="694" y="1497"/>
                </a:lnTo>
                <a:lnTo>
                  <a:pt x="616" y="1437"/>
                </a:lnTo>
                <a:lnTo>
                  <a:pt x="535" y="1377"/>
                </a:lnTo>
                <a:lnTo>
                  <a:pt x="453" y="1318"/>
                </a:lnTo>
                <a:lnTo>
                  <a:pt x="367" y="1259"/>
                </a:lnTo>
                <a:lnTo>
                  <a:pt x="279" y="1200"/>
                </a:lnTo>
                <a:lnTo>
                  <a:pt x="189" y="1143"/>
                </a:lnTo>
                <a:lnTo>
                  <a:pt x="96" y="1085"/>
                </a:lnTo>
                <a:lnTo>
                  <a:pt x="0" y="1029"/>
                </a:lnTo>
                <a:lnTo>
                  <a:pt x="0" y="1002"/>
                </a:lnTo>
                <a:lnTo>
                  <a:pt x="96" y="943"/>
                </a:lnTo>
                <a:lnTo>
                  <a:pt x="188" y="884"/>
                </a:lnTo>
                <a:lnTo>
                  <a:pt x="279" y="824"/>
                </a:lnTo>
                <a:lnTo>
                  <a:pt x="366" y="764"/>
                </a:lnTo>
                <a:lnTo>
                  <a:pt x="451" y="704"/>
                </a:lnTo>
                <a:lnTo>
                  <a:pt x="533" y="645"/>
                </a:lnTo>
                <a:lnTo>
                  <a:pt x="614" y="584"/>
                </a:lnTo>
                <a:lnTo>
                  <a:pt x="691" y="523"/>
                </a:lnTo>
                <a:lnTo>
                  <a:pt x="767" y="460"/>
                </a:lnTo>
                <a:lnTo>
                  <a:pt x="840" y="398"/>
                </a:lnTo>
                <a:lnTo>
                  <a:pt x="913" y="334"/>
                </a:lnTo>
                <a:lnTo>
                  <a:pt x="984" y="269"/>
                </a:lnTo>
                <a:lnTo>
                  <a:pt x="1053" y="204"/>
                </a:lnTo>
                <a:lnTo>
                  <a:pt x="1121" y="137"/>
                </a:lnTo>
                <a:lnTo>
                  <a:pt x="1187" y="69"/>
                </a:lnTo>
                <a:lnTo>
                  <a:pt x="1251" y="0"/>
                </a:lnTo>
                <a:lnTo>
                  <a:pt x="1280" y="0"/>
                </a:lnTo>
                <a:lnTo>
                  <a:pt x="1279" y="36"/>
                </a:lnTo>
                <a:lnTo>
                  <a:pt x="1276" y="72"/>
                </a:lnTo>
                <a:lnTo>
                  <a:pt x="1273" y="107"/>
                </a:lnTo>
                <a:lnTo>
                  <a:pt x="1269" y="141"/>
                </a:lnTo>
                <a:lnTo>
                  <a:pt x="1265" y="175"/>
                </a:lnTo>
                <a:lnTo>
                  <a:pt x="1259" y="208"/>
                </a:lnTo>
                <a:lnTo>
                  <a:pt x="1252" y="241"/>
                </a:lnTo>
                <a:lnTo>
                  <a:pt x="1245" y="273"/>
                </a:lnTo>
                <a:lnTo>
                  <a:pt x="1237" y="305"/>
                </a:lnTo>
                <a:lnTo>
                  <a:pt x="1228" y="336"/>
                </a:lnTo>
                <a:lnTo>
                  <a:pt x="1218" y="366"/>
                </a:lnTo>
                <a:lnTo>
                  <a:pt x="1207" y="396"/>
                </a:lnTo>
                <a:lnTo>
                  <a:pt x="1196" y="425"/>
                </a:lnTo>
                <a:lnTo>
                  <a:pt x="1184" y="454"/>
                </a:lnTo>
                <a:lnTo>
                  <a:pt x="1170" y="482"/>
                </a:lnTo>
                <a:lnTo>
                  <a:pt x="1157" y="509"/>
                </a:lnTo>
                <a:lnTo>
                  <a:pt x="1142" y="536"/>
                </a:lnTo>
                <a:lnTo>
                  <a:pt x="1127" y="564"/>
                </a:lnTo>
                <a:lnTo>
                  <a:pt x="1110" y="590"/>
                </a:lnTo>
                <a:lnTo>
                  <a:pt x="1091" y="618"/>
                </a:lnTo>
                <a:lnTo>
                  <a:pt x="1073" y="643"/>
                </a:lnTo>
                <a:lnTo>
                  <a:pt x="1053" y="670"/>
                </a:lnTo>
                <a:lnTo>
                  <a:pt x="1032" y="695"/>
                </a:lnTo>
                <a:lnTo>
                  <a:pt x="1012" y="721"/>
                </a:lnTo>
                <a:lnTo>
                  <a:pt x="989" y="746"/>
                </a:lnTo>
                <a:lnTo>
                  <a:pt x="966" y="770"/>
                </a:lnTo>
                <a:lnTo>
                  <a:pt x="942" y="794"/>
                </a:lnTo>
                <a:lnTo>
                  <a:pt x="917" y="818"/>
                </a:lnTo>
                <a:lnTo>
                  <a:pt x="891" y="841"/>
                </a:lnTo>
                <a:lnTo>
                  <a:pt x="864" y="864"/>
                </a:lnTo>
                <a:lnTo>
                  <a:pt x="837" y="886"/>
                </a:lnTo>
                <a:lnTo>
                  <a:pt x="809" y="908"/>
                </a:lnTo>
                <a:lnTo>
                  <a:pt x="4544" y="90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17" name="直线箭头">
            <a:extLst>
              <a:ext uri="{FF2B5EF4-FFF2-40B4-BE49-F238E27FC236}">
                <a16:creationId xmlns:a16="http://schemas.microsoft.com/office/drawing/2014/main" id="{A3686140-221C-530C-9923-1E41861CFF36}"/>
              </a:ext>
            </a:extLst>
          </p:cNvPr>
          <p:cNvSpPr/>
          <p:nvPr/>
        </p:nvSpPr>
        <p:spPr>
          <a:xfrm>
            <a:off x="9314191" y="5557090"/>
            <a:ext cx="1151255" cy="137795"/>
          </a:xfrm>
          <a:custGeom>
            <a:avLst/>
            <a:gdLst>
              <a:gd name="connsiteX0" fmla="*/ 360040 w 576064"/>
              <a:gd name="connsiteY0" fmla="*/ 0 h 250588"/>
              <a:gd name="connsiteX1" fmla="*/ 576064 w 576064"/>
              <a:gd name="connsiteY1" fmla="*/ 125294 h 250588"/>
              <a:gd name="connsiteX2" fmla="*/ 360040 w 576064"/>
              <a:gd name="connsiteY2" fmla="*/ 250588 h 250588"/>
              <a:gd name="connsiteX3" fmla="*/ 360040 w 576064"/>
              <a:gd name="connsiteY3" fmla="*/ 143294 h 250588"/>
              <a:gd name="connsiteX4" fmla="*/ 0 w 576064"/>
              <a:gd name="connsiteY4" fmla="*/ 143294 h 250588"/>
              <a:gd name="connsiteX5" fmla="*/ 0 w 576064"/>
              <a:gd name="connsiteY5" fmla="*/ 107294 h 250588"/>
              <a:gd name="connsiteX6" fmla="*/ 360040 w 576064"/>
              <a:gd name="connsiteY6" fmla="*/ 107294 h 25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064" h="250588">
                <a:moveTo>
                  <a:pt x="360040" y="0"/>
                </a:moveTo>
                <a:lnTo>
                  <a:pt x="576064" y="125294"/>
                </a:lnTo>
                <a:lnTo>
                  <a:pt x="360040" y="250588"/>
                </a:lnTo>
                <a:lnTo>
                  <a:pt x="360040" y="143294"/>
                </a:lnTo>
                <a:lnTo>
                  <a:pt x="0" y="143294"/>
                </a:lnTo>
                <a:lnTo>
                  <a:pt x="0" y="107294"/>
                </a:lnTo>
                <a:lnTo>
                  <a:pt x="360040" y="10729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2" name="矩形 41">
            <a:extLst>
              <a:ext uri="{FF2B5EF4-FFF2-40B4-BE49-F238E27FC236}">
                <a16:creationId xmlns:a16="http://schemas.microsoft.com/office/drawing/2014/main" id="{A2DE7716-7B6F-B2E7-2702-31E40B1AA63C}"/>
              </a:ext>
            </a:extLst>
          </p:cNvPr>
          <p:cNvSpPr/>
          <p:nvPr/>
        </p:nvSpPr>
        <p:spPr>
          <a:xfrm>
            <a:off x="8128050" y="2577524"/>
            <a:ext cx="2160000" cy="324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zh-CN" altLang="en-US" sz="1600" dirty="0">
                <a:solidFill>
                  <a:schemeClr val="tx1"/>
                </a:solidFill>
              </a:rPr>
              <a:t>自动售水系统</a:t>
            </a:r>
          </a:p>
        </p:txBody>
      </p:sp>
      <p:sp>
        <p:nvSpPr>
          <p:cNvPr id="43" name="椭圆 42">
            <a:extLst>
              <a:ext uri="{FF2B5EF4-FFF2-40B4-BE49-F238E27FC236}">
                <a16:creationId xmlns:a16="http://schemas.microsoft.com/office/drawing/2014/main" id="{DF346803-6E85-4C95-2367-63073DB63619}"/>
              </a:ext>
            </a:extLst>
          </p:cNvPr>
          <p:cNvSpPr/>
          <p:nvPr/>
        </p:nvSpPr>
        <p:spPr>
          <a:xfrm>
            <a:off x="8800813" y="298129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投币</a:t>
            </a:r>
          </a:p>
        </p:txBody>
      </p:sp>
      <p:sp>
        <p:nvSpPr>
          <p:cNvPr id="44" name="椭圆 43">
            <a:extLst>
              <a:ext uri="{FF2B5EF4-FFF2-40B4-BE49-F238E27FC236}">
                <a16:creationId xmlns:a16="http://schemas.microsoft.com/office/drawing/2014/main" id="{1785DA01-E09F-6C07-C761-14CF656CF7B9}"/>
              </a:ext>
            </a:extLst>
          </p:cNvPr>
          <p:cNvSpPr/>
          <p:nvPr/>
        </p:nvSpPr>
        <p:spPr>
          <a:xfrm>
            <a:off x="8800813" y="3793696"/>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取水</a:t>
            </a:r>
          </a:p>
        </p:txBody>
      </p:sp>
      <p:sp>
        <p:nvSpPr>
          <p:cNvPr id="45" name="椭圆 44">
            <a:extLst>
              <a:ext uri="{FF2B5EF4-FFF2-40B4-BE49-F238E27FC236}">
                <a16:creationId xmlns:a16="http://schemas.microsoft.com/office/drawing/2014/main" id="{4B3CE392-BF62-E566-4857-E68D52F40023}"/>
              </a:ext>
            </a:extLst>
          </p:cNvPr>
          <p:cNvSpPr/>
          <p:nvPr/>
        </p:nvSpPr>
        <p:spPr>
          <a:xfrm>
            <a:off x="8800813" y="4478399"/>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退币</a:t>
            </a:r>
          </a:p>
        </p:txBody>
      </p:sp>
      <p:sp>
        <p:nvSpPr>
          <p:cNvPr id="46" name="椭圆 45">
            <a:extLst>
              <a:ext uri="{FF2B5EF4-FFF2-40B4-BE49-F238E27FC236}">
                <a16:creationId xmlns:a16="http://schemas.microsoft.com/office/drawing/2014/main" id="{713C8F76-1348-12A7-FB55-7F5E8BDD1AB3}"/>
              </a:ext>
            </a:extLst>
          </p:cNvPr>
          <p:cNvSpPr/>
          <p:nvPr/>
        </p:nvSpPr>
        <p:spPr>
          <a:xfrm>
            <a:off x="8800813" y="5152938"/>
            <a:ext cx="914400" cy="3467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取款</a:t>
            </a:r>
          </a:p>
        </p:txBody>
      </p:sp>
      <p:pic>
        <p:nvPicPr>
          <p:cNvPr id="47" name="图片 155">
            <a:extLst>
              <a:ext uri="{FF2B5EF4-FFF2-40B4-BE49-F238E27FC236}">
                <a16:creationId xmlns:a16="http://schemas.microsoft.com/office/drawing/2014/main" id="{124DD836-F119-46DB-2FE8-FE241711478A}"/>
              </a:ext>
            </a:extLst>
          </p:cNvPr>
          <p:cNvPicPr>
            <a:picLocks noChangeAspect="1"/>
          </p:cNvPicPr>
          <p:nvPr/>
        </p:nvPicPr>
        <p:blipFill>
          <a:blip r:embed="rId2" cstate="print"/>
          <a:stretch>
            <a:fillRect/>
          </a:stretch>
        </p:blipFill>
        <p:spPr>
          <a:xfrm>
            <a:off x="7582324" y="2909226"/>
            <a:ext cx="283210" cy="490855"/>
          </a:xfrm>
          <a:prstGeom prst="rect">
            <a:avLst/>
          </a:prstGeom>
          <a:noFill/>
          <a:ln w="9525">
            <a:noFill/>
          </a:ln>
        </p:spPr>
      </p:pic>
      <p:pic>
        <p:nvPicPr>
          <p:cNvPr id="48" name="图片 155">
            <a:extLst>
              <a:ext uri="{FF2B5EF4-FFF2-40B4-BE49-F238E27FC236}">
                <a16:creationId xmlns:a16="http://schemas.microsoft.com/office/drawing/2014/main" id="{33EE5F20-D6BE-2650-454C-BB67F2979DAD}"/>
              </a:ext>
            </a:extLst>
          </p:cNvPr>
          <p:cNvPicPr>
            <a:picLocks noChangeAspect="1"/>
          </p:cNvPicPr>
          <p:nvPr/>
        </p:nvPicPr>
        <p:blipFill>
          <a:blip r:embed="rId2" cstate="print"/>
          <a:stretch>
            <a:fillRect/>
          </a:stretch>
        </p:blipFill>
        <p:spPr>
          <a:xfrm>
            <a:off x="7582324" y="3721624"/>
            <a:ext cx="283210" cy="490855"/>
          </a:xfrm>
          <a:prstGeom prst="rect">
            <a:avLst/>
          </a:prstGeom>
          <a:noFill/>
          <a:ln w="9525">
            <a:noFill/>
          </a:ln>
        </p:spPr>
      </p:pic>
      <p:pic>
        <p:nvPicPr>
          <p:cNvPr id="49" name="图片 155">
            <a:extLst>
              <a:ext uri="{FF2B5EF4-FFF2-40B4-BE49-F238E27FC236}">
                <a16:creationId xmlns:a16="http://schemas.microsoft.com/office/drawing/2014/main" id="{54A4843A-CD4A-21E9-EA45-01E8636C0235}"/>
              </a:ext>
            </a:extLst>
          </p:cNvPr>
          <p:cNvPicPr>
            <a:picLocks noChangeAspect="1"/>
          </p:cNvPicPr>
          <p:nvPr/>
        </p:nvPicPr>
        <p:blipFill>
          <a:blip r:embed="rId2" cstate="print"/>
          <a:stretch>
            <a:fillRect/>
          </a:stretch>
        </p:blipFill>
        <p:spPr>
          <a:xfrm>
            <a:off x="7579096" y="5080866"/>
            <a:ext cx="283210" cy="490855"/>
          </a:xfrm>
          <a:prstGeom prst="rect">
            <a:avLst/>
          </a:prstGeom>
          <a:noFill/>
          <a:ln w="9525">
            <a:noFill/>
          </a:ln>
        </p:spPr>
      </p:pic>
      <p:pic>
        <p:nvPicPr>
          <p:cNvPr id="50" name="图片 155">
            <a:extLst>
              <a:ext uri="{FF2B5EF4-FFF2-40B4-BE49-F238E27FC236}">
                <a16:creationId xmlns:a16="http://schemas.microsoft.com/office/drawing/2014/main" id="{B692D96A-FBC2-D8FD-D0F6-D4B203C3E5DB}"/>
              </a:ext>
            </a:extLst>
          </p:cNvPr>
          <p:cNvPicPr>
            <a:picLocks noChangeAspect="1"/>
          </p:cNvPicPr>
          <p:nvPr/>
        </p:nvPicPr>
        <p:blipFill>
          <a:blip r:embed="rId2" cstate="print"/>
          <a:stretch>
            <a:fillRect/>
          </a:stretch>
        </p:blipFill>
        <p:spPr>
          <a:xfrm>
            <a:off x="10624315" y="4406327"/>
            <a:ext cx="283210" cy="490855"/>
          </a:xfrm>
          <a:prstGeom prst="rect">
            <a:avLst/>
          </a:prstGeom>
          <a:noFill/>
          <a:ln w="9525">
            <a:noFill/>
          </a:ln>
        </p:spPr>
      </p:pic>
      <p:cxnSp>
        <p:nvCxnSpPr>
          <p:cNvPr id="51" name="直接连接符 50">
            <a:extLst>
              <a:ext uri="{FF2B5EF4-FFF2-40B4-BE49-F238E27FC236}">
                <a16:creationId xmlns:a16="http://schemas.microsoft.com/office/drawing/2014/main" id="{BC63EC66-CA8E-2539-CC77-CF340D867D9E}"/>
              </a:ext>
            </a:extLst>
          </p:cNvPr>
          <p:cNvCxnSpPr>
            <a:stCxn id="47" idx="3"/>
            <a:endCxn id="43" idx="2"/>
          </p:cNvCxnSpPr>
          <p:nvPr/>
        </p:nvCxnSpPr>
        <p:spPr>
          <a:xfrm flipV="1">
            <a:off x="7865534" y="3154653"/>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297A34D0-CAB2-A632-0856-495AFDA3F1DE}"/>
              </a:ext>
            </a:extLst>
          </p:cNvPr>
          <p:cNvCxnSpPr>
            <a:stCxn id="48" idx="3"/>
            <a:endCxn id="44" idx="2"/>
          </p:cNvCxnSpPr>
          <p:nvPr/>
        </p:nvCxnSpPr>
        <p:spPr>
          <a:xfrm flipV="1">
            <a:off x="7865534" y="3967051"/>
            <a:ext cx="9352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3A2091EA-09E0-DE0A-BF52-B38F6861E6B8}"/>
              </a:ext>
            </a:extLst>
          </p:cNvPr>
          <p:cNvCxnSpPr>
            <a:stCxn id="49" idx="3"/>
            <a:endCxn id="46" idx="2"/>
          </p:cNvCxnSpPr>
          <p:nvPr/>
        </p:nvCxnSpPr>
        <p:spPr>
          <a:xfrm flipV="1">
            <a:off x="7862306" y="5326293"/>
            <a:ext cx="93850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4C0F200-E182-A735-2F85-D49EA7C03BC6}"/>
              </a:ext>
            </a:extLst>
          </p:cNvPr>
          <p:cNvCxnSpPr>
            <a:stCxn id="45" idx="6"/>
            <a:endCxn id="50" idx="1"/>
          </p:cNvCxnSpPr>
          <p:nvPr/>
        </p:nvCxnSpPr>
        <p:spPr>
          <a:xfrm>
            <a:off x="9715213" y="4651754"/>
            <a:ext cx="90910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64496B9F-A47E-EA8A-5F97-0C4A722079A3}"/>
              </a:ext>
            </a:extLst>
          </p:cNvPr>
          <p:cNvSpPr txBox="1"/>
          <p:nvPr/>
        </p:nvSpPr>
        <p:spPr>
          <a:xfrm>
            <a:off x="10494051" y="4873404"/>
            <a:ext cx="543739" cy="307777"/>
          </a:xfrm>
          <a:prstGeom prst="rect">
            <a:avLst/>
          </a:prstGeom>
          <a:noFill/>
        </p:spPr>
        <p:txBody>
          <a:bodyPr wrap="none" rtlCol="0">
            <a:spAutoFit/>
          </a:bodyPr>
          <a:lstStyle/>
          <a:p>
            <a:r>
              <a:rPr lang="zh-CN" altLang="en-US" sz="1400" dirty="0"/>
              <a:t>顾客</a:t>
            </a:r>
          </a:p>
        </p:txBody>
      </p:sp>
      <p:sp>
        <p:nvSpPr>
          <p:cNvPr id="56" name="文本框 55">
            <a:extLst>
              <a:ext uri="{FF2B5EF4-FFF2-40B4-BE49-F238E27FC236}">
                <a16:creationId xmlns:a16="http://schemas.microsoft.com/office/drawing/2014/main" id="{E9F1D3C4-53FD-3F0D-1684-633EE183D90A}"/>
              </a:ext>
            </a:extLst>
          </p:cNvPr>
          <p:cNvSpPr txBox="1"/>
          <p:nvPr/>
        </p:nvSpPr>
        <p:spPr>
          <a:xfrm>
            <a:off x="7452060" y="3345218"/>
            <a:ext cx="543739" cy="307777"/>
          </a:xfrm>
          <a:prstGeom prst="rect">
            <a:avLst/>
          </a:prstGeom>
          <a:noFill/>
        </p:spPr>
        <p:txBody>
          <a:bodyPr wrap="none" rtlCol="0">
            <a:spAutoFit/>
          </a:bodyPr>
          <a:lstStyle/>
          <a:p>
            <a:r>
              <a:rPr lang="zh-CN" altLang="en-US" sz="1400" dirty="0"/>
              <a:t>顾客</a:t>
            </a:r>
          </a:p>
        </p:txBody>
      </p:sp>
      <p:sp>
        <p:nvSpPr>
          <p:cNvPr id="57" name="文本框 56">
            <a:extLst>
              <a:ext uri="{FF2B5EF4-FFF2-40B4-BE49-F238E27FC236}">
                <a16:creationId xmlns:a16="http://schemas.microsoft.com/office/drawing/2014/main" id="{0CE3A9AF-5E1D-51A0-055E-270E3C83A2FB}"/>
              </a:ext>
            </a:extLst>
          </p:cNvPr>
          <p:cNvSpPr txBox="1"/>
          <p:nvPr/>
        </p:nvSpPr>
        <p:spPr>
          <a:xfrm>
            <a:off x="7452060" y="4170501"/>
            <a:ext cx="543739" cy="307777"/>
          </a:xfrm>
          <a:prstGeom prst="rect">
            <a:avLst/>
          </a:prstGeom>
          <a:noFill/>
        </p:spPr>
        <p:txBody>
          <a:bodyPr wrap="none" rtlCol="0">
            <a:spAutoFit/>
          </a:bodyPr>
          <a:lstStyle/>
          <a:p>
            <a:r>
              <a:rPr lang="zh-CN" altLang="en-US" sz="1400" dirty="0"/>
              <a:t>顾客</a:t>
            </a:r>
          </a:p>
        </p:txBody>
      </p:sp>
      <p:sp>
        <p:nvSpPr>
          <p:cNvPr id="58" name="文本框 57">
            <a:extLst>
              <a:ext uri="{FF2B5EF4-FFF2-40B4-BE49-F238E27FC236}">
                <a16:creationId xmlns:a16="http://schemas.microsoft.com/office/drawing/2014/main" id="{F772D889-C835-7775-36F6-930D2F4E1594}"/>
              </a:ext>
            </a:extLst>
          </p:cNvPr>
          <p:cNvSpPr txBox="1"/>
          <p:nvPr/>
        </p:nvSpPr>
        <p:spPr>
          <a:xfrm>
            <a:off x="7359064" y="5574802"/>
            <a:ext cx="723275" cy="307777"/>
          </a:xfrm>
          <a:prstGeom prst="rect">
            <a:avLst/>
          </a:prstGeom>
          <a:noFill/>
        </p:spPr>
        <p:txBody>
          <a:bodyPr wrap="none" rtlCol="0">
            <a:spAutoFit/>
          </a:bodyPr>
          <a:lstStyle/>
          <a:p>
            <a:r>
              <a:rPr lang="zh-CN" altLang="en-US" sz="1400" dirty="0"/>
              <a:t>收银员</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6.3 </a:t>
            </a:r>
            <a:r>
              <a:rPr lang="en-US" altLang="zh-CN" dirty="0">
                <a:sym typeface="+mn-ea"/>
              </a:rPr>
              <a:t>UML</a:t>
            </a:r>
            <a:r>
              <a:rPr lang="zh-CN" altLang="en-US" dirty="0">
                <a:sym typeface="+mn-ea"/>
              </a:rPr>
              <a:t>图</a:t>
            </a:r>
            <a:endParaRPr lang="zh-CN" altLang="en-US" dirty="0"/>
          </a:p>
        </p:txBody>
      </p:sp>
      <p:sp>
        <p:nvSpPr>
          <p:cNvPr id="7" name="文本占位符 6">
            <a:extLst>
              <a:ext uri="{FF2B5EF4-FFF2-40B4-BE49-F238E27FC236}">
                <a16:creationId xmlns:a16="http://schemas.microsoft.com/office/drawing/2014/main" id="{6293664C-ED92-7815-86D7-E809F3C0C427}"/>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2" name="组合 1"/>
          <p:cNvGrpSpPr/>
          <p:nvPr/>
        </p:nvGrpSpPr>
        <p:grpSpPr>
          <a:xfrm>
            <a:off x="1933575" y="2134870"/>
            <a:ext cx="8325485" cy="3671570"/>
            <a:chOff x="9359" y="6193"/>
            <a:chExt cx="7613" cy="5750"/>
          </a:xfrm>
        </p:grpSpPr>
        <p:sp>
          <p:nvSpPr>
            <p:cNvPr id="4" name="MH_Other_1"/>
            <p:cNvSpPr/>
            <p:nvPr/>
          </p:nvSpPr>
          <p:spPr>
            <a:xfrm>
              <a:off x="9359" y="6193"/>
              <a:ext cx="7178" cy="4297"/>
            </a:xfrm>
            <a:prstGeom prst="roundRect">
              <a:avLst>
                <a:gd name="adj" fmla="val 3901"/>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5" name="MH_Other_2"/>
            <p:cNvSpPr/>
            <p:nvPr/>
          </p:nvSpPr>
          <p:spPr>
            <a:xfrm>
              <a:off x="9794" y="6640"/>
              <a:ext cx="7178" cy="5303"/>
            </a:xfrm>
            <a:custGeom>
              <a:avLst/>
              <a:gdLst>
                <a:gd name="connsiteX0" fmla="*/ 106446 w 4557485"/>
                <a:gd name="connsiteY0" fmla="*/ 0 h 3367314"/>
                <a:gd name="connsiteX1" fmla="*/ 4451039 w 4557485"/>
                <a:gd name="connsiteY1" fmla="*/ 0 h 3367314"/>
                <a:gd name="connsiteX2" fmla="*/ 4557485 w 4557485"/>
                <a:gd name="connsiteY2" fmla="*/ 106446 h 3367314"/>
                <a:gd name="connsiteX3" fmla="*/ 4557485 w 4557485"/>
                <a:gd name="connsiteY3" fmla="*/ 2622239 h 3367314"/>
                <a:gd name="connsiteX4" fmla="*/ 4451039 w 4557485"/>
                <a:gd name="connsiteY4" fmla="*/ 2728685 h 3367314"/>
                <a:gd name="connsiteX5" fmla="*/ 3773714 w 4557485"/>
                <a:gd name="connsiteY5" fmla="*/ 2728685 h 3367314"/>
                <a:gd name="connsiteX6" fmla="*/ 3773714 w 4557485"/>
                <a:gd name="connsiteY6" fmla="*/ 3367314 h 3367314"/>
                <a:gd name="connsiteX7" fmla="*/ 3135085 w 4557485"/>
                <a:gd name="connsiteY7" fmla="*/ 2728685 h 3367314"/>
                <a:gd name="connsiteX8" fmla="*/ 106446 w 4557485"/>
                <a:gd name="connsiteY8" fmla="*/ 2728685 h 3367314"/>
                <a:gd name="connsiteX9" fmla="*/ 0 w 4557485"/>
                <a:gd name="connsiteY9" fmla="*/ 2622239 h 3367314"/>
                <a:gd name="connsiteX10" fmla="*/ 0 w 4557485"/>
                <a:gd name="connsiteY10" fmla="*/ 106446 h 3367314"/>
                <a:gd name="connsiteX11" fmla="*/ 106446 w 4557485"/>
                <a:gd name="connsiteY11" fmla="*/ 0 h 3367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7485" h="3367314">
                  <a:moveTo>
                    <a:pt x="106446" y="0"/>
                  </a:moveTo>
                  <a:lnTo>
                    <a:pt x="4451039" y="0"/>
                  </a:lnTo>
                  <a:cubicBezTo>
                    <a:pt x="4509828" y="0"/>
                    <a:pt x="4557485" y="47657"/>
                    <a:pt x="4557485" y="106446"/>
                  </a:cubicBezTo>
                  <a:lnTo>
                    <a:pt x="4557485" y="2622239"/>
                  </a:lnTo>
                  <a:cubicBezTo>
                    <a:pt x="4557485" y="2681028"/>
                    <a:pt x="4509828" y="2728685"/>
                    <a:pt x="4451039" y="2728685"/>
                  </a:cubicBezTo>
                  <a:lnTo>
                    <a:pt x="3773714" y="2728685"/>
                  </a:lnTo>
                  <a:lnTo>
                    <a:pt x="3773714" y="3367314"/>
                  </a:lnTo>
                  <a:lnTo>
                    <a:pt x="3135085" y="2728685"/>
                  </a:lnTo>
                  <a:lnTo>
                    <a:pt x="106446" y="2728685"/>
                  </a:lnTo>
                  <a:cubicBezTo>
                    <a:pt x="47657" y="2728685"/>
                    <a:pt x="0" y="2681028"/>
                    <a:pt x="0" y="2622239"/>
                  </a:cubicBezTo>
                  <a:lnTo>
                    <a:pt x="0" y="106446"/>
                  </a:lnTo>
                  <a:cubicBezTo>
                    <a:pt x="0" y="47657"/>
                    <a:pt x="47657" y="0"/>
                    <a:pt x="106446" y="0"/>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077" name="MH_Desc_1"/>
            <p:cNvSpPr>
              <a:spLocks noChangeArrowheads="1"/>
            </p:cNvSpPr>
            <p:nvPr/>
          </p:nvSpPr>
          <p:spPr bwMode="auto">
            <a:xfrm>
              <a:off x="10846" y="7210"/>
              <a:ext cx="5115" cy="320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dirty="0">
                  <a:solidFill>
                    <a:schemeClr val="tx1"/>
                  </a:solidFill>
                  <a:latin typeface="微软雅黑" panose="020B0503020204020204" charset="-122"/>
                  <a:ea typeface="微软雅黑" panose="020B0503020204020204" charset="-122"/>
                </a:rPr>
                <a:t>类图（Class Diagram）描述类与类之间的静态关系。类图表示系统或领域中的实体以及实体之间的关联，由表示类的类框和表示类之间如何关联的连线所组成。包用于把各种相关的建模元素组织在一起，形成一个整体。</a:t>
              </a:r>
            </a:p>
          </p:txBody>
        </p:sp>
        <p:sp>
          <p:nvSpPr>
            <p:cNvPr id="3078" name="MH_Other_3"/>
            <p:cNvSpPr/>
            <p:nvPr/>
          </p:nvSpPr>
          <p:spPr bwMode="auto">
            <a:xfrm>
              <a:off x="10174" y="7253"/>
              <a:ext cx="593" cy="450"/>
            </a:xfrm>
            <a:custGeom>
              <a:avLst/>
              <a:gdLst>
                <a:gd name="T0" fmla="*/ 373803 w 376733"/>
                <a:gd name="T1" fmla="*/ 1221 h 285293"/>
                <a:gd name="T2" fmla="*/ 376238 w 376733"/>
                <a:gd name="T3" fmla="*/ 3663 h 285293"/>
                <a:gd name="T4" fmla="*/ 368933 w 376733"/>
                <a:gd name="T5" fmla="*/ 17096 h 285293"/>
                <a:gd name="T6" fmla="*/ 334231 w 376733"/>
                <a:gd name="T7" fmla="*/ 83649 h 285293"/>
                <a:gd name="T8" fmla="*/ 322663 w 376733"/>
                <a:gd name="T9" fmla="*/ 146538 h 285293"/>
                <a:gd name="T10" fmla="*/ 339710 w 376733"/>
                <a:gd name="T11" fmla="*/ 214923 h 285293"/>
                <a:gd name="T12" fmla="*/ 344581 w 376733"/>
                <a:gd name="T13" fmla="*/ 238735 h 285293"/>
                <a:gd name="T14" fmla="*/ 319619 w 376733"/>
                <a:gd name="T15" fmla="*/ 264380 h 285293"/>
                <a:gd name="T16" fmla="*/ 272742 w 376733"/>
                <a:gd name="T17" fmla="*/ 277201 h 285293"/>
                <a:gd name="T18" fmla="*/ 227691 w 376733"/>
                <a:gd name="T19" fmla="*/ 263769 h 285293"/>
                <a:gd name="T20" fmla="*/ 204557 w 376733"/>
                <a:gd name="T21" fmla="*/ 213091 h 285293"/>
                <a:gd name="T22" fmla="*/ 230735 w 376733"/>
                <a:gd name="T23" fmla="*/ 123336 h 285293"/>
                <a:gd name="T24" fmla="*/ 309879 w 376733"/>
                <a:gd name="T25" fmla="*/ 36024 h 285293"/>
                <a:gd name="T26" fmla="*/ 373803 w 376733"/>
                <a:gd name="T27" fmla="*/ 1221 h 285293"/>
                <a:gd name="T28" fmla="*/ 235606 w 376733"/>
                <a:gd name="T29" fmla="*/ 0 h 285293"/>
                <a:gd name="T30" fmla="*/ 242302 w 376733"/>
                <a:gd name="T31" fmla="*/ 2442 h 285293"/>
                <a:gd name="T32" fmla="*/ 232562 w 376733"/>
                <a:gd name="T33" fmla="*/ 14653 h 285293"/>
                <a:gd name="T34" fmla="*/ 159506 w 376733"/>
                <a:gd name="T35" fmla="*/ 101355 h 285293"/>
                <a:gd name="T36" fmla="*/ 136372 w 376733"/>
                <a:gd name="T37" fmla="*/ 175846 h 285293"/>
                <a:gd name="T38" fmla="*/ 140633 w 376733"/>
                <a:gd name="T39" fmla="*/ 219808 h 285293"/>
                <a:gd name="T40" fmla="*/ 144894 w 376733"/>
                <a:gd name="T41" fmla="*/ 240567 h 285293"/>
                <a:gd name="T42" fmla="*/ 121152 w 376733"/>
                <a:gd name="T43" fmla="*/ 272927 h 285293"/>
                <a:gd name="T44" fmla="*/ 77318 w 376733"/>
                <a:gd name="T45" fmla="*/ 285750 h 285293"/>
                <a:gd name="T46" fmla="*/ 28614 w 376733"/>
                <a:gd name="T47" fmla="*/ 268043 h 285293"/>
                <a:gd name="T48" fmla="*/ 0 w 376733"/>
                <a:gd name="T49" fmla="*/ 216144 h 285293"/>
                <a:gd name="T50" fmla="*/ 10959 w 376733"/>
                <a:gd name="T51" fmla="*/ 176456 h 285293"/>
                <a:gd name="T52" fmla="*/ 54184 w 376733"/>
                <a:gd name="T53" fmla="*/ 116620 h 285293"/>
                <a:gd name="T54" fmla="*/ 123586 w 376733"/>
                <a:gd name="T55" fmla="*/ 50067 h 285293"/>
                <a:gd name="T56" fmla="*/ 194816 w 376733"/>
                <a:gd name="T57" fmla="*/ 11601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79" name="MH_Other_4"/>
            <p:cNvSpPr/>
            <p:nvPr/>
          </p:nvSpPr>
          <p:spPr bwMode="auto">
            <a:xfrm rot="10800000">
              <a:off x="15904" y="9978"/>
              <a:ext cx="593" cy="447"/>
            </a:xfrm>
            <a:custGeom>
              <a:avLst/>
              <a:gdLst>
                <a:gd name="T0" fmla="*/ 373803 w 376733"/>
                <a:gd name="T1" fmla="*/ 1214 h 285293"/>
                <a:gd name="T2" fmla="*/ 376238 w 376733"/>
                <a:gd name="T3" fmla="*/ 3643 h 285293"/>
                <a:gd name="T4" fmla="*/ 368933 w 376733"/>
                <a:gd name="T5" fmla="*/ 17001 h 285293"/>
                <a:gd name="T6" fmla="*/ 334231 w 376733"/>
                <a:gd name="T7" fmla="*/ 83184 h 285293"/>
                <a:gd name="T8" fmla="*/ 322663 w 376733"/>
                <a:gd name="T9" fmla="*/ 145724 h 285293"/>
                <a:gd name="T10" fmla="*/ 339710 w 376733"/>
                <a:gd name="T11" fmla="*/ 213728 h 285293"/>
                <a:gd name="T12" fmla="*/ 344581 w 376733"/>
                <a:gd name="T13" fmla="*/ 237408 h 285293"/>
                <a:gd name="T14" fmla="*/ 319619 w 376733"/>
                <a:gd name="T15" fmla="*/ 262911 h 285293"/>
                <a:gd name="T16" fmla="*/ 272742 w 376733"/>
                <a:gd name="T17" fmla="*/ 275661 h 285293"/>
                <a:gd name="T18" fmla="*/ 227691 w 376733"/>
                <a:gd name="T19" fmla="*/ 262303 h 285293"/>
                <a:gd name="T20" fmla="*/ 204557 w 376733"/>
                <a:gd name="T21" fmla="*/ 211907 h 285293"/>
                <a:gd name="T22" fmla="*/ 230735 w 376733"/>
                <a:gd name="T23" fmla="*/ 122651 h 285293"/>
                <a:gd name="T24" fmla="*/ 309879 w 376733"/>
                <a:gd name="T25" fmla="*/ 35823 h 285293"/>
                <a:gd name="T26" fmla="*/ 373803 w 376733"/>
                <a:gd name="T27" fmla="*/ 1214 h 285293"/>
                <a:gd name="T28" fmla="*/ 235606 w 376733"/>
                <a:gd name="T29" fmla="*/ 0 h 285293"/>
                <a:gd name="T30" fmla="*/ 242302 w 376733"/>
                <a:gd name="T31" fmla="*/ 2428 h 285293"/>
                <a:gd name="T32" fmla="*/ 232562 w 376733"/>
                <a:gd name="T33" fmla="*/ 14572 h 285293"/>
                <a:gd name="T34" fmla="*/ 159506 w 376733"/>
                <a:gd name="T35" fmla="*/ 100792 h 285293"/>
                <a:gd name="T36" fmla="*/ 136372 w 376733"/>
                <a:gd name="T37" fmla="*/ 174869 h 285293"/>
                <a:gd name="T38" fmla="*/ 140633 w 376733"/>
                <a:gd name="T39" fmla="*/ 218586 h 285293"/>
                <a:gd name="T40" fmla="*/ 144894 w 376733"/>
                <a:gd name="T41" fmla="*/ 239230 h 285293"/>
                <a:gd name="T42" fmla="*/ 121152 w 376733"/>
                <a:gd name="T43" fmla="*/ 271411 h 285293"/>
                <a:gd name="T44" fmla="*/ 77318 w 376733"/>
                <a:gd name="T45" fmla="*/ 284162 h 285293"/>
                <a:gd name="T46" fmla="*/ 28614 w 376733"/>
                <a:gd name="T47" fmla="*/ 266553 h 285293"/>
                <a:gd name="T48" fmla="*/ 0 w 376733"/>
                <a:gd name="T49" fmla="*/ 214943 h 285293"/>
                <a:gd name="T50" fmla="*/ 10959 w 376733"/>
                <a:gd name="T51" fmla="*/ 175476 h 285293"/>
                <a:gd name="T52" fmla="*/ 54184 w 376733"/>
                <a:gd name="T53" fmla="*/ 115971 h 285293"/>
                <a:gd name="T54" fmla="*/ 123586 w 376733"/>
                <a:gd name="T55" fmla="*/ 49789 h 285293"/>
                <a:gd name="T56" fmla="*/ 194816 w 376733"/>
                <a:gd name="T57" fmla="*/ 11536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Sld>
  <p:clrMapOvr>
    <a:masterClrMapping/>
  </p:clrMapOvr>
  <p:transition>
    <p:diamon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13" name="文本占位符 12">
            <a:extLst>
              <a:ext uri="{FF2B5EF4-FFF2-40B4-BE49-F238E27FC236}">
                <a16:creationId xmlns:a16="http://schemas.microsoft.com/office/drawing/2014/main" id="{1FD9E076-8077-7C66-1884-E13F210FD7C6}"/>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8" name="MH_SubTitle_1"/>
          <p:cNvSpPr/>
          <p:nvPr>
            <p:custDataLst>
              <p:tags r:id="rId1"/>
            </p:custDataLst>
          </p:nvPr>
        </p:nvSpPr>
        <p:spPr>
          <a:xfrm>
            <a:off x="1501867" y="2152681"/>
            <a:ext cx="3511458" cy="73142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类图的符号</a:t>
            </a:r>
          </a:p>
        </p:txBody>
      </p:sp>
      <p:sp>
        <p:nvSpPr>
          <p:cNvPr id="9" name="MH_Other_1"/>
          <p:cNvSpPr/>
          <p:nvPr>
            <p:custDataLst>
              <p:tags r:id="rId2"/>
            </p:custDataLst>
          </p:nvPr>
        </p:nvSpPr>
        <p:spPr>
          <a:xfrm>
            <a:off x="0" y="2029460"/>
            <a:ext cx="1006571" cy="971550"/>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3"/>
            </p:custDataLst>
          </p:nvPr>
        </p:nvSpPr>
        <p:spPr>
          <a:xfrm>
            <a:off x="987043" y="2029460"/>
            <a:ext cx="516601" cy="971550"/>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2" name="MH_Desc_1"/>
          <p:cNvSpPr/>
          <p:nvPr>
            <p:custDataLst>
              <p:tags r:id="rId4"/>
            </p:custDataLst>
          </p:nvPr>
        </p:nvSpPr>
        <p:spPr>
          <a:xfrm>
            <a:off x="5956687" y="1820863"/>
            <a:ext cx="5414010" cy="32162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类的UML图标是一个矩形框，分成3个部分，上部写类名，中间写属性，下部写操作。类的图形符号如图6-4所示。类与类之间的关系用连线表示，不同的关系用不同的连线和连线端点处的修饰符来区别，如图6-4所示。</a:t>
            </a:r>
          </a:p>
        </p:txBody>
      </p:sp>
      <p:sp>
        <p:nvSpPr>
          <p:cNvPr id="14" name="文本框 13"/>
          <p:cNvSpPr txBox="1"/>
          <p:nvPr/>
        </p:nvSpPr>
        <p:spPr>
          <a:xfrm>
            <a:off x="902970" y="5891107"/>
            <a:ext cx="4170680" cy="307777"/>
          </a:xfrm>
          <a:prstGeom prst="rect">
            <a:avLst/>
          </a:prstGeom>
          <a:noFill/>
        </p:spPr>
        <p:txBody>
          <a:bodyPr wrap="square" rtlCol="0" anchor="t">
            <a:spAutoFit/>
          </a:bodyPr>
          <a:lstStyle/>
          <a:p>
            <a:pPr algn="ctr"/>
            <a:r>
              <a:rPr lang="zh-CN" altLang="en-US" sz="1400" dirty="0"/>
              <a:t>类的一般表示和简单表示</a:t>
            </a:r>
          </a:p>
        </p:txBody>
      </p:sp>
      <p:graphicFrame>
        <p:nvGraphicFramePr>
          <p:cNvPr id="19" name="表格 18">
            <a:extLst>
              <a:ext uri="{FF2B5EF4-FFF2-40B4-BE49-F238E27FC236}">
                <a16:creationId xmlns:a16="http://schemas.microsoft.com/office/drawing/2014/main" id="{670BC96C-C882-7CAE-75C3-9738C23D446A}"/>
              </a:ext>
            </a:extLst>
          </p:cNvPr>
          <p:cNvGraphicFramePr>
            <a:graphicFrameLocks noGrp="1"/>
          </p:cNvGraphicFramePr>
          <p:nvPr>
            <p:extLst>
              <p:ext uri="{D42A27DB-BD31-4B8C-83A1-F6EECF244321}">
                <p14:modId xmlns:p14="http://schemas.microsoft.com/office/powerpoint/2010/main" val="1548649702"/>
              </p:ext>
            </p:extLst>
          </p:nvPr>
        </p:nvGraphicFramePr>
        <p:xfrm>
          <a:off x="1655208" y="4539736"/>
          <a:ext cx="1080000" cy="111252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4229980036"/>
                    </a:ext>
                  </a:extLst>
                </a:gridCol>
              </a:tblGrid>
              <a:tr h="370840">
                <a:tc>
                  <a:txBody>
                    <a:bodyPr/>
                    <a:lstStyle/>
                    <a:p>
                      <a:pPr algn="ctr"/>
                      <a:r>
                        <a:rPr lang="zh-CN" altLang="en-US" sz="1400" b="0" dirty="0">
                          <a:solidFill>
                            <a:sysClr val="windowText" lastClr="000000"/>
                          </a:solidFill>
                        </a:rPr>
                        <a:t>类名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811444"/>
                  </a:ext>
                </a:extLst>
              </a:tr>
              <a:tr h="370840">
                <a:tc>
                  <a:txBody>
                    <a:bodyPr/>
                    <a:lstStyle/>
                    <a:p>
                      <a:pPr algn="ctr"/>
                      <a:r>
                        <a:rPr lang="zh-CN" altLang="en-US" sz="1400" b="0" dirty="0">
                          <a:solidFill>
                            <a:sysClr val="windowText" lastClr="000000"/>
                          </a:solidFill>
                        </a:rPr>
                        <a:t>属性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122994"/>
                  </a:ext>
                </a:extLst>
              </a:tr>
              <a:tr h="370840">
                <a:tc>
                  <a:txBody>
                    <a:bodyPr/>
                    <a:lstStyle/>
                    <a:p>
                      <a:pPr algn="ctr"/>
                      <a:r>
                        <a:rPr lang="zh-CN" altLang="en-US" sz="1400" b="0" dirty="0">
                          <a:solidFill>
                            <a:sysClr val="windowText" lastClr="000000"/>
                          </a:solidFill>
                        </a:rPr>
                        <a:t>操作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7904023"/>
                  </a:ext>
                </a:extLst>
              </a:tr>
            </a:tbl>
          </a:graphicData>
        </a:graphic>
      </p:graphicFrame>
      <p:graphicFrame>
        <p:nvGraphicFramePr>
          <p:cNvPr id="37" name="表格 36">
            <a:extLst>
              <a:ext uri="{FF2B5EF4-FFF2-40B4-BE49-F238E27FC236}">
                <a16:creationId xmlns:a16="http://schemas.microsoft.com/office/drawing/2014/main" id="{02C78B6F-8CCA-4ACE-C1C6-1BF48CC59D5E}"/>
              </a:ext>
            </a:extLst>
          </p:cNvPr>
          <p:cNvGraphicFramePr>
            <a:graphicFrameLocks noGrp="1"/>
          </p:cNvGraphicFramePr>
          <p:nvPr>
            <p:extLst>
              <p:ext uri="{D42A27DB-BD31-4B8C-83A1-F6EECF244321}">
                <p14:modId xmlns:p14="http://schemas.microsoft.com/office/powerpoint/2010/main" val="1439474980"/>
              </p:ext>
            </p:extLst>
          </p:nvPr>
        </p:nvGraphicFramePr>
        <p:xfrm>
          <a:off x="3097840" y="4910576"/>
          <a:ext cx="1080000" cy="37084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4229980036"/>
                    </a:ext>
                  </a:extLst>
                </a:gridCol>
              </a:tblGrid>
              <a:tr h="370840">
                <a:tc>
                  <a:txBody>
                    <a:bodyPr/>
                    <a:lstStyle/>
                    <a:p>
                      <a:pPr algn="ctr"/>
                      <a:r>
                        <a:rPr lang="zh-CN" altLang="en-US" sz="1400" b="0" dirty="0">
                          <a:solidFill>
                            <a:sysClr val="windowText" lastClr="000000"/>
                          </a:solidFill>
                        </a:rPr>
                        <a:t>类名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811444"/>
                  </a:ext>
                </a:extLst>
              </a:tr>
            </a:tbl>
          </a:graphicData>
        </a:graphic>
      </p:graphicFrame>
    </p:spTree>
  </p:cSld>
  <p:clrMapOvr>
    <a:masterClrMapping/>
  </p:clrMapOvr>
  <p:transition>
    <p:diamon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4" name="文本占位符 3">
            <a:extLst>
              <a:ext uri="{FF2B5EF4-FFF2-40B4-BE49-F238E27FC236}">
                <a16:creationId xmlns:a16="http://schemas.microsoft.com/office/drawing/2014/main" id="{D713D917-4028-E1B3-903B-1236FE319090}"/>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17" name="MH_Text_1"/>
          <p:cNvSpPr/>
          <p:nvPr>
            <p:custDataLst>
              <p:tags r:id="rId1"/>
            </p:custDataLst>
          </p:nvPr>
        </p:nvSpPr>
        <p:spPr>
          <a:xfrm>
            <a:off x="3240000" y="2483969"/>
            <a:ext cx="2860040" cy="1057588"/>
          </a:xfrm>
          <a:prstGeom prst="rect">
            <a:avLst/>
          </a:prstGeom>
        </p:spPr>
        <p:txBody>
          <a:bodyPr lIns="72000" tIns="36000" rIns="72000" bIns="36000">
            <a:spAutoFit/>
          </a:bodyPr>
          <a:lstStyle/>
          <a:p>
            <a:pPr marL="285750" indent="-285750">
              <a:spcAft>
                <a:spcPts val="600"/>
              </a:spcAft>
              <a:buFont typeface="Arial" panose="020B0604020202020204" pitchFamily="34" charset="0"/>
              <a:buChar char="•"/>
            </a:pPr>
            <a:r>
              <a:rPr lang="zh-CN" altLang="en-US" dirty="0">
                <a:latin typeface="+mn-ea"/>
              </a:rPr>
              <a:t>名词</a:t>
            </a:r>
            <a:endParaRPr lang="en-US" altLang="zh-CN" dirty="0">
              <a:latin typeface="+mn-ea"/>
            </a:endParaRPr>
          </a:p>
          <a:p>
            <a:pPr marL="285750" indent="-285750">
              <a:spcAft>
                <a:spcPts val="600"/>
              </a:spcAft>
              <a:buFont typeface="Arial" panose="020B0604020202020204" pitchFamily="34" charset="0"/>
              <a:buChar char="•"/>
            </a:pPr>
            <a:r>
              <a:rPr lang="zh-CN" altLang="en-US" dirty="0">
                <a:latin typeface="+mn-ea"/>
              </a:rPr>
              <a:t>含义明确</a:t>
            </a:r>
            <a:endParaRPr lang="en-US" altLang="zh-CN" dirty="0">
              <a:latin typeface="+mn-ea"/>
            </a:endParaRPr>
          </a:p>
          <a:p>
            <a:pPr marL="285750" indent="-285750">
              <a:spcAft>
                <a:spcPts val="600"/>
              </a:spcAft>
              <a:buFont typeface="Arial" panose="020B0604020202020204" pitchFamily="34" charset="0"/>
              <a:buChar char="•"/>
            </a:pPr>
            <a:r>
              <a:rPr lang="zh-CN" altLang="en-US" dirty="0">
                <a:latin typeface="+mn-ea"/>
              </a:rPr>
              <a:t>无歧义。</a:t>
            </a:r>
          </a:p>
        </p:txBody>
      </p:sp>
      <p:sp>
        <p:nvSpPr>
          <p:cNvPr id="18" name="MH_SubTitle_1"/>
          <p:cNvSpPr/>
          <p:nvPr>
            <p:custDataLst>
              <p:tags r:id="rId2"/>
            </p:custDataLst>
          </p:nvPr>
        </p:nvSpPr>
        <p:spPr>
          <a:xfrm>
            <a:off x="2086721" y="2483969"/>
            <a:ext cx="1152000" cy="369332"/>
          </a:xfrm>
          <a:prstGeom prst="rect">
            <a:avLst/>
          </a:prstGeom>
        </p:spPr>
        <p:txBody>
          <a:bodyPr anchor="b">
            <a:spAutoFit/>
          </a:bodyPr>
          <a:lstStyle/>
          <a:p>
            <a:r>
              <a:rPr lang="zh-CN" altLang="en-US" b="1" dirty="0">
                <a:solidFill>
                  <a:srgbClr val="FF7C80"/>
                </a:solidFill>
              </a:rPr>
              <a:t>类的名称</a:t>
            </a:r>
          </a:p>
        </p:txBody>
      </p:sp>
      <p:grpSp>
        <p:nvGrpSpPr>
          <p:cNvPr id="2" name="组合 1">
            <a:extLst>
              <a:ext uri="{FF2B5EF4-FFF2-40B4-BE49-F238E27FC236}">
                <a16:creationId xmlns:a16="http://schemas.microsoft.com/office/drawing/2014/main" id="{1D366401-24CF-452F-9D1E-533E5B60792C}"/>
              </a:ext>
            </a:extLst>
          </p:cNvPr>
          <p:cNvGrpSpPr/>
          <p:nvPr/>
        </p:nvGrpSpPr>
        <p:grpSpPr>
          <a:xfrm>
            <a:off x="694800" y="2160000"/>
            <a:ext cx="1297940" cy="1017270"/>
            <a:chOff x="828565" y="4033545"/>
            <a:chExt cx="1297940" cy="1017270"/>
          </a:xfrm>
        </p:grpSpPr>
        <p:sp>
          <p:nvSpPr>
            <p:cNvPr id="25" name="MH_Other_11"/>
            <p:cNvSpPr>
              <a:spLocks noChangeArrowheads="1"/>
            </p:cNvSpPr>
            <p:nvPr>
              <p:custDataLst>
                <p:tags r:id="rId3"/>
              </p:custDataLst>
            </p:nvPr>
          </p:nvSpPr>
          <p:spPr bwMode="auto">
            <a:xfrm>
              <a:off x="1379110" y="4160545"/>
              <a:ext cx="474345" cy="35560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4"/>
              </p:custDataLst>
            </p:nvPr>
          </p:nvSpPr>
          <p:spPr bwMode="auto">
            <a:xfrm>
              <a:off x="1379110" y="4566945"/>
              <a:ext cx="474345" cy="35560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5"/>
              </p:custDataLst>
            </p:nvPr>
          </p:nvSpPr>
          <p:spPr bwMode="auto">
            <a:xfrm>
              <a:off x="1652160" y="4363745"/>
              <a:ext cx="474345" cy="35560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6"/>
              </p:custDataLst>
            </p:nvPr>
          </p:nvSpPr>
          <p:spPr>
            <a:xfrm>
              <a:off x="864760" y="4033545"/>
              <a:ext cx="715645" cy="1017270"/>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7"/>
              </p:custDataLst>
            </p:nvPr>
          </p:nvSpPr>
          <p:spPr bwMode="auto">
            <a:xfrm>
              <a:off x="828565" y="4033545"/>
              <a:ext cx="677545" cy="1017270"/>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Tree>
  </p:cSld>
  <p:clrMapOvr>
    <a:masterClrMapping/>
  </p:clrMapOvr>
  <p:transition>
    <p:diamon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9BEB8B9A-7DE4-02AF-F15F-B54B128EF44E}"/>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7" name="矩形 6"/>
          <p:cNvSpPr/>
          <p:nvPr/>
        </p:nvSpPr>
        <p:spPr>
          <a:xfrm>
            <a:off x="694802" y="4588605"/>
            <a:ext cx="10673358" cy="1877437"/>
          </a:xfrm>
          <a:prstGeom prst="rect">
            <a:avLst/>
          </a:prstGeom>
        </p:spPr>
        <p:txBody>
          <a:bodyPr wrap="square">
            <a:spAutoFit/>
          </a:bodyPr>
          <a:lstStyle/>
          <a:p>
            <a:pPr marL="285750" indent="-285750" fontAlgn="auto">
              <a:spcAft>
                <a:spcPts val="600"/>
              </a:spcAft>
              <a:buFont typeface="Arial" panose="020B0604020202020204" pitchFamily="34" charset="0"/>
              <a:buChar char="•"/>
              <a:defRPr/>
            </a:pPr>
            <a:r>
              <a:rPr lang="zh-CN" altLang="en-US" sz="1600" dirty="0"/>
              <a:t>属性名和类型名之间用冒号（：）分隔。</a:t>
            </a:r>
          </a:p>
          <a:p>
            <a:pPr marL="285750" indent="-285750" fontAlgn="auto">
              <a:spcAft>
                <a:spcPts val="600"/>
              </a:spcAft>
              <a:buFont typeface="Arial" panose="020B0604020202020204" pitchFamily="34" charset="0"/>
              <a:buChar char="•"/>
              <a:defRPr/>
            </a:pPr>
            <a:r>
              <a:rPr lang="zh-CN" altLang="en-US" sz="1600" dirty="0"/>
              <a:t>类型名表示该属性的数据类型；可以是基本数据类型，也可以是用户自定义的类型</a:t>
            </a:r>
          </a:p>
          <a:p>
            <a:pPr marL="285750" indent="-285750" fontAlgn="auto">
              <a:spcAft>
                <a:spcPts val="600"/>
              </a:spcAft>
              <a:buFont typeface="Arial" panose="020B0604020202020204" pitchFamily="34" charset="0"/>
              <a:buChar char="•"/>
              <a:defRPr/>
            </a:pPr>
            <a:r>
              <a:rPr lang="zh-CN" altLang="en-US" sz="1600" dirty="0"/>
              <a:t>属性的缺省值用属性的初值表示</a:t>
            </a:r>
          </a:p>
          <a:p>
            <a:pPr marL="285750" indent="-285750" fontAlgn="auto">
              <a:spcAft>
                <a:spcPts val="600"/>
              </a:spcAft>
              <a:buFont typeface="Arial" panose="020B0604020202020204" pitchFamily="34" charset="0"/>
              <a:buChar char="•"/>
              <a:defRPr/>
            </a:pPr>
            <a:r>
              <a:rPr lang="zh-CN" altLang="en-US" sz="1600" dirty="0"/>
              <a:t>等号：类型名和初值之间用等号连接</a:t>
            </a:r>
          </a:p>
          <a:p>
            <a:pPr marL="285750" indent="-285750" fontAlgn="auto">
              <a:spcAft>
                <a:spcPts val="600"/>
              </a:spcAft>
              <a:buFont typeface="Arial" panose="020B0604020202020204" pitchFamily="34" charset="0"/>
              <a:buChar char="•"/>
              <a:defRPr/>
            </a:pPr>
            <a:r>
              <a:rPr lang="zh-CN" altLang="en-US" sz="1600" dirty="0"/>
              <a:t>标记值：用花括号括起来的性质串是一个标记值，列出属性所有可能的取值，每个值之间用逗号分隔。也可以用性质串说明该属性的其他信息，比如</a:t>
            </a:r>
            <a:r>
              <a:rPr lang="en-US" altLang="zh-CN" sz="1600" dirty="0"/>
              <a:t>{</a:t>
            </a:r>
            <a:r>
              <a:rPr lang="zh-CN" altLang="en-US" sz="1600" dirty="0"/>
              <a:t>只读</a:t>
            </a:r>
            <a:r>
              <a:rPr lang="en-US" altLang="zh-CN" sz="1600" dirty="0"/>
              <a:t>}</a:t>
            </a:r>
            <a:endParaRPr lang="zh-CN" altLang="en-US" sz="1600" dirty="0"/>
          </a:p>
        </p:txBody>
      </p:sp>
      <p:sp>
        <p:nvSpPr>
          <p:cNvPr id="31" name="MH_Text_2"/>
          <p:cNvSpPr/>
          <p:nvPr>
            <p:custDataLst>
              <p:tags r:id="rId1"/>
            </p:custDataLst>
          </p:nvPr>
        </p:nvSpPr>
        <p:spPr>
          <a:xfrm>
            <a:off x="3240000" y="1484565"/>
            <a:ext cx="8128159" cy="2581082"/>
          </a:xfrm>
          <a:prstGeom prst="rect">
            <a:avLst/>
          </a:prstGeom>
        </p:spPr>
        <p:txBody>
          <a:bodyPr wrap="square" lIns="72000" tIns="36000" rIns="72000" bIns="36000">
            <a:spAutoFit/>
          </a:bodyPr>
          <a:lstStyle/>
          <a:p>
            <a:pPr>
              <a:spcAft>
                <a:spcPts val="600"/>
              </a:spcAft>
            </a:pPr>
            <a:r>
              <a:rPr lang="zh-CN" altLang="en-US" sz="1600" dirty="0">
                <a:latin typeface="+mn-ea"/>
              </a:rPr>
              <a:t>类的属性描述该类对象的共同特性</a:t>
            </a:r>
          </a:p>
          <a:p>
            <a:pPr>
              <a:spcAft>
                <a:spcPts val="600"/>
              </a:spcAft>
            </a:pPr>
            <a:r>
              <a:rPr lang="zh-CN" altLang="en-US" sz="1600" dirty="0">
                <a:latin typeface="+mn-ea"/>
              </a:rPr>
              <a:t>类属性的值应能描述并区分该类的每个对象</a:t>
            </a:r>
          </a:p>
          <a:p>
            <a:pPr>
              <a:spcAft>
                <a:spcPts val="600"/>
              </a:spcAft>
            </a:pPr>
            <a:r>
              <a:rPr lang="zh-CN" altLang="en-US" sz="1600" dirty="0">
                <a:latin typeface="+mn-ea"/>
              </a:rPr>
              <a:t>属性的选取应符合系统建模的目的，系统需要的特性才可作为类的属性。</a:t>
            </a:r>
          </a:p>
          <a:p>
            <a:pPr fontAlgn="auto">
              <a:spcAft>
                <a:spcPts val="600"/>
              </a:spcAft>
              <a:defRPr/>
            </a:pPr>
            <a:r>
              <a:rPr lang="zh-CN" altLang="en-US" sz="1600" dirty="0"/>
              <a:t>属性的可见性</a:t>
            </a:r>
            <a:r>
              <a:rPr lang="en-US" altLang="zh-CN" sz="1600" dirty="0"/>
              <a:t>/</a:t>
            </a:r>
            <a:r>
              <a:rPr lang="zh-CN" altLang="en-US" sz="1600" dirty="0"/>
              <a:t>可访问性，通常分为</a:t>
            </a:r>
            <a:r>
              <a:rPr lang="en-US" altLang="zh-CN" sz="1600" dirty="0"/>
              <a:t>3</a:t>
            </a:r>
            <a:r>
              <a:rPr lang="zh-CN" altLang="en-US" sz="1600" dirty="0"/>
              <a:t>种：</a:t>
            </a:r>
          </a:p>
          <a:p>
            <a:pPr marL="285750" indent="-285750" fontAlgn="auto">
              <a:spcAft>
                <a:spcPts val="600"/>
              </a:spcAft>
              <a:buFont typeface="Arial" panose="020B0604020202020204" pitchFamily="34" charset="0"/>
              <a:buChar char="•"/>
              <a:defRPr/>
            </a:pPr>
            <a:r>
              <a:rPr lang="zh-CN" altLang="en-US" sz="1600" dirty="0"/>
              <a:t>公有 </a:t>
            </a:r>
            <a:r>
              <a:rPr lang="en-US" altLang="zh-CN" sz="1600" dirty="0"/>
              <a:t>Public</a:t>
            </a:r>
            <a:r>
              <a:rPr lang="zh-CN" altLang="en-US" sz="1600" dirty="0"/>
              <a:t>：用加号（</a:t>
            </a:r>
            <a:r>
              <a:rPr lang="en-US" altLang="zh-CN" sz="1600" dirty="0"/>
              <a:t>+</a:t>
            </a:r>
            <a:r>
              <a:rPr lang="zh-CN" altLang="en-US" sz="1600" dirty="0"/>
              <a:t>）表示</a:t>
            </a:r>
          </a:p>
          <a:p>
            <a:pPr marL="285750" indent="-285750" fontAlgn="auto">
              <a:spcAft>
                <a:spcPts val="600"/>
              </a:spcAft>
              <a:buFont typeface="Arial" panose="020B0604020202020204" pitchFamily="34" charset="0"/>
              <a:buChar char="•"/>
              <a:defRPr/>
            </a:pPr>
            <a:r>
              <a:rPr lang="zh-CN" altLang="en-US" sz="1600" dirty="0"/>
              <a:t>私有 </a:t>
            </a:r>
            <a:r>
              <a:rPr lang="en-US" altLang="zh-CN" sz="1600" dirty="0"/>
              <a:t>Private</a:t>
            </a:r>
            <a:r>
              <a:rPr lang="zh-CN" altLang="en-US" sz="1600" dirty="0"/>
              <a:t>：用减号（</a:t>
            </a:r>
            <a:r>
              <a:rPr lang="en-US" altLang="zh-CN" sz="1600" dirty="0"/>
              <a:t>–</a:t>
            </a:r>
            <a:r>
              <a:rPr lang="zh-CN" altLang="en-US" sz="1600" dirty="0"/>
              <a:t>）表示</a:t>
            </a:r>
          </a:p>
          <a:p>
            <a:pPr marL="285750" indent="-285750" fontAlgn="auto">
              <a:spcAft>
                <a:spcPts val="600"/>
              </a:spcAft>
              <a:buFont typeface="Arial" panose="020B0604020202020204" pitchFamily="34" charset="0"/>
              <a:buChar char="•"/>
              <a:defRPr/>
            </a:pPr>
            <a:r>
              <a:rPr lang="zh-CN" altLang="en-US" sz="1600" dirty="0"/>
              <a:t>保护 </a:t>
            </a:r>
            <a:r>
              <a:rPr lang="en-US" altLang="zh-CN" sz="1600" dirty="0"/>
              <a:t>Protected</a:t>
            </a:r>
            <a:r>
              <a:rPr lang="zh-CN" altLang="en-US" sz="1600" dirty="0"/>
              <a:t>：用井号（</a:t>
            </a:r>
            <a:r>
              <a:rPr lang="en-US" altLang="zh-CN" sz="1600" dirty="0"/>
              <a:t>#</a:t>
            </a:r>
            <a:r>
              <a:rPr lang="zh-CN" altLang="en-US" sz="1600" dirty="0"/>
              <a:t>）表示</a:t>
            </a:r>
          </a:p>
          <a:p>
            <a:pPr>
              <a:spcAft>
                <a:spcPts val="600"/>
              </a:spcAft>
            </a:pPr>
            <a:r>
              <a:rPr lang="zh-CN" altLang="en-US" sz="1600" dirty="0">
                <a:latin typeface="+mn-ea"/>
              </a:rPr>
              <a:t>＋性别：字符型＝“男”</a:t>
            </a:r>
            <a:r>
              <a:rPr lang="en-US" altLang="zh-CN" sz="1600" dirty="0">
                <a:latin typeface="+mn-ea"/>
              </a:rPr>
              <a:t>{“</a:t>
            </a:r>
            <a:r>
              <a:rPr lang="zh-CN" altLang="en-US" sz="1600" dirty="0">
                <a:latin typeface="+mn-ea"/>
              </a:rPr>
              <a:t>男”，“女”</a:t>
            </a:r>
            <a:r>
              <a:rPr lang="en-US" altLang="zh-CN" sz="1600" dirty="0">
                <a:latin typeface="+mn-ea"/>
              </a:rPr>
              <a:t>}</a:t>
            </a:r>
          </a:p>
        </p:txBody>
      </p:sp>
      <p:grpSp>
        <p:nvGrpSpPr>
          <p:cNvPr id="8" name="组合 7">
            <a:extLst>
              <a:ext uri="{FF2B5EF4-FFF2-40B4-BE49-F238E27FC236}">
                <a16:creationId xmlns:a16="http://schemas.microsoft.com/office/drawing/2014/main" id="{617D3E80-0751-1F42-BD8B-CE315C36D579}"/>
              </a:ext>
            </a:extLst>
          </p:cNvPr>
          <p:cNvGrpSpPr/>
          <p:nvPr/>
        </p:nvGrpSpPr>
        <p:grpSpPr>
          <a:xfrm>
            <a:off x="694800" y="2160000"/>
            <a:ext cx="1299845" cy="1019175"/>
            <a:chOff x="694800" y="2160000"/>
            <a:chExt cx="1299845" cy="1019175"/>
          </a:xfrm>
        </p:grpSpPr>
        <p:sp>
          <p:nvSpPr>
            <p:cNvPr id="2" name="MH_Other_1"/>
            <p:cNvSpPr>
              <a:spLocks noChangeArrowheads="1"/>
            </p:cNvSpPr>
            <p:nvPr>
              <p:custDataLst>
                <p:tags r:id="rId3"/>
              </p:custDataLst>
            </p:nvPr>
          </p:nvSpPr>
          <p:spPr bwMode="auto">
            <a:xfrm>
              <a:off x="1244710" y="2288905"/>
              <a:ext cx="476250" cy="35560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2"/>
            <p:cNvSpPr>
              <a:spLocks noChangeArrowheads="1"/>
            </p:cNvSpPr>
            <p:nvPr>
              <p:custDataLst>
                <p:tags r:id="rId4"/>
              </p:custDataLst>
            </p:nvPr>
          </p:nvSpPr>
          <p:spPr bwMode="auto">
            <a:xfrm>
              <a:off x="1244710" y="2693400"/>
              <a:ext cx="476250" cy="35687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3"/>
            <p:cNvSpPr>
              <a:spLocks noChangeArrowheads="1"/>
            </p:cNvSpPr>
            <p:nvPr>
              <p:custDataLst>
                <p:tags r:id="rId5"/>
              </p:custDataLst>
            </p:nvPr>
          </p:nvSpPr>
          <p:spPr bwMode="auto">
            <a:xfrm>
              <a:off x="1520300" y="2492105"/>
              <a:ext cx="474345" cy="355600"/>
            </a:xfrm>
            <a:prstGeom prst="diamond">
              <a:avLst/>
            </a:prstGeom>
            <a:solidFill>
              <a:srgbClr val="95D7B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4"/>
            <p:cNvSpPr/>
            <p:nvPr>
              <p:custDataLst>
                <p:tags r:id="rId6"/>
              </p:custDataLst>
            </p:nvPr>
          </p:nvSpPr>
          <p:spPr>
            <a:xfrm>
              <a:off x="732900" y="2160000"/>
              <a:ext cx="713105" cy="101917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6" name="MH_Other_5"/>
            <p:cNvSpPr/>
            <p:nvPr>
              <p:custDataLst>
                <p:tags r:id="rId7"/>
              </p:custDataLst>
            </p:nvPr>
          </p:nvSpPr>
          <p:spPr bwMode="auto">
            <a:xfrm>
              <a:off x="694800" y="2160000"/>
              <a:ext cx="679450" cy="101917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
        <p:nvSpPr>
          <p:cNvPr id="32" name="MH_SubTitle_2"/>
          <p:cNvSpPr/>
          <p:nvPr>
            <p:custDataLst>
              <p:tags r:id="rId2"/>
            </p:custDataLst>
          </p:nvPr>
        </p:nvSpPr>
        <p:spPr>
          <a:xfrm>
            <a:off x="2086721" y="2484921"/>
            <a:ext cx="1153279" cy="369332"/>
          </a:xfrm>
          <a:prstGeom prst="rect">
            <a:avLst/>
          </a:prstGeom>
        </p:spPr>
        <p:txBody>
          <a:bodyPr wrap="square" anchor="b">
            <a:spAutoFit/>
          </a:bodyPr>
          <a:lstStyle/>
          <a:p>
            <a:r>
              <a:rPr lang="zh-CN" altLang="en-US" b="1" dirty="0">
                <a:solidFill>
                  <a:srgbClr val="00B050"/>
                </a:solidFill>
              </a:rPr>
              <a:t>类的属性</a:t>
            </a:r>
          </a:p>
        </p:txBody>
      </p:sp>
      <p:sp>
        <p:nvSpPr>
          <p:cNvPr id="9" name="文本框 8">
            <a:extLst>
              <a:ext uri="{FF2B5EF4-FFF2-40B4-BE49-F238E27FC236}">
                <a16:creationId xmlns:a16="http://schemas.microsoft.com/office/drawing/2014/main" id="{6FFC9B50-E533-65B1-D5FF-0D624D95414C}"/>
              </a:ext>
            </a:extLst>
          </p:cNvPr>
          <p:cNvSpPr txBox="1"/>
          <p:nvPr/>
        </p:nvSpPr>
        <p:spPr>
          <a:xfrm>
            <a:off x="3240000" y="1079543"/>
            <a:ext cx="4225837" cy="369332"/>
          </a:xfrm>
          <a:prstGeom prst="rect">
            <a:avLst/>
          </a:prstGeom>
          <a:noFill/>
        </p:spPr>
        <p:txBody>
          <a:bodyPr wrap="none" rtlCol="0">
            <a:spAutoFit/>
          </a:bodyPr>
          <a:lstStyle/>
          <a:p>
            <a:r>
              <a:rPr lang="zh-CN" altLang="en-US" dirty="0">
                <a:latin typeface="+mn-ea"/>
              </a:rPr>
              <a:t> </a:t>
            </a:r>
            <a:r>
              <a:rPr lang="zh-CN" altLang="en-US" dirty="0">
                <a:solidFill>
                  <a:srgbClr val="00B050"/>
                </a:solidFill>
                <a:latin typeface="+mn-ea"/>
              </a:rPr>
              <a:t>可见性  属性名：类型名＝初值</a:t>
            </a:r>
            <a:r>
              <a:rPr lang="en-US" altLang="zh-CN" dirty="0">
                <a:solidFill>
                  <a:srgbClr val="00B050"/>
                </a:solidFill>
                <a:latin typeface="+mn-ea"/>
              </a:rPr>
              <a:t>{</a:t>
            </a:r>
            <a:r>
              <a:rPr lang="zh-CN" altLang="en-US" dirty="0">
                <a:solidFill>
                  <a:srgbClr val="00B050"/>
                </a:solidFill>
                <a:latin typeface="+mn-ea"/>
              </a:rPr>
              <a:t>性质串</a:t>
            </a:r>
            <a:r>
              <a:rPr lang="en-US" altLang="zh-CN" dirty="0">
                <a:solidFill>
                  <a:srgbClr val="00B050"/>
                </a:solidFill>
                <a:latin typeface="+mn-ea"/>
              </a:rPr>
              <a:t>}</a:t>
            </a:r>
            <a:endParaRPr lang="zh-CN" altLang="en-US" dirty="0"/>
          </a:p>
        </p:txBody>
      </p:sp>
    </p:spTree>
  </p:cSld>
  <p:clrMapOvr>
    <a:masterClrMapping/>
  </p:clrMapOvr>
  <p:transition>
    <p:diamon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6" name="文本占位符 5">
            <a:extLst>
              <a:ext uri="{FF2B5EF4-FFF2-40B4-BE49-F238E27FC236}">
                <a16:creationId xmlns:a16="http://schemas.microsoft.com/office/drawing/2014/main" id="{F0F85287-37D0-A9F4-B98C-60B42154E117}"/>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2" name="组合 1">
            <a:extLst>
              <a:ext uri="{FF2B5EF4-FFF2-40B4-BE49-F238E27FC236}">
                <a16:creationId xmlns:a16="http://schemas.microsoft.com/office/drawing/2014/main" id="{CEE1278E-DC39-972A-2F1C-8EF120992E35}"/>
              </a:ext>
            </a:extLst>
          </p:cNvPr>
          <p:cNvGrpSpPr/>
          <p:nvPr/>
        </p:nvGrpSpPr>
        <p:grpSpPr>
          <a:xfrm>
            <a:off x="694801" y="2160000"/>
            <a:ext cx="1297305" cy="1017905"/>
            <a:chOff x="1250950" y="2193925"/>
            <a:chExt cx="1297305" cy="1017905"/>
          </a:xfrm>
        </p:grpSpPr>
        <p:sp>
          <p:nvSpPr>
            <p:cNvPr id="14" name="MH_Other_6"/>
            <p:cNvSpPr>
              <a:spLocks noChangeArrowheads="1"/>
            </p:cNvSpPr>
            <p:nvPr>
              <p:custDataLst>
                <p:tags r:id="rId3"/>
              </p:custDataLst>
            </p:nvPr>
          </p:nvSpPr>
          <p:spPr bwMode="auto">
            <a:xfrm>
              <a:off x="1800860" y="2320925"/>
              <a:ext cx="474345" cy="35560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7"/>
            <p:cNvSpPr>
              <a:spLocks noChangeArrowheads="1"/>
            </p:cNvSpPr>
            <p:nvPr>
              <p:custDataLst>
                <p:tags r:id="rId4"/>
              </p:custDataLst>
            </p:nvPr>
          </p:nvSpPr>
          <p:spPr bwMode="auto">
            <a:xfrm>
              <a:off x="1800860" y="2727325"/>
              <a:ext cx="474345" cy="35560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8"/>
            <p:cNvSpPr>
              <a:spLocks noChangeArrowheads="1"/>
            </p:cNvSpPr>
            <p:nvPr>
              <p:custDataLst>
                <p:tags r:id="rId5"/>
              </p:custDataLst>
            </p:nvPr>
          </p:nvSpPr>
          <p:spPr bwMode="auto">
            <a:xfrm>
              <a:off x="2073910" y="2524125"/>
              <a:ext cx="474345" cy="35560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9"/>
            <p:cNvSpPr/>
            <p:nvPr>
              <p:custDataLst>
                <p:tags r:id="rId6"/>
              </p:custDataLst>
            </p:nvPr>
          </p:nvSpPr>
          <p:spPr>
            <a:xfrm>
              <a:off x="1286510" y="2193925"/>
              <a:ext cx="715645" cy="101790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2" name="MH_Other_10"/>
            <p:cNvSpPr/>
            <p:nvPr>
              <p:custDataLst>
                <p:tags r:id="rId7"/>
              </p:custDataLst>
            </p:nvPr>
          </p:nvSpPr>
          <p:spPr bwMode="auto">
            <a:xfrm>
              <a:off x="1250950" y="2193925"/>
              <a:ext cx="679450" cy="1017905"/>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
        <p:nvSpPr>
          <p:cNvPr id="23" name="MH_SubTitle_3"/>
          <p:cNvSpPr/>
          <p:nvPr>
            <p:custDataLst>
              <p:tags r:id="rId1"/>
            </p:custDataLst>
          </p:nvPr>
        </p:nvSpPr>
        <p:spPr>
          <a:xfrm>
            <a:off x="2086721" y="2484286"/>
            <a:ext cx="1152000" cy="369332"/>
          </a:xfrm>
          <a:prstGeom prst="rect">
            <a:avLst/>
          </a:prstGeom>
        </p:spPr>
        <p:txBody>
          <a:bodyPr anchor="b">
            <a:spAutoFit/>
          </a:bodyPr>
          <a:lstStyle/>
          <a:p>
            <a:r>
              <a:rPr lang="zh-CN" altLang="en-US" b="1" dirty="0">
                <a:solidFill>
                  <a:srgbClr val="00B0F0"/>
                </a:solidFill>
              </a:rPr>
              <a:t>类的操作</a:t>
            </a:r>
          </a:p>
        </p:txBody>
      </p:sp>
      <p:sp>
        <p:nvSpPr>
          <p:cNvPr id="40" name="MH_Text_2"/>
          <p:cNvSpPr/>
          <p:nvPr>
            <p:custDataLst>
              <p:tags r:id="rId2"/>
            </p:custDataLst>
          </p:nvPr>
        </p:nvSpPr>
        <p:spPr>
          <a:xfrm>
            <a:off x="3240000" y="2484286"/>
            <a:ext cx="6147435" cy="984885"/>
          </a:xfrm>
          <a:prstGeom prst="rect">
            <a:avLst/>
          </a:prstGeom>
        </p:spPr>
        <p:txBody>
          <a:bodyPr>
            <a:spAutoFit/>
          </a:bodyPr>
          <a:lstStyle/>
          <a:p>
            <a:pPr>
              <a:spcAft>
                <a:spcPts val="600"/>
              </a:spcAft>
            </a:pPr>
            <a:r>
              <a:rPr lang="zh-CN" altLang="en-US" sz="1600" dirty="0">
                <a:latin typeface="+mn-ea"/>
              </a:rPr>
              <a:t>类的操作用于修改、检索类的属性或执行某些动作</a:t>
            </a:r>
          </a:p>
          <a:p>
            <a:pPr>
              <a:spcAft>
                <a:spcPts val="600"/>
              </a:spcAft>
            </a:pPr>
            <a:r>
              <a:rPr lang="zh-CN" altLang="en-US" sz="1600" dirty="0">
                <a:latin typeface="+mn-ea"/>
              </a:rPr>
              <a:t>操作只能用于该类的对象上。描述类的操作的语法规则为</a:t>
            </a:r>
          </a:p>
          <a:p>
            <a:pPr>
              <a:spcAft>
                <a:spcPts val="600"/>
              </a:spcAft>
            </a:pPr>
            <a:r>
              <a:rPr lang="zh-CN" altLang="en-US" sz="1600" dirty="0">
                <a:solidFill>
                  <a:srgbClr val="00B0F0"/>
                </a:solidFill>
                <a:latin typeface="+mn-ea"/>
              </a:rPr>
              <a:t>可见性  操作名（参数表）：返回值类型</a:t>
            </a:r>
            <a:r>
              <a:rPr lang="en-US" altLang="zh-CN" sz="1600" dirty="0">
                <a:solidFill>
                  <a:srgbClr val="00B0F0"/>
                </a:solidFill>
                <a:latin typeface="+mn-ea"/>
              </a:rPr>
              <a:t>{</a:t>
            </a:r>
            <a:r>
              <a:rPr lang="zh-CN" altLang="en-US" sz="1600" dirty="0">
                <a:solidFill>
                  <a:srgbClr val="00B0F0"/>
                </a:solidFill>
                <a:latin typeface="+mn-ea"/>
              </a:rPr>
              <a:t>性质串</a:t>
            </a:r>
            <a:r>
              <a:rPr lang="en-US" altLang="zh-CN" sz="1600" dirty="0">
                <a:solidFill>
                  <a:srgbClr val="00B0F0"/>
                </a:solidFill>
                <a:latin typeface="+mn-ea"/>
              </a:rPr>
              <a:t>}</a:t>
            </a:r>
            <a:endParaRPr lang="zh-CN" altLang="en-US" sz="1600" dirty="0">
              <a:solidFill>
                <a:srgbClr val="00B0F0"/>
              </a:solidFill>
              <a:latin typeface="+mn-ea"/>
            </a:endParaRPr>
          </a:p>
        </p:txBody>
      </p:sp>
      <p:graphicFrame>
        <p:nvGraphicFramePr>
          <p:cNvPr id="5" name="表格 4">
            <a:extLst>
              <a:ext uri="{FF2B5EF4-FFF2-40B4-BE49-F238E27FC236}">
                <a16:creationId xmlns:a16="http://schemas.microsoft.com/office/drawing/2014/main" id="{B74D932E-819F-2CD1-F134-D431B839033E}"/>
              </a:ext>
            </a:extLst>
          </p:cNvPr>
          <p:cNvGraphicFramePr>
            <a:graphicFrameLocks noGrp="1"/>
          </p:cNvGraphicFramePr>
          <p:nvPr>
            <p:extLst>
              <p:ext uri="{D42A27DB-BD31-4B8C-83A1-F6EECF244321}">
                <p14:modId xmlns:p14="http://schemas.microsoft.com/office/powerpoint/2010/main" val="2107883302"/>
              </p:ext>
            </p:extLst>
          </p:nvPr>
        </p:nvGraphicFramePr>
        <p:xfrm>
          <a:off x="4836000" y="4240875"/>
          <a:ext cx="2520000" cy="168656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4229980036"/>
                    </a:ext>
                  </a:extLst>
                </a:gridCol>
              </a:tblGrid>
              <a:tr h="370840">
                <a:tc>
                  <a:txBody>
                    <a:bodyPr/>
                    <a:lstStyle/>
                    <a:p>
                      <a:pPr algn="ctr"/>
                      <a:r>
                        <a:rPr lang="en-US" altLang="zh-CN" sz="1400" b="0" dirty="0">
                          <a:solidFill>
                            <a:sysClr val="windowText" lastClr="000000"/>
                          </a:solidFill>
                        </a:rPr>
                        <a:t>Student</a:t>
                      </a:r>
                      <a:endParaRPr lang="zh-CN" altLang="en-US" sz="14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811444"/>
                  </a:ext>
                </a:extLst>
              </a:tr>
              <a:tr h="370840">
                <a:tc>
                  <a:txBody>
                    <a:bodyPr/>
                    <a:lstStyle/>
                    <a:p>
                      <a:pPr algn="l"/>
                      <a:r>
                        <a:rPr lang="en-US" altLang="zh-CN" sz="1400" b="0" dirty="0">
                          <a:solidFill>
                            <a:sysClr val="windowText" lastClr="000000"/>
                          </a:solidFill>
                        </a:rPr>
                        <a:t>-</a:t>
                      </a:r>
                      <a:r>
                        <a:rPr lang="en-US" altLang="zh-CN" sz="1400" b="0" dirty="0" err="1">
                          <a:solidFill>
                            <a:sysClr val="windowText" lastClr="000000"/>
                          </a:solidFill>
                        </a:rPr>
                        <a:t>name:String</a:t>
                      </a:r>
                      <a:endParaRPr lang="en-US" altLang="zh-CN" sz="1400" b="0" dirty="0">
                        <a:solidFill>
                          <a:sysClr val="windowText" lastClr="000000"/>
                        </a:solidFill>
                      </a:endParaRPr>
                    </a:p>
                    <a:p>
                      <a:pPr algn="l"/>
                      <a:r>
                        <a:rPr lang="en-US" altLang="zh-CN" sz="1400" b="0" dirty="0">
                          <a:solidFill>
                            <a:sysClr val="windowText" lastClr="000000"/>
                          </a:solidFill>
                        </a:rPr>
                        <a:t>-</a:t>
                      </a:r>
                      <a:r>
                        <a:rPr lang="en-US" altLang="zh-CN" sz="1400" b="0" dirty="0" err="1">
                          <a:solidFill>
                            <a:sysClr val="windowText" lastClr="000000"/>
                          </a:solidFill>
                        </a:rPr>
                        <a:t>age:Integer</a:t>
                      </a:r>
                      <a:endParaRPr lang="en-US" altLang="zh-CN" sz="1400" b="0" dirty="0">
                        <a:solidFill>
                          <a:sysClr val="windowText" lastClr="000000"/>
                        </a:solidFill>
                      </a:endParaRPr>
                    </a:p>
                    <a:p>
                      <a:pPr algn="l"/>
                      <a:r>
                        <a:rPr lang="en-US" altLang="zh-CN" sz="1400" b="0" dirty="0">
                          <a:solidFill>
                            <a:sysClr val="windowText" lastClr="000000"/>
                          </a:solidFill>
                        </a:rPr>
                        <a:t>-</a:t>
                      </a:r>
                      <a:r>
                        <a:rPr lang="en-US" altLang="zh-CN" sz="1400" b="0" dirty="0" err="1">
                          <a:solidFill>
                            <a:sysClr val="windowText" lastClr="000000"/>
                          </a:solidFill>
                        </a:rPr>
                        <a:t>gender:Character</a:t>
                      </a:r>
                      <a:r>
                        <a:rPr lang="en-US" altLang="zh-CN" sz="1400" b="0" dirty="0">
                          <a:solidFill>
                            <a:sysClr val="windowText" lastClr="000000"/>
                          </a:solidFill>
                        </a:rPr>
                        <a:t>=‘M’</a:t>
                      </a:r>
                    </a:p>
                    <a:p>
                      <a:pPr algn="l"/>
                      <a:r>
                        <a:rPr lang="en-US" altLang="zh-CN" sz="1400" b="0" dirty="0">
                          <a:solidFill>
                            <a:sysClr val="windowText" lastClr="000000"/>
                          </a:solidFill>
                        </a:rPr>
                        <a:t>#major:String</a:t>
                      </a:r>
                      <a:endParaRPr lang="zh-CN" altLang="en-US" sz="14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122994"/>
                  </a:ext>
                </a:extLst>
              </a:tr>
              <a:tr h="370840">
                <a:tc>
                  <a:txBody>
                    <a:bodyPr/>
                    <a:lstStyle/>
                    <a:p>
                      <a:pPr algn="l"/>
                      <a:r>
                        <a:rPr lang="en-US" altLang="zh-CN" sz="1400" b="0" dirty="0">
                          <a:solidFill>
                            <a:sysClr val="windowText" lastClr="000000"/>
                          </a:solidFill>
                        </a:rPr>
                        <a:t>+register():void</a:t>
                      </a:r>
                      <a:endParaRPr lang="zh-CN" altLang="en-US" sz="1400" b="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7904023"/>
                  </a:ext>
                </a:extLst>
              </a:tr>
            </a:tbl>
          </a:graphicData>
        </a:graphic>
      </p:graphicFrame>
    </p:spTree>
  </p:cSld>
  <p:clrMapOvr>
    <a:masterClrMapping/>
  </p:clrMapOvr>
  <p:transition>
    <p:diamon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73A99D04-E629-E3BE-B9F9-4EB0E744393C}"/>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F8E10976-6E62-3C19-C45F-FF9A4DBA9DB7}"/>
              </a:ext>
            </a:extLst>
          </p:cNvPr>
          <p:cNvGrpSpPr/>
          <p:nvPr/>
        </p:nvGrpSpPr>
        <p:grpSpPr>
          <a:xfrm>
            <a:off x="7178675" y="694054"/>
            <a:ext cx="5013325" cy="973455"/>
            <a:chOff x="7193915" y="694054"/>
            <a:chExt cx="5013325" cy="973455"/>
          </a:xfrm>
        </p:grpSpPr>
        <p:sp>
          <p:nvSpPr>
            <p:cNvPr id="19" name="MH_SubTitle_2"/>
            <p:cNvSpPr/>
            <p:nvPr>
              <p:custDataLst>
                <p:tags r:id="rId1"/>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p:cNvSpPr/>
            <p:nvPr>
              <p:custDataLst>
                <p:tags r:id="rId2"/>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3"/>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1279EE54-B8C9-E08C-CF11-8861AB5831C4}"/>
              </a:ext>
            </a:extLst>
          </p:cNvPr>
          <p:cNvSpPr txBox="1"/>
          <p:nvPr/>
        </p:nvSpPr>
        <p:spPr>
          <a:xfrm>
            <a:off x="694801" y="1980000"/>
            <a:ext cx="6324600" cy="2492990"/>
          </a:xfrm>
          <a:prstGeom prst="rect">
            <a:avLst/>
          </a:prstGeom>
          <a:noFill/>
        </p:spPr>
        <p:txBody>
          <a:bodyPr wrap="square" rtlCol="0">
            <a:spAutoFit/>
          </a:bodyPr>
          <a:lstStyle/>
          <a:p>
            <a:pPr>
              <a:spcAft>
                <a:spcPts val="600"/>
              </a:spcAft>
            </a:pPr>
            <a:r>
              <a:rPr lang="zh-CN" altLang="en-US" dirty="0"/>
              <a:t>描述了系统中类与类之间的六种核心关系，从强到弱分别是：</a:t>
            </a:r>
            <a:endParaRPr lang="en-US" altLang="zh-CN" dirty="0"/>
          </a:p>
          <a:p>
            <a:pPr marL="285750" indent="-285750">
              <a:spcAft>
                <a:spcPts val="600"/>
              </a:spcAft>
              <a:buFont typeface="Arial" panose="020B0604020202020204" pitchFamily="34" charset="0"/>
              <a:buChar char="•"/>
            </a:pPr>
            <a:r>
              <a:rPr lang="zh-CN" altLang="en-US" dirty="0"/>
              <a:t>泛化 </a:t>
            </a:r>
            <a:r>
              <a:rPr lang="en-US" altLang="zh-CN" dirty="0"/>
              <a:t>Generalization</a:t>
            </a:r>
          </a:p>
          <a:p>
            <a:pPr marL="285750" indent="-285750">
              <a:spcAft>
                <a:spcPts val="600"/>
              </a:spcAft>
              <a:buFont typeface="Arial" panose="020B0604020202020204" pitchFamily="34" charset="0"/>
              <a:buChar char="•"/>
            </a:pPr>
            <a:r>
              <a:rPr lang="zh-CN" altLang="en-US" dirty="0"/>
              <a:t>实现 </a:t>
            </a:r>
            <a:r>
              <a:rPr lang="en-US" altLang="zh-CN" dirty="0"/>
              <a:t>Realization</a:t>
            </a:r>
          </a:p>
          <a:p>
            <a:pPr marL="285750" indent="-285750">
              <a:spcAft>
                <a:spcPts val="600"/>
              </a:spcAft>
              <a:buFont typeface="Arial" panose="020B0604020202020204" pitchFamily="34" charset="0"/>
              <a:buChar char="•"/>
            </a:pPr>
            <a:r>
              <a:rPr lang="zh-CN" altLang="en-US" dirty="0"/>
              <a:t>组合 </a:t>
            </a:r>
            <a:r>
              <a:rPr lang="en-US" altLang="zh-CN" dirty="0"/>
              <a:t>Composition</a:t>
            </a:r>
          </a:p>
          <a:p>
            <a:pPr marL="285750" indent="-285750">
              <a:spcAft>
                <a:spcPts val="600"/>
              </a:spcAft>
              <a:buFont typeface="Arial" panose="020B0604020202020204" pitchFamily="34" charset="0"/>
              <a:buChar char="•"/>
            </a:pPr>
            <a:r>
              <a:rPr lang="zh-CN" altLang="en-US" dirty="0"/>
              <a:t>聚合 </a:t>
            </a:r>
            <a:r>
              <a:rPr lang="en-US" altLang="zh-CN" dirty="0"/>
              <a:t>Aggregation</a:t>
            </a:r>
          </a:p>
          <a:p>
            <a:pPr marL="285750" indent="-285750">
              <a:spcAft>
                <a:spcPts val="600"/>
              </a:spcAft>
              <a:buFont typeface="Arial" panose="020B0604020202020204" pitchFamily="34" charset="0"/>
              <a:buChar char="•"/>
            </a:pPr>
            <a:r>
              <a:rPr lang="zh-CN" altLang="en-US" dirty="0"/>
              <a:t>关联 </a:t>
            </a:r>
            <a:r>
              <a:rPr lang="en-US" altLang="zh-CN" dirty="0"/>
              <a:t>Association</a:t>
            </a:r>
          </a:p>
          <a:p>
            <a:pPr marL="285750" indent="-285750">
              <a:spcAft>
                <a:spcPts val="600"/>
              </a:spcAft>
              <a:buFont typeface="Arial" panose="020B0604020202020204" pitchFamily="34" charset="0"/>
              <a:buChar char="•"/>
            </a:pPr>
            <a:r>
              <a:rPr lang="zh-CN" altLang="en-US" dirty="0"/>
              <a:t>依赖 </a:t>
            </a:r>
            <a:r>
              <a:rPr lang="en-US" altLang="zh-CN" dirty="0"/>
              <a:t>Dependency</a:t>
            </a:r>
            <a:endParaRPr lang="zh-CN" altLang="en-US" dirty="0"/>
          </a:p>
        </p:txBody>
      </p:sp>
      <p:pic>
        <p:nvPicPr>
          <p:cNvPr id="27" name="图片 26">
            <a:extLst>
              <a:ext uri="{FF2B5EF4-FFF2-40B4-BE49-F238E27FC236}">
                <a16:creationId xmlns:a16="http://schemas.microsoft.com/office/drawing/2014/main" id="{30A5431F-E047-E4B3-B76D-450B8A751982}"/>
              </a:ext>
            </a:extLst>
          </p:cNvPr>
          <p:cNvPicPr>
            <a:picLocks noChangeAspect="1"/>
          </p:cNvPicPr>
          <p:nvPr/>
        </p:nvPicPr>
        <p:blipFill>
          <a:blip r:embed="rId5"/>
          <a:stretch>
            <a:fillRect/>
          </a:stretch>
        </p:blipFill>
        <p:spPr>
          <a:xfrm>
            <a:off x="3061802" y="3800009"/>
            <a:ext cx="2000250" cy="228600"/>
          </a:xfrm>
          <a:prstGeom prst="rect">
            <a:avLst/>
          </a:prstGeom>
        </p:spPr>
      </p:pic>
      <p:pic>
        <p:nvPicPr>
          <p:cNvPr id="28" name="图片 27">
            <a:extLst>
              <a:ext uri="{FF2B5EF4-FFF2-40B4-BE49-F238E27FC236}">
                <a16:creationId xmlns:a16="http://schemas.microsoft.com/office/drawing/2014/main" id="{F4F54E2C-2664-B7E1-F3FB-1F56D2316488}"/>
              </a:ext>
            </a:extLst>
          </p:cNvPr>
          <p:cNvPicPr>
            <a:picLocks noChangeAspect="1"/>
          </p:cNvPicPr>
          <p:nvPr/>
        </p:nvPicPr>
        <p:blipFill>
          <a:blip r:embed="rId6"/>
          <a:stretch>
            <a:fillRect/>
          </a:stretch>
        </p:blipFill>
        <p:spPr>
          <a:xfrm>
            <a:off x="3061802" y="4149949"/>
            <a:ext cx="2000250" cy="228600"/>
          </a:xfrm>
          <a:prstGeom prst="rect">
            <a:avLst/>
          </a:prstGeom>
        </p:spPr>
      </p:pic>
      <p:pic>
        <p:nvPicPr>
          <p:cNvPr id="29" name="图片 28">
            <a:extLst>
              <a:ext uri="{FF2B5EF4-FFF2-40B4-BE49-F238E27FC236}">
                <a16:creationId xmlns:a16="http://schemas.microsoft.com/office/drawing/2014/main" id="{A739FCF3-93ED-7D84-5DD0-882CDDFB5B3C}"/>
              </a:ext>
            </a:extLst>
          </p:cNvPr>
          <p:cNvPicPr>
            <a:picLocks noChangeAspect="1"/>
          </p:cNvPicPr>
          <p:nvPr/>
        </p:nvPicPr>
        <p:blipFill>
          <a:blip r:embed="rId7"/>
          <a:stretch>
            <a:fillRect/>
          </a:stretch>
        </p:blipFill>
        <p:spPr>
          <a:xfrm>
            <a:off x="3061802" y="3450068"/>
            <a:ext cx="2000250" cy="228600"/>
          </a:xfrm>
          <a:prstGeom prst="rect">
            <a:avLst/>
          </a:prstGeom>
        </p:spPr>
      </p:pic>
      <p:pic>
        <p:nvPicPr>
          <p:cNvPr id="30" name="图片 29">
            <a:extLst>
              <a:ext uri="{FF2B5EF4-FFF2-40B4-BE49-F238E27FC236}">
                <a16:creationId xmlns:a16="http://schemas.microsoft.com/office/drawing/2014/main" id="{72818ECF-1A48-556D-DE34-6E2AB25C2104}"/>
              </a:ext>
            </a:extLst>
          </p:cNvPr>
          <p:cNvPicPr>
            <a:picLocks noChangeAspect="1"/>
          </p:cNvPicPr>
          <p:nvPr/>
        </p:nvPicPr>
        <p:blipFill>
          <a:blip r:embed="rId8"/>
          <a:stretch>
            <a:fillRect/>
          </a:stretch>
        </p:blipFill>
        <p:spPr>
          <a:xfrm>
            <a:off x="3061802" y="3100127"/>
            <a:ext cx="2000250" cy="228600"/>
          </a:xfrm>
          <a:prstGeom prst="rect">
            <a:avLst/>
          </a:prstGeom>
        </p:spPr>
      </p:pic>
      <p:pic>
        <p:nvPicPr>
          <p:cNvPr id="31" name="图片 30">
            <a:extLst>
              <a:ext uri="{FF2B5EF4-FFF2-40B4-BE49-F238E27FC236}">
                <a16:creationId xmlns:a16="http://schemas.microsoft.com/office/drawing/2014/main" id="{E8460151-C848-CCBE-3E56-E96CB278A4A1}"/>
              </a:ext>
            </a:extLst>
          </p:cNvPr>
          <p:cNvPicPr>
            <a:picLocks noChangeAspect="1"/>
          </p:cNvPicPr>
          <p:nvPr/>
        </p:nvPicPr>
        <p:blipFill>
          <a:blip r:embed="rId9"/>
          <a:stretch>
            <a:fillRect/>
          </a:stretch>
        </p:blipFill>
        <p:spPr>
          <a:xfrm>
            <a:off x="3061802" y="2400245"/>
            <a:ext cx="2000250" cy="228600"/>
          </a:xfrm>
          <a:prstGeom prst="rect">
            <a:avLst/>
          </a:prstGeom>
        </p:spPr>
      </p:pic>
      <p:pic>
        <p:nvPicPr>
          <p:cNvPr id="32" name="图片 31">
            <a:extLst>
              <a:ext uri="{FF2B5EF4-FFF2-40B4-BE49-F238E27FC236}">
                <a16:creationId xmlns:a16="http://schemas.microsoft.com/office/drawing/2014/main" id="{B60D813A-065B-E0C9-6DF7-21DC37A8A541}"/>
              </a:ext>
            </a:extLst>
          </p:cNvPr>
          <p:cNvPicPr>
            <a:picLocks noChangeAspect="1"/>
          </p:cNvPicPr>
          <p:nvPr/>
        </p:nvPicPr>
        <p:blipFill>
          <a:blip r:embed="rId10"/>
          <a:stretch>
            <a:fillRect/>
          </a:stretch>
        </p:blipFill>
        <p:spPr>
          <a:xfrm>
            <a:off x="3061802" y="2750186"/>
            <a:ext cx="2000250" cy="228600"/>
          </a:xfrm>
          <a:prstGeom prst="rect">
            <a:avLst/>
          </a:prstGeom>
        </p:spPr>
      </p:pic>
    </p:spTree>
  </p:cSld>
  <p:clrMapOvr>
    <a:masterClrMapping/>
  </p:clrMapOvr>
  <p:transition>
    <p:diamon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5B59-7AE8-D9D8-08B3-EAB3A8B011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32DA6-4014-8033-873B-52990F26A206}"/>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490EEBBE-C541-4AA2-3CEC-CB4D5A1A27F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109C131A-5808-5AAF-A9B6-E72077454F50}"/>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DAB5585B-3D12-832B-EEC3-7A6E6F052774}"/>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AC869FDA-F13B-3099-0A0B-483DFB61F378}"/>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4D0E26AD-1EBC-0E74-E214-FD2D7DF251C8}"/>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DE5240CD-DBB0-0311-C358-D3849F59B74D}"/>
              </a:ext>
            </a:extLst>
          </p:cNvPr>
          <p:cNvSpPr txBox="1"/>
          <p:nvPr/>
        </p:nvSpPr>
        <p:spPr>
          <a:xfrm>
            <a:off x="694801" y="1980000"/>
            <a:ext cx="6324600" cy="2492990"/>
          </a:xfrm>
          <a:prstGeom prst="rect">
            <a:avLst/>
          </a:prstGeom>
          <a:noFill/>
        </p:spPr>
        <p:txBody>
          <a:bodyPr wrap="square" rtlCol="0">
            <a:spAutoFit/>
          </a:bodyPr>
          <a:lstStyle/>
          <a:p>
            <a:pPr>
              <a:spcAft>
                <a:spcPts val="600"/>
              </a:spcAft>
            </a:pPr>
            <a:r>
              <a:rPr lang="zh-CN" altLang="en-US" dirty="0"/>
              <a:t>泛化 </a:t>
            </a:r>
            <a:r>
              <a:rPr lang="en-US" altLang="zh-CN" dirty="0"/>
              <a:t> Generalization</a:t>
            </a:r>
          </a:p>
          <a:p>
            <a:pPr marL="285750" indent="-285750">
              <a:spcAft>
                <a:spcPts val="600"/>
              </a:spcAft>
              <a:buFont typeface="Arial" panose="020B0604020202020204" pitchFamily="34" charset="0"/>
              <a:buChar char="•"/>
            </a:pPr>
            <a:r>
              <a:rPr lang="zh-CN" altLang="en-US" dirty="0"/>
              <a:t>继承关系</a:t>
            </a:r>
            <a:endParaRPr lang="en-US" altLang="zh-CN" dirty="0"/>
          </a:p>
          <a:p>
            <a:pPr marL="285750" indent="-285750">
              <a:spcAft>
                <a:spcPts val="600"/>
              </a:spcAft>
              <a:buFont typeface="Arial" panose="020B0604020202020204" pitchFamily="34" charset="0"/>
              <a:buChar char="•"/>
            </a:pPr>
            <a:r>
              <a:rPr lang="zh-CN" altLang="en-US" dirty="0"/>
              <a:t>表示一个类（子类）是另一个类（父类）的特殊形式</a:t>
            </a:r>
            <a:endParaRPr lang="en-US" altLang="zh-CN" dirty="0"/>
          </a:p>
          <a:p>
            <a:pPr marL="285750" indent="-285750">
              <a:spcAft>
                <a:spcPts val="600"/>
              </a:spcAft>
              <a:buFont typeface="Arial" panose="020B0604020202020204" pitchFamily="34" charset="0"/>
              <a:buChar char="•"/>
            </a:pPr>
            <a:r>
              <a:rPr lang="zh-CN" altLang="en-US" dirty="0"/>
              <a:t>是一种 </a:t>
            </a:r>
            <a:r>
              <a:rPr lang="en-US" altLang="zh-CN" dirty="0"/>
              <a:t>is-a </a:t>
            </a:r>
            <a:r>
              <a:rPr lang="zh-CN" altLang="en-US" dirty="0"/>
              <a:t>的关系</a:t>
            </a:r>
            <a:endParaRPr lang="en-US" altLang="zh-CN" dirty="0"/>
          </a:p>
          <a:p>
            <a:pPr marL="285750" indent="-285750">
              <a:spcAft>
                <a:spcPts val="600"/>
              </a:spcAft>
              <a:buFont typeface="Arial" panose="020B0604020202020204" pitchFamily="34" charset="0"/>
              <a:buChar char="•"/>
            </a:pPr>
            <a:r>
              <a:rPr lang="zh-CN" altLang="en-US" dirty="0"/>
              <a:t>由子类指向父类的实线 </a:t>
            </a:r>
            <a:r>
              <a:rPr lang="en-US" altLang="zh-CN" dirty="0"/>
              <a:t>+ </a:t>
            </a:r>
            <a:r>
              <a:rPr lang="zh-CN" altLang="en-US" dirty="0"/>
              <a:t>空心三角箭头</a:t>
            </a:r>
            <a:endParaRPr lang="en-US" altLang="zh-CN" dirty="0"/>
          </a:p>
          <a:p>
            <a:pPr marL="285750" indent="-285750">
              <a:spcAft>
                <a:spcPts val="600"/>
              </a:spcAft>
              <a:buFont typeface="Arial" panose="020B0604020202020204" pitchFamily="34" charset="0"/>
              <a:buChar char="•"/>
            </a:pPr>
            <a:r>
              <a:rPr lang="zh-CN" altLang="en-US" dirty="0"/>
              <a:t>代码实现中采用关键字 </a:t>
            </a:r>
            <a:r>
              <a:rPr lang="en-US" altLang="zh-CN" dirty="0"/>
              <a:t>extends</a:t>
            </a:r>
          </a:p>
          <a:p>
            <a:pPr marL="742950" lvl="1" indent="-285750">
              <a:spcAft>
                <a:spcPts val="600"/>
              </a:spcAft>
              <a:buFont typeface="Arial" panose="020B0604020202020204" pitchFamily="34" charset="0"/>
              <a:buChar char="•"/>
            </a:pPr>
            <a:r>
              <a:rPr lang="zh-CN" altLang="en-US" dirty="0"/>
              <a:t>汽车是交通工具</a:t>
            </a:r>
            <a:endParaRPr lang="en-US" altLang="zh-CN" dirty="0"/>
          </a:p>
        </p:txBody>
      </p:sp>
      <p:sp>
        <p:nvSpPr>
          <p:cNvPr id="2" name="MH_SubTitle_2">
            <a:extLst>
              <a:ext uri="{FF2B5EF4-FFF2-40B4-BE49-F238E27FC236}">
                <a16:creationId xmlns:a16="http://schemas.microsoft.com/office/drawing/2014/main" id="{D843B03E-F5D8-BF75-09A2-281FC8D8F6DA}"/>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a:latin typeface="+mj-lt"/>
                <a:ea typeface="+mj-ea"/>
              </a:rPr>
              <a:t>泛化 </a:t>
            </a:r>
            <a:r>
              <a:rPr lang="en-US" altLang="zh-CN" dirty="0">
                <a:latin typeface="+mj-lt"/>
                <a:ea typeface="+mj-ea"/>
              </a:rPr>
              <a:t>Generalization</a:t>
            </a:r>
            <a:endParaRPr lang="zh-CN" altLang="en-US" dirty="0">
              <a:latin typeface="+mj-lt"/>
              <a:ea typeface="+mj-ea"/>
            </a:endParaRPr>
          </a:p>
        </p:txBody>
      </p:sp>
      <p:grpSp>
        <p:nvGrpSpPr>
          <p:cNvPr id="24" name="组合 23">
            <a:extLst>
              <a:ext uri="{FF2B5EF4-FFF2-40B4-BE49-F238E27FC236}">
                <a16:creationId xmlns:a16="http://schemas.microsoft.com/office/drawing/2014/main" id="{AAA31212-E9EA-2EB8-8E7A-CAD747FA5B7E}"/>
              </a:ext>
            </a:extLst>
          </p:cNvPr>
          <p:cNvGrpSpPr/>
          <p:nvPr/>
        </p:nvGrpSpPr>
        <p:grpSpPr>
          <a:xfrm>
            <a:off x="5115922" y="3429000"/>
            <a:ext cx="1953867" cy="307777"/>
            <a:chOff x="7703516" y="4304406"/>
            <a:chExt cx="1953867" cy="307777"/>
          </a:xfrm>
        </p:grpSpPr>
        <p:cxnSp>
          <p:nvCxnSpPr>
            <p:cNvPr id="11" name="直接连接符 10">
              <a:extLst>
                <a:ext uri="{FF2B5EF4-FFF2-40B4-BE49-F238E27FC236}">
                  <a16:creationId xmlns:a16="http://schemas.microsoft.com/office/drawing/2014/main" id="{D40255BE-DE59-7378-4911-38E7655D28CB}"/>
                </a:ext>
              </a:extLst>
            </p:cNvPr>
            <p:cNvCxnSpPr>
              <a:cxnSpLocks/>
            </p:cNvCxnSpPr>
            <p:nvPr/>
          </p:nvCxnSpPr>
          <p:spPr>
            <a:xfrm>
              <a:off x="7703516" y="4458294"/>
              <a:ext cx="122529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545964F3-13B4-6D6A-E22C-6F24650A86EC}"/>
                </a:ext>
              </a:extLst>
            </p:cNvPr>
            <p:cNvSpPr txBox="1"/>
            <p:nvPr/>
          </p:nvSpPr>
          <p:spPr>
            <a:xfrm>
              <a:off x="9113643" y="4304406"/>
              <a:ext cx="543740" cy="307777"/>
            </a:xfrm>
            <a:prstGeom prst="rect">
              <a:avLst/>
            </a:prstGeom>
            <a:noFill/>
          </p:spPr>
          <p:txBody>
            <a:bodyPr wrap="none" rtlCol="0">
              <a:spAutoFit/>
            </a:bodyPr>
            <a:lstStyle/>
            <a:p>
              <a:pPr algn="ctr"/>
              <a:r>
                <a:rPr lang="zh-CN" altLang="en-US" sz="1400" dirty="0"/>
                <a:t>泛化</a:t>
              </a:r>
            </a:p>
          </p:txBody>
        </p:sp>
        <p:sp>
          <p:nvSpPr>
            <p:cNvPr id="18" name="等腰三角形 17">
              <a:extLst>
                <a:ext uri="{FF2B5EF4-FFF2-40B4-BE49-F238E27FC236}">
                  <a16:creationId xmlns:a16="http://schemas.microsoft.com/office/drawing/2014/main" id="{8D7C9488-ADDF-6602-0B12-9F3B16D3E80E}"/>
                </a:ext>
              </a:extLst>
            </p:cNvPr>
            <p:cNvSpPr/>
            <p:nvPr/>
          </p:nvSpPr>
          <p:spPr>
            <a:xfrm rot="5400000">
              <a:off x="8918301" y="4392604"/>
              <a:ext cx="152400" cy="131379"/>
            </a:xfrm>
            <a:prstGeom prst="triangl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a:extLst>
              <a:ext uri="{FF2B5EF4-FFF2-40B4-BE49-F238E27FC236}">
                <a16:creationId xmlns:a16="http://schemas.microsoft.com/office/drawing/2014/main" id="{D231C630-C85E-6781-6EC7-0C5984EA6B05}"/>
              </a:ext>
            </a:extLst>
          </p:cNvPr>
          <p:cNvGrpSpPr/>
          <p:nvPr/>
        </p:nvGrpSpPr>
        <p:grpSpPr>
          <a:xfrm flipH="1">
            <a:off x="5372856" y="5365930"/>
            <a:ext cx="1440000" cy="108000"/>
            <a:chOff x="7703516" y="4404294"/>
            <a:chExt cx="1440000" cy="108000"/>
          </a:xfrm>
        </p:grpSpPr>
        <p:cxnSp>
          <p:nvCxnSpPr>
            <p:cNvPr id="44" name="直接连接符 43">
              <a:extLst>
                <a:ext uri="{FF2B5EF4-FFF2-40B4-BE49-F238E27FC236}">
                  <a16:creationId xmlns:a16="http://schemas.microsoft.com/office/drawing/2014/main" id="{E3CECB40-7DA0-8334-4D59-1D4CE4D1DD9E}"/>
                </a:ext>
              </a:extLst>
            </p:cNvPr>
            <p:cNvCxnSpPr>
              <a:cxnSpLocks/>
            </p:cNvCxnSpPr>
            <p:nvPr/>
          </p:nvCxnSpPr>
          <p:spPr>
            <a:xfrm>
              <a:off x="7703516" y="4458293"/>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5" name="等腰三角形 44">
              <a:extLst>
                <a:ext uri="{FF2B5EF4-FFF2-40B4-BE49-F238E27FC236}">
                  <a16:creationId xmlns:a16="http://schemas.microsoft.com/office/drawing/2014/main" id="{4C3B9FA8-9DC9-A0CD-27ED-D17F8A62D7A2}"/>
                </a:ext>
              </a:extLst>
            </p:cNvPr>
            <p:cNvSpPr/>
            <p:nvPr/>
          </p:nvSpPr>
          <p:spPr>
            <a:xfrm rot="16200000" flipH="1">
              <a:off x="7739516" y="4368294"/>
              <a:ext cx="108000" cy="180000"/>
            </a:xfrm>
            <a:prstGeom prst="triangl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矩形 49">
            <a:extLst>
              <a:ext uri="{FF2B5EF4-FFF2-40B4-BE49-F238E27FC236}">
                <a16:creationId xmlns:a16="http://schemas.microsoft.com/office/drawing/2014/main" id="{E109B5B1-AFC3-C063-D268-080854186268}"/>
              </a:ext>
            </a:extLst>
          </p:cNvPr>
          <p:cNvSpPr/>
          <p:nvPr/>
        </p:nvSpPr>
        <p:spPr>
          <a:xfrm>
            <a:off x="4299145" y="523993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Car</a:t>
            </a:r>
            <a:endParaRPr lang="zh-CN" altLang="en-US" sz="1400" dirty="0">
              <a:solidFill>
                <a:schemeClr val="tx1"/>
              </a:solidFill>
            </a:endParaRPr>
          </a:p>
        </p:txBody>
      </p:sp>
      <p:sp>
        <p:nvSpPr>
          <p:cNvPr id="51" name="矩形 50">
            <a:extLst>
              <a:ext uri="{FF2B5EF4-FFF2-40B4-BE49-F238E27FC236}">
                <a16:creationId xmlns:a16="http://schemas.microsoft.com/office/drawing/2014/main" id="{70F62DDC-D6FD-73AB-C2E1-6B997813D6C2}"/>
              </a:ext>
            </a:extLst>
          </p:cNvPr>
          <p:cNvSpPr/>
          <p:nvPr/>
        </p:nvSpPr>
        <p:spPr>
          <a:xfrm>
            <a:off x="6812856" y="523993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Vehicle</a:t>
            </a:r>
            <a:endParaRPr lang="zh-CN" altLang="en-US" sz="1400" dirty="0">
              <a:solidFill>
                <a:schemeClr val="tx1"/>
              </a:solidFill>
            </a:endParaRPr>
          </a:p>
        </p:txBody>
      </p:sp>
    </p:spTree>
    <p:extLst>
      <p:ext uri="{BB962C8B-B14F-4D97-AF65-F5344CB8AC3E}">
        <p14:creationId xmlns:p14="http://schemas.microsoft.com/office/powerpoint/2010/main" val="2316920818"/>
      </p:ext>
    </p:extLst>
  </p:cSld>
  <p:clrMapOvr>
    <a:masterClrMapping/>
  </p:clrMapOvr>
  <p:transition>
    <p:diamon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5B59-7AE8-D9D8-08B3-EAB3A8B011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32DA6-4014-8033-873B-52990F26A206}"/>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490EEBBE-C541-4AA2-3CEC-CB4D5A1A27F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109C131A-5808-5AAF-A9B6-E72077454F50}"/>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DAB5585B-3D12-832B-EEC3-7A6E6F052774}"/>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AC869FDA-F13B-3099-0A0B-483DFB61F378}"/>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4D0E26AD-1EBC-0E74-E214-FD2D7DF251C8}"/>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DE5240CD-DBB0-0311-C358-D3849F59B74D}"/>
              </a:ext>
            </a:extLst>
          </p:cNvPr>
          <p:cNvSpPr txBox="1"/>
          <p:nvPr/>
        </p:nvSpPr>
        <p:spPr>
          <a:xfrm>
            <a:off x="694801" y="1980000"/>
            <a:ext cx="6324600" cy="2139047"/>
          </a:xfrm>
          <a:prstGeom prst="rect">
            <a:avLst/>
          </a:prstGeom>
          <a:noFill/>
        </p:spPr>
        <p:txBody>
          <a:bodyPr wrap="square" rtlCol="0">
            <a:spAutoFit/>
          </a:bodyPr>
          <a:lstStyle/>
          <a:p>
            <a:pPr>
              <a:spcAft>
                <a:spcPts val="600"/>
              </a:spcAft>
            </a:pPr>
            <a:r>
              <a:rPr lang="zh-CN" altLang="en-US" dirty="0"/>
              <a:t>实现 </a:t>
            </a:r>
            <a:r>
              <a:rPr lang="en-US" altLang="zh-CN" dirty="0"/>
              <a:t>Realization</a:t>
            </a:r>
          </a:p>
          <a:p>
            <a:pPr marL="285750" indent="-285750">
              <a:spcAft>
                <a:spcPts val="600"/>
              </a:spcAft>
              <a:buFont typeface="Arial" panose="020B0604020202020204" pitchFamily="34" charset="0"/>
              <a:buChar char="•"/>
            </a:pPr>
            <a:r>
              <a:rPr lang="zh-CN" altLang="en-US" dirty="0"/>
              <a:t>类和接口之间的关系</a:t>
            </a:r>
            <a:endParaRPr lang="en-US" altLang="zh-CN" dirty="0"/>
          </a:p>
          <a:p>
            <a:pPr marL="285750" indent="-285750">
              <a:spcAft>
                <a:spcPts val="600"/>
              </a:spcAft>
              <a:buFont typeface="Arial" panose="020B0604020202020204" pitchFamily="34" charset="0"/>
              <a:buChar char="•"/>
            </a:pPr>
            <a:r>
              <a:rPr lang="zh-CN" altLang="en-US" dirty="0"/>
              <a:t>一个类可以实现多个接口</a:t>
            </a:r>
            <a:endParaRPr lang="en-US" altLang="zh-CN" dirty="0"/>
          </a:p>
          <a:p>
            <a:pPr marL="285750" indent="-285750">
              <a:spcAft>
                <a:spcPts val="600"/>
              </a:spcAft>
              <a:buFont typeface="Arial" panose="020B0604020202020204" pitchFamily="34" charset="0"/>
              <a:buChar char="•"/>
            </a:pPr>
            <a:r>
              <a:rPr lang="zh-CN" altLang="en-US" dirty="0"/>
              <a:t>由实现类指向接口的虚线 </a:t>
            </a:r>
            <a:r>
              <a:rPr lang="en-US" altLang="zh-CN" dirty="0"/>
              <a:t>+ </a:t>
            </a:r>
            <a:r>
              <a:rPr lang="zh-CN" altLang="en-US" dirty="0"/>
              <a:t>空心三角箭头</a:t>
            </a:r>
            <a:endParaRPr lang="en-US" altLang="zh-CN" dirty="0"/>
          </a:p>
          <a:p>
            <a:pPr marL="285750" indent="-285750">
              <a:spcAft>
                <a:spcPts val="600"/>
              </a:spcAft>
              <a:buFont typeface="Arial" panose="020B0604020202020204" pitchFamily="34" charset="0"/>
              <a:buChar char="•"/>
            </a:pPr>
            <a:r>
              <a:rPr lang="zh-CN" altLang="en-US" dirty="0"/>
              <a:t>使用关键字 </a:t>
            </a:r>
            <a:r>
              <a:rPr lang="en-US" altLang="zh-CN" dirty="0"/>
              <a:t>implements </a:t>
            </a:r>
            <a:r>
              <a:rPr lang="zh-CN" altLang="en-US" dirty="0"/>
              <a:t>声明一个接口</a:t>
            </a:r>
            <a:endParaRPr lang="en-US" altLang="zh-CN" dirty="0"/>
          </a:p>
          <a:p>
            <a:pPr marL="742950" lvl="1" indent="-285750">
              <a:spcAft>
                <a:spcPts val="600"/>
              </a:spcAft>
              <a:buFont typeface="Arial" panose="020B0604020202020204" pitchFamily="34" charset="0"/>
              <a:buChar char="•"/>
            </a:pPr>
            <a:r>
              <a:rPr lang="zh-CN" altLang="en-US" dirty="0"/>
              <a:t>鼠标实现了 </a:t>
            </a:r>
            <a:r>
              <a:rPr lang="en-US" altLang="zh-CN" dirty="0"/>
              <a:t>USB </a:t>
            </a:r>
            <a:r>
              <a:rPr lang="zh-CN" altLang="en-US" dirty="0"/>
              <a:t>接口</a:t>
            </a:r>
            <a:endParaRPr lang="en-US" altLang="zh-CN" dirty="0"/>
          </a:p>
        </p:txBody>
      </p:sp>
      <p:sp>
        <p:nvSpPr>
          <p:cNvPr id="2" name="MH_SubTitle_2">
            <a:extLst>
              <a:ext uri="{FF2B5EF4-FFF2-40B4-BE49-F238E27FC236}">
                <a16:creationId xmlns:a16="http://schemas.microsoft.com/office/drawing/2014/main" id="{D843B03E-F5D8-BF75-09A2-281FC8D8F6DA}"/>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mj-lt"/>
                <a:ea typeface="+mj-ea"/>
              </a:rPr>
              <a:t>实现 </a:t>
            </a:r>
            <a:r>
              <a:rPr lang="en-US" altLang="zh-CN" dirty="0">
                <a:latin typeface="+mj-lt"/>
                <a:ea typeface="+mj-ea"/>
              </a:rPr>
              <a:t>Realization</a:t>
            </a:r>
          </a:p>
        </p:txBody>
      </p:sp>
      <p:grpSp>
        <p:nvGrpSpPr>
          <p:cNvPr id="24" name="组合 23">
            <a:extLst>
              <a:ext uri="{FF2B5EF4-FFF2-40B4-BE49-F238E27FC236}">
                <a16:creationId xmlns:a16="http://schemas.microsoft.com/office/drawing/2014/main" id="{AAA31212-E9EA-2EB8-8E7A-CAD747FA5B7E}"/>
              </a:ext>
            </a:extLst>
          </p:cNvPr>
          <p:cNvGrpSpPr/>
          <p:nvPr/>
        </p:nvGrpSpPr>
        <p:grpSpPr>
          <a:xfrm>
            <a:off x="5372856" y="3087471"/>
            <a:ext cx="1953868" cy="307777"/>
            <a:chOff x="7703516" y="4304406"/>
            <a:chExt cx="1953868" cy="307777"/>
          </a:xfrm>
        </p:grpSpPr>
        <p:cxnSp>
          <p:nvCxnSpPr>
            <p:cNvPr id="11" name="直接连接符 10">
              <a:extLst>
                <a:ext uri="{FF2B5EF4-FFF2-40B4-BE49-F238E27FC236}">
                  <a16:creationId xmlns:a16="http://schemas.microsoft.com/office/drawing/2014/main" id="{D40255BE-DE59-7378-4911-38E7655D28CB}"/>
                </a:ext>
              </a:extLst>
            </p:cNvPr>
            <p:cNvCxnSpPr>
              <a:cxnSpLocks/>
            </p:cNvCxnSpPr>
            <p:nvPr/>
          </p:nvCxnSpPr>
          <p:spPr>
            <a:xfrm>
              <a:off x="7703516" y="4458294"/>
              <a:ext cx="1225296"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545964F3-13B4-6D6A-E22C-6F24650A86EC}"/>
                </a:ext>
              </a:extLst>
            </p:cNvPr>
            <p:cNvSpPr txBox="1"/>
            <p:nvPr/>
          </p:nvSpPr>
          <p:spPr>
            <a:xfrm>
              <a:off x="9113645" y="4304406"/>
              <a:ext cx="543739" cy="307777"/>
            </a:xfrm>
            <a:prstGeom prst="rect">
              <a:avLst/>
            </a:prstGeom>
            <a:noFill/>
          </p:spPr>
          <p:txBody>
            <a:bodyPr wrap="none" rtlCol="0">
              <a:spAutoFit/>
            </a:bodyPr>
            <a:lstStyle/>
            <a:p>
              <a:pPr algn="ctr"/>
              <a:r>
                <a:rPr lang="zh-CN" altLang="en-US" sz="1400" dirty="0"/>
                <a:t>实现</a:t>
              </a:r>
            </a:p>
          </p:txBody>
        </p:sp>
        <p:sp>
          <p:nvSpPr>
            <p:cNvPr id="18" name="等腰三角形 17">
              <a:extLst>
                <a:ext uri="{FF2B5EF4-FFF2-40B4-BE49-F238E27FC236}">
                  <a16:creationId xmlns:a16="http://schemas.microsoft.com/office/drawing/2014/main" id="{8D7C9488-ADDF-6602-0B12-9F3B16D3E80E}"/>
                </a:ext>
              </a:extLst>
            </p:cNvPr>
            <p:cNvSpPr/>
            <p:nvPr/>
          </p:nvSpPr>
          <p:spPr>
            <a:xfrm rot="5400000">
              <a:off x="8918301" y="4392604"/>
              <a:ext cx="152400" cy="131379"/>
            </a:xfrm>
            <a:prstGeom prst="triangl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a:extLst>
              <a:ext uri="{FF2B5EF4-FFF2-40B4-BE49-F238E27FC236}">
                <a16:creationId xmlns:a16="http://schemas.microsoft.com/office/drawing/2014/main" id="{25E88CBD-8406-ED3E-ED1B-0A450518463D}"/>
              </a:ext>
            </a:extLst>
          </p:cNvPr>
          <p:cNvGrpSpPr/>
          <p:nvPr/>
        </p:nvGrpSpPr>
        <p:grpSpPr>
          <a:xfrm flipH="1">
            <a:off x="5372856" y="5365930"/>
            <a:ext cx="1440000" cy="108000"/>
            <a:chOff x="7703516" y="4404294"/>
            <a:chExt cx="1440000" cy="108000"/>
          </a:xfrm>
        </p:grpSpPr>
        <p:cxnSp>
          <p:nvCxnSpPr>
            <p:cNvPr id="31" name="直接连接符 30">
              <a:extLst>
                <a:ext uri="{FF2B5EF4-FFF2-40B4-BE49-F238E27FC236}">
                  <a16:creationId xmlns:a16="http://schemas.microsoft.com/office/drawing/2014/main" id="{51EA15DC-F765-81C3-43D9-058765ED5E96}"/>
                </a:ext>
              </a:extLst>
            </p:cNvPr>
            <p:cNvCxnSpPr>
              <a:cxnSpLocks/>
            </p:cNvCxnSpPr>
            <p:nvPr/>
          </p:nvCxnSpPr>
          <p:spPr>
            <a:xfrm>
              <a:off x="7703516" y="4458293"/>
              <a:ext cx="144000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 name="等腰三角形 31">
              <a:extLst>
                <a:ext uri="{FF2B5EF4-FFF2-40B4-BE49-F238E27FC236}">
                  <a16:creationId xmlns:a16="http://schemas.microsoft.com/office/drawing/2014/main" id="{69FA3DEF-1F3C-D3B8-8F42-23357D1D8612}"/>
                </a:ext>
              </a:extLst>
            </p:cNvPr>
            <p:cNvSpPr/>
            <p:nvPr/>
          </p:nvSpPr>
          <p:spPr>
            <a:xfrm rot="16200000" flipH="1">
              <a:off x="7739516" y="4368294"/>
              <a:ext cx="108000" cy="180000"/>
            </a:xfrm>
            <a:prstGeom prst="triangl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32">
            <a:extLst>
              <a:ext uri="{FF2B5EF4-FFF2-40B4-BE49-F238E27FC236}">
                <a16:creationId xmlns:a16="http://schemas.microsoft.com/office/drawing/2014/main" id="{DC43111C-1F48-7234-DB85-59BC32F809E5}"/>
              </a:ext>
            </a:extLst>
          </p:cNvPr>
          <p:cNvSpPr/>
          <p:nvPr/>
        </p:nvSpPr>
        <p:spPr>
          <a:xfrm>
            <a:off x="4299145" y="523993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Mouse</a:t>
            </a:r>
            <a:endParaRPr lang="zh-CN" altLang="en-US" sz="1400" dirty="0">
              <a:solidFill>
                <a:schemeClr val="tx1"/>
              </a:solidFill>
            </a:endParaRPr>
          </a:p>
        </p:txBody>
      </p:sp>
      <p:sp>
        <p:nvSpPr>
          <p:cNvPr id="35" name="矩形 34">
            <a:extLst>
              <a:ext uri="{FF2B5EF4-FFF2-40B4-BE49-F238E27FC236}">
                <a16:creationId xmlns:a16="http://schemas.microsoft.com/office/drawing/2014/main" id="{F844D1CE-5370-D405-7EA0-B9C617F0D8FE}"/>
              </a:ext>
            </a:extLst>
          </p:cNvPr>
          <p:cNvSpPr/>
          <p:nvPr/>
        </p:nvSpPr>
        <p:spPr>
          <a:xfrm>
            <a:off x="6812856" y="523993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USB</a:t>
            </a:r>
            <a:endParaRPr lang="zh-CN" altLang="en-US" sz="1400" dirty="0">
              <a:solidFill>
                <a:schemeClr val="tx1"/>
              </a:solidFill>
            </a:endParaRPr>
          </a:p>
        </p:txBody>
      </p:sp>
    </p:spTree>
    <p:extLst>
      <p:ext uri="{BB962C8B-B14F-4D97-AF65-F5344CB8AC3E}">
        <p14:creationId xmlns:p14="http://schemas.microsoft.com/office/powerpoint/2010/main" val="574502660"/>
      </p:ext>
    </p:extLst>
  </p:cSld>
  <p:clrMapOvr>
    <a:masterClrMapping/>
  </p:clrMapOvr>
  <p:transition>
    <p:diamon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5B59-7AE8-D9D8-08B3-EAB3A8B011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32DA6-4014-8033-873B-52990F26A206}"/>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490EEBBE-C541-4AA2-3CEC-CB4D5A1A27F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109C131A-5808-5AAF-A9B6-E72077454F50}"/>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DAB5585B-3D12-832B-EEC3-7A6E6F052774}"/>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AC869FDA-F13B-3099-0A0B-483DFB61F378}"/>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4D0E26AD-1EBC-0E74-E214-FD2D7DF251C8}"/>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DE5240CD-DBB0-0311-C358-D3849F59B74D}"/>
              </a:ext>
            </a:extLst>
          </p:cNvPr>
          <p:cNvSpPr txBox="1"/>
          <p:nvPr/>
        </p:nvSpPr>
        <p:spPr>
          <a:xfrm>
            <a:off x="694801" y="1980000"/>
            <a:ext cx="10791184" cy="2492990"/>
          </a:xfrm>
          <a:prstGeom prst="rect">
            <a:avLst/>
          </a:prstGeom>
          <a:noFill/>
        </p:spPr>
        <p:txBody>
          <a:bodyPr wrap="square" rtlCol="0">
            <a:spAutoFit/>
          </a:bodyPr>
          <a:lstStyle/>
          <a:p>
            <a:pPr>
              <a:spcAft>
                <a:spcPts val="600"/>
              </a:spcAft>
            </a:pPr>
            <a:r>
              <a:rPr lang="zh-CN" altLang="en-US" dirty="0"/>
              <a:t>组合 </a:t>
            </a:r>
            <a:r>
              <a:rPr lang="en-US" altLang="zh-CN" dirty="0"/>
              <a:t>Composition</a:t>
            </a:r>
          </a:p>
          <a:p>
            <a:pPr marL="285750" indent="-285750">
              <a:spcAft>
                <a:spcPts val="600"/>
              </a:spcAft>
              <a:buFont typeface="Arial" panose="020B0604020202020204" pitchFamily="34" charset="0"/>
              <a:buChar char="•"/>
            </a:pPr>
            <a:r>
              <a:rPr lang="zh-CN" altLang="en-US" dirty="0"/>
              <a:t>类和类之间的特殊关联关系，更强烈，整体和部分的关系</a:t>
            </a:r>
            <a:endParaRPr lang="en-US" altLang="zh-CN" dirty="0"/>
          </a:p>
          <a:p>
            <a:pPr marL="285750" indent="-285750">
              <a:spcAft>
                <a:spcPts val="600"/>
              </a:spcAft>
              <a:buFont typeface="Arial" panose="020B0604020202020204" pitchFamily="34" charset="0"/>
              <a:buChar char="•"/>
            </a:pPr>
            <a:r>
              <a:rPr lang="zh-CN" altLang="en-US" dirty="0"/>
              <a:t>整体可以控制部分的生命周期，一旦整体不存在，部分也就不存在</a:t>
            </a:r>
            <a:r>
              <a:rPr lang="en-US" altLang="zh-CN" dirty="0"/>
              <a:t>|</a:t>
            </a:r>
            <a:r>
              <a:rPr lang="zh-CN" altLang="en-US" dirty="0"/>
              <a:t>部分不能脱离整体而单独存在</a:t>
            </a:r>
            <a:endParaRPr lang="en-US" altLang="zh-CN" dirty="0"/>
          </a:p>
          <a:p>
            <a:pPr marL="285750" indent="-285750">
              <a:spcAft>
                <a:spcPts val="600"/>
              </a:spcAft>
              <a:buFont typeface="Arial" panose="020B0604020202020204" pitchFamily="34" charset="0"/>
              <a:buChar char="•"/>
            </a:pPr>
            <a:r>
              <a:rPr lang="zh-CN" altLang="en-US" dirty="0"/>
              <a:t>将多个部分有机组合到一起；整体部分不可分离</a:t>
            </a:r>
            <a:endParaRPr lang="en-US" altLang="zh-CN" dirty="0"/>
          </a:p>
          <a:p>
            <a:pPr marL="285750" indent="-285750">
              <a:spcAft>
                <a:spcPts val="600"/>
              </a:spcAft>
              <a:buFont typeface="Arial" panose="020B0604020202020204" pitchFamily="34" charset="0"/>
              <a:buChar char="•"/>
            </a:pPr>
            <a:r>
              <a:rPr lang="zh-CN" altLang="en-US" dirty="0"/>
              <a:t>是包含 </a:t>
            </a:r>
            <a:r>
              <a:rPr lang="en-US" altLang="zh-CN" dirty="0"/>
              <a:t>Contains </a:t>
            </a:r>
            <a:r>
              <a:rPr lang="zh-CN" altLang="en-US" dirty="0"/>
              <a:t>的关系</a:t>
            </a:r>
            <a:endParaRPr lang="en-US" altLang="zh-CN" dirty="0"/>
          </a:p>
          <a:p>
            <a:pPr marL="285750" indent="-285750">
              <a:spcAft>
                <a:spcPts val="600"/>
              </a:spcAft>
              <a:buFont typeface="Arial" panose="020B0604020202020204" pitchFamily="34" charset="0"/>
              <a:buChar char="•"/>
            </a:pPr>
            <a:r>
              <a:rPr lang="zh-CN" altLang="en-US" dirty="0"/>
              <a:t>实线 </a:t>
            </a:r>
            <a:r>
              <a:rPr lang="en-US" altLang="zh-CN" dirty="0"/>
              <a:t>+ </a:t>
            </a:r>
            <a:r>
              <a:rPr lang="zh-CN" altLang="en-US" dirty="0"/>
              <a:t>实心菱形箭头；菱形在整体端</a:t>
            </a:r>
            <a:endParaRPr lang="en-US" altLang="zh-CN" dirty="0"/>
          </a:p>
          <a:p>
            <a:pPr marL="285750" indent="-285750">
              <a:spcAft>
                <a:spcPts val="600"/>
              </a:spcAft>
              <a:buFont typeface="Arial" panose="020B0604020202020204" pitchFamily="34" charset="0"/>
              <a:buChar char="•"/>
            </a:pPr>
            <a:endParaRPr lang="en-US" altLang="zh-CN" dirty="0"/>
          </a:p>
        </p:txBody>
      </p:sp>
      <p:sp>
        <p:nvSpPr>
          <p:cNvPr id="2" name="MH_SubTitle_2">
            <a:extLst>
              <a:ext uri="{FF2B5EF4-FFF2-40B4-BE49-F238E27FC236}">
                <a16:creationId xmlns:a16="http://schemas.microsoft.com/office/drawing/2014/main" id="{D843B03E-F5D8-BF75-09A2-281FC8D8F6DA}"/>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mj-lt"/>
                <a:ea typeface="+mj-ea"/>
              </a:rPr>
              <a:t>组合 </a:t>
            </a:r>
            <a:r>
              <a:rPr lang="en-US" altLang="zh-CN" dirty="0">
                <a:latin typeface="+mj-lt"/>
                <a:ea typeface="+mj-ea"/>
              </a:rPr>
              <a:t>Composition</a:t>
            </a:r>
          </a:p>
        </p:txBody>
      </p:sp>
      <p:grpSp>
        <p:nvGrpSpPr>
          <p:cNvPr id="24" name="组合 23">
            <a:extLst>
              <a:ext uri="{FF2B5EF4-FFF2-40B4-BE49-F238E27FC236}">
                <a16:creationId xmlns:a16="http://schemas.microsoft.com/office/drawing/2014/main" id="{AAA31212-E9EA-2EB8-8E7A-CAD747FA5B7E}"/>
              </a:ext>
            </a:extLst>
          </p:cNvPr>
          <p:cNvGrpSpPr/>
          <p:nvPr/>
        </p:nvGrpSpPr>
        <p:grpSpPr>
          <a:xfrm>
            <a:off x="4836000" y="3746377"/>
            <a:ext cx="1953868" cy="307777"/>
            <a:chOff x="7703516" y="4304406"/>
            <a:chExt cx="1953868" cy="307777"/>
          </a:xfrm>
        </p:grpSpPr>
        <p:cxnSp>
          <p:nvCxnSpPr>
            <p:cNvPr id="11" name="直接连接符 10">
              <a:extLst>
                <a:ext uri="{FF2B5EF4-FFF2-40B4-BE49-F238E27FC236}">
                  <a16:creationId xmlns:a16="http://schemas.microsoft.com/office/drawing/2014/main" id="{D40255BE-DE59-7378-4911-38E7655D28CB}"/>
                </a:ext>
              </a:extLst>
            </p:cNvPr>
            <p:cNvCxnSpPr>
              <a:cxnSpLocks/>
            </p:cNvCxnSpPr>
            <p:nvPr/>
          </p:nvCxnSpPr>
          <p:spPr>
            <a:xfrm>
              <a:off x="7703516" y="4458294"/>
              <a:ext cx="1225296"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545964F3-13B4-6D6A-E22C-6F24650A86EC}"/>
                </a:ext>
              </a:extLst>
            </p:cNvPr>
            <p:cNvSpPr txBox="1"/>
            <p:nvPr/>
          </p:nvSpPr>
          <p:spPr>
            <a:xfrm>
              <a:off x="9113645" y="4304406"/>
              <a:ext cx="543739" cy="307777"/>
            </a:xfrm>
            <a:prstGeom prst="rect">
              <a:avLst/>
            </a:prstGeom>
            <a:noFill/>
          </p:spPr>
          <p:txBody>
            <a:bodyPr wrap="none" rtlCol="0">
              <a:spAutoFit/>
            </a:bodyPr>
            <a:lstStyle/>
            <a:p>
              <a:pPr algn="ctr"/>
              <a:r>
                <a:rPr lang="zh-CN" altLang="en-US" sz="1400" dirty="0"/>
                <a:t>组合</a:t>
              </a:r>
            </a:p>
          </p:txBody>
        </p:sp>
        <p:sp>
          <p:nvSpPr>
            <p:cNvPr id="18" name="菱形 17">
              <a:extLst>
                <a:ext uri="{FF2B5EF4-FFF2-40B4-BE49-F238E27FC236}">
                  <a16:creationId xmlns:a16="http://schemas.microsoft.com/office/drawing/2014/main" id="{8D7C9488-ADDF-6602-0B12-9F3B16D3E80E}"/>
                </a:ext>
              </a:extLst>
            </p:cNvPr>
            <p:cNvSpPr/>
            <p:nvPr/>
          </p:nvSpPr>
          <p:spPr>
            <a:xfrm rot="5400000">
              <a:off x="8934853" y="4368294"/>
              <a:ext cx="108000" cy="180000"/>
            </a:xfrm>
            <a:prstGeom prst="diamond">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a:extLst>
              <a:ext uri="{FF2B5EF4-FFF2-40B4-BE49-F238E27FC236}">
                <a16:creationId xmlns:a16="http://schemas.microsoft.com/office/drawing/2014/main" id="{853FBA92-1624-ED02-2493-1B6E7F56A98D}"/>
              </a:ext>
            </a:extLst>
          </p:cNvPr>
          <p:cNvGrpSpPr/>
          <p:nvPr/>
        </p:nvGrpSpPr>
        <p:grpSpPr>
          <a:xfrm>
            <a:off x="5376001" y="4983375"/>
            <a:ext cx="1440000" cy="108000"/>
            <a:chOff x="7703516" y="4404294"/>
            <a:chExt cx="1440000" cy="108000"/>
          </a:xfrm>
        </p:grpSpPr>
        <p:cxnSp>
          <p:nvCxnSpPr>
            <p:cNvPr id="27" name="直接连接符 26">
              <a:extLst>
                <a:ext uri="{FF2B5EF4-FFF2-40B4-BE49-F238E27FC236}">
                  <a16:creationId xmlns:a16="http://schemas.microsoft.com/office/drawing/2014/main" id="{BA401781-2205-FA94-2DDB-3C0B1E702F0C}"/>
                </a:ext>
              </a:extLst>
            </p:cNvPr>
            <p:cNvCxnSpPr>
              <a:cxnSpLocks/>
            </p:cNvCxnSpPr>
            <p:nvPr/>
          </p:nvCxnSpPr>
          <p:spPr>
            <a:xfrm>
              <a:off x="7703516" y="4458294"/>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9" name="菱形 28">
              <a:extLst>
                <a:ext uri="{FF2B5EF4-FFF2-40B4-BE49-F238E27FC236}">
                  <a16:creationId xmlns:a16="http://schemas.microsoft.com/office/drawing/2014/main" id="{2D0619D5-C6D0-253C-2BFC-E2B7A1FB798A}"/>
                </a:ext>
              </a:extLst>
            </p:cNvPr>
            <p:cNvSpPr/>
            <p:nvPr/>
          </p:nvSpPr>
          <p:spPr>
            <a:xfrm rot="5400000">
              <a:off x="7739516" y="4368294"/>
              <a:ext cx="108000" cy="180000"/>
            </a:xfrm>
            <a:prstGeom prst="diamond">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32">
            <a:extLst>
              <a:ext uri="{FF2B5EF4-FFF2-40B4-BE49-F238E27FC236}">
                <a16:creationId xmlns:a16="http://schemas.microsoft.com/office/drawing/2014/main" id="{9CE0F7C8-4F0D-C642-B87C-1BEE4480291C}"/>
              </a:ext>
            </a:extLst>
          </p:cNvPr>
          <p:cNvSpPr/>
          <p:nvPr/>
        </p:nvSpPr>
        <p:spPr>
          <a:xfrm>
            <a:off x="4299145" y="4857375"/>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Order</a:t>
            </a:r>
            <a:endParaRPr lang="zh-CN" altLang="en-US" sz="1400" dirty="0">
              <a:solidFill>
                <a:schemeClr val="tx1"/>
              </a:solidFill>
            </a:endParaRPr>
          </a:p>
        </p:txBody>
      </p:sp>
      <p:sp>
        <p:nvSpPr>
          <p:cNvPr id="34" name="矩形 33">
            <a:extLst>
              <a:ext uri="{FF2B5EF4-FFF2-40B4-BE49-F238E27FC236}">
                <a16:creationId xmlns:a16="http://schemas.microsoft.com/office/drawing/2014/main" id="{D4A7F55A-C85E-9101-EBE5-5431790CC0E3}"/>
              </a:ext>
            </a:extLst>
          </p:cNvPr>
          <p:cNvSpPr/>
          <p:nvPr/>
        </p:nvSpPr>
        <p:spPr>
          <a:xfrm>
            <a:off x="6812856" y="4857375"/>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err="1">
                <a:solidFill>
                  <a:schemeClr val="tx1"/>
                </a:solidFill>
              </a:rPr>
              <a:t>OrderItem</a:t>
            </a:r>
            <a:endParaRPr lang="zh-CN" altLang="en-US" sz="1400" dirty="0">
              <a:solidFill>
                <a:schemeClr val="tx1"/>
              </a:solidFill>
            </a:endParaRPr>
          </a:p>
        </p:txBody>
      </p:sp>
      <p:grpSp>
        <p:nvGrpSpPr>
          <p:cNvPr id="37" name="组合 36">
            <a:extLst>
              <a:ext uri="{FF2B5EF4-FFF2-40B4-BE49-F238E27FC236}">
                <a16:creationId xmlns:a16="http://schemas.microsoft.com/office/drawing/2014/main" id="{C391E39B-5DC2-6D22-93CE-58FE01688EF4}"/>
              </a:ext>
            </a:extLst>
          </p:cNvPr>
          <p:cNvGrpSpPr/>
          <p:nvPr/>
        </p:nvGrpSpPr>
        <p:grpSpPr>
          <a:xfrm>
            <a:off x="5372856" y="5693696"/>
            <a:ext cx="1440000" cy="108000"/>
            <a:chOff x="7703516" y="4404294"/>
            <a:chExt cx="1440000" cy="108000"/>
          </a:xfrm>
        </p:grpSpPr>
        <p:cxnSp>
          <p:nvCxnSpPr>
            <p:cNvPr id="38" name="直接连接符 37">
              <a:extLst>
                <a:ext uri="{FF2B5EF4-FFF2-40B4-BE49-F238E27FC236}">
                  <a16:creationId xmlns:a16="http://schemas.microsoft.com/office/drawing/2014/main" id="{77F3A9C7-3D9B-9A80-C0F5-A23CA3944334}"/>
                </a:ext>
              </a:extLst>
            </p:cNvPr>
            <p:cNvCxnSpPr>
              <a:cxnSpLocks/>
            </p:cNvCxnSpPr>
            <p:nvPr/>
          </p:nvCxnSpPr>
          <p:spPr>
            <a:xfrm>
              <a:off x="7703516" y="4458294"/>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9" name="菱形 38">
              <a:extLst>
                <a:ext uri="{FF2B5EF4-FFF2-40B4-BE49-F238E27FC236}">
                  <a16:creationId xmlns:a16="http://schemas.microsoft.com/office/drawing/2014/main" id="{34ED69C3-3A56-0ED0-B3BF-A9575BD21F10}"/>
                </a:ext>
              </a:extLst>
            </p:cNvPr>
            <p:cNvSpPr/>
            <p:nvPr/>
          </p:nvSpPr>
          <p:spPr>
            <a:xfrm rot="5400000">
              <a:off x="7739516" y="4368294"/>
              <a:ext cx="108000" cy="180000"/>
            </a:xfrm>
            <a:prstGeom prst="diamond">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矩形 39">
            <a:extLst>
              <a:ext uri="{FF2B5EF4-FFF2-40B4-BE49-F238E27FC236}">
                <a16:creationId xmlns:a16="http://schemas.microsoft.com/office/drawing/2014/main" id="{639F83DD-E35D-C045-3153-1F91B0F78600}"/>
              </a:ext>
            </a:extLst>
          </p:cNvPr>
          <p:cNvSpPr/>
          <p:nvPr/>
        </p:nvSpPr>
        <p:spPr>
          <a:xfrm>
            <a:off x="4296000" y="5567696"/>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Cart</a:t>
            </a:r>
            <a:endParaRPr lang="zh-CN" altLang="en-US" sz="1400" dirty="0">
              <a:solidFill>
                <a:schemeClr val="tx1"/>
              </a:solidFill>
            </a:endParaRPr>
          </a:p>
        </p:txBody>
      </p:sp>
      <p:sp>
        <p:nvSpPr>
          <p:cNvPr id="41" name="矩形 40">
            <a:extLst>
              <a:ext uri="{FF2B5EF4-FFF2-40B4-BE49-F238E27FC236}">
                <a16:creationId xmlns:a16="http://schemas.microsoft.com/office/drawing/2014/main" id="{877E780E-1C7B-9439-07DD-03AC1B09D597}"/>
              </a:ext>
            </a:extLst>
          </p:cNvPr>
          <p:cNvSpPr/>
          <p:nvPr/>
        </p:nvSpPr>
        <p:spPr>
          <a:xfrm>
            <a:off x="6809711" y="5567696"/>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err="1">
                <a:solidFill>
                  <a:schemeClr val="tx1"/>
                </a:solidFill>
              </a:rPr>
              <a:t>CartItem</a:t>
            </a:r>
            <a:endParaRPr lang="zh-CN" altLang="en-US" sz="1400" dirty="0">
              <a:solidFill>
                <a:schemeClr val="tx1"/>
              </a:solidFill>
            </a:endParaRPr>
          </a:p>
        </p:txBody>
      </p:sp>
    </p:spTree>
    <p:extLst>
      <p:ext uri="{BB962C8B-B14F-4D97-AF65-F5344CB8AC3E}">
        <p14:creationId xmlns:p14="http://schemas.microsoft.com/office/powerpoint/2010/main" val="922329482"/>
      </p:ext>
    </p:extLst>
  </p:cSld>
  <p:clrMapOvr>
    <a:masterClrMapping/>
  </p:clrMapOvr>
  <p:transition>
    <p:diamon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5B59-7AE8-D9D8-08B3-EAB3A8B011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32DA6-4014-8033-873B-52990F26A206}"/>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490EEBBE-C541-4AA2-3CEC-CB4D5A1A27F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109C131A-5808-5AAF-A9B6-E72077454F50}"/>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DAB5585B-3D12-832B-EEC3-7A6E6F052774}"/>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AC869FDA-F13B-3099-0A0B-483DFB61F378}"/>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4D0E26AD-1EBC-0E74-E214-FD2D7DF251C8}"/>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DE5240CD-DBB0-0311-C358-D3849F59B74D}"/>
              </a:ext>
            </a:extLst>
          </p:cNvPr>
          <p:cNvSpPr txBox="1"/>
          <p:nvPr/>
        </p:nvSpPr>
        <p:spPr>
          <a:xfrm>
            <a:off x="694801" y="1980000"/>
            <a:ext cx="10791184" cy="2492990"/>
          </a:xfrm>
          <a:prstGeom prst="rect">
            <a:avLst/>
          </a:prstGeom>
          <a:noFill/>
        </p:spPr>
        <p:txBody>
          <a:bodyPr wrap="square" rtlCol="0">
            <a:spAutoFit/>
          </a:bodyPr>
          <a:lstStyle/>
          <a:p>
            <a:pPr>
              <a:spcAft>
                <a:spcPts val="600"/>
              </a:spcAft>
            </a:pPr>
            <a:r>
              <a:rPr lang="zh-CN" altLang="en-US" dirty="0"/>
              <a:t>聚合 </a:t>
            </a:r>
            <a:r>
              <a:rPr lang="en-US" altLang="zh-CN" dirty="0"/>
              <a:t>Aggregation</a:t>
            </a:r>
          </a:p>
          <a:p>
            <a:pPr marL="285750" indent="-285750">
              <a:spcAft>
                <a:spcPts val="600"/>
              </a:spcAft>
              <a:buFont typeface="Arial" panose="020B0604020202020204" pitchFamily="34" charset="0"/>
              <a:buChar char="•"/>
            </a:pPr>
            <a:r>
              <a:rPr lang="zh-CN" altLang="en-US" dirty="0"/>
              <a:t>类和类之间的关系</a:t>
            </a:r>
            <a:endParaRPr lang="en-US" altLang="zh-CN" dirty="0"/>
          </a:p>
          <a:p>
            <a:pPr marL="285750" indent="-285750">
              <a:spcAft>
                <a:spcPts val="600"/>
              </a:spcAft>
              <a:buFont typeface="Arial" panose="020B0604020202020204" pitchFamily="34" charset="0"/>
              <a:buChar char="•"/>
            </a:pPr>
            <a:r>
              <a:rPr lang="zh-CN" altLang="en-US" dirty="0"/>
              <a:t>一个类作为另外一个类的成员对象</a:t>
            </a:r>
            <a:r>
              <a:rPr lang="en-US" altLang="zh-CN" dirty="0"/>
              <a:t>|</a:t>
            </a:r>
            <a:r>
              <a:rPr lang="zh-CN" altLang="en-US" dirty="0"/>
              <a:t>属性</a:t>
            </a:r>
            <a:endParaRPr lang="en-US" altLang="zh-CN" dirty="0"/>
          </a:p>
          <a:p>
            <a:pPr marL="285750" indent="-285750">
              <a:spcAft>
                <a:spcPts val="600"/>
              </a:spcAft>
              <a:buFont typeface="Arial" panose="020B0604020202020204" pitchFamily="34" charset="0"/>
              <a:buChar char="•"/>
            </a:pPr>
            <a:r>
              <a:rPr lang="zh-CN" altLang="en-US" dirty="0"/>
              <a:t>较弱的拥有关系，表示整体与部分可以分离。部分可以脱离整体而独立存在，拥有自己的生命周期</a:t>
            </a:r>
            <a:endParaRPr lang="en-US" altLang="zh-CN" dirty="0"/>
          </a:p>
          <a:p>
            <a:pPr marL="285750" indent="-285750">
              <a:spcAft>
                <a:spcPts val="600"/>
              </a:spcAft>
              <a:buFont typeface="Arial" panose="020B0604020202020204" pitchFamily="34" charset="0"/>
              <a:buChar char="•"/>
            </a:pPr>
            <a:r>
              <a:rPr lang="zh-CN" altLang="en-US" dirty="0"/>
              <a:t>球队和多个球员、学校和多个老师、车和多个轮胎、一个发动机、电脑和</a:t>
            </a:r>
            <a:r>
              <a:rPr lang="en-US" altLang="zh-CN" dirty="0"/>
              <a:t>CPU</a:t>
            </a:r>
          </a:p>
          <a:p>
            <a:pPr marL="285750" indent="-285750">
              <a:spcAft>
                <a:spcPts val="600"/>
              </a:spcAft>
              <a:buFont typeface="Arial" panose="020B0604020202020204" pitchFamily="34" charset="0"/>
              <a:buChar char="•"/>
            </a:pPr>
            <a:r>
              <a:rPr lang="zh-CN" altLang="en-US" dirty="0"/>
              <a:t>实线 </a:t>
            </a:r>
            <a:r>
              <a:rPr lang="en-US" altLang="zh-CN" dirty="0"/>
              <a:t>+ </a:t>
            </a:r>
            <a:r>
              <a:rPr lang="zh-CN" altLang="en-US" dirty="0"/>
              <a:t>空心菱形箭头；菱形在整体端</a:t>
            </a:r>
            <a:endParaRPr lang="en-US" altLang="zh-CN" dirty="0"/>
          </a:p>
          <a:p>
            <a:pPr marL="285750" indent="-285750">
              <a:spcAft>
                <a:spcPts val="600"/>
              </a:spcAft>
              <a:buFont typeface="Arial" panose="020B0604020202020204" pitchFamily="34" charset="0"/>
              <a:buChar char="•"/>
            </a:pPr>
            <a:r>
              <a:rPr lang="zh-CN" altLang="en-US" dirty="0"/>
              <a:t>通常包含多个成员对象；将多个部分聚合到一起</a:t>
            </a:r>
            <a:endParaRPr lang="en-US" altLang="zh-CN" dirty="0"/>
          </a:p>
        </p:txBody>
      </p:sp>
      <p:sp>
        <p:nvSpPr>
          <p:cNvPr id="2" name="MH_SubTitle_2">
            <a:extLst>
              <a:ext uri="{FF2B5EF4-FFF2-40B4-BE49-F238E27FC236}">
                <a16:creationId xmlns:a16="http://schemas.microsoft.com/office/drawing/2014/main" id="{D843B03E-F5D8-BF75-09A2-281FC8D8F6DA}"/>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mj-lt"/>
                <a:ea typeface="+mj-ea"/>
              </a:rPr>
              <a:t>聚合 </a:t>
            </a:r>
            <a:r>
              <a:rPr lang="en-US" altLang="zh-CN" dirty="0">
                <a:latin typeface="+mj-lt"/>
                <a:ea typeface="+mj-ea"/>
              </a:rPr>
              <a:t>Aggregation</a:t>
            </a:r>
          </a:p>
        </p:txBody>
      </p:sp>
      <p:grpSp>
        <p:nvGrpSpPr>
          <p:cNvPr id="5" name="组合 4">
            <a:extLst>
              <a:ext uri="{FF2B5EF4-FFF2-40B4-BE49-F238E27FC236}">
                <a16:creationId xmlns:a16="http://schemas.microsoft.com/office/drawing/2014/main" id="{F09B7702-250A-2329-1D5F-D70478E71AF5}"/>
              </a:ext>
            </a:extLst>
          </p:cNvPr>
          <p:cNvGrpSpPr/>
          <p:nvPr/>
        </p:nvGrpSpPr>
        <p:grpSpPr>
          <a:xfrm>
            <a:off x="6090393" y="4109739"/>
            <a:ext cx="1953868" cy="307777"/>
            <a:chOff x="7703516" y="4304406"/>
            <a:chExt cx="1953868" cy="307777"/>
          </a:xfrm>
        </p:grpSpPr>
        <p:cxnSp>
          <p:nvCxnSpPr>
            <p:cNvPr id="9" name="直接连接符 8">
              <a:extLst>
                <a:ext uri="{FF2B5EF4-FFF2-40B4-BE49-F238E27FC236}">
                  <a16:creationId xmlns:a16="http://schemas.microsoft.com/office/drawing/2014/main" id="{1DB30F4C-6BBA-0A0D-85F3-DF09D47F829A}"/>
                </a:ext>
              </a:extLst>
            </p:cNvPr>
            <p:cNvCxnSpPr>
              <a:cxnSpLocks/>
            </p:cNvCxnSpPr>
            <p:nvPr/>
          </p:nvCxnSpPr>
          <p:spPr>
            <a:xfrm>
              <a:off x="7703516" y="4458294"/>
              <a:ext cx="1225296"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5E642EA8-0333-196F-7699-A2D8540611DE}"/>
                </a:ext>
              </a:extLst>
            </p:cNvPr>
            <p:cNvSpPr txBox="1"/>
            <p:nvPr/>
          </p:nvSpPr>
          <p:spPr>
            <a:xfrm>
              <a:off x="9113645" y="4304406"/>
              <a:ext cx="543739" cy="307777"/>
            </a:xfrm>
            <a:prstGeom prst="rect">
              <a:avLst/>
            </a:prstGeom>
            <a:noFill/>
          </p:spPr>
          <p:txBody>
            <a:bodyPr wrap="none" rtlCol="0">
              <a:spAutoFit/>
            </a:bodyPr>
            <a:lstStyle/>
            <a:p>
              <a:pPr algn="ctr"/>
              <a:r>
                <a:rPr lang="zh-CN" altLang="en-US" sz="1400" dirty="0"/>
                <a:t>聚合</a:t>
              </a:r>
            </a:p>
          </p:txBody>
        </p:sp>
        <p:sp>
          <p:nvSpPr>
            <p:cNvPr id="12" name="菱形 11">
              <a:extLst>
                <a:ext uri="{FF2B5EF4-FFF2-40B4-BE49-F238E27FC236}">
                  <a16:creationId xmlns:a16="http://schemas.microsoft.com/office/drawing/2014/main" id="{35EAB4E8-2EBF-C93F-BBA0-4D67842DDF91}"/>
                </a:ext>
              </a:extLst>
            </p:cNvPr>
            <p:cNvSpPr/>
            <p:nvPr/>
          </p:nvSpPr>
          <p:spPr>
            <a:xfrm rot="5400000">
              <a:off x="8934853" y="4368294"/>
              <a:ext cx="108000" cy="180000"/>
            </a:xfrm>
            <a:prstGeom prst="diamon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a:extLst>
              <a:ext uri="{FF2B5EF4-FFF2-40B4-BE49-F238E27FC236}">
                <a16:creationId xmlns:a16="http://schemas.microsoft.com/office/drawing/2014/main" id="{141FECC5-9344-C48D-2724-697C261793D8}"/>
              </a:ext>
            </a:extLst>
          </p:cNvPr>
          <p:cNvGrpSpPr/>
          <p:nvPr/>
        </p:nvGrpSpPr>
        <p:grpSpPr>
          <a:xfrm>
            <a:off x="5376001" y="5058017"/>
            <a:ext cx="1440000" cy="108000"/>
            <a:chOff x="7703516" y="4404294"/>
            <a:chExt cx="1440000" cy="108000"/>
          </a:xfrm>
        </p:grpSpPr>
        <p:cxnSp>
          <p:nvCxnSpPr>
            <p:cNvPr id="27" name="直接连接符 26">
              <a:extLst>
                <a:ext uri="{FF2B5EF4-FFF2-40B4-BE49-F238E27FC236}">
                  <a16:creationId xmlns:a16="http://schemas.microsoft.com/office/drawing/2014/main" id="{149C1D33-E7B0-5244-74C8-E6F9AEEF5680}"/>
                </a:ext>
              </a:extLst>
            </p:cNvPr>
            <p:cNvCxnSpPr>
              <a:cxnSpLocks/>
            </p:cNvCxnSpPr>
            <p:nvPr/>
          </p:nvCxnSpPr>
          <p:spPr>
            <a:xfrm>
              <a:off x="7703516" y="4458294"/>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8" name="菱形 27">
              <a:extLst>
                <a:ext uri="{FF2B5EF4-FFF2-40B4-BE49-F238E27FC236}">
                  <a16:creationId xmlns:a16="http://schemas.microsoft.com/office/drawing/2014/main" id="{5A884408-34B1-0CE4-E23A-08866299C1D4}"/>
                </a:ext>
              </a:extLst>
            </p:cNvPr>
            <p:cNvSpPr/>
            <p:nvPr/>
          </p:nvSpPr>
          <p:spPr>
            <a:xfrm rot="5400000">
              <a:off x="7739516" y="4368294"/>
              <a:ext cx="108000" cy="180000"/>
            </a:xfrm>
            <a:prstGeom prst="diamon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矩形 28">
            <a:extLst>
              <a:ext uri="{FF2B5EF4-FFF2-40B4-BE49-F238E27FC236}">
                <a16:creationId xmlns:a16="http://schemas.microsoft.com/office/drawing/2014/main" id="{C4E480A0-FFFC-60D2-6347-29C99F310A0A}"/>
              </a:ext>
            </a:extLst>
          </p:cNvPr>
          <p:cNvSpPr/>
          <p:nvPr/>
        </p:nvSpPr>
        <p:spPr>
          <a:xfrm>
            <a:off x="4299145" y="4932017"/>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University</a:t>
            </a:r>
            <a:endParaRPr lang="zh-CN" altLang="en-US" sz="1400" dirty="0">
              <a:solidFill>
                <a:schemeClr val="tx1"/>
              </a:solidFill>
            </a:endParaRPr>
          </a:p>
        </p:txBody>
      </p:sp>
      <p:sp>
        <p:nvSpPr>
          <p:cNvPr id="30" name="矩形 29">
            <a:extLst>
              <a:ext uri="{FF2B5EF4-FFF2-40B4-BE49-F238E27FC236}">
                <a16:creationId xmlns:a16="http://schemas.microsoft.com/office/drawing/2014/main" id="{67061CFC-3EA9-F2FA-6578-B0C4A72D4253}"/>
              </a:ext>
            </a:extLst>
          </p:cNvPr>
          <p:cNvSpPr/>
          <p:nvPr/>
        </p:nvSpPr>
        <p:spPr>
          <a:xfrm>
            <a:off x="6812856" y="4932017"/>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Teacher</a:t>
            </a:r>
            <a:endParaRPr lang="zh-CN" altLang="en-US" sz="1400" dirty="0">
              <a:solidFill>
                <a:schemeClr val="tx1"/>
              </a:solidFill>
            </a:endParaRPr>
          </a:p>
        </p:txBody>
      </p:sp>
      <p:sp>
        <p:nvSpPr>
          <p:cNvPr id="32" name="矩形 31">
            <a:extLst>
              <a:ext uri="{FF2B5EF4-FFF2-40B4-BE49-F238E27FC236}">
                <a16:creationId xmlns:a16="http://schemas.microsoft.com/office/drawing/2014/main" id="{9166FA5E-A312-1628-0006-AEB5FD3258D5}"/>
              </a:ext>
            </a:extLst>
          </p:cNvPr>
          <p:cNvSpPr/>
          <p:nvPr/>
        </p:nvSpPr>
        <p:spPr>
          <a:xfrm>
            <a:off x="4299145" y="5609905"/>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User</a:t>
            </a:r>
            <a:endParaRPr lang="zh-CN" altLang="en-US" sz="1400" dirty="0">
              <a:solidFill>
                <a:schemeClr val="tx1"/>
              </a:solidFill>
            </a:endParaRPr>
          </a:p>
        </p:txBody>
      </p:sp>
      <p:sp>
        <p:nvSpPr>
          <p:cNvPr id="33" name="矩形 32">
            <a:extLst>
              <a:ext uri="{FF2B5EF4-FFF2-40B4-BE49-F238E27FC236}">
                <a16:creationId xmlns:a16="http://schemas.microsoft.com/office/drawing/2014/main" id="{511FB2B6-451D-7EDE-9E0F-3B0D1ECE9AB2}"/>
              </a:ext>
            </a:extLst>
          </p:cNvPr>
          <p:cNvSpPr/>
          <p:nvPr/>
        </p:nvSpPr>
        <p:spPr>
          <a:xfrm>
            <a:off x="6812856" y="5609905"/>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Address</a:t>
            </a:r>
            <a:endParaRPr lang="zh-CN" altLang="en-US" sz="1400" dirty="0">
              <a:solidFill>
                <a:schemeClr val="tx1"/>
              </a:solidFill>
            </a:endParaRPr>
          </a:p>
        </p:txBody>
      </p:sp>
      <p:sp>
        <p:nvSpPr>
          <p:cNvPr id="35" name="矩形 34">
            <a:extLst>
              <a:ext uri="{FF2B5EF4-FFF2-40B4-BE49-F238E27FC236}">
                <a16:creationId xmlns:a16="http://schemas.microsoft.com/office/drawing/2014/main" id="{8F75E28C-B6FB-D3E8-4D93-BBE6A9DA401B}"/>
              </a:ext>
            </a:extLst>
          </p:cNvPr>
          <p:cNvSpPr/>
          <p:nvPr/>
        </p:nvSpPr>
        <p:spPr>
          <a:xfrm>
            <a:off x="4299145" y="6287792"/>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User</a:t>
            </a:r>
            <a:endParaRPr lang="zh-CN" altLang="en-US" sz="1400" dirty="0">
              <a:solidFill>
                <a:schemeClr val="tx1"/>
              </a:solidFill>
            </a:endParaRPr>
          </a:p>
        </p:txBody>
      </p:sp>
      <p:sp>
        <p:nvSpPr>
          <p:cNvPr id="36" name="矩形 35">
            <a:extLst>
              <a:ext uri="{FF2B5EF4-FFF2-40B4-BE49-F238E27FC236}">
                <a16:creationId xmlns:a16="http://schemas.microsoft.com/office/drawing/2014/main" id="{CB88420A-688D-3505-86D8-4A7DA969768E}"/>
              </a:ext>
            </a:extLst>
          </p:cNvPr>
          <p:cNvSpPr/>
          <p:nvPr/>
        </p:nvSpPr>
        <p:spPr>
          <a:xfrm>
            <a:off x="6812856" y="6287792"/>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Coupon</a:t>
            </a:r>
            <a:endParaRPr lang="zh-CN" altLang="en-US" sz="1400" dirty="0">
              <a:solidFill>
                <a:schemeClr val="tx1"/>
              </a:solidFill>
            </a:endParaRPr>
          </a:p>
        </p:txBody>
      </p:sp>
      <p:grpSp>
        <p:nvGrpSpPr>
          <p:cNvPr id="37" name="组合 36">
            <a:extLst>
              <a:ext uri="{FF2B5EF4-FFF2-40B4-BE49-F238E27FC236}">
                <a16:creationId xmlns:a16="http://schemas.microsoft.com/office/drawing/2014/main" id="{E7280F17-2A34-CECA-C6D3-4088C7478B88}"/>
              </a:ext>
            </a:extLst>
          </p:cNvPr>
          <p:cNvGrpSpPr/>
          <p:nvPr/>
        </p:nvGrpSpPr>
        <p:grpSpPr>
          <a:xfrm>
            <a:off x="5376001" y="5735905"/>
            <a:ext cx="1440000" cy="108000"/>
            <a:chOff x="7703516" y="4404294"/>
            <a:chExt cx="1440000" cy="108000"/>
          </a:xfrm>
        </p:grpSpPr>
        <p:cxnSp>
          <p:nvCxnSpPr>
            <p:cNvPr id="38" name="直接连接符 37">
              <a:extLst>
                <a:ext uri="{FF2B5EF4-FFF2-40B4-BE49-F238E27FC236}">
                  <a16:creationId xmlns:a16="http://schemas.microsoft.com/office/drawing/2014/main" id="{1CCFCA05-88E0-1815-AE29-748099674D43}"/>
                </a:ext>
              </a:extLst>
            </p:cNvPr>
            <p:cNvCxnSpPr>
              <a:cxnSpLocks/>
            </p:cNvCxnSpPr>
            <p:nvPr/>
          </p:nvCxnSpPr>
          <p:spPr>
            <a:xfrm>
              <a:off x="7703516" y="4458294"/>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9" name="菱形 38">
              <a:extLst>
                <a:ext uri="{FF2B5EF4-FFF2-40B4-BE49-F238E27FC236}">
                  <a16:creationId xmlns:a16="http://schemas.microsoft.com/office/drawing/2014/main" id="{44DEE905-ECCB-2C2B-9391-65DAC968BF65}"/>
                </a:ext>
              </a:extLst>
            </p:cNvPr>
            <p:cNvSpPr/>
            <p:nvPr/>
          </p:nvSpPr>
          <p:spPr>
            <a:xfrm rot="5400000">
              <a:off x="7739516" y="4368294"/>
              <a:ext cx="108000" cy="180000"/>
            </a:xfrm>
            <a:prstGeom prst="diamon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a:extLst>
              <a:ext uri="{FF2B5EF4-FFF2-40B4-BE49-F238E27FC236}">
                <a16:creationId xmlns:a16="http://schemas.microsoft.com/office/drawing/2014/main" id="{1048C38D-B9E5-EE30-D594-9988C0AB8128}"/>
              </a:ext>
            </a:extLst>
          </p:cNvPr>
          <p:cNvGrpSpPr/>
          <p:nvPr/>
        </p:nvGrpSpPr>
        <p:grpSpPr>
          <a:xfrm>
            <a:off x="5376001" y="6413792"/>
            <a:ext cx="1440000" cy="108000"/>
            <a:chOff x="7703516" y="4404294"/>
            <a:chExt cx="1440000" cy="108000"/>
          </a:xfrm>
        </p:grpSpPr>
        <p:cxnSp>
          <p:nvCxnSpPr>
            <p:cNvPr id="41" name="直接连接符 40">
              <a:extLst>
                <a:ext uri="{FF2B5EF4-FFF2-40B4-BE49-F238E27FC236}">
                  <a16:creationId xmlns:a16="http://schemas.microsoft.com/office/drawing/2014/main" id="{5EF265D9-F1A8-5371-A144-6A04E811A1CC}"/>
                </a:ext>
              </a:extLst>
            </p:cNvPr>
            <p:cNvCxnSpPr>
              <a:cxnSpLocks/>
            </p:cNvCxnSpPr>
            <p:nvPr/>
          </p:nvCxnSpPr>
          <p:spPr>
            <a:xfrm>
              <a:off x="7703516" y="4458294"/>
              <a:ext cx="1440000"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2" name="菱形 41">
              <a:extLst>
                <a:ext uri="{FF2B5EF4-FFF2-40B4-BE49-F238E27FC236}">
                  <a16:creationId xmlns:a16="http://schemas.microsoft.com/office/drawing/2014/main" id="{300E73A4-EE89-CE21-1436-114380368540}"/>
                </a:ext>
              </a:extLst>
            </p:cNvPr>
            <p:cNvSpPr/>
            <p:nvPr/>
          </p:nvSpPr>
          <p:spPr>
            <a:xfrm rot="5400000">
              <a:off x="7739516" y="4368294"/>
              <a:ext cx="108000" cy="180000"/>
            </a:xfrm>
            <a:prstGeom prst="diamond">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37640"/>
      </p:ext>
    </p:extLst>
  </p:cSld>
  <p:clrMapOvr>
    <a:masterClrMapping/>
  </p:clrMapOvr>
  <p:transition>
    <p:diamon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5B59-7AE8-D9D8-08B3-EAB3A8B011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EF32DA6-4014-8033-873B-52990F26A206}"/>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490EEBBE-C541-4AA2-3CEC-CB4D5A1A27F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109C131A-5808-5AAF-A9B6-E72077454F50}"/>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DAB5585B-3D12-832B-EEC3-7A6E6F052774}"/>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AC869FDA-F13B-3099-0A0B-483DFB61F378}"/>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4D0E26AD-1EBC-0E74-E214-FD2D7DF251C8}"/>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DE5240CD-DBB0-0311-C358-D3849F59B74D}"/>
              </a:ext>
            </a:extLst>
          </p:cNvPr>
          <p:cNvSpPr txBox="1"/>
          <p:nvPr/>
        </p:nvSpPr>
        <p:spPr>
          <a:xfrm>
            <a:off x="694801" y="1980000"/>
            <a:ext cx="10791184" cy="1431161"/>
          </a:xfrm>
          <a:prstGeom prst="rect">
            <a:avLst/>
          </a:prstGeom>
          <a:noFill/>
        </p:spPr>
        <p:txBody>
          <a:bodyPr wrap="square" rtlCol="0">
            <a:spAutoFit/>
          </a:bodyPr>
          <a:lstStyle/>
          <a:p>
            <a:pPr>
              <a:spcAft>
                <a:spcPts val="600"/>
              </a:spcAft>
            </a:pPr>
            <a:r>
              <a:rPr lang="zh-CN" altLang="en-US" dirty="0"/>
              <a:t>关联 </a:t>
            </a:r>
            <a:r>
              <a:rPr lang="en-US" altLang="zh-CN" dirty="0"/>
              <a:t> Association</a:t>
            </a:r>
          </a:p>
          <a:p>
            <a:pPr marL="285750" indent="-285750">
              <a:spcAft>
                <a:spcPts val="600"/>
              </a:spcAft>
              <a:buFont typeface="Arial" panose="020B0604020202020204" pitchFamily="34" charset="0"/>
              <a:buChar char="•"/>
            </a:pPr>
            <a:r>
              <a:rPr lang="zh-CN" altLang="en-US" dirty="0"/>
              <a:t>描述类与类之间的一种引用关系；一个类持有另一个类的引用；也是最常见的关系</a:t>
            </a:r>
            <a:endParaRPr lang="en-US" altLang="zh-CN" dirty="0"/>
          </a:p>
          <a:p>
            <a:pPr marL="285750" indent="-285750">
              <a:spcAft>
                <a:spcPts val="600"/>
              </a:spcAft>
              <a:buFont typeface="Arial" panose="020B0604020202020204" pitchFamily="34" charset="0"/>
              <a:buChar char="•"/>
            </a:pPr>
            <a:r>
              <a:rPr lang="zh-CN" altLang="en-US" dirty="0"/>
              <a:t>是一种 </a:t>
            </a:r>
            <a:r>
              <a:rPr lang="en-US" altLang="zh-CN" dirty="0"/>
              <a:t>has-a </a:t>
            </a:r>
            <a:r>
              <a:rPr lang="zh-CN" altLang="en-US" dirty="0"/>
              <a:t>的关系；</a:t>
            </a:r>
            <a:r>
              <a:rPr lang="en-US" altLang="zh-CN" dirty="0"/>
              <a:t>A </a:t>
            </a:r>
            <a:r>
              <a:rPr lang="zh-CN" altLang="en-US" dirty="0"/>
              <a:t>有一个 </a:t>
            </a:r>
            <a:r>
              <a:rPr lang="en-US" altLang="zh-CN" dirty="0"/>
              <a:t>B </a:t>
            </a:r>
            <a:r>
              <a:rPr lang="zh-CN" altLang="en-US" dirty="0"/>
              <a:t>类型的成员变量</a:t>
            </a:r>
            <a:endParaRPr lang="en-US" altLang="zh-CN" dirty="0"/>
          </a:p>
          <a:p>
            <a:pPr marL="285750" indent="-285750">
              <a:spcAft>
                <a:spcPts val="600"/>
              </a:spcAft>
              <a:buFont typeface="Arial" panose="020B0604020202020204" pitchFamily="34" charset="0"/>
              <a:buChar char="•"/>
            </a:pPr>
            <a:r>
              <a:rPr lang="zh-CN" altLang="en-US" dirty="0"/>
              <a:t>图形表示：连接两个类的实线，可以带箭头表示导航方向</a:t>
            </a:r>
          </a:p>
        </p:txBody>
      </p:sp>
      <p:sp>
        <p:nvSpPr>
          <p:cNvPr id="2" name="MH_SubTitle_2">
            <a:extLst>
              <a:ext uri="{FF2B5EF4-FFF2-40B4-BE49-F238E27FC236}">
                <a16:creationId xmlns:a16="http://schemas.microsoft.com/office/drawing/2014/main" id="{D843B03E-F5D8-BF75-09A2-281FC8D8F6DA}"/>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mj-lt"/>
                <a:ea typeface="+mj-ea"/>
              </a:rPr>
              <a:t>关联  </a:t>
            </a:r>
            <a:r>
              <a:rPr lang="en-US" altLang="zh-CN" dirty="0">
                <a:latin typeface="+mj-lt"/>
                <a:ea typeface="+mj-ea"/>
              </a:rPr>
              <a:t>Association</a:t>
            </a:r>
          </a:p>
        </p:txBody>
      </p:sp>
      <p:grpSp>
        <p:nvGrpSpPr>
          <p:cNvPr id="5" name="组合 4">
            <a:extLst>
              <a:ext uri="{FF2B5EF4-FFF2-40B4-BE49-F238E27FC236}">
                <a16:creationId xmlns:a16="http://schemas.microsoft.com/office/drawing/2014/main" id="{F09B7702-250A-2329-1D5F-D70478E71AF5}"/>
              </a:ext>
            </a:extLst>
          </p:cNvPr>
          <p:cNvGrpSpPr/>
          <p:nvPr/>
        </p:nvGrpSpPr>
        <p:grpSpPr>
          <a:xfrm>
            <a:off x="7178675" y="3103384"/>
            <a:ext cx="1953869" cy="307777"/>
            <a:chOff x="7703516" y="4304406"/>
            <a:chExt cx="1953869" cy="307777"/>
          </a:xfrm>
        </p:grpSpPr>
        <p:cxnSp>
          <p:nvCxnSpPr>
            <p:cNvPr id="9" name="直接连接符 8">
              <a:extLst>
                <a:ext uri="{FF2B5EF4-FFF2-40B4-BE49-F238E27FC236}">
                  <a16:creationId xmlns:a16="http://schemas.microsoft.com/office/drawing/2014/main" id="{1DB30F4C-6BBA-0A0D-85F3-DF09D47F829A}"/>
                </a:ext>
              </a:extLst>
            </p:cNvPr>
            <p:cNvCxnSpPr>
              <a:cxnSpLocks/>
            </p:cNvCxnSpPr>
            <p:nvPr/>
          </p:nvCxnSpPr>
          <p:spPr>
            <a:xfrm>
              <a:off x="7703516" y="4458294"/>
              <a:ext cx="1225296" cy="0"/>
            </a:xfrm>
            <a:prstGeom prst="line">
              <a:avLst/>
            </a:prstGeom>
            <a:ln w="28575">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5E642EA8-0333-196F-7699-A2D8540611DE}"/>
                </a:ext>
              </a:extLst>
            </p:cNvPr>
            <p:cNvSpPr txBox="1"/>
            <p:nvPr/>
          </p:nvSpPr>
          <p:spPr>
            <a:xfrm>
              <a:off x="9113645" y="4304406"/>
              <a:ext cx="543740" cy="307777"/>
            </a:xfrm>
            <a:prstGeom prst="rect">
              <a:avLst/>
            </a:prstGeom>
            <a:noFill/>
          </p:spPr>
          <p:txBody>
            <a:bodyPr wrap="none" rtlCol="0">
              <a:spAutoFit/>
            </a:bodyPr>
            <a:lstStyle/>
            <a:p>
              <a:pPr algn="ctr"/>
              <a:r>
                <a:rPr lang="zh-CN" altLang="en-US" sz="1400" dirty="0"/>
                <a:t>关联</a:t>
              </a:r>
            </a:p>
          </p:txBody>
        </p:sp>
      </p:grpSp>
      <p:cxnSp>
        <p:nvCxnSpPr>
          <p:cNvPr id="23" name="直接连接符 22">
            <a:extLst>
              <a:ext uri="{FF2B5EF4-FFF2-40B4-BE49-F238E27FC236}">
                <a16:creationId xmlns:a16="http://schemas.microsoft.com/office/drawing/2014/main" id="{DB1D6280-5F27-5A25-E5A8-7A234D32A25D}"/>
              </a:ext>
            </a:extLst>
          </p:cNvPr>
          <p:cNvCxnSpPr>
            <a:cxnSpLocks/>
            <a:stCxn id="29" idx="3"/>
            <a:endCxn id="30" idx="1"/>
          </p:cNvCxnSpPr>
          <p:nvPr/>
        </p:nvCxnSpPr>
        <p:spPr>
          <a:xfrm>
            <a:off x="5379145" y="4729460"/>
            <a:ext cx="1433711"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4B3576A7-6E2F-4465-79F2-E0DBAEF23E6B}"/>
              </a:ext>
            </a:extLst>
          </p:cNvPr>
          <p:cNvSpPr/>
          <p:nvPr/>
        </p:nvSpPr>
        <p:spPr>
          <a:xfrm>
            <a:off x="4299145" y="454946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Student</a:t>
            </a:r>
            <a:endParaRPr lang="zh-CN" altLang="en-US" sz="1400" dirty="0">
              <a:solidFill>
                <a:schemeClr val="tx1"/>
              </a:solidFill>
            </a:endParaRPr>
          </a:p>
        </p:txBody>
      </p:sp>
      <p:sp>
        <p:nvSpPr>
          <p:cNvPr id="30" name="矩形 29">
            <a:extLst>
              <a:ext uri="{FF2B5EF4-FFF2-40B4-BE49-F238E27FC236}">
                <a16:creationId xmlns:a16="http://schemas.microsoft.com/office/drawing/2014/main" id="{0212B6A9-1B51-B73C-5F9B-D8812BD3D662}"/>
              </a:ext>
            </a:extLst>
          </p:cNvPr>
          <p:cNvSpPr/>
          <p:nvPr/>
        </p:nvSpPr>
        <p:spPr>
          <a:xfrm>
            <a:off x="6812856" y="4549460"/>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Teacher</a:t>
            </a:r>
            <a:endParaRPr lang="zh-CN" altLang="en-US" sz="1400" dirty="0">
              <a:solidFill>
                <a:schemeClr val="tx1"/>
              </a:solidFill>
            </a:endParaRPr>
          </a:p>
        </p:txBody>
      </p:sp>
      <p:sp>
        <p:nvSpPr>
          <p:cNvPr id="31" name="矩形 30">
            <a:extLst>
              <a:ext uri="{FF2B5EF4-FFF2-40B4-BE49-F238E27FC236}">
                <a16:creationId xmlns:a16="http://schemas.microsoft.com/office/drawing/2014/main" id="{48349F16-07B6-BBEF-E4EE-0BFA18E3FA90}"/>
              </a:ext>
            </a:extLst>
          </p:cNvPr>
          <p:cNvSpPr/>
          <p:nvPr/>
        </p:nvSpPr>
        <p:spPr>
          <a:xfrm>
            <a:off x="4299145" y="522734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User</a:t>
            </a:r>
            <a:endParaRPr lang="zh-CN" altLang="en-US" sz="1400" dirty="0">
              <a:solidFill>
                <a:schemeClr val="tx1"/>
              </a:solidFill>
            </a:endParaRPr>
          </a:p>
        </p:txBody>
      </p:sp>
      <p:sp>
        <p:nvSpPr>
          <p:cNvPr id="32" name="矩形 31">
            <a:extLst>
              <a:ext uri="{FF2B5EF4-FFF2-40B4-BE49-F238E27FC236}">
                <a16:creationId xmlns:a16="http://schemas.microsoft.com/office/drawing/2014/main" id="{A8C34649-DCC6-FF0F-9BD4-B59ECA497303}"/>
              </a:ext>
            </a:extLst>
          </p:cNvPr>
          <p:cNvSpPr/>
          <p:nvPr/>
        </p:nvSpPr>
        <p:spPr>
          <a:xfrm>
            <a:off x="6812856" y="522734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Address</a:t>
            </a:r>
            <a:endParaRPr lang="zh-CN" altLang="en-US" sz="1400" dirty="0">
              <a:solidFill>
                <a:schemeClr val="tx1"/>
              </a:solidFill>
            </a:endParaRPr>
          </a:p>
        </p:txBody>
      </p:sp>
      <p:cxnSp>
        <p:nvCxnSpPr>
          <p:cNvPr id="38" name="直接连接符 37">
            <a:extLst>
              <a:ext uri="{FF2B5EF4-FFF2-40B4-BE49-F238E27FC236}">
                <a16:creationId xmlns:a16="http://schemas.microsoft.com/office/drawing/2014/main" id="{1F19AC2E-800D-8FFA-4A70-A1D823F9E417}"/>
              </a:ext>
            </a:extLst>
          </p:cNvPr>
          <p:cNvCxnSpPr>
            <a:cxnSpLocks/>
            <a:stCxn id="31" idx="3"/>
            <a:endCxn id="32" idx="1"/>
          </p:cNvCxnSpPr>
          <p:nvPr/>
        </p:nvCxnSpPr>
        <p:spPr>
          <a:xfrm>
            <a:off x="5379145" y="5407348"/>
            <a:ext cx="1433711" cy="0"/>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860530"/>
      </p:ext>
    </p:extLst>
  </p:cSld>
  <p:clrMapOvr>
    <a:masterClrMapping/>
  </p:clrMapOvr>
  <p:transition>
    <p:diamon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1B758-03A5-7D70-DA80-2294ECD78F5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8E1C3FD-C05A-18C1-8C62-9D9E9402EEB8}"/>
              </a:ext>
            </a:extLst>
          </p:cNvPr>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859880F0-1A45-E541-71FA-877AF95A8540}"/>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E0AC7A41-3AC5-F52A-8577-21A923218729}"/>
              </a:ext>
            </a:extLst>
          </p:cNvPr>
          <p:cNvGrpSpPr/>
          <p:nvPr/>
        </p:nvGrpSpPr>
        <p:grpSpPr>
          <a:xfrm>
            <a:off x="7178675" y="694054"/>
            <a:ext cx="5013325" cy="973455"/>
            <a:chOff x="7193915" y="694054"/>
            <a:chExt cx="5013325" cy="973455"/>
          </a:xfrm>
        </p:grpSpPr>
        <p:sp>
          <p:nvSpPr>
            <p:cNvPr id="19" name="MH_SubTitle_2">
              <a:extLst>
                <a:ext uri="{FF2B5EF4-FFF2-40B4-BE49-F238E27FC236}">
                  <a16:creationId xmlns:a16="http://schemas.microsoft.com/office/drawing/2014/main" id="{A35B71E3-9F98-DD21-9812-D02952F0D48C}"/>
                </a:ext>
              </a:extLst>
            </p:cNvPr>
            <p:cNvSpPr/>
            <p:nvPr>
              <p:custDataLst>
                <p:tags r:id="rId2"/>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类的关系</a:t>
              </a:r>
            </a:p>
          </p:txBody>
        </p:sp>
        <p:sp>
          <p:nvSpPr>
            <p:cNvPr id="20" name="MH_Other_5">
              <a:extLst>
                <a:ext uri="{FF2B5EF4-FFF2-40B4-BE49-F238E27FC236}">
                  <a16:creationId xmlns:a16="http://schemas.microsoft.com/office/drawing/2014/main" id="{ECE4F2D4-6E17-23B4-2B42-6B847445B312}"/>
                </a:ext>
              </a:extLst>
            </p:cNvPr>
            <p:cNvSpPr/>
            <p:nvPr>
              <p:custDataLst>
                <p:tags r:id="rId3"/>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a:extLst>
                <a:ext uri="{FF2B5EF4-FFF2-40B4-BE49-F238E27FC236}">
                  <a16:creationId xmlns:a16="http://schemas.microsoft.com/office/drawing/2014/main" id="{B806BA6E-C792-57BC-417C-9D6288C5046B}"/>
                </a:ext>
              </a:extLst>
            </p:cNvPr>
            <p:cNvSpPr/>
            <p:nvPr>
              <p:custDataLst>
                <p:tags r:id="rId4"/>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8" name="文本框 7">
            <a:extLst>
              <a:ext uri="{FF2B5EF4-FFF2-40B4-BE49-F238E27FC236}">
                <a16:creationId xmlns:a16="http://schemas.microsoft.com/office/drawing/2014/main" id="{8E87E8AB-E800-28D2-BB3D-9A4DED38846A}"/>
              </a:ext>
            </a:extLst>
          </p:cNvPr>
          <p:cNvSpPr txBox="1"/>
          <p:nvPr/>
        </p:nvSpPr>
        <p:spPr>
          <a:xfrm>
            <a:off x="694801" y="1980000"/>
            <a:ext cx="10791184" cy="2846933"/>
          </a:xfrm>
          <a:prstGeom prst="rect">
            <a:avLst/>
          </a:prstGeom>
          <a:noFill/>
        </p:spPr>
        <p:txBody>
          <a:bodyPr wrap="square" rtlCol="0">
            <a:spAutoFit/>
          </a:bodyPr>
          <a:lstStyle/>
          <a:p>
            <a:pPr>
              <a:spcAft>
                <a:spcPts val="600"/>
              </a:spcAft>
            </a:pPr>
            <a:r>
              <a:rPr lang="zh-CN" altLang="en-US" dirty="0"/>
              <a:t>依赖 </a:t>
            </a:r>
            <a:r>
              <a:rPr lang="en-US" altLang="zh-CN" dirty="0"/>
              <a:t> Dependence</a:t>
            </a:r>
          </a:p>
          <a:p>
            <a:pPr marL="285750" indent="-285750">
              <a:spcAft>
                <a:spcPts val="600"/>
              </a:spcAft>
              <a:buFont typeface="Arial" panose="020B0604020202020204" pitchFamily="34" charset="0"/>
              <a:buChar char="•"/>
            </a:pPr>
            <a:r>
              <a:rPr lang="zh-CN" altLang="en-US" dirty="0"/>
              <a:t>类和类之间的关系，是一种</a:t>
            </a:r>
            <a:r>
              <a:rPr lang="zh-CN" altLang="en-US" b="1" dirty="0">
                <a:solidFill>
                  <a:srgbClr val="00B0F0"/>
                </a:solidFill>
              </a:rPr>
              <a:t>使用</a:t>
            </a:r>
            <a:r>
              <a:rPr lang="zh-CN" altLang="en-US" dirty="0"/>
              <a:t>关系：用到了你，但不是我的一部分</a:t>
            </a:r>
            <a:endParaRPr lang="en-US" altLang="zh-CN" dirty="0"/>
          </a:p>
          <a:p>
            <a:pPr marL="285750" indent="-285750">
              <a:spcAft>
                <a:spcPts val="600"/>
              </a:spcAft>
              <a:buFont typeface="Arial" panose="020B0604020202020204" pitchFamily="34" charset="0"/>
              <a:buChar char="•"/>
            </a:pPr>
            <a:r>
              <a:rPr lang="zh-CN" altLang="en-US" dirty="0"/>
              <a:t>对象之间耦合度最弱的一种关系</a:t>
            </a:r>
            <a:endParaRPr lang="en-US" altLang="zh-CN" dirty="0"/>
          </a:p>
          <a:p>
            <a:pPr marL="285750" indent="-285750">
              <a:spcAft>
                <a:spcPts val="600"/>
              </a:spcAft>
              <a:buFont typeface="Arial" panose="020B0604020202020204" pitchFamily="34" charset="0"/>
              <a:buChar char="•"/>
            </a:pPr>
            <a:r>
              <a:rPr lang="zh-CN" altLang="en-US" dirty="0"/>
              <a:t>依赖方指向被依赖方的虚线 </a:t>
            </a:r>
            <a:r>
              <a:rPr lang="en-US" altLang="zh-CN" dirty="0"/>
              <a:t>+ </a:t>
            </a:r>
            <a:r>
              <a:rPr lang="zh-CN" altLang="en-US" dirty="0"/>
              <a:t>普通箭头</a:t>
            </a:r>
            <a:endParaRPr lang="en-US" altLang="zh-CN" dirty="0"/>
          </a:p>
          <a:p>
            <a:pPr marL="285750" indent="-285750">
              <a:spcAft>
                <a:spcPts val="600"/>
              </a:spcAft>
              <a:buFont typeface="Arial" panose="020B0604020202020204" pitchFamily="34" charset="0"/>
              <a:buChar char="•"/>
            </a:pPr>
            <a:r>
              <a:rPr lang="zh-CN" altLang="en-US" dirty="0"/>
              <a:t>在 </a:t>
            </a:r>
            <a:r>
              <a:rPr lang="en-US" altLang="zh-CN" dirty="0"/>
              <a:t>A </a:t>
            </a:r>
            <a:r>
              <a:rPr lang="zh-CN" altLang="en-US" dirty="0"/>
              <a:t>中使用了 </a:t>
            </a:r>
            <a:r>
              <a:rPr lang="en-US" altLang="zh-CN" dirty="0"/>
              <a:t>B</a:t>
            </a:r>
            <a:r>
              <a:rPr lang="zh-CN" altLang="en-US" dirty="0"/>
              <a:t>。但是这个使用是临时的、偶然的、弱关系，所以用虚线表示</a:t>
            </a:r>
            <a:endParaRPr lang="en-US" altLang="zh-CN" dirty="0"/>
          </a:p>
          <a:p>
            <a:pPr marL="742950" lvl="1" indent="-285750">
              <a:spcAft>
                <a:spcPts val="600"/>
              </a:spcAft>
              <a:buFont typeface="Arial" panose="020B0604020202020204" pitchFamily="34" charset="0"/>
              <a:buChar char="•"/>
            </a:pPr>
            <a:r>
              <a:rPr lang="zh-CN" altLang="en-US" dirty="0"/>
              <a:t>或作为局部变量</a:t>
            </a:r>
            <a:endParaRPr lang="en-US" altLang="zh-CN" dirty="0"/>
          </a:p>
          <a:p>
            <a:pPr marL="742950" lvl="1" indent="-285750">
              <a:spcAft>
                <a:spcPts val="600"/>
              </a:spcAft>
              <a:buFont typeface="Arial" panose="020B0604020202020204" pitchFamily="34" charset="0"/>
              <a:buChar char="•"/>
            </a:pPr>
            <a:r>
              <a:rPr lang="zh-CN" altLang="en-US" dirty="0"/>
              <a:t>或作为方法的参数</a:t>
            </a:r>
            <a:r>
              <a:rPr lang="en-US" altLang="zh-CN" dirty="0"/>
              <a:t>|</a:t>
            </a:r>
            <a:r>
              <a:rPr lang="zh-CN" altLang="en-US" dirty="0"/>
              <a:t>类</a:t>
            </a:r>
            <a:r>
              <a:rPr lang="en-US" altLang="zh-CN" dirty="0"/>
              <a:t>B</a:t>
            </a:r>
            <a:r>
              <a:rPr lang="zh-CN" altLang="en-US" dirty="0"/>
              <a:t>作为类</a:t>
            </a:r>
            <a:r>
              <a:rPr lang="en-US" altLang="zh-CN" dirty="0"/>
              <a:t>A</a:t>
            </a:r>
            <a:r>
              <a:rPr lang="zh-CN" altLang="en-US" dirty="0"/>
              <a:t>的方法的参数或局部变量存在</a:t>
            </a:r>
            <a:endParaRPr lang="en-US" altLang="zh-CN" dirty="0"/>
          </a:p>
          <a:p>
            <a:pPr marL="742950" lvl="1" indent="-285750">
              <a:spcAft>
                <a:spcPts val="600"/>
              </a:spcAft>
              <a:buFont typeface="Arial" panose="020B0604020202020204" pitchFamily="34" charset="0"/>
              <a:buChar char="•"/>
            </a:pPr>
            <a:r>
              <a:rPr lang="zh-CN" altLang="en-US" dirty="0"/>
              <a:t>或者作为静态方法被类</a:t>
            </a:r>
            <a:r>
              <a:rPr lang="en-US" altLang="zh-CN" dirty="0"/>
              <a:t>A</a:t>
            </a:r>
            <a:r>
              <a:rPr lang="zh-CN" altLang="en-US" dirty="0"/>
              <a:t>使用</a:t>
            </a:r>
            <a:endParaRPr lang="en-US" altLang="zh-CN" dirty="0"/>
          </a:p>
        </p:txBody>
      </p:sp>
      <p:sp>
        <p:nvSpPr>
          <p:cNvPr id="2" name="MH_SubTitle_2">
            <a:extLst>
              <a:ext uri="{FF2B5EF4-FFF2-40B4-BE49-F238E27FC236}">
                <a16:creationId xmlns:a16="http://schemas.microsoft.com/office/drawing/2014/main" id="{339660ED-014C-CDA3-634B-3A35D62AB1F2}"/>
              </a:ext>
            </a:extLst>
          </p:cNvPr>
          <p:cNvSpPr/>
          <p:nvPr>
            <p:custDataLst>
              <p:tags r:id="rId1"/>
            </p:custDataLst>
          </p:nvPr>
        </p:nvSpPr>
        <p:spPr>
          <a:xfrm flipH="1">
            <a:off x="9312000" y="1864360"/>
            <a:ext cx="2880000" cy="504000"/>
          </a:xfrm>
          <a:prstGeom prst="homePlate">
            <a:avLst>
              <a:gd name="adj" fmla="val 55040"/>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dirty="0">
                <a:latin typeface="+mj-lt"/>
                <a:ea typeface="+mj-ea"/>
              </a:rPr>
              <a:t>依赖  </a:t>
            </a:r>
            <a:r>
              <a:rPr lang="en-US" altLang="zh-CN" dirty="0">
                <a:latin typeface="+mj-lt"/>
                <a:ea typeface="+mj-ea"/>
              </a:rPr>
              <a:t>Dependence</a:t>
            </a:r>
          </a:p>
        </p:txBody>
      </p:sp>
      <p:grpSp>
        <p:nvGrpSpPr>
          <p:cNvPr id="5" name="组合 4">
            <a:extLst>
              <a:ext uri="{FF2B5EF4-FFF2-40B4-BE49-F238E27FC236}">
                <a16:creationId xmlns:a16="http://schemas.microsoft.com/office/drawing/2014/main" id="{16F602E3-061F-90B8-56D8-5109153C2CED}"/>
              </a:ext>
            </a:extLst>
          </p:cNvPr>
          <p:cNvGrpSpPr/>
          <p:nvPr/>
        </p:nvGrpSpPr>
        <p:grpSpPr>
          <a:xfrm>
            <a:off x="5379145" y="3058365"/>
            <a:ext cx="1953870" cy="307777"/>
            <a:chOff x="7703516" y="4304406"/>
            <a:chExt cx="1953870" cy="307777"/>
          </a:xfrm>
        </p:grpSpPr>
        <p:cxnSp>
          <p:nvCxnSpPr>
            <p:cNvPr id="9" name="直接连接符 8">
              <a:extLst>
                <a:ext uri="{FF2B5EF4-FFF2-40B4-BE49-F238E27FC236}">
                  <a16:creationId xmlns:a16="http://schemas.microsoft.com/office/drawing/2014/main" id="{119EC37A-91C0-6830-2C7C-F582BE9EE198}"/>
                </a:ext>
              </a:extLst>
            </p:cNvPr>
            <p:cNvCxnSpPr>
              <a:cxnSpLocks/>
            </p:cNvCxnSpPr>
            <p:nvPr/>
          </p:nvCxnSpPr>
          <p:spPr>
            <a:xfrm>
              <a:off x="7703516" y="4458294"/>
              <a:ext cx="1225296" cy="0"/>
            </a:xfrm>
            <a:prstGeom prst="line">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CCEF1EDB-1FD5-B69F-417E-00E4B217A97F}"/>
                </a:ext>
              </a:extLst>
            </p:cNvPr>
            <p:cNvSpPr txBox="1"/>
            <p:nvPr/>
          </p:nvSpPr>
          <p:spPr>
            <a:xfrm>
              <a:off x="9113647" y="4304406"/>
              <a:ext cx="543739" cy="307777"/>
            </a:xfrm>
            <a:prstGeom prst="rect">
              <a:avLst/>
            </a:prstGeom>
            <a:noFill/>
          </p:spPr>
          <p:txBody>
            <a:bodyPr wrap="none" rtlCol="0">
              <a:spAutoFit/>
            </a:bodyPr>
            <a:lstStyle/>
            <a:p>
              <a:pPr algn="ctr"/>
              <a:r>
                <a:rPr lang="zh-CN" altLang="en-US" sz="1400" dirty="0"/>
                <a:t>依赖</a:t>
              </a:r>
            </a:p>
          </p:txBody>
        </p:sp>
      </p:grpSp>
      <p:cxnSp>
        <p:nvCxnSpPr>
          <p:cNvPr id="23" name="直接连接符 22">
            <a:extLst>
              <a:ext uri="{FF2B5EF4-FFF2-40B4-BE49-F238E27FC236}">
                <a16:creationId xmlns:a16="http://schemas.microsoft.com/office/drawing/2014/main" id="{815F4A3A-7A27-D4A3-AA98-66FB88345644}"/>
              </a:ext>
            </a:extLst>
          </p:cNvPr>
          <p:cNvCxnSpPr>
            <a:cxnSpLocks/>
            <a:stCxn id="29" idx="3"/>
            <a:endCxn id="30" idx="1"/>
          </p:cNvCxnSpPr>
          <p:nvPr/>
        </p:nvCxnSpPr>
        <p:spPr>
          <a:xfrm>
            <a:off x="5379145" y="5961103"/>
            <a:ext cx="1433711" cy="0"/>
          </a:xfrm>
          <a:prstGeom prst="line">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E564E1A0-C77A-BE85-52FA-28C5B8E0E850}"/>
              </a:ext>
            </a:extLst>
          </p:cNvPr>
          <p:cNvSpPr/>
          <p:nvPr/>
        </p:nvSpPr>
        <p:spPr>
          <a:xfrm>
            <a:off x="4299145" y="5781103"/>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Tool</a:t>
            </a:r>
            <a:endParaRPr lang="zh-CN" altLang="en-US" sz="1400" dirty="0">
              <a:solidFill>
                <a:schemeClr val="tx1"/>
              </a:solidFill>
            </a:endParaRPr>
          </a:p>
        </p:txBody>
      </p:sp>
      <p:sp>
        <p:nvSpPr>
          <p:cNvPr id="30" name="矩形 29">
            <a:extLst>
              <a:ext uri="{FF2B5EF4-FFF2-40B4-BE49-F238E27FC236}">
                <a16:creationId xmlns:a16="http://schemas.microsoft.com/office/drawing/2014/main" id="{5823D73D-C612-1B78-31EE-C528A2FE0A5D}"/>
              </a:ext>
            </a:extLst>
          </p:cNvPr>
          <p:cNvSpPr/>
          <p:nvPr/>
        </p:nvSpPr>
        <p:spPr>
          <a:xfrm>
            <a:off x="6812856" y="5781103"/>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Draw()</a:t>
            </a:r>
            <a:endParaRPr lang="zh-CN" altLang="en-US" sz="1400" dirty="0">
              <a:solidFill>
                <a:schemeClr val="tx1"/>
              </a:solidFill>
            </a:endParaRPr>
          </a:p>
        </p:txBody>
      </p:sp>
      <p:sp>
        <p:nvSpPr>
          <p:cNvPr id="31" name="矩形 30">
            <a:extLst>
              <a:ext uri="{FF2B5EF4-FFF2-40B4-BE49-F238E27FC236}">
                <a16:creationId xmlns:a16="http://schemas.microsoft.com/office/drawing/2014/main" id="{107AE61F-16A9-A5DE-C548-69EAC7A3CF5D}"/>
              </a:ext>
            </a:extLst>
          </p:cNvPr>
          <p:cNvSpPr/>
          <p:nvPr/>
        </p:nvSpPr>
        <p:spPr>
          <a:xfrm>
            <a:off x="4299145" y="522734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Order</a:t>
            </a:r>
            <a:endParaRPr lang="zh-CN" altLang="en-US" sz="1400" dirty="0">
              <a:solidFill>
                <a:schemeClr val="tx1"/>
              </a:solidFill>
            </a:endParaRPr>
          </a:p>
        </p:txBody>
      </p:sp>
      <p:sp>
        <p:nvSpPr>
          <p:cNvPr id="32" name="矩形 31">
            <a:extLst>
              <a:ext uri="{FF2B5EF4-FFF2-40B4-BE49-F238E27FC236}">
                <a16:creationId xmlns:a16="http://schemas.microsoft.com/office/drawing/2014/main" id="{A4C7584A-4B90-4340-2850-EDEE6CFA0B4C}"/>
              </a:ext>
            </a:extLst>
          </p:cNvPr>
          <p:cNvSpPr/>
          <p:nvPr/>
        </p:nvSpPr>
        <p:spPr>
          <a:xfrm>
            <a:off x="6812856" y="522734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altLang="zh-CN" sz="1400" dirty="0">
                <a:solidFill>
                  <a:schemeClr val="tx1"/>
                </a:solidFill>
              </a:rPr>
              <a:t>Pay</a:t>
            </a:r>
            <a:endParaRPr lang="zh-CN" altLang="en-US" sz="1400" dirty="0">
              <a:solidFill>
                <a:schemeClr val="tx1"/>
              </a:solidFill>
            </a:endParaRPr>
          </a:p>
        </p:txBody>
      </p:sp>
      <p:cxnSp>
        <p:nvCxnSpPr>
          <p:cNvPr id="38" name="直接连接符 37">
            <a:extLst>
              <a:ext uri="{FF2B5EF4-FFF2-40B4-BE49-F238E27FC236}">
                <a16:creationId xmlns:a16="http://schemas.microsoft.com/office/drawing/2014/main" id="{3673DE04-57FD-1048-8145-78A3806A2E7C}"/>
              </a:ext>
            </a:extLst>
          </p:cNvPr>
          <p:cNvCxnSpPr>
            <a:cxnSpLocks/>
            <a:stCxn id="31" idx="3"/>
            <a:endCxn id="32" idx="1"/>
          </p:cNvCxnSpPr>
          <p:nvPr/>
        </p:nvCxnSpPr>
        <p:spPr>
          <a:xfrm>
            <a:off x="5379145" y="5407348"/>
            <a:ext cx="1433711" cy="0"/>
          </a:xfrm>
          <a:prstGeom prst="line">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5413022"/>
      </p:ext>
    </p:extLst>
  </p:cSld>
  <p:clrMapOvr>
    <a:masterClrMapping/>
  </p:clrMapOvr>
  <p:transition>
    <p:diamon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73A99D04-E629-E3BE-B9F9-4EB0E744393C}"/>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7" name="组合 6">
            <a:extLst>
              <a:ext uri="{FF2B5EF4-FFF2-40B4-BE49-F238E27FC236}">
                <a16:creationId xmlns:a16="http://schemas.microsoft.com/office/drawing/2014/main" id="{F8E10976-6E62-3C19-C45F-FF9A4DBA9DB7}"/>
              </a:ext>
            </a:extLst>
          </p:cNvPr>
          <p:cNvGrpSpPr/>
          <p:nvPr/>
        </p:nvGrpSpPr>
        <p:grpSpPr>
          <a:xfrm>
            <a:off x="7178675" y="694054"/>
            <a:ext cx="5013325" cy="973455"/>
            <a:chOff x="7193915" y="694054"/>
            <a:chExt cx="5013325" cy="973455"/>
          </a:xfrm>
        </p:grpSpPr>
        <p:sp>
          <p:nvSpPr>
            <p:cNvPr id="19" name="MH_SubTitle_2"/>
            <p:cNvSpPr/>
            <p:nvPr>
              <p:custDataLst>
                <p:tags r:id="rId3"/>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类的关联关系</a:t>
              </a:r>
            </a:p>
          </p:txBody>
        </p:sp>
        <p:sp>
          <p:nvSpPr>
            <p:cNvPr id="20" name="MH_Other_5"/>
            <p:cNvSpPr/>
            <p:nvPr>
              <p:custDataLst>
                <p:tags r:id="rId4"/>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5"/>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1143000" y="2606675"/>
            <a:ext cx="5846445" cy="347154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0">
              <a:lnSpc>
                <a:spcPct val="120000"/>
              </a:lnSpc>
              <a:buNone/>
            </a:pPr>
            <a:r>
              <a:rPr lang="zh-CN" altLang="en-US" dirty="0">
                <a:solidFill>
                  <a:schemeClr val="tx1"/>
                </a:solidFill>
              </a:rPr>
              <a:t>       两个类之间的关联关系用直线连接来表示。类的关联关系有方向时，用黑三角表示方向，可在方向上起名字，也可不起名字</a:t>
            </a:r>
            <a:r>
              <a:rPr lang="zh-CN" altLang="en-US">
                <a:solidFill>
                  <a:schemeClr val="tx1"/>
                </a:solidFill>
              </a:rPr>
              <a:t>，图</a:t>
            </a:r>
            <a:r>
              <a:rPr lang="en-US" altLang="zh-CN" dirty="0">
                <a:solidFill>
                  <a:schemeClr val="tx1"/>
                </a:solidFill>
              </a:rPr>
              <a:t>6-5</a:t>
            </a:r>
            <a:r>
              <a:rPr lang="zh-CN" altLang="en-US" dirty="0">
                <a:solidFill>
                  <a:schemeClr val="tx1"/>
                </a:solidFill>
              </a:rPr>
              <a:t>表示了关联的方向。不带箭头的关联可以是方向未知、未确定或双向的。</a:t>
            </a:r>
          </a:p>
          <a:p>
            <a:pPr indent="0">
              <a:lnSpc>
                <a:spcPct val="120000"/>
              </a:lnSpc>
              <a:buNone/>
            </a:pPr>
            <a:r>
              <a:rPr lang="zh-CN" altLang="en-US" dirty="0">
                <a:solidFill>
                  <a:schemeClr val="tx1"/>
                </a:solidFill>
              </a:rPr>
              <a:t>       在类图中还可以表示关联中的数量关系，即参与关联的对象的个数或数量范围。例如右图：</a:t>
            </a:r>
          </a:p>
          <a:p>
            <a:pPr indent="0">
              <a:lnSpc>
                <a:spcPct val="120000"/>
              </a:lnSpc>
              <a:buNone/>
            </a:pPr>
            <a:r>
              <a:rPr lang="zh-CN" altLang="en-US">
                <a:solidFill>
                  <a:schemeClr val="tx1"/>
                </a:solidFill>
              </a:rPr>
              <a:t>       图</a:t>
            </a:r>
            <a:r>
              <a:rPr lang="en-US" altLang="zh-CN" dirty="0">
                <a:solidFill>
                  <a:schemeClr val="tx1"/>
                </a:solidFill>
              </a:rPr>
              <a:t>6-5</a:t>
            </a:r>
            <a:r>
              <a:rPr lang="zh-CN" altLang="en-US" dirty="0">
                <a:solidFill>
                  <a:schemeClr val="tx1"/>
                </a:solidFill>
              </a:rPr>
              <a:t>表示学生与计算机的关联，学生使用计算机，计算机被学生使用，几个学生合用一台计算机或多个学生使用多台计算机。</a:t>
            </a:r>
          </a:p>
        </p:txBody>
      </p:sp>
      <p:sp>
        <p:nvSpPr>
          <p:cNvPr id="13" name="文本框 99"/>
          <p:cNvSpPr txBox="1"/>
          <p:nvPr/>
        </p:nvSpPr>
        <p:spPr>
          <a:xfrm>
            <a:off x="7506578" y="2911578"/>
            <a:ext cx="4130040" cy="2097170"/>
          </a:xfrm>
          <a:prstGeom prst="roundRect">
            <a:avLst/>
          </a:prstGeom>
          <a:noFill/>
          <a:ln w="9525">
            <a:solidFill>
              <a:schemeClr val="accent3"/>
            </a:solidFill>
          </a:ln>
        </p:spPr>
        <p:txBody>
          <a:bodyPr wrap="square" lIns="72000" tIns="36000" rIns="72000" bIns="36000">
            <a:spAutoFit/>
          </a:bodyPr>
          <a:lstStyle/>
          <a:p>
            <a:pPr>
              <a:lnSpc>
                <a:spcPct val="150000"/>
              </a:lnSpc>
            </a:pPr>
            <a:r>
              <a:rPr lang="en-US" altLang="zh-CN" sz="1600" dirty="0">
                <a:latin typeface="+mj-lt"/>
                <a:ea typeface="+mj-ea"/>
                <a:cs typeface="宋体" panose="02010600030101010101" pitchFamily="2" charset="-122"/>
              </a:rPr>
              <a:t>0…1		</a:t>
            </a:r>
            <a:r>
              <a:rPr lang="zh-CN" altLang="en-US" sz="1600" dirty="0">
                <a:latin typeface="+mj-lt"/>
                <a:ea typeface="+mj-ea"/>
                <a:cs typeface="宋体" panose="02010600030101010101" pitchFamily="2" charset="-122"/>
              </a:rPr>
              <a:t>表示：</a:t>
            </a:r>
            <a:r>
              <a:rPr lang="en-US" altLang="zh-CN" sz="1600" dirty="0">
                <a:latin typeface="+mj-lt"/>
                <a:ea typeface="+mj-ea"/>
                <a:cs typeface="宋体" panose="02010600030101010101" pitchFamily="2" charset="-122"/>
              </a:rPr>
              <a:t>0</a:t>
            </a:r>
            <a:r>
              <a:rPr lang="zh-CN" altLang="en-US" sz="1600" dirty="0">
                <a:latin typeface="+mj-lt"/>
                <a:ea typeface="+mj-ea"/>
                <a:cs typeface="宋体" panose="02010600030101010101" pitchFamily="2" charset="-122"/>
              </a:rPr>
              <a:t>到</a:t>
            </a:r>
            <a:r>
              <a:rPr lang="en-US" altLang="zh-CN" sz="1600" dirty="0">
                <a:latin typeface="+mj-lt"/>
                <a:ea typeface="+mj-ea"/>
                <a:cs typeface="宋体" panose="02010600030101010101" pitchFamily="2" charset="-122"/>
              </a:rPr>
              <a:t>1</a:t>
            </a:r>
            <a:r>
              <a:rPr lang="zh-CN" altLang="en-US" sz="1600" dirty="0">
                <a:latin typeface="+mj-lt"/>
                <a:ea typeface="+mj-ea"/>
                <a:cs typeface="宋体" panose="02010600030101010101" pitchFamily="2" charset="-122"/>
              </a:rPr>
              <a:t>个对象</a:t>
            </a:r>
          </a:p>
          <a:p>
            <a:pPr>
              <a:lnSpc>
                <a:spcPct val="150000"/>
              </a:lnSpc>
            </a:pPr>
            <a:r>
              <a:rPr lang="en-US" altLang="zh-CN" sz="1600" dirty="0">
                <a:latin typeface="+mj-lt"/>
                <a:ea typeface="+mj-ea"/>
                <a:cs typeface="宋体" panose="02010600030101010101" pitchFamily="2" charset="-122"/>
              </a:rPr>
              <a:t>0…* </a:t>
            </a:r>
            <a:r>
              <a:rPr lang="zh-CN" altLang="en-US" sz="1600" dirty="0">
                <a:latin typeface="+mj-lt"/>
                <a:ea typeface="+mj-ea"/>
                <a:cs typeface="宋体" panose="02010600030101010101" pitchFamily="2" charset="-122"/>
              </a:rPr>
              <a:t>或 *</a:t>
            </a:r>
            <a:r>
              <a:rPr lang="en-US" altLang="zh-CN" sz="1600" dirty="0">
                <a:latin typeface="+mj-lt"/>
                <a:ea typeface="+mj-ea"/>
                <a:cs typeface="宋体" panose="02010600030101010101" pitchFamily="2" charset="-122"/>
              </a:rPr>
              <a:t>		</a:t>
            </a:r>
            <a:r>
              <a:rPr lang="zh-CN" altLang="en-US" sz="1600" dirty="0">
                <a:latin typeface="+mj-lt"/>
                <a:ea typeface="+mj-ea"/>
                <a:cs typeface="宋体" panose="02010600030101010101" pitchFamily="2" charset="-122"/>
              </a:rPr>
              <a:t>表示：</a:t>
            </a:r>
            <a:r>
              <a:rPr lang="en-US" altLang="zh-CN" sz="1600" dirty="0">
                <a:latin typeface="+mj-lt"/>
                <a:ea typeface="+mj-ea"/>
                <a:cs typeface="宋体" panose="02010600030101010101" pitchFamily="2" charset="-122"/>
              </a:rPr>
              <a:t>0</a:t>
            </a:r>
            <a:r>
              <a:rPr lang="zh-CN" altLang="en-US" sz="1600" dirty="0">
                <a:latin typeface="+mj-lt"/>
                <a:ea typeface="+mj-ea"/>
                <a:cs typeface="宋体" panose="02010600030101010101" pitchFamily="2" charset="-122"/>
              </a:rPr>
              <a:t>到多个对象</a:t>
            </a:r>
          </a:p>
          <a:p>
            <a:pPr>
              <a:lnSpc>
                <a:spcPct val="150000"/>
              </a:lnSpc>
            </a:pPr>
            <a:r>
              <a:rPr lang="en-US" altLang="zh-CN" sz="1600" dirty="0">
                <a:latin typeface="+mj-lt"/>
                <a:ea typeface="+mj-ea"/>
                <a:cs typeface="宋体" panose="02010600030101010101" pitchFamily="2" charset="-122"/>
              </a:rPr>
              <a:t>1…15		</a:t>
            </a:r>
            <a:r>
              <a:rPr lang="zh-CN" altLang="en-US" sz="1600" dirty="0">
                <a:latin typeface="+mj-lt"/>
                <a:ea typeface="+mj-ea"/>
                <a:cs typeface="宋体" panose="02010600030101010101" pitchFamily="2" charset="-122"/>
              </a:rPr>
              <a:t>表示：</a:t>
            </a:r>
            <a:r>
              <a:rPr lang="en-US" altLang="zh-CN" sz="1600" dirty="0">
                <a:latin typeface="+mj-lt"/>
                <a:ea typeface="+mj-ea"/>
                <a:cs typeface="宋体" panose="02010600030101010101" pitchFamily="2" charset="-122"/>
              </a:rPr>
              <a:t>1</a:t>
            </a:r>
            <a:r>
              <a:rPr lang="zh-CN" altLang="en-US" sz="1600" dirty="0">
                <a:latin typeface="+mj-lt"/>
                <a:ea typeface="+mj-ea"/>
                <a:cs typeface="宋体" panose="02010600030101010101" pitchFamily="2" charset="-122"/>
              </a:rPr>
              <a:t>到</a:t>
            </a:r>
            <a:r>
              <a:rPr lang="en-US" altLang="zh-CN" sz="1600" dirty="0">
                <a:latin typeface="+mj-lt"/>
                <a:ea typeface="+mj-ea"/>
                <a:cs typeface="宋体" panose="02010600030101010101" pitchFamily="2" charset="-122"/>
              </a:rPr>
              <a:t>15</a:t>
            </a:r>
            <a:r>
              <a:rPr lang="zh-CN" altLang="en-US" sz="1600" dirty="0">
                <a:latin typeface="+mj-lt"/>
                <a:ea typeface="+mj-ea"/>
                <a:cs typeface="宋体" panose="02010600030101010101" pitchFamily="2" charset="-122"/>
              </a:rPr>
              <a:t>个对象</a:t>
            </a:r>
          </a:p>
          <a:p>
            <a:pPr>
              <a:lnSpc>
                <a:spcPct val="150000"/>
              </a:lnSpc>
            </a:pPr>
            <a:r>
              <a:rPr lang="en-US" altLang="zh-CN" sz="1600" dirty="0">
                <a:latin typeface="+mj-lt"/>
                <a:ea typeface="+mj-ea"/>
                <a:cs typeface="宋体" panose="02010600030101010101" pitchFamily="2" charset="-122"/>
              </a:rPr>
              <a:t>3		</a:t>
            </a:r>
            <a:r>
              <a:rPr lang="zh-CN" altLang="en-US" sz="1600" dirty="0">
                <a:latin typeface="+mj-lt"/>
                <a:ea typeface="+mj-ea"/>
                <a:cs typeface="宋体" panose="02010600030101010101" pitchFamily="2" charset="-122"/>
              </a:rPr>
              <a:t>表示：</a:t>
            </a:r>
            <a:r>
              <a:rPr lang="en-US" altLang="zh-CN" sz="1600" dirty="0">
                <a:latin typeface="+mj-lt"/>
                <a:ea typeface="+mj-ea"/>
                <a:cs typeface="宋体" panose="02010600030101010101" pitchFamily="2" charset="-122"/>
              </a:rPr>
              <a:t>3</a:t>
            </a:r>
            <a:r>
              <a:rPr lang="zh-CN" altLang="en-US" sz="1600" dirty="0">
                <a:latin typeface="+mj-lt"/>
                <a:ea typeface="+mj-ea"/>
                <a:cs typeface="宋体" panose="02010600030101010101" pitchFamily="2" charset="-122"/>
              </a:rPr>
              <a:t>个对象</a:t>
            </a:r>
          </a:p>
          <a:p>
            <a:pPr>
              <a:lnSpc>
                <a:spcPct val="150000"/>
              </a:lnSpc>
            </a:pPr>
            <a:r>
              <a:rPr lang="zh-CN" altLang="en-US" sz="1600" dirty="0">
                <a:latin typeface="+mj-lt"/>
                <a:ea typeface="+mj-ea"/>
                <a:cs typeface="宋体" panose="02010600030101010101" pitchFamily="2" charset="-122"/>
              </a:rPr>
              <a:t>个数缺省</a:t>
            </a:r>
            <a:r>
              <a:rPr lang="en-US" altLang="zh-CN" sz="1600" dirty="0">
                <a:latin typeface="+mj-lt"/>
                <a:ea typeface="+mj-ea"/>
                <a:cs typeface="宋体" panose="02010600030101010101" pitchFamily="2" charset="-122"/>
              </a:rPr>
              <a:t>		</a:t>
            </a:r>
            <a:r>
              <a:rPr lang="zh-CN" altLang="en-US" sz="1600" dirty="0">
                <a:latin typeface="+mj-lt"/>
                <a:ea typeface="+mj-ea"/>
                <a:cs typeface="宋体" panose="02010600030101010101" pitchFamily="2" charset="-122"/>
              </a:rPr>
              <a:t>表示：</a:t>
            </a:r>
            <a:r>
              <a:rPr lang="en-US" altLang="zh-CN" sz="1600" dirty="0">
                <a:latin typeface="+mj-lt"/>
                <a:ea typeface="+mj-ea"/>
                <a:cs typeface="宋体" panose="02010600030101010101" pitchFamily="2" charset="-122"/>
              </a:rPr>
              <a:t>1</a:t>
            </a:r>
          </a:p>
        </p:txBody>
      </p:sp>
      <p:pic>
        <p:nvPicPr>
          <p:cNvPr id="156674" name="图片 158"/>
          <p:cNvPicPr>
            <a:picLocks noChangeAspect="1" noChangeArrowheads="1"/>
          </p:cNvPicPr>
          <p:nvPr/>
        </p:nvPicPr>
        <p:blipFill>
          <a:blip r:embed="rId7" cstate="print"/>
          <a:srcRect/>
          <a:stretch>
            <a:fillRect/>
          </a:stretch>
        </p:blipFill>
        <p:spPr bwMode="auto">
          <a:xfrm>
            <a:off x="7656189" y="5061584"/>
            <a:ext cx="3463296" cy="577216"/>
          </a:xfrm>
          <a:prstGeom prst="rect">
            <a:avLst/>
          </a:prstGeom>
          <a:noFill/>
          <a:ln w="9525">
            <a:noFill/>
            <a:miter lim="800000"/>
            <a:headEnd/>
            <a:tailEnd/>
          </a:ln>
        </p:spPr>
      </p:pic>
      <p:sp>
        <p:nvSpPr>
          <p:cNvPr id="15" name="矩形 14"/>
          <p:cNvSpPr/>
          <p:nvPr/>
        </p:nvSpPr>
        <p:spPr>
          <a:xfrm>
            <a:off x="8178981" y="5697974"/>
            <a:ext cx="2326278" cy="369332"/>
          </a:xfrm>
          <a:prstGeom prst="rect">
            <a:avLst/>
          </a:prstGeom>
        </p:spPr>
        <p:txBody>
          <a:bodyPr wrap="none">
            <a:spAutoFit/>
          </a:bodyPr>
          <a:lstStyle/>
          <a:p>
            <a:r>
              <a:rPr lang="zh-CN" altLang="en-US" dirty="0"/>
              <a:t>图</a:t>
            </a:r>
            <a:r>
              <a:rPr lang="en-US" dirty="0"/>
              <a:t>6-5  </a:t>
            </a:r>
            <a:r>
              <a:rPr lang="zh-CN" altLang="en-US" dirty="0"/>
              <a:t>类与类的关联</a:t>
            </a:r>
            <a:r>
              <a:rPr lang="en-US" dirty="0"/>
              <a:t> </a:t>
            </a:r>
            <a:endParaRPr lang="zh-CN" altLang="en-US" dirty="0"/>
          </a:p>
        </p:txBody>
      </p:sp>
      <p:sp>
        <p:nvSpPr>
          <p:cNvPr id="2" name="MH_SubTitle_2">
            <a:extLst>
              <a:ext uri="{FF2B5EF4-FFF2-40B4-BE49-F238E27FC236}">
                <a16:creationId xmlns:a16="http://schemas.microsoft.com/office/drawing/2014/main" id="{BBC5A1CC-0E07-4B05-8545-0524CE52B057}"/>
              </a:ext>
            </a:extLst>
          </p:cNvPr>
          <p:cNvSpPr/>
          <p:nvPr>
            <p:custDataLst>
              <p:tags r:id="rId2"/>
            </p:custDataLst>
          </p:nvPr>
        </p:nvSpPr>
        <p:spPr>
          <a:xfrm flipH="1">
            <a:off x="8680450" y="1864360"/>
            <a:ext cx="351155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一般关联</a:t>
            </a:r>
          </a:p>
        </p:txBody>
      </p:sp>
    </p:spTree>
    <p:extLst>
      <p:ext uri="{BB962C8B-B14F-4D97-AF65-F5344CB8AC3E}">
        <p14:creationId xmlns:p14="http://schemas.microsoft.com/office/powerpoint/2010/main" val="1345727954"/>
      </p:ext>
    </p:extLst>
  </p:cSld>
  <p:clrMapOvr>
    <a:masterClrMapping/>
  </p:clrMapOvr>
  <p:transition>
    <p:diamon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5" name="文本占位符 4">
            <a:extLst>
              <a:ext uri="{FF2B5EF4-FFF2-40B4-BE49-F238E27FC236}">
                <a16:creationId xmlns:a16="http://schemas.microsoft.com/office/drawing/2014/main" id="{44189B56-4219-0F1A-DB85-02DA8019E517}"/>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22" name="MH_Desc_1"/>
          <p:cNvSpPr/>
          <p:nvPr>
            <p:custDataLst>
              <p:tags r:id="rId1"/>
            </p:custDataLst>
          </p:nvPr>
        </p:nvSpPr>
        <p:spPr>
          <a:xfrm>
            <a:off x="1364615" y="2301875"/>
            <a:ext cx="6114415" cy="350456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0">
              <a:lnSpc>
                <a:spcPct val="120000"/>
              </a:lnSpc>
              <a:buNone/>
            </a:pPr>
            <a:r>
              <a:rPr lang="zh-CN" altLang="en-US" dirty="0">
                <a:solidFill>
                  <a:schemeClr val="tx1"/>
                </a:solidFill>
              </a:rPr>
              <a:t>       在一对多或多对多的关联关系中，可以用限定词将关联变成一对一的关联，限定词放在关联关系末端的一个小方框内，</a:t>
            </a:r>
            <a:r>
              <a:rPr lang="zh-CN" altLang="en-US">
                <a:solidFill>
                  <a:schemeClr val="tx1"/>
                </a:solidFill>
              </a:rPr>
              <a:t>如图</a:t>
            </a:r>
            <a:r>
              <a:rPr lang="en-US" altLang="zh-CN" dirty="0">
                <a:solidFill>
                  <a:schemeClr val="tx1"/>
                </a:solidFill>
              </a:rPr>
              <a:t>6-6</a:t>
            </a:r>
            <a:r>
              <a:rPr lang="zh-CN" altLang="en-US" dirty="0">
                <a:solidFill>
                  <a:schemeClr val="tx1"/>
                </a:solidFill>
              </a:rPr>
              <a:t>所示。</a:t>
            </a:r>
          </a:p>
        </p:txBody>
      </p:sp>
      <p:pic>
        <p:nvPicPr>
          <p:cNvPr id="157698" name="Picture 4" descr="6-6"/>
          <p:cNvPicPr>
            <a:picLocks noChangeAspect="1" noChangeArrowheads="1"/>
          </p:cNvPicPr>
          <p:nvPr/>
        </p:nvPicPr>
        <p:blipFill>
          <a:blip r:embed="rId7" cstate="print"/>
          <a:srcRect/>
          <a:stretch>
            <a:fillRect/>
          </a:stretch>
        </p:blipFill>
        <p:spPr bwMode="auto">
          <a:xfrm>
            <a:off x="7675246" y="3825240"/>
            <a:ext cx="3550920" cy="518160"/>
          </a:xfrm>
          <a:prstGeom prst="rect">
            <a:avLst/>
          </a:prstGeom>
          <a:noFill/>
          <a:ln w="9525">
            <a:noFill/>
            <a:miter lim="800000"/>
            <a:headEnd/>
            <a:tailEnd/>
          </a:ln>
        </p:spPr>
      </p:pic>
      <p:sp>
        <p:nvSpPr>
          <p:cNvPr id="13" name="矩形 12"/>
          <p:cNvSpPr/>
          <p:nvPr/>
        </p:nvSpPr>
        <p:spPr>
          <a:xfrm>
            <a:off x="8396153" y="4509254"/>
            <a:ext cx="1800493" cy="369332"/>
          </a:xfrm>
          <a:prstGeom prst="rect">
            <a:avLst/>
          </a:prstGeom>
        </p:spPr>
        <p:txBody>
          <a:bodyPr wrap="none">
            <a:spAutoFit/>
          </a:bodyPr>
          <a:lstStyle/>
          <a:p>
            <a:r>
              <a:rPr lang="zh-CN" altLang="en-US" dirty="0"/>
              <a:t>图</a:t>
            </a:r>
            <a:r>
              <a:rPr lang="en-US" dirty="0"/>
              <a:t>6-6  </a:t>
            </a:r>
            <a:r>
              <a:rPr lang="zh-CN" altLang="en-US" dirty="0"/>
              <a:t>类的限定</a:t>
            </a:r>
          </a:p>
        </p:txBody>
      </p:sp>
      <p:grpSp>
        <p:nvGrpSpPr>
          <p:cNvPr id="11" name="组合 10">
            <a:extLst>
              <a:ext uri="{FF2B5EF4-FFF2-40B4-BE49-F238E27FC236}">
                <a16:creationId xmlns:a16="http://schemas.microsoft.com/office/drawing/2014/main" id="{B660D065-307D-4B20-8DE7-8251B0B55B68}"/>
              </a:ext>
            </a:extLst>
          </p:cNvPr>
          <p:cNvGrpSpPr/>
          <p:nvPr/>
        </p:nvGrpSpPr>
        <p:grpSpPr>
          <a:xfrm>
            <a:off x="7178675" y="694054"/>
            <a:ext cx="5013325" cy="973455"/>
            <a:chOff x="7193915" y="694054"/>
            <a:chExt cx="5013325" cy="973455"/>
          </a:xfrm>
        </p:grpSpPr>
        <p:sp>
          <p:nvSpPr>
            <p:cNvPr id="9" name="MH_SubTitle_2"/>
            <p:cNvSpPr/>
            <p:nvPr>
              <p:custDataLst>
                <p:tags r:id="rId3"/>
              </p:custDataLst>
            </p:nvPr>
          </p:nvSpPr>
          <p:spPr>
            <a:xfrm flipH="1">
              <a:off x="7193915" y="817315"/>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类的关联关系</a:t>
              </a:r>
            </a:p>
          </p:txBody>
        </p:sp>
        <p:sp>
          <p:nvSpPr>
            <p:cNvPr id="20" name="MH_Other_5"/>
            <p:cNvSpPr/>
            <p:nvPr>
              <p:custDataLst>
                <p:tags r:id="rId4"/>
              </p:custDataLst>
            </p:nvPr>
          </p:nvSpPr>
          <p:spPr>
            <a:xfrm flipH="1">
              <a:off x="11200669" y="694634"/>
              <a:ext cx="1006571" cy="971610"/>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5"/>
              </p:custDataLst>
            </p:nvPr>
          </p:nvSpPr>
          <p:spPr>
            <a:xfrm flipH="1">
              <a:off x="10703596" y="694054"/>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0" name="MH_SubTitle_2">
            <a:extLst>
              <a:ext uri="{FF2B5EF4-FFF2-40B4-BE49-F238E27FC236}">
                <a16:creationId xmlns:a16="http://schemas.microsoft.com/office/drawing/2014/main" id="{9A5AC9A7-7E5E-95A1-F720-FF6B5D362896}"/>
              </a:ext>
            </a:extLst>
          </p:cNvPr>
          <p:cNvSpPr/>
          <p:nvPr>
            <p:custDataLst>
              <p:tags r:id="rId2"/>
            </p:custDataLst>
          </p:nvPr>
        </p:nvSpPr>
        <p:spPr>
          <a:xfrm flipH="1">
            <a:off x="8680450" y="1864360"/>
            <a:ext cx="351155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限定关联</a:t>
            </a:r>
          </a:p>
        </p:txBody>
      </p:sp>
    </p:spTree>
  </p:cSld>
  <p:clrMapOvr>
    <a:masterClrMapping/>
  </p:clrMapOvr>
  <p:transition>
    <p:diamon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5" name="文本占位符 4">
            <a:extLst>
              <a:ext uri="{FF2B5EF4-FFF2-40B4-BE49-F238E27FC236}">
                <a16:creationId xmlns:a16="http://schemas.microsoft.com/office/drawing/2014/main" id="{94265ED4-78A8-0125-68E9-728E4FB05123}"/>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19" name="MH_SubTitle_2"/>
          <p:cNvSpPr/>
          <p:nvPr>
            <p:custDataLst>
              <p:tags r:id="rId1"/>
            </p:custDataLst>
          </p:nvPr>
        </p:nvSpPr>
        <p:spPr>
          <a:xfrm flipH="1">
            <a:off x="8680450" y="1864360"/>
            <a:ext cx="351155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关联类</a:t>
            </a:r>
          </a:p>
        </p:txBody>
      </p:sp>
      <p:sp>
        <p:nvSpPr>
          <p:cNvPr id="22" name="MH_Desc_1"/>
          <p:cNvSpPr/>
          <p:nvPr>
            <p:custDataLst>
              <p:tags r:id="rId2"/>
            </p:custDataLst>
          </p:nvPr>
        </p:nvSpPr>
        <p:spPr>
          <a:xfrm>
            <a:off x="1391920" y="2233930"/>
            <a:ext cx="6155055" cy="377634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0">
              <a:lnSpc>
                <a:spcPct val="120000"/>
              </a:lnSpc>
              <a:buNone/>
            </a:pPr>
            <a:r>
              <a:rPr lang="zh-CN" altLang="en-US" dirty="0">
                <a:solidFill>
                  <a:schemeClr val="tx1"/>
                </a:solidFill>
              </a:rPr>
              <a:t>       为了说明关联的性质，可以用关联类来记录关联的一些附加信息。关联类与一般类一样，可以定义其属性、操作和关联。关联类用一条虚线与关联连接。</a:t>
            </a:r>
          </a:p>
          <a:p>
            <a:pPr indent="0">
              <a:lnSpc>
                <a:spcPct val="120000"/>
              </a:lnSpc>
              <a:buNone/>
            </a:pPr>
            <a:r>
              <a:rPr lang="zh-CN" altLang="en-US" dirty="0">
                <a:solidFill>
                  <a:schemeClr val="tx1"/>
                </a:solidFill>
              </a:rPr>
              <a:t>       例如，学生与所学习的课程具有关联关系，学生学习每门课程都可得到相应的学分、成绩</a:t>
            </a:r>
            <a:r>
              <a:rPr lang="zh-CN" altLang="en-US">
                <a:solidFill>
                  <a:schemeClr val="tx1"/>
                </a:solidFill>
              </a:rPr>
              <a:t>。图</a:t>
            </a:r>
            <a:r>
              <a:rPr lang="en-US" altLang="zh-CN" dirty="0">
                <a:solidFill>
                  <a:schemeClr val="tx1"/>
                </a:solidFill>
              </a:rPr>
              <a:t>6-7</a:t>
            </a:r>
            <a:r>
              <a:rPr lang="zh-CN" altLang="en-US" dirty="0">
                <a:solidFill>
                  <a:schemeClr val="tx1"/>
                </a:solidFill>
              </a:rPr>
              <a:t>是学生类与课程类关联关系的关联类图示。</a:t>
            </a:r>
          </a:p>
        </p:txBody>
      </p:sp>
      <p:pic>
        <p:nvPicPr>
          <p:cNvPr id="158722" name="Picture 20" descr="6-7"/>
          <p:cNvPicPr>
            <a:picLocks noChangeAspect="1" noChangeArrowheads="1"/>
          </p:cNvPicPr>
          <p:nvPr/>
        </p:nvPicPr>
        <p:blipFill>
          <a:blip r:embed="rId4" cstate="print"/>
          <a:srcRect/>
          <a:stretch>
            <a:fillRect/>
          </a:stretch>
        </p:blipFill>
        <p:spPr bwMode="auto">
          <a:xfrm>
            <a:off x="7720564" y="3261360"/>
            <a:ext cx="3467502" cy="1996440"/>
          </a:xfrm>
          <a:prstGeom prst="rect">
            <a:avLst/>
          </a:prstGeom>
          <a:noFill/>
          <a:ln w="9525">
            <a:noFill/>
            <a:miter lim="800000"/>
            <a:headEnd/>
            <a:tailEnd/>
          </a:ln>
        </p:spPr>
      </p:pic>
      <p:sp>
        <p:nvSpPr>
          <p:cNvPr id="13" name="矩形 12"/>
          <p:cNvSpPr/>
          <p:nvPr/>
        </p:nvSpPr>
        <p:spPr>
          <a:xfrm>
            <a:off x="8417897" y="5454134"/>
            <a:ext cx="2031325" cy="369332"/>
          </a:xfrm>
          <a:prstGeom prst="rect">
            <a:avLst/>
          </a:prstGeom>
        </p:spPr>
        <p:txBody>
          <a:bodyPr wrap="none">
            <a:spAutoFit/>
          </a:bodyPr>
          <a:lstStyle/>
          <a:p>
            <a:r>
              <a:rPr lang="zh-CN" altLang="en-US" dirty="0"/>
              <a:t>图</a:t>
            </a:r>
            <a:r>
              <a:rPr lang="en-US" dirty="0"/>
              <a:t>6-7  </a:t>
            </a:r>
            <a:r>
              <a:rPr lang="zh-CN" altLang="en-US" dirty="0"/>
              <a:t>关联类图示</a:t>
            </a:r>
          </a:p>
        </p:txBody>
      </p:sp>
    </p:spTree>
  </p:cSld>
  <p:clrMapOvr>
    <a:masterClrMapping/>
  </p:clrMapOvr>
  <p:transition>
    <p:diamon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5" name="文本占位符 4">
            <a:extLst>
              <a:ext uri="{FF2B5EF4-FFF2-40B4-BE49-F238E27FC236}">
                <a16:creationId xmlns:a16="http://schemas.microsoft.com/office/drawing/2014/main" id="{FE4BBF3B-78FE-5DA4-4718-E0311BB06031}"/>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19" name="MH_SubTitle_2"/>
          <p:cNvSpPr/>
          <p:nvPr>
            <p:custDataLst>
              <p:tags r:id="rId1"/>
            </p:custDataLst>
          </p:nvPr>
        </p:nvSpPr>
        <p:spPr>
          <a:xfrm flipH="1">
            <a:off x="8680450" y="1864360"/>
            <a:ext cx="351155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聚集</a:t>
            </a:r>
          </a:p>
        </p:txBody>
      </p:sp>
      <p:sp>
        <p:nvSpPr>
          <p:cNvPr id="22" name="MH_Desc_1"/>
          <p:cNvSpPr/>
          <p:nvPr>
            <p:custDataLst>
              <p:tags r:id="rId2"/>
            </p:custDataLst>
          </p:nvPr>
        </p:nvSpPr>
        <p:spPr>
          <a:xfrm>
            <a:off x="1364615" y="2233930"/>
            <a:ext cx="5746115" cy="377634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0">
              <a:lnSpc>
                <a:spcPct val="120000"/>
              </a:lnSpc>
              <a:buNone/>
            </a:pPr>
            <a:r>
              <a:rPr lang="en-US" dirty="0">
                <a:solidFill>
                  <a:schemeClr val="tx1"/>
                </a:solidFill>
              </a:rPr>
              <a:t>   </a:t>
            </a:r>
            <a:r>
              <a:rPr dirty="0">
                <a:solidFill>
                  <a:schemeClr val="tx1"/>
                </a:solidFill>
              </a:rPr>
              <a:t>   聚集表示类与类之间的关系是整体与部分的关系。在需求分析时，使用“包含”、“组成”、“分为”等词时，意味着存在聚集关系。</a:t>
            </a:r>
          </a:p>
          <a:p>
            <a:pPr indent="0">
              <a:lnSpc>
                <a:spcPct val="120000"/>
              </a:lnSpc>
              <a:buNone/>
            </a:pPr>
            <a:r>
              <a:rPr dirty="0">
                <a:solidFill>
                  <a:schemeClr val="tx1"/>
                </a:solidFill>
              </a:rPr>
              <a:t>      聚集关系除了一般聚集关系，还有两个特殊的聚集关系，即共享聚集和复合聚集。</a:t>
            </a:r>
          </a:p>
          <a:p>
            <a:pPr marL="285750" indent="-285750">
              <a:lnSpc>
                <a:spcPct val="120000"/>
              </a:lnSpc>
              <a:buFont typeface="Wingdings" panose="05000000000000000000" charset="0"/>
              <a:buChar char="Ø"/>
            </a:pPr>
            <a:r>
              <a:rPr dirty="0">
                <a:solidFill>
                  <a:schemeClr val="tx1"/>
                </a:solidFill>
              </a:rPr>
              <a:t>共享聚集</a:t>
            </a:r>
          </a:p>
          <a:p>
            <a:pPr indent="457200">
              <a:lnSpc>
                <a:spcPct val="120000"/>
              </a:lnSpc>
            </a:pPr>
            <a:r>
              <a:rPr dirty="0">
                <a:solidFill>
                  <a:schemeClr val="tx1"/>
                </a:solidFill>
              </a:rPr>
              <a:t>部分对象可同时参与多个整体对象的构成，称为共享聚集。例如，学生可参加多个学生社团组织。</a:t>
            </a:r>
          </a:p>
          <a:p>
            <a:pPr indent="457200">
              <a:lnSpc>
                <a:spcPct val="120000"/>
              </a:lnSpc>
            </a:pPr>
            <a:r>
              <a:rPr dirty="0" err="1">
                <a:solidFill>
                  <a:schemeClr val="tx1"/>
                </a:solidFill>
              </a:rPr>
              <a:t>一般聚集和共享聚集的表示符号都是在整体类的旁边画一空心菱形，用直线连接部分类</a:t>
            </a:r>
            <a:r>
              <a:rPr lang="zh-CN" altLang="en-US" dirty="0">
                <a:solidFill>
                  <a:schemeClr val="tx1"/>
                </a:solidFill>
              </a:rPr>
              <a:t>。</a:t>
            </a:r>
            <a:endParaRPr dirty="0">
              <a:solidFill>
                <a:schemeClr val="tx1"/>
              </a:solidFill>
            </a:endParaRPr>
          </a:p>
        </p:txBody>
      </p:sp>
      <p:pic>
        <p:nvPicPr>
          <p:cNvPr id="2" name="图片 161"/>
          <p:cNvPicPr>
            <a:picLocks noChangeAspect="1"/>
          </p:cNvPicPr>
          <p:nvPr/>
        </p:nvPicPr>
        <p:blipFill>
          <a:blip r:embed="rId4" cstate="print"/>
          <a:stretch>
            <a:fillRect/>
          </a:stretch>
        </p:blipFill>
        <p:spPr>
          <a:xfrm>
            <a:off x="7433310" y="3700780"/>
            <a:ext cx="4420235" cy="634365"/>
          </a:xfrm>
          <a:prstGeom prst="rect">
            <a:avLst/>
          </a:prstGeom>
          <a:noFill/>
          <a:ln w="9525">
            <a:noFill/>
          </a:ln>
        </p:spPr>
      </p:pic>
    </p:spTree>
  </p:cSld>
  <p:clrMapOvr>
    <a:masterClrMapping/>
  </p:clrMapOvr>
  <p:transition>
    <p:diamon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90635A89-B9A1-7488-09DE-4AFB823E8E4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sp>
        <p:nvSpPr>
          <p:cNvPr id="22" name="MH_Desc_1"/>
          <p:cNvSpPr/>
          <p:nvPr>
            <p:custDataLst>
              <p:tags r:id="rId1"/>
            </p:custDataLst>
          </p:nvPr>
        </p:nvSpPr>
        <p:spPr>
          <a:xfrm>
            <a:off x="901065" y="2301875"/>
            <a:ext cx="6005195" cy="37579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0">
              <a:lnSpc>
                <a:spcPct val="120000"/>
              </a:lnSpc>
              <a:buFont typeface="Wingdings" panose="05000000000000000000" charset="0"/>
              <a:buNone/>
            </a:pPr>
            <a:endParaRPr dirty="0">
              <a:solidFill>
                <a:schemeClr val="tx1"/>
              </a:solidFill>
            </a:endParaRPr>
          </a:p>
          <a:p>
            <a:pPr marL="285750" indent="-285750">
              <a:lnSpc>
                <a:spcPct val="120000"/>
              </a:lnSpc>
              <a:buFont typeface="Wingdings" panose="05000000000000000000" charset="0"/>
              <a:buChar char="Ø"/>
            </a:pPr>
            <a:r>
              <a:rPr dirty="0">
                <a:solidFill>
                  <a:schemeClr val="tx1"/>
                </a:solidFill>
              </a:rPr>
              <a:t>复合聚集（组成）</a:t>
            </a:r>
          </a:p>
          <a:p>
            <a:pPr indent="457200">
              <a:lnSpc>
                <a:spcPct val="120000"/>
              </a:lnSpc>
            </a:pPr>
            <a:r>
              <a:rPr dirty="0">
                <a:solidFill>
                  <a:schemeClr val="tx1"/>
                </a:solidFill>
              </a:rPr>
              <a:t>如果部分类完全隶属于整体类，部分与整体共存亡，则称该聚集为复合聚集，简称为组成。组成关系用实心菱形表示。</a:t>
            </a:r>
          </a:p>
          <a:p>
            <a:pPr indent="457200">
              <a:lnSpc>
                <a:spcPct val="120000"/>
              </a:lnSpc>
            </a:pPr>
            <a:r>
              <a:rPr dirty="0">
                <a:solidFill>
                  <a:schemeClr val="tx1"/>
                </a:solidFill>
              </a:rPr>
              <a:t>例如，旅客列车由火车头和若干车厢组成，车厢分为软席、硬席、软席卧铺和硬席卧铺4种。图6-9是旅客列车组成图，是复合聚集图例。</a:t>
            </a:r>
          </a:p>
        </p:txBody>
      </p:sp>
      <p:pic>
        <p:nvPicPr>
          <p:cNvPr id="4" name="图片 162"/>
          <p:cNvPicPr>
            <a:picLocks noChangeAspect="1"/>
          </p:cNvPicPr>
          <p:nvPr/>
        </p:nvPicPr>
        <p:blipFill>
          <a:blip r:embed="rId4" cstate="print"/>
          <a:stretch>
            <a:fillRect/>
          </a:stretch>
        </p:blipFill>
        <p:spPr>
          <a:xfrm>
            <a:off x="7974965" y="2868295"/>
            <a:ext cx="3058795" cy="2764155"/>
          </a:xfrm>
          <a:prstGeom prst="rect">
            <a:avLst/>
          </a:prstGeom>
          <a:noFill/>
          <a:ln w="9525">
            <a:noFill/>
          </a:ln>
        </p:spPr>
      </p:pic>
      <p:sp>
        <p:nvSpPr>
          <p:cNvPr id="5" name="文本框 4"/>
          <p:cNvSpPr txBox="1"/>
          <p:nvPr/>
        </p:nvSpPr>
        <p:spPr>
          <a:xfrm>
            <a:off x="6964045" y="5744845"/>
            <a:ext cx="5080000" cy="365760"/>
          </a:xfrm>
          <a:prstGeom prst="rect">
            <a:avLst/>
          </a:prstGeom>
          <a:noFill/>
          <a:ln w="9525">
            <a:noFill/>
          </a:ln>
        </p:spPr>
        <p:txBody>
          <a:bodyPr>
            <a:spAutoFit/>
          </a:bodyPr>
          <a:lstStyle/>
          <a:p>
            <a:pPr marL="0" indent="0" algn="ctr"/>
            <a:r>
              <a:rPr lang="zh-CN" altLang="en-US" b="0" u="none" dirty="0">
                <a:latin typeface="黑体" panose="02010609060101010101" pitchFamily="49" charset="-122"/>
                <a:ea typeface="黑体" panose="02010609060101010101" pitchFamily="49" charset="-122"/>
                <a:cs typeface="黑体" panose="02010609060101010101" pitchFamily="49" charset="-122"/>
              </a:rPr>
              <a:t>图</a:t>
            </a:r>
            <a:r>
              <a:rPr lang="en-US" altLang="zh-CN" b="0" u="none" dirty="0">
                <a:latin typeface="黑体" panose="02010609060101010101" pitchFamily="49" charset="-122"/>
                <a:ea typeface="黑体" panose="02010609060101010101" pitchFamily="49" charset="-122"/>
                <a:cs typeface="黑体" panose="02010609060101010101" pitchFamily="49" charset="-122"/>
              </a:rPr>
              <a:t>6-9  </a:t>
            </a:r>
            <a:r>
              <a:rPr lang="zh-CN" altLang="en-US" b="0" u="none" dirty="0">
                <a:latin typeface="黑体" panose="02010609060101010101" pitchFamily="49" charset="-122"/>
                <a:ea typeface="黑体" panose="02010609060101010101" pitchFamily="49" charset="-122"/>
                <a:cs typeface="黑体" panose="02010609060101010101" pitchFamily="49" charset="-122"/>
              </a:rPr>
              <a:t>复合聚集图例</a:t>
            </a:r>
            <a:endParaRPr lang="zh-CN" altLang="en-US" dirty="0"/>
          </a:p>
        </p:txBody>
      </p:sp>
      <p:sp>
        <p:nvSpPr>
          <p:cNvPr id="2" name="MH_SubTitle_2">
            <a:extLst>
              <a:ext uri="{FF2B5EF4-FFF2-40B4-BE49-F238E27FC236}">
                <a16:creationId xmlns:a16="http://schemas.microsoft.com/office/drawing/2014/main" id="{2CDA713D-E796-9F4A-374E-1ED55FC7457A}"/>
              </a:ext>
            </a:extLst>
          </p:cNvPr>
          <p:cNvSpPr/>
          <p:nvPr>
            <p:custDataLst>
              <p:tags r:id="rId2"/>
            </p:custDataLst>
          </p:nvPr>
        </p:nvSpPr>
        <p:spPr>
          <a:xfrm flipH="1">
            <a:off x="8680450" y="1864360"/>
            <a:ext cx="351155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聚集</a:t>
            </a:r>
          </a:p>
        </p:txBody>
      </p:sp>
    </p:spTree>
  </p:cSld>
  <p:clrMapOvr>
    <a:masterClrMapping/>
  </p:clrMapOvr>
  <p:transition>
    <p:diamon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B3A2BA59-99F9-804B-D8CB-13E42C062CDA}"/>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6" name="组合 5"/>
          <p:cNvGrpSpPr/>
          <p:nvPr/>
        </p:nvGrpSpPr>
        <p:grpSpPr>
          <a:xfrm>
            <a:off x="0" y="2029460"/>
            <a:ext cx="11170920" cy="4016375"/>
            <a:chOff x="0" y="3196"/>
            <a:chExt cx="17592" cy="6325"/>
          </a:xfrm>
        </p:grpSpPr>
        <p:grpSp>
          <p:nvGrpSpPr>
            <p:cNvPr id="7" name="组合 6"/>
            <p:cNvGrpSpPr/>
            <p:nvPr/>
          </p:nvGrpSpPr>
          <p:grpSpPr>
            <a:xfrm>
              <a:off x="0" y="3196"/>
              <a:ext cx="7895" cy="1530"/>
              <a:chOff x="1" y="2565401"/>
              <a:chExt cx="5013433" cy="971723"/>
            </a:xfrm>
          </p:grpSpPr>
          <p:sp>
            <p:nvSpPr>
              <p:cNvPr id="8" name="MH_SubTitle_1"/>
              <p:cNvSpPr/>
              <p:nvPr>
                <p:custDataLst>
                  <p:tags r:id="rId2"/>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类的一般－特殊关系</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3</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9420" y="3647"/>
              <a:ext cx="8172" cy="5874"/>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类的一般－特殊关系，也称继承关系或类的泛化，用空心三角形表示，三角形的顶角对着父类。图6-10（a）表示汽车类含客车与货车两个子类，子类与父类有单继承关系。图6-10（b）表示冷藏车既继承货车的特性（载货），又继承冷藏设备的特性（冷藏），具有多重继承关系。</a:t>
              </a:r>
            </a:p>
          </p:txBody>
        </p:sp>
      </p:grpSp>
      <p:sp>
        <p:nvSpPr>
          <p:cNvPr id="14" name="文本框 13"/>
          <p:cNvSpPr txBox="1"/>
          <p:nvPr/>
        </p:nvSpPr>
        <p:spPr>
          <a:xfrm>
            <a:off x="499110" y="5412740"/>
            <a:ext cx="4813300" cy="640080"/>
          </a:xfrm>
          <a:prstGeom prst="rect">
            <a:avLst/>
          </a:prstGeom>
          <a:noFill/>
        </p:spPr>
        <p:txBody>
          <a:bodyPr wrap="square" rtlCol="0" anchor="t">
            <a:spAutoFit/>
          </a:bodyPr>
          <a:lstStyle/>
          <a:p>
            <a:r>
              <a:rPr lang="en-US" altLang="zh-CN"/>
              <a:t>             </a:t>
            </a:r>
            <a:r>
              <a:rPr lang="zh-CN" altLang="en-US"/>
              <a:t>（a）                            （b）</a:t>
            </a:r>
          </a:p>
          <a:p>
            <a:r>
              <a:rPr lang="zh-CN" altLang="en-US"/>
              <a:t>     图6-10  类的单继承关系和多重继承关系</a:t>
            </a:r>
          </a:p>
        </p:txBody>
      </p:sp>
      <p:pic>
        <p:nvPicPr>
          <p:cNvPr id="2" name="图片 163"/>
          <p:cNvPicPr>
            <a:picLocks noChangeAspect="1"/>
          </p:cNvPicPr>
          <p:nvPr/>
        </p:nvPicPr>
        <p:blipFill>
          <a:blip r:embed="rId6" cstate="print"/>
          <a:srcRect r="53561"/>
          <a:stretch>
            <a:fillRect/>
          </a:stretch>
        </p:blipFill>
        <p:spPr>
          <a:xfrm>
            <a:off x="384175" y="3220720"/>
            <a:ext cx="2695575" cy="2192020"/>
          </a:xfrm>
          <a:prstGeom prst="rect">
            <a:avLst/>
          </a:prstGeom>
          <a:noFill/>
          <a:ln w="9525">
            <a:noFill/>
          </a:ln>
        </p:spPr>
      </p:pic>
      <p:pic>
        <p:nvPicPr>
          <p:cNvPr id="10" name="图片 163"/>
          <p:cNvPicPr>
            <a:picLocks noChangeAspect="1"/>
          </p:cNvPicPr>
          <p:nvPr/>
        </p:nvPicPr>
        <p:blipFill>
          <a:blip r:embed="rId6" cstate="print"/>
          <a:srcRect l="64588"/>
          <a:stretch>
            <a:fillRect/>
          </a:stretch>
        </p:blipFill>
        <p:spPr>
          <a:xfrm>
            <a:off x="2957830" y="3220720"/>
            <a:ext cx="2055495" cy="2192020"/>
          </a:xfrm>
          <a:prstGeom prst="rect">
            <a:avLst/>
          </a:prstGeom>
          <a:noFill/>
          <a:ln w="9525">
            <a:noFill/>
          </a:ln>
        </p:spPr>
      </p:pic>
    </p:spTree>
  </p:cSld>
  <p:clrMapOvr>
    <a:masterClrMapping/>
  </p:clrMapOvr>
  <p:transition>
    <p:diamon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371D6102-2EBB-4CE8-8365-C738140B0085}"/>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6" name="组合 5"/>
          <p:cNvGrpSpPr/>
          <p:nvPr/>
        </p:nvGrpSpPr>
        <p:grpSpPr>
          <a:xfrm>
            <a:off x="0" y="2029460"/>
            <a:ext cx="11609705" cy="3502660"/>
            <a:chOff x="0" y="3196"/>
            <a:chExt cx="18283" cy="5516"/>
          </a:xfrm>
        </p:grpSpPr>
        <p:grpSp>
          <p:nvGrpSpPr>
            <p:cNvPr id="7" name="组合 6"/>
            <p:cNvGrpSpPr/>
            <p:nvPr/>
          </p:nvGrpSpPr>
          <p:grpSpPr>
            <a:xfrm>
              <a:off x="0" y="3196"/>
              <a:ext cx="7895" cy="1530"/>
              <a:chOff x="1" y="2565401"/>
              <a:chExt cx="5013433" cy="971723"/>
            </a:xfrm>
          </p:grpSpPr>
          <p:sp>
            <p:nvSpPr>
              <p:cNvPr id="8" name="MH_SubTitle_1"/>
              <p:cNvSpPr/>
              <p:nvPr>
                <p:custDataLst>
                  <p:tags r:id="rId2"/>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sym typeface="+mn-ea"/>
                  </a:rPr>
                  <a:t>类的依赖关系</a:t>
                </a:r>
                <a:endParaRPr lang="zh-CN" altLang="en-US" sz="2400" dirty="0">
                  <a:solidFill>
                    <a:schemeClr val="bg1"/>
                  </a:solidFill>
                  <a:latin typeface="微软雅黑" panose="020B0503020204020204" charset="-122"/>
                  <a:ea typeface="微软雅黑" panose="020B0503020204020204" charset="-122"/>
                </a:endParaRP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4</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9420" y="3647"/>
              <a:ext cx="8863" cy="506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用带箭头的虚线连接有依赖关系的两个类，箭头指向独立的类。如图6-11所示，类A是独立的，类B以某种方式依赖于类A，如果类A改变了，将影响依赖于它的类B中的元素。如果一个类向另一个类发送消息，一个类使用另一个类的对象作为操作的参数，一个类使用另一个类的对象作为它的数据成员等，这样的两个类之间都存在依赖关系。连接依赖关系的虚线可以带一个标签，具体说明依赖的种类。</a:t>
              </a:r>
            </a:p>
          </p:txBody>
        </p:sp>
      </p:grpSp>
      <p:sp>
        <p:nvSpPr>
          <p:cNvPr id="14" name="文本框 13"/>
          <p:cNvSpPr txBox="1"/>
          <p:nvPr/>
        </p:nvSpPr>
        <p:spPr>
          <a:xfrm>
            <a:off x="1503680" y="5013960"/>
            <a:ext cx="2997200" cy="365760"/>
          </a:xfrm>
          <a:prstGeom prst="rect">
            <a:avLst/>
          </a:prstGeom>
          <a:noFill/>
        </p:spPr>
        <p:txBody>
          <a:bodyPr wrap="square" rtlCol="0" anchor="t">
            <a:spAutoFit/>
          </a:bodyPr>
          <a:lstStyle/>
          <a:p>
            <a:r>
              <a:rPr lang="zh-CN" altLang="en-US"/>
              <a:t>图6-11  类的依赖关系</a:t>
            </a:r>
          </a:p>
        </p:txBody>
      </p:sp>
      <p:pic>
        <p:nvPicPr>
          <p:cNvPr id="2" name="图片 -2147482347"/>
          <p:cNvPicPr>
            <a:picLocks noChangeAspect="1"/>
          </p:cNvPicPr>
          <p:nvPr/>
        </p:nvPicPr>
        <p:blipFill>
          <a:blip r:embed="rId6" cstate="print"/>
          <a:stretch>
            <a:fillRect/>
          </a:stretch>
        </p:blipFill>
        <p:spPr>
          <a:xfrm>
            <a:off x="1155700" y="3806190"/>
            <a:ext cx="3692525" cy="771525"/>
          </a:xfrm>
          <a:prstGeom prst="rect">
            <a:avLst/>
          </a:prstGeom>
          <a:noFill/>
          <a:ln w="9525">
            <a:noFill/>
          </a:ln>
        </p:spPr>
      </p:pic>
    </p:spTree>
  </p:cSld>
  <p:clrMapOvr>
    <a:masterClrMapping/>
  </p:clrMapOvr>
  <p:transition>
    <p:diamon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3A487A05-2292-D5FD-0020-AA49F1D4B73C}"/>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6" name="组合 5"/>
          <p:cNvGrpSpPr/>
          <p:nvPr/>
        </p:nvGrpSpPr>
        <p:grpSpPr>
          <a:xfrm>
            <a:off x="0" y="2029460"/>
            <a:ext cx="11457940" cy="3761740"/>
            <a:chOff x="0" y="3196"/>
            <a:chExt cx="18044" cy="5924"/>
          </a:xfrm>
        </p:grpSpPr>
        <p:grpSp>
          <p:nvGrpSpPr>
            <p:cNvPr id="7" name="组合 6"/>
            <p:cNvGrpSpPr/>
            <p:nvPr/>
          </p:nvGrpSpPr>
          <p:grpSpPr>
            <a:xfrm>
              <a:off x="0" y="3196"/>
              <a:ext cx="7895" cy="1530"/>
              <a:chOff x="1" y="2565401"/>
              <a:chExt cx="5013433" cy="971723"/>
            </a:xfrm>
          </p:grpSpPr>
          <p:sp>
            <p:nvSpPr>
              <p:cNvPr id="8" name="MH_SubTitle_1"/>
              <p:cNvSpPr/>
              <p:nvPr>
                <p:custDataLst>
                  <p:tags r:id="rId2"/>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类的细化关系</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5</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8509" y="3647"/>
              <a:ext cx="9535" cy="547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在软件开发的不同阶段都使用类图，这些类图表示了类在不同层次的抽象。类图可以分为3个层次。</a:t>
              </a:r>
              <a:r>
                <a:rPr lang="zh-CN" altLang="en-US" dirty="0">
                  <a:solidFill>
                    <a:schemeClr val="tx1"/>
                  </a:solidFill>
                </a:rPr>
                <a:t>分别是</a:t>
              </a:r>
              <a:r>
                <a:rPr dirty="0">
                  <a:solidFill>
                    <a:schemeClr val="tx1"/>
                  </a:solidFill>
                </a:rPr>
                <a:t>概念层类图</a:t>
              </a:r>
              <a:r>
                <a:rPr lang="zh-CN" altLang="en-US" dirty="0">
                  <a:solidFill>
                    <a:schemeClr val="tx1"/>
                  </a:solidFill>
                </a:rPr>
                <a:t>，</a:t>
              </a:r>
              <a:r>
                <a:rPr dirty="0">
                  <a:solidFill>
                    <a:schemeClr val="tx1"/>
                  </a:solidFill>
                </a:rPr>
                <a:t>说明层类图</a:t>
              </a:r>
              <a:r>
                <a:rPr lang="zh-CN" altLang="en-US" dirty="0">
                  <a:solidFill>
                    <a:schemeClr val="tx1"/>
                  </a:solidFill>
                </a:rPr>
                <a:t>，</a:t>
              </a:r>
              <a:r>
                <a:rPr dirty="0">
                  <a:solidFill>
                    <a:schemeClr val="tx1"/>
                  </a:solidFill>
                </a:rPr>
                <a:t>实现层类图</a:t>
              </a:r>
              <a:r>
                <a:rPr lang="zh-CN" altLang="en-US" dirty="0">
                  <a:solidFill>
                    <a:schemeClr val="tx1"/>
                  </a:solidFill>
                </a:rPr>
                <a:t>。</a:t>
              </a:r>
            </a:p>
            <a:p>
              <a:pPr indent="457200">
                <a:lnSpc>
                  <a:spcPct val="120000"/>
                </a:lnSpc>
              </a:pPr>
              <a:r>
                <a:rPr dirty="0">
                  <a:solidFill>
                    <a:schemeClr val="tx1"/>
                  </a:solidFill>
                </a:rPr>
                <a:t>当对同一事物在不同抽象层次上进行描述时，这些描述之间具有细化关系。例如，类A进一步详细描述后得到类B，称为类A与类B具有细化关系，用由类B指向类A的虚线及空心三角形表示。图6-12所示为类的细化关系，类A进一步细化后得到类B，类B细化了类A。细化主要用于表示类的模型之间的相关性，常用于跟踪模型的演变。</a:t>
              </a:r>
            </a:p>
          </p:txBody>
        </p:sp>
      </p:grpSp>
      <p:sp>
        <p:nvSpPr>
          <p:cNvPr id="14" name="文本框 13"/>
          <p:cNvSpPr txBox="1"/>
          <p:nvPr/>
        </p:nvSpPr>
        <p:spPr>
          <a:xfrm>
            <a:off x="1485265" y="4937760"/>
            <a:ext cx="2769235" cy="365760"/>
          </a:xfrm>
          <a:prstGeom prst="rect">
            <a:avLst/>
          </a:prstGeom>
          <a:noFill/>
        </p:spPr>
        <p:txBody>
          <a:bodyPr wrap="square" rtlCol="0" anchor="t">
            <a:spAutoFit/>
          </a:bodyPr>
          <a:lstStyle/>
          <a:p>
            <a:r>
              <a:rPr lang="zh-CN" altLang="en-US"/>
              <a:t>图6-12  类的细化关系</a:t>
            </a:r>
          </a:p>
        </p:txBody>
      </p:sp>
      <p:pic>
        <p:nvPicPr>
          <p:cNvPr id="2" name="图片 355"/>
          <p:cNvPicPr>
            <a:picLocks noChangeAspect="1"/>
          </p:cNvPicPr>
          <p:nvPr/>
        </p:nvPicPr>
        <p:blipFill>
          <a:blip r:embed="rId6" cstate="print"/>
          <a:stretch>
            <a:fillRect/>
          </a:stretch>
        </p:blipFill>
        <p:spPr>
          <a:xfrm>
            <a:off x="1193800" y="3822065"/>
            <a:ext cx="3352165" cy="706120"/>
          </a:xfrm>
          <a:prstGeom prst="rect">
            <a:avLst/>
          </a:prstGeom>
          <a:noFill/>
          <a:ln w="9525">
            <a:noFill/>
          </a:ln>
        </p:spPr>
      </p:pic>
    </p:spTree>
  </p:cSld>
  <p:clrMapOvr>
    <a:masterClrMapping/>
  </p:clrMapOvr>
  <p:transition>
    <p:diamon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752B87C3-90B9-F147-A268-455953C2DAE6}"/>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22" name="组合 21"/>
          <p:cNvGrpSpPr/>
          <p:nvPr/>
        </p:nvGrpSpPr>
        <p:grpSpPr>
          <a:xfrm>
            <a:off x="838200" y="2175510"/>
            <a:ext cx="10515600" cy="4464050"/>
            <a:chOff x="1218" y="3051"/>
            <a:chExt cx="16560" cy="7030"/>
          </a:xfrm>
        </p:grpSpPr>
        <p:grpSp>
          <p:nvGrpSpPr>
            <p:cNvPr id="23" name="组合 22"/>
            <p:cNvGrpSpPr/>
            <p:nvPr/>
          </p:nvGrpSpPr>
          <p:grpSpPr>
            <a:xfrm>
              <a:off x="6899" y="3375"/>
              <a:ext cx="4501" cy="4200"/>
              <a:chOff x="3529044" y="1886732"/>
              <a:chExt cx="4781534" cy="4078163"/>
            </a:xfrm>
          </p:grpSpPr>
          <p:sp>
            <p:nvSpPr>
              <p:cNvPr id="24" name="MH_SubTitle_1"/>
              <p:cNvSpPr/>
              <p:nvPr>
                <p:custDataLst>
                  <p:tags r:id="rId7"/>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5" name="MH_SubTitle_3"/>
              <p:cNvSpPr/>
              <p:nvPr>
                <p:custDataLst>
                  <p:tags r:id="rId8"/>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7" name="MH_Other_1"/>
              <p:cNvSpPr/>
              <p:nvPr>
                <p:custDataLst>
                  <p:tags r:id="rId9"/>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28" name="组合 12"/>
              <p:cNvGrpSpPr/>
              <p:nvPr/>
            </p:nvGrpSpPr>
            <p:grpSpPr>
              <a:xfrm>
                <a:off x="3568838" y="2222360"/>
                <a:ext cx="4560555" cy="3742535"/>
                <a:chOff x="3568838" y="2222360"/>
                <a:chExt cx="4560555" cy="3742535"/>
              </a:xfrm>
            </p:grpSpPr>
            <p:sp>
              <p:nvSpPr>
                <p:cNvPr id="30" name="MH_SubTitle_2"/>
                <p:cNvSpPr/>
                <p:nvPr>
                  <p:custDataLst>
                    <p:tags r:id="rId11"/>
                  </p:custDataLst>
                </p:nvPr>
              </p:nvSpPr>
              <p:spPr>
                <a:xfrm rot="3733167">
                  <a:off x="3859969" y="1931229"/>
                  <a:ext cx="3742535" cy="432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说明层类图</a:t>
                  </a:r>
                </a:p>
              </p:txBody>
            </p:sp>
            <p:sp>
              <p:nvSpPr>
                <p:cNvPr id="31" name="MH_Other_2"/>
                <p:cNvSpPr/>
                <p:nvPr>
                  <p:custDataLst>
                    <p:tags r:id="rId12"/>
                  </p:custDataLst>
                </p:nvPr>
              </p:nvSpPr>
              <p:spPr>
                <a:xfrm rot="10873167">
                  <a:off x="3932989" y="2261238"/>
                  <a:ext cx="3919715" cy="3288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实现层类图</a:t>
                  </a:r>
                </a:p>
              </p:txBody>
            </p:sp>
            <p:sp>
              <p:nvSpPr>
                <p:cNvPr id="32" name="MH_Other_3"/>
                <p:cNvSpPr/>
                <p:nvPr>
                  <p:custDataLst>
                    <p:tags r:id="rId13"/>
                  </p:custDataLst>
                </p:nvPr>
              </p:nvSpPr>
              <p:spPr>
                <a:xfrm rot="18073167">
                  <a:off x="4272288" y="1979262"/>
                  <a:ext cx="3528582" cy="418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83097"/>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概念层类图</a:t>
                  </a:r>
                </a:p>
              </p:txBody>
            </p:sp>
          </p:grpSp>
          <p:sp>
            <p:nvSpPr>
              <p:cNvPr id="33" name="MH_Title_1"/>
              <p:cNvSpPr/>
              <p:nvPr>
                <p:custDataLst>
                  <p:tags r:id="rId10"/>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类的细化关系</a:t>
                </a:r>
              </a:p>
            </p:txBody>
          </p:sp>
        </p:grpSp>
        <p:sp>
          <p:nvSpPr>
            <p:cNvPr id="34" name="MH_Other_2"/>
            <p:cNvSpPr/>
            <p:nvPr>
              <p:custDataLst>
                <p:tags r:id="rId1"/>
              </p:custDataLst>
            </p:nvPr>
          </p:nvSpPr>
          <p:spPr>
            <a:xfrm rot="16200000" flipH="1" flipV="1">
              <a:off x="10843" y="2941"/>
              <a:ext cx="494" cy="1067"/>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5" name="MH_SubTitle_4"/>
            <p:cNvSpPr txBox="1"/>
            <p:nvPr>
              <p:custDataLst>
                <p:tags r:id="rId2"/>
              </p:custDataLst>
            </p:nvPr>
          </p:nvSpPr>
          <p:spPr bwMode="auto">
            <a:xfrm>
              <a:off x="11794" y="3051"/>
              <a:ext cx="5984" cy="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a:solidFill>
                    <a:srgbClr val="00B0F0"/>
                  </a:solidFill>
                  <a:latin typeface="微软雅黑" panose="020B0503020204020204" charset="-122"/>
                  <a:ea typeface="微软雅黑" panose="020B0503020204020204" charset="-122"/>
                </a:rPr>
                <a:t>说明层类图</a:t>
              </a:r>
              <a:endParaRPr lang="en-US" altLang="zh-CN" sz="2000" dirty="0">
                <a:ea typeface="微软雅黑" panose="020B0503020204020204" pitchFamily="34" charset="-122"/>
              </a:endParaRPr>
            </a:p>
            <a:p>
              <a:pPr fontAlgn="auto">
                <a:lnSpc>
                  <a:spcPct val="130000"/>
                </a:lnSpc>
                <a:defRPr/>
              </a:pPr>
              <a:r>
                <a:rPr lang="zh-CN" altLang="en-US" sz="2000" dirty="0">
                  <a:ea typeface="微软雅黑" panose="020B0503020204020204" pitchFamily="34" charset="-122"/>
                </a:rPr>
                <a:t>         </a:t>
              </a:r>
              <a:r>
                <a:rPr lang="zh-CN" altLang="en-US" sz="2000" dirty="0">
                  <a:ea typeface="微软雅黑" panose="020B0503020204020204" pitchFamily="34" charset="-122"/>
                  <a:sym typeface="+mn-ea"/>
                </a:rPr>
                <a:t>在设计阶段用说明层类图描述软件的接口部分。</a:t>
              </a:r>
            </a:p>
          </p:txBody>
        </p:sp>
        <p:sp>
          <p:nvSpPr>
            <p:cNvPr id="36" name="MH_Other_2"/>
            <p:cNvSpPr/>
            <p:nvPr>
              <p:custDataLst>
                <p:tags r:id="rId3"/>
              </p:custDataLst>
            </p:nvPr>
          </p:nvSpPr>
          <p:spPr>
            <a:xfrm rot="5400000" flipV="1">
              <a:off x="6718" y="3182"/>
              <a:ext cx="620" cy="1094"/>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7" name="MH_SubTitle_4"/>
            <p:cNvSpPr txBox="1"/>
            <p:nvPr>
              <p:custDataLst>
                <p:tags r:id="rId4"/>
              </p:custDataLst>
            </p:nvPr>
          </p:nvSpPr>
          <p:spPr bwMode="auto">
            <a:xfrm>
              <a:off x="1218" y="3111"/>
              <a:ext cx="5282" cy="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a:solidFill>
                    <a:srgbClr val="00B0F0"/>
                  </a:solidFill>
                  <a:latin typeface="微软雅黑" panose="020B0503020204020204" charset="-122"/>
                  <a:ea typeface="微软雅黑" panose="020B0503020204020204" charset="-122"/>
                </a:rPr>
                <a:t>概念层类图</a:t>
              </a:r>
            </a:p>
            <a:p>
              <a:pPr algn="l">
                <a:lnSpc>
                  <a:spcPct val="130000"/>
                </a:lnSpc>
                <a:defRPr/>
              </a:pPr>
              <a:r>
                <a:rPr lang="zh-CN" altLang="en-US" sz="2000" dirty="0">
                  <a:ea typeface="微软雅黑" panose="020B0503020204020204" pitchFamily="34" charset="-122"/>
                </a:rPr>
                <a:t>         在需求分析阶段用概念层类图描述应用领域中的概念。</a:t>
              </a:r>
            </a:p>
          </p:txBody>
        </p:sp>
        <p:sp>
          <p:nvSpPr>
            <p:cNvPr id="38" name="MH_Other_2"/>
            <p:cNvSpPr/>
            <p:nvPr>
              <p:custDataLst>
                <p:tags r:id="rId5"/>
              </p:custDataLst>
            </p:nvPr>
          </p:nvSpPr>
          <p:spPr>
            <a:xfrm rot="16200000">
              <a:off x="6958" y="6393"/>
              <a:ext cx="338" cy="21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9" name="MH_SubTitle_4"/>
            <p:cNvSpPr txBox="1"/>
            <p:nvPr>
              <p:custDataLst>
                <p:tags r:id="rId6"/>
              </p:custDataLst>
            </p:nvPr>
          </p:nvSpPr>
          <p:spPr bwMode="auto">
            <a:xfrm>
              <a:off x="3581" y="7293"/>
              <a:ext cx="8090" cy="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l">
                <a:lnSpc>
                  <a:spcPct val="130000"/>
                </a:lnSpc>
                <a:defRPr/>
              </a:pPr>
              <a:r>
                <a:rPr lang="en-US" altLang="zh-CN" sz="2000" b="1" dirty="0">
                  <a:solidFill>
                    <a:srgbClr val="00B0F0"/>
                  </a:solidFill>
                  <a:latin typeface="微软雅黑" panose="020B0503020204020204" charset="-122"/>
                  <a:ea typeface="微软雅黑" panose="020B0503020204020204" charset="-122"/>
                </a:rPr>
                <a:t>                       </a:t>
              </a:r>
              <a:r>
                <a:rPr lang="zh-CN" altLang="en-US" sz="2000" b="1" dirty="0">
                  <a:solidFill>
                    <a:srgbClr val="00B0F0"/>
                  </a:solidFill>
                  <a:latin typeface="微软雅黑" panose="020B0503020204020204" charset="-122"/>
                  <a:ea typeface="微软雅黑" panose="020B0503020204020204" charset="-122"/>
                </a:rPr>
                <a:t>实现层类图</a:t>
              </a:r>
            </a:p>
            <a:p>
              <a:pPr algn="l">
                <a:lnSpc>
                  <a:spcPct val="130000"/>
                </a:lnSpc>
                <a:defRPr/>
              </a:pPr>
              <a:r>
                <a:rPr lang="zh-CN" altLang="en-US" sz="2000" dirty="0">
                  <a:ea typeface="微软雅黑" panose="020B0503020204020204" pitchFamily="34" charset="-122"/>
                </a:rPr>
                <a:t>         在实现阶段用实现层类图描述软件系统中类的实现。</a:t>
              </a:r>
            </a:p>
          </p:txBody>
        </p:sp>
      </p:grpSp>
    </p:spTree>
  </p:cSld>
  <p:clrMapOvr>
    <a:masterClrMapping/>
  </p:clrMapOvr>
  <p:transition>
    <p:diamon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321B9AEF-2CC2-CD08-FA62-2992E1A83E10}"/>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6" name="组合 5"/>
          <p:cNvGrpSpPr/>
          <p:nvPr/>
        </p:nvGrpSpPr>
        <p:grpSpPr>
          <a:xfrm>
            <a:off x="0" y="2029460"/>
            <a:ext cx="11191240" cy="3893820"/>
            <a:chOff x="0" y="3196"/>
            <a:chExt cx="17624" cy="6132"/>
          </a:xfrm>
        </p:grpSpPr>
        <p:grpSp>
          <p:nvGrpSpPr>
            <p:cNvPr id="7" name="组合 6"/>
            <p:cNvGrpSpPr/>
            <p:nvPr/>
          </p:nvGrpSpPr>
          <p:grpSpPr>
            <a:xfrm>
              <a:off x="0" y="3196"/>
              <a:ext cx="7895" cy="1530"/>
              <a:chOff x="1" y="2565401"/>
              <a:chExt cx="5013433" cy="971723"/>
            </a:xfrm>
          </p:grpSpPr>
          <p:sp>
            <p:nvSpPr>
              <p:cNvPr id="8" name="MH_SubTitle_1"/>
              <p:cNvSpPr/>
              <p:nvPr>
                <p:custDataLst>
                  <p:tags r:id="rId2"/>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包</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6</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7894" y="3389"/>
              <a:ext cx="9730" cy="5939"/>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包（Package）是一种组合机制。包由类图或另一个包构成，表示包与包之间的依赖、细化和泛化等关系。包像一个“容器”，可以组织模型中的相关元素。包是把各种各样的模型元素通过内在的语义关系连接在一起而形成的一个高内聚、低耦合的整体。包通常用于对模型的管理，有时可把包称为子系统。</a:t>
              </a:r>
            </a:p>
            <a:p>
              <a:pPr indent="457200">
                <a:lnSpc>
                  <a:spcPct val="120000"/>
                </a:lnSpc>
              </a:pPr>
              <a:r>
                <a:rPr dirty="0">
                  <a:solidFill>
                    <a:schemeClr val="tx1"/>
                  </a:solidFill>
                </a:rPr>
                <a:t>包的图示符号如图6-13所示。包的名称可以写在小矩形内，也可写在大矩形内。当不需要关心包的内容和细节时，把包的名称标注在大矩形内；当需要显示包的内容时，把包的名称写在小矩形内，包的内容放在大矩形内。包的内容可以是类的列表、类图或是另一个包。</a:t>
              </a:r>
            </a:p>
          </p:txBody>
        </p:sp>
      </p:grpSp>
      <p:sp>
        <p:nvSpPr>
          <p:cNvPr id="14" name="文本框 13"/>
          <p:cNvSpPr txBox="1"/>
          <p:nvPr/>
        </p:nvSpPr>
        <p:spPr>
          <a:xfrm>
            <a:off x="1503680" y="4953000"/>
            <a:ext cx="2484120" cy="365760"/>
          </a:xfrm>
          <a:prstGeom prst="rect">
            <a:avLst/>
          </a:prstGeom>
          <a:noFill/>
        </p:spPr>
        <p:txBody>
          <a:bodyPr wrap="square" rtlCol="0" anchor="t">
            <a:spAutoFit/>
          </a:bodyPr>
          <a:lstStyle/>
          <a:p>
            <a:r>
              <a:rPr lang="zh-CN" altLang="en-US"/>
              <a:t>图6-13  包的图示符号</a:t>
            </a:r>
          </a:p>
        </p:txBody>
      </p:sp>
      <p:pic>
        <p:nvPicPr>
          <p:cNvPr id="2" name="图片 354"/>
          <p:cNvPicPr>
            <a:picLocks noChangeAspect="1"/>
          </p:cNvPicPr>
          <p:nvPr/>
        </p:nvPicPr>
        <p:blipFill>
          <a:blip r:embed="rId6" cstate="print"/>
          <a:stretch>
            <a:fillRect/>
          </a:stretch>
        </p:blipFill>
        <p:spPr>
          <a:xfrm>
            <a:off x="1870075" y="3371850"/>
            <a:ext cx="1517650" cy="1318260"/>
          </a:xfrm>
          <a:prstGeom prst="rect">
            <a:avLst/>
          </a:prstGeom>
          <a:noFill/>
          <a:ln w="9525">
            <a:noFill/>
          </a:ln>
        </p:spPr>
      </p:pic>
    </p:spTree>
  </p:cSld>
  <p:clrMapOvr>
    <a:masterClrMapping/>
  </p:clrMapOvr>
  <p:transition>
    <p:diamon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3D5DA48E-CCEC-40D7-438D-439A3C7B7A0A}"/>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6" name="组合 5"/>
          <p:cNvGrpSpPr/>
          <p:nvPr/>
        </p:nvGrpSpPr>
        <p:grpSpPr>
          <a:xfrm>
            <a:off x="0" y="2029460"/>
            <a:ext cx="11177270" cy="3792220"/>
            <a:chOff x="0" y="3196"/>
            <a:chExt cx="17602" cy="5972"/>
          </a:xfrm>
        </p:grpSpPr>
        <p:grpSp>
          <p:nvGrpSpPr>
            <p:cNvPr id="7" name="组合 6"/>
            <p:cNvGrpSpPr/>
            <p:nvPr/>
          </p:nvGrpSpPr>
          <p:grpSpPr>
            <a:xfrm>
              <a:off x="0" y="3196"/>
              <a:ext cx="7895" cy="1530"/>
              <a:chOff x="1" y="2565401"/>
              <a:chExt cx="5013433" cy="971723"/>
            </a:xfrm>
          </p:grpSpPr>
          <p:sp>
            <p:nvSpPr>
              <p:cNvPr id="8" name="MH_SubTitle_1"/>
              <p:cNvSpPr/>
              <p:nvPr>
                <p:custDataLst>
                  <p:tags r:id="rId2"/>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包</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6</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7894" y="3389"/>
              <a:ext cx="9708" cy="5779"/>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rPr>
                <a:t>包与包之间可以建立依赖、泛化和细化关系，其图形符号与类图中相同。</a:t>
              </a:r>
            </a:p>
            <a:p>
              <a:pPr indent="457200">
                <a:lnSpc>
                  <a:spcPct val="120000"/>
                </a:lnSpc>
              </a:pPr>
              <a:r>
                <a:rPr dirty="0">
                  <a:solidFill>
                    <a:schemeClr val="tx1"/>
                  </a:solidFill>
                </a:rPr>
                <a:t>包是模型的一部分，实际上是整个系统的子系统。建模人员可将模型按内容分配到一系列的包中。</a:t>
              </a:r>
            </a:p>
            <a:p>
              <a:pPr indent="457200">
                <a:lnSpc>
                  <a:spcPct val="120000"/>
                </a:lnSpc>
              </a:pPr>
              <a:r>
                <a:rPr dirty="0">
                  <a:solidFill>
                    <a:schemeClr val="tx1"/>
                  </a:solidFill>
                </a:rPr>
                <a:t>设计包时必须遵守的原则有：重用等价原则、共同闭包原则、共同重用原则和非循环依赖原则。</a:t>
              </a:r>
            </a:p>
            <a:p>
              <a:pPr indent="457200">
                <a:lnSpc>
                  <a:spcPct val="120000"/>
                </a:lnSpc>
              </a:pPr>
              <a:r>
                <a:rPr dirty="0">
                  <a:solidFill>
                    <a:schemeClr val="tx1"/>
                  </a:solidFill>
                </a:rPr>
                <a:t>在UML中，包是一种建模元素，在建模时用来组织模型中的各种元素，是分组事物（Grouping Thing）的一种。UML中并没有包图，通常所说的包图是指类图、用例图等。在系统运行时，并不存在包的实例。而类在运行时会有实例存在，即某个具体的对象。</a:t>
              </a:r>
            </a:p>
          </p:txBody>
        </p:sp>
      </p:grpSp>
      <p:sp>
        <p:nvSpPr>
          <p:cNvPr id="14" name="文本框 13"/>
          <p:cNvSpPr txBox="1"/>
          <p:nvPr/>
        </p:nvSpPr>
        <p:spPr>
          <a:xfrm>
            <a:off x="1503680" y="4953000"/>
            <a:ext cx="2484120" cy="365760"/>
          </a:xfrm>
          <a:prstGeom prst="rect">
            <a:avLst/>
          </a:prstGeom>
          <a:noFill/>
        </p:spPr>
        <p:txBody>
          <a:bodyPr wrap="square" rtlCol="0" anchor="t">
            <a:spAutoFit/>
          </a:bodyPr>
          <a:lstStyle/>
          <a:p>
            <a:r>
              <a:rPr lang="zh-CN" altLang="en-US"/>
              <a:t>图6-13  包的图示符号</a:t>
            </a:r>
          </a:p>
        </p:txBody>
      </p:sp>
      <p:pic>
        <p:nvPicPr>
          <p:cNvPr id="2" name="图片 354"/>
          <p:cNvPicPr>
            <a:picLocks noChangeAspect="1"/>
          </p:cNvPicPr>
          <p:nvPr/>
        </p:nvPicPr>
        <p:blipFill>
          <a:blip r:embed="rId6" cstate="print"/>
          <a:stretch>
            <a:fillRect/>
          </a:stretch>
        </p:blipFill>
        <p:spPr>
          <a:xfrm>
            <a:off x="1870075" y="3371850"/>
            <a:ext cx="1517650" cy="1318260"/>
          </a:xfrm>
          <a:prstGeom prst="rect">
            <a:avLst/>
          </a:prstGeom>
          <a:noFill/>
          <a:ln w="9525">
            <a:noFill/>
          </a:ln>
        </p:spPr>
      </p:pic>
    </p:spTree>
  </p:cSld>
  <p:clrMapOvr>
    <a:masterClrMapping/>
  </p:clrMapOvr>
  <p:transition>
    <p:diamon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28" name="文本占位符 27">
            <a:extLst>
              <a:ext uri="{FF2B5EF4-FFF2-40B4-BE49-F238E27FC236}">
                <a16:creationId xmlns:a16="http://schemas.microsoft.com/office/drawing/2014/main" id="{236B89C1-DED4-49AD-CCAB-7F05050115EA}"/>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22" name="组合 21"/>
          <p:cNvGrpSpPr/>
          <p:nvPr/>
        </p:nvGrpSpPr>
        <p:grpSpPr>
          <a:xfrm>
            <a:off x="645160" y="3030684"/>
            <a:ext cx="11193780" cy="3396615"/>
            <a:chOff x="1016" y="3956"/>
            <a:chExt cx="17628" cy="5349"/>
          </a:xfrm>
        </p:grpSpPr>
        <p:grpSp>
          <p:nvGrpSpPr>
            <p:cNvPr id="26" name="组合 25"/>
            <p:cNvGrpSpPr/>
            <p:nvPr/>
          </p:nvGrpSpPr>
          <p:grpSpPr>
            <a:xfrm>
              <a:off x="1016" y="3956"/>
              <a:ext cx="8019" cy="2112"/>
              <a:chOff x="1302" y="3610"/>
              <a:chExt cx="8019" cy="2112"/>
            </a:xfrm>
          </p:grpSpPr>
          <p:sp>
            <p:nvSpPr>
              <p:cNvPr id="14" name="Oval 5"/>
              <p:cNvSpPr/>
              <p:nvPr>
                <p:custDataLst>
                  <p:tags r:id="rId13"/>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Freeform 7"/>
              <p:cNvSpPr>
                <a:spLocks noEditPoints="1"/>
              </p:cNvSpPr>
              <p:nvPr>
                <p:custDataLst>
                  <p:tags r:id="rId14"/>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p:cNvSpPr txBox="1">
                <a:spLocks noChangeArrowheads="1"/>
              </p:cNvSpPr>
              <p:nvPr>
                <p:custDataLst>
                  <p:tags r:id="rId15"/>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重用等价原则</a:t>
                </a:r>
              </a:p>
            </p:txBody>
          </p:sp>
          <p:sp>
            <p:nvSpPr>
              <p:cNvPr id="21" name="文本框 20"/>
              <p:cNvSpPr txBox="1"/>
              <p:nvPr>
                <p:custDataLst>
                  <p:tags r:id="rId16"/>
                </p:custDataLst>
              </p:nvPr>
            </p:nvSpPr>
            <p:spPr>
              <a:xfrm>
                <a:off x="2735" y="4236"/>
                <a:ext cx="6586" cy="1486"/>
              </a:xfrm>
              <a:prstGeom prst="rect">
                <a:avLst/>
              </a:prstGeom>
            </p:spPr>
            <p:txBody>
              <a:bodyPr lIns="90000" tIns="46800" rIns="90000" bIns="46800">
                <a:normAutofit fontScale="92500" lnSpcReduction="20000"/>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把包作为可重用的单元。把类放在包中时，要方便重用，方便对该包的各个版本进行管理。</a:t>
                </a:r>
              </a:p>
            </p:txBody>
          </p:sp>
        </p:grpSp>
        <p:grpSp>
          <p:nvGrpSpPr>
            <p:cNvPr id="4" name="组合 3"/>
            <p:cNvGrpSpPr/>
            <p:nvPr/>
          </p:nvGrpSpPr>
          <p:grpSpPr>
            <a:xfrm>
              <a:off x="10211" y="3956"/>
              <a:ext cx="8433" cy="2577"/>
              <a:chOff x="1302" y="3610"/>
              <a:chExt cx="8433" cy="2577"/>
            </a:xfrm>
          </p:grpSpPr>
          <p:sp>
            <p:nvSpPr>
              <p:cNvPr id="5" name="Oval 5"/>
              <p:cNvSpPr/>
              <p:nvPr>
                <p:custDataLst>
                  <p:tags r:id="rId9"/>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6" name="Freeform 7"/>
              <p:cNvSpPr>
                <a:spLocks noEditPoints="1"/>
              </p:cNvSpPr>
              <p:nvPr>
                <p:custDataLst>
                  <p:tags r:id="rId10"/>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7" name="文本框 18"/>
              <p:cNvSpPr txBox="1">
                <a:spLocks noChangeArrowheads="1"/>
              </p:cNvSpPr>
              <p:nvPr>
                <p:custDataLst>
                  <p:tags r:id="rId11"/>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共同闭包原则</a:t>
                </a:r>
              </a:p>
            </p:txBody>
          </p:sp>
          <p:sp>
            <p:nvSpPr>
              <p:cNvPr id="8" name="文本框 7"/>
              <p:cNvSpPr txBox="1"/>
              <p:nvPr>
                <p:custDataLst>
                  <p:tags r:id="rId12"/>
                </p:custDataLst>
              </p:nvPr>
            </p:nvSpPr>
            <p:spPr>
              <a:xfrm>
                <a:off x="2735" y="4236"/>
                <a:ext cx="7000" cy="1951"/>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把需要同时改变的类放在一个包中。共同闭包原则旨在提高包的内聚，降低包的耦合。</a:t>
                </a:r>
              </a:p>
            </p:txBody>
          </p:sp>
        </p:grpSp>
        <p:grpSp>
          <p:nvGrpSpPr>
            <p:cNvPr id="9" name="组合 8"/>
            <p:cNvGrpSpPr/>
            <p:nvPr/>
          </p:nvGrpSpPr>
          <p:grpSpPr>
            <a:xfrm>
              <a:off x="1016" y="6547"/>
              <a:ext cx="8019" cy="2577"/>
              <a:chOff x="1302" y="3610"/>
              <a:chExt cx="8019" cy="2577"/>
            </a:xfrm>
          </p:grpSpPr>
          <p:sp>
            <p:nvSpPr>
              <p:cNvPr id="10" name="Oval 5"/>
              <p:cNvSpPr/>
              <p:nvPr>
                <p:custDataLst>
                  <p:tags r:id="rId5"/>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1" name="Freeform 7"/>
              <p:cNvSpPr>
                <a:spLocks noEditPoints="1"/>
              </p:cNvSpPr>
              <p:nvPr>
                <p:custDataLst>
                  <p:tags r:id="rId6"/>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2" name="文本框 18"/>
              <p:cNvSpPr txBox="1">
                <a:spLocks noChangeArrowheads="1"/>
              </p:cNvSpPr>
              <p:nvPr>
                <p:custDataLst>
                  <p:tags r:id="rId7"/>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共同重用原则</a:t>
                </a:r>
              </a:p>
            </p:txBody>
          </p:sp>
          <p:sp>
            <p:nvSpPr>
              <p:cNvPr id="13" name="文本框 12"/>
              <p:cNvSpPr txBox="1"/>
              <p:nvPr>
                <p:custDataLst>
                  <p:tags r:id="rId8"/>
                </p:custDataLst>
              </p:nvPr>
            </p:nvSpPr>
            <p:spPr>
              <a:xfrm>
                <a:off x="2735" y="4236"/>
                <a:ext cx="6586" cy="1951"/>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不会一起使用的包不要放在同一个包中。</a:t>
                </a:r>
              </a:p>
            </p:txBody>
          </p:sp>
        </p:grpSp>
        <p:grpSp>
          <p:nvGrpSpPr>
            <p:cNvPr id="2" name="组合 1"/>
            <p:cNvGrpSpPr/>
            <p:nvPr/>
          </p:nvGrpSpPr>
          <p:grpSpPr>
            <a:xfrm>
              <a:off x="10211" y="6728"/>
              <a:ext cx="8336" cy="2577"/>
              <a:chOff x="1302" y="3610"/>
              <a:chExt cx="8336" cy="2577"/>
            </a:xfrm>
          </p:grpSpPr>
          <p:sp>
            <p:nvSpPr>
              <p:cNvPr id="17" name="Oval 5"/>
              <p:cNvSpPr/>
              <p:nvPr>
                <p:custDataLst>
                  <p:tags r:id="rId1"/>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8" name="Freeform 7"/>
              <p:cNvSpPr>
                <a:spLocks noEditPoints="1"/>
              </p:cNvSpPr>
              <p:nvPr>
                <p:custDataLst>
                  <p:tags r:id="rId2"/>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9" name="文本框 18"/>
              <p:cNvSpPr txBox="1">
                <a:spLocks noChangeArrowheads="1"/>
              </p:cNvSpPr>
              <p:nvPr>
                <p:custDataLst>
                  <p:tags r:id="rId3"/>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非循环依赖原则</a:t>
                </a:r>
              </a:p>
            </p:txBody>
          </p:sp>
          <p:sp>
            <p:nvSpPr>
              <p:cNvPr id="20" name="文本框 19"/>
              <p:cNvSpPr txBox="1"/>
              <p:nvPr>
                <p:custDataLst>
                  <p:tags r:id="rId4"/>
                </p:custDataLst>
              </p:nvPr>
            </p:nvSpPr>
            <p:spPr>
              <a:xfrm>
                <a:off x="2735" y="4236"/>
                <a:ext cx="6903" cy="1951"/>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包和包之间的依赖关系不要形成循环。</a:t>
                </a:r>
              </a:p>
            </p:txBody>
          </p:sp>
        </p:grpSp>
      </p:grpSp>
      <p:grpSp>
        <p:nvGrpSpPr>
          <p:cNvPr id="23" name="组合 22"/>
          <p:cNvGrpSpPr/>
          <p:nvPr/>
        </p:nvGrpSpPr>
        <p:grpSpPr>
          <a:xfrm>
            <a:off x="552839" y="2036930"/>
            <a:ext cx="10965815" cy="774700"/>
            <a:chOff x="881" y="2735"/>
            <a:chExt cx="17269" cy="1220"/>
          </a:xfrm>
        </p:grpSpPr>
        <p:sp>
          <p:nvSpPr>
            <p:cNvPr id="167" name="圆角矩形"/>
            <p:cNvSpPr/>
            <p:nvPr/>
          </p:nvSpPr>
          <p:spPr>
            <a:xfrm>
              <a:off x="1188" y="3071"/>
              <a:ext cx="16640" cy="88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25" name="文本框 24"/>
            <p:cNvSpPr txBox="1"/>
            <p:nvPr/>
          </p:nvSpPr>
          <p:spPr>
            <a:xfrm>
              <a:off x="1252" y="3200"/>
              <a:ext cx="16898" cy="62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设计包时必须遵守的原则有：重用等价原则、共同闭包原则、共同重用原则和非循环依赖原则。</a:t>
              </a:r>
              <a:endParaRPr dirty="0">
                <a:solidFill>
                  <a:schemeClr val="tx1"/>
                </a:solidFill>
                <a:latin typeface="微软雅黑" panose="020B0503020204020204" charset="-122"/>
                <a:ea typeface="微软雅黑" panose="020B0503020204020204" charset="-122"/>
                <a:sym typeface="+mn-ea"/>
              </a:endParaRPr>
            </a:p>
          </p:txBody>
        </p:sp>
      </p:grpSp>
    </p:spTree>
  </p:cSld>
  <p:clrMapOvr>
    <a:masterClrMapping/>
  </p:clrMapOvr>
  <p:transition>
    <p:diamon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6D219FB7-307C-A223-3C1C-3FAFC303310D}"/>
              </a:ext>
            </a:extLst>
          </p:cNvPr>
          <p:cNvSpPr>
            <a:spLocks noGrp="1"/>
          </p:cNvSpPr>
          <p:nvPr>
            <p:ph type="body" sz="quarter" idx="10"/>
          </p:nvPr>
        </p:nvSpPr>
        <p:spPr>
          <a:xfrm>
            <a:off x="900001" y="1322832"/>
            <a:ext cx="5196000" cy="400110"/>
          </a:xfrm>
        </p:spPr>
        <p:txBody>
          <a:bodyPr/>
          <a:lstStyle/>
          <a:p>
            <a:r>
              <a:rPr lang="en-US" altLang="zh-CN" dirty="0"/>
              <a:t>6.3.2 </a:t>
            </a:r>
            <a:r>
              <a:rPr lang="zh-CN" altLang="en-US" dirty="0"/>
              <a:t>类图和包</a:t>
            </a:r>
          </a:p>
        </p:txBody>
      </p:sp>
      <p:grpSp>
        <p:nvGrpSpPr>
          <p:cNvPr id="17" name="组合 16"/>
          <p:cNvGrpSpPr/>
          <p:nvPr/>
        </p:nvGrpSpPr>
        <p:grpSpPr>
          <a:xfrm>
            <a:off x="7654527" y="1350113"/>
            <a:ext cx="3933111" cy="4579596"/>
            <a:chOff x="831427" y="1759311"/>
            <a:chExt cx="4359224" cy="4991853"/>
          </a:xfrm>
        </p:grpSpPr>
        <p:sp>
          <p:nvSpPr>
            <p:cNvPr id="13" name="MH_Picture_1"/>
            <p:cNvSpPr/>
            <p:nvPr>
              <p:custDataLst>
                <p:tags r:id="rId2"/>
              </p:custDataLst>
            </p:nvPr>
          </p:nvSpPr>
          <p:spPr>
            <a:xfrm rot="21434054">
              <a:off x="831427" y="1759311"/>
              <a:ext cx="4359224" cy="3102147"/>
            </a:xfrm>
            <a:prstGeom prst="rect">
              <a:avLst/>
            </a:prstGeom>
            <a:blipFill dpi="0" rotWithShape="1">
              <a:blip r:embed="rId5" cstate="print"/>
              <a:srcRect/>
              <a:stretch>
                <a:fillRect t="-364" b="-364"/>
              </a:stretch>
            </a:blip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MH_Picture_2"/>
            <p:cNvSpPr/>
            <p:nvPr>
              <p:custDataLst>
                <p:tags r:id="rId3"/>
              </p:custDataLst>
            </p:nvPr>
          </p:nvSpPr>
          <p:spPr>
            <a:xfrm rot="277167">
              <a:off x="1619942" y="4585476"/>
              <a:ext cx="2740427" cy="2165688"/>
            </a:xfrm>
            <a:prstGeom prst="rect">
              <a:avLst/>
            </a:prstGeom>
            <a:blipFill dpi="0" rotWithShape="1">
              <a:blip r:embed="rId6" cstate="print"/>
              <a:srcRect/>
              <a:stretch>
                <a:fillRect l="-2685" r="-2685"/>
              </a:stretch>
            </a:blip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2" name="文本框 1"/>
          <p:cNvSpPr txBox="1"/>
          <p:nvPr/>
        </p:nvSpPr>
        <p:spPr>
          <a:xfrm>
            <a:off x="967105" y="2172335"/>
            <a:ext cx="6210935" cy="4010025"/>
          </a:xfrm>
          <a:prstGeom prst="rect">
            <a:avLst/>
          </a:prstGeom>
          <a:noFill/>
        </p:spPr>
        <p:txBody>
          <a:bodyPr wrap="square" rtlCol="0" anchor="t">
            <a:spAutoFit/>
          </a:bodyPr>
          <a:lstStyle/>
          <a:p>
            <a:pPr fontAlgn="auto">
              <a:lnSpc>
                <a:spcPct val="130000"/>
              </a:lnSpc>
            </a:pPr>
            <a:r>
              <a:rPr lang="en-US" altLang="zh-CN"/>
              <a:t>        </a:t>
            </a:r>
            <a:r>
              <a:rPr lang="zh-CN" altLang="en-US"/>
              <a:t>对象是类的实例。因此，对象图（Object Diagram）可以看做是类图的实例，能帮助人们理解比较复杂的类图。类图与对象图之间的区别是，对象图中对象的名称下面要加下划线。对象有以下3种表示方式：</a:t>
            </a:r>
          </a:p>
          <a:p>
            <a:pPr marL="285750" indent="-285750" fontAlgn="auto">
              <a:lnSpc>
                <a:spcPct val="130000"/>
              </a:lnSpc>
              <a:buFont typeface="Wingdings" panose="05000000000000000000" charset="0"/>
              <a:buChar char="Ø"/>
            </a:pPr>
            <a:r>
              <a:rPr lang="zh-CN" altLang="en-US">
                <a:solidFill>
                  <a:srgbClr val="00B050"/>
                </a:solidFill>
              </a:rPr>
              <a:t>对象名：类名</a:t>
            </a:r>
          </a:p>
          <a:p>
            <a:pPr marL="285750" indent="-285750" fontAlgn="auto">
              <a:lnSpc>
                <a:spcPct val="130000"/>
              </a:lnSpc>
              <a:buFont typeface="Wingdings" panose="05000000000000000000" charset="0"/>
              <a:buChar char="Ø"/>
            </a:pPr>
            <a:r>
              <a:rPr lang="zh-CN" altLang="en-US">
                <a:solidFill>
                  <a:srgbClr val="00B050"/>
                </a:solidFill>
              </a:rPr>
              <a:t>对象名</a:t>
            </a:r>
          </a:p>
          <a:p>
            <a:pPr marL="285750" indent="-285750" fontAlgn="auto">
              <a:lnSpc>
                <a:spcPct val="130000"/>
              </a:lnSpc>
              <a:buFont typeface="Wingdings" panose="05000000000000000000" charset="0"/>
              <a:buChar char="Ø"/>
            </a:pPr>
            <a:r>
              <a:rPr lang="zh-CN" altLang="en-US">
                <a:solidFill>
                  <a:srgbClr val="00B050"/>
                </a:solidFill>
              </a:rPr>
              <a:t>：类名</a:t>
            </a:r>
          </a:p>
          <a:p>
            <a:pPr marL="285750" indent="-285750" fontAlgn="auto">
              <a:lnSpc>
                <a:spcPct val="130000"/>
              </a:lnSpc>
            </a:pPr>
            <a:r>
              <a:rPr lang="zh-CN" altLang="en-US">
                <a:solidFill>
                  <a:schemeClr val="accent2">
                    <a:lumMod val="50000"/>
                  </a:schemeClr>
                </a:solidFill>
              </a:rPr>
              <a:t>（1）对象名与类名之间用冒号（：）连接，一起加下划线。</a:t>
            </a:r>
          </a:p>
          <a:p>
            <a:pPr fontAlgn="auto">
              <a:lnSpc>
                <a:spcPct val="130000"/>
              </a:lnSpc>
            </a:pPr>
            <a:r>
              <a:rPr lang="zh-CN" altLang="en-US">
                <a:solidFill>
                  <a:schemeClr val="accent2">
                    <a:lumMod val="50000"/>
                  </a:schemeClr>
                </a:solidFill>
              </a:rPr>
              <a:t>（2）可以只写对象名并加下划线，将冒号及类名省略。</a:t>
            </a:r>
          </a:p>
          <a:p>
            <a:pPr fontAlgn="auto">
              <a:lnSpc>
                <a:spcPct val="130000"/>
              </a:lnSpc>
            </a:pPr>
            <a:r>
              <a:rPr lang="zh-CN" altLang="en-US">
                <a:solidFill>
                  <a:schemeClr val="accent2">
                    <a:lumMod val="50000"/>
                  </a:schemeClr>
                </a:solidFill>
              </a:rPr>
              <a:t>（3）如果只有类名没有对象名，在表示对象时，类名前一定要加冒号，冒号和类名要同时加下划线。</a:t>
            </a:r>
          </a:p>
        </p:txBody>
      </p:sp>
      <p:sp>
        <p:nvSpPr>
          <p:cNvPr id="8" name="MH_Other_1"/>
          <p:cNvSpPr/>
          <p:nvPr>
            <p:custDataLst>
              <p:tags r:id="rId1"/>
            </p:custDataLst>
          </p:nvPr>
        </p:nvSpPr>
        <p:spPr bwMode="auto">
          <a:xfrm>
            <a:off x="802640" y="1969135"/>
            <a:ext cx="10852548" cy="4322483"/>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Tree>
  </p:cSld>
  <p:clrMapOvr>
    <a:masterClrMapping/>
  </p:clrMapOvr>
  <p:transition>
    <p:diamon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39B0530A-2B51-0983-FFBA-DDE893A6DFEF}"/>
              </a:ext>
            </a:extLst>
          </p:cNvPr>
          <p:cNvSpPr>
            <a:spLocks noGrp="1"/>
          </p:cNvSpPr>
          <p:nvPr>
            <p:ph type="body" sz="quarter" idx="10"/>
          </p:nvPr>
        </p:nvSpPr>
        <p:spPr>
          <a:xfrm>
            <a:off x="900001" y="1322832"/>
            <a:ext cx="5196000" cy="400110"/>
          </a:xfrm>
        </p:spPr>
        <p:txBody>
          <a:bodyPr/>
          <a:lstStyle/>
          <a:p>
            <a:r>
              <a:rPr lang="zh-CN" altLang="en-US"/>
              <a:t>案例 </a:t>
            </a:r>
            <a:r>
              <a:rPr lang="en-US" altLang="zh-CN" dirty="0"/>
              <a:t>6-14 </a:t>
            </a:r>
            <a:r>
              <a:rPr lang="zh-CN" altLang="en-US" dirty="0"/>
              <a:t>对象图</a:t>
            </a:r>
          </a:p>
        </p:txBody>
      </p:sp>
      <p:sp>
        <p:nvSpPr>
          <p:cNvPr id="24" name="矩形 23"/>
          <p:cNvSpPr>
            <a:spLocks noChangeAspect="1"/>
          </p:cNvSpPr>
          <p:nvPr/>
        </p:nvSpPr>
        <p:spPr>
          <a:xfrm>
            <a:off x="1084589" y="2702096"/>
            <a:ext cx="9968230" cy="337121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3" name="TextBox 32"/>
          <p:cNvSpPr txBox="1"/>
          <p:nvPr/>
        </p:nvSpPr>
        <p:spPr>
          <a:xfrm>
            <a:off x="1228099" y="2987846"/>
            <a:ext cx="8586470" cy="417830"/>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368434" y="2905296"/>
            <a:ext cx="9530080" cy="2937214"/>
          </a:xfrm>
          <a:prstGeom prst="rect">
            <a:avLst/>
          </a:prstGeom>
          <a:solidFill>
            <a:schemeClr val="bg1">
              <a:lumMod val="95000"/>
            </a:schemeClr>
          </a:solidFill>
        </p:spPr>
        <p:txBody>
          <a:bodyPr wrap="square">
            <a:spAutoFit/>
          </a:bodyPr>
          <a:lstStyle/>
          <a:p>
            <a:pPr indent="457200" fontAlgn="auto">
              <a:lnSpc>
                <a:spcPct val="125000"/>
              </a:lnSpc>
            </a:pPr>
            <a:r>
              <a:rPr lang="zh-CN" altLang="en-US" dirty="0"/>
              <a:t>图</a:t>
            </a:r>
            <a:r>
              <a:rPr lang="en-US" altLang="zh-CN" dirty="0"/>
              <a:t>6-5</a:t>
            </a:r>
            <a:r>
              <a:rPr lang="zh-CN" altLang="en-US" dirty="0"/>
              <a:t>表示学生类与计算机类之间的关联关系，而图</a:t>
            </a:r>
            <a:r>
              <a:rPr lang="en-US" altLang="zh-CN" dirty="0"/>
              <a:t>6-14</a:t>
            </a:r>
            <a:r>
              <a:rPr lang="zh-CN" altLang="en-US" dirty="0"/>
              <a:t>表示学生类中的对象实例“王一”与计算机类中的对象实例“</a:t>
            </a:r>
            <a:r>
              <a:rPr lang="en-US" altLang="zh-CN" dirty="0"/>
              <a:t>10</a:t>
            </a:r>
            <a:r>
              <a:rPr lang="zh-CN" altLang="en-US" dirty="0"/>
              <a:t>号机”之间的关联关系，这里对象名及类名的下面都加了下划线。这两个对象的属性和服务没有标出，强调的是两个类之间的联系：学生类对象“王一”使用了计算机类的对象“</a:t>
            </a:r>
            <a:r>
              <a:rPr lang="en-US" altLang="zh-CN" dirty="0"/>
              <a:t>10</a:t>
            </a:r>
            <a:r>
              <a:rPr lang="zh-CN" altLang="en-US" dirty="0"/>
              <a:t>号机”。</a:t>
            </a:r>
            <a:endParaRPr lang="en-US" altLang="zh-CN" dirty="0"/>
          </a:p>
          <a:p>
            <a:pPr indent="457200" fontAlgn="auto">
              <a:lnSpc>
                <a:spcPct val="125000"/>
              </a:lnSpc>
            </a:pPr>
            <a:endParaRPr lang="en-US" altLang="zh-CN" dirty="0"/>
          </a:p>
          <a:p>
            <a:pPr indent="457200" fontAlgn="auto">
              <a:lnSpc>
                <a:spcPct val="125000"/>
              </a:lnSpc>
            </a:pPr>
            <a:endParaRPr lang="en-US" altLang="zh-CN" dirty="0"/>
          </a:p>
          <a:p>
            <a:pPr indent="457200" fontAlgn="auto">
              <a:lnSpc>
                <a:spcPct val="125000"/>
              </a:lnSpc>
            </a:pPr>
            <a:endParaRPr lang="en-US" altLang="zh-CN" dirty="0"/>
          </a:p>
          <a:p>
            <a:pPr indent="457200" fontAlgn="auto">
              <a:lnSpc>
                <a:spcPct val="125000"/>
              </a:lnSpc>
            </a:pPr>
            <a:endParaRPr lang="zh-CN" altLang="en-US" dirty="0"/>
          </a:p>
        </p:txBody>
      </p:sp>
      <p:pic>
        <p:nvPicPr>
          <p:cNvPr id="154625" name="Picture 22" descr="6-14"/>
          <p:cNvPicPr>
            <a:picLocks noChangeAspect="1" noChangeArrowheads="1"/>
          </p:cNvPicPr>
          <p:nvPr/>
        </p:nvPicPr>
        <p:blipFill>
          <a:blip r:embed="rId2" cstate="print"/>
          <a:srcRect/>
          <a:stretch>
            <a:fillRect/>
          </a:stretch>
        </p:blipFill>
        <p:spPr bwMode="auto">
          <a:xfrm>
            <a:off x="3589362" y="4592472"/>
            <a:ext cx="4549538" cy="637785"/>
          </a:xfrm>
          <a:prstGeom prst="rect">
            <a:avLst/>
          </a:prstGeom>
          <a:noFill/>
        </p:spPr>
      </p:pic>
      <p:sp>
        <p:nvSpPr>
          <p:cNvPr id="154627" name="Rectangle 3"/>
          <p:cNvSpPr>
            <a:spLocks noChangeArrowheads="1"/>
          </p:cNvSpPr>
          <p:nvPr/>
        </p:nvSpPr>
        <p:spPr bwMode="auto">
          <a:xfrm>
            <a:off x="4858603" y="5287655"/>
            <a:ext cx="1646605"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effectLst/>
                <a:latin typeface="Times New Roman" pitchFamily="18" charset="0"/>
                <a:ea typeface="黑体" charset="-122"/>
                <a:cs typeface="Times New Roman" pitchFamily="18" charset="0"/>
              </a:rPr>
              <a:t>图</a:t>
            </a:r>
            <a:r>
              <a:rPr kumimoji="0" lang="en-US" altLang="zh-CN" b="0" i="0" u="none" strike="noStrike" cap="none" normalizeH="0" baseline="0" dirty="0">
                <a:ln>
                  <a:noFill/>
                </a:ln>
                <a:effectLst/>
                <a:latin typeface="Times New Roman" pitchFamily="18" charset="0"/>
                <a:ea typeface="黑体" charset="-122"/>
                <a:cs typeface="Times New Roman" pitchFamily="18" charset="0"/>
              </a:rPr>
              <a:t>6-14  </a:t>
            </a:r>
            <a:r>
              <a:rPr kumimoji="0" lang="zh-CN" altLang="en-US" b="0" i="0" u="none" strike="noStrike" cap="none" normalizeH="0" baseline="0" dirty="0">
                <a:ln>
                  <a:noFill/>
                </a:ln>
                <a:effectLst/>
                <a:latin typeface="Times New Roman" pitchFamily="18" charset="0"/>
                <a:ea typeface="黑体" charset="-122"/>
                <a:cs typeface="Times New Roman" pitchFamily="18" charset="0"/>
              </a:rPr>
              <a:t>对象图</a:t>
            </a:r>
            <a:endParaRPr kumimoji="0" lang="zh-CN" altLang="en-US" b="0" i="0" u="none" strike="noStrike" cap="none" normalizeH="0" baseline="0" dirty="0">
              <a:ln>
                <a:noFill/>
              </a:ln>
              <a:effectLst/>
              <a:latin typeface="微软雅黑 Light" panose="020B0502040204020203" pitchFamily="34" charset="-122"/>
              <a:ea typeface="微软雅黑" panose="020B0503020204020204" pitchFamily="34" charset="-122"/>
              <a:cs typeface="宋体" pitchFamily="2" charset="-122"/>
            </a:endParaRPr>
          </a:p>
        </p:txBody>
      </p:sp>
    </p:spTree>
  </p:cSld>
  <p:clrMapOvr>
    <a:masterClrMapping/>
  </p:clrMapOvr>
  <p:transition>
    <p:diamon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5" name="文本占位符 4">
            <a:extLst>
              <a:ext uri="{FF2B5EF4-FFF2-40B4-BE49-F238E27FC236}">
                <a16:creationId xmlns:a16="http://schemas.microsoft.com/office/drawing/2014/main" id="{457E8985-E65D-D808-345F-5D62CD903468}"/>
              </a:ext>
            </a:extLst>
          </p:cNvPr>
          <p:cNvSpPr>
            <a:spLocks noGrp="1"/>
          </p:cNvSpPr>
          <p:nvPr>
            <p:ph type="body" sz="quarter" idx="10"/>
          </p:nvPr>
        </p:nvSpPr>
        <p:spPr>
          <a:xfrm>
            <a:off x="900001" y="1322832"/>
            <a:ext cx="5196000" cy="400110"/>
          </a:xfrm>
        </p:spPr>
        <p:txBody>
          <a:bodyPr/>
          <a:lstStyle/>
          <a:p>
            <a:r>
              <a:rPr lang="en-US" altLang="zh-CN" dirty="0"/>
              <a:t>6.3.4 </a:t>
            </a:r>
            <a:r>
              <a:rPr lang="zh-CN" altLang="en-US" dirty="0"/>
              <a:t>状态图</a:t>
            </a:r>
          </a:p>
        </p:txBody>
      </p:sp>
      <p:sp>
        <p:nvSpPr>
          <p:cNvPr id="9" name="MH_Other_1"/>
          <p:cNvSpPr>
            <a:spLocks noChangeArrowheads="1"/>
          </p:cNvSpPr>
          <p:nvPr>
            <p:custDataLst>
              <p:tags r:id="rId1"/>
            </p:custDataLst>
          </p:nvPr>
        </p:nvSpPr>
        <p:spPr bwMode="auto">
          <a:xfrm>
            <a:off x="754380" y="2220595"/>
            <a:ext cx="710565" cy="49466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10" name="MH_Other_2"/>
          <p:cNvSpPr>
            <a:spLocks noChangeArrowheads="1"/>
          </p:cNvSpPr>
          <p:nvPr>
            <p:custDataLst>
              <p:tags r:id="rId2"/>
            </p:custDataLst>
          </p:nvPr>
        </p:nvSpPr>
        <p:spPr bwMode="auto">
          <a:xfrm>
            <a:off x="1504950" y="2323465"/>
            <a:ext cx="563245" cy="391795"/>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3"/>
          <p:cNvSpPr>
            <a:spLocks noChangeArrowheads="1"/>
          </p:cNvSpPr>
          <p:nvPr>
            <p:custDataLst>
              <p:tags r:id="rId3"/>
            </p:custDataLst>
          </p:nvPr>
        </p:nvSpPr>
        <p:spPr bwMode="auto">
          <a:xfrm>
            <a:off x="915035" y="2743200"/>
            <a:ext cx="549910" cy="38290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4"/>
          <p:cNvSpPr>
            <a:spLocks noChangeArrowheads="1"/>
          </p:cNvSpPr>
          <p:nvPr>
            <p:custDataLst>
              <p:tags r:id="rId4"/>
            </p:custDataLst>
          </p:nvPr>
        </p:nvSpPr>
        <p:spPr bwMode="auto">
          <a:xfrm>
            <a:off x="1504950" y="2743200"/>
            <a:ext cx="710565" cy="326390"/>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SubTitle_1"/>
          <p:cNvSpPr/>
          <p:nvPr>
            <p:custDataLst>
              <p:tags r:id="rId5"/>
            </p:custDataLst>
          </p:nvPr>
        </p:nvSpPr>
        <p:spPr>
          <a:xfrm>
            <a:off x="2513330" y="2305279"/>
            <a:ext cx="7938770" cy="734872"/>
          </a:xfrm>
          <a:prstGeom prst="rect">
            <a:avLst/>
          </a:prstGeom>
        </p:spPr>
        <p:txBody>
          <a:bodyPr lIns="72000" tIns="36000" rIns="72000" bIns="36000" anchor="ctr">
            <a:spAutoFit/>
          </a:bodyPr>
          <a:lstStyle/>
          <a:p>
            <a:pPr>
              <a:lnSpc>
                <a:spcPct val="125000"/>
              </a:lnSpc>
              <a:defRPr/>
            </a:pPr>
            <a:r>
              <a:rPr lang="en-US" altLang="zh-CN" dirty="0">
                <a:sym typeface="+mn-ea"/>
              </a:rPr>
              <a:t>       </a:t>
            </a:r>
            <a:r>
              <a:rPr lang="zh-CN" altLang="en-US" dirty="0">
                <a:sym typeface="+mn-ea"/>
              </a:rPr>
              <a:t>面向对象方法在进行系统分析时，与传统方法的需求分析一样，有时应分析对象的状态，画出状态图，才可正确地认识对象的行为并定义它的服务。</a:t>
            </a:r>
          </a:p>
        </p:txBody>
      </p:sp>
      <p:sp>
        <p:nvSpPr>
          <p:cNvPr id="18" name="MH_Other_5"/>
          <p:cNvSpPr>
            <a:spLocks noChangeArrowheads="1"/>
          </p:cNvSpPr>
          <p:nvPr>
            <p:custDataLst>
              <p:tags r:id="rId6"/>
            </p:custDataLst>
          </p:nvPr>
        </p:nvSpPr>
        <p:spPr bwMode="auto">
          <a:xfrm>
            <a:off x="2891790" y="4930775"/>
            <a:ext cx="710565" cy="49466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27" name="MH_Other_6"/>
          <p:cNvSpPr>
            <a:spLocks noChangeArrowheads="1"/>
          </p:cNvSpPr>
          <p:nvPr>
            <p:custDataLst>
              <p:tags r:id="rId7"/>
            </p:custDataLst>
          </p:nvPr>
        </p:nvSpPr>
        <p:spPr bwMode="auto">
          <a:xfrm>
            <a:off x="3642360" y="5033645"/>
            <a:ext cx="563245" cy="391795"/>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7"/>
          <p:cNvSpPr>
            <a:spLocks noChangeArrowheads="1"/>
          </p:cNvSpPr>
          <p:nvPr>
            <p:custDataLst>
              <p:tags r:id="rId8"/>
            </p:custDataLst>
          </p:nvPr>
        </p:nvSpPr>
        <p:spPr bwMode="auto">
          <a:xfrm>
            <a:off x="3052445" y="5453380"/>
            <a:ext cx="549910" cy="38290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0" name="MH_Other_8"/>
          <p:cNvSpPr>
            <a:spLocks noChangeArrowheads="1"/>
          </p:cNvSpPr>
          <p:nvPr>
            <p:custDataLst>
              <p:tags r:id="rId9"/>
            </p:custDataLst>
          </p:nvPr>
        </p:nvSpPr>
        <p:spPr bwMode="auto">
          <a:xfrm>
            <a:off x="3642360" y="5453380"/>
            <a:ext cx="710565" cy="326390"/>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1" name="MH_SubTitle_3"/>
          <p:cNvSpPr/>
          <p:nvPr>
            <p:custDataLst>
              <p:tags r:id="rId10"/>
            </p:custDataLst>
          </p:nvPr>
        </p:nvSpPr>
        <p:spPr>
          <a:xfrm>
            <a:off x="4632960" y="4961484"/>
            <a:ext cx="7165340" cy="734872"/>
          </a:xfrm>
          <a:prstGeom prst="rect">
            <a:avLst/>
          </a:prstGeom>
        </p:spPr>
        <p:txBody>
          <a:bodyPr lIns="72000" tIns="36000" rIns="72000" bIns="36000" anchor="ctr">
            <a:spAutoFit/>
          </a:bodyPr>
          <a:lstStyle/>
          <a:p>
            <a:pPr indent="0" fontAlgn="auto">
              <a:lnSpc>
                <a:spcPct val="125000"/>
              </a:lnSpc>
              <a:buClrTx/>
              <a:buNone/>
            </a:pPr>
            <a:r>
              <a:rPr lang="en-US" altLang="zh-CN" dirty="0">
                <a:sym typeface="+mn-ea"/>
              </a:rPr>
              <a:t>      </a:t>
            </a:r>
            <a:r>
              <a:rPr lang="zh-CN" altLang="en-US" dirty="0">
                <a:sym typeface="+mn-ea"/>
              </a:rPr>
              <a:t>状态转换是指两个状态之间的关系，它描述了对象从一个状态进入另一个状态的情况，并执行了所包含的动作。</a:t>
            </a:r>
          </a:p>
        </p:txBody>
      </p:sp>
      <p:sp>
        <p:nvSpPr>
          <p:cNvPr id="33" name="MH_Other_9"/>
          <p:cNvSpPr>
            <a:spLocks noChangeArrowheads="1"/>
          </p:cNvSpPr>
          <p:nvPr>
            <p:custDataLst>
              <p:tags r:id="rId11"/>
            </p:custDataLst>
          </p:nvPr>
        </p:nvSpPr>
        <p:spPr bwMode="auto">
          <a:xfrm>
            <a:off x="1680845" y="3631565"/>
            <a:ext cx="710565" cy="49466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34" name="MH_Other_10"/>
          <p:cNvSpPr>
            <a:spLocks noChangeArrowheads="1"/>
          </p:cNvSpPr>
          <p:nvPr>
            <p:custDataLst>
              <p:tags r:id="rId12"/>
            </p:custDataLst>
          </p:nvPr>
        </p:nvSpPr>
        <p:spPr bwMode="auto">
          <a:xfrm>
            <a:off x="2432050" y="3734435"/>
            <a:ext cx="563245" cy="39179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5" name="MH_Other_11"/>
          <p:cNvSpPr>
            <a:spLocks noChangeArrowheads="1"/>
          </p:cNvSpPr>
          <p:nvPr>
            <p:custDataLst>
              <p:tags r:id="rId13"/>
            </p:custDataLst>
          </p:nvPr>
        </p:nvSpPr>
        <p:spPr bwMode="auto">
          <a:xfrm>
            <a:off x="1842135" y="4154170"/>
            <a:ext cx="549910" cy="38290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12"/>
          <p:cNvSpPr>
            <a:spLocks noChangeArrowheads="1"/>
          </p:cNvSpPr>
          <p:nvPr>
            <p:custDataLst>
              <p:tags r:id="rId14"/>
            </p:custDataLst>
          </p:nvPr>
        </p:nvSpPr>
        <p:spPr bwMode="auto">
          <a:xfrm>
            <a:off x="2432050" y="4154170"/>
            <a:ext cx="710565" cy="326390"/>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7" name="MH_SubTitle_2"/>
          <p:cNvSpPr/>
          <p:nvPr>
            <p:custDataLst>
              <p:tags r:id="rId15"/>
            </p:custDataLst>
          </p:nvPr>
        </p:nvSpPr>
        <p:spPr>
          <a:xfrm>
            <a:off x="3404235" y="3688944"/>
            <a:ext cx="8131175" cy="734872"/>
          </a:xfrm>
          <a:prstGeom prst="rect">
            <a:avLst/>
          </a:prstGeom>
        </p:spPr>
        <p:txBody>
          <a:bodyPr lIns="72000" tIns="36000" rIns="72000" bIns="36000" anchor="ctr">
            <a:spAutoFit/>
          </a:bodyPr>
          <a:lstStyle/>
          <a:p>
            <a:pPr lvl="0" algn="just">
              <a:lnSpc>
                <a:spcPct val="125000"/>
              </a:lnSpc>
              <a:spcBef>
                <a:spcPct val="0"/>
              </a:spcBef>
            </a:pPr>
            <a:r>
              <a:rPr lang="en-US" altLang="zh-CN">
                <a:sym typeface="+mn-ea"/>
              </a:rPr>
              <a:t>       </a:t>
            </a:r>
            <a:r>
              <a:rPr lang="zh-CN" altLang="en-US">
                <a:sym typeface="+mn-ea"/>
              </a:rPr>
              <a:t>并不是所有的类都需要画状态图。有明确意义的状态、在不同状态下行为有所不同的类才需要画状态图。</a:t>
            </a:r>
          </a:p>
        </p:txBody>
      </p:sp>
    </p:spTree>
  </p:cSld>
  <p:clrMapOvr>
    <a:masterClrMapping/>
  </p:clrMapOvr>
  <p:transition>
    <p:diamon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4" name="文本占位符 3">
            <a:extLst>
              <a:ext uri="{FF2B5EF4-FFF2-40B4-BE49-F238E27FC236}">
                <a16:creationId xmlns:a16="http://schemas.microsoft.com/office/drawing/2014/main" id="{22048DA5-2CB6-FBB5-E050-E57841426A40}"/>
              </a:ext>
            </a:extLst>
          </p:cNvPr>
          <p:cNvSpPr>
            <a:spLocks noGrp="1"/>
          </p:cNvSpPr>
          <p:nvPr>
            <p:ph type="body" sz="quarter" idx="10"/>
          </p:nvPr>
        </p:nvSpPr>
        <p:spPr>
          <a:xfrm>
            <a:off x="900001" y="1322832"/>
            <a:ext cx="5196000" cy="400110"/>
          </a:xfrm>
        </p:spPr>
        <p:txBody>
          <a:bodyPr/>
          <a:lstStyle/>
          <a:p>
            <a:r>
              <a:rPr lang="en-US" altLang="zh-CN" dirty="0"/>
              <a:t>6.3.4 </a:t>
            </a:r>
            <a:r>
              <a:rPr lang="zh-CN" altLang="en-US" dirty="0"/>
              <a:t>状态图</a:t>
            </a:r>
          </a:p>
        </p:txBody>
      </p:sp>
      <p:sp>
        <p:nvSpPr>
          <p:cNvPr id="21" name="MH_Text_1"/>
          <p:cNvSpPr/>
          <p:nvPr>
            <p:custDataLst>
              <p:tags r:id="rId1"/>
            </p:custDataLst>
          </p:nvPr>
        </p:nvSpPr>
        <p:spPr>
          <a:xfrm>
            <a:off x="1714356" y="2926343"/>
            <a:ext cx="8796655" cy="2701925"/>
          </a:xfrm>
          <a:prstGeom prst="rect">
            <a:avLst/>
          </a:prstGeom>
          <a:noFill/>
          <a:ln w="12700" cap="flat" cmpd="sng" algn="ctr">
            <a:solidFill>
              <a:srgbClr val="CC0066"/>
            </a:solidFill>
            <a:prstDash val="solid"/>
            <a:miter lim="800000"/>
          </a:ln>
          <a:effectLst/>
        </p:spPr>
        <p:txBody>
          <a:bodyPr anchor="t" anchorCtr="0">
            <a:normAutofit/>
          </a:bodyPr>
          <a:lstStyle/>
          <a:p>
            <a:pPr algn="l" fontAlgn="auto">
              <a:lnSpc>
                <a:spcPct val="130000"/>
              </a:lnSpc>
            </a:pPr>
            <a:r>
              <a:rPr lang="zh-CN" altLang="en-US" dirty="0">
                <a:sym typeface="+mn-ea"/>
              </a:rPr>
              <a:t>椭圆或圆角矩形：表示对象的一种状态，椭圆内部填写状态名。</a:t>
            </a:r>
          </a:p>
          <a:p>
            <a:pPr algn="l" fontAlgn="auto">
              <a:lnSpc>
                <a:spcPct val="130000"/>
              </a:lnSpc>
            </a:pPr>
            <a:r>
              <a:rPr lang="zh-CN" altLang="en-US" dirty="0">
                <a:sym typeface="+mn-ea"/>
              </a:rPr>
              <a:t>箭头：表示从箭头出发的状态可以转换到箭头指向的状态。</a:t>
            </a:r>
          </a:p>
          <a:p>
            <a:pPr algn="l" fontAlgn="auto">
              <a:lnSpc>
                <a:spcPct val="130000"/>
              </a:lnSpc>
            </a:pPr>
            <a:r>
              <a:rPr lang="zh-CN" altLang="en-US" dirty="0">
                <a:sym typeface="+mn-ea"/>
              </a:rPr>
              <a:t>事件：引起状态转换的原因。事件名可在箭头线上方标出。</a:t>
            </a:r>
          </a:p>
          <a:p>
            <a:pPr algn="l" fontAlgn="auto">
              <a:lnSpc>
                <a:spcPct val="130000"/>
              </a:lnSpc>
            </a:pPr>
            <a:r>
              <a:rPr lang="zh-CN" altLang="en-US" dirty="0">
                <a:sym typeface="+mn-ea"/>
              </a:rPr>
              <a:t>条件：事件名后面可加方括号</a:t>
            </a:r>
            <a:r>
              <a:rPr lang="en-US" altLang="zh-CN" dirty="0">
                <a:sym typeface="+mn-ea"/>
              </a:rPr>
              <a:t>[ ]</a:t>
            </a:r>
            <a:r>
              <a:rPr lang="zh-CN" altLang="en-US" dirty="0">
                <a:sym typeface="+mn-ea"/>
              </a:rPr>
              <a:t>，括号内写状态转换的条件。</a:t>
            </a:r>
          </a:p>
          <a:p>
            <a:pPr algn="l" fontAlgn="auto">
              <a:lnSpc>
                <a:spcPct val="130000"/>
              </a:lnSpc>
            </a:pPr>
            <a:r>
              <a:rPr lang="zh-CN" altLang="en-US" dirty="0">
                <a:sym typeface="+mn-ea"/>
              </a:rPr>
              <a:t>实心圆：指出该对象被创建后所处的初始状态。</a:t>
            </a:r>
          </a:p>
          <a:p>
            <a:pPr algn="l" fontAlgn="auto">
              <a:lnSpc>
                <a:spcPct val="130000"/>
              </a:lnSpc>
            </a:pPr>
            <a:r>
              <a:rPr lang="zh-CN" altLang="en-US" dirty="0">
                <a:sym typeface="+mn-ea"/>
              </a:rPr>
              <a:t>内部实心的同心圆：表示对象的最终状态。</a:t>
            </a:r>
          </a:p>
        </p:txBody>
      </p:sp>
      <p:sp>
        <p:nvSpPr>
          <p:cNvPr id="22" name="MH_SubTitle_1"/>
          <p:cNvSpPr/>
          <p:nvPr>
            <p:custDataLst>
              <p:tags r:id="rId2"/>
            </p:custDataLst>
          </p:nvPr>
        </p:nvSpPr>
        <p:spPr>
          <a:xfrm>
            <a:off x="1714356" y="2362463"/>
            <a:ext cx="5391785" cy="563880"/>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1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状态图的符号</a:t>
            </a:r>
          </a:p>
        </p:txBody>
      </p:sp>
      <p:sp>
        <p:nvSpPr>
          <p:cNvPr id="6" name="椭圆 5">
            <a:extLst>
              <a:ext uri="{FF2B5EF4-FFF2-40B4-BE49-F238E27FC236}">
                <a16:creationId xmlns:a16="http://schemas.microsoft.com/office/drawing/2014/main" id="{AAD12284-CD06-DC41-F4D9-144ECDB00084}"/>
              </a:ext>
            </a:extLst>
          </p:cNvPr>
          <p:cNvSpPr/>
          <p:nvPr/>
        </p:nvSpPr>
        <p:spPr>
          <a:xfrm>
            <a:off x="6691111" y="4489623"/>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EBB7F0B1-37D5-3F4B-7E6F-51ABE598FE4C}"/>
              </a:ext>
            </a:extLst>
          </p:cNvPr>
          <p:cNvGrpSpPr/>
          <p:nvPr/>
        </p:nvGrpSpPr>
        <p:grpSpPr>
          <a:xfrm>
            <a:off x="6254623" y="4838272"/>
            <a:ext cx="288000" cy="288000"/>
            <a:chOff x="6291054" y="5114380"/>
            <a:chExt cx="288000" cy="288000"/>
          </a:xfrm>
        </p:grpSpPr>
        <p:sp>
          <p:nvSpPr>
            <p:cNvPr id="8" name="椭圆 7">
              <a:extLst>
                <a:ext uri="{FF2B5EF4-FFF2-40B4-BE49-F238E27FC236}">
                  <a16:creationId xmlns:a16="http://schemas.microsoft.com/office/drawing/2014/main" id="{75256309-9C15-BA16-4207-EF6530323C93}"/>
                </a:ext>
              </a:extLst>
            </p:cNvPr>
            <p:cNvSpPr/>
            <p:nvPr/>
          </p:nvSpPr>
          <p:spPr>
            <a:xfrm>
              <a:off x="6291054" y="5114380"/>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98DA4FCA-5662-4C63-A320-A2BCE8CE5E90}"/>
                </a:ext>
              </a:extLst>
            </p:cNvPr>
            <p:cNvSpPr/>
            <p:nvPr/>
          </p:nvSpPr>
          <p:spPr>
            <a:xfrm>
              <a:off x="6363054" y="5186380"/>
              <a:ext cx="144000" cy="144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diamon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5" name="文本占位符 4">
            <a:extLst>
              <a:ext uri="{FF2B5EF4-FFF2-40B4-BE49-F238E27FC236}">
                <a16:creationId xmlns:a16="http://schemas.microsoft.com/office/drawing/2014/main" id="{BE8B2859-5D76-C1E8-0F1E-72984297E664}"/>
              </a:ext>
            </a:extLst>
          </p:cNvPr>
          <p:cNvSpPr>
            <a:spLocks noGrp="1"/>
          </p:cNvSpPr>
          <p:nvPr>
            <p:ph type="body" sz="quarter" idx="10"/>
          </p:nvPr>
        </p:nvSpPr>
        <p:spPr/>
        <p:txBody>
          <a:bodyPr/>
          <a:lstStyle/>
          <a:p>
            <a:r>
              <a:rPr lang="en-US" altLang="zh-CN" dirty="0"/>
              <a:t>6.3.4 </a:t>
            </a:r>
            <a:r>
              <a:rPr lang="zh-CN" altLang="en-US" dirty="0"/>
              <a:t>状态图</a:t>
            </a:r>
          </a:p>
        </p:txBody>
      </p:sp>
      <p:sp>
        <p:nvSpPr>
          <p:cNvPr id="21" name="MH_Text_1"/>
          <p:cNvSpPr/>
          <p:nvPr>
            <p:custDataLst>
              <p:tags r:id="rId1"/>
            </p:custDataLst>
          </p:nvPr>
        </p:nvSpPr>
        <p:spPr>
          <a:xfrm>
            <a:off x="1714356" y="2926343"/>
            <a:ext cx="8796655" cy="2701925"/>
          </a:xfrm>
          <a:prstGeom prst="rect">
            <a:avLst/>
          </a:prstGeom>
          <a:noFill/>
          <a:ln w="12700" cap="flat" cmpd="sng" algn="ctr">
            <a:solidFill>
              <a:srgbClr val="CC0066"/>
            </a:solidFill>
            <a:prstDash val="solid"/>
            <a:miter lim="800000"/>
          </a:ln>
          <a:effectLst/>
        </p:spPr>
        <p:txBody>
          <a:bodyPr anchor="t" anchorCtr="0">
            <a:normAutofit/>
          </a:bodyPr>
          <a:lstStyle/>
          <a:p>
            <a:pPr>
              <a:lnSpc>
                <a:spcPct val="130000"/>
              </a:lnSpc>
            </a:pPr>
            <a:r>
              <a:rPr lang="zh-CN" altLang="en-US" dirty="0">
                <a:sym typeface="+mn-ea"/>
              </a:rPr>
              <a:t>一张状态图的初始状态只有一个，而最终状态可以有多个；也可以没有最终状态，只有用圆角矩形表示的中间状态。</a:t>
            </a:r>
          </a:p>
          <a:p>
            <a:pPr>
              <a:lnSpc>
                <a:spcPct val="130000"/>
              </a:lnSpc>
            </a:pPr>
            <a:r>
              <a:rPr lang="zh-CN" altLang="en-US" dirty="0">
                <a:sym typeface="+mn-ea"/>
              </a:rPr>
              <a:t>每个中间状态有不同的操作（活动），中间状态可能包含</a:t>
            </a:r>
            <a:r>
              <a:rPr lang="en-US" altLang="zh-CN" dirty="0">
                <a:sym typeface="+mn-ea"/>
              </a:rPr>
              <a:t>3</a:t>
            </a:r>
            <a:r>
              <a:rPr lang="zh-CN" altLang="en-US" dirty="0">
                <a:sym typeface="+mn-ea"/>
              </a:rPr>
              <a:t>个部分：状态名称、状态变量的名称和值、活动表，如图</a:t>
            </a:r>
            <a:r>
              <a:rPr lang="en-US" altLang="zh-CN" dirty="0">
                <a:sym typeface="+mn-ea"/>
              </a:rPr>
              <a:t>6-15</a:t>
            </a:r>
            <a:r>
              <a:rPr lang="zh-CN" altLang="en-US" dirty="0">
                <a:sym typeface="+mn-ea"/>
              </a:rPr>
              <a:t>所示。这里状态变量和活动表都是可选项。</a:t>
            </a:r>
          </a:p>
        </p:txBody>
      </p:sp>
      <p:sp>
        <p:nvSpPr>
          <p:cNvPr id="22" name="MH_SubTitle_1"/>
          <p:cNvSpPr/>
          <p:nvPr>
            <p:custDataLst>
              <p:tags r:id="rId2"/>
            </p:custDataLst>
          </p:nvPr>
        </p:nvSpPr>
        <p:spPr>
          <a:xfrm>
            <a:off x="1714356" y="2362463"/>
            <a:ext cx="5391785" cy="563880"/>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2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状态图的状态</a:t>
            </a:r>
          </a:p>
        </p:txBody>
      </p:sp>
      <p:graphicFrame>
        <p:nvGraphicFramePr>
          <p:cNvPr id="7" name="表格 6">
            <a:extLst>
              <a:ext uri="{FF2B5EF4-FFF2-40B4-BE49-F238E27FC236}">
                <a16:creationId xmlns:a16="http://schemas.microsoft.com/office/drawing/2014/main" id="{C57B9B6F-E0B1-6B74-DAE1-99962CDA0C92}"/>
              </a:ext>
            </a:extLst>
          </p:cNvPr>
          <p:cNvGraphicFramePr>
            <a:graphicFrameLocks noGrp="1"/>
          </p:cNvGraphicFramePr>
          <p:nvPr>
            <p:extLst>
              <p:ext uri="{D42A27DB-BD31-4B8C-83A1-F6EECF244321}">
                <p14:modId xmlns:p14="http://schemas.microsoft.com/office/powerpoint/2010/main" val="3022736122"/>
              </p:ext>
            </p:extLst>
          </p:nvPr>
        </p:nvGraphicFramePr>
        <p:xfrm>
          <a:off x="8117632" y="719666"/>
          <a:ext cx="1440000" cy="111252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51637954"/>
                    </a:ext>
                  </a:extLst>
                </a:gridCol>
              </a:tblGrid>
              <a:tr h="370840">
                <a:tc>
                  <a:txBody>
                    <a:bodyPr/>
                    <a:lstStyle/>
                    <a:p>
                      <a:pPr algn="ctr"/>
                      <a:r>
                        <a:rPr lang="zh-CN" altLang="en-US" sz="1600" b="0" dirty="0">
                          <a:solidFill>
                            <a:schemeClr val="tx1"/>
                          </a:solidFill>
                        </a:rPr>
                        <a:t>状态名称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3361545"/>
                  </a:ext>
                </a:extLst>
              </a:tr>
              <a:tr h="370840">
                <a:tc>
                  <a:txBody>
                    <a:bodyPr/>
                    <a:lstStyle/>
                    <a:p>
                      <a:pPr algn="ctr"/>
                      <a:r>
                        <a:rPr lang="zh-CN" altLang="en-US" sz="1600" b="0" dirty="0">
                          <a:solidFill>
                            <a:schemeClr val="tx1"/>
                          </a:solidFill>
                        </a:rPr>
                        <a:t>状态变量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3973693"/>
                  </a:ext>
                </a:extLst>
              </a:tr>
              <a:tr h="370840">
                <a:tc>
                  <a:txBody>
                    <a:bodyPr/>
                    <a:lstStyle/>
                    <a:p>
                      <a:pPr algn="ctr"/>
                      <a:r>
                        <a:rPr lang="zh-CN" altLang="en-US" sz="1600" b="0" dirty="0">
                          <a:solidFill>
                            <a:schemeClr val="tx1"/>
                          </a:solidFill>
                        </a:rPr>
                        <a:t>活动表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8814397"/>
                  </a:ext>
                </a:extLst>
              </a:tr>
            </a:tbl>
          </a:graphicData>
        </a:graphic>
      </p:graphicFrame>
      <p:cxnSp>
        <p:nvCxnSpPr>
          <p:cNvPr id="9" name="直接箭头连接符 8">
            <a:extLst>
              <a:ext uri="{FF2B5EF4-FFF2-40B4-BE49-F238E27FC236}">
                <a16:creationId xmlns:a16="http://schemas.microsoft.com/office/drawing/2014/main" id="{A9A5EF60-0543-098E-CE3B-B605AEBAB98C}"/>
              </a:ext>
            </a:extLst>
          </p:cNvPr>
          <p:cNvCxnSpPr>
            <a:cxnSpLocks/>
          </p:cNvCxnSpPr>
          <p:nvPr/>
        </p:nvCxnSpPr>
        <p:spPr>
          <a:xfrm>
            <a:off x="9557632" y="1275926"/>
            <a:ext cx="5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4BF3034-B79C-CC23-CFE0-01502B82C832}"/>
              </a:ext>
            </a:extLst>
          </p:cNvPr>
          <p:cNvCxnSpPr>
            <a:cxnSpLocks/>
          </p:cNvCxnSpPr>
          <p:nvPr/>
        </p:nvCxnSpPr>
        <p:spPr>
          <a:xfrm>
            <a:off x="7577632" y="1275926"/>
            <a:ext cx="5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diamon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B12E6860-F7C0-C160-E3BB-923ACD659DD2}"/>
              </a:ext>
            </a:extLst>
          </p:cNvPr>
          <p:cNvSpPr>
            <a:spLocks noGrp="1"/>
          </p:cNvSpPr>
          <p:nvPr>
            <p:ph type="body" sz="quarter" idx="10"/>
          </p:nvPr>
        </p:nvSpPr>
        <p:spPr>
          <a:xfrm>
            <a:off x="900001" y="1322832"/>
            <a:ext cx="5196000" cy="400110"/>
          </a:xfrm>
        </p:spPr>
        <p:txBody>
          <a:bodyPr/>
          <a:lstStyle/>
          <a:p>
            <a:r>
              <a:rPr lang="en-US" altLang="zh-CN" dirty="0"/>
              <a:t>6.3.4 </a:t>
            </a:r>
            <a:r>
              <a:rPr lang="zh-CN" altLang="en-US" dirty="0"/>
              <a:t>状态图</a:t>
            </a:r>
          </a:p>
        </p:txBody>
      </p:sp>
      <p:sp>
        <p:nvSpPr>
          <p:cNvPr id="2" name="MH_Text_1">
            <a:extLst>
              <a:ext uri="{FF2B5EF4-FFF2-40B4-BE49-F238E27FC236}">
                <a16:creationId xmlns:a16="http://schemas.microsoft.com/office/drawing/2014/main" id="{B0A165A3-DEB8-D40E-8482-68366ECCB3DC}"/>
              </a:ext>
            </a:extLst>
          </p:cNvPr>
          <p:cNvSpPr/>
          <p:nvPr>
            <p:custDataLst>
              <p:tags r:id="rId1"/>
            </p:custDataLst>
          </p:nvPr>
        </p:nvSpPr>
        <p:spPr>
          <a:xfrm>
            <a:off x="1714356" y="2926343"/>
            <a:ext cx="8796655" cy="2701925"/>
          </a:xfrm>
          <a:prstGeom prst="rect">
            <a:avLst/>
          </a:prstGeom>
          <a:noFill/>
          <a:ln w="12700" cap="flat" cmpd="sng" algn="ctr">
            <a:solidFill>
              <a:srgbClr val="CC0066"/>
            </a:solidFill>
            <a:prstDash val="solid"/>
            <a:miter lim="800000"/>
          </a:ln>
          <a:effectLst/>
        </p:spPr>
        <p:txBody>
          <a:bodyPr anchor="t" anchorCtr="0">
            <a:normAutofit fontScale="92500" lnSpcReduction="10000"/>
          </a:bodyPr>
          <a:lstStyle/>
          <a:p>
            <a:pPr>
              <a:lnSpc>
                <a:spcPct val="130000"/>
              </a:lnSpc>
            </a:pPr>
            <a:r>
              <a:rPr lang="zh-CN" altLang="en-US" dirty="0">
                <a:sym typeface="+mn-ea"/>
              </a:rPr>
              <a:t>事件是触发器，动作是反应</a:t>
            </a:r>
            <a:endParaRPr lang="en-US" altLang="zh-CN" dirty="0">
              <a:sym typeface="+mn-ea"/>
            </a:endParaRPr>
          </a:p>
          <a:p>
            <a:pPr algn="ctr">
              <a:lnSpc>
                <a:spcPct val="130000"/>
              </a:lnSpc>
            </a:pPr>
            <a:r>
              <a:rPr lang="zh-CN" altLang="en-US" dirty="0">
                <a:sym typeface="+mn-ea"/>
              </a:rPr>
              <a:t>事件名 （参数表）    </a:t>
            </a:r>
            <a:r>
              <a:rPr lang="en-US" altLang="zh-CN" dirty="0">
                <a:sym typeface="+mn-ea"/>
              </a:rPr>
              <a:t>/    </a:t>
            </a:r>
            <a:r>
              <a:rPr lang="zh-CN" altLang="en-US" dirty="0">
                <a:sym typeface="+mn-ea"/>
              </a:rPr>
              <a:t>动作表达式</a:t>
            </a:r>
            <a:endParaRPr lang="en-US" altLang="zh-CN" dirty="0">
              <a:sym typeface="+mn-ea"/>
            </a:endParaRPr>
          </a:p>
          <a:p>
            <a:pPr>
              <a:lnSpc>
                <a:spcPct val="130000"/>
              </a:lnSpc>
            </a:pPr>
            <a:r>
              <a:rPr lang="zh-CN" altLang="en-US" dirty="0">
                <a:sym typeface="+mn-ea"/>
              </a:rPr>
              <a:t>事件名可以是任何事件，常见的：</a:t>
            </a:r>
            <a:endParaRPr lang="en-US" altLang="zh-CN" dirty="0">
              <a:sym typeface="+mn-ea"/>
            </a:endParaRPr>
          </a:p>
          <a:p>
            <a:pPr marL="285750" indent="-285750">
              <a:lnSpc>
                <a:spcPct val="130000"/>
              </a:lnSpc>
              <a:buFont typeface="Arial" panose="020B0604020202020204" pitchFamily="34" charset="0"/>
              <a:buChar char="•"/>
            </a:pPr>
            <a:r>
              <a:rPr lang="en-US" altLang="zh-CN" dirty="0">
                <a:sym typeface="+mn-ea"/>
              </a:rPr>
              <a:t>Entry </a:t>
            </a:r>
            <a:r>
              <a:rPr lang="zh-CN" altLang="en-US" dirty="0">
                <a:sym typeface="+mn-ea"/>
              </a:rPr>
              <a:t>进入：进入该状态的动作，相当于状态图中的初始状态</a:t>
            </a:r>
          </a:p>
          <a:p>
            <a:pPr marL="285750" indent="-285750">
              <a:lnSpc>
                <a:spcPct val="130000"/>
              </a:lnSpc>
              <a:buFont typeface="Arial" panose="020B0604020202020204" pitchFamily="34" charset="0"/>
              <a:buChar char="•"/>
            </a:pPr>
            <a:r>
              <a:rPr lang="en-US" altLang="zh-CN" dirty="0">
                <a:sym typeface="+mn-ea"/>
              </a:rPr>
              <a:t>Exit </a:t>
            </a:r>
            <a:r>
              <a:rPr lang="zh-CN" altLang="en-US" dirty="0">
                <a:sym typeface="+mn-ea"/>
              </a:rPr>
              <a:t>退出：退出该状态的动作，相当于状态图中的结束状态</a:t>
            </a:r>
          </a:p>
          <a:p>
            <a:pPr marL="285750" indent="-285750">
              <a:lnSpc>
                <a:spcPct val="130000"/>
              </a:lnSpc>
              <a:buFont typeface="Arial" panose="020B0604020202020204" pitchFamily="34" charset="0"/>
              <a:buChar char="•"/>
            </a:pPr>
            <a:r>
              <a:rPr lang="en-US" altLang="zh-CN" dirty="0">
                <a:sym typeface="+mn-ea"/>
              </a:rPr>
              <a:t>Do </a:t>
            </a:r>
            <a:r>
              <a:rPr lang="zh-CN" altLang="en-US" dirty="0">
                <a:sym typeface="+mn-ea"/>
              </a:rPr>
              <a:t>执行：在该状态下的动作，可用状态子图详细描述</a:t>
            </a:r>
          </a:p>
          <a:p>
            <a:pPr>
              <a:lnSpc>
                <a:spcPct val="130000"/>
              </a:lnSpc>
            </a:pPr>
            <a:r>
              <a:rPr lang="zh-CN" altLang="en-US" dirty="0">
                <a:sym typeface="+mn-ea"/>
              </a:rPr>
              <a:t>可以指定事件的参数表；</a:t>
            </a:r>
            <a:endParaRPr lang="en-US" altLang="zh-CN" dirty="0">
              <a:sym typeface="+mn-ea"/>
            </a:endParaRPr>
          </a:p>
          <a:p>
            <a:pPr>
              <a:lnSpc>
                <a:spcPct val="130000"/>
              </a:lnSpc>
            </a:pPr>
            <a:r>
              <a:rPr lang="zh-CN" altLang="en-US" dirty="0">
                <a:sym typeface="+mn-ea"/>
              </a:rPr>
              <a:t>动作表达式指定应做的动作                                      </a:t>
            </a:r>
          </a:p>
        </p:txBody>
      </p:sp>
      <p:sp>
        <p:nvSpPr>
          <p:cNvPr id="5" name="MH_SubTitle_1">
            <a:extLst>
              <a:ext uri="{FF2B5EF4-FFF2-40B4-BE49-F238E27FC236}">
                <a16:creationId xmlns:a16="http://schemas.microsoft.com/office/drawing/2014/main" id="{EC559E85-9EA4-EF41-1C5D-653574835269}"/>
              </a:ext>
            </a:extLst>
          </p:cNvPr>
          <p:cNvSpPr/>
          <p:nvPr>
            <p:custDataLst>
              <p:tags r:id="rId2"/>
            </p:custDataLst>
          </p:nvPr>
        </p:nvSpPr>
        <p:spPr>
          <a:xfrm>
            <a:off x="1714356" y="2362463"/>
            <a:ext cx="5391785" cy="563880"/>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3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状态图的事件和动作</a:t>
            </a:r>
            <a:endPar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endParaRPr>
          </a:p>
        </p:txBody>
      </p:sp>
    </p:spTree>
  </p:cSld>
  <p:clrMapOvr>
    <a:masterClrMapping/>
  </p:clrMapOvr>
  <p:transition>
    <p:diamon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8" name="文本占位符 7">
            <a:extLst>
              <a:ext uri="{FF2B5EF4-FFF2-40B4-BE49-F238E27FC236}">
                <a16:creationId xmlns:a16="http://schemas.microsoft.com/office/drawing/2014/main" id="{2B7FB1D9-679C-6CF3-B88C-F7B6DFB2E31C}"/>
              </a:ext>
            </a:extLst>
          </p:cNvPr>
          <p:cNvSpPr>
            <a:spLocks noGrp="1"/>
          </p:cNvSpPr>
          <p:nvPr>
            <p:ph type="body" sz="quarter" idx="10"/>
          </p:nvPr>
        </p:nvSpPr>
        <p:spPr/>
        <p:txBody>
          <a:bodyPr/>
          <a:lstStyle/>
          <a:p>
            <a:r>
              <a:rPr lang="en-US" altLang="zh-CN" dirty="0"/>
              <a:t>6.3.4 </a:t>
            </a:r>
            <a:r>
              <a:rPr lang="zh-CN" altLang="en-US" dirty="0"/>
              <a:t>状态图</a:t>
            </a:r>
          </a:p>
        </p:txBody>
      </p:sp>
      <p:sp>
        <p:nvSpPr>
          <p:cNvPr id="4" name="MH_Other_1"/>
          <p:cNvSpPr/>
          <p:nvPr/>
        </p:nvSpPr>
        <p:spPr>
          <a:xfrm>
            <a:off x="2257377" y="2068195"/>
            <a:ext cx="6149441" cy="3162171"/>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dirty="0">
              <a:solidFill>
                <a:srgbClr val="FFFFFF"/>
              </a:solidFill>
              <a:latin typeface="微软雅黑 Light" panose="020B0502040204020203" pitchFamily="34" charset="-122"/>
              <a:ea typeface="微软雅黑" panose="020B0503020204020204" pitchFamily="34" charset="-122"/>
            </a:endParaRPr>
          </a:p>
        </p:txBody>
      </p:sp>
      <p:sp>
        <p:nvSpPr>
          <p:cNvPr id="5" name="MH_Desc_1"/>
          <p:cNvSpPr/>
          <p:nvPr/>
        </p:nvSpPr>
        <p:spPr>
          <a:xfrm>
            <a:off x="1883392" y="2352806"/>
            <a:ext cx="8386175" cy="3874485"/>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indent="457200">
              <a:lnSpc>
                <a:spcPct val="140000"/>
              </a:lnSpc>
            </a:pPr>
            <a:endParaRPr lang="en-US" dirty="0">
              <a:latin typeface="+mn-ea"/>
            </a:endParaRPr>
          </a:p>
          <a:p>
            <a:pPr indent="457200">
              <a:lnSpc>
                <a:spcPct val="140000"/>
              </a:lnSpc>
            </a:pPr>
            <a:r>
              <a:rPr dirty="0">
                <a:latin typeface="+mn-ea"/>
              </a:rPr>
              <a:t>状态机（State Machine）指定某对象或交互过程在其整个生存周期中对事件做出响应而先后经历的各种状态，同时表明响应和动作。</a:t>
            </a:r>
          </a:p>
          <a:p>
            <a:pPr indent="457200">
              <a:lnSpc>
                <a:spcPct val="140000"/>
              </a:lnSpc>
            </a:pPr>
            <a:r>
              <a:rPr dirty="0">
                <a:latin typeface="+mn-ea"/>
              </a:rPr>
              <a:t>状态机为类的对象在生存周期建立模型。状态机由对象的一系列状态和激发这些状态的转换组成，状态转换附属的某些动作可能被执行，状态机用状态图描述。</a:t>
            </a:r>
          </a:p>
        </p:txBody>
      </p:sp>
      <p:sp>
        <p:nvSpPr>
          <p:cNvPr id="6" name="MH_Other_2"/>
          <p:cNvSpPr/>
          <p:nvPr/>
        </p:nvSpPr>
        <p:spPr bwMode="auto">
          <a:xfrm>
            <a:off x="7543385" y="3942541"/>
            <a:ext cx="3606837" cy="2335069"/>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dirty="0">
              <a:solidFill>
                <a:srgbClr val="FFFFFF"/>
              </a:solidFill>
              <a:latin typeface="微软雅黑 Light" panose="020B0502040204020203" pitchFamily="34" charset="-122"/>
              <a:ea typeface="微软雅黑" panose="020B0503020204020204" pitchFamily="34" charset="-122"/>
            </a:endParaRPr>
          </a:p>
        </p:txBody>
      </p:sp>
    </p:spTree>
  </p:cSld>
  <p:clrMapOvr>
    <a:masterClrMapping/>
  </p:clrMapOvr>
  <p:transition>
    <p:diamon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4" name="文本占位符 3">
            <a:extLst>
              <a:ext uri="{FF2B5EF4-FFF2-40B4-BE49-F238E27FC236}">
                <a16:creationId xmlns:a16="http://schemas.microsoft.com/office/drawing/2014/main" id="{9DF01BF7-89E1-347C-59B8-462952D37697}"/>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6.2 </a:t>
            </a:r>
            <a:r>
              <a:rPr lang="zh-CN" altLang="en-US" dirty="0"/>
              <a:t>状态机举例</a:t>
            </a:r>
          </a:p>
        </p:txBody>
      </p:sp>
      <p:sp>
        <p:nvSpPr>
          <p:cNvPr id="24" name="矩形 23"/>
          <p:cNvSpPr>
            <a:spLocks noChangeAspect="1"/>
          </p:cNvSpPr>
          <p:nvPr/>
        </p:nvSpPr>
        <p:spPr>
          <a:xfrm>
            <a:off x="1111885" y="3193415"/>
            <a:ext cx="9968230" cy="232918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indent="457200" fontAlgn="auto">
              <a:lnSpc>
                <a:spcPct val="125000"/>
              </a:lnSpc>
            </a:pPr>
            <a:r>
              <a:rPr lang="zh-CN" altLang="en-US" dirty="0"/>
              <a:t> 图</a:t>
            </a:r>
            <a:r>
              <a:rPr lang="en-US" altLang="zh-CN" dirty="0"/>
              <a:t>6-16</a:t>
            </a:r>
            <a:r>
              <a:rPr lang="zh-CN" altLang="en-US" dirty="0"/>
              <a:t>是拨打电话的状态转换图，共有两个状态：空闲状态和活动状态。对于活动状态又可具体画出拨打电话时可能遇到的几种不同情况，在表示活动状态的圆角矩形内用嵌套的状态子图详细描述出来。</a:t>
            </a:r>
          </a:p>
          <a:p>
            <a:pPr indent="457200" fontAlgn="auto">
              <a:lnSpc>
                <a:spcPct val="125000"/>
              </a:lnSpc>
            </a:pPr>
            <a:r>
              <a:rPr lang="zh-CN" altLang="en-US" dirty="0"/>
              <a:t>含有子状态的状态称为组合状态（</a:t>
            </a:r>
            <a:r>
              <a:rPr lang="en-US" altLang="zh-CN" dirty="0"/>
              <a:t>Composite State</a:t>
            </a:r>
            <a:r>
              <a:rPr lang="zh-CN" altLang="en-US" dirty="0"/>
              <a:t>）。如图</a:t>
            </a:r>
            <a:r>
              <a:rPr lang="en-US" altLang="zh-CN" dirty="0"/>
              <a:t>6-16</a:t>
            </a:r>
            <a:r>
              <a:rPr lang="zh-CN" altLang="en-US" dirty="0"/>
              <a:t>所示，拨打电话状态是组合状态。</a:t>
            </a:r>
          </a:p>
        </p:txBody>
      </p:sp>
    </p:spTree>
  </p:cSld>
  <p:clrMapOvr>
    <a:masterClrMapping/>
  </p:clrMapOvr>
  <p:transition>
    <p:diamon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6" name="文本占位符 5">
            <a:extLst>
              <a:ext uri="{FF2B5EF4-FFF2-40B4-BE49-F238E27FC236}">
                <a16:creationId xmlns:a16="http://schemas.microsoft.com/office/drawing/2014/main" id="{124BEED9-7378-A246-1D31-B6323E41AD23}"/>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6.2 </a:t>
            </a:r>
            <a:r>
              <a:rPr lang="zh-CN" altLang="en-US" dirty="0"/>
              <a:t>状态机举例</a:t>
            </a:r>
          </a:p>
        </p:txBody>
      </p:sp>
      <p:sp>
        <p:nvSpPr>
          <p:cNvPr id="7" name="矩形: 圆角 6">
            <a:extLst>
              <a:ext uri="{FF2B5EF4-FFF2-40B4-BE49-F238E27FC236}">
                <a16:creationId xmlns:a16="http://schemas.microsoft.com/office/drawing/2014/main" id="{15ED84D0-B026-099B-79F6-52F6156E2D15}"/>
              </a:ext>
            </a:extLst>
          </p:cNvPr>
          <p:cNvSpPr/>
          <p:nvPr/>
        </p:nvSpPr>
        <p:spPr>
          <a:xfrm>
            <a:off x="1407946" y="3903811"/>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空闲</a:t>
            </a:r>
          </a:p>
        </p:txBody>
      </p:sp>
      <p:sp>
        <p:nvSpPr>
          <p:cNvPr id="8" name="矩形: 圆角 7">
            <a:extLst>
              <a:ext uri="{FF2B5EF4-FFF2-40B4-BE49-F238E27FC236}">
                <a16:creationId xmlns:a16="http://schemas.microsoft.com/office/drawing/2014/main" id="{04FB8690-ADF7-0ABC-0B40-3805FC429937}"/>
              </a:ext>
            </a:extLst>
          </p:cNvPr>
          <p:cNvSpPr/>
          <p:nvPr/>
        </p:nvSpPr>
        <p:spPr>
          <a:xfrm>
            <a:off x="5551873" y="3259613"/>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拨号</a:t>
            </a:r>
          </a:p>
        </p:txBody>
      </p:sp>
      <p:sp>
        <p:nvSpPr>
          <p:cNvPr id="9" name="矩形: 圆角 8">
            <a:extLst>
              <a:ext uri="{FF2B5EF4-FFF2-40B4-BE49-F238E27FC236}">
                <a16:creationId xmlns:a16="http://schemas.microsoft.com/office/drawing/2014/main" id="{7ABC9FCB-0F24-D617-AB7D-F3F0DBDEC924}"/>
              </a:ext>
            </a:extLst>
          </p:cNvPr>
          <p:cNvSpPr/>
          <p:nvPr/>
        </p:nvSpPr>
        <p:spPr>
          <a:xfrm>
            <a:off x="7097666" y="3259613"/>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连接</a:t>
            </a:r>
          </a:p>
        </p:txBody>
      </p:sp>
      <p:sp>
        <p:nvSpPr>
          <p:cNvPr id="10" name="矩形: 圆角 9">
            <a:extLst>
              <a:ext uri="{FF2B5EF4-FFF2-40B4-BE49-F238E27FC236}">
                <a16:creationId xmlns:a16="http://schemas.microsoft.com/office/drawing/2014/main" id="{AD2DFBC6-093C-E8F6-0040-D310689A01F3}"/>
              </a:ext>
            </a:extLst>
          </p:cNvPr>
          <p:cNvSpPr/>
          <p:nvPr/>
        </p:nvSpPr>
        <p:spPr>
          <a:xfrm>
            <a:off x="4220685" y="3259613"/>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拨号音</a:t>
            </a:r>
          </a:p>
        </p:txBody>
      </p:sp>
      <p:sp>
        <p:nvSpPr>
          <p:cNvPr id="11" name="矩形: 圆角 10">
            <a:extLst>
              <a:ext uri="{FF2B5EF4-FFF2-40B4-BE49-F238E27FC236}">
                <a16:creationId xmlns:a16="http://schemas.microsoft.com/office/drawing/2014/main" id="{27EB23FD-EB5D-E8C3-E78B-360CB157AC1D}"/>
              </a:ext>
            </a:extLst>
          </p:cNvPr>
          <p:cNvSpPr/>
          <p:nvPr/>
        </p:nvSpPr>
        <p:spPr>
          <a:xfrm>
            <a:off x="8643459" y="3259613"/>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响铃</a:t>
            </a:r>
          </a:p>
        </p:txBody>
      </p:sp>
      <p:sp>
        <p:nvSpPr>
          <p:cNvPr id="12" name="矩形: 圆角 11">
            <a:extLst>
              <a:ext uri="{FF2B5EF4-FFF2-40B4-BE49-F238E27FC236}">
                <a16:creationId xmlns:a16="http://schemas.microsoft.com/office/drawing/2014/main" id="{F419BDBF-5DE2-9808-B995-E2194958D929}"/>
              </a:ext>
            </a:extLst>
          </p:cNvPr>
          <p:cNvSpPr/>
          <p:nvPr/>
        </p:nvSpPr>
        <p:spPr>
          <a:xfrm>
            <a:off x="9862677" y="3259613"/>
            <a:ext cx="864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通话</a:t>
            </a:r>
          </a:p>
        </p:txBody>
      </p:sp>
      <p:sp>
        <p:nvSpPr>
          <p:cNvPr id="13" name="矩形: 圆角 12">
            <a:extLst>
              <a:ext uri="{FF2B5EF4-FFF2-40B4-BE49-F238E27FC236}">
                <a16:creationId xmlns:a16="http://schemas.microsoft.com/office/drawing/2014/main" id="{31BC241A-777A-5286-0BD6-E4E70BD3183D}"/>
              </a:ext>
            </a:extLst>
          </p:cNvPr>
          <p:cNvSpPr/>
          <p:nvPr/>
        </p:nvSpPr>
        <p:spPr>
          <a:xfrm>
            <a:off x="5443873" y="3976503"/>
            <a:ext cx="108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号码错</a:t>
            </a:r>
            <a:endParaRPr lang="en-US" altLang="zh-CN" sz="1600" dirty="0">
              <a:solidFill>
                <a:schemeClr val="tx1"/>
              </a:solidFill>
            </a:endParaRPr>
          </a:p>
          <a:p>
            <a:pPr algn="ctr"/>
            <a:r>
              <a:rPr lang="zh-CN" altLang="en-US" sz="1600" dirty="0">
                <a:solidFill>
                  <a:schemeClr val="tx1"/>
                </a:solidFill>
              </a:rPr>
              <a:t>提示信息</a:t>
            </a:r>
          </a:p>
        </p:txBody>
      </p:sp>
      <p:sp>
        <p:nvSpPr>
          <p:cNvPr id="14" name="矩形: 圆角 13">
            <a:extLst>
              <a:ext uri="{FF2B5EF4-FFF2-40B4-BE49-F238E27FC236}">
                <a16:creationId xmlns:a16="http://schemas.microsoft.com/office/drawing/2014/main" id="{2C5EAB78-B9F8-1CED-90A5-4BF88930CDDD}"/>
              </a:ext>
            </a:extLst>
          </p:cNvPr>
          <p:cNvSpPr/>
          <p:nvPr/>
        </p:nvSpPr>
        <p:spPr>
          <a:xfrm>
            <a:off x="6989666" y="3976503"/>
            <a:ext cx="108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线路忙</a:t>
            </a:r>
            <a:endParaRPr lang="en-US" altLang="zh-CN" sz="1600" dirty="0">
              <a:solidFill>
                <a:schemeClr val="tx1"/>
              </a:solidFill>
            </a:endParaRPr>
          </a:p>
          <a:p>
            <a:pPr algn="ctr"/>
            <a:r>
              <a:rPr lang="zh-CN" altLang="en-US" sz="1600" dirty="0">
                <a:solidFill>
                  <a:schemeClr val="tx1"/>
                </a:solidFill>
              </a:rPr>
              <a:t>提示信息</a:t>
            </a:r>
          </a:p>
        </p:txBody>
      </p:sp>
      <p:sp>
        <p:nvSpPr>
          <p:cNvPr id="15" name="矩形: 圆角 14">
            <a:extLst>
              <a:ext uri="{FF2B5EF4-FFF2-40B4-BE49-F238E27FC236}">
                <a16:creationId xmlns:a16="http://schemas.microsoft.com/office/drawing/2014/main" id="{44481657-02A2-9B11-5842-201B4BB67BDC}"/>
              </a:ext>
            </a:extLst>
          </p:cNvPr>
          <p:cNvSpPr/>
          <p:nvPr/>
        </p:nvSpPr>
        <p:spPr>
          <a:xfrm>
            <a:off x="8535459" y="3976503"/>
            <a:ext cx="108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对方</a:t>
            </a:r>
            <a:endParaRPr lang="en-US" altLang="zh-CN" sz="1600" dirty="0">
              <a:solidFill>
                <a:schemeClr val="tx1"/>
              </a:solidFill>
            </a:endParaRPr>
          </a:p>
          <a:p>
            <a:pPr algn="ctr"/>
            <a:r>
              <a:rPr lang="zh-CN" altLang="en-US" sz="1600" dirty="0">
                <a:solidFill>
                  <a:schemeClr val="tx1"/>
                </a:solidFill>
              </a:rPr>
              <a:t>未接听</a:t>
            </a:r>
          </a:p>
        </p:txBody>
      </p:sp>
      <p:cxnSp>
        <p:nvCxnSpPr>
          <p:cNvPr id="17" name="直接箭头连接符 16">
            <a:extLst>
              <a:ext uri="{FF2B5EF4-FFF2-40B4-BE49-F238E27FC236}">
                <a16:creationId xmlns:a16="http://schemas.microsoft.com/office/drawing/2014/main" id="{DBC010C7-A429-5B17-4DE3-4ACAF68ABA14}"/>
              </a:ext>
            </a:extLst>
          </p:cNvPr>
          <p:cNvCxnSpPr>
            <a:stCxn id="10" idx="3"/>
            <a:endCxn id="8" idx="1"/>
          </p:cNvCxnSpPr>
          <p:nvPr/>
        </p:nvCxnSpPr>
        <p:spPr>
          <a:xfrm>
            <a:off x="5084685" y="3439613"/>
            <a:ext cx="4671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19F983B-CADB-3969-9B35-C3976514214C}"/>
              </a:ext>
            </a:extLst>
          </p:cNvPr>
          <p:cNvCxnSpPr>
            <a:stCxn id="8" idx="3"/>
            <a:endCxn id="9" idx="1"/>
          </p:cNvCxnSpPr>
          <p:nvPr/>
        </p:nvCxnSpPr>
        <p:spPr>
          <a:xfrm>
            <a:off x="6415873" y="3439613"/>
            <a:ext cx="68179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43837CF-B80F-2675-5DA0-0AF143E019C8}"/>
              </a:ext>
            </a:extLst>
          </p:cNvPr>
          <p:cNvCxnSpPr>
            <a:stCxn id="9" idx="3"/>
            <a:endCxn id="11" idx="1"/>
          </p:cNvCxnSpPr>
          <p:nvPr/>
        </p:nvCxnSpPr>
        <p:spPr>
          <a:xfrm>
            <a:off x="7961666" y="3439613"/>
            <a:ext cx="68179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2E3BD825-1691-9BC5-752E-9C87AD52DB6C}"/>
              </a:ext>
            </a:extLst>
          </p:cNvPr>
          <p:cNvCxnSpPr>
            <a:stCxn id="11" idx="3"/>
            <a:endCxn id="12" idx="1"/>
          </p:cNvCxnSpPr>
          <p:nvPr/>
        </p:nvCxnSpPr>
        <p:spPr>
          <a:xfrm>
            <a:off x="9507459" y="3439613"/>
            <a:ext cx="35521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8153DD4-C4CD-B445-02D2-DBB04990071E}"/>
              </a:ext>
            </a:extLst>
          </p:cNvPr>
          <p:cNvCxnSpPr>
            <a:stCxn id="8" idx="2"/>
            <a:endCxn id="13" idx="0"/>
          </p:cNvCxnSpPr>
          <p:nvPr/>
        </p:nvCxnSpPr>
        <p:spPr>
          <a:xfrm>
            <a:off x="5983873" y="3619613"/>
            <a:ext cx="0" cy="35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3135BFFC-9791-D44F-27F0-EF24A190EBE4}"/>
              </a:ext>
            </a:extLst>
          </p:cNvPr>
          <p:cNvCxnSpPr>
            <a:stCxn id="9" idx="2"/>
            <a:endCxn id="14" idx="0"/>
          </p:cNvCxnSpPr>
          <p:nvPr/>
        </p:nvCxnSpPr>
        <p:spPr>
          <a:xfrm>
            <a:off x="7529666" y="3619613"/>
            <a:ext cx="0" cy="35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70DC42BC-14FE-5A0F-C39F-3D1AFCCEAF1E}"/>
              </a:ext>
            </a:extLst>
          </p:cNvPr>
          <p:cNvCxnSpPr>
            <a:stCxn id="11" idx="2"/>
            <a:endCxn id="15" idx="0"/>
          </p:cNvCxnSpPr>
          <p:nvPr/>
        </p:nvCxnSpPr>
        <p:spPr>
          <a:xfrm>
            <a:off x="9075459" y="3619613"/>
            <a:ext cx="0" cy="35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0545E058-69E9-7A67-8A4A-C378F5D1007A}"/>
              </a:ext>
            </a:extLst>
          </p:cNvPr>
          <p:cNvSpPr/>
          <p:nvPr/>
        </p:nvSpPr>
        <p:spPr>
          <a:xfrm>
            <a:off x="3464758" y="3295613"/>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箭头连接符 38">
            <a:extLst>
              <a:ext uri="{FF2B5EF4-FFF2-40B4-BE49-F238E27FC236}">
                <a16:creationId xmlns:a16="http://schemas.microsoft.com/office/drawing/2014/main" id="{0A49B5DB-743E-55BA-D1D1-D708BBC4C577}"/>
              </a:ext>
            </a:extLst>
          </p:cNvPr>
          <p:cNvCxnSpPr>
            <a:stCxn id="37" idx="6"/>
            <a:endCxn id="10" idx="1"/>
          </p:cNvCxnSpPr>
          <p:nvPr/>
        </p:nvCxnSpPr>
        <p:spPr>
          <a:xfrm>
            <a:off x="3752758" y="3439613"/>
            <a:ext cx="46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E6137D94-72E5-B918-5BFF-DE6EBE9DAFF6}"/>
              </a:ext>
            </a:extLst>
          </p:cNvPr>
          <p:cNvGrpSpPr/>
          <p:nvPr/>
        </p:nvGrpSpPr>
        <p:grpSpPr>
          <a:xfrm>
            <a:off x="7385666" y="5015558"/>
            <a:ext cx="288000" cy="288000"/>
            <a:chOff x="6291054" y="5114380"/>
            <a:chExt cx="288000" cy="288000"/>
          </a:xfrm>
        </p:grpSpPr>
        <p:sp>
          <p:nvSpPr>
            <p:cNvPr id="40" name="椭圆 39">
              <a:extLst>
                <a:ext uri="{FF2B5EF4-FFF2-40B4-BE49-F238E27FC236}">
                  <a16:creationId xmlns:a16="http://schemas.microsoft.com/office/drawing/2014/main" id="{97CD5452-1329-E938-8101-9403F15CF0AF}"/>
                </a:ext>
              </a:extLst>
            </p:cNvPr>
            <p:cNvSpPr/>
            <p:nvPr/>
          </p:nvSpPr>
          <p:spPr>
            <a:xfrm>
              <a:off x="6291054" y="5114380"/>
              <a:ext cx="288000" cy="28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15FB7132-A5AD-F866-055F-CB99D22D7307}"/>
                </a:ext>
              </a:extLst>
            </p:cNvPr>
            <p:cNvSpPr/>
            <p:nvPr/>
          </p:nvSpPr>
          <p:spPr>
            <a:xfrm>
              <a:off x="6363054" y="5186380"/>
              <a:ext cx="144000" cy="144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4" name="直接箭头连接符 43">
            <a:extLst>
              <a:ext uri="{FF2B5EF4-FFF2-40B4-BE49-F238E27FC236}">
                <a16:creationId xmlns:a16="http://schemas.microsoft.com/office/drawing/2014/main" id="{54C8E9CA-13A0-9105-F6A9-27901FF8EF67}"/>
              </a:ext>
            </a:extLst>
          </p:cNvPr>
          <p:cNvCxnSpPr>
            <a:cxnSpLocks/>
            <a:stCxn id="14" idx="2"/>
            <a:endCxn id="40" idx="0"/>
          </p:cNvCxnSpPr>
          <p:nvPr/>
        </p:nvCxnSpPr>
        <p:spPr>
          <a:xfrm>
            <a:off x="7529666" y="4480503"/>
            <a:ext cx="0" cy="5350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连接符: 肘形 45">
            <a:extLst>
              <a:ext uri="{FF2B5EF4-FFF2-40B4-BE49-F238E27FC236}">
                <a16:creationId xmlns:a16="http://schemas.microsoft.com/office/drawing/2014/main" id="{6AF56601-FCB6-5746-C189-516E258557D2}"/>
              </a:ext>
            </a:extLst>
          </p:cNvPr>
          <p:cNvCxnSpPr>
            <a:cxnSpLocks/>
            <a:stCxn id="12" idx="2"/>
            <a:endCxn id="40" idx="6"/>
          </p:cNvCxnSpPr>
          <p:nvPr/>
        </p:nvCxnSpPr>
        <p:spPr>
          <a:xfrm rot="5400000">
            <a:off x="8214200" y="3079080"/>
            <a:ext cx="1539945" cy="262101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AA7BB9E9-A0B4-3438-79D3-83F2F0B0EFEC}"/>
              </a:ext>
            </a:extLst>
          </p:cNvPr>
          <p:cNvCxnSpPr>
            <a:cxnSpLocks/>
            <a:stCxn id="13" idx="2"/>
            <a:endCxn id="40" idx="2"/>
          </p:cNvCxnSpPr>
          <p:nvPr/>
        </p:nvCxnSpPr>
        <p:spPr>
          <a:xfrm rot="16200000" flipH="1">
            <a:off x="6345242" y="4119133"/>
            <a:ext cx="679055" cy="140179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连接符: 肘形 49">
            <a:extLst>
              <a:ext uri="{FF2B5EF4-FFF2-40B4-BE49-F238E27FC236}">
                <a16:creationId xmlns:a16="http://schemas.microsoft.com/office/drawing/2014/main" id="{38A45328-176D-459C-8D21-2560E7C955FB}"/>
              </a:ext>
            </a:extLst>
          </p:cNvPr>
          <p:cNvCxnSpPr>
            <a:cxnSpLocks/>
            <a:stCxn id="15" idx="2"/>
            <a:endCxn id="40" idx="6"/>
          </p:cNvCxnSpPr>
          <p:nvPr/>
        </p:nvCxnSpPr>
        <p:spPr>
          <a:xfrm rot="5400000">
            <a:off x="8035036" y="4119134"/>
            <a:ext cx="679055" cy="140179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4A23A48C-F694-2BC8-BEA2-D6D813B82549}"/>
              </a:ext>
            </a:extLst>
          </p:cNvPr>
          <p:cNvSpPr txBox="1"/>
          <p:nvPr/>
        </p:nvSpPr>
        <p:spPr>
          <a:xfrm>
            <a:off x="6382307" y="2930846"/>
            <a:ext cx="748923" cy="276999"/>
          </a:xfrm>
          <a:prstGeom prst="rect">
            <a:avLst/>
          </a:prstGeom>
          <a:noFill/>
        </p:spPr>
        <p:txBody>
          <a:bodyPr wrap="none" rtlCol="0">
            <a:spAutoFit/>
          </a:bodyPr>
          <a:lstStyle/>
          <a:p>
            <a:pPr algn="ctr"/>
            <a:r>
              <a:rPr lang="en-US" altLang="zh-CN" sz="1200" dirty="0"/>
              <a:t>[</a:t>
            </a:r>
            <a:r>
              <a:rPr lang="zh-CN" altLang="en-US" sz="1200" dirty="0"/>
              <a:t>号码对</a:t>
            </a:r>
            <a:r>
              <a:rPr lang="en-US" altLang="zh-CN" sz="1200" dirty="0"/>
              <a:t>]</a:t>
            </a:r>
            <a:endParaRPr lang="zh-CN" altLang="en-US" sz="1200" dirty="0"/>
          </a:p>
        </p:txBody>
      </p:sp>
      <p:sp>
        <p:nvSpPr>
          <p:cNvPr id="52" name="文本框 51">
            <a:extLst>
              <a:ext uri="{FF2B5EF4-FFF2-40B4-BE49-F238E27FC236}">
                <a16:creationId xmlns:a16="http://schemas.microsoft.com/office/drawing/2014/main" id="{BB180B7C-13F6-C6CA-C618-6A1241E7F935}"/>
              </a:ext>
            </a:extLst>
          </p:cNvPr>
          <p:cNvSpPr txBox="1"/>
          <p:nvPr/>
        </p:nvSpPr>
        <p:spPr>
          <a:xfrm>
            <a:off x="2979446" y="2886300"/>
            <a:ext cx="1005403" cy="338554"/>
          </a:xfrm>
          <a:prstGeom prst="rect">
            <a:avLst/>
          </a:prstGeom>
          <a:noFill/>
        </p:spPr>
        <p:txBody>
          <a:bodyPr wrap="none" rtlCol="0">
            <a:spAutoFit/>
          </a:bodyPr>
          <a:lstStyle/>
          <a:p>
            <a:pPr algn="ctr"/>
            <a:r>
              <a:rPr lang="zh-CN" altLang="en-US" sz="1600" dirty="0">
                <a:latin typeface="+mj-ea"/>
                <a:ea typeface="+mj-ea"/>
              </a:rPr>
              <a:t>活动状态</a:t>
            </a:r>
          </a:p>
        </p:txBody>
      </p:sp>
      <p:cxnSp>
        <p:nvCxnSpPr>
          <p:cNvPr id="54" name="连接符: 肘形 53">
            <a:extLst>
              <a:ext uri="{FF2B5EF4-FFF2-40B4-BE49-F238E27FC236}">
                <a16:creationId xmlns:a16="http://schemas.microsoft.com/office/drawing/2014/main" id="{9D46E6A2-74E4-7B1C-053D-BA416B973FF7}"/>
              </a:ext>
            </a:extLst>
          </p:cNvPr>
          <p:cNvCxnSpPr>
            <a:stCxn id="7" idx="0"/>
            <a:endCxn id="52" idx="1"/>
          </p:cNvCxnSpPr>
          <p:nvPr/>
        </p:nvCxnSpPr>
        <p:spPr>
          <a:xfrm rot="5400000" flipH="1" flipV="1">
            <a:off x="1985579" y="2909944"/>
            <a:ext cx="848234" cy="11395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95943E27-AF3E-9DEA-372B-11FA8E4662E2}"/>
              </a:ext>
            </a:extLst>
          </p:cNvPr>
          <p:cNvSpPr txBox="1"/>
          <p:nvPr/>
        </p:nvSpPr>
        <p:spPr>
          <a:xfrm>
            <a:off x="2148797" y="2770158"/>
            <a:ext cx="595035" cy="276999"/>
          </a:xfrm>
          <a:prstGeom prst="rect">
            <a:avLst/>
          </a:prstGeom>
          <a:noFill/>
        </p:spPr>
        <p:txBody>
          <a:bodyPr wrap="none" rtlCol="0">
            <a:spAutoFit/>
          </a:bodyPr>
          <a:lstStyle/>
          <a:p>
            <a:pPr algn="ctr"/>
            <a:r>
              <a:rPr lang="en-US" altLang="zh-CN" sz="1200" dirty="0"/>
              <a:t>[</a:t>
            </a:r>
            <a:r>
              <a:rPr lang="zh-CN" altLang="en-US" sz="1200" dirty="0"/>
              <a:t>摘机</a:t>
            </a:r>
            <a:r>
              <a:rPr lang="en-US" altLang="zh-CN" sz="1200" dirty="0"/>
              <a:t>]</a:t>
            </a:r>
            <a:endParaRPr lang="zh-CN" altLang="en-US" sz="1200" dirty="0"/>
          </a:p>
        </p:txBody>
      </p:sp>
      <p:cxnSp>
        <p:nvCxnSpPr>
          <p:cNvPr id="58" name="连接符: 肘形 57">
            <a:extLst>
              <a:ext uri="{FF2B5EF4-FFF2-40B4-BE49-F238E27FC236}">
                <a16:creationId xmlns:a16="http://schemas.microsoft.com/office/drawing/2014/main" id="{EB3644F8-50AF-CD48-5837-886EE8983EB8}"/>
              </a:ext>
            </a:extLst>
          </p:cNvPr>
          <p:cNvCxnSpPr>
            <a:cxnSpLocks/>
            <a:endCxn id="7" idx="2"/>
          </p:cNvCxnSpPr>
          <p:nvPr/>
        </p:nvCxnSpPr>
        <p:spPr>
          <a:xfrm rot="10800000">
            <a:off x="1839946" y="4263811"/>
            <a:ext cx="1116000" cy="111565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8B436840-F1B0-5A91-B7D1-902D85B84867}"/>
              </a:ext>
            </a:extLst>
          </p:cNvPr>
          <p:cNvSpPr txBox="1"/>
          <p:nvPr/>
        </p:nvSpPr>
        <p:spPr>
          <a:xfrm>
            <a:off x="2148797" y="5106081"/>
            <a:ext cx="595035" cy="276999"/>
          </a:xfrm>
          <a:prstGeom prst="rect">
            <a:avLst/>
          </a:prstGeom>
          <a:noFill/>
        </p:spPr>
        <p:txBody>
          <a:bodyPr wrap="none" rtlCol="0">
            <a:spAutoFit/>
          </a:bodyPr>
          <a:lstStyle/>
          <a:p>
            <a:pPr algn="ctr"/>
            <a:r>
              <a:rPr lang="en-US" altLang="zh-CN" sz="1200" dirty="0"/>
              <a:t>[</a:t>
            </a:r>
            <a:r>
              <a:rPr lang="zh-CN" altLang="en-US" sz="1200" dirty="0"/>
              <a:t>挂机</a:t>
            </a:r>
            <a:r>
              <a:rPr lang="en-US" altLang="zh-CN" sz="1200" dirty="0"/>
              <a:t>]</a:t>
            </a:r>
            <a:endParaRPr lang="zh-CN" altLang="en-US" sz="1200" dirty="0"/>
          </a:p>
        </p:txBody>
      </p:sp>
      <p:sp>
        <p:nvSpPr>
          <p:cNvPr id="62" name="矩形 61">
            <a:extLst>
              <a:ext uri="{FF2B5EF4-FFF2-40B4-BE49-F238E27FC236}">
                <a16:creationId xmlns:a16="http://schemas.microsoft.com/office/drawing/2014/main" id="{8697168C-6B7E-441C-69CD-800A75C013E7}"/>
              </a:ext>
            </a:extLst>
          </p:cNvPr>
          <p:cNvSpPr/>
          <p:nvPr/>
        </p:nvSpPr>
        <p:spPr>
          <a:xfrm>
            <a:off x="2955946" y="2770158"/>
            <a:ext cx="7923548" cy="28935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diamon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14" name="文本占位符 13">
            <a:extLst>
              <a:ext uri="{FF2B5EF4-FFF2-40B4-BE49-F238E27FC236}">
                <a16:creationId xmlns:a16="http://schemas.microsoft.com/office/drawing/2014/main" id="{E2173B6B-DE91-AAA1-70D0-736C471F8BDB}"/>
              </a:ext>
            </a:extLst>
          </p:cNvPr>
          <p:cNvSpPr>
            <a:spLocks noGrp="1"/>
          </p:cNvSpPr>
          <p:nvPr>
            <p:ph type="body" sz="quarter" idx="10"/>
          </p:nvPr>
        </p:nvSpPr>
        <p:spPr>
          <a:xfrm>
            <a:off x="900001" y="1322832"/>
            <a:ext cx="5196000" cy="400110"/>
          </a:xfrm>
        </p:spPr>
        <p:txBody>
          <a:bodyPr/>
          <a:lstStyle/>
          <a:p>
            <a:r>
              <a:rPr lang="en-US" altLang="zh-CN" dirty="0"/>
              <a:t>6.3.5 </a:t>
            </a:r>
            <a:r>
              <a:rPr lang="zh-CN" altLang="en-US" dirty="0"/>
              <a:t>顺序图 Sequence Diagram</a:t>
            </a:r>
          </a:p>
        </p:txBody>
      </p:sp>
      <p:sp>
        <p:nvSpPr>
          <p:cNvPr id="4" name="MH_Other_1"/>
          <p:cNvSpPr/>
          <p:nvPr>
            <p:custDataLst>
              <p:tags r:id="rId1"/>
            </p:custDataLst>
          </p:nvPr>
        </p:nvSpPr>
        <p:spPr>
          <a:xfrm rot="21439215">
            <a:off x="2923074" y="4685628"/>
            <a:ext cx="1547378" cy="1241231"/>
          </a:xfrm>
          <a:prstGeom prst="roundRect">
            <a:avLst>
              <a:gd name="adj" fmla="val 18567"/>
            </a:avLst>
          </a:pr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6000" dirty="0">
                <a:solidFill>
                  <a:srgbClr val="FFFFFF"/>
                </a:solidFill>
                <a:latin typeface="微软雅黑" panose="020B0503020204020204" pitchFamily="34" charset="-122"/>
                <a:ea typeface="微软雅黑" panose="020B0503020204020204" pitchFamily="34" charset="-122"/>
              </a:rPr>
              <a:t>02</a:t>
            </a: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6" name="MH_Other_2"/>
          <p:cNvCxnSpPr>
            <a:stCxn id="4" idx="3"/>
          </p:cNvCxnSpPr>
          <p:nvPr>
            <p:custDataLst>
              <p:tags r:id="rId2"/>
            </p:custDataLst>
          </p:nvPr>
        </p:nvCxnSpPr>
        <p:spPr>
          <a:xfrm flipV="1">
            <a:off x="4470453" y="5273662"/>
            <a:ext cx="1348689" cy="4767"/>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7" name="MH_Other_3"/>
          <p:cNvSpPr/>
          <p:nvPr>
            <p:custDataLst>
              <p:tags r:id="rId3"/>
            </p:custDataLst>
          </p:nvPr>
        </p:nvSpPr>
        <p:spPr>
          <a:xfrm rot="183635">
            <a:off x="2535727" y="3423735"/>
            <a:ext cx="1549387" cy="1241231"/>
          </a:xfrm>
          <a:prstGeom prst="roundRect">
            <a:avLst>
              <a:gd name="adj" fmla="val 18567"/>
            </a:avLst>
          </a:prstGeom>
          <a:solidFill>
            <a:srgbClr val="F06C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6000" dirty="0">
                <a:solidFill>
                  <a:srgbClr val="FFFFFF"/>
                </a:solidFill>
                <a:latin typeface="微软雅黑" panose="020B0503020204020204" pitchFamily="34" charset="-122"/>
                <a:ea typeface="微软雅黑" panose="020B0503020204020204" pitchFamily="34" charset="-122"/>
              </a:rPr>
              <a:t>01</a:t>
            </a: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8" name="MH_Other_4"/>
          <p:cNvCxnSpPr/>
          <p:nvPr>
            <p:custDataLst>
              <p:tags r:id="rId4"/>
            </p:custDataLst>
          </p:nvPr>
        </p:nvCxnSpPr>
        <p:spPr>
          <a:xfrm>
            <a:off x="4099163" y="3951377"/>
            <a:ext cx="1691881"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5"/>
            </p:custDataLst>
          </p:nvPr>
        </p:nvSpPr>
        <p:spPr>
          <a:xfrm>
            <a:off x="1518191" y="3976805"/>
            <a:ext cx="1220242" cy="1988196"/>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MH_Text_2"/>
          <p:cNvSpPr txBox="1"/>
          <p:nvPr>
            <p:custDataLst>
              <p:tags r:id="rId6"/>
            </p:custDataLst>
          </p:nvPr>
        </p:nvSpPr>
        <p:spPr>
          <a:xfrm>
            <a:off x="5859686" y="3547560"/>
            <a:ext cx="4700270" cy="1081121"/>
          </a:xfrm>
          <a:prstGeom prst="rect">
            <a:avLst/>
          </a:prstGeom>
          <a:noFill/>
        </p:spPr>
        <p:txBody>
          <a:bodyPr lIns="72000" tIns="36000" rIns="72000" bIns="36000">
            <a:spAutoFit/>
          </a:bodyPr>
          <a:lstStyle>
            <a:defPPr>
              <a:defRPr lang="zh-CN"/>
            </a:defPPr>
            <a:lvl1pPr>
              <a:lnSpc>
                <a:spcPct val="130000"/>
              </a:lnSpc>
              <a:defRPr sz="1200"/>
            </a:lvl1pPr>
          </a:lstStyle>
          <a:p>
            <a:pPr>
              <a:lnSpc>
                <a:spcPct val="125000"/>
              </a:lnSpc>
            </a:pPr>
            <a:r>
              <a:rPr lang="zh-CN" altLang="en-US" sz="1800" dirty="0"/>
              <a:t>从上到下：从表示对象的矩形框开始，从上到下代表时间的先后顺序，并表示某段时间内该对象是存在的。</a:t>
            </a:r>
          </a:p>
        </p:txBody>
      </p:sp>
      <p:sp>
        <p:nvSpPr>
          <p:cNvPr id="11" name="MH_Text_1"/>
          <p:cNvSpPr txBox="1"/>
          <p:nvPr>
            <p:custDataLst>
              <p:tags r:id="rId7"/>
            </p:custDataLst>
          </p:nvPr>
        </p:nvSpPr>
        <p:spPr>
          <a:xfrm>
            <a:off x="5859686" y="4949005"/>
            <a:ext cx="4653280" cy="734872"/>
          </a:xfrm>
          <a:prstGeom prst="rect">
            <a:avLst/>
          </a:prstGeom>
          <a:noFill/>
        </p:spPr>
        <p:txBody>
          <a:bodyPr lIns="72000" tIns="36000" rIns="72000" bIns="36000">
            <a:spAutoFit/>
          </a:bodyPr>
          <a:lstStyle>
            <a:defPPr>
              <a:defRPr lang="zh-CN"/>
            </a:defPPr>
            <a:lvl1pPr>
              <a:lnSpc>
                <a:spcPct val="130000"/>
              </a:lnSpc>
              <a:defRPr sz="1200"/>
            </a:lvl1pPr>
          </a:lstStyle>
          <a:p>
            <a:pPr>
              <a:lnSpc>
                <a:spcPct val="125000"/>
              </a:lnSpc>
            </a:pPr>
            <a:r>
              <a:rPr lang="zh-CN" altLang="en-US" sz="1800" dirty="0"/>
              <a:t>水平方向：横向水平线的箭头指示了不同对象之间传递消息的方向。</a:t>
            </a:r>
          </a:p>
        </p:txBody>
      </p:sp>
      <p:sp>
        <p:nvSpPr>
          <p:cNvPr id="12" name="文本框 11"/>
          <p:cNvSpPr txBox="1"/>
          <p:nvPr/>
        </p:nvSpPr>
        <p:spPr>
          <a:xfrm>
            <a:off x="1386205" y="2063750"/>
            <a:ext cx="9738995" cy="730265"/>
          </a:xfrm>
          <a:prstGeom prst="rect">
            <a:avLst/>
          </a:prstGeom>
          <a:noFill/>
        </p:spPr>
        <p:txBody>
          <a:bodyPr wrap="square" rtlCol="0" anchor="t">
            <a:spAutoFit/>
          </a:bodyPr>
          <a:lstStyle/>
          <a:p>
            <a:pPr fontAlgn="auto">
              <a:lnSpc>
                <a:spcPct val="120000"/>
              </a:lnSpc>
            </a:pPr>
            <a:r>
              <a:rPr lang="zh-CN" altLang="en-US" dirty="0"/>
              <a:t>描述对象之间动态交互的情况，着重表示对象间消息传递的时间顺序。</a:t>
            </a:r>
            <a:endParaRPr lang="en-US" altLang="zh-CN" dirty="0"/>
          </a:p>
          <a:p>
            <a:pPr fontAlgn="auto">
              <a:lnSpc>
                <a:spcPct val="120000"/>
              </a:lnSpc>
            </a:pPr>
            <a:r>
              <a:rPr lang="zh-CN" altLang="en-US" dirty="0"/>
              <a:t>顺序图中的对象用矩形框表示，框内标有对象名。通常省略对象名</a:t>
            </a:r>
            <a:r>
              <a:rPr lang="en-US" altLang="zh-CN" dirty="0"/>
              <a:t>/</a:t>
            </a:r>
            <a:r>
              <a:rPr lang="zh-CN" altLang="en-US" dirty="0"/>
              <a:t>匿名对象</a:t>
            </a:r>
            <a:endParaRPr lang="en-US" altLang="zh-CN" dirty="0"/>
          </a:p>
        </p:txBody>
      </p:sp>
      <p:sp>
        <p:nvSpPr>
          <p:cNvPr id="18" name="矩形 17">
            <a:extLst>
              <a:ext uri="{FF2B5EF4-FFF2-40B4-BE49-F238E27FC236}">
                <a16:creationId xmlns:a16="http://schemas.microsoft.com/office/drawing/2014/main" id="{ADDF764B-55FC-D087-66C4-DD7CA6ED9CDD}"/>
              </a:ext>
            </a:extLst>
          </p:cNvPr>
          <p:cNvSpPr/>
          <p:nvPr/>
        </p:nvSpPr>
        <p:spPr>
          <a:xfrm>
            <a:off x="9199984" y="1343802"/>
            <a:ext cx="2267339" cy="51318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对象名 </a:t>
            </a:r>
            <a:r>
              <a:rPr lang="en-US" altLang="zh-CN" sz="1400" dirty="0">
                <a:solidFill>
                  <a:schemeClr val="tx1"/>
                </a:solidFill>
              </a:rPr>
              <a:t>: </a:t>
            </a:r>
            <a:r>
              <a:rPr lang="zh-CN" altLang="en-US" sz="1400" dirty="0">
                <a:solidFill>
                  <a:schemeClr val="tx1"/>
                </a:solidFill>
              </a:rPr>
              <a:t>类名</a:t>
            </a:r>
            <a:r>
              <a:rPr lang="en-US" altLang="zh-CN" sz="1400" dirty="0">
                <a:solidFill>
                  <a:schemeClr val="tx1"/>
                </a:solidFill>
              </a:rPr>
              <a:t>/</a:t>
            </a:r>
            <a:r>
              <a:rPr lang="zh-CN" altLang="en-US" sz="1400" dirty="0">
                <a:solidFill>
                  <a:schemeClr val="tx1"/>
                </a:solidFill>
              </a:rPr>
              <a:t>角色名</a:t>
            </a:r>
          </a:p>
        </p:txBody>
      </p:sp>
    </p:spTree>
  </p:cSld>
  <p:clrMapOvr>
    <a:masterClrMapping/>
  </p:clrMapOvr>
  <p:transition>
    <p:diamon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t>6.3 </a:t>
            </a:r>
            <a:r>
              <a:rPr lang="zh-CN" altLang="en-US">
                <a:sym typeface="+mn-ea"/>
              </a:rPr>
              <a:t>UML图</a:t>
            </a:r>
            <a:endParaRPr lang="zh-CN" altLang="en-US" dirty="0"/>
          </a:p>
        </p:txBody>
      </p:sp>
      <p:sp>
        <p:nvSpPr>
          <p:cNvPr id="4" name="文本占位符 3">
            <a:extLst>
              <a:ext uri="{FF2B5EF4-FFF2-40B4-BE49-F238E27FC236}">
                <a16:creationId xmlns:a16="http://schemas.microsoft.com/office/drawing/2014/main" id="{6F4056B8-C75E-2710-E62B-BB67068E4523}"/>
              </a:ext>
            </a:extLst>
          </p:cNvPr>
          <p:cNvSpPr>
            <a:spLocks noGrp="1"/>
          </p:cNvSpPr>
          <p:nvPr>
            <p:ph type="body" sz="quarter" idx="10"/>
          </p:nvPr>
        </p:nvSpPr>
        <p:spPr>
          <a:xfrm>
            <a:off x="900001" y="1322832"/>
            <a:ext cx="5196000" cy="400110"/>
          </a:xfrm>
        </p:spPr>
        <p:txBody>
          <a:bodyPr/>
          <a:lstStyle/>
          <a:p>
            <a:r>
              <a:rPr lang="en-US" altLang="zh-CN" dirty="0"/>
              <a:t>6.3.5 </a:t>
            </a:r>
            <a:r>
              <a:rPr lang="zh-CN" altLang="en-US" dirty="0"/>
              <a:t>顺序图</a:t>
            </a:r>
          </a:p>
        </p:txBody>
      </p:sp>
      <p:pic>
        <p:nvPicPr>
          <p:cNvPr id="13" name="图片 12" descr="A000220150322E36PPIC"/>
          <p:cNvPicPr>
            <a:picLocks noChangeAspect="1"/>
          </p:cNvPicPr>
          <p:nvPr/>
        </p:nvPicPr>
        <p:blipFill>
          <a:blip r:embed="rId2" cstate="print"/>
          <a:stretch>
            <a:fillRect/>
          </a:stretch>
        </p:blipFill>
        <p:spPr>
          <a:xfrm>
            <a:off x="7053503" y="1990121"/>
            <a:ext cx="4867910" cy="3169285"/>
          </a:xfrm>
          <a:prstGeom prst="rect">
            <a:avLst/>
          </a:prstGeom>
        </p:spPr>
      </p:pic>
      <p:sp>
        <p:nvSpPr>
          <p:cNvPr id="8" name="文本框 7">
            <a:extLst>
              <a:ext uri="{FF2B5EF4-FFF2-40B4-BE49-F238E27FC236}">
                <a16:creationId xmlns:a16="http://schemas.microsoft.com/office/drawing/2014/main" id="{0057FC5E-C087-E3A4-D572-43E72EE4DE75}"/>
              </a:ext>
            </a:extLst>
          </p:cNvPr>
          <p:cNvSpPr txBox="1"/>
          <p:nvPr/>
        </p:nvSpPr>
        <p:spPr>
          <a:xfrm>
            <a:off x="695326" y="2505670"/>
            <a:ext cx="6134682" cy="3323987"/>
          </a:xfrm>
          <a:prstGeom prst="rect">
            <a:avLst/>
          </a:prstGeom>
          <a:noFill/>
        </p:spPr>
        <p:txBody>
          <a:bodyPr wrap="square" rtlCol="0">
            <a:spAutoFit/>
          </a:bodyPr>
          <a:lstStyle/>
          <a:p>
            <a:pPr indent="457200">
              <a:spcAft>
                <a:spcPts val="600"/>
              </a:spcAft>
            </a:pPr>
            <a:r>
              <a:rPr lang="zh-CN" altLang="en-US" dirty="0"/>
              <a:t>如果对象接收到消息后立即执行某个活动，称对象被激活了，激活用细长的矩形框表示，写在该对象的下方。</a:t>
            </a:r>
            <a:endParaRPr lang="en-US" altLang="zh-CN" dirty="0"/>
          </a:p>
          <a:p>
            <a:pPr indent="457200">
              <a:spcAft>
                <a:spcPts val="600"/>
              </a:spcAft>
            </a:pPr>
            <a:r>
              <a:rPr lang="zh-CN" altLang="en-US" dirty="0"/>
              <a:t>消息可以带有条件表达式，用来表示分支或决定是否发送。带有分支的消息，某一时刻只发送分支中的一个消息。</a:t>
            </a:r>
          </a:p>
          <a:p>
            <a:pPr indent="457200">
              <a:spcAft>
                <a:spcPts val="600"/>
              </a:spcAft>
            </a:pPr>
            <a:r>
              <a:rPr lang="zh-CN" altLang="en-US" dirty="0"/>
              <a:t>浏览顺序图的方法是，从上到下按时间的顺序查看对象之间交互的消息。</a:t>
            </a:r>
            <a:endParaRPr lang="en-US" altLang="zh-CN" dirty="0"/>
          </a:p>
          <a:p>
            <a:pPr indent="457200">
              <a:spcAft>
                <a:spcPts val="600"/>
              </a:spcAft>
            </a:pPr>
            <a:r>
              <a:rPr lang="zh-CN" altLang="en-US" dirty="0"/>
              <a:t>角色 </a:t>
            </a:r>
            <a:r>
              <a:rPr lang="en-US" altLang="zh-CN" dirty="0"/>
              <a:t>Actor</a:t>
            </a:r>
            <a:r>
              <a:rPr lang="zh-CN" altLang="en-US" dirty="0"/>
              <a:t>：系统外部</a:t>
            </a:r>
            <a:endParaRPr lang="en-US" altLang="zh-CN" dirty="0"/>
          </a:p>
          <a:p>
            <a:pPr indent="457200">
              <a:spcAft>
                <a:spcPts val="600"/>
              </a:spcAft>
            </a:pPr>
            <a:r>
              <a:rPr lang="zh-CN" altLang="en-US" dirty="0"/>
              <a:t>对象 </a:t>
            </a:r>
            <a:r>
              <a:rPr lang="en-US" altLang="zh-CN" dirty="0"/>
              <a:t>Object</a:t>
            </a:r>
            <a:r>
              <a:rPr lang="zh-CN" altLang="en-US" dirty="0"/>
              <a:t>：系统内部</a:t>
            </a:r>
            <a:endParaRPr lang="en-US" altLang="zh-CN" dirty="0"/>
          </a:p>
          <a:p>
            <a:pPr indent="457200">
              <a:spcAft>
                <a:spcPts val="600"/>
              </a:spcAft>
            </a:pPr>
            <a:r>
              <a:rPr lang="zh-CN" altLang="en-US" dirty="0"/>
              <a:t>生命线 </a:t>
            </a:r>
            <a:r>
              <a:rPr lang="en-US" altLang="zh-CN" dirty="0"/>
              <a:t>Lifeline</a:t>
            </a:r>
          </a:p>
          <a:p>
            <a:pPr indent="457200">
              <a:spcAft>
                <a:spcPts val="600"/>
              </a:spcAft>
            </a:pPr>
            <a:r>
              <a:rPr lang="zh-CN" altLang="en-US" dirty="0"/>
              <a:t>控制焦点 </a:t>
            </a:r>
            <a:r>
              <a:rPr lang="en-US" altLang="zh-CN" dirty="0"/>
              <a:t>Focus of Control</a:t>
            </a:r>
            <a:endParaRPr lang="zh-CN" altLang="en-US" dirty="0"/>
          </a:p>
        </p:txBody>
      </p:sp>
    </p:spTree>
  </p:cSld>
  <p:clrMapOvr>
    <a:masterClrMapping/>
  </p:clrMapOvr>
  <p:transition>
    <p:diamon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0BCD64E8-1F2D-518F-47DD-C8E57EBDC4F6}"/>
              </a:ext>
            </a:extLst>
          </p:cNvPr>
          <p:cNvCxnSpPr>
            <a:cxnSpLocks/>
          </p:cNvCxnSpPr>
          <p:nvPr/>
        </p:nvCxnSpPr>
        <p:spPr>
          <a:xfrm>
            <a:off x="7519894" y="1811540"/>
            <a:ext cx="0" cy="4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B4FE4CB1-208F-AA70-46CA-817DD0D9CE82}"/>
              </a:ext>
            </a:extLst>
          </p:cNvPr>
          <p:cNvCxnSpPr>
            <a:cxnSpLocks/>
          </p:cNvCxnSpPr>
          <p:nvPr/>
        </p:nvCxnSpPr>
        <p:spPr>
          <a:xfrm>
            <a:off x="9258595" y="1811540"/>
            <a:ext cx="0" cy="4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BB414501-7DFC-760E-C607-229A2196BA27}"/>
              </a:ext>
            </a:extLst>
          </p:cNvPr>
          <p:cNvCxnSpPr>
            <a:cxnSpLocks/>
          </p:cNvCxnSpPr>
          <p:nvPr/>
        </p:nvCxnSpPr>
        <p:spPr>
          <a:xfrm>
            <a:off x="10997296" y="1811540"/>
            <a:ext cx="0" cy="43200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D19D3885-69A2-7800-39AC-9C2C83217366}"/>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6-3 </a:t>
            </a:r>
            <a:r>
              <a:rPr lang="zh-CN" altLang="en-US" dirty="0"/>
              <a:t>用顺序图描述打电话的操作过程。</a:t>
            </a:r>
            <a:r>
              <a:rPr lang="en-US" altLang="zh-CN" dirty="0"/>
              <a:t> </a:t>
            </a:r>
            <a:endParaRPr lang="zh-CN" altLang="en-US" dirty="0"/>
          </a:p>
        </p:txBody>
      </p:sp>
      <p:sp>
        <p:nvSpPr>
          <p:cNvPr id="44" name="矩形 43"/>
          <p:cNvSpPr>
            <a:spLocks noChangeAspect="1"/>
          </p:cNvSpPr>
          <p:nvPr/>
        </p:nvSpPr>
        <p:spPr>
          <a:xfrm>
            <a:off x="695325" y="2797790"/>
            <a:ext cx="5369560" cy="333375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r>
              <a:rPr lang="zh-CN" altLang="en-US" dirty="0"/>
              <a:t> 打电话时，主叫方拿起听筒，信息就发给交换机；交换机接到信息后，发信息给主叫方，电话发出拨号音；主叫方拨电话号码；交换机发响铃信息给通话双方；若被叫</a:t>
            </a:r>
            <a:r>
              <a:rPr lang="zh-CN" altLang="en-US"/>
              <a:t>方在</a:t>
            </a:r>
            <a:r>
              <a:rPr lang="en-US" altLang="zh-CN" dirty="0"/>
              <a:t>30</a:t>
            </a:r>
            <a:r>
              <a:rPr lang="zh-CN" altLang="en-US" dirty="0"/>
              <a:t>秒内接听电话，双方就可通话；通话结束，停止铃音。若被叫</a:t>
            </a:r>
            <a:r>
              <a:rPr lang="zh-CN" altLang="en-US"/>
              <a:t>方在</a:t>
            </a:r>
            <a:r>
              <a:rPr lang="en-US" altLang="zh-CN" dirty="0"/>
              <a:t>30</a:t>
            </a:r>
            <a:r>
              <a:rPr lang="zh-CN" altLang="en-US" dirty="0"/>
              <a:t>秒内没有接听电话，则停止铃音，不能通话。</a:t>
            </a:r>
          </a:p>
          <a:p>
            <a:r>
              <a:rPr lang="zh-CN" altLang="en-US"/>
              <a:t>图</a:t>
            </a:r>
            <a:r>
              <a:rPr lang="en-US" altLang="zh-CN" dirty="0"/>
              <a:t>6-17</a:t>
            </a:r>
            <a:r>
              <a:rPr lang="zh-CN" altLang="en-US" dirty="0"/>
              <a:t>是一个描述打电话操作过程的顺序图。这里，对于被叫方没有接听电话而不能通话，这样的情况反映不出来。此时，可以用活动图描述。</a:t>
            </a:r>
          </a:p>
        </p:txBody>
      </p:sp>
      <p:sp>
        <p:nvSpPr>
          <p:cNvPr id="10" name="矩形 9">
            <a:extLst>
              <a:ext uri="{FF2B5EF4-FFF2-40B4-BE49-F238E27FC236}">
                <a16:creationId xmlns:a16="http://schemas.microsoft.com/office/drawing/2014/main" id="{62ABF413-82F1-F20F-46C8-C76B90A45658}"/>
              </a:ext>
            </a:extLst>
          </p:cNvPr>
          <p:cNvSpPr/>
          <p:nvPr/>
        </p:nvSpPr>
        <p:spPr>
          <a:xfrm>
            <a:off x="6979894" y="1331741"/>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a:t>
            </a:r>
            <a:r>
              <a:rPr lang="zh-CN" altLang="en-US" sz="1400" dirty="0">
                <a:solidFill>
                  <a:schemeClr val="tx1"/>
                </a:solidFill>
              </a:rPr>
              <a:t>主叫方</a:t>
            </a:r>
          </a:p>
        </p:txBody>
      </p:sp>
      <p:sp>
        <p:nvSpPr>
          <p:cNvPr id="11" name="矩形 10">
            <a:extLst>
              <a:ext uri="{FF2B5EF4-FFF2-40B4-BE49-F238E27FC236}">
                <a16:creationId xmlns:a16="http://schemas.microsoft.com/office/drawing/2014/main" id="{DB5C784A-DE4A-DD76-27C8-CA43F9D30C4D}"/>
              </a:ext>
            </a:extLst>
          </p:cNvPr>
          <p:cNvSpPr/>
          <p:nvPr/>
        </p:nvSpPr>
        <p:spPr>
          <a:xfrm>
            <a:off x="8718595" y="136243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a:t>
            </a:r>
            <a:r>
              <a:rPr lang="zh-CN" altLang="en-US" sz="1400" dirty="0">
                <a:solidFill>
                  <a:schemeClr val="tx1"/>
                </a:solidFill>
              </a:rPr>
              <a:t>交换机</a:t>
            </a:r>
          </a:p>
        </p:txBody>
      </p:sp>
      <p:sp>
        <p:nvSpPr>
          <p:cNvPr id="12" name="矩形 11">
            <a:extLst>
              <a:ext uri="{FF2B5EF4-FFF2-40B4-BE49-F238E27FC236}">
                <a16:creationId xmlns:a16="http://schemas.microsoft.com/office/drawing/2014/main" id="{E4D82AB0-1341-E1FC-DBDB-E660C847721B}"/>
              </a:ext>
            </a:extLst>
          </p:cNvPr>
          <p:cNvSpPr/>
          <p:nvPr/>
        </p:nvSpPr>
        <p:spPr>
          <a:xfrm>
            <a:off x="10457296" y="136243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a:t>
            </a:r>
            <a:r>
              <a:rPr lang="zh-CN" altLang="en-US" sz="1400" dirty="0">
                <a:solidFill>
                  <a:schemeClr val="tx1"/>
                </a:solidFill>
              </a:rPr>
              <a:t>被叫方</a:t>
            </a:r>
          </a:p>
        </p:txBody>
      </p:sp>
      <p:sp>
        <p:nvSpPr>
          <p:cNvPr id="13" name="矩形 12">
            <a:extLst>
              <a:ext uri="{FF2B5EF4-FFF2-40B4-BE49-F238E27FC236}">
                <a16:creationId xmlns:a16="http://schemas.microsoft.com/office/drawing/2014/main" id="{B9DFF148-F5EF-B1A5-975A-A13C2D4B142B}"/>
              </a:ext>
            </a:extLst>
          </p:cNvPr>
          <p:cNvSpPr/>
          <p:nvPr/>
        </p:nvSpPr>
        <p:spPr>
          <a:xfrm>
            <a:off x="7483894" y="1987420"/>
            <a:ext cx="72000" cy="3600000"/>
          </a:xfrm>
          <a:prstGeom prst="rect">
            <a:avLst/>
          </a:prstGeom>
          <a:solidFill>
            <a:srgbClr val="78CF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92F503EE-A117-21A0-BA60-75DF246838C5}"/>
              </a:ext>
            </a:extLst>
          </p:cNvPr>
          <p:cNvSpPr/>
          <p:nvPr/>
        </p:nvSpPr>
        <p:spPr>
          <a:xfrm>
            <a:off x="9222595" y="1987420"/>
            <a:ext cx="72000" cy="3600000"/>
          </a:xfrm>
          <a:prstGeom prst="rect">
            <a:avLst/>
          </a:prstGeom>
          <a:solidFill>
            <a:srgbClr val="78CF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41EEC585-53A3-6EC2-8ECD-5B71128D24A4}"/>
              </a:ext>
            </a:extLst>
          </p:cNvPr>
          <p:cNvSpPr/>
          <p:nvPr/>
        </p:nvSpPr>
        <p:spPr>
          <a:xfrm>
            <a:off x="10961296" y="1987420"/>
            <a:ext cx="72000" cy="3600000"/>
          </a:xfrm>
          <a:prstGeom prst="rect">
            <a:avLst/>
          </a:prstGeom>
          <a:solidFill>
            <a:srgbClr val="78CF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9D6A285B-214F-145C-64E6-6083D9AAE400}"/>
              </a:ext>
            </a:extLst>
          </p:cNvPr>
          <p:cNvCxnSpPr>
            <a:cxnSpLocks/>
          </p:cNvCxnSpPr>
          <p:nvPr/>
        </p:nvCxnSpPr>
        <p:spPr>
          <a:xfrm>
            <a:off x="7603927" y="2388631"/>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E483895-DB52-9358-A7D5-134779F09E67}"/>
              </a:ext>
            </a:extLst>
          </p:cNvPr>
          <p:cNvSpPr txBox="1"/>
          <p:nvPr/>
        </p:nvSpPr>
        <p:spPr>
          <a:xfrm>
            <a:off x="8117375" y="2080854"/>
            <a:ext cx="543739" cy="307777"/>
          </a:xfrm>
          <a:prstGeom prst="rect">
            <a:avLst/>
          </a:prstGeom>
          <a:noFill/>
        </p:spPr>
        <p:txBody>
          <a:bodyPr wrap="none" rtlCol="0">
            <a:spAutoFit/>
          </a:bodyPr>
          <a:lstStyle/>
          <a:p>
            <a:pPr algn="ctr"/>
            <a:r>
              <a:rPr lang="zh-CN" altLang="en-US" sz="1400" dirty="0"/>
              <a:t>摘机</a:t>
            </a:r>
          </a:p>
        </p:txBody>
      </p:sp>
      <p:cxnSp>
        <p:nvCxnSpPr>
          <p:cNvPr id="25" name="直接箭头连接符 24">
            <a:extLst>
              <a:ext uri="{FF2B5EF4-FFF2-40B4-BE49-F238E27FC236}">
                <a16:creationId xmlns:a16="http://schemas.microsoft.com/office/drawing/2014/main" id="{AC5A6B7F-EC2B-5085-095F-BBCE463F81A3}"/>
              </a:ext>
            </a:extLst>
          </p:cNvPr>
          <p:cNvCxnSpPr>
            <a:cxnSpLocks/>
          </p:cNvCxnSpPr>
          <p:nvPr/>
        </p:nvCxnSpPr>
        <p:spPr>
          <a:xfrm>
            <a:off x="7603927" y="3441611"/>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1BDD21C3-B273-8518-3229-D9EF5BA1C639}"/>
              </a:ext>
            </a:extLst>
          </p:cNvPr>
          <p:cNvSpPr txBox="1"/>
          <p:nvPr/>
        </p:nvSpPr>
        <p:spPr>
          <a:xfrm>
            <a:off x="8117376" y="3133834"/>
            <a:ext cx="543739" cy="307777"/>
          </a:xfrm>
          <a:prstGeom prst="rect">
            <a:avLst/>
          </a:prstGeom>
          <a:noFill/>
        </p:spPr>
        <p:txBody>
          <a:bodyPr wrap="none" rtlCol="0">
            <a:spAutoFit/>
          </a:bodyPr>
          <a:lstStyle/>
          <a:p>
            <a:pPr algn="ctr"/>
            <a:r>
              <a:rPr lang="zh-CN" altLang="en-US" sz="1400" dirty="0"/>
              <a:t>拨号</a:t>
            </a:r>
          </a:p>
        </p:txBody>
      </p:sp>
      <p:cxnSp>
        <p:nvCxnSpPr>
          <p:cNvPr id="28" name="直接箭头连接符 27">
            <a:extLst>
              <a:ext uri="{FF2B5EF4-FFF2-40B4-BE49-F238E27FC236}">
                <a16:creationId xmlns:a16="http://schemas.microsoft.com/office/drawing/2014/main" id="{7DA2B116-716E-EC0B-596A-E981F72082C5}"/>
              </a:ext>
            </a:extLst>
          </p:cNvPr>
          <p:cNvCxnSpPr>
            <a:cxnSpLocks/>
          </p:cNvCxnSpPr>
          <p:nvPr/>
        </p:nvCxnSpPr>
        <p:spPr>
          <a:xfrm>
            <a:off x="9333297" y="3968100"/>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123252ED-A168-F138-EEC5-414EFFF7A0F7}"/>
              </a:ext>
            </a:extLst>
          </p:cNvPr>
          <p:cNvSpPr txBox="1"/>
          <p:nvPr/>
        </p:nvSpPr>
        <p:spPr>
          <a:xfrm>
            <a:off x="9856077" y="3660323"/>
            <a:ext cx="543739" cy="307777"/>
          </a:xfrm>
          <a:prstGeom prst="rect">
            <a:avLst/>
          </a:prstGeom>
          <a:noFill/>
        </p:spPr>
        <p:txBody>
          <a:bodyPr wrap="none" rtlCol="0">
            <a:spAutoFit/>
          </a:bodyPr>
          <a:lstStyle/>
          <a:p>
            <a:pPr algn="ctr"/>
            <a:r>
              <a:rPr lang="zh-CN" altLang="en-US" sz="1400" dirty="0"/>
              <a:t>响铃</a:t>
            </a:r>
          </a:p>
        </p:txBody>
      </p:sp>
      <p:cxnSp>
        <p:nvCxnSpPr>
          <p:cNvPr id="32" name="直接箭头连接符 31">
            <a:extLst>
              <a:ext uri="{FF2B5EF4-FFF2-40B4-BE49-F238E27FC236}">
                <a16:creationId xmlns:a16="http://schemas.microsoft.com/office/drawing/2014/main" id="{A627C5CF-AA86-22E6-E304-B1606AEE62BB}"/>
              </a:ext>
            </a:extLst>
          </p:cNvPr>
          <p:cNvCxnSpPr>
            <a:cxnSpLocks/>
          </p:cNvCxnSpPr>
          <p:nvPr/>
        </p:nvCxnSpPr>
        <p:spPr>
          <a:xfrm>
            <a:off x="9333297" y="4831548"/>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63A3B10D-EEB7-AF5C-E3D1-2BCC30306DF2}"/>
              </a:ext>
            </a:extLst>
          </p:cNvPr>
          <p:cNvSpPr txBox="1"/>
          <p:nvPr/>
        </p:nvSpPr>
        <p:spPr>
          <a:xfrm>
            <a:off x="9856077" y="4523771"/>
            <a:ext cx="543739" cy="307777"/>
          </a:xfrm>
          <a:prstGeom prst="rect">
            <a:avLst/>
          </a:prstGeom>
          <a:noFill/>
        </p:spPr>
        <p:txBody>
          <a:bodyPr wrap="none" rtlCol="0">
            <a:spAutoFit/>
          </a:bodyPr>
          <a:lstStyle/>
          <a:p>
            <a:pPr algn="ctr"/>
            <a:r>
              <a:rPr lang="zh-CN" altLang="en-US" sz="1400" dirty="0"/>
              <a:t>通话</a:t>
            </a:r>
          </a:p>
        </p:txBody>
      </p:sp>
      <p:cxnSp>
        <p:nvCxnSpPr>
          <p:cNvPr id="35" name="直接箭头连接符 34">
            <a:extLst>
              <a:ext uri="{FF2B5EF4-FFF2-40B4-BE49-F238E27FC236}">
                <a16:creationId xmlns:a16="http://schemas.microsoft.com/office/drawing/2014/main" id="{675F1BF8-A19B-6BFB-7547-CB4C96A22628}"/>
              </a:ext>
            </a:extLst>
          </p:cNvPr>
          <p:cNvCxnSpPr>
            <a:cxnSpLocks/>
          </p:cNvCxnSpPr>
          <p:nvPr/>
        </p:nvCxnSpPr>
        <p:spPr>
          <a:xfrm>
            <a:off x="9348977" y="5263272"/>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2C5C5D71-263E-213C-C5CE-591299F17C7A}"/>
              </a:ext>
            </a:extLst>
          </p:cNvPr>
          <p:cNvSpPr txBox="1"/>
          <p:nvPr/>
        </p:nvSpPr>
        <p:spPr>
          <a:xfrm>
            <a:off x="9692222" y="4955495"/>
            <a:ext cx="902811" cy="307777"/>
          </a:xfrm>
          <a:prstGeom prst="rect">
            <a:avLst/>
          </a:prstGeom>
          <a:noFill/>
        </p:spPr>
        <p:txBody>
          <a:bodyPr wrap="none" rtlCol="0">
            <a:spAutoFit/>
          </a:bodyPr>
          <a:lstStyle/>
          <a:p>
            <a:pPr algn="ctr"/>
            <a:r>
              <a:rPr lang="zh-CN" altLang="en-US" sz="1400" dirty="0"/>
              <a:t>停止响铃</a:t>
            </a:r>
          </a:p>
        </p:txBody>
      </p:sp>
      <p:cxnSp>
        <p:nvCxnSpPr>
          <p:cNvPr id="38" name="直接箭头连接符 37">
            <a:extLst>
              <a:ext uri="{FF2B5EF4-FFF2-40B4-BE49-F238E27FC236}">
                <a16:creationId xmlns:a16="http://schemas.microsoft.com/office/drawing/2014/main" id="{3E8A1C9A-6FE5-8E08-9830-D692DCD24D6E}"/>
              </a:ext>
            </a:extLst>
          </p:cNvPr>
          <p:cNvCxnSpPr>
            <a:cxnSpLocks/>
          </p:cNvCxnSpPr>
          <p:nvPr/>
        </p:nvCxnSpPr>
        <p:spPr>
          <a:xfrm flipH="1">
            <a:off x="7594856" y="2915121"/>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00F640FA-CA24-DD64-B21C-8B8A837A493C}"/>
              </a:ext>
            </a:extLst>
          </p:cNvPr>
          <p:cNvSpPr txBox="1"/>
          <p:nvPr/>
        </p:nvSpPr>
        <p:spPr>
          <a:xfrm>
            <a:off x="8018536" y="2607344"/>
            <a:ext cx="723275" cy="307777"/>
          </a:xfrm>
          <a:prstGeom prst="rect">
            <a:avLst/>
          </a:prstGeom>
          <a:noFill/>
        </p:spPr>
        <p:txBody>
          <a:bodyPr wrap="none" rtlCol="0">
            <a:spAutoFit/>
          </a:bodyPr>
          <a:lstStyle/>
          <a:p>
            <a:pPr algn="ctr"/>
            <a:r>
              <a:rPr lang="zh-CN" altLang="en-US" sz="1400" dirty="0"/>
              <a:t>拨号音</a:t>
            </a:r>
          </a:p>
        </p:txBody>
      </p:sp>
      <p:cxnSp>
        <p:nvCxnSpPr>
          <p:cNvPr id="41" name="直接箭头连接符 40">
            <a:extLst>
              <a:ext uri="{FF2B5EF4-FFF2-40B4-BE49-F238E27FC236}">
                <a16:creationId xmlns:a16="http://schemas.microsoft.com/office/drawing/2014/main" id="{63E9151B-0D3E-B3A6-1B56-0517B912DED9}"/>
              </a:ext>
            </a:extLst>
          </p:cNvPr>
          <p:cNvCxnSpPr>
            <a:cxnSpLocks/>
          </p:cNvCxnSpPr>
          <p:nvPr/>
        </p:nvCxnSpPr>
        <p:spPr>
          <a:xfrm flipH="1">
            <a:off x="7594856" y="3968100"/>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C62E65F9-C73F-46C8-B61B-6EE5B3B712F8}"/>
              </a:ext>
            </a:extLst>
          </p:cNvPr>
          <p:cNvSpPr txBox="1"/>
          <p:nvPr/>
        </p:nvSpPr>
        <p:spPr>
          <a:xfrm>
            <a:off x="8108304" y="3660323"/>
            <a:ext cx="543739" cy="307777"/>
          </a:xfrm>
          <a:prstGeom prst="rect">
            <a:avLst/>
          </a:prstGeom>
          <a:noFill/>
        </p:spPr>
        <p:txBody>
          <a:bodyPr wrap="none" rtlCol="0">
            <a:spAutoFit/>
          </a:bodyPr>
          <a:lstStyle/>
          <a:p>
            <a:pPr algn="ctr"/>
            <a:r>
              <a:rPr lang="zh-CN" altLang="en-US" sz="1400" dirty="0"/>
              <a:t>响铃</a:t>
            </a:r>
          </a:p>
        </p:txBody>
      </p:sp>
      <p:cxnSp>
        <p:nvCxnSpPr>
          <p:cNvPr id="50" name="直接箭头连接符 49">
            <a:extLst>
              <a:ext uri="{FF2B5EF4-FFF2-40B4-BE49-F238E27FC236}">
                <a16:creationId xmlns:a16="http://schemas.microsoft.com/office/drawing/2014/main" id="{7A1DAD1A-75A9-76D4-F09B-31A641B30D91}"/>
              </a:ext>
            </a:extLst>
          </p:cNvPr>
          <p:cNvCxnSpPr>
            <a:cxnSpLocks/>
          </p:cNvCxnSpPr>
          <p:nvPr/>
        </p:nvCxnSpPr>
        <p:spPr>
          <a:xfrm flipH="1">
            <a:off x="7594856" y="4831548"/>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09B6D5FB-FA03-A4D0-3246-9002D4167DEE}"/>
              </a:ext>
            </a:extLst>
          </p:cNvPr>
          <p:cNvSpPr txBox="1"/>
          <p:nvPr/>
        </p:nvSpPr>
        <p:spPr>
          <a:xfrm>
            <a:off x="8108305" y="4523771"/>
            <a:ext cx="543739" cy="307777"/>
          </a:xfrm>
          <a:prstGeom prst="rect">
            <a:avLst/>
          </a:prstGeom>
          <a:noFill/>
        </p:spPr>
        <p:txBody>
          <a:bodyPr wrap="none" rtlCol="0">
            <a:spAutoFit/>
          </a:bodyPr>
          <a:lstStyle/>
          <a:p>
            <a:pPr algn="ctr"/>
            <a:r>
              <a:rPr lang="zh-CN" altLang="en-US" sz="1400" dirty="0"/>
              <a:t>通话</a:t>
            </a:r>
          </a:p>
        </p:txBody>
      </p:sp>
      <p:cxnSp>
        <p:nvCxnSpPr>
          <p:cNvPr id="53" name="直接箭头连接符 52">
            <a:extLst>
              <a:ext uri="{FF2B5EF4-FFF2-40B4-BE49-F238E27FC236}">
                <a16:creationId xmlns:a16="http://schemas.microsoft.com/office/drawing/2014/main" id="{C329A3D8-F8D3-F24F-616E-A5EF06F49E2C}"/>
              </a:ext>
            </a:extLst>
          </p:cNvPr>
          <p:cNvCxnSpPr>
            <a:cxnSpLocks/>
          </p:cNvCxnSpPr>
          <p:nvPr/>
        </p:nvCxnSpPr>
        <p:spPr>
          <a:xfrm flipH="1">
            <a:off x="7603214" y="5263272"/>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062ECF91-7C8D-E56C-4D37-9BD1B2588B2A}"/>
              </a:ext>
            </a:extLst>
          </p:cNvPr>
          <p:cNvSpPr txBox="1"/>
          <p:nvPr/>
        </p:nvSpPr>
        <p:spPr>
          <a:xfrm>
            <a:off x="7937128" y="4955495"/>
            <a:ext cx="902811" cy="307777"/>
          </a:xfrm>
          <a:prstGeom prst="rect">
            <a:avLst/>
          </a:prstGeom>
          <a:noFill/>
        </p:spPr>
        <p:txBody>
          <a:bodyPr wrap="none" rtlCol="0">
            <a:spAutoFit/>
          </a:bodyPr>
          <a:lstStyle/>
          <a:p>
            <a:pPr algn="ctr"/>
            <a:r>
              <a:rPr lang="zh-CN" altLang="en-US" sz="1400" dirty="0"/>
              <a:t>停止响铃</a:t>
            </a:r>
          </a:p>
        </p:txBody>
      </p:sp>
      <p:cxnSp>
        <p:nvCxnSpPr>
          <p:cNvPr id="56" name="直接箭头连接符 55">
            <a:extLst>
              <a:ext uri="{FF2B5EF4-FFF2-40B4-BE49-F238E27FC236}">
                <a16:creationId xmlns:a16="http://schemas.microsoft.com/office/drawing/2014/main" id="{025B340A-F262-2913-5742-2B7FC93A5748}"/>
              </a:ext>
            </a:extLst>
          </p:cNvPr>
          <p:cNvCxnSpPr>
            <a:cxnSpLocks/>
          </p:cNvCxnSpPr>
          <p:nvPr/>
        </p:nvCxnSpPr>
        <p:spPr>
          <a:xfrm flipH="1">
            <a:off x="9348977" y="4399824"/>
            <a:ext cx="158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3CA42B57-9507-7037-DA5E-576C5626AB12}"/>
              </a:ext>
            </a:extLst>
          </p:cNvPr>
          <p:cNvSpPr txBox="1"/>
          <p:nvPr/>
        </p:nvSpPr>
        <p:spPr>
          <a:xfrm>
            <a:off x="9681002" y="4092047"/>
            <a:ext cx="925253" cy="307777"/>
          </a:xfrm>
          <a:prstGeom prst="rect">
            <a:avLst/>
          </a:prstGeom>
          <a:noFill/>
        </p:spPr>
        <p:txBody>
          <a:bodyPr wrap="none" rtlCol="0">
            <a:spAutoFit/>
          </a:bodyPr>
          <a:lstStyle/>
          <a:p>
            <a:pPr algn="ctr"/>
            <a:r>
              <a:rPr lang="zh-CN" altLang="en-US" sz="1400" dirty="0"/>
              <a:t>接听电话</a:t>
            </a:r>
          </a:p>
        </p:txBody>
      </p:sp>
    </p:spTree>
  </p:cSld>
  <p:clrMapOvr>
    <a:masterClrMapping/>
  </p:clrMapOvr>
  <p:transition>
    <p:diamon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D19D3885-69A2-7800-39AC-9C2C83217366}"/>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6-3 </a:t>
            </a:r>
            <a:r>
              <a:rPr lang="zh-CN" altLang="en-US" dirty="0"/>
              <a:t>购物结算流程。</a:t>
            </a:r>
          </a:p>
        </p:txBody>
      </p:sp>
      <p:pic>
        <p:nvPicPr>
          <p:cNvPr id="2" name="图片 1" descr="What Is A Sequence Diagram? _ Understanding Sequence Diagram Notation ...">
            <a:extLst>
              <a:ext uri="{FF2B5EF4-FFF2-40B4-BE49-F238E27FC236}">
                <a16:creationId xmlns:a16="http://schemas.microsoft.com/office/drawing/2014/main" id="{E4DF027F-91ED-3F15-8661-9EC132FE046A}"/>
              </a:ext>
            </a:extLst>
          </p:cNvPr>
          <p:cNvPicPr>
            <a:picLocks noChangeAspect="1"/>
          </p:cNvPicPr>
          <p:nvPr/>
        </p:nvPicPr>
        <p:blipFill>
          <a:blip r:embed="rId2"/>
          <a:srcRect l="8936" r="9923"/>
          <a:stretch>
            <a:fillRect/>
          </a:stretch>
        </p:blipFill>
        <p:spPr>
          <a:xfrm>
            <a:off x="4296185" y="883220"/>
            <a:ext cx="6904654" cy="5143500"/>
          </a:xfrm>
          <a:prstGeom prst="rect">
            <a:avLst/>
          </a:prstGeom>
        </p:spPr>
      </p:pic>
      <p:sp>
        <p:nvSpPr>
          <p:cNvPr id="7" name="矩形 6">
            <a:extLst>
              <a:ext uri="{FF2B5EF4-FFF2-40B4-BE49-F238E27FC236}">
                <a16:creationId xmlns:a16="http://schemas.microsoft.com/office/drawing/2014/main" id="{E54DB3D7-2F90-E2C8-D9ED-87DBFA52E966}"/>
              </a:ext>
            </a:extLst>
          </p:cNvPr>
          <p:cNvSpPr>
            <a:spLocks noChangeAspect="1"/>
          </p:cNvSpPr>
          <p:nvPr/>
        </p:nvSpPr>
        <p:spPr>
          <a:xfrm>
            <a:off x="695325" y="2160000"/>
            <a:ext cx="5369560" cy="1477328"/>
          </a:xfrm>
          <a:prstGeom prst="rect">
            <a:avLst/>
          </a:prstGeom>
          <a:ln w="12700">
            <a:noFill/>
            <a:prstDash val="dash"/>
          </a:ln>
        </p:spPr>
        <p:style>
          <a:lnRef idx="1">
            <a:schemeClr val="accent6"/>
          </a:lnRef>
          <a:fillRef idx="0">
            <a:schemeClr val="accent6"/>
          </a:fillRef>
          <a:effectRef idx="0">
            <a:schemeClr val="accent6"/>
          </a:effectRef>
          <a:fontRef idx="minor">
            <a:schemeClr val="tx1"/>
          </a:fontRef>
        </p:style>
        <p:txBody>
          <a:bodyPr rtlCol="0" anchor="ctr">
            <a:spAutoFit/>
          </a:bodyPr>
          <a:lstStyle/>
          <a:p>
            <a:r>
              <a:rPr lang="zh-CN" altLang="en-US" dirty="0"/>
              <a:t>涉及四个参与者：</a:t>
            </a:r>
            <a:endParaRPr lang="en-US" altLang="zh-CN" dirty="0"/>
          </a:p>
          <a:p>
            <a:pPr marL="285750" indent="-285750">
              <a:buFont typeface="Arial" panose="020B0604020202020204" pitchFamily="34" charset="0"/>
              <a:buChar char="•"/>
            </a:pPr>
            <a:r>
              <a:rPr lang="zh-CN" altLang="en-US" dirty="0"/>
              <a:t>顾客</a:t>
            </a:r>
            <a:r>
              <a:rPr lang="en-US" altLang="zh-CN" dirty="0"/>
              <a:t>/</a:t>
            </a:r>
            <a:r>
              <a:rPr lang="zh-CN" altLang="en-US" dirty="0"/>
              <a:t>角色</a:t>
            </a:r>
            <a:endParaRPr lang="en-US" altLang="zh-CN" dirty="0"/>
          </a:p>
          <a:p>
            <a:pPr marL="285750" indent="-285750">
              <a:buFont typeface="Arial" panose="020B0604020202020204" pitchFamily="34" charset="0"/>
              <a:buChar char="•"/>
            </a:pPr>
            <a:r>
              <a:rPr lang="zh-CN" altLang="en-US" dirty="0"/>
              <a:t>购物卡</a:t>
            </a:r>
            <a:r>
              <a:rPr lang="en-US" altLang="zh-CN" dirty="0"/>
              <a:t>/</a:t>
            </a:r>
            <a:r>
              <a:rPr lang="zh-CN" altLang="en-US" dirty="0"/>
              <a:t>对象</a:t>
            </a:r>
            <a:endParaRPr lang="en-US" altLang="zh-CN" dirty="0"/>
          </a:p>
          <a:p>
            <a:pPr marL="285750" indent="-285750">
              <a:buFont typeface="Arial" panose="020B0604020202020204" pitchFamily="34" charset="0"/>
              <a:buChar char="•"/>
            </a:pPr>
            <a:r>
              <a:rPr lang="zh-CN" altLang="en-US" dirty="0"/>
              <a:t>订单</a:t>
            </a:r>
            <a:r>
              <a:rPr lang="en-US" altLang="zh-CN" dirty="0"/>
              <a:t>/</a:t>
            </a:r>
            <a:r>
              <a:rPr lang="zh-CN" altLang="en-US" dirty="0"/>
              <a:t>对象</a:t>
            </a:r>
            <a:endParaRPr lang="en-US" altLang="zh-CN" dirty="0"/>
          </a:p>
          <a:p>
            <a:pPr marL="285750" indent="-285750">
              <a:buFont typeface="Arial" panose="020B0604020202020204" pitchFamily="34" charset="0"/>
              <a:buChar char="•"/>
            </a:pPr>
            <a:r>
              <a:rPr lang="zh-CN" altLang="en-US" dirty="0"/>
              <a:t>商品项</a:t>
            </a:r>
            <a:r>
              <a:rPr lang="en-US" altLang="zh-CN" dirty="0"/>
              <a:t>/</a:t>
            </a:r>
            <a:r>
              <a:rPr lang="zh-CN" altLang="en-US" dirty="0"/>
              <a:t>对象</a:t>
            </a:r>
          </a:p>
        </p:txBody>
      </p:sp>
    </p:spTree>
    <p:extLst>
      <p:ext uri="{BB962C8B-B14F-4D97-AF65-F5344CB8AC3E}">
        <p14:creationId xmlns:p14="http://schemas.microsoft.com/office/powerpoint/2010/main" val="857880010"/>
      </p:ext>
    </p:extLst>
  </p:cSld>
  <p:clrMapOvr>
    <a:masterClrMapping/>
  </p:clrMapOvr>
  <p:transition>
    <p:diamon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7" name="文本占位符 6">
            <a:extLst>
              <a:ext uri="{FF2B5EF4-FFF2-40B4-BE49-F238E27FC236}">
                <a16:creationId xmlns:a16="http://schemas.microsoft.com/office/drawing/2014/main" id="{665306AA-06B7-BE76-C295-93B725081077}"/>
              </a:ext>
            </a:extLst>
          </p:cNvPr>
          <p:cNvSpPr>
            <a:spLocks noGrp="1"/>
          </p:cNvSpPr>
          <p:nvPr>
            <p:ph type="body" sz="quarter" idx="10"/>
          </p:nvPr>
        </p:nvSpPr>
        <p:spPr>
          <a:xfrm>
            <a:off x="900001" y="1322832"/>
            <a:ext cx="5196000" cy="400110"/>
          </a:xfrm>
        </p:spPr>
        <p:txBody>
          <a:bodyPr/>
          <a:lstStyle/>
          <a:p>
            <a:r>
              <a:rPr lang="en-US" altLang="zh-CN" dirty="0"/>
              <a:t>6.3.6 </a:t>
            </a:r>
            <a:r>
              <a:rPr lang="zh-CN" altLang="en-US" dirty="0"/>
              <a:t>活动图 </a:t>
            </a:r>
            <a:r>
              <a:rPr lang="en-US" altLang="zh-CN" dirty="0"/>
              <a:t>Activity Diagram</a:t>
            </a:r>
            <a:endParaRPr lang="zh-CN" altLang="en-US" dirty="0"/>
          </a:p>
        </p:txBody>
      </p:sp>
      <p:sp>
        <p:nvSpPr>
          <p:cNvPr id="9" name="文本框 8">
            <a:extLst>
              <a:ext uri="{FF2B5EF4-FFF2-40B4-BE49-F238E27FC236}">
                <a16:creationId xmlns:a16="http://schemas.microsoft.com/office/drawing/2014/main" id="{CD8253DF-48B6-47A3-845C-C098A19F85B1}"/>
              </a:ext>
            </a:extLst>
          </p:cNvPr>
          <p:cNvSpPr txBox="1"/>
          <p:nvPr/>
        </p:nvSpPr>
        <p:spPr>
          <a:xfrm>
            <a:off x="695325" y="2268071"/>
            <a:ext cx="9350188" cy="2585323"/>
          </a:xfrm>
          <a:prstGeom prst="rect">
            <a:avLst/>
          </a:prstGeom>
          <a:noFill/>
        </p:spPr>
        <p:txBody>
          <a:bodyPr wrap="square" rtlCol="0">
            <a:spAutoFit/>
          </a:bodyPr>
          <a:lstStyle/>
          <a:p>
            <a:r>
              <a:rPr lang="zh-CN" altLang="en-US" dirty="0"/>
              <a:t>是状态图的一种特殊情况。</a:t>
            </a:r>
            <a:endParaRPr lang="en-US" altLang="zh-CN" dirty="0"/>
          </a:p>
          <a:p>
            <a:r>
              <a:rPr lang="zh-CN" altLang="en-US" dirty="0"/>
              <a:t>无需指明任何事件，只要动作被执行，活动图中的状态就自动开始转换。</a:t>
            </a:r>
            <a:endParaRPr lang="en-US" altLang="zh-CN" dirty="0"/>
          </a:p>
          <a:p>
            <a:pPr marL="285750" indent="-285750">
              <a:buFont typeface="Arial" panose="020B0604020202020204" pitchFamily="34" charset="0"/>
              <a:buChar char="•"/>
            </a:pPr>
            <a:r>
              <a:rPr lang="zh-CN" altLang="en-US" dirty="0"/>
              <a:t>如果状态转换的触发事件是内部动作的完成，可用活动图描述</a:t>
            </a:r>
            <a:endParaRPr lang="en-US" altLang="zh-CN" dirty="0"/>
          </a:p>
          <a:p>
            <a:pPr marL="285750" indent="-285750">
              <a:buFont typeface="Arial" panose="020B0604020202020204" pitchFamily="34" charset="0"/>
              <a:buChar char="•"/>
            </a:pPr>
            <a:r>
              <a:rPr lang="zh-CN" altLang="en-US" dirty="0"/>
              <a:t>如果状态转换的触发事件是外部事件时，常用状态转换图来表示</a:t>
            </a:r>
          </a:p>
          <a:p>
            <a:r>
              <a:rPr lang="zh-CN" altLang="en-US" dirty="0"/>
              <a:t>在活动图中，用例和对象的行为中的各个活动之间通常具有时间顺序。</a:t>
            </a:r>
            <a:endParaRPr lang="en-US" altLang="zh-CN" dirty="0"/>
          </a:p>
          <a:p>
            <a:r>
              <a:rPr lang="zh-CN" altLang="en-US" dirty="0"/>
              <a:t>活动图表达这种顺序，展示出对象执行某种行为时或者在业务过程中所要经历的各个活动和判定点。</a:t>
            </a:r>
            <a:endParaRPr lang="en-US" altLang="zh-CN" dirty="0"/>
          </a:p>
          <a:p>
            <a:r>
              <a:rPr lang="zh-CN" altLang="en-US" dirty="0"/>
              <a:t>每个活动用一个圆角矩形表示</a:t>
            </a:r>
            <a:endParaRPr lang="en-US" altLang="zh-CN" dirty="0"/>
          </a:p>
          <a:p>
            <a:r>
              <a:rPr lang="zh-CN" altLang="en-US" dirty="0"/>
              <a:t>判定点用菱形框表示。</a:t>
            </a:r>
          </a:p>
        </p:txBody>
      </p:sp>
    </p:spTree>
  </p:cSld>
  <p:clrMapOvr>
    <a:masterClrMapping/>
  </p:clrMapOvr>
  <p:transition>
    <p:diamon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6" name="文本占位符 5">
            <a:extLst>
              <a:ext uri="{FF2B5EF4-FFF2-40B4-BE49-F238E27FC236}">
                <a16:creationId xmlns:a16="http://schemas.microsoft.com/office/drawing/2014/main" id="{B5104003-C732-3E79-8098-A66E47E9AA7A}"/>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6-4 </a:t>
            </a:r>
            <a:r>
              <a:rPr lang="zh-CN" altLang="en-US" dirty="0"/>
              <a:t>用活动图描述打电话过程</a:t>
            </a:r>
          </a:p>
        </p:txBody>
      </p:sp>
      <p:sp>
        <p:nvSpPr>
          <p:cNvPr id="44" name="矩形 43"/>
          <p:cNvSpPr>
            <a:spLocks noChangeAspect="1"/>
          </p:cNvSpPr>
          <p:nvPr/>
        </p:nvSpPr>
        <p:spPr>
          <a:xfrm>
            <a:off x="894706" y="2835341"/>
            <a:ext cx="5369560" cy="333375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r>
              <a:rPr lang="zh-CN" altLang="en-US" dirty="0"/>
              <a:t> 打电话过程可用活动图描述，</a:t>
            </a:r>
            <a:r>
              <a:rPr lang="zh-CN" altLang="en-US"/>
              <a:t>如图</a:t>
            </a:r>
            <a:r>
              <a:rPr lang="en-US" altLang="zh-CN" dirty="0"/>
              <a:t>6-18</a:t>
            </a:r>
            <a:r>
              <a:rPr lang="zh-CN" altLang="en-US" dirty="0"/>
              <a:t>所示。打电话者拿起听筒；出现拨号音；拨号；连接时如果号码错误就停止，如果号码正确还要判断对方是否线路忙；线路忙则停止；线路不忙才能接通，听到响铃，若</a:t>
            </a:r>
            <a:r>
              <a:rPr lang="zh-CN" altLang="en-US"/>
              <a:t>对方在</a:t>
            </a:r>
            <a:r>
              <a:rPr lang="en-US" altLang="zh-CN" dirty="0"/>
              <a:t>30</a:t>
            </a:r>
            <a:r>
              <a:rPr lang="zh-CN" altLang="en-US" dirty="0"/>
              <a:t>秒内接听电话，就进行通话，通话结束则停止；若</a:t>
            </a:r>
            <a:r>
              <a:rPr lang="zh-CN" altLang="en-US"/>
              <a:t>对方超过</a:t>
            </a:r>
            <a:r>
              <a:rPr lang="en-US" altLang="zh-CN" dirty="0"/>
              <a:t>30</a:t>
            </a:r>
            <a:r>
              <a:rPr lang="zh-CN" altLang="en-US" dirty="0"/>
              <a:t>秒未接听则停止。这个活动图描述了拨打电话者的电话功能的设计方案，电话在遇到不同情况时进入不同的状态，图中含有判断。</a:t>
            </a:r>
          </a:p>
        </p:txBody>
      </p:sp>
      <p:pic>
        <p:nvPicPr>
          <p:cNvPr id="150530" name="图片 168"/>
          <p:cNvPicPr>
            <a:picLocks noChangeAspect="1" noChangeArrowheads="1"/>
          </p:cNvPicPr>
          <p:nvPr/>
        </p:nvPicPr>
        <p:blipFill>
          <a:blip r:embed="rId2" cstate="print"/>
          <a:srcRect/>
          <a:stretch>
            <a:fillRect/>
          </a:stretch>
        </p:blipFill>
        <p:spPr bwMode="auto">
          <a:xfrm>
            <a:off x="6482687" y="2852380"/>
            <a:ext cx="4539161" cy="3374243"/>
          </a:xfrm>
          <a:prstGeom prst="rect">
            <a:avLst/>
          </a:prstGeom>
          <a:noFill/>
          <a:ln w="9525">
            <a:noFill/>
            <a:miter lim="800000"/>
            <a:headEnd/>
            <a:tailEnd/>
          </a:ln>
        </p:spPr>
      </p:pic>
    </p:spTree>
  </p:cSld>
  <p:clrMapOvr>
    <a:masterClrMapping/>
  </p:clrMapOvr>
  <p:transition>
    <p:diamon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12" name="文本占位符 11">
            <a:extLst>
              <a:ext uri="{FF2B5EF4-FFF2-40B4-BE49-F238E27FC236}">
                <a16:creationId xmlns:a16="http://schemas.microsoft.com/office/drawing/2014/main" id="{65536807-A5A1-E7C0-ACCA-B83D7238568F}"/>
              </a:ext>
            </a:extLst>
          </p:cNvPr>
          <p:cNvSpPr>
            <a:spLocks noGrp="1"/>
          </p:cNvSpPr>
          <p:nvPr>
            <p:ph type="body" sz="quarter" idx="10"/>
          </p:nvPr>
        </p:nvSpPr>
        <p:spPr>
          <a:xfrm>
            <a:off x="900001" y="1322832"/>
            <a:ext cx="5196000" cy="400110"/>
          </a:xfrm>
        </p:spPr>
        <p:txBody>
          <a:bodyPr/>
          <a:lstStyle/>
          <a:p>
            <a:r>
              <a:rPr lang="en-US" altLang="zh-CN" dirty="0"/>
              <a:t>6.3.7 </a:t>
            </a:r>
            <a:r>
              <a:rPr lang="zh-CN" altLang="en-US" dirty="0"/>
              <a:t>协作图 </a:t>
            </a:r>
            <a:r>
              <a:rPr lang="en-US" altLang="zh-CN" dirty="0"/>
              <a:t>Collaboration Diagram</a:t>
            </a:r>
            <a:endParaRPr lang="zh-CN" altLang="en-US" dirty="0"/>
          </a:p>
        </p:txBody>
      </p:sp>
      <p:sp>
        <p:nvSpPr>
          <p:cNvPr id="6" name="MH_Desc_1"/>
          <p:cNvSpPr>
            <a:spLocks noChangeArrowheads="1"/>
          </p:cNvSpPr>
          <p:nvPr/>
        </p:nvSpPr>
        <p:spPr bwMode="auto">
          <a:xfrm>
            <a:off x="3021279" y="2684837"/>
            <a:ext cx="6559450" cy="3133033"/>
          </a:xfrm>
          <a:prstGeom prst="roundRect">
            <a:avLst>
              <a:gd name="adj" fmla="val 8912"/>
            </a:avLst>
          </a:prstGeom>
          <a:solidFill>
            <a:schemeClr val="accent3">
              <a:lumMod val="75000"/>
            </a:schemeClr>
          </a:solidFill>
          <a:ln>
            <a:noFill/>
          </a:ln>
          <a:extLst>
            <a:ext uri="{91240B29-F687-4F45-9708-019B960494DF}">
              <a14:hiddenLine xmlns:a14="http://schemas.microsoft.com/office/drawing/2010/main" w="9525">
                <a:solidFill>
                  <a:srgbClr val="000000"/>
                </a:solidFill>
                <a:round/>
              </a14:hiddenLine>
            </a:ext>
          </a:extLst>
        </p:spPr>
        <p:txBody>
          <a:bodyPr lIns="144000" tIns="180000" rIns="144000" bIns="18000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en-US" dirty="0">
                <a:solidFill>
                  <a:schemeClr val="bg1"/>
                </a:solidFill>
              </a:rPr>
              <a:t> </a:t>
            </a:r>
            <a:r>
              <a:rPr dirty="0">
                <a:solidFill>
                  <a:schemeClr val="bg1"/>
                </a:solidFill>
              </a:rPr>
              <a:t>协作图用于描述系统中相互协作的对象之间的交互关系和关联链接关系，它以</a:t>
            </a:r>
            <a:r>
              <a:rPr dirty="0">
                <a:solidFill>
                  <a:srgbClr val="FFFF00"/>
                </a:solidFill>
              </a:rPr>
              <a:t>对象图</a:t>
            </a:r>
            <a:r>
              <a:rPr dirty="0">
                <a:solidFill>
                  <a:schemeClr val="bg1"/>
                </a:solidFill>
              </a:rPr>
              <a:t>的形式来描述。协作图和顺序图都是描述对象间的交互关系，但它们的侧重点不同：顺序图着重表示交互的时间顺序，协作图着重表示交互对象的静态链接关系。</a:t>
            </a:r>
          </a:p>
          <a:p>
            <a:pPr indent="457200" fontAlgn="auto">
              <a:lnSpc>
                <a:spcPct val="120000"/>
              </a:lnSpc>
            </a:pPr>
            <a:r>
              <a:rPr dirty="0">
                <a:solidFill>
                  <a:schemeClr val="bg1"/>
                </a:solidFill>
              </a:rPr>
              <a:t>协作图中的对象图示与顺序图相同。对象之间的连线代表了对象之间的关联和消息传递，每个消息箭头都带有一个消息标签。</a:t>
            </a:r>
          </a:p>
        </p:txBody>
      </p:sp>
      <p:sp>
        <p:nvSpPr>
          <p:cNvPr id="3076" name="MH_Other_1"/>
          <p:cNvSpPr>
            <a:spLocks noChangeArrowheads="1"/>
          </p:cNvSpPr>
          <p:nvPr/>
        </p:nvSpPr>
        <p:spPr bwMode="auto">
          <a:xfrm>
            <a:off x="1222375" y="1868805"/>
            <a:ext cx="1930446" cy="184404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dirty="0">
                <a:solidFill>
                  <a:schemeClr val="accent3">
                    <a:lumMod val="75000"/>
                  </a:schemeClr>
                </a:solidFill>
                <a:latin typeface="微软雅黑" panose="020B0503020204020204" pitchFamily="34" charset="-122"/>
                <a:ea typeface="微软雅黑" panose="020B0503020204020204" pitchFamily="34" charset="-122"/>
              </a:rPr>
              <a:t>“</a:t>
            </a:r>
          </a:p>
        </p:txBody>
      </p:sp>
      <p:sp>
        <p:nvSpPr>
          <p:cNvPr id="3077" name="MH_Other_2"/>
          <p:cNvSpPr>
            <a:spLocks noChangeArrowheads="1"/>
          </p:cNvSpPr>
          <p:nvPr/>
        </p:nvSpPr>
        <p:spPr bwMode="auto">
          <a:xfrm>
            <a:off x="9823791" y="4724710"/>
            <a:ext cx="1930446" cy="184404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dirty="0">
                <a:solidFill>
                  <a:schemeClr val="accent3">
                    <a:lumMod val="75000"/>
                  </a:schemeClr>
                </a:solidFill>
                <a:latin typeface="微软雅黑" panose="020B0503020204020204" pitchFamily="34" charset="-122"/>
                <a:ea typeface="微软雅黑" panose="020B0503020204020204" pitchFamily="34" charset="-122"/>
              </a:rPr>
              <a:t>”</a:t>
            </a:r>
          </a:p>
        </p:txBody>
      </p:sp>
    </p:spTree>
  </p:cSld>
  <p:clrMapOvr>
    <a:masterClrMapping/>
  </p:clrMapOvr>
  <p:transition>
    <p:diamon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9AD9A-452D-3F14-CC1A-BCF6292E9C8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208F950-A82A-CF31-F9C6-F5F49B2CDD3B}"/>
              </a:ext>
            </a:extLst>
          </p:cNvPr>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12" name="文本占位符 11">
            <a:extLst>
              <a:ext uri="{FF2B5EF4-FFF2-40B4-BE49-F238E27FC236}">
                <a16:creationId xmlns:a16="http://schemas.microsoft.com/office/drawing/2014/main" id="{981031B7-F0F7-D49B-9DCC-CC9B6B7B494C}"/>
              </a:ext>
            </a:extLst>
          </p:cNvPr>
          <p:cNvSpPr>
            <a:spLocks noGrp="1"/>
          </p:cNvSpPr>
          <p:nvPr>
            <p:ph type="body" sz="quarter" idx="10"/>
          </p:nvPr>
        </p:nvSpPr>
        <p:spPr>
          <a:xfrm>
            <a:off x="900001" y="1322832"/>
            <a:ext cx="5196000" cy="400110"/>
          </a:xfrm>
        </p:spPr>
        <p:txBody>
          <a:bodyPr/>
          <a:lstStyle/>
          <a:p>
            <a:r>
              <a:rPr lang="en-US" altLang="zh-CN" dirty="0"/>
              <a:t>6.3.7 </a:t>
            </a:r>
            <a:r>
              <a:rPr lang="zh-CN" altLang="en-US" dirty="0"/>
              <a:t>协作图 </a:t>
            </a:r>
            <a:r>
              <a:rPr lang="en-US" altLang="zh-CN" dirty="0"/>
              <a:t>Collaboration Diagram</a:t>
            </a:r>
            <a:endParaRPr lang="zh-CN" altLang="en-US" dirty="0"/>
          </a:p>
        </p:txBody>
      </p:sp>
      <p:sp>
        <p:nvSpPr>
          <p:cNvPr id="2" name="矩形: 圆角 1">
            <a:extLst>
              <a:ext uri="{FF2B5EF4-FFF2-40B4-BE49-F238E27FC236}">
                <a16:creationId xmlns:a16="http://schemas.microsoft.com/office/drawing/2014/main" id="{729C9928-07F9-70ED-6DDB-4474448886A7}"/>
              </a:ext>
            </a:extLst>
          </p:cNvPr>
          <p:cNvSpPr/>
          <p:nvPr/>
        </p:nvSpPr>
        <p:spPr>
          <a:xfrm>
            <a:off x="2189394" y="2053664"/>
            <a:ext cx="1440000" cy="72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Actor</a:t>
            </a:r>
            <a:endParaRPr lang="zh-CN" altLang="en-US" sz="1600" dirty="0">
              <a:solidFill>
                <a:schemeClr val="tx1"/>
              </a:solidFill>
            </a:endParaRPr>
          </a:p>
        </p:txBody>
      </p:sp>
      <p:sp>
        <p:nvSpPr>
          <p:cNvPr id="4" name="矩形: 圆角 3">
            <a:extLst>
              <a:ext uri="{FF2B5EF4-FFF2-40B4-BE49-F238E27FC236}">
                <a16:creationId xmlns:a16="http://schemas.microsoft.com/office/drawing/2014/main" id="{D9DFF40C-AD60-9303-C418-AE1CDCCF9441}"/>
              </a:ext>
            </a:extLst>
          </p:cNvPr>
          <p:cNvSpPr/>
          <p:nvPr/>
        </p:nvSpPr>
        <p:spPr>
          <a:xfrm>
            <a:off x="1829394" y="3547530"/>
            <a:ext cx="2160000" cy="72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Object: ClassName</a:t>
            </a:r>
            <a:endParaRPr lang="zh-CN" altLang="en-US" sz="1600" u="sng" dirty="0">
              <a:solidFill>
                <a:schemeClr val="tx1"/>
              </a:solidFill>
            </a:endParaRPr>
          </a:p>
        </p:txBody>
      </p:sp>
      <p:sp>
        <p:nvSpPr>
          <p:cNvPr id="5" name="矩形: 圆角 4">
            <a:extLst>
              <a:ext uri="{FF2B5EF4-FFF2-40B4-BE49-F238E27FC236}">
                <a16:creationId xmlns:a16="http://schemas.microsoft.com/office/drawing/2014/main" id="{903EFC4B-01BE-BE55-EFDB-CC9969C2944F}"/>
              </a:ext>
            </a:extLst>
          </p:cNvPr>
          <p:cNvSpPr/>
          <p:nvPr/>
        </p:nvSpPr>
        <p:spPr>
          <a:xfrm>
            <a:off x="1829394" y="5031065"/>
            <a:ext cx="2160000" cy="72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Object: ClassName</a:t>
            </a:r>
            <a:endParaRPr lang="zh-CN" altLang="en-US" sz="1600" u="sng" dirty="0">
              <a:solidFill>
                <a:schemeClr val="tx1"/>
              </a:solidFill>
            </a:endParaRPr>
          </a:p>
        </p:txBody>
      </p:sp>
      <p:sp>
        <p:nvSpPr>
          <p:cNvPr id="7" name="矩形: 圆角 6">
            <a:extLst>
              <a:ext uri="{FF2B5EF4-FFF2-40B4-BE49-F238E27FC236}">
                <a16:creationId xmlns:a16="http://schemas.microsoft.com/office/drawing/2014/main" id="{D147E35A-3F06-ACAB-8EA1-AE154F56F6AD}"/>
              </a:ext>
            </a:extLst>
          </p:cNvPr>
          <p:cNvSpPr/>
          <p:nvPr/>
        </p:nvSpPr>
        <p:spPr>
          <a:xfrm>
            <a:off x="5297761" y="5777999"/>
            <a:ext cx="1440000" cy="72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Object</a:t>
            </a:r>
            <a:endParaRPr lang="zh-CN" altLang="en-US" sz="1600" u="sng" dirty="0">
              <a:solidFill>
                <a:schemeClr val="tx1"/>
              </a:solidFill>
            </a:endParaRPr>
          </a:p>
        </p:txBody>
      </p:sp>
      <p:sp>
        <p:nvSpPr>
          <p:cNvPr id="8" name="矩形: 圆角 7">
            <a:extLst>
              <a:ext uri="{FF2B5EF4-FFF2-40B4-BE49-F238E27FC236}">
                <a16:creationId xmlns:a16="http://schemas.microsoft.com/office/drawing/2014/main" id="{AB342356-6A0C-38AB-1EF5-AD87EE3349D5}"/>
              </a:ext>
            </a:extLst>
          </p:cNvPr>
          <p:cNvSpPr/>
          <p:nvPr/>
        </p:nvSpPr>
        <p:spPr>
          <a:xfrm>
            <a:off x="5297761" y="4284132"/>
            <a:ext cx="1440000" cy="72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Object</a:t>
            </a:r>
            <a:endParaRPr lang="zh-CN" altLang="en-US" sz="1600" u="sng" dirty="0">
              <a:solidFill>
                <a:schemeClr val="tx1"/>
              </a:solidFill>
            </a:endParaRPr>
          </a:p>
        </p:txBody>
      </p:sp>
      <p:sp>
        <p:nvSpPr>
          <p:cNvPr id="9" name="矩形: 圆角 8">
            <a:extLst>
              <a:ext uri="{FF2B5EF4-FFF2-40B4-BE49-F238E27FC236}">
                <a16:creationId xmlns:a16="http://schemas.microsoft.com/office/drawing/2014/main" id="{1FE28E40-CDE5-C186-6613-D1CC22E986EF}"/>
              </a:ext>
            </a:extLst>
          </p:cNvPr>
          <p:cNvSpPr/>
          <p:nvPr/>
        </p:nvSpPr>
        <p:spPr>
          <a:xfrm>
            <a:off x="8046127" y="5031066"/>
            <a:ext cx="1440000" cy="720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:ClassName</a:t>
            </a:r>
            <a:endParaRPr lang="zh-CN" altLang="en-US" sz="1600" u="sng" dirty="0">
              <a:solidFill>
                <a:schemeClr val="tx1"/>
              </a:solidFill>
            </a:endParaRPr>
          </a:p>
        </p:txBody>
      </p:sp>
      <p:cxnSp>
        <p:nvCxnSpPr>
          <p:cNvPr id="11" name="直接连接符 10">
            <a:extLst>
              <a:ext uri="{FF2B5EF4-FFF2-40B4-BE49-F238E27FC236}">
                <a16:creationId xmlns:a16="http://schemas.microsoft.com/office/drawing/2014/main" id="{F47AF4F4-C4CF-C44D-90F7-469CAAE2624C}"/>
              </a:ext>
            </a:extLst>
          </p:cNvPr>
          <p:cNvCxnSpPr>
            <a:stCxn id="2" idx="2"/>
            <a:endCxn id="4" idx="0"/>
          </p:cNvCxnSpPr>
          <p:nvPr/>
        </p:nvCxnSpPr>
        <p:spPr>
          <a:xfrm>
            <a:off x="2909394" y="2773664"/>
            <a:ext cx="0" cy="7738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57364E9-DF27-DDFD-85ED-12CDBDF87F5C}"/>
              </a:ext>
            </a:extLst>
          </p:cNvPr>
          <p:cNvCxnSpPr>
            <a:stCxn id="4" idx="2"/>
            <a:endCxn id="5" idx="0"/>
          </p:cNvCxnSpPr>
          <p:nvPr/>
        </p:nvCxnSpPr>
        <p:spPr>
          <a:xfrm>
            <a:off x="2909394" y="4267530"/>
            <a:ext cx="0" cy="7635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571EC56-DC74-AACF-C847-7C3A6F7E683D}"/>
              </a:ext>
            </a:extLst>
          </p:cNvPr>
          <p:cNvCxnSpPr>
            <a:stCxn id="5" idx="3"/>
            <a:endCxn id="8" idx="1"/>
          </p:cNvCxnSpPr>
          <p:nvPr/>
        </p:nvCxnSpPr>
        <p:spPr>
          <a:xfrm flipV="1">
            <a:off x="3989394" y="4644132"/>
            <a:ext cx="1308367" cy="746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28871D3-B204-769B-8FAF-0BC6E2FAFC2E}"/>
              </a:ext>
            </a:extLst>
          </p:cNvPr>
          <p:cNvCxnSpPr>
            <a:stCxn id="5" idx="3"/>
            <a:endCxn id="7" idx="1"/>
          </p:cNvCxnSpPr>
          <p:nvPr/>
        </p:nvCxnSpPr>
        <p:spPr>
          <a:xfrm>
            <a:off x="3989394" y="5391065"/>
            <a:ext cx="1308367" cy="7469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3AFEBAE5-BB7B-A76C-F3CE-27D7F4552070}"/>
              </a:ext>
            </a:extLst>
          </p:cNvPr>
          <p:cNvCxnSpPr>
            <a:stCxn id="8" idx="3"/>
            <a:endCxn id="9" idx="1"/>
          </p:cNvCxnSpPr>
          <p:nvPr/>
        </p:nvCxnSpPr>
        <p:spPr>
          <a:xfrm>
            <a:off x="6737761" y="4644132"/>
            <a:ext cx="1308366" cy="7469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AC19452D-81FC-9086-66DE-A03E1868D10B}"/>
              </a:ext>
            </a:extLst>
          </p:cNvPr>
          <p:cNvCxnSpPr>
            <a:stCxn id="9" idx="1"/>
            <a:endCxn id="7" idx="3"/>
          </p:cNvCxnSpPr>
          <p:nvPr/>
        </p:nvCxnSpPr>
        <p:spPr>
          <a:xfrm flipH="1">
            <a:off x="6737761" y="5391066"/>
            <a:ext cx="1308366" cy="746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52EAAD4E-5664-43D4-9573-862CC10C9052}"/>
              </a:ext>
            </a:extLst>
          </p:cNvPr>
          <p:cNvGrpSpPr/>
          <p:nvPr/>
        </p:nvGrpSpPr>
        <p:grpSpPr>
          <a:xfrm>
            <a:off x="3226068" y="2890597"/>
            <a:ext cx="1526380" cy="540000"/>
            <a:chOff x="1947601" y="2979000"/>
            <a:chExt cx="1526380" cy="540000"/>
          </a:xfrm>
        </p:grpSpPr>
        <p:cxnSp>
          <p:nvCxnSpPr>
            <p:cNvPr id="24" name="直接箭头连接符 23">
              <a:extLst>
                <a:ext uri="{FF2B5EF4-FFF2-40B4-BE49-F238E27FC236}">
                  <a16:creationId xmlns:a16="http://schemas.microsoft.com/office/drawing/2014/main" id="{49CCF815-E0ED-7A9B-0833-FFCBA3D2808E}"/>
                </a:ext>
              </a:extLst>
            </p:cNvPr>
            <p:cNvCxnSpPr>
              <a:cxnSpLocks/>
            </p:cNvCxnSpPr>
            <p:nvPr/>
          </p:nvCxnSpPr>
          <p:spPr>
            <a:xfrm>
              <a:off x="1947601" y="2979000"/>
              <a:ext cx="0" cy="54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6E87A57-A0CB-1855-734D-242B5B46228F}"/>
                </a:ext>
              </a:extLst>
            </p:cNvPr>
            <p:cNvSpPr txBox="1"/>
            <p:nvPr/>
          </p:nvSpPr>
          <p:spPr>
            <a:xfrm>
              <a:off x="1947601" y="3079723"/>
              <a:ext cx="1526380" cy="338554"/>
            </a:xfrm>
            <a:prstGeom prst="rect">
              <a:avLst/>
            </a:prstGeom>
            <a:noFill/>
          </p:spPr>
          <p:txBody>
            <a:bodyPr wrap="none" rtlCol="0">
              <a:spAutoFit/>
            </a:bodyPr>
            <a:lstStyle/>
            <a:p>
              <a:r>
                <a:rPr lang="en-US" altLang="zh-CN" sz="1600" dirty="0" smtClean="0"/>
                <a:t>1.Message/</a:t>
              </a:r>
              <a:r>
                <a:rPr lang="zh-CN" altLang="en-US" sz="1600" dirty="0" smtClean="0"/>
                <a:t>单播</a:t>
              </a:r>
              <a:endParaRPr lang="zh-CN" altLang="en-US" sz="1600" dirty="0"/>
            </a:p>
          </p:txBody>
        </p:sp>
      </p:grpSp>
      <p:grpSp>
        <p:nvGrpSpPr>
          <p:cNvPr id="27" name="组合 26">
            <a:extLst>
              <a:ext uri="{FF2B5EF4-FFF2-40B4-BE49-F238E27FC236}">
                <a16:creationId xmlns:a16="http://schemas.microsoft.com/office/drawing/2014/main" id="{A8744B59-103F-6EF0-8AFB-C397AE6751FC}"/>
              </a:ext>
            </a:extLst>
          </p:cNvPr>
          <p:cNvGrpSpPr/>
          <p:nvPr/>
        </p:nvGrpSpPr>
        <p:grpSpPr>
          <a:xfrm>
            <a:off x="3226068" y="4370998"/>
            <a:ext cx="1058303" cy="540000"/>
            <a:chOff x="1947601" y="2979000"/>
            <a:chExt cx="1058303" cy="540000"/>
          </a:xfrm>
        </p:grpSpPr>
        <p:cxnSp>
          <p:nvCxnSpPr>
            <p:cNvPr id="28" name="直接箭头连接符 27">
              <a:extLst>
                <a:ext uri="{FF2B5EF4-FFF2-40B4-BE49-F238E27FC236}">
                  <a16:creationId xmlns:a16="http://schemas.microsoft.com/office/drawing/2014/main" id="{F2D54164-9A36-C1BF-CD9A-70F2C26C76F1}"/>
                </a:ext>
              </a:extLst>
            </p:cNvPr>
            <p:cNvCxnSpPr>
              <a:cxnSpLocks/>
            </p:cNvCxnSpPr>
            <p:nvPr/>
          </p:nvCxnSpPr>
          <p:spPr>
            <a:xfrm>
              <a:off x="1947601" y="2979000"/>
              <a:ext cx="0" cy="54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5F8DF58D-8348-5432-EE2D-2484EF91CC6F}"/>
                </a:ext>
              </a:extLst>
            </p:cNvPr>
            <p:cNvSpPr txBox="1"/>
            <p:nvPr/>
          </p:nvSpPr>
          <p:spPr>
            <a:xfrm>
              <a:off x="1947601" y="3079723"/>
              <a:ext cx="1058303" cy="338554"/>
            </a:xfrm>
            <a:prstGeom prst="rect">
              <a:avLst/>
            </a:prstGeom>
            <a:noFill/>
          </p:spPr>
          <p:txBody>
            <a:bodyPr wrap="none" rtlCol="0">
              <a:spAutoFit/>
            </a:bodyPr>
            <a:lstStyle/>
            <a:p>
              <a:r>
                <a:rPr lang="en-US" altLang="zh-CN" sz="1600" dirty="0"/>
                <a:t>2.Message</a:t>
              </a:r>
              <a:endParaRPr lang="zh-CN" altLang="en-US" sz="1600" dirty="0"/>
            </a:p>
          </p:txBody>
        </p:sp>
      </p:grpSp>
      <p:cxnSp>
        <p:nvCxnSpPr>
          <p:cNvPr id="31" name="直接箭头连接符 30">
            <a:extLst>
              <a:ext uri="{FF2B5EF4-FFF2-40B4-BE49-F238E27FC236}">
                <a16:creationId xmlns:a16="http://schemas.microsoft.com/office/drawing/2014/main" id="{9D3BB9C7-065D-879E-6819-C7CD02EDF958}"/>
              </a:ext>
            </a:extLst>
          </p:cNvPr>
          <p:cNvCxnSpPr>
            <a:cxnSpLocks/>
          </p:cNvCxnSpPr>
          <p:nvPr/>
        </p:nvCxnSpPr>
        <p:spPr>
          <a:xfrm>
            <a:off x="7281334" y="4712197"/>
            <a:ext cx="404715" cy="1988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DCA048B3-8E66-F486-877F-BFF6444D67D2}"/>
              </a:ext>
            </a:extLst>
          </p:cNvPr>
          <p:cNvSpPr txBox="1"/>
          <p:nvPr/>
        </p:nvSpPr>
        <p:spPr>
          <a:xfrm>
            <a:off x="7281334" y="4471721"/>
            <a:ext cx="1994457" cy="338554"/>
          </a:xfrm>
          <a:prstGeom prst="rect">
            <a:avLst/>
          </a:prstGeom>
          <a:noFill/>
        </p:spPr>
        <p:txBody>
          <a:bodyPr wrap="none" rtlCol="0">
            <a:spAutoFit/>
          </a:bodyPr>
          <a:lstStyle/>
          <a:p>
            <a:r>
              <a:rPr lang="en-US" altLang="zh-CN" sz="1600" dirty="0" smtClean="0"/>
              <a:t>4.Message/</a:t>
            </a:r>
            <a:r>
              <a:rPr lang="zh-CN" altLang="en-US" sz="1600" dirty="0" smtClean="0"/>
              <a:t>多播</a:t>
            </a:r>
            <a:r>
              <a:rPr lang="en-US" altLang="zh-CN" sz="1600" dirty="0" smtClean="0"/>
              <a:t>/</a:t>
            </a:r>
            <a:r>
              <a:rPr lang="zh-CN" altLang="en-US" sz="1600" dirty="0" smtClean="0"/>
              <a:t>群播</a:t>
            </a:r>
            <a:endParaRPr lang="zh-CN" altLang="en-US" sz="1600" dirty="0"/>
          </a:p>
        </p:txBody>
      </p:sp>
      <p:cxnSp>
        <p:nvCxnSpPr>
          <p:cNvPr id="34" name="直接箭头连接符 33">
            <a:extLst>
              <a:ext uri="{FF2B5EF4-FFF2-40B4-BE49-F238E27FC236}">
                <a16:creationId xmlns:a16="http://schemas.microsoft.com/office/drawing/2014/main" id="{A2E01BBF-CDD9-7F8C-064F-64E30B14A10E}"/>
              </a:ext>
            </a:extLst>
          </p:cNvPr>
          <p:cNvCxnSpPr>
            <a:cxnSpLocks/>
          </p:cNvCxnSpPr>
          <p:nvPr/>
        </p:nvCxnSpPr>
        <p:spPr>
          <a:xfrm flipV="1">
            <a:off x="7234327" y="5871136"/>
            <a:ext cx="377207" cy="19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045FA10F-A129-F4BE-C623-EA5A052979AA}"/>
              </a:ext>
            </a:extLst>
          </p:cNvPr>
          <p:cNvSpPr txBox="1"/>
          <p:nvPr/>
        </p:nvSpPr>
        <p:spPr>
          <a:xfrm>
            <a:off x="7121558" y="5979445"/>
            <a:ext cx="1058303" cy="338554"/>
          </a:xfrm>
          <a:prstGeom prst="rect">
            <a:avLst/>
          </a:prstGeom>
          <a:noFill/>
        </p:spPr>
        <p:txBody>
          <a:bodyPr wrap="none" rtlCol="0">
            <a:spAutoFit/>
          </a:bodyPr>
          <a:lstStyle/>
          <a:p>
            <a:r>
              <a:rPr lang="en-US" altLang="zh-CN" sz="1600" dirty="0"/>
              <a:t>4.Message</a:t>
            </a:r>
            <a:endParaRPr lang="zh-CN" altLang="en-US" sz="1600" dirty="0"/>
          </a:p>
        </p:txBody>
      </p:sp>
      <p:sp>
        <p:nvSpPr>
          <p:cNvPr id="13" name="文本框 12">
            <a:extLst>
              <a:ext uri="{FF2B5EF4-FFF2-40B4-BE49-F238E27FC236}">
                <a16:creationId xmlns:a16="http://schemas.microsoft.com/office/drawing/2014/main" id="{6DD2B4F5-424C-047B-81DA-EC5B1F24D21B}"/>
              </a:ext>
            </a:extLst>
          </p:cNvPr>
          <p:cNvSpPr txBox="1"/>
          <p:nvPr/>
        </p:nvSpPr>
        <p:spPr>
          <a:xfrm>
            <a:off x="8213039" y="1322832"/>
            <a:ext cx="1800493" cy="1200329"/>
          </a:xfrm>
          <a:prstGeom prst="rect">
            <a:avLst/>
          </a:prstGeom>
          <a:noFill/>
        </p:spPr>
        <p:txBody>
          <a:bodyPr wrap="none" rtlCol="0">
            <a:spAutoFit/>
          </a:bodyPr>
          <a:lstStyle/>
          <a:p>
            <a:r>
              <a:rPr lang="zh-CN" altLang="en-US" dirty="0"/>
              <a:t>要素</a:t>
            </a:r>
            <a:endParaRPr lang="en-US" altLang="zh-CN" dirty="0"/>
          </a:p>
          <a:p>
            <a:pPr marL="285750" indent="-285750">
              <a:buFont typeface="Arial" panose="020B0604020202020204" pitchFamily="34" charset="0"/>
              <a:buChar char="•"/>
            </a:pPr>
            <a:r>
              <a:rPr lang="zh-CN" altLang="zh-CN" dirty="0"/>
              <a:t>对象</a:t>
            </a:r>
            <a:r>
              <a:rPr lang="en-US" altLang="zh-CN" dirty="0"/>
              <a:t> </a:t>
            </a:r>
            <a:r>
              <a:rPr lang="zh-CN" altLang="zh-CN" dirty="0"/>
              <a:t>Object</a:t>
            </a:r>
            <a:endParaRPr lang="en-US" altLang="zh-CN" dirty="0"/>
          </a:p>
          <a:p>
            <a:pPr marL="285750" indent="-285750">
              <a:buFont typeface="Arial" panose="020B0604020202020204" pitchFamily="34" charset="0"/>
              <a:buChar char="•"/>
            </a:pPr>
            <a:r>
              <a:rPr lang="zh-CN" altLang="zh-CN" dirty="0"/>
              <a:t>消息</a:t>
            </a:r>
            <a:r>
              <a:rPr lang="en-US" altLang="zh-CN" dirty="0"/>
              <a:t> </a:t>
            </a:r>
            <a:r>
              <a:rPr lang="zh-CN" altLang="zh-CN" dirty="0"/>
              <a:t>Message</a:t>
            </a:r>
            <a:endParaRPr lang="en-US" altLang="zh-CN" dirty="0"/>
          </a:p>
          <a:p>
            <a:pPr marL="285750" indent="-285750">
              <a:buFont typeface="Arial" panose="020B0604020202020204" pitchFamily="34" charset="0"/>
              <a:buChar char="•"/>
            </a:pPr>
            <a:r>
              <a:rPr lang="zh-CN" altLang="zh-CN" dirty="0"/>
              <a:t>链</a:t>
            </a:r>
            <a:r>
              <a:rPr lang="en-US" altLang="zh-CN" dirty="0"/>
              <a:t> </a:t>
            </a:r>
            <a:r>
              <a:rPr lang="zh-CN" altLang="zh-CN" dirty="0"/>
              <a:t>Link</a:t>
            </a:r>
            <a:endParaRPr lang="zh-CN" altLang="en-US" dirty="0"/>
          </a:p>
        </p:txBody>
      </p:sp>
      <p:sp>
        <p:nvSpPr>
          <p:cNvPr id="39" name="矩形: 圆角 38">
            <a:extLst>
              <a:ext uri="{FF2B5EF4-FFF2-40B4-BE49-F238E27FC236}">
                <a16:creationId xmlns:a16="http://schemas.microsoft.com/office/drawing/2014/main" id="{BE5A9045-FFF5-D54D-6695-691A16654BA2}"/>
              </a:ext>
            </a:extLst>
          </p:cNvPr>
          <p:cNvSpPr/>
          <p:nvPr/>
        </p:nvSpPr>
        <p:spPr>
          <a:xfrm>
            <a:off x="8161203" y="5146142"/>
            <a:ext cx="1440000" cy="720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:ClassName</a:t>
            </a:r>
            <a:endParaRPr lang="zh-CN" altLang="en-US" sz="1600" u="sng" dirty="0">
              <a:solidFill>
                <a:schemeClr val="tx1"/>
              </a:solidFill>
            </a:endParaRPr>
          </a:p>
        </p:txBody>
      </p:sp>
      <p:sp>
        <p:nvSpPr>
          <p:cNvPr id="40" name="矩形: 圆角 39">
            <a:extLst>
              <a:ext uri="{FF2B5EF4-FFF2-40B4-BE49-F238E27FC236}">
                <a16:creationId xmlns:a16="http://schemas.microsoft.com/office/drawing/2014/main" id="{92438023-F5F9-BFB7-0B2F-6BCA38D6D163}"/>
              </a:ext>
            </a:extLst>
          </p:cNvPr>
          <p:cNvSpPr/>
          <p:nvPr/>
        </p:nvSpPr>
        <p:spPr>
          <a:xfrm>
            <a:off x="8276279" y="5261218"/>
            <a:ext cx="1440000" cy="720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:ClassName</a:t>
            </a:r>
            <a:endParaRPr lang="zh-CN" altLang="en-US" sz="1600" u="sng" dirty="0">
              <a:solidFill>
                <a:schemeClr val="tx1"/>
              </a:solidFill>
            </a:endParaRPr>
          </a:p>
        </p:txBody>
      </p:sp>
      <p:sp>
        <p:nvSpPr>
          <p:cNvPr id="41" name="矩形: 圆角 40">
            <a:extLst>
              <a:ext uri="{FF2B5EF4-FFF2-40B4-BE49-F238E27FC236}">
                <a16:creationId xmlns:a16="http://schemas.microsoft.com/office/drawing/2014/main" id="{B11CA023-E479-CA01-CAEC-D52A15DA0A35}"/>
              </a:ext>
            </a:extLst>
          </p:cNvPr>
          <p:cNvSpPr/>
          <p:nvPr/>
        </p:nvSpPr>
        <p:spPr>
          <a:xfrm>
            <a:off x="8391355" y="5376294"/>
            <a:ext cx="1440000" cy="720000"/>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u="sng" dirty="0">
                <a:solidFill>
                  <a:schemeClr val="tx1"/>
                </a:solidFill>
              </a:rPr>
              <a:t>:ClassName</a:t>
            </a:r>
            <a:endParaRPr lang="zh-CN" altLang="en-US" sz="1600" u="sng" dirty="0">
              <a:solidFill>
                <a:schemeClr val="tx1"/>
              </a:solidFill>
            </a:endParaRPr>
          </a:p>
        </p:txBody>
      </p:sp>
    </p:spTree>
    <p:extLst>
      <p:ext uri="{BB962C8B-B14F-4D97-AF65-F5344CB8AC3E}">
        <p14:creationId xmlns:p14="http://schemas.microsoft.com/office/powerpoint/2010/main" val="1753655918"/>
      </p:ext>
    </p:extLst>
  </p:cSld>
  <p:clrMapOvr>
    <a:masterClrMapping/>
  </p:clrMapOvr>
  <p:transition>
    <p:diamon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19" name="文本占位符 18">
            <a:extLst>
              <a:ext uri="{FF2B5EF4-FFF2-40B4-BE49-F238E27FC236}">
                <a16:creationId xmlns:a16="http://schemas.microsoft.com/office/drawing/2014/main" id="{12C530CD-F131-EB48-9CF1-D856C20CAE9E}"/>
              </a:ext>
            </a:extLst>
          </p:cNvPr>
          <p:cNvSpPr>
            <a:spLocks noGrp="1"/>
          </p:cNvSpPr>
          <p:nvPr>
            <p:ph type="body" sz="quarter" idx="10"/>
          </p:nvPr>
        </p:nvSpPr>
        <p:spPr>
          <a:xfrm>
            <a:off x="900001" y="1322832"/>
            <a:ext cx="5196000" cy="400110"/>
          </a:xfrm>
        </p:spPr>
        <p:txBody>
          <a:bodyPr/>
          <a:lstStyle/>
          <a:p>
            <a:r>
              <a:rPr lang="en-US" altLang="zh-CN" dirty="0"/>
              <a:t>6.3.7 </a:t>
            </a:r>
            <a:r>
              <a:rPr lang="zh-CN" altLang="en-US" dirty="0"/>
              <a:t>协作图 </a:t>
            </a:r>
            <a:r>
              <a:rPr lang="en-US" altLang="zh-CN" dirty="0"/>
              <a:t>Collaboration Diagram</a:t>
            </a:r>
            <a:endParaRPr lang="zh-CN" altLang="en-US" dirty="0"/>
          </a:p>
        </p:txBody>
      </p:sp>
      <p:sp>
        <p:nvSpPr>
          <p:cNvPr id="167" name="圆角矩形"/>
          <p:cNvSpPr/>
          <p:nvPr/>
        </p:nvSpPr>
        <p:spPr>
          <a:xfrm>
            <a:off x="7193902" y="618552"/>
            <a:ext cx="4735092" cy="73088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algn="l" eaLnBrk="1" fontAlgn="auto" hangingPunct="1">
              <a:spcBef>
                <a:spcPts val="0"/>
              </a:spcBef>
              <a:spcAft>
                <a:spcPts val="0"/>
              </a:spcAft>
              <a:defRPr/>
            </a:pPr>
            <a:r>
              <a:rPr lang="zh-CN" altLang="en-US" sz="1600" dirty="0">
                <a:solidFill>
                  <a:schemeClr val="tx1"/>
                </a:solidFill>
              </a:rPr>
              <a:t>书写消息标签的语法规则：</a:t>
            </a:r>
          </a:p>
          <a:p>
            <a:pPr indent="457200" algn="l" eaLnBrk="1" fontAlgn="auto" hangingPunct="1">
              <a:spcBef>
                <a:spcPts val="0"/>
              </a:spcBef>
              <a:spcAft>
                <a:spcPts val="0"/>
              </a:spcAft>
              <a:defRPr/>
            </a:pPr>
            <a:r>
              <a:rPr lang="zh-CN" altLang="en-US" sz="1600" dirty="0">
                <a:solidFill>
                  <a:schemeClr val="tx1"/>
                </a:solidFill>
              </a:rPr>
              <a:t>前缀 </a:t>
            </a:r>
            <a:r>
              <a:rPr lang="en-US" altLang="zh-CN" sz="1600" dirty="0">
                <a:solidFill>
                  <a:schemeClr val="tx1"/>
                </a:solidFill>
              </a:rPr>
              <a:t>[</a:t>
            </a:r>
            <a:r>
              <a:rPr lang="zh-CN" altLang="en-US" sz="1600" dirty="0">
                <a:solidFill>
                  <a:schemeClr val="tx1"/>
                </a:solidFill>
              </a:rPr>
              <a:t>条件</a:t>
            </a:r>
            <a:r>
              <a:rPr lang="en-US" altLang="zh-CN" sz="1600" dirty="0">
                <a:solidFill>
                  <a:schemeClr val="tx1"/>
                </a:solidFill>
              </a:rPr>
              <a:t>]  </a:t>
            </a:r>
            <a:r>
              <a:rPr lang="zh-CN" altLang="en-US" sz="1600" dirty="0">
                <a:solidFill>
                  <a:schemeClr val="tx1"/>
                </a:solidFill>
              </a:rPr>
              <a:t>序列表达式  返回值</a:t>
            </a:r>
            <a:r>
              <a:rPr lang="en-US" altLang="zh-CN" sz="1600" dirty="0">
                <a:solidFill>
                  <a:schemeClr val="tx1"/>
                </a:solidFill>
              </a:rPr>
              <a:t>:</a:t>
            </a:r>
            <a:r>
              <a:rPr lang="zh-CN" altLang="en-US" sz="1600" dirty="0">
                <a:solidFill>
                  <a:schemeClr val="tx1"/>
                </a:solidFill>
              </a:rPr>
              <a:t>＝消息说明</a:t>
            </a:r>
          </a:p>
        </p:txBody>
      </p:sp>
      <p:sp>
        <p:nvSpPr>
          <p:cNvPr id="39" name="TextBox 1"/>
          <p:cNvSpPr txBox="1">
            <a:spLocks noChangeArrowheads="1"/>
          </p:cNvSpPr>
          <p:nvPr/>
        </p:nvSpPr>
        <p:spPr bwMode="auto">
          <a:xfrm>
            <a:off x="977900" y="2788400"/>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40" name="直接连接符 39"/>
          <p:cNvCxnSpPr/>
          <p:nvPr/>
        </p:nvCxnSpPr>
        <p:spPr>
          <a:xfrm flipH="1">
            <a:off x="977900" y="2788400"/>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1430341" y="2883650"/>
            <a:ext cx="2688904"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前缀</a:t>
            </a:r>
          </a:p>
        </p:txBody>
      </p:sp>
      <p:sp>
        <p:nvSpPr>
          <p:cNvPr id="42" name="矩形 8"/>
          <p:cNvSpPr>
            <a:spLocks noChangeArrowheads="1"/>
          </p:cNvSpPr>
          <p:nvPr/>
        </p:nvSpPr>
        <p:spPr bwMode="auto">
          <a:xfrm>
            <a:off x="1430655" y="3116060"/>
            <a:ext cx="4772025" cy="1188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前缀表示在发送当前消息之前应该把指定序列号的消息处理完。若有多个序列号则用逗号隔开。用斜线标志前缀的结束。</a:t>
            </a:r>
          </a:p>
        </p:txBody>
      </p:sp>
      <p:sp>
        <p:nvSpPr>
          <p:cNvPr id="51" name="TextBox 10"/>
          <p:cNvSpPr txBox="1">
            <a:spLocks noChangeArrowheads="1"/>
          </p:cNvSpPr>
          <p:nvPr/>
        </p:nvSpPr>
        <p:spPr bwMode="auto">
          <a:xfrm>
            <a:off x="6410343" y="2637667"/>
            <a:ext cx="36127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52" name="直接连接符 51"/>
          <p:cNvCxnSpPr/>
          <p:nvPr/>
        </p:nvCxnSpPr>
        <p:spPr>
          <a:xfrm flipH="1">
            <a:off x="6410343" y="2637667"/>
            <a:ext cx="590607"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p:cNvSpPr>
            <a:spLocks noChangeArrowheads="1"/>
          </p:cNvSpPr>
          <p:nvPr/>
        </p:nvSpPr>
        <p:spPr bwMode="auto">
          <a:xfrm>
            <a:off x="6858018" y="2732917"/>
            <a:ext cx="92392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条件</a:t>
            </a:r>
          </a:p>
        </p:txBody>
      </p:sp>
      <p:sp>
        <p:nvSpPr>
          <p:cNvPr id="54" name="矩形 9"/>
          <p:cNvSpPr>
            <a:spLocks noChangeArrowheads="1"/>
          </p:cNvSpPr>
          <p:nvPr/>
        </p:nvSpPr>
        <p:spPr bwMode="auto">
          <a:xfrm>
            <a:off x="6882148" y="3038987"/>
            <a:ext cx="4613275" cy="72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书写条件的语法规则与状态图一样，在方括号内写条件。</a:t>
            </a:r>
          </a:p>
        </p:txBody>
      </p:sp>
      <p:sp>
        <p:nvSpPr>
          <p:cNvPr id="13" name="TextBox 1"/>
          <p:cNvSpPr txBox="1">
            <a:spLocks noChangeArrowheads="1"/>
          </p:cNvSpPr>
          <p:nvPr/>
        </p:nvSpPr>
        <p:spPr bwMode="auto">
          <a:xfrm>
            <a:off x="899198" y="4385177"/>
            <a:ext cx="3714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3</a:t>
            </a:r>
          </a:p>
        </p:txBody>
      </p:sp>
      <p:cxnSp>
        <p:nvCxnSpPr>
          <p:cNvPr id="14" name="直接连接符 13"/>
          <p:cNvCxnSpPr/>
          <p:nvPr/>
        </p:nvCxnSpPr>
        <p:spPr>
          <a:xfrm flipH="1">
            <a:off x="899198" y="4385177"/>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7"/>
          <p:cNvSpPr>
            <a:spLocks noChangeArrowheads="1"/>
          </p:cNvSpPr>
          <p:nvPr/>
        </p:nvSpPr>
        <p:spPr bwMode="auto">
          <a:xfrm>
            <a:off x="1351639" y="4480427"/>
            <a:ext cx="2688904"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序列表达式</a:t>
            </a:r>
          </a:p>
        </p:txBody>
      </p:sp>
      <p:sp>
        <p:nvSpPr>
          <p:cNvPr id="16" name="矩形 8"/>
          <p:cNvSpPr>
            <a:spLocks noChangeArrowheads="1"/>
          </p:cNvSpPr>
          <p:nvPr/>
        </p:nvSpPr>
        <p:spPr bwMode="auto">
          <a:xfrm>
            <a:off x="1351953" y="4712837"/>
            <a:ext cx="4824095" cy="155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序列表达式用于指定消息发送的顺序。在协作图中把消息按顺序编号：消息1总是消息序列的开始消息，消息1.1是处理消息1过程中的第1条嵌套消息，消息1.2是第2条嵌套消息，以此类推。</a:t>
            </a:r>
          </a:p>
        </p:txBody>
      </p:sp>
      <p:sp>
        <p:nvSpPr>
          <p:cNvPr id="20" name="TextBox 10"/>
          <p:cNvSpPr txBox="1">
            <a:spLocks noChangeArrowheads="1"/>
          </p:cNvSpPr>
          <p:nvPr/>
        </p:nvSpPr>
        <p:spPr bwMode="auto">
          <a:xfrm>
            <a:off x="6475095" y="4179570"/>
            <a:ext cx="360699"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4</a:t>
            </a:r>
          </a:p>
        </p:txBody>
      </p:sp>
      <p:cxnSp>
        <p:nvCxnSpPr>
          <p:cNvPr id="21" name="直接连接符 20"/>
          <p:cNvCxnSpPr/>
          <p:nvPr/>
        </p:nvCxnSpPr>
        <p:spPr>
          <a:xfrm flipH="1">
            <a:off x="6475095" y="4179570"/>
            <a:ext cx="590639"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2" name="矩形 12"/>
          <p:cNvSpPr>
            <a:spLocks noChangeArrowheads="1"/>
          </p:cNvSpPr>
          <p:nvPr/>
        </p:nvSpPr>
        <p:spPr bwMode="auto">
          <a:xfrm>
            <a:off x="6922770" y="4274820"/>
            <a:ext cx="334708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消息说明</a:t>
            </a:r>
          </a:p>
        </p:txBody>
      </p:sp>
      <p:sp>
        <p:nvSpPr>
          <p:cNvPr id="23" name="矩形 9"/>
          <p:cNvSpPr>
            <a:spLocks noChangeArrowheads="1"/>
          </p:cNvSpPr>
          <p:nvPr/>
        </p:nvSpPr>
        <p:spPr bwMode="auto">
          <a:xfrm>
            <a:off x="6946900" y="4580890"/>
            <a:ext cx="4845685" cy="72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消息说明由消息名和参数表组成，其语法与状态图中事件说明的语法相同。</a:t>
            </a:r>
          </a:p>
        </p:txBody>
      </p:sp>
      <p:sp>
        <p:nvSpPr>
          <p:cNvPr id="26" name="TextBox 10"/>
          <p:cNvSpPr txBox="1">
            <a:spLocks noChangeArrowheads="1"/>
          </p:cNvSpPr>
          <p:nvPr/>
        </p:nvSpPr>
        <p:spPr bwMode="auto">
          <a:xfrm>
            <a:off x="6494780" y="5504815"/>
            <a:ext cx="37401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5</a:t>
            </a:r>
          </a:p>
        </p:txBody>
      </p:sp>
      <p:cxnSp>
        <p:nvCxnSpPr>
          <p:cNvPr id="27" name="直接连接符 26"/>
          <p:cNvCxnSpPr/>
          <p:nvPr/>
        </p:nvCxnSpPr>
        <p:spPr>
          <a:xfrm flipH="1">
            <a:off x="6494780" y="5504815"/>
            <a:ext cx="590639"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8" name="矩形 12"/>
          <p:cNvSpPr>
            <a:spLocks noChangeArrowheads="1"/>
          </p:cNvSpPr>
          <p:nvPr/>
        </p:nvSpPr>
        <p:spPr bwMode="auto">
          <a:xfrm>
            <a:off x="6942455" y="5600065"/>
            <a:ext cx="334708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返回值</a:t>
            </a:r>
          </a:p>
        </p:txBody>
      </p:sp>
      <p:sp>
        <p:nvSpPr>
          <p:cNvPr id="30" name="矩形 9"/>
          <p:cNvSpPr>
            <a:spLocks noChangeArrowheads="1"/>
          </p:cNvSpPr>
          <p:nvPr/>
        </p:nvSpPr>
        <p:spPr bwMode="auto">
          <a:xfrm>
            <a:off x="6966585" y="5906135"/>
            <a:ext cx="4845685" cy="408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返回值表示消息（操作调用）的结果。</a:t>
            </a:r>
          </a:p>
        </p:txBody>
      </p:sp>
      <p:sp>
        <p:nvSpPr>
          <p:cNvPr id="10" name="学士帽">
            <a:extLst>
              <a:ext uri="{FF2B5EF4-FFF2-40B4-BE49-F238E27FC236}">
                <a16:creationId xmlns:a16="http://schemas.microsoft.com/office/drawing/2014/main" id="{A17CAE92-A037-DFAA-0943-F1939C3B3544}"/>
              </a:ext>
            </a:extLst>
          </p:cNvPr>
          <p:cNvSpPr/>
          <p:nvPr/>
        </p:nvSpPr>
        <p:spPr bwMode="auto">
          <a:xfrm>
            <a:off x="7031439" y="363811"/>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Tree>
  </p:cSld>
  <p:clrMapOvr>
    <a:masterClrMapping/>
  </p:clrMapOvr>
  <p:transition>
    <p:circl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86B46DE9-80D5-ED8C-F77E-58C4B96835A3}"/>
              </a:ext>
            </a:extLst>
          </p:cNvPr>
          <p:cNvSpPr>
            <a:spLocks noGrp="1"/>
          </p:cNvSpPr>
          <p:nvPr>
            <p:ph type="body" sz="quarter" idx="10"/>
          </p:nvPr>
        </p:nvSpPr>
        <p:spPr/>
        <p:txBody>
          <a:bodyPr/>
          <a:lstStyle/>
          <a:p>
            <a:r>
              <a:rPr lang="zh-CN" altLang="en-US" dirty="0"/>
              <a:t>案例 </a:t>
            </a:r>
            <a:r>
              <a:rPr lang="en-US" altLang="zh-CN" dirty="0"/>
              <a:t>6-19 </a:t>
            </a:r>
            <a:endParaRPr lang="zh-CN" altLang="en-US" dirty="0"/>
          </a:p>
        </p:txBody>
      </p:sp>
      <p:sp>
        <p:nvSpPr>
          <p:cNvPr id="43" name="TextBox 42"/>
          <p:cNvSpPr txBox="1"/>
          <p:nvPr/>
        </p:nvSpPr>
        <p:spPr>
          <a:xfrm>
            <a:off x="694801" y="2287662"/>
            <a:ext cx="9076690" cy="400050"/>
          </a:xfrm>
          <a:prstGeom prst="rect">
            <a:avLst/>
          </a:prstGeom>
          <a:noFill/>
        </p:spPr>
        <p:txBody>
          <a:bodyPr wrap="square">
            <a:spAutoFit/>
          </a:bodyPr>
          <a:lstStyle/>
          <a:p>
            <a:r>
              <a:rPr lang="zh-CN" altLang="en-US" sz="2000" dirty="0"/>
              <a:t>在学生成绩管理系统中，教师担任多门课程的教学任务，以及学生学习多门课程。</a:t>
            </a:r>
          </a:p>
        </p:txBody>
      </p:sp>
      <p:sp>
        <p:nvSpPr>
          <p:cNvPr id="44" name="矩形 43"/>
          <p:cNvSpPr>
            <a:spLocks noChangeAspect="1"/>
          </p:cNvSpPr>
          <p:nvPr/>
        </p:nvSpPr>
        <p:spPr>
          <a:xfrm>
            <a:off x="694801" y="3127384"/>
            <a:ext cx="4987290" cy="241554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r>
              <a:rPr lang="en-US" altLang="zh-CN" dirty="0"/>
              <a:t> </a:t>
            </a:r>
            <a:r>
              <a:rPr lang="zh-CN" altLang="en-US" dirty="0"/>
              <a:t>协作图用于描述系统行为是如何由系统的成分协作实现的，只有涉及协作的对象才会被表示出来。在协作图中，多对象用多个方框重叠表示。图</a:t>
            </a:r>
            <a:r>
              <a:rPr lang="en-US" altLang="en-US" dirty="0"/>
              <a:t>6-19</a:t>
            </a:r>
            <a:r>
              <a:rPr lang="zh-CN" altLang="en-US" dirty="0"/>
              <a:t>描述了在学生成绩管理系统中，教师担任多门课程的教学任务，以及学生学习多门课程。</a:t>
            </a:r>
          </a:p>
        </p:txBody>
      </p:sp>
      <p:pic>
        <p:nvPicPr>
          <p:cNvPr id="149506" name="图片 169"/>
          <p:cNvPicPr>
            <a:picLocks noChangeAspect="1" noChangeArrowheads="1"/>
          </p:cNvPicPr>
          <p:nvPr/>
        </p:nvPicPr>
        <p:blipFill>
          <a:blip r:embed="rId2" cstate="print"/>
          <a:srcRect/>
          <a:stretch>
            <a:fillRect/>
          </a:stretch>
        </p:blipFill>
        <p:spPr bwMode="auto">
          <a:xfrm>
            <a:off x="6294802" y="3127384"/>
            <a:ext cx="4606290" cy="2412819"/>
          </a:xfrm>
          <a:prstGeom prst="rect">
            <a:avLst/>
          </a:prstGeom>
          <a:noFill/>
          <a:ln w="9525">
            <a:noFill/>
            <a:miter lim="800000"/>
            <a:headEnd/>
            <a:tailEnd/>
          </a:ln>
        </p:spPr>
      </p:pic>
      <p:sp>
        <p:nvSpPr>
          <p:cNvPr id="2" name="文本框 1"/>
          <p:cNvSpPr txBox="1"/>
          <p:nvPr/>
        </p:nvSpPr>
        <p:spPr>
          <a:xfrm>
            <a:off x="7957753" y="3252432"/>
            <a:ext cx="646331" cy="369332"/>
          </a:xfrm>
          <a:prstGeom prst="rect">
            <a:avLst/>
          </a:prstGeom>
          <a:noFill/>
        </p:spPr>
        <p:txBody>
          <a:bodyPr wrap="none" rtlCol="0">
            <a:spAutoFit/>
          </a:bodyPr>
          <a:lstStyle/>
          <a:p>
            <a:r>
              <a:rPr lang="zh-CN" altLang="en-US" dirty="0" smtClean="0"/>
              <a:t>上课</a:t>
            </a:r>
            <a:endParaRPr lang="zh-CN" altLang="en-US" dirty="0"/>
          </a:p>
        </p:txBody>
      </p:sp>
      <p:cxnSp>
        <p:nvCxnSpPr>
          <p:cNvPr id="6" name="直接箭头连接符 5"/>
          <p:cNvCxnSpPr/>
          <p:nvPr/>
        </p:nvCxnSpPr>
        <p:spPr>
          <a:xfrm>
            <a:off x="7753739" y="3610947"/>
            <a:ext cx="1054359" cy="93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8238195" y="3907488"/>
            <a:ext cx="646331" cy="369332"/>
          </a:xfrm>
          <a:prstGeom prst="rect">
            <a:avLst/>
          </a:prstGeom>
          <a:noFill/>
        </p:spPr>
        <p:txBody>
          <a:bodyPr wrap="none" rtlCol="0">
            <a:spAutoFit/>
          </a:bodyPr>
          <a:lstStyle/>
          <a:p>
            <a:r>
              <a:rPr lang="zh-CN" altLang="en-US" dirty="0" smtClean="0"/>
              <a:t>反馈</a:t>
            </a:r>
            <a:endParaRPr lang="zh-CN" altLang="en-US" dirty="0"/>
          </a:p>
        </p:txBody>
      </p:sp>
      <p:cxnSp>
        <p:nvCxnSpPr>
          <p:cNvPr id="9" name="直接箭头连接符 8"/>
          <p:cNvCxnSpPr/>
          <p:nvPr/>
        </p:nvCxnSpPr>
        <p:spPr>
          <a:xfrm flipH="1">
            <a:off x="8201608" y="3907488"/>
            <a:ext cx="71950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082984" y="4463678"/>
            <a:ext cx="646331" cy="369332"/>
          </a:xfrm>
          <a:prstGeom prst="rect">
            <a:avLst/>
          </a:prstGeom>
          <a:noFill/>
        </p:spPr>
        <p:txBody>
          <a:bodyPr wrap="none" rtlCol="0">
            <a:spAutoFit/>
          </a:bodyPr>
          <a:lstStyle/>
          <a:p>
            <a:r>
              <a:rPr lang="zh-CN" altLang="en-US" dirty="0" smtClean="0"/>
              <a:t>选课</a:t>
            </a:r>
            <a:endParaRPr lang="zh-CN" altLang="en-US" dirty="0"/>
          </a:p>
        </p:txBody>
      </p:sp>
      <p:cxnSp>
        <p:nvCxnSpPr>
          <p:cNvPr id="14" name="直接箭头连接符 13"/>
          <p:cNvCxnSpPr/>
          <p:nvPr/>
        </p:nvCxnSpPr>
        <p:spPr>
          <a:xfrm>
            <a:off x="6755363" y="4276820"/>
            <a:ext cx="27992" cy="7430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9302620" y="4638766"/>
            <a:ext cx="646331" cy="369332"/>
          </a:xfrm>
          <a:prstGeom prst="rect">
            <a:avLst/>
          </a:prstGeom>
          <a:noFill/>
        </p:spPr>
        <p:txBody>
          <a:bodyPr wrap="none" rtlCol="0">
            <a:spAutoFit/>
          </a:bodyPr>
          <a:lstStyle/>
          <a:p>
            <a:r>
              <a:rPr lang="zh-CN" altLang="en-US" dirty="0" smtClean="0"/>
              <a:t>选课</a:t>
            </a:r>
            <a:endParaRPr lang="zh-CN" altLang="en-US" dirty="0"/>
          </a:p>
        </p:txBody>
      </p:sp>
      <p:cxnSp>
        <p:nvCxnSpPr>
          <p:cNvPr id="17" name="直接箭头连接符 16"/>
          <p:cNvCxnSpPr/>
          <p:nvPr/>
        </p:nvCxnSpPr>
        <p:spPr>
          <a:xfrm flipH="1">
            <a:off x="9423918" y="5141167"/>
            <a:ext cx="6158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flipV="1">
            <a:off x="7352522" y="4198776"/>
            <a:ext cx="335902" cy="4399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8884526" y="4276820"/>
            <a:ext cx="612711" cy="3715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ircl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86B46DE9-80D5-ED8C-F77E-58C4B96835A3}"/>
              </a:ext>
            </a:extLst>
          </p:cNvPr>
          <p:cNvSpPr>
            <a:spLocks noGrp="1"/>
          </p:cNvSpPr>
          <p:nvPr>
            <p:ph type="body" sz="quarter" idx="10"/>
          </p:nvPr>
        </p:nvSpPr>
        <p:spPr/>
        <p:txBody>
          <a:bodyPr/>
          <a:lstStyle/>
          <a:p>
            <a:r>
              <a:rPr lang="zh-CN" altLang="en-US" dirty="0"/>
              <a:t>案例 </a:t>
            </a:r>
            <a:r>
              <a:rPr lang="en-US" altLang="zh-CN" dirty="0"/>
              <a:t>6-19 </a:t>
            </a:r>
            <a:r>
              <a:rPr lang="zh-CN" altLang="en-US" dirty="0"/>
              <a:t>改进</a:t>
            </a:r>
            <a:r>
              <a:rPr lang="en-US" altLang="zh-CN" dirty="0"/>
              <a:t> </a:t>
            </a:r>
            <a:endParaRPr lang="zh-CN" altLang="en-US" dirty="0"/>
          </a:p>
        </p:txBody>
      </p:sp>
      <p:sp>
        <p:nvSpPr>
          <p:cNvPr id="43" name="TextBox 42"/>
          <p:cNvSpPr txBox="1"/>
          <p:nvPr/>
        </p:nvSpPr>
        <p:spPr>
          <a:xfrm>
            <a:off x="694801" y="2287662"/>
            <a:ext cx="9076690" cy="400050"/>
          </a:xfrm>
          <a:prstGeom prst="rect">
            <a:avLst/>
          </a:prstGeom>
          <a:noFill/>
        </p:spPr>
        <p:txBody>
          <a:bodyPr wrap="square">
            <a:spAutoFit/>
          </a:bodyPr>
          <a:lstStyle/>
          <a:p>
            <a:r>
              <a:rPr lang="zh-CN" altLang="en-US" sz="2000" dirty="0"/>
              <a:t>在学生成绩管理系统中，教师担任多门课程的教学任务，以及学生学习多门课程。</a:t>
            </a:r>
          </a:p>
        </p:txBody>
      </p:sp>
      <p:sp>
        <p:nvSpPr>
          <p:cNvPr id="44" name="矩形 43"/>
          <p:cNvSpPr>
            <a:spLocks noChangeAspect="1"/>
          </p:cNvSpPr>
          <p:nvPr/>
        </p:nvSpPr>
        <p:spPr>
          <a:xfrm>
            <a:off x="694801" y="3127384"/>
            <a:ext cx="4987290" cy="241554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r>
              <a:rPr lang="en-US" altLang="zh-CN" dirty="0"/>
              <a:t> </a:t>
            </a:r>
            <a:r>
              <a:rPr lang="zh-CN" altLang="en-US" dirty="0"/>
              <a:t>协作图用于描述系统行为是如何由系统的成分协作实现的，只有涉及协作的对象才会被表示出来。在协作图中，多对象用多个方框重叠表示。图</a:t>
            </a:r>
            <a:r>
              <a:rPr lang="en-US" altLang="en-US" dirty="0"/>
              <a:t>6-19</a:t>
            </a:r>
            <a:r>
              <a:rPr lang="zh-CN" altLang="en-US" dirty="0"/>
              <a:t>描述了在学生成绩管理系统中，教师担任多门课程的教学任务，以及学生学习多门课程。</a:t>
            </a:r>
          </a:p>
        </p:txBody>
      </p:sp>
      <p:sp>
        <p:nvSpPr>
          <p:cNvPr id="2" name="文本框 1">
            <a:extLst>
              <a:ext uri="{FF2B5EF4-FFF2-40B4-BE49-F238E27FC236}">
                <a16:creationId xmlns:a16="http://schemas.microsoft.com/office/drawing/2014/main" id="{C126EB74-C757-F803-D912-40F67152D0E7}"/>
              </a:ext>
            </a:extLst>
          </p:cNvPr>
          <p:cNvSpPr txBox="1"/>
          <p:nvPr/>
        </p:nvSpPr>
        <p:spPr>
          <a:xfrm rot="20227103">
            <a:off x="8827149" y="5547353"/>
            <a:ext cx="1021433" cy="307777"/>
          </a:xfrm>
          <a:prstGeom prst="rect">
            <a:avLst/>
          </a:prstGeom>
          <a:noFill/>
        </p:spPr>
        <p:txBody>
          <a:bodyPr wrap="none" rtlCol="0">
            <a:spAutoFit/>
          </a:bodyPr>
          <a:lstStyle/>
          <a:p>
            <a:r>
              <a:rPr lang="zh-CN" altLang="zh-CN" sz="1400" dirty="0"/>
              <a:t>注册课程()</a:t>
            </a:r>
            <a:endParaRPr lang="zh-CN" altLang="en-US" sz="1400" dirty="0"/>
          </a:p>
        </p:txBody>
      </p:sp>
      <p:sp>
        <p:nvSpPr>
          <p:cNvPr id="5" name="文本框 4">
            <a:extLst>
              <a:ext uri="{FF2B5EF4-FFF2-40B4-BE49-F238E27FC236}">
                <a16:creationId xmlns:a16="http://schemas.microsoft.com/office/drawing/2014/main" id="{2151C19D-C13E-3413-2ECE-B3CEED414599}"/>
              </a:ext>
            </a:extLst>
          </p:cNvPr>
          <p:cNvSpPr txBox="1"/>
          <p:nvPr/>
        </p:nvSpPr>
        <p:spPr>
          <a:xfrm rot="20117543">
            <a:off x="7854400" y="5221937"/>
            <a:ext cx="1021433" cy="307777"/>
          </a:xfrm>
          <a:prstGeom prst="rect">
            <a:avLst/>
          </a:prstGeom>
          <a:noFill/>
        </p:spPr>
        <p:txBody>
          <a:bodyPr wrap="none" rtlCol="0">
            <a:spAutoFit/>
          </a:bodyPr>
          <a:lstStyle/>
          <a:p>
            <a:r>
              <a:rPr lang="zh-CN" altLang="zh-CN" sz="1400" dirty="0"/>
              <a:t>添加学生()</a:t>
            </a:r>
            <a:endParaRPr lang="zh-CN" altLang="en-US" sz="1400" dirty="0"/>
          </a:p>
        </p:txBody>
      </p:sp>
      <p:sp>
        <p:nvSpPr>
          <p:cNvPr id="6" name="文本框 5">
            <a:extLst>
              <a:ext uri="{FF2B5EF4-FFF2-40B4-BE49-F238E27FC236}">
                <a16:creationId xmlns:a16="http://schemas.microsoft.com/office/drawing/2014/main" id="{34541077-ED25-00FE-DE2F-A8525B7D540F}"/>
              </a:ext>
            </a:extLst>
          </p:cNvPr>
          <p:cNvSpPr txBox="1"/>
          <p:nvPr/>
        </p:nvSpPr>
        <p:spPr>
          <a:xfrm>
            <a:off x="6062589" y="4966249"/>
            <a:ext cx="1021433" cy="307777"/>
          </a:xfrm>
          <a:prstGeom prst="rect">
            <a:avLst/>
          </a:prstGeom>
          <a:noFill/>
        </p:spPr>
        <p:txBody>
          <a:bodyPr wrap="none" rtlCol="0">
            <a:spAutoFit/>
          </a:bodyPr>
          <a:lstStyle/>
          <a:p>
            <a:r>
              <a:rPr lang="zh-CN" altLang="zh-CN" sz="1400" dirty="0"/>
              <a:t>分配教师()</a:t>
            </a:r>
            <a:endParaRPr lang="zh-CN" altLang="en-US" sz="1400" dirty="0"/>
          </a:p>
        </p:txBody>
      </p:sp>
      <p:sp>
        <p:nvSpPr>
          <p:cNvPr id="8" name="矩形: 圆角 7">
            <a:extLst>
              <a:ext uri="{FF2B5EF4-FFF2-40B4-BE49-F238E27FC236}">
                <a16:creationId xmlns:a16="http://schemas.microsoft.com/office/drawing/2014/main" id="{9D365456-CA5E-4AC5-8E70-2F5E6EF05E68}"/>
              </a:ext>
            </a:extLst>
          </p:cNvPr>
          <p:cNvSpPr/>
          <p:nvPr/>
        </p:nvSpPr>
        <p:spPr>
          <a:xfrm>
            <a:off x="6733402" y="4092154"/>
            <a:ext cx="108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u="sng" dirty="0">
                <a:solidFill>
                  <a:schemeClr val="tx1"/>
                </a:solidFill>
              </a:rPr>
              <a:t>:</a:t>
            </a:r>
            <a:r>
              <a:rPr lang="zh-CN" altLang="en-US" sz="1600" u="sng" dirty="0">
                <a:solidFill>
                  <a:schemeClr val="tx1"/>
                </a:solidFill>
              </a:rPr>
              <a:t>教师</a:t>
            </a:r>
          </a:p>
        </p:txBody>
      </p:sp>
      <p:sp>
        <p:nvSpPr>
          <p:cNvPr id="9" name="矩形: 圆角 8">
            <a:extLst>
              <a:ext uri="{FF2B5EF4-FFF2-40B4-BE49-F238E27FC236}">
                <a16:creationId xmlns:a16="http://schemas.microsoft.com/office/drawing/2014/main" id="{7418D3E0-495A-B99B-2912-EBF415D57052}"/>
              </a:ext>
            </a:extLst>
          </p:cNvPr>
          <p:cNvSpPr/>
          <p:nvPr/>
        </p:nvSpPr>
        <p:spPr>
          <a:xfrm>
            <a:off x="6733402" y="5644122"/>
            <a:ext cx="1080000" cy="504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u="sng" dirty="0">
                <a:solidFill>
                  <a:schemeClr val="tx1"/>
                </a:solidFill>
              </a:rPr>
              <a:t>:</a:t>
            </a:r>
            <a:r>
              <a:rPr lang="zh-CN" altLang="en-US" sz="1600" u="sng" dirty="0">
                <a:solidFill>
                  <a:schemeClr val="tx1"/>
                </a:solidFill>
              </a:rPr>
              <a:t>课程</a:t>
            </a:r>
          </a:p>
        </p:txBody>
      </p:sp>
      <p:sp>
        <p:nvSpPr>
          <p:cNvPr id="10" name="矩形: 圆角 9">
            <a:extLst>
              <a:ext uri="{FF2B5EF4-FFF2-40B4-BE49-F238E27FC236}">
                <a16:creationId xmlns:a16="http://schemas.microsoft.com/office/drawing/2014/main" id="{761B5EF4-B91B-4958-B567-25E126CBB4B4}"/>
              </a:ext>
            </a:extLst>
          </p:cNvPr>
          <p:cNvSpPr/>
          <p:nvPr/>
        </p:nvSpPr>
        <p:spPr>
          <a:xfrm>
            <a:off x="9172726" y="4401330"/>
            <a:ext cx="1080000" cy="504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u="sng" dirty="0">
                <a:solidFill>
                  <a:schemeClr val="tx1"/>
                </a:solidFill>
              </a:rPr>
              <a:t>: </a:t>
            </a:r>
            <a:r>
              <a:rPr lang="zh-CN" altLang="en-US" sz="1600" u="sng" dirty="0">
                <a:solidFill>
                  <a:schemeClr val="tx1"/>
                </a:solidFill>
              </a:rPr>
              <a:t>学生</a:t>
            </a:r>
          </a:p>
        </p:txBody>
      </p:sp>
      <p:sp>
        <p:nvSpPr>
          <p:cNvPr id="11" name="矩形: 圆角 10">
            <a:extLst>
              <a:ext uri="{FF2B5EF4-FFF2-40B4-BE49-F238E27FC236}">
                <a16:creationId xmlns:a16="http://schemas.microsoft.com/office/drawing/2014/main" id="{B38FE6F3-77D9-E02C-26DF-E0FA5C97D27D}"/>
              </a:ext>
            </a:extLst>
          </p:cNvPr>
          <p:cNvSpPr/>
          <p:nvPr/>
        </p:nvSpPr>
        <p:spPr>
          <a:xfrm>
            <a:off x="9250478" y="4479082"/>
            <a:ext cx="1080000" cy="504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u="sng" dirty="0">
                <a:solidFill>
                  <a:schemeClr val="tx1"/>
                </a:solidFill>
              </a:rPr>
              <a:t>: </a:t>
            </a:r>
            <a:r>
              <a:rPr lang="zh-CN" altLang="en-US" sz="1600" u="sng" dirty="0">
                <a:solidFill>
                  <a:schemeClr val="tx1"/>
                </a:solidFill>
              </a:rPr>
              <a:t>学生</a:t>
            </a:r>
          </a:p>
        </p:txBody>
      </p:sp>
      <p:sp>
        <p:nvSpPr>
          <p:cNvPr id="12" name="矩形: 圆角 11">
            <a:extLst>
              <a:ext uri="{FF2B5EF4-FFF2-40B4-BE49-F238E27FC236}">
                <a16:creationId xmlns:a16="http://schemas.microsoft.com/office/drawing/2014/main" id="{B1A45B00-AC3A-7F08-30A1-03A439DB9981}"/>
              </a:ext>
            </a:extLst>
          </p:cNvPr>
          <p:cNvSpPr/>
          <p:nvPr/>
        </p:nvSpPr>
        <p:spPr>
          <a:xfrm>
            <a:off x="9328230" y="4556834"/>
            <a:ext cx="1080000" cy="50400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u="sng" dirty="0">
                <a:solidFill>
                  <a:schemeClr val="tx1"/>
                </a:solidFill>
              </a:rPr>
              <a:t>: </a:t>
            </a:r>
            <a:r>
              <a:rPr lang="zh-CN" altLang="en-US" sz="1600" u="sng" dirty="0">
                <a:solidFill>
                  <a:schemeClr val="tx1"/>
                </a:solidFill>
              </a:rPr>
              <a:t>学生</a:t>
            </a:r>
          </a:p>
        </p:txBody>
      </p:sp>
      <p:cxnSp>
        <p:nvCxnSpPr>
          <p:cNvPr id="17" name="直接连接符 16">
            <a:extLst>
              <a:ext uri="{FF2B5EF4-FFF2-40B4-BE49-F238E27FC236}">
                <a16:creationId xmlns:a16="http://schemas.microsoft.com/office/drawing/2014/main" id="{C8C184CC-86C3-3A99-3787-88FCFD67E096}"/>
              </a:ext>
            </a:extLst>
          </p:cNvPr>
          <p:cNvCxnSpPr>
            <a:stCxn id="12" idx="2"/>
            <a:endCxn id="9" idx="3"/>
          </p:cNvCxnSpPr>
          <p:nvPr/>
        </p:nvCxnSpPr>
        <p:spPr>
          <a:xfrm flipH="1">
            <a:off x="7813402" y="5060834"/>
            <a:ext cx="2054828" cy="8352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77460913-B56F-EACA-B728-8A604C00CED6}"/>
              </a:ext>
            </a:extLst>
          </p:cNvPr>
          <p:cNvCxnSpPr>
            <a:cxnSpLocks/>
          </p:cNvCxnSpPr>
          <p:nvPr/>
        </p:nvCxnSpPr>
        <p:spPr>
          <a:xfrm flipH="1">
            <a:off x="8937528" y="5451573"/>
            <a:ext cx="495873" cy="2496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6EA2E17-B619-67E8-9519-9037381B2DB4}"/>
              </a:ext>
            </a:extLst>
          </p:cNvPr>
          <p:cNvCxnSpPr>
            <a:stCxn id="8" idx="2"/>
            <a:endCxn id="9" idx="0"/>
          </p:cNvCxnSpPr>
          <p:nvPr/>
        </p:nvCxnSpPr>
        <p:spPr>
          <a:xfrm>
            <a:off x="7273402" y="4596154"/>
            <a:ext cx="0" cy="10479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2E67275-C784-A502-CB95-A80455942728}"/>
              </a:ext>
            </a:extLst>
          </p:cNvPr>
          <p:cNvCxnSpPr>
            <a:stCxn id="8" idx="3"/>
            <a:endCxn id="10" idx="1"/>
          </p:cNvCxnSpPr>
          <p:nvPr/>
        </p:nvCxnSpPr>
        <p:spPr>
          <a:xfrm>
            <a:off x="7813402" y="4344154"/>
            <a:ext cx="1359324" cy="3091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9B62B40-C279-E4E6-BCE1-33FB04E8D42F}"/>
              </a:ext>
            </a:extLst>
          </p:cNvPr>
          <p:cNvCxnSpPr/>
          <p:nvPr/>
        </p:nvCxnSpPr>
        <p:spPr>
          <a:xfrm flipV="1">
            <a:off x="7084022" y="4888883"/>
            <a:ext cx="0" cy="3914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C7B0B0EA-99E1-564C-EFD9-D8A01D875036}"/>
              </a:ext>
            </a:extLst>
          </p:cNvPr>
          <p:cNvCxnSpPr>
            <a:cxnSpLocks/>
          </p:cNvCxnSpPr>
          <p:nvPr/>
        </p:nvCxnSpPr>
        <p:spPr>
          <a:xfrm flipV="1">
            <a:off x="8105180" y="5360881"/>
            <a:ext cx="606276" cy="2668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445593"/>
      </p:ext>
    </p:extLst>
  </p:cSld>
  <p:clrMapOvr>
    <a:masterClrMapping/>
  </p:clrMapOvr>
  <p:transition>
    <p:circl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59A0F92-925A-C4B9-0FBF-3B015713D77C}"/>
              </a:ext>
            </a:extLst>
          </p:cNvPr>
          <p:cNvPicPr>
            <a:picLocks noChangeAspect="1"/>
          </p:cNvPicPr>
          <p:nvPr/>
        </p:nvPicPr>
        <p:blipFill>
          <a:blip r:embed="rId2"/>
          <a:srcRect t="3307" r="5165" b="2983"/>
          <a:stretch>
            <a:fillRect/>
          </a:stretch>
        </p:blipFill>
        <p:spPr>
          <a:xfrm>
            <a:off x="4907902" y="1886781"/>
            <a:ext cx="5623250" cy="3745481"/>
          </a:xfrm>
          <a:prstGeom prst="rect">
            <a:avLst/>
          </a:prstGeom>
        </p:spPr>
      </p:pic>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86B46DE9-80D5-ED8C-F77E-58C4B96835A3}"/>
              </a:ext>
            </a:extLst>
          </p:cNvPr>
          <p:cNvSpPr>
            <a:spLocks noGrp="1"/>
          </p:cNvSpPr>
          <p:nvPr>
            <p:ph type="body" sz="quarter" idx="10"/>
          </p:nvPr>
        </p:nvSpPr>
        <p:spPr/>
        <p:txBody>
          <a:bodyPr/>
          <a:lstStyle/>
          <a:p>
            <a:r>
              <a:rPr lang="zh-CN" altLang="en-US" dirty="0"/>
              <a:t>案例 </a:t>
            </a:r>
            <a:r>
              <a:rPr lang="en-US" altLang="zh-CN" dirty="0"/>
              <a:t>6-19+ </a:t>
            </a:r>
            <a:r>
              <a:rPr lang="zh-CN" altLang="en-US" dirty="0"/>
              <a:t>图书借阅</a:t>
            </a:r>
          </a:p>
        </p:txBody>
      </p:sp>
    </p:spTree>
    <p:extLst>
      <p:ext uri="{BB962C8B-B14F-4D97-AF65-F5344CB8AC3E}">
        <p14:creationId xmlns:p14="http://schemas.microsoft.com/office/powerpoint/2010/main" val="3266763728"/>
      </p:ext>
    </p:extLst>
  </p:cSld>
  <p:clrMapOvr>
    <a:masterClrMapping/>
  </p:clrMapOvr>
  <p:transition>
    <p:circl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sz="quarter" idx="10"/>
          </p:nvPr>
        </p:nvSpPr>
        <p:spPr/>
        <p:txBody>
          <a:bodyPr/>
          <a:lstStyle/>
          <a:p>
            <a:r>
              <a:rPr lang="zh-CN" altLang="en-US" dirty="0" smtClean="0"/>
              <a:t>图书借阅</a:t>
            </a:r>
            <a:endParaRPr lang="zh-CN" altLang="en-US" dirty="0"/>
          </a:p>
        </p:txBody>
      </p:sp>
      <p:sp>
        <p:nvSpPr>
          <p:cNvPr id="4" name="矩形 3"/>
          <p:cNvSpPr/>
          <p:nvPr/>
        </p:nvSpPr>
        <p:spPr>
          <a:xfrm>
            <a:off x="1119674" y="2258009"/>
            <a:ext cx="2612572" cy="5784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u="sng" dirty="0" smtClean="0">
                <a:solidFill>
                  <a:schemeClr val="tx1"/>
                </a:solidFill>
              </a:rPr>
              <a:t>工作人员类：员工</a:t>
            </a:r>
            <a:r>
              <a:rPr lang="en-US" altLang="zh-CN" u="sng" dirty="0" smtClean="0">
                <a:solidFill>
                  <a:schemeClr val="tx1"/>
                </a:solidFill>
              </a:rPr>
              <a:t>A</a:t>
            </a:r>
            <a:endParaRPr lang="zh-CN" altLang="en-US" u="sng" dirty="0">
              <a:solidFill>
                <a:schemeClr val="tx1"/>
              </a:solidFill>
            </a:endParaRPr>
          </a:p>
        </p:txBody>
      </p:sp>
      <p:sp>
        <p:nvSpPr>
          <p:cNvPr id="8" name="矩形 7"/>
          <p:cNvSpPr/>
          <p:nvPr/>
        </p:nvSpPr>
        <p:spPr>
          <a:xfrm>
            <a:off x="1119674" y="4388500"/>
            <a:ext cx="2612572" cy="5784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u="sng" dirty="0">
                <a:solidFill>
                  <a:schemeClr val="tx1"/>
                </a:solidFill>
              </a:rPr>
              <a:t>表</a:t>
            </a:r>
            <a:r>
              <a:rPr lang="zh-CN" altLang="en-US" u="sng" dirty="0" smtClean="0">
                <a:solidFill>
                  <a:schemeClr val="tx1"/>
                </a:solidFill>
              </a:rPr>
              <a:t>单类：图书借阅表单</a:t>
            </a:r>
            <a:endParaRPr lang="zh-CN" altLang="en-US" u="sng" dirty="0">
              <a:solidFill>
                <a:schemeClr val="tx1"/>
              </a:solidFill>
            </a:endParaRPr>
          </a:p>
        </p:txBody>
      </p:sp>
      <p:cxnSp>
        <p:nvCxnSpPr>
          <p:cNvPr id="10" name="直接连接符 9"/>
          <p:cNvCxnSpPr>
            <a:stCxn id="4" idx="2"/>
            <a:endCxn id="8" idx="0"/>
          </p:cNvCxnSpPr>
          <p:nvPr/>
        </p:nvCxnSpPr>
        <p:spPr>
          <a:xfrm>
            <a:off x="2425960" y="2836507"/>
            <a:ext cx="0" cy="15519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2873829" y="3032449"/>
            <a:ext cx="0" cy="10450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886572" y="3427837"/>
            <a:ext cx="819455" cy="369332"/>
          </a:xfrm>
          <a:prstGeom prst="rect">
            <a:avLst/>
          </a:prstGeom>
          <a:noFill/>
        </p:spPr>
        <p:txBody>
          <a:bodyPr wrap="none" rtlCol="0">
            <a:spAutoFit/>
          </a:bodyPr>
          <a:lstStyle/>
          <a:p>
            <a:r>
              <a:rPr lang="en-US" altLang="zh-CN" dirty="0" smtClean="0"/>
              <a:t>1.</a:t>
            </a:r>
            <a:r>
              <a:rPr lang="zh-CN" altLang="en-US" dirty="0" smtClean="0"/>
              <a:t>打开</a:t>
            </a:r>
            <a:endParaRPr lang="zh-CN" altLang="en-US" dirty="0"/>
          </a:p>
        </p:txBody>
      </p:sp>
      <p:sp>
        <p:nvSpPr>
          <p:cNvPr id="15" name="矩形 14"/>
          <p:cNvSpPr/>
          <p:nvPr/>
        </p:nvSpPr>
        <p:spPr>
          <a:xfrm>
            <a:off x="5862735" y="4388500"/>
            <a:ext cx="2612572" cy="5784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u="sng" dirty="0">
                <a:solidFill>
                  <a:schemeClr val="tx1"/>
                </a:solidFill>
              </a:rPr>
              <a:t>表</a:t>
            </a:r>
            <a:r>
              <a:rPr lang="zh-CN" altLang="en-US" u="sng" dirty="0" smtClean="0">
                <a:solidFill>
                  <a:schemeClr val="tx1"/>
                </a:solidFill>
              </a:rPr>
              <a:t>单类：图书借阅表单</a:t>
            </a:r>
            <a:endParaRPr lang="zh-CN" altLang="en-US" u="sng" dirty="0">
              <a:solidFill>
                <a:schemeClr val="tx1"/>
              </a:solidFill>
            </a:endParaRPr>
          </a:p>
        </p:txBody>
      </p:sp>
      <p:cxnSp>
        <p:nvCxnSpPr>
          <p:cNvPr id="17" name="直接连接符 16"/>
          <p:cNvCxnSpPr>
            <a:stCxn id="8" idx="3"/>
            <a:endCxn id="15" idx="1"/>
          </p:cNvCxnSpPr>
          <p:nvPr/>
        </p:nvCxnSpPr>
        <p:spPr>
          <a:xfrm>
            <a:off x="3732246" y="4677749"/>
            <a:ext cx="21304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4172339" y="4509798"/>
            <a:ext cx="12503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4018525" y="4114801"/>
            <a:ext cx="1800493" cy="369332"/>
          </a:xfrm>
          <a:prstGeom prst="rect">
            <a:avLst/>
          </a:prstGeom>
          <a:noFill/>
        </p:spPr>
        <p:txBody>
          <a:bodyPr wrap="none" rtlCol="0">
            <a:spAutoFit/>
          </a:bodyPr>
          <a:lstStyle/>
          <a:p>
            <a:r>
              <a:rPr lang="en-US" altLang="zh-CN" dirty="0" smtClean="0"/>
              <a:t>2. </a:t>
            </a:r>
            <a:r>
              <a:rPr lang="zh-CN" altLang="en-US" dirty="0" smtClean="0"/>
              <a:t>验证读者信息</a:t>
            </a:r>
            <a:endParaRPr lang="zh-CN" altLang="en-US" dirty="0"/>
          </a:p>
        </p:txBody>
      </p:sp>
      <p:sp>
        <p:nvSpPr>
          <p:cNvPr id="22" name="弧形 21"/>
          <p:cNvSpPr/>
          <p:nvPr/>
        </p:nvSpPr>
        <p:spPr>
          <a:xfrm rot="10800000">
            <a:off x="1972647" y="4584442"/>
            <a:ext cx="1026368" cy="1203649"/>
          </a:xfrm>
          <a:prstGeom prst="arc">
            <a:avLst>
              <a:gd name="adj1" fmla="val 10469310"/>
              <a:gd name="adj2" fmla="val 15545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6788853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7" name="文本占位符 6">
            <a:extLst>
              <a:ext uri="{FF2B5EF4-FFF2-40B4-BE49-F238E27FC236}">
                <a16:creationId xmlns:a16="http://schemas.microsoft.com/office/drawing/2014/main" id="{0B45D59A-C8D7-1CA1-AAD8-52432574ECA9}"/>
              </a:ext>
            </a:extLst>
          </p:cNvPr>
          <p:cNvSpPr>
            <a:spLocks noGrp="1"/>
          </p:cNvSpPr>
          <p:nvPr>
            <p:ph type="body" sz="quarter" idx="10"/>
          </p:nvPr>
        </p:nvSpPr>
        <p:spPr>
          <a:xfrm>
            <a:off x="900001" y="1322832"/>
            <a:ext cx="5196000" cy="400110"/>
          </a:xfrm>
        </p:spPr>
        <p:txBody>
          <a:bodyPr/>
          <a:lstStyle/>
          <a:p>
            <a:r>
              <a:rPr lang="en-US" altLang="zh-CN" dirty="0"/>
              <a:t>6.3.8 </a:t>
            </a:r>
            <a:r>
              <a:rPr lang="zh-CN" altLang="en-US" dirty="0"/>
              <a:t>构件图</a:t>
            </a:r>
          </a:p>
        </p:txBody>
      </p:sp>
      <p:grpSp>
        <p:nvGrpSpPr>
          <p:cNvPr id="5" name="组合 4"/>
          <p:cNvGrpSpPr/>
          <p:nvPr/>
        </p:nvGrpSpPr>
        <p:grpSpPr>
          <a:xfrm>
            <a:off x="4053840" y="1527810"/>
            <a:ext cx="6931660" cy="3934460"/>
            <a:chOff x="4023" y="3363"/>
            <a:chExt cx="10916" cy="6196"/>
          </a:xfrm>
        </p:grpSpPr>
        <p:sp>
          <p:nvSpPr>
            <p:cNvPr id="28" name="泪滴形 27"/>
            <p:cNvSpPr/>
            <p:nvPr/>
          </p:nvSpPr>
          <p:spPr>
            <a:xfrm rot="8100000">
              <a:off x="10590" y="3363"/>
              <a:ext cx="2913" cy="2913"/>
            </a:xfrm>
            <a:prstGeom prst="teardrop">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泪滴形 25"/>
            <p:cNvSpPr/>
            <p:nvPr/>
          </p:nvSpPr>
          <p:spPr>
            <a:xfrm rot="8100000">
              <a:off x="5508" y="3363"/>
              <a:ext cx="2913" cy="2913"/>
            </a:xfrm>
            <a:prstGeom prst="teardrop">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332" name="矩形 19"/>
            <p:cNvSpPr/>
            <p:nvPr/>
          </p:nvSpPr>
          <p:spPr>
            <a:xfrm>
              <a:off x="10973" y="6983"/>
              <a:ext cx="3966" cy="14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sz="1800" dirty="0">
                  <a:latin typeface="微软雅黑" panose="020B0503020204020204" charset="-122"/>
                  <a:ea typeface="微软雅黑" panose="020B0503020204020204" charset="-122"/>
                </a:rPr>
                <a:t>      </a:t>
              </a:r>
              <a:r>
                <a:rPr sz="1800" dirty="0">
                  <a:latin typeface="微软雅黑" panose="020B0503020204020204" charset="-122"/>
                  <a:ea typeface="微软雅黑" panose="020B0503020204020204" charset="-122"/>
                </a:rPr>
                <a:t>一个可执行的程序文件，是链接所有二进制构件所得到的结果。</a:t>
              </a:r>
            </a:p>
          </p:txBody>
        </p:sp>
        <p:grpSp>
          <p:nvGrpSpPr>
            <p:cNvPr id="13" name="组合 12"/>
            <p:cNvGrpSpPr/>
            <p:nvPr/>
          </p:nvGrpSpPr>
          <p:grpSpPr>
            <a:xfrm>
              <a:off x="5698" y="3553"/>
              <a:ext cx="7602" cy="6006"/>
              <a:chOff x="5698" y="3553"/>
              <a:chExt cx="7602" cy="6006"/>
            </a:xfrm>
          </p:grpSpPr>
          <p:sp>
            <p:nvSpPr>
              <p:cNvPr id="14" name="椭圆 13"/>
              <p:cNvSpPr/>
              <p:nvPr/>
            </p:nvSpPr>
            <p:spPr>
              <a:xfrm>
                <a:off x="10780" y="3553"/>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a:off x="5698" y="3553"/>
                <a:ext cx="2520" cy="25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泪滴形 15"/>
              <p:cNvSpPr/>
              <p:nvPr/>
            </p:nvSpPr>
            <p:spPr>
              <a:xfrm rot="8100000">
                <a:off x="7738" y="4018"/>
                <a:ext cx="3475" cy="3475"/>
              </a:xfrm>
              <a:prstGeom prst="teardrop">
                <a:avLst>
                  <a:gd name="adj" fmla="val 128439"/>
                </a:avLst>
              </a:prstGeom>
              <a:solidFill>
                <a:srgbClr val="EF41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a:off x="7965" y="4245"/>
                <a:ext cx="3008" cy="30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文本框 13"/>
              <p:cNvSpPr txBox="1"/>
              <p:nvPr/>
            </p:nvSpPr>
            <p:spPr>
              <a:xfrm>
                <a:off x="8300" y="5478"/>
                <a:ext cx="248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400" b="1" dirty="0">
                    <a:latin typeface="微软雅黑" panose="020B0503020204020204" charset="-122"/>
                    <a:ea typeface="微软雅黑" panose="020B0503020204020204" charset="-122"/>
                  </a:rPr>
                  <a:t>源构件</a:t>
                </a:r>
              </a:p>
            </p:txBody>
          </p:sp>
          <p:sp>
            <p:nvSpPr>
              <p:cNvPr id="19" name="文本框 14"/>
              <p:cNvSpPr txBox="1"/>
              <p:nvPr/>
            </p:nvSpPr>
            <p:spPr>
              <a:xfrm>
                <a:off x="11281" y="4340"/>
                <a:ext cx="1533" cy="113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可执行构件</a:t>
                </a:r>
              </a:p>
            </p:txBody>
          </p:sp>
          <p:sp>
            <p:nvSpPr>
              <p:cNvPr id="20" name="文本框 16"/>
              <p:cNvSpPr txBox="1"/>
              <p:nvPr/>
            </p:nvSpPr>
            <p:spPr>
              <a:xfrm>
                <a:off x="6190" y="4251"/>
                <a:ext cx="1535" cy="113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None/>
                </a:pPr>
                <a:r>
                  <a:rPr lang="zh-CN" altLang="en-US" sz="2000" b="1" dirty="0">
                    <a:latin typeface="微软雅黑" panose="020B0503020204020204" charset="-122"/>
                    <a:ea typeface="微软雅黑" panose="020B0503020204020204" charset="-122"/>
                  </a:rPr>
                  <a:t>二进制构件</a:t>
                </a:r>
              </a:p>
            </p:txBody>
          </p:sp>
          <p:sp>
            <p:nvSpPr>
              <p:cNvPr id="21" name="矩形 20"/>
              <p:cNvSpPr/>
              <p:nvPr/>
            </p:nvSpPr>
            <p:spPr>
              <a:xfrm>
                <a:off x="7725" y="8953"/>
                <a:ext cx="4047"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sz="1800" dirty="0">
                    <a:latin typeface="微软雅黑" panose="020B0503020204020204" charset="-122"/>
                    <a:ea typeface="微软雅黑" panose="020B0503020204020204" charset="-122"/>
                  </a:rPr>
                  <a:t>实现类的源代码文件</a:t>
                </a:r>
              </a:p>
            </p:txBody>
          </p:sp>
        </p:grpSp>
        <p:sp>
          <p:nvSpPr>
            <p:cNvPr id="13334" name="矩形 21"/>
            <p:cNvSpPr/>
            <p:nvPr/>
          </p:nvSpPr>
          <p:spPr>
            <a:xfrm>
              <a:off x="4023" y="6940"/>
              <a:ext cx="4320" cy="14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sz="1800" dirty="0">
                  <a:latin typeface="微软雅黑" panose="020B0503020204020204" charset="-122"/>
                  <a:ea typeface="微软雅黑" panose="020B0503020204020204" charset="-122"/>
                </a:rPr>
                <a:t>      </a:t>
              </a:r>
              <a:r>
                <a:rPr sz="1800" dirty="0">
                  <a:latin typeface="微软雅黑" panose="020B0503020204020204" charset="-122"/>
                  <a:ea typeface="微软雅黑" panose="020B0503020204020204" charset="-122"/>
                </a:rPr>
                <a:t>一个对象代码文件、一个静态库文件或一个动态库文件。</a:t>
              </a:r>
            </a:p>
          </p:txBody>
        </p:sp>
      </p:grpSp>
      <p:grpSp>
        <p:nvGrpSpPr>
          <p:cNvPr id="44" name="组合 43"/>
          <p:cNvGrpSpPr/>
          <p:nvPr/>
        </p:nvGrpSpPr>
        <p:grpSpPr>
          <a:xfrm>
            <a:off x="627380" y="3046730"/>
            <a:ext cx="3875405" cy="2723515"/>
            <a:chOff x="988" y="4798"/>
            <a:chExt cx="6103" cy="4289"/>
          </a:xfrm>
        </p:grpSpPr>
        <p:sp>
          <p:nvSpPr>
            <p:cNvPr id="160" name=" 160"/>
            <p:cNvSpPr/>
            <p:nvPr/>
          </p:nvSpPr>
          <p:spPr>
            <a:xfrm>
              <a:off x="5043" y="4798"/>
              <a:ext cx="2048" cy="1205"/>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50" name=" 2050"/>
            <p:cNvSpPr/>
            <p:nvPr/>
          </p:nvSpPr>
          <p:spPr bwMode="auto">
            <a:xfrm>
              <a:off x="988" y="6026"/>
              <a:ext cx="4191" cy="3061"/>
            </a:xfrm>
            <a:custGeom>
              <a:avLst/>
              <a:gdLst>
                <a:gd name="T0" fmla="*/ 151004 w 5185"/>
                <a:gd name="T1" fmla="*/ 1065477 h 3880"/>
                <a:gd name="T2" fmla="*/ 1873403 w 5185"/>
                <a:gd name="T3" fmla="*/ 1297678 h 3880"/>
                <a:gd name="T4" fmla="*/ 751713 w 5185"/>
                <a:gd name="T5" fmla="*/ 1241832 h 3880"/>
                <a:gd name="T6" fmla="*/ 1108464 w 5185"/>
                <a:gd name="T7" fmla="*/ 1148144 h 3880"/>
                <a:gd name="T8" fmla="*/ 751713 w 5185"/>
                <a:gd name="T9" fmla="*/ 1241832 h 3880"/>
                <a:gd name="T10" fmla="*/ 1726808 w 5185"/>
                <a:gd name="T11" fmla="*/ 1012203 h 3880"/>
                <a:gd name="T12" fmla="*/ 1726073 w 5185"/>
                <a:gd name="T13" fmla="*/ 1007794 h 3880"/>
                <a:gd name="T14" fmla="*/ 1726808 w 5185"/>
                <a:gd name="T15" fmla="*/ 44089 h 3880"/>
                <a:gd name="T16" fmla="*/ 1726441 w 5185"/>
                <a:gd name="T17" fmla="*/ 39680 h 3880"/>
                <a:gd name="T18" fmla="*/ 1724604 w 5185"/>
                <a:gd name="T19" fmla="*/ 30862 h 3880"/>
                <a:gd name="T20" fmla="*/ 1721297 w 5185"/>
                <a:gd name="T21" fmla="*/ 23147 h 3880"/>
                <a:gd name="T22" fmla="*/ 1716888 w 5185"/>
                <a:gd name="T23" fmla="*/ 15798 h 3880"/>
                <a:gd name="T24" fmla="*/ 1711010 w 5185"/>
                <a:gd name="T25" fmla="*/ 9920 h 3880"/>
                <a:gd name="T26" fmla="*/ 1703662 w 5185"/>
                <a:gd name="T27" fmla="*/ 5144 h 3880"/>
                <a:gd name="T28" fmla="*/ 1695946 w 5185"/>
                <a:gd name="T29" fmla="*/ 1837 h 3880"/>
                <a:gd name="T30" fmla="*/ 1687128 w 5185"/>
                <a:gd name="T31" fmla="*/ 367 h 3880"/>
                <a:gd name="T32" fmla="*/ 222281 w 5185"/>
                <a:gd name="T33" fmla="*/ 0 h 3880"/>
                <a:gd name="T34" fmla="*/ 217872 w 5185"/>
                <a:gd name="T35" fmla="*/ 367 h 3880"/>
                <a:gd name="T36" fmla="*/ 209054 w 5185"/>
                <a:gd name="T37" fmla="*/ 1837 h 3880"/>
                <a:gd name="T38" fmla="*/ 201338 w 5185"/>
                <a:gd name="T39" fmla="*/ 5144 h 3880"/>
                <a:gd name="T40" fmla="*/ 194358 w 5185"/>
                <a:gd name="T41" fmla="*/ 9920 h 3880"/>
                <a:gd name="T42" fmla="*/ 188112 w 5185"/>
                <a:gd name="T43" fmla="*/ 15798 h 3880"/>
                <a:gd name="T44" fmla="*/ 183336 w 5185"/>
                <a:gd name="T45" fmla="*/ 23147 h 3880"/>
                <a:gd name="T46" fmla="*/ 180029 w 5185"/>
                <a:gd name="T47" fmla="*/ 30862 h 3880"/>
                <a:gd name="T48" fmla="*/ 178559 w 5185"/>
                <a:gd name="T49" fmla="*/ 39680 h 3880"/>
                <a:gd name="T50" fmla="*/ 178192 w 5185"/>
                <a:gd name="T51" fmla="*/ 1003386 h 3880"/>
                <a:gd name="T52" fmla="*/ 178559 w 5185"/>
                <a:gd name="T53" fmla="*/ 1007794 h 3880"/>
                <a:gd name="T54" fmla="*/ 178192 w 5185"/>
                <a:gd name="T55" fmla="*/ 1012203 h 3880"/>
                <a:gd name="T56" fmla="*/ 1727176 w 5185"/>
                <a:gd name="T57" fmla="*/ 1012571 h 3880"/>
                <a:gd name="T58" fmla="*/ 1616954 w 5185"/>
                <a:gd name="T59" fmla="*/ 937620 h 3880"/>
                <a:gd name="T60" fmla="*/ 288046 w 5185"/>
                <a:gd name="T61" fmla="*/ 109854 h 3880"/>
                <a:gd name="T62" fmla="*/ 1616954 w 5185"/>
                <a:gd name="T63" fmla="*/ 937620 h 3880"/>
                <a:gd name="T64" fmla="*/ 4409 w 5185"/>
                <a:gd name="T65" fmla="*/ 1350584 h 3880"/>
                <a:gd name="T66" fmla="*/ 0 w 5185"/>
                <a:gd name="T67" fmla="*/ 1359402 h 3880"/>
                <a:gd name="T68" fmla="*/ 735 w 5185"/>
                <a:gd name="T69" fmla="*/ 1369322 h 3880"/>
                <a:gd name="T70" fmla="*/ 3307 w 5185"/>
                <a:gd name="T71" fmla="*/ 1379977 h 3880"/>
                <a:gd name="T72" fmla="*/ 7348 w 5185"/>
                <a:gd name="T73" fmla="*/ 1390999 h 3880"/>
                <a:gd name="T74" fmla="*/ 13227 w 5185"/>
                <a:gd name="T75" fmla="*/ 1401654 h 3880"/>
                <a:gd name="T76" fmla="*/ 19473 w 5185"/>
                <a:gd name="T77" fmla="*/ 1411206 h 3880"/>
                <a:gd name="T78" fmla="*/ 26821 w 5185"/>
                <a:gd name="T79" fmla="*/ 1418554 h 3880"/>
                <a:gd name="T80" fmla="*/ 35271 w 5185"/>
                <a:gd name="T81" fmla="*/ 1423698 h 3880"/>
                <a:gd name="T82" fmla="*/ 41884 w 5185"/>
                <a:gd name="T83" fmla="*/ 1425168 h 3880"/>
                <a:gd name="T84" fmla="*/ 1860911 w 5185"/>
                <a:gd name="T85" fmla="*/ 1425535 h 3880"/>
                <a:gd name="T86" fmla="*/ 1863116 w 5185"/>
                <a:gd name="T87" fmla="*/ 1425168 h 3880"/>
                <a:gd name="T88" fmla="*/ 1869729 w 5185"/>
                <a:gd name="T89" fmla="*/ 1423698 h 3880"/>
                <a:gd name="T90" fmla="*/ 1878179 w 5185"/>
                <a:gd name="T91" fmla="*/ 1418554 h 3880"/>
                <a:gd name="T92" fmla="*/ 1885527 w 5185"/>
                <a:gd name="T93" fmla="*/ 1411206 h 3880"/>
                <a:gd name="T94" fmla="*/ 1892141 w 5185"/>
                <a:gd name="T95" fmla="*/ 1401654 h 3880"/>
                <a:gd name="T96" fmla="*/ 1897652 w 5185"/>
                <a:gd name="T97" fmla="*/ 1390999 h 3880"/>
                <a:gd name="T98" fmla="*/ 1901693 w 5185"/>
                <a:gd name="T99" fmla="*/ 1379977 h 3880"/>
                <a:gd name="T100" fmla="*/ 1903898 w 5185"/>
                <a:gd name="T101" fmla="*/ 1369322 h 3880"/>
                <a:gd name="T102" fmla="*/ 1905000 w 5185"/>
                <a:gd name="T103" fmla="*/ 1359402 h 3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185" h="3880">
                  <a:moveTo>
                    <a:pt x="4775" y="2900"/>
                  </a:moveTo>
                  <a:lnTo>
                    <a:pt x="411" y="2900"/>
                  </a:lnTo>
                  <a:lnTo>
                    <a:pt x="87" y="3532"/>
                  </a:lnTo>
                  <a:lnTo>
                    <a:pt x="5099" y="3532"/>
                  </a:lnTo>
                  <a:lnTo>
                    <a:pt x="4775" y="2900"/>
                  </a:lnTo>
                  <a:close/>
                  <a:moveTo>
                    <a:pt x="2046" y="3380"/>
                  </a:moveTo>
                  <a:lnTo>
                    <a:pt x="2181" y="3125"/>
                  </a:lnTo>
                  <a:lnTo>
                    <a:pt x="3017" y="3125"/>
                  </a:lnTo>
                  <a:lnTo>
                    <a:pt x="3139" y="3380"/>
                  </a:lnTo>
                  <a:lnTo>
                    <a:pt x="2046" y="3380"/>
                  </a:lnTo>
                  <a:close/>
                  <a:moveTo>
                    <a:pt x="4700" y="2755"/>
                  </a:moveTo>
                  <a:lnTo>
                    <a:pt x="4700" y="2755"/>
                  </a:lnTo>
                  <a:lnTo>
                    <a:pt x="4698" y="2743"/>
                  </a:lnTo>
                  <a:lnTo>
                    <a:pt x="4700" y="2731"/>
                  </a:lnTo>
                  <a:lnTo>
                    <a:pt x="4700" y="120"/>
                  </a:lnTo>
                  <a:lnTo>
                    <a:pt x="4699" y="108"/>
                  </a:lnTo>
                  <a:lnTo>
                    <a:pt x="4697" y="95"/>
                  </a:lnTo>
                  <a:lnTo>
                    <a:pt x="4694" y="84"/>
                  </a:lnTo>
                  <a:lnTo>
                    <a:pt x="4690" y="73"/>
                  </a:lnTo>
                  <a:lnTo>
                    <a:pt x="4685" y="63"/>
                  </a:lnTo>
                  <a:lnTo>
                    <a:pt x="4680" y="53"/>
                  </a:lnTo>
                  <a:lnTo>
                    <a:pt x="4673" y="43"/>
                  </a:lnTo>
                  <a:lnTo>
                    <a:pt x="4665" y="34"/>
                  </a:lnTo>
                  <a:lnTo>
                    <a:pt x="4657" y="27"/>
                  </a:lnTo>
                  <a:lnTo>
                    <a:pt x="4647" y="20"/>
                  </a:lnTo>
                  <a:lnTo>
                    <a:pt x="4637" y="14"/>
                  </a:lnTo>
                  <a:lnTo>
                    <a:pt x="4627" y="9"/>
                  </a:lnTo>
                  <a:lnTo>
                    <a:pt x="4616" y="5"/>
                  </a:lnTo>
                  <a:lnTo>
                    <a:pt x="4605" y="2"/>
                  </a:lnTo>
                  <a:lnTo>
                    <a:pt x="4592" y="1"/>
                  </a:lnTo>
                  <a:lnTo>
                    <a:pt x="4580" y="0"/>
                  </a:lnTo>
                  <a:lnTo>
                    <a:pt x="605" y="0"/>
                  </a:lnTo>
                  <a:lnTo>
                    <a:pt x="593" y="1"/>
                  </a:lnTo>
                  <a:lnTo>
                    <a:pt x="581" y="2"/>
                  </a:lnTo>
                  <a:lnTo>
                    <a:pt x="569" y="5"/>
                  </a:lnTo>
                  <a:lnTo>
                    <a:pt x="558" y="9"/>
                  </a:lnTo>
                  <a:lnTo>
                    <a:pt x="548" y="14"/>
                  </a:lnTo>
                  <a:lnTo>
                    <a:pt x="538" y="20"/>
                  </a:lnTo>
                  <a:lnTo>
                    <a:pt x="529" y="27"/>
                  </a:lnTo>
                  <a:lnTo>
                    <a:pt x="521" y="34"/>
                  </a:lnTo>
                  <a:lnTo>
                    <a:pt x="512" y="43"/>
                  </a:lnTo>
                  <a:lnTo>
                    <a:pt x="505" y="53"/>
                  </a:lnTo>
                  <a:lnTo>
                    <a:pt x="499" y="63"/>
                  </a:lnTo>
                  <a:lnTo>
                    <a:pt x="494" y="73"/>
                  </a:lnTo>
                  <a:lnTo>
                    <a:pt x="490" y="84"/>
                  </a:lnTo>
                  <a:lnTo>
                    <a:pt x="488" y="95"/>
                  </a:lnTo>
                  <a:lnTo>
                    <a:pt x="486" y="108"/>
                  </a:lnTo>
                  <a:lnTo>
                    <a:pt x="485" y="120"/>
                  </a:lnTo>
                  <a:lnTo>
                    <a:pt x="485" y="2731"/>
                  </a:lnTo>
                  <a:lnTo>
                    <a:pt x="486" y="2743"/>
                  </a:lnTo>
                  <a:lnTo>
                    <a:pt x="485" y="2755"/>
                  </a:lnTo>
                  <a:lnTo>
                    <a:pt x="484" y="2756"/>
                  </a:lnTo>
                  <a:lnTo>
                    <a:pt x="4701" y="2756"/>
                  </a:lnTo>
                  <a:lnTo>
                    <a:pt x="4700" y="2755"/>
                  </a:lnTo>
                  <a:close/>
                  <a:moveTo>
                    <a:pt x="4401" y="2552"/>
                  </a:moveTo>
                  <a:lnTo>
                    <a:pt x="784" y="2552"/>
                  </a:lnTo>
                  <a:lnTo>
                    <a:pt x="784" y="299"/>
                  </a:lnTo>
                  <a:lnTo>
                    <a:pt x="4401" y="299"/>
                  </a:lnTo>
                  <a:lnTo>
                    <a:pt x="4401" y="2552"/>
                  </a:lnTo>
                  <a:close/>
                  <a:moveTo>
                    <a:pt x="5172" y="3676"/>
                  </a:moveTo>
                  <a:lnTo>
                    <a:pt x="12" y="3676"/>
                  </a:lnTo>
                  <a:lnTo>
                    <a:pt x="0" y="3700"/>
                  </a:lnTo>
                  <a:lnTo>
                    <a:pt x="1" y="3713"/>
                  </a:lnTo>
                  <a:lnTo>
                    <a:pt x="2" y="3727"/>
                  </a:lnTo>
                  <a:lnTo>
                    <a:pt x="5" y="3741"/>
                  </a:lnTo>
                  <a:lnTo>
                    <a:pt x="9" y="3756"/>
                  </a:lnTo>
                  <a:lnTo>
                    <a:pt x="14" y="3771"/>
                  </a:lnTo>
                  <a:lnTo>
                    <a:pt x="20" y="3786"/>
                  </a:lnTo>
                  <a:lnTo>
                    <a:pt x="28" y="3801"/>
                  </a:lnTo>
                  <a:lnTo>
                    <a:pt x="36" y="3815"/>
                  </a:lnTo>
                  <a:lnTo>
                    <a:pt x="44" y="3828"/>
                  </a:lnTo>
                  <a:lnTo>
                    <a:pt x="53" y="3841"/>
                  </a:lnTo>
                  <a:lnTo>
                    <a:pt x="63" y="3852"/>
                  </a:lnTo>
                  <a:lnTo>
                    <a:pt x="73" y="3861"/>
                  </a:lnTo>
                  <a:lnTo>
                    <a:pt x="85" y="3869"/>
                  </a:lnTo>
                  <a:lnTo>
                    <a:pt x="96" y="3875"/>
                  </a:lnTo>
                  <a:lnTo>
                    <a:pt x="108" y="3878"/>
                  </a:lnTo>
                  <a:lnTo>
                    <a:pt x="114" y="3879"/>
                  </a:lnTo>
                  <a:lnTo>
                    <a:pt x="120" y="3880"/>
                  </a:lnTo>
                  <a:lnTo>
                    <a:pt x="5065" y="3880"/>
                  </a:lnTo>
                  <a:lnTo>
                    <a:pt x="5071" y="3879"/>
                  </a:lnTo>
                  <a:lnTo>
                    <a:pt x="5077" y="3878"/>
                  </a:lnTo>
                  <a:lnTo>
                    <a:pt x="5089" y="3875"/>
                  </a:lnTo>
                  <a:lnTo>
                    <a:pt x="5101" y="3869"/>
                  </a:lnTo>
                  <a:lnTo>
                    <a:pt x="5112" y="3861"/>
                  </a:lnTo>
                  <a:lnTo>
                    <a:pt x="5122" y="3852"/>
                  </a:lnTo>
                  <a:lnTo>
                    <a:pt x="5132" y="3841"/>
                  </a:lnTo>
                  <a:lnTo>
                    <a:pt x="5141" y="3828"/>
                  </a:lnTo>
                  <a:lnTo>
                    <a:pt x="5150" y="3815"/>
                  </a:lnTo>
                  <a:lnTo>
                    <a:pt x="5158" y="3801"/>
                  </a:lnTo>
                  <a:lnTo>
                    <a:pt x="5165" y="3786"/>
                  </a:lnTo>
                  <a:lnTo>
                    <a:pt x="5171" y="3771"/>
                  </a:lnTo>
                  <a:lnTo>
                    <a:pt x="5176" y="3756"/>
                  </a:lnTo>
                  <a:lnTo>
                    <a:pt x="5180" y="3741"/>
                  </a:lnTo>
                  <a:lnTo>
                    <a:pt x="5182" y="3727"/>
                  </a:lnTo>
                  <a:lnTo>
                    <a:pt x="5184" y="3713"/>
                  </a:lnTo>
                  <a:lnTo>
                    <a:pt x="5185" y="3700"/>
                  </a:lnTo>
                  <a:lnTo>
                    <a:pt x="5172" y="367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bIns="36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dirty="0">
                <a:solidFill>
                  <a:srgbClr val="FFFFFF"/>
                </a:solidFill>
                <a:ea typeface="微软雅黑" panose="020B0503020204020204" pitchFamily="34" charset="-122"/>
              </a:endParaRPr>
            </a:p>
          </p:txBody>
        </p:sp>
        <p:sp>
          <p:nvSpPr>
            <p:cNvPr id="45" name="文本框 44"/>
            <p:cNvSpPr txBox="1"/>
            <p:nvPr/>
          </p:nvSpPr>
          <p:spPr>
            <a:xfrm>
              <a:off x="1710" y="6293"/>
              <a:ext cx="2748" cy="1584"/>
            </a:xfrm>
            <a:prstGeom prst="rect">
              <a:avLst/>
            </a:prstGeom>
            <a:noFill/>
          </p:spPr>
          <p:txBody>
            <a:bodyPr wrap="square" rtlCol="0">
              <a:spAutoFit/>
            </a:bodyPr>
            <a:lstStyle/>
            <a:p>
              <a:r>
                <a:rPr lang="zh-CN" altLang="en-US" sz="2000" b="1"/>
                <a:t>构件图描述软件构件之间的相互依赖关系。</a:t>
              </a:r>
            </a:p>
          </p:txBody>
        </p:sp>
      </p:grpSp>
    </p:spTree>
  </p:cSld>
  <p:clrMapOvr>
    <a:masterClrMapping/>
  </p:clrMapOvr>
  <p:transition>
    <p:circl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89F8E149-9466-31BF-23E1-38CA62D3E887}"/>
              </a:ext>
            </a:extLst>
          </p:cNvPr>
          <p:cNvSpPr>
            <a:spLocks noGrp="1"/>
          </p:cNvSpPr>
          <p:nvPr>
            <p:ph type="body" sz="quarter" idx="10"/>
          </p:nvPr>
        </p:nvSpPr>
        <p:spPr>
          <a:xfrm>
            <a:off x="900001" y="1322832"/>
            <a:ext cx="5196000" cy="400110"/>
          </a:xfrm>
        </p:spPr>
        <p:txBody>
          <a:bodyPr/>
          <a:lstStyle/>
          <a:p>
            <a:r>
              <a:rPr lang="en-US" altLang="zh-CN" dirty="0"/>
              <a:t>6.3.8 </a:t>
            </a:r>
            <a:r>
              <a:rPr lang="zh-CN" altLang="en-US" dirty="0"/>
              <a:t>构件图</a:t>
            </a:r>
          </a:p>
        </p:txBody>
      </p:sp>
      <p:sp>
        <p:nvSpPr>
          <p:cNvPr id="22" name="文本框 99"/>
          <p:cNvSpPr txBox="1"/>
          <p:nvPr/>
        </p:nvSpPr>
        <p:spPr>
          <a:xfrm>
            <a:off x="1102427" y="2986734"/>
            <a:ext cx="9887191" cy="3265930"/>
          </a:xfrm>
          <a:prstGeom prst="roundRect">
            <a:avLst/>
          </a:prstGeom>
          <a:noFill/>
          <a:ln w="9525">
            <a:solidFill>
              <a:schemeClr val="accent3"/>
            </a:solidFill>
          </a:ln>
        </p:spPr>
        <p:txBody>
          <a:bodyPr wrap="square">
            <a:spAutoFit/>
          </a:bodyPr>
          <a:lstStyle/>
          <a:p>
            <a:pPr indent="457200">
              <a:lnSpc>
                <a:spcPct val="1500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宋体" panose="02010600030101010101" pitchFamily="2" charset="-122"/>
              </a:rPr>
              <a:t>构件图的图示符号是左边带有两个小矩形的大矩形。构件的名称写在大矩形内。</a:t>
            </a:r>
          </a:p>
          <a:p>
            <a:pPr indent="457200">
              <a:lnSpc>
                <a:spcPct val="1500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宋体" panose="02010600030101010101" pitchFamily="2" charset="-122"/>
              </a:rPr>
              <a:t>构件的依赖关系用一条带箭头的虚线表示。箭头的形状表示消息的类型。</a:t>
            </a:r>
          </a:p>
          <a:p>
            <a:pPr indent="457200">
              <a:lnSpc>
                <a:spcPct val="1500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宋体" panose="02010600030101010101" pitchFamily="2" charset="-122"/>
              </a:rPr>
              <a:t>构件的接口：从代表构件的大矩形边框画出一条线，线的另一端为小空心圆，接口的名称写在空心圆附近。这里的接口可以是模块之间的接口，也可以是软件与设备之间的接口或人机交互界面。</a:t>
            </a:r>
          </a:p>
          <a:p>
            <a:pPr indent="457200">
              <a:lnSpc>
                <a:spcPct val="1500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宋体" panose="02010600030101010101" pitchFamily="2" charset="-122"/>
              </a:rPr>
              <a:t>图</a:t>
            </a:r>
            <a:r>
              <a:rPr lang="en-US" altLang="zh-CN" dirty="0">
                <a:latin typeface="微软雅黑" panose="020B0503020204020204" pitchFamily="34" charset="-122"/>
                <a:ea typeface="微软雅黑" panose="020B0503020204020204" pitchFamily="34" charset="-122"/>
                <a:cs typeface="宋体" panose="02010600030101010101" pitchFamily="2" charset="-122"/>
              </a:rPr>
              <a:t>6-20</a:t>
            </a:r>
            <a:r>
              <a:rPr lang="zh-CN" altLang="en-US" dirty="0">
                <a:latin typeface="微软雅黑" panose="020B0503020204020204" pitchFamily="34" charset="-122"/>
                <a:ea typeface="微软雅黑" panose="020B0503020204020204" pitchFamily="34" charset="-122"/>
                <a:cs typeface="宋体" panose="02010600030101010101" pitchFamily="2" charset="-122"/>
              </a:rPr>
              <a:t>表示某系统程序有外部接口，并调用数据库。由于在调用数据库时，必须等数据库中的信息返回后，程序才能进行判断、操作，因而是同步消息传送。</a:t>
            </a:r>
          </a:p>
        </p:txBody>
      </p:sp>
      <p:pic>
        <p:nvPicPr>
          <p:cNvPr id="148482" name="Picture 14" descr="6-20"/>
          <p:cNvPicPr>
            <a:picLocks noChangeAspect="1" noChangeArrowheads="1"/>
          </p:cNvPicPr>
          <p:nvPr/>
        </p:nvPicPr>
        <p:blipFill>
          <a:blip r:embed="rId2" cstate="print"/>
          <a:srcRect/>
          <a:stretch>
            <a:fillRect/>
          </a:stretch>
        </p:blipFill>
        <p:spPr bwMode="auto">
          <a:xfrm>
            <a:off x="3202892" y="1307683"/>
            <a:ext cx="7079673" cy="1600200"/>
          </a:xfrm>
          <a:prstGeom prst="rect">
            <a:avLst/>
          </a:prstGeom>
          <a:noFill/>
          <a:ln w="9525">
            <a:noFill/>
            <a:miter lim="800000"/>
            <a:headEnd/>
            <a:tailEnd/>
          </a:ln>
        </p:spPr>
      </p:pic>
    </p:spTree>
  </p:cSld>
  <p:clrMapOvr>
    <a:masterClrMapping/>
  </p:clrMapOvr>
  <p:transition>
    <p:circl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t>6.3 </a:t>
            </a:r>
            <a:r>
              <a:rPr lang="zh-CN" altLang="en-US">
                <a:sym typeface="+mn-ea"/>
              </a:rPr>
              <a:t>UML图</a:t>
            </a:r>
            <a:endParaRPr lang="zh-CN" altLang="en-US" dirty="0"/>
          </a:p>
        </p:txBody>
      </p:sp>
      <p:sp>
        <p:nvSpPr>
          <p:cNvPr id="10" name="文本占位符 9">
            <a:extLst>
              <a:ext uri="{FF2B5EF4-FFF2-40B4-BE49-F238E27FC236}">
                <a16:creationId xmlns:a16="http://schemas.microsoft.com/office/drawing/2014/main" id="{B2CD8AD4-9F0C-5F6E-1300-4CE950ACFF74}"/>
              </a:ext>
            </a:extLst>
          </p:cNvPr>
          <p:cNvSpPr>
            <a:spLocks noGrp="1"/>
          </p:cNvSpPr>
          <p:nvPr>
            <p:ph type="body" sz="quarter" idx="10"/>
          </p:nvPr>
        </p:nvSpPr>
        <p:spPr>
          <a:xfrm>
            <a:off x="900001" y="1322832"/>
            <a:ext cx="5196000" cy="400110"/>
          </a:xfrm>
        </p:spPr>
        <p:txBody>
          <a:bodyPr/>
          <a:lstStyle/>
          <a:p>
            <a:r>
              <a:rPr lang="en-US" altLang="zh-CN" dirty="0"/>
              <a:t>6.3.9 </a:t>
            </a:r>
            <a:r>
              <a:rPr lang="zh-CN" altLang="en-US" dirty="0"/>
              <a:t>部署图 </a:t>
            </a:r>
            <a:r>
              <a:rPr lang="en-US" altLang="zh-CN" dirty="0"/>
              <a:t>Deployment Diagram</a:t>
            </a:r>
            <a:endParaRPr lang="zh-CN" altLang="en-US" dirty="0"/>
          </a:p>
        </p:txBody>
      </p:sp>
      <p:grpSp>
        <p:nvGrpSpPr>
          <p:cNvPr id="2" name="组合 1"/>
          <p:cNvGrpSpPr/>
          <p:nvPr/>
        </p:nvGrpSpPr>
        <p:grpSpPr>
          <a:xfrm>
            <a:off x="0" y="2461260"/>
            <a:ext cx="12192000" cy="3171825"/>
            <a:chOff x="67" y="4043"/>
            <a:chExt cx="19200" cy="4995"/>
          </a:xfrm>
        </p:grpSpPr>
        <p:sp>
          <p:nvSpPr>
            <p:cNvPr id="6" name="矩形 5"/>
            <p:cNvSpPr/>
            <p:nvPr/>
          </p:nvSpPr>
          <p:spPr>
            <a:xfrm>
              <a:off x="67" y="4043"/>
              <a:ext cx="19200" cy="4995"/>
            </a:xfrm>
            <a:prstGeom prst="rect">
              <a:avLst/>
            </a:prstGeom>
            <a:solidFill>
              <a:schemeClr val="accent3">
                <a:lumMod val="7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8465" y="4453"/>
              <a:ext cx="9467" cy="4176"/>
            </a:xfrm>
            <a:prstGeom prst="rect">
              <a:avLst/>
            </a:prstGeom>
          </p:spPr>
          <p:txBody>
            <a:bodyPr wrap="square">
              <a:spAutoFit/>
            </a:bodyPr>
            <a:lstStyle/>
            <a:p>
              <a:pPr indent="457200">
                <a:lnSpc>
                  <a:spcPct val="120000"/>
                </a:lnSpc>
                <a:defRPr/>
              </a:pPr>
              <a:r>
                <a:rPr sz="2000" dirty="0">
                  <a:solidFill>
                    <a:schemeClr val="bg1"/>
                  </a:solidFill>
                  <a:ea typeface="微软雅黑" panose="020B0503020204020204" charset="-122"/>
                </a:rPr>
                <a:t>部署图描述计算机系统硬件的物理拓扑结构及在此结构上执行的软件。使用部署图可以表示硬件设备的物理拓扑结构和通信路径、硬件上运行的软件构件、软件构件的逻辑单元等。部署图常用于帮助人们理解分布式系统。</a:t>
              </a:r>
            </a:p>
            <a:p>
              <a:pPr indent="457200">
                <a:lnSpc>
                  <a:spcPct val="120000"/>
                </a:lnSpc>
                <a:defRPr/>
              </a:pPr>
              <a:r>
                <a:rPr sz="2000" dirty="0">
                  <a:solidFill>
                    <a:schemeClr val="bg1"/>
                  </a:solidFill>
                  <a:ea typeface="微软雅黑" panose="020B0503020204020204" charset="-122"/>
                </a:rPr>
                <a:t>部署图含有以下要素：结点及其连接、构件及其接口、对象。</a:t>
              </a:r>
            </a:p>
          </p:txBody>
        </p:sp>
      </p:grpSp>
      <p:sp>
        <p:nvSpPr>
          <p:cNvPr id="13" name="MH_Picture_1"/>
          <p:cNvSpPr/>
          <p:nvPr>
            <p:custDataLst>
              <p:tags r:id="rId1"/>
            </p:custDataLst>
          </p:nvPr>
        </p:nvSpPr>
        <p:spPr>
          <a:xfrm>
            <a:off x="509257" y="2532972"/>
            <a:ext cx="4544336" cy="3028183"/>
          </a:xfrm>
          <a:prstGeom prst="rect">
            <a:avLst/>
          </a:prstGeom>
          <a:blipFill>
            <a:blip r:embed="rId3"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7">
            <a:extLst>
              <a:ext uri="{FF2B5EF4-FFF2-40B4-BE49-F238E27FC236}">
                <a16:creationId xmlns:a16="http://schemas.microsoft.com/office/drawing/2014/main" id="{982A5F32-3806-D009-BC9B-720B460B537F}"/>
              </a:ext>
            </a:extLst>
          </p:cNvPr>
          <p:cNvSpPr txBox="1"/>
          <p:nvPr/>
        </p:nvSpPr>
        <p:spPr>
          <a:xfrm>
            <a:off x="2980765" y="3221922"/>
            <a:ext cx="6230470" cy="369332"/>
          </a:xfrm>
          <a:prstGeom prst="rect">
            <a:avLst/>
          </a:prstGeom>
          <a:noFill/>
        </p:spPr>
        <p:txBody>
          <a:bodyPr wrap="square">
            <a:spAutoFit/>
          </a:bodyPr>
          <a:lstStyle/>
          <a:p>
            <a:r>
              <a:rPr lang="en-US" altLang="zh-CN" sz="1800" dirty="0">
                <a:solidFill>
                  <a:schemeClr val="tx1"/>
                </a:solidFill>
              </a:rPr>
              <a:t>6.3.9 </a:t>
            </a:r>
            <a:r>
              <a:rPr lang="zh-CN" altLang="en-US" sz="1800" dirty="0">
                <a:solidFill>
                  <a:schemeClr val="tx1"/>
                </a:solidFill>
              </a:rPr>
              <a:t>部署图</a:t>
            </a:r>
          </a:p>
        </p:txBody>
      </p:sp>
    </p:spTree>
  </p:cSld>
  <p:clrMapOvr>
    <a:masterClrMapping/>
  </p:clrMapOvr>
  <p:transition>
    <p:circl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8" name="文本占位符 7">
            <a:extLst>
              <a:ext uri="{FF2B5EF4-FFF2-40B4-BE49-F238E27FC236}">
                <a16:creationId xmlns:a16="http://schemas.microsoft.com/office/drawing/2014/main" id="{F84A8916-E9A0-E56B-F691-CF3ED4747236}"/>
              </a:ext>
            </a:extLst>
          </p:cNvPr>
          <p:cNvSpPr>
            <a:spLocks noGrp="1"/>
          </p:cNvSpPr>
          <p:nvPr>
            <p:ph type="body" sz="quarter" idx="10"/>
          </p:nvPr>
        </p:nvSpPr>
        <p:spPr>
          <a:xfrm>
            <a:off x="900001" y="1322832"/>
            <a:ext cx="5196000" cy="400110"/>
          </a:xfrm>
        </p:spPr>
        <p:txBody>
          <a:bodyPr/>
          <a:lstStyle/>
          <a:p>
            <a:r>
              <a:rPr lang="en-US" altLang="zh-CN" dirty="0"/>
              <a:t>6.3.9 </a:t>
            </a:r>
            <a:r>
              <a:rPr lang="zh-CN" altLang="en-US" dirty="0"/>
              <a:t>部署图 </a:t>
            </a:r>
            <a:r>
              <a:rPr lang="en-US" altLang="zh-CN" dirty="0"/>
              <a:t>Deployment Diagram</a:t>
            </a:r>
            <a:endParaRPr lang="zh-CN" altLang="en-US" dirty="0"/>
          </a:p>
        </p:txBody>
      </p:sp>
      <p:grpSp>
        <p:nvGrpSpPr>
          <p:cNvPr id="2" name="组合 1"/>
          <p:cNvGrpSpPr/>
          <p:nvPr/>
        </p:nvGrpSpPr>
        <p:grpSpPr>
          <a:xfrm>
            <a:off x="30480" y="1741079"/>
            <a:ext cx="12161520" cy="4189821"/>
            <a:chOff x="48" y="2742"/>
            <a:chExt cx="19152" cy="6598"/>
          </a:xfrm>
        </p:grpSpPr>
        <p:grpSp>
          <p:nvGrpSpPr>
            <p:cNvPr id="5" name="组合 4"/>
            <p:cNvGrpSpPr/>
            <p:nvPr/>
          </p:nvGrpSpPr>
          <p:grpSpPr>
            <a:xfrm>
              <a:off x="48" y="4274"/>
              <a:ext cx="18627" cy="5066"/>
              <a:chOff x="0" y="2130426"/>
              <a:chExt cx="21288800" cy="3781851"/>
            </a:xfrm>
          </p:grpSpPr>
          <p:sp>
            <p:nvSpPr>
              <p:cNvPr id="6"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5"/>
                </p:custDataLst>
              </p:nvPr>
            </p:nvSpPr>
            <p:spPr bwMode="auto">
              <a:xfrm>
                <a:off x="4083582" y="5593515"/>
                <a:ext cx="17205218" cy="171699"/>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1"/>
                </p:custDataLst>
              </p:nvPr>
            </p:nvSpPr>
            <p:spPr bwMode="auto">
              <a:xfrm>
                <a:off x="6700823" y="2141624"/>
                <a:ext cx="14499973" cy="3770653"/>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tx1"/>
                    </a:solidFill>
                    <a:latin typeface="微软雅黑" panose="020B0503020204020204" charset="-122"/>
                    <a:ea typeface="微软雅黑" panose="020B0503020204020204" charset="-122"/>
                  </a:rPr>
                  <a:t>结点（Node）是一种代表运行时计算资源的分类器。一般来说，结点至少要具备内存，而且常常具有处理能力。运行时对象和构件可驻留在结点上。</a:t>
                </a:r>
              </a:p>
              <a:p>
                <a:pPr indent="457200">
                  <a:lnSpc>
                    <a:spcPct val="130000"/>
                  </a:lnSpc>
                  <a:defRPr/>
                </a:pPr>
                <a:r>
                  <a:rPr lang="da-DK" altLang="zh-CN" dirty="0">
                    <a:solidFill>
                      <a:schemeClr val="tx1"/>
                    </a:solidFill>
                    <a:latin typeface="微软雅黑" panose="020B0503020204020204" charset="-122"/>
                    <a:ea typeface="微软雅黑" panose="020B0503020204020204" charset="-122"/>
                  </a:rPr>
                  <a:t>结点可代表一个物理设备以及在该设备上运行的软件系统。例如，一个服务器、一台计算机、一台打印机、一台传真机等。结点用一个立方体表示，结点名放在立方体的左上角。</a:t>
                </a:r>
              </a:p>
              <a:p>
                <a:pPr indent="457200">
                  <a:lnSpc>
                    <a:spcPct val="130000"/>
                  </a:lnSpc>
                  <a:defRPr/>
                </a:pPr>
                <a:r>
                  <a:rPr lang="da-DK" altLang="zh-CN" dirty="0">
                    <a:solidFill>
                      <a:schemeClr val="tx1"/>
                    </a:solidFill>
                    <a:latin typeface="微软雅黑" panose="020B0503020204020204" charset="-122"/>
                    <a:ea typeface="微软雅黑" panose="020B0503020204020204" charset="-122"/>
                  </a:rPr>
                  <a:t>结点间的连线表示系统之间进行交互的通信线路，在UML中称为连接。通信的类型写在表示连接的线旁，以指定所用的通信协议或网络类型。结点的连接是关联，可以加约束、版型、多重性等符号。</a:t>
                </a:r>
              </a:p>
            </p:txBody>
          </p:sp>
        </p:grpSp>
        <p:grpSp>
          <p:nvGrpSpPr>
            <p:cNvPr id="34" name="组合 33"/>
            <p:cNvGrpSpPr/>
            <p:nvPr/>
          </p:nvGrpSpPr>
          <p:grpSpPr>
            <a:xfrm flipH="1">
              <a:off x="11305" y="2742"/>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结点和连接</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1</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circl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8" name="文本占位符 7">
            <a:extLst>
              <a:ext uri="{FF2B5EF4-FFF2-40B4-BE49-F238E27FC236}">
                <a16:creationId xmlns:a16="http://schemas.microsoft.com/office/drawing/2014/main" id="{D28DC27F-6F3F-434C-716D-A6CD7B80B5E3}"/>
              </a:ext>
            </a:extLst>
          </p:cNvPr>
          <p:cNvSpPr>
            <a:spLocks noGrp="1"/>
          </p:cNvSpPr>
          <p:nvPr>
            <p:ph type="body" sz="quarter" idx="10"/>
          </p:nvPr>
        </p:nvSpPr>
        <p:spPr>
          <a:xfrm>
            <a:off x="900001" y="1322832"/>
            <a:ext cx="5196000" cy="400110"/>
          </a:xfrm>
        </p:spPr>
        <p:txBody>
          <a:bodyPr/>
          <a:lstStyle/>
          <a:p>
            <a:r>
              <a:rPr lang="en-US" altLang="zh-CN" dirty="0"/>
              <a:t>6.3.9 </a:t>
            </a:r>
            <a:r>
              <a:rPr lang="zh-CN" altLang="en-US" dirty="0"/>
              <a:t>部署图 </a:t>
            </a:r>
            <a:r>
              <a:rPr lang="en-US" altLang="zh-CN" dirty="0"/>
              <a:t>Deployment Diagram</a:t>
            </a:r>
            <a:endParaRPr lang="zh-CN" altLang="en-US" dirty="0"/>
          </a:p>
        </p:txBody>
      </p:sp>
      <p:grpSp>
        <p:nvGrpSpPr>
          <p:cNvPr id="2" name="组合 1"/>
          <p:cNvGrpSpPr/>
          <p:nvPr/>
        </p:nvGrpSpPr>
        <p:grpSpPr>
          <a:xfrm>
            <a:off x="30480" y="1741170"/>
            <a:ext cx="12160885" cy="4064000"/>
            <a:chOff x="48" y="2742"/>
            <a:chExt cx="19151" cy="6400"/>
          </a:xfrm>
        </p:grpSpPr>
        <p:grpSp>
          <p:nvGrpSpPr>
            <p:cNvPr id="5" name="组合 4"/>
            <p:cNvGrpSpPr/>
            <p:nvPr/>
          </p:nvGrpSpPr>
          <p:grpSpPr>
            <a:xfrm>
              <a:off x="48" y="4274"/>
              <a:ext cx="18627" cy="4869"/>
              <a:chOff x="0" y="2130426"/>
              <a:chExt cx="21288800" cy="3634788"/>
            </a:xfrm>
          </p:grpSpPr>
          <p:sp>
            <p:nvSpPr>
              <p:cNvPr id="6"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5"/>
                </p:custDataLst>
              </p:nvPr>
            </p:nvSpPr>
            <p:spPr bwMode="auto">
              <a:xfrm>
                <a:off x="4083582" y="5593515"/>
                <a:ext cx="17205218" cy="171699"/>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1"/>
                </p:custDataLst>
              </p:nvPr>
            </p:nvSpPr>
            <p:spPr bwMode="auto">
              <a:xfrm>
                <a:off x="7408278" y="2567884"/>
                <a:ext cx="13383360" cy="265834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tx1"/>
                    </a:solidFill>
                    <a:latin typeface="微软雅黑" panose="020B0503020204020204" charset="-122"/>
                    <a:ea typeface="微软雅黑" panose="020B0503020204020204" charset="-122"/>
                  </a:rPr>
                  <a:t>部署图中的构件代表可执行的物理代码模块（可执行构件的实例），在逻辑上可以和类图中的包或类对应。因此，部署图显示了运行时各个包或类在结点中的分布情况。</a:t>
                </a:r>
              </a:p>
              <a:p>
                <a:pPr indent="457200">
                  <a:lnSpc>
                    <a:spcPct val="130000"/>
                  </a:lnSpc>
                  <a:defRPr/>
                </a:pPr>
                <a:r>
                  <a:rPr lang="da-DK" altLang="zh-CN" dirty="0">
                    <a:solidFill>
                      <a:schemeClr val="tx1"/>
                    </a:solidFill>
                    <a:latin typeface="微软雅黑" panose="020B0503020204020204" charset="-122"/>
                    <a:ea typeface="微软雅黑" panose="020B0503020204020204" charset="-122"/>
                  </a:rPr>
                  <a:t>在面向对象方法中，类和构件的操作及属性对外并不都是可见的，类和构件等元素对外提供的可见操作和属性称为接口。接口用一端是小圆圈的直线来表示。</a:t>
                </a:r>
              </a:p>
            </p:txBody>
          </p:sp>
        </p:grpSp>
        <p:grpSp>
          <p:nvGrpSpPr>
            <p:cNvPr id="34" name="组合 33"/>
            <p:cNvGrpSpPr/>
            <p:nvPr/>
          </p:nvGrpSpPr>
          <p:grpSpPr>
            <a:xfrm flipH="1">
              <a:off x="11305" y="2742"/>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构件和接口</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2</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circl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dirty="0"/>
              <a:t>6.3 </a:t>
            </a:r>
            <a:r>
              <a:rPr lang="zh-CN" altLang="en-US" dirty="0">
                <a:sym typeface="+mn-ea"/>
              </a:rPr>
              <a:t>UML图</a:t>
            </a:r>
            <a:endParaRPr lang="zh-CN" altLang="en-US" dirty="0"/>
          </a:p>
        </p:txBody>
      </p:sp>
      <p:sp>
        <p:nvSpPr>
          <p:cNvPr id="8" name="文本占位符 7">
            <a:extLst>
              <a:ext uri="{FF2B5EF4-FFF2-40B4-BE49-F238E27FC236}">
                <a16:creationId xmlns:a16="http://schemas.microsoft.com/office/drawing/2014/main" id="{7A73E48F-6814-427A-522B-788C4CF903D7}"/>
              </a:ext>
            </a:extLst>
          </p:cNvPr>
          <p:cNvSpPr>
            <a:spLocks noGrp="1"/>
          </p:cNvSpPr>
          <p:nvPr>
            <p:ph type="body" sz="quarter" idx="10"/>
          </p:nvPr>
        </p:nvSpPr>
        <p:spPr>
          <a:xfrm>
            <a:off x="900001" y="1322832"/>
            <a:ext cx="5196000" cy="400110"/>
          </a:xfrm>
        </p:spPr>
        <p:txBody>
          <a:bodyPr/>
          <a:lstStyle/>
          <a:p>
            <a:r>
              <a:rPr lang="en-US" altLang="zh-CN" dirty="0"/>
              <a:t>6.3.9 </a:t>
            </a:r>
            <a:r>
              <a:rPr lang="zh-CN" altLang="en-US" dirty="0"/>
              <a:t>部署图 </a:t>
            </a:r>
            <a:r>
              <a:rPr lang="en-US" altLang="zh-CN" dirty="0"/>
              <a:t>Deployment Diagram</a:t>
            </a:r>
            <a:endParaRPr lang="zh-CN" altLang="en-US" dirty="0"/>
          </a:p>
        </p:txBody>
      </p:sp>
      <p:grpSp>
        <p:nvGrpSpPr>
          <p:cNvPr id="2" name="组合 1"/>
          <p:cNvGrpSpPr/>
          <p:nvPr/>
        </p:nvGrpSpPr>
        <p:grpSpPr>
          <a:xfrm>
            <a:off x="30480" y="1741170"/>
            <a:ext cx="12160885" cy="4064000"/>
            <a:chOff x="48" y="2742"/>
            <a:chExt cx="19151" cy="6400"/>
          </a:xfrm>
        </p:grpSpPr>
        <p:grpSp>
          <p:nvGrpSpPr>
            <p:cNvPr id="5" name="组合 4"/>
            <p:cNvGrpSpPr/>
            <p:nvPr/>
          </p:nvGrpSpPr>
          <p:grpSpPr>
            <a:xfrm>
              <a:off x="48" y="4274"/>
              <a:ext cx="18627" cy="4869"/>
              <a:chOff x="0" y="2130426"/>
              <a:chExt cx="21288800" cy="3634788"/>
            </a:xfrm>
          </p:grpSpPr>
          <p:sp>
            <p:nvSpPr>
              <p:cNvPr id="6"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5"/>
                </p:custDataLst>
              </p:nvPr>
            </p:nvSpPr>
            <p:spPr bwMode="auto">
              <a:xfrm>
                <a:off x="4083582" y="5593515"/>
                <a:ext cx="17205218" cy="171699"/>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1"/>
                </p:custDataLst>
              </p:nvPr>
            </p:nvSpPr>
            <p:spPr bwMode="auto">
              <a:xfrm>
                <a:off x="7556856" y="3024753"/>
                <a:ext cx="12555900" cy="121607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tx1"/>
                    </a:solidFill>
                    <a:latin typeface="微软雅黑" panose="020B0503020204020204" charset="-122"/>
                    <a:ea typeface="微软雅黑" panose="020B0503020204020204" charset="-122"/>
                  </a:rPr>
                  <a:t>部署图中的构件是包或类对应的物理代码模块，因此，构件中应包含一些运行的对象。部署图中的对象与对象图中的对象的表示方法相同。</a:t>
                </a:r>
              </a:p>
            </p:txBody>
          </p:sp>
        </p:grpSp>
        <p:grpSp>
          <p:nvGrpSpPr>
            <p:cNvPr id="34" name="组合 33"/>
            <p:cNvGrpSpPr/>
            <p:nvPr/>
          </p:nvGrpSpPr>
          <p:grpSpPr>
            <a:xfrm flipH="1">
              <a:off x="11305" y="2742"/>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对象</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3</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circl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zh-CN" dirty="0">
                <a:sym typeface="+mn-ea"/>
              </a:rPr>
              <a:t>6.3 UML</a:t>
            </a:r>
            <a:r>
              <a:rPr lang="zh-CN" altLang="en-US" dirty="0">
                <a:sym typeface="+mn-ea"/>
              </a:rPr>
              <a:t>图</a:t>
            </a:r>
            <a:endParaRPr lang="zh-CN" altLang="en-US" dirty="0"/>
          </a:p>
        </p:txBody>
      </p:sp>
      <p:sp>
        <p:nvSpPr>
          <p:cNvPr id="4" name="文本占位符 3">
            <a:extLst>
              <a:ext uri="{FF2B5EF4-FFF2-40B4-BE49-F238E27FC236}">
                <a16:creationId xmlns:a16="http://schemas.microsoft.com/office/drawing/2014/main" id="{C675C4A7-C9FA-AD26-ED54-3D35769204B8}"/>
              </a:ext>
            </a:extLst>
          </p:cNvPr>
          <p:cNvSpPr>
            <a:spLocks noGrp="1"/>
          </p:cNvSpPr>
          <p:nvPr>
            <p:ph type="body" sz="quarter" idx="10"/>
          </p:nvPr>
        </p:nvSpPr>
        <p:spPr>
          <a:xfrm>
            <a:off x="900001" y="1322832"/>
            <a:ext cx="5196000" cy="400110"/>
          </a:xfrm>
        </p:spPr>
        <p:txBody>
          <a:bodyPr/>
          <a:lstStyle/>
          <a:p>
            <a:r>
              <a:rPr lang="zh-CN" altLang="en-US" dirty="0"/>
              <a:t>案例 </a:t>
            </a:r>
            <a:r>
              <a:rPr lang="en-US" altLang="zh-CN" dirty="0"/>
              <a:t>6-5 </a:t>
            </a:r>
            <a:r>
              <a:rPr lang="zh-CN" altLang="en-US" dirty="0"/>
              <a:t>用部署图描述饮食销售系统。</a:t>
            </a:r>
            <a:endParaRPr lang="zh-CN" altLang="en-US" dirty="0">
              <a:sym typeface="+mn-ea"/>
            </a:endParaRPr>
          </a:p>
        </p:txBody>
      </p:sp>
      <p:sp>
        <p:nvSpPr>
          <p:cNvPr id="20" name="矩形 19"/>
          <p:cNvSpPr>
            <a:spLocks noChangeAspect="1"/>
          </p:cNvSpPr>
          <p:nvPr/>
        </p:nvSpPr>
        <p:spPr>
          <a:xfrm>
            <a:off x="695325" y="1884045"/>
            <a:ext cx="10432415" cy="1457698"/>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lIns="72000" tIns="36000" rIns="72000" bIns="36000" rtlCol="0" anchor="ctr">
            <a:spAutoFit/>
          </a:bodyPr>
          <a:lstStyle/>
          <a:p>
            <a:r>
              <a:rPr lang="zh-CN" altLang="en-US"/>
              <a:t> 图</a:t>
            </a:r>
            <a:r>
              <a:rPr lang="en-US" altLang="zh-CN" dirty="0"/>
              <a:t>6-21</a:t>
            </a:r>
            <a:r>
              <a:rPr lang="zh-CN" altLang="en-US" dirty="0"/>
              <a:t>是金龙卡饮食销售系统的部署图。在该系统中，有若干销售端，每个销售端有一个金龙卡接口和一个输入销售金额的界面。输入销售金额后，要将数据库中该金龙卡原有的余额减去输入的金额，再将得到的新余额存入数据库中。后台服务器有系统程序和数据库，系统程序用来对数据库中的数据进行处理。收银端有一个金龙卡接口和一个输入金额的界面，这里输入的金额要与数据库中该金龙卡原有的余额相加，再将得到的新余额存入数据库中。</a:t>
            </a:r>
          </a:p>
        </p:txBody>
      </p:sp>
      <p:sp>
        <p:nvSpPr>
          <p:cNvPr id="8" name="矩形 7"/>
          <p:cNvSpPr>
            <a:spLocks noChangeAspect="1"/>
          </p:cNvSpPr>
          <p:nvPr/>
        </p:nvSpPr>
        <p:spPr>
          <a:xfrm>
            <a:off x="695325" y="3429000"/>
            <a:ext cx="10432415" cy="3068637"/>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pic>
        <p:nvPicPr>
          <p:cNvPr id="147458" name="图片 171"/>
          <p:cNvPicPr>
            <a:picLocks noChangeAspect="1" noChangeArrowheads="1"/>
          </p:cNvPicPr>
          <p:nvPr/>
        </p:nvPicPr>
        <p:blipFill>
          <a:blip r:embed="rId2" cstate="print"/>
          <a:srcRect/>
          <a:stretch>
            <a:fillRect/>
          </a:stretch>
        </p:blipFill>
        <p:spPr bwMode="auto">
          <a:xfrm>
            <a:off x="3702685" y="3708717"/>
            <a:ext cx="4417695" cy="2561145"/>
          </a:xfrm>
          <a:prstGeom prst="rect">
            <a:avLst/>
          </a:prstGeom>
          <a:noFill/>
          <a:ln w="9525">
            <a:noFill/>
            <a:miter lim="800000"/>
            <a:headEnd/>
            <a:tailEnd/>
          </a:ln>
        </p:spPr>
      </p:pic>
    </p:spTree>
  </p:cSld>
  <p:clrMapOvr>
    <a:masterClrMapping/>
  </p:clrMapOvr>
  <p:transition>
    <p:circl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ea typeface="微软雅黑" panose="020B0503020204020204" pitchFamily="34" charset="-122"/>
            </a:endParaRPr>
          </a:p>
        </p:txBody>
      </p:sp>
      <p:sp>
        <p:nvSpPr>
          <p:cNvPr id="2" name="椭圆 1"/>
          <p:cNvSpPr/>
          <p:nvPr/>
        </p:nvSpPr>
        <p:spPr>
          <a:xfrm>
            <a:off x="3428455" y="2169500"/>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endParaRPr>
          </a:p>
        </p:txBody>
      </p:sp>
      <p:sp>
        <p:nvSpPr>
          <p:cNvPr id="18442" name="文本框 5"/>
          <p:cNvSpPr txBox="1"/>
          <p:nvPr/>
        </p:nvSpPr>
        <p:spPr>
          <a:xfrm>
            <a:off x="3766951" y="2565770"/>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4</a:t>
            </a:r>
          </a:p>
        </p:txBody>
      </p:sp>
      <p:sp>
        <p:nvSpPr>
          <p:cNvPr id="40" name="文本框 39"/>
          <p:cNvSpPr txBox="1"/>
          <p:nvPr/>
        </p:nvSpPr>
        <p:spPr>
          <a:xfrm>
            <a:off x="6006555" y="2913198"/>
            <a:ext cx="5137150" cy="83099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UML</a:t>
            </a:r>
            <a:r>
              <a:rPr kumimoji="0" lang="zh-CN" altLang="en-US" sz="4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的应用</a:t>
            </a:r>
          </a:p>
        </p:txBody>
      </p:sp>
      <p:sp>
        <p:nvSpPr>
          <p:cNvPr id="48" name="文本框 47"/>
          <p:cNvSpPr txBox="1"/>
          <p:nvPr/>
        </p:nvSpPr>
        <p:spPr>
          <a:xfrm>
            <a:off x="6006465" y="4135755"/>
            <a:ext cx="3712845" cy="40005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模型</a:t>
            </a:r>
          </a:p>
        </p:txBody>
      </p:sp>
      <p:sp>
        <p:nvSpPr>
          <p:cNvPr id="50" name="文本框 49"/>
          <p:cNvSpPr txBox="1"/>
          <p:nvPr/>
        </p:nvSpPr>
        <p:spPr>
          <a:xfrm>
            <a:off x="6006465" y="4631055"/>
            <a:ext cx="3712845" cy="40005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视图</a:t>
            </a:r>
          </a:p>
        </p:txBody>
      </p:sp>
      <p:sp>
        <p:nvSpPr>
          <p:cNvPr id="5" name="文本框 4"/>
          <p:cNvSpPr txBox="1"/>
          <p:nvPr/>
        </p:nvSpPr>
        <p:spPr>
          <a:xfrm>
            <a:off x="8722360" y="4135755"/>
            <a:ext cx="3712845" cy="40005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的扩展机制</a:t>
            </a:r>
          </a:p>
        </p:txBody>
      </p:sp>
      <p:sp>
        <p:nvSpPr>
          <p:cNvPr id="6" name="文本框 5"/>
          <p:cNvSpPr txBox="1"/>
          <p:nvPr/>
        </p:nvSpPr>
        <p:spPr>
          <a:xfrm>
            <a:off x="8722360" y="4631055"/>
            <a:ext cx="3712845" cy="40005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的应用领域</a:t>
            </a:r>
          </a:p>
        </p:txBody>
      </p:sp>
      <p:sp>
        <p:nvSpPr>
          <p:cNvPr id="7" name="文本框 6"/>
          <p:cNvSpPr txBox="1"/>
          <p:nvPr/>
        </p:nvSpPr>
        <p:spPr>
          <a:xfrm>
            <a:off x="6006465" y="5140960"/>
            <a:ext cx="3712845" cy="40011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UML</a:t>
            </a: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使用准则</a:t>
            </a:r>
          </a:p>
        </p:txBody>
      </p:sp>
    </p:spTree>
  </p:cSld>
  <p:clrMapOvr>
    <a:masterClrMapping/>
  </p:clrMapOvr>
  <p:transition spd="slow">
    <p:wip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en-US" smtClean="0">
                <a:sym typeface="+mn-ea"/>
              </a:rPr>
              <a:t>6.4 UML</a:t>
            </a:r>
            <a:r>
              <a:rPr lang="zh-CN" altLang="en-US" smtClean="0">
                <a:sym typeface="+mn-ea"/>
              </a:rPr>
              <a:t>的应用</a:t>
            </a:r>
            <a:endParaRPr lang="zh-CN" altLang="en-US" dirty="0">
              <a:sym typeface="+mn-ea"/>
            </a:endParaRPr>
          </a:p>
        </p:txBody>
      </p:sp>
      <p:sp>
        <p:nvSpPr>
          <p:cNvPr id="11" name="文本占位符 10">
            <a:extLst>
              <a:ext uri="{FF2B5EF4-FFF2-40B4-BE49-F238E27FC236}">
                <a16:creationId xmlns:a16="http://schemas.microsoft.com/office/drawing/2014/main" id="{E1FC4038-9282-CBD6-2588-251690B3C19E}"/>
              </a:ext>
            </a:extLst>
          </p:cNvPr>
          <p:cNvSpPr>
            <a:spLocks noGrp="1"/>
          </p:cNvSpPr>
          <p:nvPr>
            <p:ph type="body" sz="quarter" idx="10"/>
          </p:nvPr>
        </p:nvSpPr>
        <p:spPr/>
        <p:txBody>
          <a:bodyPr/>
          <a:lstStyle/>
          <a:p>
            <a:pPr indent="457200"/>
            <a:r>
              <a:rPr lang="en-US" altLang="zh-CN" dirty="0" smtClean="0"/>
              <a:t>UML</a:t>
            </a:r>
            <a:r>
              <a:rPr lang="zh-CN" altLang="en-US" dirty="0" smtClean="0"/>
              <a:t>是一种标准建模语言，用来建立模型，描述某些内容，表示使用一个方法的结果；</a:t>
            </a:r>
            <a:endParaRPr lang="en-US" altLang="zh-CN" dirty="0" smtClean="0"/>
          </a:p>
          <a:p>
            <a:r>
              <a:rPr lang="zh-CN" altLang="en-US" dirty="0" smtClean="0"/>
              <a:t>在面向对象分析阶段和面向对象设计阶段所使用的描述符号相同，不需要严格区分这两个阶段的工作。</a:t>
            </a:r>
          </a:p>
          <a:p>
            <a:r>
              <a:rPr lang="zh-CN" altLang="en-US" dirty="0" smtClean="0"/>
              <a:t>缺少描述解决问题的方法和执行过程的机制，缺少对过程或方法做什么、怎么做、</a:t>
            </a:r>
            <a:r>
              <a:rPr lang="zh-CN" altLang="en-US" dirty="0" smtClean="0">
                <a:solidFill>
                  <a:srgbClr val="FFFF00"/>
                </a:solidFill>
              </a:rPr>
              <a:t>为什么</a:t>
            </a:r>
            <a:r>
              <a:rPr lang="zh-CN" altLang="en-US" dirty="0" smtClean="0"/>
              <a:t>做、</a:t>
            </a:r>
            <a:r>
              <a:rPr lang="zh-CN" altLang="en-US" dirty="0" smtClean="0">
                <a:solidFill>
                  <a:srgbClr val="FFFF00"/>
                </a:solidFill>
              </a:rPr>
              <a:t>什么时候</a:t>
            </a:r>
            <a:r>
              <a:rPr lang="zh-CN" altLang="en-US" dirty="0" smtClean="0"/>
              <a:t>做的指示。</a:t>
            </a:r>
            <a:endParaRPr lang="en-US" altLang="zh-CN" dirty="0" smtClean="0"/>
          </a:p>
        </p:txBody>
      </p:sp>
      <p:pic>
        <p:nvPicPr>
          <p:cNvPr id="2" name="图片 1" descr="A000220150318R55PPIC.png"/>
          <p:cNvPicPr>
            <a:picLocks noChangeAspect="1"/>
          </p:cNvPicPr>
          <p:nvPr/>
        </p:nvPicPr>
        <p:blipFill>
          <a:blip r:embed="rId2" cstate="print"/>
          <a:stretch>
            <a:fillRect/>
          </a:stretch>
        </p:blipFill>
        <p:spPr>
          <a:xfrm>
            <a:off x="8733155" y="1089452"/>
            <a:ext cx="3023235" cy="4245610"/>
          </a:xfrm>
          <a:prstGeom prst="rect">
            <a:avLst/>
          </a:prstGeom>
        </p:spPr>
      </p:pic>
    </p:spTree>
  </p:cSld>
  <p:clrMapOvr>
    <a:masterClrMapping/>
  </p:clrMapOvr>
  <p:transition>
    <p:strips dir="ru"/>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en-US" smtClean="0">
                <a:sym typeface="+mn-ea"/>
              </a:rPr>
              <a:t>6.4 UML</a:t>
            </a:r>
            <a:r>
              <a:rPr lang="zh-CN" altLang="en-US" smtClean="0">
                <a:sym typeface="+mn-ea"/>
              </a:rPr>
              <a:t>的应用</a:t>
            </a:r>
            <a:endParaRPr lang="zh-CN" altLang="en-US" dirty="0"/>
          </a:p>
        </p:txBody>
      </p:sp>
      <p:sp>
        <p:nvSpPr>
          <p:cNvPr id="8" name="文本占位符 7">
            <a:extLst>
              <a:ext uri="{FF2B5EF4-FFF2-40B4-BE49-F238E27FC236}">
                <a16:creationId xmlns:a16="http://schemas.microsoft.com/office/drawing/2014/main" id="{89516442-32BC-39F3-93FD-D427E3D1444E}"/>
              </a:ext>
            </a:extLst>
          </p:cNvPr>
          <p:cNvSpPr>
            <a:spLocks noGrp="1"/>
          </p:cNvSpPr>
          <p:nvPr>
            <p:ph type="body" sz="quarter" idx="10"/>
          </p:nvPr>
        </p:nvSpPr>
        <p:spPr/>
        <p:txBody>
          <a:bodyPr/>
          <a:lstStyle/>
          <a:p>
            <a:pPr indent="457200"/>
            <a:r>
              <a:rPr lang="zh-CN" altLang="en-US" dirty="0" smtClean="0"/>
              <a:t>为了解决对过程的描述问题，使用</a:t>
            </a:r>
            <a:r>
              <a:rPr lang="en-US" altLang="zh-CN" dirty="0" smtClean="0"/>
              <a:t>UML</a:t>
            </a:r>
            <a:r>
              <a:rPr lang="zh-CN" altLang="en-US" dirty="0" smtClean="0"/>
              <a:t>进行面向对象开发时，采用以用例驱动、以体系结构为中心的、反复迭代的、渐增式的构造方法。</a:t>
            </a:r>
            <a:endParaRPr lang="en-US" altLang="zh-CN" dirty="0" smtClean="0"/>
          </a:p>
          <a:p>
            <a:pPr indent="457200"/>
            <a:r>
              <a:rPr lang="zh-CN" altLang="en-US" dirty="0" smtClean="0"/>
              <a:t>首先选择系统中某些用例，完成这些用例的开发，再选择一些未开发的用例进行开发，如此迭代、渐增地进行，直至所有的用例都实现为止。</a:t>
            </a:r>
            <a:endParaRPr lang="en-US" altLang="zh-CN" dirty="0" smtClean="0"/>
          </a:p>
          <a:p>
            <a:pPr indent="457200"/>
            <a:r>
              <a:rPr lang="zh-CN" altLang="en-US" dirty="0" smtClean="0"/>
              <a:t>每次迭代都包含了分析、设计、实现、测试和交付各个阶段。</a:t>
            </a:r>
            <a:endParaRPr lang="en-US" altLang="zh-CN" dirty="0" smtClean="0"/>
          </a:p>
          <a:p>
            <a:pPr indent="457200"/>
            <a:r>
              <a:rPr lang="zh-CN" altLang="en-US" dirty="0" smtClean="0"/>
              <a:t>整个项目的迭代次数不宜过多，通常以</a:t>
            </a:r>
            <a:r>
              <a:rPr lang="en-US" altLang="zh-CN" dirty="0" smtClean="0"/>
              <a:t>3</a:t>
            </a:r>
            <a:r>
              <a:rPr lang="zh-CN" altLang="en-US" dirty="0" smtClean="0"/>
              <a:t>～</a:t>
            </a:r>
            <a:r>
              <a:rPr lang="en-US" altLang="zh-CN" dirty="0" smtClean="0"/>
              <a:t>5</a:t>
            </a:r>
            <a:r>
              <a:rPr lang="zh-CN" altLang="en-US" dirty="0" smtClean="0"/>
              <a:t>次为宜。</a:t>
            </a:r>
            <a:endParaRPr lang="zh-CN" altLang="en-US" dirty="0"/>
          </a:p>
        </p:txBody>
      </p:sp>
      <p:sp>
        <p:nvSpPr>
          <p:cNvPr id="10" name="矩形 9"/>
          <p:cNvSpPr/>
          <p:nvPr/>
        </p:nvSpPr>
        <p:spPr>
          <a:xfrm>
            <a:off x="8100060" y="2251881"/>
            <a:ext cx="3656330" cy="1188720"/>
          </a:xfrm>
          <a:prstGeom prst="rect">
            <a:avLst/>
          </a:prstGeom>
          <a:noFill/>
          <a:ln>
            <a:noFill/>
          </a:ln>
        </p:spPr>
        <p:txBody>
          <a:bodyPr wrap="square" rtlCol="0" anchor="t">
            <a:prstTxWarp prst="textCurveDown">
              <a:avLst>
                <a:gd name="adj" fmla="val 29487"/>
              </a:avLst>
            </a:prstTxWarp>
            <a:spAutoFit/>
            <a:scene3d>
              <a:camera prst="isometricRightUp"/>
              <a:lightRig rig="threePt" dir="t"/>
            </a:scene3d>
          </a:bodyPr>
          <a:lstStyle/>
          <a:p>
            <a:pPr algn="ctr"/>
            <a:r>
              <a:rPr lang="en-US" altLang="zh-CN" sz="7200" b="1" dirty="0">
                <a:solidFill>
                  <a:schemeClr val="tx1"/>
                </a:solidFill>
                <a:effectLst>
                  <a:outerShdw blurRad="38100" dist="19050" dir="2700000" algn="tl" rotWithShape="0">
                    <a:schemeClr val="dk1">
                      <a:alpha val="40000"/>
                    </a:schemeClr>
                  </a:outerShdw>
                  <a:reflection blurRad="6350" stA="55000" endA="50" endPos="85000" dir="5400000" sy="-100000" algn="bl" rotWithShape="0"/>
                </a:effectLst>
              </a:rPr>
              <a:t>UML</a:t>
            </a:r>
          </a:p>
        </p:txBody>
      </p:sp>
    </p:spTree>
  </p:cSld>
  <p:clrMapOvr>
    <a:masterClrMapping/>
  </p:clrMapOvr>
  <p:transition>
    <p:pull dir="d"/>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smtClean="0"/>
              <a:t>6.4 </a:t>
            </a:r>
            <a:r>
              <a:rPr lang="zh-CN" altLang="en-US" smtClean="0">
                <a:sym typeface="+mn-ea"/>
              </a:rPr>
              <a:t>UML的应用</a:t>
            </a:r>
            <a:endParaRPr lang="zh-CN" altLang="en-US" dirty="0"/>
          </a:p>
        </p:txBody>
      </p:sp>
      <p:sp>
        <p:nvSpPr>
          <p:cNvPr id="8" name="文本占位符 7">
            <a:extLst>
              <a:ext uri="{FF2B5EF4-FFF2-40B4-BE49-F238E27FC236}">
                <a16:creationId xmlns:a16="http://schemas.microsoft.com/office/drawing/2014/main" id="{3802B574-5CD1-23A6-5B1C-7E384399DBE4}"/>
              </a:ext>
            </a:extLst>
          </p:cNvPr>
          <p:cNvSpPr>
            <a:spLocks noGrp="1"/>
          </p:cNvSpPr>
          <p:nvPr>
            <p:ph type="body" sz="quarter" idx="10"/>
          </p:nvPr>
        </p:nvSpPr>
        <p:spPr/>
        <p:txBody>
          <a:bodyPr/>
          <a:lstStyle/>
          <a:p>
            <a:r>
              <a:rPr lang="en-US" altLang="zh-CN" smtClean="0"/>
              <a:t>6.4.1 </a:t>
            </a:r>
            <a:r>
              <a:rPr lang="en-US" altLang="zh-CN" smtClean="0">
                <a:sym typeface="+mn-ea"/>
              </a:rPr>
              <a:t>UML</a:t>
            </a:r>
            <a:r>
              <a:rPr lang="zh-CN" altLang="en-US" smtClean="0">
                <a:sym typeface="+mn-ea"/>
              </a:rPr>
              <a:t>模型</a:t>
            </a:r>
            <a:endParaRPr lang="zh-CN" altLang="en-US" dirty="0">
              <a:sym typeface="+mn-ea"/>
            </a:endParaRPr>
          </a:p>
        </p:txBody>
      </p:sp>
      <p:grpSp>
        <p:nvGrpSpPr>
          <p:cNvPr id="9" name="组合 8"/>
          <p:cNvGrpSpPr/>
          <p:nvPr/>
        </p:nvGrpSpPr>
        <p:grpSpPr>
          <a:xfrm>
            <a:off x="5909023" y="2341880"/>
            <a:ext cx="5124737" cy="3070225"/>
            <a:chOff x="1192" y="3417"/>
            <a:chExt cx="7848" cy="4835"/>
          </a:xfrm>
        </p:grpSpPr>
        <p:grpSp>
          <p:nvGrpSpPr>
            <p:cNvPr id="10" name="组合 9"/>
            <p:cNvGrpSpPr/>
            <p:nvPr/>
          </p:nvGrpSpPr>
          <p:grpSpPr>
            <a:xfrm>
              <a:off x="3880" y="3417"/>
              <a:ext cx="3458" cy="970"/>
              <a:chOff x="2579663" y="2079632"/>
              <a:chExt cx="2196000" cy="615950"/>
            </a:xfrm>
          </p:grpSpPr>
          <p:sp>
            <p:nvSpPr>
              <p:cNvPr id="11" name="MH_Other_5"/>
              <p:cNvSpPr>
                <a:spLocks noChangeShapeType="1"/>
              </p:cNvSpPr>
              <p:nvPr>
                <p:custDataLst>
                  <p:tags r:id="rId12"/>
                </p:custDataLst>
              </p:nvPr>
            </p:nvSpPr>
            <p:spPr bwMode="black">
              <a:xfrm>
                <a:off x="2579663" y="2695582"/>
                <a:ext cx="2196000" cy="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12" name="MH_SubTitle_1"/>
              <p:cNvSpPr txBox="1">
                <a:spLocks noChangeArrowheads="1"/>
              </p:cNvSpPr>
              <p:nvPr>
                <p:custDataLst>
                  <p:tags r:id="rId13"/>
                </p:custDataLst>
              </p:nvPr>
            </p:nvSpPr>
            <p:spPr bwMode="auto">
              <a:xfrm>
                <a:off x="2671702" y="2079632"/>
                <a:ext cx="1928826" cy="611188"/>
              </a:xfrm>
              <a:prstGeom prst="rect">
                <a:avLst/>
              </a:prstGeom>
              <a:noFill/>
              <a:ln w="9525">
                <a:noFill/>
                <a:miter lim="800000"/>
              </a:ln>
            </p:spPr>
            <p:txBody>
              <a:bodyPr lIns="216000" tIns="34290" rIns="68580" bIns="34290" anchor="ctr"/>
              <a:lstStyle/>
              <a:p>
                <a:r>
                  <a:rPr lang="zh-CN" altLang="en-US" sz="2000" b="1" dirty="0">
                    <a:solidFill>
                      <a:srgbClr val="002060"/>
                    </a:solidFill>
                    <a:latin typeface="微软雅黑" panose="020B0503020204020204" charset="-122"/>
                    <a:ea typeface="微软雅黑" panose="020B0503020204020204" charset="-122"/>
                    <a:cs typeface="宋体" panose="02010600030101010101" pitchFamily="2" charset="-122"/>
                  </a:rPr>
                  <a:t>用例模型</a:t>
                </a:r>
              </a:p>
            </p:txBody>
          </p:sp>
        </p:grpSp>
        <p:grpSp>
          <p:nvGrpSpPr>
            <p:cNvPr id="13" name="组合 12"/>
            <p:cNvGrpSpPr/>
            <p:nvPr/>
          </p:nvGrpSpPr>
          <p:grpSpPr>
            <a:xfrm>
              <a:off x="1192" y="3820"/>
              <a:ext cx="3713" cy="4432"/>
              <a:chOff x="95208" y="1988874"/>
              <a:chExt cx="2957288" cy="3617951"/>
            </a:xfrm>
          </p:grpSpPr>
          <p:sp>
            <p:nvSpPr>
              <p:cNvPr id="14" name="MH_Other_1"/>
              <p:cNvSpPr/>
              <p:nvPr>
                <p:custDataLst>
                  <p:tags r:id="rId7"/>
                </p:custDataLst>
              </p:nvPr>
            </p:nvSpPr>
            <p:spPr bwMode="gray">
              <a:xfrm>
                <a:off x="1079643" y="1988874"/>
                <a:ext cx="1380280" cy="1213059"/>
              </a:xfrm>
              <a:custGeom>
                <a:avLst/>
                <a:gdLst>
                  <a:gd name="T0" fmla="*/ 0 w 1118"/>
                  <a:gd name="T1" fmla="*/ 0 h 1020"/>
                  <a:gd name="T2" fmla="*/ 6 w 1118"/>
                  <a:gd name="T3" fmla="*/ 793 h 1020"/>
                  <a:gd name="T4" fmla="*/ 551 w 1118"/>
                  <a:gd name="T5" fmla="*/ 1020 h 1020"/>
                  <a:gd name="T6" fmla="*/ 1118 w 1118"/>
                  <a:gd name="T7" fmla="*/ 470 h 1020"/>
                  <a:gd name="T8" fmla="*/ 0 w 1118"/>
                  <a:gd name="T9" fmla="*/ 0 h 1020"/>
                </a:gdLst>
                <a:ahLst/>
                <a:cxnLst>
                  <a:cxn ang="0">
                    <a:pos x="T0" y="T1"/>
                  </a:cxn>
                  <a:cxn ang="0">
                    <a:pos x="T2" y="T3"/>
                  </a:cxn>
                  <a:cxn ang="0">
                    <a:pos x="T4" y="T5"/>
                  </a:cxn>
                  <a:cxn ang="0">
                    <a:pos x="T6" y="T7"/>
                  </a:cxn>
                  <a:cxn ang="0">
                    <a:pos x="T8" y="T9"/>
                  </a:cxn>
                </a:cxnLst>
                <a:rect l="0" t="0" r="r" b="b"/>
                <a:pathLst>
                  <a:path w="1118" h="1020">
                    <a:moveTo>
                      <a:pt x="0" y="0"/>
                    </a:moveTo>
                    <a:cubicBezTo>
                      <a:pt x="2" y="393"/>
                      <a:pt x="6" y="793"/>
                      <a:pt x="6" y="793"/>
                    </a:cubicBezTo>
                    <a:cubicBezTo>
                      <a:pt x="117" y="797"/>
                      <a:pt x="326" y="808"/>
                      <a:pt x="551" y="1020"/>
                    </a:cubicBezTo>
                    <a:lnTo>
                      <a:pt x="1118" y="470"/>
                    </a:lnTo>
                    <a:cubicBezTo>
                      <a:pt x="1002" y="359"/>
                      <a:pt x="669" y="3"/>
                      <a:pt x="0" y="0"/>
                    </a:cubicBez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144000" bIns="18000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1</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5" name="MH_Other_2"/>
              <p:cNvSpPr/>
              <p:nvPr>
                <p:custDataLst>
                  <p:tags r:id="rId8"/>
                </p:custDataLst>
              </p:nvPr>
            </p:nvSpPr>
            <p:spPr bwMode="gray">
              <a:xfrm>
                <a:off x="1073271" y="4427236"/>
                <a:ext cx="1371519" cy="1179589"/>
              </a:xfrm>
              <a:custGeom>
                <a:avLst/>
                <a:gdLst>
                  <a:gd name="T0" fmla="*/ 0 w 1110"/>
                  <a:gd name="T1" fmla="*/ 228 h 1030"/>
                  <a:gd name="T2" fmla="*/ 4 w 1110"/>
                  <a:gd name="T3" fmla="*/ 1018 h 1030"/>
                  <a:gd name="T4" fmla="*/ 1110 w 1110"/>
                  <a:gd name="T5" fmla="*/ 559 h 1030"/>
                  <a:gd name="T6" fmla="*/ 552 w 1110"/>
                  <a:gd name="T7" fmla="*/ 0 h 1030"/>
                  <a:gd name="T8" fmla="*/ 0 w 1110"/>
                  <a:gd name="T9" fmla="*/ 228 h 1030"/>
                </a:gdLst>
                <a:ahLst/>
                <a:cxnLst>
                  <a:cxn ang="0">
                    <a:pos x="T0" y="T1"/>
                  </a:cxn>
                  <a:cxn ang="0">
                    <a:pos x="T2" y="T3"/>
                  </a:cxn>
                  <a:cxn ang="0">
                    <a:pos x="T4" y="T5"/>
                  </a:cxn>
                  <a:cxn ang="0">
                    <a:pos x="T6" y="T7"/>
                  </a:cxn>
                  <a:cxn ang="0">
                    <a:pos x="T8" y="T9"/>
                  </a:cxn>
                </a:cxnLst>
                <a:rect l="0" t="0" r="r" b="b"/>
                <a:pathLst>
                  <a:path w="1110" h="1030">
                    <a:moveTo>
                      <a:pt x="0" y="228"/>
                    </a:moveTo>
                    <a:cubicBezTo>
                      <a:pt x="2" y="623"/>
                      <a:pt x="4" y="1018"/>
                      <a:pt x="4" y="1018"/>
                    </a:cubicBezTo>
                    <a:cubicBezTo>
                      <a:pt x="478" y="1030"/>
                      <a:pt x="849" y="814"/>
                      <a:pt x="1110" y="559"/>
                    </a:cubicBezTo>
                    <a:lnTo>
                      <a:pt x="552" y="0"/>
                    </a:lnTo>
                    <a:cubicBezTo>
                      <a:pt x="355" y="184"/>
                      <a:pt x="180" y="220"/>
                      <a:pt x="0" y="228"/>
                    </a:cubicBez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144000" rIns="108000" bIns="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4</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6" name="MH_Other_3"/>
              <p:cNvSpPr/>
              <p:nvPr>
                <p:custDataLst>
                  <p:tags r:id="rId9"/>
                </p:custDataLst>
              </p:nvPr>
            </p:nvSpPr>
            <p:spPr bwMode="gray">
              <a:xfrm>
                <a:off x="1793833" y="2602155"/>
                <a:ext cx="1258663" cy="1196741"/>
              </a:xfrm>
              <a:custGeom>
                <a:avLst/>
                <a:gdLst>
                  <a:gd name="T0" fmla="*/ 0 w 1017"/>
                  <a:gd name="T1" fmla="*/ 554 h 1091"/>
                  <a:gd name="T2" fmla="*/ 225 w 1017"/>
                  <a:gd name="T3" fmla="*/ 1091 h 1091"/>
                  <a:gd name="T4" fmla="*/ 1017 w 1017"/>
                  <a:gd name="T5" fmla="*/ 1091 h 1091"/>
                  <a:gd name="T6" fmla="*/ 566 w 1017"/>
                  <a:gd name="T7" fmla="*/ 0 h 1091"/>
                  <a:gd name="T8" fmla="*/ 0 w 1017"/>
                  <a:gd name="T9" fmla="*/ 554 h 1091"/>
                </a:gdLst>
                <a:ahLst/>
                <a:cxnLst>
                  <a:cxn ang="0">
                    <a:pos x="T0" y="T1"/>
                  </a:cxn>
                  <a:cxn ang="0">
                    <a:pos x="T2" y="T3"/>
                  </a:cxn>
                  <a:cxn ang="0">
                    <a:pos x="T4" y="T5"/>
                  </a:cxn>
                  <a:cxn ang="0">
                    <a:pos x="T6" y="T7"/>
                  </a:cxn>
                  <a:cxn ang="0">
                    <a:pos x="T8" y="T9"/>
                  </a:cxn>
                </a:cxnLst>
                <a:rect l="0" t="0" r="r" b="b"/>
                <a:pathLst>
                  <a:path w="1017" h="1091">
                    <a:moveTo>
                      <a:pt x="0" y="554"/>
                    </a:moveTo>
                    <a:cubicBezTo>
                      <a:pt x="194" y="770"/>
                      <a:pt x="216" y="957"/>
                      <a:pt x="225" y="1091"/>
                    </a:cubicBezTo>
                    <a:lnTo>
                      <a:pt x="1017" y="1091"/>
                    </a:lnTo>
                    <a:cubicBezTo>
                      <a:pt x="1001" y="626"/>
                      <a:pt x="833" y="260"/>
                      <a:pt x="566" y="0"/>
                    </a:cubicBezTo>
                    <a:lnTo>
                      <a:pt x="0" y="554"/>
                    </a:ln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216000" tIns="216000" rIns="0" bIns="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2</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7" name="MH_Other_4"/>
              <p:cNvSpPr/>
              <p:nvPr>
                <p:custDataLst>
                  <p:tags r:id="rId10"/>
                </p:custDataLst>
              </p:nvPr>
            </p:nvSpPr>
            <p:spPr bwMode="gray">
              <a:xfrm>
                <a:off x="1793833" y="3830532"/>
                <a:ext cx="1255032" cy="1220902"/>
              </a:xfrm>
              <a:custGeom>
                <a:avLst/>
                <a:gdLst>
                  <a:gd name="T0" fmla="*/ 223 w 1016"/>
                  <a:gd name="T1" fmla="*/ 0 h 1114"/>
                  <a:gd name="T2" fmla="*/ 0 w 1016"/>
                  <a:gd name="T3" fmla="*/ 550 h 1114"/>
                  <a:gd name="T4" fmla="*/ 559 w 1016"/>
                  <a:gd name="T5" fmla="*/ 1114 h 1114"/>
                  <a:gd name="T6" fmla="*/ 1016 w 1016"/>
                  <a:gd name="T7" fmla="*/ 4 h 1114"/>
                  <a:gd name="T8" fmla="*/ 223 w 1016"/>
                  <a:gd name="T9" fmla="*/ 0 h 1114"/>
                </a:gdLst>
                <a:ahLst/>
                <a:cxnLst>
                  <a:cxn ang="0">
                    <a:pos x="T0" y="T1"/>
                  </a:cxn>
                  <a:cxn ang="0">
                    <a:pos x="T2" y="T3"/>
                  </a:cxn>
                  <a:cxn ang="0">
                    <a:pos x="T4" y="T5"/>
                  </a:cxn>
                  <a:cxn ang="0">
                    <a:pos x="T6" y="T7"/>
                  </a:cxn>
                  <a:cxn ang="0">
                    <a:pos x="T8" y="T9"/>
                  </a:cxn>
                </a:cxnLst>
                <a:rect l="0" t="0" r="r" b="b"/>
                <a:pathLst>
                  <a:path w="1016" h="1114">
                    <a:moveTo>
                      <a:pt x="223" y="0"/>
                    </a:moveTo>
                    <a:cubicBezTo>
                      <a:pt x="229" y="193"/>
                      <a:pt x="163" y="384"/>
                      <a:pt x="0" y="550"/>
                    </a:cubicBezTo>
                    <a:lnTo>
                      <a:pt x="559" y="1114"/>
                    </a:lnTo>
                    <a:cubicBezTo>
                      <a:pt x="763" y="892"/>
                      <a:pt x="1012" y="541"/>
                      <a:pt x="1016" y="4"/>
                    </a:cubicBezTo>
                    <a:lnTo>
                      <a:pt x="223" y="0"/>
                    </a:lnTo>
                    <a:close/>
                  </a:path>
                </a:pathLst>
              </a:custGeom>
              <a:solidFill>
                <a:srgbClr val="0070C0"/>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r>
                  <a:rPr lang="en-US" altLang="zh-CN" sz="3200" dirty="0">
                    <a:solidFill>
                      <a:srgbClr val="FFFFFF"/>
                    </a:solidFill>
                    <a:latin typeface="微软雅黑" panose="020B0503020204020204" charset="-122"/>
                    <a:ea typeface="微软雅黑" panose="020B0503020204020204" charset="-122"/>
                    <a:cs typeface="Arial" panose="020B0604020202020204" pitchFamily="34" charset="0"/>
                  </a:rPr>
                  <a:t>3</a:t>
                </a: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18" name="MH_Title_1"/>
              <p:cNvSpPr>
                <a:spLocks noChangeArrowheads="1"/>
              </p:cNvSpPr>
              <p:nvPr>
                <p:custDataLst>
                  <p:tags r:id="rId11"/>
                </p:custDataLst>
              </p:nvPr>
            </p:nvSpPr>
            <p:spPr bwMode="gray">
              <a:xfrm>
                <a:off x="95208" y="2786058"/>
                <a:ext cx="1970645" cy="1952630"/>
              </a:xfrm>
              <a:prstGeom prst="ellipse">
                <a:avLst/>
              </a:prstGeom>
              <a:solidFill>
                <a:srgbClr val="0070C0"/>
              </a:solidFill>
              <a:ln w="190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defRPr/>
                </a:pPr>
                <a:r>
                  <a:rPr lang="en-US" altLang="zh-CN" sz="2400" b="1" dirty="0"/>
                  <a:t>UML</a:t>
                </a:r>
              </a:p>
              <a:p>
                <a:pPr algn="ctr">
                  <a:lnSpc>
                    <a:spcPct val="120000"/>
                  </a:lnSpc>
                  <a:defRPr/>
                </a:pPr>
                <a:r>
                  <a:rPr lang="zh-CN" altLang="en-US" sz="2400" b="1" dirty="0">
                    <a:solidFill>
                      <a:srgbClr val="FFFFFF"/>
                    </a:solidFill>
                    <a:latin typeface="微软雅黑" panose="020B0503020204020204" charset="-122"/>
                    <a:ea typeface="微软雅黑" panose="020B0503020204020204" charset="-122"/>
                  </a:rPr>
                  <a:t>模型</a:t>
                </a:r>
              </a:p>
            </p:txBody>
          </p:sp>
        </p:grpSp>
        <p:grpSp>
          <p:nvGrpSpPr>
            <p:cNvPr id="19" name="组合 18"/>
            <p:cNvGrpSpPr/>
            <p:nvPr/>
          </p:nvGrpSpPr>
          <p:grpSpPr>
            <a:xfrm>
              <a:off x="4792" y="4655"/>
              <a:ext cx="4247" cy="970"/>
              <a:chOff x="2579663" y="2079632"/>
              <a:chExt cx="2697068" cy="615950"/>
            </a:xfrm>
          </p:grpSpPr>
          <p:sp>
            <p:nvSpPr>
              <p:cNvPr id="20" name="MH_Other_5"/>
              <p:cNvSpPr>
                <a:spLocks noChangeShapeType="1"/>
              </p:cNvSpPr>
              <p:nvPr>
                <p:custDataLst>
                  <p:tags r:id="rId5"/>
                </p:custDataLst>
              </p:nvPr>
            </p:nvSpPr>
            <p:spPr bwMode="black">
              <a:xfrm>
                <a:off x="2579663" y="2695582"/>
                <a:ext cx="2196000" cy="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21" name="MH_SubTitle_1"/>
              <p:cNvSpPr txBox="1">
                <a:spLocks noChangeArrowheads="1"/>
              </p:cNvSpPr>
              <p:nvPr>
                <p:custDataLst>
                  <p:tags r:id="rId6"/>
                </p:custDataLst>
              </p:nvPr>
            </p:nvSpPr>
            <p:spPr bwMode="auto">
              <a:xfrm>
                <a:off x="2671690" y="2079632"/>
                <a:ext cx="2605041" cy="611505"/>
              </a:xfrm>
              <a:prstGeom prst="rect">
                <a:avLst/>
              </a:prstGeom>
              <a:noFill/>
              <a:ln w="9525">
                <a:noFill/>
                <a:miter lim="800000"/>
              </a:ln>
            </p:spPr>
            <p:txBody>
              <a:bodyPr lIns="216000" tIns="34290" rIns="68580" bIns="34290" anchor="ctr"/>
              <a:lstStyle/>
              <a:p>
                <a:r>
                  <a:rPr lang="zh-CN" altLang="en-US" sz="2000" b="1" dirty="0">
                    <a:solidFill>
                      <a:srgbClr val="002060"/>
                    </a:solidFill>
                    <a:latin typeface="微软雅黑" panose="020B0503020204020204" charset="-122"/>
                    <a:ea typeface="微软雅黑" panose="020B0503020204020204" charset="-122"/>
                    <a:cs typeface="宋体" panose="02010600030101010101" pitchFamily="2" charset="-122"/>
                  </a:rPr>
                  <a:t>静态模型</a:t>
                </a:r>
              </a:p>
            </p:txBody>
          </p:sp>
        </p:grpSp>
        <p:grpSp>
          <p:nvGrpSpPr>
            <p:cNvPr id="22" name="组合 21"/>
            <p:cNvGrpSpPr/>
            <p:nvPr/>
          </p:nvGrpSpPr>
          <p:grpSpPr>
            <a:xfrm>
              <a:off x="4792" y="5850"/>
              <a:ext cx="4248" cy="970"/>
              <a:chOff x="2579663" y="2079632"/>
              <a:chExt cx="2697684" cy="615950"/>
            </a:xfrm>
          </p:grpSpPr>
          <p:sp>
            <p:nvSpPr>
              <p:cNvPr id="23" name="MH_Other_5"/>
              <p:cNvSpPr>
                <a:spLocks noChangeShapeType="1"/>
              </p:cNvSpPr>
              <p:nvPr>
                <p:custDataLst>
                  <p:tags r:id="rId3"/>
                </p:custDataLst>
              </p:nvPr>
            </p:nvSpPr>
            <p:spPr bwMode="black">
              <a:xfrm>
                <a:off x="2579663" y="2695582"/>
                <a:ext cx="2196000" cy="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24" name="MH_SubTitle_1"/>
              <p:cNvSpPr txBox="1">
                <a:spLocks noChangeArrowheads="1"/>
              </p:cNvSpPr>
              <p:nvPr>
                <p:custDataLst>
                  <p:tags r:id="rId4"/>
                </p:custDataLst>
              </p:nvPr>
            </p:nvSpPr>
            <p:spPr bwMode="auto">
              <a:xfrm>
                <a:off x="2671691" y="2079632"/>
                <a:ext cx="2605656" cy="611505"/>
              </a:xfrm>
              <a:prstGeom prst="rect">
                <a:avLst/>
              </a:prstGeom>
              <a:noFill/>
              <a:ln w="9525">
                <a:noFill/>
                <a:miter lim="800000"/>
              </a:ln>
            </p:spPr>
            <p:txBody>
              <a:bodyPr lIns="216000" tIns="34290" rIns="68580" bIns="34290" anchor="ctr"/>
              <a:lstStyle/>
              <a:p>
                <a:r>
                  <a:rPr lang="zh-CN" altLang="en-US" sz="2000" b="1" dirty="0">
                    <a:solidFill>
                      <a:srgbClr val="002060"/>
                    </a:solidFill>
                    <a:latin typeface="微软雅黑" panose="020B0503020204020204" charset="-122"/>
                    <a:ea typeface="微软雅黑" panose="020B0503020204020204" charset="-122"/>
                    <a:cs typeface="宋体" panose="02010600030101010101" pitchFamily="2" charset="-122"/>
                  </a:rPr>
                  <a:t>动态模型</a:t>
                </a:r>
              </a:p>
            </p:txBody>
          </p:sp>
        </p:grpSp>
        <p:grpSp>
          <p:nvGrpSpPr>
            <p:cNvPr id="25" name="组合 24"/>
            <p:cNvGrpSpPr/>
            <p:nvPr/>
          </p:nvGrpSpPr>
          <p:grpSpPr>
            <a:xfrm>
              <a:off x="3325" y="7095"/>
              <a:ext cx="4115" cy="963"/>
              <a:chOff x="2558522" y="2084095"/>
              <a:chExt cx="2613141" cy="611487"/>
            </a:xfrm>
          </p:grpSpPr>
          <p:sp>
            <p:nvSpPr>
              <p:cNvPr id="26" name="MH_Other_5"/>
              <p:cNvSpPr>
                <a:spLocks noChangeShapeType="1"/>
              </p:cNvSpPr>
              <p:nvPr>
                <p:custDataLst>
                  <p:tags r:id="rId1"/>
                </p:custDataLst>
              </p:nvPr>
            </p:nvSpPr>
            <p:spPr bwMode="black">
              <a:xfrm>
                <a:off x="2579663" y="2695582"/>
                <a:ext cx="2592000" cy="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eaLnBrk="1" fontAlgn="auto" hangingPunct="1">
                  <a:spcBef>
                    <a:spcPts val="0"/>
                  </a:spcBef>
                  <a:spcAft>
                    <a:spcPts val="0"/>
                  </a:spcAft>
                  <a:defRPr/>
                </a:pPr>
                <a:endParaRPr lang="zh-CN" altLang="en-US" sz="1350" b="1">
                  <a:solidFill>
                    <a:srgbClr val="002060"/>
                  </a:solidFill>
                  <a:latin typeface="微软雅黑" panose="020B0503020204020204" charset="-122"/>
                  <a:ea typeface="微软雅黑" panose="020B0503020204020204" charset="-122"/>
                </a:endParaRPr>
              </a:p>
            </p:txBody>
          </p:sp>
          <p:sp>
            <p:nvSpPr>
              <p:cNvPr id="27" name="MH_SubTitle_1"/>
              <p:cNvSpPr txBox="1">
                <a:spLocks noChangeArrowheads="1"/>
              </p:cNvSpPr>
              <p:nvPr>
                <p:custDataLst>
                  <p:tags r:id="rId2"/>
                </p:custDataLst>
              </p:nvPr>
            </p:nvSpPr>
            <p:spPr bwMode="auto">
              <a:xfrm>
                <a:off x="2558522" y="2084095"/>
                <a:ext cx="1928826" cy="611188"/>
              </a:xfrm>
              <a:prstGeom prst="rect">
                <a:avLst/>
              </a:prstGeom>
              <a:noFill/>
              <a:ln w="9525">
                <a:noFill/>
                <a:miter lim="800000"/>
              </a:ln>
            </p:spPr>
            <p:txBody>
              <a:bodyPr lIns="216000" tIns="34290" rIns="68580" bIns="34290" anchor="ctr"/>
              <a:lstStyle/>
              <a:p>
                <a:pPr algn="r"/>
                <a:r>
                  <a:rPr lang="zh-CN" altLang="en-US" sz="2000" b="1" dirty="0">
                    <a:solidFill>
                      <a:srgbClr val="002060"/>
                    </a:solidFill>
                    <a:latin typeface="微软雅黑" panose="020B0503020204020204" charset="-122"/>
                    <a:ea typeface="微软雅黑" panose="020B0503020204020204" charset="-122"/>
                    <a:cs typeface="宋体" panose="02010600030101010101" pitchFamily="2" charset="-122"/>
                  </a:rPr>
                  <a:t>实现模型</a:t>
                </a:r>
              </a:p>
            </p:txBody>
          </p:sp>
        </p:grpSp>
      </p:grpSp>
      <p:sp>
        <p:nvSpPr>
          <p:cNvPr id="28" name="圆角矩形"/>
          <p:cNvSpPr/>
          <p:nvPr/>
        </p:nvSpPr>
        <p:spPr>
          <a:xfrm>
            <a:off x="7677785" y="793352"/>
            <a:ext cx="4163695" cy="91503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algn="just"/>
            <a:r>
              <a:rPr lang="zh-CN" altLang="en-US" sz="1400" dirty="0">
                <a:solidFill>
                  <a:schemeClr val="tx1"/>
                </a:solidFill>
              </a:rPr>
              <a:t> 这些模型由</a:t>
            </a:r>
            <a:r>
              <a:rPr lang="en-US" altLang="zh-CN" sz="1400" dirty="0">
                <a:solidFill>
                  <a:schemeClr val="tx1"/>
                </a:solidFill>
              </a:rPr>
              <a:t>UML</a:t>
            </a:r>
            <a:r>
              <a:rPr lang="zh-CN" altLang="en-US" sz="1400" dirty="0">
                <a:solidFill>
                  <a:schemeClr val="tx1"/>
                </a:solidFill>
              </a:rPr>
              <a:t>图组成，开发者并不需要使用所有的图，也不需要建立每种模型，应只对关键事物建立模型，可根据软件系统的实际需要选择几种图和模型。</a:t>
            </a:r>
          </a:p>
        </p:txBody>
      </p:sp>
      <p:sp>
        <p:nvSpPr>
          <p:cNvPr id="29" name="学士帽"/>
          <p:cNvSpPr/>
          <p:nvPr/>
        </p:nvSpPr>
        <p:spPr bwMode="auto">
          <a:xfrm>
            <a:off x="7471410" y="542527"/>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Tree>
  </p:cSld>
  <p:clrMapOvr>
    <a:masterClrMapping/>
  </p:clrMapOvr>
  <p:transition>
    <p:pull dir="d"/>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13" name="文本占位符 12">
            <a:extLst>
              <a:ext uri="{FF2B5EF4-FFF2-40B4-BE49-F238E27FC236}">
                <a16:creationId xmlns:a16="http://schemas.microsoft.com/office/drawing/2014/main" id="{6B190365-938B-6970-2544-F5B624C7C8CC}"/>
              </a:ext>
            </a:extLst>
          </p:cNvPr>
          <p:cNvSpPr>
            <a:spLocks noGrp="1"/>
          </p:cNvSpPr>
          <p:nvPr>
            <p:ph type="body" sz="quarter" idx="10"/>
          </p:nvPr>
        </p:nvSpPr>
        <p:spPr>
          <a:xfrm>
            <a:off x="900001" y="1322832"/>
            <a:ext cx="5196000" cy="400110"/>
          </a:xfrm>
        </p:spPr>
        <p:txBody>
          <a:bodyPr/>
          <a:lstStyle/>
          <a:p>
            <a:r>
              <a:rPr lang="en-US" altLang="zh-CN" dirty="0"/>
              <a:t>6.4.1 </a:t>
            </a:r>
            <a:r>
              <a:rPr lang="en-US" altLang="zh-CN" dirty="0">
                <a:sym typeface="+mn-ea"/>
              </a:rPr>
              <a:t>UML</a:t>
            </a:r>
            <a:r>
              <a:rPr lang="zh-CN" altLang="en-US" dirty="0">
                <a:sym typeface="+mn-ea"/>
              </a:rPr>
              <a:t>模型</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2" name="组合 1"/>
          <p:cNvGrpSpPr/>
          <p:nvPr/>
        </p:nvGrpSpPr>
        <p:grpSpPr>
          <a:xfrm>
            <a:off x="1036955" y="2224986"/>
            <a:ext cx="9966324" cy="3785365"/>
            <a:chOff x="1564218" y="1977243"/>
            <a:chExt cx="10511026" cy="3109107"/>
          </a:xfrm>
        </p:grpSpPr>
        <p:sp>
          <p:nvSpPr>
            <p:cNvPr id="4" name="MH_Other_1"/>
            <p:cNvSpPr/>
            <p:nvPr>
              <p:custDataLst>
                <p:tags r:id="rId1"/>
              </p:custDataLst>
            </p:nvPr>
          </p:nvSpPr>
          <p:spPr>
            <a:xfrm rot="21439215">
              <a:off x="3045884" y="3808414"/>
              <a:ext cx="1631949" cy="123983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5" name="MH_Other_2"/>
            <p:cNvCxnSpPr>
              <a:stCxn id="4" idx="3"/>
            </p:cNvCxnSpPr>
            <p:nvPr>
              <p:custDataLst>
                <p:tags r:id="rId2"/>
              </p:custDataLst>
            </p:nvPr>
          </p:nvCxnSpPr>
          <p:spPr>
            <a:xfrm flipV="1">
              <a:off x="4677833" y="4395788"/>
              <a:ext cx="1422400" cy="4762"/>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6" name="MH_Other_3"/>
            <p:cNvSpPr/>
            <p:nvPr>
              <p:custDataLst>
                <p:tags r:id="rId3"/>
              </p:custDataLst>
            </p:nvPr>
          </p:nvSpPr>
          <p:spPr>
            <a:xfrm rot="183635">
              <a:off x="2637367" y="2547939"/>
              <a:ext cx="1634067" cy="123983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8" name="MH_Other_4"/>
            <p:cNvCxnSpPr/>
            <p:nvPr>
              <p:custDataLst>
                <p:tags r:id="rId4"/>
              </p:custDataLst>
            </p:nvPr>
          </p:nvCxnSpPr>
          <p:spPr>
            <a:xfrm>
              <a:off x="4286251" y="3074988"/>
              <a:ext cx="1784349"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5"/>
              </p:custDataLst>
            </p:nvPr>
          </p:nvSpPr>
          <p:spPr>
            <a:xfrm>
              <a:off x="1564218" y="3100388"/>
              <a:ext cx="1286933" cy="1985962"/>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MH_Text_2"/>
            <p:cNvSpPr txBox="1"/>
            <p:nvPr>
              <p:custDataLst>
                <p:tags r:id="rId6"/>
              </p:custDataLst>
            </p:nvPr>
          </p:nvSpPr>
          <p:spPr>
            <a:xfrm>
              <a:off x="6192552" y="1977243"/>
              <a:ext cx="5882692" cy="1507300"/>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en-US" altLang="zh-CN" sz="1800" dirty="0"/>
                <a:t>        </a:t>
              </a:r>
              <a:r>
                <a:rPr lang="zh-CN" altLang="en-US" sz="1800" dirty="0"/>
                <a:t>用例模型从用户的角度描述系统需求，是所有开发活动的指南。它包括一张或多张用例图。用例模型定义了系统的用例、执行者（角色Actor）及角色与用例之间的关联（Association），即交互行为。</a:t>
              </a:r>
            </a:p>
          </p:txBody>
        </p:sp>
        <p:sp>
          <p:nvSpPr>
            <p:cNvPr id="11" name="MH_Text_1"/>
            <p:cNvSpPr txBox="1"/>
            <p:nvPr>
              <p:custDataLst>
                <p:tags r:id="rId7"/>
              </p:custDataLst>
            </p:nvPr>
          </p:nvSpPr>
          <p:spPr>
            <a:xfrm>
              <a:off x="6192552" y="3477292"/>
              <a:ext cx="5882692" cy="876215"/>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en-US" altLang="zh-CN" sz="1800" dirty="0"/>
                <a:t>       </a:t>
              </a:r>
              <a:r>
                <a:rPr lang="zh-CN" altLang="en-US" sz="1800" dirty="0"/>
                <a:t>在迭代渐增式开发软件时，每次迭代都是在前一次迭代的基础上增加另一些用例，对每次软件集成的结果，都应进行系统测试，并向用户演示，表明用例已正确实现。所有的测试用例都应保存，以便在以后的迭代中进行回归测试。</a:t>
              </a:r>
            </a:p>
          </p:txBody>
        </p:sp>
      </p:grpSp>
      <p:grpSp>
        <p:nvGrpSpPr>
          <p:cNvPr id="14" name="组合 37"/>
          <p:cNvGrpSpPr/>
          <p:nvPr/>
        </p:nvGrpSpPr>
        <p:grpSpPr>
          <a:xfrm>
            <a:off x="977900" y="2106000"/>
            <a:ext cx="3141345" cy="590550"/>
            <a:chOff x="508000" y="3196191"/>
            <a:chExt cx="3141314" cy="590550"/>
          </a:xfrm>
        </p:grpSpPr>
        <p:sp>
          <p:nvSpPr>
            <p:cNvPr id="16"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7" name="直接连接符 1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8"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用例模型</a:t>
              </a:r>
            </a:p>
          </p:txBody>
        </p:sp>
      </p:grpSp>
    </p:spTree>
  </p:cSld>
  <p:clrMapOvr>
    <a:masterClrMapping/>
  </p:clrMapOvr>
  <p:transition>
    <p:strips dir="ru"/>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B0EA51E4-662B-4A76-FDFA-32C0DB2E0746}"/>
              </a:ext>
            </a:extLst>
          </p:cNvPr>
          <p:cNvSpPr>
            <a:spLocks noGrp="1"/>
          </p:cNvSpPr>
          <p:nvPr>
            <p:ph type="body" sz="quarter" idx="10"/>
          </p:nvPr>
        </p:nvSpPr>
        <p:spPr/>
        <p:txBody>
          <a:bodyPr/>
          <a:lstStyle/>
          <a:p>
            <a:r>
              <a:rPr lang="en-US" altLang="zh-CN" dirty="0"/>
              <a:t>6.4.1 </a:t>
            </a:r>
            <a:r>
              <a:rPr lang="en-US" altLang="zh-CN" dirty="0">
                <a:sym typeface="+mn-ea"/>
              </a:rPr>
              <a:t>UML</a:t>
            </a:r>
            <a:r>
              <a:rPr lang="zh-CN" altLang="en-US" dirty="0">
                <a:sym typeface="+mn-ea"/>
              </a:rPr>
              <a:t>模型</a:t>
            </a:r>
            <a:endParaRPr lang="zh-CN" altLang="en-US" dirty="0"/>
          </a:p>
        </p:txBody>
      </p:sp>
      <p:sp>
        <p:nvSpPr>
          <p:cNvPr id="68" name="MH_Other_1"/>
          <p:cNvSpPr>
            <a:spLocks noChangeArrowheads="1"/>
          </p:cNvSpPr>
          <p:nvPr>
            <p:custDataLst>
              <p:tags r:id="rId1"/>
            </p:custDataLst>
          </p:nvPr>
        </p:nvSpPr>
        <p:spPr bwMode="auto">
          <a:xfrm>
            <a:off x="1160059" y="3098042"/>
            <a:ext cx="646518" cy="430068"/>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69" name="MH_Other_2"/>
          <p:cNvSpPr>
            <a:spLocks noChangeArrowheads="1"/>
          </p:cNvSpPr>
          <p:nvPr>
            <p:custDataLst>
              <p:tags r:id="rId2"/>
            </p:custDataLst>
          </p:nvPr>
        </p:nvSpPr>
        <p:spPr bwMode="auto">
          <a:xfrm>
            <a:off x="1842976" y="3187478"/>
            <a:ext cx="512476" cy="340632"/>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8" name="MH_Other_3"/>
          <p:cNvSpPr>
            <a:spLocks noChangeArrowheads="1"/>
          </p:cNvSpPr>
          <p:nvPr>
            <p:custDataLst>
              <p:tags r:id="rId3"/>
            </p:custDataLst>
          </p:nvPr>
        </p:nvSpPr>
        <p:spPr bwMode="auto">
          <a:xfrm>
            <a:off x="1306233" y="3552401"/>
            <a:ext cx="500343" cy="3329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9" name="MH_Other_4"/>
          <p:cNvSpPr>
            <a:spLocks noChangeArrowheads="1"/>
          </p:cNvSpPr>
          <p:nvPr>
            <p:custDataLst>
              <p:tags r:id="rId4"/>
            </p:custDataLst>
          </p:nvPr>
        </p:nvSpPr>
        <p:spPr bwMode="auto">
          <a:xfrm>
            <a:off x="1842976" y="3552401"/>
            <a:ext cx="646518" cy="283768"/>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0" name="MH_SubTitle_1"/>
          <p:cNvSpPr/>
          <p:nvPr>
            <p:custDataLst>
              <p:tags r:id="rId5"/>
            </p:custDataLst>
          </p:nvPr>
        </p:nvSpPr>
        <p:spPr>
          <a:xfrm>
            <a:off x="2760465" y="3339092"/>
            <a:ext cx="7223202" cy="304058"/>
          </a:xfrm>
          <a:prstGeom prst="rect">
            <a:avLst/>
          </a:prstGeom>
        </p:spPr>
        <p:txBody>
          <a:bodyPr lIns="0" tIns="0" rIns="0" bIns="0" anchor="ctr">
            <a:spAutoFit/>
          </a:bodyPr>
          <a:lstStyle/>
          <a:p>
            <a:pPr algn="just" fontAlgn="auto">
              <a:lnSpc>
                <a:spcPct val="120000"/>
              </a:lnSpc>
            </a:pPr>
            <a:r>
              <a:rPr lang="zh-CN" altLang="en-US" dirty="0">
                <a:sym typeface="+mn-ea"/>
              </a:rPr>
              <a:t>将用例按优先级分类：优先级高的、必须首先实现的功能，最先开发。</a:t>
            </a:r>
            <a:endParaRPr lang="zh-CN" altLang="en-US" dirty="0">
              <a:solidFill>
                <a:srgbClr val="000000"/>
              </a:solidFill>
              <a:sym typeface="+mn-ea"/>
            </a:endParaRPr>
          </a:p>
        </p:txBody>
      </p:sp>
      <p:sp>
        <p:nvSpPr>
          <p:cNvPr id="82" name="MH_Other_5"/>
          <p:cNvSpPr>
            <a:spLocks noChangeArrowheads="1"/>
          </p:cNvSpPr>
          <p:nvPr>
            <p:custDataLst>
              <p:tags r:id="rId6"/>
            </p:custDataLst>
          </p:nvPr>
        </p:nvSpPr>
        <p:spPr bwMode="auto">
          <a:xfrm>
            <a:off x="3104812" y="5086071"/>
            <a:ext cx="646518" cy="430068"/>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03</a:t>
            </a:r>
            <a:endParaRPr lang="zh-CN" altLang="en-US" sz="2400" b="1" dirty="0">
              <a:solidFill>
                <a:srgbClr val="FFFFFF"/>
              </a:solidFill>
              <a:ea typeface="微软雅黑" panose="020B0503020204020204" charset="-122"/>
            </a:endParaRPr>
          </a:p>
        </p:txBody>
      </p:sp>
      <p:sp>
        <p:nvSpPr>
          <p:cNvPr id="83" name="MH_Other_6"/>
          <p:cNvSpPr>
            <a:spLocks noChangeArrowheads="1"/>
          </p:cNvSpPr>
          <p:nvPr>
            <p:custDataLst>
              <p:tags r:id="rId7"/>
            </p:custDataLst>
          </p:nvPr>
        </p:nvSpPr>
        <p:spPr bwMode="auto">
          <a:xfrm>
            <a:off x="3787729" y="5175507"/>
            <a:ext cx="512476" cy="340632"/>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4" name="MH_Other_7"/>
          <p:cNvSpPr>
            <a:spLocks noChangeArrowheads="1"/>
          </p:cNvSpPr>
          <p:nvPr>
            <p:custDataLst>
              <p:tags r:id="rId8"/>
            </p:custDataLst>
          </p:nvPr>
        </p:nvSpPr>
        <p:spPr bwMode="auto">
          <a:xfrm>
            <a:off x="3250986" y="5540430"/>
            <a:ext cx="500343" cy="3329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5" name="MH_Other_8"/>
          <p:cNvSpPr>
            <a:spLocks noChangeArrowheads="1"/>
          </p:cNvSpPr>
          <p:nvPr>
            <p:custDataLst>
              <p:tags r:id="rId9"/>
            </p:custDataLst>
          </p:nvPr>
        </p:nvSpPr>
        <p:spPr bwMode="auto">
          <a:xfrm>
            <a:off x="3787729" y="5540430"/>
            <a:ext cx="646518" cy="283768"/>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6" name="MH_SubTitle_3"/>
          <p:cNvSpPr/>
          <p:nvPr>
            <p:custDataLst>
              <p:tags r:id="rId10"/>
            </p:custDataLst>
          </p:nvPr>
        </p:nvSpPr>
        <p:spPr>
          <a:xfrm>
            <a:off x="4689040" y="4989386"/>
            <a:ext cx="6519486" cy="997196"/>
          </a:xfrm>
          <a:prstGeom prst="rect">
            <a:avLst/>
          </a:prstGeom>
        </p:spPr>
        <p:txBody>
          <a:bodyPr lIns="0" tIns="0" rIns="0" bIns="0" anchor="ctr">
            <a:spAutoFit/>
          </a:bodyPr>
          <a:lstStyle/>
          <a:p>
            <a:pPr algn="just" eaLnBrk="1" hangingPunct="1">
              <a:lnSpc>
                <a:spcPct val="120000"/>
              </a:lnSpc>
            </a:pPr>
            <a:r>
              <a:rPr lang="en-US" altLang="zh-CN" dirty="0">
                <a:sym typeface="+mn-ea"/>
              </a:rPr>
              <a:t>      </a:t>
            </a:r>
            <a:r>
              <a:rPr lang="zh-CN" altLang="en-US" dirty="0">
                <a:sym typeface="+mn-ea"/>
              </a:rPr>
              <a:t>对用例所需的工作量进行估算，合理安排工作计划。有些在进度方面风险大的、无法估算工作量的用例，不能放到最后再开发，以免因它的实际工作量太大，而影响整个工程的进度。</a:t>
            </a:r>
            <a:endParaRPr lang="zh-CN" altLang="en-US" dirty="0">
              <a:solidFill>
                <a:srgbClr val="000000"/>
              </a:solidFill>
              <a:sym typeface="+mn-ea"/>
            </a:endParaRPr>
          </a:p>
        </p:txBody>
      </p:sp>
      <p:sp>
        <p:nvSpPr>
          <p:cNvPr id="88" name="MH_Other_9"/>
          <p:cNvSpPr>
            <a:spLocks noChangeArrowheads="1"/>
          </p:cNvSpPr>
          <p:nvPr>
            <p:custDataLst>
              <p:tags r:id="rId11"/>
            </p:custDataLst>
          </p:nvPr>
        </p:nvSpPr>
        <p:spPr bwMode="auto">
          <a:xfrm>
            <a:off x="2003016" y="4065281"/>
            <a:ext cx="646518" cy="430068"/>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89" name="MH_Other_10"/>
          <p:cNvSpPr>
            <a:spLocks noChangeArrowheads="1"/>
          </p:cNvSpPr>
          <p:nvPr>
            <p:custDataLst>
              <p:tags r:id="rId12"/>
            </p:custDataLst>
          </p:nvPr>
        </p:nvSpPr>
        <p:spPr bwMode="auto">
          <a:xfrm>
            <a:off x="2686511" y="4154717"/>
            <a:ext cx="512476" cy="340631"/>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0" name="MH_Other_11"/>
          <p:cNvSpPr>
            <a:spLocks noChangeArrowheads="1"/>
          </p:cNvSpPr>
          <p:nvPr>
            <p:custDataLst>
              <p:tags r:id="rId13"/>
            </p:custDataLst>
          </p:nvPr>
        </p:nvSpPr>
        <p:spPr bwMode="auto">
          <a:xfrm>
            <a:off x="2149768" y="4519640"/>
            <a:ext cx="500343" cy="332902"/>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1" name="MH_Other_12"/>
          <p:cNvSpPr>
            <a:spLocks noChangeArrowheads="1"/>
          </p:cNvSpPr>
          <p:nvPr>
            <p:custDataLst>
              <p:tags r:id="rId14"/>
            </p:custDataLst>
          </p:nvPr>
        </p:nvSpPr>
        <p:spPr bwMode="auto">
          <a:xfrm>
            <a:off x="2686511" y="4519640"/>
            <a:ext cx="646518" cy="283767"/>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2" name="MH_SubTitle_2"/>
          <p:cNvSpPr/>
          <p:nvPr>
            <p:custDataLst>
              <p:tags r:id="rId15"/>
            </p:custDataLst>
          </p:nvPr>
        </p:nvSpPr>
        <p:spPr>
          <a:xfrm>
            <a:off x="3571067" y="3844377"/>
            <a:ext cx="6930276" cy="997196"/>
          </a:xfrm>
          <a:prstGeom prst="rect">
            <a:avLst/>
          </a:prstGeom>
        </p:spPr>
        <p:txBody>
          <a:bodyPr lIns="0" tIns="0" rIns="0" bIns="0" anchor="ctr">
            <a:spAutoFit/>
          </a:bodyPr>
          <a:lstStyle/>
          <a:p>
            <a:pPr algn="just" eaLnBrk="1" hangingPunct="1">
              <a:lnSpc>
                <a:spcPct val="120000"/>
              </a:lnSpc>
            </a:pPr>
            <a:r>
              <a:rPr lang="en-US" altLang="zh-CN" dirty="0">
                <a:sym typeface="+mn-ea"/>
              </a:rPr>
              <a:t>       </a:t>
            </a:r>
            <a:r>
              <a:rPr lang="zh-CN" altLang="en-US" dirty="0">
                <a:sym typeface="+mn-ea"/>
              </a:rPr>
              <a:t>区分用例在体系结构方面的风险大小：如果某个用例暂时不实现会导致以后的迭代渐增开发时有大量的改写工作，这样的用例需要先开发。</a:t>
            </a:r>
            <a:endParaRPr lang="zh-CN" altLang="en-US" dirty="0">
              <a:solidFill>
                <a:srgbClr val="000000"/>
              </a:solidFill>
              <a:sym typeface="+mn-ea"/>
            </a:endParaRPr>
          </a:p>
        </p:txBody>
      </p:sp>
      <p:sp>
        <p:nvSpPr>
          <p:cNvPr id="28" name="圆角矩形"/>
          <p:cNvSpPr/>
          <p:nvPr/>
        </p:nvSpPr>
        <p:spPr>
          <a:xfrm>
            <a:off x="7677785" y="723065"/>
            <a:ext cx="4163695" cy="105560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algn="just" eaLnBrk="1"/>
            <a:r>
              <a:rPr lang="zh-CN" altLang="en-US" sz="1400" dirty="0" smtClean="0">
                <a:solidFill>
                  <a:schemeClr val="tx1"/>
                </a:solidFill>
              </a:rPr>
              <a:t>用</a:t>
            </a:r>
            <a:r>
              <a:rPr lang="en-US" altLang="zh-CN" sz="1400" dirty="0">
                <a:solidFill>
                  <a:schemeClr val="tx1"/>
                </a:solidFill>
              </a:rPr>
              <a:t>UML</a:t>
            </a:r>
            <a:r>
              <a:rPr lang="zh-CN" altLang="en-US" sz="1400" dirty="0">
                <a:solidFill>
                  <a:schemeClr val="tx1"/>
                </a:solidFill>
              </a:rPr>
              <a:t>开发软件，是对用例进行迭代、渐增式地构造的过程。因此，要对用例进行分析，搞清究竟哪些用例必须先开发，哪些用例可以晚一点开发，正确制订开发计划</a:t>
            </a:r>
            <a:r>
              <a:rPr lang="zh-CN" altLang="en-US" sz="1400" dirty="0" smtClean="0">
                <a:solidFill>
                  <a:schemeClr val="tx1"/>
                </a:solidFill>
              </a:rPr>
              <a:t>。</a:t>
            </a:r>
            <a:endParaRPr lang="zh-CN" altLang="en-US" sz="1400" dirty="0">
              <a:solidFill>
                <a:schemeClr val="tx1"/>
              </a:solidFill>
            </a:endParaRPr>
          </a:p>
        </p:txBody>
      </p:sp>
      <p:sp>
        <p:nvSpPr>
          <p:cNvPr id="29" name="学士帽"/>
          <p:cNvSpPr/>
          <p:nvPr/>
        </p:nvSpPr>
        <p:spPr bwMode="auto">
          <a:xfrm>
            <a:off x="7471410" y="542527"/>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Tree>
  </p:cSld>
  <p:clrMapOvr>
    <a:masterClrMapping/>
  </p:clrMapOvr>
  <p:transition>
    <p:strips dir="ru"/>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5412B454-1F25-5E9F-5F91-48F81ECFDE31}"/>
              </a:ext>
            </a:extLst>
          </p:cNvPr>
          <p:cNvSpPr>
            <a:spLocks noGrp="1"/>
          </p:cNvSpPr>
          <p:nvPr>
            <p:ph type="body" sz="quarter" idx="10"/>
          </p:nvPr>
        </p:nvSpPr>
        <p:spPr/>
        <p:txBody>
          <a:bodyPr/>
          <a:lstStyle/>
          <a:p>
            <a:r>
              <a:rPr lang="en-US" altLang="zh-CN" dirty="0"/>
              <a:t>6.4.1 </a:t>
            </a:r>
            <a:r>
              <a:rPr lang="en-US" altLang="zh-CN" dirty="0">
                <a:sym typeface="+mn-ea"/>
              </a:rPr>
              <a:t>UML</a:t>
            </a:r>
            <a:r>
              <a:rPr lang="zh-CN" altLang="en-US" dirty="0">
                <a:sym typeface="+mn-ea"/>
              </a:rPr>
              <a:t>模型</a:t>
            </a:r>
            <a:endParaRPr lang="zh-CN" altLang="en-US" dirty="0"/>
          </a:p>
        </p:txBody>
      </p:sp>
      <p:sp>
        <p:nvSpPr>
          <p:cNvPr id="64" name="MH_SubTitle_1"/>
          <p:cNvSpPr/>
          <p:nvPr>
            <p:custDataLst>
              <p:tags r:id="rId1"/>
            </p:custDataLst>
          </p:nvPr>
        </p:nvSpPr>
        <p:spPr>
          <a:xfrm>
            <a:off x="669829" y="3051743"/>
            <a:ext cx="8134065" cy="689420"/>
          </a:xfrm>
          <a:prstGeom prst="rect">
            <a:avLst/>
          </a:prstGeom>
        </p:spPr>
        <p:txBody>
          <a:bodyPr lIns="0" tIns="0" rIns="0" bIns="0" anchor="ctr">
            <a:spAutoFit/>
          </a:bodyPr>
          <a:lstStyle/>
          <a:p>
            <a:pPr algn="just">
              <a:lnSpc>
                <a:spcPct val="140000"/>
              </a:lnSpc>
              <a:defRPr/>
            </a:pPr>
            <a:r>
              <a:rPr lang="en-US" altLang="zh-CN" sz="1600" dirty="0" smtClean="0">
                <a:solidFill>
                  <a:srgbClr val="000000"/>
                </a:solidFill>
                <a:sym typeface="+mn-ea"/>
              </a:rPr>
              <a:t>       </a:t>
            </a:r>
            <a:r>
              <a:rPr lang="zh-CN" altLang="en-US" sz="1600" dirty="0" smtClean="0">
                <a:solidFill>
                  <a:srgbClr val="000000"/>
                </a:solidFill>
                <a:sym typeface="+mn-ea"/>
              </a:rPr>
              <a:t>任何建模语言都以静态模型作为建模的基础，UML也不例外。静态模型描述系统的元素及元素间的关系。它定义了类、对象和它们之间的关系及组件模型。</a:t>
            </a:r>
            <a:endParaRPr lang="zh-CN" altLang="en-US" sz="1600" dirty="0">
              <a:solidFill>
                <a:srgbClr val="000000"/>
              </a:solidFill>
              <a:sym typeface="+mn-ea"/>
            </a:endParaRPr>
          </a:p>
        </p:txBody>
      </p:sp>
      <p:sp>
        <p:nvSpPr>
          <p:cNvPr id="70" name="MH_SubTitle_3"/>
          <p:cNvSpPr/>
          <p:nvPr>
            <p:custDataLst>
              <p:tags r:id="rId2"/>
            </p:custDataLst>
          </p:nvPr>
        </p:nvSpPr>
        <p:spPr>
          <a:xfrm>
            <a:off x="669829" y="4492281"/>
            <a:ext cx="10985356" cy="320088"/>
          </a:xfrm>
          <a:prstGeom prst="rect">
            <a:avLst/>
          </a:prstGeom>
        </p:spPr>
        <p:txBody>
          <a:bodyPr lIns="0" tIns="0" rIns="0" bIns="0" anchor="ctr">
            <a:spAutoFit/>
          </a:bodyPr>
          <a:lstStyle/>
          <a:p>
            <a:pPr algn="just">
              <a:lnSpc>
                <a:spcPct val="130000"/>
              </a:lnSpc>
              <a:defRPr/>
            </a:pPr>
            <a:r>
              <a:rPr lang="en-US" altLang="zh-CN" sz="1600" dirty="0">
                <a:solidFill>
                  <a:srgbClr val="000000"/>
                </a:solidFill>
                <a:sym typeface="+mn-ea"/>
              </a:rPr>
              <a:t>       </a:t>
            </a:r>
            <a:r>
              <a:rPr lang="zh-CN" altLang="en-US" sz="1600" dirty="0">
                <a:solidFill>
                  <a:srgbClr val="000000"/>
                </a:solidFill>
                <a:sym typeface="+mn-ea"/>
              </a:rPr>
              <a:t>UML对可重用性的支持，在设计的前期体现在支持可重复使用的类和结构，后期则体现在组件的装配上。</a:t>
            </a:r>
          </a:p>
        </p:txBody>
      </p:sp>
      <p:sp>
        <p:nvSpPr>
          <p:cNvPr id="76" name="MH_SubTitle_2"/>
          <p:cNvSpPr/>
          <p:nvPr>
            <p:custDataLst>
              <p:tags r:id="rId3"/>
            </p:custDataLst>
          </p:nvPr>
        </p:nvSpPr>
        <p:spPr>
          <a:xfrm>
            <a:off x="669829" y="3811160"/>
            <a:ext cx="10686196" cy="590931"/>
          </a:xfrm>
          <a:prstGeom prst="rect">
            <a:avLst/>
          </a:prstGeom>
        </p:spPr>
        <p:txBody>
          <a:bodyPr lIns="0" tIns="0" rIns="0" bIns="0" anchor="ctr">
            <a:spAutoFit/>
          </a:bodyPr>
          <a:lstStyle/>
          <a:p>
            <a:pPr lvl="0" algn="just">
              <a:lnSpc>
                <a:spcPct val="120000"/>
              </a:lnSpc>
              <a:spcBef>
                <a:spcPct val="0"/>
              </a:spcBef>
            </a:pPr>
            <a:r>
              <a:rPr lang="zh-CN" altLang="en-US" sz="1600" dirty="0">
                <a:solidFill>
                  <a:srgbClr val="000000"/>
                </a:solidFill>
                <a:sym typeface="+mn-ea"/>
              </a:rPr>
              <a:t>       组件是组成应用程序的可执行单元，类被分配到各组件中，以提供可重复使用的应用程序结构部件。组件为即插即用的应用程序结构奠定了基础。</a:t>
            </a:r>
          </a:p>
        </p:txBody>
      </p:sp>
      <p:grpSp>
        <p:nvGrpSpPr>
          <p:cNvPr id="23" name="组合 37"/>
          <p:cNvGrpSpPr/>
          <p:nvPr/>
        </p:nvGrpSpPr>
        <p:grpSpPr>
          <a:xfrm>
            <a:off x="977900" y="2106000"/>
            <a:ext cx="3141345" cy="590550"/>
            <a:chOff x="508000" y="3196191"/>
            <a:chExt cx="3141314" cy="590550"/>
          </a:xfrm>
        </p:grpSpPr>
        <p:sp>
          <p:nvSpPr>
            <p:cNvPr id="24"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5" name="直接连接符 24"/>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6"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静态模型</a:t>
              </a:r>
            </a:p>
          </p:txBody>
        </p:sp>
      </p:grpSp>
      <p:pic>
        <p:nvPicPr>
          <p:cNvPr id="28" name="图片 27" descr="A000220150321A90PPIC.png"/>
          <p:cNvPicPr>
            <a:picLocks noChangeAspect="1"/>
          </p:cNvPicPr>
          <p:nvPr/>
        </p:nvPicPr>
        <p:blipFill>
          <a:blip r:embed="rId7" cstate="print"/>
          <a:stretch>
            <a:fillRect/>
          </a:stretch>
        </p:blipFill>
        <p:spPr>
          <a:xfrm>
            <a:off x="8939284" y="776653"/>
            <a:ext cx="3252716" cy="3048673"/>
          </a:xfrm>
          <a:prstGeom prst="rect">
            <a:avLst/>
          </a:prstGeom>
        </p:spPr>
      </p:pic>
      <p:sp>
        <p:nvSpPr>
          <p:cNvPr id="30" name="MH_SubTitle_3"/>
          <p:cNvSpPr/>
          <p:nvPr>
            <p:custDataLst>
              <p:tags r:id="rId4"/>
            </p:custDataLst>
          </p:nvPr>
        </p:nvSpPr>
        <p:spPr>
          <a:xfrm>
            <a:off x="669829" y="4862444"/>
            <a:ext cx="10985356" cy="640175"/>
          </a:xfrm>
          <a:prstGeom prst="rect">
            <a:avLst/>
          </a:prstGeom>
        </p:spPr>
        <p:txBody>
          <a:bodyPr wrap="square" lIns="0" tIns="0" rIns="0" bIns="0" anchor="ctr">
            <a:spAutoFit/>
          </a:bodyPr>
          <a:lstStyle/>
          <a:p>
            <a:pPr algn="just">
              <a:lnSpc>
                <a:spcPct val="130000"/>
              </a:lnSpc>
              <a:defRPr/>
            </a:pPr>
            <a:r>
              <a:rPr lang="en-US" altLang="zh-CN" sz="1600" dirty="0">
                <a:solidFill>
                  <a:srgbClr val="000000"/>
                </a:solidFill>
                <a:sym typeface="+mn-ea"/>
              </a:rPr>
              <a:t>      </a:t>
            </a:r>
            <a:r>
              <a:rPr lang="zh-CN" altLang="en-US" sz="1600" dirty="0">
                <a:solidFill>
                  <a:srgbClr val="000000"/>
                </a:solidFill>
                <a:sym typeface="+mn-ea"/>
              </a:rPr>
              <a:t>静态模型主要描述类、接口、用例、协作、组件、结点等体现系统结构的事物。静态模型使用的图，包括用例图、类图、包图、对象图、构件图和部署图等。</a:t>
            </a:r>
          </a:p>
        </p:txBody>
      </p:sp>
      <p:sp>
        <p:nvSpPr>
          <p:cNvPr id="31" name="MH_SubTitle_3"/>
          <p:cNvSpPr/>
          <p:nvPr>
            <p:custDataLst>
              <p:tags r:id="rId5"/>
            </p:custDataLst>
          </p:nvPr>
        </p:nvSpPr>
        <p:spPr>
          <a:xfrm>
            <a:off x="636382" y="5427177"/>
            <a:ext cx="11018804" cy="610103"/>
          </a:xfrm>
          <a:prstGeom prst="rect">
            <a:avLst/>
          </a:prstGeom>
        </p:spPr>
        <p:txBody>
          <a:bodyPr wrap="square" lIns="0" tIns="0" rIns="0" bIns="0" anchor="ctr">
            <a:spAutoFit/>
          </a:bodyPr>
          <a:lstStyle/>
          <a:p>
            <a:pPr marL="0" indent="0" algn="l" fontAlgn="auto">
              <a:lnSpc>
                <a:spcPct val="130000"/>
              </a:lnSpc>
            </a:pPr>
            <a:r>
              <a:rPr lang="en-US" altLang="zh-CN" sz="1600" dirty="0">
                <a:solidFill>
                  <a:srgbClr val="000000"/>
                </a:solidFill>
                <a:sym typeface="+mn-ea"/>
              </a:rPr>
              <a:t>       </a:t>
            </a:r>
            <a:r>
              <a:rPr lang="zh-CN" altLang="en-US" sz="1600" dirty="0">
                <a:solidFill>
                  <a:srgbClr val="000000"/>
                </a:solidFill>
                <a:sym typeface="+mn-ea"/>
              </a:rPr>
              <a:t>有时软件系统并不大，可以只建立对象模型，描述系统所包含的所有对象及其相互关系，而静态模型中的其他图可以省略。</a:t>
            </a:r>
          </a:p>
        </p:txBody>
      </p:sp>
    </p:spTree>
  </p:cSld>
  <p:clrMapOvr>
    <a:masterClrMapping/>
  </p:clrMapOvr>
  <p:transition>
    <p:strips dir="ru"/>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FBDC6EF6-F879-DF9B-3832-ECB0C38B0E6A}"/>
              </a:ext>
            </a:extLst>
          </p:cNvPr>
          <p:cNvSpPr>
            <a:spLocks noGrp="1"/>
          </p:cNvSpPr>
          <p:nvPr>
            <p:ph type="body" sz="quarter" idx="10"/>
          </p:nvPr>
        </p:nvSpPr>
        <p:spPr/>
        <p:txBody>
          <a:bodyPr/>
          <a:lstStyle/>
          <a:p>
            <a:r>
              <a:rPr lang="en-US" altLang="zh-CN" dirty="0"/>
              <a:t>6.4.1 </a:t>
            </a:r>
            <a:r>
              <a:rPr lang="en-US" altLang="zh-CN" dirty="0">
                <a:sym typeface="+mn-ea"/>
              </a:rPr>
              <a:t>UML</a:t>
            </a:r>
            <a:r>
              <a:rPr lang="zh-CN" altLang="en-US" dirty="0">
                <a:sym typeface="+mn-ea"/>
              </a:rPr>
              <a:t>模型</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9" name="组合 8"/>
          <p:cNvGrpSpPr/>
          <p:nvPr/>
        </p:nvGrpSpPr>
        <p:grpSpPr>
          <a:xfrm>
            <a:off x="1296670" y="3507105"/>
            <a:ext cx="9966325" cy="2368550"/>
            <a:chOff x="1564218" y="2414421"/>
            <a:chExt cx="10511026" cy="2671929"/>
          </a:xfrm>
        </p:grpSpPr>
        <p:sp>
          <p:nvSpPr>
            <p:cNvPr id="10" name="MH_Other_1"/>
            <p:cNvSpPr/>
            <p:nvPr>
              <p:custDataLst>
                <p:tags r:id="rId1"/>
              </p:custDataLst>
            </p:nvPr>
          </p:nvSpPr>
          <p:spPr>
            <a:xfrm rot="21439215">
              <a:off x="3045884" y="3808414"/>
              <a:ext cx="1631949" cy="123983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11" name="MH_Other_2"/>
            <p:cNvCxnSpPr>
              <a:stCxn id="10" idx="3"/>
            </p:cNvCxnSpPr>
            <p:nvPr>
              <p:custDataLst>
                <p:tags r:id="rId2"/>
              </p:custDataLst>
            </p:nvPr>
          </p:nvCxnSpPr>
          <p:spPr>
            <a:xfrm flipV="1">
              <a:off x="4677833" y="4395788"/>
              <a:ext cx="1422400" cy="4762"/>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12" name="MH_Other_3"/>
            <p:cNvSpPr/>
            <p:nvPr>
              <p:custDataLst>
                <p:tags r:id="rId3"/>
              </p:custDataLst>
            </p:nvPr>
          </p:nvSpPr>
          <p:spPr>
            <a:xfrm rot="183635">
              <a:off x="2637367" y="2547939"/>
              <a:ext cx="1634067" cy="123983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13" name="MH_Other_4"/>
            <p:cNvCxnSpPr/>
            <p:nvPr>
              <p:custDataLst>
                <p:tags r:id="rId4"/>
              </p:custDataLst>
            </p:nvPr>
          </p:nvCxnSpPr>
          <p:spPr>
            <a:xfrm>
              <a:off x="4286251" y="3074988"/>
              <a:ext cx="1784349"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14" name="MH_Other_5"/>
            <p:cNvSpPr/>
            <p:nvPr>
              <p:custDataLst>
                <p:tags r:id="rId5"/>
              </p:custDataLst>
            </p:nvPr>
          </p:nvSpPr>
          <p:spPr>
            <a:xfrm>
              <a:off x="1564218" y="3100388"/>
              <a:ext cx="1286933" cy="1985962"/>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5" name="MH_Text_2"/>
            <p:cNvSpPr txBox="1"/>
            <p:nvPr>
              <p:custDataLst>
                <p:tags r:id="rId6"/>
              </p:custDataLst>
            </p:nvPr>
          </p:nvSpPr>
          <p:spPr>
            <a:xfrm>
              <a:off x="6192552" y="2414421"/>
              <a:ext cx="5882692" cy="1507296"/>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en-US" altLang="zh-CN" sz="1800" dirty="0"/>
                <a:t>       </a:t>
              </a:r>
              <a:r>
                <a:rPr lang="zh-CN" altLang="en-US" sz="1800" dirty="0">
                  <a:solidFill>
                    <a:srgbClr val="C00000"/>
                  </a:solidFill>
                </a:rPr>
                <a:t>消息交互</a:t>
              </a:r>
              <a:r>
                <a:rPr lang="zh-CN" altLang="en-US" sz="1800" dirty="0"/>
                <a:t>：对象之间为达到特定目的而进行的一系列消息交换，从而组成一系列动作，通过消息通信相互协作等，可用顺序图、活动图、协作图等描述。</a:t>
              </a:r>
            </a:p>
          </p:txBody>
        </p:sp>
        <p:sp>
          <p:nvSpPr>
            <p:cNvPr id="16" name="MH_Text_1"/>
            <p:cNvSpPr txBox="1"/>
            <p:nvPr>
              <p:custDataLst>
                <p:tags r:id="rId7"/>
              </p:custDataLst>
            </p:nvPr>
          </p:nvSpPr>
          <p:spPr>
            <a:xfrm>
              <a:off x="6192552" y="4071403"/>
              <a:ext cx="5882692" cy="876213"/>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en-US" altLang="zh-CN" sz="1800" dirty="0"/>
                <a:t>       </a:t>
              </a:r>
              <a:r>
                <a:rPr lang="zh-CN" altLang="en-US" sz="1800" dirty="0">
                  <a:solidFill>
                    <a:srgbClr val="C00000"/>
                  </a:solidFill>
                </a:rPr>
                <a:t>状态机：</a:t>
              </a:r>
              <a:r>
                <a:rPr lang="zh-CN" altLang="en-US" sz="1800" dirty="0"/>
                <a:t>状态机由对象的一系列状态和激发这些状态转换的事件组成，用状态图描述。</a:t>
              </a:r>
            </a:p>
          </p:txBody>
        </p:sp>
      </p:grpSp>
      <p:sp>
        <p:nvSpPr>
          <p:cNvPr id="17" name="文本框 16"/>
          <p:cNvSpPr txBox="1"/>
          <p:nvPr/>
        </p:nvSpPr>
        <p:spPr>
          <a:xfrm>
            <a:off x="1231265" y="2627200"/>
            <a:ext cx="10062210" cy="803910"/>
          </a:xfrm>
          <a:prstGeom prst="rect">
            <a:avLst/>
          </a:prstGeom>
          <a:noFill/>
        </p:spPr>
        <p:txBody>
          <a:bodyPr wrap="square" rtlCol="0" anchor="t">
            <a:spAutoFit/>
          </a:bodyPr>
          <a:lstStyle/>
          <a:p>
            <a:pPr marL="285750" indent="-285750" fontAlgn="auto">
              <a:lnSpc>
                <a:spcPct val="130000"/>
              </a:lnSpc>
              <a:buFont typeface="Wingdings" panose="05000000000000000000" charset="0"/>
              <a:buChar char="l"/>
            </a:pPr>
            <a:r>
              <a:rPr lang="zh-CN" altLang="en-US"/>
              <a:t>动态模型描述系统随时间的推移而发生的行为。动态模型可以使用的UML图有状态图、顺序图、活动图、协作图等。动态模型主要描述两种动作：消息交互和状态机。</a:t>
            </a:r>
          </a:p>
        </p:txBody>
      </p:sp>
      <p:grpSp>
        <p:nvGrpSpPr>
          <p:cNvPr id="18" name="组合 37"/>
          <p:cNvGrpSpPr/>
          <p:nvPr/>
        </p:nvGrpSpPr>
        <p:grpSpPr>
          <a:xfrm>
            <a:off x="977900" y="2106000"/>
            <a:ext cx="3141345" cy="590550"/>
            <a:chOff x="508000" y="3196191"/>
            <a:chExt cx="3141314" cy="590550"/>
          </a:xfrm>
        </p:grpSpPr>
        <p:sp>
          <p:nvSpPr>
            <p:cNvPr id="19"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0" name="直接连接符 1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1"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动态模型</a:t>
              </a:r>
            </a:p>
          </p:txBody>
        </p:sp>
      </p:grpSp>
    </p:spTree>
  </p:cSld>
  <p:clrMapOvr>
    <a:masterClrMapping/>
  </p:clrMapOvr>
  <p:transition>
    <p:strips dir="ru"/>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1C8B79C0-DD6A-C21F-6566-67840E09599E}"/>
              </a:ext>
            </a:extLst>
          </p:cNvPr>
          <p:cNvSpPr>
            <a:spLocks noGrp="1"/>
          </p:cNvSpPr>
          <p:nvPr>
            <p:ph type="body" sz="quarter" idx="10"/>
          </p:nvPr>
        </p:nvSpPr>
        <p:spPr/>
        <p:txBody>
          <a:bodyPr/>
          <a:lstStyle/>
          <a:p>
            <a:r>
              <a:rPr lang="en-US" altLang="zh-CN" dirty="0"/>
              <a:t>6.4.1 </a:t>
            </a:r>
            <a:r>
              <a:rPr lang="en-US" altLang="zh-CN" dirty="0">
                <a:sym typeface="+mn-ea"/>
              </a:rPr>
              <a:t>UML</a:t>
            </a:r>
            <a:r>
              <a:rPr lang="zh-CN" altLang="en-US" dirty="0">
                <a:sym typeface="+mn-ea"/>
              </a:rPr>
              <a:t>模型</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sp>
        <p:nvSpPr>
          <p:cNvPr id="9" name="文本框 8"/>
          <p:cNvSpPr txBox="1"/>
          <p:nvPr/>
        </p:nvSpPr>
        <p:spPr>
          <a:xfrm>
            <a:off x="986155" y="3207220"/>
            <a:ext cx="4520565" cy="646331"/>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dirty="0"/>
              <a:t>实现模型包括构件图和部署图，它们描述了系统实现时的一些特性。</a:t>
            </a:r>
          </a:p>
        </p:txBody>
      </p:sp>
      <p:pic>
        <p:nvPicPr>
          <p:cNvPr id="13" name="图片 12"/>
          <p:cNvPicPr>
            <a:picLocks noChangeAspect="1"/>
          </p:cNvPicPr>
          <p:nvPr/>
        </p:nvPicPr>
        <p:blipFill>
          <a:blip r:embed="rId2" cstate="print"/>
          <a:stretch>
            <a:fillRect/>
          </a:stretch>
        </p:blipFill>
        <p:spPr>
          <a:xfrm>
            <a:off x="6019550" y="1494723"/>
            <a:ext cx="6171183" cy="2440117"/>
          </a:xfrm>
          <a:prstGeom prst="rect">
            <a:avLst/>
          </a:prstGeom>
        </p:spPr>
      </p:pic>
      <p:sp>
        <p:nvSpPr>
          <p:cNvPr id="10" name="文本框 9"/>
          <p:cNvSpPr txBox="1"/>
          <p:nvPr/>
        </p:nvSpPr>
        <p:spPr>
          <a:xfrm>
            <a:off x="986155" y="4343400"/>
            <a:ext cx="10443210" cy="1516380"/>
          </a:xfrm>
          <a:prstGeom prst="rect">
            <a:avLst/>
          </a:prstGeom>
          <a:noFill/>
        </p:spPr>
        <p:txBody>
          <a:bodyPr wrap="square" rtlCol="0" anchor="t">
            <a:spAutoFit/>
          </a:bodyPr>
          <a:lstStyle/>
          <a:p>
            <a:pPr marL="342900" indent="-342900" fontAlgn="auto">
              <a:lnSpc>
                <a:spcPct val="130000"/>
              </a:lnSpc>
              <a:buFont typeface="+mj-ea"/>
              <a:buAutoNum type="circleNumDbPlain"/>
            </a:pPr>
            <a:r>
              <a:rPr lang="zh-CN" altLang="en-US" dirty="0"/>
              <a:t>构件图显示代码本身的逻辑结构。构件图描述系统中的软构件以及它们之间的相互依赖关系，构件图的元素有构件、依赖关系和接口。</a:t>
            </a:r>
          </a:p>
          <a:p>
            <a:pPr marL="342900" indent="-342900" fontAlgn="auto">
              <a:lnSpc>
                <a:spcPct val="130000"/>
              </a:lnSpc>
              <a:buFont typeface="+mj-ea"/>
              <a:buAutoNum type="circleNumDbPlain"/>
            </a:pPr>
            <a:r>
              <a:rPr lang="zh-CN" altLang="en-US" dirty="0"/>
              <a:t>部署图显示系统运行时的结构。部署图显示系统硬件的拓扑结构和通信路径、系统结构结点上执行的软件构件所包含的逻辑单元等。</a:t>
            </a:r>
          </a:p>
        </p:txBody>
      </p:sp>
      <p:grpSp>
        <p:nvGrpSpPr>
          <p:cNvPr id="8" name="组合 37"/>
          <p:cNvGrpSpPr/>
          <p:nvPr/>
        </p:nvGrpSpPr>
        <p:grpSpPr>
          <a:xfrm>
            <a:off x="977900" y="2106000"/>
            <a:ext cx="3141345" cy="590550"/>
            <a:chOff x="508000" y="3196191"/>
            <a:chExt cx="3141314" cy="590550"/>
          </a:xfrm>
        </p:grpSpPr>
        <p:sp>
          <p:nvSpPr>
            <p:cNvPr id="11"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4</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2" name="直接连接符 1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4"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实现模型</a:t>
              </a:r>
            </a:p>
          </p:txBody>
        </p:sp>
      </p:grpSp>
    </p:spTree>
  </p:cSld>
  <p:clrMapOvr>
    <a:masterClrMapping/>
  </p:clrMapOvr>
  <p:transition>
    <p:strips dir="ru"/>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4" name="文本占位符 3">
            <a:extLst>
              <a:ext uri="{FF2B5EF4-FFF2-40B4-BE49-F238E27FC236}">
                <a16:creationId xmlns:a16="http://schemas.microsoft.com/office/drawing/2014/main" id="{8BCCF871-EE8C-4B1D-5DAF-D2E9D873EE44}"/>
              </a:ext>
            </a:extLst>
          </p:cNvPr>
          <p:cNvSpPr>
            <a:spLocks noGrp="1"/>
          </p:cNvSpPr>
          <p:nvPr>
            <p:ph type="body" sz="quarter" idx="10"/>
          </p:nvPr>
        </p:nvSpPr>
        <p:spPr>
          <a:xfrm>
            <a:off x="900001" y="1322832"/>
            <a:ext cx="5196000" cy="400110"/>
          </a:xfrm>
        </p:spPr>
        <p:txBody>
          <a:bodyPr/>
          <a:lstStyle/>
          <a:p>
            <a:r>
              <a:rPr lang="en-US" altLang="zh-CN" dirty="0"/>
              <a:t>6.4.2 </a:t>
            </a:r>
            <a:r>
              <a:rPr lang="en-US" altLang="zh-CN" dirty="0">
                <a:sym typeface="+mn-ea"/>
              </a:rPr>
              <a:t>UML</a:t>
            </a:r>
            <a:r>
              <a:rPr lang="zh-CN" altLang="en-US" dirty="0">
                <a:sym typeface="+mn-ea"/>
              </a:rPr>
              <a:t>视图</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sp>
        <p:nvSpPr>
          <p:cNvPr id="8" name="MH_Other_1"/>
          <p:cNvSpPr/>
          <p:nvPr>
            <p:custDataLst>
              <p:tags r:id="rId1"/>
            </p:custDataLst>
          </p:nvPr>
        </p:nvSpPr>
        <p:spPr bwMode="auto">
          <a:xfrm>
            <a:off x="802640" y="1969135"/>
            <a:ext cx="9842500" cy="441706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9" name="文本框 8"/>
          <p:cNvSpPr txBox="1"/>
          <p:nvPr/>
        </p:nvSpPr>
        <p:spPr>
          <a:xfrm>
            <a:off x="1034414" y="1969135"/>
            <a:ext cx="6608331" cy="3554819"/>
          </a:xfrm>
          <a:prstGeom prst="rect">
            <a:avLst/>
          </a:prstGeom>
          <a:noFill/>
        </p:spPr>
        <p:txBody>
          <a:bodyPr wrap="square" rtlCol="0" anchor="t">
            <a:spAutoFit/>
          </a:bodyPr>
          <a:lstStyle/>
          <a:p>
            <a:pPr indent="457200" algn="just" fontAlgn="auto">
              <a:lnSpc>
                <a:spcPct val="125000"/>
              </a:lnSpc>
            </a:pPr>
            <a:r>
              <a:rPr lang="zh-CN" altLang="en-US" dirty="0" smtClean="0"/>
              <a:t>视图</a:t>
            </a:r>
            <a:r>
              <a:rPr lang="zh-CN" altLang="en-US" dirty="0"/>
              <a:t> </a:t>
            </a:r>
            <a:r>
              <a:rPr lang="zh-CN" altLang="en-US" dirty="0" smtClean="0"/>
              <a:t>View 是</a:t>
            </a:r>
            <a:r>
              <a:rPr lang="zh-CN" altLang="en-US" dirty="0"/>
              <a:t>模型的简化说明，即采取特定的角度</a:t>
            </a:r>
            <a:r>
              <a:rPr lang="zh-CN" altLang="en-US" dirty="0" smtClean="0"/>
              <a:t>或观点</a:t>
            </a:r>
            <a:r>
              <a:rPr lang="zh-CN" altLang="en-US" dirty="0"/>
              <a:t>并忽略与相应角度或观点无关的实体来表达系统的某一方面</a:t>
            </a:r>
            <a:r>
              <a:rPr lang="zh-CN" altLang="en-US" dirty="0" smtClean="0"/>
              <a:t>特征。</a:t>
            </a:r>
          </a:p>
          <a:p>
            <a:pPr indent="457200" algn="just" fontAlgn="auto">
              <a:lnSpc>
                <a:spcPct val="125000"/>
              </a:lnSpc>
            </a:pPr>
            <a:r>
              <a:rPr lang="zh-CN" altLang="en-US" dirty="0" smtClean="0"/>
              <a:t>一个系统往往可以从不同的角度进行观察。从一个角度观察到的系统，构成系统的一个视图，每个视图是整个系统描述的一个投影，说明了系统的一个特殊侧面。若干不同的视图可以完整地描述所建造的系统。每种视图是由若干幅 UML 图组成的，每一幅图包含了系统某一方面的信息，阐明了系统的一个特定部分或方面。由于不同视图之间存在一些交叉，因此一幅图可以作为多个视图的一部分。</a:t>
            </a:r>
          </a:p>
          <a:p>
            <a:pPr indent="457200" algn="just" fontAlgn="auto">
              <a:lnSpc>
                <a:spcPct val="125000"/>
              </a:lnSpc>
            </a:pPr>
            <a:r>
              <a:rPr lang="zh-CN" altLang="en-US" dirty="0" smtClean="0"/>
              <a:t>       </a:t>
            </a:r>
            <a:endParaRPr lang="zh-CN" altLang="en-US" dirty="0"/>
          </a:p>
        </p:txBody>
      </p:sp>
    </p:spTree>
  </p:cSld>
  <p:clrMapOvr>
    <a:masterClrMapping/>
  </p:clrMapOvr>
  <p:transition>
    <p:strips dir="ru"/>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4" name="文本占位符 3">
            <a:extLst>
              <a:ext uri="{FF2B5EF4-FFF2-40B4-BE49-F238E27FC236}">
                <a16:creationId xmlns:a16="http://schemas.microsoft.com/office/drawing/2014/main" id="{8BCCF871-EE8C-4B1D-5DAF-D2E9D873EE44}"/>
              </a:ext>
            </a:extLst>
          </p:cNvPr>
          <p:cNvSpPr>
            <a:spLocks noGrp="1"/>
          </p:cNvSpPr>
          <p:nvPr>
            <p:ph type="body" sz="quarter" idx="10"/>
          </p:nvPr>
        </p:nvSpPr>
        <p:spPr>
          <a:xfrm>
            <a:off x="900001" y="1322832"/>
            <a:ext cx="5196000" cy="400110"/>
          </a:xfrm>
        </p:spPr>
        <p:txBody>
          <a:bodyPr/>
          <a:lstStyle/>
          <a:p>
            <a:r>
              <a:rPr lang="en-US" altLang="zh-CN" dirty="0"/>
              <a:t>6.4.2 </a:t>
            </a:r>
            <a:r>
              <a:rPr lang="en-US" altLang="zh-CN" dirty="0">
                <a:sym typeface="+mn-ea"/>
              </a:rPr>
              <a:t>UML</a:t>
            </a:r>
            <a:r>
              <a:rPr lang="zh-CN" altLang="en-US" dirty="0">
                <a:sym typeface="+mn-ea"/>
              </a:rPr>
              <a:t>视图</a:t>
            </a:r>
          </a:p>
        </p:txBody>
      </p:sp>
      <p:sp>
        <p:nvSpPr>
          <p:cNvPr id="8" name="MH_Other_1"/>
          <p:cNvSpPr/>
          <p:nvPr>
            <p:custDataLst>
              <p:tags r:id="rId1"/>
            </p:custDataLst>
          </p:nvPr>
        </p:nvSpPr>
        <p:spPr bwMode="auto">
          <a:xfrm>
            <a:off x="802640" y="1969135"/>
            <a:ext cx="9842500" cy="441706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9" name="文本框 8"/>
          <p:cNvSpPr txBox="1"/>
          <p:nvPr/>
        </p:nvSpPr>
        <p:spPr>
          <a:xfrm>
            <a:off x="1034414" y="1969135"/>
            <a:ext cx="6608331" cy="2252924"/>
          </a:xfrm>
          <a:prstGeom prst="rect">
            <a:avLst/>
          </a:prstGeom>
          <a:noFill/>
        </p:spPr>
        <p:txBody>
          <a:bodyPr wrap="square" rtlCol="0" anchor="t">
            <a:spAutoFit/>
          </a:bodyPr>
          <a:lstStyle/>
          <a:p>
            <a:pPr fontAlgn="auto">
              <a:lnSpc>
                <a:spcPct val="130000"/>
              </a:lnSpc>
            </a:pPr>
            <a:r>
              <a:rPr lang="zh-CN" altLang="en-US" dirty="0" smtClean="0">
                <a:sym typeface="+mn-ea"/>
              </a:rPr>
              <a:t>UML</a:t>
            </a:r>
            <a:r>
              <a:rPr lang="zh-CN" altLang="en-US" dirty="0">
                <a:sym typeface="+mn-ea"/>
              </a:rPr>
              <a:t>中，视图可划分成9类，分别属于3个层次</a:t>
            </a:r>
            <a:r>
              <a:rPr lang="zh-CN" altLang="en-US" dirty="0" smtClean="0">
                <a:sym typeface="+mn-ea"/>
              </a:rPr>
              <a:t>。</a:t>
            </a:r>
            <a:endParaRPr lang="en-US" altLang="zh-CN" dirty="0" smtClean="0">
              <a:sym typeface="+mn-ea"/>
            </a:endParaRPr>
          </a:p>
          <a:p>
            <a:pPr fontAlgn="auto">
              <a:lnSpc>
                <a:spcPct val="130000"/>
              </a:lnSpc>
            </a:pPr>
            <a:r>
              <a:rPr lang="zh-CN" altLang="en-US" dirty="0" smtClean="0">
                <a:sym typeface="+mn-ea"/>
              </a:rPr>
              <a:t>最</a:t>
            </a:r>
            <a:r>
              <a:rPr lang="zh-CN" altLang="en-US" dirty="0">
                <a:sym typeface="+mn-ea"/>
              </a:rPr>
              <a:t>上层，视图被分成3个视图域</a:t>
            </a:r>
            <a:r>
              <a:rPr lang="zh-CN" altLang="en-US" dirty="0" smtClean="0">
                <a:sym typeface="+mn-ea"/>
              </a:rPr>
              <a:t>：</a:t>
            </a:r>
            <a:endParaRPr lang="en-US" altLang="zh-CN" dirty="0" smtClean="0">
              <a:sym typeface="+mn-ea"/>
            </a:endParaRPr>
          </a:p>
          <a:p>
            <a:pPr marL="285750" indent="-285750" fontAlgn="auto">
              <a:lnSpc>
                <a:spcPct val="130000"/>
              </a:lnSpc>
              <a:buFont typeface="Arial" panose="020B0604020202020204" pitchFamily="34" charset="0"/>
              <a:buChar char="•"/>
            </a:pPr>
            <a:r>
              <a:rPr lang="zh-CN" altLang="en-US" dirty="0" smtClean="0">
                <a:sym typeface="+mn-ea"/>
              </a:rPr>
              <a:t>结构分类</a:t>
            </a:r>
            <a:endParaRPr lang="en-US" altLang="zh-CN" dirty="0" smtClean="0">
              <a:sym typeface="+mn-ea"/>
            </a:endParaRPr>
          </a:p>
          <a:p>
            <a:pPr marL="285750" indent="-285750" fontAlgn="auto">
              <a:lnSpc>
                <a:spcPct val="130000"/>
              </a:lnSpc>
              <a:buFont typeface="Arial" panose="020B0604020202020204" pitchFamily="34" charset="0"/>
              <a:buChar char="•"/>
            </a:pPr>
            <a:r>
              <a:rPr lang="zh-CN" altLang="en-US" dirty="0" smtClean="0">
                <a:sym typeface="+mn-ea"/>
              </a:rPr>
              <a:t>动态行为</a:t>
            </a:r>
            <a:endParaRPr lang="en-US" altLang="zh-CN" dirty="0" smtClean="0">
              <a:sym typeface="+mn-ea"/>
            </a:endParaRPr>
          </a:p>
          <a:p>
            <a:pPr marL="285750" indent="-285750" fontAlgn="auto">
              <a:lnSpc>
                <a:spcPct val="130000"/>
              </a:lnSpc>
              <a:buFont typeface="Arial" panose="020B0604020202020204" pitchFamily="34" charset="0"/>
              <a:buChar char="•"/>
            </a:pPr>
            <a:r>
              <a:rPr lang="zh-CN" altLang="en-US" dirty="0" smtClean="0">
                <a:sym typeface="+mn-ea"/>
              </a:rPr>
              <a:t>模型管理</a:t>
            </a:r>
            <a:endParaRPr lang="en-US" altLang="zh-CN" dirty="0" smtClean="0">
              <a:sym typeface="+mn-ea"/>
            </a:endParaRPr>
          </a:p>
          <a:p>
            <a:pPr fontAlgn="auto">
              <a:lnSpc>
                <a:spcPct val="130000"/>
              </a:lnSpc>
            </a:pPr>
            <a:r>
              <a:rPr lang="zh-CN" altLang="en-US" dirty="0" smtClean="0">
                <a:sym typeface="+mn-ea"/>
              </a:rPr>
              <a:t>每个</a:t>
            </a:r>
            <a:r>
              <a:rPr lang="zh-CN" altLang="en-US" dirty="0">
                <a:sym typeface="+mn-ea"/>
              </a:rPr>
              <a:t>视图域的第二层包括一些视图；第三层由UML图组成。</a:t>
            </a:r>
            <a:r>
              <a:rPr lang="en-US" altLang="zh-CN" dirty="0" smtClean="0"/>
              <a:t>       </a:t>
            </a:r>
            <a:r>
              <a:rPr lang="zh-CN" altLang="en-US" dirty="0" smtClean="0"/>
              <a:t>       </a:t>
            </a:r>
            <a:endParaRPr lang="zh-CN" altLang="en-US" dirty="0"/>
          </a:p>
        </p:txBody>
      </p:sp>
    </p:spTree>
    <p:extLst>
      <p:ext uri="{BB962C8B-B14F-4D97-AF65-F5344CB8AC3E}">
        <p14:creationId xmlns:p14="http://schemas.microsoft.com/office/powerpoint/2010/main" val="967838051"/>
      </p:ext>
    </p:extLst>
  </p:cSld>
  <p:clrMapOvr>
    <a:masterClrMapping/>
  </p:clrMapOvr>
  <p:transition>
    <p:strips dir="ru"/>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8" name="文本占位符 7">
            <a:extLst>
              <a:ext uri="{FF2B5EF4-FFF2-40B4-BE49-F238E27FC236}">
                <a16:creationId xmlns:a16="http://schemas.microsoft.com/office/drawing/2014/main" id="{3417FFC9-A0CF-5B54-A29C-695AF2780298}"/>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smtClean="0">
                <a:sym typeface="+mn-ea"/>
              </a:rPr>
              <a:t>视图</a:t>
            </a:r>
            <a:r>
              <a:rPr lang="en-US" altLang="zh-CN" dirty="0" smtClean="0">
                <a:sym typeface="+mn-ea"/>
              </a:rPr>
              <a:t>-</a:t>
            </a:r>
            <a:r>
              <a:rPr lang="zh-CN" altLang="en-US" dirty="0" smtClean="0">
                <a:sym typeface="+mn-ea"/>
              </a:rPr>
              <a:t>结构分类</a:t>
            </a:r>
            <a:endParaRPr lang="zh-CN" altLang="en-US" dirty="0"/>
          </a:p>
        </p:txBody>
      </p:sp>
      <p:sp>
        <p:nvSpPr>
          <p:cNvPr id="24" name="MH_SubTitle_1"/>
          <p:cNvSpPr/>
          <p:nvPr>
            <p:custDataLst>
              <p:tags r:id="rId1"/>
            </p:custDataLst>
          </p:nvPr>
        </p:nvSpPr>
        <p:spPr bwMode="auto">
          <a:xfrm>
            <a:off x="4445635" y="2447375"/>
            <a:ext cx="1534383" cy="201704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5" name="MH_SubTitle_3"/>
          <p:cNvSpPr/>
          <p:nvPr>
            <p:custDataLst>
              <p:tags r:id="rId2"/>
            </p:custDataLst>
          </p:nvPr>
        </p:nvSpPr>
        <p:spPr bwMode="auto">
          <a:xfrm>
            <a:off x="4698969" y="4190484"/>
            <a:ext cx="2465478" cy="894832"/>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7" name="MH_Other_1"/>
          <p:cNvSpPr/>
          <p:nvPr>
            <p:custDataLst>
              <p:tags r:id="rId3"/>
            </p:custDataLst>
          </p:nvPr>
        </p:nvSpPr>
        <p:spPr bwMode="auto">
          <a:xfrm>
            <a:off x="5819571" y="2441575"/>
            <a:ext cx="1484199" cy="1957260"/>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30" name="MH_SubTitle_2"/>
          <p:cNvSpPr/>
          <p:nvPr>
            <p:custDataLst>
              <p:tags r:id="rId4"/>
            </p:custDataLst>
          </p:nvPr>
        </p:nvSpPr>
        <p:spPr>
          <a:xfrm rot="3733167">
            <a:off x="4538229" y="2592259"/>
            <a:ext cx="2447509" cy="2585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用例视图</a:t>
            </a:r>
          </a:p>
        </p:txBody>
      </p:sp>
      <p:sp>
        <p:nvSpPr>
          <p:cNvPr id="31" name="MH_Other_2"/>
          <p:cNvSpPr/>
          <p:nvPr>
            <p:custDataLst>
              <p:tags r:id="rId5"/>
            </p:custDataLst>
          </p:nvPr>
        </p:nvSpPr>
        <p:spPr>
          <a:xfrm rot="10873167">
            <a:off x="4687091" y="2686491"/>
            <a:ext cx="2342988" cy="21504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实现视图</a:t>
            </a:r>
          </a:p>
        </p:txBody>
      </p:sp>
      <p:sp>
        <p:nvSpPr>
          <p:cNvPr id="32" name="MH_Other_3"/>
          <p:cNvSpPr/>
          <p:nvPr>
            <p:custDataLst>
              <p:tags r:id="rId6"/>
            </p:custDataLst>
          </p:nvPr>
        </p:nvSpPr>
        <p:spPr>
          <a:xfrm rot="18073167">
            <a:off x="4790705" y="2619759"/>
            <a:ext cx="2307590" cy="25019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83097"/>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静态视图</a:t>
            </a:r>
          </a:p>
        </p:txBody>
      </p:sp>
      <p:sp>
        <p:nvSpPr>
          <p:cNvPr id="33" name="MH_Title_1"/>
          <p:cNvSpPr/>
          <p:nvPr>
            <p:custDataLst>
              <p:tags r:id="rId7"/>
            </p:custDataLst>
          </p:nvPr>
        </p:nvSpPr>
        <p:spPr>
          <a:xfrm>
            <a:off x="5010347" y="2961705"/>
            <a:ext cx="1757547" cy="16132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lnSpcReduction="10000"/>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结构</a:t>
            </a:r>
            <a:endParaRPr lang="en-US" altLang="zh-CN" sz="2800" b="1" dirty="0">
              <a:solidFill>
                <a:srgbClr val="FFFFFF"/>
              </a:solidFill>
              <a:latin typeface="微软雅黑" panose="020B0503020204020204" charset="-122"/>
              <a:ea typeface="微软雅黑" panose="020B0503020204020204" charset="-122"/>
            </a:endParaRPr>
          </a:p>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分类</a:t>
            </a:r>
          </a:p>
        </p:txBody>
      </p:sp>
      <p:sp>
        <p:nvSpPr>
          <p:cNvPr id="34" name="MH_Other_2"/>
          <p:cNvSpPr/>
          <p:nvPr>
            <p:custDataLst>
              <p:tags r:id="rId8"/>
            </p:custDataLst>
          </p:nvPr>
        </p:nvSpPr>
        <p:spPr>
          <a:xfrm rot="16200000" flipH="1" flipV="1">
            <a:off x="6950075" y="2165985"/>
            <a:ext cx="313690" cy="677545"/>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6" name="MH_Other_2"/>
          <p:cNvSpPr/>
          <p:nvPr>
            <p:custDataLst>
              <p:tags r:id="rId9"/>
            </p:custDataLst>
          </p:nvPr>
        </p:nvSpPr>
        <p:spPr>
          <a:xfrm rot="5400000" flipV="1">
            <a:off x="4330700" y="2319020"/>
            <a:ext cx="393700" cy="69469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38" name="MH_Other_2"/>
          <p:cNvSpPr/>
          <p:nvPr>
            <p:custDataLst>
              <p:tags r:id="rId10"/>
            </p:custDataLst>
          </p:nvPr>
        </p:nvSpPr>
        <p:spPr>
          <a:xfrm rot="16200000">
            <a:off x="4483100" y="4358005"/>
            <a:ext cx="214630" cy="135763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dirty="0">
              <a:latin typeface="微软雅黑 Light" panose="020B0502040204020203" pitchFamily="34" charset="-122"/>
              <a:ea typeface="微软雅黑" panose="020B0503020204020204" charset="-122"/>
            </a:endParaRPr>
          </a:p>
        </p:txBody>
      </p:sp>
      <p:sp>
        <p:nvSpPr>
          <p:cNvPr id="26" name="圆角矩形"/>
          <p:cNvSpPr/>
          <p:nvPr/>
        </p:nvSpPr>
        <p:spPr>
          <a:xfrm>
            <a:off x="7677785" y="793352"/>
            <a:ext cx="4163695" cy="91503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algn="just"/>
            <a:r>
              <a:rPr lang="zh-CN" altLang="en-US" sz="1400" dirty="0">
                <a:solidFill>
                  <a:schemeClr val="tx1"/>
                </a:solidFill>
              </a:rPr>
              <a:t>结构分类描述系统中的结构成员及其相互关系。结构分类包括静态视图、用例视图和实现视图。</a:t>
            </a:r>
          </a:p>
        </p:txBody>
      </p:sp>
      <p:sp>
        <p:nvSpPr>
          <p:cNvPr id="29" name="学士帽"/>
          <p:cNvSpPr/>
          <p:nvPr/>
        </p:nvSpPr>
        <p:spPr bwMode="auto">
          <a:xfrm>
            <a:off x="7471410" y="542527"/>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2" name="文本框 1"/>
          <p:cNvSpPr txBox="1"/>
          <p:nvPr/>
        </p:nvSpPr>
        <p:spPr>
          <a:xfrm>
            <a:off x="438750" y="2282174"/>
            <a:ext cx="3722081" cy="1015663"/>
          </a:xfrm>
          <a:prstGeom prst="rect">
            <a:avLst/>
          </a:prstGeom>
          <a:noFill/>
        </p:spPr>
        <p:txBody>
          <a:bodyPr wrap="square" rtlCol="0">
            <a:spAutoFit/>
          </a:bodyPr>
          <a:lstStyle/>
          <a:p>
            <a:pPr algn="r">
              <a:lnSpc>
                <a:spcPct val="125000"/>
              </a:lnSpc>
              <a:defRPr/>
            </a:pPr>
            <a:r>
              <a:rPr lang="zh-CN" altLang="en-US" sz="1600" dirty="0">
                <a:solidFill>
                  <a:srgbClr val="00A8E7"/>
                </a:solidFill>
              </a:rPr>
              <a:t>静态视图</a:t>
            </a:r>
          </a:p>
          <a:p>
            <a:pPr>
              <a:lnSpc>
                <a:spcPct val="125000"/>
              </a:lnSpc>
              <a:defRPr/>
            </a:pPr>
            <a:r>
              <a:rPr lang="zh-CN" altLang="en-US" sz="1600" dirty="0"/>
              <a:t>由类图组成，主要概念为类、关联、继承、依赖关系、实现、接口</a:t>
            </a:r>
            <a:r>
              <a:rPr lang="zh-CN" altLang="en-US" sz="1600" dirty="0" smtClean="0"/>
              <a:t>。</a:t>
            </a:r>
            <a:endParaRPr lang="zh-CN" altLang="en-US" sz="1600" dirty="0"/>
          </a:p>
        </p:txBody>
      </p:sp>
      <p:sp>
        <p:nvSpPr>
          <p:cNvPr id="4" name="文本框 3"/>
          <p:cNvSpPr txBox="1"/>
          <p:nvPr/>
        </p:nvSpPr>
        <p:spPr>
          <a:xfrm>
            <a:off x="7677970" y="2282174"/>
            <a:ext cx="4078411" cy="1015663"/>
          </a:xfrm>
          <a:prstGeom prst="rect">
            <a:avLst/>
          </a:prstGeom>
          <a:noFill/>
        </p:spPr>
        <p:txBody>
          <a:bodyPr wrap="square" rtlCol="0">
            <a:spAutoFit/>
          </a:bodyPr>
          <a:lstStyle/>
          <a:p>
            <a:pPr>
              <a:lnSpc>
                <a:spcPct val="125000"/>
              </a:lnSpc>
              <a:defRPr/>
            </a:pPr>
            <a:r>
              <a:rPr lang="zh-CN" altLang="en-US" sz="1600" dirty="0">
                <a:solidFill>
                  <a:srgbClr val="00A8E7"/>
                </a:solidFill>
              </a:rPr>
              <a:t>用例视图</a:t>
            </a:r>
            <a:endParaRPr lang="en-US" altLang="zh-CN" sz="1600" dirty="0">
              <a:solidFill>
                <a:srgbClr val="00A8E7"/>
              </a:solidFill>
            </a:endParaRPr>
          </a:p>
          <a:p>
            <a:pPr fontAlgn="auto">
              <a:lnSpc>
                <a:spcPct val="125000"/>
              </a:lnSpc>
              <a:defRPr/>
            </a:pPr>
            <a:r>
              <a:rPr lang="zh-CN" altLang="en-US" sz="1600" dirty="0">
                <a:sym typeface="+mn-ea"/>
              </a:rPr>
              <a:t>由用例图组成，主要概念为用例、执行者、关联、扩展、包括用例继承</a:t>
            </a:r>
            <a:r>
              <a:rPr lang="zh-CN" altLang="en-US" sz="1600" dirty="0" smtClean="0">
                <a:sym typeface="+mn-ea"/>
              </a:rPr>
              <a:t>。</a:t>
            </a:r>
            <a:endParaRPr lang="zh-CN" altLang="en-US" sz="1600" dirty="0">
              <a:sym typeface="+mn-ea"/>
            </a:endParaRPr>
          </a:p>
        </p:txBody>
      </p:sp>
      <p:sp>
        <p:nvSpPr>
          <p:cNvPr id="5" name="文本框 4"/>
          <p:cNvSpPr txBox="1"/>
          <p:nvPr/>
        </p:nvSpPr>
        <p:spPr>
          <a:xfrm>
            <a:off x="2899718" y="5031037"/>
            <a:ext cx="4207202" cy="1015663"/>
          </a:xfrm>
          <a:prstGeom prst="rect">
            <a:avLst/>
          </a:prstGeom>
          <a:noFill/>
        </p:spPr>
        <p:txBody>
          <a:bodyPr wrap="square" rtlCol="0">
            <a:spAutoFit/>
          </a:bodyPr>
          <a:lstStyle/>
          <a:p>
            <a:pPr>
              <a:lnSpc>
                <a:spcPct val="125000"/>
              </a:lnSpc>
              <a:defRPr/>
            </a:pPr>
            <a:r>
              <a:rPr lang="zh-CN" altLang="en-US" sz="1600" dirty="0">
                <a:solidFill>
                  <a:srgbClr val="00A8E7"/>
                </a:solidFill>
              </a:rPr>
              <a:t>实现视图</a:t>
            </a:r>
          </a:p>
          <a:p>
            <a:pPr>
              <a:lnSpc>
                <a:spcPct val="125000"/>
              </a:lnSpc>
              <a:defRPr/>
            </a:pPr>
            <a:r>
              <a:rPr lang="zh-CN" altLang="en-US" sz="1600" dirty="0"/>
              <a:t>由构件图</a:t>
            </a:r>
            <a:r>
              <a:rPr lang="en-US" altLang="zh-CN" sz="1600" dirty="0"/>
              <a:t>/</a:t>
            </a:r>
            <a:r>
              <a:rPr lang="zh-CN" altLang="en-US" sz="1600" dirty="0"/>
              <a:t>组件</a:t>
            </a:r>
            <a:r>
              <a:rPr lang="en-US" altLang="zh-CN" sz="1600" dirty="0"/>
              <a:t>/</a:t>
            </a:r>
            <a:r>
              <a:rPr lang="zh-CN" altLang="en-US" sz="1600" dirty="0"/>
              <a:t>模块组成，主要概念为构件、接口、依赖关系和实现</a:t>
            </a:r>
            <a:r>
              <a:rPr lang="zh-CN" altLang="en-US" sz="1600" dirty="0" smtClean="0"/>
              <a:t>。</a:t>
            </a:r>
            <a:endParaRPr lang="zh-CN" altLang="en-US" sz="1600" dirty="0"/>
          </a:p>
        </p:txBody>
      </p:sp>
    </p:spTree>
  </p:cSld>
  <p:clrMapOvr>
    <a:masterClrMapping/>
  </p:clrMapOvr>
  <p:transition>
    <p:strips dir="ru"/>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19" name="文本占位符 18">
            <a:extLst>
              <a:ext uri="{FF2B5EF4-FFF2-40B4-BE49-F238E27FC236}">
                <a16:creationId xmlns:a16="http://schemas.microsoft.com/office/drawing/2014/main" id="{BF862A44-5145-5A94-9804-48AE206D6D26}"/>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smtClean="0">
                <a:sym typeface="+mn-ea"/>
              </a:rPr>
              <a:t>视图</a:t>
            </a:r>
            <a:r>
              <a:rPr lang="en-US" altLang="zh-CN" dirty="0" smtClean="0">
                <a:sym typeface="+mn-ea"/>
              </a:rPr>
              <a:t>-</a:t>
            </a:r>
            <a:r>
              <a:rPr lang="zh-CN" altLang="en-US" dirty="0" smtClean="0">
                <a:sym typeface="+mn-ea"/>
              </a:rPr>
              <a:t>动态行为</a:t>
            </a:r>
            <a:endParaRPr lang="zh-CN" altLang="en-US" dirty="0"/>
          </a:p>
        </p:txBody>
      </p:sp>
      <p:sp>
        <p:nvSpPr>
          <p:cNvPr id="167" name="圆角矩形"/>
          <p:cNvSpPr/>
          <p:nvPr/>
        </p:nvSpPr>
        <p:spPr>
          <a:xfrm>
            <a:off x="7677785" y="793352"/>
            <a:ext cx="4163695" cy="91503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algn="just" eaLnBrk="1" fontAlgn="auto" hangingPunct="1">
              <a:spcBef>
                <a:spcPts val="0"/>
              </a:spcBef>
              <a:spcAft>
                <a:spcPts val="0"/>
              </a:spcAft>
              <a:defRPr/>
            </a:pPr>
            <a:r>
              <a:rPr lang="zh-CN" altLang="en-US" sz="1400" dirty="0" smtClean="0">
                <a:solidFill>
                  <a:schemeClr val="tx1"/>
                </a:solidFill>
              </a:rPr>
              <a:t>动态</a:t>
            </a:r>
            <a:r>
              <a:rPr lang="zh-CN" altLang="en-US" sz="1400" dirty="0">
                <a:solidFill>
                  <a:schemeClr val="tx1"/>
                </a:solidFill>
              </a:rPr>
              <a:t>行为描述系统随时间推移而发生的行为。动态行为视图包括部署视图、状态视图、活动视图和交互视图（由顺序图、协作图构成）。</a:t>
            </a:r>
          </a:p>
        </p:txBody>
      </p:sp>
      <p:sp>
        <p:nvSpPr>
          <p:cNvPr id="5" name="学士帽"/>
          <p:cNvSpPr/>
          <p:nvPr/>
        </p:nvSpPr>
        <p:spPr bwMode="auto">
          <a:xfrm>
            <a:off x="7471410" y="542527"/>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
        <p:nvSpPr>
          <p:cNvPr id="8" name="MH_SubTitle_2"/>
          <p:cNvSpPr/>
          <p:nvPr>
            <p:custDataLst>
              <p:tags r:id="rId1"/>
            </p:custDataLst>
          </p:nvPr>
        </p:nvSpPr>
        <p:spPr>
          <a:xfrm>
            <a:off x="594995" y="2825750"/>
            <a:ext cx="1960880" cy="2106930"/>
          </a:xfrm>
          <a:custGeom>
            <a:avLst/>
            <a:gdLst>
              <a:gd name="connsiteX0" fmla="*/ 701384 w 1754501"/>
              <a:gd name="connsiteY0" fmla="*/ 0 h 2106234"/>
              <a:gd name="connsiteX1" fmla="*/ 1754501 w 1754501"/>
              <a:gd name="connsiteY1" fmla="*/ 1053117 h 2106234"/>
              <a:gd name="connsiteX2" fmla="*/ 701384 w 1754501"/>
              <a:gd name="connsiteY2" fmla="*/ 2106234 h 2106234"/>
              <a:gd name="connsiteX3" fmla="*/ 1391 w 1754501"/>
              <a:gd name="connsiteY3" fmla="*/ 1406241 h 2106234"/>
              <a:gd name="connsiteX4" fmla="*/ 353124 w 1754501"/>
              <a:gd name="connsiteY4" fmla="*/ 1054508 h 2106234"/>
              <a:gd name="connsiteX5" fmla="*/ 695 w 1754501"/>
              <a:gd name="connsiteY5" fmla="*/ 702079 h 2106234"/>
              <a:gd name="connsiteX6" fmla="*/ 695 w 1754501"/>
              <a:gd name="connsiteY6" fmla="*/ 702079 h 2106234"/>
              <a:gd name="connsiteX7" fmla="*/ 0 w 1754501"/>
              <a:gd name="connsiteY7" fmla="*/ 701384 h 210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4501" h="2106234">
                <a:moveTo>
                  <a:pt x="701384" y="0"/>
                </a:moveTo>
                <a:lnTo>
                  <a:pt x="1754501" y="1053117"/>
                </a:lnTo>
                <a:lnTo>
                  <a:pt x="701384" y="2106234"/>
                </a:lnTo>
                <a:lnTo>
                  <a:pt x="1391" y="1406241"/>
                </a:lnTo>
                <a:lnTo>
                  <a:pt x="353124" y="1054508"/>
                </a:lnTo>
                <a:lnTo>
                  <a:pt x="695" y="702079"/>
                </a:lnTo>
                <a:lnTo>
                  <a:pt x="695" y="702079"/>
                </a:lnTo>
                <a:lnTo>
                  <a:pt x="0" y="701384"/>
                </a:lnTo>
                <a:close/>
              </a:path>
            </a:pathLst>
          </a:custGeom>
          <a:solidFill>
            <a:schemeClr val="accent6">
              <a:lumMod val="75000"/>
            </a:schemeClr>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216000" anchor="ctr">
            <a:normAutofit/>
          </a:bodyPr>
          <a:lstStyle/>
          <a:p>
            <a:pPr algn="ctr" eaLnBrk="1" fontAlgn="auto" hangingPunct="1">
              <a:spcBef>
                <a:spcPts val="0"/>
              </a:spcBef>
              <a:spcAft>
                <a:spcPts val="0"/>
              </a:spcAft>
              <a:defRPr/>
            </a:pPr>
            <a:r>
              <a:rPr lang="zh-CN" altLang="en-US" sz="2400" dirty="0">
                <a:solidFill>
                  <a:schemeClr val="bg1"/>
                </a:solidFill>
                <a:latin typeface="微软雅黑" panose="020B0503020204020204" charset="-122"/>
                <a:ea typeface="微软雅黑" panose="020B0503020204020204" charset="-122"/>
              </a:rPr>
              <a:t>动态行为</a:t>
            </a:r>
          </a:p>
        </p:txBody>
      </p:sp>
      <p:cxnSp>
        <p:nvCxnSpPr>
          <p:cNvPr id="9" name="MH_Other_6"/>
          <p:cNvCxnSpPr>
            <a:stCxn id="15" idx="3"/>
            <a:endCxn id="14" idx="2"/>
          </p:cNvCxnSpPr>
          <p:nvPr>
            <p:custDataLst>
              <p:tags r:id="rId2"/>
            </p:custDataLst>
          </p:nvPr>
        </p:nvCxnSpPr>
        <p:spPr>
          <a:xfrm flipH="1">
            <a:off x="1885315" y="2792730"/>
            <a:ext cx="1263015" cy="33020"/>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0" name="MH_Other_7"/>
          <p:cNvCxnSpPr/>
          <p:nvPr>
            <p:custDataLst>
              <p:tags r:id="rId3"/>
            </p:custDataLst>
          </p:nvPr>
        </p:nvCxnSpPr>
        <p:spPr>
          <a:xfrm rot="5400000">
            <a:off x="3251200" y="3145155"/>
            <a:ext cx="635" cy="730250"/>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1" name="MH_Other_8"/>
          <p:cNvCxnSpPr/>
          <p:nvPr>
            <p:custDataLst>
              <p:tags r:id="rId4"/>
            </p:custDataLst>
          </p:nvPr>
        </p:nvCxnSpPr>
        <p:spPr>
          <a:xfrm flipH="1">
            <a:off x="2871470" y="4324350"/>
            <a:ext cx="598805" cy="0"/>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3" name="MH_Other_9"/>
          <p:cNvCxnSpPr>
            <a:stCxn id="18" idx="3"/>
            <a:endCxn id="14" idx="0"/>
          </p:cNvCxnSpPr>
          <p:nvPr>
            <p:custDataLst>
              <p:tags r:id="rId5"/>
            </p:custDataLst>
          </p:nvPr>
        </p:nvCxnSpPr>
        <p:spPr>
          <a:xfrm flipH="1">
            <a:off x="1959610" y="5080000"/>
            <a:ext cx="1235710" cy="6350"/>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sp>
        <p:nvSpPr>
          <p:cNvPr id="14" name="MH_Other_10"/>
          <p:cNvSpPr/>
          <p:nvPr>
            <p:custDataLst>
              <p:tags r:id="rId6"/>
            </p:custDataLst>
          </p:nvPr>
        </p:nvSpPr>
        <p:spPr>
          <a:xfrm flipH="1">
            <a:off x="1885315" y="2825750"/>
            <a:ext cx="1064895" cy="2260600"/>
          </a:xfrm>
          <a:custGeom>
            <a:avLst/>
            <a:gdLst>
              <a:gd name="connsiteX0" fmla="*/ 1656184 w 1779897"/>
              <a:gd name="connsiteY0" fmla="*/ 0 h 5164353"/>
              <a:gd name="connsiteX1" fmla="*/ 1656184 w 1779897"/>
              <a:gd name="connsiteY1" fmla="*/ 5164353 h 5164353"/>
              <a:gd name="connsiteX2" fmla="*/ 0 w 1779897"/>
              <a:gd name="connsiteY2" fmla="*/ 2582176 h 5164353"/>
              <a:gd name="connsiteX3" fmla="*/ 1779897 w 1779897"/>
              <a:gd name="connsiteY3" fmla="*/ 123713 h 5164353"/>
              <a:gd name="connsiteX0-1" fmla="*/ 1656184 w 1779897"/>
              <a:gd name="connsiteY0-2" fmla="*/ 5040640 h 5040640"/>
              <a:gd name="connsiteX1-3" fmla="*/ 0 w 1779897"/>
              <a:gd name="connsiteY1-4" fmla="*/ 2458463 h 5040640"/>
              <a:gd name="connsiteX2-5" fmla="*/ 1779897 w 1779897"/>
              <a:gd name="connsiteY2-6" fmla="*/ 0 h 5040640"/>
            </a:gdLst>
            <a:ahLst/>
            <a:cxnLst>
              <a:cxn ang="0">
                <a:pos x="connsiteX0-1" y="connsiteY0-2"/>
              </a:cxn>
              <a:cxn ang="0">
                <a:pos x="connsiteX1-3" y="connsiteY1-4"/>
              </a:cxn>
              <a:cxn ang="0">
                <a:pos x="connsiteX2-5" y="connsiteY2-6"/>
              </a:cxn>
            </a:cxnLst>
            <a:rect l="l" t="t" r="r" b="b"/>
            <a:pathLst>
              <a:path w="1779897" h="5040640">
                <a:moveTo>
                  <a:pt x="1656184" y="5040640"/>
                </a:moveTo>
                <a:cubicBezTo>
                  <a:pt x="672218" y="4560603"/>
                  <a:pt x="0" y="3584328"/>
                  <a:pt x="0" y="2458463"/>
                </a:cubicBezTo>
                <a:cubicBezTo>
                  <a:pt x="0" y="1332599"/>
                  <a:pt x="672218" y="356323"/>
                  <a:pt x="1779897" y="0"/>
                </a:cubicBezTo>
              </a:path>
            </a:pathLst>
          </a:custGeom>
          <a:noFill/>
          <a:ln w="76200" cmpd="sng">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latin typeface="微软雅黑" panose="020B0503020204020204" charset="-122"/>
              <a:ea typeface="微软雅黑" panose="020B0503020204020204" charset="-122"/>
            </a:endParaRPr>
          </a:p>
        </p:txBody>
      </p:sp>
      <p:sp>
        <p:nvSpPr>
          <p:cNvPr id="15" name="MH_Text_2"/>
          <p:cNvSpPr/>
          <p:nvPr>
            <p:custDataLst>
              <p:tags r:id="rId7"/>
            </p:custDataLst>
          </p:nvPr>
        </p:nvSpPr>
        <p:spPr>
          <a:xfrm rot="25868" flipH="1">
            <a:off x="3148330" y="2514600"/>
            <a:ext cx="1463040" cy="567055"/>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部署视图</a:t>
            </a:r>
          </a:p>
        </p:txBody>
      </p:sp>
      <p:sp>
        <p:nvSpPr>
          <p:cNvPr id="16" name="MH_Text_4"/>
          <p:cNvSpPr/>
          <p:nvPr>
            <p:custDataLst>
              <p:tags r:id="rId8"/>
            </p:custDataLst>
          </p:nvPr>
        </p:nvSpPr>
        <p:spPr>
          <a:xfrm rot="25868" flipH="1">
            <a:off x="3434080" y="3231515"/>
            <a:ext cx="1534795" cy="567055"/>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状态视图</a:t>
            </a:r>
          </a:p>
        </p:txBody>
      </p:sp>
      <p:sp>
        <p:nvSpPr>
          <p:cNvPr id="17" name="MH_Text_6"/>
          <p:cNvSpPr/>
          <p:nvPr>
            <p:custDataLst>
              <p:tags r:id="rId9"/>
            </p:custDataLst>
          </p:nvPr>
        </p:nvSpPr>
        <p:spPr>
          <a:xfrm rot="25868" flipH="1">
            <a:off x="3465195" y="4044315"/>
            <a:ext cx="1504315" cy="567055"/>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活动视图</a:t>
            </a:r>
          </a:p>
        </p:txBody>
      </p:sp>
      <p:sp>
        <p:nvSpPr>
          <p:cNvPr id="18" name="MH_Text_8"/>
          <p:cNvSpPr/>
          <p:nvPr>
            <p:custDataLst>
              <p:tags r:id="rId10"/>
            </p:custDataLst>
          </p:nvPr>
        </p:nvSpPr>
        <p:spPr>
          <a:xfrm rot="25868" flipH="1">
            <a:off x="3195320" y="4801235"/>
            <a:ext cx="1416685" cy="567055"/>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交互视图</a:t>
            </a:r>
          </a:p>
        </p:txBody>
      </p:sp>
      <p:sp>
        <p:nvSpPr>
          <p:cNvPr id="22" name="MH_Text_2"/>
          <p:cNvSpPr>
            <a:spLocks noChangeArrowheads="1"/>
          </p:cNvSpPr>
          <p:nvPr>
            <p:custDataLst>
              <p:tags r:id="rId11"/>
            </p:custDataLst>
          </p:nvPr>
        </p:nvSpPr>
        <p:spPr bwMode="auto">
          <a:xfrm>
            <a:off x="4992000" y="2572294"/>
            <a:ext cx="7200000" cy="41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sp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sz="1600" dirty="0">
                <a:ea typeface="微软雅黑" panose="020B0503020204020204" pitchFamily="34" charset="-122"/>
              </a:rPr>
              <a:t>由部署图组成，主要概念为结点、构件、依赖关系、位置。</a:t>
            </a:r>
          </a:p>
        </p:txBody>
      </p:sp>
      <p:sp>
        <p:nvSpPr>
          <p:cNvPr id="23" name="MH_Text_2"/>
          <p:cNvSpPr>
            <a:spLocks noChangeArrowheads="1"/>
          </p:cNvSpPr>
          <p:nvPr>
            <p:custDataLst>
              <p:tags r:id="rId12"/>
            </p:custDataLst>
          </p:nvPr>
        </p:nvSpPr>
        <p:spPr bwMode="auto">
          <a:xfrm>
            <a:off x="4992000" y="3317149"/>
            <a:ext cx="7200000" cy="41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sp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sz="1600" dirty="0">
                <a:ea typeface="微软雅黑" panose="020B0503020204020204" pitchFamily="34" charset="-122"/>
              </a:rPr>
              <a:t>由状态图组成，主要概念为状态、事件、转换、动作。</a:t>
            </a:r>
          </a:p>
        </p:txBody>
      </p:sp>
      <p:sp>
        <p:nvSpPr>
          <p:cNvPr id="24" name="MH_Text_2"/>
          <p:cNvSpPr>
            <a:spLocks noChangeArrowheads="1"/>
          </p:cNvSpPr>
          <p:nvPr>
            <p:custDataLst>
              <p:tags r:id="rId13"/>
            </p:custDataLst>
          </p:nvPr>
        </p:nvSpPr>
        <p:spPr bwMode="auto">
          <a:xfrm>
            <a:off x="4992000" y="4051844"/>
            <a:ext cx="7200000" cy="41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sp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sz="1600" dirty="0">
                <a:ea typeface="微软雅黑" panose="020B0503020204020204" pitchFamily="34" charset="-122"/>
              </a:rPr>
              <a:t>由活动图组成，主要概念为状态、活动、转换、分叉、结合。</a:t>
            </a:r>
          </a:p>
        </p:txBody>
      </p:sp>
      <p:sp>
        <p:nvSpPr>
          <p:cNvPr id="25" name="MH_Text_2"/>
          <p:cNvSpPr>
            <a:spLocks noChangeArrowheads="1"/>
          </p:cNvSpPr>
          <p:nvPr>
            <p:custDataLst>
              <p:tags r:id="rId14"/>
            </p:custDataLst>
          </p:nvPr>
        </p:nvSpPr>
        <p:spPr bwMode="auto">
          <a:xfrm>
            <a:off x="4992000" y="4809399"/>
            <a:ext cx="7200000" cy="41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sp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sz="1600" dirty="0">
                <a:ea typeface="微软雅黑" panose="020B0503020204020204" pitchFamily="34" charset="-122"/>
              </a:rPr>
              <a:t>由顺序图、协作图构成，主要概念为交互、对象、消息、激活、协作、角色。</a:t>
            </a:r>
          </a:p>
        </p:txBody>
      </p:sp>
    </p:spTree>
  </p:cSld>
  <p:clrMapOvr>
    <a:masterClrMapping/>
  </p:clrMapOvr>
  <p:transition>
    <p:strips dir="ru"/>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1" descr="白板11"/>
          <p:cNvPicPr>
            <a:picLocks noGrp="1" noChangeAspect="1"/>
          </p:cNvPicPr>
          <p:nvPr/>
        </p:nvPicPr>
        <p:blipFill>
          <a:blip r:embed="rId2" cstate="print"/>
          <a:srcRect r="5298"/>
          <a:stretch>
            <a:fillRect/>
          </a:stretch>
        </p:blipFill>
        <p:spPr>
          <a:xfrm>
            <a:off x="1880235" y="928048"/>
            <a:ext cx="9160496" cy="5053652"/>
          </a:xfrm>
          <a:prstGeom prst="rect">
            <a:avLst/>
          </a:prstGeom>
          <a:noFill/>
          <a:ln w="9525">
            <a:noFill/>
          </a:ln>
        </p:spPr>
      </p:pic>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5" name="文本占位符 4">
            <a:extLst>
              <a:ext uri="{FF2B5EF4-FFF2-40B4-BE49-F238E27FC236}">
                <a16:creationId xmlns:a16="http://schemas.microsoft.com/office/drawing/2014/main" id="{5677C776-C6FB-F5E2-016C-35CDD1F12359}"/>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smtClean="0">
                <a:sym typeface="+mn-ea"/>
              </a:rPr>
              <a:t>视图</a:t>
            </a:r>
            <a:r>
              <a:rPr lang="en-US" altLang="zh-CN" dirty="0" smtClean="0">
                <a:sym typeface="+mn-ea"/>
              </a:rPr>
              <a:t>-</a:t>
            </a:r>
            <a:r>
              <a:rPr lang="zh-CN" altLang="en-US" dirty="0" smtClean="0">
                <a:sym typeface="+mn-ea"/>
              </a:rPr>
              <a:t>模型管理</a:t>
            </a:r>
            <a:endParaRPr lang="zh-CN" altLang="en-US" dirty="0"/>
          </a:p>
        </p:txBody>
      </p:sp>
      <p:sp>
        <p:nvSpPr>
          <p:cNvPr id="2" name="文本框 1"/>
          <p:cNvSpPr txBox="1"/>
          <p:nvPr/>
        </p:nvSpPr>
        <p:spPr>
          <a:xfrm>
            <a:off x="3054339" y="3070747"/>
            <a:ext cx="5220000" cy="1138838"/>
          </a:xfrm>
          <a:prstGeom prst="rect">
            <a:avLst/>
          </a:prstGeom>
          <a:noFill/>
        </p:spPr>
        <p:txBody>
          <a:bodyPr wrap="square" rtlCol="0" anchor="t">
            <a:spAutoFit/>
          </a:bodyPr>
          <a:lstStyle/>
          <a:p>
            <a:pPr indent="457200" fontAlgn="auto">
              <a:lnSpc>
                <a:spcPct val="125000"/>
              </a:lnSpc>
            </a:pPr>
            <a:r>
              <a:rPr lang="zh-CN" altLang="en-US" dirty="0" smtClean="0"/>
              <a:t>模型</a:t>
            </a:r>
            <a:r>
              <a:rPr lang="zh-CN" altLang="en-US" dirty="0"/>
              <a:t>管理说明了模型的分层组织结构。模型管理视图根据系统开发和部署组织视图，主要概念为包、子系统、模型。</a:t>
            </a:r>
            <a:endParaRPr lang="zh-CN" altLang="en-US" dirty="0"/>
          </a:p>
        </p:txBody>
      </p:sp>
    </p:spTree>
  </p:cSld>
  <p:clrMapOvr>
    <a:masterClrMapping/>
  </p:clrMapOvr>
  <p:transition>
    <p:strips dir="ru"/>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9" name="文本占位符 8">
            <a:extLst>
              <a:ext uri="{FF2B5EF4-FFF2-40B4-BE49-F238E27FC236}">
                <a16:creationId xmlns:a16="http://schemas.microsoft.com/office/drawing/2014/main" id="{E6A1A567-71B5-54C5-4FF6-86F253EF6ECD}"/>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aphicFrame>
        <p:nvGraphicFramePr>
          <p:cNvPr id="2" name="表格 1"/>
          <p:cNvGraphicFramePr/>
          <p:nvPr>
            <p:extLst>
              <p:ext uri="{D42A27DB-BD31-4B8C-83A1-F6EECF244321}">
                <p14:modId xmlns:p14="http://schemas.microsoft.com/office/powerpoint/2010/main" val="1636204971"/>
              </p:ext>
            </p:extLst>
          </p:nvPr>
        </p:nvGraphicFramePr>
        <p:xfrm>
          <a:off x="1337628" y="2417668"/>
          <a:ext cx="9516745" cy="3561715"/>
        </p:xfrm>
        <a:graphic>
          <a:graphicData uri="http://schemas.openxmlformats.org/drawingml/2006/table">
            <a:tbl>
              <a:tblPr firstRow="1" bandRow="1">
                <a:tableStyleId>{5940675A-B579-460E-94D1-54222C63F5DA}</a:tableStyleId>
              </a:tblPr>
              <a:tblGrid>
                <a:gridCol w="131445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447165">
                  <a:extLst>
                    <a:ext uri="{9D8B030D-6E8A-4147-A177-3AD203B41FA5}">
                      <a16:colId xmlns:a16="http://schemas.microsoft.com/office/drawing/2014/main" val="20002"/>
                    </a:ext>
                  </a:extLst>
                </a:gridCol>
                <a:gridCol w="5017770">
                  <a:extLst>
                    <a:ext uri="{9D8B030D-6E8A-4147-A177-3AD203B41FA5}">
                      <a16:colId xmlns:a16="http://schemas.microsoft.com/office/drawing/2014/main" val="20003"/>
                    </a:ext>
                  </a:extLst>
                </a:gridCol>
              </a:tblGrid>
              <a:tr h="323850">
                <a:tc>
                  <a:txBody>
                    <a:bodyPr/>
                    <a:lstStyle/>
                    <a:p>
                      <a:pPr marL="0" indent="0" algn="ctr">
                        <a:buNone/>
                      </a:pPr>
                      <a:r>
                        <a:rPr lang="zh-CN" altLang="en-US" sz="1600" dirty="0"/>
                        <a:t>视图域</a:t>
                      </a:r>
                    </a:p>
                  </a:txBody>
                  <a:tcPr marL="36000" marR="36000" marT="36000" marB="36000"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视图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主 要 概 念</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3850">
                <a:tc rowSpan="3">
                  <a:txBody>
                    <a:bodyPr/>
                    <a:lstStyle/>
                    <a:p>
                      <a:pPr marL="0" indent="0" algn="ctr">
                        <a:buNone/>
                      </a:pPr>
                      <a:r>
                        <a:rPr lang="zh-CN" altLang="en-US" sz="1600" dirty="0"/>
                        <a:t>结构分类</a:t>
                      </a:r>
                    </a:p>
                  </a:txBody>
                  <a:tcPr marL="36000" marR="36000" marT="36000" marB="36000"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静态视图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类图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dirty="0"/>
                        <a:t>类、关联、泛化、依赖关系、实现、接口</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3850">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marL="0" indent="0" algn="ctr">
                        <a:buNone/>
                      </a:pPr>
                      <a:r>
                        <a:rPr lang="zh-CN" altLang="en-US" sz="1600" dirty="0"/>
                        <a:t>用例视图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用例图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dirty="0"/>
                        <a:t>用例、执行者、关联、扩展、包含、用例继承</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6350" cap="flat" cmpd="sng">
                      <a:solidFill>
                        <a:srgbClr val="080000"/>
                      </a:solidFill>
                      <a:prstDash val="solid"/>
                      <a:headEnd type="none" w="med" len="med"/>
                      <a:tailEnd type="none" w="med" len="med"/>
                    </a:lnB>
                  </a:tcPr>
                </a:tc>
                <a:tc>
                  <a:txBody>
                    <a:bodyPr/>
                    <a:lstStyle/>
                    <a:p>
                      <a:pPr marL="0" indent="0" algn="ctr">
                        <a:buNone/>
                      </a:pPr>
                      <a:r>
                        <a:rPr lang="zh-CN" altLang="en-US" sz="1600" dirty="0"/>
                        <a:t>实现视图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构件图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dirty="0"/>
                        <a:t>构件、接口、依赖关系、实现</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rowSpan="5">
                  <a:txBody>
                    <a:bodyPr/>
                    <a:lstStyle/>
                    <a:p>
                      <a:pPr marL="0" indent="0" algn="ctr">
                        <a:buNone/>
                      </a:pPr>
                      <a:r>
                        <a:rPr lang="zh-CN" altLang="en-US" sz="1600" dirty="0"/>
                        <a:t>动态行为</a:t>
                      </a:r>
                    </a:p>
                  </a:txBody>
                  <a:tcPr marL="36000" marR="36000" marT="36000" marB="36000"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部署视图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部署图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dirty="0"/>
                        <a:t>结点、构件、依赖关系、位置。</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215">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marL="0" indent="0" algn="ctr">
                        <a:buNone/>
                      </a:pPr>
                      <a:r>
                        <a:rPr lang="zh-CN" altLang="en-US" sz="1600" dirty="0"/>
                        <a:t>状态视图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状态图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dirty="0"/>
                        <a:t>状态、事件、转换、动作</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marL="0" indent="0" algn="ctr">
                        <a:buNone/>
                      </a:pPr>
                      <a:r>
                        <a:rPr lang="zh-CN" altLang="en-US" sz="1600" dirty="0"/>
                        <a:t>活动视图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活动图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dirty="0"/>
                        <a:t>状态、活动、转换、分叉、连接</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tcPr>
                </a:tc>
                <a:tc rowSpan="2">
                  <a:txBody>
                    <a:bodyPr/>
                    <a:lstStyle/>
                    <a:p>
                      <a:pPr marL="0" indent="0" algn="ctr">
                        <a:buNone/>
                      </a:pPr>
                      <a:r>
                        <a:rPr lang="zh-CN" altLang="en-US" sz="1600" dirty="0"/>
                        <a:t>交互视图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顺序图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dirty="0"/>
                        <a:t>交互、对象、消息、激活</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vMerge="1">
                  <a:txBody>
                    <a:bodyPr/>
                    <a:lstStyle/>
                    <a:p>
                      <a:endParaRPr lang="zh-CN"/>
                    </a:p>
                  </a:txBody>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marL="0" indent="0" algn="ctr">
                        <a:buNone/>
                      </a:pPr>
                      <a:r>
                        <a:rPr lang="zh-CN" altLang="en-US" sz="1600" dirty="0"/>
                        <a:t>协作图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dirty="0"/>
                        <a:t>协作、交互、角色、消息</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p>
                      <a:pPr marL="0" indent="0" algn="ctr">
                        <a:buNone/>
                      </a:pPr>
                      <a:r>
                        <a:rPr lang="zh-CN" altLang="en-US" sz="1600" dirty="0"/>
                        <a:t>模型管理</a:t>
                      </a:r>
                    </a:p>
                  </a:txBody>
                  <a:tcPr marL="36000" marR="36000" marT="36000" marB="36000"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模型管理视图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类图</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dirty="0"/>
                        <a:t>包、子系统、模型。</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p>
                      <a:pPr marL="0" indent="0" algn="ctr">
                        <a:buNone/>
                      </a:pPr>
                      <a:r>
                        <a:rPr lang="zh-CN" altLang="en-US" sz="1600" dirty="0"/>
                        <a:t>可扩展性</a:t>
                      </a:r>
                    </a:p>
                  </a:txBody>
                  <a:tcPr marL="36000" marR="36000" marT="36000" marB="36000"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所有</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dirty="0"/>
                        <a:t>所有</a:t>
                      </a:r>
                    </a:p>
                  </a:txBody>
                  <a:tcPr marL="36000" marR="36000" marT="36000" marB="3600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dirty="0"/>
                        <a:t>约束、版型、标签值</a:t>
                      </a:r>
                    </a:p>
                  </a:txBody>
                  <a:tcPr marL="36000" marR="36000" marT="36000" marB="36000"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0" name="圆角矩形"/>
          <p:cNvSpPr/>
          <p:nvPr/>
        </p:nvSpPr>
        <p:spPr>
          <a:xfrm>
            <a:off x="7677785" y="793352"/>
            <a:ext cx="3996000" cy="91503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algn="just" eaLnBrk="1"/>
            <a:r>
              <a:rPr lang="en-US" altLang="zh-CN" sz="1400" dirty="0" smtClean="0">
                <a:solidFill>
                  <a:schemeClr val="tx1"/>
                </a:solidFill>
              </a:rPr>
              <a:t>UML</a:t>
            </a:r>
            <a:r>
              <a:rPr lang="zh-CN" altLang="en-US" sz="1400" dirty="0">
                <a:solidFill>
                  <a:schemeClr val="tx1"/>
                </a:solidFill>
              </a:rPr>
              <a:t>所有的视图和所有的图都具有可扩展性，扩展机制是用约束、版型、标签值来实现的。下表列出了</a:t>
            </a:r>
            <a:r>
              <a:rPr lang="en-US" altLang="zh-CN" sz="1400" dirty="0">
                <a:solidFill>
                  <a:schemeClr val="tx1"/>
                </a:solidFill>
              </a:rPr>
              <a:t>UML</a:t>
            </a:r>
            <a:r>
              <a:rPr lang="zh-CN" altLang="en-US" sz="1400" dirty="0">
                <a:solidFill>
                  <a:schemeClr val="tx1"/>
                </a:solidFill>
              </a:rPr>
              <a:t>的视图、图以及与图有关的主要概念。</a:t>
            </a:r>
            <a:endParaRPr lang="zh-CN" altLang="en-US" sz="1400" dirty="0">
              <a:solidFill>
                <a:schemeClr val="tx1"/>
              </a:solidFill>
            </a:endParaRPr>
          </a:p>
        </p:txBody>
      </p:sp>
      <p:sp>
        <p:nvSpPr>
          <p:cNvPr id="11" name="学士帽"/>
          <p:cNvSpPr/>
          <p:nvPr/>
        </p:nvSpPr>
        <p:spPr bwMode="auto">
          <a:xfrm>
            <a:off x="7471410" y="542527"/>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Tree>
  </p:cSld>
  <p:clrMapOvr>
    <a:masterClrMapping/>
  </p:clrMapOvr>
  <p:transition>
    <p:strips dir="ru"/>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E938D35A-5523-E408-0726-9C32DAA834BB}"/>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11" name="MH_SubTitle_1"/>
          <p:cNvSpPr txBox="1">
            <a:spLocks noChangeArrowheads="1"/>
          </p:cNvSpPr>
          <p:nvPr/>
        </p:nvSpPr>
        <p:spPr bwMode="auto">
          <a:xfrm>
            <a:off x="2678406" y="2703741"/>
            <a:ext cx="8685530" cy="2123658"/>
          </a:xfrm>
          <a:prstGeom prst="rect">
            <a:avLst/>
          </a:prstGeom>
          <a:noFill/>
          <a:ln w="9525">
            <a:noFill/>
            <a:miter lim="800000"/>
          </a:ln>
        </p:spPr>
        <p:txBody>
          <a:bodyPr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20000"/>
              </a:lnSpc>
            </a:pPr>
            <a:r>
              <a:rPr lang="zh-CN" altLang="en-US" sz="2000" b="1" dirty="0">
                <a:solidFill>
                  <a:srgbClr val="00B0F0"/>
                </a:solidFill>
              </a:rPr>
              <a:t>用例视图</a:t>
            </a:r>
          </a:p>
          <a:p>
            <a:pPr indent="457200" fontAlgn="auto">
              <a:lnSpc>
                <a:spcPct val="120000"/>
              </a:lnSpc>
            </a:pPr>
            <a:r>
              <a:rPr dirty="0"/>
              <a:t>用例视图展示了外部执行者所观察到的系统功能。用例视图为客户、分析员、设计者、编程者和测试者描述了系统的使用方法。用例视图是中心，它的内容决定了其他视图的开发。用户根据用例视图来确认系统是否符合他的需求，开发者根据用例视图设计、测试系统功能。用例视图有助于用户、系统分析员、开发人员和测试人员的交流。</a:t>
            </a:r>
          </a:p>
        </p:txBody>
      </p:sp>
      <p:sp>
        <p:nvSpPr>
          <p:cNvPr id="16" name="MH_SubTitle_1"/>
          <p:cNvSpPr txBox="1">
            <a:spLocks noChangeArrowheads="1"/>
          </p:cNvSpPr>
          <p:nvPr/>
        </p:nvSpPr>
        <p:spPr bwMode="auto">
          <a:xfrm>
            <a:off x="2678406" y="4959276"/>
            <a:ext cx="8655050" cy="1466215"/>
          </a:xfrm>
          <a:prstGeom prst="rect">
            <a:avLst/>
          </a:prstGeom>
          <a:noFill/>
          <a:ln w="9525">
            <a:noFill/>
            <a:miter lim="800000"/>
          </a:ln>
        </p:spPr>
        <p:txBody>
          <a:bodyPr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20000"/>
              </a:lnSpc>
            </a:pPr>
            <a:r>
              <a:rPr lang="zh-CN" altLang="en-US" sz="2000" b="1" dirty="0">
                <a:solidFill>
                  <a:srgbClr val="00B0F0"/>
                </a:solidFill>
              </a:rPr>
              <a:t>逻辑视图</a:t>
            </a:r>
          </a:p>
          <a:p>
            <a:pPr indent="457200" fontAlgn="auto">
              <a:lnSpc>
                <a:spcPct val="120000"/>
              </a:lnSpc>
            </a:pPr>
            <a:r>
              <a:rPr dirty="0"/>
              <a:t>逻辑视图表示系统中含有的类之间的逻辑关系，描述系统内部是如何提供系统功能的。逻辑视图是为分析者、设计者和编程者提供的。逻辑视图用类图和对象图描述系统的静态结构；用状态图、顺序图、协作图和活动图描述系统的动态行为。</a:t>
            </a:r>
          </a:p>
        </p:txBody>
      </p:sp>
      <p:sp>
        <p:nvSpPr>
          <p:cNvPr id="18" name="文本框 8"/>
          <p:cNvSpPr txBox="1"/>
          <p:nvPr/>
        </p:nvSpPr>
        <p:spPr>
          <a:xfrm>
            <a:off x="986155" y="2060788"/>
            <a:ext cx="9468030" cy="400110"/>
          </a:xfrm>
          <a:prstGeom prst="rect">
            <a:avLst/>
          </a:prstGeom>
          <a:noFill/>
        </p:spPr>
        <p:txBody>
          <a:bodyPr wrap="square" rtlCol="0" anchor="t">
            <a:spAutoFit/>
          </a:bodyPr>
          <a:lstStyle/>
          <a:p>
            <a:pPr marL="285750" indent="-285750"/>
            <a:r>
              <a:rPr lang="zh-CN" altLang="en-US" sz="2000" b="1" dirty="0"/>
              <a:t>下列</a:t>
            </a:r>
            <a:r>
              <a:rPr lang="en-US" sz="2000" b="1" dirty="0"/>
              <a:t>5</a:t>
            </a:r>
            <a:r>
              <a:rPr lang="zh-CN" altLang="en-US" sz="2000" b="1" dirty="0"/>
              <a:t>种</a:t>
            </a:r>
            <a:r>
              <a:rPr lang="en-US" sz="2000" b="1" dirty="0"/>
              <a:t>UML</a:t>
            </a:r>
            <a:r>
              <a:rPr lang="zh-CN" altLang="en-US" sz="2000" b="1" dirty="0"/>
              <a:t>视图是较常用的，可用来观察系统</a:t>
            </a:r>
            <a:r>
              <a:rPr lang="zh-CN" altLang="en-US" sz="2000" b="1" dirty="0" smtClean="0"/>
              <a:t>。</a:t>
            </a:r>
            <a:endParaRPr lang="zh-CN" altLang="en-US" sz="2000" b="1" dirty="0"/>
          </a:p>
        </p:txBody>
      </p:sp>
      <p:grpSp>
        <p:nvGrpSpPr>
          <p:cNvPr id="24" name="组合 23"/>
          <p:cNvGrpSpPr/>
          <p:nvPr/>
        </p:nvGrpSpPr>
        <p:grpSpPr>
          <a:xfrm>
            <a:off x="1336073" y="2703741"/>
            <a:ext cx="1071523" cy="1061720"/>
            <a:chOff x="879066" y="2421592"/>
            <a:chExt cx="1071523" cy="1061720"/>
          </a:xfrm>
        </p:grpSpPr>
        <p:sp>
          <p:nvSpPr>
            <p:cNvPr id="10" name="MH_Other_2"/>
            <p:cNvSpPr/>
            <p:nvPr/>
          </p:nvSpPr>
          <p:spPr>
            <a:xfrm>
              <a:off x="1215894" y="3159462"/>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微软雅黑" panose="020B0503020204020204" pitchFamily="34" charset="-122"/>
                <a:ea typeface="微软雅黑" panose="020B0503020204020204" charset="-122"/>
              </a:endParaRPr>
            </a:p>
          </p:txBody>
        </p:sp>
        <p:sp>
          <p:nvSpPr>
            <p:cNvPr id="12" name="MH_Other_3"/>
            <p:cNvSpPr txBox="1">
              <a:spLocks noChangeArrowheads="1"/>
            </p:cNvSpPr>
            <p:nvPr/>
          </p:nvSpPr>
          <p:spPr bwMode="auto">
            <a:xfrm>
              <a:off x="1191764" y="2421592"/>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微软雅黑" panose="020B0503020204020204" pitchFamily="34" charset="-122"/>
                  <a:ea typeface="微软雅黑" panose="020B0503020204020204" charset="-122"/>
                </a:rPr>
                <a:t>1</a:t>
              </a:r>
            </a:p>
          </p:txBody>
        </p:sp>
        <p:cxnSp>
          <p:nvCxnSpPr>
            <p:cNvPr id="6" name="直接连接符 5"/>
            <p:cNvCxnSpPr/>
            <p:nvPr/>
          </p:nvCxnSpPr>
          <p:spPr>
            <a:xfrm rot="-2760000">
              <a:off x="1244688" y="2931974"/>
              <a:ext cx="0" cy="731243"/>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1336073" y="4959276"/>
            <a:ext cx="1071523" cy="1061720"/>
            <a:chOff x="879066" y="2421592"/>
            <a:chExt cx="1071523" cy="1061720"/>
          </a:xfrm>
        </p:grpSpPr>
        <p:sp>
          <p:nvSpPr>
            <p:cNvPr id="26" name="MH_Other_2"/>
            <p:cNvSpPr/>
            <p:nvPr/>
          </p:nvSpPr>
          <p:spPr>
            <a:xfrm>
              <a:off x="1215894" y="3159462"/>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微软雅黑" panose="020B0503020204020204" pitchFamily="34" charset="-122"/>
                <a:ea typeface="微软雅黑" panose="020B0503020204020204" charset="-122"/>
              </a:endParaRPr>
            </a:p>
          </p:txBody>
        </p:sp>
        <p:sp>
          <p:nvSpPr>
            <p:cNvPr id="27" name="MH_Other_3"/>
            <p:cNvSpPr txBox="1">
              <a:spLocks noChangeArrowheads="1"/>
            </p:cNvSpPr>
            <p:nvPr/>
          </p:nvSpPr>
          <p:spPr bwMode="auto">
            <a:xfrm>
              <a:off x="1191764" y="2421592"/>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dirty="0" smtClean="0">
                  <a:solidFill>
                    <a:srgbClr val="00A8E7"/>
                  </a:solidFill>
                  <a:latin typeface="微软雅黑" panose="020B0503020204020204" pitchFamily="34" charset="-122"/>
                  <a:ea typeface="微软雅黑" panose="020B0503020204020204" charset="-122"/>
                </a:rPr>
                <a:t>2</a:t>
              </a:r>
              <a:endParaRPr lang="en-US" sz="3600" b="1" dirty="0">
                <a:solidFill>
                  <a:srgbClr val="00A8E7"/>
                </a:solidFill>
                <a:latin typeface="微软雅黑" panose="020B0503020204020204" pitchFamily="34" charset="-122"/>
                <a:ea typeface="微软雅黑" panose="020B0503020204020204" charset="-122"/>
              </a:endParaRPr>
            </a:p>
          </p:txBody>
        </p:sp>
        <p:cxnSp>
          <p:nvCxnSpPr>
            <p:cNvPr id="28" name="直接连接符 27"/>
            <p:cNvCxnSpPr/>
            <p:nvPr/>
          </p:nvCxnSpPr>
          <p:spPr>
            <a:xfrm rot="-2760000">
              <a:off x="1244688" y="2931974"/>
              <a:ext cx="0" cy="731243"/>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strips dir="ru"/>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altLang="en-US" dirty="0">
                <a:sym typeface="+mn-ea"/>
              </a:rPr>
              <a:t>6.4 UML</a:t>
            </a:r>
            <a:r>
              <a:rPr lang="zh-CN" altLang="en-US" dirty="0">
                <a:sym typeface="+mn-ea"/>
              </a:rPr>
              <a:t>的应用</a:t>
            </a:r>
            <a:endParaRPr lang="zh-CN" altLang="en-US" dirty="0"/>
          </a:p>
        </p:txBody>
      </p:sp>
      <p:sp>
        <p:nvSpPr>
          <p:cNvPr id="4" name="文本占位符 3">
            <a:extLst>
              <a:ext uri="{FF2B5EF4-FFF2-40B4-BE49-F238E27FC236}">
                <a16:creationId xmlns:a16="http://schemas.microsoft.com/office/drawing/2014/main" id="{7FE89266-A015-0C13-614B-023D7CBE9F24}"/>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11" name="MH_SubTitle_1"/>
          <p:cNvSpPr txBox="1">
            <a:spLocks noChangeArrowheads="1"/>
          </p:cNvSpPr>
          <p:nvPr/>
        </p:nvSpPr>
        <p:spPr bwMode="auto">
          <a:xfrm>
            <a:off x="2678400" y="2703741"/>
            <a:ext cx="8686800" cy="1791260"/>
          </a:xfrm>
          <a:prstGeom prst="rect">
            <a:avLst/>
          </a:prstGeom>
          <a:noFill/>
          <a:ln w="9525">
            <a:noFill/>
            <a:miter lim="800000"/>
          </a:ln>
        </p:spPr>
        <p:txBody>
          <a:bodyPr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20000"/>
              </a:lnSpc>
            </a:pPr>
            <a:r>
              <a:rPr lang="zh-CN" altLang="en-US" sz="2000" b="1" dirty="0">
                <a:solidFill>
                  <a:srgbClr val="00B0F0"/>
                </a:solidFill>
              </a:rPr>
              <a:t>并发视图</a:t>
            </a:r>
          </a:p>
          <a:p>
            <a:pPr indent="457200" fontAlgn="auto">
              <a:lnSpc>
                <a:spcPct val="120000"/>
              </a:lnSpc>
            </a:pPr>
            <a:r>
              <a:rPr dirty="0"/>
              <a:t>并发视图描述了系统的并发性。它将系统分割成并发执行的控制线程，还处理这些线程的通信和同步。例如，哪些事情将会同时发生，哪些事情必须保持同步。建立并发视图有助于系统开发者和系统集成者之间的交流。并发视图用状态图、顺序图、协作图、活动图、构件图和部署图来描述。</a:t>
            </a:r>
          </a:p>
        </p:txBody>
      </p:sp>
      <p:sp>
        <p:nvSpPr>
          <p:cNvPr id="16" name="MH_SubTitle_1"/>
          <p:cNvSpPr txBox="1">
            <a:spLocks noChangeArrowheads="1"/>
          </p:cNvSpPr>
          <p:nvPr/>
        </p:nvSpPr>
        <p:spPr bwMode="auto">
          <a:xfrm>
            <a:off x="2678400" y="4959276"/>
            <a:ext cx="8686800" cy="1126462"/>
          </a:xfrm>
          <a:prstGeom prst="rect">
            <a:avLst/>
          </a:prstGeom>
          <a:noFill/>
          <a:ln w="9525">
            <a:noFill/>
            <a:miter lim="800000"/>
          </a:ln>
        </p:spPr>
        <p:txBody>
          <a:bodyPr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20000"/>
              </a:lnSpc>
            </a:pPr>
            <a:r>
              <a:rPr lang="zh-CN" altLang="en-US" sz="2000" b="1" dirty="0">
                <a:solidFill>
                  <a:srgbClr val="00B0F0"/>
                </a:solidFill>
              </a:rPr>
              <a:t>构件视图</a:t>
            </a:r>
          </a:p>
          <a:p>
            <a:pPr indent="457200" fontAlgn="auto">
              <a:lnSpc>
                <a:spcPct val="120000"/>
              </a:lnSpc>
            </a:pPr>
            <a:r>
              <a:rPr dirty="0"/>
              <a:t>构件视图展示了代码构件的组织结构，描述了模块和模块之间的依赖关系。构件视图是针对开发者的，用构件图来描述。</a:t>
            </a:r>
          </a:p>
        </p:txBody>
      </p:sp>
      <p:grpSp>
        <p:nvGrpSpPr>
          <p:cNvPr id="18" name="组合 17"/>
          <p:cNvGrpSpPr/>
          <p:nvPr/>
        </p:nvGrpSpPr>
        <p:grpSpPr>
          <a:xfrm>
            <a:off x="1336073" y="2703741"/>
            <a:ext cx="1071523" cy="1061720"/>
            <a:chOff x="879066" y="2421592"/>
            <a:chExt cx="1071523" cy="1061720"/>
          </a:xfrm>
        </p:grpSpPr>
        <p:sp>
          <p:nvSpPr>
            <p:cNvPr id="19" name="MH_Other_2"/>
            <p:cNvSpPr/>
            <p:nvPr/>
          </p:nvSpPr>
          <p:spPr>
            <a:xfrm>
              <a:off x="1215894" y="3159462"/>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微软雅黑" panose="020B0503020204020204" pitchFamily="34" charset="-122"/>
                <a:ea typeface="微软雅黑" panose="020B0503020204020204" charset="-122"/>
              </a:endParaRPr>
            </a:p>
          </p:txBody>
        </p:sp>
        <p:sp>
          <p:nvSpPr>
            <p:cNvPr id="20" name="MH_Other_3"/>
            <p:cNvSpPr txBox="1">
              <a:spLocks noChangeArrowheads="1"/>
            </p:cNvSpPr>
            <p:nvPr/>
          </p:nvSpPr>
          <p:spPr bwMode="auto">
            <a:xfrm>
              <a:off x="1191764" y="2421592"/>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dirty="0" smtClean="0">
                  <a:solidFill>
                    <a:srgbClr val="00A8E7"/>
                  </a:solidFill>
                  <a:latin typeface="微软雅黑" panose="020B0503020204020204" pitchFamily="34" charset="-122"/>
                  <a:ea typeface="微软雅黑" panose="020B0503020204020204" charset="-122"/>
                </a:rPr>
                <a:t>3</a:t>
              </a:r>
              <a:endParaRPr lang="en-US" sz="3600" b="1" dirty="0">
                <a:solidFill>
                  <a:srgbClr val="00A8E7"/>
                </a:solidFill>
                <a:latin typeface="微软雅黑" panose="020B0503020204020204" pitchFamily="34" charset="-122"/>
                <a:ea typeface="微软雅黑" panose="020B0503020204020204" charset="-122"/>
              </a:endParaRPr>
            </a:p>
          </p:txBody>
        </p:sp>
        <p:cxnSp>
          <p:nvCxnSpPr>
            <p:cNvPr id="21" name="直接连接符 20"/>
            <p:cNvCxnSpPr/>
            <p:nvPr/>
          </p:nvCxnSpPr>
          <p:spPr>
            <a:xfrm rot="-2760000">
              <a:off x="1244688" y="2931974"/>
              <a:ext cx="0" cy="731243"/>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1336073" y="4959276"/>
            <a:ext cx="1071523" cy="1061720"/>
            <a:chOff x="879066" y="2421592"/>
            <a:chExt cx="1071523" cy="1061720"/>
          </a:xfrm>
        </p:grpSpPr>
        <p:sp>
          <p:nvSpPr>
            <p:cNvPr id="23" name="MH_Other_2"/>
            <p:cNvSpPr/>
            <p:nvPr/>
          </p:nvSpPr>
          <p:spPr>
            <a:xfrm>
              <a:off x="1215894" y="3159462"/>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微软雅黑" panose="020B0503020204020204" pitchFamily="34" charset="-122"/>
                <a:ea typeface="微软雅黑" panose="020B0503020204020204" charset="-122"/>
              </a:endParaRPr>
            </a:p>
          </p:txBody>
        </p:sp>
        <p:sp>
          <p:nvSpPr>
            <p:cNvPr id="24" name="MH_Other_3"/>
            <p:cNvSpPr txBox="1">
              <a:spLocks noChangeArrowheads="1"/>
            </p:cNvSpPr>
            <p:nvPr/>
          </p:nvSpPr>
          <p:spPr bwMode="auto">
            <a:xfrm>
              <a:off x="1191764" y="2421592"/>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dirty="0" smtClean="0">
                  <a:solidFill>
                    <a:srgbClr val="00A8E7"/>
                  </a:solidFill>
                  <a:latin typeface="微软雅黑" panose="020B0503020204020204" pitchFamily="34" charset="-122"/>
                  <a:ea typeface="微软雅黑" panose="020B0503020204020204" charset="-122"/>
                </a:rPr>
                <a:t>4</a:t>
              </a:r>
              <a:endParaRPr lang="en-US" sz="3600" b="1" dirty="0">
                <a:solidFill>
                  <a:srgbClr val="00A8E7"/>
                </a:solidFill>
                <a:latin typeface="微软雅黑" panose="020B0503020204020204" pitchFamily="34" charset="-122"/>
                <a:ea typeface="微软雅黑" panose="020B0503020204020204" charset="-122"/>
              </a:endParaRPr>
            </a:p>
          </p:txBody>
        </p:sp>
        <p:cxnSp>
          <p:nvCxnSpPr>
            <p:cNvPr id="25" name="直接连接符 24"/>
            <p:cNvCxnSpPr/>
            <p:nvPr/>
          </p:nvCxnSpPr>
          <p:spPr>
            <a:xfrm rot="-2760000">
              <a:off x="1244688" y="2931974"/>
              <a:ext cx="0" cy="731243"/>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strips dir="ru"/>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normAutofit/>
          </a:bodyPr>
          <a:lstStyle/>
          <a:p>
            <a:r>
              <a:rPr lang="en-US" altLang="en-US" dirty="0">
                <a:sym typeface="+mn-ea"/>
              </a:rPr>
              <a:t>6.4 UML</a:t>
            </a:r>
            <a:r>
              <a:rPr lang="zh-CN" altLang="en-US" dirty="0">
                <a:sym typeface="+mn-ea"/>
              </a:rPr>
              <a:t>的应用</a:t>
            </a:r>
            <a:endParaRPr lang="zh-CN" altLang="en-US" dirty="0"/>
          </a:p>
        </p:txBody>
      </p:sp>
      <p:sp>
        <p:nvSpPr>
          <p:cNvPr id="13" name="文本占位符 12">
            <a:extLst>
              <a:ext uri="{FF2B5EF4-FFF2-40B4-BE49-F238E27FC236}">
                <a16:creationId xmlns:a16="http://schemas.microsoft.com/office/drawing/2014/main" id="{F6EF044C-5C49-C698-6977-2B3FB4C1D567}"/>
              </a:ext>
            </a:extLst>
          </p:cNvPr>
          <p:cNvSpPr>
            <a:spLocks noGrp="1"/>
          </p:cNvSpPr>
          <p:nvPr>
            <p:ph type="body" sz="quarter" idx="10"/>
          </p:nvPr>
        </p:nvSpPr>
        <p:spPr/>
        <p:txBody>
          <a:bodyPr/>
          <a:lstStyle/>
          <a:p>
            <a:r>
              <a:rPr lang="en-US" altLang="zh-CN" dirty="0"/>
              <a:t>6.4.2 </a:t>
            </a:r>
            <a:r>
              <a:rPr lang="en-US" altLang="zh-CN" dirty="0">
                <a:sym typeface="+mn-ea"/>
              </a:rPr>
              <a:t>UML</a:t>
            </a:r>
            <a:r>
              <a:rPr lang="zh-CN" altLang="en-US" dirty="0">
                <a:sym typeface="+mn-ea"/>
              </a:rPr>
              <a:t>视图</a:t>
            </a:r>
            <a:endParaRPr lang="zh-CN" altLang="en-US" dirty="0"/>
          </a:p>
        </p:txBody>
      </p:sp>
      <p:sp>
        <p:nvSpPr>
          <p:cNvPr id="11" name="MH_SubTitle_1"/>
          <p:cNvSpPr txBox="1">
            <a:spLocks noChangeArrowheads="1"/>
          </p:cNvSpPr>
          <p:nvPr/>
        </p:nvSpPr>
        <p:spPr bwMode="auto">
          <a:xfrm>
            <a:off x="6262765" y="3763324"/>
            <a:ext cx="3413125" cy="256984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25000"/>
              </a:lnSpc>
            </a:pPr>
            <a:endParaRPr dirty="0"/>
          </a:p>
        </p:txBody>
      </p:sp>
      <p:grpSp>
        <p:nvGrpSpPr>
          <p:cNvPr id="17" name="组合 16"/>
          <p:cNvGrpSpPr/>
          <p:nvPr/>
        </p:nvGrpSpPr>
        <p:grpSpPr>
          <a:xfrm>
            <a:off x="6487099" y="5435222"/>
            <a:ext cx="5347291" cy="1054171"/>
            <a:chOff x="6487099" y="4964848"/>
            <a:chExt cx="5347291" cy="1054171"/>
          </a:xfrm>
        </p:grpSpPr>
        <p:cxnSp>
          <p:nvCxnSpPr>
            <p:cNvPr id="20" name="MH_Other_17"/>
            <p:cNvCxnSpPr>
              <a:cxnSpLocks noChangeShapeType="1"/>
            </p:cNvCxnSpPr>
            <p:nvPr/>
          </p:nvCxnSpPr>
          <p:spPr bwMode="auto">
            <a:xfrm rot="10800000">
              <a:off x="6487099" y="5700316"/>
              <a:ext cx="5347291" cy="7097"/>
            </a:xfrm>
            <a:prstGeom prst="line">
              <a:avLst/>
            </a:prstGeom>
            <a:noFill/>
            <a:ln w="12700" algn="ctr">
              <a:solidFill>
                <a:srgbClr val="1CADE4"/>
              </a:solidFill>
              <a:prstDash val="sysDash"/>
              <a:miter lim="800000"/>
            </a:ln>
          </p:spPr>
        </p:cxnSp>
        <p:cxnSp>
          <p:nvCxnSpPr>
            <p:cNvPr id="21" name="MH_Other_18"/>
            <p:cNvCxnSpPr>
              <a:cxnSpLocks noChangeShapeType="1"/>
            </p:cNvCxnSpPr>
            <p:nvPr/>
          </p:nvCxnSpPr>
          <p:spPr bwMode="auto">
            <a:xfrm flipH="1" flipV="1">
              <a:off x="11385723" y="4964848"/>
              <a:ext cx="0" cy="1053526"/>
            </a:xfrm>
            <a:prstGeom prst="line">
              <a:avLst/>
            </a:prstGeom>
            <a:noFill/>
            <a:ln w="12700" algn="ctr">
              <a:solidFill>
                <a:srgbClr val="1CADE4"/>
              </a:solidFill>
              <a:prstDash val="sysDash"/>
              <a:miter lim="800000"/>
            </a:ln>
          </p:spPr>
        </p:cxnSp>
        <p:cxnSp>
          <p:nvCxnSpPr>
            <p:cNvPr id="22" name="MH_Other_19"/>
            <p:cNvCxnSpPr>
              <a:cxnSpLocks noChangeShapeType="1"/>
            </p:cNvCxnSpPr>
            <p:nvPr/>
          </p:nvCxnSpPr>
          <p:spPr bwMode="auto">
            <a:xfrm flipH="1" flipV="1">
              <a:off x="11834390" y="5706768"/>
              <a:ext cx="0" cy="311606"/>
            </a:xfrm>
            <a:prstGeom prst="line">
              <a:avLst/>
            </a:prstGeom>
            <a:noFill/>
            <a:ln w="12700" algn="ctr">
              <a:solidFill>
                <a:srgbClr val="1CADE4"/>
              </a:solidFill>
              <a:miter lim="800000"/>
            </a:ln>
          </p:spPr>
        </p:cxnSp>
        <p:cxnSp>
          <p:nvCxnSpPr>
            <p:cNvPr id="23" name="MH_Other_20"/>
            <p:cNvCxnSpPr>
              <a:cxnSpLocks noChangeShapeType="1"/>
            </p:cNvCxnSpPr>
            <p:nvPr/>
          </p:nvCxnSpPr>
          <p:spPr bwMode="auto">
            <a:xfrm flipH="1" flipV="1">
              <a:off x="11385723" y="6019019"/>
              <a:ext cx="448667" cy="0"/>
            </a:xfrm>
            <a:prstGeom prst="line">
              <a:avLst/>
            </a:prstGeom>
            <a:noFill/>
            <a:ln w="12700" algn="ctr">
              <a:solidFill>
                <a:srgbClr val="1CADE4"/>
              </a:solidFill>
              <a:miter lim="800000"/>
            </a:ln>
          </p:spPr>
        </p:cxnSp>
      </p:grpSp>
      <p:grpSp>
        <p:nvGrpSpPr>
          <p:cNvPr id="16" name="组合 15"/>
          <p:cNvGrpSpPr/>
          <p:nvPr/>
        </p:nvGrpSpPr>
        <p:grpSpPr>
          <a:xfrm>
            <a:off x="1336073" y="2703741"/>
            <a:ext cx="1071523" cy="1061720"/>
            <a:chOff x="1336073" y="2703741"/>
            <a:chExt cx="1071523" cy="1061720"/>
          </a:xfrm>
        </p:grpSpPr>
        <p:sp>
          <p:nvSpPr>
            <p:cNvPr id="25" name="MH_Other_2"/>
            <p:cNvSpPr/>
            <p:nvPr/>
          </p:nvSpPr>
          <p:spPr>
            <a:xfrm>
              <a:off x="1672901" y="3441611"/>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微软雅黑" panose="020B0503020204020204" pitchFamily="34" charset="-122"/>
                <a:ea typeface="微软雅黑" panose="020B0503020204020204" charset="-122"/>
              </a:endParaRPr>
            </a:p>
          </p:txBody>
        </p:sp>
        <p:sp>
          <p:nvSpPr>
            <p:cNvPr id="26" name="MH_Other_3"/>
            <p:cNvSpPr txBox="1">
              <a:spLocks noChangeArrowheads="1"/>
            </p:cNvSpPr>
            <p:nvPr/>
          </p:nvSpPr>
          <p:spPr bwMode="auto">
            <a:xfrm>
              <a:off x="1648771" y="2703741"/>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smtClean="0">
                  <a:solidFill>
                    <a:srgbClr val="00A8E7"/>
                  </a:solidFill>
                  <a:latin typeface="微软雅黑" panose="020B0503020204020204" pitchFamily="34" charset="-122"/>
                  <a:ea typeface="微软雅黑" panose="020B0503020204020204" charset="-122"/>
                </a:rPr>
                <a:t>5</a:t>
              </a:r>
              <a:endParaRPr lang="en-US" sz="3600" b="1" dirty="0">
                <a:solidFill>
                  <a:srgbClr val="00A8E7"/>
                </a:solidFill>
                <a:latin typeface="微软雅黑" panose="020B0503020204020204" pitchFamily="34" charset="-122"/>
                <a:ea typeface="微软雅黑" panose="020B0503020204020204" charset="-122"/>
              </a:endParaRPr>
            </a:p>
          </p:txBody>
        </p:sp>
        <p:cxnSp>
          <p:nvCxnSpPr>
            <p:cNvPr id="27" name="直接连接符 26"/>
            <p:cNvCxnSpPr/>
            <p:nvPr/>
          </p:nvCxnSpPr>
          <p:spPr>
            <a:xfrm rot="18840000">
              <a:off x="1701695" y="3214123"/>
              <a:ext cx="0" cy="731243"/>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6490189" y="2417838"/>
            <a:ext cx="4896000" cy="3450881"/>
          </a:xfrm>
          <a:prstGeom prst="rect">
            <a:avLst/>
          </a:prstGeom>
          <a:noFill/>
        </p:spPr>
        <p:txBody>
          <a:bodyPr wrap="square" rtlCol="0">
            <a:spAutoFit/>
          </a:bodyPr>
          <a:lstStyle/>
          <a:p>
            <a:pPr indent="457200" algn="just">
              <a:lnSpc>
                <a:spcPct val="125000"/>
              </a:lnSpc>
            </a:pPr>
            <a:r>
              <a:rPr lang="zh-CN" altLang="en-US" sz="1600" dirty="0" smtClean="0"/>
              <a:t>例如</a:t>
            </a:r>
            <a:r>
              <a:rPr lang="zh-CN" altLang="en-US" sz="1600" dirty="0"/>
              <a:t>，图书馆的“图书目录查询”程序在读者查询机上运行；“图书流通”（借书、还书）程序在图书流通部的计算机上运行。</a:t>
            </a:r>
          </a:p>
          <a:p>
            <a:pPr indent="457200" algn="just">
              <a:lnSpc>
                <a:spcPct val="125000"/>
              </a:lnSpc>
            </a:pPr>
            <a:r>
              <a:rPr lang="zh-CN" altLang="en-US" sz="1600" dirty="0" smtClean="0"/>
              <a:t>显然</a:t>
            </a:r>
            <a:r>
              <a:rPr lang="zh-CN" altLang="en-US" sz="1600" dirty="0"/>
              <a:t>描述系统分析、设计的各个部分和各个方面的所有</a:t>
            </a:r>
            <a:r>
              <a:rPr lang="en-US" altLang="zh-CN" sz="1600" dirty="0"/>
              <a:t>UML</a:t>
            </a:r>
            <a:r>
              <a:rPr lang="zh-CN" altLang="en-US" sz="1600" dirty="0"/>
              <a:t>图，都是描述同一个系统的，它们之间不能有矛盾。</a:t>
            </a:r>
          </a:p>
          <a:p>
            <a:pPr indent="457200" algn="just">
              <a:lnSpc>
                <a:spcPct val="125000"/>
              </a:lnSpc>
            </a:pPr>
            <a:r>
              <a:rPr lang="zh-CN" altLang="en-US" sz="1600" dirty="0" smtClean="0"/>
              <a:t>总之</a:t>
            </a:r>
            <a:r>
              <a:rPr lang="zh-CN" altLang="en-US" sz="1600" dirty="0"/>
              <a:t>，一个系统可以有多种视图，但视图之间必须是一致的。同样，系统可以有多种模型，模型之间也必须是一致的。</a:t>
            </a:r>
            <a:r>
              <a:rPr lang="en-US" altLang="zh-CN" sz="1600" dirty="0"/>
              <a:t>UML</a:t>
            </a:r>
            <a:r>
              <a:rPr lang="zh-CN" altLang="en-US" sz="1600" dirty="0"/>
              <a:t>有多种模型和多种图，在实际的软件开发过程中，开发者可以根据自己的需要选择几种来运用。</a:t>
            </a:r>
          </a:p>
        </p:txBody>
      </p:sp>
      <p:grpSp>
        <p:nvGrpSpPr>
          <p:cNvPr id="34" name="组合 33"/>
          <p:cNvGrpSpPr/>
          <p:nvPr/>
        </p:nvGrpSpPr>
        <p:grpSpPr>
          <a:xfrm>
            <a:off x="6038432" y="1797164"/>
            <a:ext cx="5347291" cy="1054171"/>
            <a:chOff x="6038432" y="1797164"/>
            <a:chExt cx="5347291" cy="1054171"/>
          </a:xfrm>
        </p:grpSpPr>
        <p:cxnSp>
          <p:nvCxnSpPr>
            <p:cNvPr id="29" name="MH_Other_17"/>
            <p:cNvCxnSpPr>
              <a:cxnSpLocks noChangeShapeType="1"/>
            </p:cNvCxnSpPr>
            <p:nvPr/>
          </p:nvCxnSpPr>
          <p:spPr bwMode="auto">
            <a:xfrm rot="10800000" flipH="1" flipV="1">
              <a:off x="6038432" y="2108770"/>
              <a:ext cx="5347291" cy="7097"/>
            </a:xfrm>
            <a:prstGeom prst="line">
              <a:avLst/>
            </a:prstGeom>
            <a:noFill/>
            <a:ln w="12700" algn="ctr">
              <a:solidFill>
                <a:srgbClr val="1CADE4"/>
              </a:solidFill>
              <a:prstDash val="sysDash"/>
              <a:miter lim="800000"/>
            </a:ln>
          </p:spPr>
        </p:cxnSp>
        <p:cxnSp>
          <p:nvCxnSpPr>
            <p:cNvPr id="30" name="MH_Other_18"/>
            <p:cNvCxnSpPr>
              <a:cxnSpLocks noChangeShapeType="1"/>
            </p:cNvCxnSpPr>
            <p:nvPr/>
          </p:nvCxnSpPr>
          <p:spPr bwMode="auto">
            <a:xfrm>
              <a:off x="6487099" y="1797809"/>
              <a:ext cx="0" cy="1053526"/>
            </a:xfrm>
            <a:prstGeom prst="line">
              <a:avLst/>
            </a:prstGeom>
            <a:noFill/>
            <a:ln w="12700" algn="ctr">
              <a:solidFill>
                <a:srgbClr val="1CADE4"/>
              </a:solidFill>
              <a:prstDash val="sysDash"/>
              <a:miter lim="800000"/>
            </a:ln>
          </p:spPr>
        </p:cxnSp>
        <p:cxnSp>
          <p:nvCxnSpPr>
            <p:cNvPr id="31" name="MH_Other_19"/>
            <p:cNvCxnSpPr>
              <a:cxnSpLocks noChangeShapeType="1"/>
            </p:cNvCxnSpPr>
            <p:nvPr/>
          </p:nvCxnSpPr>
          <p:spPr bwMode="auto">
            <a:xfrm>
              <a:off x="6038432" y="1797809"/>
              <a:ext cx="0" cy="311606"/>
            </a:xfrm>
            <a:prstGeom prst="line">
              <a:avLst/>
            </a:prstGeom>
            <a:noFill/>
            <a:ln w="12700" algn="ctr">
              <a:solidFill>
                <a:srgbClr val="1CADE4"/>
              </a:solidFill>
              <a:miter lim="800000"/>
            </a:ln>
          </p:spPr>
        </p:cxnSp>
        <p:cxnSp>
          <p:nvCxnSpPr>
            <p:cNvPr id="32" name="MH_Other_20"/>
            <p:cNvCxnSpPr>
              <a:cxnSpLocks noChangeShapeType="1"/>
            </p:cNvCxnSpPr>
            <p:nvPr/>
          </p:nvCxnSpPr>
          <p:spPr bwMode="auto">
            <a:xfrm>
              <a:off x="6038432" y="1797164"/>
              <a:ext cx="448667" cy="0"/>
            </a:xfrm>
            <a:prstGeom prst="line">
              <a:avLst/>
            </a:prstGeom>
            <a:noFill/>
            <a:ln w="12700" algn="ctr">
              <a:solidFill>
                <a:srgbClr val="1CADE4"/>
              </a:solidFill>
              <a:miter lim="800000"/>
            </a:ln>
          </p:spPr>
        </p:cxnSp>
      </p:grpSp>
      <p:sp>
        <p:nvSpPr>
          <p:cNvPr id="33" name="MH_SubTitle_1"/>
          <p:cNvSpPr txBox="1">
            <a:spLocks noChangeArrowheads="1"/>
          </p:cNvSpPr>
          <p:nvPr/>
        </p:nvSpPr>
        <p:spPr bwMode="auto">
          <a:xfrm>
            <a:off x="2678400" y="2703741"/>
            <a:ext cx="3360032" cy="3785652"/>
          </a:xfrm>
          <a:prstGeom prst="rect">
            <a:avLst/>
          </a:prstGeom>
          <a:noFill/>
          <a:ln w="9525">
            <a:noFill/>
            <a:miter lim="800000"/>
          </a:ln>
        </p:spPr>
        <p:txBody>
          <a:bodyPr wrap="square"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20000"/>
              </a:lnSpc>
            </a:pPr>
            <a:r>
              <a:rPr lang="zh-CN" altLang="en-US" sz="2000" b="1" dirty="0" smtClean="0">
                <a:solidFill>
                  <a:srgbClr val="00B0F0"/>
                </a:solidFill>
              </a:rPr>
              <a:t>并发视图</a:t>
            </a:r>
          </a:p>
          <a:p>
            <a:pPr indent="457200" fontAlgn="auto">
              <a:lnSpc>
                <a:spcPct val="120000"/>
              </a:lnSpc>
            </a:pPr>
            <a:r>
              <a:rPr dirty="0" smtClean="0"/>
              <a:t>并发视图描述了系统的并发性。它将系统分割成并发执行的控制线程，还处理这些线程的通信和同步。例如，哪些事情将会同时发生，哪些事情必须保持同步。建立并发视图有助于系统开发者和系统集成者之间的交流。并发视图用状态图、顺序图、协作图、活动图、构件图和部署图来描述。</a:t>
            </a:r>
            <a:endParaRPr dirty="0"/>
          </a:p>
        </p:txBody>
      </p:sp>
    </p:spTree>
  </p:cSld>
  <p:clrMapOvr>
    <a:masterClrMapping/>
  </p:clrMapOvr>
  <p:transition>
    <p:strips dir="rd"/>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12" name="文本占位符 11">
            <a:extLst>
              <a:ext uri="{FF2B5EF4-FFF2-40B4-BE49-F238E27FC236}">
                <a16:creationId xmlns:a16="http://schemas.microsoft.com/office/drawing/2014/main" id="{BBF33205-8351-B3CE-6D68-93694ECACADA}"/>
              </a:ext>
            </a:extLst>
          </p:cNvPr>
          <p:cNvSpPr>
            <a:spLocks noGrp="1"/>
          </p:cNvSpPr>
          <p:nvPr>
            <p:ph type="body" sz="quarter" idx="10"/>
          </p:nvPr>
        </p:nvSpPr>
        <p:spPr>
          <a:xfrm>
            <a:off x="900001" y="1322832"/>
            <a:ext cx="5196000" cy="400110"/>
          </a:xfrm>
        </p:spPr>
        <p:txBody>
          <a:bodyPr/>
          <a:lstStyle/>
          <a:p>
            <a:r>
              <a:rPr lang="en-US" altLang="zh-CN" dirty="0"/>
              <a:t>6.4.3 </a:t>
            </a:r>
            <a:r>
              <a:rPr lang="en-US" altLang="zh-CN" dirty="0">
                <a:sym typeface="+mn-ea"/>
              </a:rPr>
              <a:t>UML</a:t>
            </a:r>
            <a:r>
              <a:rPr lang="zh-CN" altLang="en-US" dirty="0">
                <a:sym typeface="+mn-ea"/>
              </a:rPr>
              <a:t>使用准则</a:t>
            </a:r>
          </a:p>
        </p:txBody>
      </p:sp>
      <p:sp>
        <p:nvSpPr>
          <p:cNvPr id="17415" name="Oval 5"/>
          <p:cNvSpPr>
            <a:spLocks noChangeArrowheads="1"/>
          </p:cNvSpPr>
          <p:nvPr>
            <p:custDataLst>
              <p:tags r:id="rId1"/>
            </p:custDataLst>
          </p:nvPr>
        </p:nvSpPr>
        <p:spPr bwMode="auto">
          <a:xfrm>
            <a:off x="5230271" y="2096770"/>
            <a:ext cx="1368469" cy="1274445"/>
          </a:xfrm>
          <a:prstGeom prst="ellipse">
            <a:avLst/>
          </a:prstGeom>
          <a:solidFill>
            <a:srgbClr val="3B9582"/>
          </a:solidFill>
          <a:ln>
            <a:noFill/>
          </a:ln>
          <a:effectLs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j-lt"/>
                <a:ea typeface="+mj-ea"/>
              </a:rPr>
              <a:t>02</a:t>
            </a:r>
          </a:p>
        </p:txBody>
      </p:sp>
      <p:sp>
        <p:nvSpPr>
          <p:cNvPr id="17417" name="Oval 7"/>
          <p:cNvSpPr>
            <a:spLocks noChangeArrowheads="1"/>
          </p:cNvSpPr>
          <p:nvPr>
            <p:custDataLst>
              <p:tags r:id="rId2"/>
            </p:custDataLst>
          </p:nvPr>
        </p:nvSpPr>
        <p:spPr bwMode="auto">
          <a:xfrm>
            <a:off x="8715151" y="2096770"/>
            <a:ext cx="1368469" cy="1274445"/>
          </a:xfrm>
          <a:prstGeom prst="ellipse">
            <a:avLst/>
          </a:prstGeom>
          <a:solidFill>
            <a:schemeClr val="accent3">
              <a:lumMod val="75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j-lt"/>
                <a:ea typeface="+mj-ea"/>
              </a:rPr>
              <a:t>03</a:t>
            </a:r>
          </a:p>
        </p:txBody>
      </p:sp>
      <p:sp>
        <p:nvSpPr>
          <p:cNvPr id="17418" name="Oval 8"/>
          <p:cNvSpPr>
            <a:spLocks noChangeArrowheads="1"/>
          </p:cNvSpPr>
          <p:nvPr>
            <p:custDataLst>
              <p:tags r:id="rId3"/>
            </p:custDataLst>
          </p:nvPr>
        </p:nvSpPr>
        <p:spPr bwMode="auto">
          <a:xfrm>
            <a:off x="1745391" y="2096770"/>
            <a:ext cx="1368469" cy="1274445"/>
          </a:xfrm>
          <a:prstGeom prst="ellipse">
            <a:avLst/>
          </a:prstGeom>
          <a:solidFill>
            <a:srgbClr val="3B9582"/>
          </a:solidFill>
          <a:ln>
            <a:noFill/>
          </a:ln>
          <a:effectLs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mj-lt"/>
                <a:ea typeface="+mj-ea"/>
              </a:rPr>
              <a:t>01</a:t>
            </a:r>
          </a:p>
        </p:txBody>
      </p:sp>
      <p:sp>
        <p:nvSpPr>
          <p:cNvPr id="5" name="文本框 4"/>
          <p:cNvSpPr txBox="1"/>
          <p:nvPr>
            <p:custDataLst>
              <p:tags r:id="rId4"/>
            </p:custDataLst>
          </p:nvPr>
        </p:nvSpPr>
        <p:spPr>
          <a:xfrm>
            <a:off x="4294505" y="4079240"/>
            <a:ext cx="3240000" cy="179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nSpc>
                <a:spcPct val="125000"/>
              </a:lnSpc>
              <a:spcBef>
                <a:spcPts val="0"/>
              </a:spcBef>
            </a:pPr>
            <a:r>
              <a:rPr lang="zh-CN" altLang="en-US" dirty="0">
                <a:sym typeface="+mn-ea"/>
              </a:rPr>
              <a:t>要集中精力围绕问题的核心来建立模型。最好只画几张关键的图，经常使用并不断更新、修改这几张图。</a:t>
            </a:r>
          </a:p>
          <a:p>
            <a:pPr marL="0" indent="0" algn="l" fontAlgn="auto">
              <a:lnSpc>
                <a:spcPct val="125000"/>
              </a:lnSpc>
              <a:spcBef>
                <a:spcPts val="0"/>
              </a:spcBef>
            </a:pPr>
            <a:endParaRPr dirty="0">
              <a:sym typeface="+mn-ea"/>
            </a:endParaRPr>
          </a:p>
        </p:txBody>
      </p:sp>
      <p:sp>
        <p:nvSpPr>
          <p:cNvPr id="8" name="文本框 7"/>
          <p:cNvSpPr txBox="1"/>
          <p:nvPr>
            <p:custDataLst>
              <p:tags r:id="rId5"/>
            </p:custDataLst>
          </p:nvPr>
        </p:nvSpPr>
        <p:spPr>
          <a:xfrm>
            <a:off x="7779385" y="4079240"/>
            <a:ext cx="3240000" cy="144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nSpc>
                <a:spcPct val="125000"/>
              </a:lnSpc>
              <a:spcBef>
                <a:spcPts val="0"/>
              </a:spcBef>
            </a:pPr>
            <a:r>
              <a:rPr lang="zh-CN" altLang="en-US" dirty="0">
                <a:sym typeface="+mn-ea"/>
              </a:rPr>
              <a:t>要集中精力围绕问题的核心来建立模型。最好只画几张关键的图，经常使用并不断更新、修改这几张图。</a:t>
            </a:r>
            <a:endParaRPr lang="zh-CN" altLang="en-US" dirty="0">
              <a:sym typeface="+mn-ea"/>
            </a:endParaRPr>
          </a:p>
        </p:txBody>
      </p:sp>
      <p:sp>
        <p:nvSpPr>
          <p:cNvPr id="4" name="文本框 3"/>
          <p:cNvSpPr txBox="1"/>
          <p:nvPr>
            <p:custDataLst>
              <p:tags r:id="rId6"/>
            </p:custDataLst>
          </p:nvPr>
        </p:nvSpPr>
        <p:spPr>
          <a:xfrm>
            <a:off x="809625" y="4079240"/>
            <a:ext cx="3240000" cy="179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nSpc>
                <a:spcPct val="125000"/>
              </a:lnSpc>
              <a:spcBef>
                <a:spcPts val="0"/>
              </a:spcBef>
            </a:pPr>
            <a:r>
              <a:rPr lang="zh-CN" altLang="en-US" dirty="0">
                <a:sym typeface="+mn-ea"/>
              </a:rPr>
              <a:t>应当优先选用简单的图形和符号。例如，最常用的概念为用例、类、关联、属性和继承等，应当首先用图描述这些内容。</a:t>
            </a:r>
          </a:p>
          <a:p>
            <a:pPr marL="0" indent="0" algn="l" fontAlgn="auto">
              <a:lnSpc>
                <a:spcPct val="125000"/>
              </a:lnSpc>
              <a:spcBef>
                <a:spcPts val="0"/>
              </a:spcBef>
            </a:pPr>
            <a:endParaRPr dirty="0">
              <a:sym typeface="+mn-ea"/>
            </a:endParaRPr>
          </a:p>
        </p:txBody>
      </p:sp>
      <p:sp>
        <p:nvSpPr>
          <p:cNvPr id="9" name="文本框 8"/>
          <p:cNvSpPr txBox="1"/>
          <p:nvPr/>
        </p:nvSpPr>
        <p:spPr>
          <a:xfrm>
            <a:off x="1155180" y="3550285"/>
            <a:ext cx="2548890" cy="384810"/>
          </a:xfrm>
          <a:prstGeom prst="rect">
            <a:avLst/>
          </a:prstGeom>
          <a:noFill/>
        </p:spPr>
        <p:txBody>
          <a:bodyPr wrap="none" rtlCol="0" anchor="t">
            <a:spAutoFit/>
          </a:bodyPr>
          <a:lstStyle/>
          <a:p>
            <a:r>
              <a:rPr b="1" dirty="0">
                <a:latin typeface="微软雅黑" panose="020B0503020204020204" charset="-122"/>
                <a:ea typeface="微软雅黑" panose="020B0503020204020204" charset="-122"/>
                <a:sym typeface="+mn-ea"/>
              </a:rPr>
              <a:t>选择使用合适的UML图</a:t>
            </a:r>
            <a:endParaRPr lang="zh-CN" altLang="en-US" b="1"/>
          </a:p>
        </p:txBody>
      </p:sp>
      <p:sp>
        <p:nvSpPr>
          <p:cNvPr id="10" name="文本框 9"/>
          <p:cNvSpPr txBox="1"/>
          <p:nvPr/>
        </p:nvSpPr>
        <p:spPr>
          <a:xfrm>
            <a:off x="4680065" y="3550285"/>
            <a:ext cx="2468880" cy="384810"/>
          </a:xfrm>
          <a:prstGeom prst="rect">
            <a:avLst/>
          </a:prstGeom>
          <a:noFill/>
        </p:spPr>
        <p:txBody>
          <a:bodyPr wrap="none" rtlCol="0" anchor="t">
            <a:spAutoFit/>
          </a:bodyPr>
          <a:lstStyle/>
          <a:p>
            <a:r>
              <a:rPr b="1" dirty="0">
                <a:latin typeface="微软雅黑" panose="020B0503020204020204" charset="-122"/>
                <a:ea typeface="微软雅黑" panose="020B0503020204020204" charset="-122"/>
                <a:sym typeface="+mn-ea"/>
              </a:rPr>
              <a:t>只对关键事物建立模型</a:t>
            </a:r>
            <a:endParaRPr lang="zh-CN" altLang="en-US" b="1" dirty="0"/>
          </a:p>
        </p:txBody>
      </p:sp>
      <p:sp>
        <p:nvSpPr>
          <p:cNvPr id="11" name="文本框 10"/>
          <p:cNvSpPr txBox="1"/>
          <p:nvPr/>
        </p:nvSpPr>
        <p:spPr>
          <a:xfrm>
            <a:off x="8393545" y="3550285"/>
            <a:ext cx="2011680" cy="384810"/>
          </a:xfrm>
          <a:prstGeom prst="rect">
            <a:avLst/>
          </a:prstGeom>
          <a:noFill/>
        </p:spPr>
        <p:txBody>
          <a:bodyPr wrap="none" rtlCol="0" anchor="t">
            <a:spAutoFit/>
          </a:bodyPr>
          <a:lstStyle/>
          <a:p>
            <a:r>
              <a:rPr b="1" dirty="0">
                <a:latin typeface="微软雅黑" panose="020B0503020204020204" charset="-122"/>
                <a:ea typeface="微软雅黑" panose="020B0503020204020204" charset="-122"/>
                <a:sym typeface="+mn-ea"/>
              </a:rPr>
              <a:t>分层次地画模型图</a:t>
            </a:r>
            <a:endParaRPr lang="zh-CN" altLang="en-US" b="1"/>
          </a:p>
        </p:txBody>
      </p:sp>
      <p:cxnSp>
        <p:nvCxnSpPr>
          <p:cNvPr id="6" name="直接连接符 5"/>
          <p:cNvCxnSpPr>
            <a:stCxn id="17418" idx="6"/>
            <a:endCxn id="17415" idx="2"/>
          </p:cNvCxnSpPr>
          <p:nvPr/>
        </p:nvCxnSpPr>
        <p:spPr>
          <a:xfrm>
            <a:off x="3113860" y="2733993"/>
            <a:ext cx="21164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7415" idx="6"/>
            <a:endCxn id="17417" idx="2"/>
          </p:cNvCxnSpPr>
          <p:nvPr/>
        </p:nvCxnSpPr>
        <p:spPr>
          <a:xfrm>
            <a:off x="6598740" y="2733993"/>
            <a:ext cx="21164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trips dir="rd"/>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5" name="文本占位符 4">
            <a:extLst>
              <a:ext uri="{FF2B5EF4-FFF2-40B4-BE49-F238E27FC236}">
                <a16:creationId xmlns:a16="http://schemas.microsoft.com/office/drawing/2014/main" id="{BBE9EDA3-B240-46C9-C07D-030EA27C2B6D}"/>
              </a:ext>
            </a:extLst>
          </p:cNvPr>
          <p:cNvSpPr>
            <a:spLocks noGrp="1"/>
          </p:cNvSpPr>
          <p:nvPr>
            <p:ph type="body" sz="quarter" idx="10"/>
          </p:nvPr>
        </p:nvSpPr>
        <p:spPr/>
        <p:txBody>
          <a:bodyPr/>
          <a:lstStyle/>
          <a:p>
            <a:r>
              <a:rPr lang="en-US" altLang="zh-CN" dirty="0"/>
              <a:t>6.4.3 </a:t>
            </a:r>
            <a:r>
              <a:rPr lang="en-US" altLang="zh-CN" dirty="0">
                <a:sym typeface="+mn-ea"/>
              </a:rPr>
              <a:t>UML</a:t>
            </a:r>
            <a:r>
              <a:rPr lang="zh-CN" altLang="en-US" dirty="0">
                <a:sym typeface="+mn-ea"/>
              </a:rPr>
              <a:t>使用准则</a:t>
            </a:r>
            <a:endParaRPr lang="zh-CN" altLang="en-US" dirty="0"/>
          </a:p>
        </p:txBody>
      </p:sp>
      <p:sp>
        <p:nvSpPr>
          <p:cNvPr id="17415" name="Oval 5"/>
          <p:cNvSpPr>
            <a:spLocks noChangeArrowheads="1"/>
          </p:cNvSpPr>
          <p:nvPr>
            <p:custDataLst>
              <p:tags r:id="rId1"/>
            </p:custDataLst>
          </p:nvPr>
        </p:nvSpPr>
        <p:spPr bwMode="auto">
          <a:xfrm>
            <a:off x="8085039" y="2096770"/>
            <a:ext cx="1368457" cy="1274445"/>
          </a:xfrm>
          <a:prstGeom prst="ellipse">
            <a:avLst/>
          </a:prstGeom>
          <a:solidFill>
            <a:srgbClr val="3B9582"/>
          </a:solidFill>
          <a:ln>
            <a:noFill/>
          </a:ln>
          <a:effectLs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n-lt"/>
                <a:ea typeface="+mn-ea"/>
              </a:rPr>
              <a:t>0</a:t>
            </a:r>
            <a:r>
              <a:rPr lang="en-US" altLang="zh-CN" sz="2800" dirty="0">
                <a:solidFill>
                  <a:schemeClr val="bg1"/>
                </a:solidFill>
                <a:latin typeface="+mn-lt"/>
                <a:ea typeface="+mn-ea"/>
              </a:rPr>
              <a:t>5</a:t>
            </a:r>
          </a:p>
        </p:txBody>
      </p:sp>
      <p:sp>
        <p:nvSpPr>
          <p:cNvPr id="17418" name="Oval 8"/>
          <p:cNvSpPr>
            <a:spLocks noChangeArrowheads="1"/>
          </p:cNvSpPr>
          <p:nvPr>
            <p:custDataLst>
              <p:tags r:id="rId2"/>
            </p:custDataLst>
          </p:nvPr>
        </p:nvSpPr>
        <p:spPr bwMode="auto">
          <a:xfrm>
            <a:off x="2793751" y="2096770"/>
            <a:ext cx="1368457" cy="1274445"/>
          </a:xfrm>
          <a:prstGeom prst="ellipse">
            <a:avLst/>
          </a:prstGeom>
          <a:solidFill>
            <a:srgbClr val="3B9582"/>
          </a:solidFill>
          <a:ln>
            <a:noFill/>
          </a:ln>
          <a:effectLs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mn-lt"/>
                <a:ea typeface="+mn-ea"/>
              </a:rPr>
              <a:t>0</a:t>
            </a:r>
            <a:r>
              <a:rPr lang="en-US" altLang="zh-CN" sz="2800" dirty="0">
                <a:solidFill>
                  <a:schemeClr val="bg1"/>
                </a:solidFill>
                <a:latin typeface="+mn-lt"/>
                <a:ea typeface="+mn-ea"/>
              </a:rPr>
              <a:t>4</a:t>
            </a:r>
          </a:p>
        </p:txBody>
      </p:sp>
      <p:sp>
        <p:nvSpPr>
          <p:cNvPr id="12" name="文本框 11"/>
          <p:cNvSpPr txBox="1"/>
          <p:nvPr>
            <p:custDataLst>
              <p:tags r:id="rId3"/>
            </p:custDataLst>
          </p:nvPr>
        </p:nvSpPr>
        <p:spPr>
          <a:xfrm>
            <a:off x="1317979" y="4079240"/>
            <a:ext cx="4320000" cy="251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nSpc>
                <a:spcPct val="125000"/>
              </a:lnSpc>
              <a:spcBef>
                <a:spcPts val="0"/>
              </a:spcBef>
            </a:pPr>
            <a:r>
              <a:rPr lang="zh-CN" altLang="en-US" dirty="0" smtClean="0">
                <a:sym typeface="+mn-ea"/>
              </a:rPr>
              <a:t>每个</a:t>
            </a:r>
            <a:r>
              <a:rPr lang="zh-CN" altLang="en-US" dirty="0">
                <a:sym typeface="+mn-ea"/>
              </a:rPr>
              <a:t>抽象层次内的模型、不同抽象层次的模型都必须协调一致。对同一事物从不同角度描述得到不同的模型、不同的视图后，要把它们合成为一个整体。建立在不同层次上的模型之间的关系，用</a:t>
            </a:r>
            <a:r>
              <a:rPr lang="en-US" altLang="zh-CN" dirty="0">
                <a:sym typeface="+mn-ea"/>
              </a:rPr>
              <a:t>UML</a:t>
            </a:r>
            <a:r>
              <a:rPr lang="zh-CN" altLang="en-US" dirty="0">
                <a:sym typeface="+mn-ea"/>
              </a:rPr>
              <a:t>中的细化关系表示出来，以便追踪系统的工作状态。</a:t>
            </a:r>
            <a:endParaRPr dirty="0">
              <a:sym typeface="+mn-ea"/>
            </a:endParaRPr>
          </a:p>
        </p:txBody>
      </p:sp>
      <p:sp>
        <p:nvSpPr>
          <p:cNvPr id="13" name="文本框 12"/>
          <p:cNvSpPr txBox="1"/>
          <p:nvPr/>
        </p:nvSpPr>
        <p:spPr>
          <a:xfrm>
            <a:off x="2462317" y="3550285"/>
            <a:ext cx="2031325" cy="369332"/>
          </a:xfrm>
          <a:prstGeom prst="rect">
            <a:avLst/>
          </a:prstGeom>
          <a:noFill/>
        </p:spPr>
        <p:txBody>
          <a:bodyPr wrap="none" rtlCol="0" anchor="t">
            <a:spAutoFit/>
          </a:bodyPr>
          <a:lstStyle/>
          <a:p>
            <a:r>
              <a:rPr lang="zh-CN" altLang="en-US" b="1" dirty="0">
                <a:latin typeface="微软雅黑" panose="020B0503020204020204" charset="-122"/>
                <a:ea typeface="微软雅黑" panose="020B0503020204020204" charset="-122"/>
                <a:sym typeface="+mn-ea"/>
              </a:rPr>
              <a:t>模型应具有协调性</a:t>
            </a:r>
            <a:endParaRPr lang="zh-CN" altLang="en-US" b="1" dirty="0"/>
          </a:p>
        </p:txBody>
      </p:sp>
      <p:sp>
        <p:nvSpPr>
          <p:cNvPr id="14" name="文本框 13"/>
          <p:cNvSpPr txBox="1"/>
          <p:nvPr>
            <p:custDataLst>
              <p:tags r:id="rId4"/>
            </p:custDataLst>
          </p:nvPr>
        </p:nvSpPr>
        <p:spPr>
          <a:xfrm>
            <a:off x="6609267" y="4079240"/>
            <a:ext cx="43200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nSpc>
                <a:spcPct val="125000"/>
              </a:lnSpc>
              <a:spcBef>
                <a:spcPts val="0"/>
              </a:spcBef>
            </a:pPr>
            <a:r>
              <a:rPr lang="zh-CN" altLang="en-US" dirty="0" smtClean="0">
                <a:sym typeface="+mn-ea"/>
              </a:rPr>
              <a:t>如果</a:t>
            </a:r>
            <a:r>
              <a:rPr lang="zh-CN" altLang="en-US" dirty="0">
                <a:sym typeface="+mn-ea"/>
              </a:rPr>
              <a:t>要建模的问题比较复杂，可以把问题分解成若干子问题，分别为每个子问题建模，把每个子模型构成一个包，以降低模型的复杂性和建模的难度。</a:t>
            </a:r>
            <a:endParaRPr dirty="0">
              <a:sym typeface="+mn-ea"/>
            </a:endParaRPr>
          </a:p>
        </p:txBody>
      </p:sp>
      <p:sp>
        <p:nvSpPr>
          <p:cNvPr id="15" name="文本框 14"/>
          <p:cNvSpPr txBox="1"/>
          <p:nvPr/>
        </p:nvSpPr>
        <p:spPr>
          <a:xfrm>
            <a:off x="7176524" y="3550285"/>
            <a:ext cx="3185487" cy="369332"/>
          </a:xfrm>
          <a:prstGeom prst="rect">
            <a:avLst/>
          </a:prstGeom>
          <a:noFill/>
        </p:spPr>
        <p:txBody>
          <a:bodyPr wrap="none" rtlCol="0" anchor="t">
            <a:spAutoFit/>
          </a:bodyPr>
          <a:lstStyle/>
          <a:p>
            <a:r>
              <a:rPr lang="zh-CN" altLang="en-US" b="1" dirty="0">
                <a:latin typeface="微软雅黑" panose="020B0503020204020204" charset="-122"/>
                <a:ea typeface="微软雅黑" panose="020B0503020204020204" charset="-122"/>
                <a:sym typeface="+mn-ea"/>
              </a:rPr>
              <a:t>模型和模型的元素应大小适中</a:t>
            </a:r>
            <a:endParaRPr lang="zh-CN" altLang="en-US" b="1" dirty="0"/>
          </a:p>
        </p:txBody>
      </p:sp>
      <p:cxnSp>
        <p:nvCxnSpPr>
          <p:cNvPr id="6" name="直接连接符 5"/>
          <p:cNvCxnSpPr>
            <a:stCxn id="17418" idx="6"/>
            <a:endCxn id="17415" idx="2"/>
          </p:cNvCxnSpPr>
          <p:nvPr/>
        </p:nvCxnSpPr>
        <p:spPr>
          <a:xfrm>
            <a:off x="4162208" y="2733993"/>
            <a:ext cx="392283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trips dir="rd"/>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6" name="文本占位符 5">
            <a:extLst>
              <a:ext uri="{FF2B5EF4-FFF2-40B4-BE49-F238E27FC236}">
                <a16:creationId xmlns:a16="http://schemas.microsoft.com/office/drawing/2014/main" id="{AB8CBA70-D4CE-B7FE-BDE1-D247B463215B}"/>
              </a:ext>
            </a:extLst>
          </p:cNvPr>
          <p:cNvSpPr>
            <a:spLocks noGrp="1"/>
          </p:cNvSpPr>
          <p:nvPr>
            <p:ph type="body" sz="quarter" idx="10"/>
          </p:nvPr>
        </p:nvSpPr>
        <p:spPr>
          <a:xfrm>
            <a:off x="900001" y="1322832"/>
            <a:ext cx="5196000" cy="400110"/>
          </a:xfrm>
        </p:spPr>
        <p:txBody>
          <a:bodyPr/>
          <a:lstStyle/>
          <a:p>
            <a:r>
              <a:rPr lang="en-US" altLang="zh-CN" dirty="0"/>
              <a:t>6.4.4 </a:t>
            </a:r>
            <a:r>
              <a:rPr lang="en-US" altLang="zh-CN" dirty="0">
                <a:sym typeface="+mn-ea"/>
              </a:rPr>
              <a:t>UML</a:t>
            </a:r>
            <a:r>
              <a:rPr lang="zh-CN" altLang="en-US" dirty="0">
                <a:sym typeface="+mn-ea"/>
              </a:rPr>
              <a:t>的扩展机制</a:t>
            </a:r>
          </a:p>
        </p:txBody>
      </p:sp>
      <p:grpSp>
        <p:nvGrpSpPr>
          <p:cNvPr id="4" name="组合 15"/>
          <p:cNvGrpSpPr/>
          <p:nvPr/>
        </p:nvGrpSpPr>
        <p:grpSpPr>
          <a:xfrm flipH="1">
            <a:off x="7193915" y="1741170"/>
            <a:ext cx="5013325" cy="973455"/>
            <a:chOff x="1" y="3428100"/>
            <a:chExt cx="5013433" cy="973302"/>
          </a:xfrm>
        </p:grpSpPr>
        <p:sp>
          <p:nvSpPr>
            <p:cNvPr id="19"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标签值</a:t>
              </a:r>
            </a:p>
          </p:txBody>
        </p:sp>
        <p:sp>
          <p:nvSpPr>
            <p:cNvPr id="20"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900001" y="2160000"/>
            <a:ext cx="5952490" cy="380936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t" anchorCtr="0">
            <a:noAutofit/>
          </a:bodyPr>
          <a:lstStyle/>
          <a:p>
            <a:pPr indent="457200" algn="just">
              <a:lnSpc>
                <a:spcPct val="120000"/>
              </a:lnSpc>
            </a:pPr>
            <a:r>
              <a:rPr lang="zh-CN" altLang="en-US" dirty="0">
                <a:solidFill>
                  <a:schemeClr val="tx1"/>
                </a:solidFill>
              </a:rPr>
              <a:t>利用标签值（标记值）可以增加模型元素的信息。每个标签代表一种性质，能应用于多个元素。每个标签值把性质定义成一个标签名和标签值。标签名和标签值都用字符串表示，且用花括号</a:t>
            </a:r>
            <a:r>
              <a:rPr lang="en-US" altLang="zh-CN" dirty="0">
                <a:solidFill>
                  <a:schemeClr val="tx1"/>
                </a:solidFill>
              </a:rPr>
              <a:t>{ }</a:t>
            </a:r>
            <a:r>
              <a:rPr lang="zh-CN" altLang="en-US" dirty="0">
                <a:solidFill>
                  <a:schemeClr val="tx1"/>
                </a:solidFill>
              </a:rPr>
              <a:t>括起来。标签值是布尔值</a:t>
            </a:r>
            <a:r>
              <a:rPr lang="en-US" altLang="zh-CN" dirty="0">
                <a:solidFill>
                  <a:schemeClr val="tx1"/>
                </a:solidFill>
              </a:rPr>
              <a:t>true</a:t>
            </a:r>
            <a:r>
              <a:rPr lang="zh-CN" altLang="en-US" dirty="0">
                <a:solidFill>
                  <a:schemeClr val="tx1"/>
                </a:solidFill>
              </a:rPr>
              <a:t>（真）时，可以省略不写。</a:t>
            </a:r>
          </a:p>
          <a:p>
            <a:pPr indent="457200" algn="just">
              <a:lnSpc>
                <a:spcPct val="120000"/>
              </a:lnSpc>
            </a:pPr>
            <a:r>
              <a:rPr lang="zh-CN" altLang="en-US" dirty="0">
                <a:solidFill>
                  <a:schemeClr val="tx1"/>
                </a:solidFill>
              </a:rPr>
              <a:t>例如，抽象类通常作为父类，用于描述子类的公共属性和行为。在抽象类的类图中，类名下面加上标签</a:t>
            </a:r>
            <a:r>
              <a:rPr lang="en-US" altLang="zh-CN" dirty="0">
                <a:solidFill>
                  <a:schemeClr val="tx1"/>
                </a:solidFill>
              </a:rPr>
              <a:t>{abstract}</a:t>
            </a:r>
            <a:r>
              <a:rPr lang="zh-CN" altLang="en-US" dirty="0">
                <a:solidFill>
                  <a:schemeClr val="tx1"/>
                </a:solidFill>
              </a:rPr>
              <a:t>，则表明该类不能有任何实例，如图</a:t>
            </a:r>
            <a:r>
              <a:rPr lang="en-US" altLang="zh-CN" dirty="0">
                <a:solidFill>
                  <a:schemeClr val="tx1"/>
                </a:solidFill>
              </a:rPr>
              <a:t>6-22</a:t>
            </a:r>
            <a:r>
              <a:rPr lang="zh-CN" altLang="en-US" dirty="0">
                <a:solidFill>
                  <a:schemeClr val="tx1"/>
                </a:solidFill>
              </a:rPr>
              <a:t>（</a:t>
            </a:r>
            <a:r>
              <a:rPr lang="en-US" altLang="zh-CN" dirty="0">
                <a:solidFill>
                  <a:schemeClr val="tx1"/>
                </a:solidFill>
              </a:rPr>
              <a:t>a</a:t>
            </a:r>
            <a:r>
              <a:rPr lang="zh-CN" altLang="en-US" dirty="0">
                <a:solidFill>
                  <a:schemeClr val="tx1"/>
                </a:solidFill>
              </a:rPr>
              <a:t>）所示。 对于类的</a:t>
            </a:r>
            <a:r>
              <a:rPr lang="en-US" altLang="zh-CN" dirty="0">
                <a:solidFill>
                  <a:schemeClr val="tx1"/>
                </a:solidFill>
              </a:rPr>
              <a:t>static</a:t>
            </a:r>
            <a:r>
              <a:rPr lang="zh-CN" altLang="en-US" dirty="0">
                <a:solidFill>
                  <a:schemeClr val="tx1"/>
                </a:solidFill>
              </a:rPr>
              <a:t>（静态的）、</a:t>
            </a:r>
            <a:r>
              <a:rPr lang="en-US" altLang="zh-CN" dirty="0">
                <a:solidFill>
                  <a:schemeClr val="tx1"/>
                </a:solidFill>
              </a:rPr>
              <a:t>virtual</a:t>
            </a:r>
            <a:r>
              <a:rPr lang="zh-CN" altLang="en-US" dirty="0">
                <a:solidFill>
                  <a:schemeClr val="tx1"/>
                </a:solidFill>
              </a:rPr>
              <a:t>（虚拟的）、</a:t>
            </a:r>
            <a:r>
              <a:rPr lang="en-US" altLang="zh-CN" dirty="0">
                <a:solidFill>
                  <a:schemeClr val="tx1"/>
                </a:solidFill>
              </a:rPr>
              <a:t>friend</a:t>
            </a:r>
            <a:r>
              <a:rPr lang="zh-CN" altLang="en-US" dirty="0">
                <a:solidFill>
                  <a:schemeClr val="tx1"/>
                </a:solidFill>
              </a:rPr>
              <a:t>（友元）等特性，有时也可以用三角形来标记，图中分别标有字母</a:t>
            </a:r>
            <a:r>
              <a:rPr lang="en-US" altLang="zh-CN" dirty="0">
                <a:solidFill>
                  <a:schemeClr val="tx1"/>
                </a:solidFill>
              </a:rPr>
              <a:t>S</a:t>
            </a:r>
            <a:r>
              <a:rPr lang="zh-CN" altLang="en-US" dirty="0">
                <a:solidFill>
                  <a:schemeClr val="tx1"/>
                </a:solidFill>
              </a:rPr>
              <a:t>，</a:t>
            </a:r>
            <a:r>
              <a:rPr lang="en-US" altLang="zh-CN" dirty="0">
                <a:solidFill>
                  <a:schemeClr val="tx1"/>
                </a:solidFill>
              </a:rPr>
              <a:t>V</a:t>
            </a:r>
            <a:r>
              <a:rPr lang="zh-CN" altLang="en-US" dirty="0">
                <a:solidFill>
                  <a:schemeClr val="tx1"/>
                </a:solidFill>
              </a:rPr>
              <a:t>，</a:t>
            </a:r>
            <a:r>
              <a:rPr lang="en-US" altLang="zh-CN" dirty="0">
                <a:solidFill>
                  <a:schemeClr val="tx1"/>
                </a:solidFill>
              </a:rPr>
              <a:t>F</a:t>
            </a:r>
            <a:r>
              <a:rPr lang="zh-CN" altLang="en-US" dirty="0">
                <a:solidFill>
                  <a:schemeClr val="tx1"/>
                </a:solidFill>
              </a:rPr>
              <a:t>，如图</a:t>
            </a:r>
            <a:r>
              <a:rPr lang="en-US" altLang="zh-CN" dirty="0">
                <a:solidFill>
                  <a:schemeClr val="tx1"/>
                </a:solidFill>
              </a:rPr>
              <a:t>6-22</a:t>
            </a:r>
            <a:r>
              <a:rPr lang="zh-CN" altLang="en-US" dirty="0">
                <a:solidFill>
                  <a:schemeClr val="tx1"/>
                </a:solidFill>
              </a:rPr>
              <a:t>（</a:t>
            </a:r>
            <a:r>
              <a:rPr lang="en-US" altLang="zh-CN" dirty="0">
                <a:solidFill>
                  <a:schemeClr val="tx1"/>
                </a:solidFill>
              </a:rPr>
              <a:t>b</a:t>
            </a:r>
            <a:r>
              <a:rPr lang="zh-CN" altLang="en-US" dirty="0">
                <a:solidFill>
                  <a:schemeClr val="tx1"/>
                </a:solidFill>
              </a:rPr>
              <a:t>）所示。</a:t>
            </a:r>
          </a:p>
        </p:txBody>
      </p:sp>
      <p:sp>
        <p:nvSpPr>
          <p:cNvPr id="7782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等腰三角形 4"/>
          <p:cNvSpPr/>
          <p:nvPr/>
        </p:nvSpPr>
        <p:spPr>
          <a:xfrm>
            <a:off x="9647852" y="4064682"/>
            <a:ext cx="468000" cy="46800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altLang="zh-CN" sz="1600" dirty="0" smtClean="0">
                <a:solidFill>
                  <a:schemeClr val="tx1"/>
                </a:solidFill>
              </a:rPr>
              <a:t>S</a:t>
            </a:r>
            <a:endParaRPr lang="zh-CN" altLang="en-US" sz="1600" dirty="0">
              <a:solidFill>
                <a:schemeClr val="tx1"/>
              </a:solidFill>
            </a:endParaRPr>
          </a:p>
        </p:txBody>
      </p:sp>
      <p:sp>
        <p:nvSpPr>
          <p:cNvPr id="15" name="等腰三角形 14"/>
          <p:cNvSpPr/>
          <p:nvPr/>
        </p:nvSpPr>
        <p:spPr>
          <a:xfrm>
            <a:off x="10304053" y="4064682"/>
            <a:ext cx="468000" cy="46800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altLang="zh-CN" sz="1600" dirty="0" smtClean="0">
                <a:solidFill>
                  <a:schemeClr val="tx1"/>
                </a:solidFill>
              </a:rPr>
              <a:t>V</a:t>
            </a:r>
            <a:endParaRPr lang="zh-CN" altLang="en-US" sz="1600" dirty="0">
              <a:solidFill>
                <a:schemeClr val="tx1"/>
              </a:solidFill>
            </a:endParaRPr>
          </a:p>
        </p:txBody>
      </p:sp>
      <p:sp>
        <p:nvSpPr>
          <p:cNvPr id="16" name="等腰三角形 15"/>
          <p:cNvSpPr/>
          <p:nvPr/>
        </p:nvSpPr>
        <p:spPr>
          <a:xfrm>
            <a:off x="10960254" y="4064682"/>
            <a:ext cx="468000" cy="46800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altLang="zh-CN" sz="1600" dirty="0" smtClean="0">
                <a:solidFill>
                  <a:schemeClr val="tx1"/>
                </a:solidFill>
              </a:rPr>
              <a:t>F</a:t>
            </a:r>
            <a:endParaRPr lang="zh-CN" altLang="en-US" sz="1600" dirty="0">
              <a:solidFill>
                <a:schemeClr val="tx1"/>
              </a:solidFill>
            </a:endParaRPr>
          </a:p>
        </p:txBody>
      </p:sp>
      <p:sp>
        <p:nvSpPr>
          <p:cNvPr id="17" name="矩形 16"/>
          <p:cNvSpPr/>
          <p:nvPr/>
        </p:nvSpPr>
        <p:spPr>
          <a:xfrm>
            <a:off x="8237005" y="3607440"/>
            <a:ext cx="1080000"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zh-CN" altLang="en-US" sz="1600" dirty="0" smtClean="0">
                <a:solidFill>
                  <a:schemeClr val="tx1"/>
                </a:solidFill>
              </a:rPr>
              <a:t>汽车</a:t>
            </a:r>
            <a:endParaRPr lang="en-US" altLang="zh-CN" sz="1600" dirty="0" smtClean="0">
              <a:solidFill>
                <a:schemeClr val="tx1"/>
              </a:solidFill>
            </a:endParaRPr>
          </a:p>
          <a:p>
            <a:pPr algn="ctr"/>
            <a:r>
              <a:rPr lang="en-US" altLang="zh-CN" sz="1600" dirty="0" smtClean="0">
                <a:solidFill>
                  <a:schemeClr val="tx1"/>
                </a:solidFill>
              </a:rPr>
              <a:t>{abstract}</a:t>
            </a:r>
            <a:endParaRPr lang="zh-CN" altLang="en-US" sz="1600" dirty="0">
              <a:solidFill>
                <a:schemeClr val="tx1"/>
              </a:solidFill>
            </a:endParaRPr>
          </a:p>
        </p:txBody>
      </p:sp>
      <p:sp>
        <p:nvSpPr>
          <p:cNvPr id="18" name="矩形 17"/>
          <p:cNvSpPr/>
          <p:nvPr/>
        </p:nvSpPr>
        <p:spPr>
          <a:xfrm>
            <a:off x="8237005" y="4192215"/>
            <a:ext cx="1080000" cy="3385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ltLang="zh-CN" sz="1600" dirty="0" smtClean="0">
              <a:solidFill>
                <a:schemeClr val="tx1"/>
              </a:solidFill>
            </a:endParaRPr>
          </a:p>
        </p:txBody>
      </p:sp>
      <p:sp>
        <p:nvSpPr>
          <p:cNvPr id="23" name="矩形 22"/>
          <p:cNvSpPr/>
          <p:nvPr/>
        </p:nvSpPr>
        <p:spPr>
          <a:xfrm>
            <a:off x="8237005" y="4530769"/>
            <a:ext cx="1080000" cy="3385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ltLang="zh-CN" sz="1600" dirty="0" smtClean="0">
              <a:solidFill>
                <a:schemeClr val="tx1"/>
              </a:solidFill>
            </a:endParaRPr>
          </a:p>
        </p:txBody>
      </p:sp>
      <p:sp>
        <p:nvSpPr>
          <p:cNvPr id="10" name="文本框 9"/>
          <p:cNvSpPr txBox="1"/>
          <p:nvPr/>
        </p:nvSpPr>
        <p:spPr>
          <a:xfrm>
            <a:off x="8663784" y="4869323"/>
            <a:ext cx="441146" cy="369332"/>
          </a:xfrm>
          <a:prstGeom prst="rect">
            <a:avLst/>
          </a:prstGeom>
          <a:noFill/>
        </p:spPr>
        <p:txBody>
          <a:bodyPr wrap="none" rtlCol="0">
            <a:spAutoFit/>
          </a:bodyPr>
          <a:lstStyle/>
          <a:p>
            <a:pPr algn="ctr"/>
            <a:r>
              <a:rPr lang="en-US" altLang="zh-CN" dirty="0" smtClean="0"/>
              <a:t>(a)</a:t>
            </a:r>
            <a:endParaRPr lang="zh-CN" altLang="en-US" dirty="0"/>
          </a:p>
        </p:txBody>
      </p:sp>
      <p:sp>
        <p:nvSpPr>
          <p:cNvPr id="24" name="文本框 23"/>
          <p:cNvSpPr txBox="1"/>
          <p:nvPr/>
        </p:nvSpPr>
        <p:spPr>
          <a:xfrm>
            <a:off x="10318082" y="4869323"/>
            <a:ext cx="453971" cy="369332"/>
          </a:xfrm>
          <a:prstGeom prst="rect">
            <a:avLst/>
          </a:prstGeom>
          <a:noFill/>
        </p:spPr>
        <p:txBody>
          <a:bodyPr wrap="none" rtlCol="0">
            <a:spAutoFit/>
          </a:bodyPr>
          <a:lstStyle/>
          <a:p>
            <a:pPr algn="ctr"/>
            <a:r>
              <a:rPr lang="en-US" altLang="zh-CN" dirty="0" smtClean="0"/>
              <a:t>(b)</a:t>
            </a:r>
            <a:endParaRPr lang="zh-CN" altLang="en-US" dirty="0"/>
          </a:p>
        </p:txBody>
      </p:sp>
      <p:sp>
        <p:nvSpPr>
          <p:cNvPr id="25" name="矩形 24"/>
          <p:cNvSpPr/>
          <p:nvPr/>
        </p:nvSpPr>
        <p:spPr>
          <a:xfrm>
            <a:off x="8663784" y="5277554"/>
            <a:ext cx="2108269" cy="369332"/>
          </a:xfrm>
          <a:prstGeom prst="rect">
            <a:avLst/>
          </a:prstGeom>
        </p:spPr>
        <p:txBody>
          <a:bodyPr wrap="none">
            <a:spAutoFit/>
          </a:bodyPr>
          <a:lstStyle/>
          <a:p>
            <a:pPr algn="ctr"/>
            <a:r>
              <a:rPr lang="zh-CN" altLang="en-US" dirty="0"/>
              <a:t>图</a:t>
            </a:r>
            <a:r>
              <a:rPr lang="en-US" altLang="zh-CN" dirty="0"/>
              <a:t>6-22  </a:t>
            </a:r>
            <a:r>
              <a:rPr lang="zh-CN" altLang="en-US" dirty="0"/>
              <a:t>标签的使用</a:t>
            </a:r>
          </a:p>
        </p:txBody>
      </p:sp>
    </p:spTree>
  </p:cSld>
  <p:clrMapOvr>
    <a:masterClrMapping/>
  </p:clrMapOvr>
  <p:transition>
    <p:strips dir="rd"/>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4" name="文本占位符 3">
            <a:extLst>
              <a:ext uri="{FF2B5EF4-FFF2-40B4-BE49-F238E27FC236}">
                <a16:creationId xmlns:a16="http://schemas.microsoft.com/office/drawing/2014/main" id="{97444C1C-FC89-9538-BF1D-0E79BA85E990}"/>
              </a:ext>
            </a:extLst>
          </p:cNvPr>
          <p:cNvSpPr>
            <a:spLocks noGrp="1"/>
          </p:cNvSpPr>
          <p:nvPr>
            <p:ph type="body" sz="quarter" idx="10"/>
          </p:nvPr>
        </p:nvSpPr>
        <p:spPr>
          <a:xfrm>
            <a:off x="900001" y="1322832"/>
            <a:ext cx="5196000" cy="400110"/>
          </a:xfrm>
        </p:spPr>
        <p:txBody>
          <a:bodyPr/>
          <a:lstStyle/>
          <a:p>
            <a:r>
              <a:rPr lang="en-US" altLang="zh-CN" dirty="0"/>
              <a:t>6.4.4 </a:t>
            </a:r>
            <a:r>
              <a:rPr lang="en-US" altLang="zh-CN" dirty="0">
                <a:sym typeface="+mn-ea"/>
              </a:rPr>
              <a:t>UML</a:t>
            </a:r>
            <a:r>
              <a:rPr lang="zh-CN" altLang="en-US" dirty="0">
                <a:sym typeface="+mn-ea"/>
              </a:rPr>
              <a:t>的扩展机制</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16" name="组合 15"/>
          <p:cNvGrpSpPr/>
          <p:nvPr/>
        </p:nvGrpSpPr>
        <p:grpSpPr>
          <a:xfrm flipH="1">
            <a:off x="7193915" y="1741170"/>
            <a:ext cx="5013325" cy="973455"/>
            <a:chOff x="1" y="3428100"/>
            <a:chExt cx="5013433" cy="973302"/>
          </a:xfrm>
        </p:grpSpPr>
        <p:sp>
          <p:nvSpPr>
            <p:cNvPr id="19"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约束</a:t>
              </a:r>
            </a:p>
          </p:txBody>
        </p:sp>
        <p:sp>
          <p:nvSpPr>
            <p:cNvPr id="20"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900001" y="2160000"/>
            <a:ext cx="5952490" cy="413419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t" anchorCtr="0">
            <a:spAutoFit/>
          </a:bodyPr>
          <a:lstStyle/>
          <a:p>
            <a:pPr indent="457200" algn="just">
              <a:lnSpc>
                <a:spcPct val="120000"/>
              </a:lnSpc>
            </a:pPr>
            <a:r>
              <a:rPr lang="zh-CN" altLang="en-US" dirty="0">
                <a:solidFill>
                  <a:schemeClr val="tx1"/>
                </a:solidFill>
              </a:rPr>
              <a:t>约束写在花括号内，用于对</a:t>
            </a:r>
            <a:r>
              <a:rPr lang="en-US" altLang="zh-CN" dirty="0">
                <a:solidFill>
                  <a:schemeClr val="tx1"/>
                </a:solidFill>
              </a:rPr>
              <a:t>UML</a:t>
            </a:r>
            <a:r>
              <a:rPr lang="zh-CN" altLang="en-US" dirty="0">
                <a:solidFill>
                  <a:schemeClr val="tx1"/>
                </a:solidFill>
              </a:rPr>
              <a:t>的元素进行限制。约束可以附加在类、对象或关系上。约束不能给已有的</a:t>
            </a:r>
            <a:r>
              <a:rPr lang="en-US" altLang="zh-CN" dirty="0">
                <a:solidFill>
                  <a:schemeClr val="tx1"/>
                </a:solidFill>
              </a:rPr>
              <a:t>UML</a:t>
            </a:r>
            <a:r>
              <a:rPr lang="zh-CN" altLang="en-US" dirty="0">
                <a:solidFill>
                  <a:schemeClr val="tx1"/>
                </a:solidFill>
              </a:rPr>
              <a:t>元素增加语义，只能限制元素的语义。</a:t>
            </a:r>
          </a:p>
          <a:p>
            <a:pPr indent="457200" algn="just">
              <a:lnSpc>
                <a:spcPct val="120000"/>
              </a:lnSpc>
            </a:pPr>
            <a:r>
              <a:rPr lang="zh-CN" altLang="en-US" dirty="0">
                <a:solidFill>
                  <a:schemeClr val="tx1"/>
                </a:solidFill>
              </a:rPr>
              <a:t>以下是约束的示例：</a:t>
            </a:r>
          </a:p>
          <a:p>
            <a:pPr indent="457200" algn="just">
              <a:lnSpc>
                <a:spcPct val="120000"/>
              </a:lnSpc>
            </a:pPr>
            <a:r>
              <a:rPr lang="en-US" altLang="zh-CN" dirty="0">
                <a:solidFill>
                  <a:schemeClr val="tx1"/>
                </a:solidFill>
              </a:rPr>
              <a:t>{complete}</a:t>
            </a:r>
            <a:r>
              <a:rPr lang="zh-CN" altLang="en-US" dirty="0">
                <a:solidFill>
                  <a:schemeClr val="tx1"/>
                </a:solidFill>
              </a:rPr>
              <a:t>：用于关系的约束，表明该分类是一个完全分类。</a:t>
            </a:r>
          </a:p>
          <a:p>
            <a:pPr indent="457200" algn="just">
              <a:lnSpc>
                <a:spcPct val="120000"/>
              </a:lnSpc>
            </a:pPr>
            <a:r>
              <a:rPr lang="en-US" altLang="zh-CN" dirty="0">
                <a:solidFill>
                  <a:schemeClr val="tx1"/>
                </a:solidFill>
              </a:rPr>
              <a:t>{hierarchy}</a:t>
            </a:r>
            <a:r>
              <a:rPr lang="zh-CN" altLang="en-US" dirty="0">
                <a:solidFill>
                  <a:schemeClr val="tx1"/>
                </a:solidFill>
              </a:rPr>
              <a:t>：用于关系的约束，表明该关系是一个分层关系。</a:t>
            </a:r>
          </a:p>
          <a:p>
            <a:pPr indent="457200" algn="just">
              <a:lnSpc>
                <a:spcPct val="120000"/>
              </a:lnSpc>
            </a:pPr>
            <a:r>
              <a:rPr lang="en-US" altLang="zh-CN" dirty="0">
                <a:solidFill>
                  <a:schemeClr val="tx1"/>
                </a:solidFill>
              </a:rPr>
              <a:t>{ordered}</a:t>
            </a:r>
            <a:r>
              <a:rPr lang="zh-CN" altLang="en-US" dirty="0">
                <a:solidFill>
                  <a:schemeClr val="tx1"/>
                </a:solidFill>
              </a:rPr>
              <a:t>：用于多重性的约束，表明目标对象是有序的。</a:t>
            </a:r>
          </a:p>
          <a:p>
            <a:pPr indent="457200" algn="just">
              <a:lnSpc>
                <a:spcPct val="120000"/>
              </a:lnSpc>
            </a:pPr>
            <a:r>
              <a:rPr lang="en-US" altLang="zh-CN" dirty="0">
                <a:solidFill>
                  <a:schemeClr val="tx1"/>
                </a:solidFill>
              </a:rPr>
              <a:t>{bag}</a:t>
            </a:r>
            <a:r>
              <a:rPr lang="zh-CN" altLang="en-US" dirty="0">
                <a:solidFill>
                  <a:schemeClr val="tx1"/>
                </a:solidFill>
              </a:rPr>
              <a:t>：用于多重性的约束，表明目标对象多次出现、无序。</a:t>
            </a:r>
            <a:endParaRPr lang="zh-CN" altLang="en-US" dirty="0">
              <a:solidFill>
                <a:schemeClr val="tx1"/>
              </a:solidFill>
            </a:endParaRPr>
          </a:p>
        </p:txBody>
      </p:sp>
    </p:spTree>
  </p:cSld>
  <p:clrMapOvr>
    <a:masterClrMapping/>
  </p:clrMapOvr>
  <p:transition>
    <p:strips dir="rd"/>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6" name="文本占位符 5">
            <a:extLst>
              <a:ext uri="{FF2B5EF4-FFF2-40B4-BE49-F238E27FC236}">
                <a16:creationId xmlns:a16="http://schemas.microsoft.com/office/drawing/2014/main" id="{E7D371B8-02E7-2178-4A6F-E75F3FC1B1D4}"/>
              </a:ext>
            </a:extLst>
          </p:cNvPr>
          <p:cNvSpPr>
            <a:spLocks noGrp="1"/>
          </p:cNvSpPr>
          <p:nvPr>
            <p:ph type="body" sz="quarter" idx="10"/>
          </p:nvPr>
        </p:nvSpPr>
        <p:spPr/>
        <p:txBody>
          <a:bodyPr/>
          <a:lstStyle/>
          <a:p>
            <a:r>
              <a:rPr lang="en-US" altLang="zh-CN" dirty="0"/>
              <a:t>6.4.4 </a:t>
            </a:r>
            <a:r>
              <a:rPr lang="en-US" altLang="zh-CN" dirty="0">
                <a:sym typeface="+mn-ea"/>
              </a:rPr>
              <a:t>UML</a:t>
            </a:r>
            <a:r>
              <a:rPr lang="zh-CN" altLang="en-US" dirty="0">
                <a:sym typeface="+mn-ea"/>
              </a:rPr>
              <a:t>的扩展机制</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4" name="组合 15"/>
          <p:cNvGrpSpPr/>
          <p:nvPr/>
        </p:nvGrpSpPr>
        <p:grpSpPr>
          <a:xfrm flipH="1">
            <a:off x="7193915" y="1741170"/>
            <a:ext cx="5013325" cy="973455"/>
            <a:chOff x="1" y="3428100"/>
            <a:chExt cx="5013433" cy="973302"/>
          </a:xfrm>
        </p:grpSpPr>
        <p:sp>
          <p:nvSpPr>
            <p:cNvPr id="19"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版型</a:t>
              </a:r>
            </a:p>
          </p:txBody>
        </p:sp>
        <p:sp>
          <p:nvSpPr>
            <p:cNvPr id="20"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03</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3" name="矩形 12"/>
          <p:cNvSpPr/>
          <p:nvPr/>
        </p:nvSpPr>
        <p:spPr>
          <a:xfrm>
            <a:off x="8553791" y="4395708"/>
            <a:ext cx="2646878" cy="369332"/>
          </a:xfrm>
          <a:prstGeom prst="rect">
            <a:avLst/>
          </a:prstGeom>
        </p:spPr>
        <p:txBody>
          <a:bodyPr wrap="none">
            <a:spAutoFit/>
          </a:bodyPr>
          <a:lstStyle/>
          <a:p>
            <a:pPr algn="ctr"/>
            <a:r>
              <a:rPr lang="zh-CN" altLang="en-US" dirty="0"/>
              <a:t>图</a:t>
            </a:r>
            <a:r>
              <a:rPr lang="en-US" dirty="0"/>
              <a:t>6-23  UML</a:t>
            </a:r>
            <a:r>
              <a:rPr lang="zh-CN" altLang="en-US" dirty="0"/>
              <a:t>图中的版型</a:t>
            </a:r>
          </a:p>
        </p:txBody>
      </p:sp>
      <p:sp>
        <p:nvSpPr>
          <p:cNvPr id="14" name="MH_Desc_1"/>
          <p:cNvSpPr/>
          <p:nvPr>
            <p:custDataLst>
              <p:tags r:id="rId1"/>
            </p:custDataLst>
          </p:nvPr>
        </p:nvSpPr>
        <p:spPr>
          <a:xfrm>
            <a:off x="900001" y="2160000"/>
            <a:ext cx="5952490" cy="27777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t" anchorCtr="0">
            <a:spAutoFit/>
          </a:bodyPr>
          <a:lstStyle/>
          <a:p>
            <a:pPr indent="457200" algn="just">
              <a:lnSpc>
                <a:spcPct val="120000"/>
              </a:lnSpc>
            </a:pPr>
            <a:r>
              <a:rPr lang="zh-CN" altLang="en-US" dirty="0" smtClean="0">
                <a:solidFill>
                  <a:schemeClr val="tx1"/>
                </a:solidFill>
              </a:rPr>
              <a:t>版</a:t>
            </a:r>
            <a:r>
              <a:rPr lang="zh-CN" altLang="en-US" dirty="0">
                <a:solidFill>
                  <a:schemeClr val="tx1"/>
                </a:solidFill>
              </a:rPr>
              <a:t>型（</a:t>
            </a:r>
            <a:r>
              <a:rPr lang="en-US" altLang="zh-CN" dirty="0">
                <a:solidFill>
                  <a:schemeClr val="tx1"/>
                </a:solidFill>
              </a:rPr>
              <a:t>Stereotype</a:t>
            </a:r>
            <a:r>
              <a:rPr lang="zh-CN" altLang="en-US" dirty="0">
                <a:solidFill>
                  <a:schemeClr val="tx1"/>
                </a:solidFill>
              </a:rPr>
              <a:t>）能把</a:t>
            </a:r>
            <a:r>
              <a:rPr lang="en-US" altLang="zh-CN" dirty="0">
                <a:solidFill>
                  <a:schemeClr val="tx1"/>
                </a:solidFill>
              </a:rPr>
              <a:t>UML</a:t>
            </a:r>
            <a:r>
              <a:rPr lang="zh-CN" altLang="en-US" dirty="0">
                <a:solidFill>
                  <a:schemeClr val="tx1"/>
                </a:solidFill>
              </a:rPr>
              <a:t>已经定义的元素的语义专有化或扩展。</a:t>
            </a:r>
            <a:r>
              <a:rPr lang="en-US" altLang="zh-CN" dirty="0">
                <a:solidFill>
                  <a:schemeClr val="tx1"/>
                </a:solidFill>
              </a:rPr>
              <a:t>UML</a:t>
            </a:r>
            <a:r>
              <a:rPr lang="zh-CN" altLang="en-US" dirty="0">
                <a:solidFill>
                  <a:schemeClr val="tx1"/>
                </a:solidFill>
              </a:rPr>
              <a:t>中预定义了</a:t>
            </a:r>
            <a:r>
              <a:rPr lang="en-US" altLang="zh-CN" dirty="0">
                <a:solidFill>
                  <a:schemeClr val="tx1"/>
                </a:solidFill>
              </a:rPr>
              <a:t>40</a:t>
            </a:r>
            <a:r>
              <a:rPr lang="zh-CN" altLang="en-US" dirty="0">
                <a:solidFill>
                  <a:schemeClr val="tx1"/>
                </a:solidFill>
              </a:rPr>
              <a:t>多种版型，与标签值和约束一样，用户可以自定义版型。</a:t>
            </a:r>
          </a:p>
          <a:p>
            <a:pPr indent="457200" algn="just">
              <a:lnSpc>
                <a:spcPct val="120000"/>
              </a:lnSpc>
            </a:pPr>
            <a:r>
              <a:rPr lang="zh-CN" altLang="en-US" dirty="0" smtClean="0">
                <a:solidFill>
                  <a:schemeClr val="tx1"/>
                </a:solidFill>
              </a:rPr>
              <a:t>版</a:t>
            </a:r>
            <a:r>
              <a:rPr lang="zh-CN" altLang="en-US" dirty="0">
                <a:solidFill>
                  <a:schemeClr val="tx1"/>
                </a:solidFill>
              </a:rPr>
              <a:t>型的图形符号是“</a:t>
            </a:r>
            <a:r>
              <a:rPr lang="en-US" altLang="zh-CN" dirty="0">
                <a:solidFill>
                  <a:schemeClr val="tx1"/>
                </a:solidFill>
              </a:rPr>
              <a:t>《”</a:t>
            </a:r>
            <a:r>
              <a:rPr lang="zh-CN" altLang="en-US" dirty="0">
                <a:solidFill>
                  <a:schemeClr val="tx1"/>
                </a:solidFill>
              </a:rPr>
              <a:t>和“</a:t>
            </a:r>
            <a:r>
              <a:rPr lang="en-US" altLang="zh-CN" dirty="0">
                <a:solidFill>
                  <a:schemeClr val="tx1"/>
                </a:solidFill>
              </a:rPr>
              <a:t>》”</a:t>
            </a:r>
            <a:r>
              <a:rPr lang="zh-CN" altLang="en-US" dirty="0">
                <a:solidFill>
                  <a:schemeClr val="tx1"/>
                </a:solidFill>
              </a:rPr>
              <a:t>，括号中间写版型名，如图</a:t>
            </a:r>
            <a:r>
              <a:rPr lang="en-US" altLang="zh-CN" dirty="0">
                <a:solidFill>
                  <a:schemeClr val="tx1"/>
                </a:solidFill>
              </a:rPr>
              <a:t>6-23</a:t>
            </a:r>
            <a:r>
              <a:rPr lang="zh-CN" altLang="en-US" dirty="0">
                <a:solidFill>
                  <a:schemeClr val="tx1"/>
                </a:solidFill>
              </a:rPr>
              <a:t>所示。</a:t>
            </a:r>
          </a:p>
          <a:p>
            <a:pPr indent="457200" algn="just">
              <a:lnSpc>
                <a:spcPct val="120000"/>
              </a:lnSpc>
            </a:pPr>
            <a:r>
              <a:rPr lang="en-US" altLang="zh-CN" dirty="0" smtClean="0">
                <a:solidFill>
                  <a:schemeClr val="tx1"/>
                </a:solidFill>
              </a:rPr>
              <a:t>UML</a:t>
            </a:r>
            <a:r>
              <a:rPr lang="zh-CN" altLang="en-US" dirty="0">
                <a:solidFill>
                  <a:schemeClr val="tx1"/>
                </a:solidFill>
              </a:rPr>
              <a:t>中的元素具有通用的语义，利用版型可以对元素进行专有化和扩展。版型不是给元素增加新的属性或约束，而是直接在已有元素中增加新的语义。</a:t>
            </a:r>
            <a:endParaRPr lang="zh-CN" altLang="en-US" dirty="0">
              <a:solidFill>
                <a:schemeClr val="tx1"/>
              </a:solidFill>
            </a:endParaRPr>
          </a:p>
        </p:txBody>
      </p:sp>
      <p:sp>
        <p:nvSpPr>
          <p:cNvPr id="5" name="矩形 4"/>
          <p:cNvSpPr/>
          <p:nvPr/>
        </p:nvSpPr>
        <p:spPr>
          <a:xfrm>
            <a:off x="8237005" y="3719827"/>
            <a:ext cx="108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服务器</a:t>
            </a:r>
          </a:p>
        </p:txBody>
      </p:sp>
      <p:sp>
        <p:nvSpPr>
          <p:cNvPr id="15" name="矩形 14"/>
          <p:cNvSpPr/>
          <p:nvPr/>
        </p:nvSpPr>
        <p:spPr>
          <a:xfrm>
            <a:off x="10437456" y="3719827"/>
            <a:ext cx="108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客户端</a:t>
            </a:r>
            <a:endParaRPr lang="zh-CN" altLang="en-US" dirty="0">
              <a:solidFill>
                <a:schemeClr val="tx1"/>
              </a:solidFill>
            </a:endParaRPr>
          </a:p>
        </p:txBody>
      </p:sp>
      <p:cxnSp>
        <p:nvCxnSpPr>
          <p:cNvPr id="9" name="直接连接符 8"/>
          <p:cNvCxnSpPr>
            <a:stCxn id="5" idx="3"/>
            <a:endCxn id="15" idx="1"/>
          </p:cNvCxnSpPr>
          <p:nvPr/>
        </p:nvCxnSpPr>
        <p:spPr>
          <a:xfrm>
            <a:off x="9317005" y="3899827"/>
            <a:ext cx="11204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9438649" y="3424335"/>
            <a:ext cx="877163" cy="369332"/>
          </a:xfrm>
          <a:prstGeom prst="rect">
            <a:avLst/>
          </a:prstGeom>
          <a:noFill/>
        </p:spPr>
        <p:txBody>
          <a:bodyPr wrap="none" rtlCol="0">
            <a:spAutoFit/>
          </a:bodyPr>
          <a:lstStyle/>
          <a:p>
            <a:r>
              <a:rPr lang="en-US" altLang="zh-CN" dirty="0" smtClean="0"/>
              <a:t>TCP/IP</a:t>
            </a:r>
            <a:endParaRPr lang="zh-CN" altLang="en-US" dirty="0"/>
          </a:p>
        </p:txBody>
      </p:sp>
    </p:spTree>
  </p:cSld>
  <p:clrMapOvr>
    <a:masterClrMapping/>
  </p:clrMapOvr>
  <p:transition>
    <p:strips dir="rd"/>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5" name="文本占位符 4">
            <a:extLst>
              <a:ext uri="{FF2B5EF4-FFF2-40B4-BE49-F238E27FC236}">
                <a16:creationId xmlns:a16="http://schemas.microsoft.com/office/drawing/2014/main" id="{1FBBDF9C-E012-4AC6-6A66-0BE5C82BD26B}"/>
              </a:ext>
            </a:extLst>
          </p:cNvPr>
          <p:cNvSpPr>
            <a:spLocks noGrp="1"/>
          </p:cNvSpPr>
          <p:nvPr>
            <p:ph type="body" sz="quarter" idx="10"/>
          </p:nvPr>
        </p:nvSpPr>
        <p:spPr>
          <a:xfrm>
            <a:off x="900001" y="1322832"/>
            <a:ext cx="5196000" cy="400110"/>
          </a:xfrm>
        </p:spPr>
        <p:txBody>
          <a:bodyPr/>
          <a:lstStyle/>
          <a:p>
            <a:r>
              <a:rPr lang="en-US" altLang="zh-CN" dirty="0"/>
              <a:t>6.4.5 </a:t>
            </a:r>
            <a:r>
              <a:rPr lang="en-US" altLang="zh-CN" dirty="0">
                <a:sym typeface="+mn-ea"/>
              </a:rPr>
              <a:t>UML</a:t>
            </a:r>
            <a:r>
              <a:rPr lang="zh-CN" altLang="en-US" dirty="0">
                <a:sym typeface="+mn-ea"/>
              </a:rPr>
              <a:t>的应用领域</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sp>
        <p:nvSpPr>
          <p:cNvPr id="6" name="MH_Other_1"/>
          <p:cNvSpPr/>
          <p:nvPr>
            <p:custDataLst>
              <p:tags r:id="rId1"/>
            </p:custDataLst>
          </p:nvPr>
        </p:nvSpPr>
        <p:spPr bwMode="auto">
          <a:xfrm>
            <a:off x="802640" y="1969135"/>
            <a:ext cx="6541135" cy="431165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2" name="文本框 1"/>
          <p:cNvSpPr txBox="1"/>
          <p:nvPr/>
        </p:nvSpPr>
        <p:spPr>
          <a:xfrm>
            <a:off x="911225" y="2120265"/>
            <a:ext cx="6432550" cy="4010025"/>
          </a:xfrm>
          <a:prstGeom prst="rect">
            <a:avLst/>
          </a:prstGeom>
          <a:noFill/>
        </p:spPr>
        <p:txBody>
          <a:bodyPr wrap="square" rtlCol="0" anchor="t">
            <a:spAutoFit/>
          </a:bodyPr>
          <a:lstStyle/>
          <a:p>
            <a:pPr fontAlgn="auto">
              <a:lnSpc>
                <a:spcPct val="130000"/>
              </a:lnSpc>
            </a:pPr>
            <a:r>
              <a:rPr lang="en-US" altLang="zh-CN" dirty="0"/>
              <a:t>       </a:t>
            </a:r>
            <a:r>
              <a:rPr lang="zh-CN" altLang="en-US" dirty="0"/>
              <a:t>UML是一种建模语言，是一种标准的表示方法。UML可以为不同领域的人们提供统一的交流方法。其表示方法的标准化，有效地促进了不同背景的人们之间的交流，有效地促进了软件分析、设计、编码和测试人员的相互理解。</a:t>
            </a:r>
          </a:p>
          <a:p>
            <a:pPr fontAlgn="auto">
              <a:lnSpc>
                <a:spcPct val="130000"/>
              </a:lnSpc>
            </a:pPr>
            <a:r>
              <a:rPr lang="zh-CN" altLang="en-US" dirty="0"/>
              <a:t>       UML的目标是，用面向对象的图形方式来描述任何系统，因此具有很宽的应用领域。其中最常用的是建立软件系统的模型，也可以用于描述非计算机软件的其他系统，例如机械系统、商业系统、处理复杂数据的信息系统、企业机构或业务流程、具有实时要求的工业系统或工业过程等。UML是一种通用的标准建模语言，可以为任何具有静态结构和动态行为的系统建立模型。</a:t>
            </a:r>
          </a:p>
        </p:txBody>
      </p:sp>
    </p:spTree>
  </p:cSld>
  <p:clrMapOvr>
    <a:masterClrMapping/>
  </p:clrMapOvr>
  <p:transition>
    <p:strips dir="rd"/>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4801" y="360000"/>
            <a:ext cx="5401200" cy="523220"/>
          </a:xfrm>
        </p:spPr>
        <p:txBody>
          <a:bodyPr/>
          <a:lstStyle/>
          <a:p>
            <a:r>
              <a:rPr lang="en-US" dirty="0"/>
              <a:t>6.4 </a:t>
            </a:r>
            <a:r>
              <a:rPr lang="zh-CN" altLang="en-US" dirty="0">
                <a:sym typeface="+mn-ea"/>
              </a:rPr>
              <a:t>UML的应用</a:t>
            </a:r>
            <a:endParaRPr lang="zh-CN" altLang="en-US" dirty="0"/>
          </a:p>
        </p:txBody>
      </p:sp>
      <p:sp>
        <p:nvSpPr>
          <p:cNvPr id="6" name="文本占位符 5">
            <a:extLst>
              <a:ext uri="{FF2B5EF4-FFF2-40B4-BE49-F238E27FC236}">
                <a16:creationId xmlns:a16="http://schemas.microsoft.com/office/drawing/2014/main" id="{DA3C46E4-CBA0-B98E-7C6F-CFDED2A248EB}"/>
              </a:ext>
            </a:extLst>
          </p:cNvPr>
          <p:cNvSpPr>
            <a:spLocks noGrp="1"/>
          </p:cNvSpPr>
          <p:nvPr>
            <p:ph type="body" sz="quarter" idx="10"/>
          </p:nvPr>
        </p:nvSpPr>
        <p:spPr>
          <a:xfrm>
            <a:off x="900001" y="1322832"/>
            <a:ext cx="5196000" cy="400110"/>
          </a:xfrm>
        </p:spPr>
        <p:txBody>
          <a:bodyPr/>
          <a:lstStyle/>
          <a:p>
            <a:r>
              <a:rPr lang="en-US" altLang="zh-CN" dirty="0"/>
              <a:t>6.4.5 </a:t>
            </a:r>
            <a:r>
              <a:rPr lang="en-US" altLang="zh-CN" dirty="0">
                <a:sym typeface="+mn-ea"/>
              </a:rPr>
              <a:t>UML</a:t>
            </a:r>
            <a:r>
              <a:rPr lang="zh-CN" altLang="en-US" dirty="0">
                <a:sym typeface="+mn-ea"/>
              </a:rPr>
              <a:t>的应用领域</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4" name="组合 3"/>
          <p:cNvGrpSpPr/>
          <p:nvPr/>
        </p:nvGrpSpPr>
        <p:grpSpPr>
          <a:xfrm>
            <a:off x="809625" y="2157730"/>
            <a:ext cx="1784286" cy="590550"/>
            <a:chOff x="508000" y="3196191"/>
            <a:chExt cx="1784268" cy="590550"/>
          </a:xfrm>
        </p:grpSpPr>
        <p:sp>
          <p:nvSpPr>
            <p:cNvPr id="21"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13318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需求分析</a:t>
              </a:r>
            </a:p>
          </p:txBody>
        </p:sp>
      </p:grpSp>
      <p:sp>
        <p:nvSpPr>
          <p:cNvPr id="24" name="矩形 8"/>
          <p:cNvSpPr>
            <a:spLocks noChangeArrowheads="1"/>
          </p:cNvSpPr>
          <p:nvPr/>
        </p:nvSpPr>
        <p:spPr bwMode="auto">
          <a:xfrm>
            <a:off x="809625" y="2637790"/>
            <a:ext cx="46800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36000" rIns="72000" bIns="36000">
            <a:spAutoFit/>
          </a:bodyPr>
          <a:lstStyle/>
          <a:p>
            <a:pPr indent="457200">
              <a:lnSpc>
                <a:spcPct val="125000"/>
              </a:lnSpc>
            </a:pPr>
            <a:r>
              <a:rPr sz="1600" dirty="0" smtClean="0"/>
              <a:t>通过建立用例模型</a:t>
            </a:r>
            <a:r>
              <a:rPr sz="1600" dirty="0"/>
              <a:t>，描述用户对系统的功能要求。用逻辑视图和动态视图来识别和描述类以及类之间的相互关系。用类图描述系统的静态结构，协作图、顺序图、活动图和状态图描述系统的动态行为。此时只建立模型，并不涉及软件系统的解决问题的细节。</a:t>
            </a:r>
          </a:p>
        </p:txBody>
      </p:sp>
      <p:grpSp>
        <p:nvGrpSpPr>
          <p:cNvPr id="8" name="组合 7"/>
          <p:cNvGrpSpPr/>
          <p:nvPr/>
        </p:nvGrpSpPr>
        <p:grpSpPr>
          <a:xfrm>
            <a:off x="809625" y="4670425"/>
            <a:ext cx="1420445" cy="590550"/>
            <a:chOff x="508000" y="3196191"/>
            <a:chExt cx="1420431" cy="590550"/>
          </a:xfrm>
        </p:grpSpPr>
        <p:sp>
          <p:nvSpPr>
            <p:cNvPr id="9"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2</a:t>
              </a:r>
            </a:p>
          </p:txBody>
        </p:sp>
        <p:cxnSp>
          <p:nvCxnSpPr>
            <p:cNvPr id="10" name="直接连接符 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1" name="矩形 7"/>
            <p:cNvSpPr>
              <a:spLocks noChangeArrowheads="1"/>
            </p:cNvSpPr>
            <p:nvPr/>
          </p:nvSpPr>
          <p:spPr bwMode="auto">
            <a:xfrm>
              <a:off x="960437" y="3291441"/>
              <a:ext cx="9679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设计</a:t>
              </a:r>
            </a:p>
          </p:txBody>
        </p:sp>
      </p:grpSp>
      <p:sp>
        <p:nvSpPr>
          <p:cNvPr id="12" name="矩形 8"/>
          <p:cNvSpPr>
            <a:spLocks noChangeArrowheads="1"/>
          </p:cNvSpPr>
          <p:nvPr/>
        </p:nvSpPr>
        <p:spPr bwMode="auto">
          <a:xfrm>
            <a:off x="809625" y="5150485"/>
            <a:ext cx="4680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36000" rIns="72000" bIns="36000">
            <a:spAutoFit/>
          </a:bodyPr>
          <a:lstStyle/>
          <a:p>
            <a:pPr indent="457200">
              <a:lnSpc>
                <a:spcPct val="125000"/>
              </a:lnSpc>
            </a:pPr>
            <a:r>
              <a:rPr lang="zh-CN" altLang="en-US" sz="1600" dirty="0"/>
              <a:t>在分析结果的基础上，定义软件系统技术方案的细节</a:t>
            </a:r>
            <a:r>
              <a:rPr lang="zh-CN" altLang="en-US" sz="1600" dirty="0" smtClean="0"/>
              <a:t>。</a:t>
            </a:r>
            <a:endParaRPr sz="1600" dirty="0"/>
          </a:p>
        </p:txBody>
      </p:sp>
      <p:grpSp>
        <p:nvGrpSpPr>
          <p:cNvPr id="15" name="组合 14"/>
          <p:cNvGrpSpPr/>
          <p:nvPr/>
        </p:nvGrpSpPr>
        <p:grpSpPr>
          <a:xfrm>
            <a:off x="6489065" y="2157730"/>
            <a:ext cx="1317575" cy="602010"/>
            <a:chOff x="508000" y="3196191"/>
            <a:chExt cx="1317562" cy="590550"/>
          </a:xfrm>
        </p:grpSpPr>
        <p:sp>
          <p:nvSpPr>
            <p:cNvPr id="16" name="TextBox 1"/>
            <p:cNvSpPr txBox="1">
              <a:spLocks noChangeArrowheads="1"/>
            </p:cNvSpPr>
            <p:nvPr/>
          </p:nvSpPr>
          <p:spPr bwMode="auto">
            <a:xfrm>
              <a:off x="508000" y="3196191"/>
              <a:ext cx="318132" cy="512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4</a:t>
              </a:r>
            </a:p>
          </p:txBody>
        </p:sp>
        <p:cxnSp>
          <p:nvCxnSpPr>
            <p:cNvPr id="18" name="直接连接符 17"/>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9" name="矩形 7"/>
            <p:cNvSpPr>
              <a:spLocks noChangeArrowheads="1"/>
            </p:cNvSpPr>
            <p:nvPr/>
          </p:nvSpPr>
          <p:spPr bwMode="auto">
            <a:xfrm>
              <a:off x="960437" y="3291441"/>
              <a:ext cx="865125" cy="36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b="1" dirty="0">
                  <a:solidFill>
                    <a:srgbClr val="E67819"/>
                  </a:solidFill>
                  <a:latin typeface="微软雅黑" panose="020B0503020204020204" charset="-122"/>
                  <a:ea typeface="微软雅黑" panose="020B0503020204020204" charset="-122"/>
                </a:rPr>
                <a:t>测试</a:t>
              </a:r>
            </a:p>
          </p:txBody>
        </p:sp>
      </p:grpSp>
      <p:sp>
        <p:nvSpPr>
          <p:cNvPr id="20" name="矩形 8"/>
          <p:cNvSpPr>
            <a:spLocks noChangeArrowheads="1"/>
          </p:cNvSpPr>
          <p:nvPr/>
        </p:nvSpPr>
        <p:spPr bwMode="auto">
          <a:xfrm>
            <a:off x="6489065" y="2637790"/>
            <a:ext cx="46800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36000" rIns="72000" bIns="36000">
            <a:spAutoFit/>
          </a:bodyPr>
          <a:lstStyle/>
          <a:p>
            <a:pPr indent="457200">
              <a:lnSpc>
                <a:spcPct val="125000"/>
              </a:lnSpc>
            </a:pPr>
            <a:r>
              <a:rPr lang="zh-CN" altLang="en-US" sz="1600" dirty="0"/>
              <a:t>不同软件测试阶段可以用不同的 </a:t>
            </a:r>
            <a:r>
              <a:rPr lang="en-US" altLang="zh-CN" sz="1600" dirty="0"/>
              <a:t>UML</a:t>
            </a:r>
            <a:r>
              <a:rPr lang="zh-CN" altLang="en-US" sz="1600" dirty="0"/>
              <a:t> 图作为测试的依据。例如，单元测试可以使用类图和类的规格说明；集成测试使用构件图和协作图；系统测试使用用例图；验收测试由用户使用用例图</a:t>
            </a:r>
            <a:r>
              <a:rPr lang="zh-CN" altLang="en-US" sz="1600" dirty="0" smtClean="0"/>
              <a:t>。</a:t>
            </a:r>
            <a:endParaRPr sz="1600" dirty="0"/>
          </a:p>
        </p:txBody>
      </p:sp>
      <p:grpSp>
        <p:nvGrpSpPr>
          <p:cNvPr id="26" name="组合 25"/>
          <p:cNvGrpSpPr/>
          <p:nvPr/>
        </p:nvGrpSpPr>
        <p:grpSpPr>
          <a:xfrm>
            <a:off x="6489065" y="4670425"/>
            <a:ext cx="1370916" cy="590550"/>
            <a:chOff x="508000" y="3196191"/>
            <a:chExt cx="1370902" cy="590550"/>
          </a:xfrm>
        </p:grpSpPr>
        <p:sp>
          <p:nvSpPr>
            <p:cNvPr id="27"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3</a:t>
              </a:r>
            </a:p>
          </p:txBody>
        </p:sp>
        <p:cxnSp>
          <p:nvCxnSpPr>
            <p:cNvPr id="28" name="直接连接符 27"/>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0" name="矩形 7"/>
            <p:cNvSpPr>
              <a:spLocks noChangeArrowheads="1"/>
            </p:cNvSpPr>
            <p:nvPr/>
          </p:nvSpPr>
          <p:spPr bwMode="auto">
            <a:xfrm>
              <a:off x="960437" y="3291441"/>
              <a:ext cx="9184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编码</a:t>
              </a:r>
            </a:p>
          </p:txBody>
        </p:sp>
      </p:grpSp>
      <p:sp>
        <p:nvSpPr>
          <p:cNvPr id="31" name="矩形 8"/>
          <p:cNvSpPr>
            <a:spLocks noChangeArrowheads="1"/>
          </p:cNvSpPr>
          <p:nvPr/>
        </p:nvSpPr>
        <p:spPr bwMode="auto">
          <a:xfrm>
            <a:off x="6489065" y="5150485"/>
            <a:ext cx="4680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36000" rIns="72000" bIns="36000">
            <a:spAutoFit/>
          </a:bodyPr>
          <a:lstStyle/>
          <a:p>
            <a:pPr indent="457200">
              <a:lnSpc>
                <a:spcPct val="125000"/>
              </a:lnSpc>
            </a:pPr>
            <a:r>
              <a:rPr lang="zh-CN" altLang="en-US" sz="1600" dirty="0"/>
              <a:t>把设计阶段得到的类转换成某种面向对象程序设计语言的代码</a:t>
            </a:r>
            <a:r>
              <a:rPr lang="zh-CN" altLang="en-US" sz="1600" dirty="0" smtClean="0"/>
              <a:t>。</a:t>
            </a:r>
            <a:endParaRPr sz="1600" dirty="0"/>
          </a:p>
        </p:txBody>
      </p:sp>
      <p:sp>
        <p:nvSpPr>
          <p:cNvPr id="36" name="圆角矩形"/>
          <p:cNvSpPr/>
          <p:nvPr/>
        </p:nvSpPr>
        <p:spPr>
          <a:xfrm>
            <a:off x="7677785" y="793352"/>
            <a:ext cx="3996000" cy="578882"/>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nchorCtr="0">
            <a:spAutoFit/>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a:r>
              <a:rPr lang="en-US" altLang="zh-CN" sz="1400" dirty="0" smtClean="0">
                <a:solidFill>
                  <a:schemeClr val="tx1"/>
                </a:solidFill>
              </a:rPr>
              <a:t>UML</a:t>
            </a:r>
            <a:r>
              <a:rPr lang="zh-CN" altLang="en-US" sz="1400" dirty="0">
                <a:solidFill>
                  <a:schemeClr val="tx1"/>
                </a:solidFill>
              </a:rPr>
              <a:t>适用于系统开发的全过程，应用于需求分析、设计、编码和测试的所有阶段。</a:t>
            </a:r>
            <a:endParaRPr lang="zh-CN" altLang="en-US" sz="1400" dirty="0">
              <a:solidFill>
                <a:schemeClr val="tx1"/>
              </a:solidFill>
            </a:endParaRPr>
          </a:p>
        </p:txBody>
      </p:sp>
      <p:sp>
        <p:nvSpPr>
          <p:cNvPr id="37" name="学士帽"/>
          <p:cNvSpPr/>
          <p:nvPr/>
        </p:nvSpPr>
        <p:spPr bwMode="auto">
          <a:xfrm>
            <a:off x="7471410" y="542527"/>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panose="020B0503020204020204" pitchFamily="34" charset="-122"/>
            </a:endParaRPr>
          </a:p>
        </p:txBody>
      </p:sp>
    </p:spTree>
  </p:cSld>
  <p:clrMapOvr>
    <a:masterClrMapping/>
  </p:clrMapOvr>
  <p:transition>
    <p:strips dir="rd"/>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mtClean="0"/>
              <a:t>本章小结</a:t>
            </a:r>
            <a:endParaRPr lang="en-US" altLang="zh-CN" dirty="0"/>
          </a:p>
        </p:txBody>
      </p:sp>
      <p:sp>
        <p:nvSpPr>
          <p:cNvPr id="100" name="文本框 99"/>
          <p:cNvSpPr txBox="1"/>
          <p:nvPr/>
        </p:nvSpPr>
        <p:spPr>
          <a:xfrm>
            <a:off x="1482090" y="2185670"/>
            <a:ext cx="9675495" cy="3373231"/>
          </a:xfrm>
          <a:prstGeom prst="rect">
            <a:avLst/>
          </a:prstGeom>
          <a:noFill/>
          <a:ln w="9525">
            <a:noFill/>
          </a:ln>
        </p:spPr>
        <p:txBody>
          <a:bodyPr wrap="square">
            <a:spAutoFit/>
          </a:bodyPr>
          <a:lstStyle/>
          <a:p>
            <a:pPr marL="0" indent="0" algn="l" fontAlgn="auto">
              <a:lnSpc>
                <a:spcPct val="130000"/>
              </a:lnSpc>
            </a:pPr>
            <a:r>
              <a:rPr lang="en-US" altLang="zh-CN" sz="2000" dirty="0" smtClean="0">
                <a:latin typeface="微软雅黑" panose="020B0503020204020204" charset="-122"/>
                <a:ea typeface="微软雅黑" panose="020B0503020204020204" charset="-122"/>
                <a:sym typeface="+mn-ea"/>
              </a:rPr>
              <a:t>    </a:t>
            </a:r>
            <a:r>
              <a:rPr lang="en-US" altLang="zh-CN" dirty="0" smtClean="0">
                <a:latin typeface="微软雅黑" panose="020B0503020204020204" charset="-122"/>
                <a:ea typeface="微软雅黑" panose="020B0503020204020204" charset="-122"/>
                <a:sym typeface="+mn-ea"/>
              </a:rPr>
              <a:t>   </a:t>
            </a:r>
            <a:r>
              <a:rPr lang="zh-CN" altLang="en-US" dirty="0" smtClean="0">
                <a:latin typeface="微软雅黑" panose="020B0503020204020204" charset="-122"/>
                <a:ea typeface="微软雅黑" panose="020B0503020204020204" charset="-122"/>
                <a:sym typeface="+mn-ea"/>
              </a:rPr>
              <a:t>面向对象方法是一种将数据和处理相结合的方法，它不强调分析与设计之间的严格区分。</a:t>
            </a:r>
            <a:r>
              <a:rPr lang="zh-CN" altLang="en-US" dirty="0" smtClean="0">
                <a:solidFill>
                  <a:srgbClr val="C00000"/>
                </a:solidFill>
                <a:latin typeface="微软雅黑" panose="020B0503020204020204" charset="-122"/>
                <a:ea typeface="微软雅黑" panose="020B0503020204020204" charset="-122"/>
                <a:sym typeface="+mn-ea"/>
              </a:rPr>
              <a:t>从面向对象分析（OOA）到面向对象设计（OOD），</a:t>
            </a:r>
            <a:r>
              <a:rPr lang="zh-CN" altLang="en-US" dirty="0" smtClean="0">
                <a:latin typeface="微软雅黑" panose="020B0503020204020204" charset="-122"/>
                <a:ea typeface="微软雅黑" panose="020B0503020204020204" charset="-122"/>
                <a:sym typeface="+mn-ea"/>
              </a:rPr>
              <a:t>是一个反复多次迭代的过程。</a:t>
            </a:r>
          </a:p>
          <a:p>
            <a:pPr marL="0" indent="0" algn="l" fontAlgn="auto">
              <a:lnSpc>
                <a:spcPct val="130000"/>
              </a:lnSpc>
            </a:pPr>
            <a:r>
              <a:rPr lang="zh-CN" altLang="en-US" dirty="0" smtClean="0">
                <a:latin typeface="微软雅黑" panose="020B0503020204020204" charset="-122"/>
                <a:ea typeface="微软雅黑" panose="020B0503020204020204" charset="-122"/>
                <a:sym typeface="+mn-ea"/>
              </a:rPr>
              <a:t>       面向对象方法使用对象、类和继承机制，对象之间仅能通过传递消息实现彼此通信。可以用下列方程来概括：</a:t>
            </a:r>
          </a:p>
          <a:p>
            <a:pPr marL="0" indent="0" algn="l" fontAlgn="auto">
              <a:lnSpc>
                <a:spcPct val="130000"/>
              </a:lnSpc>
            </a:pPr>
            <a:r>
              <a:rPr lang="zh-CN" altLang="en-US" b="1" dirty="0" smtClean="0">
                <a:solidFill>
                  <a:srgbClr val="C00000"/>
                </a:solidFill>
                <a:latin typeface="微软雅黑" panose="020B0503020204020204" charset="-122"/>
                <a:ea typeface="微软雅黑" panose="020B0503020204020204" charset="-122"/>
                <a:sym typeface="+mn-ea"/>
              </a:rPr>
              <a:t>                                   面向对象＝对象＋类＋继承＋用消息通信</a:t>
            </a:r>
          </a:p>
          <a:p>
            <a:pPr marL="0" indent="0" algn="l" fontAlgn="auto">
              <a:lnSpc>
                <a:spcPct val="130000"/>
              </a:lnSpc>
            </a:pPr>
            <a:r>
              <a:rPr lang="zh-CN" altLang="en-US" dirty="0" smtClean="0">
                <a:latin typeface="微软雅黑" panose="020B0503020204020204" charset="-122"/>
                <a:ea typeface="微软雅黑" panose="020B0503020204020204" charset="-122"/>
                <a:sym typeface="+mn-ea"/>
              </a:rPr>
              <a:t>       UML是面向对象方法使用的一种标准建模语言。</a:t>
            </a:r>
          </a:p>
          <a:p>
            <a:pPr marL="0" indent="0" algn="l" fontAlgn="auto">
              <a:lnSpc>
                <a:spcPct val="130000"/>
              </a:lnSpc>
            </a:pPr>
            <a:r>
              <a:rPr lang="zh-CN" altLang="en-US" dirty="0" smtClean="0">
                <a:latin typeface="微软雅黑" panose="020B0503020204020204" charset="-122"/>
                <a:ea typeface="微软雅黑" panose="020B0503020204020204" charset="-122"/>
                <a:sym typeface="+mn-ea"/>
              </a:rPr>
              <a:t>       常用的UML图有9种：</a:t>
            </a:r>
            <a:r>
              <a:rPr lang="zh-CN" altLang="en-US" dirty="0" smtClean="0">
                <a:solidFill>
                  <a:srgbClr val="C00000"/>
                </a:solidFill>
                <a:latin typeface="微软雅黑" panose="020B0503020204020204" charset="-122"/>
                <a:ea typeface="微软雅黑" panose="020B0503020204020204" charset="-122"/>
                <a:sym typeface="+mn-ea"/>
              </a:rPr>
              <a:t>用例图、类图、对象图、状态图、顺序图、活动图、协作图、构件图、部署图。</a:t>
            </a:r>
          </a:p>
          <a:p>
            <a:pPr marL="0" indent="0" algn="l" fontAlgn="auto">
              <a:lnSpc>
                <a:spcPct val="130000"/>
              </a:lnSpc>
            </a:pPr>
            <a:endParaRPr lang="zh-CN" altLang="en-US" dirty="0">
              <a:latin typeface="微软雅黑" panose="020B0503020204020204" charset="-122"/>
              <a:ea typeface="微软雅黑" panose="020B0503020204020204" charset="-122"/>
              <a:sym typeface="+mn-ea"/>
            </a:endParaRPr>
          </a:p>
        </p:txBody>
      </p:sp>
      <p:sp>
        <p:nvSpPr>
          <p:cNvPr id="7" name="文本框 6"/>
          <p:cNvSpPr txBox="1"/>
          <p:nvPr/>
        </p:nvSpPr>
        <p:spPr>
          <a:xfrm>
            <a:off x="754380" y="308483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Sld>
  <p:clrMapOvr>
    <a:masterClrMapping/>
  </p:clrMapOvr>
  <p:transition>
    <p:split orient="vert" dir="in"/>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mtClean="0"/>
              <a:t>本章小结</a:t>
            </a:r>
            <a:endParaRPr lang="en-US" altLang="zh-CN" dirty="0"/>
          </a:p>
        </p:txBody>
      </p:sp>
      <p:sp>
        <p:nvSpPr>
          <p:cNvPr id="100" name="文本框 99"/>
          <p:cNvSpPr txBox="1"/>
          <p:nvPr/>
        </p:nvSpPr>
        <p:spPr>
          <a:xfrm>
            <a:off x="1488440" y="2351405"/>
            <a:ext cx="9215755" cy="2941320"/>
          </a:xfrm>
          <a:prstGeom prst="rect">
            <a:avLst/>
          </a:prstGeom>
          <a:noFill/>
          <a:ln w="9525">
            <a:noFill/>
          </a:ln>
        </p:spPr>
        <p:txBody>
          <a:bodyPr wrap="square">
            <a:spAutoFit/>
          </a:bodyPr>
          <a:lstStyle/>
          <a:p>
            <a:pPr marL="0" indent="0" algn="l"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solidFill>
                  <a:srgbClr val="C00000"/>
                </a:solidFill>
                <a:latin typeface="微软雅黑" panose="020B0503020204020204" charset="-122"/>
                <a:ea typeface="微软雅黑" panose="020B0503020204020204" charset="-122"/>
                <a:sym typeface="+mn-ea"/>
              </a:rPr>
              <a:t>包由类图或另一个包构成，表示包与包之间的依赖、细化和泛化等关系。</a:t>
            </a:r>
            <a:r>
              <a:rPr lang="zh-CN" altLang="en-US" dirty="0">
                <a:latin typeface="微软雅黑" panose="020B0503020204020204" charset="-122"/>
                <a:ea typeface="微软雅黑" panose="020B0503020204020204" charset="-122"/>
                <a:sym typeface="+mn-ea"/>
              </a:rPr>
              <a:t>包通常用于对模型的管理，可把包称为子系统。</a:t>
            </a:r>
          </a:p>
          <a:p>
            <a:pPr marL="0" indent="0" algn="l" fontAlgn="auto">
              <a:lnSpc>
                <a:spcPct val="130000"/>
              </a:lnSpc>
            </a:pPr>
            <a:r>
              <a:rPr lang="zh-CN" altLang="en-US" dirty="0">
                <a:latin typeface="微软雅黑" panose="020B0503020204020204" charset="-122"/>
                <a:ea typeface="微软雅黑" panose="020B0503020204020204" charset="-122"/>
                <a:sym typeface="+mn-ea"/>
              </a:rPr>
              <a:t>       </a:t>
            </a:r>
            <a:r>
              <a:rPr lang="zh-CN" altLang="en-US" dirty="0">
                <a:solidFill>
                  <a:srgbClr val="C00000"/>
                </a:solidFill>
                <a:latin typeface="微软雅黑" panose="020B0503020204020204" charset="-122"/>
                <a:ea typeface="微软雅黑" panose="020B0503020204020204" charset="-122"/>
                <a:sym typeface="+mn-ea"/>
              </a:rPr>
              <a:t>UML是一种有力的软件开发工具，</a:t>
            </a:r>
            <a:r>
              <a:rPr lang="zh-CN" altLang="en-US" dirty="0">
                <a:latin typeface="微软雅黑" panose="020B0503020204020204" charset="-122"/>
                <a:ea typeface="微软雅黑" panose="020B0503020204020204" charset="-122"/>
                <a:sym typeface="+mn-ea"/>
              </a:rPr>
              <a:t>它不仅可以用来在软件开发过程中对系统的各个方面进行建模，还可以用在许多工程领域。</a:t>
            </a:r>
          </a:p>
          <a:p>
            <a:pPr marL="0" indent="0" algn="l" fontAlgn="auto">
              <a:lnSpc>
                <a:spcPct val="130000"/>
              </a:lnSpc>
            </a:pPr>
            <a:r>
              <a:rPr lang="zh-CN" altLang="en-US" dirty="0">
                <a:latin typeface="微软雅黑" panose="020B0503020204020204" charset="-122"/>
                <a:ea typeface="微软雅黑" panose="020B0503020204020204" charset="-122"/>
                <a:sym typeface="+mn-ea"/>
              </a:rPr>
              <a:t>       面向对象方法在开发过程中会产生几种主要模型：</a:t>
            </a:r>
            <a:r>
              <a:rPr lang="zh-CN" altLang="en-US" b="1" dirty="0">
                <a:solidFill>
                  <a:srgbClr val="C00000"/>
                </a:solidFill>
                <a:latin typeface="微软雅黑" panose="020B0503020204020204" charset="-122"/>
                <a:ea typeface="微软雅黑" panose="020B0503020204020204" charset="-122"/>
                <a:sym typeface="+mn-ea"/>
              </a:rPr>
              <a:t>用例模型、静态模型、动态模型和实现模型。</a:t>
            </a:r>
          </a:p>
          <a:p>
            <a:pPr marL="0" indent="0" algn="l" fontAlgn="auto">
              <a:lnSpc>
                <a:spcPct val="130000"/>
              </a:lnSpc>
            </a:pPr>
            <a:r>
              <a:rPr lang="zh-CN" altLang="en-US" dirty="0">
                <a:latin typeface="微软雅黑" panose="020B0503020204020204" charset="-122"/>
                <a:ea typeface="微软雅黑" panose="020B0503020204020204" charset="-122"/>
                <a:sym typeface="+mn-ea"/>
              </a:rPr>
              <a:t>       UML常用的视图有5种：</a:t>
            </a:r>
            <a:r>
              <a:rPr lang="zh-CN" altLang="en-US" b="1" dirty="0">
                <a:solidFill>
                  <a:srgbClr val="C00000"/>
                </a:solidFill>
                <a:latin typeface="微软雅黑" panose="020B0503020204020204" charset="-122"/>
                <a:ea typeface="微软雅黑" panose="020B0503020204020204" charset="-122"/>
                <a:sym typeface="+mn-ea"/>
              </a:rPr>
              <a:t>用例视图、逻辑视图、并发视图、构件视图、部署视图。</a:t>
            </a:r>
          </a:p>
          <a:p>
            <a:pPr marL="0" indent="0" algn="l" fontAlgn="auto">
              <a:lnSpc>
                <a:spcPct val="130000"/>
              </a:lnSpc>
            </a:pPr>
            <a:r>
              <a:rPr lang="zh-CN" altLang="en-US" dirty="0">
                <a:latin typeface="微软雅黑" panose="020B0503020204020204" charset="-122"/>
                <a:ea typeface="微软雅黑" panose="020B0503020204020204" charset="-122"/>
                <a:sym typeface="+mn-ea"/>
              </a:rPr>
              <a:t>       开发者应根据实际需要选择使用合适的UML图和模型。</a:t>
            </a:r>
          </a:p>
        </p:txBody>
      </p:sp>
      <p:sp>
        <p:nvSpPr>
          <p:cNvPr id="7" name="文本框 6"/>
          <p:cNvSpPr txBox="1"/>
          <p:nvPr/>
        </p:nvSpPr>
        <p:spPr>
          <a:xfrm>
            <a:off x="754380" y="308483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Sld>
  <p:clrMapOvr>
    <a:masterClrMapping/>
  </p:clrMapOvr>
  <p:transition>
    <p:split orient="vert" dir="in"/>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1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2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2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2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2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3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3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3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3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36.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2"/>
</p:tagLst>
</file>

<file path=ppt/tags/tag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31*l_h_a*1_2_1"/>
  <p:tag name="KSO_WM_UNIT_LAYERLEVEL" val="1_1_1"/>
  <p:tag name="KSO_WM_UNIT_VALUE" val="6"/>
  <p:tag name="KSO_WM_UNIT_HIGHLIGHT" val="0"/>
  <p:tag name="KSO_WM_UNIT_COMPATIBLE" val="0"/>
  <p:tag name="KSO_WM_UNIT_CLEAR" val="0"/>
  <p:tag name="KSO_WM_DIAGRAM_GROUP_CODE" val="l1-9"/>
  <p:tag name="KSO_WM_UNIT_PRESET_TEXT" val="单击添加标题"/>
  <p:tag name="KSO_WM_UNIT_TEXT_FILL_FORE_SCHEMECOLOR_INDEX" val="14"/>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4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4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4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4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4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5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5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5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5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31*l_h_a*1_2_1"/>
  <p:tag name="KSO_WM_UNIT_LAYERLEVEL" val="1_1_1"/>
  <p:tag name="KSO_WM_UNIT_VALUE" val="6"/>
  <p:tag name="KSO_WM_UNIT_HIGHLIGHT" val="0"/>
  <p:tag name="KSO_WM_UNIT_COMPATIBLE" val="0"/>
  <p:tag name="KSO_WM_UNIT_CLEAR" val="0"/>
  <p:tag name="KSO_WM_DIAGRAM_GROUP_CODE" val="l1-9"/>
  <p:tag name="KSO_WM_UNIT_PRESET_TEXT" val="单击添加标题"/>
  <p:tag name="KSO_WM_UNIT_TEXT_FILL_FORE_SCHEMECOLOR_INDEX" val="14"/>
  <p:tag name="KSO_WM_UNIT_TEXT_FILL_TYPE" val="1"/>
  <p:tag name="KSO_WM_UNIT_USESOURCEFORMAT_APPLY" val="1"/>
</p:tagLst>
</file>

<file path=ppt/tags/tag5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5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5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6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6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6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6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6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6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6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6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16*l_i*1_1"/>
  <p:tag name="KSO_WM_UNIT_LAYERLEVEL" val="1_1"/>
  <p:tag name="KSO_WM_DIAGRAM_GROUP_CODE" val="l1-5"/>
  <p:tag name="KSO_WM_UNIT_FILL_FORE_SCHEMECOLOR_INDEX" val="9"/>
  <p:tag name="KSO_WM_UNIT_FILL_TYPE" val="1"/>
  <p:tag name="KSO_WM_UNIT_TEXT_FILL_FORE_SCHEMECOLOR_INDEX" val="13"/>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16*l_i*1_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3"/>
  <p:tag name="KSO_WM_UNIT_ID" val="custom160596_16*l_i*1_3"/>
  <p:tag name="KSO_WM_UNIT_LAYERLEVEL" val="1_1"/>
  <p:tag name="KSO_WM_DIAGRAM_GROUP_CODE" val="l1-5"/>
  <p:tag name="KSO_WM_UNIT_FILL_FORE_SCHEMECOLOR_INDEX" val="9"/>
  <p:tag name="KSO_WM_UNIT_FILL_TYPE" val="1"/>
  <p:tag name="KSO_WM_UNIT_TEXT_FILL_FORE_SCHEMECOLOR_INDEX" val="13"/>
  <p:tag name="KSO_WM_UNIT_TEXT_FILL_TYPE" val="1"/>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4"/>
  <p:tag name="KSO_WM_UNIT_ID" val="custom160596_16*l_i*1_4"/>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5"/>
  <p:tag name="KSO_WM_UNIT_ID" val="custom160596_16*l_i*1_5"/>
  <p:tag name="KSO_WM_UNIT_LAYERLEVEL" val="1_1"/>
  <p:tag name="KSO_WM_DIAGRAM_GROUP_CODE" val="l1-5"/>
  <p:tag name="KSO_WM_UNIT_FILL_FORE_SCHEMECOLOR_INDEX" val="7"/>
  <p:tag name="KSO_WM_UNIT_FILL_TYPE" val="1"/>
  <p:tag name="KSO_WM_UNIT_TEXT_FILL_FORE_SCHEMECOLOR_INDEX" val="13"/>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6"/>
  <p:tag name="KSO_WM_UNIT_ID" val="custom160596_16*l_i*1_6"/>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16*l_i*1_7"/>
  <p:tag name="KSO_WM_UNIT_LAYERLEVEL" val="1_1"/>
  <p:tag name="KSO_WM_DIAGRAM_GROUP_CODE" val="l1-5"/>
  <p:tag name="KSO_WM_UNIT_FILL_FORE_SCHEMECOLOR_INDEX" val="7"/>
  <p:tag name="KSO_WM_UNIT_FILL_TYPE" val="1"/>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8"/>
  <p:tag name="KSO_WM_UNIT_ID" val="custom160596_16*l_i*1_8"/>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9"/>
  <p:tag name="KSO_WM_UNIT_ID" val="custom160596_16*l_i*1_9"/>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0"/>
  <p:tag name="KSO_WM_UNIT_ID" val="custom160596_16*l_i*1_10"/>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3"/>
  <p:tag name="KSO_WM_UNIT_ID" val="custom160596_16*l_i*1_13"/>
  <p:tag name="KSO_WM_UNIT_LAYERLEVEL" val="1_1"/>
  <p:tag name="KSO_WM_DIAGRAM_GROUP_CODE" val="l1-5"/>
  <p:tag name="KSO_WM_UNIT_FILL_FORE_SCHEMECOLOR_INDEX" val="5"/>
  <p:tag name="KSO_WM_UNIT_FILL_TYPE" val="1"/>
  <p:tag name="KSO_WM_UNIT_TEXT_FILL_FORE_SCHEMECOLOR_INDEX" val="13"/>
  <p:tag name="KSO_WM_UNIT_TEXT_FILL_TYPE" val="1"/>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4"/>
  <p:tag name="KSO_WM_UNIT_ID" val="custom160596_16*l_i*1_14"/>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16*l_h_a*1_1_1"/>
  <p:tag name="KSO_WM_UNIT_LAYERLEVEL" val="1_1_1"/>
  <p:tag name="KSO_WM_UNIT_VALUE" val="6"/>
  <p:tag name="KSO_WM_UNIT_HIGHLIGHT" val="0"/>
  <p:tag name="KSO_WM_UNIT_COMPATIBLE" val="0"/>
  <p:tag name="KSO_WM_UNIT_CLEAR" val="0"/>
  <p:tag name="KSO_WM_DIAGRAM_GROUP_CODE" val="l1-5"/>
  <p:tag name="KSO_WM_UNIT_PRESET_TEXT" val="您的标题"/>
  <p:tag name="KSO_WM_UNIT_TEXT_FILL_FORE_SCHEMECOLOR_INDEX" val="13"/>
  <p:tag name="KSO_WM_UNIT_TEXT_FILL_TYPE" val="1"/>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3_1"/>
  <p:tag name="KSO_WM_UNIT_ID" val="custom160596_16*l_h_a*1_3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5_1"/>
  <p:tag name="KSO_WM_UNIT_ID" val="custom160596_16*l_h_a*1_5_1"/>
  <p:tag name="KSO_WM_UNIT_LAYERLEVEL" val="1_1_1"/>
  <p:tag name="KSO_WM_UNIT_VALUE" val="4"/>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4_1"/>
  <p:tag name="KSO_WM_UNIT_ID" val="custom160596_16*l_h_a*1_4_1"/>
  <p:tag name="KSO_WM_UNIT_LAYERLEVEL" val="1_1_1"/>
  <p:tag name="KSO_WM_UNIT_VALUE" val="4"/>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6_1"/>
  <p:tag name="KSO_WM_UNIT_ID" val="custom160596_16*l_h_a*1_6_1"/>
  <p:tag name="KSO_WM_UNIT_LAYERLEVEL" val="1_1_1"/>
  <p:tag name="KSO_WM_UNIT_VALUE" val="4"/>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7_1"/>
  <p:tag name="KSO_WM_UNIT_ID" val="custom160596_16*l_h_a*1_7_1"/>
  <p:tag name="KSO_WM_UNIT_LAYERLEVEL" val="1_1_1"/>
  <p:tag name="KSO_WM_UNIT_VALUE" val="4"/>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0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0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0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0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0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0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0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0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1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1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1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1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1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1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2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2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2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2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2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2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2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3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3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3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3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3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3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3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3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4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4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4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4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4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4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5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5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5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5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5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5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76.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Other"/>
  <p:tag name="MH_ORDER" val="1"/>
</p:tagLst>
</file>

<file path=ppt/tags/tag177.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itle"/>
  <p:tag name="MH_ORDER" val="1"/>
</p:tagLst>
</file>

<file path=ppt/tags/tag178.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179.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1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16*l_i*1_11"/>
  <p:tag name="KSO_WM_UNIT_LAYERLEVEL" val="1_1"/>
  <p:tag name="KSO_WM_DIAGRAM_GROUP_CODE" val="l1-5"/>
  <p:tag name="KSO_WM_UNIT_FILL_FORE_SCHEMECOLOR_INDEX" val="6"/>
  <p:tag name="KSO_WM_UNIT_FILL_TYPE" val="1"/>
  <p:tag name="KSO_WM_UNIT_TEXT_FILL_FORE_SCHEMECOLOR_INDEX" val="13"/>
  <p:tag name="KSO_WM_UNIT_TEXT_FILL_TYPE" val="1"/>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16*l_i*1_12"/>
  <p:tag name="KSO_WM_UNIT_LAYERLEVEL" val="1_1"/>
  <p:tag name="KSO_WM_DIAGRAM_GROUP_CODE" val="l1-5"/>
  <p:tag name="KSO_WM_UNIT_FILL_FORE_SCHEMECOLOR_INDEX" val="14"/>
  <p:tag name="KSO_WM_UNIT_FILL_TYPE" val="1"/>
  <p:tag name="KSO_WM_UNIT_TEXT_FILL_FORE_SCHEMECOLOR_INDEX" val="13"/>
  <p:tag name="KSO_WM_UNIT_TEXT_FILL_TYPE" val="1"/>
  <p:tag name="KSO_WM_UNIT_USESOURCEFORMAT_APPLY" val="1"/>
</p:tagLst>
</file>

<file path=ppt/tags/tag1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16*l_h_a*1_2_1"/>
  <p:tag name="KSO_WM_UNIT_LAYERLEVEL" val="1_1_1"/>
  <p:tag name="KSO_WM_UNIT_VALUE" val="6"/>
  <p:tag name="KSO_WM_UNIT_HIGHLIGHT" val="0"/>
  <p:tag name="KSO_WM_UNIT_COMPATIBLE" val="0"/>
  <p:tag name="KSO_WM_UNIT_CLEAR" val="0"/>
  <p:tag name="KSO_WM_DIAGRAM_GROUP_CODE" val="l1-5"/>
  <p:tag name="KSO_WM_UNIT_PRESET_TEXT" val="您的&#10;标题"/>
  <p:tag name="KSO_WM_UNIT_TEXT_FILL_FORE_SCHEMECOLOR_INDEX" val="13"/>
  <p:tag name="KSO_WM_UNIT_TEXT_FILL_TYPE" val="1"/>
  <p:tag name="KSO_WM_UNIT_USESOURCEFORMAT_APPLY" val="1"/>
</p:tagLst>
</file>

<file path=ppt/tags/tag18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84.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185.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186.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187.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188.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189.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19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9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9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9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9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2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1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11.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12.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13.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1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1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1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217.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Title"/>
  <p:tag name="MH_ORDER" val="1"/>
</p:tagLst>
</file>

<file path=ppt/tags/tag218.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19.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2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21.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22.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23.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2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22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
  <p:tag name="KSO_WM_UNIT_ID" val="custom160596_38*r_i*1_1"/>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
  <p:tag name="KSO_WM_UNIT_ID" val="custom160596_38*r_i*1_2"/>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3"/>
  <p:tag name="KSO_WM_UNIT_ID" val="custom160596_38*r_i*1_3"/>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4"/>
  <p:tag name="KSO_WM_UNIT_ID" val="custom160596_38*r_i*1_4"/>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2"/>
  <p:tag name="KSO_WM_UNIT_ID" val="custom160596_38*r_v*1_2"/>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5"/>
  <p:tag name="KSO_WM_UNIT_ID" val="custom160596_38*r_i*1_5"/>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6"/>
  <p:tag name="KSO_WM_UNIT_ID" val="custom160596_38*r_i*1_6"/>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4"/>
  <p:tag name="KSO_WM_UNIT_ID" val="custom160596_38*r_v*1_4"/>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7"/>
  <p:tag name="KSO_WM_UNIT_ID" val="custom160596_38*r_i*1_7"/>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8"/>
  <p:tag name="KSO_WM_UNIT_ID" val="custom160596_38*r_i*1_8"/>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6"/>
  <p:tag name="KSO_WM_UNIT_ID" val="custom160596_38*r_v*1_6"/>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9"/>
  <p:tag name="KSO_WM_UNIT_ID" val="custom160596_38*r_i*1_9"/>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0"/>
  <p:tag name="KSO_WM_UNIT_ID" val="custom160596_38*r_i*1_10"/>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8"/>
  <p:tag name="KSO_WM_UNIT_ID" val="custom160596_38*r_v*1_8"/>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1"/>
  <p:tag name="KSO_WM_UNIT_ID" val="custom160596_38*r_i*1_21"/>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2"/>
  <p:tag name="KSO_WM_UNIT_ID" val="custom160596_38*r_i*1_22"/>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1"/>
  <p:tag name="KSO_WM_UNIT_ID" val="custom160596_38*r_v*1_1"/>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9"/>
  <p:tag name="KSO_WM_UNIT_ID" val="custom160596_38*r_i*1_19"/>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0"/>
  <p:tag name="KSO_WM_UNIT_ID" val="custom160596_38*r_i*1_20"/>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3"/>
  <p:tag name="KSO_WM_UNIT_ID" val="custom160596_38*r_v*1_3"/>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7"/>
  <p:tag name="KSO_WM_UNIT_ID" val="custom160596_38*r_i*1_17"/>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8"/>
  <p:tag name="KSO_WM_UNIT_ID" val="custom160596_38*r_i*1_18"/>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5"/>
  <p:tag name="KSO_WM_UNIT_ID" val="custom160596_38*r_v*1_5"/>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5"/>
  <p:tag name="KSO_WM_UNIT_ID" val="custom160596_38*r_i*1_15"/>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6"/>
  <p:tag name="KSO_WM_UNIT_ID" val="custom160596_38*r_i*1_16"/>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7"/>
  <p:tag name="KSO_WM_UNIT_ID" val="custom160596_38*r_v*1_7"/>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52.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25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254.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25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25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25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25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25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2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2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6*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6*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6*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6*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6*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2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6*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2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6*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6*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6*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6*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9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29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29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29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9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9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9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9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9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30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30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30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30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2"/>
</p:tagLst>
</file>

<file path=ppt/tags/tag30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
</p:tagLst>
</file>

<file path=ppt/tags/tag30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2"/>
</p:tagLst>
</file>

<file path=ppt/tags/tag30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3"/>
</p:tagLst>
</file>

<file path=ppt/tags/tag30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4"/>
</p:tagLst>
</file>

<file path=ppt/tags/tag30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5"/>
</p:tagLst>
</file>

<file path=ppt/tags/tag30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31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31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31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31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31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31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31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1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1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1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2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2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2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2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3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3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3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3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4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4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4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4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4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4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4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5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5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5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5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5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6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6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6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6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6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6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7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7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37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373.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374.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375.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376.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37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37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37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380.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38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382.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383.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38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8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8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9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9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3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3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3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3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3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3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3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4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4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4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4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08.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409.xml><?xml version="1.0" encoding="utf-8"?>
<p:tagLst xmlns:a="http://schemas.openxmlformats.org/drawingml/2006/main" xmlns:r="http://schemas.openxmlformats.org/officeDocument/2006/relationships" xmlns:p="http://schemas.openxmlformats.org/presentationml/2006/main">
  <p:tag name="MH" val="20170104162547"/>
  <p:tag name="MH_LIBRARY" val="GRAPHIC"/>
  <p:tag name="MH_TYPE" val="Picture"/>
  <p:tag name="MH_ORDER" val="1"/>
</p:tagLst>
</file>

<file path=ppt/tags/tag410.xml><?xml version="1.0" encoding="utf-8"?>
<p:tagLst xmlns:a="http://schemas.openxmlformats.org/drawingml/2006/main" xmlns:r="http://schemas.openxmlformats.org/officeDocument/2006/relationships" xmlns:p="http://schemas.openxmlformats.org/presentationml/2006/main">
  <p:tag name="MH" val="20170104162547"/>
  <p:tag name="MH_LIBRARY" val="GRAPHIC"/>
  <p:tag name="MH_TYPE" val="Picture"/>
  <p:tag name="MH_ORDER" val="2"/>
</p:tagLst>
</file>

<file path=ppt/tags/tag4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4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4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4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4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4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4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4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4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4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426.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27.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28.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29.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30.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31.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32.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43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434.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43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43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43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43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439.xml><?xml version="1.0" encoding="utf-8"?>
<p:tagLst xmlns:a="http://schemas.openxmlformats.org/drawingml/2006/main" xmlns:r="http://schemas.openxmlformats.org/officeDocument/2006/relationships" xmlns:p="http://schemas.openxmlformats.org/presentationml/2006/main">
  <p:tag name="MH" val="20170105130131"/>
  <p:tag name="MH_LIBRARY" val="GRAPHIC"/>
  <p:tag name="MH_TYPE" val="Picture"/>
  <p:tag name="MH_ORDER" val="1"/>
</p:tagLst>
</file>

<file path=ppt/tags/tag4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4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4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4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4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4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4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4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5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4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5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5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5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5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5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5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5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5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6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6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46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6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6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6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6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6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7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7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7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47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47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7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7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77.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78.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79.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8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1"/>
</p:tagLst>
</file>

<file path=ppt/tags/tag481.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2"/>
</p:tagLst>
</file>

<file path=ppt/tags/tag482.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3"/>
</p:tagLst>
</file>

<file path=ppt/tags/tag483.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48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Title"/>
  <p:tag name="MH_ORDER" val="1"/>
</p:tagLst>
</file>

<file path=ppt/tags/tag48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8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8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48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489.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490.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491.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492.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49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4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4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4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49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4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4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5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5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5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5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5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5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5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5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5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51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5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14.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51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51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51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51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519.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520.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521.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522.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523.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524.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52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526.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52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52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52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530.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53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53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533.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SubTitle"/>
  <p:tag name="MH_ORDER" val="2"/>
</p:tagLst>
</file>

<file path=ppt/tags/tag534.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6"/>
</p:tagLst>
</file>

<file path=ppt/tags/tag535.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7"/>
</p:tagLst>
</file>

<file path=ppt/tags/tag536.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8"/>
</p:tagLst>
</file>

<file path=ppt/tags/tag537.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9"/>
</p:tagLst>
</file>

<file path=ppt/tags/tag538.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10"/>
</p:tagLst>
</file>

<file path=ppt/tags/tag539.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2"/>
</p:tagLst>
</file>

<file path=ppt/tags/tag540.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4"/>
</p:tagLst>
</file>

<file path=ppt/tags/tag541.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6"/>
</p:tagLst>
</file>

<file path=ppt/tags/tag542.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8"/>
</p:tagLst>
</file>

<file path=ppt/tags/tag543.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544.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545.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546.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5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0*m_i*1_1"/>
  <p:tag name="KSO_WM_DIAGRAM_GROUP_CODE" val="m1-1"/>
  <p:tag name="KSO_WM_UNIT_USESOURCEFORMAT_APPLY" val="1"/>
</p:tagLst>
</file>

<file path=ppt/tags/tag5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3"/>
  <p:tag name="KSO_WM_UNIT_CLEAR" val="1"/>
  <p:tag name="KSO_WM_UNIT_LAYERLEVEL" val="1_1"/>
  <p:tag name="KSO_WM_UNIT_ID" val="custom160034_20*m_i*1_3"/>
  <p:tag name="KSO_WM_DIAGRAM_GROUP_CODE" val="m1-1"/>
  <p:tag name="KSO_WM_UNIT_USESOURCEFORMAT_APPLY" val="1"/>
</p:tagLst>
</file>

<file path=ppt/tags/tag5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0*m_i*1_4"/>
  <p:tag name="KSO_WM_DIAGRAM_GROUP_CODE" val="m1-1"/>
  <p:tag name="KSO_WM_UNIT_USESOURCEFORMAT_APPLY" val="1"/>
</p:tagLst>
</file>

<file path=ppt/tags/tag5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5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3_1"/>
  <p:tag name="KSO_WM_UNIT_CLEAR" val="1"/>
  <p:tag name="KSO_WM_UNIT_LAYERLEVEL" val="1_1_1"/>
  <p:tag name="KSO_WM_UNIT_VALUE" val="91"/>
  <p:tag name="KSO_WM_UNIT_HIGHLIGHT" val="0"/>
  <p:tag name="KSO_WM_UNIT_COMPATIBLE" val="0"/>
  <p:tag name="KSO_WM_UNIT_ID" val="custom160034_20*m_h_f*1_3_1"/>
  <p:tag name="KSO_WM_UNIT_PRESET_TEXT_INDEX" val="2"/>
  <p:tag name="KSO_WM_UNIT_PRESET_TEXT_LEN" val="20"/>
  <p:tag name="KSO_WM_DIAGRAM_GROUP_CODE" val="m1-1"/>
  <p:tag name="KSO_WM_UNIT_USESOURCEFORMAT_APPLY" val="1"/>
</p:tagLst>
</file>

<file path=ppt/tags/tag5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5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0*m_i*1_1"/>
  <p:tag name="KSO_WM_DIAGRAM_GROUP_CODE" val="m1-1"/>
  <p:tag name="KSO_WM_UNIT_USESOURCEFORMAT_APPLY" val="1"/>
</p:tagLst>
</file>

<file path=ppt/tags/tag5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0*m_i*1_4"/>
  <p:tag name="KSO_WM_DIAGRAM_GROUP_CODE" val="m1-1"/>
  <p:tag name="KSO_WM_UNIT_USESOURCEFORMAT_APPLY" val="1"/>
</p:tagLst>
</file>

<file path=ppt/tags/tag5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5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55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5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55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5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56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6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5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5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5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6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56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56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569.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heme/theme1.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glpla">
      <a:majorFont>
        <a:latin typeface="Times New Roman"/>
        <a:ea typeface="微软雅黑"/>
        <a:cs typeface=""/>
      </a:majorFont>
      <a:minorFont>
        <a:latin typeface="Times New Roman"/>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2074</TotalTime>
  <Words>11242</Words>
  <Application>Microsoft Office PowerPoint</Application>
  <PresentationFormat>宽屏</PresentationFormat>
  <Paragraphs>1199</Paragraphs>
  <Slides>131</Slides>
  <Notes>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131</vt:i4>
      </vt:variant>
    </vt:vector>
  </HeadingPairs>
  <TitlesOfParts>
    <vt:vector size="147" baseType="lpstr">
      <vt:lpstr>MS PMincho</vt:lpstr>
      <vt:lpstr>MS UI Gothic</vt:lpstr>
      <vt:lpstr>黑体</vt:lpstr>
      <vt:lpstr>华文新魏</vt:lpstr>
      <vt:lpstr>宋体</vt:lpstr>
      <vt:lpstr>微软雅黑</vt:lpstr>
      <vt:lpstr>微软雅黑 Light</vt:lpstr>
      <vt:lpstr>幼圆</vt:lpstr>
      <vt:lpstr>Arial</vt:lpstr>
      <vt:lpstr>Arial Narrow</vt:lpstr>
      <vt:lpstr>Calibri</vt:lpstr>
      <vt:lpstr>Tempus Sans ITC</vt:lpstr>
      <vt:lpstr>Times New Roman</vt:lpstr>
      <vt:lpstr>Wingdings</vt:lpstr>
      <vt:lpstr>1_A000120141119A01PPBG</vt:lpstr>
      <vt:lpstr>Microsoft Word Document</vt:lpstr>
      <vt:lpstr>PowerPoint 演示文稿</vt:lpstr>
      <vt:lpstr>6 面向对象方法学与UML</vt:lpstr>
      <vt:lpstr>PowerPoint 演示文稿</vt:lpstr>
      <vt:lpstr>PowerPoint 演示文稿</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6.1 面向对象方法概述</vt:lpstr>
      <vt:lpstr>PowerPoint 演示文稿</vt:lpstr>
      <vt:lpstr>6.2 UML概述</vt:lpstr>
      <vt:lpstr>6.2 UML概述</vt:lpstr>
      <vt:lpstr>6.2 UML概述</vt:lpstr>
      <vt:lpstr>6.2 UML概述</vt:lpstr>
      <vt:lpstr>6.2 UML概述</vt:lpstr>
      <vt:lpstr>6.2 UML概述</vt:lpstr>
      <vt:lpstr>6.2 UML概述</vt:lpstr>
      <vt:lpstr>6.2 UML概述</vt:lpstr>
      <vt:lpstr>6.2 UML概述</vt:lpstr>
      <vt:lpstr>6.2 UML概述</vt:lpstr>
      <vt:lpstr>6.2 UML概述</vt:lpstr>
      <vt:lpstr>PowerPoint 演示文稿</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6.3 UML图</vt:lpstr>
      <vt:lpstr>PowerPoint 演示文稿</vt:lpstr>
      <vt:lpstr>6.3 UML图</vt:lpstr>
      <vt:lpstr>6.3 UML图</vt:lpstr>
      <vt:lpstr>6.3 UML图</vt:lpstr>
      <vt:lpstr>6.3 UML图</vt:lpstr>
      <vt:lpstr>6.3 UML图</vt:lpstr>
      <vt:lpstr>6.3 UML图</vt:lpstr>
      <vt:lpstr>6.3 UML图</vt:lpstr>
      <vt:lpstr>PowerPoint 演示文稿</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6.4 UML的应用</vt:lpstr>
      <vt:lpstr>本章小结</vt:lpstr>
      <vt:lpstr>本章小结</vt:lpstr>
      <vt:lpstr>PowerPoint 演示文稿</vt:lpstr>
    </vt:vector>
  </TitlesOfParts>
  <Manager>PLA</Manager>
  <Company>54414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glplaman.github.io</dc:creator>
  <cp:lastModifiedBy>HLZ-806</cp:lastModifiedBy>
  <cp:revision>243</cp:revision>
  <dcterms:created xsi:type="dcterms:W3CDTF">2017-01-19T17:11:00Z</dcterms:created>
  <dcterms:modified xsi:type="dcterms:W3CDTF">2026-05-18T08:58:54Z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