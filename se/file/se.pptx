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3" r:id="rId9"/>
    <p:sldId id="261" r:id="rId10"/>
    <p:sldId id="264" r:id="rId11"/>
    <p:sldId id="262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20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12" Type="http://schemas.openxmlformats.org/officeDocument/2006/relationships/image" Target="../media/image19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11" Type="http://schemas.openxmlformats.org/officeDocument/2006/relationships/image" Target="../media/image18.jpeg"/><Relationship Id="rId5" Type="http://schemas.openxmlformats.org/officeDocument/2006/relationships/image" Target="../media/image12.jpeg"/><Relationship Id="rId15" Type="http://schemas.openxmlformats.org/officeDocument/2006/relationships/image" Target="../media/image22.jpeg"/><Relationship Id="rId10" Type="http://schemas.openxmlformats.org/officeDocument/2006/relationships/image" Target="../media/image17.jpeg"/><Relationship Id="rId4" Type="http://schemas.openxmlformats.org/officeDocument/2006/relationships/image" Target="../media/image11.jpeg"/><Relationship Id="rId9" Type="http://schemas.openxmlformats.org/officeDocument/2006/relationships/image" Target="../media/image16.jpeg"/><Relationship Id="rId14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F9285AF1-8F55-E9C9-8DC0-98E04FC25726}"/>
              </a:ext>
            </a:extLst>
          </p:cNvPr>
          <p:cNvSpPr/>
          <p:nvPr/>
        </p:nvSpPr>
        <p:spPr>
          <a:xfrm>
            <a:off x="586965" y="59164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流程图: 过程 47">
            <a:extLst>
              <a:ext uri="{FF2B5EF4-FFF2-40B4-BE49-F238E27FC236}">
                <a16:creationId xmlns:a16="http://schemas.microsoft.com/office/drawing/2014/main" id="{6E40B3F3-F54B-CB24-7BF7-85251AE01444}"/>
              </a:ext>
            </a:extLst>
          </p:cNvPr>
          <p:cNvSpPr/>
          <p:nvPr/>
        </p:nvSpPr>
        <p:spPr>
          <a:xfrm>
            <a:off x="586965" y="131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流程图: 过程 48">
            <a:extLst>
              <a:ext uri="{FF2B5EF4-FFF2-40B4-BE49-F238E27FC236}">
                <a16:creationId xmlns:a16="http://schemas.microsoft.com/office/drawing/2014/main" id="{FC01D66F-9C4E-37E7-0961-33B9803324F8}"/>
              </a:ext>
            </a:extLst>
          </p:cNvPr>
          <p:cNvSpPr/>
          <p:nvPr/>
        </p:nvSpPr>
        <p:spPr>
          <a:xfrm>
            <a:off x="574360" y="3873654"/>
            <a:ext cx="36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2B64DA15-50C7-2AF6-F9CF-773184A9F618}"/>
              </a:ext>
            </a:extLst>
          </p:cNvPr>
          <p:cNvSpPr/>
          <p:nvPr/>
        </p:nvSpPr>
        <p:spPr>
          <a:xfrm>
            <a:off x="23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07C144-F4A6-EA9E-5B0D-B412F8A5E373}"/>
              </a:ext>
            </a:extLst>
          </p:cNvPr>
          <p:cNvCxnSpPr>
            <a:cxnSpLocks/>
          </p:cNvCxnSpPr>
          <p:nvPr/>
        </p:nvCxnSpPr>
        <p:spPr>
          <a:xfrm flipH="1">
            <a:off x="2374360" y="3873654"/>
            <a:ext cx="1800000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57B4AFCB-663D-2A8E-42B2-0EA09EF009A5}"/>
              </a:ext>
            </a:extLst>
          </p:cNvPr>
          <p:cNvCxnSpPr>
            <a:cxnSpLocks/>
          </p:cNvCxnSpPr>
          <p:nvPr/>
        </p:nvCxnSpPr>
        <p:spPr>
          <a:xfrm>
            <a:off x="574360" y="3873654"/>
            <a:ext cx="1824628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16995CD-1B44-C7DD-7A99-7358C9CC6337}"/>
              </a:ext>
            </a:extLst>
          </p:cNvPr>
          <p:cNvSpPr txBox="1"/>
          <p:nvPr/>
        </p:nvSpPr>
        <p:spPr>
          <a:xfrm>
            <a:off x="574360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D54A389-7BF3-5D51-8805-613F513286F1}"/>
              </a:ext>
            </a:extLst>
          </p:cNvPr>
          <p:cNvSpPr txBox="1"/>
          <p:nvPr/>
        </p:nvSpPr>
        <p:spPr>
          <a:xfrm>
            <a:off x="3895116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E65F55A-A4AF-5FA6-2546-99F06A7303DD}"/>
              </a:ext>
            </a:extLst>
          </p:cNvPr>
          <p:cNvSpPr txBox="1"/>
          <p:nvPr/>
        </p:nvSpPr>
        <p:spPr>
          <a:xfrm>
            <a:off x="2157794" y="391515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I&lt;N</a:t>
            </a:r>
            <a:endParaRPr lang="zh-CN" altLang="en-US" sz="1200" dirty="0"/>
          </a:p>
        </p:txBody>
      </p:sp>
      <p:sp>
        <p:nvSpPr>
          <p:cNvPr id="57" name="流程图: 过程 56">
            <a:extLst>
              <a:ext uri="{FF2B5EF4-FFF2-40B4-BE49-F238E27FC236}">
                <a16:creationId xmlns:a16="http://schemas.microsoft.com/office/drawing/2014/main" id="{4D038613-6837-DCB7-8D67-67EF56E445E9}"/>
              </a:ext>
            </a:extLst>
          </p:cNvPr>
          <p:cNvSpPr/>
          <p:nvPr/>
        </p:nvSpPr>
        <p:spPr>
          <a:xfrm>
            <a:off x="574360" y="5313654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37777DC2-2281-F725-D1F8-E31DA5D40C68}"/>
              </a:ext>
            </a:extLst>
          </p:cNvPr>
          <p:cNvSpPr/>
          <p:nvPr/>
        </p:nvSpPr>
        <p:spPr>
          <a:xfrm>
            <a:off x="5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过程 58">
            <a:extLst>
              <a:ext uri="{FF2B5EF4-FFF2-40B4-BE49-F238E27FC236}">
                <a16:creationId xmlns:a16="http://schemas.microsoft.com/office/drawing/2014/main" id="{2B71FE75-4837-EB29-30C7-14B358DADCB3}"/>
              </a:ext>
            </a:extLst>
          </p:cNvPr>
          <p:cNvSpPr/>
          <p:nvPr/>
        </p:nvSpPr>
        <p:spPr>
          <a:xfrm>
            <a:off x="14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B9A028B-BE10-3A72-001D-FC9A054BAFDE}"/>
              </a:ext>
            </a:extLst>
          </p:cNvPr>
          <p:cNvCxnSpPr>
            <a:cxnSpLocks/>
          </p:cNvCxnSpPr>
          <p:nvPr/>
        </p:nvCxnSpPr>
        <p:spPr>
          <a:xfrm flipH="1">
            <a:off x="14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2DEF2D3-3FF1-B8D5-FE95-83D9A2F96A6B}"/>
              </a:ext>
            </a:extLst>
          </p:cNvPr>
          <p:cNvCxnSpPr>
            <a:cxnSpLocks/>
          </p:cNvCxnSpPr>
          <p:nvPr/>
        </p:nvCxnSpPr>
        <p:spPr>
          <a:xfrm>
            <a:off x="5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E9730AF1-A6A3-3284-9080-C3A38781386B}"/>
              </a:ext>
            </a:extLst>
          </p:cNvPr>
          <p:cNvSpPr txBox="1"/>
          <p:nvPr/>
        </p:nvSpPr>
        <p:spPr>
          <a:xfrm>
            <a:off x="5989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8F1CDE4-7B60-BA05-9653-D55C88657770}"/>
              </a:ext>
            </a:extLst>
          </p:cNvPr>
          <p:cNvSpPr txBox="1"/>
          <p:nvPr/>
        </p:nvSpPr>
        <p:spPr>
          <a:xfrm>
            <a:off x="20704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734DE93-A9DC-2618-1614-9BA8C11B4B59}"/>
              </a:ext>
            </a:extLst>
          </p:cNvPr>
          <p:cNvSpPr txBox="1"/>
          <p:nvPr/>
        </p:nvSpPr>
        <p:spPr>
          <a:xfrm>
            <a:off x="1026163" y="5355155"/>
            <a:ext cx="896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Maxint/I&lt;S</a:t>
            </a:r>
            <a:endParaRPr lang="zh-CN" altLang="en-US" sz="1200" dirty="0"/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599CCB75-1573-F994-D307-DD959561C8A9}"/>
              </a:ext>
            </a:extLst>
          </p:cNvPr>
          <p:cNvSpPr/>
          <p:nvPr/>
        </p:nvSpPr>
        <p:spPr>
          <a:xfrm>
            <a:off x="5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9" name="流程图: 过程 68">
            <a:extLst>
              <a:ext uri="{FF2B5EF4-FFF2-40B4-BE49-F238E27FC236}">
                <a16:creationId xmlns:a16="http://schemas.microsoft.com/office/drawing/2014/main" id="{86CEAB59-AF81-EF92-BBFD-1A89E614560D}"/>
              </a:ext>
            </a:extLst>
          </p:cNvPr>
          <p:cNvSpPr/>
          <p:nvPr/>
        </p:nvSpPr>
        <p:spPr>
          <a:xfrm>
            <a:off x="594249" y="1672911"/>
            <a:ext cx="3600000" cy="21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 WHILE(I&lt;N)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C5ED434F-DC17-815A-B38B-B253DDB89E38}"/>
              </a:ext>
            </a:extLst>
          </p:cNvPr>
          <p:cNvSpPr/>
          <p:nvPr/>
        </p:nvSpPr>
        <p:spPr>
          <a:xfrm>
            <a:off x="1314249" y="2032911"/>
            <a:ext cx="2880000" cy="180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2" name="流程图: 过程 71">
            <a:extLst>
              <a:ext uri="{FF2B5EF4-FFF2-40B4-BE49-F238E27FC236}">
                <a16:creationId xmlns:a16="http://schemas.microsoft.com/office/drawing/2014/main" id="{8E1240B3-6E9E-0ED8-F0D4-FF192E9A9226}"/>
              </a:ext>
            </a:extLst>
          </p:cNvPr>
          <p:cNvSpPr/>
          <p:nvPr/>
        </p:nvSpPr>
        <p:spPr>
          <a:xfrm>
            <a:off x="586965" y="2284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Maxint=32767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3" name="流程图: 过程 72">
            <a:extLst>
              <a:ext uri="{FF2B5EF4-FFF2-40B4-BE49-F238E27FC236}">
                <a16:creationId xmlns:a16="http://schemas.microsoft.com/office/drawing/2014/main" id="{569C2AEF-E90F-9927-B6FD-C76DB8E53805}"/>
              </a:ext>
            </a:extLst>
          </p:cNvPr>
          <p:cNvSpPr/>
          <p:nvPr/>
        </p:nvSpPr>
        <p:spPr>
          <a:xfrm>
            <a:off x="586965" y="95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16">
            <a:extLst>
              <a:ext uri="{FF2B5EF4-FFF2-40B4-BE49-F238E27FC236}">
                <a16:creationId xmlns:a16="http://schemas.microsoft.com/office/drawing/2014/main" id="{5A1C5DF8-81E0-DC82-8AB8-4DB67B7309C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5175" y="384811"/>
            <a:ext cx="808990" cy="2044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图片 -2147482515">
            <a:extLst>
              <a:ext uri="{FF2B5EF4-FFF2-40B4-BE49-F238E27FC236}">
                <a16:creationId xmlns:a16="http://schemas.microsoft.com/office/drawing/2014/main" id="{3D64AA50-B7F2-C5EA-5250-5134186B56D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427006" y="491491"/>
            <a:ext cx="1600835" cy="193738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-2147482514">
            <a:extLst>
              <a:ext uri="{FF2B5EF4-FFF2-40B4-BE49-F238E27FC236}">
                <a16:creationId xmlns:a16="http://schemas.microsoft.com/office/drawing/2014/main" id="{FF8DE4DB-0EF2-D087-331C-38C963005C1F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76795" y="189230"/>
            <a:ext cx="2444750" cy="23088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-2147482513">
            <a:extLst>
              <a:ext uri="{FF2B5EF4-FFF2-40B4-BE49-F238E27FC236}">
                <a16:creationId xmlns:a16="http://schemas.microsoft.com/office/drawing/2014/main" id="{EEF188BE-13F0-CBAF-CB6D-905640E855AA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02640" y="3340101"/>
            <a:ext cx="2124075" cy="79311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-2147482512">
            <a:extLst>
              <a:ext uri="{FF2B5EF4-FFF2-40B4-BE49-F238E27FC236}">
                <a16:creationId xmlns:a16="http://schemas.microsoft.com/office/drawing/2014/main" id="{C5159EA6-A6D1-BC9E-5374-52E3D5A44720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723640" y="3340101"/>
            <a:ext cx="2336165" cy="8432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-2147482511">
            <a:extLst>
              <a:ext uri="{FF2B5EF4-FFF2-40B4-BE49-F238E27FC236}">
                <a16:creationId xmlns:a16="http://schemas.microsoft.com/office/drawing/2014/main" id="{421EC8FA-0098-9797-234A-A8CB091528CD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18960" y="3356611"/>
            <a:ext cx="881380" cy="8102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-2147482510">
            <a:extLst>
              <a:ext uri="{FF2B5EF4-FFF2-40B4-BE49-F238E27FC236}">
                <a16:creationId xmlns:a16="http://schemas.microsoft.com/office/drawing/2014/main" id="{2021129F-82D0-BBD2-867B-B20CB0EEE848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8728710" y="3235961"/>
            <a:ext cx="1778635" cy="1052195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16FD77-A9AD-0A5E-F10F-317C3D07E830}"/>
              </a:ext>
            </a:extLst>
          </p:cNvPr>
          <p:cNvGrpSpPr/>
          <p:nvPr/>
        </p:nvGrpSpPr>
        <p:grpSpPr>
          <a:xfrm>
            <a:off x="666750" y="2573021"/>
            <a:ext cx="10077450" cy="662940"/>
            <a:chOff x="1809" y="7803"/>
            <a:chExt cx="15870" cy="1044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C3440F4-A0DB-6662-18B9-0C94CE2A8E2A}"/>
                </a:ext>
              </a:extLst>
            </p:cNvPr>
            <p:cNvSpPr txBox="1"/>
            <p:nvPr/>
          </p:nvSpPr>
          <p:spPr>
            <a:xfrm>
              <a:off x="2296" y="8271"/>
              <a:ext cx="3729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顺序结构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F756E385-F829-58BD-95EC-9215BBAEFDEE}"/>
                </a:ext>
              </a:extLst>
            </p:cNvPr>
            <p:cNvSpPr txBox="1"/>
            <p:nvPr/>
          </p:nvSpPr>
          <p:spPr>
            <a:xfrm>
              <a:off x="13393" y="8271"/>
              <a:ext cx="4286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Case型多分支结构</a:t>
              </a:r>
              <a:endParaRPr lang="zh-CN" altLang="en-US"/>
            </a:p>
          </p:txBody>
        </p:sp>
        <p:sp>
          <p:nvSpPr>
            <p:cNvPr id="12" name="左大括号">
              <a:extLst>
                <a:ext uri="{FF2B5EF4-FFF2-40B4-BE49-F238E27FC236}">
                  <a16:creationId xmlns:a16="http://schemas.microsoft.com/office/drawing/2014/main" id="{1F9D403C-57E2-C877-6817-EDD1B6D8F634}"/>
                </a:ext>
              </a:extLst>
            </p:cNvPr>
            <p:cNvSpPr/>
            <p:nvPr/>
          </p:nvSpPr>
          <p:spPr bwMode="auto">
            <a:xfrm rot="16200000" flipH="1">
              <a:off x="14847" y="5867"/>
              <a:ext cx="214" cy="408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3" name="左大括号">
              <a:extLst>
                <a:ext uri="{FF2B5EF4-FFF2-40B4-BE49-F238E27FC236}">
                  <a16:creationId xmlns:a16="http://schemas.microsoft.com/office/drawing/2014/main" id="{BADB409C-2FE4-FF80-8F9F-A1739D582CB3}"/>
                </a:ext>
              </a:extLst>
            </p:cNvPr>
            <p:cNvSpPr/>
            <p:nvPr/>
          </p:nvSpPr>
          <p:spPr bwMode="auto">
            <a:xfrm rot="16200000" flipH="1">
              <a:off x="3093" y="6546"/>
              <a:ext cx="186" cy="275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D341827C-C676-9BB1-EFA8-E76F1048353A}"/>
              </a:ext>
            </a:extLst>
          </p:cNvPr>
          <p:cNvSpPr txBox="1"/>
          <p:nvPr/>
        </p:nvSpPr>
        <p:spPr>
          <a:xfrm>
            <a:off x="3843020" y="2870201"/>
            <a:ext cx="3734435" cy="3657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>
                <a:sym typeface="+mn-ea"/>
              </a:rPr>
              <a:t>选择结构If C Then P1 Else P2        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40F99CE-BE33-EC07-56FA-14CE9820F4B2}"/>
              </a:ext>
            </a:extLst>
          </p:cNvPr>
          <p:cNvGrpSpPr/>
          <p:nvPr/>
        </p:nvGrpSpPr>
        <p:grpSpPr>
          <a:xfrm>
            <a:off x="802640" y="4125596"/>
            <a:ext cx="10118090" cy="654685"/>
            <a:chOff x="936625" y="4463415"/>
            <a:chExt cx="10118090" cy="654685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3B4635-CE69-F564-DA0F-7EE9F7E47C7D}"/>
                </a:ext>
              </a:extLst>
            </p:cNvPr>
            <p:cNvGrpSpPr/>
            <p:nvPr/>
          </p:nvGrpSpPr>
          <p:grpSpPr>
            <a:xfrm>
              <a:off x="936625" y="4463415"/>
              <a:ext cx="8890635" cy="654685"/>
              <a:chOff x="1809" y="7821"/>
              <a:chExt cx="14001" cy="10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17A7E97-14A4-9E17-24B0-350CE3BA66A5}"/>
                  </a:ext>
                </a:extLst>
              </p:cNvPr>
              <p:cNvSpPr txBox="1"/>
              <p:nvPr/>
            </p:nvSpPr>
            <p:spPr>
              <a:xfrm>
                <a:off x="1809" y="8271"/>
                <a:ext cx="3729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先检测While型循环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FD7C3E3-2BCD-FD42-A169-4C4915EAE7BA}"/>
                  </a:ext>
                </a:extLst>
              </p:cNvPr>
              <p:cNvSpPr txBox="1"/>
              <p:nvPr/>
            </p:nvSpPr>
            <p:spPr>
              <a:xfrm>
                <a:off x="11524" y="8276"/>
                <a:ext cx="4286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>
                    <a:sym typeface="+mn-ea"/>
                  </a:rPr>
                  <a:t>语句标号</a:t>
                </a:r>
              </a:p>
            </p:txBody>
          </p:sp>
          <p:sp>
            <p:nvSpPr>
              <p:cNvPr id="23" name="左大括号">
                <a:extLst>
                  <a:ext uri="{FF2B5EF4-FFF2-40B4-BE49-F238E27FC236}">
                    <a16:creationId xmlns:a16="http://schemas.microsoft.com/office/drawing/2014/main" id="{B3785424-10AD-5103-3CCE-CE5143344AEA}"/>
                  </a:ext>
                </a:extLst>
              </p:cNvPr>
              <p:cNvSpPr/>
              <p:nvPr/>
            </p:nvSpPr>
            <p:spPr bwMode="auto">
              <a:xfrm rot="16200000" flipH="1">
                <a:off x="12036" y="7310"/>
                <a:ext cx="196" cy="1217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24" name="左大括号">
                <a:extLst>
                  <a:ext uri="{FF2B5EF4-FFF2-40B4-BE49-F238E27FC236}">
                    <a16:creationId xmlns:a16="http://schemas.microsoft.com/office/drawing/2014/main" id="{75CD40DD-96E0-3B34-BE24-EEE379D30D51}"/>
                  </a:ext>
                </a:extLst>
              </p:cNvPr>
              <p:cNvSpPr/>
              <p:nvPr/>
            </p:nvSpPr>
            <p:spPr bwMode="auto">
              <a:xfrm rot="16200000" flipH="1">
                <a:off x="3093" y="6546"/>
                <a:ext cx="186" cy="2755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B03515-0E90-F68C-EF41-4D94D89A4D8C}"/>
                </a:ext>
              </a:extLst>
            </p:cNvPr>
            <p:cNvSpPr txBox="1"/>
            <p:nvPr/>
          </p:nvSpPr>
          <p:spPr>
            <a:xfrm>
              <a:off x="3935095" y="4752340"/>
              <a:ext cx="2519680" cy="36576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lstStyle/>
            <a:p>
              <a:pPr algn="l"/>
              <a:r>
                <a:rPr lang="zh-CN" altLang="en-US" dirty="0">
                  <a:sym typeface="+mn-ea"/>
                </a:rPr>
                <a:t>后检测Until型循环        </a:t>
              </a:r>
              <a:endParaRPr lang="zh-CN" altLang="en-US" dirty="0"/>
            </a:p>
          </p:txBody>
        </p:sp>
        <p:sp>
          <p:nvSpPr>
            <p:cNvPr id="18" name="左大括号">
              <a:extLst>
                <a:ext uri="{FF2B5EF4-FFF2-40B4-BE49-F238E27FC236}">
                  <a16:creationId xmlns:a16="http://schemas.microsoft.com/office/drawing/2014/main" id="{310F0622-D2C3-DCBB-845E-90A7631F41A2}"/>
                </a:ext>
              </a:extLst>
            </p:cNvPr>
            <p:cNvSpPr/>
            <p:nvPr/>
          </p:nvSpPr>
          <p:spPr bwMode="auto">
            <a:xfrm rot="16200000" flipH="1">
              <a:off x="4853940" y="3240405"/>
              <a:ext cx="135890" cy="259397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492409-7E02-DF45-4A24-570082FD8976}"/>
                </a:ext>
              </a:extLst>
            </p:cNvPr>
            <p:cNvSpPr txBox="1"/>
            <p:nvPr/>
          </p:nvSpPr>
          <p:spPr>
            <a:xfrm>
              <a:off x="9498330" y="4752340"/>
              <a:ext cx="1556385" cy="365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定义</a:t>
              </a:r>
            </a:p>
          </p:txBody>
        </p:sp>
        <p:sp>
          <p:nvSpPr>
            <p:cNvPr id="20" name="左大括号">
              <a:extLst>
                <a:ext uri="{FF2B5EF4-FFF2-40B4-BE49-F238E27FC236}">
                  <a16:creationId xmlns:a16="http://schemas.microsoft.com/office/drawing/2014/main" id="{D285D475-A635-F0BF-1DE9-EC458BE9D9EC}"/>
                </a:ext>
              </a:extLst>
            </p:cNvPr>
            <p:cNvSpPr/>
            <p:nvPr/>
          </p:nvSpPr>
          <p:spPr bwMode="auto">
            <a:xfrm rot="16200000" flipH="1">
              <a:off x="9692640" y="3648075"/>
              <a:ext cx="118110" cy="177863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884998" y="533945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884998" y="247650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6377178" y="782433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640160" y="39612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640161" y="936126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875528" y="93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875528" y="165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1301394" y="37397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1301394" y="7830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10221394" y="404313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10221394" y="58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10221394" y="202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1301394" y="183612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1301394" y="1192214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1426362" y="1555671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1121394" y="97826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1121394" y="137221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10221394" y="1150425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558500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7690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956723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1141755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680528" y="55397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680528" y="837025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680528" y="1754474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5487831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5535532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09">
            <a:extLst>
              <a:ext uri="{FF2B5EF4-FFF2-40B4-BE49-F238E27FC236}">
                <a16:creationId xmlns:a16="http://schemas.microsoft.com/office/drawing/2014/main" id="{EB9C8F9D-3197-4770-2B01-1FF7C38CDC1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96000" y="1565761"/>
            <a:ext cx="5276215" cy="3518049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1545</TotalTime>
  <Words>523</Words>
  <Application>Microsoft Office PowerPoint</Application>
  <PresentationFormat>宽屏</PresentationFormat>
  <Paragraphs>267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63</cp:revision>
  <dcterms:created xsi:type="dcterms:W3CDTF">2026-04-06T07:32:28Z</dcterms:created>
  <dcterms:modified xsi:type="dcterms:W3CDTF">2026-04-11T15:08:54Z</dcterms:modified>
</cp:coreProperties>
</file>